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3"/>
  </p:notesMasterIdLst>
  <p:sldIdLst>
    <p:sldId id="257" r:id="rId2"/>
    <p:sldId id="379" r:id="rId3"/>
    <p:sldId id="388" r:id="rId4"/>
    <p:sldId id="372" r:id="rId5"/>
    <p:sldId id="373" r:id="rId6"/>
    <p:sldId id="259" r:id="rId7"/>
    <p:sldId id="258" r:id="rId8"/>
    <p:sldId id="337" r:id="rId9"/>
    <p:sldId id="374" r:id="rId10"/>
    <p:sldId id="389" r:id="rId11"/>
    <p:sldId id="393" r:id="rId12"/>
    <p:sldId id="394" r:id="rId13"/>
    <p:sldId id="395" r:id="rId14"/>
    <p:sldId id="264" r:id="rId15"/>
    <p:sldId id="265" r:id="rId16"/>
    <p:sldId id="266" r:id="rId17"/>
    <p:sldId id="396" r:id="rId18"/>
    <p:sldId id="397" r:id="rId19"/>
    <p:sldId id="398" r:id="rId20"/>
    <p:sldId id="399" r:id="rId21"/>
    <p:sldId id="339" r:id="rId22"/>
    <p:sldId id="340" r:id="rId23"/>
    <p:sldId id="400" r:id="rId24"/>
    <p:sldId id="516" r:id="rId25"/>
    <p:sldId id="341" r:id="rId26"/>
    <p:sldId id="363" r:id="rId27"/>
    <p:sldId id="517" r:id="rId28"/>
    <p:sldId id="364" r:id="rId29"/>
    <p:sldId id="518" r:id="rId30"/>
    <p:sldId id="519" r:id="rId31"/>
    <p:sldId id="365" r:id="rId32"/>
    <p:sldId id="366" r:id="rId33"/>
    <p:sldId id="520" r:id="rId34"/>
    <p:sldId id="521" r:id="rId35"/>
    <p:sldId id="367" r:id="rId36"/>
    <p:sldId id="368" r:id="rId37"/>
    <p:sldId id="410" r:id="rId38"/>
    <p:sldId id="522" r:id="rId39"/>
    <p:sldId id="523" r:id="rId40"/>
    <p:sldId id="524" r:id="rId41"/>
    <p:sldId id="401" r:id="rId42"/>
    <p:sldId id="402" r:id="rId43"/>
    <p:sldId id="403" r:id="rId44"/>
    <p:sldId id="404" r:id="rId45"/>
    <p:sldId id="406" r:id="rId46"/>
    <p:sldId id="407" r:id="rId47"/>
    <p:sldId id="408" r:id="rId48"/>
    <p:sldId id="409" r:id="rId49"/>
    <p:sldId id="525" r:id="rId50"/>
    <p:sldId id="278" r:id="rId51"/>
    <p:sldId id="526" r:id="rId52"/>
    <p:sldId id="279" r:id="rId53"/>
    <p:sldId id="412" r:id="rId54"/>
    <p:sldId id="346" r:id="rId55"/>
    <p:sldId id="280" r:id="rId56"/>
    <p:sldId id="347" r:id="rId57"/>
    <p:sldId id="413" r:id="rId58"/>
    <p:sldId id="414" r:id="rId59"/>
    <p:sldId id="415" r:id="rId60"/>
    <p:sldId id="416" r:id="rId61"/>
    <p:sldId id="418" r:id="rId62"/>
    <p:sldId id="419" r:id="rId63"/>
    <p:sldId id="420" r:id="rId64"/>
    <p:sldId id="417" r:id="rId65"/>
    <p:sldId id="527" r:id="rId66"/>
    <p:sldId id="422" r:id="rId67"/>
    <p:sldId id="423" r:id="rId68"/>
    <p:sldId id="283" r:id="rId69"/>
    <p:sldId id="348" r:id="rId70"/>
    <p:sldId id="349" r:id="rId71"/>
    <p:sldId id="284" r:id="rId72"/>
    <p:sldId id="350" r:id="rId73"/>
    <p:sldId id="286" r:id="rId74"/>
    <p:sldId id="285" r:id="rId75"/>
    <p:sldId id="287" r:id="rId76"/>
    <p:sldId id="290" r:id="rId77"/>
    <p:sldId id="294" r:id="rId78"/>
    <p:sldId id="528" r:id="rId79"/>
    <p:sldId id="351" r:id="rId80"/>
    <p:sldId id="529" r:id="rId81"/>
    <p:sldId id="301" r:id="rId82"/>
    <p:sldId id="530" r:id="rId83"/>
    <p:sldId id="303" r:id="rId84"/>
    <p:sldId id="431" r:id="rId85"/>
    <p:sldId id="435" r:id="rId86"/>
    <p:sldId id="436" r:id="rId87"/>
    <p:sldId id="437" r:id="rId88"/>
    <p:sldId id="438" r:id="rId89"/>
    <p:sldId id="439" r:id="rId90"/>
    <p:sldId id="440" r:id="rId91"/>
    <p:sldId id="441" r:id="rId92"/>
    <p:sldId id="442" r:id="rId93"/>
    <p:sldId id="433" r:id="rId94"/>
    <p:sldId id="430" r:id="rId95"/>
    <p:sldId id="443" r:id="rId96"/>
    <p:sldId id="444" r:id="rId97"/>
    <p:sldId id="445" r:id="rId98"/>
    <p:sldId id="446" r:id="rId99"/>
    <p:sldId id="447" r:id="rId100"/>
    <p:sldId id="531" r:id="rId101"/>
    <p:sldId id="311" r:id="rId102"/>
    <p:sldId id="312" r:id="rId103"/>
    <p:sldId id="313" r:id="rId104"/>
    <p:sldId id="314" r:id="rId105"/>
    <p:sldId id="315" r:id="rId106"/>
    <p:sldId id="316" r:id="rId107"/>
    <p:sldId id="353" r:id="rId108"/>
    <p:sldId id="369" r:id="rId109"/>
    <p:sldId id="317" r:id="rId110"/>
    <p:sldId id="318" r:id="rId111"/>
    <p:sldId id="319" r:id="rId112"/>
    <p:sldId id="354" r:id="rId113"/>
    <p:sldId id="355" r:id="rId114"/>
    <p:sldId id="356" r:id="rId115"/>
    <p:sldId id="357" r:id="rId116"/>
    <p:sldId id="358" r:id="rId117"/>
    <p:sldId id="359" r:id="rId118"/>
    <p:sldId id="371" r:id="rId119"/>
    <p:sldId id="362" r:id="rId120"/>
    <p:sldId id="370" r:id="rId121"/>
    <p:sldId id="295" r:id="rId122"/>
    <p:sldId id="261" r:id="rId123"/>
    <p:sldId id="262" r:id="rId124"/>
    <p:sldId id="334" r:id="rId125"/>
    <p:sldId id="377" r:id="rId126"/>
    <p:sldId id="263" r:id="rId127"/>
    <p:sldId id="267" r:id="rId128"/>
    <p:sldId id="268" r:id="rId129"/>
    <p:sldId id="269" r:id="rId130"/>
    <p:sldId id="270" r:id="rId131"/>
    <p:sldId id="271" r:id="rId132"/>
    <p:sldId id="272" r:id="rId133"/>
    <p:sldId id="300" r:id="rId134"/>
    <p:sldId id="273" r:id="rId135"/>
    <p:sldId id="274" r:id="rId136"/>
    <p:sldId id="275" r:id="rId137"/>
    <p:sldId id="276" r:id="rId138"/>
    <p:sldId id="277" r:id="rId139"/>
    <p:sldId id="302" r:id="rId140"/>
    <p:sldId id="304" r:id="rId141"/>
    <p:sldId id="305" r:id="rId142"/>
    <p:sldId id="307" r:id="rId143"/>
    <p:sldId id="309" r:id="rId144"/>
    <p:sldId id="310" r:id="rId145"/>
    <p:sldId id="448" r:id="rId146"/>
    <p:sldId id="503" r:id="rId147"/>
    <p:sldId id="504" r:id="rId148"/>
    <p:sldId id="505" r:id="rId149"/>
    <p:sldId id="506" r:id="rId150"/>
    <p:sldId id="507" r:id="rId151"/>
    <p:sldId id="450" r:id="rId152"/>
    <p:sldId id="451" r:id="rId153"/>
    <p:sldId id="452" r:id="rId154"/>
    <p:sldId id="453" r:id="rId155"/>
    <p:sldId id="454" r:id="rId156"/>
    <p:sldId id="455" r:id="rId157"/>
    <p:sldId id="456" r:id="rId158"/>
    <p:sldId id="457" r:id="rId159"/>
    <p:sldId id="458" r:id="rId160"/>
    <p:sldId id="459" r:id="rId161"/>
    <p:sldId id="460" r:id="rId162"/>
    <p:sldId id="461" r:id="rId163"/>
    <p:sldId id="462" r:id="rId164"/>
    <p:sldId id="463" r:id="rId165"/>
    <p:sldId id="464" r:id="rId166"/>
    <p:sldId id="465" r:id="rId167"/>
    <p:sldId id="466" r:id="rId168"/>
    <p:sldId id="378" r:id="rId169"/>
    <p:sldId id="467" r:id="rId170"/>
    <p:sldId id="508" r:id="rId171"/>
    <p:sldId id="509" r:id="rId172"/>
    <p:sldId id="510" r:id="rId173"/>
    <p:sldId id="511" r:id="rId174"/>
    <p:sldId id="512" r:id="rId175"/>
    <p:sldId id="532" r:id="rId176"/>
    <p:sldId id="330" r:id="rId177"/>
    <p:sldId id="331" r:id="rId178"/>
    <p:sldId id="513" r:id="rId179"/>
    <p:sldId id="514" r:id="rId180"/>
    <p:sldId id="515" r:id="rId181"/>
    <p:sldId id="501" r:id="rId182"/>
    <p:sldId id="502" r:id="rId183"/>
    <p:sldId id="533" r:id="rId184"/>
    <p:sldId id="534" r:id="rId185"/>
    <p:sldId id="535" r:id="rId186"/>
    <p:sldId id="293" r:id="rId187"/>
    <p:sldId id="325" r:id="rId188"/>
    <p:sldId id="326" r:id="rId189"/>
    <p:sldId id="327" r:id="rId190"/>
    <p:sldId id="328" r:id="rId191"/>
    <p:sldId id="329" r:id="rId19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F6FF"/>
    <a:srgbClr val="BAE3F3"/>
    <a:srgbClr val="EAF1F1"/>
    <a:srgbClr val="FFEDD8"/>
    <a:srgbClr val="FFF8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98"/>
    <p:restoredTop sz="79228"/>
  </p:normalViewPr>
  <p:slideViewPr>
    <p:cSldViewPr snapToGrid="0">
      <p:cViewPr varScale="1">
        <p:scale>
          <a:sx n="102" d="100"/>
          <a:sy n="102" d="100"/>
        </p:scale>
        <p:origin x="2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2025/2/13</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Spooling</a:t>
            </a:r>
            <a:r>
              <a:rPr lang="zh-CN" altLang="en-US" dirty="0"/>
              <a:t>技术是将独占设备改造为共享设备的技术</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85</a:t>
            </a:fld>
            <a:endParaRPr kumimoji="1" lang="zh-CN" altLang="en-US"/>
          </a:p>
        </p:txBody>
      </p:sp>
    </p:spTree>
    <p:extLst>
      <p:ext uri="{BB962C8B-B14F-4D97-AF65-F5344CB8AC3E}">
        <p14:creationId xmlns:p14="http://schemas.microsoft.com/office/powerpoint/2010/main" val="1128370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B31256-4040-D574-1352-7BF9958E21CB}"/>
              </a:ext>
            </a:extLst>
          </p:cNvPr>
          <p:cNvGrpSpPr>
            <a:grpSpLocks/>
          </p:cNvGrpSpPr>
          <p:nvPr/>
        </p:nvGrpSpPr>
        <p:grpSpPr bwMode="auto">
          <a:xfrm>
            <a:off x="2" y="2438406"/>
            <a:ext cx="9009063" cy="1052513"/>
            <a:chOff x="0" y="1536"/>
            <a:chExt cx="5675" cy="663"/>
          </a:xfrm>
        </p:grpSpPr>
        <p:grpSp>
          <p:nvGrpSpPr>
            <p:cNvPr id="3" name="Group 3">
              <a:extLst>
                <a:ext uri="{FF2B5EF4-FFF2-40B4-BE49-F238E27FC236}">
                  <a16:creationId xmlns:a16="http://schemas.microsoft.com/office/drawing/2014/main" id="{EA6626CB-3703-E0DB-640B-674546674C3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2311AE7-2C4F-8267-D2B8-353BB037696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11" name="Rectangle 5">
                <a:extLst>
                  <a:ext uri="{FF2B5EF4-FFF2-40B4-BE49-F238E27FC236}">
                    <a16:creationId xmlns:a16="http://schemas.microsoft.com/office/drawing/2014/main" id="{8CF3E795-8736-A25F-18DB-60F43310902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grpSp>
          <p:nvGrpSpPr>
            <p:cNvPr id="4" name="Group 6">
              <a:extLst>
                <a:ext uri="{FF2B5EF4-FFF2-40B4-BE49-F238E27FC236}">
                  <a16:creationId xmlns:a16="http://schemas.microsoft.com/office/drawing/2014/main" id="{332554FD-EA9F-C7BC-4962-5BD0321F09C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247E854-890A-8AB4-8D1E-21A25F6EC49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9" name="Rectangle 8">
                <a:extLst>
                  <a:ext uri="{FF2B5EF4-FFF2-40B4-BE49-F238E27FC236}">
                    <a16:creationId xmlns:a16="http://schemas.microsoft.com/office/drawing/2014/main" id="{F9BD07B4-2FE4-0227-16AD-D37B05C8FC0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5" name="Rectangle 9">
              <a:extLst>
                <a:ext uri="{FF2B5EF4-FFF2-40B4-BE49-F238E27FC236}">
                  <a16:creationId xmlns:a16="http://schemas.microsoft.com/office/drawing/2014/main" id="{CC6F0594-41E8-FEBD-7452-6A6E1E24460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 name="Rectangle 10">
              <a:extLst>
                <a:ext uri="{FF2B5EF4-FFF2-40B4-BE49-F238E27FC236}">
                  <a16:creationId xmlns:a16="http://schemas.microsoft.com/office/drawing/2014/main" id="{E3D8FBF2-0838-B26A-51A0-086A51CFA69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7" name="Rectangle 11">
              <a:extLst>
                <a:ext uri="{FF2B5EF4-FFF2-40B4-BE49-F238E27FC236}">
                  <a16:creationId xmlns:a16="http://schemas.microsoft.com/office/drawing/2014/main" id="{7B338C99-4BFA-EC8E-7B91-F5844CDD83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atin typeface="Century" panose="02040604050505020304" pitchFamily="18" charset="0"/>
              </a:defRPr>
            </a:lvl1pPr>
          </a:lstStyle>
          <a:p>
            <a:r>
              <a:rPr lang="zh-CN" altLang="en-US" noProof="1"/>
              <a:t>单击此处编辑母版标题样式</a:t>
            </a:r>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a:t>单击此处编辑母版文本样式</a:t>
            </a:r>
          </a:p>
        </p:txBody>
      </p:sp>
      <p:sp>
        <p:nvSpPr>
          <p:cNvPr id="7" name="日期占位符 6">
            <a:extLst>
              <a:ext uri="{FF2B5EF4-FFF2-40B4-BE49-F238E27FC236}">
                <a16:creationId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图表占位符 3"/>
          <p:cNvSpPr>
            <a:spLocks noGrp="1"/>
          </p:cNvSpPr>
          <p:nvPr>
            <p:ph type="chart" sz="half" idx="2"/>
          </p:nvPr>
        </p:nvSpPr>
        <p:spPr>
          <a:xfrm>
            <a:off x="4897438" y="1233488"/>
            <a:ext cx="3810000" cy="4895850"/>
          </a:xfrm>
        </p:spPr>
        <p:txBody>
          <a:bodyPr/>
          <a:lstStyle/>
          <a:p>
            <a:pPr lvl="0"/>
            <a:endParaRPr lang="zh-CN" altLang="en-US" noProof="0"/>
          </a:p>
        </p:txBody>
      </p:sp>
      <p:sp>
        <p:nvSpPr>
          <p:cNvPr id="5" name="Rectangle 11">
            <a:extLst>
              <a:ext uri="{FF2B5EF4-FFF2-40B4-BE49-F238E27FC236}">
                <a16:creationId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图表占位符 2"/>
          <p:cNvSpPr>
            <a:spLocks noGrp="1"/>
          </p:cNvSpPr>
          <p:nvPr>
            <p:ph type="chart" idx="1"/>
          </p:nvPr>
        </p:nvSpPr>
        <p:spPr>
          <a:xfrm>
            <a:off x="935038" y="1233488"/>
            <a:ext cx="7772400" cy="4895850"/>
          </a:xfrm>
        </p:spPr>
        <p:txBody>
          <a:bodyPr/>
          <a:lstStyle/>
          <a:p>
            <a:pPr lvl="0"/>
            <a:endParaRPr lang="zh-CN" altLang="en-US" noProof="0"/>
          </a:p>
        </p:txBody>
      </p:sp>
      <p:sp>
        <p:nvSpPr>
          <p:cNvPr id="4" name="Rectangle 11">
            <a:extLst>
              <a:ext uri="{FF2B5EF4-FFF2-40B4-BE49-F238E27FC236}">
                <a16:creationId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00138" y="152400"/>
            <a:ext cx="7793037" cy="684213"/>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31888" y="1125538"/>
            <a:ext cx="3810000" cy="45418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094288" y="1125538"/>
            <a:ext cx="3810000" cy="45418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30C787F1-E6F1-7EC8-8058-5AA8D8A2D5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C6FE77FE-46EE-B0D2-466A-D28D4C9F4F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4B313782-3563-2BB7-A310-B5979269D011}"/>
              </a:ext>
            </a:extLst>
          </p:cNvPr>
          <p:cNvSpPr>
            <a:spLocks noGrp="1" noChangeArrowheads="1"/>
          </p:cNvSpPr>
          <p:nvPr>
            <p:ph type="sldNum" sz="quarter" idx="12"/>
          </p:nvPr>
        </p:nvSpPr>
        <p:spPr>
          <a:ln/>
        </p:spPr>
        <p:txBody>
          <a:bodyPr/>
          <a:lstStyle>
            <a:lvl1pPr>
              <a:defRPr/>
            </a:lvl1pPr>
          </a:lstStyle>
          <a:p>
            <a:fld id="{E12CD569-9421-2E48-9727-66CF7BD1C800}" type="slidenum">
              <a:rPr lang="zh-CN" altLang="en-US"/>
              <a:pPr/>
              <a:t>‹#›</a:t>
            </a:fld>
            <a:endParaRPr lang="zh-CN" altLang="en-US"/>
          </a:p>
        </p:txBody>
      </p:sp>
    </p:spTree>
    <p:extLst>
      <p:ext uri="{BB962C8B-B14F-4D97-AF65-F5344CB8AC3E}">
        <p14:creationId xmlns:p14="http://schemas.microsoft.com/office/powerpoint/2010/main" val="2259321147"/>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tiff"/><Relationship Id="rId2" Type="http://schemas.openxmlformats.org/officeDocument/2006/relationships/slideLayout" Target="../slideLayouts/slideLayout2.xml"/><Relationship Id="rId16"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10">
            <a:extLst>
              <a:ext uri="{FF2B5EF4-FFF2-40B4-BE49-F238E27FC236}">
                <a16:creationId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5" name="图片 4">
            <a:extLst>
              <a:ext uri="{FF2B5EF4-FFF2-40B4-BE49-F238E27FC236}">
                <a16:creationId xmlns:a16="http://schemas.microsoft.com/office/drawing/2014/main" id="{C3BB9AFC-C9BC-E655-334A-DE8EBC2F172F}"/>
              </a:ext>
            </a:extLst>
          </p:cNvPr>
          <p:cNvPicPr>
            <a:picLocks noChangeAspect="1"/>
          </p:cNvPicPr>
          <p:nvPr userDrawn="1"/>
        </p:nvPicPr>
        <p:blipFill>
          <a:blip r:embed="rId16"/>
          <a:stretch>
            <a:fillRect/>
          </a:stretch>
        </p:blipFill>
        <p:spPr>
          <a:xfrm>
            <a:off x="8532443" y="5624518"/>
            <a:ext cx="512549" cy="1106809"/>
          </a:xfrm>
          <a:prstGeom prst="rect">
            <a:avLst/>
          </a:prstGeom>
        </p:spPr>
      </p:pic>
      <p:pic>
        <p:nvPicPr>
          <p:cNvPr id="6" name="图片 5">
            <a:extLst>
              <a:ext uri="{FF2B5EF4-FFF2-40B4-BE49-F238E27FC236}">
                <a16:creationId xmlns:a16="http://schemas.microsoft.com/office/drawing/2014/main" id="{3CE6F6BF-4B21-EBA8-0316-496A78B2CDF2}"/>
              </a:ext>
            </a:extLst>
          </p:cNvPr>
          <p:cNvPicPr>
            <a:picLocks noChangeAspect="1"/>
          </p:cNvPicPr>
          <p:nvPr userDrawn="1"/>
        </p:nvPicPr>
        <p:blipFill>
          <a:blip r:embed="rId17"/>
          <a:stretch>
            <a:fillRect/>
          </a:stretch>
        </p:blipFill>
        <p:spPr>
          <a:xfrm rot="3532301">
            <a:off x="53066" y="512497"/>
            <a:ext cx="678101" cy="376134"/>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med">
    <p:zoom/>
  </p:transition>
  <p:hf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1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第</a:t>
            </a:r>
            <a:r>
              <a:rPr lang="en-US" altLang="zh-CN" dirty="0"/>
              <a:t>9</a:t>
            </a:r>
            <a:r>
              <a:rPr lang="zh-CN" altLang="en-US" dirty="0"/>
              <a:t>章 设备管理</a:t>
            </a:r>
          </a:p>
        </p:txBody>
      </p:sp>
      <p:sp>
        <p:nvSpPr>
          <p:cNvPr id="3" name="内容占位符 2">
            <a:extLst>
              <a:ext uri="{FF2B5EF4-FFF2-40B4-BE49-F238E27FC236}">
                <a16:creationId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设备管理的基本概念</a:t>
            </a:r>
            <a:endParaRPr lang="zh-CN" altLang="zh-CN" dirty="0"/>
          </a:p>
          <a:p>
            <a:r>
              <a:rPr lang="en-US" altLang="zh-CN" dirty="0"/>
              <a:t>2.</a:t>
            </a:r>
            <a:r>
              <a:rPr lang="zh-CN" altLang="en-US" dirty="0"/>
              <a:t> 大容量存储器</a:t>
            </a:r>
            <a:endParaRPr lang="en-US" altLang="zh-CN" dirty="0"/>
          </a:p>
          <a:p>
            <a:r>
              <a:rPr lang="en-US" altLang="zh-CN" dirty="0"/>
              <a:t>3.</a:t>
            </a:r>
            <a:r>
              <a:rPr lang="zh-CN" altLang="en-US" dirty="0"/>
              <a:t> </a:t>
            </a:r>
            <a:r>
              <a:rPr lang="en-US" altLang="zh-CN" dirty="0"/>
              <a:t>I/O</a:t>
            </a:r>
            <a:r>
              <a:rPr lang="zh-CN" altLang="en-US" dirty="0"/>
              <a:t>系统的层次架构</a:t>
            </a:r>
            <a:endParaRPr lang="en-US" altLang="zh-CN" dirty="0"/>
          </a:p>
          <a:p>
            <a:r>
              <a:rPr lang="en-US" altLang="zh-CN" dirty="0"/>
              <a:t>4.</a:t>
            </a:r>
            <a:r>
              <a:rPr lang="zh-CN" altLang="en-US" dirty="0"/>
              <a:t> 设备驱动程序</a:t>
            </a:r>
            <a:endParaRPr lang="en-US" altLang="zh-CN" dirty="0"/>
          </a:p>
          <a:p>
            <a:r>
              <a:rPr lang="en-US" altLang="zh-CN" dirty="0"/>
              <a:t>5.</a:t>
            </a:r>
            <a:r>
              <a:rPr lang="zh-CN" altLang="en-US" dirty="0"/>
              <a:t> 中断处理程序</a:t>
            </a:r>
            <a:endParaRPr lang="en-US" altLang="zh-CN" dirty="0"/>
          </a:p>
          <a:p>
            <a:r>
              <a:rPr lang="en-US" altLang="zh-CN" dirty="0"/>
              <a:t>6.</a:t>
            </a:r>
            <a:r>
              <a:rPr lang="zh-CN" altLang="en-US" dirty="0"/>
              <a:t> 设备独立内核软件</a:t>
            </a:r>
          </a:p>
        </p:txBody>
      </p:sp>
      <p:sp>
        <p:nvSpPr>
          <p:cNvPr id="4" name="灯片编号占位符 3">
            <a:extLst>
              <a:ext uri="{FF2B5EF4-FFF2-40B4-BE49-F238E27FC236}">
                <a16:creationId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E1D51D81-17DC-514C-E05B-5CC17313B402}"/>
              </a:ext>
            </a:extLst>
          </p:cNvPr>
          <p:cNvSpPr>
            <a:spLocks noGrp="1" noChangeArrowheads="1"/>
          </p:cNvSpPr>
          <p:nvPr>
            <p:ph type="title"/>
          </p:nvPr>
        </p:nvSpPr>
        <p:spPr/>
        <p:txBody>
          <a:bodyPr/>
          <a:lstStyle/>
          <a:p>
            <a:pPr eaLnBrk="1" hangingPunct="1"/>
            <a:r>
              <a:rPr lang="zh-CN" altLang="en-US" sz="4000" b="1" dirty="0"/>
              <a:t>概述</a:t>
            </a:r>
            <a:endParaRPr lang="en-US" altLang="zh-CN" sz="3600" b="1" dirty="0"/>
          </a:p>
        </p:txBody>
      </p:sp>
      <p:sp>
        <p:nvSpPr>
          <p:cNvPr id="96259" name="Rectangle 3">
            <a:extLst>
              <a:ext uri="{FF2B5EF4-FFF2-40B4-BE49-F238E27FC236}">
                <a16:creationId xmlns:a16="http://schemas.microsoft.com/office/drawing/2014/main" id="{3DAF9752-01D5-B20A-DA33-3BB8752C7DB8}"/>
              </a:ext>
            </a:extLst>
          </p:cNvPr>
          <p:cNvSpPr>
            <a:spLocks noGrp="1" noChangeArrowheads="1"/>
          </p:cNvSpPr>
          <p:nvPr>
            <p:ph idx="1"/>
          </p:nvPr>
        </p:nvSpPr>
        <p:spPr>
          <a:xfrm>
            <a:off x="827088" y="1196975"/>
            <a:ext cx="8128000" cy="4824413"/>
          </a:xfrm>
        </p:spPr>
        <p:txBody>
          <a:bodyPr>
            <a:normAutofit/>
          </a:bodyPr>
          <a:lstStyle/>
          <a:p>
            <a:pPr algn="just" eaLnBrk="1" hangingPunct="1"/>
            <a:r>
              <a:rPr lang="en-US" altLang="zh-CN" sz="2800" dirty="0"/>
              <a:t>I/O</a:t>
            </a:r>
            <a:r>
              <a:rPr lang="zh-CN" altLang="en-US" sz="2800" dirty="0"/>
              <a:t>设备在功能与速度方面存在很大差异，需要采用多种方法来控制设备。</a:t>
            </a:r>
          </a:p>
          <a:p>
            <a:pPr algn="just" eaLnBrk="1" hangingPunct="1"/>
            <a:r>
              <a:rPr lang="zh-CN" altLang="en-US" sz="2800" dirty="0"/>
              <a:t>这些方法形成了</a:t>
            </a:r>
            <a:r>
              <a:rPr lang="en-US" altLang="zh-CN" sz="2800" dirty="0"/>
              <a:t>I/O</a:t>
            </a:r>
            <a:r>
              <a:rPr lang="zh-CN" altLang="en-US" sz="2800" dirty="0"/>
              <a:t>子系统的核心，该子系统使内核其他部分不必涉及</a:t>
            </a:r>
            <a:r>
              <a:rPr lang="en-US" altLang="zh-CN" sz="2800" dirty="0"/>
              <a:t>I/O</a:t>
            </a:r>
            <a:r>
              <a:rPr lang="zh-CN" altLang="en-US" sz="2800" dirty="0"/>
              <a:t>设备管理。</a:t>
            </a:r>
          </a:p>
          <a:p>
            <a:pPr algn="just" eaLnBrk="1" hangingPunct="1">
              <a:buFont typeface="Wingdings" pitchFamily="2" charset="2"/>
              <a:buNone/>
            </a:pPr>
            <a:r>
              <a:rPr lang="en-US" altLang="zh-CN" sz="2800" dirty="0"/>
              <a:t>   </a:t>
            </a:r>
          </a:p>
        </p:txBody>
      </p:sp>
      <p:sp>
        <p:nvSpPr>
          <p:cNvPr id="2" name="灯片编号占位符 1">
            <a:extLst>
              <a:ext uri="{FF2B5EF4-FFF2-40B4-BE49-F238E27FC236}">
                <a16:creationId xmlns:a16="http://schemas.microsoft.com/office/drawing/2014/main" id="{78E80AA0-2DFF-7153-8263-886D0D6A6A9D}"/>
              </a:ext>
            </a:extLst>
          </p:cNvPr>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checkerboard(across)">
                                      <p:cBhvr>
                                        <p:cTn id="7" dur="500"/>
                                        <p:tgtEl>
                                          <p:spTgt spid="96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checkerboard(across)">
                                      <p:cBhvr>
                                        <p:cTn id="12" dur="500"/>
                                        <p:tgtEl>
                                          <p:spTgt spid="96259">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96259">
                                            <p:txEl>
                                              <p:pRg st="2" end="2"/>
                                            </p:txEl>
                                          </p:spTgt>
                                        </p:tgtEl>
                                        <p:attrNameLst>
                                          <p:attrName>style.visibility</p:attrName>
                                        </p:attrNameLst>
                                      </p:cBhvr>
                                      <p:to>
                                        <p:strVal val="visible"/>
                                      </p:to>
                                    </p:set>
                                    <p:animEffect transition="in" filter="checkerboard(across)">
                                      <p:cBhvr>
                                        <p:cTn id="15" dur="500"/>
                                        <p:tgtEl>
                                          <p:spTgt spid="962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ADBF2928-61AA-367B-C7BA-BDB051342D5A}"/>
              </a:ext>
            </a:extLst>
          </p:cNvPr>
          <p:cNvSpPr>
            <a:spLocks noGrp="1" noChangeArrowheads="1"/>
          </p:cNvSpPr>
          <p:nvPr>
            <p:ph type="title"/>
          </p:nvPr>
        </p:nvSpPr>
        <p:spPr/>
        <p:txBody>
          <a:bodyPr/>
          <a:lstStyle/>
          <a:p>
            <a:pPr eaLnBrk="1" hangingPunct="1"/>
            <a:r>
              <a:rPr lang="zh-CN" altLang="en-US"/>
              <a:t>设备分类方法</a:t>
            </a:r>
          </a:p>
        </p:txBody>
      </p:sp>
      <p:sp>
        <p:nvSpPr>
          <p:cNvPr id="16386" name="Rectangle 3">
            <a:extLst>
              <a:ext uri="{FF2B5EF4-FFF2-40B4-BE49-F238E27FC236}">
                <a16:creationId xmlns:a16="http://schemas.microsoft.com/office/drawing/2014/main" id="{3A00022D-6389-3BA5-A0CF-DAC86FEF1278}"/>
              </a:ext>
            </a:extLst>
          </p:cNvPr>
          <p:cNvSpPr>
            <a:spLocks noGrp="1" noChangeArrowheads="1"/>
          </p:cNvSpPr>
          <p:nvPr>
            <p:ph idx="1"/>
          </p:nvPr>
        </p:nvSpPr>
        <p:spPr>
          <a:xfrm>
            <a:off x="827088" y="1196975"/>
            <a:ext cx="8128000" cy="4114800"/>
          </a:xfrm>
        </p:spPr>
        <p:txBody>
          <a:bodyPr/>
          <a:lstStyle/>
          <a:p>
            <a:pPr algn="just" eaLnBrk="1" hangingPunct="1"/>
            <a:r>
              <a:rPr lang="zh-CN" altLang="en-US"/>
              <a:t>计算机设备种类繁多，从不同的角度出发，</a:t>
            </a:r>
            <a:r>
              <a:rPr lang="en-US" altLang="zh-CN"/>
              <a:t>I/O</a:t>
            </a:r>
            <a:r>
              <a:rPr lang="zh-CN" altLang="en-US"/>
              <a:t>设备可分成不同的类型。下面列举几种常见的分类方法。</a:t>
            </a:r>
          </a:p>
        </p:txBody>
      </p:sp>
      <p:sp>
        <p:nvSpPr>
          <p:cNvPr id="2" name="灯片编号占位符 1">
            <a:extLst>
              <a:ext uri="{FF2B5EF4-FFF2-40B4-BE49-F238E27FC236}">
                <a16:creationId xmlns:a16="http://schemas.microsoft.com/office/drawing/2014/main" id="{C1D3C3CC-1852-3CF4-C95E-D7C54E8EFBD0}"/>
              </a:ext>
            </a:extLst>
          </p:cNvPr>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A4EF726D-BC45-620C-4092-9BE04DB85191}"/>
              </a:ext>
            </a:extLst>
          </p:cNvPr>
          <p:cNvSpPr>
            <a:spLocks noGrp="1" noChangeArrowheads="1"/>
          </p:cNvSpPr>
          <p:nvPr>
            <p:ph type="title"/>
          </p:nvPr>
        </p:nvSpPr>
        <p:spPr/>
        <p:txBody>
          <a:bodyPr/>
          <a:lstStyle/>
          <a:p>
            <a:pPr eaLnBrk="1" hangingPunct="1"/>
            <a:r>
              <a:rPr lang="zh-CN" altLang="en-US" dirty="0"/>
              <a:t>按设备的使用特性分类</a:t>
            </a:r>
          </a:p>
        </p:txBody>
      </p:sp>
      <p:sp>
        <p:nvSpPr>
          <p:cNvPr id="223235" name="Rectangle 3">
            <a:extLst>
              <a:ext uri="{FF2B5EF4-FFF2-40B4-BE49-F238E27FC236}">
                <a16:creationId xmlns:a16="http://schemas.microsoft.com/office/drawing/2014/main" id="{9EB48342-1DCC-B135-A037-DED4A0F0B051}"/>
              </a:ext>
            </a:extLst>
          </p:cNvPr>
          <p:cNvSpPr>
            <a:spLocks noGrp="1" noChangeArrowheads="1"/>
          </p:cNvSpPr>
          <p:nvPr>
            <p:ph idx="1"/>
          </p:nvPr>
        </p:nvSpPr>
        <p:spPr>
          <a:xfrm>
            <a:off x="971550" y="1125538"/>
            <a:ext cx="7932738" cy="4967287"/>
          </a:xfrm>
        </p:spPr>
        <p:txBody>
          <a:bodyPr/>
          <a:lstStyle/>
          <a:p>
            <a:pPr algn="just" eaLnBrk="1" hangingPunct="1"/>
            <a:r>
              <a:rPr lang="zh-CN" altLang="en-US">
                <a:solidFill>
                  <a:srgbClr val="FF0000"/>
                </a:solidFill>
              </a:rPr>
              <a:t>存储设备</a:t>
            </a:r>
            <a:r>
              <a:rPr lang="zh-CN" altLang="en-US"/>
              <a:t>：用来保存各种信息的设备。如磁盘，磁带等。</a:t>
            </a:r>
          </a:p>
          <a:p>
            <a:pPr algn="just" eaLnBrk="1" hangingPunct="1"/>
            <a:r>
              <a:rPr lang="en-US" altLang="zh-CN">
                <a:solidFill>
                  <a:srgbClr val="FF0000"/>
                </a:solidFill>
                <a:latin typeface="Times New Roman" panose="02020603050405020304" pitchFamily="18" charset="0"/>
              </a:rPr>
              <a:t>I/O</a:t>
            </a:r>
            <a:r>
              <a:rPr lang="zh-CN" altLang="en-US">
                <a:solidFill>
                  <a:srgbClr val="FF0000"/>
                </a:solidFill>
                <a:latin typeface="Times New Roman" panose="02020603050405020304" pitchFamily="18" charset="0"/>
              </a:rPr>
              <a:t>设备</a:t>
            </a:r>
            <a:r>
              <a:rPr lang="zh-CN" altLang="en-US">
                <a:latin typeface="Times New Roman" panose="02020603050405020304" pitchFamily="18" charset="0"/>
              </a:rPr>
              <a:t>：向</a:t>
            </a:r>
            <a:r>
              <a:rPr lang="en-US" altLang="zh-CN">
                <a:latin typeface="Times New Roman" panose="02020603050405020304" pitchFamily="18" charset="0"/>
              </a:rPr>
              <a:t>CPU</a:t>
            </a:r>
            <a:r>
              <a:rPr lang="zh-CN" altLang="en-US">
                <a:latin typeface="Times New Roman" panose="02020603050405020304" pitchFamily="18" charset="0"/>
              </a:rPr>
              <a:t>传输</a:t>
            </a:r>
            <a:r>
              <a:rPr lang="zh-CN" altLang="en-US"/>
              <a:t>信息或输出经过</a:t>
            </a:r>
            <a:r>
              <a:rPr lang="en-US" altLang="zh-CN">
                <a:latin typeface="Times New Roman" panose="02020603050405020304" pitchFamily="18" charset="0"/>
              </a:rPr>
              <a:t>CPU</a:t>
            </a:r>
            <a:r>
              <a:rPr lang="zh-CN" altLang="en-US"/>
              <a:t>加工处理信息的设备。如键盘、显示器和打印机等</a:t>
            </a:r>
            <a:r>
              <a:rPr lang="en-US" altLang="zh-CN"/>
              <a:t>。</a:t>
            </a:r>
            <a:endParaRPr lang="zh-CN" altLang="en-US"/>
          </a:p>
        </p:txBody>
      </p:sp>
      <p:sp>
        <p:nvSpPr>
          <p:cNvPr id="2" name="灯片编号占位符 1">
            <a:extLst>
              <a:ext uri="{FF2B5EF4-FFF2-40B4-BE49-F238E27FC236}">
                <a16:creationId xmlns:a16="http://schemas.microsoft.com/office/drawing/2014/main" id="{041A904C-EE4F-4DA7-3411-08CECCFFDB97}"/>
              </a:ext>
            </a:extLst>
          </p:cNvPr>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Effect transition="in" filter="checkerboard(across)">
                                      <p:cBhvr>
                                        <p:cTn id="7" dur="500"/>
                                        <p:tgtEl>
                                          <p:spTgt spid="223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3235">
                                            <p:txEl>
                                              <p:pRg st="1" end="1"/>
                                            </p:txEl>
                                          </p:spTgt>
                                        </p:tgtEl>
                                        <p:attrNameLst>
                                          <p:attrName>style.visibility</p:attrName>
                                        </p:attrNameLst>
                                      </p:cBhvr>
                                      <p:to>
                                        <p:strVal val="visible"/>
                                      </p:to>
                                    </p:set>
                                    <p:animEffect transition="in" filter="checkerboard(across)">
                                      <p:cBhvr>
                                        <p:cTn id="12" dur="500"/>
                                        <p:tgtEl>
                                          <p:spTgt spid="2232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B3ED9C2A-9FF9-345B-A0CE-77B994725CFA}"/>
              </a:ext>
            </a:extLst>
          </p:cNvPr>
          <p:cNvSpPr>
            <a:spLocks noGrp="1" noChangeArrowheads="1"/>
          </p:cNvSpPr>
          <p:nvPr>
            <p:ph type="title"/>
          </p:nvPr>
        </p:nvSpPr>
        <p:spPr/>
        <p:txBody>
          <a:bodyPr/>
          <a:lstStyle/>
          <a:p>
            <a:pPr eaLnBrk="1" hangingPunct="1"/>
            <a:r>
              <a:rPr lang="zh-CN" altLang="en-US"/>
              <a:t>按设备的共享属性分类</a:t>
            </a:r>
          </a:p>
        </p:txBody>
      </p:sp>
      <p:sp>
        <p:nvSpPr>
          <p:cNvPr id="224259" name="Rectangle 3">
            <a:extLst>
              <a:ext uri="{FF2B5EF4-FFF2-40B4-BE49-F238E27FC236}">
                <a16:creationId xmlns:a16="http://schemas.microsoft.com/office/drawing/2014/main" id="{805A7AAD-19BA-D625-FF28-5BC8EE376F07}"/>
              </a:ext>
            </a:extLst>
          </p:cNvPr>
          <p:cNvSpPr>
            <a:spLocks noGrp="1" noChangeArrowheads="1"/>
          </p:cNvSpPr>
          <p:nvPr>
            <p:ph idx="1"/>
          </p:nvPr>
        </p:nvSpPr>
        <p:spPr>
          <a:xfrm>
            <a:off x="857250" y="1196975"/>
            <a:ext cx="8097838" cy="5018088"/>
          </a:xfrm>
        </p:spPr>
        <p:txBody>
          <a:bodyPr/>
          <a:lstStyle/>
          <a:p>
            <a:pPr algn="just" eaLnBrk="1" hangingPunct="1"/>
            <a:r>
              <a:rPr lang="zh-CN" altLang="en-US">
                <a:solidFill>
                  <a:srgbClr val="FF0000"/>
                </a:solidFill>
              </a:rPr>
              <a:t>独占设备</a:t>
            </a:r>
            <a:r>
              <a:rPr lang="zh-CN" altLang="en-US"/>
              <a:t>：在一段时间内只允许一个用户进程使用的设备。</a:t>
            </a:r>
          </a:p>
          <a:p>
            <a:pPr algn="just" eaLnBrk="1" hangingPunct="1"/>
            <a:r>
              <a:rPr lang="zh-CN" altLang="en-US">
                <a:solidFill>
                  <a:srgbClr val="FF0000"/>
                </a:solidFill>
              </a:rPr>
              <a:t>共享设备</a:t>
            </a:r>
            <a:r>
              <a:rPr lang="zh-CN" altLang="en-US"/>
              <a:t>：在一段时间内允许多个进程使用的设备。</a:t>
            </a:r>
          </a:p>
          <a:p>
            <a:pPr algn="just" eaLnBrk="1" hangingPunct="1"/>
            <a:r>
              <a:rPr lang="zh-CN" altLang="en-US">
                <a:solidFill>
                  <a:srgbClr val="FF0000"/>
                </a:solidFill>
                <a:latin typeface="Times New Roman" panose="02020603050405020304" pitchFamily="18" charset="0"/>
              </a:rPr>
              <a:t>虚拟设备</a:t>
            </a:r>
            <a:r>
              <a:rPr lang="zh-CN" altLang="en-US">
                <a:latin typeface="Times New Roman" panose="02020603050405020304" pitchFamily="18" charset="0"/>
              </a:rPr>
              <a:t>：指通过虚拟技术将一台独占设备改造成若干台逻辑设备，供若干个用户进程同时使用。通常把这种经过虚拟技术处理后的设备称为虚拟设备。</a:t>
            </a:r>
            <a:r>
              <a:rPr lang="zh-CN" altLang="en-US"/>
              <a:t> </a:t>
            </a:r>
          </a:p>
        </p:txBody>
      </p:sp>
      <p:sp>
        <p:nvSpPr>
          <p:cNvPr id="2" name="灯片编号占位符 1">
            <a:extLst>
              <a:ext uri="{FF2B5EF4-FFF2-40B4-BE49-F238E27FC236}">
                <a16:creationId xmlns:a16="http://schemas.microsoft.com/office/drawing/2014/main" id="{828BAE90-A5DF-DB30-447E-DB453656688B}"/>
              </a:ext>
            </a:extLst>
          </p:cNvPr>
          <p:cNvSpPr>
            <a:spLocks noGrp="1"/>
          </p:cNvSpPr>
          <p:nvPr>
            <p:ph type="sldNum" sz="quarter" idx="12"/>
          </p:nvPr>
        </p:nvSpPr>
        <p:spPr/>
        <p:txBody>
          <a:bodyPr/>
          <a:lstStyle/>
          <a:p>
            <a:fld id="{4093CC90-4002-504C-BD88-C9A1D374048E}" type="slidenum">
              <a:rPr lang="zh-CN" altLang="en-US" smtClean="0"/>
              <a:pPr/>
              <a:t>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Effect transition="in" filter="checkerboard(across)">
                                      <p:cBhvr>
                                        <p:cTn id="7" dur="500"/>
                                        <p:tgtEl>
                                          <p:spTgt spid="224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4259">
                                            <p:txEl>
                                              <p:pRg st="1" end="1"/>
                                            </p:txEl>
                                          </p:spTgt>
                                        </p:tgtEl>
                                        <p:attrNameLst>
                                          <p:attrName>style.visibility</p:attrName>
                                        </p:attrNameLst>
                                      </p:cBhvr>
                                      <p:to>
                                        <p:strVal val="visible"/>
                                      </p:to>
                                    </p:set>
                                    <p:animEffect transition="in" filter="checkerboard(across)">
                                      <p:cBhvr>
                                        <p:cTn id="12" dur="500"/>
                                        <p:tgtEl>
                                          <p:spTgt spid="224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24259">
                                            <p:txEl>
                                              <p:pRg st="2" end="2"/>
                                            </p:txEl>
                                          </p:spTgt>
                                        </p:tgtEl>
                                        <p:attrNameLst>
                                          <p:attrName>style.visibility</p:attrName>
                                        </p:attrNameLst>
                                      </p:cBhvr>
                                      <p:to>
                                        <p:strVal val="visible"/>
                                      </p:to>
                                    </p:set>
                                    <p:animEffect transition="in" filter="checkerboard(across)">
                                      <p:cBhvr>
                                        <p:cTn id="17" dur="500"/>
                                        <p:tgtEl>
                                          <p:spTgt spid="2242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0CF0D26-B882-0A7E-6D5A-B2B75CFB97C0}"/>
              </a:ext>
            </a:extLst>
          </p:cNvPr>
          <p:cNvSpPr>
            <a:spLocks noGrp="1" noChangeArrowheads="1"/>
          </p:cNvSpPr>
          <p:nvPr>
            <p:ph type="title"/>
          </p:nvPr>
        </p:nvSpPr>
        <p:spPr/>
        <p:txBody>
          <a:bodyPr/>
          <a:lstStyle/>
          <a:p>
            <a:pPr eaLnBrk="1" hangingPunct="1"/>
            <a:r>
              <a:rPr lang="zh-CN" altLang="en-US"/>
              <a:t>按信息交换单位分类</a:t>
            </a:r>
          </a:p>
        </p:txBody>
      </p:sp>
      <p:sp>
        <p:nvSpPr>
          <p:cNvPr id="99331" name="Rectangle 3">
            <a:extLst>
              <a:ext uri="{FF2B5EF4-FFF2-40B4-BE49-F238E27FC236}">
                <a16:creationId xmlns:a16="http://schemas.microsoft.com/office/drawing/2014/main" id="{6464B320-297D-A612-0450-BF5B51F915A9}"/>
              </a:ext>
            </a:extLst>
          </p:cNvPr>
          <p:cNvSpPr>
            <a:spLocks noGrp="1" noChangeArrowheads="1"/>
          </p:cNvSpPr>
          <p:nvPr>
            <p:ph idx="1"/>
          </p:nvPr>
        </p:nvSpPr>
        <p:spPr>
          <a:xfrm>
            <a:off x="611188" y="1196975"/>
            <a:ext cx="8343900" cy="4114800"/>
          </a:xfrm>
        </p:spPr>
        <p:txBody>
          <a:bodyPr/>
          <a:lstStyle/>
          <a:p>
            <a:pPr algn="just" eaLnBrk="1" hangingPunct="1"/>
            <a:r>
              <a:rPr lang="zh-CN" altLang="en-US">
                <a:solidFill>
                  <a:srgbClr val="FF0000"/>
                </a:solidFill>
              </a:rPr>
              <a:t>块设备</a:t>
            </a:r>
            <a:r>
              <a:rPr lang="zh-CN" altLang="en-US"/>
              <a:t>：处理信息的基本单位是字符块。一般块的大小为512</a:t>
            </a:r>
            <a:r>
              <a:rPr lang="en-US" altLang="zh-CN"/>
              <a:t>B～4KB，</a:t>
            </a:r>
            <a:r>
              <a:rPr lang="zh-CN" altLang="en-US"/>
              <a:t>如磁盘、磁带等是块设备。</a:t>
            </a:r>
          </a:p>
          <a:p>
            <a:pPr algn="just" eaLnBrk="1" hangingPunct="1"/>
            <a:r>
              <a:rPr lang="zh-CN" altLang="en-US">
                <a:solidFill>
                  <a:srgbClr val="FF0000"/>
                </a:solidFill>
              </a:rPr>
              <a:t>字符设备</a:t>
            </a:r>
            <a:r>
              <a:rPr lang="zh-CN" altLang="en-US"/>
              <a:t>：处理信息的基本单位是字符。如键盘、打印机和显示器是字符设备。</a:t>
            </a:r>
          </a:p>
        </p:txBody>
      </p:sp>
      <p:sp>
        <p:nvSpPr>
          <p:cNvPr id="2" name="灯片编号占位符 1">
            <a:extLst>
              <a:ext uri="{FF2B5EF4-FFF2-40B4-BE49-F238E27FC236}">
                <a16:creationId xmlns:a16="http://schemas.microsoft.com/office/drawing/2014/main" id="{1F0CD648-9B64-B5E5-F7F2-34D83636F07E}"/>
              </a:ext>
            </a:extLst>
          </p:cNvPr>
          <p:cNvSpPr>
            <a:spLocks noGrp="1"/>
          </p:cNvSpPr>
          <p:nvPr>
            <p:ph type="sldNum" sz="quarter" idx="12"/>
          </p:nvPr>
        </p:nvSpPr>
        <p:spPr/>
        <p:txBody>
          <a:bodyPr/>
          <a:lstStyle/>
          <a:p>
            <a:fld id="{4093CC90-4002-504C-BD88-C9A1D374048E}" type="slidenum">
              <a:rPr lang="zh-CN" altLang="en-US" smtClean="0"/>
              <a:pPr/>
              <a:t>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checkerboard(across)">
                                      <p:cBhvr>
                                        <p:cTn id="7" dur="500"/>
                                        <p:tgtEl>
                                          <p:spTgt spid="99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checkerboard(across)">
                                      <p:cBhvr>
                                        <p:cTn id="12" dur="500"/>
                                        <p:tgtEl>
                                          <p:spTgt spid="99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D7C0785-0F42-74B5-F296-67F79192672B}"/>
              </a:ext>
            </a:extLst>
          </p:cNvPr>
          <p:cNvSpPr>
            <a:spLocks noGrp="1" noChangeArrowheads="1"/>
          </p:cNvSpPr>
          <p:nvPr>
            <p:ph type="title"/>
          </p:nvPr>
        </p:nvSpPr>
        <p:spPr/>
        <p:txBody>
          <a:bodyPr/>
          <a:lstStyle/>
          <a:p>
            <a:pPr eaLnBrk="1" hangingPunct="1"/>
            <a:r>
              <a:rPr lang="zh-CN" altLang="en-US"/>
              <a:t>按设备从属关系分类 </a:t>
            </a:r>
          </a:p>
        </p:txBody>
      </p:sp>
      <p:sp>
        <p:nvSpPr>
          <p:cNvPr id="98307" name="Rectangle 3">
            <a:extLst>
              <a:ext uri="{FF2B5EF4-FFF2-40B4-BE49-F238E27FC236}">
                <a16:creationId xmlns:a16="http://schemas.microsoft.com/office/drawing/2014/main" id="{973007F6-26F9-63CE-C001-2D3A2DE1DDA9}"/>
              </a:ext>
            </a:extLst>
          </p:cNvPr>
          <p:cNvSpPr>
            <a:spLocks noGrp="1" noChangeArrowheads="1"/>
          </p:cNvSpPr>
          <p:nvPr>
            <p:ph idx="1"/>
          </p:nvPr>
        </p:nvSpPr>
        <p:spPr/>
        <p:txBody>
          <a:bodyPr/>
          <a:lstStyle/>
          <a:p>
            <a:pPr algn="just" eaLnBrk="1" hangingPunct="1"/>
            <a:r>
              <a:rPr lang="zh-CN" altLang="en-US">
                <a:solidFill>
                  <a:srgbClr val="FF0000"/>
                </a:solidFill>
                <a:latin typeface="Times New Roman" panose="02020603050405020304" pitchFamily="18" charset="0"/>
              </a:rPr>
              <a:t>系统设备</a:t>
            </a:r>
            <a:r>
              <a:rPr lang="zh-CN" altLang="en-US">
                <a:latin typeface="Times New Roman" panose="02020603050405020304" pitchFamily="18" charset="0"/>
              </a:rPr>
              <a:t>：指在操作系统生成时已经登记在系统中的标准设备。如键盘、显示器、打印机等。</a:t>
            </a:r>
          </a:p>
          <a:p>
            <a:pPr algn="just" eaLnBrk="1" hangingPunct="1"/>
            <a:r>
              <a:rPr lang="zh-CN" altLang="en-US">
                <a:solidFill>
                  <a:srgbClr val="FF0000"/>
                </a:solidFill>
                <a:latin typeface="Times New Roman" panose="02020603050405020304" pitchFamily="18" charset="0"/>
              </a:rPr>
              <a:t>用户设备</a:t>
            </a:r>
            <a:r>
              <a:rPr lang="zh-CN" altLang="en-US">
                <a:latin typeface="Times New Roman" panose="02020603050405020304" pitchFamily="18" charset="0"/>
              </a:rPr>
              <a:t>：指操作系统生成时未登记入系统的非标准设备。如鼠标、绘图仪，扫描仪等。</a:t>
            </a:r>
            <a:r>
              <a:rPr lang="zh-CN" altLang="en-US"/>
              <a:t> </a:t>
            </a:r>
          </a:p>
        </p:txBody>
      </p:sp>
      <p:sp>
        <p:nvSpPr>
          <p:cNvPr id="2" name="灯片编号占位符 1">
            <a:extLst>
              <a:ext uri="{FF2B5EF4-FFF2-40B4-BE49-F238E27FC236}">
                <a16:creationId xmlns:a16="http://schemas.microsoft.com/office/drawing/2014/main" id="{01DD96E7-6D68-7519-CF7C-887ED03D64AA}"/>
              </a:ext>
            </a:extLst>
          </p:cNvPr>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checkerboard(across)">
                                      <p:cBhvr>
                                        <p:cTn id="7" dur="500"/>
                                        <p:tgtEl>
                                          <p:spTgt spid="98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8307">
                                            <p:txEl>
                                              <p:pRg st="1" end="1"/>
                                            </p:txEl>
                                          </p:spTgt>
                                        </p:tgtEl>
                                        <p:attrNameLst>
                                          <p:attrName>style.visibility</p:attrName>
                                        </p:attrNameLst>
                                      </p:cBhvr>
                                      <p:to>
                                        <p:strVal val="visible"/>
                                      </p:to>
                                    </p:set>
                                    <p:animEffect transition="in" filter="checkerboard(across)">
                                      <p:cBhvr>
                                        <p:cTn id="12" dur="500"/>
                                        <p:tgtEl>
                                          <p:spTgt spid="98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F494C01D-DE46-B033-BE78-CF0C7CE7A1FE}"/>
              </a:ext>
            </a:extLst>
          </p:cNvPr>
          <p:cNvSpPr>
            <a:spLocks noGrp="1" noChangeArrowheads="1"/>
          </p:cNvSpPr>
          <p:nvPr>
            <p:ph type="title"/>
          </p:nvPr>
        </p:nvSpPr>
        <p:spPr>
          <a:xfrm>
            <a:off x="1042988" y="225431"/>
            <a:ext cx="7850187" cy="746125"/>
          </a:xfrm>
        </p:spPr>
        <p:txBody>
          <a:bodyPr/>
          <a:lstStyle/>
          <a:p>
            <a:r>
              <a:rPr lang="zh-CN" altLang="en-US"/>
              <a:t>设备管理的任务和功能 </a:t>
            </a:r>
          </a:p>
        </p:txBody>
      </p:sp>
      <p:sp>
        <p:nvSpPr>
          <p:cNvPr id="21506" name="Rectangle 3">
            <a:extLst>
              <a:ext uri="{FF2B5EF4-FFF2-40B4-BE49-F238E27FC236}">
                <a16:creationId xmlns:a16="http://schemas.microsoft.com/office/drawing/2014/main" id="{16F3A226-FAFF-0F1C-A655-ECE86193D071}"/>
              </a:ext>
            </a:extLst>
          </p:cNvPr>
          <p:cNvSpPr>
            <a:spLocks noGrp="1" noChangeArrowheads="1"/>
          </p:cNvSpPr>
          <p:nvPr>
            <p:ph idx="1"/>
          </p:nvPr>
        </p:nvSpPr>
        <p:spPr>
          <a:xfrm>
            <a:off x="935038" y="1233488"/>
            <a:ext cx="7772400" cy="4895850"/>
          </a:xfrm>
        </p:spPr>
        <p:txBody>
          <a:bodyPr>
            <a:normAutofit fontScale="77500" lnSpcReduction="20000"/>
          </a:bodyPr>
          <a:lstStyle/>
          <a:p>
            <a:r>
              <a:rPr lang="zh-CN" altLang="en-US" dirty="0"/>
              <a:t>设备管理的主要任务是：</a:t>
            </a:r>
          </a:p>
          <a:p>
            <a:pPr lvl="1"/>
            <a:r>
              <a:rPr lang="zh-CN" altLang="en-US" dirty="0"/>
              <a:t>完成用户提出的</a:t>
            </a:r>
            <a:r>
              <a:rPr lang="en-US" altLang="zh-CN" dirty="0"/>
              <a:t>I/O</a:t>
            </a:r>
            <a:r>
              <a:rPr lang="zh-CN" altLang="en-US" dirty="0"/>
              <a:t>请求</a:t>
            </a:r>
          </a:p>
          <a:p>
            <a:pPr lvl="1"/>
            <a:r>
              <a:rPr lang="zh-CN" altLang="en-US" dirty="0"/>
              <a:t>分配</a:t>
            </a:r>
            <a:r>
              <a:rPr lang="en-US" altLang="zh-CN" dirty="0"/>
              <a:t>I/O</a:t>
            </a:r>
            <a:r>
              <a:rPr lang="zh-CN" altLang="en-US" dirty="0"/>
              <a:t>设备</a:t>
            </a:r>
          </a:p>
          <a:p>
            <a:pPr lvl="1"/>
            <a:r>
              <a:rPr lang="zh-CN" altLang="en-US" dirty="0"/>
              <a:t>提高</a:t>
            </a:r>
            <a:r>
              <a:rPr lang="en-US" altLang="zh-CN" dirty="0"/>
              <a:t>I/O</a:t>
            </a:r>
            <a:r>
              <a:rPr lang="zh-CN" altLang="en-US" dirty="0"/>
              <a:t>设备的利用率</a:t>
            </a:r>
          </a:p>
          <a:p>
            <a:pPr lvl="1"/>
            <a:r>
              <a:rPr lang="zh-CN" altLang="en-US" dirty="0"/>
              <a:t>方便用户使用</a:t>
            </a:r>
            <a:r>
              <a:rPr lang="en-US" altLang="zh-CN" dirty="0"/>
              <a:t>I/O</a:t>
            </a:r>
            <a:r>
              <a:rPr lang="zh-CN" altLang="en-US" dirty="0"/>
              <a:t>设备</a:t>
            </a:r>
            <a:endParaRPr lang="en-US" altLang="zh-CN" dirty="0"/>
          </a:p>
          <a:p>
            <a:r>
              <a:rPr lang="zh-CN" altLang="en-US" dirty="0"/>
              <a:t>设备管理的功能</a:t>
            </a:r>
            <a:endParaRPr lang="en-US" altLang="zh-CN" dirty="0"/>
          </a:p>
          <a:p>
            <a:pPr lvl="1"/>
            <a:r>
              <a:rPr lang="zh-CN" altLang="en-US" dirty="0"/>
              <a:t>设备分配：根据用户的</a:t>
            </a:r>
            <a:r>
              <a:rPr lang="en-US" altLang="zh-CN" dirty="0"/>
              <a:t>I/O</a:t>
            </a:r>
            <a:r>
              <a:rPr lang="zh-CN" altLang="en-US" dirty="0"/>
              <a:t>请求，为之分配设备。包含控制器和通道。</a:t>
            </a:r>
          </a:p>
          <a:p>
            <a:pPr lvl="1"/>
            <a:r>
              <a:rPr lang="zh-CN" altLang="en-US" dirty="0"/>
              <a:t>设备处理：负责启动设备及</a:t>
            </a:r>
            <a:r>
              <a:rPr lang="en-US" altLang="zh-CN" dirty="0"/>
              <a:t>I/O</a:t>
            </a:r>
            <a:r>
              <a:rPr lang="zh-CN" altLang="en-US" dirty="0"/>
              <a:t>操作完成时的中断处理。</a:t>
            </a:r>
          </a:p>
          <a:p>
            <a:pPr lvl="1"/>
            <a:r>
              <a:rPr lang="zh-CN" altLang="en-US" dirty="0"/>
              <a:t>缓冲管理：为缓和</a:t>
            </a:r>
            <a:r>
              <a:rPr lang="en-US" altLang="zh-CN" dirty="0"/>
              <a:t>CPU</a:t>
            </a:r>
            <a:r>
              <a:rPr lang="zh-CN" altLang="en-US" dirty="0"/>
              <a:t>与</a:t>
            </a:r>
            <a:r>
              <a:rPr lang="en-US" altLang="zh-CN" dirty="0"/>
              <a:t>I/O</a:t>
            </a:r>
            <a:r>
              <a:rPr lang="zh-CN" altLang="en-US" dirty="0"/>
              <a:t>速度不匹配的矛盾常设置缓冲区。缓冲管理负责缓冲区的分配和释放及有关管理工作。</a:t>
            </a:r>
          </a:p>
          <a:p>
            <a:pPr lvl="1"/>
            <a:r>
              <a:rPr lang="zh-CN" altLang="en-US" dirty="0"/>
              <a:t>设备独立性：又称设备无关性，是指用户编制程序时所使用的设备与物理设备无关。</a:t>
            </a:r>
          </a:p>
          <a:p>
            <a:endParaRPr lang="zh-CN" altLang="en-US" dirty="0"/>
          </a:p>
        </p:txBody>
      </p:sp>
      <p:sp>
        <p:nvSpPr>
          <p:cNvPr id="4" name="灯片编号占位符 3">
            <a:extLst>
              <a:ext uri="{FF2B5EF4-FFF2-40B4-BE49-F238E27FC236}">
                <a16:creationId xmlns:a16="http://schemas.microsoft.com/office/drawing/2014/main" id="{7C1C7102-36B0-4C6A-92C9-EB542A0E6128}"/>
              </a:ext>
            </a:extLst>
          </p:cNvPr>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58E55BB-5D9A-3A37-5CC5-E27EDC87A793}"/>
              </a:ext>
            </a:extLst>
          </p:cNvPr>
          <p:cNvSpPr>
            <a:spLocks noGrp="1" noChangeArrowheads="1"/>
          </p:cNvSpPr>
          <p:nvPr>
            <p:ph type="title"/>
          </p:nvPr>
        </p:nvSpPr>
        <p:spPr>
          <a:xfrm>
            <a:off x="1042988" y="225431"/>
            <a:ext cx="7850187" cy="746125"/>
          </a:xfrm>
        </p:spPr>
        <p:txBody>
          <a:bodyPr/>
          <a:lstStyle/>
          <a:p>
            <a:r>
              <a:rPr lang="zh-CN" altLang="en-US"/>
              <a:t>设备独立性类型</a:t>
            </a:r>
          </a:p>
        </p:txBody>
      </p:sp>
      <p:sp>
        <p:nvSpPr>
          <p:cNvPr id="23554" name="Rectangle 3">
            <a:extLst>
              <a:ext uri="{FF2B5EF4-FFF2-40B4-BE49-F238E27FC236}">
                <a16:creationId xmlns:a16="http://schemas.microsoft.com/office/drawing/2014/main" id="{804600CF-E42C-9EBF-A6F3-B7B14DB2BDF5}"/>
              </a:ext>
            </a:extLst>
          </p:cNvPr>
          <p:cNvSpPr>
            <a:spLocks noGrp="1" noChangeArrowheads="1"/>
          </p:cNvSpPr>
          <p:nvPr>
            <p:ph idx="1"/>
          </p:nvPr>
        </p:nvSpPr>
        <p:spPr>
          <a:xfrm>
            <a:off x="935038" y="1233488"/>
            <a:ext cx="7772400" cy="4895850"/>
          </a:xfrm>
        </p:spPr>
        <p:txBody>
          <a:bodyPr/>
          <a:lstStyle/>
          <a:p>
            <a:r>
              <a:rPr lang="zh-CN" altLang="en-US"/>
              <a:t>设备独立性有两种类型：</a:t>
            </a:r>
          </a:p>
          <a:p>
            <a:pPr lvl="1"/>
            <a:r>
              <a:rPr lang="zh-CN" altLang="en-US"/>
              <a:t>独立于同类设备的具体设备号</a:t>
            </a:r>
          </a:p>
          <a:p>
            <a:pPr lvl="1"/>
            <a:r>
              <a:rPr lang="zh-CN" altLang="en-US"/>
              <a:t>独立于设备类型</a:t>
            </a:r>
          </a:p>
        </p:txBody>
      </p:sp>
      <p:sp>
        <p:nvSpPr>
          <p:cNvPr id="4" name="灯片编号占位符 3">
            <a:extLst>
              <a:ext uri="{FF2B5EF4-FFF2-40B4-BE49-F238E27FC236}">
                <a16:creationId xmlns:a16="http://schemas.microsoft.com/office/drawing/2014/main" id="{87554E20-6CE5-6F01-406A-6C26A3994006}"/>
              </a:ext>
            </a:extLst>
          </p:cNvPr>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A0FA0B8D-8D2A-8FC3-1395-53717065DA0E}"/>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硬件</a:t>
            </a:r>
            <a:endParaRPr lang="en-US" altLang="zh-CN" dirty="0"/>
          </a:p>
        </p:txBody>
      </p:sp>
      <p:sp>
        <p:nvSpPr>
          <p:cNvPr id="243715" name="Rectangle 3">
            <a:extLst>
              <a:ext uri="{FF2B5EF4-FFF2-40B4-BE49-F238E27FC236}">
                <a16:creationId xmlns:a16="http://schemas.microsoft.com/office/drawing/2014/main" id="{55ABB120-AAB3-166F-BBCC-DDF179D0DECA}"/>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dirty="0"/>
              <a:t>端口：设备与计算机通过端口通信。</a:t>
            </a:r>
          </a:p>
          <a:p>
            <a:r>
              <a:rPr lang="zh-CN" altLang="en-US" dirty="0"/>
              <a:t>总线：是一组线和一组严格定义的可以描述在线上传输信息的协议。</a:t>
            </a:r>
            <a:endParaRPr lang="en-US" altLang="zh-CN" dirty="0"/>
          </a:p>
          <a:p>
            <a:r>
              <a:rPr lang="zh-CN" altLang="en-US" dirty="0"/>
              <a:t>控制器：用于操作端口、总线或设备的一组电子器件。</a:t>
            </a:r>
          </a:p>
          <a:p>
            <a:r>
              <a:rPr lang="zh-CN" altLang="en-US" dirty="0"/>
              <a:t>设备地址，可用于</a:t>
            </a:r>
          </a:p>
          <a:p>
            <a:pPr lvl="1"/>
            <a:r>
              <a:rPr lang="zh-CN" altLang="en-US" dirty="0"/>
              <a:t>直接</a:t>
            </a:r>
            <a:r>
              <a:rPr lang="en-US" altLang="zh-CN" dirty="0"/>
              <a:t>I/O</a:t>
            </a:r>
            <a:r>
              <a:rPr lang="zh-CN" altLang="en-US" dirty="0"/>
              <a:t>指令  </a:t>
            </a:r>
            <a:r>
              <a:rPr lang="en-US" altLang="zh-CN" dirty="0"/>
              <a:t>Direct I/O instructions</a:t>
            </a:r>
          </a:p>
          <a:p>
            <a:pPr lvl="1"/>
            <a:r>
              <a:rPr lang="zh-CN" altLang="en-US" dirty="0"/>
              <a:t>存储器映射</a:t>
            </a:r>
            <a:r>
              <a:rPr lang="en-US" altLang="zh-CN" dirty="0"/>
              <a:t>I/O  Memory-mapped I/O</a:t>
            </a:r>
            <a:r>
              <a:rPr lang="zh-CN" altLang="en-US" dirty="0"/>
              <a:t>：设备控制寄存器映射到处理器的地址空间，因此处理器能够象访问普通内存一样访问设备控制寄存器。</a:t>
            </a:r>
          </a:p>
          <a:p>
            <a:endParaRPr lang="zh-CN" altLang="en-US" dirty="0"/>
          </a:p>
        </p:txBody>
      </p:sp>
      <p:sp>
        <p:nvSpPr>
          <p:cNvPr id="6" name="灯片编号占位符 5">
            <a:extLst>
              <a:ext uri="{FF2B5EF4-FFF2-40B4-BE49-F238E27FC236}">
                <a16:creationId xmlns:a16="http://schemas.microsoft.com/office/drawing/2014/main" id="{9C01F96A-7077-9760-6706-A1623DA27C88}"/>
              </a:ext>
            </a:extLst>
          </p:cNvPr>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checkerboard(across)">
                                      <p:cBhvr>
                                        <p:cTn id="7" dur="500"/>
                                        <p:tgtEl>
                                          <p:spTgt spid="243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3715">
                                            <p:txEl>
                                              <p:pRg st="1" end="1"/>
                                            </p:txEl>
                                          </p:spTgt>
                                        </p:tgtEl>
                                        <p:attrNameLst>
                                          <p:attrName>style.visibility</p:attrName>
                                        </p:attrNameLst>
                                      </p:cBhvr>
                                      <p:to>
                                        <p:strVal val="visible"/>
                                      </p:to>
                                    </p:set>
                                    <p:animEffect transition="in" filter="checkerboard(across)">
                                      <p:cBhvr>
                                        <p:cTn id="12" dur="500"/>
                                        <p:tgtEl>
                                          <p:spTgt spid="243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3715">
                                            <p:txEl>
                                              <p:pRg st="2" end="2"/>
                                            </p:txEl>
                                          </p:spTgt>
                                        </p:tgtEl>
                                        <p:attrNameLst>
                                          <p:attrName>style.visibility</p:attrName>
                                        </p:attrNameLst>
                                      </p:cBhvr>
                                      <p:to>
                                        <p:strVal val="visible"/>
                                      </p:to>
                                    </p:set>
                                    <p:animEffect transition="in" filter="checkerboard(across)">
                                      <p:cBhvr>
                                        <p:cTn id="17" dur="500"/>
                                        <p:tgtEl>
                                          <p:spTgt spid="2437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3715">
                                            <p:txEl>
                                              <p:pRg st="3" end="3"/>
                                            </p:txEl>
                                          </p:spTgt>
                                        </p:tgtEl>
                                        <p:attrNameLst>
                                          <p:attrName>style.visibility</p:attrName>
                                        </p:attrNameLst>
                                      </p:cBhvr>
                                      <p:to>
                                        <p:strVal val="visible"/>
                                      </p:to>
                                    </p:set>
                                    <p:animEffect transition="in" filter="checkerboard(across)">
                                      <p:cBhvr>
                                        <p:cTn id="22" dur="500"/>
                                        <p:tgtEl>
                                          <p:spTgt spid="2437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43715">
                                            <p:txEl>
                                              <p:pRg st="4" end="4"/>
                                            </p:txEl>
                                          </p:spTgt>
                                        </p:tgtEl>
                                        <p:attrNameLst>
                                          <p:attrName>style.visibility</p:attrName>
                                        </p:attrNameLst>
                                      </p:cBhvr>
                                      <p:to>
                                        <p:strVal val="visible"/>
                                      </p:to>
                                    </p:set>
                                    <p:animEffect transition="in" filter="checkerboard(across)">
                                      <p:cBhvr>
                                        <p:cTn id="27" dur="500"/>
                                        <p:tgtEl>
                                          <p:spTgt spid="2437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43715">
                                            <p:txEl>
                                              <p:pRg st="5" end="5"/>
                                            </p:txEl>
                                          </p:spTgt>
                                        </p:tgtEl>
                                        <p:attrNameLst>
                                          <p:attrName>style.visibility</p:attrName>
                                        </p:attrNameLst>
                                      </p:cBhvr>
                                      <p:to>
                                        <p:strVal val="visible"/>
                                      </p:to>
                                    </p:set>
                                    <p:animEffect transition="in" filter="checkerboard(across)">
                                      <p:cBhvr>
                                        <p:cTn id="32" dur="500"/>
                                        <p:tgtEl>
                                          <p:spTgt spid="2437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097883A0-B645-614F-637A-1AAA91F9EBF6}"/>
              </a:ext>
            </a:extLst>
          </p:cNvPr>
          <p:cNvSpPr>
            <a:spLocks noGrp="1" noChangeArrowheads="1"/>
          </p:cNvSpPr>
          <p:nvPr>
            <p:ph type="title"/>
          </p:nvPr>
        </p:nvSpPr>
        <p:spPr>
          <a:xfrm>
            <a:off x="1042988" y="225431"/>
            <a:ext cx="7850187" cy="746125"/>
          </a:xfrm>
        </p:spPr>
        <p:txBody>
          <a:bodyPr/>
          <a:lstStyle/>
          <a:p>
            <a:r>
              <a:rPr lang="en-US" altLang="zh-CN" dirty="0"/>
              <a:t> I/O</a:t>
            </a:r>
            <a:r>
              <a:rPr lang="zh-CN" altLang="en-US" dirty="0"/>
              <a:t>硬件</a:t>
            </a:r>
            <a:endParaRPr lang="en-US" altLang="zh-CN" dirty="0"/>
          </a:p>
        </p:txBody>
      </p:sp>
      <p:sp>
        <p:nvSpPr>
          <p:cNvPr id="247811" name="Rectangle 3">
            <a:extLst>
              <a:ext uri="{FF2B5EF4-FFF2-40B4-BE49-F238E27FC236}">
                <a16:creationId xmlns:a16="http://schemas.microsoft.com/office/drawing/2014/main" id="{B9DB5031-4103-D982-0593-59D7D66F628E}"/>
              </a:ext>
            </a:extLst>
          </p:cNvPr>
          <p:cNvSpPr>
            <a:spLocks noGrp="1" noChangeArrowheads="1"/>
          </p:cNvSpPr>
          <p:nvPr>
            <p:ph idx="1"/>
          </p:nvPr>
        </p:nvSpPr>
        <p:spPr>
          <a:xfrm>
            <a:off x="935038" y="1233488"/>
            <a:ext cx="7772400" cy="4895850"/>
          </a:xfrm>
        </p:spPr>
        <p:txBody>
          <a:bodyPr/>
          <a:lstStyle/>
          <a:p>
            <a:r>
              <a:rPr lang="en-US" altLang="zh-CN" dirty="0"/>
              <a:t>I/O</a:t>
            </a:r>
            <a:r>
              <a:rPr lang="zh-CN" altLang="en-US" dirty="0"/>
              <a:t>端口通常有四种寄存器</a:t>
            </a:r>
          </a:p>
          <a:p>
            <a:pPr lvl="1"/>
            <a:r>
              <a:rPr lang="zh-CN" altLang="en-US" dirty="0"/>
              <a:t>状态寄存器 </a:t>
            </a:r>
            <a:r>
              <a:rPr lang="en-US" altLang="zh-CN" dirty="0"/>
              <a:t>Status registers</a:t>
            </a:r>
            <a:r>
              <a:rPr lang="zh-CN" altLang="en-US" dirty="0"/>
              <a:t> ：包含一些主机可读取的位信息，指示设备的各种状态</a:t>
            </a:r>
          </a:p>
          <a:p>
            <a:pPr lvl="1"/>
            <a:r>
              <a:rPr lang="zh-CN" altLang="en-US" dirty="0"/>
              <a:t>控制寄存器 </a:t>
            </a:r>
            <a:r>
              <a:rPr lang="en-US" altLang="zh-CN" dirty="0"/>
              <a:t>Control registers</a:t>
            </a:r>
            <a:r>
              <a:rPr lang="zh-CN" altLang="en-US" dirty="0"/>
              <a:t> ：可以被主机用来向设备发送命令或改变设备状态。</a:t>
            </a:r>
          </a:p>
          <a:p>
            <a:pPr lvl="1"/>
            <a:r>
              <a:rPr lang="zh-CN" altLang="en-US" dirty="0"/>
              <a:t>数据输入寄存器 </a:t>
            </a:r>
            <a:r>
              <a:rPr lang="en-US" altLang="zh-CN" dirty="0"/>
              <a:t>Data-in registers</a:t>
            </a:r>
            <a:r>
              <a:rPr lang="zh-CN" altLang="en-US" dirty="0"/>
              <a:t> ：可以被主机读取数据</a:t>
            </a:r>
          </a:p>
          <a:p>
            <a:pPr lvl="1"/>
            <a:r>
              <a:rPr lang="zh-CN" altLang="en-US" dirty="0"/>
              <a:t>数据输出寄存器 </a:t>
            </a:r>
            <a:r>
              <a:rPr lang="en-US" altLang="zh-CN" dirty="0"/>
              <a:t>Data-out registers</a:t>
            </a:r>
            <a:r>
              <a:rPr lang="zh-CN" altLang="en-US" dirty="0"/>
              <a:t> ：被主机写入数据以发送数据</a:t>
            </a:r>
          </a:p>
        </p:txBody>
      </p:sp>
      <p:sp>
        <p:nvSpPr>
          <p:cNvPr id="4" name="灯片编号占位符 3">
            <a:extLst>
              <a:ext uri="{FF2B5EF4-FFF2-40B4-BE49-F238E27FC236}">
                <a16:creationId xmlns:a16="http://schemas.microsoft.com/office/drawing/2014/main" id="{B898B1F9-70B4-FD55-69B4-E509BB077DF5}"/>
              </a:ext>
            </a:extLst>
          </p:cNvPr>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Effect transition="in" filter="checkerboard(across)">
                                      <p:cBhvr>
                                        <p:cTn id="7" dur="500"/>
                                        <p:tgtEl>
                                          <p:spTgt spid="247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7811">
                                            <p:txEl>
                                              <p:pRg st="1" end="1"/>
                                            </p:txEl>
                                          </p:spTgt>
                                        </p:tgtEl>
                                        <p:attrNameLst>
                                          <p:attrName>style.visibility</p:attrName>
                                        </p:attrNameLst>
                                      </p:cBhvr>
                                      <p:to>
                                        <p:strVal val="visible"/>
                                      </p:to>
                                    </p:set>
                                    <p:animEffect transition="in" filter="checkerboard(across)">
                                      <p:cBhvr>
                                        <p:cTn id="12" dur="500"/>
                                        <p:tgtEl>
                                          <p:spTgt spid="247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7811">
                                            <p:txEl>
                                              <p:pRg st="2" end="2"/>
                                            </p:txEl>
                                          </p:spTgt>
                                        </p:tgtEl>
                                        <p:attrNameLst>
                                          <p:attrName>style.visibility</p:attrName>
                                        </p:attrNameLst>
                                      </p:cBhvr>
                                      <p:to>
                                        <p:strVal val="visible"/>
                                      </p:to>
                                    </p:set>
                                    <p:animEffect transition="in" filter="checkerboard(across)">
                                      <p:cBhvr>
                                        <p:cTn id="17" dur="500"/>
                                        <p:tgtEl>
                                          <p:spTgt spid="2478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7811">
                                            <p:txEl>
                                              <p:pRg st="3" end="3"/>
                                            </p:txEl>
                                          </p:spTgt>
                                        </p:tgtEl>
                                        <p:attrNameLst>
                                          <p:attrName>style.visibility</p:attrName>
                                        </p:attrNameLst>
                                      </p:cBhvr>
                                      <p:to>
                                        <p:strVal val="visible"/>
                                      </p:to>
                                    </p:set>
                                    <p:animEffect transition="in" filter="checkerboard(across)">
                                      <p:cBhvr>
                                        <p:cTn id="22" dur="500"/>
                                        <p:tgtEl>
                                          <p:spTgt spid="2478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47811">
                                            <p:txEl>
                                              <p:pRg st="4" end="4"/>
                                            </p:txEl>
                                          </p:spTgt>
                                        </p:tgtEl>
                                        <p:attrNameLst>
                                          <p:attrName>style.visibility</p:attrName>
                                        </p:attrNameLst>
                                      </p:cBhvr>
                                      <p:to>
                                        <p:strVal val="visible"/>
                                      </p:to>
                                    </p:set>
                                    <p:animEffect transition="in" filter="checkerboard(across)">
                                      <p:cBhvr>
                                        <p:cTn id="27" dur="500"/>
                                        <p:tgtEl>
                                          <p:spTgt spid="247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D45768F5-3A64-14F8-B766-F5D3655782BA}"/>
              </a:ext>
            </a:extLst>
          </p:cNvPr>
          <p:cNvSpPr>
            <a:spLocks noGrp="1" noChangeArrowheads="1"/>
          </p:cNvSpPr>
          <p:nvPr>
            <p:ph type="title"/>
          </p:nvPr>
        </p:nvSpPr>
        <p:spPr>
          <a:xfrm>
            <a:off x="1042988" y="225431"/>
            <a:ext cx="7850187" cy="746125"/>
          </a:xfrm>
        </p:spPr>
        <p:txBody>
          <a:bodyPr/>
          <a:lstStyle/>
          <a:p>
            <a:r>
              <a:rPr lang="zh-CN" altLang="en-US"/>
              <a:t>设备控制器</a:t>
            </a:r>
          </a:p>
        </p:txBody>
      </p:sp>
      <p:sp>
        <p:nvSpPr>
          <p:cNvPr id="102403" name="Rectangle 3">
            <a:extLst>
              <a:ext uri="{FF2B5EF4-FFF2-40B4-BE49-F238E27FC236}">
                <a16:creationId xmlns:a16="http://schemas.microsoft.com/office/drawing/2014/main" id="{AEEA6A6C-BE6E-D452-F623-A8CC4FE0D90D}"/>
              </a:ext>
            </a:extLst>
          </p:cNvPr>
          <p:cNvSpPr>
            <a:spLocks noGrp="1" noChangeArrowheads="1"/>
          </p:cNvSpPr>
          <p:nvPr>
            <p:ph idx="1"/>
          </p:nvPr>
        </p:nvSpPr>
        <p:spPr>
          <a:xfrm>
            <a:off x="935038" y="1233488"/>
            <a:ext cx="7772400" cy="4895850"/>
          </a:xfrm>
        </p:spPr>
        <p:txBody>
          <a:bodyPr/>
          <a:lstStyle/>
          <a:p>
            <a:r>
              <a:rPr lang="zh-CN" altLang="en-US" dirty="0"/>
              <a:t>设备一般由机械和电子两部分组成，设备的电子部分通常称为</a:t>
            </a:r>
            <a:r>
              <a:rPr lang="zh-CN" altLang="en-US" b="1" dirty="0">
                <a:solidFill>
                  <a:srgbClr val="FF0000"/>
                </a:solidFill>
              </a:rPr>
              <a:t>设备控制器</a:t>
            </a:r>
            <a:r>
              <a:rPr lang="zh-CN" altLang="en-US" dirty="0"/>
              <a:t>。在微型计算机中，又称为接口卡。 </a:t>
            </a:r>
          </a:p>
          <a:p>
            <a:r>
              <a:rPr lang="zh-CN" altLang="en-US" dirty="0"/>
              <a:t>控制器处于</a:t>
            </a:r>
            <a:r>
              <a:rPr lang="en-US" altLang="zh-CN" dirty="0"/>
              <a:t>CPU</a:t>
            </a:r>
            <a:r>
              <a:rPr lang="zh-CN" altLang="en-US" dirty="0"/>
              <a:t>与</a:t>
            </a:r>
            <a:r>
              <a:rPr lang="en-US" altLang="zh-CN" dirty="0"/>
              <a:t>I/O</a:t>
            </a:r>
            <a:r>
              <a:rPr lang="zh-CN" altLang="en-US" dirty="0"/>
              <a:t>设备之间，它接收从</a:t>
            </a:r>
            <a:r>
              <a:rPr lang="en-US" altLang="zh-CN" dirty="0"/>
              <a:t>CPU</a:t>
            </a:r>
            <a:r>
              <a:rPr lang="zh-CN" altLang="en-US" dirty="0"/>
              <a:t>发来的命令，并去控制</a:t>
            </a:r>
            <a:r>
              <a:rPr lang="en-US" altLang="zh-CN" dirty="0"/>
              <a:t>I/O</a:t>
            </a:r>
            <a:r>
              <a:rPr lang="zh-CN" altLang="en-US" dirty="0"/>
              <a:t>设备工作</a:t>
            </a:r>
          </a:p>
          <a:p>
            <a:r>
              <a:rPr lang="zh-CN" altLang="en-US" dirty="0"/>
              <a:t>设备控制器是一个可编址设备，当它控制一个设备时有一个设备地址；当它控制多个设备则应有多个设备地址。</a:t>
            </a:r>
          </a:p>
        </p:txBody>
      </p:sp>
      <p:sp>
        <p:nvSpPr>
          <p:cNvPr id="4" name="灯片编号占位符 3">
            <a:extLst>
              <a:ext uri="{FF2B5EF4-FFF2-40B4-BE49-F238E27FC236}">
                <a16:creationId xmlns:a16="http://schemas.microsoft.com/office/drawing/2014/main" id="{EFF9D45B-9F1A-E3B6-7C48-1A2595CDFE26}"/>
              </a:ext>
            </a:extLst>
          </p:cNvPr>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Effect transition="in" filter="checkerboard(across)">
                                      <p:cBhvr>
                                        <p:cTn id="7" dur="500"/>
                                        <p:tgtEl>
                                          <p:spTgt spid="102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2403">
                                            <p:txEl>
                                              <p:pRg st="1" end="1"/>
                                            </p:txEl>
                                          </p:spTgt>
                                        </p:tgtEl>
                                        <p:attrNameLst>
                                          <p:attrName>style.visibility</p:attrName>
                                        </p:attrNameLst>
                                      </p:cBhvr>
                                      <p:to>
                                        <p:strVal val="visible"/>
                                      </p:to>
                                    </p:set>
                                    <p:animEffect transition="in" filter="checkerboard(across)">
                                      <p:cBhvr>
                                        <p:cTn id="12" dur="500"/>
                                        <p:tgtEl>
                                          <p:spTgt spid="102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403">
                                            <p:txEl>
                                              <p:pRg st="2" end="2"/>
                                            </p:txEl>
                                          </p:spTgt>
                                        </p:tgtEl>
                                        <p:attrNameLst>
                                          <p:attrName>style.visibility</p:attrName>
                                        </p:attrNameLst>
                                      </p:cBhvr>
                                      <p:to>
                                        <p:strVal val="visible"/>
                                      </p:to>
                                    </p:set>
                                    <p:animEffect transition="in" filter="checkerboard(across)">
                                      <p:cBhvr>
                                        <p:cTn id="17" dur="500"/>
                                        <p:tgtEl>
                                          <p:spTgt spid="102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A9162A1-C378-E27F-AEA8-76D4346C5F36}"/>
              </a:ext>
            </a:extLst>
          </p:cNvPr>
          <p:cNvSpPr>
            <a:spLocks noGrp="1" noChangeArrowheads="1"/>
          </p:cNvSpPr>
          <p:nvPr>
            <p:ph type="title"/>
          </p:nvPr>
        </p:nvSpPr>
        <p:spPr>
          <a:xfrm>
            <a:off x="1042988" y="225431"/>
            <a:ext cx="7850187" cy="746125"/>
          </a:xfrm>
        </p:spPr>
        <p:txBody>
          <a:bodyPr/>
          <a:lstStyle/>
          <a:p>
            <a:r>
              <a:rPr lang="zh-CN" altLang="en-US"/>
              <a:t>设备控制器的功能</a:t>
            </a:r>
          </a:p>
        </p:txBody>
      </p:sp>
      <p:sp>
        <p:nvSpPr>
          <p:cNvPr id="103427" name="Rectangle 3">
            <a:extLst>
              <a:ext uri="{FF2B5EF4-FFF2-40B4-BE49-F238E27FC236}">
                <a16:creationId xmlns:a16="http://schemas.microsoft.com/office/drawing/2014/main" id="{EC9D6D52-6F7F-2A85-25B9-DCA00C72639B}"/>
              </a:ext>
            </a:extLst>
          </p:cNvPr>
          <p:cNvSpPr>
            <a:spLocks noGrp="1" noChangeArrowheads="1"/>
          </p:cNvSpPr>
          <p:nvPr>
            <p:ph idx="1"/>
          </p:nvPr>
        </p:nvSpPr>
        <p:spPr>
          <a:xfrm>
            <a:off x="935038" y="1233488"/>
            <a:ext cx="7772400" cy="4895850"/>
          </a:xfrm>
        </p:spPr>
        <p:txBody>
          <a:bodyPr/>
          <a:lstStyle/>
          <a:p>
            <a:r>
              <a:rPr lang="zh-CN" altLang="en-US"/>
              <a:t>接收和识别来自</a:t>
            </a:r>
            <a:r>
              <a:rPr lang="en-US" altLang="zh-CN"/>
              <a:t>CPU</a:t>
            </a:r>
            <a:r>
              <a:rPr lang="zh-CN" altLang="en-US"/>
              <a:t>的命令：用控制寄存器。</a:t>
            </a:r>
          </a:p>
          <a:p>
            <a:r>
              <a:rPr lang="zh-CN" altLang="en-US"/>
              <a:t>实现</a:t>
            </a:r>
            <a:r>
              <a:rPr lang="en-US" altLang="zh-CN"/>
              <a:t>CPU</a:t>
            </a:r>
            <a:r>
              <a:rPr lang="zh-CN" altLang="en-US"/>
              <a:t>与控制器、控制器与设备之间的数据交换：用数据寄存器。</a:t>
            </a:r>
          </a:p>
          <a:p>
            <a:r>
              <a:rPr lang="zh-CN" altLang="en-US"/>
              <a:t>记录设备的状态供</a:t>
            </a:r>
            <a:r>
              <a:rPr lang="en-US" altLang="zh-CN"/>
              <a:t>CPU</a:t>
            </a:r>
            <a:r>
              <a:rPr lang="zh-CN" altLang="en-US"/>
              <a:t>查询</a:t>
            </a:r>
            <a:r>
              <a:rPr lang="en-US" altLang="zh-CN"/>
              <a:t>：</a:t>
            </a:r>
            <a:r>
              <a:rPr lang="zh-CN" altLang="en-US"/>
              <a:t>用状态寄存器。</a:t>
            </a:r>
          </a:p>
          <a:p>
            <a:r>
              <a:rPr lang="zh-CN" altLang="en-US"/>
              <a:t>识别控制的每个设备地址：用地址译码器。</a:t>
            </a:r>
          </a:p>
        </p:txBody>
      </p:sp>
      <p:sp>
        <p:nvSpPr>
          <p:cNvPr id="4" name="灯片编号占位符 3">
            <a:extLst>
              <a:ext uri="{FF2B5EF4-FFF2-40B4-BE49-F238E27FC236}">
                <a16:creationId xmlns:a16="http://schemas.microsoft.com/office/drawing/2014/main" id="{85181113-E3EE-76EC-A767-B6F2A769FC11}"/>
              </a:ext>
            </a:extLst>
          </p:cNvPr>
          <p:cNvSpPr>
            <a:spLocks noGrp="1"/>
          </p:cNvSpPr>
          <p:nvPr>
            <p:ph type="sldNum" sz="quarter" idx="12"/>
          </p:nvPr>
        </p:nvSpPr>
        <p:spPr/>
        <p:txBody>
          <a:bodyPr/>
          <a:lstStyle/>
          <a:p>
            <a:fld id="{4093CC90-4002-504C-BD88-C9A1D374048E}" type="slidenum">
              <a:rPr lang="zh-CN" altLang="en-US" smtClean="0"/>
              <a:pPr/>
              <a:t>13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checkerboard(across)">
                                      <p:cBhvr>
                                        <p:cTn id="7" dur="500"/>
                                        <p:tgtEl>
                                          <p:spTgt spid="103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checkerboard(across)">
                                      <p:cBhvr>
                                        <p:cTn id="12" dur="500"/>
                                        <p:tgtEl>
                                          <p:spTgt spid="103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Effect transition="in" filter="checkerboard(across)">
                                      <p:cBhvr>
                                        <p:cTn id="17" dur="500"/>
                                        <p:tgtEl>
                                          <p:spTgt spid="1034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3427">
                                            <p:txEl>
                                              <p:pRg st="3" end="3"/>
                                            </p:txEl>
                                          </p:spTgt>
                                        </p:tgtEl>
                                        <p:attrNameLst>
                                          <p:attrName>style.visibility</p:attrName>
                                        </p:attrNameLst>
                                      </p:cBhvr>
                                      <p:to>
                                        <p:strVal val="visible"/>
                                      </p:to>
                                    </p:set>
                                    <p:animEffect transition="in" filter="checkerboard(across)">
                                      <p:cBhvr>
                                        <p:cTn id="22" dur="500"/>
                                        <p:tgtEl>
                                          <p:spTgt spid="103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03447A45-C8E6-565E-F975-BE6F6ACFB2E1}"/>
              </a:ext>
            </a:extLst>
          </p:cNvPr>
          <p:cNvSpPr>
            <a:spLocks noGrp="1" noChangeArrowheads="1"/>
          </p:cNvSpPr>
          <p:nvPr>
            <p:ph type="title"/>
          </p:nvPr>
        </p:nvSpPr>
        <p:spPr>
          <a:xfrm>
            <a:off x="1042988" y="225431"/>
            <a:ext cx="7850187" cy="746125"/>
          </a:xfrm>
        </p:spPr>
        <p:txBody>
          <a:bodyPr/>
          <a:lstStyle/>
          <a:p>
            <a:r>
              <a:rPr lang="zh-CN" altLang="en-US"/>
              <a:t>设备控制器的组成</a:t>
            </a:r>
          </a:p>
        </p:txBody>
      </p:sp>
      <p:sp>
        <p:nvSpPr>
          <p:cNvPr id="104451" name="Rectangle 3">
            <a:extLst>
              <a:ext uri="{FF2B5EF4-FFF2-40B4-BE49-F238E27FC236}">
                <a16:creationId xmlns:a16="http://schemas.microsoft.com/office/drawing/2014/main" id="{76715606-176D-20F4-F5C6-D55A88EEAD11}"/>
              </a:ext>
            </a:extLst>
          </p:cNvPr>
          <p:cNvSpPr>
            <a:spLocks noGrp="1" noChangeArrowheads="1"/>
          </p:cNvSpPr>
          <p:nvPr>
            <p:ph idx="1"/>
          </p:nvPr>
        </p:nvSpPr>
        <p:spPr>
          <a:xfrm>
            <a:off x="935038" y="1233488"/>
            <a:ext cx="7772400" cy="4895850"/>
          </a:xfrm>
        </p:spPr>
        <p:txBody>
          <a:bodyPr/>
          <a:lstStyle/>
          <a:p>
            <a:r>
              <a:rPr lang="zh-CN" altLang="en-US"/>
              <a:t>设备控制器由三部分组成：</a:t>
            </a:r>
          </a:p>
          <a:p>
            <a:pPr lvl="1"/>
            <a:r>
              <a:rPr lang="zh-CN" altLang="en-US"/>
              <a:t>设备控制器与处理机的接口：实现</a:t>
            </a:r>
            <a:r>
              <a:rPr lang="en-US" altLang="zh-CN"/>
              <a:t>CPU</a:t>
            </a:r>
            <a:r>
              <a:rPr lang="zh-CN" altLang="en-US"/>
              <a:t>与设备控制器之间的通信。</a:t>
            </a:r>
          </a:p>
          <a:p>
            <a:pPr lvl="1"/>
            <a:r>
              <a:rPr lang="zh-CN" altLang="en-US"/>
              <a:t>设备控制器与设备的接口：实现设备与设备控制器之间的通信。</a:t>
            </a:r>
          </a:p>
          <a:p>
            <a:pPr lvl="1"/>
            <a:r>
              <a:rPr lang="en-US" altLang="zh-CN"/>
              <a:t>I/O</a:t>
            </a:r>
            <a:r>
              <a:rPr lang="zh-CN" altLang="en-US"/>
              <a:t>逻辑：实现对设备的控制，它负责接收命令、对命令进行译码、再根据译出的命令控制设备。</a:t>
            </a:r>
          </a:p>
        </p:txBody>
      </p:sp>
      <p:sp>
        <p:nvSpPr>
          <p:cNvPr id="4" name="灯片编号占位符 3">
            <a:extLst>
              <a:ext uri="{FF2B5EF4-FFF2-40B4-BE49-F238E27FC236}">
                <a16:creationId xmlns:a16="http://schemas.microsoft.com/office/drawing/2014/main" id="{E9BC1675-B6D4-A180-FC33-74486C8AB4D0}"/>
              </a:ext>
            </a:extLst>
          </p:cNvPr>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230F3CC8-4746-2546-F0AA-AFFE6809EF89}"/>
              </a:ext>
            </a:extLst>
          </p:cNvPr>
          <p:cNvSpPr>
            <a:spLocks noGrp="1" noChangeArrowheads="1"/>
          </p:cNvSpPr>
          <p:nvPr>
            <p:ph type="title"/>
          </p:nvPr>
        </p:nvSpPr>
        <p:spPr/>
        <p:txBody>
          <a:bodyPr/>
          <a:lstStyle/>
          <a:p>
            <a:pPr eaLnBrk="1" hangingPunct="1"/>
            <a:r>
              <a:rPr lang="zh-CN" altLang="en-US"/>
              <a:t>设备控制器组成图</a:t>
            </a:r>
          </a:p>
        </p:txBody>
      </p:sp>
      <p:sp>
        <p:nvSpPr>
          <p:cNvPr id="30722" name="Rectangle 5">
            <a:extLst>
              <a:ext uri="{FF2B5EF4-FFF2-40B4-BE49-F238E27FC236}">
                <a16:creationId xmlns:a16="http://schemas.microsoft.com/office/drawing/2014/main" id="{57D3A78B-0154-3306-DD35-F2CFF1B24CBC}"/>
              </a:ext>
            </a:extLst>
          </p:cNvPr>
          <p:cNvSpPr>
            <a:spLocks noChangeArrowheads="1"/>
          </p:cNvSpPr>
          <p:nvPr/>
        </p:nvSpPr>
        <p:spPr bwMode="auto">
          <a:xfrm>
            <a:off x="1208088" y="1412875"/>
            <a:ext cx="237331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b="1">
                <a:latin typeface="Times New Roman" panose="02020603050405020304" pitchFamily="18" charset="0"/>
              </a:rPr>
              <a:t>CPU</a:t>
            </a:r>
            <a:r>
              <a:rPr lang="zh-CN" altLang="en-US" sz="2000" b="1">
                <a:latin typeface="Times New Roman" panose="02020603050405020304" pitchFamily="18" charset="0"/>
              </a:rPr>
              <a:t>与控制器的接口</a:t>
            </a:r>
          </a:p>
        </p:txBody>
      </p:sp>
      <p:sp>
        <p:nvSpPr>
          <p:cNvPr id="30723" name="Rectangle 6">
            <a:extLst>
              <a:ext uri="{FF2B5EF4-FFF2-40B4-BE49-F238E27FC236}">
                <a16:creationId xmlns:a16="http://schemas.microsoft.com/office/drawing/2014/main" id="{037D8361-8518-F46C-1538-3F77A7795272}"/>
              </a:ext>
            </a:extLst>
          </p:cNvPr>
          <p:cNvSpPr>
            <a:spLocks noChangeArrowheads="1"/>
          </p:cNvSpPr>
          <p:nvPr/>
        </p:nvSpPr>
        <p:spPr bwMode="auto">
          <a:xfrm>
            <a:off x="1720850" y="1855788"/>
            <a:ext cx="5353050" cy="3595687"/>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0724" name="Rectangle 7">
            <a:extLst>
              <a:ext uri="{FF2B5EF4-FFF2-40B4-BE49-F238E27FC236}">
                <a16:creationId xmlns:a16="http://schemas.microsoft.com/office/drawing/2014/main" id="{6D533821-C1B6-8F3C-2DA5-9CBB3796C2FA}"/>
              </a:ext>
            </a:extLst>
          </p:cNvPr>
          <p:cNvSpPr>
            <a:spLocks noChangeArrowheads="1"/>
          </p:cNvSpPr>
          <p:nvPr/>
        </p:nvSpPr>
        <p:spPr bwMode="auto">
          <a:xfrm>
            <a:off x="5414963" y="1412875"/>
            <a:ext cx="23574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控制器与设备的接口</a:t>
            </a:r>
          </a:p>
        </p:txBody>
      </p:sp>
      <p:sp>
        <p:nvSpPr>
          <p:cNvPr id="30725" name="Rectangle 8">
            <a:extLst>
              <a:ext uri="{FF2B5EF4-FFF2-40B4-BE49-F238E27FC236}">
                <a16:creationId xmlns:a16="http://schemas.microsoft.com/office/drawing/2014/main" id="{EC54C84C-0B78-9538-AEF6-35A10155699E}"/>
              </a:ext>
            </a:extLst>
          </p:cNvPr>
          <p:cNvSpPr>
            <a:spLocks noChangeArrowheads="1"/>
          </p:cNvSpPr>
          <p:nvPr/>
        </p:nvSpPr>
        <p:spPr bwMode="auto">
          <a:xfrm>
            <a:off x="2052638" y="2076450"/>
            <a:ext cx="1757362" cy="316865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0726" name="Rectangle 9">
            <a:extLst>
              <a:ext uri="{FF2B5EF4-FFF2-40B4-BE49-F238E27FC236}">
                <a16:creationId xmlns:a16="http://schemas.microsoft.com/office/drawing/2014/main" id="{C42E1BE4-27B3-7182-6047-28FD7D8E0936}"/>
              </a:ext>
            </a:extLst>
          </p:cNvPr>
          <p:cNvSpPr>
            <a:spLocks noChangeArrowheads="1"/>
          </p:cNvSpPr>
          <p:nvPr/>
        </p:nvSpPr>
        <p:spPr bwMode="auto">
          <a:xfrm>
            <a:off x="2217738" y="2252663"/>
            <a:ext cx="1431925" cy="374650"/>
          </a:xfrm>
          <a:prstGeom prst="rect">
            <a:avLst/>
          </a:prstGeom>
          <a:solidFill>
            <a:srgbClr val="FFFFFF"/>
          </a:solidFill>
          <a:ln w="28575">
            <a:solidFill>
              <a:srgbClr val="000000"/>
            </a:solidFill>
            <a:miter lim="800000"/>
            <a:headEnd/>
            <a:tailEnd/>
          </a:ln>
        </p:spPr>
        <p:txBody>
          <a:bodyPr lIns="72000" tIns="46800" rIns="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数据寄存器</a:t>
            </a:r>
          </a:p>
        </p:txBody>
      </p:sp>
      <p:sp>
        <p:nvSpPr>
          <p:cNvPr id="30727" name="Rectangle 10">
            <a:extLst>
              <a:ext uri="{FF2B5EF4-FFF2-40B4-BE49-F238E27FC236}">
                <a16:creationId xmlns:a16="http://schemas.microsoft.com/office/drawing/2014/main" id="{8D95DC74-E2E6-02A3-68FE-52752A287868}"/>
              </a:ext>
            </a:extLst>
          </p:cNvPr>
          <p:cNvSpPr>
            <a:spLocks noChangeArrowheads="1"/>
          </p:cNvSpPr>
          <p:nvPr/>
        </p:nvSpPr>
        <p:spPr bwMode="auto">
          <a:xfrm>
            <a:off x="2217738" y="2871788"/>
            <a:ext cx="1211262" cy="674687"/>
          </a:xfrm>
          <a:prstGeom prst="rect">
            <a:avLst/>
          </a:prstGeom>
          <a:solidFill>
            <a:srgbClr val="FFFFFF"/>
          </a:solidFill>
          <a:ln w="28575">
            <a:solidFill>
              <a:srgbClr val="000000"/>
            </a:solidFill>
            <a:miter lim="800000"/>
            <a:headEnd/>
            <a:tailEnd/>
          </a:ln>
        </p:spPr>
        <p:txBody>
          <a:bodyPr lIns="72000" tIns="10800" rIns="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控制/状态寄存器</a:t>
            </a:r>
          </a:p>
        </p:txBody>
      </p:sp>
      <p:sp>
        <p:nvSpPr>
          <p:cNvPr id="30728" name="Rectangle 11">
            <a:extLst>
              <a:ext uri="{FF2B5EF4-FFF2-40B4-BE49-F238E27FC236}">
                <a16:creationId xmlns:a16="http://schemas.microsoft.com/office/drawing/2014/main" id="{8BD8670C-FAA3-B9EB-1A4A-663352F8A86F}"/>
              </a:ext>
            </a:extLst>
          </p:cNvPr>
          <p:cNvSpPr>
            <a:spLocks noChangeArrowheads="1"/>
          </p:cNvSpPr>
          <p:nvPr/>
        </p:nvSpPr>
        <p:spPr bwMode="auto">
          <a:xfrm>
            <a:off x="4224338" y="4019550"/>
            <a:ext cx="885825" cy="1074738"/>
          </a:xfrm>
          <a:prstGeom prst="rect">
            <a:avLst/>
          </a:prstGeom>
          <a:solidFill>
            <a:srgbClr val="FFFFFF"/>
          </a:solidFill>
          <a:ln w="28575">
            <a:solidFill>
              <a:srgbClr val="000000"/>
            </a:solidFill>
            <a:miter lim="800000"/>
            <a:headEnd/>
            <a:tailEnd/>
          </a:ln>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endParaRPr lang="zh-CN" altLang="en-US" sz="2000">
              <a:latin typeface="Times New Roman" panose="02020603050405020304" pitchFamily="18" charset="0"/>
            </a:endParaRPr>
          </a:p>
          <a:p>
            <a:pPr algn="ctr"/>
            <a:r>
              <a:rPr lang="en-US" altLang="zh-CN" sz="2000" b="1">
                <a:latin typeface="Times New Roman" panose="02020603050405020304" pitchFamily="18" charset="0"/>
              </a:rPr>
              <a:t>I/O</a:t>
            </a:r>
            <a:r>
              <a:rPr lang="zh-CN" altLang="en-US" sz="2000" b="1">
                <a:latin typeface="Times New Roman" panose="02020603050405020304" pitchFamily="18" charset="0"/>
              </a:rPr>
              <a:t>逻辑</a:t>
            </a:r>
          </a:p>
        </p:txBody>
      </p:sp>
      <p:sp>
        <p:nvSpPr>
          <p:cNvPr id="30729" name="Rectangle 12">
            <a:extLst>
              <a:ext uri="{FF2B5EF4-FFF2-40B4-BE49-F238E27FC236}">
                <a16:creationId xmlns:a16="http://schemas.microsoft.com/office/drawing/2014/main" id="{A960500C-EC3C-9CF2-9559-A5BB853BF25A}"/>
              </a:ext>
            </a:extLst>
          </p:cNvPr>
          <p:cNvSpPr>
            <a:spLocks noChangeArrowheads="1"/>
          </p:cNvSpPr>
          <p:nvPr/>
        </p:nvSpPr>
        <p:spPr bwMode="auto">
          <a:xfrm>
            <a:off x="5840413" y="2174875"/>
            <a:ext cx="927100" cy="1143000"/>
          </a:xfrm>
          <a:prstGeom prst="rect">
            <a:avLst/>
          </a:prstGeom>
          <a:solidFill>
            <a:srgbClr val="FFFFFF"/>
          </a:solidFill>
          <a:ln w="28575">
            <a:solidFill>
              <a:srgbClr val="000000"/>
            </a:solidFill>
            <a:miter lim="800000"/>
            <a:headEnd/>
            <a:tailEnd/>
          </a:ln>
        </p:spPr>
        <p:txBody>
          <a:bodyPr lIns="54000" rIns="54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控制器与设备的接口</a:t>
            </a:r>
          </a:p>
        </p:txBody>
      </p:sp>
      <p:sp>
        <p:nvSpPr>
          <p:cNvPr id="30730" name="Rectangle 13">
            <a:extLst>
              <a:ext uri="{FF2B5EF4-FFF2-40B4-BE49-F238E27FC236}">
                <a16:creationId xmlns:a16="http://schemas.microsoft.com/office/drawing/2014/main" id="{24A4DBD8-6C35-B200-A933-9377B0B60186}"/>
              </a:ext>
            </a:extLst>
          </p:cNvPr>
          <p:cNvSpPr>
            <a:spLocks noChangeArrowheads="1"/>
          </p:cNvSpPr>
          <p:nvPr/>
        </p:nvSpPr>
        <p:spPr bwMode="auto">
          <a:xfrm>
            <a:off x="5842000" y="4140200"/>
            <a:ext cx="925513" cy="1104900"/>
          </a:xfrm>
          <a:prstGeom prst="rect">
            <a:avLst/>
          </a:prstGeom>
          <a:solidFill>
            <a:srgbClr val="FFFFFF"/>
          </a:solidFill>
          <a:ln w="28575">
            <a:solidFill>
              <a:srgbClr val="000000"/>
            </a:solidFill>
            <a:miter lim="800000"/>
            <a:headEnd/>
            <a:tailEnd/>
          </a:ln>
        </p:spPr>
        <p:txBody>
          <a:bodyPr lIns="54000" rIns="54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控制器与设备的接口</a:t>
            </a:r>
            <a:endParaRPr lang="zh-CN" altLang="en-US" sz="2000">
              <a:latin typeface="Times New Roman" panose="02020603050405020304" pitchFamily="18" charset="0"/>
            </a:endParaRPr>
          </a:p>
          <a:p>
            <a:pPr algn="just"/>
            <a:endParaRPr lang="zh-CN" altLang="en-US" sz="2000">
              <a:latin typeface="Times New Roman" panose="02020603050405020304" pitchFamily="18" charset="0"/>
            </a:endParaRPr>
          </a:p>
        </p:txBody>
      </p:sp>
      <p:sp>
        <p:nvSpPr>
          <p:cNvPr id="30731" name="Rectangle 14">
            <a:extLst>
              <a:ext uri="{FF2B5EF4-FFF2-40B4-BE49-F238E27FC236}">
                <a16:creationId xmlns:a16="http://schemas.microsoft.com/office/drawing/2014/main" id="{375CDBCD-157E-6485-917A-6C6D79BF3065}"/>
              </a:ext>
            </a:extLst>
          </p:cNvPr>
          <p:cNvSpPr>
            <a:spLocks noChangeArrowheads="1"/>
          </p:cNvSpPr>
          <p:nvPr/>
        </p:nvSpPr>
        <p:spPr bwMode="auto">
          <a:xfrm>
            <a:off x="6061075" y="3546475"/>
            <a:ext cx="4159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宋体" panose="02010600030101010101" pitchFamily="2" charset="-122"/>
              </a:rPr>
              <a:t>┆</a:t>
            </a:r>
            <a:endParaRPr lang="zh-CN" altLang="en-US" sz="2000">
              <a:latin typeface="Times New Roman" panose="02020603050405020304" pitchFamily="18" charset="0"/>
            </a:endParaRPr>
          </a:p>
        </p:txBody>
      </p:sp>
      <p:sp>
        <p:nvSpPr>
          <p:cNvPr id="30732" name="Rectangle 15">
            <a:extLst>
              <a:ext uri="{FF2B5EF4-FFF2-40B4-BE49-F238E27FC236}">
                <a16:creationId xmlns:a16="http://schemas.microsoft.com/office/drawing/2014/main" id="{B44082BB-3198-23CB-7AB2-E133BE80CC48}"/>
              </a:ext>
            </a:extLst>
          </p:cNvPr>
          <p:cNvSpPr>
            <a:spLocks noChangeArrowheads="1"/>
          </p:cNvSpPr>
          <p:nvPr/>
        </p:nvSpPr>
        <p:spPr bwMode="auto">
          <a:xfrm>
            <a:off x="7586663" y="2166938"/>
            <a:ext cx="566737"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数据</a:t>
            </a:r>
          </a:p>
          <a:p>
            <a:pPr algn="just"/>
            <a:r>
              <a:rPr lang="zh-CN" altLang="en-US" sz="2000" b="1">
                <a:latin typeface="Times New Roman" panose="02020603050405020304" pitchFamily="18" charset="0"/>
              </a:rPr>
              <a:t>状态</a:t>
            </a:r>
          </a:p>
          <a:p>
            <a:pPr algn="just"/>
            <a:r>
              <a:rPr lang="zh-CN" altLang="en-US" sz="2000" b="1">
                <a:latin typeface="Times New Roman" panose="02020603050405020304" pitchFamily="18" charset="0"/>
              </a:rPr>
              <a:t>控制</a:t>
            </a:r>
          </a:p>
        </p:txBody>
      </p:sp>
      <p:sp>
        <p:nvSpPr>
          <p:cNvPr id="30733" name="Rectangle 16">
            <a:extLst>
              <a:ext uri="{FF2B5EF4-FFF2-40B4-BE49-F238E27FC236}">
                <a16:creationId xmlns:a16="http://schemas.microsoft.com/office/drawing/2014/main" id="{C99142D0-D6CA-D681-37B9-1D4DD9EB7A38}"/>
              </a:ext>
            </a:extLst>
          </p:cNvPr>
          <p:cNvSpPr>
            <a:spLocks noChangeArrowheads="1"/>
          </p:cNvSpPr>
          <p:nvPr/>
        </p:nvSpPr>
        <p:spPr bwMode="auto">
          <a:xfrm>
            <a:off x="7531100" y="4198938"/>
            <a:ext cx="59531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数据</a:t>
            </a:r>
          </a:p>
          <a:p>
            <a:pPr algn="just"/>
            <a:r>
              <a:rPr lang="zh-CN" altLang="en-US" sz="2000" b="1">
                <a:latin typeface="Times New Roman" panose="02020603050405020304" pitchFamily="18" charset="0"/>
              </a:rPr>
              <a:t>状态</a:t>
            </a:r>
          </a:p>
          <a:p>
            <a:pPr algn="just"/>
            <a:r>
              <a:rPr lang="zh-CN" altLang="en-US" sz="2000" b="1">
                <a:latin typeface="Times New Roman" panose="02020603050405020304" pitchFamily="18" charset="0"/>
              </a:rPr>
              <a:t>控制</a:t>
            </a:r>
          </a:p>
        </p:txBody>
      </p:sp>
      <p:sp>
        <p:nvSpPr>
          <p:cNvPr id="30734" name="Line 17">
            <a:extLst>
              <a:ext uri="{FF2B5EF4-FFF2-40B4-BE49-F238E27FC236}">
                <a16:creationId xmlns:a16="http://schemas.microsoft.com/office/drawing/2014/main" id="{4CCB09FD-2D52-C2D7-28B9-B6ECE95C2376}"/>
              </a:ext>
            </a:extLst>
          </p:cNvPr>
          <p:cNvSpPr>
            <a:spLocks noChangeShapeType="1"/>
          </p:cNvSpPr>
          <p:nvPr/>
        </p:nvSpPr>
        <p:spPr bwMode="auto">
          <a:xfrm flipH="1" flipV="1">
            <a:off x="6756400" y="2373313"/>
            <a:ext cx="731838"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35" name="Line 18">
            <a:extLst>
              <a:ext uri="{FF2B5EF4-FFF2-40B4-BE49-F238E27FC236}">
                <a16:creationId xmlns:a16="http://schemas.microsoft.com/office/drawing/2014/main" id="{4030F6E0-C2FD-4DB4-3790-B041E7458C89}"/>
              </a:ext>
            </a:extLst>
          </p:cNvPr>
          <p:cNvSpPr>
            <a:spLocks noChangeShapeType="1"/>
          </p:cNvSpPr>
          <p:nvPr/>
        </p:nvSpPr>
        <p:spPr bwMode="auto">
          <a:xfrm flipH="1" flipV="1">
            <a:off x="6783388" y="2695575"/>
            <a:ext cx="733425"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36" name="Line 19">
            <a:extLst>
              <a:ext uri="{FF2B5EF4-FFF2-40B4-BE49-F238E27FC236}">
                <a16:creationId xmlns:a16="http://schemas.microsoft.com/office/drawing/2014/main" id="{A60AB4C6-9BF6-C1B2-C7A4-A275C8AB1F03}"/>
              </a:ext>
            </a:extLst>
          </p:cNvPr>
          <p:cNvSpPr>
            <a:spLocks noChangeShapeType="1"/>
          </p:cNvSpPr>
          <p:nvPr/>
        </p:nvSpPr>
        <p:spPr bwMode="auto">
          <a:xfrm>
            <a:off x="6797675" y="3005138"/>
            <a:ext cx="731838"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37" name="Line 20">
            <a:extLst>
              <a:ext uri="{FF2B5EF4-FFF2-40B4-BE49-F238E27FC236}">
                <a16:creationId xmlns:a16="http://schemas.microsoft.com/office/drawing/2014/main" id="{31B780D6-9540-5FDA-EFF3-A6A6D681A208}"/>
              </a:ext>
            </a:extLst>
          </p:cNvPr>
          <p:cNvSpPr>
            <a:spLocks noChangeShapeType="1"/>
          </p:cNvSpPr>
          <p:nvPr/>
        </p:nvSpPr>
        <p:spPr bwMode="auto">
          <a:xfrm flipH="1" flipV="1">
            <a:off x="6756400" y="4378325"/>
            <a:ext cx="731838"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38" name="Line 21">
            <a:extLst>
              <a:ext uri="{FF2B5EF4-FFF2-40B4-BE49-F238E27FC236}">
                <a16:creationId xmlns:a16="http://schemas.microsoft.com/office/drawing/2014/main" id="{ACAEB829-A9C0-9A0C-F492-AD89BACA45DD}"/>
              </a:ext>
            </a:extLst>
          </p:cNvPr>
          <p:cNvSpPr>
            <a:spLocks noChangeShapeType="1"/>
          </p:cNvSpPr>
          <p:nvPr/>
        </p:nvSpPr>
        <p:spPr bwMode="auto">
          <a:xfrm flipH="1" flipV="1">
            <a:off x="6783388" y="4699000"/>
            <a:ext cx="733425"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39" name="Line 22">
            <a:extLst>
              <a:ext uri="{FF2B5EF4-FFF2-40B4-BE49-F238E27FC236}">
                <a16:creationId xmlns:a16="http://schemas.microsoft.com/office/drawing/2014/main" id="{5DB1463D-C4A0-3131-B3C5-CFA8B37F3BEF}"/>
              </a:ext>
            </a:extLst>
          </p:cNvPr>
          <p:cNvSpPr>
            <a:spLocks noChangeShapeType="1"/>
          </p:cNvSpPr>
          <p:nvPr/>
        </p:nvSpPr>
        <p:spPr bwMode="auto">
          <a:xfrm>
            <a:off x="6797675" y="5008563"/>
            <a:ext cx="731838"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40" name="Rectangle 23">
            <a:extLst>
              <a:ext uri="{FF2B5EF4-FFF2-40B4-BE49-F238E27FC236}">
                <a16:creationId xmlns:a16="http://schemas.microsoft.com/office/drawing/2014/main" id="{6813B718-D40D-B8CB-F20E-564CCB7129A2}"/>
              </a:ext>
            </a:extLst>
          </p:cNvPr>
          <p:cNvSpPr>
            <a:spLocks noChangeArrowheads="1"/>
          </p:cNvSpPr>
          <p:nvPr/>
        </p:nvSpPr>
        <p:spPr bwMode="auto">
          <a:xfrm>
            <a:off x="831850" y="2090738"/>
            <a:ext cx="92075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数据线</a:t>
            </a:r>
          </a:p>
        </p:txBody>
      </p:sp>
      <p:sp>
        <p:nvSpPr>
          <p:cNvPr id="30741" name="Line 24">
            <a:extLst>
              <a:ext uri="{FF2B5EF4-FFF2-40B4-BE49-F238E27FC236}">
                <a16:creationId xmlns:a16="http://schemas.microsoft.com/office/drawing/2014/main" id="{44C9582C-6F7E-476A-48F4-866D0E7B9A48}"/>
              </a:ext>
            </a:extLst>
          </p:cNvPr>
          <p:cNvSpPr>
            <a:spLocks noChangeShapeType="1"/>
          </p:cNvSpPr>
          <p:nvPr/>
        </p:nvSpPr>
        <p:spPr bwMode="auto">
          <a:xfrm flipV="1">
            <a:off x="958850" y="2459038"/>
            <a:ext cx="125095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42" name="Line 25">
            <a:extLst>
              <a:ext uri="{FF2B5EF4-FFF2-40B4-BE49-F238E27FC236}">
                <a16:creationId xmlns:a16="http://schemas.microsoft.com/office/drawing/2014/main" id="{67E45B77-7B16-0D6F-AD96-B3F8B4F36B25}"/>
              </a:ext>
            </a:extLst>
          </p:cNvPr>
          <p:cNvSpPr>
            <a:spLocks noChangeShapeType="1"/>
          </p:cNvSpPr>
          <p:nvPr/>
        </p:nvSpPr>
        <p:spPr bwMode="auto">
          <a:xfrm>
            <a:off x="973138" y="4198938"/>
            <a:ext cx="325755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43" name="Rectangle 26">
            <a:extLst>
              <a:ext uri="{FF2B5EF4-FFF2-40B4-BE49-F238E27FC236}">
                <a16:creationId xmlns:a16="http://schemas.microsoft.com/office/drawing/2014/main" id="{2BBC6D9C-D151-F76B-E69C-7295D165B8BA}"/>
              </a:ext>
            </a:extLst>
          </p:cNvPr>
          <p:cNvSpPr>
            <a:spLocks noChangeArrowheads="1"/>
          </p:cNvSpPr>
          <p:nvPr/>
        </p:nvSpPr>
        <p:spPr bwMode="auto">
          <a:xfrm>
            <a:off x="762000" y="3775075"/>
            <a:ext cx="7889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地址线</a:t>
            </a:r>
          </a:p>
        </p:txBody>
      </p:sp>
      <p:sp>
        <p:nvSpPr>
          <p:cNvPr id="30744" name="Line 27">
            <a:extLst>
              <a:ext uri="{FF2B5EF4-FFF2-40B4-BE49-F238E27FC236}">
                <a16:creationId xmlns:a16="http://schemas.microsoft.com/office/drawing/2014/main" id="{DF0D19E8-58A8-36BB-24A9-4FBC855586FB}"/>
              </a:ext>
            </a:extLst>
          </p:cNvPr>
          <p:cNvSpPr>
            <a:spLocks noChangeShapeType="1"/>
          </p:cNvSpPr>
          <p:nvPr/>
        </p:nvSpPr>
        <p:spPr bwMode="auto">
          <a:xfrm>
            <a:off x="973138" y="5008563"/>
            <a:ext cx="325755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45" name="Rectangle 28">
            <a:extLst>
              <a:ext uri="{FF2B5EF4-FFF2-40B4-BE49-F238E27FC236}">
                <a16:creationId xmlns:a16="http://schemas.microsoft.com/office/drawing/2014/main" id="{9DD456F5-34E7-66DD-8BBB-0ED4414696B0}"/>
              </a:ext>
            </a:extLst>
          </p:cNvPr>
          <p:cNvSpPr>
            <a:spLocks noChangeArrowheads="1"/>
          </p:cNvSpPr>
          <p:nvPr/>
        </p:nvSpPr>
        <p:spPr bwMode="auto">
          <a:xfrm>
            <a:off x="755650" y="4613275"/>
            <a:ext cx="9207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控制线</a:t>
            </a:r>
          </a:p>
        </p:txBody>
      </p:sp>
      <p:sp>
        <p:nvSpPr>
          <p:cNvPr id="30746" name="Freeform 29">
            <a:extLst>
              <a:ext uri="{FF2B5EF4-FFF2-40B4-BE49-F238E27FC236}">
                <a16:creationId xmlns:a16="http://schemas.microsoft.com/office/drawing/2014/main" id="{A2207025-402A-714C-236E-6E512FB4F977}"/>
              </a:ext>
            </a:extLst>
          </p:cNvPr>
          <p:cNvSpPr>
            <a:spLocks noChangeArrowheads="1"/>
          </p:cNvSpPr>
          <p:nvPr/>
        </p:nvSpPr>
        <p:spPr bwMode="auto">
          <a:xfrm>
            <a:off x="4487863" y="3181350"/>
            <a:ext cx="0" cy="841375"/>
          </a:xfrm>
          <a:custGeom>
            <a:avLst/>
            <a:gdLst>
              <a:gd name="T0" fmla="*/ 0 w 1"/>
              <a:gd name="T1" fmla="*/ 0 h 856"/>
              <a:gd name="T2" fmla="*/ 1 w 1"/>
              <a:gd name="T3" fmla="*/ 841375 h 856"/>
              <a:gd name="T4" fmla="*/ 0 60000 65536"/>
              <a:gd name="T5" fmla="*/ 0 60000 65536"/>
            </a:gdLst>
            <a:ahLst/>
            <a:cxnLst>
              <a:cxn ang="T4">
                <a:pos x="T0" y="T1"/>
              </a:cxn>
              <a:cxn ang="T5">
                <a:pos x="T2" y="T3"/>
              </a:cxn>
            </a:cxnLst>
            <a:rect l="0" t="0" r="r" b="b"/>
            <a:pathLst>
              <a:path w="1" h="856">
                <a:moveTo>
                  <a:pt x="0" y="0"/>
                </a:moveTo>
                <a:lnTo>
                  <a:pt x="1" y="856"/>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7" name="Line 30">
            <a:extLst>
              <a:ext uri="{FF2B5EF4-FFF2-40B4-BE49-F238E27FC236}">
                <a16:creationId xmlns:a16="http://schemas.microsoft.com/office/drawing/2014/main" id="{D87B014E-21D7-9DE1-2153-7BC8475B5E6A}"/>
              </a:ext>
            </a:extLst>
          </p:cNvPr>
          <p:cNvSpPr>
            <a:spLocks noChangeShapeType="1"/>
          </p:cNvSpPr>
          <p:nvPr/>
        </p:nvSpPr>
        <p:spPr bwMode="auto">
          <a:xfrm flipH="1">
            <a:off x="3444875" y="3181350"/>
            <a:ext cx="1050925"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48" name="Line 31">
            <a:extLst>
              <a:ext uri="{FF2B5EF4-FFF2-40B4-BE49-F238E27FC236}">
                <a16:creationId xmlns:a16="http://schemas.microsoft.com/office/drawing/2014/main" id="{9943AAEF-A628-7DBC-2B05-17C2B8E8D82F}"/>
              </a:ext>
            </a:extLst>
          </p:cNvPr>
          <p:cNvSpPr>
            <a:spLocks noChangeShapeType="1"/>
          </p:cNvSpPr>
          <p:nvPr/>
        </p:nvSpPr>
        <p:spPr bwMode="auto">
          <a:xfrm flipV="1">
            <a:off x="4778375" y="2459038"/>
            <a:ext cx="0" cy="15605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9" name="Line 32">
            <a:extLst>
              <a:ext uri="{FF2B5EF4-FFF2-40B4-BE49-F238E27FC236}">
                <a16:creationId xmlns:a16="http://schemas.microsoft.com/office/drawing/2014/main" id="{53687DD0-34E9-EA43-93F9-11DCFD8981BC}"/>
              </a:ext>
            </a:extLst>
          </p:cNvPr>
          <p:cNvSpPr>
            <a:spLocks noChangeShapeType="1"/>
          </p:cNvSpPr>
          <p:nvPr/>
        </p:nvSpPr>
        <p:spPr bwMode="auto">
          <a:xfrm flipH="1" flipV="1">
            <a:off x="3652838" y="2459038"/>
            <a:ext cx="1147762"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50" name="Line 33">
            <a:extLst>
              <a:ext uri="{FF2B5EF4-FFF2-40B4-BE49-F238E27FC236}">
                <a16:creationId xmlns:a16="http://schemas.microsoft.com/office/drawing/2014/main" id="{7C909D8D-DAB8-087C-53E9-F4FC19DF2C31}"/>
              </a:ext>
            </a:extLst>
          </p:cNvPr>
          <p:cNvSpPr>
            <a:spLocks noChangeShapeType="1"/>
          </p:cNvSpPr>
          <p:nvPr/>
        </p:nvSpPr>
        <p:spPr bwMode="auto">
          <a:xfrm>
            <a:off x="5483225" y="2636838"/>
            <a:ext cx="366713"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51" name="Line 34">
            <a:extLst>
              <a:ext uri="{FF2B5EF4-FFF2-40B4-BE49-F238E27FC236}">
                <a16:creationId xmlns:a16="http://schemas.microsoft.com/office/drawing/2014/main" id="{6B0187A5-C46C-CBE9-5058-B6730492A42A}"/>
              </a:ext>
            </a:extLst>
          </p:cNvPr>
          <p:cNvSpPr>
            <a:spLocks noChangeShapeType="1"/>
          </p:cNvSpPr>
          <p:nvPr/>
        </p:nvSpPr>
        <p:spPr bwMode="auto">
          <a:xfrm>
            <a:off x="5483225" y="2636838"/>
            <a:ext cx="0" cy="15033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2" name="Line 35">
            <a:extLst>
              <a:ext uri="{FF2B5EF4-FFF2-40B4-BE49-F238E27FC236}">
                <a16:creationId xmlns:a16="http://schemas.microsoft.com/office/drawing/2014/main" id="{6C5AABA3-107E-AA05-F382-CC8F9E89CA04}"/>
              </a:ext>
            </a:extLst>
          </p:cNvPr>
          <p:cNvSpPr>
            <a:spLocks noChangeShapeType="1"/>
          </p:cNvSpPr>
          <p:nvPr/>
        </p:nvSpPr>
        <p:spPr bwMode="auto">
          <a:xfrm flipH="1">
            <a:off x="5124450" y="4124325"/>
            <a:ext cx="365125"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53" name="Line 36">
            <a:extLst>
              <a:ext uri="{FF2B5EF4-FFF2-40B4-BE49-F238E27FC236}">
                <a16:creationId xmlns:a16="http://schemas.microsoft.com/office/drawing/2014/main" id="{0CFBF7B7-91D5-4414-3091-7F42010D6CDF}"/>
              </a:ext>
            </a:extLst>
          </p:cNvPr>
          <p:cNvSpPr>
            <a:spLocks noChangeShapeType="1"/>
          </p:cNvSpPr>
          <p:nvPr/>
        </p:nvSpPr>
        <p:spPr bwMode="auto">
          <a:xfrm flipH="1">
            <a:off x="5110163" y="4773613"/>
            <a:ext cx="723900" cy="0"/>
          </a:xfrm>
          <a:prstGeom prst="line">
            <a:avLst/>
          </a:prstGeom>
          <a:noFill/>
          <a:ln w="28575">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54" name="Rectangle 38">
            <a:extLst>
              <a:ext uri="{FF2B5EF4-FFF2-40B4-BE49-F238E27FC236}">
                <a16:creationId xmlns:a16="http://schemas.microsoft.com/office/drawing/2014/main" id="{99371CEB-18F7-2751-C0D6-B02C578A2EB0}"/>
              </a:ext>
            </a:extLst>
          </p:cNvPr>
          <p:cNvSpPr>
            <a:spLocks noChangeArrowheads="1"/>
          </p:cNvSpPr>
          <p:nvPr/>
        </p:nvSpPr>
        <p:spPr bwMode="auto">
          <a:xfrm>
            <a:off x="5262563" y="4227513"/>
            <a:ext cx="455612"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宋体" panose="02010600030101010101" pitchFamily="2" charset="-122"/>
              </a:rPr>
              <a:t>┆</a:t>
            </a:r>
            <a:endParaRPr lang="zh-CN" altLang="en-US" sz="2000">
              <a:latin typeface="Times New Roman" panose="02020603050405020304" pitchFamily="18" charset="0"/>
            </a:endParaRPr>
          </a:p>
        </p:txBody>
      </p:sp>
      <p:sp>
        <p:nvSpPr>
          <p:cNvPr id="2" name="灯片编号占位符 1">
            <a:extLst>
              <a:ext uri="{FF2B5EF4-FFF2-40B4-BE49-F238E27FC236}">
                <a16:creationId xmlns:a16="http://schemas.microsoft.com/office/drawing/2014/main" id="{7481AF5A-8FF7-1351-A376-684B03DC0906}"/>
              </a:ext>
            </a:extLst>
          </p:cNvPr>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4C7D1ED6-2863-9EDF-A047-403E2FBF8710}"/>
              </a:ext>
            </a:extLst>
          </p:cNvPr>
          <p:cNvSpPr>
            <a:spLocks noGrp="1" noChangeArrowheads="1"/>
          </p:cNvSpPr>
          <p:nvPr>
            <p:ph type="title"/>
          </p:nvPr>
        </p:nvSpPr>
        <p:spPr>
          <a:xfrm>
            <a:off x="1042988" y="225431"/>
            <a:ext cx="7850187" cy="746125"/>
          </a:xfrm>
        </p:spPr>
        <p:txBody>
          <a:bodyPr/>
          <a:lstStyle/>
          <a:p>
            <a:r>
              <a:rPr lang="en-US" altLang="zh-CN"/>
              <a:t>I/O</a:t>
            </a:r>
            <a:r>
              <a:rPr lang="zh-CN" altLang="en-US"/>
              <a:t>通道</a:t>
            </a:r>
          </a:p>
        </p:txBody>
      </p:sp>
      <p:sp>
        <p:nvSpPr>
          <p:cNvPr id="106499" name="Rectangle 3">
            <a:extLst>
              <a:ext uri="{FF2B5EF4-FFF2-40B4-BE49-F238E27FC236}">
                <a16:creationId xmlns:a16="http://schemas.microsoft.com/office/drawing/2014/main" id="{DD4E6C73-4B6B-806A-D87A-371F2C936133}"/>
              </a:ext>
            </a:extLst>
          </p:cNvPr>
          <p:cNvSpPr>
            <a:spLocks noGrp="1" noChangeArrowheads="1"/>
          </p:cNvSpPr>
          <p:nvPr>
            <p:ph idx="1"/>
          </p:nvPr>
        </p:nvSpPr>
        <p:spPr>
          <a:xfrm>
            <a:off x="935038" y="1233488"/>
            <a:ext cx="7772400" cy="4895850"/>
          </a:xfrm>
        </p:spPr>
        <p:txBody>
          <a:bodyPr>
            <a:normAutofit fontScale="92500"/>
          </a:bodyPr>
          <a:lstStyle/>
          <a:p>
            <a:r>
              <a:rPr lang="en-US" altLang="zh-CN"/>
              <a:t>I/O</a:t>
            </a:r>
            <a:r>
              <a:rPr lang="zh-CN" altLang="en-US"/>
              <a:t>通道是专门负责输入/输出工作的处理机。它具有执行</a:t>
            </a:r>
            <a:r>
              <a:rPr lang="en-US" altLang="zh-CN"/>
              <a:t>I/O</a:t>
            </a:r>
            <a:r>
              <a:rPr lang="zh-CN" altLang="en-US"/>
              <a:t>指令的能力，并通过执行通道程序来控制</a:t>
            </a:r>
            <a:r>
              <a:rPr lang="en-US" altLang="zh-CN"/>
              <a:t>I/O</a:t>
            </a:r>
            <a:r>
              <a:rPr lang="zh-CN" altLang="en-US"/>
              <a:t>操作。</a:t>
            </a:r>
          </a:p>
          <a:p>
            <a:r>
              <a:rPr lang="zh-CN" altLang="en-US"/>
              <a:t>通道有自己的指令系统，该指令系统比较简单，一般只有数据传送指令、设备控制指令等。</a:t>
            </a:r>
          </a:p>
          <a:p>
            <a:r>
              <a:rPr lang="zh-CN" altLang="en-US"/>
              <a:t>通道程序：通道指令构成的程序。</a:t>
            </a:r>
          </a:p>
          <a:p>
            <a:r>
              <a:rPr lang="zh-CN" altLang="en-US"/>
              <a:t>通道与一般处理机的区别：</a:t>
            </a:r>
          </a:p>
          <a:p>
            <a:pPr lvl="1"/>
            <a:r>
              <a:rPr lang="zh-CN" altLang="en-US"/>
              <a:t>指令类型单一</a:t>
            </a:r>
          </a:p>
          <a:p>
            <a:pPr lvl="1"/>
            <a:r>
              <a:rPr lang="zh-CN" altLang="en-US"/>
              <a:t>没有内存</a:t>
            </a:r>
          </a:p>
        </p:txBody>
      </p:sp>
      <p:sp>
        <p:nvSpPr>
          <p:cNvPr id="4" name="灯片编号占位符 3">
            <a:extLst>
              <a:ext uri="{FF2B5EF4-FFF2-40B4-BE49-F238E27FC236}">
                <a16:creationId xmlns:a16="http://schemas.microsoft.com/office/drawing/2014/main" id="{3D3E28EC-0F41-F76B-A65B-3887E931D07E}"/>
              </a:ext>
            </a:extLst>
          </p:cNvPr>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checkerboard(across)">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checkerboard(across)">
                                      <p:cBhvr>
                                        <p:cTn id="12" dur="500"/>
                                        <p:tgtEl>
                                          <p:spTgt spid="106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checkerboard(across)">
                                      <p:cBhvr>
                                        <p:cTn id="17" dur="500"/>
                                        <p:tgtEl>
                                          <p:spTgt spid="1064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6499">
                                            <p:txEl>
                                              <p:pRg st="3" end="3"/>
                                            </p:txEl>
                                          </p:spTgt>
                                        </p:tgtEl>
                                        <p:attrNameLst>
                                          <p:attrName>style.visibility</p:attrName>
                                        </p:attrNameLst>
                                      </p:cBhvr>
                                      <p:to>
                                        <p:strVal val="visible"/>
                                      </p:to>
                                    </p:set>
                                    <p:animEffect transition="in" filter="checkerboard(across)">
                                      <p:cBhvr>
                                        <p:cTn id="22" dur="500"/>
                                        <p:tgtEl>
                                          <p:spTgt spid="1064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6499">
                                            <p:txEl>
                                              <p:pRg st="4" end="4"/>
                                            </p:txEl>
                                          </p:spTgt>
                                        </p:tgtEl>
                                        <p:attrNameLst>
                                          <p:attrName>style.visibility</p:attrName>
                                        </p:attrNameLst>
                                      </p:cBhvr>
                                      <p:to>
                                        <p:strVal val="visible"/>
                                      </p:to>
                                    </p:set>
                                    <p:animEffect transition="in" filter="checkerboard(across)">
                                      <p:cBhvr>
                                        <p:cTn id="27" dur="500"/>
                                        <p:tgtEl>
                                          <p:spTgt spid="1064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06499">
                                            <p:txEl>
                                              <p:pRg st="5" end="5"/>
                                            </p:txEl>
                                          </p:spTgt>
                                        </p:tgtEl>
                                        <p:attrNameLst>
                                          <p:attrName>style.visibility</p:attrName>
                                        </p:attrNameLst>
                                      </p:cBhvr>
                                      <p:to>
                                        <p:strVal val="visible"/>
                                      </p:to>
                                    </p:set>
                                    <p:animEffect transition="in" filter="checkerboard(across)">
                                      <p:cBhvr>
                                        <p:cTn id="32" dur="500"/>
                                        <p:tgtEl>
                                          <p:spTgt spid="1064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9BACD1D1-1B32-09C4-5181-3361470CD47C}"/>
              </a:ext>
            </a:extLst>
          </p:cNvPr>
          <p:cNvSpPr>
            <a:spLocks noGrp="1" noChangeArrowheads="1"/>
          </p:cNvSpPr>
          <p:nvPr>
            <p:ph type="title"/>
          </p:nvPr>
        </p:nvSpPr>
        <p:spPr>
          <a:xfrm>
            <a:off x="1042988" y="225431"/>
            <a:ext cx="7850187" cy="746125"/>
          </a:xfrm>
        </p:spPr>
        <p:txBody>
          <a:bodyPr/>
          <a:lstStyle/>
          <a:p>
            <a:r>
              <a:rPr lang="zh-CN" altLang="en-US"/>
              <a:t>通道的分类</a:t>
            </a:r>
          </a:p>
        </p:txBody>
      </p:sp>
      <p:sp>
        <p:nvSpPr>
          <p:cNvPr id="32770" name="Rectangle 3">
            <a:extLst>
              <a:ext uri="{FF2B5EF4-FFF2-40B4-BE49-F238E27FC236}">
                <a16:creationId xmlns:a16="http://schemas.microsoft.com/office/drawing/2014/main" id="{2F199831-5EC1-8021-9084-D4A551B4380C}"/>
              </a:ext>
            </a:extLst>
          </p:cNvPr>
          <p:cNvSpPr>
            <a:spLocks noGrp="1" noChangeArrowheads="1"/>
          </p:cNvSpPr>
          <p:nvPr>
            <p:ph idx="1"/>
          </p:nvPr>
        </p:nvSpPr>
        <p:spPr>
          <a:xfrm>
            <a:off x="935038" y="1233488"/>
            <a:ext cx="7772400" cy="4895850"/>
          </a:xfrm>
        </p:spPr>
        <p:txBody>
          <a:bodyPr/>
          <a:lstStyle/>
          <a:p>
            <a:r>
              <a:rPr lang="zh-CN" altLang="en-US"/>
              <a:t>根据信息交换方式的不同，可将通道分成以下几种类型：</a:t>
            </a:r>
          </a:p>
          <a:p>
            <a:pPr lvl="1"/>
            <a:r>
              <a:rPr lang="zh-CN" altLang="en-US"/>
              <a:t>字节多路通道</a:t>
            </a:r>
          </a:p>
          <a:p>
            <a:pPr lvl="1"/>
            <a:r>
              <a:rPr lang="zh-CN" altLang="en-US"/>
              <a:t>数据选择通道</a:t>
            </a:r>
          </a:p>
          <a:p>
            <a:pPr lvl="1"/>
            <a:r>
              <a:rPr lang="zh-CN" altLang="en-US"/>
              <a:t>数据多路通道 </a:t>
            </a:r>
          </a:p>
        </p:txBody>
      </p:sp>
      <p:sp>
        <p:nvSpPr>
          <p:cNvPr id="4" name="灯片编号占位符 3">
            <a:extLst>
              <a:ext uri="{FF2B5EF4-FFF2-40B4-BE49-F238E27FC236}">
                <a16:creationId xmlns:a16="http://schemas.microsoft.com/office/drawing/2014/main" id="{4EEAB3C2-22BF-FC7F-18AC-4B63518395FD}"/>
              </a:ext>
            </a:extLst>
          </p:cNvPr>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2E094555-9CFB-17EF-BE0D-F076B5BF64ED}"/>
              </a:ext>
            </a:extLst>
          </p:cNvPr>
          <p:cNvSpPr>
            <a:spLocks noGrp="1" noChangeArrowheads="1"/>
          </p:cNvSpPr>
          <p:nvPr>
            <p:ph type="title"/>
          </p:nvPr>
        </p:nvSpPr>
        <p:spPr>
          <a:xfrm>
            <a:off x="1042988" y="225431"/>
            <a:ext cx="7850187" cy="746125"/>
          </a:xfrm>
        </p:spPr>
        <p:txBody>
          <a:bodyPr/>
          <a:lstStyle/>
          <a:p>
            <a:r>
              <a:rPr lang="zh-CN" altLang="en-US"/>
              <a:t>字节多路通道</a:t>
            </a:r>
          </a:p>
        </p:txBody>
      </p:sp>
      <p:sp>
        <p:nvSpPr>
          <p:cNvPr id="108547" name="Rectangle 3">
            <a:extLst>
              <a:ext uri="{FF2B5EF4-FFF2-40B4-BE49-F238E27FC236}">
                <a16:creationId xmlns:a16="http://schemas.microsoft.com/office/drawing/2014/main" id="{C4C2DAE8-E68A-D7EB-0EC3-DF40A2EF4D4E}"/>
              </a:ext>
            </a:extLst>
          </p:cNvPr>
          <p:cNvSpPr>
            <a:spLocks noGrp="1" noChangeArrowheads="1"/>
          </p:cNvSpPr>
          <p:nvPr>
            <p:ph idx="1"/>
          </p:nvPr>
        </p:nvSpPr>
        <p:spPr>
          <a:xfrm>
            <a:off x="935038" y="1233488"/>
            <a:ext cx="7772400" cy="4895850"/>
          </a:xfrm>
        </p:spPr>
        <p:txBody>
          <a:bodyPr/>
          <a:lstStyle/>
          <a:p>
            <a:r>
              <a:rPr lang="zh-CN" altLang="en-US"/>
              <a:t>字节多路通道：该通道以字节交换方式工作。它通常含有若干个非分配型子通道，每个子通道连接一台</a:t>
            </a:r>
            <a:r>
              <a:rPr lang="en-US" altLang="zh-CN"/>
              <a:t>I/O</a:t>
            </a:r>
            <a:r>
              <a:rPr lang="zh-CN" altLang="en-US"/>
              <a:t>设备，这些子通道按时间片轮转方式共享主通道，每次交换完一个字节后便轮换。</a:t>
            </a:r>
          </a:p>
          <a:p>
            <a:r>
              <a:rPr lang="zh-CN" altLang="en-US"/>
              <a:t>一般用于连接中、低速</a:t>
            </a:r>
            <a:r>
              <a:rPr lang="en-US" altLang="zh-CN"/>
              <a:t>I/O</a:t>
            </a:r>
            <a:r>
              <a:rPr lang="zh-CN" altLang="en-US"/>
              <a:t>设备。</a:t>
            </a:r>
          </a:p>
        </p:txBody>
      </p:sp>
      <p:sp>
        <p:nvSpPr>
          <p:cNvPr id="4" name="灯片编号占位符 3">
            <a:extLst>
              <a:ext uri="{FF2B5EF4-FFF2-40B4-BE49-F238E27FC236}">
                <a16:creationId xmlns:a16="http://schemas.microsoft.com/office/drawing/2014/main" id="{84C18AC4-58C5-1910-4105-4E7DC7938209}"/>
              </a:ext>
            </a:extLst>
          </p:cNvPr>
          <p:cNvSpPr>
            <a:spLocks noGrp="1"/>
          </p:cNvSpPr>
          <p:nvPr>
            <p:ph type="sldNum" sz="quarter" idx="12"/>
          </p:nvPr>
        </p:nvSpPr>
        <p:spPr/>
        <p:txBody>
          <a:bodyPr/>
          <a:lstStyle/>
          <a:p>
            <a:fld id="{4093CC90-4002-504C-BD88-C9A1D374048E}" type="slidenum">
              <a:rPr lang="zh-CN" altLang="en-US" smtClean="0"/>
              <a:pPr/>
              <a:t>18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checkerboard(across)">
                                      <p:cBhvr>
                                        <p:cTn id="7" dur="500"/>
                                        <p:tgtEl>
                                          <p:spTgt spid="1085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8547">
                                            <p:txEl>
                                              <p:pRg st="1" end="1"/>
                                            </p:txEl>
                                          </p:spTgt>
                                        </p:tgtEl>
                                        <p:attrNameLst>
                                          <p:attrName>style.visibility</p:attrName>
                                        </p:attrNameLst>
                                      </p:cBhvr>
                                      <p:to>
                                        <p:strVal val="visible"/>
                                      </p:to>
                                    </p:set>
                                    <p:animEffect transition="in" filter="checkerboard(across)">
                                      <p:cBhvr>
                                        <p:cTn id="12" dur="500"/>
                                        <p:tgtEl>
                                          <p:spTgt spid="1085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C9E5CA40-E533-DB32-5995-3AF75C669019}"/>
              </a:ext>
            </a:extLst>
          </p:cNvPr>
          <p:cNvSpPr>
            <a:spLocks noGrp="1" noChangeArrowheads="1"/>
          </p:cNvSpPr>
          <p:nvPr>
            <p:ph type="title"/>
          </p:nvPr>
        </p:nvSpPr>
        <p:spPr>
          <a:xfrm>
            <a:off x="1042988" y="225431"/>
            <a:ext cx="7850187" cy="746125"/>
          </a:xfrm>
        </p:spPr>
        <p:txBody>
          <a:bodyPr/>
          <a:lstStyle/>
          <a:p>
            <a:r>
              <a:rPr lang="zh-CN" altLang="en-US"/>
              <a:t>数据选择通道</a:t>
            </a:r>
          </a:p>
        </p:txBody>
      </p:sp>
      <p:sp>
        <p:nvSpPr>
          <p:cNvPr id="109571" name="Rectangle 3">
            <a:extLst>
              <a:ext uri="{FF2B5EF4-FFF2-40B4-BE49-F238E27FC236}">
                <a16:creationId xmlns:a16="http://schemas.microsoft.com/office/drawing/2014/main" id="{00DFE8FB-B735-7E0C-24D2-1AB2FF698264}"/>
              </a:ext>
            </a:extLst>
          </p:cNvPr>
          <p:cNvSpPr>
            <a:spLocks noGrp="1" noChangeArrowheads="1"/>
          </p:cNvSpPr>
          <p:nvPr>
            <p:ph idx="1"/>
          </p:nvPr>
        </p:nvSpPr>
        <p:spPr>
          <a:xfrm>
            <a:off x="935038" y="1233488"/>
            <a:ext cx="7772400" cy="4895850"/>
          </a:xfrm>
        </p:spPr>
        <p:txBody>
          <a:bodyPr/>
          <a:lstStyle/>
          <a:p>
            <a:r>
              <a:rPr lang="zh-CN" altLang="en-US"/>
              <a:t>数据选择通道：又称数组选择通道，该通道含有一个分配型子通道，在一段时间内只能执行一个通道程序，控制一台设备传送一批数据，当一道程序执行完后，再选择与通道相连的另一台设备。</a:t>
            </a:r>
          </a:p>
          <a:p>
            <a:r>
              <a:rPr lang="zh-CN" altLang="en-US"/>
              <a:t>一般用于连接高速</a:t>
            </a:r>
            <a:r>
              <a:rPr lang="en-US" altLang="zh-CN"/>
              <a:t>I/O</a:t>
            </a:r>
            <a:r>
              <a:rPr lang="zh-CN" altLang="en-US"/>
              <a:t>设备。 </a:t>
            </a:r>
          </a:p>
        </p:txBody>
      </p:sp>
      <p:sp>
        <p:nvSpPr>
          <p:cNvPr id="4" name="灯片编号占位符 3">
            <a:extLst>
              <a:ext uri="{FF2B5EF4-FFF2-40B4-BE49-F238E27FC236}">
                <a16:creationId xmlns:a16="http://schemas.microsoft.com/office/drawing/2014/main" id="{51C68DDB-DC02-A152-003B-3E90CECBBCAA}"/>
              </a:ext>
            </a:extLst>
          </p:cNvPr>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checkerboard(across)">
                                      <p:cBhvr>
                                        <p:cTn id="7" dur="500"/>
                                        <p:tgtEl>
                                          <p:spTgt spid="10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9571">
                                            <p:txEl>
                                              <p:pRg st="1" end="1"/>
                                            </p:txEl>
                                          </p:spTgt>
                                        </p:tgtEl>
                                        <p:attrNameLst>
                                          <p:attrName>style.visibility</p:attrName>
                                        </p:attrNameLst>
                                      </p:cBhvr>
                                      <p:to>
                                        <p:strVal val="visible"/>
                                      </p:to>
                                    </p:set>
                                    <p:animEffect transition="in" filter="checkerboard(across)">
                                      <p:cBhvr>
                                        <p:cTn id="12" dur="500"/>
                                        <p:tgtEl>
                                          <p:spTgt spid="1095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88F86E-476D-028B-B6E3-042121FAF459}"/>
              </a:ext>
            </a:extLst>
          </p:cNvPr>
          <p:cNvSpPr>
            <a:spLocks noGrp="1" noChangeArrowheads="1"/>
          </p:cNvSpPr>
          <p:nvPr>
            <p:ph type="title"/>
          </p:nvPr>
        </p:nvSpPr>
        <p:spPr>
          <a:xfrm>
            <a:off x="1042988" y="225431"/>
            <a:ext cx="7850187" cy="746125"/>
          </a:xfrm>
        </p:spPr>
        <p:txBody>
          <a:bodyPr/>
          <a:lstStyle/>
          <a:p>
            <a:r>
              <a:rPr lang="zh-CN" altLang="en-US"/>
              <a:t>数据多路通道</a:t>
            </a:r>
          </a:p>
        </p:txBody>
      </p:sp>
      <p:sp>
        <p:nvSpPr>
          <p:cNvPr id="110595" name="Rectangle 3">
            <a:extLst>
              <a:ext uri="{FF2B5EF4-FFF2-40B4-BE49-F238E27FC236}">
                <a16:creationId xmlns:a16="http://schemas.microsoft.com/office/drawing/2014/main" id="{60D72B2F-B3E8-7081-5842-9D363C33183E}"/>
              </a:ext>
            </a:extLst>
          </p:cNvPr>
          <p:cNvSpPr>
            <a:spLocks noGrp="1" noChangeArrowheads="1"/>
          </p:cNvSpPr>
          <p:nvPr>
            <p:ph idx="1"/>
          </p:nvPr>
        </p:nvSpPr>
        <p:spPr>
          <a:xfrm>
            <a:off x="935038" y="1233488"/>
            <a:ext cx="7772400" cy="4895850"/>
          </a:xfrm>
        </p:spPr>
        <p:txBody>
          <a:bodyPr/>
          <a:lstStyle/>
          <a:p>
            <a:r>
              <a:rPr lang="zh-CN" altLang="en-US"/>
              <a:t>数据多路通道：又称数组多路通道，该通道是前两种通道的结合，它以分时方式执行几个通道程序，每执行一个通道程序的一条通道指令控制传送一组数据后，就转向另一个通道程序。</a:t>
            </a:r>
          </a:p>
          <a:p>
            <a:r>
              <a:rPr lang="zh-CN" altLang="en-US"/>
              <a:t>一般用于连接高、中速</a:t>
            </a:r>
            <a:r>
              <a:rPr lang="en-US" altLang="zh-CN"/>
              <a:t>I/O</a:t>
            </a:r>
            <a:r>
              <a:rPr lang="zh-CN" altLang="en-US"/>
              <a:t>设备。</a:t>
            </a:r>
          </a:p>
        </p:txBody>
      </p:sp>
      <p:sp>
        <p:nvSpPr>
          <p:cNvPr id="4" name="灯片编号占位符 3">
            <a:extLst>
              <a:ext uri="{FF2B5EF4-FFF2-40B4-BE49-F238E27FC236}">
                <a16:creationId xmlns:a16="http://schemas.microsoft.com/office/drawing/2014/main" id="{C7DCE87C-CF24-2CD8-326F-9A8B9092A409}"/>
              </a:ext>
            </a:extLst>
          </p:cNvPr>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checkerboard(across)">
                                      <p:cBhvr>
                                        <p:cTn id="7" dur="500"/>
                                        <p:tgtEl>
                                          <p:spTgt spid="11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checkerboard(across)">
                                      <p:cBhvr>
                                        <p:cTn id="12" dur="500"/>
                                        <p:tgtEl>
                                          <p:spTgt spid="1105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3E4956B8-2BD6-6CDB-D2E3-168806FB5379}"/>
              </a:ext>
            </a:extLst>
          </p:cNvPr>
          <p:cNvSpPr>
            <a:spLocks noGrp="1" noChangeArrowheads="1"/>
          </p:cNvSpPr>
          <p:nvPr>
            <p:ph type="title"/>
          </p:nvPr>
        </p:nvSpPr>
        <p:spPr>
          <a:xfrm>
            <a:off x="1042988" y="225431"/>
            <a:ext cx="7850187" cy="746125"/>
          </a:xfrm>
        </p:spPr>
        <p:txBody>
          <a:bodyPr/>
          <a:lstStyle/>
          <a:p>
            <a:r>
              <a:rPr lang="en-US" altLang="zh-CN"/>
              <a:t>I/O</a:t>
            </a:r>
            <a:r>
              <a:rPr lang="zh-CN" altLang="en-US"/>
              <a:t>系统结构</a:t>
            </a:r>
          </a:p>
        </p:txBody>
      </p:sp>
      <p:sp>
        <p:nvSpPr>
          <p:cNvPr id="36866" name="Rectangle 3">
            <a:extLst>
              <a:ext uri="{FF2B5EF4-FFF2-40B4-BE49-F238E27FC236}">
                <a16:creationId xmlns:a16="http://schemas.microsoft.com/office/drawing/2014/main" id="{DA32D0C0-88DD-2E28-3FA4-AFAA9B94CA13}"/>
              </a:ext>
            </a:extLst>
          </p:cNvPr>
          <p:cNvSpPr>
            <a:spLocks noGrp="1" noChangeArrowheads="1"/>
          </p:cNvSpPr>
          <p:nvPr>
            <p:ph idx="1"/>
          </p:nvPr>
        </p:nvSpPr>
        <p:spPr>
          <a:xfrm>
            <a:off x="935038" y="1233488"/>
            <a:ext cx="7772400" cy="4895850"/>
          </a:xfrm>
        </p:spPr>
        <p:txBody>
          <a:bodyPr/>
          <a:lstStyle/>
          <a:p>
            <a:r>
              <a:rPr lang="en-US" altLang="zh-CN"/>
              <a:t>I/O</a:t>
            </a:r>
            <a:r>
              <a:rPr lang="zh-CN" altLang="en-US"/>
              <a:t>系统结构不尽相同，大致分成两类：</a:t>
            </a:r>
          </a:p>
          <a:p>
            <a:pPr lvl="1"/>
            <a:r>
              <a:rPr lang="zh-CN" altLang="en-US"/>
              <a:t>微型机</a:t>
            </a:r>
            <a:r>
              <a:rPr lang="en-US" altLang="zh-CN"/>
              <a:t>I/O</a:t>
            </a:r>
            <a:r>
              <a:rPr lang="zh-CN" altLang="en-US"/>
              <a:t>系统结构</a:t>
            </a:r>
          </a:p>
          <a:p>
            <a:pPr lvl="1"/>
            <a:r>
              <a:rPr lang="zh-CN" altLang="en-US"/>
              <a:t>主机</a:t>
            </a:r>
            <a:r>
              <a:rPr lang="en-US" altLang="zh-CN"/>
              <a:t>I/O</a:t>
            </a:r>
            <a:r>
              <a:rPr lang="zh-CN" altLang="en-US"/>
              <a:t>系统结构</a:t>
            </a:r>
          </a:p>
        </p:txBody>
      </p:sp>
      <p:sp>
        <p:nvSpPr>
          <p:cNvPr id="4" name="灯片编号占位符 3">
            <a:extLst>
              <a:ext uri="{FF2B5EF4-FFF2-40B4-BE49-F238E27FC236}">
                <a16:creationId xmlns:a16="http://schemas.microsoft.com/office/drawing/2014/main" id="{8A736DF5-4A89-1926-33A8-59909455E4FD}"/>
              </a:ext>
            </a:extLst>
          </p:cNvPr>
          <p:cNvSpPr>
            <a:spLocks noGrp="1"/>
          </p:cNvSpPr>
          <p:nvPr>
            <p:ph type="sldNum" sz="quarter" idx="12"/>
          </p:nvPr>
        </p:nvSpPr>
        <p:spPr/>
        <p:txBody>
          <a:bodyPr/>
          <a:lstStyle/>
          <a:p>
            <a:fld id="{4093CC90-4002-504C-BD88-C9A1D374048E}" type="slidenum">
              <a:rPr lang="zh-CN" altLang="en-US" smtClean="0"/>
              <a:pPr/>
              <a:t>21</a:t>
            </a:fld>
            <a:endParaRPr lang="zh-CN" altLang="en-US" dirty="0"/>
          </a:p>
        </p:txBody>
      </p:sp>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9714F383-1766-0371-DF93-78C483A23BF3}"/>
              </a:ext>
            </a:extLst>
          </p:cNvPr>
          <p:cNvSpPr>
            <a:spLocks noGrp="1" noChangeArrowheads="1"/>
          </p:cNvSpPr>
          <p:nvPr>
            <p:ph type="title"/>
          </p:nvPr>
        </p:nvSpPr>
        <p:spPr>
          <a:xfrm>
            <a:off x="1042988" y="225431"/>
            <a:ext cx="7850187" cy="746125"/>
          </a:xfrm>
        </p:spPr>
        <p:txBody>
          <a:bodyPr/>
          <a:lstStyle/>
          <a:p>
            <a:r>
              <a:rPr lang="zh-CN" altLang="en-US"/>
              <a:t>微型机</a:t>
            </a:r>
            <a:r>
              <a:rPr lang="en-US" altLang="zh-CN"/>
              <a:t>I/O</a:t>
            </a:r>
            <a:r>
              <a:rPr lang="zh-CN" altLang="en-US"/>
              <a:t>系统结构</a:t>
            </a:r>
          </a:p>
        </p:txBody>
      </p:sp>
      <p:sp>
        <p:nvSpPr>
          <p:cNvPr id="37890" name="Rectangle 3">
            <a:extLst>
              <a:ext uri="{FF2B5EF4-FFF2-40B4-BE49-F238E27FC236}">
                <a16:creationId xmlns:a16="http://schemas.microsoft.com/office/drawing/2014/main" id="{06793C79-8077-15B6-44A8-9DF9DCFB500E}"/>
              </a:ext>
            </a:extLst>
          </p:cNvPr>
          <p:cNvSpPr>
            <a:spLocks noGrp="1" noChangeArrowheads="1"/>
          </p:cNvSpPr>
          <p:nvPr>
            <p:ph idx="1"/>
          </p:nvPr>
        </p:nvSpPr>
        <p:spPr>
          <a:xfrm>
            <a:off x="935038" y="1233488"/>
            <a:ext cx="7772400" cy="4895850"/>
          </a:xfrm>
        </p:spPr>
        <p:txBody>
          <a:bodyPr/>
          <a:lstStyle/>
          <a:p>
            <a:r>
              <a:rPr lang="zh-CN" altLang="en-US"/>
              <a:t>微型机</a:t>
            </a:r>
            <a:r>
              <a:rPr lang="en-US" altLang="zh-CN"/>
              <a:t>I/O</a:t>
            </a:r>
            <a:r>
              <a:rPr lang="zh-CN" altLang="en-US"/>
              <a:t>系统多采用总线</a:t>
            </a:r>
            <a:r>
              <a:rPr lang="en-US" altLang="zh-CN"/>
              <a:t>I/O</a:t>
            </a:r>
            <a:r>
              <a:rPr lang="zh-CN" altLang="en-US"/>
              <a:t>系统结构，</a:t>
            </a:r>
            <a:r>
              <a:rPr lang="en-US" altLang="zh-CN"/>
              <a:t>CPU</a:t>
            </a:r>
            <a:r>
              <a:rPr lang="zh-CN" altLang="en-US"/>
              <a:t>和内存直接连接到总线上，</a:t>
            </a:r>
            <a:r>
              <a:rPr lang="en-US" altLang="zh-CN"/>
              <a:t>I/O</a:t>
            </a:r>
            <a:r>
              <a:rPr lang="zh-CN" altLang="en-US"/>
              <a:t>设备通过设备控制器连接到总线上。</a:t>
            </a:r>
          </a:p>
        </p:txBody>
      </p:sp>
      <p:grpSp>
        <p:nvGrpSpPr>
          <p:cNvPr id="37891" name="Group 51">
            <a:extLst>
              <a:ext uri="{FF2B5EF4-FFF2-40B4-BE49-F238E27FC236}">
                <a16:creationId xmlns:a16="http://schemas.microsoft.com/office/drawing/2014/main" id="{C79F1542-A0F0-D0E1-9CE5-EFAC3A8654D8}"/>
              </a:ext>
            </a:extLst>
          </p:cNvPr>
          <p:cNvGrpSpPr>
            <a:grpSpLocks/>
          </p:cNvGrpSpPr>
          <p:nvPr/>
        </p:nvGrpSpPr>
        <p:grpSpPr bwMode="auto">
          <a:xfrm>
            <a:off x="1009650" y="3276600"/>
            <a:ext cx="7127875" cy="2514600"/>
            <a:chOff x="636" y="2448"/>
            <a:chExt cx="4490" cy="1584"/>
          </a:xfrm>
        </p:grpSpPr>
        <p:sp>
          <p:nvSpPr>
            <p:cNvPr id="37892" name="Rectangle 27">
              <a:extLst>
                <a:ext uri="{FF2B5EF4-FFF2-40B4-BE49-F238E27FC236}">
                  <a16:creationId xmlns:a16="http://schemas.microsoft.com/office/drawing/2014/main" id="{C83F6489-B57E-4EE8-4750-3FFD6DE358F7}"/>
                </a:ext>
              </a:extLst>
            </p:cNvPr>
            <p:cNvSpPr>
              <a:spLocks noChangeArrowheads="1"/>
            </p:cNvSpPr>
            <p:nvPr/>
          </p:nvSpPr>
          <p:spPr bwMode="auto">
            <a:xfrm>
              <a:off x="2320" y="2448"/>
              <a:ext cx="84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磁盘驱动器</a:t>
              </a:r>
            </a:p>
          </p:txBody>
        </p:sp>
        <p:sp>
          <p:nvSpPr>
            <p:cNvPr id="37893" name="Rectangle 28">
              <a:extLst>
                <a:ext uri="{FF2B5EF4-FFF2-40B4-BE49-F238E27FC236}">
                  <a16:creationId xmlns:a16="http://schemas.microsoft.com/office/drawing/2014/main" id="{3ED3342D-5066-61FE-DA8A-AA2FFE50B470}"/>
                </a:ext>
              </a:extLst>
            </p:cNvPr>
            <p:cNvSpPr>
              <a:spLocks noChangeArrowheads="1"/>
            </p:cNvSpPr>
            <p:nvPr/>
          </p:nvSpPr>
          <p:spPr bwMode="auto">
            <a:xfrm>
              <a:off x="636" y="3209"/>
              <a:ext cx="573" cy="400"/>
            </a:xfrm>
            <a:prstGeom prst="rect">
              <a:avLst/>
            </a:prstGeom>
            <a:solidFill>
              <a:srgbClr val="FFFFFF"/>
            </a:solidFill>
            <a:ln w="28575">
              <a:solidFill>
                <a:srgbClr val="000000"/>
              </a:solidFill>
              <a:miter lim="800000"/>
              <a:headEnd/>
              <a:tailEnd/>
            </a:ln>
          </p:spPr>
          <p:txBody>
            <a:bodyPr tIns="118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en-US" altLang="zh-CN" sz="2000">
                  <a:latin typeface="Times New Roman" panose="02020603050405020304" pitchFamily="18" charset="0"/>
                </a:rPr>
                <a:t>CPU</a:t>
              </a:r>
            </a:p>
          </p:txBody>
        </p:sp>
        <p:sp>
          <p:nvSpPr>
            <p:cNvPr id="37894" name="Rectangle 29">
              <a:extLst>
                <a:ext uri="{FF2B5EF4-FFF2-40B4-BE49-F238E27FC236}">
                  <a16:creationId xmlns:a16="http://schemas.microsoft.com/office/drawing/2014/main" id="{D91B5D45-95F4-802A-DE3F-3A7BA6A52A14}"/>
                </a:ext>
              </a:extLst>
            </p:cNvPr>
            <p:cNvSpPr>
              <a:spLocks noChangeArrowheads="1"/>
            </p:cNvSpPr>
            <p:nvPr/>
          </p:nvSpPr>
          <p:spPr bwMode="auto">
            <a:xfrm>
              <a:off x="1585" y="3209"/>
              <a:ext cx="582" cy="400"/>
            </a:xfrm>
            <a:prstGeom prst="rect">
              <a:avLst/>
            </a:prstGeom>
            <a:solidFill>
              <a:srgbClr val="FFFFFF"/>
            </a:solidFill>
            <a:ln w="28575">
              <a:solidFill>
                <a:srgbClr val="000000"/>
              </a:solidFill>
              <a:miter lim="800000"/>
              <a:headEnd/>
              <a:tailEnd/>
            </a:ln>
          </p:spPr>
          <p:txBody>
            <a:bodyPr lIns="18000" tIns="1188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存储器</a:t>
              </a:r>
            </a:p>
          </p:txBody>
        </p:sp>
        <p:sp>
          <p:nvSpPr>
            <p:cNvPr id="37895" name="Rectangle 30">
              <a:extLst>
                <a:ext uri="{FF2B5EF4-FFF2-40B4-BE49-F238E27FC236}">
                  <a16:creationId xmlns:a16="http://schemas.microsoft.com/office/drawing/2014/main" id="{78D5724A-69BB-BCAC-993F-1A6FB6709E20}"/>
                </a:ext>
              </a:extLst>
            </p:cNvPr>
            <p:cNvSpPr>
              <a:spLocks noChangeArrowheads="1"/>
            </p:cNvSpPr>
            <p:nvPr/>
          </p:nvSpPr>
          <p:spPr bwMode="auto">
            <a:xfrm>
              <a:off x="2533" y="3189"/>
              <a:ext cx="583" cy="439"/>
            </a:xfrm>
            <a:prstGeom prst="rect">
              <a:avLst/>
            </a:prstGeom>
            <a:solidFill>
              <a:srgbClr val="FFFFFF"/>
            </a:solidFill>
            <a:ln w="28575">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磁 盘控制器</a:t>
              </a:r>
            </a:p>
          </p:txBody>
        </p:sp>
        <p:sp>
          <p:nvSpPr>
            <p:cNvPr id="37896" name="Rectangle 31">
              <a:extLst>
                <a:ext uri="{FF2B5EF4-FFF2-40B4-BE49-F238E27FC236}">
                  <a16:creationId xmlns:a16="http://schemas.microsoft.com/office/drawing/2014/main" id="{CDAF7845-B652-FDBC-2893-B5AFB244FE13}"/>
                </a:ext>
              </a:extLst>
            </p:cNvPr>
            <p:cNvSpPr>
              <a:spLocks noChangeArrowheads="1"/>
            </p:cNvSpPr>
            <p:nvPr/>
          </p:nvSpPr>
          <p:spPr bwMode="auto">
            <a:xfrm>
              <a:off x="3397" y="3189"/>
              <a:ext cx="583" cy="439"/>
            </a:xfrm>
            <a:prstGeom prst="rect">
              <a:avLst/>
            </a:prstGeom>
            <a:solidFill>
              <a:srgbClr val="FFFFFF"/>
            </a:solidFill>
            <a:ln w="28575">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打印机控制器</a:t>
              </a:r>
            </a:p>
          </p:txBody>
        </p:sp>
        <p:sp>
          <p:nvSpPr>
            <p:cNvPr id="37897" name="Rectangle 32">
              <a:extLst>
                <a:ext uri="{FF2B5EF4-FFF2-40B4-BE49-F238E27FC236}">
                  <a16:creationId xmlns:a16="http://schemas.microsoft.com/office/drawing/2014/main" id="{33AAA1E9-2DB1-60A3-FC4F-0B4B4E44E733}"/>
                </a:ext>
              </a:extLst>
            </p:cNvPr>
            <p:cNvSpPr>
              <a:spLocks noChangeArrowheads="1"/>
            </p:cNvSpPr>
            <p:nvPr/>
          </p:nvSpPr>
          <p:spPr bwMode="auto">
            <a:xfrm>
              <a:off x="4543" y="3189"/>
              <a:ext cx="583" cy="439"/>
            </a:xfrm>
            <a:prstGeom prst="rect">
              <a:avLst/>
            </a:prstGeom>
            <a:solidFill>
              <a:srgbClr val="FFFFFF"/>
            </a:solidFill>
            <a:ln w="28575">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其 他控制器</a:t>
              </a:r>
            </a:p>
          </p:txBody>
        </p:sp>
        <p:sp>
          <p:nvSpPr>
            <p:cNvPr id="37898" name="Rectangle 33">
              <a:extLst>
                <a:ext uri="{FF2B5EF4-FFF2-40B4-BE49-F238E27FC236}">
                  <a16:creationId xmlns:a16="http://schemas.microsoft.com/office/drawing/2014/main" id="{396C00C8-52EE-DC63-6651-1653161ECD69}"/>
                </a:ext>
              </a:extLst>
            </p:cNvPr>
            <p:cNvSpPr>
              <a:spLocks noChangeArrowheads="1"/>
            </p:cNvSpPr>
            <p:nvPr/>
          </p:nvSpPr>
          <p:spPr bwMode="auto">
            <a:xfrm>
              <a:off x="4101" y="3273"/>
              <a:ext cx="3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a:latin typeface="Times New Roman" panose="02020603050405020304" pitchFamily="18" charset="0"/>
                </a:rPr>
                <a:t>…</a:t>
              </a:r>
            </a:p>
          </p:txBody>
        </p:sp>
        <p:sp>
          <p:nvSpPr>
            <p:cNvPr id="37899" name="Line 34">
              <a:extLst>
                <a:ext uri="{FF2B5EF4-FFF2-40B4-BE49-F238E27FC236}">
                  <a16:creationId xmlns:a16="http://schemas.microsoft.com/office/drawing/2014/main" id="{7B20CBC5-CD3C-7BD2-6209-8DA572A040FF}"/>
                </a:ext>
              </a:extLst>
            </p:cNvPr>
            <p:cNvSpPr>
              <a:spLocks noChangeShapeType="1"/>
            </p:cNvSpPr>
            <p:nvPr/>
          </p:nvSpPr>
          <p:spPr bwMode="auto">
            <a:xfrm>
              <a:off x="908" y="4013"/>
              <a:ext cx="390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Line 35">
              <a:extLst>
                <a:ext uri="{FF2B5EF4-FFF2-40B4-BE49-F238E27FC236}">
                  <a16:creationId xmlns:a16="http://schemas.microsoft.com/office/drawing/2014/main" id="{829F02A0-D725-E9AC-081A-A0A22004FE84}"/>
                </a:ext>
              </a:extLst>
            </p:cNvPr>
            <p:cNvSpPr>
              <a:spLocks noChangeShapeType="1"/>
            </p:cNvSpPr>
            <p:nvPr/>
          </p:nvSpPr>
          <p:spPr bwMode="auto">
            <a:xfrm>
              <a:off x="908" y="3612"/>
              <a:ext cx="0" cy="40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1" name="Line 36">
              <a:extLst>
                <a:ext uri="{FF2B5EF4-FFF2-40B4-BE49-F238E27FC236}">
                  <a16:creationId xmlns:a16="http://schemas.microsoft.com/office/drawing/2014/main" id="{38B6EDD5-B28C-6C84-38E5-19B3E5C31D64}"/>
                </a:ext>
              </a:extLst>
            </p:cNvPr>
            <p:cNvSpPr>
              <a:spLocks noChangeShapeType="1"/>
            </p:cNvSpPr>
            <p:nvPr/>
          </p:nvSpPr>
          <p:spPr bwMode="auto">
            <a:xfrm flipH="1">
              <a:off x="2784" y="3642"/>
              <a:ext cx="3" cy="3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2" name="Line 37">
              <a:extLst>
                <a:ext uri="{FF2B5EF4-FFF2-40B4-BE49-F238E27FC236}">
                  <a16:creationId xmlns:a16="http://schemas.microsoft.com/office/drawing/2014/main" id="{E8B1052F-5C57-918F-FB56-ABD5657BB514}"/>
                </a:ext>
              </a:extLst>
            </p:cNvPr>
            <p:cNvSpPr>
              <a:spLocks noChangeShapeType="1"/>
            </p:cNvSpPr>
            <p:nvPr/>
          </p:nvSpPr>
          <p:spPr bwMode="auto">
            <a:xfrm>
              <a:off x="3651" y="3603"/>
              <a:ext cx="0" cy="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Line 38">
              <a:extLst>
                <a:ext uri="{FF2B5EF4-FFF2-40B4-BE49-F238E27FC236}">
                  <a16:creationId xmlns:a16="http://schemas.microsoft.com/office/drawing/2014/main" id="{55DC328C-7AB1-F420-C6E6-FFD0A3C04FD3}"/>
                </a:ext>
              </a:extLst>
            </p:cNvPr>
            <p:cNvSpPr>
              <a:spLocks noChangeShapeType="1"/>
            </p:cNvSpPr>
            <p:nvPr/>
          </p:nvSpPr>
          <p:spPr bwMode="auto">
            <a:xfrm>
              <a:off x="1885" y="3600"/>
              <a:ext cx="0" cy="40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4" name="Line 39">
              <a:extLst>
                <a:ext uri="{FF2B5EF4-FFF2-40B4-BE49-F238E27FC236}">
                  <a16:creationId xmlns:a16="http://schemas.microsoft.com/office/drawing/2014/main" id="{9F573ABB-9A09-3EFB-8E0C-8F63EC2DFC69}"/>
                </a:ext>
              </a:extLst>
            </p:cNvPr>
            <p:cNvSpPr>
              <a:spLocks noChangeShapeType="1"/>
            </p:cNvSpPr>
            <p:nvPr/>
          </p:nvSpPr>
          <p:spPr bwMode="auto">
            <a:xfrm>
              <a:off x="4815" y="3632"/>
              <a:ext cx="0" cy="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5" name="Line 40">
              <a:extLst>
                <a:ext uri="{FF2B5EF4-FFF2-40B4-BE49-F238E27FC236}">
                  <a16:creationId xmlns:a16="http://schemas.microsoft.com/office/drawing/2014/main" id="{DFCAA9BB-61D2-388F-EDFD-F399CD4E5EFB}"/>
                </a:ext>
              </a:extLst>
            </p:cNvPr>
            <p:cNvSpPr>
              <a:spLocks noChangeShapeType="1"/>
            </p:cNvSpPr>
            <p:nvPr/>
          </p:nvSpPr>
          <p:spPr bwMode="auto">
            <a:xfrm>
              <a:off x="2571" y="2881"/>
              <a:ext cx="85" cy="3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6" name="Line 41">
              <a:extLst>
                <a:ext uri="{FF2B5EF4-FFF2-40B4-BE49-F238E27FC236}">
                  <a16:creationId xmlns:a16="http://schemas.microsoft.com/office/drawing/2014/main" id="{1971C861-4CB7-2DF4-7596-9657C8D2B80F}"/>
                </a:ext>
              </a:extLst>
            </p:cNvPr>
            <p:cNvSpPr>
              <a:spLocks noChangeShapeType="1"/>
            </p:cNvSpPr>
            <p:nvPr/>
          </p:nvSpPr>
          <p:spPr bwMode="auto">
            <a:xfrm flipH="1">
              <a:off x="2862" y="2871"/>
              <a:ext cx="84" cy="3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7" name="Oval 42">
              <a:extLst>
                <a:ext uri="{FF2B5EF4-FFF2-40B4-BE49-F238E27FC236}">
                  <a16:creationId xmlns:a16="http://schemas.microsoft.com/office/drawing/2014/main" id="{097118AC-7001-DC5B-EDCE-1C7770EEC3CF}"/>
                </a:ext>
              </a:extLst>
            </p:cNvPr>
            <p:cNvSpPr>
              <a:spLocks noChangeArrowheads="1"/>
            </p:cNvSpPr>
            <p:nvPr/>
          </p:nvSpPr>
          <p:spPr bwMode="auto">
            <a:xfrm>
              <a:off x="1857" y="3969"/>
              <a:ext cx="63" cy="63"/>
            </a:xfrm>
            <a:prstGeom prst="ellipse">
              <a:avLst/>
            </a:prstGeom>
            <a:solidFill>
              <a:srgbClr val="000000"/>
            </a:solidFill>
            <a:ln w="28575">
              <a:solidFill>
                <a:srgbClr val="000000"/>
              </a:solidFill>
              <a:round/>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7908" name="Oval 43">
              <a:extLst>
                <a:ext uri="{FF2B5EF4-FFF2-40B4-BE49-F238E27FC236}">
                  <a16:creationId xmlns:a16="http://schemas.microsoft.com/office/drawing/2014/main" id="{92B06D79-EC65-4568-4D64-AB456EDEB447}"/>
                </a:ext>
              </a:extLst>
            </p:cNvPr>
            <p:cNvSpPr>
              <a:spLocks noChangeArrowheads="1"/>
            </p:cNvSpPr>
            <p:nvPr/>
          </p:nvSpPr>
          <p:spPr bwMode="auto">
            <a:xfrm>
              <a:off x="3633" y="3969"/>
              <a:ext cx="63" cy="63"/>
            </a:xfrm>
            <a:prstGeom prst="ellipse">
              <a:avLst/>
            </a:prstGeom>
            <a:solidFill>
              <a:srgbClr val="000000"/>
            </a:solidFill>
            <a:ln w="28575">
              <a:solidFill>
                <a:srgbClr val="000000"/>
              </a:solidFill>
              <a:round/>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7909" name="Oval 44">
              <a:extLst>
                <a:ext uri="{FF2B5EF4-FFF2-40B4-BE49-F238E27FC236}">
                  <a16:creationId xmlns:a16="http://schemas.microsoft.com/office/drawing/2014/main" id="{30CBEB4F-D9D3-0685-D07F-9D8F472912E4}"/>
                </a:ext>
              </a:extLst>
            </p:cNvPr>
            <p:cNvSpPr>
              <a:spLocks noChangeArrowheads="1"/>
            </p:cNvSpPr>
            <p:nvPr/>
          </p:nvSpPr>
          <p:spPr bwMode="auto">
            <a:xfrm>
              <a:off x="2752" y="3969"/>
              <a:ext cx="63" cy="63"/>
            </a:xfrm>
            <a:prstGeom prst="ellipse">
              <a:avLst/>
            </a:prstGeom>
            <a:solidFill>
              <a:srgbClr val="000000"/>
            </a:solidFill>
            <a:ln w="28575">
              <a:solidFill>
                <a:srgbClr val="000000"/>
              </a:solidFill>
              <a:round/>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7910" name="Line 45">
              <a:extLst>
                <a:ext uri="{FF2B5EF4-FFF2-40B4-BE49-F238E27FC236}">
                  <a16:creationId xmlns:a16="http://schemas.microsoft.com/office/drawing/2014/main" id="{61C1CEA2-6586-C244-62DB-8F4D1BA4E366}"/>
                </a:ext>
              </a:extLst>
            </p:cNvPr>
            <p:cNvSpPr>
              <a:spLocks noChangeShapeType="1"/>
            </p:cNvSpPr>
            <p:nvPr/>
          </p:nvSpPr>
          <p:spPr bwMode="auto">
            <a:xfrm>
              <a:off x="3632" y="3008"/>
              <a:ext cx="0" cy="1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1" name="Rectangle 46">
              <a:extLst>
                <a:ext uri="{FF2B5EF4-FFF2-40B4-BE49-F238E27FC236}">
                  <a16:creationId xmlns:a16="http://schemas.microsoft.com/office/drawing/2014/main" id="{F7E18F99-74C9-CFAC-D9F9-2E67BCD2E507}"/>
                </a:ext>
              </a:extLst>
            </p:cNvPr>
            <p:cNvSpPr>
              <a:spLocks noChangeArrowheads="1"/>
            </p:cNvSpPr>
            <p:nvPr/>
          </p:nvSpPr>
          <p:spPr bwMode="auto">
            <a:xfrm>
              <a:off x="3435" y="2776"/>
              <a:ext cx="394" cy="244"/>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7912" name="Rectangle 47">
              <a:extLst>
                <a:ext uri="{FF2B5EF4-FFF2-40B4-BE49-F238E27FC236}">
                  <a16:creationId xmlns:a16="http://schemas.microsoft.com/office/drawing/2014/main" id="{A79F35FD-5007-CBEE-FBBC-8BF21B7AF03E}"/>
                </a:ext>
              </a:extLst>
            </p:cNvPr>
            <p:cNvSpPr>
              <a:spLocks noChangeArrowheads="1"/>
            </p:cNvSpPr>
            <p:nvPr/>
          </p:nvSpPr>
          <p:spPr bwMode="auto">
            <a:xfrm>
              <a:off x="3929" y="2758"/>
              <a:ext cx="535"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打印机</a:t>
              </a:r>
            </a:p>
          </p:txBody>
        </p:sp>
        <p:sp>
          <p:nvSpPr>
            <p:cNvPr id="37913" name="Rectangle 48">
              <a:extLst>
                <a:ext uri="{FF2B5EF4-FFF2-40B4-BE49-F238E27FC236}">
                  <a16:creationId xmlns:a16="http://schemas.microsoft.com/office/drawing/2014/main" id="{BD56401A-3A16-BEB2-E38D-E5520009969C}"/>
                </a:ext>
              </a:extLst>
            </p:cNvPr>
            <p:cNvSpPr>
              <a:spLocks noChangeArrowheads="1"/>
            </p:cNvSpPr>
            <p:nvPr/>
          </p:nvSpPr>
          <p:spPr bwMode="auto">
            <a:xfrm>
              <a:off x="2467" y="2754"/>
              <a:ext cx="178" cy="16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37914" name="Rectangle 49">
              <a:extLst>
                <a:ext uri="{FF2B5EF4-FFF2-40B4-BE49-F238E27FC236}">
                  <a16:creationId xmlns:a16="http://schemas.microsoft.com/office/drawing/2014/main" id="{0A961BF8-98D6-7084-3705-B36A6E33DDD8}"/>
                </a:ext>
              </a:extLst>
            </p:cNvPr>
            <p:cNvSpPr>
              <a:spLocks noChangeArrowheads="1"/>
            </p:cNvSpPr>
            <p:nvPr/>
          </p:nvSpPr>
          <p:spPr bwMode="auto">
            <a:xfrm>
              <a:off x="2852" y="2754"/>
              <a:ext cx="178" cy="16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grpSp>
      <p:sp>
        <p:nvSpPr>
          <p:cNvPr id="4" name="灯片编号占位符 3">
            <a:extLst>
              <a:ext uri="{FF2B5EF4-FFF2-40B4-BE49-F238E27FC236}">
                <a16:creationId xmlns:a16="http://schemas.microsoft.com/office/drawing/2014/main" id="{029C0630-8870-5A7D-4E61-36E160811380}"/>
              </a:ext>
            </a:extLst>
          </p:cNvPr>
          <p:cNvSpPr>
            <a:spLocks noGrp="1"/>
          </p:cNvSpPr>
          <p:nvPr>
            <p:ph type="sldNum" sz="quarter" idx="12"/>
          </p:nvPr>
        </p:nvSpPr>
        <p:spPr/>
        <p:txBody>
          <a:bodyPr/>
          <a:lstStyle/>
          <a:p>
            <a:fld id="{4093CC90-4002-504C-BD88-C9A1D374048E}" type="slidenum">
              <a:rPr lang="zh-CN" altLang="en-US" smtClean="0"/>
              <a:pPr/>
              <a:t>22</a:t>
            </a:fld>
            <a:endParaRPr lang="zh-CN" altLang="en-US" dirty="0"/>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E45C79E-5FBD-0468-9E40-8CC98F48F57F}"/>
              </a:ext>
            </a:extLst>
          </p:cNvPr>
          <p:cNvSpPr>
            <a:spLocks noGrp="1" noChangeArrowheads="1"/>
          </p:cNvSpPr>
          <p:nvPr>
            <p:ph type="title"/>
          </p:nvPr>
        </p:nvSpPr>
        <p:spPr>
          <a:xfrm>
            <a:off x="1100138" y="152400"/>
            <a:ext cx="7793037" cy="755650"/>
          </a:xfrm>
        </p:spPr>
        <p:txBody>
          <a:bodyPr/>
          <a:lstStyle/>
          <a:p>
            <a:r>
              <a:rPr lang="zh-CN" altLang="en-US" dirty="0"/>
              <a:t>典型的</a:t>
            </a:r>
            <a:r>
              <a:rPr lang="en-US" altLang="zh-CN" dirty="0"/>
              <a:t>PC</a:t>
            </a:r>
            <a:r>
              <a:rPr lang="zh-CN" altLang="en-US" dirty="0"/>
              <a:t>总线结构</a:t>
            </a:r>
          </a:p>
        </p:txBody>
      </p:sp>
      <p:sp>
        <p:nvSpPr>
          <p:cNvPr id="3" name="内容占位符 2">
            <a:extLst>
              <a:ext uri="{FF2B5EF4-FFF2-40B4-BE49-F238E27FC236}">
                <a16:creationId xmlns:a16="http://schemas.microsoft.com/office/drawing/2014/main" id="{980CA13F-A83E-1B8F-635D-7B1216090C18}"/>
              </a:ext>
            </a:extLst>
          </p:cNvPr>
          <p:cNvSpPr>
            <a:spLocks noGrp="1"/>
          </p:cNvSpPr>
          <p:nvPr>
            <p:ph idx="1"/>
          </p:nvPr>
        </p:nvSpPr>
        <p:spPr/>
        <p:txBody>
          <a:bodyPr/>
          <a:lstStyle/>
          <a:p>
            <a:endParaRPr lang="zh-CN" altLang="en-US"/>
          </a:p>
        </p:txBody>
      </p:sp>
      <p:pic>
        <p:nvPicPr>
          <p:cNvPr id="38914" name="Picture 4">
            <a:extLst>
              <a:ext uri="{FF2B5EF4-FFF2-40B4-BE49-F238E27FC236}">
                <a16:creationId xmlns:a16="http://schemas.microsoft.com/office/drawing/2014/main" id="{08A9512E-3282-DEE3-BC85-02536F9F0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96" t="967" r="2515" b="1210"/>
          <a:stretch>
            <a:fillRect/>
          </a:stretch>
        </p:blipFill>
        <p:spPr bwMode="auto">
          <a:xfrm>
            <a:off x="376238" y="1209675"/>
            <a:ext cx="8437562" cy="531495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B2215F6E-199A-5F99-F545-6057BE0FD16B}"/>
              </a:ext>
            </a:extLst>
          </p:cNvPr>
          <p:cNvSpPr>
            <a:spLocks noGrp="1"/>
          </p:cNvSpPr>
          <p:nvPr>
            <p:ph type="sldNum" sz="quarter" idx="12"/>
          </p:nvPr>
        </p:nvSpPr>
        <p:spPr/>
        <p:txBody>
          <a:bodyPr/>
          <a:lstStyle/>
          <a:p>
            <a:fld id="{4093CC90-4002-504C-BD88-C9A1D374048E}" type="slidenum">
              <a:rPr lang="zh-CN" altLang="en-US" smtClean="0"/>
              <a:pPr/>
              <a:t>23</a:t>
            </a:fld>
            <a:endParaRPr lang="zh-CN" altLang="en-US" dirty="0"/>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CFEA659A-E4E2-5BB8-52C0-ED5E5EC17201}"/>
              </a:ext>
            </a:extLst>
          </p:cNvPr>
          <p:cNvSpPr>
            <a:spLocks noGrp="1" noChangeArrowheads="1"/>
          </p:cNvSpPr>
          <p:nvPr>
            <p:ph type="title"/>
          </p:nvPr>
        </p:nvSpPr>
        <p:spPr>
          <a:xfrm>
            <a:off x="1100138" y="152400"/>
            <a:ext cx="7793037" cy="755650"/>
          </a:xfrm>
        </p:spPr>
        <p:txBody>
          <a:bodyPr/>
          <a:lstStyle/>
          <a:p>
            <a:r>
              <a:rPr lang="en-US" altLang="zh-CN" sz="4000" dirty="0"/>
              <a:t>PC</a:t>
            </a:r>
            <a:r>
              <a:rPr lang="zh-CN" altLang="en-US" sz="4000" dirty="0"/>
              <a:t>中的设备</a:t>
            </a:r>
            <a:r>
              <a:rPr lang="en-US" altLang="zh-CN" sz="4000" dirty="0"/>
              <a:t>I/O</a:t>
            </a:r>
            <a:r>
              <a:rPr lang="zh-CN" altLang="en-US" sz="4000" dirty="0"/>
              <a:t>端口位置（部分）</a:t>
            </a:r>
          </a:p>
        </p:txBody>
      </p:sp>
      <p:sp>
        <p:nvSpPr>
          <p:cNvPr id="3" name="内容占位符 2">
            <a:extLst>
              <a:ext uri="{FF2B5EF4-FFF2-40B4-BE49-F238E27FC236}">
                <a16:creationId xmlns:a16="http://schemas.microsoft.com/office/drawing/2014/main" id="{BBFB3489-BF5E-58B3-64C3-EF310A10FCE9}"/>
              </a:ext>
            </a:extLst>
          </p:cNvPr>
          <p:cNvSpPr>
            <a:spLocks noGrp="1"/>
          </p:cNvSpPr>
          <p:nvPr>
            <p:ph idx="1"/>
          </p:nvPr>
        </p:nvSpPr>
        <p:spPr/>
        <p:txBody>
          <a:bodyPr/>
          <a:lstStyle/>
          <a:p>
            <a:endParaRPr lang="zh-CN" altLang="en-US"/>
          </a:p>
        </p:txBody>
      </p:sp>
      <p:pic>
        <p:nvPicPr>
          <p:cNvPr id="39938" name="Picture 4">
            <a:extLst>
              <a:ext uri="{FF2B5EF4-FFF2-40B4-BE49-F238E27FC236}">
                <a16:creationId xmlns:a16="http://schemas.microsoft.com/office/drawing/2014/main" id="{359E67FE-4A45-4665-E73F-B0E88E6B6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99" t="11620" r="768" b="11830"/>
          <a:stretch>
            <a:fillRect/>
          </a:stretch>
        </p:blipFill>
        <p:spPr bwMode="auto">
          <a:xfrm>
            <a:off x="460375" y="1392238"/>
            <a:ext cx="8288338" cy="51323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78203A75-D086-B36B-ACFD-A253F39D9641}"/>
              </a:ext>
            </a:extLst>
          </p:cNvPr>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B043BB22-3306-7BCC-11C0-B91806F19401}"/>
              </a:ext>
            </a:extLst>
          </p:cNvPr>
          <p:cNvSpPr>
            <a:spLocks noGrp="1" noChangeArrowheads="1"/>
          </p:cNvSpPr>
          <p:nvPr>
            <p:ph type="title"/>
          </p:nvPr>
        </p:nvSpPr>
        <p:spPr/>
        <p:txBody>
          <a:bodyPr/>
          <a:lstStyle/>
          <a:p>
            <a:pPr eaLnBrk="1" hangingPunct="1"/>
            <a:r>
              <a:rPr lang="zh-CN" altLang="en-US"/>
              <a:t>主机</a:t>
            </a:r>
            <a:r>
              <a:rPr lang="en-US" altLang="zh-CN"/>
              <a:t>I/O</a:t>
            </a:r>
            <a:r>
              <a:rPr lang="zh-CN" altLang="en-US"/>
              <a:t>系统结构</a:t>
            </a:r>
            <a:endParaRPr lang="en-US" altLang="zh-CN"/>
          </a:p>
        </p:txBody>
      </p:sp>
      <p:sp>
        <p:nvSpPr>
          <p:cNvPr id="40962" name="Rectangle 3">
            <a:extLst>
              <a:ext uri="{FF2B5EF4-FFF2-40B4-BE49-F238E27FC236}">
                <a16:creationId xmlns:a16="http://schemas.microsoft.com/office/drawing/2014/main" id="{97FE310D-F79D-2FF6-4C58-A91CA44C2BA0}"/>
              </a:ext>
            </a:extLst>
          </p:cNvPr>
          <p:cNvSpPr>
            <a:spLocks noGrp="1" noChangeArrowheads="1"/>
          </p:cNvSpPr>
          <p:nvPr>
            <p:ph idx="1"/>
          </p:nvPr>
        </p:nvSpPr>
        <p:spPr>
          <a:xfrm>
            <a:off x="773113" y="1268413"/>
            <a:ext cx="7685087" cy="2286000"/>
          </a:xfrm>
        </p:spPr>
        <p:txBody>
          <a:bodyPr/>
          <a:lstStyle/>
          <a:p>
            <a:pPr eaLnBrk="1" hangingPunct="1"/>
            <a:r>
              <a:rPr lang="zh-CN" altLang="en-US">
                <a:latin typeface="Times New Roman" panose="02020603050405020304" pitchFamily="18" charset="0"/>
              </a:rPr>
              <a:t>通常为主机配置的设备较多，若所有设备都通过总线与</a:t>
            </a:r>
            <a:r>
              <a:rPr lang="en-US" altLang="zh-CN"/>
              <a:t>CPU</a:t>
            </a:r>
            <a:r>
              <a:rPr lang="zh-CN" altLang="en-US">
                <a:latin typeface="Times New Roman" panose="02020603050405020304" pitchFamily="18" charset="0"/>
              </a:rPr>
              <a:t>通信则总线和</a:t>
            </a:r>
            <a:r>
              <a:rPr lang="en-US" altLang="zh-CN"/>
              <a:t>CPU</a:t>
            </a:r>
            <a:r>
              <a:rPr lang="zh-CN" altLang="en-US">
                <a:latin typeface="Times New Roman" panose="02020603050405020304" pitchFamily="18" charset="0"/>
              </a:rPr>
              <a:t>的负担过重。为此在</a:t>
            </a:r>
            <a:r>
              <a:rPr lang="en-US" altLang="zh-CN"/>
              <a:t>I/O</a:t>
            </a:r>
            <a:r>
              <a:rPr lang="zh-CN" altLang="en-US">
                <a:latin typeface="Times New Roman" panose="02020603050405020304" pitchFamily="18" charset="0"/>
              </a:rPr>
              <a:t>系统结构中增加了一级</a:t>
            </a:r>
            <a:r>
              <a:rPr lang="en-US" altLang="zh-CN"/>
              <a:t>I/O</a:t>
            </a:r>
            <a:r>
              <a:rPr lang="zh-CN" altLang="en-US">
                <a:latin typeface="Times New Roman" panose="02020603050405020304" pitchFamily="18" charset="0"/>
              </a:rPr>
              <a:t>通道。</a:t>
            </a:r>
            <a:r>
              <a:rPr lang="zh-CN" altLang="en-US"/>
              <a:t> </a:t>
            </a:r>
          </a:p>
        </p:txBody>
      </p:sp>
      <p:sp>
        <p:nvSpPr>
          <p:cNvPr id="2" name="灯片编号占位符 1">
            <a:extLst>
              <a:ext uri="{FF2B5EF4-FFF2-40B4-BE49-F238E27FC236}">
                <a16:creationId xmlns:a16="http://schemas.microsoft.com/office/drawing/2014/main" id="{F442C67A-96C8-0DE9-5826-8AF5F84342B1}"/>
              </a:ext>
            </a:extLst>
          </p:cNvPr>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9BE2F4A8-945B-4FB1-80E6-2ED5D5A40FD1}"/>
              </a:ext>
            </a:extLst>
          </p:cNvPr>
          <p:cNvSpPr>
            <a:spLocks noGrp="1" noChangeArrowheads="1"/>
          </p:cNvSpPr>
          <p:nvPr>
            <p:ph type="title"/>
          </p:nvPr>
        </p:nvSpPr>
        <p:spPr/>
        <p:txBody>
          <a:bodyPr/>
          <a:lstStyle/>
          <a:p>
            <a:pPr eaLnBrk="1" hangingPunct="1"/>
            <a:r>
              <a:rPr lang="zh-CN" altLang="en-US"/>
              <a:t>主机</a:t>
            </a:r>
            <a:r>
              <a:rPr lang="en-US" altLang="zh-CN"/>
              <a:t>I/O</a:t>
            </a:r>
            <a:r>
              <a:rPr lang="zh-CN" altLang="en-US"/>
              <a:t>系统结构示意图</a:t>
            </a:r>
            <a:endParaRPr lang="en-US" altLang="zh-CN"/>
          </a:p>
        </p:txBody>
      </p:sp>
      <p:grpSp>
        <p:nvGrpSpPr>
          <p:cNvPr id="41986" name="Group 4">
            <a:extLst>
              <a:ext uri="{FF2B5EF4-FFF2-40B4-BE49-F238E27FC236}">
                <a16:creationId xmlns:a16="http://schemas.microsoft.com/office/drawing/2014/main" id="{113CC150-D62F-B1C2-C40C-AC40AC51955A}"/>
              </a:ext>
            </a:extLst>
          </p:cNvPr>
          <p:cNvGrpSpPr>
            <a:grpSpLocks/>
          </p:cNvGrpSpPr>
          <p:nvPr/>
        </p:nvGrpSpPr>
        <p:grpSpPr bwMode="auto">
          <a:xfrm>
            <a:off x="762000" y="1752600"/>
            <a:ext cx="7140575" cy="3598863"/>
            <a:chOff x="1035" y="1957"/>
            <a:chExt cx="4498" cy="2267"/>
          </a:xfrm>
        </p:grpSpPr>
        <p:sp>
          <p:nvSpPr>
            <p:cNvPr id="41987" name="Rectangle 5">
              <a:extLst>
                <a:ext uri="{FF2B5EF4-FFF2-40B4-BE49-F238E27FC236}">
                  <a16:creationId xmlns:a16="http://schemas.microsoft.com/office/drawing/2014/main" id="{6F46A690-F122-01FF-F651-645710B74F4F}"/>
                </a:ext>
              </a:extLst>
            </p:cNvPr>
            <p:cNvSpPr>
              <a:spLocks noChangeArrowheads="1"/>
            </p:cNvSpPr>
            <p:nvPr/>
          </p:nvSpPr>
          <p:spPr bwMode="auto">
            <a:xfrm>
              <a:off x="1035" y="2985"/>
              <a:ext cx="648" cy="275"/>
            </a:xfrm>
            <a:prstGeom prst="rect">
              <a:avLst/>
            </a:prstGeom>
            <a:solidFill>
              <a:srgbClr val="FFFFFF"/>
            </a:solidFill>
            <a:ln w="25400">
              <a:solidFill>
                <a:srgbClr val="000000"/>
              </a:solidFill>
              <a:miter lim="800000"/>
              <a:headEnd/>
              <a:tailEnd/>
            </a:ln>
          </p:spPr>
          <p:txBody>
            <a:bodyPr lIns="54000" tIns="108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存储器</a:t>
              </a:r>
            </a:p>
          </p:txBody>
        </p:sp>
        <p:sp>
          <p:nvSpPr>
            <p:cNvPr id="41988" name="Rectangle 6">
              <a:extLst>
                <a:ext uri="{FF2B5EF4-FFF2-40B4-BE49-F238E27FC236}">
                  <a16:creationId xmlns:a16="http://schemas.microsoft.com/office/drawing/2014/main" id="{2528EE62-3031-25C3-56D4-B3F13680A3C4}"/>
                </a:ext>
              </a:extLst>
            </p:cNvPr>
            <p:cNvSpPr>
              <a:spLocks noChangeArrowheads="1"/>
            </p:cNvSpPr>
            <p:nvPr/>
          </p:nvSpPr>
          <p:spPr bwMode="auto">
            <a:xfrm>
              <a:off x="2257" y="2404"/>
              <a:ext cx="648" cy="276"/>
            </a:xfrm>
            <a:prstGeom prst="rect">
              <a:avLst/>
            </a:prstGeom>
            <a:solidFill>
              <a:srgbClr val="FFFFFF"/>
            </a:solidFill>
            <a:ln w="25400">
              <a:solidFill>
                <a:srgbClr val="000000"/>
              </a:solidFill>
              <a:miter lim="800000"/>
              <a:headEnd/>
              <a:tailEnd/>
            </a:ln>
          </p:spPr>
          <p:txBody>
            <a:bodyPr lIns="54000" tIns="468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通道1</a:t>
              </a:r>
            </a:p>
          </p:txBody>
        </p:sp>
        <p:sp>
          <p:nvSpPr>
            <p:cNvPr id="41989" name="Rectangle 7">
              <a:extLst>
                <a:ext uri="{FF2B5EF4-FFF2-40B4-BE49-F238E27FC236}">
                  <a16:creationId xmlns:a16="http://schemas.microsoft.com/office/drawing/2014/main" id="{49ADA0C7-147F-C01D-12C6-3CB37C99A119}"/>
                </a:ext>
              </a:extLst>
            </p:cNvPr>
            <p:cNvSpPr>
              <a:spLocks noChangeArrowheads="1"/>
            </p:cNvSpPr>
            <p:nvPr/>
          </p:nvSpPr>
          <p:spPr bwMode="auto">
            <a:xfrm>
              <a:off x="2257" y="3539"/>
              <a:ext cx="648" cy="275"/>
            </a:xfrm>
            <a:prstGeom prst="rect">
              <a:avLst/>
            </a:prstGeom>
            <a:solidFill>
              <a:srgbClr val="FFFFFF"/>
            </a:solidFill>
            <a:ln w="25400">
              <a:solidFill>
                <a:srgbClr val="000000"/>
              </a:solidFill>
              <a:miter lim="800000"/>
              <a:headEnd/>
              <a:tailEnd/>
            </a:ln>
          </p:spPr>
          <p:txBody>
            <a:bodyPr lIns="54000" tIns="468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通道2</a:t>
              </a:r>
            </a:p>
          </p:txBody>
        </p:sp>
        <p:sp>
          <p:nvSpPr>
            <p:cNvPr id="41990" name="Rectangle 8">
              <a:extLst>
                <a:ext uri="{FF2B5EF4-FFF2-40B4-BE49-F238E27FC236}">
                  <a16:creationId xmlns:a16="http://schemas.microsoft.com/office/drawing/2014/main" id="{CF642876-7D89-B655-23C9-42985AB1D130}"/>
                </a:ext>
              </a:extLst>
            </p:cNvPr>
            <p:cNvSpPr>
              <a:spLocks noChangeArrowheads="1"/>
            </p:cNvSpPr>
            <p:nvPr/>
          </p:nvSpPr>
          <p:spPr bwMode="auto">
            <a:xfrm>
              <a:off x="3597" y="2644"/>
              <a:ext cx="729" cy="275"/>
            </a:xfrm>
            <a:prstGeom prst="rect">
              <a:avLst/>
            </a:prstGeom>
            <a:solidFill>
              <a:srgbClr val="FFFFFF"/>
            </a:solidFill>
            <a:ln w="25400">
              <a:solidFill>
                <a:srgbClr val="000000"/>
              </a:solidFill>
              <a:miter lim="800000"/>
              <a:headEnd/>
              <a:tailEnd/>
            </a:ln>
          </p:spPr>
          <p:txBody>
            <a:bodyPr lIns="54000" tIns="360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控制器2</a:t>
              </a:r>
            </a:p>
          </p:txBody>
        </p:sp>
        <p:sp>
          <p:nvSpPr>
            <p:cNvPr id="41991" name="Rectangle 9">
              <a:extLst>
                <a:ext uri="{FF2B5EF4-FFF2-40B4-BE49-F238E27FC236}">
                  <a16:creationId xmlns:a16="http://schemas.microsoft.com/office/drawing/2014/main" id="{FFEE99EE-60DB-6299-A0BE-9A9F590670C8}"/>
                </a:ext>
              </a:extLst>
            </p:cNvPr>
            <p:cNvSpPr>
              <a:spLocks noChangeArrowheads="1"/>
            </p:cNvSpPr>
            <p:nvPr/>
          </p:nvSpPr>
          <p:spPr bwMode="auto">
            <a:xfrm>
              <a:off x="3597" y="3320"/>
              <a:ext cx="729" cy="276"/>
            </a:xfrm>
            <a:prstGeom prst="rect">
              <a:avLst/>
            </a:prstGeom>
            <a:solidFill>
              <a:srgbClr val="FFFFFF"/>
            </a:solidFill>
            <a:ln w="25400">
              <a:solidFill>
                <a:srgbClr val="000000"/>
              </a:solidFill>
              <a:miter lim="800000"/>
              <a:headEnd/>
              <a:tailEnd/>
            </a:ln>
          </p:spPr>
          <p:txBody>
            <a:bodyPr lIns="54000" tIns="360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控制器3</a:t>
              </a:r>
            </a:p>
          </p:txBody>
        </p:sp>
        <p:sp>
          <p:nvSpPr>
            <p:cNvPr id="41992" name="Rectangle 10">
              <a:extLst>
                <a:ext uri="{FF2B5EF4-FFF2-40B4-BE49-F238E27FC236}">
                  <a16:creationId xmlns:a16="http://schemas.microsoft.com/office/drawing/2014/main" id="{16627511-A6D9-F010-DB4E-6099CC483CE6}"/>
                </a:ext>
              </a:extLst>
            </p:cNvPr>
            <p:cNvSpPr>
              <a:spLocks noChangeArrowheads="1"/>
            </p:cNvSpPr>
            <p:nvPr/>
          </p:nvSpPr>
          <p:spPr bwMode="auto">
            <a:xfrm>
              <a:off x="3597" y="2155"/>
              <a:ext cx="729" cy="275"/>
            </a:xfrm>
            <a:prstGeom prst="rect">
              <a:avLst/>
            </a:prstGeom>
            <a:solidFill>
              <a:srgbClr val="FFFFFF"/>
            </a:solidFill>
            <a:ln w="25400">
              <a:solidFill>
                <a:srgbClr val="000000"/>
              </a:solidFill>
              <a:miter lim="800000"/>
              <a:headEnd/>
              <a:tailEnd/>
            </a:ln>
          </p:spPr>
          <p:txBody>
            <a:bodyPr lIns="54000" tIns="360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控制器1</a:t>
              </a:r>
            </a:p>
          </p:txBody>
        </p:sp>
        <p:sp>
          <p:nvSpPr>
            <p:cNvPr id="41993" name="Rectangle 11">
              <a:extLst>
                <a:ext uri="{FF2B5EF4-FFF2-40B4-BE49-F238E27FC236}">
                  <a16:creationId xmlns:a16="http://schemas.microsoft.com/office/drawing/2014/main" id="{4EB54055-ECB0-F28A-3A23-72A45BC80317}"/>
                </a:ext>
              </a:extLst>
            </p:cNvPr>
            <p:cNvSpPr>
              <a:spLocks noChangeArrowheads="1"/>
            </p:cNvSpPr>
            <p:nvPr/>
          </p:nvSpPr>
          <p:spPr bwMode="auto">
            <a:xfrm>
              <a:off x="3597" y="3786"/>
              <a:ext cx="729" cy="276"/>
            </a:xfrm>
            <a:prstGeom prst="rect">
              <a:avLst/>
            </a:prstGeom>
            <a:solidFill>
              <a:srgbClr val="FFFFFF"/>
            </a:solidFill>
            <a:ln w="25400">
              <a:solidFill>
                <a:srgbClr val="000000"/>
              </a:solidFill>
              <a:miter lim="800000"/>
              <a:headEnd/>
              <a:tailEnd/>
            </a:ln>
          </p:spPr>
          <p:txBody>
            <a:bodyPr lIns="54000" tIns="36000" rIns="54000" b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控制器4</a:t>
              </a:r>
            </a:p>
          </p:txBody>
        </p:sp>
        <p:sp>
          <p:nvSpPr>
            <p:cNvPr id="41994" name="Rectangle 12">
              <a:extLst>
                <a:ext uri="{FF2B5EF4-FFF2-40B4-BE49-F238E27FC236}">
                  <a16:creationId xmlns:a16="http://schemas.microsoft.com/office/drawing/2014/main" id="{BD1C8F75-3122-B9B6-3958-9DA21D2ABFC8}"/>
                </a:ext>
              </a:extLst>
            </p:cNvPr>
            <p:cNvSpPr>
              <a:spLocks noChangeArrowheads="1"/>
            </p:cNvSpPr>
            <p:nvPr/>
          </p:nvSpPr>
          <p:spPr bwMode="auto">
            <a:xfrm>
              <a:off x="5012" y="1957"/>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设备1</a:t>
              </a:r>
            </a:p>
          </p:txBody>
        </p:sp>
        <p:sp>
          <p:nvSpPr>
            <p:cNvPr id="41995" name="Rectangle 13">
              <a:extLst>
                <a:ext uri="{FF2B5EF4-FFF2-40B4-BE49-F238E27FC236}">
                  <a16:creationId xmlns:a16="http://schemas.microsoft.com/office/drawing/2014/main" id="{5062017A-7F62-12A6-7263-002DC4541090}"/>
                </a:ext>
              </a:extLst>
            </p:cNvPr>
            <p:cNvSpPr>
              <a:spLocks noChangeArrowheads="1"/>
            </p:cNvSpPr>
            <p:nvPr/>
          </p:nvSpPr>
          <p:spPr bwMode="auto">
            <a:xfrm>
              <a:off x="5012" y="2238"/>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设备2</a:t>
              </a:r>
            </a:p>
          </p:txBody>
        </p:sp>
        <p:sp>
          <p:nvSpPr>
            <p:cNvPr id="41996" name="Rectangle 14">
              <a:extLst>
                <a:ext uri="{FF2B5EF4-FFF2-40B4-BE49-F238E27FC236}">
                  <a16:creationId xmlns:a16="http://schemas.microsoft.com/office/drawing/2014/main" id="{3D308484-9C4C-1609-0DAE-185022660FEE}"/>
                </a:ext>
              </a:extLst>
            </p:cNvPr>
            <p:cNvSpPr>
              <a:spLocks noChangeArrowheads="1"/>
            </p:cNvSpPr>
            <p:nvPr/>
          </p:nvSpPr>
          <p:spPr bwMode="auto">
            <a:xfrm>
              <a:off x="5012" y="2519"/>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设备3</a:t>
              </a:r>
            </a:p>
          </p:txBody>
        </p:sp>
        <p:sp>
          <p:nvSpPr>
            <p:cNvPr id="41997" name="Rectangle 15">
              <a:extLst>
                <a:ext uri="{FF2B5EF4-FFF2-40B4-BE49-F238E27FC236}">
                  <a16:creationId xmlns:a16="http://schemas.microsoft.com/office/drawing/2014/main" id="{234A7A18-925A-D0D5-846C-EDA9F64084DC}"/>
                </a:ext>
              </a:extLst>
            </p:cNvPr>
            <p:cNvSpPr>
              <a:spLocks noChangeArrowheads="1"/>
            </p:cNvSpPr>
            <p:nvPr/>
          </p:nvSpPr>
          <p:spPr bwMode="auto">
            <a:xfrm>
              <a:off x="5012" y="2800"/>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设备4</a:t>
              </a:r>
            </a:p>
          </p:txBody>
        </p:sp>
        <p:sp>
          <p:nvSpPr>
            <p:cNvPr id="41998" name="Rectangle 16">
              <a:extLst>
                <a:ext uri="{FF2B5EF4-FFF2-40B4-BE49-F238E27FC236}">
                  <a16:creationId xmlns:a16="http://schemas.microsoft.com/office/drawing/2014/main" id="{74C7D23E-C290-061B-9278-7B9BBF94DF83}"/>
                </a:ext>
              </a:extLst>
            </p:cNvPr>
            <p:cNvSpPr>
              <a:spLocks noChangeArrowheads="1"/>
            </p:cNvSpPr>
            <p:nvPr/>
          </p:nvSpPr>
          <p:spPr bwMode="auto">
            <a:xfrm>
              <a:off x="5012" y="3174"/>
              <a:ext cx="521" cy="197"/>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设备5</a:t>
              </a:r>
            </a:p>
          </p:txBody>
        </p:sp>
        <p:sp>
          <p:nvSpPr>
            <p:cNvPr id="41999" name="Rectangle 17">
              <a:extLst>
                <a:ext uri="{FF2B5EF4-FFF2-40B4-BE49-F238E27FC236}">
                  <a16:creationId xmlns:a16="http://schemas.microsoft.com/office/drawing/2014/main" id="{7BC04F7A-CDF8-F992-9AE5-FB633A91E7E2}"/>
                </a:ext>
              </a:extLst>
            </p:cNvPr>
            <p:cNvSpPr>
              <a:spLocks noChangeArrowheads="1"/>
            </p:cNvSpPr>
            <p:nvPr/>
          </p:nvSpPr>
          <p:spPr bwMode="auto">
            <a:xfrm>
              <a:off x="5012" y="3455"/>
              <a:ext cx="521" cy="197"/>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设备6</a:t>
              </a:r>
            </a:p>
          </p:txBody>
        </p:sp>
        <p:sp>
          <p:nvSpPr>
            <p:cNvPr id="42000" name="Rectangle 18">
              <a:extLst>
                <a:ext uri="{FF2B5EF4-FFF2-40B4-BE49-F238E27FC236}">
                  <a16:creationId xmlns:a16="http://schemas.microsoft.com/office/drawing/2014/main" id="{CBF465A3-BA93-0480-466B-62881B537788}"/>
                </a:ext>
              </a:extLst>
            </p:cNvPr>
            <p:cNvSpPr>
              <a:spLocks noChangeArrowheads="1"/>
            </p:cNvSpPr>
            <p:nvPr/>
          </p:nvSpPr>
          <p:spPr bwMode="auto">
            <a:xfrm>
              <a:off x="5012" y="3747"/>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设备7</a:t>
              </a:r>
            </a:p>
          </p:txBody>
        </p:sp>
        <p:sp>
          <p:nvSpPr>
            <p:cNvPr id="42001" name="Rectangle 19">
              <a:extLst>
                <a:ext uri="{FF2B5EF4-FFF2-40B4-BE49-F238E27FC236}">
                  <a16:creationId xmlns:a16="http://schemas.microsoft.com/office/drawing/2014/main" id="{072AA70C-540D-FF58-234C-BB0041DFAC61}"/>
                </a:ext>
              </a:extLst>
            </p:cNvPr>
            <p:cNvSpPr>
              <a:spLocks noChangeArrowheads="1"/>
            </p:cNvSpPr>
            <p:nvPr/>
          </p:nvSpPr>
          <p:spPr bwMode="auto">
            <a:xfrm>
              <a:off x="5012" y="4028"/>
              <a:ext cx="521" cy="196"/>
            </a:xfrm>
            <a:prstGeom prst="rect">
              <a:avLst/>
            </a:prstGeom>
            <a:solidFill>
              <a:srgbClr val="FFFFFF"/>
            </a:solidFill>
            <a:ln w="25400">
              <a:solidFill>
                <a:srgbClr val="000000"/>
              </a:solidFill>
              <a:miter lim="800000"/>
              <a:headEnd/>
              <a:tailEnd/>
            </a:ln>
          </p:spPr>
          <p:txBody>
            <a:bodyPr lIns="54000" tIns="0" rIns="5400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设备8</a:t>
              </a:r>
            </a:p>
          </p:txBody>
        </p:sp>
        <p:sp>
          <p:nvSpPr>
            <p:cNvPr id="42002" name="Line 20">
              <a:extLst>
                <a:ext uri="{FF2B5EF4-FFF2-40B4-BE49-F238E27FC236}">
                  <a16:creationId xmlns:a16="http://schemas.microsoft.com/office/drawing/2014/main" id="{3D90462A-A992-3DDC-0BEC-A27C409C7FA5}"/>
                </a:ext>
              </a:extLst>
            </p:cNvPr>
            <p:cNvSpPr>
              <a:spLocks noChangeShapeType="1"/>
            </p:cNvSpPr>
            <p:nvPr/>
          </p:nvSpPr>
          <p:spPr bwMode="auto">
            <a:xfrm>
              <a:off x="1689" y="3060"/>
              <a:ext cx="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21">
              <a:extLst>
                <a:ext uri="{FF2B5EF4-FFF2-40B4-BE49-F238E27FC236}">
                  <a16:creationId xmlns:a16="http://schemas.microsoft.com/office/drawing/2014/main" id="{D6D8B20A-AA50-7EE2-AC49-F914D174FEB6}"/>
                </a:ext>
              </a:extLst>
            </p:cNvPr>
            <p:cNvSpPr>
              <a:spLocks noChangeShapeType="1"/>
            </p:cNvSpPr>
            <p:nvPr/>
          </p:nvSpPr>
          <p:spPr bwMode="auto">
            <a:xfrm>
              <a:off x="1689" y="3185"/>
              <a:ext cx="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2">
              <a:extLst>
                <a:ext uri="{FF2B5EF4-FFF2-40B4-BE49-F238E27FC236}">
                  <a16:creationId xmlns:a16="http://schemas.microsoft.com/office/drawing/2014/main" id="{9E179442-A420-14C6-F332-C55CE5AB636B}"/>
                </a:ext>
              </a:extLst>
            </p:cNvPr>
            <p:cNvSpPr>
              <a:spLocks noChangeShapeType="1"/>
            </p:cNvSpPr>
            <p:nvPr/>
          </p:nvSpPr>
          <p:spPr bwMode="auto">
            <a:xfrm>
              <a:off x="1860" y="3185"/>
              <a:ext cx="0" cy="5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23">
              <a:extLst>
                <a:ext uri="{FF2B5EF4-FFF2-40B4-BE49-F238E27FC236}">
                  <a16:creationId xmlns:a16="http://schemas.microsoft.com/office/drawing/2014/main" id="{0776D7E2-159B-1C4D-E924-A73E3F945885}"/>
                </a:ext>
              </a:extLst>
            </p:cNvPr>
            <p:cNvSpPr>
              <a:spLocks noChangeShapeType="1"/>
            </p:cNvSpPr>
            <p:nvPr/>
          </p:nvSpPr>
          <p:spPr bwMode="auto">
            <a:xfrm>
              <a:off x="1860" y="2561"/>
              <a:ext cx="0" cy="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24">
              <a:extLst>
                <a:ext uri="{FF2B5EF4-FFF2-40B4-BE49-F238E27FC236}">
                  <a16:creationId xmlns:a16="http://schemas.microsoft.com/office/drawing/2014/main" id="{077928EF-3141-C2BF-087E-CF1E8A8FBB33}"/>
                </a:ext>
              </a:extLst>
            </p:cNvPr>
            <p:cNvSpPr>
              <a:spLocks noChangeShapeType="1"/>
            </p:cNvSpPr>
            <p:nvPr/>
          </p:nvSpPr>
          <p:spPr bwMode="auto">
            <a:xfrm flipV="1">
              <a:off x="1860" y="3684"/>
              <a:ext cx="3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Line 25">
              <a:extLst>
                <a:ext uri="{FF2B5EF4-FFF2-40B4-BE49-F238E27FC236}">
                  <a16:creationId xmlns:a16="http://schemas.microsoft.com/office/drawing/2014/main" id="{3ADA80A8-FB4C-207F-E71B-A58BC070BF29}"/>
                </a:ext>
              </a:extLst>
            </p:cNvPr>
            <p:cNvSpPr>
              <a:spLocks noChangeShapeType="1"/>
            </p:cNvSpPr>
            <p:nvPr/>
          </p:nvSpPr>
          <p:spPr bwMode="auto">
            <a:xfrm flipV="1">
              <a:off x="1860" y="2550"/>
              <a:ext cx="3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8" name="Line 26">
              <a:extLst>
                <a:ext uri="{FF2B5EF4-FFF2-40B4-BE49-F238E27FC236}">
                  <a16:creationId xmlns:a16="http://schemas.microsoft.com/office/drawing/2014/main" id="{7828D029-7127-97EE-6916-C0951F44251F}"/>
                </a:ext>
              </a:extLst>
            </p:cNvPr>
            <p:cNvSpPr>
              <a:spLocks noChangeShapeType="1"/>
            </p:cNvSpPr>
            <p:nvPr/>
          </p:nvSpPr>
          <p:spPr bwMode="auto">
            <a:xfrm>
              <a:off x="2900" y="2477"/>
              <a:ext cx="4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9" name="Line 27">
              <a:extLst>
                <a:ext uri="{FF2B5EF4-FFF2-40B4-BE49-F238E27FC236}">
                  <a16:creationId xmlns:a16="http://schemas.microsoft.com/office/drawing/2014/main" id="{BDFBFBF3-4928-9FB7-A99C-B98A3C382343}"/>
                </a:ext>
              </a:extLst>
            </p:cNvPr>
            <p:cNvSpPr>
              <a:spLocks noChangeShapeType="1"/>
            </p:cNvSpPr>
            <p:nvPr/>
          </p:nvSpPr>
          <p:spPr bwMode="auto">
            <a:xfrm>
              <a:off x="2900" y="2602"/>
              <a:ext cx="4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0" name="Line 28">
              <a:extLst>
                <a:ext uri="{FF2B5EF4-FFF2-40B4-BE49-F238E27FC236}">
                  <a16:creationId xmlns:a16="http://schemas.microsoft.com/office/drawing/2014/main" id="{8641455B-BA0E-1FC1-2C44-3494C9DD23A7}"/>
                </a:ext>
              </a:extLst>
            </p:cNvPr>
            <p:cNvSpPr>
              <a:spLocks noChangeShapeType="1"/>
            </p:cNvSpPr>
            <p:nvPr/>
          </p:nvSpPr>
          <p:spPr bwMode="auto">
            <a:xfrm>
              <a:off x="2900" y="3622"/>
              <a:ext cx="4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1" name="Line 29">
              <a:extLst>
                <a:ext uri="{FF2B5EF4-FFF2-40B4-BE49-F238E27FC236}">
                  <a16:creationId xmlns:a16="http://schemas.microsoft.com/office/drawing/2014/main" id="{3D5AA805-D2E6-5DD1-3838-969C05BF3810}"/>
                </a:ext>
              </a:extLst>
            </p:cNvPr>
            <p:cNvSpPr>
              <a:spLocks noChangeShapeType="1"/>
            </p:cNvSpPr>
            <p:nvPr/>
          </p:nvSpPr>
          <p:spPr bwMode="auto">
            <a:xfrm>
              <a:off x="2900" y="3736"/>
              <a:ext cx="4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2" name="Line 30">
              <a:extLst>
                <a:ext uri="{FF2B5EF4-FFF2-40B4-BE49-F238E27FC236}">
                  <a16:creationId xmlns:a16="http://schemas.microsoft.com/office/drawing/2014/main" id="{3D58870D-D4E0-04A6-F2EF-05299547E31E}"/>
                </a:ext>
              </a:extLst>
            </p:cNvPr>
            <p:cNvSpPr>
              <a:spLocks noChangeShapeType="1"/>
            </p:cNvSpPr>
            <p:nvPr/>
          </p:nvSpPr>
          <p:spPr bwMode="auto">
            <a:xfrm flipH="1">
              <a:off x="3318" y="2311"/>
              <a:ext cx="0" cy="1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3" name="Line 31">
              <a:extLst>
                <a:ext uri="{FF2B5EF4-FFF2-40B4-BE49-F238E27FC236}">
                  <a16:creationId xmlns:a16="http://schemas.microsoft.com/office/drawing/2014/main" id="{784FBF1A-FF31-D9B5-FCA9-D00072C14102}"/>
                </a:ext>
              </a:extLst>
            </p:cNvPr>
            <p:cNvSpPr>
              <a:spLocks noChangeShapeType="1"/>
            </p:cNvSpPr>
            <p:nvPr/>
          </p:nvSpPr>
          <p:spPr bwMode="auto">
            <a:xfrm flipH="1">
              <a:off x="3318" y="2613"/>
              <a:ext cx="0" cy="1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4" name="Line 32">
              <a:extLst>
                <a:ext uri="{FF2B5EF4-FFF2-40B4-BE49-F238E27FC236}">
                  <a16:creationId xmlns:a16="http://schemas.microsoft.com/office/drawing/2014/main" id="{1B56756E-782B-E20D-A598-621396370A39}"/>
                </a:ext>
              </a:extLst>
            </p:cNvPr>
            <p:cNvSpPr>
              <a:spLocks noChangeShapeType="1"/>
            </p:cNvSpPr>
            <p:nvPr/>
          </p:nvSpPr>
          <p:spPr bwMode="auto">
            <a:xfrm flipH="1">
              <a:off x="3318" y="3445"/>
              <a:ext cx="0" cy="1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5" name="Line 33">
              <a:extLst>
                <a:ext uri="{FF2B5EF4-FFF2-40B4-BE49-F238E27FC236}">
                  <a16:creationId xmlns:a16="http://schemas.microsoft.com/office/drawing/2014/main" id="{E14715E8-4E9B-5467-4692-1D5409FC9DF0}"/>
                </a:ext>
              </a:extLst>
            </p:cNvPr>
            <p:cNvSpPr>
              <a:spLocks noChangeShapeType="1"/>
            </p:cNvSpPr>
            <p:nvPr/>
          </p:nvSpPr>
          <p:spPr bwMode="auto">
            <a:xfrm flipH="1">
              <a:off x="3318" y="3736"/>
              <a:ext cx="0" cy="1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6" name="Line 34">
              <a:extLst>
                <a:ext uri="{FF2B5EF4-FFF2-40B4-BE49-F238E27FC236}">
                  <a16:creationId xmlns:a16="http://schemas.microsoft.com/office/drawing/2014/main" id="{BF385D79-5368-B286-FB75-97731C2CF82F}"/>
                </a:ext>
              </a:extLst>
            </p:cNvPr>
            <p:cNvSpPr>
              <a:spLocks noChangeShapeType="1"/>
            </p:cNvSpPr>
            <p:nvPr/>
          </p:nvSpPr>
          <p:spPr bwMode="auto">
            <a:xfrm flipV="1">
              <a:off x="3318" y="2300"/>
              <a:ext cx="2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7" name="Line 35">
              <a:extLst>
                <a:ext uri="{FF2B5EF4-FFF2-40B4-BE49-F238E27FC236}">
                  <a16:creationId xmlns:a16="http://schemas.microsoft.com/office/drawing/2014/main" id="{BD9F4946-E0CC-E2D2-C421-48A4538B2020}"/>
                </a:ext>
              </a:extLst>
            </p:cNvPr>
            <p:cNvSpPr>
              <a:spLocks noChangeShapeType="1"/>
            </p:cNvSpPr>
            <p:nvPr/>
          </p:nvSpPr>
          <p:spPr bwMode="auto">
            <a:xfrm flipV="1">
              <a:off x="3318" y="2779"/>
              <a:ext cx="2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8" name="Line 36">
              <a:extLst>
                <a:ext uri="{FF2B5EF4-FFF2-40B4-BE49-F238E27FC236}">
                  <a16:creationId xmlns:a16="http://schemas.microsoft.com/office/drawing/2014/main" id="{207CC81E-F0E6-A033-1706-EA8922A0EB23}"/>
                </a:ext>
              </a:extLst>
            </p:cNvPr>
            <p:cNvSpPr>
              <a:spLocks noChangeShapeType="1"/>
            </p:cNvSpPr>
            <p:nvPr/>
          </p:nvSpPr>
          <p:spPr bwMode="auto">
            <a:xfrm flipV="1">
              <a:off x="3318" y="3445"/>
              <a:ext cx="2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9" name="Line 37">
              <a:extLst>
                <a:ext uri="{FF2B5EF4-FFF2-40B4-BE49-F238E27FC236}">
                  <a16:creationId xmlns:a16="http://schemas.microsoft.com/office/drawing/2014/main" id="{5D937C20-0211-B7E0-05FE-74319BB300C8}"/>
                </a:ext>
              </a:extLst>
            </p:cNvPr>
            <p:cNvSpPr>
              <a:spLocks noChangeShapeType="1"/>
            </p:cNvSpPr>
            <p:nvPr/>
          </p:nvSpPr>
          <p:spPr bwMode="auto">
            <a:xfrm flipV="1">
              <a:off x="3318" y="3913"/>
              <a:ext cx="2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0" name="Line 38">
              <a:extLst>
                <a:ext uri="{FF2B5EF4-FFF2-40B4-BE49-F238E27FC236}">
                  <a16:creationId xmlns:a16="http://schemas.microsoft.com/office/drawing/2014/main" id="{D35E18DD-FBF3-C429-47C9-8FCAC35E9006}"/>
                </a:ext>
              </a:extLst>
            </p:cNvPr>
            <p:cNvSpPr>
              <a:spLocks noChangeShapeType="1"/>
            </p:cNvSpPr>
            <p:nvPr/>
          </p:nvSpPr>
          <p:spPr bwMode="auto">
            <a:xfrm>
              <a:off x="4326" y="2352"/>
              <a:ext cx="6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1" name="Line 39">
              <a:extLst>
                <a:ext uri="{FF2B5EF4-FFF2-40B4-BE49-F238E27FC236}">
                  <a16:creationId xmlns:a16="http://schemas.microsoft.com/office/drawing/2014/main" id="{4D3B9FEB-3802-C59B-7173-1C16E431EE52}"/>
                </a:ext>
              </a:extLst>
            </p:cNvPr>
            <p:cNvSpPr>
              <a:spLocks noChangeShapeType="1"/>
            </p:cNvSpPr>
            <p:nvPr/>
          </p:nvSpPr>
          <p:spPr bwMode="auto">
            <a:xfrm>
              <a:off x="4337" y="2238"/>
              <a:ext cx="3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2" name="Line 40">
              <a:extLst>
                <a:ext uri="{FF2B5EF4-FFF2-40B4-BE49-F238E27FC236}">
                  <a16:creationId xmlns:a16="http://schemas.microsoft.com/office/drawing/2014/main" id="{138E53B8-B5EC-30A0-C766-71BEFE1904D1}"/>
                </a:ext>
              </a:extLst>
            </p:cNvPr>
            <p:cNvSpPr>
              <a:spLocks noChangeShapeType="1"/>
            </p:cNvSpPr>
            <p:nvPr/>
          </p:nvSpPr>
          <p:spPr bwMode="auto">
            <a:xfrm>
              <a:off x="4326" y="2852"/>
              <a:ext cx="6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3" name="Line 41">
              <a:extLst>
                <a:ext uri="{FF2B5EF4-FFF2-40B4-BE49-F238E27FC236}">
                  <a16:creationId xmlns:a16="http://schemas.microsoft.com/office/drawing/2014/main" id="{A2A4DD1D-BB59-350F-B989-8749416E9B69}"/>
                </a:ext>
              </a:extLst>
            </p:cNvPr>
            <p:cNvSpPr>
              <a:spLocks noChangeShapeType="1"/>
            </p:cNvSpPr>
            <p:nvPr/>
          </p:nvSpPr>
          <p:spPr bwMode="auto">
            <a:xfrm>
              <a:off x="4326" y="3539"/>
              <a:ext cx="6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4" name="Line 42">
              <a:extLst>
                <a:ext uri="{FF2B5EF4-FFF2-40B4-BE49-F238E27FC236}">
                  <a16:creationId xmlns:a16="http://schemas.microsoft.com/office/drawing/2014/main" id="{C5C2ADAC-DFB3-24C7-DBB6-7F8FB9B5F955}"/>
                </a:ext>
              </a:extLst>
            </p:cNvPr>
            <p:cNvSpPr>
              <a:spLocks noChangeShapeType="1"/>
            </p:cNvSpPr>
            <p:nvPr/>
          </p:nvSpPr>
          <p:spPr bwMode="auto">
            <a:xfrm>
              <a:off x="4326" y="3861"/>
              <a:ext cx="6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5" name="Line 43">
              <a:extLst>
                <a:ext uri="{FF2B5EF4-FFF2-40B4-BE49-F238E27FC236}">
                  <a16:creationId xmlns:a16="http://schemas.microsoft.com/office/drawing/2014/main" id="{F2F5E3D6-8D3E-9EE6-5537-6A53D3A6152F}"/>
                </a:ext>
              </a:extLst>
            </p:cNvPr>
            <p:cNvSpPr>
              <a:spLocks noChangeShapeType="1"/>
            </p:cNvSpPr>
            <p:nvPr/>
          </p:nvSpPr>
          <p:spPr bwMode="auto">
            <a:xfrm>
              <a:off x="4337" y="3393"/>
              <a:ext cx="3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6" name="Line 44">
              <a:extLst>
                <a:ext uri="{FF2B5EF4-FFF2-40B4-BE49-F238E27FC236}">
                  <a16:creationId xmlns:a16="http://schemas.microsoft.com/office/drawing/2014/main" id="{466568D6-4C2B-8623-1BBE-194DA09EB08C}"/>
                </a:ext>
              </a:extLst>
            </p:cNvPr>
            <p:cNvSpPr>
              <a:spLocks noChangeShapeType="1"/>
            </p:cNvSpPr>
            <p:nvPr/>
          </p:nvSpPr>
          <p:spPr bwMode="auto">
            <a:xfrm>
              <a:off x="4337" y="3996"/>
              <a:ext cx="3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7" name="Line 45">
              <a:extLst>
                <a:ext uri="{FF2B5EF4-FFF2-40B4-BE49-F238E27FC236}">
                  <a16:creationId xmlns:a16="http://schemas.microsoft.com/office/drawing/2014/main" id="{B93000E6-2484-3BDC-B075-FA57F5AC6293}"/>
                </a:ext>
              </a:extLst>
            </p:cNvPr>
            <p:cNvSpPr>
              <a:spLocks noChangeShapeType="1"/>
            </p:cNvSpPr>
            <p:nvPr/>
          </p:nvSpPr>
          <p:spPr bwMode="auto">
            <a:xfrm>
              <a:off x="4326" y="2727"/>
              <a:ext cx="3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8" name="Line 46">
              <a:extLst>
                <a:ext uri="{FF2B5EF4-FFF2-40B4-BE49-F238E27FC236}">
                  <a16:creationId xmlns:a16="http://schemas.microsoft.com/office/drawing/2014/main" id="{89D9D443-7C7F-79F0-6B8E-325996AD90A0}"/>
                </a:ext>
              </a:extLst>
            </p:cNvPr>
            <p:cNvSpPr>
              <a:spLocks noChangeShapeType="1"/>
            </p:cNvSpPr>
            <p:nvPr/>
          </p:nvSpPr>
          <p:spPr bwMode="auto">
            <a:xfrm>
              <a:off x="4658" y="2051"/>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9" name="Line 47">
              <a:extLst>
                <a:ext uri="{FF2B5EF4-FFF2-40B4-BE49-F238E27FC236}">
                  <a16:creationId xmlns:a16="http://schemas.microsoft.com/office/drawing/2014/main" id="{051879F9-A1A9-46B3-77ED-C9C5D061BABC}"/>
                </a:ext>
              </a:extLst>
            </p:cNvPr>
            <p:cNvSpPr>
              <a:spLocks noChangeShapeType="1"/>
            </p:cNvSpPr>
            <p:nvPr/>
          </p:nvSpPr>
          <p:spPr bwMode="auto">
            <a:xfrm>
              <a:off x="4647" y="2592"/>
              <a:ext cx="0" cy="1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0" name="Line 48">
              <a:extLst>
                <a:ext uri="{FF2B5EF4-FFF2-40B4-BE49-F238E27FC236}">
                  <a16:creationId xmlns:a16="http://schemas.microsoft.com/office/drawing/2014/main" id="{4A1865CB-FE64-E961-AEB3-0E49DD2FAB81}"/>
                </a:ext>
              </a:extLst>
            </p:cNvPr>
            <p:cNvSpPr>
              <a:spLocks noChangeShapeType="1"/>
            </p:cNvSpPr>
            <p:nvPr/>
          </p:nvSpPr>
          <p:spPr bwMode="auto">
            <a:xfrm>
              <a:off x="4658" y="3247"/>
              <a:ext cx="0" cy="1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1" name="Line 49">
              <a:extLst>
                <a:ext uri="{FF2B5EF4-FFF2-40B4-BE49-F238E27FC236}">
                  <a16:creationId xmlns:a16="http://schemas.microsoft.com/office/drawing/2014/main" id="{DF45C8CB-C5E7-74E9-E645-A4B99B1D95E9}"/>
                </a:ext>
              </a:extLst>
            </p:cNvPr>
            <p:cNvSpPr>
              <a:spLocks noChangeShapeType="1"/>
            </p:cNvSpPr>
            <p:nvPr/>
          </p:nvSpPr>
          <p:spPr bwMode="auto">
            <a:xfrm flipH="1">
              <a:off x="4658" y="3996"/>
              <a:ext cx="0" cy="1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2" name="Line 50">
              <a:extLst>
                <a:ext uri="{FF2B5EF4-FFF2-40B4-BE49-F238E27FC236}">
                  <a16:creationId xmlns:a16="http://schemas.microsoft.com/office/drawing/2014/main" id="{8B368423-0E14-72D6-1137-9A8D335ECD10}"/>
                </a:ext>
              </a:extLst>
            </p:cNvPr>
            <p:cNvSpPr>
              <a:spLocks noChangeShapeType="1"/>
            </p:cNvSpPr>
            <p:nvPr/>
          </p:nvSpPr>
          <p:spPr bwMode="auto">
            <a:xfrm flipV="1">
              <a:off x="4658" y="2051"/>
              <a:ext cx="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3" name="Line 51">
              <a:extLst>
                <a:ext uri="{FF2B5EF4-FFF2-40B4-BE49-F238E27FC236}">
                  <a16:creationId xmlns:a16="http://schemas.microsoft.com/office/drawing/2014/main" id="{403ACE32-9AEE-2F27-D151-F22B1EB27CC0}"/>
                </a:ext>
              </a:extLst>
            </p:cNvPr>
            <p:cNvSpPr>
              <a:spLocks noChangeShapeType="1"/>
            </p:cNvSpPr>
            <p:nvPr/>
          </p:nvSpPr>
          <p:spPr bwMode="auto">
            <a:xfrm flipV="1">
              <a:off x="4658" y="2592"/>
              <a:ext cx="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4" name="Line 52">
              <a:extLst>
                <a:ext uri="{FF2B5EF4-FFF2-40B4-BE49-F238E27FC236}">
                  <a16:creationId xmlns:a16="http://schemas.microsoft.com/office/drawing/2014/main" id="{C464BF47-DDFF-22BF-7C8C-6342BBC9EFB1}"/>
                </a:ext>
              </a:extLst>
            </p:cNvPr>
            <p:cNvSpPr>
              <a:spLocks noChangeShapeType="1"/>
            </p:cNvSpPr>
            <p:nvPr/>
          </p:nvSpPr>
          <p:spPr bwMode="auto">
            <a:xfrm flipV="1">
              <a:off x="4669" y="3247"/>
              <a:ext cx="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5" name="Line 53">
              <a:extLst>
                <a:ext uri="{FF2B5EF4-FFF2-40B4-BE49-F238E27FC236}">
                  <a16:creationId xmlns:a16="http://schemas.microsoft.com/office/drawing/2014/main" id="{0EFE4A12-A66F-E805-C908-0578FB6EDD00}"/>
                </a:ext>
              </a:extLst>
            </p:cNvPr>
            <p:cNvSpPr>
              <a:spLocks noChangeShapeType="1"/>
            </p:cNvSpPr>
            <p:nvPr/>
          </p:nvSpPr>
          <p:spPr bwMode="auto">
            <a:xfrm flipV="1">
              <a:off x="5173" y="2519"/>
              <a:ext cx="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6" name="Line 54">
              <a:extLst>
                <a:ext uri="{FF2B5EF4-FFF2-40B4-BE49-F238E27FC236}">
                  <a16:creationId xmlns:a16="http://schemas.microsoft.com/office/drawing/2014/main" id="{E7DE1DF2-CCE5-DE72-A900-AAE096F587E4}"/>
                </a:ext>
              </a:extLst>
            </p:cNvPr>
            <p:cNvSpPr>
              <a:spLocks noChangeShapeType="1"/>
            </p:cNvSpPr>
            <p:nvPr/>
          </p:nvSpPr>
          <p:spPr bwMode="auto">
            <a:xfrm flipV="1">
              <a:off x="4669" y="4163"/>
              <a:ext cx="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2EBCA0FC-FC33-D084-065F-4E01FD4A9C01}"/>
              </a:ext>
            </a:extLst>
          </p:cNvPr>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CC7F4E6C-2621-C7F1-F351-6E468038BD10}"/>
              </a:ext>
            </a:extLst>
          </p:cNvPr>
          <p:cNvSpPr>
            <a:spLocks noGrp="1" noChangeArrowheads="1"/>
          </p:cNvSpPr>
          <p:nvPr>
            <p:ph type="title"/>
          </p:nvPr>
        </p:nvSpPr>
        <p:spPr>
          <a:xfrm>
            <a:off x="1042988" y="225431"/>
            <a:ext cx="7850187" cy="746125"/>
          </a:xfrm>
        </p:spPr>
        <p:txBody>
          <a:bodyPr/>
          <a:lstStyle/>
          <a:p>
            <a:r>
              <a:rPr lang="zh-CN" altLang="en-US"/>
              <a:t>多通路</a:t>
            </a:r>
            <a:r>
              <a:rPr lang="en-US" altLang="zh-CN"/>
              <a:t>I/O</a:t>
            </a:r>
            <a:r>
              <a:rPr lang="zh-CN" altLang="en-US"/>
              <a:t>系统</a:t>
            </a:r>
            <a:endParaRPr lang="en-US" altLang="zh-CN"/>
          </a:p>
        </p:txBody>
      </p:sp>
      <p:sp>
        <p:nvSpPr>
          <p:cNvPr id="112643" name="Rectangle 3">
            <a:extLst>
              <a:ext uri="{FF2B5EF4-FFF2-40B4-BE49-F238E27FC236}">
                <a16:creationId xmlns:a16="http://schemas.microsoft.com/office/drawing/2014/main" id="{09B17BEF-D05F-EBBA-C590-8F009E97F97F}"/>
              </a:ext>
            </a:extLst>
          </p:cNvPr>
          <p:cNvSpPr>
            <a:spLocks noGrp="1" noChangeArrowheads="1"/>
          </p:cNvSpPr>
          <p:nvPr>
            <p:ph idx="1"/>
          </p:nvPr>
        </p:nvSpPr>
        <p:spPr>
          <a:xfrm>
            <a:off x="935038" y="1233488"/>
            <a:ext cx="7772400" cy="4895850"/>
          </a:xfrm>
        </p:spPr>
        <p:txBody>
          <a:bodyPr/>
          <a:lstStyle/>
          <a:p>
            <a:r>
              <a:rPr lang="zh-CN" altLang="en-US"/>
              <a:t>因通道价格较贵，使系统内设置的通道少，这样通道往往成为</a:t>
            </a:r>
            <a:r>
              <a:rPr lang="en-US" altLang="zh-CN"/>
              <a:t>I/O</a:t>
            </a:r>
            <a:r>
              <a:rPr lang="zh-CN" altLang="en-US"/>
              <a:t>的瓶颈。</a:t>
            </a:r>
          </a:p>
          <a:p>
            <a:r>
              <a:rPr lang="zh-CN" altLang="en-US"/>
              <a:t>解决瓶颈问题的办法是采用多通路配置方案。</a:t>
            </a:r>
          </a:p>
        </p:txBody>
      </p:sp>
      <p:sp>
        <p:nvSpPr>
          <p:cNvPr id="4" name="灯片编号占位符 3">
            <a:extLst>
              <a:ext uri="{FF2B5EF4-FFF2-40B4-BE49-F238E27FC236}">
                <a16:creationId xmlns:a16="http://schemas.microsoft.com/office/drawing/2014/main" id="{B2DA6E8A-979E-FF00-3788-03DC64F878D3}"/>
              </a:ext>
            </a:extLst>
          </p:cNvPr>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checkerboard(across)">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2643">
                                            <p:txEl>
                                              <p:pRg st="1" end="1"/>
                                            </p:txEl>
                                          </p:spTgt>
                                        </p:tgtEl>
                                        <p:attrNameLst>
                                          <p:attrName>style.visibility</p:attrName>
                                        </p:attrNameLst>
                                      </p:cBhvr>
                                      <p:to>
                                        <p:strVal val="visible"/>
                                      </p:to>
                                    </p:set>
                                    <p:animEffect transition="in" filter="checkerboard(across)">
                                      <p:cBhvr>
                                        <p:cTn id="12" dur="500"/>
                                        <p:tgtEl>
                                          <p:spTgt spid="1126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9B4E61D-2DA9-7E8D-740B-892EC627D144}"/>
              </a:ext>
            </a:extLst>
          </p:cNvPr>
          <p:cNvSpPr>
            <a:spLocks noGrp="1" noChangeArrowheads="1"/>
          </p:cNvSpPr>
          <p:nvPr>
            <p:ph type="title"/>
          </p:nvPr>
        </p:nvSpPr>
        <p:spPr>
          <a:xfrm>
            <a:off x="1042988" y="225431"/>
            <a:ext cx="7850187" cy="746125"/>
          </a:xfrm>
        </p:spPr>
        <p:txBody>
          <a:bodyPr/>
          <a:lstStyle/>
          <a:p>
            <a:r>
              <a:rPr lang="zh-CN" altLang="en-US"/>
              <a:t>多通路</a:t>
            </a:r>
            <a:r>
              <a:rPr lang="en-US" altLang="zh-CN"/>
              <a:t>I/O</a:t>
            </a:r>
            <a:r>
              <a:rPr lang="zh-CN" altLang="en-US"/>
              <a:t>系统示意图</a:t>
            </a:r>
            <a:endParaRPr lang="en-US" altLang="zh-CN"/>
          </a:p>
        </p:txBody>
      </p:sp>
      <p:sp>
        <p:nvSpPr>
          <p:cNvPr id="3" name="内容占位符 2">
            <a:extLst>
              <a:ext uri="{FF2B5EF4-FFF2-40B4-BE49-F238E27FC236}">
                <a16:creationId xmlns:a16="http://schemas.microsoft.com/office/drawing/2014/main" id="{7D9F5FFE-A292-B0B6-B400-645F5AF718B8}"/>
              </a:ext>
            </a:extLst>
          </p:cNvPr>
          <p:cNvSpPr>
            <a:spLocks noGrp="1"/>
          </p:cNvSpPr>
          <p:nvPr>
            <p:ph idx="1"/>
          </p:nvPr>
        </p:nvSpPr>
        <p:spPr/>
        <p:txBody>
          <a:bodyPr/>
          <a:lstStyle/>
          <a:p>
            <a:endParaRPr lang="zh-CN" altLang="en-US"/>
          </a:p>
        </p:txBody>
      </p:sp>
      <p:grpSp>
        <p:nvGrpSpPr>
          <p:cNvPr id="44034" name="Group 4">
            <a:extLst>
              <a:ext uri="{FF2B5EF4-FFF2-40B4-BE49-F238E27FC236}">
                <a16:creationId xmlns:a16="http://schemas.microsoft.com/office/drawing/2014/main" id="{60C880FC-EC18-744D-1EAA-10C716D25FDA}"/>
              </a:ext>
            </a:extLst>
          </p:cNvPr>
          <p:cNvGrpSpPr>
            <a:grpSpLocks/>
          </p:cNvGrpSpPr>
          <p:nvPr/>
        </p:nvGrpSpPr>
        <p:grpSpPr bwMode="auto">
          <a:xfrm>
            <a:off x="533400" y="1676400"/>
            <a:ext cx="7696200" cy="3352800"/>
            <a:chOff x="336" y="1872"/>
            <a:chExt cx="4848" cy="2112"/>
          </a:xfrm>
        </p:grpSpPr>
        <p:sp>
          <p:nvSpPr>
            <p:cNvPr id="44035" name="Line 5">
              <a:extLst>
                <a:ext uri="{FF2B5EF4-FFF2-40B4-BE49-F238E27FC236}">
                  <a16:creationId xmlns:a16="http://schemas.microsoft.com/office/drawing/2014/main" id="{73220574-2D1E-D2E6-C441-29557B9FCBFB}"/>
                </a:ext>
              </a:extLst>
            </p:cNvPr>
            <p:cNvSpPr>
              <a:spLocks noChangeShapeType="1"/>
            </p:cNvSpPr>
            <p:nvPr/>
          </p:nvSpPr>
          <p:spPr bwMode="auto">
            <a:xfrm flipV="1">
              <a:off x="3785" y="2411"/>
              <a:ext cx="2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6" name="Rectangle 6">
              <a:extLst>
                <a:ext uri="{FF2B5EF4-FFF2-40B4-BE49-F238E27FC236}">
                  <a16:creationId xmlns:a16="http://schemas.microsoft.com/office/drawing/2014/main" id="{10C05837-A41C-F99C-5BD7-EC2EC03E8075}"/>
                </a:ext>
              </a:extLst>
            </p:cNvPr>
            <p:cNvSpPr>
              <a:spLocks noChangeArrowheads="1"/>
            </p:cNvSpPr>
            <p:nvPr/>
          </p:nvSpPr>
          <p:spPr bwMode="auto">
            <a:xfrm>
              <a:off x="336" y="2924"/>
              <a:ext cx="679" cy="281"/>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存储器</a:t>
              </a:r>
            </a:p>
          </p:txBody>
        </p:sp>
        <p:sp>
          <p:nvSpPr>
            <p:cNvPr id="44037" name="Rectangle 7">
              <a:extLst>
                <a:ext uri="{FF2B5EF4-FFF2-40B4-BE49-F238E27FC236}">
                  <a16:creationId xmlns:a16="http://schemas.microsoft.com/office/drawing/2014/main" id="{450E9D08-9027-9123-A28D-FBAE0CDD0FA0}"/>
                </a:ext>
              </a:extLst>
            </p:cNvPr>
            <p:cNvSpPr>
              <a:spLocks noChangeArrowheads="1"/>
            </p:cNvSpPr>
            <p:nvPr/>
          </p:nvSpPr>
          <p:spPr bwMode="auto">
            <a:xfrm>
              <a:off x="1617" y="2330"/>
              <a:ext cx="679" cy="281"/>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通道1</a:t>
              </a:r>
            </a:p>
          </p:txBody>
        </p:sp>
        <p:sp>
          <p:nvSpPr>
            <p:cNvPr id="44038" name="Rectangle 8">
              <a:extLst>
                <a:ext uri="{FF2B5EF4-FFF2-40B4-BE49-F238E27FC236}">
                  <a16:creationId xmlns:a16="http://schemas.microsoft.com/office/drawing/2014/main" id="{57683FC7-5F7B-CD00-7C35-8CFF81644780}"/>
                </a:ext>
              </a:extLst>
            </p:cNvPr>
            <p:cNvSpPr>
              <a:spLocks noChangeArrowheads="1"/>
            </p:cNvSpPr>
            <p:nvPr/>
          </p:nvSpPr>
          <p:spPr bwMode="auto">
            <a:xfrm>
              <a:off x="1617" y="3489"/>
              <a:ext cx="679" cy="283"/>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通道2</a:t>
              </a:r>
            </a:p>
          </p:txBody>
        </p:sp>
        <p:sp>
          <p:nvSpPr>
            <p:cNvPr id="44039" name="Rectangle 9">
              <a:extLst>
                <a:ext uri="{FF2B5EF4-FFF2-40B4-BE49-F238E27FC236}">
                  <a16:creationId xmlns:a16="http://schemas.microsoft.com/office/drawing/2014/main" id="{F5B47447-3563-822F-8EA5-1B5D52EDC784}"/>
                </a:ext>
              </a:extLst>
            </p:cNvPr>
            <p:cNvSpPr>
              <a:spLocks noChangeArrowheads="1"/>
            </p:cNvSpPr>
            <p:nvPr/>
          </p:nvSpPr>
          <p:spPr bwMode="auto">
            <a:xfrm>
              <a:off x="3021" y="3489"/>
              <a:ext cx="764" cy="283"/>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控制器2</a:t>
              </a:r>
            </a:p>
          </p:txBody>
        </p:sp>
        <p:sp>
          <p:nvSpPr>
            <p:cNvPr id="44040" name="Rectangle 10">
              <a:extLst>
                <a:ext uri="{FF2B5EF4-FFF2-40B4-BE49-F238E27FC236}">
                  <a16:creationId xmlns:a16="http://schemas.microsoft.com/office/drawing/2014/main" id="{424C51A6-B736-BFB6-5097-2377D5DFE438}"/>
                </a:ext>
              </a:extLst>
            </p:cNvPr>
            <p:cNvSpPr>
              <a:spLocks noChangeArrowheads="1"/>
            </p:cNvSpPr>
            <p:nvPr/>
          </p:nvSpPr>
          <p:spPr bwMode="auto">
            <a:xfrm>
              <a:off x="3021" y="2330"/>
              <a:ext cx="764" cy="281"/>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控制器1</a:t>
              </a:r>
            </a:p>
          </p:txBody>
        </p:sp>
        <p:sp>
          <p:nvSpPr>
            <p:cNvPr id="44041" name="Rectangle 11">
              <a:extLst>
                <a:ext uri="{FF2B5EF4-FFF2-40B4-BE49-F238E27FC236}">
                  <a16:creationId xmlns:a16="http://schemas.microsoft.com/office/drawing/2014/main" id="{09CD7312-49A6-6DB6-D7DA-0493236F1380}"/>
                </a:ext>
              </a:extLst>
            </p:cNvPr>
            <p:cNvSpPr>
              <a:spLocks noChangeArrowheads="1"/>
            </p:cNvSpPr>
            <p:nvPr/>
          </p:nvSpPr>
          <p:spPr bwMode="auto">
            <a:xfrm>
              <a:off x="4505" y="1872"/>
              <a:ext cx="679" cy="282"/>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设备1</a:t>
              </a:r>
            </a:p>
          </p:txBody>
        </p:sp>
        <p:sp>
          <p:nvSpPr>
            <p:cNvPr id="44042" name="Rectangle 12">
              <a:extLst>
                <a:ext uri="{FF2B5EF4-FFF2-40B4-BE49-F238E27FC236}">
                  <a16:creationId xmlns:a16="http://schemas.microsoft.com/office/drawing/2014/main" id="{4D4515D6-3602-51B3-9E3C-06BFF831DA3E}"/>
                </a:ext>
              </a:extLst>
            </p:cNvPr>
            <p:cNvSpPr>
              <a:spLocks noChangeArrowheads="1"/>
            </p:cNvSpPr>
            <p:nvPr/>
          </p:nvSpPr>
          <p:spPr bwMode="auto">
            <a:xfrm>
              <a:off x="4505" y="2446"/>
              <a:ext cx="679" cy="282"/>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设备3</a:t>
              </a:r>
            </a:p>
          </p:txBody>
        </p:sp>
        <p:sp>
          <p:nvSpPr>
            <p:cNvPr id="44043" name="Rectangle 13">
              <a:extLst>
                <a:ext uri="{FF2B5EF4-FFF2-40B4-BE49-F238E27FC236}">
                  <a16:creationId xmlns:a16="http://schemas.microsoft.com/office/drawing/2014/main" id="{DA92F86F-5C2C-62BA-6036-772D56EC9A98}"/>
                </a:ext>
              </a:extLst>
            </p:cNvPr>
            <p:cNvSpPr>
              <a:spLocks noChangeArrowheads="1"/>
            </p:cNvSpPr>
            <p:nvPr/>
          </p:nvSpPr>
          <p:spPr bwMode="auto">
            <a:xfrm>
              <a:off x="4505" y="3117"/>
              <a:ext cx="679" cy="282"/>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设备5</a:t>
              </a:r>
            </a:p>
          </p:txBody>
        </p:sp>
        <p:sp>
          <p:nvSpPr>
            <p:cNvPr id="44044" name="Rectangle 14">
              <a:extLst>
                <a:ext uri="{FF2B5EF4-FFF2-40B4-BE49-F238E27FC236}">
                  <a16:creationId xmlns:a16="http://schemas.microsoft.com/office/drawing/2014/main" id="{EDFC7EAD-B8F5-77D3-6A08-5ABF5095D96A}"/>
                </a:ext>
              </a:extLst>
            </p:cNvPr>
            <p:cNvSpPr>
              <a:spLocks noChangeArrowheads="1"/>
            </p:cNvSpPr>
            <p:nvPr/>
          </p:nvSpPr>
          <p:spPr bwMode="auto">
            <a:xfrm>
              <a:off x="4505" y="3702"/>
              <a:ext cx="679" cy="282"/>
            </a:xfrm>
            <a:prstGeom prst="rect">
              <a:avLst/>
            </a:prstGeom>
            <a:solidFill>
              <a:srgbClr val="FFFFFF"/>
            </a:solidFill>
            <a:ln w="28575">
              <a:solidFill>
                <a:srgbClr val="000000"/>
              </a:solidFill>
              <a:miter lim="800000"/>
              <a:headEnd/>
              <a:tailEnd/>
            </a:ln>
          </p:spPr>
          <p:txBody>
            <a:bodyPr lIns="108000" tIns="72000" rIns="18000" bIns="36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b="1">
                  <a:latin typeface="Times New Roman" panose="02020603050405020304" pitchFamily="18" charset="0"/>
                </a:rPr>
                <a:t>设备7</a:t>
              </a:r>
            </a:p>
          </p:txBody>
        </p:sp>
        <p:sp>
          <p:nvSpPr>
            <p:cNvPr id="44045" name="Line 15">
              <a:extLst>
                <a:ext uri="{FF2B5EF4-FFF2-40B4-BE49-F238E27FC236}">
                  <a16:creationId xmlns:a16="http://schemas.microsoft.com/office/drawing/2014/main" id="{B3D1F56A-1323-A0D3-85F1-3F47CCA051E0}"/>
                </a:ext>
              </a:extLst>
            </p:cNvPr>
            <p:cNvSpPr>
              <a:spLocks noChangeShapeType="1"/>
            </p:cNvSpPr>
            <p:nvPr/>
          </p:nvSpPr>
          <p:spPr bwMode="auto">
            <a:xfrm>
              <a:off x="1021" y="3000"/>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Line 16">
              <a:extLst>
                <a:ext uri="{FF2B5EF4-FFF2-40B4-BE49-F238E27FC236}">
                  <a16:creationId xmlns:a16="http://schemas.microsoft.com/office/drawing/2014/main" id="{46F4164A-E5FE-9F2C-DBA7-25465AFF0B65}"/>
                </a:ext>
              </a:extLst>
            </p:cNvPr>
            <p:cNvSpPr>
              <a:spLocks noChangeShapeType="1"/>
            </p:cNvSpPr>
            <p:nvPr/>
          </p:nvSpPr>
          <p:spPr bwMode="auto">
            <a:xfrm>
              <a:off x="1021" y="3128"/>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17">
              <a:extLst>
                <a:ext uri="{FF2B5EF4-FFF2-40B4-BE49-F238E27FC236}">
                  <a16:creationId xmlns:a16="http://schemas.microsoft.com/office/drawing/2014/main" id="{DDDF4CE1-4679-3FA8-3023-74F9A124C79C}"/>
                </a:ext>
              </a:extLst>
            </p:cNvPr>
            <p:cNvSpPr>
              <a:spLocks noChangeShapeType="1"/>
            </p:cNvSpPr>
            <p:nvPr/>
          </p:nvSpPr>
          <p:spPr bwMode="auto">
            <a:xfrm>
              <a:off x="1202" y="3128"/>
              <a:ext cx="0" cy="52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18">
              <a:extLst>
                <a:ext uri="{FF2B5EF4-FFF2-40B4-BE49-F238E27FC236}">
                  <a16:creationId xmlns:a16="http://schemas.microsoft.com/office/drawing/2014/main" id="{0D7F4EE4-1783-42AF-27D7-235DAE5E59C4}"/>
                </a:ext>
              </a:extLst>
            </p:cNvPr>
            <p:cNvSpPr>
              <a:spLocks noChangeShapeType="1"/>
            </p:cNvSpPr>
            <p:nvPr/>
          </p:nvSpPr>
          <p:spPr bwMode="auto">
            <a:xfrm>
              <a:off x="1202" y="2489"/>
              <a:ext cx="0" cy="52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9" name="Line 19">
              <a:extLst>
                <a:ext uri="{FF2B5EF4-FFF2-40B4-BE49-F238E27FC236}">
                  <a16:creationId xmlns:a16="http://schemas.microsoft.com/office/drawing/2014/main" id="{96B3A182-592E-3E0C-5079-5806CA8CB383}"/>
                </a:ext>
              </a:extLst>
            </p:cNvPr>
            <p:cNvSpPr>
              <a:spLocks noChangeShapeType="1"/>
            </p:cNvSpPr>
            <p:nvPr/>
          </p:nvSpPr>
          <p:spPr bwMode="auto">
            <a:xfrm flipV="1">
              <a:off x="1202" y="3639"/>
              <a:ext cx="4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0" name="Line 20">
              <a:extLst>
                <a:ext uri="{FF2B5EF4-FFF2-40B4-BE49-F238E27FC236}">
                  <a16:creationId xmlns:a16="http://schemas.microsoft.com/office/drawing/2014/main" id="{B18CCDC5-2CF4-2FE0-9A95-64625645B4C4}"/>
                </a:ext>
              </a:extLst>
            </p:cNvPr>
            <p:cNvSpPr>
              <a:spLocks noChangeShapeType="1"/>
            </p:cNvSpPr>
            <p:nvPr/>
          </p:nvSpPr>
          <p:spPr bwMode="auto">
            <a:xfrm flipV="1">
              <a:off x="1202" y="2478"/>
              <a:ext cx="4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1" name="Line 21">
              <a:extLst>
                <a:ext uri="{FF2B5EF4-FFF2-40B4-BE49-F238E27FC236}">
                  <a16:creationId xmlns:a16="http://schemas.microsoft.com/office/drawing/2014/main" id="{D0E297A1-CE83-87CB-7A97-3621F701DA70}"/>
                </a:ext>
              </a:extLst>
            </p:cNvPr>
            <p:cNvSpPr>
              <a:spLocks noChangeShapeType="1"/>
            </p:cNvSpPr>
            <p:nvPr/>
          </p:nvSpPr>
          <p:spPr bwMode="auto">
            <a:xfrm>
              <a:off x="2291" y="2404"/>
              <a:ext cx="74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2" name="Line 22">
              <a:extLst>
                <a:ext uri="{FF2B5EF4-FFF2-40B4-BE49-F238E27FC236}">
                  <a16:creationId xmlns:a16="http://schemas.microsoft.com/office/drawing/2014/main" id="{B62F4739-6E92-430E-33CA-DC356B0C4E74}"/>
                </a:ext>
              </a:extLst>
            </p:cNvPr>
            <p:cNvSpPr>
              <a:spLocks noChangeShapeType="1"/>
            </p:cNvSpPr>
            <p:nvPr/>
          </p:nvSpPr>
          <p:spPr bwMode="auto">
            <a:xfrm>
              <a:off x="2291" y="3575"/>
              <a:ext cx="7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3" name="Line 23">
              <a:extLst>
                <a:ext uri="{FF2B5EF4-FFF2-40B4-BE49-F238E27FC236}">
                  <a16:creationId xmlns:a16="http://schemas.microsoft.com/office/drawing/2014/main" id="{102D3580-51AE-255D-34CB-F52468C0CA34}"/>
                </a:ext>
              </a:extLst>
            </p:cNvPr>
            <p:cNvSpPr>
              <a:spLocks noChangeShapeType="1"/>
            </p:cNvSpPr>
            <p:nvPr/>
          </p:nvSpPr>
          <p:spPr bwMode="auto">
            <a:xfrm flipH="1">
              <a:off x="2718" y="2532"/>
              <a:ext cx="0" cy="10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24">
              <a:extLst>
                <a:ext uri="{FF2B5EF4-FFF2-40B4-BE49-F238E27FC236}">
                  <a16:creationId xmlns:a16="http://schemas.microsoft.com/office/drawing/2014/main" id="{969940F3-E0DD-8971-5698-83E90D4B8781}"/>
                </a:ext>
              </a:extLst>
            </p:cNvPr>
            <p:cNvSpPr>
              <a:spLocks noChangeShapeType="1"/>
            </p:cNvSpPr>
            <p:nvPr/>
          </p:nvSpPr>
          <p:spPr bwMode="auto">
            <a:xfrm flipH="1">
              <a:off x="2552" y="2404"/>
              <a:ext cx="0" cy="13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25">
              <a:extLst>
                <a:ext uri="{FF2B5EF4-FFF2-40B4-BE49-F238E27FC236}">
                  <a16:creationId xmlns:a16="http://schemas.microsoft.com/office/drawing/2014/main" id="{84F5E301-8321-0D06-011F-63AD6CEA45D3}"/>
                </a:ext>
              </a:extLst>
            </p:cNvPr>
            <p:cNvSpPr>
              <a:spLocks noChangeShapeType="1"/>
            </p:cNvSpPr>
            <p:nvPr/>
          </p:nvSpPr>
          <p:spPr bwMode="auto">
            <a:xfrm flipV="1">
              <a:off x="2729" y="2532"/>
              <a:ext cx="2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Line 26">
              <a:extLst>
                <a:ext uri="{FF2B5EF4-FFF2-40B4-BE49-F238E27FC236}">
                  <a16:creationId xmlns:a16="http://schemas.microsoft.com/office/drawing/2014/main" id="{4F1EEA0D-BBBE-40E8-B05A-2DAC4A765B8D}"/>
                </a:ext>
              </a:extLst>
            </p:cNvPr>
            <p:cNvSpPr>
              <a:spLocks noChangeShapeType="1"/>
            </p:cNvSpPr>
            <p:nvPr/>
          </p:nvSpPr>
          <p:spPr bwMode="auto">
            <a:xfrm flipV="1">
              <a:off x="2549" y="3702"/>
              <a:ext cx="4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7" name="Line 27">
              <a:extLst>
                <a:ext uri="{FF2B5EF4-FFF2-40B4-BE49-F238E27FC236}">
                  <a16:creationId xmlns:a16="http://schemas.microsoft.com/office/drawing/2014/main" id="{B74655EE-2D40-2658-2746-088D17A9BC9E}"/>
                </a:ext>
              </a:extLst>
            </p:cNvPr>
            <p:cNvSpPr>
              <a:spLocks noChangeShapeType="1"/>
            </p:cNvSpPr>
            <p:nvPr/>
          </p:nvSpPr>
          <p:spPr bwMode="auto">
            <a:xfrm>
              <a:off x="4022" y="1957"/>
              <a:ext cx="0" cy="18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Line 28">
              <a:extLst>
                <a:ext uri="{FF2B5EF4-FFF2-40B4-BE49-F238E27FC236}">
                  <a16:creationId xmlns:a16="http://schemas.microsoft.com/office/drawing/2014/main" id="{3CF51D3C-8AFA-F8D9-7E65-CE3E8532C812}"/>
                </a:ext>
              </a:extLst>
            </p:cNvPr>
            <p:cNvSpPr>
              <a:spLocks noChangeShapeType="1"/>
            </p:cNvSpPr>
            <p:nvPr/>
          </p:nvSpPr>
          <p:spPr bwMode="auto">
            <a:xfrm>
              <a:off x="4032" y="1957"/>
              <a:ext cx="4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9" name="Line 29">
              <a:extLst>
                <a:ext uri="{FF2B5EF4-FFF2-40B4-BE49-F238E27FC236}">
                  <a16:creationId xmlns:a16="http://schemas.microsoft.com/office/drawing/2014/main" id="{3256EECB-B2E3-ADCB-6BCF-ADFC1A559433}"/>
                </a:ext>
              </a:extLst>
            </p:cNvPr>
            <p:cNvSpPr>
              <a:spLocks noChangeShapeType="1"/>
            </p:cNvSpPr>
            <p:nvPr/>
          </p:nvSpPr>
          <p:spPr bwMode="auto">
            <a:xfrm>
              <a:off x="4246" y="2095"/>
              <a:ext cx="25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30">
              <a:extLst>
                <a:ext uri="{FF2B5EF4-FFF2-40B4-BE49-F238E27FC236}">
                  <a16:creationId xmlns:a16="http://schemas.microsoft.com/office/drawing/2014/main" id="{A7B9B5BB-F947-E4CA-B0B8-170A634A6D4A}"/>
                </a:ext>
              </a:extLst>
            </p:cNvPr>
            <p:cNvSpPr>
              <a:spLocks noChangeShapeType="1"/>
            </p:cNvSpPr>
            <p:nvPr/>
          </p:nvSpPr>
          <p:spPr bwMode="auto">
            <a:xfrm flipV="1">
              <a:off x="4673" y="2446"/>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1" name="Oval 31">
              <a:extLst>
                <a:ext uri="{FF2B5EF4-FFF2-40B4-BE49-F238E27FC236}">
                  <a16:creationId xmlns:a16="http://schemas.microsoft.com/office/drawing/2014/main" id="{4B005DC2-5C10-9335-EDBB-A55E0E879BB7}"/>
                </a:ext>
              </a:extLst>
            </p:cNvPr>
            <p:cNvSpPr>
              <a:spLocks noChangeArrowheads="1"/>
            </p:cNvSpPr>
            <p:nvPr/>
          </p:nvSpPr>
          <p:spPr bwMode="auto">
            <a:xfrm>
              <a:off x="2504" y="2359"/>
              <a:ext cx="85" cy="81"/>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62" name="Oval 32">
              <a:extLst>
                <a:ext uri="{FF2B5EF4-FFF2-40B4-BE49-F238E27FC236}">
                  <a16:creationId xmlns:a16="http://schemas.microsoft.com/office/drawing/2014/main" id="{AEEA56EC-3FFA-1415-6DE3-2F4D08FE3ED7}"/>
                </a:ext>
              </a:extLst>
            </p:cNvPr>
            <p:cNvSpPr>
              <a:spLocks noChangeArrowheads="1"/>
            </p:cNvSpPr>
            <p:nvPr/>
          </p:nvSpPr>
          <p:spPr bwMode="auto">
            <a:xfrm>
              <a:off x="2673" y="3520"/>
              <a:ext cx="84" cy="79"/>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63" name="Line 33">
              <a:extLst>
                <a:ext uri="{FF2B5EF4-FFF2-40B4-BE49-F238E27FC236}">
                  <a16:creationId xmlns:a16="http://schemas.microsoft.com/office/drawing/2014/main" id="{E1E56760-2410-62E8-32EF-7DEAAB456B87}"/>
                </a:ext>
              </a:extLst>
            </p:cNvPr>
            <p:cNvSpPr>
              <a:spLocks noChangeShapeType="1"/>
            </p:cNvSpPr>
            <p:nvPr/>
          </p:nvSpPr>
          <p:spPr bwMode="auto">
            <a:xfrm>
              <a:off x="4246" y="2095"/>
              <a:ext cx="0" cy="18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Line 34">
              <a:extLst>
                <a:ext uri="{FF2B5EF4-FFF2-40B4-BE49-F238E27FC236}">
                  <a16:creationId xmlns:a16="http://schemas.microsoft.com/office/drawing/2014/main" id="{B8DC6D87-41E4-B991-4D63-B55AAC3021A5}"/>
                </a:ext>
              </a:extLst>
            </p:cNvPr>
            <p:cNvSpPr>
              <a:spLocks noChangeShapeType="1"/>
            </p:cNvSpPr>
            <p:nvPr/>
          </p:nvSpPr>
          <p:spPr bwMode="auto">
            <a:xfrm>
              <a:off x="4032" y="2521"/>
              <a:ext cx="4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5" name="Line 35">
              <a:extLst>
                <a:ext uri="{FF2B5EF4-FFF2-40B4-BE49-F238E27FC236}">
                  <a16:creationId xmlns:a16="http://schemas.microsoft.com/office/drawing/2014/main" id="{C1818DDB-1CB4-D04E-4929-52C7905F3C50}"/>
                </a:ext>
              </a:extLst>
            </p:cNvPr>
            <p:cNvSpPr>
              <a:spLocks noChangeShapeType="1"/>
            </p:cNvSpPr>
            <p:nvPr/>
          </p:nvSpPr>
          <p:spPr bwMode="auto">
            <a:xfrm>
              <a:off x="4022" y="3202"/>
              <a:ext cx="4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6" name="Line 36">
              <a:extLst>
                <a:ext uri="{FF2B5EF4-FFF2-40B4-BE49-F238E27FC236}">
                  <a16:creationId xmlns:a16="http://schemas.microsoft.com/office/drawing/2014/main" id="{48D7952D-37AB-FA3B-6504-AE5E977E691E}"/>
                </a:ext>
              </a:extLst>
            </p:cNvPr>
            <p:cNvSpPr>
              <a:spLocks noChangeShapeType="1"/>
            </p:cNvSpPr>
            <p:nvPr/>
          </p:nvSpPr>
          <p:spPr bwMode="auto">
            <a:xfrm>
              <a:off x="4032" y="3809"/>
              <a:ext cx="4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7" name="Line 37">
              <a:extLst>
                <a:ext uri="{FF2B5EF4-FFF2-40B4-BE49-F238E27FC236}">
                  <a16:creationId xmlns:a16="http://schemas.microsoft.com/office/drawing/2014/main" id="{F8334453-F720-12EB-D5BC-4C391AB404D5}"/>
                </a:ext>
              </a:extLst>
            </p:cNvPr>
            <p:cNvSpPr>
              <a:spLocks noChangeShapeType="1"/>
            </p:cNvSpPr>
            <p:nvPr/>
          </p:nvSpPr>
          <p:spPr bwMode="auto">
            <a:xfrm>
              <a:off x="4246" y="3320"/>
              <a:ext cx="25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8" name="Line 38">
              <a:extLst>
                <a:ext uri="{FF2B5EF4-FFF2-40B4-BE49-F238E27FC236}">
                  <a16:creationId xmlns:a16="http://schemas.microsoft.com/office/drawing/2014/main" id="{E95F570F-1789-74FD-6CD3-3F04622A710E}"/>
                </a:ext>
              </a:extLst>
            </p:cNvPr>
            <p:cNvSpPr>
              <a:spLocks noChangeShapeType="1"/>
            </p:cNvSpPr>
            <p:nvPr/>
          </p:nvSpPr>
          <p:spPr bwMode="auto">
            <a:xfrm>
              <a:off x="4246" y="2649"/>
              <a:ext cx="25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Line 39">
              <a:extLst>
                <a:ext uri="{FF2B5EF4-FFF2-40B4-BE49-F238E27FC236}">
                  <a16:creationId xmlns:a16="http://schemas.microsoft.com/office/drawing/2014/main" id="{1AD0CADA-2451-BF2E-82EF-6C1CF8B93A50}"/>
                </a:ext>
              </a:extLst>
            </p:cNvPr>
            <p:cNvSpPr>
              <a:spLocks noChangeShapeType="1"/>
            </p:cNvSpPr>
            <p:nvPr/>
          </p:nvSpPr>
          <p:spPr bwMode="auto">
            <a:xfrm>
              <a:off x="4257" y="3926"/>
              <a:ext cx="25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0" name="Oval 40">
              <a:extLst>
                <a:ext uri="{FF2B5EF4-FFF2-40B4-BE49-F238E27FC236}">
                  <a16:creationId xmlns:a16="http://schemas.microsoft.com/office/drawing/2014/main" id="{32A202BC-9518-8956-693A-0A8711FFE7F5}"/>
                </a:ext>
              </a:extLst>
            </p:cNvPr>
            <p:cNvSpPr>
              <a:spLocks noChangeArrowheads="1"/>
            </p:cNvSpPr>
            <p:nvPr/>
          </p:nvSpPr>
          <p:spPr bwMode="auto">
            <a:xfrm>
              <a:off x="4212" y="3594"/>
              <a:ext cx="85" cy="80"/>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1" name="Oval 41">
              <a:extLst>
                <a:ext uri="{FF2B5EF4-FFF2-40B4-BE49-F238E27FC236}">
                  <a16:creationId xmlns:a16="http://schemas.microsoft.com/office/drawing/2014/main" id="{75C41C24-432C-FA70-E392-CC8C5191FAD2}"/>
                </a:ext>
              </a:extLst>
            </p:cNvPr>
            <p:cNvSpPr>
              <a:spLocks noChangeArrowheads="1"/>
            </p:cNvSpPr>
            <p:nvPr/>
          </p:nvSpPr>
          <p:spPr bwMode="auto">
            <a:xfrm>
              <a:off x="3977" y="2370"/>
              <a:ext cx="84" cy="81"/>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2" name="Oval 42">
              <a:extLst>
                <a:ext uri="{FF2B5EF4-FFF2-40B4-BE49-F238E27FC236}">
                  <a16:creationId xmlns:a16="http://schemas.microsoft.com/office/drawing/2014/main" id="{337A8D6A-B1BB-A61E-DAA9-7D020F160BCC}"/>
                </a:ext>
              </a:extLst>
            </p:cNvPr>
            <p:cNvSpPr>
              <a:spLocks noChangeArrowheads="1"/>
            </p:cNvSpPr>
            <p:nvPr/>
          </p:nvSpPr>
          <p:spPr bwMode="auto">
            <a:xfrm>
              <a:off x="3977" y="2487"/>
              <a:ext cx="84" cy="80"/>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3" name="Oval 43">
              <a:extLst>
                <a:ext uri="{FF2B5EF4-FFF2-40B4-BE49-F238E27FC236}">
                  <a16:creationId xmlns:a16="http://schemas.microsoft.com/office/drawing/2014/main" id="{8EAE6E81-8C8D-FA51-0EF1-D00FB92B89C2}"/>
                </a:ext>
              </a:extLst>
            </p:cNvPr>
            <p:cNvSpPr>
              <a:spLocks noChangeArrowheads="1"/>
            </p:cNvSpPr>
            <p:nvPr/>
          </p:nvSpPr>
          <p:spPr bwMode="auto">
            <a:xfrm>
              <a:off x="3977" y="3158"/>
              <a:ext cx="84" cy="80"/>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4" name="Oval 44">
              <a:extLst>
                <a:ext uri="{FF2B5EF4-FFF2-40B4-BE49-F238E27FC236}">
                  <a16:creationId xmlns:a16="http://schemas.microsoft.com/office/drawing/2014/main" id="{1C115204-7F57-4A5E-7928-6F090E3963DB}"/>
                </a:ext>
              </a:extLst>
            </p:cNvPr>
            <p:cNvSpPr>
              <a:spLocks noChangeArrowheads="1"/>
            </p:cNvSpPr>
            <p:nvPr/>
          </p:nvSpPr>
          <p:spPr bwMode="auto">
            <a:xfrm>
              <a:off x="4212" y="2605"/>
              <a:ext cx="85" cy="79"/>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5" name="Oval 45">
              <a:extLst>
                <a:ext uri="{FF2B5EF4-FFF2-40B4-BE49-F238E27FC236}">
                  <a16:creationId xmlns:a16="http://schemas.microsoft.com/office/drawing/2014/main" id="{B85BB46F-1BEE-7267-3997-3E71AEEB3598}"/>
                </a:ext>
              </a:extLst>
            </p:cNvPr>
            <p:cNvSpPr>
              <a:spLocks noChangeArrowheads="1"/>
            </p:cNvSpPr>
            <p:nvPr/>
          </p:nvSpPr>
          <p:spPr bwMode="auto">
            <a:xfrm>
              <a:off x="4212" y="3275"/>
              <a:ext cx="85" cy="80"/>
            </a:xfrm>
            <a:prstGeom prst="ellipse">
              <a:avLst/>
            </a:prstGeom>
            <a:solidFill>
              <a:srgbClr val="000000"/>
            </a:solidFill>
            <a:ln w="28575">
              <a:solidFill>
                <a:srgbClr val="000000"/>
              </a:solidFill>
              <a:round/>
              <a:headEnd/>
              <a:tailEnd/>
            </a:ln>
          </p:spPr>
          <p:txBody>
            <a:bodyPr lIns="72000" tIns="36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4076" name="Line 46">
              <a:extLst>
                <a:ext uri="{FF2B5EF4-FFF2-40B4-BE49-F238E27FC236}">
                  <a16:creationId xmlns:a16="http://schemas.microsoft.com/office/drawing/2014/main" id="{8F9FAD29-53F7-4C9C-A81F-0676532BDBE7}"/>
                </a:ext>
              </a:extLst>
            </p:cNvPr>
            <p:cNvSpPr>
              <a:spLocks noChangeShapeType="1"/>
            </p:cNvSpPr>
            <p:nvPr/>
          </p:nvSpPr>
          <p:spPr bwMode="auto">
            <a:xfrm>
              <a:off x="3785" y="3634"/>
              <a:ext cx="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 name="灯片编号占位符 3">
            <a:extLst>
              <a:ext uri="{FF2B5EF4-FFF2-40B4-BE49-F238E27FC236}">
                <a16:creationId xmlns:a16="http://schemas.microsoft.com/office/drawing/2014/main" id="{51AD5CE8-C40D-5F9D-7631-7CC26F5AAD43}"/>
              </a:ext>
            </a:extLst>
          </p:cNvPr>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19C2A1F6-2B7E-F226-3B73-7406BFCC00C4}"/>
              </a:ext>
            </a:extLst>
          </p:cNvPr>
          <p:cNvSpPr>
            <a:spLocks noGrp="1" noChangeArrowheads="1"/>
          </p:cNvSpPr>
          <p:nvPr>
            <p:ph type="title"/>
          </p:nvPr>
        </p:nvSpPr>
        <p:spPr>
          <a:xfrm>
            <a:off x="1042988" y="225431"/>
            <a:ext cx="7850187" cy="746125"/>
          </a:xfrm>
        </p:spPr>
        <p:txBody>
          <a:bodyPr/>
          <a:lstStyle/>
          <a:p>
            <a:r>
              <a:rPr lang="zh-CN" altLang="en-US" dirty="0"/>
              <a:t>轮询 </a:t>
            </a:r>
            <a:r>
              <a:rPr lang="en-US" altLang="zh-CN" dirty="0"/>
              <a:t>Polling</a:t>
            </a:r>
          </a:p>
        </p:txBody>
      </p:sp>
      <p:sp>
        <p:nvSpPr>
          <p:cNvPr id="113667" name="Rectangle 3">
            <a:extLst>
              <a:ext uri="{FF2B5EF4-FFF2-40B4-BE49-F238E27FC236}">
                <a16:creationId xmlns:a16="http://schemas.microsoft.com/office/drawing/2014/main" id="{6B564F54-B96B-C135-2592-E183FAFD717A}"/>
              </a:ext>
            </a:extLst>
          </p:cNvPr>
          <p:cNvSpPr>
            <a:spLocks noGrp="1" noChangeArrowheads="1"/>
          </p:cNvSpPr>
          <p:nvPr>
            <p:ph idx="1"/>
          </p:nvPr>
        </p:nvSpPr>
        <p:spPr>
          <a:xfrm>
            <a:off x="935038" y="1233488"/>
            <a:ext cx="7772400" cy="4895850"/>
          </a:xfrm>
        </p:spPr>
        <p:txBody>
          <a:bodyPr/>
          <a:lstStyle/>
          <a:p>
            <a:r>
              <a:rPr lang="en-US" altLang="zh-CN"/>
              <a:t>I/O</a:t>
            </a:r>
            <a:r>
              <a:rPr lang="zh-CN" altLang="en-US"/>
              <a:t>控制方式发展过程中始终贯穿的宗旨是尽量减少主机对</a:t>
            </a:r>
            <a:r>
              <a:rPr lang="en-US" altLang="zh-CN"/>
              <a:t>I/O</a:t>
            </a:r>
            <a:r>
              <a:rPr lang="zh-CN" altLang="en-US"/>
              <a:t>控制的干预。</a:t>
            </a:r>
          </a:p>
          <a:p>
            <a:r>
              <a:rPr lang="zh-CN" altLang="en-US"/>
              <a:t>常用的输入/输出控制方式有下述几种：</a:t>
            </a:r>
          </a:p>
          <a:p>
            <a:pPr lvl="1"/>
            <a:r>
              <a:rPr lang="zh-CN" altLang="en-US"/>
              <a:t>程序直接控制方式</a:t>
            </a:r>
          </a:p>
          <a:p>
            <a:pPr lvl="1"/>
            <a:r>
              <a:rPr lang="zh-CN" altLang="en-US"/>
              <a:t>中断控制方式</a:t>
            </a:r>
          </a:p>
          <a:p>
            <a:pPr lvl="1"/>
            <a:r>
              <a:rPr lang="zh-CN" altLang="en-US"/>
              <a:t>直接存储器访问控制方式</a:t>
            </a:r>
          </a:p>
          <a:p>
            <a:pPr lvl="1"/>
            <a:r>
              <a:rPr lang="zh-CN" altLang="en-US"/>
              <a:t>通道控制方式</a:t>
            </a:r>
          </a:p>
        </p:txBody>
      </p:sp>
      <p:sp>
        <p:nvSpPr>
          <p:cNvPr id="4" name="灯片编号占位符 3">
            <a:extLst>
              <a:ext uri="{FF2B5EF4-FFF2-40B4-BE49-F238E27FC236}">
                <a16:creationId xmlns:a16="http://schemas.microsoft.com/office/drawing/2014/main" id="{B1007963-23D4-70F6-7FB6-48712D462F1C}"/>
              </a:ext>
            </a:extLst>
          </p:cNvPr>
          <p:cNvSpPr>
            <a:spLocks noGrp="1"/>
          </p:cNvSpPr>
          <p:nvPr>
            <p:ph type="sldNum" sz="quarter" idx="12"/>
          </p:nvPr>
        </p:nvSpPr>
        <p:spPr/>
        <p:txBody>
          <a:bodyPr/>
          <a:lstStyle/>
          <a:p>
            <a:fld id="{4093CC90-4002-504C-BD88-C9A1D374048E}" type="slidenum">
              <a:rPr lang="zh-CN" altLang="en-US" smtClean="0"/>
              <a:pPr/>
              <a:t>29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checkerboard(across)">
                                      <p:cBhvr>
                                        <p:cTn id="7" dur="500"/>
                                        <p:tgtEl>
                                          <p:spTgt spid="11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checkerboard(across)">
                                      <p:cBhvr>
                                        <p:cTn id="12" dur="500"/>
                                        <p:tgtEl>
                                          <p:spTgt spid="113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checkerboard(across)">
                                      <p:cBhvr>
                                        <p:cTn id="17" dur="500"/>
                                        <p:tgtEl>
                                          <p:spTgt spid="1136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checkerboard(across)">
                                      <p:cBhvr>
                                        <p:cTn id="22" dur="500"/>
                                        <p:tgtEl>
                                          <p:spTgt spid="1136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13667">
                                            <p:txEl>
                                              <p:pRg st="4" end="4"/>
                                            </p:txEl>
                                          </p:spTgt>
                                        </p:tgtEl>
                                        <p:attrNameLst>
                                          <p:attrName>style.visibility</p:attrName>
                                        </p:attrNameLst>
                                      </p:cBhvr>
                                      <p:to>
                                        <p:strVal val="visible"/>
                                      </p:to>
                                    </p:set>
                                    <p:animEffect transition="in" filter="checkerboard(across)">
                                      <p:cBhvr>
                                        <p:cTn id="27" dur="500"/>
                                        <p:tgtEl>
                                          <p:spTgt spid="1136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13667">
                                            <p:txEl>
                                              <p:pRg st="5" end="5"/>
                                            </p:txEl>
                                          </p:spTgt>
                                        </p:tgtEl>
                                        <p:attrNameLst>
                                          <p:attrName>style.visibility</p:attrName>
                                        </p:attrNameLst>
                                      </p:cBhvr>
                                      <p:to>
                                        <p:strVal val="visible"/>
                                      </p:to>
                                    </p:set>
                                    <p:animEffect transition="in" filter="checkerboard(across)">
                                      <p:cBhvr>
                                        <p:cTn id="32" dur="500"/>
                                        <p:tgtEl>
                                          <p:spTgt spid="1136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FCBF051E-C011-D169-F821-816344D6CED9}"/>
              </a:ext>
            </a:extLst>
          </p:cNvPr>
          <p:cNvSpPr>
            <a:spLocks noGrp="1" noChangeArrowheads="1"/>
          </p:cNvSpPr>
          <p:nvPr>
            <p:ph type="title"/>
          </p:nvPr>
        </p:nvSpPr>
        <p:spPr>
          <a:xfrm>
            <a:off x="1042988" y="225431"/>
            <a:ext cx="7850187" cy="746125"/>
          </a:xfrm>
        </p:spPr>
        <p:txBody>
          <a:bodyPr/>
          <a:lstStyle/>
          <a:p>
            <a:r>
              <a:rPr lang="zh-CN" altLang="en-US"/>
              <a:t>程序直接控制方式</a:t>
            </a:r>
          </a:p>
        </p:txBody>
      </p:sp>
      <p:sp>
        <p:nvSpPr>
          <p:cNvPr id="46082" name="Rectangle 3">
            <a:extLst>
              <a:ext uri="{FF2B5EF4-FFF2-40B4-BE49-F238E27FC236}">
                <a16:creationId xmlns:a16="http://schemas.microsoft.com/office/drawing/2014/main" id="{B64F5155-5175-E0DC-3930-B8AAB6ADB2F4}"/>
              </a:ext>
            </a:extLst>
          </p:cNvPr>
          <p:cNvSpPr>
            <a:spLocks noGrp="1" noChangeArrowheads="1"/>
          </p:cNvSpPr>
          <p:nvPr>
            <p:ph idx="1"/>
          </p:nvPr>
        </p:nvSpPr>
        <p:spPr>
          <a:xfrm>
            <a:off x="935038" y="1233488"/>
            <a:ext cx="7772400" cy="4895850"/>
          </a:xfrm>
        </p:spPr>
        <p:txBody>
          <a:bodyPr/>
          <a:lstStyle/>
          <a:p>
            <a:r>
              <a:rPr lang="zh-CN" altLang="en-US"/>
              <a:t>早期计算机系统中无中断机构，设备控制采用程序直接控制方式。</a:t>
            </a:r>
          </a:p>
          <a:p>
            <a:r>
              <a:rPr lang="zh-CN" altLang="en-US"/>
              <a:t>程序直接控制方式也称为轮询方式。</a:t>
            </a:r>
          </a:p>
          <a:p>
            <a:r>
              <a:rPr lang="zh-CN" altLang="en-US"/>
              <a:t>以输入为例，其过程为：</a:t>
            </a:r>
          </a:p>
        </p:txBody>
      </p:sp>
      <p:sp>
        <p:nvSpPr>
          <p:cNvPr id="4" name="灯片编号占位符 3">
            <a:extLst>
              <a:ext uri="{FF2B5EF4-FFF2-40B4-BE49-F238E27FC236}">
                <a16:creationId xmlns:a16="http://schemas.microsoft.com/office/drawing/2014/main" id="{0CB88B11-C2B2-8CA8-D95A-CE983FD47397}"/>
              </a:ext>
            </a:extLst>
          </p:cNvPr>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B767F32-8B64-FF89-D365-E566A18BC809}"/>
              </a:ext>
            </a:extLst>
          </p:cNvPr>
          <p:cNvSpPr>
            <a:spLocks noGrp="1" noChangeArrowheads="1"/>
          </p:cNvSpPr>
          <p:nvPr>
            <p:ph type="title"/>
          </p:nvPr>
        </p:nvSpPr>
        <p:spPr/>
        <p:txBody>
          <a:bodyPr/>
          <a:lstStyle/>
          <a:p>
            <a:pPr eaLnBrk="1" hangingPunct="1"/>
            <a:r>
              <a:rPr lang="zh-CN" altLang="en-US" b="1"/>
              <a:t>程序直接控制方式流程</a:t>
            </a:r>
          </a:p>
        </p:txBody>
      </p:sp>
      <p:sp>
        <p:nvSpPr>
          <p:cNvPr id="47106" name="Rectangle 5">
            <a:extLst>
              <a:ext uri="{FF2B5EF4-FFF2-40B4-BE49-F238E27FC236}">
                <a16:creationId xmlns:a16="http://schemas.microsoft.com/office/drawing/2014/main" id="{60D97479-1FAC-940D-4D01-443562B42287}"/>
              </a:ext>
            </a:extLst>
          </p:cNvPr>
          <p:cNvSpPr>
            <a:spLocks noChangeArrowheads="1"/>
          </p:cNvSpPr>
          <p:nvPr/>
        </p:nvSpPr>
        <p:spPr bwMode="auto">
          <a:xfrm>
            <a:off x="3246438" y="1616075"/>
            <a:ext cx="331628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向</a:t>
            </a:r>
            <a:r>
              <a:rPr lang="en-US" altLang="zh-CN" sz="2000">
                <a:latin typeface="Times New Roman" panose="02020603050405020304" pitchFamily="18" charset="0"/>
              </a:rPr>
              <a:t>I/O</a:t>
            </a:r>
            <a:r>
              <a:rPr lang="zh-CN" altLang="en-US" sz="2000">
                <a:latin typeface="Times New Roman" panose="02020603050405020304" pitchFamily="18" charset="0"/>
              </a:rPr>
              <a:t>控制器发出读命令</a:t>
            </a:r>
          </a:p>
        </p:txBody>
      </p:sp>
      <p:sp>
        <p:nvSpPr>
          <p:cNvPr id="47107" name="Rectangle 6">
            <a:extLst>
              <a:ext uri="{FF2B5EF4-FFF2-40B4-BE49-F238E27FC236}">
                <a16:creationId xmlns:a16="http://schemas.microsoft.com/office/drawing/2014/main" id="{81E0E399-011A-66EC-7A9A-E0FCC070CD1F}"/>
              </a:ext>
            </a:extLst>
          </p:cNvPr>
          <p:cNvSpPr>
            <a:spLocks noChangeArrowheads="1"/>
          </p:cNvSpPr>
          <p:nvPr/>
        </p:nvSpPr>
        <p:spPr bwMode="auto">
          <a:xfrm>
            <a:off x="3362325" y="2317750"/>
            <a:ext cx="28511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读</a:t>
            </a:r>
            <a:r>
              <a:rPr lang="en-US" altLang="zh-CN" sz="2000">
                <a:latin typeface="Times New Roman" panose="02020603050405020304" pitchFamily="18" charset="0"/>
              </a:rPr>
              <a:t>I/O</a:t>
            </a:r>
            <a:r>
              <a:rPr lang="zh-CN" altLang="en-US" sz="2000">
                <a:latin typeface="Times New Roman" panose="02020603050405020304" pitchFamily="18" charset="0"/>
              </a:rPr>
              <a:t>控制器的状态</a:t>
            </a:r>
          </a:p>
        </p:txBody>
      </p:sp>
      <p:sp>
        <p:nvSpPr>
          <p:cNvPr id="47108" name="Rectangle 7">
            <a:extLst>
              <a:ext uri="{FF2B5EF4-FFF2-40B4-BE49-F238E27FC236}">
                <a16:creationId xmlns:a16="http://schemas.microsoft.com/office/drawing/2014/main" id="{25D00545-A8FB-8E08-87D3-E7C6D64C955F}"/>
              </a:ext>
            </a:extLst>
          </p:cNvPr>
          <p:cNvSpPr>
            <a:spLocks noChangeArrowheads="1"/>
          </p:cNvSpPr>
          <p:nvPr/>
        </p:nvSpPr>
        <p:spPr bwMode="auto">
          <a:xfrm>
            <a:off x="4010025" y="5227638"/>
            <a:ext cx="16748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传送完成？</a:t>
            </a:r>
          </a:p>
        </p:txBody>
      </p:sp>
      <p:sp>
        <p:nvSpPr>
          <p:cNvPr id="47109" name="Rectangle 8">
            <a:extLst>
              <a:ext uri="{FF2B5EF4-FFF2-40B4-BE49-F238E27FC236}">
                <a16:creationId xmlns:a16="http://schemas.microsoft.com/office/drawing/2014/main" id="{C4EC20AC-0091-3B25-C927-D765FC7EE1CC}"/>
              </a:ext>
            </a:extLst>
          </p:cNvPr>
          <p:cNvSpPr>
            <a:spLocks noChangeArrowheads="1"/>
          </p:cNvSpPr>
          <p:nvPr/>
        </p:nvSpPr>
        <p:spPr bwMode="auto">
          <a:xfrm>
            <a:off x="4121150" y="3024188"/>
            <a:ext cx="16240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检查状态？</a:t>
            </a:r>
          </a:p>
        </p:txBody>
      </p:sp>
      <p:sp>
        <p:nvSpPr>
          <p:cNvPr id="47110" name="Rectangle 9">
            <a:extLst>
              <a:ext uri="{FF2B5EF4-FFF2-40B4-BE49-F238E27FC236}">
                <a16:creationId xmlns:a16="http://schemas.microsoft.com/office/drawing/2014/main" id="{8D309907-5A01-C8D1-B511-E1FE4B0BB8B4}"/>
              </a:ext>
            </a:extLst>
          </p:cNvPr>
          <p:cNvSpPr>
            <a:spLocks noChangeArrowheads="1"/>
          </p:cNvSpPr>
          <p:nvPr/>
        </p:nvSpPr>
        <p:spPr bwMode="auto">
          <a:xfrm>
            <a:off x="3209925" y="3867150"/>
            <a:ext cx="3449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从</a:t>
            </a:r>
            <a:r>
              <a:rPr lang="en-US" altLang="zh-CN" sz="2000">
                <a:latin typeface="Times New Roman" panose="02020603050405020304" pitchFamily="18" charset="0"/>
              </a:rPr>
              <a:t>I/O</a:t>
            </a:r>
            <a:r>
              <a:rPr lang="zh-CN" altLang="en-US" sz="2000">
                <a:latin typeface="Times New Roman" panose="02020603050405020304" pitchFamily="18" charset="0"/>
              </a:rPr>
              <a:t>控制器中读入数据</a:t>
            </a:r>
          </a:p>
        </p:txBody>
      </p:sp>
      <p:sp>
        <p:nvSpPr>
          <p:cNvPr id="47111" name="Rectangle 10">
            <a:extLst>
              <a:ext uri="{FF2B5EF4-FFF2-40B4-BE49-F238E27FC236}">
                <a16:creationId xmlns:a16="http://schemas.microsoft.com/office/drawing/2014/main" id="{CCC19EA4-811E-E2E8-68E5-765D851A52ED}"/>
              </a:ext>
            </a:extLst>
          </p:cNvPr>
          <p:cNvSpPr>
            <a:spLocks noChangeArrowheads="1"/>
          </p:cNvSpPr>
          <p:nvPr/>
        </p:nvSpPr>
        <p:spPr bwMode="auto">
          <a:xfrm>
            <a:off x="3935413" y="3481388"/>
            <a:ext cx="7127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就绪</a:t>
            </a:r>
          </a:p>
        </p:txBody>
      </p:sp>
      <p:sp>
        <p:nvSpPr>
          <p:cNvPr id="47112" name="Rectangle 11">
            <a:extLst>
              <a:ext uri="{FF2B5EF4-FFF2-40B4-BE49-F238E27FC236}">
                <a16:creationId xmlns:a16="http://schemas.microsoft.com/office/drawing/2014/main" id="{093B69D4-A8DA-D1CD-54C1-A50382E80BA7}"/>
              </a:ext>
            </a:extLst>
          </p:cNvPr>
          <p:cNvSpPr>
            <a:spLocks noChangeArrowheads="1"/>
          </p:cNvSpPr>
          <p:nvPr/>
        </p:nvSpPr>
        <p:spPr bwMode="auto">
          <a:xfrm>
            <a:off x="3459163" y="4476750"/>
            <a:ext cx="30178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向存储器中写入数据</a:t>
            </a:r>
          </a:p>
        </p:txBody>
      </p:sp>
      <p:sp>
        <p:nvSpPr>
          <p:cNvPr id="47113" name="Rectangle 12">
            <a:extLst>
              <a:ext uri="{FF2B5EF4-FFF2-40B4-BE49-F238E27FC236}">
                <a16:creationId xmlns:a16="http://schemas.microsoft.com/office/drawing/2014/main" id="{86FCBDC2-8405-A510-4288-CD512DF1E1FA}"/>
              </a:ext>
            </a:extLst>
          </p:cNvPr>
          <p:cNvSpPr>
            <a:spLocks noChangeArrowheads="1"/>
          </p:cNvSpPr>
          <p:nvPr/>
        </p:nvSpPr>
        <p:spPr bwMode="auto">
          <a:xfrm>
            <a:off x="990600" y="5226050"/>
            <a:ext cx="20224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执行下条指令</a:t>
            </a:r>
          </a:p>
        </p:txBody>
      </p:sp>
      <p:sp>
        <p:nvSpPr>
          <p:cNvPr id="47114" name="Rectangle 13">
            <a:extLst>
              <a:ext uri="{FF2B5EF4-FFF2-40B4-BE49-F238E27FC236}">
                <a16:creationId xmlns:a16="http://schemas.microsoft.com/office/drawing/2014/main" id="{67490FA2-244A-FF87-8E96-530474CA3C45}"/>
              </a:ext>
            </a:extLst>
          </p:cNvPr>
          <p:cNvSpPr>
            <a:spLocks noChangeArrowheads="1"/>
          </p:cNvSpPr>
          <p:nvPr/>
        </p:nvSpPr>
        <p:spPr bwMode="auto">
          <a:xfrm>
            <a:off x="5702300" y="2782888"/>
            <a:ext cx="10429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未就绪</a:t>
            </a:r>
          </a:p>
        </p:txBody>
      </p:sp>
      <p:sp>
        <p:nvSpPr>
          <p:cNvPr id="47115" name="Line 14">
            <a:extLst>
              <a:ext uri="{FF2B5EF4-FFF2-40B4-BE49-F238E27FC236}">
                <a16:creationId xmlns:a16="http://schemas.microsoft.com/office/drawing/2014/main" id="{7DA98CF6-D189-3A28-AFF5-39B7BA12FE60}"/>
              </a:ext>
            </a:extLst>
          </p:cNvPr>
          <p:cNvSpPr>
            <a:spLocks noChangeShapeType="1"/>
          </p:cNvSpPr>
          <p:nvPr/>
        </p:nvSpPr>
        <p:spPr bwMode="auto">
          <a:xfrm flipH="1">
            <a:off x="6945313" y="2105025"/>
            <a:ext cx="0" cy="1184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Rectangle 15">
            <a:extLst>
              <a:ext uri="{FF2B5EF4-FFF2-40B4-BE49-F238E27FC236}">
                <a16:creationId xmlns:a16="http://schemas.microsoft.com/office/drawing/2014/main" id="{5A9D6E92-A1C0-4DE5-05DE-EC09E97001A1}"/>
              </a:ext>
            </a:extLst>
          </p:cNvPr>
          <p:cNvSpPr>
            <a:spLocks noChangeArrowheads="1"/>
          </p:cNvSpPr>
          <p:nvPr/>
        </p:nvSpPr>
        <p:spPr bwMode="auto">
          <a:xfrm>
            <a:off x="3460750" y="5078413"/>
            <a:ext cx="3651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Y</a:t>
            </a:r>
          </a:p>
        </p:txBody>
      </p:sp>
      <p:sp>
        <p:nvSpPr>
          <p:cNvPr id="47117" name="Rectangle 16">
            <a:extLst>
              <a:ext uri="{FF2B5EF4-FFF2-40B4-BE49-F238E27FC236}">
                <a16:creationId xmlns:a16="http://schemas.microsoft.com/office/drawing/2014/main" id="{6E66ED22-FAC3-DA19-9FC5-DB0BE55AAB80}"/>
              </a:ext>
            </a:extLst>
          </p:cNvPr>
          <p:cNvSpPr>
            <a:spLocks noChangeArrowheads="1"/>
          </p:cNvSpPr>
          <p:nvPr/>
        </p:nvSpPr>
        <p:spPr bwMode="auto">
          <a:xfrm>
            <a:off x="6021388" y="5046663"/>
            <a:ext cx="3635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N</a:t>
            </a:r>
          </a:p>
        </p:txBody>
      </p:sp>
      <p:sp>
        <p:nvSpPr>
          <p:cNvPr id="47118" name="Line 17">
            <a:extLst>
              <a:ext uri="{FF2B5EF4-FFF2-40B4-BE49-F238E27FC236}">
                <a16:creationId xmlns:a16="http://schemas.microsoft.com/office/drawing/2014/main" id="{2A255069-956B-C8A3-5603-19D0F7D43E12}"/>
              </a:ext>
            </a:extLst>
          </p:cNvPr>
          <p:cNvSpPr>
            <a:spLocks noChangeShapeType="1"/>
          </p:cNvSpPr>
          <p:nvPr/>
        </p:nvSpPr>
        <p:spPr bwMode="auto">
          <a:xfrm flipH="1">
            <a:off x="4887913" y="2105025"/>
            <a:ext cx="2057400" cy="1270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19" name="Line 18">
            <a:extLst>
              <a:ext uri="{FF2B5EF4-FFF2-40B4-BE49-F238E27FC236}">
                <a16:creationId xmlns:a16="http://schemas.microsoft.com/office/drawing/2014/main" id="{CB94F980-ADE0-EA72-DC8A-E1BB34C39CC5}"/>
              </a:ext>
            </a:extLst>
          </p:cNvPr>
          <p:cNvSpPr>
            <a:spLocks noChangeShapeType="1"/>
          </p:cNvSpPr>
          <p:nvPr/>
        </p:nvSpPr>
        <p:spPr bwMode="auto">
          <a:xfrm>
            <a:off x="4826000" y="1473200"/>
            <a:ext cx="2547938"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47120" name="Line 19">
            <a:extLst>
              <a:ext uri="{FF2B5EF4-FFF2-40B4-BE49-F238E27FC236}">
                <a16:creationId xmlns:a16="http://schemas.microsoft.com/office/drawing/2014/main" id="{B45061BF-2E20-EBC1-238B-35872503B7AA}"/>
              </a:ext>
            </a:extLst>
          </p:cNvPr>
          <p:cNvSpPr>
            <a:spLocks noChangeShapeType="1"/>
          </p:cNvSpPr>
          <p:nvPr/>
        </p:nvSpPr>
        <p:spPr bwMode="auto">
          <a:xfrm flipH="1">
            <a:off x="5554663" y="5440363"/>
            <a:ext cx="18367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1" name="Line 20">
            <a:extLst>
              <a:ext uri="{FF2B5EF4-FFF2-40B4-BE49-F238E27FC236}">
                <a16:creationId xmlns:a16="http://schemas.microsoft.com/office/drawing/2014/main" id="{13D46C69-E797-2E54-0B6E-72759AABD464}"/>
              </a:ext>
            </a:extLst>
          </p:cNvPr>
          <p:cNvSpPr>
            <a:spLocks noChangeShapeType="1"/>
          </p:cNvSpPr>
          <p:nvPr/>
        </p:nvSpPr>
        <p:spPr bwMode="auto">
          <a:xfrm flipH="1">
            <a:off x="7375525" y="1500188"/>
            <a:ext cx="0" cy="39766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2" name="Line 21">
            <a:extLst>
              <a:ext uri="{FF2B5EF4-FFF2-40B4-BE49-F238E27FC236}">
                <a16:creationId xmlns:a16="http://schemas.microsoft.com/office/drawing/2014/main" id="{8A7628EA-90EA-9508-6382-7A28A80D1C84}"/>
              </a:ext>
            </a:extLst>
          </p:cNvPr>
          <p:cNvSpPr>
            <a:spLocks noChangeShapeType="1"/>
          </p:cNvSpPr>
          <p:nvPr/>
        </p:nvSpPr>
        <p:spPr bwMode="auto">
          <a:xfrm flipH="1" flipV="1">
            <a:off x="5683250" y="3260725"/>
            <a:ext cx="1250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3" name="Line 22">
            <a:extLst>
              <a:ext uri="{FF2B5EF4-FFF2-40B4-BE49-F238E27FC236}">
                <a16:creationId xmlns:a16="http://schemas.microsoft.com/office/drawing/2014/main" id="{8F5AD910-272F-35E4-011C-690C24D67879}"/>
              </a:ext>
            </a:extLst>
          </p:cNvPr>
          <p:cNvSpPr>
            <a:spLocks noChangeShapeType="1"/>
          </p:cNvSpPr>
          <p:nvPr/>
        </p:nvSpPr>
        <p:spPr bwMode="auto">
          <a:xfrm rot="5400000" flipV="1">
            <a:off x="3495676" y="4975225"/>
            <a:ext cx="0" cy="930275"/>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47124" name="Rectangle 23">
            <a:extLst>
              <a:ext uri="{FF2B5EF4-FFF2-40B4-BE49-F238E27FC236}">
                <a16:creationId xmlns:a16="http://schemas.microsoft.com/office/drawing/2014/main" id="{96B706B7-89BD-9BBC-10F0-544ACC71A009}"/>
              </a:ext>
            </a:extLst>
          </p:cNvPr>
          <p:cNvSpPr>
            <a:spLocks noChangeArrowheads="1"/>
          </p:cNvSpPr>
          <p:nvPr/>
        </p:nvSpPr>
        <p:spPr bwMode="auto">
          <a:xfrm>
            <a:off x="2346325" y="2995613"/>
            <a:ext cx="74771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出错</a:t>
            </a:r>
          </a:p>
        </p:txBody>
      </p:sp>
      <p:sp>
        <p:nvSpPr>
          <p:cNvPr id="47125" name="Line 24">
            <a:extLst>
              <a:ext uri="{FF2B5EF4-FFF2-40B4-BE49-F238E27FC236}">
                <a16:creationId xmlns:a16="http://schemas.microsoft.com/office/drawing/2014/main" id="{58EEED29-4FAC-F4D7-8B09-48658D046100}"/>
              </a:ext>
            </a:extLst>
          </p:cNvPr>
          <p:cNvSpPr>
            <a:spLocks noChangeShapeType="1"/>
          </p:cNvSpPr>
          <p:nvPr/>
        </p:nvSpPr>
        <p:spPr bwMode="auto">
          <a:xfrm rot="5400000" flipV="1">
            <a:off x="3463132" y="2712244"/>
            <a:ext cx="0" cy="928687"/>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47126" name="Line 25">
            <a:extLst>
              <a:ext uri="{FF2B5EF4-FFF2-40B4-BE49-F238E27FC236}">
                <a16:creationId xmlns:a16="http://schemas.microsoft.com/office/drawing/2014/main" id="{7BA151AC-220F-0F01-F652-7AC3750DFC4E}"/>
              </a:ext>
            </a:extLst>
          </p:cNvPr>
          <p:cNvSpPr>
            <a:spLocks noChangeShapeType="1"/>
          </p:cNvSpPr>
          <p:nvPr/>
        </p:nvSpPr>
        <p:spPr bwMode="auto">
          <a:xfrm>
            <a:off x="4725988" y="1125538"/>
            <a:ext cx="0" cy="42227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27" name="Line 26">
            <a:extLst>
              <a:ext uri="{FF2B5EF4-FFF2-40B4-BE49-F238E27FC236}">
                <a16:creationId xmlns:a16="http://schemas.microsoft.com/office/drawing/2014/main" id="{D17C7CE4-B3DA-D220-123F-66A04B50F5E6}"/>
              </a:ext>
            </a:extLst>
          </p:cNvPr>
          <p:cNvSpPr>
            <a:spLocks noChangeShapeType="1"/>
          </p:cNvSpPr>
          <p:nvPr/>
        </p:nvSpPr>
        <p:spPr bwMode="auto">
          <a:xfrm>
            <a:off x="4740275" y="1981200"/>
            <a:ext cx="0" cy="2524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28" name="Line 27">
            <a:extLst>
              <a:ext uri="{FF2B5EF4-FFF2-40B4-BE49-F238E27FC236}">
                <a16:creationId xmlns:a16="http://schemas.microsoft.com/office/drawing/2014/main" id="{2905AA4F-F1EC-58C3-89DE-4659BB229586}"/>
              </a:ext>
            </a:extLst>
          </p:cNvPr>
          <p:cNvSpPr>
            <a:spLocks noChangeShapeType="1"/>
          </p:cNvSpPr>
          <p:nvPr/>
        </p:nvSpPr>
        <p:spPr bwMode="auto">
          <a:xfrm>
            <a:off x="4705350" y="2654300"/>
            <a:ext cx="0" cy="36830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29" name="Line 28">
            <a:extLst>
              <a:ext uri="{FF2B5EF4-FFF2-40B4-BE49-F238E27FC236}">
                <a16:creationId xmlns:a16="http://schemas.microsoft.com/office/drawing/2014/main" id="{E592C23E-CB77-01CF-DDE2-9CA15429012D}"/>
              </a:ext>
            </a:extLst>
          </p:cNvPr>
          <p:cNvSpPr>
            <a:spLocks noChangeShapeType="1"/>
          </p:cNvSpPr>
          <p:nvPr/>
        </p:nvSpPr>
        <p:spPr bwMode="auto">
          <a:xfrm flipV="1">
            <a:off x="4740275" y="4891088"/>
            <a:ext cx="0" cy="36830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47130" name="Line 29">
            <a:extLst>
              <a:ext uri="{FF2B5EF4-FFF2-40B4-BE49-F238E27FC236}">
                <a16:creationId xmlns:a16="http://schemas.microsoft.com/office/drawing/2014/main" id="{F161F088-BB72-3A81-95F0-AC0ED5F3C768}"/>
              </a:ext>
            </a:extLst>
          </p:cNvPr>
          <p:cNvSpPr>
            <a:spLocks noChangeShapeType="1"/>
          </p:cNvSpPr>
          <p:nvPr/>
        </p:nvSpPr>
        <p:spPr bwMode="auto">
          <a:xfrm>
            <a:off x="4722813" y="3390900"/>
            <a:ext cx="0" cy="420688"/>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31" name="Line 30">
            <a:extLst>
              <a:ext uri="{FF2B5EF4-FFF2-40B4-BE49-F238E27FC236}">
                <a16:creationId xmlns:a16="http://schemas.microsoft.com/office/drawing/2014/main" id="{B4455926-BF7C-E3F7-E078-7A4EFAEE3D32}"/>
              </a:ext>
            </a:extLst>
          </p:cNvPr>
          <p:cNvSpPr>
            <a:spLocks noChangeShapeType="1"/>
          </p:cNvSpPr>
          <p:nvPr/>
        </p:nvSpPr>
        <p:spPr bwMode="auto">
          <a:xfrm>
            <a:off x="4705350" y="4213225"/>
            <a:ext cx="0" cy="32226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AC866408-168D-33B4-C652-2C999AB716AB}"/>
              </a:ext>
            </a:extLst>
          </p:cNvPr>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625A1F23-EB2E-2834-B60A-D02412F61DF4}"/>
              </a:ext>
            </a:extLst>
          </p:cNvPr>
          <p:cNvSpPr>
            <a:spLocks noGrp="1" noChangeArrowheads="1"/>
          </p:cNvSpPr>
          <p:nvPr>
            <p:ph type="title"/>
          </p:nvPr>
        </p:nvSpPr>
        <p:spPr>
          <a:xfrm>
            <a:off x="1100138" y="152400"/>
            <a:ext cx="7793037" cy="755650"/>
          </a:xfrm>
        </p:spPr>
        <p:txBody>
          <a:bodyPr/>
          <a:lstStyle/>
          <a:p>
            <a:r>
              <a:rPr lang="zh-CN" altLang="en-US"/>
              <a:t>程序直接控制方式特点</a:t>
            </a:r>
          </a:p>
        </p:txBody>
      </p:sp>
      <p:sp>
        <p:nvSpPr>
          <p:cNvPr id="48130" name="Rectangle 3">
            <a:extLst>
              <a:ext uri="{FF2B5EF4-FFF2-40B4-BE49-F238E27FC236}">
                <a16:creationId xmlns:a16="http://schemas.microsoft.com/office/drawing/2014/main" id="{371665B4-3483-603D-AD72-E1C24805E1BA}"/>
              </a:ext>
            </a:extLst>
          </p:cNvPr>
          <p:cNvSpPr>
            <a:spLocks noGrp="1" noChangeArrowheads="1"/>
          </p:cNvSpPr>
          <p:nvPr>
            <p:ph idx="1"/>
          </p:nvPr>
        </p:nvSpPr>
        <p:spPr>
          <a:xfrm>
            <a:off x="1131888" y="1125538"/>
            <a:ext cx="7772400" cy="4967287"/>
          </a:xfrm>
        </p:spPr>
        <p:txBody>
          <a:bodyPr/>
          <a:lstStyle/>
          <a:p>
            <a:r>
              <a:rPr lang="zh-CN" altLang="en-US"/>
              <a:t>工作方式简单，但</a:t>
            </a:r>
            <a:r>
              <a:rPr lang="en-US" altLang="zh-CN"/>
              <a:t>CPU</a:t>
            </a:r>
            <a:r>
              <a:rPr lang="zh-CN" altLang="en-US"/>
              <a:t>的利用率低。</a:t>
            </a:r>
          </a:p>
        </p:txBody>
      </p:sp>
      <p:sp>
        <p:nvSpPr>
          <p:cNvPr id="2" name="灯片编号占位符 1">
            <a:extLst>
              <a:ext uri="{FF2B5EF4-FFF2-40B4-BE49-F238E27FC236}">
                <a16:creationId xmlns:a16="http://schemas.microsoft.com/office/drawing/2014/main" id="{CA3F1018-293B-4C7B-A115-0404AB521998}"/>
              </a:ext>
            </a:extLst>
          </p:cNvPr>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5EABEE5F-7253-82FA-E1D3-E29030B3B5CF}"/>
              </a:ext>
            </a:extLst>
          </p:cNvPr>
          <p:cNvSpPr>
            <a:spLocks noGrp="1" noChangeArrowheads="1"/>
          </p:cNvSpPr>
          <p:nvPr>
            <p:ph type="title"/>
          </p:nvPr>
        </p:nvSpPr>
        <p:spPr/>
        <p:txBody>
          <a:bodyPr/>
          <a:lstStyle/>
          <a:p>
            <a:pPr eaLnBrk="1" hangingPunct="1"/>
            <a:r>
              <a:rPr lang="zh-CN" altLang="en-US" sz="4000"/>
              <a:t>主机与控制器之间</a:t>
            </a:r>
          </a:p>
        </p:txBody>
      </p:sp>
      <p:sp>
        <p:nvSpPr>
          <p:cNvPr id="49154" name="Rectangle 3">
            <a:extLst>
              <a:ext uri="{FF2B5EF4-FFF2-40B4-BE49-F238E27FC236}">
                <a16:creationId xmlns:a16="http://schemas.microsoft.com/office/drawing/2014/main" id="{8BA1B7B2-DB39-5877-74AE-26736962EF5B}"/>
              </a:ext>
            </a:extLst>
          </p:cNvPr>
          <p:cNvSpPr>
            <a:spLocks noGrp="1" noChangeArrowheads="1"/>
          </p:cNvSpPr>
          <p:nvPr>
            <p:ph idx="1"/>
          </p:nvPr>
        </p:nvSpPr>
        <p:spPr/>
        <p:txBody>
          <a:bodyPr>
            <a:normAutofit lnSpcReduction="10000"/>
          </a:bodyPr>
          <a:lstStyle/>
          <a:p>
            <a:pPr eaLnBrk="1" hangingPunct="1"/>
            <a:r>
              <a:rPr lang="en-US" altLang="zh-CN" sz="2800" dirty="0"/>
              <a:t>Two bits</a:t>
            </a:r>
          </a:p>
          <a:p>
            <a:pPr lvl="1" eaLnBrk="1" hangingPunct="1"/>
            <a:r>
              <a:rPr lang="en-US" altLang="zh-CN" sz="2400" dirty="0"/>
              <a:t>The busy bit indicates if the controller is busy or not working.</a:t>
            </a:r>
          </a:p>
          <a:p>
            <a:pPr lvl="1" eaLnBrk="1" hangingPunct="1"/>
            <a:r>
              <a:rPr lang="en-US" altLang="zh-CN" sz="2400" dirty="0"/>
              <a:t>The command-ready bit indicates if  a command is available or not for the controller to execute. </a:t>
            </a:r>
          </a:p>
          <a:p>
            <a:pPr eaLnBrk="1" hangingPunct="1"/>
            <a:r>
              <a:rPr lang="en-US" altLang="zh-CN" sz="2800" dirty="0"/>
              <a:t>An example</a:t>
            </a:r>
          </a:p>
          <a:p>
            <a:pPr lvl="1" eaLnBrk="1" hangingPunct="1"/>
            <a:r>
              <a:rPr lang="en-US" altLang="zh-CN" sz="2400" dirty="0"/>
              <a:t>The host </a:t>
            </a:r>
            <a:r>
              <a:rPr lang="en-US" altLang="zh-CN" sz="2400" u="sng" dirty="0"/>
              <a:t>repeatedly</a:t>
            </a:r>
            <a:r>
              <a:rPr lang="en-US" altLang="zh-CN" sz="2400" dirty="0"/>
              <a:t> reads the busy bit until that it becomes clear (busy waiting or polling)</a:t>
            </a:r>
          </a:p>
          <a:p>
            <a:pPr lvl="1" eaLnBrk="1" hangingPunct="1"/>
            <a:r>
              <a:rPr lang="en-US" altLang="zh-CN" sz="2400" dirty="0"/>
              <a:t>The host sets the write bit in the command register and writes a byte into the data-out register</a:t>
            </a:r>
            <a:endParaRPr lang="zh-CN" altLang="en-US" sz="2400" dirty="0"/>
          </a:p>
        </p:txBody>
      </p:sp>
      <p:sp>
        <p:nvSpPr>
          <p:cNvPr id="2" name="灯片编号占位符 1">
            <a:extLst>
              <a:ext uri="{FF2B5EF4-FFF2-40B4-BE49-F238E27FC236}">
                <a16:creationId xmlns:a16="http://schemas.microsoft.com/office/drawing/2014/main" id="{DBA8A031-D669-2119-BD07-812B2A827A1A}"/>
              </a:ext>
            </a:extLst>
          </p:cNvPr>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spTree>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D0E0D505-9AFA-F4D3-1389-970128D921D0}"/>
              </a:ext>
            </a:extLst>
          </p:cNvPr>
          <p:cNvSpPr>
            <a:spLocks noGrp="1" noChangeArrowheads="1"/>
          </p:cNvSpPr>
          <p:nvPr>
            <p:ph type="title"/>
          </p:nvPr>
        </p:nvSpPr>
        <p:spPr/>
        <p:txBody>
          <a:bodyPr/>
          <a:lstStyle/>
          <a:p>
            <a:pPr eaLnBrk="1" hangingPunct="1"/>
            <a:r>
              <a:rPr lang="zh-CN" altLang="en-US" sz="4000"/>
              <a:t>主机与控制器之间续</a:t>
            </a:r>
          </a:p>
        </p:txBody>
      </p:sp>
      <p:sp>
        <p:nvSpPr>
          <p:cNvPr id="50178" name="Rectangle 3">
            <a:extLst>
              <a:ext uri="{FF2B5EF4-FFF2-40B4-BE49-F238E27FC236}">
                <a16:creationId xmlns:a16="http://schemas.microsoft.com/office/drawing/2014/main" id="{81FF17A0-7D00-8CE4-020A-7A2B78D15F01}"/>
              </a:ext>
            </a:extLst>
          </p:cNvPr>
          <p:cNvSpPr>
            <a:spLocks noGrp="1" noChangeArrowheads="1"/>
          </p:cNvSpPr>
          <p:nvPr>
            <p:ph idx="1"/>
          </p:nvPr>
        </p:nvSpPr>
        <p:spPr>
          <a:xfrm>
            <a:off x="827088" y="1125538"/>
            <a:ext cx="8077200" cy="4967287"/>
          </a:xfrm>
        </p:spPr>
        <p:txBody>
          <a:bodyPr/>
          <a:lstStyle/>
          <a:p>
            <a:pPr lvl="1" eaLnBrk="1" hangingPunct="1"/>
            <a:r>
              <a:rPr lang="en-US" altLang="zh-CN" sz="2400" dirty="0"/>
              <a:t>The host sets the command-ready bit</a:t>
            </a:r>
          </a:p>
          <a:p>
            <a:pPr lvl="1" eaLnBrk="1" hangingPunct="1"/>
            <a:r>
              <a:rPr lang="en-US" altLang="zh-CN" sz="2400" dirty="0"/>
              <a:t>When the controller notices that the command-ready bit is set, it sets the busy bit</a:t>
            </a:r>
          </a:p>
          <a:p>
            <a:pPr lvl="1" eaLnBrk="1" hangingPunct="1"/>
            <a:r>
              <a:rPr lang="en-US" altLang="zh-CN" sz="2400" dirty="0"/>
              <a:t>The controller reads the command register and sees the write command. It reads the data-out register to get the byte, and does the I/O to the device. </a:t>
            </a:r>
          </a:p>
          <a:p>
            <a:pPr lvl="1" eaLnBrk="1" hangingPunct="1"/>
            <a:r>
              <a:rPr lang="en-US" altLang="zh-CN" sz="2400" dirty="0"/>
              <a:t>The controller clears the command-ready bit, clears the error bit in the status register to indicate that the device I/O succeeded, and clears the busy bit to indicate that it is finished. </a:t>
            </a:r>
          </a:p>
        </p:txBody>
      </p:sp>
      <p:sp>
        <p:nvSpPr>
          <p:cNvPr id="2" name="灯片编号占位符 1">
            <a:extLst>
              <a:ext uri="{FF2B5EF4-FFF2-40B4-BE49-F238E27FC236}">
                <a16:creationId xmlns:a16="http://schemas.microsoft.com/office/drawing/2014/main" id="{7FA43B23-B5B0-064A-18C7-7BACA77F0CAA}"/>
              </a:ext>
            </a:extLst>
          </p:cNvPr>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1A9EC10-B52E-FED3-B7E3-959B8857E6D5}"/>
              </a:ext>
            </a:extLst>
          </p:cNvPr>
          <p:cNvSpPr>
            <a:spLocks noGrp="1" noChangeArrowheads="1"/>
          </p:cNvSpPr>
          <p:nvPr>
            <p:ph type="title"/>
          </p:nvPr>
        </p:nvSpPr>
        <p:spPr>
          <a:xfrm>
            <a:off x="1100138" y="152400"/>
            <a:ext cx="7793037" cy="755650"/>
          </a:xfrm>
        </p:spPr>
        <p:txBody>
          <a:bodyPr/>
          <a:lstStyle/>
          <a:p>
            <a:r>
              <a:rPr lang="zh-CN" altLang="en-US" dirty="0"/>
              <a:t>中断 </a:t>
            </a:r>
            <a:r>
              <a:rPr lang="en-US" altLang="zh-CN" dirty="0"/>
              <a:t>Interrupts</a:t>
            </a:r>
          </a:p>
        </p:txBody>
      </p:sp>
      <p:sp>
        <p:nvSpPr>
          <p:cNvPr id="51202" name="Rectangle 3">
            <a:extLst>
              <a:ext uri="{FF2B5EF4-FFF2-40B4-BE49-F238E27FC236}">
                <a16:creationId xmlns:a16="http://schemas.microsoft.com/office/drawing/2014/main" id="{4323E9E6-3A6F-AC76-C1C8-1EFE1AE8BD4E}"/>
              </a:ext>
            </a:extLst>
          </p:cNvPr>
          <p:cNvSpPr>
            <a:spLocks noGrp="1" noChangeArrowheads="1"/>
          </p:cNvSpPr>
          <p:nvPr>
            <p:ph idx="1"/>
          </p:nvPr>
        </p:nvSpPr>
        <p:spPr>
          <a:xfrm>
            <a:off x="1131888" y="1125538"/>
            <a:ext cx="7772400" cy="4967287"/>
          </a:xfrm>
        </p:spPr>
        <p:txBody>
          <a:bodyPr/>
          <a:lstStyle/>
          <a:p>
            <a:r>
              <a:rPr lang="zh-CN" altLang="en-US"/>
              <a:t>现代计算机系统中对设备的控制广泛采用了中断控制方式。以输入为例，其过程为：</a:t>
            </a:r>
          </a:p>
        </p:txBody>
      </p:sp>
      <p:sp>
        <p:nvSpPr>
          <p:cNvPr id="2" name="灯片编号占位符 1">
            <a:extLst>
              <a:ext uri="{FF2B5EF4-FFF2-40B4-BE49-F238E27FC236}">
                <a16:creationId xmlns:a16="http://schemas.microsoft.com/office/drawing/2014/main" id="{B1DB0F82-1AFA-DF75-C637-59442ED9965F}"/>
              </a:ext>
            </a:extLst>
          </p:cNvPr>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9024D32E-7086-335F-6251-765339B97094}"/>
              </a:ext>
            </a:extLst>
          </p:cNvPr>
          <p:cNvSpPr>
            <a:spLocks noGrp="1" noChangeArrowheads="1"/>
          </p:cNvSpPr>
          <p:nvPr>
            <p:ph type="title"/>
          </p:nvPr>
        </p:nvSpPr>
        <p:spPr/>
        <p:txBody>
          <a:bodyPr/>
          <a:lstStyle/>
          <a:p>
            <a:pPr eaLnBrk="1" hangingPunct="1"/>
            <a:r>
              <a:rPr lang="zh-CN" altLang="en-US" b="1"/>
              <a:t>中断控制方式流程</a:t>
            </a:r>
          </a:p>
        </p:txBody>
      </p:sp>
      <p:sp>
        <p:nvSpPr>
          <p:cNvPr id="52226" name="Rectangle 5">
            <a:extLst>
              <a:ext uri="{FF2B5EF4-FFF2-40B4-BE49-F238E27FC236}">
                <a16:creationId xmlns:a16="http://schemas.microsoft.com/office/drawing/2014/main" id="{3F8114C7-BDF6-19EA-A982-9422ED138839}"/>
              </a:ext>
            </a:extLst>
          </p:cNvPr>
          <p:cNvSpPr>
            <a:spLocks noChangeArrowheads="1"/>
          </p:cNvSpPr>
          <p:nvPr/>
        </p:nvSpPr>
        <p:spPr bwMode="auto">
          <a:xfrm>
            <a:off x="2211388" y="1917700"/>
            <a:ext cx="289401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向</a:t>
            </a:r>
            <a:r>
              <a:rPr lang="en-US" altLang="zh-CN" sz="2000">
                <a:latin typeface="Times New Roman" panose="02020603050405020304" pitchFamily="18" charset="0"/>
              </a:rPr>
              <a:t>I/O</a:t>
            </a:r>
            <a:r>
              <a:rPr lang="zh-CN" altLang="en-US" sz="2000">
                <a:latin typeface="Times New Roman" panose="02020603050405020304" pitchFamily="18" charset="0"/>
              </a:rPr>
              <a:t>控制器发出读命令</a:t>
            </a:r>
          </a:p>
        </p:txBody>
      </p:sp>
      <p:sp>
        <p:nvSpPr>
          <p:cNvPr id="52227" name="Rectangle 6">
            <a:extLst>
              <a:ext uri="{FF2B5EF4-FFF2-40B4-BE49-F238E27FC236}">
                <a16:creationId xmlns:a16="http://schemas.microsoft.com/office/drawing/2014/main" id="{08BE5B64-E504-C383-7C1B-62B071212B71}"/>
              </a:ext>
            </a:extLst>
          </p:cNvPr>
          <p:cNvSpPr>
            <a:spLocks noChangeArrowheads="1"/>
          </p:cNvSpPr>
          <p:nvPr/>
        </p:nvSpPr>
        <p:spPr bwMode="auto">
          <a:xfrm>
            <a:off x="2530475" y="2701925"/>
            <a:ext cx="2574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读</a:t>
            </a:r>
            <a:r>
              <a:rPr lang="en-US" altLang="zh-CN" sz="2000">
                <a:latin typeface="Times New Roman" panose="02020603050405020304" pitchFamily="18" charset="0"/>
              </a:rPr>
              <a:t>I/O</a:t>
            </a:r>
            <a:r>
              <a:rPr lang="zh-CN" altLang="en-US" sz="2000">
                <a:latin typeface="Times New Roman" panose="02020603050405020304" pitchFamily="18" charset="0"/>
              </a:rPr>
              <a:t>控制器的状态</a:t>
            </a:r>
          </a:p>
        </p:txBody>
      </p:sp>
      <p:sp>
        <p:nvSpPr>
          <p:cNvPr id="52228" name="Line 7">
            <a:extLst>
              <a:ext uri="{FF2B5EF4-FFF2-40B4-BE49-F238E27FC236}">
                <a16:creationId xmlns:a16="http://schemas.microsoft.com/office/drawing/2014/main" id="{9D99A171-3E96-4C86-79E3-D31A68A2232A}"/>
              </a:ext>
            </a:extLst>
          </p:cNvPr>
          <p:cNvSpPr>
            <a:spLocks noChangeShapeType="1"/>
          </p:cNvSpPr>
          <p:nvPr/>
        </p:nvSpPr>
        <p:spPr bwMode="auto">
          <a:xfrm>
            <a:off x="3452813" y="2319338"/>
            <a:ext cx="0" cy="3063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29" name="Rectangle 8">
            <a:extLst>
              <a:ext uri="{FF2B5EF4-FFF2-40B4-BE49-F238E27FC236}">
                <a16:creationId xmlns:a16="http://schemas.microsoft.com/office/drawing/2014/main" id="{41C274ED-2C09-3D9B-0172-E1F7C0337AC7}"/>
              </a:ext>
            </a:extLst>
          </p:cNvPr>
          <p:cNvSpPr>
            <a:spLocks noChangeArrowheads="1"/>
          </p:cNvSpPr>
          <p:nvPr/>
        </p:nvSpPr>
        <p:spPr bwMode="auto">
          <a:xfrm>
            <a:off x="2820988" y="5740400"/>
            <a:ext cx="13700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传送完成？</a:t>
            </a:r>
          </a:p>
        </p:txBody>
      </p:sp>
      <p:sp>
        <p:nvSpPr>
          <p:cNvPr id="52230" name="Line 9">
            <a:extLst>
              <a:ext uri="{FF2B5EF4-FFF2-40B4-BE49-F238E27FC236}">
                <a16:creationId xmlns:a16="http://schemas.microsoft.com/office/drawing/2014/main" id="{30FBB43B-83DB-0067-B749-92786558E4A3}"/>
              </a:ext>
            </a:extLst>
          </p:cNvPr>
          <p:cNvSpPr>
            <a:spLocks noChangeShapeType="1"/>
          </p:cNvSpPr>
          <p:nvPr/>
        </p:nvSpPr>
        <p:spPr bwMode="auto">
          <a:xfrm>
            <a:off x="3492500" y="3048000"/>
            <a:ext cx="0" cy="3778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31" name="Rectangle 10">
            <a:extLst>
              <a:ext uri="{FF2B5EF4-FFF2-40B4-BE49-F238E27FC236}">
                <a16:creationId xmlns:a16="http://schemas.microsoft.com/office/drawing/2014/main" id="{B5A915E9-8FB7-0B17-132A-865905F97FE9}"/>
              </a:ext>
            </a:extLst>
          </p:cNvPr>
          <p:cNvSpPr>
            <a:spLocks noChangeArrowheads="1"/>
          </p:cNvSpPr>
          <p:nvPr/>
        </p:nvSpPr>
        <p:spPr bwMode="auto">
          <a:xfrm>
            <a:off x="2998788" y="3405188"/>
            <a:ext cx="1497012"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检查状态？</a:t>
            </a:r>
          </a:p>
        </p:txBody>
      </p:sp>
      <p:sp>
        <p:nvSpPr>
          <p:cNvPr id="52232" name="Rectangle 11">
            <a:extLst>
              <a:ext uri="{FF2B5EF4-FFF2-40B4-BE49-F238E27FC236}">
                <a16:creationId xmlns:a16="http://schemas.microsoft.com/office/drawing/2014/main" id="{B282ED1E-4F9B-7FA7-01DA-0EBA0CF21C2A}"/>
              </a:ext>
            </a:extLst>
          </p:cNvPr>
          <p:cNvSpPr>
            <a:spLocks noChangeArrowheads="1"/>
          </p:cNvSpPr>
          <p:nvPr/>
        </p:nvSpPr>
        <p:spPr bwMode="auto">
          <a:xfrm>
            <a:off x="5894388" y="3359150"/>
            <a:ext cx="8921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出错</a:t>
            </a:r>
          </a:p>
        </p:txBody>
      </p:sp>
      <p:sp>
        <p:nvSpPr>
          <p:cNvPr id="52233" name="Line 12">
            <a:extLst>
              <a:ext uri="{FF2B5EF4-FFF2-40B4-BE49-F238E27FC236}">
                <a16:creationId xmlns:a16="http://schemas.microsoft.com/office/drawing/2014/main" id="{BA797BA6-E269-57B7-EB20-2B9AC9FE5A0E}"/>
              </a:ext>
            </a:extLst>
          </p:cNvPr>
          <p:cNvSpPr>
            <a:spLocks noChangeShapeType="1"/>
          </p:cNvSpPr>
          <p:nvPr/>
        </p:nvSpPr>
        <p:spPr bwMode="auto">
          <a:xfrm flipV="1">
            <a:off x="3392488" y="5332413"/>
            <a:ext cx="0" cy="319087"/>
          </a:xfrm>
          <a:prstGeom prst="line">
            <a:avLst/>
          </a:prstGeom>
          <a:noFill/>
          <a:ln w="254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2234" name="Rectangle 13">
            <a:extLst>
              <a:ext uri="{FF2B5EF4-FFF2-40B4-BE49-F238E27FC236}">
                <a16:creationId xmlns:a16="http://schemas.microsoft.com/office/drawing/2014/main" id="{DD79DCB8-BA88-4C49-9E3D-D55571A8653C}"/>
              </a:ext>
            </a:extLst>
          </p:cNvPr>
          <p:cNvSpPr>
            <a:spLocks noChangeArrowheads="1"/>
          </p:cNvSpPr>
          <p:nvPr/>
        </p:nvSpPr>
        <p:spPr bwMode="auto">
          <a:xfrm>
            <a:off x="2139950" y="4271963"/>
            <a:ext cx="288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从</a:t>
            </a:r>
            <a:r>
              <a:rPr lang="en-US" altLang="zh-CN" sz="2000">
                <a:latin typeface="Times New Roman" panose="02020603050405020304" pitchFamily="18" charset="0"/>
              </a:rPr>
              <a:t>I/O</a:t>
            </a:r>
            <a:r>
              <a:rPr lang="zh-CN" altLang="en-US" sz="2000">
                <a:latin typeface="Times New Roman" panose="02020603050405020304" pitchFamily="18" charset="0"/>
              </a:rPr>
              <a:t>控制器中读入数据</a:t>
            </a:r>
          </a:p>
        </p:txBody>
      </p:sp>
      <p:sp>
        <p:nvSpPr>
          <p:cNvPr id="52235" name="Line 14">
            <a:extLst>
              <a:ext uri="{FF2B5EF4-FFF2-40B4-BE49-F238E27FC236}">
                <a16:creationId xmlns:a16="http://schemas.microsoft.com/office/drawing/2014/main" id="{7C33319B-9F2E-7177-FDCA-300C5653E1CC}"/>
              </a:ext>
            </a:extLst>
          </p:cNvPr>
          <p:cNvSpPr>
            <a:spLocks noChangeShapeType="1"/>
          </p:cNvSpPr>
          <p:nvPr/>
        </p:nvSpPr>
        <p:spPr bwMode="auto">
          <a:xfrm>
            <a:off x="3435350" y="3763963"/>
            <a:ext cx="0" cy="4587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36" name="Rectangle 15">
            <a:extLst>
              <a:ext uri="{FF2B5EF4-FFF2-40B4-BE49-F238E27FC236}">
                <a16:creationId xmlns:a16="http://schemas.microsoft.com/office/drawing/2014/main" id="{A63759EF-EA84-52F5-4108-11D35B0A854D}"/>
              </a:ext>
            </a:extLst>
          </p:cNvPr>
          <p:cNvSpPr>
            <a:spLocks noChangeArrowheads="1"/>
          </p:cNvSpPr>
          <p:nvPr/>
        </p:nvSpPr>
        <p:spPr bwMode="auto">
          <a:xfrm>
            <a:off x="2527300" y="3822700"/>
            <a:ext cx="76517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就绪</a:t>
            </a:r>
          </a:p>
        </p:txBody>
      </p:sp>
      <p:sp>
        <p:nvSpPr>
          <p:cNvPr id="52237" name="Line 16">
            <a:extLst>
              <a:ext uri="{FF2B5EF4-FFF2-40B4-BE49-F238E27FC236}">
                <a16:creationId xmlns:a16="http://schemas.microsoft.com/office/drawing/2014/main" id="{85C53DF6-BBB1-AECE-D533-FC6E221423ED}"/>
              </a:ext>
            </a:extLst>
          </p:cNvPr>
          <p:cNvSpPr>
            <a:spLocks noChangeShapeType="1"/>
          </p:cNvSpPr>
          <p:nvPr/>
        </p:nvSpPr>
        <p:spPr bwMode="auto">
          <a:xfrm>
            <a:off x="3417888" y="4652963"/>
            <a:ext cx="0" cy="3746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38" name="Rectangle 17">
            <a:extLst>
              <a:ext uri="{FF2B5EF4-FFF2-40B4-BE49-F238E27FC236}">
                <a16:creationId xmlns:a16="http://schemas.microsoft.com/office/drawing/2014/main" id="{F9BD04E2-5DE5-7637-65FD-61A2EEBD543A}"/>
              </a:ext>
            </a:extLst>
          </p:cNvPr>
          <p:cNvSpPr>
            <a:spLocks noChangeArrowheads="1"/>
          </p:cNvSpPr>
          <p:nvPr/>
        </p:nvSpPr>
        <p:spPr bwMode="auto">
          <a:xfrm>
            <a:off x="2327275" y="5018088"/>
            <a:ext cx="24733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向存储器中写入数据</a:t>
            </a:r>
          </a:p>
        </p:txBody>
      </p:sp>
      <p:sp>
        <p:nvSpPr>
          <p:cNvPr id="52239" name="Rectangle 18">
            <a:extLst>
              <a:ext uri="{FF2B5EF4-FFF2-40B4-BE49-F238E27FC236}">
                <a16:creationId xmlns:a16="http://schemas.microsoft.com/office/drawing/2014/main" id="{BFFD8F79-294C-E9C1-8D7D-37B89489CBB2}"/>
              </a:ext>
            </a:extLst>
          </p:cNvPr>
          <p:cNvSpPr>
            <a:spLocks noChangeArrowheads="1"/>
          </p:cNvSpPr>
          <p:nvPr/>
        </p:nvSpPr>
        <p:spPr bwMode="auto">
          <a:xfrm>
            <a:off x="1990725" y="5478463"/>
            <a:ext cx="393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N</a:t>
            </a:r>
          </a:p>
        </p:txBody>
      </p:sp>
      <p:sp>
        <p:nvSpPr>
          <p:cNvPr id="52240" name="Rectangle 19">
            <a:extLst>
              <a:ext uri="{FF2B5EF4-FFF2-40B4-BE49-F238E27FC236}">
                <a16:creationId xmlns:a16="http://schemas.microsoft.com/office/drawing/2014/main" id="{F09C2183-DB3C-938F-1957-460DE112EED4}"/>
              </a:ext>
            </a:extLst>
          </p:cNvPr>
          <p:cNvSpPr>
            <a:spLocks noChangeArrowheads="1"/>
          </p:cNvSpPr>
          <p:nvPr/>
        </p:nvSpPr>
        <p:spPr bwMode="auto">
          <a:xfrm>
            <a:off x="4597400" y="5486400"/>
            <a:ext cx="393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Y</a:t>
            </a:r>
          </a:p>
        </p:txBody>
      </p:sp>
      <p:sp>
        <p:nvSpPr>
          <p:cNvPr id="52241" name="Line 20">
            <a:extLst>
              <a:ext uri="{FF2B5EF4-FFF2-40B4-BE49-F238E27FC236}">
                <a16:creationId xmlns:a16="http://schemas.microsoft.com/office/drawing/2014/main" id="{A6606F67-3876-C892-76EC-2571184CAA54}"/>
              </a:ext>
            </a:extLst>
          </p:cNvPr>
          <p:cNvSpPr>
            <a:spLocks noChangeShapeType="1"/>
          </p:cNvSpPr>
          <p:nvPr/>
        </p:nvSpPr>
        <p:spPr bwMode="auto">
          <a:xfrm flipH="1">
            <a:off x="5022850" y="2844800"/>
            <a:ext cx="1211263" cy="0"/>
          </a:xfrm>
          <a:prstGeom prst="line">
            <a:avLst/>
          </a:prstGeom>
          <a:noFill/>
          <a:ln w="2540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42" name="Line 21">
            <a:extLst>
              <a:ext uri="{FF2B5EF4-FFF2-40B4-BE49-F238E27FC236}">
                <a16:creationId xmlns:a16="http://schemas.microsoft.com/office/drawing/2014/main" id="{0C8AF5DC-5530-4D0A-24AA-0661D9FC3DEE}"/>
              </a:ext>
            </a:extLst>
          </p:cNvPr>
          <p:cNvSpPr>
            <a:spLocks noChangeShapeType="1"/>
          </p:cNvSpPr>
          <p:nvPr/>
        </p:nvSpPr>
        <p:spPr bwMode="auto">
          <a:xfrm flipV="1">
            <a:off x="1300163" y="1687513"/>
            <a:ext cx="2103437"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43" name="Line 22">
            <a:extLst>
              <a:ext uri="{FF2B5EF4-FFF2-40B4-BE49-F238E27FC236}">
                <a16:creationId xmlns:a16="http://schemas.microsoft.com/office/drawing/2014/main" id="{4448A158-0D6D-6C8B-A647-F9DBD6B72DFA}"/>
              </a:ext>
            </a:extLst>
          </p:cNvPr>
          <p:cNvSpPr>
            <a:spLocks noChangeShapeType="1"/>
          </p:cNvSpPr>
          <p:nvPr/>
        </p:nvSpPr>
        <p:spPr bwMode="auto">
          <a:xfrm flipH="1">
            <a:off x="1300163" y="5926138"/>
            <a:ext cx="1228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Line 23">
            <a:extLst>
              <a:ext uri="{FF2B5EF4-FFF2-40B4-BE49-F238E27FC236}">
                <a16:creationId xmlns:a16="http://schemas.microsoft.com/office/drawing/2014/main" id="{D796447D-A769-D02E-9C35-3DD66D85CA48}"/>
              </a:ext>
            </a:extLst>
          </p:cNvPr>
          <p:cNvSpPr>
            <a:spLocks noChangeShapeType="1"/>
          </p:cNvSpPr>
          <p:nvPr/>
        </p:nvSpPr>
        <p:spPr bwMode="auto">
          <a:xfrm flipH="1">
            <a:off x="1295400" y="1716088"/>
            <a:ext cx="0" cy="4194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5" name="Line 24">
            <a:extLst>
              <a:ext uri="{FF2B5EF4-FFF2-40B4-BE49-F238E27FC236}">
                <a16:creationId xmlns:a16="http://schemas.microsoft.com/office/drawing/2014/main" id="{9751E79F-9D65-A7F0-A802-DF2D9D4D8113}"/>
              </a:ext>
            </a:extLst>
          </p:cNvPr>
          <p:cNvSpPr>
            <a:spLocks noChangeShapeType="1"/>
          </p:cNvSpPr>
          <p:nvPr/>
        </p:nvSpPr>
        <p:spPr bwMode="auto">
          <a:xfrm flipH="1" flipV="1">
            <a:off x="4487863" y="3603625"/>
            <a:ext cx="1346200" cy="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52246" name="Rectangle 25">
            <a:extLst>
              <a:ext uri="{FF2B5EF4-FFF2-40B4-BE49-F238E27FC236}">
                <a16:creationId xmlns:a16="http://schemas.microsoft.com/office/drawing/2014/main" id="{93CDF5AE-1689-90B8-2C03-6A3E7FBBDB3A}"/>
              </a:ext>
            </a:extLst>
          </p:cNvPr>
          <p:cNvSpPr>
            <a:spLocks noChangeArrowheads="1"/>
          </p:cNvSpPr>
          <p:nvPr/>
        </p:nvSpPr>
        <p:spPr bwMode="auto">
          <a:xfrm>
            <a:off x="5432425" y="5743575"/>
            <a:ext cx="217487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执行下条指令</a:t>
            </a:r>
          </a:p>
        </p:txBody>
      </p:sp>
      <p:sp>
        <p:nvSpPr>
          <p:cNvPr id="52247" name="Line 26">
            <a:extLst>
              <a:ext uri="{FF2B5EF4-FFF2-40B4-BE49-F238E27FC236}">
                <a16:creationId xmlns:a16="http://schemas.microsoft.com/office/drawing/2014/main" id="{42B61968-525D-6BA2-26D7-DFF8BE4EDEF1}"/>
              </a:ext>
            </a:extLst>
          </p:cNvPr>
          <p:cNvSpPr>
            <a:spLocks noChangeShapeType="1"/>
          </p:cNvSpPr>
          <p:nvPr/>
        </p:nvSpPr>
        <p:spPr bwMode="auto">
          <a:xfrm rot="5400000" flipV="1">
            <a:off x="4872038" y="5414963"/>
            <a:ext cx="15875" cy="10001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48" name="Line 27">
            <a:extLst>
              <a:ext uri="{FF2B5EF4-FFF2-40B4-BE49-F238E27FC236}">
                <a16:creationId xmlns:a16="http://schemas.microsoft.com/office/drawing/2014/main" id="{F6AF1152-7406-9A37-BA9A-F77C8AC49684}"/>
              </a:ext>
            </a:extLst>
          </p:cNvPr>
          <p:cNvSpPr>
            <a:spLocks noChangeShapeType="1"/>
          </p:cNvSpPr>
          <p:nvPr/>
        </p:nvSpPr>
        <p:spPr bwMode="auto">
          <a:xfrm>
            <a:off x="3435350" y="1268413"/>
            <a:ext cx="0" cy="5683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49" name="Line 28">
            <a:extLst>
              <a:ext uri="{FF2B5EF4-FFF2-40B4-BE49-F238E27FC236}">
                <a16:creationId xmlns:a16="http://schemas.microsoft.com/office/drawing/2014/main" id="{9E5EF120-FE5B-F913-6E8F-33145D30BD3E}"/>
              </a:ext>
            </a:extLst>
          </p:cNvPr>
          <p:cNvSpPr>
            <a:spLocks noChangeShapeType="1"/>
          </p:cNvSpPr>
          <p:nvPr/>
        </p:nvSpPr>
        <p:spPr bwMode="auto">
          <a:xfrm rot="5400000" flipV="1">
            <a:off x="5489575" y="1592263"/>
            <a:ext cx="0" cy="996950"/>
          </a:xfrm>
          <a:prstGeom prst="line">
            <a:avLst/>
          </a:prstGeom>
          <a:noFill/>
          <a:ln w="2540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250" name="Rectangle 29">
            <a:extLst>
              <a:ext uri="{FF2B5EF4-FFF2-40B4-BE49-F238E27FC236}">
                <a16:creationId xmlns:a16="http://schemas.microsoft.com/office/drawing/2014/main" id="{A3E44265-4E3F-E414-546A-E5FAFF2A6DFB}"/>
              </a:ext>
            </a:extLst>
          </p:cNvPr>
          <p:cNvSpPr>
            <a:spLocks noChangeArrowheads="1"/>
          </p:cNvSpPr>
          <p:nvPr/>
        </p:nvSpPr>
        <p:spPr bwMode="auto">
          <a:xfrm>
            <a:off x="6102350" y="1912938"/>
            <a:ext cx="2584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CPU</a:t>
            </a:r>
            <a:r>
              <a:rPr lang="zh-CN" altLang="en-US" sz="2000">
                <a:latin typeface="Times New Roman" panose="02020603050405020304" pitchFamily="18" charset="0"/>
              </a:rPr>
              <a:t>做其他事情</a:t>
            </a:r>
          </a:p>
        </p:txBody>
      </p:sp>
      <p:sp>
        <p:nvSpPr>
          <p:cNvPr id="52251" name="Rectangle 30">
            <a:extLst>
              <a:ext uri="{FF2B5EF4-FFF2-40B4-BE49-F238E27FC236}">
                <a16:creationId xmlns:a16="http://schemas.microsoft.com/office/drawing/2014/main" id="{52980C06-9C69-7B88-4D20-401CE744B523}"/>
              </a:ext>
            </a:extLst>
          </p:cNvPr>
          <p:cNvSpPr>
            <a:spLocks noChangeArrowheads="1"/>
          </p:cNvSpPr>
          <p:nvPr/>
        </p:nvSpPr>
        <p:spPr bwMode="auto">
          <a:xfrm>
            <a:off x="6384925" y="2636838"/>
            <a:ext cx="803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中断</a:t>
            </a:r>
          </a:p>
        </p:txBody>
      </p:sp>
      <p:sp>
        <p:nvSpPr>
          <p:cNvPr id="2" name="灯片编号占位符 1">
            <a:extLst>
              <a:ext uri="{FF2B5EF4-FFF2-40B4-BE49-F238E27FC236}">
                <a16:creationId xmlns:a16="http://schemas.microsoft.com/office/drawing/2014/main" id="{A0B3F7F1-533D-706E-6CA4-292C328A957E}"/>
              </a:ext>
            </a:extLst>
          </p:cNvPr>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39F5279E-3736-D619-6449-E3B3538747AB}"/>
              </a:ext>
            </a:extLst>
          </p:cNvPr>
          <p:cNvSpPr>
            <a:spLocks noGrp="1" noChangeArrowheads="1"/>
          </p:cNvSpPr>
          <p:nvPr>
            <p:ph type="title"/>
          </p:nvPr>
        </p:nvSpPr>
        <p:spPr>
          <a:xfrm>
            <a:off x="1100138" y="152400"/>
            <a:ext cx="7793037" cy="755650"/>
          </a:xfrm>
        </p:spPr>
        <p:txBody>
          <a:bodyPr/>
          <a:lstStyle/>
          <a:p>
            <a:r>
              <a:rPr lang="zh-CN" altLang="en-US" dirty="0"/>
              <a:t>中断驱动的</a:t>
            </a:r>
            <a:r>
              <a:rPr lang="en-US" altLang="zh-CN" dirty="0"/>
              <a:t>I/O</a:t>
            </a:r>
            <a:r>
              <a:rPr lang="zh-CN" altLang="en-US" dirty="0"/>
              <a:t>循环</a:t>
            </a:r>
          </a:p>
        </p:txBody>
      </p:sp>
      <p:sp>
        <p:nvSpPr>
          <p:cNvPr id="3" name="内容占位符 2">
            <a:extLst>
              <a:ext uri="{FF2B5EF4-FFF2-40B4-BE49-F238E27FC236}">
                <a16:creationId xmlns:a16="http://schemas.microsoft.com/office/drawing/2014/main" id="{709DE485-916B-0F91-AAE8-6B78521738AD}"/>
              </a:ext>
            </a:extLst>
          </p:cNvPr>
          <p:cNvSpPr>
            <a:spLocks noGrp="1"/>
          </p:cNvSpPr>
          <p:nvPr>
            <p:ph idx="1"/>
          </p:nvPr>
        </p:nvSpPr>
        <p:spPr/>
        <p:txBody>
          <a:bodyPr/>
          <a:lstStyle/>
          <a:p>
            <a:endParaRPr lang="zh-CN" altLang="en-US"/>
          </a:p>
        </p:txBody>
      </p:sp>
      <p:pic>
        <p:nvPicPr>
          <p:cNvPr id="53250" name="Picture 3">
            <a:extLst>
              <a:ext uri="{FF2B5EF4-FFF2-40B4-BE49-F238E27FC236}">
                <a16:creationId xmlns:a16="http://schemas.microsoft.com/office/drawing/2014/main" id="{C2280EF1-50A7-0407-3AE8-41B5AE112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120" t="1248" r="11801" b="426"/>
          <a:stretch>
            <a:fillRect/>
          </a:stretch>
        </p:blipFill>
        <p:spPr bwMode="auto">
          <a:xfrm>
            <a:off x="468313" y="1112838"/>
            <a:ext cx="8329612" cy="54117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95D62EEA-28F0-3CE4-1753-9F5695B050F3}"/>
              </a:ext>
            </a:extLst>
          </p:cNvPr>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A3335E6-715C-118B-6E33-3B0880FD0585}"/>
              </a:ext>
            </a:extLst>
          </p:cNvPr>
          <p:cNvSpPr>
            <a:spLocks noGrp="1" noChangeArrowheads="1"/>
          </p:cNvSpPr>
          <p:nvPr>
            <p:ph type="title"/>
          </p:nvPr>
        </p:nvSpPr>
        <p:spPr/>
        <p:txBody>
          <a:bodyPr/>
          <a:lstStyle/>
          <a:p>
            <a:pPr eaLnBrk="1" hangingPunct="1"/>
            <a:r>
              <a:rPr lang="zh-CN" altLang="en-US" b="1"/>
              <a:t>中断控制方式特点</a:t>
            </a:r>
            <a:endParaRPr lang="en-US" altLang="zh-CN" b="1"/>
          </a:p>
        </p:txBody>
      </p:sp>
      <p:sp>
        <p:nvSpPr>
          <p:cNvPr id="54274" name="Rectangle 3">
            <a:extLst>
              <a:ext uri="{FF2B5EF4-FFF2-40B4-BE49-F238E27FC236}">
                <a16:creationId xmlns:a16="http://schemas.microsoft.com/office/drawing/2014/main" id="{81CAC717-64D8-15BF-AAAC-9C31C88A57B5}"/>
              </a:ext>
            </a:extLst>
          </p:cNvPr>
          <p:cNvSpPr>
            <a:spLocks noGrp="1" noChangeArrowheads="1"/>
          </p:cNvSpPr>
          <p:nvPr>
            <p:ph idx="1"/>
          </p:nvPr>
        </p:nvSpPr>
        <p:spPr>
          <a:xfrm>
            <a:off x="900113" y="1268413"/>
            <a:ext cx="7939087" cy="2667000"/>
          </a:xfrm>
        </p:spPr>
        <p:txBody>
          <a:bodyPr/>
          <a:lstStyle/>
          <a:p>
            <a:pPr algn="just" eaLnBrk="1" hangingPunct="1">
              <a:lnSpc>
                <a:spcPct val="120000"/>
              </a:lnSpc>
            </a:pPr>
            <a:r>
              <a:rPr lang="en-US" altLang="zh-CN"/>
              <a:t>CPU</a:t>
            </a:r>
            <a:r>
              <a:rPr lang="zh-CN" altLang="en-US">
                <a:latin typeface="Times New Roman" panose="02020603050405020304" pitchFamily="18" charset="0"/>
              </a:rPr>
              <a:t>与设备并行工作，仅当</a:t>
            </a:r>
            <a:r>
              <a:rPr lang="en-US" altLang="zh-CN"/>
              <a:t>I/O</a:t>
            </a:r>
            <a:r>
              <a:rPr lang="zh-CN" altLang="en-US">
                <a:latin typeface="Times New Roman" panose="02020603050405020304" pitchFamily="18" charset="0"/>
              </a:rPr>
              <a:t>结束时才需</a:t>
            </a:r>
            <a:r>
              <a:rPr lang="en-US" altLang="zh-CN"/>
              <a:t>CPU</a:t>
            </a:r>
            <a:r>
              <a:rPr lang="zh-CN" altLang="en-US"/>
              <a:t>花费极短</a:t>
            </a:r>
            <a:r>
              <a:rPr lang="zh-CN" altLang="en-US">
                <a:latin typeface="Times New Roman" panose="02020603050405020304" pitchFamily="18" charset="0"/>
              </a:rPr>
              <a:t>时间做中断处理。</a:t>
            </a:r>
            <a:r>
              <a:rPr lang="en-US" altLang="zh-CN">
                <a:latin typeface="Times New Roman" panose="02020603050405020304" pitchFamily="18" charset="0"/>
              </a:rPr>
              <a:t>CPU</a:t>
            </a:r>
            <a:r>
              <a:rPr lang="zh-CN" altLang="en-US">
                <a:latin typeface="Times New Roman" panose="02020603050405020304" pitchFamily="18" charset="0"/>
              </a:rPr>
              <a:t>利用率大大提高。</a:t>
            </a:r>
            <a:endParaRPr lang="zh-CN" altLang="en-US"/>
          </a:p>
        </p:txBody>
      </p:sp>
      <p:sp>
        <p:nvSpPr>
          <p:cNvPr id="2" name="灯片编号占位符 1">
            <a:extLst>
              <a:ext uri="{FF2B5EF4-FFF2-40B4-BE49-F238E27FC236}">
                <a16:creationId xmlns:a16="http://schemas.microsoft.com/office/drawing/2014/main" id="{550F874E-B35F-89B3-1D49-F051DCEF8DC0}"/>
              </a:ext>
            </a:extLst>
          </p:cNvPr>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DC3D5946-680B-BD22-80C0-4DBE64B274A9}"/>
              </a:ext>
            </a:extLst>
          </p:cNvPr>
          <p:cNvSpPr>
            <a:spLocks noGrp="1" noChangeArrowheads="1"/>
          </p:cNvSpPr>
          <p:nvPr>
            <p:ph type="title"/>
          </p:nvPr>
        </p:nvSpPr>
        <p:spPr>
          <a:xfrm>
            <a:off x="1042988" y="225431"/>
            <a:ext cx="7850187" cy="746125"/>
          </a:xfrm>
        </p:spPr>
        <p:txBody>
          <a:bodyPr/>
          <a:lstStyle/>
          <a:p>
            <a:r>
              <a:rPr lang="zh-CN" altLang="en-US" dirty="0"/>
              <a:t>中断的基本概念</a:t>
            </a:r>
          </a:p>
        </p:txBody>
      </p:sp>
      <p:sp>
        <p:nvSpPr>
          <p:cNvPr id="254979" name="Rectangle 3">
            <a:extLst>
              <a:ext uri="{FF2B5EF4-FFF2-40B4-BE49-F238E27FC236}">
                <a16:creationId xmlns:a16="http://schemas.microsoft.com/office/drawing/2014/main" id="{3A2B9AB3-1E66-96A2-E640-9265A0D9AB9E}"/>
              </a:ext>
            </a:extLst>
          </p:cNvPr>
          <p:cNvSpPr>
            <a:spLocks noGrp="1" noChangeArrowheads="1"/>
          </p:cNvSpPr>
          <p:nvPr>
            <p:ph idx="1"/>
          </p:nvPr>
        </p:nvSpPr>
        <p:spPr>
          <a:xfrm>
            <a:off x="935038" y="1233488"/>
            <a:ext cx="7772400" cy="4895850"/>
          </a:xfrm>
        </p:spPr>
        <p:txBody>
          <a:bodyPr>
            <a:normAutofit lnSpcReduction="10000"/>
          </a:bodyPr>
          <a:lstStyle/>
          <a:p>
            <a:r>
              <a:rPr lang="zh-CN" altLang="en-US"/>
              <a:t>中断：指计算机系统内发生了某个急需处理的事件，使</a:t>
            </a:r>
            <a:r>
              <a:rPr lang="en-US" altLang="zh-CN"/>
              <a:t>CPU</a:t>
            </a:r>
            <a:r>
              <a:rPr lang="zh-CN" altLang="en-US"/>
              <a:t>暂停当前正在执行的程序，转去处理相应的事件处理程序，待处理完毕后又返回原来被中断处继续执行。</a:t>
            </a:r>
          </a:p>
          <a:p>
            <a:r>
              <a:rPr lang="zh-CN" altLang="en-US"/>
              <a:t>中断源：引起中断发生的事件。</a:t>
            </a:r>
          </a:p>
          <a:p>
            <a:r>
              <a:rPr lang="zh-CN" altLang="en-US"/>
              <a:t>中断请求：中断源向</a:t>
            </a:r>
            <a:r>
              <a:rPr lang="en-US" altLang="zh-CN"/>
              <a:t>CPU</a:t>
            </a:r>
            <a:r>
              <a:rPr lang="zh-CN" altLang="en-US"/>
              <a:t>发出的请求中断处理的信号。</a:t>
            </a:r>
          </a:p>
          <a:p>
            <a:r>
              <a:rPr lang="zh-CN" altLang="en-US"/>
              <a:t>中断响应：</a:t>
            </a:r>
            <a:r>
              <a:rPr lang="en-US" altLang="zh-CN"/>
              <a:t>CPU</a:t>
            </a:r>
            <a:r>
              <a:rPr lang="zh-CN" altLang="en-US"/>
              <a:t>收到中断请求后转向相应事件处理程序的过程。</a:t>
            </a:r>
          </a:p>
        </p:txBody>
      </p:sp>
      <p:sp>
        <p:nvSpPr>
          <p:cNvPr id="4" name="灯片编号占位符 3">
            <a:extLst>
              <a:ext uri="{FF2B5EF4-FFF2-40B4-BE49-F238E27FC236}">
                <a16:creationId xmlns:a16="http://schemas.microsoft.com/office/drawing/2014/main" id="{9261C323-DCCD-3ED9-C9D5-36C107BF889C}"/>
              </a:ext>
            </a:extLst>
          </p:cNvPr>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checkerboard(across)">
                                      <p:cBhvr>
                                        <p:cTn id="7" dur="500"/>
                                        <p:tgtEl>
                                          <p:spTgt spid="254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4979">
                                            <p:txEl>
                                              <p:pRg st="1" end="1"/>
                                            </p:txEl>
                                          </p:spTgt>
                                        </p:tgtEl>
                                        <p:attrNameLst>
                                          <p:attrName>style.visibility</p:attrName>
                                        </p:attrNameLst>
                                      </p:cBhvr>
                                      <p:to>
                                        <p:strVal val="visible"/>
                                      </p:to>
                                    </p:set>
                                    <p:animEffect transition="in" filter="checkerboard(across)">
                                      <p:cBhvr>
                                        <p:cTn id="12" dur="500"/>
                                        <p:tgtEl>
                                          <p:spTgt spid="254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54979">
                                            <p:txEl>
                                              <p:pRg st="2" end="2"/>
                                            </p:txEl>
                                          </p:spTgt>
                                        </p:tgtEl>
                                        <p:attrNameLst>
                                          <p:attrName>style.visibility</p:attrName>
                                        </p:attrNameLst>
                                      </p:cBhvr>
                                      <p:to>
                                        <p:strVal val="visible"/>
                                      </p:to>
                                    </p:set>
                                    <p:animEffect transition="in" filter="checkerboard(across)">
                                      <p:cBhvr>
                                        <p:cTn id="17" dur="500"/>
                                        <p:tgtEl>
                                          <p:spTgt spid="254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54979">
                                            <p:txEl>
                                              <p:pRg st="3" end="3"/>
                                            </p:txEl>
                                          </p:spTgt>
                                        </p:tgtEl>
                                        <p:attrNameLst>
                                          <p:attrName>style.visibility</p:attrName>
                                        </p:attrNameLst>
                                      </p:cBhvr>
                                      <p:to>
                                        <p:strVal val="visible"/>
                                      </p:to>
                                    </p:set>
                                    <p:animEffect transition="in" filter="checkerboard(across)">
                                      <p:cBhvr>
                                        <p:cTn id="22" dur="500"/>
                                        <p:tgtEl>
                                          <p:spTgt spid="254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67CAB463-576D-3D6E-DB9B-7D6C054948F2}"/>
              </a:ext>
            </a:extLst>
          </p:cNvPr>
          <p:cNvSpPr>
            <a:spLocks noGrp="1" noChangeArrowheads="1"/>
          </p:cNvSpPr>
          <p:nvPr>
            <p:ph type="title"/>
          </p:nvPr>
        </p:nvSpPr>
        <p:spPr>
          <a:xfrm>
            <a:off x="1042988" y="225431"/>
            <a:ext cx="7850187" cy="746125"/>
          </a:xfrm>
        </p:spPr>
        <p:txBody>
          <a:bodyPr/>
          <a:lstStyle/>
          <a:p>
            <a:r>
              <a:rPr lang="zh-CN" altLang="en-US" dirty="0"/>
              <a:t>中断的基本概念</a:t>
            </a:r>
          </a:p>
        </p:txBody>
      </p:sp>
      <p:sp>
        <p:nvSpPr>
          <p:cNvPr id="256003" name="Rectangle 3">
            <a:extLst>
              <a:ext uri="{FF2B5EF4-FFF2-40B4-BE49-F238E27FC236}">
                <a16:creationId xmlns:a16="http://schemas.microsoft.com/office/drawing/2014/main" id="{8450A83E-7EA8-FC21-CB3D-26DE2017EADA}"/>
              </a:ext>
            </a:extLst>
          </p:cNvPr>
          <p:cNvSpPr>
            <a:spLocks noGrp="1" noChangeArrowheads="1"/>
          </p:cNvSpPr>
          <p:nvPr>
            <p:ph idx="1"/>
          </p:nvPr>
        </p:nvSpPr>
        <p:spPr>
          <a:xfrm>
            <a:off x="935038" y="1233488"/>
            <a:ext cx="7772400" cy="4895850"/>
          </a:xfrm>
        </p:spPr>
        <p:txBody>
          <a:bodyPr>
            <a:normAutofit lnSpcReduction="10000"/>
          </a:bodyPr>
          <a:lstStyle/>
          <a:p>
            <a:r>
              <a:rPr lang="zh-CN" altLang="en-US"/>
              <a:t>断点：发生中断时，刚执行完的那条指令所在的单元号。</a:t>
            </a:r>
          </a:p>
          <a:p>
            <a:r>
              <a:rPr lang="zh-CN" altLang="en-US"/>
              <a:t>恢复点：断点的逻辑后继指令的单元号。</a:t>
            </a:r>
          </a:p>
          <a:p>
            <a:r>
              <a:rPr lang="zh-CN" altLang="en-US"/>
              <a:t>现场：是指中断的那一时刻能确保程序继续运行的有关信息。</a:t>
            </a:r>
          </a:p>
          <a:p>
            <a:r>
              <a:rPr lang="zh-CN" altLang="en-US"/>
              <a:t>程序状态字：反映程序运行状态的一组信息。主要包括：指令地址、指令执行情况、</a:t>
            </a:r>
            <a:r>
              <a:rPr lang="en-US" altLang="zh-CN"/>
              <a:t>CPU</a:t>
            </a:r>
            <a:r>
              <a:rPr lang="zh-CN" altLang="en-US"/>
              <a:t>状态（管/目态）、中断屏蔽字、寻址方式等。</a:t>
            </a:r>
          </a:p>
        </p:txBody>
      </p:sp>
      <p:sp>
        <p:nvSpPr>
          <p:cNvPr id="4" name="灯片编号占位符 3">
            <a:extLst>
              <a:ext uri="{FF2B5EF4-FFF2-40B4-BE49-F238E27FC236}">
                <a16:creationId xmlns:a16="http://schemas.microsoft.com/office/drawing/2014/main" id="{1E8AD35A-EB95-BE01-F851-ECDDBAB54D74}"/>
              </a:ext>
            </a:extLst>
          </p:cNvPr>
          <p:cNvSpPr>
            <a:spLocks noGrp="1"/>
          </p:cNvSpPr>
          <p:nvPr>
            <p:ph type="sldNum" sz="quarter" idx="12"/>
          </p:nvPr>
        </p:nvSpPr>
        <p:spPr/>
        <p:txBody>
          <a:bodyPr/>
          <a:lstStyle/>
          <a:p>
            <a:fld id="{4093CC90-4002-504C-BD88-C9A1D374048E}" type="slidenum">
              <a:rPr lang="zh-CN" altLang="en-US" smtClean="0"/>
              <a:pPr/>
              <a:t>40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Effect transition="in" filter="checkerboard(across)">
                                      <p:cBhvr>
                                        <p:cTn id="7" dur="500"/>
                                        <p:tgtEl>
                                          <p:spTgt spid="256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6003">
                                            <p:txEl>
                                              <p:pRg st="1" end="1"/>
                                            </p:txEl>
                                          </p:spTgt>
                                        </p:tgtEl>
                                        <p:attrNameLst>
                                          <p:attrName>style.visibility</p:attrName>
                                        </p:attrNameLst>
                                      </p:cBhvr>
                                      <p:to>
                                        <p:strVal val="visible"/>
                                      </p:to>
                                    </p:set>
                                    <p:animEffect transition="in" filter="checkerboard(across)">
                                      <p:cBhvr>
                                        <p:cTn id="12" dur="500"/>
                                        <p:tgtEl>
                                          <p:spTgt spid="256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56003">
                                            <p:txEl>
                                              <p:pRg st="2" end="2"/>
                                            </p:txEl>
                                          </p:spTgt>
                                        </p:tgtEl>
                                        <p:attrNameLst>
                                          <p:attrName>style.visibility</p:attrName>
                                        </p:attrNameLst>
                                      </p:cBhvr>
                                      <p:to>
                                        <p:strVal val="visible"/>
                                      </p:to>
                                    </p:set>
                                    <p:animEffect transition="in" filter="checkerboard(across)">
                                      <p:cBhvr>
                                        <p:cTn id="17" dur="500"/>
                                        <p:tgtEl>
                                          <p:spTgt spid="256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56003">
                                            <p:txEl>
                                              <p:pRg st="3" end="3"/>
                                            </p:txEl>
                                          </p:spTgt>
                                        </p:tgtEl>
                                        <p:attrNameLst>
                                          <p:attrName>style.visibility</p:attrName>
                                        </p:attrNameLst>
                                      </p:cBhvr>
                                      <p:to>
                                        <p:strVal val="visible"/>
                                      </p:to>
                                    </p:set>
                                    <p:animEffect transition="in" filter="checkerboard(across)">
                                      <p:cBhvr>
                                        <p:cTn id="22" dur="500"/>
                                        <p:tgtEl>
                                          <p:spTgt spid="256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E5C47C9-37C3-9180-63F1-92C6E552B978}"/>
              </a:ext>
            </a:extLst>
          </p:cNvPr>
          <p:cNvSpPr>
            <a:spLocks noGrp="1" noChangeArrowheads="1"/>
          </p:cNvSpPr>
          <p:nvPr>
            <p:ph type="title"/>
          </p:nvPr>
        </p:nvSpPr>
        <p:spPr>
          <a:xfrm>
            <a:off x="1042988" y="225431"/>
            <a:ext cx="7850187" cy="746125"/>
          </a:xfrm>
        </p:spPr>
        <p:txBody>
          <a:bodyPr/>
          <a:lstStyle/>
          <a:p>
            <a:r>
              <a:rPr lang="zh-CN" altLang="en-US" dirty="0"/>
              <a:t>中断的基本概念</a:t>
            </a:r>
          </a:p>
        </p:txBody>
      </p:sp>
      <p:sp>
        <p:nvSpPr>
          <p:cNvPr id="57346" name="Rectangle 3">
            <a:extLst>
              <a:ext uri="{FF2B5EF4-FFF2-40B4-BE49-F238E27FC236}">
                <a16:creationId xmlns:a16="http://schemas.microsoft.com/office/drawing/2014/main" id="{67AF60E6-8E21-9CEC-A07C-F7A8F900ECD3}"/>
              </a:ext>
            </a:extLst>
          </p:cNvPr>
          <p:cNvSpPr>
            <a:spLocks noGrp="1" noChangeArrowheads="1"/>
          </p:cNvSpPr>
          <p:nvPr>
            <p:ph idx="1"/>
          </p:nvPr>
        </p:nvSpPr>
        <p:spPr>
          <a:xfrm>
            <a:off x="935038" y="1233488"/>
            <a:ext cx="7772400" cy="4895850"/>
          </a:xfrm>
        </p:spPr>
        <p:txBody>
          <a:bodyPr/>
          <a:lstStyle/>
          <a:p>
            <a:r>
              <a:rPr lang="zh-CN" altLang="en-US"/>
              <a:t>禁止中断：不允许</a:t>
            </a:r>
            <a:r>
              <a:rPr lang="en-US" altLang="zh-CN"/>
              <a:t>CPU</a:t>
            </a:r>
            <a:r>
              <a:rPr lang="zh-CN" altLang="en-US"/>
              <a:t>响应中断，也称为关中断。</a:t>
            </a:r>
          </a:p>
          <a:p>
            <a:r>
              <a:rPr lang="zh-CN" altLang="en-US"/>
              <a:t>允许中断：允许</a:t>
            </a:r>
            <a:r>
              <a:rPr lang="en-US" altLang="zh-CN"/>
              <a:t>CPU</a:t>
            </a:r>
            <a:r>
              <a:rPr lang="zh-CN" altLang="en-US"/>
              <a:t>响应中断，也称为开中断。</a:t>
            </a:r>
          </a:p>
          <a:p>
            <a:r>
              <a:rPr lang="zh-CN" altLang="en-US"/>
              <a:t>开中断和关中断是为了保证某些程序执行的原子性。</a:t>
            </a:r>
          </a:p>
        </p:txBody>
      </p:sp>
      <p:sp>
        <p:nvSpPr>
          <p:cNvPr id="4" name="灯片编号占位符 3">
            <a:extLst>
              <a:ext uri="{FF2B5EF4-FFF2-40B4-BE49-F238E27FC236}">
                <a16:creationId xmlns:a16="http://schemas.microsoft.com/office/drawing/2014/main" id="{9628D826-983D-DAD6-6F7F-D0D2F29A1C58}"/>
              </a:ext>
            </a:extLst>
          </p:cNvPr>
          <p:cNvSpPr>
            <a:spLocks noGrp="1"/>
          </p:cNvSpPr>
          <p:nvPr>
            <p:ph type="sldNum" sz="quarter" idx="12"/>
          </p:nvPr>
        </p:nvSpPr>
        <p:spPr/>
        <p:txBody>
          <a:bodyPr/>
          <a:lstStyle/>
          <a:p>
            <a:fld id="{4093CC90-4002-504C-BD88-C9A1D374048E}" type="slidenum">
              <a:rPr lang="zh-CN" altLang="en-US" smtClean="0"/>
              <a:pPr/>
              <a:t>41</a:t>
            </a:fld>
            <a:endParaRPr lang="zh-CN" altLang="en-US" dirty="0"/>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4BAA7A89-E4CF-BA3F-21B6-80FD97DF8692}"/>
              </a:ext>
            </a:extLst>
          </p:cNvPr>
          <p:cNvSpPr>
            <a:spLocks noGrp="1" noChangeArrowheads="1"/>
          </p:cNvSpPr>
          <p:nvPr>
            <p:ph type="title"/>
          </p:nvPr>
        </p:nvSpPr>
        <p:spPr>
          <a:xfrm>
            <a:off x="1042988" y="225431"/>
            <a:ext cx="7850187" cy="746125"/>
          </a:xfrm>
        </p:spPr>
        <p:txBody>
          <a:bodyPr/>
          <a:lstStyle/>
          <a:p>
            <a:r>
              <a:rPr lang="zh-CN" altLang="en-US" dirty="0"/>
              <a:t>中断的基本概念</a:t>
            </a:r>
            <a:endParaRPr lang="en-US" altLang="zh-CN" dirty="0"/>
          </a:p>
        </p:txBody>
      </p:sp>
      <p:sp>
        <p:nvSpPr>
          <p:cNvPr id="258051" name="Rectangle 3">
            <a:extLst>
              <a:ext uri="{FF2B5EF4-FFF2-40B4-BE49-F238E27FC236}">
                <a16:creationId xmlns:a16="http://schemas.microsoft.com/office/drawing/2014/main" id="{108841B8-B2BE-8DF5-CF61-2341F30B4A18}"/>
              </a:ext>
            </a:extLst>
          </p:cNvPr>
          <p:cNvSpPr>
            <a:spLocks noGrp="1" noChangeArrowheads="1"/>
          </p:cNvSpPr>
          <p:nvPr>
            <p:ph idx="1"/>
          </p:nvPr>
        </p:nvSpPr>
        <p:spPr>
          <a:xfrm>
            <a:off x="935038" y="1233488"/>
            <a:ext cx="7772400" cy="4895850"/>
          </a:xfrm>
        </p:spPr>
        <p:txBody>
          <a:bodyPr/>
          <a:lstStyle/>
          <a:p>
            <a:r>
              <a:rPr lang="zh-CN" altLang="en-US"/>
              <a:t>中断向量：用来存放中断处理程序的入口地址，一般每个中断信号占用两个单元：一个单元用来存放中断处理程序的入口地址，另一个单元用来保存在处理中断时</a:t>
            </a:r>
            <a:r>
              <a:rPr lang="en-US" altLang="zh-CN"/>
              <a:t>CPU</a:t>
            </a:r>
            <a:r>
              <a:rPr lang="zh-CN" altLang="en-US"/>
              <a:t>应具有的状态。</a:t>
            </a:r>
          </a:p>
          <a:p>
            <a:r>
              <a:rPr lang="zh-CN" altLang="en-US"/>
              <a:t>中断屏蔽：中断屏蔽表示暂时封锁对中断的响应，待屏蔽消除后再响应。</a:t>
            </a:r>
          </a:p>
        </p:txBody>
      </p:sp>
      <p:sp>
        <p:nvSpPr>
          <p:cNvPr id="4" name="灯片编号占位符 3">
            <a:extLst>
              <a:ext uri="{FF2B5EF4-FFF2-40B4-BE49-F238E27FC236}">
                <a16:creationId xmlns:a16="http://schemas.microsoft.com/office/drawing/2014/main" id="{375CE948-0BE8-9BD5-8793-A033658900C4}"/>
              </a:ext>
            </a:extLst>
          </p:cNvPr>
          <p:cNvSpPr>
            <a:spLocks noGrp="1"/>
          </p:cNvSpPr>
          <p:nvPr>
            <p:ph type="sldNum" sz="quarter" idx="12"/>
          </p:nvPr>
        </p:nvSpPr>
        <p:spPr/>
        <p:txBody>
          <a:bodyPr/>
          <a:lstStyle/>
          <a:p>
            <a:fld id="{4093CC90-4002-504C-BD88-C9A1D374048E}" type="slidenum">
              <a:rPr lang="zh-CN" altLang="en-US" smtClean="0"/>
              <a:pPr/>
              <a:t>42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8051">
                                            <p:txEl>
                                              <p:pRg st="0" end="0"/>
                                            </p:txEl>
                                          </p:spTgt>
                                        </p:tgtEl>
                                        <p:attrNameLst>
                                          <p:attrName>style.visibility</p:attrName>
                                        </p:attrNameLst>
                                      </p:cBhvr>
                                      <p:to>
                                        <p:strVal val="visible"/>
                                      </p:to>
                                    </p:set>
                                    <p:animEffect transition="in" filter="checkerboard(across)">
                                      <p:cBhvr>
                                        <p:cTn id="7" dur="500"/>
                                        <p:tgtEl>
                                          <p:spTgt spid="258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8051">
                                            <p:txEl>
                                              <p:pRg st="1" end="1"/>
                                            </p:txEl>
                                          </p:spTgt>
                                        </p:tgtEl>
                                        <p:attrNameLst>
                                          <p:attrName>style.visibility</p:attrName>
                                        </p:attrNameLst>
                                      </p:cBhvr>
                                      <p:to>
                                        <p:strVal val="visible"/>
                                      </p:to>
                                    </p:set>
                                    <p:animEffect transition="in" filter="checkerboard(across)">
                                      <p:cBhvr>
                                        <p:cTn id="12" dur="500"/>
                                        <p:tgtEl>
                                          <p:spTgt spid="258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26435312-D489-F802-F593-05CDD79A1E73}"/>
              </a:ext>
            </a:extLst>
          </p:cNvPr>
          <p:cNvSpPr>
            <a:spLocks noGrp="1" noChangeArrowheads="1"/>
          </p:cNvSpPr>
          <p:nvPr>
            <p:ph type="title"/>
          </p:nvPr>
        </p:nvSpPr>
        <p:spPr>
          <a:xfrm>
            <a:off x="1042988" y="225431"/>
            <a:ext cx="7850187" cy="746125"/>
          </a:xfrm>
        </p:spPr>
        <p:txBody>
          <a:bodyPr/>
          <a:lstStyle/>
          <a:p>
            <a:r>
              <a:rPr lang="zh-CN" altLang="en-US"/>
              <a:t>中断的分类及优先级</a:t>
            </a:r>
          </a:p>
        </p:txBody>
      </p:sp>
      <p:sp>
        <p:nvSpPr>
          <p:cNvPr id="59394" name="Rectangle 3">
            <a:extLst>
              <a:ext uri="{FF2B5EF4-FFF2-40B4-BE49-F238E27FC236}">
                <a16:creationId xmlns:a16="http://schemas.microsoft.com/office/drawing/2014/main" id="{812EA4C3-ECCB-77AD-8CD0-9E16EE20275C}"/>
              </a:ext>
            </a:extLst>
          </p:cNvPr>
          <p:cNvSpPr>
            <a:spLocks noGrp="1" noChangeArrowheads="1"/>
          </p:cNvSpPr>
          <p:nvPr>
            <p:ph idx="1"/>
          </p:nvPr>
        </p:nvSpPr>
        <p:spPr>
          <a:xfrm>
            <a:off x="935038" y="1233488"/>
            <a:ext cx="7772400" cy="4895850"/>
          </a:xfrm>
        </p:spPr>
        <p:txBody>
          <a:bodyPr/>
          <a:lstStyle/>
          <a:p>
            <a:r>
              <a:rPr lang="zh-CN" altLang="en-US"/>
              <a:t>根据中断信号的含义和功能可以将中断分为5类：</a:t>
            </a:r>
          </a:p>
          <a:p>
            <a:pPr lvl="1"/>
            <a:r>
              <a:rPr lang="zh-CN" altLang="en-US"/>
              <a:t>硬件故障中断</a:t>
            </a:r>
          </a:p>
          <a:p>
            <a:pPr lvl="1"/>
            <a:r>
              <a:rPr lang="zh-CN" altLang="en-US"/>
              <a:t>输入/输出中断</a:t>
            </a:r>
          </a:p>
          <a:p>
            <a:pPr lvl="1"/>
            <a:r>
              <a:rPr lang="zh-CN" altLang="en-US"/>
              <a:t>外中断</a:t>
            </a:r>
          </a:p>
          <a:p>
            <a:pPr lvl="1"/>
            <a:r>
              <a:rPr lang="zh-CN" altLang="en-US"/>
              <a:t>程序性中断</a:t>
            </a:r>
          </a:p>
          <a:p>
            <a:pPr lvl="1"/>
            <a:r>
              <a:rPr lang="zh-CN" altLang="en-US"/>
              <a:t>访管中断</a:t>
            </a:r>
            <a:endParaRPr lang="en-US" altLang="zh-CN"/>
          </a:p>
        </p:txBody>
      </p:sp>
      <p:sp>
        <p:nvSpPr>
          <p:cNvPr id="4" name="灯片编号占位符 3">
            <a:extLst>
              <a:ext uri="{FF2B5EF4-FFF2-40B4-BE49-F238E27FC236}">
                <a16:creationId xmlns:a16="http://schemas.microsoft.com/office/drawing/2014/main" id="{C298852D-EF1F-7A94-D0C8-621CC19134DE}"/>
              </a:ext>
            </a:extLst>
          </p:cNvPr>
          <p:cNvSpPr>
            <a:spLocks noGrp="1"/>
          </p:cNvSpPr>
          <p:nvPr>
            <p:ph type="sldNum" sz="quarter" idx="12"/>
          </p:nvPr>
        </p:nvSpPr>
        <p:spPr/>
        <p:txBody>
          <a:bodyPr/>
          <a:lstStyle/>
          <a:p>
            <a:fld id="{4093CC90-4002-504C-BD88-C9A1D374048E}" type="slidenum">
              <a:rPr lang="zh-CN" altLang="en-US" smtClean="0"/>
              <a:pPr/>
              <a:t>43</a:t>
            </a:fld>
            <a:endParaRPr lang="zh-CN" altLang="en-US" dirty="0"/>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9F2BCB23-FC44-87C0-F5AB-32FFCB0A034D}"/>
              </a:ext>
            </a:extLst>
          </p:cNvPr>
          <p:cNvSpPr>
            <a:spLocks noGrp="1" noChangeArrowheads="1"/>
          </p:cNvSpPr>
          <p:nvPr>
            <p:ph type="title"/>
          </p:nvPr>
        </p:nvSpPr>
        <p:spPr>
          <a:xfrm>
            <a:off x="1042988" y="225431"/>
            <a:ext cx="7850187" cy="746125"/>
          </a:xfrm>
        </p:spPr>
        <p:txBody>
          <a:bodyPr/>
          <a:lstStyle/>
          <a:p>
            <a:r>
              <a:rPr lang="zh-CN" altLang="en-US" dirty="0"/>
              <a:t>中断的分类</a:t>
            </a:r>
          </a:p>
        </p:txBody>
      </p:sp>
      <p:sp>
        <p:nvSpPr>
          <p:cNvPr id="260099" name="Rectangle 3">
            <a:extLst>
              <a:ext uri="{FF2B5EF4-FFF2-40B4-BE49-F238E27FC236}">
                <a16:creationId xmlns:a16="http://schemas.microsoft.com/office/drawing/2014/main" id="{F7AF0C44-1820-ABBD-36CF-E5FF90EA45AF}"/>
              </a:ext>
            </a:extLst>
          </p:cNvPr>
          <p:cNvSpPr>
            <a:spLocks noGrp="1" noChangeArrowheads="1"/>
          </p:cNvSpPr>
          <p:nvPr>
            <p:ph idx="1"/>
          </p:nvPr>
        </p:nvSpPr>
        <p:spPr>
          <a:xfrm>
            <a:off x="935038" y="1233488"/>
            <a:ext cx="7772400" cy="4895850"/>
          </a:xfrm>
        </p:spPr>
        <p:txBody>
          <a:bodyPr>
            <a:normAutofit fontScale="85000" lnSpcReduction="20000"/>
          </a:bodyPr>
          <a:lstStyle/>
          <a:p>
            <a:r>
              <a:rPr lang="zh-CN" altLang="en-US" dirty="0"/>
              <a:t>硬件故障中断：机器发生故障时产生的中断。如电源故障、奇偶校验错等。</a:t>
            </a:r>
          </a:p>
          <a:p>
            <a:r>
              <a:rPr lang="zh-CN" altLang="en-US" dirty="0"/>
              <a:t>输入/输出中断：外设或通道操作正常完成或发生某种错误时产生的中断。如传输结束、设备错误等。</a:t>
            </a:r>
          </a:p>
          <a:p>
            <a:r>
              <a:rPr lang="zh-CN" altLang="en-US" dirty="0"/>
              <a:t>外中断：中央处理机外部的非通道式装置引起的中断。如时钟中断、控制台中断等。</a:t>
            </a:r>
            <a:endParaRPr lang="en-US" altLang="zh-CN" dirty="0"/>
          </a:p>
          <a:p>
            <a:r>
              <a:rPr lang="zh-CN" altLang="en-US" dirty="0"/>
              <a:t>程序性中断：程序执行时发生了程序性质的错误或出现了某些特定状态而产生的中断。如溢出、地址错、指令跟踪等。</a:t>
            </a:r>
          </a:p>
          <a:p>
            <a:r>
              <a:rPr lang="zh-CN" altLang="en-US" dirty="0"/>
              <a:t>访管中断：对</a:t>
            </a:r>
            <a:r>
              <a:rPr lang="en-US" altLang="zh-CN" dirty="0"/>
              <a:t>OS</a:t>
            </a:r>
            <a:r>
              <a:rPr lang="zh-CN" altLang="en-US" dirty="0"/>
              <a:t>提出某种服务要求时发生的中断，又称软中断。</a:t>
            </a:r>
            <a:endParaRPr lang="en-US" altLang="zh-CN" dirty="0"/>
          </a:p>
        </p:txBody>
      </p:sp>
      <p:sp>
        <p:nvSpPr>
          <p:cNvPr id="4" name="灯片编号占位符 3">
            <a:extLst>
              <a:ext uri="{FF2B5EF4-FFF2-40B4-BE49-F238E27FC236}">
                <a16:creationId xmlns:a16="http://schemas.microsoft.com/office/drawing/2014/main" id="{1E4E85B3-0E60-FA81-DF9A-CAF36961D1BA}"/>
              </a:ext>
            </a:extLst>
          </p:cNvPr>
          <p:cNvSpPr>
            <a:spLocks noGrp="1"/>
          </p:cNvSpPr>
          <p:nvPr>
            <p:ph type="sldNum" sz="quarter" idx="12"/>
          </p:nvPr>
        </p:nvSpPr>
        <p:spPr/>
        <p:txBody>
          <a:bodyPr/>
          <a:lstStyle/>
          <a:p>
            <a:fld id="{4093CC90-4002-504C-BD88-C9A1D374048E}" type="slidenum">
              <a:rPr lang="zh-CN" altLang="en-US" smtClean="0"/>
              <a:pPr/>
              <a:t>44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animEffect transition="in" filter="checkerboard(across)">
                                      <p:cBhvr>
                                        <p:cTn id="7" dur="500"/>
                                        <p:tgtEl>
                                          <p:spTgt spid="260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0099">
                                            <p:txEl>
                                              <p:pRg st="1" end="1"/>
                                            </p:txEl>
                                          </p:spTgt>
                                        </p:tgtEl>
                                        <p:attrNameLst>
                                          <p:attrName>style.visibility</p:attrName>
                                        </p:attrNameLst>
                                      </p:cBhvr>
                                      <p:to>
                                        <p:strVal val="visible"/>
                                      </p:to>
                                    </p:set>
                                    <p:animEffect transition="in" filter="checkerboard(across)">
                                      <p:cBhvr>
                                        <p:cTn id="12" dur="500"/>
                                        <p:tgtEl>
                                          <p:spTgt spid="260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60099">
                                            <p:txEl>
                                              <p:pRg st="2" end="2"/>
                                            </p:txEl>
                                          </p:spTgt>
                                        </p:tgtEl>
                                        <p:attrNameLst>
                                          <p:attrName>style.visibility</p:attrName>
                                        </p:attrNameLst>
                                      </p:cBhvr>
                                      <p:to>
                                        <p:strVal val="visible"/>
                                      </p:to>
                                    </p:set>
                                    <p:animEffect transition="in" filter="checkerboard(across)">
                                      <p:cBhvr>
                                        <p:cTn id="17" dur="500"/>
                                        <p:tgtEl>
                                          <p:spTgt spid="260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60099">
                                            <p:txEl>
                                              <p:pRg st="3" end="3"/>
                                            </p:txEl>
                                          </p:spTgt>
                                        </p:tgtEl>
                                        <p:attrNameLst>
                                          <p:attrName>style.visibility</p:attrName>
                                        </p:attrNameLst>
                                      </p:cBhvr>
                                      <p:to>
                                        <p:strVal val="visible"/>
                                      </p:to>
                                    </p:set>
                                    <p:animEffect transition="in" filter="checkerboard(across)">
                                      <p:cBhvr>
                                        <p:cTn id="22" dur="500"/>
                                        <p:tgtEl>
                                          <p:spTgt spid="260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60099">
                                            <p:txEl>
                                              <p:pRg st="4" end="4"/>
                                            </p:txEl>
                                          </p:spTgt>
                                        </p:tgtEl>
                                        <p:attrNameLst>
                                          <p:attrName>style.visibility</p:attrName>
                                        </p:attrNameLst>
                                      </p:cBhvr>
                                      <p:to>
                                        <p:strVal val="visible"/>
                                      </p:to>
                                    </p:set>
                                    <p:animEffect transition="in" filter="checkerboard(across)">
                                      <p:cBhvr>
                                        <p:cTn id="27" dur="500"/>
                                        <p:tgtEl>
                                          <p:spTgt spid="260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8EBE6817-B050-E31B-9151-A8634D7CE63B}"/>
              </a:ext>
            </a:extLst>
          </p:cNvPr>
          <p:cNvSpPr>
            <a:spLocks noGrp="1" noChangeArrowheads="1"/>
          </p:cNvSpPr>
          <p:nvPr>
            <p:ph type="title"/>
          </p:nvPr>
        </p:nvSpPr>
        <p:spPr>
          <a:xfrm>
            <a:off x="1042988" y="225431"/>
            <a:ext cx="7850187" cy="746125"/>
          </a:xfrm>
        </p:spPr>
        <p:txBody>
          <a:bodyPr/>
          <a:lstStyle/>
          <a:p>
            <a:r>
              <a:rPr lang="zh-CN" altLang="en-US"/>
              <a:t>强迫性中断和自愿性中断</a:t>
            </a:r>
          </a:p>
        </p:txBody>
      </p:sp>
      <p:sp>
        <p:nvSpPr>
          <p:cNvPr id="262147" name="Rectangle 3">
            <a:extLst>
              <a:ext uri="{FF2B5EF4-FFF2-40B4-BE49-F238E27FC236}">
                <a16:creationId xmlns:a16="http://schemas.microsoft.com/office/drawing/2014/main" id="{61A27AB7-8F14-5F68-12A1-B5CB8EB34DC1}"/>
              </a:ext>
            </a:extLst>
          </p:cNvPr>
          <p:cNvSpPr>
            <a:spLocks noGrp="1" noChangeArrowheads="1"/>
          </p:cNvSpPr>
          <p:nvPr>
            <p:ph idx="1"/>
          </p:nvPr>
        </p:nvSpPr>
        <p:spPr>
          <a:xfrm>
            <a:off x="935038" y="1233488"/>
            <a:ext cx="7772400" cy="4895850"/>
          </a:xfrm>
        </p:spPr>
        <p:txBody>
          <a:bodyPr/>
          <a:lstStyle/>
          <a:p>
            <a:r>
              <a:rPr lang="zh-CN" altLang="en-US"/>
              <a:t>强迫性中断由随机事件引起而非程序员事先安排，硬件故障中断、程序性中断、外部中断及输入/输出中断是强迫性中断。</a:t>
            </a:r>
          </a:p>
          <a:p>
            <a:r>
              <a:rPr lang="zh-CN" altLang="en-US"/>
              <a:t>自愿性中断：是正在运行程序所期待的事件，是由执行一条访管指令所引起的。</a:t>
            </a:r>
          </a:p>
        </p:txBody>
      </p:sp>
      <p:sp>
        <p:nvSpPr>
          <p:cNvPr id="4" name="灯片编号占位符 3">
            <a:extLst>
              <a:ext uri="{FF2B5EF4-FFF2-40B4-BE49-F238E27FC236}">
                <a16:creationId xmlns:a16="http://schemas.microsoft.com/office/drawing/2014/main" id="{7460DB35-A95E-14F7-2DE1-0D183C3E34B2}"/>
              </a:ext>
            </a:extLst>
          </p:cNvPr>
          <p:cNvSpPr>
            <a:spLocks noGrp="1"/>
          </p:cNvSpPr>
          <p:nvPr>
            <p:ph type="sldNum" sz="quarter" idx="12"/>
          </p:nvPr>
        </p:nvSpPr>
        <p:spPr/>
        <p:txBody>
          <a:bodyPr/>
          <a:lstStyle/>
          <a:p>
            <a:fld id="{4093CC90-4002-504C-BD88-C9A1D374048E}" type="slidenum">
              <a:rPr lang="zh-CN" altLang="en-US" smtClean="0"/>
              <a:pPr/>
              <a:t>45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2147">
                                            <p:txEl>
                                              <p:pRg st="0" end="0"/>
                                            </p:txEl>
                                          </p:spTgt>
                                        </p:tgtEl>
                                        <p:attrNameLst>
                                          <p:attrName>style.visibility</p:attrName>
                                        </p:attrNameLst>
                                      </p:cBhvr>
                                      <p:to>
                                        <p:strVal val="visible"/>
                                      </p:to>
                                    </p:set>
                                    <p:animEffect transition="in" filter="checkerboard(across)">
                                      <p:cBhvr>
                                        <p:cTn id="7" dur="500"/>
                                        <p:tgtEl>
                                          <p:spTgt spid="262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2147">
                                            <p:txEl>
                                              <p:pRg st="1" end="1"/>
                                            </p:txEl>
                                          </p:spTgt>
                                        </p:tgtEl>
                                        <p:attrNameLst>
                                          <p:attrName>style.visibility</p:attrName>
                                        </p:attrNameLst>
                                      </p:cBhvr>
                                      <p:to>
                                        <p:strVal val="visible"/>
                                      </p:to>
                                    </p:set>
                                    <p:animEffect transition="in" filter="checkerboard(across)">
                                      <p:cBhvr>
                                        <p:cTn id="12" dur="500"/>
                                        <p:tgtEl>
                                          <p:spTgt spid="262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9BB65EB5-C122-60B4-72DE-C776C9EEF06B}"/>
              </a:ext>
            </a:extLst>
          </p:cNvPr>
          <p:cNvSpPr>
            <a:spLocks noGrp="1" noChangeArrowheads="1"/>
          </p:cNvSpPr>
          <p:nvPr>
            <p:ph type="title"/>
          </p:nvPr>
        </p:nvSpPr>
        <p:spPr>
          <a:xfrm>
            <a:off x="1042988" y="225431"/>
            <a:ext cx="7850187" cy="746125"/>
          </a:xfrm>
        </p:spPr>
        <p:txBody>
          <a:bodyPr/>
          <a:lstStyle/>
          <a:p>
            <a:r>
              <a:rPr lang="zh-CN" altLang="en-US"/>
              <a:t>外中断和内中断</a:t>
            </a:r>
          </a:p>
        </p:txBody>
      </p:sp>
      <p:sp>
        <p:nvSpPr>
          <p:cNvPr id="63490" name="Rectangle 3">
            <a:extLst>
              <a:ext uri="{FF2B5EF4-FFF2-40B4-BE49-F238E27FC236}">
                <a16:creationId xmlns:a16="http://schemas.microsoft.com/office/drawing/2014/main" id="{5413EF4C-AC9C-9C27-B3CA-D2E3FE655F8C}"/>
              </a:ext>
            </a:extLst>
          </p:cNvPr>
          <p:cNvSpPr>
            <a:spLocks noGrp="1" noChangeArrowheads="1"/>
          </p:cNvSpPr>
          <p:nvPr>
            <p:ph idx="1"/>
          </p:nvPr>
        </p:nvSpPr>
        <p:spPr>
          <a:xfrm>
            <a:off x="935038" y="1233488"/>
            <a:ext cx="7772400" cy="4895850"/>
          </a:xfrm>
        </p:spPr>
        <p:txBody>
          <a:bodyPr/>
          <a:lstStyle/>
          <a:p>
            <a:r>
              <a:rPr lang="zh-CN" altLang="en-US"/>
              <a:t>根据中断信号的来源可以将中断分为两类：</a:t>
            </a:r>
          </a:p>
          <a:p>
            <a:pPr lvl="1"/>
            <a:r>
              <a:rPr lang="zh-CN" altLang="en-US"/>
              <a:t>外中断。指来自处理机和内存外部的中断，包括</a:t>
            </a:r>
            <a:r>
              <a:rPr lang="en-US" altLang="zh-CN"/>
              <a:t>I/O</a:t>
            </a:r>
            <a:r>
              <a:rPr lang="zh-CN" altLang="en-US"/>
              <a:t>设备发出的</a:t>
            </a:r>
            <a:r>
              <a:rPr lang="en-US" altLang="zh-CN"/>
              <a:t>I/O</a:t>
            </a:r>
            <a:r>
              <a:rPr lang="zh-CN" altLang="en-US"/>
              <a:t>中断、各种定时器引起的时钟中断等。</a:t>
            </a:r>
          </a:p>
          <a:p>
            <a:pPr lvl="1"/>
            <a:r>
              <a:rPr lang="zh-CN" altLang="en-US"/>
              <a:t>内中断。指在处理机和内存内部产生的中断，内中断一般称为陷入或异常，包括程序运算引起的各种错误，如地址非法、校验错、存取访问控制错、算术操作溢出等。</a:t>
            </a:r>
          </a:p>
        </p:txBody>
      </p:sp>
      <p:sp>
        <p:nvSpPr>
          <p:cNvPr id="4" name="灯片编号占位符 3">
            <a:extLst>
              <a:ext uri="{FF2B5EF4-FFF2-40B4-BE49-F238E27FC236}">
                <a16:creationId xmlns:a16="http://schemas.microsoft.com/office/drawing/2014/main" id="{7A0DE4B1-F42C-473C-1257-BC48C252ED24}"/>
              </a:ext>
            </a:extLst>
          </p:cNvPr>
          <p:cNvSpPr>
            <a:spLocks noGrp="1"/>
          </p:cNvSpPr>
          <p:nvPr>
            <p:ph type="sldNum" sz="quarter" idx="12"/>
          </p:nvPr>
        </p:nvSpPr>
        <p:spPr/>
        <p:txBody>
          <a:bodyPr/>
          <a:lstStyle/>
          <a:p>
            <a:fld id="{4093CC90-4002-504C-BD88-C9A1D374048E}" type="slidenum">
              <a:rPr lang="zh-CN" altLang="en-US" smtClean="0"/>
              <a:pPr/>
              <a:t>46</a:t>
            </a:fld>
            <a:endParaRPr lang="zh-CN" altLang="en-US" dirty="0"/>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36C8B067-0239-0420-DBCA-3B0F055C23D8}"/>
              </a:ext>
            </a:extLst>
          </p:cNvPr>
          <p:cNvSpPr>
            <a:spLocks noGrp="1" noChangeArrowheads="1"/>
          </p:cNvSpPr>
          <p:nvPr>
            <p:ph type="title"/>
          </p:nvPr>
        </p:nvSpPr>
        <p:spPr>
          <a:xfrm>
            <a:off x="1042988" y="225431"/>
            <a:ext cx="7850187" cy="746125"/>
          </a:xfrm>
        </p:spPr>
        <p:txBody>
          <a:bodyPr/>
          <a:lstStyle/>
          <a:p>
            <a:r>
              <a:rPr lang="zh-CN" altLang="en-US"/>
              <a:t>中断优先级 </a:t>
            </a:r>
            <a:r>
              <a:rPr lang="en-US" altLang="zh-CN"/>
              <a:t>interrupt priority</a:t>
            </a:r>
          </a:p>
        </p:txBody>
      </p:sp>
      <p:sp>
        <p:nvSpPr>
          <p:cNvPr id="264195" name="Rectangle 3">
            <a:extLst>
              <a:ext uri="{FF2B5EF4-FFF2-40B4-BE49-F238E27FC236}">
                <a16:creationId xmlns:a16="http://schemas.microsoft.com/office/drawing/2014/main" id="{79993079-3A0D-43C1-5E78-3A9433552480}"/>
              </a:ext>
            </a:extLst>
          </p:cNvPr>
          <p:cNvSpPr>
            <a:spLocks noGrp="1" noChangeArrowheads="1"/>
          </p:cNvSpPr>
          <p:nvPr>
            <p:ph idx="1"/>
          </p:nvPr>
        </p:nvSpPr>
        <p:spPr>
          <a:xfrm>
            <a:off x="935038" y="1233488"/>
            <a:ext cx="7772400" cy="4895850"/>
          </a:xfrm>
        </p:spPr>
        <p:txBody>
          <a:bodyPr/>
          <a:lstStyle/>
          <a:p>
            <a:r>
              <a:rPr lang="zh-CN" altLang="en-US"/>
              <a:t>中断优先级是中断响应的优先级别。</a:t>
            </a:r>
          </a:p>
          <a:p>
            <a:r>
              <a:rPr lang="zh-CN" altLang="en-US"/>
              <a:t>当多个中断发生时，系统根据优先级决定响应中断的次序，优先响应高优先级的中断，同级中断则按硬件规定的次序响应。</a:t>
            </a:r>
          </a:p>
          <a:p>
            <a:r>
              <a:rPr lang="zh-CN" altLang="en-US"/>
              <a:t>中断优先级由高到低的顺序为：硬件故障中断、访管中断、程序性中断、外部中断、输入/输出中断。</a:t>
            </a:r>
          </a:p>
        </p:txBody>
      </p:sp>
      <p:sp>
        <p:nvSpPr>
          <p:cNvPr id="4" name="灯片编号占位符 3">
            <a:extLst>
              <a:ext uri="{FF2B5EF4-FFF2-40B4-BE49-F238E27FC236}">
                <a16:creationId xmlns:a16="http://schemas.microsoft.com/office/drawing/2014/main" id="{AFB5055E-7293-E58B-D7BD-F617B62E6893}"/>
              </a:ext>
            </a:extLst>
          </p:cNvPr>
          <p:cNvSpPr>
            <a:spLocks noGrp="1"/>
          </p:cNvSpPr>
          <p:nvPr>
            <p:ph type="sldNum" sz="quarter" idx="12"/>
          </p:nvPr>
        </p:nvSpPr>
        <p:spPr/>
        <p:txBody>
          <a:bodyPr/>
          <a:lstStyle/>
          <a:p>
            <a:fld id="{4093CC90-4002-504C-BD88-C9A1D374048E}" type="slidenum">
              <a:rPr lang="zh-CN" altLang="en-US" smtClean="0"/>
              <a:pPr/>
              <a:t>47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Effect transition="in" filter="checkerboard(across)">
                                      <p:cBhvr>
                                        <p:cTn id="7" dur="500"/>
                                        <p:tgtEl>
                                          <p:spTgt spid="264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4195">
                                            <p:txEl>
                                              <p:pRg st="1" end="1"/>
                                            </p:txEl>
                                          </p:spTgt>
                                        </p:tgtEl>
                                        <p:attrNameLst>
                                          <p:attrName>style.visibility</p:attrName>
                                        </p:attrNameLst>
                                      </p:cBhvr>
                                      <p:to>
                                        <p:strVal val="visible"/>
                                      </p:to>
                                    </p:set>
                                    <p:animEffect transition="in" filter="checkerboard(across)">
                                      <p:cBhvr>
                                        <p:cTn id="12" dur="500"/>
                                        <p:tgtEl>
                                          <p:spTgt spid="264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64195">
                                            <p:txEl>
                                              <p:pRg st="2" end="2"/>
                                            </p:txEl>
                                          </p:spTgt>
                                        </p:tgtEl>
                                        <p:attrNameLst>
                                          <p:attrName>style.visibility</p:attrName>
                                        </p:attrNameLst>
                                      </p:cBhvr>
                                      <p:to>
                                        <p:strVal val="visible"/>
                                      </p:to>
                                    </p:set>
                                    <p:animEffect transition="in" filter="checkerboard(across)">
                                      <p:cBhvr>
                                        <p:cTn id="17" dur="500"/>
                                        <p:tgtEl>
                                          <p:spTgt spid="264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8D74D41E-4941-6D3F-6EAF-2083F6AECDD2}"/>
              </a:ext>
            </a:extLst>
          </p:cNvPr>
          <p:cNvSpPr>
            <a:spLocks noGrp="1" noChangeArrowheads="1"/>
          </p:cNvSpPr>
          <p:nvPr>
            <p:ph type="title"/>
          </p:nvPr>
        </p:nvSpPr>
        <p:spPr>
          <a:xfrm>
            <a:off x="1042988" y="225431"/>
            <a:ext cx="7850187" cy="746125"/>
          </a:xfrm>
        </p:spPr>
        <p:txBody>
          <a:bodyPr/>
          <a:lstStyle/>
          <a:p>
            <a:r>
              <a:rPr lang="zh-CN" altLang="en-US"/>
              <a:t>中断处理过程</a:t>
            </a:r>
          </a:p>
        </p:txBody>
      </p:sp>
      <p:sp>
        <p:nvSpPr>
          <p:cNvPr id="65538" name="Rectangle 3">
            <a:extLst>
              <a:ext uri="{FF2B5EF4-FFF2-40B4-BE49-F238E27FC236}">
                <a16:creationId xmlns:a16="http://schemas.microsoft.com/office/drawing/2014/main" id="{51D1A766-0B1E-F2CA-04E9-E544772DEF45}"/>
              </a:ext>
            </a:extLst>
          </p:cNvPr>
          <p:cNvSpPr>
            <a:spLocks noGrp="1" noChangeArrowheads="1"/>
          </p:cNvSpPr>
          <p:nvPr>
            <p:ph idx="1"/>
          </p:nvPr>
        </p:nvSpPr>
        <p:spPr>
          <a:xfrm>
            <a:off x="935038" y="1233488"/>
            <a:ext cx="7772400" cy="4895850"/>
          </a:xfrm>
        </p:spPr>
        <p:txBody>
          <a:bodyPr/>
          <a:lstStyle/>
          <a:p>
            <a:r>
              <a:rPr lang="zh-CN" altLang="en-US"/>
              <a:t>一旦</a:t>
            </a:r>
            <a:r>
              <a:rPr lang="en-US" altLang="zh-CN"/>
              <a:t>CPU</a:t>
            </a:r>
            <a:r>
              <a:rPr lang="zh-CN" altLang="en-US"/>
              <a:t>响应中断，系统就开始进行中断处理。中断处理过程如下：</a:t>
            </a:r>
          </a:p>
          <a:p>
            <a:pPr lvl="1"/>
            <a:r>
              <a:rPr lang="zh-CN" altLang="en-US"/>
              <a:t>保护被中断进程现场。</a:t>
            </a:r>
          </a:p>
          <a:p>
            <a:pPr lvl="1"/>
            <a:r>
              <a:rPr lang="zh-CN" altLang="en-US"/>
              <a:t>分析中断原因，转去执行相应的中断处理程序。</a:t>
            </a:r>
          </a:p>
          <a:p>
            <a:pPr lvl="1"/>
            <a:r>
              <a:rPr lang="zh-CN" altLang="en-US"/>
              <a:t>恢复被中断进程的现场，</a:t>
            </a:r>
            <a:r>
              <a:rPr lang="en-US" altLang="zh-CN"/>
              <a:t>CPU</a:t>
            </a:r>
            <a:r>
              <a:rPr lang="zh-CN" altLang="en-US"/>
              <a:t>继续执行原来被中断的进程。</a:t>
            </a:r>
          </a:p>
        </p:txBody>
      </p:sp>
      <p:sp>
        <p:nvSpPr>
          <p:cNvPr id="4" name="灯片编号占位符 3">
            <a:extLst>
              <a:ext uri="{FF2B5EF4-FFF2-40B4-BE49-F238E27FC236}">
                <a16:creationId xmlns:a16="http://schemas.microsoft.com/office/drawing/2014/main" id="{57BF3F92-4AC4-48FD-8569-583B70E61FD8}"/>
              </a:ext>
            </a:extLst>
          </p:cNvPr>
          <p:cNvSpPr>
            <a:spLocks noGrp="1"/>
          </p:cNvSpPr>
          <p:nvPr>
            <p:ph type="sldNum" sz="quarter" idx="12"/>
          </p:nvPr>
        </p:nvSpPr>
        <p:spPr/>
        <p:txBody>
          <a:bodyPr/>
          <a:lstStyle/>
          <a:p>
            <a:fld id="{4093CC90-4002-504C-BD88-C9A1D374048E}" type="slidenum">
              <a:rPr lang="zh-CN" altLang="en-US" smtClean="0"/>
              <a:pPr/>
              <a:t>48</a:t>
            </a:fld>
            <a:endParaRPr lang="zh-CN" altLang="en-US" dirty="0"/>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38B722DD-0C04-FD9C-002B-54455C14260E}"/>
              </a:ext>
            </a:extLst>
          </p:cNvPr>
          <p:cNvSpPr>
            <a:spLocks noGrp="1" noChangeArrowheads="1"/>
          </p:cNvSpPr>
          <p:nvPr>
            <p:ph type="title"/>
          </p:nvPr>
        </p:nvSpPr>
        <p:spPr>
          <a:xfrm>
            <a:off x="1042988" y="225431"/>
            <a:ext cx="7850187" cy="746125"/>
          </a:xfrm>
        </p:spPr>
        <p:txBody>
          <a:bodyPr/>
          <a:lstStyle/>
          <a:p>
            <a:r>
              <a:rPr lang="zh-CN" altLang="en-US" dirty="0"/>
              <a:t>直接内存访问</a:t>
            </a:r>
          </a:p>
        </p:txBody>
      </p:sp>
      <p:sp>
        <p:nvSpPr>
          <p:cNvPr id="116739" name="Rectangle 3">
            <a:extLst>
              <a:ext uri="{FF2B5EF4-FFF2-40B4-BE49-F238E27FC236}">
                <a16:creationId xmlns:a16="http://schemas.microsoft.com/office/drawing/2014/main" id="{4B7C1A07-2591-C115-E88B-D5439FE8DFC7}"/>
              </a:ext>
            </a:extLst>
          </p:cNvPr>
          <p:cNvSpPr>
            <a:spLocks noGrp="1" noChangeArrowheads="1"/>
          </p:cNvSpPr>
          <p:nvPr>
            <p:ph idx="1"/>
          </p:nvPr>
        </p:nvSpPr>
        <p:spPr>
          <a:xfrm>
            <a:off x="935038" y="1233488"/>
            <a:ext cx="7772400" cy="4895850"/>
          </a:xfrm>
        </p:spPr>
        <p:txBody>
          <a:bodyPr/>
          <a:lstStyle/>
          <a:p>
            <a:r>
              <a:rPr lang="zh-CN" altLang="en-US"/>
              <a:t>中断方式以字节为单位中断</a:t>
            </a:r>
            <a:r>
              <a:rPr lang="en-US" altLang="zh-CN"/>
              <a:t>CPU，</a:t>
            </a:r>
            <a:r>
              <a:rPr lang="zh-CN" altLang="en-US"/>
              <a:t>对块设备其效率极低，为此引入了</a:t>
            </a:r>
            <a:r>
              <a:rPr lang="en-US" altLang="zh-CN"/>
              <a:t>DMA。</a:t>
            </a:r>
          </a:p>
          <a:p>
            <a:r>
              <a:rPr lang="en-US" altLang="zh-CN"/>
              <a:t>DMA</a:t>
            </a:r>
            <a:r>
              <a:rPr lang="zh-CN" altLang="en-US"/>
              <a:t>控制方式的思想是在外设与内存之间开辟直接的数据交换通路，在控制器的控制下，设备和内存之间可以成批地进行数据交换。</a:t>
            </a:r>
          </a:p>
        </p:txBody>
      </p:sp>
      <p:sp>
        <p:nvSpPr>
          <p:cNvPr id="4" name="灯片编号占位符 3">
            <a:extLst>
              <a:ext uri="{FF2B5EF4-FFF2-40B4-BE49-F238E27FC236}">
                <a16:creationId xmlns:a16="http://schemas.microsoft.com/office/drawing/2014/main" id="{C3CA00DD-1E5D-24F6-D02D-EC04B21CCDAE}"/>
              </a:ext>
            </a:extLst>
          </p:cNvPr>
          <p:cNvSpPr>
            <a:spLocks noGrp="1"/>
          </p:cNvSpPr>
          <p:nvPr>
            <p:ph type="sldNum" sz="quarter" idx="12"/>
          </p:nvPr>
        </p:nvSpPr>
        <p:spPr/>
        <p:txBody>
          <a:bodyPr/>
          <a:lstStyle/>
          <a:p>
            <a:fld id="{4093CC90-4002-504C-BD88-C9A1D374048E}" type="slidenum">
              <a:rPr lang="zh-CN" altLang="en-US" smtClean="0"/>
              <a:pPr/>
              <a:t>49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checkerboard(across)">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checkerboard(across)">
                                      <p:cBhvr>
                                        <p:cTn id="12" dur="500"/>
                                        <p:tgtEl>
                                          <p:spTgt spid="1167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7AC04EA2-B05B-5155-FFEB-0AABDA495923}"/>
              </a:ext>
            </a:extLst>
          </p:cNvPr>
          <p:cNvSpPr>
            <a:spLocks noGrp="1" noChangeArrowheads="1"/>
          </p:cNvSpPr>
          <p:nvPr>
            <p:ph type="title"/>
          </p:nvPr>
        </p:nvSpPr>
        <p:spPr>
          <a:xfrm>
            <a:off x="1042988" y="225431"/>
            <a:ext cx="7850187" cy="746125"/>
          </a:xfrm>
        </p:spPr>
        <p:txBody>
          <a:bodyPr/>
          <a:lstStyle/>
          <a:p>
            <a:r>
              <a:rPr lang="en-US" altLang="zh-CN"/>
              <a:t>DMA</a:t>
            </a:r>
            <a:r>
              <a:rPr lang="zh-CN" altLang="en-US"/>
              <a:t>控制器的寄存器</a:t>
            </a:r>
          </a:p>
        </p:txBody>
      </p:sp>
      <p:sp>
        <p:nvSpPr>
          <p:cNvPr id="118787" name="Rectangle 3">
            <a:extLst>
              <a:ext uri="{FF2B5EF4-FFF2-40B4-BE49-F238E27FC236}">
                <a16:creationId xmlns:a16="http://schemas.microsoft.com/office/drawing/2014/main" id="{7A749A38-C27C-4069-FD1E-428DFC5BF95F}"/>
              </a:ext>
            </a:extLst>
          </p:cNvPr>
          <p:cNvSpPr>
            <a:spLocks noGrp="1" noChangeArrowheads="1"/>
          </p:cNvSpPr>
          <p:nvPr>
            <p:ph idx="1"/>
          </p:nvPr>
        </p:nvSpPr>
        <p:spPr>
          <a:xfrm>
            <a:off x="935038" y="1233488"/>
            <a:ext cx="7772400" cy="4895850"/>
          </a:xfrm>
        </p:spPr>
        <p:txBody>
          <a:bodyPr/>
          <a:lstStyle/>
          <a:p>
            <a:r>
              <a:rPr lang="zh-CN" altLang="en-US"/>
              <a:t>为实现主机与控制器之间成块数据的直接交换，必须在</a:t>
            </a:r>
            <a:r>
              <a:rPr lang="en-US" altLang="zh-CN"/>
              <a:t>DMA</a:t>
            </a:r>
            <a:r>
              <a:rPr lang="zh-CN" altLang="en-US"/>
              <a:t>控制器中设置如下寄存器：</a:t>
            </a:r>
            <a:endParaRPr lang="en-US" altLang="zh-CN"/>
          </a:p>
          <a:p>
            <a:pPr lvl="1"/>
            <a:r>
              <a:rPr lang="zh-CN" altLang="en-US"/>
              <a:t>命令/状态寄存器</a:t>
            </a:r>
            <a:r>
              <a:rPr lang="en-US" altLang="zh-CN"/>
              <a:t>CR：</a:t>
            </a:r>
            <a:r>
              <a:rPr lang="zh-CN" altLang="en-US"/>
              <a:t>存放命令及状态</a:t>
            </a:r>
          </a:p>
          <a:p>
            <a:pPr lvl="1"/>
            <a:r>
              <a:rPr lang="zh-CN" altLang="en-US"/>
              <a:t>内存地址寄存器</a:t>
            </a:r>
            <a:r>
              <a:rPr lang="en-US" altLang="zh-CN"/>
              <a:t>MAR：</a:t>
            </a:r>
            <a:r>
              <a:rPr lang="zh-CN" altLang="en-US"/>
              <a:t>存放内存起始地址</a:t>
            </a:r>
          </a:p>
          <a:p>
            <a:pPr lvl="1"/>
            <a:r>
              <a:rPr lang="zh-CN" altLang="en-US"/>
              <a:t>数据寄存器</a:t>
            </a:r>
            <a:r>
              <a:rPr lang="en-US" altLang="zh-CN"/>
              <a:t>DR：</a:t>
            </a:r>
            <a:r>
              <a:rPr lang="zh-CN" altLang="en-US"/>
              <a:t>存放传输的数据</a:t>
            </a:r>
          </a:p>
          <a:p>
            <a:pPr lvl="1"/>
            <a:r>
              <a:rPr lang="zh-CN" altLang="en-US"/>
              <a:t>数据计数器</a:t>
            </a:r>
            <a:r>
              <a:rPr lang="en-US" altLang="zh-CN"/>
              <a:t>DC：</a:t>
            </a:r>
            <a:r>
              <a:rPr lang="zh-CN" altLang="en-US"/>
              <a:t>存放要读写的字（节）数</a:t>
            </a:r>
          </a:p>
        </p:txBody>
      </p:sp>
      <p:sp>
        <p:nvSpPr>
          <p:cNvPr id="4" name="灯片编号占位符 3">
            <a:extLst>
              <a:ext uri="{FF2B5EF4-FFF2-40B4-BE49-F238E27FC236}">
                <a16:creationId xmlns:a16="http://schemas.microsoft.com/office/drawing/2014/main" id="{294849C7-78A3-778A-1548-533659DFF6E8}"/>
              </a:ext>
            </a:extLst>
          </p:cNvPr>
          <p:cNvSpPr>
            <a:spLocks noGrp="1"/>
          </p:cNvSpPr>
          <p:nvPr>
            <p:ph type="sldNum" sz="quarter" idx="12"/>
          </p:nvPr>
        </p:nvSpPr>
        <p:spPr/>
        <p:txBody>
          <a:bodyPr/>
          <a:lstStyle/>
          <a:p>
            <a:fld id="{4093CC90-4002-504C-BD88-C9A1D374048E}" type="slidenum">
              <a:rPr lang="zh-CN" altLang="en-US" smtClean="0"/>
              <a:pPr/>
              <a:t>50</a:t>
            </a:fld>
            <a:endParaRPr lang="zh-CN" altLang="en-US" dirty="0"/>
          </a:p>
        </p:txBody>
      </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B0FEC38-563D-B68B-B316-5CB3FB786D76}"/>
              </a:ext>
            </a:extLst>
          </p:cNvPr>
          <p:cNvSpPr>
            <a:spLocks noGrp="1" noChangeArrowheads="1"/>
          </p:cNvSpPr>
          <p:nvPr>
            <p:ph type="title"/>
          </p:nvPr>
        </p:nvSpPr>
        <p:spPr/>
        <p:txBody>
          <a:bodyPr/>
          <a:lstStyle/>
          <a:p>
            <a:pPr eaLnBrk="1" hangingPunct="1"/>
            <a:r>
              <a:rPr lang="en-US" altLang="zh-CN"/>
              <a:t>DMA</a:t>
            </a:r>
            <a:r>
              <a:rPr lang="zh-CN" altLang="en-US">
                <a:latin typeface="Times New Roman" panose="02020603050405020304" pitchFamily="18" charset="0"/>
              </a:rPr>
              <a:t>控制器的组成</a:t>
            </a:r>
          </a:p>
        </p:txBody>
      </p:sp>
      <p:sp>
        <p:nvSpPr>
          <p:cNvPr id="68610" name="Rectangle 5">
            <a:extLst>
              <a:ext uri="{FF2B5EF4-FFF2-40B4-BE49-F238E27FC236}">
                <a16:creationId xmlns:a16="http://schemas.microsoft.com/office/drawing/2014/main" id="{DFCF0304-4E15-907E-4B9F-CE50A3EC28DC}"/>
              </a:ext>
            </a:extLst>
          </p:cNvPr>
          <p:cNvSpPr>
            <a:spLocks noChangeArrowheads="1"/>
          </p:cNvSpPr>
          <p:nvPr/>
        </p:nvSpPr>
        <p:spPr bwMode="auto">
          <a:xfrm>
            <a:off x="6030913" y="1195388"/>
            <a:ext cx="1817687"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控制器与块设备的接口</a:t>
            </a:r>
          </a:p>
        </p:txBody>
      </p:sp>
      <p:sp>
        <p:nvSpPr>
          <p:cNvPr id="68611" name="Rectangle 7">
            <a:extLst>
              <a:ext uri="{FF2B5EF4-FFF2-40B4-BE49-F238E27FC236}">
                <a16:creationId xmlns:a16="http://schemas.microsoft.com/office/drawing/2014/main" id="{8AF33FE8-DB60-E655-83DC-34565F5A5FFA}"/>
              </a:ext>
            </a:extLst>
          </p:cNvPr>
          <p:cNvSpPr>
            <a:spLocks noChangeArrowheads="1"/>
          </p:cNvSpPr>
          <p:nvPr/>
        </p:nvSpPr>
        <p:spPr bwMode="auto">
          <a:xfrm>
            <a:off x="3829050" y="1195388"/>
            <a:ext cx="1352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主机-控制器接口</a:t>
            </a:r>
          </a:p>
        </p:txBody>
      </p:sp>
      <p:sp>
        <p:nvSpPr>
          <p:cNvPr id="68612" name="Rectangle 8">
            <a:extLst>
              <a:ext uri="{FF2B5EF4-FFF2-40B4-BE49-F238E27FC236}">
                <a16:creationId xmlns:a16="http://schemas.microsoft.com/office/drawing/2014/main" id="{CD0D4C37-6506-EC3D-10BE-7F490FE75B6E}"/>
              </a:ext>
            </a:extLst>
          </p:cNvPr>
          <p:cNvSpPr>
            <a:spLocks noChangeArrowheads="1"/>
          </p:cNvSpPr>
          <p:nvPr/>
        </p:nvSpPr>
        <p:spPr bwMode="auto">
          <a:xfrm>
            <a:off x="3616325" y="2012950"/>
            <a:ext cx="4232275" cy="2970213"/>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68613" name="Rectangle 9">
            <a:extLst>
              <a:ext uri="{FF2B5EF4-FFF2-40B4-BE49-F238E27FC236}">
                <a16:creationId xmlns:a16="http://schemas.microsoft.com/office/drawing/2014/main" id="{10836208-4B7A-8DF7-4A49-1E150F78587B}"/>
              </a:ext>
            </a:extLst>
          </p:cNvPr>
          <p:cNvSpPr>
            <a:spLocks noChangeArrowheads="1"/>
          </p:cNvSpPr>
          <p:nvPr/>
        </p:nvSpPr>
        <p:spPr bwMode="auto">
          <a:xfrm>
            <a:off x="685800" y="2030413"/>
            <a:ext cx="1177925" cy="295275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endParaRPr lang="zh-CN" altLang="en-US">
              <a:latin typeface="Times New Roman" panose="02020603050405020304" pitchFamily="18" charset="0"/>
            </a:endParaRPr>
          </a:p>
        </p:txBody>
      </p:sp>
      <p:sp>
        <p:nvSpPr>
          <p:cNvPr id="68614" name="Rectangle 10">
            <a:extLst>
              <a:ext uri="{FF2B5EF4-FFF2-40B4-BE49-F238E27FC236}">
                <a16:creationId xmlns:a16="http://schemas.microsoft.com/office/drawing/2014/main" id="{27750838-2DA3-6D7B-401C-A942B2795BE8}"/>
              </a:ext>
            </a:extLst>
          </p:cNvPr>
          <p:cNvSpPr>
            <a:spLocks noChangeArrowheads="1"/>
          </p:cNvSpPr>
          <p:nvPr/>
        </p:nvSpPr>
        <p:spPr bwMode="auto">
          <a:xfrm>
            <a:off x="3806825" y="2168525"/>
            <a:ext cx="612775" cy="434975"/>
          </a:xfrm>
          <a:prstGeom prst="rect">
            <a:avLst/>
          </a:prstGeom>
          <a:solidFill>
            <a:srgbClr val="FFFFFF"/>
          </a:solidFill>
          <a:ln w="28575">
            <a:solidFill>
              <a:srgbClr val="000000"/>
            </a:solidFill>
            <a:miter lim="800000"/>
            <a:headEnd/>
            <a:tailEnd/>
          </a:ln>
        </p:spPr>
        <p:txBody>
          <a:bodyPr lIns="72000" tIns="46800" rIns="36000" bIns="46800" anchor="ct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b="1">
                <a:latin typeface="Times New Roman" panose="02020603050405020304" pitchFamily="18" charset="0"/>
              </a:rPr>
              <a:t>DR</a:t>
            </a:r>
          </a:p>
        </p:txBody>
      </p:sp>
      <p:sp>
        <p:nvSpPr>
          <p:cNvPr id="68615" name="Rectangle 11">
            <a:extLst>
              <a:ext uri="{FF2B5EF4-FFF2-40B4-BE49-F238E27FC236}">
                <a16:creationId xmlns:a16="http://schemas.microsoft.com/office/drawing/2014/main" id="{419334C4-664F-AF7A-340E-416FA3E85078}"/>
              </a:ext>
            </a:extLst>
          </p:cNvPr>
          <p:cNvSpPr>
            <a:spLocks noChangeArrowheads="1"/>
          </p:cNvSpPr>
          <p:nvPr/>
        </p:nvSpPr>
        <p:spPr bwMode="auto">
          <a:xfrm>
            <a:off x="5105400" y="2547938"/>
            <a:ext cx="941388" cy="1928812"/>
          </a:xfrm>
          <a:prstGeom prst="rect">
            <a:avLst/>
          </a:prstGeom>
          <a:solidFill>
            <a:srgbClr val="FFFFFF"/>
          </a:solidFill>
          <a:ln w="28575">
            <a:solidFill>
              <a:srgbClr val="000000"/>
            </a:solidFill>
            <a:miter lim="800000"/>
            <a:headEnd/>
            <a:tailEnd/>
          </a:ln>
        </p:spPr>
        <p:txBody>
          <a:bodyPr lIns="54000" tIns="46800" rIns="54000" bIns="46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endParaRPr lang="zh-CN" altLang="en-US">
              <a:latin typeface="Times New Roman" panose="02020603050405020304" pitchFamily="18" charset="0"/>
            </a:endParaRPr>
          </a:p>
          <a:p>
            <a:pPr algn="ctr"/>
            <a:r>
              <a:rPr lang="en-US" altLang="zh-CN" b="1">
                <a:latin typeface="Times New Roman" panose="02020603050405020304" pitchFamily="18" charset="0"/>
              </a:rPr>
              <a:t>I/O</a:t>
            </a:r>
          </a:p>
          <a:p>
            <a:pPr algn="ctr"/>
            <a:r>
              <a:rPr lang="zh-CN" altLang="en-US" b="1">
                <a:latin typeface="Times New Roman" panose="02020603050405020304" pitchFamily="18" charset="0"/>
              </a:rPr>
              <a:t>控制</a:t>
            </a:r>
          </a:p>
          <a:p>
            <a:pPr algn="ctr"/>
            <a:r>
              <a:rPr lang="zh-CN" altLang="en-US" b="1">
                <a:latin typeface="Times New Roman" panose="02020603050405020304" pitchFamily="18" charset="0"/>
              </a:rPr>
              <a:t>逻辑</a:t>
            </a:r>
          </a:p>
        </p:txBody>
      </p:sp>
      <p:sp>
        <p:nvSpPr>
          <p:cNvPr id="68616" name="Rectangle 12">
            <a:extLst>
              <a:ext uri="{FF2B5EF4-FFF2-40B4-BE49-F238E27FC236}">
                <a16:creationId xmlns:a16="http://schemas.microsoft.com/office/drawing/2014/main" id="{4A9BDB25-2134-19BA-7457-040A9135C96A}"/>
              </a:ext>
            </a:extLst>
          </p:cNvPr>
          <p:cNvSpPr>
            <a:spLocks noChangeArrowheads="1"/>
          </p:cNvSpPr>
          <p:nvPr/>
        </p:nvSpPr>
        <p:spPr bwMode="auto">
          <a:xfrm>
            <a:off x="6324600" y="2203450"/>
            <a:ext cx="985838" cy="833438"/>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endParaRPr lang="zh-CN" altLang="en-US" b="1">
              <a:latin typeface="Times New Roman" panose="02020603050405020304" pitchFamily="18" charset="0"/>
            </a:endParaRPr>
          </a:p>
        </p:txBody>
      </p:sp>
      <p:sp>
        <p:nvSpPr>
          <p:cNvPr id="68617" name="Rectangle 13">
            <a:extLst>
              <a:ext uri="{FF2B5EF4-FFF2-40B4-BE49-F238E27FC236}">
                <a16:creationId xmlns:a16="http://schemas.microsoft.com/office/drawing/2014/main" id="{28D3175E-F70C-DF63-1D59-EE726109B160}"/>
              </a:ext>
            </a:extLst>
          </p:cNvPr>
          <p:cNvSpPr>
            <a:spLocks noChangeArrowheads="1"/>
          </p:cNvSpPr>
          <p:nvPr/>
        </p:nvSpPr>
        <p:spPr bwMode="auto">
          <a:xfrm>
            <a:off x="6326188" y="3959225"/>
            <a:ext cx="984250" cy="78105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endParaRPr lang="zh-CN" altLang="en-US">
              <a:latin typeface="Times New Roman" panose="02020603050405020304" pitchFamily="18" charset="0"/>
            </a:endParaRPr>
          </a:p>
        </p:txBody>
      </p:sp>
      <p:sp>
        <p:nvSpPr>
          <p:cNvPr id="68618" name="Rectangle 14">
            <a:extLst>
              <a:ext uri="{FF2B5EF4-FFF2-40B4-BE49-F238E27FC236}">
                <a16:creationId xmlns:a16="http://schemas.microsoft.com/office/drawing/2014/main" id="{A6377B68-1CE3-C47D-41EF-DCB69CFF087E}"/>
              </a:ext>
            </a:extLst>
          </p:cNvPr>
          <p:cNvSpPr>
            <a:spLocks noChangeArrowheads="1"/>
          </p:cNvSpPr>
          <p:nvPr/>
        </p:nvSpPr>
        <p:spPr bwMode="auto">
          <a:xfrm>
            <a:off x="6640513" y="3282950"/>
            <a:ext cx="441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t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b="1">
                <a:latin typeface="宋体" panose="02010600030101010101" pitchFamily="2" charset="-122"/>
              </a:rPr>
              <a:t>┆</a:t>
            </a:r>
            <a:endParaRPr lang="zh-CN" altLang="en-US" b="1">
              <a:latin typeface="Times New Roman" panose="02020603050405020304" pitchFamily="18" charset="0"/>
            </a:endParaRPr>
          </a:p>
        </p:txBody>
      </p:sp>
      <p:sp>
        <p:nvSpPr>
          <p:cNvPr id="68619" name="Rectangle 15">
            <a:extLst>
              <a:ext uri="{FF2B5EF4-FFF2-40B4-BE49-F238E27FC236}">
                <a16:creationId xmlns:a16="http://schemas.microsoft.com/office/drawing/2014/main" id="{4142135F-74A0-356E-EED9-5178C06853CD}"/>
              </a:ext>
            </a:extLst>
          </p:cNvPr>
          <p:cNvSpPr>
            <a:spLocks noChangeArrowheads="1"/>
          </p:cNvSpPr>
          <p:nvPr/>
        </p:nvSpPr>
        <p:spPr bwMode="auto">
          <a:xfrm>
            <a:off x="3394075" y="5480050"/>
            <a:ext cx="1330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系统总线</a:t>
            </a:r>
          </a:p>
        </p:txBody>
      </p:sp>
      <p:sp>
        <p:nvSpPr>
          <p:cNvPr id="68620" name="Rectangle 16">
            <a:extLst>
              <a:ext uri="{FF2B5EF4-FFF2-40B4-BE49-F238E27FC236}">
                <a16:creationId xmlns:a16="http://schemas.microsoft.com/office/drawing/2014/main" id="{20A089DD-E75E-4FB2-2C47-57A4EA25BC62}"/>
              </a:ext>
            </a:extLst>
          </p:cNvPr>
          <p:cNvSpPr>
            <a:spLocks noChangeArrowheads="1"/>
          </p:cNvSpPr>
          <p:nvPr/>
        </p:nvSpPr>
        <p:spPr bwMode="auto">
          <a:xfrm>
            <a:off x="1539875" y="5245100"/>
            <a:ext cx="6334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命令</a:t>
            </a:r>
          </a:p>
        </p:txBody>
      </p:sp>
      <p:sp>
        <p:nvSpPr>
          <p:cNvPr id="68621" name="Line 17">
            <a:extLst>
              <a:ext uri="{FF2B5EF4-FFF2-40B4-BE49-F238E27FC236}">
                <a16:creationId xmlns:a16="http://schemas.microsoft.com/office/drawing/2014/main" id="{50DA4A6A-8972-1E2E-DDDE-317EB1372B87}"/>
              </a:ext>
            </a:extLst>
          </p:cNvPr>
          <p:cNvSpPr>
            <a:spLocks noChangeShapeType="1"/>
          </p:cNvSpPr>
          <p:nvPr/>
        </p:nvSpPr>
        <p:spPr bwMode="auto">
          <a:xfrm>
            <a:off x="1436688" y="5695950"/>
            <a:ext cx="779462"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22" name="Line 18">
            <a:extLst>
              <a:ext uri="{FF2B5EF4-FFF2-40B4-BE49-F238E27FC236}">
                <a16:creationId xmlns:a16="http://schemas.microsoft.com/office/drawing/2014/main" id="{31912CB2-06FC-F831-76CA-FE80ACCBADC4}"/>
              </a:ext>
            </a:extLst>
          </p:cNvPr>
          <p:cNvSpPr>
            <a:spLocks noChangeShapeType="1"/>
          </p:cNvSpPr>
          <p:nvPr/>
        </p:nvSpPr>
        <p:spPr bwMode="auto">
          <a:xfrm flipV="1">
            <a:off x="1141413" y="4987925"/>
            <a:ext cx="0" cy="931863"/>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23" name="Line 19">
            <a:extLst>
              <a:ext uri="{FF2B5EF4-FFF2-40B4-BE49-F238E27FC236}">
                <a16:creationId xmlns:a16="http://schemas.microsoft.com/office/drawing/2014/main" id="{ED334DF9-878E-C207-041D-1C55DA658E6D}"/>
              </a:ext>
            </a:extLst>
          </p:cNvPr>
          <p:cNvSpPr>
            <a:spLocks noChangeShapeType="1"/>
          </p:cNvSpPr>
          <p:nvPr/>
        </p:nvSpPr>
        <p:spPr bwMode="auto">
          <a:xfrm>
            <a:off x="1127125" y="5905500"/>
            <a:ext cx="4313238" cy="0"/>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24" name="Rectangle 20">
            <a:extLst>
              <a:ext uri="{FF2B5EF4-FFF2-40B4-BE49-F238E27FC236}">
                <a16:creationId xmlns:a16="http://schemas.microsoft.com/office/drawing/2014/main" id="{A4152C92-229E-0328-4F38-F4A47540A1D4}"/>
              </a:ext>
            </a:extLst>
          </p:cNvPr>
          <p:cNvSpPr>
            <a:spLocks noChangeArrowheads="1"/>
          </p:cNvSpPr>
          <p:nvPr/>
        </p:nvSpPr>
        <p:spPr bwMode="auto">
          <a:xfrm>
            <a:off x="1009650" y="1560513"/>
            <a:ext cx="603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CPU</a:t>
            </a:r>
          </a:p>
        </p:txBody>
      </p:sp>
      <p:sp>
        <p:nvSpPr>
          <p:cNvPr id="68625" name="Rectangle 21">
            <a:extLst>
              <a:ext uri="{FF2B5EF4-FFF2-40B4-BE49-F238E27FC236}">
                <a16:creationId xmlns:a16="http://schemas.microsoft.com/office/drawing/2014/main" id="{B8B34DBA-BB46-79B5-2313-CF78D2795181}"/>
              </a:ext>
            </a:extLst>
          </p:cNvPr>
          <p:cNvSpPr>
            <a:spLocks noChangeArrowheads="1"/>
          </p:cNvSpPr>
          <p:nvPr/>
        </p:nvSpPr>
        <p:spPr bwMode="auto">
          <a:xfrm>
            <a:off x="2039938" y="2046288"/>
            <a:ext cx="1443037" cy="2954337"/>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endParaRPr lang="zh-CN" altLang="en-US">
              <a:latin typeface="Times New Roman" panose="02020603050405020304" pitchFamily="18" charset="0"/>
            </a:endParaRPr>
          </a:p>
        </p:txBody>
      </p:sp>
      <p:sp>
        <p:nvSpPr>
          <p:cNvPr id="68626" name="Rectangle 22">
            <a:extLst>
              <a:ext uri="{FF2B5EF4-FFF2-40B4-BE49-F238E27FC236}">
                <a16:creationId xmlns:a16="http://schemas.microsoft.com/office/drawing/2014/main" id="{20FC6EB9-C4A8-C3DE-31C1-F9A44B95ABE9}"/>
              </a:ext>
            </a:extLst>
          </p:cNvPr>
          <p:cNvSpPr>
            <a:spLocks noChangeArrowheads="1"/>
          </p:cNvSpPr>
          <p:nvPr/>
        </p:nvSpPr>
        <p:spPr bwMode="auto">
          <a:xfrm>
            <a:off x="2587625" y="1533525"/>
            <a:ext cx="688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内存</a:t>
            </a:r>
          </a:p>
        </p:txBody>
      </p:sp>
      <p:sp>
        <p:nvSpPr>
          <p:cNvPr id="68627" name="Line 23">
            <a:extLst>
              <a:ext uri="{FF2B5EF4-FFF2-40B4-BE49-F238E27FC236}">
                <a16:creationId xmlns:a16="http://schemas.microsoft.com/office/drawing/2014/main" id="{4E8C88FD-90F5-8AFD-5982-05F1132BF651}"/>
              </a:ext>
            </a:extLst>
          </p:cNvPr>
          <p:cNvSpPr>
            <a:spLocks noChangeShapeType="1"/>
          </p:cNvSpPr>
          <p:nvPr/>
        </p:nvSpPr>
        <p:spPr bwMode="auto">
          <a:xfrm flipH="1" flipV="1">
            <a:off x="2570163" y="2589213"/>
            <a:ext cx="779462" cy="0"/>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28" name="Line 24">
            <a:extLst>
              <a:ext uri="{FF2B5EF4-FFF2-40B4-BE49-F238E27FC236}">
                <a16:creationId xmlns:a16="http://schemas.microsoft.com/office/drawing/2014/main" id="{60CAAB3A-D7DE-234D-556E-017B8161ED51}"/>
              </a:ext>
            </a:extLst>
          </p:cNvPr>
          <p:cNvSpPr>
            <a:spLocks noChangeShapeType="1"/>
          </p:cNvSpPr>
          <p:nvPr/>
        </p:nvSpPr>
        <p:spPr bwMode="auto">
          <a:xfrm flipH="1" flipV="1">
            <a:off x="2570163" y="3719513"/>
            <a:ext cx="779462" cy="0"/>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29" name="Line 25">
            <a:extLst>
              <a:ext uri="{FF2B5EF4-FFF2-40B4-BE49-F238E27FC236}">
                <a16:creationId xmlns:a16="http://schemas.microsoft.com/office/drawing/2014/main" id="{68AB29FE-6FB6-AB48-A44B-F194CBDFD242}"/>
              </a:ext>
            </a:extLst>
          </p:cNvPr>
          <p:cNvSpPr>
            <a:spLocks noChangeShapeType="1"/>
          </p:cNvSpPr>
          <p:nvPr/>
        </p:nvSpPr>
        <p:spPr bwMode="auto">
          <a:xfrm flipH="1" flipV="1">
            <a:off x="3338513" y="2589213"/>
            <a:ext cx="0" cy="1116012"/>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30" name="Line 26">
            <a:extLst>
              <a:ext uri="{FF2B5EF4-FFF2-40B4-BE49-F238E27FC236}">
                <a16:creationId xmlns:a16="http://schemas.microsoft.com/office/drawing/2014/main" id="{EAB56AD5-B3FE-C8A6-0F94-C48A2339E2B1}"/>
              </a:ext>
            </a:extLst>
          </p:cNvPr>
          <p:cNvSpPr>
            <a:spLocks noChangeShapeType="1"/>
          </p:cNvSpPr>
          <p:nvPr/>
        </p:nvSpPr>
        <p:spPr bwMode="auto">
          <a:xfrm flipH="1" flipV="1">
            <a:off x="2941638" y="2606675"/>
            <a:ext cx="0" cy="1116013"/>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31" name="Line 27">
            <a:extLst>
              <a:ext uri="{FF2B5EF4-FFF2-40B4-BE49-F238E27FC236}">
                <a16:creationId xmlns:a16="http://schemas.microsoft.com/office/drawing/2014/main" id="{F0F5C132-C689-2309-B5BC-142E20A48AC1}"/>
              </a:ext>
            </a:extLst>
          </p:cNvPr>
          <p:cNvSpPr>
            <a:spLocks noChangeShapeType="1"/>
          </p:cNvSpPr>
          <p:nvPr/>
        </p:nvSpPr>
        <p:spPr bwMode="auto">
          <a:xfrm flipH="1" flipV="1">
            <a:off x="2646363" y="2606675"/>
            <a:ext cx="0" cy="1116013"/>
          </a:xfrm>
          <a:prstGeom prst="line">
            <a:avLst/>
          </a:prstGeom>
          <a:noFill/>
          <a:ln w="28575">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32" name="Rectangle 28">
            <a:extLst>
              <a:ext uri="{FF2B5EF4-FFF2-40B4-BE49-F238E27FC236}">
                <a16:creationId xmlns:a16="http://schemas.microsoft.com/office/drawing/2014/main" id="{9260DD1F-0BAE-2927-EAA2-7FA277EEFECE}"/>
              </a:ext>
            </a:extLst>
          </p:cNvPr>
          <p:cNvSpPr>
            <a:spLocks noChangeArrowheads="1"/>
          </p:cNvSpPr>
          <p:nvPr/>
        </p:nvSpPr>
        <p:spPr bwMode="auto">
          <a:xfrm>
            <a:off x="2133600" y="2881313"/>
            <a:ext cx="647700" cy="29210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b="1">
                <a:latin typeface="Times New Roman" panose="02020603050405020304" pitchFamily="18" charset="0"/>
              </a:rPr>
              <a:t>count</a:t>
            </a:r>
          </a:p>
        </p:txBody>
      </p:sp>
      <p:sp>
        <p:nvSpPr>
          <p:cNvPr id="68633" name="Rectangle 29">
            <a:extLst>
              <a:ext uri="{FF2B5EF4-FFF2-40B4-BE49-F238E27FC236}">
                <a16:creationId xmlns:a16="http://schemas.microsoft.com/office/drawing/2014/main" id="{3A912D9A-39A0-7266-8651-77D153E8B3F3}"/>
              </a:ext>
            </a:extLst>
          </p:cNvPr>
          <p:cNvSpPr>
            <a:spLocks noChangeArrowheads="1"/>
          </p:cNvSpPr>
          <p:nvPr/>
        </p:nvSpPr>
        <p:spPr bwMode="auto">
          <a:xfrm>
            <a:off x="3806825" y="2898775"/>
            <a:ext cx="993775" cy="434975"/>
          </a:xfrm>
          <a:prstGeom prst="rect">
            <a:avLst/>
          </a:prstGeom>
          <a:solidFill>
            <a:srgbClr val="FFFFFF"/>
          </a:solidFill>
          <a:ln w="28575">
            <a:solidFill>
              <a:srgbClr val="000000"/>
            </a:solidFill>
            <a:miter lim="800000"/>
            <a:headEnd/>
            <a:tailEnd/>
          </a:ln>
        </p:spPr>
        <p:txBody>
          <a:bodyPr lIns="36000" tIns="46800" rIns="36000" bIns="46800" anchor="ct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b="1">
                <a:latin typeface="Times New Roman" panose="02020603050405020304" pitchFamily="18" charset="0"/>
              </a:rPr>
              <a:t> MAR</a:t>
            </a:r>
          </a:p>
        </p:txBody>
      </p:sp>
      <p:sp>
        <p:nvSpPr>
          <p:cNvPr id="68634" name="Rectangle 30">
            <a:extLst>
              <a:ext uri="{FF2B5EF4-FFF2-40B4-BE49-F238E27FC236}">
                <a16:creationId xmlns:a16="http://schemas.microsoft.com/office/drawing/2014/main" id="{08A04EA0-566A-34C3-1767-6DE837F0CE29}"/>
              </a:ext>
            </a:extLst>
          </p:cNvPr>
          <p:cNvSpPr>
            <a:spLocks noChangeArrowheads="1"/>
          </p:cNvSpPr>
          <p:nvPr/>
        </p:nvSpPr>
        <p:spPr bwMode="auto">
          <a:xfrm>
            <a:off x="3806825" y="3646488"/>
            <a:ext cx="612775" cy="433387"/>
          </a:xfrm>
          <a:prstGeom prst="rect">
            <a:avLst/>
          </a:prstGeom>
          <a:solidFill>
            <a:srgbClr val="FFFFFF"/>
          </a:solidFill>
          <a:ln w="28575">
            <a:solidFill>
              <a:srgbClr val="000000"/>
            </a:solidFill>
            <a:miter lim="800000"/>
            <a:headEnd/>
            <a:tailEnd/>
          </a:ln>
        </p:spPr>
        <p:txBody>
          <a:bodyPr lIns="72000" tIns="46800" rIns="36000" bIns="46800" anchor="ct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b="1">
                <a:latin typeface="Times New Roman" panose="02020603050405020304" pitchFamily="18" charset="0"/>
              </a:rPr>
              <a:t>DC</a:t>
            </a:r>
          </a:p>
        </p:txBody>
      </p:sp>
      <p:sp>
        <p:nvSpPr>
          <p:cNvPr id="68635" name="Rectangle 31">
            <a:extLst>
              <a:ext uri="{FF2B5EF4-FFF2-40B4-BE49-F238E27FC236}">
                <a16:creationId xmlns:a16="http://schemas.microsoft.com/office/drawing/2014/main" id="{5D291EC1-584E-A210-BB1F-E4BC49EE4608}"/>
              </a:ext>
            </a:extLst>
          </p:cNvPr>
          <p:cNvSpPr>
            <a:spLocks noChangeArrowheads="1"/>
          </p:cNvSpPr>
          <p:nvPr/>
        </p:nvSpPr>
        <p:spPr bwMode="auto">
          <a:xfrm>
            <a:off x="3806825" y="4375150"/>
            <a:ext cx="685800" cy="469900"/>
          </a:xfrm>
          <a:prstGeom prst="rect">
            <a:avLst/>
          </a:prstGeom>
          <a:solidFill>
            <a:srgbClr val="FFFFFF"/>
          </a:solidFill>
          <a:ln w="28575">
            <a:solidFill>
              <a:srgbClr val="000000"/>
            </a:solidFill>
            <a:miter lim="800000"/>
            <a:headEnd/>
            <a:tailEnd/>
          </a:ln>
        </p:spPr>
        <p:txBody>
          <a:bodyPr lIns="72000" tIns="46800" rIns="36000" bIns="46800" anchor="ct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b="1">
                <a:latin typeface="Times New Roman" panose="02020603050405020304" pitchFamily="18" charset="0"/>
              </a:rPr>
              <a:t>CR</a:t>
            </a:r>
          </a:p>
        </p:txBody>
      </p:sp>
      <p:sp>
        <p:nvSpPr>
          <p:cNvPr id="68636" name="Line 32">
            <a:extLst>
              <a:ext uri="{FF2B5EF4-FFF2-40B4-BE49-F238E27FC236}">
                <a16:creationId xmlns:a16="http://schemas.microsoft.com/office/drawing/2014/main" id="{B923424F-F025-ECCD-102C-527F96674A6C}"/>
              </a:ext>
            </a:extLst>
          </p:cNvPr>
          <p:cNvSpPr>
            <a:spLocks noChangeShapeType="1"/>
          </p:cNvSpPr>
          <p:nvPr/>
        </p:nvSpPr>
        <p:spPr bwMode="auto">
          <a:xfrm flipH="1" flipV="1">
            <a:off x="3306763" y="2551113"/>
            <a:ext cx="500062" cy="33020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37" name="Line 33">
            <a:extLst>
              <a:ext uri="{FF2B5EF4-FFF2-40B4-BE49-F238E27FC236}">
                <a16:creationId xmlns:a16="http://schemas.microsoft.com/office/drawing/2014/main" id="{4B7A285F-3BBD-47D9-A6C7-2462D87A2658}"/>
              </a:ext>
            </a:extLst>
          </p:cNvPr>
          <p:cNvSpPr>
            <a:spLocks noChangeShapeType="1"/>
          </p:cNvSpPr>
          <p:nvPr/>
        </p:nvSpPr>
        <p:spPr bwMode="auto">
          <a:xfrm flipH="1" flipV="1">
            <a:off x="2946400" y="3224213"/>
            <a:ext cx="863600" cy="48577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38" name="Line 34">
            <a:extLst>
              <a:ext uri="{FF2B5EF4-FFF2-40B4-BE49-F238E27FC236}">
                <a16:creationId xmlns:a16="http://schemas.microsoft.com/office/drawing/2014/main" id="{51D5CC41-C21B-A981-B414-96DB9623EC56}"/>
              </a:ext>
            </a:extLst>
          </p:cNvPr>
          <p:cNvSpPr>
            <a:spLocks noChangeShapeType="1"/>
          </p:cNvSpPr>
          <p:nvPr/>
        </p:nvSpPr>
        <p:spPr bwMode="auto">
          <a:xfrm flipV="1">
            <a:off x="2746375" y="5005388"/>
            <a:ext cx="0" cy="895350"/>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39" name="Line 35">
            <a:extLst>
              <a:ext uri="{FF2B5EF4-FFF2-40B4-BE49-F238E27FC236}">
                <a16:creationId xmlns:a16="http://schemas.microsoft.com/office/drawing/2014/main" id="{37585B81-4155-8A71-C98F-E32ABDAA0909}"/>
              </a:ext>
            </a:extLst>
          </p:cNvPr>
          <p:cNvSpPr>
            <a:spLocks noChangeShapeType="1"/>
          </p:cNvSpPr>
          <p:nvPr/>
        </p:nvSpPr>
        <p:spPr bwMode="auto">
          <a:xfrm flipV="1">
            <a:off x="5440363" y="4987925"/>
            <a:ext cx="0" cy="919163"/>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8640" name="Rectangle 36">
            <a:extLst>
              <a:ext uri="{FF2B5EF4-FFF2-40B4-BE49-F238E27FC236}">
                <a16:creationId xmlns:a16="http://schemas.microsoft.com/office/drawing/2014/main" id="{1AD9F7D4-D154-A9CD-4981-45124E6B9E55}"/>
              </a:ext>
            </a:extLst>
          </p:cNvPr>
          <p:cNvSpPr>
            <a:spLocks noChangeArrowheads="1"/>
          </p:cNvSpPr>
          <p:nvPr/>
        </p:nvSpPr>
        <p:spPr bwMode="auto">
          <a:xfrm>
            <a:off x="5945188" y="5099050"/>
            <a:ext cx="18272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DMA</a:t>
            </a:r>
            <a:r>
              <a:rPr lang="zh-CN" altLang="en-US">
                <a:latin typeface="Times New Roman" panose="02020603050405020304" pitchFamily="18" charset="0"/>
              </a:rPr>
              <a:t>控制器</a:t>
            </a:r>
          </a:p>
        </p:txBody>
      </p:sp>
      <p:sp>
        <p:nvSpPr>
          <p:cNvPr id="68641" name="Oval 37">
            <a:extLst>
              <a:ext uri="{FF2B5EF4-FFF2-40B4-BE49-F238E27FC236}">
                <a16:creationId xmlns:a16="http://schemas.microsoft.com/office/drawing/2014/main" id="{1CA02A99-2A50-5E27-77D3-5BB63A55F3F0}"/>
              </a:ext>
            </a:extLst>
          </p:cNvPr>
          <p:cNvSpPr>
            <a:spLocks noChangeArrowheads="1"/>
          </p:cNvSpPr>
          <p:nvPr/>
        </p:nvSpPr>
        <p:spPr bwMode="auto">
          <a:xfrm>
            <a:off x="2687638" y="5838825"/>
            <a:ext cx="111125" cy="111125"/>
          </a:xfrm>
          <a:prstGeom prst="ellipse">
            <a:avLst/>
          </a:prstGeom>
          <a:solidFill>
            <a:schemeClr val="tx1"/>
          </a:solidFill>
          <a:ln w="9525">
            <a:solidFill>
              <a:schemeClr val="tx1"/>
            </a:solidFill>
            <a:miter lim="800000"/>
            <a:headEnd/>
            <a:tailEnd/>
          </a:ln>
        </p:spPr>
        <p:txBody>
          <a:bodyPr wrap="none" anchor="ct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2" name="灯片编号占位符 1">
            <a:extLst>
              <a:ext uri="{FF2B5EF4-FFF2-40B4-BE49-F238E27FC236}">
                <a16:creationId xmlns:a16="http://schemas.microsoft.com/office/drawing/2014/main" id="{6A160576-AFFA-BC2B-4FFA-31C6B372CF97}"/>
              </a:ext>
            </a:extLst>
          </p:cNvPr>
          <p:cNvSpPr>
            <a:spLocks noGrp="1"/>
          </p:cNvSpPr>
          <p:nvPr>
            <p:ph type="sldNum" sz="quarter" idx="12"/>
          </p:nvPr>
        </p:nvSpPr>
        <p:spPr/>
        <p:txBody>
          <a:bodyPr/>
          <a:lstStyle/>
          <a:p>
            <a:fld id="{4093CC90-4002-504C-BD88-C9A1D374048E}" type="slidenum">
              <a:rPr lang="zh-CN" altLang="en-US" smtClean="0"/>
              <a:pPr/>
              <a:t>51</a:t>
            </a:fld>
            <a:endParaRPr lang="zh-CN" altLang="en-US" dirty="0"/>
          </a:p>
        </p:txBody>
      </p:sp>
    </p:spTree>
  </p:cSld>
  <p:clrMapOvr>
    <a:masterClrMapping/>
  </p:clrMapOvr>
  <p:transition spd="med">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ECBEF341-CEAC-4469-F2F8-3F6FE774E031}"/>
              </a:ext>
            </a:extLst>
          </p:cNvPr>
          <p:cNvSpPr>
            <a:spLocks noGrp="1" noChangeArrowheads="1"/>
          </p:cNvSpPr>
          <p:nvPr>
            <p:ph type="title"/>
          </p:nvPr>
        </p:nvSpPr>
        <p:spPr/>
        <p:txBody>
          <a:bodyPr/>
          <a:lstStyle/>
          <a:p>
            <a:pPr eaLnBrk="1" hangingPunct="1"/>
            <a:r>
              <a:rPr lang="en-US" altLang="zh-CN"/>
              <a:t>DMA</a:t>
            </a:r>
            <a:r>
              <a:rPr lang="zh-CN" altLang="en-US">
                <a:latin typeface="Times New Roman" panose="02020603050405020304" pitchFamily="18" charset="0"/>
              </a:rPr>
              <a:t>工作过程</a:t>
            </a:r>
            <a:endParaRPr lang="zh-CN" altLang="en-US"/>
          </a:p>
        </p:txBody>
      </p:sp>
      <p:sp>
        <p:nvSpPr>
          <p:cNvPr id="69634" name="Rectangle 5">
            <a:extLst>
              <a:ext uri="{FF2B5EF4-FFF2-40B4-BE49-F238E27FC236}">
                <a16:creationId xmlns:a16="http://schemas.microsoft.com/office/drawing/2014/main" id="{8DFE4237-9BA3-8888-3EBA-8D55036FA337}"/>
              </a:ext>
            </a:extLst>
          </p:cNvPr>
          <p:cNvSpPr>
            <a:spLocks noChangeArrowheads="1"/>
          </p:cNvSpPr>
          <p:nvPr/>
        </p:nvSpPr>
        <p:spPr bwMode="auto">
          <a:xfrm>
            <a:off x="1905000" y="1568450"/>
            <a:ext cx="2971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设置</a:t>
            </a:r>
            <a:r>
              <a:rPr lang="en-US" altLang="zh-CN">
                <a:latin typeface="Times New Roman" panose="02020603050405020304" pitchFamily="18" charset="0"/>
              </a:rPr>
              <a:t>MAR</a:t>
            </a:r>
            <a:r>
              <a:rPr lang="zh-CN" altLang="en-US">
                <a:latin typeface="Times New Roman" panose="02020603050405020304" pitchFamily="18" charset="0"/>
              </a:rPr>
              <a:t>和</a:t>
            </a:r>
            <a:r>
              <a:rPr lang="en-US" altLang="zh-CN">
                <a:latin typeface="Times New Roman" panose="02020603050405020304" pitchFamily="18" charset="0"/>
              </a:rPr>
              <a:t>DC</a:t>
            </a:r>
            <a:r>
              <a:rPr lang="zh-CN" altLang="en-US">
                <a:latin typeface="Times New Roman" panose="02020603050405020304" pitchFamily="18" charset="0"/>
              </a:rPr>
              <a:t>初值</a:t>
            </a:r>
          </a:p>
        </p:txBody>
      </p:sp>
      <p:sp>
        <p:nvSpPr>
          <p:cNvPr id="69635" name="Rectangle 6">
            <a:extLst>
              <a:ext uri="{FF2B5EF4-FFF2-40B4-BE49-F238E27FC236}">
                <a16:creationId xmlns:a16="http://schemas.microsoft.com/office/drawing/2014/main" id="{F7B5AC0C-F4BD-D6DB-1E47-6CA6635CA471}"/>
              </a:ext>
            </a:extLst>
          </p:cNvPr>
          <p:cNvSpPr>
            <a:spLocks noChangeArrowheads="1"/>
          </p:cNvSpPr>
          <p:nvPr/>
        </p:nvSpPr>
        <p:spPr bwMode="auto">
          <a:xfrm>
            <a:off x="2587625" y="5546725"/>
            <a:ext cx="12985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请求中断</a:t>
            </a:r>
          </a:p>
        </p:txBody>
      </p:sp>
      <p:sp>
        <p:nvSpPr>
          <p:cNvPr id="69636" name="Line 7">
            <a:extLst>
              <a:ext uri="{FF2B5EF4-FFF2-40B4-BE49-F238E27FC236}">
                <a16:creationId xmlns:a16="http://schemas.microsoft.com/office/drawing/2014/main" id="{7FFF2737-3490-BC5A-C30D-34BDDDD15FF3}"/>
              </a:ext>
            </a:extLst>
          </p:cNvPr>
          <p:cNvSpPr>
            <a:spLocks noChangeShapeType="1"/>
          </p:cNvSpPr>
          <p:nvPr/>
        </p:nvSpPr>
        <p:spPr bwMode="auto">
          <a:xfrm>
            <a:off x="3127375" y="1871663"/>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37" name="Rectangle 8">
            <a:extLst>
              <a:ext uri="{FF2B5EF4-FFF2-40B4-BE49-F238E27FC236}">
                <a16:creationId xmlns:a16="http://schemas.microsoft.com/office/drawing/2014/main" id="{2CE4DD75-EA9A-0FF6-2E7E-BF94576E50BB}"/>
              </a:ext>
            </a:extLst>
          </p:cNvPr>
          <p:cNvSpPr>
            <a:spLocks noChangeArrowheads="1"/>
          </p:cNvSpPr>
          <p:nvPr/>
        </p:nvSpPr>
        <p:spPr bwMode="auto">
          <a:xfrm>
            <a:off x="1981200" y="2300288"/>
            <a:ext cx="27670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启动</a:t>
            </a:r>
            <a:r>
              <a:rPr lang="en-US" altLang="zh-CN">
                <a:latin typeface="Times New Roman" panose="02020603050405020304" pitchFamily="18" charset="0"/>
              </a:rPr>
              <a:t>DMA</a:t>
            </a:r>
            <a:r>
              <a:rPr lang="zh-CN" altLang="en-US">
                <a:latin typeface="Times New Roman" panose="02020603050405020304" pitchFamily="18" charset="0"/>
              </a:rPr>
              <a:t>传送命令</a:t>
            </a:r>
          </a:p>
        </p:txBody>
      </p:sp>
      <p:sp>
        <p:nvSpPr>
          <p:cNvPr id="69638" name="Line 9">
            <a:extLst>
              <a:ext uri="{FF2B5EF4-FFF2-40B4-BE49-F238E27FC236}">
                <a16:creationId xmlns:a16="http://schemas.microsoft.com/office/drawing/2014/main" id="{505C532B-C57D-4E0B-91AA-B8E1FC8DA663}"/>
              </a:ext>
            </a:extLst>
          </p:cNvPr>
          <p:cNvSpPr>
            <a:spLocks noChangeShapeType="1"/>
          </p:cNvSpPr>
          <p:nvPr/>
        </p:nvSpPr>
        <p:spPr bwMode="auto">
          <a:xfrm flipV="1">
            <a:off x="3124200" y="4427538"/>
            <a:ext cx="0" cy="411162"/>
          </a:xfrm>
          <a:prstGeom prst="line">
            <a:avLst/>
          </a:prstGeom>
          <a:noFill/>
          <a:ln w="31750">
            <a:solidFill>
              <a:srgbClr val="000000"/>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9639" name="Rectangle 10">
            <a:extLst>
              <a:ext uri="{FF2B5EF4-FFF2-40B4-BE49-F238E27FC236}">
                <a16:creationId xmlns:a16="http://schemas.microsoft.com/office/drawing/2014/main" id="{4899E043-2519-5C7A-3FFC-0AA990BD4FF5}"/>
              </a:ext>
            </a:extLst>
          </p:cNvPr>
          <p:cNvSpPr>
            <a:spLocks noChangeArrowheads="1"/>
          </p:cNvSpPr>
          <p:nvPr/>
        </p:nvSpPr>
        <p:spPr bwMode="auto">
          <a:xfrm>
            <a:off x="1306513" y="3168650"/>
            <a:ext cx="38750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挪用存储器周期传送数据字</a:t>
            </a:r>
          </a:p>
        </p:txBody>
      </p:sp>
      <p:sp>
        <p:nvSpPr>
          <p:cNvPr id="69640" name="Line 11">
            <a:extLst>
              <a:ext uri="{FF2B5EF4-FFF2-40B4-BE49-F238E27FC236}">
                <a16:creationId xmlns:a16="http://schemas.microsoft.com/office/drawing/2014/main" id="{A176FBD2-8F8C-A9A3-FAF2-ECD1E29DD309}"/>
              </a:ext>
            </a:extLst>
          </p:cNvPr>
          <p:cNvSpPr>
            <a:spLocks noChangeShapeType="1"/>
          </p:cNvSpPr>
          <p:nvPr/>
        </p:nvSpPr>
        <p:spPr bwMode="auto">
          <a:xfrm>
            <a:off x="3127375" y="2679700"/>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41" name="Line 12">
            <a:extLst>
              <a:ext uri="{FF2B5EF4-FFF2-40B4-BE49-F238E27FC236}">
                <a16:creationId xmlns:a16="http://schemas.microsoft.com/office/drawing/2014/main" id="{226A1360-7B98-0BD4-5978-29CE26FEA693}"/>
              </a:ext>
            </a:extLst>
          </p:cNvPr>
          <p:cNvSpPr>
            <a:spLocks noChangeShapeType="1"/>
          </p:cNvSpPr>
          <p:nvPr/>
        </p:nvSpPr>
        <p:spPr bwMode="auto">
          <a:xfrm>
            <a:off x="3111500" y="3516313"/>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42" name="Rectangle 13">
            <a:extLst>
              <a:ext uri="{FF2B5EF4-FFF2-40B4-BE49-F238E27FC236}">
                <a16:creationId xmlns:a16="http://schemas.microsoft.com/office/drawing/2014/main" id="{8BBEE474-D2D8-DBCF-7076-CA11F466197A}"/>
              </a:ext>
            </a:extLst>
          </p:cNvPr>
          <p:cNvSpPr>
            <a:spLocks noChangeArrowheads="1"/>
          </p:cNvSpPr>
          <p:nvPr/>
        </p:nvSpPr>
        <p:spPr bwMode="auto">
          <a:xfrm>
            <a:off x="914400" y="4097338"/>
            <a:ext cx="46482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存储器地址增1；字计数寄存器减1</a:t>
            </a:r>
          </a:p>
        </p:txBody>
      </p:sp>
      <p:sp>
        <p:nvSpPr>
          <p:cNvPr id="69643" name="Rectangle 14">
            <a:extLst>
              <a:ext uri="{FF2B5EF4-FFF2-40B4-BE49-F238E27FC236}">
                <a16:creationId xmlns:a16="http://schemas.microsoft.com/office/drawing/2014/main" id="{85F26572-88A1-4AA5-0154-7CCD9646D0CB}"/>
              </a:ext>
            </a:extLst>
          </p:cNvPr>
          <p:cNvSpPr>
            <a:spLocks noChangeArrowheads="1"/>
          </p:cNvSpPr>
          <p:nvPr/>
        </p:nvSpPr>
        <p:spPr bwMode="auto">
          <a:xfrm>
            <a:off x="4579938" y="4565650"/>
            <a:ext cx="2968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N</a:t>
            </a:r>
          </a:p>
        </p:txBody>
      </p:sp>
      <p:sp>
        <p:nvSpPr>
          <p:cNvPr id="69644" name="Rectangle 15">
            <a:extLst>
              <a:ext uri="{FF2B5EF4-FFF2-40B4-BE49-F238E27FC236}">
                <a16:creationId xmlns:a16="http://schemas.microsoft.com/office/drawing/2014/main" id="{85FA1156-60DB-9D99-9D78-307A1904CBC3}"/>
              </a:ext>
            </a:extLst>
          </p:cNvPr>
          <p:cNvSpPr>
            <a:spLocks noChangeArrowheads="1"/>
          </p:cNvSpPr>
          <p:nvPr/>
        </p:nvSpPr>
        <p:spPr bwMode="auto">
          <a:xfrm>
            <a:off x="3314700" y="5118100"/>
            <a:ext cx="2667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Y</a:t>
            </a:r>
          </a:p>
        </p:txBody>
      </p:sp>
      <p:sp>
        <p:nvSpPr>
          <p:cNvPr id="69645" name="Line 16">
            <a:extLst>
              <a:ext uri="{FF2B5EF4-FFF2-40B4-BE49-F238E27FC236}">
                <a16:creationId xmlns:a16="http://schemas.microsoft.com/office/drawing/2014/main" id="{18FFD1D3-3EA2-5E4F-D78C-4FC67EEFDFD8}"/>
              </a:ext>
            </a:extLst>
          </p:cNvPr>
          <p:cNvSpPr>
            <a:spLocks noChangeShapeType="1"/>
          </p:cNvSpPr>
          <p:nvPr/>
        </p:nvSpPr>
        <p:spPr bwMode="auto">
          <a:xfrm flipH="1">
            <a:off x="3767138" y="4956175"/>
            <a:ext cx="2892425" cy="14288"/>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6" name="Line 17">
            <a:extLst>
              <a:ext uri="{FF2B5EF4-FFF2-40B4-BE49-F238E27FC236}">
                <a16:creationId xmlns:a16="http://schemas.microsoft.com/office/drawing/2014/main" id="{EFB8D28E-02ED-7811-5CBA-AFC133507832}"/>
              </a:ext>
            </a:extLst>
          </p:cNvPr>
          <p:cNvSpPr>
            <a:spLocks noChangeShapeType="1"/>
          </p:cNvSpPr>
          <p:nvPr/>
        </p:nvSpPr>
        <p:spPr bwMode="auto">
          <a:xfrm>
            <a:off x="6657975" y="4133850"/>
            <a:ext cx="0" cy="82232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7" name="Rectangle 18">
            <a:extLst>
              <a:ext uri="{FF2B5EF4-FFF2-40B4-BE49-F238E27FC236}">
                <a16:creationId xmlns:a16="http://schemas.microsoft.com/office/drawing/2014/main" id="{5C7D2DB2-3B79-C0CD-3C42-D3BF2CE3A88E}"/>
              </a:ext>
            </a:extLst>
          </p:cNvPr>
          <p:cNvSpPr>
            <a:spLocks noChangeArrowheads="1"/>
          </p:cNvSpPr>
          <p:nvPr/>
        </p:nvSpPr>
        <p:spPr bwMode="auto">
          <a:xfrm>
            <a:off x="2670175" y="4794250"/>
            <a:ext cx="106362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DC=0?</a:t>
            </a:r>
          </a:p>
        </p:txBody>
      </p:sp>
      <p:sp>
        <p:nvSpPr>
          <p:cNvPr id="69648" name="Line 19">
            <a:extLst>
              <a:ext uri="{FF2B5EF4-FFF2-40B4-BE49-F238E27FC236}">
                <a16:creationId xmlns:a16="http://schemas.microsoft.com/office/drawing/2014/main" id="{23318FBD-C35F-D42A-03FC-785D46C2290A}"/>
              </a:ext>
            </a:extLst>
          </p:cNvPr>
          <p:cNvSpPr>
            <a:spLocks noChangeShapeType="1"/>
          </p:cNvSpPr>
          <p:nvPr/>
        </p:nvSpPr>
        <p:spPr bwMode="auto">
          <a:xfrm rot="5400000" flipV="1">
            <a:off x="2915444" y="5314157"/>
            <a:ext cx="395287" cy="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49" name="Line 20">
            <a:extLst>
              <a:ext uri="{FF2B5EF4-FFF2-40B4-BE49-F238E27FC236}">
                <a16:creationId xmlns:a16="http://schemas.microsoft.com/office/drawing/2014/main" id="{D4576DE3-F10B-F829-0B76-970DEE304816}"/>
              </a:ext>
            </a:extLst>
          </p:cNvPr>
          <p:cNvSpPr>
            <a:spLocks noChangeShapeType="1"/>
          </p:cNvSpPr>
          <p:nvPr/>
        </p:nvSpPr>
        <p:spPr bwMode="auto">
          <a:xfrm rot="5400000" flipV="1">
            <a:off x="4905376" y="1100137"/>
            <a:ext cx="0" cy="3394075"/>
          </a:xfrm>
          <a:prstGeom prst="line">
            <a:avLst/>
          </a:prstGeom>
          <a:noFill/>
          <a:ln w="3175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69650" name="Rectangle 21">
            <a:extLst>
              <a:ext uri="{FF2B5EF4-FFF2-40B4-BE49-F238E27FC236}">
                <a16:creationId xmlns:a16="http://schemas.microsoft.com/office/drawing/2014/main" id="{CA9EF65F-B160-ECF8-B631-7BC21B93C399}"/>
              </a:ext>
            </a:extLst>
          </p:cNvPr>
          <p:cNvSpPr>
            <a:spLocks noChangeArrowheads="1"/>
          </p:cNvSpPr>
          <p:nvPr/>
        </p:nvSpPr>
        <p:spPr bwMode="auto">
          <a:xfrm>
            <a:off x="5621338" y="3248025"/>
            <a:ext cx="306546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在继续执行用户程序的同时，准备又一次传送</a:t>
            </a:r>
          </a:p>
        </p:txBody>
      </p:sp>
      <p:sp>
        <p:nvSpPr>
          <p:cNvPr id="69651" name="Line 22">
            <a:extLst>
              <a:ext uri="{FF2B5EF4-FFF2-40B4-BE49-F238E27FC236}">
                <a16:creationId xmlns:a16="http://schemas.microsoft.com/office/drawing/2014/main" id="{84EA7F05-BC1F-9BD1-D976-EE8236C19499}"/>
              </a:ext>
            </a:extLst>
          </p:cNvPr>
          <p:cNvSpPr>
            <a:spLocks noChangeShapeType="1"/>
          </p:cNvSpPr>
          <p:nvPr/>
        </p:nvSpPr>
        <p:spPr bwMode="auto">
          <a:xfrm>
            <a:off x="6583363" y="2781300"/>
            <a:ext cx="0" cy="32385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Line 23">
            <a:extLst>
              <a:ext uri="{FF2B5EF4-FFF2-40B4-BE49-F238E27FC236}">
                <a16:creationId xmlns:a16="http://schemas.microsoft.com/office/drawing/2014/main" id="{23E2FFD4-CC85-E6C3-9789-252C852EDA57}"/>
              </a:ext>
            </a:extLst>
          </p:cNvPr>
          <p:cNvSpPr>
            <a:spLocks noChangeShapeType="1"/>
          </p:cNvSpPr>
          <p:nvPr/>
        </p:nvSpPr>
        <p:spPr bwMode="auto">
          <a:xfrm>
            <a:off x="3143250" y="1196975"/>
            <a:ext cx="0" cy="396875"/>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05EC78CF-C495-61B4-1C9E-3CBA8A3A70E3}"/>
              </a:ext>
            </a:extLst>
          </p:cNvPr>
          <p:cNvSpPr>
            <a:spLocks noGrp="1"/>
          </p:cNvSpPr>
          <p:nvPr>
            <p:ph type="sldNum" sz="quarter" idx="12"/>
          </p:nvPr>
        </p:nvSpPr>
        <p:spPr/>
        <p:txBody>
          <a:bodyPr/>
          <a:lstStyle/>
          <a:p>
            <a:fld id="{4093CC90-4002-504C-BD88-C9A1D374048E}" type="slidenum">
              <a:rPr lang="zh-CN" altLang="en-US" smtClean="0"/>
              <a:pPr/>
              <a:t>52</a:t>
            </a:fld>
            <a:endParaRPr lang="zh-CN" altLang="en-US" dirty="0"/>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F9325C0A-605A-57F5-AAD0-8BD655CBB4FA}"/>
              </a:ext>
            </a:extLst>
          </p:cNvPr>
          <p:cNvSpPr>
            <a:spLocks noGrp="1" noChangeArrowheads="1"/>
          </p:cNvSpPr>
          <p:nvPr>
            <p:ph type="title"/>
          </p:nvPr>
        </p:nvSpPr>
        <p:spPr>
          <a:xfrm>
            <a:off x="1042988" y="225431"/>
            <a:ext cx="7850187" cy="746125"/>
          </a:xfrm>
        </p:spPr>
        <p:txBody>
          <a:bodyPr/>
          <a:lstStyle/>
          <a:p>
            <a:r>
              <a:rPr lang="zh-CN" altLang="en-US" dirty="0"/>
              <a:t>通过六步来完成</a:t>
            </a:r>
            <a:r>
              <a:rPr lang="en-US" altLang="zh-CN" dirty="0"/>
              <a:t>DMA</a:t>
            </a:r>
            <a:r>
              <a:rPr lang="zh-CN" altLang="en-US" dirty="0"/>
              <a:t>传输</a:t>
            </a:r>
            <a:endParaRPr lang="en-US" altLang="zh-CN" dirty="0"/>
          </a:p>
        </p:txBody>
      </p:sp>
      <p:pic>
        <p:nvPicPr>
          <p:cNvPr id="70658" name="Picture 3">
            <a:extLst>
              <a:ext uri="{FF2B5EF4-FFF2-40B4-BE49-F238E27FC236}">
                <a16:creationId xmlns:a16="http://schemas.microsoft.com/office/drawing/2014/main" id="{DF472EB2-47A4-58B9-07AE-3B084430EB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29" t="12831" r="829" b="12804"/>
          <a:stretch>
            <a:fillRect/>
          </a:stretch>
        </p:blipFill>
        <p:spPr bwMode="auto">
          <a:xfrm>
            <a:off x="233363" y="1079500"/>
            <a:ext cx="8664575" cy="566261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BDD6ACDA-1873-331E-7994-05CC06C4E67C}"/>
              </a:ext>
            </a:extLst>
          </p:cNvPr>
          <p:cNvSpPr>
            <a:spLocks noGrp="1"/>
          </p:cNvSpPr>
          <p:nvPr>
            <p:ph type="sldNum" sz="quarter" idx="12"/>
          </p:nvPr>
        </p:nvSpPr>
        <p:spPr/>
        <p:txBody>
          <a:bodyPr/>
          <a:lstStyle/>
          <a:p>
            <a:fld id="{4DE15609-3D60-D842-9ED4-D898F320B191}" type="slidenum">
              <a:rPr lang="zh-CN" altLang="en-US" smtClean="0"/>
              <a:pPr/>
              <a:t>53</a:t>
            </a:fld>
            <a:endParaRPr lang="zh-CN" altLang="en-US"/>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29A28415-C4B3-E1E1-06D0-83716FEB203F}"/>
              </a:ext>
            </a:extLst>
          </p:cNvPr>
          <p:cNvSpPr>
            <a:spLocks noGrp="1" noChangeArrowheads="1"/>
          </p:cNvSpPr>
          <p:nvPr>
            <p:ph type="title"/>
          </p:nvPr>
        </p:nvSpPr>
        <p:spPr>
          <a:xfrm>
            <a:off x="1042988" y="225431"/>
            <a:ext cx="7850187" cy="746125"/>
          </a:xfrm>
        </p:spPr>
        <p:txBody>
          <a:bodyPr/>
          <a:lstStyle/>
          <a:p>
            <a:r>
              <a:rPr lang="en-US" altLang="zh-CN" sz="4000" dirty="0"/>
              <a:t>DMA</a:t>
            </a:r>
            <a:r>
              <a:rPr lang="zh-CN" altLang="en-US" sz="4000" dirty="0"/>
              <a:t>方式与中断方式的主要区别</a:t>
            </a:r>
          </a:p>
        </p:txBody>
      </p:sp>
      <p:sp>
        <p:nvSpPr>
          <p:cNvPr id="192515" name="Rectangle 3">
            <a:extLst>
              <a:ext uri="{FF2B5EF4-FFF2-40B4-BE49-F238E27FC236}">
                <a16:creationId xmlns:a16="http://schemas.microsoft.com/office/drawing/2014/main" id="{DF85FAEA-5C90-23A1-17B3-CCD3051D5650}"/>
              </a:ext>
            </a:extLst>
          </p:cNvPr>
          <p:cNvSpPr>
            <a:spLocks noGrp="1" noChangeArrowheads="1"/>
          </p:cNvSpPr>
          <p:nvPr>
            <p:ph idx="1"/>
          </p:nvPr>
        </p:nvSpPr>
        <p:spPr>
          <a:xfrm>
            <a:off x="935038" y="1233488"/>
            <a:ext cx="7772400" cy="4895850"/>
          </a:xfrm>
        </p:spPr>
        <p:txBody>
          <a:bodyPr/>
          <a:lstStyle/>
          <a:p>
            <a:r>
              <a:rPr lang="zh-CN" altLang="en-US"/>
              <a:t>中断控制方式在每个数据传送完成后中断</a:t>
            </a:r>
            <a:r>
              <a:rPr lang="en-US" altLang="zh-CN"/>
              <a:t>CPU，</a:t>
            </a:r>
            <a:r>
              <a:rPr lang="zh-CN" altLang="en-US"/>
              <a:t>而</a:t>
            </a:r>
            <a:r>
              <a:rPr lang="en-US" altLang="zh-CN"/>
              <a:t>DMA</a:t>
            </a:r>
            <a:r>
              <a:rPr lang="zh-CN" altLang="en-US"/>
              <a:t>控制方式则是在所要求传送的一批数据全部传送结束时中断</a:t>
            </a:r>
            <a:r>
              <a:rPr lang="en-US" altLang="zh-CN"/>
              <a:t>CPU；</a:t>
            </a:r>
          </a:p>
          <a:p>
            <a:r>
              <a:rPr lang="zh-CN" altLang="en-US"/>
              <a:t>中断控制方式的数据传送是在中断处理时由</a:t>
            </a:r>
            <a:r>
              <a:rPr lang="en-US" altLang="zh-CN"/>
              <a:t>CPU</a:t>
            </a:r>
            <a:r>
              <a:rPr lang="zh-CN" altLang="en-US"/>
              <a:t>控制完成，而</a:t>
            </a:r>
            <a:r>
              <a:rPr lang="en-US" altLang="zh-CN"/>
              <a:t>DMA</a:t>
            </a:r>
            <a:r>
              <a:rPr lang="zh-CN" altLang="en-US"/>
              <a:t>控制方式则是在</a:t>
            </a:r>
            <a:r>
              <a:rPr lang="en-US" altLang="zh-CN"/>
              <a:t>DMA</a:t>
            </a:r>
            <a:r>
              <a:rPr lang="zh-CN" altLang="en-US"/>
              <a:t>控制器的控制下完成。</a:t>
            </a:r>
          </a:p>
        </p:txBody>
      </p:sp>
      <p:sp>
        <p:nvSpPr>
          <p:cNvPr id="4" name="灯片编号占位符 3">
            <a:extLst>
              <a:ext uri="{FF2B5EF4-FFF2-40B4-BE49-F238E27FC236}">
                <a16:creationId xmlns:a16="http://schemas.microsoft.com/office/drawing/2014/main" id="{7B2A64AD-7C62-5D99-035F-EA99973C2176}"/>
              </a:ext>
            </a:extLst>
          </p:cNvPr>
          <p:cNvSpPr>
            <a:spLocks noGrp="1"/>
          </p:cNvSpPr>
          <p:nvPr>
            <p:ph type="sldNum" sz="quarter" idx="12"/>
          </p:nvPr>
        </p:nvSpPr>
        <p:spPr/>
        <p:txBody>
          <a:bodyPr/>
          <a:lstStyle/>
          <a:p>
            <a:fld id="{4093CC90-4002-504C-BD88-C9A1D374048E}" type="slidenum">
              <a:rPr lang="zh-CN" altLang="en-US" smtClean="0"/>
              <a:pPr/>
              <a:t>54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checkerboard(across)">
                                      <p:cBhvr>
                                        <p:cTn id="7" dur="500"/>
                                        <p:tgtEl>
                                          <p:spTgt spid="192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2515">
                                            <p:txEl>
                                              <p:pRg st="1" end="1"/>
                                            </p:txEl>
                                          </p:spTgt>
                                        </p:tgtEl>
                                        <p:attrNameLst>
                                          <p:attrName>style.visibility</p:attrName>
                                        </p:attrNameLst>
                                      </p:cBhvr>
                                      <p:to>
                                        <p:strVal val="visible"/>
                                      </p:to>
                                    </p:set>
                                    <p:animEffect transition="in" filter="checkerboard(across)">
                                      <p:cBhvr>
                                        <p:cTn id="12" dur="500"/>
                                        <p:tgtEl>
                                          <p:spTgt spid="1925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73D44CF6-9434-0450-1529-338E04BF0558}"/>
              </a:ext>
            </a:extLst>
          </p:cNvPr>
          <p:cNvSpPr>
            <a:spLocks noGrp="1" noChangeArrowheads="1"/>
          </p:cNvSpPr>
          <p:nvPr>
            <p:ph type="title"/>
          </p:nvPr>
        </p:nvSpPr>
        <p:spPr>
          <a:xfrm>
            <a:off x="1042988" y="225431"/>
            <a:ext cx="7850187" cy="746125"/>
          </a:xfrm>
        </p:spPr>
        <p:txBody>
          <a:bodyPr/>
          <a:lstStyle/>
          <a:p>
            <a:r>
              <a:rPr lang="zh-CN" altLang="en-US"/>
              <a:t>通道控制方式 </a:t>
            </a:r>
          </a:p>
        </p:txBody>
      </p:sp>
      <p:sp>
        <p:nvSpPr>
          <p:cNvPr id="120835" name="Rectangle 3">
            <a:extLst>
              <a:ext uri="{FF2B5EF4-FFF2-40B4-BE49-F238E27FC236}">
                <a16:creationId xmlns:a16="http://schemas.microsoft.com/office/drawing/2014/main" id="{CE22746A-B24F-C00E-3226-787272540461}"/>
              </a:ext>
            </a:extLst>
          </p:cNvPr>
          <p:cNvSpPr>
            <a:spLocks noGrp="1" noChangeArrowheads="1"/>
          </p:cNvSpPr>
          <p:nvPr>
            <p:ph idx="1"/>
          </p:nvPr>
        </p:nvSpPr>
        <p:spPr>
          <a:xfrm>
            <a:off x="935038" y="1233488"/>
            <a:ext cx="7772400" cy="4895850"/>
          </a:xfrm>
        </p:spPr>
        <p:txBody>
          <a:bodyPr>
            <a:normAutofit fontScale="92500"/>
          </a:bodyPr>
          <a:lstStyle/>
          <a:p>
            <a:r>
              <a:rPr lang="zh-CN" altLang="en-US"/>
              <a:t>通道控制方式是</a:t>
            </a:r>
            <a:r>
              <a:rPr lang="en-US" altLang="zh-CN"/>
              <a:t>DMA</a:t>
            </a:r>
            <a:r>
              <a:rPr lang="zh-CN" altLang="en-US"/>
              <a:t>控制方式的发展，它所需的</a:t>
            </a:r>
            <a:r>
              <a:rPr lang="en-US" altLang="zh-CN"/>
              <a:t>CPU</a:t>
            </a:r>
            <a:r>
              <a:rPr lang="zh-CN" altLang="en-US"/>
              <a:t>干预更少。</a:t>
            </a:r>
          </a:p>
          <a:p>
            <a:r>
              <a:rPr lang="zh-CN" altLang="en-US"/>
              <a:t>通道控制方式与</a:t>
            </a:r>
            <a:r>
              <a:rPr lang="en-US" altLang="zh-CN"/>
              <a:t>DMA</a:t>
            </a:r>
            <a:r>
              <a:rPr lang="zh-CN" altLang="en-US"/>
              <a:t>方式类似，也是一种以内存为中心，实现设备与内存直接交换数据的控制方式。</a:t>
            </a:r>
          </a:p>
          <a:p>
            <a:r>
              <a:rPr lang="zh-CN" altLang="en-US"/>
              <a:t>在通道控制方式中，</a:t>
            </a:r>
            <a:r>
              <a:rPr lang="en-US" altLang="zh-CN"/>
              <a:t>CPU</a:t>
            </a:r>
            <a:r>
              <a:rPr lang="zh-CN" altLang="en-US"/>
              <a:t>只需发出启动指令，指出要求通道执行的操作和使用的</a:t>
            </a:r>
            <a:r>
              <a:rPr lang="en-US" altLang="zh-CN"/>
              <a:t>I/O</a:t>
            </a:r>
            <a:r>
              <a:rPr lang="zh-CN" altLang="en-US"/>
              <a:t>设备，该指令就可以启动通道并使该通道从内存中调出相应的通道程序执行。以输入为例，其过程为：</a:t>
            </a:r>
          </a:p>
        </p:txBody>
      </p:sp>
      <p:sp>
        <p:nvSpPr>
          <p:cNvPr id="4" name="灯片编号占位符 3">
            <a:extLst>
              <a:ext uri="{FF2B5EF4-FFF2-40B4-BE49-F238E27FC236}">
                <a16:creationId xmlns:a16="http://schemas.microsoft.com/office/drawing/2014/main" id="{854DEC8D-D0CE-4ADE-51C9-F74F0C7DF63E}"/>
              </a:ext>
            </a:extLst>
          </p:cNvPr>
          <p:cNvSpPr>
            <a:spLocks noGrp="1"/>
          </p:cNvSpPr>
          <p:nvPr>
            <p:ph type="sldNum" sz="quarter" idx="12"/>
          </p:nvPr>
        </p:nvSpPr>
        <p:spPr/>
        <p:txBody>
          <a:bodyPr/>
          <a:lstStyle/>
          <a:p>
            <a:fld id="{4093CC90-4002-504C-BD88-C9A1D374048E}" type="slidenum">
              <a:rPr lang="zh-CN" altLang="en-US" smtClean="0"/>
              <a:pPr/>
              <a:t>55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checkerboard(across)">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checkerboard(across)">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checkerboard(across)">
                                      <p:cBhvr>
                                        <p:cTn id="17" dur="500"/>
                                        <p:tgtEl>
                                          <p:spTgt spid="1208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22351828-40AB-AA48-A413-7610761DF025}"/>
              </a:ext>
            </a:extLst>
          </p:cNvPr>
          <p:cNvSpPr>
            <a:spLocks noGrp="1" noChangeArrowheads="1"/>
          </p:cNvSpPr>
          <p:nvPr>
            <p:ph type="title"/>
          </p:nvPr>
        </p:nvSpPr>
        <p:spPr/>
        <p:txBody>
          <a:bodyPr/>
          <a:lstStyle/>
          <a:p>
            <a:pPr eaLnBrk="1" hangingPunct="1"/>
            <a:r>
              <a:rPr lang="zh-CN" altLang="en-US"/>
              <a:t>通道</a:t>
            </a:r>
            <a:r>
              <a:rPr lang="zh-CN" altLang="en-US">
                <a:latin typeface="Times New Roman" panose="02020603050405020304" pitchFamily="18" charset="0"/>
              </a:rPr>
              <a:t>工作过程</a:t>
            </a:r>
            <a:endParaRPr lang="zh-CN" altLang="en-US"/>
          </a:p>
        </p:txBody>
      </p:sp>
      <p:sp>
        <p:nvSpPr>
          <p:cNvPr id="73730" name="Line 40">
            <a:extLst>
              <a:ext uri="{FF2B5EF4-FFF2-40B4-BE49-F238E27FC236}">
                <a16:creationId xmlns:a16="http://schemas.microsoft.com/office/drawing/2014/main" id="{5B1AFF98-E5C4-043D-3B35-C210404E77A7}"/>
              </a:ext>
            </a:extLst>
          </p:cNvPr>
          <p:cNvSpPr>
            <a:spLocks noChangeShapeType="1"/>
          </p:cNvSpPr>
          <p:nvPr/>
        </p:nvSpPr>
        <p:spPr bwMode="auto">
          <a:xfrm flipH="1">
            <a:off x="2208213" y="5246688"/>
            <a:ext cx="1041400" cy="0"/>
          </a:xfrm>
          <a:prstGeom prst="line">
            <a:avLst/>
          </a:prstGeom>
          <a:noFill/>
          <a:ln w="25400">
            <a:solidFill>
              <a:srgbClr val="000000"/>
            </a:solidFill>
            <a:prstDash val="dash"/>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73731" name="Line 48">
            <a:extLst>
              <a:ext uri="{FF2B5EF4-FFF2-40B4-BE49-F238E27FC236}">
                <a16:creationId xmlns:a16="http://schemas.microsoft.com/office/drawing/2014/main" id="{2427BDF6-5EA0-304B-FED4-6E5E092E4AEE}"/>
              </a:ext>
            </a:extLst>
          </p:cNvPr>
          <p:cNvSpPr>
            <a:spLocks noChangeShapeType="1"/>
          </p:cNvSpPr>
          <p:nvPr/>
        </p:nvSpPr>
        <p:spPr bwMode="auto">
          <a:xfrm rot="5400000" flipV="1">
            <a:off x="2811463" y="1452562"/>
            <a:ext cx="0" cy="784225"/>
          </a:xfrm>
          <a:prstGeom prst="line">
            <a:avLst/>
          </a:prstGeom>
          <a:noFill/>
          <a:ln w="25400">
            <a:solidFill>
              <a:srgbClr val="000000"/>
            </a:solidFill>
            <a:prstDash val="dash"/>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73732" name="Rectangle 49">
            <a:extLst>
              <a:ext uri="{FF2B5EF4-FFF2-40B4-BE49-F238E27FC236}">
                <a16:creationId xmlns:a16="http://schemas.microsoft.com/office/drawing/2014/main" id="{8215574F-DE2F-9350-7F47-3C2925638569}"/>
              </a:ext>
            </a:extLst>
          </p:cNvPr>
          <p:cNvSpPr>
            <a:spLocks noChangeArrowheads="1"/>
          </p:cNvSpPr>
          <p:nvPr/>
        </p:nvSpPr>
        <p:spPr bwMode="auto">
          <a:xfrm>
            <a:off x="187325" y="1628775"/>
            <a:ext cx="22240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a:latin typeface="Times New Roman" panose="02020603050405020304" pitchFamily="18" charset="0"/>
              </a:rPr>
              <a:t>CPU</a:t>
            </a:r>
            <a:r>
              <a:rPr lang="zh-CN" altLang="en-US">
                <a:latin typeface="Times New Roman" panose="02020603050405020304" pitchFamily="18" charset="0"/>
              </a:rPr>
              <a:t>做其他事情</a:t>
            </a:r>
          </a:p>
        </p:txBody>
      </p:sp>
      <p:sp>
        <p:nvSpPr>
          <p:cNvPr id="73733" name="Rectangle 50">
            <a:extLst>
              <a:ext uri="{FF2B5EF4-FFF2-40B4-BE49-F238E27FC236}">
                <a16:creationId xmlns:a16="http://schemas.microsoft.com/office/drawing/2014/main" id="{FD540B76-3BD3-095F-2D5B-BFAEBA86750D}"/>
              </a:ext>
            </a:extLst>
          </p:cNvPr>
          <p:cNvSpPr>
            <a:spLocks noChangeArrowheads="1"/>
          </p:cNvSpPr>
          <p:nvPr/>
        </p:nvSpPr>
        <p:spPr bwMode="auto">
          <a:xfrm>
            <a:off x="1138238" y="5027613"/>
            <a:ext cx="6905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中断</a:t>
            </a:r>
          </a:p>
        </p:txBody>
      </p:sp>
      <p:sp>
        <p:nvSpPr>
          <p:cNvPr id="73734" name="Rectangle 52">
            <a:extLst>
              <a:ext uri="{FF2B5EF4-FFF2-40B4-BE49-F238E27FC236}">
                <a16:creationId xmlns:a16="http://schemas.microsoft.com/office/drawing/2014/main" id="{1DBFA1A8-F646-91AD-52B5-187C19952A4F}"/>
              </a:ext>
            </a:extLst>
          </p:cNvPr>
          <p:cNvSpPr>
            <a:spLocks noChangeArrowheads="1"/>
          </p:cNvSpPr>
          <p:nvPr/>
        </p:nvSpPr>
        <p:spPr bwMode="auto">
          <a:xfrm>
            <a:off x="3184525" y="1639888"/>
            <a:ext cx="47720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向通道发读命令并指明使用的设备</a:t>
            </a:r>
          </a:p>
        </p:txBody>
      </p:sp>
      <p:sp>
        <p:nvSpPr>
          <p:cNvPr id="73735" name="Rectangle 53">
            <a:extLst>
              <a:ext uri="{FF2B5EF4-FFF2-40B4-BE49-F238E27FC236}">
                <a16:creationId xmlns:a16="http://schemas.microsoft.com/office/drawing/2014/main" id="{3A5FBA4B-1C76-6FE3-0586-6A706E81C646}"/>
              </a:ext>
            </a:extLst>
          </p:cNvPr>
          <p:cNvSpPr>
            <a:spLocks noChangeArrowheads="1"/>
          </p:cNvSpPr>
          <p:nvPr/>
        </p:nvSpPr>
        <p:spPr bwMode="auto">
          <a:xfrm>
            <a:off x="3478213" y="5018088"/>
            <a:ext cx="18383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进行中断处理</a:t>
            </a:r>
          </a:p>
        </p:txBody>
      </p:sp>
      <p:sp>
        <p:nvSpPr>
          <p:cNvPr id="73736" name="Line 54">
            <a:extLst>
              <a:ext uri="{FF2B5EF4-FFF2-40B4-BE49-F238E27FC236}">
                <a16:creationId xmlns:a16="http://schemas.microsoft.com/office/drawing/2014/main" id="{8C4E2038-E5BA-E225-3400-577695EE3A11}"/>
              </a:ext>
            </a:extLst>
          </p:cNvPr>
          <p:cNvSpPr>
            <a:spLocks noChangeShapeType="1"/>
          </p:cNvSpPr>
          <p:nvPr/>
        </p:nvSpPr>
        <p:spPr bwMode="auto">
          <a:xfrm>
            <a:off x="4319588" y="1957388"/>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3737" name="Rectangle 55">
            <a:extLst>
              <a:ext uri="{FF2B5EF4-FFF2-40B4-BE49-F238E27FC236}">
                <a16:creationId xmlns:a16="http://schemas.microsoft.com/office/drawing/2014/main" id="{73CF5B1E-C81C-EAB6-DB12-CB1444F697DD}"/>
              </a:ext>
            </a:extLst>
          </p:cNvPr>
          <p:cNvSpPr>
            <a:spLocks noChangeArrowheads="1"/>
          </p:cNvSpPr>
          <p:nvPr/>
        </p:nvSpPr>
        <p:spPr bwMode="auto">
          <a:xfrm>
            <a:off x="3173413" y="2447925"/>
            <a:ext cx="5791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读出通道程序并设置控制器中的状态寄存器</a:t>
            </a:r>
          </a:p>
        </p:txBody>
      </p:sp>
      <p:sp>
        <p:nvSpPr>
          <p:cNvPr id="73738" name="Rectangle 57">
            <a:extLst>
              <a:ext uri="{FF2B5EF4-FFF2-40B4-BE49-F238E27FC236}">
                <a16:creationId xmlns:a16="http://schemas.microsoft.com/office/drawing/2014/main" id="{D9CCBDC7-FB5B-AFD7-C268-E6F5A82001B0}"/>
              </a:ext>
            </a:extLst>
          </p:cNvPr>
          <p:cNvSpPr>
            <a:spLocks noChangeArrowheads="1"/>
          </p:cNvSpPr>
          <p:nvPr/>
        </p:nvSpPr>
        <p:spPr bwMode="auto">
          <a:xfrm>
            <a:off x="3260725" y="3316288"/>
            <a:ext cx="38750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执行通道程序控制设备输入</a:t>
            </a:r>
          </a:p>
        </p:txBody>
      </p:sp>
      <p:sp>
        <p:nvSpPr>
          <p:cNvPr id="73739" name="Line 58">
            <a:extLst>
              <a:ext uri="{FF2B5EF4-FFF2-40B4-BE49-F238E27FC236}">
                <a16:creationId xmlns:a16="http://schemas.microsoft.com/office/drawing/2014/main" id="{DAFE9838-F10C-CBA8-A16C-71F4A692B006}"/>
              </a:ext>
            </a:extLst>
          </p:cNvPr>
          <p:cNvSpPr>
            <a:spLocks noChangeShapeType="1"/>
          </p:cNvSpPr>
          <p:nvPr/>
        </p:nvSpPr>
        <p:spPr bwMode="auto">
          <a:xfrm>
            <a:off x="4319588" y="2871788"/>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3740" name="Line 59">
            <a:extLst>
              <a:ext uri="{FF2B5EF4-FFF2-40B4-BE49-F238E27FC236}">
                <a16:creationId xmlns:a16="http://schemas.microsoft.com/office/drawing/2014/main" id="{39313B21-5E51-CBE1-2038-B2C01FBC9E81}"/>
              </a:ext>
            </a:extLst>
          </p:cNvPr>
          <p:cNvSpPr>
            <a:spLocks noChangeShapeType="1"/>
          </p:cNvSpPr>
          <p:nvPr/>
        </p:nvSpPr>
        <p:spPr bwMode="auto">
          <a:xfrm>
            <a:off x="4303713" y="3709988"/>
            <a:ext cx="0" cy="4699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3741" name="Rectangle 60">
            <a:extLst>
              <a:ext uri="{FF2B5EF4-FFF2-40B4-BE49-F238E27FC236}">
                <a16:creationId xmlns:a16="http://schemas.microsoft.com/office/drawing/2014/main" id="{2EDE95F1-623F-27EB-06BF-DCED48A40ECE}"/>
              </a:ext>
            </a:extLst>
          </p:cNvPr>
          <p:cNvSpPr>
            <a:spLocks noChangeArrowheads="1"/>
          </p:cNvSpPr>
          <p:nvPr/>
        </p:nvSpPr>
        <p:spPr bwMode="auto">
          <a:xfrm>
            <a:off x="3325813" y="4168775"/>
            <a:ext cx="46482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数据传输结束发中断</a:t>
            </a:r>
          </a:p>
        </p:txBody>
      </p:sp>
      <p:sp>
        <p:nvSpPr>
          <p:cNvPr id="73742" name="Line 66">
            <a:extLst>
              <a:ext uri="{FF2B5EF4-FFF2-40B4-BE49-F238E27FC236}">
                <a16:creationId xmlns:a16="http://schemas.microsoft.com/office/drawing/2014/main" id="{CEF863B9-A921-CC21-C46B-8B9DF2125BBD}"/>
              </a:ext>
            </a:extLst>
          </p:cNvPr>
          <p:cNvSpPr>
            <a:spLocks noChangeShapeType="1"/>
          </p:cNvSpPr>
          <p:nvPr/>
        </p:nvSpPr>
        <p:spPr bwMode="auto">
          <a:xfrm rot="5400000" flipV="1">
            <a:off x="4109244" y="4834732"/>
            <a:ext cx="395287" cy="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3743" name="Line 70">
            <a:extLst>
              <a:ext uri="{FF2B5EF4-FFF2-40B4-BE49-F238E27FC236}">
                <a16:creationId xmlns:a16="http://schemas.microsoft.com/office/drawing/2014/main" id="{FFFC430F-9873-FFD3-2154-13E2743F580F}"/>
              </a:ext>
            </a:extLst>
          </p:cNvPr>
          <p:cNvSpPr>
            <a:spLocks noChangeShapeType="1"/>
          </p:cNvSpPr>
          <p:nvPr/>
        </p:nvSpPr>
        <p:spPr bwMode="auto">
          <a:xfrm>
            <a:off x="4335463" y="1268413"/>
            <a:ext cx="0" cy="396875"/>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A77CCBCD-8D27-649C-87FA-631248C4A361}"/>
              </a:ext>
            </a:extLst>
          </p:cNvPr>
          <p:cNvSpPr>
            <a:spLocks noGrp="1"/>
          </p:cNvSpPr>
          <p:nvPr>
            <p:ph type="sldNum" sz="quarter" idx="12"/>
          </p:nvPr>
        </p:nvSpPr>
        <p:spPr/>
        <p:txBody>
          <a:bodyPr/>
          <a:lstStyle/>
          <a:p>
            <a:fld id="{4093CC90-4002-504C-BD88-C9A1D374048E}" type="slidenum">
              <a:rPr lang="zh-CN" altLang="en-US" smtClean="0"/>
              <a:pPr/>
              <a:t>56</a:t>
            </a:fld>
            <a:endParaRPr lang="zh-CN" altLang="en-US" dirty="0"/>
          </a:p>
        </p:txBody>
      </p:sp>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DCC64E7B-1AA2-1CAD-C67D-3E41F8114470}"/>
              </a:ext>
            </a:extLst>
          </p:cNvPr>
          <p:cNvSpPr>
            <a:spLocks noGrp="1" noChangeArrowheads="1"/>
          </p:cNvSpPr>
          <p:nvPr>
            <p:ph type="title"/>
          </p:nvPr>
        </p:nvSpPr>
        <p:spPr>
          <a:xfrm>
            <a:off x="1042988" y="225431"/>
            <a:ext cx="7850187" cy="746125"/>
          </a:xfrm>
        </p:spPr>
        <p:txBody>
          <a:bodyPr/>
          <a:lstStyle/>
          <a:p>
            <a:r>
              <a:rPr lang="zh-CN" altLang="en-US" dirty="0"/>
              <a:t>应用程序</a:t>
            </a:r>
            <a:r>
              <a:rPr lang="en-US" altLang="zh-CN" dirty="0"/>
              <a:t>I/O</a:t>
            </a:r>
            <a:r>
              <a:rPr lang="zh-CN" altLang="en-US" dirty="0"/>
              <a:t>接口</a:t>
            </a:r>
          </a:p>
        </p:txBody>
      </p:sp>
      <p:sp>
        <p:nvSpPr>
          <p:cNvPr id="269315" name="Rectangle 3">
            <a:extLst>
              <a:ext uri="{FF2B5EF4-FFF2-40B4-BE49-F238E27FC236}">
                <a16:creationId xmlns:a16="http://schemas.microsoft.com/office/drawing/2014/main" id="{1BCEA387-047C-93CF-2C9D-AA6F84ADF118}"/>
              </a:ext>
            </a:extLst>
          </p:cNvPr>
          <p:cNvSpPr>
            <a:spLocks noGrp="1" noChangeArrowheads="1"/>
          </p:cNvSpPr>
          <p:nvPr>
            <p:ph idx="1"/>
          </p:nvPr>
        </p:nvSpPr>
        <p:spPr>
          <a:xfrm>
            <a:off x="935038" y="1233488"/>
            <a:ext cx="7772400" cy="4895850"/>
          </a:xfrm>
        </p:spPr>
        <p:txBody>
          <a:bodyPr/>
          <a:lstStyle/>
          <a:p>
            <a:r>
              <a:rPr lang="en-US" altLang="zh-CN" dirty="0"/>
              <a:t>I/O</a:t>
            </a:r>
            <a:r>
              <a:rPr lang="zh-CN" altLang="en-US" dirty="0"/>
              <a:t>系统调用以通用类型的方式封装了设备行为</a:t>
            </a:r>
            <a:endParaRPr lang="en-US" altLang="zh-CN" dirty="0"/>
          </a:p>
          <a:p>
            <a:r>
              <a:rPr lang="zh-CN" altLang="en-US" dirty="0"/>
              <a:t>设备驱动层对核心隐藏了</a:t>
            </a:r>
            <a:r>
              <a:rPr lang="en-US" altLang="zh-CN" dirty="0"/>
              <a:t>I/O</a:t>
            </a:r>
            <a:r>
              <a:rPr lang="zh-CN" altLang="en-US" dirty="0"/>
              <a:t>控制器的不同细节</a:t>
            </a:r>
          </a:p>
        </p:txBody>
      </p:sp>
      <p:sp>
        <p:nvSpPr>
          <p:cNvPr id="4" name="灯片编号占位符 3">
            <a:extLst>
              <a:ext uri="{FF2B5EF4-FFF2-40B4-BE49-F238E27FC236}">
                <a16:creationId xmlns:a16="http://schemas.microsoft.com/office/drawing/2014/main" id="{BB89722A-ADD4-5F2D-336A-92E7708B013C}"/>
              </a:ext>
            </a:extLst>
          </p:cNvPr>
          <p:cNvSpPr>
            <a:spLocks noGrp="1"/>
          </p:cNvSpPr>
          <p:nvPr>
            <p:ph type="sldNum" sz="quarter" idx="12"/>
          </p:nvPr>
        </p:nvSpPr>
        <p:spPr/>
        <p:txBody>
          <a:bodyPr/>
          <a:lstStyle/>
          <a:p>
            <a:fld id="{4093CC90-4002-504C-BD88-C9A1D374048E}" type="slidenum">
              <a:rPr lang="zh-CN" altLang="en-US" smtClean="0"/>
              <a:pPr/>
              <a:t>57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Effect transition="in" filter="checkerboard(across)">
                                      <p:cBhvr>
                                        <p:cTn id="7" dur="500"/>
                                        <p:tgtEl>
                                          <p:spTgt spid="269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9315">
                                            <p:txEl>
                                              <p:pRg st="1" end="1"/>
                                            </p:txEl>
                                          </p:spTgt>
                                        </p:tgtEl>
                                        <p:attrNameLst>
                                          <p:attrName>style.visibility</p:attrName>
                                        </p:attrNameLst>
                                      </p:cBhvr>
                                      <p:to>
                                        <p:strVal val="visible"/>
                                      </p:to>
                                    </p:set>
                                    <p:animEffect transition="in" filter="checkerboard(across)">
                                      <p:cBhvr>
                                        <p:cTn id="12" dur="500"/>
                                        <p:tgtEl>
                                          <p:spTgt spid="269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C431D923-6776-6E60-CFE0-6CD5632BD281}"/>
              </a:ext>
            </a:extLst>
          </p:cNvPr>
          <p:cNvSpPr>
            <a:spLocks noGrp="1" noChangeArrowheads="1"/>
          </p:cNvSpPr>
          <p:nvPr>
            <p:ph type="title"/>
          </p:nvPr>
        </p:nvSpPr>
        <p:spPr>
          <a:xfrm>
            <a:off x="1100138" y="152400"/>
            <a:ext cx="7793037" cy="755650"/>
          </a:xfrm>
        </p:spPr>
        <p:txBody>
          <a:bodyPr/>
          <a:lstStyle/>
          <a:p>
            <a:r>
              <a:rPr lang="zh-CN" altLang="en-US" dirty="0"/>
              <a:t>内核</a:t>
            </a:r>
            <a:r>
              <a:rPr lang="en-US" altLang="zh-CN" dirty="0"/>
              <a:t>I/O</a:t>
            </a:r>
            <a:r>
              <a:rPr lang="zh-CN" altLang="en-US" dirty="0"/>
              <a:t>结构</a:t>
            </a:r>
          </a:p>
        </p:txBody>
      </p:sp>
      <p:sp>
        <p:nvSpPr>
          <p:cNvPr id="3" name="内容占位符 2">
            <a:extLst>
              <a:ext uri="{FF2B5EF4-FFF2-40B4-BE49-F238E27FC236}">
                <a16:creationId xmlns:a16="http://schemas.microsoft.com/office/drawing/2014/main" id="{EBA9F24C-DB5F-0050-9464-BDD90C345D4A}"/>
              </a:ext>
            </a:extLst>
          </p:cNvPr>
          <p:cNvSpPr>
            <a:spLocks noGrp="1"/>
          </p:cNvSpPr>
          <p:nvPr>
            <p:ph idx="1"/>
          </p:nvPr>
        </p:nvSpPr>
        <p:spPr/>
        <p:txBody>
          <a:bodyPr/>
          <a:lstStyle/>
          <a:p>
            <a:endParaRPr lang="zh-CN" altLang="en-US"/>
          </a:p>
        </p:txBody>
      </p:sp>
      <p:pic>
        <p:nvPicPr>
          <p:cNvPr id="75778" name="Picture 4">
            <a:extLst>
              <a:ext uri="{FF2B5EF4-FFF2-40B4-BE49-F238E27FC236}">
                <a16:creationId xmlns:a16="http://schemas.microsoft.com/office/drawing/2014/main" id="{5E08A512-6A17-A50C-AC3B-5798D5A9B6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78" t="2238" r="569" b="2238"/>
          <a:stretch>
            <a:fillRect/>
          </a:stretch>
        </p:blipFill>
        <p:spPr bwMode="auto">
          <a:xfrm>
            <a:off x="298450" y="1125538"/>
            <a:ext cx="8551863" cy="53244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E972D03D-99F6-9903-CE4C-BF7FA4F3979E}"/>
              </a:ext>
            </a:extLst>
          </p:cNvPr>
          <p:cNvSpPr>
            <a:spLocks noGrp="1"/>
          </p:cNvSpPr>
          <p:nvPr>
            <p:ph type="sldNum" sz="quarter" idx="12"/>
          </p:nvPr>
        </p:nvSpPr>
        <p:spPr/>
        <p:txBody>
          <a:bodyPr/>
          <a:lstStyle/>
          <a:p>
            <a:fld id="{4093CC90-4002-504C-BD88-C9A1D374048E}" type="slidenum">
              <a:rPr lang="zh-CN" altLang="en-US" smtClean="0"/>
              <a:pPr/>
              <a:t>58</a:t>
            </a:fld>
            <a:endParaRPr lang="zh-CN" altLang="en-US" dirty="0"/>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773B7923-7769-44B7-C30D-0CC5880F1B1D}"/>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设备的特点</a:t>
            </a:r>
          </a:p>
        </p:txBody>
      </p:sp>
      <p:sp>
        <p:nvSpPr>
          <p:cNvPr id="3" name="内容占位符 2">
            <a:extLst>
              <a:ext uri="{FF2B5EF4-FFF2-40B4-BE49-F238E27FC236}">
                <a16:creationId xmlns:a16="http://schemas.microsoft.com/office/drawing/2014/main" id="{77F61147-B225-FA67-D3BE-3BA7E4A9F183}"/>
              </a:ext>
            </a:extLst>
          </p:cNvPr>
          <p:cNvSpPr>
            <a:spLocks noGrp="1"/>
          </p:cNvSpPr>
          <p:nvPr>
            <p:ph idx="1"/>
          </p:nvPr>
        </p:nvSpPr>
        <p:spPr/>
        <p:txBody>
          <a:bodyPr/>
          <a:lstStyle/>
          <a:p>
            <a:endParaRPr lang="zh-CN" altLang="en-US"/>
          </a:p>
        </p:txBody>
      </p:sp>
      <p:pic>
        <p:nvPicPr>
          <p:cNvPr id="76802" name="Picture 5">
            <a:extLst>
              <a:ext uri="{FF2B5EF4-FFF2-40B4-BE49-F238E27FC236}">
                <a16:creationId xmlns:a16="http://schemas.microsoft.com/office/drawing/2014/main" id="{CC05BD92-E2C5-BADE-A2D8-7088B2234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29" t="8762" r="1329" b="9450"/>
          <a:stretch>
            <a:fillRect/>
          </a:stretch>
        </p:blipFill>
        <p:spPr bwMode="auto">
          <a:xfrm>
            <a:off x="250825" y="1052513"/>
            <a:ext cx="8497888" cy="5545137"/>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91C51F0A-ECB7-7EF8-AB3D-7027F6C4556F}"/>
              </a:ext>
            </a:extLst>
          </p:cNvPr>
          <p:cNvSpPr>
            <a:spLocks noGrp="1"/>
          </p:cNvSpPr>
          <p:nvPr>
            <p:ph type="sldNum" sz="quarter" idx="12"/>
          </p:nvPr>
        </p:nvSpPr>
        <p:spPr/>
        <p:txBody>
          <a:bodyPr/>
          <a:lstStyle/>
          <a:p>
            <a:fld id="{4093CC90-4002-504C-BD88-C9A1D374048E}" type="slidenum">
              <a:rPr lang="zh-CN" altLang="en-US" smtClean="0"/>
              <a:pPr/>
              <a:t>59</a:t>
            </a:fld>
            <a:endParaRPr lang="zh-CN" altLang="en-US" dirty="0"/>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50526495-41DD-5D67-F0D1-3F7C40A2A1C5}"/>
              </a:ext>
            </a:extLst>
          </p:cNvPr>
          <p:cNvSpPr>
            <a:spLocks noGrp="1" noChangeArrowheads="1"/>
          </p:cNvSpPr>
          <p:nvPr>
            <p:ph type="title"/>
          </p:nvPr>
        </p:nvSpPr>
        <p:spPr>
          <a:xfrm>
            <a:off x="1042988" y="225431"/>
            <a:ext cx="7850187" cy="746125"/>
          </a:xfrm>
        </p:spPr>
        <p:txBody>
          <a:bodyPr/>
          <a:lstStyle/>
          <a:p>
            <a:r>
              <a:rPr lang="zh-CN" altLang="en-US" dirty="0"/>
              <a:t>块或字符设备</a:t>
            </a:r>
          </a:p>
        </p:txBody>
      </p:sp>
      <p:sp>
        <p:nvSpPr>
          <p:cNvPr id="272387" name="Rectangle 3">
            <a:extLst>
              <a:ext uri="{FF2B5EF4-FFF2-40B4-BE49-F238E27FC236}">
                <a16:creationId xmlns:a16="http://schemas.microsoft.com/office/drawing/2014/main" id="{6DCB55CD-33C4-7274-1AD0-F71737119F35}"/>
              </a:ext>
            </a:extLst>
          </p:cNvPr>
          <p:cNvSpPr>
            <a:spLocks noGrp="1" noChangeArrowheads="1"/>
          </p:cNvSpPr>
          <p:nvPr>
            <p:ph idx="1"/>
          </p:nvPr>
        </p:nvSpPr>
        <p:spPr>
          <a:xfrm>
            <a:off x="935038" y="1233488"/>
            <a:ext cx="7772400" cy="4895850"/>
          </a:xfrm>
        </p:spPr>
        <p:txBody>
          <a:bodyPr>
            <a:normAutofit/>
          </a:bodyPr>
          <a:lstStyle/>
          <a:p>
            <a:r>
              <a:rPr lang="zh-CN" altLang="en-US" dirty="0"/>
              <a:t>块设备包括磁盘驱动器</a:t>
            </a:r>
            <a:endParaRPr lang="en-US" altLang="zh-CN" dirty="0"/>
          </a:p>
          <a:p>
            <a:pPr lvl="1"/>
            <a:r>
              <a:rPr lang="zh-CN" altLang="en-US" dirty="0"/>
              <a:t>命令包括读，写，搜寻</a:t>
            </a:r>
            <a:endParaRPr lang="en-US" altLang="zh-CN" dirty="0"/>
          </a:p>
          <a:p>
            <a:pPr lvl="1"/>
            <a:r>
              <a:rPr lang="zh-CN" altLang="en-US" dirty="0"/>
              <a:t>原始的</a:t>
            </a:r>
            <a:r>
              <a:rPr lang="en-US" altLang="zh-CN" dirty="0"/>
              <a:t>I/O</a:t>
            </a:r>
            <a:r>
              <a:rPr lang="zh-CN" altLang="en-US" dirty="0"/>
              <a:t>或文件系统存取</a:t>
            </a:r>
            <a:endParaRPr lang="en-US" altLang="zh-CN" dirty="0"/>
          </a:p>
          <a:p>
            <a:pPr lvl="1"/>
            <a:r>
              <a:rPr lang="zh-CN" altLang="en-US" dirty="0"/>
              <a:t>存储器映射文件访问的可能性 </a:t>
            </a:r>
            <a:endParaRPr lang="en-US" altLang="zh-CN" dirty="0"/>
          </a:p>
          <a:p>
            <a:r>
              <a:rPr lang="zh-CN" altLang="en-US" dirty="0"/>
              <a:t>字符设备包括键盘，鼠标和串口设备</a:t>
            </a:r>
            <a:endParaRPr lang="en-US" altLang="zh-CN" dirty="0"/>
          </a:p>
          <a:p>
            <a:pPr lvl="1"/>
            <a:r>
              <a:rPr lang="zh-CN" altLang="en-US" dirty="0"/>
              <a:t>命令有</a:t>
            </a:r>
            <a:r>
              <a:rPr lang="en-US" altLang="zh-CN" dirty="0" err="1"/>
              <a:t>get,put</a:t>
            </a:r>
            <a:endParaRPr lang="en-US" altLang="zh-CN" dirty="0"/>
          </a:p>
          <a:p>
            <a:pPr lvl="1"/>
            <a:r>
              <a:rPr lang="zh-CN" altLang="en-US" dirty="0"/>
              <a:t>顶层的函数库允许行编辑</a:t>
            </a:r>
            <a:endParaRPr lang="en-US" altLang="zh-CN" dirty="0"/>
          </a:p>
        </p:txBody>
      </p:sp>
      <p:sp>
        <p:nvSpPr>
          <p:cNvPr id="6" name="灯片编号占位符 5">
            <a:extLst>
              <a:ext uri="{FF2B5EF4-FFF2-40B4-BE49-F238E27FC236}">
                <a16:creationId xmlns:a16="http://schemas.microsoft.com/office/drawing/2014/main" id="{EF085A67-35DC-E609-B6AE-A8119649F4E8}"/>
              </a:ext>
            </a:extLst>
          </p:cNvPr>
          <p:cNvSpPr>
            <a:spLocks noGrp="1"/>
          </p:cNvSpPr>
          <p:nvPr>
            <p:ph type="sldNum" sz="quarter" idx="12"/>
          </p:nvPr>
        </p:nvSpPr>
        <p:spPr/>
        <p:txBody>
          <a:bodyPr/>
          <a:lstStyle/>
          <a:p>
            <a:fld id="{4093CC90-4002-504C-BD88-C9A1D374048E}" type="slidenum">
              <a:rPr lang="zh-CN" altLang="en-US" smtClean="0"/>
              <a:pPr/>
              <a:t>60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Effect transition="in" filter="checkerboard(across)">
                                      <p:cBhvr>
                                        <p:cTn id="7" dur="500"/>
                                        <p:tgtEl>
                                          <p:spTgt spid="272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2387">
                                            <p:txEl>
                                              <p:pRg st="1" end="1"/>
                                            </p:txEl>
                                          </p:spTgt>
                                        </p:tgtEl>
                                        <p:attrNameLst>
                                          <p:attrName>style.visibility</p:attrName>
                                        </p:attrNameLst>
                                      </p:cBhvr>
                                      <p:to>
                                        <p:strVal val="visible"/>
                                      </p:to>
                                    </p:set>
                                    <p:animEffect transition="in" filter="checkerboard(across)">
                                      <p:cBhvr>
                                        <p:cTn id="12" dur="500"/>
                                        <p:tgtEl>
                                          <p:spTgt spid="272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2387">
                                            <p:txEl>
                                              <p:pRg st="2" end="2"/>
                                            </p:txEl>
                                          </p:spTgt>
                                        </p:tgtEl>
                                        <p:attrNameLst>
                                          <p:attrName>style.visibility</p:attrName>
                                        </p:attrNameLst>
                                      </p:cBhvr>
                                      <p:to>
                                        <p:strVal val="visible"/>
                                      </p:to>
                                    </p:set>
                                    <p:animEffect transition="in" filter="checkerboard(across)">
                                      <p:cBhvr>
                                        <p:cTn id="17" dur="500"/>
                                        <p:tgtEl>
                                          <p:spTgt spid="272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72387">
                                            <p:txEl>
                                              <p:pRg st="3" end="3"/>
                                            </p:txEl>
                                          </p:spTgt>
                                        </p:tgtEl>
                                        <p:attrNameLst>
                                          <p:attrName>style.visibility</p:attrName>
                                        </p:attrNameLst>
                                      </p:cBhvr>
                                      <p:to>
                                        <p:strVal val="visible"/>
                                      </p:to>
                                    </p:set>
                                    <p:animEffect transition="in" filter="checkerboard(across)">
                                      <p:cBhvr>
                                        <p:cTn id="22" dur="500"/>
                                        <p:tgtEl>
                                          <p:spTgt spid="2723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72387">
                                            <p:txEl>
                                              <p:pRg st="4" end="4"/>
                                            </p:txEl>
                                          </p:spTgt>
                                        </p:tgtEl>
                                        <p:attrNameLst>
                                          <p:attrName>style.visibility</p:attrName>
                                        </p:attrNameLst>
                                      </p:cBhvr>
                                      <p:to>
                                        <p:strVal val="visible"/>
                                      </p:to>
                                    </p:set>
                                    <p:animEffect transition="in" filter="checkerboard(across)">
                                      <p:cBhvr>
                                        <p:cTn id="27" dur="500"/>
                                        <p:tgtEl>
                                          <p:spTgt spid="2723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72387">
                                            <p:txEl>
                                              <p:pRg st="5" end="5"/>
                                            </p:txEl>
                                          </p:spTgt>
                                        </p:tgtEl>
                                        <p:attrNameLst>
                                          <p:attrName>style.visibility</p:attrName>
                                        </p:attrNameLst>
                                      </p:cBhvr>
                                      <p:to>
                                        <p:strVal val="visible"/>
                                      </p:to>
                                    </p:set>
                                    <p:animEffect transition="in" filter="checkerboard(across)">
                                      <p:cBhvr>
                                        <p:cTn id="32" dur="500"/>
                                        <p:tgtEl>
                                          <p:spTgt spid="2723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72387">
                                            <p:txEl>
                                              <p:pRg st="6" end="6"/>
                                            </p:txEl>
                                          </p:spTgt>
                                        </p:tgtEl>
                                        <p:attrNameLst>
                                          <p:attrName>style.visibility</p:attrName>
                                        </p:attrNameLst>
                                      </p:cBhvr>
                                      <p:to>
                                        <p:strVal val="visible"/>
                                      </p:to>
                                    </p:set>
                                    <p:animEffect transition="in" filter="checkerboard(across)">
                                      <p:cBhvr>
                                        <p:cTn id="37" dur="500"/>
                                        <p:tgtEl>
                                          <p:spTgt spid="2723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206AC5D-9B86-465C-C288-23FA65996378}"/>
              </a:ext>
            </a:extLst>
          </p:cNvPr>
          <p:cNvSpPr>
            <a:spLocks noGrp="1" noChangeArrowheads="1"/>
          </p:cNvSpPr>
          <p:nvPr>
            <p:ph type="title"/>
          </p:nvPr>
        </p:nvSpPr>
        <p:spPr>
          <a:xfrm>
            <a:off x="1042988" y="225431"/>
            <a:ext cx="7850187" cy="746125"/>
          </a:xfrm>
        </p:spPr>
        <p:txBody>
          <a:bodyPr/>
          <a:lstStyle/>
          <a:p>
            <a:r>
              <a:rPr lang="zh-CN" altLang="en-US" dirty="0"/>
              <a:t>网络设备</a:t>
            </a:r>
          </a:p>
        </p:txBody>
      </p:sp>
      <p:sp>
        <p:nvSpPr>
          <p:cNvPr id="274435" name="Rectangle 3">
            <a:extLst>
              <a:ext uri="{FF2B5EF4-FFF2-40B4-BE49-F238E27FC236}">
                <a16:creationId xmlns:a16="http://schemas.microsoft.com/office/drawing/2014/main" id="{8C04EF93-C92A-F79C-4719-6C9EB13F3505}"/>
              </a:ext>
            </a:extLst>
          </p:cNvPr>
          <p:cNvSpPr>
            <a:spLocks noGrp="1" noChangeArrowheads="1"/>
          </p:cNvSpPr>
          <p:nvPr>
            <p:ph idx="1"/>
          </p:nvPr>
        </p:nvSpPr>
        <p:spPr>
          <a:xfrm>
            <a:off x="935038" y="1233488"/>
            <a:ext cx="7772400" cy="4895850"/>
          </a:xfrm>
        </p:spPr>
        <p:txBody>
          <a:bodyPr/>
          <a:lstStyle/>
          <a:p>
            <a:r>
              <a:rPr lang="zh-CN" altLang="en-US" dirty="0"/>
              <a:t>绝大多数操作系统所提供的网络</a:t>
            </a:r>
            <a:r>
              <a:rPr lang="en-US" altLang="zh-CN" dirty="0"/>
              <a:t>I/O</a:t>
            </a:r>
            <a:r>
              <a:rPr lang="zh-CN" altLang="en-US" dirty="0"/>
              <a:t>接口也不同于磁盘的</a:t>
            </a:r>
            <a:r>
              <a:rPr lang="en-US" altLang="zh-CN" dirty="0"/>
              <a:t>read-write-seek</a:t>
            </a:r>
            <a:r>
              <a:rPr lang="zh-CN" altLang="en-US" dirty="0"/>
              <a:t>接口。</a:t>
            </a:r>
          </a:p>
          <a:p>
            <a:r>
              <a:rPr lang="zh-CN" altLang="en-US" dirty="0"/>
              <a:t>许多</a:t>
            </a:r>
            <a:r>
              <a:rPr lang="en-US" altLang="zh-CN" dirty="0"/>
              <a:t>OS</a:t>
            </a:r>
            <a:r>
              <a:rPr lang="zh-CN" altLang="en-US" dirty="0"/>
              <a:t>所提供的是网络套接字接口。</a:t>
            </a:r>
          </a:p>
          <a:p>
            <a:r>
              <a:rPr lang="en-US" altLang="zh-CN" dirty="0"/>
              <a:t>   </a:t>
            </a:r>
          </a:p>
        </p:txBody>
      </p:sp>
      <p:sp>
        <p:nvSpPr>
          <p:cNvPr id="4" name="灯片编号占位符 3">
            <a:extLst>
              <a:ext uri="{FF2B5EF4-FFF2-40B4-BE49-F238E27FC236}">
                <a16:creationId xmlns:a16="http://schemas.microsoft.com/office/drawing/2014/main" id="{C3F73B8D-F619-600C-34B2-DD01206A5234}"/>
              </a:ext>
            </a:extLst>
          </p:cNvPr>
          <p:cNvSpPr>
            <a:spLocks noGrp="1"/>
          </p:cNvSpPr>
          <p:nvPr>
            <p:ph type="sldNum" sz="quarter" idx="12"/>
          </p:nvPr>
        </p:nvSpPr>
        <p:spPr/>
        <p:txBody>
          <a:bodyPr/>
          <a:lstStyle/>
          <a:p>
            <a:fld id="{4093CC90-4002-504C-BD88-C9A1D374048E}" type="slidenum">
              <a:rPr lang="zh-CN" altLang="en-US" smtClean="0"/>
              <a:pPr/>
              <a:t>61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animEffect transition="in" filter="checkerboard(across)">
                                      <p:cBhvr>
                                        <p:cTn id="7" dur="500"/>
                                        <p:tgtEl>
                                          <p:spTgt spid="274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4435">
                                            <p:txEl>
                                              <p:pRg st="1" end="1"/>
                                            </p:txEl>
                                          </p:spTgt>
                                        </p:tgtEl>
                                        <p:attrNameLst>
                                          <p:attrName>style.visibility</p:attrName>
                                        </p:attrNameLst>
                                      </p:cBhvr>
                                      <p:to>
                                        <p:strVal val="visible"/>
                                      </p:to>
                                    </p:set>
                                    <p:animEffect transition="in" filter="checkerboard(across)">
                                      <p:cBhvr>
                                        <p:cTn id="12" dur="500"/>
                                        <p:tgtEl>
                                          <p:spTgt spid="274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4435">
                                            <p:txEl>
                                              <p:pRg st="2" end="2"/>
                                            </p:txEl>
                                          </p:spTgt>
                                        </p:tgtEl>
                                        <p:attrNameLst>
                                          <p:attrName>style.visibility</p:attrName>
                                        </p:attrNameLst>
                                      </p:cBhvr>
                                      <p:to>
                                        <p:strVal val="visible"/>
                                      </p:to>
                                    </p:set>
                                    <p:animEffect transition="in" filter="checkerboard(across)">
                                      <p:cBhvr>
                                        <p:cTn id="17" dur="500"/>
                                        <p:tgtEl>
                                          <p:spTgt spid="274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3DAC2424-452C-C619-7A2E-F88429F052A0}"/>
              </a:ext>
            </a:extLst>
          </p:cNvPr>
          <p:cNvSpPr>
            <a:spLocks noGrp="1" noChangeArrowheads="1"/>
          </p:cNvSpPr>
          <p:nvPr>
            <p:ph type="title"/>
          </p:nvPr>
        </p:nvSpPr>
        <p:spPr>
          <a:xfrm>
            <a:off x="1042988" y="225431"/>
            <a:ext cx="7850187" cy="746125"/>
          </a:xfrm>
        </p:spPr>
        <p:txBody>
          <a:bodyPr/>
          <a:lstStyle/>
          <a:p>
            <a:r>
              <a:rPr lang="zh-CN" altLang="en-US" dirty="0"/>
              <a:t>时钟和定时器</a:t>
            </a:r>
          </a:p>
        </p:txBody>
      </p:sp>
      <p:sp>
        <p:nvSpPr>
          <p:cNvPr id="275459" name="Rectangle 3">
            <a:extLst>
              <a:ext uri="{FF2B5EF4-FFF2-40B4-BE49-F238E27FC236}">
                <a16:creationId xmlns:a16="http://schemas.microsoft.com/office/drawing/2014/main" id="{4F673BC3-3C9C-4BAE-AF55-8C742ECE06B5}"/>
              </a:ext>
            </a:extLst>
          </p:cNvPr>
          <p:cNvSpPr>
            <a:spLocks noGrp="1" noChangeArrowheads="1"/>
          </p:cNvSpPr>
          <p:nvPr>
            <p:ph idx="1"/>
          </p:nvPr>
        </p:nvSpPr>
        <p:spPr>
          <a:xfrm>
            <a:off x="935038" y="1233488"/>
            <a:ext cx="7772400" cy="4895850"/>
          </a:xfrm>
        </p:spPr>
        <p:txBody>
          <a:bodyPr/>
          <a:lstStyle/>
          <a:p>
            <a:r>
              <a:rPr lang="zh-CN" altLang="en-US" dirty="0"/>
              <a:t>许多机器都有硬件时钟和定时器以提供如下三个基本函数</a:t>
            </a:r>
          </a:p>
          <a:p>
            <a:pPr lvl="1"/>
            <a:r>
              <a:rPr lang="zh-CN" altLang="en-US" dirty="0"/>
              <a:t>获取当前时间</a:t>
            </a:r>
            <a:endParaRPr lang="en-US" altLang="zh-CN" dirty="0"/>
          </a:p>
          <a:p>
            <a:pPr lvl="1"/>
            <a:r>
              <a:rPr lang="zh-CN" altLang="en-US" dirty="0"/>
              <a:t>获取已经逝去的时间</a:t>
            </a:r>
            <a:endParaRPr lang="en-US" altLang="zh-CN" dirty="0"/>
          </a:p>
          <a:p>
            <a:pPr lvl="1"/>
            <a:r>
              <a:rPr lang="zh-CN" altLang="en-US" dirty="0"/>
              <a:t>设置定时器以在</a:t>
            </a:r>
            <a:r>
              <a:rPr lang="en-US" altLang="zh-CN" dirty="0"/>
              <a:t>T</a:t>
            </a:r>
            <a:r>
              <a:rPr lang="zh-CN" altLang="en-US" dirty="0"/>
              <a:t>时触发操作</a:t>
            </a:r>
            <a:r>
              <a:rPr lang="en-US" altLang="zh-CN" dirty="0"/>
              <a:t>X</a:t>
            </a:r>
          </a:p>
        </p:txBody>
      </p:sp>
      <p:sp>
        <p:nvSpPr>
          <p:cNvPr id="4" name="灯片编号占位符 3">
            <a:extLst>
              <a:ext uri="{FF2B5EF4-FFF2-40B4-BE49-F238E27FC236}">
                <a16:creationId xmlns:a16="http://schemas.microsoft.com/office/drawing/2014/main" id="{C10984B6-03B5-CF70-4942-A5E10854CB47}"/>
              </a:ext>
            </a:extLst>
          </p:cNvPr>
          <p:cNvSpPr>
            <a:spLocks noGrp="1"/>
          </p:cNvSpPr>
          <p:nvPr>
            <p:ph type="sldNum" sz="quarter" idx="12"/>
          </p:nvPr>
        </p:nvSpPr>
        <p:spPr/>
        <p:txBody>
          <a:bodyPr/>
          <a:lstStyle/>
          <a:p>
            <a:fld id="{4093CC90-4002-504C-BD88-C9A1D374048E}" type="slidenum">
              <a:rPr lang="zh-CN" altLang="en-US" smtClean="0"/>
              <a:pPr/>
              <a:t>62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animEffect transition="in" filter="checkerboard(across)">
                                      <p:cBhvr>
                                        <p:cTn id="7" dur="500"/>
                                        <p:tgtEl>
                                          <p:spTgt spid="275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5459">
                                            <p:txEl>
                                              <p:pRg st="1" end="1"/>
                                            </p:txEl>
                                          </p:spTgt>
                                        </p:tgtEl>
                                        <p:attrNameLst>
                                          <p:attrName>style.visibility</p:attrName>
                                        </p:attrNameLst>
                                      </p:cBhvr>
                                      <p:to>
                                        <p:strVal val="visible"/>
                                      </p:to>
                                    </p:set>
                                    <p:animEffect transition="in" filter="checkerboard(across)">
                                      <p:cBhvr>
                                        <p:cTn id="12" dur="500"/>
                                        <p:tgtEl>
                                          <p:spTgt spid="275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5459">
                                            <p:txEl>
                                              <p:pRg st="2" end="2"/>
                                            </p:txEl>
                                          </p:spTgt>
                                        </p:tgtEl>
                                        <p:attrNameLst>
                                          <p:attrName>style.visibility</p:attrName>
                                        </p:attrNameLst>
                                      </p:cBhvr>
                                      <p:to>
                                        <p:strVal val="visible"/>
                                      </p:to>
                                    </p:set>
                                    <p:animEffect transition="in" filter="checkerboard(across)">
                                      <p:cBhvr>
                                        <p:cTn id="17" dur="500"/>
                                        <p:tgtEl>
                                          <p:spTgt spid="275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75459">
                                            <p:txEl>
                                              <p:pRg st="3" end="3"/>
                                            </p:txEl>
                                          </p:spTgt>
                                        </p:tgtEl>
                                        <p:attrNameLst>
                                          <p:attrName>style.visibility</p:attrName>
                                        </p:attrNameLst>
                                      </p:cBhvr>
                                      <p:to>
                                        <p:strVal val="visible"/>
                                      </p:to>
                                    </p:set>
                                    <p:animEffect transition="in" filter="checkerboard(across)">
                                      <p:cBhvr>
                                        <p:cTn id="22" dur="500"/>
                                        <p:tgtEl>
                                          <p:spTgt spid="275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C7E2C7AE-B113-CC9F-0EF4-21CA520690FF}"/>
              </a:ext>
            </a:extLst>
          </p:cNvPr>
          <p:cNvSpPr>
            <a:spLocks noGrp="1" noChangeArrowheads="1"/>
          </p:cNvSpPr>
          <p:nvPr>
            <p:ph type="title"/>
          </p:nvPr>
        </p:nvSpPr>
        <p:spPr>
          <a:xfrm>
            <a:off x="1042988" y="225431"/>
            <a:ext cx="7850187" cy="746125"/>
          </a:xfrm>
        </p:spPr>
        <p:txBody>
          <a:bodyPr/>
          <a:lstStyle/>
          <a:p>
            <a:r>
              <a:rPr lang="zh-CN" altLang="en-US" dirty="0"/>
              <a:t>时钟和定时器 </a:t>
            </a:r>
          </a:p>
        </p:txBody>
      </p:sp>
      <p:sp>
        <p:nvSpPr>
          <p:cNvPr id="276483" name="Rectangle 3">
            <a:extLst>
              <a:ext uri="{FF2B5EF4-FFF2-40B4-BE49-F238E27FC236}">
                <a16:creationId xmlns:a16="http://schemas.microsoft.com/office/drawing/2014/main" id="{5BB3A239-D37F-2D54-71B1-63DA7AA6F190}"/>
              </a:ext>
            </a:extLst>
          </p:cNvPr>
          <p:cNvSpPr>
            <a:spLocks noGrp="1" noChangeArrowheads="1"/>
          </p:cNvSpPr>
          <p:nvPr>
            <p:ph idx="1"/>
          </p:nvPr>
        </p:nvSpPr>
        <p:spPr>
          <a:xfrm>
            <a:off x="935038" y="1233488"/>
            <a:ext cx="7772400" cy="4895850"/>
          </a:xfrm>
        </p:spPr>
        <p:txBody>
          <a:bodyPr/>
          <a:lstStyle/>
          <a:p>
            <a:r>
              <a:rPr lang="zh-CN" altLang="en-US" dirty="0"/>
              <a:t>测量逝去时间和触发器操作的硬件称为可编程间隔定时器</a:t>
            </a:r>
          </a:p>
          <a:p>
            <a:pPr lvl="1"/>
            <a:r>
              <a:rPr lang="zh-CN" altLang="en-US" dirty="0"/>
              <a:t>可被设置为等待一定的时间，然后触发中断</a:t>
            </a:r>
          </a:p>
          <a:p>
            <a:pPr lvl="1"/>
            <a:r>
              <a:rPr lang="zh-CN" altLang="en-US" dirty="0"/>
              <a:t>也可设置成做一次或重复多次以产生定时中断</a:t>
            </a:r>
          </a:p>
        </p:txBody>
      </p:sp>
      <p:sp>
        <p:nvSpPr>
          <p:cNvPr id="4" name="灯片编号占位符 3">
            <a:extLst>
              <a:ext uri="{FF2B5EF4-FFF2-40B4-BE49-F238E27FC236}">
                <a16:creationId xmlns:a16="http://schemas.microsoft.com/office/drawing/2014/main" id="{2C6DB76A-4C25-BDAA-E16A-C1E077FAB224}"/>
              </a:ext>
            </a:extLst>
          </p:cNvPr>
          <p:cNvSpPr>
            <a:spLocks noGrp="1"/>
          </p:cNvSpPr>
          <p:nvPr>
            <p:ph type="sldNum" sz="quarter" idx="12"/>
          </p:nvPr>
        </p:nvSpPr>
        <p:spPr/>
        <p:txBody>
          <a:bodyPr/>
          <a:lstStyle/>
          <a:p>
            <a:fld id="{4093CC90-4002-504C-BD88-C9A1D374048E}" type="slidenum">
              <a:rPr lang="zh-CN" altLang="en-US" smtClean="0"/>
              <a:pPr/>
              <a:t>63</a:t>
            </a:fld>
            <a:endParaRPr lang="zh-CN" altLang="en-US" dirty="0"/>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5BB5D8D9-A120-2C10-4F9E-C395B9C1A753}"/>
              </a:ext>
            </a:extLst>
          </p:cNvPr>
          <p:cNvSpPr>
            <a:spLocks noGrp="1" noChangeArrowheads="1"/>
          </p:cNvSpPr>
          <p:nvPr>
            <p:ph type="title"/>
          </p:nvPr>
        </p:nvSpPr>
        <p:spPr>
          <a:xfrm>
            <a:off x="1042988" y="225431"/>
            <a:ext cx="7850187" cy="746125"/>
          </a:xfrm>
        </p:spPr>
        <p:txBody>
          <a:bodyPr/>
          <a:lstStyle/>
          <a:p>
            <a:r>
              <a:rPr lang="zh-CN" altLang="en-US" dirty="0"/>
              <a:t>阻塞和非阻塞</a:t>
            </a:r>
            <a:r>
              <a:rPr lang="en-US" altLang="zh-CN" dirty="0"/>
              <a:t>I/O</a:t>
            </a:r>
            <a:endParaRPr lang="zh-CN" altLang="en-US" dirty="0"/>
          </a:p>
        </p:txBody>
      </p:sp>
      <p:sp>
        <p:nvSpPr>
          <p:cNvPr id="273411" name="Rectangle 3">
            <a:extLst>
              <a:ext uri="{FF2B5EF4-FFF2-40B4-BE49-F238E27FC236}">
                <a16:creationId xmlns:a16="http://schemas.microsoft.com/office/drawing/2014/main" id="{92644AC7-15B0-40F2-EFA3-628E956593B7}"/>
              </a:ext>
            </a:extLst>
          </p:cNvPr>
          <p:cNvSpPr>
            <a:spLocks noGrp="1" noChangeArrowheads="1"/>
          </p:cNvSpPr>
          <p:nvPr>
            <p:ph idx="1"/>
          </p:nvPr>
        </p:nvSpPr>
        <p:spPr>
          <a:xfrm>
            <a:off x="935038" y="1233488"/>
            <a:ext cx="7772400" cy="4895850"/>
          </a:xfrm>
        </p:spPr>
        <p:txBody>
          <a:bodyPr/>
          <a:lstStyle/>
          <a:p>
            <a:r>
              <a:rPr lang="zh-CN" altLang="en-US" dirty="0"/>
              <a:t>阻塞：进程挂起直到</a:t>
            </a:r>
            <a:r>
              <a:rPr lang="en-US" altLang="zh-CN" dirty="0"/>
              <a:t>I/O</a:t>
            </a:r>
            <a:r>
              <a:rPr lang="zh-CN" altLang="en-US" dirty="0"/>
              <a:t>完成</a:t>
            </a:r>
            <a:r>
              <a:rPr lang="en-US" altLang="zh-CN" dirty="0"/>
              <a:t> </a:t>
            </a:r>
          </a:p>
          <a:p>
            <a:r>
              <a:rPr lang="zh-CN" altLang="en-US" dirty="0"/>
              <a:t>非阻塞：</a:t>
            </a:r>
            <a:r>
              <a:rPr lang="en-US" altLang="zh-CN" dirty="0"/>
              <a:t>I/O</a:t>
            </a:r>
            <a:r>
              <a:rPr lang="zh-CN" altLang="en-US" dirty="0"/>
              <a:t>调用立即返回</a:t>
            </a:r>
            <a:r>
              <a:rPr lang="en-US" altLang="zh-CN" dirty="0"/>
              <a:t>  </a:t>
            </a:r>
          </a:p>
          <a:p>
            <a:r>
              <a:rPr lang="zh-CN" altLang="en-US" dirty="0"/>
              <a:t>异步：在</a:t>
            </a:r>
            <a:r>
              <a:rPr lang="en-US" altLang="zh-CN" dirty="0"/>
              <a:t>I/O</a:t>
            </a:r>
            <a:r>
              <a:rPr lang="zh-CN" altLang="en-US" dirty="0"/>
              <a:t>处理的时候进程同时运行</a:t>
            </a:r>
            <a:r>
              <a:rPr lang="en-US" altLang="zh-CN" dirty="0"/>
              <a:t> </a:t>
            </a:r>
          </a:p>
        </p:txBody>
      </p:sp>
      <p:sp>
        <p:nvSpPr>
          <p:cNvPr id="4" name="灯片编号占位符 3">
            <a:extLst>
              <a:ext uri="{FF2B5EF4-FFF2-40B4-BE49-F238E27FC236}">
                <a16:creationId xmlns:a16="http://schemas.microsoft.com/office/drawing/2014/main" id="{1C177ADD-6DEE-5671-B3FF-DF25B7378A82}"/>
              </a:ext>
            </a:extLst>
          </p:cNvPr>
          <p:cNvSpPr>
            <a:spLocks noGrp="1"/>
          </p:cNvSpPr>
          <p:nvPr>
            <p:ph type="sldNum" sz="quarter" idx="12"/>
          </p:nvPr>
        </p:nvSpPr>
        <p:spPr/>
        <p:txBody>
          <a:bodyPr/>
          <a:lstStyle/>
          <a:p>
            <a:fld id="{4093CC90-4002-504C-BD88-C9A1D374048E}" type="slidenum">
              <a:rPr lang="zh-CN" altLang="en-US" smtClean="0"/>
              <a:pPr/>
              <a:t>64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checkerboard(across)">
                                      <p:cBhvr>
                                        <p:cTn id="7" dur="500"/>
                                        <p:tgtEl>
                                          <p:spTgt spid="273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3411">
                                            <p:txEl>
                                              <p:pRg st="1" end="1"/>
                                            </p:txEl>
                                          </p:spTgt>
                                        </p:tgtEl>
                                        <p:attrNameLst>
                                          <p:attrName>style.visibility</p:attrName>
                                        </p:attrNameLst>
                                      </p:cBhvr>
                                      <p:to>
                                        <p:strVal val="visible"/>
                                      </p:to>
                                    </p:set>
                                    <p:animEffect transition="in" filter="checkerboard(across)">
                                      <p:cBhvr>
                                        <p:cTn id="12" dur="500"/>
                                        <p:tgtEl>
                                          <p:spTgt spid="273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3411">
                                            <p:txEl>
                                              <p:pRg st="2" end="2"/>
                                            </p:txEl>
                                          </p:spTgt>
                                        </p:tgtEl>
                                        <p:attrNameLst>
                                          <p:attrName>style.visibility</p:attrName>
                                        </p:attrNameLst>
                                      </p:cBhvr>
                                      <p:to>
                                        <p:strVal val="visible"/>
                                      </p:to>
                                    </p:set>
                                    <p:animEffect transition="in" filter="checkerboard(across)">
                                      <p:cBhvr>
                                        <p:cTn id="17" dur="500"/>
                                        <p:tgtEl>
                                          <p:spTgt spid="273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555D9868-630D-48AA-0AE0-1B34DD98F08C}"/>
              </a:ext>
            </a:extLst>
          </p:cNvPr>
          <p:cNvSpPr>
            <a:spLocks noGrp="1" noChangeArrowheads="1"/>
          </p:cNvSpPr>
          <p:nvPr>
            <p:ph type="title"/>
          </p:nvPr>
        </p:nvSpPr>
        <p:spPr>
          <a:xfrm>
            <a:off x="1042988" y="225431"/>
            <a:ext cx="7850187" cy="746125"/>
          </a:xfrm>
        </p:spPr>
        <p:txBody>
          <a:bodyPr/>
          <a:lstStyle/>
          <a:p>
            <a:r>
              <a:rPr lang="zh-CN" altLang="en-US"/>
              <a:t>两种</a:t>
            </a:r>
            <a:r>
              <a:rPr lang="en-US" altLang="zh-CN"/>
              <a:t>I/O</a:t>
            </a:r>
            <a:r>
              <a:rPr lang="zh-CN" altLang="en-US"/>
              <a:t>方法 </a:t>
            </a:r>
            <a:r>
              <a:rPr lang="en-US" altLang="zh-CN"/>
              <a:t>Two I/O Methods</a:t>
            </a:r>
          </a:p>
        </p:txBody>
      </p:sp>
      <p:pic>
        <p:nvPicPr>
          <p:cNvPr id="82946" name="Picture 3">
            <a:extLst>
              <a:ext uri="{FF2B5EF4-FFF2-40B4-BE49-F238E27FC236}">
                <a16:creationId xmlns:a16="http://schemas.microsoft.com/office/drawing/2014/main" id="{07DD68EA-4C61-409B-9274-8021C30B5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15" t="21974" r="623" b="21974"/>
          <a:stretch>
            <a:fillRect/>
          </a:stretch>
        </p:blipFill>
        <p:spPr bwMode="auto">
          <a:xfrm>
            <a:off x="731838" y="1270000"/>
            <a:ext cx="8113712" cy="4535488"/>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
        <p:nvSpPr>
          <p:cNvPr id="82947" name="Text Box 4">
            <a:extLst>
              <a:ext uri="{FF2B5EF4-FFF2-40B4-BE49-F238E27FC236}">
                <a16:creationId xmlns:a16="http://schemas.microsoft.com/office/drawing/2014/main" id="{29EEABC8-6FB5-FF0E-64A0-322D8698281A}"/>
              </a:ext>
            </a:extLst>
          </p:cNvPr>
          <p:cNvSpPr txBox="1">
            <a:spLocks noChangeArrowheads="1"/>
          </p:cNvSpPr>
          <p:nvPr/>
        </p:nvSpPr>
        <p:spPr bwMode="auto">
          <a:xfrm>
            <a:off x="2511425" y="5924550"/>
            <a:ext cx="206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a:latin typeface="Helvetica" pitchFamily="2" charset="0"/>
              </a:rPr>
              <a:t>Synchronous</a:t>
            </a:r>
          </a:p>
        </p:txBody>
      </p:sp>
      <p:sp>
        <p:nvSpPr>
          <p:cNvPr id="82948" name="Text Box 5">
            <a:extLst>
              <a:ext uri="{FF2B5EF4-FFF2-40B4-BE49-F238E27FC236}">
                <a16:creationId xmlns:a16="http://schemas.microsoft.com/office/drawing/2014/main" id="{92F2C1CB-FD53-1BFE-6E31-F636E8D4C7A9}"/>
              </a:ext>
            </a:extLst>
          </p:cNvPr>
          <p:cNvSpPr txBox="1">
            <a:spLocks noChangeArrowheads="1"/>
          </p:cNvSpPr>
          <p:nvPr/>
        </p:nvSpPr>
        <p:spPr bwMode="auto">
          <a:xfrm>
            <a:off x="5838825" y="5924550"/>
            <a:ext cx="2262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a:latin typeface="Helvetica" pitchFamily="2" charset="0"/>
              </a:rPr>
              <a:t>Asynchronous</a:t>
            </a:r>
          </a:p>
        </p:txBody>
      </p:sp>
      <p:sp>
        <p:nvSpPr>
          <p:cNvPr id="4" name="灯片编号占位符 3">
            <a:extLst>
              <a:ext uri="{FF2B5EF4-FFF2-40B4-BE49-F238E27FC236}">
                <a16:creationId xmlns:a16="http://schemas.microsoft.com/office/drawing/2014/main" id="{E3EDC1E4-F436-AD7B-2284-CB18E6829120}"/>
              </a:ext>
            </a:extLst>
          </p:cNvPr>
          <p:cNvSpPr>
            <a:spLocks noGrp="1"/>
          </p:cNvSpPr>
          <p:nvPr>
            <p:ph type="sldNum" sz="quarter" idx="12"/>
          </p:nvPr>
        </p:nvSpPr>
        <p:spPr/>
        <p:txBody>
          <a:bodyPr/>
          <a:lstStyle/>
          <a:p>
            <a:fld id="{4DE15609-3D60-D842-9ED4-D898F320B191}" type="slidenum">
              <a:rPr lang="zh-CN" altLang="en-US" smtClean="0"/>
              <a:pPr/>
              <a:t>65</a:t>
            </a:fld>
            <a:endParaRPr lang="zh-CN" altLang="en-US"/>
          </a:p>
        </p:txBody>
      </p:sp>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1AFC39F1-103E-A20F-F401-A9E2D3F95C06}"/>
              </a:ext>
            </a:extLst>
          </p:cNvPr>
          <p:cNvSpPr>
            <a:spLocks noGrp="1" noChangeArrowheads="1"/>
          </p:cNvSpPr>
          <p:nvPr>
            <p:ph type="title"/>
          </p:nvPr>
        </p:nvSpPr>
        <p:spPr>
          <a:xfrm>
            <a:off x="1042988" y="225431"/>
            <a:ext cx="7850187" cy="746125"/>
          </a:xfrm>
        </p:spPr>
        <p:txBody>
          <a:bodyPr/>
          <a:lstStyle/>
          <a:p>
            <a:r>
              <a:rPr lang="zh-CN" altLang="en-US" dirty="0"/>
              <a:t>内核</a:t>
            </a:r>
            <a:r>
              <a:rPr lang="en-US" altLang="zh-CN" dirty="0"/>
              <a:t>I/O</a:t>
            </a:r>
            <a:r>
              <a:rPr lang="zh-CN" altLang="en-US" dirty="0"/>
              <a:t>子系统</a:t>
            </a:r>
          </a:p>
        </p:txBody>
      </p:sp>
      <p:sp>
        <p:nvSpPr>
          <p:cNvPr id="83970" name="Rectangle 3">
            <a:extLst>
              <a:ext uri="{FF2B5EF4-FFF2-40B4-BE49-F238E27FC236}">
                <a16:creationId xmlns:a16="http://schemas.microsoft.com/office/drawing/2014/main" id="{5F3B7A1C-22DC-AC28-60D7-6CB158B8B40D}"/>
              </a:ext>
            </a:extLst>
          </p:cNvPr>
          <p:cNvSpPr>
            <a:spLocks noGrp="1" noChangeArrowheads="1"/>
          </p:cNvSpPr>
          <p:nvPr>
            <p:ph idx="1"/>
          </p:nvPr>
        </p:nvSpPr>
        <p:spPr>
          <a:xfrm>
            <a:off x="935038" y="1233488"/>
            <a:ext cx="7772400" cy="4895850"/>
          </a:xfrm>
        </p:spPr>
        <p:txBody>
          <a:bodyPr/>
          <a:lstStyle/>
          <a:p>
            <a:r>
              <a:rPr lang="zh-CN" altLang="en-US" dirty="0"/>
              <a:t>许多服务，如调度、缓冲、高速缓存、假脱机、设备预留及错误处理由内核</a:t>
            </a:r>
            <a:r>
              <a:rPr lang="en-US" altLang="zh-CN" dirty="0"/>
              <a:t>I/O</a:t>
            </a:r>
            <a:r>
              <a:rPr lang="zh-CN" altLang="en-US" dirty="0"/>
              <a:t>子系统提供</a:t>
            </a:r>
          </a:p>
          <a:p>
            <a:endParaRPr lang="zh-CN" altLang="en-US" dirty="0"/>
          </a:p>
        </p:txBody>
      </p:sp>
      <p:sp>
        <p:nvSpPr>
          <p:cNvPr id="4" name="灯片编号占位符 3">
            <a:extLst>
              <a:ext uri="{FF2B5EF4-FFF2-40B4-BE49-F238E27FC236}">
                <a16:creationId xmlns:a16="http://schemas.microsoft.com/office/drawing/2014/main" id="{5683739B-9D12-8346-359C-3CF20849237B}"/>
              </a:ext>
            </a:extLst>
          </p:cNvPr>
          <p:cNvSpPr>
            <a:spLocks noGrp="1"/>
          </p:cNvSpPr>
          <p:nvPr>
            <p:ph type="sldNum" sz="quarter" idx="12"/>
          </p:nvPr>
        </p:nvSpPr>
        <p:spPr/>
        <p:txBody>
          <a:bodyPr/>
          <a:lstStyle/>
          <a:p>
            <a:fld id="{4093CC90-4002-504C-BD88-C9A1D374048E}" type="slidenum">
              <a:rPr lang="zh-CN" altLang="en-US" smtClean="0"/>
              <a:pPr/>
              <a:t>66</a:t>
            </a:fld>
            <a:endParaRPr lang="zh-CN" altLang="en-US" dirty="0"/>
          </a:p>
        </p:txBody>
      </p:sp>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1903CF79-703D-9D28-5715-908CCF2FFFA2}"/>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调度</a:t>
            </a:r>
          </a:p>
        </p:txBody>
      </p:sp>
      <p:sp>
        <p:nvSpPr>
          <p:cNvPr id="279555" name="Rectangle 3">
            <a:extLst>
              <a:ext uri="{FF2B5EF4-FFF2-40B4-BE49-F238E27FC236}">
                <a16:creationId xmlns:a16="http://schemas.microsoft.com/office/drawing/2014/main" id="{FB7682AD-EE8E-D412-8051-257B9424A389}"/>
              </a:ext>
            </a:extLst>
          </p:cNvPr>
          <p:cNvSpPr>
            <a:spLocks noGrp="1" noChangeArrowheads="1"/>
          </p:cNvSpPr>
          <p:nvPr>
            <p:ph idx="1"/>
          </p:nvPr>
        </p:nvSpPr>
        <p:spPr>
          <a:xfrm>
            <a:off x="935038" y="1233488"/>
            <a:ext cx="7772400" cy="4895850"/>
          </a:xfrm>
        </p:spPr>
        <p:txBody>
          <a:bodyPr/>
          <a:lstStyle/>
          <a:p>
            <a:r>
              <a:rPr lang="zh-CN" altLang="en-US" dirty="0"/>
              <a:t>调度一组</a:t>
            </a:r>
            <a:r>
              <a:rPr lang="en-US" altLang="zh-CN" dirty="0"/>
              <a:t>I/O</a:t>
            </a:r>
            <a:r>
              <a:rPr lang="zh-CN" altLang="en-US" dirty="0"/>
              <a:t>请求就是确定一个好的顺序来执行这些请求。</a:t>
            </a:r>
          </a:p>
          <a:p>
            <a:r>
              <a:rPr lang="zh-CN" altLang="en-US" dirty="0"/>
              <a:t>某些操作系统尝试着公平</a:t>
            </a:r>
            <a:br>
              <a:rPr lang="en-US" altLang="zh-CN" dirty="0"/>
            </a:br>
            <a:endParaRPr lang="en-US" altLang="zh-CN" dirty="0"/>
          </a:p>
        </p:txBody>
      </p:sp>
      <p:sp>
        <p:nvSpPr>
          <p:cNvPr id="4" name="灯片编号占位符 3">
            <a:extLst>
              <a:ext uri="{FF2B5EF4-FFF2-40B4-BE49-F238E27FC236}">
                <a16:creationId xmlns:a16="http://schemas.microsoft.com/office/drawing/2014/main" id="{839C6303-2BE5-50ED-3593-0B3E0823E64E}"/>
              </a:ext>
            </a:extLst>
          </p:cNvPr>
          <p:cNvSpPr>
            <a:spLocks noGrp="1"/>
          </p:cNvSpPr>
          <p:nvPr>
            <p:ph type="sldNum" sz="quarter" idx="12"/>
          </p:nvPr>
        </p:nvSpPr>
        <p:spPr/>
        <p:txBody>
          <a:bodyPr/>
          <a:lstStyle/>
          <a:p>
            <a:fld id="{4093CC90-4002-504C-BD88-C9A1D374048E}" type="slidenum">
              <a:rPr lang="zh-CN" altLang="en-US" smtClean="0"/>
              <a:pPr/>
              <a:t>67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Effect transition="in" filter="checkerboard(across)">
                                      <p:cBhvr>
                                        <p:cTn id="7" dur="500"/>
                                        <p:tgtEl>
                                          <p:spTgt spid="279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9555">
                                            <p:txEl>
                                              <p:pRg st="1" end="1"/>
                                            </p:txEl>
                                          </p:spTgt>
                                        </p:tgtEl>
                                        <p:attrNameLst>
                                          <p:attrName>style.visibility</p:attrName>
                                        </p:attrNameLst>
                                      </p:cBhvr>
                                      <p:to>
                                        <p:strVal val="visible"/>
                                      </p:to>
                                    </p:set>
                                    <p:animEffect transition="in" filter="checkerboard(across)">
                                      <p:cBhvr>
                                        <p:cTn id="12" dur="500"/>
                                        <p:tgtEl>
                                          <p:spTgt spid="2795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8F8558DD-BFF2-57E9-B588-9922503C973D}"/>
              </a:ext>
            </a:extLst>
          </p:cNvPr>
          <p:cNvSpPr>
            <a:spLocks noGrp="1" noChangeArrowheads="1"/>
          </p:cNvSpPr>
          <p:nvPr>
            <p:ph type="title"/>
          </p:nvPr>
        </p:nvSpPr>
        <p:spPr>
          <a:xfrm>
            <a:off x="1042988" y="225431"/>
            <a:ext cx="7850187" cy="746125"/>
          </a:xfrm>
        </p:spPr>
        <p:txBody>
          <a:bodyPr/>
          <a:lstStyle/>
          <a:p>
            <a:r>
              <a:rPr lang="zh-CN" altLang="en-US" dirty="0"/>
              <a:t>缓冲 </a:t>
            </a:r>
            <a:r>
              <a:rPr lang="en-US" altLang="zh-CN" dirty="0"/>
              <a:t>Buffering</a:t>
            </a:r>
          </a:p>
        </p:txBody>
      </p:sp>
      <p:sp>
        <p:nvSpPr>
          <p:cNvPr id="123907" name="Rectangle 3">
            <a:extLst>
              <a:ext uri="{FF2B5EF4-FFF2-40B4-BE49-F238E27FC236}">
                <a16:creationId xmlns:a16="http://schemas.microsoft.com/office/drawing/2014/main" id="{580EAC7F-7B53-6512-4478-DE5CCCF9C77D}"/>
              </a:ext>
            </a:extLst>
          </p:cNvPr>
          <p:cNvSpPr>
            <a:spLocks noGrp="1" noChangeArrowheads="1"/>
          </p:cNvSpPr>
          <p:nvPr>
            <p:ph idx="1"/>
          </p:nvPr>
        </p:nvSpPr>
        <p:spPr>
          <a:xfrm>
            <a:off x="935038" y="1233488"/>
            <a:ext cx="7772400" cy="4895850"/>
          </a:xfrm>
        </p:spPr>
        <p:txBody>
          <a:bodyPr/>
          <a:lstStyle/>
          <a:p>
            <a:r>
              <a:rPr lang="zh-CN" altLang="en-US" dirty="0"/>
              <a:t>缓冲：当设备间传输数据的时候，暂时存放在内存中。</a:t>
            </a:r>
            <a:endParaRPr lang="en-US" altLang="zh-CN" dirty="0"/>
          </a:p>
          <a:p>
            <a:pPr lvl="1"/>
            <a:r>
              <a:rPr lang="zh-CN" altLang="en-US" dirty="0"/>
              <a:t>解决设备速度不匹</a:t>
            </a:r>
            <a:endParaRPr lang="en-US" altLang="zh-CN" dirty="0"/>
          </a:p>
          <a:p>
            <a:pPr lvl="1"/>
            <a:r>
              <a:rPr lang="zh-CN" altLang="en-US" dirty="0"/>
              <a:t>解决设备传输块的大小不匹配</a:t>
            </a:r>
            <a:endParaRPr lang="en-US" altLang="zh-CN" dirty="0"/>
          </a:p>
          <a:p>
            <a:pPr lvl="1"/>
            <a:r>
              <a:rPr lang="zh-CN" altLang="en-US" dirty="0"/>
              <a:t>为了维持“拷贝语义”</a:t>
            </a:r>
            <a:endParaRPr lang="en-US" altLang="zh-CN" dirty="0"/>
          </a:p>
          <a:p>
            <a:endParaRPr lang="zh-CN" altLang="en-US" dirty="0"/>
          </a:p>
        </p:txBody>
      </p:sp>
      <p:sp>
        <p:nvSpPr>
          <p:cNvPr id="4" name="灯片编号占位符 3">
            <a:extLst>
              <a:ext uri="{FF2B5EF4-FFF2-40B4-BE49-F238E27FC236}">
                <a16:creationId xmlns:a16="http://schemas.microsoft.com/office/drawing/2014/main" id="{BF9990FE-F15F-B68E-CE5F-6DDC9507EC79}"/>
              </a:ext>
            </a:extLst>
          </p:cNvPr>
          <p:cNvSpPr>
            <a:spLocks noGrp="1"/>
          </p:cNvSpPr>
          <p:nvPr>
            <p:ph type="sldNum" sz="quarter" idx="12"/>
          </p:nvPr>
        </p:nvSpPr>
        <p:spPr/>
        <p:txBody>
          <a:bodyPr/>
          <a:lstStyle/>
          <a:p>
            <a:fld id="{4093CC90-4002-504C-BD88-C9A1D374048E}" type="slidenum">
              <a:rPr lang="zh-CN" altLang="en-US" smtClean="0"/>
              <a:pPr/>
              <a:t>68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checkerboard(across)">
                                      <p:cBhvr>
                                        <p:cTn id="7" dur="500"/>
                                        <p:tgtEl>
                                          <p:spTgt spid="123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3907">
                                            <p:txEl>
                                              <p:pRg st="1" end="1"/>
                                            </p:txEl>
                                          </p:spTgt>
                                        </p:tgtEl>
                                        <p:attrNameLst>
                                          <p:attrName>style.visibility</p:attrName>
                                        </p:attrNameLst>
                                      </p:cBhvr>
                                      <p:to>
                                        <p:strVal val="visible"/>
                                      </p:to>
                                    </p:set>
                                    <p:animEffect transition="in" filter="checkerboard(across)">
                                      <p:cBhvr>
                                        <p:cTn id="12" dur="500"/>
                                        <p:tgtEl>
                                          <p:spTgt spid="123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3907">
                                            <p:txEl>
                                              <p:pRg st="2" end="2"/>
                                            </p:txEl>
                                          </p:spTgt>
                                        </p:tgtEl>
                                        <p:attrNameLst>
                                          <p:attrName>style.visibility</p:attrName>
                                        </p:attrNameLst>
                                      </p:cBhvr>
                                      <p:to>
                                        <p:strVal val="visible"/>
                                      </p:to>
                                    </p:set>
                                    <p:animEffect transition="in" filter="checkerboard(across)">
                                      <p:cBhvr>
                                        <p:cTn id="17" dur="500"/>
                                        <p:tgtEl>
                                          <p:spTgt spid="1239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3907">
                                            <p:txEl>
                                              <p:pRg st="3" end="3"/>
                                            </p:txEl>
                                          </p:spTgt>
                                        </p:tgtEl>
                                        <p:attrNameLst>
                                          <p:attrName>style.visibility</p:attrName>
                                        </p:attrNameLst>
                                      </p:cBhvr>
                                      <p:to>
                                        <p:strVal val="visible"/>
                                      </p:to>
                                    </p:set>
                                    <p:animEffect transition="in" filter="checkerboard(across)">
                                      <p:cBhvr>
                                        <p:cTn id="22" dur="500"/>
                                        <p:tgtEl>
                                          <p:spTgt spid="1239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4AD9B86E-9696-C407-DF0D-DA63C5C354B5}"/>
              </a:ext>
            </a:extLst>
          </p:cNvPr>
          <p:cNvSpPr>
            <a:spLocks noGrp="1" noChangeArrowheads="1"/>
          </p:cNvSpPr>
          <p:nvPr>
            <p:ph type="title"/>
          </p:nvPr>
        </p:nvSpPr>
        <p:spPr>
          <a:xfrm>
            <a:off x="1042988" y="225431"/>
            <a:ext cx="7850187" cy="746125"/>
          </a:xfrm>
        </p:spPr>
        <p:txBody>
          <a:bodyPr/>
          <a:lstStyle/>
          <a:p>
            <a:r>
              <a:rPr lang="zh-CN" altLang="en-US"/>
              <a:t>缓冲的引入</a:t>
            </a:r>
          </a:p>
        </p:txBody>
      </p:sp>
      <p:sp>
        <p:nvSpPr>
          <p:cNvPr id="195587" name="Rectangle 3">
            <a:extLst>
              <a:ext uri="{FF2B5EF4-FFF2-40B4-BE49-F238E27FC236}">
                <a16:creationId xmlns:a16="http://schemas.microsoft.com/office/drawing/2014/main" id="{D7E9054C-BABE-3C6A-3B01-4AF9927EE47A}"/>
              </a:ext>
            </a:extLst>
          </p:cNvPr>
          <p:cNvSpPr>
            <a:spLocks noGrp="1" noChangeArrowheads="1"/>
          </p:cNvSpPr>
          <p:nvPr>
            <p:ph idx="1"/>
          </p:nvPr>
        </p:nvSpPr>
        <p:spPr>
          <a:xfrm>
            <a:off x="935038" y="1233488"/>
            <a:ext cx="7772400" cy="4895850"/>
          </a:xfrm>
        </p:spPr>
        <p:txBody>
          <a:bodyPr/>
          <a:lstStyle/>
          <a:p>
            <a:r>
              <a:rPr lang="zh-CN" altLang="en-US"/>
              <a:t>提高处理机与外设并行的另一项技术是缓冲技术。</a:t>
            </a:r>
          </a:p>
          <a:p>
            <a:r>
              <a:rPr lang="zh-CN" altLang="en-US"/>
              <a:t>引入缓冲的主要原因有：</a:t>
            </a:r>
          </a:p>
          <a:p>
            <a:pPr lvl="1"/>
            <a:r>
              <a:rPr lang="zh-CN" altLang="en-US"/>
              <a:t>缓和</a:t>
            </a:r>
            <a:r>
              <a:rPr lang="en-US" altLang="zh-CN"/>
              <a:t>CPU</a:t>
            </a:r>
            <a:r>
              <a:rPr lang="zh-CN" altLang="en-US"/>
              <a:t>与</a:t>
            </a:r>
            <a:r>
              <a:rPr lang="en-US" altLang="zh-CN"/>
              <a:t>I/O</a:t>
            </a:r>
            <a:r>
              <a:rPr lang="zh-CN" altLang="en-US"/>
              <a:t>设备间速度不匹配的矛盾，</a:t>
            </a:r>
          </a:p>
          <a:p>
            <a:pPr lvl="1"/>
            <a:r>
              <a:rPr lang="zh-CN" altLang="en-US"/>
              <a:t>提高</a:t>
            </a:r>
            <a:r>
              <a:rPr lang="en-US" altLang="zh-CN"/>
              <a:t>CPU</a:t>
            </a:r>
            <a:r>
              <a:rPr lang="zh-CN" altLang="en-US"/>
              <a:t>与</a:t>
            </a:r>
            <a:r>
              <a:rPr lang="en-US" altLang="zh-CN"/>
              <a:t>I/O</a:t>
            </a:r>
            <a:r>
              <a:rPr lang="zh-CN" altLang="en-US"/>
              <a:t>设备并行操作的程度，</a:t>
            </a:r>
          </a:p>
          <a:p>
            <a:pPr lvl="1"/>
            <a:r>
              <a:rPr lang="zh-CN" altLang="en-US"/>
              <a:t>减少设备对</a:t>
            </a:r>
            <a:r>
              <a:rPr lang="en-US" altLang="zh-CN"/>
              <a:t>CPU</a:t>
            </a:r>
            <a:r>
              <a:rPr lang="zh-CN" altLang="en-US"/>
              <a:t>的中断频率，放宽</a:t>
            </a:r>
            <a:r>
              <a:rPr lang="en-US" altLang="zh-CN"/>
              <a:t>CPU</a:t>
            </a:r>
            <a:r>
              <a:rPr lang="zh-CN" altLang="en-US"/>
              <a:t>对中断响应时间的限制。</a:t>
            </a:r>
          </a:p>
        </p:txBody>
      </p:sp>
      <p:sp>
        <p:nvSpPr>
          <p:cNvPr id="4" name="灯片编号占位符 3">
            <a:extLst>
              <a:ext uri="{FF2B5EF4-FFF2-40B4-BE49-F238E27FC236}">
                <a16:creationId xmlns:a16="http://schemas.microsoft.com/office/drawing/2014/main" id="{113D7448-F9CC-C4D9-5C67-F27D56DE6564}"/>
              </a:ext>
            </a:extLst>
          </p:cNvPr>
          <p:cNvSpPr>
            <a:spLocks noGrp="1"/>
          </p:cNvSpPr>
          <p:nvPr>
            <p:ph type="sldNum" sz="quarter" idx="12"/>
          </p:nvPr>
        </p:nvSpPr>
        <p:spPr/>
        <p:txBody>
          <a:bodyPr/>
          <a:lstStyle/>
          <a:p>
            <a:fld id="{4093CC90-4002-504C-BD88-C9A1D374048E}" type="slidenum">
              <a:rPr lang="zh-CN" altLang="en-US" smtClean="0"/>
              <a:pPr/>
              <a:t>69</a:t>
            </a:fld>
            <a:endParaRPr lang="zh-CN" altLang="en-US" dirty="0"/>
          </a:p>
        </p:txBody>
      </p:sp>
    </p:spTree>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1026">
            <a:extLst>
              <a:ext uri="{FF2B5EF4-FFF2-40B4-BE49-F238E27FC236}">
                <a16:creationId xmlns:a16="http://schemas.microsoft.com/office/drawing/2014/main" id="{552DE993-8E41-5650-8438-4C15E7F32F4E}"/>
              </a:ext>
            </a:extLst>
          </p:cNvPr>
          <p:cNvSpPr>
            <a:spLocks noGrp="1" noChangeArrowheads="1"/>
          </p:cNvSpPr>
          <p:nvPr>
            <p:ph type="title"/>
          </p:nvPr>
        </p:nvSpPr>
        <p:spPr>
          <a:xfrm>
            <a:off x="1042988" y="225431"/>
            <a:ext cx="7850187" cy="746125"/>
          </a:xfrm>
        </p:spPr>
        <p:txBody>
          <a:bodyPr/>
          <a:lstStyle/>
          <a:p>
            <a:r>
              <a:rPr lang="zh-CN" altLang="en-US"/>
              <a:t>缓冲的实现方法</a:t>
            </a:r>
          </a:p>
        </p:txBody>
      </p:sp>
      <p:sp>
        <p:nvSpPr>
          <p:cNvPr id="196611" name="Rectangle 1027">
            <a:extLst>
              <a:ext uri="{FF2B5EF4-FFF2-40B4-BE49-F238E27FC236}">
                <a16:creationId xmlns:a16="http://schemas.microsoft.com/office/drawing/2014/main" id="{452B2C06-4433-FF2F-8B37-AA79ED0347D3}"/>
              </a:ext>
            </a:extLst>
          </p:cNvPr>
          <p:cNvSpPr>
            <a:spLocks noGrp="1" noChangeArrowheads="1"/>
          </p:cNvSpPr>
          <p:nvPr>
            <p:ph idx="1"/>
          </p:nvPr>
        </p:nvSpPr>
        <p:spPr>
          <a:xfrm>
            <a:off x="935038" y="1233488"/>
            <a:ext cx="7772400" cy="4895850"/>
          </a:xfrm>
        </p:spPr>
        <p:txBody>
          <a:bodyPr>
            <a:normAutofit lnSpcReduction="10000"/>
          </a:bodyPr>
          <a:lstStyle/>
          <a:p>
            <a:r>
              <a:rPr lang="zh-CN" altLang="en-US"/>
              <a:t>硬件缓冲器：如</a:t>
            </a:r>
            <a:r>
              <a:rPr lang="en-US" altLang="zh-CN"/>
              <a:t>I/O</a:t>
            </a:r>
            <a:r>
              <a:rPr lang="zh-CN" altLang="en-US"/>
              <a:t>控制器中的数据缓冲寄存器，但成本太高。</a:t>
            </a:r>
          </a:p>
          <a:p>
            <a:r>
              <a:rPr lang="zh-CN" altLang="en-US"/>
              <a:t>软件缓冲：一片内存区域，用来临时存放输入输出数据。</a:t>
            </a:r>
          </a:p>
          <a:p>
            <a:r>
              <a:rPr lang="zh-CN" altLang="en-US"/>
              <a:t>缓冲技术分为：</a:t>
            </a:r>
          </a:p>
          <a:p>
            <a:pPr lvl="1"/>
            <a:r>
              <a:rPr lang="zh-CN" altLang="en-US"/>
              <a:t>单缓冲</a:t>
            </a:r>
          </a:p>
          <a:p>
            <a:pPr lvl="1"/>
            <a:r>
              <a:rPr lang="zh-CN" altLang="en-US"/>
              <a:t>双缓冲</a:t>
            </a:r>
          </a:p>
          <a:p>
            <a:pPr lvl="1"/>
            <a:r>
              <a:rPr lang="zh-CN" altLang="en-US"/>
              <a:t>循环缓冲</a:t>
            </a:r>
          </a:p>
          <a:p>
            <a:pPr lvl="1"/>
            <a:r>
              <a:rPr lang="zh-CN" altLang="en-US"/>
              <a:t>缓冲池</a:t>
            </a:r>
          </a:p>
        </p:txBody>
      </p:sp>
      <p:sp>
        <p:nvSpPr>
          <p:cNvPr id="4" name="灯片编号占位符 3">
            <a:extLst>
              <a:ext uri="{FF2B5EF4-FFF2-40B4-BE49-F238E27FC236}">
                <a16:creationId xmlns:a16="http://schemas.microsoft.com/office/drawing/2014/main" id="{8E45FEE4-5C2E-7492-E5B7-94976F43BB54}"/>
              </a:ext>
            </a:extLst>
          </p:cNvPr>
          <p:cNvSpPr>
            <a:spLocks noGrp="1"/>
          </p:cNvSpPr>
          <p:nvPr>
            <p:ph type="sldNum" sz="quarter" idx="12"/>
          </p:nvPr>
        </p:nvSpPr>
        <p:spPr/>
        <p:txBody>
          <a:bodyPr/>
          <a:lstStyle/>
          <a:p>
            <a:fld id="{4093CC90-4002-504C-BD88-C9A1D374048E}" type="slidenum">
              <a:rPr lang="zh-CN" altLang="en-US" smtClean="0"/>
              <a:pPr/>
              <a:t>70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checkerboard(across)">
                                      <p:cBhvr>
                                        <p:cTn id="7" dur="500"/>
                                        <p:tgtEl>
                                          <p:spTgt spid="1966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6611">
                                            <p:txEl>
                                              <p:pRg st="1" end="1"/>
                                            </p:txEl>
                                          </p:spTgt>
                                        </p:tgtEl>
                                        <p:attrNameLst>
                                          <p:attrName>style.visibility</p:attrName>
                                        </p:attrNameLst>
                                      </p:cBhvr>
                                      <p:to>
                                        <p:strVal val="visible"/>
                                      </p:to>
                                    </p:set>
                                    <p:animEffect transition="in" filter="checkerboard(across)">
                                      <p:cBhvr>
                                        <p:cTn id="12" dur="500"/>
                                        <p:tgtEl>
                                          <p:spTgt spid="1966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96611">
                                            <p:txEl>
                                              <p:pRg st="2" end="2"/>
                                            </p:txEl>
                                          </p:spTgt>
                                        </p:tgtEl>
                                        <p:attrNameLst>
                                          <p:attrName>style.visibility</p:attrName>
                                        </p:attrNameLst>
                                      </p:cBhvr>
                                      <p:to>
                                        <p:strVal val="visible"/>
                                      </p:to>
                                    </p:set>
                                    <p:animEffect transition="in" filter="checkerboard(across)">
                                      <p:cBhvr>
                                        <p:cTn id="17" dur="500"/>
                                        <p:tgtEl>
                                          <p:spTgt spid="1966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96611">
                                            <p:txEl>
                                              <p:pRg st="3" end="3"/>
                                            </p:txEl>
                                          </p:spTgt>
                                        </p:tgtEl>
                                        <p:attrNameLst>
                                          <p:attrName>style.visibility</p:attrName>
                                        </p:attrNameLst>
                                      </p:cBhvr>
                                      <p:to>
                                        <p:strVal val="visible"/>
                                      </p:to>
                                    </p:set>
                                    <p:animEffect transition="in" filter="checkerboard(across)">
                                      <p:cBhvr>
                                        <p:cTn id="22" dur="500"/>
                                        <p:tgtEl>
                                          <p:spTgt spid="1966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96611">
                                            <p:txEl>
                                              <p:pRg st="4" end="4"/>
                                            </p:txEl>
                                          </p:spTgt>
                                        </p:tgtEl>
                                        <p:attrNameLst>
                                          <p:attrName>style.visibility</p:attrName>
                                        </p:attrNameLst>
                                      </p:cBhvr>
                                      <p:to>
                                        <p:strVal val="visible"/>
                                      </p:to>
                                    </p:set>
                                    <p:animEffect transition="in" filter="checkerboard(across)">
                                      <p:cBhvr>
                                        <p:cTn id="27" dur="500"/>
                                        <p:tgtEl>
                                          <p:spTgt spid="1966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96611">
                                            <p:txEl>
                                              <p:pRg st="5" end="5"/>
                                            </p:txEl>
                                          </p:spTgt>
                                        </p:tgtEl>
                                        <p:attrNameLst>
                                          <p:attrName>style.visibility</p:attrName>
                                        </p:attrNameLst>
                                      </p:cBhvr>
                                      <p:to>
                                        <p:strVal val="visible"/>
                                      </p:to>
                                    </p:set>
                                    <p:animEffect transition="in" filter="checkerboard(across)">
                                      <p:cBhvr>
                                        <p:cTn id="32" dur="500"/>
                                        <p:tgtEl>
                                          <p:spTgt spid="1966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96611">
                                            <p:txEl>
                                              <p:pRg st="6" end="6"/>
                                            </p:txEl>
                                          </p:spTgt>
                                        </p:tgtEl>
                                        <p:attrNameLst>
                                          <p:attrName>style.visibility</p:attrName>
                                        </p:attrNameLst>
                                      </p:cBhvr>
                                      <p:to>
                                        <p:strVal val="visible"/>
                                      </p:to>
                                    </p:set>
                                    <p:animEffect transition="in" filter="checkerboard(across)">
                                      <p:cBhvr>
                                        <p:cTn id="37" dur="500"/>
                                        <p:tgtEl>
                                          <p:spTgt spid="1966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DF637D25-330B-2D12-DDB0-CC975DC6D9FF}"/>
              </a:ext>
            </a:extLst>
          </p:cNvPr>
          <p:cNvSpPr>
            <a:spLocks noGrp="1" noChangeArrowheads="1"/>
          </p:cNvSpPr>
          <p:nvPr>
            <p:ph type="title"/>
          </p:nvPr>
        </p:nvSpPr>
        <p:spPr/>
        <p:txBody>
          <a:bodyPr/>
          <a:lstStyle/>
          <a:p>
            <a:pPr eaLnBrk="1" hangingPunct="1"/>
            <a:r>
              <a:rPr lang="zh-CN" altLang="en-US"/>
              <a:t>单缓冲</a:t>
            </a:r>
          </a:p>
        </p:txBody>
      </p:sp>
      <p:sp>
        <p:nvSpPr>
          <p:cNvPr id="89090" name="Rectangle 3">
            <a:extLst>
              <a:ext uri="{FF2B5EF4-FFF2-40B4-BE49-F238E27FC236}">
                <a16:creationId xmlns:a16="http://schemas.microsoft.com/office/drawing/2014/main" id="{3ACD71D8-6735-4F03-270C-682205D01C17}"/>
              </a:ext>
            </a:extLst>
          </p:cNvPr>
          <p:cNvSpPr>
            <a:spLocks noGrp="1" noChangeArrowheads="1"/>
          </p:cNvSpPr>
          <p:nvPr>
            <p:ph idx="1"/>
          </p:nvPr>
        </p:nvSpPr>
        <p:spPr>
          <a:xfrm>
            <a:off x="755650" y="1341438"/>
            <a:ext cx="8159750" cy="1030287"/>
          </a:xfrm>
        </p:spPr>
        <p:txBody>
          <a:bodyPr/>
          <a:lstStyle/>
          <a:p>
            <a:pPr algn="just" eaLnBrk="1" hangingPunct="1"/>
            <a:r>
              <a:rPr lang="zh-CN" altLang="en-US"/>
              <a:t>单缓冲是在设备和处理机之间设置一个缓冲区。 </a:t>
            </a:r>
            <a:endParaRPr lang="en-US" altLang="zh-CN"/>
          </a:p>
        </p:txBody>
      </p:sp>
      <p:sp>
        <p:nvSpPr>
          <p:cNvPr id="89091" name="AutoShape 36">
            <a:extLst>
              <a:ext uri="{FF2B5EF4-FFF2-40B4-BE49-F238E27FC236}">
                <a16:creationId xmlns:a16="http://schemas.microsoft.com/office/drawing/2014/main" id="{112DBD46-D6FC-3F2A-C1FB-99C2DD45FD96}"/>
              </a:ext>
            </a:extLst>
          </p:cNvPr>
          <p:cNvSpPr>
            <a:spLocks noChangeArrowheads="1"/>
          </p:cNvSpPr>
          <p:nvPr/>
        </p:nvSpPr>
        <p:spPr bwMode="auto">
          <a:xfrm>
            <a:off x="3338513" y="3187700"/>
            <a:ext cx="1411287" cy="1384300"/>
          </a:xfrm>
          <a:prstGeom prst="roundRect">
            <a:avLst>
              <a:gd name="adj" fmla="val 16667"/>
            </a:avLst>
          </a:prstGeom>
          <a:solidFill>
            <a:srgbClr val="FFFFFF"/>
          </a:solidFill>
          <a:ln w="25400">
            <a:solidFill>
              <a:srgbClr val="000000"/>
            </a:solidFill>
            <a:round/>
            <a:headEnd/>
            <a:tailEnd/>
          </a:ln>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89092" name="Rectangle 37">
            <a:extLst>
              <a:ext uri="{FF2B5EF4-FFF2-40B4-BE49-F238E27FC236}">
                <a16:creationId xmlns:a16="http://schemas.microsoft.com/office/drawing/2014/main" id="{047ADC56-D012-A60A-D857-A08C937A9474}"/>
              </a:ext>
            </a:extLst>
          </p:cNvPr>
          <p:cNvSpPr>
            <a:spLocks noChangeArrowheads="1"/>
          </p:cNvSpPr>
          <p:nvPr/>
        </p:nvSpPr>
        <p:spPr bwMode="auto">
          <a:xfrm>
            <a:off x="3513138" y="2590800"/>
            <a:ext cx="110966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操作系统</a:t>
            </a:r>
          </a:p>
        </p:txBody>
      </p:sp>
      <p:sp>
        <p:nvSpPr>
          <p:cNvPr id="89093" name="Rectangle 38">
            <a:extLst>
              <a:ext uri="{FF2B5EF4-FFF2-40B4-BE49-F238E27FC236}">
                <a16:creationId xmlns:a16="http://schemas.microsoft.com/office/drawing/2014/main" id="{462D1BCF-B10A-7868-EC93-AC9F6B1D7BD9}"/>
              </a:ext>
            </a:extLst>
          </p:cNvPr>
          <p:cNvSpPr>
            <a:spLocks noChangeArrowheads="1"/>
          </p:cNvSpPr>
          <p:nvPr/>
        </p:nvSpPr>
        <p:spPr bwMode="auto">
          <a:xfrm>
            <a:off x="3733800" y="3686175"/>
            <a:ext cx="603250" cy="333375"/>
          </a:xfrm>
          <a:prstGeom prst="rect">
            <a:avLst/>
          </a:prstGeom>
          <a:solidFill>
            <a:srgbClr val="FFFFFF"/>
          </a:solidFill>
          <a:ln w="25400">
            <a:solidFill>
              <a:srgbClr val="000000"/>
            </a:solidFill>
            <a:miter lim="800000"/>
            <a:headEnd/>
            <a:tailEnd/>
          </a:ln>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89094" name="Rectangle 39">
            <a:extLst>
              <a:ext uri="{FF2B5EF4-FFF2-40B4-BE49-F238E27FC236}">
                <a16:creationId xmlns:a16="http://schemas.microsoft.com/office/drawing/2014/main" id="{3F361DDF-2CB9-0A07-778F-145CA8DB6775}"/>
              </a:ext>
            </a:extLst>
          </p:cNvPr>
          <p:cNvSpPr>
            <a:spLocks noChangeArrowheads="1"/>
          </p:cNvSpPr>
          <p:nvPr/>
        </p:nvSpPr>
        <p:spPr bwMode="auto">
          <a:xfrm>
            <a:off x="990600" y="3556000"/>
            <a:ext cx="99853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I/O</a:t>
            </a:r>
            <a:r>
              <a:rPr lang="zh-CN" altLang="en-US" sz="2000">
                <a:latin typeface="Times New Roman" panose="02020603050405020304" pitchFamily="18" charset="0"/>
              </a:rPr>
              <a:t>设备</a:t>
            </a:r>
          </a:p>
        </p:txBody>
      </p:sp>
      <p:sp>
        <p:nvSpPr>
          <p:cNvPr id="89095" name="Line 40">
            <a:extLst>
              <a:ext uri="{FF2B5EF4-FFF2-40B4-BE49-F238E27FC236}">
                <a16:creationId xmlns:a16="http://schemas.microsoft.com/office/drawing/2014/main" id="{1CBA0B3C-8CA7-E2AB-7983-9063EAE30C0D}"/>
              </a:ext>
            </a:extLst>
          </p:cNvPr>
          <p:cNvSpPr>
            <a:spLocks noChangeShapeType="1"/>
          </p:cNvSpPr>
          <p:nvPr/>
        </p:nvSpPr>
        <p:spPr bwMode="auto">
          <a:xfrm>
            <a:off x="1973263" y="3856038"/>
            <a:ext cx="176053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9096" name="Rectangle 41">
            <a:extLst>
              <a:ext uri="{FF2B5EF4-FFF2-40B4-BE49-F238E27FC236}">
                <a16:creationId xmlns:a16="http://schemas.microsoft.com/office/drawing/2014/main" id="{12BF64D0-99A0-D8E7-890C-EB2DA3FFFF05}"/>
              </a:ext>
            </a:extLst>
          </p:cNvPr>
          <p:cNvSpPr>
            <a:spLocks noChangeArrowheads="1"/>
          </p:cNvSpPr>
          <p:nvPr/>
        </p:nvSpPr>
        <p:spPr bwMode="auto">
          <a:xfrm>
            <a:off x="2481263" y="3284538"/>
            <a:ext cx="7461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输入</a:t>
            </a:r>
          </a:p>
        </p:txBody>
      </p:sp>
      <p:sp>
        <p:nvSpPr>
          <p:cNvPr id="89097" name="AutoShape 42">
            <a:extLst>
              <a:ext uri="{FF2B5EF4-FFF2-40B4-BE49-F238E27FC236}">
                <a16:creationId xmlns:a16="http://schemas.microsoft.com/office/drawing/2014/main" id="{592F0DA0-8857-F7BB-57D2-7C23E2D00261}"/>
              </a:ext>
            </a:extLst>
          </p:cNvPr>
          <p:cNvSpPr>
            <a:spLocks noChangeArrowheads="1"/>
          </p:cNvSpPr>
          <p:nvPr/>
        </p:nvSpPr>
        <p:spPr bwMode="auto">
          <a:xfrm>
            <a:off x="6589713" y="3187700"/>
            <a:ext cx="1411287" cy="1384300"/>
          </a:xfrm>
          <a:prstGeom prst="roundRect">
            <a:avLst>
              <a:gd name="adj" fmla="val 16667"/>
            </a:avLst>
          </a:prstGeom>
          <a:solidFill>
            <a:srgbClr val="FFFFFF"/>
          </a:solidFill>
          <a:ln w="25400">
            <a:solidFill>
              <a:srgbClr val="000000"/>
            </a:solidFill>
            <a:round/>
            <a:headEnd/>
            <a:tailEnd/>
          </a:ln>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89098" name="Rectangle 43">
            <a:extLst>
              <a:ext uri="{FF2B5EF4-FFF2-40B4-BE49-F238E27FC236}">
                <a16:creationId xmlns:a16="http://schemas.microsoft.com/office/drawing/2014/main" id="{944036D2-7050-DB9B-D67F-36A23886265F}"/>
              </a:ext>
            </a:extLst>
          </p:cNvPr>
          <p:cNvSpPr>
            <a:spLocks noChangeArrowheads="1"/>
          </p:cNvSpPr>
          <p:nvPr/>
        </p:nvSpPr>
        <p:spPr bwMode="auto">
          <a:xfrm>
            <a:off x="7002463" y="3705225"/>
            <a:ext cx="601662" cy="331788"/>
          </a:xfrm>
          <a:prstGeom prst="rect">
            <a:avLst/>
          </a:prstGeom>
          <a:solidFill>
            <a:srgbClr val="FFFFFF"/>
          </a:solidFill>
          <a:ln w="25400">
            <a:solidFill>
              <a:srgbClr val="000000"/>
            </a:solidFill>
            <a:miter lim="800000"/>
            <a:headEnd/>
            <a:tailEnd/>
          </a:ln>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89099" name="Line 44">
            <a:extLst>
              <a:ext uri="{FF2B5EF4-FFF2-40B4-BE49-F238E27FC236}">
                <a16:creationId xmlns:a16="http://schemas.microsoft.com/office/drawing/2014/main" id="{18FCF5E6-5C9C-2F29-48E4-62B88253682E}"/>
              </a:ext>
            </a:extLst>
          </p:cNvPr>
          <p:cNvSpPr>
            <a:spLocks noChangeShapeType="1"/>
          </p:cNvSpPr>
          <p:nvPr/>
        </p:nvSpPr>
        <p:spPr bwMode="auto">
          <a:xfrm>
            <a:off x="4337050" y="3856038"/>
            <a:ext cx="26670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9100" name="Rectangle 45">
            <a:extLst>
              <a:ext uri="{FF2B5EF4-FFF2-40B4-BE49-F238E27FC236}">
                <a16:creationId xmlns:a16="http://schemas.microsoft.com/office/drawing/2014/main" id="{50424DDB-97D2-1FB1-C846-95B02E4A1968}"/>
              </a:ext>
            </a:extLst>
          </p:cNvPr>
          <p:cNvSpPr>
            <a:spLocks noChangeArrowheads="1"/>
          </p:cNvSpPr>
          <p:nvPr/>
        </p:nvSpPr>
        <p:spPr bwMode="auto">
          <a:xfrm>
            <a:off x="6764338" y="2590800"/>
            <a:ext cx="107791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用户进程</a:t>
            </a:r>
          </a:p>
        </p:txBody>
      </p:sp>
      <p:sp>
        <p:nvSpPr>
          <p:cNvPr id="89101" name="Rectangle 46">
            <a:extLst>
              <a:ext uri="{FF2B5EF4-FFF2-40B4-BE49-F238E27FC236}">
                <a16:creationId xmlns:a16="http://schemas.microsoft.com/office/drawing/2014/main" id="{B89E7804-9B4B-8879-4611-0A03142127FB}"/>
              </a:ext>
            </a:extLst>
          </p:cNvPr>
          <p:cNvSpPr>
            <a:spLocks noChangeArrowheads="1"/>
          </p:cNvSpPr>
          <p:nvPr/>
        </p:nvSpPr>
        <p:spPr bwMode="auto">
          <a:xfrm>
            <a:off x="5321300" y="3284538"/>
            <a:ext cx="744538"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rIns="180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传送</a:t>
            </a:r>
          </a:p>
        </p:txBody>
      </p:sp>
      <p:sp>
        <p:nvSpPr>
          <p:cNvPr id="2" name="灯片编号占位符 1">
            <a:extLst>
              <a:ext uri="{FF2B5EF4-FFF2-40B4-BE49-F238E27FC236}">
                <a16:creationId xmlns:a16="http://schemas.microsoft.com/office/drawing/2014/main" id="{3C23F332-EC8F-2B4C-6CA2-9EFD37E2F2F1}"/>
              </a:ext>
            </a:extLst>
          </p:cNvPr>
          <p:cNvSpPr>
            <a:spLocks noGrp="1"/>
          </p:cNvSpPr>
          <p:nvPr>
            <p:ph type="sldNum" sz="quarter" idx="12"/>
          </p:nvPr>
        </p:nvSpPr>
        <p:spPr/>
        <p:txBody>
          <a:bodyPr/>
          <a:lstStyle/>
          <a:p>
            <a:fld id="{4093CC90-4002-504C-BD88-C9A1D374048E}" type="slidenum">
              <a:rPr lang="zh-CN" altLang="en-US" smtClean="0"/>
              <a:pPr/>
              <a:t>71</a:t>
            </a:fld>
            <a:endParaRPr lang="zh-CN" altLang="en-US" dirty="0"/>
          </a:p>
        </p:txBody>
      </p:sp>
    </p:spTree>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53D4DCC1-B875-0CF8-4D3E-C4C21193E72C}"/>
              </a:ext>
            </a:extLst>
          </p:cNvPr>
          <p:cNvSpPr>
            <a:spLocks noGrp="1" noChangeArrowheads="1"/>
          </p:cNvSpPr>
          <p:nvPr>
            <p:ph type="title"/>
          </p:nvPr>
        </p:nvSpPr>
        <p:spPr/>
        <p:txBody>
          <a:bodyPr/>
          <a:lstStyle/>
          <a:p>
            <a:pPr eaLnBrk="1" hangingPunct="1"/>
            <a:r>
              <a:rPr lang="zh-CN" altLang="en-US"/>
              <a:t>单缓冲（续）</a:t>
            </a:r>
          </a:p>
        </p:txBody>
      </p:sp>
      <p:sp>
        <p:nvSpPr>
          <p:cNvPr id="198659" name="Rectangle 3">
            <a:extLst>
              <a:ext uri="{FF2B5EF4-FFF2-40B4-BE49-F238E27FC236}">
                <a16:creationId xmlns:a16="http://schemas.microsoft.com/office/drawing/2014/main" id="{26FA24A5-0226-709D-D156-006FAC2470DF}"/>
              </a:ext>
            </a:extLst>
          </p:cNvPr>
          <p:cNvSpPr>
            <a:spLocks noGrp="1" noChangeArrowheads="1"/>
          </p:cNvSpPr>
          <p:nvPr>
            <p:ph idx="1"/>
          </p:nvPr>
        </p:nvSpPr>
        <p:spPr>
          <a:xfrm>
            <a:off x="755650" y="1268413"/>
            <a:ext cx="8159750" cy="5040312"/>
          </a:xfrm>
        </p:spPr>
        <p:txBody>
          <a:bodyPr/>
          <a:lstStyle/>
          <a:p>
            <a:pPr algn="just" eaLnBrk="1" hangingPunct="1"/>
            <a:r>
              <a:rPr lang="zh-CN" altLang="en-US" sz="2800"/>
              <a:t>在块设备输入时，先从磁盘把一块数据输入至缓冲区，然后</a:t>
            </a:r>
            <a:r>
              <a:rPr lang="en-US" altLang="zh-CN" sz="2800"/>
              <a:t>OS</a:t>
            </a:r>
            <a:r>
              <a:rPr lang="zh-CN" altLang="en-US" sz="2800"/>
              <a:t>将缓冲区中的数据送到用户区。</a:t>
            </a:r>
            <a:r>
              <a:rPr lang="zh-CN" altLang="en-US" sz="2800">
                <a:latin typeface="Times New Roman" panose="02020603050405020304" pitchFamily="18" charset="0"/>
              </a:rPr>
              <a:t>在块设备输出时，先将要输出的数据从用户区复制到缓冲区，然后再将缓冲区中的数据写到设备。</a:t>
            </a:r>
          </a:p>
          <a:p>
            <a:pPr algn="just" eaLnBrk="1" hangingPunct="1"/>
            <a:r>
              <a:rPr lang="zh-CN" altLang="en-US" sz="2800"/>
              <a:t>在字符设备输入时，缓冲区用于暂存用户输入的一行数据。在输入期间，用户进程阻塞以等待一行数据输入完毕；在输出时，用户进程将一行数据送入缓冲区后继续执行计算。当用户进程已有第二行数据要输出时，若第一行数据尚未输出完毕，则用户进程阻塞。 </a:t>
            </a:r>
            <a:endParaRPr lang="en-US" altLang="zh-CN" sz="2800"/>
          </a:p>
        </p:txBody>
      </p:sp>
      <p:sp>
        <p:nvSpPr>
          <p:cNvPr id="2" name="灯片编号占位符 1">
            <a:extLst>
              <a:ext uri="{FF2B5EF4-FFF2-40B4-BE49-F238E27FC236}">
                <a16:creationId xmlns:a16="http://schemas.microsoft.com/office/drawing/2014/main" id="{052B5703-91D8-51D7-4760-D6261A840DA4}"/>
              </a:ext>
            </a:extLst>
          </p:cNvPr>
          <p:cNvSpPr>
            <a:spLocks noGrp="1"/>
          </p:cNvSpPr>
          <p:nvPr>
            <p:ph type="sldNum" sz="quarter" idx="12"/>
          </p:nvPr>
        </p:nvSpPr>
        <p:spPr/>
        <p:txBody>
          <a:bodyPr/>
          <a:lstStyle/>
          <a:p>
            <a:fld id="{4093CC90-4002-504C-BD88-C9A1D374048E}" type="slidenum">
              <a:rPr lang="zh-CN" altLang="en-US" smtClean="0"/>
              <a:pPr/>
              <a:t>72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checkerboard(across)">
                                      <p:cBhvr>
                                        <p:cTn id="7" dur="500"/>
                                        <p:tgtEl>
                                          <p:spTgt spid="198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98659">
                                            <p:txEl>
                                              <p:pRg st="1" end="1"/>
                                            </p:txEl>
                                          </p:spTgt>
                                        </p:tgtEl>
                                        <p:attrNameLst>
                                          <p:attrName>style.visibility</p:attrName>
                                        </p:attrNameLst>
                                      </p:cBhvr>
                                      <p:to>
                                        <p:strVal val="visible"/>
                                      </p:to>
                                    </p:set>
                                    <p:animEffect transition="in" filter="checkerboard(across)">
                                      <p:cBhvr>
                                        <p:cTn id="12" dur="500"/>
                                        <p:tgtEl>
                                          <p:spTgt spid="1986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BE3EB399-5B06-A003-6136-D62CCB53D65B}"/>
              </a:ext>
            </a:extLst>
          </p:cNvPr>
          <p:cNvSpPr>
            <a:spLocks noGrp="1" noChangeArrowheads="1"/>
          </p:cNvSpPr>
          <p:nvPr>
            <p:ph type="title"/>
          </p:nvPr>
        </p:nvSpPr>
        <p:spPr/>
        <p:txBody>
          <a:bodyPr/>
          <a:lstStyle/>
          <a:p>
            <a:pPr eaLnBrk="1" hangingPunct="1"/>
            <a:r>
              <a:rPr lang="zh-CN" altLang="en-US"/>
              <a:t>双缓冲</a:t>
            </a:r>
          </a:p>
        </p:txBody>
      </p:sp>
      <p:sp>
        <p:nvSpPr>
          <p:cNvPr id="91138" name="Rectangle 3">
            <a:extLst>
              <a:ext uri="{FF2B5EF4-FFF2-40B4-BE49-F238E27FC236}">
                <a16:creationId xmlns:a16="http://schemas.microsoft.com/office/drawing/2014/main" id="{7D2525D2-7726-4238-EBF0-DD2865B115BC}"/>
              </a:ext>
            </a:extLst>
          </p:cNvPr>
          <p:cNvSpPr>
            <a:spLocks noGrp="1" noChangeArrowheads="1"/>
          </p:cNvSpPr>
          <p:nvPr>
            <p:ph idx="1"/>
          </p:nvPr>
        </p:nvSpPr>
        <p:spPr>
          <a:xfrm>
            <a:off x="684213" y="1341438"/>
            <a:ext cx="8270875" cy="1106487"/>
          </a:xfrm>
        </p:spPr>
        <p:txBody>
          <a:bodyPr/>
          <a:lstStyle/>
          <a:p>
            <a:pPr algn="just" eaLnBrk="1" hangingPunct="1"/>
            <a:r>
              <a:rPr lang="zh-CN" altLang="en-US"/>
              <a:t>引入双缓冲，可以进一步提高处理机与设备的并行操作程度。</a:t>
            </a:r>
          </a:p>
        </p:txBody>
      </p:sp>
      <p:sp>
        <p:nvSpPr>
          <p:cNvPr id="91139" name="AutoShape 61">
            <a:extLst>
              <a:ext uri="{FF2B5EF4-FFF2-40B4-BE49-F238E27FC236}">
                <a16:creationId xmlns:a16="http://schemas.microsoft.com/office/drawing/2014/main" id="{93EF19AE-32FB-2505-55F7-A02DCF5DD408}"/>
              </a:ext>
            </a:extLst>
          </p:cNvPr>
          <p:cNvSpPr>
            <a:spLocks noChangeArrowheads="1"/>
          </p:cNvSpPr>
          <p:nvPr/>
        </p:nvSpPr>
        <p:spPr bwMode="auto">
          <a:xfrm>
            <a:off x="3260725" y="3765550"/>
            <a:ext cx="1343025" cy="1111250"/>
          </a:xfrm>
          <a:prstGeom prst="roundRect">
            <a:avLst>
              <a:gd name="adj" fmla="val 16667"/>
            </a:avLst>
          </a:prstGeom>
          <a:solidFill>
            <a:srgbClr val="FFFFFF"/>
          </a:solidFill>
          <a:ln w="25400">
            <a:solidFill>
              <a:srgbClr val="000000"/>
            </a:solidFill>
            <a:round/>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1140" name="Rectangle 62">
            <a:extLst>
              <a:ext uri="{FF2B5EF4-FFF2-40B4-BE49-F238E27FC236}">
                <a16:creationId xmlns:a16="http://schemas.microsoft.com/office/drawing/2014/main" id="{A3527E38-A6BA-A1D6-F663-001540DBEBD8}"/>
              </a:ext>
            </a:extLst>
          </p:cNvPr>
          <p:cNvSpPr>
            <a:spLocks noChangeArrowheads="1"/>
          </p:cNvSpPr>
          <p:nvPr/>
        </p:nvSpPr>
        <p:spPr bwMode="auto">
          <a:xfrm>
            <a:off x="3427413" y="3276600"/>
            <a:ext cx="1055687"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操作系统</a:t>
            </a:r>
          </a:p>
        </p:txBody>
      </p:sp>
      <p:sp>
        <p:nvSpPr>
          <p:cNvPr id="91141" name="Rectangle 63">
            <a:extLst>
              <a:ext uri="{FF2B5EF4-FFF2-40B4-BE49-F238E27FC236}">
                <a16:creationId xmlns:a16="http://schemas.microsoft.com/office/drawing/2014/main" id="{ACD66800-A0E7-4279-0B38-CC8943A95CED}"/>
              </a:ext>
            </a:extLst>
          </p:cNvPr>
          <p:cNvSpPr>
            <a:spLocks noChangeArrowheads="1"/>
          </p:cNvSpPr>
          <p:nvPr/>
        </p:nvSpPr>
        <p:spPr bwMode="auto">
          <a:xfrm>
            <a:off x="3638550" y="3944938"/>
            <a:ext cx="573088" cy="265112"/>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1142" name="Rectangle 64">
            <a:extLst>
              <a:ext uri="{FF2B5EF4-FFF2-40B4-BE49-F238E27FC236}">
                <a16:creationId xmlns:a16="http://schemas.microsoft.com/office/drawing/2014/main" id="{895BE917-4398-3DF9-3796-D63D34C4957E}"/>
              </a:ext>
            </a:extLst>
          </p:cNvPr>
          <p:cNvSpPr>
            <a:spLocks noChangeArrowheads="1"/>
          </p:cNvSpPr>
          <p:nvPr/>
        </p:nvSpPr>
        <p:spPr bwMode="auto">
          <a:xfrm>
            <a:off x="990600" y="4052888"/>
            <a:ext cx="9509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I/O</a:t>
            </a:r>
            <a:r>
              <a:rPr lang="zh-CN" altLang="en-US" sz="2000">
                <a:latin typeface="Times New Roman" panose="02020603050405020304" pitchFamily="18" charset="0"/>
              </a:rPr>
              <a:t>设备</a:t>
            </a:r>
          </a:p>
        </p:txBody>
      </p:sp>
      <p:sp>
        <p:nvSpPr>
          <p:cNvPr id="91143" name="Line 65">
            <a:extLst>
              <a:ext uri="{FF2B5EF4-FFF2-40B4-BE49-F238E27FC236}">
                <a16:creationId xmlns:a16="http://schemas.microsoft.com/office/drawing/2014/main" id="{4CF2B0C0-6C76-BDD8-440C-2157798A5075}"/>
              </a:ext>
            </a:extLst>
          </p:cNvPr>
          <p:cNvSpPr>
            <a:spLocks noChangeShapeType="1"/>
          </p:cNvSpPr>
          <p:nvPr/>
        </p:nvSpPr>
        <p:spPr bwMode="auto">
          <a:xfrm flipV="1">
            <a:off x="2884488" y="4048125"/>
            <a:ext cx="750887" cy="26511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1144" name="Rectangle 66">
            <a:extLst>
              <a:ext uri="{FF2B5EF4-FFF2-40B4-BE49-F238E27FC236}">
                <a16:creationId xmlns:a16="http://schemas.microsoft.com/office/drawing/2014/main" id="{8AE80991-C7C1-BFBA-67AA-D605F06AFDE6}"/>
              </a:ext>
            </a:extLst>
          </p:cNvPr>
          <p:cNvSpPr>
            <a:spLocks noChangeArrowheads="1"/>
          </p:cNvSpPr>
          <p:nvPr/>
        </p:nvSpPr>
        <p:spPr bwMode="auto">
          <a:xfrm>
            <a:off x="2160588" y="3819525"/>
            <a:ext cx="7080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输入</a:t>
            </a:r>
          </a:p>
        </p:txBody>
      </p:sp>
      <p:sp>
        <p:nvSpPr>
          <p:cNvPr id="91145" name="AutoShape 67">
            <a:extLst>
              <a:ext uri="{FF2B5EF4-FFF2-40B4-BE49-F238E27FC236}">
                <a16:creationId xmlns:a16="http://schemas.microsoft.com/office/drawing/2014/main" id="{5B41E270-EBEF-1429-AAC2-21D1015B872F}"/>
              </a:ext>
            </a:extLst>
          </p:cNvPr>
          <p:cNvSpPr>
            <a:spLocks noChangeArrowheads="1"/>
          </p:cNvSpPr>
          <p:nvPr/>
        </p:nvSpPr>
        <p:spPr bwMode="auto">
          <a:xfrm>
            <a:off x="6353175" y="3765550"/>
            <a:ext cx="1343025" cy="1111250"/>
          </a:xfrm>
          <a:prstGeom prst="roundRect">
            <a:avLst>
              <a:gd name="adj" fmla="val 16667"/>
            </a:avLst>
          </a:prstGeom>
          <a:solidFill>
            <a:srgbClr val="FFFFFF"/>
          </a:solidFill>
          <a:ln w="25400">
            <a:solidFill>
              <a:srgbClr val="000000"/>
            </a:solidFill>
            <a:round/>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1146" name="Rectangle 68">
            <a:extLst>
              <a:ext uri="{FF2B5EF4-FFF2-40B4-BE49-F238E27FC236}">
                <a16:creationId xmlns:a16="http://schemas.microsoft.com/office/drawing/2014/main" id="{0D4F6EB8-2173-47BD-3C73-8F2B849F96F7}"/>
              </a:ext>
            </a:extLst>
          </p:cNvPr>
          <p:cNvSpPr>
            <a:spLocks noChangeArrowheads="1"/>
          </p:cNvSpPr>
          <p:nvPr/>
        </p:nvSpPr>
        <p:spPr bwMode="auto">
          <a:xfrm>
            <a:off x="6745288" y="4165600"/>
            <a:ext cx="573087" cy="266700"/>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1147" name="Line 69">
            <a:extLst>
              <a:ext uri="{FF2B5EF4-FFF2-40B4-BE49-F238E27FC236}">
                <a16:creationId xmlns:a16="http://schemas.microsoft.com/office/drawing/2014/main" id="{9141DF00-5B71-916A-0FD8-B3E2E2AA2E62}"/>
              </a:ext>
            </a:extLst>
          </p:cNvPr>
          <p:cNvSpPr>
            <a:spLocks noChangeShapeType="1"/>
          </p:cNvSpPr>
          <p:nvPr/>
        </p:nvSpPr>
        <p:spPr bwMode="auto">
          <a:xfrm>
            <a:off x="4830763" y="4300538"/>
            <a:ext cx="190976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1148" name="Rectangle 70">
            <a:extLst>
              <a:ext uri="{FF2B5EF4-FFF2-40B4-BE49-F238E27FC236}">
                <a16:creationId xmlns:a16="http://schemas.microsoft.com/office/drawing/2014/main" id="{27C39CB9-CCB6-678F-DE55-C499EFEBC206}"/>
              </a:ext>
            </a:extLst>
          </p:cNvPr>
          <p:cNvSpPr>
            <a:spLocks noChangeArrowheads="1"/>
          </p:cNvSpPr>
          <p:nvPr/>
        </p:nvSpPr>
        <p:spPr bwMode="auto">
          <a:xfrm>
            <a:off x="6519863" y="3276600"/>
            <a:ext cx="1025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用户进程</a:t>
            </a:r>
          </a:p>
        </p:txBody>
      </p:sp>
      <p:sp>
        <p:nvSpPr>
          <p:cNvPr id="91149" name="Rectangle 71">
            <a:extLst>
              <a:ext uri="{FF2B5EF4-FFF2-40B4-BE49-F238E27FC236}">
                <a16:creationId xmlns:a16="http://schemas.microsoft.com/office/drawing/2014/main" id="{AA58A7C6-6C57-1012-C359-339135CA361B}"/>
              </a:ext>
            </a:extLst>
          </p:cNvPr>
          <p:cNvSpPr>
            <a:spLocks noChangeArrowheads="1"/>
          </p:cNvSpPr>
          <p:nvPr/>
        </p:nvSpPr>
        <p:spPr bwMode="auto">
          <a:xfrm>
            <a:off x="5146675" y="3819525"/>
            <a:ext cx="70961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传送</a:t>
            </a:r>
          </a:p>
        </p:txBody>
      </p:sp>
      <p:sp>
        <p:nvSpPr>
          <p:cNvPr id="91150" name="Rectangle 73">
            <a:extLst>
              <a:ext uri="{FF2B5EF4-FFF2-40B4-BE49-F238E27FC236}">
                <a16:creationId xmlns:a16="http://schemas.microsoft.com/office/drawing/2014/main" id="{52C6AF15-21F4-42B7-9DE2-F24D134D7347}"/>
              </a:ext>
            </a:extLst>
          </p:cNvPr>
          <p:cNvSpPr>
            <a:spLocks noChangeArrowheads="1"/>
          </p:cNvSpPr>
          <p:nvPr/>
        </p:nvSpPr>
        <p:spPr bwMode="auto">
          <a:xfrm>
            <a:off x="3638550" y="4432300"/>
            <a:ext cx="573088" cy="265113"/>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1151" name="Line 74">
            <a:extLst>
              <a:ext uri="{FF2B5EF4-FFF2-40B4-BE49-F238E27FC236}">
                <a16:creationId xmlns:a16="http://schemas.microsoft.com/office/drawing/2014/main" id="{B5D6B01E-86AE-0DC2-23D0-9FA2421B6E27}"/>
              </a:ext>
            </a:extLst>
          </p:cNvPr>
          <p:cNvSpPr>
            <a:spLocks noChangeShapeType="1"/>
          </p:cNvSpPr>
          <p:nvPr/>
        </p:nvSpPr>
        <p:spPr bwMode="auto">
          <a:xfrm>
            <a:off x="1873250" y="4316413"/>
            <a:ext cx="1025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2" name="Line 75">
            <a:extLst>
              <a:ext uri="{FF2B5EF4-FFF2-40B4-BE49-F238E27FC236}">
                <a16:creationId xmlns:a16="http://schemas.microsoft.com/office/drawing/2014/main" id="{4ACA2E80-0ABC-4E38-B3DB-4B7075FF96AE}"/>
              </a:ext>
            </a:extLst>
          </p:cNvPr>
          <p:cNvSpPr>
            <a:spLocks noChangeShapeType="1"/>
          </p:cNvSpPr>
          <p:nvPr/>
        </p:nvSpPr>
        <p:spPr bwMode="auto">
          <a:xfrm flipV="1">
            <a:off x="4225925" y="4298950"/>
            <a:ext cx="619125" cy="26035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1153" name="Arc 76">
            <a:extLst>
              <a:ext uri="{FF2B5EF4-FFF2-40B4-BE49-F238E27FC236}">
                <a16:creationId xmlns:a16="http://schemas.microsoft.com/office/drawing/2014/main" id="{B5EF4CE5-23F5-C7F7-D03B-DA441E9883C4}"/>
              </a:ext>
            </a:extLst>
          </p:cNvPr>
          <p:cNvSpPr>
            <a:spLocks noChangeArrowheads="1"/>
          </p:cNvSpPr>
          <p:nvPr/>
        </p:nvSpPr>
        <p:spPr bwMode="auto">
          <a:xfrm>
            <a:off x="2836863" y="4022725"/>
            <a:ext cx="287337" cy="428625"/>
          </a:xfrm>
          <a:custGeom>
            <a:avLst/>
            <a:gdLst>
              <a:gd name="T0" fmla="*/ -13 w 21600"/>
              <a:gd name="T1" fmla="*/ 0 h 21600"/>
              <a:gd name="T2" fmla="*/ 287337 w 21600"/>
              <a:gd name="T3" fmla="*/ 428625 h 21600"/>
              <a:gd name="T4" fmla="*/ -13 w 21600"/>
              <a:gd name="T5" fmla="*/ 0 h 21600"/>
              <a:gd name="T6" fmla="*/ 287337 w 21600"/>
              <a:gd name="T7" fmla="*/ 428625 h 21600"/>
              <a:gd name="T8" fmla="*/ 0 w 21600"/>
              <a:gd name="T9" fmla="*/ 42862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54" name="Arc 77">
            <a:extLst>
              <a:ext uri="{FF2B5EF4-FFF2-40B4-BE49-F238E27FC236}">
                <a16:creationId xmlns:a16="http://schemas.microsoft.com/office/drawing/2014/main" id="{0B0642AE-06D9-CB14-E452-D831B055A8E5}"/>
              </a:ext>
            </a:extLst>
          </p:cNvPr>
          <p:cNvSpPr>
            <a:spLocks noChangeArrowheads="1"/>
          </p:cNvSpPr>
          <p:nvPr/>
        </p:nvSpPr>
        <p:spPr bwMode="auto">
          <a:xfrm rot="5400000" flipV="1">
            <a:off x="4783931" y="4031457"/>
            <a:ext cx="430213" cy="361950"/>
          </a:xfrm>
          <a:custGeom>
            <a:avLst/>
            <a:gdLst>
              <a:gd name="T0" fmla="*/ -20 w 21600"/>
              <a:gd name="T1" fmla="*/ 0 h 21600"/>
              <a:gd name="T2" fmla="*/ 430213 w 21600"/>
              <a:gd name="T3" fmla="*/ 361950 h 21600"/>
              <a:gd name="T4" fmla="*/ -20 w 21600"/>
              <a:gd name="T5" fmla="*/ 0 h 21600"/>
              <a:gd name="T6" fmla="*/ 430213 w 21600"/>
              <a:gd name="T7" fmla="*/ 361950 h 21600"/>
              <a:gd name="T8" fmla="*/ 0 w 21600"/>
              <a:gd name="T9" fmla="*/ 36195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2DB5582A-1623-CAA9-A424-8140BD3EE4E9}"/>
              </a:ext>
            </a:extLst>
          </p:cNvPr>
          <p:cNvSpPr>
            <a:spLocks noGrp="1"/>
          </p:cNvSpPr>
          <p:nvPr>
            <p:ph type="sldNum" sz="quarter" idx="12"/>
          </p:nvPr>
        </p:nvSpPr>
        <p:spPr/>
        <p:txBody>
          <a:bodyPr/>
          <a:lstStyle/>
          <a:p>
            <a:fld id="{4093CC90-4002-504C-BD88-C9A1D374048E}" type="slidenum">
              <a:rPr lang="zh-CN" altLang="en-US" smtClean="0"/>
              <a:pPr/>
              <a:t>73</a:t>
            </a:fld>
            <a:endParaRPr lang="zh-CN" altLang="en-US" dirty="0"/>
          </a:p>
        </p:txBody>
      </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A0B51415-9A51-EA45-F519-E8653B7D1F2D}"/>
              </a:ext>
            </a:extLst>
          </p:cNvPr>
          <p:cNvSpPr>
            <a:spLocks noGrp="1" noChangeArrowheads="1"/>
          </p:cNvSpPr>
          <p:nvPr>
            <p:ph type="title"/>
          </p:nvPr>
        </p:nvSpPr>
        <p:spPr/>
        <p:txBody>
          <a:bodyPr/>
          <a:lstStyle/>
          <a:p>
            <a:pPr eaLnBrk="1" hangingPunct="1"/>
            <a:r>
              <a:rPr lang="zh-CN" altLang="en-US"/>
              <a:t>双缓冲（续）</a:t>
            </a:r>
          </a:p>
        </p:txBody>
      </p:sp>
      <p:sp>
        <p:nvSpPr>
          <p:cNvPr id="125955" name="Rectangle 3">
            <a:extLst>
              <a:ext uri="{FF2B5EF4-FFF2-40B4-BE49-F238E27FC236}">
                <a16:creationId xmlns:a16="http://schemas.microsoft.com/office/drawing/2014/main" id="{03D923CF-4FE5-AB19-4907-0599D8763849}"/>
              </a:ext>
            </a:extLst>
          </p:cNvPr>
          <p:cNvSpPr>
            <a:spLocks noGrp="1" noChangeArrowheads="1"/>
          </p:cNvSpPr>
          <p:nvPr>
            <p:ph idx="1"/>
          </p:nvPr>
        </p:nvSpPr>
        <p:spPr>
          <a:xfrm>
            <a:off x="684213" y="1273175"/>
            <a:ext cx="8118475" cy="4748213"/>
          </a:xfrm>
        </p:spPr>
        <p:txBody>
          <a:bodyPr>
            <a:normAutofit lnSpcReduction="10000"/>
          </a:bodyPr>
          <a:lstStyle/>
          <a:p>
            <a:pPr algn="just" eaLnBrk="1" hangingPunct="1"/>
            <a:r>
              <a:rPr lang="zh-CN" altLang="en-US" sz="2800"/>
              <a:t>在块设备输入时，可先将第一个缓冲区装满，之后便装填第二个缓冲区，与此同时</a:t>
            </a:r>
            <a:r>
              <a:rPr lang="en-US" altLang="zh-CN" sz="2800"/>
              <a:t>OS</a:t>
            </a:r>
            <a:r>
              <a:rPr lang="zh-CN" altLang="en-US" sz="2800"/>
              <a:t>可将第一个缓冲区中的数据传到用户区；当第一个缓冲区中的数据处理完后，若第二个缓冲区已装满，则处理机又可处理第二个缓冲区中的数据，而设备又可装填第一个缓冲区。输出与此类似。</a:t>
            </a:r>
          </a:p>
          <a:p>
            <a:pPr algn="just" eaLnBrk="1" hangingPunct="1"/>
            <a:r>
              <a:rPr lang="zh-CN" altLang="en-US" sz="2800"/>
              <a:t>在字符设备输入时，若采用行输入方式和双缓冲，则用户在输入完第一行后，</a:t>
            </a:r>
            <a:r>
              <a:rPr lang="en-US" altLang="zh-CN" sz="2800"/>
              <a:t>CPU</a:t>
            </a:r>
            <a:r>
              <a:rPr lang="zh-CN" altLang="en-US" sz="2800"/>
              <a:t>执行第一行中的命令，而用户可以继续向第二个缓冲区中输入一行数据。</a:t>
            </a:r>
          </a:p>
        </p:txBody>
      </p:sp>
      <p:sp>
        <p:nvSpPr>
          <p:cNvPr id="2" name="灯片编号占位符 1">
            <a:extLst>
              <a:ext uri="{FF2B5EF4-FFF2-40B4-BE49-F238E27FC236}">
                <a16:creationId xmlns:a16="http://schemas.microsoft.com/office/drawing/2014/main" id="{DEF4A4FA-2A80-EB0B-FE87-69868F871B7C}"/>
              </a:ext>
            </a:extLst>
          </p:cNvPr>
          <p:cNvSpPr>
            <a:spLocks noGrp="1"/>
          </p:cNvSpPr>
          <p:nvPr>
            <p:ph type="sldNum" sz="quarter" idx="12"/>
          </p:nvPr>
        </p:nvSpPr>
        <p:spPr/>
        <p:txBody>
          <a:bodyPr/>
          <a:lstStyle/>
          <a:p>
            <a:fld id="{4093CC90-4002-504C-BD88-C9A1D374048E}" type="slidenum">
              <a:rPr lang="zh-CN" altLang="en-US" smtClean="0"/>
              <a:pPr/>
              <a:t>74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checkerboard(across)">
                                      <p:cBhvr>
                                        <p:cTn id="7" dur="500"/>
                                        <p:tgtEl>
                                          <p:spTgt spid="125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checkerboard(across)">
                                      <p:cBhvr>
                                        <p:cTn id="12" dur="500"/>
                                        <p:tgtEl>
                                          <p:spTgt spid="1259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A8BEFC48-5CE6-AFDB-D35D-5581F4011608}"/>
              </a:ext>
            </a:extLst>
          </p:cNvPr>
          <p:cNvSpPr>
            <a:spLocks noGrp="1" noChangeArrowheads="1"/>
          </p:cNvSpPr>
          <p:nvPr>
            <p:ph type="title"/>
          </p:nvPr>
        </p:nvSpPr>
        <p:spPr/>
        <p:txBody>
          <a:bodyPr/>
          <a:lstStyle/>
          <a:p>
            <a:pPr eaLnBrk="1" hangingPunct="1"/>
            <a:r>
              <a:rPr lang="zh-CN" altLang="en-US"/>
              <a:t>循环缓冲</a:t>
            </a:r>
          </a:p>
        </p:txBody>
      </p:sp>
      <p:sp>
        <p:nvSpPr>
          <p:cNvPr id="93186" name="Rectangle 3">
            <a:extLst>
              <a:ext uri="{FF2B5EF4-FFF2-40B4-BE49-F238E27FC236}">
                <a16:creationId xmlns:a16="http://schemas.microsoft.com/office/drawing/2014/main" id="{3BB32633-87CD-565D-36DC-2784DAEFCDA5}"/>
              </a:ext>
            </a:extLst>
          </p:cNvPr>
          <p:cNvSpPr>
            <a:spLocks noGrp="1" noChangeArrowheads="1"/>
          </p:cNvSpPr>
          <p:nvPr>
            <p:ph idx="1"/>
          </p:nvPr>
        </p:nvSpPr>
        <p:spPr>
          <a:xfrm>
            <a:off x="609600" y="1268413"/>
            <a:ext cx="8305800" cy="2438400"/>
          </a:xfrm>
        </p:spPr>
        <p:txBody>
          <a:bodyPr/>
          <a:lstStyle/>
          <a:p>
            <a:pPr algn="just" eaLnBrk="1" hangingPunct="1"/>
            <a:r>
              <a:rPr lang="zh-CN" altLang="en-US"/>
              <a:t>若输入输出速度与数据处理速度相当，则双缓冲能获得较好的效果；若速度相差较大，则可以通过增加缓冲区的数量来改善性能。</a:t>
            </a:r>
          </a:p>
        </p:txBody>
      </p:sp>
      <p:sp>
        <p:nvSpPr>
          <p:cNvPr id="93187" name="AutoShape 90">
            <a:extLst>
              <a:ext uri="{FF2B5EF4-FFF2-40B4-BE49-F238E27FC236}">
                <a16:creationId xmlns:a16="http://schemas.microsoft.com/office/drawing/2014/main" id="{16949E69-25BC-CA82-B835-083753ABA5B1}"/>
              </a:ext>
            </a:extLst>
          </p:cNvPr>
          <p:cNvSpPr>
            <a:spLocks noChangeArrowheads="1"/>
          </p:cNvSpPr>
          <p:nvPr/>
        </p:nvSpPr>
        <p:spPr bwMode="auto">
          <a:xfrm>
            <a:off x="2528888" y="4087813"/>
            <a:ext cx="3559175" cy="1354137"/>
          </a:xfrm>
          <a:prstGeom prst="roundRect">
            <a:avLst>
              <a:gd name="adj" fmla="val 16667"/>
            </a:avLst>
          </a:prstGeom>
          <a:solidFill>
            <a:srgbClr val="FFFFFF"/>
          </a:solidFill>
          <a:ln w="25400">
            <a:solidFill>
              <a:srgbClr val="000000"/>
            </a:solidFill>
            <a:round/>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88" name="Rectangle 91">
            <a:extLst>
              <a:ext uri="{FF2B5EF4-FFF2-40B4-BE49-F238E27FC236}">
                <a16:creationId xmlns:a16="http://schemas.microsoft.com/office/drawing/2014/main" id="{393E7E4B-DC3B-FD54-472E-608756262F37}"/>
              </a:ext>
            </a:extLst>
          </p:cNvPr>
          <p:cNvSpPr>
            <a:spLocks noChangeArrowheads="1"/>
          </p:cNvSpPr>
          <p:nvPr/>
        </p:nvSpPr>
        <p:spPr bwMode="auto">
          <a:xfrm>
            <a:off x="3194050" y="3581400"/>
            <a:ext cx="116363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操作系统</a:t>
            </a:r>
          </a:p>
        </p:txBody>
      </p:sp>
      <p:sp>
        <p:nvSpPr>
          <p:cNvPr id="93189" name="Rectangle 92">
            <a:extLst>
              <a:ext uri="{FF2B5EF4-FFF2-40B4-BE49-F238E27FC236}">
                <a16:creationId xmlns:a16="http://schemas.microsoft.com/office/drawing/2014/main" id="{EB0AB66D-0B04-3C6D-4CE8-C3249F86108B}"/>
              </a:ext>
            </a:extLst>
          </p:cNvPr>
          <p:cNvSpPr>
            <a:spLocks noChangeArrowheads="1"/>
          </p:cNvSpPr>
          <p:nvPr/>
        </p:nvSpPr>
        <p:spPr bwMode="auto">
          <a:xfrm>
            <a:off x="3509963" y="4660900"/>
            <a:ext cx="446087" cy="290513"/>
          </a:xfrm>
          <a:prstGeom prst="rect">
            <a:avLst/>
          </a:prstGeom>
          <a:solidFill>
            <a:srgbClr val="C0C0C0"/>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90" name="Rectangle 93">
            <a:extLst>
              <a:ext uri="{FF2B5EF4-FFF2-40B4-BE49-F238E27FC236}">
                <a16:creationId xmlns:a16="http://schemas.microsoft.com/office/drawing/2014/main" id="{5BDC23BD-DFB9-965C-81F1-9668A4AF768B}"/>
              </a:ext>
            </a:extLst>
          </p:cNvPr>
          <p:cNvSpPr>
            <a:spLocks noChangeArrowheads="1"/>
          </p:cNvSpPr>
          <p:nvPr/>
        </p:nvSpPr>
        <p:spPr bwMode="auto">
          <a:xfrm>
            <a:off x="533400" y="4522788"/>
            <a:ext cx="10477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I/O</a:t>
            </a:r>
            <a:r>
              <a:rPr lang="zh-CN" altLang="en-US" sz="2000">
                <a:latin typeface="Times New Roman" panose="02020603050405020304" pitchFamily="18" charset="0"/>
              </a:rPr>
              <a:t>设备</a:t>
            </a:r>
          </a:p>
        </p:txBody>
      </p:sp>
      <p:sp>
        <p:nvSpPr>
          <p:cNvPr id="93191" name="Rectangle 94">
            <a:extLst>
              <a:ext uri="{FF2B5EF4-FFF2-40B4-BE49-F238E27FC236}">
                <a16:creationId xmlns:a16="http://schemas.microsoft.com/office/drawing/2014/main" id="{A600F045-D6DC-C719-3D5F-52550F9B12E8}"/>
              </a:ext>
            </a:extLst>
          </p:cNvPr>
          <p:cNvSpPr>
            <a:spLocks noChangeArrowheads="1"/>
          </p:cNvSpPr>
          <p:nvPr/>
        </p:nvSpPr>
        <p:spPr bwMode="auto">
          <a:xfrm>
            <a:off x="1631950" y="4294188"/>
            <a:ext cx="7810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输入</a:t>
            </a:r>
          </a:p>
        </p:txBody>
      </p:sp>
      <p:sp>
        <p:nvSpPr>
          <p:cNvPr id="93192" name="AutoShape 95">
            <a:extLst>
              <a:ext uri="{FF2B5EF4-FFF2-40B4-BE49-F238E27FC236}">
                <a16:creationId xmlns:a16="http://schemas.microsoft.com/office/drawing/2014/main" id="{AD955174-8F7B-7546-5D03-AFC346D57830}"/>
              </a:ext>
            </a:extLst>
          </p:cNvPr>
          <p:cNvSpPr>
            <a:spLocks noChangeArrowheads="1"/>
          </p:cNvSpPr>
          <p:nvPr/>
        </p:nvSpPr>
        <p:spPr bwMode="auto">
          <a:xfrm>
            <a:off x="6902450" y="4198938"/>
            <a:ext cx="1479550" cy="1195387"/>
          </a:xfrm>
          <a:prstGeom prst="roundRect">
            <a:avLst>
              <a:gd name="adj" fmla="val 16667"/>
            </a:avLst>
          </a:prstGeom>
          <a:solidFill>
            <a:srgbClr val="FFFFFF"/>
          </a:solidFill>
          <a:ln w="25400">
            <a:solidFill>
              <a:srgbClr val="000000"/>
            </a:solidFill>
            <a:round/>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93" name="Rectangle 96">
            <a:extLst>
              <a:ext uri="{FF2B5EF4-FFF2-40B4-BE49-F238E27FC236}">
                <a16:creationId xmlns:a16="http://schemas.microsoft.com/office/drawing/2014/main" id="{FD55BF9E-55F6-23E5-6792-9A501850B7FB}"/>
              </a:ext>
            </a:extLst>
          </p:cNvPr>
          <p:cNvSpPr>
            <a:spLocks noChangeArrowheads="1"/>
          </p:cNvSpPr>
          <p:nvPr/>
        </p:nvSpPr>
        <p:spPr bwMode="auto">
          <a:xfrm>
            <a:off x="7334250" y="4645025"/>
            <a:ext cx="631825" cy="287338"/>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94" name="Line 97">
            <a:extLst>
              <a:ext uri="{FF2B5EF4-FFF2-40B4-BE49-F238E27FC236}">
                <a16:creationId xmlns:a16="http://schemas.microsoft.com/office/drawing/2014/main" id="{1E7BCBE8-FAB0-C638-68D1-042EDF536E8C}"/>
              </a:ext>
            </a:extLst>
          </p:cNvPr>
          <p:cNvSpPr>
            <a:spLocks noChangeShapeType="1"/>
          </p:cNvSpPr>
          <p:nvPr/>
        </p:nvSpPr>
        <p:spPr bwMode="auto">
          <a:xfrm>
            <a:off x="6135688" y="4775200"/>
            <a:ext cx="119538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195" name="Rectangle 98">
            <a:extLst>
              <a:ext uri="{FF2B5EF4-FFF2-40B4-BE49-F238E27FC236}">
                <a16:creationId xmlns:a16="http://schemas.microsoft.com/office/drawing/2014/main" id="{48AA919A-6FC9-C9CF-793A-E6AD163152C8}"/>
              </a:ext>
            </a:extLst>
          </p:cNvPr>
          <p:cNvSpPr>
            <a:spLocks noChangeArrowheads="1"/>
          </p:cNvSpPr>
          <p:nvPr/>
        </p:nvSpPr>
        <p:spPr bwMode="auto">
          <a:xfrm>
            <a:off x="7085013" y="3733800"/>
            <a:ext cx="1131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用户进程</a:t>
            </a:r>
          </a:p>
        </p:txBody>
      </p:sp>
      <p:sp>
        <p:nvSpPr>
          <p:cNvPr id="93196" name="Rectangle 99">
            <a:extLst>
              <a:ext uri="{FF2B5EF4-FFF2-40B4-BE49-F238E27FC236}">
                <a16:creationId xmlns:a16="http://schemas.microsoft.com/office/drawing/2014/main" id="{457D7EB5-F8CB-C4E3-A28C-61340C449298}"/>
              </a:ext>
            </a:extLst>
          </p:cNvPr>
          <p:cNvSpPr>
            <a:spLocks noChangeArrowheads="1"/>
          </p:cNvSpPr>
          <p:nvPr/>
        </p:nvSpPr>
        <p:spPr bwMode="auto">
          <a:xfrm>
            <a:off x="6159500" y="4343400"/>
            <a:ext cx="7810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2000">
                <a:latin typeface="Times New Roman" panose="02020603050405020304" pitchFamily="18" charset="0"/>
              </a:rPr>
              <a:t>传送</a:t>
            </a:r>
          </a:p>
        </p:txBody>
      </p:sp>
      <p:sp>
        <p:nvSpPr>
          <p:cNvPr id="93197" name="Rectangle 101">
            <a:extLst>
              <a:ext uri="{FF2B5EF4-FFF2-40B4-BE49-F238E27FC236}">
                <a16:creationId xmlns:a16="http://schemas.microsoft.com/office/drawing/2014/main" id="{B296549D-9988-4C40-0E1C-74F450D73636}"/>
              </a:ext>
            </a:extLst>
          </p:cNvPr>
          <p:cNvSpPr>
            <a:spLocks noChangeArrowheads="1"/>
          </p:cNvSpPr>
          <p:nvPr/>
        </p:nvSpPr>
        <p:spPr bwMode="auto">
          <a:xfrm>
            <a:off x="4324350" y="4660900"/>
            <a:ext cx="446088" cy="290513"/>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98" name="Rectangle 102">
            <a:extLst>
              <a:ext uri="{FF2B5EF4-FFF2-40B4-BE49-F238E27FC236}">
                <a16:creationId xmlns:a16="http://schemas.microsoft.com/office/drawing/2014/main" id="{E3C693C9-2DA2-6C9C-08AD-5562969AA337}"/>
              </a:ext>
            </a:extLst>
          </p:cNvPr>
          <p:cNvSpPr>
            <a:spLocks noChangeArrowheads="1"/>
          </p:cNvSpPr>
          <p:nvPr/>
        </p:nvSpPr>
        <p:spPr bwMode="auto">
          <a:xfrm>
            <a:off x="2711450" y="4660900"/>
            <a:ext cx="446088" cy="290513"/>
          </a:xfrm>
          <a:prstGeom prst="rect">
            <a:avLst/>
          </a:prstGeom>
          <a:solidFill>
            <a:srgbClr val="C0C0C0"/>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199" name="Line 103">
            <a:extLst>
              <a:ext uri="{FF2B5EF4-FFF2-40B4-BE49-F238E27FC236}">
                <a16:creationId xmlns:a16="http://schemas.microsoft.com/office/drawing/2014/main" id="{0571C2F2-A18D-738D-5C5D-DCCC9C31EE07}"/>
              </a:ext>
            </a:extLst>
          </p:cNvPr>
          <p:cNvSpPr>
            <a:spLocks noChangeShapeType="1"/>
          </p:cNvSpPr>
          <p:nvPr/>
        </p:nvSpPr>
        <p:spPr bwMode="auto">
          <a:xfrm>
            <a:off x="1500188" y="4756150"/>
            <a:ext cx="96837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200" name="Rectangle 104">
            <a:extLst>
              <a:ext uri="{FF2B5EF4-FFF2-40B4-BE49-F238E27FC236}">
                <a16:creationId xmlns:a16="http://schemas.microsoft.com/office/drawing/2014/main" id="{6B41A59F-3762-9321-6600-C268FC977E7E}"/>
              </a:ext>
            </a:extLst>
          </p:cNvPr>
          <p:cNvSpPr>
            <a:spLocks noChangeArrowheads="1"/>
          </p:cNvSpPr>
          <p:nvPr/>
        </p:nvSpPr>
        <p:spPr bwMode="auto">
          <a:xfrm>
            <a:off x="5138738" y="4660900"/>
            <a:ext cx="446087" cy="290513"/>
          </a:xfrm>
          <a:prstGeom prst="rect">
            <a:avLst/>
          </a:prstGeom>
          <a:solidFill>
            <a:srgbClr val="FFFFFF"/>
          </a:solidFill>
          <a:ln w="25400">
            <a:solidFill>
              <a:srgbClr val="000000"/>
            </a:solidFill>
            <a:miter lim="800000"/>
            <a:headEnd/>
            <a:tailEnd/>
          </a:ln>
        </p:spPr>
        <p:txBody>
          <a:bodyPr lIns="0" r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3201" name="Line 105">
            <a:extLst>
              <a:ext uri="{FF2B5EF4-FFF2-40B4-BE49-F238E27FC236}">
                <a16:creationId xmlns:a16="http://schemas.microsoft.com/office/drawing/2014/main" id="{A34C3088-3F81-00F8-A29D-808863D91705}"/>
              </a:ext>
            </a:extLst>
          </p:cNvPr>
          <p:cNvSpPr>
            <a:spLocks noChangeShapeType="1"/>
          </p:cNvSpPr>
          <p:nvPr/>
        </p:nvSpPr>
        <p:spPr bwMode="auto">
          <a:xfrm flipV="1">
            <a:off x="3957638" y="4799013"/>
            <a:ext cx="35083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202" name="Line 106">
            <a:extLst>
              <a:ext uri="{FF2B5EF4-FFF2-40B4-BE49-F238E27FC236}">
                <a16:creationId xmlns:a16="http://schemas.microsoft.com/office/drawing/2014/main" id="{E9C30018-FB6D-7E1E-7DC6-52B9A6F28043}"/>
              </a:ext>
            </a:extLst>
          </p:cNvPr>
          <p:cNvSpPr>
            <a:spLocks noChangeShapeType="1"/>
          </p:cNvSpPr>
          <p:nvPr/>
        </p:nvSpPr>
        <p:spPr bwMode="auto">
          <a:xfrm flipV="1">
            <a:off x="3160713" y="4799013"/>
            <a:ext cx="34925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203" name="Line 107">
            <a:extLst>
              <a:ext uri="{FF2B5EF4-FFF2-40B4-BE49-F238E27FC236}">
                <a16:creationId xmlns:a16="http://schemas.microsoft.com/office/drawing/2014/main" id="{DA1D0BDF-4841-4704-00BD-A3E162313860}"/>
              </a:ext>
            </a:extLst>
          </p:cNvPr>
          <p:cNvSpPr>
            <a:spLocks noChangeShapeType="1"/>
          </p:cNvSpPr>
          <p:nvPr/>
        </p:nvSpPr>
        <p:spPr bwMode="auto">
          <a:xfrm flipV="1">
            <a:off x="4773613" y="4799013"/>
            <a:ext cx="34925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204" name="Line 108">
            <a:extLst>
              <a:ext uri="{FF2B5EF4-FFF2-40B4-BE49-F238E27FC236}">
                <a16:creationId xmlns:a16="http://schemas.microsoft.com/office/drawing/2014/main" id="{6D8FFDAB-CAF7-AA5D-1907-0ABAD86765DD}"/>
              </a:ext>
            </a:extLst>
          </p:cNvPr>
          <p:cNvSpPr>
            <a:spLocks noChangeShapeType="1"/>
          </p:cNvSpPr>
          <p:nvPr/>
        </p:nvSpPr>
        <p:spPr bwMode="auto">
          <a:xfrm>
            <a:off x="5372100" y="4959350"/>
            <a:ext cx="0" cy="285750"/>
          </a:xfrm>
          <a:prstGeom prst="line">
            <a:avLst/>
          </a:prstGeom>
          <a:noFill/>
          <a:ln w="25400">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93205" name="Line 109">
            <a:extLst>
              <a:ext uri="{FF2B5EF4-FFF2-40B4-BE49-F238E27FC236}">
                <a16:creationId xmlns:a16="http://schemas.microsoft.com/office/drawing/2014/main" id="{E2E44FDA-D4AB-6FB4-568C-B079DD110216}"/>
              </a:ext>
            </a:extLst>
          </p:cNvPr>
          <p:cNvSpPr>
            <a:spLocks noChangeShapeType="1"/>
          </p:cNvSpPr>
          <p:nvPr/>
        </p:nvSpPr>
        <p:spPr bwMode="auto">
          <a:xfrm flipH="1" flipV="1">
            <a:off x="2927350" y="5245100"/>
            <a:ext cx="2444750" cy="0"/>
          </a:xfrm>
          <a:prstGeom prst="line">
            <a:avLst/>
          </a:prstGeom>
          <a:noFill/>
          <a:ln w="25400">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93206" name="Line 110">
            <a:extLst>
              <a:ext uri="{FF2B5EF4-FFF2-40B4-BE49-F238E27FC236}">
                <a16:creationId xmlns:a16="http://schemas.microsoft.com/office/drawing/2014/main" id="{678655BA-3420-70BF-EF86-122FEE36D073}"/>
              </a:ext>
            </a:extLst>
          </p:cNvPr>
          <p:cNvSpPr>
            <a:spLocks noChangeShapeType="1"/>
          </p:cNvSpPr>
          <p:nvPr/>
        </p:nvSpPr>
        <p:spPr bwMode="auto">
          <a:xfrm flipV="1">
            <a:off x="2927350" y="4943475"/>
            <a:ext cx="0" cy="3016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3207" name="Rectangle 111">
            <a:extLst>
              <a:ext uri="{FF2B5EF4-FFF2-40B4-BE49-F238E27FC236}">
                <a16:creationId xmlns:a16="http://schemas.microsoft.com/office/drawing/2014/main" id="{F59DDF6F-15B5-FE88-4E6E-EAEEC9E3019D}"/>
              </a:ext>
            </a:extLst>
          </p:cNvPr>
          <p:cNvSpPr>
            <a:spLocks noChangeArrowheads="1"/>
          </p:cNvSpPr>
          <p:nvPr/>
        </p:nvSpPr>
        <p:spPr bwMode="auto">
          <a:xfrm>
            <a:off x="4567238" y="4071938"/>
            <a:ext cx="265112"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in</a:t>
            </a:r>
          </a:p>
        </p:txBody>
      </p:sp>
      <p:sp>
        <p:nvSpPr>
          <p:cNvPr id="93208" name="Line 112">
            <a:extLst>
              <a:ext uri="{FF2B5EF4-FFF2-40B4-BE49-F238E27FC236}">
                <a16:creationId xmlns:a16="http://schemas.microsoft.com/office/drawing/2014/main" id="{2C54BC52-1216-5E30-2D0D-E69818F3177F}"/>
              </a:ext>
            </a:extLst>
          </p:cNvPr>
          <p:cNvSpPr>
            <a:spLocks noChangeShapeType="1"/>
          </p:cNvSpPr>
          <p:nvPr/>
        </p:nvSpPr>
        <p:spPr bwMode="auto">
          <a:xfrm>
            <a:off x="4403725" y="4271963"/>
            <a:ext cx="85725" cy="36036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3209" name="Rectangle 113">
            <a:extLst>
              <a:ext uri="{FF2B5EF4-FFF2-40B4-BE49-F238E27FC236}">
                <a16:creationId xmlns:a16="http://schemas.microsoft.com/office/drawing/2014/main" id="{CD07D482-48D0-3BF5-CC5B-2D24DA316834}"/>
              </a:ext>
            </a:extLst>
          </p:cNvPr>
          <p:cNvSpPr>
            <a:spLocks noChangeArrowheads="1"/>
          </p:cNvSpPr>
          <p:nvPr/>
        </p:nvSpPr>
        <p:spPr bwMode="auto">
          <a:xfrm>
            <a:off x="2989263" y="4083050"/>
            <a:ext cx="4635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out</a:t>
            </a:r>
          </a:p>
        </p:txBody>
      </p:sp>
      <p:sp>
        <p:nvSpPr>
          <p:cNvPr id="93210" name="Line 114">
            <a:extLst>
              <a:ext uri="{FF2B5EF4-FFF2-40B4-BE49-F238E27FC236}">
                <a16:creationId xmlns:a16="http://schemas.microsoft.com/office/drawing/2014/main" id="{2F2DCE30-F8EC-13B7-309A-179ACD925B70}"/>
              </a:ext>
            </a:extLst>
          </p:cNvPr>
          <p:cNvSpPr>
            <a:spLocks noChangeShapeType="1"/>
          </p:cNvSpPr>
          <p:nvPr/>
        </p:nvSpPr>
        <p:spPr bwMode="auto">
          <a:xfrm>
            <a:off x="2859088" y="4287838"/>
            <a:ext cx="82550" cy="36036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0C49A65F-0494-A081-6D52-7840915362B4}"/>
              </a:ext>
            </a:extLst>
          </p:cNvPr>
          <p:cNvSpPr>
            <a:spLocks noGrp="1"/>
          </p:cNvSpPr>
          <p:nvPr>
            <p:ph type="sldNum" sz="quarter" idx="12"/>
          </p:nvPr>
        </p:nvSpPr>
        <p:spPr/>
        <p:txBody>
          <a:bodyPr/>
          <a:lstStyle/>
          <a:p>
            <a:fld id="{4093CC90-4002-504C-BD88-C9A1D374048E}" type="slidenum">
              <a:rPr lang="zh-CN" altLang="en-US" smtClean="0"/>
              <a:pPr/>
              <a:t>75</a:t>
            </a:fld>
            <a:endParaRPr lang="zh-CN" altLang="en-US" dirty="0"/>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CE9F37FD-7FCB-A424-96A9-819722AB4DC5}"/>
              </a:ext>
            </a:extLst>
          </p:cNvPr>
          <p:cNvSpPr>
            <a:spLocks noGrp="1" noChangeArrowheads="1"/>
          </p:cNvSpPr>
          <p:nvPr>
            <p:ph type="title"/>
          </p:nvPr>
        </p:nvSpPr>
        <p:spPr/>
        <p:txBody>
          <a:bodyPr/>
          <a:lstStyle/>
          <a:p>
            <a:pPr eaLnBrk="1" hangingPunct="1"/>
            <a:r>
              <a:rPr lang="zh-CN" altLang="en-US"/>
              <a:t>循环缓冲的组成</a:t>
            </a:r>
          </a:p>
        </p:txBody>
      </p:sp>
      <p:sp>
        <p:nvSpPr>
          <p:cNvPr id="131075" name="Rectangle 3">
            <a:extLst>
              <a:ext uri="{FF2B5EF4-FFF2-40B4-BE49-F238E27FC236}">
                <a16:creationId xmlns:a16="http://schemas.microsoft.com/office/drawing/2014/main" id="{0B1F2F79-4FF9-78CA-01A6-8691F577FBB5}"/>
              </a:ext>
            </a:extLst>
          </p:cNvPr>
          <p:cNvSpPr>
            <a:spLocks noGrp="1" noChangeArrowheads="1"/>
          </p:cNvSpPr>
          <p:nvPr>
            <p:ph idx="1"/>
          </p:nvPr>
        </p:nvSpPr>
        <p:spPr>
          <a:xfrm>
            <a:off x="684213" y="1196975"/>
            <a:ext cx="8118475" cy="4895850"/>
          </a:xfrm>
        </p:spPr>
        <p:txBody>
          <a:bodyPr/>
          <a:lstStyle/>
          <a:p>
            <a:pPr eaLnBrk="1" hangingPunct="1">
              <a:lnSpc>
                <a:spcPct val="90000"/>
              </a:lnSpc>
            </a:pPr>
            <a:r>
              <a:rPr lang="zh-CN" altLang="en-US"/>
              <a:t>循环缓冲中包含多个大小相等的缓冲区，每个缓冲区中有一个指针指向下一个缓冲区，最后一个缓冲区的指针指向第一个缓冲区，由此构成一个环形。</a:t>
            </a:r>
          </a:p>
          <a:p>
            <a:pPr eaLnBrk="1" hangingPunct="1">
              <a:lnSpc>
                <a:spcPct val="90000"/>
              </a:lnSpc>
            </a:pPr>
            <a:r>
              <a:rPr lang="zh-CN" altLang="en-US"/>
              <a:t>循环缓冲用于输入/输出时，还需要两个指针</a:t>
            </a:r>
            <a:r>
              <a:rPr lang="en-US" altLang="zh-CN"/>
              <a:t>in</a:t>
            </a:r>
            <a:r>
              <a:rPr lang="zh-CN" altLang="en-US"/>
              <a:t>和</a:t>
            </a:r>
            <a:r>
              <a:rPr lang="en-US" altLang="zh-CN"/>
              <a:t>out。</a:t>
            </a:r>
          </a:p>
          <a:p>
            <a:pPr eaLnBrk="1" hangingPunct="1">
              <a:lnSpc>
                <a:spcPct val="90000"/>
              </a:lnSpc>
            </a:pPr>
            <a:r>
              <a:rPr lang="zh-CN" altLang="en-US"/>
              <a:t>对于输入而言，</a:t>
            </a:r>
            <a:r>
              <a:rPr lang="en-US" altLang="zh-CN"/>
              <a:t>in</a:t>
            </a:r>
            <a:r>
              <a:rPr lang="zh-CN" altLang="en-US"/>
              <a:t>指向下一个可用的空缓冲区，</a:t>
            </a:r>
            <a:r>
              <a:rPr lang="en-US" altLang="zh-CN"/>
              <a:t>out</a:t>
            </a:r>
            <a:r>
              <a:rPr lang="zh-CN" altLang="en-US"/>
              <a:t>指向下一个可以提取数据的满缓冲区。显然，对输出而言正好相反。</a:t>
            </a:r>
          </a:p>
        </p:txBody>
      </p:sp>
      <p:sp>
        <p:nvSpPr>
          <p:cNvPr id="2" name="灯片编号占位符 1">
            <a:extLst>
              <a:ext uri="{FF2B5EF4-FFF2-40B4-BE49-F238E27FC236}">
                <a16:creationId xmlns:a16="http://schemas.microsoft.com/office/drawing/2014/main" id="{E4B35AFD-AA61-5739-0721-E96929854AD1}"/>
              </a:ext>
            </a:extLst>
          </p:cNvPr>
          <p:cNvSpPr>
            <a:spLocks noGrp="1"/>
          </p:cNvSpPr>
          <p:nvPr>
            <p:ph type="sldNum" sz="quarter" idx="12"/>
          </p:nvPr>
        </p:nvSpPr>
        <p:spPr/>
        <p:txBody>
          <a:bodyPr/>
          <a:lstStyle/>
          <a:p>
            <a:fld id="{4093CC90-4002-504C-BD88-C9A1D374048E}" type="slidenum">
              <a:rPr lang="zh-CN" altLang="en-US" smtClean="0"/>
              <a:pPr/>
              <a:t>76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checkerboard(across)">
                                      <p:cBhvr>
                                        <p:cTn id="7" dur="500"/>
                                        <p:tgtEl>
                                          <p:spTgt spid="131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31075">
                                            <p:txEl>
                                              <p:pRg st="1" end="1"/>
                                            </p:txEl>
                                          </p:spTgt>
                                        </p:tgtEl>
                                        <p:attrNameLst>
                                          <p:attrName>style.visibility</p:attrName>
                                        </p:attrNameLst>
                                      </p:cBhvr>
                                      <p:to>
                                        <p:strVal val="visible"/>
                                      </p:to>
                                    </p:set>
                                    <p:animEffect transition="in" filter="checkerboard(across)">
                                      <p:cBhvr>
                                        <p:cTn id="12" dur="500"/>
                                        <p:tgtEl>
                                          <p:spTgt spid="131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31075">
                                            <p:txEl>
                                              <p:pRg st="2" end="2"/>
                                            </p:txEl>
                                          </p:spTgt>
                                        </p:tgtEl>
                                        <p:attrNameLst>
                                          <p:attrName>style.visibility</p:attrName>
                                        </p:attrNameLst>
                                      </p:cBhvr>
                                      <p:to>
                                        <p:strVal val="visible"/>
                                      </p:to>
                                    </p:set>
                                    <p:animEffect transition="in" filter="checkerboard(across)">
                                      <p:cBhvr>
                                        <p:cTn id="17" dur="500"/>
                                        <p:tgtEl>
                                          <p:spTgt spid="131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3B70D97C-68F5-F463-7A5C-89806DAE4D40}"/>
              </a:ext>
            </a:extLst>
          </p:cNvPr>
          <p:cNvSpPr>
            <a:spLocks noGrp="1" noChangeArrowheads="1"/>
          </p:cNvSpPr>
          <p:nvPr>
            <p:ph type="title"/>
          </p:nvPr>
        </p:nvSpPr>
        <p:spPr/>
        <p:txBody>
          <a:bodyPr/>
          <a:lstStyle/>
          <a:p>
            <a:pPr eaLnBrk="1" hangingPunct="1"/>
            <a:r>
              <a:rPr lang="zh-CN" altLang="en-US"/>
              <a:t>缓冲池</a:t>
            </a:r>
          </a:p>
        </p:txBody>
      </p:sp>
      <p:sp>
        <p:nvSpPr>
          <p:cNvPr id="135171" name="Rectangle 3">
            <a:extLst>
              <a:ext uri="{FF2B5EF4-FFF2-40B4-BE49-F238E27FC236}">
                <a16:creationId xmlns:a16="http://schemas.microsoft.com/office/drawing/2014/main" id="{08ED12B3-4F9F-8199-9356-BC637B94BDCC}"/>
              </a:ext>
            </a:extLst>
          </p:cNvPr>
          <p:cNvSpPr>
            <a:spLocks noGrp="1" noChangeArrowheads="1"/>
          </p:cNvSpPr>
          <p:nvPr>
            <p:ph idx="1"/>
          </p:nvPr>
        </p:nvSpPr>
        <p:spPr>
          <a:xfrm>
            <a:off x="762000" y="1268413"/>
            <a:ext cx="8193088" cy="4114800"/>
          </a:xfrm>
        </p:spPr>
        <p:txBody>
          <a:bodyPr/>
          <a:lstStyle/>
          <a:p>
            <a:pPr algn="just" eaLnBrk="1" hangingPunct="1"/>
            <a:r>
              <a:rPr lang="zh-CN" altLang="en-US"/>
              <a:t>循环缓冲适用于合作进程，当系统较大且共享缓冲区的进程较多时，这要消耗大量内存。目前广泛使用的是公用缓冲池。</a:t>
            </a:r>
          </a:p>
          <a:p>
            <a:pPr algn="just" eaLnBrk="1" hangingPunct="1"/>
            <a:r>
              <a:rPr lang="zh-CN" altLang="en-US"/>
              <a:t>缓冲池由多个缓冲区组成，其中的缓冲区可供多个进程共享，既能用于输入又能用于输出。 </a:t>
            </a:r>
          </a:p>
        </p:txBody>
      </p:sp>
      <p:sp>
        <p:nvSpPr>
          <p:cNvPr id="2" name="灯片编号占位符 1">
            <a:extLst>
              <a:ext uri="{FF2B5EF4-FFF2-40B4-BE49-F238E27FC236}">
                <a16:creationId xmlns:a16="http://schemas.microsoft.com/office/drawing/2014/main" id="{324C3C1A-D505-6523-3C09-A0C62B67947D}"/>
              </a:ext>
            </a:extLst>
          </p:cNvPr>
          <p:cNvSpPr>
            <a:spLocks noGrp="1"/>
          </p:cNvSpPr>
          <p:nvPr>
            <p:ph type="sldNum" sz="quarter" idx="12"/>
          </p:nvPr>
        </p:nvSpPr>
        <p:spPr/>
        <p:txBody>
          <a:bodyPr/>
          <a:lstStyle/>
          <a:p>
            <a:fld id="{4093CC90-4002-504C-BD88-C9A1D374048E}" type="slidenum">
              <a:rPr lang="zh-CN" altLang="en-US" smtClean="0"/>
              <a:pPr/>
              <a:t>77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checkerboard(across)">
                                      <p:cBhvr>
                                        <p:cTn id="7" dur="500"/>
                                        <p:tgtEl>
                                          <p:spTgt spid="135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checkerboard(across)">
                                      <p:cBhvr>
                                        <p:cTn id="12" dur="500"/>
                                        <p:tgtEl>
                                          <p:spTgt spid="1351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701338FF-957E-7750-7996-C5F62CDC1D58}"/>
              </a:ext>
            </a:extLst>
          </p:cNvPr>
          <p:cNvSpPr>
            <a:spLocks noGrp="1" noChangeArrowheads="1"/>
          </p:cNvSpPr>
          <p:nvPr>
            <p:ph type="title"/>
          </p:nvPr>
        </p:nvSpPr>
        <p:spPr/>
        <p:txBody>
          <a:bodyPr/>
          <a:lstStyle/>
          <a:p>
            <a:pPr eaLnBrk="1" hangingPunct="1"/>
            <a:r>
              <a:rPr lang="zh-CN" altLang="en-US"/>
              <a:t>缓冲池的构成</a:t>
            </a:r>
          </a:p>
        </p:txBody>
      </p:sp>
      <p:sp>
        <p:nvSpPr>
          <p:cNvPr id="136195" name="Rectangle 3">
            <a:extLst>
              <a:ext uri="{FF2B5EF4-FFF2-40B4-BE49-F238E27FC236}">
                <a16:creationId xmlns:a16="http://schemas.microsoft.com/office/drawing/2014/main" id="{E94A3A9D-388D-422E-AEAA-6992BF74F22D}"/>
              </a:ext>
            </a:extLst>
          </p:cNvPr>
          <p:cNvSpPr>
            <a:spLocks noGrp="1" noChangeArrowheads="1"/>
          </p:cNvSpPr>
          <p:nvPr>
            <p:ph idx="1"/>
          </p:nvPr>
        </p:nvSpPr>
        <p:spPr>
          <a:xfrm>
            <a:off x="684213" y="1196975"/>
            <a:ext cx="8135937" cy="4852988"/>
          </a:xfrm>
        </p:spPr>
        <p:txBody>
          <a:bodyPr/>
          <a:lstStyle/>
          <a:p>
            <a:pPr algn="just" eaLnBrk="1" hangingPunct="1">
              <a:lnSpc>
                <a:spcPct val="90000"/>
              </a:lnSpc>
            </a:pPr>
            <a:r>
              <a:rPr lang="zh-CN" altLang="en-US"/>
              <a:t>缓冲池中有三种类型的缓冲区队列：</a:t>
            </a:r>
          </a:p>
          <a:p>
            <a:pPr lvl="1" algn="just" eaLnBrk="1" hangingPunct="1">
              <a:lnSpc>
                <a:spcPct val="90000"/>
              </a:lnSpc>
            </a:pPr>
            <a:r>
              <a:rPr lang="zh-CN" altLang="en-US"/>
              <a:t>空缓冲队列</a:t>
            </a:r>
            <a:r>
              <a:rPr lang="en-US" altLang="zh-CN"/>
              <a:t>：</a:t>
            </a:r>
            <a:r>
              <a:rPr lang="zh-CN" altLang="en-US"/>
              <a:t>由空闲缓冲区构成的队列</a:t>
            </a:r>
          </a:p>
          <a:p>
            <a:pPr lvl="1" algn="just" eaLnBrk="1" hangingPunct="1">
              <a:lnSpc>
                <a:spcPct val="90000"/>
              </a:lnSpc>
            </a:pPr>
            <a:r>
              <a:rPr lang="zh-CN" altLang="en-US"/>
              <a:t>输入队列</a:t>
            </a:r>
            <a:r>
              <a:rPr lang="en-US" altLang="zh-CN"/>
              <a:t>：</a:t>
            </a:r>
            <a:r>
              <a:rPr lang="zh-CN" altLang="en-US"/>
              <a:t>装满输入数据的缓冲区队列</a:t>
            </a:r>
          </a:p>
          <a:p>
            <a:pPr lvl="1" algn="just" eaLnBrk="1" hangingPunct="1">
              <a:lnSpc>
                <a:spcPct val="90000"/>
              </a:lnSpc>
            </a:pPr>
            <a:r>
              <a:rPr lang="zh-CN" altLang="en-US"/>
              <a:t>输出队列</a:t>
            </a:r>
            <a:r>
              <a:rPr lang="en-US" altLang="zh-CN"/>
              <a:t>：</a:t>
            </a:r>
            <a:r>
              <a:rPr lang="zh-CN" altLang="en-US"/>
              <a:t>装满输出数据的缓冲区队列</a:t>
            </a:r>
          </a:p>
          <a:p>
            <a:pPr algn="just" eaLnBrk="1" hangingPunct="1">
              <a:lnSpc>
                <a:spcPct val="90000"/>
              </a:lnSpc>
            </a:pPr>
            <a:r>
              <a:rPr lang="zh-CN" altLang="en-US"/>
              <a:t>除上述三个队列之外，还有四种工作缓冲区：</a:t>
            </a:r>
          </a:p>
          <a:p>
            <a:pPr lvl="1" algn="just" eaLnBrk="1" hangingPunct="1">
              <a:lnSpc>
                <a:spcPct val="90000"/>
              </a:lnSpc>
            </a:pPr>
            <a:r>
              <a:rPr lang="zh-CN" altLang="en-US"/>
              <a:t>用于收容输入数据的工作缓冲区</a:t>
            </a:r>
          </a:p>
          <a:p>
            <a:pPr lvl="1" algn="just" eaLnBrk="1" hangingPunct="1">
              <a:lnSpc>
                <a:spcPct val="90000"/>
              </a:lnSpc>
            </a:pPr>
            <a:r>
              <a:rPr lang="zh-CN" altLang="en-US"/>
              <a:t>用于提取输入数据的工作缓冲区</a:t>
            </a:r>
          </a:p>
          <a:p>
            <a:pPr lvl="1" algn="just" eaLnBrk="1" hangingPunct="1">
              <a:lnSpc>
                <a:spcPct val="90000"/>
              </a:lnSpc>
            </a:pPr>
            <a:r>
              <a:rPr lang="zh-CN" altLang="en-US"/>
              <a:t>用于收容输出数据的工作缓冲区</a:t>
            </a:r>
          </a:p>
          <a:p>
            <a:pPr lvl="1" algn="just" eaLnBrk="1" hangingPunct="1">
              <a:lnSpc>
                <a:spcPct val="90000"/>
              </a:lnSpc>
            </a:pPr>
            <a:r>
              <a:rPr lang="zh-CN" altLang="en-US"/>
              <a:t>用于提取输出数据的工作缓冲区</a:t>
            </a:r>
          </a:p>
        </p:txBody>
      </p:sp>
      <p:sp>
        <p:nvSpPr>
          <p:cNvPr id="2" name="灯片编号占位符 1">
            <a:extLst>
              <a:ext uri="{FF2B5EF4-FFF2-40B4-BE49-F238E27FC236}">
                <a16:creationId xmlns:a16="http://schemas.microsoft.com/office/drawing/2014/main" id="{436D1782-455A-B44B-D2DE-AD1C9137D442}"/>
              </a:ext>
            </a:extLst>
          </p:cNvPr>
          <p:cNvSpPr>
            <a:spLocks noGrp="1"/>
          </p:cNvSpPr>
          <p:nvPr>
            <p:ph type="sldNum" sz="quarter" idx="12"/>
          </p:nvPr>
        </p:nvSpPr>
        <p:spPr/>
        <p:txBody>
          <a:bodyPr/>
          <a:lstStyle/>
          <a:p>
            <a:fld id="{4093CC90-4002-504C-BD88-C9A1D374048E}" type="slidenum">
              <a:rPr lang="zh-CN" altLang="en-US" smtClean="0"/>
              <a:pPr/>
              <a:t>78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checkerboard(across)">
                                      <p:cBhvr>
                                        <p:cTn id="7" dur="500"/>
                                        <p:tgtEl>
                                          <p:spTgt spid="13619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36195">
                                            <p:txEl>
                                              <p:pRg st="1" end="1"/>
                                            </p:txEl>
                                          </p:spTgt>
                                        </p:tgtEl>
                                        <p:attrNameLst>
                                          <p:attrName>style.visibility</p:attrName>
                                        </p:attrNameLst>
                                      </p:cBhvr>
                                      <p:to>
                                        <p:strVal val="visible"/>
                                      </p:to>
                                    </p:set>
                                    <p:animEffect transition="in" filter="checkerboard(across)">
                                      <p:cBhvr>
                                        <p:cTn id="10" dur="500"/>
                                        <p:tgtEl>
                                          <p:spTgt spid="13619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36195">
                                            <p:txEl>
                                              <p:pRg st="2" end="2"/>
                                            </p:txEl>
                                          </p:spTgt>
                                        </p:tgtEl>
                                        <p:attrNameLst>
                                          <p:attrName>style.visibility</p:attrName>
                                        </p:attrNameLst>
                                      </p:cBhvr>
                                      <p:to>
                                        <p:strVal val="visible"/>
                                      </p:to>
                                    </p:set>
                                    <p:animEffect transition="in" filter="checkerboard(across)">
                                      <p:cBhvr>
                                        <p:cTn id="13" dur="500"/>
                                        <p:tgtEl>
                                          <p:spTgt spid="136195">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36195">
                                            <p:txEl>
                                              <p:pRg st="3" end="3"/>
                                            </p:txEl>
                                          </p:spTgt>
                                        </p:tgtEl>
                                        <p:attrNameLst>
                                          <p:attrName>style.visibility</p:attrName>
                                        </p:attrNameLst>
                                      </p:cBhvr>
                                      <p:to>
                                        <p:strVal val="visible"/>
                                      </p:to>
                                    </p:set>
                                    <p:animEffect transition="in" filter="checkerboard(across)">
                                      <p:cBhvr>
                                        <p:cTn id="16" dur="500"/>
                                        <p:tgtEl>
                                          <p:spTgt spid="13619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136195">
                                            <p:txEl>
                                              <p:pRg st="4" end="4"/>
                                            </p:txEl>
                                          </p:spTgt>
                                        </p:tgtEl>
                                        <p:attrNameLst>
                                          <p:attrName>style.visibility</p:attrName>
                                        </p:attrNameLst>
                                      </p:cBhvr>
                                      <p:to>
                                        <p:strVal val="visible"/>
                                      </p:to>
                                    </p:set>
                                    <p:animEffect transition="in" filter="checkerboard(across)">
                                      <p:cBhvr>
                                        <p:cTn id="21" dur="500"/>
                                        <p:tgtEl>
                                          <p:spTgt spid="136195">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36195">
                                            <p:txEl>
                                              <p:pRg st="5" end="5"/>
                                            </p:txEl>
                                          </p:spTgt>
                                        </p:tgtEl>
                                        <p:attrNameLst>
                                          <p:attrName>style.visibility</p:attrName>
                                        </p:attrNameLst>
                                      </p:cBhvr>
                                      <p:to>
                                        <p:strVal val="visible"/>
                                      </p:to>
                                    </p:set>
                                    <p:animEffect transition="in" filter="checkerboard(across)">
                                      <p:cBhvr>
                                        <p:cTn id="24" dur="500"/>
                                        <p:tgtEl>
                                          <p:spTgt spid="136195">
                                            <p:txEl>
                                              <p:pRg st="5" end="5"/>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136195">
                                            <p:txEl>
                                              <p:pRg st="6" end="6"/>
                                            </p:txEl>
                                          </p:spTgt>
                                        </p:tgtEl>
                                        <p:attrNameLst>
                                          <p:attrName>style.visibility</p:attrName>
                                        </p:attrNameLst>
                                      </p:cBhvr>
                                      <p:to>
                                        <p:strVal val="visible"/>
                                      </p:to>
                                    </p:set>
                                    <p:animEffect transition="in" filter="checkerboard(across)">
                                      <p:cBhvr>
                                        <p:cTn id="27" dur="500"/>
                                        <p:tgtEl>
                                          <p:spTgt spid="136195">
                                            <p:txEl>
                                              <p:pRg st="6" end="6"/>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136195">
                                            <p:txEl>
                                              <p:pRg st="7" end="7"/>
                                            </p:txEl>
                                          </p:spTgt>
                                        </p:tgtEl>
                                        <p:attrNameLst>
                                          <p:attrName>style.visibility</p:attrName>
                                        </p:attrNameLst>
                                      </p:cBhvr>
                                      <p:to>
                                        <p:strVal val="visible"/>
                                      </p:to>
                                    </p:set>
                                    <p:animEffect transition="in" filter="checkerboard(across)">
                                      <p:cBhvr>
                                        <p:cTn id="30" dur="500"/>
                                        <p:tgtEl>
                                          <p:spTgt spid="136195">
                                            <p:txEl>
                                              <p:pRg st="7" end="7"/>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136195">
                                            <p:txEl>
                                              <p:pRg st="8" end="8"/>
                                            </p:txEl>
                                          </p:spTgt>
                                        </p:tgtEl>
                                        <p:attrNameLst>
                                          <p:attrName>style.visibility</p:attrName>
                                        </p:attrNameLst>
                                      </p:cBhvr>
                                      <p:to>
                                        <p:strVal val="visible"/>
                                      </p:to>
                                    </p:set>
                                    <p:animEffect transition="in" filter="checkerboard(across)">
                                      <p:cBhvr>
                                        <p:cTn id="33" dur="500"/>
                                        <p:tgtEl>
                                          <p:spTgt spid="136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8E3F3E2C-42EE-9138-84AD-16F1807FA6E8}"/>
              </a:ext>
            </a:extLst>
          </p:cNvPr>
          <p:cNvSpPr>
            <a:spLocks noGrp="1" noChangeArrowheads="1"/>
          </p:cNvSpPr>
          <p:nvPr>
            <p:ph type="title"/>
          </p:nvPr>
        </p:nvSpPr>
        <p:spPr/>
        <p:txBody>
          <a:bodyPr/>
          <a:lstStyle/>
          <a:p>
            <a:pPr eaLnBrk="1" hangingPunct="1"/>
            <a:r>
              <a:rPr lang="zh-CN" altLang="en-US"/>
              <a:t>缓冲池的工作方式</a:t>
            </a:r>
          </a:p>
        </p:txBody>
      </p:sp>
      <p:sp>
        <p:nvSpPr>
          <p:cNvPr id="97282" name="Rectangle 3">
            <a:extLst>
              <a:ext uri="{FF2B5EF4-FFF2-40B4-BE49-F238E27FC236}">
                <a16:creationId xmlns:a16="http://schemas.microsoft.com/office/drawing/2014/main" id="{C223AE40-CC2E-829A-E964-1313AA776EFD}"/>
              </a:ext>
            </a:extLst>
          </p:cNvPr>
          <p:cNvSpPr>
            <a:spLocks noGrp="1" noChangeArrowheads="1"/>
          </p:cNvSpPr>
          <p:nvPr>
            <p:ph idx="1"/>
          </p:nvPr>
        </p:nvSpPr>
        <p:spPr/>
        <p:txBody>
          <a:bodyPr/>
          <a:lstStyle/>
          <a:p>
            <a:pPr eaLnBrk="1" hangingPunct="1"/>
            <a:r>
              <a:rPr lang="zh-CN" altLang="en-US"/>
              <a:t>缓冲池有四种工作方式：</a:t>
            </a:r>
          </a:p>
          <a:p>
            <a:pPr lvl="1" eaLnBrk="1" hangingPunct="1"/>
            <a:r>
              <a:rPr lang="zh-CN" altLang="en-US"/>
              <a:t>收容输入</a:t>
            </a:r>
          </a:p>
          <a:p>
            <a:pPr lvl="1" eaLnBrk="1" hangingPunct="1"/>
            <a:r>
              <a:rPr lang="zh-CN" altLang="en-US"/>
              <a:t>提取输入</a:t>
            </a:r>
          </a:p>
          <a:p>
            <a:pPr lvl="1" eaLnBrk="1" hangingPunct="1"/>
            <a:r>
              <a:rPr lang="zh-CN" altLang="en-US"/>
              <a:t>收容输出</a:t>
            </a:r>
          </a:p>
          <a:p>
            <a:pPr lvl="1" eaLnBrk="1" hangingPunct="1"/>
            <a:r>
              <a:rPr lang="zh-CN" altLang="en-US"/>
              <a:t>提取输出</a:t>
            </a:r>
          </a:p>
        </p:txBody>
      </p:sp>
      <p:sp>
        <p:nvSpPr>
          <p:cNvPr id="2" name="灯片编号占位符 1">
            <a:extLst>
              <a:ext uri="{FF2B5EF4-FFF2-40B4-BE49-F238E27FC236}">
                <a16:creationId xmlns:a16="http://schemas.microsoft.com/office/drawing/2014/main" id="{D2732F24-AE13-7E10-A2A2-5B0A22F69E21}"/>
              </a:ext>
            </a:extLst>
          </p:cNvPr>
          <p:cNvSpPr>
            <a:spLocks noGrp="1"/>
          </p:cNvSpPr>
          <p:nvPr>
            <p:ph type="sldNum" sz="quarter" idx="12"/>
          </p:nvPr>
        </p:nvSpPr>
        <p:spPr/>
        <p:txBody>
          <a:bodyPr/>
          <a:lstStyle/>
          <a:p>
            <a:fld id="{4093CC90-4002-504C-BD88-C9A1D374048E}" type="slidenum">
              <a:rPr lang="zh-CN" altLang="en-US" smtClean="0"/>
              <a:pPr/>
              <a:t>79</a:t>
            </a:fld>
            <a:endParaRPr lang="zh-CN" altLang="en-US" dirty="0"/>
          </a:p>
        </p:txBody>
      </p:sp>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E1ACF6F9-2BBE-8704-C90F-760520528135}"/>
              </a:ext>
            </a:extLst>
          </p:cNvPr>
          <p:cNvSpPr>
            <a:spLocks noGrp="1" noChangeArrowheads="1"/>
          </p:cNvSpPr>
          <p:nvPr>
            <p:ph type="title"/>
          </p:nvPr>
        </p:nvSpPr>
        <p:spPr/>
        <p:txBody>
          <a:bodyPr/>
          <a:lstStyle/>
          <a:p>
            <a:pPr eaLnBrk="1" hangingPunct="1"/>
            <a:r>
              <a:rPr lang="zh-CN" altLang="en-US"/>
              <a:t>收容输入 </a:t>
            </a:r>
          </a:p>
        </p:txBody>
      </p:sp>
      <p:sp>
        <p:nvSpPr>
          <p:cNvPr id="98306" name="Rectangle 3">
            <a:extLst>
              <a:ext uri="{FF2B5EF4-FFF2-40B4-BE49-F238E27FC236}">
                <a16:creationId xmlns:a16="http://schemas.microsoft.com/office/drawing/2014/main" id="{91B7C46A-DAF2-C5AD-BDE5-ADFA3D90B6AF}"/>
              </a:ext>
            </a:extLst>
          </p:cNvPr>
          <p:cNvSpPr>
            <a:spLocks noGrp="1" noChangeArrowheads="1"/>
          </p:cNvSpPr>
          <p:nvPr>
            <p:ph idx="1"/>
          </p:nvPr>
        </p:nvSpPr>
        <p:spPr>
          <a:xfrm>
            <a:off x="755650" y="1196975"/>
            <a:ext cx="7626350" cy="2706688"/>
          </a:xfrm>
        </p:spPr>
        <p:txBody>
          <a:bodyPr/>
          <a:lstStyle/>
          <a:p>
            <a:pPr algn="just" eaLnBrk="1" hangingPunct="1"/>
            <a:r>
              <a:rPr lang="zh-CN" altLang="en-US"/>
              <a:t>当输入进程需要输入数据时，便从空缓冲队列的队首摘下一个空缓冲区，把它作为收容输入工作缓冲区，然后把数据输入其中，装满后再将它挂到输入队列队尾。</a:t>
            </a:r>
          </a:p>
        </p:txBody>
      </p:sp>
      <p:sp>
        <p:nvSpPr>
          <p:cNvPr id="98307" name="Rectangle 5">
            <a:extLst>
              <a:ext uri="{FF2B5EF4-FFF2-40B4-BE49-F238E27FC236}">
                <a16:creationId xmlns:a16="http://schemas.microsoft.com/office/drawing/2014/main" id="{5A70F06D-73E9-9071-C6CB-21A93DAC33DF}"/>
              </a:ext>
            </a:extLst>
          </p:cNvPr>
          <p:cNvSpPr>
            <a:spLocks noChangeArrowheads="1"/>
          </p:cNvSpPr>
          <p:nvPr/>
        </p:nvSpPr>
        <p:spPr bwMode="auto">
          <a:xfrm>
            <a:off x="2514600" y="4554538"/>
            <a:ext cx="1371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输入设备</a:t>
            </a:r>
          </a:p>
        </p:txBody>
      </p:sp>
      <p:sp>
        <p:nvSpPr>
          <p:cNvPr id="98308" name="Rectangle 6">
            <a:extLst>
              <a:ext uri="{FF2B5EF4-FFF2-40B4-BE49-F238E27FC236}">
                <a16:creationId xmlns:a16="http://schemas.microsoft.com/office/drawing/2014/main" id="{28AFED63-A46C-940D-2ED4-99214167AA75}"/>
              </a:ext>
            </a:extLst>
          </p:cNvPr>
          <p:cNvSpPr>
            <a:spLocks noChangeArrowheads="1"/>
          </p:cNvSpPr>
          <p:nvPr/>
        </p:nvSpPr>
        <p:spPr bwMode="auto">
          <a:xfrm>
            <a:off x="4879975" y="4419600"/>
            <a:ext cx="1412875" cy="561975"/>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8309" name="Line 7">
            <a:extLst>
              <a:ext uri="{FF2B5EF4-FFF2-40B4-BE49-F238E27FC236}">
                <a16:creationId xmlns:a16="http://schemas.microsoft.com/office/drawing/2014/main" id="{EA1EE8D7-3B6A-E82A-A217-6BE28E694C48}"/>
              </a:ext>
            </a:extLst>
          </p:cNvPr>
          <p:cNvSpPr>
            <a:spLocks noChangeShapeType="1"/>
          </p:cNvSpPr>
          <p:nvPr/>
        </p:nvSpPr>
        <p:spPr bwMode="auto">
          <a:xfrm flipV="1">
            <a:off x="3905250" y="4725988"/>
            <a:ext cx="974725" cy="15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8310" name="Rectangle 8">
            <a:extLst>
              <a:ext uri="{FF2B5EF4-FFF2-40B4-BE49-F238E27FC236}">
                <a16:creationId xmlns:a16="http://schemas.microsoft.com/office/drawing/2014/main" id="{86A7996D-5E3D-A53F-DA66-5CA8665E3B49}"/>
              </a:ext>
            </a:extLst>
          </p:cNvPr>
          <p:cNvSpPr>
            <a:spLocks noChangeArrowheads="1"/>
          </p:cNvSpPr>
          <p:nvPr/>
        </p:nvSpPr>
        <p:spPr bwMode="auto">
          <a:xfrm>
            <a:off x="4422775" y="5195888"/>
            <a:ext cx="28924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收容输入工作缓冲区</a:t>
            </a:r>
          </a:p>
        </p:txBody>
      </p:sp>
      <p:sp>
        <p:nvSpPr>
          <p:cNvPr id="2" name="灯片编号占位符 1">
            <a:extLst>
              <a:ext uri="{FF2B5EF4-FFF2-40B4-BE49-F238E27FC236}">
                <a16:creationId xmlns:a16="http://schemas.microsoft.com/office/drawing/2014/main" id="{2C69EE9D-549D-6AFF-7211-EA1198CC08E2}"/>
              </a:ext>
            </a:extLst>
          </p:cNvPr>
          <p:cNvSpPr>
            <a:spLocks noGrp="1"/>
          </p:cNvSpPr>
          <p:nvPr>
            <p:ph type="sldNum" sz="quarter" idx="12"/>
          </p:nvPr>
        </p:nvSpPr>
        <p:spPr/>
        <p:txBody>
          <a:bodyPr/>
          <a:lstStyle/>
          <a:p>
            <a:fld id="{4093CC90-4002-504C-BD88-C9A1D374048E}" type="slidenum">
              <a:rPr lang="zh-CN" altLang="en-US" smtClean="0"/>
              <a:pPr/>
              <a:t>80</a:t>
            </a:fld>
            <a:endParaRPr lang="zh-CN" altLang="en-US" dirty="0"/>
          </a:p>
        </p:txBody>
      </p:sp>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15D21233-5D6D-4B3C-7CEB-F58E20B2970C}"/>
              </a:ext>
            </a:extLst>
          </p:cNvPr>
          <p:cNvSpPr>
            <a:spLocks noGrp="1" noChangeArrowheads="1"/>
          </p:cNvSpPr>
          <p:nvPr>
            <p:ph type="title"/>
          </p:nvPr>
        </p:nvSpPr>
        <p:spPr/>
        <p:txBody>
          <a:bodyPr/>
          <a:lstStyle/>
          <a:p>
            <a:pPr eaLnBrk="1" hangingPunct="1"/>
            <a:r>
              <a:rPr lang="zh-CN" altLang="en-US"/>
              <a:t>提取输入 </a:t>
            </a:r>
          </a:p>
        </p:txBody>
      </p:sp>
      <p:sp>
        <p:nvSpPr>
          <p:cNvPr id="99330" name="Rectangle 3">
            <a:extLst>
              <a:ext uri="{FF2B5EF4-FFF2-40B4-BE49-F238E27FC236}">
                <a16:creationId xmlns:a16="http://schemas.microsoft.com/office/drawing/2014/main" id="{9BDE3A5E-0A99-FFA4-7801-C151790FB544}"/>
              </a:ext>
            </a:extLst>
          </p:cNvPr>
          <p:cNvSpPr>
            <a:spLocks noGrp="1" noChangeArrowheads="1"/>
          </p:cNvSpPr>
          <p:nvPr>
            <p:ph idx="1"/>
          </p:nvPr>
        </p:nvSpPr>
        <p:spPr>
          <a:xfrm>
            <a:off x="611188" y="1196975"/>
            <a:ext cx="8151812" cy="2325688"/>
          </a:xfrm>
        </p:spPr>
        <p:txBody>
          <a:bodyPr/>
          <a:lstStyle/>
          <a:p>
            <a:pPr algn="just" eaLnBrk="1" hangingPunct="1"/>
            <a:r>
              <a:rPr lang="zh-CN" altLang="en-US"/>
              <a:t>当计算进程需要输入数据时，便从输入队列取得一个缓冲区作为提取输入工作缓冲区，计算进程从中提取数据，数据用完后再将它挂到空缓冲队列尾。</a:t>
            </a:r>
          </a:p>
        </p:txBody>
      </p:sp>
      <p:sp>
        <p:nvSpPr>
          <p:cNvPr id="99331" name="Rectangle 5">
            <a:extLst>
              <a:ext uri="{FF2B5EF4-FFF2-40B4-BE49-F238E27FC236}">
                <a16:creationId xmlns:a16="http://schemas.microsoft.com/office/drawing/2014/main" id="{F6995BCE-1C9C-414C-9EED-C1CC80080FBE}"/>
              </a:ext>
            </a:extLst>
          </p:cNvPr>
          <p:cNvSpPr>
            <a:spLocks noChangeArrowheads="1"/>
          </p:cNvSpPr>
          <p:nvPr/>
        </p:nvSpPr>
        <p:spPr bwMode="auto">
          <a:xfrm>
            <a:off x="2514600" y="4103688"/>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用户程序</a:t>
            </a:r>
          </a:p>
        </p:txBody>
      </p:sp>
      <p:sp>
        <p:nvSpPr>
          <p:cNvPr id="99332" name="Rectangle 6">
            <a:extLst>
              <a:ext uri="{FF2B5EF4-FFF2-40B4-BE49-F238E27FC236}">
                <a16:creationId xmlns:a16="http://schemas.microsoft.com/office/drawing/2014/main" id="{F287A0FB-B94A-E11E-DE75-F79EFBC32242}"/>
              </a:ext>
            </a:extLst>
          </p:cNvPr>
          <p:cNvSpPr>
            <a:spLocks noChangeArrowheads="1"/>
          </p:cNvSpPr>
          <p:nvPr/>
        </p:nvSpPr>
        <p:spPr bwMode="auto">
          <a:xfrm>
            <a:off x="4664075" y="4038600"/>
            <a:ext cx="1295400" cy="52070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99333" name="Line 7">
            <a:extLst>
              <a:ext uri="{FF2B5EF4-FFF2-40B4-BE49-F238E27FC236}">
                <a16:creationId xmlns:a16="http://schemas.microsoft.com/office/drawing/2014/main" id="{B6C45B00-F1E0-982E-0895-F675BFBF53F7}"/>
              </a:ext>
            </a:extLst>
          </p:cNvPr>
          <p:cNvSpPr>
            <a:spLocks noChangeShapeType="1"/>
          </p:cNvSpPr>
          <p:nvPr/>
        </p:nvSpPr>
        <p:spPr bwMode="auto">
          <a:xfrm flipH="1" flipV="1">
            <a:off x="3770313" y="4322763"/>
            <a:ext cx="893762"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9334" name="Rectangle 8">
            <a:extLst>
              <a:ext uri="{FF2B5EF4-FFF2-40B4-BE49-F238E27FC236}">
                <a16:creationId xmlns:a16="http://schemas.microsoft.com/office/drawing/2014/main" id="{909F9FC9-3CB4-C776-D254-4ED9AFA5AE7A}"/>
              </a:ext>
            </a:extLst>
          </p:cNvPr>
          <p:cNvSpPr>
            <a:spLocks noChangeArrowheads="1"/>
          </p:cNvSpPr>
          <p:nvPr/>
        </p:nvSpPr>
        <p:spPr bwMode="auto">
          <a:xfrm>
            <a:off x="4105275" y="4754563"/>
            <a:ext cx="28289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提取输入工作缓冲区</a:t>
            </a:r>
          </a:p>
        </p:txBody>
      </p:sp>
      <p:sp>
        <p:nvSpPr>
          <p:cNvPr id="2" name="灯片编号占位符 1">
            <a:extLst>
              <a:ext uri="{FF2B5EF4-FFF2-40B4-BE49-F238E27FC236}">
                <a16:creationId xmlns:a16="http://schemas.microsoft.com/office/drawing/2014/main" id="{7E3DD06E-630A-12A4-6D35-165805885494}"/>
              </a:ext>
            </a:extLst>
          </p:cNvPr>
          <p:cNvSpPr>
            <a:spLocks noGrp="1"/>
          </p:cNvSpPr>
          <p:nvPr>
            <p:ph type="sldNum" sz="quarter" idx="12"/>
          </p:nvPr>
        </p:nvSpPr>
        <p:spPr/>
        <p:txBody>
          <a:bodyPr/>
          <a:lstStyle/>
          <a:p>
            <a:fld id="{4093CC90-4002-504C-BD88-C9A1D374048E}" type="slidenum">
              <a:rPr lang="zh-CN" altLang="en-US" smtClean="0"/>
              <a:pPr/>
              <a:t>81</a:t>
            </a:fld>
            <a:endParaRPr lang="zh-CN" altLang="en-US" dirty="0"/>
          </a:p>
        </p:txBody>
      </p:sp>
    </p:spTree>
  </p:cSld>
  <p:clrMapOvr>
    <a:masterClrMapping/>
  </p:clrMapOvr>
  <p:transition spd="med">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7FACEF82-D530-6BB6-A6C8-2EC70F64B51C}"/>
              </a:ext>
            </a:extLst>
          </p:cNvPr>
          <p:cNvSpPr>
            <a:spLocks noGrp="1" noChangeArrowheads="1"/>
          </p:cNvSpPr>
          <p:nvPr>
            <p:ph type="title"/>
          </p:nvPr>
        </p:nvSpPr>
        <p:spPr/>
        <p:txBody>
          <a:bodyPr/>
          <a:lstStyle/>
          <a:p>
            <a:pPr eaLnBrk="1" hangingPunct="1"/>
            <a:r>
              <a:rPr lang="zh-CN" altLang="en-US"/>
              <a:t>收容输出 </a:t>
            </a:r>
          </a:p>
        </p:txBody>
      </p:sp>
      <p:sp>
        <p:nvSpPr>
          <p:cNvPr id="100354" name="Rectangle 3">
            <a:extLst>
              <a:ext uri="{FF2B5EF4-FFF2-40B4-BE49-F238E27FC236}">
                <a16:creationId xmlns:a16="http://schemas.microsoft.com/office/drawing/2014/main" id="{9C9FC941-4120-97F5-31C7-926EBA90F0E5}"/>
              </a:ext>
            </a:extLst>
          </p:cNvPr>
          <p:cNvSpPr>
            <a:spLocks noGrp="1" noChangeArrowheads="1"/>
          </p:cNvSpPr>
          <p:nvPr>
            <p:ph idx="1"/>
          </p:nvPr>
        </p:nvSpPr>
        <p:spPr>
          <a:xfrm>
            <a:off x="838200" y="1268413"/>
            <a:ext cx="7772400" cy="2249487"/>
          </a:xfrm>
        </p:spPr>
        <p:txBody>
          <a:bodyPr/>
          <a:lstStyle/>
          <a:p>
            <a:pPr algn="just" eaLnBrk="1" hangingPunct="1"/>
            <a:r>
              <a:rPr lang="zh-CN" altLang="en-US"/>
              <a:t>当计算进程需要输出数据时，便从空缓冲队列的队首取得一个空缓冲，作为收容输出工作缓冲区，当其中装满输出数据后，再将它挂到输出队列尾。</a:t>
            </a:r>
          </a:p>
        </p:txBody>
      </p:sp>
      <p:sp>
        <p:nvSpPr>
          <p:cNvPr id="100355" name="Rectangle 5">
            <a:extLst>
              <a:ext uri="{FF2B5EF4-FFF2-40B4-BE49-F238E27FC236}">
                <a16:creationId xmlns:a16="http://schemas.microsoft.com/office/drawing/2014/main" id="{14F7A099-C2C0-6D9B-199E-046CF9093AA5}"/>
              </a:ext>
            </a:extLst>
          </p:cNvPr>
          <p:cNvSpPr>
            <a:spLocks noChangeArrowheads="1"/>
          </p:cNvSpPr>
          <p:nvPr/>
        </p:nvSpPr>
        <p:spPr bwMode="auto">
          <a:xfrm>
            <a:off x="2590800" y="3870325"/>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用户程序</a:t>
            </a:r>
          </a:p>
        </p:txBody>
      </p:sp>
      <p:sp>
        <p:nvSpPr>
          <p:cNvPr id="100356" name="Rectangle 6">
            <a:extLst>
              <a:ext uri="{FF2B5EF4-FFF2-40B4-BE49-F238E27FC236}">
                <a16:creationId xmlns:a16="http://schemas.microsoft.com/office/drawing/2014/main" id="{28E481DC-1983-A946-F7A0-C4D17D47FED8}"/>
              </a:ext>
            </a:extLst>
          </p:cNvPr>
          <p:cNvSpPr>
            <a:spLocks noChangeArrowheads="1"/>
          </p:cNvSpPr>
          <p:nvPr/>
        </p:nvSpPr>
        <p:spPr bwMode="auto">
          <a:xfrm>
            <a:off x="4708525" y="3810000"/>
            <a:ext cx="1235075" cy="549275"/>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00357" name="Line 7">
            <a:extLst>
              <a:ext uri="{FF2B5EF4-FFF2-40B4-BE49-F238E27FC236}">
                <a16:creationId xmlns:a16="http://schemas.microsoft.com/office/drawing/2014/main" id="{6DE23370-24CE-1D86-C9E5-74B9944F5D79}"/>
              </a:ext>
            </a:extLst>
          </p:cNvPr>
          <p:cNvSpPr>
            <a:spLocks noChangeShapeType="1"/>
          </p:cNvSpPr>
          <p:nvPr/>
        </p:nvSpPr>
        <p:spPr bwMode="auto">
          <a:xfrm flipV="1">
            <a:off x="3856038" y="4110038"/>
            <a:ext cx="852487"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0358" name="Rectangle 8">
            <a:extLst>
              <a:ext uri="{FF2B5EF4-FFF2-40B4-BE49-F238E27FC236}">
                <a16:creationId xmlns:a16="http://schemas.microsoft.com/office/drawing/2014/main" id="{41B6CBDE-F2DA-3BA5-7B72-E6AA2AD26097}"/>
              </a:ext>
            </a:extLst>
          </p:cNvPr>
          <p:cNvSpPr>
            <a:spLocks noChangeArrowheads="1"/>
          </p:cNvSpPr>
          <p:nvPr/>
        </p:nvSpPr>
        <p:spPr bwMode="auto">
          <a:xfrm>
            <a:off x="4175125" y="4481513"/>
            <a:ext cx="29114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收容输出工作缓冲区</a:t>
            </a:r>
          </a:p>
        </p:txBody>
      </p:sp>
      <p:sp>
        <p:nvSpPr>
          <p:cNvPr id="2" name="灯片编号占位符 1">
            <a:extLst>
              <a:ext uri="{FF2B5EF4-FFF2-40B4-BE49-F238E27FC236}">
                <a16:creationId xmlns:a16="http://schemas.microsoft.com/office/drawing/2014/main" id="{B31C3479-4A67-7B23-864E-86D0DB0B1443}"/>
              </a:ext>
            </a:extLst>
          </p:cNvPr>
          <p:cNvSpPr>
            <a:spLocks noGrp="1"/>
          </p:cNvSpPr>
          <p:nvPr>
            <p:ph type="sldNum" sz="quarter" idx="12"/>
          </p:nvPr>
        </p:nvSpPr>
        <p:spPr/>
        <p:txBody>
          <a:bodyPr/>
          <a:lstStyle/>
          <a:p>
            <a:fld id="{4093CC90-4002-504C-BD88-C9A1D374048E}" type="slidenum">
              <a:rPr lang="zh-CN" altLang="en-US" smtClean="0"/>
              <a:pPr/>
              <a:t>82</a:t>
            </a:fld>
            <a:endParaRPr lang="zh-CN" altLang="en-US" dirty="0"/>
          </a:p>
        </p:txBody>
      </p:sp>
    </p:spTree>
  </p:cSld>
  <p:clrMapOvr>
    <a:masterClrMapping/>
  </p:clrMapOvr>
  <p:transition spd="med">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617292AA-7ED0-9E5B-DC75-8518DAE91CB4}"/>
              </a:ext>
            </a:extLst>
          </p:cNvPr>
          <p:cNvSpPr>
            <a:spLocks noGrp="1" noChangeArrowheads="1"/>
          </p:cNvSpPr>
          <p:nvPr>
            <p:ph type="title"/>
          </p:nvPr>
        </p:nvSpPr>
        <p:spPr/>
        <p:txBody>
          <a:bodyPr/>
          <a:lstStyle/>
          <a:p>
            <a:pPr eaLnBrk="1" hangingPunct="1"/>
            <a:r>
              <a:rPr lang="zh-CN" altLang="en-US"/>
              <a:t>提取输出 </a:t>
            </a:r>
          </a:p>
        </p:txBody>
      </p:sp>
      <p:sp>
        <p:nvSpPr>
          <p:cNvPr id="101378" name="Rectangle 3">
            <a:extLst>
              <a:ext uri="{FF2B5EF4-FFF2-40B4-BE49-F238E27FC236}">
                <a16:creationId xmlns:a16="http://schemas.microsoft.com/office/drawing/2014/main" id="{D21B1494-6B6A-775A-FB4D-E8F570CBD793}"/>
              </a:ext>
            </a:extLst>
          </p:cNvPr>
          <p:cNvSpPr>
            <a:spLocks noGrp="1" noChangeArrowheads="1"/>
          </p:cNvSpPr>
          <p:nvPr>
            <p:ph idx="1"/>
          </p:nvPr>
        </p:nvSpPr>
        <p:spPr>
          <a:xfrm>
            <a:off x="755650" y="1268413"/>
            <a:ext cx="8199438" cy="2325687"/>
          </a:xfrm>
        </p:spPr>
        <p:txBody>
          <a:bodyPr/>
          <a:lstStyle/>
          <a:p>
            <a:pPr algn="just" eaLnBrk="1" hangingPunct="1"/>
            <a:r>
              <a:rPr lang="zh-CN" altLang="en-US"/>
              <a:t>当要输出时，由输出进程从输出队列中取得一装满输出数据的缓冲区，作为提取输出工作缓冲区，当数据提取完后，再将它挂到空缓冲队列的末尾。</a:t>
            </a:r>
          </a:p>
        </p:txBody>
      </p:sp>
      <p:sp>
        <p:nvSpPr>
          <p:cNvPr id="101379" name="Rectangle 5">
            <a:extLst>
              <a:ext uri="{FF2B5EF4-FFF2-40B4-BE49-F238E27FC236}">
                <a16:creationId xmlns:a16="http://schemas.microsoft.com/office/drawing/2014/main" id="{B946115B-CF82-38B8-487B-782E6B6765FE}"/>
              </a:ext>
            </a:extLst>
          </p:cNvPr>
          <p:cNvSpPr>
            <a:spLocks noChangeArrowheads="1"/>
          </p:cNvSpPr>
          <p:nvPr/>
        </p:nvSpPr>
        <p:spPr bwMode="auto">
          <a:xfrm>
            <a:off x="2286000" y="3946525"/>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输出设备</a:t>
            </a:r>
          </a:p>
        </p:txBody>
      </p:sp>
      <p:sp>
        <p:nvSpPr>
          <p:cNvPr id="101380" name="Rectangle 6">
            <a:extLst>
              <a:ext uri="{FF2B5EF4-FFF2-40B4-BE49-F238E27FC236}">
                <a16:creationId xmlns:a16="http://schemas.microsoft.com/office/drawing/2014/main" id="{22E20DA3-3809-FC07-4ED7-F99C898869F0}"/>
              </a:ext>
            </a:extLst>
          </p:cNvPr>
          <p:cNvSpPr>
            <a:spLocks noChangeArrowheads="1"/>
          </p:cNvSpPr>
          <p:nvPr/>
        </p:nvSpPr>
        <p:spPr bwMode="auto">
          <a:xfrm>
            <a:off x="4543425" y="3886200"/>
            <a:ext cx="1354138" cy="549275"/>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01381" name="Line 7">
            <a:extLst>
              <a:ext uri="{FF2B5EF4-FFF2-40B4-BE49-F238E27FC236}">
                <a16:creationId xmlns:a16="http://schemas.microsoft.com/office/drawing/2014/main" id="{BDFDEE3B-33F2-5B2E-1370-9BE5348526CF}"/>
              </a:ext>
            </a:extLst>
          </p:cNvPr>
          <p:cNvSpPr>
            <a:spLocks noChangeShapeType="1"/>
          </p:cNvSpPr>
          <p:nvPr/>
        </p:nvSpPr>
        <p:spPr bwMode="auto">
          <a:xfrm flipH="1" flipV="1">
            <a:off x="3609975" y="4186238"/>
            <a:ext cx="93345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1382" name="Rectangle 8">
            <a:extLst>
              <a:ext uri="{FF2B5EF4-FFF2-40B4-BE49-F238E27FC236}">
                <a16:creationId xmlns:a16="http://schemas.microsoft.com/office/drawing/2014/main" id="{376FC813-B06F-73AF-D09C-C27622EECEB8}"/>
              </a:ext>
            </a:extLst>
          </p:cNvPr>
          <p:cNvSpPr>
            <a:spLocks noChangeArrowheads="1"/>
          </p:cNvSpPr>
          <p:nvPr/>
        </p:nvSpPr>
        <p:spPr bwMode="auto">
          <a:xfrm>
            <a:off x="4035425" y="4633913"/>
            <a:ext cx="28225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提取输出工作缓冲区</a:t>
            </a:r>
          </a:p>
        </p:txBody>
      </p:sp>
      <p:sp>
        <p:nvSpPr>
          <p:cNvPr id="2" name="灯片编号占位符 1">
            <a:extLst>
              <a:ext uri="{FF2B5EF4-FFF2-40B4-BE49-F238E27FC236}">
                <a16:creationId xmlns:a16="http://schemas.microsoft.com/office/drawing/2014/main" id="{451131FC-B88D-3824-EAE3-51E48D9B3835}"/>
              </a:ext>
            </a:extLst>
          </p:cNvPr>
          <p:cNvSpPr>
            <a:spLocks noGrp="1"/>
          </p:cNvSpPr>
          <p:nvPr>
            <p:ph type="sldNum" sz="quarter" idx="12"/>
          </p:nvPr>
        </p:nvSpPr>
        <p:spPr/>
        <p:txBody>
          <a:bodyPr/>
          <a:lstStyle/>
          <a:p>
            <a:fld id="{4093CC90-4002-504C-BD88-C9A1D374048E}" type="slidenum">
              <a:rPr lang="zh-CN" altLang="en-US" smtClean="0"/>
              <a:pPr/>
              <a:t>83</a:t>
            </a:fld>
            <a:endParaRPr lang="zh-CN" altLang="en-US" dirty="0"/>
          </a:p>
        </p:txBody>
      </p:sp>
    </p:spTree>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D8A984B3-0489-9717-425F-B9E9C85BDD7B}"/>
              </a:ext>
            </a:extLst>
          </p:cNvPr>
          <p:cNvSpPr>
            <a:spLocks noGrp="1" noChangeArrowheads="1"/>
          </p:cNvSpPr>
          <p:nvPr>
            <p:ph type="title"/>
          </p:nvPr>
        </p:nvSpPr>
        <p:spPr>
          <a:xfrm>
            <a:off x="1042988" y="225431"/>
            <a:ext cx="7850187" cy="746125"/>
          </a:xfrm>
        </p:spPr>
        <p:txBody>
          <a:bodyPr/>
          <a:lstStyle/>
          <a:p>
            <a:r>
              <a:rPr lang="zh-CN" altLang="en-US" dirty="0"/>
              <a:t>高速缓存</a:t>
            </a:r>
            <a:r>
              <a:rPr lang="en-US" altLang="zh-CN" dirty="0"/>
              <a:t>cache</a:t>
            </a:r>
            <a:endParaRPr lang="zh-CN" altLang="en-US" dirty="0"/>
          </a:p>
        </p:txBody>
      </p:sp>
      <p:sp>
        <p:nvSpPr>
          <p:cNvPr id="287747" name="Rectangle 3">
            <a:extLst>
              <a:ext uri="{FF2B5EF4-FFF2-40B4-BE49-F238E27FC236}">
                <a16:creationId xmlns:a16="http://schemas.microsoft.com/office/drawing/2014/main" id="{FC7B397E-970D-B2DB-CBF3-2B6F2186C993}"/>
              </a:ext>
            </a:extLst>
          </p:cNvPr>
          <p:cNvSpPr>
            <a:spLocks noGrp="1" noChangeArrowheads="1"/>
          </p:cNvSpPr>
          <p:nvPr>
            <p:ph idx="1"/>
          </p:nvPr>
        </p:nvSpPr>
        <p:spPr>
          <a:xfrm>
            <a:off x="935038" y="1233488"/>
            <a:ext cx="7772400" cy="4895850"/>
          </a:xfrm>
        </p:spPr>
        <p:txBody>
          <a:bodyPr/>
          <a:lstStyle/>
          <a:p>
            <a:r>
              <a:rPr lang="zh-CN" altLang="en-US" dirty="0"/>
              <a:t>高速缓存：存放数据副本的高速存储器</a:t>
            </a:r>
          </a:p>
          <a:p>
            <a:r>
              <a:rPr lang="zh-CN" altLang="en-US" dirty="0"/>
              <a:t>缓冲与高速缓存的差别</a:t>
            </a:r>
            <a:endParaRPr lang="en-US" altLang="zh-CN" dirty="0"/>
          </a:p>
          <a:p>
            <a:pPr lvl="1"/>
            <a:r>
              <a:rPr lang="zh-CN" altLang="en-US" dirty="0"/>
              <a:t>缓冲可能是数据项的唯一副本，而根据定义高速缓存只是提供了一个驻留在其他地方的数据在高速缓存上的一个副本。</a:t>
            </a:r>
            <a:endParaRPr lang="en-US" altLang="zh-CN" dirty="0"/>
          </a:p>
          <a:p>
            <a:pPr lvl="1"/>
            <a:r>
              <a:rPr lang="zh-CN" altLang="en-US" dirty="0"/>
              <a:t>高速缓存用于提高访问速度</a:t>
            </a:r>
            <a:endParaRPr lang="en-US" altLang="zh-CN" dirty="0"/>
          </a:p>
          <a:p>
            <a:pPr lvl="1"/>
            <a:r>
              <a:rPr lang="zh-CN" altLang="en-US" dirty="0"/>
              <a:t>缓冲用于平衡速度差异</a:t>
            </a:r>
          </a:p>
        </p:txBody>
      </p:sp>
      <p:sp>
        <p:nvSpPr>
          <p:cNvPr id="6" name="灯片编号占位符 5">
            <a:extLst>
              <a:ext uri="{FF2B5EF4-FFF2-40B4-BE49-F238E27FC236}">
                <a16:creationId xmlns:a16="http://schemas.microsoft.com/office/drawing/2014/main" id="{888E1DD9-BF3F-4099-C134-8DF6FD403E8C}"/>
              </a:ext>
            </a:extLst>
          </p:cNvPr>
          <p:cNvSpPr>
            <a:spLocks noGrp="1"/>
          </p:cNvSpPr>
          <p:nvPr>
            <p:ph type="sldNum" sz="quarter" idx="12"/>
          </p:nvPr>
        </p:nvSpPr>
        <p:spPr/>
        <p:txBody>
          <a:bodyPr/>
          <a:lstStyle/>
          <a:p>
            <a:fld id="{4093CC90-4002-504C-BD88-C9A1D374048E}" type="slidenum">
              <a:rPr lang="zh-CN" altLang="en-US" smtClean="0"/>
              <a:pPr/>
              <a:t>84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animEffect transition="in" filter="checkerboard(across)">
                                      <p:cBhvr>
                                        <p:cTn id="7" dur="500"/>
                                        <p:tgtEl>
                                          <p:spTgt spid="287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7747">
                                            <p:txEl>
                                              <p:pRg st="1" end="1"/>
                                            </p:txEl>
                                          </p:spTgt>
                                        </p:tgtEl>
                                        <p:attrNameLst>
                                          <p:attrName>style.visibility</p:attrName>
                                        </p:attrNameLst>
                                      </p:cBhvr>
                                      <p:to>
                                        <p:strVal val="visible"/>
                                      </p:to>
                                    </p:set>
                                    <p:animEffect transition="in" filter="checkerboard(across)">
                                      <p:cBhvr>
                                        <p:cTn id="12" dur="500"/>
                                        <p:tgtEl>
                                          <p:spTgt spid="287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7747">
                                            <p:txEl>
                                              <p:pRg st="2" end="2"/>
                                            </p:txEl>
                                          </p:spTgt>
                                        </p:tgtEl>
                                        <p:attrNameLst>
                                          <p:attrName>style.visibility</p:attrName>
                                        </p:attrNameLst>
                                      </p:cBhvr>
                                      <p:to>
                                        <p:strVal val="visible"/>
                                      </p:to>
                                    </p:set>
                                    <p:animEffect transition="in" filter="checkerboard(across)">
                                      <p:cBhvr>
                                        <p:cTn id="17" dur="500"/>
                                        <p:tgtEl>
                                          <p:spTgt spid="287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7747">
                                            <p:txEl>
                                              <p:pRg st="3" end="3"/>
                                            </p:txEl>
                                          </p:spTgt>
                                        </p:tgtEl>
                                        <p:attrNameLst>
                                          <p:attrName>style.visibility</p:attrName>
                                        </p:attrNameLst>
                                      </p:cBhvr>
                                      <p:to>
                                        <p:strVal val="visible"/>
                                      </p:to>
                                    </p:set>
                                    <p:animEffect transition="in" filter="checkerboard(across)">
                                      <p:cBhvr>
                                        <p:cTn id="22" dur="500"/>
                                        <p:tgtEl>
                                          <p:spTgt spid="287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7747">
                                            <p:txEl>
                                              <p:pRg st="4" end="4"/>
                                            </p:txEl>
                                          </p:spTgt>
                                        </p:tgtEl>
                                        <p:attrNameLst>
                                          <p:attrName>style.visibility</p:attrName>
                                        </p:attrNameLst>
                                      </p:cBhvr>
                                      <p:to>
                                        <p:strVal val="visible"/>
                                      </p:to>
                                    </p:set>
                                    <p:animEffect transition="in" filter="checkerboard(across)">
                                      <p:cBhvr>
                                        <p:cTn id="27" dur="500"/>
                                        <p:tgtEl>
                                          <p:spTgt spid="287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C9CC7917-0C1B-F4C6-BFB3-511C47E7C756}"/>
              </a:ext>
            </a:extLst>
          </p:cNvPr>
          <p:cNvSpPr>
            <a:spLocks noGrp="1" noChangeArrowheads="1"/>
          </p:cNvSpPr>
          <p:nvPr>
            <p:ph type="title"/>
          </p:nvPr>
        </p:nvSpPr>
        <p:spPr/>
        <p:txBody>
          <a:bodyPr/>
          <a:lstStyle/>
          <a:p>
            <a:pPr eaLnBrk="1" hangingPunct="1"/>
            <a:r>
              <a:rPr lang="en-US" altLang="zh-CN" dirty="0"/>
              <a:t>Spooling</a:t>
            </a:r>
            <a:r>
              <a:rPr lang="zh-CN" altLang="en-US" dirty="0"/>
              <a:t>技术</a:t>
            </a:r>
          </a:p>
        </p:txBody>
      </p:sp>
      <p:sp>
        <p:nvSpPr>
          <p:cNvPr id="291843" name="Rectangle 3">
            <a:extLst>
              <a:ext uri="{FF2B5EF4-FFF2-40B4-BE49-F238E27FC236}">
                <a16:creationId xmlns:a16="http://schemas.microsoft.com/office/drawing/2014/main" id="{DEABF3B3-E481-08FE-FC98-B2FE0FD32D00}"/>
              </a:ext>
            </a:extLst>
          </p:cNvPr>
          <p:cNvSpPr>
            <a:spLocks noGrp="1" noChangeArrowheads="1"/>
          </p:cNvSpPr>
          <p:nvPr>
            <p:ph idx="1"/>
          </p:nvPr>
        </p:nvSpPr>
        <p:spPr>
          <a:xfrm>
            <a:off x="609600" y="1268413"/>
            <a:ext cx="8345488" cy="4459287"/>
          </a:xfrm>
        </p:spPr>
        <p:txBody>
          <a:bodyPr/>
          <a:lstStyle/>
          <a:p>
            <a:pPr algn="just" eaLnBrk="1" hangingPunct="1"/>
            <a:r>
              <a:rPr lang="en-US" altLang="zh-CN">
                <a:latin typeface="Times New Roman" panose="02020603050405020304" pitchFamily="18" charset="0"/>
              </a:rPr>
              <a:t>Spooling</a:t>
            </a:r>
            <a:r>
              <a:rPr lang="zh-CN" altLang="en-US">
                <a:latin typeface="Times New Roman" panose="02020603050405020304" pitchFamily="18" charset="0"/>
              </a:rPr>
              <a:t>是</a:t>
            </a:r>
            <a:r>
              <a:rPr lang="en-US" altLang="zh-CN">
                <a:latin typeface="Times New Roman" panose="02020603050405020304" pitchFamily="18" charset="0"/>
              </a:rPr>
              <a:t>Simultaneous Peripheral Operating On-Line</a:t>
            </a:r>
            <a:r>
              <a:rPr lang="zh-CN" altLang="en-US">
                <a:latin typeface="Times New Roman" panose="02020603050405020304" pitchFamily="18" charset="0"/>
              </a:rPr>
              <a:t>的缩写，意思是外部设备同时联机操作</a:t>
            </a:r>
            <a:r>
              <a:rPr lang="en-US" altLang="zh-CN">
                <a:latin typeface="Times New Roman" panose="02020603050405020304" pitchFamily="18" charset="0"/>
              </a:rPr>
              <a:t>，</a:t>
            </a:r>
            <a:r>
              <a:rPr lang="zh-CN" altLang="en-US">
                <a:latin typeface="Times New Roman" panose="02020603050405020304" pitchFamily="18" charset="0"/>
              </a:rPr>
              <a:t>又称假脱机操作。</a:t>
            </a:r>
          </a:p>
          <a:p>
            <a:pPr algn="just" eaLnBrk="1" hangingPunct="1"/>
            <a:r>
              <a:rPr lang="zh-CN" altLang="en-US">
                <a:latin typeface="Times New Roman" panose="02020603050405020304" pitchFamily="18" charset="0"/>
              </a:rPr>
              <a:t>在</a:t>
            </a:r>
            <a:r>
              <a:rPr lang="en-US" altLang="zh-CN">
                <a:latin typeface="Times New Roman" panose="02020603050405020304" pitchFamily="18" charset="0"/>
              </a:rPr>
              <a:t>Spooling</a:t>
            </a:r>
            <a:r>
              <a:rPr lang="zh-CN" altLang="en-US">
                <a:latin typeface="Times New Roman" panose="02020603050405020304" pitchFamily="18" charset="0"/>
              </a:rPr>
              <a:t>系统中，用一道程序模拟脱机输入时的外围控制机功能，把低速输入设备上的数据传送到高速磁盘上；再用另一道程序来模拟脱机输出时的外围控制机功能，把数据从磁盘传送到低速输出设备上。</a:t>
            </a:r>
            <a:endParaRPr lang="zh-CN" altLang="en-US"/>
          </a:p>
        </p:txBody>
      </p:sp>
      <p:sp>
        <p:nvSpPr>
          <p:cNvPr id="2" name="灯片编号占位符 1">
            <a:extLst>
              <a:ext uri="{FF2B5EF4-FFF2-40B4-BE49-F238E27FC236}">
                <a16:creationId xmlns:a16="http://schemas.microsoft.com/office/drawing/2014/main" id="{7C26CC4B-74F1-9878-69B6-0956AEC0E519}"/>
              </a:ext>
            </a:extLst>
          </p:cNvPr>
          <p:cNvSpPr>
            <a:spLocks noGrp="1"/>
          </p:cNvSpPr>
          <p:nvPr>
            <p:ph type="sldNum" sz="quarter" idx="12"/>
          </p:nvPr>
        </p:nvSpPr>
        <p:spPr/>
        <p:txBody>
          <a:bodyPr/>
          <a:lstStyle/>
          <a:p>
            <a:fld id="{4093CC90-4002-504C-BD88-C9A1D374048E}" type="slidenum">
              <a:rPr lang="zh-CN" altLang="en-US" smtClean="0"/>
              <a:pPr/>
              <a:t>85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checkerboard(across)">
                                      <p:cBhvr>
                                        <p:cTn id="7" dur="500"/>
                                        <p:tgtEl>
                                          <p:spTgt spid="291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checkerboard(across)">
                                      <p:cBhvr>
                                        <p:cTn id="12" dur="500"/>
                                        <p:tgtEl>
                                          <p:spTgt spid="2918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E6F2EEB7-6C6F-DF58-3FF5-27C63896CDCD}"/>
              </a:ext>
            </a:extLst>
          </p:cNvPr>
          <p:cNvSpPr>
            <a:spLocks noGrp="1" noChangeArrowheads="1"/>
          </p:cNvSpPr>
          <p:nvPr>
            <p:ph type="title"/>
          </p:nvPr>
        </p:nvSpPr>
        <p:spPr>
          <a:xfrm>
            <a:off x="1042988" y="225431"/>
            <a:ext cx="7850187" cy="746125"/>
          </a:xfrm>
        </p:spPr>
        <p:txBody>
          <a:bodyPr/>
          <a:lstStyle/>
          <a:p>
            <a:r>
              <a:rPr lang="en-US" altLang="zh-CN"/>
              <a:t>Spooling</a:t>
            </a:r>
            <a:r>
              <a:rPr lang="zh-CN" altLang="en-US"/>
              <a:t>系统的组成</a:t>
            </a:r>
          </a:p>
        </p:txBody>
      </p:sp>
      <p:sp>
        <p:nvSpPr>
          <p:cNvPr id="105474" name="Rectangle 3">
            <a:extLst>
              <a:ext uri="{FF2B5EF4-FFF2-40B4-BE49-F238E27FC236}">
                <a16:creationId xmlns:a16="http://schemas.microsoft.com/office/drawing/2014/main" id="{B2C6E7E4-61C3-6344-9805-C364AA89915D}"/>
              </a:ext>
            </a:extLst>
          </p:cNvPr>
          <p:cNvSpPr>
            <a:spLocks noGrp="1" noChangeArrowheads="1"/>
          </p:cNvSpPr>
          <p:nvPr>
            <p:ph idx="1"/>
          </p:nvPr>
        </p:nvSpPr>
        <p:spPr>
          <a:xfrm>
            <a:off x="935038" y="1233488"/>
            <a:ext cx="7772400" cy="4895850"/>
          </a:xfrm>
        </p:spPr>
        <p:txBody>
          <a:bodyPr/>
          <a:lstStyle/>
          <a:p>
            <a:r>
              <a:rPr lang="en-US" altLang="zh-CN"/>
              <a:t>Spooling</a:t>
            </a:r>
            <a:r>
              <a:rPr lang="zh-CN" altLang="en-US"/>
              <a:t>系统由三部分组成：</a:t>
            </a:r>
          </a:p>
          <a:p>
            <a:pPr lvl="1"/>
            <a:r>
              <a:rPr lang="zh-CN" altLang="en-US"/>
              <a:t>输入井和输出井</a:t>
            </a:r>
          </a:p>
          <a:p>
            <a:pPr lvl="1"/>
            <a:r>
              <a:rPr lang="zh-CN" altLang="en-US"/>
              <a:t>输入缓冲区和输出缓冲区</a:t>
            </a:r>
          </a:p>
          <a:p>
            <a:pPr lvl="1"/>
            <a:r>
              <a:rPr lang="zh-CN" altLang="en-US"/>
              <a:t>输入进程和输出进程</a:t>
            </a:r>
          </a:p>
        </p:txBody>
      </p:sp>
      <p:sp>
        <p:nvSpPr>
          <p:cNvPr id="2" name="灯片编号占位符 1">
            <a:extLst>
              <a:ext uri="{FF2B5EF4-FFF2-40B4-BE49-F238E27FC236}">
                <a16:creationId xmlns:a16="http://schemas.microsoft.com/office/drawing/2014/main" id="{BE859CE1-6595-6EE2-EA54-2DEB4AD06D1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86</a:t>
            </a:fld>
            <a:endParaRPr lang="zh-CN" altLang="en-US" dirty="0"/>
          </a:p>
        </p:txBody>
      </p:sp>
    </p:spTree>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3F928F6E-7B7A-CC9E-B3D2-10A383468043}"/>
              </a:ext>
            </a:extLst>
          </p:cNvPr>
          <p:cNvSpPr>
            <a:spLocks noGrp="1" noChangeArrowheads="1"/>
          </p:cNvSpPr>
          <p:nvPr>
            <p:ph type="title"/>
          </p:nvPr>
        </p:nvSpPr>
        <p:spPr/>
        <p:txBody>
          <a:bodyPr/>
          <a:lstStyle/>
          <a:p>
            <a:pPr eaLnBrk="1" hangingPunct="1"/>
            <a:r>
              <a:rPr lang="zh-CN" altLang="en-US"/>
              <a:t>输入井和输出井</a:t>
            </a:r>
          </a:p>
        </p:txBody>
      </p:sp>
      <p:sp>
        <p:nvSpPr>
          <p:cNvPr id="293891" name="Rectangle 3">
            <a:extLst>
              <a:ext uri="{FF2B5EF4-FFF2-40B4-BE49-F238E27FC236}">
                <a16:creationId xmlns:a16="http://schemas.microsoft.com/office/drawing/2014/main" id="{2EC47B31-D6AE-07D2-A431-D1D625415280}"/>
              </a:ext>
            </a:extLst>
          </p:cNvPr>
          <p:cNvSpPr>
            <a:spLocks noGrp="1" noChangeArrowheads="1"/>
          </p:cNvSpPr>
          <p:nvPr>
            <p:ph idx="1"/>
          </p:nvPr>
        </p:nvSpPr>
        <p:spPr/>
        <p:txBody>
          <a:bodyPr/>
          <a:lstStyle/>
          <a:p>
            <a:pPr algn="just" eaLnBrk="1" hangingPunct="1"/>
            <a:r>
              <a:rPr lang="zh-CN" altLang="en-US"/>
              <a:t>输入井和输出井是磁盘上的两个存储区域。</a:t>
            </a:r>
          </a:p>
          <a:p>
            <a:pPr algn="just" eaLnBrk="1" hangingPunct="1"/>
            <a:r>
              <a:rPr lang="zh-CN" altLang="en-US"/>
              <a:t>输入井收容</a:t>
            </a:r>
            <a:r>
              <a:rPr lang="en-US" altLang="zh-CN"/>
              <a:t>I/O</a:t>
            </a:r>
            <a:r>
              <a:rPr lang="zh-CN" altLang="en-US">
                <a:latin typeface="Times New Roman" panose="02020603050405020304" pitchFamily="18" charset="0"/>
              </a:rPr>
              <a:t>设备</a:t>
            </a:r>
            <a:r>
              <a:rPr lang="zh-CN" altLang="en-US"/>
              <a:t>输入的数据。</a:t>
            </a:r>
          </a:p>
          <a:p>
            <a:pPr algn="just" eaLnBrk="1" hangingPunct="1"/>
            <a:r>
              <a:rPr lang="zh-CN" altLang="en-US"/>
              <a:t>输出井收容用户程序的输出数据。</a:t>
            </a:r>
          </a:p>
        </p:txBody>
      </p:sp>
      <p:sp>
        <p:nvSpPr>
          <p:cNvPr id="2" name="灯片编号占位符 1">
            <a:extLst>
              <a:ext uri="{FF2B5EF4-FFF2-40B4-BE49-F238E27FC236}">
                <a16:creationId xmlns:a16="http://schemas.microsoft.com/office/drawing/2014/main" id="{AE5F0A8F-CB74-D028-75ED-1FDE4BABDFEC}"/>
              </a:ext>
            </a:extLst>
          </p:cNvPr>
          <p:cNvSpPr>
            <a:spLocks noGrp="1"/>
          </p:cNvSpPr>
          <p:nvPr>
            <p:ph type="sldNum" sz="quarter" idx="12"/>
          </p:nvPr>
        </p:nvSpPr>
        <p:spPr/>
        <p:txBody>
          <a:bodyPr/>
          <a:lstStyle/>
          <a:p>
            <a:fld id="{4093CC90-4002-504C-BD88-C9A1D374048E}" type="slidenum">
              <a:rPr lang="zh-CN" altLang="en-US" smtClean="0"/>
              <a:pPr/>
              <a:t>87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3891">
                                            <p:txEl>
                                              <p:pRg st="0" end="0"/>
                                            </p:txEl>
                                          </p:spTgt>
                                        </p:tgtEl>
                                        <p:attrNameLst>
                                          <p:attrName>style.visibility</p:attrName>
                                        </p:attrNameLst>
                                      </p:cBhvr>
                                      <p:to>
                                        <p:strVal val="visible"/>
                                      </p:to>
                                    </p:set>
                                    <p:animEffect transition="in" filter="checkerboard(across)">
                                      <p:cBhvr>
                                        <p:cTn id="7" dur="500"/>
                                        <p:tgtEl>
                                          <p:spTgt spid="293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3891">
                                            <p:txEl>
                                              <p:pRg st="1" end="1"/>
                                            </p:txEl>
                                          </p:spTgt>
                                        </p:tgtEl>
                                        <p:attrNameLst>
                                          <p:attrName>style.visibility</p:attrName>
                                        </p:attrNameLst>
                                      </p:cBhvr>
                                      <p:to>
                                        <p:strVal val="visible"/>
                                      </p:to>
                                    </p:set>
                                    <p:animEffect transition="in" filter="checkerboard(across)">
                                      <p:cBhvr>
                                        <p:cTn id="12" dur="500"/>
                                        <p:tgtEl>
                                          <p:spTgt spid="2938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93891">
                                            <p:txEl>
                                              <p:pRg st="2" end="2"/>
                                            </p:txEl>
                                          </p:spTgt>
                                        </p:tgtEl>
                                        <p:attrNameLst>
                                          <p:attrName>style.visibility</p:attrName>
                                        </p:attrNameLst>
                                      </p:cBhvr>
                                      <p:to>
                                        <p:strVal val="visible"/>
                                      </p:to>
                                    </p:set>
                                    <p:animEffect transition="in" filter="checkerboard(across)">
                                      <p:cBhvr>
                                        <p:cTn id="17" dur="500"/>
                                        <p:tgtEl>
                                          <p:spTgt spid="2938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E9EA207E-7427-62D0-B62D-4ED347E5B11F}"/>
              </a:ext>
            </a:extLst>
          </p:cNvPr>
          <p:cNvSpPr>
            <a:spLocks noGrp="1" noChangeArrowheads="1"/>
          </p:cNvSpPr>
          <p:nvPr>
            <p:ph type="title"/>
          </p:nvPr>
        </p:nvSpPr>
        <p:spPr/>
        <p:txBody>
          <a:bodyPr/>
          <a:lstStyle/>
          <a:p>
            <a:pPr eaLnBrk="1" hangingPunct="1"/>
            <a:r>
              <a:rPr lang="zh-CN" altLang="en-US"/>
              <a:t>输入缓冲区和输出缓冲区</a:t>
            </a:r>
          </a:p>
        </p:txBody>
      </p:sp>
      <p:sp>
        <p:nvSpPr>
          <p:cNvPr id="294915" name="Rectangle 3">
            <a:extLst>
              <a:ext uri="{FF2B5EF4-FFF2-40B4-BE49-F238E27FC236}">
                <a16:creationId xmlns:a16="http://schemas.microsoft.com/office/drawing/2014/main" id="{9101381D-3C04-EA34-2863-C2D921964FB3}"/>
              </a:ext>
            </a:extLst>
          </p:cNvPr>
          <p:cNvSpPr>
            <a:spLocks noGrp="1" noChangeArrowheads="1"/>
          </p:cNvSpPr>
          <p:nvPr>
            <p:ph idx="1"/>
          </p:nvPr>
        </p:nvSpPr>
        <p:spPr>
          <a:xfrm>
            <a:off x="773113" y="1268413"/>
            <a:ext cx="8181975" cy="4114800"/>
          </a:xfrm>
        </p:spPr>
        <p:txBody>
          <a:bodyPr/>
          <a:lstStyle/>
          <a:p>
            <a:pPr algn="just" eaLnBrk="1" hangingPunct="1"/>
            <a:r>
              <a:rPr lang="zh-CN" altLang="en-US"/>
              <a:t>输入缓冲区和输出缓冲区是内存中的两个缓冲区。</a:t>
            </a:r>
          </a:p>
          <a:p>
            <a:pPr algn="just" eaLnBrk="1" hangingPunct="1"/>
            <a:r>
              <a:rPr lang="zh-CN" altLang="en-US"/>
              <a:t>输入缓冲区用于暂存由输入设备送来的数据，以后再传送到输入井；</a:t>
            </a:r>
          </a:p>
          <a:p>
            <a:pPr algn="just" eaLnBrk="1" hangingPunct="1"/>
            <a:r>
              <a:rPr lang="zh-CN" altLang="en-US"/>
              <a:t>输出缓冲区用于暂存从输出井送来的数据，以后再传送到输出设备。</a:t>
            </a:r>
          </a:p>
        </p:txBody>
      </p:sp>
      <p:sp>
        <p:nvSpPr>
          <p:cNvPr id="2" name="灯片编号占位符 1">
            <a:extLst>
              <a:ext uri="{FF2B5EF4-FFF2-40B4-BE49-F238E27FC236}">
                <a16:creationId xmlns:a16="http://schemas.microsoft.com/office/drawing/2014/main" id="{3FEF6532-C804-6993-F310-B5AD91A8D264}"/>
              </a:ext>
            </a:extLst>
          </p:cNvPr>
          <p:cNvSpPr>
            <a:spLocks noGrp="1"/>
          </p:cNvSpPr>
          <p:nvPr>
            <p:ph type="sldNum" sz="quarter" idx="12"/>
          </p:nvPr>
        </p:nvSpPr>
        <p:spPr/>
        <p:txBody>
          <a:bodyPr/>
          <a:lstStyle/>
          <a:p>
            <a:fld id="{4093CC90-4002-504C-BD88-C9A1D374048E}" type="slidenum">
              <a:rPr lang="zh-CN" altLang="en-US" smtClean="0"/>
              <a:pPr/>
              <a:t>88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4915">
                                            <p:txEl>
                                              <p:pRg st="0" end="0"/>
                                            </p:txEl>
                                          </p:spTgt>
                                        </p:tgtEl>
                                        <p:attrNameLst>
                                          <p:attrName>style.visibility</p:attrName>
                                        </p:attrNameLst>
                                      </p:cBhvr>
                                      <p:to>
                                        <p:strVal val="visible"/>
                                      </p:to>
                                    </p:set>
                                    <p:animEffect transition="in" filter="checkerboard(across)">
                                      <p:cBhvr>
                                        <p:cTn id="7" dur="500"/>
                                        <p:tgtEl>
                                          <p:spTgt spid="294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4915">
                                            <p:txEl>
                                              <p:pRg st="1" end="1"/>
                                            </p:txEl>
                                          </p:spTgt>
                                        </p:tgtEl>
                                        <p:attrNameLst>
                                          <p:attrName>style.visibility</p:attrName>
                                        </p:attrNameLst>
                                      </p:cBhvr>
                                      <p:to>
                                        <p:strVal val="visible"/>
                                      </p:to>
                                    </p:set>
                                    <p:animEffect transition="in" filter="checkerboard(across)">
                                      <p:cBhvr>
                                        <p:cTn id="12" dur="500"/>
                                        <p:tgtEl>
                                          <p:spTgt spid="294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94915">
                                            <p:txEl>
                                              <p:pRg st="2" end="2"/>
                                            </p:txEl>
                                          </p:spTgt>
                                        </p:tgtEl>
                                        <p:attrNameLst>
                                          <p:attrName>style.visibility</p:attrName>
                                        </p:attrNameLst>
                                      </p:cBhvr>
                                      <p:to>
                                        <p:strVal val="visible"/>
                                      </p:to>
                                    </p:set>
                                    <p:animEffect transition="in" filter="checkerboard(across)">
                                      <p:cBhvr>
                                        <p:cTn id="17" dur="500"/>
                                        <p:tgtEl>
                                          <p:spTgt spid="2949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5"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061B7D59-546D-708E-D5B5-E9514562FC3E}"/>
              </a:ext>
            </a:extLst>
          </p:cNvPr>
          <p:cNvSpPr>
            <a:spLocks noGrp="1" noChangeArrowheads="1"/>
          </p:cNvSpPr>
          <p:nvPr>
            <p:ph type="title"/>
          </p:nvPr>
        </p:nvSpPr>
        <p:spPr/>
        <p:txBody>
          <a:bodyPr/>
          <a:lstStyle/>
          <a:p>
            <a:pPr eaLnBrk="1" hangingPunct="1"/>
            <a:r>
              <a:rPr lang="zh-CN" altLang="en-US"/>
              <a:t>输入进程和输出进程</a:t>
            </a:r>
          </a:p>
        </p:txBody>
      </p:sp>
      <p:sp>
        <p:nvSpPr>
          <p:cNvPr id="295939" name="Rectangle 3">
            <a:extLst>
              <a:ext uri="{FF2B5EF4-FFF2-40B4-BE49-F238E27FC236}">
                <a16:creationId xmlns:a16="http://schemas.microsoft.com/office/drawing/2014/main" id="{B30E0AF6-0B2E-BAF9-249F-0A6E37E08BF6}"/>
              </a:ext>
            </a:extLst>
          </p:cNvPr>
          <p:cNvSpPr>
            <a:spLocks noGrp="1" noChangeArrowheads="1"/>
          </p:cNvSpPr>
          <p:nvPr>
            <p:ph idx="1"/>
          </p:nvPr>
        </p:nvSpPr>
        <p:spPr>
          <a:xfrm>
            <a:off x="593725" y="1196975"/>
            <a:ext cx="8269288" cy="4459288"/>
          </a:xfrm>
        </p:spPr>
        <p:txBody>
          <a:bodyPr/>
          <a:lstStyle/>
          <a:p>
            <a:pPr algn="just" eaLnBrk="1" hangingPunct="1"/>
            <a:r>
              <a:rPr lang="zh-CN" altLang="en-US"/>
              <a:t>输入进程模拟脱机输入时的外围控制机，将用户要求的数据从输入设备通过输入缓冲区再送到输入井，当</a:t>
            </a:r>
            <a:r>
              <a:rPr lang="en-US" altLang="zh-CN"/>
              <a:t>CPU</a:t>
            </a:r>
            <a:r>
              <a:rPr lang="zh-CN" altLang="en-US">
                <a:latin typeface="Times New Roman" panose="02020603050405020304" pitchFamily="18" charset="0"/>
              </a:rPr>
              <a:t>需要输入数据时</a:t>
            </a:r>
            <a:r>
              <a:rPr lang="zh-CN" altLang="en-US"/>
              <a:t>直接从输入井读入内存；</a:t>
            </a:r>
          </a:p>
          <a:p>
            <a:pPr algn="just" eaLnBrk="1" hangingPunct="1"/>
            <a:r>
              <a:rPr lang="zh-CN" altLang="en-US"/>
              <a:t>输出进程模拟脱机输出时的外围控制机，把用户要求输出的数据先从内存送到输出井，待输出设备空闲时，再将输出井中的数据经过输出缓冲区送到输出设备上。 </a:t>
            </a:r>
          </a:p>
        </p:txBody>
      </p:sp>
      <p:sp>
        <p:nvSpPr>
          <p:cNvPr id="2" name="灯片编号占位符 1">
            <a:extLst>
              <a:ext uri="{FF2B5EF4-FFF2-40B4-BE49-F238E27FC236}">
                <a16:creationId xmlns:a16="http://schemas.microsoft.com/office/drawing/2014/main" id="{7FEC8D68-5E0F-C413-D972-9EDCC5012C23}"/>
              </a:ext>
            </a:extLst>
          </p:cNvPr>
          <p:cNvSpPr>
            <a:spLocks noGrp="1"/>
          </p:cNvSpPr>
          <p:nvPr>
            <p:ph type="sldNum" sz="quarter" idx="12"/>
          </p:nvPr>
        </p:nvSpPr>
        <p:spPr/>
        <p:txBody>
          <a:bodyPr/>
          <a:lstStyle/>
          <a:p>
            <a:fld id="{4093CC90-4002-504C-BD88-C9A1D374048E}" type="slidenum">
              <a:rPr lang="zh-CN" altLang="en-US" smtClean="0"/>
              <a:pPr/>
              <a:t>89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5939">
                                            <p:txEl>
                                              <p:pRg st="0" end="0"/>
                                            </p:txEl>
                                          </p:spTgt>
                                        </p:tgtEl>
                                        <p:attrNameLst>
                                          <p:attrName>style.visibility</p:attrName>
                                        </p:attrNameLst>
                                      </p:cBhvr>
                                      <p:to>
                                        <p:strVal val="visible"/>
                                      </p:to>
                                    </p:set>
                                    <p:animEffect transition="in" filter="checkerboard(across)">
                                      <p:cBhvr>
                                        <p:cTn id="7" dur="500"/>
                                        <p:tgtEl>
                                          <p:spTgt spid="295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5939">
                                            <p:txEl>
                                              <p:pRg st="1" end="1"/>
                                            </p:txEl>
                                          </p:spTgt>
                                        </p:tgtEl>
                                        <p:attrNameLst>
                                          <p:attrName>style.visibility</p:attrName>
                                        </p:attrNameLst>
                                      </p:cBhvr>
                                      <p:to>
                                        <p:strVal val="visible"/>
                                      </p:to>
                                    </p:set>
                                    <p:animEffect transition="in" filter="checkerboard(across)">
                                      <p:cBhvr>
                                        <p:cTn id="12" dur="500"/>
                                        <p:tgtEl>
                                          <p:spTgt spid="295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67834187-5F83-540B-A983-7FE8C746AAD5}"/>
              </a:ext>
            </a:extLst>
          </p:cNvPr>
          <p:cNvSpPr>
            <a:spLocks noGrp="1" noChangeArrowheads="1"/>
          </p:cNvSpPr>
          <p:nvPr>
            <p:ph type="title"/>
          </p:nvPr>
        </p:nvSpPr>
        <p:spPr/>
        <p:txBody>
          <a:bodyPr/>
          <a:lstStyle/>
          <a:p>
            <a:pPr eaLnBrk="1" hangingPunct="1"/>
            <a:r>
              <a:rPr lang="en-US" altLang="zh-CN"/>
              <a:t>Spooling</a:t>
            </a:r>
            <a:r>
              <a:rPr lang="zh-CN" altLang="en-US"/>
              <a:t>系统组成图</a:t>
            </a:r>
          </a:p>
        </p:txBody>
      </p:sp>
      <p:sp>
        <p:nvSpPr>
          <p:cNvPr id="109570" name="Rectangle 3">
            <a:extLst>
              <a:ext uri="{FF2B5EF4-FFF2-40B4-BE49-F238E27FC236}">
                <a16:creationId xmlns:a16="http://schemas.microsoft.com/office/drawing/2014/main" id="{04A934CD-5A35-35FC-DCE9-B2EFF5CF7DBD}"/>
              </a:ext>
            </a:extLst>
          </p:cNvPr>
          <p:cNvSpPr>
            <a:spLocks noChangeArrowheads="1"/>
          </p:cNvSpPr>
          <p:nvPr/>
        </p:nvSpPr>
        <p:spPr bwMode="auto">
          <a:xfrm>
            <a:off x="2833688" y="1905000"/>
            <a:ext cx="3013075" cy="3230563"/>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  输入进程     输出进程</a:t>
            </a:r>
          </a:p>
        </p:txBody>
      </p:sp>
      <p:sp>
        <p:nvSpPr>
          <p:cNvPr id="109571" name="Line 4">
            <a:extLst>
              <a:ext uri="{FF2B5EF4-FFF2-40B4-BE49-F238E27FC236}">
                <a16:creationId xmlns:a16="http://schemas.microsoft.com/office/drawing/2014/main" id="{F5D324B4-7F84-6D60-CB96-DEE5413C32A7}"/>
              </a:ext>
            </a:extLst>
          </p:cNvPr>
          <p:cNvSpPr>
            <a:spLocks noChangeShapeType="1"/>
          </p:cNvSpPr>
          <p:nvPr/>
        </p:nvSpPr>
        <p:spPr bwMode="auto">
          <a:xfrm>
            <a:off x="2833688" y="2487613"/>
            <a:ext cx="301307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2" name="Line 5">
            <a:extLst>
              <a:ext uri="{FF2B5EF4-FFF2-40B4-BE49-F238E27FC236}">
                <a16:creationId xmlns:a16="http://schemas.microsoft.com/office/drawing/2014/main" id="{228C881C-1810-2114-CF11-B43C410D371B}"/>
              </a:ext>
            </a:extLst>
          </p:cNvPr>
          <p:cNvSpPr>
            <a:spLocks noChangeShapeType="1"/>
          </p:cNvSpPr>
          <p:nvPr/>
        </p:nvSpPr>
        <p:spPr bwMode="auto">
          <a:xfrm>
            <a:off x="4319588" y="1905000"/>
            <a:ext cx="0" cy="6048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3" name="Rectangle 6">
            <a:extLst>
              <a:ext uri="{FF2B5EF4-FFF2-40B4-BE49-F238E27FC236}">
                <a16:creationId xmlns:a16="http://schemas.microsoft.com/office/drawing/2014/main" id="{ED6550D6-3DCF-C621-F29F-8B01F1C39F71}"/>
              </a:ext>
            </a:extLst>
          </p:cNvPr>
          <p:cNvSpPr>
            <a:spLocks noChangeArrowheads="1"/>
          </p:cNvSpPr>
          <p:nvPr/>
        </p:nvSpPr>
        <p:spPr bwMode="auto">
          <a:xfrm>
            <a:off x="3516313" y="2895600"/>
            <a:ext cx="1608137" cy="563563"/>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a:latin typeface="Times New Roman" panose="02020603050405020304" pitchFamily="18" charset="0"/>
              </a:rPr>
              <a:t>输入缓冲区</a:t>
            </a:r>
          </a:p>
        </p:txBody>
      </p:sp>
      <p:sp>
        <p:nvSpPr>
          <p:cNvPr id="109574" name="Rectangle 7">
            <a:extLst>
              <a:ext uri="{FF2B5EF4-FFF2-40B4-BE49-F238E27FC236}">
                <a16:creationId xmlns:a16="http://schemas.microsoft.com/office/drawing/2014/main" id="{CC26A3F2-D319-1C72-C120-B9FC4DED2F90}"/>
              </a:ext>
            </a:extLst>
          </p:cNvPr>
          <p:cNvSpPr>
            <a:spLocks noChangeArrowheads="1"/>
          </p:cNvSpPr>
          <p:nvPr/>
        </p:nvSpPr>
        <p:spPr bwMode="auto">
          <a:xfrm>
            <a:off x="3516313" y="4073525"/>
            <a:ext cx="1608137" cy="561975"/>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a:latin typeface="Times New Roman" panose="02020603050405020304" pitchFamily="18" charset="0"/>
              </a:rPr>
              <a:t>输出缓冲区</a:t>
            </a:r>
          </a:p>
        </p:txBody>
      </p:sp>
      <p:sp>
        <p:nvSpPr>
          <p:cNvPr id="109575" name="AutoShape 8">
            <a:extLst>
              <a:ext uri="{FF2B5EF4-FFF2-40B4-BE49-F238E27FC236}">
                <a16:creationId xmlns:a16="http://schemas.microsoft.com/office/drawing/2014/main" id="{AE0046E5-A200-5662-6DF6-AA3FEEF268F7}"/>
              </a:ext>
            </a:extLst>
          </p:cNvPr>
          <p:cNvSpPr>
            <a:spLocks noChangeArrowheads="1"/>
          </p:cNvSpPr>
          <p:nvPr/>
        </p:nvSpPr>
        <p:spPr bwMode="auto">
          <a:xfrm>
            <a:off x="1146175" y="2801938"/>
            <a:ext cx="782638" cy="646112"/>
          </a:xfrm>
          <a:prstGeom prst="flowChartManualInput">
            <a:avLst/>
          </a:prstGeom>
          <a:solidFill>
            <a:srgbClr val="FFFFFF"/>
          </a:solidFill>
          <a:ln w="158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09576" name="AutoShape 9">
            <a:extLst>
              <a:ext uri="{FF2B5EF4-FFF2-40B4-BE49-F238E27FC236}">
                <a16:creationId xmlns:a16="http://schemas.microsoft.com/office/drawing/2014/main" id="{E1C27795-FCED-A206-80FA-2D9463BF33ED}"/>
              </a:ext>
            </a:extLst>
          </p:cNvPr>
          <p:cNvSpPr>
            <a:spLocks noChangeArrowheads="1"/>
          </p:cNvSpPr>
          <p:nvPr/>
        </p:nvSpPr>
        <p:spPr bwMode="auto">
          <a:xfrm>
            <a:off x="1125538" y="4073525"/>
            <a:ext cx="784225" cy="750888"/>
          </a:xfrm>
          <a:prstGeom prst="flowChartDocument">
            <a:avLst/>
          </a:prstGeom>
          <a:solidFill>
            <a:srgbClr val="FFFFFF"/>
          </a:solidFill>
          <a:ln w="158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09577" name="Rectangle 10">
            <a:extLst>
              <a:ext uri="{FF2B5EF4-FFF2-40B4-BE49-F238E27FC236}">
                <a16:creationId xmlns:a16="http://schemas.microsoft.com/office/drawing/2014/main" id="{89F7FAED-10AC-13D4-6000-F81E299AFB9D}"/>
              </a:ext>
            </a:extLst>
          </p:cNvPr>
          <p:cNvSpPr>
            <a:spLocks noChangeArrowheads="1"/>
          </p:cNvSpPr>
          <p:nvPr/>
        </p:nvSpPr>
        <p:spPr bwMode="auto">
          <a:xfrm>
            <a:off x="914400" y="2320925"/>
            <a:ext cx="12192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输入设备</a:t>
            </a:r>
          </a:p>
        </p:txBody>
      </p:sp>
      <p:sp>
        <p:nvSpPr>
          <p:cNvPr id="109578" name="Rectangle 11">
            <a:extLst>
              <a:ext uri="{FF2B5EF4-FFF2-40B4-BE49-F238E27FC236}">
                <a16:creationId xmlns:a16="http://schemas.microsoft.com/office/drawing/2014/main" id="{5B36BCCF-B9D6-A43D-DFD7-3C9747247ABC}"/>
              </a:ext>
            </a:extLst>
          </p:cNvPr>
          <p:cNvSpPr>
            <a:spLocks noChangeArrowheads="1"/>
          </p:cNvSpPr>
          <p:nvPr/>
        </p:nvSpPr>
        <p:spPr bwMode="auto">
          <a:xfrm>
            <a:off x="914400" y="3622675"/>
            <a:ext cx="12446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输出设备</a:t>
            </a:r>
          </a:p>
        </p:txBody>
      </p:sp>
      <p:sp>
        <p:nvSpPr>
          <p:cNvPr id="109579" name="Rectangle 12">
            <a:extLst>
              <a:ext uri="{FF2B5EF4-FFF2-40B4-BE49-F238E27FC236}">
                <a16:creationId xmlns:a16="http://schemas.microsoft.com/office/drawing/2014/main" id="{73600DEB-1FB6-6DE3-CC3E-A9EEBA00FABD}"/>
              </a:ext>
            </a:extLst>
          </p:cNvPr>
          <p:cNvSpPr>
            <a:spLocks noChangeArrowheads="1"/>
          </p:cNvSpPr>
          <p:nvPr/>
        </p:nvSpPr>
        <p:spPr bwMode="auto">
          <a:xfrm>
            <a:off x="6570663" y="2478088"/>
            <a:ext cx="1506537" cy="2500312"/>
          </a:xfrm>
          <a:prstGeom prst="rect">
            <a:avLst/>
          </a:prstGeom>
          <a:solidFill>
            <a:srgbClr val="FFFFFF"/>
          </a:solidFill>
          <a:ln w="15875">
            <a:solidFill>
              <a:srgbClr val="000000"/>
            </a:solidFill>
            <a:miter lim="800000"/>
            <a:headEnd/>
            <a:tailEnd/>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09580" name="Rectangle 13">
            <a:extLst>
              <a:ext uri="{FF2B5EF4-FFF2-40B4-BE49-F238E27FC236}">
                <a16:creationId xmlns:a16="http://schemas.microsoft.com/office/drawing/2014/main" id="{201038E0-E73D-65CB-775B-C73A3B3D1177}"/>
              </a:ext>
            </a:extLst>
          </p:cNvPr>
          <p:cNvSpPr>
            <a:spLocks noChangeArrowheads="1"/>
          </p:cNvSpPr>
          <p:nvPr/>
        </p:nvSpPr>
        <p:spPr bwMode="auto">
          <a:xfrm>
            <a:off x="7112000" y="1981200"/>
            <a:ext cx="8890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磁盘</a:t>
            </a:r>
          </a:p>
        </p:txBody>
      </p:sp>
      <p:sp>
        <p:nvSpPr>
          <p:cNvPr id="109581" name="Rectangle 14">
            <a:extLst>
              <a:ext uri="{FF2B5EF4-FFF2-40B4-BE49-F238E27FC236}">
                <a16:creationId xmlns:a16="http://schemas.microsoft.com/office/drawing/2014/main" id="{4A132CE5-AD98-4386-3792-FD9DE9230AAC}"/>
              </a:ext>
            </a:extLst>
          </p:cNvPr>
          <p:cNvSpPr>
            <a:spLocks noChangeArrowheads="1"/>
          </p:cNvSpPr>
          <p:nvPr/>
        </p:nvSpPr>
        <p:spPr bwMode="auto">
          <a:xfrm>
            <a:off x="6770688" y="2978150"/>
            <a:ext cx="1085850" cy="603250"/>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a:latin typeface="Times New Roman" panose="02020603050405020304" pitchFamily="18" charset="0"/>
              </a:rPr>
              <a:t>输入井</a:t>
            </a:r>
          </a:p>
        </p:txBody>
      </p:sp>
      <p:sp>
        <p:nvSpPr>
          <p:cNvPr id="109582" name="Rectangle 15">
            <a:extLst>
              <a:ext uri="{FF2B5EF4-FFF2-40B4-BE49-F238E27FC236}">
                <a16:creationId xmlns:a16="http://schemas.microsoft.com/office/drawing/2014/main" id="{72E4DE67-4169-61BD-DEF5-C3D87A524F98}"/>
              </a:ext>
            </a:extLst>
          </p:cNvPr>
          <p:cNvSpPr>
            <a:spLocks noChangeArrowheads="1"/>
          </p:cNvSpPr>
          <p:nvPr/>
        </p:nvSpPr>
        <p:spPr bwMode="auto">
          <a:xfrm>
            <a:off x="6791325" y="4041775"/>
            <a:ext cx="1084263" cy="573088"/>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a:latin typeface="Times New Roman" panose="02020603050405020304" pitchFamily="18" charset="0"/>
              </a:rPr>
              <a:t>输出井</a:t>
            </a:r>
          </a:p>
        </p:txBody>
      </p:sp>
      <p:sp>
        <p:nvSpPr>
          <p:cNvPr id="109583" name="Line 16">
            <a:extLst>
              <a:ext uri="{FF2B5EF4-FFF2-40B4-BE49-F238E27FC236}">
                <a16:creationId xmlns:a16="http://schemas.microsoft.com/office/drawing/2014/main" id="{73BEC0D2-E95B-E846-FCBE-667F698C62AA}"/>
              </a:ext>
            </a:extLst>
          </p:cNvPr>
          <p:cNvSpPr>
            <a:spLocks noChangeShapeType="1"/>
          </p:cNvSpPr>
          <p:nvPr/>
        </p:nvSpPr>
        <p:spPr bwMode="auto">
          <a:xfrm>
            <a:off x="1928813" y="3200400"/>
            <a:ext cx="1608137"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84" name="Line 17">
            <a:extLst>
              <a:ext uri="{FF2B5EF4-FFF2-40B4-BE49-F238E27FC236}">
                <a16:creationId xmlns:a16="http://schemas.microsoft.com/office/drawing/2014/main" id="{EFFC1E9D-4FAB-38C6-626F-812F6E2C93D4}"/>
              </a:ext>
            </a:extLst>
          </p:cNvPr>
          <p:cNvSpPr>
            <a:spLocks noChangeShapeType="1"/>
          </p:cNvSpPr>
          <p:nvPr/>
        </p:nvSpPr>
        <p:spPr bwMode="auto">
          <a:xfrm>
            <a:off x="1909763" y="4384675"/>
            <a:ext cx="160655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85" name="Line 18">
            <a:extLst>
              <a:ext uri="{FF2B5EF4-FFF2-40B4-BE49-F238E27FC236}">
                <a16:creationId xmlns:a16="http://schemas.microsoft.com/office/drawing/2014/main" id="{443D1B3D-C8B9-B8E7-B466-112D17DBCBBB}"/>
              </a:ext>
            </a:extLst>
          </p:cNvPr>
          <p:cNvSpPr>
            <a:spLocks noChangeShapeType="1"/>
          </p:cNvSpPr>
          <p:nvPr/>
        </p:nvSpPr>
        <p:spPr bwMode="auto">
          <a:xfrm>
            <a:off x="5126038" y="3238500"/>
            <a:ext cx="1655762"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86" name="Line 19">
            <a:extLst>
              <a:ext uri="{FF2B5EF4-FFF2-40B4-BE49-F238E27FC236}">
                <a16:creationId xmlns:a16="http://schemas.microsoft.com/office/drawing/2014/main" id="{5AE46A03-25E9-C226-9760-E6ED50D1A8FB}"/>
              </a:ext>
            </a:extLst>
          </p:cNvPr>
          <p:cNvSpPr>
            <a:spLocks noChangeShapeType="1"/>
          </p:cNvSpPr>
          <p:nvPr/>
        </p:nvSpPr>
        <p:spPr bwMode="auto">
          <a:xfrm>
            <a:off x="5124450" y="4384675"/>
            <a:ext cx="166687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633E6CD7-31AA-73F6-51C1-C837B73FB54D}"/>
              </a:ext>
            </a:extLst>
          </p:cNvPr>
          <p:cNvSpPr>
            <a:spLocks noGrp="1"/>
          </p:cNvSpPr>
          <p:nvPr>
            <p:ph type="sldNum" sz="quarter" idx="12"/>
          </p:nvPr>
        </p:nvSpPr>
        <p:spPr/>
        <p:txBody>
          <a:bodyPr/>
          <a:lstStyle/>
          <a:p>
            <a:fld id="{4093CC90-4002-504C-BD88-C9A1D374048E}" type="slidenum">
              <a:rPr lang="zh-CN" altLang="en-US" smtClean="0"/>
              <a:pPr/>
              <a:t>90</a:t>
            </a:fld>
            <a:endParaRPr lang="zh-CN" altLang="en-US" dirty="0"/>
          </a:p>
        </p:txBody>
      </p:sp>
    </p:spTree>
  </p:cSld>
  <p:clrMapOvr>
    <a:masterClrMapping/>
  </p:clrMapOvr>
  <p:transition spd="med">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CFFCBD1B-579C-4684-B50F-2DC3C12DDEE4}"/>
              </a:ext>
            </a:extLst>
          </p:cNvPr>
          <p:cNvSpPr>
            <a:spLocks noGrp="1" noChangeArrowheads="1"/>
          </p:cNvSpPr>
          <p:nvPr>
            <p:ph type="title"/>
          </p:nvPr>
        </p:nvSpPr>
        <p:spPr/>
        <p:txBody>
          <a:bodyPr/>
          <a:lstStyle/>
          <a:p>
            <a:pPr eaLnBrk="1" hangingPunct="1"/>
            <a:r>
              <a:rPr lang="zh-CN" altLang="en-US"/>
              <a:t>共享打印机1</a:t>
            </a:r>
          </a:p>
        </p:txBody>
      </p:sp>
      <p:sp>
        <p:nvSpPr>
          <p:cNvPr id="297987" name="Rectangle 3">
            <a:extLst>
              <a:ext uri="{FF2B5EF4-FFF2-40B4-BE49-F238E27FC236}">
                <a16:creationId xmlns:a16="http://schemas.microsoft.com/office/drawing/2014/main" id="{A75A98DC-317A-5222-C51C-132A163A95BD}"/>
              </a:ext>
            </a:extLst>
          </p:cNvPr>
          <p:cNvSpPr>
            <a:spLocks noGrp="1" noChangeArrowheads="1"/>
          </p:cNvSpPr>
          <p:nvPr>
            <p:ph idx="1"/>
          </p:nvPr>
        </p:nvSpPr>
        <p:spPr>
          <a:xfrm>
            <a:off x="561975" y="1268413"/>
            <a:ext cx="8353425" cy="5040312"/>
          </a:xfrm>
        </p:spPr>
        <p:txBody>
          <a:bodyPr>
            <a:normAutofit lnSpcReduction="10000"/>
          </a:bodyPr>
          <a:lstStyle/>
          <a:p>
            <a:pPr algn="just" eaLnBrk="1" hangingPunct="1"/>
            <a:r>
              <a:rPr lang="zh-CN" altLang="en-US"/>
              <a:t>打印机是常用的独享设备，但利用</a:t>
            </a:r>
            <a:r>
              <a:rPr lang="en-US" altLang="zh-CN"/>
              <a:t>Spooling</a:t>
            </a:r>
            <a:r>
              <a:rPr lang="zh-CN" altLang="en-US"/>
              <a:t>技术可以将它改造成供多个用户共享的设备。</a:t>
            </a:r>
          </a:p>
          <a:p>
            <a:pPr algn="just" eaLnBrk="1" hangingPunct="1"/>
            <a:r>
              <a:rPr lang="zh-CN" altLang="en-US"/>
              <a:t>当用户进程请求打印输出时，</a:t>
            </a:r>
            <a:r>
              <a:rPr lang="en-US" altLang="zh-CN"/>
              <a:t>Spooling</a:t>
            </a:r>
            <a:r>
              <a:rPr lang="zh-CN" altLang="en-US"/>
              <a:t>系统同意为它打印，但不将打印机真正分配给它，而只为它做两件事：</a:t>
            </a:r>
          </a:p>
          <a:p>
            <a:pPr lvl="1" algn="just" eaLnBrk="1" hangingPunct="1"/>
            <a:r>
              <a:rPr lang="zh-CN" altLang="en-US"/>
              <a:t>由输出进程在输出井中为之申请一空闲磁盘区，并将要打印的数据送入其中；</a:t>
            </a:r>
          </a:p>
          <a:p>
            <a:pPr lvl="1" algn="just" eaLnBrk="1" hangingPunct="1"/>
            <a:r>
              <a:rPr lang="zh-CN" altLang="en-US"/>
              <a:t>输出进程再为用户进程申请一张空白的用户请求打印表，并将用户的打印要求填入其中，再将该表挂到请求打印队列上。</a:t>
            </a:r>
          </a:p>
        </p:txBody>
      </p:sp>
      <p:sp>
        <p:nvSpPr>
          <p:cNvPr id="2" name="灯片编号占位符 1">
            <a:extLst>
              <a:ext uri="{FF2B5EF4-FFF2-40B4-BE49-F238E27FC236}">
                <a16:creationId xmlns:a16="http://schemas.microsoft.com/office/drawing/2014/main" id="{A0823367-EBBB-C19C-631D-E7CA4036514A}"/>
              </a:ext>
            </a:extLst>
          </p:cNvPr>
          <p:cNvSpPr>
            <a:spLocks noGrp="1"/>
          </p:cNvSpPr>
          <p:nvPr>
            <p:ph type="sldNum" sz="quarter" idx="12"/>
          </p:nvPr>
        </p:nvSpPr>
        <p:spPr/>
        <p:txBody>
          <a:bodyPr/>
          <a:lstStyle/>
          <a:p>
            <a:fld id="{4093CC90-4002-504C-BD88-C9A1D374048E}" type="slidenum">
              <a:rPr lang="zh-CN" altLang="en-US" smtClean="0"/>
              <a:pPr/>
              <a:t>91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animEffect transition="in" filter="checkerboard(across)">
                                      <p:cBhvr>
                                        <p:cTn id="7" dur="500"/>
                                        <p:tgtEl>
                                          <p:spTgt spid="297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7987">
                                            <p:txEl>
                                              <p:pRg st="1" end="1"/>
                                            </p:txEl>
                                          </p:spTgt>
                                        </p:tgtEl>
                                        <p:attrNameLst>
                                          <p:attrName>style.visibility</p:attrName>
                                        </p:attrNameLst>
                                      </p:cBhvr>
                                      <p:to>
                                        <p:strVal val="visible"/>
                                      </p:to>
                                    </p:set>
                                    <p:animEffect transition="in" filter="checkerboard(across)">
                                      <p:cBhvr>
                                        <p:cTn id="12" dur="500"/>
                                        <p:tgtEl>
                                          <p:spTgt spid="297987">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97987">
                                            <p:txEl>
                                              <p:pRg st="2" end="2"/>
                                            </p:txEl>
                                          </p:spTgt>
                                        </p:tgtEl>
                                        <p:attrNameLst>
                                          <p:attrName>style.visibility</p:attrName>
                                        </p:attrNameLst>
                                      </p:cBhvr>
                                      <p:to>
                                        <p:strVal val="visible"/>
                                      </p:to>
                                    </p:set>
                                    <p:animEffect transition="in" filter="checkerboard(across)">
                                      <p:cBhvr>
                                        <p:cTn id="15" dur="500"/>
                                        <p:tgtEl>
                                          <p:spTgt spid="297987">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97987">
                                            <p:txEl>
                                              <p:pRg st="3" end="3"/>
                                            </p:txEl>
                                          </p:spTgt>
                                        </p:tgtEl>
                                        <p:attrNameLst>
                                          <p:attrName>style.visibility</p:attrName>
                                        </p:attrNameLst>
                                      </p:cBhvr>
                                      <p:to>
                                        <p:strVal val="visible"/>
                                      </p:to>
                                    </p:set>
                                    <p:animEffect transition="in" filter="checkerboard(across)">
                                      <p:cBhvr>
                                        <p:cTn id="18" dur="500"/>
                                        <p:tgtEl>
                                          <p:spTgt spid="297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2F085565-0418-5CBB-9318-A9829FE2E73E}"/>
              </a:ext>
            </a:extLst>
          </p:cNvPr>
          <p:cNvSpPr>
            <a:spLocks noGrp="1" noChangeArrowheads="1"/>
          </p:cNvSpPr>
          <p:nvPr>
            <p:ph type="title"/>
          </p:nvPr>
        </p:nvSpPr>
        <p:spPr/>
        <p:txBody>
          <a:bodyPr/>
          <a:lstStyle/>
          <a:p>
            <a:pPr eaLnBrk="1" hangingPunct="1"/>
            <a:r>
              <a:rPr lang="zh-CN" altLang="en-US"/>
              <a:t>共享打印机2</a:t>
            </a:r>
          </a:p>
        </p:txBody>
      </p:sp>
      <p:sp>
        <p:nvSpPr>
          <p:cNvPr id="299011" name="Rectangle 3">
            <a:extLst>
              <a:ext uri="{FF2B5EF4-FFF2-40B4-BE49-F238E27FC236}">
                <a16:creationId xmlns:a16="http://schemas.microsoft.com/office/drawing/2014/main" id="{27ACBE19-488D-D110-762B-8E1999F57172}"/>
              </a:ext>
            </a:extLst>
          </p:cNvPr>
          <p:cNvSpPr>
            <a:spLocks noGrp="1" noChangeArrowheads="1"/>
          </p:cNvSpPr>
          <p:nvPr>
            <p:ph idx="1"/>
          </p:nvPr>
        </p:nvSpPr>
        <p:spPr>
          <a:xfrm>
            <a:off x="762000" y="1268413"/>
            <a:ext cx="8193088" cy="4114800"/>
          </a:xfrm>
        </p:spPr>
        <p:txBody>
          <a:bodyPr/>
          <a:lstStyle/>
          <a:p>
            <a:pPr algn="just" eaLnBrk="1" hangingPunct="1"/>
            <a:r>
              <a:rPr lang="zh-CN" altLang="en-US"/>
              <a:t>如果打印机空闲，输出进程将从打印队列队首取出一张请求打印表，根据表中的要求将要打印的数据从输出井传送到内存缓冲区，再由打印机进行打印。</a:t>
            </a:r>
          </a:p>
          <a:p>
            <a:pPr algn="just" eaLnBrk="1" hangingPunct="1"/>
            <a:r>
              <a:rPr lang="zh-CN" altLang="en-US"/>
              <a:t>打印完后，再取下一张表，直至请求队列为空。此时，输出进程阻塞，当再有打印请求时，才将输出进程唤醒。</a:t>
            </a:r>
          </a:p>
        </p:txBody>
      </p:sp>
      <p:sp>
        <p:nvSpPr>
          <p:cNvPr id="2" name="灯片编号占位符 1">
            <a:extLst>
              <a:ext uri="{FF2B5EF4-FFF2-40B4-BE49-F238E27FC236}">
                <a16:creationId xmlns:a16="http://schemas.microsoft.com/office/drawing/2014/main" id="{FA631B5A-F008-94EA-D7C7-7F7969A06D4D}"/>
              </a:ext>
            </a:extLst>
          </p:cNvPr>
          <p:cNvSpPr>
            <a:spLocks noGrp="1"/>
          </p:cNvSpPr>
          <p:nvPr>
            <p:ph type="sldNum" sz="quarter" idx="12"/>
          </p:nvPr>
        </p:nvSpPr>
        <p:spPr/>
        <p:txBody>
          <a:bodyPr/>
          <a:lstStyle/>
          <a:p>
            <a:fld id="{4093CC90-4002-504C-BD88-C9A1D374048E}" type="slidenum">
              <a:rPr lang="zh-CN" altLang="en-US" smtClean="0"/>
              <a:pPr/>
              <a:t>92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animEffect transition="in" filter="checkerboard(across)">
                                      <p:cBhvr>
                                        <p:cTn id="7" dur="500"/>
                                        <p:tgtEl>
                                          <p:spTgt spid="299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9011">
                                            <p:txEl>
                                              <p:pRg st="1" end="1"/>
                                            </p:txEl>
                                          </p:spTgt>
                                        </p:tgtEl>
                                        <p:attrNameLst>
                                          <p:attrName>style.visibility</p:attrName>
                                        </p:attrNameLst>
                                      </p:cBhvr>
                                      <p:to>
                                        <p:strVal val="visible"/>
                                      </p:to>
                                    </p:set>
                                    <p:animEffect transition="in" filter="checkerboard(across)">
                                      <p:cBhvr>
                                        <p:cTn id="12" dur="500"/>
                                        <p:tgtEl>
                                          <p:spTgt spid="299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664B909-CB38-EB7E-EE5F-CD465140275C}"/>
              </a:ext>
            </a:extLst>
          </p:cNvPr>
          <p:cNvSpPr>
            <a:spLocks noGrp="1" noChangeArrowheads="1"/>
          </p:cNvSpPr>
          <p:nvPr>
            <p:ph type="title"/>
          </p:nvPr>
        </p:nvSpPr>
        <p:spPr>
          <a:xfrm>
            <a:off x="1042988" y="225431"/>
            <a:ext cx="7850187" cy="746125"/>
          </a:xfrm>
        </p:spPr>
        <p:txBody>
          <a:bodyPr/>
          <a:lstStyle/>
          <a:p>
            <a:r>
              <a:rPr lang="zh-CN" altLang="en-US" dirty="0"/>
              <a:t>设备预留</a:t>
            </a:r>
            <a:endParaRPr lang="en-US" altLang="zh-CN" dirty="0"/>
          </a:p>
        </p:txBody>
      </p:sp>
      <p:sp>
        <p:nvSpPr>
          <p:cNvPr id="112642" name="Rectangle 3">
            <a:extLst>
              <a:ext uri="{FF2B5EF4-FFF2-40B4-BE49-F238E27FC236}">
                <a16:creationId xmlns:a16="http://schemas.microsoft.com/office/drawing/2014/main" id="{0DD50E3F-3B4F-995B-AB10-4FADEF886DF2}"/>
              </a:ext>
            </a:extLst>
          </p:cNvPr>
          <p:cNvSpPr>
            <a:spLocks noGrp="1" noChangeArrowheads="1"/>
          </p:cNvSpPr>
          <p:nvPr>
            <p:ph idx="1"/>
          </p:nvPr>
        </p:nvSpPr>
        <p:spPr>
          <a:xfrm>
            <a:off x="935038" y="1233488"/>
            <a:ext cx="7772400" cy="4895850"/>
          </a:xfrm>
        </p:spPr>
        <p:txBody>
          <a:bodyPr/>
          <a:lstStyle/>
          <a:p>
            <a:r>
              <a:rPr lang="zh-CN" altLang="en-US" dirty="0"/>
              <a:t>设备预留：提供对设备的互斥访问</a:t>
            </a:r>
          </a:p>
          <a:p>
            <a:r>
              <a:rPr lang="zh-CN" altLang="en-US" dirty="0"/>
              <a:t>预留：亦即为某进程保留该设备的使用权，在该进程获得运行之前，其他申请该设备的进程将得不到使用权。</a:t>
            </a:r>
          </a:p>
        </p:txBody>
      </p:sp>
      <p:sp>
        <p:nvSpPr>
          <p:cNvPr id="2" name="灯片编号占位符 1">
            <a:extLst>
              <a:ext uri="{FF2B5EF4-FFF2-40B4-BE49-F238E27FC236}">
                <a16:creationId xmlns:a16="http://schemas.microsoft.com/office/drawing/2014/main" id="{9E1BE961-6A97-44DE-ED66-D79D776220C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93</a:t>
            </a:fld>
            <a:endParaRPr lang="zh-CN" altLang="en-US" dirty="0"/>
          </a:p>
        </p:txBody>
      </p:sp>
    </p:spTree>
  </p:cSld>
  <p:clrMapOvr>
    <a:masterClrMapping/>
  </p:clrMapOvr>
  <p:transition spd="med">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0C30F41F-0BA1-3912-6783-577CF269040B}"/>
              </a:ext>
            </a:extLst>
          </p:cNvPr>
          <p:cNvSpPr>
            <a:spLocks noGrp="1" noChangeArrowheads="1"/>
          </p:cNvSpPr>
          <p:nvPr>
            <p:ph type="title"/>
          </p:nvPr>
        </p:nvSpPr>
        <p:spPr>
          <a:xfrm>
            <a:off x="1042988" y="225431"/>
            <a:ext cx="7850187" cy="746125"/>
          </a:xfrm>
        </p:spPr>
        <p:txBody>
          <a:bodyPr/>
          <a:lstStyle/>
          <a:p>
            <a:r>
              <a:rPr lang="zh-CN" altLang="en-US"/>
              <a:t>设备分配</a:t>
            </a:r>
          </a:p>
        </p:txBody>
      </p:sp>
      <p:sp>
        <p:nvSpPr>
          <p:cNvPr id="113666" name="Rectangle 3">
            <a:extLst>
              <a:ext uri="{FF2B5EF4-FFF2-40B4-BE49-F238E27FC236}">
                <a16:creationId xmlns:a16="http://schemas.microsoft.com/office/drawing/2014/main" id="{3D47C8BB-2DB8-6A33-2A22-B0C4C02A7799}"/>
              </a:ext>
            </a:extLst>
          </p:cNvPr>
          <p:cNvSpPr>
            <a:spLocks noGrp="1" noChangeArrowheads="1"/>
          </p:cNvSpPr>
          <p:nvPr>
            <p:ph idx="1"/>
          </p:nvPr>
        </p:nvSpPr>
        <p:spPr>
          <a:xfrm>
            <a:off x="935038" y="1233488"/>
            <a:ext cx="7772400" cy="4895850"/>
          </a:xfrm>
        </p:spPr>
        <p:txBody>
          <a:bodyPr/>
          <a:lstStyle/>
          <a:p>
            <a:r>
              <a:rPr lang="zh-CN" altLang="en-US"/>
              <a:t>当进程提出</a:t>
            </a:r>
            <a:r>
              <a:rPr lang="en-US" altLang="zh-CN"/>
              <a:t>I/O</a:t>
            </a:r>
            <a:r>
              <a:rPr lang="zh-CN" altLang="en-US"/>
              <a:t>请求时，设备分配程序便按照一定的策略为其分配设备，同时还应分配相应的控制器和通道，以保证</a:t>
            </a:r>
            <a:r>
              <a:rPr lang="en-US" altLang="zh-CN"/>
              <a:t>CPU</a:t>
            </a:r>
            <a:r>
              <a:rPr lang="zh-CN" altLang="en-US"/>
              <a:t>与设备之间的通信。</a:t>
            </a:r>
          </a:p>
          <a:p>
            <a:endParaRPr lang="en-US" altLang="zh-CN"/>
          </a:p>
        </p:txBody>
      </p:sp>
      <p:sp>
        <p:nvSpPr>
          <p:cNvPr id="2" name="灯片编号占位符 1">
            <a:extLst>
              <a:ext uri="{FF2B5EF4-FFF2-40B4-BE49-F238E27FC236}">
                <a16:creationId xmlns:a16="http://schemas.microsoft.com/office/drawing/2014/main" id="{599C15F9-D5EB-374B-9894-0F5AD5DBE74C}"/>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94</a:t>
            </a:fld>
            <a:endParaRPr lang="zh-CN" altLang="en-US" dirty="0"/>
          </a:p>
        </p:txBody>
      </p:sp>
    </p:spTree>
  </p:cSld>
  <p:clrMapOvr>
    <a:masterClrMapping/>
  </p:clrMapOvr>
  <p:transition spd="med">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215B324C-09B8-480F-758A-C950A52622D8}"/>
              </a:ext>
            </a:extLst>
          </p:cNvPr>
          <p:cNvSpPr>
            <a:spLocks noGrp="1" noChangeArrowheads="1"/>
          </p:cNvSpPr>
          <p:nvPr>
            <p:ph type="title"/>
          </p:nvPr>
        </p:nvSpPr>
        <p:spPr>
          <a:xfrm>
            <a:off x="1042988" y="225431"/>
            <a:ext cx="7850187" cy="746125"/>
          </a:xfrm>
        </p:spPr>
        <p:txBody>
          <a:bodyPr/>
          <a:lstStyle/>
          <a:p>
            <a:r>
              <a:rPr lang="zh-CN" altLang="en-US"/>
              <a:t>设备管理的数据结构</a:t>
            </a:r>
          </a:p>
        </p:txBody>
      </p:sp>
      <p:sp>
        <p:nvSpPr>
          <p:cNvPr id="114690" name="Rectangle 3">
            <a:extLst>
              <a:ext uri="{FF2B5EF4-FFF2-40B4-BE49-F238E27FC236}">
                <a16:creationId xmlns:a16="http://schemas.microsoft.com/office/drawing/2014/main" id="{98AFAB51-0464-C083-A1DB-A1919B619A73}"/>
              </a:ext>
            </a:extLst>
          </p:cNvPr>
          <p:cNvSpPr>
            <a:spLocks noGrp="1" noChangeArrowheads="1"/>
          </p:cNvSpPr>
          <p:nvPr>
            <p:ph idx="1"/>
          </p:nvPr>
        </p:nvSpPr>
        <p:spPr>
          <a:xfrm>
            <a:off x="935038" y="1233488"/>
            <a:ext cx="7772400" cy="4895850"/>
          </a:xfrm>
        </p:spPr>
        <p:txBody>
          <a:bodyPr/>
          <a:lstStyle/>
          <a:p>
            <a:r>
              <a:rPr lang="zh-CN" altLang="en-US"/>
              <a:t> 设备管理的主要数据结构有：</a:t>
            </a:r>
          </a:p>
          <a:p>
            <a:pPr lvl="1"/>
            <a:r>
              <a:rPr lang="zh-CN" altLang="en-US"/>
              <a:t>设备控制表</a:t>
            </a:r>
          </a:p>
          <a:p>
            <a:pPr lvl="1"/>
            <a:r>
              <a:rPr lang="zh-CN" altLang="en-US"/>
              <a:t>控制器控制表</a:t>
            </a:r>
          </a:p>
          <a:p>
            <a:pPr lvl="1"/>
            <a:r>
              <a:rPr lang="zh-CN" altLang="en-US"/>
              <a:t>通道控制表</a:t>
            </a:r>
          </a:p>
          <a:p>
            <a:pPr lvl="1"/>
            <a:r>
              <a:rPr lang="zh-CN" altLang="en-US"/>
              <a:t>系统设备表</a:t>
            </a:r>
          </a:p>
        </p:txBody>
      </p:sp>
      <p:sp>
        <p:nvSpPr>
          <p:cNvPr id="2" name="灯片编号占位符 1">
            <a:extLst>
              <a:ext uri="{FF2B5EF4-FFF2-40B4-BE49-F238E27FC236}">
                <a16:creationId xmlns:a16="http://schemas.microsoft.com/office/drawing/2014/main" id="{93AB2AEE-753C-BBBB-AFFF-5C3E31DAA65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95</a:t>
            </a:fld>
            <a:endParaRPr lang="zh-CN" altLang="en-US" dirty="0"/>
          </a:p>
        </p:txBody>
      </p:sp>
    </p:spTree>
  </p:cSld>
  <p:clrMapOvr>
    <a:masterClrMapping/>
  </p:clrMapOvr>
  <p:transition spd="med">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1CE72152-D4AA-E40C-E7CE-530C275A77C1}"/>
              </a:ext>
            </a:extLst>
          </p:cNvPr>
          <p:cNvSpPr>
            <a:spLocks noGrp="1" noChangeArrowheads="1"/>
          </p:cNvSpPr>
          <p:nvPr>
            <p:ph type="title"/>
          </p:nvPr>
        </p:nvSpPr>
        <p:spPr/>
        <p:txBody>
          <a:bodyPr/>
          <a:lstStyle/>
          <a:p>
            <a:pPr eaLnBrk="1" hangingPunct="1"/>
            <a:r>
              <a:rPr lang="zh-CN" altLang="en-US"/>
              <a:t>设备控制表（</a:t>
            </a:r>
            <a:r>
              <a:rPr lang="en-US" altLang="zh-CN"/>
              <a:t>DCT）</a:t>
            </a:r>
          </a:p>
        </p:txBody>
      </p:sp>
      <p:sp>
        <p:nvSpPr>
          <p:cNvPr id="115714" name="Rectangle 3">
            <a:extLst>
              <a:ext uri="{FF2B5EF4-FFF2-40B4-BE49-F238E27FC236}">
                <a16:creationId xmlns:a16="http://schemas.microsoft.com/office/drawing/2014/main" id="{AAD7F9D7-36E8-B369-F634-348360AD9924}"/>
              </a:ext>
            </a:extLst>
          </p:cNvPr>
          <p:cNvSpPr>
            <a:spLocks noGrp="1" noChangeArrowheads="1"/>
          </p:cNvSpPr>
          <p:nvPr>
            <p:ph idx="1"/>
          </p:nvPr>
        </p:nvSpPr>
        <p:spPr>
          <a:xfrm>
            <a:off x="755650" y="1196975"/>
            <a:ext cx="8083550" cy="1201738"/>
          </a:xfrm>
        </p:spPr>
        <p:txBody>
          <a:bodyPr/>
          <a:lstStyle/>
          <a:p>
            <a:pPr algn="just" eaLnBrk="1" hangingPunct="1"/>
            <a:r>
              <a:rPr lang="zh-CN" altLang="en-US"/>
              <a:t>系统为每个设备配置一张设备控制表，用于记录设备的特性及</a:t>
            </a:r>
            <a:r>
              <a:rPr lang="zh-CN" altLang="en-US">
                <a:latin typeface="Times New Roman" panose="02020603050405020304" pitchFamily="18" charset="0"/>
              </a:rPr>
              <a:t>与</a:t>
            </a:r>
            <a:r>
              <a:rPr lang="en-US" altLang="zh-CN"/>
              <a:t>I/O</a:t>
            </a:r>
            <a:r>
              <a:rPr lang="zh-CN" altLang="en-US">
                <a:latin typeface="Times New Roman" panose="02020603050405020304" pitchFamily="18" charset="0"/>
              </a:rPr>
              <a:t>控制</a:t>
            </a:r>
            <a:r>
              <a:rPr lang="zh-CN" altLang="en-US"/>
              <a:t>器连接的情况。</a:t>
            </a:r>
          </a:p>
        </p:txBody>
      </p:sp>
      <p:grpSp>
        <p:nvGrpSpPr>
          <p:cNvPr id="115715" name="Group 4">
            <a:extLst>
              <a:ext uri="{FF2B5EF4-FFF2-40B4-BE49-F238E27FC236}">
                <a16:creationId xmlns:a16="http://schemas.microsoft.com/office/drawing/2014/main" id="{C82D4E11-8706-BF5F-8F2D-2EFD7247B94D}"/>
              </a:ext>
            </a:extLst>
          </p:cNvPr>
          <p:cNvGrpSpPr>
            <a:grpSpLocks/>
          </p:cNvGrpSpPr>
          <p:nvPr/>
        </p:nvGrpSpPr>
        <p:grpSpPr bwMode="auto">
          <a:xfrm>
            <a:off x="3048000" y="2667000"/>
            <a:ext cx="3200400" cy="3482975"/>
            <a:chOff x="1920" y="2016"/>
            <a:chExt cx="2016" cy="2194"/>
          </a:xfrm>
        </p:grpSpPr>
        <p:sp>
          <p:nvSpPr>
            <p:cNvPr id="115716" name="Rectangle 5">
              <a:extLst>
                <a:ext uri="{FF2B5EF4-FFF2-40B4-BE49-F238E27FC236}">
                  <a16:creationId xmlns:a16="http://schemas.microsoft.com/office/drawing/2014/main" id="{6CE740D5-E44C-0C2B-65CB-78D2371ADE81}"/>
                </a:ext>
              </a:extLst>
            </p:cNvPr>
            <p:cNvSpPr>
              <a:spLocks noChangeArrowheads="1"/>
            </p:cNvSpPr>
            <p:nvPr/>
          </p:nvSpPr>
          <p:spPr bwMode="auto">
            <a:xfrm>
              <a:off x="2402" y="2016"/>
              <a:ext cx="107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设备控制表</a:t>
              </a:r>
            </a:p>
          </p:txBody>
        </p:sp>
        <p:sp>
          <p:nvSpPr>
            <p:cNvPr id="115717" name="Rectangle 6">
              <a:extLst>
                <a:ext uri="{FF2B5EF4-FFF2-40B4-BE49-F238E27FC236}">
                  <a16:creationId xmlns:a16="http://schemas.microsoft.com/office/drawing/2014/main" id="{A3FE703B-2A48-64F0-AADE-8A6B6B0D57B9}"/>
                </a:ext>
              </a:extLst>
            </p:cNvPr>
            <p:cNvSpPr>
              <a:spLocks noChangeArrowheads="1"/>
            </p:cNvSpPr>
            <p:nvPr/>
          </p:nvSpPr>
          <p:spPr bwMode="auto">
            <a:xfrm>
              <a:off x="1920" y="2335"/>
              <a:ext cx="2013" cy="1875"/>
            </a:xfrm>
            <a:prstGeom prst="rect">
              <a:avLst/>
            </a:prstGeom>
            <a:solidFill>
              <a:srgbClr val="FFFFFF"/>
            </a:solidFill>
            <a:ln w="28575">
              <a:solidFill>
                <a:srgbClr val="000000"/>
              </a:solidFill>
              <a:miter lim="800000"/>
              <a:headEnd/>
              <a:tailEnd/>
            </a:ln>
          </p:spPr>
          <p:txBody>
            <a:bodyPr lIns="14400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 设备类型</a:t>
              </a:r>
            </a:p>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设备标识符</a:t>
              </a:r>
            </a:p>
            <a:p>
              <a:pPr algn="just"/>
              <a:endParaRPr lang="zh-CN" altLang="en-US" sz="1200">
                <a:latin typeface="Times New Roman" panose="02020603050405020304" pitchFamily="18" charset="0"/>
              </a:endParaRPr>
            </a:p>
            <a:p>
              <a:pPr algn="just"/>
              <a:r>
                <a:rPr lang="zh-CN" altLang="en-US">
                  <a:latin typeface="Times New Roman" panose="02020603050405020304" pitchFamily="18" charset="0"/>
                </a:rPr>
                <a:t> 设备状态：忙/闲</a:t>
              </a:r>
            </a:p>
            <a:p>
              <a:pPr algn="just"/>
              <a:endParaRPr lang="zh-CN" altLang="en-US" sz="1000">
                <a:latin typeface="Times New Roman" panose="02020603050405020304" pitchFamily="18" charset="0"/>
              </a:endParaRPr>
            </a:p>
            <a:p>
              <a:pPr algn="just"/>
              <a:r>
                <a:rPr lang="zh-CN" altLang="en-US">
                  <a:latin typeface="Times New Roman" panose="02020603050405020304" pitchFamily="18" charset="0"/>
                </a:rPr>
                <a:t> 指向控制器表的指针</a:t>
              </a:r>
            </a:p>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设备等待队列指针</a:t>
              </a:r>
            </a:p>
            <a:p>
              <a:pPr algn="just"/>
              <a:r>
                <a:rPr lang="zh-CN" altLang="en-US">
                  <a:latin typeface="Times New Roman" panose="02020603050405020304" pitchFamily="18" charset="0"/>
                </a:rPr>
                <a:t>                   …</a:t>
              </a:r>
            </a:p>
          </p:txBody>
        </p:sp>
        <p:sp>
          <p:nvSpPr>
            <p:cNvPr id="115718" name="Line 7">
              <a:extLst>
                <a:ext uri="{FF2B5EF4-FFF2-40B4-BE49-F238E27FC236}">
                  <a16:creationId xmlns:a16="http://schemas.microsoft.com/office/drawing/2014/main" id="{ED1C1A1B-5A5C-CF55-920C-A76CBF2A22BD}"/>
                </a:ext>
              </a:extLst>
            </p:cNvPr>
            <p:cNvSpPr>
              <a:spLocks noChangeShapeType="1"/>
            </p:cNvSpPr>
            <p:nvPr/>
          </p:nvSpPr>
          <p:spPr bwMode="auto">
            <a:xfrm>
              <a:off x="1920" y="2678"/>
              <a:ext cx="201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19" name="Line 8">
              <a:extLst>
                <a:ext uri="{FF2B5EF4-FFF2-40B4-BE49-F238E27FC236}">
                  <a16:creationId xmlns:a16="http://schemas.microsoft.com/office/drawing/2014/main" id="{979DE975-1EC0-0F4C-1D28-E9CE6DF6E962}"/>
                </a:ext>
              </a:extLst>
            </p:cNvPr>
            <p:cNvSpPr>
              <a:spLocks noChangeShapeType="1"/>
            </p:cNvSpPr>
            <p:nvPr/>
          </p:nvSpPr>
          <p:spPr bwMode="auto">
            <a:xfrm>
              <a:off x="1920" y="3322"/>
              <a:ext cx="201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0" name="Line 9">
              <a:extLst>
                <a:ext uri="{FF2B5EF4-FFF2-40B4-BE49-F238E27FC236}">
                  <a16:creationId xmlns:a16="http://schemas.microsoft.com/office/drawing/2014/main" id="{72004C94-410A-DDD3-2AEF-146D455F2C39}"/>
                </a:ext>
              </a:extLst>
            </p:cNvPr>
            <p:cNvSpPr>
              <a:spLocks noChangeShapeType="1"/>
            </p:cNvSpPr>
            <p:nvPr/>
          </p:nvSpPr>
          <p:spPr bwMode="auto">
            <a:xfrm>
              <a:off x="1920" y="3004"/>
              <a:ext cx="20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1" name="Line 10">
              <a:extLst>
                <a:ext uri="{FF2B5EF4-FFF2-40B4-BE49-F238E27FC236}">
                  <a16:creationId xmlns:a16="http://schemas.microsoft.com/office/drawing/2014/main" id="{9B52F26C-E3C4-16E5-014C-82CFBBB082C4}"/>
                </a:ext>
              </a:extLst>
            </p:cNvPr>
            <p:cNvSpPr>
              <a:spLocks noChangeShapeType="1"/>
            </p:cNvSpPr>
            <p:nvPr/>
          </p:nvSpPr>
          <p:spPr bwMode="auto">
            <a:xfrm>
              <a:off x="1920" y="3648"/>
              <a:ext cx="20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2" name="Line 11">
              <a:extLst>
                <a:ext uri="{FF2B5EF4-FFF2-40B4-BE49-F238E27FC236}">
                  <a16:creationId xmlns:a16="http://schemas.microsoft.com/office/drawing/2014/main" id="{90A8A5F9-BC01-6CAC-95C4-FF9017243B6D}"/>
                </a:ext>
              </a:extLst>
            </p:cNvPr>
            <p:cNvSpPr>
              <a:spLocks noChangeShapeType="1"/>
            </p:cNvSpPr>
            <p:nvPr/>
          </p:nvSpPr>
          <p:spPr bwMode="auto">
            <a:xfrm>
              <a:off x="1920" y="3936"/>
              <a:ext cx="20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C979BC36-F12F-BE1A-6DC5-8B7802670532}"/>
              </a:ext>
            </a:extLst>
          </p:cNvPr>
          <p:cNvSpPr>
            <a:spLocks noGrp="1"/>
          </p:cNvSpPr>
          <p:nvPr>
            <p:ph type="sldNum" sz="quarter" idx="12"/>
          </p:nvPr>
        </p:nvSpPr>
        <p:spPr/>
        <p:txBody>
          <a:bodyPr/>
          <a:lstStyle/>
          <a:p>
            <a:fld id="{4093CC90-4002-504C-BD88-C9A1D374048E}" type="slidenum">
              <a:rPr lang="zh-CN" altLang="en-US" smtClean="0"/>
              <a:pPr/>
              <a:t>96</a:t>
            </a:fld>
            <a:endParaRPr lang="zh-CN" altLang="en-US" dirty="0"/>
          </a:p>
        </p:txBody>
      </p:sp>
    </p:spTree>
  </p:cSld>
  <p:clrMapOvr>
    <a:masterClrMapping/>
  </p:clrMapOvr>
  <p:transition spd="med">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E76C5658-F56A-258A-C03E-545D2F24B3FA}"/>
              </a:ext>
            </a:extLst>
          </p:cNvPr>
          <p:cNvSpPr>
            <a:spLocks noGrp="1" noChangeArrowheads="1"/>
          </p:cNvSpPr>
          <p:nvPr>
            <p:ph type="title"/>
          </p:nvPr>
        </p:nvSpPr>
        <p:spPr/>
        <p:txBody>
          <a:bodyPr/>
          <a:lstStyle/>
          <a:p>
            <a:pPr eaLnBrk="1" hangingPunct="1"/>
            <a:r>
              <a:rPr lang="zh-CN" altLang="en-US"/>
              <a:t>控制器控制表（</a:t>
            </a:r>
            <a:r>
              <a:rPr lang="en-US" altLang="zh-CN"/>
              <a:t>COCT）</a:t>
            </a:r>
          </a:p>
        </p:txBody>
      </p:sp>
      <p:sp>
        <p:nvSpPr>
          <p:cNvPr id="116738" name="Rectangle 3">
            <a:extLst>
              <a:ext uri="{FF2B5EF4-FFF2-40B4-BE49-F238E27FC236}">
                <a16:creationId xmlns:a16="http://schemas.microsoft.com/office/drawing/2014/main" id="{27720BC2-4BF0-4557-7EB5-85BA187EBAAA}"/>
              </a:ext>
            </a:extLst>
          </p:cNvPr>
          <p:cNvSpPr>
            <a:spLocks noGrp="1" noChangeArrowheads="1"/>
          </p:cNvSpPr>
          <p:nvPr>
            <p:ph idx="1"/>
          </p:nvPr>
        </p:nvSpPr>
        <p:spPr>
          <a:xfrm>
            <a:off x="755650" y="1196975"/>
            <a:ext cx="8159750" cy="1487488"/>
          </a:xfrm>
        </p:spPr>
        <p:txBody>
          <a:bodyPr/>
          <a:lstStyle/>
          <a:p>
            <a:pPr algn="just" eaLnBrk="1" hangingPunct="1"/>
            <a:r>
              <a:rPr lang="zh-CN" altLang="en-US"/>
              <a:t>控制器控制表也是每个控制器一张，它反</a:t>
            </a:r>
            <a:r>
              <a:rPr lang="zh-CN" altLang="en-US">
                <a:latin typeface="Times New Roman" panose="02020603050405020304" pitchFamily="18" charset="0"/>
              </a:rPr>
              <a:t>映</a:t>
            </a:r>
            <a:r>
              <a:rPr lang="en-US" altLang="zh-CN"/>
              <a:t>I/O</a:t>
            </a:r>
            <a:r>
              <a:rPr lang="zh-CN" altLang="en-US">
                <a:latin typeface="Times New Roman" panose="02020603050405020304" pitchFamily="18" charset="0"/>
              </a:rPr>
              <a:t>控制器的</a:t>
            </a:r>
            <a:r>
              <a:rPr lang="zh-CN" altLang="en-US"/>
              <a:t>使用状态以及和通道的连接情况。</a:t>
            </a:r>
          </a:p>
        </p:txBody>
      </p:sp>
      <p:grpSp>
        <p:nvGrpSpPr>
          <p:cNvPr id="116739" name="Group 4">
            <a:extLst>
              <a:ext uri="{FF2B5EF4-FFF2-40B4-BE49-F238E27FC236}">
                <a16:creationId xmlns:a16="http://schemas.microsoft.com/office/drawing/2014/main" id="{E681C275-F853-A75B-7CFB-6967FAA85D39}"/>
              </a:ext>
            </a:extLst>
          </p:cNvPr>
          <p:cNvGrpSpPr>
            <a:grpSpLocks/>
          </p:cNvGrpSpPr>
          <p:nvPr/>
        </p:nvGrpSpPr>
        <p:grpSpPr bwMode="auto">
          <a:xfrm>
            <a:off x="3352800" y="2819400"/>
            <a:ext cx="3124200" cy="3052763"/>
            <a:chOff x="1248" y="2064"/>
            <a:chExt cx="1968" cy="1923"/>
          </a:xfrm>
        </p:grpSpPr>
        <p:sp>
          <p:nvSpPr>
            <p:cNvPr id="116740" name="Rectangle 5">
              <a:extLst>
                <a:ext uri="{FF2B5EF4-FFF2-40B4-BE49-F238E27FC236}">
                  <a16:creationId xmlns:a16="http://schemas.microsoft.com/office/drawing/2014/main" id="{A30BC3CE-A97C-8008-90A2-DC20E75B47C7}"/>
                </a:ext>
              </a:extLst>
            </p:cNvPr>
            <p:cNvSpPr>
              <a:spLocks noChangeArrowheads="1"/>
            </p:cNvSpPr>
            <p:nvPr/>
          </p:nvSpPr>
          <p:spPr bwMode="auto">
            <a:xfrm>
              <a:off x="1632" y="2064"/>
              <a:ext cx="11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控制器控制表</a:t>
              </a:r>
              <a:endParaRPr lang="en-US" altLang="zh-CN">
                <a:latin typeface="Times New Roman" panose="02020603050405020304" pitchFamily="18" charset="0"/>
              </a:endParaRPr>
            </a:p>
          </p:txBody>
        </p:sp>
        <p:sp>
          <p:nvSpPr>
            <p:cNvPr id="116741" name="Rectangle 6">
              <a:extLst>
                <a:ext uri="{FF2B5EF4-FFF2-40B4-BE49-F238E27FC236}">
                  <a16:creationId xmlns:a16="http://schemas.microsoft.com/office/drawing/2014/main" id="{4A15E4DF-AB3E-1923-5097-5C0F2ADED6B2}"/>
                </a:ext>
              </a:extLst>
            </p:cNvPr>
            <p:cNvSpPr>
              <a:spLocks noChangeArrowheads="1"/>
            </p:cNvSpPr>
            <p:nvPr/>
          </p:nvSpPr>
          <p:spPr bwMode="auto">
            <a:xfrm>
              <a:off x="1248" y="2402"/>
              <a:ext cx="1956" cy="1585"/>
            </a:xfrm>
            <a:prstGeom prst="rect">
              <a:avLst/>
            </a:prstGeom>
            <a:solidFill>
              <a:srgbClr val="FFFFFF"/>
            </a:solidFill>
            <a:ln w="285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   控制器标识符</a:t>
              </a:r>
            </a:p>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控制器状态：忙/闲</a:t>
              </a:r>
            </a:p>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指向通道表的指针</a:t>
              </a:r>
            </a:p>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控制器等待队列指针</a:t>
              </a:r>
            </a:p>
            <a:p>
              <a:pPr algn="just"/>
              <a:r>
                <a:rPr lang="zh-CN" altLang="en-US">
                  <a:latin typeface="Times New Roman" panose="02020603050405020304" pitchFamily="18" charset="0"/>
                </a:rPr>
                <a:t>               …  </a:t>
              </a:r>
            </a:p>
          </p:txBody>
        </p:sp>
        <p:sp>
          <p:nvSpPr>
            <p:cNvPr id="116742" name="Line 7">
              <a:extLst>
                <a:ext uri="{FF2B5EF4-FFF2-40B4-BE49-F238E27FC236}">
                  <a16:creationId xmlns:a16="http://schemas.microsoft.com/office/drawing/2014/main" id="{D62597C7-FA6C-460B-69E4-4900139EF84E}"/>
                </a:ext>
              </a:extLst>
            </p:cNvPr>
            <p:cNvSpPr>
              <a:spLocks noChangeShapeType="1"/>
            </p:cNvSpPr>
            <p:nvPr/>
          </p:nvSpPr>
          <p:spPr bwMode="auto">
            <a:xfrm>
              <a:off x="1248" y="2728"/>
              <a:ext cx="195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3" name="Line 8">
              <a:extLst>
                <a:ext uri="{FF2B5EF4-FFF2-40B4-BE49-F238E27FC236}">
                  <a16:creationId xmlns:a16="http://schemas.microsoft.com/office/drawing/2014/main" id="{89F1B18C-38F0-E6D1-4972-0181F95834C9}"/>
                </a:ext>
              </a:extLst>
            </p:cNvPr>
            <p:cNvSpPr>
              <a:spLocks noChangeShapeType="1"/>
            </p:cNvSpPr>
            <p:nvPr/>
          </p:nvSpPr>
          <p:spPr bwMode="auto">
            <a:xfrm>
              <a:off x="1258" y="3312"/>
              <a:ext cx="195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4" name="Line 9">
              <a:extLst>
                <a:ext uri="{FF2B5EF4-FFF2-40B4-BE49-F238E27FC236}">
                  <a16:creationId xmlns:a16="http://schemas.microsoft.com/office/drawing/2014/main" id="{15788552-54ED-23E6-E62A-215A213B2EB1}"/>
                </a:ext>
              </a:extLst>
            </p:cNvPr>
            <p:cNvSpPr>
              <a:spLocks noChangeShapeType="1"/>
            </p:cNvSpPr>
            <p:nvPr/>
          </p:nvSpPr>
          <p:spPr bwMode="auto">
            <a:xfrm>
              <a:off x="1248" y="3024"/>
              <a:ext cx="195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5" name="Line 10">
              <a:extLst>
                <a:ext uri="{FF2B5EF4-FFF2-40B4-BE49-F238E27FC236}">
                  <a16:creationId xmlns:a16="http://schemas.microsoft.com/office/drawing/2014/main" id="{8235BBF2-A52E-8F89-A07D-7715CB00DECF}"/>
                </a:ext>
              </a:extLst>
            </p:cNvPr>
            <p:cNvSpPr>
              <a:spLocks noChangeShapeType="1"/>
            </p:cNvSpPr>
            <p:nvPr/>
          </p:nvSpPr>
          <p:spPr bwMode="auto">
            <a:xfrm>
              <a:off x="1248" y="3648"/>
              <a:ext cx="195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8DD6AC8C-1CD2-62FE-D827-BB488051E36F}"/>
              </a:ext>
            </a:extLst>
          </p:cNvPr>
          <p:cNvSpPr>
            <a:spLocks noGrp="1"/>
          </p:cNvSpPr>
          <p:nvPr>
            <p:ph type="sldNum" sz="quarter" idx="12"/>
          </p:nvPr>
        </p:nvSpPr>
        <p:spPr/>
        <p:txBody>
          <a:bodyPr/>
          <a:lstStyle/>
          <a:p>
            <a:fld id="{4093CC90-4002-504C-BD88-C9A1D374048E}" type="slidenum">
              <a:rPr lang="zh-CN" altLang="en-US" smtClean="0"/>
              <a:pPr/>
              <a:t>97</a:t>
            </a:fld>
            <a:endParaRPr lang="zh-CN" altLang="en-US" dirty="0"/>
          </a:p>
        </p:txBody>
      </p:sp>
    </p:spTree>
  </p:cSld>
  <p:clrMapOvr>
    <a:masterClrMapping/>
  </p:clrMapOvr>
  <p:transition spd="med">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4B850836-B3C0-BFD2-88B4-E7115DEA85DD}"/>
              </a:ext>
            </a:extLst>
          </p:cNvPr>
          <p:cNvSpPr>
            <a:spLocks noGrp="1" noChangeArrowheads="1"/>
          </p:cNvSpPr>
          <p:nvPr>
            <p:ph type="title"/>
          </p:nvPr>
        </p:nvSpPr>
        <p:spPr/>
        <p:txBody>
          <a:bodyPr/>
          <a:lstStyle/>
          <a:p>
            <a:pPr eaLnBrk="1" hangingPunct="1"/>
            <a:r>
              <a:rPr lang="zh-CN" altLang="en-US" sz="4000"/>
              <a:t>通道控制表（</a:t>
            </a:r>
            <a:r>
              <a:rPr lang="en-US" altLang="zh-CN" sz="4000"/>
              <a:t>CHCT）</a:t>
            </a:r>
          </a:p>
        </p:txBody>
      </p:sp>
      <p:sp>
        <p:nvSpPr>
          <p:cNvPr id="117762" name="Rectangle 3">
            <a:extLst>
              <a:ext uri="{FF2B5EF4-FFF2-40B4-BE49-F238E27FC236}">
                <a16:creationId xmlns:a16="http://schemas.microsoft.com/office/drawing/2014/main" id="{7397410E-07DB-0350-5B7F-2C170089EE40}"/>
              </a:ext>
            </a:extLst>
          </p:cNvPr>
          <p:cNvSpPr>
            <a:spLocks noGrp="1" noChangeArrowheads="1"/>
          </p:cNvSpPr>
          <p:nvPr>
            <p:ph idx="1"/>
          </p:nvPr>
        </p:nvSpPr>
        <p:spPr>
          <a:xfrm>
            <a:off x="684213" y="1268413"/>
            <a:ext cx="7926387" cy="1411287"/>
          </a:xfrm>
        </p:spPr>
        <p:txBody>
          <a:bodyPr/>
          <a:lstStyle/>
          <a:p>
            <a:pPr algn="just" eaLnBrk="1" hangingPunct="1"/>
            <a:r>
              <a:rPr lang="zh-CN" altLang="en-US"/>
              <a:t>每个通道都配有一张通道控制表，它反</a:t>
            </a:r>
            <a:r>
              <a:rPr lang="zh-CN" altLang="en-US">
                <a:latin typeface="Times New Roman" panose="02020603050405020304" pitchFamily="18" charset="0"/>
              </a:rPr>
              <a:t>映通道的</a:t>
            </a:r>
            <a:r>
              <a:rPr lang="zh-CN" altLang="en-US"/>
              <a:t>使用状态。</a:t>
            </a:r>
          </a:p>
        </p:txBody>
      </p:sp>
      <p:grpSp>
        <p:nvGrpSpPr>
          <p:cNvPr id="117763" name="Group 4">
            <a:extLst>
              <a:ext uri="{FF2B5EF4-FFF2-40B4-BE49-F238E27FC236}">
                <a16:creationId xmlns:a16="http://schemas.microsoft.com/office/drawing/2014/main" id="{32329298-9765-D2F8-57F8-EACD7F7FE8BC}"/>
              </a:ext>
            </a:extLst>
          </p:cNvPr>
          <p:cNvGrpSpPr>
            <a:grpSpLocks/>
          </p:cNvGrpSpPr>
          <p:nvPr/>
        </p:nvGrpSpPr>
        <p:grpSpPr bwMode="auto">
          <a:xfrm>
            <a:off x="3124200" y="2819400"/>
            <a:ext cx="3333750" cy="2968625"/>
            <a:chOff x="3180" y="1632"/>
            <a:chExt cx="2100" cy="1870"/>
          </a:xfrm>
        </p:grpSpPr>
        <p:sp>
          <p:nvSpPr>
            <p:cNvPr id="117764" name="Rectangle 5">
              <a:extLst>
                <a:ext uri="{FF2B5EF4-FFF2-40B4-BE49-F238E27FC236}">
                  <a16:creationId xmlns:a16="http://schemas.microsoft.com/office/drawing/2014/main" id="{DF4B1D54-35DB-DEC2-987D-36BE3A29EA7C}"/>
                </a:ext>
              </a:extLst>
            </p:cNvPr>
            <p:cNvSpPr>
              <a:spLocks noChangeArrowheads="1"/>
            </p:cNvSpPr>
            <p:nvPr/>
          </p:nvSpPr>
          <p:spPr bwMode="auto">
            <a:xfrm>
              <a:off x="3665" y="1632"/>
              <a:ext cx="10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通道控制表</a:t>
              </a:r>
              <a:endParaRPr lang="en-US" altLang="zh-CN">
                <a:latin typeface="Times New Roman" panose="02020603050405020304" pitchFamily="18" charset="0"/>
              </a:endParaRPr>
            </a:p>
          </p:txBody>
        </p:sp>
        <p:sp>
          <p:nvSpPr>
            <p:cNvPr id="117765" name="Rectangle 6">
              <a:extLst>
                <a:ext uri="{FF2B5EF4-FFF2-40B4-BE49-F238E27FC236}">
                  <a16:creationId xmlns:a16="http://schemas.microsoft.com/office/drawing/2014/main" id="{29E317A3-2A25-B18A-EEFE-E89032C98E0F}"/>
                </a:ext>
              </a:extLst>
            </p:cNvPr>
            <p:cNvSpPr>
              <a:spLocks noChangeArrowheads="1"/>
            </p:cNvSpPr>
            <p:nvPr/>
          </p:nvSpPr>
          <p:spPr bwMode="auto">
            <a:xfrm>
              <a:off x="3180" y="1908"/>
              <a:ext cx="2090" cy="1594"/>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   通道标识符</a:t>
              </a:r>
            </a:p>
            <a:p>
              <a:pPr algn="just"/>
              <a:endParaRPr lang="zh-CN" altLang="en-US" sz="900">
                <a:latin typeface="Times New Roman" panose="02020603050405020304" pitchFamily="18" charset="0"/>
              </a:endParaRPr>
            </a:p>
            <a:p>
              <a:pPr algn="just"/>
              <a:r>
                <a:rPr lang="zh-CN" altLang="en-US">
                  <a:latin typeface="Times New Roman" panose="02020603050405020304" pitchFamily="18" charset="0"/>
                </a:rPr>
                <a:t>   通道状态：忙/闲</a:t>
              </a:r>
            </a:p>
            <a:p>
              <a:pPr algn="just"/>
              <a:endParaRPr lang="zh-CN" altLang="en-US" sz="900">
                <a:latin typeface="Times New Roman" panose="02020603050405020304" pitchFamily="18" charset="0"/>
              </a:endParaRPr>
            </a:p>
            <a:p>
              <a:pPr algn="just"/>
              <a:r>
                <a:rPr lang="zh-CN" altLang="en-US">
                  <a:latin typeface="Times New Roman" panose="02020603050405020304" pitchFamily="18" charset="0"/>
                </a:rPr>
                <a:t>   通道等待队列指针</a:t>
              </a:r>
            </a:p>
            <a:p>
              <a:pPr algn="just"/>
              <a:endParaRPr lang="zh-CN" altLang="en-US" sz="900">
                <a:latin typeface="Times New Roman" panose="02020603050405020304" pitchFamily="18" charset="0"/>
              </a:endParaRPr>
            </a:p>
            <a:p>
              <a:pPr algn="just"/>
              <a:r>
                <a:rPr lang="zh-CN" altLang="en-US">
                  <a:latin typeface="Times New Roman" panose="02020603050405020304" pitchFamily="18" charset="0"/>
                </a:rPr>
                <a:t>                    …</a:t>
              </a:r>
            </a:p>
          </p:txBody>
        </p:sp>
        <p:sp>
          <p:nvSpPr>
            <p:cNvPr id="117766" name="Line 7">
              <a:extLst>
                <a:ext uri="{FF2B5EF4-FFF2-40B4-BE49-F238E27FC236}">
                  <a16:creationId xmlns:a16="http://schemas.microsoft.com/office/drawing/2014/main" id="{A946AFC9-F80E-5073-BECB-E5F5702E15D1}"/>
                </a:ext>
              </a:extLst>
            </p:cNvPr>
            <p:cNvSpPr>
              <a:spLocks noChangeShapeType="1"/>
            </p:cNvSpPr>
            <p:nvPr/>
          </p:nvSpPr>
          <p:spPr bwMode="auto">
            <a:xfrm>
              <a:off x="3180" y="2217"/>
              <a:ext cx="209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67" name="Line 8">
              <a:extLst>
                <a:ext uri="{FF2B5EF4-FFF2-40B4-BE49-F238E27FC236}">
                  <a16:creationId xmlns:a16="http://schemas.microsoft.com/office/drawing/2014/main" id="{3F1293D1-095E-B1C7-6B2C-B5393591C64A}"/>
                </a:ext>
              </a:extLst>
            </p:cNvPr>
            <p:cNvSpPr>
              <a:spLocks noChangeShapeType="1"/>
            </p:cNvSpPr>
            <p:nvPr/>
          </p:nvSpPr>
          <p:spPr bwMode="auto">
            <a:xfrm>
              <a:off x="3189" y="2844"/>
              <a:ext cx="209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68" name="Line 9">
              <a:extLst>
                <a:ext uri="{FF2B5EF4-FFF2-40B4-BE49-F238E27FC236}">
                  <a16:creationId xmlns:a16="http://schemas.microsoft.com/office/drawing/2014/main" id="{BC4AD19D-E551-4BDD-6B71-7B2F87EA094D}"/>
                </a:ext>
              </a:extLst>
            </p:cNvPr>
            <p:cNvSpPr>
              <a:spLocks noChangeShapeType="1"/>
            </p:cNvSpPr>
            <p:nvPr/>
          </p:nvSpPr>
          <p:spPr bwMode="auto">
            <a:xfrm>
              <a:off x="3180" y="2534"/>
              <a:ext cx="209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69" name="Line 10">
              <a:extLst>
                <a:ext uri="{FF2B5EF4-FFF2-40B4-BE49-F238E27FC236}">
                  <a16:creationId xmlns:a16="http://schemas.microsoft.com/office/drawing/2014/main" id="{8D9A1B10-4AE0-56A2-C998-79157F2FCEDB}"/>
                </a:ext>
              </a:extLst>
            </p:cNvPr>
            <p:cNvSpPr>
              <a:spLocks noChangeShapeType="1"/>
            </p:cNvSpPr>
            <p:nvPr/>
          </p:nvSpPr>
          <p:spPr bwMode="auto">
            <a:xfrm>
              <a:off x="3180" y="3161"/>
              <a:ext cx="209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567FAF20-C8A9-6494-1985-1B595CD05BC8}"/>
              </a:ext>
            </a:extLst>
          </p:cNvPr>
          <p:cNvSpPr>
            <a:spLocks noGrp="1"/>
          </p:cNvSpPr>
          <p:nvPr>
            <p:ph type="sldNum" sz="quarter" idx="12"/>
          </p:nvPr>
        </p:nvSpPr>
        <p:spPr/>
        <p:txBody>
          <a:bodyPr/>
          <a:lstStyle/>
          <a:p>
            <a:fld id="{4093CC90-4002-504C-BD88-C9A1D374048E}" type="slidenum">
              <a:rPr lang="zh-CN" altLang="en-US" smtClean="0"/>
              <a:pPr/>
              <a:t>98</a:t>
            </a:fld>
            <a:endParaRPr lang="zh-CN" altLang="en-US" dirty="0"/>
          </a:p>
        </p:txBody>
      </p:sp>
    </p:spTree>
  </p:cSld>
  <p:clrMapOvr>
    <a:masterClrMapping/>
  </p:clrMapOvr>
  <p:transition spd="med">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2B2FBA4B-5922-D93D-5D19-4151E0330C87}"/>
              </a:ext>
            </a:extLst>
          </p:cNvPr>
          <p:cNvSpPr>
            <a:spLocks noGrp="1" noChangeArrowheads="1"/>
          </p:cNvSpPr>
          <p:nvPr>
            <p:ph type="title"/>
          </p:nvPr>
        </p:nvSpPr>
        <p:spPr/>
        <p:txBody>
          <a:bodyPr/>
          <a:lstStyle/>
          <a:p>
            <a:pPr eaLnBrk="1" hangingPunct="1"/>
            <a:r>
              <a:rPr lang="zh-CN" altLang="en-US"/>
              <a:t>系统设备表（</a:t>
            </a:r>
            <a:r>
              <a:rPr lang="en-US" altLang="zh-CN"/>
              <a:t>SDT）</a:t>
            </a:r>
          </a:p>
        </p:txBody>
      </p:sp>
      <p:sp>
        <p:nvSpPr>
          <p:cNvPr id="118786" name="Rectangle 3">
            <a:extLst>
              <a:ext uri="{FF2B5EF4-FFF2-40B4-BE49-F238E27FC236}">
                <a16:creationId xmlns:a16="http://schemas.microsoft.com/office/drawing/2014/main" id="{AE993ABA-C0D4-4533-9819-15917BDE0167}"/>
              </a:ext>
            </a:extLst>
          </p:cNvPr>
          <p:cNvSpPr>
            <a:spLocks noGrp="1" noChangeArrowheads="1"/>
          </p:cNvSpPr>
          <p:nvPr>
            <p:ph idx="1"/>
          </p:nvPr>
        </p:nvSpPr>
        <p:spPr>
          <a:xfrm>
            <a:off x="755650" y="1268413"/>
            <a:ext cx="8199438" cy="1152525"/>
          </a:xfrm>
        </p:spPr>
        <p:txBody>
          <a:bodyPr/>
          <a:lstStyle/>
          <a:p>
            <a:pPr algn="just" eaLnBrk="1" hangingPunct="1"/>
            <a:r>
              <a:rPr lang="zh-CN" altLang="en-US" sz="2800"/>
              <a:t>系统设备表整个系统一张，它记录了系统中所有物理设备的情况，每个物理设备占一个表目。</a:t>
            </a:r>
          </a:p>
        </p:txBody>
      </p:sp>
      <p:sp>
        <p:nvSpPr>
          <p:cNvPr id="118787" name="Rectangle 4">
            <a:extLst>
              <a:ext uri="{FF2B5EF4-FFF2-40B4-BE49-F238E27FC236}">
                <a16:creationId xmlns:a16="http://schemas.microsoft.com/office/drawing/2014/main" id="{0425066E-24D9-6287-09E8-BE9A1931FEBD}"/>
              </a:ext>
            </a:extLst>
          </p:cNvPr>
          <p:cNvSpPr>
            <a:spLocks noChangeArrowheads="1"/>
          </p:cNvSpPr>
          <p:nvPr/>
        </p:nvSpPr>
        <p:spPr bwMode="auto">
          <a:xfrm>
            <a:off x="1676400" y="2819400"/>
            <a:ext cx="24653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a:latin typeface="Times New Roman" panose="02020603050405020304" pitchFamily="18" charset="0"/>
              </a:rPr>
              <a:t>系统设备表</a:t>
            </a:r>
            <a:r>
              <a:rPr lang="en-US" altLang="zh-CN">
                <a:latin typeface="Times New Roman" panose="02020603050405020304" pitchFamily="18" charset="0"/>
              </a:rPr>
              <a:t>SDT</a:t>
            </a:r>
          </a:p>
        </p:txBody>
      </p:sp>
      <p:sp>
        <p:nvSpPr>
          <p:cNvPr id="118788" name="Rectangle 5">
            <a:extLst>
              <a:ext uri="{FF2B5EF4-FFF2-40B4-BE49-F238E27FC236}">
                <a16:creationId xmlns:a16="http://schemas.microsoft.com/office/drawing/2014/main" id="{1A6ADF01-AD2C-EC8A-662F-5FACF4670086}"/>
              </a:ext>
            </a:extLst>
          </p:cNvPr>
          <p:cNvSpPr>
            <a:spLocks noChangeArrowheads="1"/>
          </p:cNvSpPr>
          <p:nvPr/>
        </p:nvSpPr>
        <p:spPr bwMode="auto">
          <a:xfrm>
            <a:off x="2105025" y="3294063"/>
            <a:ext cx="1349375" cy="2573337"/>
          </a:xfrm>
          <a:prstGeom prst="rect">
            <a:avLst/>
          </a:prstGeom>
          <a:solidFill>
            <a:srgbClr val="FFFFFF"/>
          </a:solidFill>
          <a:ln w="15875">
            <a:solidFill>
              <a:srgbClr val="000000"/>
            </a:solidFill>
            <a:miter lim="800000"/>
            <a:headEnd/>
            <a:tailEnd/>
          </a:ln>
        </p:spPr>
        <p:txBody>
          <a:bodyPr lIns="18000" tIns="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endParaRPr lang="zh-CN" altLang="en-US" sz="1200">
              <a:latin typeface="Times New Roman" panose="02020603050405020304" pitchFamily="18" charset="0"/>
            </a:endParaRPr>
          </a:p>
          <a:p>
            <a:pPr algn="ctr"/>
            <a:r>
              <a:rPr lang="zh-CN" altLang="en-US">
                <a:latin typeface="Times New Roman" panose="02020603050405020304" pitchFamily="18" charset="0"/>
              </a:rPr>
              <a:t>表目1</a:t>
            </a:r>
          </a:p>
          <a:p>
            <a:pPr algn="ctr"/>
            <a:endParaRPr lang="zh-CN" altLang="en-US" sz="1600">
              <a:latin typeface="Times New Roman" panose="02020603050405020304" pitchFamily="18" charset="0"/>
            </a:endParaRPr>
          </a:p>
          <a:p>
            <a:pPr algn="ctr"/>
            <a:r>
              <a:rPr lang="zh-CN" altLang="en-US">
                <a:latin typeface="Times New Roman" panose="02020603050405020304" pitchFamily="18" charset="0"/>
              </a:rPr>
              <a:t>表目2</a:t>
            </a:r>
          </a:p>
          <a:p>
            <a:pPr algn="ctr"/>
            <a:endParaRPr lang="zh-CN" altLang="en-US" sz="1400">
              <a:latin typeface="Times New Roman" panose="02020603050405020304" pitchFamily="18" charset="0"/>
            </a:endParaRPr>
          </a:p>
          <a:p>
            <a:pPr algn="ctr"/>
            <a:r>
              <a:rPr lang="zh-CN" altLang="en-US">
                <a:latin typeface="宋体" panose="02010600030101010101" pitchFamily="2" charset="-122"/>
              </a:rPr>
              <a:t>┆</a:t>
            </a:r>
          </a:p>
          <a:p>
            <a:pPr algn="ctr"/>
            <a:endParaRPr lang="zh-CN" altLang="en-US" sz="1600">
              <a:latin typeface="宋体" panose="02010600030101010101" pitchFamily="2" charset="-122"/>
            </a:endParaRPr>
          </a:p>
          <a:p>
            <a:pPr algn="just"/>
            <a:r>
              <a:rPr lang="zh-CN" altLang="en-US">
                <a:latin typeface="Times New Roman" panose="02020603050405020304" pitchFamily="18" charset="0"/>
              </a:rPr>
              <a:t>  表目</a:t>
            </a:r>
            <a:r>
              <a:rPr lang="en-US" altLang="zh-CN">
                <a:latin typeface="Times New Roman" panose="02020603050405020304" pitchFamily="18" charset="0"/>
              </a:rPr>
              <a:t>n</a:t>
            </a:r>
          </a:p>
        </p:txBody>
      </p:sp>
      <p:sp>
        <p:nvSpPr>
          <p:cNvPr id="118789" name="Line 6">
            <a:extLst>
              <a:ext uri="{FF2B5EF4-FFF2-40B4-BE49-F238E27FC236}">
                <a16:creationId xmlns:a16="http://schemas.microsoft.com/office/drawing/2014/main" id="{BB906E7F-EF34-2F6B-B99C-73C75D0E614B}"/>
              </a:ext>
            </a:extLst>
          </p:cNvPr>
          <p:cNvSpPr>
            <a:spLocks noChangeShapeType="1"/>
          </p:cNvSpPr>
          <p:nvPr/>
        </p:nvSpPr>
        <p:spPr bwMode="auto">
          <a:xfrm flipV="1">
            <a:off x="2105025" y="3913188"/>
            <a:ext cx="134937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90" name="Line 7">
            <a:extLst>
              <a:ext uri="{FF2B5EF4-FFF2-40B4-BE49-F238E27FC236}">
                <a16:creationId xmlns:a16="http://schemas.microsoft.com/office/drawing/2014/main" id="{9BFA98BE-F893-8CE1-AA2A-8BB11A62D9DE}"/>
              </a:ext>
            </a:extLst>
          </p:cNvPr>
          <p:cNvSpPr>
            <a:spLocks noChangeShapeType="1"/>
          </p:cNvSpPr>
          <p:nvPr/>
        </p:nvSpPr>
        <p:spPr bwMode="auto">
          <a:xfrm flipV="1">
            <a:off x="2105025" y="5154613"/>
            <a:ext cx="134937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91" name="Line 8">
            <a:extLst>
              <a:ext uri="{FF2B5EF4-FFF2-40B4-BE49-F238E27FC236}">
                <a16:creationId xmlns:a16="http://schemas.microsoft.com/office/drawing/2014/main" id="{B820897E-BD01-6A5B-395B-76F4C064E9B4}"/>
              </a:ext>
            </a:extLst>
          </p:cNvPr>
          <p:cNvSpPr>
            <a:spLocks noChangeShapeType="1"/>
          </p:cNvSpPr>
          <p:nvPr/>
        </p:nvSpPr>
        <p:spPr bwMode="auto">
          <a:xfrm flipV="1">
            <a:off x="2105025" y="4611688"/>
            <a:ext cx="134937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92" name="Line 9">
            <a:extLst>
              <a:ext uri="{FF2B5EF4-FFF2-40B4-BE49-F238E27FC236}">
                <a16:creationId xmlns:a16="http://schemas.microsoft.com/office/drawing/2014/main" id="{653AFCD9-B667-AAFF-B808-09D41D1AF3B4}"/>
              </a:ext>
            </a:extLst>
          </p:cNvPr>
          <p:cNvSpPr>
            <a:spLocks noChangeShapeType="1"/>
          </p:cNvSpPr>
          <p:nvPr/>
        </p:nvSpPr>
        <p:spPr bwMode="auto">
          <a:xfrm flipV="1">
            <a:off x="3479800" y="3092450"/>
            <a:ext cx="750888" cy="806450"/>
          </a:xfrm>
          <a:prstGeom prst="line">
            <a:avLst/>
          </a:prstGeom>
          <a:noFill/>
          <a:ln w="15875" cap="rnd">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8793" name="Line 10">
            <a:extLst>
              <a:ext uri="{FF2B5EF4-FFF2-40B4-BE49-F238E27FC236}">
                <a16:creationId xmlns:a16="http://schemas.microsoft.com/office/drawing/2014/main" id="{03BA919D-C791-D163-9914-9F3F9F974A5A}"/>
              </a:ext>
            </a:extLst>
          </p:cNvPr>
          <p:cNvSpPr>
            <a:spLocks noChangeShapeType="1"/>
          </p:cNvSpPr>
          <p:nvPr/>
        </p:nvSpPr>
        <p:spPr bwMode="auto">
          <a:xfrm>
            <a:off x="3427413" y="4579938"/>
            <a:ext cx="771525" cy="1069975"/>
          </a:xfrm>
          <a:prstGeom prst="line">
            <a:avLst/>
          </a:prstGeom>
          <a:noFill/>
          <a:ln w="15875" cap="rnd">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8794" name="Rectangle 11">
            <a:extLst>
              <a:ext uri="{FF2B5EF4-FFF2-40B4-BE49-F238E27FC236}">
                <a16:creationId xmlns:a16="http://schemas.microsoft.com/office/drawing/2014/main" id="{E07418F6-9F4B-ECA9-AABD-81151BFE763C}"/>
              </a:ext>
            </a:extLst>
          </p:cNvPr>
          <p:cNvSpPr>
            <a:spLocks noChangeArrowheads="1"/>
          </p:cNvSpPr>
          <p:nvPr/>
        </p:nvSpPr>
        <p:spPr bwMode="auto">
          <a:xfrm>
            <a:off x="4213225" y="3122613"/>
            <a:ext cx="3462338" cy="2527300"/>
          </a:xfrm>
          <a:prstGeom prst="rect">
            <a:avLst/>
          </a:prstGeom>
          <a:solidFill>
            <a:srgbClr val="FFFFFF"/>
          </a:solidFill>
          <a:ln w="15875">
            <a:solidFill>
              <a:srgbClr val="000000"/>
            </a:solidFill>
            <a:miter lim="800000"/>
            <a:headEnd/>
            <a:tailEnd/>
          </a:ln>
        </p:spPr>
        <p:txBody>
          <a:bodyPr lIns="0" tIns="72000" rIns="0" bIns="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endParaRPr lang="zh-CN" altLang="en-US" sz="800">
              <a:latin typeface="Times New Roman" panose="02020603050405020304" pitchFamily="18" charset="0"/>
            </a:endParaRPr>
          </a:p>
          <a:p>
            <a:pPr algn="just"/>
            <a:r>
              <a:rPr lang="zh-CN" altLang="en-US">
                <a:latin typeface="Times New Roman" panose="02020603050405020304" pitchFamily="18" charset="0"/>
              </a:rPr>
              <a:t>   设备类型</a:t>
            </a:r>
          </a:p>
          <a:p>
            <a:pPr algn="just"/>
            <a:endParaRPr lang="zh-CN" altLang="en-US" sz="1800">
              <a:latin typeface="Times New Roman" panose="02020603050405020304" pitchFamily="18" charset="0"/>
            </a:endParaRPr>
          </a:p>
          <a:p>
            <a:pPr algn="just"/>
            <a:r>
              <a:rPr lang="zh-CN" altLang="en-US">
                <a:latin typeface="Times New Roman" panose="02020603050405020304" pitchFamily="18" charset="0"/>
              </a:rPr>
              <a:t>   设备标识符</a:t>
            </a:r>
          </a:p>
          <a:p>
            <a:pPr algn="just"/>
            <a:endParaRPr lang="zh-CN" altLang="en-US" sz="1600">
              <a:latin typeface="Times New Roman" panose="02020603050405020304" pitchFamily="18" charset="0"/>
            </a:endParaRPr>
          </a:p>
          <a:p>
            <a:pPr algn="just"/>
            <a:r>
              <a:rPr lang="zh-CN" altLang="en-US">
                <a:latin typeface="Times New Roman" panose="02020603050405020304" pitchFamily="18" charset="0"/>
              </a:rPr>
              <a:t>   指向设备控制表的指针</a:t>
            </a:r>
          </a:p>
          <a:p>
            <a:pPr algn="just"/>
            <a:endParaRPr lang="zh-CN" altLang="en-US" sz="1600">
              <a:latin typeface="Times New Roman" panose="02020603050405020304" pitchFamily="18" charset="0"/>
            </a:endParaRPr>
          </a:p>
          <a:p>
            <a:pPr algn="just"/>
            <a:r>
              <a:rPr lang="zh-CN" altLang="en-US">
                <a:latin typeface="Times New Roman" panose="02020603050405020304" pitchFamily="18" charset="0"/>
              </a:rPr>
              <a:t>   驱动程序入口</a:t>
            </a:r>
          </a:p>
        </p:txBody>
      </p:sp>
      <p:sp>
        <p:nvSpPr>
          <p:cNvPr id="118795" name="Line 12">
            <a:extLst>
              <a:ext uri="{FF2B5EF4-FFF2-40B4-BE49-F238E27FC236}">
                <a16:creationId xmlns:a16="http://schemas.microsoft.com/office/drawing/2014/main" id="{4B9D86C5-9E93-D1AC-4134-1FA1696BC793}"/>
              </a:ext>
            </a:extLst>
          </p:cNvPr>
          <p:cNvSpPr>
            <a:spLocks noChangeShapeType="1"/>
          </p:cNvSpPr>
          <p:nvPr/>
        </p:nvSpPr>
        <p:spPr bwMode="auto">
          <a:xfrm>
            <a:off x="4213225" y="3808413"/>
            <a:ext cx="3465513"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96" name="Line 13">
            <a:extLst>
              <a:ext uri="{FF2B5EF4-FFF2-40B4-BE49-F238E27FC236}">
                <a16:creationId xmlns:a16="http://schemas.microsoft.com/office/drawing/2014/main" id="{4D792E43-0CB2-4ADD-C9BB-8B97DDF9F726}"/>
              </a:ext>
            </a:extLst>
          </p:cNvPr>
          <p:cNvSpPr>
            <a:spLocks noChangeShapeType="1"/>
          </p:cNvSpPr>
          <p:nvPr/>
        </p:nvSpPr>
        <p:spPr bwMode="auto">
          <a:xfrm>
            <a:off x="4230688" y="5092700"/>
            <a:ext cx="3465512"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97" name="Line 14">
            <a:extLst>
              <a:ext uri="{FF2B5EF4-FFF2-40B4-BE49-F238E27FC236}">
                <a16:creationId xmlns:a16="http://schemas.microsoft.com/office/drawing/2014/main" id="{EACE8EF9-B926-2376-375D-BC85F858C36E}"/>
              </a:ext>
            </a:extLst>
          </p:cNvPr>
          <p:cNvSpPr>
            <a:spLocks noChangeShapeType="1"/>
          </p:cNvSpPr>
          <p:nvPr/>
        </p:nvSpPr>
        <p:spPr bwMode="auto">
          <a:xfrm>
            <a:off x="4213225" y="4440238"/>
            <a:ext cx="3465513"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F075EAD0-4DB8-B3FE-F232-B424F80A7E83}"/>
              </a:ext>
            </a:extLst>
          </p:cNvPr>
          <p:cNvSpPr>
            <a:spLocks noGrp="1"/>
          </p:cNvSpPr>
          <p:nvPr>
            <p:ph type="sldNum" sz="quarter" idx="12"/>
          </p:nvPr>
        </p:nvSpPr>
        <p:spPr/>
        <p:txBody>
          <a:bodyPr/>
          <a:lstStyle/>
          <a:p>
            <a:fld id="{4093CC90-4002-504C-BD88-C9A1D374048E}" type="slidenum">
              <a:rPr lang="zh-CN" altLang="en-US" smtClean="0"/>
              <a:pPr/>
              <a:t>99</a:t>
            </a:fld>
            <a:endParaRPr lang="zh-CN" altLang="en-US" dirty="0"/>
          </a:p>
        </p:txBody>
      </p:sp>
    </p:spTree>
  </p:cSld>
  <p:clrMapOvr>
    <a:masterClrMapping/>
  </p:clrMapOvr>
  <p:transition spd="med">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4B9CF9F3-9621-EBA1-B76E-3E276BB7F738}"/>
              </a:ext>
            </a:extLst>
          </p:cNvPr>
          <p:cNvSpPr>
            <a:spLocks noGrp="1" noChangeArrowheads="1"/>
          </p:cNvSpPr>
          <p:nvPr>
            <p:ph type="title"/>
          </p:nvPr>
        </p:nvSpPr>
        <p:spPr/>
        <p:txBody>
          <a:bodyPr/>
          <a:lstStyle/>
          <a:p>
            <a:pPr eaLnBrk="1" hangingPunct="1"/>
            <a:r>
              <a:rPr lang="zh-CN" altLang="en-US" b="1"/>
              <a:t>设备分配策略</a:t>
            </a:r>
          </a:p>
        </p:txBody>
      </p:sp>
      <p:sp>
        <p:nvSpPr>
          <p:cNvPr id="119810" name="Rectangle 3">
            <a:extLst>
              <a:ext uri="{FF2B5EF4-FFF2-40B4-BE49-F238E27FC236}">
                <a16:creationId xmlns:a16="http://schemas.microsoft.com/office/drawing/2014/main" id="{7F38379D-75E7-17D9-1079-4168AD4A4C8B}"/>
              </a:ext>
            </a:extLst>
          </p:cNvPr>
          <p:cNvSpPr>
            <a:spLocks noGrp="1" noChangeArrowheads="1"/>
          </p:cNvSpPr>
          <p:nvPr>
            <p:ph idx="1"/>
          </p:nvPr>
        </p:nvSpPr>
        <p:spPr>
          <a:xfrm>
            <a:off x="684213" y="1196975"/>
            <a:ext cx="8270875" cy="3887788"/>
          </a:xfrm>
        </p:spPr>
        <p:txBody>
          <a:bodyPr/>
          <a:lstStyle/>
          <a:p>
            <a:pPr algn="just" eaLnBrk="1" hangingPunct="1"/>
            <a:r>
              <a:rPr lang="zh-CN" altLang="en-US">
                <a:latin typeface="Times New Roman" panose="02020603050405020304" pitchFamily="18" charset="0"/>
              </a:rPr>
              <a:t> </a:t>
            </a:r>
            <a:r>
              <a:rPr lang="zh-CN" altLang="en-US"/>
              <a:t>系统在进行设备分配时，应考虑以下因素：</a:t>
            </a:r>
          </a:p>
          <a:p>
            <a:pPr lvl="1" algn="just" eaLnBrk="1" hangingPunct="1"/>
            <a:r>
              <a:rPr lang="zh-CN" altLang="en-US"/>
              <a:t>设备的使用性质</a:t>
            </a:r>
          </a:p>
          <a:p>
            <a:pPr lvl="1" algn="just" eaLnBrk="1" hangingPunct="1"/>
            <a:r>
              <a:rPr lang="zh-CN" altLang="en-US"/>
              <a:t>设备分配算法</a:t>
            </a:r>
          </a:p>
          <a:p>
            <a:pPr lvl="1" algn="just" eaLnBrk="1" hangingPunct="1"/>
            <a:r>
              <a:rPr lang="zh-CN" altLang="en-US"/>
              <a:t>设备分配的安全性</a:t>
            </a:r>
          </a:p>
          <a:p>
            <a:pPr lvl="1" algn="just" eaLnBrk="1" hangingPunct="1"/>
            <a:r>
              <a:rPr lang="zh-CN" altLang="en-US"/>
              <a:t>设备独立性</a:t>
            </a:r>
          </a:p>
        </p:txBody>
      </p:sp>
      <p:sp>
        <p:nvSpPr>
          <p:cNvPr id="2" name="灯片编号占位符 1">
            <a:extLst>
              <a:ext uri="{FF2B5EF4-FFF2-40B4-BE49-F238E27FC236}">
                <a16:creationId xmlns:a16="http://schemas.microsoft.com/office/drawing/2014/main" id="{DEDD421F-491B-BEBE-FE7A-379EAD82D398}"/>
              </a:ext>
            </a:extLst>
          </p:cNvPr>
          <p:cNvSpPr>
            <a:spLocks noGrp="1"/>
          </p:cNvSpPr>
          <p:nvPr>
            <p:ph type="sldNum" sz="quarter" idx="12"/>
          </p:nvPr>
        </p:nvSpPr>
        <p:spPr/>
        <p:txBody>
          <a:bodyPr/>
          <a:lstStyle/>
          <a:p>
            <a:fld id="{4093CC90-4002-504C-BD88-C9A1D374048E}" type="slidenum">
              <a:rPr lang="zh-CN" altLang="en-US" smtClean="0"/>
              <a:pPr/>
              <a:t>100</a:t>
            </a:fld>
            <a:endParaRPr lang="zh-CN" altLang="en-US" dirty="0"/>
          </a:p>
        </p:txBody>
      </p:sp>
    </p:spTree>
  </p:cSld>
  <p:clrMapOvr>
    <a:masterClrMapping/>
  </p:clrMapOvr>
  <p:transition spd="med">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B73C9A43-28D9-80B4-7959-4F01D14C2C87}"/>
              </a:ext>
            </a:extLst>
          </p:cNvPr>
          <p:cNvSpPr>
            <a:spLocks noGrp="1" noChangeArrowheads="1"/>
          </p:cNvSpPr>
          <p:nvPr>
            <p:ph type="title"/>
          </p:nvPr>
        </p:nvSpPr>
        <p:spPr/>
        <p:txBody>
          <a:bodyPr/>
          <a:lstStyle/>
          <a:p>
            <a:pPr eaLnBrk="1" hangingPunct="1"/>
            <a:r>
              <a:rPr lang="zh-CN" altLang="en-US"/>
              <a:t>设备的使用性质</a:t>
            </a:r>
          </a:p>
        </p:txBody>
      </p:sp>
      <p:sp>
        <p:nvSpPr>
          <p:cNvPr id="120834" name="Rectangle 3">
            <a:extLst>
              <a:ext uri="{FF2B5EF4-FFF2-40B4-BE49-F238E27FC236}">
                <a16:creationId xmlns:a16="http://schemas.microsoft.com/office/drawing/2014/main" id="{1431C53F-3772-9AC7-54F9-4E7515EEBD91}"/>
              </a:ext>
            </a:extLst>
          </p:cNvPr>
          <p:cNvSpPr>
            <a:spLocks noGrp="1" noChangeArrowheads="1"/>
          </p:cNvSpPr>
          <p:nvPr>
            <p:ph idx="1"/>
          </p:nvPr>
        </p:nvSpPr>
        <p:spPr>
          <a:xfrm>
            <a:off x="798513" y="1196975"/>
            <a:ext cx="8116887" cy="4114800"/>
          </a:xfrm>
        </p:spPr>
        <p:txBody>
          <a:bodyPr/>
          <a:lstStyle/>
          <a:p>
            <a:pPr algn="just" eaLnBrk="1" hangingPunct="1"/>
            <a:r>
              <a:rPr lang="zh-CN" altLang="en-US"/>
              <a:t>按共享属性设备有三种类型：</a:t>
            </a:r>
          </a:p>
          <a:p>
            <a:pPr lvl="1" algn="just" eaLnBrk="1" hangingPunct="1"/>
            <a:r>
              <a:rPr lang="zh-CN" altLang="en-US"/>
              <a:t>独占：这种设备在一段时间内只允许一个进程独占。</a:t>
            </a:r>
          </a:p>
          <a:p>
            <a:pPr lvl="1" algn="just" eaLnBrk="1" hangingPunct="1"/>
            <a:r>
              <a:rPr lang="zh-CN" altLang="en-US"/>
              <a:t>共享：这种设备允许多个进程同时共享。</a:t>
            </a:r>
          </a:p>
          <a:p>
            <a:pPr lvl="1" algn="just" eaLnBrk="1" hangingPunct="1"/>
            <a:r>
              <a:rPr lang="zh-CN" altLang="en-US"/>
              <a:t>虚拟：设备本身虽是独占设备，但经过某种技术处理后可改造成虚拟设备。 </a:t>
            </a:r>
          </a:p>
          <a:p>
            <a:pPr algn="just" eaLnBrk="1" hangingPunct="1"/>
            <a:r>
              <a:rPr lang="zh-CN" altLang="en-US"/>
              <a:t>针对上述三种设备可采用三种不同的分配方式 。</a:t>
            </a:r>
          </a:p>
        </p:txBody>
      </p:sp>
      <p:sp>
        <p:nvSpPr>
          <p:cNvPr id="2" name="灯片编号占位符 1">
            <a:extLst>
              <a:ext uri="{FF2B5EF4-FFF2-40B4-BE49-F238E27FC236}">
                <a16:creationId xmlns:a16="http://schemas.microsoft.com/office/drawing/2014/main" id="{5955AF01-0F05-4B68-AD8F-8B7BC0A67293}"/>
              </a:ext>
            </a:extLst>
          </p:cNvPr>
          <p:cNvSpPr>
            <a:spLocks noGrp="1"/>
          </p:cNvSpPr>
          <p:nvPr>
            <p:ph type="sldNum" sz="quarter" idx="12"/>
          </p:nvPr>
        </p:nvSpPr>
        <p:spPr/>
        <p:txBody>
          <a:bodyPr/>
          <a:lstStyle/>
          <a:p>
            <a:fld id="{4093CC90-4002-504C-BD88-C9A1D374048E}" type="slidenum">
              <a:rPr lang="zh-CN" altLang="en-US" smtClean="0"/>
              <a:pPr/>
              <a:t>101</a:t>
            </a:fld>
            <a:endParaRPr lang="zh-CN" altLang="en-US" dirty="0"/>
          </a:p>
        </p:txBody>
      </p:sp>
    </p:spTree>
  </p:cSld>
  <p:clrMapOvr>
    <a:masterClrMapping/>
  </p:clrMapOvr>
  <p:transition spd="med">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39DDEADC-1065-A218-5464-F44F7EFC559B}"/>
              </a:ext>
            </a:extLst>
          </p:cNvPr>
          <p:cNvSpPr>
            <a:spLocks noGrp="1" noChangeArrowheads="1"/>
          </p:cNvSpPr>
          <p:nvPr>
            <p:ph type="title"/>
          </p:nvPr>
        </p:nvSpPr>
        <p:spPr/>
        <p:txBody>
          <a:bodyPr/>
          <a:lstStyle/>
          <a:p>
            <a:pPr eaLnBrk="1" hangingPunct="1"/>
            <a:r>
              <a:rPr lang="zh-CN" altLang="en-US"/>
              <a:t>独享分配</a:t>
            </a:r>
          </a:p>
        </p:txBody>
      </p:sp>
      <p:sp>
        <p:nvSpPr>
          <p:cNvPr id="121858" name="Rectangle 3">
            <a:extLst>
              <a:ext uri="{FF2B5EF4-FFF2-40B4-BE49-F238E27FC236}">
                <a16:creationId xmlns:a16="http://schemas.microsoft.com/office/drawing/2014/main" id="{F070489E-A1EF-4DCA-88FF-89C3A2F2A209}"/>
              </a:ext>
            </a:extLst>
          </p:cNvPr>
          <p:cNvSpPr>
            <a:spLocks noGrp="1" noChangeArrowheads="1"/>
          </p:cNvSpPr>
          <p:nvPr>
            <p:ph idx="1"/>
          </p:nvPr>
        </p:nvSpPr>
        <p:spPr/>
        <p:txBody>
          <a:bodyPr/>
          <a:lstStyle/>
          <a:p>
            <a:pPr algn="just" eaLnBrk="1" hangingPunct="1"/>
            <a:r>
              <a:rPr lang="zh-CN" altLang="en-US"/>
              <a:t>在将一个设备分配给某进程后便一直由它独占，直至该进程完成或释放该设备后，系统才能再将该设备分配给其他进程使用。</a:t>
            </a:r>
          </a:p>
        </p:txBody>
      </p:sp>
      <p:sp>
        <p:nvSpPr>
          <p:cNvPr id="2" name="灯片编号占位符 1">
            <a:extLst>
              <a:ext uri="{FF2B5EF4-FFF2-40B4-BE49-F238E27FC236}">
                <a16:creationId xmlns:a16="http://schemas.microsoft.com/office/drawing/2014/main" id="{FE6B1921-94AD-EB8D-B51A-5644E104F574}"/>
              </a:ext>
            </a:extLst>
          </p:cNvPr>
          <p:cNvSpPr>
            <a:spLocks noGrp="1"/>
          </p:cNvSpPr>
          <p:nvPr>
            <p:ph type="sldNum" sz="quarter" idx="12"/>
          </p:nvPr>
        </p:nvSpPr>
        <p:spPr/>
        <p:txBody>
          <a:bodyPr/>
          <a:lstStyle/>
          <a:p>
            <a:fld id="{4093CC90-4002-504C-BD88-C9A1D374048E}" type="slidenum">
              <a:rPr lang="zh-CN" altLang="en-US" smtClean="0"/>
              <a:pPr/>
              <a:t>102</a:t>
            </a:fld>
            <a:endParaRPr lang="zh-CN" altLang="en-US" dirty="0"/>
          </a:p>
        </p:txBody>
      </p:sp>
    </p:spTree>
  </p:cSld>
  <p:clrMapOvr>
    <a:masterClrMapping/>
  </p:clrMapOvr>
  <p:transition spd="med">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5EB3257B-81F7-CFAF-4B9D-C3C063FC3A09}"/>
              </a:ext>
            </a:extLst>
          </p:cNvPr>
          <p:cNvSpPr>
            <a:spLocks noGrp="1" noChangeArrowheads="1"/>
          </p:cNvSpPr>
          <p:nvPr>
            <p:ph type="title"/>
          </p:nvPr>
        </p:nvSpPr>
        <p:spPr/>
        <p:txBody>
          <a:bodyPr/>
          <a:lstStyle/>
          <a:p>
            <a:pPr eaLnBrk="1" hangingPunct="1"/>
            <a:r>
              <a:rPr lang="zh-CN" altLang="en-US"/>
              <a:t>共享分配</a:t>
            </a:r>
          </a:p>
        </p:txBody>
      </p:sp>
      <p:sp>
        <p:nvSpPr>
          <p:cNvPr id="122882" name="Rectangle 3">
            <a:extLst>
              <a:ext uri="{FF2B5EF4-FFF2-40B4-BE49-F238E27FC236}">
                <a16:creationId xmlns:a16="http://schemas.microsoft.com/office/drawing/2014/main" id="{E5BF8514-738A-4088-D755-8EBE7A279138}"/>
              </a:ext>
            </a:extLst>
          </p:cNvPr>
          <p:cNvSpPr>
            <a:spLocks noGrp="1" noChangeArrowheads="1"/>
          </p:cNvSpPr>
          <p:nvPr>
            <p:ph idx="1"/>
          </p:nvPr>
        </p:nvSpPr>
        <p:spPr/>
        <p:txBody>
          <a:bodyPr/>
          <a:lstStyle/>
          <a:p>
            <a:pPr eaLnBrk="1" hangingPunct="1"/>
            <a:r>
              <a:rPr lang="zh-CN" altLang="en-US"/>
              <a:t>将设备同时分配给多个进程使用。但这些进程对设备的访问需要进行合理调度。 </a:t>
            </a:r>
          </a:p>
        </p:txBody>
      </p:sp>
      <p:sp>
        <p:nvSpPr>
          <p:cNvPr id="2" name="灯片编号占位符 1">
            <a:extLst>
              <a:ext uri="{FF2B5EF4-FFF2-40B4-BE49-F238E27FC236}">
                <a16:creationId xmlns:a16="http://schemas.microsoft.com/office/drawing/2014/main" id="{D528D780-52BB-1144-D214-9E6C47261CBB}"/>
              </a:ext>
            </a:extLst>
          </p:cNvPr>
          <p:cNvSpPr>
            <a:spLocks noGrp="1"/>
          </p:cNvSpPr>
          <p:nvPr>
            <p:ph type="sldNum" sz="quarter" idx="12"/>
          </p:nvPr>
        </p:nvSpPr>
        <p:spPr/>
        <p:txBody>
          <a:bodyPr/>
          <a:lstStyle/>
          <a:p>
            <a:fld id="{4093CC90-4002-504C-BD88-C9A1D374048E}" type="slidenum">
              <a:rPr lang="zh-CN" altLang="en-US" smtClean="0"/>
              <a:pPr/>
              <a:t>103</a:t>
            </a:fld>
            <a:endParaRPr lang="zh-CN" altLang="en-US" dirty="0"/>
          </a:p>
        </p:txBody>
      </p:sp>
    </p:spTree>
  </p:cSld>
  <p:clrMapOvr>
    <a:masterClrMapping/>
  </p:clrMapOvr>
  <p:transition spd="med">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B7141BEC-2256-CA98-B8C6-1CCD2A5927A2}"/>
              </a:ext>
            </a:extLst>
          </p:cNvPr>
          <p:cNvSpPr>
            <a:spLocks noGrp="1" noChangeArrowheads="1"/>
          </p:cNvSpPr>
          <p:nvPr>
            <p:ph type="title"/>
          </p:nvPr>
        </p:nvSpPr>
        <p:spPr/>
        <p:txBody>
          <a:bodyPr/>
          <a:lstStyle/>
          <a:p>
            <a:pPr eaLnBrk="1" hangingPunct="1"/>
            <a:r>
              <a:rPr lang="zh-CN" altLang="en-US"/>
              <a:t>虚拟分配</a:t>
            </a:r>
          </a:p>
        </p:txBody>
      </p:sp>
      <p:sp>
        <p:nvSpPr>
          <p:cNvPr id="123906" name="Rectangle 3">
            <a:extLst>
              <a:ext uri="{FF2B5EF4-FFF2-40B4-BE49-F238E27FC236}">
                <a16:creationId xmlns:a16="http://schemas.microsoft.com/office/drawing/2014/main" id="{BA211C99-A8C2-D239-BBD5-A6B3477E5D66}"/>
              </a:ext>
            </a:extLst>
          </p:cNvPr>
          <p:cNvSpPr>
            <a:spLocks noGrp="1" noChangeArrowheads="1"/>
          </p:cNvSpPr>
          <p:nvPr>
            <p:ph idx="1"/>
          </p:nvPr>
        </p:nvSpPr>
        <p:spPr>
          <a:xfrm>
            <a:off x="685800" y="1268413"/>
            <a:ext cx="8269288" cy="4114800"/>
          </a:xfrm>
        </p:spPr>
        <p:txBody>
          <a:bodyPr/>
          <a:lstStyle/>
          <a:p>
            <a:pPr algn="just" eaLnBrk="1" hangingPunct="1"/>
            <a:r>
              <a:rPr lang="zh-CN" altLang="en-US"/>
              <a:t>虚拟分配针对虚拟设备，其实现过程是：</a:t>
            </a:r>
          </a:p>
          <a:p>
            <a:pPr lvl="1" algn="just" eaLnBrk="1" hangingPunct="1"/>
            <a:r>
              <a:rPr lang="zh-CN" altLang="en-US"/>
              <a:t>当进程申请独占设备时，系统给它分配共享设备上的一部分存储空间；</a:t>
            </a:r>
          </a:p>
          <a:p>
            <a:pPr lvl="1" algn="just" eaLnBrk="1" hangingPunct="1"/>
            <a:r>
              <a:rPr lang="zh-CN" altLang="en-US"/>
              <a:t>当进程要与设备交换信息时，系统就把要交换的信息存放在这部分存储空间中；</a:t>
            </a:r>
          </a:p>
          <a:p>
            <a:pPr lvl="1" algn="just" eaLnBrk="1" hangingPunct="1"/>
            <a:r>
              <a:rPr lang="zh-CN" altLang="en-US"/>
              <a:t>在适当的时候，将设备上的信息传输到存储空间中或将存储空间中的信息传送到设备。</a:t>
            </a:r>
          </a:p>
        </p:txBody>
      </p:sp>
      <p:sp>
        <p:nvSpPr>
          <p:cNvPr id="2" name="灯片编号占位符 1">
            <a:extLst>
              <a:ext uri="{FF2B5EF4-FFF2-40B4-BE49-F238E27FC236}">
                <a16:creationId xmlns:a16="http://schemas.microsoft.com/office/drawing/2014/main" id="{78A56AA9-A0F2-2E91-4EB0-C8A8E1A3B8B6}"/>
              </a:ext>
            </a:extLst>
          </p:cNvPr>
          <p:cNvSpPr>
            <a:spLocks noGrp="1"/>
          </p:cNvSpPr>
          <p:nvPr>
            <p:ph type="sldNum" sz="quarter" idx="12"/>
          </p:nvPr>
        </p:nvSpPr>
        <p:spPr/>
        <p:txBody>
          <a:bodyPr/>
          <a:lstStyle/>
          <a:p>
            <a:fld id="{4093CC90-4002-504C-BD88-C9A1D374048E}" type="slidenum">
              <a:rPr lang="zh-CN" altLang="en-US" smtClean="0"/>
              <a:pPr/>
              <a:t>104</a:t>
            </a:fld>
            <a:endParaRPr lang="zh-CN" altLang="en-US" dirty="0"/>
          </a:p>
        </p:txBody>
      </p:sp>
    </p:spTree>
  </p:cSld>
  <p:clrMapOvr>
    <a:masterClrMapping/>
  </p:clrMapOvr>
  <p:transition spd="med">
    <p:zo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371296CE-7257-9748-7459-6500373E3C18}"/>
              </a:ext>
            </a:extLst>
          </p:cNvPr>
          <p:cNvSpPr>
            <a:spLocks noGrp="1" noChangeArrowheads="1"/>
          </p:cNvSpPr>
          <p:nvPr>
            <p:ph type="title"/>
          </p:nvPr>
        </p:nvSpPr>
        <p:spPr/>
        <p:txBody>
          <a:bodyPr/>
          <a:lstStyle/>
          <a:p>
            <a:pPr eaLnBrk="1" hangingPunct="1"/>
            <a:r>
              <a:rPr lang="zh-CN" altLang="en-US"/>
              <a:t>设备分配算法</a:t>
            </a:r>
          </a:p>
        </p:txBody>
      </p:sp>
      <p:sp>
        <p:nvSpPr>
          <p:cNvPr id="156675" name="Rectangle 3">
            <a:extLst>
              <a:ext uri="{FF2B5EF4-FFF2-40B4-BE49-F238E27FC236}">
                <a16:creationId xmlns:a16="http://schemas.microsoft.com/office/drawing/2014/main" id="{59993AB7-2F7E-71F6-59F3-69940ADD8108}"/>
              </a:ext>
            </a:extLst>
          </p:cNvPr>
          <p:cNvSpPr>
            <a:spLocks noGrp="1" noChangeArrowheads="1"/>
          </p:cNvSpPr>
          <p:nvPr>
            <p:ph idx="1"/>
          </p:nvPr>
        </p:nvSpPr>
        <p:spPr>
          <a:xfrm>
            <a:off x="684213" y="1196975"/>
            <a:ext cx="8270875" cy="4876800"/>
          </a:xfrm>
        </p:spPr>
        <p:txBody>
          <a:bodyPr/>
          <a:lstStyle/>
          <a:p>
            <a:pPr algn="just" eaLnBrk="1" hangingPunct="1"/>
            <a:r>
              <a:rPr lang="zh-CN" altLang="en-US"/>
              <a:t>设备分配通常只采用以下两种算法：</a:t>
            </a:r>
          </a:p>
          <a:p>
            <a:pPr lvl="1" algn="just" eaLnBrk="1" hangingPunct="1"/>
            <a:r>
              <a:rPr lang="zh-CN" altLang="en-US"/>
              <a:t>先来先服务：根据进程对某设备发出请求的先后次序，将它们排成一个设备请求队列，设备分配程序总是把设备首先分配给队首进程。：</a:t>
            </a:r>
          </a:p>
          <a:p>
            <a:pPr lvl="1" algn="just" eaLnBrk="1" hangingPunct="1"/>
            <a:r>
              <a:rPr lang="zh-CN" altLang="en-US"/>
              <a:t>优先级高者优先：按对某设备提出</a:t>
            </a:r>
            <a:r>
              <a:rPr lang="en-US" altLang="zh-CN"/>
              <a:t>I/O</a:t>
            </a:r>
            <a:r>
              <a:rPr lang="zh-CN" altLang="en-US">
                <a:latin typeface="Times New Roman" panose="02020603050405020304" pitchFamily="18" charset="0"/>
              </a:rPr>
              <a:t>请求的</a:t>
            </a:r>
            <a:r>
              <a:rPr lang="zh-CN" altLang="en-US"/>
              <a:t>进程优先级由高到低排队，</a:t>
            </a:r>
            <a:r>
              <a:rPr lang="zh-CN" altLang="en-US">
                <a:latin typeface="Times New Roman" panose="02020603050405020304" pitchFamily="18" charset="0"/>
              </a:rPr>
              <a:t>对优先级相同的</a:t>
            </a:r>
            <a:r>
              <a:rPr lang="en-US" altLang="zh-CN"/>
              <a:t>I/O</a:t>
            </a:r>
            <a:r>
              <a:rPr lang="zh-CN" altLang="en-US">
                <a:latin typeface="Times New Roman" panose="02020603050405020304" pitchFamily="18" charset="0"/>
              </a:rPr>
              <a:t>请求</a:t>
            </a:r>
            <a:r>
              <a:rPr lang="zh-CN" altLang="en-US"/>
              <a:t>，按先来先服务的算法排队，设备分配程序总是把设备首先分配给队首进程。</a:t>
            </a:r>
          </a:p>
        </p:txBody>
      </p:sp>
      <p:sp>
        <p:nvSpPr>
          <p:cNvPr id="2" name="灯片编号占位符 1">
            <a:extLst>
              <a:ext uri="{FF2B5EF4-FFF2-40B4-BE49-F238E27FC236}">
                <a16:creationId xmlns:a16="http://schemas.microsoft.com/office/drawing/2014/main" id="{9B40AE1A-39F9-4906-285A-8913595E1F5D}"/>
              </a:ext>
            </a:extLst>
          </p:cNvPr>
          <p:cNvSpPr>
            <a:spLocks noGrp="1"/>
          </p:cNvSpPr>
          <p:nvPr>
            <p:ph type="sldNum" sz="quarter" idx="12"/>
          </p:nvPr>
        </p:nvSpPr>
        <p:spPr/>
        <p:txBody>
          <a:bodyPr/>
          <a:lstStyle/>
          <a:p>
            <a:fld id="{4093CC90-4002-504C-BD88-C9A1D374048E}" type="slidenum">
              <a:rPr lang="zh-CN" altLang="en-US" smtClean="0"/>
              <a:pPr/>
              <a:t>105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animEffect transition="in" filter="checkerboard(across)">
                                      <p:cBhvr>
                                        <p:cTn id="7" dur="500"/>
                                        <p:tgtEl>
                                          <p:spTgt spid="1566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56675">
                                            <p:txEl>
                                              <p:pRg st="2" end="2"/>
                                            </p:txEl>
                                          </p:spTgt>
                                        </p:tgtEl>
                                        <p:attrNameLst>
                                          <p:attrName>style.visibility</p:attrName>
                                        </p:attrNameLst>
                                      </p:cBhvr>
                                      <p:to>
                                        <p:strVal val="visible"/>
                                      </p:to>
                                    </p:set>
                                    <p:animEffect transition="in" filter="checkerboard(across)">
                                      <p:cBhvr>
                                        <p:cTn id="12" dur="500"/>
                                        <p:tgtEl>
                                          <p:spTgt spid="156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17EE2AAA-7794-7A35-F246-922AD581C35D}"/>
              </a:ext>
            </a:extLst>
          </p:cNvPr>
          <p:cNvSpPr>
            <a:spLocks noGrp="1" noChangeArrowheads="1"/>
          </p:cNvSpPr>
          <p:nvPr>
            <p:ph type="title"/>
          </p:nvPr>
        </p:nvSpPr>
        <p:spPr/>
        <p:txBody>
          <a:bodyPr/>
          <a:lstStyle/>
          <a:p>
            <a:pPr eaLnBrk="1" hangingPunct="1"/>
            <a:r>
              <a:rPr lang="zh-CN" altLang="en-US"/>
              <a:t>设备分配的安全性</a:t>
            </a:r>
          </a:p>
        </p:txBody>
      </p:sp>
      <p:sp>
        <p:nvSpPr>
          <p:cNvPr id="125954" name="Rectangle 3">
            <a:extLst>
              <a:ext uri="{FF2B5EF4-FFF2-40B4-BE49-F238E27FC236}">
                <a16:creationId xmlns:a16="http://schemas.microsoft.com/office/drawing/2014/main" id="{2BB9F24A-A993-2D4E-2B93-1E6568603D6F}"/>
              </a:ext>
            </a:extLst>
          </p:cNvPr>
          <p:cNvSpPr>
            <a:spLocks noGrp="1" noChangeArrowheads="1"/>
          </p:cNvSpPr>
          <p:nvPr>
            <p:ph idx="1"/>
          </p:nvPr>
        </p:nvSpPr>
        <p:spPr>
          <a:xfrm>
            <a:off x="866775" y="1268413"/>
            <a:ext cx="7972425" cy="4462462"/>
          </a:xfrm>
        </p:spPr>
        <p:txBody>
          <a:bodyPr/>
          <a:lstStyle/>
          <a:p>
            <a:pPr algn="just" eaLnBrk="1" hangingPunct="1"/>
            <a:r>
              <a:rPr lang="zh-CN" altLang="en-US"/>
              <a:t>设备分配的安全性是指在设备分配中应保证不发生进程死锁。</a:t>
            </a:r>
          </a:p>
          <a:p>
            <a:pPr algn="just" eaLnBrk="1" hangingPunct="1"/>
            <a:r>
              <a:rPr lang="zh-CN" altLang="en-US"/>
              <a:t>设备有两种分配方式：</a:t>
            </a:r>
          </a:p>
          <a:p>
            <a:pPr lvl="1" algn="just" eaLnBrk="1" hangingPunct="1"/>
            <a:r>
              <a:rPr lang="zh-CN" altLang="en-US"/>
              <a:t>静态分配</a:t>
            </a:r>
          </a:p>
          <a:p>
            <a:pPr lvl="1" algn="just" eaLnBrk="1" hangingPunct="1"/>
            <a:r>
              <a:rPr lang="zh-CN" altLang="en-US">
                <a:latin typeface="Times New Roman" panose="02020603050405020304" pitchFamily="18" charset="0"/>
              </a:rPr>
              <a:t>动态分配</a:t>
            </a:r>
            <a:endParaRPr lang="zh-CN" altLang="en-US"/>
          </a:p>
        </p:txBody>
      </p:sp>
      <p:sp>
        <p:nvSpPr>
          <p:cNvPr id="2" name="灯片编号占位符 1">
            <a:extLst>
              <a:ext uri="{FF2B5EF4-FFF2-40B4-BE49-F238E27FC236}">
                <a16:creationId xmlns:a16="http://schemas.microsoft.com/office/drawing/2014/main" id="{8D93BD1A-5C35-B212-EEBF-028913540563}"/>
              </a:ext>
            </a:extLst>
          </p:cNvPr>
          <p:cNvSpPr>
            <a:spLocks noGrp="1"/>
          </p:cNvSpPr>
          <p:nvPr>
            <p:ph type="sldNum" sz="quarter" idx="12"/>
          </p:nvPr>
        </p:nvSpPr>
        <p:spPr/>
        <p:txBody>
          <a:bodyPr/>
          <a:lstStyle/>
          <a:p>
            <a:fld id="{4093CC90-4002-504C-BD88-C9A1D374048E}" type="slidenum">
              <a:rPr lang="zh-CN" altLang="en-US" smtClean="0"/>
              <a:pPr/>
              <a:t>106</a:t>
            </a:fld>
            <a:endParaRPr lang="zh-CN" altLang="en-US" dirty="0"/>
          </a:p>
        </p:txBody>
      </p:sp>
    </p:spTree>
  </p:cSld>
  <p:clrMapOvr>
    <a:masterClrMapping/>
  </p:clrMapOvr>
  <p:transition spd="med">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44BF2D6A-D6E9-8546-070D-D3430C967E30}"/>
              </a:ext>
            </a:extLst>
          </p:cNvPr>
          <p:cNvSpPr>
            <a:spLocks noGrp="1" noChangeArrowheads="1"/>
          </p:cNvSpPr>
          <p:nvPr>
            <p:ph type="title"/>
          </p:nvPr>
        </p:nvSpPr>
        <p:spPr/>
        <p:txBody>
          <a:bodyPr/>
          <a:lstStyle/>
          <a:p>
            <a:pPr eaLnBrk="1" hangingPunct="1"/>
            <a:r>
              <a:rPr lang="zh-CN" altLang="en-US"/>
              <a:t>静态分配</a:t>
            </a:r>
          </a:p>
        </p:txBody>
      </p:sp>
      <p:sp>
        <p:nvSpPr>
          <p:cNvPr id="201731" name="Rectangle 3">
            <a:extLst>
              <a:ext uri="{FF2B5EF4-FFF2-40B4-BE49-F238E27FC236}">
                <a16:creationId xmlns:a16="http://schemas.microsoft.com/office/drawing/2014/main" id="{15DFEF1A-B233-B423-39CC-7087CF954986}"/>
              </a:ext>
            </a:extLst>
          </p:cNvPr>
          <p:cNvSpPr>
            <a:spLocks noGrp="1" noChangeArrowheads="1"/>
          </p:cNvSpPr>
          <p:nvPr>
            <p:ph idx="1"/>
          </p:nvPr>
        </p:nvSpPr>
        <p:spPr>
          <a:xfrm>
            <a:off x="755650" y="1196975"/>
            <a:ext cx="8083550" cy="4462463"/>
          </a:xfrm>
        </p:spPr>
        <p:txBody>
          <a:bodyPr/>
          <a:lstStyle/>
          <a:p>
            <a:pPr algn="just" eaLnBrk="1" hangingPunct="1"/>
            <a:r>
              <a:rPr lang="zh-CN" altLang="en-US"/>
              <a:t>静态分配：</a:t>
            </a:r>
            <a:r>
              <a:rPr lang="zh-CN" altLang="en-US">
                <a:latin typeface="Times New Roman" panose="02020603050405020304" pitchFamily="18" charset="0"/>
              </a:rPr>
              <a:t>用户作业开始执行前，由系统一次分配该作业所要求的全部设备、控制器和通道。一旦分配，就一直为该作业所占用，直到该作业被撤消为止。</a:t>
            </a:r>
          </a:p>
          <a:p>
            <a:pPr algn="just" eaLnBrk="1" hangingPunct="1"/>
            <a:r>
              <a:rPr lang="zh-CN" altLang="en-US">
                <a:latin typeface="Times New Roman" panose="02020603050405020304" pitchFamily="18" charset="0"/>
              </a:rPr>
              <a:t>静态分配方式不会出现进程的死锁，但设备的使用效率低。</a:t>
            </a:r>
            <a:endParaRPr lang="zh-CN" altLang="en-US"/>
          </a:p>
        </p:txBody>
      </p:sp>
      <p:sp>
        <p:nvSpPr>
          <p:cNvPr id="2" name="灯片编号占位符 1">
            <a:extLst>
              <a:ext uri="{FF2B5EF4-FFF2-40B4-BE49-F238E27FC236}">
                <a16:creationId xmlns:a16="http://schemas.microsoft.com/office/drawing/2014/main" id="{F1DE5985-B7FD-E4F6-036E-7CFFF65A4AEA}"/>
              </a:ext>
            </a:extLst>
          </p:cNvPr>
          <p:cNvSpPr>
            <a:spLocks noGrp="1"/>
          </p:cNvSpPr>
          <p:nvPr>
            <p:ph type="sldNum" sz="quarter" idx="12"/>
          </p:nvPr>
        </p:nvSpPr>
        <p:spPr/>
        <p:txBody>
          <a:bodyPr/>
          <a:lstStyle/>
          <a:p>
            <a:fld id="{4093CC90-4002-504C-BD88-C9A1D374048E}" type="slidenum">
              <a:rPr lang="zh-CN" altLang="en-US" smtClean="0"/>
              <a:pPr/>
              <a:t>107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checkerboard(across)">
                                      <p:cBhvr>
                                        <p:cTn id="7" dur="500"/>
                                        <p:tgtEl>
                                          <p:spTgt spid="201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1731">
                                            <p:txEl>
                                              <p:pRg st="1" end="1"/>
                                            </p:txEl>
                                          </p:spTgt>
                                        </p:tgtEl>
                                        <p:attrNameLst>
                                          <p:attrName>style.visibility</p:attrName>
                                        </p:attrNameLst>
                                      </p:cBhvr>
                                      <p:to>
                                        <p:strVal val="visible"/>
                                      </p:to>
                                    </p:set>
                                    <p:animEffect transition="in" filter="checkerboard(across)">
                                      <p:cBhvr>
                                        <p:cTn id="12" dur="500"/>
                                        <p:tgtEl>
                                          <p:spTgt spid="2017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FE858032-69D3-89FD-8653-E45532CAE958}"/>
              </a:ext>
            </a:extLst>
          </p:cNvPr>
          <p:cNvSpPr>
            <a:spLocks noGrp="1" noChangeArrowheads="1"/>
          </p:cNvSpPr>
          <p:nvPr>
            <p:ph type="title"/>
          </p:nvPr>
        </p:nvSpPr>
        <p:spPr/>
        <p:txBody>
          <a:bodyPr/>
          <a:lstStyle/>
          <a:p>
            <a:pPr eaLnBrk="1" hangingPunct="1"/>
            <a:r>
              <a:rPr lang="zh-CN" altLang="en-US"/>
              <a:t>动态分配</a:t>
            </a:r>
          </a:p>
        </p:txBody>
      </p:sp>
      <p:sp>
        <p:nvSpPr>
          <p:cNvPr id="219139" name="Rectangle 3">
            <a:extLst>
              <a:ext uri="{FF2B5EF4-FFF2-40B4-BE49-F238E27FC236}">
                <a16:creationId xmlns:a16="http://schemas.microsoft.com/office/drawing/2014/main" id="{7E6E7B0F-E1CD-6E3D-4F99-534575C5385C}"/>
              </a:ext>
            </a:extLst>
          </p:cNvPr>
          <p:cNvSpPr>
            <a:spLocks noGrp="1" noChangeArrowheads="1"/>
          </p:cNvSpPr>
          <p:nvPr>
            <p:ph idx="1"/>
          </p:nvPr>
        </p:nvSpPr>
        <p:spPr>
          <a:xfrm>
            <a:off x="684213" y="1196975"/>
            <a:ext cx="8078787" cy="4462463"/>
          </a:xfrm>
        </p:spPr>
        <p:txBody>
          <a:bodyPr/>
          <a:lstStyle/>
          <a:p>
            <a:pPr algn="just" eaLnBrk="1" hangingPunct="1"/>
            <a:r>
              <a:rPr lang="zh-CN" altLang="en-US">
                <a:latin typeface="Times New Roman" panose="02020603050405020304" pitchFamily="18" charset="0"/>
              </a:rPr>
              <a:t>动态分配：在进程执行过程中根据需要进行设备分配，一旦使用完之后便立即释放。</a:t>
            </a:r>
          </a:p>
          <a:p>
            <a:pPr algn="just" eaLnBrk="1" hangingPunct="1"/>
            <a:r>
              <a:rPr lang="zh-CN" altLang="en-US">
                <a:latin typeface="Times New Roman" panose="02020603050405020304" pitchFamily="18" charset="0"/>
              </a:rPr>
              <a:t>动态分配方式有利于提高设备利用率，但分配算法使用不当有可能造成进程死锁。</a:t>
            </a:r>
          </a:p>
          <a:p>
            <a:pPr algn="just" eaLnBrk="1" hangingPunct="1"/>
            <a:r>
              <a:rPr lang="zh-CN" altLang="en-US"/>
              <a:t>动态分配又分为：</a:t>
            </a:r>
          </a:p>
          <a:p>
            <a:pPr lvl="1" algn="just" eaLnBrk="1" hangingPunct="1"/>
            <a:r>
              <a:rPr lang="zh-CN" altLang="en-US"/>
              <a:t>安全分配</a:t>
            </a:r>
          </a:p>
          <a:p>
            <a:pPr lvl="1" algn="just" eaLnBrk="1" hangingPunct="1"/>
            <a:r>
              <a:rPr lang="zh-CN" altLang="en-US"/>
              <a:t>不安全分配</a:t>
            </a:r>
          </a:p>
        </p:txBody>
      </p:sp>
      <p:sp>
        <p:nvSpPr>
          <p:cNvPr id="2" name="灯片编号占位符 1">
            <a:extLst>
              <a:ext uri="{FF2B5EF4-FFF2-40B4-BE49-F238E27FC236}">
                <a16:creationId xmlns:a16="http://schemas.microsoft.com/office/drawing/2014/main" id="{EA23751C-25A3-FB53-A8AA-00A570D66195}"/>
              </a:ext>
            </a:extLst>
          </p:cNvPr>
          <p:cNvSpPr>
            <a:spLocks noGrp="1"/>
          </p:cNvSpPr>
          <p:nvPr>
            <p:ph type="sldNum" sz="quarter" idx="12"/>
          </p:nvPr>
        </p:nvSpPr>
        <p:spPr/>
        <p:txBody>
          <a:bodyPr/>
          <a:lstStyle/>
          <a:p>
            <a:fld id="{4093CC90-4002-504C-BD88-C9A1D374048E}" type="slidenum">
              <a:rPr lang="zh-CN" altLang="en-US" smtClean="0"/>
              <a:pPr/>
              <a:t>108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Effect transition="in" filter="checkerboard(across)">
                                      <p:cBhvr>
                                        <p:cTn id="7" dur="500"/>
                                        <p:tgtEl>
                                          <p:spTgt spid="219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9139">
                                            <p:txEl>
                                              <p:pRg st="1" end="1"/>
                                            </p:txEl>
                                          </p:spTgt>
                                        </p:tgtEl>
                                        <p:attrNameLst>
                                          <p:attrName>style.visibility</p:attrName>
                                        </p:attrNameLst>
                                      </p:cBhvr>
                                      <p:to>
                                        <p:strVal val="visible"/>
                                      </p:to>
                                    </p:set>
                                    <p:animEffect transition="in" filter="checkerboard(across)">
                                      <p:cBhvr>
                                        <p:cTn id="12" dur="500"/>
                                        <p:tgtEl>
                                          <p:spTgt spid="219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19139">
                                            <p:txEl>
                                              <p:pRg st="2" end="2"/>
                                            </p:txEl>
                                          </p:spTgt>
                                        </p:tgtEl>
                                        <p:attrNameLst>
                                          <p:attrName>style.visibility</p:attrName>
                                        </p:attrNameLst>
                                      </p:cBhvr>
                                      <p:to>
                                        <p:strVal val="visible"/>
                                      </p:to>
                                    </p:set>
                                    <p:animEffect transition="in" filter="checkerboard(across)">
                                      <p:cBhvr>
                                        <p:cTn id="17" dur="500"/>
                                        <p:tgtEl>
                                          <p:spTgt spid="219139">
                                            <p:txEl>
                                              <p:pRg st="2" end="2"/>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219139">
                                            <p:txEl>
                                              <p:pRg st="3" end="3"/>
                                            </p:txEl>
                                          </p:spTgt>
                                        </p:tgtEl>
                                        <p:attrNameLst>
                                          <p:attrName>style.visibility</p:attrName>
                                        </p:attrNameLst>
                                      </p:cBhvr>
                                      <p:to>
                                        <p:strVal val="visible"/>
                                      </p:to>
                                    </p:set>
                                    <p:animEffect transition="in" filter="checkerboard(across)">
                                      <p:cBhvr>
                                        <p:cTn id="20" dur="500"/>
                                        <p:tgtEl>
                                          <p:spTgt spid="219139">
                                            <p:txEl>
                                              <p:pRg st="3" end="3"/>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219139">
                                            <p:txEl>
                                              <p:pRg st="4" end="4"/>
                                            </p:txEl>
                                          </p:spTgt>
                                        </p:tgtEl>
                                        <p:attrNameLst>
                                          <p:attrName>style.visibility</p:attrName>
                                        </p:attrNameLst>
                                      </p:cBhvr>
                                      <p:to>
                                        <p:strVal val="visible"/>
                                      </p:to>
                                    </p:set>
                                    <p:animEffect transition="in" filter="checkerboard(across)">
                                      <p:cBhvr>
                                        <p:cTn id="23" dur="500"/>
                                        <p:tgtEl>
                                          <p:spTgt spid="2191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DC3987C3-5416-E1C8-D9F0-24157174B243}"/>
              </a:ext>
            </a:extLst>
          </p:cNvPr>
          <p:cNvSpPr>
            <a:spLocks noGrp="1" noChangeArrowheads="1"/>
          </p:cNvSpPr>
          <p:nvPr>
            <p:ph type="title"/>
          </p:nvPr>
        </p:nvSpPr>
        <p:spPr/>
        <p:txBody>
          <a:bodyPr/>
          <a:lstStyle/>
          <a:p>
            <a:pPr eaLnBrk="1" hangingPunct="1"/>
            <a:r>
              <a:rPr lang="zh-CN" altLang="en-US"/>
              <a:t>安全分配</a:t>
            </a:r>
          </a:p>
        </p:txBody>
      </p:sp>
      <p:sp>
        <p:nvSpPr>
          <p:cNvPr id="129026" name="Rectangle 3">
            <a:extLst>
              <a:ext uri="{FF2B5EF4-FFF2-40B4-BE49-F238E27FC236}">
                <a16:creationId xmlns:a16="http://schemas.microsoft.com/office/drawing/2014/main" id="{33BBCCCB-3872-8FA7-C6A2-3CABCE96F190}"/>
              </a:ext>
            </a:extLst>
          </p:cNvPr>
          <p:cNvSpPr>
            <a:spLocks noGrp="1" noChangeArrowheads="1"/>
          </p:cNvSpPr>
          <p:nvPr>
            <p:ph idx="1"/>
          </p:nvPr>
        </p:nvSpPr>
        <p:spPr>
          <a:xfrm>
            <a:off x="914400" y="1268413"/>
            <a:ext cx="7772400" cy="4114800"/>
          </a:xfrm>
        </p:spPr>
        <p:txBody>
          <a:bodyPr/>
          <a:lstStyle/>
          <a:p>
            <a:pPr algn="just" eaLnBrk="1" hangingPunct="1"/>
            <a:r>
              <a:rPr lang="zh-CN" altLang="en-US"/>
              <a:t>安全分配：每当进程发出</a:t>
            </a:r>
            <a:r>
              <a:rPr lang="en-US" altLang="zh-CN"/>
              <a:t>I/O</a:t>
            </a:r>
            <a:r>
              <a:rPr lang="zh-CN" altLang="en-US"/>
              <a:t>请求后便进入阻塞状态，直到</a:t>
            </a:r>
            <a:r>
              <a:rPr lang="en-US" altLang="zh-CN"/>
              <a:t>I/O</a:t>
            </a:r>
            <a:r>
              <a:rPr lang="zh-CN" altLang="en-US"/>
              <a:t>操作完成时才被唤醒并释放资源。</a:t>
            </a:r>
          </a:p>
          <a:p>
            <a:pPr algn="just" eaLnBrk="1" hangingPunct="1"/>
            <a:r>
              <a:rPr lang="zh-CN" altLang="en-US"/>
              <a:t>特点：设备分配安全，但进程进展缓慢。</a:t>
            </a:r>
          </a:p>
        </p:txBody>
      </p:sp>
      <p:sp>
        <p:nvSpPr>
          <p:cNvPr id="2" name="灯片编号占位符 1">
            <a:extLst>
              <a:ext uri="{FF2B5EF4-FFF2-40B4-BE49-F238E27FC236}">
                <a16:creationId xmlns:a16="http://schemas.microsoft.com/office/drawing/2014/main" id="{5F8CADBD-D02A-4714-0FA5-E0E10757CC4B}"/>
              </a:ext>
            </a:extLst>
          </p:cNvPr>
          <p:cNvSpPr>
            <a:spLocks noGrp="1"/>
          </p:cNvSpPr>
          <p:nvPr>
            <p:ph type="sldNum" sz="quarter" idx="12"/>
          </p:nvPr>
        </p:nvSpPr>
        <p:spPr/>
        <p:txBody>
          <a:bodyPr/>
          <a:lstStyle/>
          <a:p>
            <a:fld id="{4093CC90-4002-504C-BD88-C9A1D374048E}" type="slidenum">
              <a:rPr lang="zh-CN" altLang="en-US" smtClean="0"/>
              <a:pPr/>
              <a:t>109</a:t>
            </a:fld>
            <a:endParaRPr lang="zh-CN" altLang="en-US" dirty="0"/>
          </a:p>
        </p:txBody>
      </p:sp>
    </p:spTree>
  </p:cSld>
  <p:clrMapOvr>
    <a:masterClrMapping/>
  </p:clrMapOvr>
  <p:transition spd="med">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A5B2CDED-9924-D8D0-2F9E-4B7AC5013336}"/>
              </a:ext>
            </a:extLst>
          </p:cNvPr>
          <p:cNvSpPr>
            <a:spLocks noGrp="1" noChangeArrowheads="1"/>
          </p:cNvSpPr>
          <p:nvPr>
            <p:ph type="title"/>
          </p:nvPr>
        </p:nvSpPr>
        <p:spPr/>
        <p:txBody>
          <a:bodyPr/>
          <a:lstStyle/>
          <a:p>
            <a:pPr eaLnBrk="1" hangingPunct="1"/>
            <a:r>
              <a:rPr lang="zh-CN" altLang="en-US"/>
              <a:t>不安全分配</a:t>
            </a:r>
          </a:p>
        </p:txBody>
      </p:sp>
      <p:sp>
        <p:nvSpPr>
          <p:cNvPr id="130050" name="Rectangle 3">
            <a:extLst>
              <a:ext uri="{FF2B5EF4-FFF2-40B4-BE49-F238E27FC236}">
                <a16:creationId xmlns:a16="http://schemas.microsoft.com/office/drawing/2014/main" id="{66C984EB-4E81-E993-DB92-1374D2EBF26D}"/>
              </a:ext>
            </a:extLst>
          </p:cNvPr>
          <p:cNvSpPr>
            <a:spLocks noGrp="1" noChangeArrowheads="1"/>
          </p:cNvSpPr>
          <p:nvPr>
            <p:ph idx="1"/>
          </p:nvPr>
        </p:nvSpPr>
        <p:spPr>
          <a:xfrm>
            <a:off x="685800" y="1196975"/>
            <a:ext cx="8001000" cy="4114800"/>
          </a:xfrm>
        </p:spPr>
        <p:txBody>
          <a:bodyPr/>
          <a:lstStyle/>
          <a:p>
            <a:pPr algn="just" eaLnBrk="1" hangingPunct="1"/>
            <a:r>
              <a:rPr lang="zh-CN" altLang="en-US"/>
              <a:t>不安全分配：进程发出</a:t>
            </a:r>
            <a:r>
              <a:rPr lang="en-US" altLang="zh-CN"/>
              <a:t>I/O</a:t>
            </a:r>
            <a:r>
              <a:rPr lang="zh-CN" altLang="en-US"/>
              <a:t>请求后继续运行，需要时又可发出第二个</a:t>
            </a:r>
            <a:r>
              <a:rPr lang="en-US" altLang="zh-CN"/>
              <a:t>I/O</a:t>
            </a:r>
            <a:r>
              <a:rPr lang="zh-CN" altLang="en-US"/>
              <a:t>请求、第三个</a:t>
            </a:r>
            <a:r>
              <a:rPr lang="en-US" altLang="zh-CN"/>
              <a:t>I/O</a:t>
            </a:r>
            <a:r>
              <a:rPr lang="zh-CN" altLang="en-US"/>
              <a:t>请求等。仅当进程所请求的设备被其他进程占用时才进入阻塞状态。</a:t>
            </a:r>
          </a:p>
          <a:p>
            <a:pPr algn="just" eaLnBrk="1" hangingPunct="1"/>
            <a:r>
              <a:rPr lang="zh-CN" altLang="en-US"/>
              <a:t>特点：进程推进迅速，但可能死锁。</a:t>
            </a:r>
          </a:p>
        </p:txBody>
      </p:sp>
      <p:sp>
        <p:nvSpPr>
          <p:cNvPr id="2" name="灯片编号占位符 1">
            <a:extLst>
              <a:ext uri="{FF2B5EF4-FFF2-40B4-BE49-F238E27FC236}">
                <a16:creationId xmlns:a16="http://schemas.microsoft.com/office/drawing/2014/main" id="{3D67544E-BBA6-BF62-0206-EB5D0D8794C4}"/>
              </a:ext>
            </a:extLst>
          </p:cNvPr>
          <p:cNvSpPr>
            <a:spLocks noGrp="1"/>
          </p:cNvSpPr>
          <p:nvPr>
            <p:ph type="sldNum" sz="quarter" idx="12"/>
          </p:nvPr>
        </p:nvSpPr>
        <p:spPr/>
        <p:txBody>
          <a:bodyPr/>
          <a:lstStyle/>
          <a:p>
            <a:fld id="{4093CC90-4002-504C-BD88-C9A1D374048E}" type="slidenum">
              <a:rPr lang="zh-CN" altLang="en-US" smtClean="0"/>
              <a:pPr/>
              <a:t>110</a:t>
            </a:fld>
            <a:endParaRPr lang="zh-CN" altLang="en-US" dirty="0"/>
          </a:p>
        </p:txBody>
      </p:sp>
    </p:spTree>
  </p:cSld>
  <p:clrMapOvr>
    <a:masterClrMapping/>
  </p:clrMapOvr>
  <p:transition spd="med">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AA1EA601-C3F1-E25F-FC22-C1EBA8C82AF3}"/>
              </a:ext>
            </a:extLst>
          </p:cNvPr>
          <p:cNvSpPr>
            <a:spLocks noGrp="1" noChangeArrowheads="1"/>
          </p:cNvSpPr>
          <p:nvPr>
            <p:ph type="title"/>
          </p:nvPr>
        </p:nvSpPr>
        <p:spPr/>
        <p:txBody>
          <a:bodyPr/>
          <a:lstStyle/>
          <a:p>
            <a:pPr eaLnBrk="1" hangingPunct="1"/>
            <a:r>
              <a:rPr lang="zh-CN" altLang="en-US" b="1"/>
              <a:t>设备独立性</a:t>
            </a:r>
          </a:p>
        </p:txBody>
      </p:sp>
      <p:sp>
        <p:nvSpPr>
          <p:cNvPr id="131074" name="Rectangle 3">
            <a:extLst>
              <a:ext uri="{FF2B5EF4-FFF2-40B4-BE49-F238E27FC236}">
                <a16:creationId xmlns:a16="http://schemas.microsoft.com/office/drawing/2014/main" id="{829EF58D-5465-B50A-CEEA-A41158B4D886}"/>
              </a:ext>
            </a:extLst>
          </p:cNvPr>
          <p:cNvSpPr>
            <a:spLocks noGrp="1" noChangeArrowheads="1"/>
          </p:cNvSpPr>
          <p:nvPr>
            <p:ph idx="1"/>
          </p:nvPr>
        </p:nvSpPr>
        <p:spPr>
          <a:xfrm>
            <a:off x="838200" y="1268413"/>
            <a:ext cx="8116888" cy="4459287"/>
          </a:xfrm>
        </p:spPr>
        <p:txBody>
          <a:bodyPr/>
          <a:lstStyle/>
          <a:p>
            <a:pPr algn="just" eaLnBrk="1" hangingPunct="1"/>
            <a:r>
              <a:rPr lang="zh-CN" altLang="en-US"/>
              <a:t>设备独立性：又称设备无关性，是指用户编制程序时使用的设备与实际使用的物理设备无关。</a:t>
            </a:r>
          </a:p>
          <a:p>
            <a:pPr algn="just" eaLnBrk="1" hangingPunct="1"/>
            <a:r>
              <a:rPr lang="zh-CN" altLang="en-US"/>
              <a:t>逻辑设备：用户程序中使用的设备。</a:t>
            </a:r>
          </a:p>
          <a:p>
            <a:pPr algn="just" eaLnBrk="1" hangingPunct="1"/>
            <a:r>
              <a:rPr lang="zh-CN" altLang="en-US"/>
              <a:t>物理设备：计算机系统中存在的设备。</a:t>
            </a:r>
          </a:p>
        </p:txBody>
      </p:sp>
      <p:sp>
        <p:nvSpPr>
          <p:cNvPr id="2" name="灯片编号占位符 1">
            <a:extLst>
              <a:ext uri="{FF2B5EF4-FFF2-40B4-BE49-F238E27FC236}">
                <a16:creationId xmlns:a16="http://schemas.microsoft.com/office/drawing/2014/main" id="{8A6021FD-DAA9-EBE4-4B02-7E0DD9C7BB91}"/>
              </a:ext>
            </a:extLst>
          </p:cNvPr>
          <p:cNvSpPr>
            <a:spLocks noGrp="1"/>
          </p:cNvSpPr>
          <p:nvPr>
            <p:ph type="sldNum" sz="quarter" idx="12"/>
          </p:nvPr>
        </p:nvSpPr>
        <p:spPr/>
        <p:txBody>
          <a:bodyPr/>
          <a:lstStyle/>
          <a:p>
            <a:fld id="{4093CC90-4002-504C-BD88-C9A1D374048E}" type="slidenum">
              <a:rPr lang="zh-CN" altLang="en-US" smtClean="0"/>
              <a:pPr/>
              <a:t>111</a:t>
            </a:fld>
            <a:endParaRPr lang="zh-CN" altLang="en-US" dirty="0"/>
          </a:p>
        </p:txBody>
      </p:sp>
    </p:spTree>
  </p:cSld>
  <p:clrMapOvr>
    <a:masterClrMapping/>
  </p:clrMapOvr>
  <p:transition spd="med">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7FE3A913-999F-D43E-61CC-09C5E4CC549B}"/>
              </a:ext>
            </a:extLst>
          </p:cNvPr>
          <p:cNvSpPr>
            <a:spLocks noGrp="1" noChangeArrowheads="1"/>
          </p:cNvSpPr>
          <p:nvPr>
            <p:ph type="title"/>
          </p:nvPr>
        </p:nvSpPr>
        <p:spPr/>
        <p:txBody>
          <a:bodyPr/>
          <a:lstStyle/>
          <a:p>
            <a:pPr eaLnBrk="1" hangingPunct="1"/>
            <a:r>
              <a:rPr lang="zh-CN" altLang="en-US"/>
              <a:t>设备独立性的实现</a:t>
            </a:r>
          </a:p>
        </p:txBody>
      </p:sp>
      <p:sp>
        <p:nvSpPr>
          <p:cNvPr id="202755" name="Rectangle 3">
            <a:extLst>
              <a:ext uri="{FF2B5EF4-FFF2-40B4-BE49-F238E27FC236}">
                <a16:creationId xmlns:a16="http://schemas.microsoft.com/office/drawing/2014/main" id="{E0E94EA9-53E2-EA4A-5A17-97605314A7AD}"/>
              </a:ext>
            </a:extLst>
          </p:cNvPr>
          <p:cNvSpPr>
            <a:spLocks noGrp="1" noChangeArrowheads="1"/>
          </p:cNvSpPr>
          <p:nvPr>
            <p:ph idx="1"/>
          </p:nvPr>
        </p:nvSpPr>
        <p:spPr>
          <a:xfrm>
            <a:off x="684213" y="1196975"/>
            <a:ext cx="8220075" cy="4968875"/>
          </a:xfrm>
        </p:spPr>
        <p:txBody>
          <a:bodyPr/>
          <a:lstStyle/>
          <a:p>
            <a:pPr algn="just" eaLnBrk="1" hangingPunct="1">
              <a:lnSpc>
                <a:spcPct val="90000"/>
              </a:lnSpc>
            </a:pPr>
            <a:r>
              <a:rPr lang="zh-CN" altLang="en-US"/>
              <a:t>为实现设备独立性，应在用户程序中使用逻辑设备名请求某类设备，而在程序实际执行时使用物理设备名。为此系统应具有将逻辑设备名转换为物理设备名的功能。</a:t>
            </a:r>
          </a:p>
          <a:p>
            <a:pPr algn="just" eaLnBrk="1" hangingPunct="1">
              <a:lnSpc>
                <a:spcPct val="90000"/>
              </a:lnSpc>
            </a:pPr>
            <a:r>
              <a:rPr lang="zh-CN" altLang="en-US"/>
              <a:t>可以采用逻辑设备表实现变换。其表项可包含：</a:t>
            </a:r>
          </a:p>
          <a:p>
            <a:pPr lvl="1" algn="just" eaLnBrk="1" hangingPunct="1">
              <a:lnSpc>
                <a:spcPct val="90000"/>
              </a:lnSpc>
            </a:pPr>
            <a:r>
              <a:rPr lang="zh-CN" altLang="en-US"/>
              <a:t>逻辑设备名</a:t>
            </a:r>
          </a:p>
          <a:p>
            <a:pPr lvl="1" algn="just" eaLnBrk="1" hangingPunct="1">
              <a:lnSpc>
                <a:spcPct val="90000"/>
              </a:lnSpc>
            </a:pPr>
            <a:r>
              <a:rPr lang="zh-CN" altLang="en-US"/>
              <a:t>物理设备名</a:t>
            </a:r>
          </a:p>
          <a:p>
            <a:pPr lvl="1" algn="just" eaLnBrk="1" hangingPunct="1">
              <a:lnSpc>
                <a:spcPct val="90000"/>
              </a:lnSpc>
            </a:pPr>
            <a:r>
              <a:rPr lang="zh-CN" altLang="en-US"/>
              <a:t>设备驱动程序地址</a:t>
            </a:r>
          </a:p>
        </p:txBody>
      </p:sp>
      <p:sp>
        <p:nvSpPr>
          <p:cNvPr id="2" name="灯片编号占位符 1">
            <a:extLst>
              <a:ext uri="{FF2B5EF4-FFF2-40B4-BE49-F238E27FC236}">
                <a16:creationId xmlns:a16="http://schemas.microsoft.com/office/drawing/2014/main" id="{D87CC2FB-BB0F-FCE5-D17E-4A92820A27B8}"/>
              </a:ext>
            </a:extLst>
          </p:cNvPr>
          <p:cNvSpPr>
            <a:spLocks noGrp="1"/>
          </p:cNvSpPr>
          <p:nvPr>
            <p:ph type="sldNum" sz="quarter" idx="12"/>
          </p:nvPr>
        </p:nvSpPr>
        <p:spPr/>
        <p:txBody>
          <a:bodyPr/>
          <a:lstStyle/>
          <a:p>
            <a:fld id="{4093CC90-4002-504C-BD88-C9A1D374048E}" type="slidenum">
              <a:rPr lang="zh-CN" altLang="en-US" smtClean="0"/>
              <a:pPr/>
              <a:t>112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Effect transition="in" filter="checkerboard(across)">
                                      <p:cBhvr>
                                        <p:cTn id="7" dur="500"/>
                                        <p:tgtEl>
                                          <p:spTgt spid="202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2755">
                                            <p:txEl>
                                              <p:pRg st="1" end="1"/>
                                            </p:txEl>
                                          </p:spTgt>
                                        </p:tgtEl>
                                        <p:attrNameLst>
                                          <p:attrName>style.visibility</p:attrName>
                                        </p:attrNameLst>
                                      </p:cBhvr>
                                      <p:to>
                                        <p:strVal val="visible"/>
                                      </p:to>
                                    </p:set>
                                    <p:animEffect transition="in" filter="checkerboard(across)">
                                      <p:cBhvr>
                                        <p:cTn id="12" dur="500"/>
                                        <p:tgtEl>
                                          <p:spTgt spid="202755">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02755">
                                            <p:txEl>
                                              <p:pRg st="2" end="2"/>
                                            </p:txEl>
                                          </p:spTgt>
                                        </p:tgtEl>
                                        <p:attrNameLst>
                                          <p:attrName>style.visibility</p:attrName>
                                        </p:attrNameLst>
                                      </p:cBhvr>
                                      <p:to>
                                        <p:strVal val="visible"/>
                                      </p:to>
                                    </p:set>
                                    <p:animEffect transition="in" filter="checkerboard(across)">
                                      <p:cBhvr>
                                        <p:cTn id="15" dur="500"/>
                                        <p:tgtEl>
                                          <p:spTgt spid="202755">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02755">
                                            <p:txEl>
                                              <p:pRg st="3" end="3"/>
                                            </p:txEl>
                                          </p:spTgt>
                                        </p:tgtEl>
                                        <p:attrNameLst>
                                          <p:attrName>style.visibility</p:attrName>
                                        </p:attrNameLst>
                                      </p:cBhvr>
                                      <p:to>
                                        <p:strVal val="visible"/>
                                      </p:to>
                                    </p:set>
                                    <p:animEffect transition="in" filter="checkerboard(across)">
                                      <p:cBhvr>
                                        <p:cTn id="18" dur="500"/>
                                        <p:tgtEl>
                                          <p:spTgt spid="202755">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02755">
                                            <p:txEl>
                                              <p:pRg st="4" end="4"/>
                                            </p:txEl>
                                          </p:spTgt>
                                        </p:tgtEl>
                                        <p:attrNameLst>
                                          <p:attrName>style.visibility</p:attrName>
                                        </p:attrNameLst>
                                      </p:cBhvr>
                                      <p:to>
                                        <p:strVal val="visible"/>
                                      </p:to>
                                    </p:set>
                                    <p:animEffect transition="in" filter="checkerboard(across)">
                                      <p:cBhvr>
                                        <p:cTn id="21" dur="500"/>
                                        <p:tgtEl>
                                          <p:spTgt spid="202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9769F739-CB1C-CD27-BDE9-DBE1B6C854E4}"/>
              </a:ext>
            </a:extLst>
          </p:cNvPr>
          <p:cNvSpPr>
            <a:spLocks noGrp="1" noChangeArrowheads="1"/>
          </p:cNvSpPr>
          <p:nvPr>
            <p:ph type="title"/>
          </p:nvPr>
        </p:nvSpPr>
        <p:spPr/>
        <p:txBody>
          <a:bodyPr/>
          <a:lstStyle/>
          <a:p>
            <a:pPr eaLnBrk="1" hangingPunct="1"/>
            <a:r>
              <a:rPr lang="zh-CN" altLang="en-US" sz="4000"/>
              <a:t>设备分配程序</a:t>
            </a:r>
            <a:r>
              <a:rPr lang="zh-CN" altLang="en-US" sz="3200">
                <a:latin typeface="Times New Roman" panose="02020603050405020304" pitchFamily="18" charset="0"/>
              </a:rPr>
              <a:t>—</a:t>
            </a:r>
            <a:r>
              <a:rPr lang="zh-CN" altLang="en-US" sz="3200"/>
              <a:t>单通路设备分配</a:t>
            </a:r>
          </a:p>
        </p:txBody>
      </p:sp>
      <p:sp>
        <p:nvSpPr>
          <p:cNvPr id="203779" name="Rectangle 3">
            <a:extLst>
              <a:ext uri="{FF2B5EF4-FFF2-40B4-BE49-F238E27FC236}">
                <a16:creationId xmlns:a16="http://schemas.microsoft.com/office/drawing/2014/main" id="{93DD2F80-EBF9-8C52-2EF9-1128F5D3DEEE}"/>
              </a:ext>
            </a:extLst>
          </p:cNvPr>
          <p:cNvSpPr>
            <a:spLocks noGrp="1" noChangeArrowheads="1"/>
          </p:cNvSpPr>
          <p:nvPr>
            <p:ph idx="1"/>
          </p:nvPr>
        </p:nvSpPr>
        <p:spPr>
          <a:xfrm>
            <a:off x="684213" y="1268413"/>
            <a:ext cx="8231187" cy="4495800"/>
          </a:xfrm>
        </p:spPr>
        <p:txBody>
          <a:bodyPr/>
          <a:lstStyle/>
          <a:p>
            <a:pPr algn="just" eaLnBrk="1" hangingPunct="1"/>
            <a:r>
              <a:rPr lang="zh-CN" altLang="en-US"/>
              <a:t>当进程提出</a:t>
            </a:r>
            <a:r>
              <a:rPr lang="en-US" altLang="zh-CN"/>
              <a:t>I/O</a:t>
            </a:r>
            <a:r>
              <a:rPr lang="zh-CN" altLang="en-US"/>
              <a:t>请求时，系统的设备分配程序按下述步骤进行：</a:t>
            </a:r>
          </a:p>
          <a:p>
            <a:pPr lvl="1" algn="just" eaLnBrk="1" hangingPunct="1"/>
            <a:r>
              <a:rPr lang="zh-CN" altLang="en-US"/>
              <a:t>分配设备</a:t>
            </a:r>
          </a:p>
          <a:p>
            <a:pPr lvl="1" algn="just" eaLnBrk="1" hangingPunct="1"/>
            <a:r>
              <a:rPr lang="zh-CN" altLang="en-US"/>
              <a:t>分配控制器</a:t>
            </a:r>
          </a:p>
          <a:p>
            <a:pPr lvl="1" algn="just" eaLnBrk="1" hangingPunct="1"/>
            <a:r>
              <a:rPr lang="zh-CN" altLang="en-US"/>
              <a:t>分配通道</a:t>
            </a:r>
          </a:p>
          <a:p>
            <a:pPr algn="just" eaLnBrk="1" hangingPunct="1"/>
            <a:r>
              <a:rPr lang="zh-CN" altLang="en-US"/>
              <a:t>单通路设备分配程序假定用户使用物理设备名，采用单通路的</a:t>
            </a:r>
            <a:r>
              <a:rPr lang="en-US" altLang="zh-CN"/>
              <a:t>I/O</a:t>
            </a:r>
            <a:r>
              <a:rPr lang="zh-CN" altLang="en-US"/>
              <a:t>系统结构。</a:t>
            </a:r>
          </a:p>
        </p:txBody>
      </p:sp>
      <p:sp>
        <p:nvSpPr>
          <p:cNvPr id="2" name="灯片编号占位符 1">
            <a:extLst>
              <a:ext uri="{FF2B5EF4-FFF2-40B4-BE49-F238E27FC236}">
                <a16:creationId xmlns:a16="http://schemas.microsoft.com/office/drawing/2014/main" id="{605B581F-5466-BF1C-1D6A-42AFF2FFDCA2}"/>
              </a:ext>
            </a:extLst>
          </p:cNvPr>
          <p:cNvSpPr>
            <a:spLocks noGrp="1"/>
          </p:cNvSpPr>
          <p:nvPr>
            <p:ph type="sldNum" sz="quarter" idx="12"/>
          </p:nvPr>
        </p:nvSpPr>
        <p:spPr/>
        <p:txBody>
          <a:bodyPr/>
          <a:lstStyle/>
          <a:p>
            <a:fld id="{4093CC90-4002-504C-BD88-C9A1D374048E}" type="slidenum">
              <a:rPr lang="zh-CN" altLang="en-US" smtClean="0"/>
              <a:pPr/>
              <a:t>113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checkerboard(across)">
                                      <p:cBhvr>
                                        <p:cTn id="7" dur="500"/>
                                        <p:tgtEl>
                                          <p:spTgt spid="203779">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03779">
                                            <p:txEl>
                                              <p:pRg st="1" end="1"/>
                                            </p:txEl>
                                          </p:spTgt>
                                        </p:tgtEl>
                                        <p:attrNameLst>
                                          <p:attrName>style.visibility</p:attrName>
                                        </p:attrNameLst>
                                      </p:cBhvr>
                                      <p:to>
                                        <p:strVal val="visible"/>
                                      </p:to>
                                    </p:set>
                                    <p:animEffect transition="in" filter="checkerboard(across)">
                                      <p:cBhvr>
                                        <p:cTn id="10" dur="500"/>
                                        <p:tgtEl>
                                          <p:spTgt spid="203779">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03779">
                                            <p:txEl>
                                              <p:pRg st="2" end="2"/>
                                            </p:txEl>
                                          </p:spTgt>
                                        </p:tgtEl>
                                        <p:attrNameLst>
                                          <p:attrName>style.visibility</p:attrName>
                                        </p:attrNameLst>
                                      </p:cBhvr>
                                      <p:to>
                                        <p:strVal val="visible"/>
                                      </p:to>
                                    </p:set>
                                    <p:animEffect transition="in" filter="checkerboard(across)">
                                      <p:cBhvr>
                                        <p:cTn id="13" dur="500"/>
                                        <p:tgtEl>
                                          <p:spTgt spid="203779">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03779">
                                            <p:txEl>
                                              <p:pRg st="3" end="3"/>
                                            </p:txEl>
                                          </p:spTgt>
                                        </p:tgtEl>
                                        <p:attrNameLst>
                                          <p:attrName>style.visibility</p:attrName>
                                        </p:attrNameLst>
                                      </p:cBhvr>
                                      <p:to>
                                        <p:strVal val="visible"/>
                                      </p:to>
                                    </p:set>
                                    <p:animEffect transition="in" filter="checkerboard(across)">
                                      <p:cBhvr>
                                        <p:cTn id="16" dur="500"/>
                                        <p:tgtEl>
                                          <p:spTgt spid="20377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203779">
                                            <p:txEl>
                                              <p:pRg st="4" end="4"/>
                                            </p:txEl>
                                          </p:spTgt>
                                        </p:tgtEl>
                                        <p:attrNameLst>
                                          <p:attrName>style.visibility</p:attrName>
                                        </p:attrNameLst>
                                      </p:cBhvr>
                                      <p:to>
                                        <p:strVal val="visible"/>
                                      </p:to>
                                    </p:set>
                                    <p:animEffect transition="in" filter="checkerboard(across)">
                                      <p:cBhvr>
                                        <p:cTn id="21" dur="500"/>
                                        <p:tgtEl>
                                          <p:spTgt spid="2037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16A9640B-21F7-08FF-FEE9-0735FD888757}"/>
              </a:ext>
            </a:extLst>
          </p:cNvPr>
          <p:cNvSpPr>
            <a:spLocks noGrp="1" noChangeArrowheads="1"/>
          </p:cNvSpPr>
          <p:nvPr>
            <p:ph type="title"/>
          </p:nvPr>
        </p:nvSpPr>
        <p:spPr/>
        <p:txBody>
          <a:bodyPr/>
          <a:lstStyle/>
          <a:p>
            <a:pPr eaLnBrk="1" hangingPunct="1"/>
            <a:r>
              <a:rPr lang="zh-CN" altLang="en-US"/>
              <a:t>分配设备</a:t>
            </a:r>
          </a:p>
        </p:txBody>
      </p:sp>
      <p:sp>
        <p:nvSpPr>
          <p:cNvPr id="204803" name="Rectangle 3">
            <a:extLst>
              <a:ext uri="{FF2B5EF4-FFF2-40B4-BE49-F238E27FC236}">
                <a16:creationId xmlns:a16="http://schemas.microsoft.com/office/drawing/2014/main" id="{9EDDF489-FAB5-162F-235B-E790A31381A0}"/>
              </a:ext>
            </a:extLst>
          </p:cNvPr>
          <p:cNvSpPr>
            <a:spLocks noGrp="1" noChangeArrowheads="1"/>
          </p:cNvSpPr>
          <p:nvPr>
            <p:ph idx="1"/>
          </p:nvPr>
        </p:nvSpPr>
        <p:spPr>
          <a:xfrm>
            <a:off x="685800" y="1268413"/>
            <a:ext cx="8269288" cy="4114800"/>
          </a:xfrm>
        </p:spPr>
        <p:txBody>
          <a:bodyPr/>
          <a:lstStyle/>
          <a:p>
            <a:pPr algn="just" eaLnBrk="1" hangingPunct="1"/>
            <a:r>
              <a:rPr lang="zh-CN" altLang="en-US"/>
              <a:t>根据物理设备名查找</a:t>
            </a:r>
            <a:r>
              <a:rPr lang="en-US" altLang="zh-CN"/>
              <a:t>SDT，</a:t>
            </a:r>
            <a:r>
              <a:rPr lang="zh-CN" altLang="en-US"/>
              <a:t>从中找到该设备的</a:t>
            </a:r>
            <a:r>
              <a:rPr lang="en-US" altLang="zh-CN"/>
              <a:t>DCT。</a:t>
            </a:r>
          </a:p>
          <a:p>
            <a:pPr algn="just" eaLnBrk="1" hangingPunct="1"/>
            <a:r>
              <a:rPr lang="zh-CN" altLang="en-US"/>
              <a:t>再根据</a:t>
            </a:r>
            <a:r>
              <a:rPr lang="en-US" altLang="zh-CN"/>
              <a:t>DCT</a:t>
            </a:r>
            <a:r>
              <a:rPr lang="zh-CN" altLang="en-US"/>
              <a:t>中的设备状态字段查看设备忙否，若忙则将进程插入设备等待队列；</a:t>
            </a:r>
          </a:p>
          <a:p>
            <a:pPr algn="just" eaLnBrk="1" hangingPunct="1"/>
            <a:r>
              <a:rPr lang="zh-CN" altLang="en-US"/>
              <a:t>否则计算本次设备分配的安全性，若安全则进行分配，否则仍将该进程插入设备等待队列。</a:t>
            </a:r>
          </a:p>
        </p:txBody>
      </p:sp>
      <p:sp>
        <p:nvSpPr>
          <p:cNvPr id="2" name="灯片编号占位符 1">
            <a:extLst>
              <a:ext uri="{FF2B5EF4-FFF2-40B4-BE49-F238E27FC236}">
                <a16:creationId xmlns:a16="http://schemas.microsoft.com/office/drawing/2014/main" id="{970CCBD5-C6BE-B268-3DA4-B40BB011959F}"/>
              </a:ext>
            </a:extLst>
          </p:cNvPr>
          <p:cNvSpPr>
            <a:spLocks noGrp="1"/>
          </p:cNvSpPr>
          <p:nvPr>
            <p:ph type="sldNum" sz="quarter" idx="12"/>
          </p:nvPr>
        </p:nvSpPr>
        <p:spPr/>
        <p:txBody>
          <a:bodyPr/>
          <a:lstStyle/>
          <a:p>
            <a:fld id="{4093CC90-4002-504C-BD88-C9A1D374048E}" type="slidenum">
              <a:rPr lang="zh-CN" altLang="en-US" smtClean="0"/>
              <a:pPr/>
              <a:t>114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checkerboard(across)">
                                      <p:cBhvr>
                                        <p:cTn id="7" dur="500"/>
                                        <p:tgtEl>
                                          <p:spTgt spid="204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4803">
                                            <p:txEl>
                                              <p:pRg st="1" end="1"/>
                                            </p:txEl>
                                          </p:spTgt>
                                        </p:tgtEl>
                                        <p:attrNameLst>
                                          <p:attrName>style.visibility</p:attrName>
                                        </p:attrNameLst>
                                      </p:cBhvr>
                                      <p:to>
                                        <p:strVal val="visible"/>
                                      </p:to>
                                    </p:set>
                                    <p:animEffect transition="in" filter="checkerboard(across)">
                                      <p:cBhvr>
                                        <p:cTn id="12" dur="500"/>
                                        <p:tgtEl>
                                          <p:spTgt spid="204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4803">
                                            <p:txEl>
                                              <p:pRg st="2" end="2"/>
                                            </p:txEl>
                                          </p:spTgt>
                                        </p:tgtEl>
                                        <p:attrNameLst>
                                          <p:attrName>style.visibility</p:attrName>
                                        </p:attrNameLst>
                                      </p:cBhvr>
                                      <p:to>
                                        <p:strVal val="visible"/>
                                      </p:to>
                                    </p:set>
                                    <p:animEffect transition="in" filter="checkerboard(across)">
                                      <p:cBhvr>
                                        <p:cTn id="17" dur="500"/>
                                        <p:tgtEl>
                                          <p:spTgt spid="2048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619688FC-35CB-6C29-2BBA-B7ABCF483608}"/>
              </a:ext>
            </a:extLst>
          </p:cNvPr>
          <p:cNvSpPr>
            <a:spLocks noGrp="1" noChangeArrowheads="1"/>
          </p:cNvSpPr>
          <p:nvPr>
            <p:ph type="title"/>
          </p:nvPr>
        </p:nvSpPr>
        <p:spPr/>
        <p:txBody>
          <a:bodyPr/>
          <a:lstStyle/>
          <a:p>
            <a:pPr eaLnBrk="1" hangingPunct="1"/>
            <a:r>
              <a:rPr lang="zh-CN" altLang="en-US"/>
              <a:t>分配控制器</a:t>
            </a:r>
          </a:p>
        </p:txBody>
      </p:sp>
      <p:sp>
        <p:nvSpPr>
          <p:cNvPr id="205827" name="Rectangle 3">
            <a:extLst>
              <a:ext uri="{FF2B5EF4-FFF2-40B4-BE49-F238E27FC236}">
                <a16:creationId xmlns:a16="http://schemas.microsoft.com/office/drawing/2014/main" id="{84621F5B-AF70-9B81-856F-BF56A5501AC2}"/>
              </a:ext>
            </a:extLst>
          </p:cNvPr>
          <p:cNvSpPr>
            <a:spLocks noGrp="1" noChangeArrowheads="1"/>
          </p:cNvSpPr>
          <p:nvPr>
            <p:ph idx="1"/>
          </p:nvPr>
        </p:nvSpPr>
        <p:spPr>
          <a:xfrm>
            <a:off x="914400" y="1268413"/>
            <a:ext cx="8040688" cy="4306887"/>
          </a:xfrm>
        </p:spPr>
        <p:txBody>
          <a:bodyPr/>
          <a:lstStyle/>
          <a:p>
            <a:pPr algn="just" eaLnBrk="1" hangingPunct="1"/>
            <a:r>
              <a:rPr lang="zh-CN" altLang="en-US"/>
              <a:t>设备分配后，再到</a:t>
            </a:r>
            <a:r>
              <a:rPr lang="en-US" altLang="zh-CN"/>
              <a:t>DCT</a:t>
            </a:r>
            <a:r>
              <a:rPr lang="zh-CN" altLang="en-US"/>
              <a:t>中找到与该设备相连的</a:t>
            </a:r>
            <a:r>
              <a:rPr lang="en-US" altLang="zh-CN"/>
              <a:t>COCT，</a:t>
            </a:r>
          </a:p>
          <a:p>
            <a:pPr algn="just" eaLnBrk="1" hangingPunct="1"/>
            <a:r>
              <a:rPr lang="zh-CN" altLang="en-US"/>
              <a:t>从该表的状态字段中可知该控制器是否忙碌。</a:t>
            </a:r>
          </a:p>
          <a:p>
            <a:pPr algn="just" eaLnBrk="1" hangingPunct="1"/>
            <a:r>
              <a:rPr lang="zh-CN" altLang="en-US"/>
              <a:t>若忙，则将进程插入该控制器的等待队列；否则将该控制器分配给进程。</a:t>
            </a:r>
          </a:p>
        </p:txBody>
      </p:sp>
      <p:sp>
        <p:nvSpPr>
          <p:cNvPr id="2" name="灯片编号占位符 1">
            <a:extLst>
              <a:ext uri="{FF2B5EF4-FFF2-40B4-BE49-F238E27FC236}">
                <a16:creationId xmlns:a16="http://schemas.microsoft.com/office/drawing/2014/main" id="{5983A9B2-978B-FEF5-3E98-27A8AF15BAAD}"/>
              </a:ext>
            </a:extLst>
          </p:cNvPr>
          <p:cNvSpPr>
            <a:spLocks noGrp="1"/>
          </p:cNvSpPr>
          <p:nvPr>
            <p:ph type="sldNum" sz="quarter" idx="12"/>
          </p:nvPr>
        </p:nvSpPr>
        <p:spPr/>
        <p:txBody>
          <a:bodyPr/>
          <a:lstStyle/>
          <a:p>
            <a:fld id="{4093CC90-4002-504C-BD88-C9A1D374048E}" type="slidenum">
              <a:rPr lang="zh-CN" altLang="en-US" smtClean="0"/>
              <a:pPr/>
              <a:t>115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animEffect transition="in" filter="checkerboard(across)">
                                      <p:cBhvr>
                                        <p:cTn id="7" dur="500"/>
                                        <p:tgtEl>
                                          <p:spTgt spid="205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5827">
                                            <p:txEl>
                                              <p:pRg st="1" end="1"/>
                                            </p:txEl>
                                          </p:spTgt>
                                        </p:tgtEl>
                                        <p:attrNameLst>
                                          <p:attrName>style.visibility</p:attrName>
                                        </p:attrNameLst>
                                      </p:cBhvr>
                                      <p:to>
                                        <p:strVal val="visible"/>
                                      </p:to>
                                    </p:set>
                                    <p:animEffect transition="in" filter="checkerboard(across)">
                                      <p:cBhvr>
                                        <p:cTn id="12" dur="500"/>
                                        <p:tgtEl>
                                          <p:spTgt spid="2058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5827">
                                            <p:txEl>
                                              <p:pRg st="2" end="2"/>
                                            </p:txEl>
                                          </p:spTgt>
                                        </p:tgtEl>
                                        <p:attrNameLst>
                                          <p:attrName>style.visibility</p:attrName>
                                        </p:attrNameLst>
                                      </p:cBhvr>
                                      <p:to>
                                        <p:strVal val="visible"/>
                                      </p:to>
                                    </p:set>
                                    <p:animEffect transition="in" filter="checkerboard(across)">
                                      <p:cBhvr>
                                        <p:cTn id="17" dur="500"/>
                                        <p:tgtEl>
                                          <p:spTgt spid="2058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E7C788C5-E56C-5A76-E601-DF065DAA50D0}"/>
              </a:ext>
            </a:extLst>
          </p:cNvPr>
          <p:cNvSpPr>
            <a:spLocks noGrp="1" noChangeArrowheads="1"/>
          </p:cNvSpPr>
          <p:nvPr>
            <p:ph type="title"/>
          </p:nvPr>
        </p:nvSpPr>
        <p:spPr/>
        <p:txBody>
          <a:bodyPr/>
          <a:lstStyle/>
          <a:p>
            <a:pPr eaLnBrk="1" hangingPunct="1"/>
            <a:r>
              <a:rPr lang="zh-CN" altLang="en-US"/>
              <a:t>分配通道</a:t>
            </a:r>
          </a:p>
        </p:txBody>
      </p:sp>
      <p:sp>
        <p:nvSpPr>
          <p:cNvPr id="206851" name="Rectangle 3">
            <a:extLst>
              <a:ext uri="{FF2B5EF4-FFF2-40B4-BE49-F238E27FC236}">
                <a16:creationId xmlns:a16="http://schemas.microsoft.com/office/drawing/2014/main" id="{4210457F-4F04-D233-6F04-A6E2AE3C7859}"/>
              </a:ext>
            </a:extLst>
          </p:cNvPr>
          <p:cNvSpPr>
            <a:spLocks noGrp="1" noChangeArrowheads="1"/>
          </p:cNvSpPr>
          <p:nvPr>
            <p:ph idx="1"/>
          </p:nvPr>
        </p:nvSpPr>
        <p:spPr>
          <a:xfrm>
            <a:off x="838200" y="1268413"/>
            <a:ext cx="8116888" cy="4114800"/>
          </a:xfrm>
        </p:spPr>
        <p:txBody>
          <a:bodyPr/>
          <a:lstStyle/>
          <a:p>
            <a:pPr algn="just" eaLnBrk="1" hangingPunct="1"/>
            <a:r>
              <a:rPr lang="zh-CN" altLang="en-US"/>
              <a:t>从</a:t>
            </a:r>
            <a:r>
              <a:rPr lang="en-US" altLang="zh-CN"/>
              <a:t>COCT</a:t>
            </a:r>
            <a:r>
              <a:rPr lang="zh-CN" altLang="en-US"/>
              <a:t>中找到与该控制器连接的</a:t>
            </a:r>
            <a:r>
              <a:rPr lang="en-US" altLang="zh-CN"/>
              <a:t>CHCT，</a:t>
            </a:r>
          </a:p>
          <a:p>
            <a:pPr algn="just" eaLnBrk="1" hangingPunct="1"/>
            <a:r>
              <a:rPr lang="zh-CN" altLang="en-US"/>
              <a:t>从该表的状态字段中可知该通道是否忙碌。</a:t>
            </a:r>
          </a:p>
          <a:p>
            <a:pPr algn="just" eaLnBrk="1" hangingPunct="1"/>
            <a:r>
              <a:rPr lang="zh-CN" altLang="en-US"/>
              <a:t>若忙，则将进程插入该通道的等待队列；否则将该通道分配给进程。</a:t>
            </a:r>
          </a:p>
          <a:p>
            <a:pPr algn="just" eaLnBrk="1" hangingPunct="1"/>
            <a:r>
              <a:rPr lang="zh-CN" altLang="en-US"/>
              <a:t>在将相应的设备、控制器、通道分配给进程后，便可以启动</a:t>
            </a:r>
            <a:r>
              <a:rPr lang="en-US" altLang="zh-CN"/>
              <a:t>I/O</a:t>
            </a:r>
            <a:r>
              <a:rPr lang="zh-CN" altLang="en-US"/>
              <a:t>设备实现</a:t>
            </a:r>
            <a:r>
              <a:rPr lang="en-US" altLang="zh-CN"/>
              <a:t>I/O</a:t>
            </a:r>
            <a:r>
              <a:rPr lang="zh-CN" altLang="en-US"/>
              <a:t>操作。</a:t>
            </a:r>
          </a:p>
        </p:txBody>
      </p:sp>
      <p:sp>
        <p:nvSpPr>
          <p:cNvPr id="2" name="灯片编号占位符 1">
            <a:extLst>
              <a:ext uri="{FF2B5EF4-FFF2-40B4-BE49-F238E27FC236}">
                <a16:creationId xmlns:a16="http://schemas.microsoft.com/office/drawing/2014/main" id="{B53DE9D8-8645-820E-B059-B4099A483183}"/>
              </a:ext>
            </a:extLst>
          </p:cNvPr>
          <p:cNvSpPr>
            <a:spLocks noGrp="1"/>
          </p:cNvSpPr>
          <p:nvPr>
            <p:ph type="sldNum" sz="quarter" idx="12"/>
          </p:nvPr>
        </p:nvSpPr>
        <p:spPr/>
        <p:txBody>
          <a:bodyPr/>
          <a:lstStyle/>
          <a:p>
            <a:fld id="{4093CC90-4002-504C-BD88-C9A1D374048E}" type="slidenum">
              <a:rPr lang="zh-CN" altLang="en-US" smtClean="0"/>
              <a:pPr/>
              <a:t>116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checkerboard(across)">
                                      <p:cBhvr>
                                        <p:cTn id="7" dur="500"/>
                                        <p:tgtEl>
                                          <p:spTgt spid="206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checkerboard(across)">
                                      <p:cBhvr>
                                        <p:cTn id="12" dur="500"/>
                                        <p:tgtEl>
                                          <p:spTgt spid="206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6851">
                                            <p:txEl>
                                              <p:pRg st="2" end="2"/>
                                            </p:txEl>
                                          </p:spTgt>
                                        </p:tgtEl>
                                        <p:attrNameLst>
                                          <p:attrName>style.visibility</p:attrName>
                                        </p:attrNameLst>
                                      </p:cBhvr>
                                      <p:to>
                                        <p:strVal val="visible"/>
                                      </p:to>
                                    </p:set>
                                    <p:animEffect transition="in" filter="checkerboard(across)">
                                      <p:cBhvr>
                                        <p:cTn id="17" dur="500"/>
                                        <p:tgtEl>
                                          <p:spTgt spid="2068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06851">
                                            <p:txEl>
                                              <p:pRg st="3" end="3"/>
                                            </p:txEl>
                                          </p:spTgt>
                                        </p:tgtEl>
                                        <p:attrNameLst>
                                          <p:attrName>style.visibility</p:attrName>
                                        </p:attrNameLst>
                                      </p:cBhvr>
                                      <p:to>
                                        <p:strVal val="visible"/>
                                      </p:to>
                                    </p:set>
                                    <p:animEffect transition="in" filter="checkerboard(across)">
                                      <p:cBhvr>
                                        <p:cTn id="22" dur="500"/>
                                        <p:tgtEl>
                                          <p:spTgt spid="2068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429809D8-7E63-BF24-4CFF-49219365B6E9}"/>
              </a:ext>
            </a:extLst>
          </p:cNvPr>
          <p:cNvSpPr>
            <a:spLocks noGrp="1" noChangeArrowheads="1"/>
          </p:cNvSpPr>
          <p:nvPr>
            <p:ph type="title"/>
          </p:nvPr>
        </p:nvSpPr>
        <p:spPr/>
        <p:txBody>
          <a:bodyPr/>
          <a:lstStyle/>
          <a:p>
            <a:pPr eaLnBrk="1" hangingPunct="1"/>
            <a:r>
              <a:rPr lang="zh-CN" altLang="en-US" b="1"/>
              <a:t>多通路的设备分配1</a:t>
            </a:r>
          </a:p>
        </p:txBody>
      </p:sp>
      <p:sp>
        <p:nvSpPr>
          <p:cNvPr id="137218" name="Rectangle 3">
            <a:extLst>
              <a:ext uri="{FF2B5EF4-FFF2-40B4-BE49-F238E27FC236}">
                <a16:creationId xmlns:a16="http://schemas.microsoft.com/office/drawing/2014/main" id="{0C53F2BD-0991-8DCC-990D-FA15DBD2B0FC}"/>
              </a:ext>
            </a:extLst>
          </p:cNvPr>
          <p:cNvSpPr>
            <a:spLocks noGrp="1" noChangeArrowheads="1"/>
          </p:cNvSpPr>
          <p:nvPr>
            <p:ph idx="1"/>
          </p:nvPr>
        </p:nvSpPr>
        <p:spPr>
          <a:xfrm>
            <a:off x="785813" y="1268413"/>
            <a:ext cx="7977187" cy="4606925"/>
          </a:xfrm>
        </p:spPr>
        <p:txBody>
          <a:bodyPr/>
          <a:lstStyle/>
          <a:p>
            <a:pPr eaLnBrk="1" hangingPunct="1"/>
            <a:r>
              <a:rPr lang="zh-CN" altLang="en-US">
                <a:latin typeface="Times New Roman" panose="02020603050405020304" pitchFamily="18" charset="0"/>
              </a:rPr>
              <a:t>为了提高系统的灵活性和可靠性，通常采用多通路的</a:t>
            </a:r>
            <a:r>
              <a:rPr lang="en-US" altLang="zh-CN">
                <a:latin typeface="Times New Roman" panose="02020603050405020304" pitchFamily="18" charset="0"/>
              </a:rPr>
              <a:t>I/O</a:t>
            </a:r>
            <a:r>
              <a:rPr lang="zh-CN" altLang="en-US">
                <a:latin typeface="Times New Roman" panose="02020603050405020304" pitchFamily="18" charset="0"/>
              </a:rPr>
              <a:t>系统结构。同时</a:t>
            </a:r>
            <a:r>
              <a:rPr lang="zh-CN" altLang="en-US"/>
              <a:t>用户使用逻辑设备名提出请求。其分配步骤如下：</a:t>
            </a:r>
          </a:p>
        </p:txBody>
      </p:sp>
      <p:sp>
        <p:nvSpPr>
          <p:cNvPr id="2" name="灯片编号占位符 1">
            <a:extLst>
              <a:ext uri="{FF2B5EF4-FFF2-40B4-BE49-F238E27FC236}">
                <a16:creationId xmlns:a16="http://schemas.microsoft.com/office/drawing/2014/main" id="{044E64EB-E1DC-4225-DF15-D6B598EECBD5}"/>
              </a:ext>
            </a:extLst>
          </p:cNvPr>
          <p:cNvSpPr>
            <a:spLocks noGrp="1"/>
          </p:cNvSpPr>
          <p:nvPr>
            <p:ph type="sldNum" sz="quarter" idx="12"/>
          </p:nvPr>
        </p:nvSpPr>
        <p:spPr/>
        <p:txBody>
          <a:bodyPr/>
          <a:lstStyle/>
          <a:p>
            <a:fld id="{4093CC90-4002-504C-BD88-C9A1D374048E}" type="slidenum">
              <a:rPr lang="zh-CN" altLang="en-US" smtClean="0"/>
              <a:pPr/>
              <a:t>117</a:t>
            </a:fld>
            <a:endParaRPr lang="zh-CN" altLang="en-US" dirty="0"/>
          </a:p>
        </p:txBody>
      </p:sp>
    </p:spTree>
  </p:cSld>
  <p:clrMapOvr>
    <a:masterClrMapping/>
  </p:clrMapOvr>
  <p:transition spd="med">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BEBCE451-D4FC-84BA-AC82-19CBA9F5EF8C}"/>
              </a:ext>
            </a:extLst>
          </p:cNvPr>
          <p:cNvSpPr>
            <a:spLocks noGrp="1" noChangeArrowheads="1"/>
          </p:cNvSpPr>
          <p:nvPr>
            <p:ph type="title"/>
          </p:nvPr>
        </p:nvSpPr>
        <p:spPr/>
        <p:txBody>
          <a:bodyPr/>
          <a:lstStyle/>
          <a:p>
            <a:pPr eaLnBrk="1" hangingPunct="1"/>
            <a:r>
              <a:rPr lang="zh-CN" altLang="en-US" b="1"/>
              <a:t>多通路的设备分配2</a:t>
            </a:r>
          </a:p>
        </p:txBody>
      </p:sp>
      <p:sp>
        <p:nvSpPr>
          <p:cNvPr id="222211" name="Rectangle 3">
            <a:extLst>
              <a:ext uri="{FF2B5EF4-FFF2-40B4-BE49-F238E27FC236}">
                <a16:creationId xmlns:a16="http://schemas.microsoft.com/office/drawing/2014/main" id="{80440B7F-5CA4-8C2D-51C2-AFF23BCA1EEB}"/>
              </a:ext>
            </a:extLst>
          </p:cNvPr>
          <p:cNvSpPr>
            <a:spLocks noGrp="1" noChangeArrowheads="1"/>
          </p:cNvSpPr>
          <p:nvPr>
            <p:ph idx="1"/>
          </p:nvPr>
        </p:nvSpPr>
        <p:spPr>
          <a:xfrm>
            <a:off x="630238" y="1268413"/>
            <a:ext cx="8132762" cy="4606925"/>
          </a:xfrm>
        </p:spPr>
        <p:txBody>
          <a:bodyPr/>
          <a:lstStyle/>
          <a:p>
            <a:pPr eaLnBrk="1" hangingPunct="1"/>
            <a:r>
              <a:rPr lang="zh-CN" altLang="en-US">
                <a:latin typeface="Times New Roman" panose="02020603050405020304" pitchFamily="18" charset="0"/>
              </a:rPr>
              <a:t>根据进程所提供的设备类型检索系统设备表，找到第一个该类设备的</a:t>
            </a:r>
            <a:r>
              <a:rPr lang="en-US" altLang="zh-CN">
                <a:latin typeface="Times New Roman" panose="02020603050405020304" pitchFamily="18" charset="0"/>
              </a:rPr>
              <a:t>DCT</a:t>
            </a:r>
            <a:r>
              <a:rPr lang="zh-CN" altLang="en-US">
                <a:latin typeface="Times New Roman" panose="02020603050405020304" pitchFamily="18" charset="0"/>
              </a:rPr>
              <a:t>。</a:t>
            </a:r>
          </a:p>
          <a:p>
            <a:pPr eaLnBrk="1" hangingPunct="1"/>
            <a:r>
              <a:rPr lang="zh-CN" altLang="en-US">
                <a:latin typeface="Times New Roman" panose="02020603050405020304" pitchFamily="18" charset="0"/>
              </a:rPr>
              <a:t>若设备忙，继续查找，仅当所有该类设备都忙时，才把进程插入到该类设备的等待队列中。</a:t>
            </a:r>
            <a:r>
              <a:rPr lang="zh-CN" altLang="en-US"/>
              <a:t> </a:t>
            </a:r>
          </a:p>
        </p:txBody>
      </p:sp>
      <p:sp>
        <p:nvSpPr>
          <p:cNvPr id="2" name="灯片编号占位符 1">
            <a:extLst>
              <a:ext uri="{FF2B5EF4-FFF2-40B4-BE49-F238E27FC236}">
                <a16:creationId xmlns:a16="http://schemas.microsoft.com/office/drawing/2014/main" id="{DC8AB5B3-BDFD-FA79-4C53-6695C9AE8D81}"/>
              </a:ext>
            </a:extLst>
          </p:cNvPr>
          <p:cNvSpPr>
            <a:spLocks noGrp="1"/>
          </p:cNvSpPr>
          <p:nvPr>
            <p:ph type="sldNum" sz="quarter" idx="12"/>
          </p:nvPr>
        </p:nvSpPr>
        <p:spPr/>
        <p:txBody>
          <a:bodyPr/>
          <a:lstStyle/>
          <a:p>
            <a:fld id="{4093CC90-4002-504C-BD88-C9A1D374048E}" type="slidenum">
              <a:rPr lang="zh-CN" altLang="en-US" smtClean="0"/>
              <a:pPr/>
              <a:t>118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checkerboard(across)">
                                      <p:cBhvr>
                                        <p:cTn id="7" dur="500"/>
                                        <p:tgtEl>
                                          <p:spTgt spid="22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checkerboard(across)">
                                      <p:cBhvr>
                                        <p:cTn id="12" dur="500"/>
                                        <p:tgtEl>
                                          <p:spTgt spid="2222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096C3B6F-354D-0A35-0D74-29F59EC5A4C6}"/>
              </a:ext>
            </a:extLst>
          </p:cNvPr>
          <p:cNvSpPr>
            <a:spLocks noGrp="1" noChangeArrowheads="1"/>
          </p:cNvSpPr>
          <p:nvPr>
            <p:ph type="title"/>
          </p:nvPr>
        </p:nvSpPr>
        <p:spPr/>
        <p:txBody>
          <a:bodyPr/>
          <a:lstStyle/>
          <a:p>
            <a:pPr eaLnBrk="1" hangingPunct="1"/>
            <a:r>
              <a:rPr lang="zh-CN" altLang="en-US" b="1"/>
              <a:t>多通路的设备分配3</a:t>
            </a:r>
          </a:p>
        </p:txBody>
      </p:sp>
      <p:sp>
        <p:nvSpPr>
          <p:cNvPr id="211971" name="Rectangle 3">
            <a:extLst>
              <a:ext uri="{FF2B5EF4-FFF2-40B4-BE49-F238E27FC236}">
                <a16:creationId xmlns:a16="http://schemas.microsoft.com/office/drawing/2014/main" id="{05668D75-A2B9-1C7F-018B-8EDF1DF67E32}"/>
              </a:ext>
            </a:extLst>
          </p:cNvPr>
          <p:cNvSpPr>
            <a:spLocks noGrp="1" noChangeArrowheads="1"/>
          </p:cNvSpPr>
          <p:nvPr>
            <p:ph idx="1"/>
          </p:nvPr>
        </p:nvSpPr>
        <p:spPr>
          <a:xfrm>
            <a:off x="714375" y="1268413"/>
            <a:ext cx="8201025" cy="4648200"/>
          </a:xfrm>
        </p:spPr>
        <p:txBody>
          <a:bodyPr/>
          <a:lstStyle/>
          <a:p>
            <a:pPr algn="just" eaLnBrk="1" hangingPunct="1"/>
            <a:r>
              <a:rPr lang="zh-CN" altLang="en-US"/>
              <a:t>设备分配后，便可检查与此设备相连的第一个控制器，若控制器忙，则再检查与设备连接的下一个控制器。</a:t>
            </a:r>
          </a:p>
          <a:p>
            <a:pPr algn="just" eaLnBrk="1" hangingPunct="1"/>
            <a:r>
              <a:rPr lang="zh-CN" altLang="en-US"/>
              <a:t>若与此设备相连的所有控制器都忙，则只要该设备不是该类设备的最后一个，便可退回到第一步找下一个空闲设备；否则将该进程插入控制器等待队列中。</a:t>
            </a:r>
          </a:p>
        </p:txBody>
      </p:sp>
      <p:sp>
        <p:nvSpPr>
          <p:cNvPr id="2" name="灯片编号占位符 1">
            <a:extLst>
              <a:ext uri="{FF2B5EF4-FFF2-40B4-BE49-F238E27FC236}">
                <a16:creationId xmlns:a16="http://schemas.microsoft.com/office/drawing/2014/main" id="{44DEF849-F832-1E90-0A8E-3D6F0EC355FA}"/>
              </a:ext>
            </a:extLst>
          </p:cNvPr>
          <p:cNvSpPr>
            <a:spLocks noGrp="1"/>
          </p:cNvSpPr>
          <p:nvPr>
            <p:ph type="sldNum" sz="quarter" idx="12"/>
          </p:nvPr>
        </p:nvSpPr>
        <p:spPr/>
        <p:txBody>
          <a:bodyPr/>
          <a:lstStyle/>
          <a:p>
            <a:fld id="{4093CC90-4002-504C-BD88-C9A1D374048E}" type="slidenum">
              <a:rPr lang="zh-CN" altLang="en-US" smtClean="0"/>
              <a:pPr/>
              <a:t>119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checkerboard(across)">
                                      <p:cBhvr>
                                        <p:cTn id="7" dur="500"/>
                                        <p:tgtEl>
                                          <p:spTgt spid="2119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checkerboard(across)">
                                      <p:cBhvr>
                                        <p:cTn id="12" dur="500"/>
                                        <p:tgtEl>
                                          <p:spTgt spid="2119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C1E807B3-FAD6-8F40-00CB-8722F7E6937F}"/>
              </a:ext>
            </a:extLst>
          </p:cNvPr>
          <p:cNvSpPr>
            <a:spLocks noGrp="1" noChangeArrowheads="1"/>
          </p:cNvSpPr>
          <p:nvPr>
            <p:ph type="title"/>
          </p:nvPr>
        </p:nvSpPr>
        <p:spPr/>
        <p:txBody>
          <a:bodyPr/>
          <a:lstStyle/>
          <a:p>
            <a:pPr eaLnBrk="1" hangingPunct="1"/>
            <a:r>
              <a:rPr lang="zh-CN" altLang="en-US" b="1"/>
              <a:t>多通路的设备分配4</a:t>
            </a:r>
          </a:p>
        </p:txBody>
      </p:sp>
      <p:sp>
        <p:nvSpPr>
          <p:cNvPr id="221187" name="Rectangle 3">
            <a:extLst>
              <a:ext uri="{FF2B5EF4-FFF2-40B4-BE49-F238E27FC236}">
                <a16:creationId xmlns:a16="http://schemas.microsoft.com/office/drawing/2014/main" id="{91EA4547-6699-19A5-57A9-68392B33BBFE}"/>
              </a:ext>
            </a:extLst>
          </p:cNvPr>
          <p:cNvSpPr>
            <a:spLocks noGrp="1" noChangeArrowheads="1"/>
          </p:cNvSpPr>
          <p:nvPr>
            <p:ph idx="1"/>
          </p:nvPr>
        </p:nvSpPr>
        <p:spPr>
          <a:xfrm>
            <a:off x="714375" y="1196975"/>
            <a:ext cx="8201025" cy="4648200"/>
          </a:xfrm>
        </p:spPr>
        <p:txBody>
          <a:bodyPr/>
          <a:lstStyle/>
          <a:p>
            <a:pPr algn="just" eaLnBrk="1" hangingPunct="1"/>
            <a:r>
              <a:rPr lang="zh-CN" altLang="en-US"/>
              <a:t>若给进程分配了控制器，便可检查与此控制器相连的第一个通道。</a:t>
            </a:r>
          </a:p>
          <a:p>
            <a:pPr algn="just" eaLnBrk="1" hangingPunct="1"/>
            <a:r>
              <a:rPr lang="zh-CN" altLang="en-US"/>
              <a:t>若通道忙，再查看与此控制器相连的第二个通道，若与此控制器相连的全部通道都忙，则只要该控制器不是与设备连接的最后一个控制器。便返回到第二步，否则将该进程插入通道等待队列。</a:t>
            </a:r>
            <a:endParaRPr lang="en-US" altLang="zh-CN"/>
          </a:p>
        </p:txBody>
      </p:sp>
      <p:sp>
        <p:nvSpPr>
          <p:cNvPr id="2" name="灯片编号占位符 1">
            <a:extLst>
              <a:ext uri="{FF2B5EF4-FFF2-40B4-BE49-F238E27FC236}">
                <a16:creationId xmlns:a16="http://schemas.microsoft.com/office/drawing/2014/main" id="{135C12E8-DB66-1925-B8D1-67CA7C883539}"/>
              </a:ext>
            </a:extLst>
          </p:cNvPr>
          <p:cNvSpPr>
            <a:spLocks noGrp="1"/>
          </p:cNvSpPr>
          <p:nvPr>
            <p:ph type="sldNum" sz="quarter" idx="12"/>
          </p:nvPr>
        </p:nvSpPr>
        <p:spPr/>
        <p:txBody>
          <a:bodyPr/>
          <a:lstStyle/>
          <a:p>
            <a:fld id="{4093CC90-4002-504C-BD88-C9A1D374048E}" type="slidenum">
              <a:rPr lang="zh-CN" altLang="en-US" smtClean="0"/>
              <a:pPr/>
              <a:t>120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Effect transition="in" filter="checkerboard(across)">
                                      <p:cBhvr>
                                        <p:cTn id="7" dur="500"/>
                                        <p:tgtEl>
                                          <p:spTgt spid="221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1187">
                                            <p:txEl>
                                              <p:pRg st="1" end="1"/>
                                            </p:txEl>
                                          </p:spTgt>
                                        </p:tgtEl>
                                        <p:attrNameLst>
                                          <p:attrName>style.visibility</p:attrName>
                                        </p:attrNameLst>
                                      </p:cBhvr>
                                      <p:to>
                                        <p:strVal val="visible"/>
                                      </p:to>
                                    </p:set>
                                    <p:animEffect transition="in" filter="checkerboard(across)">
                                      <p:cBhvr>
                                        <p:cTn id="12" dur="500"/>
                                        <p:tgtEl>
                                          <p:spTgt spid="2211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053DE8D4-822B-627C-D59E-A2B194D6350C}"/>
              </a:ext>
            </a:extLst>
          </p:cNvPr>
          <p:cNvSpPr>
            <a:spLocks noGrp="1" noChangeArrowheads="1"/>
          </p:cNvSpPr>
          <p:nvPr>
            <p:ph type="title"/>
          </p:nvPr>
        </p:nvSpPr>
        <p:spPr>
          <a:xfrm>
            <a:off x="1042988" y="225431"/>
            <a:ext cx="7850187" cy="746125"/>
          </a:xfrm>
        </p:spPr>
        <p:txBody>
          <a:bodyPr/>
          <a:lstStyle/>
          <a:p>
            <a:r>
              <a:rPr lang="zh-CN" altLang="en-US" dirty="0"/>
              <a:t>大容量存储器结构简介</a:t>
            </a:r>
            <a:endParaRPr lang="en-US" altLang="zh-CN" dirty="0"/>
          </a:p>
        </p:txBody>
      </p:sp>
      <p:sp>
        <p:nvSpPr>
          <p:cNvPr id="7170" name="Rectangle 3">
            <a:extLst>
              <a:ext uri="{FF2B5EF4-FFF2-40B4-BE49-F238E27FC236}">
                <a16:creationId xmlns:a16="http://schemas.microsoft.com/office/drawing/2014/main" id="{D673D20B-6DDA-BF93-8FF3-9234A3B02CAD}"/>
              </a:ext>
            </a:extLst>
          </p:cNvPr>
          <p:cNvSpPr>
            <a:spLocks noGrp="1" noChangeArrowheads="1"/>
          </p:cNvSpPr>
          <p:nvPr>
            <p:ph idx="1"/>
          </p:nvPr>
        </p:nvSpPr>
        <p:spPr>
          <a:xfrm>
            <a:off x="935038" y="1233488"/>
            <a:ext cx="7772400" cy="4895850"/>
          </a:xfrm>
        </p:spPr>
        <p:txBody>
          <a:bodyPr>
            <a:normAutofit fontScale="85000" lnSpcReduction="20000"/>
          </a:bodyPr>
          <a:lstStyle/>
          <a:p>
            <a:r>
              <a:rPr lang="zh-CN" altLang="en-US" dirty="0"/>
              <a:t>大容量存储器结构通常由硬盘驱动器（</a:t>
            </a:r>
            <a:r>
              <a:rPr lang="en" altLang="zh-CN" dirty="0"/>
              <a:t>HDD</a:t>
            </a:r>
            <a:r>
              <a:rPr lang="zh-CN" altLang="en" dirty="0"/>
              <a:t>）</a:t>
            </a:r>
            <a:r>
              <a:rPr lang="zh-CN" altLang="en-US" dirty="0"/>
              <a:t>和固态硬盘（</a:t>
            </a:r>
            <a:r>
              <a:rPr lang="en" altLang="zh-CN" dirty="0"/>
              <a:t>SSD</a:t>
            </a:r>
            <a:r>
              <a:rPr lang="zh-CN" altLang="en" dirty="0"/>
              <a:t>）</a:t>
            </a:r>
            <a:r>
              <a:rPr lang="zh-CN" altLang="en-US" dirty="0"/>
              <a:t>组成。</a:t>
            </a:r>
          </a:p>
          <a:p>
            <a:r>
              <a:rPr lang="zh-CN" altLang="en-US" dirty="0"/>
              <a:t>硬盘驱动器（</a:t>
            </a:r>
            <a:r>
              <a:rPr lang="en" altLang="zh-CN" dirty="0"/>
              <a:t>HDD</a:t>
            </a:r>
            <a:r>
              <a:rPr lang="zh-CN" altLang="en" dirty="0"/>
              <a:t>）</a:t>
            </a:r>
            <a:r>
              <a:rPr lang="zh-CN" altLang="en-US" dirty="0"/>
              <a:t>是一种机械式存储器，由旋转的磁盘和移动的读写头组成。数据存储在磁盘的表面上，读写头在磁盘上移动以读取或写入数据。</a:t>
            </a:r>
            <a:r>
              <a:rPr lang="en" altLang="zh-CN" dirty="0"/>
              <a:t>HDD</a:t>
            </a:r>
            <a:r>
              <a:rPr lang="zh-CN" altLang="en-US" dirty="0"/>
              <a:t>的优点是存储容量大、成本相对较低，但速度相对较慢。</a:t>
            </a:r>
          </a:p>
          <a:p>
            <a:r>
              <a:rPr lang="zh-CN" altLang="en-US" dirty="0"/>
              <a:t>固态硬盘（</a:t>
            </a:r>
            <a:r>
              <a:rPr lang="en" altLang="zh-CN" dirty="0"/>
              <a:t>SSD</a:t>
            </a:r>
            <a:r>
              <a:rPr lang="zh-CN" altLang="en" dirty="0"/>
              <a:t>）</a:t>
            </a:r>
            <a:r>
              <a:rPr lang="zh-CN" altLang="en-US" dirty="0"/>
              <a:t>是一种基于闪存存储技术的存储器。它使用闪存芯片来存储数据，没有机械部件，因此读写速度更快，响应时间更短。</a:t>
            </a:r>
            <a:r>
              <a:rPr lang="en" altLang="zh-CN" dirty="0"/>
              <a:t>SSD</a:t>
            </a:r>
            <a:r>
              <a:rPr lang="zh-CN" altLang="en-US" dirty="0"/>
              <a:t>的优点是速度快、耐用性高，但相对于</a:t>
            </a:r>
            <a:r>
              <a:rPr lang="en" altLang="zh-CN" dirty="0"/>
              <a:t>HDD</a:t>
            </a:r>
            <a:r>
              <a:rPr lang="zh-CN" altLang="en-US" dirty="0"/>
              <a:t>来说，存储容量较小且价格较高。</a:t>
            </a:r>
          </a:p>
        </p:txBody>
      </p:sp>
      <p:sp>
        <p:nvSpPr>
          <p:cNvPr id="4" name="灯片编号占位符 3">
            <a:extLst>
              <a:ext uri="{FF2B5EF4-FFF2-40B4-BE49-F238E27FC236}">
                <a16:creationId xmlns:a16="http://schemas.microsoft.com/office/drawing/2014/main" id="{DFD4DD2E-26F7-8DF0-BA08-201FCF596995}"/>
              </a:ext>
            </a:extLst>
          </p:cNvPr>
          <p:cNvSpPr>
            <a:spLocks noGrp="1"/>
          </p:cNvSpPr>
          <p:nvPr>
            <p:ph type="sldNum" sz="quarter" idx="12"/>
          </p:nvPr>
        </p:nvSpPr>
        <p:spPr/>
        <p:txBody>
          <a:bodyPr/>
          <a:lstStyle/>
          <a:p>
            <a:fld id="{4093CC90-4002-504C-BD88-C9A1D374048E}" type="slidenum">
              <a:rPr lang="zh-CN" altLang="en-US" smtClean="0"/>
              <a:pPr/>
              <a:t>121</a:t>
            </a:fld>
            <a:endParaRPr lang="zh-CN" altLang="en-US" dirty="0"/>
          </a:p>
        </p:txBody>
      </p:sp>
    </p:spTree>
  </p:cSld>
  <p:clrMapOvr>
    <a:masterClrMapping/>
  </p:clrMapOvr>
  <p:transition spd="med">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DD9CE8DF-FE1A-D2E4-6638-9AA3303DAB0E}"/>
              </a:ext>
            </a:extLst>
          </p:cNvPr>
          <p:cNvSpPr>
            <a:spLocks noGrp="1" noChangeArrowheads="1"/>
          </p:cNvSpPr>
          <p:nvPr>
            <p:ph type="title"/>
          </p:nvPr>
        </p:nvSpPr>
        <p:spPr>
          <a:xfrm>
            <a:off x="1042988" y="225431"/>
            <a:ext cx="7850187" cy="746125"/>
          </a:xfrm>
        </p:spPr>
        <p:txBody>
          <a:bodyPr/>
          <a:lstStyle/>
          <a:p>
            <a:r>
              <a:rPr lang="zh-CN" altLang="en-US" dirty="0"/>
              <a:t>硬盘  Hard Disk</a:t>
            </a:r>
            <a:endParaRPr lang="en-US" altLang="zh-CN" dirty="0"/>
          </a:p>
        </p:txBody>
      </p:sp>
      <p:sp>
        <p:nvSpPr>
          <p:cNvPr id="375811" name="Rectangle 3">
            <a:extLst>
              <a:ext uri="{FF2B5EF4-FFF2-40B4-BE49-F238E27FC236}">
                <a16:creationId xmlns:a16="http://schemas.microsoft.com/office/drawing/2014/main" id="{69FE0A62-D7C4-1856-7420-2459A94C4B6D}"/>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dirty="0"/>
              <a:t>磁盘是典型的直接存取设备。</a:t>
            </a:r>
          </a:p>
          <a:p>
            <a:r>
              <a:rPr lang="zh-CN" altLang="en-US" b="1" dirty="0">
                <a:solidFill>
                  <a:srgbClr val="FF0000"/>
                </a:solidFill>
              </a:rPr>
              <a:t>磁盘</a:t>
            </a:r>
            <a:r>
              <a:rPr lang="zh-CN" altLang="en-US" dirty="0"/>
              <a:t>一般由若干磁盘片组成，可沿一个固定方向高速旋转。每个盘面对应一个磁头，磁臂可沿半径方向移动。</a:t>
            </a:r>
          </a:p>
          <a:p>
            <a:r>
              <a:rPr lang="zh-CN" altLang="en-US" dirty="0"/>
              <a:t>磁盘上的一系列同心圆称为</a:t>
            </a:r>
            <a:r>
              <a:rPr lang="zh-CN" altLang="en-US" b="1" dirty="0">
                <a:solidFill>
                  <a:srgbClr val="FF0000"/>
                </a:solidFill>
              </a:rPr>
              <a:t>磁道</a:t>
            </a:r>
            <a:r>
              <a:rPr lang="zh-CN" altLang="en-US" dirty="0"/>
              <a:t>（</a:t>
            </a:r>
            <a:r>
              <a:rPr lang="en-US" altLang="zh-CN" dirty="0"/>
              <a:t>track</a:t>
            </a:r>
            <a:r>
              <a:rPr lang="zh-CN" altLang="en-US" dirty="0"/>
              <a:t>），磁道沿径向又分成大小相等的多个</a:t>
            </a:r>
            <a:r>
              <a:rPr lang="zh-CN" altLang="en-US" b="1" dirty="0">
                <a:solidFill>
                  <a:srgbClr val="FF0000"/>
                </a:solidFill>
              </a:rPr>
              <a:t>扇区</a:t>
            </a:r>
            <a:r>
              <a:rPr lang="zh-CN" altLang="en-US" dirty="0"/>
              <a:t>（</a:t>
            </a:r>
            <a:r>
              <a:rPr lang="en-US" altLang="zh-CN" dirty="0"/>
              <a:t>sector</a:t>
            </a:r>
            <a:r>
              <a:rPr lang="zh-CN" altLang="en-US" dirty="0"/>
              <a:t>），与盘片中心有一定距离的所有磁道组成一个</a:t>
            </a:r>
            <a:r>
              <a:rPr lang="zh-CN" altLang="en-US" b="1" dirty="0">
                <a:solidFill>
                  <a:srgbClr val="FF0000"/>
                </a:solidFill>
              </a:rPr>
              <a:t>柱面</a:t>
            </a:r>
            <a:r>
              <a:rPr lang="zh-CN" altLang="en-US" dirty="0"/>
              <a:t>（</a:t>
            </a:r>
            <a:r>
              <a:rPr lang="en-US" altLang="zh-CN" dirty="0"/>
              <a:t>cylinder</a:t>
            </a:r>
            <a:r>
              <a:rPr lang="zh-CN" altLang="en-US" dirty="0"/>
              <a:t>）。</a:t>
            </a:r>
          </a:p>
          <a:p>
            <a:r>
              <a:rPr lang="zh-CN" altLang="en-US" dirty="0"/>
              <a:t>磁盘上的每个物理块可用柱面号，磁头号和扇区号表示。</a:t>
            </a:r>
          </a:p>
        </p:txBody>
      </p:sp>
      <p:sp>
        <p:nvSpPr>
          <p:cNvPr id="2" name="灯片编号占位符 1">
            <a:extLst>
              <a:ext uri="{FF2B5EF4-FFF2-40B4-BE49-F238E27FC236}">
                <a16:creationId xmlns:a16="http://schemas.microsoft.com/office/drawing/2014/main" id="{221353AD-CF35-11CA-1BF3-5C6336715A8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checkerboard(across)">
                                      <p:cBhvr>
                                        <p:cTn id="7" dur="500"/>
                                        <p:tgtEl>
                                          <p:spTgt spid="375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5811">
                                            <p:txEl>
                                              <p:pRg st="1" end="1"/>
                                            </p:txEl>
                                          </p:spTgt>
                                        </p:tgtEl>
                                        <p:attrNameLst>
                                          <p:attrName>style.visibility</p:attrName>
                                        </p:attrNameLst>
                                      </p:cBhvr>
                                      <p:to>
                                        <p:strVal val="visible"/>
                                      </p:to>
                                    </p:set>
                                    <p:animEffect transition="in" filter="checkerboard(across)">
                                      <p:cBhvr>
                                        <p:cTn id="12" dur="500"/>
                                        <p:tgtEl>
                                          <p:spTgt spid="375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5811">
                                            <p:txEl>
                                              <p:pRg st="2" end="2"/>
                                            </p:txEl>
                                          </p:spTgt>
                                        </p:tgtEl>
                                        <p:attrNameLst>
                                          <p:attrName>style.visibility</p:attrName>
                                        </p:attrNameLst>
                                      </p:cBhvr>
                                      <p:to>
                                        <p:strVal val="visible"/>
                                      </p:to>
                                    </p:set>
                                    <p:animEffect transition="in" filter="checkerboard(across)">
                                      <p:cBhvr>
                                        <p:cTn id="17" dur="500"/>
                                        <p:tgtEl>
                                          <p:spTgt spid="3758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5811">
                                            <p:txEl>
                                              <p:pRg st="3" end="3"/>
                                            </p:txEl>
                                          </p:spTgt>
                                        </p:tgtEl>
                                        <p:attrNameLst>
                                          <p:attrName>style.visibility</p:attrName>
                                        </p:attrNameLst>
                                      </p:cBhvr>
                                      <p:to>
                                        <p:strVal val="visible"/>
                                      </p:to>
                                    </p:set>
                                    <p:animEffect transition="in" filter="checkerboard(across)">
                                      <p:cBhvr>
                                        <p:cTn id="22" dur="500"/>
                                        <p:tgtEl>
                                          <p:spTgt spid="3758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0063AEE5-BC82-DBF0-BD89-23CD9754949A}"/>
              </a:ext>
            </a:extLst>
          </p:cNvPr>
          <p:cNvSpPr>
            <a:spLocks noGrp="1" noChangeArrowheads="1"/>
          </p:cNvSpPr>
          <p:nvPr>
            <p:ph type="title"/>
          </p:nvPr>
        </p:nvSpPr>
        <p:spPr/>
        <p:txBody>
          <a:bodyPr/>
          <a:lstStyle/>
          <a:p>
            <a:pPr eaLnBrk="1" hangingPunct="1"/>
            <a:r>
              <a:rPr lang="zh-CN" altLang="en-US"/>
              <a:t>磁盘数据组织和格式示意图</a:t>
            </a:r>
          </a:p>
        </p:txBody>
      </p:sp>
      <p:grpSp>
        <p:nvGrpSpPr>
          <p:cNvPr id="9239" name="Group 24">
            <a:extLst>
              <a:ext uri="{FF2B5EF4-FFF2-40B4-BE49-F238E27FC236}">
                <a16:creationId xmlns:a16="http://schemas.microsoft.com/office/drawing/2014/main" id="{BC5368A3-37C5-1544-2664-4BBF6B65D015}"/>
              </a:ext>
            </a:extLst>
          </p:cNvPr>
          <p:cNvGrpSpPr>
            <a:grpSpLocks/>
          </p:cNvGrpSpPr>
          <p:nvPr/>
        </p:nvGrpSpPr>
        <p:grpSpPr bwMode="auto">
          <a:xfrm>
            <a:off x="5284788" y="1752600"/>
            <a:ext cx="2400300" cy="2295525"/>
            <a:chOff x="5625" y="7097"/>
            <a:chExt cx="2419" cy="2419"/>
          </a:xfrm>
        </p:grpSpPr>
        <p:sp>
          <p:nvSpPr>
            <p:cNvPr id="9240" name="Oval 25">
              <a:extLst>
                <a:ext uri="{FF2B5EF4-FFF2-40B4-BE49-F238E27FC236}">
                  <a16:creationId xmlns:a16="http://schemas.microsoft.com/office/drawing/2014/main" id="{27D7B0D8-8B53-3A91-BED2-5CFDDB66B0F2}"/>
                </a:ext>
              </a:extLst>
            </p:cNvPr>
            <p:cNvSpPr>
              <a:spLocks noChangeArrowheads="1"/>
            </p:cNvSpPr>
            <p:nvPr/>
          </p:nvSpPr>
          <p:spPr bwMode="auto">
            <a:xfrm>
              <a:off x="5625" y="7101"/>
              <a:ext cx="2415" cy="2415"/>
            </a:xfrm>
            <a:prstGeom prst="ellipse">
              <a:avLst/>
            </a:prstGeom>
            <a:solidFill>
              <a:srgbClr val="FFFFFF"/>
            </a:solidFill>
            <a:ln w="15875">
              <a:solidFill>
                <a:srgbClr val="000000"/>
              </a:solidFill>
              <a:round/>
              <a:headEnd/>
              <a:tailEnd/>
            </a:ln>
          </p:spPr>
          <p:txBody>
            <a:bodyPr/>
            <a:lstStyle/>
            <a:p>
              <a:pPr algn="just" eaLnBrk="0" hangingPunct="0"/>
              <a:endParaRPr lang="zh-CN" altLang="en-US">
                <a:latin typeface="Times New Roman" panose="02020603050405020304" pitchFamily="18" charset="0"/>
              </a:endParaRPr>
            </a:p>
            <a:p>
              <a:pPr algn="just" eaLnBrk="0" hangingPunct="0">
                <a:buFont typeface="Times New Roman" panose="02020603050405020304" pitchFamily="18" charset="0"/>
                <a:buChar char="4"/>
              </a:pPr>
              <a:r>
                <a:rPr lang="zh-CN" altLang="en-US">
                  <a:latin typeface="Times New Roman" panose="02020603050405020304" pitchFamily="18" charset="0"/>
                </a:rPr>
                <a:t>3</a:t>
              </a:r>
            </a:p>
            <a:p>
              <a:pPr eaLnBrk="0" hangingPunct="0">
                <a:buFont typeface="Times New Roman" panose="02020603050405020304" pitchFamily="18" charset="0"/>
                <a:buChar char="5"/>
              </a:pPr>
              <a:endParaRPr lang="zh-CN" altLang="en-US">
                <a:latin typeface="Times New Roman" panose="02020603050405020304" pitchFamily="18" charset="0"/>
              </a:endParaRPr>
            </a:p>
          </p:txBody>
        </p:sp>
        <p:sp>
          <p:nvSpPr>
            <p:cNvPr id="9241" name="Oval 26">
              <a:extLst>
                <a:ext uri="{FF2B5EF4-FFF2-40B4-BE49-F238E27FC236}">
                  <a16:creationId xmlns:a16="http://schemas.microsoft.com/office/drawing/2014/main" id="{774A1990-4A7F-08C0-244E-98D317EB97A1}"/>
                </a:ext>
              </a:extLst>
            </p:cNvPr>
            <p:cNvSpPr>
              <a:spLocks noChangeArrowheads="1"/>
            </p:cNvSpPr>
            <p:nvPr/>
          </p:nvSpPr>
          <p:spPr bwMode="auto">
            <a:xfrm>
              <a:off x="5955" y="7431"/>
              <a:ext cx="1769" cy="1769"/>
            </a:xfrm>
            <a:prstGeom prst="ellipse">
              <a:avLst/>
            </a:prstGeom>
            <a:solidFill>
              <a:srgbClr val="FFFFFF"/>
            </a:solidFill>
            <a:ln w="15875">
              <a:solidFill>
                <a:srgbClr val="000000"/>
              </a:solidFill>
              <a:round/>
              <a:headEnd/>
              <a:tailEnd/>
            </a:ln>
          </p:spPr>
          <p:txBody>
            <a:bodyPr/>
            <a:lstStyle/>
            <a:p>
              <a:pPr algn="just" eaLnBrk="0" hangingPunct="0"/>
              <a:r>
                <a:rPr lang="zh-CN" altLang="en-US">
                  <a:latin typeface="Times New Roman" panose="02020603050405020304" pitchFamily="18" charset="0"/>
                </a:rPr>
                <a:t>   </a:t>
              </a:r>
            </a:p>
          </p:txBody>
        </p:sp>
        <p:sp>
          <p:nvSpPr>
            <p:cNvPr id="9242" name="Oval 27">
              <a:extLst>
                <a:ext uri="{FF2B5EF4-FFF2-40B4-BE49-F238E27FC236}">
                  <a16:creationId xmlns:a16="http://schemas.microsoft.com/office/drawing/2014/main" id="{FA8A3F47-1B2E-1320-3006-B221CF01C192}"/>
                </a:ext>
              </a:extLst>
            </p:cNvPr>
            <p:cNvSpPr>
              <a:spLocks noChangeArrowheads="1"/>
            </p:cNvSpPr>
            <p:nvPr/>
          </p:nvSpPr>
          <p:spPr bwMode="auto">
            <a:xfrm>
              <a:off x="6278" y="7753"/>
              <a:ext cx="1123" cy="1125"/>
            </a:xfrm>
            <a:prstGeom prst="ellipse">
              <a:avLst/>
            </a:prstGeom>
            <a:solidFill>
              <a:srgbClr val="FFFFFF"/>
            </a:solidFill>
            <a:ln w="15875">
              <a:solidFill>
                <a:srgbClr val="000000"/>
              </a:solidFill>
              <a:round/>
              <a:headEnd/>
              <a:tailEnd/>
            </a:ln>
          </p:spPr>
          <p:txBody>
            <a:bodyPr/>
            <a:lstStyle/>
            <a:p>
              <a:pPr algn="ctr"/>
              <a:endParaRPr lang="zh-CN" altLang="en-US"/>
            </a:p>
          </p:txBody>
        </p:sp>
        <p:sp>
          <p:nvSpPr>
            <p:cNvPr id="9243" name="Line 28">
              <a:extLst>
                <a:ext uri="{FF2B5EF4-FFF2-40B4-BE49-F238E27FC236}">
                  <a16:creationId xmlns:a16="http://schemas.microsoft.com/office/drawing/2014/main" id="{868FD1DD-522D-5790-E3B7-F7A9CA0AEE70}"/>
                </a:ext>
              </a:extLst>
            </p:cNvPr>
            <p:cNvSpPr>
              <a:spLocks noChangeShapeType="1"/>
            </p:cNvSpPr>
            <p:nvPr/>
          </p:nvSpPr>
          <p:spPr bwMode="auto">
            <a:xfrm>
              <a:off x="5625" y="8304"/>
              <a:ext cx="241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29">
              <a:extLst>
                <a:ext uri="{FF2B5EF4-FFF2-40B4-BE49-F238E27FC236}">
                  <a16:creationId xmlns:a16="http://schemas.microsoft.com/office/drawing/2014/main" id="{8EE826FF-0675-90E9-3CF3-20BDB77D4FEB}"/>
                </a:ext>
              </a:extLst>
            </p:cNvPr>
            <p:cNvSpPr>
              <a:spLocks noChangeShapeType="1"/>
            </p:cNvSpPr>
            <p:nvPr/>
          </p:nvSpPr>
          <p:spPr bwMode="auto">
            <a:xfrm rot="2700000">
              <a:off x="5631" y="8301"/>
              <a:ext cx="24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30">
              <a:extLst>
                <a:ext uri="{FF2B5EF4-FFF2-40B4-BE49-F238E27FC236}">
                  <a16:creationId xmlns:a16="http://schemas.microsoft.com/office/drawing/2014/main" id="{734931C4-2900-F327-ED48-C6B665FD4AE1}"/>
                </a:ext>
              </a:extLst>
            </p:cNvPr>
            <p:cNvSpPr>
              <a:spLocks noChangeShapeType="1"/>
            </p:cNvSpPr>
            <p:nvPr/>
          </p:nvSpPr>
          <p:spPr bwMode="auto">
            <a:xfrm rot="5400000">
              <a:off x="5634" y="8301"/>
              <a:ext cx="24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Line 31">
              <a:extLst>
                <a:ext uri="{FF2B5EF4-FFF2-40B4-BE49-F238E27FC236}">
                  <a16:creationId xmlns:a16="http://schemas.microsoft.com/office/drawing/2014/main" id="{33102B63-5F7C-DBE1-D251-5FA783A096D1}"/>
                </a:ext>
              </a:extLst>
            </p:cNvPr>
            <p:cNvSpPr>
              <a:spLocks noChangeShapeType="1"/>
            </p:cNvSpPr>
            <p:nvPr/>
          </p:nvSpPr>
          <p:spPr bwMode="auto">
            <a:xfrm rot="8100000">
              <a:off x="5629" y="8304"/>
              <a:ext cx="241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7" name="Rectangle 32">
              <a:extLst>
                <a:ext uri="{FF2B5EF4-FFF2-40B4-BE49-F238E27FC236}">
                  <a16:creationId xmlns:a16="http://schemas.microsoft.com/office/drawing/2014/main" id="{044F15DE-7283-22E8-5B98-16E8C287A170}"/>
                </a:ext>
              </a:extLst>
            </p:cNvPr>
            <p:cNvSpPr>
              <a:spLocks noChangeArrowheads="1"/>
            </p:cNvSpPr>
            <p:nvPr/>
          </p:nvSpPr>
          <p:spPr bwMode="auto">
            <a:xfrm>
              <a:off x="7080" y="7491"/>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0</a:t>
              </a:r>
            </a:p>
          </p:txBody>
        </p:sp>
        <p:sp>
          <p:nvSpPr>
            <p:cNvPr id="9248" name="Rectangle 33">
              <a:extLst>
                <a:ext uri="{FF2B5EF4-FFF2-40B4-BE49-F238E27FC236}">
                  <a16:creationId xmlns:a16="http://schemas.microsoft.com/office/drawing/2014/main" id="{E57721D2-81CC-D4F1-7338-9755B87FAC9E}"/>
                </a:ext>
              </a:extLst>
            </p:cNvPr>
            <p:cNvSpPr>
              <a:spLocks noChangeArrowheads="1"/>
            </p:cNvSpPr>
            <p:nvPr/>
          </p:nvSpPr>
          <p:spPr bwMode="auto">
            <a:xfrm>
              <a:off x="7452" y="786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1</a:t>
              </a:r>
            </a:p>
          </p:txBody>
        </p:sp>
        <p:sp>
          <p:nvSpPr>
            <p:cNvPr id="9249" name="Rectangle 34">
              <a:extLst>
                <a:ext uri="{FF2B5EF4-FFF2-40B4-BE49-F238E27FC236}">
                  <a16:creationId xmlns:a16="http://schemas.microsoft.com/office/drawing/2014/main" id="{01FF8231-BE13-6BCF-CE5A-3A3E231387E9}"/>
                </a:ext>
              </a:extLst>
            </p:cNvPr>
            <p:cNvSpPr>
              <a:spLocks noChangeArrowheads="1"/>
            </p:cNvSpPr>
            <p:nvPr/>
          </p:nvSpPr>
          <p:spPr bwMode="auto">
            <a:xfrm>
              <a:off x="7440" y="843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2</a:t>
              </a:r>
            </a:p>
          </p:txBody>
        </p:sp>
        <p:sp>
          <p:nvSpPr>
            <p:cNvPr id="9250" name="Rectangle 35">
              <a:extLst>
                <a:ext uri="{FF2B5EF4-FFF2-40B4-BE49-F238E27FC236}">
                  <a16:creationId xmlns:a16="http://schemas.microsoft.com/office/drawing/2014/main" id="{D94A2D3B-522E-B60A-9019-B6504E558168}"/>
                </a:ext>
              </a:extLst>
            </p:cNvPr>
            <p:cNvSpPr>
              <a:spLocks noChangeArrowheads="1"/>
            </p:cNvSpPr>
            <p:nvPr/>
          </p:nvSpPr>
          <p:spPr bwMode="auto">
            <a:xfrm>
              <a:off x="7095" y="882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3</a:t>
              </a:r>
            </a:p>
          </p:txBody>
        </p:sp>
        <p:sp>
          <p:nvSpPr>
            <p:cNvPr id="9251" name="Rectangle 36">
              <a:extLst>
                <a:ext uri="{FF2B5EF4-FFF2-40B4-BE49-F238E27FC236}">
                  <a16:creationId xmlns:a16="http://schemas.microsoft.com/office/drawing/2014/main" id="{00EE249B-C0F5-079D-AE0D-2142EC29DC91}"/>
                </a:ext>
              </a:extLst>
            </p:cNvPr>
            <p:cNvSpPr>
              <a:spLocks noChangeArrowheads="1"/>
            </p:cNvSpPr>
            <p:nvPr/>
          </p:nvSpPr>
          <p:spPr bwMode="auto">
            <a:xfrm>
              <a:off x="6480" y="8811"/>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4</a:t>
              </a:r>
            </a:p>
          </p:txBody>
        </p:sp>
        <p:sp>
          <p:nvSpPr>
            <p:cNvPr id="9252" name="Rectangle 37">
              <a:extLst>
                <a:ext uri="{FF2B5EF4-FFF2-40B4-BE49-F238E27FC236}">
                  <a16:creationId xmlns:a16="http://schemas.microsoft.com/office/drawing/2014/main" id="{D9FEFAE8-8D18-6306-72CB-2DB0702FB21B}"/>
                </a:ext>
              </a:extLst>
            </p:cNvPr>
            <p:cNvSpPr>
              <a:spLocks noChangeArrowheads="1"/>
            </p:cNvSpPr>
            <p:nvPr/>
          </p:nvSpPr>
          <p:spPr bwMode="auto">
            <a:xfrm>
              <a:off x="6150" y="843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5</a:t>
              </a:r>
            </a:p>
          </p:txBody>
        </p:sp>
        <p:sp>
          <p:nvSpPr>
            <p:cNvPr id="9253" name="Rectangle 38">
              <a:extLst>
                <a:ext uri="{FF2B5EF4-FFF2-40B4-BE49-F238E27FC236}">
                  <a16:creationId xmlns:a16="http://schemas.microsoft.com/office/drawing/2014/main" id="{892FAEC7-625E-2D5A-350B-7D934B3CC671}"/>
                </a:ext>
              </a:extLst>
            </p:cNvPr>
            <p:cNvSpPr>
              <a:spLocks noChangeArrowheads="1"/>
            </p:cNvSpPr>
            <p:nvPr/>
          </p:nvSpPr>
          <p:spPr bwMode="auto">
            <a:xfrm>
              <a:off x="6150" y="786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6</a:t>
              </a:r>
            </a:p>
          </p:txBody>
        </p:sp>
        <p:sp>
          <p:nvSpPr>
            <p:cNvPr id="9254" name="Rectangle 39">
              <a:extLst>
                <a:ext uri="{FF2B5EF4-FFF2-40B4-BE49-F238E27FC236}">
                  <a16:creationId xmlns:a16="http://schemas.microsoft.com/office/drawing/2014/main" id="{55B5943F-88FE-8471-BC8C-BECEE9472127}"/>
                </a:ext>
              </a:extLst>
            </p:cNvPr>
            <p:cNvSpPr>
              <a:spLocks noChangeArrowheads="1"/>
            </p:cNvSpPr>
            <p:nvPr/>
          </p:nvSpPr>
          <p:spPr bwMode="auto">
            <a:xfrm>
              <a:off x="6525" y="7506"/>
              <a:ext cx="24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0" rIns="0" bIns="0"/>
            <a:lstStyle/>
            <a:p>
              <a:pPr algn="just" eaLnBrk="0" hangingPunct="0"/>
              <a:r>
                <a:rPr lang="zh-CN" altLang="en-US" b="1">
                  <a:latin typeface="Times New Roman" panose="02020603050405020304" pitchFamily="18" charset="0"/>
                </a:rPr>
                <a:t>7</a:t>
              </a:r>
            </a:p>
          </p:txBody>
        </p:sp>
      </p:grpSp>
      <p:grpSp>
        <p:nvGrpSpPr>
          <p:cNvPr id="9255" name="Group 40">
            <a:extLst>
              <a:ext uri="{FF2B5EF4-FFF2-40B4-BE49-F238E27FC236}">
                <a16:creationId xmlns:a16="http://schemas.microsoft.com/office/drawing/2014/main" id="{17D614CD-BC65-CED0-7FB6-FDCE096C8815}"/>
              </a:ext>
            </a:extLst>
          </p:cNvPr>
          <p:cNvGrpSpPr>
            <a:grpSpLocks/>
          </p:cNvGrpSpPr>
          <p:nvPr/>
        </p:nvGrpSpPr>
        <p:grpSpPr bwMode="auto">
          <a:xfrm>
            <a:off x="914400" y="4683690"/>
            <a:ext cx="7391400" cy="1352550"/>
            <a:chOff x="576" y="3324"/>
            <a:chExt cx="4656" cy="852"/>
          </a:xfrm>
        </p:grpSpPr>
        <p:sp>
          <p:nvSpPr>
            <p:cNvPr id="9256" name="Line 41">
              <a:extLst>
                <a:ext uri="{FF2B5EF4-FFF2-40B4-BE49-F238E27FC236}">
                  <a16:creationId xmlns:a16="http://schemas.microsoft.com/office/drawing/2014/main" id="{A3FC9D19-5102-927E-8608-393E216E6706}"/>
                </a:ext>
              </a:extLst>
            </p:cNvPr>
            <p:cNvSpPr>
              <a:spLocks noChangeShapeType="1"/>
            </p:cNvSpPr>
            <p:nvPr/>
          </p:nvSpPr>
          <p:spPr bwMode="auto">
            <a:xfrm flipV="1">
              <a:off x="576" y="3757"/>
              <a:ext cx="4557"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7" name="Line 42">
              <a:extLst>
                <a:ext uri="{FF2B5EF4-FFF2-40B4-BE49-F238E27FC236}">
                  <a16:creationId xmlns:a16="http://schemas.microsoft.com/office/drawing/2014/main" id="{3560594C-FEC1-67A1-A64A-8953B05AFCB0}"/>
                </a:ext>
              </a:extLst>
            </p:cNvPr>
            <p:cNvSpPr>
              <a:spLocks noChangeShapeType="1"/>
            </p:cNvSpPr>
            <p:nvPr/>
          </p:nvSpPr>
          <p:spPr bwMode="auto">
            <a:xfrm flipV="1">
              <a:off x="576" y="4168"/>
              <a:ext cx="4557"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8" name="Rectangle 43">
              <a:extLst>
                <a:ext uri="{FF2B5EF4-FFF2-40B4-BE49-F238E27FC236}">
                  <a16:creationId xmlns:a16="http://schemas.microsoft.com/office/drawing/2014/main" id="{683F8294-549C-BB2A-63CA-D53135043E47}"/>
                </a:ext>
              </a:extLst>
            </p:cNvPr>
            <p:cNvSpPr>
              <a:spLocks noChangeArrowheads="1"/>
            </p:cNvSpPr>
            <p:nvPr/>
          </p:nvSpPr>
          <p:spPr bwMode="auto">
            <a:xfrm>
              <a:off x="2132" y="3324"/>
              <a:ext cx="159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eaLnBrk="0" hangingPunct="0"/>
              <a:r>
                <a:rPr lang="zh-CN" altLang="en-US" dirty="0">
                  <a:latin typeface="Times New Roman" panose="02020603050405020304" pitchFamily="18" charset="0"/>
                </a:rPr>
                <a:t>磁道 第</a:t>
              </a:r>
              <a:r>
                <a:rPr lang="en-US" altLang="zh-CN" dirty="0" err="1">
                  <a:latin typeface="Times New Roman" panose="02020603050405020304" pitchFamily="18" charset="0"/>
                </a:rPr>
                <a:t>i</a:t>
              </a:r>
              <a:r>
                <a:rPr lang="zh-CN" altLang="en-US" dirty="0">
                  <a:latin typeface="Times New Roman" panose="02020603050405020304" pitchFamily="18" charset="0"/>
                </a:rPr>
                <a:t>扇区</a:t>
              </a:r>
            </a:p>
          </p:txBody>
        </p:sp>
        <p:sp>
          <p:nvSpPr>
            <p:cNvPr id="9259" name="Rectangle 44">
              <a:extLst>
                <a:ext uri="{FF2B5EF4-FFF2-40B4-BE49-F238E27FC236}">
                  <a16:creationId xmlns:a16="http://schemas.microsoft.com/office/drawing/2014/main" id="{619CA8AC-2CCC-7BAA-4758-6E2261BBA6A4}"/>
                </a:ext>
              </a:extLst>
            </p:cNvPr>
            <p:cNvSpPr>
              <a:spLocks noChangeArrowheads="1"/>
            </p:cNvSpPr>
            <p:nvPr/>
          </p:nvSpPr>
          <p:spPr bwMode="auto">
            <a:xfrm>
              <a:off x="687" y="3819"/>
              <a:ext cx="454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0" tIns="72000" rIns="0" bIns="0"/>
            <a:lstStyle/>
            <a:p>
              <a:pPr algn="just" eaLnBrk="0" hangingPunct="0"/>
              <a:r>
                <a:rPr lang="zh-CN" altLang="en-US" b="1" dirty="0">
                  <a:latin typeface="Times New Roman" panose="02020603050405020304" pitchFamily="18" charset="0"/>
                </a:rPr>
                <a:t>…</a:t>
              </a:r>
              <a:r>
                <a:rPr lang="zh-CN" altLang="en-US" dirty="0">
                  <a:latin typeface="宋体" panose="02010600030101010101" pitchFamily="2" charset="-122"/>
                </a:rPr>
                <a:t>    间隙      标识字段     间隙     数据字段     间隙    </a:t>
              </a:r>
              <a:r>
                <a:rPr lang="zh-CN" altLang="en-US" b="1" dirty="0">
                  <a:latin typeface="Times New Roman" panose="02020603050405020304" pitchFamily="18" charset="0"/>
                </a:rPr>
                <a:t>…</a:t>
              </a:r>
            </a:p>
          </p:txBody>
        </p:sp>
        <p:sp>
          <p:nvSpPr>
            <p:cNvPr id="9260" name="Line 45">
              <a:extLst>
                <a:ext uri="{FF2B5EF4-FFF2-40B4-BE49-F238E27FC236}">
                  <a16:creationId xmlns:a16="http://schemas.microsoft.com/office/drawing/2014/main" id="{97AD52B0-4CB8-93CF-698E-772C32C91E1B}"/>
                </a:ext>
              </a:extLst>
            </p:cNvPr>
            <p:cNvSpPr>
              <a:spLocks noChangeShapeType="1"/>
            </p:cNvSpPr>
            <p:nvPr/>
          </p:nvSpPr>
          <p:spPr bwMode="auto">
            <a:xfrm>
              <a:off x="984" y="3757"/>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1" name="Line 46">
              <a:extLst>
                <a:ext uri="{FF2B5EF4-FFF2-40B4-BE49-F238E27FC236}">
                  <a16:creationId xmlns:a16="http://schemas.microsoft.com/office/drawing/2014/main" id="{7CCFB94B-5AA0-88EE-B0F6-64ED47207DF4}"/>
                </a:ext>
              </a:extLst>
            </p:cNvPr>
            <p:cNvSpPr>
              <a:spLocks noChangeShapeType="1"/>
            </p:cNvSpPr>
            <p:nvPr/>
          </p:nvSpPr>
          <p:spPr bwMode="auto">
            <a:xfrm>
              <a:off x="3182" y="3750"/>
              <a:ext cx="0" cy="41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2" name="Line 47">
              <a:extLst>
                <a:ext uri="{FF2B5EF4-FFF2-40B4-BE49-F238E27FC236}">
                  <a16:creationId xmlns:a16="http://schemas.microsoft.com/office/drawing/2014/main" id="{DFC547B1-F664-B4E4-F6F0-2EE0D66FDCB1}"/>
                </a:ext>
              </a:extLst>
            </p:cNvPr>
            <p:cNvSpPr>
              <a:spLocks noChangeShapeType="1"/>
            </p:cNvSpPr>
            <p:nvPr/>
          </p:nvSpPr>
          <p:spPr bwMode="auto">
            <a:xfrm>
              <a:off x="1552" y="3757"/>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3" name="Line 48">
              <a:extLst>
                <a:ext uri="{FF2B5EF4-FFF2-40B4-BE49-F238E27FC236}">
                  <a16:creationId xmlns:a16="http://schemas.microsoft.com/office/drawing/2014/main" id="{063ECA6D-1B96-C9EB-C5C9-C1C4A36D64A1}"/>
                </a:ext>
              </a:extLst>
            </p:cNvPr>
            <p:cNvSpPr>
              <a:spLocks noChangeShapeType="1"/>
            </p:cNvSpPr>
            <p:nvPr/>
          </p:nvSpPr>
          <p:spPr bwMode="auto">
            <a:xfrm>
              <a:off x="2589" y="3757"/>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4" name="Line 49">
              <a:extLst>
                <a:ext uri="{FF2B5EF4-FFF2-40B4-BE49-F238E27FC236}">
                  <a16:creationId xmlns:a16="http://schemas.microsoft.com/office/drawing/2014/main" id="{F4E290E6-A865-4CF4-6930-EF6C28FD1614}"/>
                </a:ext>
              </a:extLst>
            </p:cNvPr>
            <p:cNvSpPr>
              <a:spLocks noChangeShapeType="1"/>
            </p:cNvSpPr>
            <p:nvPr/>
          </p:nvSpPr>
          <p:spPr bwMode="auto">
            <a:xfrm>
              <a:off x="4775" y="3757"/>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5" name="Line 50">
              <a:extLst>
                <a:ext uri="{FF2B5EF4-FFF2-40B4-BE49-F238E27FC236}">
                  <a16:creationId xmlns:a16="http://schemas.microsoft.com/office/drawing/2014/main" id="{5B1051D4-9783-8CB7-2823-D30D48570D4F}"/>
                </a:ext>
              </a:extLst>
            </p:cNvPr>
            <p:cNvSpPr>
              <a:spLocks noChangeShapeType="1"/>
            </p:cNvSpPr>
            <p:nvPr/>
          </p:nvSpPr>
          <p:spPr bwMode="auto">
            <a:xfrm>
              <a:off x="4207" y="3757"/>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6" name="AutoShape 51">
              <a:extLst>
                <a:ext uri="{FF2B5EF4-FFF2-40B4-BE49-F238E27FC236}">
                  <a16:creationId xmlns:a16="http://schemas.microsoft.com/office/drawing/2014/main" id="{9F36C63B-D3DA-68AD-9432-265FEE0FE11C}"/>
                </a:ext>
              </a:extLst>
            </p:cNvPr>
            <p:cNvSpPr>
              <a:spLocks/>
            </p:cNvSpPr>
            <p:nvPr/>
          </p:nvSpPr>
          <p:spPr bwMode="auto">
            <a:xfrm rot="-5400000">
              <a:off x="2810" y="1768"/>
              <a:ext cx="131" cy="3804"/>
            </a:xfrm>
            <a:prstGeom prst="rightBrace">
              <a:avLst>
                <a:gd name="adj1" fmla="val 241581"/>
                <a:gd name="adj2" fmla="val 50000"/>
              </a:avLst>
            </a:pr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p>
              <a:pPr algn="ctr"/>
              <a:endParaRPr lang="zh-CN" altLang="en-US"/>
            </a:p>
          </p:txBody>
        </p:sp>
      </p:grpSp>
      <p:sp>
        <p:nvSpPr>
          <p:cNvPr id="2" name="灯片编号占位符 1">
            <a:extLst>
              <a:ext uri="{FF2B5EF4-FFF2-40B4-BE49-F238E27FC236}">
                <a16:creationId xmlns:a16="http://schemas.microsoft.com/office/drawing/2014/main" id="{C1DDCA20-3596-8F5F-94FF-A9B5524D10DF}"/>
              </a:ext>
            </a:extLst>
          </p:cNvPr>
          <p:cNvSpPr>
            <a:spLocks noGrp="1"/>
          </p:cNvSpPr>
          <p:nvPr>
            <p:ph type="sldNum" sz="quarter" idx="12"/>
          </p:nvPr>
        </p:nvSpPr>
        <p:spPr/>
        <p:txBody>
          <a:bodyPr/>
          <a:lstStyle/>
          <a:p>
            <a:fld id="{4093CC90-4002-504C-BD88-C9A1D374048E}" type="slidenum">
              <a:rPr lang="zh-CN" altLang="en-US" smtClean="0"/>
              <a:pPr/>
              <a:t>123</a:t>
            </a:fld>
            <a:endParaRPr lang="zh-CN" altLang="en-US" dirty="0"/>
          </a:p>
        </p:txBody>
      </p:sp>
      <p:pic>
        <p:nvPicPr>
          <p:cNvPr id="3" name="Picture 1" descr="10_01.pdf">
            <a:extLst>
              <a:ext uri="{FF2B5EF4-FFF2-40B4-BE49-F238E27FC236}">
                <a16:creationId xmlns:a16="http://schemas.microsoft.com/office/drawing/2014/main" id="{68140946-9960-3E3B-3975-090CFC3B9CA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6209" y="1234277"/>
            <a:ext cx="4047674" cy="329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a:extLst>
              <a:ext uri="{FF2B5EF4-FFF2-40B4-BE49-F238E27FC236}">
                <a16:creationId xmlns:a16="http://schemas.microsoft.com/office/drawing/2014/main" id="{897CE9A0-21B7-05DD-6841-D9AAD5E23CA2}"/>
              </a:ext>
            </a:extLst>
          </p:cNvPr>
          <p:cNvSpPr>
            <a:spLocks noGrp="1" noChangeArrowheads="1"/>
          </p:cNvSpPr>
          <p:nvPr>
            <p:ph type="title"/>
          </p:nvPr>
        </p:nvSpPr>
        <p:spPr>
          <a:xfrm>
            <a:off x="1042988" y="225431"/>
            <a:ext cx="7850187" cy="746125"/>
          </a:xfrm>
        </p:spPr>
        <p:txBody>
          <a:bodyPr/>
          <a:lstStyle/>
          <a:p>
            <a:r>
              <a:rPr lang="zh-CN" altLang="en-US"/>
              <a:t>逻辑扇区</a:t>
            </a:r>
          </a:p>
        </p:txBody>
      </p:sp>
      <p:sp>
        <p:nvSpPr>
          <p:cNvPr id="10242" name="内容占位符 2">
            <a:extLst>
              <a:ext uri="{FF2B5EF4-FFF2-40B4-BE49-F238E27FC236}">
                <a16:creationId xmlns:a16="http://schemas.microsoft.com/office/drawing/2014/main" id="{1FA0DA91-B229-D5F7-83CE-D46C900671C9}"/>
              </a:ext>
            </a:extLst>
          </p:cNvPr>
          <p:cNvSpPr>
            <a:spLocks noGrp="1" noChangeArrowheads="1"/>
          </p:cNvSpPr>
          <p:nvPr>
            <p:ph idx="1"/>
          </p:nvPr>
        </p:nvSpPr>
        <p:spPr>
          <a:xfrm>
            <a:off x="935038" y="1233488"/>
            <a:ext cx="7772400" cy="4895850"/>
          </a:xfrm>
        </p:spPr>
        <p:txBody>
          <a:bodyPr/>
          <a:lstStyle/>
          <a:p>
            <a:r>
              <a:rPr lang="zh-CN" altLang="en-US" dirty="0"/>
              <a:t>将一个磁盘上的扇区从</a:t>
            </a:r>
            <a:r>
              <a:rPr lang="en-US" altLang="zh-CN" dirty="0"/>
              <a:t>0</a:t>
            </a:r>
            <a:r>
              <a:rPr lang="zh-CN" altLang="en-US" dirty="0"/>
              <a:t>柱面开始，按柱面顺序依次编号，所得到的编号称为逻辑扇区号。</a:t>
            </a:r>
            <a:endParaRPr lang="en-US" altLang="zh-CN" dirty="0"/>
          </a:p>
          <a:p>
            <a:r>
              <a:rPr lang="zh-CN" altLang="en-US" dirty="0"/>
              <a:t>逻辑扇区号</a:t>
            </a:r>
            <a:r>
              <a:rPr lang="en-US" altLang="zh-CN" dirty="0"/>
              <a:t>=</a:t>
            </a:r>
            <a:r>
              <a:rPr lang="zh-CN" altLang="en-US" dirty="0"/>
              <a:t>柱面号*每柱面扇区数</a:t>
            </a:r>
            <a:r>
              <a:rPr lang="en-US" altLang="zh-CN" dirty="0"/>
              <a:t>+</a:t>
            </a:r>
          </a:p>
          <a:p>
            <a:pPr marL="0" indent="0">
              <a:buNone/>
            </a:pPr>
            <a:r>
              <a:rPr lang="en-US" altLang="zh-CN" dirty="0"/>
              <a:t>                     </a:t>
            </a:r>
            <a:r>
              <a:rPr lang="zh-CN" altLang="en-US" dirty="0"/>
              <a:t> 磁头号*每磁头扇区数</a:t>
            </a:r>
            <a:r>
              <a:rPr lang="en-US" altLang="zh-CN" dirty="0"/>
              <a:t>+</a:t>
            </a:r>
          </a:p>
          <a:p>
            <a:pPr marL="0" indent="0">
              <a:buNone/>
            </a:pPr>
            <a:r>
              <a:rPr lang="en-US" altLang="zh-CN" dirty="0"/>
              <a:t>                     </a:t>
            </a:r>
            <a:r>
              <a:rPr lang="zh-CN" altLang="en-US" dirty="0"/>
              <a:t> 扇区号</a:t>
            </a:r>
            <a:endParaRPr lang="en-US" altLang="zh-CN" dirty="0"/>
          </a:p>
          <a:p>
            <a:r>
              <a:rPr lang="zh-CN" altLang="en-US" dirty="0"/>
              <a:t>其中，柱面号、磁头号、扇区号都从</a:t>
            </a:r>
            <a:r>
              <a:rPr lang="en-US" altLang="zh-CN" dirty="0"/>
              <a:t>0</a:t>
            </a:r>
            <a:r>
              <a:rPr lang="zh-CN" altLang="en-US" dirty="0"/>
              <a:t>开始</a:t>
            </a:r>
          </a:p>
        </p:txBody>
      </p:sp>
      <p:sp>
        <p:nvSpPr>
          <p:cNvPr id="2" name="灯片编号占位符 1">
            <a:extLst>
              <a:ext uri="{FF2B5EF4-FFF2-40B4-BE49-F238E27FC236}">
                <a16:creationId xmlns:a16="http://schemas.microsoft.com/office/drawing/2014/main" id="{EEC7AD95-2640-F9FD-9D43-05170445081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124</a:t>
            </a:fld>
            <a:endParaRPr lang="zh-CN" altLang="en-US" dirty="0"/>
          </a:p>
        </p:txBody>
      </p:sp>
    </p:spTree>
  </p:cSld>
  <p:clrMapOvr>
    <a:masterClrMapping/>
  </p:clrMapOvr>
  <p:transition spd="med">
    <p:zo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7ACACA58-EA5A-ACE6-3D99-D3B48B02E9D8}"/>
              </a:ext>
            </a:extLst>
          </p:cNvPr>
          <p:cNvSpPr>
            <a:spLocks noGrp="1" noChangeArrowheads="1"/>
          </p:cNvSpPr>
          <p:nvPr>
            <p:ph type="title"/>
          </p:nvPr>
        </p:nvSpPr>
        <p:spPr>
          <a:xfrm>
            <a:off x="1042988" y="225431"/>
            <a:ext cx="7850187" cy="746125"/>
          </a:xfrm>
        </p:spPr>
        <p:txBody>
          <a:bodyPr/>
          <a:lstStyle/>
          <a:p>
            <a:r>
              <a:rPr lang="zh-CN" altLang="en-US" dirty="0"/>
              <a:t>磁盘结构</a:t>
            </a:r>
            <a:endParaRPr lang="en-US" altLang="zh-CN" dirty="0"/>
          </a:p>
        </p:txBody>
      </p:sp>
      <p:sp>
        <p:nvSpPr>
          <p:cNvPr id="414723" name="Rectangle 3">
            <a:extLst>
              <a:ext uri="{FF2B5EF4-FFF2-40B4-BE49-F238E27FC236}">
                <a16:creationId xmlns:a16="http://schemas.microsoft.com/office/drawing/2014/main" id="{9192B528-B58C-5AC6-7AE2-C8BFE1EC09C8}"/>
              </a:ext>
            </a:extLst>
          </p:cNvPr>
          <p:cNvSpPr>
            <a:spLocks noGrp="1" noChangeArrowheads="1"/>
          </p:cNvSpPr>
          <p:nvPr>
            <p:ph idx="1"/>
          </p:nvPr>
        </p:nvSpPr>
        <p:spPr>
          <a:xfrm>
            <a:off x="935038" y="1233488"/>
            <a:ext cx="7772400" cy="4895850"/>
          </a:xfrm>
        </p:spPr>
        <p:txBody>
          <a:bodyPr/>
          <a:lstStyle/>
          <a:p>
            <a:r>
              <a:rPr lang="zh-CN" altLang="en-US" dirty="0"/>
              <a:t>磁盘设备编址为逻辑块的一维大数组。</a:t>
            </a:r>
            <a:r>
              <a:rPr lang="en-US" altLang="zh-CN" dirty="0"/>
              <a:t> </a:t>
            </a:r>
          </a:p>
          <a:p>
            <a:r>
              <a:rPr lang="zh-CN" altLang="en-US" dirty="0"/>
              <a:t>一维逻辑块的数组按顺序映射到磁盘上的扇区。</a:t>
            </a:r>
            <a:endParaRPr lang="en-US" altLang="zh-CN" dirty="0"/>
          </a:p>
          <a:p>
            <a:r>
              <a:rPr lang="en-US" altLang="zh-CN" dirty="0"/>
              <a:t>0</a:t>
            </a:r>
            <a:r>
              <a:rPr lang="zh-CN" altLang="en-US" dirty="0"/>
              <a:t>扇区是最外边柱面的第一个磁道的第一个扇区。</a:t>
            </a:r>
            <a:r>
              <a:rPr lang="en-US" altLang="zh-CN" dirty="0"/>
              <a:t> </a:t>
            </a:r>
          </a:p>
          <a:p>
            <a:r>
              <a:rPr lang="zh-CN" altLang="en-US" dirty="0"/>
              <a:t>数据首先都映射到一个磁道，其余的数据映射到同一柱面的其他磁道，然后按照从外向里的顺序映射到其余的柱面。</a:t>
            </a:r>
          </a:p>
          <a:p>
            <a:endParaRPr lang="zh-CN" altLang="en-US" dirty="0"/>
          </a:p>
        </p:txBody>
      </p:sp>
      <p:sp>
        <p:nvSpPr>
          <p:cNvPr id="2" name="灯片编号占位符 1">
            <a:extLst>
              <a:ext uri="{FF2B5EF4-FFF2-40B4-BE49-F238E27FC236}">
                <a16:creationId xmlns:a16="http://schemas.microsoft.com/office/drawing/2014/main" id="{77B11E85-A3EF-1A1B-F965-FB7F262CA77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125</a:t>
            </a:fld>
            <a:endParaRPr lang="zh-CN" altLang="en-US" dirty="0"/>
          </a:p>
        </p:txBody>
      </p:sp>
    </p:spTree>
    <p:extLst>
      <p:ext uri="{BB962C8B-B14F-4D97-AF65-F5344CB8AC3E}">
        <p14:creationId xmlns:p14="http://schemas.microsoft.com/office/powerpoint/2010/main" val="1994373245"/>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checkerboard(across)">
                                      <p:cBhvr>
                                        <p:cTn id="7" dur="500"/>
                                        <p:tgtEl>
                                          <p:spTgt spid="414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14723">
                                            <p:txEl>
                                              <p:pRg st="1" end="1"/>
                                            </p:txEl>
                                          </p:spTgt>
                                        </p:tgtEl>
                                        <p:attrNameLst>
                                          <p:attrName>style.visibility</p:attrName>
                                        </p:attrNameLst>
                                      </p:cBhvr>
                                      <p:to>
                                        <p:strVal val="visible"/>
                                      </p:to>
                                    </p:set>
                                    <p:animEffect transition="in" filter="checkerboard(across)">
                                      <p:cBhvr>
                                        <p:cTn id="12" dur="500"/>
                                        <p:tgtEl>
                                          <p:spTgt spid="414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14723">
                                            <p:txEl>
                                              <p:pRg st="2" end="2"/>
                                            </p:txEl>
                                          </p:spTgt>
                                        </p:tgtEl>
                                        <p:attrNameLst>
                                          <p:attrName>style.visibility</p:attrName>
                                        </p:attrNameLst>
                                      </p:cBhvr>
                                      <p:to>
                                        <p:strVal val="visible"/>
                                      </p:to>
                                    </p:set>
                                    <p:animEffect transition="in" filter="checkerboard(across)">
                                      <p:cBhvr>
                                        <p:cTn id="17" dur="500"/>
                                        <p:tgtEl>
                                          <p:spTgt spid="414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14723">
                                            <p:txEl>
                                              <p:pRg st="3" end="3"/>
                                            </p:txEl>
                                          </p:spTgt>
                                        </p:tgtEl>
                                        <p:attrNameLst>
                                          <p:attrName>style.visibility</p:attrName>
                                        </p:attrNameLst>
                                      </p:cBhvr>
                                      <p:to>
                                        <p:strVal val="visible"/>
                                      </p:to>
                                    </p:set>
                                    <p:animEffect transition="in" filter="checkerboard(across)">
                                      <p:cBhvr>
                                        <p:cTn id="22" dur="500"/>
                                        <p:tgtEl>
                                          <p:spTgt spid="414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ED000C1F-1340-E472-D92F-4D32ED86A6C7}"/>
              </a:ext>
            </a:extLst>
          </p:cNvPr>
          <p:cNvSpPr>
            <a:spLocks noGrp="1" noChangeArrowheads="1"/>
          </p:cNvSpPr>
          <p:nvPr>
            <p:ph type="title"/>
          </p:nvPr>
        </p:nvSpPr>
        <p:spPr>
          <a:xfrm>
            <a:off x="1042988" y="225431"/>
            <a:ext cx="7850187" cy="746125"/>
          </a:xfrm>
        </p:spPr>
        <p:txBody>
          <a:bodyPr/>
          <a:lstStyle/>
          <a:p>
            <a:r>
              <a:rPr lang="zh-CN" altLang="en-US"/>
              <a:t>磁盘访问时间</a:t>
            </a:r>
          </a:p>
        </p:txBody>
      </p:sp>
      <p:sp>
        <p:nvSpPr>
          <p:cNvPr id="377859" name="Rectangle 3">
            <a:extLst>
              <a:ext uri="{FF2B5EF4-FFF2-40B4-BE49-F238E27FC236}">
                <a16:creationId xmlns:a16="http://schemas.microsoft.com/office/drawing/2014/main" id="{ABE08D05-4B6C-2D31-3993-D0D25D7A1CF8}"/>
              </a:ext>
            </a:extLst>
          </p:cNvPr>
          <p:cNvSpPr>
            <a:spLocks noGrp="1" noChangeArrowheads="1"/>
          </p:cNvSpPr>
          <p:nvPr>
            <p:ph idx="1"/>
          </p:nvPr>
        </p:nvSpPr>
        <p:spPr>
          <a:xfrm>
            <a:off x="935038" y="1233488"/>
            <a:ext cx="7772400" cy="5091112"/>
          </a:xfrm>
        </p:spPr>
        <p:txBody>
          <a:bodyPr>
            <a:normAutofit fontScale="92500" lnSpcReduction="20000"/>
          </a:bodyPr>
          <a:lstStyle/>
          <a:p>
            <a:pPr>
              <a:lnSpc>
                <a:spcPct val="120000"/>
              </a:lnSpc>
            </a:pPr>
            <a:r>
              <a:rPr lang="zh-CN" altLang="en-US" dirty="0"/>
              <a:t>磁盘访问时间由三部分组成：</a:t>
            </a:r>
          </a:p>
          <a:p>
            <a:pPr lvl="1">
              <a:lnSpc>
                <a:spcPct val="120000"/>
              </a:lnSpc>
            </a:pPr>
            <a:r>
              <a:rPr lang="zh-CN" altLang="en-US" b="1" dirty="0">
                <a:solidFill>
                  <a:srgbClr val="FF0000"/>
                </a:solidFill>
              </a:rPr>
              <a:t>寻道时间</a:t>
            </a:r>
            <a:r>
              <a:rPr lang="zh-CN" altLang="en-US" dirty="0"/>
              <a:t>（</a:t>
            </a:r>
            <a:r>
              <a:rPr lang="en-US" altLang="zh-CN" dirty="0"/>
              <a:t>seek time</a:t>
            </a:r>
            <a:r>
              <a:rPr lang="zh-CN" altLang="en-US" dirty="0"/>
              <a:t>）：指将磁头从当前位置移动到指定磁道所经历的时间。由启动磁臂时间和磁头移动多条磁道的时间构成。</a:t>
            </a:r>
          </a:p>
          <a:p>
            <a:pPr lvl="1">
              <a:lnSpc>
                <a:spcPct val="120000"/>
              </a:lnSpc>
            </a:pPr>
            <a:r>
              <a:rPr lang="zh-CN" altLang="en-US" b="1" dirty="0">
                <a:solidFill>
                  <a:srgbClr val="FF0000"/>
                </a:solidFill>
              </a:rPr>
              <a:t>旋转延迟时间</a:t>
            </a:r>
            <a:r>
              <a:rPr lang="zh-CN" altLang="en-US" dirty="0"/>
              <a:t>（</a:t>
            </a:r>
            <a:r>
              <a:rPr lang="en-US" altLang="zh-CN" dirty="0"/>
              <a:t>rotational latency</a:t>
            </a:r>
            <a:r>
              <a:rPr lang="zh-CN" altLang="en-US" dirty="0"/>
              <a:t>）：指扇区移动到磁头下面所经历的时间。平均旋转延迟时间是每转所需时间的一半。</a:t>
            </a:r>
          </a:p>
          <a:p>
            <a:pPr lvl="1">
              <a:lnSpc>
                <a:spcPct val="120000"/>
              </a:lnSpc>
            </a:pPr>
            <a:r>
              <a:rPr lang="zh-CN" altLang="en-US" b="1" dirty="0">
                <a:solidFill>
                  <a:srgbClr val="FF0000"/>
                </a:solidFill>
              </a:rPr>
              <a:t>传输时间</a:t>
            </a:r>
            <a:r>
              <a:rPr lang="zh-CN" altLang="en-US" dirty="0"/>
              <a:t>（</a:t>
            </a:r>
            <a:r>
              <a:rPr lang="en-US" altLang="zh-CN" dirty="0" err="1"/>
              <a:t>tranfer</a:t>
            </a:r>
            <a:r>
              <a:rPr lang="en-US" altLang="zh-CN" dirty="0"/>
              <a:t> time</a:t>
            </a:r>
            <a:r>
              <a:rPr lang="zh-CN" altLang="en-US" dirty="0"/>
              <a:t>）：指从磁盘上读出数据或向磁盘写入数据所经历的时间。</a:t>
            </a:r>
          </a:p>
          <a:p>
            <a:pPr>
              <a:lnSpc>
                <a:spcPct val="120000"/>
              </a:lnSpc>
            </a:pPr>
            <a:r>
              <a:rPr lang="zh-CN" altLang="en-US" dirty="0"/>
              <a:t>由于这三部分操作均涉及机械运动，故磁盘块的访问时间约为0.01～0.1</a:t>
            </a:r>
            <a:r>
              <a:rPr lang="en-US" altLang="zh-CN" dirty="0"/>
              <a:t>s</a:t>
            </a:r>
            <a:r>
              <a:rPr lang="zh-CN" altLang="en-US" dirty="0"/>
              <a:t>之间，其中寻道时间所占的比例最大。</a:t>
            </a:r>
          </a:p>
        </p:txBody>
      </p:sp>
      <p:sp>
        <p:nvSpPr>
          <p:cNvPr id="2" name="灯片编号占位符 1">
            <a:extLst>
              <a:ext uri="{FF2B5EF4-FFF2-40B4-BE49-F238E27FC236}">
                <a16:creationId xmlns:a16="http://schemas.microsoft.com/office/drawing/2014/main" id="{359A23E7-1488-930A-1590-6C2BFC088D6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7859">
                                            <p:txEl>
                                              <p:pRg st="0" end="0"/>
                                            </p:txEl>
                                          </p:spTgt>
                                        </p:tgtEl>
                                        <p:attrNameLst>
                                          <p:attrName>style.visibility</p:attrName>
                                        </p:attrNameLst>
                                      </p:cBhvr>
                                      <p:to>
                                        <p:strVal val="visible"/>
                                      </p:to>
                                    </p:set>
                                    <p:animEffect transition="in" filter="checkerboard(across)">
                                      <p:cBhvr>
                                        <p:cTn id="7" dur="500"/>
                                        <p:tgtEl>
                                          <p:spTgt spid="377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7859">
                                            <p:txEl>
                                              <p:pRg st="1" end="1"/>
                                            </p:txEl>
                                          </p:spTgt>
                                        </p:tgtEl>
                                        <p:attrNameLst>
                                          <p:attrName>style.visibility</p:attrName>
                                        </p:attrNameLst>
                                      </p:cBhvr>
                                      <p:to>
                                        <p:strVal val="visible"/>
                                      </p:to>
                                    </p:set>
                                    <p:animEffect transition="in" filter="checkerboard(across)">
                                      <p:cBhvr>
                                        <p:cTn id="12" dur="500"/>
                                        <p:tgtEl>
                                          <p:spTgt spid="3778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7859">
                                            <p:txEl>
                                              <p:pRg st="2" end="2"/>
                                            </p:txEl>
                                          </p:spTgt>
                                        </p:tgtEl>
                                        <p:attrNameLst>
                                          <p:attrName>style.visibility</p:attrName>
                                        </p:attrNameLst>
                                      </p:cBhvr>
                                      <p:to>
                                        <p:strVal val="visible"/>
                                      </p:to>
                                    </p:set>
                                    <p:animEffect transition="in" filter="checkerboard(across)">
                                      <p:cBhvr>
                                        <p:cTn id="17" dur="500"/>
                                        <p:tgtEl>
                                          <p:spTgt spid="3778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7859">
                                            <p:txEl>
                                              <p:pRg st="3" end="3"/>
                                            </p:txEl>
                                          </p:spTgt>
                                        </p:tgtEl>
                                        <p:attrNameLst>
                                          <p:attrName>style.visibility</p:attrName>
                                        </p:attrNameLst>
                                      </p:cBhvr>
                                      <p:to>
                                        <p:strVal val="visible"/>
                                      </p:to>
                                    </p:set>
                                    <p:animEffect transition="in" filter="checkerboard(across)">
                                      <p:cBhvr>
                                        <p:cTn id="22" dur="500"/>
                                        <p:tgtEl>
                                          <p:spTgt spid="3778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77859">
                                            <p:txEl>
                                              <p:pRg st="4" end="4"/>
                                            </p:txEl>
                                          </p:spTgt>
                                        </p:tgtEl>
                                        <p:attrNameLst>
                                          <p:attrName>style.visibility</p:attrName>
                                        </p:attrNameLst>
                                      </p:cBhvr>
                                      <p:to>
                                        <p:strVal val="visible"/>
                                      </p:to>
                                    </p:set>
                                    <p:animEffect transition="in" filter="checkerboard(across)">
                                      <p:cBhvr>
                                        <p:cTn id="27" dur="500"/>
                                        <p:tgtEl>
                                          <p:spTgt spid="3778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9"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857A15C-205D-8F41-38AB-FB98C2766356}"/>
              </a:ext>
            </a:extLst>
          </p:cNvPr>
          <p:cNvSpPr>
            <a:spLocks noGrp="1" noChangeArrowheads="1"/>
          </p:cNvSpPr>
          <p:nvPr>
            <p:ph type="title"/>
          </p:nvPr>
        </p:nvSpPr>
        <p:spPr>
          <a:xfrm>
            <a:off x="1042988" y="225431"/>
            <a:ext cx="7850187" cy="746125"/>
          </a:xfrm>
        </p:spPr>
        <p:txBody>
          <a:bodyPr/>
          <a:lstStyle/>
          <a:p>
            <a:r>
              <a:rPr lang="zh-CN" altLang="en-US" dirty="0"/>
              <a:t>磁盘调度</a:t>
            </a:r>
          </a:p>
        </p:txBody>
      </p:sp>
      <p:sp>
        <p:nvSpPr>
          <p:cNvPr id="17410" name="Rectangle 3">
            <a:extLst>
              <a:ext uri="{FF2B5EF4-FFF2-40B4-BE49-F238E27FC236}">
                <a16:creationId xmlns:a16="http://schemas.microsoft.com/office/drawing/2014/main" id="{7E53AF2C-EB9E-12A5-554D-DCA4D59AE59F}"/>
              </a:ext>
            </a:extLst>
          </p:cNvPr>
          <p:cNvSpPr>
            <a:spLocks noGrp="1" noChangeArrowheads="1"/>
          </p:cNvSpPr>
          <p:nvPr>
            <p:ph idx="1"/>
          </p:nvPr>
        </p:nvSpPr>
        <p:spPr>
          <a:xfrm>
            <a:off x="935038" y="1233488"/>
            <a:ext cx="7772400" cy="4895850"/>
          </a:xfrm>
        </p:spPr>
        <p:txBody>
          <a:bodyPr/>
          <a:lstStyle/>
          <a:p>
            <a:r>
              <a:rPr lang="zh-CN" altLang="en-US" dirty="0"/>
              <a:t>磁盘是可以被多个进程共享的设备</a:t>
            </a:r>
            <a:endParaRPr lang="en-US" altLang="zh-CN" dirty="0"/>
          </a:p>
          <a:p>
            <a:r>
              <a:rPr lang="zh-CN" altLang="en-US" dirty="0"/>
              <a:t>当有多个进程都请求访问磁盘时，操作系统需要发挥作用来减少</a:t>
            </a:r>
            <a:r>
              <a:rPr lang="en-US" altLang="zh-CN" dirty="0"/>
              <a:t>I/O</a:t>
            </a:r>
            <a:r>
              <a:rPr lang="zh-CN" altLang="en-US" dirty="0"/>
              <a:t>成本</a:t>
            </a:r>
            <a:endParaRPr lang="en-US" altLang="zh-CN" dirty="0"/>
          </a:p>
          <a:p>
            <a:r>
              <a:rPr lang="zh-CN" altLang="en-US" dirty="0"/>
              <a:t>当出现一组</a:t>
            </a:r>
            <a:r>
              <a:rPr lang="en-US" altLang="zh-CN" dirty="0"/>
              <a:t>I/O</a:t>
            </a:r>
            <a:r>
              <a:rPr lang="zh-CN" altLang="en-US" dirty="0"/>
              <a:t>请求时，磁盘调度程序检查并决定下一个要调度的请求</a:t>
            </a:r>
            <a:endParaRPr lang="en-US" altLang="zh-CN" dirty="0"/>
          </a:p>
          <a:p>
            <a:r>
              <a:rPr lang="zh-CN" altLang="en-US" dirty="0"/>
              <a:t>以使各进程对磁盘的平均访问时间（主要是寻道时间）最短为调度目标</a:t>
            </a:r>
          </a:p>
        </p:txBody>
      </p:sp>
      <p:sp>
        <p:nvSpPr>
          <p:cNvPr id="2" name="灯片编号占位符 1">
            <a:extLst>
              <a:ext uri="{FF2B5EF4-FFF2-40B4-BE49-F238E27FC236}">
                <a16:creationId xmlns:a16="http://schemas.microsoft.com/office/drawing/2014/main" id="{7DF1306D-B387-9E79-DE59-3D3687E76D7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127</a:t>
            </a:fld>
            <a:endParaRPr lang="zh-CN" altLang="en-US" dirty="0"/>
          </a:p>
        </p:txBody>
      </p:sp>
    </p:spTree>
  </p:cSld>
  <p:clrMapOvr>
    <a:masterClrMapping/>
  </p:clrMapOvr>
  <p:transition spd="med">
    <p:zo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FC36656-08EA-5F72-8773-4D28A2188E2F}"/>
              </a:ext>
            </a:extLst>
          </p:cNvPr>
          <p:cNvSpPr>
            <a:spLocks noGrp="1" noChangeArrowheads="1"/>
          </p:cNvSpPr>
          <p:nvPr>
            <p:ph type="title"/>
          </p:nvPr>
        </p:nvSpPr>
        <p:spPr>
          <a:xfrm>
            <a:off x="1042988" y="225431"/>
            <a:ext cx="7850187" cy="746125"/>
          </a:xfrm>
        </p:spPr>
        <p:txBody>
          <a:bodyPr/>
          <a:lstStyle/>
          <a:p>
            <a:r>
              <a:rPr lang="zh-CN" altLang="en-US" dirty="0"/>
              <a:t>先来先服务调度</a:t>
            </a:r>
          </a:p>
        </p:txBody>
      </p:sp>
      <p:sp>
        <p:nvSpPr>
          <p:cNvPr id="382979" name="Rectangle 3">
            <a:extLst>
              <a:ext uri="{FF2B5EF4-FFF2-40B4-BE49-F238E27FC236}">
                <a16:creationId xmlns:a16="http://schemas.microsoft.com/office/drawing/2014/main" id="{CDB2079E-F1A6-144E-B95D-5FC98BC0F374}"/>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先来先服务算法</a:t>
            </a:r>
            <a:r>
              <a:rPr lang="zh-CN" altLang="en-US" dirty="0"/>
              <a:t>按进程请求访问磁盘的先后次序进行调度。</a:t>
            </a:r>
          </a:p>
          <a:p>
            <a:r>
              <a:rPr lang="zh-CN" altLang="en-US" dirty="0"/>
              <a:t>特点：简单合理，但未对寻道进行优化。</a:t>
            </a:r>
          </a:p>
        </p:txBody>
      </p:sp>
      <p:sp>
        <p:nvSpPr>
          <p:cNvPr id="2" name="灯片编号占位符 1">
            <a:extLst>
              <a:ext uri="{FF2B5EF4-FFF2-40B4-BE49-F238E27FC236}">
                <a16:creationId xmlns:a16="http://schemas.microsoft.com/office/drawing/2014/main" id="{7043FBF3-E857-152C-334E-56A5F1596DD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animEffect transition="in" filter="checkerboard(across)">
                                      <p:cBhvr>
                                        <p:cTn id="7" dur="500"/>
                                        <p:tgtEl>
                                          <p:spTgt spid="382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2979">
                                            <p:txEl>
                                              <p:pRg st="1" end="1"/>
                                            </p:txEl>
                                          </p:spTgt>
                                        </p:tgtEl>
                                        <p:attrNameLst>
                                          <p:attrName>style.visibility</p:attrName>
                                        </p:attrNameLst>
                                      </p:cBhvr>
                                      <p:to>
                                        <p:strVal val="visible"/>
                                      </p:to>
                                    </p:set>
                                    <p:animEffect transition="in" filter="checkerboard(across)">
                                      <p:cBhvr>
                                        <p:cTn id="12" dur="500"/>
                                        <p:tgtEl>
                                          <p:spTgt spid="3829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build="p"/>
    </p:bld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A857A8CA-1097-3B2D-5D81-22667CB7C22C}"/>
              </a:ext>
            </a:extLst>
          </p:cNvPr>
          <p:cNvSpPr>
            <a:spLocks noGrp="1" noChangeArrowheads="1"/>
          </p:cNvSpPr>
          <p:nvPr>
            <p:ph type="title"/>
          </p:nvPr>
        </p:nvSpPr>
        <p:spPr/>
        <p:txBody>
          <a:bodyPr/>
          <a:lstStyle/>
          <a:p>
            <a:pPr eaLnBrk="1" hangingPunct="1"/>
            <a:r>
              <a:rPr lang="zh-CN" altLang="en-US"/>
              <a:t>先来先服务调度例</a:t>
            </a:r>
          </a:p>
        </p:txBody>
      </p:sp>
      <p:sp>
        <p:nvSpPr>
          <p:cNvPr id="384003" name="Rectangle 3">
            <a:extLst>
              <a:ext uri="{FF2B5EF4-FFF2-40B4-BE49-F238E27FC236}">
                <a16:creationId xmlns:a16="http://schemas.microsoft.com/office/drawing/2014/main" id="{354B11DE-670C-8EB0-965D-1EFE33192FA6}"/>
              </a:ext>
            </a:extLst>
          </p:cNvPr>
          <p:cNvSpPr>
            <a:spLocks noGrp="1" noChangeArrowheads="1"/>
          </p:cNvSpPr>
          <p:nvPr>
            <p:ph idx="1"/>
          </p:nvPr>
        </p:nvSpPr>
        <p:spPr>
          <a:xfrm>
            <a:off x="5257800" y="5103813"/>
            <a:ext cx="3810000" cy="685800"/>
          </a:xfrm>
        </p:spPr>
        <p:txBody>
          <a:bodyPr/>
          <a:lstStyle/>
          <a:p>
            <a:pPr eaLnBrk="1" hangingPunct="1">
              <a:buFont typeface="Wingdings" pitchFamily="2" charset="2"/>
              <a:buNone/>
            </a:pPr>
            <a:r>
              <a:rPr lang="zh-CN" altLang="en-US" sz="2800"/>
              <a:t>平均寻道长度为：55.3</a:t>
            </a:r>
          </a:p>
        </p:txBody>
      </p:sp>
      <p:sp>
        <p:nvSpPr>
          <p:cNvPr id="384004" name="Rectangle 4">
            <a:extLst>
              <a:ext uri="{FF2B5EF4-FFF2-40B4-BE49-F238E27FC236}">
                <a16:creationId xmlns:a16="http://schemas.microsoft.com/office/drawing/2014/main" id="{67DFE43B-88DC-2A29-D040-A03D70123373}"/>
              </a:ext>
            </a:extLst>
          </p:cNvPr>
          <p:cNvSpPr>
            <a:spLocks noChangeArrowheads="1"/>
          </p:cNvSpPr>
          <p:nvPr/>
        </p:nvSpPr>
        <p:spPr bwMode="auto">
          <a:xfrm>
            <a:off x="2590800" y="56388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146</a:t>
            </a:r>
          </a:p>
        </p:txBody>
      </p:sp>
      <p:sp>
        <p:nvSpPr>
          <p:cNvPr id="384005" name="Rectangle 5">
            <a:extLst>
              <a:ext uri="{FF2B5EF4-FFF2-40B4-BE49-F238E27FC236}">
                <a16:creationId xmlns:a16="http://schemas.microsoft.com/office/drawing/2014/main" id="{EE8DAB5E-75E9-3B14-BE2B-E12A3DA3FA55}"/>
              </a:ext>
            </a:extLst>
          </p:cNvPr>
          <p:cNvSpPr>
            <a:spLocks noChangeArrowheads="1"/>
          </p:cNvSpPr>
          <p:nvPr/>
        </p:nvSpPr>
        <p:spPr bwMode="auto">
          <a:xfrm>
            <a:off x="457200" y="56388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184</a:t>
            </a:r>
          </a:p>
        </p:txBody>
      </p:sp>
      <p:sp>
        <p:nvSpPr>
          <p:cNvPr id="384006" name="Rectangle 6">
            <a:extLst>
              <a:ext uri="{FF2B5EF4-FFF2-40B4-BE49-F238E27FC236}">
                <a16:creationId xmlns:a16="http://schemas.microsoft.com/office/drawing/2014/main" id="{99ADB853-8C8B-4791-531C-89475DC34D56}"/>
              </a:ext>
            </a:extLst>
          </p:cNvPr>
          <p:cNvSpPr>
            <a:spLocks noChangeArrowheads="1"/>
          </p:cNvSpPr>
          <p:nvPr/>
        </p:nvSpPr>
        <p:spPr bwMode="auto">
          <a:xfrm>
            <a:off x="2590800" y="47244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10</a:t>
            </a:r>
          </a:p>
        </p:txBody>
      </p:sp>
      <p:sp>
        <p:nvSpPr>
          <p:cNvPr id="384007" name="Rectangle 7">
            <a:extLst>
              <a:ext uri="{FF2B5EF4-FFF2-40B4-BE49-F238E27FC236}">
                <a16:creationId xmlns:a16="http://schemas.microsoft.com/office/drawing/2014/main" id="{F2C521C4-0DE2-530A-8B14-CD761C2A8DF5}"/>
              </a:ext>
            </a:extLst>
          </p:cNvPr>
          <p:cNvSpPr>
            <a:spLocks noChangeArrowheads="1"/>
          </p:cNvSpPr>
          <p:nvPr/>
        </p:nvSpPr>
        <p:spPr bwMode="auto">
          <a:xfrm>
            <a:off x="457200" y="47244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150</a:t>
            </a:r>
          </a:p>
        </p:txBody>
      </p:sp>
      <p:sp>
        <p:nvSpPr>
          <p:cNvPr id="384008" name="Rectangle 8">
            <a:extLst>
              <a:ext uri="{FF2B5EF4-FFF2-40B4-BE49-F238E27FC236}">
                <a16:creationId xmlns:a16="http://schemas.microsoft.com/office/drawing/2014/main" id="{A479D066-9274-4FEF-704A-E4079B581AAC}"/>
              </a:ext>
            </a:extLst>
          </p:cNvPr>
          <p:cNvSpPr>
            <a:spLocks noChangeArrowheads="1"/>
          </p:cNvSpPr>
          <p:nvPr/>
        </p:nvSpPr>
        <p:spPr bwMode="auto">
          <a:xfrm>
            <a:off x="2590800" y="5180013"/>
            <a:ext cx="2209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112</a:t>
            </a:r>
          </a:p>
        </p:txBody>
      </p:sp>
      <p:sp>
        <p:nvSpPr>
          <p:cNvPr id="384009" name="Rectangle 9">
            <a:extLst>
              <a:ext uri="{FF2B5EF4-FFF2-40B4-BE49-F238E27FC236}">
                <a16:creationId xmlns:a16="http://schemas.microsoft.com/office/drawing/2014/main" id="{7D6E7D82-2643-B646-A741-BC743260CB65}"/>
              </a:ext>
            </a:extLst>
          </p:cNvPr>
          <p:cNvSpPr>
            <a:spLocks noChangeArrowheads="1"/>
          </p:cNvSpPr>
          <p:nvPr/>
        </p:nvSpPr>
        <p:spPr bwMode="auto">
          <a:xfrm>
            <a:off x="457200" y="5180013"/>
            <a:ext cx="2133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38</a:t>
            </a:r>
          </a:p>
        </p:txBody>
      </p:sp>
      <p:sp>
        <p:nvSpPr>
          <p:cNvPr id="384010" name="Rectangle 10">
            <a:extLst>
              <a:ext uri="{FF2B5EF4-FFF2-40B4-BE49-F238E27FC236}">
                <a16:creationId xmlns:a16="http://schemas.microsoft.com/office/drawing/2014/main" id="{4F8D2798-9712-1E67-26CF-7AD06ED35E34}"/>
              </a:ext>
            </a:extLst>
          </p:cNvPr>
          <p:cNvSpPr>
            <a:spLocks noChangeArrowheads="1"/>
          </p:cNvSpPr>
          <p:nvPr/>
        </p:nvSpPr>
        <p:spPr bwMode="auto">
          <a:xfrm>
            <a:off x="2590800" y="4260850"/>
            <a:ext cx="2209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70</a:t>
            </a:r>
          </a:p>
        </p:txBody>
      </p:sp>
      <p:sp>
        <p:nvSpPr>
          <p:cNvPr id="384011" name="Rectangle 11">
            <a:extLst>
              <a:ext uri="{FF2B5EF4-FFF2-40B4-BE49-F238E27FC236}">
                <a16:creationId xmlns:a16="http://schemas.microsoft.com/office/drawing/2014/main" id="{6E1B573A-A95E-167C-B6FA-24280DDAACE0}"/>
              </a:ext>
            </a:extLst>
          </p:cNvPr>
          <p:cNvSpPr>
            <a:spLocks noChangeArrowheads="1"/>
          </p:cNvSpPr>
          <p:nvPr/>
        </p:nvSpPr>
        <p:spPr bwMode="auto">
          <a:xfrm>
            <a:off x="457200" y="4260850"/>
            <a:ext cx="2133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160</a:t>
            </a:r>
          </a:p>
        </p:txBody>
      </p:sp>
      <p:sp>
        <p:nvSpPr>
          <p:cNvPr id="384012" name="Rectangle 12">
            <a:extLst>
              <a:ext uri="{FF2B5EF4-FFF2-40B4-BE49-F238E27FC236}">
                <a16:creationId xmlns:a16="http://schemas.microsoft.com/office/drawing/2014/main" id="{82DD4F8C-F910-4D08-AF2F-24E6FE0707E9}"/>
              </a:ext>
            </a:extLst>
          </p:cNvPr>
          <p:cNvSpPr>
            <a:spLocks noChangeArrowheads="1"/>
          </p:cNvSpPr>
          <p:nvPr/>
        </p:nvSpPr>
        <p:spPr bwMode="auto">
          <a:xfrm>
            <a:off x="2590800" y="380365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72</a:t>
            </a:r>
          </a:p>
        </p:txBody>
      </p:sp>
      <p:sp>
        <p:nvSpPr>
          <p:cNvPr id="384013" name="Rectangle 13">
            <a:extLst>
              <a:ext uri="{FF2B5EF4-FFF2-40B4-BE49-F238E27FC236}">
                <a16:creationId xmlns:a16="http://schemas.microsoft.com/office/drawing/2014/main" id="{F26934E0-4640-ED62-E625-B34520CA6B1D}"/>
              </a:ext>
            </a:extLst>
          </p:cNvPr>
          <p:cNvSpPr>
            <a:spLocks noChangeArrowheads="1"/>
          </p:cNvSpPr>
          <p:nvPr/>
        </p:nvSpPr>
        <p:spPr bwMode="auto">
          <a:xfrm>
            <a:off x="457200" y="38036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90</a:t>
            </a:r>
          </a:p>
        </p:txBody>
      </p:sp>
      <p:sp>
        <p:nvSpPr>
          <p:cNvPr id="384014" name="Rectangle 14">
            <a:extLst>
              <a:ext uri="{FF2B5EF4-FFF2-40B4-BE49-F238E27FC236}">
                <a16:creationId xmlns:a16="http://schemas.microsoft.com/office/drawing/2014/main" id="{42DA6CCA-A50A-EECC-8FAF-B6DD659DE258}"/>
              </a:ext>
            </a:extLst>
          </p:cNvPr>
          <p:cNvSpPr>
            <a:spLocks noChangeArrowheads="1"/>
          </p:cNvSpPr>
          <p:nvPr/>
        </p:nvSpPr>
        <p:spPr bwMode="auto">
          <a:xfrm>
            <a:off x="2590800" y="3348038"/>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21</a:t>
            </a:r>
          </a:p>
        </p:txBody>
      </p:sp>
      <p:sp>
        <p:nvSpPr>
          <p:cNvPr id="384015" name="Rectangle 15">
            <a:extLst>
              <a:ext uri="{FF2B5EF4-FFF2-40B4-BE49-F238E27FC236}">
                <a16:creationId xmlns:a16="http://schemas.microsoft.com/office/drawing/2014/main" id="{4CFC04B6-5466-4EAA-3E8E-550E3E95C947}"/>
              </a:ext>
            </a:extLst>
          </p:cNvPr>
          <p:cNvSpPr>
            <a:spLocks noChangeArrowheads="1"/>
          </p:cNvSpPr>
          <p:nvPr/>
        </p:nvSpPr>
        <p:spPr bwMode="auto">
          <a:xfrm>
            <a:off x="457200" y="3348038"/>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a:t>
            </a:r>
          </a:p>
        </p:txBody>
      </p:sp>
      <p:sp>
        <p:nvSpPr>
          <p:cNvPr id="384016" name="Rectangle 16">
            <a:extLst>
              <a:ext uri="{FF2B5EF4-FFF2-40B4-BE49-F238E27FC236}">
                <a16:creationId xmlns:a16="http://schemas.microsoft.com/office/drawing/2014/main" id="{55B702B8-1C42-2CC2-E9A9-7A2621D64076}"/>
              </a:ext>
            </a:extLst>
          </p:cNvPr>
          <p:cNvSpPr>
            <a:spLocks noChangeArrowheads="1"/>
          </p:cNvSpPr>
          <p:nvPr/>
        </p:nvSpPr>
        <p:spPr bwMode="auto">
          <a:xfrm>
            <a:off x="2590800" y="2892425"/>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19</a:t>
            </a:r>
          </a:p>
        </p:txBody>
      </p:sp>
      <p:sp>
        <p:nvSpPr>
          <p:cNvPr id="384017" name="Rectangle 17">
            <a:extLst>
              <a:ext uri="{FF2B5EF4-FFF2-40B4-BE49-F238E27FC236}">
                <a16:creationId xmlns:a16="http://schemas.microsoft.com/office/drawing/2014/main" id="{F5E8C753-37E7-9784-2945-EBDF59DA0575}"/>
              </a:ext>
            </a:extLst>
          </p:cNvPr>
          <p:cNvSpPr>
            <a:spLocks noChangeArrowheads="1"/>
          </p:cNvSpPr>
          <p:nvPr/>
        </p:nvSpPr>
        <p:spPr bwMode="auto">
          <a:xfrm>
            <a:off x="457200" y="2892425"/>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39</a:t>
            </a:r>
          </a:p>
        </p:txBody>
      </p:sp>
      <p:sp>
        <p:nvSpPr>
          <p:cNvPr id="384018" name="Rectangle 18">
            <a:extLst>
              <a:ext uri="{FF2B5EF4-FFF2-40B4-BE49-F238E27FC236}">
                <a16:creationId xmlns:a16="http://schemas.microsoft.com/office/drawing/2014/main" id="{9D222089-7FCE-6363-7B00-2415A73F79AB}"/>
              </a:ext>
            </a:extLst>
          </p:cNvPr>
          <p:cNvSpPr>
            <a:spLocks noChangeArrowheads="1"/>
          </p:cNvSpPr>
          <p:nvPr/>
        </p:nvSpPr>
        <p:spPr bwMode="auto">
          <a:xfrm>
            <a:off x="2590800" y="2436813"/>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a:t>
            </a:r>
          </a:p>
        </p:txBody>
      </p:sp>
      <p:sp>
        <p:nvSpPr>
          <p:cNvPr id="384019" name="Rectangle 19">
            <a:extLst>
              <a:ext uri="{FF2B5EF4-FFF2-40B4-BE49-F238E27FC236}">
                <a16:creationId xmlns:a16="http://schemas.microsoft.com/office/drawing/2014/main" id="{C1348E9E-7538-EB66-73F7-4BC958C2EEEF}"/>
              </a:ext>
            </a:extLst>
          </p:cNvPr>
          <p:cNvSpPr>
            <a:spLocks noChangeArrowheads="1"/>
          </p:cNvSpPr>
          <p:nvPr/>
        </p:nvSpPr>
        <p:spPr bwMode="auto">
          <a:xfrm>
            <a:off x="457200" y="2436813"/>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58</a:t>
            </a:r>
          </a:p>
        </p:txBody>
      </p:sp>
      <p:sp>
        <p:nvSpPr>
          <p:cNvPr id="384020" name="Rectangle 20">
            <a:extLst>
              <a:ext uri="{FF2B5EF4-FFF2-40B4-BE49-F238E27FC236}">
                <a16:creationId xmlns:a16="http://schemas.microsoft.com/office/drawing/2014/main" id="{36CDABD4-56DD-0CDE-92DF-B38C47CD0C3A}"/>
              </a:ext>
            </a:extLst>
          </p:cNvPr>
          <p:cNvSpPr>
            <a:spLocks noChangeArrowheads="1"/>
          </p:cNvSpPr>
          <p:nvPr/>
        </p:nvSpPr>
        <p:spPr bwMode="auto">
          <a:xfrm>
            <a:off x="2590800" y="19812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45</a:t>
            </a:r>
          </a:p>
        </p:txBody>
      </p:sp>
      <p:sp>
        <p:nvSpPr>
          <p:cNvPr id="19476" name="Rectangle 21">
            <a:extLst>
              <a:ext uri="{FF2B5EF4-FFF2-40B4-BE49-F238E27FC236}">
                <a16:creationId xmlns:a16="http://schemas.microsoft.com/office/drawing/2014/main" id="{07C3F50E-6A33-0036-62DD-A684C2ABFE40}"/>
              </a:ext>
            </a:extLst>
          </p:cNvPr>
          <p:cNvSpPr>
            <a:spLocks noChangeArrowheads="1"/>
          </p:cNvSpPr>
          <p:nvPr/>
        </p:nvSpPr>
        <p:spPr bwMode="auto">
          <a:xfrm>
            <a:off x="2590800" y="15240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移动距离</a:t>
            </a:r>
          </a:p>
        </p:txBody>
      </p:sp>
      <p:sp>
        <p:nvSpPr>
          <p:cNvPr id="384022" name="Rectangle 22">
            <a:extLst>
              <a:ext uri="{FF2B5EF4-FFF2-40B4-BE49-F238E27FC236}">
                <a16:creationId xmlns:a16="http://schemas.microsoft.com/office/drawing/2014/main" id="{4FE06B9E-0099-B560-25DB-169D2F82CF0C}"/>
              </a:ext>
            </a:extLst>
          </p:cNvPr>
          <p:cNvSpPr>
            <a:spLocks noChangeArrowheads="1"/>
          </p:cNvSpPr>
          <p:nvPr/>
        </p:nvSpPr>
        <p:spPr bwMode="auto">
          <a:xfrm>
            <a:off x="457200" y="19812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55</a:t>
            </a:r>
          </a:p>
        </p:txBody>
      </p:sp>
      <p:sp>
        <p:nvSpPr>
          <p:cNvPr id="19478" name="Rectangle 23">
            <a:extLst>
              <a:ext uri="{FF2B5EF4-FFF2-40B4-BE49-F238E27FC236}">
                <a16:creationId xmlns:a16="http://schemas.microsoft.com/office/drawing/2014/main" id="{94C37018-69C5-70F6-0354-EDA4549D8340}"/>
              </a:ext>
            </a:extLst>
          </p:cNvPr>
          <p:cNvSpPr>
            <a:spLocks noChangeArrowheads="1"/>
          </p:cNvSpPr>
          <p:nvPr/>
        </p:nvSpPr>
        <p:spPr bwMode="auto">
          <a:xfrm>
            <a:off x="457200" y="1524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下一磁道号</a:t>
            </a:r>
          </a:p>
        </p:txBody>
      </p:sp>
      <p:sp>
        <p:nvSpPr>
          <p:cNvPr id="19479" name="Line 24">
            <a:extLst>
              <a:ext uri="{FF2B5EF4-FFF2-40B4-BE49-F238E27FC236}">
                <a16:creationId xmlns:a16="http://schemas.microsoft.com/office/drawing/2014/main" id="{6232880F-1D4E-EDFA-DA31-22AD95B5B4EC}"/>
              </a:ext>
            </a:extLst>
          </p:cNvPr>
          <p:cNvSpPr>
            <a:spLocks noChangeShapeType="1"/>
          </p:cNvSpPr>
          <p:nvPr/>
        </p:nvSpPr>
        <p:spPr bwMode="auto">
          <a:xfrm>
            <a:off x="457200" y="1524000"/>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0" name="Line 25">
            <a:extLst>
              <a:ext uri="{FF2B5EF4-FFF2-40B4-BE49-F238E27FC236}">
                <a16:creationId xmlns:a16="http://schemas.microsoft.com/office/drawing/2014/main" id="{1D118DD0-24C0-5446-ED81-98BD66C9385B}"/>
              </a:ext>
            </a:extLst>
          </p:cNvPr>
          <p:cNvSpPr>
            <a:spLocks noChangeShapeType="1"/>
          </p:cNvSpPr>
          <p:nvPr/>
        </p:nvSpPr>
        <p:spPr bwMode="auto">
          <a:xfrm>
            <a:off x="457200" y="6094413"/>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1" name="Line 26">
            <a:extLst>
              <a:ext uri="{FF2B5EF4-FFF2-40B4-BE49-F238E27FC236}">
                <a16:creationId xmlns:a16="http://schemas.microsoft.com/office/drawing/2014/main" id="{C6797388-22F5-5747-D6EC-5DAFCC173E28}"/>
              </a:ext>
            </a:extLst>
          </p:cNvPr>
          <p:cNvSpPr>
            <a:spLocks noChangeShapeType="1"/>
          </p:cNvSpPr>
          <p:nvPr/>
        </p:nvSpPr>
        <p:spPr bwMode="auto">
          <a:xfrm>
            <a:off x="4572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2" name="Line 27">
            <a:extLst>
              <a:ext uri="{FF2B5EF4-FFF2-40B4-BE49-F238E27FC236}">
                <a16:creationId xmlns:a16="http://schemas.microsoft.com/office/drawing/2014/main" id="{D36E29FC-B415-BF63-8FDC-B4B66293BCBB}"/>
              </a:ext>
            </a:extLst>
          </p:cNvPr>
          <p:cNvSpPr>
            <a:spLocks noChangeShapeType="1"/>
          </p:cNvSpPr>
          <p:nvPr/>
        </p:nvSpPr>
        <p:spPr bwMode="auto">
          <a:xfrm>
            <a:off x="48006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3" name="Line 28">
            <a:extLst>
              <a:ext uri="{FF2B5EF4-FFF2-40B4-BE49-F238E27FC236}">
                <a16:creationId xmlns:a16="http://schemas.microsoft.com/office/drawing/2014/main" id="{EE6808C0-8AA6-E10E-79F6-926056149843}"/>
              </a:ext>
            </a:extLst>
          </p:cNvPr>
          <p:cNvSpPr>
            <a:spLocks noChangeShapeType="1"/>
          </p:cNvSpPr>
          <p:nvPr/>
        </p:nvSpPr>
        <p:spPr bwMode="auto">
          <a:xfrm>
            <a:off x="457200" y="19812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4" name="Line 29">
            <a:extLst>
              <a:ext uri="{FF2B5EF4-FFF2-40B4-BE49-F238E27FC236}">
                <a16:creationId xmlns:a16="http://schemas.microsoft.com/office/drawing/2014/main" id="{18F3484D-12C7-E92E-D146-62B1BE7B2B46}"/>
              </a:ext>
            </a:extLst>
          </p:cNvPr>
          <p:cNvSpPr>
            <a:spLocks noChangeShapeType="1"/>
          </p:cNvSpPr>
          <p:nvPr/>
        </p:nvSpPr>
        <p:spPr bwMode="auto">
          <a:xfrm>
            <a:off x="2590800" y="1524000"/>
            <a:ext cx="0" cy="45704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5" name="Line 30">
            <a:extLst>
              <a:ext uri="{FF2B5EF4-FFF2-40B4-BE49-F238E27FC236}">
                <a16:creationId xmlns:a16="http://schemas.microsoft.com/office/drawing/2014/main" id="{8B89F9ED-3721-67B9-60A7-55D172C0E666}"/>
              </a:ext>
            </a:extLst>
          </p:cNvPr>
          <p:cNvSpPr>
            <a:spLocks noChangeShapeType="1"/>
          </p:cNvSpPr>
          <p:nvPr/>
        </p:nvSpPr>
        <p:spPr bwMode="auto">
          <a:xfrm>
            <a:off x="457200" y="24368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6" name="Line 31">
            <a:extLst>
              <a:ext uri="{FF2B5EF4-FFF2-40B4-BE49-F238E27FC236}">
                <a16:creationId xmlns:a16="http://schemas.microsoft.com/office/drawing/2014/main" id="{0B0DF6F2-1940-629A-55C1-F3ED203EB0B2}"/>
              </a:ext>
            </a:extLst>
          </p:cNvPr>
          <p:cNvSpPr>
            <a:spLocks noChangeShapeType="1"/>
          </p:cNvSpPr>
          <p:nvPr/>
        </p:nvSpPr>
        <p:spPr bwMode="auto">
          <a:xfrm>
            <a:off x="457200" y="2892425"/>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7" name="Line 32">
            <a:extLst>
              <a:ext uri="{FF2B5EF4-FFF2-40B4-BE49-F238E27FC236}">
                <a16:creationId xmlns:a16="http://schemas.microsoft.com/office/drawing/2014/main" id="{CD89DE3D-E4AA-FC88-A837-F1DC3FD577AA}"/>
              </a:ext>
            </a:extLst>
          </p:cNvPr>
          <p:cNvSpPr>
            <a:spLocks noChangeShapeType="1"/>
          </p:cNvSpPr>
          <p:nvPr/>
        </p:nvSpPr>
        <p:spPr bwMode="auto">
          <a:xfrm>
            <a:off x="457200" y="3348038"/>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8" name="Line 33">
            <a:extLst>
              <a:ext uri="{FF2B5EF4-FFF2-40B4-BE49-F238E27FC236}">
                <a16:creationId xmlns:a16="http://schemas.microsoft.com/office/drawing/2014/main" id="{DE3FCB7C-A57D-84E0-A6D1-BE79BD9D5E67}"/>
              </a:ext>
            </a:extLst>
          </p:cNvPr>
          <p:cNvSpPr>
            <a:spLocks noChangeShapeType="1"/>
          </p:cNvSpPr>
          <p:nvPr/>
        </p:nvSpPr>
        <p:spPr bwMode="auto">
          <a:xfrm>
            <a:off x="457200" y="38036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9" name="Line 34">
            <a:extLst>
              <a:ext uri="{FF2B5EF4-FFF2-40B4-BE49-F238E27FC236}">
                <a16:creationId xmlns:a16="http://schemas.microsoft.com/office/drawing/2014/main" id="{6BA2BCB9-006A-EF2A-EBE4-626EED4119D6}"/>
              </a:ext>
            </a:extLst>
          </p:cNvPr>
          <p:cNvSpPr>
            <a:spLocks noChangeShapeType="1"/>
          </p:cNvSpPr>
          <p:nvPr/>
        </p:nvSpPr>
        <p:spPr bwMode="auto">
          <a:xfrm>
            <a:off x="457200" y="42608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0" name="Line 35">
            <a:extLst>
              <a:ext uri="{FF2B5EF4-FFF2-40B4-BE49-F238E27FC236}">
                <a16:creationId xmlns:a16="http://schemas.microsoft.com/office/drawing/2014/main" id="{5041EDC9-B3B1-8B23-2544-1F5B7CAE5C0A}"/>
              </a:ext>
            </a:extLst>
          </p:cNvPr>
          <p:cNvSpPr>
            <a:spLocks noChangeShapeType="1"/>
          </p:cNvSpPr>
          <p:nvPr/>
        </p:nvSpPr>
        <p:spPr bwMode="auto">
          <a:xfrm>
            <a:off x="457200" y="51800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1" name="Line 36">
            <a:extLst>
              <a:ext uri="{FF2B5EF4-FFF2-40B4-BE49-F238E27FC236}">
                <a16:creationId xmlns:a16="http://schemas.microsoft.com/office/drawing/2014/main" id="{CC5CA4F3-F72B-6846-EC6E-BF4E16502876}"/>
              </a:ext>
            </a:extLst>
          </p:cNvPr>
          <p:cNvSpPr>
            <a:spLocks noChangeShapeType="1"/>
          </p:cNvSpPr>
          <p:nvPr/>
        </p:nvSpPr>
        <p:spPr bwMode="auto">
          <a:xfrm>
            <a:off x="457200" y="47244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2" name="Line 37">
            <a:extLst>
              <a:ext uri="{FF2B5EF4-FFF2-40B4-BE49-F238E27FC236}">
                <a16:creationId xmlns:a16="http://schemas.microsoft.com/office/drawing/2014/main" id="{8D81ACD2-296D-742B-0A4A-7D7521C9EDFA}"/>
              </a:ext>
            </a:extLst>
          </p:cNvPr>
          <p:cNvSpPr>
            <a:spLocks noChangeShapeType="1"/>
          </p:cNvSpPr>
          <p:nvPr/>
        </p:nvSpPr>
        <p:spPr bwMode="auto">
          <a:xfrm>
            <a:off x="457200" y="56388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3" name="Text Box 38">
            <a:extLst>
              <a:ext uri="{FF2B5EF4-FFF2-40B4-BE49-F238E27FC236}">
                <a16:creationId xmlns:a16="http://schemas.microsoft.com/office/drawing/2014/main" id="{3C74F783-4273-0577-C401-A0651347D0A7}"/>
              </a:ext>
            </a:extLst>
          </p:cNvPr>
          <p:cNvSpPr txBox="1">
            <a:spLocks noChangeArrowheads="1"/>
          </p:cNvSpPr>
          <p:nvPr/>
        </p:nvSpPr>
        <p:spPr bwMode="auto">
          <a:xfrm>
            <a:off x="5257800" y="1554163"/>
            <a:ext cx="3733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itchFamily="2" charset="2"/>
              <a:buNone/>
            </a:pPr>
            <a:r>
              <a:rPr lang="zh-CN" altLang="en-US"/>
              <a:t>从100号磁道开始，磁盘访问请求为：55、58、39、18、90、160、150、38、184</a:t>
            </a:r>
          </a:p>
        </p:txBody>
      </p:sp>
      <p:sp>
        <p:nvSpPr>
          <p:cNvPr id="2" name="灯片编号占位符 1">
            <a:extLst>
              <a:ext uri="{FF2B5EF4-FFF2-40B4-BE49-F238E27FC236}">
                <a16:creationId xmlns:a16="http://schemas.microsoft.com/office/drawing/2014/main" id="{272363A3-9C8A-3031-D96C-E8FF9F8C0A1E}"/>
              </a:ext>
            </a:extLst>
          </p:cNvPr>
          <p:cNvSpPr>
            <a:spLocks noGrp="1"/>
          </p:cNvSpPr>
          <p:nvPr>
            <p:ph type="sldNum" sz="quarter" idx="12"/>
          </p:nvPr>
        </p:nvSpPr>
        <p:spPr/>
        <p:txBody>
          <a:bodyPr/>
          <a:lstStyle/>
          <a:p>
            <a:fld id="{4093CC90-4002-504C-BD88-C9A1D374048E}" type="slidenum">
              <a:rPr lang="zh-CN" altLang="en-US" smtClean="0"/>
              <a:pPr/>
              <a:t>129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84022"/>
                                        </p:tgtEl>
                                        <p:attrNameLst>
                                          <p:attrName>style.visibility</p:attrName>
                                        </p:attrNameLst>
                                      </p:cBhvr>
                                      <p:to>
                                        <p:strVal val="visible"/>
                                      </p:to>
                                    </p:set>
                                    <p:animEffect transition="in" filter="barn(outHorizontal)">
                                      <p:cBhvr>
                                        <p:cTn id="7" dur="500"/>
                                        <p:tgtEl>
                                          <p:spTgt spid="3840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84020"/>
                                        </p:tgtEl>
                                        <p:attrNameLst>
                                          <p:attrName>style.visibility</p:attrName>
                                        </p:attrNameLst>
                                      </p:cBhvr>
                                      <p:to>
                                        <p:strVal val="visible"/>
                                      </p:to>
                                    </p:set>
                                    <p:animEffect transition="in" filter="barn(outHorizontal)">
                                      <p:cBhvr>
                                        <p:cTn id="12" dur="500"/>
                                        <p:tgtEl>
                                          <p:spTgt spid="3840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84019"/>
                                        </p:tgtEl>
                                        <p:attrNameLst>
                                          <p:attrName>style.visibility</p:attrName>
                                        </p:attrNameLst>
                                      </p:cBhvr>
                                      <p:to>
                                        <p:strVal val="visible"/>
                                      </p:to>
                                    </p:set>
                                    <p:animEffect transition="in" filter="barn(outHorizontal)">
                                      <p:cBhvr>
                                        <p:cTn id="17" dur="500"/>
                                        <p:tgtEl>
                                          <p:spTgt spid="3840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84018"/>
                                        </p:tgtEl>
                                        <p:attrNameLst>
                                          <p:attrName>style.visibility</p:attrName>
                                        </p:attrNameLst>
                                      </p:cBhvr>
                                      <p:to>
                                        <p:strVal val="visible"/>
                                      </p:to>
                                    </p:set>
                                    <p:animEffect transition="in" filter="barn(outHorizontal)">
                                      <p:cBhvr>
                                        <p:cTn id="22" dur="500"/>
                                        <p:tgtEl>
                                          <p:spTgt spid="3840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84017"/>
                                        </p:tgtEl>
                                        <p:attrNameLst>
                                          <p:attrName>style.visibility</p:attrName>
                                        </p:attrNameLst>
                                      </p:cBhvr>
                                      <p:to>
                                        <p:strVal val="visible"/>
                                      </p:to>
                                    </p:set>
                                    <p:animEffect transition="in" filter="barn(outHorizontal)">
                                      <p:cBhvr>
                                        <p:cTn id="27" dur="500"/>
                                        <p:tgtEl>
                                          <p:spTgt spid="3840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84016"/>
                                        </p:tgtEl>
                                        <p:attrNameLst>
                                          <p:attrName>style.visibility</p:attrName>
                                        </p:attrNameLst>
                                      </p:cBhvr>
                                      <p:to>
                                        <p:strVal val="visible"/>
                                      </p:to>
                                    </p:set>
                                    <p:animEffect transition="in" filter="barn(outHorizontal)">
                                      <p:cBhvr>
                                        <p:cTn id="32" dur="500"/>
                                        <p:tgtEl>
                                          <p:spTgt spid="3840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84015"/>
                                        </p:tgtEl>
                                        <p:attrNameLst>
                                          <p:attrName>style.visibility</p:attrName>
                                        </p:attrNameLst>
                                      </p:cBhvr>
                                      <p:to>
                                        <p:strVal val="visible"/>
                                      </p:to>
                                    </p:set>
                                    <p:animEffect transition="in" filter="barn(outHorizontal)">
                                      <p:cBhvr>
                                        <p:cTn id="37" dur="500"/>
                                        <p:tgtEl>
                                          <p:spTgt spid="3840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84014"/>
                                        </p:tgtEl>
                                        <p:attrNameLst>
                                          <p:attrName>style.visibility</p:attrName>
                                        </p:attrNameLst>
                                      </p:cBhvr>
                                      <p:to>
                                        <p:strVal val="visible"/>
                                      </p:to>
                                    </p:set>
                                    <p:animEffect transition="in" filter="barn(outHorizontal)">
                                      <p:cBhvr>
                                        <p:cTn id="42" dur="500"/>
                                        <p:tgtEl>
                                          <p:spTgt spid="3840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84013"/>
                                        </p:tgtEl>
                                        <p:attrNameLst>
                                          <p:attrName>style.visibility</p:attrName>
                                        </p:attrNameLst>
                                      </p:cBhvr>
                                      <p:to>
                                        <p:strVal val="visible"/>
                                      </p:to>
                                    </p:set>
                                    <p:animEffect transition="in" filter="barn(outHorizontal)">
                                      <p:cBhvr>
                                        <p:cTn id="47" dur="500"/>
                                        <p:tgtEl>
                                          <p:spTgt spid="3840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84012"/>
                                        </p:tgtEl>
                                        <p:attrNameLst>
                                          <p:attrName>style.visibility</p:attrName>
                                        </p:attrNameLst>
                                      </p:cBhvr>
                                      <p:to>
                                        <p:strVal val="visible"/>
                                      </p:to>
                                    </p:set>
                                    <p:animEffect transition="in" filter="barn(outHorizontal)">
                                      <p:cBhvr>
                                        <p:cTn id="52" dur="500"/>
                                        <p:tgtEl>
                                          <p:spTgt spid="3840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84011"/>
                                        </p:tgtEl>
                                        <p:attrNameLst>
                                          <p:attrName>style.visibility</p:attrName>
                                        </p:attrNameLst>
                                      </p:cBhvr>
                                      <p:to>
                                        <p:strVal val="visible"/>
                                      </p:to>
                                    </p:set>
                                    <p:animEffect transition="in" filter="barn(outHorizontal)">
                                      <p:cBhvr>
                                        <p:cTn id="57" dur="500"/>
                                        <p:tgtEl>
                                          <p:spTgt spid="3840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84010"/>
                                        </p:tgtEl>
                                        <p:attrNameLst>
                                          <p:attrName>style.visibility</p:attrName>
                                        </p:attrNameLst>
                                      </p:cBhvr>
                                      <p:to>
                                        <p:strVal val="visible"/>
                                      </p:to>
                                    </p:set>
                                    <p:animEffect transition="in" filter="barn(outHorizontal)">
                                      <p:cBhvr>
                                        <p:cTn id="62" dur="500"/>
                                        <p:tgtEl>
                                          <p:spTgt spid="38401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84007"/>
                                        </p:tgtEl>
                                        <p:attrNameLst>
                                          <p:attrName>style.visibility</p:attrName>
                                        </p:attrNameLst>
                                      </p:cBhvr>
                                      <p:to>
                                        <p:strVal val="visible"/>
                                      </p:to>
                                    </p:set>
                                    <p:animEffect transition="in" filter="barn(outHorizontal)">
                                      <p:cBhvr>
                                        <p:cTn id="67" dur="500"/>
                                        <p:tgtEl>
                                          <p:spTgt spid="38400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84006"/>
                                        </p:tgtEl>
                                        <p:attrNameLst>
                                          <p:attrName>style.visibility</p:attrName>
                                        </p:attrNameLst>
                                      </p:cBhvr>
                                      <p:to>
                                        <p:strVal val="visible"/>
                                      </p:to>
                                    </p:set>
                                    <p:animEffect transition="in" filter="barn(outHorizontal)">
                                      <p:cBhvr>
                                        <p:cTn id="72" dur="500"/>
                                        <p:tgtEl>
                                          <p:spTgt spid="38400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84009"/>
                                        </p:tgtEl>
                                        <p:attrNameLst>
                                          <p:attrName>style.visibility</p:attrName>
                                        </p:attrNameLst>
                                      </p:cBhvr>
                                      <p:to>
                                        <p:strVal val="visible"/>
                                      </p:to>
                                    </p:set>
                                    <p:animEffect transition="in" filter="barn(outHorizontal)">
                                      <p:cBhvr>
                                        <p:cTn id="77" dur="500"/>
                                        <p:tgtEl>
                                          <p:spTgt spid="38400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84008"/>
                                        </p:tgtEl>
                                        <p:attrNameLst>
                                          <p:attrName>style.visibility</p:attrName>
                                        </p:attrNameLst>
                                      </p:cBhvr>
                                      <p:to>
                                        <p:strVal val="visible"/>
                                      </p:to>
                                    </p:set>
                                    <p:animEffect transition="in" filter="barn(outHorizontal)">
                                      <p:cBhvr>
                                        <p:cTn id="82" dur="500"/>
                                        <p:tgtEl>
                                          <p:spTgt spid="38400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84005"/>
                                        </p:tgtEl>
                                        <p:attrNameLst>
                                          <p:attrName>style.visibility</p:attrName>
                                        </p:attrNameLst>
                                      </p:cBhvr>
                                      <p:to>
                                        <p:strVal val="visible"/>
                                      </p:to>
                                    </p:set>
                                    <p:animEffect transition="in" filter="barn(outHorizontal)">
                                      <p:cBhvr>
                                        <p:cTn id="87" dur="500"/>
                                        <p:tgtEl>
                                          <p:spTgt spid="38400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84004"/>
                                        </p:tgtEl>
                                        <p:attrNameLst>
                                          <p:attrName>style.visibility</p:attrName>
                                        </p:attrNameLst>
                                      </p:cBhvr>
                                      <p:to>
                                        <p:strVal val="visible"/>
                                      </p:to>
                                    </p:set>
                                    <p:animEffect transition="in" filter="barn(outHorizontal)">
                                      <p:cBhvr>
                                        <p:cTn id="92" dur="500"/>
                                        <p:tgtEl>
                                          <p:spTgt spid="38400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84003">
                                            <p:txEl>
                                              <p:pRg st="0" end="0"/>
                                            </p:txEl>
                                          </p:spTgt>
                                        </p:tgtEl>
                                        <p:attrNameLst>
                                          <p:attrName>style.visibility</p:attrName>
                                        </p:attrNameLst>
                                      </p:cBhvr>
                                      <p:to>
                                        <p:strVal val="visible"/>
                                      </p:to>
                                    </p:set>
                                    <p:animEffect transition="in" filter="barn(outHorizontal)">
                                      <p:cBhvr>
                                        <p:cTn id="97" dur="500"/>
                                        <p:tgtEl>
                                          <p:spTgt spid="3840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P spid="384004" grpId="0"/>
      <p:bldP spid="384005" grpId="0"/>
      <p:bldP spid="384006" grpId="0"/>
      <p:bldP spid="384007" grpId="0"/>
      <p:bldP spid="384008" grpId="0"/>
      <p:bldP spid="384009" grpId="0"/>
      <p:bldP spid="384010" grpId="0"/>
      <p:bldP spid="384011" grpId="0"/>
      <p:bldP spid="384012" grpId="0"/>
      <p:bldP spid="384013" grpId="0"/>
      <p:bldP spid="384014" grpId="0"/>
      <p:bldP spid="384015" grpId="0"/>
      <p:bldP spid="384016" grpId="0"/>
      <p:bldP spid="384017" grpId="0"/>
      <p:bldP spid="384018" grpId="0"/>
      <p:bldP spid="384019" grpId="0"/>
      <p:bldP spid="384020" grpId="0"/>
      <p:bldP spid="38402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42E8E011-53FA-7864-B9CA-394D426985B5}"/>
              </a:ext>
            </a:extLst>
          </p:cNvPr>
          <p:cNvSpPr>
            <a:spLocks noGrp="1" noChangeArrowheads="1"/>
          </p:cNvSpPr>
          <p:nvPr>
            <p:ph type="title"/>
          </p:nvPr>
        </p:nvSpPr>
        <p:spPr>
          <a:xfrm>
            <a:off x="1042988" y="225431"/>
            <a:ext cx="7850187" cy="746125"/>
          </a:xfrm>
        </p:spPr>
        <p:txBody>
          <a:bodyPr/>
          <a:lstStyle/>
          <a:p>
            <a:r>
              <a:rPr lang="zh-CN" altLang="en-US" dirty="0"/>
              <a:t>最短寻道时间优先调度</a:t>
            </a:r>
          </a:p>
        </p:txBody>
      </p:sp>
      <p:sp>
        <p:nvSpPr>
          <p:cNvPr id="385027" name="Rectangle 3">
            <a:extLst>
              <a:ext uri="{FF2B5EF4-FFF2-40B4-BE49-F238E27FC236}">
                <a16:creationId xmlns:a16="http://schemas.microsoft.com/office/drawing/2014/main" id="{7219D25E-6747-B606-7BBB-C638B24DE441}"/>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最短寻道时间优先</a:t>
            </a:r>
            <a:r>
              <a:rPr lang="zh-CN" altLang="en-US" dirty="0"/>
              <a:t>算法选择从当前磁头位置所需寻道时间最短的请求作为下一次服务的对象。</a:t>
            </a:r>
          </a:p>
          <a:p>
            <a:r>
              <a:rPr lang="zh-CN" altLang="en-US" dirty="0"/>
              <a:t>特点：寻道性能比</a:t>
            </a:r>
            <a:r>
              <a:rPr lang="en-US" altLang="zh-CN" dirty="0"/>
              <a:t>FCFS</a:t>
            </a:r>
            <a:r>
              <a:rPr lang="zh-CN" altLang="en-US" dirty="0"/>
              <a:t>好，但不能保证平均寻道时间最短，还可能会使某些请求总也得不到服务。</a:t>
            </a:r>
          </a:p>
          <a:p>
            <a:endParaRPr lang="zh-CN" altLang="en-US" dirty="0"/>
          </a:p>
        </p:txBody>
      </p:sp>
      <p:sp>
        <p:nvSpPr>
          <p:cNvPr id="2" name="灯片编号占位符 1">
            <a:extLst>
              <a:ext uri="{FF2B5EF4-FFF2-40B4-BE49-F238E27FC236}">
                <a16:creationId xmlns:a16="http://schemas.microsoft.com/office/drawing/2014/main" id="{CCB18209-1A37-707C-F247-79153C09FE7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checkerboard(across)">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checkerboard(across)">
                                      <p:cBhvr>
                                        <p:cTn id="12" dur="500"/>
                                        <p:tgtEl>
                                          <p:spTgt spid="3850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2D93AFF-72C7-8C68-381D-4A66C83FF382}"/>
              </a:ext>
            </a:extLst>
          </p:cNvPr>
          <p:cNvSpPr>
            <a:spLocks noGrp="1" noChangeArrowheads="1"/>
          </p:cNvSpPr>
          <p:nvPr>
            <p:ph type="title"/>
          </p:nvPr>
        </p:nvSpPr>
        <p:spPr/>
        <p:txBody>
          <a:bodyPr/>
          <a:lstStyle/>
          <a:p>
            <a:pPr eaLnBrk="1" hangingPunct="1"/>
            <a:r>
              <a:rPr lang="zh-CN" altLang="en-US"/>
              <a:t>最短寻道时间优先调度例</a:t>
            </a:r>
          </a:p>
        </p:txBody>
      </p:sp>
      <p:sp>
        <p:nvSpPr>
          <p:cNvPr id="386051" name="Rectangle 3">
            <a:extLst>
              <a:ext uri="{FF2B5EF4-FFF2-40B4-BE49-F238E27FC236}">
                <a16:creationId xmlns:a16="http://schemas.microsoft.com/office/drawing/2014/main" id="{B2065BC5-BB6B-8D1A-EC72-4FE54F9FD24B}"/>
              </a:ext>
            </a:extLst>
          </p:cNvPr>
          <p:cNvSpPr>
            <a:spLocks noGrp="1" noChangeArrowheads="1"/>
          </p:cNvSpPr>
          <p:nvPr>
            <p:ph idx="1"/>
          </p:nvPr>
        </p:nvSpPr>
        <p:spPr>
          <a:xfrm>
            <a:off x="5181600" y="5029200"/>
            <a:ext cx="3810000" cy="685800"/>
          </a:xfrm>
        </p:spPr>
        <p:txBody>
          <a:bodyPr/>
          <a:lstStyle/>
          <a:p>
            <a:pPr eaLnBrk="1" hangingPunct="1">
              <a:buFont typeface="Wingdings" pitchFamily="2" charset="2"/>
              <a:buNone/>
            </a:pPr>
            <a:r>
              <a:rPr lang="zh-CN" altLang="en-US" sz="2800"/>
              <a:t>平均寻道长度为：27.6</a:t>
            </a:r>
          </a:p>
        </p:txBody>
      </p:sp>
      <p:sp>
        <p:nvSpPr>
          <p:cNvPr id="386052" name="Rectangle 4">
            <a:extLst>
              <a:ext uri="{FF2B5EF4-FFF2-40B4-BE49-F238E27FC236}">
                <a16:creationId xmlns:a16="http://schemas.microsoft.com/office/drawing/2014/main" id="{030BDCFF-8F5F-484E-5D69-D5FC0F631AC5}"/>
              </a:ext>
            </a:extLst>
          </p:cNvPr>
          <p:cNvSpPr>
            <a:spLocks noChangeArrowheads="1"/>
          </p:cNvSpPr>
          <p:nvPr/>
        </p:nvSpPr>
        <p:spPr bwMode="auto">
          <a:xfrm>
            <a:off x="2743200" y="56388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24</a:t>
            </a:r>
          </a:p>
        </p:txBody>
      </p:sp>
      <p:sp>
        <p:nvSpPr>
          <p:cNvPr id="386053" name="Rectangle 5">
            <a:extLst>
              <a:ext uri="{FF2B5EF4-FFF2-40B4-BE49-F238E27FC236}">
                <a16:creationId xmlns:a16="http://schemas.microsoft.com/office/drawing/2014/main" id="{61F3B349-781F-AC14-0366-B1D37E73571A}"/>
              </a:ext>
            </a:extLst>
          </p:cNvPr>
          <p:cNvSpPr>
            <a:spLocks noChangeArrowheads="1"/>
          </p:cNvSpPr>
          <p:nvPr/>
        </p:nvSpPr>
        <p:spPr bwMode="auto">
          <a:xfrm>
            <a:off x="609600" y="56388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184</a:t>
            </a:r>
          </a:p>
        </p:txBody>
      </p:sp>
      <p:sp>
        <p:nvSpPr>
          <p:cNvPr id="386054" name="Rectangle 6">
            <a:extLst>
              <a:ext uri="{FF2B5EF4-FFF2-40B4-BE49-F238E27FC236}">
                <a16:creationId xmlns:a16="http://schemas.microsoft.com/office/drawing/2014/main" id="{7E9C864E-B5A3-F08C-3BD0-2D7FC7822C74}"/>
              </a:ext>
            </a:extLst>
          </p:cNvPr>
          <p:cNvSpPr>
            <a:spLocks noChangeArrowheads="1"/>
          </p:cNvSpPr>
          <p:nvPr/>
        </p:nvSpPr>
        <p:spPr bwMode="auto">
          <a:xfrm>
            <a:off x="2743200" y="47244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132</a:t>
            </a:r>
          </a:p>
        </p:txBody>
      </p:sp>
      <p:sp>
        <p:nvSpPr>
          <p:cNvPr id="386055" name="Rectangle 7">
            <a:extLst>
              <a:ext uri="{FF2B5EF4-FFF2-40B4-BE49-F238E27FC236}">
                <a16:creationId xmlns:a16="http://schemas.microsoft.com/office/drawing/2014/main" id="{9FE22028-D107-EE2A-88EB-99F7ECAE3726}"/>
              </a:ext>
            </a:extLst>
          </p:cNvPr>
          <p:cNvSpPr>
            <a:spLocks noChangeArrowheads="1"/>
          </p:cNvSpPr>
          <p:nvPr/>
        </p:nvSpPr>
        <p:spPr bwMode="auto">
          <a:xfrm>
            <a:off x="609600" y="47244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150</a:t>
            </a:r>
          </a:p>
        </p:txBody>
      </p:sp>
      <p:sp>
        <p:nvSpPr>
          <p:cNvPr id="386056" name="Rectangle 8">
            <a:extLst>
              <a:ext uri="{FF2B5EF4-FFF2-40B4-BE49-F238E27FC236}">
                <a16:creationId xmlns:a16="http://schemas.microsoft.com/office/drawing/2014/main" id="{B1BAA4BE-025A-FD5D-EBE8-5CECE3E0D654}"/>
              </a:ext>
            </a:extLst>
          </p:cNvPr>
          <p:cNvSpPr>
            <a:spLocks noChangeArrowheads="1"/>
          </p:cNvSpPr>
          <p:nvPr/>
        </p:nvSpPr>
        <p:spPr bwMode="auto">
          <a:xfrm>
            <a:off x="2743200" y="5180013"/>
            <a:ext cx="2209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10</a:t>
            </a:r>
          </a:p>
        </p:txBody>
      </p:sp>
      <p:sp>
        <p:nvSpPr>
          <p:cNvPr id="386057" name="Rectangle 9">
            <a:extLst>
              <a:ext uri="{FF2B5EF4-FFF2-40B4-BE49-F238E27FC236}">
                <a16:creationId xmlns:a16="http://schemas.microsoft.com/office/drawing/2014/main" id="{B0EB06D3-D1E2-44A1-5B1C-EEB47BAABCAA}"/>
              </a:ext>
            </a:extLst>
          </p:cNvPr>
          <p:cNvSpPr>
            <a:spLocks noChangeArrowheads="1"/>
          </p:cNvSpPr>
          <p:nvPr/>
        </p:nvSpPr>
        <p:spPr bwMode="auto">
          <a:xfrm>
            <a:off x="609600" y="5180013"/>
            <a:ext cx="2133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160</a:t>
            </a:r>
          </a:p>
        </p:txBody>
      </p:sp>
      <p:sp>
        <p:nvSpPr>
          <p:cNvPr id="386058" name="Rectangle 10">
            <a:extLst>
              <a:ext uri="{FF2B5EF4-FFF2-40B4-BE49-F238E27FC236}">
                <a16:creationId xmlns:a16="http://schemas.microsoft.com/office/drawing/2014/main" id="{65CAB8EE-088C-8159-2312-6C9DE41B5F43}"/>
              </a:ext>
            </a:extLst>
          </p:cNvPr>
          <p:cNvSpPr>
            <a:spLocks noChangeArrowheads="1"/>
          </p:cNvSpPr>
          <p:nvPr/>
        </p:nvSpPr>
        <p:spPr bwMode="auto">
          <a:xfrm>
            <a:off x="2743200" y="4260850"/>
            <a:ext cx="2209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20</a:t>
            </a:r>
          </a:p>
        </p:txBody>
      </p:sp>
      <p:sp>
        <p:nvSpPr>
          <p:cNvPr id="386059" name="Rectangle 11">
            <a:extLst>
              <a:ext uri="{FF2B5EF4-FFF2-40B4-BE49-F238E27FC236}">
                <a16:creationId xmlns:a16="http://schemas.microsoft.com/office/drawing/2014/main" id="{9E351292-9D79-F384-8908-A556A6736A75}"/>
              </a:ext>
            </a:extLst>
          </p:cNvPr>
          <p:cNvSpPr>
            <a:spLocks noChangeArrowheads="1"/>
          </p:cNvSpPr>
          <p:nvPr/>
        </p:nvSpPr>
        <p:spPr bwMode="auto">
          <a:xfrm>
            <a:off x="609600" y="4260850"/>
            <a:ext cx="2133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a:t>
            </a:r>
          </a:p>
        </p:txBody>
      </p:sp>
      <p:sp>
        <p:nvSpPr>
          <p:cNvPr id="386060" name="Rectangle 12">
            <a:extLst>
              <a:ext uri="{FF2B5EF4-FFF2-40B4-BE49-F238E27FC236}">
                <a16:creationId xmlns:a16="http://schemas.microsoft.com/office/drawing/2014/main" id="{2F54EC99-7056-8AFB-2143-EBBA705EDAC0}"/>
              </a:ext>
            </a:extLst>
          </p:cNvPr>
          <p:cNvSpPr>
            <a:spLocks noChangeArrowheads="1"/>
          </p:cNvSpPr>
          <p:nvPr/>
        </p:nvSpPr>
        <p:spPr bwMode="auto">
          <a:xfrm>
            <a:off x="2743200" y="380365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a:t>
            </a:r>
          </a:p>
        </p:txBody>
      </p:sp>
      <p:sp>
        <p:nvSpPr>
          <p:cNvPr id="386061" name="Rectangle 13">
            <a:extLst>
              <a:ext uri="{FF2B5EF4-FFF2-40B4-BE49-F238E27FC236}">
                <a16:creationId xmlns:a16="http://schemas.microsoft.com/office/drawing/2014/main" id="{65D3686B-4D11-CD3A-550B-BE3D109CAAD0}"/>
              </a:ext>
            </a:extLst>
          </p:cNvPr>
          <p:cNvSpPr>
            <a:spLocks noChangeArrowheads="1"/>
          </p:cNvSpPr>
          <p:nvPr/>
        </p:nvSpPr>
        <p:spPr bwMode="auto">
          <a:xfrm>
            <a:off x="609600" y="38036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38</a:t>
            </a:r>
          </a:p>
        </p:txBody>
      </p:sp>
      <p:sp>
        <p:nvSpPr>
          <p:cNvPr id="386062" name="Rectangle 14">
            <a:extLst>
              <a:ext uri="{FF2B5EF4-FFF2-40B4-BE49-F238E27FC236}">
                <a16:creationId xmlns:a16="http://schemas.microsoft.com/office/drawing/2014/main" id="{9CAE1B1D-780B-0386-4612-E778101E6A2E}"/>
              </a:ext>
            </a:extLst>
          </p:cNvPr>
          <p:cNvSpPr>
            <a:spLocks noChangeArrowheads="1"/>
          </p:cNvSpPr>
          <p:nvPr/>
        </p:nvSpPr>
        <p:spPr bwMode="auto">
          <a:xfrm>
            <a:off x="2743200" y="3348038"/>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a:t>
            </a:r>
          </a:p>
        </p:txBody>
      </p:sp>
      <p:sp>
        <p:nvSpPr>
          <p:cNvPr id="386063" name="Rectangle 15">
            <a:extLst>
              <a:ext uri="{FF2B5EF4-FFF2-40B4-BE49-F238E27FC236}">
                <a16:creationId xmlns:a16="http://schemas.microsoft.com/office/drawing/2014/main" id="{768EB96A-E888-E614-13E0-30D887B505E5}"/>
              </a:ext>
            </a:extLst>
          </p:cNvPr>
          <p:cNvSpPr>
            <a:spLocks noChangeArrowheads="1"/>
          </p:cNvSpPr>
          <p:nvPr/>
        </p:nvSpPr>
        <p:spPr bwMode="auto">
          <a:xfrm>
            <a:off x="609600" y="3348038"/>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39</a:t>
            </a:r>
          </a:p>
        </p:txBody>
      </p:sp>
      <p:sp>
        <p:nvSpPr>
          <p:cNvPr id="386064" name="Rectangle 16">
            <a:extLst>
              <a:ext uri="{FF2B5EF4-FFF2-40B4-BE49-F238E27FC236}">
                <a16:creationId xmlns:a16="http://schemas.microsoft.com/office/drawing/2014/main" id="{93D59800-244E-FE90-E138-2803E054CE9A}"/>
              </a:ext>
            </a:extLst>
          </p:cNvPr>
          <p:cNvSpPr>
            <a:spLocks noChangeArrowheads="1"/>
          </p:cNvSpPr>
          <p:nvPr/>
        </p:nvSpPr>
        <p:spPr bwMode="auto">
          <a:xfrm>
            <a:off x="2743200" y="2892425"/>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a:t>
            </a:r>
          </a:p>
        </p:txBody>
      </p:sp>
      <p:sp>
        <p:nvSpPr>
          <p:cNvPr id="386065" name="Rectangle 17">
            <a:extLst>
              <a:ext uri="{FF2B5EF4-FFF2-40B4-BE49-F238E27FC236}">
                <a16:creationId xmlns:a16="http://schemas.microsoft.com/office/drawing/2014/main" id="{ABA856A9-0D70-5392-334D-15E25E66CB0E}"/>
              </a:ext>
            </a:extLst>
          </p:cNvPr>
          <p:cNvSpPr>
            <a:spLocks noChangeArrowheads="1"/>
          </p:cNvSpPr>
          <p:nvPr/>
        </p:nvSpPr>
        <p:spPr bwMode="auto">
          <a:xfrm>
            <a:off x="609600" y="2892425"/>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55</a:t>
            </a:r>
          </a:p>
        </p:txBody>
      </p:sp>
      <p:sp>
        <p:nvSpPr>
          <p:cNvPr id="386066" name="Rectangle 18">
            <a:extLst>
              <a:ext uri="{FF2B5EF4-FFF2-40B4-BE49-F238E27FC236}">
                <a16:creationId xmlns:a16="http://schemas.microsoft.com/office/drawing/2014/main" id="{8423F062-FDA9-1AC7-5EFB-8FA07E31CA71}"/>
              </a:ext>
            </a:extLst>
          </p:cNvPr>
          <p:cNvSpPr>
            <a:spLocks noChangeArrowheads="1"/>
          </p:cNvSpPr>
          <p:nvPr/>
        </p:nvSpPr>
        <p:spPr bwMode="auto">
          <a:xfrm>
            <a:off x="2743200" y="2436813"/>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32</a:t>
            </a:r>
          </a:p>
        </p:txBody>
      </p:sp>
      <p:sp>
        <p:nvSpPr>
          <p:cNvPr id="386067" name="Rectangle 19">
            <a:extLst>
              <a:ext uri="{FF2B5EF4-FFF2-40B4-BE49-F238E27FC236}">
                <a16:creationId xmlns:a16="http://schemas.microsoft.com/office/drawing/2014/main" id="{D85A8BAD-F041-EF9E-8CB0-AFEAE1119E27}"/>
              </a:ext>
            </a:extLst>
          </p:cNvPr>
          <p:cNvSpPr>
            <a:spLocks noChangeArrowheads="1"/>
          </p:cNvSpPr>
          <p:nvPr/>
        </p:nvSpPr>
        <p:spPr bwMode="auto">
          <a:xfrm>
            <a:off x="609600" y="2436813"/>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58</a:t>
            </a:r>
          </a:p>
        </p:txBody>
      </p:sp>
      <p:sp>
        <p:nvSpPr>
          <p:cNvPr id="386068" name="Rectangle 20">
            <a:extLst>
              <a:ext uri="{FF2B5EF4-FFF2-40B4-BE49-F238E27FC236}">
                <a16:creationId xmlns:a16="http://schemas.microsoft.com/office/drawing/2014/main" id="{C559EC99-0360-D3C8-B513-7651B28BF1CB}"/>
              </a:ext>
            </a:extLst>
          </p:cNvPr>
          <p:cNvSpPr>
            <a:spLocks noChangeArrowheads="1"/>
          </p:cNvSpPr>
          <p:nvPr/>
        </p:nvSpPr>
        <p:spPr bwMode="auto">
          <a:xfrm>
            <a:off x="2743200" y="19812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10</a:t>
            </a:r>
          </a:p>
        </p:txBody>
      </p:sp>
      <p:sp>
        <p:nvSpPr>
          <p:cNvPr id="21524" name="Rectangle 21">
            <a:extLst>
              <a:ext uri="{FF2B5EF4-FFF2-40B4-BE49-F238E27FC236}">
                <a16:creationId xmlns:a16="http://schemas.microsoft.com/office/drawing/2014/main" id="{AAAA569D-9A7E-7890-12CA-117366E64F4C}"/>
              </a:ext>
            </a:extLst>
          </p:cNvPr>
          <p:cNvSpPr>
            <a:spLocks noChangeArrowheads="1"/>
          </p:cNvSpPr>
          <p:nvPr/>
        </p:nvSpPr>
        <p:spPr bwMode="auto">
          <a:xfrm>
            <a:off x="2743200" y="15240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移动距离</a:t>
            </a:r>
          </a:p>
        </p:txBody>
      </p:sp>
      <p:sp>
        <p:nvSpPr>
          <p:cNvPr id="386070" name="Rectangle 22">
            <a:extLst>
              <a:ext uri="{FF2B5EF4-FFF2-40B4-BE49-F238E27FC236}">
                <a16:creationId xmlns:a16="http://schemas.microsoft.com/office/drawing/2014/main" id="{DDB97903-7EB1-7F0C-C9A2-64E52584ADEA}"/>
              </a:ext>
            </a:extLst>
          </p:cNvPr>
          <p:cNvSpPr>
            <a:spLocks noChangeArrowheads="1"/>
          </p:cNvSpPr>
          <p:nvPr/>
        </p:nvSpPr>
        <p:spPr bwMode="auto">
          <a:xfrm>
            <a:off x="609600" y="19812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90</a:t>
            </a:r>
          </a:p>
        </p:txBody>
      </p:sp>
      <p:sp>
        <p:nvSpPr>
          <p:cNvPr id="21526" name="Rectangle 23">
            <a:extLst>
              <a:ext uri="{FF2B5EF4-FFF2-40B4-BE49-F238E27FC236}">
                <a16:creationId xmlns:a16="http://schemas.microsoft.com/office/drawing/2014/main" id="{A29EAD8B-2D3F-A82B-9521-D469EB745AA1}"/>
              </a:ext>
            </a:extLst>
          </p:cNvPr>
          <p:cNvSpPr>
            <a:spLocks noChangeArrowheads="1"/>
          </p:cNvSpPr>
          <p:nvPr/>
        </p:nvSpPr>
        <p:spPr bwMode="auto">
          <a:xfrm>
            <a:off x="609600" y="1524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下一磁道号</a:t>
            </a:r>
          </a:p>
        </p:txBody>
      </p:sp>
      <p:sp>
        <p:nvSpPr>
          <p:cNvPr id="21527" name="Line 24">
            <a:extLst>
              <a:ext uri="{FF2B5EF4-FFF2-40B4-BE49-F238E27FC236}">
                <a16:creationId xmlns:a16="http://schemas.microsoft.com/office/drawing/2014/main" id="{83769431-3089-28F0-9E05-74A1B8C5D3BC}"/>
              </a:ext>
            </a:extLst>
          </p:cNvPr>
          <p:cNvSpPr>
            <a:spLocks noChangeShapeType="1"/>
          </p:cNvSpPr>
          <p:nvPr/>
        </p:nvSpPr>
        <p:spPr bwMode="auto">
          <a:xfrm>
            <a:off x="609600" y="1524000"/>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8" name="Line 25">
            <a:extLst>
              <a:ext uri="{FF2B5EF4-FFF2-40B4-BE49-F238E27FC236}">
                <a16:creationId xmlns:a16="http://schemas.microsoft.com/office/drawing/2014/main" id="{D1A26997-5B07-07A6-1CAD-A86FAD4EA8CB}"/>
              </a:ext>
            </a:extLst>
          </p:cNvPr>
          <p:cNvSpPr>
            <a:spLocks noChangeShapeType="1"/>
          </p:cNvSpPr>
          <p:nvPr/>
        </p:nvSpPr>
        <p:spPr bwMode="auto">
          <a:xfrm>
            <a:off x="609600" y="6094413"/>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9" name="Line 26">
            <a:extLst>
              <a:ext uri="{FF2B5EF4-FFF2-40B4-BE49-F238E27FC236}">
                <a16:creationId xmlns:a16="http://schemas.microsoft.com/office/drawing/2014/main" id="{9AD2BE1D-AE49-DE78-5621-2383ACBB9579}"/>
              </a:ext>
            </a:extLst>
          </p:cNvPr>
          <p:cNvSpPr>
            <a:spLocks noChangeShapeType="1"/>
          </p:cNvSpPr>
          <p:nvPr/>
        </p:nvSpPr>
        <p:spPr bwMode="auto">
          <a:xfrm>
            <a:off x="6096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0" name="Line 27">
            <a:extLst>
              <a:ext uri="{FF2B5EF4-FFF2-40B4-BE49-F238E27FC236}">
                <a16:creationId xmlns:a16="http://schemas.microsoft.com/office/drawing/2014/main" id="{26E47FFB-AF39-0AEE-2963-89BA4E3EFB8A}"/>
              </a:ext>
            </a:extLst>
          </p:cNvPr>
          <p:cNvSpPr>
            <a:spLocks noChangeShapeType="1"/>
          </p:cNvSpPr>
          <p:nvPr/>
        </p:nvSpPr>
        <p:spPr bwMode="auto">
          <a:xfrm>
            <a:off x="49530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1" name="Line 28">
            <a:extLst>
              <a:ext uri="{FF2B5EF4-FFF2-40B4-BE49-F238E27FC236}">
                <a16:creationId xmlns:a16="http://schemas.microsoft.com/office/drawing/2014/main" id="{9C8E527B-E370-EF99-A172-D0849F14DE25}"/>
              </a:ext>
            </a:extLst>
          </p:cNvPr>
          <p:cNvSpPr>
            <a:spLocks noChangeShapeType="1"/>
          </p:cNvSpPr>
          <p:nvPr/>
        </p:nvSpPr>
        <p:spPr bwMode="auto">
          <a:xfrm>
            <a:off x="609600" y="19812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2" name="Line 29">
            <a:extLst>
              <a:ext uri="{FF2B5EF4-FFF2-40B4-BE49-F238E27FC236}">
                <a16:creationId xmlns:a16="http://schemas.microsoft.com/office/drawing/2014/main" id="{13CAD1A1-ACE2-420A-9324-DEB72D9BFADD}"/>
              </a:ext>
            </a:extLst>
          </p:cNvPr>
          <p:cNvSpPr>
            <a:spLocks noChangeShapeType="1"/>
          </p:cNvSpPr>
          <p:nvPr/>
        </p:nvSpPr>
        <p:spPr bwMode="auto">
          <a:xfrm>
            <a:off x="2743200" y="1524000"/>
            <a:ext cx="0" cy="45704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3" name="Line 30">
            <a:extLst>
              <a:ext uri="{FF2B5EF4-FFF2-40B4-BE49-F238E27FC236}">
                <a16:creationId xmlns:a16="http://schemas.microsoft.com/office/drawing/2014/main" id="{490866A8-74CB-874E-D350-65F8FB112EF4}"/>
              </a:ext>
            </a:extLst>
          </p:cNvPr>
          <p:cNvSpPr>
            <a:spLocks noChangeShapeType="1"/>
          </p:cNvSpPr>
          <p:nvPr/>
        </p:nvSpPr>
        <p:spPr bwMode="auto">
          <a:xfrm>
            <a:off x="609600" y="24368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4" name="Line 31">
            <a:extLst>
              <a:ext uri="{FF2B5EF4-FFF2-40B4-BE49-F238E27FC236}">
                <a16:creationId xmlns:a16="http://schemas.microsoft.com/office/drawing/2014/main" id="{769C396B-BF43-E3FD-AF69-A46B061310F6}"/>
              </a:ext>
            </a:extLst>
          </p:cNvPr>
          <p:cNvSpPr>
            <a:spLocks noChangeShapeType="1"/>
          </p:cNvSpPr>
          <p:nvPr/>
        </p:nvSpPr>
        <p:spPr bwMode="auto">
          <a:xfrm>
            <a:off x="609600" y="2892425"/>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5" name="Line 32">
            <a:extLst>
              <a:ext uri="{FF2B5EF4-FFF2-40B4-BE49-F238E27FC236}">
                <a16:creationId xmlns:a16="http://schemas.microsoft.com/office/drawing/2014/main" id="{656D82F8-2499-7367-9A6D-33B6F7F38600}"/>
              </a:ext>
            </a:extLst>
          </p:cNvPr>
          <p:cNvSpPr>
            <a:spLocks noChangeShapeType="1"/>
          </p:cNvSpPr>
          <p:nvPr/>
        </p:nvSpPr>
        <p:spPr bwMode="auto">
          <a:xfrm>
            <a:off x="609600" y="3348038"/>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6" name="Line 33">
            <a:extLst>
              <a:ext uri="{FF2B5EF4-FFF2-40B4-BE49-F238E27FC236}">
                <a16:creationId xmlns:a16="http://schemas.microsoft.com/office/drawing/2014/main" id="{66611E83-AC86-072E-ADBC-48CD0872E345}"/>
              </a:ext>
            </a:extLst>
          </p:cNvPr>
          <p:cNvSpPr>
            <a:spLocks noChangeShapeType="1"/>
          </p:cNvSpPr>
          <p:nvPr/>
        </p:nvSpPr>
        <p:spPr bwMode="auto">
          <a:xfrm>
            <a:off x="609600" y="38036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7" name="Line 34">
            <a:extLst>
              <a:ext uri="{FF2B5EF4-FFF2-40B4-BE49-F238E27FC236}">
                <a16:creationId xmlns:a16="http://schemas.microsoft.com/office/drawing/2014/main" id="{4F9482FF-FBFC-4CF1-AE33-3132A8B46CA0}"/>
              </a:ext>
            </a:extLst>
          </p:cNvPr>
          <p:cNvSpPr>
            <a:spLocks noChangeShapeType="1"/>
          </p:cNvSpPr>
          <p:nvPr/>
        </p:nvSpPr>
        <p:spPr bwMode="auto">
          <a:xfrm>
            <a:off x="609600" y="42608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8" name="Line 35">
            <a:extLst>
              <a:ext uri="{FF2B5EF4-FFF2-40B4-BE49-F238E27FC236}">
                <a16:creationId xmlns:a16="http://schemas.microsoft.com/office/drawing/2014/main" id="{D1CC88DD-96B5-B958-578B-0B4C3CB9D8F1}"/>
              </a:ext>
            </a:extLst>
          </p:cNvPr>
          <p:cNvSpPr>
            <a:spLocks noChangeShapeType="1"/>
          </p:cNvSpPr>
          <p:nvPr/>
        </p:nvSpPr>
        <p:spPr bwMode="auto">
          <a:xfrm>
            <a:off x="609600" y="51800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9" name="Line 36">
            <a:extLst>
              <a:ext uri="{FF2B5EF4-FFF2-40B4-BE49-F238E27FC236}">
                <a16:creationId xmlns:a16="http://schemas.microsoft.com/office/drawing/2014/main" id="{AB07E356-678A-63E8-A8FC-3A3A5527D234}"/>
              </a:ext>
            </a:extLst>
          </p:cNvPr>
          <p:cNvSpPr>
            <a:spLocks noChangeShapeType="1"/>
          </p:cNvSpPr>
          <p:nvPr/>
        </p:nvSpPr>
        <p:spPr bwMode="auto">
          <a:xfrm>
            <a:off x="609600" y="47244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0" name="Line 37">
            <a:extLst>
              <a:ext uri="{FF2B5EF4-FFF2-40B4-BE49-F238E27FC236}">
                <a16:creationId xmlns:a16="http://schemas.microsoft.com/office/drawing/2014/main" id="{99D184E5-F236-AD90-A325-F0A2D3BB81EB}"/>
              </a:ext>
            </a:extLst>
          </p:cNvPr>
          <p:cNvSpPr>
            <a:spLocks noChangeShapeType="1"/>
          </p:cNvSpPr>
          <p:nvPr/>
        </p:nvSpPr>
        <p:spPr bwMode="auto">
          <a:xfrm>
            <a:off x="609600" y="56388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1" name="Text Box 38">
            <a:extLst>
              <a:ext uri="{FF2B5EF4-FFF2-40B4-BE49-F238E27FC236}">
                <a16:creationId xmlns:a16="http://schemas.microsoft.com/office/drawing/2014/main" id="{BA568AE9-11B6-02BF-4FC5-B917011EE345}"/>
              </a:ext>
            </a:extLst>
          </p:cNvPr>
          <p:cNvSpPr txBox="1">
            <a:spLocks noChangeArrowheads="1"/>
          </p:cNvSpPr>
          <p:nvPr/>
        </p:nvSpPr>
        <p:spPr bwMode="auto">
          <a:xfrm>
            <a:off x="5181600" y="1479550"/>
            <a:ext cx="3733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itchFamily="2" charset="2"/>
              <a:buNone/>
            </a:pPr>
            <a:r>
              <a:rPr lang="zh-CN" altLang="en-US"/>
              <a:t>从100号磁道开始，磁盘访问请求为：55、58、39、18、90、160、150、38、184</a:t>
            </a:r>
          </a:p>
        </p:txBody>
      </p:sp>
      <p:sp>
        <p:nvSpPr>
          <p:cNvPr id="2" name="灯片编号占位符 1">
            <a:extLst>
              <a:ext uri="{FF2B5EF4-FFF2-40B4-BE49-F238E27FC236}">
                <a16:creationId xmlns:a16="http://schemas.microsoft.com/office/drawing/2014/main" id="{4AAE215B-4E1F-1BD1-82AF-E48D5C701A38}"/>
              </a:ext>
            </a:extLst>
          </p:cNvPr>
          <p:cNvSpPr>
            <a:spLocks noGrp="1"/>
          </p:cNvSpPr>
          <p:nvPr>
            <p:ph type="sldNum" sz="quarter" idx="12"/>
          </p:nvPr>
        </p:nvSpPr>
        <p:spPr/>
        <p:txBody>
          <a:bodyPr/>
          <a:lstStyle/>
          <a:p>
            <a:fld id="{4093CC90-4002-504C-BD88-C9A1D374048E}" type="slidenum">
              <a:rPr lang="zh-CN" altLang="en-US" smtClean="0"/>
              <a:pPr/>
              <a:t>131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86070"/>
                                        </p:tgtEl>
                                        <p:attrNameLst>
                                          <p:attrName>style.visibility</p:attrName>
                                        </p:attrNameLst>
                                      </p:cBhvr>
                                      <p:to>
                                        <p:strVal val="visible"/>
                                      </p:to>
                                    </p:set>
                                    <p:animEffect transition="in" filter="barn(outHorizontal)">
                                      <p:cBhvr>
                                        <p:cTn id="7" dur="500"/>
                                        <p:tgtEl>
                                          <p:spTgt spid="3860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86068"/>
                                        </p:tgtEl>
                                        <p:attrNameLst>
                                          <p:attrName>style.visibility</p:attrName>
                                        </p:attrNameLst>
                                      </p:cBhvr>
                                      <p:to>
                                        <p:strVal val="visible"/>
                                      </p:to>
                                    </p:set>
                                    <p:animEffect transition="in" filter="barn(outHorizontal)">
                                      <p:cBhvr>
                                        <p:cTn id="12" dur="500"/>
                                        <p:tgtEl>
                                          <p:spTgt spid="3860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86067"/>
                                        </p:tgtEl>
                                        <p:attrNameLst>
                                          <p:attrName>style.visibility</p:attrName>
                                        </p:attrNameLst>
                                      </p:cBhvr>
                                      <p:to>
                                        <p:strVal val="visible"/>
                                      </p:to>
                                    </p:set>
                                    <p:animEffect transition="in" filter="barn(outHorizontal)">
                                      <p:cBhvr>
                                        <p:cTn id="17" dur="500"/>
                                        <p:tgtEl>
                                          <p:spTgt spid="3860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86066"/>
                                        </p:tgtEl>
                                        <p:attrNameLst>
                                          <p:attrName>style.visibility</p:attrName>
                                        </p:attrNameLst>
                                      </p:cBhvr>
                                      <p:to>
                                        <p:strVal val="visible"/>
                                      </p:to>
                                    </p:set>
                                    <p:animEffect transition="in" filter="barn(outHorizontal)">
                                      <p:cBhvr>
                                        <p:cTn id="22" dur="500"/>
                                        <p:tgtEl>
                                          <p:spTgt spid="3860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86065"/>
                                        </p:tgtEl>
                                        <p:attrNameLst>
                                          <p:attrName>style.visibility</p:attrName>
                                        </p:attrNameLst>
                                      </p:cBhvr>
                                      <p:to>
                                        <p:strVal val="visible"/>
                                      </p:to>
                                    </p:set>
                                    <p:animEffect transition="in" filter="barn(outHorizontal)">
                                      <p:cBhvr>
                                        <p:cTn id="27" dur="500"/>
                                        <p:tgtEl>
                                          <p:spTgt spid="3860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86064"/>
                                        </p:tgtEl>
                                        <p:attrNameLst>
                                          <p:attrName>style.visibility</p:attrName>
                                        </p:attrNameLst>
                                      </p:cBhvr>
                                      <p:to>
                                        <p:strVal val="visible"/>
                                      </p:to>
                                    </p:set>
                                    <p:animEffect transition="in" filter="barn(outHorizontal)">
                                      <p:cBhvr>
                                        <p:cTn id="32" dur="500"/>
                                        <p:tgtEl>
                                          <p:spTgt spid="3860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86063"/>
                                        </p:tgtEl>
                                        <p:attrNameLst>
                                          <p:attrName>style.visibility</p:attrName>
                                        </p:attrNameLst>
                                      </p:cBhvr>
                                      <p:to>
                                        <p:strVal val="visible"/>
                                      </p:to>
                                    </p:set>
                                    <p:animEffect transition="in" filter="barn(outHorizontal)">
                                      <p:cBhvr>
                                        <p:cTn id="37" dur="500"/>
                                        <p:tgtEl>
                                          <p:spTgt spid="3860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86062"/>
                                        </p:tgtEl>
                                        <p:attrNameLst>
                                          <p:attrName>style.visibility</p:attrName>
                                        </p:attrNameLst>
                                      </p:cBhvr>
                                      <p:to>
                                        <p:strVal val="visible"/>
                                      </p:to>
                                    </p:set>
                                    <p:animEffect transition="in" filter="barn(outHorizontal)">
                                      <p:cBhvr>
                                        <p:cTn id="42" dur="500"/>
                                        <p:tgtEl>
                                          <p:spTgt spid="3860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86061"/>
                                        </p:tgtEl>
                                        <p:attrNameLst>
                                          <p:attrName>style.visibility</p:attrName>
                                        </p:attrNameLst>
                                      </p:cBhvr>
                                      <p:to>
                                        <p:strVal val="visible"/>
                                      </p:to>
                                    </p:set>
                                    <p:animEffect transition="in" filter="barn(outHorizontal)">
                                      <p:cBhvr>
                                        <p:cTn id="47" dur="500"/>
                                        <p:tgtEl>
                                          <p:spTgt spid="3860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86060"/>
                                        </p:tgtEl>
                                        <p:attrNameLst>
                                          <p:attrName>style.visibility</p:attrName>
                                        </p:attrNameLst>
                                      </p:cBhvr>
                                      <p:to>
                                        <p:strVal val="visible"/>
                                      </p:to>
                                    </p:set>
                                    <p:animEffect transition="in" filter="barn(outHorizontal)">
                                      <p:cBhvr>
                                        <p:cTn id="52" dur="500"/>
                                        <p:tgtEl>
                                          <p:spTgt spid="3860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86059"/>
                                        </p:tgtEl>
                                        <p:attrNameLst>
                                          <p:attrName>style.visibility</p:attrName>
                                        </p:attrNameLst>
                                      </p:cBhvr>
                                      <p:to>
                                        <p:strVal val="visible"/>
                                      </p:to>
                                    </p:set>
                                    <p:animEffect transition="in" filter="barn(outHorizontal)">
                                      <p:cBhvr>
                                        <p:cTn id="57" dur="500"/>
                                        <p:tgtEl>
                                          <p:spTgt spid="38605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86058"/>
                                        </p:tgtEl>
                                        <p:attrNameLst>
                                          <p:attrName>style.visibility</p:attrName>
                                        </p:attrNameLst>
                                      </p:cBhvr>
                                      <p:to>
                                        <p:strVal val="visible"/>
                                      </p:to>
                                    </p:set>
                                    <p:animEffect transition="in" filter="barn(outHorizontal)">
                                      <p:cBhvr>
                                        <p:cTn id="62" dur="500"/>
                                        <p:tgtEl>
                                          <p:spTgt spid="3860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86055"/>
                                        </p:tgtEl>
                                        <p:attrNameLst>
                                          <p:attrName>style.visibility</p:attrName>
                                        </p:attrNameLst>
                                      </p:cBhvr>
                                      <p:to>
                                        <p:strVal val="visible"/>
                                      </p:to>
                                    </p:set>
                                    <p:animEffect transition="in" filter="barn(outHorizontal)">
                                      <p:cBhvr>
                                        <p:cTn id="67" dur="500"/>
                                        <p:tgtEl>
                                          <p:spTgt spid="38605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86054"/>
                                        </p:tgtEl>
                                        <p:attrNameLst>
                                          <p:attrName>style.visibility</p:attrName>
                                        </p:attrNameLst>
                                      </p:cBhvr>
                                      <p:to>
                                        <p:strVal val="visible"/>
                                      </p:to>
                                    </p:set>
                                    <p:animEffect transition="in" filter="barn(outHorizontal)">
                                      <p:cBhvr>
                                        <p:cTn id="72" dur="500"/>
                                        <p:tgtEl>
                                          <p:spTgt spid="38605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86057"/>
                                        </p:tgtEl>
                                        <p:attrNameLst>
                                          <p:attrName>style.visibility</p:attrName>
                                        </p:attrNameLst>
                                      </p:cBhvr>
                                      <p:to>
                                        <p:strVal val="visible"/>
                                      </p:to>
                                    </p:set>
                                    <p:animEffect transition="in" filter="barn(outHorizontal)">
                                      <p:cBhvr>
                                        <p:cTn id="77" dur="500"/>
                                        <p:tgtEl>
                                          <p:spTgt spid="38605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86056"/>
                                        </p:tgtEl>
                                        <p:attrNameLst>
                                          <p:attrName>style.visibility</p:attrName>
                                        </p:attrNameLst>
                                      </p:cBhvr>
                                      <p:to>
                                        <p:strVal val="visible"/>
                                      </p:to>
                                    </p:set>
                                    <p:animEffect transition="in" filter="barn(outHorizontal)">
                                      <p:cBhvr>
                                        <p:cTn id="82" dur="500"/>
                                        <p:tgtEl>
                                          <p:spTgt spid="38605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86053"/>
                                        </p:tgtEl>
                                        <p:attrNameLst>
                                          <p:attrName>style.visibility</p:attrName>
                                        </p:attrNameLst>
                                      </p:cBhvr>
                                      <p:to>
                                        <p:strVal val="visible"/>
                                      </p:to>
                                    </p:set>
                                    <p:animEffect transition="in" filter="barn(outHorizontal)">
                                      <p:cBhvr>
                                        <p:cTn id="87" dur="500"/>
                                        <p:tgtEl>
                                          <p:spTgt spid="38605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86052"/>
                                        </p:tgtEl>
                                        <p:attrNameLst>
                                          <p:attrName>style.visibility</p:attrName>
                                        </p:attrNameLst>
                                      </p:cBhvr>
                                      <p:to>
                                        <p:strVal val="visible"/>
                                      </p:to>
                                    </p:set>
                                    <p:animEffect transition="in" filter="barn(outHorizontal)">
                                      <p:cBhvr>
                                        <p:cTn id="92" dur="500"/>
                                        <p:tgtEl>
                                          <p:spTgt spid="38605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86051">
                                            <p:txEl>
                                              <p:pRg st="0" end="0"/>
                                            </p:txEl>
                                          </p:spTgt>
                                        </p:tgtEl>
                                        <p:attrNameLst>
                                          <p:attrName>style.visibility</p:attrName>
                                        </p:attrNameLst>
                                      </p:cBhvr>
                                      <p:to>
                                        <p:strVal val="visible"/>
                                      </p:to>
                                    </p:set>
                                    <p:animEffect transition="in" filter="barn(outHorizontal)">
                                      <p:cBhvr>
                                        <p:cTn id="97" dur="500"/>
                                        <p:tgtEl>
                                          <p:spTgt spid="3860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P spid="386052" grpId="0"/>
      <p:bldP spid="386053" grpId="0"/>
      <p:bldP spid="386054" grpId="0"/>
      <p:bldP spid="386055" grpId="0"/>
      <p:bldP spid="386056" grpId="0"/>
      <p:bldP spid="386057" grpId="0"/>
      <p:bldP spid="386058" grpId="0"/>
      <p:bldP spid="386059" grpId="0"/>
      <p:bldP spid="386060" grpId="0"/>
      <p:bldP spid="386061" grpId="0"/>
      <p:bldP spid="386062" grpId="0"/>
      <p:bldP spid="386063" grpId="0"/>
      <p:bldP spid="386064" grpId="0"/>
      <p:bldP spid="386065" grpId="0"/>
      <p:bldP spid="386066" grpId="0"/>
      <p:bldP spid="386067" grpId="0"/>
      <p:bldP spid="386068" grpId="0"/>
      <p:bldP spid="386070"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A646F038-8C61-1BD3-FDFF-7526C7A46A45}"/>
              </a:ext>
            </a:extLst>
          </p:cNvPr>
          <p:cNvSpPr>
            <a:spLocks noGrp="1" noChangeArrowheads="1"/>
          </p:cNvSpPr>
          <p:nvPr>
            <p:ph type="title"/>
          </p:nvPr>
        </p:nvSpPr>
        <p:spPr>
          <a:xfrm>
            <a:off x="1042988" y="225431"/>
            <a:ext cx="7850187" cy="746125"/>
          </a:xfrm>
        </p:spPr>
        <p:txBody>
          <a:bodyPr/>
          <a:lstStyle/>
          <a:p>
            <a:r>
              <a:rPr lang="zh-CN" altLang="en-US" dirty="0"/>
              <a:t>扫描调度</a:t>
            </a:r>
          </a:p>
        </p:txBody>
      </p:sp>
      <p:sp>
        <p:nvSpPr>
          <p:cNvPr id="387075" name="Rectangle 3">
            <a:extLst>
              <a:ext uri="{FF2B5EF4-FFF2-40B4-BE49-F238E27FC236}">
                <a16:creationId xmlns:a16="http://schemas.microsoft.com/office/drawing/2014/main" id="{16A416C6-CC9E-EFDD-680E-BC39E395C7C8}"/>
              </a:ext>
            </a:extLst>
          </p:cNvPr>
          <p:cNvSpPr>
            <a:spLocks noGrp="1" noChangeArrowheads="1"/>
          </p:cNvSpPr>
          <p:nvPr>
            <p:ph idx="1"/>
          </p:nvPr>
        </p:nvSpPr>
        <p:spPr>
          <a:xfrm>
            <a:off x="935038" y="1233488"/>
            <a:ext cx="7772400" cy="4895850"/>
          </a:xfrm>
        </p:spPr>
        <p:txBody>
          <a:bodyPr/>
          <a:lstStyle/>
          <a:p>
            <a:r>
              <a:rPr lang="en-US" altLang="zh-CN" dirty="0"/>
              <a:t>SSTF</a:t>
            </a:r>
            <a:r>
              <a:rPr lang="zh-CN" altLang="en-US" dirty="0"/>
              <a:t>有可能引起某些请求的饥饿。</a:t>
            </a:r>
            <a:r>
              <a:rPr lang="en-US" altLang="zh-CN" dirty="0"/>
              <a:t> </a:t>
            </a:r>
          </a:p>
          <a:p>
            <a:r>
              <a:rPr lang="en-US" altLang="zh-CN" b="1" dirty="0">
                <a:solidFill>
                  <a:srgbClr val="FF0000"/>
                </a:solidFill>
              </a:rPr>
              <a:t>SCAN</a:t>
            </a:r>
            <a:r>
              <a:rPr lang="zh-CN" altLang="en-US" b="1" dirty="0">
                <a:solidFill>
                  <a:srgbClr val="FF0000"/>
                </a:solidFill>
              </a:rPr>
              <a:t>算法</a:t>
            </a:r>
            <a:r>
              <a:rPr lang="zh-CN" altLang="en-US" dirty="0"/>
              <a:t>在磁头当前移动方向上选择与当前磁头所在磁道距离最近的请求作为下一次服务的对象。</a:t>
            </a:r>
          </a:p>
          <a:p>
            <a:endParaRPr lang="zh-CN" altLang="en-US" dirty="0"/>
          </a:p>
        </p:txBody>
      </p:sp>
      <p:sp>
        <p:nvSpPr>
          <p:cNvPr id="2" name="灯片编号占位符 1">
            <a:extLst>
              <a:ext uri="{FF2B5EF4-FFF2-40B4-BE49-F238E27FC236}">
                <a16:creationId xmlns:a16="http://schemas.microsoft.com/office/drawing/2014/main" id="{6E3CDD17-B65B-AB5A-0B78-2062B2B870B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7075">
                                            <p:txEl>
                                              <p:pRg st="0" end="0"/>
                                            </p:txEl>
                                          </p:spTgt>
                                        </p:tgtEl>
                                        <p:attrNameLst>
                                          <p:attrName>style.visibility</p:attrName>
                                        </p:attrNameLst>
                                      </p:cBhvr>
                                      <p:to>
                                        <p:strVal val="visible"/>
                                      </p:to>
                                    </p:set>
                                    <p:animEffect transition="in" filter="checkerboard(across)">
                                      <p:cBhvr>
                                        <p:cTn id="7" dur="500"/>
                                        <p:tgtEl>
                                          <p:spTgt spid="387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7075">
                                            <p:txEl>
                                              <p:pRg st="1" end="1"/>
                                            </p:txEl>
                                          </p:spTgt>
                                        </p:tgtEl>
                                        <p:attrNameLst>
                                          <p:attrName>style.visibility</p:attrName>
                                        </p:attrNameLst>
                                      </p:cBhvr>
                                      <p:to>
                                        <p:strVal val="visible"/>
                                      </p:to>
                                    </p:set>
                                    <p:animEffect transition="in" filter="checkerboard(across)">
                                      <p:cBhvr>
                                        <p:cTn id="12" dur="500"/>
                                        <p:tgtEl>
                                          <p:spTgt spid="387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C35424B-AC72-E36D-32D1-42C9B5E2409E}"/>
              </a:ext>
            </a:extLst>
          </p:cNvPr>
          <p:cNvSpPr>
            <a:spLocks noGrp="1" noChangeArrowheads="1"/>
          </p:cNvSpPr>
          <p:nvPr>
            <p:ph type="title"/>
          </p:nvPr>
        </p:nvSpPr>
        <p:spPr>
          <a:xfrm>
            <a:off x="1042988" y="225431"/>
            <a:ext cx="7850187" cy="746125"/>
          </a:xfrm>
        </p:spPr>
        <p:txBody>
          <a:bodyPr/>
          <a:lstStyle/>
          <a:p>
            <a:r>
              <a:rPr lang="zh-CN" altLang="en-US" dirty="0"/>
              <a:t>扫描调度（</a:t>
            </a:r>
            <a:r>
              <a:rPr lang="en-US" altLang="zh-CN" dirty="0"/>
              <a:t>LOOK</a:t>
            </a:r>
            <a:r>
              <a:rPr lang="zh-CN" altLang="en-US" dirty="0"/>
              <a:t>）</a:t>
            </a:r>
          </a:p>
        </p:txBody>
      </p:sp>
      <p:sp>
        <p:nvSpPr>
          <p:cNvPr id="416771" name="Rectangle 3">
            <a:extLst>
              <a:ext uri="{FF2B5EF4-FFF2-40B4-BE49-F238E27FC236}">
                <a16:creationId xmlns:a16="http://schemas.microsoft.com/office/drawing/2014/main" id="{DF82D4C6-B002-D23B-3013-CE0D598B7AAE}"/>
              </a:ext>
            </a:extLst>
          </p:cNvPr>
          <p:cNvSpPr>
            <a:spLocks noGrp="1" noChangeArrowheads="1"/>
          </p:cNvSpPr>
          <p:nvPr>
            <p:ph idx="1"/>
          </p:nvPr>
        </p:nvSpPr>
        <p:spPr>
          <a:xfrm>
            <a:off x="935038" y="1233488"/>
            <a:ext cx="7772400" cy="4895850"/>
          </a:xfrm>
        </p:spPr>
        <p:txBody>
          <a:bodyPr/>
          <a:lstStyle/>
          <a:p>
            <a:r>
              <a:rPr lang="zh-CN" altLang="en-US" dirty="0"/>
              <a:t>因这种算法中磁臂移动规律颇似大楼中电梯的运行，故又称为电梯调度算法。</a:t>
            </a:r>
          </a:p>
          <a:p>
            <a:r>
              <a:rPr lang="zh-CN" altLang="en-US" dirty="0"/>
              <a:t>特点：具有较好的寻道性能，能避免进程饥饿，但不利于两端磁道的请求。 </a:t>
            </a:r>
          </a:p>
        </p:txBody>
      </p:sp>
      <p:sp>
        <p:nvSpPr>
          <p:cNvPr id="2" name="灯片编号占位符 1">
            <a:extLst>
              <a:ext uri="{FF2B5EF4-FFF2-40B4-BE49-F238E27FC236}">
                <a16:creationId xmlns:a16="http://schemas.microsoft.com/office/drawing/2014/main" id="{FECACFCE-4213-4B2A-4E93-F3F0F499842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checkerboard(across)">
                                      <p:cBhvr>
                                        <p:cTn id="7" dur="500"/>
                                        <p:tgtEl>
                                          <p:spTgt spid="416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16771">
                                            <p:txEl>
                                              <p:pRg st="1" end="1"/>
                                            </p:txEl>
                                          </p:spTgt>
                                        </p:tgtEl>
                                        <p:attrNameLst>
                                          <p:attrName>style.visibility</p:attrName>
                                        </p:attrNameLst>
                                      </p:cBhvr>
                                      <p:to>
                                        <p:strVal val="visible"/>
                                      </p:to>
                                    </p:set>
                                    <p:animEffect transition="in" filter="checkerboard(across)">
                                      <p:cBhvr>
                                        <p:cTn id="12" dur="500"/>
                                        <p:tgtEl>
                                          <p:spTgt spid="416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5ACE08E1-B82D-4AEF-9F37-9953639E8BB8}"/>
              </a:ext>
            </a:extLst>
          </p:cNvPr>
          <p:cNvSpPr>
            <a:spLocks noGrp="1" noChangeArrowheads="1"/>
          </p:cNvSpPr>
          <p:nvPr>
            <p:ph type="title"/>
          </p:nvPr>
        </p:nvSpPr>
        <p:spPr/>
        <p:txBody>
          <a:bodyPr/>
          <a:lstStyle/>
          <a:p>
            <a:pPr eaLnBrk="1" hangingPunct="1"/>
            <a:r>
              <a:rPr lang="zh-CN" altLang="en-US"/>
              <a:t>扫描算法例</a:t>
            </a:r>
          </a:p>
        </p:txBody>
      </p:sp>
      <p:sp>
        <p:nvSpPr>
          <p:cNvPr id="388099" name="Rectangle 3">
            <a:extLst>
              <a:ext uri="{FF2B5EF4-FFF2-40B4-BE49-F238E27FC236}">
                <a16:creationId xmlns:a16="http://schemas.microsoft.com/office/drawing/2014/main" id="{37AD1386-57F0-85F1-BF96-4027C5495425}"/>
              </a:ext>
            </a:extLst>
          </p:cNvPr>
          <p:cNvSpPr>
            <a:spLocks noGrp="1" noChangeArrowheads="1"/>
          </p:cNvSpPr>
          <p:nvPr>
            <p:ph idx="1"/>
          </p:nvPr>
        </p:nvSpPr>
        <p:spPr>
          <a:xfrm>
            <a:off x="5181600" y="5073650"/>
            <a:ext cx="3810000" cy="685800"/>
          </a:xfrm>
        </p:spPr>
        <p:txBody>
          <a:bodyPr/>
          <a:lstStyle/>
          <a:p>
            <a:pPr eaLnBrk="1" hangingPunct="1">
              <a:buFont typeface="Wingdings" pitchFamily="2" charset="2"/>
              <a:buNone/>
            </a:pPr>
            <a:r>
              <a:rPr lang="zh-CN" altLang="en-US" sz="2800"/>
              <a:t>平均寻道长度为：27.8</a:t>
            </a:r>
          </a:p>
        </p:txBody>
      </p:sp>
      <p:sp>
        <p:nvSpPr>
          <p:cNvPr id="388100" name="Rectangle 4">
            <a:extLst>
              <a:ext uri="{FF2B5EF4-FFF2-40B4-BE49-F238E27FC236}">
                <a16:creationId xmlns:a16="http://schemas.microsoft.com/office/drawing/2014/main" id="{67B186D7-4FDC-3F8E-3618-E11AD5302A56}"/>
              </a:ext>
            </a:extLst>
          </p:cNvPr>
          <p:cNvSpPr>
            <a:spLocks noChangeArrowheads="1"/>
          </p:cNvSpPr>
          <p:nvPr/>
        </p:nvSpPr>
        <p:spPr bwMode="auto">
          <a:xfrm>
            <a:off x="2514600" y="56388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20</a:t>
            </a:r>
          </a:p>
        </p:txBody>
      </p:sp>
      <p:sp>
        <p:nvSpPr>
          <p:cNvPr id="388101" name="Rectangle 5">
            <a:extLst>
              <a:ext uri="{FF2B5EF4-FFF2-40B4-BE49-F238E27FC236}">
                <a16:creationId xmlns:a16="http://schemas.microsoft.com/office/drawing/2014/main" id="{40AB7203-67C3-2541-7D88-E538CB8A06C4}"/>
              </a:ext>
            </a:extLst>
          </p:cNvPr>
          <p:cNvSpPr>
            <a:spLocks noChangeArrowheads="1"/>
          </p:cNvSpPr>
          <p:nvPr/>
        </p:nvSpPr>
        <p:spPr bwMode="auto">
          <a:xfrm>
            <a:off x="381000" y="56388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a:t>
            </a:r>
          </a:p>
        </p:txBody>
      </p:sp>
      <p:sp>
        <p:nvSpPr>
          <p:cNvPr id="388102" name="Rectangle 6">
            <a:extLst>
              <a:ext uri="{FF2B5EF4-FFF2-40B4-BE49-F238E27FC236}">
                <a16:creationId xmlns:a16="http://schemas.microsoft.com/office/drawing/2014/main" id="{948CD6A9-4BA7-C605-C764-10834C6AE10D}"/>
              </a:ext>
            </a:extLst>
          </p:cNvPr>
          <p:cNvSpPr>
            <a:spLocks noChangeArrowheads="1"/>
          </p:cNvSpPr>
          <p:nvPr/>
        </p:nvSpPr>
        <p:spPr bwMode="auto">
          <a:xfrm>
            <a:off x="2514600" y="47244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a:t>
            </a:r>
          </a:p>
        </p:txBody>
      </p:sp>
      <p:sp>
        <p:nvSpPr>
          <p:cNvPr id="388103" name="Rectangle 7">
            <a:extLst>
              <a:ext uri="{FF2B5EF4-FFF2-40B4-BE49-F238E27FC236}">
                <a16:creationId xmlns:a16="http://schemas.microsoft.com/office/drawing/2014/main" id="{0BDDCDA1-A569-A8F1-FCD2-7140CB8BB5CD}"/>
              </a:ext>
            </a:extLst>
          </p:cNvPr>
          <p:cNvSpPr>
            <a:spLocks noChangeArrowheads="1"/>
          </p:cNvSpPr>
          <p:nvPr/>
        </p:nvSpPr>
        <p:spPr bwMode="auto">
          <a:xfrm>
            <a:off x="381000" y="47244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39</a:t>
            </a:r>
          </a:p>
        </p:txBody>
      </p:sp>
      <p:sp>
        <p:nvSpPr>
          <p:cNvPr id="388104" name="Rectangle 8">
            <a:extLst>
              <a:ext uri="{FF2B5EF4-FFF2-40B4-BE49-F238E27FC236}">
                <a16:creationId xmlns:a16="http://schemas.microsoft.com/office/drawing/2014/main" id="{41CFDB3D-E922-09B7-D412-A57AFA3AF4F8}"/>
              </a:ext>
            </a:extLst>
          </p:cNvPr>
          <p:cNvSpPr>
            <a:spLocks noChangeArrowheads="1"/>
          </p:cNvSpPr>
          <p:nvPr/>
        </p:nvSpPr>
        <p:spPr bwMode="auto">
          <a:xfrm>
            <a:off x="2514600" y="5180013"/>
            <a:ext cx="2209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a:t>
            </a:r>
          </a:p>
        </p:txBody>
      </p:sp>
      <p:sp>
        <p:nvSpPr>
          <p:cNvPr id="388105" name="Rectangle 9">
            <a:extLst>
              <a:ext uri="{FF2B5EF4-FFF2-40B4-BE49-F238E27FC236}">
                <a16:creationId xmlns:a16="http://schemas.microsoft.com/office/drawing/2014/main" id="{710E5461-4160-3F29-0279-9E3DE4A04DDE}"/>
              </a:ext>
            </a:extLst>
          </p:cNvPr>
          <p:cNvSpPr>
            <a:spLocks noChangeArrowheads="1"/>
          </p:cNvSpPr>
          <p:nvPr/>
        </p:nvSpPr>
        <p:spPr bwMode="auto">
          <a:xfrm>
            <a:off x="381000" y="5180013"/>
            <a:ext cx="2133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38</a:t>
            </a:r>
          </a:p>
        </p:txBody>
      </p:sp>
      <p:sp>
        <p:nvSpPr>
          <p:cNvPr id="388106" name="Rectangle 10">
            <a:extLst>
              <a:ext uri="{FF2B5EF4-FFF2-40B4-BE49-F238E27FC236}">
                <a16:creationId xmlns:a16="http://schemas.microsoft.com/office/drawing/2014/main" id="{CEC6A9EB-A179-EBFD-203C-4125C299B166}"/>
              </a:ext>
            </a:extLst>
          </p:cNvPr>
          <p:cNvSpPr>
            <a:spLocks noChangeArrowheads="1"/>
          </p:cNvSpPr>
          <p:nvPr/>
        </p:nvSpPr>
        <p:spPr bwMode="auto">
          <a:xfrm>
            <a:off x="2514600" y="4260850"/>
            <a:ext cx="2209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a:t>
            </a:r>
          </a:p>
        </p:txBody>
      </p:sp>
      <p:sp>
        <p:nvSpPr>
          <p:cNvPr id="388107" name="Rectangle 11">
            <a:extLst>
              <a:ext uri="{FF2B5EF4-FFF2-40B4-BE49-F238E27FC236}">
                <a16:creationId xmlns:a16="http://schemas.microsoft.com/office/drawing/2014/main" id="{84F85B30-68B1-0BF3-ABE9-65F05EA4FFD4}"/>
              </a:ext>
            </a:extLst>
          </p:cNvPr>
          <p:cNvSpPr>
            <a:spLocks noChangeArrowheads="1"/>
          </p:cNvSpPr>
          <p:nvPr/>
        </p:nvSpPr>
        <p:spPr bwMode="auto">
          <a:xfrm>
            <a:off x="381000" y="4260850"/>
            <a:ext cx="2133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55</a:t>
            </a:r>
          </a:p>
        </p:txBody>
      </p:sp>
      <p:sp>
        <p:nvSpPr>
          <p:cNvPr id="388108" name="Rectangle 12">
            <a:extLst>
              <a:ext uri="{FF2B5EF4-FFF2-40B4-BE49-F238E27FC236}">
                <a16:creationId xmlns:a16="http://schemas.microsoft.com/office/drawing/2014/main" id="{7BEF84C5-CFC0-0752-1883-5614D7744A78}"/>
              </a:ext>
            </a:extLst>
          </p:cNvPr>
          <p:cNvSpPr>
            <a:spLocks noChangeArrowheads="1"/>
          </p:cNvSpPr>
          <p:nvPr/>
        </p:nvSpPr>
        <p:spPr bwMode="auto">
          <a:xfrm>
            <a:off x="2514600" y="380365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32</a:t>
            </a:r>
          </a:p>
        </p:txBody>
      </p:sp>
      <p:sp>
        <p:nvSpPr>
          <p:cNvPr id="388109" name="Rectangle 13">
            <a:extLst>
              <a:ext uri="{FF2B5EF4-FFF2-40B4-BE49-F238E27FC236}">
                <a16:creationId xmlns:a16="http://schemas.microsoft.com/office/drawing/2014/main" id="{BE3DF2A9-C264-FDF3-E3FA-84CFAC1CA7C7}"/>
              </a:ext>
            </a:extLst>
          </p:cNvPr>
          <p:cNvSpPr>
            <a:spLocks noChangeArrowheads="1"/>
          </p:cNvSpPr>
          <p:nvPr/>
        </p:nvSpPr>
        <p:spPr bwMode="auto">
          <a:xfrm>
            <a:off x="381000" y="38036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58</a:t>
            </a:r>
          </a:p>
        </p:txBody>
      </p:sp>
      <p:sp>
        <p:nvSpPr>
          <p:cNvPr id="388110" name="Rectangle 14">
            <a:extLst>
              <a:ext uri="{FF2B5EF4-FFF2-40B4-BE49-F238E27FC236}">
                <a16:creationId xmlns:a16="http://schemas.microsoft.com/office/drawing/2014/main" id="{D9C32A1A-1E85-31F5-3644-00C4B55547AB}"/>
              </a:ext>
            </a:extLst>
          </p:cNvPr>
          <p:cNvSpPr>
            <a:spLocks noChangeArrowheads="1"/>
          </p:cNvSpPr>
          <p:nvPr/>
        </p:nvSpPr>
        <p:spPr bwMode="auto">
          <a:xfrm>
            <a:off x="2514600" y="3348038"/>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94</a:t>
            </a:r>
          </a:p>
        </p:txBody>
      </p:sp>
      <p:sp>
        <p:nvSpPr>
          <p:cNvPr id="388111" name="Rectangle 15">
            <a:extLst>
              <a:ext uri="{FF2B5EF4-FFF2-40B4-BE49-F238E27FC236}">
                <a16:creationId xmlns:a16="http://schemas.microsoft.com/office/drawing/2014/main" id="{E0857EBD-8993-0D1B-B139-86DF1AB0963C}"/>
              </a:ext>
            </a:extLst>
          </p:cNvPr>
          <p:cNvSpPr>
            <a:spLocks noChangeArrowheads="1"/>
          </p:cNvSpPr>
          <p:nvPr/>
        </p:nvSpPr>
        <p:spPr bwMode="auto">
          <a:xfrm>
            <a:off x="381000" y="3348038"/>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90</a:t>
            </a:r>
          </a:p>
        </p:txBody>
      </p:sp>
      <p:sp>
        <p:nvSpPr>
          <p:cNvPr id="388112" name="Rectangle 16">
            <a:extLst>
              <a:ext uri="{FF2B5EF4-FFF2-40B4-BE49-F238E27FC236}">
                <a16:creationId xmlns:a16="http://schemas.microsoft.com/office/drawing/2014/main" id="{40CFCDAD-AC48-6B07-EF67-937E16C3A361}"/>
              </a:ext>
            </a:extLst>
          </p:cNvPr>
          <p:cNvSpPr>
            <a:spLocks noChangeArrowheads="1"/>
          </p:cNvSpPr>
          <p:nvPr/>
        </p:nvSpPr>
        <p:spPr bwMode="auto">
          <a:xfrm>
            <a:off x="2514600" y="2892425"/>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24</a:t>
            </a:r>
          </a:p>
        </p:txBody>
      </p:sp>
      <p:sp>
        <p:nvSpPr>
          <p:cNvPr id="388113" name="Rectangle 17">
            <a:extLst>
              <a:ext uri="{FF2B5EF4-FFF2-40B4-BE49-F238E27FC236}">
                <a16:creationId xmlns:a16="http://schemas.microsoft.com/office/drawing/2014/main" id="{373DE421-AC35-4053-682D-4E442F9C4902}"/>
              </a:ext>
            </a:extLst>
          </p:cNvPr>
          <p:cNvSpPr>
            <a:spLocks noChangeArrowheads="1"/>
          </p:cNvSpPr>
          <p:nvPr/>
        </p:nvSpPr>
        <p:spPr bwMode="auto">
          <a:xfrm>
            <a:off x="381000" y="2892425"/>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184</a:t>
            </a:r>
          </a:p>
        </p:txBody>
      </p:sp>
      <p:sp>
        <p:nvSpPr>
          <p:cNvPr id="388114" name="Rectangle 18">
            <a:extLst>
              <a:ext uri="{FF2B5EF4-FFF2-40B4-BE49-F238E27FC236}">
                <a16:creationId xmlns:a16="http://schemas.microsoft.com/office/drawing/2014/main" id="{0CAF38EE-38E4-1C3F-650C-25FC34BB8512}"/>
              </a:ext>
            </a:extLst>
          </p:cNvPr>
          <p:cNvSpPr>
            <a:spLocks noChangeArrowheads="1"/>
          </p:cNvSpPr>
          <p:nvPr/>
        </p:nvSpPr>
        <p:spPr bwMode="auto">
          <a:xfrm>
            <a:off x="2514600" y="2436813"/>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10</a:t>
            </a:r>
          </a:p>
        </p:txBody>
      </p:sp>
      <p:sp>
        <p:nvSpPr>
          <p:cNvPr id="388115" name="Rectangle 19">
            <a:extLst>
              <a:ext uri="{FF2B5EF4-FFF2-40B4-BE49-F238E27FC236}">
                <a16:creationId xmlns:a16="http://schemas.microsoft.com/office/drawing/2014/main" id="{4AC90A80-BB0B-7F75-CFE5-5DB00D03E1AB}"/>
              </a:ext>
            </a:extLst>
          </p:cNvPr>
          <p:cNvSpPr>
            <a:spLocks noChangeArrowheads="1"/>
          </p:cNvSpPr>
          <p:nvPr/>
        </p:nvSpPr>
        <p:spPr bwMode="auto">
          <a:xfrm>
            <a:off x="381000" y="2436813"/>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160</a:t>
            </a:r>
          </a:p>
        </p:txBody>
      </p:sp>
      <p:sp>
        <p:nvSpPr>
          <p:cNvPr id="388116" name="Rectangle 20">
            <a:extLst>
              <a:ext uri="{FF2B5EF4-FFF2-40B4-BE49-F238E27FC236}">
                <a16:creationId xmlns:a16="http://schemas.microsoft.com/office/drawing/2014/main" id="{07FEA27B-59F4-F24B-9F3D-A7716A0DA2B2}"/>
              </a:ext>
            </a:extLst>
          </p:cNvPr>
          <p:cNvSpPr>
            <a:spLocks noChangeArrowheads="1"/>
          </p:cNvSpPr>
          <p:nvPr/>
        </p:nvSpPr>
        <p:spPr bwMode="auto">
          <a:xfrm>
            <a:off x="2514600" y="19812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50</a:t>
            </a:r>
          </a:p>
        </p:txBody>
      </p:sp>
      <p:sp>
        <p:nvSpPr>
          <p:cNvPr id="24596" name="Rectangle 21">
            <a:extLst>
              <a:ext uri="{FF2B5EF4-FFF2-40B4-BE49-F238E27FC236}">
                <a16:creationId xmlns:a16="http://schemas.microsoft.com/office/drawing/2014/main" id="{9BA45234-C6F8-6171-12D0-3AAA52C78002}"/>
              </a:ext>
            </a:extLst>
          </p:cNvPr>
          <p:cNvSpPr>
            <a:spLocks noChangeArrowheads="1"/>
          </p:cNvSpPr>
          <p:nvPr/>
        </p:nvSpPr>
        <p:spPr bwMode="auto">
          <a:xfrm>
            <a:off x="2514600" y="15240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移动距离</a:t>
            </a:r>
          </a:p>
        </p:txBody>
      </p:sp>
      <p:sp>
        <p:nvSpPr>
          <p:cNvPr id="388118" name="Rectangle 22">
            <a:extLst>
              <a:ext uri="{FF2B5EF4-FFF2-40B4-BE49-F238E27FC236}">
                <a16:creationId xmlns:a16="http://schemas.microsoft.com/office/drawing/2014/main" id="{22190C50-6014-4BA4-D99E-75D49E9437BA}"/>
              </a:ext>
            </a:extLst>
          </p:cNvPr>
          <p:cNvSpPr>
            <a:spLocks noChangeArrowheads="1"/>
          </p:cNvSpPr>
          <p:nvPr/>
        </p:nvSpPr>
        <p:spPr bwMode="auto">
          <a:xfrm>
            <a:off x="381000" y="19812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150</a:t>
            </a:r>
          </a:p>
        </p:txBody>
      </p:sp>
      <p:sp>
        <p:nvSpPr>
          <p:cNvPr id="24598" name="Rectangle 23">
            <a:extLst>
              <a:ext uri="{FF2B5EF4-FFF2-40B4-BE49-F238E27FC236}">
                <a16:creationId xmlns:a16="http://schemas.microsoft.com/office/drawing/2014/main" id="{CC8E0575-278D-C14D-A618-F754867E7D49}"/>
              </a:ext>
            </a:extLst>
          </p:cNvPr>
          <p:cNvSpPr>
            <a:spLocks noChangeArrowheads="1"/>
          </p:cNvSpPr>
          <p:nvPr/>
        </p:nvSpPr>
        <p:spPr bwMode="auto">
          <a:xfrm>
            <a:off x="381000" y="1524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下一磁道号</a:t>
            </a:r>
          </a:p>
        </p:txBody>
      </p:sp>
      <p:sp>
        <p:nvSpPr>
          <p:cNvPr id="24599" name="Line 24">
            <a:extLst>
              <a:ext uri="{FF2B5EF4-FFF2-40B4-BE49-F238E27FC236}">
                <a16:creationId xmlns:a16="http://schemas.microsoft.com/office/drawing/2014/main" id="{86EB2138-5B60-3FC8-EB8A-33EF1FF31443}"/>
              </a:ext>
            </a:extLst>
          </p:cNvPr>
          <p:cNvSpPr>
            <a:spLocks noChangeShapeType="1"/>
          </p:cNvSpPr>
          <p:nvPr/>
        </p:nvSpPr>
        <p:spPr bwMode="auto">
          <a:xfrm>
            <a:off x="381000" y="1524000"/>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0" name="Line 25">
            <a:extLst>
              <a:ext uri="{FF2B5EF4-FFF2-40B4-BE49-F238E27FC236}">
                <a16:creationId xmlns:a16="http://schemas.microsoft.com/office/drawing/2014/main" id="{38503903-E38F-FEDC-5EA9-5CECF844F6F0}"/>
              </a:ext>
            </a:extLst>
          </p:cNvPr>
          <p:cNvSpPr>
            <a:spLocks noChangeShapeType="1"/>
          </p:cNvSpPr>
          <p:nvPr/>
        </p:nvSpPr>
        <p:spPr bwMode="auto">
          <a:xfrm>
            <a:off x="381000" y="6094413"/>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Line 26">
            <a:extLst>
              <a:ext uri="{FF2B5EF4-FFF2-40B4-BE49-F238E27FC236}">
                <a16:creationId xmlns:a16="http://schemas.microsoft.com/office/drawing/2014/main" id="{83EC9595-361E-D62F-3942-A744DFA87AB2}"/>
              </a:ext>
            </a:extLst>
          </p:cNvPr>
          <p:cNvSpPr>
            <a:spLocks noChangeShapeType="1"/>
          </p:cNvSpPr>
          <p:nvPr/>
        </p:nvSpPr>
        <p:spPr bwMode="auto">
          <a:xfrm>
            <a:off x="3810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Line 27">
            <a:extLst>
              <a:ext uri="{FF2B5EF4-FFF2-40B4-BE49-F238E27FC236}">
                <a16:creationId xmlns:a16="http://schemas.microsoft.com/office/drawing/2014/main" id="{4B64A1A0-1414-01FE-9B89-16F18B52638C}"/>
              </a:ext>
            </a:extLst>
          </p:cNvPr>
          <p:cNvSpPr>
            <a:spLocks noChangeShapeType="1"/>
          </p:cNvSpPr>
          <p:nvPr/>
        </p:nvSpPr>
        <p:spPr bwMode="auto">
          <a:xfrm>
            <a:off x="47244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3" name="Line 28">
            <a:extLst>
              <a:ext uri="{FF2B5EF4-FFF2-40B4-BE49-F238E27FC236}">
                <a16:creationId xmlns:a16="http://schemas.microsoft.com/office/drawing/2014/main" id="{00A597D6-F5B2-38A4-A0AD-1B94CC9B9486}"/>
              </a:ext>
            </a:extLst>
          </p:cNvPr>
          <p:cNvSpPr>
            <a:spLocks noChangeShapeType="1"/>
          </p:cNvSpPr>
          <p:nvPr/>
        </p:nvSpPr>
        <p:spPr bwMode="auto">
          <a:xfrm>
            <a:off x="381000" y="19812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4" name="Line 29">
            <a:extLst>
              <a:ext uri="{FF2B5EF4-FFF2-40B4-BE49-F238E27FC236}">
                <a16:creationId xmlns:a16="http://schemas.microsoft.com/office/drawing/2014/main" id="{ABC1B7D3-C37C-44B4-C6B9-4D0C9AB1B8CF}"/>
              </a:ext>
            </a:extLst>
          </p:cNvPr>
          <p:cNvSpPr>
            <a:spLocks noChangeShapeType="1"/>
          </p:cNvSpPr>
          <p:nvPr/>
        </p:nvSpPr>
        <p:spPr bwMode="auto">
          <a:xfrm>
            <a:off x="2514600" y="1524000"/>
            <a:ext cx="0" cy="45704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5" name="Line 30">
            <a:extLst>
              <a:ext uri="{FF2B5EF4-FFF2-40B4-BE49-F238E27FC236}">
                <a16:creationId xmlns:a16="http://schemas.microsoft.com/office/drawing/2014/main" id="{8B885433-CF36-A308-C5C3-18DD89631080}"/>
              </a:ext>
            </a:extLst>
          </p:cNvPr>
          <p:cNvSpPr>
            <a:spLocks noChangeShapeType="1"/>
          </p:cNvSpPr>
          <p:nvPr/>
        </p:nvSpPr>
        <p:spPr bwMode="auto">
          <a:xfrm>
            <a:off x="381000" y="24368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Line 31">
            <a:extLst>
              <a:ext uri="{FF2B5EF4-FFF2-40B4-BE49-F238E27FC236}">
                <a16:creationId xmlns:a16="http://schemas.microsoft.com/office/drawing/2014/main" id="{C44D0CAE-144E-7584-08BF-75D5F093A3B5}"/>
              </a:ext>
            </a:extLst>
          </p:cNvPr>
          <p:cNvSpPr>
            <a:spLocks noChangeShapeType="1"/>
          </p:cNvSpPr>
          <p:nvPr/>
        </p:nvSpPr>
        <p:spPr bwMode="auto">
          <a:xfrm>
            <a:off x="381000" y="2892425"/>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7" name="Line 32">
            <a:extLst>
              <a:ext uri="{FF2B5EF4-FFF2-40B4-BE49-F238E27FC236}">
                <a16:creationId xmlns:a16="http://schemas.microsoft.com/office/drawing/2014/main" id="{88B31CE4-5610-1149-5227-B97853801FE5}"/>
              </a:ext>
            </a:extLst>
          </p:cNvPr>
          <p:cNvSpPr>
            <a:spLocks noChangeShapeType="1"/>
          </p:cNvSpPr>
          <p:nvPr/>
        </p:nvSpPr>
        <p:spPr bwMode="auto">
          <a:xfrm>
            <a:off x="381000" y="3348038"/>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8" name="Line 33">
            <a:extLst>
              <a:ext uri="{FF2B5EF4-FFF2-40B4-BE49-F238E27FC236}">
                <a16:creationId xmlns:a16="http://schemas.microsoft.com/office/drawing/2014/main" id="{26FB7D1F-2236-3C5C-B229-DBA222E15153}"/>
              </a:ext>
            </a:extLst>
          </p:cNvPr>
          <p:cNvSpPr>
            <a:spLocks noChangeShapeType="1"/>
          </p:cNvSpPr>
          <p:nvPr/>
        </p:nvSpPr>
        <p:spPr bwMode="auto">
          <a:xfrm>
            <a:off x="381000" y="38036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9" name="Line 34">
            <a:extLst>
              <a:ext uri="{FF2B5EF4-FFF2-40B4-BE49-F238E27FC236}">
                <a16:creationId xmlns:a16="http://schemas.microsoft.com/office/drawing/2014/main" id="{EB67FE32-B8E8-9D72-1B9F-909794F20076}"/>
              </a:ext>
            </a:extLst>
          </p:cNvPr>
          <p:cNvSpPr>
            <a:spLocks noChangeShapeType="1"/>
          </p:cNvSpPr>
          <p:nvPr/>
        </p:nvSpPr>
        <p:spPr bwMode="auto">
          <a:xfrm>
            <a:off x="381000" y="42608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0" name="Line 35">
            <a:extLst>
              <a:ext uri="{FF2B5EF4-FFF2-40B4-BE49-F238E27FC236}">
                <a16:creationId xmlns:a16="http://schemas.microsoft.com/office/drawing/2014/main" id="{EA4E8D88-B761-EF3D-F81D-0C88F158BD9B}"/>
              </a:ext>
            </a:extLst>
          </p:cNvPr>
          <p:cNvSpPr>
            <a:spLocks noChangeShapeType="1"/>
          </p:cNvSpPr>
          <p:nvPr/>
        </p:nvSpPr>
        <p:spPr bwMode="auto">
          <a:xfrm>
            <a:off x="381000" y="51800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1" name="Line 36">
            <a:extLst>
              <a:ext uri="{FF2B5EF4-FFF2-40B4-BE49-F238E27FC236}">
                <a16:creationId xmlns:a16="http://schemas.microsoft.com/office/drawing/2014/main" id="{A8791EEE-E78E-61B2-81F0-2792BE56C1F2}"/>
              </a:ext>
            </a:extLst>
          </p:cNvPr>
          <p:cNvSpPr>
            <a:spLocks noChangeShapeType="1"/>
          </p:cNvSpPr>
          <p:nvPr/>
        </p:nvSpPr>
        <p:spPr bwMode="auto">
          <a:xfrm>
            <a:off x="381000" y="47244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2" name="Line 37">
            <a:extLst>
              <a:ext uri="{FF2B5EF4-FFF2-40B4-BE49-F238E27FC236}">
                <a16:creationId xmlns:a16="http://schemas.microsoft.com/office/drawing/2014/main" id="{972CC66C-9B59-E58D-5582-02AACD894BF1}"/>
              </a:ext>
            </a:extLst>
          </p:cNvPr>
          <p:cNvSpPr>
            <a:spLocks noChangeShapeType="1"/>
          </p:cNvSpPr>
          <p:nvPr/>
        </p:nvSpPr>
        <p:spPr bwMode="auto">
          <a:xfrm>
            <a:off x="381000" y="56388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3" name="Text Box 38">
            <a:extLst>
              <a:ext uri="{FF2B5EF4-FFF2-40B4-BE49-F238E27FC236}">
                <a16:creationId xmlns:a16="http://schemas.microsoft.com/office/drawing/2014/main" id="{B3758D27-FCC4-92E3-5494-6D0A66CD982C}"/>
              </a:ext>
            </a:extLst>
          </p:cNvPr>
          <p:cNvSpPr txBox="1">
            <a:spLocks noChangeArrowheads="1"/>
          </p:cNvSpPr>
          <p:nvPr/>
        </p:nvSpPr>
        <p:spPr bwMode="auto">
          <a:xfrm>
            <a:off x="5181600" y="1524000"/>
            <a:ext cx="3733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itchFamily="2" charset="2"/>
              <a:buNone/>
            </a:pPr>
            <a:r>
              <a:rPr lang="zh-CN" altLang="en-US"/>
              <a:t>从100号磁道开始，向磁道号增加方向移动。磁盘访问请求为：55、58、39、18、90、160、150、38、184</a:t>
            </a:r>
          </a:p>
        </p:txBody>
      </p:sp>
      <p:sp>
        <p:nvSpPr>
          <p:cNvPr id="2" name="灯片编号占位符 1">
            <a:extLst>
              <a:ext uri="{FF2B5EF4-FFF2-40B4-BE49-F238E27FC236}">
                <a16:creationId xmlns:a16="http://schemas.microsoft.com/office/drawing/2014/main" id="{FEFC700C-C5EE-7B2D-45C8-BEE3B54CD07F}"/>
              </a:ext>
            </a:extLst>
          </p:cNvPr>
          <p:cNvSpPr>
            <a:spLocks noGrp="1"/>
          </p:cNvSpPr>
          <p:nvPr>
            <p:ph type="sldNum" sz="quarter" idx="12"/>
          </p:nvPr>
        </p:nvSpPr>
        <p:spPr/>
        <p:txBody>
          <a:bodyPr/>
          <a:lstStyle/>
          <a:p>
            <a:fld id="{4093CC90-4002-504C-BD88-C9A1D374048E}" type="slidenum">
              <a:rPr lang="zh-CN" altLang="en-US" smtClean="0"/>
              <a:pPr/>
              <a:t>134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88118"/>
                                        </p:tgtEl>
                                        <p:attrNameLst>
                                          <p:attrName>style.visibility</p:attrName>
                                        </p:attrNameLst>
                                      </p:cBhvr>
                                      <p:to>
                                        <p:strVal val="visible"/>
                                      </p:to>
                                    </p:set>
                                    <p:animEffect transition="in" filter="barn(outHorizontal)">
                                      <p:cBhvr>
                                        <p:cTn id="7" dur="500"/>
                                        <p:tgtEl>
                                          <p:spTgt spid="3881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88116"/>
                                        </p:tgtEl>
                                        <p:attrNameLst>
                                          <p:attrName>style.visibility</p:attrName>
                                        </p:attrNameLst>
                                      </p:cBhvr>
                                      <p:to>
                                        <p:strVal val="visible"/>
                                      </p:to>
                                    </p:set>
                                    <p:animEffect transition="in" filter="barn(outHorizontal)">
                                      <p:cBhvr>
                                        <p:cTn id="12" dur="500"/>
                                        <p:tgtEl>
                                          <p:spTgt spid="3881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88115"/>
                                        </p:tgtEl>
                                        <p:attrNameLst>
                                          <p:attrName>style.visibility</p:attrName>
                                        </p:attrNameLst>
                                      </p:cBhvr>
                                      <p:to>
                                        <p:strVal val="visible"/>
                                      </p:to>
                                    </p:set>
                                    <p:animEffect transition="in" filter="barn(outHorizontal)">
                                      <p:cBhvr>
                                        <p:cTn id="17" dur="500"/>
                                        <p:tgtEl>
                                          <p:spTgt spid="3881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88114"/>
                                        </p:tgtEl>
                                        <p:attrNameLst>
                                          <p:attrName>style.visibility</p:attrName>
                                        </p:attrNameLst>
                                      </p:cBhvr>
                                      <p:to>
                                        <p:strVal val="visible"/>
                                      </p:to>
                                    </p:set>
                                    <p:animEffect transition="in" filter="barn(outHorizontal)">
                                      <p:cBhvr>
                                        <p:cTn id="22" dur="500"/>
                                        <p:tgtEl>
                                          <p:spTgt spid="3881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88113"/>
                                        </p:tgtEl>
                                        <p:attrNameLst>
                                          <p:attrName>style.visibility</p:attrName>
                                        </p:attrNameLst>
                                      </p:cBhvr>
                                      <p:to>
                                        <p:strVal val="visible"/>
                                      </p:to>
                                    </p:set>
                                    <p:animEffect transition="in" filter="barn(outHorizontal)">
                                      <p:cBhvr>
                                        <p:cTn id="27" dur="500"/>
                                        <p:tgtEl>
                                          <p:spTgt spid="3881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88112"/>
                                        </p:tgtEl>
                                        <p:attrNameLst>
                                          <p:attrName>style.visibility</p:attrName>
                                        </p:attrNameLst>
                                      </p:cBhvr>
                                      <p:to>
                                        <p:strVal val="visible"/>
                                      </p:to>
                                    </p:set>
                                    <p:animEffect transition="in" filter="barn(outHorizontal)">
                                      <p:cBhvr>
                                        <p:cTn id="32" dur="500"/>
                                        <p:tgtEl>
                                          <p:spTgt spid="388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88111"/>
                                        </p:tgtEl>
                                        <p:attrNameLst>
                                          <p:attrName>style.visibility</p:attrName>
                                        </p:attrNameLst>
                                      </p:cBhvr>
                                      <p:to>
                                        <p:strVal val="visible"/>
                                      </p:to>
                                    </p:set>
                                    <p:animEffect transition="in" filter="barn(outHorizontal)">
                                      <p:cBhvr>
                                        <p:cTn id="37" dur="500"/>
                                        <p:tgtEl>
                                          <p:spTgt spid="3881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88110"/>
                                        </p:tgtEl>
                                        <p:attrNameLst>
                                          <p:attrName>style.visibility</p:attrName>
                                        </p:attrNameLst>
                                      </p:cBhvr>
                                      <p:to>
                                        <p:strVal val="visible"/>
                                      </p:to>
                                    </p:set>
                                    <p:animEffect transition="in" filter="barn(outHorizontal)">
                                      <p:cBhvr>
                                        <p:cTn id="42" dur="500"/>
                                        <p:tgtEl>
                                          <p:spTgt spid="3881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88109"/>
                                        </p:tgtEl>
                                        <p:attrNameLst>
                                          <p:attrName>style.visibility</p:attrName>
                                        </p:attrNameLst>
                                      </p:cBhvr>
                                      <p:to>
                                        <p:strVal val="visible"/>
                                      </p:to>
                                    </p:set>
                                    <p:animEffect transition="in" filter="barn(outHorizontal)">
                                      <p:cBhvr>
                                        <p:cTn id="47" dur="500"/>
                                        <p:tgtEl>
                                          <p:spTgt spid="3881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88108"/>
                                        </p:tgtEl>
                                        <p:attrNameLst>
                                          <p:attrName>style.visibility</p:attrName>
                                        </p:attrNameLst>
                                      </p:cBhvr>
                                      <p:to>
                                        <p:strVal val="visible"/>
                                      </p:to>
                                    </p:set>
                                    <p:animEffect transition="in" filter="barn(outHorizontal)">
                                      <p:cBhvr>
                                        <p:cTn id="52" dur="500"/>
                                        <p:tgtEl>
                                          <p:spTgt spid="38810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88107"/>
                                        </p:tgtEl>
                                        <p:attrNameLst>
                                          <p:attrName>style.visibility</p:attrName>
                                        </p:attrNameLst>
                                      </p:cBhvr>
                                      <p:to>
                                        <p:strVal val="visible"/>
                                      </p:to>
                                    </p:set>
                                    <p:animEffect transition="in" filter="barn(outHorizontal)">
                                      <p:cBhvr>
                                        <p:cTn id="57" dur="500"/>
                                        <p:tgtEl>
                                          <p:spTgt spid="3881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88106"/>
                                        </p:tgtEl>
                                        <p:attrNameLst>
                                          <p:attrName>style.visibility</p:attrName>
                                        </p:attrNameLst>
                                      </p:cBhvr>
                                      <p:to>
                                        <p:strVal val="visible"/>
                                      </p:to>
                                    </p:set>
                                    <p:animEffect transition="in" filter="barn(outHorizontal)">
                                      <p:cBhvr>
                                        <p:cTn id="62" dur="500"/>
                                        <p:tgtEl>
                                          <p:spTgt spid="38810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88103"/>
                                        </p:tgtEl>
                                        <p:attrNameLst>
                                          <p:attrName>style.visibility</p:attrName>
                                        </p:attrNameLst>
                                      </p:cBhvr>
                                      <p:to>
                                        <p:strVal val="visible"/>
                                      </p:to>
                                    </p:set>
                                    <p:animEffect transition="in" filter="barn(outHorizontal)">
                                      <p:cBhvr>
                                        <p:cTn id="67" dur="500"/>
                                        <p:tgtEl>
                                          <p:spTgt spid="38810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88102"/>
                                        </p:tgtEl>
                                        <p:attrNameLst>
                                          <p:attrName>style.visibility</p:attrName>
                                        </p:attrNameLst>
                                      </p:cBhvr>
                                      <p:to>
                                        <p:strVal val="visible"/>
                                      </p:to>
                                    </p:set>
                                    <p:animEffect transition="in" filter="barn(outHorizontal)">
                                      <p:cBhvr>
                                        <p:cTn id="72" dur="500"/>
                                        <p:tgtEl>
                                          <p:spTgt spid="38810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88105"/>
                                        </p:tgtEl>
                                        <p:attrNameLst>
                                          <p:attrName>style.visibility</p:attrName>
                                        </p:attrNameLst>
                                      </p:cBhvr>
                                      <p:to>
                                        <p:strVal val="visible"/>
                                      </p:to>
                                    </p:set>
                                    <p:animEffect transition="in" filter="barn(outHorizontal)">
                                      <p:cBhvr>
                                        <p:cTn id="77" dur="500"/>
                                        <p:tgtEl>
                                          <p:spTgt spid="38810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88104"/>
                                        </p:tgtEl>
                                        <p:attrNameLst>
                                          <p:attrName>style.visibility</p:attrName>
                                        </p:attrNameLst>
                                      </p:cBhvr>
                                      <p:to>
                                        <p:strVal val="visible"/>
                                      </p:to>
                                    </p:set>
                                    <p:animEffect transition="in" filter="barn(outHorizontal)">
                                      <p:cBhvr>
                                        <p:cTn id="82" dur="500"/>
                                        <p:tgtEl>
                                          <p:spTgt spid="38810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88101"/>
                                        </p:tgtEl>
                                        <p:attrNameLst>
                                          <p:attrName>style.visibility</p:attrName>
                                        </p:attrNameLst>
                                      </p:cBhvr>
                                      <p:to>
                                        <p:strVal val="visible"/>
                                      </p:to>
                                    </p:set>
                                    <p:animEffect transition="in" filter="barn(outHorizontal)">
                                      <p:cBhvr>
                                        <p:cTn id="87" dur="500"/>
                                        <p:tgtEl>
                                          <p:spTgt spid="38810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88100"/>
                                        </p:tgtEl>
                                        <p:attrNameLst>
                                          <p:attrName>style.visibility</p:attrName>
                                        </p:attrNameLst>
                                      </p:cBhvr>
                                      <p:to>
                                        <p:strVal val="visible"/>
                                      </p:to>
                                    </p:set>
                                    <p:animEffect transition="in" filter="barn(outHorizontal)">
                                      <p:cBhvr>
                                        <p:cTn id="92" dur="500"/>
                                        <p:tgtEl>
                                          <p:spTgt spid="38810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88099">
                                            <p:txEl>
                                              <p:pRg st="0" end="0"/>
                                            </p:txEl>
                                          </p:spTgt>
                                        </p:tgtEl>
                                        <p:attrNameLst>
                                          <p:attrName>style.visibility</p:attrName>
                                        </p:attrNameLst>
                                      </p:cBhvr>
                                      <p:to>
                                        <p:strVal val="visible"/>
                                      </p:to>
                                    </p:set>
                                    <p:animEffect transition="in" filter="barn(outHorizontal)">
                                      <p:cBhvr>
                                        <p:cTn id="97" dur="500"/>
                                        <p:tgtEl>
                                          <p:spTgt spid="3880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P spid="388100" grpId="0"/>
      <p:bldP spid="388101" grpId="0"/>
      <p:bldP spid="388102" grpId="0"/>
      <p:bldP spid="388103" grpId="0"/>
      <p:bldP spid="388104" grpId="0"/>
      <p:bldP spid="388105" grpId="0"/>
      <p:bldP spid="388106" grpId="0"/>
      <p:bldP spid="388107" grpId="0"/>
      <p:bldP spid="388108" grpId="0"/>
      <p:bldP spid="388109" grpId="0"/>
      <p:bldP spid="388110" grpId="0"/>
      <p:bldP spid="388111" grpId="0"/>
      <p:bldP spid="388112" grpId="0"/>
      <p:bldP spid="388113" grpId="0"/>
      <p:bldP spid="388114" grpId="0"/>
      <p:bldP spid="388115" grpId="0"/>
      <p:bldP spid="388116" grpId="0"/>
      <p:bldP spid="388118"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D8BBA96-EFD0-A6A5-3215-D030788DD699}"/>
              </a:ext>
            </a:extLst>
          </p:cNvPr>
          <p:cNvSpPr>
            <a:spLocks noGrp="1" noChangeArrowheads="1"/>
          </p:cNvSpPr>
          <p:nvPr>
            <p:ph type="title"/>
          </p:nvPr>
        </p:nvSpPr>
        <p:spPr>
          <a:xfrm>
            <a:off x="1042988" y="225431"/>
            <a:ext cx="7850187" cy="746125"/>
          </a:xfrm>
        </p:spPr>
        <p:txBody>
          <a:bodyPr/>
          <a:lstStyle/>
          <a:p>
            <a:r>
              <a:rPr lang="zh-CN" altLang="en-US" sz="4000" dirty="0"/>
              <a:t>循环扫描算法</a:t>
            </a:r>
            <a:r>
              <a:rPr lang="en-US" altLang="zh-CN" sz="4000" dirty="0"/>
              <a:t>(CSCAN,C-LOOK)</a:t>
            </a:r>
            <a:endParaRPr lang="zh-CN" altLang="en-US" sz="4000" dirty="0"/>
          </a:p>
        </p:txBody>
      </p:sp>
      <p:sp>
        <p:nvSpPr>
          <p:cNvPr id="389123" name="Rectangle 3">
            <a:extLst>
              <a:ext uri="{FF2B5EF4-FFF2-40B4-BE49-F238E27FC236}">
                <a16:creationId xmlns:a16="http://schemas.microsoft.com/office/drawing/2014/main" id="{63BE37FB-03BA-74DE-B39B-DD9CC23CB988}"/>
              </a:ext>
            </a:extLst>
          </p:cNvPr>
          <p:cNvSpPr>
            <a:spLocks noGrp="1" noChangeArrowheads="1"/>
          </p:cNvSpPr>
          <p:nvPr>
            <p:ph idx="1"/>
          </p:nvPr>
        </p:nvSpPr>
        <p:spPr>
          <a:xfrm>
            <a:off x="935038" y="1233488"/>
            <a:ext cx="7772400" cy="4895850"/>
          </a:xfrm>
        </p:spPr>
        <p:txBody>
          <a:bodyPr>
            <a:normAutofit/>
          </a:bodyPr>
          <a:lstStyle/>
          <a:p>
            <a:r>
              <a:rPr lang="en-US" altLang="zh-CN" b="1" dirty="0">
                <a:solidFill>
                  <a:srgbClr val="FF0000"/>
                </a:solidFill>
              </a:rPr>
              <a:t>CSCAN</a:t>
            </a:r>
            <a:r>
              <a:rPr lang="zh-CN" altLang="en-US" b="1" dirty="0">
                <a:solidFill>
                  <a:srgbClr val="FF0000"/>
                </a:solidFill>
              </a:rPr>
              <a:t>算法</a:t>
            </a:r>
            <a:r>
              <a:rPr lang="zh-CN" altLang="en-US" dirty="0"/>
              <a:t>是</a:t>
            </a:r>
            <a:r>
              <a:rPr lang="en-US" altLang="zh-CN" dirty="0"/>
              <a:t>SCAN</a:t>
            </a:r>
            <a:r>
              <a:rPr lang="zh-CN" altLang="en-US" dirty="0"/>
              <a:t>算法的变种，提供了一个更为均匀地等待时间。</a:t>
            </a:r>
          </a:p>
          <a:p>
            <a:r>
              <a:rPr lang="zh-CN" altLang="en-US" dirty="0"/>
              <a:t>磁头从磁盘的一端向另一端移动，沿途响应请求。当它到了另一端，就立即回到磁盘的开始处，在返回的途中不响应任何请求。</a:t>
            </a:r>
            <a:endParaRPr lang="en-US" altLang="zh-CN" dirty="0"/>
          </a:p>
          <a:p>
            <a:r>
              <a:rPr lang="zh-CN" altLang="en-US" dirty="0"/>
              <a:t>特点：该算法消除了对两端磁道请求的不公平。</a:t>
            </a:r>
          </a:p>
          <a:p>
            <a:endParaRPr lang="zh-CN" altLang="en-US" dirty="0"/>
          </a:p>
        </p:txBody>
      </p:sp>
      <p:sp>
        <p:nvSpPr>
          <p:cNvPr id="2" name="灯片编号占位符 1">
            <a:extLst>
              <a:ext uri="{FF2B5EF4-FFF2-40B4-BE49-F238E27FC236}">
                <a16:creationId xmlns:a16="http://schemas.microsoft.com/office/drawing/2014/main" id="{1A1F87E3-1DEA-EB47-4808-7CB28307223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23">
                                            <p:txEl>
                                              <p:pRg st="0" end="0"/>
                                            </p:txEl>
                                          </p:spTgt>
                                        </p:tgtEl>
                                        <p:attrNameLst>
                                          <p:attrName>style.visibility</p:attrName>
                                        </p:attrNameLst>
                                      </p:cBhvr>
                                      <p:to>
                                        <p:strVal val="visible"/>
                                      </p:to>
                                    </p:set>
                                    <p:animEffect transition="in" filter="checkerboard(across)">
                                      <p:cBhvr>
                                        <p:cTn id="7" dur="500"/>
                                        <p:tgtEl>
                                          <p:spTgt spid="389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9123">
                                            <p:txEl>
                                              <p:pRg st="1" end="1"/>
                                            </p:txEl>
                                          </p:spTgt>
                                        </p:tgtEl>
                                        <p:attrNameLst>
                                          <p:attrName>style.visibility</p:attrName>
                                        </p:attrNameLst>
                                      </p:cBhvr>
                                      <p:to>
                                        <p:strVal val="visible"/>
                                      </p:to>
                                    </p:set>
                                    <p:animEffect transition="in" filter="checkerboard(across)">
                                      <p:cBhvr>
                                        <p:cTn id="12" dur="500"/>
                                        <p:tgtEl>
                                          <p:spTgt spid="389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9123">
                                            <p:txEl>
                                              <p:pRg st="2" end="2"/>
                                            </p:txEl>
                                          </p:spTgt>
                                        </p:tgtEl>
                                        <p:attrNameLst>
                                          <p:attrName>style.visibility</p:attrName>
                                        </p:attrNameLst>
                                      </p:cBhvr>
                                      <p:to>
                                        <p:strVal val="visible"/>
                                      </p:to>
                                    </p:set>
                                    <p:animEffect transition="in" filter="checkerboard(across)">
                                      <p:cBhvr>
                                        <p:cTn id="17" dur="500"/>
                                        <p:tgtEl>
                                          <p:spTgt spid="389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build="p"/>
    </p:bldLst>
  </p:timing>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90E8FA16-0149-08CC-2CBA-A89A507E1D62}"/>
              </a:ext>
            </a:extLst>
          </p:cNvPr>
          <p:cNvSpPr>
            <a:spLocks noGrp="1" noChangeArrowheads="1"/>
          </p:cNvSpPr>
          <p:nvPr>
            <p:ph type="title"/>
          </p:nvPr>
        </p:nvSpPr>
        <p:spPr/>
        <p:txBody>
          <a:bodyPr/>
          <a:lstStyle/>
          <a:p>
            <a:pPr eaLnBrk="1" hangingPunct="1"/>
            <a:r>
              <a:rPr lang="zh-CN" altLang="en-US"/>
              <a:t>循环扫描算法例</a:t>
            </a:r>
          </a:p>
        </p:txBody>
      </p:sp>
      <p:sp>
        <p:nvSpPr>
          <p:cNvPr id="390147" name="Rectangle 3">
            <a:extLst>
              <a:ext uri="{FF2B5EF4-FFF2-40B4-BE49-F238E27FC236}">
                <a16:creationId xmlns:a16="http://schemas.microsoft.com/office/drawing/2014/main" id="{3D434051-F653-A311-48CA-23234CFAFE1F}"/>
              </a:ext>
            </a:extLst>
          </p:cNvPr>
          <p:cNvSpPr>
            <a:spLocks noGrp="1" noChangeArrowheads="1"/>
          </p:cNvSpPr>
          <p:nvPr>
            <p:ph idx="1"/>
          </p:nvPr>
        </p:nvSpPr>
        <p:spPr>
          <a:xfrm>
            <a:off x="5181600" y="5073650"/>
            <a:ext cx="3810000" cy="685800"/>
          </a:xfrm>
        </p:spPr>
        <p:txBody>
          <a:bodyPr/>
          <a:lstStyle/>
          <a:p>
            <a:pPr eaLnBrk="1" hangingPunct="1">
              <a:buFont typeface="Wingdings" pitchFamily="2" charset="2"/>
              <a:buNone/>
            </a:pPr>
            <a:r>
              <a:rPr lang="zh-CN" altLang="en-US" sz="2800"/>
              <a:t>平均寻道长度为：35.8</a:t>
            </a:r>
          </a:p>
        </p:txBody>
      </p:sp>
      <p:sp>
        <p:nvSpPr>
          <p:cNvPr id="390148" name="Rectangle 4">
            <a:extLst>
              <a:ext uri="{FF2B5EF4-FFF2-40B4-BE49-F238E27FC236}">
                <a16:creationId xmlns:a16="http://schemas.microsoft.com/office/drawing/2014/main" id="{908165F2-CBFE-DBB7-47F1-83189119EEF6}"/>
              </a:ext>
            </a:extLst>
          </p:cNvPr>
          <p:cNvSpPr>
            <a:spLocks noChangeArrowheads="1"/>
          </p:cNvSpPr>
          <p:nvPr/>
        </p:nvSpPr>
        <p:spPr bwMode="auto">
          <a:xfrm>
            <a:off x="2514600" y="56388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32</a:t>
            </a:r>
          </a:p>
        </p:txBody>
      </p:sp>
      <p:sp>
        <p:nvSpPr>
          <p:cNvPr id="390149" name="Rectangle 5">
            <a:extLst>
              <a:ext uri="{FF2B5EF4-FFF2-40B4-BE49-F238E27FC236}">
                <a16:creationId xmlns:a16="http://schemas.microsoft.com/office/drawing/2014/main" id="{0E11B617-C043-ED96-CFBA-8FBBA857A58A}"/>
              </a:ext>
            </a:extLst>
          </p:cNvPr>
          <p:cNvSpPr>
            <a:spLocks noChangeArrowheads="1"/>
          </p:cNvSpPr>
          <p:nvPr/>
        </p:nvSpPr>
        <p:spPr bwMode="auto">
          <a:xfrm>
            <a:off x="381000" y="56388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90</a:t>
            </a:r>
          </a:p>
        </p:txBody>
      </p:sp>
      <p:sp>
        <p:nvSpPr>
          <p:cNvPr id="390150" name="Rectangle 6">
            <a:extLst>
              <a:ext uri="{FF2B5EF4-FFF2-40B4-BE49-F238E27FC236}">
                <a16:creationId xmlns:a16="http://schemas.microsoft.com/office/drawing/2014/main" id="{6CFF9346-99C8-F73B-1DAF-6942EB632B2F}"/>
              </a:ext>
            </a:extLst>
          </p:cNvPr>
          <p:cNvSpPr>
            <a:spLocks noChangeArrowheads="1"/>
          </p:cNvSpPr>
          <p:nvPr/>
        </p:nvSpPr>
        <p:spPr bwMode="auto">
          <a:xfrm>
            <a:off x="2514600" y="47244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a:t>
            </a:r>
          </a:p>
        </p:txBody>
      </p:sp>
      <p:sp>
        <p:nvSpPr>
          <p:cNvPr id="390151" name="Rectangle 7">
            <a:extLst>
              <a:ext uri="{FF2B5EF4-FFF2-40B4-BE49-F238E27FC236}">
                <a16:creationId xmlns:a16="http://schemas.microsoft.com/office/drawing/2014/main" id="{C14A3CC2-F698-ABFA-5208-279253064620}"/>
              </a:ext>
            </a:extLst>
          </p:cNvPr>
          <p:cNvSpPr>
            <a:spLocks noChangeArrowheads="1"/>
          </p:cNvSpPr>
          <p:nvPr/>
        </p:nvSpPr>
        <p:spPr bwMode="auto">
          <a:xfrm>
            <a:off x="381000" y="47244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55</a:t>
            </a:r>
          </a:p>
        </p:txBody>
      </p:sp>
      <p:sp>
        <p:nvSpPr>
          <p:cNvPr id="390152" name="Rectangle 8">
            <a:extLst>
              <a:ext uri="{FF2B5EF4-FFF2-40B4-BE49-F238E27FC236}">
                <a16:creationId xmlns:a16="http://schemas.microsoft.com/office/drawing/2014/main" id="{035BF4B8-6C04-E9B1-E5DE-CE17D8447E36}"/>
              </a:ext>
            </a:extLst>
          </p:cNvPr>
          <p:cNvSpPr>
            <a:spLocks noChangeArrowheads="1"/>
          </p:cNvSpPr>
          <p:nvPr/>
        </p:nvSpPr>
        <p:spPr bwMode="auto">
          <a:xfrm>
            <a:off x="2514600" y="5180013"/>
            <a:ext cx="2209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a:t>
            </a:r>
          </a:p>
        </p:txBody>
      </p:sp>
      <p:sp>
        <p:nvSpPr>
          <p:cNvPr id="390153" name="Rectangle 9">
            <a:extLst>
              <a:ext uri="{FF2B5EF4-FFF2-40B4-BE49-F238E27FC236}">
                <a16:creationId xmlns:a16="http://schemas.microsoft.com/office/drawing/2014/main" id="{0FBFAB33-09B6-49EE-638A-0928DA195979}"/>
              </a:ext>
            </a:extLst>
          </p:cNvPr>
          <p:cNvSpPr>
            <a:spLocks noChangeArrowheads="1"/>
          </p:cNvSpPr>
          <p:nvPr/>
        </p:nvSpPr>
        <p:spPr bwMode="auto">
          <a:xfrm>
            <a:off x="381000" y="5180013"/>
            <a:ext cx="2133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58</a:t>
            </a:r>
          </a:p>
        </p:txBody>
      </p:sp>
      <p:sp>
        <p:nvSpPr>
          <p:cNvPr id="390154" name="Rectangle 10">
            <a:extLst>
              <a:ext uri="{FF2B5EF4-FFF2-40B4-BE49-F238E27FC236}">
                <a16:creationId xmlns:a16="http://schemas.microsoft.com/office/drawing/2014/main" id="{EF9ABC14-EF28-878E-C245-989A95CC9B79}"/>
              </a:ext>
            </a:extLst>
          </p:cNvPr>
          <p:cNvSpPr>
            <a:spLocks noChangeArrowheads="1"/>
          </p:cNvSpPr>
          <p:nvPr/>
        </p:nvSpPr>
        <p:spPr bwMode="auto">
          <a:xfrm>
            <a:off x="2514600" y="4260850"/>
            <a:ext cx="2209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a:t>
            </a:r>
          </a:p>
        </p:txBody>
      </p:sp>
      <p:sp>
        <p:nvSpPr>
          <p:cNvPr id="390155" name="Rectangle 11">
            <a:extLst>
              <a:ext uri="{FF2B5EF4-FFF2-40B4-BE49-F238E27FC236}">
                <a16:creationId xmlns:a16="http://schemas.microsoft.com/office/drawing/2014/main" id="{39EC5BC1-6FBE-D95D-84EC-C9B911EF590B}"/>
              </a:ext>
            </a:extLst>
          </p:cNvPr>
          <p:cNvSpPr>
            <a:spLocks noChangeArrowheads="1"/>
          </p:cNvSpPr>
          <p:nvPr/>
        </p:nvSpPr>
        <p:spPr bwMode="auto">
          <a:xfrm>
            <a:off x="381000" y="4260850"/>
            <a:ext cx="2133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39</a:t>
            </a:r>
          </a:p>
        </p:txBody>
      </p:sp>
      <p:sp>
        <p:nvSpPr>
          <p:cNvPr id="390156" name="Rectangle 12">
            <a:extLst>
              <a:ext uri="{FF2B5EF4-FFF2-40B4-BE49-F238E27FC236}">
                <a16:creationId xmlns:a16="http://schemas.microsoft.com/office/drawing/2014/main" id="{6EF0113F-4284-C8B9-A860-67149E4DC880}"/>
              </a:ext>
            </a:extLst>
          </p:cNvPr>
          <p:cNvSpPr>
            <a:spLocks noChangeArrowheads="1"/>
          </p:cNvSpPr>
          <p:nvPr/>
        </p:nvSpPr>
        <p:spPr bwMode="auto">
          <a:xfrm>
            <a:off x="2514600" y="380365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20</a:t>
            </a:r>
          </a:p>
        </p:txBody>
      </p:sp>
      <p:sp>
        <p:nvSpPr>
          <p:cNvPr id="390157" name="Rectangle 13">
            <a:extLst>
              <a:ext uri="{FF2B5EF4-FFF2-40B4-BE49-F238E27FC236}">
                <a16:creationId xmlns:a16="http://schemas.microsoft.com/office/drawing/2014/main" id="{4EF1D74E-9E20-36C4-E43C-5B98596726DA}"/>
              </a:ext>
            </a:extLst>
          </p:cNvPr>
          <p:cNvSpPr>
            <a:spLocks noChangeArrowheads="1"/>
          </p:cNvSpPr>
          <p:nvPr/>
        </p:nvSpPr>
        <p:spPr bwMode="auto">
          <a:xfrm>
            <a:off x="381000" y="38036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38</a:t>
            </a:r>
          </a:p>
        </p:txBody>
      </p:sp>
      <p:sp>
        <p:nvSpPr>
          <p:cNvPr id="390158" name="Rectangle 14">
            <a:extLst>
              <a:ext uri="{FF2B5EF4-FFF2-40B4-BE49-F238E27FC236}">
                <a16:creationId xmlns:a16="http://schemas.microsoft.com/office/drawing/2014/main" id="{7A72F834-F0FE-4766-E3D3-E7DA975FDC01}"/>
              </a:ext>
            </a:extLst>
          </p:cNvPr>
          <p:cNvSpPr>
            <a:spLocks noChangeArrowheads="1"/>
          </p:cNvSpPr>
          <p:nvPr/>
        </p:nvSpPr>
        <p:spPr bwMode="auto">
          <a:xfrm>
            <a:off x="2514600" y="3348038"/>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166</a:t>
            </a:r>
          </a:p>
        </p:txBody>
      </p:sp>
      <p:sp>
        <p:nvSpPr>
          <p:cNvPr id="390159" name="Rectangle 15">
            <a:extLst>
              <a:ext uri="{FF2B5EF4-FFF2-40B4-BE49-F238E27FC236}">
                <a16:creationId xmlns:a16="http://schemas.microsoft.com/office/drawing/2014/main" id="{7DDD768C-04E7-0C17-7186-B77385D4EE4C}"/>
              </a:ext>
            </a:extLst>
          </p:cNvPr>
          <p:cNvSpPr>
            <a:spLocks noChangeArrowheads="1"/>
          </p:cNvSpPr>
          <p:nvPr/>
        </p:nvSpPr>
        <p:spPr bwMode="auto">
          <a:xfrm>
            <a:off x="381000" y="3348038"/>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a:t>
            </a:r>
          </a:p>
        </p:txBody>
      </p:sp>
      <p:sp>
        <p:nvSpPr>
          <p:cNvPr id="390160" name="Rectangle 16">
            <a:extLst>
              <a:ext uri="{FF2B5EF4-FFF2-40B4-BE49-F238E27FC236}">
                <a16:creationId xmlns:a16="http://schemas.microsoft.com/office/drawing/2014/main" id="{35C1B7A8-1FE0-D55B-D76E-453ADAFB5BCB}"/>
              </a:ext>
            </a:extLst>
          </p:cNvPr>
          <p:cNvSpPr>
            <a:spLocks noChangeArrowheads="1"/>
          </p:cNvSpPr>
          <p:nvPr/>
        </p:nvSpPr>
        <p:spPr bwMode="auto">
          <a:xfrm>
            <a:off x="2514600" y="2892425"/>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24</a:t>
            </a:r>
          </a:p>
        </p:txBody>
      </p:sp>
      <p:sp>
        <p:nvSpPr>
          <p:cNvPr id="390161" name="Rectangle 17">
            <a:extLst>
              <a:ext uri="{FF2B5EF4-FFF2-40B4-BE49-F238E27FC236}">
                <a16:creationId xmlns:a16="http://schemas.microsoft.com/office/drawing/2014/main" id="{6CB38070-A675-6658-2D1D-47A3E26C399D}"/>
              </a:ext>
            </a:extLst>
          </p:cNvPr>
          <p:cNvSpPr>
            <a:spLocks noChangeArrowheads="1"/>
          </p:cNvSpPr>
          <p:nvPr/>
        </p:nvSpPr>
        <p:spPr bwMode="auto">
          <a:xfrm>
            <a:off x="381000" y="2892425"/>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184</a:t>
            </a:r>
          </a:p>
        </p:txBody>
      </p:sp>
      <p:sp>
        <p:nvSpPr>
          <p:cNvPr id="390162" name="Rectangle 18">
            <a:extLst>
              <a:ext uri="{FF2B5EF4-FFF2-40B4-BE49-F238E27FC236}">
                <a16:creationId xmlns:a16="http://schemas.microsoft.com/office/drawing/2014/main" id="{7E5D81EB-20CD-4D9E-C008-DA4B5C3FF5DA}"/>
              </a:ext>
            </a:extLst>
          </p:cNvPr>
          <p:cNvSpPr>
            <a:spLocks noChangeArrowheads="1"/>
          </p:cNvSpPr>
          <p:nvPr/>
        </p:nvSpPr>
        <p:spPr bwMode="auto">
          <a:xfrm>
            <a:off x="2514600" y="2436813"/>
            <a:ext cx="2209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10</a:t>
            </a:r>
          </a:p>
        </p:txBody>
      </p:sp>
      <p:sp>
        <p:nvSpPr>
          <p:cNvPr id="390163" name="Rectangle 19">
            <a:extLst>
              <a:ext uri="{FF2B5EF4-FFF2-40B4-BE49-F238E27FC236}">
                <a16:creationId xmlns:a16="http://schemas.microsoft.com/office/drawing/2014/main" id="{8BBCCA04-9C75-6AF6-94AC-4C57DD669E14}"/>
              </a:ext>
            </a:extLst>
          </p:cNvPr>
          <p:cNvSpPr>
            <a:spLocks noChangeArrowheads="1"/>
          </p:cNvSpPr>
          <p:nvPr/>
        </p:nvSpPr>
        <p:spPr bwMode="auto">
          <a:xfrm>
            <a:off x="381000" y="2436813"/>
            <a:ext cx="2133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160</a:t>
            </a:r>
          </a:p>
        </p:txBody>
      </p:sp>
      <p:sp>
        <p:nvSpPr>
          <p:cNvPr id="390164" name="Rectangle 20">
            <a:extLst>
              <a:ext uri="{FF2B5EF4-FFF2-40B4-BE49-F238E27FC236}">
                <a16:creationId xmlns:a16="http://schemas.microsoft.com/office/drawing/2014/main" id="{6C77C881-AD06-232D-984E-BAB4021CB053}"/>
              </a:ext>
            </a:extLst>
          </p:cNvPr>
          <p:cNvSpPr>
            <a:spLocks noChangeArrowheads="1"/>
          </p:cNvSpPr>
          <p:nvPr/>
        </p:nvSpPr>
        <p:spPr bwMode="auto">
          <a:xfrm>
            <a:off x="2514600" y="1981200"/>
            <a:ext cx="2209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50</a:t>
            </a:r>
          </a:p>
        </p:txBody>
      </p:sp>
      <p:sp>
        <p:nvSpPr>
          <p:cNvPr id="27668" name="Rectangle 21">
            <a:extLst>
              <a:ext uri="{FF2B5EF4-FFF2-40B4-BE49-F238E27FC236}">
                <a16:creationId xmlns:a16="http://schemas.microsoft.com/office/drawing/2014/main" id="{4B852290-FEF7-BE07-9480-DED1D064F7A6}"/>
              </a:ext>
            </a:extLst>
          </p:cNvPr>
          <p:cNvSpPr>
            <a:spLocks noChangeArrowheads="1"/>
          </p:cNvSpPr>
          <p:nvPr/>
        </p:nvSpPr>
        <p:spPr bwMode="auto">
          <a:xfrm>
            <a:off x="2514600" y="15240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移动距离</a:t>
            </a:r>
          </a:p>
        </p:txBody>
      </p:sp>
      <p:sp>
        <p:nvSpPr>
          <p:cNvPr id="390166" name="Rectangle 22">
            <a:extLst>
              <a:ext uri="{FF2B5EF4-FFF2-40B4-BE49-F238E27FC236}">
                <a16:creationId xmlns:a16="http://schemas.microsoft.com/office/drawing/2014/main" id="{019D63ED-DD8B-CE66-5870-FC11A060929E}"/>
              </a:ext>
            </a:extLst>
          </p:cNvPr>
          <p:cNvSpPr>
            <a:spLocks noChangeArrowheads="1"/>
          </p:cNvSpPr>
          <p:nvPr/>
        </p:nvSpPr>
        <p:spPr bwMode="auto">
          <a:xfrm>
            <a:off x="381000" y="1981200"/>
            <a:ext cx="2133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150</a:t>
            </a:r>
          </a:p>
        </p:txBody>
      </p:sp>
      <p:sp>
        <p:nvSpPr>
          <p:cNvPr id="27670" name="Rectangle 23">
            <a:extLst>
              <a:ext uri="{FF2B5EF4-FFF2-40B4-BE49-F238E27FC236}">
                <a16:creationId xmlns:a16="http://schemas.microsoft.com/office/drawing/2014/main" id="{BB255D23-063B-60C8-B893-C2D5371B85DD}"/>
              </a:ext>
            </a:extLst>
          </p:cNvPr>
          <p:cNvSpPr>
            <a:spLocks noChangeArrowheads="1"/>
          </p:cNvSpPr>
          <p:nvPr/>
        </p:nvSpPr>
        <p:spPr bwMode="auto">
          <a:xfrm>
            <a:off x="381000" y="1524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zh-CN" altLang="en-US"/>
              <a:t>下一磁道号</a:t>
            </a:r>
          </a:p>
        </p:txBody>
      </p:sp>
      <p:sp>
        <p:nvSpPr>
          <p:cNvPr id="27671" name="Line 24">
            <a:extLst>
              <a:ext uri="{FF2B5EF4-FFF2-40B4-BE49-F238E27FC236}">
                <a16:creationId xmlns:a16="http://schemas.microsoft.com/office/drawing/2014/main" id="{49342E2C-FC85-FF5B-43BB-9AD5DF2E32FB}"/>
              </a:ext>
            </a:extLst>
          </p:cNvPr>
          <p:cNvSpPr>
            <a:spLocks noChangeShapeType="1"/>
          </p:cNvSpPr>
          <p:nvPr/>
        </p:nvSpPr>
        <p:spPr bwMode="auto">
          <a:xfrm>
            <a:off x="381000" y="1524000"/>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2" name="Line 25">
            <a:extLst>
              <a:ext uri="{FF2B5EF4-FFF2-40B4-BE49-F238E27FC236}">
                <a16:creationId xmlns:a16="http://schemas.microsoft.com/office/drawing/2014/main" id="{459FCB74-1E19-5534-1807-38CE27C9E43C}"/>
              </a:ext>
            </a:extLst>
          </p:cNvPr>
          <p:cNvSpPr>
            <a:spLocks noChangeShapeType="1"/>
          </p:cNvSpPr>
          <p:nvPr/>
        </p:nvSpPr>
        <p:spPr bwMode="auto">
          <a:xfrm>
            <a:off x="381000" y="6094413"/>
            <a:ext cx="43434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3" name="Line 26">
            <a:extLst>
              <a:ext uri="{FF2B5EF4-FFF2-40B4-BE49-F238E27FC236}">
                <a16:creationId xmlns:a16="http://schemas.microsoft.com/office/drawing/2014/main" id="{D616DDB9-D3B9-BEB4-DF81-2BF9A029784F}"/>
              </a:ext>
            </a:extLst>
          </p:cNvPr>
          <p:cNvSpPr>
            <a:spLocks noChangeShapeType="1"/>
          </p:cNvSpPr>
          <p:nvPr/>
        </p:nvSpPr>
        <p:spPr bwMode="auto">
          <a:xfrm>
            <a:off x="3810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4" name="Line 27">
            <a:extLst>
              <a:ext uri="{FF2B5EF4-FFF2-40B4-BE49-F238E27FC236}">
                <a16:creationId xmlns:a16="http://schemas.microsoft.com/office/drawing/2014/main" id="{C73944B5-D041-DBE4-26BF-2E9800023EF6}"/>
              </a:ext>
            </a:extLst>
          </p:cNvPr>
          <p:cNvSpPr>
            <a:spLocks noChangeShapeType="1"/>
          </p:cNvSpPr>
          <p:nvPr/>
        </p:nvSpPr>
        <p:spPr bwMode="auto">
          <a:xfrm>
            <a:off x="4724400" y="1524000"/>
            <a:ext cx="0" cy="45704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28">
            <a:extLst>
              <a:ext uri="{FF2B5EF4-FFF2-40B4-BE49-F238E27FC236}">
                <a16:creationId xmlns:a16="http://schemas.microsoft.com/office/drawing/2014/main" id="{02691834-C6FA-B6DA-724B-890D64DC6EDC}"/>
              </a:ext>
            </a:extLst>
          </p:cNvPr>
          <p:cNvSpPr>
            <a:spLocks noChangeShapeType="1"/>
          </p:cNvSpPr>
          <p:nvPr/>
        </p:nvSpPr>
        <p:spPr bwMode="auto">
          <a:xfrm>
            <a:off x="381000" y="19812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Line 29">
            <a:extLst>
              <a:ext uri="{FF2B5EF4-FFF2-40B4-BE49-F238E27FC236}">
                <a16:creationId xmlns:a16="http://schemas.microsoft.com/office/drawing/2014/main" id="{B4436E86-A459-386B-30E9-96A25A99D99A}"/>
              </a:ext>
            </a:extLst>
          </p:cNvPr>
          <p:cNvSpPr>
            <a:spLocks noChangeShapeType="1"/>
          </p:cNvSpPr>
          <p:nvPr/>
        </p:nvSpPr>
        <p:spPr bwMode="auto">
          <a:xfrm>
            <a:off x="2514600" y="1524000"/>
            <a:ext cx="0" cy="45704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7" name="Line 30">
            <a:extLst>
              <a:ext uri="{FF2B5EF4-FFF2-40B4-BE49-F238E27FC236}">
                <a16:creationId xmlns:a16="http://schemas.microsoft.com/office/drawing/2014/main" id="{F9E32739-3E3D-0182-662C-EE74E916FC08}"/>
              </a:ext>
            </a:extLst>
          </p:cNvPr>
          <p:cNvSpPr>
            <a:spLocks noChangeShapeType="1"/>
          </p:cNvSpPr>
          <p:nvPr/>
        </p:nvSpPr>
        <p:spPr bwMode="auto">
          <a:xfrm>
            <a:off x="381000" y="24368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8" name="Line 31">
            <a:extLst>
              <a:ext uri="{FF2B5EF4-FFF2-40B4-BE49-F238E27FC236}">
                <a16:creationId xmlns:a16="http://schemas.microsoft.com/office/drawing/2014/main" id="{34041C6A-B0FA-145D-E0AB-C5D913F615A4}"/>
              </a:ext>
            </a:extLst>
          </p:cNvPr>
          <p:cNvSpPr>
            <a:spLocks noChangeShapeType="1"/>
          </p:cNvSpPr>
          <p:nvPr/>
        </p:nvSpPr>
        <p:spPr bwMode="auto">
          <a:xfrm>
            <a:off x="381000" y="2892425"/>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9" name="Line 32">
            <a:extLst>
              <a:ext uri="{FF2B5EF4-FFF2-40B4-BE49-F238E27FC236}">
                <a16:creationId xmlns:a16="http://schemas.microsoft.com/office/drawing/2014/main" id="{54AAE156-A200-6D8C-0223-94F942F0C26E}"/>
              </a:ext>
            </a:extLst>
          </p:cNvPr>
          <p:cNvSpPr>
            <a:spLocks noChangeShapeType="1"/>
          </p:cNvSpPr>
          <p:nvPr/>
        </p:nvSpPr>
        <p:spPr bwMode="auto">
          <a:xfrm>
            <a:off x="381000" y="3348038"/>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0" name="Line 33">
            <a:extLst>
              <a:ext uri="{FF2B5EF4-FFF2-40B4-BE49-F238E27FC236}">
                <a16:creationId xmlns:a16="http://schemas.microsoft.com/office/drawing/2014/main" id="{0504C030-800E-ABC0-A87B-2707B41A65B4}"/>
              </a:ext>
            </a:extLst>
          </p:cNvPr>
          <p:cNvSpPr>
            <a:spLocks noChangeShapeType="1"/>
          </p:cNvSpPr>
          <p:nvPr/>
        </p:nvSpPr>
        <p:spPr bwMode="auto">
          <a:xfrm>
            <a:off x="381000" y="38036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1" name="Line 34">
            <a:extLst>
              <a:ext uri="{FF2B5EF4-FFF2-40B4-BE49-F238E27FC236}">
                <a16:creationId xmlns:a16="http://schemas.microsoft.com/office/drawing/2014/main" id="{9951AC7B-C3A0-9536-CC69-BB71EA773313}"/>
              </a:ext>
            </a:extLst>
          </p:cNvPr>
          <p:cNvSpPr>
            <a:spLocks noChangeShapeType="1"/>
          </p:cNvSpPr>
          <p:nvPr/>
        </p:nvSpPr>
        <p:spPr bwMode="auto">
          <a:xfrm>
            <a:off x="381000" y="426085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2" name="Line 35">
            <a:extLst>
              <a:ext uri="{FF2B5EF4-FFF2-40B4-BE49-F238E27FC236}">
                <a16:creationId xmlns:a16="http://schemas.microsoft.com/office/drawing/2014/main" id="{EC1AE46F-20D3-25C0-C42A-A846CE5AD580}"/>
              </a:ext>
            </a:extLst>
          </p:cNvPr>
          <p:cNvSpPr>
            <a:spLocks noChangeShapeType="1"/>
          </p:cNvSpPr>
          <p:nvPr/>
        </p:nvSpPr>
        <p:spPr bwMode="auto">
          <a:xfrm>
            <a:off x="381000" y="5180013"/>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3" name="Line 36">
            <a:extLst>
              <a:ext uri="{FF2B5EF4-FFF2-40B4-BE49-F238E27FC236}">
                <a16:creationId xmlns:a16="http://schemas.microsoft.com/office/drawing/2014/main" id="{673C5C9C-EB3D-B804-F026-DF22AA97D545}"/>
              </a:ext>
            </a:extLst>
          </p:cNvPr>
          <p:cNvSpPr>
            <a:spLocks noChangeShapeType="1"/>
          </p:cNvSpPr>
          <p:nvPr/>
        </p:nvSpPr>
        <p:spPr bwMode="auto">
          <a:xfrm>
            <a:off x="381000" y="47244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4" name="Line 37">
            <a:extLst>
              <a:ext uri="{FF2B5EF4-FFF2-40B4-BE49-F238E27FC236}">
                <a16:creationId xmlns:a16="http://schemas.microsoft.com/office/drawing/2014/main" id="{C6A4A3E4-8838-E855-D3A8-382DAA9C53DE}"/>
              </a:ext>
            </a:extLst>
          </p:cNvPr>
          <p:cNvSpPr>
            <a:spLocks noChangeShapeType="1"/>
          </p:cNvSpPr>
          <p:nvPr/>
        </p:nvSpPr>
        <p:spPr bwMode="auto">
          <a:xfrm>
            <a:off x="381000" y="5638800"/>
            <a:ext cx="43434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Text Box 38">
            <a:extLst>
              <a:ext uri="{FF2B5EF4-FFF2-40B4-BE49-F238E27FC236}">
                <a16:creationId xmlns:a16="http://schemas.microsoft.com/office/drawing/2014/main" id="{505023F2-E0CE-6055-A6BF-013D9E02559A}"/>
              </a:ext>
            </a:extLst>
          </p:cNvPr>
          <p:cNvSpPr txBox="1">
            <a:spLocks noChangeArrowheads="1"/>
          </p:cNvSpPr>
          <p:nvPr/>
        </p:nvSpPr>
        <p:spPr bwMode="auto">
          <a:xfrm>
            <a:off x="5181600" y="1524000"/>
            <a:ext cx="3733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itchFamily="2" charset="2"/>
              <a:buNone/>
            </a:pPr>
            <a:r>
              <a:rPr lang="zh-CN" altLang="en-US"/>
              <a:t>从100号磁道开始，向磁道号增加方向移动。磁盘访问请求为：55、58、39、18、90、160、150、38、184</a:t>
            </a:r>
          </a:p>
        </p:txBody>
      </p:sp>
      <p:sp>
        <p:nvSpPr>
          <p:cNvPr id="2" name="灯片编号占位符 1">
            <a:extLst>
              <a:ext uri="{FF2B5EF4-FFF2-40B4-BE49-F238E27FC236}">
                <a16:creationId xmlns:a16="http://schemas.microsoft.com/office/drawing/2014/main" id="{6126A0B6-5BE1-EB8D-BEF2-ADD6702FD9BC}"/>
              </a:ext>
            </a:extLst>
          </p:cNvPr>
          <p:cNvSpPr>
            <a:spLocks noGrp="1"/>
          </p:cNvSpPr>
          <p:nvPr>
            <p:ph type="sldNum" sz="quarter" idx="12"/>
          </p:nvPr>
        </p:nvSpPr>
        <p:spPr/>
        <p:txBody>
          <a:bodyPr/>
          <a:lstStyle/>
          <a:p>
            <a:fld id="{4093CC90-4002-504C-BD88-C9A1D374048E}" type="slidenum">
              <a:rPr lang="zh-CN" altLang="en-US" smtClean="0"/>
              <a:pPr/>
              <a:t>136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90166"/>
                                        </p:tgtEl>
                                        <p:attrNameLst>
                                          <p:attrName>style.visibility</p:attrName>
                                        </p:attrNameLst>
                                      </p:cBhvr>
                                      <p:to>
                                        <p:strVal val="visible"/>
                                      </p:to>
                                    </p:set>
                                    <p:animEffect transition="in" filter="barn(outHorizontal)">
                                      <p:cBhvr>
                                        <p:cTn id="7" dur="500"/>
                                        <p:tgtEl>
                                          <p:spTgt spid="3901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90164"/>
                                        </p:tgtEl>
                                        <p:attrNameLst>
                                          <p:attrName>style.visibility</p:attrName>
                                        </p:attrNameLst>
                                      </p:cBhvr>
                                      <p:to>
                                        <p:strVal val="visible"/>
                                      </p:to>
                                    </p:set>
                                    <p:animEffect transition="in" filter="barn(outHorizontal)">
                                      <p:cBhvr>
                                        <p:cTn id="12" dur="500"/>
                                        <p:tgtEl>
                                          <p:spTgt spid="390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90163"/>
                                        </p:tgtEl>
                                        <p:attrNameLst>
                                          <p:attrName>style.visibility</p:attrName>
                                        </p:attrNameLst>
                                      </p:cBhvr>
                                      <p:to>
                                        <p:strVal val="visible"/>
                                      </p:to>
                                    </p:set>
                                    <p:animEffect transition="in" filter="barn(outHorizontal)">
                                      <p:cBhvr>
                                        <p:cTn id="17" dur="500"/>
                                        <p:tgtEl>
                                          <p:spTgt spid="3901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90162"/>
                                        </p:tgtEl>
                                        <p:attrNameLst>
                                          <p:attrName>style.visibility</p:attrName>
                                        </p:attrNameLst>
                                      </p:cBhvr>
                                      <p:to>
                                        <p:strVal val="visible"/>
                                      </p:to>
                                    </p:set>
                                    <p:animEffect transition="in" filter="barn(outHorizontal)">
                                      <p:cBhvr>
                                        <p:cTn id="22" dur="500"/>
                                        <p:tgtEl>
                                          <p:spTgt spid="3901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90161"/>
                                        </p:tgtEl>
                                        <p:attrNameLst>
                                          <p:attrName>style.visibility</p:attrName>
                                        </p:attrNameLst>
                                      </p:cBhvr>
                                      <p:to>
                                        <p:strVal val="visible"/>
                                      </p:to>
                                    </p:set>
                                    <p:animEffect transition="in" filter="barn(outHorizontal)">
                                      <p:cBhvr>
                                        <p:cTn id="27" dur="500"/>
                                        <p:tgtEl>
                                          <p:spTgt spid="3901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90160"/>
                                        </p:tgtEl>
                                        <p:attrNameLst>
                                          <p:attrName>style.visibility</p:attrName>
                                        </p:attrNameLst>
                                      </p:cBhvr>
                                      <p:to>
                                        <p:strVal val="visible"/>
                                      </p:to>
                                    </p:set>
                                    <p:animEffect transition="in" filter="barn(outHorizontal)">
                                      <p:cBhvr>
                                        <p:cTn id="32" dur="500"/>
                                        <p:tgtEl>
                                          <p:spTgt spid="3901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90159"/>
                                        </p:tgtEl>
                                        <p:attrNameLst>
                                          <p:attrName>style.visibility</p:attrName>
                                        </p:attrNameLst>
                                      </p:cBhvr>
                                      <p:to>
                                        <p:strVal val="visible"/>
                                      </p:to>
                                    </p:set>
                                    <p:animEffect transition="in" filter="barn(outHorizontal)">
                                      <p:cBhvr>
                                        <p:cTn id="37" dur="500"/>
                                        <p:tgtEl>
                                          <p:spTgt spid="3901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90158"/>
                                        </p:tgtEl>
                                        <p:attrNameLst>
                                          <p:attrName>style.visibility</p:attrName>
                                        </p:attrNameLst>
                                      </p:cBhvr>
                                      <p:to>
                                        <p:strVal val="visible"/>
                                      </p:to>
                                    </p:set>
                                    <p:animEffect transition="in" filter="barn(outHorizontal)">
                                      <p:cBhvr>
                                        <p:cTn id="42" dur="500"/>
                                        <p:tgtEl>
                                          <p:spTgt spid="3901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90157"/>
                                        </p:tgtEl>
                                        <p:attrNameLst>
                                          <p:attrName>style.visibility</p:attrName>
                                        </p:attrNameLst>
                                      </p:cBhvr>
                                      <p:to>
                                        <p:strVal val="visible"/>
                                      </p:to>
                                    </p:set>
                                    <p:animEffect transition="in" filter="barn(outHorizontal)">
                                      <p:cBhvr>
                                        <p:cTn id="47" dur="500"/>
                                        <p:tgtEl>
                                          <p:spTgt spid="3901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90156"/>
                                        </p:tgtEl>
                                        <p:attrNameLst>
                                          <p:attrName>style.visibility</p:attrName>
                                        </p:attrNameLst>
                                      </p:cBhvr>
                                      <p:to>
                                        <p:strVal val="visible"/>
                                      </p:to>
                                    </p:set>
                                    <p:animEffect transition="in" filter="barn(outHorizontal)">
                                      <p:cBhvr>
                                        <p:cTn id="52" dur="500"/>
                                        <p:tgtEl>
                                          <p:spTgt spid="3901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90155"/>
                                        </p:tgtEl>
                                        <p:attrNameLst>
                                          <p:attrName>style.visibility</p:attrName>
                                        </p:attrNameLst>
                                      </p:cBhvr>
                                      <p:to>
                                        <p:strVal val="visible"/>
                                      </p:to>
                                    </p:set>
                                    <p:animEffect transition="in" filter="barn(outHorizontal)">
                                      <p:cBhvr>
                                        <p:cTn id="57" dur="500"/>
                                        <p:tgtEl>
                                          <p:spTgt spid="39015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90154"/>
                                        </p:tgtEl>
                                        <p:attrNameLst>
                                          <p:attrName>style.visibility</p:attrName>
                                        </p:attrNameLst>
                                      </p:cBhvr>
                                      <p:to>
                                        <p:strVal val="visible"/>
                                      </p:to>
                                    </p:set>
                                    <p:animEffect transition="in" filter="barn(outHorizontal)">
                                      <p:cBhvr>
                                        <p:cTn id="62" dur="500"/>
                                        <p:tgtEl>
                                          <p:spTgt spid="39015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90151"/>
                                        </p:tgtEl>
                                        <p:attrNameLst>
                                          <p:attrName>style.visibility</p:attrName>
                                        </p:attrNameLst>
                                      </p:cBhvr>
                                      <p:to>
                                        <p:strVal val="visible"/>
                                      </p:to>
                                    </p:set>
                                    <p:animEffect transition="in" filter="barn(outHorizontal)">
                                      <p:cBhvr>
                                        <p:cTn id="67" dur="500"/>
                                        <p:tgtEl>
                                          <p:spTgt spid="39015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90150"/>
                                        </p:tgtEl>
                                        <p:attrNameLst>
                                          <p:attrName>style.visibility</p:attrName>
                                        </p:attrNameLst>
                                      </p:cBhvr>
                                      <p:to>
                                        <p:strVal val="visible"/>
                                      </p:to>
                                    </p:set>
                                    <p:animEffect transition="in" filter="barn(outHorizontal)">
                                      <p:cBhvr>
                                        <p:cTn id="72" dur="500"/>
                                        <p:tgtEl>
                                          <p:spTgt spid="39015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90153"/>
                                        </p:tgtEl>
                                        <p:attrNameLst>
                                          <p:attrName>style.visibility</p:attrName>
                                        </p:attrNameLst>
                                      </p:cBhvr>
                                      <p:to>
                                        <p:strVal val="visible"/>
                                      </p:to>
                                    </p:set>
                                    <p:animEffect transition="in" filter="barn(outHorizontal)">
                                      <p:cBhvr>
                                        <p:cTn id="77" dur="500"/>
                                        <p:tgtEl>
                                          <p:spTgt spid="39015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90152"/>
                                        </p:tgtEl>
                                        <p:attrNameLst>
                                          <p:attrName>style.visibility</p:attrName>
                                        </p:attrNameLst>
                                      </p:cBhvr>
                                      <p:to>
                                        <p:strVal val="visible"/>
                                      </p:to>
                                    </p:set>
                                    <p:animEffect transition="in" filter="barn(outHorizontal)">
                                      <p:cBhvr>
                                        <p:cTn id="82" dur="500"/>
                                        <p:tgtEl>
                                          <p:spTgt spid="39015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90149"/>
                                        </p:tgtEl>
                                        <p:attrNameLst>
                                          <p:attrName>style.visibility</p:attrName>
                                        </p:attrNameLst>
                                      </p:cBhvr>
                                      <p:to>
                                        <p:strVal val="visible"/>
                                      </p:to>
                                    </p:set>
                                    <p:animEffect transition="in" filter="barn(outHorizontal)">
                                      <p:cBhvr>
                                        <p:cTn id="87" dur="500"/>
                                        <p:tgtEl>
                                          <p:spTgt spid="39014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90148"/>
                                        </p:tgtEl>
                                        <p:attrNameLst>
                                          <p:attrName>style.visibility</p:attrName>
                                        </p:attrNameLst>
                                      </p:cBhvr>
                                      <p:to>
                                        <p:strVal val="visible"/>
                                      </p:to>
                                    </p:set>
                                    <p:animEffect transition="in" filter="barn(outHorizontal)">
                                      <p:cBhvr>
                                        <p:cTn id="92" dur="500"/>
                                        <p:tgtEl>
                                          <p:spTgt spid="39014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90147">
                                            <p:txEl>
                                              <p:pRg st="0" end="0"/>
                                            </p:txEl>
                                          </p:spTgt>
                                        </p:tgtEl>
                                        <p:attrNameLst>
                                          <p:attrName>style.visibility</p:attrName>
                                        </p:attrNameLst>
                                      </p:cBhvr>
                                      <p:to>
                                        <p:strVal val="visible"/>
                                      </p:to>
                                    </p:set>
                                    <p:animEffect transition="in" filter="barn(outHorizontal)">
                                      <p:cBhvr>
                                        <p:cTn id="97" dur="500"/>
                                        <p:tgtEl>
                                          <p:spTgt spid="3901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P spid="390148" grpId="0"/>
      <p:bldP spid="390149" grpId="0"/>
      <p:bldP spid="390150" grpId="0"/>
      <p:bldP spid="390151" grpId="0"/>
      <p:bldP spid="390152" grpId="0"/>
      <p:bldP spid="390153" grpId="0"/>
      <p:bldP spid="390154" grpId="0"/>
      <p:bldP spid="390155" grpId="0"/>
      <p:bldP spid="390156" grpId="0"/>
      <p:bldP spid="390157" grpId="0"/>
      <p:bldP spid="390158" grpId="0"/>
      <p:bldP spid="390159" grpId="0"/>
      <p:bldP spid="390160" grpId="0"/>
      <p:bldP spid="390161" grpId="0"/>
      <p:bldP spid="390162" grpId="0"/>
      <p:bldP spid="390163" grpId="0"/>
      <p:bldP spid="390164" grpId="0"/>
      <p:bldP spid="39016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158081AA-87DA-A197-7B5F-C84979897703}"/>
              </a:ext>
            </a:extLst>
          </p:cNvPr>
          <p:cNvSpPr>
            <a:spLocks noGrp="1" noChangeArrowheads="1"/>
          </p:cNvSpPr>
          <p:nvPr>
            <p:ph type="title"/>
          </p:nvPr>
        </p:nvSpPr>
        <p:spPr/>
        <p:txBody>
          <a:bodyPr/>
          <a:lstStyle/>
          <a:p>
            <a:pPr eaLnBrk="1" hangingPunct="1"/>
            <a:r>
              <a:rPr lang="en-US" altLang="zh-CN"/>
              <a:t>N-Step-SCAN</a:t>
            </a:r>
            <a:endParaRPr lang="zh-CN" altLang="en-US"/>
          </a:p>
        </p:txBody>
      </p:sp>
      <p:sp>
        <p:nvSpPr>
          <p:cNvPr id="391171" name="Rectangle 3">
            <a:extLst>
              <a:ext uri="{FF2B5EF4-FFF2-40B4-BE49-F238E27FC236}">
                <a16:creationId xmlns:a16="http://schemas.microsoft.com/office/drawing/2014/main" id="{53E61228-9360-33A7-E8D4-934775DE0EB4}"/>
              </a:ext>
            </a:extLst>
          </p:cNvPr>
          <p:cNvSpPr>
            <a:spLocks noGrp="1" noChangeArrowheads="1"/>
          </p:cNvSpPr>
          <p:nvPr>
            <p:ph idx="1"/>
          </p:nvPr>
        </p:nvSpPr>
        <p:spPr>
          <a:xfrm>
            <a:off x="304800" y="1196975"/>
            <a:ext cx="8534400" cy="4611688"/>
          </a:xfrm>
        </p:spPr>
        <p:txBody>
          <a:bodyPr/>
          <a:lstStyle/>
          <a:p>
            <a:pPr algn="just" eaLnBrk="1" hangingPunct="1"/>
            <a:r>
              <a:rPr lang="zh-CN" altLang="en-US"/>
              <a:t>若多个进程反复请求对某一磁道的访问，则磁臂可能停留在某处不动，这一现象称为磁臂粘着。</a:t>
            </a:r>
          </a:p>
          <a:p>
            <a:pPr algn="just" eaLnBrk="1" hangingPunct="1"/>
            <a:r>
              <a:rPr lang="en-US" altLang="zh-CN">
                <a:solidFill>
                  <a:srgbClr val="FF0000"/>
                </a:solidFill>
              </a:rPr>
              <a:t>N-Step-SCAN</a:t>
            </a:r>
            <a:r>
              <a:rPr lang="zh-CN" altLang="en-US">
                <a:solidFill>
                  <a:srgbClr val="FF0000"/>
                </a:solidFill>
              </a:rPr>
              <a:t>算法</a:t>
            </a:r>
            <a:r>
              <a:rPr lang="zh-CN" altLang="en-US"/>
              <a:t>：将磁盘请求队列分成若干个长度为</a:t>
            </a:r>
            <a:r>
              <a:rPr lang="en-US" altLang="zh-CN"/>
              <a:t>N</a:t>
            </a:r>
            <a:r>
              <a:rPr lang="zh-CN" altLang="en-US"/>
              <a:t>的子队列，磁盘调度按</a:t>
            </a:r>
            <a:r>
              <a:rPr lang="en-US" altLang="zh-CN"/>
              <a:t>FCFS</a:t>
            </a:r>
            <a:r>
              <a:rPr lang="zh-CN" altLang="en-US"/>
              <a:t>算法依次处理这些子队列，而处理每个队列时按</a:t>
            </a:r>
            <a:r>
              <a:rPr lang="en-US" altLang="zh-CN"/>
              <a:t>SCAN</a:t>
            </a:r>
            <a:r>
              <a:rPr lang="zh-CN" altLang="en-US"/>
              <a:t>算法进行，一个队列处理完后，再处理其他队列。</a:t>
            </a:r>
          </a:p>
        </p:txBody>
      </p:sp>
      <p:sp>
        <p:nvSpPr>
          <p:cNvPr id="2" name="灯片编号占位符 1">
            <a:extLst>
              <a:ext uri="{FF2B5EF4-FFF2-40B4-BE49-F238E27FC236}">
                <a16:creationId xmlns:a16="http://schemas.microsoft.com/office/drawing/2014/main" id="{96D67D91-4FE2-833B-BFB2-A408045F8D0D}"/>
              </a:ext>
            </a:extLst>
          </p:cNvPr>
          <p:cNvSpPr>
            <a:spLocks noGrp="1"/>
          </p:cNvSpPr>
          <p:nvPr>
            <p:ph type="sldNum" sz="quarter" idx="12"/>
          </p:nvPr>
        </p:nvSpPr>
        <p:spPr/>
        <p:txBody>
          <a:bodyPr/>
          <a:lstStyle/>
          <a:p>
            <a:fld id="{4093CC90-4002-504C-BD88-C9A1D374048E}" type="slidenum">
              <a:rPr lang="zh-CN" altLang="en-US" smtClean="0"/>
              <a:pPr/>
              <a:t>137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checkerboard(across)">
                                      <p:cBhvr>
                                        <p:cTn id="7" dur="500"/>
                                        <p:tgtEl>
                                          <p:spTgt spid="391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91171">
                                            <p:txEl>
                                              <p:pRg st="1" end="1"/>
                                            </p:txEl>
                                          </p:spTgt>
                                        </p:tgtEl>
                                        <p:attrNameLst>
                                          <p:attrName>style.visibility</p:attrName>
                                        </p:attrNameLst>
                                      </p:cBhvr>
                                      <p:to>
                                        <p:strVal val="visible"/>
                                      </p:to>
                                    </p:set>
                                    <p:animEffect transition="in" filter="checkerboard(across)">
                                      <p:cBhvr>
                                        <p:cTn id="12" dur="500"/>
                                        <p:tgtEl>
                                          <p:spTgt spid="3911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79FDE78-B990-81A8-A673-6F33BC97B286}"/>
              </a:ext>
            </a:extLst>
          </p:cNvPr>
          <p:cNvSpPr>
            <a:spLocks noGrp="1" noChangeArrowheads="1"/>
          </p:cNvSpPr>
          <p:nvPr>
            <p:ph type="title"/>
          </p:nvPr>
        </p:nvSpPr>
        <p:spPr/>
        <p:txBody>
          <a:bodyPr/>
          <a:lstStyle/>
          <a:p>
            <a:pPr eaLnBrk="1" hangingPunct="1"/>
            <a:r>
              <a:rPr lang="en-US" altLang="zh-CN"/>
              <a:t>FSCAN</a:t>
            </a:r>
            <a:r>
              <a:rPr lang="zh-CN" altLang="en-US"/>
              <a:t>算法</a:t>
            </a:r>
          </a:p>
        </p:txBody>
      </p:sp>
      <p:sp>
        <p:nvSpPr>
          <p:cNvPr id="29698" name="Rectangle 3">
            <a:extLst>
              <a:ext uri="{FF2B5EF4-FFF2-40B4-BE49-F238E27FC236}">
                <a16:creationId xmlns:a16="http://schemas.microsoft.com/office/drawing/2014/main" id="{7A036AD6-AECE-69BF-5B69-E46D4281DB32}"/>
              </a:ext>
            </a:extLst>
          </p:cNvPr>
          <p:cNvSpPr>
            <a:spLocks noGrp="1" noChangeArrowheads="1"/>
          </p:cNvSpPr>
          <p:nvPr>
            <p:ph idx="1"/>
          </p:nvPr>
        </p:nvSpPr>
        <p:spPr>
          <a:xfrm>
            <a:off x="838200" y="1268413"/>
            <a:ext cx="8116888" cy="4114800"/>
          </a:xfrm>
        </p:spPr>
        <p:txBody>
          <a:bodyPr/>
          <a:lstStyle/>
          <a:p>
            <a:pPr algn="just" eaLnBrk="1" hangingPunct="1"/>
            <a:r>
              <a:rPr lang="en-US" altLang="zh-CN">
                <a:solidFill>
                  <a:srgbClr val="FF0000"/>
                </a:solidFill>
              </a:rPr>
              <a:t>FSCAN</a:t>
            </a:r>
            <a:r>
              <a:rPr lang="zh-CN" altLang="en-US">
                <a:solidFill>
                  <a:srgbClr val="FF0000"/>
                </a:solidFill>
              </a:rPr>
              <a:t>算法</a:t>
            </a:r>
            <a:r>
              <a:rPr lang="zh-CN" altLang="en-US"/>
              <a:t>是</a:t>
            </a:r>
            <a:r>
              <a:rPr lang="en-US" altLang="zh-CN"/>
              <a:t>N-Step-SCAN</a:t>
            </a:r>
            <a:r>
              <a:rPr lang="zh-CN" altLang="en-US"/>
              <a:t>算法的简化，它只将磁盘请求队列分成两个子队列。一个是当前所有请求磁盘</a:t>
            </a:r>
            <a:r>
              <a:rPr lang="en-US" altLang="zh-CN"/>
              <a:t>I/O</a:t>
            </a:r>
            <a:r>
              <a:rPr lang="zh-CN" altLang="en-US"/>
              <a:t>的进程形成的队列，由磁盘调度按</a:t>
            </a:r>
            <a:r>
              <a:rPr lang="en-US" altLang="zh-CN"/>
              <a:t>SCAN</a:t>
            </a:r>
            <a:r>
              <a:rPr lang="zh-CN" altLang="en-US"/>
              <a:t>算法进行处理，另一个队列则是在扫描期间新出现的磁盘请求。</a:t>
            </a:r>
          </a:p>
        </p:txBody>
      </p:sp>
      <p:sp>
        <p:nvSpPr>
          <p:cNvPr id="2" name="灯片编号占位符 1">
            <a:extLst>
              <a:ext uri="{FF2B5EF4-FFF2-40B4-BE49-F238E27FC236}">
                <a16:creationId xmlns:a16="http://schemas.microsoft.com/office/drawing/2014/main" id="{72773E84-B4FF-E87B-90C3-6D2E7AC19718}"/>
              </a:ext>
            </a:extLst>
          </p:cNvPr>
          <p:cNvSpPr>
            <a:spLocks noGrp="1"/>
          </p:cNvSpPr>
          <p:nvPr>
            <p:ph type="sldNum" sz="quarter" idx="12"/>
          </p:nvPr>
        </p:nvSpPr>
        <p:spPr/>
        <p:txBody>
          <a:bodyPr/>
          <a:lstStyle/>
          <a:p>
            <a:fld id="{4093CC90-4002-504C-BD88-C9A1D374048E}" type="slidenum">
              <a:rPr lang="zh-CN" altLang="en-US" smtClean="0"/>
              <a:pPr/>
              <a:t>138</a:t>
            </a:fld>
            <a:endParaRPr lang="zh-CN" altLang="en-US" dirty="0"/>
          </a:p>
        </p:txBody>
      </p:sp>
    </p:spTree>
  </p:cSld>
  <p:clrMapOvr>
    <a:masterClrMapping/>
  </p:clrMapOvr>
  <p:transition spd="med">
    <p:zo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9658588-A357-519A-9B45-717CDA570C05}"/>
              </a:ext>
            </a:extLst>
          </p:cNvPr>
          <p:cNvSpPr>
            <a:spLocks noGrp="1" noChangeArrowheads="1"/>
          </p:cNvSpPr>
          <p:nvPr>
            <p:ph type="title"/>
          </p:nvPr>
        </p:nvSpPr>
        <p:spPr>
          <a:xfrm>
            <a:off x="1042988" y="225431"/>
            <a:ext cx="7850187" cy="746125"/>
          </a:xfrm>
        </p:spPr>
        <p:txBody>
          <a:bodyPr/>
          <a:lstStyle/>
          <a:p>
            <a:r>
              <a:rPr lang="zh-CN" altLang="en-US" dirty="0"/>
              <a:t>磁盘调度算法的选择</a:t>
            </a:r>
            <a:endParaRPr lang="en-US" altLang="zh-CN" dirty="0"/>
          </a:p>
        </p:txBody>
      </p:sp>
      <p:sp>
        <p:nvSpPr>
          <p:cNvPr id="418819" name="Rectangle 3">
            <a:extLst>
              <a:ext uri="{FF2B5EF4-FFF2-40B4-BE49-F238E27FC236}">
                <a16:creationId xmlns:a16="http://schemas.microsoft.com/office/drawing/2014/main" id="{B5DDB5AC-7B41-DA65-F635-DDA01DCA4B6E}"/>
              </a:ext>
            </a:extLst>
          </p:cNvPr>
          <p:cNvSpPr>
            <a:spLocks noGrp="1" noChangeArrowheads="1"/>
          </p:cNvSpPr>
          <p:nvPr>
            <p:ph idx="1"/>
          </p:nvPr>
        </p:nvSpPr>
        <p:spPr>
          <a:xfrm>
            <a:off x="935038" y="1233488"/>
            <a:ext cx="7772400" cy="4895850"/>
          </a:xfrm>
        </p:spPr>
        <p:txBody>
          <a:bodyPr>
            <a:normAutofit lnSpcReduction="10000"/>
          </a:bodyPr>
          <a:lstStyle/>
          <a:p>
            <a:r>
              <a:rPr lang="en-US" altLang="zh-CN" dirty="0"/>
              <a:t>SSTF</a:t>
            </a:r>
            <a:r>
              <a:rPr lang="zh-CN" altLang="en-US" dirty="0"/>
              <a:t>比较通用且很有吸引力。</a:t>
            </a:r>
            <a:endParaRPr lang="en-US" altLang="zh-CN" dirty="0"/>
          </a:p>
          <a:p>
            <a:r>
              <a:rPr lang="en-US" altLang="zh-CN" dirty="0"/>
              <a:t>SCAN</a:t>
            </a:r>
            <a:r>
              <a:rPr lang="zh-CN" altLang="en-US" dirty="0"/>
              <a:t>和</a:t>
            </a:r>
            <a:r>
              <a:rPr lang="en-US" altLang="zh-CN" dirty="0"/>
              <a:t>C-SCAN</a:t>
            </a:r>
            <a:r>
              <a:rPr lang="zh-CN" altLang="en-US" dirty="0"/>
              <a:t>在重磁盘负载的系统中执行得较好。</a:t>
            </a:r>
          </a:p>
          <a:p>
            <a:r>
              <a:rPr lang="zh-CN" altLang="en-US" dirty="0"/>
              <a:t>性能依赖于请求的数量和类型。</a:t>
            </a:r>
            <a:endParaRPr lang="en-US" altLang="zh-CN" dirty="0"/>
          </a:p>
          <a:p>
            <a:r>
              <a:rPr lang="zh-CN" altLang="en-US" dirty="0"/>
              <a:t>磁盘服务请求受到文件分配方式的影响。</a:t>
            </a:r>
          </a:p>
          <a:p>
            <a:r>
              <a:rPr lang="zh-CN" altLang="en-US" dirty="0"/>
              <a:t>磁盘调度算法应该写成操作系统中的一个独立模块，在必要的时候允许用不同的算法来替换。</a:t>
            </a:r>
            <a:endParaRPr lang="en-US" altLang="zh-CN" dirty="0"/>
          </a:p>
          <a:p>
            <a:r>
              <a:rPr lang="en-US" altLang="zh-CN" dirty="0"/>
              <a:t>SSTF</a:t>
            </a:r>
            <a:r>
              <a:rPr lang="zh-CN" altLang="en-US" dirty="0"/>
              <a:t>和</a:t>
            </a:r>
            <a:r>
              <a:rPr lang="en-US" altLang="zh-CN" dirty="0"/>
              <a:t>LOOK</a:t>
            </a:r>
            <a:r>
              <a:rPr lang="zh-CN" altLang="en-US" dirty="0"/>
              <a:t>都是缺省算法的合理选择。</a:t>
            </a:r>
          </a:p>
          <a:p>
            <a:endParaRPr lang="zh-CN" altLang="en-US" dirty="0"/>
          </a:p>
        </p:txBody>
      </p:sp>
      <p:sp>
        <p:nvSpPr>
          <p:cNvPr id="2" name="灯片编号占位符 1">
            <a:extLst>
              <a:ext uri="{FF2B5EF4-FFF2-40B4-BE49-F238E27FC236}">
                <a16:creationId xmlns:a16="http://schemas.microsoft.com/office/drawing/2014/main" id="{FCF4C87A-6539-D0EC-F58E-8C6940E829D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checkerboard(across)">
                                      <p:cBhvr>
                                        <p:cTn id="7" dur="500"/>
                                        <p:tgtEl>
                                          <p:spTgt spid="418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18819">
                                            <p:txEl>
                                              <p:pRg st="1" end="1"/>
                                            </p:txEl>
                                          </p:spTgt>
                                        </p:tgtEl>
                                        <p:attrNameLst>
                                          <p:attrName>style.visibility</p:attrName>
                                        </p:attrNameLst>
                                      </p:cBhvr>
                                      <p:to>
                                        <p:strVal val="visible"/>
                                      </p:to>
                                    </p:set>
                                    <p:animEffect transition="in" filter="checkerboard(across)">
                                      <p:cBhvr>
                                        <p:cTn id="12" dur="500"/>
                                        <p:tgtEl>
                                          <p:spTgt spid="418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18819">
                                            <p:txEl>
                                              <p:pRg st="2" end="2"/>
                                            </p:txEl>
                                          </p:spTgt>
                                        </p:tgtEl>
                                        <p:attrNameLst>
                                          <p:attrName>style.visibility</p:attrName>
                                        </p:attrNameLst>
                                      </p:cBhvr>
                                      <p:to>
                                        <p:strVal val="visible"/>
                                      </p:to>
                                    </p:set>
                                    <p:animEffect transition="in" filter="checkerboard(across)">
                                      <p:cBhvr>
                                        <p:cTn id="17" dur="500"/>
                                        <p:tgtEl>
                                          <p:spTgt spid="418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18819">
                                            <p:txEl>
                                              <p:pRg st="3" end="3"/>
                                            </p:txEl>
                                          </p:spTgt>
                                        </p:tgtEl>
                                        <p:attrNameLst>
                                          <p:attrName>style.visibility</p:attrName>
                                        </p:attrNameLst>
                                      </p:cBhvr>
                                      <p:to>
                                        <p:strVal val="visible"/>
                                      </p:to>
                                    </p:set>
                                    <p:animEffect transition="in" filter="checkerboard(across)">
                                      <p:cBhvr>
                                        <p:cTn id="22" dur="500"/>
                                        <p:tgtEl>
                                          <p:spTgt spid="418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18819">
                                            <p:txEl>
                                              <p:pRg st="4" end="4"/>
                                            </p:txEl>
                                          </p:spTgt>
                                        </p:tgtEl>
                                        <p:attrNameLst>
                                          <p:attrName>style.visibility</p:attrName>
                                        </p:attrNameLst>
                                      </p:cBhvr>
                                      <p:to>
                                        <p:strVal val="visible"/>
                                      </p:to>
                                    </p:set>
                                    <p:animEffect transition="in" filter="checkerboard(across)">
                                      <p:cBhvr>
                                        <p:cTn id="27" dur="500"/>
                                        <p:tgtEl>
                                          <p:spTgt spid="418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18819">
                                            <p:txEl>
                                              <p:pRg st="5" end="5"/>
                                            </p:txEl>
                                          </p:spTgt>
                                        </p:tgtEl>
                                        <p:attrNameLst>
                                          <p:attrName>style.visibility</p:attrName>
                                        </p:attrNameLst>
                                      </p:cBhvr>
                                      <p:to>
                                        <p:strVal val="visible"/>
                                      </p:to>
                                    </p:set>
                                    <p:animEffect transition="in" filter="checkerboard(across)">
                                      <p:cBhvr>
                                        <p:cTn id="32" dur="500"/>
                                        <p:tgtEl>
                                          <p:spTgt spid="418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C87D9844-BB5D-4078-9956-12B94CADF796}"/>
              </a:ext>
            </a:extLst>
          </p:cNvPr>
          <p:cNvSpPr>
            <a:spLocks noGrp="1" noChangeArrowheads="1"/>
          </p:cNvSpPr>
          <p:nvPr>
            <p:ph type="title"/>
          </p:nvPr>
        </p:nvSpPr>
        <p:spPr>
          <a:xfrm>
            <a:off x="1042988" y="225431"/>
            <a:ext cx="7850187" cy="746125"/>
          </a:xfrm>
        </p:spPr>
        <p:txBody>
          <a:bodyPr/>
          <a:lstStyle/>
          <a:p>
            <a:r>
              <a:rPr lang="zh-CN" altLang="en-US" dirty="0"/>
              <a:t>磁盘初始化</a:t>
            </a:r>
          </a:p>
        </p:txBody>
      </p:sp>
      <p:sp>
        <p:nvSpPr>
          <p:cNvPr id="34818" name="Rectangle 3">
            <a:extLst>
              <a:ext uri="{FF2B5EF4-FFF2-40B4-BE49-F238E27FC236}">
                <a16:creationId xmlns:a16="http://schemas.microsoft.com/office/drawing/2014/main" id="{40760975-1BDD-18C2-CB7F-78D6B839E018}"/>
              </a:ext>
            </a:extLst>
          </p:cNvPr>
          <p:cNvSpPr>
            <a:spLocks noGrp="1" noChangeArrowheads="1"/>
          </p:cNvSpPr>
          <p:nvPr>
            <p:ph idx="1"/>
          </p:nvPr>
        </p:nvSpPr>
        <p:spPr>
          <a:xfrm>
            <a:off x="935038" y="1233488"/>
            <a:ext cx="7772400" cy="4895850"/>
          </a:xfrm>
        </p:spPr>
        <p:txBody>
          <a:bodyPr>
            <a:normAutofit/>
          </a:bodyPr>
          <a:lstStyle/>
          <a:p>
            <a:r>
              <a:rPr lang="zh-CN" altLang="en-US" dirty="0"/>
              <a:t>分区：</a:t>
            </a:r>
            <a:r>
              <a:rPr lang="zh-CN" altLang="en-US" b="0" i="0" dirty="0">
                <a:effectLst/>
                <a:latin typeface="Noto Sans" panose="020B0502040504020204" pitchFamily="34" charset="0"/>
              </a:rPr>
              <a:t>确定分区的数量、大小和类型，使用分区工具（如磁盘管理工具）创建分区，并将其分配给相应的磁盘空间。</a:t>
            </a:r>
            <a:endParaRPr lang="en-US" altLang="zh-CN" dirty="0"/>
          </a:p>
          <a:p>
            <a:r>
              <a:rPr lang="zh-CN" altLang="en-US" dirty="0"/>
              <a:t>创建卷：</a:t>
            </a:r>
            <a:r>
              <a:rPr lang="zh-CN" altLang="en-US" b="0" i="0" dirty="0">
                <a:effectLst/>
                <a:latin typeface="Noto Sans" panose="020B0502040504020204" pitchFamily="34" charset="0"/>
              </a:rPr>
              <a:t>将分区转换为逻辑存储空间，以便进行文件系统的创建和管理。</a:t>
            </a:r>
            <a:endParaRPr lang="en-US" altLang="zh-CN" dirty="0"/>
          </a:p>
          <a:p>
            <a:r>
              <a:rPr lang="zh-CN" altLang="en-US" dirty="0"/>
              <a:t>格式化：</a:t>
            </a:r>
            <a:r>
              <a:rPr lang="zh-CN" altLang="en-US" b="0" i="0" dirty="0">
                <a:effectLst/>
                <a:latin typeface="Noto Sans" panose="020B0502040504020204" pitchFamily="34" charset="0"/>
              </a:rPr>
              <a:t>选择适当的文件系统类型，使用格式化工具（如格式化命令或磁盘管理工具）对每个卷进行格式化和初始化。</a:t>
            </a:r>
            <a:endParaRPr lang="en-US" altLang="zh-CN" dirty="0"/>
          </a:p>
        </p:txBody>
      </p:sp>
      <p:sp>
        <p:nvSpPr>
          <p:cNvPr id="2" name="灯片编号占位符 1">
            <a:extLst>
              <a:ext uri="{FF2B5EF4-FFF2-40B4-BE49-F238E27FC236}">
                <a16:creationId xmlns:a16="http://schemas.microsoft.com/office/drawing/2014/main" id="{8F1EEAF0-3DE6-85B2-90B3-F6A19A01C14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140</a:t>
            </a:fld>
            <a:endParaRPr lang="zh-CN" altLang="en-US" dirty="0"/>
          </a:p>
        </p:txBody>
      </p:sp>
    </p:spTree>
  </p:cSld>
  <p:clrMapOvr>
    <a:masterClrMapping/>
  </p:clrMapOvr>
  <p:transition spd="med">
    <p:zoom/>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30E8C1C-EB9E-17AD-29D6-1C260CAB5608}"/>
              </a:ext>
            </a:extLst>
          </p:cNvPr>
          <p:cNvSpPr>
            <a:spLocks noGrp="1" noChangeArrowheads="1"/>
          </p:cNvSpPr>
          <p:nvPr>
            <p:ph type="title"/>
          </p:nvPr>
        </p:nvSpPr>
        <p:spPr>
          <a:xfrm>
            <a:off x="1042988" y="225431"/>
            <a:ext cx="7850187" cy="746125"/>
          </a:xfrm>
        </p:spPr>
        <p:txBody>
          <a:bodyPr/>
          <a:lstStyle/>
          <a:p>
            <a:r>
              <a:rPr lang="zh-CN" altLang="en-US" dirty="0"/>
              <a:t>磁盘格式化</a:t>
            </a:r>
          </a:p>
        </p:txBody>
      </p:sp>
      <p:sp>
        <p:nvSpPr>
          <p:cNvPr id="421891" name="Rectangle 3">
            <a:extLst>
              <a:ext uri="{FF2B5EF4-FFF2-40B4-BE49-F238E27FC236}">
                <a16:creationId xmlns:a16="http://schemas.microsoft.com/office/drawing/2014/main" id="{29C7BB00-007D-1F48-9637-7739F0AACF9C}"/>
              </a:ext>
            </a:extLst>
          </p:cNvPr>
          <p:cNvSpPr>
            <a:spLocks noGrp="1" noChangeArrowheads="1"/>
          </p:cNvSpPr>
          <p:nvPr>
            <p:ph idx="1"/>
          </p:nvPr>
        </p:nvSpPr>
        <p:spPr>
          <a:xfrm>
            <a:off x="935038" y="1233488"/>
            <a:ext cx="7772400" cy="4895850"/>
          </a:xfrm>
        </p:spPr>
        <p:txBody>
          <a:bodyPr>
            <a:normAutofit/>
          </a:bodyPr>
          <a:lstStyle/>
          <a:p>
            <a:r>
              <a:rPr lang="zh-CN" altLang="en-US" dirty="0"/>
              <a:t>低级格式化</a:t>
            </a:r>
            <a:r>
              <a:rPr lang="en-US" altLang="zh-CN" dirty="0"/>
              <a:t>(</a:t>
            </a:r>
            <a:r>
              <a:rPr lang="zh-CN" altLang="en-US" dirty="0"/>
              <a:t>物理格式化</a:t>
            </a:r>
            <a:r>
              <a:rPr lang="en-US" altLang="zh-CN" dirty="0"/>
              <a:t>)</a:t>
            </a:r>
            <a:r>
              <a:rPr lang="zh-CN" altLang="en-US" dirty="0"/>
              <a:t>：在磁盘表面上创建物理磁道和扇区的过程。由磁盘制造商完成的，用户无需干预或执行任何操作。它确保磁盘的物理结构正确，并准备好用于存储数据。</a:t>
            </a:r>
            <a:endParaRPr lang="en-US" altLang="zh-CN" dirty="0"/>
          </a:p>
          <a:p>
            <a:r>
              <a:rPr lang="zh-CN" altLang="en-US" dirty="0"/>
              <a:t>高级格式化：在磁盘上创建文件系统结构以及相关的元数据信息的过程。高级格式化会删除磁盘上的所有数据，并为磁盘准备好文件系统以便进行文件和目录的存储和管理。</a:t>
            </a:r>
          </a:p>
        </p:txBody>
      </p:sp>
      <p:sp>
        <p:nvSpPr>
          <p:cNvPr id="2" name="灯片编号占位符 1">
            <a:extLst>
              <a:ext uri="{FF2B5EF4-FFF2-40B4-BE49-F238E27FC236}">
                <a16:creationId xmlns:a16="http://schemas.microsoft.com/office/drawing/2014/main" id="{85448A66-915C-6751-AAEE-4FB643BCB67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animEffect transition="in" filter="checkerboard(across)">
                                      <p:cBhvr>
                                        <p:cTn id="7" dur="500"/>
                                        <p:tgtEl>
                                          <p:spTgt spid="421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21891">
                                            <p:txEl>
                                              <p:pRg st="1" end="1"/>
                                            </p:txEl>
                                          </p:spTgt>
                                        </p:tgtEl>
                                        <p:attrNameLst>
                                          <p:attrName>style.visibility</p:attrName>
                                        </p:attrNameLst>
                                      </p:cBhvr>
                                      <p:to>
                                        <p:strVal val="visible"/>
                                      </p:to>
                                    </p:set>
                                    <p:animEffect transition="in" filter="checkerboard(across)">
                                      <p:cBhvr>
                                        <p:cTn id="12" dur="500"/>
                                        <p:tgtEl>
                                          <p:spTgt spid="4218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0AB2E8E5-E41F-A44E-F811-D1C91E73D010}"/>
              </a:ext>
            </a:extLst>
          </p:cNvPr>
          <p:cNvSpPr>
            <a:spLocks noGrp="1" noChangeArrowheads="1"/>
          </p:cNvSpPr>
          <p:nvPr>
            <p:ph type="title"/>
          </p:nvPr>
        </p:nvSpPr>
        <p:spPr>
          <a:xfrm>
            <a:off x="1042988" y="225431"/>
            <a:ext cx="7850187" cy="746125"/>
          </a:xfrm>
        </p:spPr>
        <p:txBody>
          <a:bodyPr/>
          <a:lstStyle/>
          <a:p>
            <a:r>
              <a:rPr lang="zh-CN" altLang="en-US" dirty="0"/>
              <a:t>磁盘引导块 </a:t>
            </a:r>
            <a:r>
              <a:rPr lang="en-US" altLang="zh-CN" dirty="0"/>
              <a:t>Boot Block</a:t>
            </a:r>
            <a:endParaRPr lang="zh-CN" altLang="en-US" dirty="0"/>
          </a:p>
        </p:txBody>
      </p:sp>
      <p:sp>
        <p:nvSpPr>
          <p:cNvPr id="423939" name="Rectangle 3">
            <a:extLst>
              <a:ext uri="{FF2B5EF4-FFF2-40B4-BE49-F238E27FC236}">
                <a16:creationId xmlns:a16="http://schemas.microsoft.com/office/drawing/2014/main" id="{E6136624-453C-D508-EB97-16496F6FD5FE}"/>
              </a:ext>
            </a:extLst>
          </p:cNvPr>
          <p:cNvSpPr>
            <a:spLocks noGrp="1" noChangeArrowheads="1"/>
          </p:cNvSpPr>
          <p:nvPr>
            <p:ph idx="1"/>
          </p:nvPr>
        </p:nvSpPr>
        <p:spPr>
          <a:xfrm>
            <a:off x="935038" y="1233488"/>
            <a:ext cx="7772400" cy="4895850"/>
          </a:xfrm>
        </p:spPr>
        <p:txBody>
          <a:bodyPr>
            <a:normAutofit fontScale="85000" lnSpcReduction="20000"/>
          </a:bodyPr>
          <a:lstStyle/>
          <a:p>
            <a:r>
              <a:rPr lang="zh-CN" altLang="en-US" dirty="0"/>
              <a:t>磁盘引导块（</a:t>
            </a:r>
            <a:r>
              <a:rPr lang="en" altLang="zh-CN" dirty="0"/>
              <a:t>Disk Boot Block</a:t>
            </a:r>
            <a:r>
              <a:rPr lang="zh-CN" altLang="en" dirty="0"/>
              <a:t>），</a:t>
            </a:r>
            <a:r>
              <a:rPr lang="zh-CN" altLang="en-US" dirty="0"/>
              <a:t>也被称为引导扇区（</a:t>
            </a:r>
            <a:r>
              <a:rPr lang="en" altLang="zh-CN" dirty="0"/>
              <a:t>Boot Sector</a:t>
            </a:r>
            <a:r>
              <a:rPr lang="zh-CN" altLang="en" dirty="0"/>
              <a:t>）</a:t>
            </a:r>
            <a:r>
              <a:rPr lang="zh-CN" altLang="en-US" dirty="0"/>
              <a:t>或主引导记录（</a:t>
            </a:r>
            <a:r>
              <a:rPr lang="en" altLang="zh-CN" dirty="0"/>
              <a:t>Master Boot Record</a:t>
            </a:r>
            <a:r>
              <a:rPr lang="zh-CN" altLang="en" dirty="0"/>
              <a:t>，</a:t>
            </a:r>
            <a:r>
              <a:rPr lang="en" altLang="zh-CN" dirty="0"/>
              <a:t>MBR</a:t>
            </a:r>
            <a:r>
              <a:rPr lang="zh-CN" altLang="en" dirty="0"/>
              <a:t>），</a:t>
            </a:r>
            <a:r>
              <a:rPr lang="zh-CN" altLang="en-US" dirty="0"/>
              <a:t>是存储在磁盘的第一个扇区的特殊区域。它是操作系统启动过程中的关键组成部分。</a:t>
            </a:r>
            <a:endParaRPr lang="en-US" altLang="zh-CN" dirty="0"/>
          </a:p>
          <a:p>
            <a:r>
              <a:rPr lang="zh-CN" altLang="en-US" dirty="0"/>
              <a:t>引导过程</a:t>
            </a:r>
            <a:endParaRPr lang="en-US" altLang="zh-CN" dirty="0"/>
          </a:p>
          <a:p>
            <a:pPr lvl="1"/>
            <a:r>
              <a:rPr lang="en-US" altLang="zh-CN" dirty="0"/>
              <a:t>CPU</a:t>
            </a:r>
            <a:r>
              <a:rPr lang="zh-CN" altLang="en-US" dirty="0"/>
              <a:t>自检 </a:t>
            </a:r>
            <a:endParaRPr lang="en-US" altLang="zh-CN" dirty="0"/>
          </a:p>
          <a:p>
            <a:pPr lvl="1"/>
            <a:r>
              <a:rPr lang="zh-CN" altLang="en-US" dirty="0"/>
              <a:t>运行</a:t>
            </a:r>
            <a:r>
              <a:rPr lang="en-US" altLang="zh-CN" dirty="0"/>
              <a:t>ROM</a:t>
            </a:r>
            <a:r>
              <a:rPr lang="zh-CN" altLang="en-US" dirty="0"/>
              <a:t>中的自举程序 </a:t>
            </a:r>
            <a:r>
              <a:rPr lang="en-US" altLang="zh-CN" dirty="0"/>
              <a:t>(BIOS for PC)</a:t>
            </a:r>
          </a:p>
          <a:p>
            <a:pPr lvl="1"/>
            <a:r>
              <a:rPr lang="zh-CN" altLang="en-US" dirty="0"/>
              <a:t>从引导分区装入第一块</a:t>
            </a:r>
            <a:endParaRPr lang="en-US" altLang="zh-CN" dirty="0"/>
          </a:p>
          <a:p>
            <a:r>
              <a:rPr lang="zh-CN" altLang="en-US" dirty="0"/>
              <a:t>绝大多数系统只在启动</a:t>
            </a:r>
            <a:r>
              <a:rPr lang="en-US" altLang="zh-CN" dirty="0"/>
              <a:t>ROM</a:t>
            </a:r>
            <a:r>
              <a:rPr lang="zh-CN" altLang="en-US" dirty="0"/>
              <a:t>中保留一个很小的自举装入程序，其作用是进一步从磁盘上调入更为完整的自举程序。它能从磁盘上装入整个操作系统。</a:t>
            </a:r>
          </a:p>
          <a:p>
            <a:endParaRPr lang="en-US" altLang="zh-CN" dirty="0"/>
          </a:p>
        </p:txBody>
      </p:sp>
      <p:sp>
        <p:nvSpPr>
          <p:cNvPr id="2" name="灯片编号占位符 1">
            <a:extLst>
              <a:ext uri="{FF2B5EF4-FFF2-40B4-BE49-F238E27FC236}">
                <a16:creationId xmlns:a16="http://schemas.microsoft.com/office/drawing/2014/main" id="{B65B7E4C-8A72-492A-EDEE-BF4F29513EF2}"/>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checkerboard(across)">
                                      <p:cBhvr>
                                        <p:cTn id="7" dur="500"/>
                                        <p:tgtEl>
                                          <p:spTgt spid="423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Effect transition="in" filter="checkerboard(across)">
                                      <p:cBhvr>
                                        <p:cTn id="12" dur="500"/>
                                        <p:tgtEl>
                                          <p:spTgt spid="423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Effect transition="in" filter="checkerboard(across)">
                                      <p:cBhvr>
                                        <p:cTn id="17" dur="500"/>
                                        <p:tgtEl>
                                          <p:spTgt spid="423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Effect transition="in" filter="checkerboard(across)">
                                      <p:cBhvr>
                                        <p:cTn id="22" dur="500"/>
                                        <p:tgtEl>
                                          <p:spTgt spid="4239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23939">
                                            <p:txEl>
                                              <p:pRg st="4" end="4"/>
                                            </p:txEl>
                                          </p:spTgt>
                                        </p:tgtEl>
                                        <p:attrNameLst>
                                          <p:attrName>style.visibility</p:attrName>
                                        </p:attrNameLst>
                                      </p:cBhvr>
                                      <p:to>
                                        <p:strVal val="visible"/>
                                      </p:to>
                                    </p:set>
                                    <p:animEffect transition="in" filter="checkerboard(across)">
                                      <p:cBhvr>
                                        <p:cTn id="27" dur="500"/>
                                        <p:tgtEl>
                                          <p:spTgt spid="4239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23939">
                                            <p:txEl>
                                              <p:pRg st="5" end="5"/>
                                            </p:txEl>
                                          </p:spTgt>
                                        </p:tgtEl>
                                        <p:attrNameLst>
                                          <p:attrName>style.visibility</p:attrName>
                                        </p:attrNameLst>
                                      </p:cBhvr>
                                      <p:to>
                                        <p:strVal val="visible"/>
                                      </p:to>
                                    </p:set>
                                    <p:animEffect transition="in" filter="checkerboard(across)">
                                      <p:cBhvr>
                                        <p:cTn id="32" dur="500"/>
                                        <p:tgtEl>
                                          <p:spTgt spid="4239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F528FA3D-2FD3-4FC0-5D0A-9DCAAAB6F952}"/>
              </a:ext>
            </a:extLst>
          </p:cNvPr>
          <p:cNvSpPr>
            <a:spLocks noGrp="1" noChangeArrowheads="1"/>
          </p:cNvSpPr>
          <p:nvPr>
            <p:ph type="title"/>
          </p:nvPr>
        </p:nvSpPr>
        <p:spPr/>
        <p:txBody>
          <a:bodyPr/>
          <a:lstStyle/>
          <a:p>
            <a:pPr eaLnBrk="1" hangingPunct="1"/>
            <a:r>
              <a:rPr lang="zh-CN" altLang="en-US" b="1" dirty="0"/>
              <a:t>坏块 </a:t>
            </a:r>
            <a:r>
              <a:rPr lang="en-US" altLang="zh-CN" b="1" dirty="0"/>
              <a:t>Bad Block</a:t>
            </a:r>
            <a:endParaRPr lang="zh-CN" altLang="en-US" b="1" dirty="0"/>
          </a:p>
        </p:txBody>
      </p:sp>
      <p:sp>
        <p:nvSpPr>
          <p:cNvPr id="39938" name="Rectangle 3">
            <a:extLst>
              <a:ext uri="{FF2B5EF4-FFF2-40B4-BE49-F238E27FC236}">
                <a16:creationId xmlns:a16="http://schemas.microsoft.com/office/drawing/2014/main" id="{5136FDD9-D856-F942-88F2-340916AF9BB3}"/>
              </a:ext>
            </a:extLst>
          </p:cNvPr>
          <p:cNvSpPr>
            <a:spLocks noGrp="1" noChangeArrowheads="1"/>
          </p:cNvSpPr>
          <p:nvPr>
            <p:ph idx="1"/>
          </p:nvPr>
        </p:nvSpPr>
        <p:spPr/>
        <p:txBody>
          <a:bodyPr/>
          <a:lstStyle/>
          <a:p>
            <a:pPr eaLnBrk="1" hangingPunct="1"/>
            <a:r>
              <a:rPr lang="zh-CN" altLang="en-US"/>
              <a:t>磁盘上的一个或多个扇区可能坏掉。</a:t>
            </a:r>
          </a:p>
          <a:p>
            <a:pPr lvl="1" eaLnBrk="1" hangingPunct="1"/>
            <a:r>
              <a:rPr lang="zh-CN" altLang="en-US"/>
              <a:t>对于简单磁盘， </a:t>
            </a:r>
            <a:r>
              <a:rPr lang="en-US" altLang="zh-CN"/>
              <a:t>Format</a:t>
            </a:r>
            <a:r>
              <a:rPr lang="zh-CN" altLang="en-US"/>
              <a:t>等程序可以标记坏扇区以通知分配程序不使用。</a:t>
            </a:r>
            <a:endParaRPr lang="en-US" altLang="zh-CN"/>
          </a:p>
          <a:p>
            <a:pPr lvl="1" eaLnBrk="1" hangingPunct="1"/>
            <a:r>
              <a:rPr lang="zh-CN" altLang="en-US"/>
              <a:t>更为复杂的磁盘，对坏块的处理更为智能化。如采用扇区备用或转寄方案，即低级格式化时留一些块作为备用，发现坏块时用备用块逻辑替代坏块；</a:t>
            </a:r>
          </a:p>
        </p:txBody>
      </p:sp>
      <p:sp>
        <p:nvSpPr>
          <p:cNvPr id="2" name="灯片编号占位符 1">
            <a:extLst>
              <a:ext uri="{FF2B5EF4-FFF2-40B4-BE49-F238E27FC236}">
                <a16:creationId xmlns:a16="http://schemas.microsoft.com/office/drawing/2014/main" id="{3D498F53-57B1-1CA7-4F22-6E9BE34ECBD5}"/>
              </a:ext>
            </a:extLst>
          </p:cNvPr>
          <p:cNvSpPr>
            <a:spLocks noGrp="1"/>
          </p:cNvSpPr>
          <p:nvPr>
            <p:ph type="sldNum" sz="quarter" idx="12"/>
          </p:nvPr>
        </p:nvSpPr>
        <p:spPr/>
        <p:txBody>
          <a:bodyPr/>
          <a:lstStyle/>
          <a:p>
            <a:fld id="{4093CC90-4002-504C-BD88-C9A1D374048E}" type="slidenum">
              <a:rPr lang="zh-CN" altLang="en-US" smtClean="0"/>
              <a:pPr/>
              <a:t>143</a:t>
            </a:fld>
            <a:endParaRPr lang="zh-CN" altLang="en-US" dirty="0"/>
          </a:p>
        </p:txBody>
      </p:sp>
    </p:spTree>
  </p:cSld>
  <p:clrMapOvr>
    <a:masterClrMapping/>
  </p:clrMapOvr>
  <p:transition spd="med">
    <p:zo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70651EAF-152B-FEAE-B2D3-D224CDF1CE2B}"/>
              </a:ext>
            </a:extLst>
          </p:cNvPr>
          <p:cNvSpPr>
            <a:spLocks noGrp="1" noChangeArrowheads="1"/>
          </p:cNvSpPr>
          <p:nvPr>
            <p:ph type="title"/>
          </p:nvPr>
        </p:nvSpPr>
        <p:spPr>
          <a:xfrm>
            <a:off x="1042988" y="225431"/>
            <a:ext cx="7850187" cy="746125"/>
          </a:xfrm>
        </p:spPr>
        <p:txBody>
          <a:bodyPr/>
          <a:lstStyle/>
          <a:p>
            <a:r>
              <a:rPr lang="zh-CN" altLang="en-US" dirty="0"/>
              <a:t>交换空间管理</a:t>
            </a:r>
          </a:p>
        </p:txBody>
      </p:sp>
      <p:sp>
        <p:nvSpPr>
          <p:cNvPr id="427011" name="Rectangle 3">
            <a:extLst>
              <a:ext uri="{FF2B5EF4-FFF2-40B4-BE49-F238E27FC236}">
                <a16:creationId xmlns:a16="http://schemas.microsoft.com/office/drawing/2014/main" id="{5627D141-3369-D8C5-4555-42761C0D8F4F}"/>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dirty="0"/>
              <a:t>交换空间：虚拟内存使用磁盘空间作为主存的扩展</a:t>
            </a:r>
          </a:p>
          <a:p>
            <a:r>
              <a:rPr lang="zh-CN" altLang="en-US" dirty="0"/>
              <a:t>交换空间的使用</a:t>
            </a:r>
            <a:endParaRPr lang="en-US" altLang="zh-CN" dirty="0"/>
          </a:p>
          <a:p>
            <a:pPr lvl="1"/>
            <a:r>
              <a:rPr lang="zh-CN" altLang="en-US" dirty="0"/>
              <a:t>保存整个进程映像</a:t>
            </a:r>
            <a:endParaRPr lang="en-US" altLang="zh-CN" dirty="0"/>
          </a:p>
          <a:p>
            <a:pPr lvl="1"/>
            <a:r>
              <a:rPr lang="zh-CN" altLang="en-US" dirty="0"/>
              <a:t>存储换出内存的页 </a:t>
            </a:r>
            <a:endParaRPr lang="en-US" altLang="zh-CN" dirty="0"/>
          </a:p>
          <a:p>
            <a:r>
              <a:rPr lang="zh-CN" altLang="en-US" dirty="0"/>
              <a:t>交换空间的位置</a:t>
            </a:r>
          </a:p>
          <a:p>
            <a:pPr lvl="1"/>
            <a:r>
              <a:rPr lang="zh-CN" altLang="en-US" dirty="0"/>
              <a:t>交换空间创建在普通文件系统上。通常是文件系统内的一个简单大文件。这种方式实现简单但效率较低。</a:t>
            </a:r>
          </a:p>
          <a:p>
            <a:pPr lvl="1"/>
            <a:r>
              <a:rPr lang="zh-CN" altLang="en-US" dirty="0"/>
              <a:t>交换空间创建在独立的磁盘分区上（如</a:t>
            </a:r>
            <a:r>
              <a:rPr lang="en-US" altLang="zh-CN" dirty="0"/>
              <a:t>Unix/Linux</a:t>
            </a:r>
            <a:r>
              <a:rPr lang="zh-CN" altLang="en-US" dirty="0"/>
              <a:t>）</a:t>
            </a:r>
          </a:p>
          <a:p>
            <a:pPr lvl="1"/>
            <a:r>
              <a:rPr lang="zh-CN" altLang="en-US" dirty="0"/>
              <a:t>有些</a:t>
            </a:r>
            <a:r>
              <a:rPr lang="en-US" altLang="zh-CN" dirty="0"/>
              <a:t>OS</a:t>
            </a:r>
            <a:r>
              <a:rPr lang="zh-CN" altLang="en-US" dirty="0"/>
              <a:t>较为灵活，可以由系统管理员来选择使用以上哪种方式。</a:t>
            </a:r>
          </a:p>
        </p:txBody>
      </p:sp>
      <p:sp>
        <p:nvSpPr>
          <p:cNvPr id="2" name="灯片编号占位符 1">
            <a:extLst>
              <a:ext uri="{FF2B5EF4-FFF2-40B4-BE49-F238E27FC236}">
                <a16:creationId xmlns:a16="http://schemas.microsoft.com/office/drawing/2014/main" id="{27211377-4BA4-E710-AE69-CE68A225A12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27011">
                                            <p:txEl>
                                              <p:pRg st="0" end="0"/>
                                            </p:txEl>
                                          </p:spTgt>
                                        </p:tgtEl>
                                        <p:attrNameLst>
                                          <p:attrName>style.visibility</p:attrName>
                                        </p:attrNameLst>
                                      </p:cBhvr>
                                      <p:to>
                                        <p:strVal val="visible"/>
                                      </p:to>
                                    </p:set>
                                    <p:animEffect transition="in" filter="checkerboard(across)">
                                      <p:cBhvr>
                                        <p:cTn id="7" dur="500"/>
                                        <p:tgtEl>
                                          <p:spTgt spid="427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27011">
                                            <p:txEl>
                                              <p:pRg st="1" end="1"/>
                                            </p:txEl>
                                          </p:spTgt>
                                        </p:tgtEl>
                                        <p:attrNameLst>
                                          <p:attrName>style.visibility</p:attrName>
                                        </p:attrNameLst>
                                      </p:cBhvr>
                                      <p:to>
                                        <p:strVal val="visible"/>
                                      </p:to>
                                    </p:set>
                                    <p:animEffect transition="in" filter="checkerboard(across)">
                                      <p:cBhvr>
                                        <p:cTn id="12" dur="500"/>
                                        <p:tgtEl>
                                          <p:spTgt spid="427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27011">
                                            <p:txEl>
                                              <p:pRg st="2" end="2"/>
                                            </p:txEl>
                                          </p:spTgt>
                                        </p:tgtEl>
                                        <p:attrNameLst>
                                          <p:attrName>style.visibility</p:attrName>
                                        </p:attrNameLst>
                                      </p:cBhvr>
                                      <p:to>
                                        <p:strVal val="visible"/>
                                      </p:to>
                                    </p:set>
                                    <p:animEffect transition="in" filter="checkerboard(across)">
                                      <p:cBhvr>
                                        <p:cTn id="17" dur="500"/>
                                        <p:tgtEl>
                                          <p:spTgt spid="427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27011">
                                            <p:txEl>
                                              <p:pRg st="3" end="3"/>
                                            </p:txEl>
                                          </p:spTgt>
                                        </p:tgtEl>
                                        <p:attrNameLst>
                                          <p:attrName>style.visibility</p:attrName>
                                        </p:attrNameLst>
                                      </p:cBhvr>
                                      <p:to>
                                        <p:strVal val="visible"/>
                                      </p:to>
                                    </p:set>
                                    <p:animEffect transition="in" filter="checkerboard(across)">
                                      <p:cBhvr>
                                        <p:cTn id="22" dur="500"/>
                                        <p:tgtEl>
                                          <p:spTgt spid="427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27011">
                                            <p:txEl>
                                              <p:pRg st="4" end="4"/>
                                            </p:txEl>
                                          </p:spTgt>
                                        </p:tgtEl>
                                        <p:attrNameLst>
                                          <p:attrName>style.visibility</p:attrName>
                                        </p:attrNameLst>
                                      </p:cBhvr>
                                      <p:to>
                                        <p:strVal val="visible"/>
                                      </p:to>
                                    </p:set>
                                    <p:animEffect transition="in" filter="checkerboard(across)">
                                      <p:cBhvr>
                                        <p:cTn id="27" dur="500"/>
                                        <p:tgtEl>
                                          <p:spTgt spid="427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27011">
                                            <p:txEl>
                                              <p:pRg st="5" end="5"/>
                                            </p:txEl>
                                          </p:spTgt>
                                        </p:tgtEl>
                                        <p:attrNameLst>
                                          <p:attrName>style.visibility</p:attrName>
                                        </p:attrNameLst>
                                      </p:cBhvr>
                                      <p:to>
                                        <p:strVal val="visible"/>
                                      </p:to>
                                    </p:set>
                                    <p:animEffect transition="in" filter="checkerboard(across)">
                                      <p:cBhvr>
                                        <p:cTn id="32" dur="500"/>
                                        <p:tgtEl>
                                          <p:spTgt spid="4270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427011">
                                            <p:txEl>
                                              <p:pRg st="6" end="6"/>
                                            </p:txEl>
                                          </p:spTgt>
                                        </p:tgtEl>
                                        <p:attrNameLst>
                                          <p:attrName>style.visibility</p:attrName>
                                        </p:attrNameLst>
                                      </p:cBhvr>
                                      <p:to>
                                        <p:strVal val="visible"/>
                                      </p:to>
                                    </p:set>
                                    <p:animEffect transition="in" filter="checkerboard(across)">
                                      <p:cBhvr>
                                        <p:cTn id="37" dur="500"/>
                                        <p:tgtEl>
                                          <p:spTgt spid="4270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427011">
                                            <p:txEl>
                                              <p:pRg st="7" end="7"/>
                                            </p:txEl>
                                          </p:spTgt>
                                        </p:tgtEl>
                                        <p:attrNameLst>
                                          <p:attrName>style.visibility</p:attrName>
                                        </p:attrNameLst>
                                      </p:cBhvr>
                                      <p:to>
                                        <p:strVal val="visible"/>
                                      </p:to>
                                    </p:set>
                                    <p:animEffect transition="in" filter="checkerboard(across)">
                                      <p:cBhvr>
                                        <p:cTn id="42" dur="500"/>
                                        <p:tgtEl>
                                          <p:spTgt spid="4270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647E77BE-3067-B834-717D-528061C1C290}"/>
              </a:ext>
            </a:extLst>
          </p:cNvPr>
          <p:cNvSpPr>
            <a:spLocks noGrp="1" noChangeArrowheads="1"/>
          </p:cNvSpPr>
          <p:nvPr>
            <p:ph type="title"/>
          </p:nvPr>
        </p:nvSpPr>
        <p:spPr>
          <a:xfrm>
            <a:off x="1042988" y="225431"/>
            <a:ext cx="7850187" cy="746125"/>
          </a:xfrm>
        </p:spPr>
        <p:txBody>
          <a:bodyPr/>
          <a:lstStyle/>
          <a:p>
            <a:r>
              <a:rPr lang="zh-CN" altLang="en-US" dirty="0"/>
              <a:t>错误处理</a:t>
            </a:r>
          </a:p>
        </p:txBody>
      </p:sp>
      <p:sp>
        <p:nvSpPr>
          <p:cNvPr id="305155" name="Rectangle 3">
            <a:extLst>
              <a:ext uri="{FF2B5EF4-FFF2-40B4-BE49-F238E27FC236}">
                <a16:creationId xmlns:a16="http://schemas.microsoft.com/office/drawing/2014/main" id="{4318584D-8511-1ACB-AB0C-430A477B9455}"/>
              </a:ext>
            </a:extLst>
          </p:cNvPr>
          <p:cNvSpPr>
            <a:spLocks noGrp="1" noChangeArrowheads="1"/>
          </p:cNvSpPr>
          <p:nvPr>
            <p:ph idx="1"/>
          </p:nvPr>
        </p:nvSpPr>
        <p:spPr>
          <a:xfrm>
            <a:off x="935038" y="1233488"/>
            <a:ext cx="7772400" cy="4895850"/>
          </a:xfrm>
        </p:spPr>
        <p:txBody>
          <a:bodyPr/>
          <a:lstStyle/>
          <a:p>
            <a:r>
              <a:rPr lang="en-US" altLang="zh-CN" dirty="0"/>
              <a:t>OS</a:t>
            </a:r>
            <a:r>
              <a:rPr lang="zh-CN" altLang="en-US" dirty="0"/>
              <a:t>可以对短暂出错进行弥补。例如：磁盘</a:t>
            </a:r>
            <a:r>
              <a:rPr lang="en-US" altLang="zh-CN" dirty="0"/>
              <a:t>read</a:t>
            </a:r>
            <a:r>
              <a:rPr lang="zh-CN" altLang="en-US" dirty="0"/>
              <a:t>出错可以导致</a:t>
            </a:r>
            <a:r>
              <a:rPr lang="en-US" altLang="zh-CN" dirty="0"/>
              <a:t>read</a:t>
            </a:r>
            <a:r>
              <a:rPr lang="zh-CN" altLang="en-US" dirty="0"/>
              <a:t>重试，</a:t>
            </a:r>
            <a:endParaRPr lang="en-US" altLang="zh-CN" dirty="0"/>
          </a:p>
          <a:p>
            <a:r>
              <a:rPr lang="zh-CN" altLang="en-US" dirty="0"/>
              <a:t>当</a:t>
            </a:r>
            <a:r>
              <a:rPr lang="en-US" altLang="zh-CN" dirty="0"/>
              <a:t>I/O</a:t>
            </a:r>
            <a:r>
              <a:rPr lang="zh-CN" altLang="en-US" dirty="0"/>
              <a:t>失败时，大多会返回一个错误码</a:t>
            </a:r>
          </a:p>
          <a:p>
            <a:r>
              <a:rPr lang="zh-CN" altLang="en-US" dirty="0"/>
              <a:t>系统日志记录了出错报告</a:t>
            </a:r>
            <a:r>
              <a:rPr lang="en-US" altLang="zh-CN" dirty="0"/>
              <a:t> </a:t>
            </a:r>
            <a:endParaRPr lang="zh-CN" altLang="en-US" dirty="0"/>
          </a:p>
        </p:txBody>
      </p:sp>
      <p:sp>
        <p:nvSpPr>
          <p:cNvPr id="2" name="灯片编号占位符 1">
            <a:extLst>
              <a:ext uri="{FF2B5EF4-FFF2-40B4-BE49-F238E27FC236}">
                <a16:creationId xmlns:a16="http://schemas.microsoft.com/office/drawing/2014/main" id="{FDE788C2-C358-FF41-CB9D-B70D5641D2F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145</a:t>
            </a:fld>
            <a:endParaRPr lang="zh-CN" altLang="en-US" dirty="0"/>
          </a:p>
        </p:txBody>
      </p:sp>
    </p:spTree>
    <p:extLst>
      <p:ext uri="{BB962C8B-B14F-4D97-AF65-F5344CB8AC3E}">
        <p14:creationId xmlns:p14="http://schemas.microsoft.com/office/powerpoint/2010/main" val="1400571557"/>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checkerboard(across)">
                                      <p:cBhvr>
                                        <p:cTn id="7" dur="500"/>
                                        <p:tgtEl>
                                          <p:spTgt spid="30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checkerboard(across)">
                                      <p:cBhvr>
                                        <p:cTn id="12" dur="500"/>
                                        <p:tgtEl>
                                          <p:spTgt spid="305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checkerboard(across)">
                                      <p:cBhvr>
                                        <p:cTn id="17" dur="500"/>
                                        <p:tgtEl>
                                          <p:spTgt spid="305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8A71147B-7CF4-7C99-355D-3313AA8204C2}"/>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保护  </a:t>
            </a:r>
            <a:r>
              <a:rPr lang="en-US" altLang="zh-CN" dirty="0"/>
              <a:t>I/O Protection</a:t>
            </a:r>
          </a:p>
        </p:txBody>
      </p:sp>
      <p:sp>
        <p:nvSpPr>
          <p:cNvPr id="361475" name="Rectangle 3">
            <a:extLst>
              <a:ext uri="{FF2B5EF4-FFF2-40B4-BE49-F238E27FC236}">
                <a16:creationId xmlns:a16="http://schemas.microsoft.com/office/drawing/2014/main" id="{23156D31-30D6-B6B2-7A9D-01D2BF1A9C77}"/>
              </a:ext>
            </a:extLst>
          </p:cNvPr>
          <p:cNvSpPr>
            <a:spLocks noGrp="1" noChangeArrowheads="1"/>
          </p:cNvSpPr>
          <p:nvPr>
            <p:ph idx="1"/>
          </p:nvPr>
        </p:nvSpPr>
        <p:spPr>
          <a:xfrm>
            <a:off x="935038" y="1233488"/>
            <a:ext cx="7772400" cy="4895850"/>
          </a:xfrm>
        </p:spPr>
        <p:txBody>
          <a:bodyPr/>
          <a:lstStyle/>
          <a:p>
            <a:r>
              <a:rPr lang="zh-CN" altLang="en-US" dirty="0"/>
              <a:t>通过发出非法</a:t>
            </a:r>
            <a:r>
              <a:rPr lang="en-US" altLang="zh-CN" dirty="0"/>
              <a:t>I/O</a:t>
            </a:r>
            <a:r>
              <a:rPr lang="zh-CN" altLang="en-US" dirty="0"/>
              <a:t>指令，用户程序可以有意或无意中断系统的正常操作</a:t>
            </a:r>
            <a:endParaRPr lang="en-US" altLang="zh-CN" dirty="0"/>
          </a:p>
          <a:p>
            <a:r>
              <a:rPr lang="zh-CN" altLang="en-US" dirty="0"/>
              <a:t>为防止用户执行非法</a:t>
            </a:r>
            <a:r>
              <a:rPr lang="en-US" altLang="zh-CN" dirty="0"/>
              <a:t>I/O</a:t>
            </a:r>
            <a:r>
              <a:rPr lang="zh-CN" altLang="en-US" dirty="0"/>
              <a:t>，定义所有</a:t>
            </a:r>
            <a:r>
              <a:rPr lang="en-US" altLang="zh-CN" dirty="0"/>
              <a:t>I/O</a:t>
            </a:r>
            <a:r>
              <a:rPr lang="zh-CN" altLang="en-US" dirty="0"/>
              <a:t>指令为特权指令。</a:t>
            </a:r>
          </a:p>
        </p:txBody>
      </p:sp>
      <p:sp>
        <p:nvSpPr>
          <p:cNvPr id="2" name="灯片编号占位符 1">
            <a:extLst>
              <a:ext uri="{FF2B5EF4-FFF2-40B4-BE49-F238E27FC236}">
                <a16:creationId xmlns:a16="http://schemas.microsoft.com/office/drawing/2014/main" id="{AE55BCBB-57CC-7038-22AF-AED690AB9D7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146</a:t>
            </a:fld>
            <a:endParaRPr lang="zh-CN" altLang="en-US" dirty="0"/>
          </a:p>
        </p:txBody>
      </p:sp>
    </p:spTree>
    <p:extLst>
      <p:ext uri="{BB962C8B-B14F-4D97-AF65-F5344CB8AC3E}">
        <p14:creationId xmlns:p14="http://schemas.microsoft.com/office/powerpoint/2010/main" val="1986604271"/>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Effect transition="in" filter="checkerboard(across)">
                                      <p:cBhvr>
                                        <p:cTn id="7" dur="500"/>
                                        <p:tgtEl>
                                          <p:spTgt spid="361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1475">
                                            <p:txEl>
                                              <p:pRg st="1" end="1"/>
                                            </p:txEl>
                                          </p:spTgt>
                                        </p:tgtEl>
                                        <p:attrNameLst>
                                          <p:attrName>style.visibility</p:attrName>
                                        </p:attrNameLst>
                                      </p:cBhvr>
                                      <p:to>
                                        <p:strVal val="visible"/>
                                      </p:to>
                                    </p:set>
                                    <p:animEffect transition="in" filter="checkerboard(across)">
                                      <p:cBhvr>
                                        <p:cTn id="12" dur="500"/>
                                        <p:tgtEl>
                                          <p:spTgt spid="3614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795902B1-E912-9F59-697C-93C097AD8111}"/>
              </a:ext>
            </a:extLst>
          </p:cNvPr>
          <p:cNvSpPr>
            <a:spLocks noGrp="1" noChangeArrowheads="1"/>
          </p:cNvSpPr>
          <p:nvPr>
            <p:ph type="title"/>
          </p:nvPr>
        </p:nvSpPr>
        <p:spPr>
          <a:xfrm>
            <a:off x="1042988" y="225431"/>
            <a:ext cx="7850187" cy="746125"/>
          </a:xfrm>
        </p:spPr>
        <p:txBody>
          <a:bodyPr/>
          <a:lstStyle/>
          <a:p>
            <a:r>
              <a:rPr lang="zh-CN" altLang="en-US" dirty="0"/>
              <a:t>内核数据结构</a:t>
            </a:r>
          </a:p>
        </p:txBody>
      </p:sp>
      <p:sp>
        <p:nvSpPr>
          <p:cNvPr id="362499" name="Rectangle 3">
            <a:extLst>
              <a:ext uri="{FF2B5EF4-FFF2-40B4-BE49-F238E27FC236}">
                <a16:creationId xmlns:a16="http://schemas.microsoft.com/office/drawing/2014/main" id="{1A11CEF5-E2DB-2517-CCF8-6B641D67E079}"/>
              </a:ext>
            </a:extLst>
          </p:cNvPr>
          <p:cNvSpPr>
            <a:spLocks noGrp="1" noChangeArrowheads="1"/>
          </p:cNvSpPr>
          <p:nvPr>
            <p:ph idx="1"/>
          </p:nvPr>
        </p:nvSpPr>
        <p:spPr>
          <a:xfrm>
            <a:off x="935038" y="1233488"/>
            <a:ext cx="7772400" cy="4895850"/>
          </a:xfrm>
        </p:spPr>
        <p:txBody>
          <a:bodyPr/>
          <a:lstStyle/>
          <a:p>
            <a:r>
              <a:rPr lang="zh-CN" altLang="en-US" dirty="0"/>
              <a:t>内核需要保存</a:t>
            </a:r>
            <a:r>
              <a:rPr lang="en-US" altLang="zh-CN" dirty="0"/>
              <a:t>I/O</a:t>
            </a:r>
            <a:r>
              <a:rPr lang="zh-CN" altLang="en-US" dirty="0"/>
              <a:t>组件使用的状态信息，包括打开文件表，网络连接，字符设备状态等</a:t>
            </a:r>
            <a:endParaRPr lang="en-US" altLang="zh-CN" dirty="0"/>
          </a:p>
          <a:p>
            <a:r>
              <a:rPr lang="zh-CN" altLang="en-US" dirty="0"/>
              <a:t>许多复杂的数据结构用来跟踪缓冲，内存分配，及“脏”块</a:t>
            </a:r>
          </a:p>
          <a:p>
            <a:r>
              <a:rPr lang="zh-CN" altLang="en-US" dirty="0"/>
              <a:t>某些</a:t>
            </a:r>
            <a:r>
              <a:rPr lang="en-US" altLang="zh-CN" dirty="0"/>
              <a:t>OS</a:t>
            </a:r>
            <a:r>
              <a:rPr lang="zh-CN" altLang="en-US" dirty="0"/>
              <a:t>用面向对象和消息传递的方法来实现</a:t>
            </a:r>
            <a:r>
              <a:rPr lang="en-US" altLang="zh-CN" dirty="0"/>
              <a:t>I/O</a:t>
            </a:r>
            <a:endParaRPr lang="zh-CN" altLang="en-US" dirty="0"/>
          </a:p>
          <a:p>
            <a:r>
              <a:rPr lang="en-US" altLang="zh-CN" dirty="0"/>
              <a:t>   </a:t>
            </a:r>
          </a:p>
        </p:txBody>
      </p:sp>
      <p:sp>
        <p:nvSpPr>
          <p:cNvPr id="2" name="灯片编号占位符 1">
            <a:extLst>
              <a:ext uri="{FF2B5EF4-FFF2-40B4-BE49-F238E27FC236}">
                <a16:creationId xmlns:a16="http://schemas.microsoft.com/office/drawing/2014/main" id="{2568D302-2454-18EE-4E6B-B15402E4551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147</a:t>
            </a:fld>
            <a:endParaRPr lang="zh-CN" altLang="en-US" dirty="0"/>
          </a:p>
        </p:txBody>
      </p:sp>
    </p:spTree>
    <p:extLst>
      <p:ext uri="{BB962C8B-B14F-4D97-AF65-F5344CB8AC3E}">
        <p14:creationId xmlns:p14="http://schemas.microsoft.com/office/powerpoint/2010/main" val="3456025303"/>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animEffect transition="in" filter="checkerboard(across)">
                                      <p:cBhvr>
                                        <p:cTn id="7" dur="500"/>
                                        <p:tgtEl>
                                          <p:spTgt spid="362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2499">
                                            <p:txEl>
                                              <p:pRg st="1" end="1"/>
                                            </p:txEl>
                                          </p:spTgt>
                                        </p:tgtEl>
                                        <p:attrNameLst>
                                          <p:attrName>style.visibility</p:attrName>
                                        </p:attrNameLst>
                                      </p:cBhvr>
                                      <p:to>
                                        <p:strVal val="visible"/>
                                      </p:to>
                                    </p:set>
                                    <p:animEffect transition="in" filter="checkerboard(across)">
                                      <p:cBhvr>
                                        <p:cTn id="12" dur="500"/>
                                        <p:tgtEl>
                                          <p:spTgt spid="362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2499">
                                            <p:txEl>
                                              <p:pRg st="2" end="2"/>
                                            </p:txEl>
                                          </p:spTgt>
                                        </p:tgtEl>
                                        <p:attrNameLst>
                                          <p:attrName>style.visibility</p:attrName>
                                        </p:attrNameLst>
                                      </p:cBhvr>
                                      <p:to>
                                        <p:strVal val="visible"/>
                                      </p:to>
                                    </p:set>
                                    <p:animEffect transition="in" filter="checkerboard(across)">
                                      <p:cBhvr>
                                        <p:cTn id="17" dur="500"/>
                                        <p:tgtEl>
                                          <p:spTgt spid="3624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62499">
                                            <p:txEl>
                                              <p:pRg st="3" end="3"/>
                                            </p:txEl>
                                          </p:spTgt>
                                        </p:tgtEl>
                                        <p:attrNameLst>
                                          <p:attrName>style.visibility</p:attrName>
                                        </p:attrNameLst>
                                      </p:cBhvr>
                                      <p:to>
                                        <p:strVal val="visible"/>
                                      </p:to>
                                    </p:set>
                                    <p:animEffect transition="in" filter="checkerboard(across)">
                                      <p:cBhvr>
                                        <p:cTn id="22" dur="500"/>
                                        <p:tgtEl>
                                          <p:spTgt spid="3624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84FEED38-4163-1287-5D45-19A914D7D056}"/>
              </a:ext>
            </a:extLst>
          </p:cNvPr>
          <p:cNvSpPr>
            <a:spLocks noGrp="1" noChangeArrowheads="1"/>
          </p:cNvSpPr>
          <p:nvPr>
            <p:ph type="title"/>
          </p:nvPr>
        </p:nvSpPr>
        <p:spPr/>
        <p:txBody>
          <a:bodyPr/>
          <a:lstStyle/>
          <a:p>
            <a:pPr eaLnBrk="1" hangingPunct="1"/>
            <a:r>
              <a:rPr lang="en-US" altLang="zh-CN" sz="4000"/>
              <a:t>UNIX I/O Kernel Structure</a:t>
            </a:r>
            <a:endParaRPr lang="zh-CN" altLang="en-US" sz="4000"/>
          </a:p>
        </p:txBody>
      </p:sp>
      <p:pic>
        <p:nvPicPr>
          <p:cNvPr id="144386" name="Picture 4">
            <a:extLst>
              <a:ext uri="{FF2B5EF4-FFF2-40B4-BE49-F238E27FC236}">
                <a16:creationId xmlns:a16="http://schemas.microsoft.com/office/drawing/2014/main" id="{02D13647-235B-BBBC-5AB0-0DAA3F81A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3" t="11440" r="1106" b="11227"/>
          <a:stretch>
            <a:fillRect/>
          </a:stretch>
        </p:blipFill>
        <p:spPr bwMode="auto">
          <a:xfrm>
            <a:off x="395288" y="1158875"/>
            <a:ext cx="8421687" cy="54387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A7F63B6B-CF40-7273-A99A-E81178FB34FF}"/>
              </a:ext>
            </a:extLst>
          </p:cNvPr>
          <p:cNvSpPr>
            <a:spLocks noGrp="1"/>
          </p:cNvSpPr>
          <p:nvPr>
            <p:ph type="sldNum" sz="quarter" idx="12"/>
          </p:nvPr>
        </p:nvSpPr>
        <p:spPr/>
        <p:txBody>
          <a:bodyPr/>
          <a:lstStyle/>
          <a:p>
            <a:fld id="{4093CC90-4002-504C-BD88-C9A1D374048E}" type="slidenum">
              <a:rPr lang="zh-CN" altLang="en-US" smtClean="0"/>
              <a:pPr/>
              <a:t>148</a:t>
            </a:fld>
            <a:endParaRPr lang="zh-CN" altLang="en-US" dirty="0"/>
          </a:p>
        </p:txBody>
      </p:sp>
    </p:spTree>
    <p:extLst>
      <p:ext uri="{BB962C8B-B14F-4D97-AF65-F5344CB8AC3E}">
        <p14:creationId xmlns:p14="http://schemas.microsoft.com/office/powerpoint/2010/main" val="3812306796"/>
      </p:ext>
    </p:extLst>
  </p:cSld>
  <p:clrMapOvr>
    <a:masterClrMapping/>
  </p:clrMapOvr>
  <p:transition spd="med">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75BA0B80-5EE7-0471-D2EE-AD492B8BEFC5}"/>
              </a:ext>
            </a:extLst>
          </p:cNvPr>
          <p:cNvSpPr>
            <a:spLocks noGrp="1" noChangeArrowheads="1"/>
          </p:cNvSpPr>
          <p:nvPr>
            <p:ph type="title"/>
          </p:nvPr>
        </p:nvSpPr>
        <p:spPr>
          <a:xfrm>
            <a:off x="1042988" y="225431"/>
            <a:ext cx="7850187" cy="746125"/>
          </a:xfrm>
        </p:spPr>
        <p:txBody>
          <a:bodyPr/>
          <a:lstStyle/>
          <a:p>
            <a:r>
              <a:rPr lang="zh-CN" altLang="en-US" dirty="0"/>
              <a:t>转换</a:t>
            </a:r>
            <a:r>
              <a:rPr lang="en-US" altLang="zh-CN" dirty="0"/>
              <a:t>I/O</a:t>
            </a:r>
            <a:r>
              <a:rPr lang="zh-CN" altLang="en-US" dirty="0"/>
              <a:t>请求为硬件操作</a:t>
            </a:r>
            <a:endParaRPr lang="en-US" altLang="zh-CN" dirty="0"/>
          </a:p>
        </p:txBody>
      </p:sp>
      <p:sp>
        <p:nvSpPr>
          <p:cNvPr id="145410" name="Rectangle 3">
            <a:extLst>
              <a:ext uri="{FF2B5EF4-FFF2-40B4-BE49-F238E27FC236}">
                <a16:creationId xmlns:a16="http://schemas.microsoft.com/office/drawing/2014/main" id="{BA1E8A79-F3A1-100E-F5A3-6C19B3DCEC59}"/>
              </a:ext>
            </a:extLst>
          </p:cNvPr>
          <p:cNvSpPr>
            <a:spLocks noGrp="1" noChangeArrowheads="1"/>
          </p:cNvSpPr>
          <p:nvPr>
            <p:ph idx="1"/>
          </p:nvPr>
        </p:nvSpPr>
        <p:spPr>
          <a:xfrm>
            <a:off x="935038" y="1233488"/>
            <a:ext cx="7772400" cy="4895850"/>
          </a:xfrm>
        </p:spPr>
        <p:txBody>
          <a:bodyPr/>
          <a:lstStyle/>
          <a:p>
            <a:r>
              <a:rPr lang="zh-CN" altLang="en-US" dirty="0"/>
              <a:t>考虑进程从磁盘中读取一个文件</a:t>
            </a:r>
          </a:p>
          <a:p>
            <a:pPr lvl="1"/>
            <a:r>
              <a:rPr lang="zh-CN" altLang="en-US" dirty="0"/>
              <a:t>确定保存文件的设备</a:t>
            </a:r>
          </a:p>
          <a:p>
            <a:pPr lvl="1"/>
            <a:r>
              <a:rPr lang="zh-CN" altLang="en-US" dirty="0"/>
              <a:t>将文件名转换成设备实现表示</a:t>
            </a:r>
            <a:endParaRPr lang="en-US" altLang="zh-CN" dirty="0"/>
          </a:p>
          <a:p>
            <a:pPr lvl="1"/>
            <a:r>
              <a:rPr lang="zh-CN" altLang="en-US" dirty="0"/>
              <a:t>把数据从磁盘读到缓冲区中</a:t>
            </a:r>
            <a:endParaRPr lang="en-US" altLang="zh-CN" dirty="0"/>
          </a:p>
          <a:p>
            <a:pPr lvl="1"/>
            <a:r>
              <a:rPr lang="zh-CN" altLang="en-US" dirty="0"/>
              <a:t>通知进程数据可用</a:t>
            </a:r>
          </a:p>
          <a:p>
            <a:pPr lvl="1"/>
            <a:r>
              <a:rPr lang="zh-CN" altLang="en-US" dirty="0"/>
              <a:t>把控制权返回给进程 </a:t>
            </a:r>
          </a:p>
          <a:p>
            <a:pPr lvl="1"/>
            <a:r>
              <a:rPr lang="en-US" altLang="zh-CN" dirty="0"/>
              <a:t>  </a:t>
            </a:r>
            <a:endParaRPr lang="zh-CN" altLang="en-US" dirty="0"/>
          </a:p>
        </p:txBody>
      </p:sp>
      <p:sp>
        <p:nvSpPr>
          <p:cNvPr id="2" name="灯片编号占位符 1">
            <a:extLst>
              <a:ext uri="{FF2B5EF4-FFF2-40B4-BE49-F238E27FC236}">
                <a16:creationId xmlns:a16="http://schemas.microsoft.com/office/drawing/2014/main" id="{9DF3E5EB-D383-32C3-29B9-8235E8330D1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149</a:t>
            </a:fld>
            <a:endParaRPr lang="zh-CN" altLang="en-US" dirty="0"/>
          </a:p>
        </p:txBody>
      </p:sp>
    </p:spTree>
    <p:extLst>
      <p:ext uri="{BB962C8B-B14F-4D97-AF65-F5344CB8AC3E}">
        <p14:creationId xmlns:p14="http://schemas.microsoft.com/office/powerpoint/2010/main" val="3305244743"/>
      </p:ext>
    </p:extLst>
  </p:cSld>
  <p:clrMapOvr>
    <a:masterClrMapping/>
  </p:clrMapOvr>
  <p:transition spd="med">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382C63AA-F718-400F-ACD2-FCAE26135F79}"/>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请求的周期</a:t>
            </a:r>
          </a:p>
        </p:txBody>
      </p:sp>
      <p:sp>
        <p:nvSpPr>
          <p:cNvPr id="5" name="内容占位符 4">
            <a:extLst>
              <a:ext uri="{FF2B5EF4-FFF2-40B4-BE49-F238E27FC236}">
                <a16:creationId xmlns:a16="http://schemas.microsoft.com/office/drawing/2014/main" id="{B23286E5-60D2-8145-82D1-CE1307DC4F4A}"/>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CE3D1DE6-E04E-02C5-8C77-72AA2B6EADC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150</a:t>
            </a:fld>
            <a:endParaRPr lang="zh-CN" altLang="en-US" dirty="0"/>
          </a:p>
        </p:txBody>
      </p:sp>
      <p:pic>
        <p:nvPicPr>
          <p:cNvPr id="146434" name="Picture 4">
            <a:extLst>
              <a:ext uri="{FF2B5EF4-FFF2-40B4-BE49-F238E27FC236}">
                <a16:creationId xmlns:a16="http://schemas.microsoft.com/office/drawing/2014/main" id="{360EEF42-EAF0-6133-853E-ACDFFE52B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350" t="780" r="24350" b="1387"/>
          <a:stretch>
            <a:fillRect/>
          </a:stretch>
        </p:blipFill>
        <p:spPr bwMode="auto">
          <a:xfrm>
            <a:off x="395288" y="1052513"/>
            <a:ext cx="8466137" cy="570706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282850"/>
      </p:ext>
    </p:extLst>
  </p:cSld>
  <p:clrMapOvr>
    <a:masterClrMapping/>
  </p:clrMapOvr>
  <p:transition spd="med">
    <p:zo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ED7A5D5A-D402-D9D8-E9E8-3C23D85DF20A}"/>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设备软件的层次结构</a:t>
            </a:r>
          </a:p>
        </p:txBody>
      </p:sp>
      <p:sp>
        <p:nvSpPr>
          <p:cNvPr id="148482" name="Rectangle 3">
            <a:extLst>
              <a:ext uri="{FF2B5EF4-FFF2-40B4-BE49-F238E27FC236}">
                <a16:creationId xmlns:a16="http://schemas.microsoft.com/office/drawing/2014/main" id="{40AB0112-2542-3083-224D-89A83174274C}"/>
              </a:ext>
            </a:extLst>
          </p:cNvPr>
          <p:cNvSpPr>
            <a:spLocks noGrp="1" noChangeArrowheads="1"/>
          </p:cNvSpPr>
          <p:nvPr>
            <p:ph idx="1"/>
          </p:nvPr>
        </p:nvSpPr>
        <p:spPr>
          <a:xfrm>
            <a:off x="935038" y="1233488"/>
            <a:ext cx="7772400" cy="4895850"/>
          </a:xfrm>
        </p:spPr>
        <p:txBody>
          <a:bodyPr>
            <a:normAutofit/>
          </a:bodyPr>
          <a:lstStyle/>
          <a:p>
            <a:r>
              <a:rPr lang="en-US" altLang="zh-CN" dirty="0"/>
              <a:t>I/O</a:t>
            </a:r>
            <a:r>
              <a:rPr lang="zh-CN" altLang="en-US" dirty="0"/>
              <a:t>软件设计的基本思想是将设备管理软件组织成一种层次结构。其中低层软件与硬件相关，而高层软件则为用户提供一个友好的、清晰而统一的接口。 </a:t>
            </a:r>
            <a:endParaRPr lang="en-US" altLang="zh-CN" dirty="0"/>
          </a:p>
          <a:p>
            <a:r>
              <a:rPr lang="en-US" altLang="zh-CN" dirty="0"/>
              <a:t>I/O</a:t>
            </a:r>
            <a:r>
              <a:rPr lang="zh-CN" altLang="en-US" dirty="0"/>
              <a:t>设备管理软件一般分为四层：</a:t>
            </a:r>
          </a:p>
          <a:p>
            <a:pPr lvl="1"/>
            <a:r>
              <a:rPr lang="zh-CN" altLang="en-US" dirty="0"/>
              <a:t>中断处理程序</a:t>
            </a:r>
          </a:p>
          <a:p>
            <a:pPr lvl="1"/>
            <a:r>
              <a:rPr lang="zh-CN" altLang="en-US" dirty="0"/>
              <a:t>设备驱动程序</a:t>
            </a:r>
          </a:p>
          <a:p>
            <a:pPr lvl="1"/>
            <a:r>
              <a:rPr lang="zh-CN" altLang="en-US" dirty="0"/>
              <a:t>与设备无关的软件（或设备独立性软件）</a:t>
            </a:r>
          </a:p>
          <a:p>
            <a:pPr lvl="1"/>
            <a:r>
              <a:rPr lang="zh-CN" altLang="en-US" dirty="0"/>
              <a:t>用户空间的软件。 </a:t>
            </a:r>
          </a:p>
        </p:txBody>
      </p:sp>
      <p:sp>
        <p:nvSpPr>
          <p:cNvPr id="2" name="灯片编号占位符 1">
            <a:extLst>
              <a:ext uri="{FF2B5EF4-FFF2-40B4-BE49-F238E27FC236}">
                <a16:creationId xmlns:a16="http://schemas.microsoft.com/office/drawing/2014/main" id="{59929701-E415-21AF-6C9D-3A437720753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151</a:t>
            </a:fld>
            <a:endParaRPr lang="zh-CN" altLang="en-US" dirty="0"/>
          </a:p>
        </p:txBody>
      </p:sp>
    </p:spTree>
    <p:extLst>
      <p:ext uri="{BB962C8B-B14F-4D97-AF65-F5344CB8AC3E}">
        <p14:creationId xmlns:p14="http://schemas.microsoft.com/office/powerpoint/2010/main" val="2488213765"/>
      </p:ext>
    </p:extLst>
  </p:cSld>
  <p:clrMapOvr>
    <a:masterClrMapping/>
  </p:clrMapOvr>
  <p:transition spd="med">
    <p:zo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72127FA8-A80E-A860-AEDB-174C921C91D1}"/>
              </a:ext>
            </a:extLst>
          </p:cNvPr>
          <p:cNvSpPr>
            <a:spLocks noGrp="1" noChangeArrowheads="1"/>
          </p:cNvSpPr>
          <p:nvPr>
            <p:ph type="title"/>
          </p:nvPr>
        </p:nvSpPr>
        <p:spPr/>
        <p:txBody>
          <a:bodyPr/>
          <a:lstStyle/>
          <a:p>
            <a:pPr eaLnBrk="1" hangingPunct="1"/>
            <a:r>
              <a:rPr lang="zh-CN" altLang="en-US" dirty="0"/>
              <a:t>中断处理程序</a:t>
            </a:r>
          </a:p>
        </p:txBody>
      </p:sp>
      <p:sp>
        <p:nvSpPr>
          <p:cNvPr id="149506" name="Rectangle 3">
            <a:extLst>
              <a:ext uri="{FF2B5EF4-FFF2-40B4-BE49-F238E27FC236}">
                <a16:creationId xmlns:a16="http://schemas.microsoft.com/office/drawing/2014/main" id="{1EF33FC5-ED42-A1EA-DA7B-92C812812C1F}"/>
              </a:ext>
            </a:extLst>
          </p:cNvPr>
          <p:cNvSpPr>
            <a:spLocks noGrp="1" noChangeArrowheads="1"/>
          </p:cNvSpPr>
          <p:nvPr>
            <p:ph idx="1"/>
          </p:nvPr>
        </p:nvSpPr>
        <p:spPr>
          <a:xfrm>
            <a:off x="611188" y="1196975"/>
            <a:ext cx="8251825" cy="4535488"/>
          </a:xfrm>
        </p:spPr>
        <p:txBody>
          <a:bodyPr/>
          <a:lstStyle/>
          <a:p>
            <a:pPr algn="just" eaLnBrk="1" hangingPunct="1"/>
            <a:r>
              <a:rPr lang="zh-CN" altLang="en-US"/>
              <a:t>设备完成</a:t>
            </a:r>
            <a:r>
              <a:rPr lang="en-US" altLang="zh-CN"/>
              <a:t>I/O</a:t>
            </a:r>
            <a:r>
              <a:rPr lang="zh-CN" altLang="en-US"/>
              <a:t>操作时，便发出中断信号，</a:t>
            </a:r>
            <a:r>
              <a:rPr lang="en-US" altLang="zh-CN"/>
              <a:t>CPU</a:t>
            </a:r>
            <a:r>
              <a:rPr lang="zh-CN" altLang="en-US"/>
              <a:t>响应中断后便转入中断处理程序。其中断处理过程如下：</a:t>
            </a:r>
          </a:p>
          <a:p>
            <a:pPr lvl="1" algn="just" eaLnBrk="1" hangingPunct="1"/>
            <a:r>
              <a:rPr lang="zh-CN" altLang="en-US"/>
              <a:t>唤醒被阻塞的驱动程序进程</a:t>
            </a:r>
          </a:p>
          <a:p>
            <a:pPr lvl="1" algn="just" eaLnBrk="1" hangingPunct="1"/>
            <a:r>
              <a:rPr lang="zh-CN" altLang="en-US"/>
              <a:t>保护被中断进程的现场信息</a:t>
            </a:r>
          </a:p>
          <a:p>
            <a:pPr lvl="1" algn="just" eaLnBrk="1" hangingPunct="1"/>
            <a:r>
              <a:rPr lang="zh-CN" altLang="en-US"/>
              <a:t>分析中断原因，转入相应的设备中断处理程序</a:t>
            </a:r>
          </a:p>
          <a:p>
            <a:pPr lvl="1" algn="just" eaLnBrk="1" hangingPunct="1"/>
            <a:r>
              <a:rPr lang="zh-CN" altLang="en-US"/>
              <a:t>进行中断处理</a:t>
            </a:r>
          </a:p>
          <a:p>
            <a:pPr lvl="1" algn="just" eaLnBrk="1" hangingPunct="1"/>
            <a:r>
              <a:rPr lang="zh-CN" altLang="en-US"/>
              <a:t>恢复被中断程序的现场信息</a:t>
            </a:r>
          </a:p>
        </p:txBody>
      </p:sp>
      <p:sp>
        <p:nvSpPr>
          <p:cNvPr id="2" name="灯片编号占位符 1">
            <a:extLst>
              <a:ext uri="{FF2B5EF4-FFF2-40B4-BE49-F238E27FC236}">
                <a16:creationId xmlns:a16="http://schemas.microsoft.com/office/drawing/2014/main" id="{A3C2D3B5-D9E0-083F-DC70-526B3A45BE7C}"/>
              </a:ext>
            </a:extLst>
          </p:cNvPr>
          <p:cNvSpPr>
            <a:spLocks noGrp="1"/>
          </p:cNvSpPr>
          <p:nvPr>
            <p:ph type="sldNum" sz="quarter" idx="12"/>
          </p:nvPr>
        </p:nvSpPr>
        <p:spPr/>
        <p:txBody>
          <a:bodyPr/>
          <a:lstStyle/>
          <a:p>
            <a:fld id="{4093CC90-4002-504C-BD88-C9A1D374048E}" type="slidenum">
              <a:rPr lang="zh-CN" altLang="en-US" smtClean="0"/>
              <a:pPr/>
              <a:t>152</a:t>
            </a:fld>
            <a:endParaRPr lang="zh-CN" altLang="en-US" dirty="0"/>
          </a:p>
        </p:txBody>
      </p:sp>
    </p:spTree>
    <p:extLst>
      <p:ext uri="{BB962C8B-B14F-4D97-AF65-F5344CB8AC3E}">
        <p14:creationId xmlns:p14="http://schemas.microsoft.com/office/powerpoint/2010/main" val="1564278477"/>
      </p:ext>
    </p:extLst>
  </p:cSld>
  <p:clrMapOvr>
    <a:masterClrMapping/>
  </p:clrMapOvr>
  <p:transition spd="med">
    <p:zoom/>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C9044FF9-070F-4D00-2506-8810076E4BC0}"/>
              </a:ext>
            </a:extLst>
          </p:cNvPr>
          <p:cNvSpPr>
            <a:spLocks noGrp="1" noChangeArrowheads="1"/>
          </p:cNvSpPr>
          <p:nvPr>
            <p:ph type="title"/>
          </p:nvPr>
        </p:nvSpPr>
        <p:spPr>
          <a:xfrm>
            <a:off x="1042988" y="225431"/>
            <a:ext cx="7850187" cy="746125"/>
          </a:xfrm>
        </p:spPr>
        <p:txBody>
          <a:bodyPr/>
          <a:lstStyle/>
          <a:p>
            <a:r>
              <a:rPr lang="zh-CN" altLang="en-US" dirty="0"/>
              <a:t>设备驱动程序</a:t>
            </a:r>
          </a:p>
        </p:txBody>
      </p:sp>
      <p:sp>
        <p:nvSpPr>
          <p:cNvPr id="150530" name="Rectangle 3">
            <a:extLst>
              <a:ext uri="{FF2B5EF4-FFF2-40B4-BE49-F238E27FC236}">
                <a16:creationId xmlns:a16="http://schemas.microsoft.com/office/drawing/2014/main" id="{C3FFD6D8-5BA2-3C86-7F7C-BF213453A22A}"/>
              </a:ext>
            </a:extLst>
          </p:cNvPr>
          <p:cNvSpPr>
            <a:spLocks noGrp="1" noChangeArrowheads="1"/>
          </p:cNvSpPr>
          <p:nvPr>
            <p:ph idx="1"/>
          </p:nvPr>
        </p:nvSpPr>
        <p:spPr>
          <a:xfrm>
            <a:off x="935038" y="1233488"/>
            <a:ext cx="7772400" cy="4895850"/>
          </a:xfrm>
        </p:spPr>
        <p:txBody>
          <a:bodyPr/>
          <a:lstStyle/>
          <a:p>
            <a:r>
              <a:rPr lang="zh-CN" altLang="en-US"/>
              <a:t>所有与设备相关的代码放在设备驱动程序中。</a:t>
            </a:r>
          </a:p>
          <a:p>
            <a:r>
              <a:rPr lang="zh-CN" altLang="en-US"/>
              <a:t>设备驱动程序与设备密切相关，故应为每一类设备配置一个驱动程序。</a:t>
            </a:r>
          </a:p>
          <a:p>
            <a:r>
              <a:rPr lang="zh-CN" altLang="en-US"/>
              <a:t>设备驱动程序是</a:t>
            </a:r>
            <a:r>
              <a:rPr lang="en-US" altLang="zh-CN"/>
              <a:t>I/O</a:t>
            </a:r>
            <a:r>
              <a:rPr lang="zh-CN" altLang="en-US"/>
              <a:t>进程与设备控制器间的通信程序。</a:t>
            </a:r>
            <a:endParaRPr lang="en-US" altLang="zh-CN"/>
          </a:p>
        </p:txBody>
      </p:sp>
      <p:sp>
        <p:nvSpPr>
          <p:cNvPr id="2" name="灯片编号占位符 1">
            <a:extLst>
              <a:ext uri="{FF2B5EF4-FFF2-40B4-BE49-F238E27FC236}">
                <a16:creationId xmlns:a16="http://schemas.microsoft.com/office/drawing/2014/main" id="{6563E268-EF0F-6B82-A81E-CE0A7C6C0E6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153</a:t>
            </a:fld>
            <a:endParaRPr lang="zh-CN" altLang="en-US" dirty="0"/>
          </a:p>
        </p:txBody>
      </p:sp>
    </p:spTree>
    <p:extLst>
      <p:ext uri="{BB962C8B-B14F-4D97-AF65-F5344CB8AC3E}">
        <p14:creationId xmlns:p14="http://schemas.microsoft.com/office/powerpoint/2010/main" val="3833261356"/>
      </p:ext>
    </p:extLst>
  </p:cSld>
  <p:clrMapOvr>
    <a:masterClrMapping/>
  </p:clrMapOvr>
  <p:transition spd="med">
    <p:zo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9EDB6997-A0A7-7975-6143-F22F64F865EB}"/>
              </a:ext>
            </a:extLst>
          </p:cNvPr>
          <p:cNvSpPr>
            <a:spLocks noGrp="1" noChangeArrowheads="1"/>
          </p:cNvSpPr>
          <p:nvPr>
            <p:ph type="title"/>
          </p:nvPr>
        </p:nvSpPr>
        <p:spPr>
          <a:xfrm>
            <a:off x="1042988" y="225431"/>
            <a:ext cx="7850187" cy="746125"/>
          </a:xfrm>
        </p:spPr>
        <p:txBody>
          <a:bodyPr/>
          <a:lstStyle/>
          <a:p>
            <a:r>
              <a:rPr lang="zh-CN" altLang="en-US"/>
              <a:t>设备驱动程序的任务</a:t>
            </a:r>
          </a:p>
        </p:txBody>
      </p:sp>
      <p:sp>
        <p:nvSpPr>
          <p:cNvPr id="151554" name="Rectangle 3">
            <a:extLst>
              <a:ext uri="{FF2B5EF4-FFF2-40B4-BE49-F238E27FC236}">
                <a16:creationId xmlns:a16="http://schemas.microsoft.com/office/drawing/2014/main" id="{92D867ED-3E8F-975E-8C60-7A58CE2F0BEC}"/>
              </a:ext>
            </a:extLst>
          </p:cNvPr>
          <p:cNvSpPr>
            <a:spLocks noGrp="1" noChangeArrowheads="1"/>
          </p:cNvSpPr>
          <p:nvPr>
            <p:ph idx="1"/>
          </p:nvPr>
        </p:nvSpPr>
        <p:spPr>
          <a:xfrm>
            <a:off x="935038" y="1233488"/>
            <a:ext cx="7772400" cy="4895850"/>
          </a:xfrm>
        </p:spPr>
        <p:txBody>
          <a:bodyPr/>
          <a:lstStyle/>
          <a:p>
            <a:r>
              <a:rPr lang="zh-CN" altLang="en-US"/>
              <a:t>设备驱动程序的主要任务是：</a:t>
            </a:r>
          </a:p>
          <a:p>
            <a:pPr lvl="1"/>
            <a:r>
              <a:rPr lang="zh-CN" altLang="en-US"/>
              <a:t>接收来自上层的与设备无关软件的抽象请求</a:t>
            </a:r>
          </a:p>
          <a:p>
            <a:pPr lvl="1"/>
            <a:r>
              <a:rPr lang="zh-CN" altLang="en-US"/>
              <a:t>把它转换成设备控制器可以接收的具体命令</a:t>
            </a:r>
          </a:p>
          <a:p>
            <a:pPr lvl="1"/>
            <a:r>
              <a:rPr lang="zh-CN" altLang="en-US"/>
              <a:t>将这些命令发送给设备控制器</a:t>
            </a:r>
          </a:p>
          <a:p>
            <a:pPr lvl="1"/>
            <a:r>
              <a:rPr lang="zh-CN" altLang="en-US"/>
              <a:t>监督命令的执行</a:t>
            </a:r>
          </a:p>
        </p:txBody>
      </p:sp>
      <p:sp>
        <p:nvSpPr>
          <p:cNvPr id="2" name="灯片编号占位符 1">
            <a:extLst>
              <a:ext uri="{FF2B5EF4-FFF2-40B4-BE49-F238E27FC236}">
                <a16:creationId xmlns:a16="http://schemas.microsoft.com/office/drawing/2014/main" id="{B1DAD90C-E663-9892-D624-3DC7F33E957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154</a:t>
            </a:fld>
            <a:endParaRPr lang="zh-CN" altLang="en-US" dirty="0"/>
          </a:p>
        </p:txBody>
      </p:sp>
    </p:spTree>
    <p:extLst>
      <p:ext uri="{BB962C8B-B14F-4D97-AF65-F5344CB8AC3E}">
        <p14:creationId xmlns:p14="http://schemas.microsoft.com/office/powerpoint/2010/main" val="2941371360"/>
      </p:ext>
    </p:extLst>
  </p:cSld>
  <p:clrMapOvr>
    <a:masterClrMapping/>
  </p:clrMapOvr>
  <p:transition spd="med">
    <p:zoom/>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A049E2E9-EE0B-0D38-A873-A40874144EF4}"/>
              </a:ext>
            </a:extLst>
          </p:cNvPr>
          <p:cNvSpPr>
            <a:spLocks noGrp="1" noChangeArrowheads="1"/>
          </p:cNvSpPr>
          <p:nvPr>
            <p:ph type="title"/>
          </p:nvPr>
        </p:nvSpPr>
        <p:spPr>
          <a:xfrm>
            <a:off x="1042988" y="225431"/>
            <a:ext cx="7850187" cy="746125"/>
          </a:xfrm>
        </p:spPr>
        <p:txBody>
          <a:bodyPr/>
          <a:lstStyle/>
          <a:p>
            <a:r>
              <a:rPr lang="zh-CN" altLang="en-US"/>
              <a:t>磁盘驱动程序功能</a:t>
            </a:r>
          </a:p>
        </p:txBody>
      </p:sp>
      <p:sp>
        <p:nvSpPr>
          <p:cNvPr id="311299" name="Rectangle 3">
            <a:extLst>
              <a:ext uri="{FF2B5EF4-FFF2-40B4-BE49-F238E27FC236}">
                <a16:creationId xmlns:a16="http://schemas.microsoft.com/office/drawing/2014/main" id="{3798FAE4-1A33-37CD-CD77-EA93D3E5F2A4}"/>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计算请求块在磁盘的位置。如将磁盘逻辑块号转换成盘面号、磁道号、扇区号。</a:t>
            </a:r>
          </a:p>
          <a:p>
            <a:r>
              <a:rPr lang="zh-CN" altLang="en-US"/>
              <a:t>检查驱动器的电机是否正常运转，磁头是否定位在正确位置。</a:t>
            </a:r>
          </a:p>
          <a:p>
            <a:r>
              <a:rPr lang="zh-CN" altLang="en-US"/>
              <a:t>向控制器发送</a:t>
            </a:r>
            <a:r>
              <a:rPr lang="en-US" altLang="zh-CN"/>
              <a:t>I/O</a:t>
            </a:r>
            <a:r>
              <a:rPr lang="zh-CN" altLang="en-US"/>
              <a:t>命令：若设备空闲则启动设备完成</a:t>
            </a:r>
            <a:r>
              <a:rPr lang="en-US" altLang="zh-CN"/>
              <a:t>I/O</a:t>
            </a:r>
            <a:r>
              <a:rPr lang="zh-CN" altLang="en-US"/>
              <a:t>操作，否则将请求块挂在设备等待队列上。</a:t>
            </a:r>
          </a:p>
          <a:p>
            <a:r>
              <a:rPr lang="zh-CN" altLang="en-US"/>
              <a:t>响应由控制器或通道发来的中断请求，并调用相应的中断处理程序。若正常则将数据传送到与设备无关的软件层，否则报告错误。</a:t>
            </a:r>
          </a:p>
        </p:txBody>
      </p:sp>
      <p:sp>
        <p:nvSpPr>
          <p:cNvPr id="2" name="灯片编号占位符 1">
            <a:extLst>
              <a:ext uri="{FF2B5EF4-FFF2-40B4-BE49-F238E27FC236}">
                <a16:creationId xmlns:a16="http://schemas.microsoft.com/office/drawing/2014/main" id="{3B164A3B-2D38-F583-CBB7-DA72D654059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155</a:t>
            </a:fld>
            <a:endParaRPr lang="zh-CN" altLang="en-US" dirty="0"/>
          </a:p>
        </p:txBody>
      </p:sp>
    </p:spTree>
    <p:extLst>
      <p:ext uri="{BB962C8B-B14F-4D97-AF65-F5344CB8AC3E}">
        <p14:creationId xmlns:p14="http://schemas.microsoft.com/office/powerpoint/2010/main" val="2072280466"/>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animEffect transition="in" filter="checkerboard(across)">
                                      <p:cBhvr>
                                        <p:cTn id="7" dur="500"/>
                                        <p:tgtEl>
                                          <p:spTgt spid="311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1299">
                                            <p:txEl>
                                              <p:pRg st="1" end="1"/>
                                            </p:txEl>
                                          </p:spTgt>
                                        </p:tgtEl>
                                        <p:attrNameLst>
                                          <p:attrName>style.visibility</p:attrName>
                                        </p:attrNameLst>
                                      </p:cBhvr>
                                      <p:to>
                                        <p:strVal val="visible"/>
                                      </p:to>
                                    </p:set>
                                    <p:animEffect transition="in" filter="checkerboard(across)">
                                      <p:cBhvr>
                                        <p:cTn id="12" dur="500"/>
                                        <p:tgtEl>
                                          <p:spTgt spid="3112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1299">
                                            <p:txEl>
                                              <p:pRg st="2" end="2"/>
                                            </p:txEl>
                                          </p:spTgt>
                                        </p:tgtEl>
                                        <p:attrNameLst>
                                          <p:attrName>style.visibility</p:attrName>
                                        </p:attrNameLst>
                                      </p:cBhvr>
                                      <p:to>
                                        <p:strVal val="visible"/>
                                      </p:to>
                                    </p:set>
                                    <p:animEffect transition="in" filter="checkerboard(across)">
                                      <p:cBhvr>
                                        <p:cTn id="17" dur="500"/>
                                        <p:tgtEl>
                                          <p:spTgt spid="3112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11299">
                                            <p:txEl>
                                              <p:pRg st="3" end="3"/>
                                            </p:txEl>
                                          </p:spTgt>
                                        </p:tgtEl>
                                        <p:attrNameLst>
                                          <p:attrName>style.visibility</p:attrName>
                                        </p:attrNameLst>
                                      </p:cBhvr>
                                      <p:to>
                                        <p:strVal val="visible"/>
                                      </p:to>
                                    </p:set>
                                    <p:animEffect transition="in" filter="checkerboard(across)">
                                      <p:cBhvr>
                                        <p:cTn id="22" dur="500"/>
                                        <p:tgtEl>
                                          <p:spTgt spid="311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a:extLst>
              <a:ext uri="{FF2B5EF4-FFF2-40B4-BE49-F238E27FC236}">
                <a16:creationId xmlns:a16="http://schemas.microsoft.com/office/drawing/2014/main" id="{2993AD2A-B786-F5FA-32C6-1509DD1937D5}"/>
              </a:ext>
            </a:extLst>
          </p:cNvPr>
          <p:cNvSpPr>
            <a:spLocks noGrp="1" noChangeArrowheads="1"/>
          </p:cNvSpPr>
          <p:nvPr>
            <p:ph type="title"/>
          </p:nvPr>
        </p:nvSpPr>
        <p:spPr>
          <a:xfrm>
            <a:off x="1042988" y="225431"/>
            <a:ext cx="7850187" cy="746125"/>
          </a:xfrm>
        </p:spPr>
        <p:txBody>
          <a:bodyPr/>
          <a:lstStyle/>
          <a:p>
            <a:r>
              <a:rPr lang="zh-CN" altLang="en-US" sz="4000" dirty="0"/>
              <a:t>驱动程序发出命令后的处理方式</a:t>
            </a:r>
          </a:p>
        </p:txBody>
      </p:sp>
      <p:sp>
        <p:nvSpPr>
          <p:cNvPr id="153602" name="Rectangle 3">
            <a:extLst>
              <a:ext uri="{FF2B5EF4-FFF2-40B4-BE49-F238E27FC236}">
                <a16:creationId xmlns:a16="http://schemas.microsoft.com/office/drawing/2014/main" id="{93D40DF4-1989-3015-3E66-61D1A337AC76}"/>
              </a:ext>
            </a:extLst>
          </p:cNvPr>
          <p:cNvSpPr>
            <a:spLocks noGrp="1" noChangeArrowheads="1"/>
          </p:cNvSpPr>
          <p:nvPr>
            <p:ph idx="1"/>
          </p:nvPr>
        </p:nvSpPr>
        <p:spPr>
          <a:xfrm>
            <a:off x="935038" y="1233488"/>
            <a:ext cx="7772400" cy="4895850"/>
          </a:xfrm>
        </p:spPr>
        <p:txBody>
          <a:bodyPr/>
          <a:lstStyle/>
          <a:p>
            <a:r>
              <a:rPr lang="zh-CN" altLang="en-US"/>
              <a:t>设备驱动程序发出命令后，有两种处理方式：</a:t>
            </a:r>
          </a:p>
          <a:p>
            <a:pPr lvl="1"/>
            <a:r>
              <a:rPr lang="zh-CN" altLang="en-US"/>
              <a:t>驱动程序阻塞，直到中断信号将其唤醒。</a:t>
            </a:r>
          </a:p>
          <a:p>
            <a:pPr lvl="1"/>
            <a:r>
              <a:rPr lang="zh-CN" altLang="en-US"/>
              <a:t>设备驱动程序不阻塞，用于操作时间很短的情况如几个毫秒，这时睡眠唤醒开销太大。</a:t>
            </a:r>
          </a:p>
        </p:txBody>
      </p:sp>
      <p:sp>
        <p:nvSpPr>
          <p:cNvPr id="2" name="灯片编号占位符 1">
            <a:extLst>
              <a:ext uri="{FF2B5EF4-FFF2-40B4-BE49-F238E27FC236}">
                <a16:creationId xmlns:a16="http://schemas.microsoft.com/office/drawing/2014/main" id="{99A7DCE5-5140-6AE7-E17A-FC84654B0ABF}"/>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156</a:t>
            </a:fld>
            <a:endParaRPr lang="zh-CN" altLang="en-US" dirty="0"/>
          </a:p>
        </p:txBody>
      </p:sp>
    </p:spTree>
    <p:extLst>
      <p:ext uri="{BB962C8B-B14F-4D97-AF65-F5344CB8AC3E}">
        <p14:creationId xmlns:p14="http://schemas.microsoft.com/office/powerpoint/2010/main" val="2099255508"/>
      </p:ext>
    </p:extLst>
  </p:cSld>
  <p:clrMapOvr>
    <a:masterClrMapping/>
  </p:clrMapOvr>
  <p:transition spd="med">
    <p:zoom/>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ED8F313C-32A6-41A6-16FB-3A31117550DF}"/>
              </a:ext>
            </a:extLst>
          </p:cNvPr>
          <p:cNvSpPr>
            <a:spLocks noGrp="1" noChangeArrowheads="1"/>
          </p:cNvSpPr>
          <p:nvPr>
            <p:ph type="title"/>
          </p:nvPr>
        </p:nvSpPr>
        <p:spPr>
          <a:xfrm>
            <a:off x="1042988" y="225431"/>
            <a:ext cx="7850187" cy="746125"/>
          </a:xfrm>
        </p:spPr>
        <p:txBody>
          <a:bodyPr/>
          <a:lstStyle/>
          <a:p>
            <a:r>
              <a:rPr lang="zh-CN" altLang="en-US" dirty="0"/>
              <a:t>与设备无关的软件</a:t>
            </a:r>
          </a:p>
        </p:txBody>
      </p:sp>
      <p:sp>
        <p:nvSpPr>
          <p:cNvPr id="313347" name="Rectangle 3">
            <a:extLst>
              <a:ext uri="{FF2B5EF4-FFF2-40B4-BE49-F238E27FC236}">
                <a16:creationId xmlns:a16="http://schemas.microsoft.com/office/drawing/2014/main" id="{F2F44464-70FA-1533-A501-65DAC7A087A1}"/>
              </a:ext>
            </a:extLst>
          </p:cNvPr>
          <p:cNvSpPr>
            <a:spLocks noGrp="1" noChangeArrowheads="1"/>
          </p:cNvSpPr>
          <p:nvPr>
            <p:ph idx="1"/>
          </p:nvPr>
        </p:nvSpPr>
        <p:spPr>
          <a:xfrm>
            <a:off x="935038" y="1233488"/>
            <a:ext cx="7772400" cy="4895850"/>
          </a:xfrm>
        </p:spPr>
        <p:txBody>
          <a:bodyPr/>
          <a:lstStyle/>
          <a:p>
            <a:r>
              <a:rPr lang="en-US" altLang="zh-CN"/>
              <a:t>I/O</a:t>
            </a:r>
            <a:r>
              <a:rPr lang="zh-CN" altLang="en-US"/>
              <a:t>软件的一部分（如设备驱动程序）与设备相关，其他部分则与设备无关。</a:t>
            </a:r>
          </a:p>
          <a:p>
            <a:r>
              <a:rPr lang="zh-CN" altLang="en-US"/>
              <a:t>设备驱动程序与设备无关软件之间的界限随操作系统的不同而异</a:t>
            </a:r>
          </a:p>
          <a:p>
            <a:r>
              <a:rPr lang="zh-CN" altLang="en-US"/>
              <a:t>与设备无关软件的基本任务是实现一般设备都需要的</a:t>
            </a:r>
            <a:r>
              <a:rPr lang="en-US" altLang="zh-CN"/>
              <a:t>I/O</a:t>
            </a:r>
            <a:r>
              <a:rPr lang="zh-CN" altLang="en-US"/>
              <a:t>功能，并向用户层软件提供一个统一的接口。</a:t>
            </a:r>
          </a:p>
        </p:txBody>
      </p:sp>
      <p:sp>
        <p:nvSpPr>
          <p:cNvPr id="2" name="灯片编号占位符 1">
            <a:extLst>
              <a:ext uri="{FF2B5EF4-FFF2-40B4-BE49-F238E27FC236}">
                <a16:creationId xmlns:a16="http://schemas.microsoft.com/office/drawing/2014/main" id="{8DE96F7F-F7BF-8834-3DFA-52950149622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157</a:t>
            </a:fld>
            <a:endParaRPr lang="zh-CN" altLang="en-US" dirty="0"/>
          </a:p>
        </p:txBody>
      </p:sp>
    </p:spTree>
    <p:extLst>
      <p:ext uri="{BB962C8B-B14F-4D97-AF65-F5344CB8AC3E}">
        <p14:creationId xmlns:p14="http://schemas.microsoft.com/office/powerpoint/2010/main" val="4142509568"/>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Effect transition="in" filter="checkerboard(across)">
                                      <p:cBhvr>
                                        <p:cTn id="7" dur="500"/>
                                        <p:tgtEl>
                                          <p:spTgt spid="313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3347">
                                            <p:txEl>
                                              <p:pRg st="1" end="1"/>
                                            </p:txEl>
                                          </p:spTgt>
                                        </p:tgtEl>
                                        <p:attrNameLst>
                                          <p:attrName>style.visibility</p:attrName>
                                        </p:attrNameLst>
                                      </p:cBhvr>
                                      <p:to>
                                        <p:strVal val="visible"/>
                                      </p:to>
                                    </p:set>
                                    <p:animEffect transition="in" filter="checkerboard(across)">
                                      <p:cBhvr>
                                        <p:cTn id="12" dur="500"/>
                                        <p:tgtEl>
                                          <p:spTgt spid="313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3347">
                                            <p:txEl>
                                              <p:pRg st="2" end="2"/>
                                            </p:txEl>
                                          </p:spTgt>
                                        </p:tgtEl>
                                        <p:attrNameLst>
                                          <p:attrName>style.visibility</p:attrName>
                                        </p:attrNameLst>
                                      </p:cBhvr>
                                      <p:to>
                                        <p:strVal val="visible"/>
                                      </p:to>
                                    </p:set>
                                    <p:animEffect transition="in" filter="checkerboard(across)">
                                      <p:cBhvr>
                                        <p:cTn id="17" dur="500"/>
                                        <p:tgtEl>
                                          <p:spTgt spid="3133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918FB415-5A09-325C-B33B-EA814FF0588E}"/>
              </a:ext>
            </a:extLst>
          </p:cNvPr>
          <p:cNvSpPr>
            <a:spLocks noGrp="1" noChangeArrowheads="1"/>
          </p:cNvSpPr>
          <p:nvPr>
            <p:ph type="title"/>
          </p:nvPr>
        </p:nvSpPr>
        <p:spPr>
          <a:xfrm>
            <a:off x="1042988" y="225431"/>
            <a:ext cx="7850187" cy="746125"/>
          </a:xfrm>
        </p:spPr>
        <p:txBody>
          <a:bodyPr/>
          <a:lstStyle/>
          <a:p>
            <a:r>
              <a:rPr lang="zh-CN" altLang="en-US"/>
              <a:t>与设备无关软件的功能</a:t>
            </a:r>
          </a:p>
        </p:txBody>
      </p:sp>
      <p:sp>
        <p:nvSpPr>
          <p:cNvPr id="155650" name="Rectangle 3">
            <a:extLst>
              <a:ext uri="{FF2B5EF4-FFF2-40B4-BE49-F238E27FC236}">
                <a16:creationId xmlns:a16="http://schemas.microsoft.com/office/drawing/2014/main" id="{52BDED67-EC97-F8DF-0225-95101EABC0B4}"/>
              </a:ext>
            </a:extLst>
          </p:cNvPr>
          <p:cNvSpPr>
            <a:spLocks noGrp="1" noChangeArrowheads="1"/>
          </p:cNvSpPr>
          <p:nvPr>
            <p:ph idx="1"/>
          </p:nvPr>
        </p:nvSpPr>
        <p:spPr>
          <a:xfrm>
            <a:off x="935038" y="1233488"/>
            <a:ext cx="7772400" cy="4895850"/>
          </a:xfrm>
        </p:spPr>
        <p:txBody>
          <a:bodyPr/>
          <a:lstStyle/>
          <a:p>
            <a:r>
              <a:rPr lang="zh-CN" altLang="en-US"/>
              <a:t>与设备无关软件通常应实现的功能包括：</a:t>
            </a:r>
          </a:p>
          <a:p>
            <a:pPr lvl="1"/>
            <a:r>
              <a:rPr lang="zh-CN" altLang="en-US"/>
              <a:t>设备命名</a:t>
            </a:r>
          </a:p>
          <a:p>
            <a:pPr lvl="1"/>
            <a:r>
              <a:rPr lang="zh-CN" altLang="en-US"/>
              <a:t>设备保护</a:t>
            </a:r>
          </a:p>
          <a:p>
            <a:pPr lvl="1"/>
            <a:r>
              <a:rPr lang="zh-CN" altLang="en-US"/>
              <a:t>提供与设备无关的逻辑块</a:t>
            </a:r>
          </a:p>
          <a:p>
            <a:pPr lvl="1"/>
            <a:r>
              <a:rPr lang="zh-CN" altLang="en-US"/>
              <a:t>缓冲管理</a:t>
            </a:r>
          </a:p>
          <a:p>
            <a:pPr lvl="1"/>
            <a:r>
              <a:rPr lang="zh-CN" altLang="en-US"/>
              <a:t>存储设备的空间管理</a:t>
            </a:r>
          </a:p>
          <a:p>
            <a:pPr lvl="1"/>
            <a:r>
              <a:rPr lang="zh-CN" altLang="en-US"/>
              <a:t>独占设备的分配与释放</a:t>
            </a:r>
          </a:p>
          <a:p>
            <a:pPr lvl="1"/>
            <a:r>
              <a:rPr lang="zh-CN" altLang="en-US"/>
              <a:t>错误处理</a:t>
            </a:r>
          </a:p>
        </p:txBody>
      </p:sp>
      <p:sp>
        <p:nvSpPr>
          <p:cNvPr id="2" name="灯片编号占位符 1">
            <a:extLst>
              <a:ext uri="{FF2B5EF4-FFF2-40B4-BE49-F238E27FC236}">
                <a16:creationId xmlns:a16="http://schemas.microsoft.com/office/drawing/2014/main" id="{6144AB6F-C097-A5BE-DA4F-00D815E77CA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158</a:t>
            </a:fld>
            <a:endParaRPr lang="zh-CN" altLang="en-US" dirty="0"/>
          </a:p>
        </p:txBody>
      </p:sp>
    </p:spTree>
    <p:extLst>
      <p:ext uri="{BB962C8B-B14F-4D97-AF65-F5344CB8AC3E}">
        <p14:creationId xmlns:p14="http://schemas.microsoft.com/office/powerpoint/2010/main" val="87147403"/>
      </p:ext>
    </p:extLst>
  </p:cSld>
  <p:clrMapOvr>
    <a:masterClrMapping/>
  </p:clrMapOvr>
  <p:transition spd="med">
    <p:zoom/>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A5F2E900-88B5-BF40-AC0F-080C656332E9}"/>
              </a:ext>
            </a:extLst>
          </p:cNvPr>
          <p:cNvSpPr>
            <a:spLocks noGrp="1" noChangeArrowheads="1"/>
          </p:cNvSpPr>
          <p:nvPr>
            <p:ph type="title"/>
          </p:nvPr>
        </p:nvSpPr>
        <p:spPr>
          <a:xfrm>
            <a:off x="1042988" y="225431"/>
            <a:ext cx="7850187" cy="746125"/>
          </a:xfrm>
        </p:spPr>
        <p:txBody>
          <a:bodyPr/>
          <a:lstStyle/>
          <a:p>
            <a:r>
              <a:rPr lang="zh-CN" altLang="en-US"/>
              <a:t>设备命名</a:t>
            </a:r>
          </a:p>
        </p:txBody>
      </p:sp>
      <p:sp>
        <p:nvSpPr>
          <p:cNvPr id="315395" name="Rectangle 3">
            <a:extLst>
              <a:ext uri="{FF2B5EF4-FFF2-40B4-BE49-F238E27FC236}">
                <a16:creationId xmlns:a16="http://schemas.microsoft.com/office/drawing/2014/main" id="{5BF25BA4-2FB0-CA58-C622-E6B2D8E1827B}"/>
              </a:ext>
            </a:extLst>
          </p:cNvPr>
          <p:cNvSpPr>
            <a:spLocks noGrp="1" noChangeArrowheads="1"/>
          </p:cNvSpPr>
          <p:nvPr>
            <p:ph idx="1"/>
          </p:nvPr>
        </p:nvSpPr>
        <p:spPr>
          <a:xfrm>
            <a:off x="935038" y="1233488"/>
            <a:ext cx="7772400" cy="4895850"/>
          </a:xfrm>
        </p:spPr>
        <p:txBody>
          <a:bodyPr/>
          <a:lstStyle/>
          <a:p>
            <a:r>
              <a:rPr lang="zh-CN" altLang="en-US"/>
              <a:t>与设备无关软件负责把设备的符号名映射到相应的设备驱动程序上。</a:t>
            </a:r>
          </a:p>
          <a:p>
            <a:r>
              <a:rPr lang="zh-CN" altLang="en-US"/>
              <a:t>例如，在</a:t>
            </a:r>
            <a:r>
              <a:rPr lang="en-US" altLang="zh-CN"/>
              <a:t>UNIX</a:t>
            </a:r>
            <a:r>
              <a:rPr lang="zh-CN" altLang="en-US"/>
              <a:t>系统中，像/</a:t>
            </a:r>
            <a:r>
              <a:rPr lang="en-US" altLang="zh-CN"/>
              <a:t>dev/tty00</a:t>
            </a:r>
            <a:r>
              <a:rPr lang="zh-CN" altLang="en-US"/>
              <a:t>这样的设备名唯一确定了一个特殊文件的</a:t>
            </a:r>
            <a:r>
              <a:rPr lang="en-US" altLang="zh-CN"/>
              <a:t>i</a:t>
            </a:r>
            <a:r>
              <a:rPr lang="zh-CN" altLang="en-US"/>
              <a:t>节点，这个</a:t>
            </a:r>
            <a:r>
              <a:rPr lang="en-US" altLang="zh-CN"/>
              <a:t>i</a:t>
            </a:r>
            <a:r>
              <a:rPr lang="zh-CN" altLang="en-US"/>
              <a:t>节点包含了主设备号和次设备号。主设备号用于寻找对应的设备驱动程序，而次设备号提供了设备驱动程序的有关参数，用来确定要读写的具体设备。 </a:t>
            </a:r>
          </a:p>
        </p:txBody>
      </p:sp>
      <p:sp>
        <p:nvSpPr>
          <p:cNvPr id="2" name="灯片编号占位符 1">
            <a:extLst>
              <a:ext uri="{FF2B5EF4-FFF2-40B4-BE49-F238E27FC236}">
                <a16:creationId xmlns:a16="http://schemas.microsoft.com/office/drawing/2014/main" id="{94F2CF2C-1AC2-C2B5-1843-A3CF06AFA10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159</a:t>
            </a:fld>
            <a:endParaRPr lang="zh-CN" altLang="en-US" dirty="0"/>
          </a:p>
        </p:txBody>
      </p:sp>
    </p:spTree>
    <p:extLst>
      <p:ext uri="{BB962C8B-B14F-4D97-AF65-F5344CB8AC3E}">
        <p14:creationId xmlns:p14="http://schemas.microsoft.com/office/powerpoint/2010/main" val="2062673353"/>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Effect transition="in" filter="checkerboard(across)">
                                      <p:cBhvr>
                                        <p:cTn id="7" dur="500"/>
                                        <p:tgtEl>
                                          <p:spTgt spid="3153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5395">
                                            <p:txEl>
                                              <p:pRg st="1" end="1"/>
                                            </p:txEl>
                                          </p:spTgt>
                                        </p:tgtEl>
                                        <p:attrNameLst>
                                          <p:attrName>style.visibility</p:attrName>
                                        </p:attrNameLst>
                                      </p:cBhvr>
                                      <p:to>
                                        <p:strVal val="visible"/>
                                      </p:to>
                                    </p:set>
                                    <p:animEffect transition="in" filter="checkerboard(across)">
                                      <p:cBhvr>
                                        <p:cTn id="12" dur="500"/>
                                        <p:tgtEl>
                                          <p:spTgt spid="3153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878B6C11-0024-DD25-B5E1-018CE2649F77}"/>
              </a:ext>
            </a:extLst>
          </p:cNvPr>
          <p:cNvSpPr>
            <a:spLocks noGrp="1" noChangeArrowheads="1"/>
          </p:cNvSpPr>
          <p:nvPr>
            <p:ph type="title"/>
          </p:nvPr>
        </p:nvSpPr>
        <p:spPr>
          <a:xfrm>
            <a:off x="1042988" y="225431"/>
            <a:ext cx="7850187" cy="746125"/>
          </a:xfrm>
        </p:spPr>
        <p:txBody>
          <a:bodyPr/>
          <a:lstStyle/>
          <a:p>
            <a:r>
              <a:rPr lang="zh-CN" altLang="en-US"/>
              <a:t>设备保护</a:t>
            </a:r>
          </a:p>
        </p:txBody>
      </p:sp>
      <p:sp>
        <p:nvSpPr>
          <p:cNvPr id="316419" name="Rectangle 3">
            <a:extLst>
              <a:ext uri="{FF2B5EF4-FFF2-40B4-BE49-F238E27FC236}">
                <a16:creationId xmlns:a16="http://schemas.microsoft.com/office/drawing/2014/main" id="{E424B877-9AE4-336E-5556-8DEF5E085322}"/>
              </a:ext>
            </a:extLst>
          </p:cNvPr>
          <p:cNvSpPr>
            <a:spLocks noGrp="1" noChangeArrowheads="1"/>
          </p:cNvSpPr>
          <p:nvPr>
            <p:ph idx="1"/>
          </p:nvPr>
        </p:nvSpPr>
        <p:spPr>
          <a:xfrm>
            <a:off x="935038" y="1233488"/>
            <a:ext cx="7772400" cy="4895850"/>
          </a:xfrm>
        </p:spPr>
        <p:txBody>
          <a:bodyPr/>
          <a:lstStyle/>
          <a:p>
            <a:r>
              <a:rPr lang="zh-CN" altLang="en-US"/>
              <a:t>对设备进行必要的保护，防止无授权的应用或用户的非法使用</a:t>
            </a:r>
          </a:p>
          <a:p>
            <a:r>
              <a:rPr lang="zh-CN" altLang="en-US"/>
              <a:t>例如，在大多数大型计算机系统中，用户进程对</a:t>
            </a:r>
            <a:r>
              <a:rPr lang="en-US" altLang="zh-CN"/>
              <a:t>I/O</a:t>
            </a:r>
            <a:r>
              <a:rPr lang="zh-CN" altLang="en-US"/>
              <a:t>设备的直接访问是完全禁止的；在</a:t>
            </a:r>
            <a:r>
              <a:rPr lang="en-US" altLang="zh-CN"/>
              <a:t>UNIX</a:t>
            </a:r>
            <a:r>
              <a:rPr lang="zh-CN" altLang="en-US"/>
              <a:t>系统中，使用存取权限来保护系统中的</a:t>
            </a:r>
            <a:r>
              <a:rPr lang="en-US" altLang="zh-CN"/>
              <a:t>I/O</a:t>
            </a:r>
            <a:r>
              <a:rPr lang="zh-CN" altLang="en-US"/>
              <a:t>设备。</a:t>
            </a:r>
          </a:p>
        </p:txBody>
      </p:sp>
      <p:sp>
        <p:nvSpPr>
          <p:cNvPr id="2" name="灯片编号占位符 1">
            <a:extLst>
              <a:ext uri="{FF2B5EF4-FFF2-40B4-BE49-F238E27FC236}">
                <a16:creationId xmlns:a16="http://schemas.microsoft.com/office/drawing/2014/main" id="{E40A18A2-0E3B-EFA4-2F64-B3644B69786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160</a:t>
            </a:fld>
            <a:endParaRPr lang="zh-CN" altLang="en-US" dirty="0"/>
          </a:p>
        </p:txBody>
      </p:sp>
    </p:spTree>
    <p:extLst>
      <p:ext uri="{BB962C8B-B14F-4D97-AF65-F5344CB8AC3E}">
        <p14:creationId xmlns:p14="http://schemas.microsoft.com/office/powerpoint/2010/main" val="3784220249"/>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checkerboard(across)">
                                      <p:cBhvr>
                                        <p:cTn id="7" dur="500"/>
                                        <p:tgtEl>
                                          <p:spTgt spid="316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6419">
                                            <p:txEl>
                                              <p:pRg st="1" end="1"/>
                                            </p:txEl>
                                          </p:spTgt>
                                        </p:tgtEl>
                                        <p:attrNameLst>
                                          <p:attrName>style.visibility</p:attrName>
                                        </p:attrNameLst>
                                      </p:cBhvr>
                                      <p:to>
                                        <p:strVal val="visible"/>
                                      </p:to>
                                    </p:set>
                                    <p:animEffect transition="in" filter="checkerboard(across)">
                                      <p:cBhvr>
                                        <p:cTn id="12" dur="500"/>
                                        <p:tgtEl>
                                          <p:spTgt spid="3164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1B158B61-F68C-4DAB-0054-B3EBB8FB6921}"/>
              </a:ext>
            </a:extLst>
          </p:cNvPr>
          <p:cNvSpPr>
            <a:spLocks noGrp="1" noChangeArrowheads="1"/>
          </p:cNvSpPr>
          <p:nvPr>
            <p:ph type="title"/>
          </p:nvPr>
        </p:nvSpPr>
        <p:spPr>
          <a:xfrm>
            <a:off x="1042988" y="225431"/>
            <a:ext cx="7850187" cy="746125"/>
          </a:xfrm>
        </p:spPr>
        <p:txBody>
          <a:bodyPr/>
          <a:lstStyle/>
          <a:p>
            <a:r>
              <a:rPr lang="zh-CN" altLang="en-US"/>
              <a:t>提供与设备无关的逻辑块</a:t>
            </a:r>
          </a:p>
        </p:txBody>
      </p:sp>
      <p:sp>
        <p:nvSpPr>
          <p:cNvPr id="317443" name="Rectangle 3">
            <a:extLst>
              <a:ext uri="{FF2B5EF4-FFF2-40B4-BE49-F238E27FC236}">
                <a16:creationId xmlns:a16="http://schemas.microsoft.com/office/drawing/2014/main" id="{D030458D-AB1C-8918-8159-E1AC585CB0F9}"/>
              </a:ext>
            </a:extLst>
          </p:cNvPr>
          <p:cNvSpPr>
            <a:spLocks noGrp="1" noChangeArrowheads="1"/>
          </p:cNvSpPr>
          <p:nvPr>
            <p:ph idx="1"/>
          </p:nvPr>
        </p:nvSpPr>
        <p:spPr>
          <a:xfrm>
            <a:off x="935038" y="1233488"/>
            <a:ext cx="7772400" cy="4895850"/>
          </a:xfrm>
        </p:spPr>
        <p:txBody>
          <a:bodyPr/>
          <a:lstStyle/>
          <a:p>
            <a:r>
              <a:rPr lang="zh-CN" altLang="en-US"/>
              <a:t>不同磁盘可采用不同的扇区尺寸，与设备无关软件应向高层软件提供大小统一的逻辑块。</a:t>
            </a:r>
          </a:p>
          <a:p>
            <a:r>
              <a:rPr lang="zh-CN" altLang="en-US"/>
              <a:t>例如，可以将若干扇区合并成一个逻辑块。这样较高层软件只与抽象设备打交道，不考虑物理扇区的尺寸而使用等长的逻辑块。</a:t>
            </a:r>
          </a:p>
        </p:txBody>
      </p:sp>
      <p:sp>
        <p:nvSpPr>
          <p:cNvPr id="2" name="灯片编号占位符 1">
            <a:extLst>
              <a:ext uri="{FF2B5EF4-FFF2-40B4-BE49-F238E27FC236}">
                <a16:creationId xmlns:a16="http://schemas.microsoft.com/office/drawing/2014/main" id="{C5A7E3C8-58FE-47BF-A1DB-BBB639E12F6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161</a:t>
            </a:fld>
            <a:endParaRPr lang="zh-CN" altLang="en-US" dirty="0"/>
          </a:p>
        </p:txBody>
      </p:sp>
    </p:spTree>
    <p:extLst>
      <p:ext uri="{BB962C8B-B14F-4D97-AF65-F5344CB8AC3E}">
        <p14:creationId xmlns:p14="http://schemas.microsoft.com/office/powerpoint/2010/main" val="364997299"/>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7443">
                                            <p:txEl>
                                              <p:pRg st="0" end="0"/>
                                            </p:txEl>
                                          </p:spTgt>
                                        </p:tgtEl>
                                        <p:attrNameLst>
                                          <p:attrName>style.visibility</p:attrName>
                                        </p:attrNameLst>
                                      </p:cBhvr>
                                      <p:to>
                                        <p:strVal val="visible"/>
                                      </p:to>
                                    </p:set>
                                    <p:animEffect transition="in" filter="checkerboard(across)">
                                      <p:cBhvr>
                                        <p:cTn id="7" dur="500"/>
                                        <p:tgtEl>
                                          <p:spTgt spid="317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7443">
                                            <p:txEl>
                                              <p:pRg st="1" end="1"/>
                                            </p:txEl>
                                          </p:spTgt>
                                        </p:tgtEl>
                                        <p:attrNameLst>
                                          <p:attrName>style.visibility</p:attrName>
                                        </p:attrNameLst>
                                      </p:cBhvr>
                                      <p:to>
                                        <p:strVal val="visible"/>
                                      </p:to>
                                    </p:set>
                                    <p:animEffect transition="in" filter="checkerboard(across)">
                                      <p:cBhvr>
                                        <p:cTn id="12" dur="500"/>
                                        <p:tgtEl>
                                          <p:spTgt spid="3174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a:extLst>
              <a:ext uri="{FF2B5EF4-FFF2-40B4-BE49-F238E27FC236}">
                <a16:creationId xmlns:a16="http://schemas.microsoft.com/office/drawing/2014/main" id="{2305DD2C-8DA6-7C55-8586-CA52806335F7}"/>
              </a:ext>
            </a:extLst>
          </p:cNvPr>
          <p:cNvSpPr>
            <a:spLocks noGrp="1" noChangeArrowheads="1"/>
          </p:cNvSpPr>
          <p:nvPr>
            <p:ph type="title"/>
          </p:nvPr>
        </p:nvSpPr>
        <p:spPr>
          <a:xfrm>
            <a:off x="1042988" y="225431"/>
            <a:ext cx="7850187" cy="746125"/>
          </a:xfrm>
        </p:spPr>
        <p:txBody>
          <a:bodyPr/>
          <a:lstStyle/>
          <a:p>
            <a:r>
              <a:rPr lang="zh-CN" altLang="en-US"/>
              <a:t>缓冲</a:t>
            </a:r>
          </a:p>
        </p:txBody>
      </p:sp>
      <p:sp>
        <p:nvSpPr>
          <p:cNvPr id="159746" name="Rectangle 3">
            <a:extLst>
              <a:ext uri="{FF2B5EF4-FFF2-40B4-BE49-F238E27FC236}">
                <a16:creationId xmlns:a16="http://schemas.microsoft.com/office/drawing/2014/main" id="{72195591-067D-4593-DF08-C49074BDA90A}"/>
              </a:ext>
            </a:extLst>
          </p:cNvPr>
          <p:cNvSpPr>
            <a:spLocks noGrp="1" noChangeArrowheads="1"/>
          </p:cNvSpPr>
          <p:nvPr>
            <p:ph idx="1"/>
          </p:nvPr>
        </p:nvSpPr>
        <p:spPr>
          <a:xfrm>
            <a:off x="935038" y="1233488"/>
            <a:ext cx="7772400" cy="4895850"/>
          </a:xfrm>
        </p:spPr>
        <p:txBody>
          <a:bodyPr>
            <a:normAutofit lnSpcReduction="10000"/>
          </a:bodyPr>
          <a:lstStyle/>
          <a:p>
            <a:r>
              <a:rPr lang="zh-CN" altLang="en-US"/>
              <a:t>对于常见的块设备和字符设备，一般都使用缓冲区。</a:t>
            </a:r>
          </a:p>
          <a:p>
            <a:r>
              <a:rPr lang="zh-CN" altLang="en-US"/>
              <a:t>对块设备，硬件一般一次读写一个完整块，而用户进程是按任意单位读写数据的。如果用户进程只写了半块数据，则操作系统通常将数据保存在内部缓冲区，等到用户进程写完整块数据才将缓冲区的数据写到磁盘上。</a:t>
            </a:r>
          </a:p>
          <a:p>
            <a:r>
              <a:rPr lang="zh-CN" altLang="en-US"/>
              <a:t>对字符设备，当用户进程输出数据的速度快于设备输出数据的速度时，也必须使用缓冲。 </a:t>
            </a:r>
          </a:p>
        </p:txBody>
      </p:sp>
      <p:sp>
        <p:nvSpPr>
          <p:cNvPr id="2" name="灯片编号占位符 1">
            <a:extLst>
              <a:ext uri="{FF2B5EF4-FFF2-40B4-BE49-F238E27FC236}">
                <a16:creationId xmlns:a16="http://schemas.microsoft.com/office/drawing/2014/main" id="{2F2F8351-9A28-F912-6298-E408B989289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162</a:t>
            </a:fld>
            <a:endParaRPr lang="zh-CN" altLang="en-US" dirty="0"/>
          </a:p>
        </p:txBody>
      </p:sp>
    </p:spTree>
    <p:extLst>
      <p:ext uri="{BB962C8B-B14F-4D97-AF65-F5344CB8AC3E}">
        <p14:creationId xmlns:p14="http://schemas.microsoft.com/office/powerpoint/2010/main" val="956938776"/>
      </p:ext>
    </p:extLst>
  </p:cSld>
  <p:clrMapOvr>
    <a:masterClrMapping/>
  </p:clrMapOvr>
  <p:transition spd="med">
    <p:zoom/>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549C4469-DEEC-B93C-0840-1C1AB031DF67}"/>
              </a:ext>
            </a:extLst>
          </p:cNvPr>
          <p:cNvSpPr>
            <a:spLocks noGrp="1" noChangeArrowheads="1"/>
          </p:cNvSpPr>
          <p:nvPr>
            <p:ph type="title"/>
          </p:nvPr>
        </p:nvSpPr>
        <p:spPr>
          <a:xfrm>
            <a:off x="1042988" y="225431"/>
            <a:ext cx="7850187" cy="746125"/>
          </a:xfrm>
        </p:spPr>
        <p:txBody>
          <a:bodyPr/>
          <a:lstStyle/>
          <a:p>
            <a:r>
              <a:rPr lang="zh-CN" altLang="en-US"/>
              <a:t>存储设备的空间分配</a:t>
            </a:r>
          </a:p>
        </p:txBody>
      </p:sp>
      <p:sp>
        <p:nvSpPr>
          <p:cNvPr id="160770" name="Rectangle 3">
            <a:extLst>
              <a:ext uri="{FF2B5EF4-FFF2-40B4-BE49-F238E27FC236}">
                <a16:creationId xmlns:a16="http://schemas.microsoft.com/office/drawing/2014/main" id="{4EC163B9-21F1-2E0D-26EA-699C2D44DB51}"/>
              </a:ext>
            </a:extLst>
          </p:cNvPr>
          <p:cNvSpPr>
            <a:spLocks noGrp="1" noChangeArrowheads="1"/>
          </p:cNvSpPr>
          <p:nvPr>
            <p:ph idx="1"/>
          </p:nvPr>
        </p:nvSpPr>
        <p:spPr>
          <a:xfrm>
            <a:off x="935038" y="1233488"/>
            <a:ext cx="7772400" cy="4895850"/>
          </a:xfrm>
        </p:spPr>
        <p:txBody>
          <a:bodyPr/>
          <a:lstStyle/>
          <a:p>
            <a:r>
              <a:rPr lang="zh-CN" altLang="en-US"/>
              <a:t>在创建新文件并向其中写数据时，通常要为该文件分配新的存储块。</a:t>
            </a:r>
          </a:p>
          <a:p>
            <a:r>
              <a:rPr lang="zh-CN" altLang="en-US"/>
              <a:t>为完成空间分配工作，操作系统需为每个磁盘设置一张空闲磁盘块表或位示图，因查找一个空闲块的算法与设备无关，可以将该算法放在与设备无关的软件层中处理。</a:t>
            </a:r>
          </a:p>
        </p:txBody>
      </p:sp>
      <p:sp>
        <p:nvSpPr>
          <p:cNvPr id="2" name="灯片编号占位符 1">
            <a:extLst>
              <a:ext uri="{FF2B5EF4-FFF2-40B4-BE49-F238E27FC236}">
                <a16:creationId xmlns:a16="http://schemas.microsoft.com/office/drawing/2014/main" id="{31FFB80A-DB8D-118F-384C-3B8FBCABA46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163</a:t>
            </a:fld>
            <a:endParaRPr lang="zh-CN" altLang="en-US" dirty="0"/>
          </a:p>
        </p:txBody>
      </p:sp>
    </p:spTree>
    <p:extLst>
      <p:ext uri="{BB962C8B-B14F-4D97-AF65-F5344CB8AC3E}">
        <p14:creationId xmlns:p14="http://schemas.microsoft.com/office/powerpoint/2010/main" val="2529024881"/>
      </p:ext>
    </p:extLst>
  </p:cSld>
  <p:clrMapOvr>
    <a:masterClrMapping/>
  </p:clrMapOvr>
  <p:transition spd="med">
    <p:zoom/>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a:extLst>
              <a:ext uri="{FF2B5EF4-FFF2-40B4-BE49-F238E27FC236}">
                <a16:creationId xmlns:a16="http://schemas.microsoft.com/office/drawing/2014/main" id="{C7E93DDF-97C9-2C28-3564-1347F4BD102D}"/>
              </a:ext>
            </a:extLst>
          </p:cNvPr>
          <p:cNvSpPr>
            <a:spLocks noGrp="1" noChangeArrowheads="1"/>
          </p:cNvSpPr>
          <p:nvPr>
            <p:ph type="title"/>
          </p:nvPr>
        </p:nvSpPr>
        <p:spPr>
          <a:xfrm>
            <a:off x="1042988" y="225431"/>
            <a:ext cx="7850187" cy="746125"/>
          </a:xfrm>
        </p:spPr>
        <p:txBody>
          <a:bodyPr/>
          <a:lstStyle/>
          <a:p>
            <a:r>
              <a:rPr lang="zh-CN" altLang="en-US"/>
              <a:t>独占设备的分配和释放</a:t>
            </a:r>
          </a:p>
        </p:txBody>
      </p:sp>
      <p:sp>
        <p:nvSpPr>
          <p:cNvPr id="161794" name="Rectangle 3">
            <a:extLst>
              <a:ext uri="{FF2B5EF4-FFF2-40B4-BE49-F238E27FC236}">
                <a16:creationId xmlns:a16="http://schemas.microsoft.com/office/drawing/2014/main" id="{ABC1E8FE-8025-F05E-A137-C2A53699DEA6}"/>
              </a:ext>
            </a:extLst>
          </p:cNvPr>
          <p:cNvSpPr>
            <a:spLocks noGrp="1" noChangeArrowheads="1"/>
          </p:cNvSpPr>
          <p:nvPr>
            <p:ph idx="1"/>
          </p:nvPr>
        </p:nvSpPr>
        <p:spPr>
          <a:xfrm>
            <a:off x="935038" y="1233488"/>
            <a:ext cx="7772400" cy="4895850"/>
          </a:xfrm>
        </p:spPr>
        <p:txBody>
          <a:bodyPr/>
          <a:lstStyle/>
          <a:p>
            <a:r>
              <a:rPr lang="zh-CN" altLang="en-US"/>
              <a:t>独占设备在任何时刻只能被单个进程使用，因此操作系统应对设备的使用请求进行检查，并根据设备状态决定是接收请求还是拒绝请求。</a:t>
            </a:r>
          </a:p>
          <a:p>
            <a:r>
              <a:rPr lang="zh-CN" altLang="en-US"/>
              <a:t>一个简单的处理方法是要求进程直接通过</a:t>
            </a:r>
            <a:r>
              <a:rPr lang="en-US" altLang="zh-CN"/>
              <a:t>OPEN</a:t>
            </a:r>
            <a:r>
              <a:rPr lang="zh-CN" altLang="en-US"/>
              <a:t>打开设备特殊文件来提出请求。若设备不能用，则</a:t>
            </a:r>
            <a:r>
              <a:rPr lang="en-US" altLang="zh-CN"/>
              <a:t>OPEN</a:t>
            </a:r>
            <a:r>
              <a:rPr lang="zh-CN" altLang="en-US"/>
              <a:t>失败。关闭独占设备的同时释放该设备。</a:t>
            </a:r>
          </a:p>
        </p:txBody>
      </p:sp>
      <p:sp>
        <p:nvSpPr>
          <p:cNvPr id="2" name="灯片编号占位符 1">
            <a:extLst>
              <a:ext uri="{FF2B5EF4-FFF2-40B4-BE49-F238E27FC236}">
                <a16:creationId xmlns:a16="http://schemas.microsoft.com/office/drawing/2014/main" id="{C6BE76B7-2937-2F4C-1D65-4763C007630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164</a:t>
            </a:fld>
            <a:endParaRPr lang="zh-CN" altLang="en-US" dirty="0"/>
          </a:p>
        </p:txBody>
      </p:sp>
    </p:spTree>
    <p:extLst>
      <p:ext uri="{BB962C8B-B14F-4D97-AF65-F5344CB8AC3E}">
        <p14:creationId xmlns:p14="http://schemas.microsoft.com/office/powerpoint/2010/main" val="2581416207"/>
      </p:ext>
    </p:extLst>
  </p:cSld>
  <p:clrMapOvr>
    <a:masterClrMapping/>
  </p:clrMapOvr>
  <p:transition spd="med">
    <p:zo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CA21593B-FF21-9EE0-5763-906499A4FB32}"/>
              </a:ext>
            </a:extLst>
          </p:cNvPr>
          <p:cNvSpPr>
            <a:spLocks noGrp="1" noChangeArrowheads="1"/>
          </p:cNvSpPr>
          <p:nvPr>
            <p:ph type="title"/>
          </p:nvPr>
        </p:nvSpPr>
        <p:spPr>
          <a:xfrm>
            <a:off x="1042988" y="225431"/>
            <a:ext cx="7850187" cy="746125"/>
          </a:xfrm>
        </p:spPr>
        <p:txBody>
          <a:bodyPr/>
          <a:lstStyle/>
          <a:p>
            <a:r>
              <a:rPr lang="zh-CN" altLang="en-US"/>
              <a:t>出错处理</a:t>
            </a:r>
          </a:p>
        </p:txBody>
      </p:sp>
      <p:sp>
        <p:nvSpPr>
          <p:cNvPr id="162818" name="Rectangle 3">
            <a:extLst>
              <a:ext uri="{FF2B5EF4-FFF2-40B4-BE49-F238E27FC236}">
                <a16:creationId xmlns:a16="http://schemas.microsoft.com/office/drawing/2014/main" id="{17131239-8E2D-A927-64C3-291FFF3213F4}"/>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一般出错处理由设备驱动程序完成。大多数错误与设备相关，因此只有驱动程序知道应如何处理（比如：重试）。</a:t>
            </a:r>
          </a:p>
          <a:p>
            <a:r>
              <a:rPr lang="zh-CN" altLang="en-US"/>
              <a:t>但有些错误不是设备造成的，如因磁盘块受损而不能读，驱动程序将尝试重读一定次数，若仍有错误则通知与设备无关软件。</a:t>
            </a:r>
          </a:p>
          <a:p>
            <a:r>
              <a:rPr lang="zh-CN" altLang="en-US"/>
              <a:t>若在读用户文件时出现错误，操作系统会将错误信息报告给调用者。若在读一些关键系统数据时出现错误，比如位示图，操作系统则打印错误信息，并向系统管理员报告相应错误。</a:t>
            </a:r>
          </a:p>
        </p:txBody>
      </p:sp>
      <p:sp>
        <p:nvSpPr>
          <p:cNvPr id="2" name="灯片编号占位符 1">
            <a:extLst>
              <a:ext uri="{FF2B5EF4-FFF2-40B4-BE49-F238E27FC236}">
                <a16:creationId xmlns:a16="http://schemas.microsoft.com/office/drawing/2014/main" id="{CCF22FA1-AC4E-F56D-348A-71F47AC5C51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165</a:t>
            </a:fld>
            <a:endParaRPr lang="zh-CN" altLang="en-US" dirty="0"/>
          </a:p>
        </p:txBody>
      </p:sp>
    </p:spTree>
    <p:extLst>
      <p:ext uri="{BB962C8B-B14F-4D97-AF65-F5344CB8AC3E}">
        <p14:creationId xmlns:p14="http://schemas.microsoft.com/office/powerpoint/2010/main" val="2953352863"/>
      </p:ext>
    </p:extLst>
  </p:cSld>
  <p:clrMapOvr>
    <a:masterClrMapping/>
  </p:clrMapOvr>
  <p:transition spd="med">
    <p:zoom/>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a:extLst>
              <a:ext uri="{FF2B5EF4-FFF2-40B4-BE49-F238E27FC236}">
                <a16:creationId xmlns:a16="http://schemas.microsoft.com/office/drawing/2014/main" id="{93E1E028-EEBC-3BDE-95A4-D27C09E81824}"/>
              </a:ext>
            </a:extLst>
          </p:cNvPr>
          <p:cNvSpPr>
            <a:spLocks noGrp="1" noChangeArrowheads="1"/>
          </p:cNvSpPr>
          <p:nvPr>
            <p:ph type="title"/>
          </p:nvPr>
        </p:nvSpPr>
        <p:spPr>
          <a:xfrm>
            <a:off x="1042988" y="225431"/>
            <a:ext cx="7850187" cy="746125"/>
          </a:xfrm>
        </p:spPr>
        <p:txBody>
          <a:bodyPr/>
          <a:lstStyle/>
          <a:p>
            <a:r>
              <a:rPr lang="zh-CN" altLang="en-US" dirty="0"/>
              <a:t>用户空间的软件</a:t>
            </a:r>
          </a:p>
        </p:txBody>
      </p:sp>
      <p:sp>
        <p:nvSpPr>
          <p:cNvPr id="163842" name="Rectangle 3">
            <a:extLst>
              <a:ext uri="{FF2B5EF4-FFF2-40B4-BE49-F238E27FC236}">
                <a16:creationId xmlns:a16="http://schemas.microsoft.com/office/drawing/2014/main" id="{4539B94C-CB7F-5883-2B3F-EE41D23250C0}"/>
              </a:ext>
            </a:extLst>
          </p:cNvPr>
          <p:cNvSpPr>
            <a:spLocks noGrp="1" noChangeArrowheads="1"/>
          </p:cNvSpPr>
          <p:nvPr>
            <p:ph idx="1"/>
          </p:nvPr>
        </p:nvSpPr>
        <p:spPr>
          <a:xfrm>
            <a:off x="935038" y="1233488"/>
            <a:ext cx="7772400" cy="4895850"/>
          </a:xfrm>
        </p:spPr>
        <p:txBody>
          <a:bodyPr/>
          <a:lstStyle/>
          <a:p>
            <a:r>
              <a:rPr lang="zh-CN" altLang="en-US"/>
              <a:t>一般来说，大部分</a:t>
            </a:r>
            <a:r>
              <a:rPr lang="en-US" altLang="zh-CN"/>
              <a:t>I/O</a:t>
            </a:r>
            <a:r>
              <a:rPr lang="zh-CN" altLang="en-US"/>
              <a:t>软件都在操作系统中，但仍有一小部分由与用户程序链接在一起的库函数、甚至运行于内核之外的程序构成。</a:t>
            </a:r>
          </a:p>
          <a:p>
            <a:r>
              <a:rPr lang="zh-CN" altLang="en-US"/>
              <a:t>如函数</a:t>
            </a:r>
            <a:r>
              <a:rPr lang="en-US" altLang="zh-CN"/>
              <a:t>printf</a:t>
            </a:r>
            <a:r>
              <a:rPr lang="zh-CN" altLang="en-US"/>
              <a:t>完成输出及输出信息的格式化，标准</a:t>
            </a:r>
            <a:r>
              <a:rPr lang="en-US" altLang="zh-CN"/>
              <a:t>I/O</a:t>
            </a:r>
            <a:r>
              <a:rPr lang="zh-CN" altLang="en-US"/>
              <a:t>库中包含许多涉及</a:t>
            </a:r>
            <a:r>
              <a:rPr lang="en-US" altLang="zh-CN"/>
              <a:t>I/O</a:t>
            </a:r>
            <a:r>
              <a:rPr lang="zh-CN" altLang="en-US"/>
              <a:t>的过程，它们是作为用户程序的一部分运行的。</a:t>
            </a:r>
          </a:p>
        </p:txBody>
      </p:sp>
      <p:sp>
        <p:nvSpPr>
          <p:cNvPr id="2" name="灯片编号占位符 1">
            <a:extLst>
              <a:ext uri="{FF2B5EF4-FFF2-40B4-BE49-F238E27FC236}">
                <a16:creationId xmlns:a16="http://schemas.microsoft.com/office/drawing/2014/main" id="{E0D7CC06-2C73-4B1F-6D7A-11FC510CB114}"/>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166</a:t>
            </a:fld>
            <a:endParaRPr lang="zh-CN" altLang="en-US" dirty="0"/>
          </a:p>
        </p:txBody>
      </p:sp>
    </p:spTree>
    <p:extLst>
      <p:ext uri="{BB962C8B-B14F-4D97-AF65-F5344CB8AC3E}">
        <p14:creationId xmlns:p14="http://schemas.microsoft.com/office/powerpoint/2010/main" val="3129011313"/>
      </p:ext>
    </p:extLst>
  </p:cSld>
  <p:clrMapOvr>
    <a:masterClrMapping/>
  </p:clrMapOvr>
  <p:transition spd="med">
    <p:zoom/>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F43E7A35-42B5-A7A1-ED9E-4D4A6B405463}"/>
              </a:ext>
            </a:extLst>
          </p:cNvPr>
          <p:cNvSpPr>
            <a:spLocks noGrp="1" noChangeArrowheads="1"/>
          </p:cNvSpPr>
          <p:nvPr>
            <p:ph type="title"/>
          </p:nvPr>
        </p:nvSpPr>
        <p:spPr>
          <a:xfrm>
            <a:off x="1042988" y="225431"/>
            <a:ext cx="7850187" cy="746125"/>
          </a:xfrm>
        </p:spPr>
        <p:txBody>
          <a:bodyPr/>
          <a:lstStyle/>
          <a:p>
            <a:r>
              <a:rPr lang="en-US" altLang="zh-CN"/>
              <a:t>I/O</a:t>
            </a:r>
            <a:r>
              <a:rPr lang="zh-CN" altLang="en-US"/>
              <a:t>系统的层次结构 </a:t>
            </a:r>
          </a:p>
        </p:txBody>
      </p:sp>
      <p:sp>
        <p:nvSpPr>
          <p:cNvPr id="5" name="内容占位符 4">
            <a:extLst>
              <a:ext uri="{FF2B5EF4-FFF2-40B4-BE49-F238E27FC236}">
                <a16:creationId xmlns:a16="http://schemas.microsoft.com/office/drawing/2014/main" id="{8CDDE483-7B71-B0C1-3454-1015AE059EF6}"/>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A8B6D834-589A-0E23-6A0E-C3376E100E7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167</a:t>
            </a:fld>
            <a:endParaRPr lang="zh-CN" altLang="en-US" dirty="0"/>
          </a:p>
        </p:txBody>
      </p:sp>
      <p:sp>
        <p:nvSpPr>
          <p:cNvPr id="164866" name="Rectangle 3">
            <a:extLst>
              <a:ext uri="{FF2B5EF4-FFF2-40B4-BE49-F238E27FC236}">
                <a16:creationId xmlns:a16="http://schemas.microsoft.com/office/drawing/2014/main" id="{02512E0F-5D78-909B-9823-0917F82AAE67}"/>
              </a:ext>
            </a:extLst>
          </p:cNvPr>
          <p:cNvSpPr>
            <a:spLocks noChangeArrowheads="1"/>
          </p:cNvSpPr>
          <p:nvPr/>
        </p:nvSpPr>
        <p:spPr bwMode="auto">
          <a:xfrm>
            <a:off x="1746250" y="2663825"/>
            <a:ext cx="3238500" cy="2409825"/>
          </a:xfrm>
          <a:prstGeom prst="rect">
            <a:avLst/>
          </a:prstGeom>
          <a:solidFill>
            <a:srgbClr val="FFFFFF"/>
          </a:solidFill>
          <a:ln w="25400">
            <a:solidFill>
              <a:srgbClr val="000000"/>
            </a:solidFill>
            <a:miter lim="800000"/>
            <a:headEnd/>
            <a:tailEnd/>
          </a:ln>
        </p:spPr>
        <p:txBody>
          <a:bodyPr tIns="118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2000">
                <a:latin typeface="Times New Roman" panose="02020603050405020304" pitchFamily="18" charset="0"/>
              </a:rPr>
              <a:t>用户空间的软件</a:t>
            </a:r>
          </a:p>
          <a:p>
            <a:pPr algn="ctr"/>
            <a:endParaRPr lang="zh-CN" altLang="en-US" sz="1400">
              <a:latin typeface="Times New Roman" panose="02020603050405020304" pitchFamily="18" charset="0"/>
            </a:endParaRPr>
          </a:p>
          <a:p>
            <a:pPr algn="ctr"/>
            <a:r>
              <a:rPr lang="zh-CN" altLang="en-US" sz="2000">
                <a:latin typeface="Times New Roman" panose="02020603050405020304" pitchFamily="18" charset="0"/>
              </a:rPr>
              <a:t>与设备无关的软件</a:t>
            </a:r>
          </a:p>
          <a:p>
            <a:pPr algn="ctr"/>
            <a:endParaRPr lang="zh-CN" altLang="en-US" sz="1000">
              <a:latin typeface="Times New Roman" panose="02020603050405020304" pitchFamily="18" charset="0"/>
            </a:endParaRPr>
          </a:p>
          <a:p>
            <a:pPr algn="ctr"/>
            <a:r>
              <a:rPr lang="zh-CN" altLang="en-US" sz="2000">
                <a:latin typeface="Times New Roman" panose="02020603050405020304" pitchFamily="18" charset="0"/>
              </a:rPr>
              <a:t>设备驱动程序</a:t>
            </a:r>
          </a:p>
          <a:p>
            <a:pPr algn="ctr"/>
            <a:endParaRPr lang="zh-CN" altLang="en-US" sz="1000">
              <a:latin typeface="Times New Roman" panose="02020603050405020304" pitchFamily="18" charset="0"/>
            </a:endParaRPr>
          </a:p>
          <a:p>
            <a:pPr algn="ctr"/>
            <a:r>
              <a:rPr lang="zh-CN" altLang="en-US" sz="2000">
                <a:latin typeface="Times New Roman" panose="02020603050405020304" pitchFamily="18" charset="0"/>
              </a:rPr>
              <a:t>中断处理程序</a:t>
            </a:r>
          </a:p>
          <a:p>
            <a:pPr algn="ctr"/>
            <a:endParaRPr lang="zh-CN" altLang="en-US" sz="1000">
              <a:latin typeface="Times New Roman" panose="02020603050405020304" pitchFamily="18" charset="0"/>
            </a:endParaRPr>
          </a:p>
          <a:p>
            <a:pPr algn="ctr"/>
            <a:r>
              <a:rPr lang="zh-CN" altLang="en-US" sz="2000">
                <a:latin typeface="Times New Roman" panose="02020603050405020304" pitchFamily="18" charset="0"/>
              </a:rPr>
              <a:t>硬件</a:t>
            </a:r>
          </a:p>
        </p:txBody>
      </p:sp>
      <p:sp>
        <p:nvSpPr>
          <p:cNvPr id="164867" name="Line 4">
            <a:extLst>
              <a:ext uri="{FF2B5EF4-FFF2-40B4-BE49-F238E27FC236}">
                <a16:creationId xmlns:a16="http://schemas.microsoft.com/office/drawing/2014/main" id="{9A9BE663-BBB1-FFCE-AC3F-9986D404352B}"/>
              </a:ext>
            </a:extLst>
          </p:cNvPr>
          <p:cNvSpPr>
            <a:spLocks noChangeShapeType="1"/>
          </p:cNvSpPr>
          <p:nvPr/>
        </p:nvSpPr>
        <p:spPr bwMode="auto">
          <a:xfrm>
            <a:off x="1744663" y="3222625"/>
            <a:ext cx="3240087"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68" name="Line 5">
            <a:extLst>
              <a:ext uri="{FF2B5EF4-FFF2-40B4-BE49-F238E27FC236}">
                <a16:creationId xmlns:a16="http://schemas.microsoft.com/office/drawing/2014/main" id="{6A5DFF1E-D76C-A9E8-E5B2-B1209276FC96}"/>
              </a:ext>
            </a:extLst>
          </p:cNvPr>
          <p:cNvSpPr>
            <a:spLocks noChangeShapeType="1"/>
          </p:cNvSpPr>
          <p:nvPr/>
        </p:nvSpPr>
        <p:spPr bwMode="auto">
          <a:xfrm>
            <a:off x="1744663" y="3687763"/>
            <a:ext cx="324008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69" name="Line 6">
            <a:extLst>
              <a:ext uri="{FF2B5EF4-FFF2-40B4-BE49-F238E27FC236}">
                <a16:creationId xmlns:a16="http://schemas.microsoft.com/office/drawing/2014/main" id="{4EB249A2-8787-F93D-FA2C-DC98EBC4BDEF}"/>
              </a:ext>
            </a:extLst>
          </p:cNvPr>
          <p:cNvSpPr>
            <a:spLocks noChangeShapeType="1"/>
          </p:cNvSpPr>
          <p:nvPr/>
        </p:nvSpPr>
        <p:spPr bwMode="auto">
          <a:xfrm>
            <a:off x="1744663" y="4132263"/>
            <a:ext cx="324008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70" name="Line 7">
            <a:extLst>
              <a:ext uri="{FF2B5EF4-FFF2-40B4-BE49-F238E27FC236}">
                <a16:creationId xmlns:a16="http://schemas.microsoft.com/office/drawing/2014/main" id="{67F6D516-D14D-71DB-F099-6E9EABCCAAB0}"/>
              </a:ext>
            </a:extLst>
          </p:cNvPr>
          <p:cNvSpPr>
            <a:spLocks noChangeShapeType="1"/>
          </p:cNvSpPr>
          <p:nvPr/>
        </p:nvSpPr>
        <p:spPr bwMode="auto">
          <a:xfrm>
            <a:off x="1744663" y="4589463"/>
            <a:ext cx="324008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71" name="Line 8">
            <a:extLst>
              <a:ext uri="{FF2B5EF4-FFF2-40B4-BE49-F238E27FC236}">
                <a16:creationId xmlns:a16="http://schemas.microsoft.com/office/drawing/2014/main" id="{87962C22-D249-9A9E-D20D-2F93413EC9F2}"/>
              </a:ext>
            </a:extLst>
          </p:cNvPr>
          <p:cNvSpPr>
            <a:spLocks noChangeShapeType="1"/>
          </p:cNvSpPr>
          <p:nvPr/>
        </p:nvSpPr>
        <p:spPr bwMode="auto">
          <a:xfrm>
            <a:off x="1374775" y="2206625"/>
            <a:ext cx="654050" cy="6762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2" name="Line 9">
            <a:extLst>
              <a:ext uri="{FF2B5EF4-FFF2-40B4-BE49-F238E27FC236}">
                <a16:creationId xmlns:a16="http://schemas.microsoft.com/office/drawing/2014/main" id="{936583CA-5400-3364-22F5-4193FECB817F}"/>
              </a:ext>
            </a:extLst>
          </p:cNvPr>
          <p:cNvSpPr>
            <a:spLocks noChangeShapeType="1"/>
          </p:cNvSpPr>
          <p:nvPr/>
        </p:nvSpPr>
        <p:spPr bwMode="auto">
          <a:xfrm>
            <a:off x="2025650" y="3009900"/>
            <a:ext cx="0" cy="4000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3" name="Line 10">
            <a:extLst>
              <a:ext uri="{FF2B5EF4-FFF2-40B4-BE49-F238E27FC236}">
                <a16:creationId xmlns:a16="http://schemas.microsoft.com/office/drawing/2014/main" id="{E77D0992-CE6F-0301-91FD-B99EFEFAFFDA}"/>
              </a:ext>
            </a:extLst>
          </p:cNvPr>
          <p:cNvSpPr>
            <a:spLocks noChangeShapeType="1"/>
          </p:cNvSpPr>
          <p:nvPr/>
        </p:nvSpPr>
        <p:spPr bwMode="auto">
          <a:xfrm>
            <a:off x="2025650" y="3519488"/>
            <a:ext cx="0" cy="3984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4" name="Line 11">
            <a:extLst>
              <a:ext uri="{FF2B5EF4-FFF2-40B4-BE49-F238E27FC236}">
                <a16:creationId xmlns:a16="http://schemas.microsoft.com/office/drawing/2014/main" id="{DB498AA8-840B-FDE9-30B1-629A6A6CA221}"/>
              </a:ext>
            </a:extLst>
          </p:cNvPr>
          <p:cNvSpPr>
            <a:spLocks noChangeShapeType="1"/>
          </p:cNvSpPr>
          <p:nvPr/>
        </p:nvSpPr>
        <p:spPr bwMode="auto">
          <a:xfrm>
            <a:off x="2025650" y="4010025"/>
            <a:ext cx="0" cy="8001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5" name="Line 12">
            <a:extLst>
              <a:ext uri="{FF2B5EF4-FFF2-40B4-BE49-F238E27FC236}">
                <a16:creationId xmlns:a16="http://schemas.microsoft.com/office/drawing/2014/main" id="{0AEB0A95-0B3E-A5DD-0118-96D615935FB1}"/>
              </a:ext>
            </a:extLst>
          </p:cNvPr>
          <p:cNvSpPr>
            <a:spLocks noChangeShapeType="1"/>
          </p:cNvSpPr>
          <p:nvPr/>
        </p:nvSpPr>
        <p:spPr bwMode="auto">
          <a:xfrm flipV="1">
            <a:off x="4714875" y="3814763"/>
            <a:ext cx="0" cy="4000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6" name="Line 13">
            <a:extLst>
              <a:ext uri="{FF2B5EF4-FFF2-40B4-BE49-F238E27FC236}">
                <a16:creationId xmlns:a16="http://schemas.microsoft.com/office/drawing/2014/main" id="{7AB0F54D-9EF0-13FD-6573-5CFF31937F72}"/>
              </a:ext>
            </a:extLst>
          </p:cNvPr>
          <p:cNvSpPr>
            <a:spLocks noChangeShapeType="1"/>
          </p:cNvSpPr>
          <p:nvPr/>
        </p:nvSpPr>
        <p:spPr bwMode="auto">
          <a:xfrm flipV="1">
            <a:off x="4714875" y="4260850"/>
            <a:ext cx="0" cy="39846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7" name="Line 14">
            <a:extLst>
              <a:ext uri="{FF2B5EF4-FFF2-40B4-BE49-F238E27FC236}">
                <a16:creationId xmlns:a16="http://schemas.microsoft.com/office/drawing/2014/main" id="{CC39AC2E-48DF-ED01-1C40-8F99724B8905}"/>
              </a:ext>
            </a:extLst>
          </p:cNvPr>
          <p:cNvSpPr>
            <a:spLocks noChangeShapeType="1"/>
          </p:cNvSpPr>
          <p:nvPr/>
        </p:nvSpPr>
        <p:spPr bwMode="auto">
          <a:xfrm flipV="1">
            <a:off x="4718050" y="2163763"/>
            <a:ext cx="654050" cy="6778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8" name="Line 15">
            <a:extLst>
              <a:ext uri="{FF2B5EF4-FFF2-40B4-BE49-F238E27FC236}">
                <a16:creationId xmlns:a16="http://schemas.microsoft.com/office/drawing/2014/main" id="{297B62B2-8CC9-4F36-5F57-C719C8C1055B}"/>
              </a:ext>
            </a:extLst>
          </p:cNvPr>
          <p:cNvSpPr>
            <a:spLocks noChangeShapeType="1"/>
          </p:cNvSpPr>
          <p:nvPr/>
        </p:nvSpPr>
        <p:spPr bwMode="auto">
          <a:xfrm flipV="1">
            <a:off x="4714875" y="2905125"/>
            <a:ext cx="0" cy="39846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79" name="Line 16">
            <a:extLst>
              <a:ext uri="{FF2B5EF4-FFF2-40B4-BE49-F238E27FC236}">
                <a16:creationId xmlns:a16="http://schemas.microsoft.com/office/drawing/2014/main" id="{2EF77CFA-642C-CDC5-242D-4CC059C3B7A3}"/>
              </a:ext>
            </a:extLst>
          </p:cNvPr>
          <p:cNvSpPr>
            <a:spLocks noChangeShapeType="1"/>
          </p:cNvSpPr>
          <p:nvPr/>
        </p:nvSpPr>
        <p:spPr bwMode="auto">
          <a:xfrm flipV="1">
            <a:off x="4714875" y="3370263"/>
            <a:ext cx="0" cy="4000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880" name="Rectangle 17">
            <a:extLst>
              <a:ext uri="{FF2B5EF4-FFF2-40B4-BE49-F238E27FC236}">
                <a16:creationId xmlns:a16="http://schemas.microsoft.com/office/drawing/2014/main" id="{55BA2121-6AF6-7FC5-0EDB-E2E767C4D8C0}"/>
              </a:ext>
            </a:extLst>
          </p:cNvPr>
          <p:cNvSpPr>
            <a:spLocks noChangeArrowheads="1"/>
          </p:cNvSpPr>
          <p:nvPr/>
        </p:nvSpPr>
        <p:spPr bwMode="auto">
          <a:xfrm>
            <a:off x="822325" y="1676400"/>
            <a:ext cx="11493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I/O</a:t>
            </a:r>
            <a:r>
              <a:rPr lang="zh-CN" altLang="en-US" sz="2000">
                <a:latin typeface="Times New Roman" panose="02020603050405020304" pitchFamily="18" charset="0"/>
              </a:rPr>
              <a:t>请求</a:t>
            </a:r>
          </a:p>
        </p:txBody>
      </p:sp>
      <p:sp>
        <p:nvSpPr>
          <p:cNvPr id="164881" name="Rectangle 18">
            <a:extLst>
              <a:ext uri="{FF2B5EF4-FFF2-40B4-BE49-F238E27FC236}">
                <a16:creationId xmlns:a16="http://schemas.microsoft.com/office/drawing/2014/main" id="{88BE5934-9827-E462-F8E1-AE4BA4CBC45E}"/>
              </a:ext>
            </a:extLst>
          </p:cNvPr>
          <p:cNvSpPr>
            <a:spLocks noChangeArrowheads="1"/>
          </p:cNvSpPr>
          <p:nvPr/>
        </p:nvSpPr>
        <p:spPr bwMode="auto">
          <a:xfrm>
            <a:off x="4824413" y="1719263"/>
            <a:ext cx="11493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I/O</a:t>
            </a:r>
            <a:r>
              <a:rPr lang="zh-CN" altLang="en-US" sz="2000">
                <a:latin typeface="Times New Roman" panose="02020603050405020304" pitchFamily="18" charset="0"/>
              </a:rPr>
              <a:t>回答</a:t>
            </a:r>
          </a:p>
        </p:txBody>
      </p:sp>
      <p:sp>
        <p:nvSpPr>
          <p:cNvPr id="164882" name="Rectangle 19">
            <a:extLst>
              <a:ext uri="{FF2B5EF4-FFF2-40B4-BE49-F238E27FC236}">
                <a16:creationId xmlns:a16="http://schemas.microsoft.com/office/drawing/2014/main" id="{74F4BDAE-D2E3-D229-548A-C4D0F0A7002B}"/>
              </a:ext>
            </a:extLst>
          </p:cNvPr>
          <p:cNvSpPr>
            <a:spLocks noChangeArrowheads="1"/>
          </p:cNvSpPr>
          <p:nvPr/>
        </p:nvSpPr>
        <p:spPr bwMode="auto">
          <a:xfrm>
            <a:off x="5113338" y="2209800"/>
            <a:ext cx="3608387"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en-US" altLang="zh-CN" sz="2000">
                <a:latin typeface="Times New Roman" panose="02020603050405020304" pitchFamily="18" charset="0"/>
              </a:rPr>
              <a:t>                    </a:t>
            </a:r>
            <a:r>
              <a:rPr lang="en-US" altLang="zh-CN">
                <a:latin typeface="Times New Roman" panose="02020603050405020304" pitchFamily="18" charset="0"/>
              </a:rPr>
              <a:t> I/O</a:t>
            </a:r>
            <a:r>
              <a:rPr lang="zh-CN" altLang="en-US">
                <a:latin typeface="Times New Roman" panose="02020603050405020304" pitchFamily="18" charset="0"/>
              </a:rPr>
              <a:t>功能</a:t>
            </a:r>
          </a:p>
          <a:p>
            <a:pPr algn="just"/>
            <a:r>
              <a:rPr lang="zh-CN" altLang="en-US" sz="2000">
                <a:latin typeface="Times New Roman" panose="02020603050405020304" pitchFamily="18" charset="0"/>
              </a:rPr>
              <a:t>进行</a:t>
            </a:r>
            <a:r>
              <a:rPr lang="en-US" altLang="zh-CN" sz="2000">
                <a:latin typeface="Times New Roman" panose="02020603050405020304" pitchFamily="18" charset="0"/>
              </a:rPr>
              <a:t>I/O</a:t>
            </a:r>
            <a:r>
              <a:rPr lang="zh-CN" altLang="en-US" sz="2000">
                <a:latin typeface="Times New Roman" panose="02020603050405020304" pitchFamily="18" charset="0"/>
              </a:rPr>
              <a:t>调用；格式化</a:t>
            </a:r>
            <a:r>
              <a:rPr lang="en-US" altLang="zh-CN" sz="2000">
                <a:latin typeface="Times New Roman" panose="02020603050405020304" pitchFamily="18" charset="0"/>
              </a:rPr>
              <a:t>I/O；Spooling</a:t>
            </a:r>
          </a:p>
          <a:p>
            <a:pPr algn="just"/>
            <a:endParaRPr lang="en-US" altLang="zh-CN" sz="1200">
              <a:latin typeface="Times New Roman" panose="02020603050405020304" pitchFamily="18" charset="0"/>
            </a:endParaRPr>
          </a:p>
          <a:p>
            <a:pPr algn="just"/>
            <a:r>
              <a:rPr lang="zh-CN" altLang="en-US" sz="2000">
                <a:latin typeface="Times New Roman" panose="02020603050405020304" pitchFamily="18" charset="0"/>
              </a:rPr>
              <a:t>命名，保护，阻塞，缓冲，分配</a:t>
            </a:r>
          </a:p>
          <a:p>
            <a:pPr algn="just"/>
            <a:endParaRPr lang="zh-CN" altLang="en-US" sz="800">
              <a:latin typeface="Times New Roman" panose="02020603050405020304" pitchFamily="18" charset="0"/>
            </a:endParaRPr>
          </a:p>
          <a:p>
            <a:pPr algn="just"/>
            <a:r>
              <a:rPr lang="zh-CN" altLang="en-US" sz="2000">
                <a:latin typeface="Times New Roman" panose="02020603050405020304" pitchFamily="18" charset="0"/>
              </a:rPr>
              <a:t>建立设备寄存器；检查状态</a:t>
            </a:r>
          </a:p>
          <a:p>
            <a:pPr algn="just"/>
            <a:endParaRPr lang="zh-CN" altLang="en-US" sz="800">
              <a:latin typeface="Times New Roman" panose="02020603050405020304" pitchFamily="18" charset="0"/>
            </a:endParaRPr>
          </a:p>
          <a:p>
            <a:pPr algn="just"/>
            <a:r>
              <a:rPr lang="zh-CN" altLang="en-US" sz="2000">
                <a:latin typeface="Times New Roman" panose="02020603050405020304" pitchFamily="18" charset="0"/>
              </a:rPr>
              <a:t>当</a:t>
            </a:r>
            <a:r>
              <a:rPr lang="en-US" altLang="zh-CN" sz="2000">
                <a:latin typeface="Times New Roman" panose="02020603050405020304" pitchFamily="18" charset="0"/>
              </a:rPr>
              <a:t>I/O</a:t>
            </a:r>
            <a:r>
              <a:rPr lang="zh-CN" altLang="en-US" sz="2000">
                <a:latin typeface="Times New Roman" panose="02020603050405020304" pitchFamily="18" charset="0"/>
              </a:rPr>
              <a:t>结束时唤醒驱动程序</a:t>
            </a:r>
          </a:p>
          <a:p>
            <a:pPr algn="just"/>
            <a:endParaRPr lang="zh-CN" altLang="en-US" sz="800">
              <a:latin typeface="Times New Roman" panose="02020603050405020304" pitchFamily="18" charset="0"/>
            </a:endParaRPr>
          </a:p>
          <a:p>
            <a:pPr algn="just"/>
            <a:r>
              <a:rPr lang="zh-CN" altLang="en-US" sz="2000">
                <a:latin typeface="Times New Roman" panose="02020603050405020304" pitchFamily="18" charset="0"/>
              </a:rPr>
              <a:t>执行</a:t>
            </a:r>
            <a:r>
              <a:rPr lang="en-US" altLang="zh-CN" sz="2000">
                <a:latin typeface="Times New Roman" panose="02020603050405020304" pitchFamily="18" charset="0"/>
              </a:rPr>
              <a:t>I/O</a:t>
            </a:r>
            <a:r>
              <a:rPr lang="zh-CN" altLang="en-US" sz="2000">
                <a:latin typeface="Times New Roman" panose="02020603050405020304" pitchFamily="18" charset="0"/>
              </a:rPr>
              <a:t>操作</a:t>
            </a:r>
          </a:p>
        </p:txBody>
      </p:sp>
    </p:spTree>
    <p:extLst>
      <p:ext uri="{BB962C8B-B14F-4D97-AF65-F5344CB8AC3E}">
        <p14:creationId xmlns:p14="http://schemas.microsoft.com/office/powerpoint/2010/main" val="4032645420"/>
      </p:ext>
    </p:extLst>
  </p:cSld>
  <p:clrMapOvr>
    <a:masterClrMapping/>
  </p:clrMapOvr>
  <p:transition spd="med">
    <p:zoom/>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AE1CFA6F-B5D0-9D32-E58C-B1D6FAB6F7BB}"/>
              </a:ext>
            </a:extLst>
          </p:cNvPr>
          <p:cNvSpPr>
            <a:spLocks noGrp="1" noChangeArrowheads="1"/>
          </p:cNvSpPr>
          <p:nvPr>
            <p:ph type="title"/>
          </p:nvPr>
        </p:nvSpPr>
        <p:spPr/>
        <p:txBody>
          <a:bodyPr/>
          <a:lstStyle/>
          <a:p>
            <a:pPr eaLnBrk="1" hangingPunct="1"/>
            <a:r>
              <a:rPr lang="zh-CN" altLang="en-US" b="1" dirty="0"/>
              <a:t>练习题</a:t>
            </a:r>
          </a:p>
        </p:txBody>
      </p:sp>
      <p:sp>
        <p:nvSpPr>
          <p:cNvPr id="40963" name="Rectangle 3">
            <a:extLst>
              <a:ext uri="{FF2B5EF4-FFF2-40B4-BE49-F238E27FC236}">
                <a16:creationId xmlns:a16="http://schemas.microsoft.com/office/drawing/2014/main" id="{11DD0027-67C3-4969-4FD6-D828CA33AA2D}"/>
              </a:ext>
            </a:extLst>
          </p:cNvPr>
          <p:cNvSpPr>
            <a:spLocks noGrp="1"/>
          </p:cNvSpPr>
          <p:nvPr>
            <p:ph idx="1"/>
          </p:nvPr>
        </p:nvSpPr>
        <p:spPr>
          <a:xfrm>
            <a:off x="309563" y="1125538"/>
            <a:ext cx="8594725" cy="4541837"/>
          </a:xfrm>
        </p:spPr>
        <p:txBody>
          <a:bodyPr/>
          <a:lstStyle/>
          <a:p>
            <a:pPr eaLnBrk="1" hangingPunct="1"/>
            <a:r>
              <a:rPr kumimoji="1" lang="zh-CN" altLang="en-US" sz="2000" noProof="1"/>
              <a:t>11.13 Suppose that a disk drive has 5,000 cylinders, numbered 0 to 4,999. The drive is currently serving a request at cylinder 2,150, and the previous request was at cylinder 1,805. The queue of pending requests, in FIFO order, is:</a:t>
            </a:r>
          </a:p>
          <a:p>
            <a:pPr marL="0" indent="0" eaLnBrk="1" hangingPunct="1">
              <a:buFont typeface="Wingdings" pitchFamily="2" charset="2"/>
              <a:buNone/>
            </a:pPr>
            <a:r>
              <a:rPr kumimoji="1" lang="en-US" altLang="zh-CN" sz="2000" noProof="1"/>
              <a:t>   </a:t>
            </a:r>
            <a:r>
              <a:rPr kumimoji="1" lang="zh-CN" altLang="en-US" sz="2000" noProof="1"/>
              <a:t>2,069; 1,212; 2,296; 2,800; 544; 1,618; 356; 1,523; 4,965; 3,681</a:t>
            </a:r>
          </a:p>
          <a:p>
            <a:pPr marL="0" indent="0" eaLnBrk="1" hangingPunct="1">
              <a:buFont typeface="Wingdings" pitchFamily="2" charset="2"/>
              <a:buNone/>
            </a:pPr>
            <a:r>
              <a:rPr kumimoji="1" lang="en-US" altLang="zh-CN" sz="2000" noProof="1"/>
              <a:t>  </a:t>
            </a:r>
            <a:r>
              <a:rPr kumimoji="1" lang="zh-CN" altLang="en-US" sz="2000" noProof="1"/>
              <a:t>Starting from the current head position, what is the total distance (in cylinders) that the disk arm moves to satisfy all the pending requests for each of the following disk-scheduling algorithms?</a:t>
            </a:r>
          </a:p>
          <a:p>
            <a:pPr eaLnBrk="1" hangingPunct="1"/>
            <a:r>
              <a:rPr kumimoji="1" lang="zh-CN" altLang="en-US" sz="2000" noProof="1"/>
              <a:t> a. FCFS </a:t>
            </a:r>
          </a:p>
          <a:p>
            <a:pPr eaLnBrk="1" hangingPunct="1"/>
            <a:r>
              <a:rPr kumimoji="1" lang="zh-CN" altLang="en-US" sz="2000" noProof="1"/>
              <a:t> b. SCAN </a:t>
            </a:r>
          </a:p>
          <a:p>
            <a:pPr eaLnBrk="1" hangingPunct="1"/>
            <a:r>
              <a:rPr kumimoji="1" lang="zh-CN" altLang="en-US" sz="2000" noProof="1"/>
              <a:t> c. C-SCAN</a:t>
            </a:r>
          </a:p>
        </p:txBody>
      </p:sp>
      <p:sp>
        <p:nvSpPr>
          <p:cNvPr id="2" name="灯片编号占位符 1">
            <a:extLst>
              <a:ext uri="{FF2B5EF4-FFF2-40B4-BE49-F238E27FC236}">
                <a16:creationId xmlns:a16="http://schemas.microsoft.com/office/drawing/2014/main" id="{1C820657-9BCC-507E-CF3A-0A95FD01807D}"/>
              </a:ext>
            </a:extLst>
          </p:cNvPr>
          <p:cNvSpPr>
            <a:spLocks noGrp="1"/>
          </p:cNvSpPr>
          <p:nvPr>
            <p:ph type="sldNum" sz="quarter" idx="12"/>
          </p:nvPr>
        </p:nvSpPr>
        <p:spPr/>
        <p:txBody>
          <a:bodyPr/>
          <a:lstStyle/>
          <a:p>
            <a:fld id="{4093CC90-4002-504C-BD88-C9A1D374048E}" type="slidenum">
              <a:rPr lang="zh-CN" altLang="en-US" smtClean="0"/>
              <a:pPr/>
              <a:t>168</a:t>
            </a:fld>
            <a:endParaRPr lang="zh-CN" altLang="en-US" dirty="0"/>
          </a:p>
        </p:txBody>
      </p:sp>
    </p:spTree>
  </p:cSld>
  <p:clrMapOvr>
    <a:masterClrMapping/>
  </p:clrMapOvr>
  <p:transition spd="med">
    <p:zo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a:extLst>
              <a:ext uri="{FF2B5EF4-FFF2-40B4-BE49-F238E27FC236}">
                <a16:creationId xmlns:a16="http://schemas.microsoft.com/office/drawing/2014/main" id="{040A497E-349F-D28A-108E-C69C9C635A91}"/>
              </a:ext>
            </a:extLst>
          </p:cNvPr>
          <p:cNvSpPr>
            <a:spLocks noGrp="1" noChangeArrowheads="1"/>
          </p:cNvSpPr>
          <p:nvPr>
            <p:ph type="title"/>
          </p:nvPr>
        </p:nvSpPr>
        <p:spPr/>
        <p:txBody>
          <a:bodyPr/>
          <a:lstStyle/>
          <a:p>
            <a:pPr eaLnBrk="1" hangingPunct="1"/>
            <a:r>
              <a:rPr lang="zh-CN" altLang="en-US" b="1" dirty="0"/>
              <a:t>练习题</a:t>
            </a:r>
          </a:p>
        </p:txBody>
      </p:sp>
      <p:sp>
        <p:nvSpPr>
          <p:cNvPr id="165890" name="Rectangle 3">
            <a:extLst>
              <a:ext uri="{FF2B5EF4-FFF2-40B4-BE49-F238E27FC236}">
                <a16:creationId xmlns:a16="http://schemas.microsoft.com/office/drawing/2014/main" id="{4FC9AF44-900D-DDFF-68DB-8D787C1F8E67}"/>
              </a:ext>
            </a:extLst>
          </p:cNvPr>
          <p:cNvSpPr>
            <a:spLocks noGrp="1" noChangeArrowheads="1"/>
          </p:cNvSpPr>
          <p:nvPr>
            <p:ph idx="1"/>
          </p:nvPr>
        </p:nvSpPr>
        <p:spPr>
          <a:xfrm>
            <a:off x="1055688" y="1268413"/>
            <a:ext cx="7588250" cy="4535487"/>
          </a:xfrm>
        </p:spPr>
        <p:txBody>
          <a:bodyPr/>
          <a:lstStyle/>
          <a:p>
            <a:pPr eaLnBrk="1" hangingPunct="1"/>
            <a:r>
              <a:rPr lang="en-US" altLang="zh-CN" sz="2800"/>
              <a:t>12.5</a:t>
            </a:r>
            <a:r>
              <a:rPr lang="zh-CN" altLang="en-US" sz="2800"/>
              <a:t>How does DMA increase system concurrency? How does it complicate hardware design? </a:t>
            </a:r>
          </a:p>
          <a:p>
            <a:pPr eaLnBrk="1" hangingPunct="1"/>
            <a:r>
              <a:rPr lang="en-US" altLang="zh-CN" sz="2800"/>
              <a:t>12.6</a:t>
            </a:r>
            <a:r>
              <a:rPr lang="zh-CN" altLang="en-US" sz="2800"/>
              <a:t> Why is it important to scale up system-bus and device speeds as CPU speed increases? </a:t>
            </a:r>
          </a:p>
        </p:txBody>
      </p:sp>
    </p:spTree>
  </p:cSld>
  <p:clrMapOvr>
    <a:masterClrMapping/>
  </p:clrMapOvr>
  <p:transition spd="med">
    <p:zo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5C919B63-7821-94B1-7AA1-41D9E45A7101}"/>
              </a:ext>
            </a:extLst>
          </p:cNvPr>
          <p:cNvSpPr>
            <a:spLocks noGrp="1" noChangeArrowheads="1"/>
          </p:cNvSpPr>
          <p:nvPr>
            <p:ph type="title"/>
          </p:nvPr>
        </p:nvSpPr>
        <p:spPr/>
        <p:txBody>
          <a:bodyPr/>
          <a:lstStyle/>
          <a:p>
            <a:pPr eaLnBrk="1" hangingPunct="1"/>
            <a:r>
              <a:rPr lang="zh-CN" altLang="en-US" sz="4000"/>
              <a:t>选择题</a:t>
            </a:r>
            <a:r>
              <a:rPr lang="en-US" altLang="zh-CN" sz="4000"/>
              <a:t>1</a:t>
            </a:r>
          </a:p>
        </p:txBody>
      </p:sp>
      <p:sp>
        <p:nvSpPr>
          <p:cNvPr id="166914" name="Rectangle 3">
            <a:extLst>
              <a:ext uri="{FF2B5EF4-FFF2-40B4-BE49-F238E27FC236}">
                <a16:creationId xmlns:a16="http://schemas.microsoft.com/office/drawing/2014/main" id="{6C9317FA-379B-2EF7-5ABA-10DD8F9E17DF}"/>
              </a:ext>
            </a:extLst>
          </p:cNvPr>
          <p:cNvSpPr>
            <a:spLocks noGrp="1" noChangeArrowheads="1"/>
          </p:cNvSpPr>
          <p:nvPr>
            <p:ph idx="1"/>
          </p:nvPr>
        </p:nvSpPr>
        <p:spPr/>
        <p:txBody>
          <a:bodyPr/>
          <a:lstStyle/>
          <a:p>
            <a:pPr eaLnBrk="1" hangingPunct="1"/>
            <a:r>
              <a:rPr lang="zh-CN" altLang="en-US"/>
              <a:t>缓冲技术中的缓冲池在 </a:t>
            </a:r>
            <a:r>
              <a:rPr lang="en-US" altLang="zh-CN"/>
              <a:t>_____ </a:t>
            </a:r>
            <a:r>
              <a:rPr lang="zh-CN" altLang="en-US"/>
              <a:t>中。</a:t>
            </a:r>
          </a:p>
          <a:p>
            <a:pPr eaLnBrk="1" hangingPunct="1">
              <a:buFont typeface="Wingdings" pitchFamily="2" charset="2"/>
              <a:buNone/>
            </a:pPr>
            <a:r>
              <a:rPr lang="en-US" altLang="zh-CN"/>
              <a:t>   A. </a:t>
            </a:r>
            <a:r>
              <a:rPr lang="zh-CN" altLang="en-US"/>
              <a:t>主存                 </a:t>
            </a:r>
            <a:r>
              <a:rPr lang="en-US" altLang="zh-CN"/>
              <a:t>B. </a:t>
            </a:r>
            <a:r>
              <a:rPr lang="zh-CN" altLang="en-US"/>
              <a:t>外存</a:t>
            </a:r>
          </a:p>
          <a:p>
            <a:pPr eaLnBrk="1" hangingPunct="1">
              <a:buFont typeface="Wingdings" pitchFamily="2" charset="2"/>
              <a:buNone/>
            </a:pPr>
            <a:r>
              <a:rPr lang="en-US" altLang="zh-CN"/>
              <a:t>   C. ROM                 D. </a:t>
            </a:r>
            <a:r>
              <a:rPr lang="zh-CN" altLang="en-US"/>
              <a:t>寄存器</a:t>
            </a:r>
          </a:p>
          <a:p>
            <a:pPr eaLnBrk="1" hangingPunct="1"/>
            <a:r>
              <a:rPr lang="en-US" altLang="zh-CN"/>
              <a:t>CPU</a:t>
            </a:r>
            <a:r>
              <a:rPr lang="zh-CN" altLang="en-US"/>
              <a:t>输出数据的速度远远高于打印机的打印速度，为了解决这一矛盾，可采用</a:t>
            </a:r>
            <a:r>
              <a:rPr lang="en-US" altLang="zh-CN"/>
              <a:t>_____ </a:t>
            </a:r>
            <a:r>
              <a:rPr lang="zh-CN" altLang="en-US"/>
              <a:t>。</a:t>
            </a:r>
          </a:p>
          <a:p>
            <a:pPr eaLnBrk="1" hangingPunct="1">
              <a:buFont typeface="Wingdings" pitchFamily="2" charset="2"/>
              <a:buNone/>
            </a:pPr>
            <a:r>
              <a:rPr lang="en-US" altLang="zh-CN"/>
              <a:t>   A. </a:t>
            </a:r>
            <a:r>
              <a:rPr lang="zh-CN" altLang="en-US"/>
              <a:t>并行技术                 </a:t>
            </a:r>
            <a:r>
              <a:rPr lang="en-US" altLang="zh-CN"/>
              <a:t>B. </a:t>
            </a:r>
            <a:r>
              <a:rPr lang="zh-CN" altLang="en-US"/>
              <a:t>通道技术</a:t>
            </a:r>
          </a:p>
          <a:p>
            <a:pPr eaLnBrk="1" hangingPunct="1">
              <a:buFont typeface="Wingdings" pitchFamily="2" charset="2"/>
              <a:buNone/>
            </a:pPr>
            <a:r>
              <a:rPr lang="en-US" altLang="zh-CN"/>
              <a:t>   C. </a:t>
            </a:r>
            <a:r>
              <a:rPr lang="zh-CN" altLang="en-US"/>
              <a:t>缓冲技术                 </a:t>
            </a:r>
            <a:r>
              <a:rPr lang="en-US" altLang="zh-CN"/>
              <a:t>D. </a:t>
            </a:r>
            <a:r>
              <a:rPr lang="zh-CN" altLang="en-US"/>
              <a:t>虚存技术</a:t>
            </a:r>
          </a:p>
        </p:txBody>
      </p:sp>
    </p:spTree>
  </p:cSld>
  <p:clrMapOvr>
    <a:masterClrMapping/>
  </p:clrMapOvr>
  <p:transition spd="med">
    <p:zo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a:extLst>
              <a:ext uri="{FF2B5EF4-FFF2-40B4-BE49-F238E27FC236}">
                <a16:creationId xmlns:a16="http://schemas.microsoft.com/office/drawing/2014/main" id="{FCFC8C57-026C-A1C0-5DB0-123127BFA211}"/>
              </a:ext>
            </a:extLst>
          </p:cNvPr>
          <p:cNvSpPr>
            <a:spLocks noGrp="1" noChangeArrowheads="1"/>
          </p:cNvSpPr>
          <p:nvPr>
            <p:ph type="title"/>
          </p:nvPr>
        </p:nvSpPr>
        <p:spPr/>
        <p:txBody>
          <a:bodyPr/>
          <a:lstStyle/>
          <a:p>
            <a:pPr eaLnBrk="1" hangingPunct="1"/>
            <a:r>
              <a:rPr lang="zh-CN" altLang="en-US" sz="4000"/>
              <a:t>选择题</a:t>
            </a:r>
            <a:r>
              <a:rPr lang="en-US" altLang="zh-CN" sz="4000"/>
              <a:t>2</a:t>
            </a:r>
          </a:p>
        </p:txBody>
      </p:sp>
      <p:sp>
        <p:nvSpPr>
          <p:cNvPr id="167938" name="Rectangle 3">
            <a:extLst>
              <a:ext uri="{FF2B5EF4-FFF2-40B4-BE49-F238E27FC236}">
                <a16:creationId xmlns:a16="http://schemas.microsoft.com/office/drawing/2014/main" id="{3F294FEF-EE05-1A82-FBCC-6B0A0A46A120}"/>
              </a:ext>
            </a:extLst>
          </p:cNvPr>
          <p:cNvSpPr>
            <a:spLocks noGrp="1" noChangeArrowheads="1"/>
          </p:cNvSpPr>
          <p:nvPr>
            <p:ph idx="1"/>
          </p:nvPr>
        </p:nvSpPr>
        <p:spPr/>
        <p:txBody>
          <a:bodyPr>
            <a:normAutofit lnSpcReduction="10000"/>
          </a:bodyPr>
          <a:lstStyle/>
          <a:p>
            <a:pPr eaLnBrk="1" hangingPunct="1"/>
            <a:r>
              <a:rPr lang="zh-CN" altLang="en-US"/>
              <a:t>通过硬件和软件的功能扩充，把原来独占的设备改造成能为若干用户共享的设备，这种设备称为 </a:t>
            </a:r>
            <a:r>
              <a:rPr lang="en-US" altLang="zh-CN"/>
              <a:t>_____ </a:t>
            </a:r>
            <a:r>
              <a:rPr lang="zh-CN" altLang="en-US"/>
              <a:t>。</a:t>
            </a:r>
          </a:p>
          <a:p>
            <a:pPr eaLnBrk="1" hangingPunct="1">
              <a:buFont typeface="Wingdings" pitchFamily="2" charset="2"/>
              <a:buNone/>
            </a:pPr>
            <a:r>
              <a:rPr lang="en-US" altLang="zh-CN"/>
              <a:t>   A. </a:t>
            </a:r>
            <a:r>
              <a:rPr lang="zh-CN" altLang="en-US"/>
              <a:t>存储设备          </a:t>
            </a:r>
            <a:r>
              <a:rPr lang="en-US" altLang="zh-CN"/>
              <a:t>B. </a:t>
            </a:r>
            <a:r>
              <a:rPr lang="zh-CN" altLang="en-US"/>
              <a:t>系统设备</a:t>
            </a:r>
          </a:p>
          <a:p>
            <a:pPr eaLnBrk="1" hangingPunct="1">
              <a:buFont typeface="Wingdings" pitchFamily="2" charset="2"/>
              <a:buNone/>
            </a:pPr>
            <a:r>
              <a:rPr lang="en-US" altLang="zh-CN"/>
              <a:t>   C. </a:t>
            </a:r>
            <a:r>
              <a:rPr lang="zh-CN" altLang="en-US"/>
              <a:t>用户设备          </a:t>
            </a:r>
            <a:r>
              <a:rPr lang="en-US" altLang="zh-CN"/>
              <a:t>D. </a:t>
            </a:r>
            <a:r>
              <a:rPr lang="zh-CN" altLang="en-US"/>
              <a:t>虚拟设备</a:t>
            </a:r>
          </a:p>
          <a:p>
            <a:pPr eaLnBrk="1" hangingPunct="1"/>
            <a:r>
              <a:rPr lang="zh-CN" altLang="en-US"/>
              <a:t>为了使多个进程能有效地同时处理输入</a:t>
            </a:r>
            <a:r>
              <a:rPr lang="en-US" altLang="zh-CN"/>
              <a:t>/</a:t>
            </a:r>
            <a:r>
              <a:rPr lang="zh-CN" altLang="en-US"/>
              <a:t>输出，最好使用 </a:t>
            </a:r>
            <a:r>
              <a:rPr lang="en-US" altLang="zh-CN"/>
              <a:t>_____ </a:t>
            </a:r>
            <a:r>
              <a:rPr lang="zh-CN" altLang="en-US"/>
              <a:t>结构的缓冲技术。</a:t>
            </a:r>
          </a:p>
          <a:p>
            <a:pPr eaLnBrk="1" hangingPunct="1">
              <a:buFont typeface="Wingdings" pitchFamily="2" charset="2"/>
              <a:buNone/>
            </a:pPr>
            <a:r>
              <a:rPr lang="en-US" altLang="zh-CN"/>
              <a:t>   A. </a:t>
            </a:r>
            <a:r>
              <a:rPr lang="zh-CN" altLang="en-US"/>
              <a:t>循环缓冲        </a:t>
            </a:r>
            <a:r>
              <a:rPr lang="en-US" altLang="zh-CN"/>
              <a:t>B. </a:t>
            </a:r>
            <a:r>
              <a:rPr lang="zh-CN" altLang="en-US"/>
              <a:t>缓冲池</a:t>
            </a:r>
          </a:p>
          <a:p>
            <a:pPr eaLnBrk="1" hangingPunct="1">
              <a:buFont typeface="Wingdings" pitchFamily="2" charset="2"/>
              <a:buNone/>
            </a:pPr>
            <a:r>
              <a:rPr lang="en-US" altLang="zh-CN"/>
              <a:t>   C. </a:t>
            </a:r>
            <a:r>
              <a:rPr lang="zh-CN" altLang="en-US"/>
              <a:t>单缓冲          </a:t>
            </a:r>
            <a:r>
              <a:rPr lang="en-US" altLang="zh-CN"/>
              <a:t>D. </a:t>
            </a:r>
            <a:r>
              <a:rPr lang="zh-CN" altLang="en-US"/>
              <a:t>双缓冲</a:t>
            </a:r>
          </a:p>
        </p:txBody>
      </p:sp>
    </p:spTree>
  </p:cSld>
  <p:clrMapOvr>
    <a:masterClrMapping/>
  </p:clrMapOvr>
  <p:transition spd="med">
    <p:zoom/>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34D480F9-97F8-D307-AB56-49F680441B28}"/>
              </a:ext>
            </a:extLst>
          </p:cNvPr>
          <p:cNvSpPr>
            <a:spLocks noGrp="1" noChangeArrowheads="1"/>
          </p:cNvSpPr>
          <p:nvPr>
            <p:ph type="title"/>
          </p:nvPr>
        </p:nvSpPr>
        <p:spPr/>
        <p:txBody>
          <a:bodyPr/>
          <a:lstStyle/>
          <a:p>
            <a:pPr eaLnBrk="1" hangingPunct="1"/>
            <a:r>
              <a:rPr lang="zh-CN" altLang="en-US" sz="4000"/>
              <a:t>选择题</a:t>
            </a:r>
            <a:r>
              <a:rPr lang="en-US" altLang="zh-CN" sz="4000"/>
              <a:t>3</a:t>
            </a:r>
          </a:p>
        </p:txBody>
      </p:sp>
      <p:sp>
        <p:nvSpPr>
          <p:cNvPr id="168962" name="Rectangle 3">
            <a:extLst>
              <a:ext uri="{FF2B5EF4-FFF2-40B4-BE49-F238E27FC236}">
                <a16:creationId xmlns:a16="http://schemas.microsoft.com/office/drawing/2014/main" id="{2A386B01-7840-DB67-8E9D-A0FC1E54499B}"/>
              </a:ext>
            </a:extLst>
          </p:cNvPr>
          <p:cNvSpPr>
            <a:spLocks noGrp="1" noChangeArrowheads="1"/>
          </p:cNvSpPr>
          <p:nvPr>
            <p:ph idx="1"/>
          </p:nvPr>
        </p:nvSpPr>
        <p:spPr/>
        <p:txBody>
          <a:bodyPr>
            <a:normAutofit lnSpcReduction="10000"/>
          </a:bodyPr>
          <a:lstStyle/>
          <a:p>
            <a:pPr eaLnBrk="1" hangingPunct="1"/>
            <a:r>
              <a:rPr lang="zh-CN" altLang="en-US"/>
              <a:t>如果</a:t>
            </a:r>
            <a:r>
              <a:rPr lang="en-US" altLang="zh-CN"/>
              <a:t>I/O</a:t>
            </a:r>
            <a:r>
              <a:rPr lang="zh-CN" altLang="en-US"/>
              <a:t>设备与存储设备进行数据交换不经过</a:t>
            </a:r>
            <a:r>
              <a:rPr lang="en-US" altLang="zh-CN"/>
              <a:t>CPU</a:t>
            </a:r>
            <a:r>
              <a:rPr lang="zh-CN" altLang="en-US"/>
              <a:t>来完成，这种数据交换方式是 </a:t>
            </a:r>
            <a:r>
              <a:rPr lang="en-US" altLang="zh-CN"/>
              <a:t>_____ </a:t>
            </a:r>
            <a:r>
              <a:rPr lang="zh-CN" altLang="en-US"/>
              <a:t>。</a:t>
            </a:r>
          </a:p>
          <a:p>
            <a:pPr eaLnBrk="1" hangingPunct="1">
              <a:buFont typeface="Wingdings" pitchFamily="2" charset="2"/>
              <a:buNone/>
            </a:pPr>
            <a:r>
              <a:rPr lang="en-US" altLang="zh-CN"/>
              <a:t>   A. </a:t>
            </a:r>
            <a:r>
              <a:rPr lang="zh-CN" altLang="en-US"/>
              <a:t>程序查询           </a:t>
            </a:r>
            <a:r>
              <a:rPr lang="en-US" altLang="zh-CN"/>
              <a:t>B. </a:t>
            </a:r>
            <a:r>
              <a:rPr lang="zh-CN" altLang="en-US"/>
              <a:t>中断方式</a:t>
            </a:r>
          </a:p>
          <a:p>
            <a:pPr eaLnBrk="1" hangingPunct="1">
              <a:buFont typeface="Wingdings" pitchFamily="2" charset="2"/>
              <a:buNone/>
            </a:pPr>
            <a:r>
              <a:rPr lang="en-US" altLang="zh-CN"/>
              <a:t>   C. DMA</a:t>
            </a:r>
            <a:r>
              <a:rPr lang="zh-CN" altLang="en-US"/>
              <a:t>方式          </a:t>
            </a:r>
            <a:r>
              <a:rPr lang="en-US" altLang="zh-CN"/>
              <a:t>D. </a:t>
            </a:r>
            <a:r>
              <a:rPr lang="zh-CN" altLang="en-US"/>
              <a:t>无条件存取方式</a:t>
            </a:r>
          </a:p>
          <a:p>
            <a:pPr eaLnBrk="1" hangingPunct="1"/>
            <a:r>
              <a:rPr lang="zh-CN" altLang="en-US"/>
              <a:t>在采用</a:t>
            </a:r>
            <a:r>
              <a:rPr lang="en-US" altLang="zh-CN"/>
              <a:t>Spooling </a:t>
            </a:r>
            <a:r>
              <a:rPr lang="zh-CN" altLang="en-US"/>
              <a:t>技术的系统中．用户的打印结果首先被送到 </a:t>
            </a:r>
            <a:r>
              <a:rPr lang="en-US" altLang="zh-CN"/>
              <a:t>_____ </a:t>
            </a:r>
            <a:r>
              <a:rPr lang="zh-CN" altLang="en-US"/>
              <a:t>。</a:t>
            </a:r>
          </a:p>
          <a:p>
            <a:pPr eaLnBrk="1" hangingPunct="1">
              <a:buFont typeface="Wingdings" pitchFamily="2" charset="2"/>
              <a:buNone/>
            </a:pPr>
            <a:r>
              <a:rPr lang="en-US" altLang="zh-CN"/>
              <a:t>   A. </a:t>
            </a:r>
            <a:r>
              <a:rPr lang="zh-CN" altLang="en-US"/>
              <a:t>磁盘固定区域          </a:t>
            </a:r>
            <a:r>
              <a:rPr lang="en-US" altLang="zh-CN"/>
              <a:t>B. </a:t>
            </a:r>
            <a:r>
              <a:rPr lang="zh-CN" altLang="en-US"/>
              <a:t>内存固定区域</a:t>
            </a:r>
          </a:p>
          <a:p>
            <a:pPr eaLnBrk="1" hangingPunct="1">
              <a:buFont typeface="Wingdings" pitchFamily="2" charset="2"/>
              <a:buNone/>
            </a:pPr>
            <a:r>
              <a:rPr lang="en-US" altLang="zh-CN"/>
              <a:t>   C. </a:t>
            </a:r>
            <a:r>
              <a:rPr lang="zh-CN" altLang="en-US"/>
              <a:t>终端                  </a:t>
            </a:r>
            <a:r>
              <a:rPr lang="en-US" altLang="zh-CN"/>
              <a:t>D. </a:t>
            </a:r>
            <a:r>
              <a:rPr lang="zh-CN" altLang="en-US"/>
              <a:t>打印机</a:t>
            </a:r>
          </a:p>
        </p:txBody>
      </p:sp>
    </p:spTree>
  </p:cSld>
  <p:clrMapOvr>
    <a:masterClrMapping/>
  </p:clrMapOvr>
  <p:transition spd="med">
    <p:zo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a:extLst>
              <a:ext uri="{FF2B5EF4-FFF2-40B4-BE49-F238E27FC236}">
                <a16:creationId xmlns:a16="http://schemas.microsoft.com/office/drawing/2014/main" id="{2B1F7542-EA98-52CC-0933-14F51276CEE3}"/>
              </a:ext>
            </a:extLst>
          </p:cNvPr>
          <p:cNvSpPr>
            <a:spLocks noGrp="1" noChangeArrowheads="1"/>
          </p:cNvSpPr>
          <p:nvPr>
            <p:ph type="title"/>
          </p:nvPr>
        </p:nvSpPr>
        <p:spPr/>
        <p:txBody>
          <a:bodyPr/>
          <a:lstStyle/>
          <a:p>
            <a:pPr eaLnBrk="1" hangingPunct="1"/>
            <a:r>
              <a:rPr lang="zh-CN" altLang="en-US" sz="4000"/>
              <a:t>选择题</a:t>
            </a:r>
            <a:r>
              <a:rPr lang="en-US" altLang="zh-CN" sz="4000"/>
              <a:t>4</a:t>
            </a:r>
          </a:p>
        </p:txBody>
      </p:sp>
      <p:sp>
        <p:nvSpPr>
          <p:cNvPr id="169986" name="Rectangle 3">
            <a:extLst>
              <a:ext uri="{FF2B5EF4-FFF2-40B4-BE49-F238E27FC236}">
                <a16:creationId xmlns:a16="http://schemas.microsoft.com/office/drawing/2014/main" id="{F078AA9D-2B02-60C4-0AA3-AFCD8BF4F7F4}"/>
              </a:ext>
            </a:extLst>
          </p:cNvPr>
          <p:cNvSpPr>
            <a:spLocks noGrp="1" noChangeArrowheads="1"/>
          </p:cNvSpPr>
          <p:nvPr>
            <p:ph idx="1"/>
          </p:nvPr>
        </p:nvSpPr>
        <p:spPr/>
        <p:txBody>
          <a:bodyPr>
            <a:normAutofit lnSpcReduction="10000"/>
          </a:bodyPr>
          <a:lstStyle/>
          <a:p>
            <a:pPr eaLnBrk="1" hangingPunct="1"/>
            <a:r>
              <a:rPr lang="zh-CN" altLang="en-US"/>
              <a:t>设备管理程序对设备的管理是借助一些数据结构来进行的，下面的 </a:t>
            </a:r>
            <a:r>
              <a:rPr lang="en-US" altLang="zh-CN"/>
              <a:t>_____ </a:t>
            </a:r>
            <a:r>
              <a:rPr lang="zh-CN" altLang="en-US"/>
              <a:t>不属于设备管理数据结构。</a:t>
            </a:r>
          </a:p>
          <a:p>
            <a:pPr eaLnBrk="1" hangingPunct="1">
              <a:buFont typeface="Wingdings" pitchFamily="2" charset="2"/>
              <a:buNone/>
            </a:pPr>
            <a:r>
              <a:rPr lang="en-US" altLang="zh-CN"/>
              <a:t>   A. DCT              B. COCT</a:t>
            </a:r>
          </a:p>
          <a:p>
            <a:pPr eaLnBrk="1" hangingPunct="1">
              <a:buFont typeface="Wingdings" pitchFamily="2" charset="2"/>
              <a:buNone/>
            </a:pPr>
            <a:r>
              <a:rPr lang="en-US" altLang="zh-CN"/>
              <a:t>   C. CHCT             D. JCB</a:t>
            </a:r>
          </a:p>
          <a:p>
            <a:pPr eaLnBrk="1" hangingPunct="1"/>
            <a:r>
              <a:rPr lang="zh-CN" altLang="en-US"/>
              <a:t>操作系统中的</a:t>
            </a:r>
            <a:r>
              <a:rPr lang="en-US" altLang="zh-CN"/>
              <a:t>Spooling</a:t>
            </a:r>
            <a:r>
              <a:rPr lang="zh-CN" altLang="en-US"/>
              <a:t>技术，实质是将 </a:t>
            </a:r>
            <a:r>
              <a:rPr lang="en-US" altLang="zh-CN"/>
              <a:t>_____ </a:t>
            </a:r>
            <a:r>
              <a:rPr lang="zh-CN" altLang="en-US"/>
              <a:t>转化为共享设备的技术。</a:t>
            </a:r>
          </a:p>
          <a:p>
            <a:pPr eaLnBrk="1" hangingPunct="1">
              <a:buFont typeface="Wingdings" pitchFamily="2" charset="2"/>
              <a:buNone/>
            </a:pPr>
            <a:r>
              <a:rPr lang="en-US" altLang="zh-CN"/>
              <a:t>   A. </a:t>
            </a:r>
            <a:r>
              <a:rPr lang="zh-CN" altLang="en-US"/>
              <a:t>虚拟设备         </a:t>
            </a:r>
            <a:r>
              <a:rPr lang="en-US" altLang="zh-CN"/>
              <a:t>B. </a:t>
            </a:r>
            <a:r>
              <a:rPr lang="zh-CN" altLang="en-US"/>
              <a:t>独占设备</a:t>
            </a:r>
          </a:p>
          <a:p>
            <a:pPr eaLnBrk="1" hangingPunct="1">
              <a:buFont typeface="Wingdings" pitchFamily="2" charset="2"/>
              <a:buNone/>
            </a:pPr>
            <a:r>
              <a:rPr lang="en-US" altLang="zh-CN"/>
              <a:t>   C. </a:t>
            </a:r>
            <a:r>
              <a:rPr lang="zh-CN" altLang="en-US"/>
              <a:t>脱机设备         </a:t>
            </a:r>
            <a:r>
              <a:rPr lang="en-US" altLang="zh-CN"/>
              <a:t>D. </a:t>
            </a:r>
            <a:r>
              <a:rPr lang="zh-CN" altLang="en-US"/>
              <a:t>块设备</a:t>
            </a:r>
          </a:p>
        </p:txBody>
      </p:sp>
    </p:spTree>
  </p:cSld>
  <p:clrMapOvr>
    <a:masterClrMapping/>
  </p:clrMapOvr>
  <p:transition spd="med">
    <p:zoom/>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6B9168E2-7B64-6980-42DD-2C420AAB96FD}"/>
              </a:ext>
            </a:extLst>
          </p:cNvPr>
          <p:cNvSpPr>
            <a:spLocks noGrp="1" noChangeArrowheads="1"/>
          </p:cNvSpPr>
          <p:nvPr>
            <p:ph type="title"/>
          </p:nvPr>
        </p:nvSpPr>
        <p:spPr/>
        <p:txBody>
          <a:bodyPr/>
          <a:lstStyle/>
          <a:p>
            <a:pPr eaLnBrk="1" hangingPunct="1"/>
            <a:r>
              <a:rPr lang="zh-CN" altLang="en-US" sz="4000"/>
              <a:t>选择题</a:t>
            </a:r>
            <a:r>
              <a:rPr lang="en-US" altLang="zh-CN" sz="4000"/>
              <a:t>5</a:t>
            </a:r>
          </a:p>
        </p:txBody>
      </p:sp>
      <p:sp>
        <p:nvSpPr>
          <p:cNvPr id="171010" name="Rectangle 3">
            <a:extLst>
              <a:ext uri="{FF2B5EF4-FFF2-40B4-BE49-F238E27FC236}">
                <a16:creationId xmlns:a16="http://schemas.microsoft.com/office/drawing/2014/main" id="{22CC68D0-4C30-BAF8-4B0D-E479E64E5DBE}"/>
              </a:ext>
            </a:extLst>
          </p:cNvPr>
          <p:cNvSpPr>
            <a:spLocks noGrp="1" noChangeArrowheads="1"/>
          </p:cNvSpPr>
          <p:nvPr>
            <p:ph idx="1"/>
          </p:nvPr>
        </p:nvSpPr>
        <p:spPr/>
        <p:txBody>
          <a:bodyPr/>
          <a:lstStyle/>
          <a:p>
            <a:pPr eaLnBrk="1" hangingPunct="1"/>
            <a:r>
              <a:rPr lang="zh-CN" altLang="en-US"/>
              <a:t>按 </a:t>
            </a:r>
            <a:r>
              <a:rPr lang="en-US" altLang="zh-CN"/>
              <a:t>_____ </a:t>
            </a:r>
            <a:r>
              <a:rPr lang="zh-CN" altLang="en-US"/>
              <a:t>分类可将设备分为块设备和字符设备。</a:t>
            </a:r>
          </a:p>
          <a:p>
            <a:pPr eaLnBrk="1" hangingPunct="1">
              <a:buFont typeface="Wingdings" pitchFamily="2" charset="2"/>
              <a:buNone/>
            </a:pPr>
            <a:r>
              <a:rPr lang="en-US" altLang="zh-CN"/>
              <a:t>   A. </a:t>
            </a:r>
            <a:r>
              <a:rPr lang="zh-CN" altLang="en-US"/>
              <a:t>从属关系               </a:t>
            </a:r>
            <a:r>
              <a:rPr lang="en-US" altLang="zh-CN"/>
              <a:t>B. </a:t>
            </a:r>
            <a:r>
              <a:rPr lang="zh-CN" altLang="en-US"/>
              <a:t>操作特性</a:t>
            </a:r>
          </a:p>
          <a:p>
            <a:pPr eaLnBrk="1" hangingPunct="1">
              <a:buFont typeface="Wingdings" pitchFamily="2" charset="2"/>
              <a:buNone/>
            </a:pPr>
            <a:r>
              <a:rPr lang="en-US" altLang="zh-CN"/>
              <a:t>   C. </a:t>
            </a:r>
            <a:r>
              <a:rPr lang="zh-CN" altLang="en-US"/>
              <a:t>共享属性               </a:t>
            </a:r>
            <a:r>
              <a:rPr lang="en-US" altLang="zh-CN"/>
              <a:t>D. </a:t>
            </a:r>
            <a:r>
              <a:rPr lang="zh-CN" altLang="en-US"/>
              <a:t>信息交换单位</a:t>
            </a:r>
          </a:p>
          <a:p>
            <a:pPr eaLnBrk="1" hangingPunct="1"/>
            <a:r>
              <a:rPr lang="en-US" altLang="zh-CN"/>
              <a:t>_____ </a:t>
            </a:r>
            <a:r>
              <a:rPr lang="zh-CN" altLang="en-US"/>
              <a:t>算法是设备分配常用的一种算法。</a:t>
            </a:r>
          </a:p>
          <a:p>
            <a:pPr eaLnBrk="1" hangingPunct="1">
              <a:buFont typeface="Wingdings" pitchFamily="2" charset="2"/>
              <a:buNone/>
            </a:pPr>
            <a:r>
              <a:rPr lang="en-US" altLang="zh-CN"/>
              <a:t>   A. </a:t>
            </a:r>
            <a:r>
              <a:rPr lang="zh-CN" altLang="en-US"/>
              <a:t>短作业优先          </a:t>
            </a:r>
            <a:r>
              <a:rPr lang="en-US" altLang="zh-CN"/>
              <a:t>B. </a:t>
            </a:r>
            <a:r>
              <a:rPr lang="zh-CN" altLang="en-US"/>
              <a:t>最佳适应</a:t>
            </a:r>
          </a:p>
          <a:p>
            <a:pPr eaLnBrk="1" hangingPunct="1">
              <a:buFont typeface="Wingdings" pitchFamily="2" charset="2"/>
              <a:buNone/>
            </a:pPr>
            <a:r>
              <a:rPr lang="en-US" altLang="zh-CN"/>
              <a:t>   C. </a:t>
            </a:r>
            <a:r>
              <a:rPr lang="zh-CN" altLang="en-US"/>
              <a:t>先来先服务          </a:t>
            </a:r>
            <a:r>
              <a:rPr lang="en-US" altLang="zh-CN"/>
              <a:t>D. </a:t>
            </a:r>
            <a:r>
              <a:rPr lang="zh-CN" altLang="en-US"/>
              <a:t>首次适应</a:t>
            </a:r>
          </a:p>
        </p:txBody>
      </p:sp>
    </p:spTree>
  </p:cSld>
  <p:clrMapOvr>
    <a:masterClrMapping/>
  </p:clrMapOvr>
  <p:transition spd="med">
    <p:zo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标题 1">
            <a:extLst>
              <a:ext uri="{FF2B5EF4-FFF2-40B4-BE49-F238E27FC236}">
                <a16:creationId xmlns:a16="http://schemas.microsoft.com/office/drawing/2014/main" id="{8DF19560-5534-A711-3AAC-7D4BB53792C8}"/>
              </a:ext>
            </a:extLst>
          </p:cNvPr>
          <p:cNvSpPr>
            <a:spLocks noGrp="1" noChangeArrowheads="1"/>
          </p:cNvSpPr>
          <p:nvPr>
            <p:ph type="title"/>
          </p:nvPr>
        </p:nvSpPr>
        <p:spPr/>
        <p:txBody>
          <a:bodyPr/>
          <a:lstStyle/>
          <a:p>
            <a:pPr eaLnBrk="1" hangingPunct="1"/>
            <a:r>
              <a:rPr lang="zh-CN" altLang="en-US"/>
              <a:t>选择题</a:t>
            </a:r>
            <a:r>
              <a:rPr lang="en-US" altLang="zh-CN"/>
              <a:t>6</a:t>
            </a:r>
            <a:endParaRPr lang="zh-CN" altLang="en-US"/>
          </a:p>
        </p:txBody>
      </p:sp>
      <p:sp>
        <p:nvSpPr>
          <p:cNvPr id="36867" name="内容占位符 2">
            <a:extLst>
              <a:ext uri="{FF2B5EF4-FFF2-40B4-BE49-F238E27FC236}">
                <a16:creationId xmlns:a16="http://schemas.microsoft.com/office/drawing/2014/main" id="{BE99E47C-E6F3-97E0-6EE0-C931ED0899D1}"/>
              </a:ext>
            </a:extLst>
          </p:cNvPr>
          <p:cNvSpPr>
            <a:spLocks noGrp="1" noChangeArrowheads="1"/>
          </p:cNvSpPr>
          <p:nvPr>
            <p:ph idx="1"/>
          </p:nvPr>
        </p:nvSpPr>
        <p:spPr/>
        <p:txBody>
          <a:bodyPr>
            <a:normAutofit fontScale="92500"/>
          </a:bodyPr>
          <a:lstStyle/>
          <a:p>
            <a:pPr eaLnBrk="1" hangingPunct="1"/>
            <a:r>
              <a:rPr lang="zh-CN" altLang="en-US" sz="2800"/>
              <a:t>在下面关于设备属性的论述中，正确的论述是</a:t>
            </a:r>
            <a:r>
              <a:rPr lang="en-US" altLang="zh-CN" sz="2800"/>
              <a:t>_____</a:t>
            </a:r>
            <a:r>
              <a:rPr lang="zh-CN" altLang="en-US" sz="2800"/>
              <a:t>。　 </a:t>
            </a:r>
          </a:p>
          <a:p>
            <a:pPr eaLnBrk="1" hangingPunct="1">
              <a:buFont typeface="Wingdings" pitchFamily="2" charset="2"/>
              <a:buNone/>
            </a:pPr>
            <a:r>
              <a:rPr lang="en-US" altLang="zh-CN" sz="2400" b="1"/>
              <a:t>  A</a:t>
            </a:r>
            <a:r>
              <a:rPr lang="zh-CN" altLang="en-US" sz="2400" b="1"/>
              <a:t>．字符设备的一个基本特征是可寻址的。</a:t>
            </a:r>
          </a:p>
          <a:p>
            <a:pPr eaLnBrk="1" hangingPunct="1">
              <a:buFont typeface="Wingdings" pitchFamily="2" charset="2"/>
              <a:buNone/>
            </a:pPr>
            <a:r>
              <a:rPr lang="en-US" altLang="zh-CN" sz="2400" b="1"/>
              <a:t>  B</a:t>
            </a:r>
            <a:r>
              <a:rPr lang="zh-CN" altLang="en-US" sz="2400" b="1"/>
              <a:t>．共享设备必须是可寻址的和可随机访问的设备。</a:t>
            </a:r>
          </a:p>
          <a:p>
            <a:pPr eaLnBrk="1" hangingPunct="1">
              <a:buFont typeface="Wingdings" pitchFamily="2" charset="2"/>
              <a:buNone/>
            </a:pPr>
            <a:r>
              <a:rPr lang="en-US" altLang="zh-CN" sz="2400" b="1"/>
              <a:t>  C</a:t>
            </a:r>
            <a:r>
              <a:rPr lang="zh-CN" altLang="en-US" sz="2400" b="1"/>
              <a:t>．共享设备是指在同一时刻，允许多个进程同时访问的设备。</a:t>
            </a:r>
          </a:p>
          <a:p>
            <a:pPr eaLnBrk="1" hangingPunct="1">
              <a:buFont typeface="Wingdings" pitchFamily="2" charset="2"/>
              <a:buNone/>
            </a:pPr>
            <a:r>
              <a:rPr lang="en-US" altLang="zh-CN" sz="2400" b="1"/>
              <a:t>  D</a:t>
            </a:r>
            <a:r>
              <a:rPr lang="zh-CN" altLang="en-US" sz="2400" b="1"/>
              <a:t>．在分配共享设备和独占设备时，都可能引起进程死锁。</a:t>
            </a:r>
          </a:p>
          <a:p>
            <a:pPr eaLnBrk="1" hangingPunct="1"/>
            <a:r>
              <a:rPr lang="zh-CN" altLang="en-US" sz="2800"/>
              <a:t>通道是一种特殊的</a:t>
            </a:r>
            <a:r>
              <a:rPr lang="en-US" altLang="zh-CN" sz="2800"/>
              <a:t>___</a:t>
            </a:r>
            <a:r>
              <a:rPr lang="zh-CN" altLang="en-US" sz="2800"/>
              <a:t>，具有执行</a:t>
            </a:r>
            <a:r>
              <a:rPr lang="en-US" altLang="zh-CN" sz="2800"/>
              <a:t>I/O</a:t>
            </a:r>
            <a:r>
              <a:rPr lang="zh-CN" altLang="en-US" sz="2800"/>
              <a:t>指令集的能力。</a:t>
            </a:r>
          </a:p>
          <a:p>
            <a:pPr eaLnBrk="1" hangingPunct="1">
              <a:buFont typeface="Wingdings" pitchFamily="2" charset="2"/>
              <a:buNone/>
            </a:pPr>
            <a:r>
              <a:rPr lang="en-US" altLang="zh-CN" sz="2800"/>
              <a:t>    A</a:t>
            </a:r>
            <a:r>
              <a:rPr lang="zh-CN" altLang="en-US" sz="2800"/>
              <a:t>．</a:t>
            </a:r>
            <a:r>
              <a:rPr lang="en-US" altLang="zh-CN" sz="2800"/>
              <a:t>I/O</a:t>
            </a:r>
            <a:r>
              <a:rPr lang="zh-CN" altLang="en-US" sz="2800"/>
              <a:t>设备　  　</a:t>
            </a:r>
            <a:r>
              <a:rPr lang="en-US" altLang="zh-CN" sz="2800"/>
              <a:t>B</a:t>
            </a:r>
            <a:r>
              <a:rPr lang="zh-CN" altLang="en-US" sz="2800"/>
              <a:t>．设备控制器</a:t>
            </a:r>
            <a:endParaRPr lang="en-US" altLang="zh-CN" sz="2800"/>
          </a:p>
          <a:p>
            <a:pPr eaLnBrk="1" hangingPunct="1">
              <a:buFont typeface="Wingdings" pitchFamily="2" charset="2"/>
              <a:buNone/>
            </a:pPr>
            <a:r>
              <a:rPr lang="zh-CN" altLang="en-US" sz="2800"/>
              <a:t>　 </a:t>
            </a:r>
            <a:r>
              <a:rPr lang="en-US" altLang="zh-CN" sz="2800"/>
              <a:t>C</a:t>
            </a:r>
            <a:r>
              <a:rPr lang="zh-CN" altLang="en-US" sz="2800"/>
              <a:t>．处理机　　   </a:t>
            </a:r>
            <a:r>
              <a:rPr lang="en-US" altLang="zh-CN" sz="2800"/>
              <a:t>D</a:t>
            </a:r>
            <a:r>
              <a:rPr lang="zh-CN" altLang="en-US" sz="2800"/>
              <a:t>．</a:t>
            </a:r>
            <a:r>
              <a:rPr lang="en-US" altLang="zh-CN" sz="2800"/>
              <a:t>I/O</a:t>
            </a:r>
            <a:r>
              <a:rPr lang="zh-CN" altLang="en-US" sz="2800"/>
              <a:t>控制器</a:t>
            </a:r>
          </a:p>
          <a:p>
            <a:pPr eaLnBrk="1" hangingPunct="1"/>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checkerboard(across)">
                                      <p:cBhvr>
                                        <p:cTn id="7" dur="500"/>
                                        <p:tgtEl>
                                          <p:spTgt spid="3686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867">
                                            <p:txEl>
                                              <p:pRg st="1" end="1"/>
                                            </p:txEl>
                                          </p:spTgt>
                                        </p:tgtEl>
                                        <p:attrNameLst>
                                          <p:attrName>style.visibility</p:attrName>
                                        </p:attrNameLst>
                                      </p:cBhvr>
                                      <p:to>
                                        <p:strVal val="visible"/>
                                      </p:to>
                                    </p:set>
                                    <p:animEffect transition="in" filter="checkerboard(across)">
                                      <p:cBhvr>
                                        <p:cTn id="10" dur="500"/>
                                        <p:tgtEl>
                                          <p:spTgt spid="3686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Effect transition="in" filter="checkerboard(across)">
                                      <p:cBhvr>
                                        <p:cTn id="13" dur="500"/>
                                        <p:tgtEl>
                                          <p:spTgt spid="36867">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6867">
                                            <p:txEl>
                                              <p:pRg st="3" end="3"/>
                                            </p:txEl>
                                          </p:spTgt>
                                        </p:tgtEl>
                                        <p:attrNameLst>
                                          <p:attrName>style.visibility</p:attrName>
                                        </p:attrNameLst>
                                      </p:cBhvr>
                                      <p:to>
                                        <p:strVal val="visible"/>
                                      </p:to>
                                    </p:set>
                                    <p:animEffect transition="in" filter="checkerboard(across)">
                                      <p:cBhvr>
                                        <p:cTn id="16" dur="500"/>
                                        <p:tgtEl>
                                          <p:spTgt spid="36867">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6867">
                                            <p:txEl>
                                              <p:pRg st="4" end="4"/>
                                            </p:txEl>
                                          </p:spTgt>
                                        </p:tgtEl>
                                        <p:attrNameLst>
                                          <p:attrName>style.visibility</p:attrName>
                                        </p:attrNameLst>
                                      </p:cBhvr>
                                      <p:to>
                                        <p:strVal val="visible"/>
                                      </p:to>
                                    </p:set>
                                    <p:animEffect transition="in" filter="checkerboard(across)">
                                      <p:cBhvr>
                                        <p:cTn id="19" dur="500"/>
                                        <p:tgtEl>
                                          <p:spTgt spid="36867">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36867">
                                            <p:txEl>
                                              <p:pRg st="5" end="5"/>
                                            </p:txEl>
                                          </p:spTgt>
                                        </p:tgtEl>
                                        <p:attrNameLst>
                                          <p:attrName>style.visibility</p:attrName>
                                        </p:attrNameLst>
                                      </p:cBhvr>
                                      <p:to>
                                        <p:strVal val="visible"/>
                                      </p:to>
                                    </p:set>
                                    <p:animEffect transition="in" filter="checkerboard(across)">
                                      <p:cBhvr>
                                        <p:cTn id="24" dur="500"/>
                                        <p:tgtEl>
                                          <p:spTgt spid="36867">
                                            <p:txEl>
                                              <p:pRg st="5" end="5"/>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36867">
                                            <p:txEl>
                                              <p:pRg st="6" end="6"/>
                                            </p:txEl>
                                          </p:spTgt>
                                        </p:tgtEl>
                                        <p:attrNameLst>
                                          <p:attrName>style.visibility</p:attrName>
                                        </p:attrNameLst>
                                      </p:cBhvr>
                                      <p:to>
                                        <p:strVal val="visible"/>
                                      </p:to>
                                    </p:set>
                                    <p:animEffect transition="in" filter="checkerboard(across)">
                                      <p:cBhvr>
                                        <p:cTn id="27" dur="500"/>
                                        <p:tgtEl>
                                          <p:spTgt spid="36867">
                                            <p:txEl>
                                              <p:pRg st="6" end="6"/>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36867">
                                            <p:txEl>
                                              <p:pRg st="7" end="7"/>
                                            </p:txEl>
                                          </p:spTgt>
                                        </p:tgtEl>
                                        <p:attrNameLst>
                                          <p:attrName>style.visibility</p:attrName>
                                        </p:attrNameLst>
                                      </p:cBhvr>
                                      <p:to>
                                        <p:strVal val="visible"/>
                                      </p:to>
                                    </p:set>
                                    <p:animEffect transition="in" filter="checkerboard(across)">
                                      <p:cBhvr>
                                        <p:cTn id="30" dur="500"/>
                                        <p:tgtEl>
                                          <p:spTgt spid="368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AFBD2FE9-C042-1D43-85AB-38D40DF38E5E}"/>
              </a:ext>
            </a:extLst>
          </p:cNvPr>
          <p:cNvSpPr>
            <a:spLocks noGrp="1" noChangeArrowheads="1"/>
          </p:cNvSpPr>
          <p:nvPr>
            <p:ph type="title"/>
          </p:nvPr>
        </p:nvSpPr>
        <p:spPr>
          <a:xfrm>
            <a:off x="1042988" y="225431"/>
            <a:ext cx="7850187" cy="746125"/>
          </a:xfrm>
        </p:spPr>
        <p:txBody>
          <a:bodyPr/>
          <a:lstStyle/>
          <a:p>
            <a:r>
              <a:rPr lang="zh-CN" altLang="en-US" dirty="0"/>
              <a:t>选择题</a:t>
            </a:r>
            <a:r>
              <a:rPr lang="en-US" altLang="zh-CN" dirty="0"/>
              <a:t>7</a:t>
            </a:r>
            <a:endParaRPr lang="zh-CN" altLang="en-US" dirty="0"/>
          </a:p>
        </p:txBody>
      </p:sp>
      <p:sp>
        <p:nvSpPr>
          <p:cNvPr id="44034" name="Rectangle 3">
            <a:extLst>
              <a:ext uri="{FF2B5EF4-FFF2-40B4-BE49-F238E27FC236}">
                <a16:creationId xmlns:a16="http://schemas.microsoft.com/office/drawing/2014/main" id="{03AAE37F-D695-9629-4172-BFCE703B994F}"/>
              </a:ext>
            </a:extLst>
          </p:cNvPr>
          <p:cNvSpPr>
            <a:spLocks noGrp="1" noChangeArrowheads="1"/>
          </p:cNvSpPr>
          <p:nvPr>
            <p:ph idx="1"/>
          </p:nvPr>
        </p:nvSpPr>
        <p:spPr>
          <a:xfrm>
            <a:off x="935038" y="1233488"/>
            <a:ext cx="7772400" cy="4895850"/>
          </a:xfrm>
        </p:spPr>
        <p:txBody>
          <a:bodyPr>
            <a:normAutofit fontScale="77500" lnSpcReduction="20000"/>
          </a:bodyPr>
          <a:lstStyle/>
          <a:p>
            <a:r>
              <a:rPr lang="zh-CN" altLang="en-US" dirty="0"/>
              <a:t>共享设备磁盘的物理地址为（柱面号，磁头号，扇区号），磁头从当前位置移动到需访问柱面所用的时间称为   ①   ，磁头从访问的柱面移动到指定扇区所用时间称为   ②   。</a:t>
            </a:r>
          </a:p>
          <a:p>
            <a:r>
              <a:rPr lang="en-US" altLang="zh-CN" dirty="0"/>
              <a:t>   A. </a:t>
            </a:r>
            <a:r>
              <a:rPr lang="zh-CN" altLang="en-US" dirty="0"/>
              <a:t>寻道时间               </a:t>
            </a:r>
            <a:r>
              <a:rPr lang="en-US" altLang="zh-CN" dirty="0"/>
              <a:t>B. </a:t>
            </a:r>
            <a:r>
              <a:rPr lang="zh-CN" altLang="en-US" dirty="0"/>
              <a:t>传输时间</a:t>
            </a:r>
          </a:p>
          <a:p>
            <a:r>
              <a:rPr lang="en-US" altLang="zh-CN" dirty="0"/>
              <a:t>   C. </a:t>
            </a:r>
            <a:r>
              <a:rPr lang="zh-CN" altLang="en-US" dirty="0"/>
              <a:t>旋转等待时间        </a:t>
            </a:r>
            <a:r>
              <a:rPr lang="en-US" altLang="zh-CN" dirty="0"/>
              <a:t>D. </a:t>
            </a:r>
            <a:r>
              <a:rPr lang="zh-CN" altLang="en-US" dirty="0"/>
              <a:t>周转时间</a:t>
            </a:r>
          </a:p>
          <a:p>
            <a:r>
              <a:rPr lang="zh-CN" altLang="en-US" dirty="0"/>
              <a:t>若进程</a:t>
            </a:r>
            <a:r>
              <a:rPr lang="en-US" altLang="zh-CN" dirty="0"/>
              <a:t>P1</a:t>
            </a:r>
            <a:r>
              <a:rPr lang="zh-CN" altLang="en-US" dirty="0"/>
              <a:t>访问</a:t>
            </a:r>
            <a:r>
              <a:rPr lang="en-US" altLang="zh-CN" dirty="0"/>
              <a:t>199</a:t>
            </a:r>
            <a:r>
              <a:rPr lang="zh-CN" altLang="en-US" dirty="0"/>
              <a:t>号柱面，磁头是从</a:t>
            </a:r>
            <a:r>
              <a:rPr lang="en-US" altLang="zh-CN" dirty="0"/>
              <a:t>0</a:t>
            </a:r>
            <a:r>
              <a:rPr lang="zh-CN" altLang="en-US" dirty="0"/>
              <a:t>号柱面移到</a:t>
            </a:r>
            <a:r>
              <a:rPr lang="en-US" altLang="zh-CN" dirty="0"/>
              <a:t>199</a:t>
            </a:r>
            <a:r>
              <a:rPr lang="zh-CN" altLang="en-US" dirty="0"/>
              <a:t>柱面的，且在访问期间依次出现了</a:t>
            </a:r>
            <a:r>
              <a:rPr lang="en-US" altLang="zh-CN" dirty="0"/>
              <a:t>P2</a:t>
            </a:r>
            <a:r>
              <a:rPr lang="zh-CN" altLang="en-US" dirty="0"/>
              <a:t>申请读</a:t>
            </a:r>
            <a:r>
              <a:rPr lang="en-US" altLang="zh-CN" dirty="0"/>
              <a:t>299</a:t>
            </a:r>
            <a:r>
              <a:rPr lang="zh-CN" altLang="en-US" dirty="0"/>
              <a:t>号柱面，</a:t>
            </a:r>
            <a:r>
              <a:rPr lang="en-US" altLang="zh-CN" dirty="0"/>
              <a:t>P3</a:t>
            </a:r>
            <a:r>
              <a:rPr lang="zh-CN" altLang="en-US" dirty="0"/>
              <a:t>申请写</a:t>
            </a:r>
            <a:r>
              <a:rPr lang="en-US" altLang="zh-CN" dirty="0"/>
              <a:t>209</a:t>
            </a:r>
            <a:r>
              <a:rPr lang="zh-CN" altLang="en-US" dirty="0"/>
              <a:t>号柱面，</a:t>
            </a:r>
            <a:r>
              <a:rPr lang="en-US" altLang="zh-CN" dirty="0"/>
              <a:t>P4</a:t>
            </a:r>
            <a:r>
              <a:rPr lang="zh-CN" altLang="en-US" dirty="0"/>
              <a:t>申请读</a:t>
            </a:r>
            <a:r>
              <a:rPr lang="en-US" altLang="zh-CN" dirty="0"/>
              <a:t>199</a:t>
            </a:r>
            <a:r>
              <a:rPr lang="zh-CN" altLang="en-US" dirty="0"/>
              <a:t>号柱面，访问完</a:t>
            </a:r>
            <a:r>
              <a:rPr lang="en-US" altLang="zh-CN" dirty="0"/>
              <a:t>199</a:t>
            </a:r>
            <a:r>
              <a:rPr lang="zh-CN" altLang="en-US" dirty="0"/>
              <a:t>号柱面以后，如果采用：先来先服务算法，将依次访问   </a:t>
            </a:r>
            <a:r>
              <a:rPr lang="zh-CN" altLang="en-US" u="sng" dirty="0"/>
              <a:t>①   </a:t>
            </a:r>
            <a:r>
              <a:rPr lang="zh-CN" altLang="en-US" dirty="0"/>
              <a:t>；最短寻道时间优先算法，将依次访问  </a:t>
            </a:r>
            <a:r>
              <a:rPr lang="zh-CN" altLang="en-US" u="sng" dirty="0"/>
              <a:t> ②   </a:t>
            </a:r>
            <a:r>
              <a:rPr lang="zh-CN" altLang="en-US" dirty="0"/>
              <a:t>；扫描算法，将依次访问  </a:t>
            </a:r>
            <a:r>
              <a:rPr lang="zh-CN" altLang="en-US" u="sng" dirty="0"/>
              <a:t> ③   </a:t>
            </a:r>
            <a:r>
              <a:rPr lang="zh-CN" altLang="en-US" dirty="0"/>
              <a:t>。</a:t>
            </a:r>
          </a:p>
          <a:p>
            <a:r>
              <a:rPr lang="en-US" altLang="zh-CN" dirty="0"/>
              <a:t>   A.  299</a:t>
            </a:r>
            <a:r>
              <a:rPr lang="zh-CN" altLang="en-US" dirty="0"/>
              <a:t>，</a:t>
            </a:r>
            <a:r>
              <a:rPr lang="en-US" altLang="zh-CN" dirty="0"/>
              <a:t>199</a:t>
            </a:r>
            <a:r>
              <a:rPr lang="zh-CN" altLang="en-US" dirty="0"/>
              <a:t>，</a:t>
            </a:r>
            <a:r>
              <a:rPr lang="en-US" altLang="zh-CN" dirty="0"/>
              <a:t>209         B. 299</a:t>
            </a:r>
            <a:r>
              <a:rPr lang="zh-CN" altLang="en-US" dirty="0"/>
              <a:t>，</a:t>
            </a:r>
            <a:r>
              <a:rPr lang="en-US" altLang="zh-CN" dirty="0"/>
              <a:t>209</a:t>
            </a:r>
            <a:r>
              <a:rPr lang="zh-CN" altLang="en-US" dirty="0"/>
              <a:t>，</a:t>
            </a:r>
            <a:r>
              <a:rPr lang="en-US" altLang="zh-CN" dirty="0"/>
              <a:t>199</a:t>
            </a:r>
          </a:p>
          <a:p>
            <a:r>
              <a:rPr lang="en-US" altLang="zh-CN" dirty="0"/>
              <a:t>   C.  199</a:t>
            </a:r>
            <a:r>
              <a:rPr lang="zh-CN" altLang="en-US" dirty="0"/>
              <a:t>，</a:t>
            </a:r>
            <a:r>
              <a:rPr lang="en-US" altLang="zh-CN" dirty="0"/>
              <a:t>209</a:t>
            </a:r>
            <a:r>
              <a:rPr lang="zh-CN" altLang="en-US" dirty="0"/>
              <a:t>，</a:t>
            </a:r>
            <a:r>
              <a:rPr lang="en-US" altLang="zh-CN" dirty="0"/>
              <a:t>299         D. 209</a:t>
            </a:r>
            <a:r>
              <a:rPr lang="zh-CN" altLang="en-US" dirty="0"/>
              <a:t>，</a:t>
            </a:r>
            <a:r>
              <a:rPr lang="en-US" altLang="zh-CN" dirty="0"/>
              <a:t>199</a:t>
            </a:r>
            <a:r>
              <a:rPr lang="zh-CN" altLang="en-US" dirty="0"/>
              <a:t>，</a:t>
            </a:r>
            <a:r>
              <a:rPr lang="en-US" altLang="zh-CN" dirty="0"/>
              <a:t>299</a:t>
            </a:r>
            <a:endParaRPr lang="zh-CN" altLang="en-US" dirty="0"/>
          </a:p>
        </p:txBody>
      </p:sp>
      <p:sp>
        <p:nvSpPr>
          <p:cNvPr id="2" name="灯片编号占位符 1">
            <a:extLst>
              <a:ext uri="{FF2B5EF4-FFF2-40B4-BE49-F238E27FC236}">
                <a16:creationId xmlns:a16="http://schemas.microsoft.com/office/drawing/2014/main" id="{A3C384FC-6C9B-93D4-17F3-F73F49FFED7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176</a:t>
            </a:fld>
            <a:endParaRPr lang="zh-CN" altLang="en-US" dirty="0"/>
          </a:p>
        </p:txBody>
      </p:sp>
    </p:spTree>
    <p:extLst>
      <p:ext uri="{BB962C8B-B14F-4D97-AF65-F5344CB8AC3E}">
        <p14:creationId xmlns:p14="http://schemas.microsoft.com/office/powerpoint/2010/main" val="1027705419"/>
      </p:ext>
    </p:extLst>
  </p:cSld>
  <p:clrMapOvr>
    <a:masterClrMapping/>
  </p:clrMapOvr>
  <p:transition spd="med">
    <p:zo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B8E7934F-34F5-51FE-3A44-A888D6E5A1B5}"/>
              </a:ext>
            </a:extLst>
          </p:cNvPr>
          <p:cNvSpPr>
            <a:spLocks noGrp="1" noChangeArrowheads="1"/>
          </p:cNvSpPr>
          <p:nvPr>
            <p:ph type="title"/>
          </p:nvPr>
        </p:nvSpPr>
        <p:spPr/>
        <p:txBody>
          <a:bodyPr/>
          <a:lstStyle/>
          <a:p>
            <a:pPr eaLnBrk="1" hangingPunct="1"/>
            <a:r>
              <a:rPr lang="zh-CN" altLang="en-US" sz="4000" dirty="0"/>
              <a:t>选择题</a:t>
            </a:r>
            <a:r>
              <a:rPr lang="en-US" altLang="zh-CN" sz="4000" dirty="0"/>
              <a:t>8</a:t>
            </a:r>
          </a:p>
        </p:txBody>
      </p:sp>
      <p:sp>
        <p:nvSpPr>
          <p:cNvPr id="45058" name="Rectangle 3">
            <a:extLst>
              <a:ext uri="{FF2B5EF4-FFF2-40B4-BE49-F238E27FC236}">
                <a16:creationId xmlns:a16="http://schemas.microsoft.com/office/drawing/2014/main" id="{CB0C3F64-71B0-B9E8-41C2-28A2C4E7BF99}"/>
              </a:ext>
            </a:extLst>
          </p:cNvPr>
          <p:cNvSpPr>
            <a:spLocks noGrp="1" noChangeArrowheads="1"/>
          </p:cNvSpPr>
          <p:nvPr>
            <p:ph idx="1"/>
          </p:nvPr>
        </p:nvSpPr>
        <p:spPr>
          <a:xfrm>
            <a:off x="1131888" y="1125538"/>
            <a:ext cx="7772400" cy="5183187"/>
          </a:xfrm>
        </p:spPr>
        <p:txBody>
          <a:bodyPr/>
          <a:lstStyle/>
          <a:p>
            <a:pPr eaLnBrk="1" hangingPunct="1"/>
            <a:r>
              <a:rPr lang="zh-CN" altLang="en-US"/>
              <a:t>存放在磁盘上的文件 </a:t>
            </a:r>
            <a:r>
              <a:rPr lang="en-US" altLang="zh-CN"/>
              <a:t>_____ </a:t>
            </a:r>
            <a:r>
              <a:rPr lang="zh-CN" altLang="en-US"/>
              <a:t>。</a:t>
            </a:r>
          </a:p>
          <a:p>
            <a:pPr eaLnBrk="1" hangingPunct="1">
              <a:buFont typeface="Wingdings" pitchFamily="2" charset="2"/>
              <a:buNone/>
            </a:pPr>
            <a:r>
              <a:rPr lang="en-US" altLang="zh-CN"/>
              <a:t>   A. </a:t>
            </a:r>
            <a:r>
              <a:rPr lang="zh-CN" altLang="en-US"/>
              <a:t>只能随机访问        </a:t>
            </a:r>
            <a:r>
              <a:rPr lang="en-US" altLang="zh-CN"/>
              <a:t>B. </a:t>
            </a:r>
            <a:r>
              <a:rPr lang="zh-CN" altLang="en-US"/>
              <a:t>只能顺序访问</a:t>
            </a:r>
          </a:p>
          <a:p>
            <a:pPr eaLnBrk="1" hangingPunct="1">
              <a:buFont typeface="Wingdings" pitchFamily="2" charset="2"/>
              <a:buNone/>
            </a:pPr>
            <a:r>
              <a:rPr lang="en-US" altLang="zh-CN"/>
              <a:t>   C. </a:t>
            </a:r>
            <a:r>
              <a:rPr lang="zh-CN" altLang="en-US"/>
              <a:t>既可随机访问，又可顺序访问</a:t>
            </a:r>
          </a:p>
          <a:p>
            <a:pPr eaLnBrk="1" hangingPunct="1">
              <a:buFont typeface="Wingdings" pitchFamily="2" charset="2"/>
              <a:buNone/>
            </a:pPr>
            <a:r>
              <a:rPr lang="zh-CN" altLang="en-US"/>
              <a:t>   </a:t>
            </a:r>
            <a:r>
              <a:rPr lang="en-US" altLang="zh-CN"/>
              <a:t>D. </a:t>
            </a:r>
            <a:r>
              <a:rPr lang="zh-CN" altLang="en-US"/>
              <a:t>不能随机访问</a:t>
            </a:r>
          </a:p>
          <a:p>
            <a:pPr eaLnBrk="1" hangingPunct="1"/>
            <a:r>
              <a:rPr lang="zh-CN" altLang="en-US"/>
              <a:t>用磁带作文件存储介质时，文件只能组织成 </a:t>
            </a:r>
            <a:r>
              <a:rPr lang="en-US" altLang="zh-CN"/>
              <a:t>_____ </a:t>
            </a:r>
            <a:r>
              <a:rPr lang="zh-CN" altLang="en-US"/>
              <a:t>。</a:t>
            </a:r>
          </a:p>
          <a:p>
            <a:pPr eaLnBrk="1" hangingPunct="1">
              <a:buFont typeface="Wingdings" pitchFamily="2" charset="2"/>
              <a:buNone/>
            </a:pPr>
            <a:r>
              <a:rPr lang="en-US" altLang="zh-CN"/>
              <a:t>   A. </a:t>
            </a:r>
            <a:r>
              <a:rPr lang="zh-CN" altLang="en-US"/>
              <a:t>目录文件            </a:t>
            </a:r>
            <a:r>
              <a:rPr lang="en-US" altLang="zh-CN"/>
              <a:t>B. </a:t>
            </a:r>
            <a:r>
              <a:rPr lang="zh-CN" altLang="en-US"/>
              <a:t>链接文件</a:t>
            </a:r>
          </a:p>
          <a:p>
            <a:pPr eaLnBrk="1" hangingPunct="1">
              <a:buFont typeface="Wingdings" pitchFamily="2" charset="2"/>
              <a:buNone/>
            </a:pPr>
            <a:r>
              <a:rPr lang="en-US" altLang="zh-CN"/>
              <a:t>   C. </a:t>
            </a:r>
            <a:r>
              <a:rPr lang="zh-CN" altLang="en-US"/>
              <a:t>索引文件            </a:t>
            </a:r>
            <a:r>
              <a:rPr lang="en-US" altLang="zh-CN"/>
              <a:t>D. </a:t>
            </a:r>
            <a:r>
              <a:rPr lang="zh-CN" altLang="en-US"/>
              <a:t>顺序文件</a:t>
            </a:r>
          </a:p>
        </p:txBody>
      </p:sp>
      <p:sp>
        <p:nvSpPr>
          <p:cNvPr id="2" name="灯片编号占位符 1">
            <a:extLst>
              <a:ext uri="{FF2B5EF4-FFF2-40B4-BE49-F238E27FC236}">
                <a16:creationId xmlns:a16="http://schemas.microsoft.com/office/drawing/2014/main" id="{282DE170-3FE2-6CFF-25C3-59389426CC6B}"/>
              </a:ext>
            </a:extLst>
          </p:cNvPr>
          <p:cNvSpPr>
            <a:spLocks noGrp="1"/>
          </p:cNvSpPr>
          <p:nvPr>
            <p:ph type="sldNum" sz="quarter" idx="12"/>
          </p:nvPr>
        </p:nvSpPr>
        <p:spPr/>
        <p:txBody>
          <a:bodyPr/>
          <a:lstStyle/>
          <a:p>
            <a:fld id="{4093CC90-4002-504C-BD88-C9A1D374048E}" type="slidenum">
              <a:rPr lang="zh-CN" altLang="en-US" smtClean="0"/>
              <a:pPr/>
              <a:t>177</a:t>
            </a:fld>
            <a:endParaRPr lang="zh-CN" altLang="en-US" dirty="0"/>
          </a:p>
        </p:txBody>
      </p:sp>
    </p:spTree>
    <p:extLst>
      <p:ext uri="{BB962C8B-B14F-4D97-AF65-F5344CB8AC3E}">
        <p14:creationId xmlns:p14="http://schemas.microsoft.com/office/powerpoint/2010/main" val="3556878161"/>
      </p:ext>
    </p:extLst>
  </p:cSld>
  <p:clrMapOvr>
    <a:masterClrMapping/>
  </p:clrMapOvr>
  <p:transition spd="med">
    <p:zoom/>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641108CF-AC0E-5925-2C30-086A235A0CB2}"/>
              </a:ext>
            </a:extLst>
          </p:cNvPr>
          <p:cNvSpPr>
            <a:spLocks noGrp="1" noChangeArrowheads="1"/>
          </p:cNvSpPr>
          <p:nvPr>
            <p:ph type="title"/>
          </p:nvPr>
        </p:nvSpPr>
        <p:spPr/>
        <p:txBody>
          <a:bodyPr/>
          <a:lstStyle/>
          <a:p>
            <a:pPr eaLnBrk="1" hangingPunct="1"/>
            <a:r>
              <a:rPr lang="zh-CN" altLang="en-US" sz="4000"/>
              <a:t>填空题</a:t>
            </a:r>
            <a:r>
              <a:rPr lang="en-US" altLang="zh-CN" sz="4000"/>
              <a:t>1</a:t>
            </a:r>
          </a:p>
        </p:txBody>
      </p:sp>
      <p:sp>
        <p:nvSpPr>
          <p:cNvPr id="173058" name="Rectangle 3">
            <a:extLst>
              <a:ext uri="{FF2B5EF4-FFF2-40B4-BE49-F238E27FC236}">
                <a16:creationId xmlns:a16="http://schemas.microsoft.com/office/drawing/2014/main" id="{0C033DFA-A559-3941-16F5-86E786F06F03}"/>
              </a:ext>
            </a:extLst>
          </p:cNvPr>
          <p:cNvSpPr>
            <a:spLocks noGrp="1" noChangeArrowheads="1"/>
          </p:cNvSpPr>
          <p:nvPr>
            <p:ph idx="1"/>
          </p:nvPr>
        </p:nvSpPr>
        <p:spPr/>
        <p:txBody>
          <a:bodyPr/>
          <a:lstStyle/>
          <a:p>
            <a:pPr eaLnBrk="1" hangingPunct="1"/>
            <a:r>
              <a:rPr lang="zh-CN" altLang="en-US"/>
              <a:t>进行设备分配时所需的数据表格主要有 </a:t>
            </a:r>
            <a:r>
              <a:rPr lang="zh-CN" altLang="en-US" u="sng"/>
              <a:t>  ①  </a:t>
            </a:r>
            <a:r>
              <a:rPr lang="zh-CN" altLang="en-US"/>
              <a:t>、</a:t>
            </a:r>
            <a:r>
              <a:rPr lang="zh-CN" altLang="en-US" u="sng"/>
              <a:t>  ②  </a:t>
            </a:r>
            <a:r>
              <a:rPr lang="zh-CN" altLang="en-US"/>
              <a:t>、</a:t>
            </a:r>
            <a:r>
              <a:rPr lang="zh-CN" altLang="en-US" u="sng"/>
              <a:t>  ③  </a:t>
            </a:r>
            <a:r>
              <a:rPr lang="zh-CN" altLang="en-US"/>
              <a:t> 和 </a:t>
            </a:r>
            <a:r>
              <a:rPr lang="zh-CN" altLang="en-US" u="sng"/>
              <a:t>  ④   </a:t>
            </a:r>
            <a:r>
              <a:rPr lang="zh-CN" altLang="en-US"/>
              <a:t>。</a:t>
            </a:r>
          </a:p>
          <a:p>
            <a:pPr eaLnBrk="1" hangingPunct="1"/>
            <a:r>
              <a:rPr lang="zh-CN" altLang="en-US"/>
              <a:t>引起中断发生的事件称为 </a:t>
            </a:r>
            <a:r>
              <a:rPr lang="en-US" altLang="zh-CN"/>
              <a:t>_____ </a:t>
            </a:r>
            <a:r>
              <a:rPr lang="zh-CN" altLang="en-US"/>
              <a:t>。</a:t>
            </a:r>
          </a:p>
          <a:p>
            <a:pPr eaLnBrk="1" hangingPunct="1"/>
            <a:r>
              <a:rPr lang="zh-CN" altLang="en-US"/>
              <a:t>常用的</a:t>
            </a:r>
            <a:r>
              <a:rPr lang="en-US" altLang="zh-CN"/>
              <a:t>I/O</a:t>
            </a:r>
            <a:r>
              <a:rPr lang="zh-CN" altLang="en-US"/>
              <a:t>控制方式有程序直接控制方式、中断控制方式、</a:t>
            </a:r>
            <a:r>
              <a:rPr lang="zh-CN" altLang="en-US" u="sng"/>
              <a:t>  ①  </a:t>
            </a:r>
            <a:r>
              <a:rPr lang="zh-CN" altLang="en-US"/>
              <a:t> 和 </a:t>
            </a:r>
            <a:r>
              <a:rPr lang="zh-CN" altLang="en-US" u="sng"/>
              <a:t>  ②  </a:t>
            </a:r>
            <a:r>
              <a:rPr lang="zh-CN" altLang="en-US"/>
              <a:t> 。</a:t>
            </a:r>
          </a:p>
          <a:p>
            <a:pPr eaLnBrk="1" hangingPunct="1"/>
            <a:r>
              <a:rPr lang="zh-CN" altLang="en-US"/>
              <a:t>通道是一个独立于 </a:t>
            </a:r>
            <a:r>
              <a:rPr lang="zh-CN" altLang="en-US" u="sng"/>
              <a:t>  ①  </a:t>
            </a:r>
            <a:r>
              <a:rPr lang="zh-CN" altLang="en-US"/>
              <a:t> 的专管 </a:t>
            </a:r>
            <a:r>
              <a:rPr lang="zh-CN" altLang="en-US" u="sng"/>
              <a:t>  ②  </a:t>
            </a:r>
            <a:r>
              <a:rPr lang="zh-CN" altLang="en-US"/>
              <a:t> ，它控制 </a:t>
            </a:r>
            <a:r>
              <a:rPr lang="zh-CN" altLang="en-US" u="sng"/>
              <a:t>  ③  </a:t>
            </a:r>
            <a:r>
              <a:rPr lang="zh-CN" altLang="en-US"/>
              <a:t> 与内存之间的信息交换。</a:t>
            </a:r>
          </a:p>
        </p:txBody>
      </p:sp>
    </p:spTree>
  </p:cSld>
  <p:clrMapOvr>
    <a:masterClrMapping/>
  </p:clrMapOvr>
  <p:transition spd="med">
    <p:zoom/>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a:extLst>
              <a:ext uri="{FF2B5EF4-FFF2-40B4-BE49-F238E27FC236}">
                <a16:creationId xmlns:a16="http://schemas.microsoft.com/office/drawing/2014/main" id="{1B93C529-780F-D388-F691-946BD15EF5DB}"/>
              </a:ext>
            </a:extLst>
          </p:cNvPr>
          <p:cNvSpPr>
            <a:spLocks noGrp="1" noChangeArrowheads="1"/>
          </p:cNvSpPr>
          <p:nvPr>
            <p:ph type="title"/>
          </p:nvPr>
        </p:nvSpPr>
        <p:spPr/>
        <p:txBody>
          <a:bodyPr/>
          <a:lstStyle/>
          <a:p>
            <a:pPr eaLnBrk="1" hangingPunct="1"/>
            <a:r>
              <a:rPr lang="zh-CN" altLang="en-US" sz="4000"/>
              <a:t>填空题</a:t>
            </a:r>
            <a:r>
              <a:rPr lang="en-US" altLang="zh-CN" sz="4000"/>
              <a:t>2</a:t>
            </a:r>
          </a:p>
        </p:txBody>
      </p:sp>
      <p:sp>
        <p:nvSpPr>
          <p:cNvPr id="174082" name="Rectangle 3">
            <a:extLst>
              <a:ext uri="{FF2B5EF4-FFF2-40B4-BE49-F238E27FC236}">
                <a16:creationId xmlns:a16="http://schemas.microsoft.com/office/drawing/2014/main" id="{DCEA0EE9-93DD-7108-CB99-B2CB0682EBA9}"/>
              </a:ext>
            </a:extLst>
          </p:cNvPr>
          <p:cNvSpPr>
            <a:spLocks noGrp="1" noChangeArrowheads="1"/>
          </p:cNvSpPr>
          <p:nvPr>
            <p:ph idx="1"/>
          </p:nvPr>
        </p:nvSpPr>
        <p:spPr/>
        <p:txBody>
          <a:bodyPr>
            <a:normAutofit lnSpcReduction="10000"/>
          </a:bodyPr>
          <a:lstStyle/>
          <a:p>
            <a:pPr eaLnBrk="1" hangingPunct="1"/>
            <a:r>
              <a:rPr lang="en-US" altLang="zh-CN"/>
              <a:t>SPOOLing</a:t>
            </a:r>
            <a:r>
              <a:rPr lang="zh-CN" altLang="en-US"/>
              <a:t>系统是由磁盘中的 </a:t>
            </a:r>
            <a:r>
              <a:rPr lang="zh-CN" altLang="en-US" u="sng"/>
              <a:t>  ①  </a:t>
            </a:r>
            <a:r>
              <a:rPr lang="zh-CN" altLang="en-US"/>
              <a:t> 和 </a:t>
            </a:r>
            <a:r>
              <a:rPr lang="zh-CN" altLang="en-US" u="sng"/>
              <a:t>  ②  </a:t>
            </a:r>
            <a:r>
              <a:rPr lang="zh-CN" altLang="en-US"/>
              <a:t> ，内存中的 </a:t>
            </a:r>
            <a:r>
              <a:rPr lang="zh-CN" altLang="en-US" u="sng"/>
              <a:t>  ③  </a:t>
            </a:r>
            <a:r>
              <a:rPr lang="zh-CN" altLang="en-US"/>
              <a:t> 和 </a:t>
            </a:r>
            <a:r>
              <a:rPr lang="zh-CN" altLang="en-US" u="sng"/>
              <a:t>　④　　</a:t>
            </a:r>
            <a:r>
              <a:rPr lang="zh-CN" altLang="en-US"/>
              <a:t> 以及　</a:t>
            </a:r>
            <a:r>
              <a:rPr lang="zh-CN" altLang="en-US" u="sng"/>
              <a:t>　　⑤　　</a:t>
            </a:r>
            <a:r>
              <a:rPr lang="zh-CN" altLang="en-US"/>
              <a:t>　和　</a:t>
            </a:r>
            <a:r>
              <a:rPr lang="zh-CN" altLang="en-US" u="sng"/>
              <a:t>　　⑥ 　</a:t>
            </a:r>
            <a:r>
              <a:rPr lang="zh-CN" altLang="en-US"/>
              <a:t>　所构成。</a:t>
            </a:r>
          </a:p>
          <a:p>
            <a:pPr eaLnBrk="1" hangingPunct="1"/>
            <a:r>
              <a:rPr lang="zh-CN" altLang="en-US"/>
              <a:t>设备分配程序分配外部设备时，先分配 </a:t>
            </a:r>
            <a:r>
              <a:rPr lang="zh-CN" altLang="en-US" u="sng"/>
              <a:t>  ①  </a:t>
            </a:r>
            <a:r>
              <a:rPr lang="zh-CN" altLang="en-US"/>
              <a:t>，再分配 </a:t>
            </a:r>
            <a:r>
              <a:rPr lang="zh-CN" altLang="en-US" u="sng"/>
              <a:t>  ②  </a:t>
            </a:r>
            <a:r>
              <a:rPr lang="zh-CN" altLang="en-US"/>
              <a:t> ，最后分配</a:t>
            </a:r>
            <a:r>
              <a:rPr lang="zh-CN" altLang="en-US" u="sng"/>
              <a:t> ③  </a:t>
            </a:r>
            <a:r>
              <a:rPr lang="zh-CN" altLang="en-US"/>
              <a:t> 。</a:t>
            </a:r>
          </a:p>
          <a:p>
            <a:pPr eaLnBrk="1" hangingPunct="1"/>
            <a:r>
              <a:rPr lang="zh-CN" altLang="en-US"/>
              <a:t>中断方式适合于</a:t>
            </a:r>
            <a:r>
              <a:rPr lang="zh-CN" altLang="en-US" u="sng"/>
              <a:t>  ①  </a:t>
            </a:r>
            <a:r>
              <a:rPr lang="zh-CN" altLang="en-US"/>
              <a:t> ，</a:t>
            </a:r>
            <a:r>
              <a:rPr lang="en-US" altLang="zh-CN"/>
              <a:t>DMA</a:t>
            </a:r>
            <a:r>
              <a:rPr lang="zh-CN" altLang="en-US"/>
              <a:t>方式适合于 </a:t>
            </a:r>
            <a:r>
              <a:rPr lang="zh-CN" altLang="en-US" u="sng"/>
              <a:t>  ②  </a:t>
            </a:r>
            <a:r>
              <a:rPr lang="zh-CN" altLang="en-US"/>
              <a:t>。</a:t>
            </a:r>
          </a:p>
          <a:p>
            <a:pPr eaLnBrk="1" hangingPunct="1"/>
            <a:r>
              <a:rPr lang="zh-CN" altLang="en-US"/>
              <a:t>缓冲区的组织方式可分为</a:t>
            </a:r>
            <a:r>
              <a:rPr lang="zh-CN" altLang="en-US" u="sng"/>
              <a:t>  ①  </a:t>
            </a:r>
            <a:r>
              <a:rPr lang="zh-CN" altLang="en-US"/>
              <a:t> 、</a:t>
            </a:r>
            <a:r>
              <a:rPr lang="zh-CN" altLang="en-US" u="sng"/>
              <a:t>  ②  </a:t>
            </a:r>
            <a:r>
              <a:rPr lang="zh-CN" altLang="en-US"/>
              <a:t> 、</a:t>
            </a:r>
            <a:r>
              <a:rPr lang="zh-CN" altLang="en-US" u="sng"/>
              <a:t>  ③  </a:t>
            </a:r>
            <a:r>
              <a:rPr lang="zh-CN" altLang="en-US"/>
              <a:t> 和缓冲池。</a:t>
            </a:r>
          </a:p>
        </p:txBody>
      </p:sp>
    </p:spTree>
  </p:cSld>
  <p:clrMapOvr>
    <a:masterClrMapping/>
  </p:clrMapOvr>
  <p:transition spd="med">
    <p:zo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A19703A2-04EB-F02A-4869-28FC53190AF6}"/>
              </a:ext>
            </a:extLst>
          </p:cNvPr>
          <p:cNvSpPr>
            <a:spLocks noGrp="1" noChangeArrowheads="1"/>
          </p:cNvSpPr>
          <p:nvPr>
            <p:ph type="title"/>
          </p:nvPr>
        </p:nvSpPr>
        <p:spPr/>
        <p:txBody>
          <a:bodyPr/>
          <a:lstStyle/>
          <a:p>
            <a:pPr eaLnBrk="1" hangingPunct="1"/>
            <a:r>
              <a:rPr lang="zh-CN" altLang="en-US" sz="4000"/>
              <a:t>填空题</a:t>
            </a:r>
            <a:r>
              <a:rPr lang="en-US" altLang="zh-CN" sz="4000"/>
              <a:t>3</a:t>
            </a:r>
          </a:p>
        </p:txBody>
      </p:sp>
      <p:sp>
        <p:nvSpPr>
          <p:cNvPr id="175106" name="Rectangle 3">
            <a:extLst>
              <a:ext uri="{FF2B5EF4-FFF2-40B4-BE49-F238E27FC236}">
                <a16:creationId xmlns:a16="http://schemas.microsoft.com/office/drawing/2014/main" id="{50B8A46C-0A14-D5A8-94A6-9439D96618F2}"/>
              </a:ext>
            </a:extLst>
          </p:cNvPr>
          <p:cNvSpPr>
            <a:spLocks noGrp="1" noChangeArrowheads="1"/>
          </p:cNvSpPr>
          <p:nvPr>
            <p:ph idx="1"/>
          </p:nvPr>
        </p:nvSpPr>
        <p:spPr/>
        <p:txBody>
          <a:bodyPr/>
          <a:lstStyle/>
          <a:p>
            <a:pPr eaLnBrk="1" hangingPunct="1"/>
            <a:r>
              <a:rPr lang="zh-CN" altLang="en-US" dirty="0"/>
              <a:t>缓冲池中有三种类型的缓冲队列：</a:t>
            </a:r>
            <a:r>
              <a:rPr lang="zh-CN" altLang="en-US" u="sng" dirty="0"/>
              <a:t>  ①  </a:t>
            </a:r>
            <a:r>
              <a:rPr lang="zh-CN" altLang="en-US" dirty="0"/>
              <a:t> 、</a:t>
            </a:r>
            <a:r>
              <a:rPr lang="zh-CN" altLang="en-US" u="sng" dirty="0"/>
              <a:t>  ②  </a:t>
            </a:r>
            <a:r>
              <a:rPr lang="zh-CN" altLang="en-US" dirty="0"/>
              <a:t> 、</a:t>
            </a:r>
            <a:r>
              <a:rPr lang="zh-CN" altLang="en-US" u="sng" dirty="0"/>
              <a:t>  ③  </a:t>
            </a:r>
            <a:r>
              <a:rPr lang="zh-CN" altLang="en-US" dirty="0"/>
              <a:t>。</a:t>
            </a:r>
          </a:p>
          <a:p>
            <a:pPr eaLnBrk="1" hangingPunct="1"/>
            <a:r>
              <a:rPr lang="zh-CN" altLang="en-US" dirty="0"/>
              <a:t>大多数设备控制器由三部分构成：</a:t>
            </a:r>
            <a:r>
              <a:rPr lang="zh-CN" altLang="en-US" u="sng" dirty="0"/>
              <a:t>  ①  </a:t>
            </a:r>
            <a:r>
              <a:rPr lang="zh-CN" altLang="en-US" dirty="0"/>
              <a:t> 、</a:t>
            </a:r>
            <a:r>
              <a:rPr lang="zh-CN" altLang="en-US" u="sng" dirty="0"/>
              <a:t>  ②  </a:t>
            </a:r>
            <a:r>
              <a:rPr lang="zh-CN" altLang="en-US" dirty="0"/>
              <a:t> 、</a:t>
            </a:r>
            <a:r>
              <a:rPr lang="zh-CN" altLang="en-US" u="sng" dirty="0"/>
              <a:t>  ③  </a:t>
            </a:r>
            <a:r>
              <a:rPr lang="zh-CN" altLang="en-US" dirty="0"/>
              <a:t>。</a:t>
            </a:r>
            <a:endParaRPr lang="en-US" altLang="zh-CN" dirty="0"/>
          </a:p>
          <a:p>
            <a:pPr eaLnBrk="1" hangingPunct="1"/>
            <a:r>
              <a:rPr lang="zh-CN" altLang="en-US" dirty="0"/>
              <a:t>活动头磁盘的访问时间包括 </a:t>
            </a:r>
            <a:r>
              <a:rPr lang="zh-CN" altLang="en-US" u="sng" dirty="0"/>
              <a:t>  ①  </a:t>
            </a:r>
            <a:r>
              <a:rPr lang="zh-CN" altLang="en-US" dirty="0"/>
              <a:t> 、</a:t>
            </a:r>
            <a:r>
              <a:rPr lang="zh-CN" altLang="en-US" u="sng" dirty="0"/>
              <a:t>  ②  </a:t>
            </a:r>
            <a:r>
              <a:rPr lang="zh-CN" altLang="en-US" dirty="0"/>
              <a:t> 和 </a:t>
            </a:r>
            <a:r>
              <a:rPr lang="zh-CN" altLang="en-US" u="sng" dirty="0"/>
              <a:t>  ③  </a:t>
            </a:r>
            <a:r>
              <a:rPr lang="zh-CN" altLang="en-US" dirty="0"/>
              <a:t> 。 </a:t>
            </a:r>
          </a:p>
          <a:p>
            <a:pPr eaLnBrk="1" hangingPunct="1"/>
            <a:r>
              <a:rPr lang="en-US" altLang="zh-CN" dirty="0"/>
              <a:t>_____ </a:t>
            </a:r>
            <a:r>
              <a:rPr lang="zh-CN" altLang="en-US" dirty="0"/>
              <a:t>算法选择与当前磁头所在磁道距离最近的请求作为下一次服务的对象。 </a:t>
            </a:r>
          </a:p>
          <a:p>
            <a:pPr eaLnBrk="1" hangingPunct="1"/>
            <a:endParaRPr lang="zh-CN" altLang="en-US" dirty="0"/>
          </a:p>
        </p:txBody>
      </p:sp>
    </p:spTree>
  </p:cSld>
  <p:clrMapOvr>
    <a:masterClrMapping/>
  </p:clrMapOvr>
  <p:transition spd="med">
    <p:zoom/>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a:extLst>
              <a:ext uri="{FF2B5EF4-FFF2-40B4-BE49-F238E27FC236}">
                <a16:creationId xmlns:a16="http://schemas.microsoft.com/office/drawing/2014/main" id="{9A882D4C-8C52-9F6A-5928-2F50AA0FE017}"/>
              </a:ext>
            </a:extLst>
          </p:cNvPr>
          <p:cNvSpPr>
            <a:spLocks noGrp="1" noChangeArrowheads="1"/>
          </p:cNvSpPr>
          <p:nvPr>
            <p:ph type="title"/>
          </p:nvPr>
        </p:nvSpPr>
        <p:spPr/>
        <p:txBody>
          <a:bodyPr/>
          <a:lstStyle/>
          <a:p>
            <a:pPr eaLnBrk="1" hangingPunct="1"/>
            <a:r>
              <a:rPr lang="zh-CN" altLang="en-US"/>
              <a:t>考研题</a:t>
            </a:r>
            <a:r>
              <a:rPr lang="en-US" altLang="zh-CN"/>
              <a:t>1</a:t>
            </a:r>
          </a:p>
        </p:txBody>
      </p:sp>
      <p:sp>
        <p:nvSpPr>
          <p:cNvPr id="176130" name="Rectangle 3">
            <a:extLst>
              <a:ext uri="{FF2B5EF4-FFF2-40B4-BE49-F238E27FC236}">
                <a16:creationId xmlns:a16="http://schemas.microsoft.com/office/drawing/2014/main" id="{BED14656-6A5C-1C1C-00DD-EE0783FBD8C0}"/>
              </a:ext>
            </a:extLst>
          </p:cNvPr>
          <p:cNvSpPr>
            <a:spLocks noGrp="1" noChangeArrowheads="1"/>
          </p:cNvSpPr>
          <p:nvPr>
            <p:ph idx="1"/>
          </p:nvPr>
        </p:nvSpPr>
        <p:spPr>
          <a:xfrm>
            <a:off x="1125538" y="1196975"/>
            <a:ext cx="7807325" cy="4772025"/>
          </a:xfrm>
        </p:spPr>
        <p:txBody>
          <a:bodyPr/>
          <a:lstStyle/>
          <a:p>
            <a:pPr eaLnBrk="1" hangingPunct="1"/>
            <a:r>
              <a:rPr lang="zh-CN" altLang="en-US"/>
              <a:t>程序员利用系统调用打开</a:t>
            </a:r>
            <a:r>
              <a:rPr lang="en-US" altLang="zh-CN"/>
              <a:t>I/O</a:t>
            </a:r>
            <a:r>
              <a:rPr lang="zh-CN" altLang="en-US"/>
              <a:t>设备时，通常使用的设备标识是（）。</a:t>
            </a:r>
            <a:r>
              <a:rPr lang="en-US" altLang="zh-CN"/>
              <a:t>09</a:t>
            </a:r>
          </a:p>
          <a:p>
            <a:pPr eaLnBrk="1" hangingPunct="1">
              <a:buFont typeface="Wingdings" pitchFamily="2" charset="2"/>
              <a:buNone/>
            </a:pPr>
            <a:r>
              <a:rPr lang="en-US" altLang="zh-CN"/>
              <a:t>   A</a:t>
            </a:r>
            <a:r>
              <a:rPr lang="zh-CN" altLang="en-US"/>
              <a:t>、逻辑设备名      </a:t>
            </a:r>
            <a:r>
              <a:rPr lang="en-US" altLang="zh-CN"/>
              <a:t>B</a:t>
            </a:r>
            <a:r>
              <a:rPr lang="zh-CN" altLang="en-US"/>
              <a:t>、物理设备名</a:t>
            </a:r>
          </a:p>
          <a:p>
            <a:pPr eaLnBrk="1" hangingPunct="1">
              <a:buFont typeface="Wingdings" pitchFamily="2" charset="2"/>
              <a:buNone/>
            </a:pPr>
            <a:r>
              <a:rPr lang="zh-CN" altLang="en-US"/>
              <a:t>   </a:t>
            </a:r>
            <a:r>
              <a:rPr lang="en-US" altLang="zh-CN"/>
              <a:t>C</a:t>
            </a:r>
            <a:r>
              <a:rPr lang="zh-CN" altLang="en-US"/>
              <a:t>、主设备号         </a:t>
            </a:r>
            <a:r>
              <a:rPr lang="en-US" altLang="zh-CN"/>
              <a:t>D</a:t>
            </a:r>
            <a:r>
              <a:rPr lang="zh-CN" altLang="en-US"/>
              <a:t>、从设备号</a:t>
            </a:r>
          </a:p>
          <a:p>
            <a:pPr eaLnBrk="1" hangingPunct="1"/>
            <a:r>
              <a:rPr lang="zh-CN" altLang="en-US"/>
              <a:t>下列选项中，能引起外部中断的事件是（）。</a:t>
            </a:r>
          </a:p>
          <a:p>
            <a:pPr eaLnBrk="1" hangingPunct="1">
              <a:buFont typeface="Wingdings" pitchFamily="2" charset="2"/>
              <a:buNone/>
            </a:pPr>
            <a:r>
              <a:rPr lang="en-US" altLang="zh-CN"/>
              <a:t>    A</a:t>
            </a:r>
            <a:r>
              <a:rPr lang="zh-CN" altLang="en-US"/>
              <a:t>、键盘输入           </a:t>
            </a:r>
            <a:r>
              <a:rPr lang="en-US" altLang="zh-CN"/>
              <a:t>B</a:t>
            </a:r>
            <a:r>
              <a:rPr lang="zh-CN" altLang="en-US"/>
              <a:t>、除数为</a:t>
            </a:r>
            <a:r>
              <a:rPr lang="en-US" altLang="zh-CN"/>
              <a:t>0</a:t>
            </a:r>
          </a:p>
          <a:p>
            <a:pPr eaLnBrk="1" hangingPunct="1">
              <a:buFont typeface="Wingdings" pitchFamily="2" charset="2"/>
              <a:buNone/>
            </a:pPr>
            <a:r>
              <a:rPr lang="en-US" altLang="zh-CN"/>
              <a:t>    C</a:t>
            </a:r>
            <a:r>
              <a:rPr lang="zh-CN" altLang="en-US"/>
              <a:t>、浮点运算下溢       </a:t>
            </a:r>
            <a:r>
              <a:rPr lang="en-US" altLang="zh-CN"/>
              <a:t>D</a:t>
            </a:r>
            <a:r>
              <a:rPr lang="zh-CN" altLang="en-US"/>
              <a:t>、访存缺页</a:t>
            </a:r>
          </a:p>
        </p:txBody>
      </p:sp>
    </p:spTree>
  </p:cSld>
  <p:clrMapOvr>
    <a:masterClrMapping/>
  </p:clrMapOvr>
  <p:transition spd="med">
    <p:zoom/>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8A1B2031-082F-DA61-4C8D-2EE5856BA18E}"/>
              </a:ext>
            </a:extLst>
          </p:cNvPr>
          <p:cNvSpPr>
            <a:spLocks noGrp="1" noChangeArrowheads="1"/>
          </p:cNvSpPr>
          <p:nvPr>
            <p:ph type="title"/>
          </p:nvPr>
        </p:nvSpPr>
        <p:spPr/>
        <p:txBody>
          <a:bodyPr/>
          <a:lstStyle/>
          <a:p>
            <a:pPr eaLnBrk="1" hangingPunct="1"/>
            <a:r>
              <a:rPr lang="zh-CN" altLang="en-US"/>
              <a:t>考研题</a:t>
            </a:r>
            <a:r>
              <a:rPr lang="en-US" altLang="zh-CN"/>
              <a:t>2</a:t>
            </a:r>
          </a:p>
        </p:txBody>
      </p:sp>
      <p:sp>
        <p:nvSpPr>
          <p:cNvPr id="177154" name="Rectangle 3">
            <a:extLst>
              <a:ext uri="{FF2B5EF4-FFF2-40B4-BE49-F238E27FC236}">
                <a16:creationId xmlns:a16="http://schemas.microsoft.com/office/drawing/2014/main" id="{8B27FC44-E689-AC26-B9F9-701BDAD36F66}"/>
              </a:ext>
            </a:extLst>
          </p:cNvPr>
          <p:cNvSpPr>
            <a:spLocks noGrp="1" noChangeArrowheads="1"/>
          </p:cNvSpPr>
          <p:nvPr>
            <p:ph idx="1"/>
          </p:nvPr>
        </p:nvSpPr>
        <p:spPr>
          <a:xfrm>
            <a:off x="1125538" y="1196975"/>
            <a:ext cx="7807325" cy="5184775"/>
          </a:xfrm>
        </p:spPr>
        <p:txBody>
          <a:bodyPr/>
          <a:lstStyle/>
          <a:p>
            <a:pPr eaLnBrk="1" hangingPunct="1"/>
            <a:r>
              <a:rPr lang="zh-CN" altLang="en-US"/>
              <a:t>本地用户通过键盘登陆系统时，首先获得键盘输入信息的程序是</a:t>
            </a:r>
            <a:r>
              <a:rPr lang="zh-CN" altLang="en-US" u="sng"/>
              <a:t>      </a:t>
            </a:r>
            <a:r>
              <a:rPr lang="zh-CN" altLang="en-US"/>
              <a:t>。</a:t>
            </a:r>
            <a:r>
              <a:rPr lang="en-US" altLang="zh-CN"/>
              <a:t>10</a:t>
            </a:r>
          </a:p>
          <a:p>
            <a:pPr eaLnBrk="1" hangingPunct="1">
              <a:buFont typeface="Wingdings" pitchFamily="2" charset="2"/>
              <a:buNone/>
            </a:pPr>
            <a:r>
              <a:rPr lang="en-US" altLang="zh-CN"/>
              <a:t>A.</a:t>
            </a:r>
            <a:r>
              <a:rPr lang="zh-CN" altLang="en-US"/>
              <a:t>命令解释程序		</a:t>
            </a:r>
            <a:r>
              <a:rPr lang="en-US" altLang="zh-CN"/>
              <a:t>B.</a:t>
            </a:r>
            <a:r>
              <a:rPr lang="zh-CN" altLang="en-US"/>
              <a:t>中断处理程序</a:t>
            </a:r>
          </a:p>
          <a:p>
            <a:pPr eaLnBrk="1" hangingPunct="1">
              <a:buFont typeface="Wingdings" pitchFamily="2" charset="2"/>
              <a:buNone/>
            </a:pPr>
            <a:r>
              <a:rPr lang="en-US" altLang="zh-CN"/>
              <a:t>C.</a:t>
            </a:r>
            <a:r>
              <a:rPr lang="zh-CN" altLang="en-US"/>
              <a:t>系统调用程序		</a:t>
            </a:r>
            <a:r>
              <a:rPr lang="en-US" altLang="zh-CN"/>
              <a:t>D.</a:t>
            </a:r>
            <a:r>
              <a:rPr lang="zh-CN" altLang="en-US"/>
              <a:t>用户登陆程序</a:t>
            </a:r>
          </a:p>
        </p:txBody>
      </p:sp>
    </p:spTree>
  </p:cSld>
  <p:clrMapOvr>
    <a:masterClrMapping/>
  </p:clrMapOvr>
  <p:transition spd="med">
    <p:zoom/>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a:extLst>
              <a:ext uri="{FF2B5EF4-FFF2-40B4-BE49-F238E27FC236}">
                <a16:creationId xmlns:a16="http://schemas.microsoft.com/office/drawing/2014/main" id="{5813AC25-5AC6-60C4-77A4-F9129A82929C}"/>
              </a:ext>
            </a:extLst>
          </p:cNvPr>
          <p:cNvSpPr>
            <a:spLocks noGrp="1" noChangeArrowheads="1"/>
          </p:cNvSpPr>
          <p:nvPr>
            <p:ph type="title"/>
          </p:nvPr>
        </p:nvSpPr>
        <p:spPr/>
        <p:txBody>
          <a:bodyPr/>
          <a:lstStyle/>
          <a:p>
            <a:pPr eaLnBrk="1" hangingPunct="1"/>
            <a:r>
              <a:rPr lang="zh-CN" altLang="en-US"/>
              <a:t>考研题</a:t>
            </a:r>
            <a:r>
              <a:rPr lang="en-US" altLang="zh-CN"/>
              <a:t>3</a:t>
            </a:r>
          </a:p>
        </p:txBody>
      </p:sp>
      <p:sp>
        <p:nvSpPr>
          <p:cNvPr id="178178" name="Rectangle 3">
            <a:extLst>
              <a:ext uri="{FF2B5EF4-FFF2-40B4-BE49-F238E27FC236}">
                <a16:creationId xmlns:a16="http://schemas.microsoft.com/office/drawing/2014/main" id="{4A0827F8-31BC-1749-5A7F-FDCDFC09E17A}"/>
              </a:ext>
            </a:extLst>
          </p:cNvPr>
          <p:cNvSpPr>
            <a:spLocks noGrp="1" noChangeArrowheads="1"/>
          </p:cNvSpPr>
          <p:nvPr>
            <p:ph idx="1"/>
          </p:nvPr>
        </p:nvSpPr>
        <p:spPr>
          <a:xfrm>
            <a:off x="1125538" y="1196975"/>
            <a:ext cx="7807325" cy="5184775"/>
          </a:xfrm>
        </p:spPr>
        <p:txBody>
          <a:bodyPr/>
          <a:lstStyle/>
          <a:p>
            <a:pPr eaLnBrk="1" hangingPunct="1">
              <a:lnSpc>
                <a:spcPct val="90000"/>
              </a:lnSpc>
            </a:pPr>
            <a:r>
              <a:rPr lang="zh-CN" altLang="en-US"/>
              <a:t>用户程序发出磁盘</a:t>
            </a:r>
            <a:r>
              <a:rPr lang="en-US" altLang="zh-CN"/>
              <a:t>I/O</a:t>
            </a:r>
            <a:r>
              <a:rPr lang="zh-CN" altLang="en-US"/>
              <a:t>请求后，系统的正确处理流程是</a:t>
            </a:r>
            <a:r>
              <a:rPr lang="en-US" altLang="zh-CN"/>
              <a:t>______</a:t>
            </a:r>
            <a:r>
              <a:rPr lang="zh-CN" altLang="en-US"/>
              <a:t>。</a:t>
            </a:r>
          </a:p>
          <a:p>
            <a:pPr eaLnBrk="1" hangingPunct="1">
              <a:lnSpc>
                <a:spcPct val="90000"/>
              </a:lnSpc>
              <a:buFont typeface="Wingdings" pitchFamily="2" charset="2"/>
              <a:buNone/>
            </a:pPr>
            <a:r>
              <a:rPr lang="en-US" altLang="zh-CN"/>
              <a:t>   A</a:t>
            </a:r>
            <a:r>
              <a:rPr lang="zh-CN" altLang="en-US"/>
              <a:t>、用户程序→系统调用处理程序→中断处理程序→设备驱动程序</a:t>
            </a:r>
          </a:p>
          <a:p>
            <a:pPr eaLnBrk="1" hangingPunct="1">
              <a:lnSpc>
                <a:spcPct val="90000"/>
              </a:lnSpc>
              <a:buFont typeface="Wingdings" pitchFamily="2" charset="2"/>
              <a:buNone/>
            </a:pPr>
            <a:r>
              <a:rPr lang="en-US" altLang="zh-CN"/>
              <a:t>   B</a:t>
            </a:r>
            <a:r>
              <a:rPr lang="zh-CN" altLang="en-US"/>
              <a:t>、用户程序→系统调用处理程序→设备驱动程序→中断处理程序</a:t>
            </a:r>
          </a:p>
          <a:p>
            <a:pPr eaLnBrk="1" hangingPunct="1">
              <a:lnSpc>
                <a:spcPct val="90000"/>
              </a:lnSpc>
              <a:buFont typeface="Wingdings" pitchFamily="2" charset="2"/>
              <a:buNone/>
            </a:pPr>
            <a:r>
              <a:rPr lang="en-US" altLang="zh-CN"/>
              <a:t>  C</a:t>
            </a:r>
            <a:r>
              <a:rPr lang="zh-CN" altLang="en-US"/>
              <a:t>、用户程序→设备驱动程序→系统调用处理程序→中断处理程序</a:t>
            </a:r>
          </a:p>
          <a:p>
            <a:pPr eaLnBrk="1" hangingPunct="1">
              <a:lnSpc>
                <a:spcPct val="90000"/>
              </a:lnSpc>
              <a:buFont typeface="Wingdings" pitchFamily="2" charset="2"/>
              <a:buNone/>
            </a:pPr>
            <a:r>
              <a:rPr lang="en-US" altLang="zh-CN"/>
              <a:t>  D</a:t>
            </a:r>
            <a:r>
              <a:rPr lang="zh-CN" altLang="en-US"/>
              <a:t>、用户程序→设备驱动程序→中断处理程序→系统调用处理程序</a:t>
            </a:r>
          </a:p>
        </p:txBody>
      </p:sp>
    </p:spTree>
  </p:cSld>
  <p:clrMapOvr>
    <a:masterClrMapping/>
  </p:clrMapOvr>
  <p:transition spd="med">
    <p:zoom/>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AE18B76B-6566-1465-4EA4-A11DA8F1CB25}"/>
              </a:ext>
            </a:extLst>
          </p:cNvPr>
          <p:cNvSpPr>
            <a:spLocks noGrp="1" noChangeArrowheads="1"/>
          </p:cNvSpPr>
          <p:nvPr>
            <p:ph type="title"/>
          </p:nvPr>
        </p:nvSpPr>
        <p:spPr>
          <a:xfrm>
            <a:off x="1042988" y="225431"/>
            <a:ext cx="7850187" cy="746125"/>
          </a:xfrm>
        </p:spPr>
        <p:txBody>
          <a:bodyPr/>
          <a:lstStyle/>
          <a:p>
            <a:r>
              <a:rPr lang="zh-CN" altLang="en-US"/>
              <a:t>考研题</a:t>
            </a:r>
            <a:r>
              <a:rPr lang="en-US" altLang="zh-CN"/>
              <a:t>4</a:t>
            </a:r>
          </a:p>
        </p:txBody>
      </p:sp>
      <p:sp>
        <p:nvSpPr>
          <p:cNvPr id="179202" name="Rectangle 3">
            <a:extLst>
              <a:ext uri="{FF2B5EF4-FFF2-40B4-BE49-F238E27FC236}">
                <a16:creationId xmlns:a16="http://schemas.microsoft.com/office/drawing/2014/main" id="{DCDA92D4-C08D-D704-7A40-38108CD4DBA6}"/>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某文件占</a:t>
            </a:r>
            <a:r>
              <a:rPr lang="en-US" altLang="zh-CN"/>
              <a:t>10</a:t>
            </a:r>
            <a:r>
              <a:rPr lang="zh-CN" altLang="en-US"/>
              <a:t>个磁盘块，现要把该文件磁盘块逐个读入主存缓冲区，并送用户区进行分析。假设一个缓冲区与一个磁盘块大小相同，把一个磁盘块读入缓存的时间为</a:t>
            </a:r>
            <a:r>
              <a:rPr lang="en-US" altLang="zh-CN"/>
              <a:t>100μs</a:t>
            </a:r>
            <a:r>
              <a:rPr lang="zh-CN" altLang="en-US"/>
              <a:t>，将缓冲区的数据传送到用户区的时间是</a:t>
            </a:r>
            <a:r>
              <a:rPr lang="en-US" altLang="zh-CN"/>
              <a:t>50μs</a:t>
            </a:r>
            <a:r>
              <a:rPr lang="zh-CN" altLang="en-US"/>
              <a:t>，</a:t>
            </a:r>
            <a:r>
              <a:rPr lang="en-US" altLang="zh-CN"/>
              <a:t>CPU</a:t>
            </a:r>
            <a:r>
              <a:rPr lang="zh-CN" altLang="en-US"/>
              <a:t>对一块数据进行分析的时间是</a:t>
            </a:r>
            <a:r>
              <a:rPr lang="en-US" altLang="zh-CN"/>
              <a:t>50μs</a:t>
            </a:r>
            <a:r>
              <a:rPr lang="zh-CN" altLang="en-US"/>
              <a:t>。在单缓冲区及双缓冲区结构下，读入并分析完该文件的时间分别是</a:t>
            </a:r>
            <a:r>
              <a:rPr lang="en-US" altLang="zh-CN"/>
              <a:t>____</a:t>
            </a:r>
            <a:r>
              <a:rPr lang="zh-CN" altLang="en-US"/>
              <a:t>。</a:t>
            </a:r>
            <a:r>
              <a:rPr lang="en-US" altLang="zh-CN"/>
              <a:t>11</a:t>
            </a:r>
          </a:p>
          <a:p>
            <a:r>
              <a:rPr lang="en-US" altLang="zh-CN"/>
              <a:t>A</a:t>
            </a:r>
            <a:r>
              <a:rPr lang="zh-CN" altLang="en-US"/>
              <a:t>、</a:t>
            </a:r>
            <a:r>
              <a:rPr lang="en-US" altLang="zh-CN"/>
              <a:t>1500μs </a:t>
            </a:r>
            <a:r>
              <a:rPr lang="zh-CN" altLang="en-US"/>
              <a:t>，</a:t>
            </a:r>
            <a:r>
              <a:rPr lang="en-US" altLang="zh-CN"/>
              <a:t>1000μs   B</a:t>
            </a:r>
            <a:r>
              <a:rPr lang="zh-CN" altLang="en-US"/>
              <a:t>、</a:t>
            </a:r>
            <a:r>
              <a:rPr lang="en-US" altLang="zh-CN"/>
              <a:t>1550μs </a:t>
            </a:r>
            <a:r>
              <a:rPr lang="zh-CN" altLang="en-US"/>
              <a:t>，</a:t>
            </a:r>
            <a:r>
              <a:rPr lang="en-US" altLang="zh-CN"/>
              <a:t>1100μs </a:t>
            </a:r>
          </a:p>
          <a:p>
            <a:r>
              <a:rPr lang="en-US" altLang="zh-CN"/>
              <a:t>C</a:t>
            </a:r>
            <a:r>
              <a:rPr lang="zh-CN" altLang="en-US"/>
              <a:t>、</a:t>
            </a:r>
            <a:r>
              <a:rPr lang="en-US" altLang="zh-CN"/>
              <a:t>1550μs </a:t>
            </a:r>
            <a:r>
              <a:rPr lang="zh-CN" altLang="en-US"/>
              <a:t>，</a:t>
            </a:r>
            <a:r>
              <a:rPr lang="en-US" altLang="zh-CN"/>
              <a:t>1550μs  D</a:t>
            </a:r>
            <a:r>
              <a:rPr lang="zh-CN" altLang="en-US"/>
              <a:t>、</a:t>
            </a:r>
            <a:r>
              <a:rPr lang="en-US" altLang="zh-CN"/>
              <a:t>2000μs</a:t>
            </a:r>
            <a:r>
              <a:rPr lang="zh-CN" altLang="en-US"/>
              <a:t>，</a:t>
            </a:r>
            <a:r>
              <a:rPr lang="en-US" altLang="zh-CN"/>
              <a:t>2000μs</a:t>
            </a:r>
            <a:endParaRPr lang="zh-CN" altLang="en-US"/>
          </a:p>
        </p:txBody>
      </p:sp>
    </p:spTree>
  </p:cSld>
  <p:clrMapOvr>
    <a:masterClrMapping/>
  </p:clrMapOvr>
  <p:transition spd="med">
    <p:zoom/>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a:extLst>
              <a:ext uri="{FF2B5EF4-FFF2-40B4-BE49-F238E27FC236}">
                <a16:creationId xmlns:a16="http://schemas.microsoft.com/office/drawing/2014/main" id="{1DEE8C2F-D04A-DB79-2F8C-159A0D83834C}"/>
              </a:ext>
            </a:extLst>
          </p:cNvPr>
          <p:cNvSpPr>
            <a:spLocks noGrp="1" noChangeArrowheads="1"/>
          </p:cNvSpPr>
          <p:nvPr>
            <p:ph type="title"/>
          </p:nvPr>
        </p:nvSpPr>
        <p:spPr/>
        <p:txBody>
          <a:bodyPr/>
          <a:lstStyle/>
          <a:p>
            <a:pPr eaLnBrk="1" hangingPunct="1"/>
            <a:r>
              <a:rPr lang="zh-CN" altLang="en-US"/>
              <a:t>考研题</a:t>
            </a:r>
            <a:r>
              <a:rPr lang="en-US" altLang="zh-CN"/>
              <a:t>5</a:t>
            </a:r>
          </a:p>
        </p:txBody>
      </p:sp>
      <p:sp>
        <p:nvSpPr>
          <p:cNvPr id="180226" name="Rectangle 3">
            <a:extLst>
              <a:ext uri="{FF2B5EF4-FFF2-40B4-BE49-F238E27FC236}">
                <a16:creationId xmlns:a16="http://schemas.microsoft.com/office/drawing/2014/main" id="{8D3C6990-BB23-1E94-941C-7826692C2D6F}"/>
              </a:ext>
            </a:extLst>
          </p:cNvPr>
          <p:cNvSpPr>
            <a:spLocks noGrp="1" noChangeArrowheads="1"/>
          </p:cNvSpPr>
          <p:nvPr>
            <p:ph idx="1"/>
          </p:nvPr>
        </p:nvSpPr>
        <p:spPr>
          <a:xfrm>
            <a:off x="250825" y="1125538"/>
            <a:ext cx="8682038" cy="5472112"/>
          </a:xfrm>
        </p:spPr>
        <p:txBody>
          <a:bodyPr/>
          <a:lstStyle/>
          <a:p>
            <a:pPr eaLnBrk="1" hangingPunct="1">
              <a:lnSpc>
                <a:spcPct val="120000"/>
              </a:lnSpc>
            </a:pPr>
            <a:r>
              <a:rPr lang="zh-CN" altLang="zh-CN" sz="2400"/>
              <a:t>中断处理和子程序调用都需要压栈保护现场，中断处理一定会保存而子程序调用不需要保存其内容的是（）。</a:t>
            </a:r>
            <a:r>
              <a:rPr lang="zh-CN" altLang="en-US" sz="2400"/>
              <a:t>1</a:t>
            </a:r>
            <a:r>
              <a:rPr lang="en-US" altLang="zh-CN" sz="2400"/>
              <a:t>2</a:t>
            </a:r>
          </a:p>
          <a:p>
            <a:pPr eaLnBrk="1" hangingPunct="1">
              <a:lnSpc>
                <a:spcPct val="120000"/>
              </a:lnSpc>
              <a:buFont typeface="Wingdings" pitchFamily="2" charset="2"/>
              <a:buNone/>
            </a:pPr>
            <a:r>
              <a:rPr lang="en-US" altLang="zh-CN" sz="2400"/>
              <a:t>   A</a:t>
            </a:r>
            <a:r>
              <a:rPr lang="zh-CN" altLang="en-US" sz="2400"/>
              <a:t>．程序计数器           </a:t>
            </a:r>
            <a:r>
              <a:rPr lang="en-US" altLang="zh-CN" sz="2400"/>
              <a:t>B.</a:t>
            </a:r>
            <a:r>
              <a:rPr lang="zh-CN" altLang="en-US" sz="2400"/>
              <a:t>程序状态寄存器</a:t>
            </a:r>
          </a:p>
          <a:p>
            <a:pPr eaLnBrk="1" hangingPunct="1">
              <a:lnSpc>
                <a:spcPct val="120000"/>
              </a:lnSpc>
              <a:buFont typeface="Wingdings" pitchFamily="2" charset="2"/>
              <a:buNone/>
            </a:pPr>
            <a:r>
              <a:rPr lang="en-US" altLang="zh-CN" sz="2400"/>
              <a:t>   C</a:t>
            </a:r>
            <a:r>
              <a:rPr lang="zh-CN" altLang="en-US" sz="2400"/>
              <a:t>．通用数据寄存器     </a:t>
            </a:r>
            <a:r>
              <a:rPr lang="en-US" altLang="zh-CN" sz="2400"/>
              <a:t>D.</a:t>
            </a:r>
            <a:r>
              <a:rPr lang="zh-CN" altLang="en-US" sz="2400"/>
              <a:t>通用地址寄存器</a:t>
            </a:r>
          </a:p>
          <a:p>
            <a:pPr eaLnBrk="1" hangingPunct="1">
              <a:lnSpc>
                <a:spcPct val="120000"/>
              </a:lnSpc>
            </a:pPr>
            <a:r>
              <a:rPr lang="zh-CN" altLang="en-US" sz="2400"/>
              <a:t>操作系统的</a:t>
            </a:r>
            <a:r>
              <a:rPr lang="en-US" altLang="zh-CN" sz="2400"/>
              <a:t>I/O</a:t>
            </a:r>
            <a:r>
              <a:rPr lang="zh-CN" altLang="en-US" sz="2400"/>
              <a:t>子系统通常由四个层次组成，每一层明确定义了与邻近层次的接口。其合理的层次组织排列顺序是</a:t>
            </a:r>
            <a:r>
              <a:rPr lang="en-US" altLang="zh-CN" sz="2400"/>
              <a:t>()</a:t>
            </a:r>
            <a:r>
              <a:rPr lang="zh-CN" altLang="en-US" sz="2400"/>
              <a:t>。</a:t>
            </a:r>
            <a:r>
              <a:rPr lang="en-US" altLang="zh-CN" sz="2400"/>
              <a:t>12</a:t>
            </a:r>
          </a:p>
          <a:p>
            <a:pPr eaLnBrk="1" hangingPunct="1">
              <a:lnSpc>
                <a:spcPct val="120000"/>
              </a:lnSpc>
              <a:buFont typeface="Wingdings" pitchFamily="2" charset="2"/>
              <a:buNone/>
            </a:pPr>
            <a:r>
              <a:rPr lang="en-US" altLang="zh-CN" sz="2200"/>
              <a:t>A</a:t>
            </a:r>
            <a:r>
              <a:rPr lang="zh-CN" altLang="en-US" sz="2200"/>
              <a:t>、用户级</a:t>
            </a:r>
            <a:r>
              <a:rPr lang="en-US" altLang="zh-CN" sz="2200"/>
              <a:t>I/O</a:t>
            </a:r>
            <a:r>
              <a:rPr lang="zh-CN" altLang="en-US" sz="2200"/>
              <a:t>软件、设备无关软件、设备驱动程序、中断处理程序</a:t>
            </a:r>
          </a:p>
          <a:p>
            <a:pPr eaLnBrk="1" hangingPunct="1">
              <a:lnSpc>
                <a:spcPct val="120000"/>
              </a:lnSpc>
              <a:buFont typeface="Wingdings" pitchFamily="2" charset="2"/>
              <a:buNone/>
            </a:pPr>
            <a:r>
              <a:rPr lang="en-US" altLang="zh-CN" sz="2200"/>
              <a:t>B</a:t>
            </a:r>
            <a:r>
              <a:rPr lang="zh-CN" altLang="en-US" sz="2200"/>
              <a:t>、用户级</a:t>
            </a:r>
            <a:r>
              <a:rPr lang="en-US" altLang="zh-CN" sz="2200"/>
              <a:t>I/O</a:t>
            </a:r>
            <a:r>
              <a:rPr lang="zh-CN" altLang="en-US" sz="2200"/>
              <a:t>软件、设备无关软件、中断处理程序、设备驱动程序</a:t>
            </a:r>
          </a:p>
          <a:p>
            <a:pPr eaLnBrk="1" hangingPunct="1">
              <a:lnSpc>
                <a:spcPct val="120000"/>
              </a:lnSpc>
              <a:buFont typeface="Wingdings" pitchFamily="2" charset="2"/>
              <a:buNone/>
            </a:pPr>
            <a:r>
              <a:rPr lang="en-US" altLang="zh-CN" sz="2200"/>
              <a:t>C</a:t>
            </a:r>
            <a:r>
              <a:rPr lang="zh-CN" altLang="en-US" sz="2200"/>
              <a:t>、用户级</a:t>
            </a:r>
            <a:r>
              <a:rPr lang="en-US" altLang="zh-CN" sz="2200"/>
              <a:t>I/O</a:t>
            </a:r>
            <a:r>
              <a:rPr lang="zh-CN" altLang="en-US" sz="2200"/>
              <a:t>软件、设备驱动程序、设备无关软件、中断处理程序</a:t>
            </a:r>
          </a:p>
          <a:p>
            <a:pPr eaLnBrk="1" hangingPunct="1">
              <a:lnSpc>
                <a:spcPct val="120000"/>
              </a:lnSpc>
              <a:buFont typeface="Wingdings" pitchFamily="2" charset="2"/>
              <a:buNone/>
            </a:pPr>
            <a:r>
              <a:rPr lang="en-US" altLang="zh-CN" sz="2200"/>
              <a:t>D</a:t>
            </a:r>
            <a:r>
              <a:rPr lang="zh-CN" altLang="en-US" sz="2200"/>
              <a:t>、用户级</a:t>
            </a:r>
            <a:r>
              <a:rPr lang="en-US" altLang="zh-CN" sz="2200"/>
              <a:t>I/O</a:t>
            </a:r>
            <a:r>
              <a:rPr lang="zh-CN" altLang="en-US" sz="2200"/>
              <a:t>软件、中断处理程序、设备无关软件、设备驱动程序</a:t>
            </a:r>
          </a:p>
        </p:txBody>
      </p:sp>
    </p:spTree>
  </p:cSld>
  <p:clrMapOvr>
    <a:masterClrMapping/>
  </p:clrMapOvr>
  <p:transition spd="med">
    <p:zo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60283739-0538-6D93-7918-6AE704676613}"/>
              </a:ext>
            </a:extLst>
          </p:cNvPr>
          <p:cNvSpPr>
            <a:spLocks noGrp="1" noChangeArrowheads="1"/>
          </p:cNvSpPr>
          <p:nvPr>
            <p:ph type="title"/>
          </p:nvPr>
        </p:nvSpPr>
        <p:spPr/>
        <p:txBody>
          <a:bodyPr/>
          <a:lstStyle/>
          <a:p>
            <a:pPr eaLnBrk="1" hangingPunct="1"/>
            <a:r>
              <a:rPr lang="zh-CN" altLang="en-US" dirty="0"/>
              <a:t>考研题</a:t>
            </a:r>
            <a:r>
              <a:rPr lang="en-US" altLang="zh-CN" dirty="0"/>
              <a:t>6</a:t>
            </a:r>
          </a:p>
        </p:txBody>
      </p:sp>
      <p:sp>
        <p:nvSpPr>
          <p:cNvPr id="47106" name="Rectangle 3">
            <a:extLst>
              <a:ext uri="{FF2B5EF4-FFF2-40B4-BE49-F238E27FC236}">
                <a16:creationId xmlns:a16="http://schemas.microsoft.com/office/drawing/2014/main" id="{C5B1DEFF-9E3B-321A-13C6-E1CD85591AD9}"/>
              </a:ext>
            </a:extLst>
          </p:cNvPr>
          <p:cNvSpPr>
            <a:spLocks noGrp="1" noChangeArrowheads="1"/>
          </p:cNvSpPr>
          <p:nvPr>
            <p:ph idx="1"/>
          </p:nvPr>
        </p:nvSpPr>
        <p:spPr>
          <a:xfrm>
            <a:off x="468313" y="1125538"/>
            <a:ext cx="8496300" cy="5507037"/>
          </a:xfrm>
        </p:spPr>
        <p:txBody>
          <a:bodyPr/>
          <a:lstStyle/>
          <a:p>
            <a:pPr eaLnBrk="1" hangingPunct="1">
              <a:lnSpc>
                <a:spcPct val="80000"/>
              </a:lnSpc>
            </a:pPr>
            <a:r>
              <a:rPr lang="zh-CN" altLang="en-US" sz="2800"/>
              <a:t>假设磁头当前位于第</a:t>
            </a:r>
            <a:r>
              <a:rPr lang="en-US" altLang="zh-CN" sz="2800"/>
              <a:t>105</a:t>
            </a:r>
            <a:r>
              <a:rPr lang="zh-CN" altLang="en-US" sz="2800"/>
              <a:t>道，正在向磁道序号增加的方向移动。现有一个磁道访问序列请求为</a:t>
            </a:r>
            <a:r>
              <a:rPr lang="en-US" altLang="zh-CN" sz="2800"/>
              <a:t>35</a:t>
            </a:r>
            <a:r>
              <a:rPr lang="zh-CN" altLang="en-US" sz="2800"/>
              <a:t>、</a:t>
            </a:r>
            <a:r>
              <a:rPr lang="en-US" altLang="zh-CN" sz="2800"/>
              <a:t>45</a:t>
            </a:r>
            <a:r>
              <a:rPr lang="zh-CN" altLang="en-US" sz="2800"/>
              <a:t>、</a:t>
            </a:r>
            <a:r>
              <a:rPr lang="en-US" altLang="zh-CN" sz="2800"/>
              <a:t>12</a:t>
            </a:r>
            <a:r>
              <a:rPr lang="zh-CN" altLang="en-US" sz="2800"/>
              <a:t>、</a:t>
            </a:r>
            <a:r>
              <a:rPr lang="en-US" altLang="zh-CN" sz="2800"/>
              <a:t>68</a:t>
            </a:r>
            <a:r>
              <a:rPr lang="zh-CN" altLang="en-US" sz="2800"/>
              <a:t>、</a:t>
            </a:r>
            <a:r>
              <a:rPr lang="en-US" altLang="zh-CN" sz="2800"/>
              <a:t>110</a:t>
            </a:r>
            <a:r>
              <a:rPr lang="zh-CN" altLang="en-US" sz="2800"/>
              <a:t>、</a:t>
            </a:r>
            <a:r>
              <a:rPr lang="en-US" altLang="zh-CN" sz="2800"/>
              <a:t>180</a:t>
            </a:r>
            <a:r>
              <a:rPr lang="zh-CN" altLang="en-US" sz="2800"/>
              <a:t>、</a:t>
            </a:r>
            <a:r>
              <a:rPr lang="en-US" altLang="zh-CN" sz="2800"/>
              <a:t>170</a:t>
            </a:r>
            <a:r>
              <a:rPr lang="zh-CN" altLang="en-US" sz="2800"/>
              <a:t>、</a:t>
            </a:r>
            <a:r>
              <a:rPr lang="en-US" altLang="zh-CN" sz="2800"/>
              <a:t>195</a:t>
            </a:r>
            <a:r>
              <a:rPr lang="zh-CN" altLang="en-US" sz="2800"/>
              <a:t>，采用</a:t>
            </a:r>
            <a:r>
              <a:rPr lang="en-US" altLang="zh-CN" sz="2800"/>
              <a:t>SCAN</a:t>
            </a:r>
            <a:r>
              <a:rPr lang="zh-CN" altLang="en-US" sz="2800"/>
              <a:t>算法得到的磁道访问序列为（）。</a:t>
            </a:r>
            <a:r>
              <a:rPr lang="en-US" altLang="zh-CN" sz="2800"/>
              <a:t>09</a:t>
            </a:r>
          </a:p>
          <a:p>
            <a:pPr eaLnBrk="1" hangingPunct="1">
              <a:lnSpc>
                <a:spcPct val="80000"/>
              </a:lnSpc>
              <a:buFont typeface="Wingdings" pitchFamily="2" charset="2"/>
              <a:buNone/>
            </a:pPr>
            <a:r>
              <a:rPr lang="en-US" altLang="zh-CN" sz="2800"/>
              <a:t>   A</a:t>
            </a:r>
            <a:r>
              <a:rPr lang="zh-CN" altLang="en-US" sz="2800"/>
              <a:t>、</a:t>
            </a:r>
            <a:r>
              <a:rPr lang="en-US" altLang="zh-CN" sz="2800"/>
              <a:t>110</a:t>
            </a:r>
            <a:r>
              <a:rPr lang="zh-CN" altLang="en-US" sz="2800"/>
              <a:t>、</a:t>
            </a:r>
            <a:r>
              <a:rPr lang="en-US" altLang="zh-CN" sz="2800"/>
              <a:t>170</a:t>
            </a:r>
            <a:r>
              <a:rPr lang="zh-CN" altLang="en-US" sz="2800"/>
              <a:t>、</a:t>
            </a:r>
            <a:r>
              <a:rPr lang="en-US" altLang="zh-CN" sz="2800"/>
              <a:t>180</a:t>
            </a:r>
            <a:r>
              <a:rPr lang="zh-CN" altLang="en-US" sz="2800"/>
              <a:t>、</a:t>
            </a:r>
            <a:r>
              <a:rPr lang="en-US" altLang="zh-CN" sz="2800"/>
              <a:t>195</a:t>
            </a:r>
            <a:r>
              <a:rPr lang="zh-CN" altLang="en-US" sz="2800"/>
              <a:t>、</a:t>
            </a:r>
            <a:r>
              <a:rPr lang="en-US" altLang="zh-CN" sz="2800"/>
              <a:t>68</a:t>
            </a:r>
            <a:r>
              <a:rPr lang="zh-CN" altLang="en-US" sz="2800"/>
              <a:t>、</a:t>
            </a:r>
            <a:r>
              <a:rPr lang="en-US" altLang="zh-CN" sz="2800"/>
              <a:t>45</a:t>
            </a:r>
            <a:r>
              <a:rPr lang="zh-CN" altLang="en-US" sz="2800"/>
              <a:t>、</a:t>
            </a:r>
            <a:r>
              <a:rPr lang="en-US" altLang="zh-CN" sz="2800"/>
              <a:t>35</a:t>
            </a:r>
            <a:r>
              <a:rPr lang="zh-CN" altLang="en-US" sz="2800"/>
              <a:t>、</a:t>
            </a:r>
            <a:r>
              <a:rPr lang="en-US" altLang="zh-CN" sz="2800"/>
              <a:t>12</a:t>
            </a:r>
          </a:p>
          <a:p>
            <a:pPr eaLnBrk="1" hangingPunct="1">
              <a:lnSpc>
                <a:spcPct val="80000"/>
              </a:lnSpc>
              <a:buFont typeface="Wingdings" pitchFamily="2" charset="2"/>
              <a:buNone/>
            </a:pPr>
            <a:r>
              <a:rPr lang="en-US" altLang="zh-CN" sz="2800"/>
              <a:t>   B</a:t>
            </a:r>
            <a:r>
              <a:rPr lang="zh-CN" altLang="en-US" sz="2800"/>
              <a:t>、</a:t>
            </a:r>
            <a:r>
              <a:rPr lang="en-US" altLang="zh-CN" sz="2800"/>
              <a:t>110</a:t>
            </a:r>
            <a:r>
              <a:rPr lang="zh-CN" altLang="en-US" sz="2800"/>
              <a:t>、</a:t>
            </a:r>
            <a:r>
              <a:rPr lang="en-US" altLang="zh-CN" sz="2800"/>
              <a:t>68</a:t>
            </a:r>
            <a:r>
              <a:rPr lang="zh-CN" altLang="en-US" sz="2800"/>
              <a:t>、</a:t>
            </a:r>
            <a:r>
              <a:rPr lang="en-US" altLang="zh-CN" sz="2800"/>
              <a:t>45</a:t>
            </a:r>
            <a:r>
              <a:rPr lang="zh-CN" altLang="en-US" sz="2800"/>
              <a:t>、</a:t>
            </a:r>
            <a:r>
              <a:rPr lang="en-US" altLang="zh-CN" sz="2800"/>
              <a:t>35</a:t>
            </a:r>
            <a:r>
              <a:rPr lang="zh-CN" altLang="en-US" sz="2800"/>
              <a:t>、</a:t>
            </a:r>
            <a:r>
              <a:rPr lang="en-US" altLang="zh-CN" sz="2800"/>
              <a:t>12</a:t>
            </a:r>
            <a:r>
              <a:rPr lang="zh-CN" altLang="en-US" sz="2800"/>
              <a:t>、</a:t>
            </a:r>
            <a:r>
              <a:rPr lang="en-US" altLang="zh-CN" sz="2800"/>
              <a:t>170</a:t>
            </a:r>
            <a:r>
              <a:rPr lang="zh-CN" altLang="en-US" sz="2800"/>
              <a:t>、</a:t>
            </a:r>
            <a:r>
              <a:rPr lang="en-US" altLang="zh-CN" sz="2800"/>
              <a:t>180</a:t>
            </a:r>
            <a:r>
              <a:rPr lang="zh-CN" altLang="en-US" sz="2800"/>
              <a:t>、</a:t>
            </a:r>
            <a:r>
              <a:rPr lang="en-US" altLang="zh-CN" sz="2800"/>
              <a:t>195</a:t>
            </a:r>
          </a:p>
          <a:p>
            <a:pPr eaLnBrk="1" hangingPunct="1">
              <a:lnSpc>
                <a:spcPct val="80000"/>
              </a:lnSpc>
              <a:buFont typeface="Wingdings" pitchFamily="2" charset="2"/>
              <a:buNone/>
            </a:pPr>
            <a:r>
              <a:rPr lang="en-US" altLang="zh-CN" sz="2800"/>
              <a:t>   C</a:t>
            </a:r>
            <a:r>
              <a:rPr lang="zh-CN" altLang="en-US" sz="2800"/>
              <a:t>、</a:t>
            </a:r>
            <a:r>
              <a:rPr lang="en-US" altLang="zh-CN" sz="2800"/>
              <a:t>110</a:t>
            </a:r>
            <a:r>
              <a:rPr lang="zh-CN" altLang="en-US" sz="2800"/>
              <a:t>、</a:t>
            </a:r>
            <a:r>
              <a:rPr lang="en-US" altLang="zh-CN" sz="2800"/>
              <a:t>170</a:t>
            </a:r>
            <a:r>
              <a:rPr lang="zh-CN" altLang="en-US" sz="2800"/>
              <a:t>、</a:t>
            </a:r>
            <a:r>
              <a:rPr lang="en-US" altLang="zh-CN" sz="2800"/>
              <a:t>180</a:t>
            </a:r>
            <a:r>
              <a:rPr lang="zh-CN" altLang="en-US" sz="2800"/>
              <a:t>、</a:t>
            </a:r>
            <a:r>
              <a:rPr lang="en-US" altLang="zh-CN" sz="2800"/>
              <a:t>195</a:t>
            </a:r>
            <a:r>
              <a:rPr lang="zh-CN" altLang="en-US" sz="2800"/>
              <a:t>、</a:t>
            </a:r>
            <a:r>
              <a:rPr lang="en-US" altLang="zh-CN" sz="2800"/>
              <a:t>12</a:t>
            </a:r>
            <a:r>
              <a:rPr lang="zh-CN" altLang="en-US" sz="2800"/>
              <a:t>、</a:t>
            </a:r>
            <a:r>
              <a:rPr lang="en-US" altLang="zh-CN" sz="2800"/>
              <a:t>35</a:t>
            </a:r>
            <a:r>
              <a:rPr lang="zh-CN" altLang="en-US" sz="2800"/>
              <a:t>、</a:t>
            </a:r>
            <a:r>
              <a:rPr lang="en-US" altLang="zh-CN" sz="2800"/>
              <a:t>45</a:t>
            </a:r>
            <a:r>
              <a:rPr lang="zh-CN" altLang="en-US" sz="2800"/>
              <a:t>、</a:t>
            </a:r>
            <a:r>
              <a:rPr lang="en-US" altLang="zh-CN" sz="2800"/>
              <a:t>68</a:t>
            </a:r>
          </a:p>
          <a:p>
            <a:pPr eaLnBrk="1" hangingPunct="1">
              <a:lnSpc>
                <a:spcPct val="80000"/>
              </a:lnSpc>
              <a:buFont typeface="Wingdings" pitchFamily="2" charset="2"/>
              <a:buNone/>
            </a:pPr>
            <a:r>
              <a:rPr lang="en-US" altLang="zh-CN" sz="2800"/>
              <a:t>   D</a:t>
            </a:r>
            <a:r>
              <a:rPr lang="zh-CN" altLang="en-US" sz="2800"/>
              <a:t>、</a:t>
            </a:r>
            <a:r>
              <a:rPr lang="en-US" altLang="zh-CN" sz="2800"/>
              <a:t>12</a:t>
            </a:r>
            <a:r>
              <a:rPr lang="zh-CN" altLang="en-US" sz="2800"/>
              <a:t>、</a:t>
            </a:r>
            <a:r>
              <a:rPr lang="en-US" altLang="zh-CN" sz="2800"/>
              <a:t>35</a:t>
            </a:r>
            <a:r>
              <a:rPr lang="zh-CN" altLang="en-US" sz="2800"/>
              <a:t>、</a:t>
            </a:r>
            <a:r>
              <a:rPr lang="en-US" altLang="zh-CN" sz="2800"/>
              <a:t>45</a:t>
            </a:r>
            <a:r>
              <a:rPr lang="zh-CN" altLang="en-US" sz="2800"/>
              <a:t>、</a:t>
            </a:r>
            <a:r>
              <a:rPr lang="en-US" altLang="zh-CN" sz="2800"/>
              <a:t>68</a:t>
            </a:r>
            <a:r>
              <a:rPr lang="zh-CN" altLang="en-US" sz="2800"/>
              <a:t>、</a:t>
            </a:r>
            <a:r>
              <a:rPr lang="en-US" altLang="zh-CN" sz="2800"/>
              <a:t>110</a:t>
            </a:r>
            <a:r>
              <a:rPr lang="zh-CN" altLang="en-US" sz="2800"/>
              <a:t>、</a:t>
            </a:r>
            <a:r>
              <a:rPr lang="en-US" altLang="zh-CN" sz="2800"/>
              <a:t>170</a:t>
            </a:r>
            <a:r>
              <a:rPr lang="zh-CN" altLang="en-US" sz="2800"/>
              <a:t>、</a:t>
            </a:r>
            <a:r>
              <a:rPr lang="en-US" altLang="zh-CN" sz="2800"/>
              <a:t>180</a:t>
            </a:r>
            <a:r>
              <a:rPr lang="zh-CN" altLang="en-US" sz="2800"/>
              <a:t>、</a:t>
            </a:r>
            <a:r>
              <a:rPr lang="en-US" altLang="zh-CN" sz="2800"/>
              <a:t>195</a:t>
            </a:r>
          </a:p>
          <a:p>
            <a:pPr eaLnBrk="1" hangingPunct="1">
              <a:lnSpc>
                <a:spcPct val="80000"/>
              </a:lnSpc>
            </a:pPr>
            <a:r>
              <a:rPr lang="zh-CN" altLang="zh-CN" sz="2800"/>
              <a:t>下列选项中，不能改善磁盘</a:t>
            </a:r>
            <a:r>
              <a:rPr lang="en-US" altLang="zh-CN" sz="2800"/>
              <a:t>I/O</a:t>
            </a:r>
            <a:r>
              <a:rPr lang="zh-CN" altLang="en-US" sz="2800"/>
              <a:t>性能的是（）</a:t>
            </a:r>
            <a:r>
              <a:rPr lang="en-US" altLang="zh-CN" sz="2800"/>
              <a:t>12</a:t>
            </a:r>
          </a:p>
          <a:p>
            <a:pPr eaLnBrk="1" hangingPunct="1">
              <a:lnSpc>
                <a:spcPct val="80000"/>
              </a:lnSpc>
              <a:buFont typeface="Wingdings" pitchFamily="2" charset="2"/>
              <a:buNone/>
            </a:pPr>
            <a:r>
              <a:rPr lang="en-US" altLang="zh-CN" sz="2800"/>
              <a:t>      A</a:t>
            </a:r>
            <a:r>
              <a:rPr lang="zh-CN" altLang="en-US" sz="2800"/>
              <a:t>．重排</a:t>
            </a:r>
            <a:r>
              <a:rPr lang="en-US" altLang="zh-CN" sz="2800"/>
              <a:t>I/O</a:t>
            </a:r>
            <a:r>
              <a:rPr lang="zh-CN" altLang="en-US" sz="2800"/>
              <a:t>请求次序</a:t>
            </a:r>
          </a:p>
          <a:p>
            <a:pPr eaLnBrk="1" hangingPunct="1">
              <a:lnSpc>
                <a:spcPct val="80000"/>
              </a:lnSpc>
              <a:buFont typeface="Wingdings" pitchFamily="2" charset="2"/>
              <a:buNone/>
            </a:pPr>
            <a:r>
              <a:rPr lang="en-US" altLang="zh-CN" sz="2800"/>
              <a:t>      B</a:t>
            </a:r>
            <a:r>
              <a:rPr lang="zh-CN" altLang="en-US" sz="2800"/>
              <a:t>．在一个磁盘上设置多个分区</a:t>
            </a:r>
          </a:p>
          <a:p>
            <a:pPr eaLnBrk="1" hangingPunct="1">
              <a:lnSpc>
                <a:spcPct val="80000"/>
              </a:lnSpc>
              <a:buFont typeface="Wingdings" pitchFamily="2" charset="2"/>
              <a:buNone/>
            </a:pPr>
            <a:r>
              <a:rPr lang="en-US" altLang="zh-CN" sz="2800"/>
              <a:t>      C</a:t>
            </a:r>
            <a:r>
              <a:rPr lang="zh-CN" altLang="en-US" sz="2800"/>
              <a:t>．预读和滞后写</a:t>
            </a:r>
          </a:p>
          <a:p>
            <a:pPr eaLnBrk="1" hangingPunct="1">
              <a:lnSpc>
                <a:spcPct val="80000"/>
              </a:lnSpc>
              <a:buFont typeface="Wingdings" pitchFamily="2" charset="2"/>
              <a:buNone/>
            </a:pPr>
            <a:r>
              <a:rPr lang="en-US" altLang="zh-CN" sz="2800"/>
              <a:t>      D</a:t>
            </a:r>
            <a:r>
              <a:rPr lang="zh-CN" altLang="en-US" sz="2800"/>
              <a:t>．优化文件物理块的分布</a:t>
            </a:r>
          </a:p>
        </p:txBody>
      </p:sp>
      <p:sp>
        <p:nvSpPr>
          <p:cNvPr id="2" name="灯片编号占位符 1">
            <a:extLst>
              <a:ext uri="{FF2B5EF4-FFF2-40B4-BE49-F238E27FC236}">
                <a16:creationId xmlns:a16="http://schemas.microsoft.com/office/drawing/2014/main" id="{84FB5E23-02E0-8EE5-9DF2-39FD32DC0B11}"/>
              </a:ext>
            </a:extLst>
          </p:cNvPr>
          <p:cNvSpPr>
            <a:spLocks noGrp="1"/>
          </p:cNvSpPr>
          <p:nvPr>
            <p:ph type="sldNum" sz="quarter" idx="12"/>
          </p:nvPr>
        </p:nvSpPr>
        <p:spPr/>
        <p:txBody>
          <a:bodyPr/>
          <a:lstStyle/>
          <a:p>
            <a:fld id="{4093CC90-4002-504C-BD88-C9A1D374048E}" type="slidenum">
              <a:rPr lang="zh-CN" altLang="en-US" smtClean="0"/>
              <a:pPr/>
              <a:t>186</a:t>
            </a:fld>
            <a:endParaRPr lang="zh-CN" altLang="en-US" dirty="0"/>
          </a:p>
        </p:txBody>
      </p:sp>
    </p:spTree>
  </p:cSld>
  <p:clrMapOvr>
    <a:masterClrMapping/>
  </p:clrMapOvr>
  <p:transition spd="med">
    <p:zoom/>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E5C6A573-7A29-FBAF-8D2C-1BD73F7C2129}"/>
              </a:ext>
            </a:extLst>
          </p:cNvPr>
          <p:cNvSpPr>
            <a:spLocks noGrp="1" noChangeArrowheads="1"/>
          </p:cNvSpPr>
          <p:nvPr>
            <p:ph type="title"/>
          </p:nvPr>
        </p:nvSpPr>
        <p:spPr/>
        <p:txBody>
          <a:bodyPr/>
          <a:lstStyle/>
          <a:p>
            <a:pPr eaLnBrk="1" hangingPunct="1"/>
            <a:r>
              <a:rPr lang="zh-CN" altLang="en-US" dirty="0"/>
              <a:t>考研题</a:t>
            </a:r>
            <a:r>
              <a:rPr lang="en-US" altLang="zh-CN" dirty="0"/>
              <a:t>7</a:t>
            </a:r>
          </a:p>
        </p:txBody>
      </p:sp>
      <p:sp>
        <p:nvSpPr>
          <p:cNvPr id="48130" name="Rectangle 3">
            <a:extLst>
              <a:ext uri="{FF2B5EF4-FFF2-40B4-BE49-F238E27FC236}">
                <a16:creationId xmlns:a16="http://schemas.microsoft.com/office/drawing/2014/main" id="{1A1DE501-DBA5-BBE9-4E68-579CCB44CE61}"/>
              </a:ext>
            </a:extLst>
          </p:cNvPr>
          <p:cNvSpPr>
            <a:spLocks noGrp="1" noChangeArrowheads="1"/>
          </p:cNvSpPr>
          <p:nvPr>
            <p:ph idx="1"/>
          </p:nvPr>
        </p:nvSpPr>
        <p:spPr>
          <a:xfrm>
            <a:off x="468313" y="1125538"/>
            <a:ext cx="8496300" cy="5507037"/>
          </a:xfrm>
        </p:spPr>
        <p:txBody>
          <a:bodyPr>
            <a:normAutofit fontScale="92500" lnSpcReduction="10000"/>
          </a:bodyPr>
          <a:lstStyle/>
          <a:p>
            <a:pPr eaLnBrk="1" hangingPunct="1"/>
            <a:r>
              <a:rPr lang="zh-CN" altLang="en-US" sz="2800"/>
              <a:t>假设计算机系统采用</a:t>
            </a:r>
            <a:r>
              <a:rPr lang="en-US" altLang="zh-CN" sz="2800"/>
              <a:t>CSCAN</a:t>
            </a:r>
            <a:r>
              <a:rPr lang="zh-CN" altLang="en-US" sz="2800"/>
              <a:t>（循环扫描）磁盘调度策略，使用</a:t>
            </a:r>
            <a:r>
              <a:rPr lang="en-US" altLang="zh-CN" sz="2800"/>
              <a:t>2KB</a:t>
            </a:r>
            <a:r>
              <a:rPr lang="zh-CN" altLang="en-US" sz="2800"/>
              <a:t>的内存空间记录</a:t>
            </a:r>
            <a:r>
              <a:rPr lang="en-US" altLang="zh-CN" sz="2800"/>
              <a:t>16384</a:t>
            </a:r>
            <a:r>
              <a:rPr lang="zh-CN" altLang="en-US" sz="2800"/>
              <a:t>个磁盘块的空闲状态。</a:t>
            </a:r>
          </a:p>
          <a:p>
            <a:pPr eaLnBrk="1" hangingPunct="1"/>
            <a:r>
              <a:rPr lang="zh-CN" altLang="en-US" sz="2800"/>
              <a:t>（</a:t>
            </a:r>
            <a:r>
              <a:rPr lang="en-US" altLang="zh-CN" sz="2800"/>
              <a:t>1</a:t>
            </a:r>
            <a:r>
              <a:rPr lang="zh-CN" altLang="en-US" sz="2800"/>
              <a:t>）请说明在上述条件下如何进行磁盘块空闲状态管理。</a:t>
            </a:r>
          </a:p>
          <a:p>
            <a:pPr eaLnBrk="1" hangingPunct="1"/>
            <a:r>
              <a:rPr lang="zh-CN" altLang="en-US" sz="2800"/>
              <a:t>（</a:t>
            </a:r>
            <a:r>
              <a:rPr lang="en-US" altLang="zh-CN" sz="2800"/>
              <a:t>2</a:t>
            </a:r>
            <a:r>
              <a:rPr lang="zh-CN" altLang="en-US" sz="2800"/>
              <a:t>）设某单面磁盘旋转速度为每分钟</a:t>
            </a:r>
            <a:r>
              <a:rPr lang="en-US" altLang="zh-CN" sz="2800"/>
              <a:t>6000</a:t>
            </a:r>
            <a:r>
              <a:rPr lang="zh-CN" altLang="en-US" sz="2800"/>
              <a:t>转，每个磁道有</a:t>
            </a:r>
            <a:r>
              <a:rPr lang="en-US" altLang="zh-CN" sz="2800"/>
              <a:t>100</a:t>
            </a:r>
            <a:r>
              <a:rPr lang="zh-CN" altLang="en-US" sz="2800"/>
              <a:t>个扇区，相邻磁道间的平均移动时间为</a:t>
            </a:r>
            <a:r>
              <a:rPr lang="en-US" altLang="zh-CN" sz="2800"/>
              <a:t>1ms</a:t>
            </a:r>
            <a:r>
              <a:rPr lang="zh-CN" altLang="en-US" sz="2800"/>
              <a:t>。若在某时刻，磁头位于</a:t>
            </a:r>
            <a:r>
              <a:rPr lang="en-US" altLang="zh-CN" sz="2800"/>
              <a:t>100</a:t>
            </a:r>
            <a:r>
              <a:rPr lang="zh-CN" altLang="en-US" sz="2800"/>
              <a:t>号磁道处，并沿着磁道号增大的方向移动（如图所示），磁道号请求队列为</a:t>
            </a:r>
            <a:r>
              <a:rPr lang="en-US" altLang="zh-CN" sz="2800"/>
              <a:t>50</a:t>
            </a:r>
            <a:r>
              <a:rPr lang="zh-CN" altLang="en-US" sz="2800"/>
              <a:t>，</a:t>
            </a:r>
            <a:r>
              <a:rPr lang="en-US" altLang="zh-CN" sz="2800"/>
              <a:t>90</a:t>
            </a:r>
            <a:r>
              <a:rPr lang="zh-CN" altLang="en-US" sz="2800"/>
              <a:t>，</a:t>
            </a:r>
            <a:r>
              <a:rPr lang="en-US" altLang="zh-CN" sz="2800"/>
              <a:t>30</a:t>
            </a:r>
            <a:r>
              <a:rPr lang="zh-CN" altLang="en-US" sz="2800"/>
              <a:t>，</a:t>
            </a:r>
            <a:r>
              <a:rPr lang="en-US" altLang="zh-CN" sz="2800"/>
              <a:t>120</a:t>
            </a:r>
            <a:r>
              <a:rPr lang="zh-CN" altLang="en-US" sz="2800"/>
              <a:t>，对请求队列中的每个磁道需读取</a:t>
            </a:r>
            <a:r>
              <a:rPr lang="en-US" altLang="zh-CN" sz="2800"/>
              <a:t>1</a:t>
            </a:r>
            <a:r>
              <a:rPr lang="zh-CN" altLang="en-US" sz="2800"/>
              <a:t>个随机分布的扇区，则读完这个扇区点共需要多少时间？要求给出计算过程。</a:t>
            </a:r>
          </a:p>
        </p:txBody>
      </p:sp>
      <p:sp>
        <p:nvSpPr>
          <p:cNvPr id="2" name="灯片编号占位符 1">
            <a:extLst>
              <a:ext uri="{FF2B5EF4-FFF2-40B4-BE49-F238E27FC236}">
                <a16:creationId xmlns:a16="http://schemas.microsoft.com/office/drawing/2014/main" id="{5B5A92B2-A7B3-6AD3-1CEE-1338E5AE9EA7}"/>
              </a:ext>
            </a:extLst>
          </p:cNvPr>
          <p:cNvSpPr>
            <a:spLocks noGrp="1"/>
          </p:cNvSpPr>
          <p:nvPr>
            <p:ph type="sldNum" sz="quarter" idx="12"/>
          </p:nvPr>
        </p:nvSpPr>
        <p:spPr/>
        <p:txBody>
          <a:bodyPr/>
          <a:lstStyle/>
          <a:p>
            <a:fld id="{4093CC90-4002-504C-BD88-C9A1D374048E}" type="slidenum">
              <a:rPr lang="zh-CN" altLang="en-US" smtClean="0"/>
              <a:pPr/>
              <a:t>187</a:t>
            </a:fld>
            <a:endParaRPr lang="zh-CN" altLang="en-US" dirty="0"/>
          </a:p>
        </p:txBody>
      </p:sp>
    </p:spTree>
  </p:cSld>
  <p:clrMapOvr>
    <a:masterClrMapping/>
  </p:clrMapOvr>
  <p:transition spd="med">
    <p:zoom/>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E3256BD4-C30B-00C6-82B3-3F9CE6D40AE9}"/>
              </a:ext>
            </a:extLst>
          </p:cNvPr>
          <p:cNvSpPr>
            <a:spLocks noGrp="1" noChangeArrowheads="1"/>
          </p:cNvSpPr>
          <p:nvPr>
            <p:ph type="title"/>
          </p:nvPr>
        </p:nvSpPr>
        <p:spPr/>
        <p:txBody>
          <a:bodyPr/>
          <a:lstStyle/>
          <a:p>
            <a:pPr eaLnBrk="1" hangingPunct="1"/>
            <a:r>
              <a:rPr lang="zh-CN" altLang="en-US" dirty="0"/>
              <a:t>考研题</a:t>
            </a:r>
            <a:r>
              <a:rPr lang="en-US" altLang="zh-CN" dirty="0"/>
              <a:t>7-2</a:t>
            </a:r>
          </a:p>
        </p:txBody>
      </p:sp>
      <p:sp>
        <p:nvSpPr>
          <p:cNvPr id="49154" name="Rectangle 3">
            <a:extLst>
              <a:ext uri="{FF2B5EF4-FFF2-40B4-BE49-F238E27FC236}">
                <a16:creationId xmlns:a16="http://schemas.microsoft.com/office/drawing/2014/main" id="{BBD67F66-3816-66D6-E59E-75077048D018}"/>
              </a:ext>
            </a:extLst>
          </p:cNvPr>
          <p:cNvSpPr>
            <a:spLocks noGrp="1" noChangeArrowheads="1"/>
          </p:cNvSpPr>
          <p:nvPr>
            <p:ph idx="1"/>
          </p:nvPr>
        </p:nvSpPr>
        <p:spPr>
          <a:xfrm>
            <a:off x="468313" y="1125538"/>
            <a:ext cx="8496300" cy="5507037"/>
          </a:xfrm>
        </p:spPr>
        <p:txBody>
          <a:bodyPr/>
          <a:lstStyle/>
          <a:p>
            <a:pPr eaLnBrk="1" hangingPunct="1"/>
            <a:r>
              <a:rPr lang="zh-CN" altLang="en-US"/>
              <a:t>（</a:t>
            </a:r>
            <a:r>
              <a:rPr lang="en-US" altLang="zh-CN"/>
              <a:t>3</a:t>
            </a:r>
            <a:r>
              <a:rPr lang="zh-CN" altLang="en-US"/>
              <a:t>）如果将磁盘替换为随机访问的</a:t>
            </a:r>
            <a:r>
              <a:rPr lang="en-US" altLang="zh-CN"/>
              <a:t>Flash</a:t>
            </a:r>
            <a:r>
              <a:rPr lang="zh-CN" altLang="en-US"/>
              <a:t>半导体存储器（如</a:t>
            </a:r>
            <a:r>
              <a:rPr lang="en-US" altLang="zh-CN"/>
              <a:t>U</a:t>
            </a:r>
            <a:r>
              <a:rPr lang="zh-CN" altLang="en-US"/>
              <a:t>盘、</a:t>
            </a:r>
            <a:r>
              <a:rPr lang="en-US" altLang="zh-CN"/>
              <a:t>SSD</a:t>
            </a:r>
            <a:r>
              <a:rPr lang="zh-CN" altLang="en-US"/>
              <a:t>等），是否有比</a:t>
            </a:r>
            <a:r>
              <a:rPr lang="en-US" altLang="zh-CN"/>
              <a:t>CSCAN</a:t>
            </a:r>
            <a:r>
              <a:rPr lang="zh-CN" altLang="en-US"/>
              <a:t>更高效的磁盘调度策略？若有，给出磁盘调度策略的名称并说明理由；若无，说明理由。</a:t>
            </a:r>
          </a:p>
        </p:txBody>
      </p:sp>
      <p:sp>
        <p:nvSpPr>
          <p:cNvPr id="2" name="灯片编号占位符 1">
            <a:extLst>
              <a:ext uri="{FF2B5EF4-FFF2-40B4-BE49-F238E27FC236}">
                <a16:creationId xmlns:a16="http://schemas.microsoft.com/office/drawing/2014/main" id="{E5F75B05-A7AE-1252-DE8A-5FDE3F82E19D}"/>
              </a:ext>
            </a:extLst>
          </p:cNvPr>
          <p:cNvSpPr>
            <a:spLocks noGrp="1"/>
          </p:cNvSpPr>
          <p:nvPr>
            <p:ph type="sldNum" sz="quarter" idx="12"/>
          </p:nvPr>
        </p:nvSpPr>
        <p:spPr/>
        <p:txBody>
          <a:bodyPr/>
          <a:lstStyle/>
          <a:p>
            <a:fld id="{4093CC90-4002-504C-BD88-C9A1D374048E}" type="slidenum">
              <a:rPr lang="zh-CN" altLang="en-US" smtClean="0"/>
              <a:pPr/>
              <a:t>188</a:t>
            </a:fld>
            <a:endParaRPr lang="zh-CN" altLang="en-US" dirty="0"/>
          </a:p>
        </p:txBody>
      </p:sp>
    </p:spTree>
  </p:cSld>
  <p:clrMapOvr>
    <a:masterClrMapping/>
  </p:clrMapOvr>
  <p:transition spd="med">
    <p:zoom/>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81436C45-C377-393A-2B5F-56A571864812}"/>
              </a:ext>
            </a:extLst>
          </p:cNvPr>
          <p:cNvSpPr>
            <a:spLocks noGrp="1" noChangeArrowheads="1"/>
          </p:cNvSpPr>
          <p:nvPr>
            <p:ph type="title"/>
          </p:nvPr>
        </p:nvSpPr>
        <p:spPr/>
        <p:txBody>
          <a:bodyPr/>
          <a:lstStyle/>
          <a:p>
            <a:pPr eaLnBrk="1" hangingPunct="1"/>
            <a:r>
              <a:rPr lang="zh-CN" altLang="en-US" dirty="0"/>
              <a:t>考研题</a:t>
            </a:r>
            <a:r>
              <a:rPr lang="en-US" altLang="zh-CN" dirty="0"/>
              <a:t>7-3</a:t>
            </a:r>
          </a:p>
        </p:txBody>
      </p:sp>
      <p:sp>
        <p:nvSpPr>
          <p:cNvPr id="50178" name="Rectangle 3">
            <a:extLst>
              <a:ext uri="{FF2B5EF4-FFF2-40B4-BE49-F238E27FC236}">
                <a16:creationId xmlns:a16="http://schemas.microsoft.com/office/drawing/2014/main" id="{403C6140-CC33-7506-981C-955F3F24F84B}"/>
              </a:ext>
            </a:extLst>
          </p:cNvPr>
          <p:cNvSpPr>
            <a:spLocks noGrp="1" noChangeArrowheads="1"/>
          </p:cNvSpPr>
          <p:nvPr>
            <p:ph type="body" sz="half" idx="1"/>
          </p:nvPr>
        </p:nvSpPr>
        <p:spPr>
          <a:xfrm>
            <a:off x="1131888" y="1125538"/>
            <a:ext cx="6572250" cy="2771775"/>
          </a:xfrm>
        </p:spPr>
        <p:txBody>
          <a:bodyPr/>
          <a:lstStyle/>
          <a:p>
            <a:pPr eaLnBrk="1" hangingPunct="1"/>
            <a:r>
              <a:rPr lang="zh-CN" altLang="en-US" sz="2800"/>
              <a:t>（</a:t>
            </a:r>
            <a:r>
              <a:rPr lang="en-US" altLang="zh-CN" sz="2800"/>
              <a:t>1</a:t>
            </a:r>
            <a:r>
              <a:rPr lang="zh-CN" altLang="en-US" sz="2800"/>
              <a:t>）使用位示图法表示磁盘的空闲状态（</a:t>
            </a:r>
            <a:r>
              <a:rPr lang="en-US" altLang="zh-CN" sz="2800"/>
              <a:t>1</a:t>
            </a:r>
            <a:r>
              <a:rPr lang="zh-CN" altLang="en-US" sz="2800"/>
              <a:t>分），每一位表示一个磁道块是否为空闲，共需要</a:t>
            </a:r>
            <a:r>
              <a:rPr lang="en-US" altLang="zh-CN" sz="2800"/>
              <a:t>16384/32=512</a:t>
            </a:r>
            <a:r>
              <a:rPr lang="zh-CN" altLang="en-US" sz="2800"/>
              <a:t>个字</a:t>
            </a:r>
            <a:r>
              <a:rPr lang="en-US" altLang="zh-CN" sz="2800"/>
              <a:t>=512×4</a:t>
            </a:r>
            <a:r>
              <a:rPr lang="zh-CN" altLang="en-US" sz="2800"/>
              <a:t>个字节</a:t>
            </a:r>
            <a:r>
              <a:rPr lang="en-US" altLang="zh-CN" sz="2800"/>
              <a:t>=2KB</a:t>
            </a:r>
            <a:r>
              <a:rPr lang="zh-CN" altLang="en-US" sz="2800"/>
              <a:t>，正好可放在系统提供的内存中（</a:t>
            </a:r>
            <a:r>
              <a:rPr lang="en-US" altLang="zh-CN" sz="2800"/>
              <a:t>1</a:t>
            </a:r>
            <a:r>
              <a:rPr lang="zh-CN" altLang="en-US" sz="2800"/>
              <a:t>分）。</a:t>
            </a:r>
          </a:p>
        </p:txBody>
      </p:sp>
      <p:graphicFrame>
        <p:nvGraphicFramePr>
          <p:cNvPr id="50179" name="Object 4">
            <a:extLst>
              <a:ext uri="{FF2B5EF4-FFF2-40B4-BE49-F238E27FC236}">
                <a16:creationId xmlns:a16="http://schemas.microsoft.com/office/drawing/2014/main" id="{A7562BFD-FE84-D988-C58F-B83C8156F9FF}"/>
              </a:ext>
            </a:extLst>
          </p:cNvPr>
          <p:cNvGraphicFramePr>
            <a:graphicFrameLocks noGrp="1"/>
          </p:cNvGraphicFramePr>
          <p:nvPr>
            <p:ph sz="half" idx="2"/>
          </p:nvPr>
        </p:nvGraphicFramePr>
        <p:xfrm>
          <a:off x="3419475" y="3644900"/>
          <a:ext cx="5484813" cy="3024188"/>
        </p:xfrm>
        <a:graphic>
          <a:graphicData uri="http://schemas.openxmlformats.org/presentationml/2006/ole">
            <mc:AlternateContent xmlns:mc="http://schemas.openxmlformats.org/markup-compatibility/2006">
              <mc:Choice xmlns:v="urn:schemas-microsoft-com:vml" Requires="v">
                <p:oleObj r:id="rId2" imgW="3860800" imgH="2159000" progId="Word.Picture.8">
                  <p:embed/>
                </p:oleObj>
              </mc:Choice>
              <mc:Fallback>
                <p:oleObj r:id="rId2" imgW="3860800" imgH="2159000" progId="Word.Picture.8">
                  <p:embed/>
                  <p:pic>
                    <p:nvPicPr>
                      <p:cNvPr id="50179" name="Object 4">
                        <a:extLst>
                          <a:ext uri="{FF2B5EF4-FFF2-40B4-BE49-F238E27FC236}">
                            <a16:creationId xmlns:a16="http://schemas.microsoft.com/office/drawing/2014/main" id="{A7562BFD-FE84-D988-C58F-B83C8156F9FF}"/>
                          </a:ext>
                        </a:extLst>
                      </p:cNvPr>
                      <p:cNvPicPr>
                        <a:picLocks noGrp="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3644900"/>
                        <a:ext cx="5484813" cy="302418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85B8D58A-25DF-FA22-718E-B82B45296EFF}"/>
              </a:ext>
            </a:extLst>
          </p:cNvPr>
          <p:cNvSpPr>
            <a:spLocks noGrp="1"/>
          </p:cNvSpPr>
          <p:nvPr>
            <p:ph type="sldNum" sz="quarter" idx="12"/>
          </p:nvPr>
        </p:nvSpPr>
        <p:spPr/>
        <p:txBody>
          <a:bodyPr/>
          <a:lstStyle/>
          <a:p>
            <a:fld id="{E12CD569-9421-2E48-9727-66CF7BD1C800}" type="slidenum">
              <a:rPr lang="zh-CN" altLang="en-US" smtClean="0"/>
              <a:pPr/>
              <a:t>189</a:t>
            </a:fld>
            <a:endParaRPr lang="zh-CN" altLang="en-US"/>
          </a:p>
        </p:txBody>
      </p:sp>
    </p:spTree>
  </p:cSld>
  <p:clrMapOvr>
    <a:masterClrMapping/>
  </p:clrMapOvr>
  <p:transition spd="med">
    <p:zoom/>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678D3005-E81F-275D-FDAA-5A0CBE32C7B8}"/>
              </a:ext>
            </a:extLst>
          </p:cNvPr>
          <p:cNvSpPr>
            <a:spLocks noGrp="1" noChangeArrowheads="1"/>
          </p:cNvSpPr>
          <p:nvPr>
            <p:ph type="title"/>
          </p:nvPr>
        </p:nvSpPr>
        <p:spPr/>
        <p:txBody>
          <a:bodyPr/>
          <a:lstStyle/>
          <a:p>
            <a:pPr eaLnBrk="1" hangingPunct="1"/>
            <a:r>
              <a:rPr lang="zh-CN" altLang="en-US" dirty="0"/>
              <a:t>考研题</a:t>
            </a:r>
            <a:r>
              <a:rPr lang="en-US" altLang="zh-CN" dirty="0"/>
              <a:t>7-4</a:t>
            </a:r>
          </a:p>
        </p:txBody>
      </p:sp>
      <p:sp>
        <p:nvSpPr>
          <p:cNvPr id="51202" name="Rectangle 3">
            <a:extLst>
              <a:ext uri="{FF2B5EF4-FFF2-40B4-BE49-F238E27FC236}">
                <a16:creationId xmlns:a16="http://schemas.microsoft.com/office/drawing/2014/main" id="{B62F8FE8-FFA1-A0F2-2AB5-78872DCD1D5B}"/>
              </a:ext>
            </a:extLst>
          </p:cNvPr>
          <p:cNvSpPr>
            <a:spLocks noGrp="1" noChangeArrowheads="1"/>
          </p:cNvSpPr>
          <p:nvPr>
            <p:ph idx="1"/>
          </p:nvPr>
        </p:nvSpPr>
        <p:spPr>
          <a:xfrm>
            <a:off x="468313" y="1125538"/>
            <a:ext cx="8496300" cy="5507037"/>
          </a:xfrm>
        </p:spPr>
        <p:txBody>
          <a:bodyPr>
            <a:normAutofit fontScale="92500"/>
          </a:bodyPr>
          <a:lstStyle/>
          <a:p>
            <a:pPr eaLnBrk="1" hangingPunct="1"/>
            <a:r>
              <a:rPr lang="zh-CN" altLang="en-US" sz="2800"/>
              <a:t>（</a:t>
            </a:r>
            <a:r>
              <a:rPr lang="en-US" altLang="zh-CN" sz="2800"/>
              <a:t>2</a:t>
            </a:r>
            <a:r>
              <a:rPr lang="zh-CN" altLang="en-US" sz="2800"/>
              <a:t>）采用</a:t>
            </a:r>
            <a:r>
              <a:rPr lang="en-US" altLang="zh-CN" sz="2800"/>
              <a:t>CSCAN</a:t>
            </a:r>
            <a:r>
              <a:rPr lang="zh-CN" altLang="en-US" sz="2800"/>
              <a:t>调度算法，访问磁道的顺序为</a:t>
            </a:r>
            <a:r>
              <a:rPr lang="en-US" altLang="zh-CN" sz="2800"/>
              <a:t>120</a:t>
            </a:r>
            <a:r>
              <a:rPr lang="zh-CN" altLang="en-US" sz="2800"/>
              <a:t>、</a:t>
            </a:r>
            <a:r>
              <a:rPr lang="en-US" altLang="zh-CN" sz="2800"/>
              <a:t>30</a:t>
            </a:r>
            <a:r>
              <a:rPr lang="zh-CN" altLang="en-US" sz="2800"/>
              <a:t>、</a:t>
            </a:r>
            <a:r>
              <a:rPr lang="en-US" altLang="zh-CN" sz="2800"/>
              <a:t>50</a:t>
            </a:r>
            <a:r>
              <a:rPr lang="zh-CN" altLang="en-US" sz="2800"/>
              <a:t>、</a:t>
            </a:r>
            <a:r>
              <a:rPr lang="en-US" altLang="zh-CN" sz="2800"/>
              <a:t>90</a:t>
            </a:r>
            <a:r>
              <a:rPr lang="zh-CN" altLang="en-US" sz="2800"/>
              <a:t>，则移动磁道长度为</a:t>
            </a:r>
            <a:r>
              <a:rPr lang="en-US" altLang="zh-CN" sz="2800"/>
              <a:t>20+90+20+40=170</a:t>
            </a:r>
            <a:r>
              <a:rPr lang="zh-CN" altLang="en-US" sz="2800"/>
              <a:t>，总的移动磁道时间为</a:t>
            </a:r>
            <a:r>
              <a:rPr lang="en-US" altLang="zh-CN" sz="2800"/>
              <a:t>170×1ms=170ms</a:t>
            </a:r>
            <a:r>
              <a:rPr lang="zh-CN" altLang="en-US" sz="2800"/>
              <a:t>（</a:t>
            </a:r>
            <a:r>
              <a:rPr lang="en-US" altLang="zh-CN" sz="2800"/>
              <a:t>1</a:t>
            </a:r>
            <a:r>
              <a:rPr lang="zh-CN" altLang="en-US" sz="2800"/>
              <a:t>分）。</a:t>
            </a:r>
          </a:p>
          <a:p>
            <a:pPr eaLnBrk="1" hangingPunct="1"/>
            <a:r>
              <a:rPr lang="zh-CN" altLang="en-US" sz="2800"/>
              <a:t>每分钟</a:t>
            </a:r>
            <a:r>
              <a:rPr lang="en-US" altLang="zh-CN" sz="2800"/>
              <a:t>6000</a:t>
            </a:r>
            <a:r>
              <a:rPr lang="zh-CN" altLang="en-US" sz="2800"/>
              <a:t>转，则平均旋转廷迟为</a:t>
            </a:r>
            <a:r>
              <a:rPr lang="en-US" altLang="zh-CN" sz="2800"/>
              <a:t>60/(6000×2)=5ms</a:t>
            </a:r>
            <a:r>
              <a:rPr lang="zh-CN" altLang="en-US" sz="2800"/>
              <a:t>，总的旋转廷迟时间</a:t>
            </a:r>
            <a:r>
              <a:rPr lang="en-US" altLang="zh-CN" sz="2800"/>
              <a:t>=5ms×4=20ms</a:t>
            </a:r>
            <a:r>
              <a:rPr lang="zh-CN" altLang="en-US" sz="2800"/>
              <a:t>（</a:t>
            </a:r>
            <a:r>
              <a:rPr lang="en-US" altLang="zh-CN" sz="2800"/>
              <a:t>1</a:t>
            </a:r>
            <a:r>
              <a:rPr lang="zh-CN" altLang="en-US" sz="2800"/>
              <a:t>分）。</a:t>
            </a:r>
          </a:p>
          <a:p>
            <a:pPr eaLnBrk="1" hangingPunct="1"/>
            <a:r>
              <a:rPr lang="zh-CN" altLang="en-US" sz="2800"/>
              <a:t>每分钟</a:t>
            </a:r>
            <a:r>
              <a:rPr lang="en-US" altLang="zh-CN" sz="2800"/>
              <a:t>6000</a:t>
            </a:r>
            <a:r>
              <a:rPr lang="zh-CN" altLang="en-US" sz="2800"/>
              <a:t>转，则读取一个磁道上一个扇区的平均读取时间为</a:t>
            </a:r>
            <a:r>
              <a:rPr lang="en-US" altLang="zh-CN" sz="2800"/>
              <a:t>10ms/100=0.1ms,</a:t>
            </a:r>
            <a:r>
              <a:rPr lang="zh-CN" altLang="en-US" sz="2800"/>
              <a:t>总的读取扇区的时间</a:t>
            </a:r>
            <a:r>
              <a:rPr lang="en-US" altLang="zh-CN" sz="2800"/>
              <a:t>=0.1ms×4=0.4ms</a:t>
            </a:r>
            <a:r>
              <a:rPr lang="zh-CN" altLang="en-US" sz="2800"/>
              <a:t>。</a:t>
            </a:r>
          </a:p>
          <a:p>
            <a:pPr eaLnBrk="1" hangingPunct="1"/>
            <a:r>
              <a:rPr lang="zh-CN" altLang="en-US" sz="2800"/>
              <a:t>读取上述磁道上所有扇区所花的总时间</a:t>
            </a:r>
            <a:r>
              <a:rPr lang="en-US" altLang="zh-CN" sz="2800"/>
              <a:t>=170ms+20ms+0.4ms=190.4ms</a:t>
            </a:r>
            <a:r>
              <a:rPr lang="zh-CN" altLang="en-US" sz="2800"/>
              <a:t>（</a:t>
            </a:r>
            <a:r>
              <a:rPr lang="en-US" altLang="zh-CN" sz="2800"/>
              <a:t>1</a:t>
            </a:r>
            <a:r>
              <a:rPr lang="zh-CN" altLang="en-US" sz="2800"/>
              <a:t>分）。</a:t>
            </a:r>
          </a:p>
        </p:txBody>
      </p:sp>
      <p:sp>
        <p:nvSpPr>
          <p:cNvPr id="2" name="灯片编号占位符 1">
            <a:extLst>
              <a:ext uri="{FF2B5EF4-FFF2-40B4-BE49-F238E27FC236}">
                <a16:creationId xmlns:a16="http://schemas.microsoft.com/office/drawing/2014/main" id="{7200A3DE-B6A5-27C0-B2D5-3D4AEEC81A51}"/>
              </a:ext>
            </a:extLst>
          </p:cNvPr>
          <p:cNvSpPr>
            <a:spLocks noGrp="1"/>
          </p:cNvSpPr>
          <p:nvPr>
            <p:ph type="sldNum" sz="quarter" idx="12"/>
          </p:nvPr>
        </p:nvSpPr>
        <p:spPr/>
        <p:txBody>
          <a:bodyPr/>
          <a:lstStyle/>
          <a:p>
            <a:fld id="{4093CC90-4002-504C-BD88-C9A1D374048E}" type="slidenum">
              <a:rPr lang="zh-CN" altLang="en-US" smtClean="0"/>
              <a:pPr/>
              <a:t>190</a:t>
            </a:fld>
            <a:endParaRPr lang="zh-CN" altLang="en-US" dirty="0"/>
          </a:p>
        </p:txBody>
      </p:sp>
    </p:spTree>
  </p:cSld>
  <p:clrMapOvr>
    <a:masterClrMapping/>
  </p:clrMapOvr>
  <p:transition spd="med">
    <p:zoom/>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1ADEDD8C-467C-2EC5-4D77-96B485DD46BA}"/>
              </a:ext>
            </a:extLst>
          </p:cNvPr>
          <p:cNvSpPr>
            <a:spLocks noGrp="1" noChangeArrowheads="1"/>
          </p:cNvSpPr>
          <p:nvPr>
            <p:ph type="title"/>
          </p:nvPr>
        </p:nvSpPr>
        <p:spPr/>
        <p:txBody>
          <a:bodyPr/>
          <a:lstStyle/>
          <a:p>
            <a:pPr eaLnBrk="1" hangingPunct="1"/>
            <a:r>
              <a:rPr lang="zh-CN" altLang="en-US" dirty="0"/>
              <a:t>考研题</a:t>
            </a:r>
            <a:r>
              <a:rPr lang="en-US" altLang="zh-CN"/>
              <a:t>7-5</a:t>
            </a:r>
          </a:p>
        </p:txBody>
      </p:sp>
      <p:sp>
        <p:nvSpPr>
          <p:cNvPr id="52226" name="Rectangle 3">
            <a:extLst>
              <a:ext uri="{FF2B5EF4-FFF2-40B4-BE49-F238E27FC236}">
                <a16:creationId xmlns:a16="http://schemas.microsoft.com/office/drawing/2014/main" id="{7DE0527E-09C0-EC18-6058-33B051C9E323}"/>
              </a:ext>
            </a:extLst>
          </p:cNvPr>
          <p:cNvSpPr>
            <a:spLocks noGrp="1" noChangeArrowheads="1"/>
          </p:cNvSpPr>
          <p:nvPr>
            <p:ph idx="1"/>
          </p:nvPr>
        </p:nvSpPr>
        <p:spPr>
          <a:xfrm>
            <a:off x="468313" y="1125538"/>
            <a:ext cx="8496300" cy="5507037"/>
          </a:xfrm>
        </p:spPr>
        <p:txBody>
          <a:bodyPr/>
          <a:lstStyle/>
          <a:p>
            <a:pPr eaLnBrk="1" hangingPunct="1"/>
            <a:r>
              <a:rPr lang="zh-CN" altLang="en-US"/>
              <a:t>（</a:t>
            </a:r>
            <a:r>
              <a:rPr lang="en-US" altLang="zh-CN"/>
              <a:t>3</a:t>
            </a:r>
            <a:r>
              <a:rPr lang="zh-CN" altLang="en-US"/>
              <a:t>）采用</a:t>
            </a:r>
            <a:r>
              <a:rPr lang="en-US" altLang="zh-CN"/>
              <a:t>FCFS</a:t>
            </a:r>
            <a:r>
              <a:rPr lang="zh-CN" altLang="en-US"/>
              <a:t>（先来先服务）调度策略更高效（</a:t>
            </a:r>
            <a:r>
              <a:rPr lang="en-US" altLang="zh-CN"/>
              <a:t>1</a:t>
            </a:r>
            <a:r>
              <a:rPr lang="zh-CN" altLang="en-US"/>
              <a:t>分）。因为</a:t>
            </a:r>
            <a:r>
              <a:rPr lang="en-US" altLang="zh-CN"/>
              <a:t>Flash</a:t>
            </a:r>
            <a:r>
              <a:rPr lang="zh-CN" altLang="en-US"/>
              <a:t>半导体存储器的物理结构不需要考虑寻道时间和旋转廷迟，可直接按</a:t>
            </a:r>
            <a:r>
              <a:rPr lang="en-US" altLang="zh-CN"/>
              <a:t>I/O</a:t>
            </a:r>
            <a:r>
              <a:rPr lang="zh-CN" altLang="en-US"/>
              <a:t>请求的先后顺序服务（</a:t>
            </a:r>
            <a:r>
              <a:rPr lang="en-US" altLang="zh-CN"/>
              <a:t>1</a:t>
            </a:r>
            <a:r>
              <a:rPr lang="zh-CN" altLang="en-US"/>
              <a:t>分）。</a:t>
            </a:r>
          </a:p>
          <a:p>
            <a:pPr eaLnBrk="1" hangingPunct="1"/>
            <a:r>
              <a:rPr lang="zh-CN" altLang="en-US"/>
              <a:t>提示：</a:t>
            </a:r>
            <a:r>
              <a:rPr lang="en-US" altLang="zh-CN"/>
              <a:t>Flash</a:t>
            </a:r>
            <a:r>
              <a:rPr lang="zh-CN" altLang="en-US"/>
              <a:t>存储器（闪存）属可改写</a:t>
            </a:r>
            <a:r>
              <a:rPr lang="en-US" altLang="zh-CN"/>
              <a:t>ROM</a:t>
            </a:r>
            <a:r>
              <a:rPr lang="zh-CN" altLang="en-US"/>
              <a:t>，是一种长寿命的非易失性（在断电情况下仍能保持所存储的数据信息）的存储器，数据删除不是以单个的字节为单位而是以固定的区块为单位，区块大小一般为</a:t>
            </a:r>
            <a:r>
              <a:rPr lang="en-US" altLang="zh-CN"/>
              <a:t>256KB</a:t>
            </a:r>
            <a:r>
              <a:rPr lang="zh-CN" altLang="en-US"/>
              <a:t>到</a:t>
            </a:r>
            <a:r>
              <a:rPr lang="en-US" altLang="zh-CN"/>
              <a:t>20MB</a:t>
            </a:r>
            <a:r>
              <a:rPr lang="zh-CN" altLang="en-US"/>
              <a:t>。</a:t>
            </a:r>
          </a:p>
        </p:txBody>
      </p:sp>
      <p:sp>
        <p:nvSpPr>
          <p:cNvPr id="2" name="灯片编号占位符 1">
            <a:extLst>
              <a:ext uri="{FF2B5EF4-FFF2-40B4-BE49-F238E27FC236}">
                <a16:creationId xmlns:a16="http://schemas.microsoft.com/office/drawing/2014/main" id="{95B84CCD-D4D3-EF13-3BEA-A16C4F8713AA}"/>
              </a:ext>
            </a:extLst>
          </p:cNvPr>
          <p:cNvSpPr>
            <a:spLocks noGrp="1"/>
          </p:cNvSpPr>
          <p:nvPr>
            <p:ph type="sldNum" sz="quarter" idx="12"/>
          </p:nvPr>
        </p:nvSpPr>
        <p:spPr/>
        <p:txBody>
          <a:bodyPr/>
          <a:lstStyle/>
          <a:p>
            <a:fld id="{4093CC90-4002-504C-BD88-C9A1D374048E}" type="slidenum">
              <a:rPr lang="zh-CN" altLang="en-US" smtClean="0"/>
              <a:pPr/>
              <a:t>191</a:t>
            </a:fld>
            <a:endParaRPr lang="zh-CN" altLang="en-US" dirty="0"/>
          </a:p>
        </p:txBody>
      </p:sp>
    </p:spTree>
  </p:cSld>
  <p:clrMapOvr>
    <a:masterClrMapping/>
  </p:clrMapOvr>
  <p:transition spd="med">
    <p:zoom/>
  </p:transition>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29111</TotalTime>
  <Words>12709</Words>
  <Application>Microsoft Macintosh PowerPoint</Application>
  <PresentationFormat>全屏显示(4:3)</PresentationFormat>
  <Paragraphs>1256</Paragraphs>
  <Slides>191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191</vt:i4>
      </vt:variant>
    </vt:vector>
  </HeadingPairs>
  <TitlesOfParts>
    <vt:vector size="201" baseType="lpstr">
      <vt:lpstr>等线</vt:lpstr>
      <vt:lpstr>宋体</vt:lpstr>
      <vt:lpstr>Century</vt:lpstr>
      <vt:lpstr>Helvetica</vt:lpstr>
      <vt:lpstr>Noto Sans</vt:lpstr>
      <vt:lpstr>Tahoma</vt:lpstr>
      <vt:lpstr>Times New Roman</vt:lpstr>
      <vt:lpstr>Wingdings</vt:lpstr>
      <vt:lpstr>1_Blends</vt:lpstr>
      <vt:lpstr>Word.Picture.8</vt:lpstr>
      <vt:lpstr>第9章 设备管理</vt:lpstr>
      <vt:lpstr>概述</vt:lpstr>
      <vt:lpstr>设备分类方法</vt:lpstr>
      <vt:lpstr>按设备的使用特性分类</vt:lpstr>
      <vt:lpstr>按设备的共享属性分类</vt:lpstr>
      <vt:lpstr>按信息交换单位分类</vt:lpstr>
      <vt:lpstr>按设备从属关系分类 </vt:lpstr>
      <vt:lpstr>设备管理的任务和功能 </vt:lpstr>
      <vt:lpstr>设备独立性类型</vt:lpstr>
      <vt:lpstr>I/O硬件</vt:lpstr>
      <vt:lpstr> I/O硬件</vt:lpstr>
      <vt:lpstr>设备控制器</vt:lpstr>
      <vt:lpstr>设备控制器的功能</vt:lpstr>
      <vt:lpstr>设备控制器的组成</vt:lpstr>
      <vt:lpstr>设备控制器组成图</vt:lpstr>
      <vt:lpstr>I/O通道</vt:lpstr>
      <vt:lpstr>通道的分类</vt:lpstr>
      <vt:lpstr>字节多路通道</vt:lpstr>
      <vt:lpstr>数据选择通道</vt:lpstr>
      <vt:lpstr>数据多路通道</vt:lpstr>
      <vt:lpstr>I/O系统结构</vt:lpstr>
      <vt:lpstr>微型机I/O系统结构</vt:lpstr>
      <vt:lpstr>典型的PC总线结构</vt:lpstr>
      <vt:lpstr>PC中的设备I/O端口位置（部分）</vt:lpstr>
      <vt:lpstr>主机I/O系统结构</vt:lpstr>
      <vt:lpstr>主机I/O系统结构示意图</vt:lpstr>
      <vt:lpstr>多通路I/O系统</vt:lpstr>
      <vt:lpstr>多通路I/O系统示意图</vt:lpstr>
      <vt:lpstr>轮询 Polling</vt:lpstr>
      <vt:lpstr>程序直接控制方式</vt:lpstr>
      <vt:lpstr>程序直接控制方式流程</vt:lpstr>
      <vt:lpstr>程序直接控制方式特点</vt:lpstr>
      <vt:lpstr>主机与控制器之间</vt:lpstr>
      <vt:lpstr>主机与控制器之间续</vt:lpstr>
      <vt:lpstr>中断 Interrupts</vt:lpstr>
      <vt:lpstr>中断控制方式流程</vt:lpstr>
      <vt:lpstr>中断驱动的I/O循环</vt:lpstr>
      <vt:lpstr>中断控制方式特点</vt:lpstr>
      <vt:lpstr>中断的基本概念</vt:lpstr>
      <vt:lpstr>中断的基本概念</vt:lpstr>
      <vt:lpstr>中断的基本概念</vt:lpstr>
      <vt:lpstr>中断的基本概念</vt:lpstr>
      <vt:lpstr>中断的分类及优先级</vt:lpstr>
      <vt:lpstr>中断的分类</vt:lpstr>
      <vt:lpstr>强迫性中断和自愿性中断</vt:lpstr>
      <vt:lpstr>外中断和内中断</vt:lpstr>
      <vt:lpstr>中断优先级 interrupt priority</vt:lpstr>
      <vt:lpstr>中断处理过程</vt:lpstr>
      <vt:lpstr>直接内存访问</vt:lpstr>
      <vt:lpstr>DMA控制器的寄存器</vt:lpstr>
      <vt:lpstr>DMA控制器的组成</vt:lpstr>
      <vt:lpstr>DMA工作过程</vt:lpstr>
      <vt:lpstr>通过六步来完成DMA传输</vt:lpstr>
      <vt:lpstr>DMA方式与中断方式的主要区别</vt:lpstr>
      <vt:lpstr>通道控制方式 </vt:lpstr>
      <vt:lpstr>通道工作过程</vt:lpstr>
      <vt:lpstr>应用程序I/O接口</vt:lpstr>
      <vt:lpstr>内核I/O结构</vt:lpstr>
      <vt:lpstr>I/O设备的特点</vt:lpstr>
      <vt:lpstr>块或字符设备</vt:lpstr>
      <vt:lpstr>网络设备</vt:lpstr>
      <vt:lpstr>时钟和定时器</vt:lpstr>
      <vt:lpstr>时钟和定时器 </vt:lpstr>
      <vt:lpstr>阻塞和非阻塞I/O</vt:lpstr>
      <vt:lpstr>两种I/O方法 Two I/O Methods</vt:lpstr>
      <vt:lpstr>内核I/O子系统</vt:lpstr>
      <vt:lpstr>I/O调度</vt:lpstr>
      <vt:lpstr>缓冲 Buffering</vt:lpstr>
      <vt:lpstr>缓冲的引入</vt:lpstr>
      <vt:lpstr>缓冲的实现方法</vt:lpstr>
      <vt:lpstr>单缓冲</vt:lpstr>
      <vt:lpstr>单缓冲（续）</vt:lpstr>
      <vt:lpstr>双缓冲</vt:lpstr>
      <vt:lpstr>双缓冲（续）</vt:lpstr>
      <vt:lpstr>循环缓冲</vt:lpstr>
      <vt:lpstr>循环缓冲的组成</vt:lpstr>
      <vt:lpstr>缓冲池</vt:lpstr>
      <vt:lpstr>缓冲池的构成</vt:lpstr>
      <vt:lpstr>缓冲池的工作方式</vt:lpstr>
      <vt:lpstr>收容输入 </vt:lpstr>
      <vt:lpstr>提取输入 </vt:lpstr>
      <vt:lpstr>收容输出 </vt:lpstr>
      <vt:lpstr>提取输出 </vt:lpstr>
      <vt:lpstr>高速缓存cache</vt:lpstr>
      <vt:lpstr>Spooling技术</vt:lpstr>
      <vt:lpstr>Spooling系统的组成</vt:lpstr>
      <vt:lpstr>输入井和输出井</vt:lpstr>
      <vt:lpstr>输入缓冲区和输出缓冲区</vt:lpstr>
      <vt:lpstr>输入进程和输出进程</vt:lpstr>
      <vt:lpstr>Spooling系统组成图</vt:lpstr>
      <vt:lpstr>共享打印机1</vt:lpstr>
      <vt:lpstr>共享打印机2</vt:lpstr>
      <vt:lpstr>设备预留</vt:lpstr>
      <vt:lpstr>设备分配</vt:lpstr>
      <vt:lpstr>设备管理的数据结构</vt:lpstr>
      <vt:lpstr>设备控制表（DCT）</vt:lpstr>
      <vt:lpstr>控制器控制表（COCT）</vt:lpstr>
      <vt:lpstr>通道控制表（CHCT）</vt:lpstr>
      <vt:lpstr>系统设备表（SDT）</vt:lpstr>
      <vt:lpstr>设备分配策略</vt:lpstr>
      <vt:lpstr>设备的使用性质</vt:lpstr>
      <vt:lpstr>独享分配</vt:lpstr>
      <vt:lpstr>共享分配</vt:lpstr>
      <vt:lpstr>虚拟分配</vt:lpstr>
      <vt:lpstr>设备分配算法</vt:lpstr>
      <vt:lpstr>设备分配的安全性</vt:lpstr>
      <vt:lpstr>静态分配</vt:lpstr>
      <vt:lpstr>动态分配</vt:lpstr>
      <vt:lpstr>安全分配</vt:lpstr>
      <vt:lpstr>不安全分配</vt:lpstr>
      <vt:lpstr>设备独立性</vt:lpstr>
      <vt:lpstr>设备独立性的实现</vt:lpstr>
      <vt:lpstr>设备分配程序—单通路设备分配</vt:lpstr>
      <vt:lpstr>分配设备</vt:lpstr>
      <vt:lpstr>分配控制器</vt:lpstr>
      <vt:lpstr>分配通道</vt:lpstr>
      <vt:lpstr>多通路的设备分配1</vt:lpstr>
      <vt:lpstr>多通路的设备分配2</vt:lpstr>
      <vt:lpstr>多通路的设备分配3</vt:lpstr>
      <vt:lpstr>多通路的设备分配4</vt:lpstr>
      <vt:lpstr>大容量存储器结构简介</vt:lpstr>
      <vt:lpstr>硬盘  Hard Disk</vt:lpstr>
      <vt:lpstr>磁盘数据组织和格式示意图</vt:lpstr>
      <vt:lpstr>逻辑扇区</vt:lpstr>
      <vt:lpstr>磁盘结构</vt:lpstr>
      <vt:lpstr>磁盘访问时间</vt:lpstr>
      <vt:lpstr>磁盘调度</vt:lpstr>
      <vt:lpstr>先来先服务调度</vt:lpstr>
      <vt:lpstr>先来先服务调度例</vt:lpstr>
      <vt:lpstr>最短寻道时间优先调度</vt:lpstr>
      <vt:lpstr>最短寻道时间优先调度例</vt:lpstr>
      <vt:lpstr>扫描调度</vt:lpstr>
      <vt:lpstr>扫描调度（LOOK）</vt:lpstr>
      <vt:lpstr>扫描算法例</vt:lpstr>
      <vt:lpstr>循环扫描算法(CSCAN,C-LOOK)</vt:lpstr>
      <vt:lpstr>循环扫描算法例</vt:lpstr>
      <vt:lpstr>N-Step-SCAN</vt:lpstr>
      <vt:lpstr>FSCAN算法</vt:lpstr>
      <vt:lpstr>磁盘调度算法的选择</vt:lpstr>
      <vt:lpstr>磁盘初始化</vt:lpstr>
      <vt:lpstr>磁盘格式化</vt:lpstr>
      <vt:lpstr>磁盘引导块 Boot Block</vt:lpstr>
      <vt:lpstr>坏块 Bad Block</vt:lpstr>
      <vt:lpstr>交换空间管理</vt:lpstr>
      <vt:lpstr>错误处理</vt:lpstr>
      <vt:lpstr>I/O保护  I/O Protection</vt:lpstr>
      <vt:lpstr>内核数据结构</vt:lpstr>
      <vt:lpstr>UNIX I/O Kernel Structure</vt:lpstr>
      <vt:lpstr>转换I/O请求为硬件操作</vt:lpstr>
      <vt:lpstr>I/O请求的周期</vt:lpstr>
      <vt:lpstr>I/O设备软件的层次结构</vt:lpstr>
      <vt:lpstr>中断处理程序</vt:lpstr>
      <vt:lpstr>设备驱动程序</vt:lpstr>
      <vt:lpstr>设备驱动程序的任务</vt:lpstr>
      <vt:lpstr>磁盘驱动程序功能</vt:lpstr>
      <vt:lpstr>驱动程序发出命令后的处理方式</vt:lpstr>
      <vt:lpstr>与设备无关的软件</vt:lpstr>
      <vt:lpstr>与设备无关软件的功能</vt:lpstr>
      <vt:lpstr>设备命名</vt:lpstr>
      <vt:lpstr>设备保护</vt:lpstr>
      <vt:lpstr>提供与设备无关的逻辑块</vt:lpstr>
      <vt:lpstr>缓冲</vt:lpstr>
      <vt:lpstr>存储设备的空间分配</vt:lpstr>
      <vt:lpstr>独占设备的分配和释放</vt:lpstr>
      <vt:lpstr>出错处理</vt:lpstr>
      <vt:lpstr>用户空间的软件</vt:lpstr>
      <vt:lpstr>I/O系统的层次结构 </vt:lpstr>
      <vt:lpstr>练习题</vt:lpstr>
      <vt:lpstr>练习题</vt:lpstr>
      <vt:lpstr>选择题1</vt:lpstr>
      <vt:lpstr>选择题2</vt:lpstr>
      <vt:lpstr>选择题3</vt:lpstr>
      <vt:lpstr>选择题4</vt:lpstr>
      <vt:lpstr>选择题5</vt:lpstr>
      <vt:lpstr>选择题6</vt:lpstr>
      <vt:lpstr>选择题7</vt:lpstr>
      <vt:lpstr>选择题8</vt:lpstr>
      <vt:lpstr>填空题1</vt:lpstr>
      <vt:lpstr>填空题2</vt:lpstr>
      <vt:lpstr>填空题3</vt:lpstr>
      <vt:lpstr>考研题1</vt:lpstr>
      <vt:lpstr>考研题2</vt:lpstr>
      <vt:lpstr>考研题3</vt:lpstr>
      <vt:lpstr>考研题4</vt:lpstr>
      <vt:lpstr>考研题5</vt:lpstr>
      <vt:lpstr>考研题6</vt:lpstr>
      <vt:lpstr>考研题7</vt:lpstr>
      <vt:lpstr>考研题7-2</vt:lpstr>
      <vt:lpstr>考研题7-3</vt:lpstr>
      <vt:lpstr>考研题7-4</vt:lpstr>
      <vt:lpstr>考研题7-5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进程线程调度</dc:title>
  <dc:creator>jj Jiang</dc:creator>
  <cp:lastModifiedBy>jj Jiang</cp:lastModifiedBy>
  <cp:revision>169</cp:revision>
  <dcterms:created xsi:type="dcterms:W3CDTF">2023-10-06T13:55:10Z</dcterms:created>
  <dcterms:modified xsi:type="dcterms:W3CDTF">2025-02-13T14:07:10Z</dcterms:modified>
</cp:coreProperties>
</file>