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3"/>
  </p:notesMasterIdLst>
  <p:sldIdLst>
    <p:sldId id="257" r:id="rId2"/>
    <p:sldId id="329" r:id="rId3"/>
    <p:sldId id="330" r:id="rId4"/>
    <p:sldId id="258" r:id="rId5"/>
    <p:sldId id="259" r:id="rId6"/>
    <p:sldId id="260" r:id="rId7"/>
    <p:sldId id="261" r:id="rId8"/>
    <p:sldId id="262" r:id="rId9"/>
    <p:sldId id="263" r:id="rId10"/>
    <p:sldId id="274" r:id="rId11"/>
    <p:sldId id="275" r:id="rId12"/>
    <p:sldId id="276" r:id="rId13"/>
    <p:sldId id="277" r:id="rId14"/>
    <p:sldId id="278" r:id="rId15"/>
    <p:sldId id="264" r:id="rId16"/>
    <p:sldId id="265" r:id="rId17"/>
    <p:sldId id="266" r:id="rId18"/>
    <p:sldId id="267" r:id="rId19"/>
    <p:sldId id="268" r:id="rId20"/>
    <p:sldId id="279" r:id="rId21"/>
    <p:sldId id="280" r:id="rId22"/>
    <p:sldId id="281" r:id="rId23"/>
    <p:sldId id="270" r:id="rId24"/>
    <p:sldId id="271" r:id="rId25"/>
    <p:sldId id="269" r:id="rId26"/>
    <p:sldId id="291" r:id="rId27"/>
    <p:sldId id="292" r:id="rId28"/>
    <p:sldId id="272" r:id="rId29"/>
    <p:sldId id="273" r:id="rId30"/>
    <p:sldId id="282" r:id="rId31"/>
    <p:sldId id="283" r:id="rId32"/>
    <p:sldId id="284" r:id="rId33"/>
    <p:sldId id="285" r:id="rId34"/>
    <p:sldId id="290" r:id="rId35"/>
    <p:sldId id="289" r:id="rId36"/>
    <p:sldId id="286" r:id="rId37"/>
    <p:sldId id="287" r:id="rId38"/>
    <p:sldId id="288" r:id="rId39"/>
    <p:sldId id="293" r:id="rId40"/>
    <p:sldId id="294" r:id="rId41"/>
    <p:sldId id="295" r:id="rId42"/>
    <p:sldId id="298" r:id="rId43"/>
    <p:sldId id="297" r:id="rId44"/>
    <p:sldId id="296" r:id="rId45"/>
    <p:sldId id="301" r:id="rId46"/>
    <p:sldId id="300" r:id="rId47"/>
    <p:sldId id="305" r:id="rId48"/>
    <p:sldId id="306" r:id="rId49"/>
    <p:sldId id="307" r:id="rId50"/>
    <p:sldId id="308" r:id="rId51"/>
    <p:sldId id="326" r:id="rId52"/>
    <p:sldId id="311" r:id="rId53"/>
    <p:sldId id="331" r:id="rId54"/>
    <p:sldId id="332" r:id="rId55"/>
    <p:sldId id="309" r:id="rId56"/>
    <p:sldId id="310" r:id="rId57"/>
    <p:sldId id="327" r:id="rId58"/>
    <p:sldId id="315" r:id="rId59"/>
    <p:sldId id="302" r:id="rId60"/>
    <p:sldId id="303" r:id="rId61"/>
    <p:sldId id="328" r:id="rId6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DD8"/>
    <a:srgbClr val="EAF1F1"/>
    <a:srgbClr val="FFF8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228"/>
  </p:normalViewPr>
  <p:slideViewPr>
    <p:cSldViewPr snapToGrid="0">
      <p:cViewPr varScale="1">
        <p:scale>
          <a:sx n="102" d="100"/>
          <a:sy n="102" d="100"/>
        </p:scale>
        <p:origin x="24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2024/10/11</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程序员需要等待</a:t>
            </a:r>
            <a:r>
              <a:rPr kumimoji="1" lang="en-US" altLang="zh-CN" dirty="0"/>
              <a:t>30</a:t>
            </a:r>
            <a:r>
              <a:rPr kumimoji="1" lang="zh-CN" altLang="en-US" dirty="0"/>
              <a:t>分钟才能播放他爱听的音乐</a:t>
            </a:r>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2</a:t>
            </a:fld>
            <a:endParaRPr kumimoji="1" lang="zh-CN" altLang="en-US"/>
          </a:p>
        </p:txBody>
      </p:sp>
    </p:spTree>
    <p:extLst>
      <p:ext uri="{BB962C8B-B14F-4D97-AF65-F5344CB8AC3E}">
        <p14:creationId xmlns:p14="http://schemas.microsoft.com/office/powerpoint/2010/main" val="4111019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程序员需要等待</a:t>
            </a:r>
            <a:r>
              <a:rPr kumimoji="1" lang="en-US" altLang="zh-CN" dirty="0"/>
              <a:t>30</a:t>
            </a:r>
            <a:r>
              <a:rPr kumimoji="1" lang="zh-CN" altLang="en-US" dirty="0"/>
              <a:t>分钟才能播放他爱听的音乐</a:t>
            </a:r>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3</a:t>
            </a:fld>
            <a:endParaRPr kumimoji="1" lang="zh-CN" altLang="en-US"/>
          </a:p>
        </p:txBody>
      </p:sp>
    </p:spTree>
    <p:extLst>
      <p:ext uri="{BB962C8B-B14F-4D97-AF65-F5344CB8AC3E}">
        <p14:creationId xmlns:p14="http://schemas.microsoft.com/office/powerpoint/2010/main" val="2279476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29</a:t>
            </a:fld>
            <a:endParaRPr kumimoji="1" lang="zh-CN" altLang="en-US"/>
          </a:p>
        </p:txBody>
      </p:sp>
    </p:spTree>
    <p:extLst>
      <p:ext uri="{BB962C8B-B14F-4D97-AF65-F5344CB8AC3E}">
        <p14:creationId xmlns:p14="http://schemas.microsoft.com/office/powerpoint/2010/main" val="2628012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多级反馈队列调度算法是一种动态优先级调度算法，它能够根据进程的行为和需求动态地改变进程的优先级。这种调度算法将就绪队列划分为多个不同的队列，每个队列具有不同的优先级，并且每个队列可以使用不同的调度算法。例如，顶级队列可能使用时间片轮转调度，而底层队列可能使用先来先服务调度。</a:t>
            </a:r>
          </a:p>
          <a:p>
            <a:endParaRPr kumimoji="1" lang="zh-CN" altLang="en-US" dirty="0"/>
          </a:p>
          <a:p>
            <a:r>
              <a:rPr kumimoji="1" lang="zh-CN" altLang="en-US" dirty="0"/>
              <a:t>在多级反馈队列中，</a:t>
            </a:r>
            <a:r>
              <a:rPr kumimoji="1" lang="en-US" altLang="zh-CN" dirty="0"/>
              <a:t>"</a:t>
            </a:r>
            <a:r>
              <a:rPr kumimoji="1" lang="en" altLang="zh-CN" dirty="0"/>
              <a:t>Aging"</a:t>
            </a:r>
            <a:r>
              <a:rPr kumimoji="1" lang="zh-CN" altLang="en-US" dirty="0"/>
              <a:t>是一种技术，用于避免低优先级的进程长时间得不到调度。随着等待时间的增加，进程在队列中的优先级会逐渐提高，这就是</a:t>
            </a:r>
            <a:r>
              <a:rPr kumimoji="1" lang="en-US" altLang="zh-CN" dirty="0"/>
              <a:t>"</a:t>
            </a:r>
            <a:r>
              <a:rPr kumimoji="1" lang="en" altLang="zh-CN" dirty="0"/>
              <a:t>Aging"</a:t>
            </a:r>
            <a:r>
              <a:rPr kumimoji="1" lang="zh-CN" altLang="en" dirty="0"/>
              <a:t>。</a:t>
            </a:r>
            <a:r>
              <a:rPr kumimoji="1" lang="zh-CN" altLang="en-US" dirty="0"/>
              <a:t>这样，即使一个进程的优先级最初很低，但如果它长时间得不到服务，其优先级也会逐渐提高，最终它将得到调度。</a:t>
            </a:r>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37</a:t>
            </a:fld>
            <a:endParaRPr kumimoji="1" lang="zh-CN" altLang="en-US"/>
          </a:p>
        </p:txBody>
      </p:sp>
    </p:spTree>
    <p:extLst>
      <p:ext uri="{BB962C8B-B14F-4D97-AF65-F5344CB8AC3E}">
        <p14:creationId xmlns:p14="http://schemas.microsoft.com/office/powerpoint/2010/main" val="3944736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46</a:t>
            </a:fld>
            <a:endParaRPr kumimoji="1" lang="zh-CN" altLang="en-US"/>
          </a:p>
        </p:txBody>
      </p:sp>
    </p:spTree>
    <p:extLst>
      <p:ext uri="{BB962C8B-B14F-4D97-AF65-F5344CB8AC3E}">
        <p14:creationId xmlns:p14="http://schemas.microsoft.com/office/powerpoint/2010/main" val="2493684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如果调度算法设计得不好，可能会导致某些处理器过载，而其他处理器闲置，从而降低系统的整体性能。</a:t>
            </a:r>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50</a:t>
            </a:fld>
            <a:endParaRPr kumimoji="1" lang="zh-CN" altLang="en-US"/>
          </a:p>
        </p:txBody>
      </p:sp>
    </p:spTree>
    <p:extLst>
      <p:ext uri="{BB962C8B-B14F-4D97-AF65-F5344CB8AC3E}">
        <p14:creationId xmlns:p14="http://schemas.microsoft.com/office/powerpoint/2010/main" val="2137561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56</a:t>
            </a:fld>
            <a:endParaRPr kumimoji="1" lang="zh-CN" altLang="en-US"/>
          </a:p>
        </p:txBody>
      </p:sp>
    </p:spTree>
    <p:extLst>
      <p:ext uri="{BB962C8B-B14F-4D97-AF65-F5344CB8AC3E}">
        <p14:creationId xmlns:p14="http://schemas.microsoft.com/office/powerpoint/2010/main" val="1975936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同构多处理器任务调度算法是在同构多处理器系统中使用的任务调度算法。在同构多处理器系统中，所有的处理器都具有相同的性能和功能</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58</a:t>
            </a:fld>
            <a:endParaRPr kumimoji="1" lang="zh-CN" altLang="en-US"/>
          </a:p>
        </p:txBody>
      </p:sp>
    </p:spTree>
    <p:extLst>
      <p:ext uri="{BB962C8B-B14F-4D97-AF65-F5344CB8AC3E}">
        <p14:creationId xmlns:p14="http://schemas.microsoft.com/office/powerpoint/2010/main" val="2676737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61</a:t>
            </a:fld>
            <a:endParaRPr kumimoji="1" lang="zh-CN" altLang="en-US"/>
          </a:p>
        </p:txBody>
      </p:sp>
    </p:spTree>
    <p:extLst>
      <p:ext uri="{BB962C8B-B14F-4D97-AF65-F5344CB8AC3E}">
        <p14:creationId xmlns:p14="http://schemas.microsoft.com/office/powerpoint/2010/main" val="43045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B31256-4040-D574-1352-7BF9958E21CB}"/>
              </a:ext>
            </a:extLst>
          </p:cNvPr>
          <p:cNvGrpSpPr>
            <a:grpSpLocks/>
          </p:cNvGrpSpPr>
          <p:nvPr/>
        </p:nvGrpSpPr>
        <p:grpSpPr bwMode="auto">
          <a:xfrm>
            <a:off x="2" y="2438406"/>
            <a:ext cx="9009063" cy="1052513"/>
            <a:chOff x="0" y="1536"/>
            <a:chExt cx="5675" cy="663"/>
          </a:xfrm>
        </p:grpSpPr>
        <p:grpSp>
          <p:nvGrpSpPr>
            <p:cNvPr id="3" name="Group 3">
              <a:extLst>
                <a:ext uri="{FF2B5EF4-FFF2-40B4-BE49-F238E27FC236}">
                  <a16:creationId xmlns:a16="http://schemas.microsoft.com/office/drawing/2014/main" id="{EA6626CB-3703-E0DB-640B-674546674C3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2311AE7-2C4F-8267-D2B8-353BB037696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11" name="Rectangle 5">
                <a:extLst>
                  <a:ext uri="{FF2B5EF4-FFF2-40B4-BE49-F238E27FC236}">
                    <a16:creationId xmlns:a16="http://schemas.microsoft.com/office/drawing/2014/main" id="{8CF3E795-8736-A25F-18DB-60F43310902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grpSp>
          <p:nvGrpSpPr>
            <p:cNvPr id="4" name="Group 6">
              <a:extLst>
                <a:ext uri="{FF2B5EF4-FFF2-40B4-BE49-F238E27FC236}">
                  <a16:creationId xmlns:a16="http://schemas.microsoft.com/office/drawing/2014/main" id="{332554FD-EA9F-C7BC-4962-5BD0321F09C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247E854-890A-8AB4-8D1E-21A25F6EC49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9" name="Rectangle 8">
                <a:extLst>
                  <a:ext uri="{FF2B5EF4-FFF2-40B4-BE49-F238E27FC236}">
                    <a16:creationId xmlns:a16="http://schemas.microsoft.com/office/drawing/2014/main" id="{F9BD07B4-2FE4-0227-16AD-D37B05C8FC0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5" name="Rectangle 9">
              <a:extLst>
                <a:ext uri="{FF2B5EF4-FFF2-40B4-BE49-F238E27FC236}">
                  <a16:creationId xmlns:a16="http://schemas.microsoft.com/office/drawing/2014/main" id="{CC6F0594-41E8-FEBD-7452-6A6E1E24460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 name="Rectangle 10">
              <a:extLst>
                <a:ext uri="{FF2B5EF4-FFF2-40B4-BE49-F238E27FC236}">
                  <a16:creationId xmlns:a16="http://schemas.microsoft.com/office/drawing/2014/main" id="{E3D8FBF2-0838-B26A-51A0-086A51CFA69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7" name="Rectangle 11">
              <a:extLst>
                <a:ext uri="{FF2B5EF4-FFF2-40B4-BE49-F238E27FC236}">
                  <a16:creationId xmlns:a16="http://schemas.microsoft.com/office/drawing/2014/main" id="{7B338C99-4BFA-EC8E-7B91-F5844CDD83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atin typeface="Century" panose="02040604050505020304" pitchFamily="18" charset="0"/>
              </a:defRPr>
            </a:lvl1pPr>
          </a:lstStyle>
          <a:p>
            <a:r>
              <a:rPr lang="zh-CN" altLang="en-US" noProof="1"/>
              <a:t>单击此处编辑母版标题样式</a:t>
            </a:r>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a:t>单击此处编辑母版文本样式</a:t>
            </a:r>
          </a:p>
        </p:txBody>
      </p:sp>
      <p:sp>
        <p:nvSpPr>
          <p:cNvPr id="7" name="日期占位符 6">
            <a:extLst>
              <a:ext uri="{FF2B5EF4-FFF2-40B4-BE49-F238E27FC236}">
                <a16:creationId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图表占位符 3"/>
          <p:cNvSpPr>
            <a:spLocks noGrp="1"/>
          </p:cNvSpPr>
          <p:nvPr>
            <p:ph type="chart" sz="half" idx="2"/>
          </p:nvPr>
        </p:nvSpPr>
        <p:spPr>
          <a:xfrm>
            <a:off x="4897438" y="1233488"/>
            <a:ext cx="3810000" cy="4895850"/>
          </a:xfrm>
        </p:spPr>
        <p:txBody>
          <a:bodyPr/>
          <a:lstStyle/>
          <a:p>
            <a:pPr lvl="0"/>
            <a:endParaRPr lang="zh-CN" altLang="en-US" noProof="0"/>
          </a:p>
        </p:txBody>
      </p:sp>
      <p:sp>
        <p:nvSpPr>
          <p:cNvPr id="5" name="Rectangle 11">
            <a:extLst>
              <a:ext uri="{FF2B5EF4-FFF2-40B4-BE49-F238E27FC236}">
                <a16:creationId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图表占位符 2"/>
          <p:cNvSpPr>
            <a:spLocks noGrp="1"/>
          </p:cNvSpPr>
          <p:nvPr>
            <p:ph type="chart" idx="1"/>
          </p:nvPr>
        </p:nvSpPr>
        <p:spPr>
          <a:xfrm>
            <a:off x="935038" y="1233488"/>
            <a:ext cx="7772400" cy="4895850"/>
          </a:xfrm>
        </p:spPr>
        <p:txBody>
          <a:bodyPr/>
          <a:lstStyle/>
          <a:p>
            <a:pPr lvl="0"/>
            <a:endParaRPr lang="zh-CN" altLang="en-US" noProof="0"/>
          </a:p>
        </p:txBody>
      </p:sp>
      <p:sp>
        <p:nvSpPr>
          <p:cNvPr id="4" name="Rectangle 11">
            <a:extLst>
              <a:ext uri="{FF2B5EF4-FFF2-40B4-BE49-F238E27FC236}">
                <a16:creationId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10">
            <a:extLst>
              <a:ext uri="{FF2B5EF4-FFF2-40B4-BE49-F238E27FC236}">
                <a16:creationId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5" name="图片 4">
            <a:extLst>
              <a:ext uri="{FF2B5EF4-FFF2-40B4-BE49-F238E27FC236}">
                <a16:creationId xmlns:a16="http://schemas.microsoft.com/office/drawing/2014/main" id="{C3BB9AFC-C9BC-E655-334A-DE8EBC2F172F}"/>
              </a:ext>
            </a:extLst>
          </p:cNvPr>
          <p:cNvPicPr>
            <a:picLocks noChangeAspect="1"/>
          </p:cNvPicPr>
          <p:nvPr userDrawn="1"/>
        </p:nvPicPr>
        <p:blipFill>
          <a:blip r:embed="rId15"/>
          <a:stretch>
            <a:fillRect/>
          </a:stretch>
        </p:blipFill>
        <p:spPr>
          <a:xfrm>
            <a:off x="8532443" y="5624518"/>
            <a:ext cx="512549" cy="1106809"/>
          </a:xfrm>
          <a:prstGeom prst="rect">
            <a:avLst/>
          </a:prstGeom>
        </p:spPr>
      </p:pic>
      <p:pic>
        <p:nvPicPr>
          <p:cNvPr id="6" name="图片 5">
            <a:extLst>
              <a:ext uri="{FF2B5EF4-FFF2-40B4-BE49-F238E27FC236}">
                <a16:creationId xmlns:a16="http://schemas.microsoft.com/office/drawing/2014/main" id="{3CE6F6BF-4B21-EBA8-0316-496A78B2CDF2}"/>
              </a:ext>
            </a:extLst>
          </p:cNvPr>
          <p:cNvPicPr>
            <a:picLocks noChangeAspect="1"/>
          </p:cNvPicPr>
          <p:nvPr userDrawn="1"/>
        </p:nvPicPr>
        <p:blipFill>
          <a:blip r:embed="rId16"/>
          <a:stretch>
            <a:fillRect/>
          </a:stretch>
        </p:blipFill>
        <p:spPr>
          <a:xfrm rot="3532301">
            <a:off x="53066" y="512497"/>
            <a:ext cx="678101" cy="376134"/>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zoom/>
  </p:transition>
  <p:hf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78220-5F10-3448-53B0-A082ACF36790}"/>
              </a:ext>
            </a:extLst>
          </p:cNvPr>
          <p:cNvSpPr>
            <a:spLocks noGrp="1"/>
          </p:cNvSpPr>
          <p:nvPr>
            <p:ph type="title"/>
          </p:nvPr>
        </p:nvSpPr>
        <p:spPr/>
        <p:txBody>
          <a:bodyPr/>
          <a:lstStyle/>
          <a:p>
            <a:r>
              <a:rPr kumimoji="1" lang="zh-CN" altLang="en-US" dirty="0"/>
              <a:t>第</a:t>
            </a:r>
            <a:r>
              <a:rPr kumimoji="1" lang="en-US" altLang="zh-CN" dirty="0"/>
              <a:t>4</a:t>
            </a:r>
            <a:r>
              <a:rPr kumimoji="1" lang="zh-CN" altLang="en-US" dirty="0"/>
              <a:t>章 进程线程调度</a:t>
            </a:r>
          </a:p>
        </p:txBody>
      </p:sp>
      <p:sp>
        <p:nvSpPr>
          <p:cNvPr id="3" name="内容占位符 2">
            <a:extLst>
              <a:ext uri="{FF2B5EF4-FFF2-40B4-BE49-F238E27FC236}">
                <a16:creationId xmlns:a16="http://schemas.microsoft.com/office/drawing/2014/main" id="{AD7B2C0A-B2D8-3755-E6C0-89A613AD7E93}"/>
              </a:ext>
            </a:extLst>
          </p:cNvPr>
          <p:cNvSpPr>
            <a:spLocks noGrp="1"/>
          </p:cNvSpPr>
          <p:nvPr>
            <p:ph idx="1"/>
          </p:nvPr>
        </p:nvSpPr>
        <p:spPr/>
        <p:txBody>
          <a:bodyPr/>
          <a:lstStyle/>
          <a:p>
            <a:r>
              <a:rPr kumimoji="1" lang="zh-CN" altLang="en-US" dirty="0"/>
              <a:t>本章内容</a:t>
            </a:r>
            <a:endParaRPr kumimoji="1" lang="en-US" altLang="zh-CN" dirty="0"/>
          </a:p>
          <a:p>
            <a:pPr lvl="1"/>
            <a:r>
              <a:rPr kumimoji="1" lang="en-US" altLang="zh-CN" dirty="0"/>
              <a:t>1.</a:t>
            </a:r>
            <a:r>
              <a:rPr kumimoji="1" lang="zh-CN" altLang="en-US" dirty="0"/>
              <a:t> 多级调度、引发调度的原因、调度过程的实现</a:t>
            </a:r>
            <a:endParaRPr kumimoji="1" lang="en-US" altLang="zh-CN" dirty="0"/>
          </a:p>
          <a:p>
            <a:pPr lvl="1"/>
            <a:r>
              <a:rPr kumimoji="1" lang="en-US" altLang="zh-CN" dirty="0"/>
              <a:t>2.</a:t>
            </a:r>
            <a:r>
              <a:rPr kumimoji="1" lang="zh-CN" altLang="en-US" dirty="0"/>
              <a:t> 调度算法设计准则</a:t>
            </a:r>
            <a:endParaRPr kumimoji="1" lang="en-US" altLang="zh-CN" dirty="0"/>
          </a:p>
          <a:p>
            <a:pPr lvl="1"/>
            <a:r>
              <a:rPr kumimoji="1" lang="en-US" altLang="zh-CN" dirty="0"/>
              <a:t>3.</a:t>
            </a:r>
            <a:r>
              <a:rPr kumimoji="1" lang="zh-CN" altLang="en-US" dirty="0"/>
              <a:t> 经典的进程调度算法</a:t>
            </a:r>
            <a:endParaRPr kumimoji="1" lang="en-US" altLang="zh-CN" dirty="0"/>
          </a:p>
          <a:p>
            <a:pPr lvl="1"/>
            <a:r>
              <a:rPr kumimoji="1" lang="en-US" altLang="zh-CN" dirty="0"/>
              <a:t>4.</a:t>
            </a:r>
            <a:r>
              <a:rPr kumimoji="1" lang="zh-CN" altLang="en-US" dirty="0"/>
              <a:t> 操作系统调度算法实例</a:t>
            </a:r>
            <a:endParaRPr kumimoji="1" lang="en-US" altLang="zh-CN" dirty="0"/>
          </a:p>
          <a:p>
            <a:pPr lvl="1"/>
            <a:r>
              <a:rPr kumimoji="1" lang="en-US" altLang="zh-CN" dirty="0"/>
              <a:t>5.</a:t>
            </a:r>
            <a:r>
              <a:rPr kumimoji="1" lang="zh-CN" altLang="en-US" dirty="0"/>
              <a:t> 多处理器调度算法</a:t>
            </a:r>
          </a:p>
        </p:txBody>
      </p:sp>
      <p:sp>
        <p:nvSpPr>
          <p:cNvPr id="4" name="灯片编号占位符 3">
            <a:extLst>
              <a:ext uri="{FF2B5EF4-FFF2-40B4-BE49-F238E27FC236}">
                <a16:creationId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4CEB8C-367E-0CAA-D3E6-39F4639532CF}"/>
              </a:ext>
            </a:extLst>
          </p:cNvPr>
          <p:cNvSpPr>
            <a:spLocks noGrp="1"/>
          </p:cNvSpPr>
          <p:nvPr>
            <p:ph type="title"/>
          </p:nvPr>
        </p:nvSpPr>
        <p:spPr/>
        <p:txBody>
          <a:bodyPr/>
          <a:lstStyle/>
          <a:p>
            <a:r>
              <a:rPr kumimoji="1" lang="zh-CN" altLang="en-US" dirty="0"/>
              <a:t>一个应用场景</a:t>
            </a:r>
          </a:p>
        </p:txBody>
      </p:sp>
      <p:sp>
        <p:nvSpPr>
          <p:cNvPr id="3" name="内容占位符 2">
            <a:extLst>
              <a:ext uri="{FF2B5EF4-FFF2-40B4-BE49-F238E27FC236}">
                <a16:creationId xmlns:a16="http://schemas.microsoft.com/office/drawing/2014/main" id="{D068BCEA-F6F0-16B3-374B-2ED4685724C3}"/>
              </a:ext>
            </a:extLst>
          </p:cNvPr>
          <p:cNvSpPr>
            <a:spLocks noGrp="1"/>
          </p:cNvSpPr>
          <p:nvPr>
            <p:ph idx="1"/>
          </p:nvPr>
        </p:nvSpPr>
        <p:spPr/>
        <p:txBody>
          <a:bodyPr/>
          <a:lstStyle/>
          <a:p>
            <a:r>
              <a:rPr kumimoji="1" lang="zh-CN" altLang="en-US" dirty="0"/>
              <a:t>单核</a:t>
            </a:r>
            <a:r>
              <a:rPr kumimoji="1" lang="en-US" altLang="zh-CN" dirty="0"/>
              <a:t>CPU</a:t>
            </a:r>
            <a:r>
              <a:rPr kumimoji="1" lang="zh-CN" altLang="en-US" dirty="0"/>
              <a:t>上执行</a:t>
            </a:r>
            <a:r>
              <a:rPr kumimoji="1" lang="en-US" altLang="zh-CN" dirty="0"/>
              <a:t>30</a:t>
            </a:r>
            <a:r>
              <a:rPr kumimoji="1" lang="zh-CN" altLang="en-US" dirty="0"/>
              <a:t>分钟机器学习程序和播放音乐</a:t>
            </a:r>
          </a:p>
        </p:txBody>
      </p:sp>
      <p:sp>
        <p:nvSpPr>
          <p:cNvPr id="4" name="灯片编号占位符 3">
            <a:extLst>
              <a:ext uri="{FF2B5EF4-FFF2-40B4-BE49-F238E27FC236}">
                <a16:creationId xmlns:a16="http://schemas.microsoft.com/office/drawing/2014/main" id="{8F850E34-DE8A-968E-6E04-BB136E0E08E6}"/>
              </a:ext>
            </a:extLst>
          </p:cNvPr>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pic>
        <p:nvPicPr>
          <p:cNvPr id="5" name="图片 4">
            <a:extLst>
              <a:ext uri="{FF2B5EF4-FFF2-40B4-BE49-F238E27FC236}">
                <a16:creationId xmlns:a16="http://schemas.microsoft.com/office/drawing/2014/main" id="{2D879D38-3468-A399-120B-29D1F6AE6AA1}"/>
              </a:ext>
            </a:extLst>
          </p:cNvPr>
          <p:cNvPicPr>
            <a:picLocks noChangeAspect="1"/>
          </p:cNvPicPr>
          <p:nvPr/>
        </p:nvPicPr>
        <p:blipFill>
          <a:blip r:embed="rId3"/>
          <a:stretch>
            <a:fillRect/>
          </a:stretch>
        </p:blipFill>
        <p:spPr>
          <a:xfrm>
            <a:off x="1163710" y="2256749"/>
            <a:ext cx="7315055" cy="3267555"/>
          </a:xfrm>
          <a:prstGeom prst="rect">
            <a:avLst/>
          </a:prstGeom>
        </p:spPr>
      </p:pic>
      <p:sp>
        <p:nvSpPr>
          <p:cNvPr id="6" name="文本框 5">
            <a:extLst>
              <a:ext uri="{FF2B5EF4-FFF2-40B4-BE49-F238E27FC236}">
                <a16:creationId xmlns:a16="http://schemas.microsoft.com/office/drawing/2014/main" id="{5612D55A-21FA-6EF8-B80E-3020167E953D}"/>
              </a:ext>
            </a:extLst>
          </p:cNvPr>
          <p:cNvSpPr txBox="1"/>
          <p:nvPr/>
        </p:nvSpPr>
        <p:spPr>
          <a:xfrm>
            <a:off x="1390389" y="5853405"/>
            <a:ext cx="2981195" cy="461665"/>
          </a:xfrm>
          <a:prstGeom prst="rect">
            <a:avLst/>
          </a:prstGeom>
          <a:noFill/>
        </p:spPr>
        <p:txBody>
          <a:bodyPr wrap="square" rtlCol="0">
            <a:spAutoFit/>
          </a:bodyPr>
          <a:lstStyle/>
          <a:p>
            <a:r>
              <a:rPr kumimoji="1" lang="zh-CN" altLang="en-US" sz="2400" dirty="0"/>
              <a:t>如果没有调度器。。。</a:t>
            </a:r>
          </a:p>
        </p:txBody>
      </p:sp>
    </p:spTree>
    <p:extLst>
      <p:ext uri="{BB962C8B-B14F-4D97-AF65-F5344CB8AC3E}">
        <p14:creationId xmlns:p14="http://schemas.microsoft.com/office/powerpoint/2010/main" val="203866533"/>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upRight)">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4CEB8C-367E-0CAA-D3E6-39F4639532CF}"/>
              </a:ext>
            </a:extLst>
          </p:cNvPr>
          <p:cNvSpPr>
            <a:spLocks noGrp="1"/>
          </p:cNvSpPr>
          <p:nvPr>
            <p:ph type="title"/>
          </p:nvPr>
        </p:nvSpPr>
        <p:spPr/>
        <p:txBody>
          <a:bodyPr/>
          <a:lstStyle/>
          <a:p>
            <a:r>
              <a:rPr kumimoji="1" lang="zh-CN" altLang="en-US" dirty="0"/>
              <a:t>一个应用场景</a:t>
            </a:r>
          </a:p>
        </p:txBody>
      </p:sp>
      <p:sp>
        <p:nvSpPr>
          <p:cNvPr id="3" name="内容占位符 2">
            <a:extLst>
              <a:ext uri="{FF2B5EF4-FFF2-40B4-BE49-F238E27FC236}">
                <a16:creationId xmlns:a16="http://schemas.microsoft.com/office/drawing/2014/main" id="{D068BCEA-F6F0-16B3-374B-2ED4685724C3}"/>
              </a:ext>
            </a:extLst>
          </p:cNvPr>
          <p:cNvSpPr>
            <a:spLocks noGrp="1"/>
          </p:cNvSpPr>
          <p:nvPr>
            <p:ph idx="1"/>
          </p:nvPr>
        </p:nvSpPr>
        <p:spPr/>
        <p:txBody>
          <a:bodyPr/>
          <a:lstStyle/>
          <a:p>
            <a:r>
              <a:rPr kumimoji="1" lang="zh-CN" altLang="en-US" dirty="0"/>
              <a:t>单核</a:t>
            </a:r>
            <a:r>
              <a:rPr kumimoji="1" lang="en-US" altLang="zh-CN" dirty="0"/>
              <a:t>CPU</a:t>
            </a:r>
            <a:r>
              <a:rPr kumimoji="1" lang="zh-CN" altLang="en-US" dirty="0"/>
              <a:t>上执行</a:t>
            </a:r>
            <a:r>
              <a:rPr kumimoji="1" lang="en-US" altLang="zh-CN" dirty="0"/>
              <a:t>30</a:t>
            </a:r>
            <a:r>
              <a:rPr kumimoji="1" lang="zh-CN" altLang="en-US" dirty="0"/>
              <a:t>分钟机器学习程序和播放音乐</a:t>
            </a:r>
          </a:p>
        </p:txBody>
      </p:sp>
      <p:sp>
        <p:nvSpPr>
          <p:cNvPr id="4" name="灯片编号占位符 3">
            <a:extLst>
              <a:ext uri="{FF2B5EF4-FFF2-40B4-BE49-F238E27FC236}">
                <a16:creationId xmlns:a16="http://schemas.microsoft.com/office/drawing/2014/main" id="{8F850E34-DE8A-968E-6E04-BB136E0E08E6}"/>
              </a:ext>
            </a:extLst>
          </p:cNvPr>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
        <p:nvSpPr>
          <p:cNvPr id="6" name="文本框 5">
            <a:extLst>
              <a:ext uri="{FF2B5EF4-FFF2-40B4-BE49-F238E27FC236}">
                <a16:creationId xmlns:a16="http://schemas.microsoft.com/office/drawing/2014/main" id="{5612D55A-21FA-6EF8-B80E-3020167E953D}"/>
              </a:ext>
            </a:extLst>
          </p:cNvPr>
          <p:cNvSpPr txBox="1"/>
          <p:nvPr/>
        </p:nvSpPr>
        <p:spPr>
          <a:xfrm>
            <a:off x="1390389" y="5552781"/>
            <a:ext cx="5391411" cy="830997"/>
          </a:xfrm>
          <a:prstGeom prst="rect">
            <a:avLst/>
          </a:prstGeom>
          <a:noFill/>
        </p:spPr>
        <p:txBody>
          <a:bodyPr wrap="square" rtlCol="0">
            <a:spAutoFit/>
          </a:bodyPr>
          <a:lstStyle/>
          <a:p>
            <a:pPr algn="ctr"/>
            <a:r>
              <a:rPr kumimoji="1" lang="zh-CN" altLang="en-US" sz="2400" dirty="0"/>
              <a:t>调度器将程序切片执行</a:t>
            </a:r>
            <a:endParaRPr kumimoji="1" lang="en-US" altLang="zh-CN" sz="2400" dirty="0"/>
          </a:p>
          <a:p>
            <a:pPr algn="ctr"/>
            <a:r>
              <a:rPr kumimoji="1" lang="zh-CN" altLang="en-US" sz="2400" dirty="0"/>
              <a:t>程序员可以边听音乐边等待程序运行</a:t>
            </a:r>
          </a:p>
        </p:txBody>
      </p:sp>
      <p:pic>
        <p:nvPicPr>
          <p:cNvPr id="7" name="图片 6">
            <a:extLst>
              <a:ext uri="{FF2B5EF4-FFF2-40B4-BE49-F238E27FC236}">
                <a16:creationId xmlns:a16="http://schemas.microsoft.com/office/drawing/2014/main" id="{D54D833C-EE9F-437A-82CF-97285D4E49B5}"/>
              </a:ext>
            </a:extLst>
          </p:cNvPr>
          <p:cNvPicPr>
            <a:picLocks noChangeAspect="1"/>
          </p:cNvPicPr>
          <p:nvPr/>
        </p:nvPicPr>
        <p:blipFill>
          <a:blip r:embed="rId3"/>
          <a:stretch>
            <a:fillRect/>
          </a:stretch>
        </p:blipFill>
        <p:spPr>
          <a:xfrm>
            <a:off x="1164921" y="2243460"/>
            <a:ext cx="6729608" cy="3161615"/>
          </a:xfrm>
          <a:prstGeom prst="rect">
            <a:avLst/>
          </a:prstGeom>
        </p:spPr>
      </p:pic>
    </p:spTree>
    <p:extLst>
      <p:ext uri="{BB962C8B-B14F-4D97-AF65-F5344CB8AC3E}">
        <p14:creationId xmlns:p14="http://schemas.microsoft.com/office/powerpoint/2010/main" val="4240670273"/>
      </p:ext>
    </p:extLst>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ACFAD-247D-3E4D-18E6-EE6D2E5AF58B}"/>
              </a:ext>
            </a:extLst>
          </p:cNvPr>
          <p:cNvSpPr>
            <a:spLocks noGrp="1"/>
          </p:cNvSpPr>
          <p:nvPr>
            <p:ph type="title"/>
          </p:nvPr>
        </p:nvSpPr>
        <p:spPr/>
        <p:txBody>
          <a:bodyPr/>
          <a:lstStyle/>
          <a:p>
            <a:r>
              <a:rPr kumimoji="1" lang="zh-CN" altLang="en-US" dirty="0"/>
              <a:t>为什么要研究计算机的调度？</a:t>
            </a:r>
          </a:p>
        </p:txBody>
      </p:sp>
      <p:sp>
        <p:nvSpPr>
          <p:cNvPr id="3" name="内容占位符 2">
            <a:extLst>
              <a:ext uri="{FF2B5EF4-FFF2-40B4-BE49-F238E27FC236}">
                <a16:creationId xmlns:a16="http://schemas.microsoft.com/office/drawing/2014/main" id="{CC4BCFD0-F247-1374-256D-B75F7E6F4424}"/>
              </a:ext>
            </a:extLst>
          </p:cNvPr>
          <p:cNvSpPr>
            <a:spLocks noGrp="1"/>
          </p:cNvSpPr>
          <p:nvPr>
            <p:ph idx="1"/>
          </p:nvPr>
        </p:nvSpPr>
        <p:spPr/>
        <p:txBody>
          <a:bodyPr>
            <a:normAutofit fontScale="92500" lnSpcReduction="20000"/>
          </a:bodyPr>
          <a:lstStyle/>
          <a:p>
            <a:r>
              <a:rPr kumimoji="1" lang="zh-CN" altLang="en-US" dirty="0"/>
              <a:t>系统面临同时处理多个资源请求，但系统资源有限</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调度就是来协调每个请求对资源的使用的方法</a:t>
            </a:r>
            <a:endParaRPr kumimoji="1" lang="en-US" altLang="zh-CN" dirty="0"/>
          </a:p>
          <a:p>
            <a:r>
              <a:rPr kumimoji="1" lang="zh-CN" altLang="en-US" dirty="0"/>
              <a:t>调度策略有：排队、优先级、时间片轮转等</a:t>
            </a:r>
            <a:endParaRPr kumimoji="1" lang="en-US" altLang="zh-CN" dirty="0"/>
          </a:p>
          <a:p>
            <a:r>
              <a:rPr kumimoji="1" lang="en-US" altLang="zh-CN" dirty="0"/>
              <a:t>CPU</a:t>
            </a:r>
            <a:r>
              <a:rPr kumimoji="1" lang="zh-CN" altLang="en-US" dirty="0"/>
              <a:t>、内存、磁盘、网络等资源都面临调度管理</a:t>
            </a:r>
          </a:p>
        </p:txBody>
      </p:sp>
      <p:sp>
        <p:nvSpPr>
          <p:cNvPr id="4" name="灯片编号占位符 3">
            <a:extLst>
              <a:ext uri="{FF2B5EF4-FFF2-40B4-BE49-F238E27FC236}">
                <a16:creationId xmlns:a16="http://schemas.microsoft.com/office/drawing/2014/main" id="{8D24C962-6437-6915-741F-E211427349A6}"/>
              </a:ext>
            </a:extLst>
          </p:cNvPr>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pic>
        <p:nvPicPr>
          <p:cNvPr id="5" name="图片 4">
            <a:extLst>
              <a:ext uri="{FF2B5EF4-FFF2-40B4-BE49-F238E27FC236}">
                <a16:creationId xmlns:a16="http://schemas.microsoft.com/office/drawing/2014/main" id="{3EB2BD47-3EA5-6A94-C926-BE952CBF86A0}"/>
              </a:ext>
            </a:extLst>
          </p:cNvPr>
          <p:cNvPicPr>
            <a:picLocks noChangeAspect="1"/>
          </p:cNvPicPr>
          <p:nvPr/>
        </p:nvPicPr>
        <p:blipFill>
          <a:blip r:embed="rId2"/>
          <a:stretch>
            <a:fillRect/>
          </a:stretch>
        </p:blipFill>
        <p:spPr>
          <a:xfrm>
            <a:off x="2178659" y="1965967"/>
            <a:ext cx="4497714" cy="1909264"/>
          </a:xfrm>
          <a:prstGeom prst="rect">
            <a:avLst/>
          </a:prstGeom>
        </p:spPr>
      </p:pic>
    </p:spTree>
    <p:extLst>
      <p:ext uri="{BB962C8B-B14F-4D97-AF65-F5344CB8AC3E}">
        <p14:creationId xmlns:p14="http://schemas.microsoft.com/office/powerpoint/2010/main" val="780013259"/>
      </p:ext>
    </p:extLst>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39890-5101-7BFA-55EA-FCF4E14541ED}"/>
              </a:ext>
            </a:extLst>
          </p:cNvPr>
          <p:cNvSpPr>
            <a:spLocks noGrp="1"/>
          </p:cNvSpPr>
          <p:nvPr>
            <p:ph type="title"/>
          </p:nvPr>
        </p:nvSpPr>
        <p:spPr>
          <a:xfrm>
            <a:off x="1042988" y="225431"/>
            <a:ext cx="7850187" cy="746125"/>
          </a:xfrm>
        </p:spPr>
        <p:txBody>
          <a:bodyPr/>
          <a:lstStyle/>
          <a:p>
            <a:r>
              <a:rPr lang="zh-CN" altLang="en-US" dirty="0"/>
              <a:t>如何进行</a:t>
            </a:r>
            <a:r>
              <a:rPr lang="en-US" altLang="zh-CN" dirty="0"/>
              <a:t>CPU</a:t>
            </a:r>
            <a:r>
              <a:rPr lang="zh-CN" altLang="en-US" dirty="0"/>
              <a:t>调度？</a:t>
            </a:r>
          </a:p>
        </p:txBody>
      </p:sp>
      <p:sp>
        <p:nvSpPr>
          <p:cNvPr id="43" name="内容占位符 42">
            <a:extLst>
              <a:ext uri="{FF2B5EF4-FFF2-40B4-BE49-F238E27FC236}">
                <a16:creationId xmlns:a16="http://schemas.microsoft.com/office/drawing/2014/main" id="{99431D62-E90A-5C2F-4123-925CC0D1AE2D}"/>
              </a:ext>
            </a:extLst>
          </p:cNvPr>
          <p:cNvSpPr>
            <a:spLocks noGrp="1"/>
          </p:cNvSpPr>
          <p:nvPr>
            <p:ph idx="1"/>
          </p:nvPr>
        </p:nvSpPr>
        <p:spPr>
          <a:xfrm>
            <a:off x="4243282" y="1233488"/>
            <a:ext cx="4464155" cy="4895850"/>
          </a:xfrm>
        </p:spPr>
        <p:txBody>
          <a:bodyPr>
            <a:normAutofit fontScale="77500" lnSpcReduction="20000"/>
          </a:bodyPr>
          <a:lstStyle/>
          <a:p>
            <a:r>
              <a:rPr lang="zh-CN" altLang="en-US" dirty="0"/>
              <a:t>任务数量远远超过</a:t>
            </a:r>
            <a:r>
              <a:rPr lang="en-US" altLang="zh-CN" dirty="0"/>
              <a:t>CPU</a:t>
            </a:r>
            <a:r>
              <a:rPr lang="zh-CN" altLang="en-US" dirty="0"/>
              <a:t>核心</a:t>
            </a:r>
            <a:endParaRPr lang="en-US" altLang="zh-CN" dirty="0"/>
          </a:p>
          <a:p>
            <a:r>
              <a:rPr lang="zh-CN" altLang="en-US" dirty="0"/>
              <a:t>调度器通过维护运行队列</a:t>
            </a:r>
            <a:r>
              <a:rPr lang="en-US" altLang="zh-CN" dirty="0"/>
              <a:t>(run</a:t>
            </a:r>
            <a:r>
              <a:rPr lang="zh-CN" altLang="en-US" dirty="0"/>
              <a:t> </a:t>
            </a:r>
            <a:r>
              <a:rPr lang="en-US" altLang="zh-CN" dirty="0"/>
              <a:t>queue)</a:t>
            </a:r>
            <a:r>
              <a:rPr lang="zh-CN" altLang="en-US" dirty="0"/>
              <a:t>的方式来管理任务</a:t>
            </a:r>
            <a:endParaRPr lang="en-US" altLang="zh-CN" dirty="0"/>
          </a:p>
          <a:p>
            <a:r>
              <a:rPr lang="zh-CN" altLang="en-US" dirty="0"/>
              <a:t>任务触发以下条件会停止执行</a:t>
            </a:r>
            <a:endParaRPr lang="en-US" altLang="zh-CN" dirty="0"/>
          </a:p>
          <a:p>
            <a:pPr lvl="1"/>
            <a:r>
              <a:rPr lang="zh-CN" altLang="en-US" dirty="0"/>
              <a:t>执行了指定的时间片</a:t>
            </a:r>
            <a:endParaRPr lang="en-US" altLang="zh-CN" dirty="0"/>
          </a:p>
          <a:p>
            <a:pPr lvl="1"/>
            <a:r>
              <a:rPr lang="zh-CN" altLang="en-US" dirty="0"/>
              <a:t>任务发起了</a:t>
            </a:r>
            <a:r>
              <a:rPr lang="en-US" altLang="zh-CN" dirty="0"/>
              <a:t>I/O</a:t>
            </a:r>
            <a:r>
              <a:rPr lang="zh-CN" altLang="en-US" dirty="0"/>
              <a:t>请求</a:t>
            </a:r>
            <a:endParaRPr lang="en-US" altLang="zh-CN" dirty="0"/>
          </a:p>
          <a:p>
            <a:pPr lvl="1"/>
            <a:r>
              <a:rPr lang="zh-CN" altLang="en-US" dirty="0"/>
              <a:t>任务主动停止</a:t>
            </a:r>
            <a:endParaRPr lang="en-US" altLang="zh-CN" dirty="0"/>
          </a:p>
          <a:p>
            <a:pPr lvl="1"/>
            <a:r>
              <a:rPr lang="zh-CN" altLang="en-US" dirty="0"/>
              <a:t>任务被系统中断打断</a:t>
            </a:r>
            <a:endParaRPr lang="en-US" altLang="zh-CN" dirty="0"/>
          </a:p>
          <a:p>
            <a:r>
              <a:rPr lang="zh-CN" altLang="en-US" dirty="0"/>
              <a:t>调度器的作用</a:t>
            </a:r>
            <a:endParaRPr lang="en-US" altLang="zh-CN" dirty="0"/>
          </a:p>
          <a:p>
            <a:pPr lvl="1"/>
            <a:r>
              <a:rPr lang="zh-CN" altLang="en-US" dirty="0"/>
              <a:t>从队列中选择下一个执行的任务</a:t>
            </a:r>
            <a:endParaRPr lang="en-US" altLang="zh-CN" dirty="0"/>
          </a:p>
          <a:p>
            <a:pPr lvl="1"/>
            <a:r>
              <a:rPr lang="zh-CN" altLang="en-US" dirty="0"/>
              <a:t>决定执行该任务的</a:t>
            </a:r>
            <a:r>
              <a:rPr lang="en-US" altLang="zh-CN" dirty="0"/>
              <a:t>CPU</a:t>
            </a:r>
            <a:r>
              <a:rPr lang="zh-CN" altLang="en-US" dirty="0"/>
              <a:t>核心</a:t>
            </a:r>
            <a:endParaRPr lang="en-US" altLang="zh-CN" dirty="0"/>
          </a:p>
          <a:p>
            <a:pPr lvl="1"/>
            <a:r>
              <a:rPr lang="zh-CN" altLang="en-US" dirty="0"/>
              <a:t>决定该任务允许执行的时间片大小</a:t>
            </a:r>
          </a:p>
        </p:txBody>
      </p:sp>
      <p:sp>
        <p:nvSpPr>
          <p:cNvPr id="4" name="灯片编号占位符 3">
            <a:extLst>
              <a:ext uri="{FF2B5EF4-FFF2-40B4-BE49-F238E27FC236}">
                <a16:creationId xmlns:a16="http://schemas.microsoft.com/office/drawing/2014/main" id="{34575FBA-F4DF-06E3-C503-0C516C830D4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a:t>
            </a:fld>
            <a:endParaRPr lang="zh-CN" altLang="en-US" dirty="0"/>
          </a:p>
        </p:txBody>
      </p:sp>
      <p:grpSp>
        <p:nvGrpSpPr>
          <p:cNvPr id="41" name="组合 40">
            <a:extLst>
              <a:ext uri="{FF2B5EF4-FFF2-40B4-BE49-F238E27FC236}">
                <a16:creationId xmlns:a16="http://schemas.microsoft.com/office/drawing/2014/main" id="{BEF333C1-D9BB-0643-975F-FD9663EC3B6E}"/>
              </a:ext>
            </a:extLst>
          </p:cNvPr>
          <p:cNvGrpSpPr/>
          <p:nvPr/>
        </p:nvGrpSpPr>
        <p:grpSpPr>
          <a:xfrm>
            <a:off x="421534" y="2068347"/>
            <a:ext cx="3803513" cy="2414891"/>
            <a:chOff x="3976452" y="1916349"/>
            <a:chExt cx="5071350" cy="3219855"/>
          </a:xfrm>
        </p:grpSpPr>
        <p:sp>
          <p:nvSpPr>
            <p:cNvPr id="5" name="矩形 4">
              <a:extLst>
                <a:ext uri="{FF2B5EF4-FFF2-40B4-BE49-F238E27FC236}">
                  <a16:creationId xmlns:a16="http://schemas.microsoft.com/office/drawing/2014/main" id="{B6862F72-8C64-3639-78BF-A2FEA12785B7}"/>
                </a:ext>
              </a:extLst>
            </p:cNvPr>
            <p:cNvSpPr/>
            <p:nvPr/>
          </p:nvSpPr>
          <p:spPr bwMode="auto">
            <a:xfrm>
              <a:off x="6957977" y="4095345"/>
              <a:ext cx="865761" cy="398834"/>
            </a:xfrm>
            <a:prstGeom prst="rect">
              <a:avLst/>
            </a:prstGeom>
            <a:no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350" dirty="0">
                  <a:latin typeface="Tahoma" panose="020B0604030504040204" pitchFamily="34" charset="0"/>
                  <a:ea typeface="宋体" panose="02010600030101010101" pitchFamily="2" charset="-122"/>
                </a:rPr>
                <a:t>任务</a:t>
              </a:r>
              <a:r>
                <a:rPr kumimoji="1" lang="en-US" altLang="zh-CN" sz="1350" dirty="0">
                  <a:latin typeface="Tahoma" panose="020B0604030504040204" pitchFamily="34" charset="0"/>
                  <a:ea typeface="宋体" panose="02010600030101010101" pitchFamily="2" charset="-122"/>
                </a:rPr>
                <a:t>1</a:t>
              </a:r>
              <a:endParaRPr kumimoji="1" lang="zh-CN" altLang="en-US" sz="1350" dirty="0">
                <a:latin typeface="Tahoma" panose="020B0604030504040204" pitchFamily="34" charset="0"/>
                <a:ea typeface="宋体" panose="02010600030101010101" pitchFamily="2" charset="-122"/>
              </a:endParaRPr>
            </a:p>
          </p:txBody>
        </p:sp>
        <p:sp>
          <p:nvSpPr>
            <p:cNvPr id="7" name="矩形 6">
              <a:extLst>
                <a:ext uri="{FF2B5EF4-FFF2-40B4-BE49-F238E27FC236}">
                  <a16:creationId xmlns:a16="http://schemas.microsoft.com/office/drawing/2014/main" id="{8FA347B6-137C-3740-6A5E-1DA2BE680DA0}"/>
                </a:ext>
              </a:extLst>
            </p:cNvPr>
            <p:cNvSpPr/>
            <p:nvPr/>
          </p:nvSpPr>
          <p:spPr bwMode="auto">
            <a:xfrm>
              <a:off x="8182041" y="4095345"/>
              <a:ext cx="865761" cy="398834"/>
            </a:xfrm>
            <a:prstGeom prst="rect">
              <a:avLst/>
            </a:prstGeom>
            <a:no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350" dirty="0">
                  <a:latin typeface="Tahoma" panose="020B0604030504040204" pitchFamily="34" charset="0"/>
                  <a:ea typeface="宋体" panose="02010600030101010101" pitchFamily="2" charset="-122"/>
                </a:rPr>
                <a:t>任务</a:t>
              </a:r>
              <a:r>
                <a:rPr kumimoji="1" lang="en-US" altLang="zh-CN" sz="1350" dirty="0">
                  <a:latin typeface="Tahoma" panose="020B0604030504040204" pitchFamily="34" charset="0"/>
                  <a:ea typeface="宋体" panose="02010600030101010101" pitchFamily="2" charset="-122"/>
                </a:rPr>
                <a:t>0</a:t>
              </a:r>
              <a:endParaRPr kumimoji="1" lang="zh-CN" altLang="en-US" sz="1350" dirty="0">
                <a:latin typeface="Tahoma" panose="020B0604030504040204" pitchFamily="34" charset="0"/>
                <a:ea typeface="宋体" panose="02010600030101010101" pitchFamily="2" charset="-122"/>
              </a:endParaRPr>
            </a:p>
          </p:txBody>
        </p:sp>
        <p:sp>
          <p:nvSpPr>
            <p:cNvPr id="8" name="圆角矩形 7">
              <a:extLst>
                <a:ext uri="{FF2B5EF4-FFF2-40B4-BE49-F238E27FC236}">
                  <a16:creationId xmlns:a16="http://schemas.microsoft.com/office/drawing/2014/main" id="{1BF6B829-14DB-4B89-C50F-468A42334124}"/>
                </a:ext>
              </a:extLst>
            </p:cNvPr>
            <p:cNvSpPr/>
            <p:nvPr/>
          </p:nvSpPr>
          <p:spPr bwMode="auto">
            <a:xfrm>
              <a:off x="6977432" y="2932889"/>
              <a:ext cx="826851" cy="437745"/>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en-US" altLang="zh-CN" sz="1350" dirty="0">
                  <a:latin typeface="Tahoma" panose="020B0604030504040204" pitchFamily="34" charset="0"/>
                  <a:ea typeface="宋体" panose="02010600030101010101" pitchFamily="2" charset="-122"/>
                </a:rPr>
                <a:t>Core</a:t>
              </a:r>
              <a:r>
                <a:rPr kumimoji="1" lang="zh-CN" altLang="en-US" sz="1350" dirty="0">
                  <a:latin typeface="Tahoma" panose="020B0604030504040204" pitchFamily="34" charset="0"/>
                  <a:ea typeface="宋体" panose="02010600030101010101" pitchFamily="2" charset="-122"/>
                </a:rPr>
                <a:t> </a:t>
              </a:r>
              <a:r>
                <a:rPr kumimoji="1" lang="en-US" altLang="zh-CN" sz="1350" dirty="0">
                  <a:latin typeface="Tahoma" panose="020B0604030504040204" pitchFamily="34" charset="0"/>
                  <a:ea typeface="宋体" panose="02010600030101010101" pitchFamily="2" charset="-122"/>
                </a:rPr>
                <a:t>0</a:t>
              </a:r>
              <a:endParaRPr kumimoji="1" lang="zh-CN" altLang="en-US" sz="1350" dirty="0">
                <a:latin typeface="Tahoma" panose="020B0604030504040204" pitchFamily="34" charset="0"/>
                <a:ea typeface="宋体" panose="02010600030101010101" pitchFamily="2" charset="-122"/>
              </a:endParaRPr>
            </a:p>
          </p:txBody>
        </p:sp>
        <p:sp>
          <p:nvSpPr>
            <p:cNvPr id="9" name="圆角矩形 8">
              <a:extLst>
                <a:ext uri="{FF2B5EF4-FFF2-40B4-BE49-F238E27FC236}">
                  <a16:creationId xmlns:a16="http://schemas.microsoft.com/office/drawing/2014/main" id="{5C8C4FDB-F643-5494-6C18-99087A979D21}"/>
                </a:ext>
              </a:extLst>
            </p:cNvPr>
            <p:cNvSpPr/>
            <p:nvPr/>
          </p:nvSpPr>
          <p:spPr bwMode="auto">
            <a:xfrm>
              <a:off x="8201496" y="2932889"/>
              <a:ext cx="826851" cy="437745"/>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en-US" altLang="zh-CN" sz="1350" dirty="0">
                  <a:latin typeface="Tahoma" panose="020B0604030504040204" pitchFamily="34" charset="0"/>
                  <a:ea typeface="宋体" panose="02010600030101010101" pitchFamily="2" charset="-122"/>
                </a:rPr>
                <a:t>Core</a:t>
              </a:r>
              <a:r>
                <a:rPr kumimoji="1" lang="zh-CN" altLang="en-US" sz="1350" dirty="0">
                  <a:latin typeface="Tahoma" panose="020B0604030504040204" pitchFamily="34" charset="0"/>
                  <a:ea typeface="宋体" panose="02010600030101010101" pitchFamily="2" charset="-122"/>
                </a:rPr>
                <a:t> </a:t>
              </a:r>
              <a:r>
                <a:rPr kumimoji="1" lang="en-US" altLang="zh-CN" sz="1350" dirty="0">
                  <a:latin typeface="Tahoma" panose="020B0604030504040204" pitchFamily="34" charset="0"/>
                  <a:ea typeface="宋体" panose="02010600030101010101" pitchFamily="2" charset="-122"/>
                </a:rPr>
                <a:t>1</a:t>
              </a:r>
              <a:endParaRPr kumimoji="1" lang="zh-CN" altLang="en-US" sz="1350" dirty="0">
                <a:latin typeface="Tahoma" panose="020B0604030504040204" pitchFamily="34" charset="0"/>
                <a:ea typeface="宋体" panose="02010600030101010101" pitchFamily="2" charset="-122"/>
              </a:endParaRPr>
            </a:p>
          </p:txBody>
        </p:sp>
        <p:sp>
          <p:nvSpPr>
            <p:cNvPr id="10" name="矩形 9">
              <a:extLst>
                <a:ext uri="{FF2B5EF4-FFF2-40B4-BE49-F238E27FC236}">
                  <a16:creationId xmlns:a16="http://schemas.microsoft.com/office/drawing/2014/main" id="{586927FB-772A-553E-309A-A6A045BFCC13}"/>
                </a:ext>
              </a:extLst>
            </p:cNvPr>
            <p:cNvSpPr/>
            <p:nvPr/>
          </p:nvSpPr>
          <p:spPr bwMode="auto">
            <a:xfrm>
              <a:off x="3976452" y="2402732"/>
              <a:ext cx="1869871" cy="2334638"/>
            </a:xfrm>
            <a:prstGeom prst="rect">
              <a:avLst/>
            </a:prstGeom>
            <a:solidFill>
              <a:srgbClr val="FFEDD8"/>
            </a:solid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marL="257162" indent="-257162" algn="ctr" defTabSz="685766" fontAlgn="base">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100">
                <a:latin typeface="Tahoma" panose="020B0604030504040204" pitchFamily="34" charset="0"/>
                <a:ea typeface="宋体" panose="02010600030101010101" pitchFamily="2" charset="-122"/>
              </a:endParaRPr>
            </a:p>
          </p:txBody>
        </p:sp>
        <p:grpSp>
          <p:nvGrpSpPr>
            <p:cNvPr id="15" name="组合 14">
              <a:extLst>
                <a:ext uri="{FF2B5EF4-FFF2-40B4-BE49-F238E27FC236}">
                  <a16:creationId xmlns:a16="http://schemas.microsoft.com/office/drawing/2014/main" id="{CEB18F51-F723-4882-936F-3D5271858819}"/>
                </a:ext>
              </a:extLst>
            </p:cNvPr>
            <p:cNvGrpSpPr/>
            <p:nvPr/>
          </p:nvGrpSpPr>
          <p:grpSpPr>
            <a:xfrm>
              <a:off x="4170465" y="2830749"/>
              <a:ext cx="865761" cy="1196502"/>
              <a:chOff x="1725613" y="4434192"/>
              <a:chExt cx="865761" cy="1196502"/>
            </a:xfrm>
          </p:grpSpPr>
          <p:sp>
            <p:nvSpPr>
              <p:cNvPr id="12" name="矩形 11">
                <a:extLst>
                  <a:ext uri="{FF2B5EF4-FFF2-40B4-BE49-F238E27FC236}">
                    <a16:creationId xmlns:a16="http://schemas.microsoft.com/office/drawing/2014/main" id="{D35C0842-BC01-C948-A909-5AC65D08FB33}"/>
                  </a:ext>
                </a:extLst>
              </p:cNvPr>
              <p:cNvSpPr/>
              <p:nvPr/>
            </p:nvSpPr>
            <p:spPr bwMode="auto">
              <a:xfrm>
                <a:off x="1725613" y="4434192"/>
                <a:ext cx="865761" cy="398834"/>
              </a:xfrm>
              <a:prstGeom prst="rect">
                <a:avLst/>
              </a:prstGeom>
              <a:no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350" dirty="0">
                    <a:latin typeface="Tahoma" panose="020B0604030504040204" pitchFamily="34" charset="0"/>
                    <a:ea typeface="宋体" panose="02010600030101010101" pitchFamily="2" charset="-122"/>
                  </a:rPr>
                  <a:t>任务</a:t>
                </a:r>
                <a:r>
                  <a:rPr kumimoji="1" lang="en-US" altLang="zh-CN" sz="1350" dirty="0">
                    <a:latin typeface="Tahoma" panose="020B0604030504040204" pitchFamily="34" charset="0"/>
                    <a:ea typeface="宋体" panose="02010600030101010101" pitchFamily="2" charset="-122"/>
                  </a:rPr>
                  <a:t>77</a:t>
                </a:r>
                <a:endParaRPr kumimoji="1" lang="zh-CN" altLang="en-US" sz="1350" dirty="0">
                  <a:latin typeface="Tahoma" panose="020B0604030504040204" pitchFamily="34" charset="0"/>
                  <a:ea typeface="宋体" panose="02010600030101010101" pitchFamily="2" charset="-122"/>
                </a:endParaRPr>
              </a:p>
            </p:txBody>
          </p:sp>
          <p:sp>
            <p:nvSpPr>
              <p:cNvPr id="13" name="矩形 12">
                <a:extLst>
                  <a:ext uri="{FF2B5EF4-FFF2-40B4-BE49-F238E27FC236}">
                    <a16:creationId xmlns:a16="http://schemas.microsoft.com/office/drawing/2014/main" id="{2FB5E089-C1CD-C801-CD57-A2DF78BD95A3}"/>
                  </a:ext>
                </a:extLst>
              </p:cNvPr>
              <p:cNvSpPr/>
              <p:nvPr/>
            </p:nvSpPr>
            <p:spPr bwMode="auto">
              <a:xfrm>
                <a:off x="1725613" y="5231860"/>
                <a:ext cx="865761" cy="398834"/>
              </a:xfrm>
              <a:prstGeom prst="rect">
                <a:avLst/>
              </a:prstGeom>
              <a:no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350" dirty="0">
                    <a:latin typeface="Tahoma" panose="020B0604030504040204" pitchFamily="34" charset="0"/>
                    <a:ea typeface="宋体" panose="02010600030101010101" pitchFamily="2" charset="-122"/>
                  </a:rPr>
                  <a:t>任务</a:t>
                </a:r>
                <a:r>
                  <a:rPr kumimoji="1" lang="en-US" altLang="zh-CN" sz="1350" dirty="0">
                    <a:latin typeface="Tahoma" panose="020B0604030504040204" pitchFamily="34" charset="0"/>
                    <a:ea typeface="宋体" panose="02010600030101010101" pitchFamily="2" charset="-122"/>
                  </a:rPr>
                  <a:t>2</a:t>
                </a:r>
                <a:endParaRPr kumimoji="1" lang="zh-CN" altLang="en-US" sz="1350" dirty="0">
                  <a:latin typeface="Tahoma" panose="020B0604030504040204" pitchFamily="34" charset="0"/>
                  <a:ea typeface="宋体" panose="02010600030101010101" pitchFamily="2" charset="-122"/>
                </a:endParaRPr>
              </a:p>
            </p:txBody>
          </p:sp>
          <p:sp>
            <p:nvSpPr>
              <p:cNvPr id="14" name="矩形 13">
                <a:extLst>
                  <a:ext uri="{FF2B5EF4-FFF2-40B4-BE49-F238E27FC236}">
                    <a16:creationId xmlns:a16="http://schemas.microsoft.com/office/drawing/2014/main" id="{1F8BDFB3-CDEC-BD71-265C-0F60A7987458}"/>
                  </a:ext>
                </a:extLst>
              </p:cNvPr>
              <p:cNvSpPr/>
              <p:nvPr/>
            </p:nvSpPr>
            <p:spPr bwMode="auto">
              <a:xfrm>
                <a:off x="1725613" y="4833026"/>
                <a:ext cx="865761" cy="398834"/>
              </a:xfrm>
              <a:prstGeom prst="rect">
                <a:avLst/>
              </a:prstGeom>
              <a:no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en-US" altLang="zh-CN" sz="1350" dirty="0">
                    <a:latin typeface="Tahoma" panose="020B0604030504040204" pitchFamily="34" charset="0"/>
                    <a:ea typeface="宋体" panose="02010600030101010101" pitchFamily="2" charset="-122"/>
                  </a:rPr>
                  <a:t>…</a:t>
                </a:r>
                <a:endParaRPr kumimoji="1" lang="zh-CN" altLang="en-US" sz="1350" dirty="0">
                  <a:latin typeface="Tahoma" panose="020B0604030504040204" pitchFamily="34" charset="0"/>
                  <a:ea typeface="宋体" panose="02010600030101010101" pitchFamily="2" charset="-122"/>
                </a:endParaRPr>
              </a:p>
            </p:txBody>
          </p:sp>
        </p:grpSp>
        <p:sp>
          <p:nvSpPr>
            <p:cNvPr id="16" name="文本框 15">
              <a:extLst>
                <a:ext uri="{FF2B5EF4-FFF2-40B4-BE49-F238E27FC236}">
                  <a16:creationId xmlns:a16="http://schemas.microsoft.com/office/drawing/2014/main" id="{0AA7F274-E475-601C-CE47-2C36A5E1D416}"/>
                </a:ext>
              </a:extLst>
            </p:cNvPr>
            <p:cNvSpPr txBox="1"/>
            <p:nvPr/>
          </p:nvSpPr>
          <p:spPr>
            <a:xfrm>
              <a:off x="4905265" y="4299620"/>
              <a:ext cx="1039644" cy="400109"/>
            </a:xfrm>
            <a:prstGeom prst="rect">
              <a:avLst/>
            </a:prstGeom>
            <a:noFill/>
          </p:spPr>
          <p:txBody>
            <a:bodyPr wrap="square" rtlCol="0">
              <a:spAutoFit/>
            </a:bodyPr>
            <a:lstStyle/>
            <a:p>
              <a:r>
                <a:rPr kumimoji="1" lang="zh-CN" altLang="en-US" sz="1350" dirty="0"/>
                <a:t>调度器</a:t>
              </a:r>
            </a:p>
          </p:txBody>
        </p:sp>
        <p:sp>
          <p:nvSpPr>
            <p:cNvPr id="17" name="文本框 16">
              <a:extLst>
                <a:ext uri="{FF2B5EF4-FFF2-40B4-BE49-F238E27FC236}">
                  <a16:creationId xmlns:a16="http://schemas.microsoft.com/office/drawing/2014/main" id="{D695247E-CD9A-7E9C-DF8C-914AD057674E}"/>
                </a:ext>
              </a:extLst>
            </p:cNvPr>
            <p:cNvSpPr txBox="1"/>
            <p:nvPr/>
          </p:nvSpPr>
          <p:spPr>
            <a:xfrm>
              <a:off x="5137555" y="3105834"/>
              <a:ext cx="742545" cy="677108"/>
            </a:xfrm>
            <a:prstGeom prst="rect">
              <a:avLst/>
            </a:prstGeom>
            <a:noFill/>
          </p:spPr>
          <p:txBody>
            <a:bodyPr wrap="square" rtlCol="0">
              <a:spAutoFit/>
            </a:bodyPr>
            <a:lstStyle/>
            <a:p>
              <a:r>
                <a:rPr kumimoji="1" lang="zh-CN" altLang="en-US" sz="1350" dirty="0"/>
                <a:t>运行队列</a:t>
              </a:r>
            </a:p>
          </p:txBody>
        </p:sp>
        <p:cxnSp>
          <p:nvCxnSpPr>
            <p:cNvPr id="19" name="直线连接符 18">
              <a:extLst>
                <a:ext uri="{FF2B5EF4-FFF2-40B4-BE49-F238E27FC236}">
                  <a16:creationId xmlns:a16="http://schemas.microsoft.com/office/drawing/2014/main" id="{5C73B56A-E98D-C1AC-C9DF-04189AA8EF8D}"/>
                </a:ext>
              </a:extLst>
            </p:cNvPr>
            <p:cNvCxnSpPr>
              <a:cxnSpLocks/>
            </p:cNvCxnSpPr>
            <p:nvPr/>
          </p:nvCxnSpPr>
          <p:spPr bwMode="auto">
            <a:xfrm>
              <a:off x="7390858" y="3370634"/>
              <a:ext cx="0" cy="724711"/>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0" name="直线连接符 19">
              <a:extLst>
                <a:ext uri="{FF2B5EF4-FFF2-40B4-BE49-F238E27FC236}">
                  <a16:creationId xmlns:a16="http://schemas.microsoft.com/office/drawing/2014/main" id="{6099E66C-5E08-9967-E4C0-14961CDEE7E6}"/>
                </a:ext>
              </a:extLst>
            </p:cNvPr>
            <p:cNvCxnSpPr>
              <a:cxnSpLocks/>
            </p:cNvCxnSpPr>
            <p:nvPr/>
          </p:nvCxnSpPr>
          <p:spPr bwMode="auto">
            <a:xfrm>
              <a:off x="8614922" y="3370634"/>
              <a:ext cx="0" cy="724711"/>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2" name="直线连接符 21">
              <a:extLst>
                <a:ext uri="{FF2B5EF4-FFF2-40B4-BE49-F238E27FC236}">
                  <a16:creationId xmlns:a16="http://schemas.microsoft.com/office/drawing/2014/main" id="{A533B467-8C1B-0F07-D852-CB263C88E6F2}"/>
                </a:ext>
              </a:extLst>
            </p:cNvPr>
            <p:cNvCxnSpPr>
              <a:cxnSpLocks/>
            </p:cNvCxnSpPr>
            <p:nvPr/>
          </p:nvCxnSpPr>
          <p:spPr bwMode="auto">
            <a:xfrm flipV="1">
              <a:off x="4603345" y="1916349"/>
              <a:ext cx="4009956" cy="31006"/>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4" name="直线连接符 23">
              <a:extLst>
                <a:ext uri="{FF2B5EF4-FFF2-40B4-BE49-F238E27FC236}">
                  <a16:creationId xmlns:a16="http://schemas.microsoft.com/office/drawing/2014/main" id="{F41597F9-3B31-0771-2088-C4F10CB41019}"/>
                </a:ext>
              </a:extLst>
            </p:cNvPr>
            <p:cNvCxnSpPr>
              <a:cxnSpLocks/>
              <a:endCxn id="12" idx="0"/>
            </p:cNvCxnSpPr>
            <p:nvPr/>
          </p:nvCxnSpPr>
          <p:spPr bwMode="auto">
            <a:xfrm>
              <a:off x="4603345" y="1954450"/>
              <a:ext cx="1" cy="876299"/>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w="med" len="med"/>
            </a:ln>
          </p:spPr>
        </p:cxnSp>
        <p:cxnSp>
          <p:nvCxnSpPr>
            <p:cNvPr id="28" name="直线连接符 27">
              <a:extLst>
                <a:ext uri="{FF2B5EF4-FFF2-40B4-BE49-F238E27FC236}">
                  <a16:creationId xmlns:a16="http://schemas.microsoft.com/office/drawing/2014/main" id="{99BA2217-8FCD-FEE4-6358-E92736AE7244}"/>
                </a:ext>
              </a:extLst>
            </p:cNvPr>
            <p:cNvCxnSpPr>
              <a:cxnSpLocks/>
            </p:cNvCxnSpPr>
            <p:nvPr/>
          </p:nvCxnSpPr>
          <p:spPr bwMode="auto">
            <a:xfrm>
              <a:off x="8613301" y="1926077"/>
              <a:ext cx="1621" cy="997084"/>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9" name="直线连接符 28">
              <a:extLst>
                <a:ext uri="{FF2B5EF4-FFF2-40B4-BE49-F238E27FC236}">
                  <a16:creationId xmlns:a16="http://schemas.microsoft.com/office/drawing/2014/main" id="{D2023D34-F5C1-A238-3380-D1E6CE8C0194}"/>
                </a:ext>
              </a:extLst>
            </p:cNvPr>
            <p:cNvCxnSpPr>
              <a:cxnSpLocks/>
            </p:cNvCxnSpPr>
            <p:nvPr/>
          </p:nvCxnSpPr>
          <p:spPr bwMode="auto">
            <a:xfrm>
              <a:off x="7389237" y="1922835"/>
              <a:ext cx="1621" cy="997084"/>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30" name="直线连接符 29">
              <a:extLst>
                <a:ext uri="{FF2B5EF4-FFF2-40B4-BE49-F238E27FC236}">
                  <a16:creationId xmlns:a16="http://schemas.microsoft.com/office/drawing/2014/main" id="{D0A7353C-55F0-D414-EB9D-A6D6A1B1FEB9}"/>
                </a:ext>
              </a:extLst>
            </p:cNvPr>
            <p:cNvCxnSpPr>
              <a:cxnSpLocks/>
            </p:cNvCxnSpPr>
            <p:nvPr/>
          </p:nvCxnSpPr>
          <p:spPr bwMode="auto">
            <a:xfrm flipV="1">
              <a:off x="4629281" y="5131340"/>
              <a:ext cx="3984020" cy="4864"/>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32" name="直线连接符 31">
              <a:extLst>
                <a:ext uri="{FF2B5EF4-FFF2-40B4-BE49-F238E27FC236}">
                  <a16:creationId xmlns:a16="http://schemas.microsoft.com/office/drawing/2014/main" id="{316B203B-2DDC-833D-9DBC-256E7EE66DE4}"/>
                </a:ext>
              </a:extLst>
            </p:cNvPr>
            <p:cNvCxnSpPr>
              <a:cxnSpLocks/>
            </p:cNvCxnSpPr>
            <p:nvPr/>
          </p:nvCxnSpPr>
          <p:spPr bwMode="auto">
            <a:xfrm flipV="1">
              <a:off x="4629281" y="4021029"/>
              <a:ext cx="0" cy="1110311"/>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38" name="直线箭头连接符 37">
              <a:extLst>
                <a:ext uri="{FF2B5EF4-FFF2-40B4-BE49-F238E27FC236}">
                  <a16:creationId xmlns:a16="http://schemas.microsoft.com/office/drawing/2014/main" id="{C2891D6B-6EA9-2F95-2F50-9C87EEB393C3}"/>
                </a:ext>
              </a:extLst>
            </p:cNvPr>
            <p:cNvCxnSpPr>
              <a:endCxn id="5" idx="2"/>
            </p:cNvCxnSpPr>
            <p:nvPr/>
          </p:nvCxnSpPr>
          <p:spPr bwMode="auto">
            <a:xfrm flipV="1">
              <a:off x="7389237" y="4494179"/>
              <a:ext cx="1621" cy="63716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40" name="直线箭头连接符 39">
              <a:extLst>
                <a:ext uri="{FF2B5EF4-FFF2-40B4-BE49-F238E27FC236}">
                  <a16:creationId xmlns:a16="http://schemas.microsoft.com/office/drawing/2014/main" id="{A4571CC8-745E-CC1B-6A8C-24969CCD450A}"/>
                </a:ext>
              </a:extLst>
            </p:cNvPr>
            <p:cNvCxnSpPr>
              <a:endCxn id="7" idx="2"/>
            </p:cNvCxnSpPr>
            <p:nvPr/>
          </p:nvCxnSpPr>
          <p:spPr bwMode="auto">
            <a:xfrm flipV="1">
              <a:off x="8612491" y="4494179"/>
              <a:ext cx="2431" cy="63716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grpSp>
      <p:sp>
        <p:nvSpPr>
          <p:cNvPr id="42" name="文本框 41">
            <a:extLst>
              <a:ext uri="{FF2B5EF4-FFF2-40B4-BE49-F238E27FC236}">
                <a16:creationId xmlns:a16="http://schemas.microsoft.com/office/drawing/2014/main" id="{F9C2DB7B-BFD0-61FC-7093-5EFE3ABA90CE}"/>
              </a:ext>
            </a:extLst>
          </p:cNvPr>
          <p:cNvSpPr txBox="1"/>
          <p:nvPr/>
        </p:nvSpPr>
        <p:spPr>
          <a:xfrm>
            <a:off x="1633246" y="4848139"/>
            <a:ext cx="1673753" cy="300082"/>
          </a:xfrm>
          <a:prstGeom prst="rect">
            <a:avLst/>
          </a:prstGeom>
          <a:noFill/>
        </p:spPr>
        <p:txBody>
          <a:bodyPr wrap="square" rtlCol="0">
            <a:spAutoFit/>
          </a:bodyPr>
          <a:lstStyle/>
          <a:p>
            <a:r>
              <a:rPr kumimoji="1" lang="zh-CN" altLang="en-US" sz="1350" dirty="0"/>
              <a:t>任务调度器示意图</a:t>
            </a:r>
          </a:p>
        </p:txBody>
      </p:sp>
    </p:spTree>
    <p:extLst>
      <p:ext uri="{BB962C8B-B14F-4D97-AF65-F5344CB8AC3E}">
        <p14:creationId xmlns:p14="http://schemas.microsoft.com/office/powerpoint/2010/main" val="3644083368"/>
      </p:ext>
    </p:extLst>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7E4DA4-51F8-B5C6-B5F9-294E55CE6FB2}"/>
              </a:ext>
            </a:extLst>
          </p:cNvPr>
          <p:cNvSpPr>
            <a:spLocks noGrp="1"/>
          </p:cNvSpPr>
          <p:nvPr>
            <p:ph type="title"/>
          </p:nvPr>
        </p:nvSpPr>
        <p:spPr/>
        <p:txBody>
          <a:bodyPr/>
          <a:lstStyle/>
          <a:p>
            <a:r>
              <a:rPr kumimoji="1" lang="zh-CN" altLang="en-US" dirty="0"/>
              <a:t>调度应达到什么样的效果？</a:t>
            </a:r>
          </a:p>
        </p:txBody>
      </p:sp>
      <p:sp>
        <p:nvSpPr>
          <p:cNvPr id="3" name="内容占位符 2">
            <a:extLst>
              <a:ext uri="{FF2B5EF4-FFF2-40B4-BE49-F238E27FC236}">
                <a16:creationId xmlns:a16="http://schemas.microsoft.com/office/drawing/2014/main" id="{26C3BD43-80AB-DC9A-0758-71B795558959}"/>
              </a:ext>
            </a:extLst>
          </p:cNvPr>
          <p:cNvSpPr>
            <a:spLocks noGrp="1"/>
          </p:cNvSpPr>
          <p:nvPr>
            <p:ph idx="1"/>
          </p:nvPr>
        </p:nvSpPr>
        <p:spPr/>
        <p:txBody>
          <a:bodyPr>
            <a:normAutofit/>
          </a:bodyPr>
          <a:lstStyle/>
          <a:p>
            <a:r>
              <a:rPr kumimoji="1" lang="zh-CN" altLang="en-US" dirty="0"/>
              <a:t>调度指标</a:t>
            </a:r>
            <a:endParaRPr kumimoji="1" lang="en-US" altLang="zh-CN" dirty="0"/>
          </a:p>
          <a:p>
            <a:pPr lvl="1"/>
            <a:r>
              <a:rPr kumimoji="1" lang="zh-CN" altLang="en-US" dirty="0"/>
              <a:t>性能指标：</a:t>
            </a:r>
            <a:endParaRPr kumimoji="1" lang="en-US" altLang="zh-CN" dirty="0"/>
          </a:p>
          <a:p>
            <a:pPr lvl="2"/>
            <a:r>
              <a:rPr kumimoji="1" lang="zh-CN" altLang="en-US" dirty="0"/>
              <a:t>吞吐量：单位时间处理任务的数量</a:t>
            </a:r>
            <a:endParaRPr kumimoji="1" lang="en-US" altLang="zh-CN" dirty="0"/>
          </a:p>
          <a:p>
            <a:pPr lvl="2"/>
            <a:r>
              <a:rPr kumimoji="1" lang="zh-CN" altLang="en-US" dirty="0"/>
              <a:t>周转时间：任务从发起到执行结束需要的时间</a:t>
            </a:r>
            <a:endParaRPr kumimoji="1" lang="en-US" altLang="zh-CN" dirty="0"/>
          </a:p>
          <a:p>
            <a:pPr lvl="2"/>
            <a:r>
              <a:rPr kumimoji="1" lang="zh-CN" altLang="en-US" dirty="0"/>
              <a:t>响应时间：任务从发起到首次获得执行需要的时间</a:t>
            </a:r>
            <a:endParaRPr kumimoji="1" lang="en-US" altLang="zh-CN" dirty="0"/>
          </a:p>
          <a:p>
            <a:pPr lvl="1"/>
            <a:r>
              <a:rPr kumimoji="1" lang="zh-CN" altLang="en-US" dirty="0"/>
              <a:t>非性能指标：公平性、资源利用率</a:t>
            </a:r>
            <a:endParaRPr kumimoji="1" lang="en-US" altLang="zh-CN" dirty="0"/>
          </a:p>
          <a:p>
            <a:pPr lvl="1"/>
            <a:r>
              <a:rPr kumimoji="1" lang="zh-CN" altLang="en-US" dirty="0"/>
              <a:t>特殊需求</a:t>
            </a:r>
            <a:endParaRPr kumimoji="1" lang="en-US" altLang="zh-CN" dirty="0"/>
          </a:p>
          <a:p>
            <a:pPr lvl="2"/>
            <a:r>
              <a:rPr kumimoji="1" lang="zh-CN" altLang="en-US" dirty="0"/>
              <a:t>实时性 </a:t>
            </a:r>
            <a:r>
              <a:rPr kumimoji="1" lang="en-US" altLang="zh-CN" dirty="0"/>
              <a:t>——</a:t>
            </a:r>
            <a:r>
              <a:rPr kumimoji="1" lang="zh-CN" altLang="en-US" dirty="0"/>
              <a:t> 有截止时间的实时任务，如视频画面渲染</a:t>
            </a:r>
            <a:endParaRPr kumimoji="1" lang="en-US" altLang="zh-CN" dirty="0"/>
          </a:p>
          <a:p>
            <a:pPr lvl="2"/>
            <a:r>
              <a:rPr kumimoji="1" lang="zh-CN" altLang="en-US" dirty="0"/>
              <a:t>能耗 </a:t>
            </a:r>
            <a:r>
              <a:rPr kumimoji="1" lang="en-US" altLang="zh-CN" dirty="0"/>
              <a:t>——</a:t>
            </a:r>
            <a:r>
              <a:rPr kumimoji="1" lang="zh-CN" altLang="en-US" dirty="0"/>
              <a:t> 移动终端</a:t>
            </a:r>
          </a:p>
        </p:txBody>
      </p:sp>
      <p:sp>
        <p:nvSpPr>
          <p:cNvPr id="4" name="灯片编号占位符 3">
            <a:extLst>
              <a:ext uri="{FF2B5EF4-FFF2-40B4-BE49-F238E27FC236}">
                <a16:creationId xmlns:a16="http://schemas.microsoft.com/office/drawing/2014/main" id="{1CAFD7DB-FBC2-4B8E-2A28-587411948515}"/>
              </a:ext>
            </a:extLst>
          </p:cNvPr>
          <p:cNvSpPr>
            <a:spLocks noGrp="1"/>
          </p:cNvSpPr>
          <p:nvPr>
            <p:ph type="sldNum" sz="quarter" idx="12"/>
          </p:nvPr>
        </p:nvSpPr>
        <p:spPr/>
        <p:txBody>
          <a:bodyPr/>
          <a:lstStyle/>
          <a:p>
            <a:fld id="{4093CC90-4002-504C-BD88-C9A1D374048E}" type="slidenum">
              <a:rPr lang="zh-CN" altLang="en-US" smtClean="0"/>
              <a:pPr/>
              <a:t>6</a:t>
            </a:fld>
            <a:endParaRPr lang="zh-CN" altLang="en-US" dirty="0"/>
          </a:p>
        </p:txBody>
      </p:sp>
    </p:spTree>
    <p:extLst>
      <p:ext uri="{BB962C8B-B14F-4D97-AF65-F5344CB8AC3E}">
        <p14:creationId xmlns:p14="http://schemas.microsoft.com/office/powerpoint/2010/main" val="189492148"/>
      </p:ext>
    </p:extLst>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E4667-DCBF-A547-FD3C-562B04559731}"/>
              </a:ext>
            </a:extLst>
          </p:cNvPr>
          <p:cNvSpPr>
            <a:spLocks noGrp="1"/>
          </p:cNvSpPr>
          <p:nvPr>
            <p:ph type="title"/>
          </p:nvPr>
        </p:nvSpPr>
        <p:spPr/>
        <p:txBody>
          <a:bodyPr/>
          <a:lstStyle/>
          <a:p>
            <a:r>
              <a:rPr kumimoji="1" lang="zh-CN" altLang="en-US" dirty="0"/>
              <a:t>设计调度器有何困难？</a:t>
            </a:r>
          </a:p>
        </p:txBody>
      </p:sp>
      <p:sp>
        <p:nvSpPr>
          <p:cNvPr id="3" name="内容占位符 2">
            <a:extLst>
              <a:ext uri="{FF2B5EF4-FFF2-40B4-BE49-F238E27FC236}">
                <a16:creationId xmlns:a16="http://schemas.microsoft.com/office/drawing/2014/main" id="{100FAB41-E013-9654-FADA-BA7FFBC74FE5}"/>
              </a:ext>
            </a:extLst>
          </p:cNvPr>
          <p:cNvSpPr>
            <a:spLocks noGrp="1"/>
          </p:cNvSpPr>
          <p:nvPr>
            <p:ph idx="1"/>
          </p:nvPr>
        </p:nvSpPr>
        <p:spPr/>
        <p:txBody>
          <a:bodyPr/>
          <a:lstStyle/>
          <a:p>
            <a:r>
              <a:rPr kumimoji="1" lang="zh-CN" altLang="en-US" dirty="0"/>
              <a:t>调度器面临的挑战</a:t>
            </a:r>
            <a:endParaRPr kumimoji="1" lang="en-US" altLang="zh-CN" dirty="0"/>
          </a:p>
          <a:p>
            <a:pPr lvl="1"/>
            <a:r>
              <a:rPr kumimoji="1" lang="zh-CN" altLang="en-US" dirty="0"/>
              <a:t>调度指标多样</a:t>
            </a:r>
            <a:endParaRPr kumimoji="1" lang="en-US" altLang="zh-CN" dirty="0"/>
          </a:p>
          <a:p>
            <a:pPr lvl="1"/>
            <a:r>
              <a:rPr kumimoji="1" lang="zh-CN" altLang="en-US" dirty="0"/>
              <a:t>调度可参考的信息有限</a:t>
            </a:r>
            <a:endParaRPr kumimoji="1" lang="en-US" altLang="zh-CN" dirty="0"/>
          </a:p>
          <a:p>
            <a:pPr lvl="1"/>
            <a:r>
              <a:rPr kumimoji="1" lang="zh-CN" altLang="en-US" dirty="0"/>
              <a:t>任务之间有复杂的交互</a:t>
            </a:r>
            <a:endParaRPr kumimoji="1" lang="en-US" altLang="zh-CN" dirty="0"/>
          </a:p>
          <a:p>
            <a:pPr lvl="1"/>
            <a:r>
              <a:rPr kumimoji="1" lang="zh-CN" altLang="en-US" dirty="0"/>
              <a:t>存在多方的权衡</a:t>
            </a:r>
            <a:endParaRPr kumimoji="1" lang="en-US" altLang="zh-CN" dirty="0"/>
          </a:p>
          <a:p>
            <a:pPr lvl="2"/>
            <a:r>
              <a:rPr kumimoji="1" lang="zh-CN" altLang="en-US" dirty="0"/>
              <a:t>调度开销与调度效果</a:t>
            </a:r>
            <a:endParaRPr kumimoji="1" lang="en-US" altLang="zh-CN" dirty="0"/>
          </a:p>
          <a:p>
            <a:pPr lvl="2"/>
            <a:r>
              <a:rPr kumimoji="1" lang="zh-CN" altLang="en-US" dirty="0"/>
              <a:t>优先级与公平性</a:t>
            </a:r>
            <a:endParaRPr kumimoji="1" lang="en-US" altLang="zh-CN" dirty="0"/>
          </a:p>
          <a:p>
            <a:pPr lvl="2"/>
            <a:r>
              <a:rPr kumimoji="1" lang="zh-CN" altLang="en-US" dirty="0"/>
              <a:t>性能与能耗</a:t>
            </a:r>
          </a:p>
        </p:txBody>
      </p:sp>
      <p:sp>
        <p:nvSpPr>
          <p:cNvPr id="4" name="灯片编号占位符 3">
            <a:extLst>
              <a:ext uri="{FF2B5EF4-FFF2-40B4-BE49-F238E27FC236}">
                <a16:creationId xmlns:a16="http://schemas.microsoft.com/office/drawing/2014/main" id="{CC2B737D-50A4-C46C-C4BA-D2D209835B8C}"/>
              </a:ext>
            </a:extLst>
          </p:cNvPr>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spTree>
    <p:extLst>
      <p:ext uri="{BB962C8B-B14F-4D97-AF65-F5344CB8AC3E}">
        <p14:creationId xmlns:p14="http://schemas.microsoft.com/office/powerpoint/2010/main" val="3900908539"/>
      </p:ext>
    </p:extLst>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4956B4-2E06-2936-3CC4-AA891D73A6BA}"/>
              </a:ext>
            </a:extLst>
          </p:cNvPr>
          <p:cNvSpPr>
            <a:spLocks noGrp="1"/>
          </p:cNvSpPr>
          <p:nvPr>
            <p:ph type="title"/>
          </p:nvPr>
        </p:nvSpPr>
        <p:spPr/>
        <p:txBody>
          <a:bodyPr/>
          <a:lstStyle/>
          <a:p>
            <a:r>
              <a:rPr kumimoji="1" lang="zh-CN" altLang="en-US" dirty="0"/>
              <a:t>进程的多级调度</a:t>
            </a:r>
          </a:p>
        </p:txBody>
      </p:sp>
      <p:sp>
        <p:nvSpPr>
          <p:cNvPr id="3" name="内容占位符 2">
            <a:extLst>
              <a:ext uri="{FF2B5EF4-FFF2-40B4-BE49-F238E27FC236}">
                <a16:creationId xmlns:a16="http://schemas.microsoft.com/office/drawing/2014/main" id="{60856D5B-12B2-EF78-8EA3-F396B5125452}"/>
              </a:ext>
            </a:extLst>
          </p:cNvPr>
          <p:cNvSpPr>
            <a:spLocks noGrp="1"/>
          </p:cNvSpPr>
          <p:nvPr>
            <p:ph idx="1"/>
          </p:nvPr>
        </p:nvSpPr>
        <p:spPr/>
        <p:txBody>
          <a:bodyPr>
            <a:normAutofit lnSpcReduction="10000"/>
          </a:bodyPr>
          <a:lstStyle/>
          <a:p>
            <a:pPr lvl="1"/>
            <a:r>
              <a:rPr kumimoji="1" lang="zh-CN" altLang="en-US" dirty="0"/>
              <a:t>长程调度</a:t>
            </a:r>
            <a:endParaRPr kumimoji="1" lang="en-US" altLang="zh-CN" dirty="0"/>
          </a:p>
          <a:p>
            <a:pPr lvl="2"/>
            <a:r>
              <a:rPr kumimoji="1" lang="zh-CN" altLang="en-US" dirty="0"/>
              <a:t>当一个程序尝试运行时，</a:t>
            </a:r>
            <a:r>
              <a:rPr kumimoji="1" lang="en-US" altLang="zh-CN" dirty="0"/>
              <a:t>OS</a:t>
            </a:r>
            <a:r>
              <a:rPr kumimoji="1" lang="zh-CN" altLang="en-US" dirty="0"/>
              <a:t>是否立刻为其创建相应的进程？</a:t>
            </a:r>
            <a:endParaRPr kumimoji="1" lang="en-US" altLang="zh-CN" dirty="0"/>
          </a:p>
          <a:p>
            <a:pPr lvl="2"/>
            <a:r>
              <a:rPr kumimoji="1" lang="zh-CN" altLang="en-US" dirty="0"/>
              <a:t>长程调度决定当前真正可被调度的进程的数量</a:t>
            </a:r>
            <a:endParaRPr kumimoji="1" lang="en-US" altLang="zh-CN" dirty="0"/>
          </a:p>
          <a:p>
            <a:pPr lvl="1"/>
            <a:r>
              <a:rPr kumimoji="1" lang="zh-CN" altLang="en-US" dirty="0"/>
              <a:t>短程调度</a:t>
            </a:r>
            <a:endParaRPr kumimoji="1" lang="en-US" altLang="zh-CN" dirty="0"/>
          </a:p>
          <a:p>
            <a:pPr lvl="2"/>
            <a:r>
              <a:rPr kumimoji="1" lang="zh-CN" altLang="en-US" dirty="0"/>
              <a:t>负责进程在就绪、运行和阻塞状态间的转换</a:t>
            </a:r>
            <a:endParaRPr kumimoji="1" lang="en-US" altLang="zh-CN" dirty="0"/>
          </a:p>
          <a:p>
            <a:pPr lvl="2"/>
            <a:r>
              <a:rPr kumimoji="1" lang="zh-CN" altLang="en-US" dirty="0"/>
              <a:t>触发短程调度的事件：进程创建、执行结束、硬件中断</a:t>
            </a:r>
            <a:r>
              <a:rPr kumimoji="1" lang="en-US" altLang="zh-CN" dirty="0"/>
              <a:t>(</a:t>
            </a:r>
            <a:r>
              <a:rPr kumimoji="1" lang="zh-CN" altLang="en-US" dirty="0"/>
              <a:t>特别是时钟中断</a:t>
            </a:r>
            <a:r>
              <a:rPr kumimoji="1" lang="en-US" altLang="zh-CN" dirty="0"/>
              <a:t>)</a:t>
            </a:r>
            <a:r>
              <a:rPr kumimoji="1" lang="zh-CN" altLang="en-US" dirty="0"/>
              <a:t>、系统调用等</a:t>
            </a:r>
            <a:endParaRPr kumimoji="1" lang="en-US" altLang="zh-CN" dirty="0"/>
          </a:p>
          <a:p>
            <a:pPr lvl="1"/>
            <a:r>
              <a:rPr kumimoji="1" lang="zh-CN" altLang="en-US" dirty="0"/>
              <a:t>中程调度</a:t>
            </a:r>
            <a:endParaRPr kumimoji="1" lang="en-US" altLang="zh-CN" dirty="0"/>
          </a:p>
          <a:p>
            <a:pPr lvl="2"/>
            <a:r>
              <a:rPr kumimoji="1" lang="zh-CN" altLang="en-US" dirty="0"/>
              <a:t>负责避免内存使用过多</a:t>
            </a:r>
            <a:endParaRPr kumimoji="1" lang="en-US" altLang="zh-CN" dirty="0"/>
          </a:p>
          <a:p>
            <a:pPr lvl="2"/>
            <a:r>
              <a:rPr kumimoji="1" lang="zh-CN" altLang="en-US" dirty="0"/>
              <a:t>中程调度时换页机制的一部分</a:t>
            </a:r>
            <a:endParaRPr kumimoji="1" lang="en-US" altLang="zh-CN" dirty="0"/>
          </a:p>
        </p:txBody>
      </p:sp>
      <p:sp>
        <p:nvSpPr>
          <p:cNvPr id="4" name="灯片编号占位符 3">
            <a:extLst>
              <a:ext uri="{FF2B5EF4-FFF2-40B4-BE49-F238E27FC236}">
                <a16:creationId xmlns:a16="http://schemas.microsoft.com/office/drawing/2014/main" id="{4D3EEE25-CC4B-93B6-F2F4-A5A89AB1E02B}"/>
              </a:ext>
            </a:extLst>
          </p:cNvPr>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extLst>
      <p:ext uri="{BB962C8B-B14F-4D97-AF65-F5344CB8AC3E}">
        <p14:creationId xmlns:p14="http://schemas.microsoft.com/office/powerpoint/2010/main" val="1360533693"/>
      </p:ext>
    </p:extLst>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23227-CC9B-0084-8BE3-8C804C960816}"/>
              </a:ext>
            </a:extLst>
          </p:cNvPr>
          <p:cNvSpPr>
            <a:spLocks noGrp="1"/>
          </p:cNvSpPr>
          <p:nvPr>
            <p:ph type="title"/>
          </p:nvPr>
        </p:nvSpPr>
        <p:spPr/>
        <p:txBody>
          <a:bodyPr/>
          <a:lstStyle/>
          <a:p>
            <a:r>
              <a:rPr kumimoji="1" lang="zh-CN" altLang="en-US" dirty="0"/>
              <a:t>进程调度</a:t>
            </a:r>
          </a:p>
        </p:txBody>
      </p:sp>
      <p:sp>
        <p:nvSpPr>
          <p:cNvPr id="110" name="内容占位符 109">
            <a:extLst>
              <a:ext uri="{FF2B5EF4-FFF2-40B4-BE49-F238E27FC236}">
                <a16:creationId xmlns:a16="http://schemas.microsoft.com/office/drawing/2014/main" id="{18CED817-71A7-843F-D174-9B77B322188D}"/>
              </a:ext>
            </a:extLst>
          </p:cNvPr>
          <p:cNvSpPr>
            <a:spLocks noGrp="1"/>
          </p:cNvSpPr>
          <p:nvPr>
            <p:ph idx="1"/>
          </p:nvPr>
        </p:nvSpPr>
        <p:spPr>
          <a:xfrm>
            <a:off x="6599274" y="1837213"/>
            <a:ext cx="2087526" cy="3671888"/>
          </a:xfrm>
        </p:spPr>
        <p:txBody>
          <a:bodyPr>
            <a:normAutofit/>
          </a:bodyPr>
          <a:lstStyle/>
          <a:p>
            <a:r>
              <a:rPr lang="zh-CN" altLang="en-US" sz="2000" dirty="0"/>
              <a:t>长程调度：负责调控系统整体，为进程带来额外时延</a:t>
            </a:r>
            <a:endParaRPr lang="en-US" altLang="zh-CN" sz="2000" dirty="0"/>
          </a:p>
          <a:p>
            <a:r>
              <a:rPr lang="zh-CN" altLang="en-US" sz="2000" dirty="0"/>
              <a:t>中程调度：负责监控内存资源的使用</a:t>
            </a:r>
            <a:endParaRPr lang="en-US" altLang="zh-CN" sz="2000" dirty="0"/>
          </a:p>
          <a:p>
            <a:pPr>
              <a:lnSpc>
                <a:spcPct val="110000"/>
              </a:lnSpc>
            </a:pPr>
            <a:r>
              <a:rPr lang="zh-CN" altLang="en-US" sz="2000" dirty="0"/>
              <a:t>短程调度：决定进程是否可执行</a:t>
            </a:r>
          </a:p>
        </p:txBody>
      </p:sp>
      <p:sp>
        <p:nvSpPr>
          <p:cNvPr id="4" name="灯片编号占位符 3">
            <a:extLst>
              <a:ext uri="{FF2B5EF4-FFF2-40B4-BE49-F238E27FC236}">
                <a16:creationId xmlns:a16="http://schemas.microsoft.com/office/drawing/2014/main" id="{D9B2EC41-FB35-4E89-55BF-89B45ECD05CB}"/>
              </a:ext>
            </a:extLst>
          </p:cNvPr>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grpSp>
        <p:nvGrpSpPr>
          <p:cNvPr id="108" name="组合 107">
            <a:extLst>
              <a:ext uri="{FF2B5EF4-FFF2-40B4-BE49-F238E27FC236}">
                <a16:creationId xmlns:a16="http://schemas.microsoft.com/office/drawing/2014/main" id="{143E826B-CC85-DE3D-FFB4-301A779EFE7B}"/>
              </a:ext>
            </a:extLst>
          </p:cNvPr>
          <p:cNvGrpSpPr/>
          <p:nvPr/>
        </p:nvGrpSpPr>
        <p:grpSpPr>
          <a:xfrm>
            <a:off x="526540" y="1692694"/>
            <a:ext cx="6157610" cy="3315571"/>
            <a:chOff x="1556425" y="1428168"/>
            <a:chExt cx="8210146" cy="4420760"/>
          </a:xfrm>
        </p:grpSpPr>
        <p:sp>
          <p:nvSpPr>
            <p:cNvPr id="5" name="圆柱体 4">
              <a:extLst>
                <a:ext uri="{FF2B5EF4-FFF2-40B4-BE49-F238E27FC236}">
                  <a16:creationId xmlns:a16="http://schemas.microsoft.com/office/drawing/2014/main" id="{7ED83A4C-F8A4-0104-1983-9328D8862FF9}"/>
                </a:ext>
              </a:extLst>
            </p:cNvPr>
            <p:cNvSpPr/>
            <p:nvPr/>
          </p:nvSpPr>
          <p:spPr bwMode="auto">
            <a:xfrm rot="16200000">
              <a:off x="2141707" y="1554804"/>
              <a:ext cx="559340" cy="1506166"/>
            </a:xfrm>
            <a:prstGeom prst="can">
              <a:avLst/>
            </a:prstGeom>
            <a:solidFill>
              <a:srgbClr val="FFEDD8"/>
            </a:solidFill>
            <a:ln w="9525" cap="flat" cmpd="sng" algn="ctr">
              <a:solidFill>
                <a:schemeClr val="tx1"/>
              </a:solidFill>
              <a:prstDash val="solid"/>
              <a:round/>
              <a:headEnd type="none" w="med" len="med"/>
              <a:tailEnd type="none" w="med" len="med"/>
            </a:ln>
          </p:spPr>
          <p:txBody>
            <a:bodyPr vert="vert"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200" dirty="0">
                  <a:latin typeface="Tahoma" panose="020B0604030504040204" pitchFamily="34" charset="0"/>
                  <a:ea typeface="宋体" panose="02010600030101010101" pitchFamily="2" charset="-122"/>
                </a:rPr>
                <a:t>批处理队列</a:t>
              </a:r>
            </a:p>
          </p:txBody>
        </p:sp>
        <p:sp>
          <p:nvSpPr>
            <p:cNvPr id="7" name="圆柱体 6">
              <a:extLst>
                <a:ext uri="{FF2B5EF4-FFF2-40B4-BE49-F238E27FC236}">
                  <a16:creationId xmlns:a16="http://schemas.microsoft.com/office/drawing/2014/main" id="{D7A01D2C-B2C4-B531-93CE-EC78BFA9E6EE}"/>
                </a:ext>
              </a:extLst>
            </p:cNvPr>
            <p:cNvSpPr/>
            <p:nvPr/>
          </p:nvSpPr>
          <p:spPr bwMode="auto">
            <a:xfrm rot="16200000">
              <a:off x="5202677" y="1554803"/>
              <a:ext cx="559340" cy="1506166"/>
            </a:xfrm>
            <a:prstGeom prst="can">
              <a:avLst/>
            </a:prstGeom>
            <a:solidFill>
              <a:srgbClr val="FFEDD8"/>
            </a:solidFill>
            <a:ln w="9525" cap="flat" cmpd="sng" algn="ctr">
              <a:solidFill>
                <a:schemeClr val="tx1"/>
              </a:solidFill>
              <a:prstDash val="solid"/>
              <a:round/>
              <a:headEnd type="none" w="med" len="med"/>
              <a:tailEnd type="none" w="med" len="med"/>
            </a:ln>
          </p:spPr>
          <p:txBody>
            <a:bodyPr vert="vert"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200" dirty="0">
                  <a:latin typeface="Tahoma" panose="020B0604030504040204" pitchFamily="34" charset="0"/>
                  <a:ea typeface="宋体" panose="02010600030101010101" pitchFamily="2" charset="-122"/>
                </a:rPr>
                <a:t>就绪队列</a:t>
              </a:r>
            </a:p>
          </p:txBody>
        </p:sp>
        <p:sp>
          <p:nvSpPr>
            <p:cNvPr id="8" name="圆柱体 7">
              <a:extLst>
                <a:ext uri="{FF2B5EF4-FFF2-40B4-BE49-F238E27FC236}">
                  <a16:creationId xmlns:a16="http://schemas.microsoft.com/office/drawing/2014/main" id="{E24E0AB8-1145-9F4A-D273-B5605DBE16D4}"/>
                </a:ext>
              </a:extLst>
            </p:cNvPr>
            <p:cNvSpPr/>
            <p:nvPr/>
          </p:nvSpPr>
          <p:spPr bwMode="auto">
            <a:xfrm rot="16200000">
              <a:off x="5202677" y="2530542"/>
              <a:ext cx="559340" cy="1506166"/>
            </a:xfrm>
            <a:prstGeom prst="can">
              <a:avLst/>
            </a:prstGeom>
            <a:solidFill>
              <a:srgbClr val="FFEDD8"/>
            </a:solidFill>
            <a:ln w="9525" cap="flat" cmpd="sng" algn="ctr">
              <a:solidFill>
                <a:schemeClr val="tx1"/>
              </a:solidFill>
              <a:prstDash val="solid"/>
              <a:round/>
              <a:headEnd type="none" w="med" len="med"/>
              <a:tailEnd type="none" w="med" len="med"/>
            </a:ln>
          </p:spPr>
          <p:txBody>
            <a:bodyPr vert="vert"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200" dirty="0">
                  <a:latin typeface="Tahoma" panose="020B0604030504040204" pitchFamily="34" charset="0"/>
                  <a:ea typeface="宋体" panose="02010600030101010101" pitchFamily="2" charset="-122"/>
                </a:rPr>
                <a:t>挂起就绪队列</a:t>
              </a:r>
            </a:p>
          </p:txBody>
        </p:sp>
        <p:sp>
          <p:nvSpPr>
            <p:cNvPr id="10" name="圆柱体 9">
              <a:extLst>
                <a:ext uri="{FF2B5EF4-FFF2-40B4-BE49-F238E27FC236}">
                  <a16:creationId xmlns:a16="http://schemas.microsoft.com/office/drawing/2014/main" id="{0445961D-1758-2F22-EE5C-5A617FF7DC80}"/>
                </a:ext>
              </a:extLst>
            </p:cNvPr>
            <p:cNvSpPr/>
            <p:nvPr/>
          </p:nvSpPr>
          <p:spPr bwMode="auto">
            <a:xfrm rot="16200000">
              <a:off x="5202677" y="3506281"/>
              <a:ext cx="559340" cy="1506166"/>
            </a:xfrm>
            <a:prstGeom prst="can">
              <a:avLst/>
            </a:prstGeom>
            <a:solidFill>
              <a:srgbClr val="FFEDD8"/>
            </a:solidFill>
            <a:ln w="9525" cap="flat" cmpd="sng" algn="ctr">
              <a:solidFill>
                <a:schemeClr val="tx1"/>
              </a:solidFill>
              <a:prstDash val="solid"/>
              <a:round/>
              <a:headEnd type="none" w="med" len="med"/>
              <a:tailEnd type="none" w="med" len="med"/>
            </a:ln>
          </p:spPr>
          <p:txBody>
            <a:bodyPr vert="vert"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200" dirty="0">
                  <a:latin typeface="Tahoma" panose="020B0604030504040204" pitchFamily="34" charset="0"/>
                  <a:ea typeface="宋体" panose="02010600030101010101" pitchFamily="2" charset="-122"/>
                </a:rPr>
                <a:t>挂起阻塞队列</a:t>
              </a:r>
            </a:p>
          </p:txBody>
        </p:sp>
        <p:sp>
          <p:nvSpPr>
            <p:cNvPr id="11" name="圆柱体 10">
              <a:extLst>
                <a:ext uri="{FF2B5EF4-FFF2-40B4-BE49-F238E27FC236}">
                  <a16:creationId xmlns:a16="http://schemas.microsoft.com/office/drawing/2014/main" id="{5FBF34A9-E7C1-76F1-96BF-BD43F9D2683C}"/>
                </a:ext>
              </a:extLst>
            </p:cNvPr>
            <p:cNvSpPr/>
            <p:nvPr/>
          </p:nvSpPr>
          <p:spPr bwMode="auto">
            <a:xfrm rot="16200000">
              <a:off x="5202677" y="4482019"/>
              <a:ext cx="559340" cy="1506166"/>
            </a:xfrm>
            <a:prstGeom prst="can">
              <a:avLst/>
            </a:prstGeom>
            <a:solidFill>
              <a:srgbClr val="FFEDD8"/>
            </a:solidFill>
            <a:ln w="9525" cap="flat" cmpd="sng" algn="ctr">
              <a:solidFill>
                <a:schemeClr val="tx1"/>
              </a:solidFill>
              <a:prstDash val="solid"/>
              <a:round/>
              <a:headEnd type="none" w="med" len="med"/>
              <a:tailEnd type="none" w="med" len="med"/>
            </a:ln>
          </p:spPr>
          <p:txBody>
            <a:bodyPr vert="vert"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zh-CN" altLang="en-US" sz="1200" dirty="0">
                  <a:latin typeface="Tahoma" panose="020B0604030504040204" pitchFamily="34" charset="0"/>
                  <a:ea typeface="宋体" panose="02010600030101010101" pitchFamily="2" charset="-122"/>
                </a:rPr>
                <a:t>阻塞队列</a:t>
              </a:r>
            </a:p>
          </p:txBody>
        </p:sp>
        <p:sp>
          <p:nvSpPr>
            <p:cNvPr id="12" name="圆角矩形 11">
              <a:extLst>
                <a:ext uri="{FF2B5EF4-FFF2-40B4-BE49-F238E27FC236}">
                  <a16:creationId xmlns:a16="http://schemas.microsoft.com/office/drawing/2014/main" id="{73242A25-C53F-70E5-9099-A4CD42679E0C}"/>
                </a:ext>
              </a:extLst>
            </p:cNvPr>
            <p:cNvSpPr/>
            <p:nvPr/>
          </p:nvSpPr>
          <p:spPr bwMode="auto">
            <a:xfrm>
              <a:off x="7198468" y="1985860"/>
              <a:ext cx="690664" cy="651754"/>
            </a:xfrm>
            <a:prstGeom prst="roundRect">
              <a:avLst/>
            </a:prstGeom>
            <a:solidFill>
              <a:srgbClr val="FFEDD8"/>
            </a:solidFill>
            <a:ln w="9525" cap="flat" cmpd="sng" algn="ctr">
              <a:solidFill>
                <a:schemeClr val="tx1"/>
              </a:solidFill>
              <a:prstDash val="solid"/>
              <a:round/>
              <a:headEnd type="none" w="med" len="med"/>
              <a:tailEnd type="none" w="med" len="med"/>
            </a:ln>
          </p:spPr>
          <p:txBody>
            <a:bodyPr vert="horz" wrap="none" lIns="68580" tIns="34290" rIns="68580" bIns="34290" numCol="1" rtlCol="0" anchor="ctr" anchorCtr="0" compatLnSpc="1"/>
            <a:lstStyle/>
            <a:p>
              <a:pPr algn="ctr" defTabSz="685766" fontAlgn="base">
                <a:lnSpc>
                  <a:spcPct val="90000"/>
                </a:lnSpc>
                <a:spcBef>
                  <a:spcPct val="20000"/>
                </a:spcBef>
                <a:spcAft>
                  <a:spcPct val="0"/>
                </a:spcAft>
                <a:buClr>
                  <a:schemeClr val="folHlink"/>
                </a:buClr>
                <a:buSzPct val="60000"/>
              </a:pPr>
              <a:r>
                <a:rPr kumimoji="1" lang="en-US" altLang="zh-CN" sz="1350" dirty="0">
                  <a:latin typeface="Tahoma" panose="020B0604030504040204" pitchFamily="34" charset="0"/>
                  <a:ea typeface="宋体" panose="02010600030101010101" pitchFamily="2" charset="-122"/>
                </a:rPr>
                <a:t>CPU</a:t>
              </a:r>
              <a:endParaRPr kumimoji="1" lang="zh-CN" altLang="en-US" sz="1350" dirty="0">
                <a:latin typeface="Tahoma" panose="020B0604030504040204" pitchFamily="34" charset="0"/>
                <a:ea typeface="宋体" panose="02010600030101010101" pitchFamily="2" charset="-122"/>
              </a:endParaRPr>
            </a:p>
          </p:txBody>
        </p:sp>
        <p:cxnSp>
          <p:nvCxnSpPr>
            <p:cNvPr id="14" name="直线箭头连接符 13">
              <a:extLst>
                <a:ext uri="{FF2B5EF4-FFF2-40B4-BE49-F238E27FC236}">
                  <a16:creationId xmlns:a16="http://schemas.microsoft.com/office/drawing/2014/main" id="{2A7BEA9E-A068-05B1-12AA-06A1DC5AE6E2}"/>
                </a:ext>
              </a:extLst>
            </p:cNvPr>
            <p:cNvCxnSpPr/>
            <p:nvPr/>
          </p:nvCxnSpPr>
          <p:spPr bwMode="auto">
            <a:xfrm>
              <a:off x="3174460" y="2149745"/>
              <a:ext cx="1631004"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15" name="直线箭头连接符 14">
              <a:extLst>
                <a:ext uri="{FF2B5EF4-FFF2-40B4-BE49-F238E27FC236}">
                  <a16:creationId xmlns:a16="http://schemas.microsoft.com/office/drawing/2014/main" id="{607CF0DF-C065-0FE5-EA86-679965754D7F}"/>
                </a:ext>
              </a:extLst>
            </p:cNvPr>
            <p:cNvCxnSpPr>
              <a:cxnSpLocks/>
            </p:cNvCxnSpPr>
            <p:nvPr/>
          </p:nvCxnSpPr>
          <p:spPr bwMode="auto">
            <a:xfrm>
              <a:off x="3403060" y="2313626"/>
              <a:ext cx="1402404"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18" name="直线连接符 17">
              <a:extLst>
                <a:ext uri="{FF2B5EF4-FFF2-40B4-BE49-F238E27FC236}">
                  <a16:creationId xmlns:a16="http://schemas.microsoft.com/office/drawing/2014/main" id="{AB34E9A6-C43D-C302-B16F-562A1A927506}"/>
                </a:ext>
              </a:extLst>
            </p:cNvPr>
            <p:cNvCxnSpPr>
              <a:cxnSpLocks/>
            </p:cNvCxnSpPr>
            <p:nvPr/>
          </p:nvCxnSpPr>
          <p:spPr bwMode="auto">
            <a:xfrm>
              <a:off x="3403060" y="2307885"/>
              <a:ext cx="1621" cy="703904"/>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0" name="直线箭头连接符 19">
              <a:extLst>
                <a:ext uri="{FF2B5EF4-FFF2-40B4-BE49-F238E27FC236}">
                  <a16:creationId xmlns:a16="http://schemas.microsoft.com/office/drawing/2014/main" id="{E4746EB9-8A48-1777-6FE6-8BC52B938DEA}"/>
                </a:ext>
              </a:extLst>
            </p:cNvPr>
            <p:cNvCxnSpPr>
              <a:cxnSpLocks/>
            </p:cNvCxnSpPr>
            <p:nvPr/>
          </p:nvCxnSpPr>
          <p:spPr bwMode="auto">
            <a:xfrm>
              <a:off x="3651926" y="2466026"/>
              <a:ext cx="1152727"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25" name="直线连接符 24">
              <a:extLst>
                <a:ext uri="{FF2B5EF4-FFF2-40B4-BE49-F238E27FC236}">
                  <a16:creationId xmlns:a16="http://schemas.microsoft.com/office/drawing/2014/main" id="{091E2E59-4CBB-55D4-8218-9E079A3B4EE2}"/>
                </a:ext>
              </a:extLst>
            </p:cNvPr>
            <p:cNvCxnSpPr/>
            <p:nvPr/>
          </p:nvCxnSpPr>
          <p:spPr bwMode="auto">
            <a:xfrm>
              <a:off x="3651926" y="2466026"/>
              <a:ext cx="0" cy="295228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7" name="直线连接符 26">
              <a:extLst>
                <a:ext uri="{FF2B5EF4-FFF2-40B4-BE49-F238E27FC236}">
                  <a16:creationId xmlns:a16="http://schemas.microsoft.com/office/drawing/2014/main" id="{3B675D60-C4CC-5080-A6AB-A87433BCC9A1}"/>
                </a:ext>
              </a:extLst>
            </p:cNvPr>
            <p:cNvCxnSpPr/>
            <p:nvPr/>
          </p:nvCxnSpPr>
          <p:spPr bwMode="auto">
            <a:xfrm>
              <a:off x="3651926" y="5418306"/>
              <a:ext cx="1152727"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29" name="直线箭头连接符 28">
              <a:extLst>
                <a:ext uri="{FF2B5EF4-FFF2-40B4-BE49-F238E27FC236}">
                  <a16:creationId xmlns:a16="http://schemas.microsoft.com/office/drawing/2014/main" id="{866F9A04-86FB-2526-6D20-E33D8AB69D1A}"/>
                </a:ext>
              </a:extLst>
            </p:cNvPr>
            <p:cNvCxnSpPr>
              <a:stCxn id="7" idx="3"/>
              <a:endCxn id="12" idx="1"/>
            </p:cNvCxnSpPr>
            <p:nvPr/>
          </p:nvCxnSpPr>
          <p:spPr bwMode="auto">
            <a:xfrm>
              <a:off x="6235430" y="2307886"/>
              <a:ext cx="963038" cy="385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31" name="直线箭头连接符 30">
              <a:extLst>
                <a:ext uri="{FF2B5EF4-FFF2-40B4-BE49-F238E27FC236}">
                  <a16:creationId xmlns:a16="http://schemas.microsoft.com/office/drawing/2014/main" id="{8B396D17-84DE-06E6-3E2F-0ACCFFA4F410}"/>
                </a:ext>
              </a:extLst>
            </p:cNvPr>
            <p:cNvCxnSpPr>
              <a:cxnSpLocks/>
            </p:cNvCxnSpPr>
            <p:nvPr/>
          </p:nvCxnSpPr>
          <p:spPr bwMode="auto">
            <a:xfrm flipH="1" flipV="1">
              <a:off x="3651926" y="3283624"/>
              <a:ext cx="1152727" cy="5404"/>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37" name="直线连接符 36">
              <a:extLst>
                <a:ext uri="{FF2B5EF4-FFF2-40B4-BE49-F238E27FC236}">
                  <a16:creationId xmlns:a16="http://schemas.microsoft.com/office/drawing/2014/main" id="{098FAEB0-2A60-EF29-1521-E2C4BA08869C}"/>
                </a:ext>
              </a:extLst>
            </p:cNvPr>
            <p:cNvCxnSpPr>
              <a:cxnSpLocks/>
            </p:cNvCxnSpPr>
            <p:nvPr/>
          </p:nvCxnSpPr>
          <p:spPr bwMode="auto">
            <a:xfrm flipH="1" flipV="1">
              <a:off x="4163843" y="4396495"/>
              <a:ext cx="640810" cy="1"/>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44" name="直线连接符 43">
              <a:extLst>
                <a:ext uri="{FF2B5EF4-FFF2-40B4-BE49-F238E27FC236}">
                  <a16:creationId xmlns:a16="http://schemas.microsoft.com/office/drawing/2014/main" id="{A13B429F-CA1D-685D-265C-B879C1DEEF24}"/>
                </a:ext>
              </a:extLst>
            </p:cNvPr>
            <p:cNvCxnSpPr/>
            <p:nvPr/>
          </p:nvCxnSpPr>
          <p:spPr bwMode="auto">
            <a:xfrm>
              <a:off x="4163843" y="4396495"/>
              <a:ext cx="0" cy="838606"/>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46" name="直线箭头连接符 45">
              <a:extLst>
                <a:ext uri="{FF2B5EF4-FFF2-40B4-BE49-F238E27FC236}">
                  <a16:creationId xmlns:a16="http://schemas.microsoft.com/office/drawing/2014/main" id="{1746F113-6E4F-8401-53DD-79F4AA975C62}"/>
                </a:ext>
              </a:extLst>
            </p:cNvPr>
            <p:cNvCxnSpPr>
              <a:cxnSpLocks/>
            </p:cNvCxnSpPr>
            <p:nvPr/>
          </p:nvCxnSpPr>
          <p:spPr bwMode="auto">
            <a:xfrm>
              <a:off x="4160193" y="5235101"/>
              <a:ext cx="640810" cy="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48" name="直线连接符 47">
              <a:extLst>
                <a:ext uri="{FF2B5EF4-FFF2-40B4-BE49-F238E27FC236}">
                  <a16:creationId xmlns:a16="http://schemas.microsoft.com/office/drawing/2014/main" id="{D2743510-5C8B-397E-D5D5-0D9F4785A407}"/>
                </a:ext>
              </a:extLst>
            </p:cNvPr>
            <p:cNvCxnSpPr/>
            <p:nvPr/>
          </p:nvCxnSpPr>
          <p:spPr bwMode="auto">
            <a:xfrm flipH="1">
              <a:off x="4480598" y="5087565"/>
              <a:ext cx="320405"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50" name="直线连接符 49">
              <a:extLst>
                <a:ext uri="{FF2B5EF4-FFF2-40B4-BE49-F238E27FC236}">
                  <a16:creationId xmlns:a16="http://schemas.microsoft.com/office/drawing/2014/main" id="{A993E6CC-4F22-CFB4-63BD-DFA13DB179D9}"/>
                </a:ext>
              </a:extLst>
            </p:cNvPr>
            <p:cNvCxnSpPr/>
            <p:nvPr/>
          </p:nvCxnSpPr>
          <p:spPr bwMode="auto">
            <a:xfrm flipV="1">
              <a:off x="4480598" y="4815798"/>
              <a:ext cx="0" cy="271768"/>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52" name="直线连接符 51">
              <a:extLst>
                <a:ext uri="{FF2B5EF4-FFF2-40B4-BE49-F238E27FC236}">
                  <a16:creationId xmlns:a16="http://schemas.microsoft.com/office/drawing/2014/main" id="{B8B7A624-FE12-202A-A871-61BAF9AC0D7A}"/>
                </a:ext>
              </a:extLst>
            </p:cNvPr>
            <p:cNvCxnSpPr/>
            <p:nvPr/>
          </p:nvCxnSpPr>
          <p:spPr bwMode="auto">
            <a:xfrm>
              <a:off x="4480598" y="4815798"/>
              <a:ext cx="1978568"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54" name="直线连接符 53">
              <a:extLst>
                <a:ext uri="{FF2B5EF4-FFF2-40B4-BE49-F238E27FC236}">
                  <a16:creationId xmlns:a16="http://schemas.microsoft.com/office/drawing/2014/main" id="{F6C81F33-BA9E-F9BC-5696-265999206160}"/>
                </a:ext>
              </a:extLst>
            </p:cNvPr>
            <p:cNvCxnSpPr/>
            <p:nvPr/>
          </p:nvCxnSpPr>
          <p:spPr bwMode="auto">
            <a:xfrm flipV="1">
              <a:off x="6459166" y="4259363"/>
              <a:ext cx="0" cy="556435"/>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56" name="直线箭头连接符 55">
              <a:extLst>
                <a:ext uri="{FF2B5EF4-FFF2-40B4-BE49-F238E27FC236}">
                  <a16:creationId xmlns:a16="http://schemas.microsoft.com/office/drawing/2014/main" id="{110D40F9-26B3-E7B2-4DA1-13EFFC9E7BFB}"/>
                </a:ext>
              </a:extLst>
            </p:cNvPr>
            <p:cNvCxnSpPr>
              <a:endCxn id="10" idx="3"/>
            </p:cNvCxnSpPr>
            <p:nvPr/>
          </p:nvCxnSpPr>
          <p:spPr bwMode="auto">
            <a:xfrm flipH="1">
              <a:off x="6235430" y="4259363"/>
              <a:ext cx="223736" cy="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58" name="直线连接符 57">
              <a:extLst>
                <a:ext uri="{FF2B5EF4-FFF2-40B4-BE49-F238E27FC236}">
                  <a16:creationId xmlns:a16="http://schemas.microsoft.com/office/drawing/2014/main" id="{4C1ABBFD-0823-7F11-A9CC-C6F73F14FC87}"/>
                </a:ext>
              </a:extLst>
            </p:cNvPr>
            <p:cNvCxnSpPr/>
            <p:nvPr/>
          </p:nvCxnSpPr>
          <p:spPr bwMode="auto">
            <a:xfrm flipH="1">
              <a:off x="4160193" y="4124528"/>
              <a:ext cx="640810"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60" name="直线连接符 59">
              <a:extLst>
                <a:ext uri="{FF2B5EF4-FFF2-40B4-BE49-F238E27FC236}">
                  <a16:creationId xmlns:a16="http://schemas.microsoft.com/office/drawing/2014/main" id="{AF4B1556-C870-A482-9E53-FD6B4B0CFF5A}"/>
                </a:ext>
              </a:extLst>
            </p:cNvPr>
            <p:cNvCxnSpPr/>
            <p:nvPr/>
          </p:nvCxnSpPr>
          <p:spPr bwMode="auto">
            <a:xfrm flipV="1">
              <a:off x="4160193" y="3764604"/>
              <a:ext cx="0" cy="359924"/>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62" name="直线连接符 61">
              <a:extLst>
                <a:ext uri="{FF2B5EF4-FFF2-40B4-BE49-F238E27FC236}">
                  <a16:creationId xmlns:a16="http://schemas.microsoft.com/office/drawing/2014/main" id="{86C3AD69-F4B7-028F-D17E-7674312F916C}"/>
                </a:ext>
              </a:extLst>
            </p:cNvPr>
            <p:cNvCxnSpPr/>
            <p:nvPr/>
          </p:nvCxnSpPr>
          <p:spPr bwMode="auto">
            <a:xfrm>
              <a:off x="4160193" y="3754877"/>
              <a:ext cx="2298973"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64" name="直线连接符 63">
              <a:extLst>
                <a:ext uri="{FF2B5EF4-FFF2-40B4-BE49-F238E27FC236}">
                  <a16:creationId xmlns:a16="http://schemas.microsoft.com/office/drawing/2014/main" id="{3941D773-6DFB-DAEF-2035-87AFE8621E17}"/>
                </a:ext>
              </a:extLst>
            </p:cNvPr>
            <p:cNvCxnSpPr/>
            <p:nvPr/>
          </p:nvCxnSpPr>
          <p:spPr bwMode="auto">
            <a:xfrm flipV="1">
              <a:off x="6459166" y="3283624"/>
              <a:ext cx="0" cy="48098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66" name="直线箭头连接符 65">
              <a:extLst>
                <a:ext uri="{FF2B5EF4-FFF2-40B4-BE49-F238E27FC236}">
                  <a16:creationId xmlns:a16="http://schemas.microsoft.com/office/drawing/2014/main" id="{9D7FF729-B069-796D-49B4-48FC4B5F695C}"/>
                </a:ext>
              </a:extLst>
            </p:cNvPr>
            <p:cNvCxnSpPr>
              <a:endCxn id="8" idx="3"/>
            </p:cNvCxnSpPr>
            <p:nvPr/>
          </p:nvCxnSpPr>
          <p:spPr bwMode="auto">
            <a:xfrm flipH="1">
              <a:off x="6235430" y="3283624"/>
              <a:ext cx="223736" cy="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68" name="直线箭头连接符 67">
              <a:extLst>
                <a:ext uri="{FF2B5EF4-FFF2-40B4-BE49-F238E27FC236}">
                  <a16:creationId xmlns:a16="http://schemas.microsoft.com/office/drawing/2014/main" id="{3230A2DC-C30B-0263-53A7-C223F00A6D7A}"/>
                </a:ext>
              </a:extLst>
            </p:cNvPr>
            <p:cNvCxnSpPr>
              <a:endCxn id="5" idx="4"/>
            </p:cNvCxnSpPr>
            <p:nvPr/>
          </p:nvCxnSpPr>
          <p:spPr bwMode="auto">
            <a:xfrm>
              <a:off x="2421377" y="1775972"/>
              <a:ext cx="0" cy="252245"/>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70" name="直线连接符 69">
              <a:extLst>
                <a:ext uri="{FF2B5EF4-FFF2-40B4-BE49-F238E27FC236}">
                  <a16:creationId xmlns:a16="http://schemas.microsoft.com/office/drawing/2014/main" id="{40018D53-D44B-7977-465C-D1FD984AD153}"/>
                </a:ext>
              </a:extLst>
            </p:cNvPr>
            <p:cNvCxnSpPr>
              <a:cxnSpLocks/>
              <a:stCxn id="12" idx="3"/>
            </p:cNvCxnSpPr>
            <p:nvPr/>
          </p:nvCxnSpPr>
          <p:spPr bwMode="auto">
            <a:xfrm>
              <a:off x="7889132" y="2311737"/>
              <a:ext cx="573932"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72" name="直线连接符 71">
              <a:extLst>
                <a:ext uri="{FF2B5EF4-FFF2-40B4-BE49-F238E27FC236}">
                  <a16:creationId xmlns:a16="http://schemas.microsoft.com/office/drawing/2014/main" id="{88CCB8A0-114F-A66E-FB33-4B226D99512D}"/>
                </a:ext>
              </a:extLst>
            </p:cNvPr>
            <p:cNvCxnSpPr>
              <a:cxnSpLocks/>
            </p:cNvCxnSpPr>
            <p:nvPr/>
          </p:nvCxnSpPr>
          <p:spPr bwMode="auto">
            <a:xfrm>
              <a:off x="7889132" y="2149745"/>
              <a:ext cx="223736"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74" name="直线连接符 73">
              <a:extLst>
                <a:ext uri="{FF2B5EF4-FFF2-40B4-BE49-F238E27FC236}">
                  <a16:creationId xmlns:a16="http://schemas.microsoft.com/office/drawing/2014/main" id="{45839B60-21A3-7383-0623-B6B506B1AE9E}"/>
                </a:ext>
              </a:extLst>
            </p:cNvPr>
            <p:cNvCxnSpPr/>
            <p:nvPr/>
          </p:nvCxnSpPr>
          <p:spPr bwMode="auto">
            <a:xfrm flipV="1">
              <a:off x="8112868" y="1775972"/>
              <a:ext cx="0" cy="373773"/>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76" name="直线连接符 75">
              <a:extLst>
                <a:ext uri="{FF2B5EF4-FFF2-40B4-BE49-F238E27FC236}">
                  <a16:creationId xmlns:a16="http://schemas.microsoft.com/office/drawing/2014/main" id="{E5CD075B-EDB2-03A9-4AB0-9D13B1FA004C}"/>
                </a:ext>
              </a:extLst>
            </p:cNvPr>
            <p:cNvCxnSpPr/>
            <p:nvPr/>
          </p:nvCxnSpPr>
          <p:spPr bwMode="auto">
            <a:xfrm flipH="1">
              <a:off x="5469882" y="1775972"/>
              <a:ext cx="2642986"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78" name="直线箭头连接符 77">
              <a:extLst>
                <a:ext uri="{FF2B5EF4-FFF2-40B4-BE49-F238E27FC236}">
                  <a16:creationId xmlns:a16="http://schemas.microsoft.com/office/drawing/2014/main" id="{63EEBA08-A8E7-53B1-D04C-570B20F8A701}"/>
                </a:ext>
              </a:extLst>
            </p:cNvPr>
            <p:cNvCxnSpPr>
              <a:endCxn id="7" idx="4"/>
            </p:cNvCxnSpPr>
            <p:nvPr/>
          </p:nvCxnSpPr>
          <p:spPr bwMode="auto">
            <a:xfrm>
              <a:off x="5482347" y="1775972"/>
              <a:ext cx="0" cy="252244"/>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81" name="直线连接符 80">
              <a:extLst>
                <a:ext uri="{FF2B5EF4-FFF2-40B4-BE49-F238E27FC236}">
                  <a16:creationId xmlns:a16="http://schemas.microsoft.com/office/drawing/2014/main" id="{10E051AA-5719-8A1F-3BD0-E09EFEB6CB71}"/>
                </a:ext>
              </a:extLst>
            </p:cNvPr>
            <p:cNvCxnSpPr/>
            <p:nvPr/>
          </p:nvCxnSpPr>
          <p:spPr bwMode="auto">
            <a:xfrm>
              <a:off x="6235430" y="2466026"/>
              <a:ext cx="223736"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83" name="直线连接符 82">
              <a:extLst>
                <a:ext uri="{FF2B5EF4-FFF2-40B4-BE49-F238E27FC236}">
                  <a16:creationId xmlns:a16="http://schemas.microsoft.com/office/drawing/2014/main" id="{D6ED1CF6-EEE0-BE9F-773F-149306ED2719}"/>
                </a:ext>
              </a:extLst>
            </p:cNvPr>
            <p:cNvCxnSpPr/>
            <p:nvPr/>
          </p:nvCxnSpPr>
          <p:spPr bwMode="auto">
            <a:xfrm>
              <a:off x="6459166" y="2466026"/>
              <a:ext cx="0" cy="66628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85" name="直线箭头连接符 84">
              <a:extLst>
                <a:ext uri="{FF2B5EF4-FFF2-40B4-BE49-F238E27FC236}">
                  <a16:creationId xmlns:a16="http://schemas.microsoft.com/office/drawing/2014/main" id="{359306A0-193C-99B5-D73B-B0953630A6DB}"/>
                </a:ext>
              </a:extLst>
            </p:cNvPr>
            <p:cNvCxnSpPr/>
            <p:nvPr/>
          </p:nvCxnSpPr>
          <p:spPr bwMode="auto">
            <a:xfrm flipH="1">
              <a:off x="6235430" y="3122579"/>
              <a:ext cx="223736"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87" name="直线连接符 86">
              <a:extLst>
                <a:ext uri="{FF2B5EF4-FFF2-40B4-BE49-F238E27FC236}">
                  <a16:creationId xmlns:a16="http://schemas.microsoft.com/office/drawing/2014/main" id="{0807F169-6C31-7370-CDFD-5891AEDF5FDF}"/>
                </a:ext>
              </a:extLst>
            </p:cNvPr>
            <p:cNvCxnSpPr/>
            <p:nvPr/>
          </p:nvCxnSpPr>
          <p:spPr bwMode="auto">
            <a:xfrm>
              <a:off x="7889132" y="2466026"/>
              <a:ext cx="223736" cy="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89" name="直线连接符 88">
              <a:extLst>
                <a:ext uri="{FF2B5EF4-FFF2-40B4-BE49-F238E27FC236}">
                  <a16:creationId xmlns:a16="http://schemas.microsoft.com/office/drawing/2014/main" id="{30A38323-6F70-A0A7-824D-6A8B1A1C3F57}"/>
                </a:ext>
              </a:extLst>
            </p:cNvPr>
            <p:cNvCxnSpPr>
              <a:cxnSpLocks/>
            </p:cNvCxnSpPr>
            <p:nvPr/>
          </p:nvCxnSpPr>
          <p:spPr bwMode="auto">
            <a:xfrm>
              <a:off x="8112868" y="2466026"/>
              <a:ext cx="0" cy="2816093"/>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91" name="直线箭头连接符 90">
              <a:extLst>
                <a:ext uri="{FF2B5EF4-FFF2-40B4-BE49-F238E27FC236}">
                  <a16:creationId xmlns:a16="http://schemas.microsoft.com/office/drawing/2014/main" id="{C0365567-A5D1-A83D-D271-E907D719B529}"/>
                </a:ext>
              </a:extLst>
            </p:cNvPr>
            <p:cNvCxnSpPr/>
            <p:nvPr/>
          </p:nvCxnSpPr>
          <p:spPr bwMode="auto">
            <a:xfrm flipH="1">
              <a:off x="6235430" y="5282119"/>
              <a:ext cx="1877438"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sp>
          <p:nvSpPr>
            <p:cNvPr id="93" name="文本框 92">
              <a:extLst>
                <a:ext uri="{FF2B5EF4-FFF2-40B4-BE49-F238E27FC236}">
                  <a16:creationId xmlns:a16="http://schemas.microsoft.com/office/drawing/2014/main" id="{52B573AA-709C-6CA4-281F-B3664E8A8DDA}"/>
                </a:ext>
              </a:extLst>
            </p:cNvPr>
            <p:cNvSpPr txBox="1"/>
            <p:nvPr/>
          </p:nvSpPr>
          <p:spPr>
            <a:xfrm>
              <a:off x="1556425" y="1451583"/>
              <a:ext cx="2095501" cy="338555"/>
            </a:xfrm>
            <a:prstGeom prst="rect">
              <a:avLst/>
            </a:prstGeom>
            <a:noFill/>
          </p:spPr>
          <p:txBody>
            <a:bodyPr wrap="square" rtlCol="0">
              <a:spAutoFit/>
            </a:bodyPr>
            <a:lstStyle/>
            <a:p>
              <a:r>
                <a:rPr kumimoji="1" lang="en-US" altLang="zh-CN" sz="1050" dirty="0"/>
                <a:t>1.</a:t>
              </a:r>
              <a:r>
                <a:rPr kumimoji="1" lang="zh-CN" altLang="en-US" sz="1050" dirty="0"/>
                <a:t>批处理任务进入系统</a:t>
              </a:r>
            </a:p>
          </p:txBody>
        </p:sp>
        <p:sp>
          <p:nvSpPr>
            <p:cNvPr id="94" name="文本框 93">
              <a:extLst>
                <a:ext uri="{FF2B5EF4-FFF2-40B4-BE49-F238E27FC236}">
                  <a16:creationId xmlns:a16="http://schemas.microsoft.com/office/drawing/2014/main" id="{7044B562-4FA3-95FC-8053-F737FE0C7B14}"/>
                </a:ext>
              </a:extLst>
            </p:cNvPr>
            <p:cNvSpPr txBox="1"/>
            <p:nvPr/>
          </p:nvSpPr>
          <p:spPr>
            <a:xfrm>
              <a:off x="3554240" y="1545215"/>
              <a:ext cx="1288105" cy="553997"/>
            </a:xfrm>
            <a:prstGeom prst="rect">
              <a:avLst/>
            </a:prstGeom>
            <a:noFill/>
          </p:spPr>
          <p:txBody>
            <a:bodyPr wrap="square" rtlCol="0">
              <a:spAutoFit/>
            </a:bodyPr>
            <a:lstStyle/>
            <a:p>
              <a:r>
                <a:rPr kumimoji="1" lang="en-US" altLang="zh-CN" sz="1050" dirty="0"/>
                <a:t>2.</a:t>
              </a:r>
              <a:r>
                <a:rPr kumimoji="1" lang="zh-CN" altLang="en-US" sz="1050" dirty="0"/>
                <a:t>批处理任务</a:t>
              </a:r>
              <a:endParaRPr kumimoji="1" lang="en-US" altLang="zh-CN" sz="1050" dirty="0"/>
            </a:p>
            <a:p>
              <a:r>
                <a:rPr kumimoji="1" lang="zh-CN" altLang="en-US" sz="1050" dirty="0"/>
                <a:t>   准备调度</a:t>
              </a:r>
            </a:p>
          </p:txBody>
        </p:sp>
        <p:sp>
          <p:nvSpPr>
            <p:cNvPr id="95" name="文本框 94">
              <a:extLst>
                <a:ext uri="{FF2B5EF4-FFF2-40B4-BE49-F238E27FC236}">
                  <a16:creationId xmlns:a16="http://schemas.microsoft.com/office/drawing/2014/main" id="{D5484D11-6A8E-E69B-793B-E499A1AFBC89}"/>
                </a:ext>
              </a:extLst>
            </p:cNvPr>
            <p:cNvSpPr txBox="1"/>
            <p:nvPr/>
          </p:nvSpPr>
          <p:spPr>
            <a:xfrm>
              <a:off x="6096001" y="1428168"/>
              <a:ext cx="1326204" cy="338555"/>
            </a:xfrm>
            <a:prstGeom prst="rect">
              <a:avLst/>
            </a:prstGeom>
            <a:noFill/>
          </p:spPr>
          <p:txBody>
            <a:bodyPr wrap="square" rtlCol="0">
              <a:spAutoFit/>
            </a:bodyPr>
            <a:lstStyle/>
            <a:p>
              <a:r>
                <a:rPr kumimoji="1" lang="en-US" altLang="zh-CN" sz="1050" dirty="0"/>
                <a:t>5.</a:t>
              </a:r>
              <a:r>
                <a:rPr kumimoji="1" lang="zh-CN" altLang="en-US" sz="1050" dirty="0"/>
                <a:t>时间片耗尽</a:t>
              </a:r>
            </a:p>
          </p:txBody>
        </p:sp>
        <p:sp>
          <p:nvSpPr>
            <p:cNvPr id="96" name="文本框 95">
              <a:extLst>
                <a:ext uri="{FF2B5EF4-FFF2-40B4-BE49-F238E27FC236}">
                  <a16:creationId xmlns:a16="http://schemas.microsoft.com/office/drawing/2014/main" id="{F822233C-8865-1980-C997-BB8AD097BAD0}"/>
                </a:ext>
              </a:extLst>
            </p:cNvPr>
            <p:cNvSpPr txBox="1"/>
            <p:nvPr/>
          </p:nvSpPr>
          <p:spPr>
            <a:xfrm>
              <a:off x="6379727" y="1953642"/>
              <a:ext cx="781860" cy="338555"/>
            </a:xfrm>
            <a:prstGeom prst="rect">
              <a:avLst/>
            </a:prstGeom>
            <a:noFill/>
          </p:spPr>
          <p:txBody>
            <a:bodyPr wrap="square" rtlCol="0">
              <a:spAutoFit/>
            </a:bodyPr>
            <a:lstStyle/>
            <a:p>
              <a:r>
                <a:rPr kumimoji="1" lang="en-US" altLang="zh-CN" sz="1050" dirty="0"/>
                <a:t>4.</a:t>
              </a:r>
              <a:r>
                <a:rPr kumimoji="1" lang="zh-CN" altLang="en-US" sz="1050" dirty="0"/>
                <a:t>调度</a:t>
              </a:r>
            </a:p>
          </p:txBody>
        </p:sp>
        <p:cxnSp>
          <p:nvCxnSpPr>
            <p:cNvPr id="98" name="直线箭头连接符 97">
              <a:extLst>
                <a:ext uri="{FF2B5EF4-FFF2-40B4-BE49-F238E27FC236}">
                  <a16:creationId xmlns:a16="http://schemas.microsoft.com/office/drawing/2014/main" id="{BB31FB92-31E5-B206-9ADC-C514B1AFC3AB}"/>
                </a:ext>
              </a:extLst>
            </p:cNvPr>
            <p:cNvCxnSpPr/>
            <p:nvPr/>
          </p:nvCxnSpPr>
          <p:spPr bwMode="auto">
            <a:xfrm>
              <a:off x="8463064" y="2307885"/>
              <a:ext cx="0" cy="703904"/>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sp>
          <p:nvSpPr>
            <p:cNvPr id="100" name="文本框 99">
              <a:extLst>
                <a:ext uri="{FF2B5EF4-FFF2-40B4-BE49-F238E27FC236}">
                  <a16:creationId xmlns:a16="http://schemas.microsoft.com/office/drawing/2014/main" id="{811DD0C3-CD8E-264B-2B68-3307B3B31969}"/>
                </a:ext>
              </a:extLst>
            </p:cNvPr>
            <p:cNvSpPr txBox="1"/>
            <p:nvPr/>
          </p:nvSpPr>
          <p:spPr>
            <a:xfrm>
              <a:off x="8432059" y="3054037"/>
              <a:ext cx="1334512" cy="769441"/>
            </a:xfrm>
            <a:prstGeom prst="rect">
              <a:avLst/>
            </a:prstGeom>
            <a:noFill/>
          </p:spPr>
          <p:txBody>
            <a:bodyPr wrap="square" rtlCol="0">
              <a:spAutoFit/>
            </a:bodyPr>
            <a:lstStyle/>
            <a:p>
              <a:r>
                <a:rPr kumimoji="1" lang="en-US" altLang="zh-CN" sz="1050" dirty="0"/>
                <a:t>11.</a:t>
              </a:r>
              <a:r>
                <a:rPr kumimoji="1" lang="zh-CN" altLang="en-US" sz="1050" dirty="0"/>
                <a:t>进程执行</a:t>
              </a:r>
              <a:endParaRPr kumimoji="1" lang="en-US" altLang="zh-CN" sz="1050" dirty="0"/>
            </a:p>
            <a:p>
              <a:r>
                <a:rPr kumimoji="1" lang="zh-CN" altLang="en-US" sz="1050" dirty="0"/>
                <a:t>     结束并被</a:t>
              </a:r>
              <a:endParaRPr kumimoji="1" lang="en-US" altLang="zh-CN" sz="1050" dirty="0"/>
            </a:p>
            <a:p>
              <a:r>
                <a:rPr kumimoji="1" lang="zh-CN" altLang="en-US" sz="1050" dirty="0"/>
                <a:t>     收回</a:t>
              </a:r>
            </a:p>
          </p:txBody>
        </p:sp>
        <p:sp>
          <p:nvSpPr>
            <p:cNvPr id="101" name="文本框 100">
              <a:extLst>
                <a:ext uri="{FF2B5EF4-FFF2-40B4-BE49-F238E27FC236}">
                  <a16:creationId xmlns:a16="http://schemas.microsoft.com/office/drawing/2014/main" id="{AB3AD148-4A35-8530-C066-160056C07484}"/>
                </a:ext>
              </a:extLst>
            </p:cNvPr>
            <p:cNvSpPr txBox="1"/>
            <p:nvPr/>
          </p:nvSpPr>
          <p:spPr>
            <a:xfrm>
              <a:off x="1872972" y="2816542"/>
              <a:ext cx="1548731" cy="553997"/>
            </a:xfrm>
            <a:prstGeom prst="rect">
              <a:avLst/>
            </a:prstGeom>
            <a:noFill/>
          </p:spPr>
          <p:txBody>
            <a:bodyPr wrap="square" rtlCol="0">
              <a:spAutoFit/>
            </a:bodyPr>
            <a:lstStyle/>
            <a:p>
              <a:r>
                <a:rPr kumimoji="1" lang="en-US" altLang="zh-CN" sz="1050" dirty="0"/>
                <a:t>3.</a:t>
              </a:r>
              <a:r>
                <a:rPr kumimoji="1" lang="zh-CN" altLang="en-US" sz="1050" dirty="0"/>
                <a:t>交互</a:t>
              </a:r>
              <a:r>
                <a:rPr kumimoji="1" lang="en-US" altLang="zh-CN" sz="1050" dirty="0"/>
                <a:t>/</a:t>
              </a:r>
              <a:r>
                <a:rPr kumimoji="1" lang="zh-CN" altLang="en-US" sz="1050" dirty="0"/>
                <a:t>实时任务</a:t>
              </a:r>
              <a:endParaRPr kumimoji="1" lang="en-US" altLang="zh-CN" sz="1050" dirty="0"/>
            </a:p>
            <a:p>
              <a:r>
                <a:rPr kumimoji="1" lang="zh-CN" altLang="en-US" sz="1050" dirty="0"/>
                <a:t>   准备调度</a:t>
              </a:r>
            </a:p>
          </p:txBody>
        </p:sp>
        <p:sp>
          <p:nvSpPr>
            <p:cNvPr id="102" name="文本框 101">
              <a:extLst>
                <a:ext uri="{FF2B5EF4-FFF2-40B4-BE49-F238E27FC236}">
                  <a16:creationId xmlns:a16="http://schemas.microsoft.com/office/drawing/2014/main" id="{05BB8CB1-B7F6-1F68-C4D4-15CE8F186120}"/>
                </a:ext>
              </a:extLst>
            </p:cNvPr>
            <p:cNvSpPr txBox="1"/>
            <p:nvPr/>
          </p:nvSpPr>
          <p:spPr>
            <a:xfrm>
              <a:off x="6716949" y="5300220"/>
              <a:ext cx="1172184" cy="338555"/>
            </a:xfrm>
            <a:prstGeom prst="rect">
              <a:avLst/>
            </a:prstGeom>
            <a:noFill/>
          </p:spPr>
          <p:txBody>
            <a:bodyPr wrap="square" rtlCol="0">
              <a:spAutoFit/>
            </a:bodyPr>
            <a:lstStyle/>
            <a:p>
              <a:r>
                <a:rPr kumimoji="1" lang="en-US" altLang="zh-CN" sz="1050" dirty="0"/>
                <a:t>6.</a:t>
              </a:r>
              <a:r>
                <a:rPr kumimoji="1" lang="zh-CN" altLang="en-US" sz="1050" dirty="0"/>
                <a:t>阻塞进程</a:t>
              </a:r>
            </a:p>
          </p:txBody>
        </p:sp>
        <p:sp>
          <p:nvSpPr>
            <p:cNvPr id="103" name="文本框 102">
              <a:extLst>
                <a:ext uri="{FF2B5EF4-FFF2-40B4-BE49-F238E27FC236}">
                  <a16:creationId xmlns:a16="http://schemas.microsoft.com/office/drawing/2014/main" id="{2671750D-1FE8-A715-A95F-5AD5D37C34BB}"/>
                </a:ext>
              </a:extLst>
            </p:cNvPr>
            <p:cNvSpPr txBox="1"/>
            <p:nvPr/>
          </p:nvSpPr>
          <p:spPr>
            <a:xfrm>
              <a:off x="3651926" y="5510373"/>
              <a:ext cx="1190419" cy="338555"/>
            </a:xfrm>
            <a:prstGeom prst="rect">
              <a:avLst/>
            </a:prstGeom>
            <a:noFill/>
          </p:spPr>
          <p:txBody>
            <a:bodyPr wrap="square" rtlCol="0">
              <a:spAutoFit/>
            </a:bodyPr>
            <a:lstStyle/>
            <a:p>
              <a:r>
                <a:rPr kumimoji="1" lang="en-US" altLang="zh-CN" sz="1050" dirty="0"/>
                <a:t>7.</a:t>
              </a:r>
              <a:r>
                <a:rPr kumimoji="1" lang="zh-CN" altLang="en-US" sz="1050" dirty="0"/>
                <a:t>事件完成</a:t>
              </a:r>
            </a:p>
          </p:txBody>
        </p:sp>
        <p:sp>
          <p:nvSpPr>
            <p:cNvPr id="104" name="文本框 103">
              <a:extLst>
                <a:ext uri="{FF2B5EF4-FFF2-40B4-BE49-F238E27FC236}">
                  <a16:creationId xmlns:a16="http://schemas.microsoft.com/office/drawing/2014/main" id="{DBA45A12-B8A2-A0E4-EE4F-3BACEB0C724C}"/>
                </a:ext>
              </a:extLst>
            </p:cNvPr>
            <p:cNvSpPr txBox="1"/>
            <p:nvPr/>
          </p:nvSpPr>
          <p:spPr>
            <a:xfrm>
              <a:off x="3651925" y="4138164"/>
              <a:ext cx="544039" cy="1200327"/>
            </a:xfrm>
            <a:prstGeom prst="rect">
              <a:avLst/>
            </a:prstGeom>
            <a:noFill/>
          </p:spPr>
          <p:txBody>
            <a:bodyPr wrap="square" rtlCol="0">
              <a:spAutoFit/>
            </a:bodyPr>
            <a:lstStyle/>
            <a:p>
              <a:pPr algn="ctr"/>
              <a:r>
                <a:rPr kumimoji="1" lang="en-US" altLang="zh-CN" sz="1050" dirty="0"/>
                <a:t>10.</a:t>
              </a:r>
            </a:p>
            <a:p>
              <a:pPr algn="ctr"/>
              <a:r>
                <a:rPr kumimoji="1" lang="zh-CN" altLang="en-US" sz="1050" dirty="0"/>
                <a:t>激</a:t>
              </a:r>
              <a:endParaRPr kumimoji="1" lang="en-US" altLang="zh-CN" sz="1050" dirty="0"/>
            </a:p>
            <a:p>
              <a:pPr algn="ctr"/>
              <a:r>
                <a:rPr kumimoji="1" lang="zh-CN" altLang="en-US" sz="1050" dirty="0"/>
                <a:t>活</a:t>
              </a:r>
              <a:endParaRPr kumimoji="1" lang="en-US" altLang="zh-CN" sz="1050" dirty="0"/>
            </a:p>
            <a:p>
              <a:pPr algn="ctr"/>
              <a:r>
                <a:rPr kumimoji="1" lang="zh-CN" altLang="en-US" sz="1050" dirty="0"/>
                <a:t>进</a:t>
              </a:r>
              <a:endParaRPr kumimoji="1" lang="en-US" altLang="zh-CN" sz="1050" dirty="0"/>
            </a:p>
            <a:p>
              <a:pPr algn="ctr"/>
              <a:r>
                <a:rPr kumimoji="1" lang="zh-CN" altLang="en-US" sz="1050" dirty="0"/>
                <a:t>程</a:t>
              </a:r>
            </a:p>
          </p:txBody>
        </p:sp>
        <p:sp>
          <p:nvSpPr>
            <p:cNvPr id="105" name="文本框 104">
              <a:extLst>
                <a:ext uri="{FF2B5EF4-FFF2-40B4-BE49-F238E27FC236}">
                  <a16:creationId xmlns:a16="http://schemas.microsoft.com/office/drawing/2014/main" id="{D61F699F-B141-E65A-175E-AC1A737D0E30}"/>
                </a:ext>
              </a:extLst>
            </p:cNvPr>
            <p:cNvSpPr txBox="1"/>
            <p:nvPr/>
          </p:nvSpPr>
          <p:spPr>
            <a:xfrm>
              <a:off x="6504361" y="3397518"/>
              <a:ext cx="1176192" cy="338555"/>
            </a:xfrm>
            <a:prstGeom prst="rect">
              <a:avLst/>
            </a:prstGeom>
            <a:noFill/>
          </p:spPr>
          <p:txBody>
            <a:bodyPr wrap="square" rtlCol="0">
              <a:spAutoFit/>
            </a:bodyPr>
            <a:lstStyle/>
            <a:p>
              <a:r>
                <a:rPr kumimoji="1" lang="en-US" altLang="zh-CN" sz="1050" dirty="0"/>
                <a:t>9.</a:t>
              </a:r>
              <a:r>
                <a:rPr kumimoji="1" lang="zh-CN" altLang="en-US" sz="1050" dirty="0"/>
                <a:t>事件完成</a:t>
              </a:r>
            </a:p>
          </p:txBody>
        </p:sp>
        <p:sp>
          <p:nvSpPr>
            <p:cNvPr id="106" name="文本框 105">
              <a:extLst>
                <a:ext uri="{FF2B5EF4-FFF2-40B4-BE49-F238E27FC236}">
                  <a16:creationId xmlns:a16="http://schemas.microsoft.com/office/drawing/2014/main" id="{068AEF36-A4B5-A165-7C1A-BBC564A92A19}"/>
                </a:ext>
              </a:extLst>
            </p:cNvPr>
            <p:cNvSpPr txBox="1"/>
            <p:nvPr/>
          </p:nvSpPr>
          <p:spPr>
            <a:xfrm>
              <a:off x="6481053" y="2707865"/>
              <a:ext cx="1230511" cy="338555"/>
            </a:xfrm>
            <a:prstGeom prst="rect">
              <a:avLst/>
            </a:prstGeom>
            <a:noFill/>
          </p:spPr>
          <p:txBody>
            <a:bodyPr wrap="square" rtlCol="0">
              <a:spAutoFit/>
            </a:bodyPr>
            <a:lstStyle/>
            <a:p>
              <a:r>
                <a:rPr kumimoji="1" lang="en-US" altLang="zh-CN" sz="1050" dirty="0"/>
                <a:t>8.</a:t>
              </a:r>
              <a:r>
                <a:rPr kumimoji="1" lang="zh-CN" altLang="en-US" sz="1050" dirty="0"/>
                <a:t>挂起进程</a:t>
              </a:r>
            </a:p>
          </p:txBody>
        </p:sp>
        <p:sp>
          <p:nvSpPr>
            <p:cNvPr id="107" name="文本框 106">
              <a:extLst>
                <a:ext uri="{FF2B5EF4-FFF2-40B4-BE49-F238E27FC236}">
                  <a16:creationId xmlns:a16="http://schemas.microsoft.com/office/drawing/2014/main" id="{D6173239-4F17-A68C-3C5F-E50D57AF03B2}"/>
                </a:ext>
              </a:extLst>
            </p:cNvPr>
            <p:cNvSpPr txBox="1"/>
            <p:nvPr/>
          </p:nvSpPr>
          <p:spPr>
            <a:xfrm>
              <a:off x="3594622" y="2938851"/>
              <a:ext cx="1206531" cy="338555"/>
            </a:xfrm>
            <a:prstGeom prst="rect">
              <a:avLst/>
            </a:prstGeom>
            <a:noFill/>
          </p:spPr>
          <p:txBody>
            <a:bodyPr wrap="square" rtlCol="0">
              <a:spAutoFit/>
            </a:bodyPr>
            <a:lstStyle/>
            <a:p>
              <a:pPr algn="ctr"/>
              <a:r>
                <a:rPr kumimoji="1" lang="en-US" altLang="zh-CN" sz="1050" dirty="0"/>
                <a:t>10.</a:t>
              </a:r>
              <a:r>
                <a:rPr kumimoji="1" lang="zh-CN" altLang="en-US" sz="1050" dirty="0"/>
                <a:t>激活进程</a:t>
              </a:r>
            </a:p>
          </p:txBody>
        </p:sp>
      </p:grpSp>
      <p:sp>
        <p:nvSpPr>
          <p:cNvPr id="109" name="文本框 108">
            <a:extLst>
              <a:ext uri="{FF2B5EF4-FFF2-40B4-BE49-F238E27FC236}">
                <a16:creationId xmlns:a16="http://schemas.microsoft.com/office/drawing/2014/main" id="{D06C560C-72F4-329A-D57C-4C442297FAA0}"/>
              </a:ext>
            </a:extLst>
          </p:cNvPr>
          <p:cNvSpPr txBox="1"/>
          <p:nvPr/>
        </p:nvSpPr>
        <p:spPr>
          <a:xfrm>
            <a:off x="2846556" y="5443438"/>
            <a:ext cx="1429966" cy="300082"/>
          </a:xfrm>
          <a:prstGeom prst="rect">
            <a:avLst/>
          </a:prstGeom>
          <a:noFill/>
        </p:spPr>
        <p:txBody>
          <a:bodyPr wrap="square" rtlCol="0">
            <a:spAutoFit/>
          </a:bodyPr>
          <a:lstStyle/>
          <a:p>
            <a:r>
              <a:rPr kumimoji="1" lang="zh-CN" altLang="en-US" sz="1350" dirty="0"/>
              <a:t>进程调度示意图</a:t>
            </a:r>
          </a:p>
        </p:txBody>
      </p:sp>
    </p:spTree>
    <p:extLst>
      <p:ext uri="{BB962C8B-B14F-4D97-AF65-F5344CB8AC3E}">
        <p14:creationId xmlns:p14="http://schemas.microsoft.com/office/powerpoint/2010/main" val="1418572715"/>
      </p:ext>
    </p:extLst>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A91032-EFEE-2637-B669-51886E05DE6A}"/>
              </a:ext>
            </a:extLst>
          </p:cNvPr>
          <p:cNvSpPr>
            <a:spLocks noGrp="1"/>
          </p:cNvSpPr>
          <p:nvPr>
            <p:ph type="title"/>
          </p:nvPr>
        </p:nvSpPr>
        <p:spPr/>
        <p:txBody>
          <a:bodyPr/>
          <a:lstStyle/>
          <a:p>
            <a:r>
              <a:rPr kumimoji="1" lang="en-US" altLang="zh-CN" dirty="0"/>
              <a:t>CPU-I/O</a:t>
            </a:r>
            <a:r>
              <a:rPr kumimoji="1" lang="zh-CN" altLang="en-US" dirty="0"/>
              <a:t>执行周期</a:t>
            </a:r>
          </a:p>
        </p:txBody>
      </p:sp>
      <p:sp>
        <p:nvSpPr>
          <p:cNvPr id="3" name="内容占位符 2">
            <a:extLst>
              <a:ext uri="{FF2B5EF4-FFF2-40B4-BE49-F238E27FC236}">
                <a16:creationId xmlns:a16="http://schemas.microsoft.com/office/drawing/2014/main" id="{723A7542-FC01-C283-2A24-FAE2E94806A0}"/>
              </a:ext>
            </a:extLst>
          </p:cNvPr>
          <p:cNvSpPr>
            <a:spLocks noGrp="1"/>
          </p:cNvSpPr>
          <p:nvPr>
            <p:ph idx="1"/>
          </p:nvPr>
        </p:nvSpPr>
        <p:spPr>
          <a:xfrm>
            <a:off x="935038" y="1233488"/>
            <a:ext cx="4405447" cy="4895850"/>
          </a:xfrm>
        </p:spPr>
        <p:txBody>
          <a:bodyPr>
            <a:normAutofit/>
          </a:bodyPr>
          <a:lstStyle/>
          <a:p>
            <a:pPr>
              <a:lnSpc>
                <a:spcPct val="110000"/>
              </a:lnSpc>
            </a:pPr>
            <a:r>
              <a:rPr kumimoji="1" lang="zh-CN" altLang="en-US" dirty="0"/>
              <a:t>通过多道程序设计使得</a:t>
            </a:r>
            <a:r>
              <a:rPr kumimoji="1" lang="en-US" altLang="zh-CN" dirty="0"/>
              <a:t>CPU</a:t>
            </a:r>
            <a:r>
              <a:rPr kumimoji="1" lang="zh-CN" altLang="en-US" dirty="0"/>
              <a:t>的利用率最大化</a:t>
            </a:r>
            <a:endParaRPr kumimoji="1" lang="en-US" altLang="zh-CN" dirty="0"/>
          </a:p>
          <a:p>
            <a:pPr>
              <a:lnSpc>
                <a:spcPct val="110000"/>
              </a:lnSpc>
            </a:pPr>
            <a:r>
              <a:rPr kumimoji="1" lang="zh-CN" altLang="en-US" dirty="0"/>
              <a:t>进程的执行过程是由</a:t>
            </a:r>
            <a:r>
              <a:rPr kumimoji="1" lang="en-US" altLang="zh-CN" dirty="0"/>
              <a:t>CPU</a:t>
            </a:r>
            <a:r>
              <a:rPr kumimoji="1" lang="zh-CN" altLang="en-US" dirty="0"/>
              <a:t>的执行和等待</a:t>
            </a:r>
            <a:r>
              <a:rPr kumimoji="1" lang="en-US" altLang="zh-CN" dirty="0"/>
              <a:t>I/O</a:t>
            </a:r>
            <a:r>
              <a:rPr kumimoji="1" lang="zh-CN" altLang="en-US" dirty="0"/>
              <a:t>交替构成的</a:t>
            </a:r>
            <a:endParaRPr kumimoji="1" lang="en-US" altLang="zh-CN" dirty="0"/>
          </a:p>
          <a:p>
            <a:pPr>
              <a:lnSpc>
                <a:spcPct val="110000"/>
              </a:lnSpc>
            </a:pPr>
            <a:r>
              <a:rPr kumimoji="1" lang="en-US" altLang="zh-CN" dirty="0"/>
              <a:t>CPU</a:t>
            </a:r>
            <a:r>
              <a:rPr kumimoji="1" lang="zh-CN" altLang="en-US" dirty="0"/>
              <a:t>执行后跟着</a:t>
            </a:r>
            <a:r>
              <a:rPr kumimoji="1" lang="en-US" altLang="zh-CN" dirty="0"/>
              <a:t>I/O</a:t>
            </a:r>
            <a:r>
              <a:rPr kumimoji="1" lang="zh-CN" altLang="en-US" dirty="0"/>
              <a:t>执行</a:t>
            </a:r>
            <a:endParaRPr kumimoji="1" lang="en-US" altLang="zh-CN" dirty="0"/>
          </a:p>
          <a:p>
            <a:pPr>
              <a:lnSpc>
                <a:spcPct val="110000"/>
              </a:lnSpc>
            </a:pPr>
            <a:r>
              <a:rPr kumimoji="1" lang="en-US" altLang="zh-CN" dirty="0"/>
              <a:t>CPU</a:t>
            </a:r>
            <a:r>
              <a:rPr kumimoji="1" lang="zh-CN" altLang="en-US" dirty="0"/>
              <a:t>执行时间的分布需要重点关注</a:t>
            </a:r>
          </a:p>
        </p:txBody>
      </p:sp>
      <p:sp>
        <p:nvSpPr>
          <p:cNvPr id="4" name="灯片编号占位符 3">
            <a:extLst>
              <a:ext uri="{FF2B5EF4-FFF2-40B4-BE49-F238E27FC236}">
                <a16:creationId xmlns:a16="http://schemas.microsoft.com/office/drawing/2014/main" id="{94E00E9E-02FB-065C-A226-A97030F05CD1}"/>
              </a:ext>
            </a:extLst>
          </p:cNvPr>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pic>
        <p:nvPicPr>
          <p:cNvPr id="5" name="Picture 1">
            <a:extLst>
              <a:ext uri="{FF2B5EF4-FFF2-40B4-BE49-F238E27FC236}">
                <a16:creationId xmlns:a16="http://schemas.microsoft.com/office/drawing/2014/main" id="{4389ED2C-C5B7-F558-63E0-E0BD467ABC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61489"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6486754"/>
      </p:ext>
    </p:extLst>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7A1B1F-1EF8-0D03-575C-8F5151E2D44B}"/>
              </a:ext>
            </a:extLst>
          </p:cNvPr>
          <p:cNvSpPr>
            <a:spLocks noGrp="1"/>
          </p:cNvSpPr>
          <p:nvPr>
            <p:ph type="title"/>
          </p:nvPr>
        </p:nvSpPr>
        <p:spPr/>
        <p:txBody>
          <a:bodyPr/>
          <a:lstStyle/>
          <a:p>
            <a:r>
              <a:rPr kumimoji="1" lang="en-US" altLang="zh-CN" dirty="0"/>
              <a:t>CPU</a:t>
            </a:r>
            <a:r>
              <a:rPr kumimoji="1" lang="zh-CN" altLang="en-US" dirty="0"/>
              <a:t>执行时间的直方图</a:t>
            </a:r>
          </a:p>
        </p:txBody>
      </p:sp>
      <p:sp>
        <p:nvSpPr>
          <p:cNvPr id="3" name="内容占位符 2">
            <a:extLst>
              <a:ext uri="{FF2B5EF4-FFF2-40B4-BE49-F238E27FC236}">
                <a16:creationId xmlns:a16="http://schemas.microsoft.com/office/drawing/2014/main" id="{5622C66A-4B8D-0DD8-41EC-885F99ED5D98}"/>
              </a:ext>
            </a:extLst>
          </p:cNvPr>
          <p:cNvSpPr>
            <a:spLocks noGrp="1"/>
          </p:cNvSpPr>
          <p:nvPr>
            <p:ph idx="1"/>
          </p:nvPr>
        </p:nvSpPr>
        <p:spPr/>
        <p:txBody>
          <a:bodyPr/>
          <a:lstStyle/>
          <a:p>
            <a:r>
              <a:rPr kumimoji="1" lang="zh-CN" altLang="en-US" dirty="0"/>
              <a:t>大量的短</a:t>
            </a:r>
            <a:r>
              <a:rPr kumimoji="1" lang="en-US" altLang="zh-CN" dirty="0"/>
              <a:t>CPU</a:t>
            </a:r>
            <a:r>
              <a:rPr kumimoji="1" lang="zh-CN" altLang="en-US" dirty="0"/>
              <a:t>执行时间</a:t>
            </a:r>
            <a:endParaRPr kumimoji="1" lang="en-US" altLang="zh-CN" dirty="0"/>
          </a:p>
          <a:p>
            <a:r>
              <a:rPr kumimoji="1" lang="zh-CN" altLang="en-US" dirty="0"/>
              <a:t>少量的长</a:t>
            </a:r>
            <a:r>
              <a:rPr kumimoji="1" lang="en-US" altLang="zh-CN" dirty="0"/>
              <a:t>CPU</a:t>
            </a:r>
            <a:r>
              <a:rPr kumimoji="1" lang="zh-CN" altLang="en-US" dirty="0"/>
              <a:t>执行时间</a:t>
            </a:r>
          </a:p>
        </p:txBody>
      </p:sp>
      <p:sp>
        <p:nvSpPr>
          <p:cNvPr id="4" name="灯片编号占位符 3">
            <a:extLst>
              <a:ext uri="{FF2B5EF4-FFF2-40B4-BE49-F238E27FC236}">
                <a16:creationId xmlns:a16="http://schemas.microsoft.com/office/drawing/2014/main" id="{2F0CC8C3-E3BC-57DA-4FE1-C2A335FB25A4}"/>
              </a:ext>
            </a:extLst>
          </p:cNvPr>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pic>
        <p:nvPicPr>
          <p:cNvPr id="5" name="Picture 1">
            <a:extLst>
              <a:ext uri="{FF2B5EF4-FFF2-40B4-BE49-F238E27FC236}">
                <a16:creationId xmlns:a16="http://schemas.microsoft.com/office/drawing/2014/main" id="{9097C9A2-841B-DA81-B644-614F040212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8568" y="2844057"/>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045115"/>
      </p:ext>
    </p:extLst>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A28D4-4C4E-D825-9CC7-C624D1225DBA}"/>
              </a:ext>
            </a:extLst>
          </p:cNvPr>
          <p:cNvSpPr>
            <a:spLocks noGrp="1"/>
          </p:cNvSpPr>
          <p:nvPr>
            <p:ph type="title"/>
          </p:nvPr>
        </p:nvSpPr>
        <p:spPr/>
        <p:txBody>
          <a:bodyPr/>
          <a:lstStyle/>
          <a:p>
            <a:r>
              <a:rPr kumimoji="1" lang="en-US" altLang="zh-CN" dirty="0"/>
              <a:t>CPU</a:t>
            </a:r>
            <a:r>
              <a:rPr kumimoji="1" lang="zh-CN" altLang="en-US" dirty="0"/>
              <a:t>调度器</a:t>
            </a:r>
          </a:p>
        </p:txBody>
      </p:sp>
      <p:sp>
        <p:nvSpPr>
          <p:cNvPr id="3" name="内容占位符 2">
            <a:extLst>
              <a:ext uri="{FF2B5EF4-FFF2-40B4-BE49-F238E27FC236}">
                <a16:creationId xmlns:a16="http://schemas.microsoft.com/office/drawing/2014/main" id="{3DF505EA-4B08-052A-1CF2-D4FF1BDAE361}"/>
              </a:ext>
            </a:extLst>
          </p:cNvPr>
          <p:cNvSpPr>
            <a:spLocks noGrp="1"/>
          </p:cNvSpPr>
          <p:nvPr>
            <p:ph idx="1"/>
          </p:nvPr>
        </p:nvSpPr>
        <p:spPr/>
        <p:txBody>
          <a:bodyPr>
            <a:normAutofit fontScale="92500" lnSpcReduction="20000"/>
          </a:bodyPr>
          <a:lstStyle/>
          <a:p>
            <a:r>
              <a:rPr kumimoji="1" lang="en" altLang="zh-CN" dirty="0"/>
              <a:t>CPU</a:t>
            </a:r>
            <a:r>
              <a:rPr kumimoji="1" lang="zh-CN" altLang="en-US" dirty="0"/>
              <a:t>调度器从就绪队列中选择进程，并将</a:t>
            </a:r>
            <a:r>
              <a:rPr kumimoji="1" lang="en" altLang="zh-CN" dirty="0"/>
              <a:t>CPU</a:t>
            </a:r>
            <a:r>
              <a:rPr kumimoji="1" lang="zh-CN" altLang="en-US" dirty="0"/>
              <a:t>核心分配给其中一个进程</a:t>
            </a:r>
            <a:endParaRPr kumimoji="1" lang="en-US" altLang="zh-CN" dirty="0"/>
          </a:p>
          <a:p>
            <a:r>
              <a:rPr kumimoji="1" lang="zh-CN" altLang="en-US" dirty="0"/>
              <a:t>就绪队列可以通过多种方式排序</a:t>
            </a:r>
            <a:endParaRPr kumimoji="1" lang="en-US" altLang="zh-CN" dirty="0"/>
          </a:p>
          <a:p>
            <a:r>
              <a:rPr kumimoji="1" lang="zh-CN" altLang="en-US" dirty="0"/>
              <a:t>当进程出现以下情况时，需要进行</a:t>
            </a:r>
            <a:r>
              <a:rPr kumimoji="1" lang="en" altLang="zh-CN" dirty="0"/>
              <a:t>CPU</a:t>
            </a:r>
            <a:r>
              <a:rPr kumimoji="1" lang="zh-CN" altLang="en-US" dirty="0"/>
              <a:t>调度决策：</a:t>
            </a:r>
          </a:p>
          <a:p>
            <a:pPr lvl="1"/>
            <a:r>
              <a:rPr kumimoji="1" lang="en-US" altLang="zh-CN" dirty="0"/>
              <a:t>1.</a:t>
            </a:r>
            <a:r>
              <a:rPr kumimoji="1" lang="zh-CN" altLang="en-US" dirty="0"/>
              <a:t>进程从运行状态变为等待状态</a:t>
            </a:r>
          </a:p>
          <a:p>
            <a:pPr lvl="1"/>
            <a:r>
              <a:rPr kumimoji="1" lang="en-US" altLang="zh-CN" dirty="0"/>
              <a:t>2.</a:t>
            </a:r>
            <a:r>
              <a:rPr kumimoji="1" lang="zh-CN" altLang="en-US" dirty="0"/>
              <a:t>进程从运行状态变为就绪状态（产生时钟中断）</a:t>
            </a:r>
          </a:p>
          <a:p>
            <a:pPr lvl="1"/>
            <a:r>
              <a:rPr kumimoji="1" lang="en-US" altLang="zh-CN" dirty="0"/>
              <a:t>3.</a:t>
            </a:r>
            <a:r>
              <a:rPr kumimoji="1" lang="zh-CN" altLang="en-US" dirty="0"/>
              <a:t>进程从等待状态变为就绪状态 （</a:t>
            </a:r>
            <a:r>
              <a:rPr kumimoji="1" lang="en-US" altLang="zh-CN" dirty="0"/>
              <a:t>I/O</a:t>
            </a:r>
            <a:r>
              <a:rPr kumimoji="1" lang="zh-CN" altLang="en-US" dirty="0"/>
              <a:t>完成）</a:t>
            </a:r>
            <a:endParaRPr kumimoji="1" lang="en-US" altLang="zh-CN" dirty="0"/>
          </a:p>
          <a:p>
            <a:pPr lvl="1"/>
            <a:r>
              <a:rPr kumimoji="1" lang="en-US" altLang="zh-CN" dirty="0"/>
              <a:t>4.</a:t>
            </a:r>
            <a:r>
              <a:rPr kumimoji="1" lang="zh-CN" altLang="en-US" dirty="0"/>
              <a:t>终止 </a:t>
            </a:r>
            <a:endParaRPr kumimoji="1" lang="en-US" altLang="zh-CN" dirty="0"/>
          </a:p>
          <a:p>
            <a:r>
              <a:rPr kumimoji="1" lang="zh-CN" altLang="en-US" dirty="0"/>
              <a:t>对于情况</a:t>
            </a:r>
            <a:r>
              <a:rPr kumimoji="1" lang="en-US" altLang="zh-CN" dirty="0"/>
              <a:t>1</a:t>
            </a:r>
            <a:r>
              <a:rPr kumimoji="1" lang="zh-CN" altLang="en-US" dirty="0"/>
              <a:t>和</a:t>
            </a:r>
            <a:r>
              <a:rPr kumimoji="1" lang="en-US" altLang="zh-CN" dirty="0"/>
              <a:t>4</a:t>
            </a:r>
            <a:r>
              <a:rPr kumimoji="1" lang="zh-CN" altLang="en-US" dirty="0"/>
              <a:t>，调度器必须选择要执行的新进程（如果就绪队列中存在进程）</a:t>
            </a:r>
            <a:endParaRPr kumimoji="1" lang="en-US" altLang="zh-CN" dirty="0"/>
          </a:p>
        </p:txBody>
      </p:sp>
      <p:sp>
        <p:nvSpPr>
          <p:cNvPr id="4" name="灯片编号占位符 3">
            <a:extLst>
              <a:ext uri="{FF2B5EF4-FFF2-40B4-BE49-F238E27FC236}">
                <a16:creationId xmlns:a16="http://schemas.microsoft.com/office/drawing/2014/main" id="{B1D7D057-B171-2589-FEC7-1DBAD1B0F207}"/>
              </a:ext>
            </a:extLst>
          </p:cNvPr>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extLst>
      <p:ext uri="{BB962C8B-B14F-4D97-AF65-F5344CB8AC3E}">
        <p14:creationId xmlns:p14="http://schemas.microsoft.com/office/powerpoint/2010/main" val="1646507716"/>
      </p:ext>
    </p:extLst>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CFCB89-8064-21AC-E612-CF4643E67EEA}"/>
              </a:ext>
            </a:extLst>
          </p:cNvPr>
          <p:cNvSpPr>
            <a:spLocks noGrp="1"/>
          </p:cNvSpPr>
          <p:nvPr>
            <p:ph type="title"/>
          </p:nvPr>
        </p:nvSpPr>
        <p:spPr/>
        <p:txBody>
          <a:bodyPr/>
          <a:lstStyle/>
          <a:p>
            <a:r>
              <a:rPr kumimoji="1" lang="zh-CN" altLang="en-US" dirty="0"/>
              <a:t>抢占式和非抢占式调度</a:t>
            </a:r>
          </a:p>
        </p:txBody>
      </p:sp>
      <p:sp>
        <p:nvSpPr>
          <p:cNvPr id="3" name="内容占位符 2">
            <a:extLst>
              <a:ext uri="{FF2B5EF4-FFF2-40B4-BE49-F238E27FC236}">
                <a16:creationId xmlns:a16="http://schemas.microsoft.com/office/drawing/2014/main" id="{6FB6BA54-0ACD-F7C7-0078-19D945501853}"/>
              </a:ext>
            </a:extLst>
          </p:cNvPr>
          <p:cNvSpPr>
            <a:spLocks noGrp="1"/>
          </p:cNvSpPr>
          <p:nvPr>
            <p:ph idx="1"/>
          </p:nvPr>
        </p:nvSpPr>
        <p:spPr/>
        <p:txBody>
          <a:bodyPr>
            <a:normAutofit fontScale="92500" lnSpcReduction="20000"/>
          </a:bodyPr>
          <a:lstStyle/>
          <a:p>
            <a:r>
              <a:rPr kumimoji="1" lang="zh-CN" altLang="en-US" dirty="0"/>
              <a:t>当调度仅在情况</a:t>
            </a:r>
            <a:r>
              <a:rPr kumimoji="1" lang="en-US" altLang="zh-CN" dirty="0"/>
              <a:t>1</a:t>
            </a:r>
            <a:r>
              <a:rPr kumimoji="1" lang="zh-CN" altLang="en-US" dirty="0"/>
              <a:t>和</a:t>
            </a:r>
            <a:r>
              <a:rPr kumimoji="1" lang="en-US" altLang="zh-CN" dirty="0"/>
              <a:t>4</a:t>
            </a:r>
            <a:r>
              <a:rPr kumimoji="1" lang="zh-CN" altLang="en-US" dirty="0"/>
              <a:t>下进行时，调度方案是非抢占式的，否则，就是抢占式的</a:t>
            </a:r>
            <a:endParaRPr kumimoji="1" lang="en-US" altLang="zh-CN" dirty="0"/>
          </a:p>
          <a:p>
            <a:r>
              <a:rPr kumimoji="1" lang="zh-CN" altLang="en-US" dirty="0"/>
              <a:t>非抢占式调度：一旦将</a:t>
            </a:r>
            <a:r>
              <a:rPr kumimoji="1" lang="en" altLang="zh-CN" dirty="0"/>
              <a:t>CPU</a:t>
            </a:r>
            <a:r>
              <a:rPr kumimoji="1" lang="zh-CN" altLang="en-US" dirty="0"/>
              <a:t>分配给进程，该进程将保持</a:t>
            </a:r>
            <a:r>
              <a:rPr kumimoji="1" lang="en" altLang="zh-CN" dirty="0"/>
              <a:t>CPU</a:t>
            </a:r>
            <a:r>
              <a:rPr kumimoji="1" lang="zh-CN" altLang="en" dirty="0"/>
              <a:t>，</a:t>
            </a:r>
            <a:r>
              <a:rPr kumimoji="1" lang="zh-CN" altLang="en-US" dirty="0"/>
              <a:t>直到通过终止或切换到等待状态释放它</a:t>
            </a:r>
            <a:endParaRPr kumimoji="1" lang="en-US" altLang="zh-CN" dirty="0"/>
          </a:p>
          <a:p>
            <a:pPr lvl="1"/>
            <a:r>
              <a:rPr kumimoji="1" lang="zh-CN" altLang="en-US" dirty="0"/>
              <a:t>潜在的问题：如果一个进程长时间占用</a:t>
            </a:r>
            <a:r>
              <a:rPr kumimoji="1" lang="en" altLang="zh-CN" dirty="0"/>
              <a:t>CPU</a:t>
            </a:r>
            <a:r>
              <a:rPr kumimoji="1" lang="zh-CN" altLang="en" dirty="0"/>
              <a:t>，</a:t>
            </a:r>
            <a:r>
              <a:rPr kumimoji="1" lang="zh-CN" altLang="en-US" dirty="0"/>
              <a:t>其他进程可能会被迫等待很长时间，从而导致响应时间变慢。</a:t>
            </a:r>
            <a:endParaRPr kumimoji="1" lang="en-US" altLang="zh-CN" dirty="0"/>
          </a:p>
          <a:p>
            <a:r>
              <a:rPr kumimoji="1" lang="zh-CN" altLang="en-US" dirty="0"/>
              <a:t>几乎所有现代操作系统，包括</a:t>
            </a:r>
            <a:r>
              <a:rPr kumimoji="1" lang="en" altLang="zh-CN" dirty="0"/>
              <a:t>Windows</a:t>
            </a:r>
            <a:r>
              <a:rPr kumimoji="1" lang="zh-CN" altLang="en" dirty="0"/>
              <a:t>，</a:t>
            </a:r>
            <a:r>
              <a:rPr kumimoji="1" lang="en" altLang="zh-CN" dirty="0"/>
              <a:t>macOS</a:t>
            </a:r>
            <a:r>
              <a:rPr kumimoji="1" lang="zh-CN" altLang="en" dirty="0"/>
              <a:t>，</a:t>
            </a:r>
            <a:r>
              <a:rPr kumimoji="1" lang="en" altLang="zh-CN" dirty="0"/>
              <a:t>Linux</a:t>
            </a:r>
            <a:r>
              <a:rPr kumimoji="1" lang="zh-CN" altLang="en-US" dirty="0"/>
              <a:t>和</a:t>
            </a:r>
            <a:r>
              <a:rPr kumimoji="1" lang="en" altLang="zh-CN" dirty="0"/>
              <a:t>UNIX</a:t>
            </a:r>
            <a:r>
              <a:rPr kumimoji="1" lang="zh-CN" altLang="en" dirty="0"/>
              <a:t>，</a:t>
            </a:r>
            <a:r>
              <a:rPr kumimoji="1" lang="zh-CN" altLang="en-US" dirty="0"/>
              <a:t>都使用抢占式调度算法。</a:t>
            </a:r>
          </a:p>
        </p:txBody>
      </p:sp>
      <p:sp>
        <p:nvSpPr>
          <p:cNvPr id="4" name="灯片编号占位符 3">
            <a:extLst>
              <a:ext uri="{FF2B5EF4-FFF2-40B4-BE49-F238E27FC236}">
                <a16:creationId xmlns:a16="http://schemas.microsoft.com/office/drawing/2014/main" id="{15C41DFF-62D8-E411-927A-239BE7C0CFC1}"/>
              </a:ext>
            </a:extLst>
          </p:cNvPr>
          <p:cNvSpPr>
            <a:spLocks noGrp="1"/>
          </p:cNvSpPr>
          <p:nvPr>
            <p:ph type="sldNum" sz="quarter" idx="12"/>
          </p:nvPr>
        </p:nvSpPr>
        <p:spPr/>
        <p:txBody>
          <a:bodyPr/>
          <a:lstStyle/>
          <a:p>
            <a:fld id="{4093CC90-4002-504C-BD88-C9A1D374048E}" type="slidenum">
              <a:rPr lang="zh-CN" altLang="en-US" smtClean="0"/>
              <a:pPr/>
              <a:t>13</a:t>
            </a:fld>
            <a:endParaRPr lang="zh-CN" altLang="en-US" dirty="0"/>
          </a:p>
        </p:txBody>
      </p:sp>
    </p:spTree>
    <p:extLst>
      <p:ext uri="{BB962C8B-B14F-4D97-AF65-F5344CB8AC3E}">
        <p14:creationId xmlns:p14="http://schemas.microsoft.com/office/powerpoint/2010/main" val="3876614750"/>
      </p:ext>
    </p:extLst>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06BDCE-30D2-2989-31E4-2F498D51E961}"/>
              </a:ext>
            </a:extLst>
          </p:cNvPr>
          <p:cNvSpPr>
            <a:spLocks noGrp="1"/>
          </p:cNvSpPr>
          <p:nvPr>
            <p:ph type="title"/>
          </p:nvPr>
        </p:nvSpPr>
        <p:spPr/>
        <p:txBody>
          <a:bodyPr/>
          <a:lstStyle/>
          <a:p>
            <a:r>
              <a:rPr kumimoji="1" lang="zh-CN" altLang="en-US" dirty="0"/>
              <a:t>调度程序</a:t>
            </a:r>
          </a:p>
        </p:txBody>
      </p:sp>
      <p:sp>
        <p:nvSpPr>
          <p:cNvPr id="3" name="内容占位符 2">
            <a:extLst>
              <a:ext uri="{FF2B5EF4-FFF2-40B4-BE49-F238E27FC236}">
                <a16:creationId xmlns:a16="http://schemas.microsoft.com/office/drawing/2014/main" id="{07477322-8F37-C997-BBC8-09434811BB6E}"/>
              </a:ext>
            </a:extLst>
          </p:cNvPr>
          <p:cNvSpPr>
            <a:spLocks noGrp="1"/>
          </p:cNvSpPr>
          <p:nvPr>
            <p:ph idx="1"/>
          </p:nvPr>
        </p:nvSpPr>
        <p:spPr>
          <a:xfrm>
            <a:off x="935038" y="1233488"/>
            <a:ext cx="4317898" cy="4895850"/>
          </a:xfrm>
        </p:spPr>
        <p:txBody>
          <a:bodyPr>
            <a:normAutofit lnSpcReduction="10000"/>
          </a:bodyPr>
          <a:lstStyle/>
          <a:p>
            <a:r>
              <a:rPr kumimoji="1" lang="zh-CN" altLang="en-US" dirty="0"/>
              <a:t>调度程序将</a:t>
            </a:r>
            <a:r>
              <a:rPr kumimoji="1" lang="en-US" altLang="zh-CN" dirty="0"/>
              <a:t>CPU</a:t>
            </a:r>
            <a:r>
              <a:rPr kumimoji="1" lang="zh-CN" altLang="en-US" dirty="0"/>
              <a:t>的控制权交给</a:t>
            </a:r>
            <a:r>
              <a:rPr kumimoji="1" lang="en-US" altLang="zh-CN" dirty="0"/>
              <a:t>CPU</a:t>
            </a:r>
            <a:r>
              <a:rPr kumimoji="1" lang="zh-CN" altLang="en-US" dirty="0"/>
              <a:t>调度器选出来的进程</a:t>
            </a:r>
            <a:endParaRPr kumimoji="1" lang="en-US" altLang="zh-CN" dirty="0"/>
          </a:p>
          <a:p>
            <a:pPr lvl="1"/>
            <a:r>
              <a:rPr kumimoji="1" lang="zh-CN" altLang="en-US" dirty="0"/>
              <a:t>切换上下文</a:t>
            </a:r>
            <a:endParaRPr kumimoji="1" lang="en-US" altLang="zh-CN" dirty="0"/>
          </a:p>
          <a:p>
            <a:pPr lvl="1"/>
            <a:r>
              <a:rPr kumimoji="1" lang="zh-CN" altLang="en-US" dirty="0"/>
              <a:t>切换用户模式</a:t>
            </a:r>
            <a:endParaRPr kumimoji="1" lang="en-US" altLang="zh-CN" dirty="0"/>
          </a:p>
          <a:p>
            <a:pPr lvl="1"/>
            <a:r>
              <a:rPr kumimoji="1" lang="zh-CN" altLang="en-US" dirty="0"/>
              <a:t>跳转到用户程序的适当位置来启动程序</a:t>
            </a:r>
            <a:endParaRPr kumimoji="1" lang="en-US" altLang="zh-CN" dirty="0"/>
          </a:p>
          <a:p>
            <a:r>
              <a:rPr kumimoji="1" lang="zh-CN" altLang="en-US" dirty="0"/>
              <a:t>调度延迟：调度程序停止一个进程并启动另一个进程运行所需的时间</a:t>
            </a:r>
          </a:p>
        </p:txBody>
      </p:sp>
      <p:sp>
        <p:nvSpPr>
          <p:cNvPr id="4" name="灯片编号占位符 3">
            <a:extLst>
              <a:ext uri="{FF2B5EF4-FFF2-40B4-BE49-F238E27FC236}">
                <a16:creationId xmlns:a16="http://schemas.microsoft.com/office/drawing/2014/main" id="{2C3B8D28-59CD-EF88-54A9-5BEDAEB0A75D}"/>
              </a:ext>
            </a:extLst>
          </p:cNvPr>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pic>
        <p:nvPicPr>
          <p:cNvPr id="5" name="Picture 1">
            <a:extLst>
              <a:ext uri="{FF2B5EF4-FFF2-40B4-BE49-F238E27FC236}">
                <a16:creationId xmlns:a16="http://schemas.microsoft.com/office/drawing/2014/main" id="{786BA0A7-39EF-DCF0-9B38-CF54B8287AC2}"/>
              </a:ext>
            </a:extLst>
          </p:cNvPr>
          <p:cNvPicPr>
            <a:picLocks noChangeAspect="1"/>
          </p:cNvPicPr>
          <p:nvPr/>
        </p:nvPicPr>
        <p:blipFill rotWithShape="1">
          <a:blip r:embed="rId2">
            <a:extLst>
              <a:ext uri="{28A0092B-C50C-407E-A947-70E740481C1C}">
                <a14:useLocalDpi xmlns:a14="http://schemas.microsoft.com/office/drawing/2010/main" val="0"/>
              </a:ext>
            </a:extLst>
          </a:blip>
          <a:srcRect r="40810"/>
          <a:stretch/>
        </p:blipFill>
        <p:spPr bwMode="auto">
          <a:xfrm>
            <a:off x="5398232" y="1233488"/>
            <a:ext cx="3288568" cy="3736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2701398"/>
      </p:ext>
    </p:extLst>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FB1AA-D489-5D74-6CF0-4C0CB4C57806}"/>
              </a:ext>
            </a:extLst>
          </p:cNvPr>
          <p:cNvSpPr>
            <a:spLocks noGrp="1"/>
          </p:cNvSpPr>
          <p:nvPr>
            <p:ph type="title"/>
          </p:nvPr>
        </p:nvSpPr>
        <p:spPr/>
        <p:txBody>
          <a:bodyPr/>
          <a:lstStyle/>
          <a:p>
            <a:r>
              <a:rPr kumimoji="1" lang="zh-CN" altLang="en-US" dirty="0"/>
              <a:t>衡量调度算法的指标</a:t>
            </a:r>
          </a:p>
        </p:txBody>
      </p:sp>
      <p:sp>
        <p:nvSpPr>
          <p:cNvPr id="3" name="内容占位符 2">
            <a:extLst>
              <a:ext uri="{FF2B5EF4-FFF2-40B4-BE49-F238E27FC236}">
                <a16:creationId xmlns:a16="http://schemas.microsoft.com/office/drawing/2014/main" id="{97D70EB6-8975-0113-D6AD-50F564992137}"/>
              </a:ext>
            </a:extLst>
          </p:cNvPr>
          <p:cNvSpPr>
            <a:spLocks noGrp="1"/>
          </p:cNvSpPr>
          <p:nvPr>
            <p:ph idx="1"/>
          </p:nvPr>
        </p:nvSpPr>
        <p:spPr/>
        <p:txBody>
          <a:bodyPr>
            <a:normAutofit fontScale="92500" lnSpcReduction="20000"/>
          </a:bodyPr>
          <a:lstStyle/>
          <a:p>
            <a:pPr>
              <a:lnSpc>
                <a:spcPct val="120000"/>
              </a:lnSpc>
            </a:pPr>
            <a:r>
              <a:rPr kumimoji="1" lang="en" altLang="zh-CN" dirty="0"/>
              <a:t>CPU</a:t>
            </a:r>
            <a:r>
              <a:rPr kumimoji="1" lang="zh-CN" altLang="en-US" dirty="0"/>
              <a:t>利用率：衡量</a:t>
            </a:r>
            <a:r>
              <a:rPr kumimoji="1" lang="en" altLang="zh-CN" dirty="0"/>
              <a:t>CPU</a:t>
            </a:r>
            <a:r>
              <a:rPr kumimoji="1" lang="zh-CN" altLang="en-US" dirty="0"/>
              <a:t>被有效利用的程度的指标。理想情况下，希望</a:t>
            </a:r>
            <a:r>
              <a:rPr kumimoji="1" lang="en" altLang="zh-CN" dirty="0"/>
              <a:t>CPU</a:t>
            </a:r>
            <a:r>
              <a:rPr kumimoji="1" lang="zh-CN" altLang="en-US" dirty="0"/>
              <a:t>能够一直被占用</a:t>
            </a:r>
          </a:p>
          <a:p>
            <a:pPr>
              <a:lnSpc>
                <a:spcPct val="120000"/>
              </a:lnSpc>
            </a:pPr>
            <a:r>
              <a:rPr kumimoji="1" lang="zh-CN" altLang="en-US" dirty="0"/>
              <a:t>吞吐量：衡量单位时间内系统完成任务数量的指标</a:t>
            </a:r>
          </a:p>
          <a:p>
            <a:pPr>
              <a:lnSpc>
                <a:spcPct val="120000"/>
              </a:lnSpc>
            </a:pPr>
            <a:r>
              <a:rPr kumimoji="1" lang="zh-CN" altLang="en-US" dirty="0"/>
              <a:t>周转时间：从任务</a:t>
            </a:r>
            <a:r>
              <a:rPr kumimoji="1" lang="zh-CN" altLang="en-US" b="1" dirty="0">
                <a:solidFill>
                  <a:srgbClr val="FF0000"/>
                </a:solidFill>
              </a:rPr>
              <a:t>提交</a:t>
            </a:r>
            <a:r>
              <a:rPr kumimoji="1" lang="zh-CN" altLang="en-US" dirty="0"/>
              <a:t>到任务</a:t>
            </a:r>
            <a:r>
              <a:rPr kumimoji="1" lang="zh-CN" altLang="en-US" b="1" dirty="0">
                <a:solidFill>
                  <a:srgbClr val="FF0000"/>
                </a:solidFill>
              </a:rPr>
              <a:t>完成</a:t>
            </a:r>
            <a:r>
              <a:rPr kumimoji="1" lang="zh-CN" altLang="en-US" dirty="0"/>
              <a:t>所经过的时间，包括等待时间和执行时间</a:t>
            </a:r>
          </a:p>
          <a:p>
            <a:pPr>
              <a:lnSpc>
                <a:spcPct val="120000"/>
              </a:lnSpc>
            </a:pPr>
            <a:r>
              <a:rPr kumimoji="1" lang="zh-CN" altLang="en-US" dirty="0"/>
              <a:t>等待时间：衡量任务在就绪队列中等待的总时间</a:t>
            </a:r>
          </a:p>
          <a:p>
            <a:pPr>
              <a:lnSpc>
                <a:spcPct val="120000"/>
              </a:lnSpc>
            </a:pPr>
            <a:r>
              <a:rPr kumimoji="1" lang="zh-CN" altLang="en-US" dirty="0"/>
              <a:t>响应时间：从任务提交到首次开始执行所经过的时间</a:t>
            </a:r>
          </a:p>
        </p:txBody>
      </p:sp>
      <p:sp>
        <p:nvSpPr>
          <p:cNvPr id="4" name="灯片编号占位符 3">
            <a:extLst>
              <a:ext uri="{FF2B5EF4-FFF2-40B4-BE49-F238E27FC236}">
                <a16:creationId xmlns:a16="http://schemas.microsoft.com/office/drawing/2014/main" id="{23A579B1-5B81-F2E0-6A30-8D55C978849E}"/>
              </a:ext>
            </a:extLst>
          </p:cNvPr>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spTree>
    <p:extLst>
      <p:ext uri="{BB962C8B-B14F-4D97-AF65-F5344CB8AC3E}">
        <p14:creationId xmlns:p14="http://schemas.microsoft.com/office/powerpoint/2010/main" val="2205566033"/>
      </p:ext>
    </p:extLst>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D3058-2FA5-3773-50CA-7F7DC5616791}"/>
              </a:ext>
            </a:extLst>
          </p:cNvPr>
          <p:cNvSpPr>
            <a:spLocks noGrp="1"/>
          </p:cNvSpPr>
          <p:nvPr>
            <p:ph type="title"/>
          </p:nvPr>
        </p:nvSpPr>
        <p:spPr/>
        <p:txBody>
          <a:bodyPr/>
          <a:lstStyle/>
          <a:p>
            <a:r>
              <a:rPr kumimoji="1" lang="zh-CN" altLang="en-US" dirty="0"/>
              <a:t>经典的单核进程调度算法</a:t>
            </a:r>
          </a:p>
        </p:txBody>
      </p:sp>
      <p:sp>
        <p:nvSpPr>
          <p:cNvPr id="3" name="内容占位符 2">
            <a:extLst>
              <a:ext uri="{FF2B5EF4-FFF2-40B4-BE49-F238E27FC236}">
                <a16:creationId xmlns:a16="http://schemas.microsoft.com/office/drawing/2014/main" id="{81926BB1-7179-B6E9-6F63-6D2A8236FAF5}"/>
              </a:ext>
            </a:extLst>
          </p:cNvPr>
          <p:cNvSpPr>
            <a:spLocks noGrp="1"/>
          </p:cNvSpPr>
          <p:nvPr>
            <p:ph idx="1"/>
          </p:nvPr>
        </p:nvSpPr>
        <p:spPr/>
        <p:txBody>
          <a:bodyPr/>
          <a:lstStyle/>
          <a:p>
            <a:r>
              <a:rPr kumimoji="1" lang="zh-CN" altLang="en-US" dirty="0"/>
              <a:t>先来先服务</a:t>
            </a:r>
            <a:endParaRPr kumimoji="1" lang="en-US" altLang="zh-CN" dirty="0"/>
          </a:p>
          <a:p>
            <a:r>
              <a:rPr kumimoji="1" lang="zh-CN" altLang="zh-CN" dirty="0"/>
              <a:t>最短</a:t>
            </a:r>
            <a:r>
              <a:rPr kumimoji="1" lang="zh-CN" altLang="en-US" dirty="0"/>
              <a:t>作业</a:t>
            </a:r>
            <a:r>
              <a:rPr kumimoji="1" lang="zh-CN" altLang="zh-CN" dirty="0"/>
              <a:t>优先</a:t>
            </a:r>
            <a:endParaRPr kumimoji="1" lang="en-US" altLang="zh-CN" dirty="0"/>
          </a:p>
          <a:p>
            <a:r>
              <a:rPr kumimoji="1" lang="zh-CN" altLang="zh-CN" dirty="0"/>
              <a:t>最短剩余时间优先</a:t>
            </a:r>
            <a:endParaRPr kumimoji="1" lang="en-US" altLang="zh-CN" dirty="0"/>
          </a:p>
          <a:p>
            <a:r>
              <a:rPr kumimoji="1" lang="zh-CN" altLang="zh-CN" dirty="0"/>
              <a:t>最高相应比优先</a:t>
            </a:r>
            <a:endParaRPr kumimoji="1" lang="en-US" altLang="zh-CN" dirty="0"/>
          </a:p>
          <a:p>
            <a:r>
              <a:rPr kumimoji="1" lang="zh-CN" altLang="zh-CN" dirty="0"/>
              <a:t>轮转调度</a:t>
            </a:r>
            <a:endParaRPr kumimoji="1" lang="en-US" altLang="zh-CN" dirty="0"/>
          </a:p>
          <a:p>
            <a:r>
              <a:rPr kumimoji="1" lang="zh-CN" altLang="zh-CN" dirty="0"/>
              <a:t>优先级调度</a:t>
            </a:r>
            <a:endParaRPr kumimoji="1" lang="en-US" altLang="zh-CN" dirty="0"/>
          </a:p>
          <a:p>
            <a:r>
              <a:rPr kumimoji="1" lang="zh-CN" altLang="zh-CN" dirty="0"/>
              <a:t>多级队列</a:t>
            </a:r>
            <a:endParaRPr kumimoji="1" lang="en-US" altLang="zh-CN" dirty="0"/>
          </a:p>
          <a:p>
            <a:r>
              <a:rPr kumimoji="1" lang="zh-CN" altLang="zh-CN" dirty="0"/>
              <a:t>多级反馈队列 </a:t>
            </a:r>
            <a:endParaRPr kumimoji="1" lang="zh-CN" altLang="en-US" dirty="0"/>
          </a:p>
        </p:txBody>
      </p:sp>
      <p:sp>
        <p:nvSpPr>
          <p:cNvPr id="4" name="灯片编号占位符 3">
            <a:extLst>
              <a:ext uri="{FF2B5EF4-FFF2-40B4-BE49-F238E27FC236}">
                <a16:creationId xmlns:a16="http://schemas.microsoft.com/office/drawing/2014/main" id="{B04FC596-153E-40B7-80CF-34CD95354C4F}"/>
              </a:ext>
            </a:extLst>
          </p:cNvPr>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spTree>
    <p:extLst>
      <p:ext uri="{BB962C8B-B14F-4D97-AF65-F5344CB8AC3E}">
        <p14:creationId xmlns:p14="http://schemas.microsoft.com/office/powerpoint/2010/main" val="1434179687"/>
      </p:ext>
    </p:extLst>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6EAAF7-8D59-46CD-C20F-809EBDA8B790}"/>
              </a:ext>
            </a:extLst>
          </p:cNvPr>
          <p:cNvSpPr>
            <a:spLocks noGrp="1"/>
          </p:cNvSpPr>
          <p:nvPr>
            <p:ph type="title"/>
          </p:nvPr>
        </p:nvSpPr>
        <p:spPr>
          <a:xfrm>
            <a:off x="1042988" y="225431"/>
            <a:ext cx="7850187" cy="746125"/>
          </a:xfrm>
        </p:spPr>
        <p:txBody>
          <a:bodyPr/>
          <a:lstStyle/>
          <a:p>
            <a:r>
              <a:rPr lang="zh-CN" altLang="en-US" dirty="0"/>
              <a:t>先来先服务</a:t>
            </a:r>
            <a:r>
              <a:rPr lang="en-US" altLang="zh-CN" dirty="0"/>
              <a:t>FCFS</a:t>
            </a:r>
            <a:r>
              <a:rPr lang="zh-CN" altLang="en-US" dirty="0"/>
              <a:t>调度</a:t>
            </a:r>
          </a:p>
        </p:txBody>
      </p:sp>
      <p:sp>
        <p:nvSpPr>
          <p:cNvPr id="8" name="内容占位符 7">
            <a:extLst>
              <a:ext uri="{FF2B5EF4-FFF2-40B4-BE49-F238E27FC236}">
                <a16:creationId xmlns:a16="http://schemas.microsoft.com/office/drawing/2014/main" id="{1637081D-4F61-F10E-A2A1-F9158FC9578E}"/>
              </a:ext>
            </a:extLst>
          </p:cNvPr>
          <p:cNvSpPr>
            <a:spLocks noGrp="1"/>
          </p:cNvSpPr>
          <p:nvPr>
            <p:ph idx="1"/>
          </p:nvPr>
        </p:nvSpPr>
        <p:spPr>
          <a:xfrm>
            <a:off x="935038" y="1233488"/>
            <a:ext cx="7772400" cy="4895850"/>
          </a:xfrm>
        </p:spPr>
        <p:txBody>
          <a:bodyPr>
            <a:normAutofit fontScale="62500" lnSpcReduction="20000"/>
          </a:bodyPr>
          <a:lstStyle/>
          <a:p>
            <a:r>
              <a:rPr lang="en-US" altLang="en-US" dirty="0"/>
              <a:t>有</a:t>
            </a:r>
            <a:r>
              <a:rPr lang="en-US" altLang="zh-CN" dirty="0"/>
              <a:t>3</a:t>
            </a:r>
            <a:r>
              <a:rPr lang="zh-CN" altLang="en-US" dirty="0"/>
              <a:t>个进程</a:t>
            </a:r>
            <a:r>
              <a:rPr lang="en-US" altLang="en-US" dirty="0"/>
              <a:t>	</a:t>
            </a:r>
          </a:p>
          <a:p>
            <a:pPr marL="0" indent="0">
              <a:buNone/>
            </a:pPr>
            <a:r>
              <a:rPr lang="en-US" altLang="en-US" dirty="0"/>
              <a:t>                        </a:t>
            </a:r>
            <a:r>
              <a:rPr lang="en-US" altLang="en-US" u="sng" dirty="0"/>
              <a:t>Process</a:t>
            </a:r>
            <a:r>
              <a:rPr lang="en-US" altLang="en-US" dirty="0"/>
              <a:t>	</a:t>
            </a:r>
            <a:r>
              <a:rPr lang="zh-CN" altLang="en-US" dirty="0"/>
              <a:t>  </a:t>
            </a:r>
            <a:r>
              <a:rPr lang="en-US" altLang="en-US" u="sng" dirty="0"/>
              <a:t>Burst Time</a:t>
            </a:r>
          </a:p>
          <a:p>
            <a:pPr marL="0" indent="0">
              <a:buNone/>
            </a:pPr>
            <a:r>
              <a:rPr lang="en-US" altLang="en-US" dirty="0"/>
              <a:t>		 P1	</a:t>
            </a:r>
            <a:r>
              <a:rPr lang="zh-CN" altLang="en-US" dirty="0"/>
              <a:t>       </a:t>
            </a:r>
            <a:r>
              <a:rPr lang="en-US" altLang="en-US" dirty="0"/>
              <a:t>24</a:t>
            </a:r>
          </a:p>
          <a:p>
            <a:pPr marL="0" indent="0">
              <a:buNone/>
            </a:pPr>
            <a:r>
              <a:rPr lang="en-US" altLang="en-US" dirty="0"/>
              <a:t>		 P2 	</a:t>
            </a:r>
            <a:r>
              <a:rPr lang="zh-CN" altLang="en-US" dirty="0"/>
              <a:t>       </a:t>
            </a:r>
            <a:r>
              <a:rPr lang="en-US" altLang="en-US" dirty="0"/>
              <a:t>3</a:t>
            </a:r>
          </a:p>
          <a:p>
            <a:pPr marL="0" indent="0">
              <a:buNone/>
            </a:pPr>
            <a:r>
              <a:rPr lang="en-US" altLang="en-US" dirty="0"/>
              <a:t>		 P3	 </a:t>
            </a:r>
            <a:r>
              <a:rPr lang="zh-CN" altLang="en-US" dirty="0"/>
              <a:t>      </a:t>
            </a:r>
            <a:r>
              <a:rPr lang="en-US" altLang="en-US" dirty="0"/>
              <a:t>3 </a:t>
            </a:r>
          </a:p>
          <a:p>
            <a:endParaRPr lang="en-US" altLang="en-US" dirty="0"/>
          </a:p>
          <a:p>
            <a:r>
              <a:rPr lang="en-US" altLang="en-US" dirty="0" err="1"/>
              <a:t>假设进程的到达顺序为</a:t>
            </a:r>
            <a:r>
              <a:rPr lang="en-US" altLang="en-US" dirty="0"/>
              <a:t>: P1 , P2 , P3  </a:t>
            </a:r>
          </a:p>
          <a:p>
            <a:pPr marL="0" indent="0">
              <a:buNone/>
            </a:pP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err="1"/>
              <a:t>进程等待时间</a:t>
            </a:r>
            <a:r>
              <a:rPr lang="zh-CN" altLang="en-US" dirty="0"/>
              <a:t>：</a:t>
            </a:r>
            <a:r>
              <a:rPr lang="en-US" altLang="en-US" dirty="0"/>
              <a:t>P1  = 0; P2  = 24; P3 = 27</a:t>
            </a:r>
          </a:p>
          <a:p>
            <a:r>
              <a:rPr lang="en-US" altLang="en-US" dirty="0" err="1"/>
              <a:t>平均等待时间</a:t>
            </a:r>
            <a:r>
              <a:rPr lang="en-US" altLang="en-US" dirty="0"/>
              <a:t>:  (0 + 24 + 27)/3 = 17</a:t>
            </a:r>
          </a:p>
        </p:txBody>
      </p:sp>
      <p:sp>
        <p:nvSpPr>
          <p:cNvPr id="4" name="灯片编号占位符 3">
            <a:extLst>
              <a:ext uri="{FF2B5EF4-FFF2-40B4-BE49-F238E27FC236}">
                <a16:creationId xmlns:a16="http://schemas.microsoft.com/office/drawing/2014/main" id="{6AE11CE3-731F-9E44-6AB1-C67AD34B35A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17</a:t>
            </a:fld>
            <a:endParaRPr lang="zh-CN" altLang="en-US" dirty="0"/>
          </a:p>
        </p:txBody>
      </p:sp>
      <p:pic>
        <p:nvPicPr>
          <p:cNvPr id="9" name="Picture 1">
            <a:extLst>
              <a:ext uri="{FF2B5EF4-FFF2-40B4-BE49-F238E27FC236}">
                <a16:creationId xmlns:a16="http://schemas.microsoft.com/office/drawing/2014/main" id="{A339752A-AB67-7C2B-BDE1-E6F8C09840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2023" y="3870749"/>
            <a:ext cx="6490653" cy="74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445A13F5-6DAF-7028-3552-468664901E58}"/>
              </a:ext>
            </a:extLst>
          </p:cNvPr>
          <p:cNvSpPr txBox="1"/>
          <p:nvPr/>
        </p:nvSpPr>
        <p:spPr>
          <a:xfrm>
            <a:off x="3742949" y="4599474"/>
            <a:ext cx="1828800" cy="369332"/>
          </a:xfrm>
          <a:prstGeom prst="rect">
            <a:avLst/>
          </a:prstGeom>
          <a:noFill/>
        </p:spPr>
        <p:txBody>
          <a:bodyPr wrap="square" rtlCol="0">
            <a:spAutoFit/>
          </a:bodyPr>
          <a:lstStyle/>
          <a:p>
            <a:r>
              <a:rPr kumimoji="1" lang="zh-CN" altLang="en-US" dirty="0"/>
              <a:t>进程调度甘特图</a:t>
            </a:r>
          </a:p>
        </p:txBody>
      </p:sp>
    </p:spTree>
    <p:extLst>
      <p:ext uri="{BB962C8B-B14F-4D97-AF65-F5344CB8AC3E}">
        <p14:creationId xmlns:p14="http://schemas.microsoft.com/office/powerpoint/2010/main" val="2896161777"/>
      </p:ext>
    </p:extLst>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DBCC6-1940-68FC-A1B5-B8683A66B9CD}"/>
              </a:ext>
            </a:extLst>
          </p:cNvPr>
          <p:cNvSpPr>
            <a:spLocks noGrp="1"/>
          </p:cNvSpPr>
          <p:nvPr>
            <p:ph type="title"/>
          </p:nvPr>
        </p:nvSpPr>
        <p:spPr>
          <a:xfrm>
            <a:off x="1042988" y="225431"/>
            <a:ext cx="7850187" cy="746125"/>
          </a:xfrm>
        </p:spPr>
        <p:txBody>
          <a:bodyPr/>
          <a:lstStyle/>
          <a:p>
            <a:r>
              <a:rPr lang="en-US" altLang="zh-CN" dirty="0"/>
              <a:t>FCFS</a:t>
            </a:r>
            <a:r>
              <a:rPr lang="zh-CN" altLang="en-US" dirty="0"/>
              <a:t>调度</a:t>
            </a:r>
          </a:p>
        </p:txBody>
      </p:sp>
      <p:sp>
        <p:nvSpPr>
          <p:cNvPr id="3" name="内容占位符 2">
            <a:extLst>
              <a:ext uri="{FF2B5EF4-FFF2-40B4-BE49-F238E27FC236}">
                <a16:creationId xmlns:a16="http://schemas.microsoft.com/office/drawing/2014/main" id="{15FD97D6-99FD-7E97-F290-80EF01BBC7C1}"/>
              </a:ext>
            </a:extLst>
          </p:cNvPr>
          <p:cNvSpPr>
            <a:spLocks noGrp="1"/>
          </p:cNvSpPr>
          <p:nvPr>
            <p:ph idx="1"/>
          </p:nvPr>
        </p:nvSpPr>
        <p:spPr>
          <a:xfrm>
            <a:off x="935038" y="1233488"/>
            <a:ext cx="7772400" cy="4895850"/>
          </a:xfrm>
        </p:spPr>
        <p:txBody>
          <a:bodyPr>
            <a:normAutofit fontScale="77500" lnSpcReduction="20000"/>
          </a:bodyPr>
          <a:lstStyle/>
          <a:p>
            <a:r>
              <a:rPr lang="en-US" altLang="en-US" dirty="0" err="1"/>
              <a:t>假设进程到达的顺序为</a:t>
            </a:r>
            <a:r>
              <a:rPr lang="en-US" altLang="en-US" dirty="0"/>
              <a:t>:</a:t>
            </a:r>
          </a:p>
          <a:p>
            <a:pPr marL="0" indent="0">
              <a:buNone/>
            </a:pPr>
            <a:r>
              <a:rPr lang="en-US" altLang="en-US" dirty="0"/>
              <a:t>		 P2 , P3 , P1 </a:t>
            </a:r>
          </a:p>
          <a:p>
            <a:endParaRPr lang="en-US" altLang="en-US" dirty="0"/>
          </a:p>
          <a:p>
            <a:endParaRPr lang="en-US" altLang="en-US" dirty="0"/>
          </a:p>
          <a:p>
            <a:endParaRPr lang="en-US" altLang="en-US" dirty="0"/>
          </a:p>
          <a:p>
            <a:endParaRPr lang="en-US" altLang="en-US" dirty="0"/>
          </a:p>
          <a:p>
            <a:r>
              <a:rPr lang="en-US" altLang="en-US" dirty="0" err="1"/>
              <a:t>进程等待时间</a:t>
            </a:r>
            <a:r>
              <a:rPr lang="zh-CN" altLang="en-US" dirty="0"/>
              <a:t>：</a:t>
            </a:r>
            <a:r>
              <a:rPr lang="en-US" altLang="en-US" dirty="0"/>
              <a:t>P1 = 6</a:t>
            </a:r>
            <a:r>
              <a:rPr lang="zh-CN" altLang="en-US" dirty="0"/>
              <a:t>；</a:t>
            </a:r>
            <a:r>
              <a:rPr lang="en-US" altLang="en-US" dirty="0"/>
              <a:t>P2 = 0</a:t>
            </a:r>
            <a:r>
              <a:rPr lang="zh-CN" altLang="en-US" dirty="0"/>
              <a:t>；</a:t>
            </a:r>
            <a:r>
              <a:rPr lang="en-US" altLang="en-US" dirty="0"/>
              <a:t>P3 = 3</a:t>
            </a:r>
          </a:p>
          <a:p>
            <a:r>
              <a:rPr lang="en-US" altLang="en-US" dirty="0" err="1"/>
              <a:t>平均等待时间</a:t>
            </a:r>
            <a:r>
              <a:rPr lang="en-US" altLang="en-US" dirty="0"/>
              <a:t>:   (6 + 0 + 3)/3 = 3</a:t>
            </a:r>
          </a:p>
          <a:p>
            <a:r>
              <a:rPr lang="en-US" altLang="en-US" dirty="0" err="1"/>
              <a:t>性能优于前一种情况</a:t>
            </a:r>
            <a:endParaRPr lang="en-US" altLang="en-US" dirty="0"/>
          </a:p>
          <a:p>
            <a:r>
              <a:rPr lang="en-US" altLang="en-US" dirty="0" err="1"/>
              <a:t>车队效应</a:t>
            </a:r>
            <a:r>
              <a:rPr lang="en-US" altLang="en-US" dirty="0"/>
              <a:t>- </a:t>
            </a:r>
            <a:r>
              <a:rPr lang="en-US" altLang="en-US" dirty="0" err="1"/>
              <a:t>短进程排在长进程后面</a:t>
            </a:r>
            <a:endParaRPr lang="en-US" altLang="en-US" dirty="0"/>
          </a:p>
          <a:p>
            <a:pPr lvl="1"/>
            <a:r>
              <a:rPr lang="en-US" altLang="en-US" dirty="0" err="1"/>
              <a:t>考虑一个CPU繁忙型进程和多个I</a:t>
            </a:r>
            <a:r>
              <a:rPr lang="en-US" altLang="en-US" dirty="0"/>
              <a:t>/</a:t>
            </a:r>
            <a:r>
              <a:rPr lang="en-US" altLang="en-US" dirty="0" err="1"/>
              <a:t>O繁忙型进程</a:t>
            </a:r>
            <a:endParaRPr lang="zh-CN" altLang="en-US" dirty="0"/>
          </a:p>
        </p:txBody>
      </p:sp>
      <p:sp>
        <p:nvSpPr>
          <p:cNvPr id="4" name="灯片编号占位符 3">
            <a:extLst>
              <a:ext uri="{FF2B5EF4-FFF2-40B4-BE49-F238E27FC236}">
                <a16:creationId xmlns:a16="http://schemas.microsoft.com/office/drawing/2014/main" id="{9B0D5A25-B44E-7161-13D1-4906DA8A020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18</a:t>
            </a:fld>
            <a:endParaRPr lang="zh-CN" altLang="en-US" dirty="0"/>
          </a:p>
        </p:txBody>
      </p:sp>
      <p:pic>
        <p:nvPicPr>
          <p:cNvPr id="5" name="Picture 1">
            <a:extLst>
              <a:ext uri="{FF2B5EF4-FFF2-40B4-BE49-F238E27FC236}">
                <a16:creationId xmlns:a16="http://schemas.microsoft.com/office/drawing/2014/main" id="{8855C55F-CBE0-EE13-9BDC-C5D5503CAE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5849" y="2388883"/>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3261A088-DA7F-389A-0B45-7B510606B27F}"/>
              </a:ext>
            </a:extLst>
          </p:cNvPr>
          <p:cNvSpPr txBox="1"/>
          <p:nvPr/>
        </p:nvSpPr>
        <p:spPr>
          <a:xfrm>
            <a:off x="3657600" y="3106711"/>
            <a:ext cx="1828800" cy="369332"/>
          </a:xfrm>
          <a:prstGeom prst="rect">
            <a:avLst/>
          </a:prstGeom>
          <a:noFill/>
        </p:spPr>
        <p:txBody>
          <a:bodyPr wrap="square" rtlCol="0">
            <a:spAutoFit/>
          </a:bodyPr>
          <a:lstStyle/>
          <a:p>
            <a:r>
              <a:rPr kumimoji="1" lang="zh-CN" altLang="en-US" dirty="0"/>
              <a:t>进程调度甘特图</a:t>
            </a:r>
          </a:p>
        </p:txBody>
      </p:sp>
    </p:spTree>
    <p:extLst>
      <p:ext uri="{BB962C8B-B14F-4D97-AF65-F5344CB8AC3E}">
        <p14:creationId xmlns:p14="http://schemas.microsoft.com/office/powerpoint/2010/main" val="968409202"/>
      </p:ext>
    </p:extLst>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7AF24-EAF0-9272-57C0-745EDF12BD39}"/>
              </a:ext>
            </a:extLst>
          </p:cNvPr>
          <p:cNvSpPr>
            <a:spLocks noGrp="1"/>
          </p:cNvSpPr>
          <p:nvPr>
            <p:ph type="title"/>
          </p:nvPr>
        </p:nvSpPr>
        <p:spPr/>
        <p:txBody>
          <a:bodyPr/>
          <a:lstStyle/>
          <a:p>
            <a:r>
              <a:rPr kumimoji="1" lang="zh-CN" altLang="en-US" dirty="0"/>
              <a:t>最短作业优先</a:t>
            </a:r>
            <a:r>
              <a:rPr kumimoji="1" lang="en-US" altLang="zh-CN" dirty="0"/>
              <a:t>SJF</a:t>
            </a:r>
            <a:r>
              <a:rPr kumimoji="1" lang="zh-CN" altLang="en-US" dirty="0"/>
              <a:t>调度</a:t>
            </a:r>
          </a:p>
        </p:txBody>
      </p:sp>
      <p:sp>
        <p:nvSpPr>
          <p:cNvPr id="3" name="内容占位符 2">
            <a:extLst>
              <a:ext uri="{FF2B5EF4-FFF2-40B4-BE49-F238E27FC236}">
                <a16:creationId xmlns:a16="http://schemas.microsoft.com/office/drawing/2014/main" id="{C344FF76-165B-D4EB-47C7-102CFAC3C145}"/>
              </a:ext>
            </a:extLst>
          </p:cNvPr>
          <p:cNvSpPr>
            <a:spLocks noGrp="1"/>
          </p:cNvSpPr>
          <p:nvPr>
            <p:ph idx="1"/>
          </p:nvPr>
        </p:nvSpPr>
        <p:spPr/>
        <p:txBody>
          <a:bodyPr/>
          <a:lstStyle/>
          <a:p>
            <a:r>
              <a:rPr kumimoji="1" lang="zh-CN" altLang="en-US" dirty="0"/>
              <a:t>将进程和后续进程的</a:t>
            </a:r>
            <a:r>
              <a:rPr kumimoji="1" lang="en-US" altLang="zh-CN" dirty="0"/>
              <a:t>CPU</a:t>
            </a:r>
            <a:r>
              <a:rPr kumimoji="1" lang="zh-CN" altLang="en-US" dirty="0"/>
              <a:t>执行时间进行比较，选择调度</a:t>
            </a:r>
            <a:r>
              <a:rPr kumimoji="1" lang="en-US" altLang="zh-CN" dirty="0"/>
              <a:t>CPU</a:t>
            </a:r>
            <a:r>
              <a:rPr kumimoji="1" lang="zh-CN" altLang="en-US" dirty="0"/>
              <a:t>执行时间最短的进程</a:t>
            </a:r>
            <a:endParaRPr kumimoji="1" lang="en-US" altLang="zh-CN" dirty="0"/>
          </a:p>
          <a:p>
            <a:r>
              <a:rPr kumimoji="1" lang="zh-CN" altLang="en-US" dirty="0"/>
              <a:t>对于相同的进程集，</a:t>
            </a:r>
            <a:r>
              <a:rPr kumimoji="1" lang="en-US" altLang="zh-CN" dirty="0"/>
              <a:t>SJF</a:t>
            </a:r>
            <a:r>
              <a:rPr kumimoji="1" lang="zh-CN" altLang="en-US" dirty="0"/>
              <a:t>调度可以使得平均等待时间最短</a:t>
            </a:r>
            <a:endParaRPr kumimoji="1" lang="en-US" altLang="zh-CN" dirty="0"/>
          </a:p>
          <a:p>
            <a:r>
              <a:rPr kumimoji="1" lang="zh-CN" altLang="en-US" dirty="0"/>
              <a:t>如何确定后续进程的</a:t>
            </a:r>
            <a:r>
              <a:rPr kumimoji="1" lang="en-US" altLang="zh-CN" dirty="0"/>
              <a:t>CPU</a:t>
            </a:r>
            <a:r>
              <a:rPr kumimoji="1" lang="zh-CN" altLang="en-US" dirty="0"/>
              <a:t>执行时间呢？</a:t>
            </a:r>
            <a:endParaRPr kumimoji="1" lang="en-US" altLang="zh-CN" dirty="0"/>
          </a:p>
          <a:p>
            <a:pPr lvl="1"/>
            <a:r>
              <a:rPr kumimoji="1" lang="zh-CN" altLang="en-US" dirty="0"/>
              <a:t>询问用户</a:t>
            </a:r>
            <a:endParaRPr kumimoji="1" lang="en-US" altLang="zh-CN" dirty="0"/>
          </a:p>
          <a:p>
            <a:pPr lvl="1"/>
            <a:r>
              <a:rPr kumimoji="1" lang="zh-CN" altLang="en-US" dirty="0"/>
              <a:t>估算</a:t>
            </a:r>
          </a:p>
        </p:txBody>
      </p:sp>
      <p:sp>
        <p:nvSpPr>
          <p:cNvPr id="4" name="灯片编号占位符 3">
            <a:extLst>
              <a:ext uri="{FF2B5EF4-FFF2-40B4-BE49-F238E27FC236}">
                <a16:creationId xmlns:a16="http://schemas.microsoft.com/office/drawing/2014/main" id="{CCF56B4C-D7A3-2F17-374F-23B2D73D721C}"/>
              </a:ext>
            </a:extLst>
          </p:cNvPr>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spTree>
    <p:extLst>
      <p:ext uri="{BB962C8B-B14F-4D97-AF65-F5344CB8AC3E}">
        <p14:creationId xmlns:p14="http://schemas.microsoft.com/office/powerpoint/2010/main" val="398166835"/>
      </p:ext>
    </p:extLst>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2B657-EAA5-7DEC-14CC-34F88D2687C6}"/>
              </a:ext>
            </a:extLst>
          </p:cNvPr>
          <p:cNvSpPr>
            <a:spLocks noGrp="1"/>
          </p:cNvSpPr>
          <p:nvPr>
            <p:ph type="title"/>
          </p:nvPr>
        </p:nvSpPr>
        <p:spPr/>
        <p:txBody>
          <a:bodyPr/>
          <a:lstStyle/>
          <a:p>
            <a:r>
              <a:rPr kumimoji="1" lang="zh-CN" altLang="en-US" dirty="0"/>
              <a:t>后续</a:t>
            </a:r>
            <a:r>
              <a:rPr kumimoji="1" lang="en-US" altLang="zh-CN" dirty="0"/>
              <a:t>CPU</a:t>
            </a:r>
            <a:r>
              <a:rPr kumimoji="1" lang="zh-CN" altLang="en-US" dirty="0"/>
              <a:t>执行时长</a:t>
            </a:r>
          </a:p>
        </p:txBody>
      </p:sp>
      <p:sp>
        <p:nvSpPr>
          <p:cNvPr id="3" name="内容占位符 2">
            <a:extLst>
              <a:ext uri="{FF2B5EF4-FFF2-40B4-BE49-F238E27FC236}">
                <a16:creationId xmlns:a16="http://schemas.microsoft.com/office/drawing/2014/main" id="{78A128FC-81A6-4B76-319C-14C8BEB7A50A}"/>
              </a:ext>
            </a:extLst>
          </p:cNvPr>
          <p:cNvSpPr>
            <a:spLocks noGrp="1"/>
          </p:cNvSpPr>
          <p:nvPr>
            <p:ph idx="1"/>
          </p:nvPr>
        </p:nvSpPr>
        <p:spPr/>
        <p:txBody>
          <a:bodyPr>
            <a:normAutofit/>
          </a:bodyPr>
          <a:lstStyle/>
          <a:p>
            <a:r>
              <a:rPr kumimoji="1" lang="en-US" altLang="zh-CN" dirty="0"/>
              <a:t>CPU</a:t>
            </a:r>
            <a:r>
              <a:rPr kumimoji="1" lang="zh-CN" altLang="en-US" dirty="0"/>
              <a:t>执行时长：估算为与先前的时长类似</a:t>
            </a:r>
          </a:p>
          <a:p>
            <a:pPr lvl="1"/>
            <a:r>
              <a:rPr kumimoji="1" lang="zh-CN" altLang="en-US" dirty="0"/>
              <a:t>选择后续</a:t>
            </a:r>
            <a:r>
              <a:rPr kumimoji="1" lang="en" altLang="zh-CN" dirty="0"/>
              <a:t>CPU</a:t>
            </a:r>
            <a:r>
              <a:rPr kumimoji="1" lang="zh-CN" altLang="en-US" dirty="0"/>
              <a:t>执行时间最短的进程</a:t>
            </a:r>
          </a:p>
          <a:p>
            <a:r>
              <a:rPr kumimoji="1" lang="zh-CN" altLang="en-US" dirty="0"/>
              <a:t>利用前面的</a:t>
            </a:r>
            <a:r>
              <a:rPr kumimoji="1" lang="en" altLang="zh-CN" dirty="0"/>
              <a:t>CPU</a:t>
            </a:r>
            <a:r>
              <a:rPr kumimoji="1" lang="zh-CN" altLang="en-US" dirty="0"/>
              <a:t>执行时长，通过指数平均法来进行估算：</a:t>
            </a:r>
            <a:endParaRPr kumimoji="1" lang="en-US" altLang="zh-CN" dirty="0"/>
          </a:p>
          <a:p>
            <a:pPr lvl="1"/>
            <a:r>
              <a:rPr kumimoji="1" lang="en-US" altLang="zh-CN" dirty="0"/>
              <a:t>1.t</a:t>
            </a:r>
            <a:r>
              <a:rPr kumimoji="1" lang="en-US" altLang="zh-CN" baseline="-25000" dirty="0"/>
              <a:t>n</a:t>
            </a:r>
            <a:r>
              <a:rPr kumimoji="1" lang="en-US" altLang="zh-CN" dirty="0"/>
              <a:t>=</a:t>
            </a:r>
            <a:r>
              <a:rPr kumimoji="1" lang="zh-CN" altLang="en-US" dirty="0"/>
              <a:t> 第</a:t>
            </a:r>
            <a:r>
              <a:rPr kumimoji="1" lang="en-US" altLang="zh-CN" dirty="0"/>
              <a:t>n</a:t>
            </a:r>
            <a:r>
              <a:rPr kumimoji="1" lang="zh-CN" altLang="en-US" dirty="0"/>
              <a:t>个</a:t>
            </a:r>
            <a:r>
              <a:rPr kumimoji="1" lang="en-US" altLang="zh-CN" dirty="0"/>
              <a:t>CPU</a:t>
            </a:r>
            <a:r>
              <a:rPr kumimoji="1" lang="zh-CN" altLang="en-US" dirty="0"/>
              <a:t>执行时间的实际长度</a:t>
            </a:r>
            <a:endParaRPr kumimoji="1" lang="en-US" altLang="zh-CN" dirty="0"/>
          </a:p>
          <a:p>
            <a:pPr lvl="1"/>
            <a:r>
              <a:rPr kumimoji="1" lang="en-US" altLang="zh-CN" dirty="0"/>
              <a:t>2.τ</a:t>
            </a:r>
            <a:r>
              <a:rPr kumimoji="1" lang="en-US" altLang="zh-CN" baseline="-25000" dirty="0"/>
              <a:t>n+1</a:t>
            </a:r>
            <a:r>
              <a:rPr kumimoji="1" lang="en-US" altLang="zh-CN" dirty="0"/>
              <a:t>=</a:t>
            </a:r>
            <a:r>
              <a:rPr kumimoji="1" lang="zh-CN" altLang="en-US" dirty="0"/>
              <a:t> 下一个</a:t>
            </a:r>
            <a:r>
              <a:rPr kumimoji="1" lang="en-US" altLang="zh-CN" dirty="0"/>
              <a:t>CPU</a:t>
            </a:r>
            <a:r>
              <a:rPr kumimoji="1" lang="zh-CN" altLang="en-US" dirty="0"/>
              <a:t>执行时长的预测值</a:t>
            </a:r>
            <a:endParaRPr kumimoji="1" lang="en-US" altLang="zh-CN" dirty="0"/>
          </a:p>
          <a:p>
            <a:pPr lvl="1"/>
            <a:r>
              <a:rPr kumimoji="1" lang="en-US" altLang="zh-CN" dirty="0"/>
              <a:t>3.</a:t>
            </a:r>
            <a:r>
              <a:rPr kumimoji="1" lang="el-GR" altLang="zh-CN" dirty="0"/>
              <a:t> α</a:t>
            </a:r>
            <a:r>
              <a:rPr kumimoji="1" lang="en-US" altLang="zh-CN" dirty="0"/>
              <a:t>,</a:t>
            </a:r>
            <a:r>
              <a:rPr kumimoji="1" lang="zh-CN" altLang="en-US" dirty="0"/>
              <a:t> </a:t>
            </a:r>
            <a:r>
              <a:rPr kumimoji="1" lang="en-US" altLang="zh-CN" dirty="0"/>
              <a:t>0</a:t>
            </a:r>
            <a:r>
              <a:rPr kumimoji="1" lang="zh-CN" altLang="en-US" dirty="0"/>
              <a:t> ≤</a:t>
            </a:r>
            <a:r>
              <a:rPr kumimoji="1" lang="el-GR" altLang="zh-CN" dirty="0"/>
              <a:t> α</a:t>
            </a:r>
            <a:r>
              <a:rPr kumimoji="1" lang="zh-CN" altLang="en-US" dirty="0"/>
              <a:t> ≤ </a:t>
            </a:r>
            <a:r>
              <a:rPr kumimoji="1" lang="en-US" altLang="zh-CN" dirty="0"/>
              <a:t>1</a:t>
            </a:r>
            <a:endParaRPr kumimoji="1" lang="zh-CN" altLang="en-US" dirty="0"/>
          </a:p>
          <a:p>
            <a:pPr lvl="1"/>
            <a:r>
              <a:rPr kumimoji="1" lang="en-US" altLang="zh-CN" dirty="0"/>
              <a:t>4.τ</a:t>
            </a:r>
            <a:r>
              <a:rPr kumimoji="1" lang="en-US" altLang="zh-CN" baseline="-25000" dirty="0"/>
              <a:t>n+1</a:t>
            </a:r>
            <a:r>
              <a:rPr kumimoji="1" lang="en-US" altLang="zh-CN" dirty="0"/>
              <a:t>=α</a:t>
            </a:r>
            <a:r>
              <a:rPr kumimoji="1" lang="en-US" altLang="zh-CN" dirty="0" err="1"/>
              <a:t>t</a:t>
            </a:r>
            <a:r>
              <a:rPr kumimoji="1" lang="en-US" altLang="zh-CN" baseline="-25000" dirty="0" err="1"/>
              <a:t>n</a:t>
            </a:r>
            <a:r>
              <a:rPr kumimoji="1" lang="en-US" altLang="zh-CN" dirty="0"/>
              <a:t>+(1-α)</a:t>
            </a:r>
            <a:r>
              <a:rPr kumimoji="1" lang="en-US" altLang="zh-CN" dirty="0" err="1"/>
              <a:t>τ</a:t>
            </a:r>
            <a:r>
              <a:rPr kumimoji="1" lang="en-US" altLang="zh-CN" baseline="-25000" dirty="0" err="1"/>
              <a:t>n</a:t>
            </a:r>
            <a:endParaRPr kumimoji="1" lang="zh-CN" altLang="en-US" baseline="-25000" dirty="0"/>
          </a:p>
          <a:p>
            <a:pPr marL="300023" lvl="1" indent="0">
              <a:buNone/>
            </a:pPr>
            <a:r>
              <a:rPr kumimoji="1" lang="zh-CN" altLang="en-US" dirty="0"/>
              <a:t>      通常，</a:t>
            </a:r>
            <a:r>
              <a:rPr kumimoji="1" lang="el-GR" altLang="zh-CN" dirty="0"/>
              <a:t>α</a:t>
            </a:r>
            <a:r>
              <a:rPr kumimoji="1" lang="zh-CN" altLang="en-US" dirty="0"/>
              <a:t>设置为</a:t>
            </a:r>
            <a:r>
              <a:rPr kumimoji="1" lang="en-US" altLang="zh-CN" dirty="0"/>
              <a:t>½</a:t>
            </a:r>
            <a:endParaRPr kumimoji="1" lang="zh-CN" altLang="en-US" dirty="0"/>
          </a:p>
        </p:txBody>
      </p:sp>
      <p:sp>
        <p:nvSpPr>
          <p:cNvPr id="4" name="灯片编号占位符 3">
            <a:extLst>
              <a:ext uri="{FF2B5EF4-FFF2-40B4-BE49-F238E27FC236}">
                <a16:creationId xmlns:a16="http://schemas.microsoft.com/office/drawing/2014/main" id="{952B7855-7235-81BA-0C6B-F2D7F8C1D9D2}"/>
              </a:ext>
            </a:extLst>
          </p:cNvPr>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Tree>
    <p:extLst>
      <p:ext uri="{BB962C8B-B14F-4D97-AF65-F5344CB8AC3E}">
        <p14:creationId xmlns:p14="http://schemas.microsoft.com/office/powerpoint/2010/main" val="1149790573"/>
      </p:ext>
    </p:extLst>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F2E93B-308E-E760-7B8F-AD42E8FE2E94}"/>
              </a:ext>
            </a:extLst>
          </p:cNvPr>
          <p:cNvSpPr>
            <a:spLocks noGrp="1"/>
          </p:cNvSpPr>
          <p:nvPr>
            <p:ph type="title"/>
          </p:nvPr>
        </p:nvSpPr>
        <p:spPr/>
        <p:txBody>
          <a:bodyPr/>
          <a:lstStyle/>
          <a:p>
            <a:r>
              <a:rPr lang="zh-CN" altLang="en-US" dirty="0"/>
              <a:t>预测后续</a:t>
            </a:r>
            <a:r>
              <a:rPr lang="en-US" altLang="zh-CN" dirty="0"/>
              <a:t>CPU</a:t>
            </a:r>
            <a:r>
              <a:rPr lang="zh-CN" altLang="en-US" dirty="0"/>
              <a:t>执行时长</a:t>
            </a:r>
          </a:p>
        </p:txBody>
      </p:sp>
      <p:sp>
        <p:nvSpPr>
          <p:cNvPr id="4" name="灯片编号占位符 3">
            <a:extLst>
              <a:ext uri="{FF2B5EF4-FFF2-40B4-BE49-F238E27FC236}">
                <a16:creationId xmlns:a16="http://schemas.microsoft.com/office/drawing/2014/main" id="{FA23F7BC-B56E-5516-A320-74756EFA9822}"/>
              </a:ext>
            </a:extLst>
          </p:cNvPr>
          <p:cNvSpPr>
            <a:spLocks noGrp="1"/>
          </p:cNvSpPr>
          <p:nvPr>
            <p:ph type="sldNum" sz="quarter" idx="12"/>
          </p:nvPr>
        </p:nvSpPr>
        <p:spPr/>
        <p:txBody>
          <a:bodyPr/>
          <a:lstStyle/>
          <a:p>
            <a:fld id="{4093CC90-4002-504C-BD88-C9A1D374048E}" type="slidenum">
              <a:rPr lang="zh-CN" altLang="en-US" smtClean="0"/>
              <a:pPr/>
              <a:t>21</a:t>
            </a:fld>
            <a:endParaRPr lang="zh-CN" altLang="en-US" dirty="0"/>
          </a:p>
        </p:txBody>
      </p:sp>
      <p:pic>
        <p:nvPicPr>
          <p:cNvPr id="11" name="Picture 2">
            <a:extLst>
              <a:ext uri="{FF2B5EF4-FFF2-40B4-BE49-F238E27FC236}">
                <a16:creationId xmlns:a16="http://schemas.microsoft.com/office/drawing/2014/main" id="{5D5B45DC-047F-F6A1-7090-5C1F5BBEC9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30700" y="1442970"/>
            <a:ext cx="5882599" cy="426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0506916"/>
      </p:ext>
    </p:extLst>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2A198-F4D8-FEF5-EC24-6C386C0186BD}"/>
              </a:ext>
            </a:extLst>
          </p:cNvPr>
          <p:cNvSpPr>
            <a:spLocks noGrp="1"/>
          </p:cNvSpPr>
          <p:nvPr>
            <p:ph type="title"/>
          </p:nvPr>
        </p:nvSpPr>
        <p:spPr>
          <a:xfrm>
            <a:off x="1042988" y="225431"/>
            <a:ext cx="7850187" cy="746125"/>
          </a:xfrm>
        </p:spPr>
        <p:txBody>
          <a:bodyPr/>
          <a:lstStyle/>
          <a:p>
            <a:r>
              <a:rPr lang="zh-CN" altLang="en-US" dirty="0"/>
              <a:t>指数平均法示例</a:t>
            </a:r>
          </a:p>
        </p:txBody>
      </p:sp>
      <p:sp>
        <p:nvSpPr>
          <p:cNvPr id="3" name="内容占位符 2">
            <a:extLst>
              <a:ext uri="{FF2B5EF4-FFF2-40B4-BE49-F238E27FC236}">
                <a16:creationId xmlns:a16="http://schemas.microsoft.com/office/drawing/2014/main" id="{27106925-A14F-5055-AC4D-578985B0DCE7}"/>
              </a:ext>
            </a:extLst>
          </p:cNvPr>
          <p:cNvSpPr>
            <a:spLocks noGrp="1"/>
          </p:cNvSpPr>
          <p:nvPr>
            <p:ph idx="1"/>
          </p:nvPr>
        </p:nvSpPr>
        <p:spPr>
          <a:xfrm>
            <a:off x="935038" y="1233488"/>
            <a:ext cx="7772400" cy="4817116"/>
          </a:xfrm>
        </p:spPr>
        <p:txBody>
          <a:bodyPr>
            <a:normAutofit fontScale="77500" lnSpcReduction="20000"/>
          </a:bodyPr>
          <a:lstStyle/>
          <a:p>
            <a:pPr>
              <a:lnSpc>
                <a:spcPct val="120000"/>
              </a:lnSpc>
            </a:pPr>
            <a:r>
              <a:rPr lang="en-US" altLang="en-US" dirty="0">
                <a:sym typeface="Symbol" panose="05050102010706020507" pitchFamily="18" charset="2"/>
              </a:rPr>
              <a:t> =0</a:t>
            </a:r>
          </a:p>
          <a:p>
            <a:pPr lvl="1">
              <a:lnSpc>
                <a:spcPct val="120000"/>
              </a:lnSpc>
            </a:pPr>
            <a:r>
              <a:rPr lang="en-US" altLang="en-US" dirty="0">
                <a:sym typeface="Symbol" panose="05050102010706020507" pitchFamily="18" charset="2"/>
              </a:rPr>
              <a:t></a:t>
            </a:r>
            <a:r>
              <a:rPr lang="en-US" altLang="en-US" baseline="-25000" dirty="0">
                <a:sym typeface="Symbol" panose="05050102010706020507" pitchFamily="18" charset="2"/>
              </a:rPr>
              <a:t>n+1 </a:t>
            </a:r>
            <a:r>
              <a:rPr lang="en-US" altLang="en-US" dirty="0">
                <a:sym typeface="Symbol" panose="05050102010706020507" pitchFamily="18" charset="2"/>
              </a:rPr>
              <a:t>= </a:t>
            </a:r>
            <a:r>
              <a:rPr lang="en-US" altLang="en-US" baseline="-25000" dirty="0">
                <a:sym typeface="Symbol" panose="05050102010706020507" pitchFamily="18" charset="2"/>
              </a:rPr>
              <a:t>n</a:t>
            </a:r>
          </a:p>
          <a:p>
            <a:pPr lvl="1">
              <a:lnSpc>
                <a:spcPct val="120000"/>
              </a:lnSpc>
            </a:pPr>
            <a:r>
              <a:rPr lang="en-US" altLang="en-US" dirty="0" err="1">
                <a:sym typeface="Symbol" panose="05050102010706020507" pitchFamily="18" charset="2"/>
              </a:rPr>
              <a:t>不考虑最近的历史情况</a:t>
            </a:r>
            <a:endParaRPr lang="en-US" altLang="en-US" dirty="0">
              <a:sym typeface="Symbol" panose="05050102010706020507" pitchFamily="18" charset="2"/>
            </a:endParaRPr>
          </a:p>
          <a:p>
            <a:pPr>
              <a:lnSpc>
                <a:spcPct val="120000"/>
              </a:lnSpc>
            </a:pPr>
            <a:r>
              <a:rPr lang="en-US" altLang="en-US" dirty="0">
                <a:sym typeface="Symbol" panose="05050102010706020507" pitchFamily="18" charset="2"/>
              </a:rPr>
              <a:t> =1</a:t>
            </a:r>
          </a:p>
          <a:p>
            <a:pPr lvl="1">
              <a:lnSpc>
                <a:spcPct val="12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120000"/>
              </a:lnSpc>
            </a:pPr>
            <a:r>
              <a:rPr lang="en-US" altLang="en-US" dirty="0" err="1">
                <a:sym typeface="Symbol" panose="05050102010706020507" pitchFamily="18" charset="2"/>
              </a:rPr>
              <a:t>只考虑实际最近的CPU执行时长</a:t>
            </a:r>
            <a:endParaRPr lang="en-US" altLang="en-US" dirty="0">
              <a:sym typeface="Symbol" panose="05050102010706020507" pitchFamily="18" charset="2"/>
            </a:endParaRPr>
          </a:p>
          <a:p>
            <a:pPr>
              <a:lnSpc>
                <a:spcPct val="120000"/>
              </a:lnSpc>
            </a:pPr>
            <a:r>
              <a:rPr lang="en-US" altLang="en-US" dirty="0" err="1">
                <a:sym typeface="Symbol" panose="05050102010706020507" pitchFamily="18" charset="2"/>
              </a:rPr>
              <a:t>将公式继续扩展</a:t>
            </a:r>
            <a:r>
              <a:rPr lang="zh-CN" altLang="en-US" dirty="0">
                <a:sym typeface="Symbol" panose="05050102010706020507" pitchFamily="18" charset="2"/>
              </a:rPr>
              <a:t>：</a:t>
            </a:r>
            <a:endParaRPr lang="en-US" altLang="en-US" dirty="0">
              <a:sym typeface="Symbol" panose="05050102010706020507" pitchFamily="18" charset="2"/>
            </a:endParaRPr>
          </a:p>
          <a:p>
            <a:pPr lvl="1">
              <a:lnSpc>
                <a:spcPct val="12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baseline="-25000" dirty="0" err="1">
                <a:sym typeface="Symbol" panose="05050102010706020507" pitchFamily="18" charset="2"/>
              </a:rPr>
              <a:t>n</a:t>
            </a:r>
            <a:r>
              <a:rPr lang="en-US" altLang="en-US" dirty="0">
                <a:sym typeface="Symbol" panose="05050102010706020507" pitchFamily="18" charset="2"/>
              </a:rPr>
              <a:t>+(1 - ) </a:t>
            </a:r>
            <a:r>
              <a:rPr lang="en-US" altLang="en-US" dirty="0" err="1">
                <a:sym typeface="Symbol" panose="05050102010706020507" pitchFamily="18" charset="2"/>
              </a:rPr>
              <a:t>t</a:t>
            </a:r>
            <a:r>
              <a:rPr lang="en-US" altLang="en-US" baseline="-25000" dirty="0" err="1">
                <a:sym typeface="Symbol" panose="05050102010706020507" pitchFamily="18" charset="2"/>
              </a:rPr>
              <a:t>n</a:t>
            </a:r>
            <a:r>
              <a:rPr lang="en-US" altLang="en-US" baseline="-25000" dirty="0">
                <a:sym typeface="Symbol" panose="05050102010706020507" pitchFamily="18" charset="2"/>
              </a:rPr>
              <a:t> -1 </a:t>
            </a:r>
            <a:r>
              <a:rPr lang="en-US" altLang="en-US" dirty="0">
                <a:sym typeface="Symbol" panose="05050102010706020507" pitchFamily="18" charset="2"/>
              </a:rPr>
              <a:t>+ …</a:t>
            </a:r>
          </a:p>
          <a:p>
            <a:pPr marL="685765" lvl="2" indent="0">
              <a:lnSpc>
                <a:spcPct val="120000"/>
              </a:lnSpc>
              <a:buNone/>
            </a:pPr>
            <a:r>
              <a:rPr lang="en-US" altLang="en-US" sz="2600" dirty="0">
                <a:sym typeface="Symbol" panose="05050102010706020507" pitchFamily="18" charset="2"/>
              </a:rPr>
              <a:t>            +(1 -  )</a:t>
            </a:r>
            <a:r>
              <a:rPr lang="en-US" altLang="en-US" sz="2600" baseline="30000" dirty="0">
                <a:sym typeface="Symbol" panose="05050102010706020507" pitchFamily="18" charset="2"/>
              </a:rPr>
              <a:t>j </a:t>
            </a:r>
            <a:r>
              <a:rPr lang="en-US" altLang="en-US" sz="2600" dirty="0">
                <a:sym typeface="Symbol" panose="05050102010706020507" pitchFamily="18" charset="2"/>
              </a:rPr>
              <a:t> </a:t>
            </a:r>
            <a:r>
              <a:rPr lang="en-US" altLang="en-US" sz="2600" dirty="0" err="1">
                <a:sym typeface="Symbol" panose="05050102010706020507" pitchFamily="18" charset="2"/>
              </a:rPr>
              <a:t>t</a:t>
            </a:r>
            <a:r>
              <a:rPr lang="en-US" altLang="en-US" sz="2600" baseline="-25000" dirty="0" err="1">
                <a:sym typeface="Symbol" panose="05050102010706020507" pitchFamily="18" charset="2"/>
              </a:rPr>
              <a:t>n</a:t>
            </a:r>
            <a:r>
              <a:rPr lang="en-US" altLang="en-US" sz="2600" baseline="-25000" dirty="0">
                <a:sym typeface="Symbol" panose="05050102010706020507" pitchFamily="18" charset="2"/>
              </a:rPr>
              <a:t> -j</a:t>
            </a:r>
            <a:r>
              <a:rPr lang="en-US" altLang="en-US" sz="2600" dirty="0">
                <a:sym typeface="Symbol" panose="05050102010706020507" pitchFamily="18" charset="2"/>
              </a:rPr>
              <a:t> + …</a:t>
            </a:r>
          </a:p>
          <a:p>
            <a:pPr marL="685765" lvl="2" indent="0">
              <a:lnSpc>
                <a:spcPct val="120000"/>
              </a:lnSpc>
              <a:buNone/>
            </a:pPr>
            <a:r>
              <a:rPr lang="en-US" altLang="en-US" sz="2600" dirty="0">
                <a:sym typeface="Symbol" panose="05050102010706020507" pitchFamily="18" charset="2"/>
              </a:rPr>
              <a:t>            +(1 -  )</a:t>
            </a:r>
            <a:r>
              <a:rPr lang="en-US" altLang="en-US" sz="2600" baseline="30000" dirty="0">
                <a:sym typeface="Symbol" panose="05050102010706020507" pitchFamily="18" charset="2"/>
              </a:rPr>
              <a:t>n +1 </a:t>
            </a:r>
            <a:r>
              <a:rPr lang="en-US" altLang="en-US" sz="2600" dirty="0">
                <a:sym typeface="Symbol" panose="05050102010706020507" pitchFamily="18" charset="2"/>
              </a:rPr>
              <a:t></a:t>
            </a:r>
            <a:r>
              <a:rPr lang="en-US" altLang="en-US" sz="2600" baseline="-25000" dirty="0">
                <a:sym typeface="Symbol" panose="05050102010706020507" pitchFamily="18" charset="2"/>
              </a:rPr>
              <a:t>0</a:t>
            </a:r>
            <a:endParaRPr lang="en-US" altLang="en-US" dirty="0">
              <a:sym typeface="Symbol" panose="05050102010706020507" pitchFamily="18" charset="2"/>
            </a:endParaRPr>
          </a:p>
          <a:p>
            <a:pPr>
              <a:lnSpc>
                <a:spcPct val="120000"/>
              </a:lnSpc>
            </a:pPr>
            <a:r>
              <a:rPr lang="en-US" altLang="en-US" dirty="0" err="1">
                <a:sym typeface="Symbol" panose="05050102010706020507" pitchFamily="18" charset="2"/>
              </a:rPr>
              <a:t>由于</a:t>
            </a:r>
            <a:r>
              <a:rPr lang="en-US" altLang="en-US" dirty="0">
                <a:sym typeface="Symbol" panose="05050102010706020507" pitchFamily="18" charset="2"/>
              </a:rPr>
              <a:t> </a:t>
            </a:r>
            <a:r>
              <a:rPr lang="en-US" altLang="en-US" dirty="0" err="1">
                <a:sym typeface="Symbol" panose="05050102010706020507" pitchFamily="18" charset="2"/>
              </a:rPr>
              <a:t>和</a:t>
            </a:r>
            <a:r>
              <a:rPr lang="en-US" altLang="en-US" dirty="0">
                <a:sym typeface="Symbol" panose="05050102010706020507" pitchFamily="18" charset="2"/>
              </a:rPr>
              <a:t> (1 - ) </a:t>
            </a:r>
            <a:r>
              <a:rPr lang="en-US" altLang="en-US" dirty="0" err="1">
                <a:sym typeface="Symbol" panose="05050102010706020507" pitchFamily="18" charset="2"/>
              </a:rPr>
              <a:t>都小于或等于</a:t>
            </a:r>
            <a:r>
              <a:rPr lang="zh-CN" altLang="en-US" dirty="0">
                <a:sym typeface="Symbol" panose="05050102010706020507" pitchFamily="18" charset="2"/>
              </a:rPr>
              <a:t> </a:t>
            </a:r>
            <a:r>
              <a:rPr lang="en-US" altLang="en-US" dirty="0">
                <a:sym typeface="Symbol" panose="05050102010706020507" pitchFamily="18" charset="2"/>
              </a:rPr>
              <a:t>1</a:t>
            </a:r>
            <a:r>
              <a:rPr lang="zh-CN" altLang="en-US" dirty="0">
                <a:sym typeface="Symbol" panose="05050102010706020507" pitchFamily="18" charset="2"/>
              </a:rPr>
              <a:t>，因此每个后续项的权重都比其前任小</a:t>
            </a:r>
            <a:endParaRPr lang="en-US" altLang="en-US" dirty="0">
              <a:sym typeface="Symbol" panose="05050102010706020507" pitchFamily="18" charset="2"/>
            </a:endParaRPr>
          </a:p>
        </p:txBody>
      </p:sp>
      <p:sp>
        <p:nvSpPr>
          <p:cNvPr id="4" name="灯片编号占位符 3">
            <a:extLst>
              <a:ext uri="{FF2B5EF4-FFF2-40B4-BE49-F238E27FC236}">
                <a16:creationId xmlns:a16="http://schemas.microsoft.com/office/drawing/2014/main" id="{C4968ED4-A9FC-4AF1-9F79-0AB103570FE2}"/>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22</a:t>
            </a:fld>
            <a:endParaRPr lang="zh-CN" altLang="en-US" dirty="0"/>
          </a:p>
        </p:txBody>
      </p:sp>
    </p:spTree>
    <p:extLst>
      <p:ext uri="{BB962C8B-B14F-4D97-AF65-F5344CB8AC3E}">
        <p14:creationId xmlns:p14="http://schemas.microsoft.com/office/powerpoint/2010/main" val="2490187085"/>
      </p:ext>
    </p:extLst>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6FFB3-A440-F293-EEAA-2EFD5145DAF4}"/>
              </a:ext>
            </a:extLst>
          </p:cNvPr>
          <p:cNvSpPr>
            <a:spLocks noGrp="1"/>
          </p:cNvSpPr>
          <p:nvPr>
            <p:ph type="title"/>
          </p:nvPr>
        </p:nvSpPr>
        <p:spPr/>
        <p:txBody>
          <a:bodyPr/>
          <a:lstStyle/>
          <a:p>
            <a:r>
              <a:rPr kumimoji="1" lang="en-US" altLang="zh-CN" dirty="0"/>
              <a:t>SJF</a:t>
            </a:r>
            <a:r>
              <a:rPr kumimoji="1" lang="zh-CN" altLang="en-US" dirty="0"/>
              <a:t>示例</a:t>
            </a:r>
          </a:p>
        </p:txBody>
      </p:sp>
      <p:sp>
        <p:nvSpPr>
          <p:cNvPr id="3" name="内容占位符 2">
            <a:extLst>
              <a:ext uri="{FF2B5EF4-FFF2-40B4-BE49-F238E27FC236}">
                <a16:creationId xmlns:a16="http://schemas.microsoft.com/office/drawing/2014/main" id="{9B6E4C4B-9788-C5A9-94ED-6F63599D3853}"/>
              </a:ext>
            </a:extLst>
          </p:cNvPr>
          <p:cNvSpPr>
            <a:spLocks noGrp="1"/>
          </p:cNvSpPr>
          <p:nvPr>
            <p:ph idx="1"/>
          </p:nvPr>
        </p:nvSpPr>
        <p:spPr/>
        <p:txBody>
          <a:bodyPr>
            <a:normAutofit fontScale="77500" lnSpcReduction="20000"/>
          </a:bodyPr>
          <a:lstStyle/>
          <a:p>
            <a:pPr>
              <a:buFont typeface="Monotype Sorts" pitchFamily="-84" charset="2"/>
              <a:buNone/>
              <a:tabLst>
                <a:tab pos="1600200" algn="ctr"/>
                <a:tab pos="3251200" algn="ctr"/>
                <a:tab pos="5140325" algn="ctr"/>
              </a:tabLst>
            </a:pPr>
            <a:r>
              <a:rPr lang="en-US" altLang="en-US" dirty="0"/>
              <a:t> </a:t>
            </a:r>
            <a:r>
              <a:rPr lang="zh-CN" altLang="en-US" dirty="0"/>
              <a:t>                   </a:t>
            </a:r>
            <a:r>
              <a:rPr lang="en-US" altLang="en-US" u="sng" dirty="0" err="1"/>
              <a:t>Process</a:t>
            </a:r>
            <a:r>
              <a:rPr lang="en-US" altLang="en-US" u="sng" dirty="0" err="1">
                <a:solidFill>
                  <a:schemeClr val="bg1"/>
                </a:solidFill>
              </a:rPr>
              <a:t>ArrTime</a:t>
            </a:r>
            <a:r>
              <a:rPr lang="en-US" altLang="en-US" dirty="0"/>
              <a:t>	</a:t>
            </a:r>
            <a:r>
              <a:rPr lang="en-US" altLang="en-US" u="sng" dirty="0"/>
              <a:t>Burst Time</a:t>
            </a:r>
            <a:endParaRPr lang="en-US" altLang="en-US" dirty="0"/>
          </a:p>
          <a:p>
            <a:pPr>
              <a:buFont typeface="Monotype Sorts" pitchFamily="-84" charset="2"/>
              <a:buNone/>
              <a:tabLst>
                <a:tab pos="1600200" algn="ctr"/>
                <a:tab pos="3251200" algn="ctr"/>
                <a:tab pos="5140325" algn="ctr"/>
              </a:tabLst>
            </a:pPr>
            <a:r>
              <a:rPr lang="en-US" altLang="en-US" dirty="0"/>
              <a:t>		             P</a:t>
            </a:r>
            <a:r>
              <a:rPr lang="en-US" altLang="en-US" baseline="-25000" dirty="0"/>
              <a:t>1</a:t>
            </a:r>
            <a:r>
              <a:rPr lang="en-US" altLang="en-US" dirty="0"/>
              <a:t>	</a:t>
            </a:r>
            <a:r>
              <a:rPr lang="en-US" altLang="en-US" dirty="0">
                <a:solidFill>
                  <a:schemeClr val="bg1"/>
                </a:solidFill>
              </a:rPr>
              <a:t>0.0</a:t>
            </a:r>
            <a:r>
              <a:rPr lang="en-US" altLang="en-US" dirty="0"/>
              <a:t>	6</a:t>
            </a:r>
          </a:p>
          <a:p>
            <a:pPr>
              <a:buFont typeface="Monotype Sorts" pitchFamily="-84" charset="2"/>
              <a:buNone/>
              <a:tabLst>
                <a:tab pos="1600200" algn="ctr"/>
                <a:tab pos="3251200" algn="ctr"/>
                <a:tab pos="5140325" algn="ctr"/>
              </a:tabLst>
            </a:pPr>
            <a:r>
              <a:rPr lang="en-US" altLang="en-US" dirty="0"/>
              <a:t>		            P</a:t>
            </a:r>
            <a:r>
              <a:rPr lang="en-US" altLang="en-US" baseline="-25000" dirty="0"/>
              <a:t>2 	</a:t>
            </a:r>
            <a:r>
              <a:rPr lang="en-US" altLang="en-US" dirty="0">
                <a:solidFill>
                  <a:schemeClr val="bg1"/>
                </a:solidFill>
              </a:rPr>
              <a:t>2.0</a:t>
            </a:r>
            <a:r>
              <a:rPr lang="en-US" altLang="en-US" dirty="0"/>
              <a:t>	8</a:t>
            </a:r>
          </a:p>
          <a:p>
            <a:pPr>
              <a:buFont typeface="Monotype Sorts" pitchFamily="-84" charset="2"/>
              <a:buNone/>
              <a:tabLst>
                <a:tab pos="1600200" algn="ctr"/>
                <a:tab pos="3251200" algn="ctr"/>
                <a:tab pos="5140325" algn="ctr"/>
              </a:tabLst>
            </a:pPr>
            <a:r>
              <a:rPr lang="en-US" altLang="en-US" dirty="0"/>
              <a:t>		            P</a:t>
            </a:r>
            <a:r>
              <a:rPr lang="en-US" altLang="en-US" baseline="-25000" dirty="0"/>
              <a:t>3</a:t>
            </a:r>
            <a:r>
              <a:rPr lang="en-US" altLang="en-US" dirty="0"/>
              <a:t>	</a:t>
            </a:r>
            <a:r>
              <a:rPr lang="en-US" altLang="en-US" dirty="0">
                <a:solidFill>
                  <a:schemeClr val="bg1"/>
                </a:solidFill>
              </a:rPr>
              <a:t>4.0</a:t>
            </a:r>
            <a:r>
              <a:rPr lang="en-US" altLang="en-US" dirty="0"/>
              <a:t>	7</a:t>
            </a:r>
          </a:p>
          <a:p>
            <a:pPr>
              <a:buFont typeface="Monotype Sorts" pitchFamily="-84" charset="2"/>
              <a:buNone/>
              <a:tabLst>
                <a:tab pos="1600200" algn="ctr"/>
                <a:tab pos="3251200" algn="ctr"/>
                <a:tab pos="5140325" algn="ctr"/>
              </a:tabLst>
            </a:pPr>
            <a:r>
              <a:rPr lang="en-US" altLang="en-US" dirty="0"/>
              <a:t>		            P</a:t>
            </a:r>
            <a:r>
              <a:rPr lang="en-US" altLang="en-US" baseline="-25000" dirty="0"/>
              <a:t>4</a:t>
            </a:r>
            <a:r>
              <a:rPr lang="en-US" altLang="en-US" dirty="0"/>
              <a:t>	</a:t>
            </a:r>
            <a:r>
              <a:rPr lang="en-US" altLang="en-US" dirty="0">
                <a:solidFill>
                  <a:schemeClr val="bg1"/>
                </a:solidFill>
              </a:rPr>
              <a:t>5.0</a:t>
            </a:r>
            <a:r>
              <a:rPr lang="en-US" altLang="en-US" dirty="0"/>
              <a:t>	3</a:t>
            </a:r>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SJF </a:t>
            </a:r>
            <a:r>
              <a:rPr lang="en-US" altLang="en-US" dirty="0" err="1"/>
              <a:t>调度甘特图</a:t>
            </a: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(3 + 16 + 9 + 0) / 4 = 7</a:t>
            </a:r>
            <a:endParaRPr kumimoji="1" lang="zh-CN" altLang="en-US" dirty="0"/>
          </a:p>
        </p:txBody>
      </p:sp>
      <p:sp>
        <p:nvSpPr>
          <p:cNvPr id="4" name="灯片编号占位符 3">
            <a:extLst>
              <a:ext uri="{FF2B5EF4-FFF2-40B4-BE49-F238E27FC236}">
                <a16:creationId xmlns:a16="http://schemas.microsoft.com/office/drawing/2014/main" id="{409CD596-6F38-39EB-046F-57AF62B8ADA1}"/>
              </a:ext>
            </a:extLst>
          </p:cNvPr>
          <p:cNvSpPr>
            <a:spLocks noGrp="1"/>
          </p:cNvSpPr>
          <p:nvPr>
            <p:ph type="sldNum" sz="quarter" idx="12"/>
          </p:nvPr>
        </p:nvSpPr>
        <p:spPr/>
        <p:txBody>
          <a:bodyPr/>
          <a:lstStyle/>
          <a:p>
            <a:fld id="{4093CC90-4002-504C-BD88-C9A1D374048E}" type="slidenum">
              <a:rPr lang="zh-CN" altLang="en-US" smtClean="0"/>
              <a:pPr/>
              <a:t>23</a:t>
            </a:fld>
            <a:endParaRPr lang="zh-CN" altLang="en-US" dirty="0"/>
          </a:p>
        </p:txBody>
      </p:sp>
      <p:pic>
        <p:nvPicPr>
          <p:cNvPr id="5" name="Picture 1">
            <a:extLst>
              <a:ext uri="{FF2B5EF4-FFF2-40B4-BE49-F238E27FC236}">
                <a16:creationId xmlns:a16="http://schemas.microsoft.com/office/drawing/2014/main" id="{A1F32582-67E2-0AA1-4EA4-179A3955532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7735" y="4251797"/>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598030"/>
      </p:ext>
    </p:extLst>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16D75-8C49-A966-3C20-967ADC3545D6}"/>
              </a:ext>
            </a:extLst>
          </p:cNvPr>
          <p:cNvSpPr>
            <a:spLocks noGrp="1"/>
          </p:cNvSpPr>
          <p:nvPr>
            <p:ph type="title"/>
          </p:nvPr>
        </p:nvSpPr>
        <p:spPr/>
        <p:txBody>
          <a:bodyPr/>
          <a:lstStyle/>
          <a:p>
            <a:r>
              <a:rPr kumimoji="1" lang="zh-CN" altLang="en-US" dirty="0"/>
              <a:t>最短剩余时间优先</a:t>
            </a:r>
            <a:r>
              <a:rPr kumimoji="1" lang="en-US" altLang="zh-CN" dirty="0"/>
              <a:t>SRT</a:t>
            </a:r>
            <a:r>
              <a:rPr kumimoji="1" lang="zh-CN" altLang="en-US" dirty="0"/>
              <a:t>调度</a:t>
            </a:r>
          </a:p>
        </p:txBody>
      </p:sp>
      <p:sp>
        <p:nvSpPr>
          <p:cNvPr id="3" name="内容占位符 2">
            <a:extLst>
              <a:ext uri="{FF2B5EF4-FFF2-40B4-BE49-F238E27FC236}">
                <a16:creationId xmlns:a16="http://schemas.microsoft.com/office/drawing/2014/main" id="{73629663-456B-2238-3455-A9AC7CF6A62B}"/>
              </a:ext>
            </a:extLst>
          </p:cNvPr>
          <p:cNvSpPr>
            <a:spLocks noGrp="1"/>
          </p:cNvSpPr>
          <p:nvPr>
            <p:ph idx="1"/>
          </p:nvPr>
        </p:nvSpPr>
        <p:spPr/>
        <p:txBody>
          <a:bodyPr/>
          <a:lstStyle/>
          <a:p>
            <a:r>
              <a:rPr kumimoji="1" lang="zh-CN" altLang="en" dirty="0"/>
              <a:t>是</a:t>
            </a:r>
            <a:r>
              <a:rPr kumimoji="1" lang="en" altLang="zh-CN" dirty="0"/>
              <a:t>SJF</a:t>
            </a:r>
            <a:r>
              <a:rPr kumimoji="1" lang="zh-CN" altLang="en-US" dirty="0"/>
              <a:t>抢占式的版本</a:t>
            </a:r>
          </a:p>
          <a:p>
            <a:r>
              <a:rPr kumimoji="1" lang="zh-CN" altLang="en-US" dirty="0"/>
              <a:t>每当新进程到达就绪队列时，利用</a:t>
            </a:r>
            <a:r>
              <a:rPr kumimoji="1" lang="en" altLang="zh-CN" dirty="0"/>
              <a:t>SJF</a:t>
            </a:r>
            <a:r>
              <a:rPr kumimoji="1" lang="zh-CN" altLang="en-US" dirty="0"/>
              <a:t>算法重新决定下一个要调度的进程</a:t>
            </a:r>
          </a:p>
          <a:p>
            <a:r>
              <a:rPr kumimoji="1" lang="zh-CN" altLang="en-US" dirty="0"/>
              <a:t>对于给定的一组进程，</a:t>
            </a:r>
            <a:r>
              <a:rPr kumimoji="1" lang="en" altLang="zh-CN" dirty="0"/>
              <a:t>SRT</a:t>
            </a:r>
            <a:r>
              <a:rPr kumimoji="1" lang="zh-CN" altLang="en-US" dirty="0"/>
              <a:t>在平均最小等待时间方面是否比</a:t>
            </a:r>
            <a:r>
              <a:rPr kumimoji="1" lang="en" altLang="zh-CN" dirty="0"/>
              <a:t>SJF</a:t>
            </a:r>
            <a:r>
              <a:rPr kumimoji="1" lang="zh-CN" altLang="en-US" dirty="0"/>
              <a:t>更“优”？</a:t>
            </a:r>
          </a:p>
        </p:txBody>
      </p:sp>
      <p:sp>
        <p:nvSpPr>
          <p:cNvPr id="4" name="灯片编号占位符 3">
            <a:extLst>
              <a:ext uri="{FF2B5EF4-FFF2-40B4-BE49-F238E27FC236}">
                <a16:creationId xmlns:a16="http://schemas.microsoft.com/office/drawing/2014/main" id="{204BB560-8802-57CF-3C83-41C76CB56611}"/>
              </a:ext>
            </a:extLst>
          </p:cNvPr>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extLst>
      <p:ext uri="{BB962C8B-B14F-4D97-AF65-F5344CB8AC3E}">
        <p14:creationId xmlns:p14="http://schemas.microsoft.com/office/powerpoint/2010/main" val="2312444216"/>
      </p:ext>
    </p:extLst>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6EE52-633C-BA17-B0AC-F1D9EAC18BD1}"/>
              </a:ext>
            </a:extLst>
          </p:cNvPr>
          <p:cNvSpPr>
            <a:spLocks noGrp="1"/>
          </p:cNvSpPr>
          <p:nvPr>
            <p:ph type="title"/>
          </p:nvPr>
        </p:nvSpPr>
        <p:spPr>
          <a:xfrm>
            <a:off x="1042988" y="225431"/>
            <a:ext cx="7850187" cy="746125"/>
          </a:xfrm>
        </p:spPr>
        <p:txBody>
          <a:bodyPr/>
          <a:lstStyle/>
          <a:p>
            <a:r>
              <a:rPr lang="zh-CN" altLang="en-US" dirty="0"/>
              <a:t>抢占式</a:t>
            </a:r>
            <a:r>
              <a:rPr lang="en-US" altLang="zh-CN" dirty="0"/>
              <a:t>SJF</a:t>
            </a:r>
            <a:r>
              <a:rPr lang="zh-CN" altLang="en-US" dirty="0"/>
              <a:t>示例</a:t>
            </a:r>
          </a:p>
        </p:txBody>
      </p:sp>
      <p:sp>
        <p:nvSpPr>
          <p:cNvPr id="3" name="内容占位符 2">
            <a:extLst>
              <a:ext uri="{FF2B5EF4-FFF2-40B4-BE49-F238E27FC236}">
                <a16:creationId xmlns:a16="http://schemas.microsoft.com/office/drawing/2014/main" id="{50227E08-B3FD-EE7C-9336-6208477C2A36}"/>
              </a:ext>
            </a:extLst>
          </p:cNvPr>
          <p:cNvSpPr>
            <a:spLocks noGrp="1"/>
          </p:cNvSpPr>
          <p:nvPr>
            <p:ph idx="1"/>
          </p:nvPr>
        </p:nvSpPr>
        <p:spPr>
          <a:xfrm>
            <a:off x="935037" y="1233488"/>
            <a:ext cx="7958137" cy="4895850"/>
          </a:xfrm>
        </p:spPr>
        <p:txBody>
          <a:bodyPr>
            <a:normAutofit fontScale="77500" lnSpcReduction="20000"/>
          </a:bodyPr>
          <a:lstStyle/>
          <a:p>
            <a:r>
              <a:rPr lang="en-US" altLang="en-US" dirty="0" err="1"/>
              <a:t>考虑进程的到达时间</a:t>
            </a:r>
            <a:r>
              <a:rPr lang="zh-CN" altLang="en-US" dirty="0"/>
              <a:t>，且允许抢占</a:t>
            </a:r>
            <a:endParaRPr lang="en-US" altLang="en-US" dirty="0"/>
          </a:p>
          <a:p>
            <a:pPr marL="0" indent="0">
              <a:buNone/>
            </a:pPr>
            <a:r>
              <a:rPr lang="zh-CN" altLang="en-US" dirty="0"/>
              <a:t>                  </a:t>
            </a:r>
            <a:r>
              <a:rPr lang="en-US" altLang="en-US" u="sng" dirty="0"/>
              <a:t>Process</a:t>
            </a:r>
            <a:r>
              <a:rPr lang="zh-CN" altLang="en-US" u="sng" dirty="0"/>
              <a:t> </a:t>
            </a:r>
            <a:r>
              <a:rPr lang="zh-CN" altLang="en-US" dirty="0"/>
              <a:t> </a:t>
            </a:r>
            <a:r>
              <a:rPr lang="en-US" altLang="zh-CN" u="sng" dirty="0" err="1"/>
              <a:t>ArrivalTime</a:t>
            </a:r>
            <a:r>
              <a:rPr lang="en-US" altLang="en-US" dirty="0"/>
              <a:t>	</a:t>
            </a:r>
            <a:r>
              <a:rPr lang="en-US" altLang="en-US" u="sng" dirty="0"/>
              <a:t>Burst Time</a:t>
            </a:r>
          </a:p>
          <a:p>
            <a:pPr marL="0" indent="0">
              <a:buNone/>
            </a:pPr>
            <a:r>
              <a:rPr lang="en-US" altLang="en-US" dirty="0"/>
              <a:t>		 P</a:t>
            </a:r>
            <a:r>
              <a:rPr lang="en-US" altLang="en-US" baseline="-25000" dirty="0"/>
              <a:t>1</a:t>
            </a:r>
            <a:r>
              <a:rPr lang="en-US" altLang="en-US" dirty="0"/>
              <a:t>	</a:t>
            </a:r>
            <a:r>
              <a:rPr lang="zh-CN" altLang="en-US" dirty="0"/>
              <a:t>     </a:t>
            </a:r>
            <a:r>
              <a:rPr lang="en-US" altLang="en-US" dirty="0"/>
              <a:t>0		</a:t>
            </a:r>
            <a:r>
              <a:rPr lang="zh-CN" altLang="en-US" dirty="0"/>
              <a:t>  </a:t>
            </a:r>
            <a:r>
              <a:rPr lang="en-US" altLang="en-US" dirty="0"/>
              <a:t>8</a:t>
            </a:r>
          </a:p>
          <a:p>
            <a:pPr marL="0" indent="0">
              <a:buNone/>
            </a:pPr>
            <a:r>
              <a:rPr lang="en-US" altLang="en-US" dirty="0"/>
              <a:t>		 P</a:t>
            </a:r>
            <a:r>
              <a:rPr lang="en-US" altLang="en-US" baseline="-25000" dirty="0"/>
              <a:t>2</a:t>
            </a:r>
            <a:r>
              <a:rPr lang="en-US" altLang="en-US" dirty="0"/>
              <a:t> 	</a:t>
            </a:r>
            <a:r>
              <a:rPr lang="zh-CN" altLang="en-US" dirty="0"/>
              <a:t>     </a:t>
            </a:r>
            <a:r>
              <a:rPr lang="en-US" altLang="en-US" dirty="0"/>
              <a:t>1		</a:t>
            </a:r>
            <a:r>
              <a:rPr lang="zh-CN" altLang="en-US" dirty="0"/>
              <a:t>  </a:t>
            </a:r>
            <a:r>
              <a:rPr lang="en-US" altLang="en-US" dirty="0"/>
              <a:t>4</a:t>
            </a:r>
          </a:p>
          <a:p>
            <a:pPr marL="0" indent="0">
              <a:buNone/>
            </a:pPr>
            <a:r>
              <a:rPr lang="en-US" altLang="en-US" dirty="0"/>
              <a:t>		 P</a:t>
            </a:r>
            <a:r>
              <a:rPr lang="en-US" altLang="en-US" baseline="-25000" dirty="0"/>
              <a:t>3</a:t>
            </a:r>
            <a:r>
              <a:rPr lang="en-US" altLang="en-US" dirty="0"/>
              <a:t>	</a:t>
            </a:r>
            <a:r>
              <a:rPr lang="zh-CN" altLang="en-US" dirty="0"/>
              <a:t>     </a:t>
            </a:r>
            <a:r>
              <a:rPr lang="en-US" altLang="en-US" dirty="0"/>
              <a:t>2		</a:t>
            </a:r>
            <a:r>
              <a:rPr lang="zh-CN" altLang="en-US" dirty="0"/>
              <a:t>  </a:t>
            </a:r>
            <a:r>
              <a:rPr lang="en-US" altLang="en-US" dirty="0"/>
              <a:t>9</a:t>
            </a:r>
          </a:p>
          <a:p>
            <a:pPr marL="0" indent="0">
              <a:buNone/>
            </a:pPr>
            <a:r>
              <a:rPr lang="en-US" altLang="en-US" dirty="0"/>
              <a:t>		 P</a:t>
            </a:r>
            <a:r>
              <a:rPr lang="en-US" altLang="en-US" baseline="-25000" dirty="0"/>
              <a:t>4</a:t>
            </a:r>
            <a:r>
              <a:rPr lang="en-US" altLang="en-US" dirty="0"/>
              <a:t>	</a:t>
            </a:r>
            <a:r>
              <a:rPr lang="zh-CN" altLang="en-US" dirty="0"/>
              <a:t>     </a:t>
            </a:r>
            <a:r>
              <a:rPr lang="en-US" altLang="en-US" dirty="0"/>
              <a:t>3	</a:t>
            </a:r>
            <a:r>
              <a:rPr lang="zh-CN" altLang="en-US" dirty="0"/>
              <a:t> </a:t>
            </a:r>
            <a:r>
              <a:rPr lang="en-US" altLang="zh-CN" dirty="0"/>
              <a:t>	</a:t>
            </a:r>
            <a:r>
              <a:rPr lang="zh-CN" altLang="en-US" dirty="0"/>
              <a:t>  </a:t>
            </a:r>
            <a:r>
              <a:rPr lang="en-US" altLang="en-US" dirty="0"/>
              <a:t>5</a:t>
            </a:r>
          </a:p>
          <a:p>
            <a:r>
              <a:rPr lang="en-US" altLang="en-US" dirty="0" err="1"/>
              <a:t>抢占式</a:t>
            </a:r>
            <a:r>
              <a:rPr lang="en-US" altLang="en-US" dirty="0"/>
              <a:t> SJF </a:t>
            </a:r>
            <a:r>
              <a:rPr lang="en-US" altLang="en-US" dirty="0" err="1"/>
              <a:t>甘特图</a:t>
            </a:r>
            <a:endParaRPr lang="en-US" altLang="en-US" dirty="0"/>
          </a:p>
          <a:p>
            <a:endParaRPr lang="en-US" altLang="en-US" dirty="0"/>
          </a:p>
          <a:p>
            <a:endParaRPr lang="en-US" altLang="en-US" dirty="0"/>
          </a:p>
          <a:p>
            <a:endParaRPr lang="en-US" altLang="en-US" dirty="0"/>
          </a:p>
          <a:p>
            <a:r>
              <a:rPr lang="en-US" altLang="en-US" dirty="0" err="1"/>
              <a:t>平均等待时间</a:t>
            </a:r>
            <a:r>
              <a:rPr lang="en-US" altLang="en-US" dirty="0"/>
              <a:t>= [(10-1)+(1-1)+(17-2)+(5-3)]/4 = 26/4 = 6.5</a:t>
            </a:r>
          </a:p>
        </p:txBody>
      </p:sp>
      <p:sp>
        <p:nvSpPr>
          <p:cNvPr id="4" name="灯片编号占位符 3">
            <a:extLst>
              <a:ext uri="{FF2B5EF4-FFF2-40B4-BE49-F238E27FC236}">
                <a16:creationId xmlns:a16="http://schemas.microsoft.com/office/drawing/2014/main" id="{F070400B-A27A-CC85-4864-18BF87F9041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25</a:t>
            </a:fld>
            <a:endParaRPr lang="zh-CN" altLang="en-US" dirty="0"/>
          </a:p>
        </p:txBody>
      </p:sp>
      <p:pic>
        <p:nvPicPr>
          <p:cNvPr id="5" name="Picture 1">
            <a:extLst>
              <a:ext uri="{FF2B5EF4-FFF2-40B4-BE49-F238E27FC236}">
                <a16:creationId xmlns:a16="http://schemas.microsoft.com/office/drawing/2014/main" id="{88BE2205-DB7F-9A88-0E81-75989F49BD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0876026"/>
      </p:ext>
    </p:extLst>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E70515-24FE-4B55-B182-33A54060AA0C}"/>
              </a:ext>
            </a:extLst>
          </p:cNvPr>
          <p:cNvSpPr>
            <a:spLocks noGrp="1"/>
          </p:cNvSpPr>
          <p:nvPr>
            <p:ph type="title"/>
          </p:nvPr>
        </p:nvSpPr>
        <p:spPr/>
        <p:txBody>
          <a:bodyPr/>
          <a:lstStyle/>
          <a:p>
            <a:r>
              <a:rPr kumimoji="1" lang="zh-CN" altLang="en-US" dirty="0"/>
              <a:t>最高响应比优先</a:t>
            </a:r>
            <a:r>
              <a:rPr kumimoji="1" lang="en-US" altLang="zh-CN" dirty="0"/>
              <a:t>HRRN</a:t>
            </a:r>
            <a:r>
              <a:rPr kumimoji="1" lang="zh-CN" altLang="en-US" dirty="0"/>
              <a:t>调度</a:t>
            </a:r>
          </a:p>
        </p:txBody>
      </p:sp>
      <p:sp>
        <p:nvSpPr>
          <p:cNvPr id="3" name="内容占位符 2">
            <a:extLst>
              <a:ext uri="{FF2B5EF4-FFF2-40B4-BE49-F238E27FC236}">
                <a16:creationId xmlns:a16="http://schemas.microsoft.com/office/drawing/2014/main" id="{F20E20EA-A175-5343-762C-5837682FC452}"/>
              </a:ext>
            </a:extLst>
          </p:cNvPr>
          <p:cNvSpPr>
            <a:spLocks noGrp="1"/>
          </p:cNvSpPr>
          <p:nvPr>
            <p:ph idx="1"/>
          </p:nvPr>
        </p:nvSpPr>
        <p:spPr/>
        <p:txBody>
          <a:bodyPr/>
          <a:lstStyle/>
          <a:p>
            <a:r>
              <a:rPr kumimoji="1" lang="zh-CN" altLang="en-US" dirty="0"/>
              <a:t>响应比 </a:t>
            </a:r>
            <a:r>
              <a:rPr kumimoji="1" lang="en-US" altLang="zh-CN" dirty="0"/>
              <a:t>=</a:t>
            </a:r>
            <a:r>
              <a:rPr kumimoji="1" lang="zh-CN" altLang="en-US" dirty="0"/>
              <a:t> </a:t>
            </a:r>
            <a:r>
              <a:rPr kumimoji="1" lang="en-US" altLang="zh-CN" dirty="0"/>
              <a:t>(</a:t>
            </a:r>
            <a:r>
              <a:rPr kumimoji="1" lang="zh-CN" altLang="en-US" dirty="0"/>
              <a:t>等待时间 </a:t>
            </a:r>
            <a:r>
              <a:rPr kumimoji="1" lang="en-US" altLang="zh-CN" dirty="0"/>
              <a:t>+ </a:t>
            </a:r>
            <a:r>
              <a:rPr kumimoji="1" lang="zh-CN" altLang="en-US" dirty="0"/>
              <a:t>服务时间</a:t>
            </a:r>
            <a:r>
              <a:rPr kumimoji="1" lang="en-US" altLang="zh-CN" dirty="0"/>
              <a:t>) / </a:t>
            </a:r>
            <a:r>
              <a:rPr kumimoji="1" lang="zh-CN" altLang="en-US" dirty="0"/>
              <a:t>服务时间</a:t>
            </a:r>
            <a:endParaRPr kumimoji="1" lang="en-US" altLang="zh-CN" dirty="0"/>
          </a:p>
          <a:p>
            <a:r>
              <a:rPr kumimoji="1" lang="zh-CN" altLang="en-US" dirty="0"/>
              <a:t>选择响应比高的进程执行</a:t>
            </a:r>
            <a:endParaRPr kumimoji="1" lang="en-US" altLang="zh-CN" dirty="0"/>
          </a:p>
          <a:p>
            <a:r>
              <a:rPr kumimoji="1" lang="zh-CN" altLang="en-US" dirty="0"/>
              <a:t>非抢占式的调度算，旨在公平地处理各种长度的作业，同时尽量减少作业的平均等待时间和平均周转时间</a:t>
            </a:r>
            <a:endParaRPr kumimoji="1" lang="en-US" altLang="zh-CN" dirty="0"/>
          </a:p>
          <a:p>
            <a:pPr lvl="1"/>
            <a:r>
              <a:rPr kumimoji="1" lang="zh-CN" altLang="en-US" dirty="0"/>
              <a:t>等待时间相同，短作业优先</a:t>
            </a:r>
            <a:endParaRPr kumimoji="1" lang="en-US" altLang="zh-CN" dirty="0"/>
          </a:p>
          <a:p>
            <a:pPr lvl="1"/>
            <a:r>
              <a:rPr kumimoji="1" lang="zh-CN" altLang="en-US" dirty="0"/>
              <a:t>运行时间相同，等待时间长的作业优先</a:t>
            </a:r>
          </a:p>
        </p:txBody>
      </p:sp>
      <p:sp>
        <p:nvSpPr>
          <p:cNvPr id="4" name="灯片编号占位符 3">
            <a:extLst>
              <a:ext uri="{FF2B5EF4-FFF2-40B4-BE49-F238E27FC236}">
                <a16:creationId xmlns:a16="http://schemas.microsoft.com/office/drawing/2014/main" id="{BE4A1220-394B-034E-91CF-0113D8309DB8}"/>
              </a:ext>
            </a:extLst>
          </p:cNvPr>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Tree>
    <p:extLst>
      <p:ext uri="{BB962C8B-B14F-4D97-AF65-F5344CB8AC3E}">
        <p14:creationId xmlns:p14="http://schemas.microsoft.com/office/powerpoint/2010/main" val="289076395"/>
      </p:ext>
    </p:extLst>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783C2C-3A95-86F4-D732-812877BB17EB}"/>
              </a:ext>
            </a:extLst>
          </p:cNvPr>
          <p:cNvSpPr>
            <a:spLocks noGrp="1"/>
          </p:cNvSpPr>
          <p:nvPr>
            <p:ph type="title"/>
          </p:nvPr>
        </p:nvSpPr>
        <p:spPr/>
        <p:txBody>
          <a:bodyPr/>
          <a:lstStyle/>
          <a:p>
            <a:r>
              <a:rPr kumimoji="1" lang="en-US" altLang="zh-CN" dirty="0"/>
              <a:t>HRRN</a:t>
            </a:r>
            <a:r>
              <a:rPr kumimoji="1" lang="zh-CN" altLang="en-US" dirty="0"/>
              <a:t>示例</a:t>
            </a:r>
          </a:p>
        </p:txBody>
      </p:sp>
      <p:sp>
        <p:nvSpPr>
          <p:cNvPr id="3" name="内容占位符 2">
            <a:extLst>
              <a:ext uri="{FF2B5EF4-FFF2-40B4-BE49-F238E27FC236}">
                <a16:creationId xmlns:a16="http://schemas.microsoft.com/office/drawing/2014/main" id="{5DFBBECB-A8B1-7BFF-6C42-4EFF1F1772D8}"/>
              </a:ext>
            </a:extLst>
          </p:cNvPr>
          <p:cNvSpPr>
            <a:spLocks noGrp="1"/>
          </p:cNvSpPr>
          <p:nvPr>
            <p:ph idx="1"/>
          </p:nvPr>
        </p:nvSpPr>
        <p:spPr/>
        <p:txBody>
          <a:bodyPr>
            <a:normAutofit fontScale="70000" lnSpcReduction="20000"/>
          </a:bodyPr>
          <a:lstStyle/>
          <a:p>
            <a:pPr marL="0" indent="0">
              <a:buNone/>
            </a:pPr>
            <a:r>
              <a:rPr lang="zh-CN" altLang="en-US" dirty="0"/>
              <a:t>                   </a:t>
            </a:r>
            <a:r>
              <a:rPr lang="zh-CN" altLang="en-US" u="sng" dirty="0"/>
              <a:t> </a:t>
            </a:r>
            <a:r>
              <a:rPr lang="en-US" altLang="en-US" sz="2800" u="sng" dirty="0"/>
              <a:t>Process</a:t>
            </a:r>
            <a:r>
              <a:rPr lang="zh-CN" altLang="en-US" sz="2800" u="sng" dirty="0"/>
              <a:t> </a:t>
            </a:r>
            <a:r>
              <a:rPr lang="zh-CN" altLang="en-US" sz="2800" dirty="0"/>
              <a:t>   </a:t>
            </a:r>
            <a:r>
              <a:rPr lang="en-US" altLang="zh-CN" sz="2800" u="sng" dirty="0" err="1"/>
              <a:t>ArrivalTime</a:t>
            </a:r>
            <a:r>
              <a:rPr lang="en-US" altLang="en-US" sz="2800" dirty="0"/>
              <a:t>	</a:t>
            </a:r>
            <a:r>
              <a:rPr lang="en-US" altLang="en-US" sz="2800" u="sng" dirty="0"/>
              <a:t>Burst Time</a:t>
            </a:r>
          </a:p>
          <a:p>
            <a:pPr marL="0" indent="0">
              <a:buNone/>
            </a:pPr>
            <a:r>
              <a:rPr lang="en-US" altLang="en-US" sz="2800" dirty="0"/>
              <a:t>		 P</a:t>
            </a:r>
            <a:r>
              <a:rPr lang="en-US" altLang="en-US" sz="2800" baseline="-25000" dirty="0"/>
              <a:t>1</a:t>
            </a:r>
            <a:r>
              <a:rPr lang="en-US" altLang="en-US" sz="2800" dirty="0"/>
              <a:t>	</a:t>
            </a:r>
            <a:r>
              <a:rPr lang="zh-CN" altLang="en-US" sz="2800" dirty="0"/>
              <a:t>        </a:t>
            </a:r>
            <a:r>
              <a:rPr lang="en-US" altLang="en-US" sz="2800" dirty="0"/>
              <a:t>0		</a:t>
            </a:r>
            <a:r>
              <a:rPr lang="zh-CN" altLang="en-US" sz="2800" dirty="0"/>
              <a:t>  </a:t>
            </a:r>
            <a:r>
              <a:rPr lang="en-US" altLang="zh-CN" sz="2800" dirty="0"/>
              <a:t>3</a:t>
            </a:r>
            <a:endParaRPr lang="en-US" altLang="en-US" sz="2800" dirty="0"/>
          </a:p>
          <a:p>
            <a:pPr marL="0" indent="0">
              <a:buNone/>
            </a:pPr>
            <a:r>
              <a:rPr lang="en-US" altLang="en-US" sz="2800" dirty="0"/>
              <a:t>		 P</a:t>
            </a:r>
            <a:r>
              <a:rPr lang="en-US" altLang="en-US" sz="2800" baseline="-25000" dirty="0"/>
              <a:t>2</a:t>
            </a:r>
            <a:r>
              <a:rPr lang="en-US" altLang="en-US" sz="2800" dirty="0"/>
              <a:t> 	</a:t>
            </a:r>
            <a:r>
              <a:rPr lang="zh-CN" altLang="en-US" sz="2800" dirty="0"/>
              <a:t>        </a:t>
            </a:r>
            <a:r>
              <a:rPr lang="en-US" altLang="zh-CN" sz="2800" dirty="0"/>
              <a:t>1</a:t>
            </a:r>
            <a:r>
              <a:rPr lang="en-US" altLang="en-US" sz="2800" dirty="0"/>
              <a:t>		</a:t>
            </a:r>
            <a:r>
              <a:rPr lang="zh-CN" altLang="en-US" sz="2800" dirty="0"/>
              <a:t>  </a:t>
            </a:r>
            <a:r>
              <a:rPr lang="en-US" altLang="zh-CN" sz="2800" dirty="0"/>
              <a:t>6</a:t>
            </a:r>
            <a:endParaRPr lang="en-US" altLang="en-US" sz="2800" dirty="0"/>
          </a:p>
          <a:p>
            <a:pPr marL="0" indent="0">
              <a:buNone/>
            </a:pPr>
            <a:r>
              <a:rPr lang="en-US" altLang="en-US" sz="2800" dirty="0"/>
              <a:t>		 P</a:t>
            </a:r>
            <a:r>
              <a:rPr lang="en-US" altLang="en-US" sz="2800" baseline="-25000" dirty="0"/>
              <a:t>3</a:t>
            </a:r>
            <a:r>
              <a:rPr lang="en-US" altLang="en-US" sz="2800" dirty="0"/>
              <a:t>	</a:t>
            </a:r>
            <a:r>
              <a:rPr lang="zh-CN" altLang="en-US" sz="2800" dirty="0"/>
              <a:t>        </a:t>
            </a:r>
            <a:r>
              <a:rPr lang="en-US" altLang="zh-CN" sz="2800" dirty="0"/>
              <a:t>2</a:t>
            </a:r>
            <a:r>
              <a:rPr lang="en-US" altLang="en-US" sz="2800" dirty="0"/>
              <a:t>		</a:t>
            </a:r>
            <a:r>
              <a:rPr lang="zh-CN" altLang="en-US" sz="2800" dirty="0"/>
              <a:t>  </a:t>
            </a:r>
            <a:r>
              <a:rPr lang="en-US" altLang="zh-CN" sz="2800" dirty="0"/>
              <a:t>4</a:t>
            </a:r>
          </a:p>
          <a:p>
            <a:pPr marL="0" indent="0">
              <a:buNone/>
            </a:pPr>
            <a:r>
              <a:rPr lang="zh-CN" altLang="en-US" sz="2800" dirty="0"/>
              <a:t>                           </a:t>
            </a:r>
            <a:r>
              <a:rPr lang="en-US" altLang="en-US" sz="2800" dirty="0"/>
              <a:t>P</a:t>
            </a:r>
            <a:r>
              <a:rPr lang="en-US" altLang="zh-CN" sz="2800" baseline="-25000" dirty="0"/>
              <a:t>4</a:t>
            </a:r>
            <a:r>
              <a:rPr lang="en-US" altLang="en-US" sz="2800" dirty="0"/>
              <a:t> 	</a:t>
            </a:r>
            <a:r>
              <a:rPr lang="zh-CN" altLang="en-US" sz="2800" dirty="0"/>
              <a:t>        </a:t>
            </a:r>
            <a:r>
              <a:rPr lang="en-US" altLang="zh-CN" sz="2800" dirty="0"/>
              <a:t>3</a:t>
            </a:r>
            <a:r>
              <a:rPr lang="en-US" altLang="en-US" sz="2800" dirty="0"/>
              <a:t>		</a:t>
            </a:r>
            <a:r>
              <a:rPr lang="zh-CN" altLang="en-US" sz="2800" dirty="0"/>
              <a:t>  </a:t>
            </a:r>
            <a:r>
              <a:rPr lang="en-US" altLang="zh-CN" sz="2800" dirty="0"/>
              <a:t>5</a:t>
            </a:r>
            <a:endParaRPr lang="en-US" altLang="en-US" sz="2800" dirty="0"/>
          </a:p>
          <a:p>
            <a:pPr marL="0" indent="0">
              <a:buNone/>
            </a:pPr>
            <a:r>
              <a:rPr lang="en-US" altLang="en-US" sz="2800" dirty="0"/>
              <a:t>		 P</a:t>
            </a:r>
            <a:r>
              <a:rPr lang="en-US" altLang="zh-CN" sz="2800" baseline="-25000" dirty="0"/>
              <a:t>5</a:t>
            </a:r>
            <a:r>
              <a:rPr lang="en-US" altLang="en-US" sz="2800" dirty="0"/>
              <a:t>	</a:t>
            </a:r>
            <a:r>
              <a:rPr lang="zh-CN" altLang="en-US" sz="2800" dirty="0"/>
              <a:t>        </a:t>
            </a:r>
            <a:r>
              <a:rPr lang="en-US" altLang="zh-CN" sz="2800" dirty="0"/>
              <a:t>4</a:t>
            </a:r>
            <a:r>
              <a:rPr lang="en-US" altLang="en-US" sz="2800" dirty="0"/>
              <a:t>		</a:t>
            </a:r>
            <a:r>
              <a:rPr lang="zh-CN" altLang="en-US" sz="2800" dirty="0"/>
              <a:t>  </a:t>
            </a:r>
            <a:r>
              <a:rPr lang="en-US" altLang="zh-CN" sz="2800" dirty="0"/>
              <a:t>2</a:t>
            </a:r>
            <a:endParaRPr lang="en-US" altLang="en-US" sz="2800" dirty="0"/>
          </a:p>
          <a:p>
            <a:r>
              <a:rPr lang="en-US" altLang="en-US" sz="2800" dirty="0" err="1"/>
              <a:t>甘特图</a:t>
            </a:r>
            <a:endParaRPr lang="en-US" altLang="en-US" sz="2800" dirty="0"/>
          </a:p>
          <a:p>
            <a:endParaRPr lang="en-US" altLang="en-US" dirty="0"/>
          </a:p>
          <a:p>
            <a:endParaRPr lang="en-US" altLang="en-US" dirty="0"/>
          </a:p>
          <a:p>
            <a:pPr lvl="1"/>
            <a:endParaRPr lang="en-US" altLang="zh-CN" dirty="0"/>
          </a:p>
          <a:p>
            <a:pPr lvl="1"/>
            <a:r>
              <a:rPr lang="en-US" altLang="zh-CN" dirty="0"/>
              <a:t>0</a:t>
            </a:r>
            <a:r>
              <a:rPr lang="zh-CN" altLang="en-US" dirty="0"/>
              <a:t>：</a:t>
            </a:r>
            <a:r>
              <a:rPr lang="en-US" altLang="zh-CN" dirty="0"/>
              <a:t>P</a:t>
            </a:r>
            <a:r>
              <a:rPr lang="en-US" altLang="zh-CN" baseline="-25000" dirty="0"/>
              <a:t>1</a:t>
            </a:r>
            <a:r>
              <a:rPr lang="zh-CN" altLang="en-US" dirty="0"/>
              <a:t>执行，</a:t>
            </a:r>
            <a:r>
              <a:rPr lang="en-US" altLang="zh-CN" dirty="0"/>
              <a:t>P</a:t>
            </a:r>
            <a:r>
              <a:rPr lang="en-US" altLang="zh-CN" baseline="-25000" dirty="0"/>
              <a:t>2</a:t>
            </a:r>
            <a:r>
              <a:rPr lang="en-US" altLang="en-US" dirty="0"/>
              <a:t> P</a:t>
            </a:r>
            <a:r>
              <a:rPr lang="en-US" altLang="en-US" baseline="-25000" dirty="0"/>
              <a:t>3</a:t>
            </a:r>
            <a:r>
              <a:rPr lang="en-US" altLang="en-US" dirty="0"/>
              <a:t> P</a:t>
            </a:r>
            <a:r>
              <a:rPr lang="en-US" altLang="zh-CN" baseline="-25000" dirty="0"/>
              <a:t>4</a:t>
            </a:r>
            <a:r>
              <a:rPr lang="zh-CN" altLang="en-US" dirty="0"/>
              <a:t>依次到达；</a:t>
            </a:r>
            <a:endParaRPr lang="en-US" altLang="zh-CN" dirty="0"/>
          </a:p>
          <a:p>
            <a:pPr lvl="1"/>
            <a:r>
              <a:rPr lang="en-US" altLang="zh-CN" dirty="0"/>
              <a:t>3</a:t>
            </a:r>
            <a:r>
              <a:rPr lang="zh-CN" altLang="en-US" dirty="0"/>
              <a:t>：</a:t>
            </a:r>
            <a:r>
              <a:rPr lang="en-US" altLang="zh-CN" dirty="0"/>
              <a:t>r</a:t>
            </a:r>
            <a:r>
              <a:rPr lang="en-US" altLang="zh-CN" baseline="-25000" dirty="0"/>
              <a:t>2 </a:t>
            </a:r>
            <a:r>
              <a:rPr lang="en-US" altLang="zh-CN" dirty="0"/>
              <a:t>=1+2/6，</a:t>
            </a:r>
            <a:r>
              <a:rPr lang="en-US" altLang="zh-CN" baseline="-25000" dirty="0"/>
              <a:t> </a:t>
            </a:r>
            <a:r>
              <a:rPr lang="en-US" altLang="zh-CN" dirty="0"/>
              <a:t>r</a:t>
            </a:r>
            <a:r>
              <a:rPr lang="en-US" altLang="zh-CN" baseline="-25000" dirty="0"/>
              <a:t>3 </a:t>
            </a:r>
            <a:r>
              <a:rPr lang="en-US" altLang="zh-CN" dirty="0"/>
              <a:t>=1+1/4，</a:t>
            </a:r>
            <a:r>
              <a:rPr lang="en-US" altLang="zh-CN" baseline="-25000" dirty="0"/>
              <a:t> </a:t>
            </a:r>
            <a:r>
              <a:rPr lang="en-US" altLang="zh-CN" dirty="0"/>
              <a:t>r</a:t>
            </a:r>
            <a:r>
              <a:rPr lang="en-US" altLang="zh-CN" baseline="-25000" dirty="0"/>
              <a:t>4 </a:t>
            </a:r>
            <a:r>
              <a:rPr lang="en-US" altLang="zh-CN" dirty="0"/>
              <a:t>=1</a:t>
            </a:r>
            <a:r>
              <a:rPr lang="zh-CN" altLang="en-US" dirty="0"/>
              <a:t>；</a:t>
            </a:r>
            <a:r>
              <a:rPr lang="en-US" altLang="zh-CN" dirty="0"/>
              <a:t>P</a:t>
            </a:r>
            <a:r>
              <a:rPr lang="en-US" altLang="zh-CN" baseline="-25000" dirty="0"/>
              <a:t>2</a:t>
            </a:r>
            <a:r>
              <a:rPr lang="zh-CN" altLang="en-US" dirty="0"/>
              <a:t>先运行；</a:t>
            </a:r>
            <a:endParaRPr lang="en-US" altLang="zh-CN" dirty="0"/>
          </a:p>
          <a:p>
            <a:pPr lvl="1"/>
            <a:r>
              <a:rPr lang="zh-CN" altLang="en-US" dirty="0"/>
              <a:t>9：</a:t>
            </a:r>
            <a:r>
              <a:rPr lang="en-US" altLang="zh-CN" dirty="0"/>
              <a:t>r</a:t>
            </a:r>
            <a:r>
              <a:rPr lang="en-US" altLang="zh-CN" baseline="-25000" dirty="0"/>
              <a:t>3 </a:t>
            </a:r>
            <a:r>
              <a:rPr lang="en-US" altLang="zh-CN" dirty="0"/>
              <a:t>=1+7/4，</a:t>
            </a:r>
            <a:r>
              <a:rPr lang="en-US" altLang="zh-CN" baseline="-25000" dirty="0"/>
              <a:t> </a:t>
            </a:r>
            <a:r>
              <a:rPr lang="en-US" altLang="zh-CN" dirty="0"/>
              <a:t>r</a:t>
            </a:r>
            <a:r>
              <a:rPr lang="en-US" altLang="zh-CN" baseline="-25000" dirty="0"/>
              <a:t>4 </a:t>
            </a:r>
            <a:r>
              <a:rPr lang="en-US" altLang="zh-CN" dirty="0"/>
              <a:t>=1+6/5，</a:t>
            </a:r>
            <a:r>
              <a:rPr lang="en-US" altLang="zh-CN" baseline="-25000" dirty="0"/>
              <a:t> </a:t>
            </a:r>
            <a:r>
              <a:rPr lang="en-US" altLang="zh-CN" dirty="0"/>
              <a:t>r</a:t>
            </a:r>
            <a:r>
              <a:rPr lang="en-US" altLang="zh-CN" baseline="-25000" dirty="0"/>
              <a:t>5 </a:t>
            </a:r>
            <a:r>
              <a:rPr lang="en-US" altLang="zh-CN" dirty="0"/>
              <a:t>=1+5/2</a:t>
            </a:r>
            <a:r>
              <a:rPr lang="zh-CN" altLang="en-US" dirty="0"/>
              <a:t>；</a:t>
            </a:r>
            <a:r>
              <a:rPr lang="en-US" altLang="zh-CN" dirty="0"/>
              <a:t> P</a:t>
            </a:r>
            <a:r>
              <a:rPr lang="en-US" altLang="zh-CN" baseline="-25000" dirty="0"/>
              <a:t>2</a:t>
            </a:r>
            <a:r>
              <a:rPr lang="zh-CN" altLang="en-US" dirty="0"/>
              <a:t>先运行；</a:t>
            </a:r>
            <a:endParaRPr lang="en-US" altLang="zh-CN" dirty="0"/>
          </a:p>
          <a:p>
            <a:pPr lvl="1"/>
            <a:r>
              <a:rPr lang="zh-CN" altLang="en-US" dirty="0"/>
              <a:t>11：</a:t>
            </a:r>
            <a:r>
              <a:rPr lang="en-US" altLang="zh-CN" dirty="0"/>
              <a:t>r</a:t>
            </a:r>
            <a:r>
              <a:rPr lang="en-US" altLang="zh-CN" baseline="-25000" dirty="0"/>
              <a:t>3 </a:t>
            </a:r>
            <a:r>
              <a:rPr lang="en-US" altLang="zh-CN" dirty="0"/>
              <a:t>=1+9/4，</a:t>
            </a:r>
            <a:r>
              <a:rPr lang="en-US" altLang="zh-CN" baseline="-25000" dirty="0"/>
              <a:t> </a:t>
            </a:r>
            <a:r>
              <a:rPr lang="en-US" altLang="zh-CN" dirty="0"/>
              <a:t>r</a:t>
            </a:r>
            <a:r>
              <a:rPr lang="en-US" altLang="zh-CN" baseline="-25000" dirty="0"/>
              <a:t>4 </a:t>
            </a:r>
            <a:r>
              <a:rPr lang="en-US" altLang="zh-CN" dirty="0"/>
              <a:t>=1+8/5</a:t>
            </a:r>
            <a:r>
              <a:rPr lang="zh-CN" altLang="en-US" dirty="0"/>
              <a:t>；</a:t>
            </a:r>
            <a:r>
              <a:rPr lang="en-US" altLang="en-US" dirty="0"/>
              <a:t> P</a:t>
            </a:r>
            <a:r>
              <a:rPr lang="en-US" altLang="en-US" baseline="-25000" dirty="0"/>
              <a:t>3</a:t>
            </a:r>
            <a:r>
              <a:rPr lang="zh-CN" altLang="en-US" dirty="0"/>
              <a:t>先运行；</a:t>
            </a:r>
            <a:r>
              <a:rPr lang="en-US" altLang="en-US" dirty="0"/>
              <a:t>	</a:t>
            </a:r>
            <a:endParaRPr kumimoji="1" lang="zh-CN" altLang="en-US" dirty="0"/>
          </a:p>
        </p:txBody>
      </p:sp>
      <p:sp>
        <p:nvSpPr>
          <p:cNvPr id="4" name="灯片编号占位符 3">
            <a:extLst>
              <a:ext uri="{FF2B5EF4-FFF2-40B4-BE49-F238E27FC236}">
                <a16:creationId xmlns:a16="http://schemas.microsoft.com/office/drawing/2014/main" id="{25B239C5-34DD-00A5-C7B6-E3C79FFC2B76}"/>
              </a:ext>
            </a:extLst>
          </p:cNvPr>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grpSp>
        <p:nvGrpSpPr>
          <p:cNvPr id="18" name="组合 17">
            <a:extLst>
              <a:ext uri="{FF2B5EF4-FFF2-40B4-BE49-F238E27FC236}">
                <a16:creationId xmlns:a16="http://schemas.microsoft.com/office/drawing/2014/main" id="{7A425207-6E51-987E-B585-CFD695B89723}"/>
              </a:ext>
            </a:extLst>
          </p:cNvPr>
          <p:cNvGrpSpPr/>
          <p:nvPr/>
        </p:nvGrpSpPr>
        <p:grpSpPr>
          <a:xfrm>
            <a:off x="1325655" y="3888222"/>
            <a:ext cx="7361145" cy="743123"/>
            <a:chOff x="1167414" y="4489471"/>
            <a:chExt cx="7361145" cy="743123"/>
          </a:xfrm>
        </p:grpSpPr>
        <p:sp>
          <p:nvSpPr>
            <p:cNvPr id="5" name="矩形 4">
              <a:extLst>
                <a:ext uri="{FF2B5EF4-FFF2-40B4-BE49-F238E27FC236}">
                  <a16:creationId xmlns:a16="http://schemas.microsoft.com/office/drawing/2014/main" id="{DF5612B7-B2D4-7ABD-8325-59177522E39C}"/>
                </a:ext>
              </a:extLst>
            </p:cNvPr>
            <p:cNvSpPr/>
            <p:nvPr/>
          </p:nvSpPr>
          <p:spPr bwMode="auto">
            <a:xfrm>
              <a:off x="1322326" y="4489471"/>
              <a:ext cx="1116481" cy="488515"/>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Century" panose="02040604050505020304" pitchFamily="18" charset="0"/>
                  <a:ea typeface="宋体" panose="02010600030101010101" pitchFamily="2" charset="-122"/>
                </a:rPr>
                <a:t>P</a:t>
              </a:r>
              <a:r>
                <a:rPr kumimoji="1" lang="en-US" altLang="zh-CN"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rPr>
                <a:t>1</a:t>
              </a:r>
              <a:endParaRPr kumimoji="1" lang="zh-CN" altLang="en-US"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D9A15C5E-3B7E-80BD-CEA7-21A30B713F7C}"/>
                </a:ext>
              </a:extLst>
            </p:cNvPr>
            <p:cNvSpPr/>
            <p:nvPr/>
          </p:nvSpPr>
          <p:spPr bwMode="auto">
            <a:xfrm>
              <a:off x="2438807" y="4489471"/>
              <a:ext cx="2053428" cy="488515"/>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Century" panose="02040604050505020304" pitchFamily="18" charset="0"/>
                  <a:ea typeface="宋体" panose="02010600030101010101" pitchFamily="2" charset="-122"/>
                </a:rPr>
                <a:t>P</a:t>
              </a:r>
              <a:r>
                <a:rPr kumimoji="1" lang="en-US" altLang="zh-CN" baseline="-25000" dirty="0">
                  <a:latin typeface="Century" panose="02040604050505020304" pitchFamily="18" charset="0"/>
                  <a:ea typeface="宋体" panose="02010600030101010101" pitchFamily="2" charset="-122"/>
                </a:rPr>
                <a:t>2</a:t>
              </a:r>
              <a:endParaRPr kumimoji="1" lang="zh-CN" altLang="en-US"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endParaRPr>
            </a:p>
          </p:txBody>
        </p:sp>
        <p:sp>
          <p:nvSpPr>
            <p:cNvPr id="7" name="矩形 6">
              <a:extLst>
                <a:ext uri="{FF2B5EF4-FFF2-40B4-BE49-F238E27FC236}">
                  <a16:creationId xmlns:a16="http://schemas.microsoft.com/office/drawing/2014/main" id="{81A3083B-5BF4-7AE2-9F22-EC4D9F307CAF}"/>
                </a:ext>
              </a:extLst>
            </p:cNvPr>
            <p:cNvSpPr/>
            <p:nvPr/>
          </p:nvSpPr>
          <p:spPr bwMode="auto">
            <a:xfrm>
              <a:off x="4492235" y="4489471"/>
              <a:ext cx="756170" cy="488515"/>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Century" panose="02040604050505020304" pitchFamily="18" charset="0"/>
                  <a:ea typeface="宋体" panose="02010600030101010101" pitchFamily="2" charset="-122"/>
                </a:rPr>
                <a:t>P</a:t>
              </a:r>
              <a:r>
                <a:rPr kumimoji="1" lang="en-US" altLang="zh-CN"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rPr>
                <a:t>5</a:t>
              </a:r>
              <a:endParaRPr kumimoji="1" lang="zh-CN" altLang="en-US"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D4886D22-63F9-4304-DA76-CD02DF36E1F1}"/>
                </a:ext>
              </a:extLst>
            </p:cNvPr>
            <p:cNvSpPr txBox="1"/>
            <p:nvPr/>
          </p:nvSpPr>
          <p:spPr>
            <a:xfrm>
              <a:off x="1167414" y="4924817"/>
              <a:ext cx="309823" cy="307777"/>
            </a:xfrm>
            <a:prstGeom prst="rect">
              <a:avLst/>
            </a:prstGeom>
            <a:noFill/>
          </p:spPr>
          <p:txBody>
            <a:bodyPr wrap="square" rtlCol="0">
              <a:spAutoFit/>
            </a:bodyPr>
            <a:lstStyle/>
            <a:p>
              <a:r>
                <a:rPr kumimoji="1" lang="en-US" altLang="zh-CN" sz="1400" dirty="0">
                  <a:latin typeface="Century" panose="02040604050505020304" pitchFamily="18" charset="0"/>
                </a:rPr>
                <a:t>0</a:t>
              </a:r>
              <a:endParaRPr kumimoji="1" lang="zh-CN" altLang="en-US" sz="1400" dirty="0">
                <a:latin typeface="Century" panose="02040604050505020304" pitchFamily="18" charset="0"/>
              </a:endParaRPr>
            </a:p>
          </p:txBody>
        </p:sp>
        <p:sp>
          <p:nvSpPr>
            <p:cNvPr id="10" name="文本框 9">
              <a:extLst>
                <a:ext uri="{FF2B5EF4-FFF2-40B4-BE49-F238E27FC236}">
                  <a16:creationId xmlns:a16="http://schemas.microsoft.com/office/drawing/2014/main" id="{964BE1D7-7895-7896-1403-486520A50C54}"/>
                </a:ext>
              </a:extLst>
            </p:cNvPr>
            <p:cNvSpPr txBox="1"/>
            <p:nvPr/>
          </p:nvSpPr>
          <p:spPr>
            <a:xfrm>
              <a:off x="2278045" y="4924817"/>
              <a:ext cx="309823" cy="307777"/>
            </a:xfrm>
            <a:prstGeom prst="rect">
              <a:avLst/>
            </a:prstGeom>
            <a:noFill/>
          </p:spPr>
          <p:txBody>
            <a:bodyPr wrap="square" rtlCol="0">
              <a:spAutoFit/>
            </a:bodyPr>
            <a:lstStyle/>
            <a:p>
              <a:r>
                <a:rPr kumimoji="1" lang="en-US" altLang="zh-CN" sz="1400" dirty="0">
                  <a:latin typeface="Century" panose="02040604050505020304" pitchFamily="18" charset="0"/>
                </a:rPr>
                <a:t>3</a:t>
              </a:r>
              <a:endParaRPr kumimoji="1" lang="zh-CN" altLang="en-US" sz="1400" dirty="0">
                <a:latin typeface="Century" panose="02040604050505020304" pitchFamily="18" charset="0"/>
              </a:endParaRPr>
            </a:p>
          </p:txBody>
        </p:sp>
        <p:sp>
          <p:nvSpPr>
            <p:cNvPr id="11" name="文本框 10">
              <a:extLst>
                <a:ext uri="{FF2B5EF4-FFF2-40B4-BE49-F238E27FC236}">
                  <a16:creationId xmlns:a16="http://schemas.microsoft.com/office/drawing/2014/main" id="{BA3DBC4D-767A-3EEF-C39F-A4CFB14E7CFA}"/>
                </a:ext>
              </a:extLst>
            </p:cNvPr>
            <p:cNvSpPr txBox="1"/>
            <p:nvPr/>
          </p:nvSpPr>
          <p:spPr>
            <a:xfrm>
              <a:off x="6379489" y="4924817"/>
              <a:ext cx="419210" cy="307777"/>
            </a:xfrm>
            <a:prstGeom prst="rect">
              <a:avLst/>
            </a:prstGeom>
            <a:noFill/>
          </p:spPr>
          <p:txBody>
            <a:bodyPr wrap="square" rtlCol="0">
              <a:spAutoFit/>
            </a:bodyPr>
            <a:lstStyle/>
            <a:p>
              <a:r>
                <a:rPr kumimoji="1" lang="en-US" altLang="zh-CN" sz="1400" dirty="0">
                  <a:latin typeface="Century" panose="02040604050505020304" pitchFamily="18" charset="0"/>
                </a:rPr>
                <a:t>15</a:t>
              </a:r>
              <a:endParaRPr kumimoji="1" lang="zh-CN" altLang="en-US" sz="1400" dirty="0">
                <a:latin typeface="Century" panose="02040604050505020304" pitchFamily="18" charset="0"/>
              </a:endParaRPr>
            </a:p>
          </p:txBody>
        </p:sp>
        <p:sp>
          <p:nvSpPr>
            <p:cNvPr id="12" name="文本框 11">
              <a:extLst>
                <a:ext uri="{FF2B5EF4-FFF2-40B4-BE49-F238E27FC236}">
                  <a16:creationId xmlns:a16="http://schemas.microsoft.com/office/drawing/2014/main" id="{51880BF0-428B-7CFD-C1A7-0D446CEBC537}"/>
                </a:ext>
              </a:extLst>
            </p:cNvPr>
            <p:cNvSpPr txBox="1"/>
            <p:nvPr/>
          </p:nvSpPr>
          <p:spPr>
            <a:xfrm>
              <a:off x="8063825" y="4924817"/>
              <a:ext cx="464734" cy="307777"/>
            </a:xfrm>
            <a:prstGeom prst="rect">
              <a:avLst/>
            </a:prstGeom>
            <a:noFill/>
          </p:spPr>
          <p:txBody>
            <a:bodyPr wrap="square" rtlCol="0">
              <a:spAutoFit/>
            </a:bodyPr>
            <a:lstStyle/>
            <a:p>
              <a:r>
                <a:rPr kumimoji="1" lang="en-US" altLang="zh-CN" sz="1400" dirty="0">
                  <a:latin typeface="Century" panose="02040604050505020304" pitchFamily="18" charset="0"/>
                </a:rPr>
                <a:t>20</a:t>
              </a:r>
              <a:endParaRPr kumimoji="1" lang="zh-CN" altLang="en-US" sz="1400" dirty="0">
                <a:latin typeface="Century" panose="02040604050505020304" pitchFamily="18" charset="0"/>
              </a:endParaRPr>
            </a:p>
          </p:txBody>
        </p:sp>
        <p:sp>
          <p:nvSpPr>
            <p:cNvPr id="14" name="矩形 13">
              <a:extLst>
                <a:ext uri="{FF2B5EF4-FFF2-40B4-BE49-F238E27FC236}">
                  <a16:creationId xmlns:a16="http://schemas.microsoft.com/office/drawing/2014/main" id="{2C82C26B-572F-C8DE-E3D2-6602F4A32A4E}"/>
                </a:ext>
              </a:extLst>
            </p:cNvPr>
            <p:cNvSpPr/>
            <p:nvPr/>
          </p:nvSpPr>
          <p:spPr bwMode="auto">
            <a:xfrm>
              <a:off x="5248405" y="4489471"/>
              <a:ext cx="1297258" cy="488515"/>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Century" panose="02040604050505020304" pitchFamily="18" charset="0"/>
                  <a:ea typeface="宋体" panose="02010600030101010101" pitchFamily="2" charset="-122"/>
                </a:rPr>
                <a:t>P</a:t>
              </a:r>
              <a:r>
                <a:rPr kumimoji="1" lang="en-US" altLang="zh-CN" baseline="-25000" dirty="0">
                  <a:latin typeface="Century" panose="02040604050505020304" pitchFamily="18" charset="0"/>
                  <a:ea typeface="宋体" panose="02010600030101010101" pitchFamily="2" charset="-122"/>
                </a:rPr>
                <a:t>3</a:t>
              </a:r>
              <a:endParaRPr kumimoji="1" lang="zh-CN" altLang="en-US"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endParaRPr>
            </a:p>
          </p:txBody>
        </p:sp>
        <p:sp>
          <p:nvSpPr>
            <p:cNvPr id="15" name="矩形 14">
              <a:extLst>
                <a:ext uri="{FF2B5EF4-FFF2-40B4-BE49-F238E27FC236}">
                  <a16:creationId xmlns:a16="http://schemas.microsoft.com/office/drawing/2014/main" id="{EF65432B-0FB1-8D74-DAF3-3B5D47E219E3}"/>
                </a:ext>
              </a:extLst>
            </p:cNvPr>
            <p:cNvSpPr/>
            <p:nvPr/>
          </p:nvSpPr>
          <p:spPr bwMode="auto">
            <a:xfrm>
              <a:off x="6533943" y="4489471"/>
              <a:ext cx="1723610" cy="488515"/>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Century" panose="02040604050505020304" pitchFamily="18" charset="0"/>
                  <a:ea typeface="宋体" panose="02010600030101010101" pitchFamily="2" charset="-122"/>
                </a:rPr>
                <a:t>P</a:t>
              </a:r>
              <a:r>
                <a:rPr kumimoji="1" lang="en-US" altLang="zh-CN"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rPr>
                <a:t>4</a:t>
              </a:r>
              <a:endParaRPr kumimoji="1" lang="zh-CN" altLang="en-US" b="0" i="0" u="none" strike="noStrike" cap="none" normalizeH="0" baseline="-25000" dirty="0">
                <a:ln>
                  <a:noFill/>
                </a:ln>
                <a:solidFill>
                  <a:schemeClr val="tx1"/>
                </a:solidFill>
                <a:effectLst/>
                <a:latin typeface="Century" panose="02040604050505020304" pitchFamily="18" charset="0"/>
                <a:ea typeface="宋体" panose="02010600030101010101" pitchFamily="2" charset="-122"/>
              </a:endParaRPr>
            </a:p>
          </p:txBody>
        </p:sp>
        <p:sp>
          <p:nvSpPr>
            <p:cNvPr id="16" name="文本框 15">
              <a:extLst>
                <a:ext uri="{FF2B5EF4-FFF2-40B4-BE49-F238E27FC236}">
                  <a16:creationId xmlns:a16="http://schemas.microsoft.com/office/drawing/2014/main" id="{1DD27D01-FF2E-21D5-B38A-A82015F5CD4F}"/>
                </a:ext>
              </a:extLst>
            </p:cNvPr>
            <p:cNvSpPr txBox="1"/>
            <p:nvPr/>
          </p:nvSpPr>
          <p:spPr>
            <a:xfrm>
              <a:off x="4334397" y="4924817"/>
              <a:ext cx="309823" cy="307777"/>
            </a:xfrm>
            <a:prstGeom prst="rect">
              <a:avLst/>
            </a:prstGeom>
            <a:noFill/>
          </p:spPr>
          <p:txBody>
            <a:bodyPr wrap="square" rtlCol="0">
              <a:spAutoFit/>
            </a:bodyPr>
            <a:lstStyle/>
            <a:p>
              <a:r>
                <a:rPr kumimoji="1" lang="en-US" altLang="zh-CN" sz="1400" dirty="0">
                  <a:latin typeface="Century" panose="02040604050505020304" pitchFamily="18" charset="0"/>
                </a:rPr>
                <a:t>9</a:t>
              </a:r>
              <a:endParaRPr kumimoji="1" lang="zh-CN" altLang="en-US" sz="1400" dirty="0">
                <a:latin typeface="Century" panose="02040604050505020304" pitchFamily="18" charset="0"/>
              </a:endParaRPr>
            </a:p>
          </p:txBody>
        </p:sp>
        <p:sp>
          <p:nvSpPr>
            <p:cNvPr id="17" name="文本框 16">
              <a:extLst>
                <a:ext uri="{FF2B5EF4-FFF2-40B4-BE49-F238E27FC236}">
                  <a16:creationId xmlns:a16="http://schemas.microsoft.com/office/drawing/2014/main" id="{65ED49D8-C162-A04B-7CC0-A42D8BA1F86A}"/>
                </a:ext>
              </a:extLst>
            </p:cNvPr>
            <p:cNvSpPr txBox="1"/>
            <p:nvPr/>
          </p:nvSpPr>
          <p:spPr>
            <a:xfrm>
              <a:off x="5114349" y="4924817"/>
              <a:ext cx="464734" cy="307777"/>
            </a:xfrm>
            <a:prstGeom prst="rect">
              <a:avLst/>
            </a:prstGeom>
            <a:noFill/>
          </p:spPr>
          <p:txBody>
            <a:bodyPr wrap="square" rtlCol="0">
              <a:spAutoFit/>
            </a:bodyPr>
            <a:lstStyle/>
            <a:p>
              <a:r>
                <a:rPr kumimoji="1" lang="en-US" altLang="zh-CN" sz="1400" dirty="0">
                  <a:latin typeface="Century" panose="02040604050505020304" pitchFamily="18" charset="0"/>
                </a:rPr>
                <a:t>11</a:t>
              </a:r>
              <a:endParaRPr kumimoji="1" lang="zh-CN" altLang="en-US" sz="1400" dirty="0">
                <a:latin typeface="Century" panose="02040604050505020304" pitchFamily="18" charset="0"/>
              </a:endParaRPr>
            </a:p>
          </p:txBody>
        </p:sp>
      </p:grpSp>
    </p:spTree>
    <p:extLst>
      <p:ext uri="{BB962C8B-B14F-4D97-AF65-F5344CB8AC3E}">
        <p14:creationId xmlns:p14="http://schemas.microsoft.com/office/powerpoint/2010/main" val="2354155738"/>
      </p:ext>
    </p:extLst>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D191F-0929-ABF3-2DEF-77BE9AF970F3}"/>
              </a:ext>
            </a:extLst>
          </p:cNvPr>
          <p:cNvSpPr>
            <a:spLocks noGrp="1"/>
          </p:cNvSpPr>
          <p:nvPr>
            <p:ph type="title"/>
          </p:nvPr>
        </p:nvSpPr>
        <p:spPr/>
        <p:txBody>
          <a:bodyPr/>
          <a:lstStyle/>
          <a:p>
            <a:r>
              <a:rPr kumimoji="1" lang="zh-CN" altLang="en-US" dirty="0"/>
              <a:t>时间片轮转</a:t>
            </a:r>
            <a:r>
              <a:rPr kumimoji="1" lang="en-US" altLang="zh-CN" dirty="0"/>
              <a:t>RR</a:t>
            </a:r>
            <a:r>
              <a:rPr kumimoji="1" lang="zh-CN" altLang="en-US" dirty="0"/>
              <a:t>调度</a:t>
            </a:r>
          </a:p>
        </p:txBody>
      </p:sp>
      <p:sp>
        <p:nvSpPr>
          <p:cNvPr id="3" name="内容占位符 2">
            <a:extLst>
              <a:ext uri="{FF2B5EF4-FFF2-40B4-BE49-F238E27FC236}">
                <a16:creationId xmlns:a16="http://schemas.microsoft.com/office/drawing/2014/main" id="{9BBF4B55-C17C-ABCF-8D26-E6A2B4FB5F51}"/>
              </a:ext>
            </a:extLst>
          </p:cNvPr>
          <p:cNvSpPr>
            <a:spLocks noGrp="1"/>
          </p:cNvSpPr>
          <p:nvPr>
            <p:ph idx="1"/>
          </p:nvPr>
        </p:nvSpPr>
        <p:spPr/>
        <p:txBody>
          <a:bodyPr>
            <a:normAutofit fontScale="85000" lnSpcReduction="10000"/>
          </a:bodyPr>
          <a:lstStyle/>
          <a:p>
            <a:r>
              <a:rPr kumimoji="1" lang="zh-CN" altLang="en-US" dirty="0"/>
              <a:t>每个进程获得一小段</a:t>
            </a:r>
            <a:r>
              <a:rPr kumimoji="1" lang="en" altLang="zh-CN" dirty="0"/>
              <a:t>CPU</a:t>
            </a:r>
            <a:r>
              <a:rPr kumimoji="1" lang="zh-CN" altLang="en-US" dirty="0"/>
              <a:t>时间（时间片</a:t>
            </a:r>
            <a:r>
              <a:rPr kumimoji="1" lang="en" altLang="zh-CN" dirty="0"/>
              <a:t>q</a:t>
            </a:r>
            <a:r>
              <a:rPr kumimoji="1" lang="zh-CN" altLang="en" dirty="0"/>
              <a:t>），</a:t>
            </a:r>
            <a:r>
              <a:rPr kumimoji="1" lang="zh-CN" altLang="en-US" dirty="0"/>
              <a:t>通常为</a:t>
            </a:r>
            <a:r>
              <a:rPr kumimoji="1" lang="en-US" altLang="zh-CN" dirty="0"/>
              <a:t>10-100</a:t>
            </a:r>
            <a:r>
              <a:rPr kumimoji="1" lang="zh-CN" altLang="en-US" dirty="0"/>
              <a:t>毫秒。此时间用完后，进程会被抢占并添加到就绪队列的末尾</a:t>
            </a:r>
          </a:p>
          <a:p>
            <a:r>
              <a:rPr kumimoji="1" lang="zh-CN" altLang="en-US" dirty="0"/>
              <a:t>若就绪队列中有</a:t>
            </a:r>
            <a:r>
              <a:rPr kumimoji="1" lang="en" altLang="zh-CN" dirty="0"/>
              <a:t>n</a:t>
            </a:r>
            <a:r>
              <a:rPr kumimoji="1" lang="zh-CN" altLang="en-US" dirty="0"/>
              <a:t>个进程且时间片为</a:t>
            </a:r>
            <a:r>
              <a:rPr kumimoji="1" lang="en" altLang="zh-CN" dirty="0"/>
              <a:t>q</a:t>
            </a:r>
            <a:r>
              <a:rPr kumimoji="1" lang="zh-CN" altLang="en" dirty="0"/>
              <a:t>，</a:t>
            </a:r>
            <a:r>
              <a:rPr kumimoji="1" lang="zh-CN" altLang="en-US" dirty="0"/>
              <a:t>则每个进程一次最多获得</a:t>
            </a:r>
            <a:r>
              <a:rPr kumimoji="1" lang="en" altLang="zh-CN" dirty="0"/>
              <a:t>CPU</a:t>
            </a:r>
            <a:r>
              <a:rPr kumimoji="1" lang="zh-CN" altLang="en-US" dirty="0"/>
              <a:t>时间的</a:t>
            </a:r>
            <a:r>
              <a:rPr kumimoji="1" lang="en-US" altLang="zh-CN" dirty="0"/>
              <a:t>1 / </a:t>
            </a:r>
            <a:r>
              <a:rPr kumimoji="1" lang="en" altLang="zh-CN" dirty="0"/>
              <a:t>n</a:t>
            </a:r>
            <a:r>
              <a:rPr kumimoji="1" lang="zh-CN" altLang="en-US" dirty="0"/>
              <a:t>，进程等待不会超过</a:t>
            </a:r>
            <a:r>
              <a:rPr kumimoji="1" lang="en-US" altLang="zh-CN" dirty="0"/>
              <a:t>(</a:t>
            </a:r>
            <a:r>
              <a:rPr kumimoji="1" lang="en" altLang="zh-CN" dirty="0"/>
              <a:t>n-1</a:t>
            </a:r>
            <a:r>
              <a:rPr kumimoji="1" lang="en-US" altLang="zh-CN" dirty="0"/>
              <a:t>)q</a:t>
            </a:r>
            <a:r>
              <a:rPr kumimoji="1" lang="zh-CN" altLang="en-US" dirty="0"/>
              <a:t>个时间片</a:t>
            </a:r>
          </a:p>
          <a:p>
            <a:r>
              <a:rPr kumimoji="1" lang="zh-CN" altLang="en-US" dirty="0"/>
              <a:t>时间片到，由计时器发出中断以调度下一个进程</a:t>
            </a:r>
          </a:p>
          <a:p>
            <a:r>
              <a:rPr kumimoji="1" lang="zh-CN" altLang="en-US" dirty="0"/>
              <a:t>性能</a:t>
            </a:r>
          </a:p>
          <a:p>
            <a:pPr lvl="1"/>
            <a:r>
              <a:rPr kumimoji="1" lang="en" altLang="zh-CN" dirty="0"/>
              <a:t>q</a:t>
            </a:r>
            <a:r>
              <a:rPr kumimoji="1" lang="zh-CN" altLang="en" dirty="0"/>
              <a:t>设置</a:t>
            </a:r>
            <a:r>
              <a:rPr kumimoji="1" lang="zh-CN" altLang="en-US" dirty="0"/>
              <a:t>过大，则退化为</a:t>
            </a:r>
            <a:r>
              <a:rPr kumimoji="1" lang="en" altLang="zh-CN" dirty="0"/>
              <a:t>FIFO</a:t>
            </a:r>
          </a:p>
          <a:p>
            <a:pPr lvl="1"/>
            <a:r>
              <a:rPr kumimoji="1" lang="en" altLang="zh-CN" dirty="0"/>
              <a:t>q</a:t>
            </a:r>
            <a:r>
              <a:rPr kumimoji="1" lang="zh-CN" altLang="en" dirty="0"/>
              <a:t>设置</a:t>
            </a:r>
            <a:r>
              <a:rPr kumimoji="1" lang="zh-CN" altLang="en-US" dirty="0"/>
              <a:t>过小，则开销太高，因此</a:t>
            </a:r>
            <a:r>
              <a:rPr kumimoji="1" lang="en" altLang="zh-CN" dirty="0"/>
              <a:t>q</a:t>
            </a:r>
            <a:r>
              <a:rPr kumimoji="1" lang="zh-CN" altLang="en-US" dirty="0"/>
              <a:t>必须大于上下文切换时间</a:t>
            </a:r>
          </a:p>
        </p:txBody>
      </p:sp>
      <p:sp>
        <p:nvSpPr>
          <p:cNvPr id="4" name="灯片编号占位符 3">
            <a:extLst>
              <a:ext uri="{FF2B5EF4-FFF2-40B4-BE49-F238E27FC236}">
                <a16:creationId xmlns:a16="http://schemas.microsoft.com/office/drawing/2014/main" id="{72EABE95-C675-52A6-1028-7E2468410C55}"/>
              </a:ext>
            </a:extLst>
          </p:cNvPr>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extLst>
      <p:ext uri="{BB962C8B-B14F-4D97-AF65-F5344CB8AC3E}">
        <p14:creationId xmlns:p14="http://schemas.microsoft.com/office/powerpoint/2010/main" val="1281913468"/>
      </p:ext>
    </p:extLst>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370034-97BB-E141-355C-812FFF06EA61}"/>
              </a:ext>
            </a:extLst>
          </p:cNvPr>
          <p:cNvSpPr>
            <a:spLocks noGrp="1"/>
          </p:cNvSpPr>
          <p:nvPr>
            <p:ph type="title"/>
          </p:nvPr>
        </p:nvSpPr>
        <p:spPr>
          <a:xfrm>
            <a:off x="1042988" y="225431"/>
            <a:ext cx="7850187" cy="746125"/>
          </a:xfrm>
        </p:spPr>
        <p:txBody>
          <a:bodyPr/>
          <a:lstStyle/>
          <a:p>
            <a:r>
              <a:rPr lang="en-US" altLang="zh-CN" dirty="0"/>
              <a:t>RR</a:t>
            </a:r>
            <a:r>
              <a:rPr lang="zh-CN" altLang="en-US" dirty="0"/>
              <a:t>调度示例（时间片</a:t>
            </a:r>
            <a:r>
              <a:rPr lang="en-US" altLang="zh-CN" dirty="0"/>
              <a:t>=4</a:t>
            </a:r>
            <a:r>
              <a:rPr lang="zh-CN" altLang="en-US" dirty="0"/>
              <a:t>）</a:t>
            </a:r>
          </a:p>
        </p:txBody>
      </p:sp>
      <p:sp>
        <p:nvSpPr>
          <p:cNvPr id="3" name="内容占位符 2">
            <a:extLst>
              <a:ext uri="{FF2B5EF4-FFF2-40B4-BE49-F238E27FC236}">
                <a16:creationId xmlns:a16="http://schemas.microsoft.com/office/drawing/2014/main" id="{9B9513AF-CA80-5A4A-BB49-0AD40DBBDACD}"/>
              </a:ext>
            </a:extLst>
          </p:cNvPr>
          <p:cNvSpPr>
            <a:spLocks noGrp="1"/>
          </p:cNvSpPr>
          <p:nvPr>
            <p:ph idx="1"/>
          </p:nvPr>
        </p:nvSpPr>
        <p:spPr>
          <a:xfrm>
            <a:off x="935038" y="1233488"/>
            <a:ext cx="7772400" cy="4895850"/>
          </a:xfrm>
        </p:spPr>
        <p:txBody>
          <a:bodyPr>
            <a:normAutofit fontScale="77500" lnSpcReduction="20000"/>
          </a:bodyPr>
          <a:lstStyle/>
          <a:p>
            <a:pPr marL="0" indent="0">
              <a:buNone/>
            </a:pPr>
            <a:r>
              <a:rPr lang="zh-CN" altLang="en-US" dirty="0"/>
              <a:t>                    </a:t>
            </a:r>
            <a:r>
              <a:rPr lang="en-US" altLang="en-US" u="sng" dirty="0"/>
              <a:t>Process</a:t>
            </a:r>
            <a:r>
              <a:rPr lang="en-US" altLang="en-US" dirty="0"/>
              <a:t>	</a:t>
            </a:r>
            <a:r>
              <a:rPr lang="zh-CN" altLang="en-US" dirty="0"/>
              <a:t>   </a:t>
            </a:r>
            <a:r>
              <a:rPr lang="en-US" altLang="en-US" u="sng" dirty="0"/>
              <a:t>Burst Time</a:t>
            </a:r>
          </a:p>
          <a:p>
            <a:pPr marL="0" indent="0">
              <a:buNone/>
            </a:pPr>
            <a:r>
              <a:rPr lang="en-US" altLang="en-US" dirty="0"/>
              <a:t>		</a:t>
            </a:r>
            <a:r>
              <a:rPr lang="zh-CN" altLang="en-US" dirty="0"/>
              <a:t> </a:t>
            </a:r>
            <a:r>
              <a:rPr lang="en-US" altLang="en-US" dirty="0"/>
              <a:t>P</a:t>
            </a:r>
            <a:r>
              <a:rPr lang="en-US" altLang="en-US" baseline="-25000" dirty="0"/>
              <a:t>1</a:t>
            </a:r>
            <a:r>
              <a:rPr lang="en-US" altLang="en-US" dirty="0"/>
              <a:t>	</a:t>
            </a:r>
            <a:r>
              <a:rPr lang="zh-CN" altLang="en-US" dirty="0"/>
              <a:t>       </a:t>
            </a:r>
            <a:r>
              <a:rPr lang="en-US" altLang="en-US" dirty="0"/>
              <a:t>24</a:t>
            </a:r>
          </a:p>
          <a:p>
            <a:pPr marL="0" indent="0">
              <a:buNone/>
            </a:pPr>
            <a:r>
              <a:rPr lang="en-US" altLang="en-US" dirty="0"/>
              <a:t>		 P</a:t>
            </a:r>
            <a:r>
              <a:rPr lang="en-US" altLang="en-US" baseline="-25000" dirty="0"/>
              <a:t>2</a:t>
            </a:r>
            <a:r>
              <a:rPr lang="en-US" altLang="en-US" dirty="0"/>
              <a:t>	 </a:t>
            </a:r>
            <a:r>
              <a:rPr lang="zh-CN" altLang="en-US" dirty="0"/>
              <a:t>      </a:t>
            </a:r>
            <a:r>
              <a:rPr lang="en-US" altLang="en-US" dirty="0"/>
              <a:t>3</a:t>
            </a:r>
          </a:p>
          <a:p>
            <a:pPr marL="0" indent="0">
              <a:buNone/>
            </a:pPr>
            <a:r>
              <a:rPr lang="en-US" altLang="en-US" dirty="0"/>
              <a:t>		 P</a:t>
            </a:r>
            <a:r>
              <a:rPr lang="en-US" altLang="en-US" baseline="-25000" dirty="0"/>
              <a:t>3</a:t>
            </a:r>
            <a:r>
              <a:rPr lang="en-US" altLang="en-US" dirty="0"/>
              <a:t>	</a:t>
            </a:r>
            <a:r>
              <a:rPr lang="zh-CN" altLang="en-US" dirty="0"/>
              <a:t>       </a:t>
            </a:r>
            <a:r>
              <a:rPr lang="en-US" altLang="en-US" dirty="0"/>
              <a:t>3	</a:t>
            </a:r>
          </a:p>
          <a:p>
            <a:r>
              <a:rPr lang="en-US" altLang="en-US" dirty="0" err="1"/>
              <a:t>甘特图</a:t>
            </a:r>
            <a:r>
              <a:rPr lang="en-US" altLang="en-US" dirty="0"/>
              <a:t>: </a:t>
            </a:r>
            <a:br>
              <a:rPr lang="en-US" altLang="en-US" dirty="0"/>
            </a:br>
            <a:br>
              <a:rPr lang="en-US" altLang="en-US" dirty="0"/>
            </a:br>
            <a:br>
              <a:rPr lang="en-US" altLang="en-US" dirty="0"/>
            </a:br>
            <a:br>
              <a:rPr lang="en-US" altLang="en-US" dirty="0"/>
            </a:br>
            <a:endParaRPr lang="en-US" altLang="en-US" dirty="0"/>
          </a:p>
          <a:p>
            <a:r>
              <a:rPr lang="en-US" altLang="en-US" dirty="0" err="1"/>
              <a:t>RR调度通常比SJF的周转时间长</a:t>
            </a:r>
            <a:r>
              <a:rPr lang="zh-CN" altLang="en-US" dirty="0"/>
              <a:t>，但响应快</a:t>
            </a:r>
            <a:endParaRPr lang="en-US" altLang="en-US" dirty="0"/>
          </a:p>
          <a:p>
            <a:r>
              <a:rPr lang="en-US" altLang="en-US" dirty="0" err="1"/>
              <a:t>时间片q</a:t>
            </a:r>
            <a:r>
              <a:rPr lang="en-US" altLang="en-US" dirty="0"/>
              <a:t> </a:t>
            </a:r>
            <a:r>
              <a:rPr lang="en-US" altLang="en-US" dirty="0" err="1"/>
              <a:t>应该长于上下文切换的时间</a:t>
            </a:r>
            <a:endParaRPr lang="en-US" altLang="en-US" dirty="0"/>
          </a:p>
          <a:p>
            <a:pPr lvl="1"/>
            <a:r>
              <a:rPr lang="en-US" altLang="en-US" dirty="0"/>
              <a:t>q </a:t>
            </a:r>
            <a:r>
              <a:rPr lang="en-US" altLang="en-US" dirty="0" err="1"/>
              <a:t>的值通常在</a:t>
            </a:r>
            <a:r>
              <a:rPr lang="en-US" altLang="en-US" dirty="0"/>
              <a:t> 10</a:t>
            </a:r>
            <a:r>
              <a:rPr lang="en-US" altLang="zh-CN" dirty="0"/>
              <a:t>~</a:t>
            </a:r>
            <a:r>
              <a:rPr lang="en-US" altLang="en-US" dirty="0"/>
              <a:t>100 </a:t>
            </a:r>
            <a:r>
              <a:rPr lang="en-US" altLang="en-US" dirty="0" err="1"/>
              <a:t>毫秒</a:t>
            </a:r>
            <a:endParaRPr lang="en-US" altLang="en-US" dirty="0"/>
          </a:p>
          <a:p>
            <a:pPr lvl="1"/>
            <a:r>
              <a:rPr lang="en-US" altLang="en-US" dirty="0" err="1"/>
              <a:t>上下文切换时间</a:t>
            </a:r>
            <a:r>
              <a:rPr lang="en-US" altLang="en-US" dirty="0"/>
              <a:t> &lt; 10 </a:t>
            </a:r>
            <a:r>
              <a:rPr lang="en-US" altLang="en-US" dirty="0" err="1"/>
              <a:t>毫秒</a:t>
            </a:r>
            <a:endParaRPr lang="zh-CN" altLang="en-US" dirty="0"/>
          </a:p>
        </p:txBody>
      </p:sp>
      <p:sp>
        <p:nvSpPr>
          <p:cNvPr id="4" name="灯片编号占位符 3">
            <a:extLst>
              <a:ext uri="{FF2B5EF4-FFF2-40B4-BE49-F238E27FC236}">
                <a16:creationId xmlns:a16="http://schemas.microsoft.com/office/drawing/2014/main" id="{E3B735DD-10B9-D14A-377F-815FA96FF76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29</a:t>
            </a:fld>
            <a:endParaRPr lang="zh-CN" altLang="en-US" dirty="0"/>
          </a:p>
        </p:txBody>
      </p:sp>
      <p:pic>
        <p:nvPicPr>
          <p:cNvPr id="8" name="Picture 1">
            <a:extLst>
              <a:ext uri="{FF2B5EF4-FFF2-40B4-BE49-F238E27FC236}">
                <a16:creationId xmlns:a16="http://schemas.microsoft.com/office/drawing/2014/main" id="{322992EB-D4F6-0980-1028-B81EDA099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5894" y="3429000"/>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2055733"/>
      </p:ext>
    </p:extLst>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BDB797-A06D-3CA1-A53D-88EF291CCE34}"/>
              </a:ext>
            </a:extLst>
          </p:cNvPr>
          <p:cNvSpPr>
            <a:spLocks noGrp="1"/>
          </p:cNvSpPr>
          <p:nvPr>
            <p:ph type="title"/>
          </p:nvPr>
        </p:nvSpPr>
        <p:spPr/>
        <p:txBody>
          <a:bodyPr/>
          <a:lstStyle/>
          <a:p>
            <a:r>
              <a:rPr kumimoji="1" lang="zh-CN" altLang="en-US" dirty="0"/>
              <a:t>时间片和上下文切换时间</a:t>
            </a:r>
          </a:p>
        </p:txBody>
      </p:sp>
      <p:sp>
        <p:nvSpPr>
          <p:cNvPr id="3" name="内容占位符 2">
            <a:extLst>
              <a:ext uri="{FF2B5EF4-FFF2-40B4-BE49-F238E27FC236}">
                <a16:creationId xmlns:a16="http://schemas.microsoft.com/office/drawing/2014/main" id="{977960D4-5649-7D13-CF6C-26D5CF6F6F16}"/>
              </a:ext>
            </a:extLst>
          </p:cNvPr>
          <p:cNvSpPr>
            <a:spLocks noGrp="1"/>
          </p:cNvSpPr>
          <p:nvPr>
            <p:ph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809AF9F-2DA8-9919-621E-14A45FFF020A}"/>
              </a:ext>
            </a:extLst>
          </p:cNvPr>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pic>
        <p:nvPicPr>
          <p:cNvPr id="5" name="Picture 1">
            <a:extLst>
              <a:ext uri="{FF2B5EF4-FFF2-40B4-BE49-F238E27FC236}">
                <a16:creationId xmlns:a16="http://schemas.microsoft.com/office/drawing/2014/main" id="{814F7E95-4194-0428-204E-CAE307CE77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35038" y="1832347"/>
            <a:ext cx="7722152" cy="322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2554683"/>
      </p:ext>
    </p:extLst>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DBDA9A-8F96-633E-9C32-8088EFAD1B8F}"/>
              </a:ext>
            </a:extLst>
          </p:cNvPr>
          <p:cNvSpPr>
            <a:spLocks noGrp="1"/>
          </p:cNvSpPr>
          <p:nvPr>
            <p:ph type="title"/>
          </p:nvPr>
        </p:nvSpPr>
        <p:spPr/>
        <p:txBody>
          <a:bodyPr/>
          <a:lstStyle/>
          <a:p>
            <a:r>
              <a:rPr kumimoji="1" lang="zh-CN" altLang="en-US" dirty="0"/>
              <a:t>时间片影响周转时间</a:t>
            </a:r>
          </a:p>
        </p:txBody>
      </p:sp>
      <p:sp>
        <p:nvSpPr>
          <p:cNvPr id="4" name="灯片编号占位符 3">
            <a:extLst>
              <a:ext uri="{FF2B5EF4-FFF2-40B4-BE49-F238E27FC236}">
                <a16:creationId xmlns:a16="http://schemas.microsoft.com/office/drawing/2014/main" id="{5419E268-2985-BCB0-6970-63842773ADF6}"/>
              </a:ext>
            </a:extLst>
          </p:cNvPr>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pic>
        <p:nvPicPr>
          <p:cNvPr id="5" name="Picture 1">
            <a:extLst>
              <a:ext uri="{FF2B5EF4-FFF2-40B4-BE49-F238E27FC236}">
                <a16:creationId xmlns:a16="http://schemas.microsoft.com/office/drawing/2014/main" id="{AE426FA1-0229-0763-A716-57FB348D47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991" y="1233488"/>
            <a:ext cx="5074309"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3">
            <a:extLst>
              <a:ext uri="{FF2B5EF4-FFF2-40B4-BE49-F238E27FC236}">
                <a16:creationId xmlns:a16="http://schemas.microsoft.com/office/drawing/2014/main" id="{7877CF33-36AA-8029-646C-FCCE5318F7EF}"/>
              </a:ext>
            </a:extLst>
          </p:cNvPr>
          <p:cNvSpPr txBox="1">
            <a:spLocks noGrp="1" noChangeArrowheads="1"/>
          </p:cNvSpPr>
          <p:nvPr>
            <p:ph idx="1"/>
          </p:nvPr>
        </p:nvSpPr>
        <p:spPr bwMode="auto">
          <a:xfrm>
            <a:off x="5829300" y="3397892"/>
            <a:ext cx="2763838" cy="759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Century" panose="02040604050505020304" pitchFamily="18" charset="0"/>
                <a:ea typeface="+mn-ea"/>
              </a:rPr>
              <a:t>80% </a:t>
            </a:r>
            <a:r>
              <a:rPr kumimoji="0" lang="en-US" altLang="en-US" sz="2000" dirty="0" err="1">
                <a:latin typeface="Century" panose="02040604050505020304" pitchFamily="18" charset="0"/>
                <a:ea typeface="+mn-ea"/>
              </a:rPr>
              <a:t>CPU执行时间应小于时间片长度</a:t>
            </a:r>
            <a:endParaRPr kumimoji="0" lang="en-US" altLang="en-US" sz="2000" dirty="0">
              <a:latin typeface="Century" panose="02040604050505020304" pitchFamily="18" charset="0"/>
              <a:ea typeface="+mn-ea"/>
            </a:endParaRPr>
          </a:p>
        </p:txBody>
      </p:sp>
    </p:spTree>
    <p:extLst>
      <p:ext uri="{BB962C8B-B14F-4D97-AF65-F5344CB8AC3E}">
        <p14:creationId xmlns:p14="http://schemas.microsoft.com/office/powerpoint/2010/main" val="1648758912"/>
      </p:ext>
    </p:extLst>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BE9C22-DA55-719F-4766-90B14641BE88}"/>
              </a:ext>
            </a:extLst>
          </p:cNvPr>
          <p:cNvSpPr>
            <a:spLocks noGrp="1"/>
          </p:cNvSpPr>
          <p:nvPr>
            <p:ph type="title"/>
          </p:nvPr>
        </p:nvSpPr>
        <p:spPr/>
        <p:txBody>
          <a:bodyPr/>
          <a:lstStyle/>
          <a:p>
            <a:r>
              <a:rPr kumimoji="1" lang="zh-CN" altLang="en-US" dirty="0"/>
              <a:t>优先级调度</a:t>
            </a:r>
          </a:p>
        </p:txBody>
      </p:sp>
      <p:sp>
        <p:nvSpPr>
          <p:cNvPr id="3" name="内容占位符 2">
            <a:extLst>
              <a:ext uri="{FF2B5EF4-FFF2-40B4-BE49-F238E27FC236}">
                <a16:creationId xmlns:a16="http://schemas.microsoft.com/office/drawing/2014/main" id="{F9732A94-15C8-20C8-6137-AD0E19557E3B}"/>
              </a:ext>
            </a:extLst>
          </p:cNvPr>
          <p:cNvSpPr>
            <a:spLocks noGrp="1"/>
          </p:cNvSpPr>
          <p:nvPr>
            <p:ph idx="1"/>
          </p:nvPr>
        </p:nvSpPr>
        <p:spPr/>
        <p:txBody>
          <a:bodyPr>
            <a:normAutofit fontScale="85000" lnSpcReduction="20000"/>
          </a:bodyPr>
          <a:lstStyle/>
          <a:p>
            <a:r>
              <a:rPr kumimoji="1" lang="zh-CN" altLang="en-US" dirty="0"/>
              <a:t>每个进程都与一个优先级数字（整数）相关联</a:t>
            </a:r>
          </a:p>
          <a:p>
            <a:r>
              <a:rPr kumimoji="1" lang="en" altLang="zh-CN" dirty="0"/>
              <a:t>CPU</a:t>
            </a:r>
            <a:r>
              <a:rPr kumimoji="1" lang="zh-CN" altLang="en-US" dirty="0"/>
              <a:t>分配给具有最高优先级的进程（通常，最小整数 </a:t>
            </a:r>
            <a:r>
              <a:rPr kumimoji="1" lang="en-US" altLang="zh-CN" dirty="0"/>
              <a:t>=</a:t>
            </a:r>
            <a:r>
              <a:rPr kumimoji="1" lang="zh-CN" altLang="en-US" dirty="0"/>
              <a:t> 最高优先级）</a:t>
            </a:r>
          </a:p>
          <a:p>
            <a:r>
              <a:rPr kumimoji="1" lang="zh-CN" altLang="en-US" dirty="0"/>
              <a:t>两种方案：</a:t>
            </a:r>
          </a:p>
          <a:p>
            <a:pPr lvl="1"/>
            <a:r>
              <a:rPr kumimoji="1" lang="zh-CN" altLang="en-US" dirty="0"/>
              <a:t>可抢占式</a:t>
            </a:r>
          </a:p>
          <a:p>
            <a:pPr lvl="1"/>
            <a:r>
              <a:rPr kumimoji="1" lang="zh-CN" altLang="en-US" dirty="0"/>
              <a:t>不可抢占式</a:t>
            </a:r>
          </a:p>
          <a:p>
            <a:r>
              <a:rPr kumimoji="1" lang="zh-CN" altLang="en-US" dirty="0"/>
              <a:t>问题：饥饿</a:t>
            </a:r>
            <a:r>
              <a:rPr kumimoji="1" lang="en-US" altLang="zh-CN" dirty="0"/>
              <a:t>—</a:t>
            </a:r>
            <a:r>
              <a:rPr kumimoji="1" lang="zh-CN" altLang="en-US" dirty="0"/>
              <a:t>低优先级进程可能永远不会执行</a:t>
            </a:r>
          </a:p>
          <a:p>
            <a:r>
              <a:rPr kumimoji="1" lang="zh-CN" altLang="en-US" dirty="0"/>
              <a:t>解决方案：老化</a:t>
            </a:r>
            <a:r>
              <a:rPr kumimoji="1" lang="en-US" altLang="zh-CN" dirty="0"/>
              <a:t>—</a:t>
            </a:r>
            <a:r>
              <a:rPr kumimoji="1" lang="zh-CN" altLang="en-US" dirty="0"/>
              <a:t>随着时间的推移，增加进程的优先级</a:t>
            </a:r>
          </a:p>
          <a:p>
            <a:r>
              <a:rPr kumimoji="1" lang="zh-CN" altLang="en-US" dirty="0"/>
              <a:t>注意：</a:t>
            </a:r>
            <a:r>
              <a:rPr kumimoji="1" lang="en" altLang="zh-CN" dirty="0"/>
              <a:t>SJF</a:t>
            </a:r>
            <a:r>
              <a:rPr kumimoji="1" lang="zh-CN" altLang="en-US" dirty="0"/>
              <a:t>可以看做是优先级调度，其中优先级是预测的下一个</a:t>
            </a:r>
            <a:r>
              <a:rPr kumimoji="1" lang="en" altLang="zh-CN" dirty="0"/>
              <a:t>CPU</a:t>
            </a:r>
            <a:r>
              <a:rPr kumimoji="1" lang="zh-CN" altLang="en-US" dirty="0"/>
              <a:t>执行时间的倒数</a:t>
            </a:r>
          </a:p>
        </p:txBody>
      </p:sp>
      <p:sp>
        <p:nvSpPr>
          <p:cNvPr id="4" name="灯片编号占位符 3">
            <a:extLst>
              <a:ext uri="{FF2B5EF4-FFF2-40B4-BE49-F238E27FC236}">
                <a16:creationId xmlns:a16="http://schemas.microsoft.com/office/drawing/2014/main" id="{694934B0-B506-DAC2-F9F3-5E97B9FEE04A}"/>
              </a:ext>
            </a:extLst>
          </p:cNvPr>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spTree>
    <p:extLst>
      <p:ext uri="{BB962C8B-B14F-4D97-AF65-F5344CB8AC3E}">
        <p14:creationId xmlns:p14="http://schemas.microsoft.com/office/powerpoint/2010/main" val="1620353422"/>
      </p:ext>
    </p:extLst>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783DF0-4B51-E50B-4253-EB1AC3C7F903}"/>
              </a:ext>
            </a:extLst>
          </p:cNvPr>
          <p:cNvSpPr>
            <a:spLocks noGrp="1"/>
          </p:cNvSpPr>
          <p:nvPr>
            <p:ph type="title"/>
          </p:nvPr>
        </p:nvSpPr>
        <p:spPr>
          <a:xfrm>
            <a:off x="1042988" y="225431"/>
            <a:ext cx="7850187" cy="746125"/>
          </a:xfrm>
        </p:spPr>
        <p:txBody>
          <a:bodyPr/>
          <a:lstStyle/>
          <a:p>
            <a:r>
              <a:rPr lang="zh-CN" altLang="en-US" dirty="0"/>
              <a:t>优先级调度示例</a:t>
            </a:r>
          </a:p>
        </p:txBody>
      </p:sp>
      <p:sp>
        <p:nvSpPr>
          <p:cNvPr id="3" name="内容占位符 2">
            <a:extLst>
              <a:ext uri="{FF2B5EF4-FFF2-40B4-BE49-F238E27FC236}">
                <a16:creationId xmlns:a16="http://schemas.microsoft.com/office/drawing/2014/main" id="{B61140CB-59B5-B319-EACC-E11047B890B7}"/>
              </a:ext>
            </a:extLst>
          </p:cNvPr>
          <p:cNvSpPr>
            <a:spLocks noGrp="1"/>
          </p:cNvSpPr>
          <p:nvPr>
            <p:ph idx="1"/>
          </p:nvPr>
        </p:nvSpPr>
        <p:spPr>
          <a:xfrm>
            <a:off x="935038" y="1233488"/>
            <a:ext cx="7772400" cy="4895850"/>
          </a:xfrm>
        </p:spPr>
        <p:txBody>
          <a:bodyPr>
            <a:normAutofit fontScale="70000" lnSpcReduction="20000"/>
          </a:bodyPr>
          <a:lstStyle/>
          <a:p>
            <a:pPr marL="0" indent="0">
              <a:buNone/>
            </a:pPr>
            <a:r>
              <a:rPr lang="en-US" altLang="en-US" dirty="0"/>
              <a:t> </a:t>
            </a:r>
            <a:r>
              <a:rPr lang="zh-CN" altLang="en-US" dirty="0"/>
              <a:t>                  </a:t>
            </a:r>
            <a:r>
              <a:rPr lang="en-US" altLang="en-US" u="sng" dirty="0"/>
              <a:t>Process</a:t>
            </a:r>
            <a:r>
              <a:rPr lang="zh-CN" altLang="en-US" dirty="0"/>
              <a:t>      </a:t>
            </a:r>
            <a:r>
              <a:rPr lang="en-US" altLang="en-US" u="sng" dirty="0"/>
              <a:t>Burst Time</a:t>
            </a:r>
            <a:r>
              <a:rPr lang="zh-CN" altLang="en-US" u="sng" dirty="0"/>
              <a:t> </a:t>
            </a:r>
            <a:r>
              <a:rPr lang="en-US" altLang="en-US" dirty="0"/>
              <a:t>	</a:t>
            </a:r>
            <a:r>
              <a:rPr lang="en-US" altLang="en-US" u="sng" dirty="0"/>
              <a:t>Priority</a:t>
            </a:r>
          </a:p>
          <a:p>
            <a:pPr marL="0" indent="0">
              <a:buNone/>
            </a:pPr>
            <a:r>
              <a:rPr lang="en-US" altLang="en-US" dirty="0"/>
              <a:t>		 P</a:t>
            </a:r>
            <a:r>
              <a:rPr lang="en-US" altLang="en-US" baseline="-25000" dirty="0"/>
              <a:t>1</a:t>
            </a:r>
            <a:r>
              <a:rPr lang="en-US" altLang="en-US" dirty="0"/>
              <a:t>	</a:t>
            </a:r>
            <a:r>
              <a:rPr lang="zh-CN" altLang="en-US" dirty="0"/>
              <a:t>         </a:t>
            </a:r>
            <a:r>
              <a:rPr lang="en-US" altLang="en-US" dirty="0"/>
              <a:t>10	</a:t>
            </a:r>
            <a:r>
              <a:rPr lang="zh-CN" altLang="en-US" dirty="0"/>
              <a:t>   </a:t>
            </a:r>
            <a:r>
              <a:rPr lang="en-US" altLang="en-US" dirty="0"/>
              <a:t>3</a:t>
            </a:r>
          </a:p>
          <a:p>
            <a:pPr marL="0" indent="0">
              <a:buNone/>
            </a:pPr>
            <a:r>
              <a:rPr lang="en-US" altLang="en-US" dirty="0"/>
              <a:t>		 P</a:t>
            </a:r>
            <a:r>
              <a:rPr lang="en-US" altLang="en-US" baseline="-25000" dirty="0"/>
              <a:t>2</a:t>
            </a:r>
            <a:r>
              <a:rPr lang="en-US" altLang="en-US" dirty="0"/>
              <a:t> 	</a:t>
            </a:r>
            <a:r>
              <a:rPr lang="zh-CN" altLang="en-US" dirty="0"/>
              <a:t>           </a:t>
            </a:r>
            <a:r>
              <a:rPr lang="en-US" altLang="en-US" dirty="0"/>
              <a:t>1	</a:t>
            </a:r>
            <a:r>
              <a:rPr lang="zh-CN" altLang="en-US" dirty="0"/>
              <a:t>   </a:t>
            </a:r>
            <a:r>
              <a:rPr lang="en-US" altLang="en-US" dirty="0"/>
              <a:t>1</a:t>
            </a:r>
          </a:p>
          <a:p>
            <a:pPr marL="0" indent="0">
              <a:buNone/>
            </a:pPr>
            <a:r>
              <a:rPr lang="en-US" altLang="en-US" dirty="0"/>
              <a:t>		 P</a:t>
            </a:r>
            <a:r>
              <a:rPr lang="en-US" altLang="en-US" baseline="-25000" dirty="0"/>
              <a:t>3</a:t>
            </a:r>
            <a:r>
              <a:rPr lang="en-US" altLang="en-US" dirty="0"/>
              <a:t>	</a:t>
            </a:r>
            <a:r>
              <a:rPr lang="zh-CN" altLang="en-US" dirty="0"/>
              <a:t>           </a:t>
            </a:r>
            <a:r>
              <a:rPr lang="en-US" altLang="en-US" dirty="0"/>
              <a:t>2	</a:t>
            </a:r>
            <a:r>
              <a:rPr lang="zh-CN" altLang="en-US" dirty="0"/>
              <a:t>   </a:t>
            </a:r>
            <a:r>
              <a:rPr lang="en-US" altLang="en-US" dirty="0"/>
              <a:t>4</a:t>
            </a:r>
          </a:p>
          <a:p>
            <a:pPr marL="0" indent="0">
              <a:buNone/>
            </a:pPr>
            <a:r>
              <a:rPr lang="en-US" altLang="en-US" dirty="0"/>
              <a:t>		 P</a:t>
            </a:r>
            <a:r>
              <a:rPr lang="en-US" altLang="en-US" baseline="-25000" dirty="0"/>
              <a:t>4</a:t>
            </a:r>
            <a:r>
              <a:rPr lang="en-US" altLang="en-US" dirty="0"/>
              <a:t>	</a:t>
            </a:r>
            <a:r>
              <a:rPr lang="zh-CN" altLang="en-US" dirty="0"/>
              <a:t>           </a:t>
            </a:r>
            <a:r>
              <a:rPr lang="en-US" altLang="en-US" dirty="0"/>
              <a:t>1	</a:t>
            </a:r>
            <a:r>
              <a:rPr lang="zh-CN" altLang="en-US" dirty="0"/>
              <a:t>   </a:t>
            </a:r>
            <a:r>
              <a:rPr lang="en-US" altLang="en-US" dirty="0"/>
              <a:t>5</a:t>
            </a:r>
          </a:p>
          <a:p>
            <a:pPr marL="0" indent="0">
              <a:buNone/>
            </a:pPr>
            <a:r>
              <a:rPr lang="en-US" altLang="en-US" dirty="0"/>
              <a:t>		</a:t>
            </a:r>
            <a:r>
              <a:rPr lang="zh-CN" altLang="en-US" dirty="0"/>
              <a:t> </a:t>
            </a:r>
            <a:r>
              <a:rPr lang="en-US" altLang="en-US" dirty="0"/>
              <a:t>P</a:t>
            </a:r>
            <a:r>
              <a:rPr lang="en-US" altLang="en-US" baseline="-25000" dirty="0"/>
              <a:t>5</a:t>
            </a:r>
            <a:r>
              <a:rPr lang="en-US" altLang="en-US" dirty="0"/>
              <a:t>	</a:t>
            </a:r>
            <a:r>
              <a:rPr lang="zh-CN" altLang="en-US" dirty="0"/>
              <a:t>           </a:t>
            </a:r>
            <a:r>
              <a:rPr lang="en-US" altLang="en-US" dirty="0"/>
              <a:t>5	</a:t>
            </a:r>
            <a:r>
              <a:rPr lang="zh-CN" altLang="en-US" dirty="0"/>
              <a:t>   </a:t>
            </a:r>
            <a:r>
              <a:rPr lang="en-US" altLang="en-US" dirty="0"/>
              <a:t>2</a:t>
            </a:r>
          </a:p>
          <a:p>
            <a:endParaRPr lang="en-US" altLang="en-US" dirty="0"/>
          </a:p>
          <a:p>
            <a:r>
              <a:rPr lang="en-US" altLang="en-US" dirty="0" err="1"/>
              <a:t>优先级调度甘特图</a:t>
            </a:r>
            <a:endParaRPr lang="en-US" altLang="en-US" dirty="0"/>
          </a:p>
          <a:p>
            <a:pPr marL="0" indent="0">
              <a:buNone/>
            </a:pPr>
            <a:endParaRPr lang="en-US" altLang="en-US" dirty="0"/>
          </a:p>
          <a:p>
            <a:endParaRPr lang="en-US" altLang="en-US" dirty="0"/>
          </a:p>
          <a:p>
            <a:endParaRPr lang="en-US" altLang="en-US" dirty="0"/>
          </a:p>
          <a:p>
            <a:endParaRPr lang="en-US" altLang="en-US" dirty="0"/>
          </a:p>
          <a:p>
            <a:r>
              <a:rPr lang="en-US" altLang="en-US" dirty="0" err="1"/>
              <a:t>平均等待时间</a:t>
            </a:r>
            <a:r>
              <a:rPr lang="en-US" altLang="en-US" dirty="0"/>
              <a:t> = 8.2</a:t>
            </a:r>
            <a:endParaRPr lang="zh-CN" altLang="en-US" dirty="0"/>
          </a:p>
        </p:txBody>
      </p:sp>
      <p:sp>
        <p:nvSpPr>
          <p:cNvPr id="4" name="灯片编号占位符 3">
            <a:extLst>
              <a:ext uri="{FF2B5EF4-FFF2-40B4-BE49-F238E27FC236}">
                <a16:creationId xmlns:a16="http://schemas.microsoft.com/office/drawing/2014/main" id="{656775F5-2FC3-F233-EFFF-DC13776F0A1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33</a:t>
            </a:fld>
            <a:endParaRPr lang="zh-CN" altLang="en-US" dirty="0"/>
          </a:p>
        </p:txBody>
      </p:sp>
      <p:pic>
        <p:nvPicPr>
          <p:cNvPr id="5" name="Picture 1">
            <a:extLst>
              <a:ext uri="{FF2B5EF4-FFF2-40B4-BE49-F238E27FC236}">
                <a16:creationId xmlns:a16="http://schemas.microsoft.com/office/drawing/2014/main" id="{ABC08B07-9CDF-8B9D-603B-FEADBFC8A7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4388024"/>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1214048"/>
      </p:ext>
    </p:extLst>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445E8-DD6B-C831-B482-FCCA4231D77F}"/>
              </a:ext>
            </a:extLst>
          </p:cNvPr>
          <p:cNvSpPr>
            <a:spLocks noGrp="1"/>
          </p:cNvSpPr>
          <p:nvPr>
            <p:ph type="title"/>
          </p:nvPr>
        </p:nvSpPr>
        <p:spPr/>
        <p:txBody>
          <a:bodyPr/>
          <a:lstStyle/>
          <a:p>
            <a:r>
              <a:rPr kumimoji="1" lang="zh-CN" altLang="en-US" dirty="0"/>
              <a:t>结合</a:t>
            </a:r>
            <a:r>
              <a:rPr kumimoji="1" lang="en-US" altLang="zh-CN" dirty="0"/>
              <a:t>RR</a:t>
            </a:r>
            <a:r>
              <a:rPr kumimoji="1" lang="zh-CN" altLang="en-US" dirty="0"/>
              <a:t>的优先级调度</a:t>
            </a:r>
          </a:p>
        </p:txBody>
      </p:sp>
      <p:sp>
        <p:nvSpPr>
          <p:cNvPr id="3" name="内容占位符 2">
            <a:extLst>
              <a:ext uri="{FF2B5EF4-FFF2-40B4-BE49-F238E27FC236}">
                <a16:creationId xmlns:a16="http://schemas.microsoft.com/office/drawing/2014/main" id="{C124394D-B409-BA43-4BF0-B580C6E17706}"/>
              </a:ext>
            </a:extLst>
          </p:cNvPr>
          <p:cNvSpPr>
            <a:spLocks noGrp="1"/>
          </p:cNvSpPr>
          <p:nvPr>
            <p:ph idx="1"/>
          </p:nvPr>
        </p:nvSpPr>
        <p:spPr/>
        <p:txBody>
          <a:bodyPr>
            <a:normAutofit fontScale="77500" lnSpcReduction="20000"/>
          </a:bodyPr>
          <a:lstStyle/>
          <a:p>
            <a:pPr>
              <a:tabLst>
                <a:tab pos="1600200" algn="ctr"/>
                <a:tab pos="3251200" algn="ctr"/>
                <a:tab pos="5140325" algn="ctr"/>
              </a:tabLst>
            </a:pPr>
            <a:r>
              <a:rPr lang="en-US" altLang="en-US" dirty="0" err="1"/>
              <a:t>调度最高优先级的进程</a:t>
            </a:r>
            <a:r>
              <a:rPr lang="zh-CN" altLang="en-US" dirty="0"/>
              <a:t>，若进程优先级相同，则按</a:t>
            </a:r>
            <a:r>
              <a:rPr lang="en-US" altLang="zh-CN" dirty="0"/>
              <a:t>RR</a:t>
            </a:r>
            <a:r>
              <a:rPr lang="zh-CN" altLang="en-US" dirty="0"/>
              <a:t>方式进行调度</a:t>
            </a:r>
            <a:endParaRPr lang="en-US" altLang="en-US" dirty="0"/>
          </a:p>
          <a:p>
            <a:pPr>
              <a:tabLst>
                <a:tab pos="1600200" algn="ctr"/>
                <a:tab pos="3251200" algn="ctr"/>
                <a:tab pos="5140325" algn="ctr"/>
              </a:tabLst>
            </a:pPr>
            <a:r>
              <a:rPr lang="en-US" altLang="en-US" dirty="0" err="1"/>
              <a:t>示例</a:t>
            </a:r>
            <a:r>
              <a:rPr lang="en-US" altLang="en-US" dirty="0"/>
              <a:t>:</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P</a:t>
            </a:r>
            <a:r>
              <a:rPr lang="en-US" altLang="en-US"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P</a:t>
            </a:r>
            <a:r>
              <a:rPr lang="en-US" altLang="en-US"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P</a:t>
            </a:r>
            <a:r>
              <a:rPr lang="en-US" altLang="en-US"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P</a:t>
            </a:r>
            <a:r>
              <a:rPr lang="en-US" altLang="en-US"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P</a:t>
            </a:r>
            <a:r>
              <a:rPr lang="en-US" altLang="en-US" baseline="-25000" dirty="0"/>
              <a:t>5</a:t>
            </a:r>
            <a:r>
              <a:rPr lang="en-US" altLang="en-US" i="1" baseline="-25000" dirty="0"/>
              <a:t>	</a:t>
            </a:r>
            <a:r>
              <a:rPr lang="en-US" altLang="en-US" dirty="0"/>
              <a:t>3	3</a:t>
            </a:r>
            <a:endParaRPr lang="en-US" altLang="en-US" baseline="-25000" dirty="0"/>
          </a:p>
          <a:p>
            <a:pPr marL="0" indent="0">
              <a:buNone/>
              <a:tabLst>
                <a:tab pos="1600200" algn="ctr"/>
                <a:tab pos="3251200" algn="ctr"/>
                <a:tab pos="5140325" algn="ctr"/>
              </a:tabLst>
            </a:pPr>
            <a:endParaRPr kumimoji="1" lang="en-US" altLang="zh-CN" dirty="0"/>
          </a:p>
          <a:p>
            <a:pPr marL="0" indent="0">
              <a:buNone/>
              <a:tabLst>
                <a:tab pos="1600200" algn="ctr"/>
                <a:tab pos="3251200" algn="ctr"/>
                <a:tab pos="5140325" algn="ctr"/>
              </a:tabLst>
            </a:pPr>
            <a:r>
              <a:rPr kumimoji="1" lang="zh-CN" altLang="en-US" dirty="0"/>
              <a:t> </a:t>
            </a:r>
          </a:p>
        </p:txBody>
      </p:sp>
      <p:sp>
        <p:nvSpPr>
          <p:cNvPr id="4" name="灯片编号占位符 3">
            <a:extLst>
              <a:ext uri="{FF2B5EF4-FFF2-40B4-BE49-F238E27FC236}">
                <a16:creationId xmlns:a16="http://schemas.microsoft.com/office/drawing/2014/main" id="{478BBDB8-732C-2E40-52BE-E569A54DC3B3}"/>
              </a:ext>
            </a:extLst>
          </p:cNvPr>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pic>
        <p:nvPicPr>
          <p:cNvPr id="5" name="Picture 2">
            <a:extLst>
              <a:ext uri="{FF2B5EF4-FFF2-40B4-BE49-F238E27FC236}">
                <a16:creationId xmlns:a16="http://schemas.microsoft.com/office/drawing/2014/main" id="{CC657867-4A89-FEC3-1E5D-C174296EFDF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33375" y="5140017"/>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C0B0BEF5-29A1-06D6-F411-FBA635CFC9BE}"/>
              </a:ext>
            </a:extLst>
          </p:cNvPr>
          <p:cNvSpPr txBox="1"/>
          <p:nvPr/>
        </p:nvSpPr>
        <p:spPr>
          <a:xfrm>
            <a:off x="3807911" y="6129338"/>
            <a:ext cx="2342367" cy="369332"/>
          </a:xfrm>
          <a:prstGeom prst="rect">
            <a:avLst/>
          </a:prstGeom>
          <a:noFill/>
        </p:spPr>
        <p:txBody>
          <a:bodyPr wrap="square" rtlCol="0">
            <a:spAutoFit/>
          </a:bodyPr>
          <a:lstStyle/>
          <a:p>
            <a:r>
              <a:rPr kumimoji="1" lang="zh-CN" altLang="en-US" dirty="0"/>
              <a:t>时间片为</a:t>
            </a:r>
            <a:r>
              <a:rPr kumimoji="1" lang="en-US" altLang="zh-CN" dirty="0"/>
              <a:t>2</a:t>
            </a:r>
            <a:r>
              <a:rPr kumimoji="1" lang="zh-CN" altLang="en-US" dirty="0"/>
              <a:t>的甘特图</a:t>
            </a:r>
          </a:p>
        </p:txBody>
      </p:sp>
    </p:spTree>
    <p:extLst>
      <p:ext uri="{BB962C8B-B14F-4D97-AF65-F5344CB8AC3E}">
        <p14:creationId xmlns:p14="http://schemas.microsoft.com/office/powerpoint/2010/main" val="1764240761"/>
      </p:ext>
    </p:extLst>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E2388-7A5A-F0A0-7D88-6A99F23A22F7}"/>
              </a:ext>
            </a:extLst>
          </p:cNvPr>
          <p:cNvSpPr>
            <a:spLocks noGrp="1"/>
          </p:cNvSpPr>
          <p:nvPr>
            <p:ph type="title"/>
          </p:nvPr>
        </p:nvSpPr>
        <p:spPr/>
        <p:txBody>
          <a:bodyPr/>
          <a:lstStyle/>
          <a:p>
            <a:r>
              <a:rPr kumimoji="1" lang="zh-CN" altLang="en-US" dirty="0"/>
              <a:t>多级队列</a:t>
            </a:r>
          </a:p>
        </p:txBody>
      </p:sp>
      <p:sp>
        <p:nvSpPr>
          <p:cNvPr id="3" name="内容占位符 2">
            <a:extLst>
              <a:ext uri="{FF2B5EF4-FFF2-40B4-BE49-F238E27FC236}">
                <a16:creationId xmlns:a16="http://schemas.microsoft.com/office/drawing/2014/main" id="{15C83909-766C-72E2-618E-FBF9F0639063}"/>
              </a:ext>
            </a:extLst>
          </p:cNvPr>
          <p:cNvSpPr>
            <a:spLocks noGrp="1"/>
          </p:cNvSpPr>
          <p:nvPr>
            <p:ph idx="1"/>
          </p:nvPr>
        </p:nvSpPr>
        <p:spPr/>
        <p:txBody>
          <a:bodyPr/>
          <a:lstStyle/>
          <a:p>
            <a:r>
              <a:rPr kumimoji="1" lang="zh-CN" altLang="en-US" dirty="0"/>
              <a:t>就绪队列由多个队列构成</a:t>
            </a:r>
            <a:endParaRPr kumimoji="1" lang="en-US" altLang="zh-CN" dirty="0"/>
          </a:p>
          <a:p>
            <a:pPr lvl="1"/>
            <a:r>
              <a:rPr kumimoji="1" lang="zh-CN" altLang="en-US" dirty="0"/>
              <a:t>不同的优先级都有各自独立的队列</a:t>
            </a:r>
            <a:endParaRPr kumimoji="1" lang="en-US" altLang="zh-CN" dirty="0"/>
          </a:p>
          <a:p>
            <a:pPr lvl="1"/>
            <a:r>
              <a:rPr kumimoji="1" lang="zh-CN" altLang="en-US" dirty="0"/>
              <a:t>调度从最高优先级的队列开始</a:t>
            </a:r>
          </a:p>
        </p:txBody>
      </p:sp>
      <p:sp>
        <p:nvSpPr>
          <p:cNvPr id="4" name="灯片编号占位符 3">
            <a:extLst>
              <a:ext uri="{FF2B5EF4-FFF2-40B4-BE49-F238E27FC236}">
                <a16:creationId xmlns:a16="http://schemas.microsoft.com/office/drawing/2014/main" id="{E8463F1F-0C50-5FE8-8624-6624108FD92B}"/>
              </a:ext>
            </a:extLst>
          </p:cNvPr>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pic>
        <p:nvPicPr>
          <p:cNvPr id="5" name="Picture 1">
            <a:extLst>
              <a:ext uri="{FF2B5EF4-FFF2-40B4-BE49-F238E27FC236}">
                <a16:creationId xmlns:a16="http://schemas.microsoft.com/office/drawing/2014/main" id="{BE8EA7FB-4199-331D-ADDD-1AF77FC504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98394" y="3135639"/>
            <a:ext cx="2547211" cy="281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6414887"/>
      </p:ext>
    </p:extLst>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C7676-D53B-9FF5-CFB5-13FA3D6548B1}"/>
              </a:ext>
            </a:extLst>
          </p:cNvPr>
          <p:cNvSpPr>
            <a:spLocks noGrp="1"/>
          </p:cNvSpPr>
          <p:nvPr>
            <p:ph type="title"/>
          </p:nvPr>
        </p:nvSpPr>
        <p:spPr/>
        <p:txBody>
          <a:bodyPr/>
          <a:lstStyle/>
          <a:p>
            <a:r>
              <a:rPr kumimoji="1" lang="zh-CN" altLang="en-US" dirty="0"/>
              <a:t>多级队列</a:t>
            </a:r>
          </a:p>
        </p:txBody>
      </p:sp>
      <p:sp>
        <p:nvSpPr>
          <p:cNvPr id="3" name="内容占位符 2">
            <a:extLst>
              <a:ext uri="{FF2B5EF4-FFF2-40B4-BE49-F238E27FC236}">
                <a16:creationId xmlns:a16="http://schemas.microsoft.com/office/drawing/2014/main" id="{E839FB5F-1771-068D-3C04-6A42E14C644F}"/>
              </a:ext>
            </a:extLst>
          </p:cNvPr>
          <p:cNvSpPr>
            <a:spLocks noGrp="1"/>
          </p:cNvSpPr>
          <p:nvPr>
            <p:ph idx="1"/>
          </p:nvPr>
        </p:nvSpPr>
        <p:spPr/>
        <p:txBody>
          <a:bodyPr/>
          <a:lstStyle/>
          <a:p>
            <a:r>
              <a:rPr kumimoji="1" lang="zh-CN" altLang="en-US" dirty="0"/>
              <a:t>根据进程的类别来确定优先级</a:t>
            </a:r>
          </a:p>
        </p:txBody>
      </p:sp>
      <p:sp>
        <p:nvSpPr>
          <p:cNvPr id="4" name="灯片编号占位符 3">
            <a:extLst>
              <a:ext uri="{FF2B5EF4-FFF2-40B4-BE49-F238E27FC236}">
                <a16:creationId xmlns:a16="http://schemas.microsoft.com/office/drawing/2014/main" id="{2D97913F-B23F-3AEA-D0BB-25B80D2A56E9}"/>
              </a:ext>
            </a:extLst>
          </p:cNvPr>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pic>
        <p:nvPicPr>
          <p:cNvPr id="5" name="Picture 3">
            <a:extLst>
              <a:ext uri="{FF2B5EF4-FFF2-40B4-BE49-F238E27FC236}">
                <a16:creationId xmlns:a16="http://schemas.microsoft.com/office/drawing/2014/main" id="{5B27175C-F005-6A5B-A261-DEA0038B43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9510" y="2403245"/>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5315637"/>
      </p:ext>
    </p:extLst>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D595B4-8D93-FAD4-FE4D-0EDBBEF969BB}"/>
              </a:ext>
            </a:extLst>
          </p:cNvPr>
          <p:cNvSpPr>
            <a:spLocks noGrp="1"/>
          </p:cNvSpPr>
          <p:nvPr>
            <p:ph type="title"/>
          </p:nvPr>
        </p:nvSpPr>
        <p:spPr/>
        <p:txBody>
          <a:bodyPr/>
          <a:lstStyle/>
          <a:p>
            <a:r>
              <a:rPr kumimoji="1" lang="zh-CN" altLang="en-US" dirty="0"/>
              <a:t>多级反馈队列</a:t>
            </a:r>
          </a:p>
        </p:txBody>
      </p:sp>
      <p:sp>
        <p:nvSpPr>
          <p:cNvPr id="3" name="内容占位符 2">
            <a:extLst>
              <a:ext uri="{FF2B5EF4-FFF2-40B4-BE49-F238E27FC236}">
                <a16:creationId xmlns:a16="http://schemas.microsoft.com/office/drawing/2014/main" id="{F1155CF4-86BA-26F1-4ED8-864AB586F1F0}"/>
              </a:ext>
            </a:extLst>
          </p:cNvPr>
          <p:cNvSpPr>
            <a:spLocks noGrp="1"/>
          </p:cNvSpPr>
          <p:nvPr>
            <p:ph idx="1"/>
          </p:nvPr>
        </p:nvSpPr>
        <p:spPr/>
        <p:txBody>
          <a:bodyPr>
            <a:normAutofit fontScale="92500"/>
          </a:bodyPr>
          <a:lstStyle/>
          <a:p>
            <a:r>
              <a:rPr kumimoji="1" lang="zh-CN" altLang="en-US" dirty="0"/>
              <a:t>一个进程可以在各个队列之间移动</a:t>
            </a:r>
          </a:p>
          <a:p>
            <a:r>
              <a:rPr kumimoji="1" lang="zh-CN" altLang="en-US" dirty="0"/>
              <a:t>多级反馈队列的调度程序由以下参数定义：</a:t>
            </a:r>
          </a:p>
          <a:p>
            <a:pPr lvl="1"/>
            <a:r>
              <a:rPr kumimoji="1" lang="zh-CN" altLang="en-US" dirty="0"/>
              <a:t>队列数量</a:t>
            </a:r>
          </a:p>
          <a:p>
            <a:pPr lvl="1"/>
            <a:r>
              <a:rPr kumimoji="1" lang="zh-CN" altLang="en-US" dirty="0"/>
              <a:t>每个队列的调度算法</a:t>
            </a:r>
          </a:p>
          <a:p>
            <a:pPr lvl="1"/>
            <a:r>
              <a:rPr kumimoji="1" lang="zh-CN" altLang="en-US" dirty="0"/>
              <a:t>何时升级进程的方法</a:t>
            </a:r>
          </a:p>
          <a:p>
            <a:pPr lvl="1"/>
            <a:r>
              <a:rPr kumimoji="1" lang="zh-CN" altLang="en-US" dirty="0"/>
              <a:t>何时降级进程的方法</a:t>
            </a:r>
          </a:p>
          <a:p>
            <a:pPr lvl="1"/>
            <a:r>
              <a:rPr kumimoji="1" lang="zh-CN" altLang="en-US" dirty="0"/>
              <a:t>进程将进入哪个队列的方法</a:t>
            </a:r>
          </a:p>
          <a:p>
            <a:r>
              <a:rPr kumimoji="1" lang="zh-CN" altLang="en-US" dirty="0"/>
              <a:t>可以通过多级反馈队列来实现老化机制</a:t>
            </a:r>
            <a:r>
              <a:rPr kumimoji="1" lang="en-US" altLang="zh-CN" dirty="0"/>
              <a:t>(Aging)</a:t>
            </a:r>
            <a:r>
              <a:rPr kumimoji="1" lang="zh-CN" altLang="en-US" dirty="0"/>
              <a:t>，防止低优先级进程长时间得不到调度</a:t>
            </a:r>
          </a:p>
          <a:p>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9B874F06-1E83-E8FC-A602-BCCCAB06550B}"/>
              </a:ext>
            </a:extLst>
          </p:cNvPr>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extLst>
      <p:ext uri="{BB962C8B-B14F-4D97-AF65-F5344CB8AC3E}">
        <p14:creationId xmlns:p14="http://schemas.microsoft.com/office/powerpoint/2010/main" val="2537508390"/>
      </p:ext>
    </p:extLst>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9B1DC0-6ED0-4EB2-72EA-D3412D129D6C}"/>
              </a:ext>
            </a:extLst>
          </p:cNvPr>
          <p:cNvSpPr>
            <a:spLocks noGrp="1"/>
          </p:cNvSpPr>
          <p:nvPr>
            <p:ph type="title"/>
          </p:nvPr>
        </p:nvSpPr>
        <p:spPr/>
        <p:txBody>
          <a:bodyPr/>
          <a:lstStyle/>
          <a:p>
            <a:r>
              <a:rPr kumimoji="1" lang="zh-CN" altLang="en-US" dirty="0"/>
              <a:t>多级反馈队列示例</a:t>
            </a:r>
          </a:p>
        </p:txBody>
      </p:sp>
      <p:sp>
        <p:nvSpPr>
          <p:cNvPr id="3" name="内容占位符 2">
            <a:extLst>
              <a:ext uri="{FF2B5EF4-FFF2-40B4-BE49-F238E27FC236}">
                <a16:creationId xmlns:a16="http://schemas.microsoft.com/office/drawing/2014/main" id="{8A9FEBF1-93AA-5CF6-8945-A71378BFBA92}"/>
              </a:ext>
            </a:extLst>
          </p:cNvPr>
          <p:cNvSpPr>
            <a:spLocks noGrp="1"/>
          </p:cNvSpPr>
          <p:nvPr>
            <p:ph idx="1"/>
          </p:nvPr>
        </p:nvSpPr>
        <p:spPr>
          <a:xfrm>
            <a:off x="826852" y="1233488"/>
            <a:ext cx="4902740" cy="4895850"/>
          </a:xfrm>
        </p:spPr>
        <p:txBody>
          <a:bodyPr>
            <a:normAutofit fontScale="92500" lnSpcReduction="10000"/>
          </a:bodyPr>
          <a:lstStyle/>
          <a:p>
            <a:r>
              <a:rPr kumimoji="1" lang="zh-CN" altLang="en-US" dirty="0"/>
              <a:t>三个队列：</a:t>
            </a:r>
            <a:endParaRPr kumimoji="1" lang="en-US" altLang="zh-CN" dirty="0"/>
          </a:p>
          <a:p>
            <a:pPr lvl="1"/>
            <a:r>
              <a:rPr lang="en-US" altLang="en-US" i="1" dirty="0"/>
              <a:t>Q</a:t>
            </a:r>
            <a:r>
              <a:rPr lang="en-US" altLang="en-US" baseline="-25000" dirty="0"/>
              <a:t>0</a:t>
            </a:r>
            <a:r>
              <a:rPr lang="en-US" altLang="en-US" dirty="0"/>
              <a:t> –</a:t>
            </a:r>
            <a:r>
              <a:rPr lang="zh-CN" altLang="en-US" dirty="0"/>
              <a:t> </a:t>
            </a:r>
            <a:r>
              <a:rPr lang="en-US" altLang="en-US" dirty="0"/>
              <a:t>时间片8 </a:t>
            </a:r>
            <a:r>
              <a:rPr lang="en-US" altLang="en-US" dirty="0" err="1"/>
              <a:t>毫秒</a:t>
            </a:r>
            <a:endParaRPr lang="en-US" altLang="en-US" dirty="0"/>
          </a:p>
          <a:p>
            <a:pPr lvl="1"/>
            <a:r>
              <a:rPr lang="en-US" altLang="en-US" i="1" dirty="0"/>
              <a:t>Q</a:t>
            </a:r>
            <a:r>
              <a:rPr lang="en-US" altLang="en-US" baseline="-25000" dirty="0"/>
              <a:t>1</a:t>
            </a:r>
            <a:r>
              <a:rPr lang="en-US" altLang="en-US" dirty="0"/>
              <a:t> – 时间片16 </a:t>
            </a:r>
            <a:r>
              <a:rPr lang="en-US" altLang="en-US" dirty="0" err="1"/>
              <a:t>毫秒</a:t>
            </a:r>
            <a:endParaRPr lang="en-US" altLang="en-US" dirty="0"/>
          </a:p>
          <a:p>
            <a:pPr lvl="1"/>
            <a:r>
              <a:rPr lang="en-US" altLang="en-US" i="1" dirty="0"/>
              <a:t>Q</a:t>
            </a:r>
            <a:r>
              <a:rPr lang="en-US" altLang="en-US" baseline="-25000" dirty="0"/>
              <a:t>2</a:t>
            </a:r>
            <a:r>
              <a:rPr lang="en-US" altLang="en-US" dirty="0"/>
              <a:t> – FCFS</a:t>
            </a:r>
            <a:endParaRPr kumimoji="1" lang="en-US" altLang="zh-CN" dirty="0"/>
          </a:p>
          <a:p>
            <a:r>
              <a:rPr kumimoji="1" lang="zh-CN" altLang="en-US" dirty="0"/>
              <a:t>调度策略</a:t>
            </a:r>
            <a:endParaRPr kumimoji="1" lang="en-US" altLang="zh-CN" dirty="0"/>
          </a:p>
          <a:p>
            <a:pPr lvl="1"/>
            <a:r>
              <a:rPr kumimoji="1" lang="zh-CN" altLang="en-US" dirty="0"/>
              <a:t>新进程进入队列</a:t>
            </a:r>
            <a:r>
              <a:rPr kumimoji="1" lang="en-US" altLang="zh-CN" dirty="0"/>
              <a:t>Q</a:t>
            </a:r>
            <a:r>
              <a:rPr kumimoji="1" lang="en-US" altLang="zh-CN" baseline="-25000" dirty="0"/>
              <a:t>0</a:t>
            </a:r>
            <a:r>
              <a:rPr kumimoji="1" lang="zh-CN" altLang="en-US" dirty="0"/>
              <a:t>等待</a:t>
            </a:r>
            <a:r>
              <a:rPr kumimoji="1" lang="en-US" altLang="zh-CN" dirty="0"/>
              <a:t>RR</a:t>
            </a:r>
            <a:r>
              <a:rPr kumimoji="1" lang="zh-CN" altLang="en-US" dirty="0"/>
              <a:t>调度</a:t>
            </a:r>
            <a:endParaRPr kumimoji="1" lang="en-US" altLang="zh-CN" dirty="0"/>
          </a:p>
          <a:p>
            <a:pPr lvl="2"/>
            <a:r>
              <a:rPr kumimoji="1" lang="zh-CN" altLang="en-US" dirty="0"/>
              <a:t>若进程获得</a:t>
            </a:r>
            <a:r>
              <a:rPr kumimoji="1" lang="en-US" altLang="zh-CN" dirty="0"/>
              <a:t>CPU</a:t>
            </a:r>
            <a:r>
              <a:rPr kumimoji="1" lang="zh-CN" altLang="en-US" dirty="0"/>
              <a:t>，则可执行</a:t>
            </a:r>
            <a:r>
              <a:rPr kumimoji="1" lang="en-US" altLang="zh-CN" dirty="0"/>
              <a:t>8</a:t>
            </a:r>
            <a:r>
              <a:rPr kumimoji="1" lang="zh-CN" altLang="en-US" dirty="0"/>
              <a:t>毫秒</a:t>
            </a:r>
            <a:endParaRPr kumimoji="1" lang="en-US" altLang="zh-CN" dirty="0"/>
          </a:p>
          <a:p>
            <a:pPr lvl="2"/>
            <a:r>
              <a:rPr kumimoji="1" lang="en-US" altLang="zh-CN" dirty="0"/>
              <a:t>8</a:t>
            </a:r>
            <a:r>
              <a:rPr kumimoji="1" lang="zh-CN" altLang="en-US" dirty="0"/>
              <a:t>毫秒内未完成，则进入队列</a:t>
            </a:r>
            <a:r>
              <a:rPr kumimoji="1" lang="en-US" altLang="zh-CN" dirty="0"/>
              <a:t>Q</a:t>
            </a:r>
            <a:r>
              <a:rPr kumimoji="1" lang="en-US" altLang="zh-CN" baseline="-25000" dirty="0"/>
              <a:t>1</a:t>
            </a:r>
          </a:p>
          <a:p>
            <a:pPr lvl="1"/>
            <a:r>
              <a:rPr kumimoji="1" lang="zh-CN" altLang="en-US" dirty="0"/>
              <a:t>队列</a:t>
            </a:r>
            <a:r>
              <a:rPr kumimoji="1" lang="en-US" altLang="zh-CN" dirty="0"/>
              <a:t>Q</a:t>
            </a:r>
            <a:r>
              <a:rPr kumimoji="1" lang="en-US" altLang="zh-CN" baseline="-25000" dirty="0"/>
              <a:t>1</a:t>
            </a:r>
            <a:r>
              <a:rPr kumimoji="1" lang="zh-CN" altLang="en-US" dirty="0"/>
              <a:t>中的进程以</a:t>
            </a:r>
            <a:r>
              <a:rPr kumimoji="1" lang="en-US" altLang="zh-CN" dirty="0"/>
              <a:t>16</a:t>
            </a:r>
            <a:r>
              <a:rPr kumimoji="1" lang="zh-CN" altLang="en-US" dirty="0"/>
              <a:t>毫秒的时间片进行</a:t>
            </a:r>
            <a:r>
              <a:rPr kumimoji="1" lang="en-US" altLang="zh-CN" dirty="0"/>
              <a:t>RR</a:t>
            </a:r>
            <a:r>
              <a:rPr kumimoji="1" lang="zh-CN" altLang="en-US" dirty="0"/>
              <a:t>调度</a:t>
            </a:r>
            <a:endParaRPr kumimoji="1" lang="en-US" altLang="zh-CN" dirty="0"/>
          </a:p>
          <a:p>
            <a:pPr lvl="2"/>
            <a:r>
              <a:rPr kumimoji="1" lang="zh-CN" altLang="en-US" dirty="0"/>
              <a:t>若进程依旧未完成，则进入队列</a:t>
            </a:r>
            <a:r>
              <a:rPr kumimoji="1" lang="en-US" altLang="zh-CN" dirty="0"/>
              <a:t>Q</a:t>
            </a:r>
            <a:r>
              <a:rPr kumimoji="1" lang="en-US" altLang="zh-CN" baseline="-25000" dirty="0"/>
              <a:t>2</a:t>
            </a:r>
            <a:endParaRPr kumimoji="1" lang="zh-CN" altLang="en-US" dirty="0"/>
          </a:p>
        </p:txBody>
      </p:sp>
      <p:sp>
        <p:nvSpPr>
          <p:cNvPr id="4" name="灯片编号占位符 3">
            <a:extLst>
              <a:ext uri="{FF2B5EF4-FFF2-40B4-BE49-F238E27FC236}">
                <a16:creationId xmlns:a16="http://schemas.microsoft.com/office/drawing/2014/main" id="{B2524C0C-02A8-ED70-C059-832535A2E088}"/>
              </a:ext>
            </a:extLst>
          </p:cNvPr>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pic>
        <p:nvPicPr>
          <p:cNvPr id="5" name="Picture 1">
            <a:extLst>
              <a:ext uri="{FF2B5EF4-FFF2-40B4-BE49-F238E27FC236}">
                <a16:creationId xmlns:a16="http://schemas.microsoft.com/office/drawing/2014/main" id="{4AF53AD4-A27E-4E8D-5320-AA4D6E74A5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48769" y="2284645"/>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5325537"/>
      </p:ext>
    </p:extLst>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3CC6B-DD5F-83C8-44E2-7A214D31E8F2}"/>
              </a:ext>
            </a:extLst>
          </p:cNvPr>
          <p:cNvSpPr>
            <a:spLocks noGrp="1"/>
          </p:cNvSpPr>
          <p:nvPr>
            <p:ph type="title"/>
          </p:nvPr>
        </p:nvSpPr>
        <p:spPr>
          <a:xfrm>
            <a:off x="1042988" y="225431"/>
            <a:ext cx="7850187" cy="746125"/>
          </a:xfrm>
        </p:spPr>
        <p:txBody>
          <a:bodyPr/>
          <a:lstStyle/>
          <a:p>
            <a:r>
              <a:rPr lang="zh-CN" altLang="en-US" dirty="0"/>
              <a:t>操作系统调度算法实例</a:t>
            </a:r>
          </a:p>
        </p:txBody>
      </p:sp>
      <p:sp>
        <p:nvSpPr>
          <p:cNvPr id="3" name="内容占位符 2">
            <a:extLst>
              <a:ext uri="{FF2B5EF4-FFF2-40B4-BE49-F238E27FC236}">
                <a16:creationId xmlns:a16="http://schemas.microsoft.com/office/drawing/2014/main" id="{2E10021B-EB07-AAD3-F565-3841F0C04479}"/>
              </a:ext>
            </a:extLst>
          </p:cNvPr>
          <p:cNvSpPr>
            <a:spLocks noGrp="1"/>
          </p:cNvSpPr>
          <p:nvPr>
            <p:ph idx="1"/>
          </p:nvPr>
        </p:nvSpPr>
        <p:spPr>
          <a:xfrm>
            <a:off x="935038" y="1233488"/>
            <a:ext cx="7772400" cy="4895850"/>
          </a:xfrm>
        </p:spPr>
        <p:txBody>
          <a:bodyPr/>
          <a:lstStyle/>
          <a:p>
            <a:r>
              <a:rPr lang="en-US" altLang="zh-CN" dirty="0"/>
              <a:t>UNIX  </a:t>
            </a:r>
            <a:r>
              <a:rPr lang="zh-CN" altLang="zh-CN" dirty="0"/>
              <a:t>动态优先数法</a:t>
            </a:r>
            <a:endParaRPr lang="en-US" altLang="zh-CN" dirty="0"/>
          </a:p>
          <a:p>
            <a:r>
              <a:rPr lang="en-US" altLang="zh-CN" dirty="0"/>
              <a:t>5.3BSD </a:t>
            </a:r>
            <a:r>
              <a:rPr lang="zh-CN" altLang="zh-CN" dirty="0"/>
              <a:t>多级反馈队列法</a:t>
            </a:r>
            <a:endParaRPr lang="en-US" altLang="zh-CN" dirty="0"/>
          </a:p>
          <a:p>
            <a:r>
              <a:rPr lang="en-US" altLang="zh-CN" dirty="0"/>
              <a:t>Windows </a:t>
            </a:r>
            <a:r>
              <a:rPr lang="zh-CN" altLang="zh-CN" dirty="0"/>
              <a:t>基于优先级的抢占式多任务调度</a:t>
            </a:r>
            <a:endParaRPr lang="en-US" altLang="zh-CN" dirty="0"/>
          </a:p>
          <a:p>
            <a:r>
              <a:rPr lang="en-US" altLang="zh-CN" dirty="0"/>
              <a:t>Linux </a:t>
            </a:r>
            <a:r>
              <a:rPr lang="zh-CN" altLang="zh-CN" dirty="0"/>
              <a:t>抢占式调度</a:t>
            </a:r>
            <a:endParaRPr lang="en-US" altLang="zh-CN" dirty="0"/>
          </a:p>
          <a:p>
            <a:r>
              <a:rPr lang="en-US" altLang="zh-CN" dirty="0"/>
              <a:t>Solaris </a:t>
            </a:r>
            <a:r>
              <a:rPr lang="zh-CN" altLang="zh-CN" dirty="0"/>
              <a:t>综合调度算法</a:t>
            </a:r>
            <a:endParaRPr lang="zh-CN" altLang="en-US" dirty="0"/>
          </a:p>
        </p:txBody>
      </p:sp>
      <p:sp>
        <p:nvSpPr>
          <p:cNvPr id="4" name="灯片编号占位符 3">
            <a:extLst>
              <a:ext uri="{FF2B5EF4-FFF2-40B4-BE49-F238E27FC236}">
                <a16:creationId xmlns:a16="http://schemas.microsoft.com/office/drawing/2014/main" id="{EE63002E-6E49-251D-9556-CD636EC6A70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39</a:t>
            </a:fld>
            <a:endParaRPr lang="zh-CN" altLang="en-US" dirty="0"/>
          </a:p>
        </p:txBody>
      </p:sp>
    </p:spTree>
    <p:extLst>
      <p:ext uri="{BB962C8B-B14F-4D97-AF65-F5344CB8AC3E}">
        <p14:creationId xmlns:p14="http://schemas.microsoft.com/office/powerpoint/2010/main" val="2883923083"/>
      </p:ext>
    </p:extLst>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BB3C4-D62E-090F-EF60-69571B5D6FEF}"/>
              </a:ext>
            </a:extLst>
          </p:cNvPr>
          <p:cNvSpPr>
            <a:spLocks noGrp="1"/>
          </p:cNvSpPr>
          <p:nvPr>
            <p:ph type="title"/>
          </p:nvPr>
        </p:nvSpPr>
        <p:spPr/>
        <p:txBody>
          <a:bodyPr/>
          <a:lstStyle/>
          <a:p>
            <a:r>
              <a:rPr kumimoji="1" lang="en-US" altLang="zh-CN" dirty="0"/>
              <a:t>BSD</a:t>
            </a:r>
            <a:r>
              <a:rPr kumimoji="1" lang="zh-CN" altLang="en-US" dirty="0"/>
              <a:t>多级反馈队列调度</a:t>
            </a:r>
          </a:p>
        </p:txBody>
      </p:sp>
      <p:sp>
        <p:nvSpPr>
          <p:cNvPr id="3" name="内容占位符 2">
            <a:extLst>
              <a:ext uri="{FF2B5EF4-FFF2-40B4-BE49-F238E27FC236}">
                <a16:creationId xmlns:a16="http://schemas.microsoft.com/office/drawing/2014/main" id="{5B0502B4-3683-A696-42C4-0B8D65106BC8}"/>
              </a:ext>
            </a:extLst>
          </p:cNvPr>
          <p:cNvSpPr>
            <a:spLocks noGrp="1"/>
          </p:cNvSpPr>
          <p:nvPr>
            <p:ph idx="1"/>
          </p:nvPr>
        </p:nvSpPr>
        <p:spPr/>
        <p:txBody>
          <a:bodyPr>
            <a:normAutofit fontScale="85000" lnSpcReduction="20000"/>
          </a:bodyPr>
          <a:lstStyle/>
          <a:p>
            <a:r>
              <a:rPr kumimoji="1" lang="zh-CN" altLang="en-US" dirty="0"/>
              <a:t>根据进程的行为和特征动态地调整进程的优先级和时间片</a:t>
            </a:r>
            <a:endParaRPr kumimoji="1" lang="en-US" altLang="zh-CN" dirty="0"/>
          </a:p>
          <a:p>
            <a:pPr lvl="1"/>
            <a:r>
              <a:rPr kumimoji="1" lang="zh-CN" altLang="en-US" dirty="0"/>
              <a:t>系统维护多个就绪队列，每个队列有不同的优先级和时间片长度，一般来说，优先级越高的队列，时间片越短。</a:t>
            </a:r>
          </a:p>
          <a:p>
            <a:pPr lvl="1"/>
            <a:r>
              <a:rPr kumimoji="1" lang="zh-CN" altLang="en-US" dirty="0"/>
              <a:t>新创建的进程被放入最高优先级的队列中，如果该队列为空，则调度该进程运行。</a:t>
            </a:r>
          </a:p>
          <a:p>
            <a:pPr lvl="1"/>
            <a:r>
              <a:rPr kumimoji="1" lang="zh-CN" altLang="en-US" dirty="0"/>
              <a:t>如果一个进程在分配给它的时间片内完成或主动放弃</a:t>
            </a:r>
            <a:r>
              <a:rPr kumimoji="1" lang="en" altLang="zh-CN" dirty="0"/>
              <a:t>CPU</a:t>
            </a:r>
            <a:r>
              <a:rPr kumimoji="1" lang="zh-CN" altLang="en" dirty="0"/>
              <a:t>，</a:t>
            </a:r>
            <a:r>
              <a:rPr kumimoji="1" lang="zh-CN" altLang="en-US" dirty="0"/>
              <a:t>则保持其优先级不变，重新放入原来的队列中等待下一次调度。</a:t>
            </a:r>
          </a:p>
          <a:p>
            <a:pPr lvl="1"/>
            <a:r>
              <a:rPr kumimoji="1" lang="zh-CN" altLang="en-US" dirty="0"/>
              <a:t>如果一个进程在分配给它的时间片内没有完成或被抢占，则降低其优先级，放入下一级队列中等待下一次调度。</a:t>
            </a:r>
          </a:p>
          <a:p>
            <a:pPr lvl="1"/>
            <a:r>
              <a:rPr kumimoji="1" lang="zh-CN" altLang="en-US" dirty="0"/>
              <a:t>如果一个进程在最低优先级的队列中运行，且该队列中有其他进程，则采用轮转法进行调度。</a:t>
            </a:r>
          </a:p>
        </p:txBody>
      </p:sp>
      <p:sp>
        <p:nvSpPr>
          <p:cNvPr id="4" name="灯片编号占位符 3">
            <a:extLst>
              <a:ext uri="{FF2B5EF4-FFF2-40B4-BE49-F238E27FC236}">
                <a16:creationId xmlns:a16="http://schemas.microsoft.com/office/drawing/2014/main" id="{F5E0F40B-BA3A-9A33-B56F-B83AB975DB6A}"/>
              </a:ext>
            </a:extLst>
          </p:cNvPr>
          <p:cNvSpPr>
            <a:spLocks noGrp="1"/>
          </p:cNvSpPr>
          <p:nvPr>
            <p:ph type="sldNum" sz="quarter" idx="12"/>
          </p:nvPr>
        </p:nvSpPr>
        <p:spPr/>
        <p:txBody>
          <a:bodyPr/>
          <a:lstStyle/>
          <a:p>
            <a:fld id="{4093CC90-4002-504C-BD88-C9A1D374048E}" type="slidenum">
              <a:rPr lang="zh-CN" altLang="en-US" smtClean="0"/>
              <a:pPr/>
              <a:t>40</a:t>
            </a:fld>
            <a:endParaRPr lang="zh-CN" altLang="en-US" dirty="0"/>
          </a:p>
        </p:txBody>
      </p:sp>
    </p:spTree>
    <p:extLst>
      <p:ext uri="{BB962C8B-B14F-4D97-AF65-F5344CB8AC3E}">
        <p14:creationId xmlns:p14="http://schemas.microsoft.com/office/powerpoint/2010/main" val="3461929144"/>
      </p:ext>
    </p:extLst>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6BEC76-EBC8-57CA-BFBD-66ADFB55D581}"/>
              </a:ext>
            </a:extLst>
          </p:cNvPr>
          <p:cNvSpPr>
            <a:spLocks noGrp="1"/>
          </p:cNvSpPr>
          <p:nvPr>
            <p:ph type="title"/>
          </p:nvPr>
        </p:nvSpPr>
        <p:spPr/>
        <p:txBody>
          <a:bodyPr/>
          <a:lstStyle/>
          <a:p>
            <a:r>
              <a:rPr kumimoji="1" lang="en-US" altLang="zh-CN" dirty="0"/>
              <a:t>BSD</a:t>
            </a:r>
            <a:r>
              <a:rPr kumimoji="1" lang="zh-CN" altLang="en-US" dirty="0"/>
              <a:t>多级反馈队列调度</a:t>
            </a:r>
          </a:p>
        </p:txBody>
      </p:sp>
      <p:sp>
        <p:nvSpPr>
          <p:cNvPr id="3" name="内容占位符 2">
            <a:extLst>
              <a:ext uri="{FF2B5EF4-FFF2-40B4-BE49-F238E27FC236}">
                <a16:creationId xmlns:a16="http://schemas.microsoft.com/office/drawing/2014/main" id="{3290EFD7-D6A0-6A7C-098F-0A3BB44E462B}"/>
              </a:ext>
            </a:extLst>
          </p:cNvPr>
          <p:cNvSpPr>
            <a:spLocks noGrp="1"/>
          </p:cNvSpPr>
          <p:nvPr>
            <p:ph idx="1"/>
          </p:nvPr>
        </p:nvSpPr>
        <p:spPr/>
        <p:txBody>
          <a:bodyPr>
            <a:normAutofit/>
          </a:bodyPr>
          <a:lstStyle/>
          <a:p>
            <a:r>
              <a:rPr kumimoji="1" lang="zh-CN" altLang="en-US" dirty="0"/>
              <a:t>调度效果</a:t>
            </a:r>
            <a:endParaRPr kumimoji="1" lang="en-US" altLang="zh-CN" dirty="0"/>
          </a:p>
          <a:p>
            <a:pPr lvl="1"/>
            <a:r>
              <a:rPr kumimoji="1" lang="zh-CN" altLang="en-US" dirty="0"/>
              <a:t>对于短作业或交互式作业，给予较高的优先级和较快的响应时间，从而提高用户体验和系统吞吐量。</a:t>
            </a:r>
          </a:p>
          <a:p>
            <a:pPr lvl="1"/>
            <a:r>
              <a:rPr kumimoji="1" lang="zh-CN" altLang="en-US" dirty="0"/>
              <a:t>对于长作业或计算密集型作业，给予较低的优先级和较长的时间片，从而避免过多的上下文切换开销和饥饿现象。</a:t>
            </a:r>
          </a:p>
          <a:p>
            <a:pPr lvl="1"/>
            <a:r>
              <a:rPr kumimoji="1" lang="zh-CN" altLang="en-US" dirty="0"/>
              <a:t>对于不同类型或特征的作业，根据其历史行为进行动态调整，从而实现自适应和公平的调度。</a:t>
            </a:r>
          </a:p>
        </p:txBody>
      </p:sp>
      <p:sp>
        <p:nvSpPr>
          <p:cNvPr id="4" name="灯片编号占位符 3">
            <a:extLst>
              <a:ext uri="{FF2B5EF4-FFF2-40B4-BE49-F238E27FC236}">
                <a16:creationId xmlns:a16="http://schemas.microsoft.com/office/drawing/2014/main" id="{AB64B18E-F57F-E225-22BE-516689322A16}"/>
              </a:ext>
            </a:extLst>
          </p:cNvPr>
          <p:cNvSpPr>
            <a:spLocks noGrp="1"/>
          </p:cNvSpPr>
          <p:nvPr>
            <p:ph type="sldNum" sz="quarter" idx="12"/>
          </p:nvPr>
        </p:nvSpPr>
        <p:spPr/>
        <p:txBody>
          <a:bodyPr/>
          <a:lstStyle/>
          <a:p>
            <a:fld id="{4093CC90-4002-504C-BD88-C9A1D374048E}" type="slidenum">
              <a:rPr lang="zh-CN" altLang="en-US" smtClean="0"/>
              <a:pPr/>
              <a:t>41</a:t>
            </a:fld>
            <a:endParaRPr lang="zh-CN" altLang="en-US" dirty="0"/>
          </a:p>
        </p:txBody>
      </p:sp>
    </p:spTree>
    <p:extLst>
      <p:ext uri="{BB962C8B-B14F-4D97-AF65-F5344CB8AC3E}">
        <p14:creationId xmlns:p14="http://schemas.microsoft.com/office/powerpoint/2010/main" val="1073661617"/>
      </p:ext>
    </p:extLst>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1D1F92-A10B-CE18-FB1B-23D73D12F8D1}"/>
              </a:ext>
            </a:extLst>
          </p:cNvPr>
          <p:cNvSpPr>
            <a:spLocks noGrp="1"/>
          </p:cNvSpPr>
          <p:nvPr>
            <p:ph type="title"/>
          </p:nvPr>
        </p:nvSpPr>
        <p:spPr>
          <a:xfrm>
            <a:off x="1042988" y="225431"/>
            <a:ext cx="7850187" cy="746125"/>
          </a:xfrm>
        </p:spPr>
        <p:txBody>
          <a:bodyPr/>
          <a:lstStyle/>
          <a:p>
            <a:r>
              <a:rPr lang="en-US" altLang="zh-CN" sz="3200" dirty="0"/>
              <a:t>Windows </a:t>
            </a:r>
            <a:r>
              <a:rPr lang="zh-CN" altLang="zh-CN" sz="3200" dirty="0"/>
              <a:t>基于优先级的抢占式多任务调度</a:t>
            </a:r>
            <a:endParaRPr lang="zh-CN" altLang="en-US" sz="3200" dirty="0"/>
          </a:p>
        </p:txBody>
      </p:sp>
      <p:sp>
        <p:nvSpPr>
          <p:cNvPr id="3" name="内容占位符 2">
            <a:extLst>
              <a:ext uri="{FF2B5EF4-FFF2-40B4-BE49-F238E27FC236}">
                <a16:creationId xmlns:a16="http://schemas.microsoft.com/office/drawing/2014/main" id="{AD95321D-1C16-C218-AFC6-CA069A87BCB3}"/>
              </a:ext>
            </a:extLst>
          </p:cNvPr>
          <p:cNvSpPr>
            <a:spLocks noGrp="1"/>
          </p:cNvSpPr>
          <p:nvPr>
            <p:ph idx="1"/>
          </p:nvPr>
        </p:nvSpPr>
        <p:spPr>
          <a:xfrm>
            <a:off x="935038" y="1233488"/>
            <a:ext cx="7772400" cy="4895850"/>
          </a:xfrm>
        </p:spPr>
        <p:txBody>
          <a:bodyPr>
            <a:normAutofit fontScale="62500" lnSpcReduction="20000"/>
          </a:bodyPr>
          <a:lstStyle/>
          <a:p>
            <a:r>
              <a:rPr lang="en" altLang="zh-CN" dirty="0"/>
              <a:t>Windows </a:t>
            </a:r>
            <a:r>
              <a:rPr lang="zh-CN" altLang="en-US" dirty="0"/>
              <a:t>为每个线程分配一个初始优先级和一个当前优先级，用 </a:t>
            </a:r>
            <a:r>
              <a:rPr lang="en-US" altLang="zh-CN" dirty="0"/>
              <a:t>0 </a:t>
            </a:r>
            <a:r>
              <a:rPr lang="zh-CN" altLang="en-US" dirty="0"/>
              <a:t>到 </a:t>
            </a:r>
            <a:r>
              <a:rPr lang="en-US" altLang="zh-CN" dirty="0"/>
              <a:t>31 </a:t>
            </a:r>
            <a:r>
              <a:rPr lang="zh-CN" altLang="en-US" dirty="0"/>
              <a:t>的数字表示，数字越大，优先级越高。</a:t>
            </a:r>
          </a:p>
          <a:p>
            <a:r>
              <a:rPr lang="en" altLang="zh-CN" dirty="0"/>
              <a:t>Windows </a:t>
            </a:r>
            <a:r>
              <a:rPr lang="zh-CN" altLang="en-US" dirty="0"/>
              <a:t>维护一个线程就绪表，用来记录哪些优先级下有就绪的线程。如果优先级数量小于等于 </a:t>
            </a:r>
            <a:r>
              <a:rPr lang="en-US" altLang="zh-CN" dirty="0"/>
              <a:t>32</a:t>
            </a:r>
            <a:r>
              <a:rPr lang="zh-CN" altLang="en-US" dirty="0"/>
              <a:t>，就绪表可以用一个 </a:t>
            </a:r>
            <a:r>
              <a:rPr lang="en-US" altLang="zh-CN" dirty="0"/>
              <a:t>32 </a:t>
            </a:r>
            <a:r>
              <a:rPr lang="zh-CN" altLang="en-US" dirty="0"/>
              <a:t>位的变量表示，每一位对应一个优先级；如果优先级数量大于 </a:t>
            </a:r>
            <a:r>
              <a:rPr lang="en-US" altLang="zh-CN" dirty="0"/>
              <a:t>32</a:t>
            </a:r>
            <a:r>
              <a:rPr lang="zh-CN" altLang="en-US" dirty="0"/>
              <a:t>，就绪表可以用一个 </a:t>
            </a:r>
            <a:r>
              <a:rPr lang="en-US" altLang="zh-CN" dirty="0"/>
              <a:t>8 </a:t>
            </a:r>
            <a:r>
              <a:rPr lang="zh-CN" altLang="en-US" dirty="0"/>
              <a:t>位数组表示，每个元素对应 </a:t>
            </a:r>
            <a:r>
              <a:rPr lang="en-US" altLang="zh-CN" dirty="0"/>
              <a:t>8 </a:t>
            </a:r>
            <a:r>
              <a:rPr lang="zh-CN" altLang="en-US" dirty="0"/>
              <a:t>个优先级。</a:t>
            </a:r>
          </a:p>
          <a:p>
            <a:r>
              <a:rPr lang="en" altLang="zh-CN" dirty="0"/>
              <a:t>Windows </a:t>
            </a:r>
            <a:r>
              <a:rPr lang="zh-CN" altLang="en-US" dirty="0"/>
              <a:t>在每次调度时，首先查找就绪表中最高的非零位，得到最高优先级的编号。然后在该优先级下的线程链表中选择一个线程执行。如果该链表中有多个线程，可以采用轮转法或者其他方法选择。</a:t>
            </a:r>
          </a:p>
          <a:p>
            <a:r>
              <a:rPr lang="en" altLang="zh-CN" dirty="0"/>
              <a:t>Windows </a:t>
            </a:r>
            <a:r>
              <a:rPr lang="zh-CN" altLang="en-US" dirty="0"/>
              <a:t>在执行一个线程时，会给它分配一个时间片，当时间片用完或者该线程主动放弃 </a:t>
            </a:r>
            <a:r>
              <a:rPr lang="en" altLang="zh-CN" dirty="0"/>
              <a:t>CPU </a:t>
            </a:r>
            <a:r>
              <a:rPr lang="zh-CN" altLang="en-US" dirty="0"/>
              <a:t>时，</a:t>
            </a:r>
            <a:r>
              <a:rPr lang="en" altLang="zh-CN" dirty="0"/>
              <a:t>Windows </a:t>
            </a:r>
            <a:r>
              <a:rPr lang="zh-CN" altLang="en-US" dirty="0"/>
              <a:t>会重新调度下一个线程。</a:t>
            </a:r>
          </a:p>
          <a:p>
            <a:r>
              <a:rPr lang="en" altLang="zh-CN" dirty="0"/>
              <a:t>Windows </a:t>
            </a:r>
            <a:r>
              <a:rPr lang="zh-CN" altLang="en-US" dirty="0"/>
              <a:t>在切换线程时，会保存当前线程的上下文，并恢复下一个线程的上下文。</a:t>
            </a:r>
          </a:p>
          <a:p>
            <a:r>
              <a:rPr lang="en" altLang="zh-CN" dirty="0"/>
              <a:t>Windows </a:t>
            </a:r>
            <a:r>
              <a:rPr lang="zh-CN" altLang="en-US" dirty="0"/>
              <a:t>在创建、删除、阻塞、唤醒或者改变线程的优先级时，会更新就绪表和线程链表，保证它们反映了当前的线程状态。</a:t>
            </a:r>
          </a:p>
        </p:txBody>
      </p:sp>
      <p:sp>
        <p:nvSpPr>
          <p:cNvPr id="4" name="灯片编号占位符 3">
            <a:extLst>
              <a:ext uri="{FF2B5EF4-FFF2-40B4-BE49-F238E27FC236}">
                <a16:creationId xmlns:a16="http://schemas.microsoft.com/office/drawing/2014/main" id="{16CC6AEB-7627-7A14-C3CA-0CBD15B9FDA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42</a:t>
            </a:fld>
            <a:endParaRPr lang="zh-CN" altLang="en-US" dirty="0"/>
          </a:p>
        </p:txBody>
      </p:sp>
    </p:spTree>
    <p:extLst>
      <p:ext uri="{BB962C8B-B14F-4D97-AF65-F5344CB8AC3E}">
        <p14:creationId xmlns:p14="http://schemas.microsoft.com/office/powerpoint/2010/main" val="3255542739"/>
      </p:ext>
    </p:extLst>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39884-CF2B-9906-DBE6-45913992BD9D}"/>
              </a:ext>
            </a:extLst>
          </p:cNvPr>
          <p:cNvSpPr>
            <a:spLocks noGrp="1"/>
          </p:cNvSpPr>
          <p:nvPr>
            <p:ph type="title"/>
          </p:nvPr>
        </p:nvSpPr>
        <p:spPr>
          <a:xfrm>
            <a:off x="1042988" y="225431"/>
            <a:ext cx="7850187" cy="746125"/>
          </a:xfrm>
        </p:spPr>
        <p:txBody>
          <a:bodyPr/>
          <a:lstStyle/>
          <a:p>
            <a:r>
              <a:rPr lang="en-US" altLang="zh-CN" dirty="0"/>
              <a:t>Linux</a:t>
            </a:r>
            <a:r>
              <a:rPr lang="zh-CN" altLang="en-US" dirty="0"/>
              <a:t>抢占式调度算法</a:t>
            </a:r>
          </a:p>
        </p:txBody>
      </p:sp>
      <p:sp>
        <p:nvSpPr>
          <p:cNvPr id="3" name="内容占位符 2">
            <a:extLst>
              <a:ext uri="{FF2B5EF4-FFF2-40B4-BE49-F238E27FC236}">
                <a16:creationId xmlns:a16="http://schemas.microsoft.com/office/drawing/2014/main" id="{202F38BB-D0AD-F6DE-0D7E-ACB3EFAAD27A}"/>
              </a:ext>
            </a:extLst>
          </p:cNvPr>
          <p:cNvSpPr>
            <a:spLocks noGrp="1"/>
          </p:cNvSpPr>
          <p:nvPr>
            <p:ph idx="1"/>
          </p:nvPr>
        </p:nvSpPr>
        <p:spPr>
          <a:xfrm>
            <a:off x="935038" y="1233488"/>
            <a:ext cx="7772400" cy="4895850"/>
          </a:xfrm>
        </p:spPr>
        <p:txBody>
          <a:bodyPr>
            <a:normAutofit fontScale="62500" lnSpcReduction="20000"/>
          </a:bodyPr>
          <a:lstStyle/>
          <a:p>
            <a:r>
              <a:rPr lang="en" altLang="zh-CN" dirty="0"/>
              <a:t>Linux</a:t>
            </a:r>
            <a:r>
              <a:rPr lang="zh-CN" altLang="en-US" dirty="0"/>
              <a:t>的调度器维护一个就绪队列</a:t>
            </a:r>
            <a:r>
              <a:rPr lang="en-US" altLang="zh-CN" dirty="0"/>
              <a:t>(</a:t>
            </a:r>
            <a:r>
              <a:rPr lang="en" altLang="zh-CN" dirty="0" err="1"/>
              <a:t>runqueue</a:t>
            </a:r>
            <a:r>
              <a:rPr lang="en" altLang="zh-CN" dirty="0"/>
              <a:t>)</a:t>
            </a:r>
            <a:r>
              <a:rPr lang="zh-CN" altLang="en-US" dirty="0"/>
              <a:t>，按照完全公平调度算法</a:t>
            </a:r>
            <a:r>
              <a:rPr lang="en" altLang="zh-CN" dirty="0"/>
              <a:t>CFS</a:t>
            </a:r>
            <a:r>
              <a:rPr lang="zh-CN" altLang="en-US" dirty="0"/>
              <a:t>从就绪队列中选出一个进程，将其分配到</a:t>
            </a:r>
            <a:r>
              <a:rPr lang="en" altLang="zh-CN" dirty="0"/>
              <a:t>CPU</a:t>
            </a:r>
            <a:r>
              <a:rPr lang="zh-CN" altLang="en-US" dirty="0"/>
              <a:t>上执行一个时间片。</a:t>
            </a:r>
          </a:p>
          <a:p>
            <a:r>
              <a:rPr lang="zh-CN" altLang="en-US" dirty="0"/>
              <a:t>当时间片用完时</a:t>
            </a:r>
            <a:r>
              <a:rPr lang="en-US" altLang="zh-CN" dirty="0"/>
              <a:t>,</a:t>
            </a:r>
            <a:r>
              <a:rPr lang="zh-CN" altLang="en-US" dirty="0"/>
              <a:t>则触发一个时钟中断</a:t>
            </a:r>
            <a:r>
              <a:rPr lang="en-US" altLang="zh-CN" dirty="0"/>
              <a:t>,</a:t>
            </a:r>
            <a:r>
              <a:rPr lang="zh-CN" altLang="en-US" dirty="0"/>
              <a:t>调度器会强制暂停当前进程的执行</a:t>
            </a:r>
            <a:r>
              <a:rPr lang="en-US" altLang="zh-CN" dirty="0"/>
              <a:t>,</a:t>
            </a:r>
            <a:r>
              <a:rPr lang="zh-CN" altLang="en-US" dirty="0"/>
              <a:t>将其重新放回就绪队列</a:t>
            </a:r>
            <a:r>
              <a:rPr lang="en-US" altLang="zh-CN" dirty="0"/>
              <a:t>,</a:t>
            </a:r>
            <a:r>
              <a:rPr lang="zh-CN" altLang="en-US" dirty="0"/>
              <a:t>然后选取另一个进程执行。</a:t>
            </a:r>
          </a:p>
          <a:p>
            <a:r>
              <a:rPr lang="en" altLang="zh-CN" dirty="0"/>
              <a:t>CFS</a:t>
            </a:r>
            <a:r>
              <a:rPr lang="zh-CN" altLang="en-US" dirty="0"/>
              <a:t>算法根据进程的优先级和等待时间来计算每个进程的</a:t>
            </a:r>
            <a:r>
              <a:rPr lang="en" altLang="zh-CN" dirty="0" err="1"/>
              <a:t>vruntime</a:t>
            </a:r>
            <a:r>
              <a:rPr lang="zh-CN" altLang="en-US" dirty="0"/>
              <a:t>值</a:t>
            </a:r>
            <a:r>
              <a:rPr lang="en-US" altLang="zh-CN" dirty="0"/>
              <a:t>,</a:t>
            </a:r>
            <a:r>
              <a:rPr lang="en" altLang="zh-CN" dirty="0" err="1"/>
              <a:t>vruntime</a:t>
            </a:r>
            <a:r>
              <a:rPr lang="zh-CN" altLang="en-US" dirty="0"/>
              <a:t>越小</a:t>
            </a:r>
            <a:r>
              <a:rPr lang="en-US" altLang="zh-CN" dirty="0"/>
              <a:t>,</a:t>
            </a:r>
            <a:r>
              <a:rPr lang="zh-CN" altLang="en-US" dirty="0"/>
              <a:t>进程获得</a:t>
            </a:r>
            <a:r>
              <a:rPr lang="en" altLang="zh-CN" dirty="0"/>
              <a:t>CPU</a:t>
            </a:r>
            <a:r>
              <a:rPr lang="zh-CN" altLang="en-US" dirty="0"/>
              <a:t>时间片的机会就越大。</a:t>
            </a:r>
          </a:p>
          <a:p>
            <a:r>
              <a:rPr lang="en" altLang="zh-CN" dirty="0"/>
              <a:t>CFS</a:t>
            </a:r>
            <a:r>
              <a:rPr lang="zh-CN" altLang="en-US" dirty="0"/>
              <a:t>维护一个红黑树</a:t>
            </a:r>
            <a:r>
              <a:rPr lang="en-US" altLang="zh-CN" dirty="0"/>
              <a:t>,</a:t>
            </a:r>
            <a:r>
              <a:rPr lang="zh-CN" altLang="en-US" dirty="0"/>
              <a:t>根据</a:t>
            </a:r>
            <a:r>
              <a:rPr lang="en" altLang="zh-CN" dirty="0" err="1"/>
              <a:t>vruntime</a:t>
            </a:r>
            <a:r>
              <a:rPr lang="zh-CN" altLang="en-US" dirty="0"/>
              <a:t>值将就绪进程排序</a:t>
            </a:r>
            <a:r>
              <a:rPr lang="en-US" altLang="zh-CN" dirty="0"/>
              <a:t>,</a:t>
            </a:r>
            <a:r>
              <a:rPr lang="zh-CN" altLang="en-US" dirty="0"/>
              <a:t>树中序遍历最小的那个进程将被先调度。</a:t>
            </a:r>
          </a:p>
          <a:p>
            <a:r>
              <a:rPr lang="zh-CN" altLang="en-US" dirty="0"/>
              <a:t>当一个进程用完时间片被抢占时</a:t>
            </a:r>
            <a:r>
              <a:rPr lang="en-US" altLang="zh-CN" dirty="0"/>
              <a:t>,</a:t>
            </a:r>
            <a:r>
              <a:rPr lang="zh-CN" altLang="en-US" dirty="0"/>
              <a:t>调度器会重新计算它的</a:t>
            </a:r>
            <a:r>
              <a:rPr lang="en" altLang="zh-CN" dirty="0" err="1"/>
              <a:t>vruntime</a:t>
            </a:r>
            <a:r>
              <a:rPr lang="zh-CN" altLang="en-US" dirty="0"/>
              <a:t>值</a:t>
            </a:r>
            <a:r>
              <a:rPr lang="en-US" altLang="zh-CN" dirty="0"/>
              <a:t>,</a:t>
            </a:r>
            <a:r>
              <a:rPr lang="zh-CN" altLang="en-US" dirty="0"/>
              <a:t>并在红黑树中调整它的位置。</a:t>
            </a:r>
          </a:p>
          <a:p>
            <a:r>
              <a:rPr lang="zh-CN" altLang="en-US" dirty="0"/>
              <a:t>为避免线程长期占用</a:t>
            </a:r>
            <a:r>
              <a:rPr lang="en" altLang="zh-CN" dirty="0"/>
              <a:t>CPU,CFS</a:t>
            </a:r>
            <a:r>
              <a:rPr lang="zh-CN" altLang="en-US" dirty="0"/>
              <a:t>设置了抢占时间片的上限</a:t>
            </a:r>
            <a:r>
              <a:rPr lang="en-US" altLang="zh-CN" dirty="0"/>
              <a:t>,</a:t>
            </a:r>
            <a:r>
              <a:rPr lang="zh-CN" altLang="en-US" dirty="0"/>
              <a:t>强制线程放弃</a:t>
            </a:r>
            <a:r>
              <a:rPr lang="en" altLang="zh-CN" dirty="0"/>
              <a:t>CPU</a:t>
            </a:r>
            <a:r>
              <a:rPr lang="zh-CN" altLang="en-US" dirty="0"/>
              <a:t>执行权。</a:t>
            </a:r>
          </a:p>
          <a:p>
            <a:r>
              <a:rPr lang="en" altLang="zh-CN" dirty="0"/>
              <a:t>Linux</a:t>
            </a:r>
            <a:r>
              <a:rPr lang="zh-CN" altLang="en-US" dirty="0"/>
              <a:t>也支持优先级抢占</a:t>
            </a:r>
            <a:r>
              <a:rPr lang="en-US" altLang="zh-CN" dirty="0"/>
              <a:t>,</a:t>
            </a:r>
            <a:r>
              <a:rPr lang="zh-CN" altLang="en-US" dirty="0"/>
              <a:t>高优先级的进程可以抢占低优先级进程的执行。</a:t>
            </a:r>
          </a:p>
        </p:txBody>
      </p:sp>
      <p:sp>
        <p:nvSpPr>
          <p:cNvPr id="4" name="灯片编号占位符 3">
            <a:extLst>
              <a:ext uri="{FF2B5EF4-FFF2-40B4-BE49-F238E27FC236}">
                <a16:creationId xmlns:a16="http://schemas.microsoft.com/office/drawing/2014/main" id="{401C17F2-1B16-564E-DBB0-98EFBECDDBD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43</a:t>
            </a:fld>
            <a:endParaRPr lang="zh-CN" altLang="en-US" dirty="0"/>
          </a:p>
        </p:txBody>
      </p:sp>
    </p:spTree>
    <p:extLst>
      <p:ext uri="{BB962C8B-B14F-4D97-AF65-F5344CB8AC3E}">
        <p14:creationId xmlns:p14="http://schemas.microsoft.com/office/powerpoint/2010/main" val="3835238623"/>
      </p:ext>
    </p:extLst>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BEA76-9BA1-6B75-0A86-C2C12A7EB01A}"/>
              </a:ext>
            </a:extLst>
          </p:cNvPr>
          <p:cNvSpPr>
            <a:spLocks noGrp="1"/>
          </p:cNvSpPr>
          <p:nvPr>
            <p:ph type="title"/>
          </p:nvPr>
        </p:nvSpPr>
        <p:spPr>
          <a:xfrm>
            <a:off x="1042988" y="225431"/>
            <a:ext cx="7850187" cy="746125"/>
          </a:xfrm>
        </p:spPr>
        <p:txBody>
          <a:bodyPr/>
          <a:lstStyle/>
          <a:p>
            <a:r>
              <a:rPr lang="en-US" altLang="zh-CN" dirty="0"/>
              <a:t>Solaris</a:t>
            </a:r>
            <a:r>
              <a:rPr lang="zh-CN" altLang="en-US" dirty="0"/>
              <a:t>综合调度算法</a:t>
            </a:r>
          </a:p>
        </p:txBody>
      </p:sp>
      <p:sp>
        <p:nvSpPr>
          <p:cNvPr id="3" name="内容占位符 2">
            <a:extLst>
              <a:ext uri="{FF2B5EF4-FFF2-40B4-BE49-F238E27FC236}">
                <a16:creationId xmlns:a16="http://schemas.microsoft.com/office/drawing/2014/main" id="{D5B0071F-FD5B-B1D1-D0FC-408339A5B8A3}"/>
              </a:ext>
            </a:extLst>
          </p:cNvPr>
          <p:cNvSpPr>
            <a:spLocks noGrp="1"/>
          </p:cNvSpPr>
          <p:nvPr>
            <p:ph idx="1"/>
          </p:nvPr>
        </p:nvSpPr>
        <p:spPr>
          <a:xfrm>
            <a:off x="935038" y="1233488"/>
            <a:ext cx="7772400" cy="4895850"/>
          </a:xfrm>
        </p:spPr>
        <p:txBody>
          <a:bodyPr>
            <a:normAutofit lnSpcReduction="10000"/>
          </a:bodyPr>
          <a:lstStyle/>
          <a:p>
            <a:r>
              <a:rPr lang="en-US" altLang="zh-CN" dirty="0"/>
              <a:t>Solaris</a:t>
            </a:r>
            <a:r>
              <a:rPr lang="zh-CN" altLang="en-US" dirty="0"/>
              <a:t>采用多种调度算法相结合的策略</a:t>
            </a:r>
            <a:endParaRPr lang="en-US" altLang="zh-CN" dirty="0"/>
          </a:p>
          <a:p>
            <a:pPr lvl="1"/>
            <a:r>
              <a:rPr lang="zh-CN" altLang="en-US" dirty="0"/>
              <a:t>优先权调度</a:t>
            </a:r>
            <a:endParaRPr lang="en-US" altLang="zh-CN" dirty="0"/>
          </a:p>
          <a:p>
            <a:pPr lvl="1"/>
            <a:r>
              <a:rPr lang="zh-CN" altLang="en-US" dirty="0"/>
              <a:t>时间片调度</a:t>
            </a:r>
            <a:endParaRPr lang="en-US" altLang="zh-CN" dirty="0"/>
          </a:p>
          <a:p>
            <a:pPr lvl="1"/>
            <a:r>
              <a:rPr lang="zh-CN" altLang="en-US" dirty="0"/>
              <a:t>交互式进程优先</a:t>
            </a:r>
            <a:endParaRPr lang="en-US" altLang="zh-CN" dirty="0"/>
          </a:p>
          <a:p>
            <a:pPr lvl="1"/>
            <a:r>
              <a:rPr lang="zh-CN" altLang="en-US" dirty="0"/>
              <a:t>多级反馈队列</a:t>
            </a:r>
            <a:endParaRPr lang="en-US" altLang="zh-CN" dirty="0"/>
          </a:p>
          <a:p>
            <a:pPr lvl="1"/>
            <a:r>
              <a:rPr lang="zh-CN" altLang="en-US" dirty="0"/>
              <a:t>抢先式调度</a:t>
            </a:r>
            <a:endParaRPr lang="en-US" altLang="zh-CN" dirty="0"/>
          </a:p>
          <a:p>
            <a:r>
              <a:rPr lang="zh-CN" altLang="en-US" dirty="0"/>
              <a:t>调度效果</a:t>
            </a:r>
            <a:endParaRPr lang="en-US" altLang="zh-CN" dirty="0"/>
          </a:p>
          <a:p>
            <a:pPr lvl="1"/>
            <a:r>
              <a:rPr lang="zh-CN" altLang="en-US" dirty="0"/>
              <a:t>有效地平衡了实时性、交互性和吞吐量等不同的需求，使得系统能够在不同的工作负载下都能保持良好的性能</a:t>
            </a:r>
          </a:p>
        </p:txBody>
      </p:sp>
      <p:sp>
        <p:nvSpPr>
          <p:cNvPr id="4" name="灯片编号占位符 3">
            <a:extLst>
              <a:ext uri="{FF2B5EF4-FFF2-40B4-BE49-F238E27FC236}">
                <a16:creationId xmlns:a16="http://schemas.microsoft.com/office/drawing/2014/main" id="{FC76E5BE-A2E5-F683-C816-9B4921C218E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44</a:t>
            </a:fld>
            <a:endParaRPr lang="zh-CN" altLang="en-US" dirty="0"/>
          </a:p>
        </p:txBody>
      </p:sp>
    </p:spTree>
    <p:extLst>
      <p:ext uri="{BB962C8B-B14F-4D97-AF65-F5344CB8AC3E}">
        <p14:creationId xmlns:p14="http://schemas.microsoft.com/office/powerpoint/2010/main" val="4228571039"/>
      </p:ext>
    </p:extLst>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54A81C-E2D5-BE3D-89E3-D8A957CB11DF}"/>
              </a:ext>
            </a:extLst>
          </p:cNvPr>
          <p:cNvSpPr>
            <a:spLocks noGrp="1"/>
          </p:cNvSpPr>
          <p:nvPr>
            <p:ph type="title"/>
          </p:nvPr>
        </p:nvSpPr>
        <p:spPr>
          <a:xfrm>
            <a:off x="1042988" y="225431"/>
            <a:ext cx="7850187" cy="746125"/>
          </a:xfrm>
        </p:spPr>
        <p:txBody>
          <a:bodyPr/>
          <a:lstStyle/>
          <a:p>
            <a:r>
              <a:rPr lang="en-US" altLang="zh-CN" dirty="0"/>
              <a:t>Solaris</a:t>
            </a:r>
            <a:r>
              <a:rPr lang="zh-CN" altLang="en-US" dirty="0"/>
              <a:t>综合调度算法</a:t>
            </a:r>
          </a:p>
        </p:txBody>
      </p:sp>
      <p:sp>
        <p:nvSpPr>
          <p:cNvPr id="3" name="内容占位符 2">
            <a:extLst>
              <a:ext uri="{FF2B5EF4-FFF2-40B4-BE49-F238E27FC236}">
                <a16:creationId xmlns:a16="http://schemas.microsoft.com/office/drawing/2014/main" id="{985890C2-DFD4-17CC-FEAC-150304015D24}"/>
              </a:ext>
            </a:extLst>
          </p:cNvPr>
          <p:cNvSpPr>
            <a:spLocks noGrp="1"/>
          </p:cNvSpPr>
          <p:nvPr>
            <p:ph idx="1"/>
          </p:nvPr>
        </p:nvSpPr>
        <p:spPr>
          <a:xfrm>
            <a:off x="935038" y="1233488"/>
            <a:ext cx="7772400" cy="4895850"/>
          </a:xfrm>
        </p:spPr>
        <p:txBody>
          <a:bodyPr>
            <a:normAutofit fontScale="77500" lnSpcReduction="20000"/>
          </a:bodyPr>
          <a:lstStyle/>
          <a:p>
            <a:pPr>
              <a:lnSpc>
                <a:spcPct val="120000"/>
              </a:lnSpc>
            </a:pPr>
            <a:r>
              <a:rPr lang="zh-CN" altLang="en-US" dirty="0"/>
              <a:t>所有的进程都被分配到不同的调度级别。每个调度级别都有自己的调度策略和优先级范围。</a:t>
            </a:r>
            <a:endParaRPr lang="en-US" altLang="zh-CN" dirty="0"/>
          </a:p>
          <a:p>
            <a:pPr lvl="1">
              <a:lnSpc>
                <a:spcPct val="120000"/>
              </a:lnSpc>
            </a:pPr>
            <a:r>
              <a:rPr lang="zh-CN" altLang="en-US" dirty="0"/>
              <a:t>实时进程：拥有最高的调度级别，拥有严格时间限制的任务，如科学计算和音频视频处理</a:t>
            </a:r>
            <a:endParaRPr lang="en-US" altLang="zh-CN" dirty="0"/>
          </a:p>
          <a:p>
            <a:pPr lvl="1">
              <a:lnSpc>
                <a:spcPct val="120000"/>
              </a:lnSpc>
            </a:pPr>
            <a:r>
              <a:rPr lang="zh-CN" altLang="en-US" dirty="0"/>
              <a:t>系统进程：如内核线程和中断处理程序</a:t>
            </a:r>
            <a:endParaRPr lang="en-US" altLang="zh-CN" dirty="0"/>
          </a:p>
          <a:p>
            <a:pPr lvl="1">
              <a:lnSpc>
                <a:spcPct val="120000"/>
              </a:lnSpc>
            </a:pPr>
            <a:r>
              <a:rPr lang="zh-CN" altLang="en-US" dirty="0"/>
              <a:t>交互式用户进程：如文本编辑器和浏览器</a:t>
            </a:r>
            <a:endParaRPr lang="en-US" altLang="zh-CN" dirty="0"/>
          </a:p>
          <a:p>
            <a:pPr lvl="1">
              <a:lnSpc>
                <a:spcPct val="120000"/>
              </a:lnSpc>
            </a:pPr>
            <a:r>
              <a:rPr lang="zh-CN" altLang="en-US" dirty="0"/>
              <a:t>批处理进程：拥有最低的调度级别，通常在系统空闲时运行</a:t>
            </a:r>
            <a:endParaRPr lang="en-US" altLang="zh-CN" dirty="0"/>
          </a:p>
          <a:p>
            <a:pPr>
              <a:lnSpc>
                <a:spcPct val="120000"/>
              </a:lnSpc>
            </a:pPr>
            <a:r>
              <a:rPr lang="zh-CN" altLang="en-US" dirty="0"/>
              <a:t>优先级根据多种因素动态计算</a:t>
            </a:r>
            <a:endParaRPr lang="en-US" altLang="zh-CN" dirty="0"/>
          </a:p>
          <a:p>
            <a:pPr lvl="1">
              <a:lnSpc>
                <a:spcPct val="120000"/>
              </a:lnSpc>
            </a:pPr>
            <a:r>
              <a:rPr lang="zh-CN" altLang="en-US" dirty="0"/>
              <a:t>考虑进程的类型、进程的老化情况（即等待时间）以及进程最后一次执行后的</a:t>
            </a:r>
            <a:r>
              <a:rPr lang="en" altLang="zh-CN" dirty="0"/>
              <a:t>CPU</a:t>
            </a:r>
            <a:r>
              <a:rPr lang="zh-CN" altLang="en-US" dirty="0"/>
              <a:t>使用情况等</a:t>
            </a:r>
            <a:endParaRPr lang="en-US" altLang="zh-CN" dirty="0"/>
          </a:p>
          <a:p>
            <a:pPr>
              <a:lnSpc>
                <a:spcPct val="120000"/>
              </a:lnSpc>
            </a:pPr>
            <a:r>
              <a:rPr lang="zh-CN" altLang="en-US" dirty="0"/>
              <a:t>任何时候只要有一个更高优先级的进程变为就绪状态，都会立即抢占当前进程</a:t>
            </a:r>
          </a:p>
        </p:txBody>
      </p:sp>
      <p:sp>
        <p:nvSpPr>
          <p:cNvPr id="4" name="灯片编号占位符 3">
            <a:extLst>
              <a:ext uri="{FF2B5EF4-FFF2-40B4-BE49-F238E27FC236}">
                <a16:creationId xmlns:a16="http://schemas.microsoft.com/office/drawing/2014/main" id="{CCBD5342-F66F-FACE-1602-0405D63CB60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45</a:t>
            </a:fld>
            <a:endParaRPr lang="zh-CN" altLang="en-US" dirty="0"/>
          </a:p>
        </p:txBody>
      </p:sp>
    </p:spTree>
    <p:extLst>
      <p:ext uri="{BB962C8B-B14F-4D97-AF65-F5344CB8AC3E}">
        <p14:creationId xmlns:p14="http://schemas.microsoft.com/office/powerpoint/2010/main" val="537715374"/>
      </p:ext>
    </p:extLst>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F349D-86A2-B395-A1E4-32A5CADC3736}"/>
              </a:ext>
            </a:extLst>
          </p:cNvPr>
          <p:cNvSpPr>
            <a:spLocks noGrp="1"/>
          </p:cNvSpPr>
          <p:nvPr>
            <p:ph type="title"/>
          </p:nvPr>
        </p:nvSpPr>
        <p:spPr/>
        <p:txBody>
          <a:bodyPr/>
          <a:lstStyle/>
          <a:p>
            <a:r>
              <a:rPr kumimoji="1" lang="zh-CN" altLang="en-US" dirty="0"/>
              <a:t>多处理器调度</a:t>
            </a:r>
          </a:p>
        </p:txBody>
      </p:sp>
      <p:sp>
        <p:nvSpPr>
          <p:cNvPr id="3" name="内容占位符 2">
            <a:extLst>
              <a:ext uri="{FF2B5EF4-FFF2-40B4-BE49-F238E27FC236}">
                <a16:creationId xmlns:a16="http://schemas.microsoft.com/office/drawing/2014/main" id="{F2538C44-6C6C-070D-7AB8-1522823502E3}"/>
              </a:ext>
            </a:extLst>
          </p:cNvPr>
          <p:cNvSpPr>
            <a:spLocks noGrp="1"/>
          </p:cNvSpPr>
          <p:nvPr>
            <p:ph idx="1"/>
          </p:nvPr>
        </p:nvSpPr>
        <p:spPr/>
        <p:txBody>
          <a:bodyPr/>
          <a:lstStyle/>
          <a:p>
            <a:r>
              <a:rPr kumimoji="1" lang="zh-CN" altLang="en-US" dirty="0"/>
              <a:t>当前需要调度哪个</a:t>
            </a:r>
            <a:r>
              <a:rPr kumimoji="1" lang="en-US" altLang="zh-CN" dirty="0"/>
              <a:t>/</a:t>
            </a:r>
            <a:r>
              <a:rPr kumimoji="1" lang="zh-CN" altLang="en-US" dirty="0"/>
              <a:t>哪些任务？</a:t>
            </a:r>
            <a:endParaRPr kumimoji="1" lang="en-US" altLang="zh-CN" dirty="0"/>
          </a:p>
          <a:p>
            <a:r>
              <a:rPr kumimoji="1" lang="zh-CN" altLang="en-US" dirty="0"/>
              <a:t>每个调度的任务应该在哪个</a:t>
            </a:r>
            <a:r>
              <a:rPr kumimoji="1" lang="en-US" altLang="zh-CN" dirty="0"/>
              <a:t>CPU</a:t>
            </a:r>
            <a:r>
              <a:rPr kumimoji="1" lang="zh-CN" altLang="en-US" dirty="0"/>
              <a:t>核心上执行？</a:t>
            </a:r>
            <a:endParaRPr kumimoji="1" lang="en-US" altLang="zh-CN" dirty="0"/>
          </a:p>
          <a:p>
            <a:r>
              <a:rPr kumimoji="1" lang="zh-CN" altLang="en-US" dirty="0"/>
              <a:t>每个调度任务应该执行多久？</a:t>
            </a:r>
            <a:endParaRPr kumimoji="1" lang="en-US" altLang="zh-CN" dirty="0"/>
          </a:p>
          <a:p>
            <a:r>
              <a:rPr kumimoji="1" lang="zh-CN" altLang="en-US" dirty="0"/>
              <a:t>如何在多个处理器（或者多核）之间分配和调度进程，做到负载均衡？</a:t>
            </a:r>
            <a:endParaRPr kumimoji="1" lang="en-US" altLang="zh-CN" dirty="0"/>
          </a:p>
          <a:p>
            <a:r>
              <a:rPr kumimoji="1" lang="zh-CN" altLang="en-US" dirty="0"/>
              <a:t>在多核场景下有哪些调度策略？</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BE2AE99E-8CCB-9F5C-2536-534C64CB5697}"/>
              </a:ext>
            </a:extLst>
          </p:cNvPr>
          <p:cNvSpPr>
            <a:spLocks noGrp="1"/>
          </p:cNvSpPr>
          <p:nvPr>
            <p:ph type="sldNum" sz="quarter" idx="12"/>
          </p:nvPr>
        </p:nvSpPr>
        <p:spPr/>
        <p:txBody>
          <a:bodyPr/>
          <a:lstStyle/>
          <a:p>
            <a:fld id="{4093CC90-4002-504C-BD88-C9A1D374048E}" type="slidenum">
              <a:rPr lang="zh-CN" altLang="en-US" smtClean="0"/>
              <a:pPr/>
              <a:t>46</a:t>
            </a:fld>
            <a:endParaRPr lang="zh-CN" altLang="en-US" dirty="0"/>
          </a:p>
        </p:txBody>
      </p:sp>
    </p:spTree>
    <p:extLst>
      <p:ext uri="{BB962C8B-B14F-4D97-AF65-F5344CB8AC3E}">
        <p14:creationId xmlns:p14="http://schemas.microsoft.com/office/powerpoint/2010/main" val="3534090273"/>
      </p:ext>
    </p:extLst>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486B27-81CA-1976-6BF2-1AF6FD5CAB2D}"/>
              </a:ext>
            </a:extLst>
          </p:cNvPr>
          <p:cNvSpPr>
            <a:spLocks noGrp="1"/>
          </p:cNvSpPr>
          <p:nvPr>
            <p:ph type="title"/>
          </p:nvPr>
        </p:nvSpPr>
        <p:spPr/>
        <p:txBody>
          <a:bodyPr/>
          <a:lstStyle/>
          <a:p>
            <a:r>
              <a:rPr kumimoji="1" lang="zh-CN" altLang="en-US" dirty="0"/>
              <a:t>多处理器架构</a:t>
            </a:r>
          </a:p>
        </p:txBody>
      </p:sp>
      <p:sp>
        <p:nvSpPr>
          <p:cNvPr id="3" name="内容占位符 2">
            <a:extLst>
              <a:ext uri="{FF2B5EF4-FFF2-40B4-BE49-F238E27FC236}">
                <a16:creationId xmlns:a16="http://schemas.microsoft.com/office/drawing/2014/main" id="{1F5F08AF-6AD7-06A0-FD8E-80748255981A}"/>
              </a:ext>
            </a:extLst>
          </p:cNvPr>
          <p:cNvSpPr>
            <a:spLocks noGrp="1"/>
          </p:cNvSpPr>
          <p:nvPr>
            <p:ph idx="1"/>
          </p:nvPr>
        </p:nvSpPr>
        <p:spPr/>
        <p:txBody>
          <a:bodyPr/>
          <a:lstStyle/>
          <a:p>
            <a:r>
              <a:rPr kumimoji="1" lang="zh-CN" altLang="en-US" dirty="0"/>
              <a:t>定义：</a:t>
            </a:r>
            <a:endParaRPr kumimoji="1" lang="en-US" altLang="zh-CN" dirty="0"/>
          </a:p>
          <a:p>
            <a:pPr lvl="1"/>
            <a:r>
              <a:rPr kumimoji="1" lang="zh-CN" altLang="en-US" dirty="0"/>
              <a:t>多处理器架构：指一个计算系统中包含了两个或更多的处理器，这些处理器可以并行地执行多个任务，以提高系统的性能</a:t>
            </a:r>
            <a:endParaRPr kumimoji="1" lang="en-US" altLang="zh-CN" dirty="0"/>
          </a:p>
          <a:p>
            <a:pPr lvl="1"/>
            <a:r>
              <a:rPr kumimoji="1" lang="zh-CN" altLang="en-US" dirty="0"/>
              <a:t>主要优点：可以实现任务的并行处理，从而提高系统的吞吐量和性能</a:t>
            </a:r>
          </a:p>
        </p:txBody>
      </p:sp>
      <p:sp>
        <p:nvSpPr>
          <p:cNvPr id="4" name="灯片编号占位符 3">
            <a:extLst>
              <a:ext uri="{FF2B5EF4-FFF2-40B4-BE49-F238E27FC236}">
                <a16:creationId xmlns:a16="http://schemas.microsoft.com/office/drawing/2014/main" id="{D6BACBF3-8F6D-4A70-2631-33972A9260FE}"/>
              </a:ext>
            </a:extLst>
          </p:cNvPr>
          <p:cNvSpPr>
            <a:spLocks noGrp="1"/>
          </p:cNvSpPr>
          <p:nvPr>
            <p:ph type="sldNum" sz="quarter" idx="12"/>
          </p:nvPr>
        </p:nvSpPr>
        <p:spPr/>
        <p:txBody>
          <a:bodyPr/>
          <a:lstStyle/>
          <a:p>
            <a:fld id="{4093CC90-4002-504C-BD88-C9A1D374048E}" type="slidenum">
              <a:rPr lang="zh-CN" altLang="en-US" smtClean="0"/>
              <a:pPr/>
              <a:t>47</a:t>
            </a:fld>
            <a:endParaRPr lang="zh-CN" altLang="en-US" dirty="0"/>
          </a:p>
        </p:txBody>
      </p:sp>
    </p:spTree>
    <p:extLst>
      <p:ext uri="{BB962C8B-B14F-4D97-AF65-F5344CB8AC3E}">
        <p14:creationId xmlns:p14="http://schemas.microsoft.com/office/powerpoint/2010/main" val="3328935150"/>
      </p:ext>
    </p:extLst>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FB00F3-6C02-EFEE-A498-C7BFDE0D07EA}"/>
              </a:ext>
            </a:extLst>
          </p:cNvPr>
          <p:cNvSpPr>
            <a:spLocks noGrp="1"/>
          </p:cNvSpPr>
          <p:nvPr>
            <p:ph type="title"/>
          </p:nvPr>
        </p:nvSpPr>
        <p:spPr/>
        <p:txBody>
          <a:bodyPr/>
          <a:lstStyle/>
          <a:p>
            <a:r>
              <a:rPr kumimoji="1" lang="zh-CN" altLang="en-US" dirty="0"/>
              <a:t>多处理器架构的分类</a:t>
            </a:r>
          </a:p>
        </p:txBody>
      </p:sp>
      <p:sp>
        <p:nvSpPr>
          <p:cNvPr id="3" name="内容占位符 2">
            <a:extLst>
              <a:ext uri="{FF2B5EF4-FFF2-40B4-BE49-F238E27FC236}">
                <a16:creationId xmlns:a16="http://schemas.microsoft.com/office/drawing/2014/main" id="{71AEB9D9-24C9-FC67-030D-BAF460B28CC1}"/>
              </a:ext>
            </a:extLst>
          </p:cNvPr>
          <p:cNvSpPr>
            <a:spLocks noGrp="1"/>
          </p:cNvSpPr>
          <p:nvPr>
            <p:ph idx="1"/>
          </p:nvPr>
        </p:nvSpPr>
        <p:spPr/>
        <p:txBody>
          <a:bodyPr>
            <a:normAutofit/>
          </a:bodyPr>
          <a:lstStyle/>
          <a:p>
            <a:r>
              <a:rPr kumimoji="1" lang="zh-CN" altLang="en-US" dirty="0"/>
              <a:t>按连接方式和资源共享方式分类</a:t>
            </a:r>
            <a:endParaRPr kumimoji="1" lang="en-US" altLang="zh-CN" dirty="0"/>
          </a:p>
          <a:p>
            <a:pPr lvl="1"/>
            <a:r>
              <a:rPr kumimoji="1" lang="zh-CN" altLang="en-US" b="1" dirty="0">
                <a:solidFill>
                  <a:schemeClr val="accent5">
                    <a:lumMod val="25000"/>
                  </a:schemeClr>
                </a:solidFill>
              </a:rPr>
              <a:t>紧耦合多处理器</a:t>
            </a:r>
            <a:r>
              <a:rPr kumimoji="1" lang="zh-CN" altLang="en-US" dirty="0"/>
              <a:t>：在一个系统中有多个处理器</a:t>
            </a:r>
            <a:r>
              <a:rPr kumimoji="1" lang="zh-CN" altLang="en-US" b="1" dirty="0">
                <a:solidFill>
                  <a:srgbClr val="FF0000"/>
                </a:solidFill>
              </a:rPr>
              <a:t>共享同一存储器和</a:t>
            </a:r>
            <a:r>
              <a:rPr kumimoji="1" lang="en" altLang="zh-CN" b="1" dirty="0">
                <a:solidFill>
                  <a:srgbClr val="FF0000"/>
                </a:solidFill>
              </a:rPr>
              <a:t>I/O</a:t>
            </a:r>
            <a:r>
              <a:rPr kumimoji="1" lang="zh-CN" altLang="en-US" b="1" dirty="0">
                <a:solidFill>
                  <a:srgbClr val="FF0000"/>
                </a:solidFill>
              </a:rPr>
              <a:t>设备</a:t>
            </a:r>
            <a:r>
              <a:rPr kumimoji="1" lang="zh-CN" altLang="en-US" dirty="0"/>
              <a:t>，所有处理器可以访问所有的存储和设备。优点是资源共享，缺点是需要复杂的硬件和软件支持。</a:t>
            </a:r>
          </a:p>
          <a:p>
            <a:pPr lvl="1"/>
            <a:r>
              <a:rPr kumimoji="1" lang="zh-CN" altLang="en-US" b="1" dirty="0">
                <a:solidFill>
                  <a:schemeClr val="accent5">
                    <a:lumMod val="25000"/>
                  </a:schemeClr>
                </a:solidFill>
              </a:rPr>
              <a:t>松耦合多处理器</a:t>
            </a:r>
            <a:r>
              <a:rPr kumimoji="1" lang="zh-CN" altLang="en-US" dirty="0"/>
              <a:t>：在一个系统中有多个处理器，每个处理器都</a:t>
            </a:r>
            <a:r>
              <a:rPr kumimoji="1" lang="zh-CN" altLang="en-US" b="1" dirty="0">
                <a:solidFill>
                  <a:srgbClr val="FF0000"/>
                </a:solidFill>
              </a:rPr>
              <a:t>有自己的存储器和</a:t>
            </a:r>
            <a:r>
              <a:rPr kumimoji="1" lang="en" altLang="zh-CN" b="1" dirty="0">
                <a:solidFill>
                  <a:srgbClr val="FF0000"/>
                </a:solidFill>
              </a:rPr>
              <a:t>I/O</a:t>
            </a:r>
            <a:r>
              <a:rPr kumimoji="1" lang="zh-CN" altLang="en-US" b="1" dirty="0">
                <a:solidFill>
                  <a:srgbClr val="FF0000"/>
                </a:solidFill>
              </a:rPr>
              <a:t>设备</a:t>
            </a:r>
            <a:r>
              <a:rPr kumimoji="1" lang="zh-CN" altLang="en-US" dirty="0"/>
              <a:t>，处理器之间通过通信网络连接。优点是简单，易于扩展，缺点是资源利用率低。</a:t>
            </a:r>
          </a:p>
        </p:txBody>
      </p:sp>
      <p:sp>
        <p:nvSpPr>
          <p:cNvPr id="4" name="灯片编号占位符 3">
            <a:extLst>
              <a:ext uri="{FF2B5EF4-FFF2-40B4-BE49-F238E27FC236}">
                <a16:creationId xmlns:a16="http://schemas.microsoft.com/office/drawing/2014/main" id="{56B9335C-9A82-4FCD-AA2B-FA59B8CC615A}"/>
              </a:ext>
            </a:extLst>
          </p:cNvPr>
          <p:cNvSpPr>
            <a:spLocks noGrp="1"/>
          </p:cNvSpPr>
          <p:nvPr>
            <p:ph type="sldNum" sz="quarter" idx="12"/>
          </p:nvPr>
        </p:nvSpPr>
        <p:spPr/>
        <p:txBody>
          <a:bodyPr/>
          <a:lstStyle/>
          <a:p>
            <a:fld id="{4093CC90-4002-504C-BD88-C9A1D374048E}" type="slidenum">
              <a:rPr lang="zh-CN" altLang="en-US" smtClean="0"/>
              <a:pPr/>
              <a:t>48</a:t>
            </a:fld>
            <a:endParaRPr lang="zh-CN" altLang="en-US" dirty="0"/>
          </a:p>
        </p:txBody>
      </p:sp>
    </p:spTree>
    <p:extLst>
      <p:ext uri="{BB962C8B-B14F-4D97-AF65-F5344CB8AC3E}">
        <p14:creationId xmlns:p14="http://schemas.microsoft.com/office/powerpoint/2010/main" val="4243304329"/>
      </p:ext>
    </p:extLst>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8F2DA-D45B-B515-D00C-EF101BF78002}"/>
              </a:ext>
            </a:extLst>
          </p:cNvPr>
          <p:cNvSpPr>
            <a:spLocks noGrp="1"/>
          </p:cNvSpPr>
          <p:nvPr>
            <p:ph type="title"/>
          </p:nvPr>
        </p:nvSpPr>
        <p:spPr/>
        <p:txBody>
          <a:bodyPr/>
          <a:lstStyle/>
          <a:p>
            <a:r>
              <a:rPr kumimoji="1" lang="zh-CN" altLang="en-US" dirty="0"/>
              <a:t>多处理器架构的分类</a:t>
            </a:r>
          </a:p>
        </p:txBody>
      </p:sp>
      <p:sp>
        <p:nvSpPr>
          <p:cNvPr id="3" name="内容占位符 2">
            <a:extLst>
              <a:ext uri="{FF2B5EF4-FFF2-40B4-BE49-F238E27FC236}">
                <a16:creationId xmlns:a16="http://schemas.microsoft.com/office/drawing/2014/main" id="{231F5D6E-BCB1-47DD-13DC-27347DF0EA1C}"/>
              </a:ext>
            </a:extLst>
          </p:cNvPr>
          <p:cNvSpPr>
            <a:spLocks noGrp="1"/>
          </p:cNvSpPr>
          <p:nvPr>
            <p:ph idx="1"/>
          </p:nvPr>
        </p:nvSpPr>
        <p:spPr/>
        <p:txBody>
          <a:bodyPr/>
          <a:lstStyle/>
          <a:p>
            <a:r>
              <a:rPr kumimoji="1" lang="zh-CN" altLang="en-US" dirty="0"/>
              <a:t>根据多处理器的工作方式分类</a:t>
            </a:r>
            <a:endParaRPr kumimoji="1" lang="en-US" altLang="zh-CN" dirty="0"/>
          </a:p>
          <a:p>
            <a:pPr lvl="1"/>
            <a:r>
              <a:rPr kumimoji="1" lang="zh-CN" altLang="en-US" dirty="0"/>
              <a:t>对称多处理器（</a:t>
            </a:r>
            <a:r>
              <a:rPr kumimoji="1" lang="en" altLang="zh-CN" dirty="0"/>
              <a:t>SMP</a:t>
            </a:r>
            <a:r>
              <a:rPr kumimoji="1" lang="zh-CN" altLang="en" dirty="0"/>
              <a:t>）：</a:t>
            </a:r>
            <a:r>
              <a:rPr kumimoji="1" lang="zh-CN" altLang="en-US" dirty="0"/>
              <a:t>在</a:t>
            </a:r>
            <a:r>
              <a:rPr kumimoji="1" lang="en" altLang="zh-CN" dirty="0"/>
              <a:t>SMP</a:t>
            </a:r>
            <a:r>
              <a:rPr kumimoji="1" lang="zh-CN" altLang="en-US" dirty="0"/>
              <a:t>系统中，所有的处理器都是对等的，任何一个处理器都可以执行任何一个任务，所有的处理器共享同一存储器和</a:t>
            </a:r>
            <a:r>
              <a:rPr kumimoji="1" lang="en" altLang="zh-CN" dirty="0"/>
              <a:t>I/O</a:t>
            </a:r>
            <a:r>
              <a:rPr kumimoji="1" lang="zh-CN" altLang="en-US" dirty="0"/>
              <a:t>设备。</a:t>
            </a:r>
          </a:p>
          <a:p>
            <a:pPr lvl="1"/>
            <a:r>
              <a:rPr kumimoji="1" lang="zh-CN" altLang="en-US" dirty="0"/>
              <a:t>非对称多处理器：在非对称多处理器系统中，不同的处理器有不同的任务，例如，一些处理器专门用于</a:t>
            </a:r>
            <a:r>
              <a:rPr kumimoji="1" lang="en" altLang="zh-CN" dirty="0"/>
              <a:t>I/O</a:t>
            </a:r>
            <a:r>
              <a:rPr kumimoji="1" lang="zh-CN" altLang="en-US" dirty="0"/>
              <a:t>操作，一些处理器专门用于计算。</a:t>
            </a:r>
          </a:p>
        </p:txBody>
      </p:sp>
      <p:sp>
        <p:nvSpPr>
          <p:cNvPr id="4" name="灯片编号占位符 3">
            <a:extLst>
              <a:ext uri="{FF2B5EF4-FFF2-40B4-BE49-F238E27FC236}">
                <a16:creationId xmlns:a16="http://schemas.microsoft.com/office/drawing/2014/main" id="{860438F7-DE31-5057-85E8-CE61DE0012FD}"/>
              </a:ext>
            </a:extLst>
          </p:cNvPr>
          <p:cNvSpPr>
            <a:spLocks noGrp="1"/>
          </p:cNvSpPr>
          <p:nvPr>
            <p:ph type="sldNum" sz="quarter" idx="12"/>
          </p:nvPr>
        </p:nvSpPr>
        <p:spPr/>
        <p:txBody>
          <a:bodyPr/>
          <a:lstStyle/>
          <a:p>
            <a:fld id="{4093CC90-4002-504C-BD88-C9A1D374048E}" type="slidenum">
              <a:rPr lang="zh-CN" altLang="en-US" smtClean="0"/>
              <a:pPr/>
              <a:t>49</a:t>
            </a:fld>
            <a:endParaRPr lang="zh-CN" altLang="en-US" dirty="0"/>
          </a:p>
        </p:txBody>
      </p:sp>
    </p:spTree>
    <p:extLst>
      <p:ext uri="{BB962C8B-B14F-4D97-AF65-F5344CB8AC3E}">
        <p14:creationId xmlns:p14="http://schemas.microsoft.com/office/powerpoint/2010/main" val="3782740534"/>
      </p:ext>
    </p:extLst>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28DB1-173D-BC8A-788D-F1A49F885370}"/>
              </a:ext>
            </a:extLst>
          </p:cNvPr>
          <p:cNvSpPr>
            <a:spLocks noGrp="1"/>
          </p:cNvSpPr>
          <p:nvPr>
            <p:ph type="title"/>
          </p:nvPr>
        </p:nvSpPr>
        <p:spPr/>
        <p:txBody>
          <a:bodyPr/>
          <a:lstStyle/>
          <a:p>
            <a:r>
              <a:rPr kumimoji="1" lang="zh-CN" altLang="en-US" dirty="0"/>
              <a:t>调度对多处理器架构的影响</a:t>
            </a:r>
          </a:p>
        </p:txBody>
      </p:sp>
      <p:sp>
        <p:nvSpPr>
          <p:cNvPr id="3" name="内容占位符 2">
            <a:extLst>
              <a:ext uri="{FF2B5EF4-FFF2-40B4-BE49-F238E27FC236}">
                <a16:creationId xmlns:a16="http://schemas.microsoft.com/office/drawing/2014/main" id="{3C672958-394E-0394-250D-81E10AA4C8AD}"/>
              </a:ext>
            </a:extLst>
          </p:cNvPr>
          <p:cNvSpPr>
            <a:spLocks noGrp="1"/>
          </p:cNvSpPr>
          <p:nvPr>
            <p:ph idx="1"/>
          </p:nvPr>
        </p:nvSpPr>
        <p:spPr/>
        <p:txBody>
          <a:bodyPr>
            <a:normAutofit/>
          </a:bodyPr>
          <a:lstStyle/>
          <a:p>
            <a:r>
              <a:rPr kumimoji="1" lang="zh-CN" altLang="en-US" dirty="0"/>
              <a:t>调度目标</a:t>
            </a:r>
            <a:endParaRPr kumimoji="1" lang="en-US" altLang="zh-CN" dirty="0"/>
          </a:p>
          <a:p>
            <a:pPr lvl="1"/>
            <a:r>
              <a:rPr kumimoji="1" lang="zh-CN" altLang="en-US" dirty="0"/>
              <a:t>调度算法如何将任务分配给不同的处理器，以达能到性能最优</a:t>
            </a:r>
            <a:endParaRPr kumimoji="1" lang="en-US" altLang="zh-CN" dirty="0"/>
          </a:p>
          <a:p>
            <a:pPr lvl="1"/>
            <a:r>
              <a:rPr kumimoji="1" lang="zh-CN" altLang="en-US" dirty="0"/>
              <a:t>调度算法如何满足任务之间的依赖关系，确保任务按正确的顺序执行</a:t>
            </a:r>
            <a:endParaRPr kumimoji="1" lang="en-US" altLang="zh-CN" dirty="0"/>
          </a:p>
        </p:txBody>
      </p:sp>
      <p:sp>
        <p:nvSpPr>
          <p:cNvPr id="4" name="灯片编号占位符 3">
            <a:extLst>
              <a:ext uri="{FF2B5EF4-FFF2-40B4-BE49-F238E27FC236}">
                <a16:creationId xmlns:a16="http://schemas.microsoft.com/office/drawing/2014/main" id="{B4568497-892C-E30D-1F0C-855051DDE9F7}"/>
              </a:ext>
            </a:extLst>
          </p:cNvPr>
          <p:cNvSpPr>
            <a:spLocks noGrp="1"/>
          </p:cNvSpPr>
          <p:nvPr>
            <p:ph type="sldNum" sz="quarter" idx="12"/>
          </p:nvPr>
        </p:nvSpPr>
        <p:spPr/>
        <p:txBody>
          <a:bodyPr/>
          <a:lstStyle/>
          <a:p>
            <a:fld id="{4093CC90-4002-504C-BD88-C9A1D374048E}" type="slidenum">
              <a:rPr lang="zh-CN" altLang="en-US" smtClean="0"/>
              <a:pPr/>
              <a:t>50</a:t>
            </a:fld>
            <a:endParaRPr lang="zh-CN" altLang="en-US" dirty="0"/>
          </a:p>
        </p:txBody>
      </p:sp>
    </p:spTree>
    <p:extLst>
      <p:ext uri="{BB962C8B-B14F-4D97-AF65-F5344CB8AC3E}">
        <p14:creationId xmlns:p14="http://schemas.microsoft.com/office/powerpoint/2010/main" val="1626116517"/>
      </p:ext>
    </p:extLst>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F8E9C-2402-1C18-D56B-C41CFC2C328E}"/>
              </a:ext>
            </a:extLst>
          </p:cNvPr>
          <p:cNvSpPr>
            <a:spLocks noGrp="1"/>
          </p:cNvSpPr>
          <p:nvPr>
            <p:ph type="title"/>
          </p:nvPr>
        </p:nvSpPr>
        <p:spPr/>
        <p:txBody>
          <a:bodyPr/>
          <a:lstStyle/>
          <a:p>
            <a:r>
              <a:rPr kumimoji="1" lang="zh-CN" altLang="en-US" dirty="0"/>
              <a:t>多处理器架构带来的问题</a:t>
            </a:r>
          </a:p>
        </p:txBody>
      </p:sp>
      <p:sp>
        <p:nvSpPr>
          <p:cNvPr id="3" name="内容占位符 2">
            <a:extLst>
              <a:ext uri="{FF2B5EF4-FFF2-40B4-BE49-F238E27FC236}">
                <a16:creationId xmlns:a16="http://schemas.microsoft.com/office/drawing/2014/main" id="{20B15146-4109-B13F-6674-8F2BFA6B1B77}"/>
              </a:ext>
            </a:extLst>
          </p:cNvPr>
          <p:cNvSpPr>
            <a:spLocks noGrp="1"/>
          </p:cNvSpPr>
          <p:nvPr>
            <p:ph idx="1"/>
          </p:nvPr>
        </p:nvSpPr>
        <p:spPr/>
        <p:txBody>
          <a:bodyPr/>
          <a:lstStyle/>
          <a:p>
            <a:r>
              <a:rPr kumimoji="1" lang="zh-CN" altLang="en-US" dirty="0"/>
              <a:t>多</a:t>
            </a:r>
            <a:r>
              <a:rPr kumimoji="1" lang="en-US" altLang="zh-CN" dirty="0"/>
              <a:t>CPU</a:t>
            </a:r>
            <a:r>
              <a:rPr kumimoji="1" lang="zh-CN" altLang="en-US" dirty="0"/>
              <a:t>的情况下的缓存一致性问题</a:t>
            </a:r>
            <a:endParaRPr kumimoji="1" lang="en-US" altLang="zh-CN" dirty="0"/>
          </a:p>
          <a:p>
            <a:r>
              <a:rPr kumimoji="1" lang="zh-CN" altLang="en-US" dirty="0"/>
              <a:t>缓存亲和度问题</a:t>
            </a:r>
            <a:endParaRPr kumimoji="1" lang="en-US" altLang="zh-CN" dirty="0"/>
          </a:p>
          <a:p>
            <a:pPr lvl="1"/>
            <a:r>
              <a:rPr kumimoji="1" lang="zh-CN" altLang="en-US" dirty="0"/>
              <a:t>指进程或线程</a:t>
            </a:r>
            <a:r>
              <a:rPr kumimoji="1" lang="zh-CN" altLang="en-US" b="1" dirty="0">
                <a:solidFill>
                  <a:srgbClr val="FF0000"/>
                </a:solidFill>
              </a:rPr>
              <a:t>倾向于在特定的</a:t>
            </a:r>
            <a:r>
              <a:rPr kumimoji="1" lang="zh-CN" altLang="en-US" dirty="0"/>
              <a:t>处理器或处理器集合上运行的特性</a:t>
            </a:r>
          </a:p>
        </p:txBody>
      </p:sp>
      <p:sp>
        <p:nvSpPr>
          <p:cNvPr id="4" name="灯片编号占位符 3">
            <a:extLst>
              <a:ext uri="{FF2B5EF4-FFF2-40B4-BE49-F238E27FC236}">
                <a16:creationId xmlns:a16="http://schemas.microsoft.com/office/drawing/2014/main" id="{DE19A21D-6B56-40E9-E2C7-09BBA32C336A}"/>
              </a:ext>
            </a:extLst>
          </p:cNvPr>
          <p:cNvSpPr>
            <a:spLocks noGrp="1"/>
          </p:cNvSpPr>
          <p:nvPr>
            <p:ph type="sldNum" sz="quarter" idx="12"/>
          </p:nvPr>
        </p:nvSpPr>
        <p:spPr/>
        <p:txBody>
          <a:bodyPr/>
          <a:lstStyle/>
          <a:p>
            <a:fld id="{4093CC90-4002-504C-BD88-C9A1D374048E}" type="slidenum">
              <a:rPr lang="zh-CN" altLang="en-US" smtClean="0"/>
              <a:pPr/>
              <a:t>51</a:t>
            </a:fld>
            <a:endParaRPr lang="zh-CN" altLang="en-US" dirty="0"/>
          </a:p>
        </p:txBody>
      </p:sp>
      <p:pic>
        <p:nvPicPr>
          <p:cNvPr id="5" name="图片 4">
            <a:extLst>
              <a:ext uri="{FF2B5EF4-FFF2-40B4-BE49-F238E27FC236}">
                <a16:creationId xmlns:a16="http://schemas.microsoft.com/office/drawing/2014/main" id="{17F81E33-9255-331F-8A96-FDA74A665411}"/>
              </a:ext>
            </a:extLst>
          </p:cNvPr>
          <p:cNvPicPr>
            <a:picLocks noChangeAspect="1"/>
          </p:cNvPicPr>
          <p:nvPr/>
        </p:nvPicPr>
        <p:blipFill>
          <a:blip r:embed="rId2"/>
          <a:stretch>
            <a:fillRect/>
          </a:stretch>
        </p:blipFill>
        <p:spPr>
          <a:xfrm>
            <a:off x="2174081" y="3454138"/>
            <a:ext cx="5588000" cy="2730500"/>
          </a:xfrm>
          <a:prstGeom prst="rect">
            <a:avLst/>
          </a:prstGeom>
        </p:spPr>
      </p:pic>
      <p:sp>
        <p:nvSpPr>
          <p:cNvPr id="6" name="文本框 5">
            <a:extLst>
              <a:ext uri="{FF2B5EF4-FFF2-40B4-BE49-F238E27FC236}">
                <a16:creationId xmlns:a16="http://schemas.microsoft.com/office/drawing/2014/main" id="{1639547F-43DA-4200-B020-14FC77A21C26}"/>
              </a:ext>
            </a:extLst>
          </p:cNvPr>
          <p:cNvSpPr txBox="1"/>
          <p:nvPr/>
        </p:nvSpPr>
        <p:spPr>
          <a:xfrm>
            <a:off x="2174081" y="6292681"/>
            <a:ext cx="1415441" cy="307777"/>
          </a:xfrm>
          <a:prstGeom prst="rect">
            <a:avLst/>
          </a:prstGeom>
          <a:noFill/>
        </p:spPr>
        <p:txBody>
          <a:bodyPr wrap="square" rtlCol="0">
            <a:spAutoFit/>
          </a:bodyPr>
          <a:lstStyle/>
          <a:p>
            <a:r>
              <a:rPr kumimoji="1" lang="zh-CN" altLang="en-US" sz="1400" dirty="0"/>
              <a:t>带缓存的单</a:t>
            </a:r>
            <a:r>
              <a:rPr kumimoji="1" lang="en-US" altLang="zh-CN" sz="1400" dirty="0"/>
              <a:t>CPU</a:t>
            </a:r>
            <a:endParaRPr kumimoji="1" lang="zh-CN" altLang="en-US" sz="1400" dirty="0"/>
          </a:p>
        </p:txBody>
      </p:sp>
      <p:sp>
        <p:nvSpPr>
          <p:cNvPr id="7" name="文本框 6">
            <a:extLst>
              <a:ext uri="{FF2B5EF4-FFF2-40B4-BE49-F238E27FC236}">
                <a16:creationId xmlns:a16="http://schemas.microsoft.com/office/drawing/2014/main" id="{4325F154-934D-A6F5-EE50-FE3AF85D43AA}"/>
              </a:ext>
            </a:extLst>
          </p:cNvPr>
          <p:cNvSpPr txBox="1"/>
          <p:nvPr/>
        </p:nvSpPr>
        <p:spPr>
          <a:xfrm>
            <a:off x="5200291" y="6292680"/>
            <a:ext cx="2561790" cy="307777"/>
          </a:xfrm>
          <a:prstGeom prst="rect">
            <a:avLst/>
          </a:prstGeom>
          <a:noFill/>
        </p:spPr>
        <p:txBody>
          <a:bodyPr wrap="square" rtlCol="0">
            <a:spAutoFit/>
          </a:bodyPr>
          <a:lstStyle/>
          <a:p>
            <a:r>
              <a:rPr kumimoji="1" lang="zh-CN" altLang="en-US" sz="1400" dirty="0"/>
              <a:t> 两个有缓存的</a:t>
            </a:r>
            <a:r>
              <a:rPr kumimoji="1" lang="en-US" altLang="zh-CN" sz="1400" dirty="0"/>
              <a:t>CPU</a:t>
            </a:r>
            <a:r>
              <a:rPr kumimoji="1" lang="zh-CN" altLang="en-US" sz="1400" dirty="0"/>
              <a:t>共享内存</a:t>
            </a:r>
          </a:p>
        </p:txBody>
      </p:sp>
    </p:spTree>
    <p:extLst>
      <p:ext uri="{BB962C8B-B14F-4D97-AF65-F5344CB8AC3E}">
        <p14:creationId xmlns:p14="http://schemas.microsoft.com/office/powerpoint/2010/main" val="2344735113"/>
      </p:ext>
    </p:extLst>
  </p:cSld>
  <p:clrMapOvr>
    <a:masterClrMapping/>
  </p:clrMapOvr>
  <p:transition spd="med">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6FAC7-A9BC-4D55-119D-769EFCEFC863}"/>
              </a:ext>
            </a:extLst>
          </p:cNvPr>
          <p:cNvSpPr>
            <a:spLocks noGrp="1"/>
          </p:cNvSpPr>
          <p:nvPr>
            <p:ph type="title"/>
          </p:nvPr>
        </p:nvSpPr>
        <p:spPr/>
        <p:txBody>
          <a:bodyPr/>
          <a:lstStyle/>
          <a:p>
            <a:r>
              <a:rPr kumimoji="1" lang="zh-CN" altLang="en-US" sz="3600" dirty="0"/>
              <a:t>处理器的亲和性</a:t>
            </a:r>
            <a:r>
              <a:rPr kumimoji="1" lang="en-US" altLang="zh-CN" sz="3600" dirty="0"/>
              <a:t>(</a:t>
            </a:r>
            <a:r>
              <a:rPr kumimoji="1" lang="en" altLang="zh-CN" sz="3600" dirty="0"/>
              <a:t>Processor Affinity</a:t>
            </a:r>
            <a:r>
              <a:rPr kumimoji="1" lang="en-US" altLang="zh-CN" sz="3600" dirty="0"/>
              <a:t>)</a:t>
            </a:r>
            <a:endParaRPr kumimoji="1" lang="zh-CN" altLang="en-US" sz="3600" dirty="0"/>
          </a:p>
        </p:txBody>
      </p:sp>
      <p:sp>
        <p:nvSpPr>
          <p:cNvPr id="3" name="内容占位符 2">
            <a:extLst>
              <a:ext uri="{FF2B5EF4-FFF2-40B4-BE49-F238E27FC236}">
                <a16:creationId xmlns:a16="http://schemas.microsoft.com/office/drawing/2014/main" id="{8FB28782-8E80-1B0D-6363-B68745B11AD3}"/>
              </a:ext>
            </a:extLst>
          </p:cNvPr>
          <p:cNvSpPr>
            <a:spLocks noGrp="1"/>
          </p:cNvSpPr>
          <p:nvPr>
            <p:ph idx="1"/>
          </p:nvPr>
        </p:nvSpPr>
        <p:spPr/>
        <p:txBody>
          <a:bodyPr>
            <a:normAutofit/>
          </a:bodyPr>
          <a:lstStyle/>
          <a:p>
            <a:pPr>
              <a:lnSpc>
                <a:spcPct val="120000"/>
              </a:lnSpc>
            </a:pPr>
            <a:r>
              <a:rPr kumimoji="1" lang="zh-CN" altLang="en-US" dirty="0"/>
              <a:t>定义：</a:t>
            </a:r>
            <a:endParaRPr kumimoji="1" lang="en-US" altLang="zh-CN" dirty="0"/>
          </a:p>
          <a:p>
            <a:pPr lvl="1">
              <a:lnSpc>
                <a:spcPct val="120000"/>
              </a:lnSpc>
            </a:pPr>
            <a:r>
              <a:rPr kumimoji="1" lang="zh-CN" altLang="en-US" b="1" dirty="0">
                <a:solidFill>
                  <a:srgbClr val="FF0000"/>
                </a:solidFill>
              </a:rPr>
              <a:t>处理器亲和性</a:t>
            </a:r>
            <a:r>
              <a:rPr kumimoji="1" lang="zh-CN" altLang="en-US" dirty="0"/>
              <a:t>是指进程或线程</a:t>
            </a:r>
            <a:r>
              <a:rPr kumimoji="1" lang="zh-CN" altLang="en-US" b="1" dirty="0">
                <a:solidFill>
                  <a:srgbClr val="FF0000"/>
                </a:solidFill>
              </a:rPr>
              <a:t>倾向于在特定的</a:t>
            </a:r>
            <a:r>
              <a:rPr kumimoji="1" lang="zh-CN" altLang="en-US" dirty="0"/>
              <a:t>处理器或处理器集合上运行的特性。</a:t>
            </a:r>
            <a:endParaRPr kumimoji="1" lang="en-US" altLang="zh-CN" dirty="0"/>
          </a:p>
          <a:p>
            <a:pPr>
              <a:lnSpc>
                <a:spcPct val="120000"/>
              </a:lnSpc>
            </a:pPr>
            <a:r>
              <a:rPr kumimoji="1" lang="zh-CN" altLang="en-US" dirty="0"/>
              <a:t>原因：</a:t>
            </a:r>
            <a:endParaRPr kumimoji="1" lang="en-US" altLang="zh-CN" dirty="0"/>
          </a:p>
          <a:p>
            <a:pPr lvl="1">
              <a:lnSpc>
                <a:spcPct val="120000"/>
              </a:lnSpc>
            </a:pPr>
            <a:r>
              <a:rPr kumimoji="1" lang="zh-CN" altLang="en-US" dirty="0"/>
              <a:t>由于该进程或线程之前在这些处理器上运行过，因此可能有一些数据或状态仍然缓存在那里，如果再次在这些处理器上运行，则可以利用这些缓存数据，从而提高性能。</a:t>
            </a:r>
          </a:p>
          <a:p>
            <a:pPr lvl="1">
              <a:lnSpc>
                <a:spcPct val="120000"/>
              </a:lnSpc>
            </a:pPr>
            <a:endParaRPr kumimoji="1" lang="zh-CN" altLang="en-US" dirty="0"/>
          </a:p>
        </p:txBody>
      </p:sp>
      <p:sp>
        <p:nvSpPr>
          <p:cNvPr id="4" name="灯片编号占位符 3">
            <a:extLst>
              <a:ext uri="{FF2B5EF4-FFF2-40B4-BE49-F238E27FC236}">
                <a16:creationId xmlns:a16="http://schemas.microsoft.com/office/drawing/2014/main" id="{6A094597-F3BB-07CD-5B1E-E9C06281972D}"/>
              </a:ext>
            </a:extLst>
          </p:cNvPr>
          <p:cNvSpPr>
            <a:spLocks noGrp="1"/>
          </p:cNvSpPr>
          <p:nvPr>
            <p:ph type="sldNum" sz="quarter" idx="12"/>
          </p:nvPr>
        </p:nvSpPr>
        <p:spPr/>
        <p:txBody>
          <a:bodyPr/>
          <a:lstStyle/>
          <a:p>
            <a:fld id="{4093CC90-4002-504C-BD88-C9A1D374048E}" type="slidenum">
              <a:rPr lang="zh-CN" altLang="en-US" smtClean="0"/>
              <a:pPr/>
              <a:t>52</a:t>
            </a:fld>
            <a:endParaRPr lang="zh-CN" altLang="en-US" dirty="0"/>
          </a:p>
        </p:txBody>
      </p:sp>
    </p:spTree>
    <p:extLst>
      <p:ext uri="{BB962C8B-B14F-4D97-AF65-F5344CB8AC3E}">
        <p14:creationId xmlns:p14="http://schemas.microsoft.com/office/powerpoint/2010/main" val="2734440072"/>
      </p:ext>
    </p:extLst>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FC6A0-AC8F-FAC2-19A3-B094E27910FC}"/>
              </a:ext>
            </a:extLst>
          </p:cNvPr>
          <p:cNvSpPr>
            <a:spLocks noGrp="1"/>
          </p:cNvSpPr>
          <p:nvPr>
            <p:ph type="title"/>
          </p:nvPr>
        </p:nvSpPr>
        <p:spPr>
          <a:xfrm>
            <a:off x="1042988" y="225431"/>
            <a:ext cx="7850187" cy="746125"/>
          </a:xfrm>
        </p:spPr>
        <p:txBody>
          <a:bodyPr/>
          <a:lstStyle/>
          <a:p>
            <a:r>
              <a:rPr lang="zh-CN" altLang="en-US" dirty="0"/>
              <a:t>静态亲和性（</a:t>
            </a:r>
            <a:r>
              <a:rPr lang="en" altLang="zh-CN" dirty="0"/>
              <a:t>Static Affinity</a:t>
            </a:r>
            <a:r>
              <a:rPr lang="zh-CN" altLang="en" dirty="0"/>
              <a:t>）</a:t>
            </a:r>
            <a:endParaRPr lang="zh-CN" altLang="en-US" dirty="0"/>
          </a:p>
        </p:txBody>
      </p:sp>
      <p:sp>
        <p:nvSpPr>
          <p:cNvPr id="3" name="内容占位符 2">
            <a:extLst>
              <a:ext uri="{FF2B5EF4-FFF2-40B4-BE49-F238E27FC236}">
                <a16:creationId xmlns:a16="http://schemas.microsoft.com/office/drawing/2014/main" id="{6B8D5B0C-B082-CC9C-E11A-2CBEC7AEDC27}"/>
              </a:ext>
            </a:extLst>
          </p:cNvPr>
          <p:cNvSpPr>
            <a:spLocks noGrp="1"/>
          </p:cNvSpPr>
          <p:nvPr>
            <p:ph idx="1"/>
          </p:nvPr>
        </p:nvSpPr>
        <p:spPr>
          <a:xfrm>
            <a:off x="935038" y="1233488"/>
            <a:ext cx="7772400" cy="4895850"/>
          </a:xfrm>
        </p:spPr>
        <p:txBody>
          <a:bodyPr>
            <a:normAutofit fontScale="92500" lnSpcReduction="10000"/>
          </a:bodyPr>
          <a:lstStyle/>
          <a:p>
            <a:r>
              <a:rPr lang="zh-CN" altLang="en-US" dirty="0"/>
              <a:t>定义：静态亲和性是在任务分配时事先确定哪些任务应该在特定的处理器上运行。这种方法通常在系统初始化时就设置好，不会在运行时改变。</a:t>
            </a:r>
            <a:endParaRPr lang="en-US" altLang="zh-CN" dirty="0"/>
          </a:p>
          <a:p>
            <a:r>
              <a:rPr lang="zh-CN" altLang="en-US" dirty="0"/>
              <a:t>优点：</a:t>
            </a:r>
            <a:endParaRPr lang="en-US" altLang="zh-CN" dirty="0"/>
          </a:p>
          <a:p>
            <a:pPr lvl="1"/>
            <a:r>
              <a:rPr lang="zh-CN" altLang="en-US" dirty="0"/>
              <a:t>减少了任务迁移的开销。</a:t>
            </a:r>
            <a:endParaRPr lang="en-US" altLang="zh-CN" dirty="0"/>
          </a:p>
          <a:p>
            <a:pPr lvl="1"/>
            <a:r>
              <a:rPr lang="zh-CN" altLang="en-US" dirty="0"/>
              <a:t>更易于预测系统性能。</a:t>
            </a:r>
          </a:p>
          <a:p>
            <a:r>
              <a:rPr lang="zh-CN" altLang="en-US" dirty="0"/>
              <a:t>缺点：</a:t>
            </a:r>
            <a:endParaRPr lang="en-US" altLang="zh-CN" dirty="0"/>
          </a:p>
          <a:p>
            <a:pPr lvl="1"/>
            <a:r>
              <a:rPr lang="zh-CN" altLang="en-US" dirty="0"/>
              <a:t>可能出现负载不均衡的情况。</a:t>
            </a:r>
            <a:endParaRPr lang="en-US" altLang="zh-CN" dirty="0"/>
          </a:p>
          <a:p>
            <a:pPr lvl="1"/>
            <a:r>
              <a:rPr lang="zh-CN" altLang="en-US" dirty="0"/>
              <a:t>不能适应负载变化的情况。</a:t>
            </a:r>
          </a:p>
          <a:p>
            <a:endParaRPr lang="zh-CN" altLang="en-US" dirty="0"/>
          </a:p>
        </p:txBody>
      </p:sp>
      <p:sp>
        <p:nvSpPr>
          <p:cNvPr id="4" name="灯片编号占位符 3">
            <a:extLst>
              <a:ext uri="{FF2B5EF4-FFF2-40B4-BE49-F238E27FC236}">
                <a16:creationId xmlns:a16="http://schemas.microsoft.com/office/drawing/2014/main" id="{D42543EC-84CF-9DD5-5972-68C347D7961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53</a:t>
            </a:fld>
            <a:endParaRPr lang="zh-CN" altLang="en-US" dirty="0"/>
          </a:p>
        </p:txBody>
      </p:sp>
    </p:spTree>
    <p:extLst>
      <p:ext uri="{BB962C8B-B14F-4D97-AF65-F5344CB8AC3E}">
        <p14:creationId xmlns:p14="http://schemas.microsoft.com/office/powerpoint/2010/main" val="1423621036"/>
      </p:ext>
    </p:extLst>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78329-C1AF-6B0C-390A-45CBA525A523}"/>
              </a:ext>
            </a:extLst>
          </p:cNvPr>
          <p:cNvSpPr>
            <a:spLocks noGrp="1"/>
          </p:cNvSpPr>
          <p:nvPr>
            <p:ph type="title"/>
          </p:nvPr>
        </p:nvSpPr>
        <p:spPr>
          <a:xfrm>
            <a:off x="1042988" y="225431"/>
            <a:ext cx="7850187" cy="746125"/>
          </a:xfrm>
        </p:spPr>
        <p:txBody>
          <a:bodyPr/>
          <a:lstStyle/>
          <a:p>
            <a:r>
              <a:rPr lang="zh-CN" altLang="en-US" dirty="0"/>
              <a:t>动态亲和性</a:t>
            </a:r>
            <a:r>
              <a:rPr lang="en-US" altLang="zh-CN" dirty="0"/>
              <a:t>(</a:t>
            </a:r>
            <a:r>
              <a:rPr lang="en" altLang="zh-CN" dirty="0"/>
              <a:t>Dynamic Affinity</a:t>
            </a:r>
            <a:r>
              <a:rPr lang="en-US" altLang="zh-CN" dirty="0"/>
              <a:t>)</a:t>
            </a:r>
            <a:endParaRPr lang="zh-CN" altLang="en-US" dirty="0"/>
          </a:p>
        </p:txBody>
      </p:sp>
      <p:sp>
        <p:nvSpPr>
          <p:cNvPr id="3" name="内容占位符 2">
            <a:extLst>
              <a:ext uri="{FF2B5EF4-FFF2-40B4-BE49-F238E27FC236}">
                <a16:creationId xmlns:a16="http://schemas.microsoft.com/office/drawing/2014/main" id="{214A55F5-51BB-7503-D207-D5BA906FD7EF}"/>
              </a:ext>
            </a:extLst>
          </p:cNvPr>
          <p:cNvSpPr>
            <a:spLocks noGrp="1"/>
          </p:cNvSpPr>
          <p:nvPr>
            <p:ph idx="1"/>
          </p:nvPr>
        </p:nvSpPr>
        <p:spPr>
          <a:xfrm>
            <a:off x="935038" y="1233488"/>
            <a:ext cx="7772400" cy="4895850"/>
          </a:xfrm>
        </p:spPr>
        <p:txBody>
          <a:bodyPr>
            <a:normAutofit lnSpcReduction="10000"/>
          </a:bodyPr>
          <a:lstStyle/>
          <a:p>
            <a:r>
              <a:rPr lang="zh-CN" altLang="en-US" dirty="0"/>
              <a:t>定义：动态亲和性是在运行时根据当前负载情况调整任务和处理器之间的分配。这种方法可以灵活应对系统的变化和负载波动。</a:t>
            </a:r>
            <a:endParaRPr lang="en-US" altLang="zh-CN" dirty="0"/>
          </a:p>
          <a:p>
            <a:r>
              <a:rPr lang="zh-CN" altLang="en-US" dirty="0"/>
              <a:t>优点：</a:t>
            </a:r>
          </a:p>
          <a:p>
            <a:pPr lvl="1"/>
            <a:r>
              <a:rPr lang="zh-CN" altLang="en-US" dirty="0"/>
              <a:t>能有效地平衡负载，提高系统资源的利用率。</a:t>
            </a:r>
          </a:p>
          <a:p>
            <a:pPr lvl="1"/>
            <a:r>
              <a:rPr lang="zh-CN" altLang="en-US" dirty="0"/>
              <a:t>更能适应动态变化的工作负载。</a:t>
            </a:r>
          </a:p>
          <a:p>
            <a:r>
              <a:rPr lang="zh-CN" altLang="en-US" dirty="0"/>
              <a:t>缺点：</a:t>
            </a:r>
          </a:p>
          <a:p>
            <a:pPr lvl="1"/>
            <a:r>
              <a:rPr lang="zh-CN" altLang="en-US" dirty="0"/>
              <a:t>可能导致更高的任务迁移开销。</a:t>
            </a:r>
          </a:p>
          <a:p>
            <a:pPr lvl="1"/>
            <a:r>
              <a:rPr lang="zh-CN" altLang="en-US" dirty="0"/>
              <a:t>增加系统的复杂性。</a:t>
            </a:r>
          </a:p>
          <a:p>
            <a:endParaRPr lang="zh-CN" altLang="en-US" dirty="0"/>
          </a:p>
        </p:txBody>
      </p:sp>
      <p:sp>
        <p:nvSpPr>
          <p:cNvPr id="4" name="灯片编号占位符 3">
            <a:extLst>
              <a:ext uri="{FF2B5EF4-FFF2-40B4-BE49-F238E27FC236}">
                <a16:creationId xmlns:a16="http://schemas.microsoft.com/office/drawing/2014/main" id="{171EF5D0-D833-12F7-A0F9-820209AB535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54</a:t>
            </a:fld>
            <a:endParaRPr lang="zh-CN" altLang="en-US" dirty="0"/>
          </a:p>
        </p:txBody>
      </p:sp>
    </p:spTree>
    <p:extLst>
      <p:ext uri="{BB962C8B-B14F-4D97-AF65-F5344CB8AC3E}">
        <p14:creationId xmlns:p14="http://schemas.microsoft.com/office/powerpoint/2010/main" val="1315946987"/>
      </p:ext>
    </p:extLst>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457B67-A7BA-9BAE-1AC4-2CF2C90FB4A6}"/>
              </a:ext>
            </a:extLst>
          </p:cNvPr>
          <p:cNvSpPr>
            <a:spLocks noGrp="1"/>
          </p:cNvSpPr>
          <p:nvPr>
            <p:ph type="title"/>
          </p:nvPr>
        </p:nvSpPr>
        <p:spPr>
          <a:xfrm>
            <a:off x="1042988" y="225431"/>
            <a:ext cx="7850187" cy="746125"/>
          </a:xfrm>
        </p:spPr>
        <p:txBody>
          <a:bodyPr/>
          <a:lstStyle/>
          <a:p>
            <a:r>
              <a:rPr lang="zh-CN" altLang="en-US" dirty="0"/>
              <a:t>单队列多处理器调度 </a:t>
            </a:r>
            <a:r>
              <a:rPr lang="en-US" altLang="zh-CN" dirty="0"/>
              <a:t>SQMS</a:t>
            </a:r>
            <a:endParaRPr lang="zh-CN" altLang="en-US" dirty="0"/>
          </a:p>
        </p:txBody>
      </p:sp>
      <p:sp>
        <p:nvSpPr>
          <p:cNvPr id="3" name="内容占位符 2">
            <a:extLst>
              <a:ext uri="{FF2B5EF4-FFF2-40B4-BE49-F238E27FC236}">
                <a16:creationId xmlns:a16="http://schemas.microsoft.com/office/drawing/2014/main" id="{D6C6A755-116E-9980-61D6-C23AD36D57FB}"/>
              </a:ext>
            </a:extLst>
          </p:cNvPr>
          <p:cNvSpPr>
            <a:spLocks noGrp="1"/>
          </p:cNvSpPr>
          <p:nvPr>
            <p:ph idx="1"/>
          </p:nvPr>
        </p:nvSpPr>
        <p:spPr>
          <a:xfrm>
            <a:off x="935038" y="1233488"/>
            <a:ext cx="7772400" cy="2570908"/>
          </a:xfrm>
        </p:spPr>
        <p:txBody>
          <a:bodyPr>
            <a:normAutofit fontScale="77500" lnSpcReduction="20000"/>
          </a:bodyPr>
          <a:lstStyle/>
          <a:p>
            <a:r>
              <a:rPr lang="zh-CN" altLang="en-US" dirty="0"/>
              <a:t>负载分担</a:t>
            </a:r>
            <a:r>
              <a:rPr lang="en-US" altLang="zh-CN" dirty="0"/>
              <a:t>(load</a:t>
            </a:r>
            <a:r>
              <a:rPr lang="zh-CN" altLang="en-US" dirty="0"/>
              <a:t> </a:t>
            </a:r>
            <a:r>
              <a:rPr lang="en-US" altLang="zh-CN" dirty="0"/>
              <a:t>sharing)</a:t>
            </a:r>
            <a:r>
              <a:rPr lang="zh-CN" altLang="en-US" dirty="0"/>
              <a:t>策略</a:t>
            </a:r>
            <a:endParaRPr lang="en-US" altLang="zh-CN" dirty="0"/>
          </a:p>
          <a:p>
            <a:pPr lvl="1"/>
            <a:r>
              <a:rPr lang="zh-CN" altLang="en-US" dirty="0"/>
              <a:t>多核共享一个全局运行队列</a:t>
            </a:r>
            <a:endParaRPr lang="en-US" altLang="zh-CN" dirty="0"/>
          </a:p>
          <a:p>
            <a:pPr lvl="1"/>
            <a:r>
              <a:rPr lang="zh-CN" altLang="en-US" dirty="0"/>
              <a:t>当某个</a:t>
            </a:r>
            <a:r>
              <a:rPr lang="en-US" altLang="zh-CN" dirty="0"/>
              <a:t>CPU</a:t>
            </a:r>
            <a:r>
              <a:rPr lang="zh-CN" altLang="en-US" dirty="0"/>
              <a:t>核心空闲时，根据调度策略从全局运行队列中选择一个任务运行</a:t>
            </a:r>
            <a:endParaRPr lang="en-US" altLang="zh-CN" dirty="0"/>
          </a:p>
          <a:p>
            <a:r>
              <a:rPr lang="zh-CN" altLang="en-US" dirty="0"/>
              <a:t>优点：</a:t>
            </a:r>
            <a:endParaRPr lang="en-US" altLang="zh-CN" dirty="0"/>
          </a:p>
          <a:p>
            <a:pPr lvl="1"/>
            <a:r>
              <a:rPr lang="zh-CN" altLang="en-US" dirty="0"/>
              <a:t>设计简单</a:t>
            </a:r>
            <a:endParaRPr lang="en-US" altLang="zh-CN" dirty="0"/>
          </a:p>
          <a:p>
            <a:pPr lvl="1"/>
            <a:r>
              <a:rPr lang="zh-CN" altLang="en-US" dirty="0"/>
              <a:t>不会出现</a:t>
            </a:r>
            <a:r>
              <a:rPr lang="en-US" altLang="zh-CN" dirty="0"/>
              <a:t>CPU</a:t>
            </a:r>
            <a:r>
              <a:rPr lang="zh-CN" altLang="en-US" dirty="0"/>
              <a:t>资源浪费的情况</a:t>
            </a:r>
          </a:p>
        </p:txBody>
      </p:sp>
      <p:sp>
        <p:nvSpPr>
          <p:cNvPr id="4" name="灯片编号占位符 3">
            <a:extLst>
              <a:ext uri="{FF2B5EF4-FFF2-40B4-BE49-F238E27FC236}">
                <a16:creationId xmlns:a16="http://schemas.microsoft.com/office/drawing/2014/main" id="{B62F6293-D87B-3D8D-9DA7-324670E5056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55</a:t>
            </a:fld>
            <a:endParaRPr lang="zh-CN" altLang="en-US" dirty="0"/>
          </a:p>
        </p:txBody>
      </p:sp>
      <p:grpSp>
        <p:nvGrpSpPr>
          <p:cNvPr id="36" name="组合 35">
            <a:extLst>
              <a:ext uri="{FF2B5EF4-FFF2-40B4-BE49-F238E27FC236}">
                <a16:creationId xmlns:a16="http://schemas.microsoft.com/office/drawing/2014/main" id="{1B2DFCE1-6D2D-7764-67AB-56F74C978DA3}"/>
              </a:ext>
            </a:extLst>
          </p:cNvPr>
          <p:cNvGrpSpPr/>
          <p:nvPr/>
        </p:nvGrpSpPr>
        <p:grpSpPr>
          <a:xfrm>
            <a:off x="3940480" y="3124528"/>
            <a:ext cx="4509372" cy="2915430"/>
            <a:chOff x="2317315" y="3234846"/>
            <a:chExt cx="4509372" cy="2915430"/>
          </a:xfrm>
        </p:grpSpPr>
        <p:sp>
          <p:nvSpPr>
            <p:cNvPr id="5" name="圆角矩形 4">
              <a:extLst>
                <a:ext uri="{FF2B5EF4-FFF2-40B4-BE49-F238E27FC236}">
                  <a16:creationId xmlns:a16="http://schemas.microsoft.com/office/drawing/2014/main" id="{F10F7BAA-3749-1610-5D15-F6A26C0DEF3D}"/>
                </a:ext>
              </a:extLst>
            </p:cNvPr>
            <p:cNvSpPr/>
            <p:nvPr/>
          </p:nvSpPr>
          <p:spPr bwMode="auto">
            <a:xfrm>
              <a:off x="2317315" y="5561882"/>
              <a:ext cx="901874"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0</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9" name="圆角矩形 8">
              <a:extLst>
                <a:ext uri="{FF2B5EF4-FFF2-40B4-BE49-F238E27FC236}">
                  <a16:creationId xmlns:a16="http://schemas.microsoft.com/office/drawing/2014/main" id="{F499BD3C-7609-3CC8-4A21-18AADCBD0667}"/>
                </a:ext>
              </a:extLst>
            </p:cNvPr>
            <p:cNvSpPr/>
            <p:nvPr/>
          </p:nvSpPr>
          <p:spPr bwMode="auto">
            <a:xfrm>
              <a:off x="4121064" y="5561882"/>
              <a:ext cx="901874"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dirty="0">
                  <a:latin typeface="Tahoma" panose="020B0604030504040204" pitchFamily="34" charset="0"/>
                  <a:ea typeface="宋体" panose="02010600030101010101" pitchFamily="2" charset="-122"/>
                </a:rPr>
                <a:t>1</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0" name="圆角矩形 9">
              <a:extLst>
                <a:ext uri="{FF2B5EF4-FFF2-40B4-BE49-F238E27FC236}">
                  <a16:creationId xmlns:a16="http://schemas.microsoft.com/office/drawing/2014/main" id="{2888DC6F-3F88-D58E-AFAA-79ED837A6110}"/>
                </a:ext>
              </a:extLst>
            </p:cNvPr>
            <p:cNvSpPr/>
            <p:nvPr/>
          </p:nvSpPr>
          <p:spPr bwMode="auto">
            <a:xfrm>
              <a:off x="5924813" y="5561882"/>
              <a:ext cx="901874"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dirty="0">
                  <a:latin typeface="Tahoma" panose="020B0604030504040204" pitchFamily="34" charset="0"/>
                  <a:ea typeface="宋体" panose="02010600030101010101" pitchFamily="2" charset="-122"/>
                </a:rPr>
                <a:t>…</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grpSp>
          <p:nvGrpSpPr>
            <p:cNvPr id="18" name="组合 17">
              <a:extLst>
                <a:ext uri="{FF2B5EF4-FFF2-40B4-BE49-F238E27FC236}">
                  <a16:creationId xmlns:a16="http://schemas.microsoft.com/office/drawing/2014/main" id="{DE4029E8-A37B-EB5A-CEED-950FC55D2B24}"/>
                </a:ext>
              </a:extLst>
            </p:cNvPr>
            <p:cNvGrpSpPr/>
            <p:nvPr/>
          </p:nvGrpSpPr>
          <p:grpSpPr>
            <a:xfrm>
              <a:off x="3419605" y="3234846"/>
              <a:ext cx="2342367" cy="2327036"/>
              <a:chOff x="3219189" y="3234846"/>
              <a:chExt cx="2342367" cy="2327036"/>
            </a:xfrm>
          </p:grpSpPr>
          <p:sp>
            <p:nvSpPr>
              <p:cNvPr id="11" name="矩形 10">
                <a:extLst>
                  <a:ext uri="{FF2B5EF4-FFF2-40B4-BE49-F238E27FC236}">
                    <a16:creationId xmlns:a16="http://schemas.microsoft.com/office/drawing/2014/main" id="{CC09FC52-2305-2A50-0E0C-54CE409F5772}"/>
                  </a:ext>
                </a:extLst>
              </p:cNvPr>
              <p:cNvSpPr/>
              <p:nvPr/>
            </p:nvSpPr>
            <p:spPr bwMode="auto">
              <a:xfrm>
                <a:off x="3219189" y="4045907"/>
                <a:ext cx="2342367" cy="1027134"/>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R="0" defTabSz="914400" rtl="0" eaLnBrk="1" fontAlgn="base" latinLnBrk="0" hangingPunct="1">
                  <a:lnSpc>
                    <a:spcPct val="90000"/>
                  </a:lnSpc>
                  <a:spcBef>
                    <a:spcPct val="20000"/>
                  </a:spcBef>
                  <a:spcAft>
                    <a:spcPct val="0"/>
                  </a:spcAft>
                  <a:buClr>
                    <a:schemeClr val="folHlink"/>
                  </a:buClr>
                  <a:buSzPct val="60000"/>
                </a:pPr>
                <a:r>
                  <a:rPr kumimoji="1" lang="zh-CN" altLang="en-US" dirty="0">
                    <a:latin typeface="Tahoma" panose="020B0604030504040204" pitchFamily="34" charset="0"/>
                    <a:ea typeface="宋体" panose="02010600030101010101" pitchFamily="2" charset="-122"/>
                  </a:rPr>
                  <a:t>全局运行队列</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2" name="剪去单角的矩形 11">
                <a:extLst>
                  <a:ext uri="{FF2B5EF4-FFF2-40B4-BE49-F238E27FC236}">
                    <a16:creationId xmlns:a16="http://schemas.microsoft.com/office/drawing/2014/main" id="{76D0D1F5-0EC0-3D29-A25A-18678E6A5C2C}"/>
                  </a:ext>
                </a:extLst>
              </p:cNvPr>
              <p:cNvSpPr/>
              <p:nvPr/>
            </p:nvSpPr>
            <p:spPr bwMode="auto">
              <a:xfrm>
                <a:off x="3968184" y="4559472"/>
                <a:ext cx="601248" cy="388307"/>
              </a:xfrm>
              <a:prstGeom prst="snip1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任务</a:t>
                </a:r>
              </a:p>
            </p:txBody>
          </p:sp>
          <p:sp>
            <p:nvSpPr>
              <p:cNvPr id="13" name="剪去单角的矩形 12">
                <a:extLst>
                  <a:ext uri="{FF2B5EF4-FFF2-40B4-BE49-F238E27FC236}">
                    <a16:creationId xmlns:a16="http://schemas.microsoft.com/office/drawing/2014/main" id="{754B1654-0776-46A6-2CC0-0BE2E62F827F}"/>
                  </a:ext>
                </a:extLst>
              </p:cNvPr>
              <p:cNvSpPr/>
              <p:nvPr/>
            </p:nvSpPr>
            <p:spPr bwMode="auto">
              <a:xfrm>
                <a:off x="4764870" y="4559473"/>
                <a:ext cx="601248" cy="388307"/>
              </a:xfrm>
              <a:prstGeom prst="snip1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任务</a:t>
                </a:r>
              </a:p>
            </p:txBody>
          </p:sp>
          <p:sp>
            <p:nvSpPr>
              <p:cNvPr id="14" name="剪去单角的矩形 13">
                <a:extLst>
                  <a:ext uri="{FF2B5EF4-FFF2-40B4-BE49-F238E27FC236}">
                    <a16:creationId xmlns:a16="http://schemas.microsoft.com/office/drawing/2014/main" id="{CFAC1AC8-D0A9-B5D7-549D-772F0E7C90D3}"/>
                  </a:ext>
                </a:extLst>
              </p:cNvPr>
              <p:cNvSpPr/>
              <p:nvPr/>
            </p:nvSpPr>
            <p:spPr bwMode="auto">
              <a:xfrm>
                <a:off x="4764870" y="3234846"/>
                <a:ext cx="601248" cy="388307"/>
              </a:xfrm>
              <a:prstGeom prst="snip1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任务</a:t>
                </a:r>
              </a:p>
            </p:txBody>
          </p:sp>
          <p:sp>
            <p:nvSpPr>
              <p:cNvPr id="15" name="下箭头 14">
                <a:extLst>
                  <a:ext uri="{FF2B5EF4-FFF2-40B4-BE49-F238E27FC236}">
                    <a16:creationId xmlns:a16="http://schemas.microsoft.com/office/drawing/2014/main" id="{ACFA9A06-205B-02C0-FA0D-9D8764F13DCD}"/>
                  </a:ext>
                </a:extLst>
              </p:cNvPr>
              <p:cNvSpPr/>
              <p:nvPr/>
            </p:nvSpPr>
            <p:spPr bwMode="auto">
              <a:xfrm>
                <a:off x="4965286" y="3720230"/>
                <a:ext cx="157859" cy="588723"/>
              </a:xfrm>
              <a:prstGeom prst="downArrow">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cxnSp>
            <p:nvCxnSpPr>
              <p:cNvPr id="17" name="直线箭头连接符 16">
                <a:extLst>
                  <a:ext uri="{FF2B5EF4-FFF2-40B4-BE49-F238E27FC236}">
                    <a16:creationId xmlns:a16="http://schemas.microsoft.com/office/drawing/2014/main" id="{C6F9318A-9210-8648-52C6-552D54373340}"/>
                  </a:ext>
                </a:extLst>
              </p:cNvPr>
              <p:cNvCxnSpPr>
                <a:stCxn id="11" idx="2"/>
              </p:cNvCxnSpPr>
              <p:nvPr/>
            </p:nvCxnSpPr>
            <p:spPr bwMode="auto">
              <a:xfrm flipH="1">
                <a:off x="4390372" y="5073041"/>
                <a:ext cx="1" cy="488841"/>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grpSp>
        <p:cxnSp>
          <p:nvCxnSpPr>
            <p:cNvPr id="20" name="曲线连接符 19">
              <a:extLst>
                <a:ext uri="{FF2B5EF4-FFF2-40B4-BE49-F238E27FC236}">
                  <a16:creationId xmlns:a16="http://schemas.microsoft.com/office/drawing/2014/main" id="{42855D53-301E-EB67-33D3-2414936160D3}"/>
                </a:ext>
              </a:extLst>
            </p:cNvPr>
            <p:cNvCxnSpPr>
              <a:cxnSpLocks/>
              <a:endCxn id="5" idx="0"/>
            </p:cNvCxnSpPr>
            <p:nvPr/>
          </p:nvCxnSpPr>
          <p:spPr bwMode="auto">
            <a:xfrm rot="10800000" flipV="1">
              <a:off x="2768253" y="4947778"/>
              <a:ext cx="646375" cy="614103"/>
            </a:xfrm>
            <a:prstGeom prst="curvedConnector2">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sp>
          <p:nvSpPr>
            <p:cNvPr id="35" name="弧 34">
              <a:extLst>
                <a:ext uri="{FF2B5EF4-FFF2-40B4-BE49-F238E27FC236}">
                  <a16:creationId xmlns:a16="http://schemas.microsoft.com/office/drawing/2014/main" id="{531F2109-E635-AA32-AF8D-32E7E497DEBA}"/>
                </a:ext>
              </a:extLst>
            </p:cNvPr>
            <p:cNvSpPr/>
            <p:nvPr/>
          </p:nvSpPr>
          <p:spPr bwMode="auto">
            <a:xfrm>
              <a:off x="5126842" y="4947778"/>
              <a:ext cx="1267692" cy="1202498"/>
            </a:xfrm>
            <a:prstGeom prst="arc">
              <a:avLst>
                <a:gd name="adj1" fmla="val 16200000"/>
                <a:gd name="adj2" fmla="val 64249"/>
              </a:avLst>
            </a:prstGeom>
            <a:noFill/>
            <a:ln w="9525" cap="flat" cmpd="sng" algn="ctr">
              <a:solidFill>
                <a:schemeClr val="tx1"/>
              </a:solidFill>
              <a:prstDash val="solid"/>
              <a:round/>
              <a:headEnd type="none" w="med" len="med"/>
              <a:tailEnd type="triangl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grpSp>
    </p:spTree>
    <p:extLst>
      <p:ext uri="{BB962C8B-B14F-4D97-AF65-F5344CB8AC3E}">
        <p14:creationId xmlns:p14="http://schemas.microsoft.com/office/powerpoint/2010/main" val="3329644473"/>
      </p:ext>
    </p:extLst>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0B56A-37E5-4D0A-C736-867B98D2CBE2}"/>
              </a:ext>
            </a:extLst>
          </p:cNvPr>
          <p:cNvSpPr>
            <a:spLocks noGrp="1"/>
          </p:cNvSpPr>
          <p:nvPr>
            <p:ph type="title"/>
          </p:nvPr>
        </p:nvSpPr>
        <p:spPr/>
        <p:txBody>
          <a:bodyPr/>
          <a:lstStyle/>
          <a:p>
            <a:r>
              <a:rPr lang="zh-CN" altLang="en-US" dirty="0"/>
              <a:t>负载分担</a:t>
            </a:r>
            <a:r>
              <a:rPr lang="en-US" altLang="zh-CN" dirty="0"/>
              <a:t>(load</a:t>
            </a:r>
            <a:r>
              <a:rPr lang="zh-CN" altLang="en-US" dirty="0"/>
              <a:t> </a:t>
            </a:r>
            <a:r>
              <a:rPr lang="en-US" altLang="zh-CN" dirty="0"/>
              <a:t>sharing)</a:t>
            </a:r>
            <a:r>
              <a:rPr lang="zh-CN" altLang="en-US" dirty="0"/>
              <a:t>策略</a:t>
            </a:r>
            <a:endParaRPr kumimoji="1" lang="zh-CN" altLang="en-US" dirty="0"/>
          </a:p>
        </p:txBody>
      </p:sp>
      <p:sp>
        <p:nvSpPr>
          <p:cNvPr id="3" name="内容占位符 2">
            <a:extLst>
              <a:ext uri="{FF2B5EF4-FFF2-40B4-BE49-F238E27FC236}">
                <a16:creationId xmlns:a16="http://schemas.microsoft.com/office/drawing/2014/main" id="{3C68F4C7-6C9A-4147-DD70-171E081056E6}"/>
              </a:ext>
            </a:extLst>
          </p:cNvPr>
          <p:cNvSpPr>
            <a:spLocks noGrp="1"/>
          </p:cNvSpPr>
          <p:nvPr>
            <p:ph idx="1"/>
          </p:nvPr>
        </p:nvSpPr>
        <p:spPr>
          <a:xfrm>
            <a:off x="935038" y="1233489"/>
            <a:ext cx="7772400" cy="1394884"/>
          </a:xfrm>
        </p:spPr>
        <p:txBody>
          <a:bodyPr>
            <a:normAutofit fontScale="92500" lnSpcReduction="20000"/>
          </a:bodyPr>
          <a:lstStyle/>
          <a:p>
            <a:r>
              <a:rPr kumimoji="1" lang="zh-CN" altLang="en-US" dirty="0"/>
              <a:t>存在的问题</a:t>
            </a:r>
            <a:endParaRPr kumimoji="1" lang="en-US" altLang="zh-CN" dirty="0"/>
          </a:p>
          <a:p>
            <a:pPr lvl="1"/>
            <a:r>
              <a:rPr kumimoji="1" lang="zh-CN" altLang="en-US" dirty="0"/>
              <a:t>多核共享一个全局运行队列带来的同步开销</a:t>
            </a:r>
            <a:endParaRPr kumimoji="1" lang="en-US" altLang="zh-CN" dirty="0"/>
          </a:p>
          <a:p>
            <a:pPr lvl="1"/>
            <a:r>
              <a:rPr kumimoji="1" lang="zh-CN" altLang="en-US" dirty="0"/>
              <a:t>任务在多个</a:t>
            </a:r>
            <a:r>
              <a:rPr kumimoji="1" lang="en-US" altLang="zh-CN" dirty="0"/>
              <a:t>CPU</a:t>
            </a:r>
            <a:r>
              <a:rPr kumimoji="1" lang="zh-CN" altLang="en-US" dirty="0"/>
              <a:t>核心间来回切换的开销</a:t>
            </a:r>
          </a:p>
        </p:txBody>
      </p:sp>
      <p:sp>
        <p:nvSpPr>
          <p:cNvPr id="4" name="灯片编号占位符 3">
            <a:extLst>
              <a:ext uri="{FF2B5EF4-FFF2-40B4-BE49-F238E27FC236}">
                <a16:creationId xmlns:a16="http://schemas.microsoft.com/office/drawing/2014/main" id="{892D6385-D56D-FE8C-3393-52E2900A9802}"/>
              </a:ext>
            </a:extLst>
          </p:cNvPr>
          <p:cNvSpPr>
            <a:spLocks noGrp="1"/>
          </p:cNvSpPr>
          <p:nvPr>
            <p:ph type="sldNum" sz="quarter" idx="12"/>
          </p:nvPr>
        </p:nvSpPr>
        <p:spPr/>
        <p:txBody>
          <a:bodyPr/>
          <a:lstStyle/>
          <a:p>
            <a:fld id="{4093CC90-4002-504C-BD88-C9A1D374048E}" type="slidenum">
              <a:rPr lang="zh-CN" altLang="en-US" smtClean="0"/>
              <a:pPr/>
              <a:t>56</a:t>
            </a:fld>
            <a:endParaRPr lang="zh-CN" altLang="en-US" dirty="0"/>
          </a:p>
        </p:txBody>
      </p:sp>
      <p:grpSp>
        <p:nvGrpSpPr>
          <p:cNvPr id="40" name="组合 39">
            <a:extLst>
              <a:ext uri="{FF2B5EF4-FFF2-40B4-BE49-F238E27FC236}">
                <a16:creationId xmlns:a16="http://schemas.microsoft.com/office/drawing/2014/main" id="{CB69467D-D563-9789-7FCC-7E2DC3E8A477}"/>
              </a:ext>
            </a:extLst>
          </p:cNvPr>
          <p:cNvGrpSpPr/>
          <p:nvPr/>
        </p:nvGrpSpPr>
        <p:grpSpPr>
          <a:xfrm>
            <a:off x="1793019" y="2729383"/>
            <a:ext cx="4743359" cy="3494206"/>
            <a:chOff x="1642708" y="3006801"/>
            <a:chExt cx="4743359" cy="3494206"/>
          </a:xfrm>
        </p:grpSpPr>
        <p:grpSp>
          <p:nvGrpSpPr>
            <p:cNvPr id="10" name="组合 9">
              <a:extLst>
                <a:ext uri="{FF2B5EF4-FFF2-40B4-BE49-F238E27FC236}">
                  <a16:creationId xmlns:a16="http://schemas.microsoft.com/office/drawing/2014/main" id="{BF7ACF48-69AD-E3DE-665C-80AAF6CA84FB}"/>
                </a:ext>
              </a:extLst>
            </p:cNvPr>
            <p:cNvGrpSpPr/>
            <p:nvPr/>
          </p:nvGrpSpPr>
          <p:grpSpPr>
            <a:xfrm>
              <a:off x="2705622" y="4334004"/>
              <a:ext cx="914400" cy="2066795"/>
              <a:chOff x="2705622" y="3795386"/>
              <a:chExt cx="914400" cy="2066795"/>
            </a:xfrm>
          </p:grpSpPr>
          <p:sp>
            <p:nvSpPr>
              <p:cNvPr id="5" name="矩形 4">
                <a:extLst>
                  <a:ext uri="{FF2B5EF4-FFF2-40B4-BE49-F238E27FC236}">
                    <a16:creationId xmlns:a16="http://schemas.microsoft.com/office/drawing/2014/main" id="{9F846EAC-09F9-C22A-A08E-137064843F0E}"/>
                  </a:ext>
                </a:extLst>
              </p:cNvPr>
              <p:cNvSpPr/>
              <p:nvPr/>
            </p:nvSpPr>
            <p:spPr bwMode="auto">
              <a:xfrm>
                <a:off x="2705622" y="5448822"/>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6" name="矩形 5">
                <a:extLst>
                  <a:ext uri="{FF2B5EF4-FFF2-40B4-BE49-F238E27FC236}">
                    <a16:creationId xmlns:a16="http://schemas.microsoft.com/office/drawing/2014/main" id="{7CC3E3F9-BCD2-E0CC-41AE-765BF154C3E0}"/>
                  </a:ext>
                </a:extLst>
              </p:cNvPr>
              <p:cNvSpPr/>
              <p:nvPr/>
            </p:nvSpPr>
            <p:spPr bwMode="auto">
              <a:xfrm>
                <a:off x="2705622" y="5035463"/>
                <a:ext cx="914400" cy="413359"/>
              </a:xfrm>
              <a:prstGeom prst="rect">
                <a:avLst/>
              </a:prstGeom>
              <a:solidFill>
                <a:srgbClr val="FFF8C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B</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7" name="矩形 6">
                <a:extLst>
                  <a:ext uri="{FF2B5EF4-FFF2-40B4-BE49-F238E27FC236}">
                    <a16:creationId xmlns:a16="http://schemas.microsoft.com/office/drawing/2014/main" id="{632CD948-FC3A-8B4D-80CD-B3A581A74DBD}"/>
                  </a:ext>
                </a:extLst>
              </p:cNvPr>
              <p:cNvSpPr/>
              <p:nvPr/>
            </p:nvSpPr>
            <p:spPr bwMode="auto">
              <a:xfrm>
                <a:off x="2705622" y="4622104"/>
                <a:ext cx="914400" cy="413359"/>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C</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8" name="矩形 7">
                <a:extLst>
                  <a:ext uri="{FF2B5EF4-FFF2-40B4-BE49-F238E27FC236}">
                    <a16:creationId xmlns:a16="http://schemas.microsoft.com/office/drawing/2014/main" id="{DD2FE162-D07F-1252-A621-F991D885645F}"/>
                  </a:ext>
                </a:extLst>
              </p:cNvPr>
              <p:cNvSpPr/>
              <p:nvPr/>
            </p:nvSpPr>
            <p:spPr bwMode="auto">
              <a:xfrm>
                <a:off x="2705622" y="4208745"/>
                <a:ext cx="914400" cy="413359"/>
              </a:xfrm>
              <a:prstGeom prst="rect">
                <a:avLst/>
              </a:prstGeom>
              <a:solidFill>
                <a:srgbClr val="FFEDD8"/>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D</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9" name="矩形 8">
                <a:extLst>
                  <a:ext uri="{FF2B5EF4-FFF2-40B4-BE49-F238E27FC236}">
                    <a16:creationId xmlns:a16="http://schemas.microsoft.com/office/drawing/2014/main" id="{765B7387-9DB1-B44F-8E00-E98DF04A1600}"/>
                  </a:ext>
                </a:extLst>
              </p:cNvPr>
              <p:cNvSpPr/>
              <p:nvPr/>
            </p:nvSpPr>
            <p:spPr bwMode="auto">
              <a:xfrm>
                <a:off x="2705622" y="3795386"/>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grpSp>
        <p:grpSp>
          <p:nvGrpSpPr>
            <p:cNvPr id="11" name="组合 10">
              <a:extLst>
                <a:ext uri="{FF2B5EF4-FFF2-40B4-BE49-F238E27FC236}">
                  <a16:creationId xmlns:a16="http://schemas.microsoft.com/office/drawing/2014/main" id="{D17B7B52-02A6-65BF-72DA-851552F5157C}"/>
                </a:ext>
              </a:extLst>
            </p:cNvPr>
            <p:cNvGrpSpPr/>
            <p:nvPr/>
          </p:nvGrpSpPr>
          <p:grpSpPr>
            <a:xfrm>
              <a:off x="4088644" y="4334004"/>
              <a:ext cx="914400" cy="2066795"/>
              <a:chOff x="2705622" y="3795386"/>
              <a:chExt cx="914400" cy="2066795"/>
            </a:xfrm>
          </p:grpSpPr>
          <p:sp>
            <p:nvSpPr>
              <p:cNvPr id="12" name="矩形 11">
                <a:extLst>
                  <a:ext uri="{FF2B5EF4-FFF2-40B4-BE49-F238E27FC236}">
                    <a16:creationId xmlns:a16="http://schemas.microsoft.com/office/drawing/2014/main" id="{F5B31C08-AB7A-E8ED-EC34-47A1FD48CD61}"/>
                  </a:ext>
                </a:extLst>
              </p:cNvPr>
              <p:cNvSpPr/>
              <p:nvPr/>
            </p:nvSpPr>
            <p:spPr bwMode="auto">
              <a:xfrm>
                <a:off x="2705622" y="5448822"/>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3" name="矩形 12">
                <a:extLst>
                  <a:ext uri="{FF2B5EF4-FFF2-40B4-BE49-F238E27FC236}">
                    <a16:creationId xmlns:a16="http://schemas.microsoft.com/office/drawing/2014/main" id="{7B5EE896-3336-447D-754D-FD876AF0761C}"/>
                  </a:ext>
                </a:extLst>
              </p:cNvPr>
              <p:cNvSpPr/>
              <p:nvPr/>
            </p:nvSpPr>
            <p:spPr bwMode="auto">
              <a:xfrm>
                <a:off x="2705622" y="5035463"/>
                <a:ext cx="914400" cy="413359"/>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4" name="矩形 13">
                <a:extLst>
                  <a:ext uri="{FF2B5EF4-FFF2-40B4-BE49-F238E27FC236}">
                    <a16:creationId xmlns:a16="http://schemas.microsoft.com/office/drawing/2014/main" id="{44F1073B-DD14-82E2-2C9E-98A3C46581C2}"/>
                  </a:ext>
                </a:extLst>
              </p:cNvPr>
              <p:cNvSpPr/>
              <p:nvPr/>
            </p:nvSpPr>
            <p:spPr bwMode="auto">
              <a:xfrm>
                <a:off x="2705622" y="4622104"/>
                <a:ext cx="914400" cy="413359"/>
              </a:xfrm>
              <a:prstGeom prst="rect">
                <a:avLst/>
              </a:prstGeom>
              <a:solidFill>
                <a:srgbClr val="FFEDD8"/>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D</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5" name="矩形 14">
                <a:extLst>
                  <a:ext uri="{FF2B5EF4-FFF2-40B4-BE49-F238E27FC236}">
                    <a16:creationId xmlns:a16="http://schemas.microsoft.com/office/drawing/2014/main" id="{D1616B1B-1B58-8671-BC23-F4291161B428}"/>
                  </a:ext>
                </a:extLst>
              </p:cNvPr>
              <p:cNvSpPr/>
              <p:nvPr/>
            </p:nvSpPr>
            <p:spPr bwMode="auto">
              <a:xfrm>
                <a:off x="2705622" y="4208745"/>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6" name="矩形 15">
                <a:extLst>
                  <a:ext uri="{FF2B5EF4-FFF2-40B4-BE49-F238E27FC236}">
                    <a16:creationId xmlns:a16="http://schemas.microsoft.com/office/drawing/2014/main" id="{5126AF0F-8726-5C20-08B6-69A9A3592E5C}"/>
                  </a:ext>
                </a:extLst>
              </p:cNvPr>
              <p:cNvSpPr/>
              <p:nvPr/>
            </p:nvSpPr>
            <p:spPr bwMode="auto">
              <a:xfrm>
                <a:off x="2705622" y="3795386"/>
                <a:ext cx="914400" cy="413359"/>
              </a:xfrm>
              <a:prstGeom prst="rect">
                <a:avLst/>
              </a:prstGeom>
              <a:solidFill>
                <a:srgbClr val="FFF8C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B</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grpSp>
        <p:grpSp>
          <p:nvGrpSpPr>
            <p:cNvPr id="17" name="组合 16">
              <a:extLst>
                <a:ext uri="{FF2B5EF4-FFF2-40B4-BE49-F238E27FC236}">
                  <a16:creationId xmlns:a16="http://schemas.microsoft.com/office/drawing/2014/main" id="{2568B5B1-C2BE-494C-0210-3525571B0990}"/>
                </a:ext>
              </a:extLst>
            </p:cNvPr>
            <p:cNvGrpSpPr/>
            <p:nvPr/>
          </p:nvGrpSpPr>
          <p:grpSpPr>
            <a:xfrm>
              <a:off x="5471667" y="4334003"/>
              <a:ext cx="914400" cy="2066795"/>
              <a:chOff x="2705622" y="3795386"/>
              <a:chExt cx="914400" cy="2066795"/>
            </a:xfrm>
          </p:grpSpPr>
          <p:sp>
            <p:nvSpPr>
              <p:cNvPr id="18" name="矩形 17">
                <a:extLst>
                  <a:ext uri="{FF2B5EF4-FFF2-40B4-BE49-F238E27FC236}">
                    <a16:creationId xmlns:a16="http://schemas.microsoft.com/office/drawing/2014/main" id="{626BAA6E-F7BD-7C1A-71D7-F445428612EC}"/>
                  </a:ext>
                </a:extLst>
              </p:cNvPr>
              <p:cNvSpPr/>
              <p:nvPr/>
            </p:nvSpPr>
            <p:spPr bwMode="auto">
              <a:xfrm>
                <a:off x="2705622" y="5448822"/>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19" name="矩形 18">
                <a:extLst>
                  <a:ext uri="{FF2B5EF4-FFF2-40B4-BE49-F238E27FC236}">
                    <a16:creationId xmlns:a16="http://schemas.microsoft.com/office/drawing/2014/main" id="{8954A2EC-0B4B-FE70-7A6D-043BF246372B}"/>
                  </a:ext>
                </a:extLst>
              </p:cNvPr>
              <p:cNvSpPr/>
              <p:nvPr/>
            </p:nvSpPr>
            <p:spPr bwMode="auto">
              <a:xfrm>
                <a:off x="2705622" y="5035463"/>
                <a:ext cx="914400" cy="413359"/>
              </a:xfrm>
              <a:prstGeom prst="rect">
                <a:avLst/>
              </a:prstGeom>
              <a:solidFill>
                <a:srgbClr val="FFEDD8"/>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D</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0" name="矩形 19">
                <a:extLst>
                  <a:ext uri="{FF2B5EF4-FFF2-40B4-BE49-F238E27FC236}">
                    <a16:creationId xmlns:a16="http://schemas.microsoft.com/office/drawing/2014/main" id="{DFCE5077-95E0-263E-6CFE-2AA6E62607D1}"/>
                  </a:ext>
                </a:extLst>
              </p:cNvPr>
              <p:cNvSpPr/>
              <p:nvPr/>
            </p:nvSpPr>
            <p:spPr bwMode="auto">
              <a:xfrm>
                <a:off x="2705622" y="4622104"/>
                <a:ext cx="914400"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1" name="矩形 20">
                <a:extLst>
                  <a:ext uri="{FF2B5EF4-FFF2-40B4-BE49-F238E27FC236}">
                    <a16:creationId xmlns:a16="http://schemas.microsoft.com/office/drawing/2014/main" id="{9DCCC685-5928-6FA9-29B3-44E71D5DD073}"/>
                  </a:ext>
                </a:extLst>
              </p:cNvPr>
              <p:cNvSpPr/>
              <p:nvPr/>
            </p:nvSpPr>
            <p:spPr bwMode="auto">
              <a:xfrm>
                <a:off x="2705622" y="4208745"/>
                <a:ext cx="914400" cy="413359"/>
              </a:xfrm>
              <a:prstGeom prst="rect">
                <a:avLst/>
              </a:prstGeom>
              <a:solidFill>
                <a:srgbClr val="FFF8C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B</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2" name="矩形 21">
                <a:extLst>
                  <a:ext uri="{FF2B5EF4-FFF2-40B4-BE49-F238E27FC236}">
                    <a16:creationId xmlns:a16="http://schemas.microsoft.com/office/drawing/2014/main" id="{FFC9F615-0B66-D10C-84AC-84E907005A2F}"/>
                  </a:ext>
                </a:extLst>
              </p:cNvPr>
              <p:cNvSpPr/>
              <p:nvPr/>
            </p:nvSpPr>
            <p:spPr bwMode="auto">
              <a:xfrm>
                <a:off x="2705622" y="3795386"/>
                <a:ext cx="914400" cy="413359"/>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grpSp>
        <p:sp>
          <p:nvSpPr>
            <p:cNvPr id="23" name="圆角矩形 22">
              <a:extLst>
                <a:ext uri="{FF2B5EF4-FFF2-40B4-BE49-F238E27FC236}">
                  <a16:creationId xmlns:a16="http://schemas.microsoft.com/office/drawing/2014/main" id="{9EF67A3F-C460-29A3-295E-1C5E715A8AB6}"/>
                </a:ext>
              </a:extLst>
            </p:cNvPr>
            <p:cNvSpPr/>
            <p:nvPr/>
          </p:nvSpPr>
          <p:spPr bwMode="auto">
            <a:xfrm>
              <a:off x="2685729" y="3670123"/>
              <a:ext cx="914400"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0</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4" name="圆角矩形 23">
              <a:extLst>
                <a:ext uri="{FF2B5EF4-FFF2-40B4-BE49-F238E27FC236}">
                  <a16:creationId xmlns:a16="http://schemas.microsoft.com/office/drawing/2014/main" id="{BD152FF4-A442-7E35-B39F-362B13CE703C}"/>
                </a:ext>
              </a:extLst>
            </p:cNvPr>
            <p:cNvSpPr/>
            <p:nvPr/>
          </p:nvSpPr>
          <p:spPr bwMode="auto">
            <a:xfrm>
              <a:off x="4078698" y="3670123"/>
              <a:ext cx="914400"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dirty="0">
                  <a:latin typeface="Tahoma" panose="020B0604030504040204" pitchFamily="34" charset="0"/>
                  <a:ea typeface="宋体" panose="02010600030101010101" pitchFamily="2" charset="-122"/>
                </a:rPr>
                <a:t>1</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25" name="圆角矩形 24">
              <a:extLst>
                <a:ext uri="{FF2B5EF4-FFF2-40B4-BE49-F238E27FC236}">
                  <a16:creationId xmlns:a16="http://schemas.microsoft.com/office/drawing/2014/main" id="{0D867BDF-F741-8EB8-A7FE-F301C9ED627C}"/>
                </a:ext>
              </a:extLst>
            </p:cNvPr>
            <p:cNvSpPr/>
            <p:nvPr/>
          </p:nvSpPr>
          <p:spPr bwMode="auto">
            <a:xfrm>
              <a:off x="5471667" y="3670123"/>
              <a:ext cx="914400" cy="457201"/>
            </a:xfrm>
            <a:prstGeom prst="round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Core</a:t>
              </a:r>
              <a:r>
                <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1" lang="en-US" altLang="zh-CN" dirty="0">
                  <a:latin typeface="Tahoma" panose="020B0604030504040204" pitchFamily="34" charset="0"/>
                  <a:ea typeface="宋体" panose="02010600030101010101" pitchFamily="2" charset="-122"/>
                </a:rPr>
                <a:t>2</a:t>
              </a:r>
              <a:endParaRPr kumimoji="1" lang="zh-CN" altLang="en-US"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cxnSp>
          <p:nvCxnSpPr>
            <p:cNvPr id="27" name="直线箭头连接符 26">
              <a:extLst>
                <a:ext uri="{FF2B5EF4-FFF2-40B4-BE49-F238E27FC236}">
                  <a16:creationId xmlns:a16="http://schemas.microsoft.com/office/drawing/2014/main" id="{959B6259-3FCB-6B5F-E461-9A9E4267857C}"/>
                </a:ext>
              </a:extLst>
            </p:cNvPr>
            <p:cNvCxnSpPr/>
            <p:nvPr/>
          </p:nvCxnSpPr>
          <p:spPr bwMode="auto">
            <a:xfrm>
              <a:off x="2104373" y="3670123"/>
              <a:ext cx="0" cy="2830884"/>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sp>
          <p:nvSpPr>
            <p:cNvPr id="28" name="文本框 27">
              <a:extLst>
                <a:ext uri="{FF2B5EF4-FFF2-40B4-BE49-F238E27FC236}">
                  <a16:creationId xmlns:a16="http://schemas.microsoft.com/office/drawing/2014/main" id="{FD68030C-3C54-7F49-4D62-438C51E2CDE2}"/>
                </a:ext>
              </a:extLst>
            </p:cNvPr>
            <p:cNvSpPr txBox="1"/>
            <p:nvPr/>
          </p:nvSpPr>
          <p:spPr>
            <a:xfrm>
              <a:off x="1642708" y="4434213"/>
              <a:ext cx="461665" cy="726508"/>
            </a:xfrm>
            <a:prstGeom prst="rect">
              <a:avLst/>
            </a:prstGeom>
            <a:noFill/>
          </p:spPr>
          <p:txBody>
            <a:bodyPr vert="vert270" wrap="square" rtlCol="0">
              <a:spAutoFit/>
            </a:bodyPr>
            <a:lstStyle/>
            <a:p>
              <a:r>
                <a:rPr kumimoji="1" lang="zh-CN" altLang="en-US" dirty="0"/>
                <a:t>时间</a:t>
              </a:r>
            </a:p>
          </p:txBody>
        </p:sp>
        <p:sp>
          <p:nvSpPr>
            <p:cNvPr id="30" name="矩形 29">
              <a:extLst>
                <a:ext uri="{FF2B5EF4-FFF2-40B4-BE49-F238E27FC236}">
                  <a16:creationId xmlns:a16="http://schemas.microsoft.com/office/drawing/2014/main" id="{E93BDA44-0A63-49FE-AF39-AC45F4AAE14C}"/>
                </a:ext>
              </a:extLst>
            </p:cNvPr>
            <p:cNvSpPr/>
            <p:nvPr/>
          </p:nvSpPr>
          <p:spPr bwMode="auto">
            <a:xfrm>
              <a:off x="2961301" y="3006801"/>
              <a:ext cx="495882" cy="413359"/>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31" name="矩形 30">
              <a:extLst>
                <a:ext uri="{FF2B5EF4-FFF2-40B4-BE49-F238E27FC236}">
                  <a16:creationId xmlns:a16="http://schemas.microsoft.com/office/drawing/2014/main" id="{9227B524-7497-33F2-9E6E-BC53CD8083D3}"/>
                </a:ext>
              </a:extLst>
            </p:cNvPr>
            <p:cNvSpPr/>
            <p:nvPr/>
          </p:nvSpPr>
          <p:spPr bwMode="auto">
            <a:xfrm>
              <a:off x="3815815" y="3008889"/>
              <a:ext cx="495882" cy="413359"/>
            </a:xfrm>
            <a:prstGeom prst="rect">
              <a:avLst/>
            </a:prstGeom>
            <a:solidFill>
              <a:srgbClr val="FFF8C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B</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32" name="矩形 31">
              <a:extLst>
                <a:ext uri="{FF2B5EF4-FFF2-40B4-BE49-F238E27FC236}">
                  <a16:creationId xmlns:a16="http://schemas.microsoft.com/office/drawing/2014/main" id="{D0008E3B-7E47-8745-467A-C65018AC4BE9}"/>
                </a:ext>
              </a:extLst>
            </p:cNvPr>
            <p:cNvSpPr/>
            <p:nvPr/>
          </p:nvSpPr>
          <p:spPr bwMode="auto">
            <a:xfrm>
              <a:off x="4670329" y="3006801"/>
              <a:ext cx="495882" cy="413359"/>
            </a:xfrm>
            <a:prstGeom prst="rect">
              <a:avLst/>
            </a:prstGeom>
            <a:solidFill>
              <a:srgbClr val="EAF1F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C</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sp>
          <p:nvSpPr>
            <p:cNvPr id="33" name="矩形 32">
              <a:extLst>
                <a:ext uri="{FF2B5EF4-FFF2-40B4-BE49-F238E27FC236}">
                  <a16:creationId xmlns:a16="http://schemas.microsoft.com/office/drawing/2014/main" id="{ECBA21F0-CDBA-A186-A85D-C38F04295DDD}"/>
                </a:ext>
              </a:extLst>
            </p:cNvPr>
            <p:cNvSpPr/>
            <p:nvPr/>
          </p:nvSpPr>
          <p:spPr bwMode="auto">
            <a:xfrm>
              <a:off x="5524842" y="3006801"/>
              <a:ext cx="495882" cy="413359"/>
            </a:xfrm>
            <a:prstGeom prst="rect">
              <a:avLst/>
            </a:prstGeom>
            <a:solidFill>
              <a:srgbClr val="FFEDD8"/>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en-US" altLang="zh-CN" sz="2000" dirty="0">
                  <a:latin typeface="Tahoma" panose="020B0604030504040204" pitchFamily="34" charset="0"/>
                  <a:ea typeface="宋体" panose="02010600030101010101" pitchFamily="2" charset="-122"/>
                </a:rPr>
                <a:t>D</a:t>
              </a:r>
              <a:endParaRPr kumimoji="1" lang="zh-CN" altLang="en-US"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cxnSp>
          <p:nvCxnSpPr>
            <p:cNvPr id="35" name="直线箭头连接符 34">
              <a:extLst>
                <a:ext uri="{FF2B5EF4-FFF2-40B4-BE49-F238E27FC236}">
                  <a16:creationId xmlns:a16="http://schemas.microsoft.com/office/drawing/2014/main" id="{3FEA671F-1B25-A30C-778C-63E84B664231}"/>
                </a:ext>
              </a:extLst>
            </p:cNvPr>
            <p:cNvCxnSpPr>
              <a:stCxn id="30" idx="3"/>
              <a:endCxn id="31" idx="1"/>
            </p:cNvCxnSpPr>
            <p:nvPr/>
          </p:nvCxnSpPr>
          <p:spPr bwMode="auto">
            <a:xfrm>
              <a:off x="3457183" y="3213481"/>
              <a:ext cx="358632" cy="2088"/>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37" name="直线箭头连接符 36">
              <a:extLst>
                <a:ext uri="{FF2B5EF4-FFF2-40B4-BE49-F238E27FC236}">
                  <a16:creationId xmlns:a16="http://schemas.microsoft.com/office/drawing/2014/main" id="{08C9BA19-0957-4DE8-AFC6-F1F0A39D75B0}"/>
                </a:ext>
              </a:extLst>
            </p:cNvPr>
            <p:cNvCxnSpPr>
              <a:stCxn id="31" idx="3"/>
              <a:endCxn id="32" idx="1"/>
            </p:cNvCxnSpPr>
            <p:nvPr/>
          </p:nvCxnSpPr>
          <p:spPr bwMode="auto">
            <a:xfrm flipV="1">
              <a:off x="4311697" y="3213481"/>
              <a:ext cx="358632" cy="2088"/>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cxnSp>
          <p:nvCxnSpPr>
            <p:cNvPr id="39" name="直线箭头连接符 38">
              <a:extLst>
                <a:ext uri="{FF2B5EF4-FFF2-40B4-BE49-F238E27FC236}">
                  <a16:creationId xmlns:a16="http://schemas.microsoft.com/office/drawing/2014/main" id="{8349E276-BAE0-3B83-15B3-2FA5E4278B55}"/>
                </a:ext>
              </a:extLst>
            </p:cNvPr>
            <p:cNvCxnSpPr>
              <a:stCxn id="32" idx="3"/>
              <a:endCxn id="33" idx="1"/>
            </p:cNvCxnSpPr>
            <p:nvPr/>
          </p:nvCxnSpPr>
          <p:spPr bwMode="auto">
            <a:xfrm>
              <a:off x="5166211" y="3213481"/>
              <a:ext cx="358631" cy="0"/>
            </a:xfrm>
            <a:prstGeom prst="straightConnector1">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triangle"/>
            </a:ln>
          </p:spPr>
        </p:cxnSp>
      </p:grpSp>
      <p:sp>
        <p:nvSpPr>
          <p:cNvPr id="41" name="文本框 40">
            <a:extLst>
              <a:ext uri="{FF2B5EF4-FFF2-40B4-BE49-F238E27FC236}">
                <a16:creationId xmlns:a16="http://schemas.microsoft.com/office/drawing/2014/main" id="{302E6978-5197-7133-8DE7-55158C57C706}"/>
              </a:ext>
            </a:extLst>
          </p:cNvPr>
          <p:cNvSpPr txBox="1"/>
          <p:nvPr/>
        </p:nvSpPr>
        <p:spPr>
          <a:xfrm>
            <a:off x="3614457" y="6317330"/>
            <a:ext cx="2412365" cy="369332"/>
          </a:xfrm>
          <a:prstGeom prst="rect">
            <a:avLst/>
          </a:prstGeom>
          <a:noFill/>
        </p:spPr>
        <p:txBody>
          <a:bodyPr wrap="square" rtlCol="0">
            <a:spAutoFit/>
          </a:bodyPr>
          <a:lstStyle/>
          <a:p>
            <a:r>
              <a:rPr kumimoji="1" lang="zh-CN" altLang="en-US" dirty="0"/>
              <a:t>负载分担带来的问题</a:t>
            </a:r>
          </a:p>
        </p:txBody>
      </p:sp>
    </p:spTree>
    <p:extLst>
      <p:ext uri="{BB962C8B-B14F-4D97-AF65-F5344CB8AC3E}">
        <p14:creationId xmlns:p14="http://schemas.microsoft.com/office/powerpoint/2010/main" val="1660323719"/>
      </p:ext>
    </p:extLst>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8FF4F-CB94-DAD7-E59D-280611DE1CF3}"/>
              </a:ext>
            </a:extLst>
          </p:cNvPr>
          <p:cNvSpPr>
            <a:spLocks noGrp="1"/>
          </p:cNvSpPr>
          <p:nvPr>
            <p:ph type="title"/>
          </p:nvPr>
        </p:nvSpPr>
        <p:spPr/>
        <p:txBody>
          <a:bodyPr/>
          <a:lstStyle/>
          <a:p>
            <a:r>
              <a:rPr kumimoji="1" lang="zh-CN" altLang="en-US" dirty="0"/>
              <a:t>多队列处理器调度</a:t>
            </a:r>
            <a:r>
              <a:rPr kumimoji="1" lang="en-US" altLang="zh-CN" dirty="0"/>
              <a:t>MQMS</a:t>
            </a:r>
            <a:endParaRPr kumimoji="1" lang="zh-CN" altLang="en-US" dirty="0"/>
          </a:p>
        </p:txBody>
      </p:sp>
      <p:sp>
        <p:nvSpPr>
          <p:cNvPr id="3" name="内容占位符 2">
            <a:extLst>
              <a:ext uri="{FF2B5EF4-FFF2-40B4-BE49-F238E27FC236}">
                <a16:creationId xmlns:a16="http://schemas.microsoft.com/office/drawing/2014/main" id="{C70B942D-FBFF-F47B-7332-C0B32D2415D9}"/>
              </a:ext>
            </a:extLst>
          </p:cNvPr>
          <p:cNvSpPr>
            <a:spLocks noGrp="1"/>
          </p:cNvSpPr>
          <p:nvPr>
            <p:ph idx="1"/>
          </p:nvPr>
        </p:nvSpPr>
        <p:spPr/>
        <p:txBody>
          <a:bodyPr>
            <a:normAutofit/>
          </a:bodyPr>
          <a:lstStyle/>
          <a:p>
            <a:r>
              <a:rPr kumimoji="1" lang="zh-CN" altLang="en-US" sz="2400" dirty="0"/>
              <a:t>假设系统中有两个</a:t>
            </a:r>
            <a:r>
              <a:rPr kumimoji="1" lang="en-US" altLang="zh-CN" sz="2400" dirty="0"/>
              <a:t>CPU</a:t>
            </a:r>
            <a:r>
              <a:rPr kumimoji="1" lang="zh-CN" altLang="en-US" sz="2400" dirty="0"/>
              <a:t> </a:t>
            </a:r>
            <a:r>
              <a:rPr kumimoji="1" lang="en-US" altLang="zh-CN" sz="2400" dirty="0"/>
              <a:t>0</a:t>
            </a:r>
            <a:r>
              <a:rPr kumimoji="1" lang="zh-CN" altLang="en-US" sz="2400" dirty="0"/>
              <a:t>，</a:t>
            </a:r>
            <a:r>
              <a:rPr kumimoji="1" lang="en-US" altLang="zh-CN" sz="2400" dirty="0"/>
              <a:t>CPU</a:t>
            </a:r>
            <a:r>
              <a:rPr kumimoji="1" lang="zh-CN" altLang="en-US" sz="2400" dirty="0"/>
              <a:t> </a:t>
            </a:r>
            <a:r>
              <a:rPr kumimoji="1" lang="en-US" altLang="zh-CN" sz="2400" dirty="0"/>
              <a:t>1</a:t>
            </a:r>
            <a:r>
              <a:rPr kumimoji="1" lang="zh-CN" altLang="en-US" sz="2400" dirty="0"/>
              <a:t>，有四个进程</a:t>
            </a:r>
            <a:r>
              <a:rPr kumimoji="1" lang="en-US" altLang="zh-CN" sz="2400" dirty="0"/>
              <a:t>A,</a:t>
            </a:r>
            <a:r>
              <a:rPr kumimoji="1" lang="zh-CN" altLang="en-US" sz="2400" dirty="0"/>
              <a:t> </a:t>
            </a:r>
            <a:r>
              <a:rPr kumimoji="1" lang="en-US" altLang="zh-CN" sz="2400" dirty="0"/>
              <a:t>B,</a:t>
            </a:r>
            <a:r>
              <a:rPr kumimoji="1" lang="zh-CN" altLang="en-US" sz="2400" dirty="0"/>
              <a:t> </a:t>
            </a:r>
            <a:r>
              <a:rPr kumimoji="1" lang="en-US" altLang="zh-CN" sz="2400" dirty="0"/>
              <a:t>C,</a:t>
            </a:r>
            <a:r>
              <a:rPr kumimoji="1" lang="zh-CN" altLang="en-US" sz="2400" dirty="0"/>
              <a:t> </a:t>
            </a:r>
            <a:r>
              <a:rPr kumimoji="1" lang="en-US" altLang="zh-CN" sz="2400" dirty="0"/>
              <a:t>D</a:t>
            </a:r>
          </a:p>
          <a:p>
            <a:endParaRPr kumimoji="1" lang="en-US" altLang="zh-CN" sz="2400" dirty="0"/>
          </a:p>
          <a:p>
            <a:endParaRPr kumimoji="1" lang="en-US" altLang="zh-CN" sz="2400" dirty="0"/>
          </a:p>
          <a:p>
            <a:endParaRPr kumimoji="1" lang="en-US" altLang="zh-CN" sz="2400" dirty="0"/>
          </a:p>
          <a:p>
            <a:endParaRPr kumimoji="1" lang="en-US" altLang="zh-CN" sz="2400" dirty="0"/>
          </a:p>
          <a:p>
            <a:r>
              <a:rPr kumimoji="1" lang="zh-CN" altLang="en-US" sz="2400" dirty="0"/>
              <a:t>可能存在负载不均的问题 </a:t>
            </a:r>
          </a:p>
        </p:txBody>
      </p:sp>
      <p:sp>
        <p:nvSpPr>
          <p:cNvPr id="4" name="灯片编号占位符 3">
            <a:extLst>
              <a:ext uri="{FF2B5EF4-FFF2-40B4-BE49-F238E27FC236}">
                <a16:creationId xmlns:a16="http://schemas.microsoft.com/office/drawing/2014/main" id="{3CF3C16B-A8C0-92C0-D0F6-CAF6ED972817}"/>
              </a:ext>
            </a:extLst>
          </p:cNvPr>
          <p:cNvSpPr>
            <a:spLocks noGrp="1"/>
          </p:cNvSpPr>
          <p:nvPr>
            <p:ph type="sldNum" sz="quarter" idx="12"/>
          </p:nvPr>
        </p:nvSpPr>
        <p:spPr/>
        <p:txBody>
          <a:bodyPr/>
          <a:lstStyle/>
          <a:p>
            <a:fld id="{4093CC90-4002-504C-BD88-C9A1D374048E}" type="slidenum">
              <a:rPr lang="zh-CN" altLang="en-US" smtClean="0"/>
              <a:pPr/>
              <a:t>57</a:t>
            </a:fld>
            <a:endParaRPr lang="zh-CN" altLang="en-US" dirty="0"/>
          </a:p>
        </p:txBody>
      </p:sp>
      <p:pic>
        <p:nvPicPr>
          <p:cNvPr id="5" name="图片 4">
            <a:extLst>
              <a:ext uri="{FF2B5EF4-FFF2-40B4-BE49-F238E27FC236}">
                <a16:creationId xmlns:a16="http://schemas.microsoft.com/office/drawing/2014/main" id="{E5A58A81-A42D-559D-D3B9-9FCA070AF0D5}"/>
              </a:ext>
            </a:extLst>
          </p:cNvPr>
          <p:cNvPicPr>
            <a:picLocks noChangeAspect="1"/>
          </p:cNvPicPr>
          <p:nvPr/>
        </p:nvPicPr>
        <p:blipFill>
          <a:blip r:embed="rId2"/>
          <a:stretch>
            <a:fillRect/>
          </a:stretch>
        </p:blipFill>
        <p:spPr>
          <a:xfrm>
            <a:off x="2195796" y="2021387"/>
            <a:ext cx="4025900" cy="685800"/>
          </a:xfrm>
          <a:prstGeom prst="rect">
            <a:avLst/>
          </a:prstGeom>
        </p:spPr>
      </p:pic>
      <p:pic>
        <p:nvPicPr>
          <p:cNvPr id="6" name="图片 5">
            <a:extLst>
              <a:ext uri="{FF2B5EF4-FFF2-40B4-BE49-F238E27FC236}">
                <a16:creationId xmlns:a16="http://schemas.microsoft.com/office/drawing/2014/main" id="{50679A27-3B35-2983-171B-8940F6273443}"/>
              </a:ext>
            </a:extLst>
          </p:cNvPr>
          <p:cNvPicPr>
            <a:picLocks noChangeAspect="1"/>
          </p:cNvPicPr>
          <p:nvPr/>
        </p:nvPicPr>
        <p:blipFill>
          <a:blip r:embed="rId3"/>
          <a:stretch>
            <a:fillRect/>
          </a:stretch>
        </p:blipFill>
        <p:spPr>
          <a:xfrm>
            <a:off x="1479550" y="2755432"/>
            <a:ext cx="6184900" cy="1066800"/>
          </a:xfrm>
          <a:prstGeom prst="rect">
            <a:avLst/>
          </a:prstGeom>
        </p:spPr>
      </p:pic>
      <p:pic>
        <p:nvPicPr>
          <p:cNvPr id="7" name="图片 6">
            <a:extLst>
              <a:ext uri="{FF2B5EF4-FFF2-40B4-BE49-F238E27FC236}">
                <a16:creationId xmlns:a16="http://schemas.microsoft.com/office/drawing/2014/main" id="{FA2A92C1-0048-FD88-ECAD-8A47C01AF9D5}"/>
              </a:ext>
            </a:extLst>
          </p:cNvPr>
          <p:cNvPicPr>
            <a:picLocks noChangeAspect="1"/>
          </p:cNvPicPr>
          <p:nvPr/>
        </p:nvPicPr>
        <p:blipFill>
          <a:blip r:embed="rId4"/>
          <a:stretch>
            <a:fillRect/>
          </a:stretch>
        </p:blipFill>
        <p:spPr>
          <a:xfrm>
            <a:off x="2106896" y="4577219"/>
            <a:ext cx="4114800" cy="609600"/>
          </a:xfrm>
          <a:prstGeom prst="rect">
            <a:avLst/>
          </a:prstGeom>
        </p:spPr>
      </p:pic>
      <p:pic>
        <p:nvPicPr>
          <p:cNvPr id="8" name="图片 7">
            <a:extLst>
              <a:ext uri="{FF2B5EF4-FFF2-40B4-BE49-F238E27FC236}">
                <a16:creationId xmlns:a16="http://schemas.microsoft.com/office/drawing/2014/main" id="{0A5BF349-7077-E1B1-2363-DA1FD3B2DCF4}"/>
              </a:ext>
            </a:extLst>
          </p:cNvPr>
          <p:cNvPicPr>
            <a:picLocks noChangeAspect="1"/>
          </p:cNvPicPr>
          <p:nvPr/>
        </p:nvPicPr>
        <p:blipFill>
          <a:blip r:embed="rId5"/>
          <a:stretch>
            <a:fillRect/>
          </a:stretch>
        </p:blipFill>
        <p:spPr>
          <a:xfrm>
            <a:off x="1479550" y="5131029"/>
            <a:ext cx="6172200" cy="1054100"/>
          </a:xfrm>
          <a:prstGeom prst="rect">
            <a:avLst/>
          </a:prstGeom>
        </p:spPr>
      </p:pic>
      <p:sp>
        <p:nvSpPr>
          <p:cNvPr id="9" name="文本框 8">
            <a:extLst>
              <a:ext uri="{FF2B5EF4-FFF2-40B4-BE49-F238E27FC236}">
                <a16:creationId xmlns:a16="http://schemas.microsoft.com/office/drawing/2014/main" id="{BBD12543-A37A-CFEC-65F6-016E4EE651BA}"/>
              </a:ext>
            </a:extLst>
          </p:cNvPr>
          <p:cNvSpPr txBox="1"/>
          <p:nvPr/>
        </p:nvSpPr>
        <p:spPr>
          <a:xfrm>
            <a:off x="7290074" y="4207887"/>
            <a:ext cx="918887" cy="461665"/>
          </a:xfrm>
          <a:prstGeom prst="rect">
            <a:avLst/>
          </a:prstGeom>
          <a:noFill/>
        </p:spPr>
        <p:txBody>
          <a:bodyPr wrap="square" rtlCol="0">
            <a:spAutoFit/>
          </a:bodyPr>
          <a:lstStyle/>
          <a:p>
            <a:r>
              <a:rPr kumimoji="1" lang="zh-CN" altLang="en-US" sz="2400" dirty="0"/>
              <a:t>迁移</a:t>
            </a:r>
          </a:p>
        </p:txBody>
      </p:sp>
    </p:spTree>
    <p:extLst>
      <p:ext uri="{BB962C8B-B14F-4D97-AF65-F5344CB8AC3E}">
        <p14:creationId xmlns:p14="http://schemas.microsoft.com/office/powerpoint/2010/main" val="2187737997"/>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56E3F-8D50-B90A-CEEB-98F13B6B8C6E}"/>
              </a:ext>
            </a:extLst>
          </p:cNvPr>
          <p:cNvSpPr>
            <a:spLocks noGrp="1"/>
          </p:cNvSpPr>
          <p:nvPr>
            <p:ph type="title"/>
          </p:nvPr>
        </p:nvSpPr>
        <p:spPr>
          <a:xfrm>
            <a:off x="1042988" y="225431"/>
            <a:ext cx="7850187" cy="746125"/>
          </a:xfrm>
        </p:spPr>
        <p:txBody>
          <a:bodyPr/>
          <a:lstStyle/>
          <a:p>
            <a:r>
              <a:rPr lang="zh-CN" altLang="en-US" dirty="0"/>
              <a:t>同构</a:t>
            </a:r>
            <a:r>
              <a:rPr lang="en-US" altLang="zh-CN" dirty="0"/>
              <a:t>/</a:t>
            </a:r>
            <a:r>
              <a:rPr lang="zh-CN" altLang="en-US" dirty="0"/>
              <a:t>异构多处理器任务调度</a:t>
            </a:r>
          </a:p>
        </p:txBody>
      </p:sp>
      <p:sp>
        <p:nvSpPr>
          <p:cNvPr id="3" name="内容占位符 2">
            <a:extLst>
              <a:ext uri="{FF2B5EF4-FFF2-40B4-BE49-F238E27FC236}">
                <a16:creationId xmlns:a16="http://schemas.microsoft.com/office/drawing/2014/main" id="{9E09BF01-9D99-593D-C603-DD7D6A1D3CCF}"/>
              </a:ext>
            </a:extLst>
          </p:cNvPr>
          <p:cNvSpPr>
            <a:spLocks noGrp="1"/>
          </p:cNvSpPr>
          <p:nvPr>
            <p:ph idx="1"/>
          </p:nvPr>
        </p:nvSpPr>
        <p:spPr>
          <a:xfrm>
            <a:off x="935038" y="1233488"/>
            <a:ext cx="7772400" cy="4895850"/>
          </a:xfrm>
        </p:spPr>
        <p:txBody>
          <a:bodyPr>
            <a:normAutofit fontScale="92500" lnSpcReduction="20000"/>
          </a:bodyPr>
          <a:lstStyle/>
          <a:p>
            <a:r>
              <a:rPr lang="zh-CN" altLang="en-US" dirty="0"/>
              <a:t>调度算法的目标：是将任务有效地分配给各个处理器，以达到负载均衡，提高系统的性能。</a:t>
            </a:r>
            <a:endParaRPr lang="en-US" altLang="zh-CN" dirty="0"/>
          </a:p>
          <a:p>
            <a:r>
              <a:rPr lang="zh-CN" altLang="en-US" dirty="0"/>
              <a:t>常见的同构多处理器调度算法包括：</a:t>
            </a:r>
            <a:endParaRPr lang="en-US" altLang="zh-CN" dirty="0"/>
          </a:p>
          <a:p>
            <a:pPr lvl="1"/>
            <a:r>
              <a:rPr lang="zh-CN" altLang="en-US" dirty="0"/>
              <a:t>轮转（</a:t>
            </a:r>
            <a:r>
              <a:rPr lang="en" altLang="zh-CN" dirty="0"/>
              <a:t>Round-Robin</a:t>
            </a:r>
            <a:r>
              <a:rPr lang="zh-CN" altLang="en" dirty="0"/>
              <a:t>）</a:t>
            </a:r>
            <a:endParaRPr lang="en-US" altLang="zh-CN" dirty="0"/>
          </a:p>
          <a:p>
            <a:pPr lvl="1"/>
            <a:r>
              <a:rPr lang="zh-CN" altLang="en-US" dirty="0"/>
              <a:t>最短作业优先（</a:t>
            </a:r>
            <a:r>
              <a:rPr lang="en" altLang="zh-CN" dirty="0"/>
              <a:t>Shortest Job First</a:t>
            </a:r>
            <a:r>
              <a:rPr lang="zh-CN" altLang="en" dirty="0"/>
              <a:t>）</a:t>
            </a:r>
            <a:endParaRPr lang="en-US" altLang="zh-CN" dirty="0"/>
          </a:p>
          <a:p>
            <a:pPr lvl="1"/>
            <a:r>
              <a:rPr lang="zh-CN" altLang="en-US" dirty="0"/>
              <a:t>优先级调度（</a:t>
            </a:r>
            <a:r>
              <a:rPr lang="en" altLang="zh-CN" dirty="0"/>
              <a:t>Priority Scheduling</a:t>
            </a:r>
            <a:r>
              <a:rPr lang="zh-CN" altLang="en" dirty="0"/>
              <a:t>）</a:t>
            </a:r>
            <a:endParaRPr lang="en-US" altLang="zh-CN" dirty="0"/>
          </a:p>
          <a:p>
            <a:r>
              <a:rPr lang="zh-CN" altLang="en-US" dirty="0"/>
              <a:t>常见的异构多处理器调度算法包括：</a:t>
            </a:r>
            <a:endParaRPr lang="en-US" altLang="zh-CN" dirty="0"/>
          </a:p>
          <a:p>
            <a:pPr lvl="1"/>
            <a:r>
              <a:rPr lang="zh-CN" altLang="en-US" dirty="0"/>
              <a:t>最小化完成时间（</a:t>
            </a:r>
            <a:r>
              <a:rPr lang="en" altLang="zh-CN" dirty="0"/>
              <a:t>Min-Min</a:t>
            </a:r>
            <a:r>
              <a:rPr lang="zh-CN" altLang="en" dirty="0"/>
              <a:t>）</a:t>
            </a:r>
            <a:endParaRPr lang="en-US" altLang="zh-CN" dirty="0"/>
          </a:p>
          <a:p>
            <a:pPr lvl="1"/>
            <a:r>
              <a:rPr lang="zh-CN" altLang="en-US" dirty="0"/>
              <a:t>最大化完成时间（</a:t>
            </a:r>
            <a:r>
              <a:rPr lang="en" altLang="zh-CN" dirty="0"/>
              <a:t>Max-Min</a:t>
            </a:r>
            <a:r>
              <a:rPr lang="zh-CN" altLang="en" dirty="0"/>
              <a:t>）</a:t>
            </a:r>
            <a:endParaRPr lang="en-US" altLang="zh-CN" dirty="0"/>
          </a:p>
          <a:p>
            <a:pPr lvl="1"/>
            <a:r>
              <a:rPr lang="zh-CN" altLang="en-US" dirty="0"/>
              <a:t>负载平衡（</a:t>
            </a:r>
            <a:r>
              <a:rPr lang="en" altLang="zh-CN" dirty="0"/>
              <a:t>Load Balancing</a:t>
            </a:r>
            <a:r>
              <a:rPr lang="zh-CN" altLang="en" dirty="0"/>
              <a:t>）</a:t>
            </a:r>
            <a:endParaRPr lang="en-US" altLang="zh-CN" dirty="0"/>
          </a:p>
          <a:p>
            <a:pPr lvl="1"/>
            <a:r>
              <a:rPr lang="zh-CN" altLang="en-US" dirty="0"/>
              <a:t>动态调度算法</a:t>
            </a:r>
          </a:p>
          <a:p>
            <a:endParaRPr lang="zh-CN" altLang="en-US" dirty="0"/>
          </a:p>
        </p:txBody>
      </p:sp>
      <p:sp>
        <p:nvSpPr>
          <p:cNvPr id="4" name="灯片编号占位符 3">
            <a:extLst>
              <a:ext uri="{FF2B5EF4-FFF2-40B4-BE49-F238E27FC236}">
                <a16:creationId xmlns:a16="http://schemas.microsoft.com/office/drawing/2014/main" id="{7F6CC29B-08A3-7EC7-10C5-DAF0768B7A9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58</a:t>
            </a:fld>
            <a:endParaRPr lang="zh-CN" altLang="en-US" dirty="0"/>
          </a:p>
        </p:txBody>
      </p:sp>
    </p:spTree>
    <p:extLst>
      <p:ext uri="{BB962C8B-B14F-4D97-AF65-F5344CB8AC3E}">
        <p14:creationId xmlns:p14="http://schemas.microsoft.com/office/powerpoint/2010/main" val="3827118693"/>
      </p:ext>
    </p:extLst>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279AE-9060-BA95-032F-6FFF5F726BC3}"/>
              </a:ext>
            </a:extLst>
          </p:cNvPr>
          <p:cNvSpPr>
            <a:spLocks noGrp="1"/>
          </p:cNvSpPr>
          <p:nvPr>
            <p:ph type="title"/>
          </p:nvPr>
        </p:nvSpPr>
        <p:spPr/>
        <p:txBody>
          <a:bodyPr/>
          <a:lstStyle/>
          <a:p>
            <a:r>
              <a:rPr kumimoji="1" lang="zh-CN" altLang="en-US" dirty="0"/>
              <a:t>练习题</a:t>
            </a:r>
          </a:p>
        </p:txBody>
      </p:sp>
      <p:sp>
        <p:nvSpPr>
          <p:cNvPr id="3" name="内容占位符 2">
            <a:extLst>
              <a:ext uri="{FF2B5EF4-FFF2-40B4-BE49-F238E27FC236}">
                <a16:creationId xmlns:a16="http://schemas.microsoft.com/office/drawing/2014/main" id="{520BB15A-2F1F-1952-27D9-218A9E12E1EA}"/>
              </a:ext>
            </a:extLst>
          </p:cNvPr>
          <p:cNvSpPr>
            <a:spLocks noGrp="1"/>
          </p:cNvSpPr>
          <p:nvPr>
            <p:ph idx="1"/>
          </p:nvPr>
        </p:nvSpPr>
        <p:spPr/>
        <p:txBody>
          <a:bodyPr>
            <a:normAutofit/>
          </a:bodyPr>
          <a:lstStyle/>
          <a:p>
            <a:r>
              <a:rPr lang="zh-CN" altLang="en-US" sz="3200" dirty="0"/>
              <a:t>5.2 Explain the difference between preemptive and nonpreemptive scheduling. </a:t>
            </a:r>
            <a:endParaRPr lang="en-US" altLang="zh-CN" sz="3200" dirty="0"/>
          </a:p>
          <a:p>
            <a:endParaRPr lang="en-US" altLang="zh-CN" sz="3200" dirty="0"/>
          </a:p>
        </p:txBody>
      </p:sp>
      <p:sp>
        <p:nvSpPr>
          <p:cNvPr id="4" name="灯片编号占位符 3">
            <a:extLst>
              <a:ext uri="{FF2B5EF4-FFF2-40B4-BE49-F238E27FC236}">
                <a16:creationId xmlns:a16="http://schemas.microsoft.com/office/drawing/2014/main" id="{BF9005B4-B2A3-BACB-1939-0585EFF68383}"/>
              </a:ext>
            </a:extLst>
          </p:cNvPr>
          <p:cNvSpPr>
            <a:spLocks noGrp="1"/>
          </p:cNvSpPr>
          <p:nvPr>
            <p:ph type="sldNum" sz="quarter" idx="12"/>
          </p:nvPr>
        </p:nvSpPr>
        <p:spPr/>
        <p:txBody>
          <a:bodyPr/>
          <a:lstStyle/>
          <a:p>
            <a:fld id="{4093CC90-4002-504C-BD88-C9A1D374048E}" type="slidenum">
              <a:rPr lang="zh-CN" altLang="en-US" smtClean="0"/>
              <a:pPr/>
              <a:t>59</a:t>
            </a:fld>
            <a:endParaRPr lang="zh-CN" altLang="en-US" dirty="0"/>
          </a:p>
        </p:txBody>
      </p:sp>
    </p:spTree>
    <p:extLst>
      <p:ext uri="{BB962C8B-B14F-4D97-AF65-F5344CB8AC3E}">
        <p14:creationId xmlns:p14="http://schemas.microsoft.com/office/powerpoint/2010/main" val="2944511936"/>
      </p:ext>
    </p:extLst>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4748FF2-F90C-2671-8549-8858636E017D}"/>
              </a:ext>
            </a:extLst>
          </p:cNvPr>
          <p:cNvSpPr>
            <a:spLocks noGrp="1"/>
          </p:cNvSpPr>
          <p:nvPr>
            <p:ph type="title"/>
          </p:nvPr>
        </p:nvSpPr>
        <p:spPr/>
        <p:txBody>
          <a:bodyPr/>
          <a:lstStyle/>
          <a:p>
            <a:r>
              <a:rPr lang="zh-CN" altLang="en-US"/>
              <a:t>练习题</a:t>
            </a:r>
            <a:endParaRPr lang="zh-CN" altLang="en-US" dirty="0"/>
          </a:p>
        </p:txBody>
      </p:sp>
      <p:sp>
        <p:nvSpPr>
          <p:cNvPr id="3" name="内容占位符 2">
            <a:extLst>
              <a:ext uri="{FF2B5EF4-FFF2-40B4-BE49-F238E27FC236}">
                <a16:creationId xmlns:a16="http://schemas.microsoft.com/office/drawing/2014/main" id="{A336296C-D576-E31D-0920-62CDD10E488E}"/>
              </a:ext>
            </a:extLst>
          </p:cNvPr>
          <p:cNvSpPr>
            <a:spLocks noGrp="1"/>
          </p:cNvSpPr>
          <p:nvPr>
            <p:ph idx="1"/>
          </p:nvPr>
        </p:nvSpPr>
        <p:spPr>
          <a:xfrm>
            <a:off x="935038" y="1233487"/>
            <a:ext cx="7772400" cy="5399081"/>
          </a:xfrm>
        </p:spPr>
        <p:txBody>
          <a:bodyPr>
            <a:normAutofit fontScale="55000" lnSpcReduction="20000"/>
          </a:bodyPr>
          <a:lstStyle/>
          <a:p>
            <a:r>
              <a:rPr lang="en-US" altLang="zh-CN" noProof="1"/>
              <a:t>5.4 Consider the following set of processes, with the length of the CPU burst time given in milliseconds:</a:t>
            </a:r>
          </a:p>
          <a:p>
            <a:pPr marL="300023" lvl="1" indent="0">
              <a:buNone/>
            </a:pPr>
            <a:r>
              <a:rPr lang="en-US" altLang="zh-CN" noProof="1"/>
              <a:t>     Process         Burst Time         Priority</a:t>
            </a:r>
          </a:p>
          <a:p>
            <a:pPr marL="300023" lvl="1" indent="0">
              <a:buNone/>
            </a:pPr>
            <a:r>
              <a:rPr lang="en-US" altLang="zh-CN" noProof="1"/>
              <a:t>       P</a:t>
            </a:r>
            <a:r>
              <a:rPr lang="en-US" altLang="zh-CN" baseline="-25000" noProof="1"/>
              <a:t>1</a:t>
            </a:r>
            <a:r>
              <a:rPr lang="en-US" altLang="zh-CN" noProof="1"/>
              <a:t>                  2                        2</a:t>
            </a:r>
          </a:p>
          <a:p>
            <a:pPr marL="300023" lvl="1" indent="0">
              <a:buNone/>
            </a:pPr>
            <a:r>
              <a:rPr lang="en-US" altLang="zh-CN" noProof="1"/>
              <a:t>       P</a:t>
            </a:r>
            <a:r>
              <a:rPr lang="en-US" altLang="zh-CN" baseline="-25000" noProof="1"/>
              <a:t>2</a:t>
            </a:r>
            <a:r>
              <a:rPr lang="en-US" altLang="zh-CN" noProof="1"/>
              <a:t>                  1                        1</a:t>
            </a:r>
          </a:p>
          <a:p>
            <a:pPr marL="300023" lvl="1" indent="0">
              <a:buNone/>
            </a:pPr>
            <a:r>
              <a:rPr lang="en-US" altLang="zh-CN" noProof="1"/>
              <a:t>       P</a:t>
            </a:r>
            <a:r>
              <a:rPr lang="en-US" altLang="zh-CN" baseline="-25000" noProof="1"/>
              <a:t>3</a:t>
            </a:r>
            <a:r>
              <a:rPr lang="en-US" altLang="zh-CN" noProof="1"/>
              <a:t>                  8                        4</a:t>
            </a:r>
          </a:p>
          <a:p>
            <a:pPr marL="300023" lvl="1" indent="0">
              <a:buNone/>
            </a:pPr>
            <a:r>
              <a:rPr lang="en-US" altLang="zh-CN" noProof="1"/>
              <a:t>       P</a:t>
            </a:r>
            <a:r>
              <a:rPr lang="en-US" altLang="zh-CN" baseline="-25000" noProof="1"/>
              <a:t>4 </a:t>
            </a:r>
            <a:r>
              <a:rPr lang="en-US" altLang="zh-CN" noProof="1"/>
              <a:t>                 4                        2</a:t>
            </a:r>
          </a:p>
          <a:p>
            <a:pPr marL="300023" lvl="1" indent="0">
              <a:buNone/>
            </a:pPr>
            <a:r>
              <a:rPr lang="en-US" altLang="zh-CN" noProof="1"/>
              <a:t>       P</a:t>
            </a:r>
            <a:r>
              <a:rPr lang="en-US" altLang="zh-CN" baseline="-25000" noProof="1"/>
              <a:t>5 </a:t>
            </a:r>
            <a:r>
              <a:rPr lang="en-US" altLang="zh-CN" noProof="1"/>
              <a:t>                 5                        3</a:t>
            </a:r>
          </a:p>
          <a:p>
            <a:pPr marL="0" indent="0">
              <a:buNone/>
            </a:pPr>
            <a:r>
              <a:rPr lang="en-US" altLang="zh-CN" noProof="1"/>
              <a:t>The processes are assumed to have arrived in the order P</a:t>
            </a:r>
            <a:r>
              <a:rPr lang="en-US" altLang="zh-CN" baseline="-25000" noProof="1"/>
              <a:t>1</a:t>
            </a:r>
            <a:r>
              <a:rPr lang="en-US" altLang="zh-CN" noProof="1"/>
              <a:t>, P</a:t>
            </a:r>
            <a:r>
              <a:rPr lang="en-US" altLang="zh-CN" baseline="-25000" noProof="1"/>
              <a:t>2</a:t>
            </a:r>
            <a:r>
              <a:rPr lang="en-US" altLang="zh-CN" noProof="1"/>
              <a:t>, P</a:t>
            </a:r>
            <a:r>
              <a:rPr lang="en-US" altLang="zh-CN" baseline="-25000" noProof="1"/>
              <a:t>3</a:t>
            </a:r>
            <a:r>
              <a:rPr lang="en-US" altLang="zh-CN" noProof="1"/>
              <a:t>, P</a:t>
            </a:r>
            <a:r>
              <a:rPr lang="en-US" altLang="zh-CN" baseline="-25000" noProof="1"/>
              <a:t>4</a:t>
            </a:r>
            <a:r>
              <a:rPr lang="en-US" altLang="zh-CN" noProof="1"/>
              <a:t>, P</a:t>
            </a:r>
            <a:r>
              <a:rPr lang="en-US" altLang="zh-CN" baseline="-25000" noProof="1"/>
              <a:t>5</a:t>
            </a:r>
            <a:r>
              <a:rPr lang="en-US" altLang="zh-CN" noProof="1"/>
              <a:t>,all at time 0</a:t>
            </a:r>
          </a:p>
          <a:p>
            <a:pPr marL="0" indent="0">
              <a:buNone/>
            </a:pPr>
            <a:r>
              <a:rPr lang="en-US" altLang="zh-CN" noProof="1"/>
              <a:t>    a. Draw four Gantt charts that illustrate the execution of these processes using the following scheduling algorithms: FCFS, SJF, nonpreemptive priority (a larger priority number implies a higher</a:t>
            </a:r>
          </a:p>
          <a:p>
            <a:pPr marL="0" indent="0">
              <a:buNone/>
            </a:pPr>
            <a:r>
              <a:rPr lang="en-US" altLang="zh-CN" noProof="1"/>
              <a:t>priority), and RR (quantum = 2).</a:t>
            </a:r>
          </a:p>
          <a:p>
            <a:pPr marL="0" indent="0">
              <a:buNone/>
            </a:pPr>
            <a:r>
              <a:rPr lang="en-US" altLang="zh-CN" noProof="1"/>
              <a:t>    b. What is the turnaround time of each process for each of the</a:t>
            </a:r>
          </a:p>
          <a:p>
            <a:pPr marL="0" indent="0">
              <a:buNone/>
            </a:pPr>
            <a:r>
              <a:rPr lang="en-US" altLang="zh-CN" noProof="1"/>
              <a:t>scheduling algorithms in part a?</a:t>
            </a:r>
          </a:p>
          <a:p>
            <a:pPr marL="0" indent="0">
              <a:buNone/>
            </a:pPr>
            <a:r>
              <a:rPr lang="en-US" altLang="zh-CN" noProof="1"/>
              <a:t>    c. What is the waiting time of each process for each of these scheduling algorithms?</a:t>
            </a:r>
          </a:p>
          <a:p>
            <a:pPr marL="0" indent="0">
              <a:buNone/>
            </a:pPr>
            <a:r>
              <a:rPr lang="en-US" altLang="zh-CN" noProof="1"/>
              <a:t>    d. Which of the algorithms results in the minimum average waiting</a:t>
            </a:r>
          </a:p>
          <a:p>
            <a:pPr marL="0" indent="0">
              <a:buNone/>
            </a:pPr>
            <a:r>
              <a:rPr lang="en-US" altLang="zh-CN" noProof="1"/>
              <a:t>time (over all processes)?</a:t>
            </a:r>
          </a:p>
        </p:txBody>
      </p:sp>
      <p:sp>
        <p:nvSpPr>
          <p:cNvPr id="4" name="灯片编号占位符 3">
            <a:extLst>
              <a:ext uri="{FF2B5EF4-FFF2-40B4-BE49-F238E27FC236}">
                <a16:creationId xmlns:a16="http://schemas.microsoft.com/office/drawing/2014/main" id="{8C9599AD-EFDB-1322-1C2A-BE10E38C11D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60</a:t>
            </a:fld>
            <a:endParaRPr lang="zh-CN" altLang="en-US" dirty="0"/>
          </a:p>
        </p:txBody>
      </p:sp>
    </p:spTree>
    <p:extLst>
      <p:ext uri="{BB962C8B-B14F-4D97-AF65-F5344CB8AC3E}">
        <p14:creationId xmlns:p14="http://schemas.microsoft.com/office/powerpoint/2010/main" val="3501221004"/>
      </p:ext>
    </p:extLst>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8322B-2538-D669-98A8-1DD671F3CDC3}"/>
              </a:ext>
            </a:extLst>
          </p:cNvPr>
          <p:cNvSpPr>
            <a:spLocks noGrp="1"/>
          </p:cNvSpPr>
          <p:nvPr>
            <p:ph type="title"/>
          </p:nvPr>
        </p:nvSpPr>
        <p:spPr/>
        <p:txBody>
          <a:bodyPr/>
          <a:lstStyle/>
          <a:p>
            <a:r>
              <a:rPr kumimoji="1" lang="zh-CN" altLang="en-US" dirty="0"/>
              <a:t>练习题</a:t>
            </a:r>
          </a:p>
        </p:txBody>
      </p:sp>
      <p:sp>
        <p:nvSpPr>
          <p:cNvPr id="3" name="内容占位符 2">
            <a:extLst>
              <a:ext uri="{FF2B5EF4-FFF2-40B4-BE49-F238E27FC236}">
                <a16:creationId xmlns:a16="http://schemas.microsoft.com/office/drawing/2014/main" id="{80B113A7-4990-7191-B332-47D039F68100}"/>
              </a:ext>
            </a:extLst>
          </p:cNvPr>
          <p:cNvSpPr>
            <a:spLocks noGrp="1"/>
          </p:cNvSpPr>
          <p:nvPr>
            <p:ph idx="1"/>
          </p:nvPr>
        </p:nvSpPr>
        <p:spPr/>
        <p:txBody>
          <a:bodyPr>
            <a:normAutofit fontScale="92500" lnSpcReduction="10000"/>
          </a:bodyPr>
          <a:lstStyle/>
          <a:p>
            <a:r>
              <a:rPr kumimoji="1" lang="zh-CN" altLang="en-US" dirty="0"/>
              <a:t>在</a:t>
            </a:r>
            <a:r>
              <a:rPr kumimoji="1" lang="en" altLang="zh-CN" dirty="0"/>
              <a:t>RR</a:t>
            </a:r>
            <a:r>
              <a:rPr kumimoji="1" lang="zh-CN" altLang="en-US" dirty="0"/>
              <a:t>策略的设计实现中，通常会维护一个运行队列，队列中的元素是对任务的引用（指针），每次被调度的任务会运行固定长度的时间片。如果在实施</a:t>
            </a:r>
            <a:r>
              <a:rPr kumimoji="1" lang="en" altLang="zh-CN" dirty="0"/>
              <a:t>RR</a:t>
            </a:r>
            <a:r>
              <a:rPr kumimoji="1" lang="zh-CN" altLang="en-US" dirty="0"/>
              <a:t>策略的队列中加入一个功能，可以在该任务的后面插入多个对同一任务的引用，那么这样的设计会带来什么样的影响？这样的设计使得</a:t>
            </a:r>
            <a:r>
              <a:rPr kumimoji="1" lang="en" altLang="zh-CN" dirty="0"/>
              <a:t>RR</a:t>
            </a:r>
            <a:r>
              <a:rPr kumimoji="1" lang="zh-CN" altLang="en-US" dirty="0"/>
              <a:t>策略与什么类型的调度相似？</a:t>
            </a:r>
          </a:p>
          <a:p>
            <a:endParaRPr kumimoji="1" lang="en-US" altLang="zh-CN" dirty="0"/>
          </a:p>
          <a:p>
            <a:r>
              <a:rPr kumimoji="1" lang="zh-CN" altLang="en-US" dirty="0"/>
              <a:t>什么是处理器亲和性（</a:t>
            </a:r>
            <a:r>
              <a:rPr kumimoji="1" lang="en" altLang="zh-CN" dirty="0"/>
              <a:t>Processor Affinity</a:t>
            </a:r>
            <a:r>
              <a:rPr kumimoji="1" lang="zh-CN" altLang="en" dirty="0"/>
              <a:t>）？</a:t>
            </a:r>
            <a:r>
              <a:rPr kumimoji="1" lang="zh-CN" altLang="en-US" dirty="0"/>
              <a:t>它在多处理器调度中起什么作用？</a:t>
            </a:r>
          </a:p>
        </p:txBody>
      </p:sp>
      <p:sp>
        <p:nvSpPr>
          <p:cNvPr id="4" name="灯片编号占位符 3">
            <a:extLst>
              <a:ext uri="{FF2B5EF4-FFF2-40B4-BE49-F238E27FC236}">
                <a16:creationId xmlns:a16="http://schemas.microsoft.com/office/drawing/2014/main" id="{3BB42074-B7EF-8A94-28DA-4142678556E8}"/>
              </a:ext>
            </a:extLst>
          </p:cNvPr>
          <p:cNvSpPr>
            <a:spLocks noGrp="1"/>
          </p:cNvSpPr>
          <p:nvPr>
            <p:ph type="sldNum" sz="quarter" idx="12"/>
          </p:nvPr>
        </p:nvSpPr>
        <p:spPr/>
        <p:txBody>
          <a:bodyPr/>
          <a:lstStyle/>
          <a:p>
            <a:fld id="{4093CC90-4002-504C-BD88-C9A1D374048E}" type="slidenum">
              <a:rPr lang="zh-CN" altLang="en-US" smtClean="0"/>
              <a:pPr/>
              <a:t>61</a:t>
            </a:fld>
            <a:endParaRPr lang="zh-CN" altLang="en-US" dirty="0"/>
          </a:p>
        </p:txBody>
      </p:sp>
    </p:spTree>
    <p:extLst>
      <p:ext uri="{BB962C8B-B14F-4D97-AF65-F5344CB8AC3E}">
        <p14:creationId xmlns:p14="http://schemas.microsoft.com/office/powerpoint/2010/main" val="3380277394"/>
      </p:ext>
    </p:extLst>
  </p:cSld>
  <p:clrMapOvr>
    <a:masterClrMapping/>
  </p:clrMapOvr>
  <p:transition spd="med">
    <p:zoom/>
  </p:transition>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4907</TotalTime>
  <Words>4936</Words>
  <Application>Microsoft Macintosh PowerPoint</Application>
  <PresentationFormat>全屏显示(4:3)</PresentationFormat>
  <Paragraphs>603</Paragraphs>
  <Slides>61</Slides>
  <Notes>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61</vt:i4>
      </vt:variant>
    </vt:vector>
  </HeadingPairs>
  <TitlesOfParts>
    <vt:vector size="67" baseType="lpstr">
      <vt:lpstr>等线</vt:lpstr>
      <vt:lpstr>Century</vt:lpstr>
      <vt:lpstr>Monotype Sorts</vt:lpstr>
      <vt:lpstr>Tahoma</vt:lpstr>
      <vt:lpstr>Wingdings</vt:lpstr>
      <vt:lpstr>1_Blends</vt:lpstr>
      <vt:lpstr>第4章 进程线程调度</vt:lpstr>
      <vt:lpstr>一个应用场景</vt:lpstr>
      <vt:lpstr>一个应用场景</vt:lpstr>
      <vt:lpstr>为什么要研究计算机的调度？</vt:lpstr>
      <vt:lpstr>如何进行CPU调度？</vt:lpstr>
      <vt:lpstr>调度应达到什么样的效果？</vt:lpstr>
      <vt:lpstr>设计调度器有何困难？</vt:lpstr>
      <vt:lpstr>进程的多级调度</vt:lpstr>
      <vt:lpstr>进程调度</vt:lpstr>
      <vt:lpstr>CPU-I/O执行周期</vt:lpstr>
      <vt:lpstr>CPU执行时间的直方图</vt:lpstr>
      <vt:lpstr>CPU调度器</vt:lpstr>
      <vt:lpstr>抢占式和非抢占式调度</vt:lpstr>
      <vt:lpstr>调度程序</vt:lpstr>
      <vt:lpstr>衡量调度算法的指标</vt:lpstr>
      <vt:lpstr>经典的单核进程调度算法</vt:lpstr>
      <vt:lpstr>先来先服务FCFS调度</vt:lpstr>
      <vt:lpstr>FCFS调度</vt:lpstr>
      <vt:lpstr>最短作业优先SJF调度</vt:lpstr>
      <vt:lpstr>后续CPU执行时长</vt:lpstr>
      <vt:lpstr>预测后续CPU执行时长</vt:lpstr>
      <vt:lpstr>指数平均法示例</vt:lpstr>
      <vt:lpstr>SJF示例</vt:lpstr>
      <vt:lpstr>最短剩余时间优先SRT调度</vt:lpstr>
      <vt:lpstr>抢占式SJF示例</vt:lpstr>
      <vt:lpstr>最高响应比优先HRRN调度</vt:lpstr>
      <vt:lpstr>HRRN示例</vt:lpstr>
      <vt:lpstr>时间片轮转RR调度</vt:lpstr>
      <vt:lpstr>RR调度示例（时间片=4）</vt:lpstr>
      <vt:lpstr>时间片和上下文切换时间</vt:lpstr>
      <vt:lpstr>时间片影响周转时间</vt:lpstr>
      <vt:lpstr>优先级调度</vt:lpstr>
      <vt:lpstr>优先级调度示例</vt:lpstr>
      <vt:lpstr>结合RR的优先级调度</vt:lpstr>
      <vt:lpstr>多级队列</vt:lpstr>
      <vt:lpstr>多级队列</vt:lpstr>
      <vt:lpstr>多级反馈队列</vt:lpstr>
      <vt:lpstr>多级反馈队列示例</vt:lpstr>
      <vt:lpstr>操作系统调度算法实例</vt:lpstr>
      <vt:lpstr>BSD多级反馈队列调度</vt:lpstr>
      <vt:lpstr>BSD多级反馈队列调度</vt:lpstr>
      <vt:lpstr>Windows 基于优先级的抢占式多任务调度</vt:lpstr>
      <vt:lpstr>Linux抢占式调度算法</vt:lpstr>
      <vt:lpstr>Solaris综合调度算法</vt:lpstr>
      <vt:lpstr>Solaris综合调度算法</vt:lpstr>
      <vt:lpstr>多处理器调度</vt:lpstr>
      <vt:lpstr>多处理器架构</vt:lpstr>
      <vt:lpstr>多处理器架构的分类</vt:lpstr>
      <vt:lpstr>多处理器架构的分类</vt:lpstr>
      <vt:lpstr>调度对多处理器架构的影响</vt:lpstr>
      <vt:lpstr>多处理器架构带来的问题</vt:lpstr>
      <vt:lpstr>处理器的亲和性(Processor Affinity)</vt:lpstr>
      <vt:lpstr>静态亲和性（Static Affinity）</vt:lpstr>
      <vt:lpstr>动态亲和性(Dynamic Affinity)</vt:lpstr>
      <vt:lpstr>单队列多处理器调度 SQMS</vt:lpstr>
      <vt:lpstr>负载分担(load sharing)策略</vt:lpstr>
      <vt:lpstr>多队列处理器调度MQMS</vt:lpstr>
      <vt:lpstr>同构/异构多处理器任务调度</vt:lpstr>
      <vt:lpstr>练习题</vt:lpstr>
      <vt:lpstr>练习题</vt:lpstr>
      <vt:lpstr>练习题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进程线程调度</dc:title>
  <dc:creator>jj Jiang</dc:creator>
  <cp:lastModifiedBy>jj Jiang</cp:lastModifiedBy>
  <cp:revision>55</cp:revision>
  <cp:lastPrinted>2023-10-21T03:16:29Z</cp:lastPrinted>
  <dcterms:created xsi:type="dcterms:W3CDTF">2023-10-06T13:55:10Z</dcterms:created>
  <dcterms:modified xsi:type="dcterms:W3CDTF">2024-10-11T15:40:44Z</dcterms:modified>
</cp:coreProperties>
</file>