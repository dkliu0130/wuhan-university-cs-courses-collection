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5.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4"/>
  </p:notesMasterIdLst>
  <p:sldIdLst>
    <p:sldId id="256" r:id="rId2"/>
    <p:sldId id="1981" r:id="rId3"/>
    <p:sldId id="258" r:id="rId4"/>
    <p:sldId id="1982" r:id="rId5"/>
    <p:sldId id="1983" r:id="rId6"/>
    <p:sldId id="1984" r:id="rId7"/>
    <p:sldId id="1870" r:id="rId8"/>
    <p:sldId id="1985" r:id="rId9"/>
    <p:sldId id="1896" r:id="rId10"/>
    <p:sldId id="1942" r:id="rId11"/>
    <p:sldId id="1959" r:id="rId12"/>
    <p:sldId id="1943" r:id="rId13"/>
    <p:sldId id="1986" r:id="rId14"/>
    <p:sldId id="1987" r:id="rId15"/>
    <p:sldId id="1988" r:id="rId16"/>
    <p:sldId id="1960" r:id="rId17"/>
    <p:sldId id="1990" r:id="rId18"/>
    <p:sldId id="1991" r:id="rId19"/>
    <p:sldId id="1989" r:id="rId20"/>
    <p:sldId id="1993" r:id="rId21"/>
    <p:sldId id="1992" r:id="rId22"/>
    <p:sldId id="1945" r:id="rId23"/>
    <p:sldId id="1994" r:id="rId24"/>
    <p:sldId id="1961" r:id="rId25"/>
    <p:sldId id="1995" r:id="rId26"/>
    <p:sldId id="1962" r:id="rId27"/>
    <p:sldId id="1996" r:id="rId28"/>
    <p:sldId id="1997" r:id="rId29"/>
    <p:sldId id="1998" r:id="rId30"/>
    <p:sldId id="1792" r:id="rId31"/>
    <p:sldId id="1947" r:id="rId32"/>
    <p:sldId id="1999" r:id="rId33"/>
    <p:sldId id="1948" r:id="rId34"/>
    <p:sldId id="2000" r:id="rId35"/>
    <p:sldId id="2001" r:id="rId36"/>
    <p:sldId id="1949" r:id="rId37"/>
    <p:sldId id="2002" r:id="rId38"/>
    <p:sldId id="1963" r:id="rId39"/>
    <p:sldId id="2003" r:id="rId40"/>
    <p:sldId id="2004" r:id="rId41"/>
    <p:sldId id="1964" r:id="rId42"/>
    <p:sldId id="2005" r:id="rId43"/>
    <p:sldId id="2006" r:id="rId44"/>
    <p:sldId id="2007" r:id="rId45"/>
    <p:sldId id="1965" r:id="rId46"/>
    <p:sldId id="2008" r:id="rId47"/>
    <p:sldId id="2009" r:id="rId48"/>
    <p:sldId id="2010" r:id="rId49"/>
    <p:sldId id="1966" r:id="rId50"/>
    <p:sldId id="1951" r:id="rId51"/>
    <p:sldId id="2011" r:id="rId52"/>
    <p:sldId id="2012" r:id="rId53"/>
    <p:sldId id="1952" r:id="rId54"/>
    <p:sldId id="2013" r:id="rId55"/>
    <p:sldId id="1967" r:id="rId56"/>
    <p:sldId id="2014" r:id="rId57"/>
    <p:sldId id="2015" r:id="rId58"/>
    <p:sldId id="2016" r:id="rId59"/>
    <p:sldId id="1953" r:id="rId60"/>
    <p:sldId id="2017" r:id="rId61"/>
    <p:sldId id="2018" r:id="rId62"/>
    <p:sldId id="1954" r:id="rId63"/>
    <p:sldId id="2019" r:id="rId64"/>
    <p:sldId id="2020" r:id="rId65"/>
    <p:sldId id="2021" r:id="rId66"/>
    <p:sldId id="2022" r:id="rId67"/>
    <p:sldId id="1968" r:id="rId68"/>
    <p:sldId id="2023" r:id="rId69"/>
    <p:sldId id="1955" r:id="rId70"/>
    <p:sldId id="2024" r:id="rId71"/>
    <p:sldId id="1969" r:id="rId72"/>
    <p:sldId id="2025" r:id="rId73"/>
    <p:sldId id="2026" r:id="rId74"/>
    <p:sldId id="2027" r:id="rId75"/>
    <p:sldId id="1970" r:id="rId76"/>
    <p:sldId id="2028" r:id="rId77"/>
    <p:sldId id="1872" r:id="rId78"/>
    <p:sldId id="2029" r:id="rId79"/>
    <p:sldId id="2030" r:id="rId80"/>
    <p:sldId id="2031" r:id="rId81"/>
    <p:sldId id="2032" r:id="rId82"/>
    <p:sldId id="2033" r:id="rId83"/>
    <p:sldId id="2034" r:id="rId84"/>
    <p:sldId id="2035" r:id="rId85"/>
    <p:sldId id="1891" r:id="rId86"/>
    <p:sldId id="2036" r:id="rId87"/>
    <p:sldId id="2037" r:id="rId88"/>
    <p:sldId id="2038" r:id="rId89"/>
    <p:sldId id="2039" r:id="rId90"/>
    <p:sldId id="2040" r:id="rId91"/>
    <p:sldId id="2041" r:id="rId92"/>
    <p:sldId id="1971" r:id="rId93"/>
    <p:sldId id="2042" r:id="rId94"/>
    <p:sldId id="2043" r:id="rId95"/>
    <p:sldId id="2052" r:id="rId96"/>
    <p:sldId id="2044" r:id="rId97"/>
    <p:sldId id="2045" r:id="rId98"/>
    <p:sldId id="2046" r:id="rId99"/>
    <p:sldId id="2047" r:id="rId100"/>
    <p:sldId id="1972" r:id="rId101"/>
    <p:sldId id="2048" r:id="rId102"/>
    <p:sldId id="1908" r:id="rId103"/>
    <p:sldId id="2049" r:id="rId104"/>
    <p:sldId id="1914" r:id="rId105"/>
    <p:sldId id="1973" r:id="rId106"/>
    <p:sldId id="1915" r:id="rId107"/>
    <p:sldId id="2050" r:id="rId108"/>
    <p:sldId id="2051" r:id="rId109"/>
    <p:sldId id="1974" r:id="rId110"/>
    <p:sldId id="2053" r:id="rId111"/>
    <p:sldId id="2054" r:id="rId112"/>
    <p:sldId id="2055" r:id="rId113"/>
    <p:sldId id="2056" r:id="rId114"/>
    <p:sldId id="2057" r:id="rId115"/>
    <p:sldId id="1975" r:id="rId116"/>
    <p:sldId id="2058" r:id="rId117"/>
    <p:sldId id="2059" r:id="rId118"/>
    <p:sldId id="2060" r:id="rId119"/>
    <p:sldId id="2061" r:id="rId120"/>
    <p:sldId id="1976" r:id="rId121"/>
    <p:sldId id="2062" r:id="rId122"/>
    <p:sldId id="2063" r:id="rId123"/>
    <p:sldId id="2064" r:id="rId124"/>
    <p:sldId id="2065" r:id="rId125"/>
    <p:sldId id="2066" r:id="rId126"/>
    <p:sldId id="2067" r:id="rId127"/>
    <p:sldId id="2068" r:id="rId128"/>
    <p:sldId id="2069" r:id="rId129"/>
    <p:sldId id="1977" r:id="rId130"/>
    <p:sldId id="2070" r:id="rId131"/>
    <p:sldId id="1978" r:id="rId132"/>
    <p:sldId id="2079" r:id="rId133"/>
    <p:sldId id="2080" r:id="rId134"/>
    <p:sldId id="2071" r:id="rId135"/>
    <p:sldId id="2081" r:id="rId136"/>
    <p:sldId id="2082" r:id="rId137"/>
    <p:sldId id="2072" r:id="rId138"/>
    <p:sldId id="2073" r:id="rId139"/>
    <p:sldId id="2074" r:id="rId140"/>
    <p:sldId id="2075" r:id="rId141"/>
    <p:sldId id="2076" r:id="rId142"/>
    <p:sldId id="2083" r:id="rId143"/>
    <p:sldId id="2084" r:id="rId144"/>
    <p:sldId id="2085" r:id="rId145"/>
    <p:sldId id="2086" r:id="rId146"/>
    <p:sldId id="1979" r:id="rId147"/>
    <p:sldId id="2077" r:id="rId148"/>
    <p:sldId id="2078" r:id="rId149"/>
    <p:sldId id="2087" r:id="rId150"/>
    <p:sldId id="2088" r:id="rId151"/>
    <p:sldId id="2089" r:id="rId152"/>
    <p:sldId id="1980" r:id="rId1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428EDA"/>
    <a:srgbClr val="01B1FD"/>
    <a:srgbClr val="EBEBEB"/>
    <a:srgbClr val="0000FF"/>
    <a:srgbClr val="5B307E"/>
    <a:srgbClr val="BDBCBC"/>
    <a:srgbClr val="BE5108"/>
    <a:srgbClr val="FEFF00"/>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477" autoAdjust="0"/>
    <p:restoredTop sz="74251" autoAdjust="0"/>
  </p:normalViewPr>
  <p:slideViewPr>
    <p:cSldViewPr snapToGrid="0" snapToObjects="1">
      <p:cViewPr varScale="1">
        <p:scale>
          <a:sx n="66" d="100"/>
          <a:sy n="66" d="100"/>
        </p:scale>
        <p:origin x="11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commentAuthors" Target="commentAuthor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FA5F89-5CF9-4855-AF65-0F593EE040DE}" type="doc">
      <dgm:prSet loTypeId="urn:microsoft.com/office/officeart/2005/8/layout/chevron1" loCatId="process" qsTypeId="urn:microsoft.com/office/officeart/2005/8/quickstyle/simple1" qsCatId="simple" csTypeId="urn:microsoft.com/office/officeart/2005/8/colors/accent1_2" csCatId="accent1" phldr="1"/>
      <dgm:spPr/>
    </dgm:pt>
    <dgm:pt modelId="{50940113-B8DC-4572-ABA2-90A47E0694C1}">
      <dgm:prSet phldrT="[文本]"/>
      <dgm:spPr/>
      <dgm:t>
        <a:bodyPr/>
        <a:lstStyle/>
        <a:p>
          <a:r>
            <a:rPr lang="zh-CN" altLang="en-US" dirty="0"/>
            <a:t>重定向</a:t>
          </a:r>
        </a:p>
      </dgm:t>
    </dgm:pt>
    <dgm:pt modelId="{BA3A49B1-A1C4-4BDE-9F89-1C42356DA0BD}" type="parTrans" cxnId="{57CDAB16-26D1-4D30-8680-784B23667E4D}">
      <dgm:prSet/>
      <dgm:spPr/>
      <dgm:t>
        <a:bodyPr/>
        <a:lstStyle/>
        <a:p>
          <a:endParaRPr lang="zh-CN" altLang="en-US"/>
        </a:p>
      </dgm:t>
    </dgm:pt>
    <dgm:pt modelId="{BC217187-EDC2-45DF-B59F-81D9F9FE3C95}" type="sibTrans" cxnId="{57CDAB16-26D1-4D30-8680-784B23667E4D}">
      <dgm:prSet/>
      <dgm:spPr/>
      <dgm:t>
        <a:bodyPr/>
        <a:lstStyle/>
        <a:p>
          <a:endParaRPr lang="zh-CN" altLang="en-US"/>
        </a:p>
      </dgm:t>
    </dgm:pt>
    <dgm:pt modelId="{77C6AE74-F0CB-48FD-AFF7-A809BC44B650}">
      <dgm:prSet phldrT="[文本]"/>
      <dgm:spPr/>
      <dgm:t>
        <a:bodyPr/>
        <a:lstStyle/>
        <a:p>
          <a:r>
            <a:rPr lang="zh-CN" altLang="en-US" dirty="0"/>
            <a:t>虚拟化</a:t>
          </a:r>
        </a:p>
      </dgm:t>
    </dgm:pt>
    <dgm:pt modelId="{846F589E-4B90-4EB3-B121-0FC456181FFF}" type="parTrans" cxnId="{241BC08A-289B-4C6D-8091-12640AE9A395}">
      <dgm:prSet/>
      <dgm:spPr/>
      <dgm:t>
        <a:bodyPr/>
        <a:lstStyle/>
        <a:p>
          <a:endParaRPr lang="zh-CN" altLang="en-US"/>
        </a:p>
      </dgm:t>
    </dgm:pt>
    <dgm:pt modelId="{BFDE2F06-E333-4E1C-BB74-B103E0FCCEDE}" type="sibTrans" cxnId="{241BC08A-289B-4C6D-8091-12640AE9A395}">
      <dgm:prSet/>
      <dgm:spPr/>
      <dgm:t>
        <a:bodyPr/>
        <a:lstStyle/>
        <a:p>
          <a:endParaRPr lang="zh-CN" altLang="en-US"/>
        </a:p>
      </dgm:t>
    </dgm:pt>
    <dgm:pt modelId="{58D7ABCE-60D7-4EC8-8288-05EE1BC0F428}">
      <dgm:prSet phldrT="[文本]"/>
      <dgm:spPr/>
      <dgm:t>
        <a:bodyPr/>
        <a:lstStyle/>
        <a:p>
          <a:r>
            <a:rPr lang="zh-CN" altLang="en-US" dirty="0"/>
            <a:t>隔离</a:t>
          </a:r>
        </a:p>
      </dgm:t>
    </dgm:pt>
    <dgm:pt modelId="{40EF8A76-5C07-4537-A7F2-9767EA58AEF1}" type="parTrans" cxnId="{FDD4969E-63EF-4DDD-89BA-D784D07BAAE0}">
      <dgm:prSet/>
      <dgm:spPr/>
      <dgm:t>
        <a:bodyPr/>
        <a:lstStyle/>
        <a:p>
          <a:endParaRPr lang="zh-CN" altLang="en-US"/>
        </a:p>
      </dgm:t>
    </dgm:pt>
    <dgm:pt modelId="{B65E18F7-0E6C-4A4F-B5ED-0045D844F7FA}" type="sibTrans" cxnId="{FDD4969E-63EF-4DDD-89BA-D784D07BAAE0}">
      <dgm:prSet/>
      <dgm:spPr/>
      <dgm:t>
        <a:bodyPr/>
        <a:lstStyle/>
        <a:p>
          <a:endParaRPr lang="zh-CN" altLang="en-US"/>
        </a:p>
      </dgm:t>
    </dgm:pt>
    <dgm:pt modelId="{217D9E69-7D94-416A-B7C6-4ED510237E4B}" type="pres">
      <dgm:prSet presAssocID="{C5FA5F89-5CF9-4855-AF65-0F593EE040DE}" presName="Name0" presStyleCnt="0">
        <dgm:presLayoutVars>
          <dgm:dir/>
          <dgm:animLvl val="lvl"/>
          <dgm:resizeHandles val="exact"/>
        </dgm:presLayoutVars>
      </dgm:prSet>
      <dgm:spPr/>
    </dgm:pt>
    <dgm:pt modelId="{230CFD81-266A-4D83-B90B-0203060F5746}" type="pres">
      <dgm:prSet presAssocID="{50940113-B8DC-4572-ABA2-90A47E0694C1}" presName="parTxOnly" presStyleLbl="node1" presStyleIdx="0" presStyleCnt="3">
        <dgm:presLayoutVars>
          <dgm:chMax val="0"/>
          <dgm:chPref val="0"/>
          <dgm:bulletEnabled val="1"/>
        </dgm:presLayoutVars>
      </dgm:prSet>
      <dgm:spPr/>
    </dgm:pt>
    <dgm:pt modelId="{74D97571-B69A-4F98-A234-58A911C0AE8E}" type="pres">
      <dgm:prSet presAssocID="{BC217187-EDC2-45DF-B59F-81D9F9FE3C95}" presName="parTxOnlySpace" presStyleCnt="0"/>
      <dgm:spPr/>
    </dgm:pt>
    <dgm:pt modelId="{8E4BD667-F177-4B4F-AF76-64928FDBA05B}" type="pres">
      <dgm:prSet presAssocID="{77C6AE74-F0CB-48FD-AFF7-A809BC44B650}" presName="parTxOnly" presStyleLbl="node1" presStyleIdx="1" presStyleCnt="3" custLinFactNeighborY="2032">
        <dgm:presLayoutVars>
          <dgm:chMax val="0"/>
          <dgm:chPref val="0"/>
          <dgm:bulletEnabled val="1"/>
        </dgm:presLayoutVars>
      </dgm:prSet>
      <dgm:spPr/>
    </dgm:pt>
    <dgm:pt modelId="{9A7136C5-83D5-48F3-9C54-44592FC7F785}" type="pres">
      <dgm:prSet presAssocID="{BFDE2F06-E333-4E1C-BB74-B103E0FCCEDE}" presName="parTxOnlySpace" presStyleCnt="0"/>
      <dgm:spPr/>
    </dgm:pt>
    <dgm:pt modelId="{EB8AA19B-09EF-4DCC-9C7F-8D9CCBF7CB6C}" type="pres">
      <dgm:prSet presAssocID="{58D7ABCE-60D7-4EC8-8288-05EE1BC0F428}" presName="parTxOnly" presStyleLbl="node1" presStyleIdx="2" presStyleCnt="3">
        <dgm:presLayoutVars>
          <dgm:chMax val="0"/>
          <dgm:chPref val="0"/>
          <dgm:bulletEnabled val="1"/>
        </dgm:presLayoutVars>
      </dgm:prSet>
      <dgm:spPr/>
    </dgm:pt>
  </dgm:ptLst>
  <dgm:cxnLst>
    <dgm:cxn modelId="{57CDAB16-26D1-4D30-8680-784B23667E4D}" srcId="{C5FA5F89-5CF9-4855-AF65-0F593EE040DE}" destId="{50940113-B8DC-4572-ABA2-90A47E0694C1}" srcOrd="0" destOrd="0" parTransId="{BA3A49B1-A1C4-4BDE-9F89-1C42356DA0BD}" sibTransId="{BC217187-EDC2-45DF-B59F-81D9F9FE3C95}"/>
    <dgm:cxn modelId="{F7C0136A-E78B-4857-A4C0-9FE4D9C3A7AD}" type="presOf" srcId="{50940113-B8DC-4572-ABA2-90A47E0694C1}" destId="{230CFD81-266A-4D83-B90B-0203060F5746}" srcOrd="0" destOrd="0" presId="urn:microsoft.com/office/officeart/2005/8/layout/chevron1"/>
    <dgm:cxn modelId="{241BC08A-289B-4C6D-8091-12640AE9A395}" srcId="{C5FA5F89-5CF9-4855-AF65-0F593EE040DE}" destId="{77C6AE74-F0CB-48FD-AFF7-A809BC44B650}" srcOrd="1" destOrd="0" parTransId="{846F589E-4B90-4EB3-B121-0FC456181FFF}" sibTransId="{BFDE2F06-E333-4E1C-BB74-B103E0FCCEDE}"/>
    <dgm:cxn modelId="{0430568C-9418-4B3D-A084-146EA8EF188A}" type="presOf" srcId="{77C6AE74-F0CB-48FD-AFF7-A809BC44B650}" destId="{8E4BD667-F177-4B4F-AF76-64928FDBA05B}" srcOrd="0" destOrd="0" presId="urn:microsoft.com/office/officeart/2005/8/layout/chevron1"/>
    <dgm:cxn modelId="{C32DB898-075E-4913-85F7-6F4C8E153977}" type="presOf" srcId="{C5FA5F89-5CF9-4855-AF65-0F593EE040DE}" destId="{217D9E69-7D94-416A-B7C6-4ED510237E4B}" srcOrd="0" destOrd="0" presId="urn:microsoft.com/office/officeart/2005/8/layout/chevron1"/>
    <dgm:cxn modelId="{FDD4969E-63EF-4DDD-89BA-D784D07BAAE0}" srcId="{C5FA5F89-5CF9-4855-AF65-0F593EE040DE}" destId="{58D7ABCE-60D7-4EC8-8288-05EE1BC0F428}" srcOrd="2" destOrd="0" parTransId="{40EF8A76-5C07-4537-A7F2-9767EA58AEF1}" sibTransId="{B65E18F7-0E6C-4A4F-B5ED-0045D844F7FA}"/>
    <dgm:cxn modelId="{B24C22DD-438C-47FC-9097-F6134E85CFE1}" type="presOf" srcId="{58D7ABCE-60D7-4EC8-8288-05EE1BC0F428}" destId="{EB8AA19B-09EF-4DCC-9C7F-8D9CCBF7CB6C}" srcOrd="0" destOrd="0" presId="urn:microsoft.com/office/officeart/2005/8/layout/chevron1"/>
    <dgm:cxn modelId="{6FFEA0E6-55A6-493B-BE98-E18FA944D688}" type="presParOf" srcId="{217D9E69-7D94-416A-B7C6-4ED510237E4B}" destId="{230CFD81-266A-4D83-B90B-0203060F5746}" srcOrd="0" destOrd="0" presId="urn:microsoft.com/office/officeart/2005/8/layout/chevron1"/>
    <dgm:cxn modelId="{17AFEBA1-38B5-493B-8768-B92F0B8E03BA}" type="presParOf" srcId="{217D9E69-7D94-416A-B7C6-4ED510237E4B}" destId="{74D97571-B69A-4F98-A234-58A911C0AE8E}" srcOrd="1" destOrd="0" presId="urn:microsoft.com/office/officeart/2005/8/layout/chevron1"/>
    <dgm:cxn modelId="{61D7D5EC-9315-48DC-9C57-C7AFDFDF2332}" type="presParOf" srcId="{217D9E69-7D94-416A-B7C6-4ED510237E4B}" destId="{8E4BD667-F177-4B4F-AF76-64928FDBA05B}" srcOrd="2" destOrd="0" presId="urn:microsoft.com/office/officeart/2005/8/layout/chevron1"/>
    <dgm:cxn modelId="{942DC1D1-BD1B-4E32-85AB-01B197945EB8}" type="presParOf" srcId="{217D9E69-7D94-416A-B7C6-4ED510237E4B}" destId="{9A7136C5-83D5-48F3-9C54-44592FC7F785}" srcOrd="3" destOrd="0" presId="urn:microsoft.com/office/officeart/2005/8/layout/chevron1"/>
    <dgm:cxn modelId="{BF80B973-28B5-413D-8847-0C8769DFE30F}" type="presParOf" srcId="{217D9E69-7D94-416A-B7C6-4ED510237E4B}" destId="{EB8AA19B-09EF-4DCC-9C7F-8D9CCBF7CB6C}"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0CFD81-266A-4D83-B90B-0203060F5746}">
      <dsp:nvSpPr>
        <dsp:cNvPr id="0" name=""/>
        <dsp:cNvSpPr/>
      </dsp:nvSpPr>
      <dsp:spPr>
        <a:xfrm>
          <a:off x="2704" y="0"/>
          <a:ext cx="3295579" cy="58446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重定向</a:t>
          </a:r>
        </a:p>
      </dsp:txBody>
      <dsp:txXfrm>
        <a:off x="294935" y="0"/>
        <a:ext cx="2711117" cy="584462"/>
      </dsp:txXfrm>
    </dsp:sp>
    <dsp:sp modelId="{8E4BD667-F177-4B4F-AF76-64928FDBA05B}">
      <dsp:nvSpPr>
        <dsp:cNvPr id="0" name=""/>
        <dsp:cNvSpPr/>
      </dsp:nvSpPr>
      <dsp:spPr>
        <a:xfrm>
          <a:off x="2968726" y="0"/>
          <a:ext cx="3295579" cy="58446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虚拟化</a:t>
          </a:r>
        </a:p>
      </dsp:txBody>
      <dsp:txXfrm>
        <a:off x="3260957" y="0"/>
        <a:ext cx="2711117" cy="584462"/>
      </dsp:txXfrm>
    </dsp:sp>
    <dsp:sp modelId="{EB8AA19B-09EF-4DCC-9C7F-8D9CCBF7CB6C}">
      <dsp:nvSpPr>
        <dsp:cNvPr id="0" name=""/>
        <dsp:cNvSpPr/>
      </dsp:nvSpPr>
      <dsp:spPr>
        <a:xfrm>
          <a:off x="5934747" y="0"/>
          <a:ext cx="3295579" cy="58446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016" tIns="41339" rIns="41339" bIns="41339"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隔离</a:t>
          </a:r>
        </a:p>
      </dsp:txBody>
      <dsp:txXfrm>
        <a:off x="6226978" y="0"/>
        <a:ext cx="2711117" cy="5844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pPr/>
              <a:t>2026/2/26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pPr/>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baike.baidu.com/item/%E6%9C%80%E5%A4%A7%E5%88%86%E6%AE%B5%E5%A4%A7%E5%B0%8F" TargetMode="External"/><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ecurityaffairs.co/wordpress/52015/hacking/mirai-botnet.html" TargetMode="External"/><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11</a:t>
            </a:fld>
            <a:endParaRPr lang="zh-CN" altLang="en-US"/>
          </a:p>
        </p:txBody>
      </p:sp>
    </p:spTree>
    <p:extLst>
      <p:ext uri="{BB962C8B-B14F-4D97-AF65-F5344CB8AC3E}">
        <p14:creationId xmlns:p14="http://schemas.microsoft.com/office/powerpoint/2010/main" val="3016514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16</a:t>
            </a:fld>
            <a:endParaRPr lang="zh-CN" altLang="en-US"/>
          </a:p>
        </p:txBody>
      </p:sp>
    </p:spTree>
    <p:extLst>
      <p:ext uri="{BB962C8B-B14F-4D97-AF65-F5344CB8AC3E}">
        <p14:creationId xmlns:p14="http://schemas.microsoft.com/office/powerpoint/2010/main" val="77038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1. </a:t>
            </a:r>
            <a:r>
              <a:rPr lang="zh-CN" altLang="en-US" dirty="0"/>
              <a:t>计算机病毒是指</a:t>
            </a:r>
            <a:r>
              <a:rPr lang="zh-CN" altLang="en-US" dirty="0">
                <a:sym typeface="Wingdings" panose="05000000000000000000" pitchFamily="2" charset="2"/>
              </a:rPr>
              <a:t>（</a:t>
            </a:r>
            <a:r>
              <a:rPr lang="zh-CN" altLang="en-US" dirty="0"/>
              <a:t>概念定义的那句话</a:t>
            </a:r>
            <a:r>
              <a:rPr lang="zh-CN" altLang="en-US" dirty="0">
                <a:sym typeface="Wingdings" panose="05000000000000000000" pitchFamily="2" charset="2"/>
              </a:rPr>
              <a:t>，</a:t>
            </a:r>
            <a:r>
              <a:rPr lang="zh-CN" altLang="en-US" dirty="0"/>
              <a:t>红色标注概念中的三个关键词：破坏、自我复制、程序代码）</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solidFill>
                  <a:prstClr val="black"/>
                </a:solidFill>
                <a:latin typeface="Microsoft YaHei" panose="020B0503020204020204" pitchFamily="34" charset="-122"/>
                <a:ea typeface="Microsoft YaHei" panose="020B0503020204020204" pitchFamily="34" charset="-122"/>
              </a:rPr>
              <a:t>2. </a:t>
            </a:r>
            <a:r>
              <a:rPr kumimoji="1" lang="zh-CN" altLang="en-US" sz="1200" dirty="0">
                <a:solidFill>
                  <a:prstClr val="black"/>
                </a:solidFill>
                <a:latin typeface="Microsoft YaHei" panose="020B0503020204020204" pitchFamily="34" charset="-122"/>
                <a:ea typeface="Microsoft YaHei" panose="020B0503020204020204" pitchFamily="34" charset="-122"/>
              </a:rPr>
              <a:t>以下为计算机病毒的特征：（讲解，对比生物病毒讲解以提高学生感性认识</a:t>
            </a:r>
            <a:r>
              <a:rPr kumimoji="1" lang="en-US" altLang="zh-CN" sz="1200" dirty="0">
                <a:solidFill>
                  <a:prstClr val="black"/>
                </a:solidFill>
                <a:latin typeface="Microsoft YaHei" panose="020B0503020204020204" pitchFamily="34" charset="-122"/>
                <a:ea typeface="Microsoft YaHei" panose="020B0503020204020204" pitchFamily="34"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solidFill>
                  <a:prstClr val="black"/>
                </a:solidFill>
                <a:latin typeface="Microsoft YaHei" panose="020B0503020204020204" pitchFamily="34" charset="-122"/>
                <a:ea typeface="Microsoft YaHei" panose="020B0503020204020204" pitchFamily="34" charset="-122"/>
              </a:rPr>
              <a:t>传染性：</a:t>
            </a:r>
            <a:r>
              <a:rPr kumimoji="1" lang="zh-CN" altLang="en-US" dirty="0">
                <a:ea typeface="宋体" panose="02010600030101010101" pitchFamily="2" charset="-122"/>
              </a:rPr>
              <a:t>病毒的基本特征，计算机病毒会通过各种渠道从已被感染的计算机扩散到未被感染的计算机，是否具有传染性是判别一个程序是否为计算机病毒的最重要条件</a:t>
            </a:r>
            <a:endParaRPr kumimoji="1" lang="en-US" altLang="zh-CN" dirty="0">
              <a:ea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solidFill>
                  <a:prstClr val="black"/>
                </a:solidFill>
                <a:latin typeface="宋体" panose="02010600030101010101" pitchFamily="2" charset="-122"/>
                <a:ea typeface="宋体" panose="02010600030101010101" pitchFamily="2" charset="-122"/>
              </a:rPr>
              <a:t>破坏性：</a:t>
            </a:r>
            <a:r>
              <a:rPr kumimoji="1" lang="zh-CN" altLang="en-US" dirty="0">
                <a:ea typeface="宋体" panose="02010600030101010101" pitchFamily="2" charset="-122"/>
              </a:rPr>
              <a:t>对系统来讲，所有的计算机病毒都存在一个共同的危害，即占用系统资源，降低计算机系统的工作效率，故虽然有良性病毒和恶性病毒的说法，但只要是计算机病毒都是违背用户意愿的，都具有破坏性</a:t>
            </a:r>
            <a:endParaRPr kumimoji="1" lang="en-US" altLang="zh-CN" dirty="0">
              <a:ea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solidFill>
                  <a:prstClr val="black"/>
                </a:solidFill>
                <a:latin typeface="宋体" panose="02010600030101010101" pitchFamily="2" charset="-122"/>
                <a:ea typeface="宋体" panose="02010600030101010101" pitchFamily="2" charset="-122"/>
              </a:rPr>
              <a:t>潜伏性：</a:t>
            </a:r>
            <a:r>
              <a:rPr kumimoji="1" lang="zh-CN" altLang="en-US" dirty="0">
                <a:ea typeface="宋体" panose="02010600030101010101" pitchFamily="2" charset="-122"/>
              </a:rPr>
              <a:t>编制精巧的计算机病毒程序，进入系统之后一般不会马上发作，可以在几周或者几个月内隐藏在合法文件中，对其他系统进行传染，而不被人发现。潜伏性越好，其在系统中的存在时间就会越长，病毒的传染范围就会越大，它的危害就越大</a:t>
            </a:r>
            <a:endParaRPr kumimoji="1" lang="en-US" altLang="zh-CN" dirty="0">
              <a:ea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333333"/>
                </a:solidFill>
                <a:latin typeface="Microsoft YaHei" panose="020B0503020204020204" pitchFamily="34" charset="-122"/>
                <a:ea typeface="Microsoft YaHei" panose="020B0503020204020204" pitchFamily="34" charset="-122"/>
              </a:rPr>
              <a:t>隐蔽性：</a:t>
            </a:r>
            <a:r>
              <a:rPr lang="zh-CN" altLang="en-US" sz="1200" b="0" i="0" kern="1200" dirty="0">
                <a:solidFill>
                  <a:schemeClr val="tx1"/>
                </a:solidFill>
                <a:latin typeface="+mn-lt"/>
                <a:ea typeface="+mn-ea"/>
                <a:cs typeface="+mn-cs"/>
              </a:rPr>
              <a:t>计算机病毒不易被发现，其往往以隐含文件或程序代码的方式存在，在普通的病毒查杀中，难以实现及时有效的查杀。病毒伪装成正常程序，计算机病毒扫描难以发现</a:t>
            </a:r>
            <a:endParaRPr kumimoji="1" lang="en-US" altLang="zh-CN" dirty="0">
              <a:ea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333333"/>
                </a:solidFill>
                <a:latin typeface="Microsoft YaHei" panose="020B0503020204020204" pitchFamily="34" charset="-122"/>
                <a:ea typeface="Microsoft YaHei" panose="020B0503020204020204" pitchFamily="34" charset="-122"/>
              </a:rPr>
              <a:t>衍生性：</a:t>
            </a:r>
            <a:r>
              <a:rPr lang="zh-CN" altLang="en-US" sz="1200" b="0" i="0" kern="1200" dirty="0">
                <a:solidFill>
                  <a:schemeClr val="tx1"/>
                </a:solidFill>
                <a:latin typeface="+mn-lt"/>
                <a:ea typeface="+mn-ea"/>
                <a:cs typeface="+mn-cs"/>
              </a:rPr>
              <a:t>一种不同于原版本的新的计算机病毒（又称为变种）。这就是计算机病毒的衍生性。这种变种病毒造成的后果可能比原版病毒严重得多</a:t>
            </a:r>
            <a:endParaRPr kumimoji="1" lang="en-US" altLang="zh-CN" dirty="0">
              <a:ea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333333"/>
                </a:solidFill>
                <a:latin typeface="Microsoft YaHei" panose="020B0503020204020204" pitchFamily="34" charset="-122"/>
                <a:ea typeface="Microsoft YaHei" panose="020B0503020204020204" pitchFamily="34" charset="-122"/>
              </a:rPr>
              <a:t>可执行性：</a:t>
            </a:r>
            <a:r>
              <a:rPr lang="zh-CN" altLang="en-US" dirty="0">
                <a:ea typeface="宋体" panose="02010600030101010101" pitchFamily="2" charset="-122"/>
              </a:rPr>
              <a:t>计算机病毒与其他合法程序一样</a:t>
            </a:r>
            <a:r>
              <a:rPr lang="en-US" altLang="zh-CN" dirty="0">
                <a:ea typeface="宋体" panose="02010600030101010101" pitchFamily="2" charset="-122"/>
              </a:rPr>
              <a:t>,</a:t>
            </a:r>
            <a:r>
              <a:rPr lang="zh-CN" altLang="en-US" dirty="0">
                <a:ea typeface="宋体" panose="02010600030101010101" pitchFamily="2" charset="-122"/>
              </a:rPr>
              <a:t>是一段可执行程序</a:t>
            </a:r>
            <a:r>
              <a:rPr lang="en-US" altLang="zh-CN" dirty="0">
                <a:ea typeface="宋体" panose="02010600030101010101" pitchFamily="2" charset="-122"/>
              </a:rPr>
              <a:t>,</a:t>
            </a:r>
            <a:r>
              <a:rPr lang="zh-CN" altLang="en-US" dirty="0">
                <a:ea typeface="宋体" panose="02010600030101010101" pitchFamily="2" charset="-122"/>
              </a:rPr>
              <a:t>但不是一个完整的程序</a:t>
            </a:r>
            <a:r>
              <a:rPr lang="en-US" altLang="zh-CN" dirty="0">
                <a:ea typeface="宋体" panose="02010600030101010101" pitchFamily="2" charset="-122"/>
              </a:rPr>
              <a:t>,</a:t>
            </a:r>
            <a:r>
              <a:rPr lang="zh-CN" altLang="en-US" dirty="0">
                <a:ea typeface="宋体" panose="02010600030101010101" pitchFamily="2" charset="-122"/>
              </a:rPr>
              <a:t>而是寄生在其他可执行程序中</a:t>
            </a:r>
            <a:r>
              <a:rPr lang="en-US" altLang="zh-CN" dirty="0">
                <a:ea typeface="宋体" panose="02010600030101010101" pitchFamily="2" charset="-122"/>
              </a:rPr>
              <a:t>.</a:t>
            </a:r>
            <a:r>
              <a:rPr lang="zh-CN" altLang="en-US" dirty="0">
                <a:ea typeface="宋体" panose="02010600030101010101" pitchFamily="2" charset="-122"/>
              </a:rPr>
              <a:t>只有当计算机病毒在计算机内运行的时候</a:t>
            </a:r>
            <a:r>
              <a:rPr lang="en-US" altLang="zh-CN" dirty="0">
                <a:ea typeface="宋体" panose="02010600030101010101" pitchFamily="2" charset="-122"/>
              </a:rPr>
              <a:t>,</a:t>
            </a:r>
            <a:r>
              <a:rPr lang="zh-CN" altLang="en-US" dirty="0">
                <a:ea typeface="宋体" panose="02010600030101010101" pitchFamily="2" charset="-122"/>
              </a:rPr>
              <a:t>它才具有传染性和破坏性</a:t>
            </a:r>
            <a:r>
              <a:rPr lang="en-US" altLang="zh-CN" dirty="0">
                <a:ea typeface="宋体" panose="02010600030101010101" pitchFamily="2" charset="-122"/>
              </a:rPr>
              <a:t>.</a:t>
            </a:r>
            <a:r>
              <a:rPr lang="zh-CN" altLang="en-US" dirty="0">
                <a:ea typeface="宋体" panose="02010600030101010101" pitchFamily="2" charset="-122"/>
              </a:rPr>
              <a:t>运行时与正常的程序争夺</a:t>
            </a:r>
            <a:r>
              <a:rPr lang="en-US" altLang="zh-CN" dirty="0">
                <a:ea typeface="宋体" panose="02010600030101010101" pitchFamily="2" charset="-122"/>
              </a:rPr>
              <a:t>CPU</a:t>
            </a:r>
            <a:r>
              <a:rPr lang="zh-CN" altLang="en-US" dirty="0">
                <a:ea typeface="宋体" panose="02010600030101010101" pitchFamily="2" charset="-122"/>
              </a:rPr>
              <a:t>的控制权</a:t>
            </a:r>
            <a:endParaRPr kumimoji="1" lang="zh-CN" altLang="en-US" dirty="0">
              <a:ea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333333"/>
                </a:solidFill>
                <a:latin typeface="Microsoft YaHei" panose="020B0503020204020204" pitchFamily="34" charset="-122"/>
                <a:ea typeface="Microsoft YaHei" panose="020B0503020204020204" pitchFamily="34" charset="-122"/>
              </a:rPr>
              <a:t>可触发性：</a:t>
            </a:r>
            <a:r>
              <a:rPr kumimoji="1" lang="zh-CN" altLang="en-US" dirty="0">
                <a:ea typeface="宋体" panose="02010600030101010101" pitchFamily="2" charset="-122"/>
              </a:rPr>
              <a:t>病毒因某个事件或数值的出现，诱使病毒实施感染或进行攻击的特性称为可触发性。病毒具有预定的触发条件，这些条件可能是时间、日期、文件类型或某些特定数据等</a:t>
            </a:r>
            <a:endParaRPr kumimoji="1" lang="en-US" altLang="zh-CN" dirty="0">
              <a:ea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solidFill>
                  <a:prstClr val="black"/>
                </a:solidFill>
                <a:latin typeface="Microsoft YaHei" panose="020B0503020204020204" pitchFamily="34" charset="-122"/>
                <a:ea typeface="Microsoft YaHei" panose="020B0503020204020204" pitchFamily="34" charset="-122"/>
              </a:rPr>
              <a:t>计算机病毒还具有寄生性、不可预见性、欺骗性、持久性等等</a:t>
            </a:r>
            <a:endParaRPr kumimoji="1" lang="en-US" altLang="zh-CN" sz="1200" dirty="0">
              <a:solidFill>
                <a:prstClr val="black"/>
              </a:solidFill>
              <a:latin typeface="Microsoft YaHei" panose="020B0503020204020204" pitchFamily="34" charset="-122"/>
              <a:ea typeface="Microsoft YaHei"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17</a:t>
            </a:fld>
            <a:endParaRPr kumimoji="1" lang="zh-CN" altLang="en-US"/>
          </a:p>
        </p:txBody>
      </p:sp>
    </p:spTree>
    <p:extLst>
      <p:ext uri="{BB962C8B-B14F-4D97-AF65-F5344CB8AC3E}">
        <p14:creationId xmlns:p14="http://schemas.microsoft.com/office/powerpoint/2010/main" val="2207425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kumimoji="1" lang="zh-CN" altLang="en-US" dirty="0"/>
              <a:t>计算机病毒的传播途径包括：</a:t>
            </a:r>
            <a:r>
              <a:rPr kumimoji="1" lang="en-US" altLang="zh-CN" dirty="0"/>
              <a:t>(</a:t>
            </a:r>
            <a:r>
              <a:rPr kumimoji="1" lang="zh-CN" altLang="en-US" dirty="0"/>
              <a:t>结合生活中实际场景介绍</a:t>
            </a:r>
            <a:r>
              <a:rPr kumimoji="1" lang="en-US" altLang="zh-CN" dirty="0"/>
              <a:t>)</a:t>
            </a: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dirty="0"/>
              <a:t>移动存储设备：</a:t>
            </a:r>
            <a:r>
              <a:rPr kumimoji="1" lang="en-US" altLang="zh-CN" dirty="0"/>
              <a:t>U</a:t>
            </a:r>
            <a:r>
              <a:rPr kumimoji="1" lang="zh-CN" altLang="en-US" dirty="0"/>
              <a:t>盘、移动硬盘、光盘、软盘等</a:t>
            </a:r>
            <a:endParaRPr kumimoji="1"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网络：电子邮件、文件下载、网页浏览、聊天通讯等</a:t>
            </a: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dirty="0"/>
              <a:t>计算机硬件设备：</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r>
              <a:rPr lang="en-US" sz="1200" b="0" i="0" kern="1200" dirty="0">
                <a:solidFill>
                  <a:schemeClr val="tx1"/>
                </a:solidFill>
                <a:latin typeface="+mn-lt"/>
                <a:ea typeface="+mn-ea"/>
                <a:cs typeface="+mn-cs"/>
              </a:rPr>
              <a:t>ASIC</a:t>
            </a:r>
            <a:r>
              <a:rPr lang="zh-CN" altLang="en-US" sz="1200" b="0" i="0" kern="1200" dirty="0">
                <a:solidFill>
                  <a:schemeClr val="tx1"/>
                </a:solidFill>
                <a:latin typeface="+mn-lt"/>
                <a:ea typeface="+mn-ea"/>
                <a:cs typeface="+mn-cs"/>
              </a:rPr>
              <a:t>是</a:t>
            </a:r>
            <a:r>
              <a:rPr lang="en-US" sz="1200" b="0" i="0" kern="1200" dirty="0">
                <a:solidFill>
                  <a:schemeClr val="tx1"/>
                </a:solidFill>
                <a:latin typeface="+mn-lt"/>
                <a:ea typeface="+mn-ea"/>
                <a:cs typeface="+mn-cs"/>
              </a:rPr>
              <a:t>Application Specific Integrated Circuit</a:t>
            </a:r>
            <a:r>
              <a:rPr lang="zh-CN" altLang="en-US" sz="1200" b="0" i="0" kern="1200" dirty="0">
                <a:solidFill>
                  <a:schemeClr val="tx1"/>
                </a:solidFill>
                <a:latin typeface="+mn-lt"/>
                <a:ea typeface="+mn-ea"/>
                <a:cs typeface="+mn-cs"/>
              </a:rPr>
              <a:t>的英文缩写，在集成电路界被认为是一种为专门目的而设计的集成电路。硬件芯片的重要性，融入思政元素</a:t>
            </a:r>
            <a:endParaRPr kumimoji="1" lang="zh-CN"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latin typeface="+mn-lt"/>
                <a:ea typeface="+mn-ea"/>
                <a:cs typeface="+mn-cs"/>
              </a:rPr>
              <a:t>ASIC</a:t>
            </a:r>
            <a:r>
              <a:rPr lang="zh-CN" altLang="en-US" sz="1200" b="0" i="0" kern="1200" dirty="0">
                <a:solidFill>
                  <a:schemeClr val="tx1"/>
                </a:solidFill>
                <a:latin typeface="+mn-lt"/>
                <a:ea typeface="+mn-ea"/>
                <a:cs typeface="+mn-cs"/>
              </a:rPr>
              <a:t>芯片技术发展迅速，目前</a:t>
            </a:r>
            <a:r>
              <a:rPr lang="en-US" altLang="zh-CN" sz="1200" b="0" i="0" kern="1200" dirty="0">
                <a:solidFill>
                  <a:schemeClr val="tx1"/>
                </a:solidFill>
                <a:latin typeface="+mn-lt"/>
                <a:ea typeface="+mn-ea"/>
                <a:cs typeface="+mn-cs"/>
              </a:rPr>
              <a:t>ASIC</a:t>
            </a:r>
            <a:r>
              <a:rPr lang="zh-CN" altLang="en-US" sz="1200" b="0" i="0" kern="1200" dirty="0">
                <a:solidFill>
                  <a:schemeClr val="tx1"/>
                </a:solidFill>
                <a:latin typeface="+mn-lt"/>
                <a:ea typeface="+mn-ea"/>
                <a:cs typeface="+mn-cs"/>
              </a:rPr>
              <a:t>芯片间的转发性能通常可达到</a:t>
            </a:r>
            <a:r>
              <a:rPr lang="en-US" altLang="zh-CN" sz="1200" b="0" i="0" kern="1200" dirty="0">
                <a:solidFill>
                  <a:schemeClr val="tx1"/>
                </a:solidFill>
                <a:latin typeface="+mn-lt"/>
                <a:ea typeface="+mn-ea"/>
                <a:cs typeface="+mn-cs"/>
              </a:rPr>
              <a:t>1Gbs</a:t>
            </a:r>
            <a:r>
              <a:rPr lang="zh-CN" altLang="en-US" sz="1200" b="0" i="0" kern="1200" dirty="0">
                <a:solidFill>
                  <a:schemeClr val="tx1"/>
                </a:solidFill>
                <a:latin typeface="+mn-lt"/>
                <a:ea typeface="+mn-ea"/>
                <a:cs typeface="+mn-cs"/>
              </a:rPr>
              <a:t>甚至更高，于是给交换矩阵提供了极好的物质基础。</a:t>
            </a:r>
            <a:endParaRPr lang="en-US" altLang="zh-CN" sz="1200" b="0" i="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latin typeface="+mn-lt"/>
                <a:ea typeface="+mn-ea"/>
                <a:cs typeface="+mn-cs"/>
              </a:rPr>
              <a:t>视频资源：</a:t>
            </a:r>
            <a:r>
              <a:rPr lang="en-US" altLang="zh-CN" sz="1200" b="0" i="0" kern="1200" dirty="0">
                <a:solidFill>
                  <a:schemeClr val="tx1"/>
                </a:solidFill>
                <a:latin typeface="+mn-lt"/>
                <a:ea typeface="+mn-ea"/>
                <a:cs typeface="+mn-cs"/>
              </a:rPr>
              <a:t>https://haokan.baidu.com/v?vid=4895651123318372953&amp;pd=bjh&amp;fr=bjhauthor&amp;type=video</a:t>
            </a: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dirty="0"/>
              <a:t>点对点通信系统和无线通道</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kumimoji="1" lang="zh-CN" altLang="en-US" dirty="0"/>
              <a:t>计算机病毒的分类</a:t>
            </a:r>
            <a:endParaRPr kumimoji="1"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按病毒存在的媒体：网络、文件、引导型</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latin typeface="+mn-lt"/>
                <a:ea typeface="+mn-ea"/>
                <a:cs typeface="+mn-cs"/>
              </a:rPr>
              <a:t>通过计算机网络感染可执行文件的计算机病毒</a:t>
            </a:r>
            <a:endParaRPr lang="en-US" altLang="zh-CN" sz="1200" b="0" i="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latin typeface="+mn-lt"/>
                <a:ea typeface="+mn-ea"/>
                <a:cs typeface="+mn-cs"/>
              </a:rPr>
              <a:t>主攻计算机内文件的病毒</a:t>
            </a:r>
            <a:endParaRPr lang="en-US" altLang="zh-CN" sz="1200" b="0" i="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latin typeface="+mn-lt"/>
                <a:ea typeface="+mn-ea"/>
                <a:cs typeface="+mn-cs"/>
              </a:rPr>
              <a:t>引导型病毒</a:t>
            </a:r>
            <a:r>
              <a:rPr lang="en-US" altLang="zh-CN" sz="1200" b="0" i="0" kern="1200" dirty="0">
                <a:solidFill>
                  <a:schemeClr val="tx1"/>
                </a:solidFill>
                <a:latin typeface="+mn-lt"/>
                <a:ea typeface="+mn-ea"/>
                <a:cs typeface="+mn-cs"/>
              </a:rPr>
              <a:t>:</a:t>
            </a:r>
            <a:r>
              <a:rPr lang="zh-CN" altLang="en-US" sz="1200" b="0" i="0" kern="1200" dirty="0">
                <a:solidFill>
                  <a:schemeClr val="tx1"/>
                </a:solidFill>
                <a:latin typeface="+mn-lt"/>
                <a:ea typeface="+mn-ea"/>
                <a:cs typeface="+mn-cs"/>
              </a:rPr>
              <a:t>是一种主攻感染驱动</a:t>
            </a:r>
            <a:r>
              <a:rPr lang="zh-CN" altLang="en-US" sz="1200" b="0" i="0" u="none" strike="noStrike" kern="1200" dirty="0">
                <a:solidFill>
                  <a:schemeClr val="tx1"/>
                </a:solidFill>
                <a:latin typeface="+mn-lt"/>
                <a:ea typeface="+mn-ea"/>
                <a:cs typeface="+mn-cs"/>
              </a:rPr>
              <a:t>扇区</a:t>
            </a:r>
            <a:r>
              <a:rPr lang="zh-CN" altLang="en-US" sz="1200" b="0" i="0" kern="1200" dirty="0">
                <a:solidFill>
                  <a:schemeClr val="tx1"/>
                </a:solidFill>
                <a:latin typeface="+mn-lt"/>
                <a:ea typeface="+mn-ea"/>
                <a:cs typeface="+mn-cs"/>
              </a:rPr>
              <a:t>和硬盘系统引导扇区的病毒</a:t>
            </a:r>
            <a:endParaRPr lang="en-US" altLang="zh-CN" sz="1200" b="0" i="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关于计算机病毒的</a:t>
            </a:r>
            <a:r>
              <a:rPr kumimoji="1" lang="zh-CN" altLang="en-US" dirty="0">
                <a:solidFill>
                  <a:srgbClr val="C00000"/>
                </a:solidFill>
              </a:rPr>
              <a:t>分类简单介绍，在课时允许的情况下可以扩展</a:t>
            </a:r>
            <a:endParaRPr kumimoji="1" lang="en-US" altLang="zh-CN" dirty="0">
              <a:solidFill>
                <a:srgbClr val="C0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18</a:t>
            </a:fld>
            <a:endParaRPr kumimoji="1" lang="zh-CN" altLang="en-US"/>
          </a:p>
        </p:txBody>
      </p:sp>
    </p:spTree>
    <p:extLst>
      <p:ext uri="{BB962C8B-B14F-4D97-AF65-F5344CB8AC3E}">
        <p14:creationId xmlns:p14="http://schemas.microsoft.com/office/powerpoint/2010/main" val="465907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kumimoji="1" lang="zh-CN" altLang="en-US" dirty="0"/>
              <a:t>计算机病毒工作流程：通过右图图示讲解计算机病毒工作流程，即病毒都需要感染宿主、潜伏以躲避查杀、繁殖（自我复制，与计算机病毒概念呼应）、触发（运行、破坏）</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这是计算机病毒所具有的共性，呼应后面讲解的计算机病毒查杀的行为监测技术</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kumimoji="1" lang="zh-CN" altLang="en-US" dirty="0"/>
              <a:t>计算机中毒的症状：可扩展一些计算机中毒的实例图片、动画等进行讲解，提高学生预防意识</a:t>
            </a: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21</a:t>
            </a:fld>
            <a:endParaRPr kumimoji="1" lang="zh-CN" altLang="en-US"/>
          </a:p>
        </p:txBody>
      </p:sp>
    </p:spTree>
    <p:extLst>
      <p:ext uri="{BB962C8B-B14F-4D97-AF65-F5344CB8AC3E}">
        <p14:creationId xmlns:p14="http://schemas.microsoft.com/office/powerpoint/2010/main" val="870823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26</a:t>
            </a:fld>
            <a:endParaRPr lang="zh-CN" altLang="en-US"/>
          </a:p>
        </p:txBody>
      </p:sp>
    </p:spTree>
    <p:extLst>
      <p:ext uri="{BB962C8B-B14F-4D97-AF65-F5344CB8AC3E}">
        <p14:creationId xmlns:p14="http://schemas.microsoft.com/office/powerpoint/2010/main" val="4149413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49</a:t>
            </a:fld>
            <a:endParaRPr lang="zh-CN" altLang="en-US"/>
          </a:p>
        </p:txBody>
      </p:sp>
    </p:spTree>
    <p:extLst>
      <p:ext uri="{BB962C8B-B14F-4D97-AF65-F5344CB8AC3E}">
        <p14:creationId xmlns:p14="http://schemas.microsoft.com/office/powerpoint/2010/main" val="3807127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55</a:t>
            </a:fld>
            <a:endParaRPr lang="zh-CN" altLang="en-US"/>
          </a:p>
        </p:txBody>
      </p:sp>
    </p:spTree>
    <p:extLst>
      <p:ext uri="{BB962C8B-B14F-4D97-AF65-F5344CB8AC3E}">
        <p14:creationId xmlns:p14="http://schemas.microsoft.com/office/powerpoint/2010/main" val="2027979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67</a:t>
            </a:fld>
            <a:endParaRPr lang="zh-CN" altLang="en-US"/>
          </a:p>
        </p:txBody>
      </p:sp>
    </p:spTree>
    <p:extLst>
      <p:ext uri="{BB962C8B-B14F-4D97-AF65-F5344CB8AC3E}">
        <p14:creationId xmlns:p14="http://schemas.microsoft.com/office/powerpoint/2010/main" val="3537500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75</a:t>
            </a:fld>
            <a:endParaRPr lang="zh-CN" altLang="en-US"/>
          </a:p>
        </p:txBody>
      </p:sp>
    </p:spTree>
    <p:extLst>
      <p:ext uri="{BB962C8B-B14F-4D97-AF65-F5344CB8AC3E}">
        <p14:creationId xmlns:p14="http://schemas.microsoft.com/office/powerpoint/2010/main" val="389473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蜜罐技术简介，图片展示的是传统的蜜罐，</a:t>
            </a:r>
            <a:r>
              <a:rPr lang="zh-CN" altLang="en-US" sz="1200" kern="1200" dirty="0">
                <a:solidFill>
                  <a:schemeClr val="tx1"/>
                </a:solidFill>
                <a:latin typeface="+mn-lt"/>
                <a:ea typeface="+mn-ea"/>
                <a:cs typeface="+mn-cs"/>
              </a:rPr>
              <a:t>是用来抓熊的。可以想象蜜罐的作用是通过伪装成“食物”引诱熊前来享用，最后猎人再将熊一举拿下。</a:t>
            </a:r>
            <a:endParaRPr lang="en-US" altLang="zh-CN" sz="1200" kern="1200" dirty="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蜜罐 技术本质上是一种对攻击方进行 欺骗的技术，通过布置一些作为 诱饵的主机、网络服务 或者 信息，诱使攻击方对它们实施攻击，从而可以对攻击行为进行 捕获 和 分析，了解攻击方所使用的工具与方法，推测攻击意图和动机，能够让防御方清晰地了解他们所面对的安全威胁，并通过技术和管理手段来增强实际系统的安全防护能力。</a:t>
            </a:r>
          </a:p>
          <a:p>
            <a:pPr marL="0" marR="0" lvl="1" indent="0" algn="l" defTabSz="914400" rtl="0" eaLnBrk="1" fontAlgn="auto" latinLnBrk="0" hangingPunct="1">
              <a:lnSpc>
                <a:spcPct val="100000"/>
              </a:lnSpc>
              <a:spcBef>
                <a:spcPts val="0"/>
              </a:spcBef>
              <a:spcAft>
                <a:spcPts val="0"/>
              </a:spcAft>
              <a:buClrTx/>
              <a:buSzTx/>
              <a:buFontTx/>
              <a:buNone/>
              <a:tabLst/>
              <a:defRPr/>
            </a:pPr>
            <a:endParaRPr lang="zh-CN" altLang="en-US" sz="1200" kern="1200" dirty="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蜜罐 好比是 情报收集系统。蜜罐好像是故意让人攻击的目标，引诱黑客前来攻击。所以攻击者入侵后，你就可以知道他是如何得逞的，随时了解针对服务器发动的最新的攻击和漏洞。还可以通过窃听黑客之间的联系，收集黑客所用的种种工具，并且掌握他们的社交网络。</a:t>
            </a:r>
            <a:endParaRPr lang="en-US" altLang="zh-CN" sz="1200" kern="1200" dirty="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蜜罐按用途和按交互方式可以如下分类。（可分别展开介绍）</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95</a:t>
            </a:fld>
            <a:endParaRPr kumimoji="1" lang="zh-CN" altLang="en-US"/>
          </a:p>
        </p:txBody>
      </p:sp>
    </p:spTree>
    <p:extLst>
      <p:ext uri="{BB962C8B-B14F-4D97-AF65-F5344CB8AC3E}">
        <p14:creationId xmlns:p14="http://schemas.microsoft.com/office/powerpoint/2010/main" val="2690549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100</a:t>
            </a:fld>
            <a:endParaRPr lang="zh-CN" altLang="en-US"/>
          </a:p>
        </p:txBody>
      </p:sp>
    </p:spTree>
    <p:extLst>
      <p:ext uri="{BB962C8B-B14F-4D97-AF65-F5344CB8AC3E}">
        <p14:creationId xmlns:p14="http://schemas.microsoft.com/office/powerpoint/2010/main" val="3076962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105</a:t>
            </a:fld>
            <a:endParaRPr lang="zh-CN" altLang="en-US"/>
          </a:p>
        </p:txBody>
      </p:sp>
    </p:spTree>
    <p:extLst>
      <p:ext uri="{BB962C8B-B14F-4D97-AF65-F5344CB8AC3E}">
        <p14:creationId xmlns:p14="http://schemas.microsoft.com/office/powerpoint/2010/main" val="1268600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dirty="0"/>
              <a:t>入侵检测系统的架构如图所示。</a:t>
            </a:r>
            <a:endParaRPr kumimoji="1" lang="en-US" altLang="zh-CN" dirty="0"/>
          </a:p>
          <a:p>
            <a:r>
              <a:rPr lang="zh-CN" altLang="en-US" dirty="0"/>
              <a:t>（结合</a:t>
            </a:r>
            <a:r>
              <a:rPr lang="en-US" altLang="zh-CN" dirty="0"/>
              <a:t>IDS</a:t>
            </a:r>
            <a:r>
              <a:rPr lang="zh-CN" altLang="en-US" dirty="0"/>
              <a:t>的架构图对四个部分进行展开讲解）</a:t>
            </a:r>
            <a:endParaRPr lang="en-US" altLang="zh-CN" dirty="0"/>
          </a:p>
          <a:p>
            <a:r>
              <a:rPr lang="en-US" altLang="zh-CN" dirty="0"/>
              <a:t>1.</a:t>
            </a:r>
            <a:r>
              <a:rPr lang="zh-CN" altLang="en-US" b="0" i="0" dirty="0">
                <a:solidFill>
                  <a:srgbClr val="333333"/>
                </a:solidFill>
                <a:effectLst/>
                <a:latin typeface="-apple-system"/>
              </a:rPr>
              <a:t>事件产生器</a:t>
            </a:r>
            <a:endParaRPr lang="en-US" altLang="zh-CN" b="0" i="0" dirty="0">
              <a:solidFill>
                <a:srgbClr val="333333"/>
              </a:solidFill>
              <a:effectLst/>
              <a:latin typeface="-apple-system"/>
            </a:endParaRPr>
          </a:p>
          <a:p>
            <a:r>
              <a:rPr lang="en-US" altLang="zh-CN" b="0" i="0" dirty="0">
                <a:solidFill>
                  <a:srgbClr val="333333"/>
                </a:solidFill>
                <a:effectLst/>
                <a:latin typeface="-apple-system"/>
              </a:rPr>
              <a:t>2.</a:t>
            </a:r>
            <a:r>
              <a:rPr lang="zh-CN" altLang="en-US" b="0" i="0" dirty="0">
                <a:solidFill>
                  <a:srgbClr val="333333"/>
                </a:solidFill>
                <a:effectLst/>
                <a:latin typeface="-apple-system"/>
              </a:rPr>
              <a:t>事件分析器</a:t>
            </a:r>
            <a:endParaRPr lang="en-US" altLang="zh-CN" b="0" i="0" dirty="0">
              <a:solidFill>
                <a:srgbClr val="333333"/>
              </a:solidFill>
              <a:effectLst/>
              <a:latin typeface="-apple-system"/>
            </a:endParaRPr>
          </a:p>
          <a:p>
            <a:r>
              <a:rPr lang="en-US" altLang="zh-CN" b="0" i="0" dirty="0">
                <a:solidFill>
                  <a:srgbClr val="333333"/>
                </a:solidFill>
                <a:effectLst/>
                <a:latin typeface="-apple-system"/>
              </a:rPr>
              <a:t>3.</a:t>
            </a:r>
            <a:r>
              <a:rPr lang="zh-CN" altLang="en-US" b="0" i="0" dirty="0">
                <a:solidFill>
                  <a:srgbClr val="333333"/>
                </a:solidFill>
                <a:effectLst/>
                <a:latin typeface="-apple-system"/>
              </a:rPr>
              <a:t>响应单元</a:t>
            </a:r>
            <a:endParaRPr lang="en-US" altLang="zh-CN" b="0" i="0" dirty="0">
              <a:solidFill>
                <a:srgbClr val="333333"/>
              </a:solidFill>
              <a:effectLst/>
              <a:latin typeface="-apple-system"/>
            </a:endParaRPr>
          </a:p>
          <a:p>
            <a:r>
              <a:rPr lang="en-US" altLang="zh-CN" b="0" i="0" dirty="0">
                <a:solidFill>
                  <a:srgbClr val="333333"/>
                </a:solidFill>
                <a:effectLst/>
                <a:latin typeface="-apple-system"/>
              </a:rPr>
              <a:t>4.</a:t>
            </a:r>
            <a:r>
              <a:rPr lang="zh-CN" altLang="en-US" b="0" i="0" dirty="0">
                <a:solidFill>
                  <a:srgbClr val="333333"/>
                </a:solidFill>
                <a:effectLst/>
                <a:latin typeface="-apple-system"/>
              </a:rPr>
              <a:t>事件数据库</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122</a:t>
            </a:fld>
            <a:endParaRPr kumimoji="1" lang="zh-CN" altLang="en-US"/>
          </a:p>
        </p:txBody>
      </p:sp>
    </p:spTree>
    <p:extLst>
      <p:ext uri="{BB962C8B-B14F-4D97-AF65-F5344CB8AC3E}">
        <p14:creationId xmlns:p14="http://schemas.microsoft.com/office/powerpoint/2010/main" val="1661076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r>
              <a:rPr lang="zh-CN" altLang="en-US" dirty="0"/>
              <a:t>（讲解</a:t>
            </a:r>
            <a:r>
              <a:rPr kumimoji="1" lang="zh-CN" altLang="en-US" dirty="0"/>
              <a:t>入侵检测系统的工作流程，并对分析引擎所采用的两种主要技术通过对比的方式进行讲解）</a:t>
            </a:r>
            <a:endParaRPr kumimoji="1"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dirty="0"/>
              <a:t>现在介绍入侵检测系统的工作流程</a:t>
            </a:r>
          </a:p>
          <a:p>
            <a:pPr marL="0" marR="0" lvl="1"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kumimoji="1" lang="en-US" altLang="zh-CN" sz="1200" kern="1200" dirty="0">
                <a:solidFill>
                  <a:schemeClr val="tx1"/>
                </a:solidFill>
                <a:latin typeface="+mn-lt"/>
                <a:ea typeface="+mn-ea"/>
                <a:cs typeface="+mn-cs"/>
                <a:sym typeface="+mn-ea"/>
              </a:rPr>
              <a:t>1.</a:t>
            </a:r>
            <a:r>
              <a:rPr kumimoji="1" lang="zh-CN" altLang="en-US" sz="1200" kern="1200" dirty="0">
                <a:solidFill>
                  <a:schemeClr val="tx1"/>
                </a:solidFill>
                <a:latin typeface="+mn-lt"/>
                <a:ea typeface="+mn-ea"/>
                <a:cs typeface="+mn-cs"/>
                <a:sym typeface="+mn-ea"/>
              </a:rPr>
              <a:t>信息收集</a:t>
            </a:r>
            <a:endParaRPr kumimoji="1" lang="en-US" altLang="zh-CN" sz="1200" kern="1200" dirty="0">
              <a:solidFill>
                <a:schemeClr val="tx1"/>
              </a:solidFill>
              <a:latin typeface="+mn-lt"/>
              <a:ea typeface="+mn-ea"/>
              <a:cs typeface="+mn-cs"/>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sz="1200" kern="1200" dirty="0">
                <a:solidFill>
                  <a:schemeClr val="tx1"/>
                </a:solidFill>
                <a:latin typeface="+mn-lt"/>
                <a:ea typeface="+mn-ea"/>
                <a:cs typeface="+mn-cs"/>
                <a:sym typeface="+mn-ea"/>
              </a:rPr>
              <a:t>入侵检测的第一步，内容包括系统、网络、数据及用户活动的状态和行为。</a:t>
            </a:r>
            <a:r>
              <a:rPr lang="zh-CN" altLang="en-US" dirty="0">
                <a:ea typeface="宋体" panose="02010600030101010101" pitchFamily="2" charset="-122"/>
                <a:sym typeface="+mn-ea"/>
              </a:rPr>
              <a:t>需要在计算机网络系统中的若干不同关键点（不同网段和不同主机）收集信息。入侵检测很大程度上依赖于收集信息的可靠性和正确性。</a:t>
            </a:r>
            <a:endParaRPr lang="en-US" altLang="zh-CN" dirty="0">
              <a:ea typeface="宋体" panose="02010600030101010101" pitchFamily="2" charset="-122"/>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en-US" altLang="zh-CN" sz="1200" kern="1200" dirty="0">
                <a:solidFill>
                  <a:schemeClr val="tx1"/>
                </a:solidFill>
                <a:latin typeface="+mn-lt"/>
                <a:ea typeface="宋体" panose="02010600030101010101" pitchFamily="2" charset="-122"/>
                <a:cs typeface="+mn-cs"/>
                <a:sym typeface="+mn-ea"/>
              </a:rPr>
              <a:t>2.</a:t>
            </a:r>
            <a:r>
              <a:rPr kumimoji="1" lang="zh-CN" altLang="en-US" sz="1200" kern="1200" dirty="0">
                <a:solidFill>
                  <a:schemeClr val="tx1"/>
                </a:solidFill>
                <a:latin typeface="+mn-lt"/>
                <a:ea typeface="宋体" panose="02010600030101010101" pitchFamily="2" charset="-122"/>
                <a:cs typeface="+mn-cs"/>
                <a:sym typeface="+mn-ea"/>
              </a:rPr>
              <a:t>入侵分析</a:t>
            </a:r>
            <a:endParaRPr kumimoji="1" lang="en-US" altLang="zh-CN" sz="1200" kern="1200" dirty="0">
              <a:solidFill>
                <a:schemeClr val="tx1"/>
              </a:solidFill>
              <a:latin typeface="+mn-lt"/>
              <a:ea typeface="宋体" panose="02010600030101010101" pitchFamily="2" charset="-122"/>
              <a:cs typeface="+mn-cs"/>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sz="1200" kern="1200" dirty="0">
                <a:solidFill>
                  <a:schemeClr val="tx1"/>
                </a:solidFill>
                <a:latin typeface="+mn-lt"/>
                <a:ea typeface="宋体" panose="02010600030101010101" pitchFamily="2" charset="-122"/>
                <a:cs typeface="+mn-cs"/>
                <a:sym typeface="+mn-ea"/>
              </a:rPr>
              <a:t>需要将误报率和漏报率两个关键指标先讲解让学生能够理解</a:t>
            </a:r>
            <a:endParaRPr kumimoji="1" lang="en-US" altLang="zh-CN" sz="1200" kern="1200" dirty="0">
              <a:solidFill>
                <a:schemeClr val="tx1"/>
              </a:solidFill>
              <a:latin typeface="+mn-lt"/>
              <a:ea typeface="宋体" panose="02010600030101010101" pitchFamily="2" charset="-122"/>
              <a:cs typeface="+mn-cs"/>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sz="1200" kern="1200" dirty="0">
                <a:solidFill>
                  <a:schemeClr val="tx1"/>
                </a:solidFill>
                <a:latin typeface="+mn-lt"/>
                <a:ea typeface="宋体" panose="02010600030101010101" pitchFamily="2" charset="-122"/>
                <a:cs typeface="+mn-cs"/>
                <a:sym typeface="+mn-ea"/>
              </a:rPr>
              <a:t>误报：</a:t>
            </a:r>
            <a:r>
              <a:rPr lang="zh-CN" altLang="en-US" u="none" dirty="0">
                <a:ea typeface="宋体" panose="02010600030101010101" pitchFamily="2" charset="-122"/>
                <a:sym typeface="+mn-ea"/>
              </a:rPr>
              <a:t>系统错误地将异常活动定义为入侵</a:t>
            </a:r>
            <a:endParaRPr lang="en-US" altLang="zh-CN" u="none" dirty="0">
              <a:ea typeface="宋体" panose="02010600030101010101" pitchFamily="2" charset="-122"/>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u="none" dirty="0">
                <a:ea typeface="宋体" panose="02010600030101010101" pitchFamily="2" charset="-122"/>
                <a:sym typeface="+mn-ea"/>
              </a:rPr>
              <a:t>漏报：系统未能检测出真正的入侵行为</a:t>
            </a:r>
            <a:endParaRPr kumimoji="1" lang="en-US" altLang="zh-CN" sz="1200" u="none" kern="1200" dirty="0">
              <a:solidFill>
                <a:schemeClr val="tx1"/>
              </a:solidFill>
              <a:latin typeface="+mn-lt"/>
              <a:ea typeface="宋体" panose="02010600030101010101" pitchFamily="2" charset="-122"/>
              <a:cs typeface="+mn-cs"/>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sz="1200" kern="1200" dirty="0">
                <a:solidFill>
                  <a:schemeClr val="tx1"/>
                </a:solidFill>
                <a:latin typeface="+mn-lt"/>
                <a:ea typeface="宋体" panose="02010600030101010101" pitchFamily="2" charset="-122"/>
                <a:cs typeface="+mn-cs"/>
                <a:sym typeface="+mn-ea"/>
              </a:rPr>
              <a:t>（</a:t>
            </a:r>
            <a:r>
              <a:rPr kumimoji="1" lang="en-US" altLang="zh-CN" sz="1200" kern="1200" dirty="0">
                <a:solidFill>
                  <a:schemeClr val="tx1"/>
                </a:solidFill>
                <a:latin typeface="+mn-lt"/>
                <a:ea typeface="宋体" panose="02010600030101010101" pitchFamily="2" charset="-122"/>
                <a:cs typeface="+mn-cs"/>
                <a:sym typeface="+mn-ea"/>
              </a:rPr>
              <a:t>1</a:t>
            </a:r>
            <a:r>
              <a:rPr kumimoji="1" lang="zh-CN" altLang="en-US" sz="1200" kern="1200" dirty="0">
                <a:solidFill>
                  <a:schemeClr val="tx1"/>
                </a:solidFill>
                <a:latin typeface="+mn-lt"/>
                <a:ea typeface="宋体" panose="02010600030101010101" pitchFamily="2" charset="-122"/>
                <a:cs typeface="+mn-cs"/>
                <a:sym typeface="+mn-ea"/>
              </a:rPr>
              <a:t>）误用检测</a:t>
            </a:r>
            <a:endParaRPr kumimoji="1" lang="en-US" altLang="zh-CN" sz="1200" kern="1200" dirty="0">
              <a:solidFill>
                <a:schemeClr val="tx1"/>
              </a:solidFill>
              <a:latin typeface="+mn-lt"/>
              <a:ea typeface="宋体" panose="02010600030101010101" pitchFamily="2" charset="-122"/>
              <a:cs typeface="+mn-cs"/>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dk1"/>
                </a:solidFill>
                <a:latin typeface="微软雅黑" pitchFamily="34" charset="-122"/>
                <a:ea typeface="微软雅黑" pitchFamily="34" charset="-122"/>
                <a:cs typeface="+mn-cs"/>
              </a:rPr>
              <a:t>基于模式匹配，</a:t>
            </a:r>
            <a:r>
              <a:rPr lang="zh-CN" altLang="en-US" dirty="0">
                <a:ea typeface="宋体" panose="02010600030101010101" pitchFamily="2" charset="-122"/>
                <a:sym typeface="+mn-ea"/>
              </a:rPr>
              <a:t>将收集到的信息与已知的网络入侵和系统误用模式数据库进行比较，从而发现违背安全策略的行为。</a:t>
            </a:r>
            <a:endParaRPr lang="en-US" altLang="zh-CN" dirty="0">
              <a:ea typeface="宋体" panose="02010600030101010101" pitchFamily="2" charset="-122"/>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ea typeface="宋体" panose="02010600030101010101" pitchFamily="2" charset="-122"/>
                <a:sym typeface="+mn-ea"/>
              </a:rPr>
              <a:t>只需收集相关的数据集合，显著减少系统负担，且技术已相当成熟</a:t>
            </a:r>
            <a:endParaRPr lang="en-US" altLang="zh-CN" dirty="0">
              <a:ea typeface="宋体" panose="02010600030101010101" pitchFamily="2" charset="-122"/>
              <a:sym typeface="+mn-ea"/>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ea typeface="宋体" panose="02010600030101010101" pitchFamily="2" charset="-122"/>
                <a:sym typeface="+mn-ea"/>
              </a:rPr>
              <a:t>需要不断的升级以对付不断出现的黑客攻击手法，不能检测到从未出现过的黑客攻击手段</a:t>
            </a:r>
            <a:endParaRPr kumimoji="1" lang="zh-CN" altLang="en-US" sz="1200" kern="1200" dirty="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1" lang="zh-CN" altLang="en-US" dirty="0"/>
              <a:t>（</a:t>
            </a:r>
            <a:r>
              <a:rPr kumimoji="1" lang="en-US" altLang="zh-CN" dirty="0"/>
              <a:t>2</a:t>
            </a:r>
            <a:r>
              <a:rPr kumimoji="1" lang="zh-CN" altLang="en-US" dirty="0"/>
              <a:t>）异常检测</a:t>
            </a:r>
            <a:endParaRPr kumimoji="1"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基于统计分析原理。首先总结正常操作应该具有的特征（用户轮廓），试图用定量的方式加以描述，当用户活动与正常行为有重大偏离时即被认为是入侵。</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异常检测系统的效率取决于用户轮廓的完备性和监控的频率</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系统能针对用户行为的改变进行自我调整和优化，但随着检测模型的逐步精确，异常检测会消耗更多的系统资源</a:t>
            </a:r>
          </a:p>
          <a:p>
            <a:pPr marL="0" marR="0" lvl="1"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123</a:t>
            </a:fld>
            <a:endParaRPr kumimoji="1" lang="zh-CN" altLang="en-US"/>
          </a:p>
        </p:txBody>
      </p:sp>
    </p:spTree>
    <p:extLst>
      <p:ext uri="{BB962C8B-B14F-4D97-AF65-F5344CB8AC3E}">
        <p14:creationId xmlns:p14="http://schemas.microsoft.com/office/powerpoint/2010/main" val="30464546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a:t>
            </a:r>
            <a:r>
              <a:rPr lang="zh-CN" altLang="en-US" dirty="0"/>
              <a:t>讲解脚本</a:t>
            </a:r>
            <a:r>
              <a:rPr lang="en-US" altLang="zh-CN" dirty="0"/>
              <a:t>】</a:t>
            </a:r>
          </a:p>
          <a:p>
            <a:r>
              <a:rPr lang="zh-CN" altLang="en-US" dirty="0"/>
              <a:t>我们来总结一下入侵检测和防火墙技术的特点。</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（小结，将</a:t>
            </a:r>
            <a:r>
              <a:rPr kumimoji="1" lang="en-US" altLang="zh-CN" dirty="0"/>
              <a:t>IDS</a:t>
            </a:r>
            <a:r>
              <a:rPr kumimoji="1" lang="zh-CN" altLang="en-US" dirty="0"/>
              <a:t>、</a:t>
            </a:r>
            <a:r>
              <a:rPr kumimoji="1" lang="en-US" altLang="zh-CN" dirty="0"/>
              <a:t>IPS</a:t>
            </a:r>
            <a:r>
              <a:rPr kumimoji="1" lang="zh-CN" altLang="en-US" dirty="0"/>
              <a:t>、</a:t>
            </a:r>
            <a:r>
              <a:rPr kumimoji="1" lang="en-US" altLang="zh-CN" dirty="0"/>
              <a:t>FW</a:t>
            </a:r>
            <a:r>
              <a:rPr kumimoji="1" lang="zh-CN" altLang="en-US" dirty="0"/>
              <a:t>、</a:t>
            </a:r>
            <a:r>
              <a:rPr kumimoji="1" lang="en-US" altLang="zh-CN" dirty="0"/>
              <a:t>WAF</a:t>
            </a:r>
            <a:r>
              <a:rPr kumimoji="1" lang="zh-CN" altLang="en-US" dirty="0"/>
              <a:t>以对比的方式进行讲解，让学生对防火墙和入侵检测系统以及其发展等内容整体上有一个比较清晰的认识</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其中</a:t>
            </a:r>
            <a:r>
              <a:rPr kumimoji="1" lang="en-US" altLang="zh-CN" sz="1200" kern="1200" dirty="0">
                <a:solidFill>
                  <a:schemeClr val="tx1"/>
                </a:solidFill>
                <a:latin typeface="+mn-lt"/>
                <a:ea typeface="+mn-ea"/>
                <a:cs typeface="+mn-cs"/>
                <a:sym typeface="+mn-ea"/>
              </a:rPr>
              <a:t>WAF</a:t>
            </a:r>
            <a:r>
              <a:rPr kumimoji="1" lang="zh-CN" altLang="en-US" sz="1200" kern="1200" dirty="0">
                <a:solidFill>
                  <a:schemeClr val="tx1"/>
                </a:solidFill>
                <a:latin typeface="+mn-lt"/>
                <a:ea typeface="+mn-ea"/>
                <a:cs typeface="+mn-cs"/>
                <a:sym typeface="+mn-ea"/>
              </a:rPr>
              <a:t>部分内容可参见</a:t>
            </a:r>
            <a:r>
              <a:rPr kumimoji="1" lang="en-US" altLang="zh-CN" sz="1200" kern="1200" dirty="0">
                <a:solidFill>
                  <a:schemeClr val="tx1"/>
                </a:solidFill>
                <a:latin typeface="+mn-lt"/>
                <a:ea typeface="+mn-ea"/>
                <a:cs typeface="+mn-cs"/>
                <a:sym typeface="+mn-ea"/>
              </a:rPr>
              <a:t>8.5 </a:t>
            </a:r>
            <a:r>
              <a:rPr lang="en-US" altLang="zh-CN" sz="1200" dirty="0"/>
              <a:t>Web</a:t>
            </a:r>
            <a:r>
              <a:rPr lang="zh-CN" altLang="en-US" sz="1200" dirty="0"/>
              <a:t>安全，此处不再详细展开</a:t>
            </a:r>
            <a:r>
              <a:rPr lang="en-US" altLang="zh-CN" sz="1200" dirty="0"/>
              <a:t>)</a:t>
            </a:r>
            <a:endParaRPr kumimoji="1" lang="en-US" altLang="zh-CN" sz="1200" kern="1200" dirty="0">
              <a:solidFill>
                <a:schemeClr val="tx1"/>
              </a:solidFill>
              <a:latin typeface="+mn-lt"/>
              <a:ea typeface="+mn-ea"/>
              <a:cs typeface="+mn-cs"/>
              <a:sym typeface="+mn-ea"/>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124</a:t>
            </a:fld>
            <a:endParaRPr kumimoji="1" lang="zh-CN" altLang="en-US"/>
          </a:p>
        </p:txBody>
      </p:sp>
    </p:spTree>
    <p:extLst>
      <p:ext uri="{BB962C8B-B14F-4D97-AF65-F5344CB8AC3E}">
        <p14:creationId xmlns:p14="http://schemas.microsoft.com/office/powerpoint/2010/main" val="3482325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r>
              <a:rPr lang="en-US" altLang="zh-CN" sz="1200" dirty="0"/>
              <a:t>(</a:t>
            </a:r>
            <a:r>
              <a:rPr lang="zh-CN" altLang="en-US" sz="1200" dirty="0"/>
              <a:t>在介绍完</a:t>
            </a:r>
            <a:r>
              <a:rPr lang="en-US" altLang="zh-CN" sz="1200" dirty="0"/>
              <a:t>IDS</a:t>
            </a:r>
            <a:r>
              <a:rPr lang="zh-CN" altLang="en-US" sz="1200" dirty="0"/>
              <a:t>基本理论知识后，通过一个实例来加深学生对于</a:t>
            </a:r>
            <a:r>
              <a:rPr lang="en-US" altLang="zh-CN" sz="1200" dirty="0"/>
              <a:t>IDS</a:t>
            </a:r>
            <a:r>
              <a:rPr lang="zh-CN" altLang="en-US" sz="1200" dirty="0"/>
              <a:t>的认识，增加实践环节与理论相结合</a:t>
            </a:r>
            <a:r>
              <a:rPr lang="en-US" altLang="zh-CN" sz="1200" dirty="0"/>
              <a:t>)</a:t>
            </a:r>
          </a:p>
          <a:p>
            <a:r>
              <a:rPr lang="zh-CN" altLang="en-US" dirty="0"/>
              <a:t>市面上有很多入侵检测软件，这里展示一个开源</a:t>
            </a:r>
            <a:r>
              <a:rPr lang="en-US" altLang="zh-CN" dirty="0"/>
              <a:t>IDS</a:t>
            </a:r>
            <a:r>
              <a:rPr lang="zh-CN" altLang="en-US" dirty="0"/>
              <a:t>的排序图，我们可以看到</a:t>
            </a:r>
            <a:r>
              <a:rPr lang="en-US" altLang="zh-CN" dirty="0"/>
              <a:t>snort</a:t>
            </a:r>
            <a:r>
              <a:rPr lang="zh-CN" altLang="en-US" dirty="0"/>
              <a:t>占据第一。</a:t>
            </a:r>
            <a:endParaRPr lang="en-US" altLang="zh-CN" dirty="0"/>
          </a:p>
          <a:p>
            <a:r>
              <a:rPr lang="zh-CN" altLang="en-US" dirty="0"/>
              <a:t>（然后图示隐藏，配合文字从</a:t>
            </a:r>
            <a:r>
              <a:rPr lang="en-US" altLang="zh-CN" dirty="0"/>
              <a:t>snort</a:t>
            </a:r>
            <a:r>
              <a:rPr lang="zh-CN" altLang="en-US" dirty="0"/>
              <a:t>的性质、功能、开源资源等方面进行介绍）</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125</a:t>
            </a:fld>
            <a:endParaRPr kumimoji="1" lang="zh-CN" altLang="en-US"/>
          </a:p>
        </p:txBody>
      </p:sp>
    </p:spTree>
    <p:extLst>
      <p:ext uri="{BB962C8B-B14F-4D97-AF65-F5344CB8AC3E}">
        <p14:creationId xmlns:p14="http://schemas.microsoft.com/office/powerpoint/2010/main" val="35091564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r>
              <a:rPr lang="zh-CN" altLang="en-US" dirty="0"/>
              <a:t>（结合</a:t>
            </a:r>
            <a:r>
              <a:rPr lang="en-US" altLang="zh-CN" dirty="0"/>
              <a:t>snort</a:t>
            </a:r>
            <a:r>
              <a:rPr lang="zh-CN" altLang="en-US" dirty="0"/>
              <a:t>的体系结构图进行讲解）</a:t>
            </a:r>
            <a:endParaRPr lang="en-US" altLang="zh-CN" dirty="0"/>
          </a:p>
          <a:p>
            <a:r>
              <a:rPr lang="zh-CN" altLang="en-US" dirty="0"/>
              <a:t>四个注释动画按照结构图</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个环节进行展开介绍</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endParaRPr lang="en-US" altLang="zh-CN" dirty="0"/>
          </a:p>
          <a:p>
            <a:r>
              <a:rPr lang="zh-CN" altLang="en-US" dirty="0"/>
              <a:t>其中核心检测引擎中</a:t>
            </a:r>
            <a:r>
              <a:rPr lang="en-US" altLang="zh-CN" dirty="0"/>
              <a:t>snort</a:t>
            </a:r>
            <a:r>
              <a:rPr lang="zh-CN" altLang="en-US" dirty="0"/>
              <a:t>的规则库比较重要，可结合上课情况展开并附上实例</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126</a:t>
            </a:fld>
            <a:endParaRPr kumimoji="1" lang="zh-CN" altLang="en-US"/>
          </a:p>
        </p:txBody>
      </p:sp>
    </p:spTree>
    <p:extLst>
      <p:ext uri="{BB962C8B-B14F-4D97-AF65-F5344CB8AC3E}">
        <p14:creationId xmlns:p14="http://schemas.microsoft.com/office/powerpoint/2010/main" val="3082348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endParaRPr lang="en-US" altLang="zh-CN" sz="1200" b="0" i="0" kern="1200" dirty="0">
              <a:solidFill>
                <a:schemeClr val="tx1"/>
              </a:solidFill>
              <a:latin typeface="+mn-lt"/>
              <a:ea typeface="+mn-ea"/>
              <a:cs typeface="+mn-cs"/>
            </a:endParaRPr>
          </a:p>
          <a:p>
            <a:r>
              <a:rPr lang="en-US" altLang="zh-CN" sz="1200" b="0" i="0" kern="1200" dirty="0">
                <a:solidFill>
                  <a:schemeClr val="tx1"/>
                </a:solidFill>
                <a:latin typeface="+mn-lt"/>
                <a:ea typeface="+mn-ea"/>
                <a:cs typeface="+mn-cs"/>
              </a:rPr>
              <a:t>1.</a:t>
            </a:r>
            <a:r>
              <a:rPr lang="zh-CN" altLang="en-US" sz="1200" b="0" i="0" kern="1200" dirty="0">
                <a:solidFill>
                  <a:schemeClr val="tx1"/>
                </a:solidFill>
                <a:latin typeface="+mn-lt"/>
                <a:ea typeface="+mn-ea"/>
                <a:cs typeface="+mn-cs"/>
              </a:rPr>
              <a:t>沙盒概念简介</a:t>
            </a:r>
            <a:r>
              <a:rPr lang="en-US" altLang="zh-CN" sz="1200" b="0" i="0" kern="1200" dirty="0">
                <a:solidFill>
                  <a:schemeClr val="tx1"/>
                </a:solidFill>
                <a:latin typeface="+mn-lt"/>
                <a:ea typeface="+mn-ea"/>
                <a:cs typeface="+mn-cs"/>
              </a:rPr>
              <a:t>:</a:t>
            </a:r>
            <a:r>
              <a:rPr lang="zh-CN" altLang="en-US" dirty="0"/>
              <a:t>沙盒就是为程序提供一个</a:t>
            </a:r>
            <a:r>
              <a:rPr lang="zh-CN" altLang="en-US" dirty="0">
                <a:solidFill>
                  <a:srgbClr val="C00000"/>
                </a:solidFill>
              </a:rPr>
              <a:t>虚拟化</a:t>
            </a:r>
            <a:r>
              <a:rPr lang="zh-CN" altLang="en-US" dirty="0"/>
              <a:t>环境，也就是</a:t>
            </a:r>
            <a:r>
              <a:rPr lang="zh-CN" altLang="en-US" dirty="0">
                <a:solidFill>
                  <a:srgbClr val="C00000"/>
                </a:solidFill>
              </a:rPr>
              <a:t>隔离</a:t>
            </a:r>
            <a:r>
              <a:rPr lang="zh-CN" altLang="en-US" dirty="0"/>
              <a:t>环境，并保证程序所有操作都在这个隔离环境内。打个比方，</a:t>
            </a:r>
            <a:r>
              <a:rPr lang="zh-CN" altLang="en-US" sz="1200" b="0" i="0" kern="1200" dirty="0">
                <a:solidFill>
                  <a:schemeClr val="tx1"/>
                </a:solidFill>
                <a:latin typeface="+mn-lt"/>
                <a:ea typeface="+mn-ea"/>
                <a:cs typeface="+mn-cs"/>
              </a:rPr>
              <a:t>电脑就像一张纸，程序的运行与改动，从外面看，比如从攻击者的角度，就像将字写在纸上。而</a:t>
            </a:r>
            <a:r>
              <a:rPr lang="en-US" altLang="zh-CN" sz="1200" b="0" i="0" kern="1200" dirty="0">
                <a:solidFill>
                  <a:schemeClr val="tx1"/>
                </a:solidFill>
                <a:latin typeface="+mn-lt"/>
                <a:ea typeface="+mn-ea"/>
                <a:cs typeface="+mn-cs"/>
              </a:rPr>
              <a:t>Sandbox</a:t>
            </a:r>
            <a:r>
              <a:rPr lang="zh-CN" altLang="en-US" sz="1200" b="0" i="0" kern="1200" dirty="0">
                <a:solidFill>
                  <a:schemeClr val="tx1"/>
                </a:solidFill>
                <a:latin typeface="+mn-lt"/>
                <a:ea typeface="+mn-ea"/>
                <a:cs typeface="+mn-cs"/>
              </a:rPr>
              <a:t>就相当于在纸上放了块玻璃，程序的运行与改动就像写在了那块玻璃上，除去玻璃，纸上还是一点改变都没有的。沙盒可以用来测试不受信任的应用程序或上网行为。</a:t>
            </a:r>
            <a:endParaRPr lang="en-US" altLang="zh-CN" sz="1200" b="0" i="0" kern="1200" dirty="0">
              <a:solidFill>
                <a:schemeClr val="tx1"/>
              </a:solidFill>
              <a:latin typeface="+mn-lt"/>
              <a:ea typeface="+mn-ea"/>
              <a:cs typeface="+mn-cs"/>
            </a:endParaRPr>
          </a:p>
          <a:p>
            <a:endParaRPr lang="en-US" altLang="zh-CN" sz="1200" b="0" i="0" kern="1200" dirty="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latin typeface="+mn-lt"/>
                <a:ea typeface="+mn-ea"/>
                <a:cs typeface="+mn-cs"/>
              </a:rPr>
              <a:t>2.</a:t>
            </a:r>
            <a:r>
              <a:rPr lang="zh-CN" altLang="en-US" dirty="0"/>
              <a:t> 沙盒的核心功能是重定向、虚拟化、隔离。</a:t>
            </a: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dirty="0"/>
              <a:t>3. </a:t>
            </a:r>
            <a:r>
              <a:rPr lang="zh-CN" altLang="en-US" dirty="0"/>
              <a:t>沙盒类似虚拟机，但也有不同之处，这里进行一个比较。（需要学生对于虚拟机的使用相对比较熟悉）</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127</a:t>
            </a:fld>
            <a:endParaRPr kumimoji="1" lang="zh-CN" altLang="en-US"/>
          </a:p>
        </p:txBody>
      </p:sp>
    </p:spTree>
    <p:extLst>
      <p:ext uri="{BB962C8B-B14F-4D97-AF65-F5344CB8AC3E}">
        <p14:creationId xmlns:p14="http://schemas.microsoft.com/office/powerpoint/2010/main" val="2746758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下面我们介绍一个沙盒技术实例</a:t>
            </a:r>
            <a:r>
              <a:rPr lang="en-US" altLang="zh-CN" dirty="0"/>
              <a:t>--</a:t>
            </a:r>
            <a:r>
              <a:rPr kumimoji="1" lang="en-US" altLang="zh-CN" dirty="0">
                <a:latin typeface="Microsoft YaHei" panose="020B0503020204020204" pitchFamily="34" charset="-122"/>
                <a:ea typeface="Microsoft YaHei" panose="020B0503020204020204" pitchFamily="34" charset="-122"/>
              </a:rPr>
              <a:t>Java</a:t>
            </a:r>
            <a:r>
              <a:rPr kumimoji="1" lang="zh-CN" altLang="en-US" dirty="0">
                <a:latin typeface="Microsoft YaHei" panose="020B0503020204020204" pitchFamily="34" charset="-122"/>
                <a:ea typeface="Microsoft YaHei" panose="020B0503020204020204" pitchFamily="34" charset="-122"/>
              </a:rPr>
              <a:t>沙盒。</a:t>
            </a:r>
            <a:endParaRPr kumimoji="1" lang="en-US" altLang="zh-CN" dirty="0">
              <a:latin typeface="Microsoft YaHei" panose="020B0503020204020204" pitchFamily="34" charset="-122"/>
              <a:ea typeface="Microsoft YaHei"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latin typeface="Microsoft YaHei" panose="020B0503020204020204" pitchFamily="34" charset="-122"/>
                <a:ea typeface="Microsoft YaHei" panose="020B0503020204020204" pitchFamily="34" charset="-122"/>
              </a:rPr>
              <a:t>（关键词用红色标注，附图示进行说明）</a:t>
            </a:r>
            <a:endParaRPr kumimoji="1" lang="en-US" altLang="zh-CN" dirty="0">
              <a:latin typeface="Microsoft YaHei" panose="020B0503020204020204" pitchFamily="34" charset="-122"/>
              <a:ea typeface="Microsoft YaHei"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latin typeface="Microsoft YaHei" panose="020B0503020204020204" pitchFamily="34" charset="-122"/>
                <a:ea typeface="Microsoft YaHei" panose="020B0503020204020204" pitchFamily="34" charset="-122"/>
              </a:rPr>
              <a:t>（学生普遍学习过</a:t>
            </a:r>
            <a:r>
              <a:rPr kumimoji="1" lang="en-US" altLang="zh-CN" dirty="0" err="1">
                <a:latin typeface="Microsoft YaHei" panose="020B0503020204020204" pitchFamily="34" charset="-122"/>
                <a:ea typeface="Microsoft YaHei" panose="020B0503020204020204" pitchFamily="34" charset="-122"/>
              </a:rPr>
              <a:t>ava</a:t>
            </a:r>
            <a:r>
              <a:rPr kumimoji="1" lang="zh-CN" altLang="en-US" dirty="0">
                <a:latin typeface="Microsoft YaHei" panose="020B0503020204020204" pitchFamily="34" charset="-122"/>
                <a:ea typeface="Microsoft YaHei" panose="020B0503020204020204" pitchFamily="34" charset="-122"/>
              </a:rPr>
              <a:t>程序设计，故此处选取</a:t>
            </a:r>
            <a:r>
              <a:rPr kumimoji="1" lang="en-US" altLang="zh-CN" dirty="0">
                <a:latin typeface="Microsoft YaHei" panose="020B0503020204020204" pitchFamily="34" charset="-122"/>
                <a:ea typeface="Microsoft YaHei" panose="020B0503020204020204" pitchFamily="34" charset="-122"/>
              </a:rPr>
              <a:t>Java</a:t>
            </a:r>
            <a:r>
              <a:rPr kumimoji="1" lang="zh-CN" altLang="en-US" dirty="0">
                <a:latin typeface="Microsoft YaHei" panose="020B0503020204020204" pitchFamily="34" charset="-122"/>
                <a:ea typeface="Microsoft YaHei" panose="020B0503020204020204" pitchFamily="34" charset="-122"/>
              </a:rPr>
              <a:t>沙盒作为实例）</a:t>
            </a:r>
            <a:endParaRPr kumimoji="1" lang="en-US" altLang="zh-CN" dirty="0">
              <a:latin typeface="Microsoft YaHei" panose="020B0503020204020204" pitchFamily="34" charset="-122"/>
              <a:ea typeface="Microsoft YaHei"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128</a:t>
            </a:fld>
            <a:endParaRPr kumimoji="1" lang="zh-CN" altLang="en-US"/>
          </a:p>
        </p:txBody>
      </p:sp>
    </p:spTree>
    <p:extLst>
      <p:ext uri="{BB962C8B-B14F-4D97-AF65-F5344CB8AC3E}">
        <p14:creationId xmlns:p14="http://schemas.microsoft.com/office/powerpoint/2010/main" val="960229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CD23181-2505-4EB2-AC87-B8F55776A9CE}" type="slidenum">
              <a:rPr lang="zh-CN" altLang="en-US" smtClean="0"/>
              <a:pPr/>
              <a:t>129</a:t>
            </a:fld>
            <a:endParaRPr lang="zh-CN" altLang="en-US"/>
          </a:p>
        </p:txBody>
      </p:sp>
    </p:spTree>
    <p:extLst>
      <p:ext uri="{BB962C8B-B14F-4D97-AF65-F5344CB8AC3E}">
        <p14:creationId xmlns:p14="http://schemas.microsoft.com/office/powerpoint/2010/main" val="3222264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Shape 192"/>
          <p:cNvSpPr>
            <a:spLocks noGrp="1" noRot="1" noChangeAspect="1"/>
          </p:cNvSpPr>
          <p:nvPr>
            <p:ph type="sldImg"/>
          </p:nvPr>
        </p:nvSpPr>
        <p:spPr>
          <a:prstGeom prst="rect">
            <a:avLst/>
          </a:prstGeom>
        </p:spPr>
        <p:txBody>
          <a:bodyPr/>
          <a:lstStyle/>
          <a:p>
            <a:endParaRPr/>
          </a:p>
        </p:txBody>
      </p:sp>
      <p:sp>
        <p:nvSpPr>
          <p:cNvPr id="193" name="Shape 193"/>
          <p:cNvSpPr>
            <a:spLocks noGrp="1"/>
          </p:cNvSpPr>
          <p:nvPr>
            <p:ph type="body" sz="quarter" idx="1"/>
          </p:nvPr>
        </p:nvSpPr>
        <p:spPr>
          <a:prstGeom prst="rect">
            <a:avLst/>
          </a:prstGeom>
        </p:spPr>
        <p:txBody>
          <a:bodyPr/>
          <a:lstStyle>
            <a:lvl1pPr>
              <a:defRPr sz="1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首先让我们回顾一下</a:t>
            </a:r>
            <a:r>
              <a:rPr lang="en-US" altLang="zh-CN" dirty="0"/>
              <a:t>TCP</a:t>
            </a:r>
            <a:r>
              <a:rPr lang="zh-CN" altLang="en-US" dirty="0"/>
              <a:t>的三次握手协议：</a:t>
            </a:r>
            <a:endParaRPr lang="en-US" altLang="zh-CN" dirty="0"/>
          </a:p>
          <a:p>
            <a:r>
              <a:rPr lang="zh-CN" altLang="en-US" sz="1800" b="0" i="0" u="none" strike="noStrike" kern="1200" dirty="0">
                <a:solidFill>
                  <a:schemeClr val="tx1"/>
                </a:solidFill>
                <a:effectLst/>
                <a:latin typeface="+mn-lt"/>
                <a:ea typeface="+mn-ea"/>
                <a:cs typeface="+mn-cs"/>
              </a:rPr>
              <a:t>（</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）客户端发送一个带</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标志的</a:t>
            </a:r>
            <a:r>
              <a:rPr lang="en" altLang="zh-CN" sz="1800" b="0" i="0" u="none" strike="noStrike" kern="1200" dirty="0">
                <a:solidFill>
                  <a:schemeClr val="tx1"/>
                </a:solidFill>
                <a:effectLst/>
                <a:latin typeface="+mn-lt"/>
                <a:ea typeface="+mn-ea"/>
                <a:cs typeface="+mn-cs"/>
              </a:rPr>
              <a:t>TCP</a:t>
            </a:r>
            <a:r>
              <a:rPr lang="zh-CN" altLang="en-US" sz="1800" b="0" i="0" u="none" strike="noStrike" kern="1200" dirty="0">
                <a:solidFill>
                  <a:schemeClr val="tx1"/>
                </a:solidFill>
                <a:effectLst/>
                <a:latin typeface="+mn-lt"/>
                <a:ea typeface="+mn-ea"/>
                <a:cs typeface="+mn-cs"/>
              </a:rPr>
              <a:t>报文到服务器。这个报文具体包括 </a:t>
            </a:r>
            <a:r>
              <a:rPr lang="en-US"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标识设为</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，一个随机数作为其序列号</a:t>
            </a:r>
            <a:r>
              <a:rPr lang="en-US" altLang="zh-CN" sz="1800" b="0" i="0" u="none" strike="noStrike" kern="1200" dirty="0">
                <a:solidFill>
                  <a:schemeClr val="tx1"/>
                </a:solidFill>
                <a:effectLst/>
                <a:latin typeface="+mn-lt"/>
                <a:ea typeface="+mn-ea"/>
                <a:cs typeface="+mn-cs"/>
              </a:rPr>
              <a:t>X</a:t>
            </a:r>
            <a:r>
              <a:rPr lang="zh-CN" altLang="en-US" sz="1800" b="0" i="0" u="none" strike="noStrike" kern="1200" dirty="0">
                <a:solidFill>
                  <a:schemeClr val="tx1"/>
                </a:solidFill>
                <a:effectLst/>
                <a:latin typeface="+mn-lt"/>
                <a:ea typeface="+mn-ea"/>
                <a:cs typeface="+mn-cs"/>
              </a:rPr>
              <a:t>，</a:t>
            </a:r>
            <a:r>
              <a:rPr lang="en-US"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标识为</a:t>
            </a:r>
            <a:r>
              <a:rPr lang="en-US" altLang="zh-CN" sz="1800" b="0" i="0" u="none" strike="noStrike" kern="1200" dirty="0">
                <a:solidFill>
                  <a:schemeClr val="tx1"/>
                </a:solidFill>
                <a:effectLst/>
                <a:latin typeface="+mn-lt"/>
                <a:ea typeface="+mn-ea"/>
                <a:cs typeface="+mn-cs"/>
              </a:rPr>
              <a:t>0</a:t>
            </a:r>
            <a:r>
              <a:rPr lang="zh-CN" altLang="en-US" sz="1800" b="0" i="0" u="none" strike="noStrike" kern="1200" dirty="0">
                <a:solidFill>
                  <a:schemeClr val="tx1"/>
                </a:solidFill>
                <a:effectLst/>
                <a:latin typeface="+mn-lt"/>
                <a:ea typeface="+mn-ea"/>
                <a:cs typeface="+mn-cs"/>
              </a:rPr>
              <a:t>，</a:t>
            </a:r>
            <a:r>
              <a:rPr lang="en-US"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的序列号为</a:t>
            </a:r>
            <a:r>
              <a:rPr lang="en-US" altLang="zh-CN" sz="1800" b="0" i="0" u="none" strike="noStrike" kern="1200" dirty="0">
                <a:solidFill>
                  <a:schemeClr val="tx1"/>
                </a:solidFill>
                <a:effectLst/>
                <a:latin typeface="+mn-lt"/>
                <a:ea typeface="+mn-ea"/>
                <a:cs typeface="+mn-cs"/>
              </a:rPr>
              <a:t>0</a:t>
            </a:r>
            <a:r>
              <a:rPr lang="zh-CN" altLang="en-US" sz="1800" b="0" i="0" u="none" strike="noStrike" kern="1200" dirty="0">
                <a:solidFill>
                  <a:schemeClr val="tx1"/>
                </a:solidFill>
                <a:effectLst/>
                <a:latin typeface="+mn-lt"/>
                <a:ea typeface="+mn-ea"/>
                <a:cs typeface="+mn-cs"/>
              </a:rPr>
              <a:t>；</a:t>
            </a:r>
            <a:endParaRPr lang="en-US" altLang="zh-CN" sz="1800" b="0" i="0" u="none" strike="noStrike" kern="1200" dirty="0">
              <a:solidFill>
                <a:schemeClr val="tx1"/>
              </a:solidFill>
              <a:effectLst/>
              <a:latin typeface="+mn-lt"/>
              <a:ea typeface="+mn-ea"/>
              <a:cs typeface="+mn-cs"/>
            </a:endParaRPr>
          </a:p>
          <a:p>
            <a:r>
              <a:rPr lang="zh-CN" altLang="en-US" sz="1800" b="0" i="0" u="none" strike="noStrike" kern="1200" dirty="0">
                <a:solidFill>
                  <a:schemeClr val="tx1"/>
                </a:solidFill>
                <a:effectLst/>
                <a:latin typeface="+mn-lt"/>
                <a:ea typeface="+mn-ea"/>
                <a:cs typeface="+mn-cs"/>
              </a:rPr>
              <a:t>这是三次握手过程中的报文</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 </a:t>
            </a:r>
            <a:br>
              <a:rPr lang="zh-CN" altLang="en-US" dirty="0"/>
            </a:br>
            <a:r>
              <a:rPr lang="zh-CN" altLang="en-US" sz="1800" b="0" i="0" u="none" strike="noStrike" kern="1200" dirty="0">
                <a:solidFill>
                  <a:schemeClr val="tx1"/>
                </a:solidFill>
                <a:effectLst/>
                <a:latin typeface="+mn-lt"/>
                <a:ea typeface="+mn-ea"/>
                <a:cs typeface="+mn-cs"/>
              </a:rPr>
              <a:t>（</a:t>
            </a:r>
            <a:r>
              <a:rPr lang="en-US" altLang="zh-CN" sz="1800" b="0" i="0" u="none" strike="noStrike" kern="1200" dirty="0">
                <a:solidFill>
                  <a:schemeClr val="tx1"/>
                </a:solidFill>
                <a:effectLst/>
                <a:latin typeface="+mn-lt"/>
                <a:ea typeface="+mn-ea"/>
                <a:cs typeface="+mn-cs"/>
              </a:rPr>
              <a:t>2</a:t>
            </a:r>
            <a:r>
              <a:rPr lang="zh-CN" altLang="en-US" sz="1800" b="0" i="0" u="none" strike="noStrike" kern="1200" dirty="0">
                <a:solidFill>
                  <a:schemeClr val="tx1"/>
                </a:solidFill>
                <a:effectLst/>
                <a:latin typeface="+mn-lt"/>
                <a:ea typeface="+mn-ea"/>
                <a:cs typeface="+mn-cs"/>
              </a:rPr>
              <a:t>）服务器端回应客户端的，这是三次握手中的第</a:t>
            </a:r>
            <a:r>
              <a:rPr lang="en-US" altLang="zh-CN" sz="1800" b="0" i="0" u="none" strike="noStrike" kern="1200" dirty="0">
                <a:solidFill>
                  <a:schemeClr val="tx1"/>
                </a:solidFill>
                <a:effectLst/>
                <a:latin typeface="+mn-lt"/>
                <a:ea typeface="+mn-ea"/>
                <a:cs typeface="+mn-cs"/>
              </a:rPr>
              <a:t>2</a:t>
            </a:r>
            <a:r>
              <a:rPr lang="zh-CN" altLang="en-US" sz="1800" b="0" i="0" u="none" strike="noStrike" kern="1200" dirty="0">
                <a:solidFill>
                  <a:schemeClr val="tx1"/>
                </a:solidFill>
                <a:effectLst/>
                <a:latin typeface="+mn-lt"/>
                <a:ea typeface="+mn-ea"/>
                <a:cs typeface="+mn-cs"/>
              </a:rPr>
              <a:t>个报文，这个报文同时带</a:t>
            </a:r>
            <a:r>
              <a:rPr lang="en"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标志位和</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标志都为</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，因此它表示对刚才客户端</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报文的回应；同时，响应包的序列号为服务器端产生的随机数</a:t>
            </a:r>
            <a:r>
              <a:rPr lang="en-US" altLang="zh-CN" sz="1800" b="0" i="0" u="none" strike="noStrike" kern="1200" dirty="0">
                <a:solidFill>
                  <a:schemeClr val="tx1"/>
                </a:solidFill>
                <a:effectLst/>
                <a:latin typeface="+mn-lt"/>
                <a:ea typeface="+mn-ea"/>
                <a:cs typeface="+mn-cs"/>
              </a:rPr>
              <a:t>Y</a:t>
            </a:r>
            <a:r>
              <a:rPr lang="zh-CN" altLang="en-US" sz="1800" b="0" i="0" u="none" strike="noStrike" kern="1200" dirty="0">
                <a:solidFill>
                  <a:schemeClr val="tx1"/>
                </a:solidFill>
                <a:effectLst/>
                <a:latin typeface="+mn-lt"/>
                <a:ea typeface="+mn-ea"/>
                <a:cs typeface="+mn-cs"/>
              </a:rPr>
              <a:t>，而把刚从客户端请求报文中得到的序列号</a:t>
            </a:r>
            <a:r>
              <a:rPr lang="en-US" altLang="zh-CN" sz="1800" b="0" i="0" u="none" strike="noStrike" kern="1200" dirty="0">
                <a:solidFill>
                  <a:schemeClr val="tx1"/>
                </a:solidFill>
                <a:effectLst/>
                <a:latin typeface="+mn-lt"/>
                <a:ea typeface="+mn-ea"/>
                <a:cs typeface="+mn-cs"/>
              </a:rPr>
              <a:t>X</a:t>
            </a:r>
            <a:r>
              <a:rPr lang="zh-CN" altLang="en-US" sz="1800" b="0" i="0" u="none" strike="noStrike" kern="1200" dirty="0">
                <a:solidFill>
                  <a:schemeClr val="tx1"/>
                </a:solidFill>
                <a:effectLst/>
                <a:latin typeface="+mn-lt"/>
                <a:ea typeface="+mn-ea"/>
                <a:cs typeface="+mn-cs"/>
              </a:rPr>
              <a:t> </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 放入</a:t>
            </a:r>
            <a:r>
              <a:rPr lang="en-US"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 序列号中。第二个报文发送给客户端，询问客户端是否准备好进行数据通讯。 </a:t>
            </a:r>
            <a:br>
              <a:rPr lang="zh-CN" altLang="en-US" dirty="0"/>
            </a:br>
            <a:r>
              <a:rPr lang="zh-CN" altLang="en-US" sz="1800" b="0" i="0" u="none" strike="noStrike" kern="1200" dirty="0">
                <a:solidFill>
                  <a:schemeClr val="tx1"/>
                </a:solidFill>
                <a:effectLst/>
                <a:latin typeface="+mn-lt"/>
                <a:ea typeface="+mn-ea"/>
                <a:cs typeface="+mn-cs"/>
              </a:rPr>
              <a:t>（</a:t>
            </a:r>
            <a:r>
              <a:rPr lang="en-US" altLang="zh-CN" sz="1800" b="0" i="0" u="none" strike="noStrike" kern="1200" dirty="0">
                <a:solidFill>
                  <a:schemeClr val="tx1"/>
                </a:solidFill>
                <a:effectLst/>
                <a:latin typeface="+mn-lt"/>
                <a:ea typeface="+mn-ea"/>
                <a:cs typeface="+mn-cs"/>
              </a:rPr>
              <a:t>3</a:t>
            </a:r>
            <a:r>
              <a:rPr lang="zh-CN" altLang="en-US" sz="1800" b="0" i="0" u="none" strike="noStrike" kern="1200" dirty="0">
                <a:solidFill>
                  <a:schemeClr val="tx1"/>
                </a:solidFill>
                <a:effectLst/>
                <a:latin typeface="+mn-lt"/>
                <a:ea typeface="+mn-ea"/>
                <a:cs typeface="+mn-cs"/>
              </a:rPr>
              <a:t>） 客户端收到确认后，检查</a:t>
            </a:r>
            <a:r>
              <a:rPr lang="en"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是否为</a:t>
            </a:r>
            <a:r>
              <a:rPr lang="en-US" altLang="zh-CN" sz="1800" b="0" i="0" u="none" strike="noStrike" kern="1200" dirty="0">
                <a:solidFill>
                  <a:schemeClr val="tx1"/>
                </a:solidFill>
                <a:effectLst/>
                <a:latin typeface="+mn-lt"/>
                <a:ea typeface="+mn-ea"/>
                <a:cs typeface="+mn-cs"/>
              </a:rPr>
              <a:t>X</a:t>
            </a:r>
            <a:r>
              <a:rPr lang="zh-CN" altLang="en-US" sz="1800" b="0" i="0" u="none" strike="noStrike" kern="1200" dirty="0">
                <a:solidFill>
                  <a:schemeClr val="tx1"/>
                </a:solidFill>
                <a:effectLst/>
                <a:latin typeface="+mn-lt"/>
                <a:ea typeface="+mn-ea"/>
                <a:cs typeface="+mn-cs"/>
              </a:rPr>
              <a:t> </a:t>
            </a:r>
            <a:r>
              <a:rPr lang="en-US" altLang="zh-CN" sz="1800" b="0" i="0" u="none" strike="noStrike" kern="1200" dirty="0">
                <a:solidFill>
                  <a:schemeClr val="tx1"/>
                </a:solidFill>
                <a:effectLst/>
                <a:latin typeface="+mn-lt"/>
                <a:ea typeface="+mn-ea"/>
                <a:cs typeface="+mn-cs"/>
              </a:rPr>
              <a:t>+1</a:t>
            </a:r>
            <a:r>
              <a:rPr lang="zh-CN" altLang="en" sz="1800" b="0" i="0" u="none" strike="noStrike" kern="1200" dirty="0">
                <a:solidFill>
                  <a:schemeClr val="tx1"/>
                </a:solidFill>
                <a:effectLst/>
                <a:latin typeface="+mn-lt"/>
                <a:ea typeface="+mn-ea"/>
                <a:cs typeface="+mn-cs"/>
              </a:rPr>
              <a:t>，其</a:t>
            </a:r>
            <a:r>
              <a:rPr lang="zh-CN" altLang="en-US" sz="1800" b="0" i="0" u="none" strike="noStrike" kern="1200" dirty="0">
                <a:solidFill>
                  <a:schemeClr val="tx1"/>
                </a:solidFill>
                <a:effectLst/>
                <a:latin typeface="+mn-lt"/>
                <a:ea typeface="+mn-ea"/>
                <a:cs typeface="+mn-cs"/>
              </a:rPr>
              <a:t>标志位是否为</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，如果正确则将响应报文中的</a:t>
            </a:r>
            <a:r>
              <a:rPr lang="en"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标志位置为</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a:t>
            </a:r>
            <a:r>
              <a:rPr lang="en" altLang="zh-CN" sz="1800" b="0" i="0" u="none" strike="noStrike" kern="1200" dirty="0">
                <a:solidFill>
                  <a:schemeClr val="tx1"/>
                </a:solidFill>
                <a:effectLst/>
                <a:latin typeface="+mn-lt"/>
                <a:ea typeface="+mn-ea"/>
                <a:cs typeface="+mn-cs"/>
              </a:rPr>
              <a:t>ACK</a:t>
            </a:r>
            <a:r>
              <a:rPr lang="zh-CN" altLang="en" sz="1800" b="0" i="0" u="none" strike="noStrike" kern="1200" dirty="0">
                <a:solidFill>
                  <a:schemeClr val="tx1"/>
                </a:solidFill>
                <a:effectLst/>
                <a:latin typeface="+mn-lt"/>
                <a:ea typeface="+mn-ea"/>
                <a:cs typeface="+mn-cs"/>
              </a:rPr>
              <a:t>序列号</a:t>
            </a:r>
            <a:r>
              <a:rPr lang="zh-CN" altLang="en-US" sz="1800" b="0" i="0" u="none" strike="noStrike" kern="1200" dirty="0">
                <a:solidFill>
                  <a:schemeClr val="tx1"/>
                </a:solidFill>
                <a:effectLst/>
                <a:latin typeface="+mn-lt"/>
                <a:ea typeface="+mn-ea"/>
                <a:cs typeface="+mn-cs"/>
              </a:rPr>
              <a:t>置为</a:t>
            </a:r>
            <a:r>
              <a:rPr lang="en-US" altLang="zh-CN" sz="1800" b="0" i="0" u="none" strike="noStrike" kern="1200" dirty="0">
                <a:solidFill>
                  <a:schemeClr val="tx1"/>
                </a:solidFill>
                <a:effectLst/>
                <a:latin typeface="+mn-lt"/>
                <a:ea typeface="+mn-ea"/>
                <a:cs typeface="+mn-cs"/>
              </a:rPr>
              <a:t>Y</a:t>
            </a:r>
            <a:r>
              <a:rPr lang="en" altLang="zh-CN" sz="1800" b="0" i="0" u="none" strike="noStrike" kern="1200" dirty="0">
                <a:solidFill>
                  <a:schemeClr val="tx1"/>
                </a:solidFill>
                <a:effectLst/>
                <a:latin typeface="+mn-lt"/>
                <a:ea typeface="+mn-ea"/>
                <a:cs typeface="+mn-cs"/>
              </a:rPr>
              <a:t>+1</a:t>
            </a:r>
            <a:r>
              <a:rPr lang="zh-CN" altLang="en" sz="1800" b="0" i="0" u="none" strike="noStrike" kern="1200" dirty="0">
                <a:solidFill>
                  <a:schemeClr val="tx1"/>
                </a:solidFill>
                <a:effectLst/>
                <a:latin typeface="+mn-lt"/>
                <a:ea typeface="+mn-ea"/>
                <a:cs typeface="+mn-cs"/>
              </a:rPr>
              <a:t>，</a:t>
            </a:r>
            <a:r>
              <a:rPr lang="en-US"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标志位为</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 序列号为</a:t>
            </a:r>
            <a:r>
              <a:rPr lang="en-US" altLang="zh-CN" sz="1800" b="0" i="0" u="none" strike="noStrike" kern="1200" dirty="0">
                <a:solidFill>
                  <a:schemeClr val="tx1"/>
                </a:solidFill>
                <a:effectLst/>
                <a:latin typeface="+mn-lt"/>
                <a:ea typeface="+mn-ea"/>
                <a:cs typeface="+mn-cs"/>
              </a:rPr>
              <a:t>X+1</a:t>
            </a:r>
            <a:r>
              <a:rPr lang="zh-CN" altLang="en-US" sz="1800" b="0" i="0" u="none" strike="noStrike" kern="1200" dirty="0">
                <a:solidFill>
                  <a:schemeClr val="tx1"/>
                </a:solidFill>
                <a:effectLst/>
                <a:latin typeface="+mn-lt"/>
                <a:ea typeface="+mn-ea"/>
                <a:cs typeface="+mn-cs"/>
              </a:rPr>
              <a:t>，并将该数据包发送给</a:t>
            </a:r>
            <a:r>
              <a:rPr lang="zh-CN" altLang="en" sz="1800" b="0" i="0" u="none" strike="noStrike" kern="1200" dirty="0">
                <a:solidFill>
                  <a:schemeClr val="tx1"/>
                </a:solidFill>
                <a:effectLst/>
                <a:latin typeface="+mn-lt"/>
                <a:ea typeface="+mn-ea"/>
                <a:cs typeface="+mn-cs"/>
              </a:rPr>
              <a:t>服务器端</a:t>
            </a:r>
            <a:r>
              <a:rPr lang="zh-CN" altLang="en-US" sz="1800" b="0" i="0" u="none" strike="noStrike" kern="1200" dirty="0">
                <a:solidFill>
                  <a:schemeClr val="tx1"/>
                </a:solidFill>
                <a:effectLst/>
                <a:latin typeface="+mn-lt"/>
                <a:ea typeface="+mn-ea"/>
                <a:cs typeface="+mn-cs"/>
              </a:rPr>
              <a:t>。这是报文段</a:t>
            </a:r>
            <a:r>
              <a:rPr lang="en-US" altLang="zh-CN" sz="1800" b="0" i="0" u="none" strike="noStrike" kern="1200" dirty="0">
                <a:solidFill>
                  <a:schemeClr val="tx1"/>
                </a:solidFill>
                <a:effectLst/>
                <a:latin typeface="+mn-lt"/>
                <a:ea typeface="+mn-ea"/>
                <a:cs typeface="+mn-cs"/>
              </a:rPr>
              <a:t>3</a:t>
            </a:r>
            <a:r>
              <a:rPr lang="zh-CN" altLang="en-US" sz="1800" b="0" i="0" u="none" strike="noStrike" kern="1200" dirty="0">
                <a:solidFill>
                  <a:schemeClr val="tx1"/>
                </a:solidFill>
                <a:effectLst/>
                <a:latin typeface="+mn-lt"/>
                <a:ea typeface="+mn-ea"/>
                <a:cs typeface="+mn-cs"/>
              </a:rPr>
              <a:t>。</a:t>
            </a:r>
            <a:r>
              <a:rPr lang="zh-CN" altLang="en" sz="1800" b="0" i="0" u="none" strike="noStrike" kern="1200" dirty="0">
                <a:solidFill>
                  <a:schemeClr val="tx1"/>
                </a:solidFill>
                <a:effectLst/>
                <a:latin typeface="+mn-lt"/>
                <a:ea typeface="+mn-ea"/>
                <a:cs typeface="+mn-cs"/>
              </a:rPr>
              <a:t>服务器端</a:t>
            </a:r>
            <a:r>
              <a:rPr lang="zh-CN" altLang="en-US" sz="1800" b="0" i="0" u="none" strike="noStrike" kern="1200" dirty="0">
                <a:solidFill>
                  <a:schemeClr val="tx1"/>
                </a:solidFill>
                <a:effectLst/>
                <a:latin typeface="+mn-lt"/>
                <a:ea typeface="+mn-ea"/>
                <a:cs typeface="+mn-cs"/>
              </a:rPr>
              <a:t>收到报文</a:t>
            </a:r>
            <a:r>
              <a:rPr lang="en-US" altLang="zh-CN" sz="1800" b="0" i="0" u="none" strike="noStrike" kern="1200" dirty="0">
                <a:solidFill>
                  <a:schemeClr val="tx1"/>
                </a:solidFill>
                <a:effectLst/>
                <a:latin typeface="+mn-lt"/>
                <a:ea typeface="+mn-ea"/>
                <a:cs typeface="+mn-cs"/>
              </a:rPr>
              <a:t>3</a:t>
            </a:r>
            <a:r>
              <a:rPr lang="zh-CN" altLang="en-US" sz="1800" b="0" i="0" u="none" strike="noStrike" kern="1200" dirty="0">
                <a:solidFill>
                  <a:schemeClr val="tx1"/>
                </a:solidFill>
                <a:effectLst/>
                <a:latin typeface="+mn-lt"/>
                <a:ea typeface="+mn-ea"/>
                <a:cs typeface="+mn-cs"/>
              </a:rPr>
              <a:t>，检查</a:t>
            </a:r>
            <a:r>
              <a:rPr lang="en"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是否为</a:t>
            </a:r>
            <a:r>
              <a:rPr lang="en-US" altLang="zh-CN" sz="1800" b="0" i="0" u="none" strike="noStrike" kern="1200" dirty="0">
                <a:solidFill>
                  <a:schemeClr val="tx1"/>
                </a:solidFill>
                <a:effectLst/>
                <a:latin typeface="+mn-lt"/>
                <a:ea typeface="+mn-ea"/>
                <a:cs typeface="+mn-cs"/>
              </a:rPr>
              <a:t>Y</a:t>
            </a:r>
            <a:r>
              <a:rPr lang="en" altLang="zh-CN" sz="1800" b="0" i="0" u="none" strike="noStrike" kern="1200" dirty="0">
                <a:solidFill>
                  <a:schemeClr val="tx1"/>
                </a:solidFill>
                <a:effectLst/>
                <a:latin typeface="+mn-lt"/>
                <a:ea typeface="+mn-ea"/>
                <a:cs typeface="+mn-cs"/>
              </a:rPr>
              <a:t>+1</a:t>
            </a:r>
            <a:r>
              <a:rPr lang="zh-CN" altLang="en" sz="1800" b="0" i="0" u="none" strike="noStrike" kern="1200" dirty="0">
                <a:solidFill>
                  <a:schemeClr val="tx1"/>
                </a:solidFill>
                <a:effectLst/>
                <a:latin typeface="+mn-lt"/>
                <a:ea typeface="+mn-ea"/>
                <a:cs typeface="+mn-cs"/>
              </a:rPr>
              <a:t>，</a:t>
            </a:r>
            <a:r>
              <a:rPr lang="en" altLang="zh-CN" sz="1800" b="0" i="0" u="none" strike="noStrike" kern="1200" dirty="0">
                <a:solidFill>
                  <a:schemeClr val="tx1"/>
                </a:solidFill>
                <a:effectLst/>
                <a:latin typeface="+mn-lt"/>
                <a:ea typeface="+mn-ea"/>
                <a:cs typeface="+mn-cs"/>
              </a:rPr>
              <a:t>ACK</a:t>
            </a:r>
            <a:r>
              <a:rPr lang="zh-CN" altLang="en" sz="1800" b="0" i="0" u="none" strike="noStrike" kern="1200" dirty="0">
                <a:solidFill>
                  <a:schemeClr val="tx1"/>
                </a:solidFill>
                <a:effectLst/>
                <a:latin typeface="+mn-lt"/>
                <a:ea typeface="+mn-ea"/>
                <a:cs typeface="+mn-cs"/>
              </a:rPr>
              <a:t>标志位</a:t>
            </a:r>
            <a:r>
              <a:rPr lang="zh-CN" altLang="en-US" sz="1800" b="0" i="0" u="none" strike="noStrike" kern="1200" dirty="0">
                <a:solidFill>
                  <a:schemeClr val="tx1"/>
                </a:solidFill>
                <a:effectLst/>
                <a:latin typeface="+mn-lt"/>
                <a:ea typeface="+mn-ea"/>
                <a:cs typeface="+mn-cs"/>
              </a:rPr>
              <a:t>是否为</a:t>
            </a:r>
            <a:r>
              <a:rPr lang="en-US" altLang="zh-CN" sz="1800" b="0" i="0" u="none" strike="noStrike" kern="1200" dirty="0">
                <a:solidFill>
                  <a:schemeClr val="tx1"/>
                </a:solidFill>
                <a:effectLst/>
                <a:latin typeface="+mn-lt"/>
                <a:ea typeface="+mn-ea"/>
                <a:cs typeface="+mn-cs"/>
              </a:rPr>
              <a:t>1</a:t>
            </a:r>
            <a:r>
              <a:rPr lang="zh-CN" altLang="en-US" sz="1800" b="0" i="0" u="none" strike="noStrike" kern="1200" dirty="0">
                <a:solidFill>
                  <a:schemeClr val="tx1"/>
                </a:solidFill>
                <a:effectLst/>
                <a:latin typeface="+mn-lt"/>
                <a:ea typeface="+mn-ea"/>
                <a:cs typeface="+mn-cs"/>
              </a:rPr>
              <a:t>，如果正确则连接建立成功，</a:t>
            </a:r>
            <a:r>
              <a:rPr lang="zh-CN" altLang="en" sz="1800" b="0" i="0" u="none" strike="noStrike" kern="1200" dirty="0">
                <a:solidFill>
                  <a:schemeClr val="tx1"/>
                </a:solidFill>
                <a:effectLst/>
                <a:latin typeface="+mn-lt"/>
                <a:ea typeface="+mn-ea"/>
                <a:cs typeface="+mn-cs"/>
              </a:rPr>
              <a:t>客户端</a:t>
            </a:r>
            <a:r>
              <a:rPr lang="zh-CN" altLang="en-US" sz="1800" b="0" i="0" u="none" strike="noStrike" kern="1200" dirty="0">
                <a:solidFill>
                  <a:schemeClr val="tx1"/>
                </a:solidFill>
                <a:effectLst/>
                <a:latin typeface="+mn-lt"/>
                <a:ea typeface="+mn-ea"/>
                <a:cs typeface="+mn-cs"/>
              </a:rPr>
              <a:t>和</a:t>
            </a:r>
            <a:r>
              <a:rPr lang="zh-CN" altLang="en" sz="1800" b="0" i="0" u="none" strike="noStrike" kern="1200" dirty="0">
                <a:solidFill>
                  <a:schemeClr val="tx1"/>
                </a:solidFill>
                <a:effectLst/>
                <a:latin typeface="+mn-lt"/>
                <a:ea typeface="+mn-ea"/>
                <a:cs typeface="+mn-cs"/>
              </a:rPr>
              <a:t>服务器端</a:t>
            </a:r>
            <a:r>
              <a:rPr lang="zh-CN" altLang="en-US" sz="1800" b="0" i="0" u="none" strike="noStrike" kern="1200" dirty="0">
                <a:solidFill>
                  <a:schemeClr val="tx1"/>
                </a:solidFill>
                <a:effectLst/>
                <a:latin typeface="+mn-lt"/>
                <a:ea typeface="+mn-ea"/>
                <a:cs typeface="+mn-cs"/>
              </a:rPr>
              <a:t>进入</a:t>
            </a:r>
            <a:r>
              <a:rPr lang="en" altLang="zh-CN" sz="1800" b="0" i="0" u="none" strike="noStrike" kern="1200" dirty="0">
                <a:solidFill>
                  <a:schemeClr val="tx1"/>
                </a:solidFill>
                <a:effectLst/>
                <a:latin typeface="+mn-lt"/>
                <a:ea typeface="+mn-ea"/>
                <a:cs typeface="+mn-cs"/>
              </a:rPr>
              <a:t>ESTABLISHED</a:t>
            </a:r>
            <a:r>
              <a:rPr lang="zh-CN" altLang="en-US" sz="1800" b="0" i="0" u="none" strike="noStrike" kern="1200" dirty="0">
                <a:solidFill>
                  <a:schemeClr val="tx1"/>
                </a:solidFill>
                <a:effectLst/>
                <a:latin typeface="+mn-lt"/>
                <a:ea typeface="+mn-ea"/>
                <a:cs typeface="+mn-cs"/>
              </a:rPr>
              <a:t>状态，完成三次握手，随后</a:t>
            </a:r>
            <a:r>
              <a:rPr lang="zh-CN" altLang="en" sz="1800" b="0" i="0" u="none" strike="noStrike" kern="1200" dirty="0">
                <a:solidFill>
                  <a:schemeClr val="tx1"/>
                </a:solidFill>
                <a:effectLst/>
                <a:latin typeface="+mn-lt"/>
                <a:ea typeface="+mn-ea"/>
                <a:cs typeface="+mn-cs"/>
              </a:rPr>
              <a:t>客户</a:t>
            </a:r>
            <a:r>
              <a:rPr lang="zh-CN" altLang="en-US" sz="1800" b="0" i="0" u="none" strike="noStrike" kern="1200" dirty="0">
                <a:solidFill>
                  <a:schemeClr val="tx1"/>
                </a:solidFill>
                <a:effectLst/>
                <a:latin typeface="+mn-lt"/>
                <a:ea typeface="+mn-ea"/>
                <a:cs typeface="+mn-cs"/>
              </a:rPr>
              <a:t>端与</a:t>
            </a:r>
            <a:r>
              <a:rPr lang="zh-CN" altLang="en" sz="1800" b="0" i="0" u="none" strike="noStrike" kern="1200" dirty="0">
                <a:solidFill>
                  <a:schemeClr val="tx1"/>
                </a:solidFill>
                <a:effectLst/>
                <a:latin typeface="+mn-lt"/>
                <a:ea typeface="+mn-ea"/>
                <a:cs typeface="+mn-cs"/>
              </a:rPr>
              <a:t>服务器端</a:t>
            </a:r>
            <a:r>
              <a:rPr lang="zh-CN" altLang="en-US" sz="1800" b="0" i="0" u="none" strike="noStrike" kern="1200" dirty="0">
                <a:solidFill>
                  <a:schemeClr val="tx1"/>
                </a:solidFill>
                <a:effectLst/>
                <a:latin typeface="+mn-lt"/>
                <a:ea typeface="+mn-ea"/>
                <a:cs typeface="+mn-cs"/>
              </a:rPr>
              <a:t>之间可以开始传输数据了。</a:t>
            </a:r>
            <a:endParaRPr lang="en-US" altLang="zh-CN" sz="1800" b="0" i="0" u="none" strike="noStrike" kern="1200" dirty="0">
              <a:solidFill>
                <a:schemeClr val="tx1"/>
              </a:solidFill>
              <a:effectLst/>
              <a:latin typeface="+mn-lt"/>
              <a:ea typeface="+mn-ea"/>
              <a:cs typeface="+mn-cs"/>
            </a:endParaRPr>
          </a:p>
          <a:p>
            <a:endParaRPr lang="en-US" altLang="zh-CN" sz="18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376056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prstGeom prst="rect">
            <a:avLst/>
          </a:prstGeom>
        </p:spPr>
        <p:txBody>
          <a:bodyPr/>
          <a:lstStyle/>
          <a:p>
            <a:endParaRPr/>
          </a:p>
        </p:txBody>
      </p:sp>
      <p:sp>
        <p:nvSpPr>
          <p:cNvPr id="198" name="Shape 198"/>
          <p:cNvSpPr>
            <a:spLocks noGrp="1"/>
          </p:cNvSpPr>
          <p:nvPr>
            <p:ph type="body" sz="quarter" idx="1"/>
          </p:nvPr>
        </p:nvSpPr>
        <p:spPr>
          <a:prstGeom prst="rect">
            <a:avLst/>
          </a:prstGeom>
        </p:spPr>
        <p:txBody>
          <a:bodyPr/>
          <a:lstStyle>
            <a:lvl1pPr>
              <a:defRPr sz="1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r>
              <a:rPr lang="zh-CN" altLang="en-US" sz="1800" b="0" i="0" u="none" strike="noStrike" kern="1200" dirty="0">
                <a:solidFill>
                  <a:schemeClr val="tx1"/>
                </a:solidFill>
                <a:effectLst/>
                <a:latin typeface="+mn-lt"/>
                <a:ea typeface="+mn-ea"/>
                <a:cs typeface="+mn-cs"/>
              </a:rPr>
              <a:t>在三次握手过程中，</a:t>
            </a:r>
            <a:r>
              <a:rPr lang="en" altLang="zh-CN" sz="1800" b="0" i="0" u="none" strike="noStrike" kern="1200" dirty="0">
                <a:solidFill>
                  <a:schemeClr val="tx1"/>
                </a:solidFill>
                <a:effectLst/>
                <a:latin typeface="+mn-lt"/>
                <a:ea typeface="+mn-ea"/>
                <a:cs typeface="+mn-cs"/>
              </a:rPr>
              <a:t>Server</a:t>
            </a:r>
            <a:r>
              <a:rPr lang="zh-CN" altLang="en-US" sz="1800" b="0" i="0" u="none" strike="noStrike" kern="1200" dirty="0">
                <a:solidFill>
                  <a:schemeClr val="tx1"/>
                </a:solidFill>
                <a:effectLst/>
                <a:latin typeface="+mn-lt"/>
                <a:ea typeface="+mn-ea"/>
                <a:cs typeface="+mn-cs"/>
              </a:rPr>
              <a:t>发送</a:t>
            </a:r>
            <a:r>
              <a:rPr lang="en" altLang="zh-CN" sz="1800" b="0" i="0" u="none" strike="noStrike" kern="1200" dirty="0">
                <a:solidFill>
                  <a:schemeClr val="tx1"/>
                </a:solidFill>
                <a:effectLst/>
                <a:latin typeface="+mn-lt"/>
                <a:ea typeface="+mn-ea"/>
                <a:cs typeface="+mn-cs"/>
              </a:rPr>
              <a:t>SYN-ACK</a:t>
            </a:r>
            <a:r>
              <a:rPr lang="zh-CN" altLang="en-US" sz="1800" b="0" i="0" u="none" strike="noStrike" kern="1200" dirty="0">
                <a:solidFill>
                  <a:schemeClr val="tx1"/>
                </a:solidFill>
                <a:effectLst/>
                <a:latin typeface="+mn-lt"/>
                <a:ea typeface="+mn-ea"/>
                <a:cs typeface="+mn-cs"/>
              </a:rPr>
              <a:t>之后，收到</a:t>
            </a:r>
            <a:r>
              <a:rPr lang="en" altLang="zh-CN" sz="1800" b="0" i="0" u="none" strike="noStrike" kern="1200" dirty="0">
                <a:solidFill>
                  <a:schemeClr val="tx1"/>
                </a:solidFill>
                <a:effectLst/>
                <a:latin typeface="+mn-lt"/>
                <a:ea typeface="+mn-ea"/>
                <a:cs typeface="+mn-cs"/>
              </a:rPr>
              <a:t>Client</a:t>
            </a:r>
            <a:r>
              <a:rPr lang="zh-CN" altLang="en-US" sz="1800" b="0" i="0" u="none" strike="noStrike" kern="1200" dirty="0">
                <a:solidFill>
                  <a:schemeClr val="tx1"/>
                </a:solidFill>
                <a:effectLst/>
                <a:latin typeface="+mn-lt"/>
                <a:ea typeface="+mn-ea"/>
                <a:cs typeface="+mn-cs"/>
              </a:rPr>
              <a:t>的</a:t>
            </a:r>
            <a:r>
              <a:rPr lang="en"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之前的</a:t>
            </a:r>
            <a:r>
              <a:rPr lang="en" altLang="zh-CN" sz="1800" b="0" i="0" u="none" strike="noStrike" kern="1200" dirty="0">
                <a:solidFill>
                  <a:schemeClr val="tx1"/>
                </a:solidFill>
                <a:effectLst/>
                <a:latin typeface="+mn-lt"/>
                <a:ea typeface="+mn-ea"/>
                <a:cs typeface="+mn-cs"/>
              </a:rPr>
              <a:t>TCP</a:t>
            </a:r>
            <a:r>
              <a:rPr lang="zh-CN" altLang="en-US" sz="1800" b="0" i="0" u="none" strike="noStrike" kern="1200" dirty="0">
                <a:solidFill>
                  <a:schemeClr val="tx1"/>
                </a:solidFill>
                <a:effectLst/>
                <a:latin typeface="+mn-lt"/>
                <a:ea typeface="+mn-ea"/>
                <a:cs typeface="+mn-cs"/>
              </a:rPr>
              <a:t>连接称为半连接（</a:t>
            </a:r>
            <a:r>
              <a:rPr lang="en" altLang="zh-CN" sz="1800" b="0" i="0" u="none" strike="noStrike" kern="1200" dirty="0">
                <a:solidFill>
                  <a:schemeClr val="tx1"/>
                </a:solidFill>
                <a:effectLst/>
                <a:latin typeface="+mn-lt"/>
                <a:ea typeface="+mn-ea"/>
                <a:cs typeface="+mn-cs"/>
              </a:rPr>
              <a:t>half-open connect</a:t>
            </a:r>
            <a:r>
              <a:rPr lang="zh-CN" altLang="en" sz="1800" b="0" i="0" u="none" strike="noStrike" kern="1200" dirty="0">
                <a:solidFill>
                  <a:schemeClr val="tx1"/>
                </a:solidFill>
                <a:effectLst/>
                <a:latin typeface="+mn-lt"/>
                <a:ea typeface="+mn-ea"/>
                <a:cs typeface="+mn-cs"/>
              </a:rPr>
              <a:t>），</a:t>
            </a:r>
            <a:r>
              <a:rPr lang="zh-CN" altLang="en-US" sz="1800" b="0" i="0" u="none" strike="noStrike" kern="1200" dirty="0">
                <a:solidFill>
                  <a:schemeClr val="tx1"/>
                </a:solidFill>
                <a:effectLst/>
                <a:latin typeface="+mn-lt"/>
                <a:ea typeface="+mn-ea"/>
                <a:cs typeface="+mn-cs"/>
              </a:rPr>
              <a:t>此时</a:t>
            </a:r>
            <a:r>
              <a:rPr lang="en" altLang="zh-CN" sz="1800" b="0" i="0" u="none" strike="noStrike" kern="1200" dirty="0">
                <a:solidFill>
                  <a:schemeClr val="tx1"/>
                </a:solidFill>
                <a:effectLst/>
                <a:latin typeface="+mn-lt"/>
                <a:ea typeface="+mn-ea"/>
                <a:cs typeface="+mn-cs"/>
              </a:rPr>
              <a:t>Server</a:t>
            </a:r>
            <a:r>
              <a:rPr lang="zh-CN" altLang="en-US" sz="1800" b="0" i="0" u="none" strike="noStrike" kern="1200" dirty="0">
                <a:solidFill>
                  <a:schemeClr val="tx1"/>
                </a:solidFill>
                <a:effectLst/>
                <a:latin typeface="+mn-lt"/>
                <a:ea typeface="+mn-ea"/>
                <a:cs typeface="+mn-cs"/>
              </a:rPr>
              <a:t>处于</a:t>
            </a:r>
            <a:r>
              <a:rPr lang="en" altLang="zh-CN" sz="1800" b="0" i="0" u="none" strike="noStrike" kern="1200" dirty="0">
                <a:solidFill>
                  <a:schemeClr val="tx1"/>
                </a:solidFill>
                <a:effectLst/>
                <a:latin typeface="+mn-lt"/>
                <a:ea typeface="+mn-ea"/>
                <a:cs typeface="+mn-cs"/>
              </a:rPr>
              <a:t>SYN_RCVD</a:t>
            </a:r>
            <a:r>
              <a:rPr lang="zh-CN" altLang="en-US" sz="1800" b="0" i="0" u="none" strike="noStrike" kern="1200" dirty="0">
                <a:solidFill>
                  <a:schemeClr val="tx1"/>
                </a:solidFill>
                <a:effectLst/>
                <a:latin typeface="+mn-lt"/>
                <a:ea typeface="+mn-ea"/>
                <a:cs typeface="+mn-cs"/>
              </a:rPr>
              <a:t>状态，当收到</a:t>
            </a:r>
            <a:r>
              <a:rPr lang="en"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后，</a:t>
            </a:r>
            <a:r>
              <a:rPr lang="en" altLang="zh-CN" sz="1800" b="0" i="0" u="none" strike="noStrike" kern="1200" dirty="0">
                <a:solidFill>
                  <a:schemeClr val="tx1"/>
                </a:solidFill>
                <a:effectLst/>
                <a:latin typeface="+mn-lt"/>
                <a:ea typeface="+mn-ea"/>
                <a:cs typeface="+mn-cs"/>
              </a:rPr>
              <a:t>Server</a:t>
            </a:r>
            <a:r>
              <a:rPr lang="zh-CN" altLang="en-US" sz="1800" b="0" i="0" u="none" strike="noStrike" kern="1200" dirty="0">
                <a:solidFill>
                  <a:schemeClr val="tx1"/>
                </a:solidFill>
                <a:effectLst/>
                <a:latin typeface="+mn-lt"/>
                <a:ea typeface="+mn-ea"/>
                <a:cs typeface="+mn-cs"/>
              </a:rPr>
              <a:t>转入</a:t>
            </a:r>
            <a:r>
              <a:rPr lang="en" altLang="zh-CN" sz="1800" b="0" i="0" u="none" strike="noStrike" kern="1200" dirty="0">
                <a:solidFill>
                  <a:schemeClr val="tx1"/>
                </a:solidFill>
                <a:effectLst/>
                <a:latin typeface="+mn-lt"/>
                <a:ea typeface="+mn-ea"/>
                <a:cs typeface="+mn-cs"/>
              </a:rPr>
              <a:t>ESTABLISHED</a:t>
            </a:r>
            <a:r>
              <a:rPr lang="zh-CN" altLang="en-US" sz="1800" b="0" i="0" u="none" strike="noStrike" kern="1200" dirty="0">
                <a:solidFill>
                  <a:schemeClr val="tx1"/>
                </a:solidFill>
                <a:effectLst/>
                <a:latin typeface="+mn-lt"/>
                <a:ea typeface="+mn-ea"/>
                <a:cs typeface="+mn-cs"/>
              </a:rPr>
              <a:t>状态。</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攻击就是</a:t>
            </a:r>
            <a:r>
              <a:rPr lang="en" altLang="zh-CN" sz="1800" b="0" i="0" u="none" strike="noStrike" kern="1200" dirty="0">
                <a:solidFill>
                  <a:schemeClr val="tx1"/>
                </a:solidFill>
                <a:effectLst/>
                <a:latin typeface="+mn-lt"/>
                <a:ea typeface="+mn-ea"/>
                <a:cs typeface="+mn-cs"/>
              </a:rPr>
              <a:t>Client</a:t>
            </a:r>
            <a:r>
              <a:rPr lang="zh-CN" altLang="en-US" sz="1800" b="0" i="0" u="none" strike="noStrike" kern="1200" dirty="0">
                <a:solidFill>
                  <a:schemeClr val="tx1"/>
                </a:solidFill>
                <a:effectLst/>
                <a:latin typeface="+mn-lt"/>
                <a:ea typeface="+mn-ea"/>
                <a:cs typeface="+mn-cs"/>
              </a:rPr>
              <a:t>在短时间内伪造大量不存在的</a:t>
            </a:r>
            <a:r>
              <a:rPr lang="en" altLang="zh-CN" sz="1800" b="0" i="0" u="none" strike="noStrike" kern="1200" dirty="0">
                <a:solidFill>
                  <a:schemeClr val="tx1"/>
                </a:solidFill>
                <a:effectLst/>
                <a:latin typeface="+mn-lt"/>
                <a:ea typeface="+mn-ea"/>
                <a:cs typeface="+mn-cs"/>
              </a:rPr>
              <a:t>IP</a:t>
            </a:r>
            <a:r>
              <a:rPr lang="zh-CN" altLang="en-US" sz="1800" b="0" i="0" u="none" strike="noStrike" kern="1200" dirty="0">
                <a:solidFill>
                  <a:schemeClr val="tx1"/>
                </a:solidFill>
                <a:effectLst/>
                <a:latin typeface="+mn-lt"/>
                <a:ea typeface="+mn-ea"/>
                <a:cs typeface="+mn-cs"/>
              </a:rPr>
              <a:t>地址，并向</a:t>
            </a:r>
            <a:r>
              <a:rPr lang="en" altLang="zh-CN" sz="1800" b="0" i="0" u="none" strike="noStrike" kern="1200" dirty="0">
                <a:solidFill>
                  <a:schemeClr val="tx1"/>
                </a:solidFill>
                <a:effectLst/>
                <a:latin typeface="+mn-lt"/>
                <a:ea typeface="+mn-ea"/>
                <a:cs typeface="+mn-cs"/>
              </a:rPr>
              <a:t>Server</a:t>
            </a:r>
            <a:r>
              <a:rPr lang="zh-CN" altLang="en-US" sz="1800" b="0" i="0" u="none" strike="noStrike" kern="1200" dirty="0">
                <a:solidFill>
                  <a:schemeClr val="tx1"/>
                </a:solidFill>
                <a:effectLst/>
                <a:latin typeface="+mn-lt"/>
                <a:ea typeface="+mn-ea"/>
                <a:cs typeface="+mn-cs"/>
              </a:rPr>
              <a:t>不断地发送</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包，</a:t>
            </a:r>
            <a:r>
              <a:rPr lang="en" altLang="zh-CN" sz="1800" b="0" i="0" u="none" strike="noStrike" kern="1200" dirty="0">
                <a:solidFill>
                  <a:schemeClr val="tx1"/>
                </a:solidFill>
                <a:effectLst/>
                <a:latin typeface="+mn-lt"/>
                <a:ea typeface="+mn-ea"/>
                <a:cs typeface="+mn-cs"/>
              </a:rPr>
              <a:t>Server</a:t>
            </a:r>
            <a:r>
              <a:rPr lang="zh-CN" altLang="en-US" sz="1800" b="0" i="0" u="none" strike="noStrike" kern="1200" dirty="0">
                <a:solidFill>
                  <a:schemeClr val="tx1"/>
                </a:solidFill>
                <a:effectLst/>
                <a:latin typeface="+mn-lt"/>
                <a:ea typeface="+mn-ea"/>
                <a:cs typeface="+mn-cs"/>
              </a:rPr>
              <a:t>回复确认包，并等待</a:t>
            </a:r>
            <a:r>
              <a:rPr lang="en" altLang="zh-CN" sz="1800" b="0" i="0" u="none" strike="noStrike" kern="1200" dirty="0">
                <a:solidFill>
                  <a:schemeClr val="tx1"/>
                </a:solidFill>
                <a:effectLst/>
                <a:latin typeface="+mn-lt"/>
                <a:ea typeface="+mn-ea"/>
                <a:cs typeface="+mn-cs"/>
              </a:rPr>
              <a:t>Client</a:t>
            </a:r>
            <a:r>
              <a:rPr lang="zh-CN" altLang="en-US" sz="1800" b="0" i="0" u="none" strike="noStrike" kern="1200" dirty="0">
                <a:solidFill>
                  <a:schemeClr val="tx1"/>
                </a:solidFill>
                <a:effectLst/>
                <a:latin typeface="+mn-lt"/>
                <a:ea typeface="+mn-ea"/>
                <a:cs typeface="+mn-cs"/>
              </a:rPr>
              <a:t>的确认，由于源地址是不存在的，因此，</a:t>
            </a:r>
            <a:r>
              <a:rPr lang="en" altLang="zh-CN" sz="1800" b="0" i="0" u="none" strike="noStrike" kern="1200" dirty="0">
                <a:solidFill>
                  <a:schemeClr val="tx1"/>
                </a:solidFill>
                <a:effectLst/>
                <a:latin typeface="+mn-lt"/>
                <a:ea typeface="+mn-ea"/>
                <a:cs typeface="+mn-cs"/>
              </a:rPr>
              <a:t>Server</a:t>
            </a:r>
            <a:r>
              <a:rPr lang="zh-CN" altLang="en-US" sz="1800" b="0" i="0" u="none" strike="noStrike" kern="1200" dirty="0">
                <a:solidFill>
                  <a:schemeClr val="tx1"/>
                </a:solidFill>
                <a:effectLst/>
                <a:latin typeface="+mn-lt"/>
                <a:ea typeface="+mn-ea"/>
                <a:cs typeface="+mn-cs"/>
              </a:rPr>
              <a:t>需要不断重发直至超时，这些伪造的</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包将产时间占用未连接队列，导致正常的</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请求因为队列满而被丢弃，从而引起网络堵塞甚至系统瘫痪。</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攻击时一种典型的</a:t>
            </a:r>
            <a:r>
              <a:rPr lang="en" altLang="zh-CN" sz="1800" b="0" i="0" u="none" strike="noStrike" kern="1200" dirty="0">
                <a:solidFill>
                  <a:schemeClr val="tx1"/>
                </a:solidFill>
                <a:effectLst/>
                <a:latin typeface="+mn-lt"/>
                <a:ea typeface="+mn-ea"/>
                <a:cs typeface="+mn-cs"/>
              </a:rPr>
              <a:t>DDOS</a:t>
            </a:r>
            <a:r>
              <a:rPr lang="zh-CN" altLang="en-US" sz="1800" b="0" i="0" u="none" strike="noStrike" kern="1200" dirty="0">
                <a:solidFill>
                  <a:schemeClr val="tx1"/>
                </a:solidFill>
                <a:effectLst/>
                <a:latin typeface="+mn-lt"/>
                <a:ea typeface="+mn-ea"/>
                <a:cs typeface="+mn-cs"/>
              </a:rPr>
              <a:t>攻击</a:t>
            </a:r>
            <a:endParaRPr dirty="0"/>
          </a:p>
        </p:txBody>
      </p:sp>
    </p:spTree>
    <p:extLst>
      <p:ext uri="{BB962C8B-B14F-4D97-AF65-F5344CB8AC3E}">
        <p14:creationId xmlns:p14="http://schemas.microsoft.com/office/powerpoint/2010/main" val="10227074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Shape 202"/>
          <p:cNvSpPr>
            <a:spLocks noGrp="1" noRot="1" noChangeAspect="1"/>
          </p:cNvSpPr>
          <p:nvPr>
            <p:ph type="sldImg"/>
          </p:nvPr>
        </p:nvSpPr>
        <p:spPr>
          <a:prstGeom prst="rect">
            <a:avLst/>
          </a:prstGeom>
        </p:spPr>
        <p:txBody>
          <a:bodyPr/>
          <a:lstStyle/>
          <a:p>
            <a:endParaRPr/>
          </a:p>
        </p:txBody>
      </p:sp>
      <p:sp>
        <p:nvSpPr>
          <p:cNvPr id="203" name="Shape 203"/>
          <p:cNvSpPr>
            <a:spLocks noGrp="1"/>
          </p:cNvSpPr>
          <p:nvPr>
            <p:ph type="body" sz="quarter" idx="1"/>
          </p:nvPr>
        </p:nvSpPr>
        <p:spPr>
          <a:prstGeom prst="rect">
            <a:avLst/>
          </a:prstGeom>
        </p:spPr>
        <p:txBody>
          <a:bodyPr/>
          <a:lstStyle>
            <a:lvl1pPr>
              <a:defRPr sz="1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dirty="0"/>
              <a:t>Dos</a:t>
            </a:r>
            <a:r>
              <a:rPr kumimoji="1" lang="zh-CN" altLang="en" dirty="0"/>
              <a:t>攻击</a:t>
            </a:r>
            <a:r>
              <a:rPr kumimoji="1" lang="zh-CN" altLang="en-US" dirty="0"/>
              <a:t>能够成功的关键在于，服务器接收到一个请求，需要保持一个对应的状态，具体来说就是针对这个请求分配相应的资源，在客户端响应，或者识别出其身份之前，这些资源不会被释放掉。</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虽然可以通过增加响应请求的队列规模，或者减小</a:t>
            </a:r>
            <a:r>
              <a:rPr kumimoji="1" lang="en-US" altLang="zh-CN" dirty="0"/>
              <a:t>timeout</a:t>
            </a:r>
            <a:r>
              <a:rPr kumimoji="1" lang="zh-CN" altLang="en-US" dirty="0"/>
              <a:t>的值来减轻危害，但这些是不好的解决方案</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a:p>
            <a:r>
              <a:rPr kumimoji="1" lang="zh-CN" altLang="en" dirty="0"/>
              <a:t>可行</a:t>
            </a:r>
            <a:r>
              <a:rPr kumimoji="1" lang="zh-CN" altLang="en-US" dirty="0"/>
              <a:t>的解决方案是避免让服务器保持状态。对</a:t>
            </a:r>
            <a:r>
              <a:rPr kumimoji="1" lang="en-US" altLang="zh-CN" dirty="0"/>
              <a:t>SYN</a:t>
            </a:r>
            <a:r>
              <a:rPr kumimoji="1" lang="zh-CN" altLang="en-US" dirty="0"/>
              <a:t> </a:t>
            </a:r>
            <a:r>
              <a:rPr kumimoji="1" lang="en-US" altLang="zh-CN" dirty="0"/>
              <a:t>Dos</a:t>
            </a:r>
            <a:r>
              <a:rPr kumimoji="1" lang="zh-CN" altLang="en-US" dirty="0"/>
              <a:t>攻击就是在</a:t>
            </a:r>
            <a:r>
              <a:rPr kumimoji="1" lang="en-US" altLang="zh-CN" dirty="0"/>
              <a:t>3</a:t>
            </a:r>
            <a:r>
              <a:rPr kumimoji="1" lang="zh-CN" altLang="en-US" dirty="0"/>
              <a:t>次握手前，服务器端不保持状态。</a:t>
            </a:r>
            <a:endParaRPr dirty="0"/>
          </a:p>
        </p:txBody>
      </p:sp>
    </p:spTree>
    <p:extLst>
      <p:ext uri="{BB962C8B-B14F-4D97-AF65-F5344CB8AC3E}">
        <p14:creationId xmlns:p14="http://schemas.microsoft.com/office/powerpoint/2010/main" val="20372936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hape 209"/>
          <p:cNvSpPr>
            <a:spLocks noGrp="1" noRot="1" noChangeAspect="1"/>
          </p:cNvSpPr>
          <p:nvPr>
            <p:ph type="sldImg"/>
          </p:nvPr>
        </p:nvSpPr>
        <p:spPr>
          <a:prstGeom prst="rect">
            <a:avLst/>
          </a:prstGeom>
        </p:spPr>
        <p:txBody>
          <a:bodyPr/>
          <a:lstStyle/>
          <a:p>
            <a:endParaRPr/>
          </a:p>
        </p:txBody>
      </p:sp>
      <p:sp>
        <p:nvSpPr>
          <p:cNvPr id="210" name="Shape 210"/>
          <p:cNvSpPr>
            <a:spLocks noGrp="1"/>
          </p:cNvSpPr>
          <p:nvPr>
            <p:ph type="body" sz="quarter" idx="1"/>
          </p:nvPr>
        </p:nvSpPr>
        <p:spPr>
          <a:prstGeom prst="rect">
            <a:avLst/>
          </a:prstGeom>
        </p:spPr>
        <p:txBody>
          <a:bodyPr/>
          <a:lstStyle>
            <a:lvl1pPr>
              <a:defRPr sz="1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r>
              <a:rPr lang="en" altLang="zh-CN" sz="1800" b="0" i="0" u="none" strike="noStrike" kern="1200" dirty="0">
                <a:solidFill>
                  <a:schemeClr val="tx1"/>
                </a:solidFill>
                <a:effectLst/>
                <a:latin typeface="+mn-lt"/>
                <a:ea typeface="+mn-ea"/>
                <a:cs typeface="+mn-cs"/>
              </a:rPr>
              <a:t>SYN Cookie</a:t>
            </a:r>
            <a:r>
              <a:rPr lang="zh-CN" altLang="en-US" sz="1800" b="0" i="0" u="none" strike="noStrike" kern="1200" dirty="0">
                <a:solidFill>
                  <a:schemeClr val="tx1"/>
                </a:solidFill>
                <a:effectLst/>
                <a:latin typeface="+mn-lt"/>
                <a:ea typeface="+mn-ea"/>
                <a:cs typeface="+mn-cs"/>
              </a:rPr>
              <a:t>原理由</a:t>
            </a:r>
            <a:r>
              <a:rPr lang="en" altLang="zh-CN" sz="1800" b="0" i="0" u="none" strike="noStrike" kern="1200" dirty="0">
                <a:solidFill>
                  <a:schemeClr val="tx1"/>
                </a:solidFill>
                <a:effectLst/>
                <a:latin typeface="+mn-lt"/>
                <a:ea typeface="+mn-ea"/>
                <a:cs typeface="+mn-cs"/>
              </a:rPr>
              <a:t>D.J. </a:t>
            </a:r>
            <a:r>
              <a:rPr lang="en" altLang="zh-CN" sz="1800" b="0" i="0" u="none" strike="noStrike" kern="1200" dirty="0" err="1">
                <a:solidFill>
                  <a:schemeClr val="tx1"/>
                </a:solidFill>
                <a:effectLst/>
                <a:latin typeface="+mn-lt"/>
                <a:ea typeface="+mn-ea"/>
                <a:cs typeface="+mn-cs"/>
              </a:rPr>
              <a:t>Bernstain</a:t>
            </a:r>
            <a:r>
              <a:rPr lang="zh-CN" altLang="en-US" sz="1800" b="0" i="0" u="none" strike="noStrike" kern="1200" dirty="0">
                <a:solidFill>
                  <a:schemeClr val="tx1"/>
                </a:solidFill>
                <a:effectLst/>
                <a:latin typeface="+mn-lt"/>
                <a:ea typeface="+mn-ea"/>
                <a:cs typeface="+mn-cs"/>
              </a:rPr>
              <a:t>和</a:t>
            </a:r>
            <a:r>
              <a:rPr lang="en" altLang="zh-CN" sz="1800" b="0" i="0" u="none" strike="noStrike" kern="1200" dirty="0">
                <a:solidFill>
                  <a:schemeClr val="tx1"/>
                </a:solidFill>
                <a:effectLst/>
                <a:latin typeface="+mn-lt"/>
                <a:ea typeface="+mn-ea"/>
                <a:cs typeface="+mn-cs"/>
              </a:rPr>
              <a:t>Eric Schenk</a:t>
            </a:r>
            <a:r>
              <a:rPr lang="zh-CN" altLang="en-US" sz="1800" b="0" i="0" u="none" strike="noStrike" kern="1200" dirty="0">
                <a:solidFill>
                  <a:schemeClr val="tx1"/>
                </a:solidFill>
                <a:effectLst/>
                <a:latin typeface="+mn-lt"/>
                <a:ea typeface="+mn-ea"/>
                <a:cs typeface="+mn-cs"/>
              </a:rPr>
              <a:t>提出。</a:t>
            </a:r>
          </a:p>
          <a:p>
            <a:r>
              <a:rPr lang="zh-CN" altLang="en-US" sz="1800" b="0" i="0" u="none" strike="noStrike" kern="1200" dirty="0">
                <a:solidFill>
                  <a:schemeClr val="tx1"/>
                </a:solidFill>
                <a:effectLst/>
                <a:latin typeface="+mn-lt"/>
                <a:ea typeface="+mn-ea"/>
                <a:cs typeface="+mn-cs"/>
              </a:rPr>
              <a:t>它的原理是，在</a:t>
            </a:r>
            <a:r>
              <a:rPr lang="en" altLang="zh-CN" sz="1800" b="0" i="0" u="none" strike="noStrike" kern="1200" dirty="0">
                <a:solidFill>
                  <a:schemeClr val="tx1"/>
                </a:solidFill>
                <a:effectLst/>
                <a:latin typeface="+mn-lt"/>
                <a:ea typeface="+mn-ea"/>
                <a:cs typeface="+mn-cs"/>
              </a:rPr>
              <a:t>TCP</a:t>
            </a:r>
            <a:r>
              <a:rPr lang="zh-CN" altLang="en-US" sz="1800" b="0" i="0" u="none" strike="noStrike" kern="1200" dirty="0">
                <a:solidFill>
                  <a:schemeClr val="tx1"/>
                </a:solidFill>
                <a:effectLst/>
                <a:latin typeface="+mn-lt"/>
                <a:ea typeface="+mn-ea"/>
                <a:cs typeface="+mn-cs"/>
              </a:rPr>
              <a:t>服务器接收到</a:t>
            </a:r>
            <a:r>
              <a:rPr lang="en" altLang="zh-CN" sz="1800" b="0" i="0" u="none" strike="noStrike" kern="1200" dirty="0">
                <a:solidFill>
                  <a:schemeClr val="tx1"/>
                </a:solidFill>
                <a:effectLst/>
                <a:latin typeface="+mn-lt"/>
                <a:ea typeface="+mn-ea"/>
                <a:cs typeface="+mn-cs"/>
              </a:rPr>
              <a:t>TCP SYN</a:t>
            </a:r>
            <a:r>
              <a:rPr lang="zh-CN" altLang="en-US" sz="1800" b="0" i="0" u="none" strike="noStrike" kern="1200" dirty="0">
                <a:solidFill>
                  <a:schemeClr val="tx1"/>
                </a:solidFill>
                <a:effectLst/>
                <a:latin typeface="+mn-lt"/>
                <a:ea typeface="+mn-ea"/>
                <a:cs typeface="+mn-cs"/>
              </a:rPr>
              <a:t>包并返回</a:t>
            </a:r>
            <a:r>
              <a:rPr lang="en" altLang="zh-CN" sz="1800" b="0" i="0" u="none" strike="noStrike" kern="1200" dirty="0">
                <a:solidFill>
                  <a:schemeClr val="tx1"/>
                </a:solidFill>
                <a:effectLst/>
                <a:latin typeface="+mn-lt"/>
                <a:ea typeface="+mn-ea"/>
                <a:cs typeface="+mn-cs"/>
              </a:rPr>
              <a:t>TCP SYN + ACK</a:t>
            </a:r>
            <a:r>
              <a:rPr lang="zh-CN" altLang="en-US" sz="1800" b="0" i="0" u="none" strike="noStrike" kern="1200" dirty="0">
                <a:solidFill>
                  <a:schemeClr val="tx1"/>
                </a:solidFill>
                <a:effectLst/>
                <a:latin typeface="+mn-lt"/>
                <a:ea typeface="+mn-ea"/>
                <a:cs typeface="+mn-cs"/>
              </a:rPr>
              <a:t>包时，不分配一个专门的数据区，而是根据这个</a:t>
            </a:r>
            <a:r>
              <a:rPr lang="en" altLang="zh-CN" sz="1800" b="0" i="0" u="none" strike="noStrike" kern="1200" dirty="0">
                <a:solidFill>
                  <a:schemeClr val="tx1"/>
                </a:solidFill>
                <a:effectLst/>
                <a:latin typeface="+mn-lt"/>
                <a:ea typeface="+mn-ea"/>
                <a:cs typeface="+mn-cs"/>
              </a:rPr>
              <a:t>SYN</a:t>
            </a:r>
            <a:r>
              <a:rPr lang="zh-CN" altLang="en-US" sz="1800" b="0" i="0" u="none" strike="noStrike" kern="1200" dirty="0">
                <a:solidFill>
                  <a:schemeClr val="tx1"/>
                </a:solidFill>
                <a:effectLst/>
                <a:latin typeface="+mn-lt"/>
                <a:ea typeface="+mn-ea"/>
                <a:cs typeface="+mn-cs"/>
              </a:rPr>
              <a:t>包计算出一个</a:t>
            </a:r>
            <a:r>
              <a:rPr lang="en" altLang="zh-CN" sz="1800" b="0" i="0" u="none" strike="noStrike" kern="1200" dirty="0">
                <a:solidFill>
                  <a:schemeClr val="tx1"/>
                </a:solidFill>
                <a:effectLst/>
                <a:latin typeface="+mn-lt"/>
                <a:ea typeface="+mn-ea"/>
                <a:cs typeface="+mn-cs"/>
              </a:rPr>
              <a:t>cookie</a:t>
            </a:r>
            <a:r>
              <a:rPr lang="zh-CN" altLang="en-US" sz="1800" b="0" i="0" u="none" strike="noStrike" kern="1200" dirty="0">
                <a:solidFill>
                  <a:schemeClr val="tx1"/>
                </a:solidFill>
                <a:effectLst/>
                <a:latin typeface="+mn-lt"/>
                <a:ea typeface="+mn-ea"/>
                <a:cs typeface="+mn-cs"/>
              </a:rPr>
              <a:t>值。</a:t>
            </a:r>
            <a:endParaRPr lang="en-US" altLang="zh-CN" sz="1800" b="0" i="0" u="none" strike="noStrike" kern="1200" dirty="0">
              <a:solidFill>
                <a:schemeClr val="tx1"/>
              </a:solidFill>
              <a:effectLst/>
              <a:latin typeface="+mn-lt"/>
              <a:ea typeface="+mn-ea"/>
              <a:cs typeface="+mn-cs"/>
            </a:endParaRPr>
          </a:p>
          <a:p>
            <a:r>
              <a:rPr lang="zh-CN" altLang="en-US" sz="1800" b="1" i="0" u="none" strike="noStrike" kern="1200" dirty="0">
                <a:solidFill>
                  <a:schemeClr val="tx1"/>
                </a:solidFill>
                <a:effectLst/>
                <a:latin typeface="+mn-lt"/>
                <a:ea typeface="+mn-ea"/>
                <a:cs typeface="+mn-cs"/>
              </a:rPr>
              <a:t>这个</a:t>
            </a:r>
            <a:r>
              <a:rPr lang="en" altLang="zh-CN" sz="1800" b="1" i="0" u="none" strike="noStrike" kern="1200" dirty="0">
                <a:solidFill>
                  <a:schemeClr val="tx1"/>
                </a:solidFill>
                <a:effectLst/>
                <a:latin typeface="+mn-lt"/>
                <a:ea typeface="+mn-ea"/>
                <a:cs typeface="+mn-cs"/>
              </a:rPr>
              <a:t>cookie</a:t>
            </a:r>
            <a:r>
              <a:rPr lang="zh-CN" altLang="en-US" sz="1800" b="1" i="0" u="none" strike="noStrike" kern="1200" dirty="0">
                <a:solidFill>
                  <a:schemeClr val="tx1"/>
                </a:solidFill>
                <a:effectLst/>
                <a:latin typeface="+mn-lt"/>
                <a:ea typeface="+mn-ea"/>
                <a:cs typeface="+mn-cs"/>
              </a:rPr>
              <a:t>作为将要返回的</a:t>
            </a:r>
            <a:r>
              <a:rPr lang="en" altLang="zh-CN" sz="1800" b="1" i="0" u="none" strike="noStrike" kern="1200" dirty="0">
                <a:solidFill>
                  <a:schemeClr val="tx1"/>
                </a:solidFill>
                <a:effectLst/>
                <a:latin typeface="+mn-lt"/>
                <a:ea typeface="+mn-ea"/>
                <a:cs typeface="+mn-cs"/>
              </a:rPr>
              <a:t>SYN ACK</a:t>
            </a:r>
            <a:r>
              <a:rPr lang="zh-CN" altLang="en-US" sz="1800" b="1" i="0" u="none" strike="noStrike" kern="1200" dirty="0">
                <a:solidFill>
                  <a:schemeClr val="tx1"/>
                </a:solidFill>
                <a:effectLst/>
                <a:latin typeface="+mn-lt"/>
                <a:ea typeface="+mn-ea"/>
                <a:cs typeface="+mn-cs"/>
              </a:rPr>
              <a:t>包的初始序列号。</a:t>
            </a:r>
            <a:endParaRPr lang="en-US" altLang="zh-CN" sz="1800" b="1" i="0" u="none" strike="noStrike" kern="1200" dirty="0">
              <a:solidFill>
                <a:schemeClr val="tx1"/>
              </a:solidFill>
              <a:effectLst/>
              <a:latin typeface="+mn-lt"/>
              <a:ea typeface="+mn-ea"/>
              <a:cs typeface="+mn-cs"/>
            </a:endParaRPr>
          </a:p>
          <a:p>
            <a:r>
              <a:rPr lang="zh-CN" altLang="en-US" sz="1800" b="0" i="0" u="none" strike="noStrike" kern="1200" dirty="0">
                <a:solidFill>
                  <a:schemeClr val="tx1"/>
                </a:solidFill>
                <a:effectLst/>
                <a:latin typeface="+mn-lt"/>
                <a:ea typeface="+mn-ea"/>
                <a:cs typeface="+mn-cs"/>
              </a:rPr>
              <a:t>当客户端返回一个</a:t>
            </a:r>
            <a:r>
              <a:rPr lang="en" altLang="zh-CN" sz="1800" b="0" i="0" u="none" strike="noStrike" kern="1200" dirty="0">
                <a:solidFill>
                  <a:schemeClr val="tx1"/>
                </a:solidFill>
                <a:effectLst/>
                <a:latin typeface="+mn-lt"/>
                <a:ea typeface="+mn-ea"/>
                <a:cs typeface="+mn-cs"/>
              </a:rPr>
              <a:t>ACK</a:t>
            </a:r>
            <a:r>
              <a:rPr lang="zh-CN" altLang="en-US" sz="1800" b="0" i="0" u="none" strike="noStrike" kern="1200" dirty="0">
                <a:solidFill>
                  <a:schemeClr val="tx1"/>
                </a:solidFill>
                <a:effectLst/>
                <a:latin typeface="+mn-lt"/>
                <a:ea typeface="+mn-ea"/>
                <a:cs typeface="+mn-cs"/>
              </a:rPr>
              <a:t>包时，根据包头信息计算</a:t>
            </a:r>
            <a:r>
              <a:rPr lang="en" altLang="zh-CN" sz="1800" b="0" i="0" u="none" strike="noStrike" kern="1200" dirty="0">
                <a:solidFill>
                  <a:schemeClr val="tx1"/>
                </a:solidFill>
                <a:effectLst/>
                <a:latin typeface="+mn-lt"/>
                <a:ea typeface="+mn-ea"/>
                <a:cs typeface="+mn-cs"/>
              </a:rPr>
              <a:t>cookie</a:t>
            </a:r>
            <a:r>
              <a:rPr lang="zh-CN" altLang="en" sz="1800" b="0" i="0" u="none" strike="noStrike" kern="1200" dirty="0">
                <a:solidFill>
                  <a:schemeClr val="tx1"/>
                </a:solidFill>
                <a:effectLst/>
                <a:latin typeface="+mn-lt"/>
                <a:ea typeface="+mn-ea"/>
                <a:cs typeface="+mn-cs"/>
              </a:rPr>
              <a:t>，</a:t>
            </a:r>
            <a:r>
              <a:rPr lang="zh-CN" altLang="en-US" sz="1800" b="0" i="0" u="none" strike="noStrike" kern="1200" dirty="0">
                <a:solidFill>
                  <a:schemeClr val="tx1"/>
                </a:solidFill>
                <a:effectLst/>
                <a:latin typeface="+mn-lt"/>
                <a:ea typeface="+mn-ea"/>
                <a:cs typeface="+mn-cs"/>
              </a:rPr>
              <a:t>与返回的确认序列号</a:t>
            </a:r>
            <a:r>
              <a:rPr lang="en-US" altLang="zh-CN" sz="1800" b="0" i="0" u="none" strike="noStrike" kern="1200" dirty="0">
                <a:solidFill>
                  <a:schemeClr val="tx1"/>
                </a:solidFill>
                <a:effectLst/>
                <a:latin typeface="+mn-lt"/>
                <a:ea typeface="+mn-ea"/>
                <a:cs typeface="+mn-cs"/>
              </a:rPr>
              <a:t>(</a:t>
            </a:r>
            <a:r>
              <a:rPr lang="zh-CN" altLang="en-US" sz="1800" b="0" i="0" u="none" strike="noStrike" kern="1200" dirty="0">
                <a:solidFill>
                  <a:schemeClr val="tx1"/>
                </a:solidFill>
                <a:effectLst/>
                <a:latin typeface="+mn-lt"/>
                <a:ea typeface="+mn-ea"/>
                <a:cs typeface="+mn-cs"/>
              </a:rPr>
              <a:t>初始序列号 </a:t>
            </a:r>
            <a:r>
              <a:rPr lang="en-US" altLang="zh-CN" sz="1800" b="0" i="0" u="none" strike="noStrike" kern="1200" dirty="0">
                <a:solidFill>
                  <a:schemeClr val="tx1"/>
                </a:solidFill>
                <a:effectLst/>
                <a:latin typeface="+mn-lt"/>
                <a:ea typeface="+mn-ea"/>
                <a:cs typeface="+mn-cs"/>
              </a:rPr>
              <a:t>+ 1)</a:t>
            </a:r>
            <a:r>
              <a:rPr lang="zh-CN" altLang="en-US" sz="1800" b="0" i="0" u="none" strike="noStrike" kern="1200" dirty="0">
                <a:solidFill>
                  <a:schemeClr val="tx1"/>
                </a:solidFill>
                <a:effectLst/>
                <a:latin typeface="+mn-lt"/>
                <a:ea typeface="+mn-ea"/>
                <a:cs typeface="+mn-cs"/>
              </a:rPr>
              <a:t>进行对比，</a:t>
            </a:r>
            <a:endParaRPr lang="en-US" altLang="zh-CN" sz="1800" b="0" i="0" u="none" strike="noStrike" kern="1200" dirty="0">
              <a:solidFill>
                <a:schemeClr val="tx1"/>
              </a:solidFill>
              <a:effectLst/>
              <a:latin typeface="+mn-lt"/>
              <a:ea typeface="+mn-ea"/>
              <a:cs typeface="+mn-cs"/>
            </a:endParaRPr>
          </a:p>
          <a:p>
            <a:r>
              <a:rPr lang="zh-CN" altLang="en-US" sz="1800" b="0" i="0" u="none" strike="noStrike" kern="1200" dirty="0">
                <a:solidFill>
                  <a:schemeClr val="tx1"/>
                </a:solidFill>
                <a:effectLst/>
                <a:latin typeface="+mn-lt"/>
                <a:ea typeface="+mn-ea"/>
                <a:cs typeface="+mn-cs"/>
              </a:rPr>
              <a:t>如果相同，则是一个正常连接。然后，分配资源，建立连接。</a:t>
            </a:r>
            <a:endParaRPr lang="en-US" altLang="zh-CN" sz="1800" b="0" i="0" u="none" strike="noStrike" kern="1200" dirty="0">
              <a:solidFill>
                <a:schemeClr val="tx1"/>
              </a:solidFill>
              <a:effectLst/>
              <a:latin typeface="+mn-lt"/>
              <a:ea typeface="+mn-ea"/>
              <a:cs typeface="+mn-cs"/>
            </a:endParaRPr>
          </a:p>
          <a:p>
            <a:endParaRPr lang="en-US" altLang="zh-CN" sz="18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r>
              <a:rPr lang="en-US" altLang="zh-CN" b="0" i="0" dirty="0" err="1">
                <a:solidFill>
                  <a:srgbClr val="333333"/>
                </a:solidFill>
                <a:effectLst/>
                <a:latin typeface="arial" panose="020B0604020202020204" pitchFamily="34" charset="0"/>
              </a:rPr>
              <a:t>mss</a:t>
            </a:r>
            <a:r>
              <a:rPr lang="zh-CN" altLang="en-US" b="0" i="0" dirty="0">
                <a:solidFill>
                  <a:srgbClr val="333333"/>
                </a:solidFill>
                <a:effectLst/>
                <a:latin typeface="arial" panose="020B0604020202020204" pitchFamily="34" charset="0"/>
              </a:rPr>
              <a:t>为服务器会在 </a:t>
            </a:r>
            <a:r>
              <a:rPr lang="en-US" altLang="zh-CN" b="0" i="0" dirty="0">
                <a:solidFill>
                  <a:srgbClr val="333333"/>
                </a:solidFill>
                <a:effectLst/>
                <a:latin typeface="arial" panose="020B0604020202020204" pitchFamily="34" charset="0"/>
              </a:rPr>
              <a:t>SYN </a:t>
            </a:r>
            <a:r>
              <a:rPr lang="zh-CN" altLang="en-US" b="0" i="0" dirty="0">
                <a:solidFill>
                  <a:srgbClr val="333333"/>
                </a:solidFill>
                <a:effectLst/>
                <a:latin typeface="arial" panose="020B0604020202020204" pitchFamily="34" charset="0"/>
              </a:rPr>
              <a:t>队列条目中存储的</a:t>
            </a:r>
            <a:r>
              <a:rPr lang="zh-CN" altLang="en-US" b="0" i="0" u="none" strike="noStrike" dirty="0">
                <a:solidFill>
                  <a:srgbClr val="136EC2"/>
                </a:solidFill>
                <a:effectLst/>
                <a:latin typeface="arial" panose="020B0604020202020204" pitchFamily="34" charset="0"/>
                <a:hlinkClick r:id="rId3"/>
              </a:rPr>
              <a:t>最大分段大小</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Maximum segment size</a:t>
            </a:r>
            <a:r>
              <a:rPr lang="zh-CN" altLang="en-US" b="0" i="0" dirty="0">
                <a:solidFill>
                  <a:srgbClr val="333333"/>
                </a:solidFill>
                <a:effectLst/>
                <a:latin typeface="arial" panose="020B0604020202020204" pitchFamily="34" charset="0"/>
              </a:rPr>
              <a:t>）；</a:t>
            </a:r>
            <a:endParaRPr lang="zh-CN" altLang="en-US" sz="18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023827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Shape 220"/>
          <p:cNvSpPr>
            <a:spLocks noGrp="1" noRot="1" noChangeAspect="1"/>
          </p:cNvSpPr>
          <p:nvPr>
            <p:ph type="sldImg"/>
          </p:nvPr>
        </p:nvSpPr>
        <p:spPr>
          <a:prstGeom prst="rect">
            <a:avLst/>
          </a:prstGeom>
        </p:spPr>
        <p:txBody>
          <a:bodyPr/>
          <a:lstStyle/>
          <a:p>
            <a:endParaRPr/>
          </a:p>
        </p:txBody>
      </p:sp>
      <p:sp>
        <p:nvSpPr>
          <p:cNvPr id="221" name="Shape 221"/>
          <p:cNvSpPr>
            <a:spLocks noGrp="1"/>
          </p:cNvSpPr>
          <p:nvPr>
            <p:ph type="body" sz="quarter" idx="1"/>
          </p:nvPr>
        </p:nvSpPr>
        <p:spPr>
          <a:prstGeom prst="rect">
            <a:avLst/>
          </a:prstGeom>
        </p:spPr>
        <p:txBody>
          <a:bodyPr/>
          <a:lstStyle>
            <a:lvl1pPr>
              <a:defRPr sz="1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讲解脚本</a:t>
            </a:r>
            <a:r>
              <a:rPr lang="en-US" altLang="zh-CN" dirty="0"/>
              <a:t>】</a:t>
            </a:r>
          </a:p>
          <a:p>
            <a:r>
              <a:rPr kumimoji="1" lang="zh-CN" altLang="en-US" dirty="0"/>
              <a:t>利用某些网络服务中请求包小而响应（服务）包大的特点，进行放大攻击。</a:t>
            </a:r>
            <a:endParaRPr kumimoji="1" lang="en-US" altLang="zh-CN" dirty="0"/>
          </a:p>
          <a:p>
            <a:r>
              <a:rPr kumimoji="1" lang="zh-CN" altLang="en-US" dirty="0"/>
              <a:t>这种攻击通常作用于</a:t>
            </a:r>
            <a:r>
              <a:rPr kumimoji="1" lang="en-US" altLang="zh-CN" dirty="0"/>
              <a:t>UDP</a:t>
            </a:r>
            <a:r>
              <a:rPr kumimoji="1" lang="zh-CN" altLang="en-US" dirty="0"/>
              <a:t>数据包支持的服务。</a:t>
            </a:r>
          </a:p>
          <a:p>
            <a:r>
              <a:rPr kumimoji="1" lang="zh-CN" altLang="en-US" dirty="0"/>
              <a:t>攻击者伪造数据包并将源</a:t>
            </a:r>
            <a:r>
              <a:rPr kumimoji="1" lang="en-US" altLang="zh-CN" dirty="0"/>
              <a:t>IP</a:t>
            </a:r>
            <a:r>
              <a:rPr kumimoji="1" lang="zh-CN" altLang="en-US" dirty="0"/>
              <a:t>设置为受害者的</a:t>
            </a:r>
            <a:r>
              <a:rPr kumimoji="1" lang="en-US" altLang="zh-CN" dirty="0"/>
              <a:t>IP</a:t>
            </a:r>
            <a:r>
              <a:rPr kumimoji="1" lang="zh-CN" altLang="en-US" dirty="0"/>
              <a:t>地址。当服务响应时，它会向被欺骗的受害者发送大量数据</a:t>
            </a:r>
          </a:p>
          <a:p>
            <a:r>
              <a:rPr kumimoji="1" lang="zh-CN" altLang="en-US" dirty="0"/>
              <a:t>攻击者通常需要发送大量这些服务请求。否则，受害者将通过简单的丢包化解。</a:t>
            </a:r>
            <a:endParaRPr kumimoji="1" lang="en-US" altLang="zh-CN" dirty="0"/>
          </a:p>
          <a:p>
            <a:endParaRPr kumimoji="1" lang="en-US" altLang="zh-CN" dirty="0"/>
          </a:p>
          <a:p>
            <a:r>
              <a:rPr kumimoji="1" lang="zh-CN" altLang="en-US" dirty="0"/>
              <a:t>右图是利用</a:t>
            </a:r>
            <a:r>
              <a:rPr kumimoji="1" lang="en-US" altLang="zh-CN" dirty="0"/>
              <a:t>DNS</a:t>
            </a:r>
            <a:r>
              <a:rPr kumimoji="1" lang="zh-CN" altLang="en-US" dirty="0"/>
              <a:t>服务发起放大攻击的例子。</a:t>
            </a:r>
            <a:endParaRPr kumimoji="1" lang="en" altLang="zh-CN" dirty="0"/>
          </a:p>
          <a:p>
            <a:endParaRPr kumimoji="1" lang="en" altLang="zh-CN" dirty="0"/>
          </a:p>
        </p:txBody>
      </p:sp>
    </p:spTree>
    <p:extLst>
      <p:ext uri="{BB962C8B-B14F-4D97-AF65-F5344CB8AC3E}">
        <p14:creationId xmlns:p14="http://schemas.microsoft.com/office/powerpoint/2010/main" val="42462976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hape 230"/>
          <p:cNvSpPr>
            <a:spLocks noGrp="1" noRot="1" noChangeAspect="1"/>
          </p:cNvSpPr>
          <p:nvPr>
            <p:ph type="sldImg"/>
          </p:nvPr>
        </p:nvSpPr>
        <p:spPr>
          <a:prstGeom prst="rect">
            <a:avLst/>
          </a:prstGeom>
        </p:spPr>
        <p:txBody>
          <a:bodyPr/>
          <a:lstStyle/>
          <a:p>
            <a:endParaRPr/>
          </a:p>
        </p:txBody>
      </p:sp>
      <p:sp>
        <p:nvSpPr>
          <p:cNvPr id="231" name="Shape 231"/>
          <p:cNvSpPr>
            <a:spLocks noGrp="1"/>
          </p:cNvSpPr>
          <p:nvPr>
            <p:ph type="body" sz="quarter" idx="1"/>
          </p:nvPr>
        </p:nvSpPr>
        <p:spPr>
          <a:prstGeom prst="rect">
            <a:avLst/>
          </a:prstGeom>
        </p:spPr>
        <p:txBody>
          <a:bodyPr/>
          <a:lstStyle>
            <a:lvl1pPr>
              <a:defRPr sz="18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r>
              <a:rPr lang="zh-CN" altLang="en-US" dirty="0"/>
              <a:t>美国东部时间</a:t>
            </a:r>
            <a:r>
              <a:rPr lang="en-US" altLang="zh-CN" dirty="0"/>
              <a:t>2018</a:t>
            </a:r>
            <a:r>
              <a:rPr lang="zh-CN" altLang="en-US" dirty="0"/>
              <a:t>年</a:t>
            </a:r>
            <a:r>
              <a:rPr lang="en-US" altLang="zh-CN" dirty="0"/>
              <a:t>2</a:t>
            </a:r>
            <a:r>
              <a:rPr lang="zh-CN" altLang="en-US" dirty="0"/>
              <a:t>月</a:t>
            </a:r>
            <a:r>
              <a:rPr lang="en-US" altLang="zh-CN" dirty="0"/>
              <a:t>28</a:t>
            </a:r>
            <a:r>
              <a:rPr lang="zh-CN" altLang="en-US" dirty="0"/>
              <a:t>日下午</a:t>
            </a:r>
            <a:r>
              <a:rPr lang="en-US" altLang="zh-CN" dirty="0"/>
              <a:t>12</a:t>
            </a:r>
            <a:r>
              <a:rPr lang="zh-CN" altLang="en-US" dirty="0"/>
              <a:t>点</a:t>
            </a:r>
            <a:r>
              <a:rPr lang="en-US" altLang="zh-CN" dirty="0"/>
              <a:t>15</a:t>
            </a:r>
            <a:r>
              <a:rPr lang="zh-CN" altLang="en-US" dirty="0"/>
              <a:t>分左右，</a:t>
            </a:r>
            <a:r>
              <a:rPr lang="en-US" altLang="zh-CN" dirty="0"/>
              <a:t>GitHub </a:t>
            </a:r>
            <a:r>
              <a:rPr lang="zh-CN" altLang="en-US" dirty="0"/>
              <a:t>遭遇了可能是迄今为止最大的 </a:t>
            </a:r>
            <a:r>
              <a:rPr lang="en-US" altLang="zh-CN" dirty="0"/>
              <a:t>DDoS </a:t>
            </a:r>
            <a:r>
              <a:rPr lang="zh-CN" altLang="en-US" dirty="0"/>
              <a:t>攻击，最高访问量为 </a:t>
            </a:r>
            <a:r>
              <a:rPr lang="en-US" altLang="zh-CN" dirty="0"/>
              <a:t>1.35Tbps</a:t>
            </a:r>
            <a:r>
              <a:rPr lang="zh-CN" altLang="en-US" dirty="0"/>
              <a:t>。</a:t>
            </a:r>
            <a:endParaRPr lang="en-US" altLang="zh-CN" dirty="0"/>
          </a:p>
          <a:p>
            <a:r>
              <a:rPr lang="zh-CN" altLang="en-US" b="0" i="0" dirty="0">
                <a:solidFill>
                  <a:srgbClr val="191919"/>
                </a:solidFill>
                <a:effectLst/>
                <a:latin typeface="PingFang SC"/>
              </a:rPr>
              <a:t>据悉，这种利用</a:t>
            </a:r>
            <a:r>
              <a:rPr lang="en-US" altLang="zh-CN" b="0" i="0" dirty="0" err="1">
                <a:solidFill>
                  <a:srgbClr val="191919"/>
                </a:solidFill>
                <a:effectLst/>
                <a:latin typeface="PingFang SC"/>
              </a:rPr>
              <a:t>Memcache</a:t>
            </a:r>
            <a:r>
              <a:rPr lang="zh-CN" altLang="en-US" b="0" i="0" dirty="0">
                <a:solidFill>
                  <a:srgbClr val="191919"/>
                </a:solidFill>
                <a:effectLst/>
                <a:latin typeface="PingFang SC"/>
              </a:rPr>
              <a:t>服务器的反射型</a:t>
            </a:r>
            <a:r>
              <a:rPr lang="en-US" altLang="zh-CN" b="0" i="0" dirty="0">
                <a:solidFill>
                  <a:srgbClr val="191919"/>
                </a:solidFill>
                <a:effectLst/>
                <a:latin typeface="PingFang SC"/>
              </a:rPr>
              <a:t>DDoS</a:t>
            </a:r>
            <a:r>
              <a:rPr lang="zh-CN" altLang="en-US" b="0" i="0" dirty="0">
                <a:solidFill>
                  <a:srgbClr val="191919"/>
                </a:solidFill>
                <a:effectLst/>
                <a:latin typeface="PingFang SC"/>
              </a:rPr>
              <a:t>攻击，早在</a:t>
            </a:r>
            <a:r>
              <a:rPr lang="en-US" altLang="zh-CN" b="0" i="0" dirty="0">
                <a:solidFill>
                  <a:srgbClr val="191919"/>
                </a:solidFill>
                <a:effectLst/>
                <a:latin typeface="PingFang SC"/>
              </a:rPr>
              <a:t>2017</a:t>
            </a:r>
            <a:r>
              <a:rPr lang="zh-CN" altLang="en-US" b="0" i="0" dirty="0">
                <a:solidFill>
                  <a:srgbClr val="191919"/>
                </a:solidFill>
                <a:effectLst/>
                <a:latin typeface="PingFang SC"/>
              </a:rPr>
              <a:t>年</a:t>
            </a:r>
            <a:r>
              <a:rPr lang="en-US" altLang="zh-CN" b="0" i="0" dirty="0">
                <a:solidFill>
                  <a:srgbClr val="191919"/>
                </a:solidFill>
                <a:effectLst/>
                <a:latin typeface="PingFang SC"/>
              </a:rPr>
              <a:t>6</a:t>
            </a:r>
            <a:r>
              <a:rPr lang="zh-CN" altLang="en-US" b="0" i="0" dirty="0">
                <a:solidFill>
                  <a:srgbClr val="191919"/>
                </a:solidFill>
                <a:effectLst/>
                <a:latin typeface="PingFang SC"/>
              </a:rPr>
              <a:t>月前后由</a:t>
            </a:r>
            <a:r>
              <a:rPr lang="en-US" altLang="zh-CN" b="0" i="0" dirty="0">
                <a:solidFill>
                  <a:srgbClr val="191919"/>
                </a:solidFill>
                <a:effectLst/>
                <a:latin typeface="PingFang SC"/>
              </a:rPr>
              <a:t>360 0kee Team</a:t>
            </a:r>
            <a:r>
              <a:rPr lang="zh-CN" altLang="en-US" b="0" i="0" dirty="0">
                <a:solidFill>
                  <a:srgbClr val="191919"/>
                </a:solidFill>
                <a:effectLst/>
                <a:latin typeface="PingFang SC"/>
              </a:rPr>
              <a:t>首先发现，并于同年</a:t>
            </a:r>
            <a:r>
              <a:rPr lang="en-US" altLang="zh-CN" b="0" i="0" dirty="0">
                <a:solidFill>
                  <a:srgbClr val="191919"/>
                </a:solidFill>
                <a:effectLst/>
                <a:latin typeface="PingFang SC"/>
              </a:rPr>
              <a:t>11</a:t>
            </a:r>
            <a:r>
              <a:rPr lang="zh-CN" altLang="en-US" b="0" i="0" dirty="0">
                <a:solidFill>
                  <a:srgbClr val="191919"/>
                </a:solidFill>
                <a:effectLst/>
                <a:latin typeface="PingFang SC"/>
              </a:rPr>
              <a:t>月 </a:t>
            </a:r>
            <a:r>
              <a:rPr lang="en-US" altLang="zh-CN" b="0" i="0" dirty="0" err="1">
                <a:solidFill>
                  <a:srgbClr val="191919"/>
                </a:solidFill>
                <a:effectLst/>
                <a:latin typeface="PingFang SC"/>
              </a:rPr>
              <a:t>PoC</a:t>
            </a:r>
            <a:r>
              <a:rPr lang="en-US" altLang="zh-CN" b="0" i="0" dirty="0">
                <a:solidFill>
                  <a:srgbClr val="191919"/>
                </a:solidFill>
                <a:effectLst/>
                <a:latin typeface="PingFang SC"/>
              </a:rPr>
              <a:t> 2017 </a:t>
            </a:r>
            <a:r>
              <a:rPr lang="zh-CN" altLang="en-US" b="0" i="0" dirty="0">
                <a:solidFill>
                  <a:srgbClr val="191919"/>
                </a:solidFill>
                <a:effectLst/>
                <a:latin typeface="PingFang SC"/>
              </a:rPr>
              <a:t>会议报告上，详细介绍了其攻击原理和潜在危害。</a:t>
            </a:r>
            <a:endParaRPr lang="en-US" altLang="zh-CN" b="0" i="0" dirty="0">
              <a:solidFill>
                <a:srgbClr val="191919"/>
              </a:solidFill>
              <a:effectLst/>
              <a:latin typeface="PingFang SC"/>
            </a:endParaRPr>
          </a:p>
          <a:p>
            <a:r>
              <a:rPr lang="en-US" altLang="zh-CN" b="0" i="0" dirty="0" err="1">
                <a:solidFill>
                  <a:srgbClr val="191919"/>
                </a:solidFill>
                <a:effectLst/>
                <a:latin typeface="PingFang SC"/>
              </a:rPr>
              <a:t>Memcache</a:t>
            </a:r>
            <a:r>
              <a:rPr lang="zh-CN" altLang="en-US" b="0" i="0" dirty="0">
                <a:solidFill>
                  <a:srgbClr val="191919"/>
                </a:solidFill>
                <a:effectLst/>
                <a:latin typeface="PingFang SC"/>
              </a:rPr>
              <a:t>作为分布式高速缓存系统，可帮助大型或者需要频繁访问数据库的网站来提升访问速度。此次核弹级的</a:t>
            </a:r>
            <a:r>
              <a:rPr lang="en-US" altLang="zh-CN" b="0" i="0" dirty="0">
                <a:solidFill>
                  <a:srgbClr val="191919"/>
                </a:solidFill>
                <a:effectLst/>
                <a:latin typeface="PingFang SC"/>
              </a:rPr>
              <a:t>DDoS</a:t>
            </a:r>
            <a:r>
              <a:rPr lang="zh-CN" altLang="en-US" b="0" i="0" dirty="0">
                <a:solidFill>
                  <a:srgbClr val="191919"/>
                </a:solidFill>
                <a:effectLst/>
                <a:latin typeface="PingFang SC"/>
              </a:rPr>
              <a:t>攻击，正是网络犯罪分子利用</a:t>
            </a:r>
            <a:r>
              <a:rPr lang="en-US" altLang="zh-CN" b="0" i="0" dirty="0" err="1">
                <a:solidFill>
                  <a:srgbClr val="191919"/>
                </a:solidFill>
                <a:effectLst/>
                <a:latin typeface="PingFang SC"/>
              </a:rPr>
              <a:t>Memcache</a:t>
            </a:r>
            <a:r>
              <a:rPr lang="zh-CN" altLang="en-US" b="0" i="0" dirty="0">
                <a:solidFill>
                  <a:srgbClr val="191919"/>
                </a:solidFill>
                <a:effectLst/>
                <a:latin typeface="PingFang SC"/>
              </a:rPr>
              <a:t>作为</a:t>
            </a:r>
            <a:r>
              <a:rPr lang="en-US" altLang="zh-CN" b="0" i="0" dirty="0" err="1">
                <a:solidFill>
                  <a:srgbClr val="191919"/>
                </a:solidFill>
                <a:effectLst/>
                <a:latin typeface="PingFang SC"/>
              </a:rPr>
              <a:t>DRDoS</a:t>
            </a:r>
            <a:r>
              <a:rPr lang="zh-CN" altLang="en-US" b="0" i="0" dirty="0">
                <a:solidFill>
                  <a:srgbClr val="191919"/>
                </a:solidFill>
                <a:effectLst/>
                <a:latin typeface="PingFang SC"/>
              </a:rPr>
              <a:t>放大器进行放大的攻击事件。</a:t>
            </a:r>
            <a:endParaRPr lang="en-US" altLang="zh-CN" b="0" i="0" dirty="0">
              <a:solidFill>
                <a:srgbClr val="191919"/>
              </a:solidFill>
              <a:effectLst/>
              <a:latin typeface="PingFang SC"/>
            </a:endParaRPr>
          </a:p>
          <a:p>
            <a:endParaRPr lang="en-US" b="0" i="0" dirty="0">
              <a:solidFill>
                <a:srgbClr val="191919"/>
              </a:solidFill>
              <a:effectLst/>
              <a:latin typeface="PingFang SC"/>
            </a:endParaRPr>
          </a:p>
          <a:p>
            <a:r>
              <a:rPr lang="zh-CN" altLang="en-US" b="0" i="0" dirty="0">
                <a:solidFill>
                  <a:srgbClr val="191919"/>
                </a:solidFill>
                <a:effectLst/>
                <a:latin typeface="PingFang SC"/>
              </a:rPr>
              <a:t>攻击者首先向</a:t>
            </a:r>
            <a:r>
              <a:rPr lang="en-US" altLang="zh-CN" b="0" i="0" dirty="0" err="1">
                <a:solidFill>
                  <a:srgbClr val="191919"/>
                </a:solidFill>
                <a:effectLst/>
                <a:latin typeface="PingFang SC"/>
              </a:rPr>
              <a:t>Memcache</a:t>
            </a:r>
            <a:r>
              <a:rPr lang="zh-CN" altLang="en-US" b="0" i="0" dirty="0">
                <a:solidFill>
                  <a:srgbClr val="191919"/>
                </a:solidFill>
                <a:effectLst/>
                <a:latin typeface="PingFang SC"/>
              </a:rPr>
              <a:t>服务器发送小字节请求，并要求</a:t>
            </a:r>
            <a:r>
              <a:rPr lang="en-US" altLang="zh-CN" b="0" i="0" dirty="0" err="1">
                <a:solidFill>
                  <a:srgbClr val="191919"/>
                </a:solidFill>
                <a:effectLst/>
                <a:latin typeface="PingFang SC"/>
              </a:rPr>
              <a:t>Memcache</a:t>
            </a:r>
            <a:r>
              <a:rPr lang="zh-CN" altLang="en-US" b="0" i="0" dirty="0">
                <a:solidFill>
                  <a:srgbClr val="191919"/>
                </a:solidFill>
                <a:effectLst/>
                <a:latin typeface="PingFang SC"/>
              </a:rPr>
              <a:t>服务器将作出回应的数据包发给指定</a:t>
            </a:r>
            <a:r>
              <a:rPr lang="en-US" altLang="zh-CN" b="0" i="0" dirty="0">
                <a:solidFill>
                  <a:srgbClr val="191919"/>
                </a:solidFill>
                <a:effectLst/>
                <a:latin typeface="PingFang SC"/>
              </a:rPr>
              <a:t>IP</a:t>
            </a:r>
            <a:r>
              <a:rPr lang="zh-CN" altLang="en-US" b="0" i="0" dirty="0">
                <a:solidFill>
                  <a:srgbClr val="191919"/>
                </a:solidFill>
                <a:effectLst/>
                <a:latin typeface="PingFang SC"/>
              </a:rPr>
              <a:t>（即受害者）；</a:t>
            </a:r>
            <a:r>
              <a:rPr lang="en-US" altLang="zh-CN" b="0" i="0" dirty="0" err="1">
                <a:solidFill>
                  <a:srgbClr val="191919"/>
                </a:solidFill>
                <a:effectLst/>
                <a:latin typeface="PingFang SC"/>
              </a:rPr>
              <a:t>Memcache</a:t>
            </a:r>
            <a:r>
              <a:rPr lang="zh-CN" altLang="en-US" b="0" i="0" dirty="0">
                <a:solidFill>
                  <a:srgbClr val="191919"/>
                </a:solidFill>
                <a:effectLst/>
                <a:latin typeface="PingFang SC"/>
              </a:rPr>
              <a:t>服务器接收到请求后，由于 </a:t>
            </a:r>
            <a:r>
              <a:rPr lang="en-US" altLang="zh-CN" b="0" i="0" dirty="0">
                <a:solidFill>
                  <a:srgbClr val="191919"/>
                </a:solidFill>
                <a:effectLst/>
                <a:latin typeface="PingFang SC"/>
              </a:rPr>
              <a:t>UDP</a:t>
            </a:r>
            <a:r>
              <a:rPr lang="zh-CN" altLang="en-US" b="0" i="0" dirty="0">
                <a:solidFill>
                  <a:srgbClr val="191919"/>
                </a:solidFill>
                <a:effectLst/>
                <a:latin typeface="PingFang SC"/>
              </a:rPr>
              <a:t>协议并未正确执行，产生了数万倍大小的回应，并将这一巨大的回应数据包发送给受害者；此时受害者就遭遇了“人在家中坐，祸从天上来”的局面。也就是说攻击者能诱骗 </a:t>
            </a:r>
            <a:r>
              <a:rPr lang="en-US" altLang="zh-CN" b="0" i="0" dirty="0" err="1">
                <a:solidFill>
                  <a:srgbClr val="191919"/>
                </a:solidFill>
                <a:effectLst/>
                <a:latin typeface="PingFang SC"/>
              </a:rPr>
              <a:t>Memcache</a:t>
            </a:r>
            <a:r>
              <a:rPr lang="zh-CN" altLang="en-US" b="0" i="0" dirty="0">
                <a:solidFill>
                  <a:srgbClr val="191919"/>
                </a:solidFill>
                <a:effectLst/>
                <a:latin typeface="PingFang SC"/>
              </a:rPr>
              <a:t>服务器将过大规模的响应包发送给受害者。</a:t>
            </a:r>
            <a:endParaRPr dirty="0"/>
          </a:p>
        </p:txBody>
      </p:sp>
    </p:spTree>
    <p:extLst>
      <p:ext uri="{BB962C8B-B14F-4D97-AF65-F5344CB8AC3E}">
        <p14:creationId xmlns:p14="http://schemas.microsoft.com/office/powerpoint/2010/main" val="690544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Shape 256"/>
          <p:cNvSpPr>
            <a:spLocks noGrp="1" noRot="1" noChangeAspect="1"/>
          </p:cNvSpPr>
          <p:nvPr>
            <p:ph type="sldImg"/>
          </p:nvPr>
        </p:nvSpPr>
        <p:spPr>
          <a:prstGeom prst="rect">
            <a:avLst/>
          </a:prstGeom>
        </p:spPr>
        <p:txBody>
          <a:bodyPr/>
          <a:lstStyle/>
          <a:p>
            <a:endParaRPr/>
          </a:p>
        </p:txBody>
      </p:sp>
      <p:sp>
        <p:nvSpPr>
          <p:cNvPr id="257" name="Shape 257"/>
          <p:cNvSpPr>
            <a:spLocks noGrp="1"/>
          </p:cNvSpPr>
          <p:nvPr>
            <p:ph type="body" sz="quarter" idx="1"/>
          </p:nvPr>
        </p:nvSpPr>
        <p:spPr>
          <a:prstGeom prst="rect">
            <a:avLst/>
          </a:prstGeom>
        </p:spPr>
        <p:txBody>
          <a:bodyPr/>
          <a:lstStyle>
            <a:lvl1pPr>
              <a:lnSpc>
                <a:spcPct val="100000"/>
              </a:lnSpc>
              <a:defRPr sz="20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r>
              <a:rPr dirty="0"/>
              <a:t>This outage was due to a large DDoS attack that targeted a large DNS provider — </a:t>
            </a:r>
            <a:r>
              <a:rPr dirty="0" err="1"/>
              <a:t>Dyn</a:t>
            </a:r>
            <a:r>
              <a:rPr dirty="0"/>
              <a:t>. </a:t>
            </a:r>
            <a:endParaRPr lang="en-US" dirty="0"/>
          </a:p>
          <a:p>
            <a:r>
              <a:rPr lang="zh-CN" altLang="en-US" b="0" i="0" dirty="0">
                <a:solidFill>
                  <a:srgbClr val="191919"/>
                </a:solidFill>
                <a:effectLst/>
                <a:latin typeface="PingFang SC"/>
              </a:rPr>
              <a:t>北京时间</a:t>
            </a:r>
            <a:r>
              <a:rPr lang="en-US" altLang="zh-CN" b="0" i="0" dirty="0">
                <a:solidFill>
                  <a:srgbClr val="191919"/>
                </a:solidFill>
                <a:effectLst/>
                <a:latin typeface="PingFang SC"/>
              </a:rPr>
              <a:t>10</a:t>
            </a:r>
            <a:r>
              <a:rPr lang="zh-CN" altLang="en-US" b="0" i="0" dirty="0">
                <a:solidFill>
                  <a:srgbClr val="191919"/>
                </a:solidFill>
                <a:effectLst/>
                <a:latin typeface="PingFang SC"/>
              </a:rPr>
              <a:t>月</a:t>
            </a:r>
            <a:r>
              <a:rPr lang="en-US" altLang="zh-CN" b="0" i="0" dirty="0">
                <a:solidFill>
                  <a:srgbClr val="191919"/>
                </a:solidFill>
                <a:effectLst/>
                <a:latin typeface="PingFang SC"/>
              </a:rPr>
              <a:t>22</a:t>
            </a:r>
            <a:r>
              <a:rPr lang="zh-CN" altLang="en-US" b="0" i="0" dirty="0">
                <a:solidFill>
                  <a:srgbClr val="191919"/>
                </a:solidFill>
                <a:effectLst/>
                <a:latin typeface="PingFang SC"/>
              </a:rPr>
              <a:t>日凌晨，美国域名服务器管理服务供应商</a:t>
            </a:r>
            <a:r>
              <a:rPr lang="en-US" altLang="zh-CN" b="0" i="0" dirty="0" err="1">
                <a:solidFill>
                  <a:srgbClr val="191919"/>
                </a:solidFill>
                <a:effectLst/>
                <a:latin typeface="PingFang SC"/>
              </a:rPr>
              <a:t>Dyn</a:t>
            </a:r>
            <a:r>
              <a:rPr lang="zh-CN" altLang="en-US" b="0" i="0" dirty="0">
                <a:solidFill>
                  <a:srgbClr val="191919"/>
                </a:solidFill>
                <a:effectLst/>
                <a:latin typeface="PingFang SC"/>
              </a:rPr>
              <a:t>宣布，该公司在当地时间周五早上遭遇了</a:t>
            </a:r>
            <a:r>
              <a:rPr lang="en-US" altLang="zh-CN" b="0" i="0" dirty="0">
                <a:solidFill>
                  <a:srgbClr val="191919"/>
                </a:solidFill>
                <a:effectLst/>
                <a:latin typeface="PingFang SC"/>
              </a:rPr>
              <a:t>DDoS</a:t>
            </a:r>
            <a:r>
              <a:rPr lang="zh-CN" altLang="en-US" b="0" i="0" dirty="0">
                <a:solidFill>
                  <a:srgbClr val="191919"/>
                </a:solidFill>
                <a:effectLst/>
                <a:latin typeface="PingFang SC"/>
              </a:rPr>
              <a:t>（分布式拒绝服务）攻击，从而导致许多网站在美国东海岸地区宕机。</a:t>
            </a:r>
            <a:endParaRPr lang="en-US" altLang="zh-CN" b="0" i="0" dirty="0">
              <a:solidFill>
                <a:srgbClr val="191919"/>
              </a:solidFill>
              <a:effectLst/>
              <a:latin typeface="PingFang SC"/>
            </a:endParaRPr>
          </a:p>
          <a:p>
            <a:r>
              <a:rPr lang="zh-CN" altLang="en-US" b="0" i="0" dirty="0">
                <a:solidFill>
                  <a:srgbClr val="191919"/>
                </a:solidFill>
                <a:effectLst/>
                <a:latin typeface="PingFang SC"/>
              </a:rPr>
              <a:t>此轮攻击</a:t>
            </a:r>
            <a:r>
              <a:rPr lang="en-US" altLang="zh-CN" b="0" i="0" dirty="0">
                <a:solidFill>
                  <a:srgbClr val="191919"/>
                </a:solidFill>
                <a:effectLst/>
                <a:latin typeface="PingFang SC"/>
              </a:rPr>
              <a:t>——</a:t>
            </a:r>
            <a:r>
              <a:rPr lang="zh-CN" altLang="en-US" b="0" i="0" dirty="0">
                <a:solidFill>
                  <a:srgbClr val="191919"/>
                </a:solidFill>
                <a:effectLst/>
                <a:latin typeface="PingFang SC"/>
              </a:rPr>
              <a:t>共分为三波进行，具备一定程度的连续性，但最后一波被轻易化解</a:t>
            </a:r>
            <a:r>
              <a:rPr lang="en-US" altLang="zh-CN" b="0" i="0" dirty="0">
                <a:solidFill>
                  <a:srgbClr val="191919"/>
                </a:solidFill>
                <a:effectLst/>
                <a:latin typeface="PingFang SC"/>
              </a:rPr>
              <a:t>——</a:t>
            </a:r>
            <a:r>
              <a:rPr lang="zh-CN" altLang="en-US" b="0" i="0" dirty="0">
                <a:solidFill>
                  <a:srgbClr val="191919"/>
                </a:solidFill>
                <a:effectLst/>
                <a:latin typeface="PingFang SC"/>
              </a:rPr>
              <a:t>直接指向该公司所管理的</a:t>
            </a:r>
            <a:r>
              <a:rPr lang="en-US" altLang="zh-CN" b="0" i="0" dirty="0">
                <a:solidFill>
                  <a:srgbClr val="191919"/>
                </a:solidFill>
                <a:effectLst/>
                <a:latin typeface="PingFang SC"/>
              </a:rPr>
              <a:t>DNS</a:t>
            </a:r>
            <a:r>
              <a:rPr lang="zh-CN" altLang="en-US" b="0" i="0" dirty="0">
                <a:solidFill>
                  <a:srgbClr val="191919"/>
                </a:solidFill>
                <a:effectLst/>
                <a:latin typeface="PingFang SC"/>
              </a:rPr>
              <a:t>基础设施。</a:t>
            </a:r>
            <a:r>
              <a:rPr lang="en-US" altLang="zh-CN" b="0" i="0" dirty="0" err="1">
                <a:solidFill>
                  <a:srgbClr val="191919"/>
                </a:solidFill>
                <a:effectLst/>
                <a:latin typeface="PingFang SC"/>
              </a:rPr>
              <a:t>Dyn</a:t>
            </a:r>
            <a:r>
              <a:rPr lang="zh-CN" altLang="en-US" b="0" i="0" dirty="0">
                <a:solidFill>
                  <a:srgbClr val="191919"/>
                </a:solidFill>
                <a:effectLst/>
                <a:latin typeface="PingFang SC"/>
              </a:rPr>
              <a:t>公司遭受的</a:t>
            </a:r>
            <a:r>
              <a:rPr lang="en-US" altLang="zh-CN" b="0" i="0" dirty="0">
                <a:solidFill>
                  <a:srgbClr val="191919"/>
                </a:solidFill>
                <a:effectLst/>
                <a:latin typeface="PingFang SC"/>
              </a:rPr>
              <a:t>DDoS</a:t>
            </a:r>
            <a:r>
              <a:rPr lang="zh-CN" altLang="en-US" b="0" i="0" dirty="0">
                <a:solidFill>
                  <a:srgbClr val="191919"/>
                </a:solidFill>
                <a:effectLst/>
                <a:latin typeface="PingFang SC"/>
              </a:rPr>
              <a:t>攻击让很多主流网站掉线近一天之久，推特、</a:t>
            </a:r>
            <a:r>
              <a:rPr lang="en-US" altLang="zh-CN" b="0" i="0" dirty="0">
                <a:solidFill>
                  <a:srgbClr val="191919"/>
                </a:solidFill>
                <a:effectLst/>
                <a:latin typeface="PingFang SC"/>
              </a:rPr>
              <a:t>PayPal</a:t>
            </a:r>
            <a:r>
              <a:rPr lang="zh-CN" altLang="en-US" b="0" i="0" dirty="0">
                <a:solidFill>
                  <a:srgbClr val="191919"/>
                </a:solidFill>
                <a:effectLst/>
                <a:latin typeface="PingFang SC"/>
              </a:rPr>
              <a:t>、</a:t>
            </a:r>
            <a:r>
              <a:rPr lang="en-US" altLang="zh-CN" b="0" i="0" dirty="0">
                <a:solidFill>
                  <a:srgbClr val="191919"/>
                </a:solidFill>
                <a:effectLst/>
                <a:latin typeface="PingFang SC"/>
              </a:rPr>
              <a:t>Reddit</a:t>
            </a:r>
            <a:r>
              <a:rPr lang="zh-CN" altLang="en-US" b="0" i="0" dirty="0">
                <a:solidFill>
                  <a:srgbClr val="191919"/>
                </a:solidFill>
                <a:effectLst/>
                <a:latin typeface="PingFang SC"/>
              </a:rPr>
              <a:t>、亚马逊和</a:t>
            </a:r>
            <a:r>
              <a:rPr lang="en-US" altLang="zh-CN" b="0" i="0" dirty="0">
                <a:solidFill>
                  <a:srgbClr val="191919"/>
                </a:solidFill>
                <a:effectLst/>
                <a:latin typeface="PingFang SC"/>
              </a:rPr>
              <a:t>Netflix</a:t>
            </a:r>
            <a:r>
              <a:rPr lang="zh-CN" altLang="en-US" b="0" i="0" dirty="0">
                <a:solidFill>
                  <a:srgbClr val="191919"/>
                </a:solidFill>
                <a:effectLst/>
                <a:latin typeface="PingFang SC"/>
              </a:rPr>
              <a:t>都遭到了连带伤害。这次攻击利用了百万台</a:t>
            </a:r>
            <a:r>
              <a:rPr lang="en-US" altLang="zh-CN" b="0" i="0" dirty="0" err="1">
                <a:solidFill>
                  <a:srgbClr val="191919"/>
                </a:solidFill>
                <a:effectLst/>
                <a:latin typeface="PingFang SC"/>
              </a:rPr>
              <a:t>Mirai</a:t>
            </a:r>
            <a:r>
              <a:rPr lang="zh-CN" altLang="en-US" b="0" i="0" dirty="0">
                <a:solidFill>
                  <a:srgbClr val="191919"/>
                </a:solidFill>
                <a:effectLst/>
                <a:latin typeface="PingFang SC"/>
              </a:rPr>
              <a:t>僵尸网络控制下的</a:t>
            </a:r>
            <a:r>
              <a:rPr lang="en-US" altLang="zh-CN" b="0" i="0" dirty="0">
                <a:solidFill>
                  <a:srgbClr val="191919"/>
                </a:solidFill>
                <a:effectLst/>
                <a:latin typeface="PingFang SC"/>
              </a:rPr>
              <a:t>IoT</a:t>
            </a:r>
            <a:r>
              <a:rPr lang="zh-CN" altLang="en-US" b="0" i="0" dirty="0">
                <a:solidFill>
                  <a:srgbClr val="191919"/>
                </a:solidFill>
                <a:effectLst/>
                <a:latin typeface="PingFang SC"/>
              </a:rPr>
              <a:t>设备，以高达</a:t>
            </a:r>
            <a:r>
              <a:rPr lang="en-US" altLang="zh-CN" b="0" i="0" dirty="0">
                <a:solidFill>
                  <a:srgbClr val="191919"/>
                </a:solidFill>
                <a:effectLst/>
                <a:latin typeface="PingFang SC"/>
              </a:rPr>
              <a:t>1.2TBps</a:t>
            </a:r>
            <a:r>
              <a:rPr lang="zh-CN" altLang="en-US" b="0" i="0" dirty="0">
                <a:solidFill>
                  <a:srgbClr val="191919"/>
                </a:solidFill>
                <a:effectLst/>
                <a:latin typeface="PingFang SC"/>
              </a:rPr>
              <a:t>的峰值流量淹没了</a:t>
            </a:r>
            <a:r>
              <a:rPr lang="en-US" altLang="zh-CN" b="0" i="0" dirty="0" err="1">
                <a:solidFill>
                  <a:srgbClr val="191919"/>
                </a:solidFill>
                <a:effectLst/>
                <a:latin typeface="PingFang SC"/>
              </a:rPr>
              <a:t>Dyn</a:t>
            </a:r>
            <a:r>
              <a:rPr lang="zh-CN" altLang="en-US" b="0" i="0" dirty="0">
                <a:solidFill>
                  <a:srgbClr val="191919"/>
                </a:solidFill>
                <a:effectLst/>
                <a:latin typeface="PingFang SC"/>
              </a:rPr>
              <a:t>公司的</a:t>
            </a:r>
            <a:r>
              <a:rPr lang="en-US" altLang="zh-CN" b="0" i="0" dirty="0">
                <a:solidFill>
                  <a:srgbClr val="191919"/>
                </a:solidFill>
                <a:effectLst/>
                <a:latin typeface="PingFang SC"/>
              </a:rPr>
              <a:t>DNS</a:t>
            </a:r>
            <a:r>
              <a:rPr lang="zh-CN" altLang="en-US" b="0" i="0" dirty="0">
                <a:solidFill>
                  <a:srgbClr val="191919"/>
                </a:solidFill>
                <a:effectLst/>
                <a:latin typeface="PingFang SC"/>
              </a:rPr>
              <a:t>服务，令其无法响应对客户网站的</a:t>
            </a:r>
            <a:r>
              <a:rPr lang="en-US" altLang="zh-CN" b="0" i="0" dirty="0">
                <a:solidFill>
                  <a:srgbClr val="191919"/>
                </a:solidFill>
                <a:effectLst/>
                <a:latin typeface="PingFang SC"/>
              </a:rPr>
              <a:t>DNS</a:t>
            </a:r>
            <a:r>
              <a:rPr lang="zh-CN" altLang="en-US" b="0" i="0" dirty="0">
                <a:solidFill>
                  <a:srgbClr val="191919"/>
                </a:solidFill>
                <a:effectLst/>
                <a:latin typeface="PingFang SC"/>
              </a:rPr>
              <a:t>请求。</a:t>
            </a:r>
            <a:endParaRPr lang="en-US" dirty="0"/>
          </a:p>
          <a:p>
            <a:endParaRPr lang="en-US" dirty="0"/>
          </a:p>
          <a:p>
            <a:endParaRPr dirty="0"/>
          </a:p>
        </p:txBody>
      </p:sp>
    </p:spTree>
    <p:extLst>
      <p:ext uri="{BB962C8B-B14F-4D97-AF65-F5344CB8AC3E}">
        <p14:creationId xmlns:p14="http://schemas.microsoft.com/office/powerpoint/2010/main" val="1607198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endParaRPr lang="en-US" altLang="zh-CN" dirty="0"/>
          </a:p>
          <a:p>
            <a:r>
              <a:rPr lang="zh-CN" altLang="en-US" dirty="0"/>
              <a:t>在网络环境中，不得不提的一个攻击方式是</a:t>
            </a:r>
            <a:r>
              <a:rPr lang="en-US" altLang="zh-CN" b="1" dirty="0"/>
              <a:t>MAC flooding</a:t>
            </a:r>
            <a:r>
              <a:rPr lang="zh-CN" altLang="en-US" b="1" dirty="0"/>
              <a:t>攻击</a:t>
            </a:r>
            <a:r>
              <a:rPr lang="zh-CN" altLang="en-US" dirty="0"/>
              <a:t>。</a:t>
            </a:r>
            <a:endParaRPr lang="en-US" altLang="zh-CN" dirty="0"/>
          </a:p>
          <a:p>
            <a:r>
              <a:rPr lang="zh-CN" altLang="en-US" dirty="0"/>
              <a:t>在典型的</a:t>
            </a:r>
            <a:r>
              <a:rPr lang="en-US" altLang="zh-CN" dirty="0"/>
              <a:t>MAC flooding</a:t>
            </a:r>
            <a:r>
              <a:rPr lang="zh-CN" altLang="en-US" dirty="0"/>
              <a:t>中，攻击者能让目标网络中的交换机不断</a:t>
            </a:r>
            <a:r>
              <a:rPr lang="zh-CN" altLang="en-US" b="1" dirty="0"/>
              <a:t>泛洪大量不同源</a:t>
            </a:r>
            <a:r>
              <a:rPr lang="en-US" altLang="zh-CN" b="1" dirty="0"/>
              <a:t>MAC</a:t>
            </a:r>
            <a:r>
              <a:rPr lang="zh-CN" altLang="en-US" b="1" dirty="0"/>
              <a:t>地址的数据包，导致交换机内存不足以存放正确的</a:t>
            </a:r>
            <a:r>
              <a:rPr lang="en-US" altLang="zh-CN" b="1" dirty="0"/>
              <a:t>MAC</a:t>
            </a:r>
            <a:r>
              <a:rPr lang="zh-CN" altLang="en-US" b="1" dirty="0"/>
              <a:t>地址和物理端口号相对应的关系表</a:t>
            </a:r>
            <a:r>
              <a:rPr lang="zh-CN" altLang="en-US" dirty="0"/>
              <a:t>。如果攻击成功，交换机会进入</a:t>
            </a:r>
            <a:r>
              <a:rPr lang="en-US" altLang="zh-CN" dirty="0" err="1"/>
              <a:t>failopen</a:t>
            </a:r>
            <a:r>
              <a:rPr lang="zh-CN" altLang="en-US" dirty="0"/>
              <a:t>模式，所有新进入交换机的数据包会不经过交换机处理直接广播到所有的端口（类似</a:t>
            </a:r>
            <a:r>
              <a:rPr lang="en-US" altLang="zh-CN" dirty="0"/>
              <a:t>HUB</a:t>
            </a:r>
            <a:r>
              <a:rPr lang="zh-CN" altLang="en-US" dirty="0"/>
              <a:t>集线器的功能）。攻击者能进一步利用嗅探工具（例如</a:t>
            </a:r>
            <a:r>
              <a:rPr lang="en-US" altLang="zh-CN" dirty="0"/>
              <a:t>Wireshark</a:t>
            </a:r>
            <a:r>
              <a:rPr lang="zh-CN" altLang="en-US" dirty="0"/>
              <a:t>）对网络内所有用户的信息进行捕获，从而能得到机密信息或者各种业务敏感信息。</a:t>
            </a:r>
            <a:endParaRPr lang="en-US" altLang="zh-CN" dirty="0"/>
          </a:p>
          <a:p>
            <a:endParaRPr lang="en-US" altLang="zh-CN" dirty="0"/>
          </a:p>
          <a:p>
            <a:endParaRPr lang="en-US" altLang="zh-CN" dirty="0"/>
          </a:p>
          <a:p>
            <a:r>
              <a:rPr lang="zh-CN" altLang="en-US" dirty="0"/>
              <a:t>如图所示，网络中有</a:t>
            </a:r>
            <a:r>
              <a:rPr lang="en-US" altLang="zh-CN" dirty="0"/>
              <a:t>3</a:t>
            </a:r>
            <a:r>
              <a:rPr lang="zh-CN" altLang="en-US" dirty="0"/>
              <a:t>个</a:t>
            </a:r>
            <a:r>
              <a:rPr lang="en-US" altLang="zh-CN" dirty="0"/>
              <a:t>PC</a:t>
            </a:r>
            <a:r>
              <a:rPr lang="zh-CN" altLang="en-US" dirty="0"/>
              <a:t>和一个交换机，在正常情况下，如果</a:t>
            </a:r>
            <a:r>
              <a:rPr lang="en-US" altLang="zh-CN" dirty="0"/>
              <a:t>PC A</a:t>
            </a:r>
            <a:r>
              <a:rPr lang="zh-CN" altLang="en-US" dirty="0"/>
              <a:t>向</a:t>
            </a:r>
            <a:r>
              <a:rPr lang="en-US" altLang="zh-CN" dirty="0"/>
              <a:t>PC B</a:t>
            </a:r>
            <a:r>
              <a:rPr lang="zh-CN" altLang="en-US" dirty="0"/>
              <a:t>发送信息，</a:t>
            </a:r>
            <a:r>
              <a:rPr lang="en-US" altLang="zh-CN" dirty="0"/>
              <a:t>PC C</a:t>
            </a:r>
            <a:r>
              <a:rPr lang="zh-CN" altLang="en-US" dirty="0"/>
              <a:t>是不会知道的，过程都通过中间的交换机进行透明的处理，并且会记录下源</a:t>
            </a:r>
            <a:r>
              <a:rPr lang="en-US" altLang="zh-CN" dirty="0"/>
              <a:t>MAC</a:t>
            </a:r>
            <a:r>
              <a:rPr lang="zh-CN" altLang="en-US" dirty="0"/>
              <a:t>地址和源端口的信息到交换机中，以便下次快速转发。</a:t>
            </a:r>
          </a:p>
          <a:p>
            <a:r>
              <a:rPr lang="zh-CN" altLang="en-US" dirty="0"/>
              <a:t>当攻击者</a:t>
            </a:r>
            <a:r>
              <a:rPr lang="en-US" altLang="zh-CN" dirty="0"/>
              <a:t>PC C</a:t>
            </a:r>
            <a:r>
              <a:rPr lang="zh-CN" altLang="en-US" dirty="0"/>
              <a:t>利用</a:t>
            </a:r>
            <a:r>
              <a:rPr lang="en-US" altLang="zh-CN" dirty="0"/>
              <a:t>MAC flooding</a:t>
            </a:r>
            <a:r>
              <a:rPr lang="zh-CN" altLang="en-US" dirty="0"/>
              <a:t>攻击对交换机发送很多非法的包含不同源</a:t>
            </a:r>
            <a:r>
              <a:rPr lang="en-US" altLang="zh-CN" dirty="0"/>
              <a:t>MAC</a:t>
            </a:r>
            <a:r>
              <a:rPr lang="zh-CN" altLang="en-US" dirty="0"/>
              <a:t>地址的封包时，交换机会把所有这些</a:t>
            </a:r>
            <a:r>
              <a:rPr lang="en-US" altLang="zh-CN" dirty="0"/>
              <a:t>MAC</a:t>
            </a:r>
            <a:r>
              <a:rPr lang="zh-CN" altLang="en-US" dirty="0"/>
              <a:t>地址记录到自己的</a:t>
            </a:r>
            <a:r>
              <a:rPr lang="en-US" altLang="zh-CN" dirty="0"/>
              <a:t>CAM(Content Addressable Memory)</a:t>
            </a:r>
            <a:r>
              <a:rPr lang="zh-CN" altLang="en-US" dirty="0"/>
              <a:t>表之中，当这些记录超过一定的数量（不同型号的机器不同，详情请查看文章最后），超过交换机所能承载的内存的时候，</a:t>
            </a:r>
            <a:r>
              <a:rPr lang="en-US" altLang="zh-CN" dirty="0"/>
              <a:t>MAC flooding</a:t>
            </a:r>
            <a:r>
              <a:rPr lang="zh-CN" altLang="en-US" dirty="0"/>
              <a:t>的效果就达成了。</a:t>
            </a:r>
          </a:p>
          <a:p>
            <a:r>
              <a:rPr lang="zh-CN" altLang="en-US" dirty="0"/>
              <a:t>当</a:t>
            </a:r>
            <a:r>
              <a:rPr lang="en-US" altLang="zh-CN" dirty="0"/>
              <a:t>MAC flooding</a:t>
            </a:r>
            <a:r>
              <a:rPr lang="zh-CN" altLang="en-US" dirty="0"/>
              <a:t>效果达成的时候，交换机就变成了集线器，对所有信息进行无定向广播，</a:t>
            </a:r>
            <a:r>
              <a:rPr lang="en-US" altLang="zh-CN" dirty="0"/>
              <a:t>PC A </a:t>
            </a:r>
            <a:r>
              <a:rPr lang="zh-CN" altLang="en-US" dirty="0"/>
              <a:t>发送给</a:t>
            </a:r>
            <a:r>
              <a:rPr lang="en-US" altLang="zh-CN" dirty="0"/>
              <a:t>PC B</a:t>
            </a:r>
            <a:r>
              <a:rPr lang="zh-CN" altLang="en-US" dirty="0"/>
              <a:t>的信息</a:t>
            </a:r>
            <a:r>
              <a:rPr lang="en-US" altLang="zh-CN" dirty="0"/>
              <a:t>PC C</a:t>
            </a:r>
            <a:r>
              <a:rPr lang="zh-CN" altLang="en-US" dirty="0"/>
              <a:t>也可以收到了。这个时候</a:t>
            </a:r>
            <a:r>
              <a:rPr lang="en-US" altLang="zh-CN" dirty="0"/>
              <a:t>PC C</a:t>
            </a:r>
            <a:r>
              <a:rPr lang="zh-CN" altLang="en-US" dirty="0"/>
              <a:t>就可以捕获数据进行数据截取等操作。</a:t>
            </a:r>
          </a:p>
          <a:p>
            <a:endParaRPr lang="zh-CN" altLang="en-US" dirty="0"/>
          </a:p>
          <a:p>
            <a:endParaRPr lang="en-US" altLang="zh-CN" dirty="0"/>
          </a:p>
          <a:p>
            <a:r>
              <a:rPr lang="zh-CN" altLang="en-US" dirty="0"/>
              <a:t>注：在</a:t>
            </a:r>
            <a:r>
              <a:rPr lang="en-US" altLang="zh-CN" dirty="0" err="1"/>
              <a:t>failopen</a:t>
            </a:r>
            <a:r>
              <a:rPr lang="zh-CN" altLang="en-US" dirty="0"/>
              <a:t>模式下，它就像一个集线器一样工作，将所有数据包传输到网络中的所有地址。</a:t>
            </a:r>
          </a:p>
          <a:p>
            <a:r>
              <a:rPr lang="en-US" altLang="zh-CN" dirty="0" err="1"/>
              <a:t>Dsniff</a:t>
            </a:r>
            <a:r>
              <a:rPr lang="zh-CN" altLang="en-US" dirty="0"/>
              <a:t>包含一个名为“</a:t>
            </a:r>
            <a:r>
              <a:rPr lang="en-US" altLang="zh-CN" dirty="0" err="1"/>
              <a:t>macof</a:t>
            </a:r>
            <a:r>
              <a:rPr lang="en-US" altLang="zh-CN" dirty="0"/>
              <a:t>”</a:t>
            </a:r>
            <a:r>
              <a:rPr lang="zh-CN" altLang="en-US" dirty="0"/>
              <a:t>的程序，该程序有助于用随机</a:t>
            </a:r>
            <a:r>
              <a:rPr lang="en-US" altLang="zh-CN" dirty="0"/>
              <a:t>MAC</a:t>
            </a:r>
            <a:r>
              <a:rPr lang="zh-CN" altLang="en-US" dirty="0"/>
              <a:t>地址淹没交换机</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145</a:t>
            </a:fld>
            <a:endParaRPr kumimoji="1" lang="zh-CN" altLang="en-US"/>
          </a:p>
        </p:txBody>
      </p:sp>
    </p:spTree>
    <p:extLst>
      <p:ext uri="{BB962C8B-B14F-4D97-AF65-F5344CB8AC3E}">
        <p14:creationId xmlns:p14="http://schemas.microsoft.com/office/powerpoint/2010/main" val="38699420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endParaRPr lang="en-US" altLang="zh-CN" b="1" dirty="0">
              <a:solidFill>
                <a:srgbClr val="00B050"/>
              </a:solidFill>
              <a:effectLst/>
              <a:hlinkClick r:id="rId3"/>
            </a:endParaRPr>
          </a:p>
          <a:p>
            <a:r>
              <a:rPr lang="zh-CN" altLang="en-US" b="1" dirty="0">
                <a:solidFill>
                  <a:srgbClr val="00B050"/>
                </a:solidFill>
                <a:effectLst/>
                <a:hlinkClick r:id="rId3"/>
              </a:rPr>
              <a:t>随着物联网的发展，物联网僵尸网络</a:t>
            </a:r>
            <a:r>
              <a:rPr lang="zh-CN" altLang="en-US" b="1" dirty="0">
                <a:solidFill>
                  <a:srgbClr val="00B050"/>
                </a:solidFill>
                <a:effectLst/>
              </a:rPr>
              <a:t>现在也成为了信息安全领域内最为危险的安全威胁之一。</a:t>
            </a:r>
            <a:endParaRPr lang="en-US" altLang="zh-CN" b="1" dirty="0">
              <a:solidFill>
                <a:srgbClr val="00B050"/>
              </a:solidFill>
              <a:effectLst/>
            </a:endParaRPr>
          </a:p>
          <a:p>
            <a:endParaRPr lang="en-US" altLang="zh-CN" b="1" dirty="0">
              <a:solidFill>
                <a:srgbClr val="00B050"/>
              </a:solidFill>
              <a:effectLst/>
            </a:endParaRPr>
          </a:p>
          <a:p>
            <a:r>
              <a:rPr lang="zh-CN" altLang="en-US" dirty="0"/>
              <a:t>由物联网僵尸网络驱动的</a:t>
            </a:r>
            <a:r>
              <a:rPr lang="en-US" altLang="zh-CN" dirty="0"/>
              <a:t>DDoS</a:t>
            </a:r>
            <a:r>
              <a:rPr lang="zh-CN" altLang="en-US" dirty="0"/>
              <a:t>攻击用大量恶意</a:t>
            </a:r>
            <a:r>
              <a:rPr lang="en-US" altLang="zh-CN" dirty="0"/>
              <a:t>HTTP</a:t>
            </a:r>
            <a:r>
              <a:rPr lang="zh-CN" altLang="en-US" dirty="0"/>
              <a:t>，</a:t>
            </a:r>
            <a:r>
              <a:rPr lang="en-US" altLang="zh-CN" dirty="0"/>
              <a:t>TLS</a:t>
            </a:r>
            <a:r>
              <a:rPr lang="zh-CN" altLang="en-US" dirty="0"/>
              <a:t>等流量对目标网站进行了攻击，包括</a:t>
            </a:r>
            <a:r>
              <a:rPr lang="en-US" altLang="zh-CN" dirty="0"/>
              <a:t>NTP</a:t>
            </a:r>
            <a:r>
              <a:rPr lang="zh-CN" altLang="en-US" dirty="0"/>
              <a:t>攻击、</a:t>
            </a:r>
            <a:r>
              <a:rPr lang="en-US" altLang="zh-CN" dirty="0"/>
              <a:t>SYN</a:t>
            </a:r>
            <a:r>
              <a:rPr lang="zh-CN" altLang="en-US" dirty="0"/>
              <a:t>攻击、</a:t>
            </a:r>
            <a:r>
              <a:rPr lang="en-US" altLang="zh-CN" dirty="0"/>
              <a:t>DNS</a:t>
            </a:r>
            <a:r>
              <a:rPr lang="zh-CN" altLang="en-US" dirty="0"/>
              <a:t>攻击 </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149</a:t>
            </a:fld>
            <a:endParaRPr kumimoji="1" lang="zh-CN" altLang="en-US"/>
          </a:p>
        </p:txBody>
      </p:sp>
    </p:spTree>
    <p:extLst>
      <p:ext uri="{BB962C8B-B14F-4D97-AF65-F5344CB8AC3E}">
        <p14:creationId xmlns:p14="http://schemas.microsoft.com/office/powerpoint/2010/main" val="24608772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endParaRPr lang="en-US" altLang="zh-CN" dirty="0"/>
          </a:p>
          <a:p>
            <a:r>
              <a:rPr lang="zh-CN" altLang="en-US" dirty="0"/>
              <a:t>其中一个代表性的是</a:t>
            </a:r>
            <a:r>
              <a:rPr lang="en-US" altLang="zh-CN" dirty="0" err="1"/>
              <a:t>Mirai</a:t>
            </a:r>
            <a:r>
              <a:rPr lang="zh-CN" altLang="en-US" dirty="0"/>
              <a:t>僵尸网络。</a:t>
            </a:r>
            <a:endParaRPr lang="en-US" altLang="zh-CN" dirty="0"/>
          </a:p>
          <a:p>
            <a:r>
              <a:rPr lang="en-US" altLang="zh-CN" dirty="0" err="1"/>
              <a:t>Mirai</a:t>
            </a:r>
            <a:r>
              <a:rPr lang="zh-CN" altLang="en-US" dirty="0"/>
              <a:t>僵尸网络的成长非常快，最早出现在</a:t>
            </a:r>
            <a:r>
              <a:rPr lang="en-US" altLang="zh-CN" dirty="0"/>
              <a:t>2016</a:t>
            </a:r>
            <a:r>
              <a:rPr lang="zh-CN" altLang="en-US" dirty="0"/>
              <a:t>年</a:t>
            </a:r>
            <a:r>
              <a:rPr lang="en-US" altLang="zh-CN" dirty="0"/>
              <a:t>8</a:t>
            </a:r>
            <a:r>
              <a:rPr lang="zh-CN" altLang="en-US" dirty="0"/>
              <a:t>月但是直到</a:t>
            </a:r>
            <a:r>
              <a:rPr lang="en-US" altLang="zh-CN" dirty="0"/>
              <a:t>2016</a:t>
            </a:r>
            <a:r>
              <a:rPr lang="zh-CN" altLang="en-US" dirty="0"/>
              <a:t>年</a:t>
            </a:r>
            <a:r>
              <a:rPr lang="en-US" altLang="zh-CN" dirty="0"/>
              <a:t>9</a:t>
            </a:r>
            <a:r>
              <a:rPr lang="zh-CN" altLang="en-US" dirty="0"/>
              <a:t>月中旬，</a:t>
            </a:r>
            <a:r>
              <a:rPr lang="en-US" altLang="zh-CN" dirty="0" err="1"/>
              <a:t>Mirai</a:t>
            </a:r>
            <a:r>
              <a:rPr lang="zh-CN" altLang="en-US" dirty="0"/>
              <a:t>才以针对</a:t>
            </a:r>
            <a:r>
              <a:rPr lang="en-US" altLang="zh-CN" dirty="0"/>
              <a:t>Krebs</a:t>
            </a:r>
            <a:r>
              <a:rPr lang="zh-CN" altLang="en-US" dirty="0"/>
              <a:t>的大规模</a:t>
            </a:r>
            <a:r>
              <a:rPr lang="en-US" altLang="zh-CN" dirty="0"/>
              <a:t>DDoS</a:t>
            </a:r>
            <a:r>
              <a:rPr lang="zh-CN" altLang="en-US" dirty="0"/>
              <a:t>攻击占据了新闻头条，到了</a:t>
            </a:r>
            <a:r>
              <a:rPr lang="en-US" altLang="zh-CN" dirty="0"/>
              <a:t>2016</a:t>
            </a:r>
            <a:r>
              <a:rPr lang="zh-CN" altLang="en-US" dirty="0"/>
              <a:t>年</a:t>
            </a:r>
            <a:r>
              <a:rPr lang="en-US" altLang="zh-CN" dirty="0"/>
              <a:t>10</a:t>
            </a:r>
            <a:r>
              <a:rPr lang="zh-CN" altLang="en-US" dirty="0"/>
              <a:t>月</a:t>
            </a:r>
            <a:r>
              <a:rPr lang="en-US" altLang="zh-CN" dirty="0"/>
              <a:t>21</a:t>
            </a:r>
            <a:r>
              <a:rPr lang="zh-CN" altLang="en-US" dirty="0"/>
              <a:t>日首先把美国打“断网”。</a:t>
            </a:r>
            <a:endParaRPr lang="en-US" altLang="zh-CN" dirty="0"/>
          </a:p>
          <a:p>
            <a:r>
              <a:rPr lang="zh-CN" altLang="en-US" dirty="0"/>
              <a:t>其攻击流程如右图所示。</a:t>
            </a:r>
            <a:endParaRPr lang="en-US" altLang="zh-CN" dirty="0"/>
          </a:p>
          <a:p>
            <a:r>
              <a:rPr lang="zh-CN" altLang="en-US" dirty="0"/>
              <a:t>①</a:t>
            </a:r>
            <a:r>
              <a:rPr lang="en-US" altLang="zh-CN" dirty="0" err="1"/>
              <a:t>Mirai</a:t>
            </a:r>
            <a:r>
              <a:rPr lang="zh-CN" altLang="en-US" dirty="0"/>
              <a:t>首先进入了一个快速扫描阶段，扫描阶段会使用已感染的 </a:t>
            </a:r>
            <a:r>
              <a:rPr lang="en-US" altLang="zh-CN" dirty="0"/>
              <a:t>bots </a:t>
            </a:r>
            <a:r>
              <a:rPr lang="zh-CN" altLang="en-US" dirty="0"/>
              <a:t>进行随机扫描。在这个阶段中，它以异步和“无状态”的方式将</a:t>
            </a:r>
            <a:r>
              <a:rPr lang="en-US" altLang="zh-CN" dirty="0"/>
              <a:t>TCP SYN</a:t>
            </a:r>
            <a:r>
              <a:rPr lang="zh-CN" altLang="en-US" dirty="0"/>
              <a:t>探针发送到除了硬编码</a:t>
            </a:r>
            <a:r>
              <a:rPr lang="en-US" altLang="zh-CN" dirty="0"/>
              <a:t>IP</a:t>
            </a:r>
            <a:r>
              <a:rPr lang="zh-CN" altLang="en-US" dirty="0"/>
              <a:t>黑名单中的地址以外的</a:t>
            </a:r>
            <a:r>
              <a:rPr lang="en-US" altLang="zh-CN" dirty="0"/>
              <a:t>Telnet TCP/22</a:t>
            </a:r>
            <a:r>
              <a:rPr lang="zh-CN" altLang="en-US" dirty="0"/>
              <a:t>和</a:t>
            </a:r>
            <a:r>
              <a:rPr lang="en-US" altLang="zh-CN" dirty="0"/>
              <a:t>TCP/23</a:t>
            </a:r>
            <a:r>
              <a:rPr lang="zh-CN" altLang="en-US" dirty="0"/>
              <a:t>上的伪随机</a:t>
            </a:r>
            <a:r>
              <a:rPr lang="en-US" altLang="zh-CN" dirty="0"/>
              <a:t>IPv4</a:t>
            </a:r>
            <a:r>
              <a:rPr lang="zh-CN" altLang="en-US" dirty="0"/>
              <a:t>地址。</a:t>
            </a:r>
            <a:r>
              <a:rPr lang="en-US" altLang="zh-CN" dirty="0"/>
              <a:t>(</a:t>
            </a:r>
            <a:r>
              <a:rPr lang="zh-CN" altLang="en-US" dirty="0"/>
              <a:t>硬编码是将数据直接嵌入到程序或其他可执行对象的源代码中的软件开发实践，与从外部获取数据或在运行时生成数据不同。</a:t>
            </a:r>
            <a:r>
              <a:rPr lang="en-US" altLang="zh-CN" dirty="0"/>
              <a:t>)</a:t>
            </a:r>
            <a:br>
              <a:rPr lang="en-US" altLang="zh-CN" dirty="0"/>
            </a:br>
            <a:r>
              <a:rPr lang="en-US" altLang="zh-CN" dirty="0"/>
              <a:t>②</a:t>
            </a:r>
            <a:r>
              <a:rPr lang="zh-CN" altLang="en-US" dirty="0"/>
              <a:t>如果</a:t>
            </a:r>
            <a:r>
              <a:rPr lang="en-US" altLang="zh-CN" dirty="0" err="1"/>
              <a:t>Mirai</a:t>
            </a:r>
            <a:r>
              <a:rPr lang="zh-CN" altLang="en-US" dirty="0"/>
              <a:t>识别出一个潜在的受害者，它就会进入暴力登录阶段，在这个阶段，它试图使用从预先配置的</a:t>
            </a:r>
            <a:r>
              <a:rPr lang="en-US" altLang="zh-CN" dirty="0"/>
              <a:t>62</a:t>
            </a:r>
            <a:r>
              <a:rPr lang="zh-CN" altLang="en-US" dirty="0"/>
              <a:t>个凭据列表中随机选择的</a:t>
            </a:r>
            <a:r>
              <a:rPr lang="en-US" altLang="zh-CN" dirty="0"/>
              <a:t>10</a:t>
            </a:r>
            <a:r>
              <a:rPr lang="zh-CN" altLang="en-US" dirty="0"/>
              <a:t>个用户名和密码对建立</a:t>
            </a:r>
            <a:r>
              <a:rPr lang="en-US" altLang="zh-CN" dirty="0"/>
              <a:t>Telnet</a:t>
            </a:r>
            <a:r>
              <a:rPr lang="zh-CN" altLang="en-US" dirty="0"/>
              <a:t>连接。第一次成功登录时，</a:t>
            </a:r>
            <a:r>
              <a:rPr lang="en-US" altLang="zh-CN" dirty="0" err="1"/>
              <a:t>Mirai</a:t>
            </a:r>
            <a:r>
              <a:rPr lang="zh-CN" altLang="en-US" dirty="0"/>
              <a:t>将受害者</a:t>
            </a:r>
            <a:r>
              <a:rPr lang="en-US" altLang="zh-CN" dirty="0"/>
              <a:t>IP</a:t>
            </a:r>
            <a:r>
              <a:rPr lang="zh-CN" altLang="en-US" dirty="0"/>
              <a:t>和相关凭据发送到硬编码报表服务器。一旦暴力破解弱口令成功，</a:t>
            </a:r>
            <a:r>
              <a:rPr lang="en-US" altLang="zh-CN" dirty="0"/>
              <a:t>Bots </a:t>
            </a:r>
            <a:r>
              <a:rPr lang="zh-CN" altLang="en-US" dirty="0"/>
              <a:t>会将暴破成功的设备信息发送给 </a:t>
            </a:r>
            <a:r>
              <a:rPr lang="en-US" altLang="zh-CN" dirty="0"/>
              <a:t>Report Server</a:t>
            </a:r>
            <a:r>
              <a:rPr lang="zh-CN" altLang="en-US" dirty="0"/>
              <a:t>。</a:t>
            </a:r>
            <a:br>
              <a:rPr lang="zh-CN" altLang="en-US" dirty="0"/>
            </a:br>
            <a:r>
              <a:rPr lang="zh-CN" altLang="en-US" dirty="0"/>
              <a:t>③④是恶意代码加载阶段，由 </a:t>
            </a:r>
            <a:r>
              <a:rPr lang="en-US" altLang="zh-CN" dirty="0"/>
              <a:t>Report Server </a:t>
            </a:r>
            <a:r>
              <a:rPr lang="zh-CN" altLang="en-US" dirty="0"/>
              <a:t>向 </a:t>
            </a:r>
            <a:r>
              <a:rPr lang="en-US" altLang="zh-CN" dirty="0"/>
              <a:t>Loader Server</a:t>
            </a:r>
            <a:r>
              <a:rPr lang="zh-CN" altLang="en-US" dirty="0"/>
              <a:t>发送加载恶意代码的命令，加载成功后会将易感染的设备作为新的 </a:t>
            </a:r>
            <a:r>
              <a:rPr lang="en-US" altLang="zh-CN" dirty="0"/>
              <a:t>bots </a:t>
            </a:r>
            <a:r>
              <a:rPr lang="zh-CN" altLang="en-US" dirty="0"/>
              <a:t>去进行随机扫描感染下一批设备。一个单独的加载程序通过登录、确定底层系统环境，最后下载并执行特定于体系结构的恶意软件，异步地影响这些易受攻击的设备。</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150</a:t>
            </a:fld>
            <a:endParaRPr kumimoji="1" lang="zh-CN" altLang="en-US"/>
          </a:p>
        </p:txBody>
      </p:sp>
    </p:spTree>
    <p:extLst>
      <p:ext uri="{BB962C8B-B14F-4D97-AF65-F5344CB8AC3E}">
        <p14:creationId xmlns:p14="http://schemas.microsoft.com/office/powerpoint/2010/main" val="11723705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t>
            </a:r>
            <a:r>
              <a:rPr lang="zh-CN" altLang="en-US" dirty="0"/>
              <a:t>选讲或扩展讲解</a:t>
            </a:r>
            <a:r>
              <a:rPr lang="en-US" altLang="zh-CN" dirty="0"/>
              <a:t>】</a:t>
            </a:r>
          </a:p>
          <a:p>
            <a:pPr rtl="0"/>
            <a:r>
              <a:rPr lang="en-US" altLang="zh-CN" dirty="0" err="1">
                <a:effectLst/>
              </a:rPr>
              <a:t>Mirai</a:t>
            </a:r>
            <a:r>
              <a:rPr lang="zh-CN" altLang="en-US" dirty="0">
                <a:effectLst/>
              </a:rPr>
              <a:t>不是第一个针对物联网设备的恶意软件。然而，它是迄今为止最成功的。为什么？ </a:t>
            </a:r>
          </a:p>
          <a:p>
            <a:endParaRPr lang="en-US" dirty="0"/>
          </a:p>
          <a:p>
            <a:r>
              <a:rPr dirty="0" err="1"/>
              <a:t>Mirai</a:t>
            </a:r>
            <a:r>
              <a:rPr dirty="0"/>
              <a:t> wasn’t the first piece of malware that has targeted IoT devices. However, it was </a:t>
            </a:r>
            <a:r>
              <a:rPr i="1" dirty="0"/>
              <a:t>by far</a:t>
            </a:r>
            <a:r>
              <a:rPr dirty="0"/>
              <a:t> the most successful. Why?</a:t>
            </a:r>
          </a:p>
        </p:txBody>
      </p:sp>
    </p:spTree>
    <p:extLst>
      <p:ext uri="{BB962C8B-B14F-4D97-AF65-F5344CB8AC3E}">
        <p14:creationId xmlns:p14="http://schemas.microsoft.com/office/powerpoint/2010/main" val="16787030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pPr/>
              <a:t>2026/2/26</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7293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网络安全</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55195"/>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a:xfrm>
            <a:off x="1307508" y="365126"/>
            <a:ext cx="8220812" cy="879086"/>
          </a:xfrm>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a:lnSpc>
                <a:spcPct val="100000"/>
              </a:lnSpc>
              <a:spcBef>
                <a:spcPts val="600"/>
              </a:spcBef>
              <a:buFont typeface="Wingdings" pitchFamily="2" charset="2"/>
              <a:buChar char="Ø"/>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pPr/>
              <a:t>2026/2/26</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9448800" y="6492874"/>
            <a:ext cx="2743200" cy="365125"/>
          </a:xfrm>
        </p:spPr>
        <p:txBody>
          <a:body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27644" y="644181"/>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pPr/>
              <a:t>2026/2/26</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pPr/>
              <a:t>2026/2/26</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a:xfrm>
            <a:off x="9428202" y="6492874"/>
            <a:ext cx="2743200" cy="365125"/>
          </a:xfrm>
        </p:spPr>
        <p:txBody>
          <a:bodyPr/>
          <a:lstStyle/>
          <a:p>
            <a:fld id="{8D4D1E41-7A09-AB4A-A4E1-09765ADA2698}" type="slidenum">
              <a:rPr kumimoji="1" lang="zh-CN" altLang="en-US" smtClean="0"/>
              <a:pPr/>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pPr/>
              <a:t>2026/2/26</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a:xfrm>
            <a:off x="9448800" y="6492875"/>
            <a:ext cx="2743200" cy="365125"/>
          </a:xfrm>
        </p:spPr>
        <p:txBody>
          <a:bodyPr/>
          <a:lstStyle/>
          <a:p>
            <a:fld id="{8D4D1E41-7A09-AB4A-A4E1-09765ADA2698}" type="slidenum">
              <a:rPr kumimoji="1" lang="zh-CN" altLang="en-US" smtClean="0"/>
              <a:pPr/>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8CEEC-A71C-6B45-9639-E6D2E93DD69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9C15C2-A82D-BD4C-BAD3-5F2059019642}"/>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7A8D863A-9922-6145-9D8F-6EEBB82FFFEC}"/>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FA258540-FE69-0049-9DB3-4C6C4DC60AC7}"/>
              </a:ext>
            </a:extLst>
          </p:cNvPr>
          <p:cNvSpPr>
            <a:spLocks noGrp="1"/>
          </p:cNvSpPr>
          <p:nvPr>
            <p:ph type="sldNum" sz="quarter" idx="12"/>
          </p:nvPr>
        </p:nvSpPr>
        <p:spPr/>
        <p:txBody>
          <a:bodyPr/>
          <a:lstStyle>
            <a:lvl1pPr>
              <a:defRPr/>
            </a:lvl1pPr>
          </a:lstStyle>
          <a:p>
            <a:fld id="{831E9399-7559-704E-82CE-1E968243B59A}" type="slidenum">
              <a:rPr lang="en-US" altLang="zh-CN"/>
              <a:pPr/>
              <a:t>‹#›</a:t>
            </a:fld>
            <a:endParaRPr lang="en-US" altLang="zh-CN"/>
          </a:p>
        </p:txBody>
      </p:sp>
    </p:spTree>
    <p:extLst>
      <p:ext uri="{BB962C8B-B14F-4D97-AF65-F5344CB8AC3E}">
        <p14:creationId xmlns:p14="http://schemas.microsoft.com/office/powerpoint/2010/main" val="1770455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标题文本"/>
          <p:cNvSpPr txBox="1">
            <a:spLocks noGrp="1"/>
          </p:cNvSpPr>
          <p:nvPr>
            <p:ph type="title"/>
          </p:nvPr>
        </p:nvSpPr>
        <p:spPr>
          <a:prstGeom prst="rect">
            <a:avLst/>
          </a:prstGeom>
        </p:spPr>
        <p:txBody>
          <a:bodyPr/>
          <a:lstStyle/>
          <a:p>
            <a:r>
              <a:t>标题文本</a:t>
            </a:r>
          </a:p>
        </p:txBody>
      </p:sp>
      <p:sp>
        <p:nvSpPr>
          <p:cNvPr id="57" name="正文级别 1…"/>
          <p:cNvSpPr txBox="1">
            <a:spLocks noGrp="1"/>
          </p:cNvSpPr>
          <p:nvPr>
            <p:ph type="body" idx="1"/>
          </p:nvPr>
        </p:nvSpPr>
        <p:spPr>
          <a:prstGeom prst="rect">
            <a:avLst/>
          </a:prstGeom>
        </p:spPr>
        <p:txBody>
          <a:bodyPr/>
          <a:lstStyle>
            <a:lvl1pPr>
              <a:defRPr sz="2400"/>
            </a:lvl1pPr>
            <a:lvl2pPr>
              <a:defRPr sz="2400"/>
            </a:lvl2pPr>
            <a:lvl3pPr>
              <a:defRPr sz="2400"/>
            </a:lvl3pPr>
            <a:lvl4pPr>
              <a:defRPr sz="2400"/>
            </a:lvl4pPr>
            <a:lvl5pPr>
              <a:defRPr sz="2400"/>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40419959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pPr/>
              <a:t>2026/2/26</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6.png"/><Relationship Id="rId2" Type="http://schemas.openxmlformats.org/officeDocument/2006/relationships/tags" Target="../tags/tag2.xml"/><Relationship Id="rId16" Type="http://schemas.openxmlformats.org/officeDocument/2006/relationships/notesSlide" Target="../notesSlides/notesSlide4.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2.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jpe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28.jpeg"/><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34.png"/><Relationship Id="rId5" Type="http://schemas.openxmlformats.org/officeDocument/2006/relationships/image" Target="../media/image29.jpeg"/><Relationship Id="rId4" Type="http://schemas.openxmlformats.org/officeDocument/2006/relationships/image" Target="../media/image27.png"/></Relationships>
</file>

<file path=ppt/slides/_rels/slide14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1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8" Type="http://schemas.openxmlformats.org/officeDocument/2006/relationships/image" Target="../media/image46.jpeg"/><Relationship Id="rId13" Type="http://schemas.openxmlformats.org/officeDocument/2006/relationships/image" Target="../media/image27.png"/><Relationship Id="rId3" Type="http://schemas.openxmlformats.org/officeDocument/2006/relationships/image" Target="../media/image41.jpeg"/><Relationship Id="rId7" Type="http://schemas.openxmlformats.org/officeDocument/2006/relationships/image" Target="../media/image45.jpeg"/><Relationship Id="rId12" Type="http://schemas.openxmlformats.org/officeDocument/2006/relationships/image" Target="../media/image50.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4.jpeg"/><Relationship Id="rId11" Type="http://schemas.openxmlformats.org/officeDocument/2006/relationships/image" Target="../media/image49.jpeg"/><Relationship Id="rId5" Type="http://schemas.openxmlformats.org/officeDocument/2006/relationships/image" Target="../media/image43.jpeg"/><Relationship Id="rId10" Type="http://schemas.openxmlformats.org/officeDocument/2006/relationships/image" Target="../media/image48.jpeg"/><Relationship Id="rId4" Type="http://schemas.openxmlformats.org/officeDocument/2006/relationships/image" Target="../media/image42.jpeg"/><Relationship Id="rId9" Type="http://schemas.openxmlformats.org/officeDocument/2006/relationships/image" Target="../media/image47.jpeg"/><Relationship Id="rId14" Type="http://schemas.openxmlformats.org/officeDocument/2006/relationships/image" Target="../media/image28.jpeg"/></Relationships>
</file>

<file path=ppt/slides/_rels/slide1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318161" y="1888176"/>
            <a:ext cx="9595262" cy="1005751"/>
          </a:xfrm>
        </p:spPr>
        <p:txBody>
          <a:bodyPr>
            <a:normAutofit/>
          </a:bodyPr>
          <a:lstStyle/>
          <a:p>
            <a:r>
              <a:rPr lang="zh-CN" altLang="en-US" dirty="0"/>
              <a:t>第十章 </a:t>
            </a:r>
            <a:r>
              <a:rPr lang="zh-CN" altLang="zh-CN" dirty="0"/>
              <a:t>恶意软件</a:t>
            </a:r>
            <a:endParaRPr kumimoji="1" lang="zh-CN" altLang="en-US" sz="4800" b="1"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 </a:t>
            </a:r>
            <a:r>
              <a:rPr kumimoji="1" lang="zh-CN" altLang="zh-CN" dirty="0">
                <a:solidFill>
                  <a:prstClr val="black"/>
                </a:solidFill>
              </a:rPr>
              <a:t>恶意软件</a:t>
            </a:r>
            <a:endParaRPr lang="zh-CN" altLang="en-US" dirty="0"/>
          </a:p>
        </p:txBody>
      </p:sp>
      <p:sp>
        <p:nvSpPr>
          <p:cNvPr id="3" name="内容占位符 2"/>
          <p:cNvSpPr>
            <a:spLocks noGrp="1"/>
          </p:cNvSpPr>
          <p:nvPr>
            <p:ph idx="1"/>
          </p:nvPr>
        </p:nvSpPr>
        <p:spPr/>
        <p:txBody>
          <a:bodyPr>
            <a:normAutofit/>
          </a:bodyPr>
          <a:lstStyle/>
          <a:p>
            <a:r>
              <a:rPr lang="zh-CN" altLang="en-US" dirty="0"/>
              <a:t>恶意软件是计算机系统最大的威胁之一。定义为“隐蔽植入另一段程序的程序，它企图破坏数据，运行破坏性或者入侵性程序，或者破坏受害者数据，应用程序或操作系统的机密性、完整性和可用性”。</a:t>
            </a:r>
            <a:endParaRPr lang="en-US" altLang="zh-CN" dirty="0"/>
          </a:p>
          <a:p>
            <a:r>
              <a:rPr lang="zh-CN" altLang="en-US" dirty="0"/>
              <a:t>本章从综述各种恶意软件的类型开始，首先基于恶意软件的</a:t>
            </a:r>
            <a:r>
              <a:rPr lang="zh-CN" altLang="en-US" dirty="0">
                <a:solidFill>
                  <a:srgbClr val="C00000"/>
                </a:solidFill>
              </a:rPr>
              <a:t>传播方法</a:t>
            </a:r>
            <a:r>
              <a:rPr lang="zh-CN" altLang="en-US" dirty="0"/>
              <a:t>，然后基于恶意软件到达指定目标后</a:t>
            </a:r>
            <a:r>
              <a:rPr lang="zh-CN" altLang="en-US" dirty="0">
                <a:solidFill>
                  <a:srgbClr val="C00000"/>
                </a:solidFill>
              </a:rPr>
              <a:t>执行的动作</a:t>
            </a:r>
            <a:r>
              <a:rPr lang="zh-CN" altLang="en-US" dirty="0"/>
              <a:t>对其进行分类。</a:t>
            </a:r>
            <a:r>
              <a:rPr lang="zh-CN" altLang="en-US" b="1" dirty="0"/>
              <a:t>传播机制包括病毒、蠕虫和特洛伊木马</a:t>
            </a:r>
            <a:r>
              <a:rPr lang="zh-CN" altLang="en-US" dirty="0"/>
              <a:t>等机制。</a:t>
            </a:r>
            <a:r>
              <a:rPr lang="zh-CN" altLang="en-US" b="1" dirty="0"/>
              <a:t>载荷包括系统污染、僵尸、网络钓鱼、间谍软件和</a:t>
            </a:r>
            <a:r>
              <a:rPr lang="en-US" altLang="zh-CN" b="1" dirty="0"/>
              <a:t>Rootkit</a:t>
            </a:r>
            <a:r>
              <a:rPr lang="zh-CN" altLang="en-US" dirty="0"/>
              <a:t>。接着讨论对应的防护措施。最后，讨论分布式拒绝服务攻击。</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a:t>
            </a:fld>
            <a:endParaRPr kumimoji="1" lang="zh-CN" altLang="en-US" dirty="0"/>
          </a:p>
        </p:txBody>
      </p:sp>
    </p:spTree>
    <p:extLst>
      <p:ext uri="{BB962C8B-B14F-4D97-AF65-F5344CB8AC3E}">
        <p14:creationId xmlns:p14="http://schemas.microsoft.com/office/powerpoint/2010/main" val="3243834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solidFill>
                  <a:srgbClr val="C00000"/>
                </a:solidFill>
              </a:rPr>
              <a:t>10.1 </a:t>
            </a:r>
            <a:r>
              <a:rPr kumimoji="1" lang="zh-CN" altLang="zh-CN" sz="3000" dirty="0">
                <a:solidFill>
                  <a:srgbClr val="C00000"/>
                </a:solidFill>
              </a:rPr>
              <a:t>恶意软件类型</a:t>
            </a:r>
            <a:endParaRPr kumimoji="1" lang="en-US" altLang="zh-CN" sz="3000" dirty="0">
              <a:solidFill>
                <a:srgbClr val="C00000"/>
              </a:solidFill>
            </a:endParaRPr>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697682" y="1443436"/>
            <a:ext cx="4122717" cy="2202289"/>
          </a:xfrm>
          <a:prstGeom prst="wedgeRectCallout">
            <a:avLst>
              <a:gd name="adj1" fmla="val -121096"/>
              <a:gd name="adj2" fmla="val -4718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恶意软件的分类</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攻击套件</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攻击源头</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4518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 </a:t>
            </a:r>
            <a:r>
              <a:rPr kumimoji="1" lang="zh-CN" altLang="zh-CN" dirty="0">
                <a:solidFill>
                  <a:prstClr val="black"/>
                </a:solidFill>
              </a:rPr>
              <a:t>恶意软件</a:t>
            </a:r>
            <a:r>
              <a:rPr kumimoji="1" lang="zh-CN" altLang="en-US" dirty="0">
                <a:solidFill>
                  <a:prstClr val="black"/>
                </a:solidFill>
              </a:rPr>
              <a:t>类型</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a:t>
            </a:fld>
            <a:endParaRPr kumimoji="1" lang="zh-CN" altLang="en-US" dirty="0"/>
          </a:p>
        </p:txBody>
      </p:sp>
      <p:pic>
        <p:nvPicPr>
          <p:cNvPr id="6" name="图片 5"/>
          <p:cNvPicPr>
            <a:picLocks noChangeAspect="1"/>
          </p:cNvPicPr>
          <p:nvPr/>
        </p:nvPicPr>
        <p:blipFill>
          <a:blip r:embed="rId2"/>
          <a:stretch>
            <a:fillRect/>
          </a:stretch>
        </p:blipFill>
        <p:spPr>
          <a:xfrm>
            <a:off x="1077686" y="1477337"/>
            <a:ext cx="9742714" cy="4817826"/>
          </a:xfrm>
          <a:prstGeom prst="rect">
            <a:avLst/>
          </a:prstGeom>
        </p:spPr>
      </p:pic>
    </p:spTree>
    <p:extLst>
      <p:ext uri="{BB962C8B-B14F-4D97-AF65-F5344CB8AC3E}">
        <p14:creationId xmlns:p14="http://schemas.microsoft.com/office/powerpoint/2010/main" val="2400645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 </a:t>
            </a:r>
            <a:r>
              <a:rPr kumimoji="1" lang="zh-CN" altLang="zh-CN" dirty="0">
                <a:solidFill>
                  <a:prstClr val="black"/>
                </a:solidFill>
              </a:rPr>
              <a:t>恶意软件</a:t>
            </a:r>
            <a:r>
              <a:rPr kumimoji="1" lang="zh-CN" altLang="en-US" dirty="0">
                <a:solidFill>
                  <a:prstClr val="black"/>
                </a:solidFill>
              </a:rPr>
              <a:t>类型</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a:t>
            </a:fld>
            <a:endParaRPr kumimoji="1" lang="zh-CN" altLang="en-US" dirty="0"/>
          </a:p>
        </p:txBody>
      </p:sp>
      <p:grpSp>
        <p:nvGrpSpPr>
          <p:cNvPr id="8" name="组合 7"/>
          <p:cNvGrpSpPr/>
          <p:nvPr/>
        </p:nvGrpSpPr>
        <p:grpSpPr>
          <a:xfrm>
            <a:off x="1200892" y="1510758"/>
            <a:ext cx="9790216" cy="4398765"/>
            <a:chOff x="1205965" y="2593210"/>
            <a:chExt cx="7803325" cy="3060000"/>
          </a:xfrm>
        </p:grpSpPr>
        <p:pic>
          <p:nvPicPr>
            <p:cNvPr id="5" name="图片 4"/>
            <p:cNvPicPr>
              <a:picLocks noChangeAspect="1"/>
            </p:cNvPicPr>
            <p:nvPr/>
          </p:nvPicPr>
          <p:blipFill>
            <a:blip r:embed="rId2"/>
            <a:stretch>
              <a:fillRect/>
            </a:stretch>
          </p:blipFill>
          <p:spPr>
            <a:xfrm>
              <a:off x="1208315" y="2938585"/>
              <a:ext cx="7800975" cy="2714625"/>
            </a:xfrm>
            <a:prstGeom prst="rect">
              <a:avLst/>
            </a:prstGeom>
          </p:spPr>
        </p:pic>
        <p:pic>
          <p:nvPicPr>
            <p:cNvPr id="7" name="图片 6"/>
            <p:cNvPicPr>
              <a:picLocks noChangeAspect="1"/>
            </p:cNvPicPr>
            <p:nvPr/>
          </p:nvPicPr>
          <p:blipFill>
            <a:blip r:embed="rId3"/>
            <a:stretch>
              <a:fillRect/>
            </a:stretch>
          </p:blipFill>
          <p:spPr>
            <a:xfrm>
              <a:off x="1205965" y="2593210"/>
              <a:ext cx="7791450" cy="381000"/>
            </a:xfrm>
            <a:prstGeom prst="rect">
              <a:avLst/>
            </a:prstGeom>
          </p:spPr>
        </p:pic>
      </p:grpSp>
    </p:spTree>
    <p:extLst>
      <p:ext uri="{BB962C8B-B14F-4D97-AF65-F5344CB8AC3E}">
        <p14:creationId xmlns:p14="http://schemas.microsoft.com/office/powerpoint/2010/main" val="495588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 </a:t>
            </a:r>
            <a:r>
              <a:rPr kumimoji="1" lang="zh-CN" altLang="zh-CN" dirty="0">
                <a:solidFill>
                  <a:prstClr val="black"/>
                </a:solidFill>
              </a:rPr>
              <a:t>恶意软件的分类</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rPr>
              <a:t>基于传播机制的分类</a:t>
            </a:r>
            <a:endParaRPr lang="en-US" altLang="zh-CN" dirty="0">
              <a:solidFill>
                <a:srgbClr val="C00000"/>
              </a:solidFill>
            </a:endParaRPr>
          </a:p>
          <a:p>
            <a:pPr lvl="1"/>
            <a:r>
              <a:rPr lang="zh-CN" altLang="en-US" dirty="0"/>
              <a:t>通过</a:t>
            </a:r>
            <a:r>
              <a:rPr lang="zh-CN" altLang="en-US" dirty="0">
                <a:solidFill>
                  <a:srgbClr val="C00000"/>
                </a:solidFill>
              </a:rPr>
              <a:t>病毒感染</a:t>
            </a:r>
            <a:r>
              <a:rPr lang="zh-CN" altLang="en-US" dirty="0"/>
              <a:t>已存在的可执行或解释执行的内容，随后传播到其他系统；</a:t>
            </a:r>
            <a:endParaRPr lang="en-US" altLang="zh-CN" dirty="0"/>
          </a:p>
          <a:p>
            <a:pPr lvl="1"/>
            <a:r>
              <a:rPr lang="zh-CN" altLang="en-US" dirty="0">
                <a:solidFill>
                  <a:srgbClr val="C00000"/>
                </a:solidFill>
              </a:rPr>
              <a:t>蠕虫</a:t>
            </a:r>
            <a:r>
              <a:rPr lang="zh-CN" altLang="en-US" dirty="0"/>
              <a:t>或者下载驱动病毒利用本地或者网络上软件漏洞从而使恶意软件得以复制；</a:t>
            </a:r>
            <a:endParaRPr lang="en-US" altLang="zh-CN" dirty="0"/>
          </a:p>
          <a:p>
            <a:pPr lvl="1"/>
            <a:r>
              <a:rPr lang="zh-CN" altLang="en-US" dirty="0"/>
              <a:t>劝说用户绕开安全机制从而安装</a:t>
            </a:r>
            <a:r>
              <a:rPr lang="zh-CN" altLang="en-US" dirty="0">
                <a:solidFill>
                  <a:srgbClr val="C00000"/>
                </a:solidFill>
              </a:rPr>
              <a:t>特洛伊木马</a:t>
            </a:r>
            <a:r>
              <a:rPr lang="zh-CN" altLang="en-US" dirty="0"/>
              <a:t>程序或者对网络钓鱼攻击做出应答的社会工程攻击。</a:t>
            </a:r>
            <a:endParaRPr lang="en-US" altLang="zh-CN" dirty="0">
              <a:solidFill>
                <a:srgbClr val="C00000"/>
              </a:solidFill>
            </a:endParaRPr>
          </a:p>
          <a:p>
            <a:r>
              <a:rPr lang="zh-CN" altLang="en-US" dirty="0">
                <a:solidFill>
                  <a:srgbClr val="C00000"/>
                </a:solidFill>
              </a:rPr>
              <a:t>基于是否寄生的分类</a:t>
            </a:r>
            <a:endParaRPr lang="en-US" altLang="zh-CN" dirty="0">
              <a:solidFill>
                <a:srgbClr val="C00000"/>
              </a:solidFill>
            </a:endParaRPr>
          </a:p>
          <a:p>
            <a:pPr lvl="1"/>
            <a:r>
              <a:rPr lang="zh-CN" altLang="en-US" dirty="0"/>
              <a:t>需要驻留在宿主程序中，比如病毒，称为</a:t>
            </a:r>
            <a:r>
              <a:rPr lang="zh-CN" altLang="en-US" dirty="0">
                <a:solidFill>
                  <a:srgbClr val="C00000"/>
                </a:solidFill>
              </a:rPr>
              <a:t>寄生</a:t>
            </a:r>
            <a:r>
              <a:rPr lang="zh-CN" altLang="en-US" dirty="0"/>
              <a:t>的。</a:t>
            </a:r>
            <a:endParaRPr lang="en-US" altLang="zh-CN" dirty="0"/>
          </a:p>
          <a:p>
            <a:pPr lvl="1"/>
            <a:r>
              <a:rPr lang="zh-CN" altLang="en-US" dirty="0"/>
              <a:t>独立于宿主程序，软件是可以被操作系统调度并运行的</a:t>
            </a:r>
            <a:r>
              <a:rPr lang="zh-CN" altLang="en-US" dirty="0">
                <a:solidFill>
                  <a:srgbClr val="C00000"/>
                </a:solidFill>
              </a:rPr>
              <a:t>独立程序</a:t>
            </a:r>
            <a:r>
              <a:rPr lang="zh-CN" altLang="en-US" dirty="0"/>
              <a:t>，这类软件有蠕虫、木马和僵尸等</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a:t>
            </a:fld>
            <a:endParaRPr kumimoji="1" lang="zh-CN" altLang="en-US" dirty="0"/>
          </a:p>
        </p:txBody>
      </p:sp>
    </p:spTree>
    <p:extLst>
      <p:ext uri="{BB962C8B-B14F-4D97-AF65-F5344CB8AC3E}">
        <p14:creationId xmlns:p14="http://schemas.microsoft.com/office/powerpoint/2010/main" val="1291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 </a:t>
            </a:r>
            <a:r>
              <a:rPr kumimoji="1" lang="zh-CN" altLang="zh-CN" dirty="0">
                <a:solidFill>
                  <a:prstClr val="black"/>
                </a:solidFill>
              </a:rPr>
              <a:t>恶意软件的分类</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rPr>
              <a:t>根据是否复制的分类</a:t>
            </a:r>
            <a:endParaRPr lang="en-US" altLang="zh-CN" dirty="0">
              <a:solidFill>
                <a:srgbClr val="C00000"/>
              </a:solidFill>
            </a:endParaRPr>
          </a:p>
          <a:p>
            <a:pPr lvl="1"/>
            <a:r>
              <a:rPr lang="zh-CN" altLang="en-US" dirty="0"/>
              <a:t>不进行复制的软件有特洛伊木马、垃圾邮件，</a:t>
            </a:r>
            <a:endParaRPr lang="en-US" altLang="zh-CN" dirty="0"/>
          </a:p>
          <a:p>
            <a:pPr lvl="1"/>
            <a:r>
              <a:rPr lang="zh-CN" altLang="en-US" dirty="0"/>
              <a:t>进行复制的软件有病毒和蠕虫。</a:t>
            </a:r>
            <a:endParaRPr lang="en-US" altLang="zh-CN" dirty="0"/>
          </a:p>
          <a:p>
            <a:r>
              <a:rPr lang="zh-CN" altLang="en-US" dirty="0">
                <a:solidFill>
                  <a:srgbClr val="C00000"/>
                </a:solidFill>
              </a:rPr>
              <a:t>基于载荷执行动作的分类</a:t>
            </a:r>
            <a:endParaRPr lang="en-US" altLang="zh-CN" dirty="0">
              <a:solidFill>
                <a:srgbClr val="C00000"/>
              </a:solidFill>
            </a:endParaRPr>
          </a:p>
          <a:p>
            <a:pPr lvl="1"/>
            <a:r>
              <a:rPr lang="zh-CN" altLang="en-US" dirty="0"/>
              <a:t>污染系统或者数据文件，窃取服务从而使得系统成为僵尸网络攻击中的</a:t>
            </a:r>
            <a:r>
              <a:rPr lang="zh-CN" altLang="en-US" dirty="0">
                <a:solidFill>
                  <a:srgbClr val="C00000"/>
                </a:solidFill>
              </a:rPr>
              <a:t>僵尸代理</a:t>
            </a:r>
            <a:r>
              <a:rPr lang="zh-CN" altLang="en-US" dirty="0"/>
              <a:t>；</a:t>
            </a:r>
            <a:endParaRPr lang="en-US" altLang="zh-CN" dirty="0"/>
          </a:p>
          <a:p>
            <a:pPr lvl="1"/>
            <a:r>
              <a:rPr lang="zh-CN" altLang="en-US" dirty="0"/>
              <a:t>通过键盘日志或者间谍软件从系统中</a:t>
            </a:r>
            <a:r>
              <a:rPr lang="zh-CN" altLang="en-US" dirty="0">
                <a:solidFill>
                  <a:srgbClr val="C00000"/>
                </a:solidFill>
              </a:rPr>
              <a:t>窃取</a:t>
            </a:r>
            <a:r>
              <a:rPr lang="zh-CN" altLang="en-US" dirty="0"/>
              <a:t>有用信息比如登录密码或者其他个人信息；</a:t>
            </a:r>
            <a:endParaRPr lang="en-US" altLang="zh-CN" dirty="0"/>
          </a:p>
          <a:p>
            <a:pPr lvl="1"/>
            <a:r>
              <a:rPr lang="zh-CN" altLang="en-US" dirty="0"/>
              <a:t>或者恶意软件</a:t>
            </a:r>
            <a:r>
              <a:rPr lang="zh-CN" altLang="en-US" dirty="0">
                <a:solidFill>
                  <a:srgbClr val="C00000"/>
                </a:solidFill>
              </a:rPr>
              <a:t>隐藏</a:t>
            </a:r>
            <a:r>
              <a:rPr lang="zh-CN" altLang="en-US" dirty="0"/>
              <a:t>在系统中从而避免对它进行的检测。</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a:t>
            </a:fld>
            <a:endParaRPr kumimoji="1" lang="zh-CN" altLang="en-US" dirty="0"/>
          </a:p>
        </p:txBody>
      </p:sp>
    </p:spTree>
    <p:extLst>
      <p:ext uri="{BB962C8B-B14F-4D97-AF65-F5344CB8AC3E}">
        <p14:creationId xmlns:p14="http://schemas.microsoft.com/office/powerpoint/2010/main" val="74142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 </a:t>
            </a:r>
            <a:r>
              <a:rPr kumimoji="1" lang="zh-CN" altLang="zh-CN" dirty="0">
                <a:solidFill>
                  <a:prstClr val="black"/>
                </a:solidFill>
              </a:rPr>
              <a:t>恶意软件的分类</a:t>
            </a:r>
            <a:endParaRPr lang="zh-CN" altLang="en-US" dirty="0"/>
          </a:p>
        </p:txBody>
      </p:sp>
      <p:sp>
        <p:nvSpPr>
          <p:cNvPr id="3" name="内容占位符 2"/>
          <p:cNvSpPr>
            <a:spLocks noGrp="1"/>
          </p:cNvSpPr>
          <p:nvPr>
            <p:ph idx="1"/>
          </p:nvPr>
        </p:nvSpPr>
        <p:spPr/>
        <p:txBody>
          <a:bodyPr>
            <a:normAutofit/>
          </a:bodyPr>
          <a:lstStyle/>
          <a:p>
            <a:r>
              <a:rPr lang="zh-CN" altLang="en-US" dirty="0"/>
              <a:t>早些时候的恶意软件使用</a:t>
            </a:r>
            <a:r>
              <a:rPr lang="zh-CN" altLang="en-US" dirty="0">
                <a:solidFill>
                  <a:srgbClr val="C00000"/>
                </a:solidFill>
              </a:rPr>
              <a:t>一种传播方式</a:t>
            </a:r>
            <a:r>
              <a:rPr lang="zh-CN" altLang="en-US" dirty="0"/>
              <a:t>传递载荷，随着恶意软件的发展，我们看到越来越多的恶意软件使用</a:t>
            </a:r>
            <a:r>
              <a:rPr lang="zh-CN" altLang="en-US" dirty="0">
                <a:solidFill>
                  <a:srgbClr val="C00000"/>
                </a:solidFill>
              </a:rPr>
              <a:t>混合方式</a:t>
            </a:r>
            <a:r>
              <a:rPr lang="zh-CN" altLang="en-US" dirty="0"/>
              <a:t>，它同时使用传播机制和载荷，从而提高其传播、隐藏或者在目标系统执行动作的能力。</a:t>
            </a:r>
            <a:endParaRPr lang="en-US" altLang="zh-CN" dirty="0"/>
          </a:p>
          <a:p>
            <a:r>
              <a:rPr lang="zh-CN" altLang="en-US" dirty="0">
                <a:solidFill>
                  <a:srgbClr val="C00000"/>
                </a:solidFill>
              </a:rPr>
              <a:t>混合攻击</a:t>
            </a:r>
            <a:r>
              <a:rPr lang="zh-CN" altLang="en-US" dirty="0"/>
              <a:t>使用</a:t>
            </a:r>
            <a:r>
              <a:rPr lang="zh-CN" altLang="en-US" dirty="0">
                <a:solidFill>
                  <a:srgbClr val="C00000"/>
                </a:solidFill>
              </a:rPr>
              <a:t>多种感染或者传播方法</a:t>
            </a:r>
            <a:r>
              <a:rPr lang="zh-CN" altLang="en-US" dirty="0"/>
              <a:t>，从而最大化传染速度和攻击严重性。一些恶意软件甚至支持更新机制从而可以改变传播范围和载荷机制。</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a:t>
            </a:fld>
            <a:endParaRPr kumimoji="1" lang="zh-CN" altLang="en-US" dirty="0"/>
          </a:p>
        </p:txBody>
      </p:sp>
    </p:spTree>
    <p:extLst>
      <p:ext uri="{BB962C8B-B14F-4D97-AF65-F5344CB8AC3E}">
        <p14:creationId xmlns:p14="http://schemas.microsoft.com/office/powerpoint/2010/main" val="4148155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10.1.2 </a:t>
            </a:r>
            <a:r>
              <a:rPr kumimoji="1" lang="zh-CN" altLang="zh-CN" dirty="0">
                <a:solidFill>
                  <a:prstClr val="black"/>
                </a:solidFill>
              </a:rPr>
              <a:t>攻击套件</a:t>
            </a:r>
            <a:endParaRPr lang="zh-CN" altLang="en-US" dirty="0"/>
          </a:p>
        </p:txBody>
      </p:sp>
      <p:sp>
        <p:nvSpPr>
          <p:cNvPr id="3" name="内容占位符 2"/>
          <p:cNvSpPr>
            <a:spLocks noGrp="1"/>
          </p:cNvSpPr>
          <p:nvPr>
            <p:ph idx="1"/>
          </p:nvPr>
        </p:nvSpPr>
        <p:spPr>
          <a:xfrm>
            <a:off x="838200" y="1377537"/>
            <a:ext cx="10515600" cy="4975761"/>
          </a:xfrm>
        </p:spPr>
        <p:txBody>
          <a:bodyPr>
            <a:normAutofit fontScale="85000" lnSpcReduction="20000"/>
          </a:bodyPr>
          <a:lstStyle/>
          <a:p>
            <a:pPr>
              <a:lnSpc>
                <a:spcPct val="130000"/>
              </a:lnSpc>
            </a:pPr>
            <a:r>
              <a:rPr lang="zh-CN" altLang="en-US" dirty="0"/>
              <a:t>最初，恶意软件的开发和部署需要软件作者相当高的技术技能。随着在</a:t>
            </a:r>
            <a:r>
              <a:rPr lang="en-US" altLang="zh-CN" dirty="0"/>
              <a:t>20</a:t>
            </a:r>
            <a:r>
              <a:rPr lang="zh-CN" altLang="en-US" dirty="0"/>
              <a:t>世纪</a:t>
            </a:r>
            <a:r>
              <a:rPr lang="en-US" altLang="zh-CN" dirty="0"/>
              <a:t>90</a:t>
            </a:r>
            <a:r>
              <a:rPr lang="zh-CN" altLang="en-US" dirty="0"/>
              <a:t>年代初的病毒创建工具的发展，到</a:t>
            </a:r>
            <a:r>
              <a:rPr lang="en-US" altLang="zh-CN" dirty="0"/>
              <a:t>2000</a:t>
            </a:r>
            <a:r>
              <a:rPr lang="zh-CN" altLang="en-US" dirty="0"/>
              <a:t>年年初的时候有了更</a:t>
            </a:r>
            <a:r>
              <a:rPr lang="zh-CN" altLang="en-US" dirty="0">
                <a:solidFill>
                  <a:srgbClr val="C00000"/>
                </a:solidFill>
              </a:rPr>
              <a:t>通用的攻击套件</a:t>
            </a:r>
            <a:r>
              <a:rPr lang="zh-CN" altLang="en-US" dirty="0"/>
              <a:t>，极大的促进了恶意软件的开发和部署。</a:t>
            </a:r>
            <a:endParaRPr lang="en-US" altLang="zh-CN" dirty="0"/>
          </a:p>
          <a:p>
            <a:pPr>
              <a:lnSpc>
                <a:spcPct val="130000"/>
              </a:lnSpc>
            </a:pPr>
            <a:r>
              <a:rPr lang="zh-CN" altLang="en-US" dirty="0"/>
              <a:t>这些工具套件，通常称为犯罪软件，包括各种</a:t>
            </a:r>
            <a:r>
              <a:rPr lang="zh-CN" altLang="en-US" dirty="0">
                <a:solidFill>
                  <a:srgbClr val="C00000"/>
                </a:solidFill>
              </a:rPr>
              <a:t>传播机制</a:t>
            </a:r>
            <a:r>
              <a:rPr lang="zh-CN" altLang="en-US" dirty="0"/>
              <a:t>和</a:t>
            </a:r>
            <a:r>
              <a:rPr lang="zh-CN" altLang="en-US" dirty="0">
                <a:solidFill>
                  <a:srgbClr val="C00000"/>
                </a:solidFill>
              </a:rPr>
              <a:t>载荷模块</a:t>
            </a:r>
            <a:r>
              <a:rPr lang="zh-CN" altLang="en-US" dirty="0"/>
              <a:t>，即便是初学者可以轻易地利用最新发现的漏洞进行定制，这些套件极大地扩大了能够部署恶意软件的攻击者的数量。</a:t>
            </a:r>
            <a:endParaRPr lang="en-US" altLang="zh-CN" dirty="0"/>
          </a:p>
          <a:p>
            <a:pPr>
              <a:lnSpc>
                <a:spcPct val="130000"/>
              </a:lnSpc>
            </a:pPr>
            <a:r>
              <a:rPr lang="zh-CN" altLang="en-US" dirty="0"/>
              <a:t>攻击者使用这些工具套件产生的恶意软件新变种的绝对数量对那些防卫系统免受这些攻击的人来说，带来了明显的问题。</a:t>
            </a:r>
            <a:endParaRPr lang="en-US" altLang="zh-CN" dirty="0"/>
          </a:p>
          <a:p>
            <a:pPr>
              <a:lnSpc>
                <a:spcPct val="130000"/>
              </a:lnSpc>
            </a:pPr>
            <a:r>
              <a:rPr lang="en-US" altLang="zh-CN" dirty="0"/>
              <a:t>Zeus</a:t>
            </a:r>
            <a:r>
              <a:rPr lang="zh-CN" altLang="en-US" dirty="0"/>
              <a:t>犯罪软件工具套件是一个最近比较突出的此类攻击套件的例子，使用这种软件产生一系列有效的、隐蔽的恶意软件，由此引发了许多犯罪活动，尤其是</a:t>
            </a:r>
            <a:r>
              <a:rPr lang="zh-CN" altLang="en-US" dirty="0">
                <a:solidFill>
                  <a:srgbClr val="C00000"/>
                </a:solidFill>
              </a:rPr>
              <a:t>捕获和利用银行证书</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a:t>
            </a:fld>
            <a:endParaRPr kumimoji="1" lang="zh-CN" altLang="en-US" dirty="0"/>
          </a:p>
        </p:txBody>
      </p:sp>
    </p:spTree>
    <p:extLst>
      <p:ext uri="{BB962C8B-B14F-4D97-AF65-F5344CB8AC3E}">
        <p14:creationId xmlns:p14="http://schemas.microsoft.com/office/powerpoint/2010/main" val="406718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10.1.3 </a:t>
            </a:r>
            <a:r>
              <a:rPr kumimoji="1" lang="zh-CN" altLang="zh-CN" dirty="0">
                <a:solidFill>
                  <a:prstClr val="black"/>
                </a:solidFill>
              </a:rPr>
              <a:t>攻击源头</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恶意软件另一个明显的发展是攻击者从想要向同伴</a:t>
            </a:r>
            <a:r>
              <a:rPr lang="zh-CN" altLang="en-US" dirty="0">
                <a:solidFill>
                  <a:srgbClr val="C00000"/>
                </a:solidFill>
              </a:rPr>
              <a:t>展示自己技术才能</a:t>
            </a:r>
            <a:r>
              <a:rPr lang="zh-CN" altLang="en-US" dirty="0"/>
              <a:t>的个人变成了更加有组织的、危险的攻击源头。</a:t>
            </a:r>
            <a:endParaRPr lang="en-US" altLang="zh-CN" dirty="0"/>
          </a:p>
          <a:p>
            <a:pPr>
              <a:lnSpc>
                <a:spcPct val="150000"/>
              </a:lnSpc>
            </a:pPr>
            <a:r>
              <a:rPr lang="zh-CN" altLang="en-US" dirty="0"/>
              <a:t>这些源头包括出于</a:t>
            </a:r>
            <a:r>
              <a:rPr lang="zh-CN" altLang="en-US" dirty="0">
                <a:solidFill>
                  <a:srgbClr val="C00000"/>
                </a:solidFill>
              </a:rPr>
              <a:t>政治动机</a:t>
            </a:r>
            <a:r>
              <a:rPr lang="zh-CN" altLang="en-US" dirty="0"/>
              <a:t>的攻击者、犯罪者和有组织的犯罪；向公司和国家出售自己服务的组织、国家政府机构。这明显改变了恶意软件兴起的动机和可用资源，而且确实导致了</a:t>
            </a:r>
            <a:r>
              <a:rPr lang="zh-CN" altLang="en-US" dirty="0">
                <a:solidFill>
                  <a:srgbClr val="C00000"/>
                </a:solidFill>
              </a:rPr>
              <a:t>地下经济</a:t>
            </a:r>
            <a:r>
              <a:rPr lang="zh-CN" altLang="en-US" dirty="0"/>
              <a:t>的发展，这包括</a:t>
            </a:r>
            <a:r>
              <a:rPr lang="zh-CN" altLang="en-US" dirty="0">
                <a:solidFill>
                  <a:srgbClr val="C00000"/>
                </a:solidFill>
              </a:rPr>
              <a:t>出售攻击套件</a:t>
            </a:r>
            <a:r>
              <a:rPr lang="zh-CN" altLang="en-US" dirty="0"/>
              <a:t>，访问被攻破的主机和被盗信息。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a:t>
            </a:fld>
            <a:endParaRPr kumimoji="1" lang="zh-CN" altLang="en-US" dirty="0"/>
          </a:p>
        </p:txBody>
      </p:sp>
    </p:spTree>
    <p:extLst>
      <p:ext uri="{BB962C8B-B14F-4D97-AF65-F5344CB8AC3E}">
        <p14:creationId xmlns:p14="http://schemas.microsoft.com/office/powerpoint/2010/main" val="2542626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solidFill>
                  <a:srgbClr val="C00000"/>
                </a:solidFill>
              </a:rPr>
              <a:t>10.2 </a:t>
            </a:r>
            <a:r>
              <a:rPr kumimoji="1" lang="zh-CN" altLang="zh-CN" sz="3000" dirty="0">
                <a:solidFill>
                  <a:srgbClr val="C00000"/>
                </a:solidFill>
              </a:rPr>
              <a:t>高级持续性威胁</a:t>
            </a:r>
            <a:endParaRPr kumimoji="1" lang="en-US" altLang="zh-CN" sz="3000" dirty="0">
              <a:solidFill>
                <a:srgbClr val="C00000"/>
              </a:solidFill>
            </a:endParaRPr>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2666201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10.2 </a:t>
            </a:r>
            <a:r>
              <a:rPr lang="zh-CN" altLang="zh-CN" dirty="0"/>
              <a:t>高级持续性威胁</a:t>
            </a:r>
            <a:endParaRPr lang="zh-CN" altLang="en-US" dirty="0"/>
          </a:p>
        </p:txBody>
      </p:sp>
      <p:sp>
        <p:nvSpPr>
          <p:cNvPr id="3" name="内容占位符 2"/>
          <p:cNvSpPr>
            <a:spLocks noGrp="1"/>
          </p:cNvSpPr>
          <p:nvPr>
            <p:ph idx="1"/>
          </p:nvPr>
        </p:nvSpPr>
        <p:spPr/>
        <p:txBody>
          <a:bodyPr/>
          <a:lstStyle/>
          <a:p>
            <a:r>
              <a:rPr lang="zh-CN" altLang="en-US" dirty="0">
                <a:solidFill>
                  <a:srgbClr val="C00000"/>
                </a:solidFill>
              </a:rPr>
              <a:t>高级持续性威胁（</a:t>
            </a:r>
            <a:r>
              <a:rPr lang="en-US" altLang="zh-CN" dirty="0">
                <a:solidFill>
                  <a:srgbClr val="C00000"/>
                </a:solidFill>
              </a:rPr>
              <a:t>Advanced Persistent Threat</a:t>
            </a:r>
            <a:r>
              <a:rPr lang="zh-CN" altLang="en-US" dirty="0">
                <a:solidFill>
                  <a:srgbClr val="C00000"/>
                </a:solidFill>
              </a:rPr>
              <a:t>，</a:t>
            </a:r>
            <a:r>
              <a:rPr lang="en-US" altLang="zh-CN" dirty="0">
                <a:solidFill>
                  <a:srgbClr val="C00000"/>
                </a:solidFill>
              </a:rPr>
              <a:t>APT</a:t>
            </a:r>
            <a:r>
              <a:rPr lang="zh-CN" altLang="en-US" dirty="0">
                <a:solidFill>
                  <a:srgbClr val="C00000"/>
                </a:solidFill>
              </a:rPr>
              <a:t>）</a:t>
            </a:r>
            <a:r>
              <a:rPr lang="zh-CN" altLang="en-US" dirty="0"/>
              <a:t>是一种复杂、隐蔽且长期针对特定目标的网络攻击行为，通常由具备高水平资源和技术的攻击者（如国家支持的黑客组织、有组织的犯罪集团等）发起。</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12</a:t>
            </a:fld>
            <a:endParaRPr kumimoji="1" lang="zh-CN" altLang="en-US" dirty="0"/>
          </a:p>
        </p:txBody>
      </p:sp>
    </p:spTree>
    <p:extLst>
      <p:ext uri="{BB962C8B-B14F-4D97-AF65-F5344CB8AC3E}">
        <p14:creationId xmlns:p14="http://schemas.microsoft.com/office/powerpoint/2010/main" val="3875814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10.2 </a:t>
            </a:r>
            <a:r>
              <a:rPr lang="zh-CN" altLang="zh-CN" dirty="0"/>
              <a:t>高级持续性威胁</a:t>
            </a:r>
            <a:endParaRPr lang="zh-CN" altLang="en-US" dirty="0"/>
          </a:p>
        </p:txBody>
      </p:sp>
      <p:sp>
        <p:nvSpPr>
          <p:cNvPr id="3" name="内容占位符 2"/>
          <p:cNvSpPr>
            <a:spLocks noGrp="1"/>
          </p:cNvSpPr>
          <p:nvPr>
            <p:ph idx="1"/>
          </p:nvPr>
        </p:nvSpPr>
        <p:spPr>
          <a:xfrm>
            <a:off x="838200" y="1425039"/>
            <a:ext cx="10515600" cy="4833257"/>
          </a:xfrm>
        </p:spPr>
        <p:txBody>
          <a:bodyPr>
            <a:normAutofit/>
          </a:bodyPr>
          <a:lstStyle/>
          <a:p>
            <a:r>
              <a:rPr lang="zh-CN" altLang="en-US" dirty="0">
                <a:solidFill>
                  <a:srgbClr val="C00000"/>
                </a:solidFill>
              </a:rPr>
              <a:t>核心特征</a:t>
            </a:r>
          </a:p>
          <a:p>
            <a:pPr lvl="1"/>
            <a:r>
              <a:rPr lang="zh-CN" altLang="en-US" dirty="0"/>
              <a:t>高级性（</a:t>
            </a:r>
            <a:r>
              <a:rPr lang="en-US" altLang="zh-CN" dirty="0"/>
              <a:t>Advanced</a:t>
            </a:r>
            <a:r>
              <a:rPr lang="zh-CN" altLang="en-US" dirty="0"/>
              <a:t>）</a:t>
            </a:r>
          </a:p>
          <a:p>
            <a:pPr lvl="2"/>
            <a:r>
              <a:rPr lang="zh-CN" altLang="en-US" dirty="0"/>
              <a:t>使用定制化的恶意软件、零日漏洞（</a:t>
            </a:r>
            <a:r>
              <a:rPr lang="en-US" altLang="zh-CN" dirty="0"/>
              <a:t>0-day exploits</a:t>
            </a:r>
            <a:r>
              <a:rPr lang="zh-CN" altLang="en-US" dirty="0"/>
              <a:t>）、社会工程学等手段，技术复杂度远超普通攻击。</a:t>
            </a:r>
          </a:p>
          <a:p>
            <a:pPr lvl="2"/>
            <a:r>
              <a:rPr lang="zh-CN" altLang="en-US" dirty="0"/>
              <a:t>攻击者具备强大的技术能力和资源支持（如国家背景的团队）。</a:t>
            </a:r>
          </a:p>
          <a:p>
            <a:pPr lvl="1"/>
            <a:r>
              <a:rPr lang="zh-CN" altLang="en-US" dirty="0"/>
              <a:t>持续性（</a:t>
            </a:r>
            <a:r>
              <a:rPr lang="en-US" altLang="zh-CN" dirty="0"/>
              <a:t>Persistent</a:t>
            </a:r>
            <a:r>
              <a:rPr lang="zh-CN" altLang="en-US" dirty="0"/>
              <a:t>）</a:t>
            </a:r>
          </a:p>
          <a:p>
            <a:pPr lvl="2"/>
            <a:r>
              <a:rPr lang="zh-CN" altLang="en-US" dirty="0"/>
              <a:t>长期潜伏在目标网络中（可能持续数月甚至数年），通过持续渗透逐步达成目标。</a:t>
            </a:r>
          </a:p>
          <a:p>
            <a:pPr lvl="2"/>
            <a:r>
              <a:rPr lang="zh-CN" altLang="en-US" dirty="0"/>
              <a:t>采用多阶段攻击，即使被发现也能通过备用通道重新入侵。</a:t>
            </a:r>
          </a:p>
          <a:p>
            <a:pPr lvl="1"/>
            <a:r>
              <a:rPr lang="zh-CN" altLang="en-US" dirty="0"/>
              <a:t>针对性（</a:t>
            </a:r>
            <a:r>
              <a:rPr lang="en-US" altLang="zh-CN" dirty="0"/>
              <a:t>Threat</a:t>
            </a:r>
            <a:r>
              <a:rPr lang="zh-CN" altLang="en-US" dirty="0"/>
              <a:t>）</a:t>
            </a:r>
          </a:p>
          <a:p>
            <a:pPr lvl="2"/>
            <a:r>
              <a:rPr lang="zh-CN" altLang="en-US" dirty="0"/>
              <a:t>针对高价值目标：政府机构、军事部门、大型企业（能源、金融、科技）、关键基础设施等。</a:t>
            </a:r>
          </a:p>
          <a:p>
            <a:pPr lvl="2"/>
            <a:r>
              <a:rPr lang="zh-CN" altLang="en-US" dirty="0"/>
              <a:t>攻击前会详细侦察目标（如员工信息、网络架构）。</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a:t>
            </a:fld>
            <a:endParaRPr kumimoji="1" lang="zh-CN" altLang="en-US" dirty="0"/>
          </a:p>
        </p:txBody>
      </p:sp>
    </p:spTree>
    <p:extLst>
      <p:ext uri="{BB962C8B-B14F-4D97-AF65-F5344CB8AC3E}">
        <p14:creationId xmlns:p14="http://schemas.microsoft.com/office/powerpoint/2010/main" val="426146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10.2 </a:t>
            </a:r>
            <a:r>
              <a:rPr lang="zh-CN" altLang="zh-CN" dirty="0"/>
              <a:t>高级持续性威胁</a:t>
            </a:r>
            <a:endParaRPr lang="zh-CN" altLang="en-US" dirty="0"/>
          </a:p>
        </p:txBody>
      </p:sp>
      <p:sp>
        <p:nvSpPr>
          <p:cNvPr id="3" name="内容占位符 2"/>
          <p:cNvSpPr>
            <a:spLocks noGrp="1"/>
          </p:cNvSpPr>
          <p:nvPr>
            <p:ph idx="1"/>
          </p:nvPr>
        </p:nvSpPr>
        <p:spPr>
          <a:xfrm>
            <a:off x="838200" y="1425039"/>
            <a:ext cx="10515600" cy="4833257"/>
          </a:xfrm>
        </p:spPr>
        <p:txBody>
          <a:bodyPr>
            <a:normAutofit lnSpcReduction="10000"/>
          </a:bodyPr>
          <a:lstStyle/>
          <a:p>
            <a:r>
              <a:rPr lang="zh-CN" altLang="en-US" dirty="0">
                <a:solidFill>
                  <a:srgbClr val="C00000"/>
                </a:solidFill>
              </a:rPr>
              <a:t>典型攻击流程</a:t>
            </a:r>
          </a:p>
          <a:p>
            <a:pPr lvl="1"/>
            <a:r>
              <a:rPr lang="zh-CN" altLang="en-US" dirty="0"/>
              <a:t>侦察阶段</a:t>
            </a:r>
          </a:p>
          <a:p>
            <a:pPr lvl="2"/>
            <a:r>
              <a:rPr lang="zh-CN" altLang="en-US" dirty="0"/>
              <a:t>收集目标信息（如钓鱼邮件伪装成合作伙伴、利用公开的社交媒体资料）。</a:t>
            </a:r>
          </a:p>
          <a:p>
            <a:pPr lvl="1"/>
            <a:r>
              <a:rPr lang="zh-CN" altLang="en-US" dirty="0"/>
              <a:t>初始入侵</a:t>
            </a:r>
          </a:p>
          <a:p>
            <a:pPr lvl="2"/>
            <a:r>
              <a:rPr lang="zh-CN" altLang="en-US" dirty="0"/>
              <a:t>通过钓鱼邮件、漏洞利用（如</a:t>
            </a:r>
            <a:r>
              <a:rPr lang="en-US" altLang="zh-CN" dirty="0"/>
              <a:t>Office</a:t>
            </a:r>
            <a:r>
              <a:rPr lang="zh-CN" altLang="en-US" dirty="0"/>
              <a:t>漏洞）、供应链攻击（如污染软件更新包）等方式渗透。</a:t>
            </a:r>
          </a:p>
          <a:p>
            <a:pPr lvl="1"/>
            <a:r>
              <a:rPr lang="zh-CN" altLang="en-US" dirty="0"/>
              <a:t>建立据点</a:t>
            </a:r>
          </a:p>
          <a:p>
            <a:pPr lvl="2"/>
            <a:r>
              <a:rPr lang="zh-CN" altLang="en-US" dirty="0"/>
              <a:t>植入后门（如</a:t>
            </a:r>
            <a:r>
              <a:rPr lang="en-US" altLang="zh-CN" dirty="0"/>
              <a:t>C2</a:t>
            </a:r>
            <a:r>
              <a:rPr lang="zh-CN" altLang="en-US" dirty="0"/>
              <a:t>服务器连接）、提权、横向移动（利用内网漏洞扩散）。</a:t>
            </a:r>
          </a:p>
          <a:p>
            <a:pPr lvl="1"/>
            <a:r>
              <a:rPr lang="zh-CN" altLang="en-US" dirty="0"/>
              <a:t>数据窃取</a:t>
            </a:r>
            <a:r>
              <a:rPr lang="en-US" altLang="zh-CN" dirty="0"/>
              <a:t>/</a:t>
            </a:r>
            <a:r>
              <a:rPr lang="zh-CN" altLang="en-US" dirty="0"/>
              <a:t>破坏</a:t>
            </a:r>
          </a:p>
          <a:p>
            <a:pPr lvl="2"/>
            <a:r>
              <a:rPr lang="zh-CN" altLang="en-US" dirty="0"/>
              <a:t>窃取敏感数据（如知识产权、政府机密）或潜伏等待破坏时机（如勒索软件触发）。</a:t>
            </a:r>
          </a:p>
          <a:p>
            <a:pPr lvl="1"/>
            <a:r>
              <a:rPr lang="zh-CN" altLang="en-US" dirty="0"/>
              <a:t>掩盖痕迹</a:t>
            </a:r>
          </a:p>
          <a:p>
            <a:pPr lvl="2"/>
            <a:r>
              <a:rPr lang="zh-CN" altLang="en-US" dirty="0"/>
              <a:t>清除日志、使用加密通信，避免被检测。</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14</a:t>
            </a:fld>
            <a:endParaRPr kumimoji="1" lang="zh-CN" altLang="en-US" dirty="0"/>
          </a:p>
        </p:txBody>
      </p:sp>
    </p:spTree>
    <p:extLst>
      <p:ext uri="{BB962C8B-B14F-4D97-AF65-F5344CB8AC3E}">
        <p14:creationId xmlns:p14="http://schemas.microsoft.com/office/powerpoint/2010/main" val="1967270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10.2 </a:t>
            </a:r>
            <a:r>
              <a:rPr lang="zh-CN" altLang="zh-CN" dirty="0"/>
              <a:t>高级持续性威胁</a:t>
            </a:r>
            <a:endParaRPr lang="zh-CN" altLang="en-US" dirty="0"/>
          </a:p>
        </p:txBody>
      </p:sp>
      <p:sp>
        <p:nvSpPr>
          <p:cNvPr id="3" name="内容占位符 2"/>
          <p:cNvSpPr>
            <a:spLocks noGrp="1"/>
          </p:cNvSpPr>
          <p:nvPr>
            <p:ph idx="1"/>
          </p:nvPr>
        </p:nvSpPr>
        <p:spPr>
          <a:xfrm>
            <a:off x="838200" y="1425039"/>
            <a:ext cx="10515600" cy="4833257"/>
          </a:xfrm>
        </p:spPr>
        <p:txBody>
          <a:bodyPr>
            <a:normAutofit lnSpcReduction="10000"/>
          </a:bodyPr>
          <a:lstStyle/>
          <a:p>
            <a:r>
              <a:rPr lang="zh-CN" altLang="en-US" dirty="0">
                <a:solidFill>
                  <a:srgbClr val="C00000"/>
                </a:solidFill>
              </a:rPr>
              <a:t>典型攻击流程</a:t>
            </a:r>
          </a:p>
          <a:p>
            <a:pPr lvl="1"/>
            <a:r>
              <a:rPr lang="zh-CN" altLang="en-US" dirty="0"/>
              <a:t>侦察阶段</a:t>
            </a:r>
          </a:p>
          <a:p>
            <a:pPr lvl="2"/>
            <a:r>
              <a:rPr lang="zh-CN" altLang="en-US" dirty="0"/>
              <a:t>收集目标信息（如钓鱼邮件伪装成合作伙伴、利用公开的社交媒体资料）。</a:t>
            </a:r>
          </a:p>
          <a:p>
            <a:pPr lvl="1"/>
            <a:r>
              <a:rPr lang="zh-CN" altLang="en-US" dirty="0"/>
              <a:t>初始入侵</a:t>
            </a:r>
          </a:p>
          <a:p>
            <a:pPr lvl="2"/>
            <a:r>
              <a:rPr lang="zh-CN" altLang="en-US" dirty="0"/>
              <a:t>通过钓鱼邮件、漏洞利用（如</a:t>
            </a:r>
            <a:r>
              <a:rPr lang="en-US" altLang="zh-CN" dirty="0"/>
              <a:t>Office</a:t>
            </a:r>
            <a:r>
              <a:rPr lang="zh-CN" altLang="en-US" dirty="0"/>
              <a:t>漏洞）、供应链攻击（如污染软件更新包）等方式渗透。</a:t>
            </a:r>
          </a:p>
          <a:p>
            <a:pPr lvl="1"/>
            <a:r>
              <a:rPr lang="zh-CN" altLang="en-US" dirty="0"/>
              <a:t>建立据点</a:t>
            </a:r>
          </a:p>
          <a:p>
            <a:pPr lvl="2"/>
            <a:r>
              <a:rPr lang="zh-CN" altLang="en-US" dirty="0"/>
              <a:t>植入后门（如</a:t>
            </a:r>
            <a:r>
              <a:rPr lang="en-US" altLang="zh-CN" dirty="0"/>
              <a:t>C2</a:t>
            </a:r>
            <a:r>
              <a:rPr lang="zh-CN" altLang="en-US" dirty="0"/>
              <a:t>服务器连接）、提权、横向移动（利用内网漏洞扩散）。</a:t>
            </a:r>
          </a:p>
          <a:p>
            <a:pPr lvl="1"/>
            <a:r>
              <a:rPr lang="zh-CN" altLang="en-US" dirty="0"/>
              <a:t>数据窃取</a:t>
            </a:r>
            <a:r>
              <a:rPr lang="en-US" altLang="zh-CN" dirty="0"/>
              <a:t>/</a:t>
            </a:r>
            <a:r>
              <a:rPr lang="zh-CN" altLang="en-US" dirty="0"/>
              <a:t>破坏</a:t>
            </a:r>
          </a:p>
          <a:p>
            <a:pPr lvl="2"/>
            <a:r>
              <a:rPr lang="zh-CN" altLang="en-US" dirty="0"/>
              <a:t>窃取敏感数据（如知识产权、政府机密）或潜伏等待破坏时机（如勒索软件触发）。</a:t>
            </a:r>
          </a:p>
          <a:p>
            <a:pPr lvl="1"/>
            <a:r>
              <a:rPr lang="zh-CN" altLang="en-US" dirty="0"/>
              <a:t>掩盖痕迹</a:t>
            </a:r>
          </a:p>
          <a:p>
            <a:pPr lvl="2"/>
            <a:r>
              <a:rPr lang="zh-CN" altLang="en-US" dirty="0"/>
              <a:t>清除日志、使用加密通信，避免被检测。</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15</a:t>
            </a:fld>
            <a:endParaRPr kumimoji="1" lang="zh-CN" altLang="en-US" dirty="0"/>
          </a:p>
        </p:txBody>
      </p:sp>
    </p:spTree>
    <p:extLst>
      <p:ext uri="{BB962C8B-B14F-4D97-AF65-F5344CB8AC3E}">
        <p14:creationId xmlns:p14="http://schemas.microsoft.com/office/powerpoint/2010/main" val="1735593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solidFill>
                  <a:srgbClr val="C00000"/>
                </a:solidFill>
              </a:rPr>
              <a:t>10.3 </a:t>
            </a:r>
            <a:r>
              <a:rPr kumimoji="1" lang="zh-CN" altLang="zh-CN" sz="3000" dirty="0">
                <a:solidFill>
                  <a:srgbClr val="C00000"/>
                </a:solidFill>
              </a:rPr>
              <a:t>传播</a:t>
            </a:r>
            <a:r>
              <a:rPr kumimoji="1" lang="en-US" altLang="zh-CN" sz="3000" dirty="0">
                <a:solidFill>
                  <a:srgbClr val="C00000"/>
                </a:solidFill>
              </a:rPr>
              <a:t>-</a:t>
            </a:r>
            <a:r>
              <a:rPr kumimoji="1" lang="zh-CN" altLang="zh-CN" sz="3000" dirty="0">
                <a:solidFill>
                  <a:srgbClr val="C00000"/>
                </a:solidFill>
              </a:rPr>
              <a:t>感染内容</a:t>
            </a:r>
            <a:r>
              <a:rPr kumimoji="1" lang="en-US" altLang="zh-CN" sz="3000" dirty="0">
                <a:solidFill>
                  <a:srgbClr val="C00000"/>
                </a:solidFill>
              </a:rPr>
              <a:t>-</a:t>
            </a:r>
            <a:r>
              <a:rPr kumimoji="1" lang="zh-CN" altLang="zh-CN" sz="3000" dirty="0">
                <a:solidFill>
                  <a:srgbClr val="C00000"/>
                </a:solidFill>
              </a:rPr>
              <a:t>病毒</a:t>
            </a:r>
            <a:endParaRPr kumimoji="1" lang="en-US" altLang="zh-CN" sz="3000" dirty="0">
              <a:solidFill>
                <a:srgbClr val="C00000"/>
              </a:solidFill>
            </a:endParaRPr>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6697682" y="1443436"/>
            <a:ext cx="4122717" cy="2202289"/>
          </a:xfrm>
          <a:prstGeom prst="wedgeRectCallout">
            <a:avLst>
              <a:gd name="adj1" fmla="val -108134"/>
              <a:gd name="adj2" fmla="val -673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病毒本质</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病毒分类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宏病毒与脚本病毒</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5804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pPr>
              <a:lnSpc>
                <a:spcPct val="120000"/>
              </a:lnSpc>
            </a:pPr>
            <a:r>
              <a:rPr lang="en-US" altLang="zh-CN" dirty="0"/>
              <a:t>10.3.1 </a:t>
            </a:r>
            <a:r>
              <a:rPr kumimoji="1" lang="zh-CN" altLang="zh-CN" dirty="0">
                <a:solidFill>
                  <a:prstClr val="black"/>
                </a:solidFill>
              </a:rPr>
              <a:t>病毒本质</a:t>
            </a:r>
            <a:endParaRPr kumimoji="1" lang="zh-CN" altLang="en-US"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a:bodyPr>
          <a:lstStyle/>
          <a:p>
            <a:pPr lvl="1"/>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lvl="1">
              <a:buNone/>
            </a:pP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lvl="2"/>
            <a:r>
              <a:rPr lang="zh-CN" altLang="en-US" sz="2400" dirty="0"/>
              <a:t>是指编制或者在计算机程序中插入的</a:t>
            </a:r>
            <a:r>
              <a:rPr lang="zh-CN" altLang="en-US" sz="2400" dirty="0">
                <a:solidFill>
                  <a:srgbClr val="FF0000"/>
                </a:solidFill>
              </a:rPr>
              <a:t>破坏</a:t>
            </a:r>
            <a:r>
              <a:rPr lang="zh-CN" altLang="en-US" sz="2400" dirty="0"/>
              <a:t>计算机功能或者毁坏数据，影响计算机使用，并能</a:t>
            </a:r>
            <a:r>
              <a:rPr lang="zh-CN" altLang="en-US" sz="2400" dirty="0">
                <a:solidFill>
                  <a:srgbClr val="FF0000"/>
                </a:solidFill>
              </a:rPr>
              <a:t>自我复制</a:t>
            </a:r>
            <a:r>
              <a:rPr lang="zh-CN" altLang="en-US" sz="2400" dirty="0"/>
              <a:t>的一组计算机指令或者</a:t>
            </a:r>
            <a:r>
              <a:rPr lang="zh-CN" altLang="en-US" sz="2400" dirty="0">
                <a:solidFill>
                  <a:srgbClr val="FF0000"/>
                </a:solidFill>
              </a:rPr>
              <a:t>程序代码</a:t>
            </a:r>
            <a:r>
              <a:rPr lang="zh-CN" altLang="en-US" sz="2400" dirty="0"/>
              <a:t>。</a:t>
            </a:r>
            <a:endParaRPr kumimoji="1" lang="en-US" altLang="zh-CN" sz="2400" dirty="0"/>
          </a:p>
        </p:txBody>
      </p:sp>
      <p:pic>
        <p:nvPicPr>
          <p:cNvPr id="6" name="图片 5">
            <a:extLst>
              <a:ext uri="{FF2B5EF4-FFF2-40B4-BE49-F238E27FC236}">
                <a16:creationId xmlns:a16="http://schemas.microsoft.com/office/drawing/2014/main" id="{CF7D5137-8A05-4610-8A11-832323F6DF54}"/>
              </a:ext>
            </a:extLst>
          </p:cNvPr>
          <p:cNvPicPr>
            <a:picLocks noChangeAspect="1"/>
          </p:cNvPicPr>
          <p:nvPr/>
        </p:nvPicPr>
        <p:blipFill>
          <a:blip r:embed="rId17"/>
          <a:stretch>
            <a:fillRect/>
          </a:stretch>
        </p:blipFill>
        <p:spPr>
          <a:xfrm>
            <a:off x="2948346" y="1414574"/>
            <a:ext cx="1698330" cy="867625"/>
          </a:xfrm>
          <a:prstGeom prst="rect">
            <a:avLst/>
          </a:prstGeom>
        </p:spPr>
      </p:pic>
      <p:sp>
        <p:nvSpPr>
          <p:cNvPr id="7" name="文本框 6">
            <a:extLst>
              <a:ext uri="{FF2B5EF4-FFF2-40B4-BE49-F238E27FC236}">
                <a16:creationId xmlns:a16="http://schemas.microsoft.com/office/drawing/2014/main" id="{4CC1CD62-DD9D-45FB-B803-9856251F1FF0}"/>
              </a:ext>
            </a:extLst>
          </p:cNvPr>
          <p:cNvSpPr txBox="1"/>
          <p:nvPr/>
        </p:nvSpPr>
        <p:spPr>
          <a:xfrm>
            <a:off x="1307508" y="1734603"/>
            <a:ext cx="1600368" cy="565604"/>
          </a:xfrm>
          <a:prstGeom prst="rect">
            <a:avLst/>
          </a:prstGeom>
          <a:noFill/>
        </p:spPr>
        <p:txBody>
          <a:bodyPr wrap="square" rtlCol="0">
            <a:spAutoFit/>
          </a:bodyPr>
          <a:lstStyle/>
          <a:p>
            <a:pPr marL="228600" lvl="0" indent="-228600">
              <a:lnSpc>
                <a:spcPct val="120000"/>
              </a:lnSpc>
              <a:spcBef>
                <a:spcPts val="600"/>
              </a:spcBef>
              <a:buFont typeface="Wingdings" pitchFamily="2" charset="2"/>
              <a:buChar char="Ø"/>
            </a:pPr>
            <a:r>
              <a:rPr kumimoji="1" lang="zh-CN" altLang="en-US" sz="2800" dirty="0">
                <a:solidFill>
                  <a:prstClr val="black"/>
                </a:solidFill>
                <a:latin typeface="Microsoft YaHei" panose="020B0503020204020204" pitchFamily="34" charset="-122"/>
                <a:ea typeface="Microsoft YaHei" panose="020B0503020204020204" pitchFamily="34" charset="-122"/>
              </a:rPr>
              <a:t>计算机</a:t>
            </a:r>
            <a:endParaRPr kumimoji="1" lang="en-US" altLang="zh-CN" sz="2800" dirty="0">
              <a:solidFill>
                <a:prstClr val="black"/>
              </a:solidFill>
              <a:latin typeface="Microsoft YaHei" panose="020B0503020204020204" pitchFamily="34" charset="-122"/>
              <a:ea typeface="Microsoft YaHei" panose="020B0503020204020204" pitchFamily="34" charset="-122"/>
            </a:endParaRPr>
          </a:p>
        </p:txBody>
      </p:sp>
      <p:sp>
        <p:nvSpPr>
          <p:cNvPr id="9" name="文本框 6">
            <a:extLst>
              <a:ext uri="{FF2B5EF4-FFF2-40B4-BE49-F238E27FC236}">
                <a16:creationId xmlns:a16="http://schemas.microsoft.com/office/drawing/2014/main" id="{4CC1CD62-DD9D-45FB-B803-9856251F1FF0}"/>
              </a:ext>
            </a:extLst>
          </p:cNvPr>
          <p:cNvSpPr txBox="1"/>
          <p:nvPr/>
        </p:nvSpPr>
        <p:spPr>
          <a:xfrm>
            <a:off x="1323085" y="3169776"/>
            <a:ext cx="7303092" cy="565604"/>
          </a:xfrm>
          <a:prstGeom prst="rect">
            <a:avLst/>
          </a:prstGeom>
          <a:noFill/>
        </p:spPr>
        <p:txBody>
          <a:bodyPr wrap="square" rtlCol="0">
            <a:spAutoFit/>
          </a:bodyPr>
          <a:lstStyle/>
          <a:p>
            <a:pPr marL="228600" indent="-228600">
              <a:lnSpc>
                <a:spcPct val="120000"/>
              </a:lnSpc>
              <a:spcBef>
                <a:spcPts val="600"/>
              </a:spcBef>
              <a:buFont typeface="Wingdings" pitchFamily="2" charset="2"/>
              <a:buChar char="Ø"/>
            </a:pPr>
            <a:r>
              <a:rPr kumimoji="1" lang="zh-CN" altLang="en-US" sz="2800" dirty="0">
                <a:solidFill>
                  <a:prstClr val="black"/>
                </a:solidFill>
                <a:latin typeface="Microsoft YaHei" panose="020B0503020204020204" pitchFamily="34" charset="-122"/>
                <a:ea typeface="Microsoft YaHei" panose="020B0503020204020204" pitchFamily="34" charset="-122"/>
              </a:rPr>
              <a:t>计算机病毒的</a:t>
            </a:r>
            <a:r>
              <a:rPr kumimoji="1" lang="zh-CN" altLang="en-US" sz="2800" dirty="0">
                <a:solidFill>
                  <a:srgbClr val="C00000"/>
                </a:solidFill>
                <a:latin typeface="Microsoft YaHei" panose="020B0503020204020204" pitchFamily="34" charset="-122"/>
                <a:ea typeface="Microsoft YaHei" panose="020B0503020204020204" pitchFamily="34" charset="-122"/>
              </a:rPr>
              <a:t>特征</a:t>
            </a:r>
            <a:endParaRPr kumimoji="1" lang="en-US" altLang="zh-CN" sz="2800" dirty="0">
              <a:solidFill>
                <a:srgbClr val="C00000"/>
              </a:solidFill>
              <a:latin typeface="Microsoft YaHei" panose="020B0503020204020204" pitchFamily="34" charset="-122"/>
              <a:ea typeface="Microsoft YaHei" panose="020B0503020204020204" pitchFamily="34" charset="-122"/>
            </a:endParaRPr>
          </a:p>
        </p:txBody>
      </p:sp>
      <p:grpSp>
        <p:nvGrpSpPr>
          <p:cNvPr id="10" name="组合 9"/>
          <p:cNvGrpSpPr/>
          <p:nvPr/>
        </p:nvGrpSpPr>
        <p:grpSpPr>
          <a:xfrm>
            <a:off x="1703554" y="3766566"/>
            <a:ext cx="7824765" cy="2574936"/>
            <a:chOff x="876944" y="2110754"/>
            <a:chExt cx="10184595" cy="3829551"/>
          </a:xfrm>
        </p:grpSpPr>
        <p:sp>
          <p:nvSpPr>
            <p:cNvPr id="11" name="加号 10">
              <a:extLst>
                <a:ext uri="{FF2B5EF4-FFF2-40B4-BE49-F238E27FC236}">
                  <a16:creationId xmlns:a16="http://schemas.microsoft.com/office/drawing/2014/main" id="{5631A333-1A4F-4269-925A-CBF1F90CAF55}"/>
                </a:ext>
              </a:extLst>
            </p:cNvPr>
            <p:cNvSpPr>
              <a:spLocks noChangeAspect="1"/>
            </p:cNvSpPr>
            <p:nvPr>
              <p:custDataLst>
                <p:tags r:id="rId1"/>
              </p:custDataLst>
            </p:nvPr>
          </p:nvSpPr>
          <p:spPr>
            <a:xfrm>
              <a:off x="2780981" y="2519741"/>
              <a:ext cx="715197" cy="715197"/>
            </a:xfrm>
            <a:prstGeom prst="mathPl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endParaRPr>
            </a:p>
          </p:txBody>
        </p:sp>
        <p:sp>
          <p:nvSpPr>
            <p:cNvPr id="12" name="加号 11">
              <a:extLst>
                <a:ext uri="{FF2B5EF4-FFF2-40B4-BE49-F238E27FC236}">
                  <a16:creationId xmlns:a16="http://schemas.microsoft.com/office/drawing/2014/main" id="{D226B27B-7251-4197-8147-0449A193DA0A}"/>
                </a:ext>
              </a:extLst>
            </p:cNvPr>
            <p:cNvSpPr>
              <a:spLocks noChangeAspect="1"/>
            </p:cNvSpPr>
            <p:nvPr>
              <p:custDataLst>
                <p:tags r:id="rId2"/>
              </p:custDataLst>
            </p:nvPr>
          </p:nvSpPr>
          <p:spPr>
            <a:xfrm>
              <a:off x="8470945" y="2519741"/>
              <a:ext cx="715197" cy="715197"/>
            </a:xfrm>
            <a:prstGeom prst="mathPl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3" name="椭圆 12">
              <a:extLst>
                <a:ext uri="{FF2B5EF4-FFF2-40B4-BE49-F238E27FC236}">
                  <a16:creationId xmlns:a16="http://schemas.microsoft.com/office/drawing/2014/main" id="{9B33A9CE-CC93-4196-A6BE-C2BAEBD8968C}"/>
                </a:ext>
              </a:extLst>
            </p:cNvPr>
            <p:cNvSpPr/>
            <p:nvPr>
              <p:custDataLst>
                <p:tags r:id="rId3"/>
              </p:custDataLst>
            </p:nvPr>
          </p:nvSpPr>
          <p:spPr>
            <a:xfrm>
              <a:off x="6592548" y="2146815"/>
              <a:ext cx="1649956" cy="150251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14" name="椭圆 13">
              <a:extLst>
                <a:ext uri="{FF2B5EF4-FFF2-40B4-BE49-F238E27FC236}">
                  <a16:creationId xmlns:a16="http://schemas.microsoft.com/office/drawing/2014/main" id="{81DCF582-F40F-45A6-A970-ACF7EB62FA6A}"/>
                </a:ext>
              </a:extLst>
            </p:cNvPr>
            <p:cNvSpPr/>
            <p:nvPr>
              <p:custDataLst>
                <p:tags r:id="rId4"/>
              </p:custDataLst>
            </p:nvPr>
          </p:nvSpPr>
          <p:spPr>
            <a:xfrm>
              <a:off x="3675982" y="2146815"/>
              <a:ext cx="1649956" cy="150251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15" name="组合 12">
              <a:extLst>
                <a:ext uri="{FF2B5EF4-FFF2-40B4-BE49-F238E27FC236}">
                  <a16:creationId xmlns:a16="http://schemas.microsoft.com/office/drawing/2014/main" id="{EB0E0AE0-F3CA-4E7F-B434-D25DCF9419F3}"/>
                </a:ext>
              </a:extLst>
            </p:cNvPr>
            <p:cNvGrpSpPr/>
            <p:nvPr/>
          </p:nvGrpSpPr>
          <p:grpSpPr>
            <a:xfrm>
              <a:off x="888119" y="2110754"/>
              <a:ext cx="1649956" cy="1499616"/>
              <a:chOff x="2409980" y="2999232"/>
              <a:chExt cx="1649956" cy="1499616"/>
            </a:xfrm>
          </p:grpSpPr>
          <p:sp>
            <p:nvSpPr>
              <p:cNvPr id="36" name="椭圆 8">
                <a:extLst>
                  <a:ext uri="{FF2B5EF4-FFF2-40B4-BE49-F238E27FC236}">
                    <a16:creationId xmlns:a16="http://schemas.microsoft.com/office/drawing/2014/main" id="{D77C044C-9D7A-4B99-897A-03A850DDE9E6}"/>
                  </a:ext>
                </a:extLst>
              </p:cNvPr>
              <p:cNvSpPr/>
              <p:nvPr>
                <p:custDataLst>
                  <p:tags r:id="rId14"/>
                </p:custDataLst>
              </p:nvPr>
            </p:nvSpPr>
            <p:spPr>
              <a:xfrm>
                <a:off x="2409980" y="2999232"/>
                <a:ext cx="1649956" cy="1499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7" name="TextBox 38">
                <a:extLst>
                  <a:ext uri="{FF2B5EF4-FFF2-40B4-BE49-F238E27FC236}">
                    <a16:creationId xmlns:a16="http://schemas.microsoft.com/office/drawing/2014/main" id="{33C08EAC-16B4-4254-B447-06857B2B9361}"/>
                  </a:ext>
                </a:extLst>
              </p:cNvPr>
              <p:cNvSpPr txBox="1"/>
              <p:nvPr/>
            </p:nvSpPr>
            <p:spPr>
              <a:xfrm>
                <a:off x="2652322" y="3521209"/>
                <a:ext cx="1165271"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zh-CN" altLang="en-US" dirty="0">
                    <a:solidFill>
                      <a:srgbClr val="333333"/>
                    </a:solidFill>
                    <a:latin typeface="Microsoft YaHei" panose="020B0503020204020204" pitchFamily="34" charset="-122"/>
                    <a:ea typeface="Microsoft YaHei" panose="020B0503020204020204" pitchFamily="34" charset="-122"/>
                  </a:rPr>
                  <a:t>传染性</a:t>
                </a:r>
              </a:p>
            </p:txBody>
          </p:sp>
        </p:grpSp>
        <p:sp>
          <p:nvSpPr>
            <p:cNvPr id="16" name="TextBox 39">
              <a:extLst>
                <a:ext uri="{FF2B5EF4-FFF2-40B4-BE49-F238E27FC236}">
                  <a16:creationId xmlns:a16="http://schemas.microsoft.com/office/drawing/2014/main" id="{E1A7D2F3-BB2C-4C70-9DA8-E310FD097FB7}"/>
                </a:ext>
              </a:extLst>
            </p:cNvPr>
            <p:cNvSpPr txBox="1"/>
            <p:nvPr/>
          </p:nvSpPr>
          <p:spPr>
            <a:xfrm>
              <a:off x="3893991" y="2646507"/>
              <a:ext cx="1240537"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zh-CN" altLang="en-US" dirty="0">
                  <a:solidFill>
                    <a:srgbClr val="333333"/>
                  </a:solidFill>
                  <a:latin typeface="Microsoft YaHei" panose="020B0503020204020204" pitchFamily="34" charset="-122"/>
                  <a:ea typeface="Microsoft YaHei" panose="020B0503020204020204" pitchFamily="34" charset="-122"/>
                </a:rPr>
                <a:t>破坏性</a:t>
              </a:r>
            </a:p>
          </p:txBody>
        </p:sp>
        <p:sp>
          <p:nvSpPr>
            <p:cNvPr id="17" name="TextBox 40">
              <a:extLst>
                <a:ext uri="{FF2B5EF4-FFF2-40B4-BE49-F238E27FC236}">
                  <a16:creationId xmlns:a16="http://schemas.microsoft.com/office/drawing/2014/main" id="{8B7A74DF-E470-4F5E-8F6F-8F30E003A870}"/>
                </a:ext>
              </a:extLst>
            </p:cNvPr>
            <p:cNvSpPr txBox="1"/>
            <p:nvPr/>
          </p:nvSpPr>
          <p:spPr>
            <a:xfrm>
              <a:off x="6820989" y="2646507"/>
              <a:ext cx="1193074"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zh-CN" altLang="en-US" dirty="0">
                  <a:solidFill>
                    <a:srgbClr val="333333"/>
                  </a:solidFill>
                  <a:latin typeface="Microsoft YaHei" panose="020B0503020204020204" pitchFamily="34" charset="-122"/>
                  <a:ea typeface="Microsoft YaHei" panose="020B0503020204020204" pitchFamily="34" charset="-122"/>
                </a:rPr>
                <a:t>潜伏性</a:t>
              </a:r>
            </a:p>
          </p:txBody>
        </p:sp>
        <p:sp>
          <p:nvSpPr>
            <p:cNvPr id="18" name="加号 17">
              <a:extLst>
                <a:ext uri="{FF2B5EF4-FFF2-40B4-BE49-F238E27FC236}">
                  <a16:creationId xmlns:a16="http://schemas.microsoft.com/office/drawing/2014/main" id="{7BB6C8A9-B370-4C4D-8B8E-1F887C64B7DD}"/>
                </a:ext>
              </a:extLst>
            </p:cNvPr>
            <p:cNvSpPr>
              <a:spLocks noChangeAspect="1"/>
            </p:cNvSpPr>
            <p:nvPr>
              <p:custDataLst>
                <p:tags r:id="rId5"/>
              </p:custDataLst>
            </p:nvPr>
          </p:nvSpPr>
          <p:spPr>
            <a:xfrm>
              <a:off x="5738401" y="2502963"/>
              <a:ext cx="715197" cy="715197"/>
            </a:xfrm>
            <a:prstGeom prst="mathPl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19" name="组合 14">
              <a:extLst>
                <a:ext uri="{FF2B5EF4-FFF2-40B4-BE49-F238E27FC236}">
                  <a16:creationId xmlns:a16="http://schemas.microsoft.com/office/drawing/2014/main" id="{E03A826B-41AB-45E3-AF38-9EDC3B0D98CC}"/>
                </a:ext>
              </a:extLst>
            </p:cNvPr>
            <p:cNvGrpSpPr/>
            <p:nvPr/>
          </p:nvGrpSpPr>
          <p:grpSpPr>
            <a:xfrm>
              <a:off x="9411583" y="2149715"/>
              <a:ext cx="1649956" cy="1499616"/>
              <a:chOff x="2409980" y="2999232"/>
              <a:chExt cx="1649956" cy="1499616"/>
            </a:xfrm>
            <a:solidFill>
              <a:schemeClr val="accent6"/>
            </a:solidFill>
          </p:grpSpPr>
          <p:sp>
            <p:nvSpPr>
              <p:cNvPr id="34" name="椭圆 15">
                <a:extLst>
                  <a:ext uri="{FF2B5EF4-FFF2-40B4-BE49-F238E27FC236}">
                    <a16:creationId xmlns:a16="http://schemas.microsoft.com/office/drawing/2014/main" id="{7D846D93-6FCB-4C59-9DBA-276D78B14D36}"/>
                  </a:ext>
                </a:extLst>
              </p:cNvPr>
              <p:cNvSpPr/>
              <p:nvPr>
                <p:custDataLst>
                  <p:tags r:id="rId13"/>
                </p:custDataLst>
              </p:nvPr>
            </p:nvSpPr>
            <p:spPr>
              <a:xfrm>
                <a:off x="2409980" y="2999232"/>
                <a:ext cx="1649956" cy="14996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5" name="TextBox 38">
                <a:extLst>
                  <a:ext uri="{FF2B5EF4-FFF2-40B4-BE49-F238E27FC236}">
                    <a16:creationId xmlns:a16="http://schemas.microsoft.com/office/drawing/2014/main" id="{63417EEA-EDB7-4BE2-8A63-B0CF670C42D6}"/>
                  </a:ext>
                </a:extLst>
              </p:cNvPr>
              <p:cNvSpPr txBox="1"/>
              <p:nvPr/>
            </p:nvSpPr>
            <p:spPr>
              <a:xfrm>
                <a:off x="2652322" y="3521209"/>
                <a:ext cx="1165271"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zh-CN" altLang="en-US" dirty="0">
                    <a:solidFill>
                      <a:srgbClr val="333333"/>
                    </a:solidFill>
                    <a:latin typeface="Microsoft YaHei" panose="020B0503020204020204" pitchFamily="34" charset="-122"/>
                    <a:ea typeface="Microsoft YaHei" panose="020B0503020204020204" pitchFamily="34" charset="-122"/>
                  </a:rPr>
                  <a:t>隐蔽性</a:t>
                </a:r>
              </a:p>
            </p:txBody>
          </p:sp>
        </p:grpSp>
        <p:sp>
          <p:nvSpPr>
            <p:cNvPr id="20" name="加号 19">
              <a:extLst>
                <a:ext uri="{FF2B5EF4-FFF2-40B4-BE49-F238E27FC236}">
                  <a16:creationId xmlns:a16="http://schemas.microsoft.com/office/drawing/2014/main" id="{89CED576-87E3-4176-BE7B-E0B84BBBFDA3}"/>
                </a:ext>
              </a:extLst>
            </p:cNvPr>
            <p:cNvSpPr>
              <a:spLocks noChangeAspect="1"/>
            </p:cNvSpPr>
            <p:nvPr>
              <p:custDataLst>
                <p:tags r:id="rId6"/>
              </p:custDataLst>
            </p:nvPr>
          </p:nvSpPr>
          <p:spPr>
            <a:xfrm>
              <a:off x="2702024" y="4831449"/>
              <a:ext cx="715197" cy="715197"/>
            </a:xfrm>
            <a:prstGeom prst="mathPl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65000"/>
                    <a:lumOff val="35000"/>
                  </a:schemeClr>
                </a:solidFill>
              </a:endParaRPr>
            </a:p>
          </p:txBody>
        </p:sp>
        <p:sp>
          <p:nvSpPr>
            <p:cNvPr id="21" name="加号 20">
              <a:extLst>
                <a:ext uri="{FF2B5EF4-FFF2-40B4-BE49-F238E27FC236}">
                  <a16:creationId xmlns:a16="http://schemas.microsoft.com/office/drawing/2014/main" id="{9027EADC-BAF6-4ABB-B1E4-853A1C3533AB}"/>
                </a:ext>
              </a:extLst>
            </p:cNvPr>
            <p:cNvSpPr>
              <a:spLocks noChangeAspect="1"/>
            </p:cNvSpPr>
            <p:nvPr>
              <p:custDataLst>
                <p:tags r:id="rId7"/>
              </p:custDataLst>
            </p:nvPr>
          </p:nvSpPr>
          <p:spPr>
            <a:xfrm>
              <a:off x="8391988" y="4831449"/>
              <a:ext cx="715197" cy="715197"/>
            </a:xfrm>
            <a:prstGeom prst="mathPl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2" name="椭圆 21">
              <a:extLst>
                <a:ext uri="{FF2B5EF4-FFF2-40B4-BE49-F238E27FC236}">
                  <a16:creationId xmlns:a16="http://schemas.microsoft.com/office/drawing/2014/main" id="{5EEDF601-77DE-4D1B-8E15-CBC69011F81F}"/>
                </a:ext>
              </a:extLst>
            </p:cNvPr>
            <p:cNvSpPr/>
            <p:nvPr>
              <p:custDataLst>
                <p:tags r:id="rId8"/>
              </p:custDataLst>
            </p:nvPr>
          </p:nvSpPr>
          <p:spPr>
            <a:xfrm>
              <a:off x="3634020" y="4424013"/>
              <a:ext cx="1649956" cy="150251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23" name="组合 21">
              <a:extLst>
                <a:ext uri="{FF2B5EF4-FFF2-40B4-BE49-F238E27FC236}">
                  <a16:creationId xmlns:a16="http://schemas.microsoft.com/office/drawing/2014/main" id="{48C57F35-97B2-4F92-9F3A-D0EA8F691D4C}"/>
                </a:ext>
              </a:extLst>
            </p:cNvPr>
            <p:cNvGrpSpPr/>
            <p:nvPr/>
          </p:nvGrpSpPr>
          <p:grpSpPr>
            <a:xfrm>
              <a:off x="9405514" y="4385552"/>
              <a:ext cx="1649956" cy="1499616"/>
              <a:chOff x="2409980" y="2999232"/>
              <a:chExt cx="1649956" cy="1499616"/>
            </a:xfrm>
          </p:grpSpPr>
          <p:sp>
            <p:nvSpPr>
              <p:cNvPr id="32" name="椭圆 31">
                <a:extLst>
                  <a:ext uri="{FF2B5EF4-FFF2-40B4-BE49-F238E27FC236}">
                    <a16:creationId xmlns:a16="http://schemas.microsoft.com/office/drawing/2014/main" id="{11A4D8AA-9AA1-49A1-9C58-28A2ECE1188E}"/>
                  </a:ext>
                </a:extLst>
              </p:cNvPr>
              <p:cNvSpPr/>
              <p:nvPr>
                <p:custDataLst>
                  <p:tags r:id="rId12"/>
                </p:custDataLst>
              </p:nvPr>
            </p:nvSpPr>
            <p:spPr>
              <a:xfrm>
                <a:off x="2409980" y="2999232"/>
                <a:ext cx="1649956" cy="1499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3" name="TextBox 38">
                <a:extLst>
                  <a:ext uri="{FF2B5EF4-FFF2-40B4-BE49-F238E27FC236}">
                    <a16:creationId xmlns:a16="http://schemas.microsoft.com/office/drawing/2014/main" id="{E4086D30-A552-4C2E-8A0B-902F572EA78B}"/>
                  </a:ext>
                </a:extLst>
              </p:cNvPr>
              <p:cNvSpPr txBox="1"/>
              <p:nvPr/>
            </p:nvSpPr>
            <p:spPr>
              <a:xfrm>
                <a:off x="2652322" y="3521209"/>
                <a:ext cx="1165271"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en-US" altLang="zh-CN" dirty="0">
                    <a:solidFill>
                      <a:srgbClr val="333333"/>
                    </a:solidFill>
                    <a:latin typeface="Microsoft YaHei" panose="020B0503020204020204" pitchFamily="34" charset="-122"/>
                    <a:ea typeface="Microsoft YaHei" panose="020B0503020204020204" pitchFamily="34" charset="-122"/>
                  </a:rPr>
                  <a:t>……</a:t>
                </a:r>
                <a:endParaRPr lang="zh-CN" altLang="en-US" dirty="0">
                  <a:solidFill>
                    <a:srgbClr val="333333"/>
                  </a:solidFill>
                  <a:latin typeface="Microsoft YaHei" panose="020B0503020204020204" pitchFamily="34" charset="-122"/>
                  <a:ea typeface="Microsoft YaHei" panose="020B0503020204020204" pitchFamily="34" charset="-122"/>
                </a:endParaRPr>
              </a:p>
            </p:txBody>
          </p:sp>
        </p:grpSp>
        <p:grpSp>
          <p:nvGrpSpPr>
            <p:cNvPr id="24" name="组合 30">
              <a:extLst>
                <a:ext uri="{FF2B5EF4-FFF2-40B4-BE49-F238E27FC236}">
                  <a16:creationId xmlns:a16="http://schemas.microsoft.com/office/drawing/2014/main" id="{56408274-F569-4706-8AB9-575EC04FD69F}"/>
                </a:ext>
              </a:extLst>
            </p:cNvPr>
            <p:cNvGrpSpPr/>
            <p:nvPr/>
          </p:nvGrpSpPr>
          <p:grpSpPr>
            <a:xfrm>
              <a:off x="6592548" y="4437789"/>
              <a:ext cx="1649956" cy="1502516"/>
              <a:chOff x="3597025" y="4458523"/>
              <a:chExt cx="1649956" cy="1502516"/>
            </a:xfrm>
          </p:grpSpPr>
          <p:sp>
            <p:nvSpPr>
              <p:cNvPr id="30" name="椭圆 20">
                <a:extLst>
                  <a:ext uri="{FF2B5EF4-FFF2-40B4-BE49-F238E27FC236}">
                    <a16:creationId xmlns:a16="http://schemas.microsoft.com/office/drawing/2014/main" id="{40437CBB-6D23-4215-89AB-5727E81469D7}"/>
                  </a:ext>
                </a:extLst>
              </p:cNvPr>
              <p:cNvSpPr/>
              <p:nvPr>
                <p:custDataLst>
                  <p:tags r:id="rId11"/>
                </p:custDataLst>
              </p:nvPr>
            </p:nvSpPr>
            <p:spPr>
              <a:xfrm>
                <a:off x="3597025" y="4458523"/>
                <a:ext cx="1649956" cy="150251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31" name="TextBox 39">
                <a:extLst>
                  <a:ext uri="{FF2B5EF4-FFF2-40B4-BE49-F238E27FC236}">
                    <a16:creationId xmlns:a16="http://schemas.microsoft.com/office/drawing/2014/main" id="{D69CA85D-F27D-4068-8AF5-DAC89C44FA02}"/>
                  </a:ext>
                </a:extLst>
              </p:cNvPr>
              <p:cNvSpPr txBox="1"/>
              <p:nvPr/>
            </p:nvSpPr>
            <p:spPr>
              <a:xfrm>
                <a:off x="3646105" y="4958215"/>
                <a:ext cx="1501111"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zh-CN" altLang="en-US" dirty="0">
                    <a:solidFill>
                      <a:srgbClr val="333333"/>
                    </a:solidFill>
                    <a:latin typeface="Microsoft YaHei" panose="020B0503020204020204" pitchFamily="34" charset="-122"/>
                    <a:ea typeface="Microsoft YaHei" panose="020B0503020204020204" pitchFamily="34" charset="-122"/>
                  </a:rPr>
                  <a:t>可触发性</a:t>
                </a:r>
              </a:p>
            </p:txBody>
          </p:sp>
        </p:grpSp>
        <p:sp>
          <p:nvSpPr>
            <p:cNvPr id="25" name="TextBox 40">
              <a:extLst>
                <a:ext uri="{FF2B5EF4-FFF2-40B4-BE49-F238E27FC236}">
                  <a16:creationId xmlns:a16="http://schemas.microsoft.com/office/drawing/2014/main" id="{7952D049-8B30-4748-B646-B2ED9715C308}"/>
                </a:ext>
              </a:extLst>
            </p:cNvPr>
            <p:cNvSpPr txBox="1"/>
            <p:nvPr/>
          </p:nvSpPr>
          <p:spPr>
            <a:xfrm>
              <a:off x="3666471" y="4934240"/>
              <a:ext cx="1568425"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zh-CN" altLang="en-US" dirty="0">
                  <a:solidFill>
                    <a:srgbClr val="333333"/>
                  </a:solidFill>
                  <a:latin typeface="Microsoft YaHei" panose="020B0503020204020204" pitchFamily="34" charset="-122"/>
                  <a:ea typeface="Microsoft YaHei" panose="020B0503020204020204" pitchFamily="34" charset="-122"/>
                </a:rPr>
                <a:t>可执行性</a:t>
              </a:r>
            </a:p>
          </p:txBody>
        </p:sp>
        <p:sp>
          <p:nvSpPr>
            <p:cNvPr id="26" name="加号 25">
              <a:extLst>
                <a:ext uri="{FF2B5EF4-FFF2-40B4-BE49-F238E27FC236}">
                  <a16:creationId xmlns:a16="http://schemas.microsoft.com/office/drawing/2014/main" id="{72ADAD3A-08B0-4A1F-B0F4-459BB5162FCB}"/>
                </a:ext>
              </a:extLst>
            </p:cNvPr>
            <p:cNvSpPr>
              <a:spLocks noChangeAspect="1"/>
            </p:cNvSpPr>
            <p:nvPr>
              <p:custDataLst>
                <p:tags r:id="rId9"/>
              </p:custDataLst>
            </p:nvPr>
          </p:nvSpPr>
          <p:spPr>
            <a:xfrm>
              <a:off x="5659444" y="4814671"/>
              <a:ext cx="715197" cy="715197"/>
            </a:xfrm>
            <a:prstGeom prst="mathPl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grpSp>
          <p:nvGrpSpPr>
            <p:cNvPr id="27" name="组合 27">
              <a:extLst>
                <a:ext uri="{FF2B5EF4-FFF2-40B4-BE49-F238E27FC236}">
                  <a16:creationId xmlns:a16="http://schemas.microsoft.com/office/drawing/2014/main" id="{EEF46D8F-B8C4-401D-8706-55197D193799}"/>
                </a:ext>
              </a:extLst>
            </p:cNvPr>
            <p:cNvGrpSpPr/>
            <p:nvPr/>
          </p:nvGrpSpPr>
          <p:grpSpPr>
            <a:xfrm>
              <a:off x="876944" y="4385552"/>
              <a:ext cx="1649956" cy="1499616"/>
              <a:chOff x="2409980" y="2999232"/>
              <a:chExt cx="1649956" cy="1499616"/>
            </a:xfrm>
            <a:solidFill>
              <a:schemeClr val="accent6"/>
            </a:solidFill>
          </p:grpSpPr>
          <p:sp>
            <p:nvSpPr>
              <p:cNvPr id="28" name="椭圆 27">
                <a:extLst>
                  <a:ext uri="{FF2B5EF4-FFF2-40B4-BE49-F238E27FC236}">
                    <a16:creationId xmlns:a16="http://schemas.microsoft.com/office/drawing/2014/main" id="{03565139-9240-4DF5-8A80-6E97933EDDA4}"/>
                  </a:ext>
                </a:extLst>
              </p:cNvPr>
              <p:cNvSpPr/>
              <p:nvPr>
                <p:custDataLst>
                  <p:tags r:id="rId10"/>
                </p:custDataLst>
              </p:nvPr>
            </p:nvSpPr>
            <p:spPr>
              <a:xfrm>
                <a:off x="2409980" y="2999232"/>
                <a:ext cx="1649956" cy="14996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29" name="TextBox 38">
                <a:extLst>
                  <a:ext uri="{FF2B5EF4-FFF2-40B4-BE49-F238E27FC236}">
                    <a16:creationId xmlns:a16="http://schemas.microsoft.com/office/drawing/2014/main" id="{9066455E-3601-4621-8B52-8C1032F3A59E}"/>
                  </a:ext>
                </a:extLst>
              </p:cNvPr>
              <p:cNvSpPr txBox="1"/>
              <p:nvPr/>
            </p:nvSpPr>
            <p:spPr>
              <a:xfrm>
                <a:off x="2652322" y="3521209"/>
                <a:ext cx="1165271" cy="549286"/>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rtlCol="0">
                <a:spAutoFit/>
              </a:bodyPr>
              <a:lstStyle/>
              <a:p>
                <a:pPr algn="ctr"/>
                <a:r>
                  <a:rPr lang="zh-CN" altLang="en-US" dirty="0">
                    <a:solidFill>
                      <a:srgbClr val="333333"/>
                    </a:solidFill>
                    <a:latin typeface="Microsoft YaHei" panose="020B0503020204020204" pitchFamily="34" charset="-122"/>
                    <a:ea typeface="Microsoft YaHei" panose="020B0503020204020204" pitchFamily="34" charset="-122"/>
                  </a:rPr>
                  <a:t>衍生性</a:t>
                </a:r>
              </a:p>
            </p:txBody>
          </p:sp>
        </p:grpSp>
      </p:grpSp>
      <p:sp>
        <p:nvSpPr>
          <p:cNvPr id="4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64676" y="6489303"/>
            <a:ext cx="2743200" cy="365125"/>
          </a:xfrm>
        </p:spPr>
        <p:txBody>
          <a:bodyPr/>
          <a:lstStyle/>
          <a:p>
            <a:r>
              <a:rPr kumimoji="1" lang="en-US" altLang="zh-CN" dirty="0"/>
              <a:t>8.7.1 </a:t>
            </a:r>
            <a:r>
              <a:rPr kumimoji="1" lang="zh-CN" altLang="en-US" dirty="0"/>
              <a:t>病毒、木马与恶意代码</a:t>
            </a:r>
          </a:p>
        </p:txBody>
      </p:sp>
      <p:sp>
        <p:nvSpPr>
          <p:cNvPr id="41"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89303"/>
            <a:ext cx="3319670" cy="365125"/>
          </a:xfrm>
        </p:spPr>
        <p:txBody>
          <a:bodyPr/>
          <a:lstStyle/>
          <a:p>
            <a:fld id="{8D4D1E41-7A09-AB4A-A4E1-09765ADA2698}" type="slidenum">
              <a:rPr kumimoji="1" lang="zh-CN" altLang="en-US" smtClean="0"/>
              <a:pPr/>
              <a:t>17</a:t>
            </a:fld>
            <a:endParaRPr kumimoji="1" lang="zh-CN" altLang="en-US" dirty="0"/>
          </a:p>
        </p:txBody>
      </p:sp>
    </p:spTree>
    <p:extLst>
      <p:ext uri="{BB962C8B-B14F-4D97-AF65-F5344CB8AC3E}">
        <p14:creationId xmlns:p14="http://schemas.microsoft.com/office/powerpoint/2010/main" val="11089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pPr>
              <a:lnSpc>
                <a:spcPct val="120000"/>
              </a:lnSpc>
            </a:pPr>
            <a:r>
              <a:rPr lang="en-US" altLang="zh-CN" dirty="0"/>
              <a:t>10.3.1 </a:t>
            </a:r>
            <a:r>
              <a:rPr kumimoji="1" lang="zh-CN" altLang="zh-CN" dirty="0">
                <a:solidFill>
                  <a:prstClr val="black"/>
                </a:solidFill>
              </a:rPr>
              <a:t>病毒本质</a:t>
            </a:r>
            <a:endParaRPr kumimoji="1" lang="zh-CN" altLang="en-US"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309695" y="1244212"/>
            <a:ext cx="10515600" cy="5131205"/>
          </a:xfrm>
        </p:spPr>
        <p:txBody>
          <a:bodyPr>
            <a:normAutofit/>
          </a:bodyPr>
          <a:lstStyle/>
          <a:p>
            <a:pPr>
              <a:lnSpc>
                <a:spcPct val="120000"/>
              </a:lnSpc>
            </a:pPr>
            <a:r>
              <a:rPr kumimoji="1" lang="zh-CN" altLang="en-US" dirty="0"/>
              <a:t>计算机病毒的</a:t>
            </a:r>
            <a:r>
              <a:rPr kumimoji="1" lang="zh-CN" altLang="en-US" dirty="0">
                <a:solidFill>
                  <a:srgbClr val="C00000"/>
                </a:solidFill>
              </a:rPr>
              <a:t>传播</a:t>
            </a:r>
            <a:endParaRPr kumimoji="1" lang="en-US" altLang="zh-CN" dirty="0"/>
          </a:p>
          <a:p>
            <a:pPr lvl="1"/>
            <a:r>
              <a:rPr kumimoji="1" lang="zh-CN" altLang="en-US" dirty="0"/>
              <a:t>移动存储设备</a:t>
            </a:r>
          </a:p>
          <a:p>
            <a:pPr lvl="1"/>
            <a:r>
              <a:rPr lang="zh-CN" altLang="en-US" dirty="0"/>
              <a:t>网络</a:t>
            </a:r>
          </a:p>
          <a:p>
            <a:pPr lvl="1"/>
            <a:r>
              <a:rPr kumimoji="1" lang="zh-CN" altLang="en-US" dirty="0"/>
              <a:t>计算机硬件设备</a:t>
            </a:r>
          </a:p>
          <a:p>
            <a:pPr lvl="1"/>
            <a:r>
              <a:rPr kumimoji="1" lang="zh-CN" altLang="en-US" dirty="0"/>
              <a:t>点对点通信系统和无线通道</a:t>
            </a:r>
          </a:p>
          <a:p>
            <a:pPr>
              <a:lnSpc>
                <a:spcPct val="120000"/>
              </a:lnSpc>
            </a:pPr>
            <a:r>
              <a:rPr kumimoji="1" lang="zh-CN" altLang="en-US" dirty="0"/>
              <a:t>计算机病毒的</a:t>
            </a:r>
            <a:r>
              <a:rPr kumimoji="1" lang="zh-CN" altLang="en-US" dirty="0">
                <a:solidFill>
                  <a:srgbClr val="C00000"/>
                </a:solidFill>
              </a:rPr>
              <a:t>分类</a:t>
            </a:r>
            <a:endParaRPr kumimoji="1" lang="en-US" altLang="zh-CN" dirty="0">
              <a:solidFill>
                <a:srgbClr val="C00000"/>
              </a:solidFill>
            </a:endParaRPr>
          </a:p>
          <a:p>
            <a:pPr lvl="1"/>
            <a:r>
              <a:rPr lang="zh-CN" altLang="en-US" dirty="0"/>
              <a:t>按病毒存在的媒体：网络、文件、引导型</a:t>
            </a:r>
          </a:p>
          <a:p>
            <a:pPr lvl="1"/>
            <a:r>
              <a:rPr lang="zh-CN" altLang="en-US" dirty="0"/>
              <a:t>按计算机病毒的链结方式：源码型、嵌入型、外壳型、操作系统型</a:t>
            </a:r>
          </a:p>
          <a:p>
            <a:pPr lvl="1"/>
            <a:r>
              <a:rPr lang="zh-CN" altLang="en-US" dirty="0"/>
              <a:t>按病毒存在的系统</a:t>
            </a:r>
            <a:r>
              <a:rPr lang="en-US" altLang="zh-CN" dirty="0"/>
              <a:t>:</a:t>
            </a:r>
            <a:r>
              <a:rPr lang="en-US" altLang="en-US" dirty="0"/>
              <a:t> DOS</a:t>
            </a:r>
            <a:r>
              <a:rPr lang="zh-CN" altLang="en-US" dirty="0"/>
              <a:t>、</a:t>
            </a:r>
            <a:r>
              <a:rPr lang="en-US" altLang="en-US" dirty="0"/>
              <a:t> Windows</a:t>
            </a:r>
            <a:r>
              <a:rPr lang="zh-CN" altLang="en-US" dirty="0"/>
              <a:t>、</a:t>
            </a:r>
            <a:r>
              <a:rPr lang="en-US" altLang="en-US" dirty="0"/>
              <a:t> UNIX</a:t>
            </a:r>
            <a:r>
              <a:rPr lang="zh-CN" altLang="en-US" dirty="0"/>
              <a:t>、</a:t>
            </a:r>
            <a:r>
              <a:rPr lang="en-US" altLang="en-US" dirty="0"/>
              <a:t> OS/2</a:t>
            </a:r>
            <a:endParaRPr lang="zh-CN" altLang="en-US" dirty="0"/>
          </a:p>
          <a:p>
            <a:pPr lvl="1"/>
            <a:r>
              <a:rPr lang="zh-CN" altLang="en-US" dirty="0"/>
              <a:t>按病毒的破坏情况</a:t>
            </a:r>
            <a:r>
              <a:rPr lang="en-US" altLang="zh-CN" dirty="0"/>
              <a:t>:</a:t>
            </a:r>
            <a:r>
              <a:rPr lang="zh-CN" altLang="en-US" dirty="0"/>
              <a:t>良性、恶性</a:t>
            </a:r>
          </a:p>
          <a:p>
            <a:pPr lvl="1"/>
            <a:endParaRPr kumimoji="1" lang="en-US" altLang="zh-CN" dirty="0"/>
          </a:p>
          <a:p>
            <a:pPr>
              <a:lnSpc>
                <a:spcPct val="120000"/>
              </a:lnSpc>
            </a:pPr>
            <a:endParaRPr kumimoji="1" lang="en-US" altLang="zh-CN" dirty="0"/>
          </a:p>
          <a:p>
            <a:pPr>
              <a:lnSpc>
                <a:spcPct val="120000"/>
              </a:lnSpc>
            </a:pPr>
            <a:endParaRPr kumimoji="1" lang="zh-CN" altLang="en-US" dirty="0"/>
          </a:p>
          <a:p>
            <a:pPr>
              <a:lnSpc>
                <a:spcPct val="120000"/>
              </a:lnSpc>
            </a:pPr>
            <a:endParaRPr kumimoji="1" lang="zh-CN" altLang="en-US" dirty="0"/>
          </a:p>
        </p:txBody>
      </p:sp>
      <p:grpSp>
        <p:nvGrpSpPr>
          <p:cNvPr id="18" name="组合 17"/>
          <p:cNvGrpSpPr/>
          <p:nvPr/>
        </p:nvGrpSpPr>
        <p:grpSpPr>
          <a:xfrm>
            <a:off x="4903470" y="1558307"/>
            <a:ext cx="1494301" cy="1338879"/>
            <a:chOff x="8039788" y="1365503"/>
            <a:chExt cx="2301122" cy="1932767"/>
          </a:xfrm>
        </p:grpSpPr>
        <p:pic>
          <p:nvPicPr>
            <p:cNvPr id="1026" name="Picture 2"/>
            <p:cNvPicPr>
              <a:picLocks noChangeAspect="1" noChangeArrowheads="1"/>
            </p:cNvPicPr>
            <p:nvPr/>
          </p:nvPicPr>
          <p:blipFill>
            <a:blip r:embed="rId3"/>
            <a:srcRect/>
            <a:stretch>
              <a:fillRect/>
            </a:stretch>
          </p:blipFill>
          <p:spPr bwMode="auto">
            <a:xfrm>
              <a:off x="8039788" y="1365504"/>
              <a:ext cx="1136362" cy="959756"/>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9218630" y="1365503"/>
              <a:ext cx="1112643" cy="959756"/>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8039788" y="2360569"/>
              <a:ext cx="1136362" cy="937701"/>
            </a:xfrm>
            <a:prstGeom prst="rect">
              <a:avLst/>
            </a:prstGeom>
            <a:noFill/>
            <a:ln w="9525">
              <a:noFill/>
              <a:miter lim="800000"/>
              <a:headEnd/>
              <a:tailEnd/>
            </a:ln>
            <a:effectLst/>
          </p:spPr>
        </p:pic>
        <p:pic>
          <p:nvPicPr>
            <p:cNvPr id="1030" name="Picture 6"/>
            <p:cNvPicPr>
              <a:picLocks noChangeAspect="1" noChangeArrowheads="1"/>
            </p:cNvPicPr>
            <p:nvPr/>
          </p:nvPicPr>
          <p:blipFill>
            <a:blip r:embed="rId6"/>
            <a:srcRect/>
            <a:stretch>
              <a:fillRect/>
            </a:stretch>
          </p:blipFill>
          <p:spPr bwMode="auto">
            <a:xfrm>
              <a:off x="9218630" y="2325259"/>
              <a:ext cx="1122280" cy="973011"/>
            </a:xfrm>
            <a:prstGeom prst="rect">
              <a:avLst/>
            </a:prstGeom>
            <a:noFill/>
            <a:ln w="9525">
              <a:noFill/>
              <a:miter lim="800000"/>
              <a:headEnd/>
              <a:tailEnd/>
            </a:ln>
            <a:effectLst/>
          </p:spPr>
        </p:pic>
      </p:grpSp>
      <p:grpSp>
        <p:nvGrpSpPr>
          <p:cNvPr id="19" name="组合 18"/>
          <p:cNvGrpSpPr/>
          <p:nvPr/>
        </p:nvGrpSpPr>
        <p:grpSpPr>
          <a:xfrm>
            <a:off x="6800968" y="1558307"/>
            <a:ext cx="1640368" cy="1359707"/>
            <a:chOff x="8573340" y="3483247"/>
            <a:chExt cx="2410891" cy="2273416"/>
          </a:xfrm>
        </p:grpSpPr>
        <p:pic>
          <p:nvPicPr>
            <p:cNvPr id="1032" name="Picture 8"/>
            <p:cNvPicPr>
              <a:picLocks noChangeAspect="1" noChangeArrowheads="1"/>
            </p:cNvPicPr>
            <p:nvPr/>
          </p:nvPicPr>
          <p:blipFill>
            <a:blip r:embed="rId7"/>
            <a:srcRect/>
            <a:stretch>
              <a:fillRect/>
            </a:stretch>
          </p:blipFill>
          <p:spPr bwMode="auto">
            <a:xfrm>
              <a:off x="8573340" y="3483247"/>
              <a:ext cx="1205620" cy="1138299"/>
            </a:xfrm>
            <a:prstGeom prst="rect">
              <a:avLst/>
            </a:prstGeom>
            <a:noFill/>
            <a:ln w="9525">
              <a:noFill/>
              <a:miter lim="800000"/>
              <a:headEnd/>
              <a:tailEnd/>
            </a:ln>
            <a:effectLst/>
          </p:spPr>
        </p:pic>
        <p:pic>
          <p:nvPicPr>
            <p:cNvPr id="1033" name="Picture 9"/>
            <p:cNvPicPr>
              <a:picLocks noChangeAspect="1" noChangeArrowheads="1"/>
            </p:cNvPicPr>
            <p:nvPr/>
          </p:nvPicPr>
          <p:blipFill>
            <a:blip r:embed="rId8"/>
            <a:srcRect/>
            <a:stretch>
              <a:fillRect/>
            </a:stretch>
          </p:blipFill>
          <p:spPr bwMode="auto">
            <a:xfrm>
              <a:off x="9778961" y="3483248"/>
              <a:ext cx="1205270" cy="1138298"/>
            </a:xfrm>
            <a:prstGeom prst="rect">
              <a:avLst/>
            </a:prstGeom>
            <a:noFill/>
            <a:ln w="9525">
              <a:noFill/>
              <a:miter lim="800000"/>
              <a:headEnd/>
              <a:tailEnd/>
            </a:ln>
            <a:effectLst/>
          </p:spPr>
        </p:pic>
        <p:pic>
          <p:nvPicPr>
            <p:cNvPr id="1034" name="Picture 10"/>
            <p:cNvPicPr>
              <a:picLocks noChangeAspect="1" noChangeArrowheads="1"/>
            </p:cNvPicPr>
            <p:nvPr/>
          </p:nvPicPr>
          <p:blipFill>
            <a:blip r:embed="rId9"/>
            <a:srcRect/>
            <a:stretch>
              <a:fillRect/>
            </a:stretch>
          </p:blipFill>
          <p:spPr bwMode="auto">
            <a:xfrm>
              <a:off x="8573340" y="4621546"/>
              <a:ext cx="1205621" cy="1135117"/>
            </a:xfrm>
            <a:prstGeom prst="rect">
              <a:avLst/>
            </a:prstGeom>
            <a:noFill/>
            <a:ln w="9525">
              <a:noFill/>
              <a:miter lim="800000"/>
              <a:headEnd/>
              <a:tailEnd/>
            </a:ln>
            <a:effectLst/>
          </p:spPr>
        </p:pic>
        <p:pic>
          <p:nvPicPr>
            <p:cNvPr id="1035" name="Picture 11"/>
            <p:cNvPicPr>
              <a:picLocks noChangeAspect="1" noChangeArrowheads="1"/>
            </p:cNvPicPr>
            <p:nvPr/>
          </p:nvPicPr>
          <p:blipFill>
            <a:blip r:embed="rId10"/>
            <a:srcRect/>
            <a:stretch>
              <a:fillRect/>
            </a:stretch>
          </p:blipFill>
          <p:spPr bwMode="auto">
            <a:xfrm>
              <a:off x="9778960" y="4610761"/>
              <a:ext cx="1205271" cy="1145902"/>
            </a:xfrm>
            <a:prstGeom prst="rect">
              <a:avLst/>
            </a:prstGeom>
            <a:noFill/>
            <a:ln w="9525">
              <a:noFill/>
              <a:miter lim="800000"/>
              <a:headEnd/>
              <a:tailEnd/>
            </a:ln>
            <a:effectLst/>
          </p:spPr>
        </p:pic>
      </p:grpSp>
      <p:sp>
        <p:nvSpPr>
          <p:cNvPr id="2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5520" y="6489302"/>
            <a:ext cx="2743200" cy="365125"/>
          </a:xfrm>
        </p:spPr>
        <p:txBody>
          <a:bodyPr/>
          <a:lstStyle/>
          <a:p>
            <a:r>
              <a:rPr kumimoji="1" lang="en-US" altLang="zh-CN" dirty="0"/>
              <a:t>8.7.1 </a:t>
            </a:r>
            <a:r>
              <a:rPr kumimoji="1" lang="zh-CN" altLang="en-US" dirty="0"/>
              <a:t>病毒、木马与恶意代码</a:t>
            </a:r>
          </a:p>
        </p:txBody>
      </p:sp>
      <p:sp>
        <p:nvSpPr>
          <p:cNvPr id="21"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89301"/>
            <a:ext cx="3319670" cy="365125"/>
          </a:xfrm>
        </p:spPr>
        <p:txBody>
          <a:bodyPr/>
          <a:lstStyle/>
          <a:p>
            <a:fld id="{8D4D1E41-7A09-AB4A-A4E1-09765ADA2698}" type="slidenum">
              <a:rPr kumimoji="1" lang="zh-CN" altLang="en-US" smtClean="0"/>
              <a:pPr/>
              <a:t>18</a:t>
            </a:fld>
            <a:endParaRPr kumimoji="1" lang="zh-CN" altLang="en-US" dirty="0"/>
          </a:p>
        </p:txBody>
      </p:sp>
      <p:pic>
        <p:nvPicPr>
          <p:cNvPr id="196612" name="Picture 4"/>
          <p:cNvPicPr>
            <a:picLocks noChangeAspect="1" noChangeArrowheads="1"/>
          </p:cNvPicPr>
          <p:nvPr/>
        </p:nvPicPr>
        <p:blipFill>
          <a:blip r:embed="rId11"/>
          <a:srcRect/>
          <a:stretch>
            <a:fillRect/>
          </a:stretch>
        </p:blipFill>
        <p:spPr bwMode="auto">
          <a:xfrm>
            <a:off x="4935855" y="2967512"/>
            <a:ext cx="3529013" cy="987268"/>
          </a:xfrm>
          <a:prstGeom prst="rect">
            <a:avLst/>
          </a:prstGeom>
          <a:noFill/>
          <a:ln w="9525">
            <a:noFill/>
            <a:miter lim="800000"/>
            <a:headEnd/>
            <a:tailEnd/>
          </a:ln>
          <a:effectLst/>
        </p:spPr>
      </p:pic>
      <p:pic>
        <p:nvPicPr>
          <p:cNvPr id="196613" name="Picture 5"/>
          <p:cNvPicPr>
            <a:picLocks noChangeAspect="1" noChangeArrowheads="1"/>
          </p:cNvPicPr>
          <p:nvPr/>
        </p:nvPicPr>
        <p:blipFill>
          <a:blip r:embed="rId12"/>
          <a:srcRect/>
          <a:stretch>
            <a:fillRect/>
          </a:stretch>
        </p:blipFill>
        <p:spPr bwMode="auto">
          <a:xfrm>
            <a:off x="8487728" y="2967512"/>
            <a:ext cx="2470699" cy="831533"/>
          </a:xfrm>
          <a:prstGeom prst="rect">
            <a:avLst/>
          </a:prstGeom>
          <a:noFill/>
          <a:ln w="9525">
            <a:noFill/>
            <a:miter lim="800000"/>
            <a:headEnd/>
            <a:tailEnd/>
          </a:ln>
          <a:effectLst/>
        </p:spPr>
      </p:pic>
      <p:grpSp>
        <p:nvGrpSpPr>
          <p:cNvPr id="23" name="组合 22"/>
          <p:cNvGrpSpPr/>
          <p:nvPr/>
        </p:nvGrpSpPr>
        <p:grpSpPr>
          <a:xfrm>
            <a:off x="9018269" y="1589367"/>
            <a:ext cx="1400721" cy="1360055"/>
            <a:chOff x="9018269" y="1589367"/>
            <a:chExt cx="1400721" cy="1360055"/>
          </a:xfrm>
        </p:grpSpPr>
        <p:pic>
          <p:nvPicPr>
            <p:cNvPr id="196610" name="Picture 2" descr="http://images.ofweek.com/Upload/News/2017-02/15/Trista/1487132274197098253.jpg"/>
            <p:cNvPicPr>
              <a:picLocks noChangeAspect="1" noChangeArrowheads="1"/>
            </p:cNvPicPr>
            <p:nvPr/>
          </p:nvPicPr>
          <p:blipFill>
            <a:blip r:embed="rId13"/>
            <a:srcRect/>
            <a:stretch>
              <a:fillRect/>
            </a:stretch>
          </p:blipFill>
          <p:spPr bwMode="auto">
            <a:xfrm>
              <a:off x="9018269" y="1589367"/>
              <a:ext cx="1400721" cy="1360055"/>
            </a:xfrm>
            <a:prstGeom prst="rect">
              <a:avLst/>
            </a:prstGeom>
            <a:noFill/>
          </p:spPr>
        </p:pic>
        <p:sp>
          <p:nvSpPr>
            <p:cNvPr id="22" name="矩形 21"/>
            <p:cNvSpPr/>
            <p:nvPr/>
          </p:nvSpPr>
          <p:spPr>
            <a:xfrm>
              <a:off x="9955530" y="2640330"/>
              <a:ext cx="463460" cy="2776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rgbClr val="C00000"/>
                  </a:solidFill>
                </a:rPr>
                <a:t>ASIC</a:t>
              </a:r>
              <a:endParaRPr lang="zh-CN" altLang="en-US" sz="1050" dirty="0">
                <a:solidFill>
                  <a:srgbClr val="C00000"/>
                </a:solidFill>
              </a:endParaRPr>
            </a:p>
          </p:txBody>
        </p:sp>
      </p:grpSp>
    </p:spTree>
    <p:extLst>
      <p:ext uri="{BB962C8B-B14F-4D97-AF65-F5344CB8AC3E}">
        <p14:creationId xmlns:p14="http://schemas.microsoft.com/office/powerpoint/2010/main" val="258064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2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196612"/>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966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10.3.1 </a:t>
            </a:r>
            <a:r>
              <a:rPr kumimoji="1" lang="zh-CN" altLang="zh-CN" dirty="0">
                <a:solidFill>
                  <a:prstClr val="black"/>
                </a:solidFill>
              </a:rPr>
              <a:t>病毒本质</a:t>
            </a:r>
            <a:endParaRPr lang="zh-CN" altLang="en-US" dirty="0"/>
          </a:p>
        </p:txBody>
      </p:sp>
      <p:sp>
        <p:nvSpPr>
          <p:cNvPr id="3" name="内容占位符 2"/>
          <p:cNvSpPr>
            <a:spLocks noGrp="1"/>
          </p:cNvSpPr>
          <p:nvPr>
            <p:ph idx="1"/>
          </p:nvPr>
        </p:nvSpPr>
        <p:spPr/>
        <p:txBody>
          <a:bodyPr>
            <a:normAutofit/>
          </a:bodyPr>
          <a:lstStyle/>
          <a:p>
            <a:r>
              <a:rPr lang="zh-CN" altLang="en-US" dirty="0"/>
              <a:t>病毒，以及多种恶意软件，都包含一种或多种下述</a:t>
            </a:r>
            <a:r>
              <a:rPr lang="zh-CN" altLang="en-US" dirty="0">
                <a:solidFill>
                  <a:srgbClr val="C00000"/>
                </a:solidFill>
              </a:rPr>
              <a:t>组成部分</a:t>
            </a:r>
            <a:r>
              <a:rPr lang="zh-CN" altLang="en-US" dirty="0"/>
              <a:t>及其变体</a:t>
            </a:r>
            <a:r>
              <a:rPr lang="en-US" altLang="zh-CN" dirty="0"/>
              <a:t>:</a:t>
            </a:r>
          </a:p>
          <a:p>
            <a:pPr lvl="1"/>
            <a:r>
              <a:rPr lang="zh-CN" altLang="en-US" dirty="0">
                <a:solidFill>
                  <a:srgbClr val="C00000"/>
                </a:solidFill>
              </a:rPr>
              <a:t>感染机制</a:t>
            </a:r>
            <a:r>
              <a:rPr lang="zh-CN" altLang="en-US" dirty="0"/>
              <a:t>：病毒散布或传播的方法，能使病毒复制。这种机制也被称作感染载体。</a:t>
            </a:r>
            <a:endParaRPr lang="en-US" altLang="zh-CN" dirty="0"/>
          </a:p>
          <a:p>
            <a:pPr lvl="1"/>
            <a:r>
              <a:rPr lang="zh-CN" altLang="en-US" dirty="0">
                <a:solidFill>
                  <a:srgbClr val="C00000"/>
                </a:solidFill>
              </a:rPr>
              <a:t>触发</a:t>
            </a:r>
            <a:r>
              <a:rPr lang="zh-CN" altLang="en-US" dirty="0"/>
              <a:t>：决定载荷何时被激活或者传输的事件或条件，有时也称作逻辑炸弹。</a:t>
            </a:r>
            <a:endParaRPr lang="en-US" altLang="zh-CN" dirty="0"/>
          </a:p>
          <a:p>
            <a:pPr lvl="1"/>
            <a:r>
              <a:rPr lang="zh-CN" altLang="en-US" dirty="0">
                <a:solidFill>
                  <a:srgbClr val="C00000"/>
                </a:solidFill>
              </a:rPr>
              <a:t>载荷</a:t>
            </a:r>
            <a:r>
              <a:rPr lang="zh-CN" altLang="en-US" dirty="0"/>
              <a:t>：除传播外，病毒要做的事。载荷通常会做一些有害的或者恶性的动作。</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19</a:t>
            </a:fld>
            <a:endParaRPr kumimoji="1" lang="zh-CN" altLang="en-US" dirty="0"/>
          </a:p>
        </p:txBody>
      </p:sp>
    </p:spTree>
    <p:extLst>
      <p:ext uri="{BB962C8B-B14F-4D97-AF65-F5344CB8AC3E}">
        <p14:creationId xmlns:p14="http://schemas.microsoft.com/office/powerpoint/2010/main" val="2148147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10.3.1 </a:t>
            </a:r>
            <a:r>
              <a:rPr kumimoji="1" lang="zh-CN" altLang="zh-CN" dirty="0">
                <a:solidFill>
                  <a:prstClr val="black"/>
                </a:solidFill>
              </a:rPr>
              <a:t>病毒本质</a:t>
            </a:r>
            <a:endParaRPr lang="zh-CN" altLang="en-US" dirty="0"/>
          </a:p>
        </p:txBody>
      </p:sp>
      <p:sp>
        <p:nvSpPr>
          <p:cNvPr id="3" name="内容占位符 2"/>
          <p:cNvSpPr>
            <a:spLocks noGrp="1"/>
          </p:cNvSpPr>
          <p:nvPr>
            <p:ph idx="1"/>
          </p:nvPr>
        </p:nvSpPr>
        <p:spPr/>
        <p:txBody>
          <a:bodyPr>
            <a:normAutofit/>
          </a:bodyPr>
          <a:lstStyle/>
          <a:p>
            <a:r>
              <a:rPr lang="zh-CN" altLang="en-US" dirty="0"/>
              <a:t>典型病毒的</a:t>
            </a:r>
            <a:r>
              <a:rPr lang="zh-CN" altLang="en-US" dirty="0">
                <a:solidFill>
                  <a:srgbClr val="C00000"/>
                </a:solidFill>
              </a:rPr>
              <a:t>生命周期</a:t>
            </a:r>
            <a:r>
              <a:rPr lang="zh-CN" altLang="en-US" dirty="0"/>
              <a:t>，包含以下</a:t>
            </a:r>
            <a:r>
              <a:rPr lang="en-US" altLang="zh-CN" dirty="0"/>
              <a:t>4</a:t>
            </a:r>
            <a:r>
              <a:rPr lang="zh-CN" altLang="en-US" dirty="0"/>
              <a:t>个阶段：</a:t>
            </a:r>
            <a:endParaRPr lang="en-US" altLang="zh-CN" dirty="0"/>
          </a:p>
          <a:p>
            <a:pPr lvl="1"/>
            <a:r>
              <a:rPr lang="zh-CN" altLang="en-US" dirty="0">
                <a:solidFill>
                  <a:srgbClr val="C00000"/>
                </a:solidFill>
              </a:rPr>
              <a:t>休眠阶段</a:t>
            </a:r>
            <a:r>
              <a:rPr lang="zh-CN" altLang="en-US" dirty="0"/>
              <a:t>：在这个阶段中，病毒不执行操作，而是等待被某些事件激活，这些事件包含某一个特定日期、其他程序或文件的出现、磁盘容量超出了某些限度等。并非所有的病毒都有这一阶段。</a:t>
            </a:r>
            <a:endParaRPr lang="en-US" altLang="zh-CN" dirty="0"/>
          </a:p>
          <a:p>
            <a:pPr lvl="1"/>
            <a:r>
              <a:rPr lang="zh-CN" altLang="en-US" dirty="0">
                <a:solidFill>
                  <a:srgbClr val="C00000"/>
                </a:solidFill>
              </a:rPr>
              <a:t>传播阶段</a:t>
            </a:r>
            <a:r>
              <a:rPr lang="zh-CN" altLang="en-US" dirty="0"/>
              <a:t>：病毒将与其自身完全相同的副本植入其他程序或磁盘的某些系统区域。</a:t>
            </a:r>
            <a:endParaRPr lang="en-US" altLang="zh-CN" dirty="0"/>
          </a:p>
          <a:p>
            <a:pPr lvl="1"/>
            <a:r>
              <a:rPr lang="zh-CN" altLang="en-US" dirty="0">
                <a:solidFill>
                  <a:srgbClr val="C00000"/>
                </a:solidFill>
              </a:rPr>
              <a:t>触发阶段</a:t>
            </a:r>
            <a:r>
              <a:rPr lang="zh-CN" altLang="en-US" dirty="0"/>
              <a:t>：病毒在这一阶段中将被激活以执行其预先设定的功能。</a:t>
            </a:r>
            <a:endParaRPr lang="en-US" altLang="zh-CN" dirty="0"/>
          </a:p>
          <a:p>
            <a:pPr lvl="1"/>
            <a:r>
              <a:rPr lang="zh-CN" altLang="en-US" dirty="0">
                <a:solidFill>
                  <a:srgbClr val="C00000"/>
                </a:solidFill>
              </a:rPr>
              <a:t>执行阶段</a:t>
            </a:r>
            <a:r>
              <a:rPr lang="zh-CN" altLang="en-US" dirty="0"/>
              <a:t>：病毒将实现器预期的功能。</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20</a:t>
            </a:fld>
            <a:endParaRPr kumimoji="1" lang="zh-CN" altLang="en-US" dirty="0"/>
          </a:p>
        </p:txBody>
      </p:sp>
    </p:spTree>
    <p:extLst>
      <p:ext uri="{BB962C8B-B14F-4D97-AF65-F5344CB8AC3E}">
        <p14:creationId xmlns:p14="http://schemas.microsoft.com/office/powerpoint/2010/main" val="2771002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pPr>
              <a:lnSpc>
                <a:spcPct val="120000"/>
              </a:lnSpc>
            </a:pPr>
            <a:r>
              <a:rPr lang="en-US" altLang="zh-CN" dirty="0"/>
              <a:t>10.3.1 </a:t>
            </a:r>
            <a:r>
              <a:rPr kumimoji="1" lang="zh-CN" altLang="zh-CN" dirty="0">
                <a:solidFill>
                  <a:prstClr val="black"/>
                </a:solidFill>
              </a:rPr>
              <a:t>病毒本质</a:t>
            </a:r>
            <a:endParaRPr kumimoji="1" lang="zh-CN" altLang="en-US"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a:bodyPr>
          <a:lstStyle/>
          <a:p>
            <a:pPr>
              <a:lnSpc>
                <a:spcPct val="120000"/>
              </a:lnSpc>
            </a:pPr>
            <a:r>
              <a:rPr kumimoji="1" lang="zh-CN" altLang="en-US" dirty="0"/>
              <a:t>计算机病毒工作流程</a:t>
            </a:r>
            <a:endParaRPr kumimoji="1" lang="en-US" altLang="zh-CN" dirty="0"/>
          </a:p>
          <a:p>
            <a:pPr>
              <a:lnSpc>
                <a:spcPct val="120000"/>
              </a:lnSpc>
            </a:pPr>
            <a:r>
              <a:rPr kumimoji="1" lang="zh-CN" altLang="en-US" dirty="0"/>
              <a:t>计算机中毒的症状</a:t>
            </a:r>
            <a:endParaRPr kumimoji="1" lang="en-US" altLang="zh-CN" dirty="0"/>
          </a:p>
          <a:p>
            <a:pPr lvl="1"/>
            <a:r>
              <a:rPr lang="zh-CN" altLang="en-US" dirty="0"/>
              <a:t>异常错误信息</a:t>
            </a:r>
          </a:p>
          <a:p>
            <a:pPr lvl="1"/>
            <a:r>
              <a:rPr lang="zh-CN" altLang="en-US" dirty="0"/>
              <a:t>机器启动异常</a:t>
            </a:r>
          </a:p>
          <a:p>
            <a:pPr lvl="1"/>
            <a:r>
              <a:rPr lang="zh-CN" altLang="en-US" dirty="0"/>
              <a:t>文件内容和长度有所改变</a:t>
            </a:r>
          </a:p>
          <a:p>
            <a:pPr lvl="1"/>
            <a:r>
              <a:rPr lang="zh-CN" altLang="en-US" dirty="0"/>
              <a:t>外部设备工作异常</a:t>
            </a:r>
          </a:p>
          <a:p>
            <a:pPr lvl="1"/>
            <a:r>
              <a:rPr lang="zh-CN" altLang="en-US" dirty="0"/>
              <a:t>磁盘空间变小</a:t>
            </a:r>
          </a:p>
          <a:p>
            <a:pPr lvl="1"/>
            <a:r>
              <a:rPr lang="zh-CN" altLang="en-US" dirty="0"/>
              <a:t>运行速度降低</a:t>
            </a:r>
          </a:p>
          <a:p>
            <a:pPr>
              <a:lnSpc>
                <a:spcPct val="120000"/>
              </a:lnSpc>
            </a:pPr>
            <a:endParaRPr kumimoji="1" lang="en-US" altLang="zh-CN" dirty="0"/>
          </a:p>
          <a:p>
            <a:pPr>
              <a:lnSpc>
                <a:spcPct val="120000"/>
              </a:lnSpc>
            </a:pPr>
            <a:endParaRPr kumimoji="1" lang="en-US" altLang="zh-CN" dirty="0"/>
          </a:p>
          <a:p>
            <a:pPr>
              <a:lnSpc>
                <a:spcPct val="120000"/>
              </a:lnSpc>
            </a:pPr>
            <a:endParaRPr kumimoji="1" lang="en-US" altLang="zh-CN" dirty="0"/>
          </a:p>
          <a:p>
            <a:pPr>
              <a:lnSpc>
                <a:spcPct val="120000"/>
              </a:lnSpc>
            </a:pPr>
            <a:endParaRPr lang="zh-CN" altLang="en-US" sz="2000" dirty="0">
              <a:solidFill>
                <a:schemeClr val="dk1"/>
              </a:solidFill>
              <a:latin typeface="+mn-lt"/>
              <a:ea typeface="+mn-ea"/>
            </a:endParaRPr>
          </a:p>
        </p:txBody>
      </p:sp>
      <p:grpSp>
        <p:nvGrpSpPr>
          <p:cNvPr id="64" name="组合 63"/>
          <p:cNvGrpSpPr/>
          <p:nvPr/>
        </p:nvGrpSpPr>
        <p:grpSpPr>
          <a:xfrm>
            <a:off x="5903715" y="1580935"/>
            <a:ext cx="5556338" cy="4526139"/>
            <a:chOff x="5903715" y="1580935"/>
            <a:chExt cx="5556338" cy="4526139"/>
          </a:xfrm>
        </p:grpSpPr>
        <p:sp>
          <p:nvSpPr>
            <p:cNvPr id="5" name="矩形: 圆角 4">
              <a:extLst>
                <a:ext uri="{FF2B5EF4-FFF2-40B4-BE49-F238E27FC236}">
                  <a16:creationId xmlns:a16="http://schemas.microsoft.com/office/drawing/2014/main" id="{EC7D0876-07EE-4AAA-8CC5-C32FF6B11599}"/>
                </a:ext>
              </a:extLst>
            </p:cNvPr>
            <p:cNvSpPr/>
            <p:nvPr/>
          </p:nvSpPr>
          <p:spPr>
            <a:xfrm>
              <a:off x="5918455" y="1580935"/>
              <a:ext cx="3591420" cy="420121"/>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非授权加载，病毒进入内存</a:t>
              </a:r>
            </a:p>
          </p:txBody>
        </p:sp>
        <p:sp>
          <p:nvSpPr>
            <p:cNvPr id="6" name="矩形: 圆角 5">
              <a:extLst>
                <a:ext uri="{FF2B5EF4-FFF2-40B4-BE49-F238E27FC236}">
                  <a16:creationId xmlns:a16="http://schemas.microsoft.com/office/drawing/2014/main" id="{78022250-E176-4C3D-96FE-CE5B155A70A2}"/>
                </a:ext>
              </a:extLst>
            </p:cNvPr>
            <p:cNvSpPr/>
            <p:nvPr/>
          </p:nvSpPr>
          <p:spPr>
            <a:xfrm>
              <a:off x="6837396" y="3265003"/>
              <a:ext cx="1838682" cy="432982"/>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监视系统运行</a:t>
              </a:r>
            </a:p>
          </p:txBody>
        </p:sp>
        <p:sp>
          <p:nvSpPr>
            <p:cNvPr id="9" name="矩形: 圆角 8">
              <a:extLst>
                <a:ext uri="{FF2B5EF4-FFF2-40B4-BE49-F238E27FC236}">
                  <a16:creationId xmlns:a16="http://schemas.microsoft.com/office/drawing/2014/main" id="{D6B0C32D-73DC-4668-81A2-3809D69040A6}"/>
                </a:ext>
              </a:extLst>
            </p:cNvPr>
            <p:cNvSpPr/>
            <p:nvPr/>
          </p:nvSpPr>
          <p:spPr>
            <a:xfrm>
              <a:off x="6146589" y="2181136"/>
              <a:ext cx="3142548" cy="347463"/>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病毒引导模块执行</a:t>
              </a:r>
            </a:p>
          </p:txBody>
        </p:sp>
        <p:sp>
          <p:nvSpPr>
            <p:cNvPr id="10" name="矩形: 圆角 9">
              <a:extLst>
                <a:ext uri="{FF2B5EF4-FFF2-40B4-BE49-F238E27FC236}">
                  <a16:creationId xmlns:a16="http://schemas.microsoft.com/office/drawing/2014/main" id="{AB9A05A2-41C7-4F26-AC08-C6B0002F0420}"/>
                </a:ext>
              </a:extLst>
            </p:cNvPr>
            <p:cNvSpPr/>
            <p:nvPr/>
          </p:nvSpPr>
          <p:spPr>
            <a:xfrm>
              <a:off x="5903715" y="2711592"/>
              <a:ext cx="3606160" cy="371434"/>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修改系统参数，引入传染模块</a:t>
              </a:r>
            </a:p>
          </p:txBody>
        </p:sp>
        <p:sp>
          <p:nvSpPr>
            <p:cNvPr id="35" name="流程图: 决策 34"/>
            <p:cNvSpPr/>
            <p:nvPr/>
          </p:nvSpPr>
          <p:spPr>
            <a:xfrm>
              <a:off x="6457365" y="3997674"/>
              <a:ext cx="2666279" cy="800100"/>
            </a:xfrm>
            <a:prstGeom prst="flowChartDecision">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传染条件是否满足</a:t>
              </a:r>
            </a:p>
          </p:txBody>
        </p:sp>
        <p:sp>
          <p:nvSpPr>
            <p:cNvPr id="37" name="流程图: 决策 36"/>
            <p:cNvSpPr/>
            <p:nvPr/>
          </p:nvSpPr>
          <p:spPr>
            <a:xfrm>
              <a:off x="6457366" y="5082026"/>
              <a:ext cx="2678668" cy="800100"/>
            </a:xfrm>
            <a:prstGeom prst="flowChartDecision">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触发条件是否满足</a:t>
              </a:r>
            </a:p>
          </p:txBody>
        </p:sp>
        <p:sp>
          <p:nvSpPr>
            <p:cNvPr id="43" name="TextBox 42"/>
            <p:cNvSpPr txBox="1"/>
            <p:nvPr/>
          </p:nvSpPr>
          <p:spPr>
            <a:xfrm>
              <a:off x="9804837" y="3997674"/>
              <a:ext cx="417975" cy="400110"/>
            </a:xfrm>
            <a:prstGeom prst="rect">
              <a:avLst/>
            </a:prstGeom>
            <a:noFill/>
          </p:spPr>
          <p:txBody>
            <a:bodyPr wrap="square" rtlCol="0">
              <a:spAutoFit/>
            </a:bodyPr>
            <a:lstStyle/>
            <a:p>
              <a:r>
                <a:rPr lang="en-US" altLang="zh-CN" sz="2000" dirty="0">
                  <a:solidFill>
                    <a:schemeClr val="dk1"/>
                  </a:solidFill>
                </a:rPr>
                <a:t>Y</a:t>
              </a:r>
              <a:endParaRPr lang="zh-CN" altLang="en-US" sz="2000" dirty="0">
                <a:solidFill>
                  <a:schemeClr val="dk1"/>
                </a:solidFill>
              </a:endParaRPr>
            </a:p>
          </p:txBody>
        </p:sp>
        <p:sp>
          <p:nvSpPr>
            <p:cNvPr id="45" name="矩形: 圆角 5">
              <a:extLst>
                <a:ext uri="{FF2B5EF4-FFF2-40B4-BE49-F238E27FC236}">
                  <a16:creationId xmlns:a16="http://schemas.microsoft.com/office/drawing/2014/main" id="{78022250-E176-4C3D-96FE-CE5B155A70A2}"/>
                </a:ext>
              </a:extLst>
            </p:cNvPr>
            <p:cNvSpPr/>
            <p:nvPr/>
          </p:nvSpPr>
          <p:spPr>
            <a:xfrm>
              <a:off x="10136991" y="4587500"/>
              <a:ext cx="1270080" cy="432982"/>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进行传染</a:t>
              </a:r>
            </a:p>
          </p:txBody>
        </p:sp>
        <p:sp>
          <p:nvSpPr>
            <p:cNvPr id="51" name="矩形: 圆角 5">
              <a:extLst>
                <a:ext uri="{FF2B5EF4-FFF2-40B4-BE49-F238E27FC236}">
                  <a16:creationId xmlns:a16="http://schemas.microsoft.com/office/drawing/2014/main" id="{78022250-E176-4C3D-96FE-CE5B155A70A2}"/>
                </a:ext>
              </a:extLst>
            </p:cNvPr>
            <p:cNvSpPr/>
            <p:nvPr/>
          </p:nvSpPr>
          <p:spPr>
            <a:xfrm>
              <a:off x="10189973" y="5674092"/>
              <a:ext cx="1270080" cy="432982"/>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solidFill>
                    <a:srgbClr val="C00000"/>
                  </a:solidFill>
                </a:rPr>
                <a:t>发起破坏</a:t>
              </a:r>
            </a:p>
          </p:txBody>
        </p:sp>
        <p:sp>
          <p:nvSpPr>
            <p:cNvPr id="54" name="TextBox 53"/>
            <p:cNvSpPr txBox="1"/>
            <p:nvPr/>
          </p:nvSpPr>
          <p:spPr>
            <a:xfrm>
              <a:off x="9709728" y="5082026"/>
              <a:ext cx="417975" cy="400110"/>
            </a:xfrm>
            <a:prstGeom prst="rect">
              <a:avLst/>
            </a:prstGeom>
            <a:noFill/>
          </p:spPr>
          <p:txBody>
            <a:bodyPr wrap="square" rtlCol="0">
              <a:spAutoFit/>
            </a:bodyPr>
            <a:lstStyle/>
            <a:p>
              <a:r>
                <a:rPr lang="en-US" altLang="zh-CN" sz="2000" dirty="0">
                  <a:solidFill>
                    <a:schemeClr val="dk1"/>
                  </a:solidFill>
                </a:rPr>
                <a:t>Y</a:t>
              </a:r>
              <a:endParaRPr lang="zh-CN" altLang="en-US" sz="2000" dirty="0">
                <a:solidFill>
                  <a:schemeClr val="dk1"/>
                </a:solidFill>
              </a:endParaRPr>
            </a:p>
          </p:txBody>
        </p:sp>
        <p:cxnSp>
          <p:nvCxnSpPr>
            <p:cNvPr id="31" name="直接箭头连接符 30"/>
            <p:cNvCxnSpPr>
              <a:stCxn id="5" idx="2"/>
              <a:endCxn id="9" idx="0"/>
            </p:cNvCxnSpPr>
            <p:nvPr/>
          </p:nvCxnSpPr>
          <p:spPr>
            <a:xfrm rot="16200000" flipH="1">
              <a:off x="7625974" y="2089247"/>
              <a:ext cx="180080" cy="36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rot="16200000" flipH="1">
              <a:off x="7629672" y="2616790"/>
              <a:ext cx="180080" cy="36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rot="16200000" flipH="1">
              <a:off x="7675985" y="3171217"/>
              <a:ext cx="180080" cy="36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rot="16200000" flipH="1">
              <a:off x="7633521" y="3845980"/>
              <a:ext cx="299689" cy="36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rot="16200000" flipH="1">
              <a:off x="7637220" y="4945770"/>
              <a:ext cx="299689" cy="36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nvGrpSpPr>
            <p:cNvPr id="58" name="组合 57"/>
            <p:cNvGrpSpPr/>
            <p:nvPr/>
          </p:nvGrpSpPr>
          <p:grpSpPr>
            <a:xfrm>
              <a:off x="9123644" y="4388297"/>
              <a:ext cx="1566352" cy="180080"/>
              <a:chOff x="9123644" y="4388297"/>
              <a:chExt cx="1566352" cy="180080"/>
            </a:xfrm>
          </p:grpSpPr>
          <p:cxnSp>
            <p:nvCxnSpPr>
              <p:cNvPr id="56" name="直接连接符 55"/>
              <p:cNvCxnSpPr>
                <a:stCxn id="35" idx="3"/>
              </p:cNvCxnSpPr>
              <p:nvPr/>
            </p:nvCxnSpPr>
            <p:spPr>
              <a:xfrm>
                <a:off x="9123644" y="4397724"/>
                <a:ext cx="1566352" cy="6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rot="16200000" flipH="1">
                <a:off x="10598107" y="4476488"/>
                <a:ext cx="180080" cy="36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nvGrpSpPr>
          <p:grpSpPr>
            <a:xfrm>
              <a:off x="9136034" y="5482136"/>
              <a:ext cx="1566352" cy="180080"/>
              <a:chOff x="9123644" y="4388297"/>
              <a:chExt cx="1566352" cy="180080"/>
            </a:xfrm>
          </p:grpSpPr>
          <p:cxnSp>
            <p:nvCxnSpPr>
              <p:cNvPr id="60" name="直接连接符 59"/>
              <p:cNvCxnSpPr/>
              <p:nvPr/>
            </p:nvCxnSpPr>
            <p:spPr>
              <a:xfrm>
                <a:off x="9123644" y="4397724"/>
                <a:ext cx="1566352" cy="6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rot="16200000" flipH="1">
                <a:off x="10598107" y="4476488"/>
                <a:ext cx="180080" cy="369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grpSp>
        <p:cxnSp>
          <p:nvCxnSpPr>
            <p:cNvPr id="63" name="直接箭头连接符 62"/>
            <p:cNvCxnSpPr/>
            <p:nvPr/>
          </p:nvCxnSpPr>
          <p:spPr>
            <a:xfrm rot="10800000">
              <a:off x="7788915" y="4835483"/>
              <a:ext cx="2348077" cy="6217"/>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grpSp>
      <p:sp>
        <p:nvSpPr>
          <p:cNvPr id="3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5520" y="6489302"/>
            <a:ext cx="2743200" cy="365125"/>
          </a:xfrm>
        </p:spPr>
        <p:txBody>
          <a:bodyPr/>
          <a:lstStyle/>
          <a:p>
            <a:r>
              <a:rPr kumimoji="1" lang="en-US" altLang="zh-CN" dirty="0"/>
              <a:t>8.7.1 </a:t>
            </a:r>
            <a:r>
              <a:rPr kumimoji="1" lang="zh-CN" altLang="en-US" dirty="0"/>
              <a:t>病毒、木马与恶意代码</a:t>
            </a:r>
          </a:p>
        </p:txBody>
      </p:sp>
      <p:sp>
        <p:nvSpPr>
          <p:cNvPr id="36"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83041"/>
            <a:ext cx="3319670" cy="365125"/>
          </a:xfrm>
        </p:spPr>
        <p:txBody>
          <a:bodyPr/>
          <a:lstStyle/>
          <a:p>
            <a:fld id="{8D4D1E41-7A09-AB4A-A4E1-09765ADA2698}" type="slidenum">
              <a:rPr kumimoji="1" lang="zh-CN" altLang="en-US" smtClean="0"/>
              <a:pPr/>
              <a:t>21</a:t>
            </a:fld>
            <a:endParaRPr kumimoji="1" lang="zh-CN" altLang="en-US" dirty="0"/>
          </a:p>
        </p:txBody>
      </p:sp>
    </p:spTree>
    <p:extLst>
      <p:ext uri="{BB962C8B-B14F-4D97-AF65-F5344CB8AC3E}">
        <p14:creationId xmlns:p14="http://schemas.microsoft.com/office/powerpoint/2010/main" val="276889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10.3.2 </a:t>
            </a:r>
            <a:r>
              <a:rPr kumimoji="1" lang="zh-CN" altLang="zh-CN" dirty="0">
                <a:solidFill>
                  <a:prstClr val="black"/>
                </a:solidFill>
              </a:rPr>
              <a:t>病毒分类</a:t>
            </a:r>
            <a:endParaRPr lang="zh-CN" altLang="en-US" dirty="0"/>
          </a:p>
        </p:txBody>
      </p:sp>
      <p:sp>
        <p:nvSpPr>
          <p:cNvPr id="3" name="内容占位符 2"/>
          <p:cNvSpPr>
            <a:spLocks noGrp="1"/>
          </p:cNvSpPr>
          <p:nvPr>
            <p:ph idx="1"/>
          </p:nvPr>
        </p:nvSpPr>
        <p:spPr/>
        <p:txBody>
          <a:bodyPr/>
          <a:lstStyle/>
          <a:p>
            <a:r>
              <a:rPr lang="zh-CN" altLang="en-US" dirty="0"/>
              <a:t>按目标分类：</a:t>
            </a:r>
            <a:endParaRPr lang="en-US" altLang="zh-CN" dirty="0"/>
          </a:p>
          <a:p>
            <a:pPr lvl="1"/>
            <a:r>
              <a:rPr lang="zh-CN" altLang="en-US" dirty="0">
                <a:solidFill>
                  <a:srgbClr val="C00000"/>
                </a:solidFill>
              </a:rPr>
              <a:t>引导扇区感染病毒</a:t>
            </a:r>
            <a:r>
              <a:rPr lang="zh-CN" altLang="en-US" dirty="0"/>
              <a:t>：感染主引导记录或其他引导记录，当系统从包含病毒的磁盘启动时，病毒将传播开来。</a:t>
            </a:r>
            <a:endParaRPr lang="en-US" altLang="zh-CN" dirty="0"/>
          </a:p>
          <a:p>
            <a:pPr lvl="1"/>
            <a:r>
              <a:rPr lang="zh-CN" altLang="en-US" dirty="0">
                <a:solidFill>
                  <a:srgbClr val="C00000"/>
                </a:solidFill>
              </a:rPr>
              <a:t>文件感染病毒</a:t>
            </a:r>
            <a:r>
              <a:rPr lang="zh-CN" altLang="en-US" dirty="0"/>
              <a:t>：感染被操作系统或</a:t>
            </a:r>
            <a:r>
              <a:rPr lang="en-US" altLang="zh-CN" dirty="0"/>
              <a:t>Shell</a:t>
            </a:r>
            <a:r>
              <a:rPr lang="zh-CN" altLang="en-US" dirty="0"/>
              <a:t>认为的可执行文件。</a:t>
            </a:r>
            <a:endParaRPr lang="en-US" altLang="zh-CN" dirty="0"/>
          </a:p>
          <a:p>
            <a:pPr lvl="1"/>
            <a:r>
              <a:rPr lang="zh-CN" altLang="en-US" dirty="0">
                <a:solidFill>
                  <a:srgbClr val="C00000"/>
                </a:solidFill>
              </a:rPr>
              <a:t>宏病毒</a:t>
            </a:r>
            <a:r>
              <a:rPr lang="zh-CN" altLang="en-US" dirty="0"/>
              <a:t>：应用程序解释宏代码或脚步代码时感染文件。</a:t>
            </a:r>
            <a:endParaRPr lang="en-US" altLang="zh-CN" dirty="0"/>
          </a:p>
          <a:p>
            <a:pPr lvl="1"/>
            <a:r>
              <a:rPr lang="zh-CN" altLang="en-US" dirty="0">
                <a:solidFill>
                  <a:srgbClr val="C00000"/>
                </a:solidFill>
              </a:rPr>
              <a:t>混合体病毒</a:t>
            </a:r>
            <a:r>
              <a:rPr lang="zh-CN" altLang="en-US" dirty="0"/>
              <a:t>：多种方式感染文件，可以干扰多种类型的文件</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22</a:t>
            </a:fld>
            <a:endParaRPr kumimoji="1" lang="zh-CN" altLang="en-US" dirty="0"/>
          </a:p>
        </p:txBody>
      </p:sp>
    </p:spTree>
    <p:extLst>
      <p:ext uri="{BB962C8B-B14F-4D97-AF65-F5344CB8AC3E}">
        <p14:creationId xmlns:p14="http://schemas.microsoft.com/office/powerpoint/2010/main" val="3162265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10.3.2 </a:t>
            </a:r>
            <a:r>
              <a:rPr kumimoji="1" lang="zh-CN" altLang="zh-CN" dirty="0">
                <a:solidFill>
                  <a:prstClr val="black"/>
                </a:solidFill>
              </a:rPr>
              <a:t>病毒分类</a:t>
            </a:r>
            <a:endParaRPr lang="zh-CN" altLang="en-US" dirty="0"/>
          </a:p>
        </p:txBody>
      </p:sp>
      <p:sp>
        <p:nvSpPr>
          <p:cNvPr id="3" name="内容占位符 2"/>
          <p:cNvSpPr>
            <a:spLocks noGrp="1"/>
          </p:cNvSpPr>
          <p:nvPr>
            <p:ph idx="1"/>
          </p:nvPr>
        </p:nvSpPr>
        <p:spPr>
          <a:xfrm>
            <a:off x="838200" y="1377537"/>
            <a:ext cx="10515600" cy="4857007"/>
          </a:xfrm>
        </p:spPr>
        <p:txBody>
          <a:bodyPr>
            <a:normAutofit lnSpcReduction="10000"/>
          </a:bodyPr>
          <a:lstStyle/>
          <a:p>
            <a:r>
              <a:rPr lang="zh-CN" altLang="en-US" dirty="0"/>
              <a:t>按隐藏策略分类：</a:t>
            </a:r>
            <a:endParaRPr lang="en-US" altLang="zh-CN" dirty="0"/>
          </a:p>
          <a:p>
            <a:pPr lvl="1"/>
            <a:r>
              <a:rPr lang="zh-CN" altLang="en-US" dirty="0">
                <a:solidFill>
                  <a:srgbClr val="C00000"/>
                </a:solidFill>
              </a:rPr>
              <a:t>加密病毒</a:t>
            </a:r>
            <a:r>
              <a:rPr lang="zh-CN" altLang="en-US" dirty="0"/>
              <a:t>：病毒的一部分产生一个随机加密密钥并加密病毒的其他部分。当一个受感染的程序被调用时，病毒用存储的密钥解密该病毒。当病毒被复制时，另选一个不同的随机密钥。每个病毒实例密钥都不同，无法找到固定的位模式。</a:t>
            </a:r>
            <a:endParaRPr lang="en-US" altLang="zh-CN" dirty="0"/>
          </a:p>
          <a:p>
            <a:pPr lvl="1"/>
            <a:r>
              <a:rPr lang="zh-CN" altLang="en-US" dirty="0">
                <a:solidFill>
                  <a:srgbClr val="C00000"/>
                </a:solidFill>
              </a:rPr>
              <a:t>隐形飞机式病毒</a:t>
            </a:r>
            <a:r>
              <a:rPr lang="zh-CN" altLang="en-US" dirty="0"/>
              <a:t>：具有较好的隐蔽性，可以逃避反病毒软件的检测。隐藏的是完整的病毒而非仅仅一个载荷，可以采用诸如压缩之类的代码变形和根工具箱技术实现隐藏目的。</a:t>
            </a:r>
            <a:endParaRPr lang="en-US" altLang="zh-CN" dirty="0"/>
          </a:p>
          <a:p>
            <a:pPr lvl="1"/>
            <a:r>
              <a:rPr lang="zh-CN" altLang="en-US" dirty="0">
                <a:solidFill>
                  <a:srgbClr val="C00000"/>
                </a:solidFill>
              </a:rPr>
              <a:t>多态病毒</a:t>
            </a:r>
            <a:r>
              <a:rPr lang="zh-CN" altLang="en-US" dirty="0"/>
              <a:t>：每次感染都表现为不同的形态，使得通过病毒“签名”来检测的方法无效。</a:t>
            </a:r>
            <a:endParaRPr lang="en-US" altLang="zh-CN" dirty="0"/>
          </a:p>
          <a:p>
            <a:pPr lvl="1"/>
            <a:r>
              <a:rPr lang="zh-CN" altLang="en-US" dirty="0">
                <a:solidFill>
                  <a:srgbClr val="C00000"/>
                </a:solidFill>
              </a:rPr>
              <a:t>变形病毒</a:t>
            </a:r>
            <a:r>
              <a:rPr lang="zh-CN" altLang="en-US" dirty="0"/>
              <a:t>：每次感染也表现为不同形态（可以改变行为，也可以是外观）。不同的是在每次反复的过程中会完全改写自身的代码，增加检测难度</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23</a:t>
            </a:fld>
            <a:endParaRPr kumimoji="1" lang="zh-CN" altLang="en-US" dirty="0"/>
          </a:p>
        </p:txBody>
      </p:sp>
    </p:spTree>
    <p:extLst>
      <p:ext uri="{BB962C8B-B14F-4D97-AF65-F5344CB8AC3E}">
        <p14:creationId xmlns:p14="http://schemas.microsoft.com/office/powerpoint/2010/main" val="3100396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10.3.3 </a:t>
            </a:r>
            <a:r>
              <a:rPr kumimoji="1" lang="zh-CN" altLang="zh-CN" dirty="0">
                <a:solidFill>
                  <a:prstClr val="black"/>
                </a:solidFill>
              </a:rPr>
              <a:t>宏病毒与脚本病毒</a:t>
            </a:r>
            <a:endParaRPr lang="zh-CN" altLang="en-US" dirty="0"/>
          </a:p>
        </p:txBody>
      </p:sp>
      <p:sp>
        <p:nvSpPr>
          <p:cNvPr id="3" name="内容占位符 2"/>
          <p:cNvSpPr>
            <a:spLocks noGrp="1"/>
          </p:cNvSpPr>
          <p:nvPr>
            <p:ph idx="1"/>
          </p:nvPr>
        </p:nvSpPr>
        <p:spPr>
          <a:xfrm>
            <a:off x="838199" y="1389413"/>
            <a:ext cx="10645239" cy="4868883"/>
          </a:xfrm>
        </p:spPr>
        <p:txBody>
          <a:bodyPr>
            <a:normAutofit/>
          </a:bodyPr>
          <a:lstStyle/>
          <a:p>
            <a:r>
              <a:rPr lang="zh-CN" altLang="en-US" dirty="0">
                <a:solidFill>
                  <a:srgbClr val="C00000"/>
                </a:solidFill>
              </a:rPr>
              <a:t>宏病毒（</a:t>
            </a:r>
            <a:r>
              <a:rPr lang="en-US" altLang="zh-CN" dirty="0">
                <a:solidFill>
                  <a:srgbClr val="C00000"/>
                </a:solidFill>
              </a:rPr>
              <a:t>Macro Virus</a:t>
            </a:r>
            <a:r>
              <a:rPr lang="zh-CN" altLang="en-US" dirty="0">
                <a:solidFill>
                  <a:srgbClr val="C00000"/>
                </a:solidFill>
              </a:rPr>
              <a:t>）</a:t>
            </a:r>
          </a:p>
          <a:p>
            <a:pPr lvl="1"/>
            <a:r>
              <a:rPr lang="zh-CN" altLang="en-US" b="1" dirty="0"/>
              <a:t>定义</a:t>
            </a:r>
          </a:p>
          <a:p>
            <a:pPr lvl="2"/>
            <a:r>
              <a:rPr lang="zh-CN" altLang="en-US" sz="2400" dirty="0"/>
              <a:t>利用文档宏（如</a:t>
            </a:r>
            <a:r>
              <a:rPr lang="en-US" altLang="zh-CN" sz="2400" dirty="0"/>
              <a:t>Word</a:t>
            </a:r>
            <a:r>
              <a:rPr lang="zh-CN" altLang="en-US" sz="2400" dirty="0"/>
              <a:t>、</a:t>
            </a:r>
            <a:r>
              <a:rPr lang="en-US" altLang="zh-CN" sz="2400" dirty="0"/>
              <a:t>Excel</a:t>
            </a:r>
            <a:r>
              <a:rPr lang="zh-CN" altLang="en-US" sz="2400" dirty="0"/>
              <a:t>的</a:t>
            </a:r>
            <a:r>
              <a:rPr lang="en-US" altLang="zh-CN" sz="2400" dirty="0"/>
              <a:t>VBA</a:t>
            </a:r>
            <a:r>
              <a:rPr lang="zh-CN" altLang="en-US" sz="2400" dirty="0"/>
              <a:t>宏）编写的病毒，依附于文档或模板传播。</a:t>
            </a:r>
          </a:p>
          <a:p>
            <a:pPr lvl="1"/>
            <a:r>
              <a:rPr lang="zh-CN" altLang="en-US" b="1" dirty="0"/>
              <a:t>特点</a:t>
            </a:r>
          </a:p>
          <a:p>
            <a:pPr lvl="2"/>
            <a:r>
              <a:rPr lang="zh-CN" altLang="en-US" sz="2400" b="1" dirty="0"/>
              <a:t>感染目标</a:t>
            </a:r>
            <a:r>
              <a:rPr lang="zh-CN" altLang="en-US" sz="2400" dirty="0"/>
              <a:t>：主要感染</a:t>
            </a:r>
            <a:r>
              <a:rPr lang="en-US" altLang="zh-CN" sz="2400" dirty="0"/>
              <a:t>Office</a:t>
            </a:r>
            <a:r>
              <a:rPr lang="zh-CN" altLang="en-US" sz="2400" dirty="0"/>
              <a:t>文档（</a:t>
            </a:r>
            <a:r>
              <a:rPr lang="en-US" altLang="zh-CN" sz="2400" dirty="0"/>
              <a:t>.doc</a:t>
            </a:r>
            <a:r>
              <a:rPr lang="zh-CN" altLang="en-US" sz="2400" dirty="0"/>
              <a:t>、</a:t>
            </a:r>
            <a:r>
              <a:rPr lang="en-US" altLang="zh-CN" sz="2400" dirty="0"/>
              <a:t>.</a:t>
            </a:r>
            <a:r>
              <a:rPr lang="en-US" altLang="zh-CN" sz="2400" dirty="0" err="1"/>
              <a:t>xls</a:t>
            </a:r>
            <a:r>
              <a:rPr lang="zh-CN" altLang="en-US" sz="2400" dirty="0"/>
              <a:t>等）或模板文件（</a:t>
            </a:r>
            <a:r>
              <a:rPr lang="en-US" altLang="zh-CN" sz="2400" dirty="0"/>
              <a:t>.dot</a:t>
            </a:r>
            <a:r>
              <a:rPr lang="zh-CN" altLang="en-US" sz="2400" dirty="0"/>
              <a:t>）。</a:t>
            </a:r>
          </a:p>
          <a:p>
            <a:pPr lvl="2"/>
            <a:r>
              <a:rPr lang="zh-CN" altLang="en-US" sz="2400" b="1" dirty="0"/>
              <a:t>传播方式</a:t>
            </a:r>
            <a:r>
              <a:rPr lang="zh-CN" altLang="en-US" sz="2400" dirty="0"/>
              <a:t>：通过共享感染文件（如邮件附件、</a:t>
            </a:r>
            <a:r>
              <a:rPr lang="en-US" altLang="zh-CN" sz="2400" dirty="0"/>
              <a:t>U</a:t>
            </a:r>
            <a:r>
              <a:rPr lang="zh-CN" altLang="en-US" sz="2400" dirty="0"/>
              <a:t>盘）传播。</a:t>
            </a:r>
          </a:p>
          <a:p>
            <a:pPr lvl="2"/>
            <a:r>
              <a:rPr lang="zh-CN" altLang="en-US" sz="2400" b="1" dirty="0"/>
              <a:t>触发条件</a:t>
            </a:r>
            <a:r>
              <a:rPr lang="zh-CN" altLang="en-US" sz="2400" dirty="0"/>
              <a:t>：用户打开文档并启用宏时自动执行。</a:t>
            </a:r>
          </a:p>
          <a:p>
            <a:pPr lvl="2"/>
            <a:r>
              <a:rPr lang="zh-CN" altLang="en-US" sz="2400" b="1" dirty="0"/>
              <a:t>技术依赖</a:t>
            </a:r>
            <a:r>
              <a:rPr lang="zh-CN" altLang="en-US" sz="2400" dirty="0"/>
              <a:t>：依赖</a:t>
            </a:r>
            <a:r>
              <a:rPr lang="en-US" altLang="zh-CN" sz="2400" dirty="0"/>
              <a:t>VBA</a:t>
            </a:r>
            <a:r>
              <a:rPr lang="zh-CN" altLang="en-US" sz="2400" dirty="0"/>
              <a:t>（</a:t>
            </a:r>
            <a:r>
              <a:rPr lang="en-US" altLang="zh-CN" sz="2400" dirty="0"/>
              <a:t>Visual Basic for Applications</a:t>
            </a:r>
            <a:r>
              <a:rPr lang="zh-CN" altLang="en-US" sz="2400" dirty="0"/>
              <a:t>）环境。</a:t>
            </a:r>
          </a:p>
          <a:p>
            <a:pPr lvl="2"/>
            <a:r>
              <a:rPr lang="zh-CN" altLang="en-US" sz="2400" b="1" dirty="0"/>
              <a:t>隐蔽性</a:t>
            </a:r>
            <a:r>
              <a:rPr lang="zh-CN" altLang="en-US" sz="2400" dirty="0"/>
              <a:t>：可能通过自动宏（如</a:t>
            </a:r>
            <a:r>
              <a:rPr lang="en-US" altLang="zh-CN" sz="2400" dirty="0"/>
              <a:t>AutoOpen</a:t>
            </a:r>
            <a:r>
              <a:rPr lang="zh-CN" altLang="en-US" sz="2400" dirty="0"/>
              <a:t>、</a:t>
            </a:r>
            <a:r>
              <a:rPr lang="en-US" altLang="zh-CN" sz="2400" dirty="0" err="1"/>
              <a:t>AutoClose</a:t>
            </a:r>
            <a:r>
              <a:rPr lang="en-US" altLang="zh-CN" sz="2400" dirty="0"/>
              <a:t>)</a:t>
            </a:r>
            <a:r>
              <a:rPr lang="zh-CN" altLang="en-US" sz="2400" dirty="0"/>
              <a:t>静默运行。</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24</a:t>
            </a:fld>
            <a:endParaRPr kumimoji="1" lang="zh-CN" altLang="en-US" dirty="0"/>
          </a:p>
        </p:txBody>
      </p:sp>
    </p:spTree>
    <p:extLst>
      <p:ext uri="{BB962C8B-B14F-4D97-AF65-F5344CB8AC3E}">
        <p14:creationId xmlns:p14="http://schemas.microsoft.com/office/powerpoint/2010/main" val="4167648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10.3.3 </a:t>
            </a:r>
            <a:r>
              <a:rPr kumimoji="1" lang="zh-CN" altLang="zh-CN" dirty="0">
                <a:solidFill>
                  <a:prstClr val="black"/>
                </a:solidFill>
              </a:rPr>
              <a:t>宏病毒与脚本病毒</a:t>
            </a:r>
            <a:endParaRPr lang="zh-CN" altLang="en-US" dirty="0"/>
          </a:p>
        </p:txBody>
      </p:sp>
      <p:sp>
        <p:nvSpPr>
          <p:cNvPr id="3" name="内容占位符 2"/>
          <p:cNvSpPr>
            <a:spLocks noGrp="1"/>
          </p:cNvSpPr>
          <p:nvPr>
            <p:ph idx="1"/>
          </p:nvPr>
        </p:nvSpPr>
        <p:spPr>
          <a:xfrm>
            <a:off x="838199" y="1389413"/>
            <a:ext cx="10645239" cy="4868883"/>
          </a:xfrm>
        </p:spPr>
        <p:txBody>
          <a:bodyPr>
            <a:normAutofit lnSpcReduction="10000"/>
          </a:bodyPr>
          <a:lstStyle/>
          <a:p>
            <a:r>
              <a:rPr lang="zh-CN" altLang="en-US" dirty="0">
                <a:solidFill>
                  <a:srgbClr val="C00000"/>
                </a:solidFill>
              </a:rPr>
              <a:t>脚本病毒（</a:t>
            </a:r>
            <a:r>
              <a:rPr lang="en-US" altLang="zh-CN" dirty="0">
                <a:solidFill>
                  <a:srgbClr val="C00000"/>
                </a:solidFill>
              </a:rPr>
              <a:t>Script Virus</a:t>
            </a:r>
            <a:r>
              <a:rPr lang="zh-CN" altLang="en-US" dirty="0">
                <a:solidFill>
                  <a:srgbClr val="C00000"/>
                </a:solidFill>
              </a:rPr>
              <a:t>）</a:t>
            </a:r>
          </a:p>
          <a:p>
            <a:pPr lvl="1"/>
            <a:r>
              <a:rPr lang="zh-CN" altLang="en-US" b="1" dirty="0"/>
              <a:t>定义</a:t>
            </a:r>
          </a:p>
          <a:p>
            <a:pPr lvl="2"/>
            <a:r>
              <a:rPr lang="zh-CN" altLang="en-US" sz="2400" dirty="0"/>
              <a:t>通过脚本语言（如</a:t>
            </a:r>
            <a:r>
              <a:rPr lang="en-US" altLang="zh-CN" sz="2400" dirty="0"/>
              <a:t>VBScript</a:t>
            </a:r>
            <a:r>
              <a:rPr lang="zh-CN" altLang="en-US" sz="2400" dirty="0"/>
              <a:t>、</a:t>
            </a:r>
            <a:r>
              <a:rPr lang="en-US" altLang="zh-CN" sz="2400" dirty="0"/>
              <a:t>JavaScript</a:t>
            </a:r>
            <a:r>
              <a:rPr lang="zh-CN" altLang="en-US" sz="2400" dirty="0"/>
              <a:t>、</a:t>
            </a:r>
            <a:r>
              <a:rPr lang="en-US" altLang="zh-CN" sz="2400" dirty="0"/>
              <a:t>PowerShell</a:t>
            </a:r>
            <a:r>
              <a:rPr lang="zh-CN" altLang="en-US" sz="2400" dirty="0"/>
              <a:t>）编写的恶意程序，通常独立于文档运行。</a:t>
            </a:r>
          </a:p>
          <a:p>
            <a:pPr lvl="1"/>
            <a:r>
              <a:rPr lang="zh-CN" altLang="en-US" b="1" dirty="0"/>
              <a:t>特点</a:t>
            </a:r>
          </a:p>
          <a:p>
            <a:pPr lvl="2"/>
            <a:r>
              <a:rPr lang="zh-CN" altLang="en-US" sz="2400" b="1" dirty="0"/>
              <a:t>感染目标</a:t>
            </a:r>
            <a:r>
              <a:rPr lang="zh-CN" altLang="en-US" sz="2400" dirty="0"/>
              <a:t>：可感染多种文件（如</a:t>
            </a:r>
            <a:r>
              <a:rPr lang="en-US" altLang="zh-CN" sz="2400" dirty="0"/>
              <a:t>.pdf</a:t>
            </a:r>
            <a:r>
              <a:rPr lang="zh-CN" altLang="en-US" sz="2400" dirty="0"/>
              <a:t>、</a:t>
            </a:r>
            <a:r>
              <a:rPr lang="en-US" altLang="zh-CN" sz="2400" dirty="0"/>
              <a:t>.</a:t>
            </a:r>
            <a:r>
              <a:rPr lang="en-US" altLang="zh-CN" sz="2400" dirty="0" err="1"/>
              <a:t>js</a:t>
            </a:r>
            <a:r>
              <a:rPr lang="zh-CN" altLang="en-US" sz="2400" dirty="0"/>
              <a:t>、</a:t>
            </a:r>
            <a:r>
              <a:rPr lang="en-US" altLang="zh-CN" sz="2400" dirty="0"/>
              <a:t>.</a:t>
            </a:r>
            <a:r>
              <a:rPr lang="en-US" altLang="zh-CN" sz="2400" dirty="0" err="1"/>
              <a:t>vbs</a:t>
            </a:r>
            <a:r>
              <a:rPr lang="zh-CN" altLang="en-US" sz="2400" dirty="0"/>
              <a:t>、</a:t>
            </a:r>
            <a:r>
              <a:rPr lang="en-US" altLang="zh-CN" sz="2400" dirty="0"/>
              <a:t>.ps1</a:t>
            </a:r>
            <a:r>
              <a:rPr lang="zh-CN" altLang="en-US" sz="2400" dirty="0"/>
              <a:t>）或直接攻击系统。</a:t>
            </a:r>
          </a:p>
          <a:p>
            <a:pPr lvl="2"/>
            <a:r>
              <a:rPr lang="zh-CN" altLang="en-US" sz="2400" b="1" dirty="0"/>
              <a:t>传播方式</a:t>
            </a:r>
            <a:r>
              <a:rPr lang="zh-CN" altLang="en-US" sz="2400" dirty="0"/>
              <a:t>：通过邮件、网页、网络共享或漏洞利用传播。</a:t>
            </a:r>
          </a:p>
          <a:p>
            <a:pPr lvl="2"/>
            <a:r>
              <a:rPr lang="zh-CN" altLang="en-US" sz="2400" b="1" dirty="0"/>
              <a:t>触发条件</a:t>
            </a:r>
            <a:r>
              <a:rPr lang="zh-CN" altLang="en-US" sz="2400" dirty="0"/>
              <a:t>：双击脚本文件、访问恶意网页或系统漏洞触发。</a:t>
            </a:r>
          </a:p>
          <a:p>
            <a:pPr lvl="2"/>
            <a:r>
              <a:rPr lang="zh-CN" altLang="en-US" sz="2400" b="1" dirty="0"/>
              <a:t>技术依赖</a:t>
            </a:r>
            <a:r>
              <a:rPr lang="zh-CN" altLang="en-US" sz="2400" dirty="0"/>
              <a:t>：依赖脚本宿主（如</a:t>
            </a:r>
            <a:r>
              <a:rPr lang="en-US" altLang="zh-CN" sz="2400" dirty="0" err="1"/>
              <a:t>WScript</a:t>
            </a:r>
            <a:r>
              <a:rPr lang="zh-CN" altLang="en-US" sz="2400" dirty="0"/>
              <a:t>、浏览器、</a:t>
            </a:r>
            <a:r>
              <a:rPr lang="en-US" altLang="zh-CN" sz="2400" dirty="0"/>
              <a:t>PowerShell</a:t>
            </a:r>
            <a:r>
              <a:rPr lang="zh-CN" altLang="en-US" sz="2400" dirty="0"/>
              <a:t>）。</a:t>
            </a:r>
          </a:p>
          <a:p>
            <a:pPr lvl="2"/>
            <a:r>
              <a:rPr lang="zh-CN" altLang="en-US" sz="2400" b="1" dirty="0"/>
              <a:t>灵活性</a:t>
            </a:r>
            <a:r>
              <a:rPr lang="zh-CN" altLang="en-US" sz="2400" dirty="0"/>
              <a:t>：可直接调用系统</a:t>
            </a:r>
            <a:r>
              <a:rPr lang="en-US" altLang="zh-CN" sz="2400" dirty="0"/>
              <a:t>API</a:t>
            </a:r>
            <a:r>
              <a:rPr lang="zh-CN" altLang="en-US" sz="2400" dirty="0"/>
              <a:t>，破坏力更强（如删除文件、远程控制）。</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25</a:t>
            </a:fld>
            <a:endParaRPr kumimoji="1" lang="zh-CN" altLang="en-US" dirty="0"/>
          </a:p>
        </p:txBody>
      </p:sp>
    </p:spTree>
    <p:extLst>
      <p:ext uri="{BB962C8B-B14F-4D97-AF65-F5344CB8AC3E}">
        <p14:creationId xmlns:p14="http://schemas.microsoft.com/office/powerpoint/2010/main" val="757068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solidFill>
                  <a:srgbClr val="C00000"/>
                </a:solidFill>
              </a:rPr>
              <a:t>10.4 </a:t>
            </a:r>
            <a:r>
              <a:rPr kumimoji="1" lang="zh-CN" altLang="zh-CN" sz="3000" dirty="0">
                <a:solidFill>
                  <a:srgbClr val="C00000"/>
                </a:solidFill>
              </a:rPr>
              <a:t>传播</a:t>
            </a:r>
            <a:r>
              <a:rPr kumimoji="1" lang="en-US" altLang="zh-CN" sz="3000" dirty="0">
                <a:solidFill>
                  <a:srgbClr val="C00000"/>
                </a:solidFill>
              </a:rPr>
              <a:t>-</a:t>
            </a:r>
            <a:r>
              <a:rPr kumimoji="1" lang="zh-CN" altLang="zh-CN" sz="3000" dirty="0">
                <a:solidFill>
                  <a:srgbClr val="C00000"/>
                </a:solidFill>
              </a:rPr>
              <a:t>漏洞利用</a:t>
            </a:r>
            <a:r>
              <a:rPr kumimoji="1" lang="en-US" altLang="zh-CN" sz="3000" dirty="0">
                <a:solidFill>
                  <a:srgbClr val="C00000"/>
                </a:solidFill>
              </a:rPr>
              <a:t>-</a:t>
            </a:r>
            <a:r>
              <a:rPr kumimoji="1" lang="zh-CN" altLang="zh-CN" sz="3000" dirty="0">
                <a:solidFill>
                  <a:srgbClr val="C00000"/>
                </a:solidFill>
              </a:rPr>
              <a:t>蠕虫</a:t>
            </a:r>
            <a:endParaRPr kumimoji="1" lang="en-US" altLang="zh-CN" sz="3000" dirty="0">
              <a:solidFill>
                <a:srgbClr val="C00000"/>
              </a:solidFill>
            </a:endParaRPr>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400" dirty="0">
              <a:solidFill>
                <a:prstClr val="black"/>
              </a:solidFill>
            </a:endParaRPr>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754587" y="1447976"/>
            <a:ext cx="3433948" cy="4667815"/>
          </a:xfrm>
          <a:prstGeom prst="wedgeRectCallout">
            <a:avLst>
              <a:gd name="adj1" fmla="val -150493"/>
              <a:gd name="adj2" fmla="val -199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目标搜寻</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蠕虫传播模式</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莫里斯蠕虫</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蠕虫病毒技术现状</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恶意移动代码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客户端漏洞和网站挂马攻击</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点击劫持</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36756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 </a:t>
            </a:r>
            <a:r>
              <a:rPr lang="zh-CN" altLang="en-US" dirty="0"/>
              <a:t>传播</a:t>
            </a:r>
            <a:r>
              <a:rPr lang="en-US" altLang="zh-CN" dirty="0"/>
              <a:t>-</a:t>
            </a:r>
            <a:r>
              <a:rPr lang="zh-CN" altLang="en-US" dirty="0"/>
              <a:t>漏洞利用</a:t>
            </a:r>
            <a:r>
              <a:rPr lang="en-US" altLang="zh-CN" dirty="0"/>
              <a:t>-</a:t>
            </a:r>
            <a:r>
              <a:rPr lang="zh-CN" altLang="en-US" dirty="0"/>
              <a:t>蠕虫</a:t>
            </a:r>
          </a:p>
        </p:txBody>
      </p:sp>
      <p:sp>
        <p:nvSpPr>
          <p:cNvPr id="3" name="内容占位符 2"/>
          <p:cNvSpPr>
            <a:spLocks noGrp="1"/>
          </p:cNvSpPr>
          <p:nvPr>
            <p:ph idx="1"/>
          </p:nvPr>
        </p:nvSpPr>
        <p:spPr/>
        <p:txBody>
          <a:bodyPr>
            <a:normAutofit lnSpcReduction="10000"/>
          </a:bodyPr>
          <a:lstStyle/>
          <a:p>
            <a:pPr>
              <a:lnSpc>
                <a:spcPct val="150000"/>
              </a:lnSpc>
            </a:pPr>
            <a:r>
              <a:rPr lang="zh-CN" altLang="en-US" dirty="0">
                <a:solidFill>
                  <a:srgbClr val="C00000"/>
                </a:solidFill>
              </a:rPr>
              <a:t>蠕虫病毒</a:t>
            </a:r>
            <a:r>
              <a:rPr lang="en-US" altLang="zh-CN" dirty="0">
                <a:solidFill>
                  <a:srgbClr val="C00000"/>
                </a:solidFill>
              </a:rPr>
              <a:t>(Worm)</a:t>
            </a:r>
            <a:r>
              <a:rPr lang="zh-CN" altLang="en-US" dirty="0"/>
              <a:t>是一种能够自我复制并通过网络传播的恶意软件，与普通病毒不同，它不需要依附于宿主程序就能独立传播。</a:t>
            </a:r>
            <a:endParaRPr lang="en-US" altLang="zh-CN" dirty="0"/>
          </a:p>
          <a:p>
            <a:pPr>
              <a:lnSpc>
                <a:spcPct val="150000"/>
              </a:lnSpc>
            </a:pPr>
            <a:r>
              <a:rPr lang="zh-CN" altLang="en-US" b="1" dirty="0"/>
              <a:t>主要特点</a:t>
            </a:r>
          </a:p>
          <a:p>
            <a:pPr lvl="1">
              <a:lnSpc>
                <a:spcPct val="150000"/>
              </a:lnSpc>
            </a:pPr>
            <a:r>
              <a:rPr lang="zh-CN" altLang="en-US" b="1" dirty="0"/>
              <a:t>自我复制能力</a:t>
            </a:r>
            <a:r>
              <a:rPr lang="zh-CN" altLang="en-US" dirty="0"/>
              <a:t>：能够自动复制自身并通过网络传播</a:t>
            </a:r>
          </a:p>
          <a:p>
            <a:pPr lvl="1">
              <a:lnSpc>
                <a:spcPct val="150000"/>
              </a:lnSpc>
            </a:pPr>
            <a:r>
              <a:rPr lang="zh-CN" altLang="en-US" b="1" dirty="0"/>
              <a:t>独立传播</a:t>
            </a:r>
            <a:r>
              <a:rPr lang="zh-CN" altLang="en-US" dirty="0"/>
              <a:t>：不需要用户执行任何操作即可传播</a:t>
            </a:r>
          </a:p>
          <a:p>
            <a:pPr lvl="1">
              <a:lnSpc>
                <a:spcPct val="150000"/>
              </a:lnSpc>
            </a:pPr>
            <a:r>
              <a:rPr lang="zh-CN" altLang="en-US" b="1" dirty="0"/>
              <a:t>网络利用</a:t>
            </a:r>
            <a:r>
              <a:rPr lang="zh-CN" altLang="en-US" dirty="0"/>
              <a:t>：利用系统漏洞、电子邮件、即时通讯工具等网络途径传播</a:t>
            </a:r>
          </a:p>
          <a:p>
            <a:pPr lvl="1">
              <a:lnSpc>
                <a:spcPct val="150000"/>
              </a:lnSpc>
            </a:pPr>
            <a:r>
              <a:rPr lang="zh-CN" altLang="en-US" b="1" dirty="0"/>
              <a:t>高传播速度</a:t>
            </a:r>
            <a:r>
              <a:rPr lang="zh-CN" altLang="en-US" dirty="0"/>
              <a:t>：可在短时间内感染大量系统</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27</a:t>
            </a:fld>
            <a:endParaRPr kumimoji="1" lang="zh-CN" altLang="en-US" dirty="0"/>
          </a:p>
        </p:txBody>
      </p:sp>
    </p:spTree>
    <p:extLst>
      <p:ext uri="{BB962C8B-B14F-4D97-AF65-F5344CB8AC3E}">
        <p14:creationId xmlns:p14="http://schemas.microsoft.com/office/powerpoint/2010/main" val="379200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 </a:t>
            </a:r>
            <a:r>
              <a:rPr lang="zh-CN" altLang="en-US" dirty="0"/>
              <a:t>传播</a:t>
            </a:r>
            <a:r>
              <a:rPr lang="en-US" altLang="zh-CN" dirty="0"/>
              <a:t>-</a:t>
            </a:r>
            <a:r>
              <a:rPr lang="zh-CN" altLang="en-US" dirty="0"/>
              <a:t>漏洞利用</a:t>
            </a:r>
            <a:r>
              <a:rPr lang="en-US" altLang="zh-CN" dirty="0"/>
              <a:t>-</a:t>
            </a:r>
            <a:r>
              <a:rPr lang="zh-CN" altLang="en-US" dirty="0"/>
              <a:t>蠕虫</a:t>
            </a:r>
          </a:p>
        </p:txBody>
      </p:sp>
      <p:sp>
        <p:nvSpPr>
          <p:cNvPr id="3" name="内容占位符 2"/>
          <p:cNvSpPr>
            <a:spLocks noGrp="1"/>
          </p:cNvSpPr>
          <p:nvPr>
            <p:ph idx="1"/>
          </p:nvPr>
        </p:nvSpPr>
        <p:spPr>
          <a:xfrm>
            <a:off x="838200" y="1389413"/>
            <a:ext cx="10515600" cy="4708039"/>
          </a:xfrm>
        </p:spPr>
        <p:txBody>
          <a:bodyPr>
            <a:normAutofit fontScale="92500" lnSpcReduction="20000"/>
          </a:bodyPr>
          <a:lstStyle/>
          <a:p>
            <a:pPr>
              <a:lnSpc>
                <a:spcPct val="150000"/>
              </a:lnSpc>
            </a:pPr>
            <a:r>
              <a:rPr lang="zh-CN" altLang="en-US" dirty="0">
                <a:solidFill>
                  <a:srgbClr val="C00000"/>
                </a:solidFill>
              </a:rPr>
              <a:t>蠕虫病毒</a:t>
            </a:r>
            <a:r>
              <a:rPr lang="en-US" altLang="zh-CN" dirty="0">
                <a:solidFill>
                  <a:srgbClr val="C00000"/>
                </a:solidFill>
              </a:rPr>
              <a:t>(Worm)</a:t>
            </a:r>
            <a:r>
              <a:rPr lang="zh-CN" altLang="en-US" dirty="0"/>
              <a:t>访问远程系统的方法：</a:t>
            </a:r>
            <a:endParaRPr lang="en-US" altLang="zh-CN" dirty="0"/>
          </a:p>
          <a:p>
            <a:pPr lvl="1">
              <a:lnSpc>
                <a:spcPct val="130000"/>
              </a:lnSpc>
            </a:pPr>
            <a:r>
              <a:rPr lang="zh-CN" altLang="en-US" b="1" dirty="0"/>
              <a:t>电子邮件或即时通信设施</a:t>
            </a:r>
            <a:r>
              <a:rPr lang="zh-CN" altLang="en-US" dirty="0"/>
              <a:t>：借助电子邮件将自身的副本邮寄（附件）给其他系统，在邮件附件接收或打开时运行。</a:t>
            </a:r>
            <a:endParaRPr lang="en-US" altLang="zh-CN" dirty="0"/>
          </a:p>
          <a:p>
            <a:pPr lvl="1">
              <a:lnSpc>
                <a:spcPct val="130000"/>
              </a:lnSpc>
            </a:pPr>
            <a:r>
              <a:rPr lang="zh-CN" altLang="en-US" b="1" dirty="0"/>
              <a:t>文件共享</a:t>
            </a:r>
            <a:r>
              <a:rPr lang="zh-CN" altLang="en-US" dirty="0"/>
              <a:t>：像病毒那样感染</a:t>
            </a:r>
            <a:r>
              <a:rPr lang="en-US" altLang="zh-CN" dirty="0"/>
              <a:t>USB</a:t>
            </a:r>
            <a:r>
              <a:rPr lang="zh-CN" altLang="en-US" dirty="0"/>
              <a:t>驱动之类的可移动媒介中的文件，通过发掘一些软件漏洞以自动运行的机制执行。</a:t>
            </a:r>
            <a:endParaRPr lang="en-US" altLang="zh-CN" dirty="0"/>
          </a:p>
          <a:p>
            <a:pPr lvl="1">
              <a:lnSpc>
                <a:spcPct val="130000"/>
              </a:lnSpc>
            </a:pPr>
            <a:r>
              <a:rPr lang="zh-CN" altLang="en-US" b="1" dirty="0"/>
              <a:t>远程执行功能</a:t>
            </a:r>
            <a:r>
              <a:rPr lang="zh-CN" altLang="en-US" dirty="0"/>
              <a:t>：使用远程可执行工具或利用网络服务中的程序缺陷在其他系统上执行自身的副本。</a:t>
            </a:r>
            <a:endParaRPr lang="en-US" altLang="zh-CN" dirty="0"/>
          </a:p>
          <a:p>
            <a:pPr lvl="1">
              <a:lnSpc>
                <a:spcPct val="130000"/>
              </a:lnSpc>
            </a:pPr>
            <a:r>
              <a:rPr lang="zh-CN" altLang="en-US" b="1" dirty="0"/>
              <a:t>远程文件访问或传输能力</a:t>
            </a:r>
            <a:r>
              <a:rPr lang="zh-CN" altLang="en-US" dirty="0"/>
              <a:t>：利用远程文件访问或远程传输服务将自己复制到其他系统。</a:t>
            </a:r>
            <a:endParaRPr lang="en-US" altLang="zh-CN" dirty="0"/>
          </a:p>
          <a:p>
            <a:pPr lvl="1">
              <a:lnSpc>
                <a:spcPct val="130000"/>
              </a:lnSpc>
            </a:pPr>
            <a:r>
              <a:rPr lang="zh-CN" altLang="en-US" b="1" dirty="0"/>
              <a:t>运程登录能力</a:t>
            </a:r>
            <a:r>
              <a:rPr lang="zh-CN" altLang="en-US" dirty="0"/>
              <a:t>：以用户的身份登录远程系统，并用命令将自身从一个系统复制到其他系统并运行自己。</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28</a:t>
            </a:fld>
            <a:endParaRPr kumimoji="1" lang="zh-CN" altLang="en-US" dirty="0"/>
          </a:p>
        </p:txBody>
      </p:sp>
    </p:spTree>
    <p:extLst>
      <p:ext uri="{BB962C8B-B14F-4D97-AF65-F5344CB8AC3E}">
        <p14:creationId xmlns:p14="http://schemas.microsoft.com/office/powerpoint/2010/main" val="2970238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 </a:t>
            </a:r>
            <a:r>
              <a:rPr lang="zh-CN" altLang="en-US" dirty="0"/>
              <a:t>传播</a:t>
            </a:r>
            <a:r>
              <a:rPr lang="en-US" altLang="zh-CN" dirty="0"/>
              <a:t>-</a:t>
            </a:r>
            <a:r>
              <a:rPr lang="zh-CN" altLang="en-US" dirty="0"/>
              <a:t>漏洞利用</a:t>
            </a:r>
            <a:r>
              <a:rPr lang="en-US" altLang="zh-CN" dirty="0"/>
              <a:t>-</a:t>
            </a:r>
            <a:r>
              <a:rPr lang="zh-CN" altLang="en-US" dirty="0"/>
              <a:t>蠕虫</a:t>
            </a:r>
          </a:p>
        </p:txBody>
      </p:sp>
      <p:sp>
        <p:nvSpPr>
          <p:cNvPr id="3" name="内容占位符 2"/>
          <p:cNvSpPr>
            <a:spLocks noGrp="1"/>
          </p:cNvSpPr>
          <p:nvPr>
            <p:ph idx="1"/>
          </p:nvPr>
        </p:nvSpPr>
        <p:spPr>
          <a:xfrm>
            <a:off x="838200" y="1389413"/>
            <a:ext cx="10515600" cy="4708039"/>
          </a:xfrm>
        </p:spPr>
        <p:txBody>
          <a:bodyPr>
            <a:normAutofit/>
          </a:bodyPr>
          <a:lstStyle/>
          <a:p>
            <a:pPr>
              <a:lnSpc>
                <a:spcPct val="150000"/>
              </a:lnSpc>
            </a:pPr>
            <a:r>
              <a:rPr lang="zh-CN" altLang="en-US" dirty="0">
                <a:solidFill>
                  <a:srgbClr val="C00000"/>
                </a:solidFill>
              </a:rPr>
              <a:t>蠕虫病毒</a:t>
            </a:r>
            <a:r>
              <a:rPr lang="en-US" altLang="zh-CN" dirty="0">
                <a:solidFill>
                  <a:srgbClr val="C00000"/>
                </a:solidFill>
              </a:rPr>
              <a:t>(Worm)</a:t>
            </a:r>
            <a:r>
              <a:rPr lang="zh-CN" altLang="en-US" dirty="0"/>
              <a:t>使用与病毒相同的运行周期：休眠、传播、触发和执行。</a:t>
            </a:r>
            <a:endParaRPr lang="en-US" altLang="zh-CN" dirty="0"/>
          </a:p>
          <a:p>
            <a:pPr>
              <a:lnSpc>
                <a:spcPct val="150000"/>
              </a:lnSpc>
            </a:pPr>
            <a:r>
              <a:rPr lang="zh-CN" altLang="en-US" dirty="0">
                <a:solidFill>
                  <a:srgbClr val="C00000"/>
                </a:solidFill>
              </a:rPr>
              <a:t>传播</a:t>
            </a:r>
            <a:r>
              <a:rPr lang="zh-CN" altLang="en-US" dirty="0"/>
              <a:t>通常执行以下功能：</a:t>
            </a:r>
            <a:endParaRPr lang="en-US" altLang="zh-CN" dirty="0"/>
          </a:p>
          <a:p>
            <a:pPr lvl="1">
              <a:lnSpc>
                <a:spcPct val="150000"/>
              </a:lnSpc>
            </a:pPr>
            <a:r>
              <a:rPr lang="zh-CN" altLang="en-US" dirty="0"/>
              <a:t>检查已感染主机的宿主表、地址簿、好友列表、信任同伴或其他类似的存放远程系统访问细节的相应文件，通过扫描目标地址或可移动媒介，得到感染其他系统的合适访问机制。</a:t>
            </a:r>
            <a:endParaRPr lang="en-US" altLang="zh-CN" dirty="0"/>
          </a:p>
          <a:p>
            <a:pPr lvl="1">
              <a:lnSpc>
                <a:spcPct val="150000"/>
              </a:lnSpc>
            </a:pPr>
            <a:r>
              <a:rPr lang="zh-CN" altLang="en-US" dirty="0"/>
              <a:t>使用合适的访问机制传送自身副本到运程系统并执行。</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29</a:t>
            </a:fld>
            <a:endParaRPr kumimoji="1" lang="zh-CN" altLang="en-US" dirty="0"/>
          </a:p>
        </p:txBody>
      </p:sp>
    </p:spTree>
    <p:extLst>
      <p:ext uri="{BB962C8B-B14F-4D97-AF65-F5344CB8AC3E}">
        <p14:creationId xmlns:p14="http://schemas.microsoft.com/office/powerpoint/2010/main" val="370940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10.4.1 </a:t>
            </a:r>
            <a:r>
              <a:rPr kumimoji="1" lang="zh-CN" altLang="zh-CN" dirty="0">
                <a:solidFill>
                  <a:prstClr val="black"/>
                </a:solidFill>
              </a:rPr>
              <a:t>目标搜寻</a:t>
            </a:r>
            <a:endParaRPr lang="zh-CN" altLang="en-US" dirty="0"/>
          </a:p>
        </p:txBody>
      </p:sp>
      <p:sp>
        <p:nvSpPr>
          <p:cNvPr id="3" name="内容占位符 2"/>
          <p:cNvSpPr>
            <a:spLocks noGrp="1"/>
          </p:cNvSpPr>
          <p:nvPr>
            <p:ph idx="1"/>
          </p:nvPr>
        </p:nvSpPr>
        <p:spPr>
          <a:xfrm>
            <a:off x="838200" y="1510757"/>
            <a:ext cx="10515600" cy="4759413"/>
          </a:xfrm>
        </p:spPr>
        <p:txBody>
          <a:bodyPr>
            <a:normAutofit fontScale="77500" lnSpcReduction="20000"/>
          </a:bodyPr>
          <a:lstStyle/>
          <a:p>
            <a:pPr>
              <a:lnSpc>
                <a:spcPct val="130000"/>
              </a:lnSpc>
            </a:pPr>
            <a:r>
              <a:rPr lang="zh-CN" altLang="en-US" dirty="0"/>
              <a:t>搜索其他可感染系统，这一过程称为</a:t>
            </a:r>
            <a:r>
              <a:rPr lang="zh-CN" altLang="en-US" dirty="0">
                <a:solidFill>
                  <a:srgbClr val="C00000"/>
                </a:solidFill>
              </a:rPr>
              <a:t>扫描或指纹识别</a:t>
            </a:r>
            <a:r>
              <a:rPr lang="zh-CN" altLang="en-US" dirty="0"/>
              <a:t>。</a:t>
            </a:r>
            <a:endParaRPr lang="en-US" altLang="zh-CN" dirty="0"/>
          </a:p>
          <a:p>
            <a:pPr>
              <a:lnSpc>
                <a:spcPct val="130000"/>
              </a:lnSpc>
            </a:pPr>
            <a:r>
              <a:rPr lang="zh-CN" altLang="en-US" dirty="0">
                <a:solidFill>
                  <a:srgbClr val="C00000"/>
                </a:solidFill>
              </a:rPr>
              <a:t>典型步骤</a:t>
            </a:r>
            <a:r>
              <a:rPr lang="zh-CN" altLang="en-US" dirty="0"/>
              <a:t>：蠕虫代码重复扫描过程，直到产生一个巨大的受感染机器组成的分散式网络。</a:t>
            </a:r>
            <a:endParaRPr lang="en-US" altLang="zh-CN" dirty="0"/>
          </a:p>
          <a:p>
            <a:pPr>
              <a:lnSpc>
                <a:spcPct val="130000"/>
              </a:lnSpc>
            </a:pPr>
            <a:r>
              <a:rPr lang="zh-CN" altLang="en-US" dirty="0"/>
              <a:t>可以使用的网络地址扫描策略：</a:t>
            </a:r>
            <a:endParaRPr lang="en-US" altLang="zh-CN" dirty="0"/>
          </a:p>
          <a:p>
            <a:pPr lvl="1">
              <a:lnSpc>
                <a:spcPct val="130000"/>
              </a:lnSpc>
            </a:pPr>
            <a:r>
              <a:rPr lang="zh-CN" altLang="en-US" b="1" dirty="0"/>
              <a:t>随机</a:t>
            </a:r>
            <a:r>
              <a:rPr lang="zh-CN" altLang="en-US" dirty="0"/>
              <a:t>：借助不同的种子探测其</a:t>
            </a:r>
            <a:r>
              <a:rPr lang="en-US" altLang="zh-CN" dirty="0"/>
              <a:t>IP</a:t>
            </a:r>
            <a:r>
              <a:rPr lang="zh-CN" altLang="en-US" dirty="0"/>
              <a:t>地址空间中的随机地址。会产生很大的通信量，甚至会在实际攻击前引起一般意义的系统崩溃。</a:t>
            </a:r>
            <a:endParaRPr lang="en-US" altLang="zh-CN" dirty="0"/>
          </a:p>
          <a:p>
            <a:pPr lvl="1">
              <a:lnSpc>
                <a:spcPct val="130000"/>
              </a:lnSpc>
            </a:pPr>
            <a:r>
              <a:rPr lang="zh-CN" altLang="en-US" b="1" dirty="0"/>
              <a:t>预先生成的目标列表</a:t>
            </a:r>
            <a:r>
              <a:rPr lang="zh-CN" altLang="en-US" dirty="0"/>
              <a:t>：编制一张很长的潜在可攻击计算机列表。攻击者开始感染列表上的计算机，每一台被感染的机器会被分配一部分列表进行扫描，这样可以缩短扫描周期，不易被检测到。</a:t>
            </a:r>
            <a:endParaRPr lang="en-US" altLang="zh-CN" dirty="0"/>
          </a:p>
          <a:p>
            <a:pPr lvl="1">
              <a:lnSpc>
                <a:spcPct val="130000"/>
              </a:lnSpc>
            </a:pPr>
            <a:r>
              <a:rPr lang="zh-CN" altLang="en-US" b="1" dirty="0"/>
              <a:t>内部目标列表</a:t>
            </a:r>
            <a:r>
              <a:rPr lang="zh-CN" altLang="en-US" dirty="0"/>
              <a:t>：使用被感染计算机中包含的信息去寻找更多可扫描主机。</a:t>
            </a:r>
            <a:endParaRPr lang="en-US" altLang="zh-CN" dirty="0"/>
          </a:p>
          <a:p>
            <a:pPr lvl="1">
              <a:lnSpc>
                <a:spcPct val="130000"/>
              </a:lnSpc>
            </a:pPr>
            <a:r>
              <a:rPr lang="zh-CN" altLang="en-US" b="1" dirty="0"/>
              <a:t>本地子网</a:t>
            </a:r>
            <a:r>
              <a:rPr lang="zh-CN" altLang="en-US" dirty="0"/>
              <a:t>：如果被感染主机在防火墙保护之下，则该主机就会在其自身的本地网络中寻找攻击目标，借助子网地址组织结构来寻找其他不能被防火墙保护的主机。</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30</a:t>
            </a:fld>
            <a:endParaRPr kumimoji="1" lang="zh-CN" altLang="en-US" dirty="0"/>
          </a:p>
        </p:txBody>
      </p:sp>
    </p:spTree>
    <p:extLst>
      <p:ext uri="{BB962C8B-B14F-4D97-AF65-F5344CB8AC3E}">
        <p14:creationId xmlns:p14="http://schemas.microsoft.com/office/powerpoint/2010/main" val="2790361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10.4.2 </a:t>
            </a:r>
            <a:r>
              <a:rPr kumimoji="1" lang="zh-CN" altLang="zh-CN" dirty="0">
                <a:solidFill>
                  <a:prstClr val="black"/>
                </a:solidFill>
              </a:rPr>
              <a:t>蠕虫传播模式</a:t>
            </a:r>
            <a:endParaRPr lang="zh-CN" altLang="en-US" dirty="0"/>
          </a:p>
        </p:txBody>
      </p:sp>
      <p:sp>
        <p:nvSpPr>
          <p:cNvPr id="3" name="内容占位符 2"/>
          <p:cNvSpPr>
            <a:spLocks noGrp="1"/>
          </p:cNvSpPr>
          <p:nvPr>
            <p:ph idx="1"/>
          </p:nvPr>
        </p:nvSpPr>
        <p:spPr/>
        <p:txBody>
          <a:bodyPr/>
          <a:lstStyle/>
          <a:p>
            <a:r>
              <a:rPr lang="zh-CN" altLang="en-US" sz="2400" dirty="0"/>
              <a:t>设计精巧的蠕虫可以迅速传播并感染大量计算机。</a:t>
            </a:r>
            <a:endParaRPr lang="en-US" altLang="zh-CN" sz="2400" dirty="0"/>
          </a:p>
          <a:p>
            <a:r>
              <a:rPr lang="zh-CN" altLang="en-US" sz="2400" dirty="0"/>
              <a:t>与生物病毒类似，可以采用经典指数模型描述蠕虫的传播：</a:t>
            </a:r>
            <a:endParaRPr lang="en-US" altLang="zh-CN" sz="2400" dirty="0"/>
          </a:p>
          <a:p>
            <a:endParaRPr lang="en-US" altLang="zh-CN" sz="2400" dirty="0"/>
          </a:p>
          <a:p>
            <a:endParaRPr lang="en-US" altLang="zh-CN" sz="2400" dirty="0"/>
          </a:p>
          <a:p>
            <a:r>
              <a:rPr lang="zh-CN" altLang="en-US" sz="2400" dirty="0"/>
              <a:t>其中：</a:t>
            </a:r>
            <a:endParaRPr lang="en-US" altLang="zh-CN" sz="2400" dirty="0"/>
          </a:p>
          <a:p>
            <a:pPr marL="1371600" lvl="3" indent="0">
              <a:buNone/>
            </a:pPr>
            <a:r>
              <a:rPr lang="en-US" altLang="zh-CN" sz="2400" i="1" dirty="0"/>
              <a:t>I(t)</a:t>
            </a:r>
            <a:r>
              <a:rPr lang="en-US" altLang="zh-CN" sz="2400" dirty="0"/>
              <a:t>=</a:t>
            </a:r>
            <a:r>
              <a:rPr lang="zh-CN" altLang="en-US" sz="2400" dirty="0"/>
              <a:t>在时刻</a:t>
            </a:r>
            <a:r>
              <a:rPr lang="en-US" altLang="zh-CN" sz="2400" dirty="0"/>
              <a:t>t</a:t>
            </a:r>
            <a:r>
              <a:rPr lang="zh-CN" altLang="en-US" sz="2400" dirty="0"/>
              <a:t>时受感染的个体数量</a:t>
            </a:r>
            <a:endParaRPr lang="en-US" altLang="zh-CN" sz="2400" dirty="0"/>
          </a:p>
          <a:p>
            <a:pPr marL="1371600" lvl="3" indent="0">
              <a:buNone/>
            </a:pPr>
            <a:r>
              <a:rPr lang="en-US" altLang="zh-CN" sz="2400" i="1" dirty="0"/>
              <a:t>S(t)</a:t>
            </a:r>
            <a:r>
              <a:rPr lang="en-US" altLang="zh-CN" sz="2400" dirty="0"/>
              <a:t>=</a:t>
            </a:r>
            <a:r>
              <a:rPr lang="zh-CN" altLang="en-US" sz="2400" dirty="0"/>
              <a:t>在时刻</a:t>
            </a:r>
            <a:r>
              <a:rPr lang="en-US" altLang="zh-CN" sz="2400" dirty="0"/>
              <a:t>t</a:t>
            </a:r>
            <a:r>
              <a:rPr lang="zh-CN" altLang="en-US" sz="2400" dirty="0"/>
              <a:t>时易感染的个体数量</a:t>
            </a:r>
            <a:endParaRPr lang="en-US" altLang="zh-CN" sz="2400" dirty="0"/>
          </a:p>
          <a:p>
            <a:pPr marL="1371600" lvl="3" indent="0">
              <a:buNone/>
            </a:pPr>
            <a:r>
              <a:rPr lang="en-US" altLang="zh-CN" sz="2400" i="1" dirty="0"/>
              <a:t>β</a:t>
            </a:r>
            <a:r>
              <a:rPr lang="en-US" altLang="zh-CN" sz="2400" dirty="0"/>
              <a:t>=</a:t>
            </a:r>
            <a:r>
              <a:rPr lang="zh-CN" altLang="en-US" sz="2400" dirty="0"/>
              <a:t>感染率</a:t>
            </a:r>
            <a:endParaRPr lang="en-US" altLang="zh-CN" sz="2400" dirty="0"/>
          </a:p>
          <a:p>
            <a:pPr marL="1371600" lvl="3" indent="0">
              <a:buNone/>
            </a:pPr>
            <a:r>
              <a:rPr lang="en-US" altLang="zh-CN" sz="2400" i="1" dirty="0"/>
              <a:t>N</a:t>
            </a:r>
            <a:r>
              <a:rPr lang="en-US" altLang="zh-CN" sz="2400" dirty="0"/>
              <a:t>=</a:t>
            </a:r>
            <a:r>
              <a:rPr lang="zh-CN" altLang="en-US" sz="2400" dirty="0"/>
              <a:t>总体规模，</a:t>
            </a:r>
            <a:r>
              <a:rPr lang="en-US" altLang="zh-CN" sz="2400" i="1" dirty="0"/>
              <a:t>N=I(t)+S(t)</a:t>
            </a:r>
            <a:endParaRPr lang="zh-CN" altLang="en-US" sz="2400" i="1"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31</a:t>
            </a:fld>
            <a:endParaRPr kumimoji="1" lang="zh-CN" altLang="en-US" dirty="0"/>
          </a:p>
        </p:txBody>
      </p:sp>
      <p:pic>
        <p:nvPicPr>
          <p:cNvPr id="5" name="图片 4"/>
          <p:cNvPicPr>
            <a:picLocks noChangeAspect="1"/>
          </p:cNvPicPr>
          <p:nvPr/>
        </p:nvPicPr>
        <p:blipFill>
          <a:blip r:embed="rId2"/>
          <a:stretch>
            <a:fillRect/>
          </a:stretch>
        </p:blipFill>
        <p:spPr>
          <a:xfrm>
            <a:off x="3766332" y="2444957"/>
            <a:ext cx="2171329" cy="791896"/>
          </a:xfrm>
          <a:prstGeom prst="rect">
            <a:avLst/>
          </a:prstGeom>
        </p:spPr>
      </p:pic>
    </p:spTree>
    <p:extLst>
      <p:ext uri="{BB962C8B-B14F-4D97-AF65-F5344CB8AC3E}">
        <p14:creationId xmlns:p14="http://schemas.microsoft.com/office/powerpoint/2010/main" val="1597472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10.4.2 </a:t>
            </a:r>
            <a:r>
              <a:rPr kumimoji="1" lang="zh-CN" altLang="zh-CN" dirty="0">
                <a:solidFill>
                  <a:prstClr val="black"/>
                </a:solidFill>
              </a:rPr>
              <a:t>蠕虫传播模式</a:t>
            </a:r>
            <a:endParaRPr lang="zh-CN" altLang="en-US" dirty="0"/>
          </a:p>
        </p:txBody>
      </p:sp>
      <p:sp>
        <p:nvSpPr>
          <p:cNvPr id="3" name="内容占位符 2"/>
          <p:cNvSpPr>
            <a:spLocks noGrp="1"/>
          </p:cNvSpPr>
          <p:nvPr>
            <p:ph idx="1"/>
          </p:nvPr>
        </p:nvSpPr>
        <p:spPr>
          <a:xfrm>
            <a:off x="838201" y="1510758"/>
            <a:ext cx="5028210" cy="4586694"/>
          </a:xfrm>
        </p:spPr>
        <p:txBody>
          <a:bodyPr/>
          <a:lstStyle/>
          <a:p>
            <a:pPr>
              <a:lnSpc>
                <a:spcPct val="150000"/>
              </a:lnSpc>
            </a:pPr>
            <a:r>
              <a:rPr lang="zh-CN" altLang="en-US" sz="2400" dirty="0"/>
              <a:t>蠕虫传播模型的动态特性：</a:t>
            </a:r>
            <a:endParaRPr lang="en-US" altLang="zh-CN" sz="2400" dirty="0"/>
          </a:p>
          <a:p>
            <a:pPr lvl="1">
              <a:lnSpc>
                <a:spcPct val="150000"/>
              </a:lnSpc>
            </a:pPr>
            <a:r>
              <a:rPr lang="zh-CN" altLang="en-US" dirty="0"/>
              <a:t>慢速开始阶段</a:t>
            </a:r>
            <a:endParaRPr lang="en-US" altLang="zh-CN" dirty="0"/>
          </a:p>
          <a:p>
            <a:pPr lvl="1">
              <a:lnSpc>
                <a:spcPct val="150000"/>
              </a:lnSpc>
            </a:pPr>
            <a:r>
              <a:rPr lang="zh-CN" altLang="en-US" dirty="0"/>
              <a:t>快速传播阶段</a:t>
            </a:r>
            <a:endParaRPr lang="en-US" altLang="zh-CN" dirty="0"/>
          </a:p>
          <a:p>
            <a:pPr lvl="1">
              <a:lnSpc>
                <a:spcPct val="150000"/>
              </a:lnSpc>
            </a:pPr>
            <a:r>
              <a:rPr lang="zh-CN" altLang="en-US" dirty="0"/>
              <a:t>慢速结束阶段</a:t>
            </a:r>
            <a:endParaRPr lang="en-US" altLang="zh-CN" sz="2800" dirty="0"/>
          </a:p>
          <a:p>
            <a:pPr>
              <a:lnSpc>
                <a:spcPct val="150000"/>
              </a:lnSpc>
            </a:pPr>
            <a:r>
              <a:rPr lang="zh-CN" altLang="en-US" sz="2400" dirty="0"/>
              <a:t>防御蠕虫的目标就是在慢速开始阶段控制蠕虫</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32</a:t>
            </a:fld>
            <a:endParaRPr kumimoji="1" lang="zh-CN" altLang="en-US" dirty="0"/>
          </a:p>
        </p:txBody>
      </p:sp>
      <p:pic>
        <p:nvPicPr>
          <p:cNvPr id="6" name="图片 5"/>
          <p:cNvPicPr>
            <a:picLocks noChangeAspect="1"/>
          </p:cNvPicPr>
          <p:nvPr/>
        </p:nvPicPr>
        <p:blipFill>
          <a:blip r:embed="rId2"/>
          <a:stretch>
            <a:fillRect/>
          </a:stretch>
        </p:blipFill>
        <p:spPr>
          <a:xfrm>
            <a:off x="5956836" y="1575196"/>
            <a:ext cx="5661700" cy="4586694"/>
          </a:xfrm>
          <a:prstGeom prst="rect">
            <a:avLst/>
          </a:prstGeom>
        </p:spPr>
      </p:pic>
    </p:spTree>
    <p:extLst>
      <p:ext uri="{BB962C8B-B14F-4D97-AF65-F5344CB8AC3E}">
        <p14:creationId xmlns:p14="http://schemas.microsoft.com/office/powerpoint/2010/main" val="3391162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10.4.3 </a:t>
            </a:r>
            <a:r>
              <a:rPr kumimoji="1" lang="zh-CN" altLang="zh-CN" dirty="0">
                <a:solidFill>
                  <a:prstClr val="black"/>
                </a:solidFill>
              </a:rPr>
              <a:t>莫里斯蠕虫</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solidFill>
                  <a:srgbClr val="C00000"/>
                </a:solidFill>
              </a:rPr>
              <a:t>莫里斯蠕虫（</a:t>
            </a:r>
            <a:r>
              <a:rPr lang="en-US" altLang="zh-CN" dirty="0">
                <a:solidFill>
                  <a:srgbClr val="C00000"/>
                </a:solidFill>
              </a:rPr>
              <a:t>Morris Worm</a:t>
            </a:r>
            <a:r>
              <a:rPr lang="zh-CN" altLang="en-US" dirty="0">
                <a:solidFill>
                  <a:srgbClr val="C00000"/>
                </a:solidFill>
              </a:rPr>
              <a:t>）</a:t>
            </a:r>
            <a:r>
              <a:rPr lang="zh-CN" altLang="en-US" dirty="0"/>
              <a:t>是</a:t>
            </a:r>
            <a:r>
              <a:rPr lang="zh-CN" altLang="en-US" b="1" dirty="0"/>
              <a:t>历史上第一个大规模传播的互联网蠕虫病毒</a:t>
            </a:r>
            <a:r>
              <a:rPr lang="zh-CN" altLang="en-US" dirty="0"/>
              <a:t>，由</a:t>
            </a:r>
            <a:r>
              <a:rPr lang="zh-CN" altLang="en-US" b="1" dirty="0"/>
              <a:t>康奈尔大学研究生罗伯特</a:t>
            </a:r>
            <a:r>
              <a:rPr lang="en-US" altLang="zh-CN" b="1" dirty="0"/>
              <a:t>·</a:t>
            </a:r>
            <a:r>
              <a:rPr lang="zh-CN" altLang="en-US" b="1" dirty="0"/>
              <a:t>塔潘</a:t>
            </a:r>
            <a:r>
              <a:rPr lang="en-US" altLang="zh-CN" b="1" dirty="0"/>
              <a:t>·</a:t>
            </a:r>
            <a:r>
              <a:rPr lang="zh-CN" altLang="en-US" b="1" dirty="0"/>
              <a:t>莫里斯（</a:t>
            </a:r>
            <a:r>
              <a:rPr lang="en-US" altLang="zh-CN" b="1" dirty="0"/>
              <a:t>Robert Tappan Morris</a:t>
            </a:r>
            <a:r>
              <a:rPr lang="zh-CN" altLang="en-US" b="1" dirty="0"/>
              <a:t>）</a:t>
            </a:r>
            <a:r>
              <a:rPr lang="zh-CN" altLang="en-US" dirty="0"/>
              <a:t>于</a:t>
            </a:r>
            <a:r>
              <a:rPr lang="en-US" altLang="zh-CN" b="1" dirty="0"/>
              <a:t>1988</a:t>
            </a:r>
            <a:r>
              <a:rPr lang="zh-CN" altLang="en-US" b="1" dirty="0"/>
              <a:t>年</a:t>
            </a:r>
            <a:r>
              <a:rPr lang="en-US" altLang="zh-CN" b="1" dirty="0"/>
              <a:t>11</a:t>
            </a:r>
            <a:r>
              <a:rPr lang="zh-CN" altLang="en-US" b="1" dirty="0"/>
              <a:t>月</a:t>
            </a:r>
            <a:r>
              <a:rPr lang="en-US" altLang="zh-CN" b="1" dirty="0"/>
              <a:t>2</a:t>
            </a:r>
            <a:r>
              <a:rPr lang="zh-CN" altLang="en-US" b="1" dirty="0"/>
              <a:t>日</a:t>
            </a:r>
            <a:r>
              <a:rPr lang="zh-CN" altLang="en-US" dirty="0"/>
              <a:t>发布。它并非出于恶意破坏，而是作为实验程序，但由于代码设计缺陷，导致其传播失控，感染了当时约</a:t>
            </a:r>
            <a:r>
              <a:rPr lang="en-US" altLang="zh-CN" dirty="0"/>
              <a:t>10%</a:t>
            </a:r>
            <a:r>
              <a:rPr lang="zh-CN" altLang="en-US" dirty="0"/>
              <a:t>的互联网主机（约</a:t>
            </a:r>
            <a:r>
              <a:rPr lang="en-US" altLang="zh-CN" dirty="0"/>
              <a:t>6000</a:t>
            </a:r>
            <a:r>
              <a:rPr lang="zh-CN" altLang="en-US" dirty="0"/>
              <a:t>台计算机），造成数百万美元的经济损失。</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33</a:t>
            </a:fld>
            <a:endParaRPr kumimoji="1" lang="zh-CN" altLang="en-US" dirty="0"/>
          </a:p>
        </p:txBody>
      </p:sp>
    </p:spTree>
    <p:extLst>
      <p:ext uri="{BB962C8B-B14F-4D97-AF65-F5344CB8AC3E}">
        <p14:creationId xmlns:p14="http://schemas.microsoft.com/office/powerpoint/2010/main" val="1597201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10.4.3 </a:t>
            </a:r>
            <a:r>
              <a:rPr kumimoji="1" lang="zh-CN" altLang="zh-CN" dirty="0">
                <a:solidFill>
                  <a:prstClr val="black"/>
                </a:solidFill>
              </a:rPr>
              <a:t>莫里斯蠕虫</a:t>
            </a:r>
            <a:endParaRPr lang="zh-CN" altLang="en-US" dirty="0"/>
          </a:p>
        </p:txBody>
      </p:sp>
      <p:sp>
        <p:nvSpPr>
          <p:cNvPr id="3" name="内容占位符 2"/>
          <p:cNvSpPr>
            <a:spLocks noGrp="1"/>
          </p:cNvSpPr>
          <p:nvPr>
            <p:ph idx="1"/>
          </p:nvPr>
        </p:nvSpPr>
        <p:spPr>
          <a:xfrm>
            <a:off x="838200" y="1377537"/>
            <a:ext cx="10515600" cy="5011387"/>
          </a:xfrm>
        </p:spPr>
        <p:txBody>
          <a:bodyPr>
            <a:normAutofit/>
          </a:bodyPr>
          <a:lstStyle/>
          <a:p>
            <a:r>
              <a:rPr lang="zh-CN" altLang="en-US" b="1" dirty="0">
                <a:solidFill>
                  <a:srgbClr val="C00000"/>
                </a:solidFill>
              </a:rPr>
              <a:t>技术原理</a:t>
            </a:r>
          </a:p>
          <a:p>
            <a:pPr lvl="1"/>
            <a:r>
              <a:rPr lang="zh-CN" altLang="en-US" dirty="0"/>
              <a:t>莫里斯蠕虫利用了当时</a:t>
            </a:r>
            <a:r>
              <a:rPr lang="en-US" altLang="zh-CN" dirty="0"/>
              <a:t>Unix</a:t>
            </a:r>
            <a:r>
              <a:rPr lang="zh-CN" altLang="en-US" dirty="0"/>
              <a:t>系统的几个关键漏洞进行传播：</a:t>
            </a:r>
          </a:p>
          <a:p>
            <a:pPr lvl="1"/>
            <a:r>
              <a:rPr lang="en-US" altLang="zh-CN" b="1" dirty="0" err="1"/>
              <a:t>Sendmail</a:t>
            </a:r>
            <a:r>
              <a:rPr lang="zh-CN" altLang="en-US" b="1" dirty="0"/>
              <a:t>漏洞</a:t>
            </a:r>
            <a:r>
              <a:rPr lang="zh-CN" altLang="en-US" dirty="0"/>
              <a:t>（邮件服务器软件）</a:t>
            </a:r>
          </a:p>
          <a:p>
            <a:pPr lvl="2"/>
            <a:r>
              <a:rPr lang="zh-CN" altLang="en-US" sz="2200" dirty="0"/>
              <a:t>蠕虫通过</a:t>
            </a:r>
            <a:r>
              <a:rPr lang="en-US" altLang="zh-CN" sz="2200" dirty="0" err="1"/>
              <a:t>Sendmail</a:t>
            </a:r>
            <a:r>
              <a:rPr lang="zh-CN" altLang="en-US" sz="2200" dirty="0"/>
              <a:t>的调试模式（</a:t>
            </a:r>
            <a:r>
              <a:rPr lang="en-US" altLang="zh-CN" sz="2200" dirty="0"/>
              <a:t>DEBUG</a:t>
            </a:r>
            <a:r>
              <a:rPr lang="zh-CN" altLang="en-US" sz="2200" dirty="0"/>
              <a:t>）漏洞执行远程命令。</a:t>
            </a:r>
          </a:p>
          <a:p>
            <a:pPr lvl="1"/>
            <a:r>
              <a:rPr lang="en-US" altLang="zh-CN" b="1" dirty="0" err="1"/>
              <a:t>Fingerd</a:t>
            </a:r>
            <a:r>
              <a:rPr lang="zh-CN" altLang="en-US" b="1" dirty="0"/>
              <a:t>缓冲区溢出漏洞</a:t>
            </a:r>
            <a:r>
              <a:rPr lang="zh-CN" altLang="en-US" dirty="0"/>
              <a:t>（用户信息查询服务）</a:t>
            </a:r>
          </a:p>
          <a:p>
            <a:pPr lvl="2"/>
            <a:r>
              <a:rPr lang="zh-CN" altLang="en-US" sz="2200" dirty="0"/>
              <a:t>蠕虫利用</a:t>
            </a:r>
            <a:r>
              <a:rPr lang="en-US" altLang="zh-CN" sz="2200" dirty="0" err="1"/>
              <a:t>Fingerd</a:t>
            </a:r>
            <a:r>
              <a:rPr lang="zh-CN" altLang="en-US" sz="2200" dirty="0"/>
              <a:t>服务的缓冲区溢出漏洞获取系统控制权。</a:t>
            </a:r>
          </a:p>
          <a:p>
            <a:pPr lvl="1"/>
            <a:r>
              <a:rPr lang="zh-CN" altLang="en-US" b="1" dirty="0"/>
              <a:t>弱密码攻击（</a:t>
            </a:r>
            <a:r>
              <a:rPr lang="en-US" altLang="zh-CN" b="1" dirty="0" err="1"/>
              <a:t>Rsh</a:t>
            </a:r>
            <a:r>
              <a:rPr lang="en-US" altLang="zh-CN" b="1" dirty="0"/>
              <a:t>/Trusted Hosts</a:t>
            </a:r>
            <a:r>
              <a:rPr lang="zh-CN" altLang="en-US" b="1" dirty="0"/>
              <a:t>）</a:t>
            </a:r>
            <a:endParaRPr lang="zh-CN" altLang="en-US" dirty="0"/>
          </a:p>
          <a:p>
            <a:pPr lvl="2"/>
            <a:r>
              <a:rPr lang="zh-CN" altLang="en-US" sz="2200" dirty="0"/>
              <a:t>尝试通过常见弱密码（如空密码、用户名作为密码等）入侵系统。</a:t>
            </a:r>
          </a:p>
          <a:p>
            <a:pPr lvl="1"/>
            <a:r>
              <a:rPr lang="zh-CN" altLang="en-US" b="1" dirty="0"/>
              <a:t>自我复制机制</a:t>
            </a:r>
            <a:endParaRPr lang="zh-CN" altLang="en-US" dirty="0"/>
          </a:p>
          <a:p>
            <a:pPr lvl="2"/>
            <a:r>
              <a:rPr lang="zh-CN" altLang="en-US" sz="2200" dirty="0"/>
              <a:t>蠕虫在感染一台主机后，会扫描网络中的其他主机并尝试传播。</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34</a:t>
            </a:fld>
            <a:endParaRPr kumimoji="1" lang="zh-CN" altLang="en-US" dirty="0"/>
          </a:p>
        </p:txBody>
      </p:sp>
    </p:spTree>
    <p:extLst>
      <p:ext uri="{BB962C8B-B14F-4D97-AF65-F5344CB8AC3E}">
        <p14:creationId xmlns:p14="http://schemas.microsoft.com/office/powerpoint/2010/main" val="3617321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10.4.3 </a:t>
            </a:r>
            <a:r>
              <a:rPr kumimoji="1" lang="zh-CN" altLang="zh-CN" dirty="0">
                <a:solidFill>
                  <a:prstClr val="black"/>
                </a:solidFill>
              </a:rPr>
              <a:t>莫里斯蠕虫</a:t>
            </a:r>
            <a:endParaRPr lang="zh-CN" altLang="en-US" dirty="0"/>
          </a:p>
        </p:txBody>
      </p:sp>
      <p:sp>
        <p:nvSpPr>
          <p:cNvPr id="3" name="内容占位符 2"/>
          <p:cNvSpPr>
            <a:spLocks noGrp="1"/>
          </p:cNvSpPr>
          <p:nvPr>
            <p:ph idx="1"/>
          </p:nvPr>
        </p:nvSpPr>
        <p:spPr>
          <a:xfrm>
            <a:off x="838200" y="1377537"/>
            <a:ext cx="10515600" cy="5011387"/>
          </a:xfrm>
        </p:spPr>
        <p:txBody>
          <a:bodyPr>
            <a:normAutofit/>
          </a:bodyPr>
          <a:lstStyle/>
          <a:p>
            <a:pPr>
              <a:lnSpc>
                <a:spcPct val="150000"/>
              </a:lnSpc>
            </a:pPr>
            <a:r>
              <a:rPr lang="zh-CN" altLang="en-US" b="1" dirty="0">
                <a:solidFill>
                  <a:srgbClr val="C00000"/>
                </a:solidFill>
              </a:rPr>
              <a:t>传播过程</a:t>
            </a:r>
          </a:p>
          <a:p>
            <a:pPr lvl="1">
              <a:lnSpc>
                <a:spcPct val="150000"/>
              </a:lnSpc>
            </a:pPr>
            <a:r>
              <a:rPr lang="zh-CN" altLang="en-US" b="1" dirty="0"/>
              <a:t>初始感染</a:t>
            </a:r>
            <a:r>
              <a:rPr lang="zh-CN" altLang="en-US" dirty="0"/>
              <a:t>：蠕虫从第一台被感染的计算机开始，利用上述漏洞传播。</a:t>
            </a:r>
          </a:p>
          <a:p>
            <a:pPr lvl="1">
              <a:lnSpc>
                <a:spcPct val="150000"/>
              </a:lnSpc>
            </a:pPr>
            <a:r>
              <a:rPr lang="zh-CN" altLang="en-US" b="1" dirty="0"/>
              <a:t>指数级扩散</a:t>
            </a:r>
            <a:r>
              <a:rPr lang="zh-CN" altLang="en-US" dirty="0"/>
              <a:t>：由于莫里斯在代码中设置了</a:t>
            </a:r>
            <a:r>
              <a:rPr lang="zh-CN" altLang="en-US" b="1" dirty="0"/>
              <a:t>高复制率</a:t>
            </a:r>
            <a:r>
              <a:rPr lang="zh-CN" altLang="en-US" dirty="0"/>
              <a:t>（即使已感染的机器仍会被重复感染），导致系统资源被耗尽。</a:t>
            </a:r>
          </a:p>
          <a:p>
            <a:pPr lvl="1">
              <a:lnSpc>
                <a:spcPct val="150000"/>
              </a:lnSpc>
            </a:pPr>
            <a:r>
              <a:rPr lang="zh-CN" altLang="en-US" b="1" dirty="0"/>
              <a:t>网络瘫痪</a:t>
            </a:r>
            <a:r>
              <a:rPr lang="zh-CN" altLang="en-US" dirty="0"/>
              <a:t>：大量计算机因蠕虫占用</a:t>
            </a:r>
            <a:r>
              <a:rPr lang="en-US" altLang="zh-CN" dirty="0"/>
              <a:t>CPU</a:t>
            </a:r>
            <a:r>
              <a:rPr lang="zh-CN" altLang="en-US" dirty="0"/>
              <a:t>和内存而变慢甚至崩溃，整个互联网（当时主要是学术和军事网络）受到影响。</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35</a:t>
            </a:fld>
            <a:endParaRPr kumimoji="1" lang="zh-CN" altLang="en-US" dirty="0"/>
          </a:p>
        </p:txBody>
      </p:sp>
    </p:spTree>
    <p:extLst>
      <p:ext uri="{BB962C8B-B14F-4D97-AF65-F5344CB8AC3E}">
        <p14:creationId xmlns:p14="http://schemas.microsoft.com/office/powerpoint/2010/main" val="330184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10.4.4 </a:t>
            </a:r>
            <a:r>
              <a:rPr kumimoji="1" lang="zh-CN" altLang="zh-CN" dirty="0">
                <a:solidFill>
                  <a:prstClr val="black"/>
                </a:solidFill>
              </a:rPr>
              <a:t>蠕虫病毒技术现状</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dirty="0">
                <a:solidFill>
                  <a:srgbClr val="C00000"/>
                </a:solidFill>
              </a:rPr>
              <a:t>多平台</a:t>
            </a:r>
            <a:r>
              <a:rPr lang="zh-CN" altLang="en-US" dirty="0"/>
              <a:t>：不再局限于</a:t>
            </a:r>
            <a:r>
              <a:rPr lang="en-US" altLang="zh-CN" dirty="0"/>
              <a:t>Windows</a:t>
            </a:r>
            <a:r>
              <a:rPr lang="zh-CN" altLang="en-US" dirty="0"/>
              <a:t>主机，可攻击多样化平台，尤其是</a:t>
            </a:r>
            <a:r>
              <a:rPr lang="en-US" altLang="zh-CN" dirty="0"/>
              <a:t>UNIX</a:t>
            </a:r>
            <a:r>
              <a:rPr lang="zh-CN" altLang="en-US" dirty="0"/>
              <a:t>，或攻击流行文件类型所支持的宏、脚步语言。</a:t>
            </a:r>
            <a:endParaRPr lang="en-US" altLang="zh-CN" dirty="0"/>
          </a:p>
          <a:p>
            <a:pPr>
              <a:lnSpc>
                <a:spcPct val="150000"/>
              </a:lnSpc>
            </a:pPr>
            <a:r>
              <a:rPr lang="zh-CN" altLang="en-US" dirty="0">
                <a:solidFill>
                  <a:srgbClr val="C00000"/>
                </a:solidFill>
              </a:rPr>
              <a:t>多攻击点</a:t>
            </a:r>
            <a:r>
              <a:rPr lang="zh-CN" altLang="en-US" dirty="0"/>
              <a:t>：多种方式入侵系统，包括攻击网络服务器、浏览器、电子邮件、文件共享及其他基于网络的应用，或借助共享媒介。</a:t>
            </a:r>
            <a:endParaRPr lang="en-US" altLang="zh-CN" dirty="0"/>
          </a:p>
          <a:p>
            <a:pPr>
              <a:lnSpc>
                <a:spcPct val="150000"/>
              </a:lnSpc>
            </a:pPr>
            <a:r>
              <a:rPr lang="zh-CN" altLang="en-US" dirty="0">
                <a:solidFill>
                  <a:srgbClr val="C00000"/>
                </a:solidFill>
              </a:rPr>
              <a:t>超速传播</a:t>
            </a:r>
            <a:r>
              <a:rPr lang="zh-CN" altLang="en-US" dirty="0"/>
              <a:t>：利用各种技术优化蠕虫传播速度，在短时间内定位尽可能多的易感对象。</a:t>
            </a:r>
            <a:endParaRPr lang="en-US" altLang="zh-CN" dirty="0"/>
          </a:p>
          <a:p>
            <a:pPr>
              <a:lnSpc>
                <a:spcPct val="150000"/>
              </a:lnSpc>
            </a:pPr>
            <a:r>
              <a:rPr lang="zh-CN" altLang="en-US" dirty="0">
                <a:solidFill>
                  <a:srgbClr val="C00000"/>
                </a:solidFill>
              </a:rPr>
              <a:t>多态</a:t>
            </a:r>
            <a:r>
              <a:rPr lang="zh-CN" altLang="en-US" dirty="0"/>
              <a:t>：为逃避检测，阻止实时分析，采用病毒的多态技术（如加密生成新代码）</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36</a:t>
            </a:fld>
            <a:endParaRPr kumimoji="1" lang="zh-CN" altLang="en-US" dirty="0"/>
          </a:p>
        </p:txBody>
      </p:sp>
    </p:spTree>
    <p:extLst>
      <p:ext uri="{BB962C8B-B14F-4D97-AF65-F5344CB8AC3E}">
        <p14:creationId xmlns:p14="http://schemas.microsoft.com/office/powerpoint/2010/main" val="1112260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10.4.4 </a:t>
            </a:r>
            <a:r>
              <a:rPr kumimoji="1" lang="zh-CN" altLang="zh-CN" dirty="0">
                <a:solidFill>
                  <a:prstClr val="black"/>
                </a:solidFill>
              </a:rPr>
              <a:t>蠕虫病毒技术现状</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dirty="0">
                <a:solidFill>
                  <a:srgbClr val="C00000"/>
                </a:solidFill>
              </a:rPr>
              <a:t>多态</a:t>
            </a:r>
            <a:r>
              <a:rPr lang="zh-CN" altLang="en-US" dirty="0"/>
              <a:t>：为逃避检测，阻止实时分析，采用病毒的多态技术（如加密生成新代码）</a:t>
            </a:r>
            <a:endParaRPr lang="en-US" altLang="zh-CN" dirty="0"/>
          </a:p>
          <a:p>
            <a:pPr>
              <a:lnSpc>
                <a:spcPct val="150000"/>
              </a:lnSpc>
            </a:pPr>
            <a:r>
              <a:rPr lang="zh-CN" altLang="en-US" dirty="0">
                <a:solidFill>
                  <a:srgbClr val="C00000"/>
                </a:solidFill>
              </a:rPr>
              <a:t>变形</a:t>
            </a:r>
            <a:r>
              <a:rPr lang="zh-CN" altLang="en-US" dirty="0"/>
              <a:t>：除改变自身形态外，在复制的不同阶段中释放不同行为模式的指令表。</a:t>
            </a:r>
            <a:endParaRPr lang="en-US" altLang="zh-CN" dirty="0"/>
          </a:p>
          <a:p>
            <a:pPr>
              <a:lnSpc>
                <a:spcPct val="150000"/>
              </a:lnSpc>
            </a:pPr>
            <a:r>
              <a:rPr lang="zh-CN" altLang="en-US" dirty="0">
                <a:solidFill>
                  <a:srgbClr val="C00000"/>
                </a:solidFill>
              </a:rPr>
              <a:t>传输工具</a:t>
            </a:r>
            <a:r>
              <a:rPr lang="zh-CN" altLang="en-US" dirty="0"/>
              <a:t>：传播多种恶意载荷的理想工具，包括</a:t>
            </a:r>
            <a:r>
              <a:rPr lang="en-US" altLang="zh-CN" dirty="0"/>
              <a:t>DDOS</a:t>
            </a:r>
            <a:r>
              <a:rPr lang="zh-CN" altLang="en-US" dirty="0"/>
              <a:t>攻击、</a:t>
            </a:r>
            <a:r>
              <a:rPr lang="en-US" altLang="zh-CN" dirty="0"/>
              <a:t>Rootkit</a:t>
            </a:r>
            <a:r>
              <a:rPr lang="zh-CN" altLang="en-US" dirty="0"/>
              <a:t>、垃圾邮件生成器和间谍软件。</a:t>
            </a:r>
            <a:endParaRPr lang="en-US" altLang="zh-CN" dirty="0"/>
          </a:p>
          <a:p>
            <a:pPr>
              <a:lnSpc>
                <a:spcPct val="150000"/>
              </a:lnSpc>
            </a:pPr>
            <a:r>
              <a:rPr lang="zh-CN" altLang="en-US" dirty="0">
                <a:solidFill>
                  <a:srgbClr val="C00000"/>
                </a:solidFill>
              </a:rPr>
              <a:t>零天攻击</a:t>
            </a:r>
            <a:r>
              <a:rPr lang="zh-CN" altLang="en-US" dirty="0"/>
              <a:t>：为达到最有效的突袭和最广的分布，蠕虫需要攻击不为人知的漏洞。</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37</a:t>
            </a:fld>
            <a:endParaRPr kumimoji="1" lang="zh-CN" altLang="en-US" dirty="0"/>
          </a:p>
        </p:txBody>
      </p:sp>
    </p:spTree>
    <p:extLst>
      <p:ext uri="{BB962C8B-B14F-4D97-AF65-F5344CB8AC3E}">
        <p14:creationId xmlns:p14="http://schemas.microsoft.com/office/powerpoint/2010/main" val="3918114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10.4.5 </a:t>
            </a:r>
            <a:r>
              <a:rPr kumimoji="1" lang="zh-CN" altLang="zh-CN" dirty="0">
                <a:solidFill>
                  <a:prstClr val="black"/>
                </a:solidFill>
              </a:rPr>
              <a:t>恶意移动代码</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solidFill>
                  <a:srgbClr val="C00000"/>
                </a:solidFill>
              </a:rPr>
              <a:t>恶意移动代码（</a:t>
            </a:r>
            <a:r>
              <a:rPr lang="en-US" altLang="zh-CN" dirty="0">
                <a:solidFill>
                  <a:srgbClr val="C00000"/>
                </a:solidFill>
              </a:rPr>
              <a:t>Malicious Mobile Code, MMC</a:t>
            </a:r>
            <a:r>
              <a:rPr lang="zh-CN" altLang="en-US" dirty="0">
                <a:solidFill>
                  <a:srgbClr val="C00000"/>
                </a:solidFill>
              </a:rPr>
              <a:t>）</a:t>
            </a:r>
            <a:r>
              <a:rPr lang="zh-CN" altLang="en-US" dirty="0"/>
              <a:t>是指能够在不同系统间自动传播并执行恶意操作的代码，通常利用网络或可移动存储设备进行传播。</a:t>
            </a:r>
            <a:endParaRPr lang="en-US" altLang="zh-CN" dirty="0"/>
          </a:p>
          <a:p>
            <a:pPr>
              <a:lnSpc>
                <a:spcPct val="150000"/>
              </a:lnSpc>
            </a:pPr>
            <a:r>
              <a:rPr lang="zh-CN" altLang="en-US" dirty="0"/>
              <a:t>与传统的病毒或蠕虫不同，它通常依赖于脚本、宏或嵌入式代码，能够在用户不知情的情况下自动执行。</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38</a:t>
            </a:fld>
            <a:endParaRPr kumimoji="1" lang="zh-CN" altLang="en-US" dirty="0"/>
          </a:p>
        </p:txBody>
      </p:sp>
    </p:spTree>
    <p:extLst>
      <p:ext uri="{BB962C8B-B14F-4D97-AF65-F5344CB8AC3E}">
        <p14:creationId xmlns:p14="http://schemas.microsoft.com/office/powerpoint/2010/main" val="42692534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10.4.5 </a:t>
            </a:r>
            <a:r>
              <a:rPr kumimoji="1" lang="zh-CN" altLang="zh-CN" dirty="0">
                <a:solidFill>
                  <a:prstClr val="black"/>
                </a:solidFill>
              </a:rPr>
              <a:t>恶意移动代码</a:t>
            </a:r>
            <a:endParaRPr lang="zh-CN" altLang="en-US" dirty="0"/>
          </a:p>
        </p:txBody>
      </p:sp>
      <p:sp>
        <p:nvSpPr>
          <p:cNvPr id="3" name="内容占位符 2"/>
          <p:cNvSpPr>
            <a:spLocks noGrp="1"/>
          </p:cNvSpPr>
          <p:nvPr>
            <p:ph idx="1"/>
          </p:nvPr>
        </p:nvSpPr>
        <p:spPr>
          <a:xfrm>
            <a:off x="838200" y="1413163"/>
            <a:ext cx="10515600" cy="4963885"/>
          </a:xfrm>
        </p:spPr>
        <p:txBody>
          <a:bodyPr>
            <a:normAutofit fontScale="92500" lnSpcReduction="10000"/>
          </a:bodyPr>
          <a:lstStyle/>
          <a:p>
            <a:r>
              <a:rPr lang="zh-CN" altLang="en-US" dirty="0"/>
              <a:t>恶意移动代码主要包括以下几类：</a:t>
            </a:r>
          </a:p>
          <a:p>
            <a:pPr lvl="1"/>
            <a:r>
              <a:rPr lang="en-US" altLang="zh-CN" b="1" dirty="0"/>
              <a:t>1. </a:t>
            </a:r>
            <a:r>
              <a:rPr lang="zh-CN" altLang="en-US" b="1" dirty="0"/>
              <a:t>脚本病毒（</a:t>
            </a:r>
            <a:r>
              <a:rPr lang="en-US" altLang="zh-CN" b="1" dirty="0"/>
              <a:t>Script Viruses</a:t>
            </a:r>
            <a:r>
              <a:rPr lang="zh-CN" altLang="en-US" b="1" dirty="0"/>
              <a:t>）</a:t>
            </a:r>
          </a:p>
          <a:p>
            <a:pPr marL="457200" lvl="1" indent="0">
              <a:buNone/>
            </a:pPr>
            <a:r>
              <a:rPr lang="en-US" altLang="zh-CN" dirty="0"/>
              <a:t>	</a:t>
            </a:r>
            <a:r>
              <a:rPr lang="zh-CN" altLang="en-US" dirty="0"/>
              <a:t>通过网页脚本（如</a:t>
            </a:r>
            <a:r>
              <a:rPr lang="en-US" altLang="zh-CN" dirty="0"/>
              <a:t>JavaScript</a:t>
            </a:r>
            <a:r>
              <a:rPr lang="zh-CN" altLang="en-US" dirty="0"/>
              <a:t>、</a:t>
            </a:r>
            <a:r>
              <a:rPr lang="en-US" altLang="zh-CN" dirty="0"/>
              <a:t>VBScript</a:t>
            </a:r>
            <a:r>
              <a:rPr lang="zh-CN" altLang="en-US" dirty="0"/>
              <a:t>）传播。典型例子：</a:t>
            </a:r>
          </a:p>
          <a:p>
            <a:pPr lvl="2"/>
            <a:r>
              <a:rPr lang="en-US" altLang="zh-CN" b="1" dirty="0" err="1"/>
              <a:t>JS.Redirector</a:t>
            </a:r>
            <a:r>
              <a:rPr lang="zh-CN" altLang="en-US" dirty="0"/>
              <a:t>（通过恶意</a:t>
            </a:r>
            <a:r>
              <a:rPr lang="en-US" altLang="zh-CN" dirty="0"/>
              <a:t>JavaScript</a:t>
            </a:r>
            <a:r>
              <a:rPr lang="zh-CN" altLang="en-US" dirty="0"/>
              <a:t>重定向用户到钓鱼网站）</a:t>
            </a:r>
          </a:p>
          <a:p>
            <a:pPr lvl="2"/>
            <a:r>
              <a:rPr lang="en-US" altLang="zh-CN" b="1" dirty="0"/>
              <a:t>VBS/</a:t>
            </a:r>
            <a:r>
              <a:rPr lang="en-US" altLang="zh-CN" b="1" dirty="0" err="1"/>
              <a:t>LoveLetter</a:t>
            </a:r>
            <a:r>
              <a:rPr lang="zh-CN" altLang="en-US" dirty="0"/>
              <a:t>（</a:t>
            </a:r>
            <a:r>
              <a:rPr lang="en-US" altLang="zh-CN" dirty="0"/>
              <a:t>2000</a:t>
            </a:r>
            <a:r>
              <a:rPr lang="zh-CN" altLang="en-US" dirty="0"/>
              <a:t>年的“爱虫”病毒，通过</a:t>
            </a:r>
            <a:r>
              <a:rPr lang="en-US" altLang="zh-CN" dirty="0"/>
              <a:t>VBScript</a:t>
            </a:r>
            <a:r>
              <a:rPr lang="zh-CN" altLang="en-US" dirty="0"/>
              <a:t>传播）</a:t>
            </a:r>
          </a:p>
          <a:p>
            <a:pPr lvl="1"/>
            <a:r>
              <a:rPr lang="en-US" altLang="zh-CN" b="1" dirty="0"/>
              <a:t>2. </a:t>
            </a:r>
            <a:r>
              <a:rPr lang="zh-CN" altLang="en-US" b="1" dirty="0"/>
              <a:t>宏病毒（</a:t>
            </a:r>
            <a:r>
              <a:rPr lang="en-US" altLang="zh-CN" b="1" dirty="0"/>
              <a:t>Macro Viruses</a:t>
            </a:r>
            <a:r>
              <a:rPr lang="zh-CN" altLang="en-US" b="1" dirty="0"/>
              <a:t>）</a:t>
            </a:r>
          </a:p>
          <a:p>
            <a:pPr marL="457200" lvl="1" indent="0">
              <a:buNone/>
            </a:pPr>
            <a:r>
              <a:rPr lang="en-US" altLang="zh-CN" dirty="0"/>
              <a:t>	</a:t>
            </a:r>
            <a:r>
              <a:rPr lang="zh-CN" altLang="en-US" dirty="0"/>
              <a:t>嵌入在</a:t>
            </a:r>
            <a:r>
              <a:rPr lang="en-US" altLang="zh-CN" dirty="0"/>
              <a:t>Office</a:t>
            </a:r>
            <a:r>
              <a:rPr lang="zh-CN" altLang="en-US" dirty="0"/>
              <a:t>文档（</a:t>
            </a:r>
            <a:r>
              <a:rPr lang="en-US" altLang="zh-CN" dirty="0"/>
              <a:t>Word</a:t>
            </a:r>
            <a:r>
              <a:rPr lang="zh-CN" altLang="en-US" dirty="0"/>
              <a:t>、</a:t>
            </a:r>
            <a:r>
              <a:rPr lang="en-US" altLang="zh-CN" dirty="0"/>
              <a:t>Excel</a:t>
            </a:r>
            <a:r>
              <a:rPr lang="zh-CN" altLang="en-US" dirty="0"/>
              <a:t>）中的恶意宏代码。典型例子：</a:t>
            </a:r>
          </a:p>
          <a:p>
            <a:pPr lvl="2"/>
            <a:r>
              <a:rPr lang="en-US" altLang="zh-CN" b="1" dirty="0"/>
              <a:t>Melissa</a:t>
            </a:r>
            <a:r>
              <a:rPr lang="zh-CN" altLang="en-US" b="1" dirty="0"/>
              <a:t>病毒（</a:t>
            </a:r>
            <a:r>
              <a:rPr lang="en-US" altLang="zh-CN" b="1" dirty="0"/>
              <a:t>1999</a:t>
            </a:r>
            <a:r>
              <a:rPr lang="zh-CN" altLang="en-US" b="1" dirty="0"/>
              <a:t>）</a:t>
            </a:r>
            <a:r>
              <a:rPr lang="zh-CN" altLang="en-US" dirty="0"/>
              <a:t>：通过</a:t>
            </a:r>
            <a:r>
              <a:rPr lang="en-US" altLang="zh-CN" dirty="0"/>
              <a:t>Word</a:t>
            </a:r>
            <a:r>
              <a:rPr lang="zh-CN" altLang="en-US" dirty="0"/>
              <a:t>文档传播，自动发送带毒邮件。</a:t>
            </a:r>
          </a:p>
          <a:p>
            <a:pPr lvl="2"/>
            <a:r>
              <a:rPr lang="en-US" altLang="zh-CN" b="1" dirty="0" err="1"/>
              <a:t>Troj</a:t>
            </a:r>
            <a:r>
              <a:rPr lang="en-US" altLang="zh-CN" b="1" dirty="0"/>
              <a:t>/</a:t>
            </a:r>
            <a:r>
              <a:rPr lang="en-US" altLang="zh-CN" b="1" dirty="0" err="1"/>
              <a:t>DocDrop</a:t>
            </a:r>
            <a:r>
              <a:rPr lang="zh-CN" altLang="en-US" dirty="0"/>
              <a:t>：利用恶意宏下载勒索软件。</a:t>
            </a:r>
          </a:p>
          <a:p>
            <a:pPr lvl="1"/>
            <a:r>
              <a:rPr lang="en-US" altLang="zh-CN" b="1" dirty="0"/>
              <a:t>3. </a:t>
            </a:r>
            <a:r>
              <a:rPr lang="zh-CN" altLang="en-US" b="1" dirty="0"/>
              <a:t>蠕虫（</a:t>
            </a:r>
            <a:r>
              <a:rPr lang="en-US" altLang="zh-CN" b="1" dirty="0"/>
              <a:t>Worms</a:t>
            </a:r>
            <a:r>
              <a:rPr lang="zh-CN" altLang="en-US" b="1" dirty="0"/>
              <a:t>）</a:t>
            </a:r>
          </a:p>
          <a:p>
            <a:pPr marL="457200" lvl="1" indent="0">
              <a:buNone/>
            </a:pPr>
            <a:r>
              <a:rPr lang="en-US" altLang="zh-CN" dirty="0"/>
              <a:t>	</a:t>
            </a:r>
            <a:r>
              <a:rPr lang="zh-CN" altLang="en-US" dirty="0"/>
              <a:t>独立运行，通过网络自动传播（如电子邮件、即时通讯工具）。典型例子：</a:t>
            </a:r>
          </a:p>
          <a:p>
            <a:pPr lvl="2"/>
            <a:r>
              <a:rPr lang="en-US" altLang="zh-CN" b="1" dirty="0"/>
              <a:t>ILOVEYOU</a:t>
            </a:r>
            <a:r>
              <a:rPr lang="zh-CN" altLang="en-US" b="1" dirty="0"/>
              <a:t>（</a:t>
            </a:r>
            <a:r>
              <a:rPr lang="en-US" altLang="zh-CN" b="1" dirty="0"/>
              <a:t>2000</a:t>
            </a:r>
            <a:r>
              <a:rPr lang="zh-CN" altLang="en-US" b="1" dirty="0"/>
              <a:t>）</a:t>
            </a:r>
            <a:r>
              <a:rPr lang="zh-CN" altLang="en-US" dirty="0"/>
              <a:t>：通过</a:t>
            </a:r>
            <a:r>
              <a:rPr lang="en-US" altLang="zh-CN" dirty="0"/>
              <a:t>VBS</a:t>
            </a:r>
            <a:r>
              <a:rPr lang="zh-CN" altLang="en-US" dirty="0"/>
              <a:t>脚本传播，造成数十亿损失。</a:t>
            </a:r>
          </a:p>
          <a:p>
            <a:pPr lvl="2"/>
            <a:r>
              <a:rPr lang="en-US" altLang="zh-CN" b="1" dirty="0" err="1"/>
              <a:t>Conficker</a:t>
            </a:r>
            <a:r>
              <a:rPr lang="zh-CN" altLang="en-US" b="1" dirty="0"/>
              <a:t>（</a:t>
            </a:r>
            <a:r>
              <a:rPr lang="en-US" altLang="zh-CN" b="1" dirty="0"/>
              <a:t>2008</a:t>
            </a:r>
            <a:r>
              <a:rPr lang="zh-CN" altLang="en-US" b="1" dirty="0"/>
              <a:t>）</a:t>
            </a:r>
            <a:r>
              <a:rPr lang="zh-CN" altLang="en-US" dirty="0"/>
              <a:t>：利用</a:t>
            </a:r>
            <a:r>
              <a:rPr lang="en-US" altLang="zh-CN" dirty="0"/>
              <a:t>Windows</a:t>
            </a:r>
            <a:r>
              <a:rPr lang="zh-CN" altLang="en-US" dirty="0"/>
              <a:t>漏洞传播。</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39</a:t>
            </a:fld>
            <a:endParaRPr kumimoji="1" lang="zh-CN" altLang="en-US" dirty="0"/>
          </a:p>
        </p:txBody>
      </p:sp>
    </p:spTree>
    <p:extLst>
      <p:ext uri="{BB962C8B-B14F-4D97-AF65-F5344CB8AC3E}">
        <p14:creationId xmlns:p14="http://schemas.microsoft.com/office/powerpoint/2010/main" val="23012254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10.4.5 </a:t>
            </a:r>
            <a:r>
              <a:rPr kumimoji="1" lang="zh-CN" altLang="zh-CN" dirty="0">
                <a:solidFill>
                  <a:prstClr val="black"/>
                </a:solidFill>
              </a:rPr>
              <a:t>恶意移动代码</a:t>
            </a:r>
            <a:endParaRPr lang="zh-CN" altLang="en-US" dirty="0"/>
          </a:p>
        </p:txBody>
      </p:sp>
      <p:sp>
        <p:nvSpPr>
          <p:cNvPr id="3" name="内容占位符 2"/>
          <p:cNvSpPr>
            <a:spLocks noGrp="1"/>
          </p:cNvSpPr>
          <p:nvPr>
            <p:ph idx="1"/>
          </p:nvPr>
        </p:nvSpPr>
        <p:spPr>
          <a:xfrm>
            <a:off x="838200" y="1413163"/>
            <a:ext cx="10515600" cy="4963885"/>
          </a:xfrm>
        </p:spPr>
        <p:txBody>
          <a:bodyPr>
            <a:normAutofit fontScale="92500" lnSpcReduction="10000"/>
          </a:bodyPr>
          <a:lstStyle/>
          <a:p>
            <a:r>
              <a:rPr lang="zh-CN" altLang="en-US" dirty="0"/>
              <a:t>恶意移动代码主要包括以下几类：</a:t>
            </a:r>
          </a:p>
          <a:p>
            <a:pPr lvl="1"/>
            <a:r>
              <a:rPr lang="en-US" altLang="zh-CN" b="1" dirty="0"/>
              <a:t>4. </a:t>
            </a:r>
            <a:r>
              <a:rPr lang="zh-CN" altLang="en-US" b="1" dirty="0"/>
              <a:t>木马下载器（</a:t>
            </a:r>
            <a:r>
              <a:rPr lang="en-US" altLang="zh-CN" b="1" dirty="0"/>
              <a:t>Trojan Downloaders</a:t>
            </a:r>
            <a:r>
              <a:rPr lang="zh-CN" altLang="en-US" b="1" dirty="0"/>
              <a:t>）</a:t>
            </a:r>
          </a:p>
          <a:p>
            <a:pPr marL="457200" lvl="1" indent="0">
              <a:buNone/>
            </a:pPr>
            <a:r>
              <a:rPr lang="en-US" altLang="zh-CN" dirty="0"/>
              <a:t>	</a:t>
            </a:r>
            <a:r>
              <a:rPr lang="zh-CN" altLang="en-US" dirty="0"/>
              <a:t>伪装成合法软件，下载并安装其他恶意程序。典型例子：</a:t>
            </a:r>
          </a:p>
          <a:p>
            <a:pPr lvl="2"/>
            <a:r>
              <a:rPr lang="en-US" altLang="zh-CN" b="1" dirty="0" err="1"/>
              <a:t>Emotet</a:t>
            </a:r>
            <a:r>
              <a:rPr lang="zh-CN" altLang="en-US" dirty="0"/>
              <a:t>（银行木马下载器，通过恶意文档传播）。</a:t>
            </a:r>
          </a:p>
          <a:p>
            <a:pPr lvl="2"/>
            <a:r>
              <a:rPr lang="en-US" altLang="zh-CN" b="1" dirty="0" err="1"/>
              <a:t>TinyBanker</a:t>
            </a:r>
            <a:r>
              <a:rPr lang="zh-CN" altLang="en-US" b="1" dirty="0"/>
              <a:t>（</a:t>
            </a:r>
            <a:r>
              <a:rPr lang="en-US" altLang="zh-CN" b="1" dirty="0" err="1"/>
              <a:t>Tinba</a:t>
            </a:r>
            <a:r>
              <a:rPr lang="zh-CN" altLang="en-US" b="1" dirty="0"/>
              <a:t>）</a:t>
            </a:r>
            <a:r>
              <a:rPr lang="zh-CN" altLang="en-US" dirty="0"/>
              <a:t>：通过网页注入传播。</a:t>
            </a:r>
          </a:p>
          <a:p>
            <a:pPr lvl="1"/>
            <a:r>
              <a:rPr lang="en-US" altLang="zh-CN" b="1" dirty="0"/>
              <a:t>5. </a:t>
            </a:r>
            <a:r>
              <a:rPr lang="zh-CN" altLang="en-US" b="1" dirty="0"/>
              <a:t>漏洞利用（</a:t>
            </a:r>
            <a:r>
              <a:rPr lang="en-US" altLang="zh-CN" b="1" dirty="0"/>
              <a:t>Exploits</a:t>
            </a:r>
            <a:r>
              <a:rPr lang="zh-CN" altLang="en-US" b="1" dirty="0"/>
              <a:t>）</a:t>
            </a:r>
          </a:p>
          <a:p>
            <a:pPr marL="457200" lvl="1" indent="0">
              <a:buNone/>
            </a:pPr>
            <a:r>
              <a:rPr lang="en-US" altLang="zh-CN" dirty="0"/>
              <a:t>	</a:t>
            </a:r>
            <a:r>
              <a:rPr lang="zh-CN" altLang="en-US" dirty="0"/>
              <a:t>利用浏览器或插件（如</a:t>
            </a:r>
            <a:r>
              <a:rPr lang="en-US" altLang="zh-CN" dirty="0"/>
              <a:t>Flash</a:t>
            </a:r>
            <a:r>
              <a:rPr lang="zh-CN" altLang="en-US" dirty="0"/>
              <a:t>、</a:t>
            </a:r>
            <a:r>
              <a:rPr lang="en-US" altLang="zh-CN" dirty="0"/>
              <a:t>Java</a:t>
            </a:r>
            <a:r>
              <a:rPr lang="zh-CN" altLang="en-US" dirty="0"/>
              <a:t>）的漏洞自动执行恶意代码。典型例子：</a:t>
            </a:r>
          </a:p>
          <a:p>
            <a:pPr lvl="2"/>
            <a:r>
              <a:rPr lang="en-US" altLang="zh-CN" b="1" dirty="0"/>
              <a:t>Angler Exploit Kit</a:t>
            </a:r>
            <a:r>
              <a:rPr lang="zh-CN" altLang="en-US" dirty="0"/>
              <a:t>（</a:t>
            </a:r>
            <a:r>
              <a:rPr lang="en-US" altLang="zh-CN" dirty="0"/>
              <a:t>2015</a:t>
            </a:r>
            <a:r>
              <a:rPr lang="zh-CN" altLang="en-US" dirty="0"/>
              <a:t>年流行的漏洞利用工具包）。</a:t>
            </a:r>
          </a:p>
          <a:p>
            <a:pPr lvl="2"/>
            <a:r>
              <a:rPr lang="en-US" altLang="zh-CN" b="1" dirty="0"/>
              <a:t>Zero-day Exploits</a:t>
            </a:r>
            <a:r>
              <a:rPr lang="zh-CN" altLang="en-US" dirty="0"/>
              <a:t>（如</a:t>
            </a:r>
            <a:r>
              <a:rPr lang="en-US" altLang="zh-CN" dirty="0"/>
              <a:t>2021</a:t>
            </a:r>
            <a:r>
              <a:rPr lang="zh-CN" altLang="en-US" dirty="0"/>
              <a:t>年</a:t>
            </a:r>
            <a:r>
              <a:rPr lang="en-US" altLang="zh-CN" dirty="0"/>
              <a:t>Exchange Server</a:t>
            </a:r>
            <a:r>
              <a:rPr lang="zh-CN" altLang="en-US" dirty="0"/>
              <a:t>漏洞攻击）。</a:t>
            </a:r>
          </a:p>
          <a:p>
            <a:pPr lvl="1"/>
            <a:r>
              <a:rPr lang="en-US" altLang="zh-CN" b="1" dirty="0"/>
              <a:t>6. </a:t>
            </a:r>
            <a:r>
              <a:rPr lang="zh-CN" altLang="en-US" b="1" dirty="0"/>
              <a:t>移动端恶意代码（</a:t>
            </a:r>
            <a:r>
              <a:rPr lang="en-US" altLang="zh-CN" b="1" dirty="0"/>
              <a:t>Mobile Malware</a:t>
            </a:r>
            <a:r>
              <a:rPr lang="zh-CN" altLang="en-US" b="1" dirty="0"/>
              <a:t>）</a:t>
            </a:r>
          </a:p>
          <a:p>
            <a:pPr marL="457200" lvl="1" indent="0">
              <a:buNone/>
            </a:pPr>
            <a:r>
              <a:rPr lang="en-US" altLang="zh-CN" dirty="0"/>
              <a:t>	</a:t>
            </a:r>
            <a:r>
              <a:rPr lang="zh-CN" altLang="en-US" dirty="0"/>
              <a:t>针对</a:t>
            </a:r>
            <a:r>
              <a:rPr lang="en-US" altLang="zh-CN" dirty="0"/>
              <a:t>Android/iOS</a:t>
            </a:r>
            <a:r>
              <a:rPr lang="zh-CN" altLang="en-US" dirty="0"/>
              <a:t>的恶意应用或脚本。典型例子：</a:t>
            </a:r>
          </a:p>
          <a:p>
            <a:pPr lvl="2"/>
            <a:r>
              <a:rPr lang="en-US" altLang="zh-CN" b="1" dirty="0"/>
              <a:t>Judy</a:t>
            </a:r>
            <a:r>
              <a:rPr lang="zh-CN" altLang="en-US" b="1" dirty="0"/>
              <a:t>（</a:t>
            </a:r>
            <a:r>
              <a:rPr lang="en-US" altLang="zh-CN" b="1" dirty="0"/>
              <a:t>2017</a:t>
            </a:r>
            <a:r>
              <a:rPr lang="zh-CN" altLang="en-US" b="1" dirty="0"/>
              <a:t>）</a:t>
            </a:r>
            <a:r>
              <a:rPr lang="zh-CN" altLang="en-US" dirty="0"/>
              <a:t>：</a:t>
            </a:r>
            <a:r>
              <a:rPr lang="en-US" altLang="zh-CN" dirty="0"/>
              <a:t>Google Play</a:t>
            </a:r>
            <a:r>
              <a:rPr lang="zh-CN" altLang="en-US" dirty="0"/>
              <a:t>上的恶意广告点击软件。</a:t>
            </a:r>
          </a:p>
          <a:p>
            <a:pPr lvl="2"/>
            <a:r>
              <a:rPr lang="en-US" altLang="zh-CN" b="1" dirty="0"/>
              <a:t>Pegasus</a:t>
            </a:r>
            <a:r>
              <a:rPr lang="zh-CN" altLang="en-US" b="1" dirty="0"/>
              <a:t>间谍软件</a:t>
            </a:r>
            <a:r>
              <a:rPr lang="zh-CN" altLang="en-US" dirty="0"/>
              <a:t>（通过</a:t>
            </a:r>
            <a:r>
              <a:rPr lang="en-US" altLang="zh-CN" dirty="0"/>
              <a:t>0day</a:t>
            </a:r>
            <a:r>
              <a:rPr lang="zh-CN" altLang="en-US" dirty="0"/>
              <a:t>漏洞感染</a:t>
            </a:r>
            <a:r>
              <a:rPr lang="en-US" altLang="zh-CN" dirty="0"/>
              <a:t>iPhone</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40</a:t>
            </a:fld>
            <a:endParaRPr kumimoji="1" lang="zh-CN" altLang="en-US" dirty="0"/>
          </a:p>
        </p:txBody>
      </p:sp>
    </p:spTree>
    <p:extLst>
      <p:ext uri="{BB962C8B-B14F-4D97-AF65-F5344CB8AC3E}">
        <p14:creationId xmlns:p14="http://schemas.microsoft.com/office/powerpoint/2010/main" val="276981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10.4.6 </a:t>
            </a:r>
            <a:r>
              <a:rPr kumimoji="1" lang="zh-CN" altLang="zh-CN" dirty="0">
                <a:solidFill>
                  <a:prstClr val="black"/>
                </a:solidFill>
              </a:rPr>
              <a:t>客户端漏洞和网站挂马攻击</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客户端漏洞和网站挂马攻击是当前网络安全领域的</a:t>
            </a:r>
            <a:r>
              <a:rPr lang="zh-CN" altLang="en-US" dirty="0">
                <a:solidFill>
                  <a:srgbClr val="C00000"/>
                </a:solidFill>
              </a:rPr>
              <a:t>两大主要威胁</a:t>
            </a:r>
            <a:r>
              <a:rPr lang="zh-CN" altLang="en-US" dirty="0"/>
              <a:t>，它们通过不同的技术手段危害用户数据安全和系统稳定性。</a:t>
            </a:r>
            <a:endParaRPr lang="en-US" altLang="zh-CN" dirty="0"/>
          </a:p>
          <a:p>
            <a:pPr>
              <a:lnSpc>
                <a:spcPct val="150000"/>
              </a:lnSpc>
            </a:pPr>
            <a:r>
              <a:rPr lang="zh-CN" altLang="en-US" b="1" dirty="0"/>
              <a:t>客户端漏洞分析</a:t>
            </a:r>
          </a:p>
          <a:p>
            <a:pPr lvl="1">
              <a:lnSpc>
                <a:spcPct val="150000"/>
              </a:lnSpc>
            </a:pPr>
            <a:r>
              <a:rPr lang="zh-CN" altLang="en-US" dirty="0">
                <a:solidFill>
                  <a:srgbClr val="C00000"/>
                </a:solidFill>
              </a:rPr>
              <a:t>客户端漏洞</a:t>
            </a:r>
            <a:r>
              <a:rPr lang="zh-CN" altLang="en-US" dirty="0"/>
              <a:t>是指存在于终端用户设备（如</a:t>
            </a:r>
            <a:r>
              <a:rPr lang="en-US" altLang="zh-CN" dirty="0"/>
              <a:t>PC</a:t>
            </a:r>
            <a:r>
              <a:rPr lang="zh-CN" altLang="en-US" dirty="0"/>
              <a:t>、手机等）上的软件或系统中的安全缺陷，攻击者可以利用这些漏洞执行恶意代码、提升权限或窃取敏感数据。</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41</a:t>
            </a:fld>
            <a:endParaRPr kumimoji="1" lang="zh-CN" altLang="en-US" dirty="0"/>
          </a:p>
        </p:txBody>
      </p:sp>
    </p:spTree>
    <p:extLst>
      <p:ext uri="{BB962C8B-B14F-4D97-AF65-F5344CB8AC3E}">
        <p14:creationId xmlns:p14="http://schemas.microsoft.com/office/powerpoint/2010/main" val="901709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10.4.6 </a:t>
            </a:r>
            <a:r>
              <a:rPr kumimoji="1" lang="zh-CN" altLang="zh-CN" dirty="0">
                <a:solidFill>
                  <a:prstClr val="black"/>
                </a:solidFill>
              </a:rPr>
              <a:t>客户端漏洞和网站挂马攻击</a:t>
            </a:r>
            <a:endParaRPr lang="zh-CN" altLang="en-US" dirty="0"/>
          </a:p>
        </p:txBody>
      </p:sp>
      <p:sp>
        <p:nvSpPr>
          <p:cNvPr id="3" name="内容占位符 2"/>
          <p:cNvSpPr>
            <a:spLocks noGrp="1"/>
          </p:cNvSpPr>
          <p:nvPr>
            <p:ph idx="1"/>
          </p:nvPr>
        </p:nvSpPr>
        <p:spPr>
          <a:xfrm>
            <a:off x="724395" y="1341912"/>
            <a:ext cx="10629405" cy="5091587"/>
          </a:xfrm>
        </p:spPr>
        <p:txBody>
          <a:bodyPr>
            <a:normAutofit fontScale="85000" lnSpcReduction="20000"/>
          </a:bodyPr>
          <a:lstStyle/>
          <a:p>
            <a:pPr>
              <a:lnSpc>
                <a:spcPct val="130000"/>
              </a:lnSpc>
            </a:pPr>
            <a:r>
              <a:rPr lang="zh-CN" altLang="en-US" b="1" dirty="0"/>
              <a:t>常见客户端漏洞类型</a:t>
            </a:r>
          </a:p>
          <a:p>
            <a:pPr lvl="1">
              <a:lnSpc>
                <a:spcPct val="130000"/>
              </a:lnSpc>
            </a:pPr>
            <a:r>
              <a:rPr lang="zh-CN" altLang="en-US" sz="2600" b="1" dirty="0">
                <a:solidFill>
                  <a:srgbClr val="C00000"/>
                </a:solidFill>
              </a:rPr>
              <a:t>命令注入漏洞</a:t>
            </a:r>
            <a:r>
              <a:rPr lang="zh-CN" altLang="en-US" sz="2600" b="1" dirty="0"/>
              <a:t>：</a:t>
            </a:r>
            <a:r>
              <a:rPr lang="zh-CN" altLang="en-US" sz="2600" dirty="0"/>
              <a:t>如</a:t>
            </a:r>
            <a:r>
              <a:rPr lang="en-US" altLang="zh-CN" sz="2600" dirty="0"/>
              <a:t>Cherry Studio</a:t>
            </a:r>
            <a:r>
              <a:rPr lang="zh-CN" altLang="en-US" sz="2600" dirty="0"/>
              <a:t>客户端在处理</a:t>
            </a:r>
            <a:r>
              <a:rPr lang="en-US" altLang="zh-CN" sz="2600" dirty="0"/>
              <a:t>MCP</a:t>
            </a:r>
            <a:r>
              <a:rPr lang="zh-CN" altLang="en-US" sz="2600" dirty="0"/>
              <a:t>服务器连接认证时，未对授权端点</a:t>
            </a:r>
            <a:r>
              <a:rPr lang="en-US" altLang="zh-CN" sz="2600" dirty="0"/>
              <a:t>URL</a:t>
            </a:r>
            <a:r>
              <a:rPr lang="zh-CN" altLang="en-US" sz="2600" dirty="0"/>
              <a:t>进行安全检查，</a:t>
            </a:r>
            <a:r>
              <a:rPr lang="zh-CN" altLang="en-US" sz="2600" dirty="0">
                <a:solidFill>
                  <a:srgbClr val="C00000"/>
                </a:solidFill>
              </a:rPr>
              <a:t>直接将用户输入传递给系统命令执行函数</a:t>
            </a:r>
            <a:r>
              <a:rPr lang="zh-CN" altLang="en-US" sz="2600" dirty="0"/>
              <a:t>，导致攻击者可注入任意命令。这类漏洞通常由于</a:t>
            </a:r>
            <a:r>
              <a:rPr lang="zh-CN" altLang="en-US" sz="2600" dirty="0">
                <a:solidFill>
                  <a:srgbClr val="C00000"/>
                </a:solidFill>
              </a:rPr>
              <a:t>未对用户输入进行充分过滤和验证造成</a:t>
            </a:r>
            <a:r>
              <a:rPr lang="zh-CN" altLang="en-US" sz="2600" dirty="0"/>
              <a:t>。</a:t>
            </a:r>
          </a:p>
          <a:p>
            <a:pPr lvl="1">
              <a:lnSpc>
                <a:spcPct val="130000"/>
              </a:lnSpc>
            </a:pPr>
            <a:r>
              <a:rPr lang="zh-CN" altLang="en-US" sz="2600" b="1" dirty="0">
                <a:solidFill>
                  <a:srgbClr val="C00000"/>
                </a:solidFill>
              </a:rPr>
              <a:t>缓冲区溢出漏洞</a:t>
            </a:r>
            <a:r>
              <a:rPr lang="zh-CN" altLang="en-US" sz="2600" b="1" dirty="0"/>
              <a:t>：</a:t>
            </a:r>
            <a:r>
              <a:rPr lang="zh-CN" altLang="en-US" sz="2600" dirty="0"/>
              <a:t>当程序向固定长度的缓冲区写入超过其容量的数据时，可能导致程序崩溃或执行攻击者提供的恶意代码。如早期</a:t>
            </a:r>
            <a:r>
              <a:rPr lang="en-US" altLang="zh-CN" sz="2600" dirty="0" err="1"/>
              <a:t>Fingerd</a:t>
            </a:r>
            <a:r>
              <a:rPr lang="zh-CN" altLang="en-US" sz="2600" dirty="0"/>
              <a:t>服务就曾因此类漏洞被</a:t>
            </a:r>
            <a:r>
              <a:rPr lang="en-US" altLang="zh-CN" sz="2600" dirty="0"/>
              <a:t>Morris</a:t>
            </a:r>
            <a:r>
              <a:rPr lang="zh-CN" altLang="en-US" sz="2600" dirty="0"/>
              <a:t>蠕虫利用。</a:t>
            </a:r>
          </a:p>
          <a:p>
            <a:pPr lvl="1">
              <a:lnSpc>
                <a:spcPct val="130000"/>
              </a:lnSpc>
            </a:pPr>
            <a:r>
              <a:rPr lang="zh-CN" altLang="en-US" sz="2600" b="1" dirty="0">
                <a:solidFill>
                  <a:srgbClr val="C00000"/>
                </a:solidFill>
              </a:rPr>
              <a:t>权限提升漏洞</a:t>
            </a:r>
            <a:r>
              <a:rPr lang="zh-CN" altLang="en-US" sz="2600" b="1" dirty="0"/>
              <a:t>：</a:t>
            </a:r>
            <a:r>
              <a:rPr lang="zh-CN" altLang="en-US" sz="2600" dirty="0"/>
              <a:t>允许攻击者从普通用户权限提升至管理员权限，完全控制系统。终端端口存在的提权漏洞可使攻击者绕过安全验证机制，在正常流量中掺杂攻击代码。</a:t>
            </a:r>
          </a:p>
          <a:p>
            <a:pPr lvl="1">
              <a:lnSpc>
                <a:spcPct val="130000"/>
              </a:lnSpc>
            </a:pPr>
            <a:r>
              <a:rPr lang="zh-CN" altLang="en-US" sz="2600" b="1" dirty="0">
                <a:solidFill>
                  <a:srgbClr val="C00000"/>
                </a:solidFill>
              </a:rPr>
              <a:t>反序列化漏洞</a:t>
            </a:r>
            <a:r>
              <a:rPr lang="zh-CN" altLang="en-US" sz="2600" b="1" dirty="0"/>
              <a:t>：</a:t>
            </a:r>
            <a:r>
              <a:rPr lang="zh-CN" altLang="en-US" sz="2600" dirty="0"/>
              <a:t>当应用程序反序列化不可信数据时，可能导致任意代码执行。这类漏洞在</a:t>
            </a:r>
            <a:r>
              <a:rPr lang="en-US" altLang="zh-CN" sz="2600" dirty="0"/>
              <a:t>Java</a:t>
            </a:r>
            <a:r>
              <a:rPr lang="zh-CN" altLang="en-US" sz="2600" dirty="0"/>
              <a:t>、</a:t>
            </a:r>
            <a:r>
              <a:rPr lang="en-US" altLang="zh-CN" sz="2600" dirty="0"/>
              <a:t>.NET</a:t>
            </a:r>
            <a:r>
              <a:rPr lang="zh-CN" altLang="en-US" sz="2600" dirty="0"/>
              <a:t>等环境中较为常见。</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42</a:t>
            </a:fld>
            <a:endParaRPr kumimoji="1" lang="zh-CN" altLang="en-US" dirty="0"/>
          </a:p>
        </p:txBody>
      </p:sp>
    </p:spTree>
    <p:extLst>
      <p:ext uri="{BB962C8B-B14F-4D97-AF65-F5344CB8AC3E}">
        <p14:creationId xmlns:p14="http://schemas.microsoft.com/office/powerpoint/2010/main" val="2510010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10.4.6 </a:t>
            </a:r>
            <a:r>
              <a:rPr kumimoji="1" lang="zh-CN" altLang="zh-CN" dirty="0">
                <a:solidFill>
                  <a:prstClr val="black"/>
                </a:solidFill>
              </a:rPr>
              <a:t>客户端漏洞和网站挂马攻击</a:t>
            </a:r>
            <a:endParaRPr lang="zh-CN" altLang="en-US" dirty="0"/>
          </a:p>
        </p:txBody>
      </p:sp>
      <p:sp>
        <p:nvSpPr>
          <p:cNvPr id="3" name="内容占位符 2"/>
          <p:cNvSpPr>
            <a:spLocks noGrp="1"/>
          </p:cNvSpPr>
          <p:nvPr>
            <p:ph idx="1"/>
          </p:nvPr>
        </p:nvSpPr>
        <p:spPr>
          <a:xfrm>
            <a:off x="724395" y="1341912"/>
            <a:ext cx="10629405" cy="5091587"/>
          </a:xfrm>
        </p:spPr>
        <p:txBody>
          <a:bodyPr>
            <a:normAutofit fontScale="92500"/>
          </a:bodyPr>
          <a:lstStyle/>
          <a:p>
            <a:pPr>
              <a:lnSpc>
                <a:spcPct val="150000"/>
              </a:lnSpc>
            </a:pPr>
            <a:r>
              <a:rPr lang="zh-CN" altLang="en-US" b="1" dirty="0"/>
              <a:t>网站挂马攻击解析</a:t>
            </a:r>
          </a:p>
          <a:p>
            <a:pPr lvl="1">
              <a:lnSpc>
                <a:spcPct val="150000"/>
              </a:lnSpc>
            </a:pPr>
            <a:r>
              <a:rPr lang="zh-CN" altLang="en-US" dirty="0">
                <a:solidFill>
                  <a:srgbClr val="C00000"/>
                </a:solidFill>
              </a:rPr>
              <a:t>网站挂马</a:t>
            </a:r>
            <a:r>
              <a:rPr lang="zh-CN" altLang="en-US" dirty="0"/>
              <a:t>是指攻击者通过各种手段在</a:t>
            </a:r>
            <a:r>
              <a:rPr lang="zh-CN" altLang="en-US" dirty="0">
                <a:solidFill>
                  <a:srgbClr val="C00000"/>
                </a:solidFill>
              </a:rPr>
              <a:t>合法网站中植入恶意代码</a:t>
            </a:r>
            <a:r>
              <a:rPr lang="zh-CN" altLang="en-US" dirty="0"/>
              <a:t>，当用户访问这些网站时，恶意代码会在用户不知情的情况下</a:t>
            </a:r>
            <a:r>
              <a:rPr lang="zh-CN" altLang="en-US" dirty="0">
                <a:solidFill>
                  <a:srgbClr val="C00000"/>
                </a:solidFill>
              </a:rPr>
              <a:t>下载并执行</a:t>
            </a:r>
            <a:r>
              <a:rPr lang="zh-CN" altLang="en-US" dirty="0"/>
              <a:t>，从而感染用户设备。</a:t>
            </a:r>
          </a:p>
          <a:p>
            <a:pPr>
              <a:lnSpc>
                <a:spcPct val="150000"/>
              </a:lnSpc>
            </a:pPr>
            <a:r>
              <a:rPr lang="zh-CN" altLang="en-US" dirty="0"/>
              <a:t>挂马通常采用以下技术手段：</a:t>
            </a:r>
          </a:p>
          <a:p>
            <a:pPr lvl="1">
              <a:lnSpc>
                <a:spcPct val="150000"/>
              </a:lnSpc>
            </a:pPr>
            <a:r>
              <a:rPr lang="en-US" altLang="zh-CN" b="1" dirty="0">
                <a:solidFill>
                  <a:srgbClr val="C00000"/>
                </a:solidFill>
              </a:rPr>
              <a:t>iframe</a:t>
            </a:r>
            <a:r>
              <a:rPr lang="zh-CN" altLang="en-US" b="1" dirty="0">
                <a:solidFill>
                  <a:srgbClr val="C00000"/>
                </a:solidFill>
              </a:rPr>
              <a:t>注入</a:t>
            </a:r>
            <a:r>
              <a:rPr lang="zh-CN" altLang="en-US" dirty="0"/>
              <a:t>：在网页中嵌入隐藏的</a:t>
            </a:r>
            <a:r>
              <a:rPr lang="en-US" altLang="zh-CN" dirty="0"/>
              <a:t>iframe</a:t>
            </a:r>
            <a:r>
              <a:rPr lang="zh-CN" altLang="en-US" dirty="0"/>
              <a:t>加载恶意内容</a:t>
            </a:r>
          </a:p>
          <a:p>
            <a:pPr lvl="1">
              <a:lnSpc>
                <a:spcPct val="150000"/>
              </a:lnSpc>
            </a:pPr>
            <a:r>
              <a:rPr lang="en-US" altLang="zh-CN" b="1" dirty="0">
                <a:solidFill>
                  <a:srgbClr val="C00000"/>
                </a:solidFill>
              </a:rPr>
              <a:t>JavaScript</a:t>
            </a:r>
            <a:r>
              <a:rPr lang="zh-CN" altLang="en-US" b="1" dirty="0">
                <a:solidFill>
                  <a:srgbClr val="C00000"/>
                </a:solidFill>
              </a:rPr>
              <a:t>恶意脚本</a:t>
            </a:r>
            <a:r>
              <a:rPr lang="zh-CN" altLang="en-US" dirty="0"/>
              <a:t>：通过脚本下载并执行恶意程序</a:t>
            </a:r>
          </a:p>
          <a:p>
            <a:pPr lvl="1">
              <a:lnSpc>
                <a:spcPct val="150000"/>
              </a:lnSpc>
            </a:pPr>
            <a:r>
              <a:rPr lang="zh-CN" altLang="en-US" b="1" dirty="0">
                <a:solidFill>
                  <a:srgbClr val="C00000"/>
                </a:solidFill>
              </a:rPr>
              <a:t>漏洞利用工具包</a:t>
            </a:r>
            <a:r>
              <a:rPr lang="zh-CN" altLang="en-US" dirty="0"/>
              <a:t>：如</a:t>
            </a:r>
            <a:r>
              <a:rPr lang="en-US" altLang="zh-CN" dirty="0"/>
              <a:t>Angler Exploit Kit</a:t>
            </a:r>
            <a:r>
              <a:rPr lang="zh-CN" altLang="en-US" dirty="0"/>
              <a:t>等，自动检测并利用客户端漏洞</a:t>
            </a:r>
          </a:p>
          <a:p>
            <a:pPr lvl="1">
              <a:lnSpc>
                <a:spcPct val="150000"/>
              </a:lnSpc>
            </a:pPr>
            <a:r>
              <a:rPr lang="zh-CN" altLang="en-US" b="1" dirty="0">
                <a:solidFill>
                  <a:srgbClr val="C00000"/>
                </a:solidFill>
              </a:rPr>
              <a:t>社交工程</a:t>
            </a:r>
            <a:r>
              <a:rPr lang="zh-CN" altLang="en-US" dirty="0"/>
              <a:t>：伪装成正常下载诱导用户主动执行恶意文件</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43</a:t>
            </a:fld>
            <a:endParaRPr kumimoji="1" lang="zh-CN" altLang="en-US" dirty="0"/>
          </a:p>
        </p:txBody>
      </p:sp>
    </p:spTree>
    <p:extLst>
      <p:ext uri="{BB962C8B-B14F-4D97-AF65-F5344CB8AC3E}">
        <p14:creationId xmlns:p14="http://schemas.microsoft.com/office/powerpoint/2010/main" val="37475882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10.4.6 </a:t>
            </a:r>
            <a:r>
              <a:rPr kumimoji="1" lang="zh-CN" altLang="zh-CN" dirty="0">
                <a:solidFill>
                  <a:prstClr val="black"/>
                </a:solidFill>
              </a:rPr>
              <a:t>客户端漏洞和网站挂马攻击</a:t>
            </a:r>
            <a:endParaRPr lang="zh-CN" altLang="en-US" dirty="0"/>
          </a:p>
        </p:txBody>
      </p:sp>
      <p:sp>
        <p:nvSpPr>
          <p:cNvPr id="3" name="内容占位符 2"/>
          <p:cNvSpPr>
            <a:spLocks noGrp="1"/>
          </p:cNvSpPr>
          <p:nvPr>
            <p:ph idx="1"/>
          </p:nvPr>
        </p:nvSpPr>
        <p:spPr>
          <a:xfrm>
            <a:off x="724395" y="1341912"/>
            <a:ext cx="10629405" cy="5091587"/>
          </a:xfrm>
        </p:spPr>
        <p:txBody>
          <a:bodyPr>
            <a:normAutofit lnSpcReduction="10000"/>
          </a:bodyPr>
          <a:lstStyle/>
          <a:p>
            <a:pPr>
              <a:lnSpc>
                <a:spcPct val="120000"/>
              </a:lnSpc>
            </a:pPr>
            <a:r>
              <a:rPr lang="zh-CN" altLang="en-US" b="1" dirty="0"/>
              <a:t>挂马攻击的主要方式</a:t>
            </a:r>
          </a:p>
          <a:p>
            <a:pPr lvl="1">
              <a:lnSpc>
                <a:spcPct val="120000"/>
              </a:lnSpc>
            </a:pPr>
            <a:r>
              <a:rPr lang="zh-CN" altLang="en-US" b="1" dirty="0">
                <a:solidFill>
                  <a:srgbClr val="C00000"/>
                </a:solidFill>
              </a:rPr>
              <a:t>服务器直接入侵</a:t>
            </a:r>
            <a:r>
              <a:rPr lang="zh-CN" altLang="en-US" b="1" dirty="0"/>
              <a:t>：</a:t>
            </a:r>
            <a:r>
              <a:rPr lang="zh-CN" altLang="en-US" dirty="0"/>
              <a:t>攻击者入侵网站源服务器直接修改网页内容，插入恶意脚本。所有访问该网站的用户都会受到影响。这种情况通常被称为</a:t>
            </a:r>
            <a:r>
              <a:rPr lang="en-US" altLang="zh-CN" dirty="0"/>
              <a:t>"</a:t>
            </a:r>
            <a:r>
              <a:rPr lang="zh-CN" altLang="en-US" dirty="0"/>
              <a:t>服务器被黑</a:t>
            </a:r>
            <a:r>
              <a:rPr lang="en-US" altLang="zh-CN" dirty="0"/>
              <a:t>"</a:t>
            </a:r>
            <a:r>
              <a:rPr lang="zh-CN" altLang="en-US" dirty="0"/>
              <a:t>。</a:t>
            </a:r>
          </a:p>
          <a:p>
            <a:pPr lvl="1">
              <a:lnSpc>
                <a:spcPct val="120000"/>
              </a:lnSpc>
            </a:pPr>
            <a:r>
              <a:rPr lang="zh-CN" altLang="en-US" b="1" dirty="0">
                <a:solidFill>
                  <a:srgbClr val="C00000"/>
                </a:solidFill>
              </a:rPr>
              <a:t>中间人攻击</a:t>
            </a:r>
            <a:r>
              <a:rPr lang="zh-CN" altLang="en-US" b="1" dirty="0"/>
              <a:t>：</a:t>
            </a:r>
            <a:r>
              <a:rPr lang="zh-CN" altLang="en-US" dirty="0"/>
              <a:t>在客户端与服务器之间的通信链路（如</a:t>
            </a:r>
            <a:r>
              <a:rPr lang="en-US" altLang="zh-CN" dirty="0"/>
              <a:t>ISP</a:t>
            </a:r>
            <a:r>
              <a:rPr lang="zh-CN" altLang="en-US" dirty="0"/>
              <a:t>网络）中注入恶意代码。表现为特定地区或网络环境的用户访问网站时发现挂马，而其他用户正常。</a:t>
            </a:r>
          </a:p>
          <a:p>
            <a:pPr lvl="1">
              <a:lnSpc>
                <a:spcPct val="120000"/>
              </a:lnSpc>
            </a:pPr>
            <a:r>
              <a:rPr lang="zh-CN" altLang="en-US" b="1" dirty="0">
                <a:solidFill>
                  <a:srgbClr val="C00000"/>
                </a:solidFill>
              </a:rPr>
              <a:t>镜像服务器劫持</a:t>
            </a:r>
            <a:r>
              <a:rPr lang="zh-CN" altLang="en-US" b="1" dirty="0"/>
              <a:t>：</a:t>
            </a:r>
            <a:r>
              <a:rPr lang="zh-CN" altLang="en-US" dirty="0"/>
              <a:t>攻击者入侵网站镜像服务器或机房内其他主机，通过</a:t>
            </a:r>
            <a:r>
              <a:rPr lang="en-US" altLang="zh-CN" dirty="0"/>
              <a:t>ARP</a:t>
            </a:r>
            <a:r>
              <a:rPr lang="zh-CN" altLang="en-US" dirty="0"/>
              <a:t>欺骗等手段将篡改后的内容提供给用户。</a:t>
            </a:r>
          </a:p>
          <a:p>
            <a:pPr lvl="1">
              <a:lnSpc>
                <a:spcPct val="120000"/>
              </a:lnSpc>
            </a:pPr>
            <a:r>
              <a:rPr lang="zh-CN" altLang="en-US" b="1" dirty="0">
                <a:solidFill>
                  <a:srgbClr val="C00000"/>
                </a:solidFill>
              </a:rPr>
              <a:t>第三方组件漏洞利用</a:t>
            </a:r>
            <a:r>
              <a:rPr lang="zh-CN" altLang="en-US" b="1" dirty="0"/>
              <a:t>：</a:t>
            </a:r>
            <a:r>
              <a:rPr lang="zh-CN" altLang="en-US" dirty="0"/>
              <a:t>利用网站使用的第三方插件、库或广告系统的漏洞注入恶意代码。</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44</a:t>
            </a:fld>
            <a:endParaRPr kumimoji="1" lang="zh-CN" altLang="en-US" dirty="0"/>
          </a:p>
        </p:txBody>
      </p:sp>
    </p:spTree>
    <p:extLst>
      <p:ext uri="{BB962C8B-B14F-4D97-AF65-F5344CB8AC3E}">
        <p14:creationId xmlns:p14="http://schemas.microsoft.com/office/powerpoint/2010/main" val="2203346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10.4.7 </a:t>
            </a:r>
            <a:r>
              <a:rPr kumimoji="1" lang="zh-CN" altLang="zh-CN" dirty="0">
                <a:solidFill>
                  <a:prstClr val="black"/>
                </a:solidFill>
              </a:rPr>
              <a:t>点击劫持</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dirty="0">
                <a:solidFill>
                  <a:srgbClr val="C00000"/>
                </a:solidFill>
              </a:rPr>
              <a:t>点击劫持（</a:t>
            </a:r>
            <a:r>
              <a:rPr lang="en-US" altLang="zh-CN" dirty="0">
                <a:solidFill>
                  <a:srgbClr val="C00000"/>
                </a:solidFill>
              </a:rPr>
              <a:t>Clickjacking</a:t>
            </a:r>
            <a:r>
              <a:rPr lang="zh-CN" altLang="en-US" dirty="0">
                <a:solidFill>
                  <a:srgbClr val="C00000"/>
                </a:solidFill>
              </a:rPr>
              <a:t>，又称</a:t>
            </a:r>
            <a:r>
              <a:rPr lang="en-US" altLang="zh-CN" dirty="0">
                <a:solidFill>
                  <a:srgbClr val="C00000"/>
                </a:solidFill>
              </a:rPr>
              <a:t>UI</a:t>
            </a:r>
            <a:r>
              <a:rPr lang="zh-CN" altLang="en-US" dirty="0">
                <a:solidFill>
                  <a:srgbClr val="C00000"/>
                </a:solidFill>
              </a:rPr>
              <a:t>伪装攻击）</a:t>
            </a:r>
            <a:r>
              <a:rPr lang="zh-CN" altLang="en-US" dirty="0"/>
              <a:t>是一种</a:t>
            </a:r>
            <a:r>
              <a:rPr lang="zh-CN" altLang="en-US" b="1" dirty="0"/>
              <a:t>视觉欺骗技术</a:t>
            </a:r>
            <a:r>
              <a:rPr lang="zh-CN" altLang="en-US" dirty="0"/>
              <a:t>，攻击者通过</a:t>
            </a:r>
            <a:r>
              <a:rPr lang="zh-CN" altLang="en-US" b="1" dirty="0"/>
              <a:t>透明或伪装的页面层</a:t>
            </a:r>
            <a:r>
              <a:rPr lang="zh-CN" altLang="en-US" dirty="0"/>
              <a:t>，诱使用户在不知情的情况下点击恶意操作。例如，用户以为自己点击的是普通按钮，实际上触发了隐藏的恶意功能（如转账、授权、下载恶意软件等）。</a:t>
            </a:r>
            <a:endParaRPr lang="en-US" altLang="zh-CN" dirty="0"/>
          </a:p>
          <a:p>
            <a:pPr>
              <a:lnSpc>
                <a:spcPct val="150000"/>
              </a:lnSpc>
            </a:pPr>
            <a:r>
              <a:rPr lang="zh-CN" altLang="en-US" b="1" dirty="0">
                <a:solidFill>
                  <a:srgbClr val="C00000"/>
                </a:solidFill>
              </a:rPr>
              <a:t>攻击原理</a:t>
            </a:r>
            <a:r>
              <a:rPr lang="zh-CN" altLang="en-US" b="1" dirty="0"/>
              <a:t>：</a:t>
            </a:r>
            <a:r>
              <a:rPr lang="zh-CN" altLang="en-US" dirty="0"/>
              <a:t>点击劫持的核心是利用</a:t>
            </a:r>
            <a:r>
              <a:rPr lang="en-US" altLang="zh-CN" b="1" dirty="0"/>
              <a:t>HTML/CSS</a:t>
            </a:r>
            <a:r>
              <a:rPr lang="zh-CN" altLang="en-US" b="1" dirty="0"/>
              <a:t>技术</a:t>
            </a:r>
            <a:r>
              <a:rPr lang="zh-CN" altLang="en-US" dirty="0"/>
              <a:t>，将恶意页面（如</a:t>
            </a:r>
            <a:r>
              <a:rPr lang="en-US" altLang="zh-CN" dirty="0"/>
              <a:t>iframe</a:t>
            </a:r>
            <a:r>
              <a:rPr lang="zh-CN" altLang="en-US" dirty="0"/>
              <a:t>）</a:t>
            </a:r>
            <a:r>
              <a:rPr lang="zh-CN" altLang="en-US" b="1" dirty="0"/>
              <a:t>透明化</a:t>
            </a:r>
            <a:r>
              <a:rPr lang="zh-CN" altLang="en-US" dirty="0"/>
              <a:t>并覆盖在诱饵页面上，诱导用户点击看似无害的元素（如</a:t>
            </a:r>
            <a:r>
              <a:rPr lang="en-US" altLang="zh-CN" dirty="0"/>
              <a:t>"</a:t>
            </a:r>
            <a:r>
              <a:rPr lang="zh-CN" altLang="en-US" dirty="0"/>
              <a:t>播放视频</a:t>
            </a:r>
            <a:r>
              <a:rPr lang="en-US" altLang="zh-CN" dirty="0"/>
              <a:t>"</a:t>
            </a:r>
            <a:r>
              <a:rPr lang="zh-CN" altLang="en-US" dirty="0"/>
              <a:t>按钮），实际上点击的是隐藏的恶意操作（如</a:t>
            </a:r>
            <a:r>
              <a:rPr lang="en-US" altLang="zh-CN" dirty="0"/>
              <a:t>"</a:t>
            </a:r>
            <a:r>
              <a:rPr lang="zh-CN" altLang="en-US" dirty="0"/>
              <a:t>确认转账</a:t>
            </a:r>
            <a:r>
              <a:rPr lang="en-US" altLang="zh-CN" dirty="0"/>
              <a:t>"</a:t>
            </a:r>
            <a:r>
              <a:rPr lang="zh-CN" altLang="en-US" dirty="0"/>
              <a:t>按钮）。</a:t>
            </a:r>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45</a:t>
            </a:fld>
            <a:endParaRPr kumimoji="1" lang="zh-CN" altLang="en-US" dirty="0"/>
          </a:p>
        </p:txBody>
      </p:sp>
    </p:spTree>
    <p:extLst>
      <p:ext uri="{BB962C8B-B14F-4D97-AF65-F5344CB8AC3E}">
        <p14:creationId xmlns:p14="http://schemas.microsoft.com/office/powerpoint/2010/main" val="20477129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10.4.7 </a:t>
            </a:r>
            <a:r>
              <a:rPr kumimoji="1" lang="zh-CN" altLang="zh-CN" dirty="0">
                <a:solidFill>
                  <a:prstClr val="black"/>
                </a:solidFill>
              </a:rPr>
              <a:t>点击劫持</a:t>
            </a:r>
            <a:endParaRPr lang="zh-CN" altLang="en-US" dirty="0"/>
          </a:p>
        </p:txBody>
      </p:sp>
      <p:sp>
        <p:nvSpPr>
          <p:cNvPr id="3" name="内容占位符 2"/>
          <p:cNvSpPr>
            <a:spLocks noGrp="1"/>
          </p:cNvSpPr>
          <p:nvPr>
            <p:ph idx="1"/>
          </p:nvPr>
        </p:nvSpPr>
        <p:spPr>
          <a:xfrm>
            <a:off x="700644" y="1244213"/>
            <a:ext cx="10913424" cy="5025958"/>
          </a:xfrm>
        </p:spPr>
        <p:txBody>
          <a:bodyPr>
            <a:normAutofit fontScale="92500"/>
          </a:bodyPr>
          <a:lstStyle/>
          <a:p>
            <a:pPr>
              <a:lnSpc>
                <a:spcPct val="120000"/>
              </a:lnSpc>
            </a:pPr>
            <a:r>
              <a:rPr lang="zh-CN" altLang="en-US" dirty="0">
                <a:solidFill>
                  <a:srgbClr val="C00000"/>
                </a:solidFill>
              </a:rPr>
              <a:t>技术实现方式</a:t>
            </a:r>
          </a:p>
          <a:p>
            <a:pPr lvl="1">
              <a:lnSpc>
                <a:spcPct val="120000"/>
              </a:lnSpc>
            </a:pPr>
            <a:r>
              <a:rPr lang="en-US" altLang="zh-CN" dirty="0">
                <a:solidFill>
                  <a:srgbClr val="C00000"/>
                </a:solidFill>
              </a:rPr>
              <a:t>iframe</a:t>
            </a:r>
            <a:r>
              <a:rPr lang="zh-CN" altLang="en-US" dirty="0">
                <a:solidFill>
                  <a:srgbClr val="C00000"/>
                </a:solidFill>
              </a:rPr>
              <a:t>透明层覆盖</a:t>
            </a:r>
          </a:p>
          <a:p>
            <a:pPr marL="457200" lvl="1" indent="0">
              <a:lnSpc>
                <a:spcPct val="120000"/>
              </a:lnSpc>
              <a:buNone/>
            </a:pPr>
            <a:r>
              <a:rPr lang="en-US" altLang="zh-CN" sz="2200" dirty="0"/>
              <a:t>&lt;iframe </a:t>
            </a:r>
            <a:r>
              <a:rPr lang="en-US" altLang="zh-CN" sz="2200" dirty="0" err="1"/>
              <a:t>src</a:t>
            </a:r>
            <a:r>
              <a:rPr lang="en-US" altLang="zh-CN" sz="2200" dirty="0"/>
              <a:t>="</a:t>
            </a:r>
            <a:r>
              <a:rPr lang="zh-CN" altLang="en-US" sz="2200" dirty="0"/>
              <a:t>恶意网站</a:t>
            </a:r>
            <a:r>
              <a:rPr lang="en-US" altLang="zh-CN" sz="2200" dirty="0"/>
              <a:t>" style="opacity:0;position:absolute;top:0;left:0;"&gt;&lt;/iframe&gt;</a:t>
            </a:r>
          </a:p>
          <a:p>
            <a:pPr marL="457200" lvl="1" indent="0">
              <a:lnSpc>
                <a:spcPct val="120000"/>
              </a:lnSpc>
              <a:buNone/>
            </a:pPr>
            <a:r>
              <a:rPr lang="en-US" altLang="zh-CN" dirty="0"/>
              <a:t>	</a:t>
            </a:r>
            <a:r>
              <a:rPr lang="zh-CN" altLang="en-US" dirty="0"/>
              <a:t>攻击者将恶意网站嵌入透明</a:t>
            </a:r>
            <a:r>
              <a:rPr lang="en-US" altLang="zh-CN" dirty="0"/>
              <a:t>iframe</a:t>
            </a:r>
            <a:r>
              <a:rPr lang="zh-CN" altLang="en-US" dirty="0"/>
              <a:t>，覆盖在诱饵页面上。</a:t>
            </a:r>
          </a:p>
          <a:p>
            <a:pPr lvl="1">
              <a:lnSpc>
                <a:spcPct val="120000"/>
              </a:lnSpc>
            </a:pPr>
            <a:r>
              <a:rPr lang="en-US" altLang="zh-CN" dirty="0">
                <a:solidFill>
                  <a:srgbClr val="C00000"/>
                </a:solidFill>
              </a:rPr>
              <a:t>CSS z-index</a:t>
            </a:r>
            <a:r>
              <a:rPr lang="zh-CN" altLang="en-US" dirty="0">
                <a:solidFill>
                  <a:srgbClr val="C00000"/>
                </a:solidFill>
              </a:rPr>
              <a:t>控制层级</a:t>
            </a:r>
          </a:p>
          <a:p>
            <a:pPr marL="457200" lvl="1" indent="0">
              <a:lnSpc>
                <a:spcPct val="120000"/>
              </a:lnSpc>
              <a:buNone/>
            </a:pPr>
            <a:r>
              <a:rPr lang="en-US" altLang="zh-CN" dirty="0">
                <a:solidFill>
                  <a:srgbClr val="C00000"/>
                </a:solidFill>
              </a:rPr>
              <a:t>	</a:t>
            </a:r>
            <a:r>
              <a:rPr lang="en-US" altLang="zh-CN" dirty="0" err="1"/>
              <a:t>Css</a:t>
            </a:r>
            <a:r>
              <a:rPr lang="zh-CN" altLang="en-US" dirty="0"/>
              <a:t>：</a:t>
            </a:r>
            <a:r>
              <a:rPr lang="en-US" altLang="zh-CN" dirty="0"/>
              <a:t>#malicious-button { position: fixed;  top: 100px;  left: 200px;</a:t>
            </a:r>
          </a:p>
          <a:p>
            <a:pPr marL="457200" lvl="1" indent="0">
              <a:lnSpc>
                <a:spcPct val="120000"/>
              </a:lnSpc>
              <a:buNone/>
            </a:pPr>
            <a:r>
              <a:rPr lang="en-US" altLang="zh-CN" dirty="0"/>
              <a:t>	    z-index: 9999;   opacity: 0.01;   }</a:t>
            </a:r>
          </a:p>
          <a:p>
            <a:pPr marL="457200" lvl="1" indent="0">
              <a:lnSpc>
                <a:spcPct val="120000"/>
              </a:lnSpc>
              <a:buNone/>
            </a:pPr>
            <a:r>
              <a:rPr lang="en-US" altLang="zh-CN" dirty="0"/>
              <a:t>	</a:t>
            </a:r>
            <a:r>
              <a:rPr lang="zh-CN" altLang="en-US" dirty="0"/>
              <a:t>通过</a:t>
            </a:r>
            <a:r>
              <a:rPr lang="en-US" altLang="zh-CN" dirty="0"/>
              <a:t>z-index</a:t>
            </a:r>
            <a:r>
              <a:rPr lang="zh-CN" altLang="en-US" dirty="0"/>
              <a:t>使恶意按钮位于可见元素之上，但几乎透明。</a:t>
            </a:r>
          </a:p>
          <a:p>
            <a:pPr lvl="1">
              <a:lnSpc>
                <a:spcPct val="120000"/>
              </a:lnSpc>
            </a:pPr>
            <a:r>
              <a:rPr lang="zh-CN" altLang="en-US" dirty="0">
                <a:solidFill>
                  <a:srgbClr val="C00000"/>
                </a:solidFill>
              </a:rPr>
              <a:t>鼠标事件劫持</a:t>
            </a:r>
          </a:p>
          <a:p>
            <a:pPr marL="457200" lvl="1" indent="0">
              <a:lnSpc>
                <a:spcPct val="120000"/>
              </a:lnSpc>
              <a:buNone/>
            </a:pPr>
            <a:r>
              <a:rPr lang="en-US" altLang="zh-CN" dirty="0">
                <a:solidFill>
                  <a:srgbClr val="C00000"/>
                </a:solidFill>
              </a:rPr>
              <a:t>	</a:t>
            </a:r>
            <a:r>
              <a:rPr lang="zh-CN" altLang="en-US" dirty="0"/>
              <a:t>使用</a:t>
            </a:r>
            <a:r>
              <a:rPr lang="en-US" altLang="zh-CN" dirty="0"/>
              <a:t>pointer-events: none</a:t>
            </a:r>
            <a:r>
              <a:rPr lang="zh-CN" altLang="en-US" dirty="0"/>
              <a:t>或</a:t>
            </a:r>
            <a:r>
              <a:rPr lang="en-US" altLang="zh-CN" dirty="0"/>
              <a:t>JavaScript</a:t>
            </a:r>
            <a:r>
              <a:rPr lang="zh-CN" altLang="en-US" dirty="0"/>
              <a:t>劫持点击事件，强制用户操作恶意界面。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46</a:t>
            </a:fld>
            <a:endParaRPr kumimoji="1" lang="zh-CN" altLang="en-US" dirty="0"/>
          </a:p>
        </p:txBody>
      </p:sp>
    </p:spTree>
    <p:extLst>
      <p:ext uri="{BB962C8B-B14F-4D97-AF65-F5344CB8AC3E}">
        <p14:creationId xmlns:p14="http://schemas.microsoft.com/office/powerpoint/2010/main" val="2367690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10.4.7 </a:t>
            </a:r>
            <a:r>
              <a:rPr kumimoji="1" lang="zh-CN" altLang="zh-CN" dirty="0">
                <a:solidFill>
                  <a:prstClr val="black"/>
                </a:solidFill>
              </a:rPr>
              <a:t>点击劫持</a:t>
            </a:r>
            <a:endParaRPr lang="zh-CN" altLang="en-US" dirty="0"/>
          </a:p>
        </p:txBody>
      </p:sp>
      <p:sp>
        <p:nvSpPr>
          <p:cNvPr id="3" name="内容占位符 2"/>
          <p:cNvSpPr>
            <a:spLocks noGrp="1"/>
          </p:cNvSpPr>
          <p:nvPr>
            <p:ph idx="1"/>
          </p:nvPr>
        </p:nvSpPr>
        <p:spPr>
          <a:xfrm>
            <a:off x="700644" y="1244213"/>
            <a:ext cx="10913424" cy="5025958"/>
          </a:xfrm>
        </p:spPr>
        <p:txBody>
          <a:bodyPr>
            <a:normAutofit fontScale="92500"/>
          </a:bodyPr>
          <a:lstStyle/>
          <a:p>
            <a:pPr>
              <a:lnSpc>
                <a:spcPct val="120000"/>
              </a:lnSpc>
            </a:pPr>
            <a:r>
              <a:rPr lang="zh-CN" altLang="en-US" dirty="0">
                <a:solidFill>
                  <a:srgbClr val="C00000"/>
                </a:solidFill>
              </a:rPr>
              <a:t>防御措施</a:t>
            </a:r>
          </a:p>
          <a:p>
            <a:pPr lvl="1">
              <a:lnSpc>
                <a:spcPct val="120000"/>
              </a:lnSpc>
            </a:pPr>
            <a:r>
              <a:rPr lang="zh-CN" altLang="en-US" b="1" dirty="0"/>
              <a:t>（</a:t>
            </a:r>
            <a:r>
              <a:rPr lang="en-US" altLang="zh-CN" b="1" dirty="0"/>
              <a:t>1</a:t>
            </a:r>
            <a:r>
              <a:rPr lang="zh-CN" altLang="en-US" b="1" dirty="0"/>
              <a:t>）网站开发者防护</a:t>
            </a:r>
          </a:p>
          <a:p>
            <a:pPr lvl="2">
              <a:lnSpc>
                <a:spcPct val="120000"/>
              </a:lnSpc>
            </a:pPr>
            <a:r>
              <a:rPr lang="zh-CN" altLang="en-US" dirty="0">
                <a:solidFill>
                  <a:srgbClr val="C00000"/>
                </a:solidFill>
              </a:rPr>
              <a:t>① 使用</a:t>
            </a:r>
            <a:r>
              <a:rPr lang="en-US" altLang="zh-CN" dirty="0">
                <a:solidFill>
                  <a:srgbClr val="C00000"/>
                </a:solidFill>
              </a:rPr>
              <a:t>X-Frame-Options HTTP</a:t>
            </a:r>
            <a:r>
              <a:rPr lang="zh-CN" altLang="en-US" dirty="0">
                <a:solidFill>
                  <a:srgbClr val="C00000"/>
                </a:solidFill>
              </a:rPr>
              <a:t>头</a:t>
            </a:r>
            <a:r>
              <a:rPr lang="zh-CN" altLang="en-US" dirty="0"/>
              <a:t>：防止网站被嵌入到恶意页面中。</a:t>
            </a:r>
            <a:endParaRPr lang="zh-CN" altLang="en-US" dirty="0">
              <a:solidFill>
                <a:srgbClr val="C00000"/>
              </a:solidFill>
            </a:endParaRPr>
          </a:p>
          <a:p>
            <a:pPr marL="914400" lvl="2" indent="0">
              <a:lnSpc>
                <a:spcPct val="120000"/>
              </a:lnSpc>
              <a:buNone/>
            </a:pPr>
            <a:r>
              <a:rPr lang="en-US" altLang="zh-CN" dirty="0"/>
              <a:t>	X-Frame-Options: DENY  # </a:t>
            </a:r>
            <a:r>
              <a:rPr lang="zh-CN" altLang="en-US" dirty="0"/>
              <a:t>完全禁止</a:t>
            </a:r>
            <a:r>
              <a:rPr lang="en-US" altLang="zh-CN" dirty="0"/>
              <a:t>iframe</a:t>
            </a:r>
            <a:r>
              <a:rPr lang="zh-CN" altLang="en-US" dirty="0"/>
              <a:t>嵌入</a:t>
            </a:r>
          </a:p>
          <a:p>
            <a:pPr marL="914400" lvl="2" indent="0">
              <a:lnSpc>
                <a:spcPct val="120000"/>
              </a:lnSpc>
              <a:buNone/>
            </a:pPr>
            <a:r>
              <a:rPr lang="en-US" altLang="zh-CN" dirty="0"/>
              <a:t>	X-Frame-Options: SAMEORIGIN  # </a:t>
            </a:r>
            <a:r>
              <a:rPr lang="zh-CN" altLang="en-US" dirty="0"/>
              <a:t>仅允许同源</a:t>
            </a:r>
            <a:r>
              <a:rPr lang="en-US" altLang="zh-CN" dirty="0"/>
              <a:t>iframe	</a:t>
            </a:r>
            <a:endParaRPr lang="zh-CN" altLang="en-US" dirty="0"/>
          </a:p>
          <a:p>
            <a:pPr lvl="2">
              <a:lnSpc>
                <a:spcPct val="120000"/>
              </a:lnSpc>
            </a:pPr>
            <a:r>
              <a:rPr lang="zh-CN" altLang="en-US" dirty="0">
                <a:solidFill>
                  <a:srgbClr val="C00000"/>
                </a:solidFill>
              </a:rPr>
              <a:t>② 使用</a:t>
            </a:r>
            <a:r>
              <a:rPr lang="en-US" altLang="zh-CN" dirty="0">
                <a:solidFill>
                  <a:srgbClr val="C00000"/>
                </a:solidFill>
              </a:rPr>
              <a:t>Content Security Policy (CSP)</a:t>
            </a:r>
            <a:r>
              <a:rPr lang="zh-CN" altLang="en-US" dirty="0"/>
              <a:t>：更现代的替代方案，比</a:t>
            </a:r>
            <a:r>
              <a:rPr lang="en-US" altLang="zh-CN" dirty="0"/>
              <a:t>X-Frame-Options</a:t>
            </a:r>
            <a:r>
              <a:rPr lang="zh-CN" altLang="en-US" dirty="0"/>
              <a:t>更灵活。</a:t>
            </a:r>
            <a:endParaRPr lang="en-US" altLang="zh-CN" dirty="0">
              <a:solidFill>
                <a:srgbClr val="C00000"/>
              </a:solidFill>
            </a:endParaRPr>
          </a:p>
          <a:p>
            <a:pPr marL="914400" lvl="2" indent="0">
              <a:lnSpc>
                <a:spcPct val="120000"/>
              </a:lnSpc>
              <a:buNone/>
            </a:pPr>
            <a:r>
              <a:rPr lang="en-US" altLang="zh-CN" dirty="0"/>
              <a:t>	Content-Security-Policy: frame-ancestors 'none';  # </a:t>
            </a:r>
            <a:r>
              <a:rPr lang="zh-CN" altLang="en-US" dirty="0"/>
              <a:t>禁止所有框架嵌套</a:t>
            </a:r>
          </a:p>
          <a:p>
            <a:pPr marL="914400" lvl="2" indent="0">
              <a:lnSpc>
                <a:spcPct val="120000"/>
              </a:lnSpc>
              <a:buNone/>
            </a:pPr>
            <a:r>
              <a:rPr lang="en-US" altLang="zh-CN" dirty="0"/>
              <a:t>	Content-Security-Policy: frame-ancestors 'self';  # </a:t>
            </a:r>
            <a:r>
              <a:rPr lang="zh-CN" altLang="en-US" dirty="0"/>
              <a:t>仅允许同源嵌套</a:t>
            </a:r>
            <a:r>
              <a:rPr lang="en-US" altLang="zh-CN" dirty="0"/>
              <a:t>	</a:t>
            </a:r>
            <a:endParaRPr lang="zh-CN" altLang="en-US" dirty="0"/>
          </a:p>
          <a:p>
            <a:pPr lvl="2">
              <a:lnSpc>
                <a:spcPct val="120000"/>
              </a:lnSpc>
            </a:pPr>
            <a:r>
              <a:rPr lang="zh-CN" altLang="en-US" dirty="0">
                <a:solidFill>
                  <a:srgbClr val="C00000"/>
                </a:solidFill>
              </a:rPr>
              <a:t>③ 使用</a:t>
            </a:r>
            <a:r>
              <a:rPr lang="en-US" altLang="zh-CN" dirty="0">
                <a:solidFill>
                  <a:srgbClr val="C00000"/>
                </a:solidFill>
              </a:rPr>
              <a:t>JavaScript</a:t>
            </a:r>
            <a:r>
              <a:rPr lang="zh-CN" altLang="en-US" dirty="0">
                <a:solidFill>
                  <a:srgbClr val="C00000"/>
                </a:solidFill>
              </a:rPr>
              <a:t>防御（</a:t>
            </a:r>
            <a:r>
              <a:rPr lang="en-US" altLang="zh-CN" dirty="0">
                <a:solidFill>
                  <a:srgbClr val="C00000"/>
                </a:solidFill>
              </a:rPr>
              <a:t>Frame Busting</a:t>
            </a:r>
            <a:r>
              <a:rPr lang="zh-CN" altLang="en-US" dirty="0">
                <a:solidFill>
                  <a:srgbClr val="C00000"/>
                </a:solidFill>
              </a:rPr>
              <a:t>）</a:t>
            </a:r>
            <a:r>
              <a:rPr lang="zh-CN" altLang="en-US" dirty="0"/>
              <a:t>：尝试跳出</a:t>
            </a:r>
            <a:r>
              <a:rPr lang="en-US" altLang="zh-CN" dirty="0"/>
              <a:t>iframe</a:t>
            </a:r>
            <a:r>
              <a:rPr lang="zh-CN" altLang="en-US" dirty="0"/>
              <a:t>，但可能被攻击者绕过（如使用</a:t>
            </a:r>
            <a:r>
              <a:rPr lang="en-US" altLang="zh-CN" dirty="0"/>
              <a:t>sandbox</a:t>
            </a:r>
            <a:r>
              <a:rPr lang="zh-CN" altLang="en-US" dirty="0"/>
              <a:t>属性限制</a:t>
            </a:r>
            <a:r>
              <a:rPr lang="en-US" altLang="zh-CN" dirty="0"/>
              <a:t>JS</a:t>
            </a:r>
            <a:r>
              <a:rPr lang="zh-CN" altLang="en-US" dirty="0"/>
              <a:t>执行）。</a:t>
            </a:r>
            <a:endParaRPr lang="zh-CN" altLang="en-US" dirty="0">
              <a:solidFill>
                <a:srgbClr val="C00000"/>
              </a:solidFill>
            </a:endParaRPr>
          </a:p>
          <a:p>
            <a:pPr marL="914400" lvl="2" indent="0">
              <a:lnSpc>
                <a:spcPct val="120000"/>
              </a:lnSpc>
              <a:buNone/>
            </a:pPr>
            <a:r>
              <a:rPr lang="en-US" altLang="zh-CN" dirty="0"/>
              <a:t>	</a:t>
            </a:r>
            <a:r>
              <a:rPr lang="en-US" altLang="zh-CN" dirty="0" err="1"/>
              <a:t>javascript</a:t>
            </a:r>
            <a:r>
              <a:rPr lang="zh-CN" altLang="en-US" dirty="0"/>
              <a:t>：</a:t>
            </a:r>
            <a:r>
              <a:rPr lang="en-US" altLang="zh-CN" dirty="0"/>
              <a:t>if (top !== window) { </a:t>
            </a:r>
            <a:r>
              <a:rPr lang="en-US" altLang="zh-CN" dirty="0" err="1"/>
              <a:t>top.location</a:t>
            </a:r>
            <a:r>
              <a:rPr lang="en-US" altLang="zh-CN" dirty="0"/>
              <a:t> = </a:t>
            </a:r>
            <a:r>
              <a:rPr lang="en-US" altLang="zh-CN" dirty="0" err="1"/>
              <a:t>window.location.href</a:t>
            </a:r>
            <a:r>
              <a:rPr lang="en-US" altLang="zh-CN" dirty="0"/>
              <a:t>; }	</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47</a:t>
            </a:fld>
            <a:endParaRPr kumimoji="1" lang="zh-CN" altLang="en-US" dirty="0"/>
          </a:p>
        </p:txBody>
      </p:sp>
    </p:spTree>
    <p:extLst>
      <p:ext uri="{BB962C8B-B14F-4D97-AF65-F5344CB8AC3E}">
        <p14:creationId xmlns:p14="http://schemas.microsoft.com/office/powerpoint/2010/main" val="2409775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10.4.7 </a:t>
            </a:r>
            <a:r>
              <a:rPr kumimoji="1" lang="zh-CN" altLang="zh-CN" dirty="0">
                <a:solidFill>
                  <a:prstClr val="black"/>
                </a:solidFill>
              </a:rPr>
              <a:t>点击劫持</a:t>
            </a:r>
            <a:endParaRPr lang="zh-CN" altLang="en-US" dirty="0"/>
          </a:p>
        </p:txBody>
      </p:sp>
      <p:sp>
        <p:nvSpPr>
          <p:cNvPr id="3" name="内容占位符 2"/>
          <p:cNvSpPr>
            <a:spLocks noGrp="1"/>
          </p:cNvSpPr>
          <p:nvPr>
            <p:ph idx="1"/>
          </p:nvPr>
        </p:nvSpPr>
        <p:spPr>
          <a:xfrm>
            <a:off x="700644" y="1244213"/>
            <a:ext cx="10913424" cy="5025958"/>
          </a:xfrm>
        </p:spPr>
        <p:txBody>
          <a:bodyPr>
            <a:normAutofit/>
          </a:bodyPr>
          <a:lstStyle/>
          <a:p>
            <a:pPr>
              <a:lnSpc>
                <a:spcPct val="120000"/>
              </a:lnSpc>
            </a:pPr>
            <a:r>
              <a:rPr lang="zh-CN" altLang="en-US" dirty="0">
                <a:solidFill>
                  <a:srgbClr val="C00000"/>
                </a:solidFill>
              </a:rPr>
              <a:t>防御措施</a:t>
            </a:r>
          </a:p>
          <a:p>
            <a:pPr lvl="1">
              <a:lnSpc>
                <a:spcPct val="150000"/>
              </a:lnSpc>
            </a:pPr>
            <a:r>
              <a:rPr lang="zh-CN" altLang="en-US" b="1" dirty="0"/>
              <a:t>（</a:t>
            </a:r>
            <a:r>
              <a:rPr lang="en-US" altLang="zh-CN" b="1" dirty="0"/>
              <a:t>2</a:t>
            </a:r>
            <a:r>
              <a:rPr lang="zh-CN" altLang="en-US" b="1" dirty="0"/>
              <a:t>）普通用户防护</a:t>
            </a:r>
          </a:p>
          <a:p>
            <a:pPr lvl="2">
              <a:lnSpc>
                <a:spcPct val="150000"/>
              </a:lnSpc>
            </a:pPr>
            <a:r>
              <a:rPr lang="zh-CN" altLang="en-US" sz="2200" b="1" dirty="0"/>
              <a:t>保持浏览器更新</a:t>
            </a:r>
            <a:r>
              <a:rPr lang="zh-CN" altLang="en-US" sz="2200" dirty="0"/>
              <a:t>（现代浏览器已内置部分防护）。</a:t>
            </a:r>
          </a:p>
          <a:p>
            <a:pPr lvl="2">
              <a:lnSpc>
                <a:spcPct val="150000"/>
              </a:lnSpc>
            </a:pPr>
            <a:r>
              <a:rPr lang="zh-CN" altLang="en-US" sz="2200" b="1" dirty="0"/>
              <a:t>安装广告拦截插件</a:t>
            </a:r>
            <a:r>
              <a:rPr lang="zh-CN" altLang="en-US" sz="2200" dirty="0"/>
              <a:t>（如</a:t>
            </a:r>
            <a:r>
              <a:rPr lang="en-US" altLang="zh-CN" sz="2200" dirty="0" err="1"/>
              <a:t>uBlock</a:t>
            </a:r>
            <a:r>
              <a:rPr lang="en-US" altLang="zh-CN" sz="2200" dirty="0"/>
              <a:t> Origin</a:t>
            </a:r>
            <a:r>
              <a:rPr lang="zh-CN" altLang="en-US" sz="2200" dirty="0"/>
              <a:t>可阻止部分恶意</a:t>
            </a:r>
            <a:r>
              <a:rPr lang="en-US" altLang="zh-CN" sz="2200" dirty="0"/>
              <a:t>iframe</a:t>
            </a:r>
            <a:r>
              <a:rPr lang="zh-CN" altLang="en-US" sz="2200" dirty="0"/>
              <a:t>）。</a:t>
            </a:r>
          </a:p>
          <a:p>
            <a:pPr lvl="2">
              <a:lnSpc>
                <a:spcPct val="150000"/>
              </a:lnSpc>
            </a:pPr>
            <a:r>
              <a:rPr lang="zh-CN" altLang="en-US" sz="2200" b="1" dirty="0"/>
              <a:t>警惕不明页面</a:t>
            </a:r>
            <a:r>
              <a:rPr lang="zh-CN" altLang="en-US" sz="2200" dirty="0"/>
              <a:t>，尤其是要求点击的</a:t>
            </a:r>
            <a:r>
              <a:rPr lang="en-US" altLang="zh-CN" sz="2200" dirty="0"/>
              <a:t>"</a:t>
            </a:r>
            <a:r>
              <a:rPr lang="zh-CN" altLang="en-US" sz="2200" dirty="0"/>
              <a:t>诱人</a:t>
            </a:r>
            <a:r>
              <a:rPr lang="en-US" altLang="zh-CN" sz="2200" dirty="0"/>
              <a:t>"</a:t>
            </a:r>
            <a:r>
              <a:rPr lang="zh-CN" altLang="en-US" sz="2200" dirty="0"/>
              <a:t>内容（如免费领取、抽奖等）。</a:t>
            </a:r>
          </a:p>
          <a:p>
            <a:pPr lvl="2">
              <a:lnSpc>
                <a:spcPct val="150000"/>
              </a:lnSpc>
            </a:pPr>
            <a:r>
              <a:rPr lang="zh-CN" altLang="en-US" sz="2200" b="1" dirty="0"/>
              <a:t>使用</a:t>
            </a:r>
            <a:r>
              <a:rPr lang="en-US" altLang="zh-CN" sz="2200" b="1" dirty="0" err="1"/>
              <a:t>NoScript</a:t>
            </a:r>
            <a:r>
              <a:rPr lang="zh-CN" altLang="en-US" sz="2200" b="1" dirty="0"/>
              <a:t>等插件</a:t>
            </a:r>
            <a:r>
              <a:rPr lang="zh-CN" altLang="en-US" sz="2200" dirty="0"/>
              <a:t>（禁用非必要</a:t>
            </a:r>
            <a:r>
              <a:rPr lang="en-US" altLang="zh-CN" sz="2200" dirty="0"/>
              <a:t>JavaScript</a:t>
            </a:r>
            <a:r>
              <a:rPr lang="zh-CN" altLang="en-US" sz="2200" dirty="0"/>
              <a:t>，减少攻击面）。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48</a:t>
            </a:fld>
            <a:endParaRPr kumimoji="1" lang="zh-CN" altLang="en-US" dirty="0"/>
          </a:p>
        </p:txBody>
      </p:sp>
    </p:spTree>
    <p:extLst>
      <p:ext uri="{BB962C8B-B14F-4D97-AF65-F5344CB8AC3E}">
        <p14:creationId xmlns:p14="http://schemas.microsoft.com/office/powerpoint/2010/main" val="3074656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solidFill>
                  <a:srgbClr val="C00000"/>
                </a:solidFill>
              </a:rPr>
              <a:t>10.5 </a:t>
            </a:r>
            <a:r>
              <a:rPr kumimoji="1" lang="zh-CN" altLang="zh-CN" sz="3000" dirty="0">
                <a:solidFill>
                  <a:srgbClr val="C00000"/>
                </a:solidFill>
              </a:rPr>
              <a:t>传播</a:t>
            </a:r>
            <a:r>
              <a:rPr kumimoji="1" lang="en-US" altLang="zh-CN" sz="3000" dirty="0">
                <a:solidFill>
                  <a:srgbClr val="C00000"/>
                </a:solidFill>
              </a:rPr>
              <a:t>-</a:t>
            </a:r>
            <a:r>
              <a:rPr kumimoji="1" lang="zh-CN" altLang="zh-CN" sz="3000" dirty="0">
                <a:solidFill>
                  <a:srgbClr val="C00000"/>
                </a:solidFill>
              </a:rPr>
              <a:t>社会工程</a:t>
            </a:r>
            <a:r>
              <a:rPr kumimoji="1" lang="en-US" altLang="zh-CN" sz="3000" dirty="0">
                <a:solidFill>
                  <a:srgbClr val="C00000"/>
                </a:solidFill>
              </a:rPr>
              <a:t>-</a:t>
            </a:r>
            <a:r>
              <a:rPr kumimoji="1" lang="zh-CN" altLang="zh-CN" sz="3000" dirty="0">
                <a:solidFill>
                  <a:srgbClr val="C00000"/>
                </a:solidFill>
              </a:rPr>
              <a:t>垃圾邮件与特洛伊木马</a:t>
            </a:r>
            <a:endParaRPr kumimoji="1" lang="en-US" altLang="zh-CN" sz="3000" dirty="0">
              <a:solidFill>
                <a:srgbClr val="C00000"/>
              </a:solidFill>
            </a:endParaRPr>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400" dirty="0">
              <a:solidFill>
                <a:prstClr val="black"/>
              </a:solidFill>
            </a:endParaRPr>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968343" y="2185060"/>
            <a:ext cx="3433948" cy="2719448"/>
          </a:xfrm>
          <a:prstGeom prst="wedgeRectCallout">
            <a:avLst>
              <a:gd name="adj1" fmla="val -90320"/>
              <a:gd name="adj2" fmla="val -902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垃圾（未经同意而发送给接收方的巨量）邮件</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特洛伊木马</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5839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10.5 </a:t>
            </a:r>
            <a:r>
              <a:rPr lang="zh-CN" altLang="zh-CN" sz="3200" dirty="0"/>
              <a:t>传播</a:t>
            </a:r>
            <a:r>
              <a:rPr lang="en-US" altLang="zh-CN" sz="3200" dirty="0"/>
              <a:t>-</a:t>
            </a:r>
            <a:r>
              <a:rPr lang="zh-CN" altLang="zh-CN" sz="3200" dirty="0"/>
              <a:t>社会工程</a:t>
            </a:r>
            <a:r>
              <a:rPr lang="en-US" altLang="zh-CN" sz="3200" dirty="0"/>
              <a:t>-</a:t>
            </a:r>
            <a:r>
              <a:rPr lang="zh-CN" altLang="zh-CN" sz="3200" dirty="0"/>
              <a:t>垃圾邮件与特洛伊木马</a:t>
            </a:r>
            <a:endParaRPr lang="zh-CN" altLang="en-US" sz="3200" dirty="0"/>
          </a:p>
        </p:txBody>
      </p:sp>
      <p:sp>
        <p:nvSpPr>
          <p:cNvPr id="3" name="内容占位符 2"/>
          <p:cNvSpPr>
            <a:spLocks noGrp="1"/>
          </p:cNvSpPr>
          <p:nvPr>
            <p:ph idx="1"/>
          </p:nvPr>
        </p:nvSpPr>
        <p:spPr/>
        <p:txBody>
          <a:bodyPr/>
          <a:lstStyle/>
          <a:p>
            <a:pPr>
              <a:lnSpc>
                <a:spcPct val="150000"/>
              </a:lnSpc>
            </a:pPr>
            <a:r>
              <a:rPr lang="zh-CN" altLang="en-US" dirty="0"/>
              <a:t>最后一种恶意软件</a:t>
            </a:r>
            <a:r>
              <a:rPr lang="zh-CN" altLang="en-US" dirty="0">
                <a:solidFill>
                  <a:srgbClr val="C00000"/>
                </a:solidFill>
              </a:rPr>
              <a:t>传播策略</a:t>
            </a:r>
            <a:r>
              <a:rPr lang="zh-CN" altLang="en-US" dirty="0"/>
              <a:t>：</a:t>
            </a:r>
            <a:r>
              <a:rPr lang="zh-CN" altLang="en-US" dirty="0">
                <a:solidFill>
                  <a:srgbClr val="C00000"/>
                </a:solidFill>
              </a:rPr>
              <a:t>社会工程</a:t>
            </a:r>
            <a:r>
              <a:rPr lang="zh-CN" altLang="en-US" dirty="0"/>
              <a:t>，即欺骗用户去协助恶意软件窃取他们自己的系统或个人信息。这一情况可能会在用户浏览或回复垃圾邮件，以及允许安装和运行某些特洛伊木马病毒或脚本代码时发生。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50</a:t>
            </a:fld>
            <a:endParaRPr kumimoji="1" lang="zh-CN" altLang="en-US" dirty="0"/>
          </a:p>
        </p:txBody>
      </p:sp>
    </p:spTree>
    <p:extLst>
      <p:ext uri="{BB962C8B-B14F-4D97-AF65-F5344CB8AC3E}">
        <p14:creationId xmlns:p14="http://schemas.microsoft.com/office/powerpoint/2010/main" val="1949065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10.5.1 </a:t>
            </a:r>
            <a:r>
              <a:rPr kumimoji="1" lang="zh-CN" altLang="zh-CN" dirty="0">
                <a:solidFill>
                  <a:prstClr val="black"/>
                </a:solidFill>
              </a:rPr>
              <a:t>垃圾邮件</a:t>
            </a:r>
            <a:r>
              <a:rPr kumimoji="1" lang="zh-CN" altLang="zh-CN" sz="2200" dirty="0">
                <a:solidFill>
                  <a:prstClr val="black"/>
                </a:solidFill>
              </a:rPr>
              <a:t>（未经同意而发送给接收方的巨量）</a:t>
            </a:r>
            <a:endParaRPr lang="zh-CN" altLang="en-US" sz="2200" dirty="0"/>
          </a:p>
        </p:txBody>
      </p:sp>
      <p:sp>
        <p:nvSpPr>
          <p:cNvPr id="3" name="内容占位符 2"/>
          <p:cNvSpPr>
            <a:spLocks noGrp="1"/>
          </p:cNvSpPr>
          <p:nvPr>
            <p:ph idx="1"/>
          </p:nvPr>
        </p:nvSpPr>
        <p:spPr>
          <a:xfrm>
            <a:off x="838200" y="1401287"/>
            <a:ext cx="10515600" cy="4916385"/>
          </a:xfrm>
        </p:spPr>
        <p:txBody>
          <a:bodyPr>
            <a:normAutofit fontScale="85000" lnSpcReduction="10000"/>
          </a:bodyPr>
          <a:lstStyle/>
          <a:p>
            <a:pPr>
              <a:lnSpc>
                <a:spcPct val="130000"/>
              </a:lnSpc>
            </a:pPr>
            <a:r>
              <a:rPr lang="zh-CN" altLang="en-US" dirty="0"/>
              <a:t>未经同意而发送给接收者的巨量邮件，即通常所指的</a:t>
            </a:r>
            <a:r>
              <a:rPr lang="zh-CN" altLang="en-US" dirty="0">
                <a:solidFill>
                  <a:srgbClr val="C00000"/>
                </a:solidFill>
              </a:rPr>
              <a:t>垃圾邮件</a:t>
            </a:r>
            <a:r>
              <a:rPr lang="zh-CN" altLang="en-US" dirty="0"/>
              <a:t>。</a:t>
            </a:r>
            <a:endParaRPr lang="en-US" altLang="zh-CN" dirty="0"/>
          </a:p>
          <a:p>
            <a:pPr>
              <a:lnSpc>
                <a:spcPct val="130000"/>
              </a:lnSpc>
            </a:pPr>
            <a:r>
              <a:rPr lang="zh-CN" altLang="en-US" dirty="0"/>
              <a:t>为了应对迅猛增加的垃圾邮件，提供</a:t>
            </a:r>
            <a:r>
              <a:rPr lang="zh-CN" altLang="en-US" dirty="0">
                <a:solidFill>
                  <a:srgbClr val="C00000"/>
                </a:solidFill>
              </a:rPr>
              <a:t>监测和甄别</a:t>
            </a:r>
            <a:r>
              <a:rPr lang="zh-CN" altLang="en-US" dirty="0"/>
              <a:t>垃圾邮件产品的反垃圾邮件产业也同等迅速的发展起来。这导致了垃圾邮件制造者和防护者之间的激烈竞争。</a:t>
            </a:r>
            <a:endParaRPr lang="en-US" altLang="zh-CN" dirty="0"/>
          </a:p>
          <a:p>
            <a:pPr>
              <a:lnSpc>
                <a:spcPct val="130000"/>
              </a:lnSpc>
            </a:pPr>
            <a:r>
              <a:rPr lang="zh-CN" altLang="en-US" dirty="0"/>
              <a:t>虽然部分垃圾邮件是由合法服务器发送的，但近来绝大部分的垃圾邮件是由</a:t>
            </a:r>
            <a:r>
              <a:rPr lang="zh-CN" altLang="en-US" dirty="0">
                <a:solidFill>
                  <a:srgbClr val="C00000"/>
                </a:solidFill>
              </a:rPr>
              <a:t>僵尸网络</a:t>
            </a:r>
            <a:r>
              <a:rPr lang="zh-CN" altLang="en-US" dirty="0"/>
              <a:t>使用被控制的用户系统发送的。</a:t>
            </a:r>
            <a:endParaRPr lang="en-US" altLang="zh-CN" dirty="0"/>
          </a:p>
          <a:p>
            <a:pPr>
              <a:lnSpc>
                <a:spcPct val="130000"/>
              </a:lnSpc>
            </a:pPr>
            <a:r>
              <a:rPr lang="zh-CN" altLang="en-US" dirty="0"/>
              <a:t>垃圾</a:t>
            </a:r>
            <a:r>
              <a:rPr lang="zh-CN" altLang="en-US" dirty="0">
                <a:solidFill>
                  <a:srgbClr val="C00000"/>
                </a:solidFill>
              </a:rPr>
              <a:t>邮件内容</a:t>
            </a:r>
            <a:r>
              <a:rPr lang="zh-CN" altLang="en-US" dirty="0"/>
              <a:t>的一个重要组成部分仅仅是广告，但是垃圾邮件也是恶意软件的一个重要载体。电子邮件可能有个</a:t>
            </a:r>
            <a:r>
              <a:rPr lang="zh-CN" altLang="en-US" dirty="0">
                <a:solidFill>
                  <a:srgbClr val="C00000"/>
                </a:solidFill>
              </a:rPr>
              <a:t>文档附件</a:t>
            </a:r>
            <a:r>
              <a:rPr lang="zh-CN" altLang="en-US" dirty="0"/>
              <a:t>，一旦打开就会利用软件漏洞从而将恶意软件安装在用户系统上，也可能垃圾邮件的附件是特洛伊木马程序或脚本代码，一旦运行也会安装恶意软件到用户系统上。。</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51</a:t>
            </a:fld>
            <a:endParaRPr kumimoji="1" lang="zh-CN" altLang="en-US" dirty="0"/>
          </a:p>
        </p:txBody>
      </p:sp>
    </p:spTree>
    <p:extLst>
      <p:ext uri="{BB962C8B-B14F-4D97-AF65-F5344CB8AC3E}">
        <p14:creationId xmlns:p14="http://schemas.microsoft.com/office/powerpoint/2010/main" val="1972448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10.5.1 </a:t>
            </a:r>
            <a:r>
              <a:rPr kumimoji="1" lang="zh-CN" altLang="zh-CN" dirty="0">
                <a:solidFill>
                  <a:prstClr val="black"/>
                </a:solidFill>
              </a:rPr>
              <a:t>垃圾邮件</a:t>
            </a:r>
            <a:r>
              <a:rPr kumimoji="1" lang="zh-CN" altLang="zh-CN" sz="2200" dirty="0">
                <a:solidFill>
                  <a:prstClr val="black"/>
                </a:solidFill>
              </a:rPr>
              <a:t>（未经同意而发送给接收方的巨量）</a:t>
            </a:r>
            <a:endParaRPr lang="zh-CN" altLang="en-US" sz="2200" dirty="0"/>
          </a:p>
        </p:txBody>
      </p:sp>
      <p:sp>
        <p:nvSpPr>
          <p:cNvPr id="3" name="内容占位符 2"/>
          <p:cNvSpPr>
            <a:spLocks noGrp="1"/>
          </p:cNvSpPr>
          <p:nvPr>
            <p:ph idx="1"/>
          </p:nvPr>
        </p:nvSpPr>
        <p:spPr/>
        <p:txBody>
          <a:bodyPr>
            <a:normAutofit fontScale="92500"/>
          </a:bodyPr>
          <a:lstStyle/>
          <a:p>
            <a:pPr>
              <a:lnSpc>
                <a:spcPct val="150000"/>
              </a:lnSpc>
            </a:pPr>
            <a:r>
              <a:rPr lang="zh-CN" altLang="en-US" dirty="0"/>
              <a:t>最后，垃圾邮件还可能被应用于</a:t>
            </a:r>
            <a:r>
              <a:rPr lang="zh-CN" altLang="en-US" dirty="0">
                <a:solidFill>
                  <a:srgbClr val="C00000"/>
                </a:solidFill>
              </a:rPr>
              <a:t>钓鱼攻击</a:t>
            </a:r>
            <a:r>
              <a:rPr lang="zh-CN" altLang="en-US" dirty="0"/>
              <a:t>，比较典型的方式是引导用户到看上去提供某些合法服务的虚假网站，比如一个网上银行站点，该站点会尝试破获用户的</a:t>
            </a:r>
            <a:r>
              <a:rPr lang="zh-CN" altLang="en-US" dirty="0">
                <a:solidFill>
                  <a:srgbClr val="C00000"/>
                </a:solidFill>
              </a:rPr>
              <a:t>登录与密码</a:t>
            </a:r>
            <a:r>
              <a:rPr lang="zh-CN" altLang="en-US" dirty="0"/>
              <a:t>信息，或者要求用户填写有足够个人信息的表格，从而使得攻击者能够通过身份盗窃假冒用户身份。</a:t>
            </a:r>
            <a:endParaRPr lang="en-US" altLang="zh-CN" dirty="0"/>
          </a:p>
          <a:p>
            <a:pPr>
              <a:lnSpc>
                <a:spcPct val="150000"/>
              </a:lnSpc>
            </a:pPr>
            <a:r>
              <a:rPr lang="zh-CN" altLang="en-US" dirty="0"/>
              <a:t>垃圾邮件的这些应用方法使其成为一个很大的安全隐患。不过在大多数情形下，是由用户决定是否浏览垃圾邮件及其附件文档，是否允许某些程序的安装，这些操作都有可能导致攻击发生。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52</a:t>
            </a:fld>
            <a:endParaRPr kumimoji="1" lang="zh-CN" altLang="en-US" dirty="0"/>
          </a:p>
        </p:txBody>
      </p:sp>
    </p:spTree>
    <p:extLst>
      <p:ext uri="{BB962C8B-B14F-4D97-AF65-F5344CB8AC3E}">
        <p14:creationId xmlns:p14="http://schemas.microsoft.com/office/powerpoint/2010/main" val="38573307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10.5.2 </a:t>
            </a:r>
            <a:r>
              <a:rPr kumimoji="1" lang="zh-CN" altLang="zh-CN" dirty="0">
                <a:solidFill>
                  <a:prstClr val="black"/>
                </a:solidFill>
              </a:rPr>
              <a:t>特洛伊木马</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sz="2400" dirty="0">
                <a:solidFill>
                  <a:srgbClr val="C00000"/>
                </a:solidFill>
              </a:rPr>
              <a:t>特洛伊木马</a:t>
            </a:r>
            <a:r>
              <a:rPr lang="zh-CN" altLang="en-US" sz="2400" dirty="0"/>
              <a:t>是一种有用的，或者是表面上有用的程序或实用工具，它</a:t>
            </a:r>
            <a:r>
              <a:rPr lang="zh-CN" altLang="en-US" sz="2400" dirty="0">
                <a:solidFill>
                  <a:srgbClr val="C00000"/>
                </a:solidFill>
              </a:rPr>
              <a:t>包含隐藏代码</a:t>
            </a:r>
            <a:r>
              <a:rPr lang="zh-CN" altLang="en-US" sz="2400" dirty="0"/>
              <a:t>，一旦被调用将会执行一些不想要或有害的功能。</a:t>
            </a:r>
            <a:endParaRPr lang="en-US" altLang="zh-CN" sz="2400" dirty="0"/>
          </a:p>
          <a:p>
            <a:pPr>
              <a:lnSpc>
                <a:spcPct val="150000"/>
              </a:lnSpc>
            </a:pPr>
            <a:r>
              <a:rPr lang="zh-CN" altLang="en-US" sz="2400" dirty="0"/>
              <a:t>特洛伊木马可以间接完成一些攻击者无法直接完成的功能。例如，为获得用户存储在文件中的敏感个人信息的访问权限，攻击者可以设置一个木马程序，当这个程序执行时，它会浏览存储有所需敏感信息的用户文件并通过网站、电子邮件或者文字消息将副本发送给攻击者。</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53</a:t>
            </a:fld>
            <a:endParaRPr kumimoji="1" lang="zh-CN" altLang="en-US" dirty="0"/>
          </a:p>
        </p:txBody>
      </p:sp>
    </p:spTree>
    <p:extLst>
      <p:ext uri="{BB962C8B-B14F-4D97-AF65-F5344CB8AC3E}">
        <p14:creationId xmlns:p14="http://schemas.microsoft.com/office/powerpoint/2010/main" val="14750686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10.5.2 </a:t>
            </a:r>
            <a:r>
              <a:rPr kumimoji="1" lang="zh-CN" altLang="zh-CN" dirty="0">
                <a:solidFill>
                  <a:prstClr val="black"/>
                </a:solidFill>
              </a:rPr>
              <a:t>特洛伊木马</a:t>
            </a:r>
            <a:endParaRPr lang="zh-CN" altLang="en-US" dirty="0"/>
          </a:p>
        </p:txBody>
      </p:sp>
      <p:sp>
        <p:nvSpPr>
          <p:cNvPr id="3" name="内容占位符 2"/>
          <p:cNvSpPr>
            <a:spLocks noGrp="1"/>
          </p:cNvSpPr>
          <p:nvPr>
            <p:ph idx="1"/>
          </p:nvPr>
        </p:nvSpPr>
        <p:spPr>
          <a:xfrm>
            <a:off x="838200" y="1389413"/>
            <a:ext cx="10515600" cy="4708039"/>
          </a:xfrm>
        </p:spPr>
        <p:txBody>
          <a:bodyPr>
            <a:normAutofit/>
          </a:bodyPr>
          <a:lstStyle/>
          <a:p>
            <a:pPr>
              <a:lnSpc>
                <a:spcPct val="120000"/>
              </a:lnSpc>
            </a:pPr>
            <a:r>
              <a:rPr lang="zh-CN" altLang="en-US" dirty="0"/>
              <a:t>特洛伊木马可归入下列三种模式之一：</a:t>
            </a:r>
            <a:endParaRPr lang="en-US" altLang="zh-CN" dirty="0"/>
          </a:p>
          <a:p>
            <a:pPr lvl="1">
              <a:lnSpc>
                <a:spcPct val="120000"/>
              </a:lnSpc>
            </a:pPr>
            <a:r>
              <a:rPr lang="zh-CN" altLang="en-US" dirty="0"/>
              <a:t>在继续执行原程序功能之外还</a:t>
            </a:r>
            <a:r>
              <a:rPr lang="zh-CN" altLang="en-US" dirty="0">
                <a:solidFill>
                  <a:srgbClr val="C00000"/>
                </a:solidFill>
              </a:rPr>
              <a:t>执行一个独立的恶意动作</a:t>
            </a:r>
            <a:r>
              <a:rPr lang="zh-CN" altLang="en-US" dirty="0"/>
              <a:t>。</a:t>
            </a:r>
            <a:endParaRPr lang="en-US" altLang="zh-CN" dirty="0"/>
          </a:p>
          <a:p>
            <a:pPr lvl="1">
              <a:lnSpc>
                <a:spcPct val="120000"/>
              </a:lnSpc>
            </a:pPr>
            <a:r>
              <a:rPr lang="zh-CN" altLang="en-US" dirty="0"/>
              <a:t>继续执行原程序的功能，但</a:t>
            </a:r>
            <a:r>
              <a:rPr lang="zh-CN" altLang="en-US" dirty="0">
                <a:solidFill>
                  <a:srgbClr val="C00000"/>
                </a:solidFill>
              </a:rPr>
              <a:t>修改某些功能</a:t>
            </a:r>
            <a:r>
              <a:rPr lang="zh-CN" altLang="en-US" dirty="0"/>
              <a:t>以便能够</a:t>
            </a:r>
            <a:r>
              <a:rPr lang="zh-CN" altLang="en-US" dirty="0">
                <a:solidFill>
                  <a:srgbClr val="C00000"/>
                </a:solidFill>
              </a:rPr>
              <a:t>执行恶意动作</a:t>
            </a:r>
            <a:r>
              <a:rPr lang="zh-CN" altLang="en-US" dirty="0"/>
              <a:t>（例如，一个能够获取密码的特洛伊木马登录程序）或者</a:t>
            </a:r>
            <a:r>
              <a:rPr lang="zh-CN" altLang="en-US" dirty="0">
                <a:solidFill>
                  <a:srgbClr val="C00000"/>
                </a:solidFill>
              </a:rPr>
              <a:t>掩盖其他恶意动作</a:t>
            </a:r>
            <a:r>
              <a:rPr lang="zh-CN" altLang="en-US" dirty="0"/>
              <a:t>（例如，一个不显示一些恶意进程的特洛伊木马进程列表显示程序）。</a:t>
            </a:r>
            <a:endParaRPr lang="en-US" altLang="zh-CN" dirty="0"/>
          </a:p>
          <a:p>
            <a:pPr lvl="1">
              <a:lnSpc>
                <a:spcPct val="120000"/>
              </a:lnSpc>
            </a:pPr>
            <a:r>
              <a:rPr lang="zh-CN" altLang="en-US" dirty="0"/>
              <a:t>执行恶意功能并</a:t>
            </a:r>
            <a:r>
              <a:rPr lang="zh-CN" altLang="en-US" dirty="0">
                <a:solidFill>
                  <a:srgbClr val="C00000"/>
                </a:solidFill>
              </a:rPr>
              <a:t>完全取代原有程序的功能</a:t>
            </a:r>
            <a:r>
              <a:rPr lang="zh-CN" altLang="en-US" dirty="0"/>
              <a:t>。</a:t>
            </a:r>
            <a:endParaRPr lang="en-US" altLang="zh-CN" dirty="0"/>
          </a:p>
          <a:p>
            <a:pPr>
              <a:lnSpc>
                <a:spcPct val="120000"/>
              </a:lnSpc>
            </a:pPr>
            <a:r>
              <a:rPr lang="zh-CN" altLang="en-US" dirty="0"/>
              <a:t>一些木马程序通过利用某些软件漏洞使得自身能够自动安装并执行，从而不再需要用户的辅助。从这一角度来说这些</a:t>
            </a:r>
            <a:r>
              <a:rPr lang="zh-CN" altLang="en-US" dirty="0">
                <a:solidFill>
                  <a:srgbClr val="C00000"/>
                </a:solidFill>
              </a:rPr>
              <a:t>木马与蠕虫有相似特点</a:t>
            </a:r>
            <a:r>
              <a:rPr lang="zh-CN" altLang="en-US" dirty="0"/>
              <a:t>，但与蠕虫不同的是，它们</a:t>
            </a:r>
            <a:r>
              <a:rPr lang="zh-CN" altLang="en-US" dirty="0">
                <a:solidFill>
                  <a:srgbClr val="C00000"/>
                </a:solidFill>
              </a:rPr>
              <a:t>并不复制</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54</a:t>
            </a:fld>
            <a:endParaRPr kumimoji="1" lang="zh-CN" altLang="en-US" dirty="0"/>
          </a:p>
        </p:txBody>
      </p:sp>
    </p:spTree>
    <p:extLst>
      <p:ext uri="{BB962C8B-B14F-4D97-AF65-F5344CB8AC3E}">
        <p14:creationId xmlns:p14="http://schemas.microsoft.com/office/powerpoint/2010/main" val="336729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solidFill>
                  <a:srgbClr val="C00000"/>
                </a:solidFill>
              </a:rPr>
              <a:t>10.6 </a:t>
            </a:r>
            <a:r>
              <a:rPr kumimoji="1" lang="zh-CN" altLang="zh-CN" sz="3000" dirty="0">
                <a:solidFill>
                  <a:srgbClr val="C00000"/>
                </a:solidFill>
              </a:rPr>
              <a:t>载荷</a:t>
            </a:r>
            <a:r>
              <a:rPr kumimoji="1" lang="en-US" altLang="zh-CN" sz="3000" dirty="0">
                <a:solidFill>
                  <a:srgbClr val="C00000"/>
                </a:solidFill>
              </a:rPr>
              <a:t>-</a:t>
            </a:r>
            <a:r>
              <a:rPr kumimoji="1" lang="zh-CN" altLang="zh-CN" sz="3000" dirty="0">
                <a:solidFill>
                  <a:srgbClr val="C00000"/>
                </a:solidFill>
              </a:rPr>
              <a:t>系统破坏</a:t>
            </a:r>
            <a:endParaRPr kumimoji="1" lang="en-US" altLang="zh-CN" sz="3000" dirty="0">
              <a:solidFill>
                <a:srgbClr val="C00000"/>
              </a:solidFill>
            </a:endParaRPr>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968343" y="3325090"/>
            <a:ext cx="3433948" cy="1579417"/>
          </a:xfrm>
          <a:prstGeom prst="wedgeRectCallout">
            <a:avLst>
              <a:gd name="adj1" fmla="val -173317"/>
              <a:gd name="adj2" fmla="val -1676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实质破坏</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逻辑炸弹</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2786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 </a:t>
            </a:r>
            <a:r>
              <a:rPr lang="zh-CN" altLang="en-US" dirty="0"/>
              <a:t>载荷</a:t>
            </a:r>
            <a:r>
              <a:rPr lang="en-US" altLang="zh-CN" dirty="0"/>
              <a:t>-</a:t>
            </a:r>
            <a:r>
              <a:rPr lang="zh-CN" altLang="en-US" dirty="0"/>
              <a:t>系统破坏</a:t>
            </a:r>
          </a:p>
        </p:txBody>
      </p:sp>
      <p:sp>
        <p:nvSpPr>
          <p:cNvPr id="3" name="内容占位符 2"/>
          <p:cNvSpPr>
            <a:spLocks noGrp="1"/>
          </p:cNvSpPr>
          <p:nvPr>
            <p:ph idx="1"/>
          </p:nvPr>
        </p:nvSpPr>
        <p:spPr/>
        <p:txBody>
          <a:bodyPr>
            <a:normAutofit fontScale="85000" lnSpcReduction="10000"/>
          </a:bodyPr>
          <a:lstStyle/>
          <a:p>
            <a:pPr>
              <a:lnSpc>
                <a:spcPct val="150000"/>
              </a:lnSpc>
            </a:pPr>
            <a:r>
              <a:rPr lang="zh-CN" altLang="en-US" dirty="0"/>
              <a:t>这类载荷的设计目的就是</a:t>
            </a:r>
            <a:r>
              <a:rPr lang="zh-CN" altLang="en-US" b="1" dirty="0"/>
              <a:t>故意损坏、瘫痪或摧毁受感染计算机的操作系统、关键文件、配置或硬件功能</a:t>
            </a:r>
            <a:r>
              <a:rPr lang="zh-CN" altLang="en-US" dirty="0"/>
              <a:t>，导致系统无法正常启动或运行。</a:t>
            </a:r>
            <a:endParaRPr lang="en-US" altLang="zh-CN" dirty="0"/>
          </a:p>
          <a:p>
            <a:pPr>
              <a:lnSpc>
                <a:spcPct val="150000"/>
              </a:lnSpc>
            </a:pPr>
            <a:r>
              <a:rPr lang="zh-CN" altLang="en-US" dirty="0"/>
              <a:t>以下是恶意软件实现“系统破坏”载荷的常见手段和技术：</a:t>
            </a:r>
          </a:p>
          <a:p>
            <a:pPr lvl="1">
              <a:lnSpc>
                <a:spcPct val="150000"/>
              </a:lnSpc>
            </a:pPr>
            <a:r>
              <a:rPr lang="zh-CN" altLang="en-US" dirty="0">
                <a:solidFill>
                  <a:srgbClr val="C00000"/>
                </a:solidFill>
              </a:rPr>
              <a:t>文件删除</a:t>
            </a:r>
            <a:r>
              <a:rPr lang="en-US" altLang="zh-CN" dirty="0">
                <a:solidFill>
                  <a:srgbClr val="C00000"/>
                </a:solidFill>
              </a:rPr>
              <a:t>/</a:t>
            </a:r>
            <a:r>
              <a:rPr lang="zh-CN" altLang="en-US" dirty="0">
                <a:solidFill>
                  <a:srgbClr val="C00000"/>
                </a:solidFill>
              </a:rPr>
              <a:t>覆盖</a:t>
            </a:r>
            <a:r>
              <a:rPr lang="zh-CN" altLang="en-US" dirty="0"/>
              <a:t>：</a:t>
            </a:r>
          </a:p>
          <a:p>
            <a:pPr lvl="2">
              <a:lnSpc>
                <a:spcPct val="150000"/>
              </a:lnSpc>
            </a:pPr>
            <a:r>
              <a:rPr lang="zh-CN" altLang="en-US" dirty="0"/>
              <a:t>关键系统文件： 定位并删除操作系统运行所必需的核心文件（例如 </a:t>
            </a:r>
            <a:r>
              <a:rPr lang="en-US" altLang="zh-CN" dirty="0"/>
              <a:t>Windows </a:t>
            </a:r>
            <a:r>
              <a:rPr lang="zh-CN" altLang="en-US" dirty="0"/>
              <a:t>中的 </a:t>
            </a:r>
            <a:r>
              <a:rPr lang="en-US" altLang="zh-CN" dirty="0"/>
              <a:t>ntoskrnl.exe</a:t>
            </a:r>
            <a:r>
              <a:rPr lang="zh-CN" altLang="en-US" dirty="0"/>
              <a:t>、</a:t>
            </a:r>
            <a:r>
              <a:rPr lang="en-US" altLang="zh-CN" dirty="0"/>
              <a:t>hal.dll</a:t>
            </a:r>
            <a:r>
              <a:rPr lang="zh-CN" altLang="en-US" dirty="0"/>
              <a:t>、引导文件；</a:t>
            </a:r>
            <a:r>
              <a:rPr lang="en-US" altLang="zh-CN" dirty="0"/>
              <a:t>Linux </a:t>
            </a:r>
            <a:r>
              <a:rPr lang="zh-CN" altLang="en-US" dirty="0"/>
              <a:t>中的 </a:t>
            </a:r>
            <a:r>
              <a:rPr lang="en-US" altLang="zh-CN" dirty="0"/>
              <a:t>/bin</a:t>
            </a:r>
            <a:r>
              <a:rPr lang="zh-CN" altLang="en-US" dirty="0"/>
              <a:t>、</a:t>
            </a:r>
            <a:r>
              <a:rPr lang="en-US" altLang="zh-CN" dirty="0"/>
              <a:t>/</a:t>
            </a:r>
            <a:r>
              <a:rPr lang="en-US" altLang="zh-CN" dirty="0" err="1"/>
              <a:t>sbin</a:t>
            </a:r>
            <a:r>
              <a:rPr lang="zh-CN" altLang="en-US" dirty="0"/>
              <a:t>、</a:t>
            </a:r>
            <a:r>
              <a:rPr lang="en-US" altLang="zh-CN" dirty="0"/>
              <a:t>/lib </a:t>
            </a:r>
            <a:r>
              <a:rPr lang="zh-CN" altLang="en-US" dirty="0"/>
              <a:t>下的关键二进制文件和库）。</a:t>
            </a:r>
          </a:p>
          <a:p>
            <a:pPr lvl="2">
              <a:lnSpc>
                <a:spcPct val="150000"/>
              </a:lnSpc>
            </a:pPr>
            <a:r>
              <a:rPr lang="zh-CN" altLang="en-US" dirty="0"/>
              <a:t>用户数据文件： 大规模删除用户文档、图片、数据库等，造成数据永久丢失。</a:t>
            </a:r>
          </a:p>
          <a:p>
            <a:pPr lvl="2">
              <a:lnSpc>
                <a:spcPct val="150000"/>
              </a:lnSpc>
            </a:pPr>
            <a:r>
              <a:rPr lang="zh-CN" altLang="en-US" dirty="0"/>
              <a:t>覆盖写入： 用垃圾数据或特定模式反复覆盖文件内容或硬盘扇区，确保原始数据无法恢复（比单纯删除更彻底）。</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56</a:t>
            </a:fld>
            <a:endParaRPr kumimoji="1" lang="zh-CN" altLang="en-US" dirty="0"/>
          </a:p>
        </p:txBody>
      </p:sp>
    </p:spTree>
    <p:extLst>
      <p:ext uri="{BB962C8B-B14F-4D97-AF65-F5344CB8AC3E}">
        <p14:creationId xmlns:p14="http://schemas.microsoft.com/office/powerpoint/2010/main" val="35387556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 </a:t>
            </a:r>
            <a:r>
              <a:rPr lang="zh-CN" altLang="en-US" dirty="0"/>
              <a:t>载荷</a:t>
            </a:r>
            <a:r>
              <a:rPr lang="en-US" altLang="zh-CN" dirty="0"/>
              <a:t>-</a:t>
            </a:r>
            <a:r>
              <a:rPr lang="zh-CN" altLang="en-US" dirty="0"/>
              <a:t>系统破坏</a:t>
            </a:r>
          </a:p>
        </p:txBody>
      </p:sp>
      <p:sp>
        <p:nvSpPr>
          <p:cNvPr id="3" name="内容占位符 2"/>
          <p:cNvSpPr>
            <a:spLocks noGrp="1"/>
          </p:cNvSpPr>
          <p:nvPr>
            <p:ph idx="1"/>
          </p:nvPr>
        </p:nvSpPr>
        <p:spPr>
          <a:xfrm>
            <a:off x="838200" y="1389413"/>
            <a:ext cx="10515600" cy="4940135"/>
          </a:xfrm>
        </p:spPr>
        <p:txBody>
          <a:bodyPr>
            <a:normAutofit/>
          </a:bodyPr>
          <a:lstStyle/>
          <a:p>
            <a:pPr>
              <a:lnSpc>
                <a:spcPct val="110000"/>
              </a:lnSpc>
            </a:pPr>
            <a:r>
              <a:rPr lang="zh-CN" altLang="en-US" dirty="0"/>
              <a:t>以下是恶意软件实现“系统破坏”载荷的常见手段和技术：</a:t>
            </a:r>
          </a:p>
          <a:p>
            <a:pPr lvl="1">
              <a:lnSpc>
                <a:spcPct val="110000"/>
              </a:lnSpc>
            </a:pPr>
            <a:r>
              <a:rPr lang="zh-CN" altLang="en-US" dirty="0">
                <a:solidFill>
                  <a:srgbClr val="C00000"/>
                </a:solidFill>
              </a:rPr>
              <a:t>文件系统破坏</a:t>
            </a:r>
            <a:r>
              <a:rPr lang="zh-CN" altLang="en-US" dirty="0"/>
              <a:t>：</a:t>
            </a:r>
          </a:p>
          <a:p>
            <a:pPr lvl="2">
              <a:lnSpc>
                <a:spcPct val="110000"/>
              </a:lnSpc>
            </a:pPr>
            <a:r>
              <a:rPr lang="zh-CN" altLang="en-US" dirty="0"/>
              <a:t>分区表</a:t>
            </a:r>
            <a:r>
              <a:rPr lang="en-US" altLang="zh-CN" dirty="0"/>
              <a:t>/</a:t>
            </a:r>
            <a:r>
              <a:rPr lang="zh-CN" altLang="en-US" dirty="0"/>
              <a:t>引导记录损坏： 攻击硬盘的主引导记录或分区表，导致系统无法识别硬盘或找到引导分区，从而无法启动。</a:t>
            </a:r>
          </a:p>
          <a:p>
            <a:pPr lvl="2">
              <a:lnSpc>
                <a:spcPct val="110000"/>
              </a:lnSpc>
            </a:pPr>
            <a:r>
              <a:rPr lang="zh-CN" altLang="en-US" dirty="0"/>
              <a:t>文件系统结构破坏： 损坏文件分配表、主文件表等元数据结构，导致整个文件系统逻辑混乱，文件无法访问，系统崩溃。</a:t>
            </a:r>
          </a:p>
          <a:p>
            <a:pPr lvl="2">
              <a:lnSpc>
                <a:spcPct val="110000"/>
              </a:lnSpc>
            </a:pPr>
            <a:r>
              <a:rPr lang="zh-CN" altLang="en-US" dirty="0"/>
              <a:t>格式化驱动器： 自动执行格式化命令，清除整个硬盘或特定分区上的所有数据。</a:t>
            </a:r>
          </a:p>
          <a:p>
            <a:pPr lvl="1">
              <a:lnSpc>
                <a:spcPct val="110000"/>
              </a:lnSpc>
            </a:pPr>
            <a:r>
              <a:rPr lang="zh-CN" altLang="en-US" dirty="0">
                <a:solidFill>
                  <a:srgbClr val="C00000"/>
                </a:solidFill>
              </a:rPr>
              <a:t>引导过程破坏</a:t>
            </a:r>
            <a:r>
              <a:rPr lang="zh-CN" altLang="en-US" dirty="0"/>
              <a:t>：</a:t>
            </a:r>
          </a:p>
          <a:p>
            <a:pPr lvl="2">
              <a:lnSpc>
                <a:spcPct val="110000"/>
              </a:lnSpc>
            </a:pPr>
            <a:r>
              <a:rPr lang="en-US" altLang="zh-CN" dirty="0" err="1"/>
              <a:t>Bootkit</a:t>
            </a:r>
            <a:r>
              <a:rPr lang="zh-CN" altLang="en-US" dirty="0"/>
              <a:t>： 感染引导加载程序（如 </a:t>
            </a:r>
            <a:r>
              <a:rPr lang="en-US" altLang="zh-CN" dirty="0"/>
              <a:t>Windows Boot Manager</a:t>
            </a:r>
            <a:r>
              <a:rPr lang="zh-CN" altLang="en-US" dirty="0"/>
              <a:t>），在操作系统加载前就获得控制权，可以阻止操作系统启动或植入更隐蔽的破坏代码。</a:t>
            </a:r>
          </a:p>
          <a:p>
            <a:pPr lvl="2">
              <a:lnSpc>
                <a:spcPct val="110000"/>
              </a:lnSpc>
            </a:pPr>
            <a:r>
              <a:rPr lang="zh-CN" altLang="en-US" dirty="0"/>
              <a:t>修改启动配置： 篡改系统启动配置文件（如 </a:t>
            </a:r>
            <a:r>
              <a:rPr lang="en-US" altLang="zh-CN" dirty="0"/>
              <a:t>Windows </a:t>
            </a:r>
            <a:r>
              <a:rPr lang="zh-CN" altLang="en-US" dirty="0"/>
              <a:t>的 </a:t>
            </a:r>
            <a:r>
              <a:rPr lang="en-US" altLang="zh-CN" dirty="0"/>
              <a:t>BCD</a:t>
            </a:r>
            <a:r>
              <a:rPr lang="zh-CN" altLang="en-US" dirty="0"/>
              <a:t>），导致启动失败或进入错误状态。</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57</a:t>
            </a:fld>
            <a:endParaRPr kumimoji="1" lang="zh-CN" altLang="en-US" dirty="0"/>
          </a:p>
        </p:txBody>
      </p:sp>
    </p:spTree>
    <p:extLst>
      <p:ext uri="{BB962C8B-B14F-4D97-AF65-F5344CB8AC3E}">
        <p14:creationId xmlns:p14="http://schemas.microsoft.com/office/powerpoint/2010/main" val="2895797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 </a:t>
            </a:r>
            <a:r>
              <a:rPr lang="zh-CN" altLang="en-US" dirty="0"/>
              <a:t>载荷</a:t>
            </a:r>
            <a:r>
              <a:rPr lang="en-US" altLang="zh-CN" dirty="0"/>
              <a:t>-</a:t>
            </a:r>
            <a:r>
              <a:rPr lang="zh-CN" altLang="en-US" dirty="0"/>
              <a:t>系统破坏</a:t>
            </a:r>
          </a:p>
        </p:txBody>
      </p:sp>
      <p:sp>
        <p:nvSpPr>
          <p:cNvPr id="3" name="内容占位符 2"/>
          <p:cNvSpPr>
            <a:spLocks noGrp="1"/>
          </p:cNvSpPr>
          <p:nvPr>
            <p:ph idx="1"/>
          </p:nvPr>
        </p:nvSpPr>
        <p:spPr>
          <a:xfrm>
            <a:off x="838200" y="1377537"/>
            <a:ext cx="10515600" cy="4904509"/>
          </a:xfrm>
        </p:spPr>
        <p:txBody>
          <a:bodyPr>
            <a:normAutofit/>
          </a:bodyPr>
          <a:lstStyle/>
          <a:p>
            <a:pPr>
              <a:lnSpc>
                <a:spcPct val="110000"/>
              </a:lnSpc>
            </a:pPr>
            <a:r>
              <a:rPr lang="zh-CN" altLang="en-US" dirty="0"/>
              <a:t>以下是恶意软件实现“系统破坏”载荷的常见手段和技术：</a:t>
            </a:r>
          </a:p>
          <a:p>
            <a:pPr lvl="1">
              <a:lnSpc>
                <a:spcPct val="110000"/>
              </a:lnSpc>
            </a:pPr>
            <a:r>
              <a:rPr lang="zh-CN" altLang="en-US" dirty="0">
                <a:solidFill>
                  <a:srgbClr val="C00000"/>
                </a:solidFill>
              </a:rPr>
              <a:t>系统进程</a:t>
            </a:r>
            <a:r>
              <a:rPr lang="en-US" altLang="zh-CN" dirty="0">
                <a:solidFill>
                  <a:srgbClr val="C00000"/>
                </a:solidFill>
              </a:rPr>
              <a:t>/</a:t>
            </a:r>
            <a:r>
              <a:rPr lang="zh-CN" altLang="en-US" dirty="0">
                <a:solidFill>
                  <a:srgbClr val="C00000"/>
                </a:solidFill>
              </a:rPr>
              <a:t>服务攻击</a:t>
            </a:r>
            <a:r>
              <a:rPr lang="zh-CN" altLang="en-US" dirty="0"/>
              <a:t>：</a:t>
            </a:r>
          </a:p>
          <a:p>
            <a:pPr lvl="2">
              <a:lnSpc>
                <a:spcPct val="110000"/>
              </a:lnSpc>
            </a:pPr>
            <a:r>
              <a:rPr lang="zh-CN" altLang="en-US" dirty="0"/>
              <a:t>终止关键进程： 强制终止操作系统运行必需的核心进程（如 </a:t>
            </a:r>
            <a:r>
              <a:rPr lang="en-US" altLang="zh-CN" dirty="0"/>
              <a:t>lsass.exe, csrss.exe</a:t>
            </a:r>
            <a:r>
              <a:rPr lang="zh-CN" altLang="en-US" dirty="0"/>
              <a:t>），导致系统瞬间崩溃（蓝屏）。</a:t>
            </a:r>
          </a:p>
          <a:p>
            <a:pPr lvl="2">
              <a:lnSpc>
                <a:spcPct val="110000"/>
              </a:lnSpc>
            </a:pPr>
            <a:r>
              <a:rPr lang="zh-CN" altLang="en-US" dirty="0"/>
              <a:t>劫持或破坏系统服务： 停止或修改关键系统服务的运行方式，使其失效或执行破坏性操作。</a:t>
            </a:r>
            <a:endParaRPr lang="en-US" altLang="zh-CN" dirty="0"/>
          </a:p>
          <a:p>
            <a:pPr lvl="1">
              <a:lnSpc>
                <a:spcPct val="110000"/>
              </a:lnSpc>
            </a:pPr>
            <a:r>
              <a:rPr lang="zh-CN" altLang="en-US" dirty="0">
                <a:solidFill>
                  <a:srgbClr val="C00000"/>
                </a:solidFill>
              </a:rPr>
              <a:t>注册表</a:t>
            </a:r>
            <a:r>
              <a:rPr lang="en-US" altLang="zh-CN" dirty="0">
                <a:solidFill>
                  <a:srgbClr val="C00000"/>
                </a:solidFill>
              </a:rPr>
              <a:t>/</a:t>
            </a:r>
            <a:r>
              <a:rPr lang="zh-CN" altLang="en-US" dirty="0">
                <a:solidFill>
                  <a:srgbClr val="C00000"/>
                </a:solidFill>
              </a:rPr>
              <a:t>配置破坏 </a:t>
            </a:r>
            <a:r>
              <a:rPr lang="en-US" altLang="zh-CN" dirty="0"/>
              <a:t>(Windows)</a:t>
            </a:r>
            <a:r>
              <a:rPr lang="zh-CN" altLang="en-US" dirty="0"/>
              <a:t>：</a:t>
            </a:r>
          </a:p>
          <a:p>
            <a:pPr lvl="2">
              <a:lnSpc>
                <a:spcPct val="110000"/>
              </a:lnSpc>
            </a:pPr>
            <a:r>
              <a:rPr lang="zh-CN" altLang="en-US" dirty="0"/>
              <a:t>关键注册表项删除</a:t>
            </a:r>
            <a:r>
              <a:rPr lang="en-US" altLang="zh-CN" dirty="0"/>
              <a:t>/</a:t>
            </a:r>
            <a:r>
              <a:rPr lang="zh-CN" altLang="en-US" dirty="0"/>
              <a:t>篡改： 删除或修改操作系统、驱动程序和应用程序正常运行所依赖的关键注册表项，导致服务无法启动、程序崩溃、系统蓝屏或无法登录。</a:t>
            </a:r>
          </a:p>
          <a:p>
            <a:pPr lvl="2">
              <a:lnSpc>
                <a:spcPct val="110000"/>
              </a:lnSpc>
            </a:pPr>
            <a:r>
              <a:rPr lang="zh-CN" altLang="en-US" dirty="0"/>
              <a:t>启动项注入破坏性命令： 在用户登录或系统启动时自动运行的注册表项中注入导致系统崩溃或文件删除的命令。</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58</a:t>
            </a:fld>
            <a:endParaRPr kumimoji="1" lang="zh-CN" altLang="en-US" dirty="0"/>
          </a:p>
        </p:txBody>
      </p:sp>
    </p:spTree>
    <p:extLst>
      <p:ext uri="{BB962C8B-B14F-4D97-AF65-F5344CB8AC3E}">
        <p14:creationId xmlns:p14="http://schemas.microsoft.com/office/powerpoint/2010/main" val="4888549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10.6.1 </a:t>
            </a:r>
            <a:r>
              <a:rPr kumimoji="1" lang="zh-CN" altLang="en-US" dirty="0">
                <a:solidFill>
                  <a:prstClr val="black"/>
                </a:solidFill>
              </a:rPr>
              <a:t>实质</a:t>
            </a:r>
            <a:r>
              <a:rPr kumimoji="1" lang="zh-CN" altLang="zh-CN" dirty="0">
                <a:solidFill>
                  <a:prstClr val="black"/>
                </a:solidFill>
              </a:rPr>
              <a:t>破坏</a:t>
            </a:r>
            <a:endParaRPr lang="zh-CN" altLang="en-US" dirty="0"/>
          </a:p>
        </p:txBody>
      </p:sp>
      <p:sp>
        <p:nvSpPr>
          <p:cNvPr id="3" name="内容占位符 2"/>
          <p:cNvSpPr>
            <a:spLocks noGrp="1"/>
          </p:cNvSpPr>
          <p:nvPr>
            <p:ph idx="1"/>
          </p:nvPr>
        </p:nvSpPr>
        <p:spPr/>
        <p:txBody>
          <a:bodyPr>
            <a:normAutofit fontScale="85000" lnSpcReduction="10000"/>
          </a:bodyPr>
          <a:lstStyle/>
          <a:p>
            <a:pPr>
              <a:lnSpc>
                <a:spcPct val="150000"/>
              </a:lnSpc>
            </a:pPr>
            <a:r>
              <a:rPr lang="zh-CN" altLang="en-US" dirty="0"/>
              <a:t>恶意软件的“载荷” 如果涉及</a:t>
            </a:r>
            <a:r>
              <a:rPr lang="zh-CN" altLang="en-US" b="1" dirty="0"/>
              <a:t>物理硬件破坏</a:t>
            </a:r>
            <a:r>
              <a:rPr lang="zh-CN" altLang="en-US" dirty="0"/>
              <a:t>，则代表其攻击目标已超出软件和数据层面，直接对计算机或设备的</a:t>
            </a:r>
            <a:r>
              <a:rPr lang="zh-CN" altLang="en-US" b="1" dirty="0">
                <a:solidFill>
                  <a:srgbClr val="C00000"/>
                </a:solidFill>
              </a:rPr>
              <a:t>物理组件</a:t>
            </a:r>
            <a:r>
              <a:rPr lang="zh-CN" altLang="en-US" dirty="0"/>
              <a:t>造成不可逆的损害。这类攻击通常需要高度定制化的恶意代码，且可能针对特定硬件漏洞或设计缺陷。</a:t>
            </a:r>
            <a:endParaRPr lang="en-US" altLang="zh-CN" dirty="0"/>
          </a:p>
          <a:p>
            <a:pPr>
              <a:lnSpc>
                <a:spcPct val="150000"/>
              </a:lnSpc>
            </a:pPr>
            <a:r>
              <a:rPr lang="zh-CN" altLang="en-US" b="1" dirty="0">
                <a:solidFill>
                  <a:srgbClr val="C00000"/>
                </a:solidFill>
              </a:rPr>
              <a:t>实现方式</a:t>
            </a:r>
            <a:r>
              <a:rPr lang="zh-CN" altLang="en-US" b="1" dirty="0"/>
              <a:t>：</a:t>
            </a:r>
            <a:endParaRPr lang="en-US" altLang="zh-CN" b="1" dirty="0"/>
          </a:p>
          <a:p>
            <a:r>
              <a:rPr lang="en-US" altLang="zh-CN" b="1" dirty="0"/>
              <a:t>1. </a:t>
            </a:r>
            <a:r>
              <a:rPr lang="zh-CN" altLang="en-US" b="1" dirty="0"/>
              <a:t>固件刷写攻击（</a:t>
            </a:r>
            <a:r>
              <a:rPr lang="en-US" altLang="zh-CN" b="1" dirty="0"/>
              <a:t>BIOS/UEFI/</a:t>
            </a:r>
            <a:r>
              <a:rPr lang="zh-CN" altLang="en-US" b="1" dirty="0"/>
              <a:t>外设固件）</a:t>
            </a:r>
          </a:p>
          <a:p>
            <a:pPr lvl="1"/>
            <a:r>
              <a:rPr lang="zh-CN" altLang="en-US" sz="2800" b="1" dirty="0"/>
              <a:t>手段</a:t>
            </a:r>
            <a:r>
              <a:rPr lang="zh-CN" altLang="en-US" sz="2800" dirty="0"/>
              <a:t>：</a:t>
            </a:r>
            <a:r>
              <a:rPr lang="zh-CN" altLang="en-US" dirty="0"/>
              <a:t>向固件中写入错误或非兼容版本，导致硬件无法启动（“变砖”）。</a:t>
            </a:r>
          </a:p>
          <a:p>
            <a:pPr lvl="1"/>
            <a:r>
              <a:rPr lang="zh-CN" altLang="en-US" sz="2800" b="1" dirty="0"/>
              <a:t>案例</a:t>
            </a:r>
            <a:r>
              <a:rPr lang="zh-CN" altLang="en-US" sz="2800" dirty="0"/>
              <a:t>：</a:t>
            </a:r>
          </a:p>
          <a:p>
            <a:pPr lvl="2"/>
            <a:r>
              <a:rPr lang="en-US" altLang="zh-CN" sz="2400" b="1" dirty="0" err="1"/>
              <a:t>Thunderstrike</a:t>
            </a:r>
            <a:r>
              <a:rPr lang="zh-CN" altLang="en-US" sz="2400" dirty="0"/>
              <a:t>：通过 </a:t>
            </a:r>
            <a:r>
              <a:rPr lang="en-US" altLang="zh-CN" sz="2400" dirty="0"/>
              <a:t>Thunderbolt </a:t>
            </a:r>
            <a:r>
              <a:rPr lang="zh-CN" altLang="en-US" sz="2400" dirty="0"/>
              <a:t>接口感染 </a:t>
            </a:r>
            <a:r>
              <a:rPr lang="en-US" altLang="zh-CN" sz="2400" dirty="0"/>
              <a:t>Mac </a:t>
            </a:r>
            <a:r>
              <a:rPr lang="zh-CN" altLang="en-US" sz="2400" dirty="0"/>
              <a:t>的 </a:t>
            </a:r>
            <a:r>
              <a:rPr lang="en-US" altLang="zh-CN" sz="2400" dirty="0"/>
              <a:t>EFI </a:t>
            </a:r>
            <a:r>
              <a:rPr lang="zh-CN" altLang="en-US" sz="2400" dirty="0"/>
              <a:t>固件，可覆盖固件导致主板报废。</a:t>
            </a:r>
          </a:p>
          <a:p>
            <a:pPr lvl="2"/>
            <a:r>
              <a:rPr lang="en-US" altLang="zh-CN" sz="2400" b="1" dirty="0" err="1"/>
              <a:t>BadUSB</a:t>
            </a:r>
            <a:r>
              <a:rPr lang="zh-CN" altLang="en-US" sz="2400" dirty="0"/>
              <a:t>：篡改 </a:t>
            </a:r>
            <a:r>
              <a:rPr lang="en-US" altLang="zh-CN" sz="2400" dirty="0"/>
              <a:t>USB </a:t>
            </a:r>
            <a:r>
              <a:rPr lang="zh-CN" altLang="en-US" sz="2400" dirty="0"/>
              <a:t>设备的固件，使其短路或输出破坏性电流。</a:t>
            </a:r>
            <a:endParaRPr lang="zh-CN" altLang="en-US" sz="2400" b="1"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59</a:t>
            </a:fld>
            <a:endParaRPr kumimoji="1" lang="zh-CN" altLang="en-US" dirty="0"/>
          </a:p>
        </p:txBody>
      </p:sp>
    </p:spTree>
    <p:extLst>
      <p:ext uri="{BB962C8B-B14F-4D97-AF65-F5344CB8AC3E}">
        <p14:creationId xmlns:p14="http://schemas.microsoft.com/office/powerpoint/2010/main" val="27584114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10.6.1 </a:t>
            </a:r>
            <a:r>
              <a:rPr kumimoji="1" lang="zh-CN" altLang="en-US" dirty="0">
                <a:solidFill>
                  <a:prstClr val="black"/>
                </a:solidFill>
              </a:rPr>
              <a:t>实质</a:t>
            </a:r>
            <a:r>
              <a:rPr kumimoji="1" lang="zh-CN" altLang="zh-CN" dirty="0">
                <a:solidFill>
                  <a:prstClr val="black"/>
                </a:solidFill>
              </a:rPr>
              <a:t>破坏</a:t>
            </a:r>
            <a:endParaRPr lang="zh-CN" altLang="en-US" dirty="0"/>
          </a:p>
        </p:txBody>
      </p:sp>
      <p:sp>
        <p:nvSpPr>
          <p:cNvPr id="3" name="内容占位符 2"/>
          <p:cNvSpPr>
            <a:spLocks noGrp="1"/>
          </p:cNvSpPr>
          <p:nvPr>
            <p:ph idx="1"/>
          </p:nvPr>
        </p:nvSpPr>
        <p:spPr>
          <a:xfrm>
            <a:off x="838200" y="1365662"/>
            <a:ext cx="10515600" cy="5127212"/>
          </a:xfrm>
        </p:spPr>
        <p:txBody>
          <a:bodyPr>
            <a:normAutofit fontScale="92500" lnSpcReduction="20000"/>
          </a:bodyPr>
          <a:lstStyle/>
          <a:p>
            <a:pPr>
              <a:lnSpc>
                <a:spcPct val="150000"/>
              </a:lnSpc>
            </a:pPr>
            <a:r>
              <a:rPr lang="zh-CN" altLang="en-US" b="1" dirty="0">
                <a:solidFill>
                  <a:srgbClr val="C00000"/>
                </a:solidFill>
              </a:rPr>
              <a:t>实现方式</a:t>
            </a:r>
            <a:r>
              <a:rPr lang="zh-CN" altLang="en-US" b="1" dirty="0"/>
              <a:t>：</a:t>
            </a:r>
            <a:endParaRPr lang="en-US" altLang="zh-CN" b="1" dirty="0"/>
          </a:p>
          <a:p>
            <a:pPr lvl="1">
              <a:lnSpc>
                <a:spcPct val="150000"/>
              </a:lnSpc>
            </a:pPr>
            <a:r>
              <a:rPr lang="en-US" altLang="zh-CN" b="1" dirty="0"/>
              <a:t>2. </a:t>
            </a:r>
            <a:r>
              <a:rPr lang="zh-CN" altLang="en-US" b="1" dirty="0"/>
              <a:t>超频</a:t>
            </a:r>
            <a:r>
              <a:rPr lang="en-US" altLang="zh-CN" b="1" dirty="0"/>
              <a:t>/</a:t>
            </a:r>
            <a:r>
              <a:rPr lang="zh-CN" altLang="en-US" b="1" dirty="0"/>
              <a:t>电压攻击（</a:t>
            </a:r>
            <a:r>
              <a:rPr lang="en-US" altLang="zh-CN" b="1" dirty="0"/>
              <a:t>CPU/GPU/</a:t>
            </a:r>
            <a:r>
              <a:rPr lang="zh-CN" altLang="en-US" b="1" dirty="0"/>
              <a:t>内存）</a:t>
            </a:r>
          </a:p>
          <a:p>
            <a:pPr lvl="2">
              <a:lnSpc>
                <a:spcPct val="150000"/>
              </a:lnSpc>
            </a:pPr>
            <a:r>
              <a:rPr lang="zh-CN" altLang="en-US" b="1" dirty="0"/>
              <a:t>手段</a:t>
            </a:r>
            <a:r>
              <a:rPr lang="zh-CN" altLang="en-US" dirty="0"/>
              <a:t>：恶意代码通过篡改固件或驱动，强制硬件以超出设计极限的频率或电压运行。</a:t>
            </a:r>
          </a:p>
          <a:p>
            <a:pPr lvl="2">
              <a:lnSpc>
                <a:spcPct val="150000"/>
              </a:lnSpc>
            </a:pPr>
            <a:r>
              <a:rPr lang="zh-CN" altLang="en-US" b="1" dirty="0"/>
              <a:t>后果</a:t>
            </a:r>
            <a:r>
              <a:rPr lang="zh-CN" altLang="en-US" dirty="0"/>
              <a:t>：芯片因过热或电应力损坏（如晶体管击穿、硅层熔毁），导致永久性故障。</a:t>
            </a:r>
          </a:p>
          <a:p>
            <a:pPr lvl="1">
              <a:lnSpc>
                <a:spcPct val="150000"/>
              </a:lnSpc>
            </a:pPr>
            <a:r>
              <a:rPr lang="en-US" altLang="zh-CN" b="1" dirty="0"/>
              <a:t>3. </a:t>
            </a:r>
            <a:r>
              <a:rPr lang="zh-CN" altLang="en-US" b="1" dirty="0"/>
              <a:t>存储设备破坏（</a:t>
            </a:r>
            <a:r>
              <a:rPr lang="en-US" altLang="zh-CN" b="1" dirty="0"/>
              <a:t>SSD/HDD</a:t>
            </a:r>
            <a:r>
              <a:rPr lang="zh-CN" altLang="en-US" b="1" dirty="0"/>
              <a:t>）</a:t>
            </a:r>
          </a:p>
          <a:p>
            <a:pPr lvl="2">
              <a:lnSpc>
                <a:spcPct val="150000"/>
              </a:lnSpc>
            </a:pPr>
            <a:r>
              <a:rPr lang="zh-CN" altLang="en-US" b="1" dirty="0"/>
              <a:t>手段</a:t>
            </a:r>
            <a:r>
              <a:rPr lang="zh-CN" altLang="en-US" dirty="0"/>
              <a:t>：</a:t>
            </a:r>
          </a:p>
          <a:p>
            <a:pPr lvl="3">
              <a:lnSpc>
                <a:spcPct val="150000"/>
              </a:lnSpc>
            </a:pPr>
            <a:r>
              <a:rPr lang="en-US" altLang="zh-CN" dirty="0"/>
              <a:t>SSD</a:t>
            </a:r>
            <a:r>
              <a:rPr lang="zh-CN" altLang="en-US" dirty="0"/>
              <a:t>：通过固件指令触发“写放大”攻击（反复擦写特定区块），耗尽闪存寿命；或发送非标准</a:t>
            </a:r>
            <a:r>
              <a:rPr lang="en-US" altLang="zh-CN" dirty="0"/>
              <a:t>ATA</a:t>
            </a:r>
            <a:r>
              <a:rPr lang="zh-CN" altLang="en-US" dirty="0"/>
              <a:t>命令（如 </a:t>
            </a:r>
            <a:r>
              <a:rPr lang="en-US" altLang="zh-CN" dirty="0"/>
              <a:t>SECURITY ERASE UNIT</a:t>
            </a:r>
            <a:r>
              <a:rPr lang="zh-CN" altLang="en-US" dirty="0"/>
              <a:t>）强制擦除。</a:t>
            </a:r>
          </a:p>
          <a:p>
            <a:pPr lvl="3">
              <a:lnSpc>
                <a:spcPct val="150000"/>
              </a:lnSpc>
            </a:pPr>
            <a:r>
              <a:rPr lang="en-US" altLang="zh-CN" dirty="0"/>
              <a:t>HDD</a:t>
            </a:r>
            <a:r>
              <a:rPr lang="zh-CN" altLang="en-US" dirty="0"/>
              <a:t>：利用“共振攻击”控制磁头马达，使其剧烈震动撞击盘片（如 </a:t>
            </a:r>
            <a:r>
              <a:rPr lang="en-US" altLang="zh-CN" dirty="0" err="1"/>
              <a:t>Stuxnet</a:t>
            </a:r>
            <a:r>
              <a:rPr lang="en-US" altLang="zh-CN" dirty="0"/>
              <a:t> </a:t>
            </a:r>
            <a:r>
              <a:rPr lang="zh-CN" altLang="en-US" dirty="0"/>
              <a:t>对离心机的物理破坏变种）。</a:t>
            </a:r>
          </a:p>
          <a:p>
            <a:pPr lvl="2">
              <a:lnSpc>
                <a:spcPct val="150000"/>
              </a:lnSpc>
            </a:pPr>
            <a:r>
              <a:rPr lang="zh-CN" altLang="en-US" b="1" dirty="0"/>
              <a:t>后果</a:t>
            </a:r>
            <a:r>
              <a:rPr lang="zh-CN" altLang="en-US" dirty="0"/>
              <a:t>：存储芯片或盘片物理损坏，数据无法恢复。</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60</a:t>
            </a:fld>
            <a:endParaRPr kumimoji="1" lang="zh-CN" altLang="en-US" dirty="0"/>
          </a:p>
        </p:txBody>
      </p:sp>
    </p:spTree>
    <p:extLst>
      <p:ext uri="{BB962C8B-B14F-4D97-AF65-F5344CB8AC3E}">
        <p14:creationId xmlns:p14="http://schemas.microsoft.com/office/powerpoint/2010/main" val="36719021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10.6.1 </a:t>
            </a:r>
            <a:r>
              <a:rPr kumimoji="1" lang="zh-CN" altLang="en-US" dirty="0">
                <a:solidFill>
                  <a:prstClr val="black"/>
                </a:solidFill>
              </a:rPr>
              <a:t>实质</a:t>
            </a:r>
            <a:r>
              <a:rPr kumimoji="1" lang="zh-CN" altLang="zh-CN" dirty="0">
                <a:solidFill>
                  <a:prstClr val="black"/>
                </a:solidFill>
              </a:rPr>
              <a:t>破坏</a:t>
            </a:r>
            <a:endParaRPr lang="zh-CN" altLang="en-US" dirty="0"/>
          </a:p>
        </p:txBody>
      </p:sp>
      <p:sp>
        <p:nvSpPr>
          <p:cNvPr id="3" name="内容占位符 2"/>
          <p:cNvSpPr>
            <a:spLocks noGrp="1"/>
          </p:cNvSpPr>
          <p:nvPr>
            <p:ph idx="1"/>
          </p:nvPr>
        </p:nvSpPr>
        <p:spPr>
          <a:xfrm>
            <a:off x="838200" y="1365662"/>
            <a:ext cx="10515600" cy="5127212"/>
          </a:xfrm>
        </p:spPr>
        <p:txBody>
          <a:bodyPr>
            <a:normAutofit/>
          </a:bodyPr>
          <a:lstStyle/>
          <a:p>
            <a:pPr>
              <a:lnSpc>
                <a:spcPct val="150000"/>
              </a:lnSpc>
            </a:pPr>
            <a:r>
              <a:rPr lang="zh-CN" altLang="en-US" b="1" dirty="0">
                <a:solidFill>
                  <a:srgbClr val="C00000"/>
                </a:solidFill>
              </a:rPr>
              <a:t>实现方式</a:t>
            </a:r>
            <a:r>
              <a:rPr lang="zh-CN" altLang="en-US" b="1" dirty="0"/>
              <a:t>：</a:t>
            </a:r>
            <a:endParaRPr lang="en-US" altLang="zh-CN" b="1" dirty="0"/>
          </a:p>
          <a:p>
            <a:pPr lvl="1">
              <a:lnSpc>
                <a:spcPct val="150000"/>
              </a:lnSpc>
            </a:pPr>
            <a:r>
              <a:rPr lang="en-US" altLang="zh-CN" b="1" dirty="0"/>
              <a:t>4. </a:t>
            </a:r>
            <a:r>
              <a:rPr lang="zh-CN" altLang="en-US" b="1" dirty="0"/>
              <a:t>风扇</a:t>
            </a:r>
            <a:r>
              <a:rPr lang="en-US" altLang="zh-CN" b="1" dirty="0"/>
              <a:t>/</a:t>
            </a:r>
            <a:r>
              <a:rPr lang="zh-CN" altLang="en-US" b="1" dirty="0"/>
              <a:t>散热系统破坏</a:t>
            </a:r>
          </a:p>
          <a:p>
            <a:pPr lvl="2">
              <a:lnSpc>
                <a:spcPct val="150000"/>
              </a:lnSpc>
            </a:pPr>
            <a:r>
              <a:rPr lang="zh-CN" altLang="en-US" b="1" dirty="0"/>
              <a:t>手段</a:t>
            </a:r>
            <a:r>
              <a:rPr lang="zh-CN" altLang="en-US" dirty="0"/>
              <a:t>：恶意代码关闭风扇或固定其转速为</a:t>
            </a:r>
            <a:r>
              <a:rPr lang="en-US" altLang="zh-CN" dirty="0"/>
              <a:t>0</a:t>
            </a:r>
            <a:r>
              <a:rPr lang="zh-CN" altLang="en-US" dirty="0"/>
              <a:t>，同时运行高负载任务（如挖矿代码）。</a:t>
            </a:r>
          </a:p>
          <a:p>
            <a:pPr lvl="2">
              <a:lnSpc>
                <a:spcPct val="150000"/>
              </a:lnSpc>
            </a:pPr>
            <a:r>
              <a:rPr lang="zh-CN" altLang="en-US" b="1" dirty="0"/>
              <a:t>后果</a:t>
            </a:r>
            <a:r>
              <a:rPr lang="zh-CN" altLang="en-US" dirty="0"/>
              <a:t>：</a:t>
            </a:r>
            <a:r>
              <a:rPr lang="en-US" altLang="zh-CN" dirty="0"/>
              <a:t>CPU/GPU</a:t>
            </a:r>
            <a:r>
              <a:rPr lang="zh-CN" altLang="en-US" dirty="0"/>
              <a:t>因过热触发热保护失效（如焊锡熔化、主板变形），甚至起火（极端情况下）。</a:t>
            </a:r>
          </a:p>
          <a:p>
            <a:pPr lvl="1">
              <a:lnSpc>
                <a:spcPct val="150000"/>
              </a:lnSpc>
            </a:pPr>
            <a:r>
              <a:rPr lang="en-US" altLang="zh-CN" b="1" dirty="0"/>
              <a:t>5. </a:t>
            </a:r>
            <a:r>
              <a:rPr lang="zh-CN" altLang="en-US" b="1" dirty="0"/>
              <a:t>电池攻击（锂电池过充</a:t>
            </a:r>
            <a:r>
              <a:rPr lang="en-US" altLang="zh-CN" b="1" dirty="0"/>
              <a:t>/</a:t>
            </a:r>
            <a:r>
              <a:rPr lang="zh-CN" altLang="en-US" b="1" dirty="0"/>
              <a:t>过放）</a:t>
            </a:r>
          </a:p>
          <a:p>
            <a:pPr lvl="2">
              <a:lnSpc>
                <a:spcPct val="150000"/>
              </a:lnSpc>
            </a:pPr>
            <a:r>
              <a:rPr lang="zh-CN" altLang="en-US" b="1" dirty="0"/>
              <a:t>手段</a:t>
            </a:r>
            <a:r>
              <a:rPr lang="zh-CN" altLang="en-US" dirty="0"/>
              <a:t>：篡改电源管理芯片（</a:t>
            </a:r>
            <a:r>
              <a:rPr lang="en-US" altLang="zh-CN" dirty="0"/>
              <a:t>PMIC</a:t>
            </a:r>
            <a:r>
              <a:rPr lang="zh-CN" altLang="en-US" dirty="0"/>
              <a:t>）策略，强制电池持续充电或放电至极限。</a:t>
            </a:r>
          </a:p>
          <a:p>
            <a:pPr lvl="2">
              <a:lnSpc>
                <a:spcPct val="150000"/>
              </a:lnSpc>
            </a:pPr>
            <a:r>
              <a:rPr lang="zh-CN" altLang="en-US" b="1" dirty="0"/>
              <a:t>后果</a:t>
            </a:r>
            <a:r>
              <a:rPr lang="zh-CN" altLang="en-US" dirty="0"/>
              <a:t>：电池鼓包、电解液泄漏，甚至起火爆炸（如针对物联网设备或笔记本的攻击）。</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61</a:t>
            </a:fld>
            <a:endParaRPr kumimoji="1" lang="zh-CN" altLang="en-US" dirty="0"/>
          </a:p>
        </p:txBody>
      </p:sp>
    </p:spTree>
    <p:extLst>
      <p:ext uri="{BB962C8B-B14F-4D97-AF65-F5344CB8AC3E}">
        <p14:creationId xmlns:p14="http://schemas.microsoft.com/office/powerpoint/2010/main" val="2335796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10.6.2 </a:t>
            </a:r>
            <a:r>
              <a:rPr kumimoji="1" lang="zh-CN" altLang="zh-CN" dirty="0">
                <a:solidFill>
                  <a:prstClr val="black"/>
                </a:solidFill>
              </a:rPr>
              <a:t>逻辑炸弹</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solidFill>
                  <a:srgbClr val="C00000"/>
                </a:solidFill>
              </a:rPr>
              <a:t>逻辑炸弹（</a:t>
            </a:r>
            <a:r>
              <a:rPr lang="en-US" altLang="zh-CN" dirty="0">
                <a:solidFill>
                  <a:srgbClr val="C00000"/>
                </a:solidFill>
              </a:rPr>
              <a:t>Logic Bomb</a:t>
            </a:r>
            <a:r>
              <a:rPr lang="zh-CN" altLang="en-US" dirty="0">
                <a:solidFill>
                  <a:srgbClr val="C00000"/>
                </a:solidFill>
              </a:rPr>
              <a:t>）</a:t>
            </a:r>
            <a:r>
              <a:rPr lang="zh-CN" altLang="en-US" dirty="0"/>
              <a:t>是恶意软件的一种</a:t>
            </a:r>
            <a:r>
              <a:rPr lang="zh-CN" altLang="en-US" b="1" dirty="0"/>
              <a:t>隐蔽且具有条件触发机制</a:t>
            </a:r>
            <a:r>
              <a:rPr lang="zh-CN" altLang="en-US" dirty="0"/>
              <a:t>的</a:t>
            </a:r>
            <a:r>
              <a:rPr lang="zh-CN" altLang="en-US" dirty="0">
                <a:solidFill>
                  <a:srgbClr val="C00000"/>
                </a:solidFill>
              </a:rPr>
              <a:t>数据破坏型</a:t>
            </a:r>
            <a:r>
              <a:rPr lang="zh-CN" altLang="en-US" dirty="0"/>
              <a:t>载荷，它通常隐藏在合法程序或系统中，等待特定条件满足后才会执行恶意操作。与病毒或蠕虫不同，逻辑炸弹</a:t>
            </a:r>
            <a:r>
              <a:rPr lang="zh-CN" altLang="en-US" dirty="0">
                <a:solidFill>
                  <a:srgbClr val="C00000"/>
                </a:solidFill>
              </a:rPr>
              <a:t>不会自我复制或主动传播</a:t>
            </a:r>
            <a:r>
              <a:rPr lang="zh-CN" altLang="en-US" dirty="0"/>
              <a:t>，而是依赖于</a:t>
            </a:r>
            <a:r>
              <a:rPr lang="zh-CN" altLang="en-US" b="1" dirty="0"/>
              <a:t>预设的触发条件</a:t>
            </a:r>
            <a:r>
              <a:rPr lang="zh-CN" altLang="en-US" dirty="0"/>
              <a:t>，使其更难被提前检测。</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62</a:t>
            </a:fld>
            <a:endParaRPr kumimoji="1" lang="zh-CN" altLang="en-US" dirty="0"/>
          </a:p>
        </p:txBody>
      </p:sp>
    </p:spTree>
    <p:extLst>
      <p:ext uri="{BB962C8B-B14F-4D97-AF65-F5344CB8AC3E}">
        <p14:creationId xmlns:p14="http://schemas.microsoft.com/office/powerpoint/2010/main" val="8917630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10.6.2 </a:t>
            </a:r>
            <a:r>
              <a:rPr kumimoji="1" lang="zh-CN" altLang="zh-CN" dirty="0">
                <a:solidFill>
                  <a:prstClr val="black"/>
                </a:solidFill>
              </a:rPr>
              <a:t>逻辑炸弹</a:t>
            </a:r>
            <a:endParaRPr lang="zh-CN" altLang="en-US" dirty="0"/>
          </a:p>
        </p:txBody>
      </p:sp>
      <p:sp>
        <p:nvSpPr>
          <p:cNvPr id="3" name="内容占位符 2"/>
          <p:cNvSpPr>
            <a:spLocks noGrp="1"/>
          </p:cNvSpPr>
          <p:nvPr>
            <p:ph idx="1"/>
          </p:nvPr>
        </p:nvSpPr>
        <p:spPr/>
        <p:txBody>
          <a:bodyPr/>
          <a:lstStyle/>
          <a:p>
            <a:pPr>
              <a:lnSpc>
                <a:spcPct val="150000"/>
              </a:lnSpc>
            </a:pPr>
            <a:r>
              <a:rPr lang="zh-CN" altLang="en-US" b="1" dirty="0">
                <a:solidFill>
                  <a:srgbClr val="C00000"/>
                </a:solidFill>
              </a:rPr>
              <a:t>逻辑炸弹的核心特征</a:t>
            </a:r>
          </a:p>
          <a:p>
            <a:pPr lvl="1">
              <a:lnSpc>
                <a:spcPct val="150000"/>
              </a:lnSpc>
            </a:pPr>
            <a:r>
              <a:rPr lang="zh-CN" altLang="en-US" b="1" dirty="0"/>
              <a:t>潜伏性</a:t>
            </a:r>
            <a:r>
              <a:rPr lang="zh-CN" altLang="en-US" dirty="0"/>
              <a:t>：长期隐藏在系统中，不主动执行恶意行为，避免被检测。</a:t>
            </a:r>
          </a:p>
          <a:p>
            <a:pPr lvl="1">
              <a:lnSpc>
                <a:spcPct val="150000"/>
              </a:lnSpc>
            </a:pPr>
            <a:r>
              <a:rPr lang="zh-CN" altLang="en-US" b="1" dirty="0"/>
              <a:t>条件触发</a:t>
            </a:r>
            <a:r>
              <a:rPr lang="zh-CN" altLang="en-US" dirty="0"/>
              <a:t>：依赖特定时间、事件、系统状态或外部指令才会激活。</a:t>
            </a:r>
          </a:p>
          <a:p>
            <a:pPr lvl="1">
              <a:lnSpc>
                <a:spcPct val="150000"/>
              </a:lnSpc>
            </a:pPr>
            <a:r>
              <a:rPr lang="zh-CN" altLang="en-US" b="1" dirty="0"/>
              <a:t>破坏性</a:t>
            </a:r>
            <a:r>
              <a:rPr lang="zh-CN" altLang="en-US" dirty="0"/>
              <a:t>：一旦触发，可能执行数据删除、系统破坏、勒索或信息窃取等操作。</a:t>
            </a:r>
          </a:p>
          <a:p>
            <a:pPr lvl="1">
              <a:lnSpc>
                <a:spcPct val="150000"/>
              </a:lnSpc>
            </a:pPr>
            <a:r>
              <a:rPr lang="zh-CN" altLang="en-US" b="1" dirty="0"/>
              <a:t>非传播性</a:t>
            </a:r>
            <a:r>
              <a:rPr lang="zh-CN" altLang="en-US" dirty="0"/>
              <a:t>：通常不会自我复制或感染其他系统（除非与其他恶意软件结合）。</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63</a:t>
            </a:fld>
            <a:endParaRPr kumimoji="1" lang="zh-CN" altLang="en-US" dirty="0"/>
          </a:p>
        </p:txBody>
      </p:sp>
    </p:spTree>
    <p:extLst>
      <p:ext uri="{BB962C8B-B14F-4D97-AF65-F5344CB8AC3E}">
        <p14:creationId xmlns:p14="http://schemas.microsoft.com/office/powerpoint/2010/main" val="19019305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10.6.2 </a:t>
            </a:r>
            <a:r>
              <a:rPr kumimoji="1" lang="zh-CN" altLang="zh-CN" dirty="0">
                <a:solidFill>
                  <a:prstClr val="black"/>
                </a:solidFill>
              </a:rPr>
              <a:t>逻辑炸弹</a:t>
            </a:r>
            <a:endParaRPr lang="zh-CN" altLang="en-US" dirty="0"/>
          </a:p>
        </p:txBody>
      </p:sp>
      <p:sp>
        <p:nvSpPr>
          <p:cNvPr id="3" name="内容占位符 2"/>
          <p:cNvSpPr>
            <a:spLocks noGrp="1"/>
          </p:cNvSpPr>
          <p:nvPr>
            <p:ph idx="1"/>
          </p:nvPr>
        </p:nvSpPr>
        <p:spPr/>
        <p:txBody>
          <a:bodyPr/>
          <a:lstStyle/>
          <a:p>
            <a:r>
              <a:rPr lang="zh-CN" altLang="en-US" b="1" dirty="0"/>
              <a:t>常见触发条件</a:t>
            </a:r>
          </a:p>
          <a:p>
            <a:pPr lvl="1"/>
            <a:r>
              <a:rPr lang="zh-CN" altLang="en-US" dirty="0"/>
              <a:t>逻辑炸弹的触发方式多种多样，主要包括：</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64</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52481817"/>
              </p:ext>
            </p:extLst>
          </p:nvPr>
        </p:nvGraphicFramePr>
        <p:xfrm>
          <a:off x="1070097" y="2656028"/>
          <a:ext cx="9926453" cy="3401070"/>
        </p:xfrm>
        <a:graphic>
          <a:graphicData uri="http://schemas.openxmlformats.org/drawingml/2006/table">
            <a:tbl>
              <a:tblPr firstRow="1" bandRow="1">
                <a:tableStyleId>{5C22544A-7EE6-4342-B048-85BDC9FD1C3A}</a:tableStyleId>
              </a:tblPr>
              <a:tblGrid>
                <a:gridCol w="2029363">
                  <a:extLst>
                    <a:ext uri="{9D8B030D-6E8A-4147-A177-3AD203B41FA5}">
                      <a16:colId xmlns:a16="http://schemas.microsoft.com/office/drawing/2014/main" val="1247070852"/>
                    </a:ext>
                  </a:extLst>
                </a:gridCol>
                <a:gridCol w="7897090">
                  <a:extLst>
                    <a:ext uri="{9D8B030D-6E8A-4147-A177-3AD203B41FA5}">
                      <a16:colId xmlns:a16="http://schemas.microsoft.com/office/drawing/2014/main" val="2996297583"/>
                    </a:ext>
                  </a:extLst>
                </a:gridCol>
              </a:tblGrid>
              <a:tr h="566845">
                <a:tc>
                  <a:txBody>
                    <a:bodyPr/>
                    <a:lstStyle/>
                    <a:p>
                      <a:pPr algn="l"/>
                      <a:r>
                        <a:rPr lang="zh-CN" altLang="en-US" b="1">
                          <a:effectLst/>
                        </a:rPr>
                        <a:t>触发类型</a:t>
                      </a:r>
                    </a:p>
                  </a:txBody>
                  <a:tcPr marR="95250" marT="95250" marB="95250" anchor="ctr"/>
                </a:tc>
                <a:tc>
                  <a:txBody>
                    <a:bodyPr/>
                    <a:lstStyle/>
                    <a:p>
                      <a:pPr algn="l"/>
                      <a:r>
                        <a:rPr lang="zh-CN" altLang="en-US" b="1">
                          <a:effectLst/>
                        </a:rPr>
                        <a:t>示例</a:t>
                      </a:r>
                    </a:p>
                  </a:txBody>
                  <a:tcPr marL="95250" marR="95250" marT="95250" marB="95250" anchor="ctr"/>
                </a:tc>
                <a:extLst>
                  <a:ext uri="{0D108BD9-81ED-4DB2-BD59-A6C34878D82A}">
                    <a16:rowId xmlns:a16="http://schemas.microsoft.com/office/drawing/2014/main" val="2378869773"/>
                  </a:ext>
                </a:extLst>
              </a:tr>
              <a:tr h="566845">
                <a:tc>
                  <a:txBody>
                    <a:bodyPr/>
                    <a:lstStyle/>
                    <a:p>
                      <a:r>
                        <a:rPr lang="zh-CN" altLang="en-US" b="1">
                          <a:effectLst/>
                        </a:rPr>
                        <a:t>时间触发</a:t>
                      </a:r>
                      <a:endParaRPr lang="zh-CN" altLang="en-US">
                        <a:effectLst/>
                      </a:endParaRPr>
                    </a:p>
                  </a:txBody>
                  <a:tcPr marR="95250" marT="95250" marB="95250" anchor="ctr"/>
                </a:tc>
                <a:tc>
                  <a:txBody>
                    <a:bodyPr/>
                    <a:lstStyle/>
                    <a:p>
                      <a:r>
                        <a:rPr lang="zh-CN" altLang="en-US">
                          <a:effectLst/>
                        </a:rPr>
                        <a:t>在特定日期（如“周五</a:t>
                      </a:r>
                      <a:r>
                        <a:rPr lang="en-US" altLang="zh-CN">
                          <a:effectLst/>
                        </a:rPr>
                        <a:t>13</a:t>
                      </a:r>
                      <a:r>
                        <a:rPr lang="zh-CN" altLang="en-US">
                          <a:effectLst/>
                        </a:rPr>
                        <a:t>号”）、周年纪念日或倒计时结束后激活。</a:t>
                      </a:r>
                    </a:p>
                  </a:txBody>
                  <a:tcPr marL="95250" marR="95250" marT="95250" marB="95250" anchor="ctr"/>
                </a:tc>
                <a:extLst>
                  <a:ext uri="{0D108BD9-81ED-4DB2-BD59-A6C34878D82A}">
                    <a16:rowId xmlns:a16="http://schemas.microsoft.com/office/drawing/2014/main" val="657433788"/>
                  </a:ext>
                </a:extLst>
              </a:tr>
              <a:tr h="566845">
                <a:tc>
                  <a:txBody>
                    <a:bodyPr/>
                    <a:lstStyle/>
                    <a:p>
                      <a:r>
                        <a:rPr lang="zh-CN" altLang="en-US" b="1">
                          <a:effectLst/>
                        </a:rPr>
                        <a:t>事件触发</a:t>
                      </a:r>
                      <a:endParaRPr lang="zh-CN" altLang="en-US">
                        <a:effectLst/>
                      </a:endParaRPr>
                    </a:p>
                  </a:txBody>
                  <a:tcPr marR="95250" marT="95250" marB="95250" anchor="ctr"/>
                </a:tc>
                <a:tc>
                  <a:txBody>
                    <a:bodyPr/>
                    <a:lstStyle/>
                    <a:p>
                      <a:r>
                        <a:rPr lang="zh-CN" altLang="en-US">
                          <a:effectLst/>
                        </a:rPr>
                        <a:t>当某个文件被删除、某位员工账号被停用、系统日志达到特定条目时触发。</a:t>
                      </a:r>
                    </a:p>
                  </a:txBody>
                  <a:tcPr marL="95250" marR="95250" marT="95250" marB="95250" anchor="ctr"/>
                </a:tc>
                <a:extLst>
                  <a:ext uri="{0D108BD9-81ED-4DB2-BD59-A6C34878D82A}">
                    <a16:rowId xmlns:a16="http://schemas.microsoft.com/office/drawing/2014/main" val="4243550846"/>
                  </a:ext>
                </a:extLst>
              </a:tr>
              <a:tr h="566845">
                <a:tc>
                  <a:txBody>
                    <a:bodyPr/>
                    <a:lstStyle/>
                    <a:p>
                      <a:r>
                        <a:rPr lang="zh-CN" altLang="en-US" b="1">
                          <a:effectLst/>
                        </a:rPr>
                        <a:t>系统状态触发</a:t>
                      </a:r>
                      <a:endParaRPr lang="zh-CN" altLang="en-US">
                        <a:effectLst/>
                      </a:endParaRPr>
                    </a:p>
                  </a:txBody>
                  <a:tcPr marR="95250" marT="95250" marB="95250" anchor="ctr"/>
                </a:tc>
                <a:tc>
                  <a:txBody>
                    <a:bodyPr/>
                    <a:lstStyle/>
                    <a:p>
                      <a:r>
                        <a:rPr lang="en-US" altLang="zh-CN">
                          <a:effectLst/>
                        </a:rPr>
                        <a:t>CPU </a:t>
                      </a:r>
                      <a:r>
                        <a:rPr lang="zh-CN" altLang="en-US">
                          <a:effectLst/>
                        </a:rPr>
                        <a:t>使用率超过阈值、硬盘剩余空间不足、特定进程未运行时激活。</a:t>
                      </a:r>
                    </a:p>
                  </a:txBody>
                  <a:tcPr marL="95250" marR="95250" marT="95250" marB="95250" anchor="ctr"/>
                </a:tc>
                <a:extLst>
                  <a:ext uri="{0D108BD9-81ED-4DB2-BD59-A6C34878D82A}">
                    <a16:rowId xmlns:a16="http://schemas.microsoft.com/office/drawing/2014/main" val="2315656934"/>
                  </a:ext>
                </a:extLst>
              </a:tr>
              <a:tr h="566845">
                <a:tc>
                  <a:txBody>
                    <a:bodyPr/>
                    <a:lstStyle/>
                    <a:p>
                      <a:r>
                        <a:rPr lang="zh-CN" altLang="en-US" b="1">
                          <a:effectLst/>
                        </a:rPr>
                        <a:t>外部指令触发</a:t>
                      </a:r>
                      <a:endParaRPr lang="zh-CN" altLang="en-US">
                        <a:effectLst/>
                      </a:endParaRPr>
                    </a:p>
                  </a:txBody>
                  <a:tcPr marR="95250" marT="95250" marB="95250" anchor="ctr"/>
                </a:tc>
                <a:tc>
                  <a:txBody>
                    <a:bodyPr/>
                    <a:lstStyle/>
                    <a:p>
                      <a:r>
                        <a:rPr lang="zh-CN" altLang="en-US">
                          <a:effectLst/>
                        </a:rPr>
                        <a:t>通过远程</a:t>
                      </a:r>
                      <a:r>
                        <a:rPr lang="en-US" altLang="zh-CN">
                          <a:effectLst/>
                        </a:rPr>
                        <a:t>C&amp;C</a:t>
                      </a:r>
                      <a:r>
                        <a:rPr lang="zh-CN" altLang="en-US">
                          <a:effectLst/>
                        </a:rPr>
                        <a:t>服务器发送指令，或检测到特定网络信号后执行。</a:t>
                      </a:r>
                    </a:p>
                  </a:txBody>
                  <a:tcPr marL="95250" marR="95250" marT="95250" marB="95250" anchor="ctr"/>
                </a:tc>
                <a:extLst>
                  <a:ext uri="{0D108BD9-81ED-4DB2-BD59-A6C34878D82A}">
                    <a16:rowId xmlns:a16="http://schemas.microsoft.com/office/drawing/2014/main" val="130649521"/>
                  </a:ext>
                </a:extLst>
              </a:tr>
              <a:tr h="566845">
                <a:tc>
                  <a:txBody>
                    <a:bodyPr/>
                    <a:lstStyle/>
                    <a:p>
                      <a:r>
                        <a:rPr lang="zh-CN" altLang="en-US" b="1">
                          <a:effectLst/>
                        </a:rPr>
                        <a:t>逻辑条件触发</a:t>
                      </a:r>
                      <a:endParaRPr lang="zh-CN" altLang="en-US">
                        <a:effectLst/>
                      </a:endParaRPr>
                    </a:p>
                  </a:txBody>
                  <a:tcPr marR="95250" marT="95250" marB="95250" anchor="ctr"/>
                </a:tc>
                <a:tc>
                  <a:txBody>
                    <a:bodyPr/>
                    <a:lstStyle/>
                    <a:p>
                      <a:r>
                        <a:rPr lang="zh-CN" altLang="en-US" dirty="0">
                          <a:effectLst/>
                        </a:rPr>
                        <a:t>检查系统环境（如语言、</a:t>
                      </a:r>
                      <a:r>
                        <a:rPr lang="en-US" altLang="zh-CN" dirty="0">
                          <a:effectLst/>
                        </a:rPr>
                        <a:t>IP</a:t>
                      </a:r>
                      <a:r>
                        <a:rPr lang="zh-CN" altLang="en-US" dirty="0">
                          <a:effectLst/>
                        </a:rPr>
                        <a:t>地址、硬件序列号）是否符合攻击目标。</a:t>
                      </a:r>
                    </a:p>
                  </a:txBody>
                  <a:tcPr marL="95250" marR="95250" marT="95250" marB="95250" anchor="ctr"/>
                </a:tc>
                <a:extLst>
                  <a:ext uri="{0D108BD9-81ED-4DB2-BD59-A6C34878D82A}">
                    <a16:rowId xmlns:a16="http://schemas.microsoft.com/office/drawing/2014/main" val="867690623"/>
                  </a:ext>
                </a:extLst>
              </a:tr>
            </a:tbl>
          </a:graphicData>
        </a:graphic>
      </p:graphicFrame>
    </p:spTree>
    <p:extLst>
      <p:ext uri="{BB962C8B-B14F-4D97-AF65-F5344CB8AC3E}">
        <p14:creationId xmlns:p14="http://schemas.microsoft.com/office/powerpoint/2010/main" val="28972576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10.6.2 </a:t>
            </a:r>
            <a:r>
              <a:rPr kumimoji="1" lang="zh-CN" altLang="zh-CN" dirty="0">
                <a:solidFill>
                  <a:prstClr val="black"/>
                </a:solidFill>
              </a:rPr>
              <a:t>逻辑炸弹</a:t>
            </a:r>
            <a:endParaRPr lang="zh-CN" altLang="en-US" dirty="0"/>
          </a:p>
        </p:txBody>
      </p:sp>
      <p:sp>
        <p:nvSpPr>
          <p:cNvPr id="3" name="内容占位符 2"/>
          <p:cNvSpPr>
            <a:spLocks noGrp="1"/>
          </p:cNvSpPr>
          <p:nvPr>
            <p:ph idx="1"/>
          </p:nvPr>
        </p:nvSpPr>
        <p:spPr>
          <a:xfrm>
            <a:off x="838200" y="1377538"/>
            <a:ext cx="10515600" cy="4619502"/>
          </a:xfrm>
        </p:spPr>
        <p:txBody>
          <a:bodyPr>
            <a:normAutofit/>
          </a:bodyPr>
          <a:lstStyle/>
          <a:p>
            <a:r>
              <a:rPr lang="zh-CN" altLang="en-US" b="1" dirty="0">
                <a:solidFill>
                  <a:srgbClr val="C00000"/>
                </a:solidFill>
              </a:rPr>
              <a:t>逻辑炸弹的典型攻击方式</a:t>
            </a:r>
          </a:p>
          <a:p>
            <a:pPr lvl="1"/>
            <a:r>
              <a:rPr lang="zh-CN" altLang="en-US" b="1" dirty="0"/>
              <a:t>（</a:t>
            </a:r>
            <a:r>
              <a:rPr lang="en-US" altLang="zh-CN" b="1" dirty="0"/>
              <a:t>1</a:t>
            </a:r>
            <a:r>
              <a:rPr lang="zh-CN" altLang="en-US" b="1" dirty="0"/>
              <a:t>）数据删除</a:t>
            </a:r>
            <a:r>
              <a:rPr lang="en-US" altLang="zh-CN" b="1" dirty="0"/>
              <a:t>/</a:t>
            </a:r>
            <a:r>
              <a:rPr lang="zh-CN" altLang="en-US" b="1" dirty="0"/>
              <a:t>加密</a:t>
            </a:r>
          </a:p>
          <a:p>
            <a:pPr lvl="2"/>
            <a:r>
              <a:rPr lang="zh-CN" altLang="en-US" dirty="0"/>
              <a:t>在触发后删除关键文件（如数据库、源代码、财务记录）。</a:t>
            </a:r>
          </a:p>
          <a:p>
            <a:pPr lvl="2"/>
            <a:r>
              <a:rPr lang="zh-CN" altLang="en-US" dirty="0"/>
              <a:t>加密文件并勒索赎金（类似勒索软件，但需手动触发）。</a:t>
            </a:r>
          </a:p>
          <a:p>
            <a:pPr lvl="2"/>
            <a:r>
              <a:rPr lang="zh-CN" altLang="en-US" dirty="0"/>
              <a:t>案例：“上海震旦逻辑炸弹”案（</a:t>
            </a:r>
            <a:r>
              <a:rPr lang="en-US" altLang="zh-CN" dirty="0"/>
              <a:t>2018</a:t>
            </a:r>
            <a:r>
              <a:rPr lang="zh-CN" altLang="en-US" dirty="0"/>
              <a:t>）：某</a:t>
            </a:r>
            <a:r>
              <a:rPr lang="en-US" altLang="zh-CN" dirty="0"/>
              <a:t>IT</a:t>
            </a:r>
            <a:r>
              <a:rPr lang="zh-CN" altLang="en-US" dirty="0"/>
              <a:t>员工在公司系统中植入逻辑炸弹，在特定时间删除关键数据，导致业务瘫痪。</a:t>
            </a:r>
          </a:p>
          <a:p>
            <a:pPr lvl="1"/>
            <a:r>
              <a:rPr lang="zh-CN" altLang="en-US" b="1" dirty="0"/>
              <a:t>（</a:t>
            </a:r>
            <a:r>
              <a:rPr lang="en-US" altLang="zh-CN" b="1" dirty="0"/>
              <a:t>2</a:t>
            </a:r>
            <a:r>
              <a:rPr lang="zh-CN" altLang="en-US" b="1" dirty="0"/>
              <a:t>）系统破坏</a:t>
            </a:r>
          </a:p>
          <a:p>
            <a:pPr lvl="2"/>
            <a:r>
              <a:rPr lang="zh-CN" altLang="en-US" dirty="0"/>
              <a:t>覆盖引导扇区（</a:t>
            </a:r>
            <a:r>
              <a:rPr lang="en-US" altLang="zh-CN" dirty="0"/>
              <a:t>MBR</a:t>
            </a:r>
            <a:r>
              <a:rPr lang="zh-CN" altLang="en-US" dirty="0"/>
              <a:t>），使计算机无法启动。</a:t>
            </a:r>
          </a:p>
          <a:p>
            <a:pPr lvl="2"/>
            <a:r>
              <a:rPr lang="zh-CN" altLang="en-US" dirty="0"/>
              <a:t>修改注册表或系统配置文件，导致蓝屏或服务崩溃。</a:t>
            </a:r>
          </a:p>
          <a:p>
            <a:pPr lvl="2"/>
            <a:r>
              <a:rPr lang="zh-CN" altLang="en-US" dirty="0"/>
              <a:t>案例：“</a:t>
            </a:r>
            <a:r>
              <a:rPr lang="en-US" altLang="zh-CN" dirty="0"/>
              <a:t>Siemens </a:t>
            </a:r>
            <a:r>
              <a:rPr lang="zh-CN" altLang="en-US" dirty="0"/>
              <a:t>逻辑炸弹”事件（</a:t>
            </a:r>
            <a:r>
              <a:rPr lang="en-US" altLang="zh-CN" dirty="0"/>
              <a:t>2008</a:t>
            </a:r>
            <a:r>
              <a:rPr lang="zh-CN" altLang="en-US" dirty="0"/>
              <a:t>）：一名前员工在离职前植入逻辑炸弹，导致公司大量工业控制系统崩溃。</a:t>
            </a:r>
          </a:p>
          <a:p>
            <a:pPr lvl="1"/>
            <a:endParaRPr lang="zh-CN" altLang="en-US" b="1"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65</a:t>
            </a:fld>
            <a:endParaRPr kumimoji="1" lang="zh-CN" altLang="en-US" dirty="0"/>
          </a:p>
        </p:txBody>
      </p:sp>
    </p:spTree>
    <p:extLst>
      <p:ext uri="{BB962C8B-B14F-4D97-AF65-F5344CB8AC3E}">
        <p14:creationId xmlns:p14="http://schemas.microsoft.com/office/powerpoint/2010/main" val="39649313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10.6.2 </a:t>
            </a:r>
            <a:r>
              <a:rPr kumimoji="1" lang="zh-CN" altLang="zh-CN" dirty="0">
                <a:solidFill>
                  <a:prstClr val="black"/>
                </a:solidFill>
              </a:rPr>
              <a:t>逻辑炸弹</a:t>
            </a:r>
            <a:endParaRPr lang="zh-CN" altLang="en-US" dirty="0"/>
          </a:p>
        </p:txBody>
      </p:sp>
      <p:sp>
        <p:nvSpPr>
          <p:cNvPr id="3" name="内容占位符 2"/>
          <p:cNvSpPr>
            <a:spLocks noGrp="1"/>
          </p:cNvSpPr>
          <p:nvPr>
            <p:ph idx="1"/>
          </p:nvPr>
        </p:nvSpPr>
        <p:spPr>
          <a:xfrm>
            <a:off x="838200" y="1377538"/>
            <a:ext cx="10515600" cy="4619502"/>
          </a:xfrm>
        </p:spPr>
        <p:txBody>
          <a:bodyPr>
            <a:normAutofit/>
          </a:bodyPr>
          <a:lstStyle/>
          <a:p>
            <a:r>
              <a:rPr lang="zh-CN" altLang="en-US" b="1" dirty="0">
                <a:solidFill>
                  <a:srgbClr val="C00000"/>
                </a:solidFill>
              </a:rPr>
              <a:t>逻辑炸弹的典型攻击方式</a:t>
            </a:r>
          </a:p>
          <a:p>
            <a:pPr lvl="1"/>
            <a:r>
              <a:rPr lang="zh-CN" altLang="en-US" b="1" dirty="0"/>
              <a:t>（</a:t>
            </a:r>
            <a:r>
              <a:rPr lang="en-US" altLang="zh-CN" b="1" dirty="0"/>
              <a:t>3</a:t>
            </a:r>
            <a:r>
              <a:rPr lang="zh-CN" altLang="en-US" b="1" dirty="0"/>
              <a:t>）隐蔽后门</a:t>
            </a:r>
          </a:p>
          <a:p>
            <a:pPr lvl="2"/>
            <a:r>
              <a:rPr lang="zh-CN" altLang="en-US" dirty="0"/>
              <a:t>在触发后开放远程访问端口，允许攻击者接管系统。</a:t>
            </a:r>
          </a:p>
          <a:p>
            <a:pPr lvl="2"/>
            <a:r>
              <a:rPr lang="zh-CN" altLang="en-US" dirty="0"/>
              <a:t>窃取敏感数据并自动发送到指定服务器。</a:t>
            </a:r>
          </a:p>
          <a:p>
            <a:pPr lvl="2"/>
            <a:r>
              <a:rPr lang="zh-CN" altLang="en-US" dirty="0"/>
              <a:t>案例：“</a:t>
            </a:r>
            <a:r>
              <a:rPr lang="en-US" altLang="zh-CN" dirty="0"/>
              <a:t>Equation Group”</a:t>
            </a:r>
            <a:r>
              <a:rPr lang="zh-CN" altLang="en-US" dirty="0"/>
              <a:t>间谍工具：某些高级</a:t>
            </a:r>
            <a:r>
              <a:rPr lang="en-US" altLang="zh-CN" dirty="0"/>
              <a:t>APT</a:t>
            </a:r>
            <a:r>
              <a:rPr lang="zh-CN" altLang="en-US" dirty="0"/>
              <a:t>组织使用逻辑炸弹机制，仅在检测到特定目标时才会激活间谍功能。</a:t>
            </a:r>
          </a:p>
          <a:p>
            <a:pPr lvl="1"/>
            <a:r>
              <a:rPr lang="zh-CN" altLang="en-US" b="1" dirty="0"/>
              <a:t>（</a:t>
            </a:r>
            <a:r>
              <a:rPr lang="en-US" altLang="zh-CN" b="1" dirty="0"/>
              <a:t>4</a:t>
            </a:r>
            <a:r>
              <a:rPr lang="zh-CN" altLang="en-US" b="1" dirty="0"/>
              <a:t>）财务欺诈</a:t>
            </a:r>
          </a:p>
          <a:p>
            <a:pPr lvl="2"/>
            <a:r>
              <a:rPr lang="zh-CN" altLang="en-US" dirty="0"/>
              <a:t>在特定条件下篡改金融交易数据（如银行系统、股票交易）。</a:t>
            </a:r>
          </a:p>
          <a:p>
            <a:pPr lvl="2"/>
            <a:r>
              <a:rPr lang="zh-CN" altLang="en-US" dirty="0"/>
              <a:t>自动转移资金到攻击者账户。</a:t>
            </a:r>
          </a:p>
          <a:p>
            <a:pPr lvl="2"/>
            <a:r>
              <a:rPr lang="zh-CN" altLang="en-US" dirty="0"/>
              <a:t>案例：“韩国农协银行逻辑炸弹”事件（</a:t>
            </a:r>
            <a:r>
              <a:rPr lang="en-US" altLang="zh-CN" dirty="0"/>
              <a:t>2011</a:t>
            </a:r>
            <a:r>
              <a:rPr lang="zh-CN" altLang="en-US" dirty="0"/>
              <a:t>）：内部人员植入恶意代码，导致银行系统在特定时间瘫痪，并掩盖资金窃取行为。</a:t>
            </a:r>
          </a:p>
          <a:p>
            <a:pPr lvl="1"/>
            <a:endParaRPr lang="zh-CN" altLang="en-US" b="1"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66</a:t>
            </a:fld>
            <a:endParaRPr kumimoji="1" lang="zh-CN" altLang="en-US" dirty="0"/>
          </a:p>
        </p:txBody>
      </p:sp>
    </p:spTree>
    <p:extLst>
      <p:ext uri="{BB962C8B-B14F-4D97-AF65-F5344CB8AC3E}">
        <p14:creationId xmlns:p14="http://schemas.microsoft.com/office/powerpoint/2010/main" val="36343766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solidFill>
                  <a:srgbClr val="C00000"/>
                </a:solidFill>
              </a:rPr>
              <a:t>10.7 </a:t>
            </a:r>
            <a:r>
              <a:rPr kumimoji="1" lang="zh-CN" altLang="zh-CN" sz="3000" dirty="0">
                <a:solidFill>
                  <a:srgbClr val="C00000"/>
                </a:solidFill>
              </a:rPr>
              <a:t>载荷</a:t>
            </a:r>
            <a:r>
              <a:rPr kumimoji="1" lang="en-US" altLang="zh-CN" sz="3000" dirty="0">
                <a:solidFill>
                  <a:srgbClr val="C00000"/>
                </a:solidFill>
              </a:rPr>
              <a:t>-</a:t>
            </a:r>
            <a:r>
              <a:rPr kumimoji="1" lang="zh-CN" altLang="zh-CN" sz="3000" dirty="0">
                <a:solidFill>
                  <a:srgbClr val="C00000"/>
                </a:solidFill>
              </a:rPr>
              <a:t>攻击代理</a:t>
            </a:r>
            <a:r>
              <a:rPr kumimoji="1" lang="en-US" altLang="zh-CN" sz="3000" dirty="0">
                <a:solidFill>
                  <a:srgbClr val="C00000"/>
                </a:solidFill>
              </a:rPr>
              <a:t>-</a:t>
            </a:r>
            <a:r>
              <a:rPr kumimoji="1" lang="zh-CN" altLang="zh-CN" sz="3000" dirty="0">
                <a:solidFill>
                  <a:srgbClr val="C00000"/>
                </a:solidFill>
              </a:rPr>
              <a:t>僵尸病毒与机器人</a:t>
            </a:r>
            <a:endParaRPr kumimoji="1" lang="en-US" altLang="zh-CN" sz="3000" dirty="0">
              <a:solidFill>
                <a:srgbClr val="C00000"/>
              </a:solidFill>
            </a:endParaRPr>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968343" y="3325090"/>
            <a:ext cx="3433948" cy="1579417"/>
          </a:xfrm>
          <a:prstGeom prst="wedgeRectCallout">
            <a:avLst>
              <a:gd name="adj1" fmla="val -111415"/>
              <a:gd name="adj2" fmla="val 1181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机器人的用途</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远程控制设备</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8504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10.7 </a:t>
            </a:r>
            <a:r>
              <a:rPr lang="zh-CN" altLang="zh-CN" sz="3600" dirty="0"/>
              <a:t>载荷</a:t>
            </a:r>
            <a:r>
              <a:rPr lang="en-US" altLang="zh-CN" sz="3600" dirty="0"/>
              <a:t>-</a:t>
            </a:r>
            <a:r>
              <a:rPr lang="zh-CN" altLang="zh-CN" sz="3600" dirty="0"/>
              <a:t>攻击代理</a:t>
            </a:r>
            <a:r>
              <a:rPr lang="en-US" altLang="zh-CN" sz="3600" dirty="0"/>
              <a:t>-</a:t>
            </a:r>
            <a:r>
              <a:rPr lang="zh-CN" altLang="zh-CN" sz="3600" dirty="0"/>
              <a:t>僵尸病毒与机器人</a:t>
            </a:r>
            <a:endParaRPr lang="zh-CN" altLang="en-US" sz="3600" dirty="0"/>
          </a:p>
        </p:txBody>
      </p:sp>
      <p:sp>
        <p:nvSpPr>
          <p:cNvPr id="3" name="内容占位符 2"/>
          <p:cNvSpPr>
            <a:spLocks noGrp="1"/>
          </p:cNvSpPr>
          <p:nvPr>
            <p:ph idx="1"/>
          </p:nvPr>
        </p:nvSpPr>
        <p:spPr/>
        <p:txBody>
          <a:bodyPr/>
          <a:lstStyle/>
          <a:p>
            <a:pPr>
              <a:lnSpc>
                <a:spcPct val="150000"/>
              </a:lnSpc>
            </a:pPr>
            <a:r>
              <a:rPr lang="zh-CN" altLang="en-US" dirty="0"/>
              <a:t>恶意软件破坏已感染的计算和网络资源以便被攻击者使用，这类系统被称为</a:t>
            </a:r>
            <a:r>
              <a:rPr lang="zh-CN" altLang="en-US" dirty="0">
                <a:solidFill>
                  <a:srgbClr val="C00000"/>
                </a:solidFill>
              </a:rPr>
              <a:t>机器人、僵尸或无人机。</a:t>
            </a:r>
            <a:endParaRPr lang="en-US" altLang="zh-CN" dirty="0">
              <a:solidFill>
                <a:srgbClr val="C00000"/>
              </a:solidFill>
            </a:endParaRPr>
          </a:p>
          <a:p>
            <a:pPr>
              <a:lnSpc>
                <a:spcPct val="150000"/>
              </a:lnSpc>
            </a:pPr>
            <a:r>
              <a:rPr lang="zh-CN" altLang="en-US" dirty="0">
                <a:solidFill>
                  <a:srgbClr val="C00000"/>
                </a:solidFill>
              </a:rPr>
              <a:t>僵尸病毒（</a:t>
            </a:r>
            <a:r>
              <a:rPr lang="en-US" altLang="zh-CN" dirty="0">
                <a:solidFill>
                  <a:srgbClr val="C00000"/>
                </a:solidFill>
              </a:rPr>
              <a:t>Botnet Malware</a:t>
            </a:r>
            <a:r>
              <a:rPr lang="zh-CN" altLang="en-US" dirty="0">
                <a:solidFill>
                  <a:srgbClr val="C00000"/>
                </a:solidFill>
              </a:rPr>
              <a:t>）</a:t>
            </a:r>
            <a:r>
              <a:rPr lang="zh-CN" altLang="en-US" dirty="0"/>
              <a:t>是一种将受感染设备转变为</a:t>
            </a:r>
            <a:r>
              <a:rPr lang="zh-CN" altLang="en-US" b="1" dirty="0"/>
              <a:t>远程控制攻击代理（</a:t>
            </a:r>
            <a:r>
              <a:rPr lang="en-US" altLang="zh-CN" b="1" dirty="0"/>
              <a:t>Bot</a:t>
            </a:r>
            <a:r>
              <a:rPr lang="zh-CN" altLang="en-US" b="1" dirty="0"/>
              <a:t>）</a:t>
            </a:r>
            <a:r>
              <a:rPr lang="zh-CN" altLang="en-US" dirty="0"/>
              <a:t>的恶意软件，这些被控制的设备（“僵尸”）组成</a:t>
            </a:r>
            <a:r>
              <a:rPr lang="zh-CN" altLang="en-US" b="1" dirty="0"/>
              <a:t>僵尸网络（</a:t>
            </a:r>
            <a:r>
              <a:rPr lang="en-US" altLang="zh-CN" b="1" dirty="0"/>
              <a:t>Botnet</a:t>
            </a:r>
            <a:r>
              <a:rPr lang="zh-CN" altLang="en-US" b="1" dirty="0"/>
              <a:t>）</a:t>
            </a:r>
            <a:r>
              <a:rPr lang="zh-CN" altLang="en-US" dirty="0"/>
              <a:t>，可被攻击者（</a:t>
            </a:r>
            <a:r>
              <a:rPr lang="en-US" altLang="zh-CN" dirty="0" err="1"/>
              <a:t>Botmaster</a:t>
            </a:r>
            <a:r>
              <a:rPr lang="zh-CN" altLang="en-US" dirty="0"/>
              <a:t>）集中操控，用于发动大规模网络攻击。</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68</a:t>
            </a:fld>
            <a:endParaRPr kumimoji="1" lang="zh-CN" altLang="en-US" dirty="0"/>
          </a:p>
        </p:txBody>
      </p:sp>
    </p:spTree>
    <p:extLst>
      <p:ext uri="{BB962C8B-B14F-4D97-AF65-F5344CB8AC3E}">
        <p14:creationId xmlns:p14="http://schemas.microsoft.com/office/powerpoint/2010/main" val="19899820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10.7.1 </a:t>
            </a:r>
            <a:r>
              <a:rPr kumimoji="1" lang="zh-CN" altLang="zh-CN" dirty="0">
                <a:solidFill>
                  <a:prstClr val="black"/>
                </a:solidFill>
              </a:rPr>
              <a:t>机器人的用途</a:t>
            </a:r>
            <a:endParaRPr lang="zh-CN" altLang="en-US" dirty="0"/>
          </a:p>
        </p:txBody>
      </p:sp>
      <p:sp>
        <p:nvSpPr>
          <p:cNvPr id="3" name="内容占位符 2"/>
          <p:cNvSpPr>
            <a:spLocks noGrp="1"/>
          </p:cNvSpPr>
          <p:nvPr>
            <p:ph idx="1"/>
          </p:nvPr>
        </p:nvSpPr>
        <p:spPr>
          <a:xfrm>
            <a:off x="838200" y="1413163"/>
            <a:ext cx="10515600" cy="4785755"/>
          </a:xfrm>
        </p:spPr>
        <p:txBody>
          <a:bodyPr>
            <a:normAutofit fontScale="85000" lnSpcReduction="10000"/>
          </a:bodyPr>
          <a:lstStyle/>
          <a:p>
            <a:pPr>
              <a:lnSpc>
                <a:spcPct val="130000"/>
              </a:lnSpc>
            </a:pPr>
            <a:r>
              <a:rPr lang="zh-CN" altLang="en-US" dirty="0">
                <a:solidFill>
                  <a:srgbClr val="C00000"/>
                </a:solidFill>
              </a:rPr>
              <a:t>分布式拒绝服务（</a:t>
            </a:r>
            <a:r>
              <a:rPr lang="en-US" altLang="zh-CN" dirty="0" err="1">
                <a:solidFill>
                  <a:srgbClr val="C00000"/>
                </a:solidFill>
              </a:rPr>
              <a:t>DDoS</a:t>
            </a:r>
            <a:r>
              <a:rPr lang="zh-CN" altLang="en-US" dirty="0">
                <a:solidFill>
                  <a:srgbClr val="C00000"/>
                </a:solidFill>
              </a:rPr>
              <a:t>）攻击</a:t>
            </a:r>
            <a:r>
              <a:rPr lang="zh-CN" altLang="en-US" dirty="0"/>
              <a:t>：</a:t>
            </a:r>
            <a:r>
              <a:rPr lang="en-US" altLang="zh-CN" dirty="0" err="1"/>
              <a:t>DDos</a:t>
            </a:r>
            <a:r>
              <a:rPr lang="zh-CN" altLang="en-US" dirty="0"/>
              <a:t>攻击针对计算机系统或网络，会引起对用户的服务失效。</a:t>
            </a:r>
            <a:endParaRPr lang="en-US" altLang="zh-CN" dirty="0"/>
          </a:p>
          <a:p>
            <a:pPr>
              <a:lnSpc>
                <a:spcPct val="130000"/>
              </a:lnSpc>
            </a:pPr>
            <a:r>
              <a:rPr lang="zh-CN" altLang="en-US" dirty="0">
                <a:solidFill>
                  <a:srgbClr val="C00000"/>
                </a:solidFill>
              </a:rPr>
              <a:t>垃圾邮件</a:t>
            </a:r>
            <a:r>
              <a:rPr lang="zh-CN" altLang="en-US" dirty="0"/>
              <a:t>：在一个机器人网络和数千机器人的协助下，攻击者可以发送大量的垃圾邮件。</a:t>
            </a:r>
            <a:endParaRPr lang="en-US" altLang="zh-CN" dirty="0"/>
          </a:p>
          <a:p>
            <a:pPr>
              <a:lnSpc>
                <a:spcPct val="130000"/>
              </a:lnSpc>
            </a:pPr>
            <a:r>
              <a:rPr lang="zh-CN" altLang="en-US" dirty="0">
                <a:solidFill>
                  <a:srgbClr val="C00000"/>
                </a:solidFill>
              </a:rPr>
              <a:t>流量探测</a:t>
            </a:r>
            <a:r>
              <a:rPr lang="zh-CN" altLang="en-US" dirty="0"/>
              <a:t>：机器人还可以使用一个数据包嗅探器来观测受感染的系统上感兴趣的明文数据传送。嗅探器主要用来检索用户名和密码之类的敏感信息。</a:t>
            </a:r>
            <a:endParaRPr lang="en-US" altLang="zh-CN" dirty="0"/>
          </a:p>
          <a:p>
            <a:pPr>
              <a:lnSpc>
                <a:spcPct val="130000"/>
              </a:lnSpc>
            </a:pPr>
            <a:r>
              <a:rPr lang="zh-CN" altLang="en-US" dirty="0">
                <a:solidFill>
                  <a:srgbClr val="C00000"/>
                </a:solidFill>
              </a:rPr>
              <a:t>键盘记录</a:t>
            </a:r>
            <a:r>
              <a:rPr lang="zh-CN" altLang="en-US" dirty="0"/>
              <a:t>：如果被感染的机器使用加密的通信信道（比如</a:t>
            </a:r>
            <a:r>
              <a:rPr lang="en-US" altLang="zh-CN" dirty="0"/>
              <a:t>HTTPS</a:t>
            </a:r>
            <a:r>
              <a:rPr lang="zh-CN" altLang="en-US" dirty="0"/>
              <a:t>或者</a:t>
            </a:r>
            <a:r>
              <a:rPr lang="en-US" altLang="zh-CN" dirty="0"/>
              <a:t>POP3S</a:t>
            </a:r>
            <a:r>
              <a:rPr lang="zh-CN" altLang="en-US" dirty="0"/>
              <a:t>），那么只是检测受害者计算机上的网络数据包就没有用处了，因为解密数据包的密钥丢失了。但是借助捕获被感染机器上键盘录入的键盘记录，攻击者就可以恢复出敏感信息。</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69</a:t>
            </a:fld>
            <a:endParaRPr kumimoji="1" lang="zh-CN" altLang="en-US" dirty="0"/>
          </a:p>
        </p:txBody>
      </p:sp>
    </p:spTree>
    <p:extLst>
      <p:ext uri="{BB962C8B-B14F-4D97-AF65-F5344CB8AC3E}">
        <p14:creationId xmlns:p14="http://schemas.microsoft.com/office/powerpoint/2010/main" val="38096025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10.7.1 </a:t>
            </a:r>
            <a:r>
              <a:rPr kumimoji="1" lang="zh-CN" altLang="zh-CN" dirty="0">
                <a:solidFill>
                  <a:prstClr val="black"/>
                </a:solidFill>
              </a:rPr>
              <a:t>机器人的用途</a:t>
            </a:r>
            <a:endParaRPr lang="zh-CN" altLang="en-US" dirty="0"/>
          </a:p>
        </p:txBody>
      </p:sp>
      <p:sp>
        <p:nvSpPr>
          <p:cNvPr id="3" name="内容占位符 2"/>
          <p:cNvSpPr>
            <a:spLocks noGrp="1"/>
          </p:cNvSpPr>
          <p:nvPr>
            <p:ph idx="1"/>
          </p:nvPr>
        </p:nvSpPr>
        <p:spPr>
          <a:xfrm>
            <a:off x="838200" y="1353786"/>
            <a:ext cx="10515600" cy="5011387"/>
          </a:xfrm>
        </p:spPr>
        <p:txBody>
          <a:bodyPr>
            <a:normAutofit fontScale="70000" lnSpcReduction="20000"/>
          </a:bodyPr>
          <a:lstStyle/>
          <a:p>
            <a:pPr>
              <a:lnSpc>
                <a:spcPct val="140000"/>
              </a:lnSpc>
            </a:pPr>
            <a:r>
              <a:rPr lang="zh-CN" altLang="en-US" dirty="0">
                <a:solidFill>
                  <a:srgbClr val="C00000"/>
                </a:solidFill>
              </a:rPr>
              <a:t>扩散新型恶意软件</a:t>
            </a:r>
            <a:r>
              <a:rPr lang="zh-CN" altLang="en-US" dirty="0"/>
              <a:t>：机器人网络用来散布新的机器人。一个拥有</a:t>
            </a:r>
            <a:r>
              <a:rPr lang="en-US" altLang="zh-CN" dirty="0"/>
              <a:t>10000</a:t>
            </a:r>
            <a:r>
              <a:rPr lang="zh-CN" altLang="en-US" dirty="0"/>
              <a:t>台主机的机器人网络若作为蠕虫或邮件病毒的源头，可以使之极其迅速的传播并引起更严重的危害。</a:t>
            </a:r>
            <a:endParaRPr lang="en-US" altLang="zh-CN" dirty="0"/>
          </a:p>
          <a:p>
            <a:pPr>
              <a:lnSpc>
                <a:spcPct val="140000"/>
              </a:lnSpc>
            </a:pPr>
            <a:r>
              <a:rPr lang="zh-CN" altLang="en-US" dirty="0">
                <a:solidFill>
                  <a:srgbClr val="C00000"/>
                </a:solidFill>
              </a:rPr>
              <a:t>安装广告插件和浏览器助手</a:t>
            </a:r>
            <a:r>
              <a:rPr lang="en-US" altLang="zh-CN" dirty="0">
                <a:solidFill>
                  <a:srgbClr val="C00000"/>
                </a:solidFill>
              </a:rPr>
              <a:t>BHO</a:t>
            </a:r>
            <a:r>
              <a:rPr lang="zh-CN" altLang="en-US" dirty="0"/>
              <a:t>：网站的运营者与一些托管服务公司签订协议使之为广告单击付款。借助于机器人网络，这些单击可以被“自动化”，以便这些弹窗广告在顷刻之内就有数千机器人单击。如果机器人劫持被感染机器的起始页面，那么受害用户每次使用浏览器时“单击”就会被执行。</a:t>
            </a:r>
            <a:endParaRPr lang="en-US" altLang="zh-CN" dirty="0"/>
          </a:p>
          <a:p>
            <a:pPr>
              <a:lnSpc>
                <a:spcPct val="140000"/>
              </a:lnSpc>
            </a:pPr>
            <a:r>
              <a:rPr lang="zh-CN" altLang="en-US" dirty="0">
                <a:solidFill>
                  <a:srgbClr val="C00000"/>
                </a:solidFill>
              </a:rPr>
              <a:t>攻击</a:t>
            </a:r>
            <a:r>
              <a:rPr lang="en-US" altLang="zh-CN" dirty="0">
                <a:solidFill>
                  <a:srgbClr val="C00000"/>
                </a:solidFill>
              </a:rPr>
              <a:t>IRC</a:t>
            </a:r>
            <a:r>
              <a:rPr lang="zh-CN" altLang="en-US" dirty="0">
                <a:solidFill>
                  <a:srgbClr val="C00000"/>
                </a:solidFill>
              </a:rPr>
              <a:t>聊天网络</a:t>
            </a:r>
            <a:r>
              <a:rPr lang="zh-CN" altLang="en-US" dirty="0"/>
              <a:t>：机器人网络也被用于攻击互联网中继聊天（</a:t>
            </a:r>
            <a:r>
              <a:rPr lang="en-US" altLang="zh-CN" dirty="0"/>
              <a:t>Internet Relay Chat</a:t>
            </a:r>
            <a:r>
              <a:rPr lang="zh-CN" altLang="en-US" dirty="0"/>
              <a:t>，</a:t>
            </a:r>
            <a:r>
              <a:rPr lang="en-US" altLang="zh-CN" dirty="0"/>
              <a:t>IRC</a:t>
            </a:r>
            <a:r>
              <a:rPr lang="zh-CN" altLang="en-US" dirty="0"/>
              <a:t>）网络。攻击者使用克隆攻击，控制者命令每一个机器人连接大量的克隆用户到受害的</a:t>
            </a:r>
            <a:r>
              <a:rPr lang="en-US" altLang="zh-CN" dirty="0"/>
              <a:t>IRC</a:t>
            </a:r>
            <a:r>
              <a:rPr lang="zh-CN" altLang="en-US" dirty="0"/>
              <a:t>网络上。受害网络被数千机器人的服务需求，或者说这些克隆机器人的信道连接服务需求所淹没。通过这种方式，受害</a:t>
            </a:r>
            <a:r>
              <a:rPr lang="en-US" altLang="zh-CN" dirty="0"/>
              <a:t>IRC</a:t>
            </a:r>
            <a:r>
              <a:rPr lang="zh-CN" altLang="en-US" dirty="0"/>
              <a:t>网络崩溃，与</a:t>
            </a:r>
            <a:r>
              <a:rPr lang="en-US" altLang="zh-CN" dirty="0" err="1"/>
              <a:t>DDos</a:t>
            </a:r>
            <a:r>
              <a:rPr lang="zh-CN" altLang="en-US" dirty="0"/>
              <a:t>攻击很相似。</a:t>
            </a:r>
            <a:endParaRPr lang="en-US" altLang="zh-CN" dirty="0"/>
          </a:p>
          <a:p>
            <a:pPr>
              <a:lnSpc>
                <a:spcPct val="140000"/>
              </a:lnSpc>
            </a:pPr>
            <a:r>
              <a:rPr lang="zh-CN" altLang="en-US" dirty="0">
                <a:solidFill>
                  <a:srgbClr val="C00000"/>
                </a:solidFill>
              </a:rPr>
              <a:t>操控在线投票和游戏</a:t>
            </a:r>
            <a:r>
              <a:rPr lang="zh-CN" altLang="en-US" dirty="0"/>
              <a:t>：每个机器人都有一个独立的</a:t>
            </a:r>
            <a:r>
              <a:rPr lang="en-US" altLang="zh-CN" dirty="0"/>
              <a:t>IP</a:t>
            </a:r>
            <a:r>
              <a:rPr lang="zh-CN" altLang="en-US" dirty="0"/>
              <a:t>地址，因此它们的每一次投票都与真人投票有着相同的可信度。在线游戏也可以用相同的方式进行操控。</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70</a:t>
            </a:fld>
            <a:endParaRPr kumimoji="1" lang="zh-CN" altLang="en-US" dirty="0"/>
          </a:p>
        </p:txBody>
      </p:sp>
    </p:spTree>
    <p:extLst>
      <p:ext uri="{BB962C8B-B14F-4D97-AF65-F5344CB8AC3E}">
        <p14:creationId xmlns:p14="http://schemas.microsoft.com/office/powerpoint/2010/main" val="28892319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10.7.2 </a:t>
            </a:r>
            <a:r>
              <a:rPr kumimoji="1" lang="zh-CN" altLang="zh-CN" dirty="0">
                <a:solidFill>
                  <a:prstClr val="black"/>
                </a:solidFill>
              </a:rPr>
              <a:t>远程控制设备</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恶意软件通过</a:t>
            </a:r>
            <a:r>
              <a:rPr lang="zh-CN" altLang="en-US" b="1" dirty="0">
                <a:solidFill>
                  <a:srgbClr val="C00000"/>
                </a:solidFill>
              </a:rPr>
              <a:t>机器人（</a:t>
            </a:r>
            <a:r>
              <a:rPr lang="en-US" altLang="zh-CN" b="1" dirty="0">
                <a:solidFill>
                  <a:srgbClr val="C00000"/>
                </a:solidFill>
              </a:rPr>
              <a:t>Bot</a:t>
            </a:r>
            <a:r>
              <a:rPr lang="zh-CN" altLang="en-US" b="1" dirty="0">
                <a:solidFill>
                  <a:srgbClr val="C00000"/>
                </a:solidFill>
              </a:rPr>
              <a:t>）远程控制设备</a:t>
            </a:r>
            <a:r>
              <a:rPr lang="zh-CN" altLang="en-US" dirty="0"/>
              <a:t>是网络安全中的一种严重威胁，攻击者利用僵尸网络（</a:t>
            </a:r>
            <a:r>
              <a:rPr lang="en-US" altLang="zh-CN" dirty="0"/>
              <a:t>Botnet</a:t>
            </a:r>
            <a:r>
              <a:rPr lang="zh-CN" altLang="en-US" dirty="0"/>
              <a:t>）进行大规模自动化攻击。</a:t>
            </a:r>
            <a:endParaRPr lang="en-US" altLang="zh-CN" dirty="0"/>
          </a:p>
          <a:p>
            <a:pPr>
              <a:lnSpc>
                <a:spcPct val="150000"/>
              </a:lnSpc>
            </a:pPr>
            <a:r>
              <a:rPr lang="zh-CN" altLang="en-US" b="1" dirty="0"/>
              <a:t>机器人（</a:t>
            </a:r>
            <a:r>
              <a:rPr lang="en-US" altLang="zh-CN" b="1" dirty="0"/>
              <a:t>Bot</a:t>
            </a:r>
            <a:r>
              <a:rPr lang="zh-CN" altLang="en-US" b="1" dirty="0"/>
              <a:t>）远程控制的</a:t>
            </a:r>
            <a:r>
              <a:rPr lang="zh-CN" altLang="en-US" b="1" dirty="0">
                <a:solidFill>
                  <a:srgbClr val="C00000"/>
                </a:solidFill>
              </a:rPr>
              <a:t>核心机制</a:t>
            </a:r>
          </a:p>
          <a:p>
            <a:pPr lvl="1">
              <a:lnSpc>
                <a:spcPct val="150000"/>
              </a:lnSpc>
            </a:pPr>
            <a:r>
              <a:rPr lang="zh-CN" altLang="en-US" dirty="0"/>
              <a:t>恶意软件感染设备后，会将其转变为受控的</a:t>
            </a:r>
            <a:r>
              <a:rPr lang="zh-CN" altLang="en-US" b="1" dirty="0"/>
              <a:t>“僵尸设备”</a:t>
            </a:r>
            <a:r>
              <a:rPr lang="zh-CN" altLang="en-US" dirty="0"/>
              <a:t>，攻击者通过</a:t>
            </a:r>
            <a:r>
              <a:rPr lang="zh-CN" altLang="en-US" b="1" dirty="0"/>
              <a:t>命令与控制服务器（</a:t>
            </a:r>
            <a:r>
              <a:rPr lang="en-US" altLang="zh-CN" b="1" dirty="0"/>
              <a:t>C&amp;C, Command and Control</a:t>
            </a:r>
            <a:r>
              <a:rPr lang="zh-CN" altLang="en-US" b="1" dirty="0"/>
              <a:t>）</a:t>
            </a:r>
            <a:r>
              <a:rPr lang="zh-CN" altLang="en-US" dirty="0"/>
              <a:t>远程操控这些设备，执行恶意任务。</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71</a:t>
            </a:fld>
            <a:endParaRPr kumimoji="1" lang="zh-CN" altLang="en-US" dirty="0"/>
          </a:p>
        </p:txBody>
      </p:sp>
    </p:spTree>
    <p:extLst>
      <p:ext uri="{BB962C8B-B14F-4D97-AF65-F5344CB8AC3E}">
        <p14:creationId xmlns:p14="http://schemas.microsoft.com/office/powerpoint/2010/main" val="17940725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10.7.2 </a:t>
            </a:r>
            <a:r>
              <a:rPr kumimoji="1" lang="zh-CN" altLang="zh-CN" dirty="0">
                <a:solidFill>
                  <a:prstClr val="black"/>
                </a:solidFill>
              </a:rPr>
              <a:t>远程控制设备</a:t>
            </a:r>
            <a:endParaRPr lang="zh-CN" altLang="en-US" dirty="0"/>
          </a:p>
        </p:txBody>
      </p:sp>
      <p:sp>
        <p:nvSpPr>
          <p:cNvPr id="3" name="内容占位符 2"/>
          <p:cNvSpPr>
            <a:spLocks noGrp="1"/>
          </p:cNvSpPr>
          <p:nvPr>
            <p:ph idx="1"/>
          </p:nvPr>
        </p:nvSpPr>
        <p:spPr>
          <a:xfrm>
            <a:off x="838200" y="1330035"/>
            <a:ext cx="10515600" cy="4916385"/>
          </a:xfrm>
        </p:spPr>
        <p:txBody>
          <a:bodyPr>
            <a:normAutofit/>
          </a:bodyPr>
          <a:lstStyle/>
          <a:p>
            <a:pPr>
              <a:lnSpc>
                <a:spcPct val="150000"/>
              </a:lnSpc>
            </a:pPr>
            <a:r>
              <a:rPr lang="zh-CN" altLang="en-US" b="1" dirty="0"/>
              <a:t>机器人（</a:t>
            </a:r>
            <a:r>
              <a:rPr lang="en-US" altLang="zh-CN" b="1" dirty="0"/>
              <a:t>Bot</a:t>
            </a:r>
            <a:r>
              <a:rPr lang="zh-CN" altLang="en-US" b="1" dirty="0"/>
              <a:t>）远程控制的</a:t>
            </a:r>
            <a:r>
              <a:rPr lang="zh-CN" altLang="en-US" b="1" dirty="0">
                <a:solidFill>
                  <a:srgbClr val="C00000"/>
                </a:solidFill>
              </a:rPr>
              <a:t>核心机制</a:t>
            </a:r>
          </a:p>
          <a:p>
            <a:pPr lvl="1"/>
            <a:r>
              <a:rPr lang="zh-CN" altLang="en-US" b="1" dirty="0"/>
              <a:t>（</a:t>
            </a:r>
            <a:r>
              <a:rPr lang="en-US" altLang="zh-CN" b="1" dirty="0"/>
              <a:t>1</a:t>
            </a:r>
            <a:r>
              <a:rPr lang="zh-CN" altLang="en-US" b="1" dirty="0"/>
              <a:t>）感染与植入</a:t>
            </a:r>
          </a:p>
          <a:p>
            <a:pPr lvl="2"/>
            <a:r>
              <a:rPr lang="zh-CN" altLang="en-US" b="1" dirty="0"/>
              <a:t>传播途径</a:t>
            </a:r>
            <a:r>
              <a:rPr lang="zh-CN" altLang="en-US" dirty="0"/>
              <a:t>：</a:t>
            </a:r>
          </a:p>
          <a:p>
            <a:pPr lvl="3"/>
            <a:r>
              <a:rPr lang="zh-CN" altLang="en-US" sz="2000" dirty="0"/>
              <a:t>漏洞利用（如未修补的</a:t>
            </a:r>
            <a:r>
              <a:rPr lang="en-US" altLang="zh-CN" sz="2000" dirty="0"/>
              <a:t>RDP</a:t>
            </a:r>
            <a:r>
              <a:rPr lang="zh-CN" altLang="en-US" sz="2000" dirty="0"/>
              <a:t>、</a:t>
            </a:r>
            <a:r>
              <a:rPr lang="en-US" altLang="zh-CN" sz="2000" dirty="0"/>
              <a:t>SMB</a:t>
            </a:r>
            <a:r>
              <a:rPr lang="zh-CN" altLang="en-US" sz="2000" dirty="0"/>
              <a:t>漏洞）。</a:t>
            </a:r>
          </a:p>
          <a:p>
            <a:pPr lvl="3"/>
            <a:r>
              <a:rPr lang="zh-CN" altLang="en-US" sz="2000" dirty="0"/>
              <a:t>钓鱼邮件</a:t>
            </a:r>
            <a:r>
              <a:rPr lang="en-US" altLang="zh-CN" sz="2000" dirty="0"/>
              <a:t>/</a:t>
            </a:r>
            <a:r>
              <a:rPr lang="zh-CN" altLang="en-US" sz="2000" dirty="0"/>
              <a:t>恶意附件（如</a:t>
            </a:r>
            <a:r>
              <a:rPr lang="en-US" altLang="zh-CN" sz="2000" dirty="0" err="1"/>
              <a:t>Emotet</a:t>
            </a:r>
            <a:r>
              <a:rPr lang="zh-CN" altLang="en-US" sz="2000" dirty="0"/>
              <a:t>、</a:t>
            </a:r>
            <a:r>
              <a:rPr lang="en-US" altLang="zh-CN" sz="2000" dirty="0" err="1"/>
              <a:t>TrickBot</a:t>
            </a:r>
            <a:r>
              <a:rPr lang="zh-CN" altLang="en-US" sz="2000" dirty="0"/>
              <a:t>）。</a:t>
            </a:r>
          </a:p>
          <a:p>
            <a:pPr lvl="3"/>
            <a:r>
              <a:rPr lang="zh-CN" altLang="en-US" sz="2000" dirty="0"/>
              <a:t>恶意软件捆绑（破解工具、虚假安装包）。</a:t>
            </a:r>
          </a:p>
          <a:p>
            <a:pPr lvl="3"/>
            <a:r>
              <a:rPr lang="zh-CN" altLang="en-US" sz="2000" dirty="0"/>
              <a:t>弱口令爆破（</a:t>
            </a:r>
            <a:r>
              <a:rPr lang="en-US" altLang="zh-CN" sz="2000" dirty="0"/>
              <a:t>SSH</a:t>
            </a:r>
            <a:r>
              <a:rPr lang="zh-CN" altLang="en-US" sz="2000" dirty="0"/>
              <a:t>、</a:t>
            </a:r>
            <a:r>
              <a:rPr lang="en-US" altLang="zh-CN" sz="2000" dirty="0"/>
              <a:t>Telnet</a:t>
            </a:r>
            <a:r>
              <a:rPr lang="zh-CN" altLang="en-US" sz="2000" dirty="0"/>
              <a:t>、数据库默认密码）。</a:t>
            </a:r>
          </a:p>
          <a:p>
            <a:pPr lvl="2"/>
            <a:r>
              <a:rPr lang="zh-CN" altLang="en-US" b="1" dirty="0"/>
              <a:t>持久化</a:t>
            </a:r>
            <a:r>
              <a:rPr lang="zh-CN" altLang="en-US" dirty="0"/>
              <a:t>：</a:t>
            </a:r>
          </a:p>
          <a:p>
            <a:pPr lvl="3"/>
            <a:r>
              <a:rPr lang="zh-CN" altLang="en-US" sz="2000" dirty="0"/>
              <a:t>注册表</a:t>
            </a:r>
            <a:r>
              <a:rPr lang="en-US" altLang="zh-CN" sz="2000" dirty="0"/>
              <a:t>/</a:t>
            </a:r>
            <a:r>
              <a:rPr lang="zh-CN" altLang="en-US" sz="2000" dirty="0"/>
              <a:t>启动项修改（</a:t>
            </a:r>
            <a:r>
              <a:rPr lang="en-US" altLang="zh-CN" sz="2000" dirty="0"/>
              <a:t>Windows</a:t>
            </a:r>
            <a:r>
              <a:rPr lang="zh-CN" altLang="en-US" sz="2000" dirty="0"/>
              <a:t>）。</a:t>
            </a:r>
          </a:p>
          <a:p>
            <a:pPr lvl="3"/>
            <a:r>
              <a:rPr lang="en-US" altLang="zh-CN" sz="2000" dirty="0" err="1"/>
              <a:t>Cron</a:t>
            </a:r>
            <a:r>
              <a:rPr lang="zh-CN" altLang="en-US" sz="2000" dirty="0"/>
              <a:t>任务或</a:t>
            </a:r>
            <a:r>
              <a:rPr lang="en-US" altLang="zh-CN" sz="2000" dirty="0" err="1"/>
              <a:t>Systemd</a:t>
            </a:r>
            <a:r>
              <a:rPr lang="zh-CN" altLang="en-US" sz="2000" dirty="0"/>
              <a:t>服务（</a:t>
            </a:r>
            <a:r>
              <a:rPr lang="en-US" altLang="zh-CN" sz="2000" dirty="0"/>
              <a:t>Linux</a:t>
            </a:r>
            <a:r>
              <a:rPr lang="zh-CN" altLang="en-US" sz="2000" dirty="0"/>
              <a:t>）。</a:t>
            </a:r>
          </a:p>
          <a:p>
            <a:pPr lvl="3"/>
            <a:r>
              <a:rPr lang="zh-CN" altLang="en-US" sz="2000" dirty="0"/>
              <a:t>隐藏进程或</a:t>
            </a:r>
            <a:r>
              <a:rPr lang="en-US" altLang="zh-CN" sz="2000" dirty="0"/>
              <a:t>Rootkit</a:t>
            </a:r>
            <a:r>
              <a:rPr lang="zh-CN" altLang="en-US" sz="2000" dirty="0"/>
              <a:t>技术（避免被杀毒软件检测）。</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72</a:t>
            </a:fld>
            <a:endParaRPr kumimoji="1" lang="zh-CN" altLang="en-US" dirty="0"/>
          </a:p>
        </p:txBody>
      </p:sp>
    </p:spTree>
    <p:extLst>
      <p:ext uri="{BB962C8B-B14F-4D97-AF65-F5344CB8AC3E}">
        <p14:creationId xmlns:p14="http://schemas.microsoft.com/office/powerpoint/2010/main" val="25952969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10.7.2 </a:t>
            </a:r>
            <a:r>
              <a:rPr kumimoji="1" lang="zh-CN" altLang="zh-CN" dirty="0">
                <a:solidFill>
                  <a:prstClr val="black"/>
                </a:solidFill>
              </a:rPr>
              <a:t>远程控制设备</a:t>
            </a:r>
            <a:endParaRPr lang="zh-CN" altLang="en-US" dirty="0"/>
          </a:p>
        </p:txBody>
      </p:sp>
      <p:sp>
        <p:nvSpPr>
          <p:cNvPr id="3" name="内容占位符 2"/>
          <p:cNvSpPr>
            <a:spLocks noGrp="1"/>
          </p:cNvSpPr>
          <p:nvPr>
            <p:ph idx="1"/>
          </p:nvPr>
        </p:nvSpPr>
        <p:spPr>
          <a:xfrm>
            <a:off x="838200" y="1330035"/>
            <a:ext cx="10515600" cy="4916385"/>
          </a:xfrm>
        </p:spPr>
        <p:txBody>
          <a:bodyPr>
            <a:normAutofit/>
          </a:bodyPr>
          <a:lstStyle/>
          <a:p>
            <a:pPr>
              <a:lnSpc>
                <a:spcPct val="150000"/>
              </a:lnSpc>
            </a:pPr>
            <a:r>
              <a:rPr lang="zh-CN" altLang="en-US" b="1" dirty="0"/>
              <a:t>机器人（</a:t>
            </a:r>
            <a:r>
              <a:rPr lang="en-US" altLang="zh-CN" b="1" dirty="0"/>
              <a:t>Bot</a:t>
            </a:r>
            <a:r>
              <a:rPr lang="zh-CN" altLang="en-US" b="1" dirty="0"/>
              <a:t>）远程控制的</a:t>
            </a:r>
            <a:r>
              <a:rPr lang="zh-CN" altLang="en-US" b="1" dirty="0">
                <a:solidFill>
                  <a:srgbClr val="C00000"/>
                </a:solidFill>
              </a:rPr>
              <a:t>核心机制</a:t>
            </a:r>
          </a:p>
          <a:p>
            <a:pPr lvl="1"/>
            <a:r>
              <a:rPr lang="zh-CN" altLang="en-US" b="1" dirty="0"/>
              <a:t>（</a:t>
            </a:r>
            <a:r>
              <a:rPr lang="en-US" altLang="zh-CN" b="1" dirty="0"/>
              <a:t>2</a:t>
            </a:r>
            <a:r>
              <a:rPr lang="zh-CN" altLang="en-US" b="1" dirty="0"/>
              <a:t>）</a:t>
            </a:r>
            <a:r>
              <a:rPr lang="en-US" altLang="zh-CN" b="1" dirty="0"/>
              <a:t>C&amp;C</a:t>
            </a:r>
            <a:r>
              <a:rPr lang="zh-CN" altLang="en-US" b="1" dirty="0"/>
              <a:t>通信</a:t>
            </a:r>
          </a:p>
          <a:p>
            <a:pPr marL="914400" lvl="2" indent="0">
              <a:buNone/>
            </a:pPr>
            <a:r>
              <a:rPr lang="zh-CN" altLang="en-US" dirty="0"/>
              <a:t>僵尸设备定期或实时与</a:t>
            </a:r>
            <a:r>
              <a:rPr lang="en-US" altLang="zh-CN" dirty="0"/>
              <a:t>C&amp;C</a:t>
            </a:r>
            <a:r>
              <a:rPr lang="zh-CN" altLang="en-US" dirty="0"/>
              <a:t>服务器通信，接收指令并回传数据。常见通信方式：</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73</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946500251"/>
              </p:ext>
            </p:extLst>
          </p:nvPr>
        </p:nvGraphicFramePr>
        <p:xfrm>
          <a:off x="1198089" y="2964102"/>
          <a:ext cx="9795822" cy="2807305"/>
        </p:xfrm>
        <a:graphic>
          <a:graphicData uri="http://schemas.openxmlformats.org/drawingml/2006/table">
            <a:tbl>
              <a:tblPr firstRow="1" bandRow="1">
                <a:tableStyleId>{5C22544A-7EE6-4342-B048-85BDC9FD1C3A}</a:tableStyleId>
              </a:tblPr>
              <a:tblGrid>
                <a:gridCol w="2088738">
                  <a:extLst>
                    <a:ext uri="{9D8B030D-6E8A-4147-A177-3AD203B41FA5}">
                      <a16:colId xmlns:a16="http://schemas.microsoft.com/office/drawing/2014/main" val="1908134278"/>
                    </a:ext>
                  </a:extLst>
                </a:gridCol>
                <a:gridCol w="4441810">
                  <a:extLst>
                    <a:ext uri="{9D8B030D-6E8A-4147-A177-3AD203B41FA5}">
                      <a16:colId xmlns:a16="http://schemas.microsoft.com/office/drawing/2014/main" val="3649597656"/>
                    </a:ext>
                  </a:extLst>
                </a:gridCol>
                <a:gridCol w="3265274">
                  <a:extLst>
                    <a:ext uri="{9D8B030D-6E8A-4147-A177-3AD203B41FA5}">
                      <a16:colId xmlns:a16="http://schemas.microsoft.com/office/drawing/2014/main" val="3084359928"/>
                    </a:ext>
                  </a:extLst>
                </a:gridCol>
              </a:tblGrid>
              <a:tr h="561461">
                <a:tc>
                  <a:txBody>
                    <a:bodyPr/>
                    <a:lstStyle/>
                    <a:p>
                      <a:pPr algn="l"/>
                      <a:r>
                        <a:rPr lang="zh-CN" altLang="en-US" b="1">
                          <a:effectLst/>
                        </a:rPr>
                        <a:t>通信协议</a:t>
                      </a:r>
                    </a:p>
                  </a:txBody>
                  <a:tcPr marR="95250" marT="95250" marB="95250" anchor="ctr"/>
                </a:tc>
                <a:tc>
                  <a:txBody>
                    <a:bodyPr/>
                    <a:lstStyle/>
                    <a:p>
                      <a:pPr algn="l"/>
                      <a:r>
                        <a:rPr lang="zh-CN" altLang="en-US" b="1">
                          <a:effectLst/>
                        </a:rPr>
                        <a:t>示例</a:t>
                      </a:r>
                    </a:p>
                  </a:txBody>
                  <a:tcPr marL="95250" marR="95250" marT="95250" marB="95250" anchor="ctr"/>
                </a:tc>
                <a:tc>
                  <a:txBody>
                    <a:bodyPr/>
                    <a:lstStyle/>
                    <a:p>
                      <a:pPr algn="l"/>
                      <a:r>
                        <a:rPr lang="zh-CN" altLang="en-US" b="1">
                          <a:effectLst/>
                        </a:rPr>
                        <a:t>隐蔽性</a:t>
                      </a:r>
                    </a:p>
                  </a:txBody>
                  <a:tcPr marL="95250" marR="95250" marT="95250" marB="95250" anchor="ctr"/>
                </a:tc>
                <a:extLst>
                  <a:ext uri="{0D108BD9-81ED-4DB2-BD59-A6C34878D82A}">
                    <a16:rowId xmlns:a16="http://schemas.microsoft.com/office/drawing/2014/main" val="1260582816"/>
                  </a:ext>
                </a:extLst>
              </a:tr>
              <a:tr h="561461">
                <a:tc>
                  <a:txBody>
                    <a:bodyPr/>
                    <a:lstStyle/>
                    <a:p>
                      <a:r>
                        <a:rPr lang="en-US" b="1">
                          <a:effectLst/>
                        </a:rPr>
                        <a:t>HTTP/HTTPS</a:t>
                      </a:r>
                      <a:endParaRPr lang="en-US">
                        <a:effectLst/>
                      </a:endParaRPr>
                    </a:p>
                  </a:txBody>
                  <a:tcPr marR="95250" marT="95250" marB="95250" anchor="ctr"/>
                </a:tc>
                <a:tc>
                  <a:txBody>
                    <a:bodyPr/>
                    <a:lstStyle/>
                    <a:p>
                      <a:r>
                        <a:rPr lang="zh-CN" altLang="en-US">
                          <a:effectLst/>
                        </a:rPr>
                        <a:t>伪装成正常</a:t>
                      </a:r>
                      <a:r>
                        <a:rPr lang="en-US">
                          <a:effectLst/>
                        </a:rPr>
                        <a:t>Web</a:t>
                      </a:r>
                      <a:r>
                        <a:rPr lang="zh-CN" altLang="en-US">
                          <a:effectLst/>
                        </a:rPr>
                        <a:t>流量（如</a:t>
                      </a:r>
                      <a:r>
                        <a:rPr lang="en-US">
                          <a:effectLst/>
                        </a:rPr>
                        <a:t>Google API）</a:t>
                      </a:r>
                    </a:p>
                  </a:txBody>
                  <a:tcPr marL="95250" marR="95250" marT="95250" marB="95250" anchor="ctr"/>
                </a:tc>
                <a:tc>
                  <a:txBody>
                    <a:bodyPr/>
                    <a:lstStyle/>
                    <a:p>
                      <a:r>
                        <a:rPr lang="zh-CN" altLang="en-US">
                          <a:effectLst/>
                        </a:rPr>
                        <a:t>中等，需流量分析检测</a:t>
                      </a:r>
                    </a:p>
                  </a:txBody>
                  <a:tcPr marL="95250" marR="95250" marT="95250" marB="95250" anchor="ctr"/>
                </a:tc>
                <a:extLst>
                  <a:ext uri="{0D108BD9-81ED-4DB2-BD59-A6C34878D82A}">
                    <a16:rowId xmlns:a16="http://schemas.microsoft.com/office/drawing/2014/main" val="1555084590"/>
                  </a:ext>
                </a:extLst>
              </a:tr>
              <a:tr h="561461">
                <a:tc>
                  <a:txBody>
                    <a:bodyPr/>
                    <a:lstStyle/>
                    <a:p>
                      <a:r>
                        <a:rPr lang="en-US" b="1">
                          <a:effectLst/>
                        </a:rPr>
                        <a:t>DNS</a:t>
                      </a:r>
                      <a:r>
                        <a:rPr lang="zh-CN" altLang="en-US" b="1">
                          <a:effectLst/>
                        </a:rPr>
                        <a:t>隧道</a:t>
                      </a:r>
                      <a:endParaRPr lang="zh-CN" altLang="en-US">
                        <a:effectLst/>
                      </a:endParaRPr>
                    </a:p>
                  </a:txBody>
                  <a:tcPr marR="95250" marT="95250" marB="95250" anchor="ctr"/>
                </a:tc>
                <a:tc>
                  <a:txBody>
                    <a:bodyPr/>
                    <a:lstStyle/>
                    <a:p>
                      <a:r>
                        <a:rPr lang="zh-CN" altLang="en-US">
                          <a:effectLst/>
                        </a:rPr>
                        <a:t>通过</a:t>
                      </a:r>
                      <a:r>
                        <a:rPr lang="en-US" altLang="zh-CN">
                          <a:effectLst/>
                        </a:rPr>
                        <a:t>DNS</a:t>
                      </a:r>
                      <a:r>
                        <a:rPr lang="zh-CN" altLang="en-US">
                          <a:effectLst/>
                        </a:rPr>
                        <a:t>查询传输指令</a:t>
                      </a:r>
                    </a:p>
                  </a:txBody>
                  <a:tcPr marL="95250" marR="95250" marT="95250" marB="95250" anchor="ctr"/>
                </a:tc>
                <a:tc>
                  <a:txBody>
                    <a:bodyPr/>
                    <a:lstStyle/>
                    <a:p>
                      <a:r>
                        <a:rPr lang="zh-CN" altLang="en-US">
                          <a:effectLst/>
                        </a:rPr>
                        <a:t>高，绕过传统防火墙</a:t>
                      </a:r>
                    </a:p>
                  </a:txBody>
                  <a:tcPr marL="95250" marR="95250" marT="95250" marB="95250" anchor="ctr"/>
                </a:tc>
                <a:extLst>
                  <a:ext uri="{0D108BD9-81ED-4DB2-BD59-A6C34878D82A}">
                    <a16:rowId xmlns:a16="http://schemas.microsoft.com/office/drawing/2014/main" val="2879215111"/>
                  </a:ext>
                </a:extLst>
              </a:tr>
              <a:tr h="561461">
                <a:tc>
                  <a:txBody>
                    <a:bodyPr/>
                    <a:lstStyle/>
                    <a:p>
                      <a:r>
                        <a:rPr lang="en-US" b="1">
                          <a:effectLst/>
                        </a:rPr>
                        <a:t>P2P</a:t>
                      </a:r>
                      <a:r>
                        <a:rPr lang="zh-CN" altLang="en-US" b="1">
                          <a:effectLst/>
                        </a:rPr>
                        <a:t>网络</a:t>
                      </a:r>
                      <a:endParaRPr lang="zh-CN" altLang="en-US">
                        <a:effectLst/>
                      </a:endParaRPr>
                    </a:p>
                  </a:txBody>
                  <a:tcPr marR="95250" marT="95250" marB="95250" anchor="ctr"/>
                </a:tc>
                <a:tc>
                  <a:txBody>
                    <a:bodyPr/>
                    <a:lstStyle/>
                    <a:p>
                      <a:r>
                        <a:rPr lang="zh-CN" altLang="en-US">
                          <a:effectLst/>
                        </a:rPr>
                        <a:t>僵尸节点间互相中继指令（如</a:t>
                      </a:r>
                      <a:r>
                        <a:rPr lang="en-US" altLang="zh-CN">
                          <a:effectLst/>
                        </a:rPr>
                        <a:t>Tor</a:t>
                      </a:r>
                      <a:r>
                        <a:rPr lang="zh-CN" altLang="en-US">
                          <a:effectLst/>
                        </a:rPr>
                        <a:t>）</a:t>
                      </a:r>
                    </a:p>
                  </a:txBody>
                  <a:tcPr marL="95250" marR="95250" marT="95250" marB="95250" anchor="ctr"/>
                </a:tc>
                <a:tc>
                  <a:txBody>
                    <a:bodyPr/>
                    <a:lstStyle/>
                    <a:p>
                      <a:r>
                        <a:rPr lang="zh-CN" altLang="en-US">
                          <a:effectLst/>
                        </a:rPr>
                        <a:t>极高，无中心化服务器</a:t>
                      </a:r>
                    </a:p>
                  </a:txBody>
                  <a:tcPr marL="95250" marR="95250" marT="95250" marB="95250" anchor="ctr"/>
                </a:tc>
                <a:extLst>
                  <a:ext uri="{0D108BD9-81ED-4DB2-BD59-A6C34878D82A}">
                    <a16:rowId xmlns:a16="http://schemas.microsoft.com/office/drawing/2014/main" val="3900387325"/>
                  </a:ext>
                </a:extLst>
              </a:tr>
              <a:tr h="561461">
                <a:tc>
                  <a:txBody>
                    <a:bodyPr/>
                    <a:lstStyle/>
                    <a:p>
                      <a:r>
                        <a:rPr lang="zh-CN" altLang="en-US" b="1">
                          <a:effectLst/>
                        </a:rPr>
                        <a:t>社交媒体</a:t>
                      </a:r>
                      <a:endParaRPr lang="zh-CN" altLang="en-US">
                        <a:effectLst/>
                      </a:endParaRPr>
                    </a:p>
                  </a:txBody>
                  <a:tcPr marR="95250" marT="95250" marB="95250" anchor="ctr"/>
                </a:tc>
                <a:tc>
                  <a:txBody>
                    <a:bodyPr/>
                    <a:lstStyle/>
                    <a:p>
                      <a:r>
                        <a:rPr lang="zh-CN" altLang="en-US">
                          <a:effectLst/>
                        </a:rPr>
                        <a:t>利用</a:t>
                      </a:r>
                      <a:r>
                        <a:rPr lang="en-US">
                          <a:effectLst/>
                        </a:rPr>
                        <a:t>Twitter、Telegram API</a:t>
                      </a:r>
                      <a:r>
                        <a:rPr lang="zh-CN" altLang="en-US">
                          <a:effectLst/>
                        </a:rPr>
                        <a:t>发指令</a:t>
                      </a:r>
                    </a:p>
                  </a:txBody>
                  <a:tcPr marL="95250" marR="95250" marT="95250" marB="95250" anchor="ctr"/>
                </a:tc>
                <a:tc>
                  <a:txBody>
                    <a:bodyPr/>
                    <a:lstStyle/>
                    <a:p>
                      <a:r>
                        <a:rPr lang="zh-CN" altLang="en-US" dirty="0">
                          <a:effectLst/>
                        </a:rPr>
                        <a:t>高，混合合法流量</a:t>
                      </a:r>
                    </a:p>
                  </a:txBody>
                  <a:tcPr marL="95250" marR="95250" marT="95250" marB="95250" anchor="ctr"/>
                </a:tc>
                <a:extLst>
                  <a:ext uri="{0D108BD9-81ED-4DB2-BD59-A6C34878D82A}">
                    <a16:rowId xmlns:a16="http://schemas.microsoft.com/office/drawing/2014/main" val="1184231088"/>
                  </a:ext>
                </a:extLst>
              </a:tr>
            </a:tbl>
          </a:graphicData>
        </a:graphic>
      </p:graphicFrame>
    </p:spTree>
    <p:extLst>
      <p:ext uri="{BB962C8B-B14F-4D97-AF65-F5344CB8AC3E}">
        <p14:creationId xmlns:p14="http://schemas.microsoft.com/office/powerpoint/2010/main" val="31170659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10.7.2 </a:t>
            </a:r>
            <a:r>
              <a:rPr kumimoji="1" lang="zh-CN" altLang="zh-CN" dirty="0">
                <a:solidFill>
                  <a:prstClr val="black"/>
                </a:solidFill>
              </a:rPr>
              <a:t>远程控制设备</a:t>
            </a:r>
            <a:endParaRPr lang="zh-CN" altLang="en-US" dirty="0"/>
          </a:p>
        </p:txBody>
      </p:sp>
      <p:sp>
        <p:nvSpPr>
          <p:cNvPr id="3" name="内容占位符 2"/>
          <p:cNvSpPr>
            <a:spLocks noGrp="1"/>
          </p:cNvSpPr>
          <p:nvPr>
            <p:ph idx="1"/>
          </p:nvPr>
        </p:nvSpPr>
        <p:spPr>
          <a:xfrm>
            <a:off x="838200" y="1330035"/>
            <a:ext cx="10515600" cy="4916385"/>
          </a:xfrm>
        </p:spPr>
        <p:txBody>
          <a:bodyPr>
            <a:normAutofit/>
          </a:bodyPr>
          <a:lstStyle/>
          <a:p>
            <a:pPr>
              <a:lnSpc>
                <a:spcPct val="150000"/>
              </a:lnSpc>
            </a:pPr>
            <a:r>
              <a:rPr lang="zh-CN" altLang="en-US" b="1" dirty="0"/>
              <a:t>机器人（</a:t>
            </a:r>
            <a:r>
              <a:rPr lang="en-US" altLang="zh-CN" b="1" dirty="0"/>
              <a:t>Bot</a:t>
            </a:r>
            <a:r>
              <a:rPr lang="zh-CN" altLang="en-US" b="1" dirty="0"/>
              <a:t>）远程控制的</a:t>
            </a:r>
            <a:r>
              <a:rPr lang="zh-CN" altLang="en-US" b="1" dirty="0">
                <a:solidFill>
                  <a:srgbClr val="C00000"/>
                </a:solidFill>
              </a:rPr>
              <a:t>核心机制</a:t>
            </a:r>
          </a:p>
          <a:p>
            <a:pPr lvl="1">
              <a:lnSpc>
                <a:spcPct val="150000"/>
              </a:lnSpc>
            </a:pPr>
            <a:r>
              <a:rPr lang="zh-CN" altLang="en-US" b="1" dirty="0"/>
              <a:t>（</a:t>
            </a:r>
            <a:r>
              <a:rPr lang="en-US" altLang="zh-CN" b="1" dirty="0"/>
              <a:t>3</a:t>
            </a:r>
            <a:r>
              <a:rPr lang="zh-CN" altLang="en-US" b="1" dirty="0"/>
              <a:t>）指令执行</a:t>
            </a:r>
          </a:p>
          <a:p>
            <a:pPr lvl="2">
              <a:lnSpc>
                <a:spcPct val="150000"/>
              </a:lnSpc>
            </a:pPr>
            <a:r>
              <a:rPr lang="zh-CN" altLang="en-US" dirty="0"/>
              <a:t>攻击者发送加密指令，僵尸设备解析后执行：</a:t>
            </a:r>
          </a:p>
          <a:p>
            <a:pPr lvl="2">
              <a:lnSpc>
                <a:spcPct val="150000"/>
              </a:lnSpc>
            </a:pPr>
            <a:r>
              <a:rPr lang="en-US" altLang="zh-CN" b="1" dirty="0" err="1"/>
              <a:t>DDoS</a:t>
            </a:r>
            <a:r>
              <a:rPr lang="zh-CN" altLang="en-US" b="1" dirty="0"/>
              <a:t>攻击</a:t>
            </a:r>
            <a:r>
              <a:rPr lang="zh-CN" altLang="en-US" dirty="0"/>
              <a:t>：</a:t>
            </a:r>
            <a:r>
              <a:rPr lang="en-US" altLang="zh-CN" dirty="0"/>
              <a:t>flood &lt;</a:t>
            </a:r>
            <a:r>
              <a:rPr lang="zh-CN" altLang="en-US" dirty="0"/>
              <a:t>目标</a:t>
            </a:r>
            <a:r>
              <a:rPr lang="en-US" altLang="zh-CN" dirty="0"/>
              <a:t>IP&gt; &lt;</a:t>
            </a:r>
            <a:r>
              <a:rPr lang="zh-CN" altLang="en-US" dirty="0"/>
              <a:t>端口</a:t>
            </a:r>
            <a:r>
              <a:rPr lang="en-US" altLang="zh-CN" dirty="0"/>
              <a:t>&gt; &lt;</a:t>
            </a:r>
            <a:r>
              <a:rPr lang="zh-CN" altLang="en-US" dirty="0"/>
              <a:t>时长</a:t>
            </a:r>
            <a:r>
              <a:rPr lang="en-US" altLang="zh-CN" dirty="0"/>
              <a:t>&gt;</a:t>
            </a:r>
          </a:p>
          <a:p>
            <a:pPr lvl="2">
              <a:lnSpc>
                <a:spcPct val="150000"/>
              </a:lnSpc>
            </a:pPr>
            <a:r>
              <a:rPr lang="zh-CN" altLang="en-US" b="1" dirty="0"/>
              <a:t>传播扩散</a:t>
            </a:r>
            <a:r>
              <a:rPr lang="zh-CN" altLang="en-US" dirty="0"/>
              <a:t>：</a:t>
            </a:r>
            <a:r>
              <a:rPr lang="en-US" altLang="zh-CN" dirty="0"/>
              <a:t>exploit &lt;</a:t>
            </a:r>
            <a:r>
              <a:rPr lang="zh-CN" altLang="en-US" dirty="0"/>
              <a:t>漏洞编号</a:t>
            </a:r>
            <a:r>
              <a:rPr lang="en-US" altLang="zh-CN" dirty="0"/>
              <a:t>&gt; &lt;</a:t>
            </a:r>
            <a:r>
              <a:rPr lang="zh-CN" altLang="en-US" dirty="0"/>
              <a:t>目标范围</a:t>
            </a:r>
            <a:r>
              <a:rPr lang="en-US" altLang="zh-CN" dirty="0"/>
              <a:t>&gt;</a:t>
            </a:r>
          </a:p>
          <a:p>
            <a:pPr lvl="2">
              <a:lnSpc>
                <a:spcPct val="150000"/>
              </a:lnSpc>
            </a:pPr>
            <a:r>
              <a:rPr lang="zh-CN" altLang="en-US" b="1" dirty="0"/>
              <a:t>数据窃取</a:t>
            </a:r>
            <a:r>
              <a:rPr lang="zh-CN" altLang="en-US" dirty="0"/>
              <a:t>：</a:t>
            </a:r>
            <a:r>
              <a:rPr lang="en-US" altLang="zh-CN" dirty="0" err="1"/>
              <a:t>dump_creds</a:t>
            </a:r>
            <a:r>
              <a:rPr lang="zh-CN" altLang="en-US" dirty="0"/>
              <a:t>（提取密码、浏览器记录）</a:t>
            </a:r>
          </a:p>
          <a:p>
            <a:pPr lvl="2">
              <a:lnSpc>
                <a:spcPct val="150000"/>
              </a:lnSpc>
            </a:pPr>
            <a:r>
              <a:rPr lang="zh-CN" altLang="en-US" b="1" dirty="0"/>
              <a:t>更新模块</a:t>
            </a:r>
            <a:r>
              <a:rPr lang="zh-CN" altLang="en-US" dirty="0"/>
              <a:t>：</a:t>
            </a:r>
            <a:r>
              <a:rPr lang="en-US" altLang="zh-CN" dirty="0"/>
              <a:t>update &lt;</a:t>
            </a:r>
            <a:r>
              <a:rPr lang="zh-CN" altLang="en-US" dirty="0"/>
              <a:t>恶意</a:t>
            </a:r>
            <a:r>
              <a:rPr lang="en-US" altLang="zh-CN" dirty="0"/>
              <a:t>URL&gt;</a:t>
            </a:r>
            <a:r>
              <a:rPr lang="zh-CN" altLang="en-US" dirty="0"/>
              <a:t>（动态加载新功能）</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74</a:t>
            </a:fld>
            <a:endParaRPr kumimoji="1" lang="zh-CN" altLang="en-US" dirty="0"/>
          </a:p>
        </p:txBody>
      </p:sp>
    </p:spTree>
    <p:extLst>
      <p:ext uri="{BB962C8B-B14F-4D97-AF65-F5344CB8AC3E}">
        <p14:creationId xmlns:p14="http://schemas.microsoft.com/office/powerpoint/2010/main" val="18553546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solidFill>
                  <a:srgbClr val="C00000"/>
                </a:solidFill>
              </a:rPr>
              <a:t>10.8 </a:t>
            </a:r>
            <a:r>
              <a:rPr kumimoji="1" lang="zh-CN" altLang="zh-CN" sz="3000" dirty="0">
                <a:solidFill>
                  <a:srgbClr val="C00000"/>
                </a:solidFill>
              </a:rPr>
              <a:t>载荷</a:t>
            </a:r>
            <a:r>
              <a:rPr kumimoji="1" lang="en-US" altLang="zh-CN" sz="3000" dirty="0">
                <a:solidFill>
                  <a:srgbClr val="C00000"/>
                </a:solidFill>
              </a:rPr>
              <a:t>-</a:t>
            </a:r>
            <a:r>
              <a:rPr kumimoji="1" lang="zh-CN" altLang="zh-CN" sz="3000" dirty="0">
                <a:solidFill>
                  <a:srgbClr val="C00000"/>
                </a:solidFill>
              </a:rPr>
              <a:t>信息窃取</a:t>
            </a:r>
            <a:r>
              <a:rPr kumimoji="1" lang="en-US" altLang="zh-CN" sz="3000" dirty="0">
                <a:solidFill>
                  <a:srgbClr val="C00000"/>
                </a:solidFill>
              </a:rPr>
              <a:t>-</a:t>
            </a:r>
            <a:r>
              <a:rPr kumimoji="1" lang="zh-CN" altLang="zh-CN" sz="3000" dirty="0">
                <a:solidFill>
                  <a:srgbClr val="C00000"/>
                </a:solidFill>
              </a:rPr>
              <a:t>键盘监测器、网络钓鱼与间谍软件</a:t>
            </a:r>
            <a:endParaRPr kumimoji="1" lang="en-US" altLang="zh-CN" sz="3000" dirty="0">
              <a:solidFill>
                <a:srgbClr val="C00000"/>
              </a:solidFill>
            </a:endParaRPr>
          </a:p>
          <a:p>
            <a:pPr>
              <a:lnSpc>
                <a:spcPct val="150000"/>
              </a:lnSpc>
              <a:buNone/>
            </a:pPr>
            <a:r>
              <a:rPr kumimoji="1" lang="en-US" altLang="zh-CN" sz="3000" dirty="0"/>
              <a:t>10.9 </a:t>
            </a:r>
            <a:r>
              <a:rPr kumimoji="1" lang="zh-CN" altLang="zh-CN" sz="3100" dirty="0"/>
              <a:t>载荷</a:t>
            </a:r>
            <a:r>
              <a:rPr kumimoji="1" lang="en-US" altLang="zh-CN" sz="3100" dirty="0"/>
              <a:t>-</a:t>
            </a:r>
            <a:r>
              <a:rPr kumimoji="1" lang="zh-CN" altLang="zh-CN" sz="3100" dirty="0"/>
              <a:t>隐身</a:t>
            </a:r>
            <a:r>
              <a:rPr kumimoji="1" lang="en-US" altLang="zh-CN" sz="3100" dirty="0"/>
              <a:t>-</a:t>
            </a:r>
            <a:r>
              <a:rPr kumimoji="1" lang="zh-CN" altLang="zh-CN" sz="3100" dirty="0"/>
              <a:t>后门与隐匿程序</a:t>
            </a:r>
            <a:endParaRPr kumimoji="1" lang="en-US" altLang="zh-CN" sz="3100" dirty="0"/>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968343" y="2838202"/>
            <a:ext cx="3433948" cy="2885703"/>
          </a:xfrm>
          <a:prstGeom prst="wedgeRectCallout">
            <a:avLst>
              <a:gd name="adj1" fmla="val -58158"/>
              <a:gd name="adj2" fmla="val 1897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证书窃取、键盘监测器和间谍软件</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网络钓鱼和身份窃取</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侦察和间谍</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38488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Autofit/>
          </a:bodyPr>
          <a:lstStyle/>
          <a:p>
            <a:r>
              <a:rPr lang="en-US" altLang="zh-CN" sz="3200" dirty="0"/>
              <a:t>10.8 </a:t>
            </a:r>
            <a:r>
              <a:rPr lang="zh-CN" altLang="zh-CN" sz="3200" dirty="0"/>
              <a:t>载荷</a:t>
            </a:r>
            <a:r>
              <a:rPr lang="en-US" altLang="zh-CN" sz="3200" dirty="0"/>
              <a:t>-</a:t>
            </a:r>
            <a:r>
              <a:rPr lang="zh-CN" altLang="zh-CN" sz="3200" dirty="0"/>
              <a:t>信息窃取</a:t>
            </a:r>
            <a:r>
              <a:rPr lang="en-US" altLang="zh-CN" sz="3200" dirty="0"/>
              <a:t>-</a:t>
            </a:r>
            <a:r>
              <a:rPr lang="zh-CN" altLang="zh-CN" sz="3200" dirty="0"/>
              <a:t>键盘监测器、网络钓鱼与间谍软件</a:t>
            </a:r>
            <a:endParaRPr lang="zh-CN" altLang="en-US" sz="3200"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t>恶意软件收集存储在被感染系统上的数据，以便被攻击者使用。</a:t>
            </a:r>
            <a:endParaRPr lang="en-US" altLang="zh-CN" dirty="0"/>
          </a:p>
          <a:p>
            <a:pPr>
              <a:lnSpc>
                <a:spcPct val="150000"/>
              </a:lnSpc>
            </a:pPr>
            <a:r>
              <a:rPr lang="zh-CN" altLang="en-US" dirty="0"/>
              <a:t>比较常见的攻击目标是用户登录银行、游戏和相关站点的用户名和密码证书，攻击者之后会利用这些信息冒充用户登录到这些站点以寻求利益。</a:t>
            </a:r>
            <a:endParaRPr lang="en-US" altLang="zh-CN" dirty="0"/>
          </a:p>
          <a:p>
            <a:pPr>
              <a:lnSpc>
                <a:spcPct val="150000"/>
              </a:lnSpc>
            </a:pPr>
            <a:r>
              <a:rPr lang="zh-CN" altLang="en-US" dirty="0"/>
              <a:t>不太常见的，载荷可能会以文档或系统配置详情为攻击目标，为的是侦查或者间谍活动。</a:t>
            </a:r>
            <a:endParaRPr lang="en-US" altLang="zh-CN" dirty="0"/>
          </a:p>
          <a:p>
            <a:pPr>
              <a:lnSpc>
                <a:spcPct val="150000"/>
              </a:lnSpc>
            </a:pPr>
            <a:r>
              <a:rPr lang="zh-CN" altLang="en-US" dirty="0"/>
              <a:t>这些攻击是</a:t>
            </a:r>
            <a:r>
              <a:rPr lang="zh-CN" altLang="en-US" dirty="0">
                <a:solidFill>
                  <a:srgbClr val="C00000"/>
                </a:solidFill>
              </a:rPr>
              <a:t>以信息中的机密性为目标</a:t>
            </a:r>
            <a:r>
              <a:rPr lang="zh-CN" altLang="en-US" dirty="0"/>
              <a:t>的。</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76</a:t>
            </a:fld>
            <a:endParaRPr kumimoji="1" lang="zh-CN" altLang="en-US" dirty="0"/>
          </a:p>
        </p:txBody>
      </p:sp>
    </p:spTree>
    <p:extLst>
      <p:ext uri="{BB962C8B-B14F-4D97-AF65-F5344CB8AC3E}">
        <p14:creationId xmlns:p14="http://schemas.microsoft.com/office/powerpoint/2010/main" val="21310643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恶意软件常通过</a:t>
            </a:r>
            <a:r>
              <a:rPr lang="zh-CN" altLang="en-US" b="1" dirty="0"/>
              <a:t>证书窃取（</a:t>
            </a:r>
            <a:r>
              <a:rPr lang="en-US" altLang="zh-CN" b="1" dirty="0"/>
              <a:t>Credential Theft</a:t>
            </a:r>
            <a:r>
              <a:rPr lang="zh-CN" altLang="en-US" b="1" dirty="0"/>
              <a:t>）、键盘监测器（</a:t>
            </a:r>
            <a:r>
              <a:rPr lang="en-US" altLang="zh-CN" b="1" dirty="0" err="1"/>
              <a:t>Keylogger</a:t>
            </a:r>
            <a:r>
              <a:rPr lang="zh-CN" altLang="en-US" b="1" dirty="0"/>
              <a:t>）和间谍软件（</a:t>
            </a:r>
            <a:r>
              <a:rPr lang="en-US" altLang="zh-CN" b="1" dirty="0"/>
              <a:t>Spyware</a:t>
            </a:r>
            <a:r>
              <a:rPr lang="zh-CN" altLang="en-US" b="1" dirty="0"/>
              <a:t>）</a:t>
            </a:r>
            <a:r>
              <a:rPr lang="zh-CN" altLang="en-US" dirty="0"/>
              <a:t>来获取用户的敏感信息（如密码、银行凭证、加密证书等）。这些技术可单独使用，也可组合攻击，构成严重的数据泄露和身份盗窃风险。</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77</a:t>
            </a:fld>
            <a:endParaRPr kumimoji="1" lang="zh-CN" altLang="en-US" dirty="0"/>
          </a:p>
        </p:txBody>
      </p:sp>
    </p:spTree>
    <p:extLst>
      <p:ext uri="{BB962C8B-B14F-4D97-AF65-F5344CB8AC3E}">
        <p14:creationId xmlns:p14="http://schemas.microsoft.com/office/powerpoint/2010/main" val="39205896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a:xfrm>
            <a:off x="838200" y="1413163"/>
            <a:ext cx="10515600" cy="4833257"/>
          </a:xfrm>
        </p:spPr>
        <p:txBody>
          <a:bodyPr>
            <a:normAutofit/>
          </a:bodyPr>
          <a:lstStyle/>
          <a:p>
            <a:r>
              <a:rPr lang="en-US" altLang="zh-CN" b="1" dirty="0">
                <a:solidFill>
                  <a:srgbClr val="C00000"/>
                </a:solidFill>
              </a:rPr>
              <a:t>1. </a:t>
            </a:r>
            <a:r>
              <a:rPr lang="zh-CN" altLang="en-US" b="1" dirty="0">
                <a:solidFill>
                  <a:srgbClr val="C00000"/>
                </a:solidFill>
              </a:rPr>
              <a:t>证书窃取（</a:t>
            </a:r>
            <a:r>
              <a:rPr lang="en-US" altLang="zh-CN" b="1" dirty="0">
                <a:solidFill>
                  <a:srgbClr val="C00000"/>
                </a:solidFill>
              </a:rPr>
              <a:t>Credential Theft</a:t>
            </a:r>
            <a:r>
              <a:rPr lang="zh-CN" altLang="en-US" b="1" dirty="0">
                <a:solidFill>
                  <a:srgbClr val="C00000"/>
                </a:solidFill>
              </a:rPr>
              <a:t>）</a:t>
            </a:r>
          </a:p>
          <a:p>
            <a:pPr lvl="1"/>
            <a:r>
              <a:rPr lang="zh-CN" altLang="en-US" dirty="0"/>
              <a:t>恶意软件专门针对系统存储的登录凭据（如浏览器密码、</a:t>
            </a:r>
            <a:r>
              <a:rPr lang="en-US" altLang="zh-CN" dirty="0"/>
              <a:t>SSH</a:t>
            </a:r>
            <a:r>
              <a:rPr lang="zh-CN" altLang="en-US" dirty="0"/>
              <a:t>密钥、</a:t>
            </a:r>
            <a:r>
              <a:rPr lang="en-US" altLang="zh-CN" dirty="0"/>
              <a:t>Windows</a:t>
            </a:r>
            <a:r>
              <a:rPr lang="zh-CN" altLang="en-US" dirty="0"/>
              <a:t>域凭证等），用于后续横向渗透或数据窃取。</a:t>
            </a:r>
          </a:p>
          <a:p>
            <a:pPr lvl="1"/>
            <a:r>
              <a:rPr lang="zh-CN" altLang="en-US" b="1" dirty="0"/>
              <a:t>（</a:t>
            </a:r>
            <a:r>
              <a:rPr lang="en-US" altLang="zh-CN" b="1" dirty="0"/>
              <a:t>1</a:t>
            </a:r>
            <a:r>
              <a:rPr lang="zh-CN" altLang="en-US" b="1" dirty="0"/>
              <a:t>）常见窃取目标</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78</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3724512569"/>
              </p:ext>
            </p:extLst>
          </p:nvPr>
        </p:nvGraphicFramePr>
        <p:xfrm>
          <a:off x="724394" y="3296611"/>
          <a:ext cx="10629405" cy="2854806"/>
        </p:xfrm>
        <a:graphic>
          <a:graphicData uri="http://schemas.openxmlformats.org/drawingml/2006/table">
            <a:tbl>
              <a:tblPr firstRow="1" bandRow="1">
                <a:tableStyleId>{5C22544A-7EE6-4342-B048-85BDC9FD1C3A}</a:tableStyleId>
              </a:tblPr>
              <a:tblGrid>
                <a:gridCol w="1721923">
                  <a:extLst>
                    <a:ext uri="{9D8B030D-6E8A-4147-A177-3AD203B41FA5}">
                      <a16:colId xmlns:a16="http://schemas.microsoft.com/office/drawing/2014/main" val="872995883"/>
                    </a:ext>
                  </a:extLst>
                </a:gridCol>
                <a:gridCol w="6519553">
                  <a:extLst>
                    <a:ext uri="{9D8B030D-6E8A-4147-A177-3AD203B41FA5}">
                      <a16:colId xmlns:a16="http://schemas.microsoft.com/office/drawing/2014/main" val="1582230552"/>
                    </a:ext>
                  </a:extLst>
                </a:gridCol>
                <a:gridCol w="2387929">
                  <a:extLst>
                    <a:ext uri="{9D8B030D-6E8A-4147-A177-3AD203B41FA5}">
                      <a16:colId xmlns:a16="http://schemas.microsoft.com/office/drawing/2014/main" val="2457075382"/>
                    </a:ext>
                  </a:extLst>
                </a:gridCol>
              </a:tblGrid>
              <a:tr h="475801">
                <a:tc>
                  <a:txBody>
                    <a:bodyPr/>
                    <a:lstStyle/>
                    <a:p>
                      <a:pPr algn="l"/>
                      <a:r>
                        <a:rPr lang="zh-CN" altLang="en-US" b="1">
                          <a:effectLst/>
                        </a:rPr>
                        <a:t>存储位置</a:t>
                      </a:r>
                    </a:p>
                  </a:txBody>
                  <a:tcPr marR="95250" marT="95250" marB="95250" anchor="ctr"/>
                </a:tc>
                <a:tc>
                  <a:txBody>
                    <a:bodyPr/>
                    <a:lstStyle/>
                    <a:p>
                      <a:pPr algn="l"/>
                      <a:r>
                        <a:rPr lang="zh-CN" altLang="en-US" b="1">
                          <a:effectLst/>
                        </a:rPr>
                        <a:t>窃取方法</a:t>
                      </a:r>
                    </a:p>
                  </a:txBody>
                  <a:tcPr marL="95250" marR="95250" marT="95250" marB="95250" anchor="ctr"/>
                </a:tc>
                <a:tc>
                  <a:txBody>
                    <a:bodyPr/>
                    <a:lstStyle/>
                    <a:p>
                      <a:pPr algn="l"/>
                      <a:r>
                        <a:rPr lang="zh-CN" altLang="en-US" b="1">
                          <a:effectLst/>
                        </a:rPr>
                        <a:t>典型恶意软件</a:t>
                      </a:r>
                    </a:p>
                  </a:txBody>
                  <a:tcPr marL="95250" marR="95250" marT="95250" marB="95250" anchor="ctr"/>
                </a:tc>
                <a:extLst>
                  <a:ext uri="{0D108BD9-81ED-4DB2-BD59-A6C34878D82A}">
                    <a16:rowId xmlns:a16="http://schemas.microsoft.com/office/drawing/2014/main" val="3431556818"/>
                  </a:ext>
                </a:extLst>
              </a:tr>
              <a:tr h="475801">
                <a:tc>
                  <a:txBody>
                    <a:bodyPr/>
                    <a:lstStyle/>
                    <a:p>
                      <a:r>
                        <a:rPr lang="zh-CN" altLang="en-US" b="1">
                          <a:effectLst/>
                        </a:rPr>
                        <a:t>浏览器密码</a:t>
                      </a:r>
                      <a:endParaRPr lang="zh-CN" altLang="en-US">
                        <a:effectLst/>
                      </a:endParaRPr>
                    </a:p>
                  </a:txBody>
                  <a:tcPr marR="95250" marT="95250" marB="95250" anchor="ctr"/>
                </a:tc>
                <a:tc>
                  <a:txBody>
                    <a:bodyPr/>
                    <a:lstStyle/>
                    <a:p>
                      <a:r>
                        <a:rPr lang="zh-CN" altLang="en-US" sz="1600" dirty="0">
                          <a:effectLst/>
                        </a:rPr>
                        <a:t>读取 </a:t>
                      </a:r>
                      <a:r>
                        <a:rPr lang="en-US" sz="1600" dirty="0">
                          <a:effectLst/>
                        </a:rPr>
                        <a:t>Login </a:t>
                      </a:r>
                      <a:r>
                        <a:rPr lang="en-US" sz="1600" dirty="0" err="1">
                          <a:effectLst/>
                        </a:rPr>
                        <a:t>Data（Chrome</a:t>
                      </a:r>
                      <a:r>
                        <a:rPr lang="en-US" sz="1600" dirty="0">
                          <a:effectLst/>
                        </a:rPr>
                        <a:t>）、</a:t>
                      </a:r>
                      <a:r>
                        <a:rPr lang="en-US" sz="1600" dirty="0" err="1">
                          <a:effectLst/>
                        </a:rPr>
                        <a:t>Signons.sqlite（Firefox</a:t>
                      </a:r>
                      <a:r>
                        <a:rPr lang="en-US" sz="1600" dirty="0">
                          <a:effectLst/>
                        </a:rPr>
                        <a:t>）</a:t>
                      </a:r>
                      <a:r>
                        <a:rPr lang="zh-CN" altLang="en-US" sz="1600" dirty="0">
                          <a:effectLst/>
                        </a:rPr>
                        <a:t>等数据库文件</a:t>
                      </a:r>
                    </a:p>
                  </a:txBody>
                  <a:tcPr marL="95250" marR="95250" marT="95250" marB="95250" anchor="ctr"/>
                </a:tc>
                <a:tc>
                  <a:txBody>
                    <a:bodyPr/>
                    <a:lstStyle/>
                    <a:p>
                      <a:r>
                        <a:rPr lang="en-US">
                          <a:effectLst/>
                        </a:rPr>
                        <a:t>RedLine、Raccoon</a:t>
                      </a:r>
                    </a:p>
                  </a:txBody>
                  <a:tcPr marL="95250" marR="95250" marT="95250" marB="95250" anchor="ctr"/>
                </a:tc>
                <a:extLst>
                  <a:ext uri="{0D108BD9-81ED-4DB2-BD59-A6C34878D82A}">
                    <a16:rowId xmlns:a16="http://schemas.microsoft.com/office/drawing/2014/main" val="4000946166"/>
                  </a:ext>
                </a:extLst>
              </a:tr>
              <a:tr h="475801">
                <a:tc>
                  <a:txBody>
                    <a:bodyPr/>
                    <a:lstStyle/>
                    <a:p>
                      <a:r>
                        <a:rPr lang="en-US" b="1">
                          <a:effectLst/>
                        </a:rPr>
                        <a:t>Windows </a:t>
                      </a:r>
                      <a:r>
                        <a:rPr lang="zh-CN" altLang="en-US" b="1">
                          <a:effectLst/>
                        </a:rPr>
                        <a:t>凭证</a:t>
                      </a:r>
                      <a:endParaRPr lang="zh-CN" altLang="en-US">
                        <a:effectLst/>
                      </a:endParaRPr>
                    </a:p>
                  </a:txBody>
                  <a:tcPr marR="95250" marT="95250" marB="95250" anchor="ctr"/>
                </a:tc>
                <a:tc>
                  <a:txBody>
                    <a:bodyPr/>
                    <a:lstStyle/>
                    <a:p>
                      <a:r>
                        <a:rPr lang="zh-CN" altLang="en-US">
                          <a:effectLst/>
                        </a:rPr>
                        <a:t>使用 </a:t>
                      </a:r>
                      <a:r>
                        <a:rPr lang="en-US">
                          <a:effectLst/>
                        </a:rPr>
                        <a:t>Mimikatz </a:t>
                      </a:r>
                      <a:r>
                        <a:rPr lang="zh-CN" altLang="en-US">
                          <a:effectLst/>
                        </a:rPr>
                        <a:t>提取 </a:t>
                      </a:r>
                      <a:r>
                        <a:rPr lang="en-US">
                          <a:effectLst/>
                        </a:rPr>
                        <a:t>LSASS </a:t>
                      </a:r>
                      <a:r>
                        <a:rPr lang="zh-CN" altLang="en-US">
                          <a:effectLst/>
                        </a:rPr>
                        <a:t>进程内存中的明文密码</a:t>
                      </a:r>
                      <a:r>
                        <a:rPr lang="en-US" altLang="zh-CN">
                          <a:effectLst/>
                        </a:rPr>
                        <a:t>/</a:t>
                      </a:r>
                      <a:r>
                        <a:rPr lang="en-US">
                          <a:effectLst/>
                        </a:rPr>
                        <a:t>NTLM</a:t>
                      </a:r>
                      <a:r>
                        <a:rPr lang="zh-CN" altLang="en-US">
                          <a:effectLst/>
                        </a:rPr>
                        <a:t>哈希</a:t>
                      </a:r>
                    </a:p>
                  </a:txBody>
                  <a:tcPr marL="95250" marR="95250" marT="95250" marB="95250" anchor="ctr"/>
                </a:tc>
                <a:tc>
                  <a:txBody>
                    <a:bodyPr/>
                    <a:lstStyle/>
                    <a:p>
                      <a:r>
                        <a:rPr lang="en-US">
                          <a:effectLst/>
                        </a:rPr>
                        <a:t>Emotet、TrickBot</a:t>
                      </a:r>
                    </a:p>
                  </a:txBody>
                  <a:tcPr marL="95250" marR="95250" marT="95250" marB="95250" anchor="ctr"/>
                </a:tc>
                <a:extLst>
                  <a:ext uri="{0D108BD9-81ED-4DB2-BD59-A6C34878D82A}">
                    <a16:rowId xmlns:a16="http://schemas.microsoft.com/office/drawing/2014/main" val="1432284980"/>
                  </a:ext>
                </a:extLst>
              </a:tr>
              <a:tr h="475801">
                <a:tc>
                  <a:txBody>
                    <a:bodyPr/>
                    <a:lstStyle/>
                    <a:p>
                      <a:r>
                        <a:rPr lang="en-US" b="1">
                          <a:effectLst/>
                        </a:rPr>
                        <a:t>SSH/GPG </a:t>
                      </a:r>
                      <a:r>
                        <a:rPr lang="zh-CN" altLang="en-US" b="1">
                          <a:effectLst/>
                        </a:rPr>
                        <a:t>密钥</a:t>
                      </a:r>
                      <a:endParaRPr lang="zh-CN" altLang="en-US">
                        <a:effectLst/>
                      </a:endParaRPr>
                    </a:p>
                  </a:txBody>
                  <a:tcPr marR="95250" marT="95250" marB="95250" anchor="ctr"/>
                </a:tc>
                <a:tc>
                  <a:txBody>
                    <a:bodyPr/>
                    <a:lstStyle/>
                    <a:p>
                      <a:r>
                        <a:rPr lang="zh-CN" altLang="en-US">
                          <a:effectLst/>
                        </a:rPr>
                        <a:t>扫描 </a:t>
                      </a:r>
                      <a:r>
                        <a:rPr lang="en-US" altLang="zh-CN">
                          <a:effectLst/>
                        </a:rPr>
                        <a:t>~/.ssh/</a:t>
                      </a:r>
                      <a:r>
                        <a:rPr lang="zh-CN" altLang="en-US">
                          <a:effectLst/>
                        </a:rPr>
                        <a:t>、</a:t>
                      </a:r>
                      <a:r>
                        <a:rPr lang="en-US" altLang="zh-CN">
                          <a:effectLst/>
                        </a:rPr>
                        <a:t>~/.gnupg/ </a:t>
                      </a:r>
                      <a:r>
                        <a:rPr lang="zh-CN" altLang="en-US">
                          <a:effectLst/>
                        </a:rPr>
                        <a:t>目录，窃取私钥文件</a:t>
                      </a:r>
                    </a:p>
                  </a:txBody>
                  <a:tcPr marL="95250" marR="95250" marT="95250" marB="95250" anchor="ctr"/>
                </a:tc>
                <a:tc>
                  <a:txBody>
                    <a:bodyPr/>
                    <a:lstStyle/>
                    <a:p>
                      <a:r>
                        <a:rPr lang="en-US">
                          <a:effectLst/>
                        </a:rPr>
                        <a:t>Agent Tesla、XMRig</a:t>
                      </a:r>
                    </a:p>
                  </a:txBody>
                  <a:tcPr marL="95250" marR="95250" marT="95250" marB="95250" anchor="ctr"/>
                </a:tc>
                <a:extLst>
                  <a:ext uri="{0D108BD9-81ED-4DB2-BD59-A6C34878D82A}">
                    <a16:rowId xmlns:a16="http://schemas.microsoft.com/office/drawing/2014/main" val="219721179"/>
                  </a:ext>
                </a:extLst>
              </a:tr>
              <a:tr h="475801">
                <a:tc>
                  <a:txBody>
                    <a:bodyPr/>
                    <a:lstStyle/>
                    <a:p>
                      <a:r>
                        <a:rPr lang="zh-CN" altLang="en-US" b="1">
                          <a:effectLst/>
                        </a:rPr>
                        <a:t>会话 </a:t>
                      </a:r>
                      <a:r>
                        <a:rPr lang="en-US" b="1">
                          <a:effectLst/>
                        </a:rPr>
                        <a:t>Cookie</a:t>
                      </a:r>
                      <a:endParaRPr lang="en-US">
                        <a:effectLst/>
                      </a:endParaRPr>
                    </a:p>
                  </a:txBody>
                  <a:tcPr marR="95250" marT="95250" marB="95250" anchor="ctr"/>
                </a:tc>
                <a:tc>
                  <a:txBody>
                    <a:bodyPr/>
                    <a:lstStyle/>
                    <a:p>
                      <a:r>
                        <a:rPr lang="zh-CN" altLang="en-US" sz="1600" dirty="0">
                          <a:effectLst/>
                        </a:rPr>
                        <a:t>窃取浏览器 </a:t>
                      </a:r>
                      <a:r>
                        <a:rPr lang="en-US" altLang="zh-CN" sz="1600" dirty="0">
                          <a:effectLst/>
                        </a:rPr>
                        <a:t>Cookie</a:t>
                      </a:r>
                      <a:r>
                        <a:rPr lang="zh-CN" altLang="en-US" sz="1600" dirty="0">
                          <a:effectLst/>
                        </a:rPr>
                        <a:t>（如 </a:t>
                      </a:r>
                      <a:r>
                        <a:rPr lang="en-US" altLang="zh-CN" sz="1600" dirty="0" err="1">
                          <a:effectLst/>
                        </a:rPr>
                        <a:t>cookies.sqlite</a:t>
                      </a:r>
                      <a:r>
                        <a:rPr lang="zh-CN" altLang="en-US" sz="1600" dirty="0">
                          <a:effectLst/>
                        </a:rPr>
                        <a:t>），用于绕过双因素认证（</a:t>
                      </a:r>
                      <a:r>
                        <a:rPr lang="en-US" altLang="zh-CN" sz="1600" dirty="0">
                          <a:effectLst/>
                        </a:rPr>
                        <a:t>2FA</a:t>
                      </a:r>
                      <a:r>
                        <a:rPr lang="zh-CN" altLang="en-US" sz="1600" dirty="0">
                          <a:effectLst/>
                        </a:rPr>
                        <a:t>）</a:t>
                      </a:r>
                    </a:p>
                  </a:txBody>
                  <a:tcPr marL="95250" marR="95250" marT="95250" marB="95250" anchor="ctr"/>
                </a:tc>
                <a:tc>
                  <a:txBody>
                    <a:bodyPr/>
                    <a:lstStyle/>
                    <a:p>
                      <a:r>
                        <a:rPr lang="en-US">
                          <a:effectLst/>
                        </a:rPr>
                        <a:t>IcedID、Vidar</a:t>
                      </a:r>
                    </a:p>
                  </a:txBody>
                  <a:tcPr marL="95250" marR="95250" marT="95250" marB="95250" anchor="ctr"/>
                </a:tc>
                <a:extLst>
                  <a:ext uri="{0D108BD9-81ED-4DB2-BD59-A6C34878D82A}">
                    <a16:rowId xmlns:a16="http://schemas.microsoft.com/office/drawing/2014/main" val="46382348"/>
                  </a:ext>
                </a:extLst>
              </a:tr>
              <a:tr h="475801">
                <a:tc>
                  <a:txBody>
                    <a:bodyPr/>
                    <a:lstStyle/>
                    <a:p>
                      <a:r>
                        <a:rPr lang="en-US" b="1">
                          <a:effectLst/>
                        </a:rPr>
                        <a:t>VPN/</a:t>
                      </a:r>
                      <a:r>
                        <a:rPr lang="zh-CN" altLang="en-US" b="1">
                          <a:effectLst/>
                        </a:rPr>
                        <a:t>企业证书</a:t>
                      </a:r>
                      <a:endParaRPr lang="zh-CN" altLang="en-US">
                        <a:effectLst/>
                      </a:endParaRPr>
                    </a:p>
                  </a:txBody>
                  <a:tcPr marR="95250" marT="95250" marB="95250" anchor="ctr"/>
                </a:tc>
                <a:tc>
                  <a:txBody>
                    <a:bodyPr/>
                    <a:lstStyle/>
                    <a:p>
                      <a:r>
                        <a:rPr lang="zh-CN" altLang="en-US">
                          <a:effectLst/>
                        </a:rPr>
                        <a:t>提取已安装的 </a:t>
                      </a:r>
                      <a:r>
                        <a:rPr lang="en-US" altLang="zh-CN">
                          <a:effectLst/>
                        </a:rPr>
                        <a:t>PKI </a:t>
                      </a:r>
                      <a:r>
                        <a:rPr lang="zh-CN" altLang="en-US">
                          <a:effectLst/>
                        </a:rPr>
                        <a:t>证书（如 </a:t>
                      </a:r>
                      <a:r>
                        <a:rPr lang="en-US" altLang="zh-CN">
                          <a:effectLst/>
                        </a:rPr>
                        <a:t>.pfx </a:t>
                      </a:r>
                      <a:r>
                        <a:rPr lang="zh-CN" altLang="en-US">
                          <a:effectLst/>
                        </a:rPr>
                        <a:t>文件）或内存中的会话令牌</a:t>
                      </a:r>
                    </a:p>
                  </a:txBody>
                  <a:tcPr marL="95250" marR="95250" marT="95250" marB="95250" anchor="ctr"/>
                </a:tc>
                <a:tc>
                  <a:txBody>
                    <a:bodyPr/>
                    <a:lstStyle/>
                    <a:p>
                      <a:r>
                        <a:rPr lang="en-US" dirty="0" err="1">
                          <a:effectLst/>
                        </a:rPr>
                        <a:t>Conti、REvil</a:t>
                      </a:r>
                      <a:endParaRPr lang="en-US" dirty="0">
                        <a:effectLst/>
                      </a:endParaRPr>
                    </a:p>
                  </a:txBody>
                  <a:tcPr marL="95250" marR="95250" marT="95250" marB="95250" anchor="ctr"/>
                </a:tc>
                <a:extLst>
                  <a:ext uri="{0D108BD9-81ED-4DB2-BD59-A6C34878D82A}">
                    <a16:rowId xmlns:a16="http://schemas.microsoft.com/office/drawing/2014/main" val="1970614014"/>
                  </a:ext>
                </a:extLst>
              </a:tr>
            </a:tbl>
          </a:graphicData>
        </a:graphic>
      </p:graphicFrame>
    </p:spTree>
    <p:extLst>
      <p:ext uri="{BB962C8B-B14F-4D97-AF65-F5344CB8AC3E}">
        <p14:creationId xmlns:p14="http://schemas.microsoft.com/office/powerpoint/2010/main" val="28023187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a:xfrm>
            <a:off x="838200" y="1244213"/>
            <a:ext cx="10515600" cy="5085336"/>
          </a:xfrm>
        </p:spPr>
        <p:txBody>
          <a:bodyPr>
            <a:normAutofit/>
          </a:bodyPr>
          <a:lstStyle/>
          <a:p>
            <a:r>
              <a:rPr lang="en-US" altLang="zh-CN" b="1" dirty="0">
                <a:solidFill>
                  <a:srgbClr val="C00000"/>
                </a:solidFill>
              </a:rPr>
              <a:t>1. </a:t>
            </a:r>
            <a:r>
              <a:rPr lang="zh-CN" altLang="en-US" b="1" dirty="0">
                <a:solidFill>
                  <a:srgbClr val="C00000"/>
                </a:solidFill>
              </a:rPr>
              <a:t>证书窃取（</a:t>
            </a:r>
            <a:r>
              <a:rPr lang="en-US" altLang="zh-CN" b="1" dirty="0">
                <a:solidFill>
                  <a:srgbClr val="C00000"/>
                </a:solidFill>
              </a:rPr>
              <a:t>Credential Theft</a:t>
            </a:r>
            <a:r>
              <a:rPr lang="zh-CN" altLang="en-US" b="1" dirty="0">
                <a:solidFill>
                  <a:srgbClr val="C00000"/>
                </a:solidFill>
              </a:rPr>
              <a:t>）</a:t>
            </a:r>
          </a:p>
          <a:p>
            <a:pPr lvl="1"/>
            <a:r>
              <a:rPr lang="zh-CN" altLang="en-US" dirty="0"/>
              <a:t>恶意软件专门针对系统存储的登录凭据（如浏览器密码、</a:t>
            </a:r>
            <a:r>
              <a:rPr lang="en-US" altLang="zh-CN" dirty="0"/>
              <a:t>SSH</a:t>
            </a:r>
            <a:r>
              <a:rPr lang="zh-CN" altLang="en-US" dirty="0"/>
              <a:t>密钥、</a:t>
            </a:r>
            <a:r>
              <a:rPr lang="en-US" altLang="zh-CN" dirty="0"/>
              <a:t>Windows</a:t>
            </a:r>
            <a:r>
              <a:rPr lang="zh-CN" altLang="en-US" dirty="0"/>
              <a:t>域凭证等），用于后续横向渗透或数据窃取。</a:t>
            </a:r>
          </a:p>
          <a:p>
            <a:pPr lvl="1"/>
            <a:r>
              <a:rPr lang="zh-CN" altLang="en-US" b="1" dirty="0"/>
              <a:t>（</a:t>
            </a:r>
            <a:r>
              <a:rPr lang="en-US" altLang="zh-CN" b="1" dirty="0"/>
              <a:t>2</a:t>
            </a:r>
            <a:r>
              <a:rPr lang="zh-CN" altLang="en-US" b="1" dirty="0"/>
              <a:t>）技术实现</a:t>
            </a:r>
          </a:p>
          <a:p>
            <a:pPr lvl="2"/>
            <a:r>
              <a:rPr lang="en-US" altLang="zh-CN" b="1" dirty="0"/>
              <a:t>LSASS </a:t>
            </a:r>
            <a:r>
              <a:rPr lang="zh-CN" altLang="en-US" b="1" dirty="0"/>
              <a:t>内存转储：</a:t>
            </a:r>
          </a:p>
          <a:p>
            <a:pPr marL="914400" lvl="2" indent="0">
              <a:buNone/>
            </a:pPr>
            <a:r>
              <a:rPr lang="en-US" altLang="zh-CN" b="1" dirty="0"/>
              <a:t>	</a:t>
            </a:r>
            <a:r>
              <a:rPr lang="en-US" altLang="zh-CN" dirty="0" err="1"/>
              <a:t>Powershell</a:t>
            </a:r>
            <a:r>
              <a:rPr lang="zh-CN" altLang="en-US" dirty="0"/>
              <a:t>：</a:t>
            </a:r>
            <a:r>
              <a:rPr lang="en-US" altLang="zh-CN" dirty="0" err="1"/>
              <a:t>taskkill</a:t>
            </a:r>
            <a:r>
              <a:rPr lang="en-US" altLang="zh-CN" dirty="0"/>
              <a:t> /f /</a:t>
            </a:r>
            <a:r>
              <a:rPr lang="en-US" altLang="zh-CN" dirty="0" err="1"/>
              <a:t>im</a:t>
            </a:r>
            <a:r>
              <a:rPr lang="en-US" altLang="zh-CN" dirty="0"/>
              <a:t> lsass.exe &amp; rundll32.exe 	C:\windows\System32\comsvcs.dll </a:t>
            </a:r>
            <a:r>
              <a:rPr lang="en-US" altLang="zh-CN" dirty="0" err="1"/>
              <a:t>MiniDump</a:t>
            </a:r>
            <a:r>
              <a:rPr lang="en-US" altLang="zh-CN" dirty="0"/>
              <a:t> &lt;PID&gt; </a:t>
            </a:r>
            <a:r>
              <a:rPr lang="en-US" altLang="zh-CN" dirty="0" err="1"/>
              <a:t>dump.dmp</a:t>
            </a:r>
            <a:r>
              <a:rPr lang="en-US" altLang="zh-CN" dirty="0"/>
              <a:t> full</a:t>
            </a:r>
          </a:p>
          <a:p>
            <a:pPr marL="914400" lvl="2" indent="0">
              <a:buNone/>
            </a:pPr>
            <a:r>
              <a:rPr lang="en-US" altLang="zh-CN" dirty="0"/>
              <a:t>	</a:t>
            </a:r>
            <a:r>
              <a:rPr lang="zh-CN" altLang="en-US" dirty="0"/>
              <a:t>（提取后使用 </a:t>
            </a:r>
            <a:r>
              <a:rPr lang="en-US" altLang="zh-CN" dirty="0" err="1"/>
              <a:t>Mimikatz</a:t>
            </a:r>
            <a:r>
              <a:rPr lang="en-US" altLang="zh-CN" dirty="0"/>
              <a:t> </a:t>
            </a:r>
            <a:r>
              <a:rPr lang="zh-CN" altLang="en-US" dirty="0"/>
              <a:t>离线解析密码）</a:t>
            </a:r>
          </a:p>
          <a:p>
            <a:pPr lvl="2"/>
            <a:r>
              <a:rPr lang="zh-CN" altLang="en-US" b="1" dirty="0"/>
              <a:t>浏览器密码解密：</a:t>
            </a:r>
          </a:p>
          <a:p>
            <a:pPr marL="1371600" lvl="3" indent="0">
              <a:buNone/>
            </a:pPr>
            <a:r>
              <a:rPr lang="zh-CN" altLang="en-US" dirty="0"/>
              <a:t>利用 </a:t>
            </a:r>
            <a:r>
              <a:rPr lang="en-US" altLang="zh-CN" dirty="0"/>
              <a:t>DPAPI</a:t>
            </a:r>
            <a:r>
              <a:rPr lang="zh-CN" altLang="en-US" dirty="0"/>
              <a:t>（</a:t>
            </a:r>
            <a:r>
              <a:rPr lang="en-US" altLang="zh-CN" dirty="0"/>
              <a:t>Windows </a:t>
            </a:r>
            <a:r>
              <a:rPr lang="zh-CN" altLang="en-US" dirty="0"/>
              <a:t>数据保护 </a:t>
            </a:r>
            <a:r>
              <a:rPr lang="en-US" altLang="zh-CN" dirty="0"/>
              <a:t>API</a:t>
            </a:r>
            <a:r>
              <a:rPr lang="zh-CN" altLang="en-US" dirty="0"/>
              <a:t>）或硬编码密钥解密 </a:t>
            </a:r>
            <a:r>
              <a:rPr lang="en-US" altLang="zh-CN" dirty="0"/>
              <a:t>Chrome/Firefox </a:t>
            </a:r>
            <a:r>
              <a:rPr lang="zh-CN" altLang="en-US" dirty="0"/>
              <a:t>存储的密码。</a:t>
            </a:r>
          </a:p>
          <a:p>
            <a:pPr lvl="2"/>
            <a:r>
              <a:rPr lang="zh-CN" altLang="en-US" b="1" dirty="0"/>
              <a:t>凭证钓鱼（</a:t>
            </a:r>
            <a:r>
              <a:rPr lang="en-US" altLang="zh-CN" b="1" dirty="0" err="1"/>
              <a:t>WebInject</a:t>
            </a:r>
            <a:r>
              <a:rPr lang="zh-CN" altLang="en-US" b="1" dirty="0"/>
              <a:t>）：</a:t>
            </a:r>
          </a:p>
          <a:p>
            <a:pPr marL="1371600" lvl="3" indent="0">
              <a:buNone/>
            </a:pPr>
            <a:r>
              <a:rPr lang="zh-CN" altLang="en-US" dirty="0"/>
              <a:t>恶意软件修改浏览器页面，伪造登录弹窗诱骗用户输入密码（如银行木马）。</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79</a:t>
            </a:fld>
            <a:endParaRPr kumimoji="1" lang="zh-CN" altLang="en-US" dirty="0"/>
          </a:p>
        </p:txBody>
      </p:sp>
    </p:spTree>
    <p:extLst>
      <p:ext uri="{BB962C8B-B14F-4D97-AF65-F5344CB8AC3E}">
        <p14:creationId xmlns:p14="http://schemas.microsoft.com/office/powerpoint/2010/main" val="33419874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a:xfrm>
            <a:off x="838200" y="1244213"/>
            <a:ext cx="10515600" cy="5085336"/>
          </a:xfrm>
        </p:spPr>
        <p:txBody>
          <a:bodyPr>
            <a:normAutofit/>
          </a:bodyPr>
          <a:lstStyle/>
          <a:p>
            <a:r>
              <a:rPr lang="en-US" altLang="zh-CN" b="1" dirty="0">
                <a:solidFill>
                  <a:srgbClr val="C00000"/>
                </a:solidFill>
              </a:rPr>
              <a:t>1. </a:t>
            </a:r>
            <a:r>
              <a:rPr lang="zh-CN" altLang="en-US" b="1" dirty="0">
                <a:solidFill>
                  <a:srgbClr val="C00000"/>
                </a:solidFill>
              </a:rPr>
              <a:t>证书窃取（</a:t>
            </a:r>
            <a:r>
              <a:rPr lang="en-US" altLang="zh-CN" b="1" dirty="0">
                <a:solidFill>
                  <a:srgbClr val="C00000"/>
                </a:solidFill>
              </a:rPr>
              <a:t>Credential Theft</a:t>
            </a:r>
            <a:r>
              <a:rPr lang="zh-CN" altLang="en-US" b="1" dirty="0">
                <a:solidFill>
                  <a:srgbClr val="C00000"/>
                </a:solidFill>
              </a:rPr>
              <a:t>）</a:t>
            </a:r>
          </a:p>
          <a:p>
            <a:pPr lvl="1"/>
            <a:r>
              <a:rPr lang="zh-CN" altLang="en-US" dirty="0"/>
              <a:t>恶意软件专门针对系统存储的登录凭据（如浏览器密码、</a:t>
            </a:r>
            <a:r>
              <a:rPr lang="en-US" altLang="zh-CN" dirty="0"/>
              <a:t>SSH</a:t>
            </a:r>
            <a:r>
              <a:rPr lang="zh-CN" altLang="en-US" dirty="0"/>
              <a:t>密钥、</a:t>
            </a:r>
            <a:r>
              <a:rPr lang="en-US" altLang="zh-CN" dirty="0"/>
              <a:t>Windows</a:t>
            </a:r>
            <a:r>
              <a:rPr lang="zh-CN" altLang="en-US" dirty="0"/>
              <a:t>域凭证等），用于后续横向渗透或数据窃取。</a:t>
            </a:r>
          </a:p>
          <a:p>
            <a:pPr lvl="1"/>
            <a:r>
              <a:rPr lang="zh-CN" altLang="en-US" b="1" dirty="0"/>
              <a:t>（</a:t>
            </a:r>
            <a:r>
              <a:rPr lang="en-US" altLang="zh-CN" b="1" dirty="0"/>
              <a:t>3</a:t>
            </a:r>
            <a:r>
              <a:rPr lang="zh-CN" altLang="en-US" b="1" dirty="0"/>
              <a:t>）防御措施</a:t>
            </a:r>
          </a:p>
          <a:p>
            <a:pPr lvl="2"/>
            <a:r>
              <a:rPr lang="zh-CN" altLang="en-US" sz="2200" dirty="0"/>
              <a:t>限制 </a:t>
            </a:r>
            <a:r>
              <a:rPr lang="en-US" altLang="zh-CN" sz="2200" dirty="0"/>
              <a:t>LSASS </a:t>
            </a:r>
            <a:r>
              <a:rPr lang="zh-CN" altLang="en-US" sz="2200" dirty="0"/>
              <a:t>访问：启用 </a:t>
            </a:r>
            <a:r>
              <a:rPr lang="en-US" altLang="zh-CN" sz="2200" dirty="0"/>
              <a:t>Windows Defender Credential Guard</a:t>
            </a:r>
            <a:r>
              <a:rPr lang="zh-CN" altLang="en-US" sz="2200" dirty="0"/>
              <a:t>。</a:t>
            </a:r>
          </a:p>
          <a:p>
            <a:pPr lvl="2"/>
            <a:r>
              <a:rPr lang="zh-CN" altLang="en-US" sz="2200" dirty="0"/>
              <a:t>禁用明文密码存储：组策略设置 </a:t>
            </a:r>
            <a:r>
              <a:rPr lang="en-US" altLang="zh-CN" sz="2200" dirty="0" err="1"/>
              <a:t>WDigest</a:t>
            </a:r>
            <a:r>
              <a:rPr lang="en-US" altLang="zh-CN" sz="2200" dirty="0"/>
              <a:t> = Disabled</a:t>
            </a:r>
            <a:r>
              <a:rPr lang="zh-CN" altLang="en-US" sz="2200" dirty="0"/>
              <a:t>。</a:t>
            </a:r>
          </a:p>
          <a:p>
            <a:pPr lvl="2"/>
            <a:r>
              <a:rPr lang="zh-CN" altLang="en-US" sz="2200" dirty="0"/>
              <a:t>定期轮换密钥：强制更换 </a:t>
            </a:r>
            <a:r>
              <a:rPr lang="en-US" altLang="zh-CN" sz="2200" dirty="0"/>
              <a:t>SSH</a:t>
            </a:r>
            <a:r>
              <a:rPr lang="zh-CN" altLang="en-US" sz="2200" dirty="0"/>
              <a:t>、</a:t>
            </a:r>
            <a:r>
              <a:rPr lang="en-US" altLang="zh-CN" sz="2200" dirty="0"/>
              <a:t>RDP </a:t>
            </a:r>
            <a:r>
              <a:rPr lang="zh-CN" altLang="en-US" sz="2200" dirty="0"/>
              <a:t>等服务的密钥</a:t>
            </a:r>
            <a:r>
              <a:rPr lang="en-US" altLang="zh-CN" sz="2200" dirty="0"/>
              <a:t>/</a:t>
            </a:r>
            <a:r>
              <a:rPr lang="zh-CN" altLang="en-US" sz="2200" dirty="0"/>
              <a:t>密码。</a:t>
            </a:r>
          </a:p>
          <a:p>
            <a:pPr lvl="2"/>
            <a:r>
              <a:rPr lang="zh-CN" altLang="en-US" sz="2200" dirty="0"/>
              <a:t>使用密码管理器：避免浏览器存储高敏感密码。</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80</a:t>
            </a:fld>
            <a:endParaRPr kumimoji="1" lang="zh-CN" altLang="en-US" dirty="0"/>
          </a:p>
        </p:txBody>
      </p:sp>
    </p:spTree>
    <p:extLst>
      <p:ext uri="{BB962C8B-B14F-4D97-AF65-F5344CB8AC3E}">
        <p14:creationId xmlns:p14="http://schemas.microsoft.com/office/powerpoint/2010/main" val="6131199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a:xfrm>
            <a:off x="838200" y="1244213"/>
            <a:ext cx="10515600" cy="5085336"/>
          </a:xfrm>
        </p:spPr>
        <p:txBody>
          <a:bodyPr>
            <a:normAutofit/>
          </a:bodyPr>
          <a:lstStyle/>
          <a:p>
            <a:r>
              <a:rPr lang="en-US" altLang="zh-CN" b="1" dirty="0">
                <a:solidFill>
                  <a:srgbClr val="C00000"/>
                </a:solidFill>
              </a:rPr>
              <a:t>2. </a:t>
            </a:r>
            <a:r>
              <a:rPr lang="zh-CN" altLang="en-US" b="1" dirty="0">
                <a:solidFill>
                  <a:srgbClr val="C00000"/>
                </a:solidFill>
              </a:rPr>
              <a:t>键盘监测器（</a:t>
            </a:r>
            <a:r>
              <a:rPr lang="en-US" altLang="zh-CN" b="1" dirty="0" err="1">
                <a:solidFill>
                  <a:srgbClr val="C00000"/>
                </a:solidFill>
              </a:rPr>
              <a:t>Keylogger</a:t>
            </a:r>
            <a:r>
              <a:rPr lang="zh-CN" altLang="en-US" b="1" dirty="0">
                <a:solidFill>
                  <a:srgbClr val="C00000"/>
                </a:solidFill>
              </a:rPr>
              <a:t>）</a:t>
            </a:r>
          </a:p>
          <a:p>
            <a:pPr lvl="1"/>
            <a:r>
              <a:rPr lang="zh-CN" altLang="en-US" dirty="0"/>
              <a:t>键盘监测器记录用户的</a:t>
            </a:r>
            <a:r>
              <a:rPr lang="zh-CN" altLang="en-US" b="1" dirty="0"/>
              <a:t>所有键盘输入</a:t>
            </a:r>
            <a:r>
              <a:rPr lang="zh-CN" altLang="en-US" dirty="0"/>
              <a:t>，包括密码、聊天内容、信用卡号等，通常以以下方式实现：</a:t>
            </a:r>
          </a:p>
          <a:p>
            <a:pPr lvl="1"/>
            <a:r>
              <a:rPr lang="zh-CN" altLang="en-US" b="1" dirty="0"/>
              <a:t>（</a:t>
            </a:r>
            <a:r>
              <a:rPr lang="en-US" altLang="zh-CN" b="1" dirty="0"/>
              <a:t>1</a:t>
            </a:r>
            <a:r>
              <a:rPr lang="zh-CN" altLang="en-US" b="1" dirty="0"/>
              <a:t>）类型</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81</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350636212"/>
              </p:ext>
            </p:extLst>
          </p:nvPr>
        </p:nvGraphicFramePr>
        <p:xfrm>
          <a:off x="838200" y="3142232"/>
          <a:ext cx="10515600" cy="2878560"/>
        </p:xfrm>
        <a:graphic>
          <a:graphicData uri="http://schemas.openxmlformats.org/drawingml/2006/table">
            <a:tbl>
              <a:tblPr firstRow="1" bandRow="1">
                <a:tableStyleId>{5C22544A-7EE6-4342-B048-85BDC9FD1C3A}</a:tableStyleId>
              </a:tblPr>
              <a:tblGrid>
                <a:gridCol w="2083130">
                  <a:extLst>
                    <a:ext uri="{9D8B030D-6E8A-4147-A177-3AD203B41FA5}">
                      <a16:colId xmlns:a16="http://schemas.microsoft.com/office/drawing/2014/main" val="2882447939"/>
                    </a:ext>
                  </a:extLst>
                </a:gridCol>
                <a:gridCol w="6258296">
                  <a:extLst>
                    <a:ext uri="{9D8B030D-6E8A-4147-A177-3AD203B41FA5}">
                      <a16:colId xmlns:a16="http://schemas.microsoft.com/office/drawing/2014/main" val="1431979099"/>
                    </a:ext>
                  </a:extLst>
                </a:gridCol>
                <a:gridCol w="2174174">
                  <a:extLst>
                    <a:ext uri="{9D8B030D-6E8A-4147-A177-3AD203B41FA5}">
                      <a16:colId xmlns:a16="http://schemas.microsoft.com/office/drawing/2014/main" val="4282275541"/>
                    </a:ext>
                  </a:extLst>
                </a:gridCol>
              </a:tblGrid>
              <a:tr h="719640">
                <a:tc>
                  <a:txBody>
                    <a:bodyPr/>
                    <a:lstStyle/>
                    <a:p>
                      <a:pPr algn="l"/>
                      <a:r>
                        <a:rPr lang="zh-CN" altLang="en-US" b="1" dirty="0">
                          <a:effectLst/>
                        </a:rPr>
                        <a:t>类型</a:t>
                      </a:r>
                    </a:p>
                  </a:txBody>
                  <a:tcPr marR="95250" marT="95250" marB="95250" anchor="ctr"/>
                </a:tc>
                <a:tc>
                  <a:txBody>
                    <a:bodyPr/>
                    <a:lstStyle/>
                    <a:p>
                      <a:pPr algn="l"/>
                      <a:r>
                        <a:rPr lang="zh-CN" altLang="en-US" b="1" dirty="0">
                          <a:effectLst/>
                        </a:rPr>
                        <a:t>工作原理</a:t>
                      </a:r>
                    </a:p>
                  </a:txBody>
                  <a:tcPr marL="95250" marR="95250" marT="95250" marB="95250" anchor="ctr"/>
                </a:tc>
                <a:tc>
                  <a:txBody>
                    <a:bodyPr/>
                    <a:lstStyle/>
                    <a:p>
                      <a:pPr algn="l"/>
                      <a:r>
                        <a:rPr lang="zh-CN" altLang="en-US" b="1">
                          <a:effectLst/>
                        </a:rPr>
                        <a:t>检测难度</a:t>
                      </a:r>
                    </a:p>
                  </a:txBody>
                  <a:tcPr marL="95250" marR="95250" marT="95250" marB="95250" anchor="ctr"/>
                </a:tc>
                <a:extLst>
                  <a:ext uri="{0D108BD9-81ED-4DB2-BD59-A6C34878D82A}">
                    <a16:rowId xmlns:a16="http://schemas.microsoft.com/office/drawing/2014/main" val="686433398"/>
                  </a:ext>
                </a:extLst>
              </a:tr>
              <a:tr h="719640">
                <a:tc>
                  <a:txBody>
                    <a:bodyPr/>
                    <a:lstStyle/>
                    <a:p>
                      <a:r>
                        <a:rPr lang="zh-CN" altLang="en-US" b="1">
                          <a:effectLst/>
                        </a:rPr>
                        <a:t>内核级 </a:t>
                      </a:r>
                      <a:r>
                        <a:rPr lang="en-US" b="1">
                          <a:effectLst/>
                        </a:rPr>
                        <a:t>Keylogger</a:t>
                      </a:r>
                      <a:endParaRPr lang="en-US">
                        <a:effectLst/>
                      </a:endParaRPr>
                    </a:p>
                  </a:txBody>
                  <a:tcPr marR="95250" marT="95250" marB="95250" anchor="ctr"/>
                </a:tc>
                <a:tc>
                  <a:txBody>
                    <a:bodyPr/>
                    <a:lstStyle/>
                    <a:p>
                      <a:r>
                        <a:rPr lang="zh-CN" altLang="en-US">
                          <a:effectLst/>
                        </a:rPr>
                        <a:t>通过 </a:t>
                      </a:r>
                      <a:r>
                        <a:rPr lang="en-US" altLang="zh-CN">
                          <a:effectLst/>
                        </a:rPr>
                        <a:t>Rootkit </a:t>
                      </a:r>
                      <a:r>
                        <a:rPr lang="zh-CN" altLang="en-US">
                          <a:effectLst/>
                        </a:rPr>
                        <a:t>挂钩键盘驱动（如 </a:t>
                      </a:r>
                      <a:r>
                        <a:rPr lang="en-US" altLang="zh-CN">
                          <a:effectLst/>
                        </a:rPr>
                        <a:t>kbdclass.sys</a:t>
                      </a:r>
                      <a:r>
                        <a:rPr lang="zh-CN" altLang="en-US">
                          <a:effectLst/>
                        </a:rPr>
                        <a:t>）</a:t>
                      </a:r>
                    </a:p>
                  </a:txBody>
                  <a:tcPr marL="95250" marR="95250" marT="95250" marB="95250" anchor="ctr"/>
                </a:tc>
                <a:tc>
                  <a:txBody>
                    <a:bodyPr/>
                    <a:lstStyle/>
                    <a:p>
                      <a:r>
                        <a:rPr lang="zh-CN" altLang="en-US">
                          <a:effectLst/>
                        </a:rPr>
                        <a:t>极高（需内存取证）</a:t>
                      </a:r>
                    </a:p>
                  </a:txBody>
                  <a:tcPr marL="95250" marR="95250" marT="95250" marB="95250" anchor="ctr"/>
                </a:tc>
                <a:extLst>
                  <a:ext uri="{0D108BD9-81ED-4DB2-BD59-A6C34878D82A}">
                    <a16:rowId xmlns:a16="http://schemas.microsoft.com/office/drawing/2014/main" val="702704785"/>
                  </a:ext>
                </a:extLst>
              </a:tr>
              <a:tr h="719640">
                <a:tc>
                  <a:txBody>
                    <a:bodyPr/>
                    <a:lstStyle/>
                    <a:p>
                      <a:r>
                        <a:rPr lang="zh-CN" altLang="en-US" b="1">
                          <a:effectLst/>
                        </a:rPr>
                        <a:t>用户级 </a:t>
                      </a:r>
                      <a:r>
                        <a:rPr lang="en-US" b="1">
                          <a:effectLst/>
                        </a:rPr>
                        <a:t>Keylogger</a:t>
                      </a:r>
                      <a:endParaRPr lang="en-US">
                        <a:effectLst/>
                      </a:endParaRPr>
                    </a:p>
                  </a:txBody>
                  <a:tcPr marR="95250" marT="95250" marB="95250" anchor="ctr"/>
                </a:tc>
                <a:tc>
                  <a:txBody>
                    <a:bodyPr/>
                    <a:lstStyle/>
                    <a:p>
                      <a:r>
                        <a:rPr lang="zh-CN" altLang="en-US">
                          <a:effectLst/>
                        </a:rPr>
                        <a:t>调用 </a:t>
                      </a:r>
                      <a:r>
                        <a:rPr lang="en-US">
                          <a:effectLst/>
                        </a:rPr>
                        <a:t>Windows API（</a:t>
                      </a:r>
                      <a:r>
                        <a:rPr lang="zh-CN" altLang="en-US">
                          <a:effectLst/>
                        </a:rPr>
                        <a:t>如 </a:t>
                      </a:r>
                      <a:r>
                        <a:rPr lang="en-US">
                          <a:effectLst/>
                        </a:rPr>
                        <a:t>SetWindowsHookEx）</a:t>
                      </a:r>
                      <a:r>
                        <a:rPr lang="zh-CN" altLang="en-US">
                          <a:effectLst/>
                        </a:rPr>
                        <a:t>监听键盘事件</a:t>
                      </a:r>
                    </a:p>
                  </a:txBody>
                  <a:tcPr marL="95250" marR="95250" marT="95250" marB="95250" anchor="ctr"/>
                </a:tc>
                <a:tc>
                  <a:txBody>
                    <a:bodyPr/>
                    <a:lstStyle/>
                    <a:p>
                      <a:r>
                        <a:rPr lang="zh-CN" altLang="en-US">
                          <a:effectLst/>
                        </a:rPr>
                        <a:t>中等（</a:t>
                      </a:r>
                      <a:r>
                        <a:rPr lang="en-US" altLang="zh-CN">
                          <a:effectLst/>
                        </a:rPr>
                        <a:t>EDR </a:t>
                      </a:r>
                      <a:r>
                        <a:rPr lang="zh-CN" altLang="en-US">
                          <a:effectLst/>
                        </a:rPr>
                        <a:t>可检测）</a:t>
                      </a:r>
                    </a:p>
                  </a:txBody>
                  <a:tcPr marL="95250" marR="95250" marT="95250" marB="95250" anchor="ctr"/>
                </a:tc>
                <a:extLst>
                  <a:ext uri="{0D108BD9-81ED-4DB2-BD59-A6C34878D82A}">
                    <a16:rowId xmlns:a16="http://schemas.microsoft.com/office/drawing/2014/main" val="510472098"/>
                  </a:ext>
                </a:extLst>
              </a:tr>
              <a:tr h="719640">
                <a:tc>
                  <a:txBody>
                    <a:bodyPr/>
                    <a:lstStyle/>
                    <a:p>
                      <a:r>
                        <a:rPr lang="zh-CN" altLang="en-US" b="1">
                          <a:effectLst/>
                        </a:rPr>
                        <a:t>硬件 </a:t>
                      </a:r>
                      <a:r>
                        <a:rPr lang="en-US" b="1">
                          <a:effectLst/>
                        </a:rPr>
                        <a:t>Keylogger</a:t>
                      </a:r>
                      <a:endParaRPr lang="en-US">
                        <a:effectLst/>
                      </a:endParaRPr>
                    </a:p>
                  </a:txBody>
                  <a:tcPr marR="95250" marT="95250" marB="95250" anchor="ctr"/>
                </a:tc>
                <a:tc>
                  <a:txBody>
                    <a:bodyPr/>
                    <a:lstStyle/>
                    <a:p>
                      <a:r>
                        <a:rPr lang="zh-CN" altLang="en-US">
                          <a:effectLst/>
                        </a:rPr>
                        <a:t>物理植入 </a:t>
                      </a:r>
                      <a:r>
                        <a:rPr lang="en-US" altLang="zh-CN">
                          <a:effectLst/>
                        </a:rPr>
                        <a:t>USB/PS2 </a:t>
                      </a:r>
                      <a:r>
                        <a:rPr lang="zh-CN" altLang="en-US">
                          <a:effectLst/>
                        </a:rPr>
                        <a:t>设备（非恶意软件范畴）</a:t>
                      </a:r>
                    </a:p>
                  </a:txBody>
                  <a:tcPr marL="95250" marR="95250" marT="95250" marB="95250" anchor="ctr"/>
                </a:tc>
                <a:tc>
                  <a:txBody>
                    <a:bodyPr/>
                    <a:lstStyle/>
                    <a:p>
                      <a:r>
                        <a:rPr lang="zh-CN" altLang="en-US" dirty="0">
                          <a:effectLst/>
                        </a:rPr>
                        <a:t>极低（需物理检查）</a:t>
                      </a:r>
                    </a:p>
                  </a:txBody>
                  <a:tcPr marL="95250" marR="95250" marT="95250" marB="95250" anchor="ctr"/>
                </a:tc>
                <a:extLst>
                  <a:ext uri="{0D108BD9-81ED-4DB2-BD59-A6C34878D82A}">
                    <a16:rowId xmlns:a16="http://schemas.microsoft.com/office/drawing/2014/main" val="1017856108"/>
                  </a:ext>
                </a:extLst>
              </a:tr>
            </a:tbl>
          </a:graphicData>
        </a:graphic>
      </p:graphicFrame>
    </p:spTree>
    <p:extLst>
      <p:ext uri="{BB962C8B-B14F-4D97-AF65-F5344CB8AC3E}">
        <p14:creationId xmlns:p14="http://schemas.microsoft.com/office/powerpoint/2010/main" val="32516266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a:xfrm>
            <a:off x="838200" y="1244213"/>
            <a:ext cx="10515600" cy="5085336"/>
          </a:xfrm>
        </p:spPr>
        <p:txBody>
          <a:bodyPr>
            <a:normAutofit/>
          </a:bodyPr>
          <a:lstStyle/>
          <a:p>
            <a:r>
              <a:rPr lang="en-US" altLang="zh-CN" b="1" dirty="0">
                <a:solidFill>
                  <a:srgbClr val="C00000"/>
                </a:solidFill>
              </a:rPr>
              <a:t>2. </a:t>
            </a:r>
            <a:r>
              <a:rPr lang="zh-CN" altLang="en-US" b="1" dirty="0">
                <a:solidFill>
                  <a:srgbClr val="C00000"/>
                </a:solidFill>
              </a:rPr>
              <a:t>键盘监测器（</a:t>
            </a:r>
            <a:r>
              <a:rPr lang="en-US" altLang="zh-CN" b="1" dirty="0" err="1">
                <a:solidFill>
                  <a:srgbClr val="C00000"/>
                </a:solidFill>
              </a:rPr>
              <a:t>Keylogger</a:t>
            </a:r>
            <a:r>
              <a:rPr lang="zh-CN" altLang="en-US" b="1" dirty="0">
                <a:solidFill>
                  <a:srgbClr val="C00000"/>
                </a:solidFill>
              </a:rPr>
              <a:t>）</a:t>
            </a:r>
          </a:p>
          <a:p>
            <a:pPr lvl="1"/>
            <a:r>
              <a:rPr lang="zh-CN" altLang="en-US" dirty="0"/>
              <a:t>键盘监测器记录用户的</a:t>
            </a:r>
            <a:r>
              <a:rPr lang="zh-CN" altLang="en-US" b="1" dirty="0"/>
              <a:t>所有键盘输入</a:t>
            </a:r>
            <a:r>
              <a:rPr lang="zh-CN" altLang="en-US" dirty="0"/>
              <a:t>，包括密码、聊天内容、信用卡号等，通常以以下方式实现：</a:t>
            </a:r>
          </a:p>
          <a:p>
            <a:pPr lvl="1"/>
            <a:r>
              <a:rPr lang="zh-CN" altLang="en-US" b="1" dirty="0"/>
              <a:t>（</a:t>
            </a:r>
            <a:r>
              <a:rPr lang="en-US" altLang="zh-CN" b="1" dirty="0"/>
              <a:t>2</a:t>
            </a:r>
            <a:r>
              <a:rPr lang="zh-CN" altLang="en-US" b="1" dirty="0"/>
              <a:t>）恶意软件案例</a:t>
            </a:r>
          </a:p>
          <a:p>
            <a:pPr lvl="2"/>
            <a:r>
              <a:rPr lang="en-US" altLang="zh-CN" sz="2200" dirty="0"/>
              <a:t>Agent Tesla</a:t>
            </a:r>
            <a:r>
              <a:rPr lang="zh-CN" altLang="en-US" sz="2200" dirty="0"/>
              <a:t>：记录键盘输入并截屏，通过 </a:t>
            </a:r>
            <a:r>
              <a:rPr lang="en-US" altLang="zh-CN" sz="2200" dirty="0"/>
              <a:t>SMTP/Telegram </a:t>
            </a:r>
            <a:r>
              <a:rPr lang="zh-CN" altLang="en-US" sz="2200" dirty="0"/>
              <a:t>回传数据。</a:t>
            </a:r>
          </a:p>
          <a:p>
            <a:pPr lvl="2"/>
            <a:r>
              <a:rPr lang="en-US" altLang="zh-CN" sz="2200" dirty="0"/>
              <a:t>Hawkeye</a:t>
            </a:r>
            <a:r>
              <a:rPr lang="zh-CN" altLang="en-US" sz="2200" dirty="0"/>
              <a:t>：针对性攻击企业高管，窃取邮箱和 </a:t>
            </a:r>
            <a:r>
              <a:rPr lang="en-US" altLang="zh-CN" sz="2200" dirty="0"/>
              <a:t>VPN </a:t>
            </a:r>
            <a:r>
              <a:rPr lang="zh-CN" altLang="en-US" sz="2200" dirty="0"/>
              <a:t>密码。</a:t>
            </a:r>
          </a:p>
          <a:p>
            <a:pPr lvl="1"/>
            <a:r>
              <a:rPr lang="zh-CN" altLang="en-US" b="1" dirty="0"/>
              <a:t>（</a:t>
            </a:r>
            <a:r>
              <a:rPr lang="en-US" altLang="zh-CN" b="1" dirty="0"/>
              <a:t>3</a:t>
            </a:r>
            <a:r>
              <a:rPr lang="zh-CN" altLang="en-US" b="1" dirty="0"/>
              <a:t>）防御措施</a:t>
            </a:r>
          </a:p>
          <a:p>
            <a:pPr lvl="2"/>
            <a:r>
              <a:rPr lang="zh-CN" altLang="en-US" sz="2200" dirty="0"/>
              <a:t>启用 </a:t>
            </a:r>
            <a:r>
              <a:rPr lang="en-US" altLang="zh-CN" sz="2200" dirty="0"/>
              <a:t>Secure Input</a:t>
            </a:r>
            <a:r>
              <a:rPr lang="zh-CN" altLang="en-US" sz="2200" dirty="0"/>
              <a:t>（如 </a:t>
            </a:r>
            <a:r>
              <a:rPr lang="en-US" altLang="zh-CN" sz="2200" dirty="0" err="1"/>
              <a:t>macOS</a:t>
            </a:r>
            <a:r>
              <a:rPr lang="en-US" altLang="zh-CN" sz="2200" dirty="0"/>
              <a:t> </a:t>
            </a:r>
            <a:r>
              <a:rPr lang="zh-CN" altLang="en-US" sz="2200" dirty="0"/>
              <a:t>的 </a:t>
            </a:r>
            <a:r>
              <a:rPr lang="en-US" altLang="zh-CN" sz="2200" dirty="0"/>
              <a:t>Secure Keyboard Entry</a:t>
            </a:r>
            <a:r>
              <a:rPr lang="zh-CN" altLang="en-US" sz="2200" dirty="0"/>
              <a:t>）。</a:t>
            </a:r>
          </a:p>
          <a:p>
            <a:pPr lvl="2"/>
            <a:r>
              <a:rPr lang="zh-CN" altLang="en-US" sz="2200" dirty="0"/>
              <a:t>使用虚拟键盘（对抗部分 </a:t>
            </a:r>
            <a:r>
              <a:rPr lang="en-US" altLang="zh-CN" sz="2200" dirty="0" err="1"/>
              <a:t>Keylogger</a:t>
            </a:r>
            <a:r>
              <a:rPr lang="zh-CN" altLang="en-US" sz="2200" dirty="0"/>
              <a:t>）。</a:t>
            </a:r>
          </a:p>
          <a:p>
            <a:pPr lvl="2"/>
            <a:r>
              <a:rPr lang="zh-CN" altLang="en-US" sz="2200" dirty="0"/>
              <a:t>部署 </a:t>
            </a:r>
            <a:r>
              <a:rPr lang="en-US" altLang="zh-CN" sz="2200" dirty="0"/>
              <a:t>EDR/XDR </a:t>
            </a:r>
            <a:r>
              <a:rPr lang="zh-CN" altLang="en-US" sz="2200" dirty="0"/>
              <a:t>监控可疑的 </a:t>
            </a:r>
            <a:r>
              <a:rPr lang="en-US" altLang="zh-CN" sz="2200" dirty="0"/>
              <a:t>API </a:t>
            </a:r>
            <a:r>
              <a:rPr lang="zh-CN" altLang="en-US" sz="2200" dirty="0"/>
              <a:t>调用（如 </a:t>
            </a:r>
            <a:r>
              <a:rPr lang="en-US" altLang="zh-CN" sz="2200" dirty="0" err="1"/>
              <a:t>GetAsyncKeyState</a:t>
            </a:r>
            <a:r>
              <a:rPr lang="zh-CN" altLang="en-US" sz="2200"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82</a:t>
            </a:fld>
            <a:endParaRPr kumimoji="1" lang="zh-CN" altLang="en-US" dirty="0"/>
          </a:p>
        </p:txBody>
      </p:sp>
    </p:spTree>
    <p:extLst>
      <p:ext uri="{BB962C8B-B14F-4D97-AF65-F5344CB8AC3E}">
        <p14:creationId xmlns:p14="http://schemas.microsoft.com/office/powerpoint/2010/main" val="21146279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a:xfrm>
            <a:off x="838200" y="1244213"/>
            <a:ext cx="10515600" cy="5085336"/>
          </a:xfrm>
        </p:spPr>
        <p:txBody>
          <a:bodyPr>
            <a:normAutofit/>
          </a:bodyPr>
          <a:lstStyle/>
          <a:p>
            <a:r>
              <a:rPr lang="en-US" altLang="zh-CN" b="1" dirty="0">
                <a:solidFill>
                  <a:srgbClr val="C00000"/>
                </a:solidFill>
              </a:rPr>
              <a:t>3. </a:t>
            </a:r>
            <a:r>
              <a:rPr lang="zh-CN" altLang="en-US" b="1" dirty="0">
                <a:solidFill>
                  <a:srgbClr val="C00000"/>
                </a:solidFill>
              </a:rPr>
              <a:t>间谍软件（</a:t>
            </a:r>
            <a:r>
              <a:rPr lang="en-US" altLang="zh-CN" b="1" dirty="0">
                <a:solidFill>
                  <a:srgbClr val="C00000"/>
                </a:solidFill>
              </a:rPr>
              <a:t>Spyware</a:t>
            </a:r>
            <a:r>
              <a:rPr lang="zh-CN" altLang="en-US" b="1" dirty="0">
                <a:solidFill>
                  <a:srgbClr val="C00000"/>
                </a:solidFill>
              </a:rPr>
              <a:t>）</a:t>
            </a:r>
          </a:p>
          <a:p>
            <a:pPr lvl="1"/>
            <a:r>
              <a:rPr lang="zh-CN" altLang="en-US" dirty="0"/>
              <a:t>间谍软件在后台</a:t>
            </a:r>
            <a:r>
              <a:rPr lang="zh-CN" altLang="en-US" b="1" dirty="0"/>
              <a:t>隐蔽收集用户活动数据</a:t>
            </a:r>
            <a:r>
              <a:rPr lang="zh-CN" altLang="en-US" dirty="0"/>
              <a:t>，包括文件、屏幕截图、麦克风录音等，常见于</a:t>
            </a:r>
            <a:r>
              <a:rPr lang="en-US" altLang="zh-CN" dirty="0"/>
              <a:t>APT</a:t>
            </a:r>
            <a:r>
              <a:rPr lang="zh-CN" altLang="en-US" dirty="0"/>
              <a:t>攻击和商业监控软件。</a:t>
            </a:r>
          </a:p>
          <a:p>
            <a:pPr lvl="1"/>
            <a:r>
              <a:rPr lang="zh-CN" altLang="en-US" b="1" dirty="0"/>
              <a:t>（</a:t>
            </a:r>
            <a:r>
              <a:rPr lang="en-US" altLang="zh-CN" b="1" dirty="0"/>
              <a:t>1</a:t>
            </a:r>
            <a:r>
              <a:rPr lang="zh-CN" altLang="en-US" b="1" dirty="0"/>
              <a:t>）功能分类</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83</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932661927"/>
              </p:ext>
            </p:extLst>
          </p:nvPr>
        </p:nvGraphicFramePr>
        <p:xfrm>
          <a:off x="963221" y="3165983"/>
          <a:ext cx="10199583" cy="3117988"/>
        </p:xfrm>
        <a:graphic>
          <a:graphicData uri="http://schemas.openxmlformats.org/drawingml/2006/table">
            <a:tbl>
              <a:tblPr firstRow="1" bandRow="1">
                <a:tableStyleId>{5C22544A-7EE6-4342-B048-85BDC9FD1C3A}</a:tableStyleId>
              </a:tblPr>
              <a:tblGrid>
                <a:gridCol w="1589974">
                  <a:extLst>
                    <a:ext uri="{9D8B030D-6E8A-4147-A177-3AD203B41FA5}">
                      <a16:colId xmlns:a16="http://schemas.microsoft.com/office/drawing/2014/main" val="2860991246"/>
                    </a:ext>
                  </a:extLst>
                </a:gridCol>
                <a:gridCol w="6187044">
                  <a:extLst>
                    <a:ext uri="{9D8B030D-6E8A-4147-A177-3AD203B41FA5}">
                      <a16:colId xmlns:a16="http://schemas.microsoft.com/office/drawing/2014/main" val="372948823"/>
                    </a:ext>
                  </a:extLst>
                </a:gridCol>
                <a:gridCol w="2422565">
                  <a:extLst>
                    <a:ext uri="{9D8B030D-6E8A-4147-A177-3AD203B41FA5}">
                      <a16:colId xmlns:a16="http://schemas.microsoft.com/office/drawing/2014/main" val="1819877748"/>
                    </a:ext>
                  </a:extLst>
                </a:gridCol>
              </a:tblGrid>
              <a:tr h="594712">
                <a:tc>
                  <a:txBody>
                    <a:bodyPr/>
                    <a:lstStyle/>
                    <a:p>
                      <a:pPr algn="l"/>
                      <a:r>
                        <a:rPr lang="zh-CN" altLang="en-US" b="1" dirty="0">
                          <a:effectLst/>
                        </a:rPr>
                        <a:t>功能</a:t>
                      </a:r>
                    </a:p>
                  </a:txBody>
                  <a:tcPr marR="95250" marT="95250" marB="95250" anchor="ctr"/>
                </a:tc>
                <a:tc>
                  <a:txBody>
                    <a:bodyPr/>
                    <a:lstStyle/>
                    <a:p>
                      <a:pPr algn="l"/>
                      <a:r>
                        <a:rPr lang="zh-CN" altLang="en-US" b="1">
                          <a:effectLst/>
                        </a:rPr>
                        <a:t>技术实现</a:t>
                      </a:r>
                    </a:p>
                  </a:txBody>
                  <a:tcPr marL="95250" marR="95250" marT="95250" marB="95250" anchor="ctr"/>
                </a:tc>
                <a:tc>
                  <a:txBody>
                    <a:bodyPr/>
                    <a:lstStyle/>
                    <a:p>
                      <a:pPr algn="l"/>
                      <a:r>
                        <a:rPr lang="zh-CN" altLang="en-US" b="1">
                          <a:effectLst/>
                        </a:rPr>
                        <a:t>案例</a:t>
                      </a:r>
                    </a:p>
                  </a:txBody>
                  <a:tcPr marL="95250" marR="95250" marT="95250" marB="95250" anchor="ctr"/>
                </a:tc>
                <a:extLst>
                  <a:ext uri="{0D108BD9-81ED-4DB2-BD59-A6C34878D82A}">
                    <a16:rowId xmlns:a16="http://schemas.microsoft.com/office/drawing/2014/main" val="4193236924"/>
                  </a:ext>
                </a:extLst>
              </a:tr>
              <a:tr h="594712">
                <a:tc>
                  <a:txBody>
                    <a:bodyPr/>
                    <a:lstStyle/>
                    <a:p>
                      <a:r>
                        <a:rPr lang="zh-CN" altLang="en-US" b="1" dirty="0">
                          <a:effectLst/>
                        </a:rPr>
                        <a:t>屏幕截图</a:t>
                      </a:r>
                      <a:endParaRPr lang="zh-CN" altLang="en-US" dirty="0">
                        <a:effectLst/>
                      </a:endParaRPr>
                    </a:p>
                  </a:txBody>
                  <a:tcPr marR="95250" marT="95250" marB="95250" anchor="ctr"/>
                </a:tc>
                <a:tc>
                  <a:txBody>
                    <a:bodyPr/>
                    <a:lstStyle/>
                    <a:p>
                      <a:r>
                        <a:rPr lang="zh-CN" altLang="en-US" dirty="0">
                          <a:effectLst/>
                        </a:rPr>
                        <a:t>定时调用 </a:t>
                      </a:r>
                      <a:r>
                        <a:rPr lang="en-US" altLang="zh-CN" dirty="0" err="1">
                          <a:effectLst/>
                        </a:rPr>
                        <a:t>BitBlt</a:t>
                      </a:r>
                      <a:r>
                        <a:rPr lang="en-US" altLang="zh-CN" dirty="0">
                          <a:effectLst/>
                        </a:rPr>
                        <a:t> API </a:t>
                      </a:r>
                      <a:r>
                        <a:rPr lang="zh-CN" altLang="en-US" dirty="0">
                          <a:effectLst/>
                        </a:rPr>
                        <a:t>捕获屏幕</a:t>
                      </a:r>
                    </a:p>
                  </a:txBody>
                  <a:tcPr marL="95250" marR="95250" marT="95250" marB="95250" anchor="ctr"/>
                </a:tc>
                <a:tc>
                  <a:txBody>
                    <a:bodyPr/>
                    <a:lstStyle/>
                    <a:p>
                      <a:r>
                        <a:rPr lang="en-US" dirty="0" err="1">
                          <a:effectLst/>
                        </a:rPr>
                        <a:t>DarkComet、Remcos</a:t>
                      </a:r>
                      <a:endParaRPr lang="en-US" dirty="0">
                        <a:effectLst/>
                      </a:endParaRPr>
                    </a:p>
                  </a:txBody>
                  <a:tcPr marL="95250" marR="95250" marT="95250" marB="95250" anchor="ctr"/>
                </a:tc>
                <a:extLst>
                  <a:ext uri="{0D108BD9-81ED-4DB2-BD59-A6C34878D82A}">
                    <a16:rowId xmlns:a16="http://schemas.microsoft.com/office/drawing/2014/main" val="3085794229"/>
                  </a:ext>
                </a:extLst>
              </a:tr>
              <a:tr h="594712">
                <a:tc>
                  <a:txBody>
                    <a:bodyPr/>
                    <a:lstStyle/>
                    <a:p>
                      <a:r>
                        <a:rPr lang="zh-CN" altLang="en-US" b="1">
                          <a:effectLst/>
                        </a:rPr>
                        <a:t>麦克风窃听</a:t>
                      </a:r>
                      <a:endParaRPr lang="zh-CN" altLang="en-US">
                        <a:effectLst/>
                      </a:endParaRPr>
                    </a:p>
                  </a:txBody>
                  <a:tcPr marR="95250" marT="95250" marB="95250" anchor="ctr"/>
                </a:tc>
                <a:tc>
                  <a:txBody>
                    <a:bodyPr/>
                    <a:lstStyle/>
                    <a:p>
                      <a:r>
                        <a:rPr lang="zh-CN" altLang="en-US">
                          <a:effectLst/>
                        </a:rPr>
                        <a:t>通过 </a:t>
                      </a:r>
                      <a:r>
                        <a:rPr lang="en-US">
                          <a:effectLst/>
                        </a:rPr>
                        <a:t>Windows Core Audio API </a:t>
                      </a:r>
                      <a:r>
                        <a:rPr lang="zh-CN" altLang="en-US">
                          <a:effectLst/>
                        </a:rPr>
                        <a:t>录制环境音频</a:t>
                      </a:r>
                    </a:p>
                  </a:txBody>
                  <a:tcPr marL="95250" marR="95250" marT="95250" marB="95250" anchor="ctr"/>
                </a:tc>
                <a:tc>
                  <a:txBody>
                    <a:bodyPr/>
                    <a:lstStyle/>
                    <a:p>
                      <a:r>
                        <a:rPr lang="en-US" dirty="0" err="1">
                          <a:effectLst/>
                        </a:rPr>
                        <a:t>FinSpy、Pegasus</a:t>
                      </a:r>
                      <a:endParaRPr lang="en-US" dirty="0">
                        <a:effectLst/>
                      </a:endParaRPr>
                    </a:p>
                  </a:txBody>
                  <a:tcPr marL="95250" marR="95250" marT="95250" marB="95250" anchor="ctr"/>
                </a:tc>
                <a:extLst>
                  <a:ext uri="{0D108BD9-81ED-4DB2-BD59-A6C34878D82A}">
                    <a16:rowId xmlns:a16="http://schemas.microsoft.com/office/drawing/2014/main" val="278813742"/>
                  </a:ext>
                </a:extLst>
              </a:tr>
              <a:tr h="594712">
                <a:tc>
                  <a:txBody>
                    <a:bodyPr/>
                    <a:lstStyle/>
                    <a:p>
                      <a:r>
                        <a:rPr lang="zh-CN" altLang="en-US" b="1">
                          <a:effectLst/>
                        </a:rPr>
                        <a:t>文件窃取</a:t>
                      </a:r>
                      <a:endParaRPr lang="zh-CN" altLang="en-US">
                        <a:effectLst/>
                      </a:endParaRPr>
                    </a:p>
                  </a:txBody>
                  <a:tcPr marR="95250" marT="95250" marB="95250" anchor="ctr"/>
                </a:tc>
                <a:tc>
                  <a:txBody>
                    <a:bodyPr/>
                    <a:lstStyle/>
                    <a:p>
                      <a:r>
                        <a:rPr lang="zh-CN" altLang="en-US">
                          <a:effectLst/>
                        </a:rPr>
                        <a:t>扫描并上传特定扩展名文件（如 </a:t>
                      </a:r>
                      <a:r>
                        <a:rPr lang="en-US" altLang="zh-CN">
                          <a:effectLst/>
                        </a:rPr>
                        <a:t>.docx, .pdf</a:t>
                      </a:r>
                      <a:r>
                        <a:rPr lang="zh-CN" altLang="en-US">
                          <a:effectLst/>
                        </a:rPr>
                        <a:t>）</a:t>
                      </a:r>
                    </a:p>
                  </a:txBody>
                  <a:tcPr marL="95250" marR="95250" marT="95250" marB="95250" anchor="ctr"/>
                </a:tc>
                <a:tc>
                  <a:txBody>
                    <a:bodyPr/>
                    <a:lstStyle/>
                    <a:p>
                      <a:r>
                        <a:rPr lang="en-US" dirty="0" err="1">
                          <a:effectLst/>
                        </a:rPr>
                        <a:t>Duqu、CloudAtlas</a:t>
                      </a:r>
                      <a:endParaRPr lang="en-US" dirty="0">
                        <a:effectLst/>
                      </a:endParaRPr>
                    </a:p>
                  </a:txBody>
                  <a:tcPr marL="95250" marR="95250" marT="95250" marB="95250" anchor="ctr"/>
                </a:tc>
                <a:extLst>
                  <a:ext uri="{0D108BD9-81ED-4DB2-BD59-A6C34878D82A}">
                    <a16:rowId xmlns:a16="http://schemas.microsoft.com/office/drawing/2014/main" val="3828213069"/>
                  </a:ext>
                </a:extLst>
              </a:tr>
              <a:tr h="594712">
                <a:tc>
                  <a:txBody>
                    <a:bodyPr/>
                    <a:lstStyle/>
                    <a:p>
                      <a:r>
                        <a:rPr lang="zh-CN" altLang="en-US" b="1">
                          <a:effectLst/>
                        </a:rPr>
                        <a:t>剪贴板监控</a:t>
                      </a:r>
                      <a:endParaRPr lang="zh-CN" altLang="en-US">
                        <a:effectLst/>
                      </a:endParaRPr>
                    </a:p>
                  </a:txBody>
                  <a:tcPr marR="95250" marT="95250" marB="95250" anchor="ctr"/>
                </a:tc>
                <a:tc>
                  <a:txBody>
                    <a:bodyPr/>
                    <a:lstStyle/>
                    <a:p>
                      <a:r>
                        <a:rPr lang="zh-CN" altLang="en-US">
                          <a:effectLst/>
                        </a:rPr>
                        <a:t>监听 </a:t>
                      </a:r>
                      <a:r>
                        <a:rPr lang="en-US" altLang="zh-CN">
                          <a:effectLst/>
                        </a:rPr>
                        <a:t>WM_CLIPBOARDUPDATE </a:t>
                      </a:r>
                      <a:r>
                        <a:rPr lang="zh-CN" altLang="en-US">
                          <a:effectLst/>
                        </a:rPr>
                        <a:t>事件获取复制的密码</a:t>
                      </a:r>
                      <a:r>
                        <a:rPr lang="en-US" altLang="zh-CN">
                          <a:effectLst/>
                        </a:rPr>
                        <a:t>/</a:t>
                      </a:r>
                      <a:r>
                        <a:rPr lang="zh-CN" altLang="en-US">
                          <a:effectLst/>
                        </a:rPr>
                        <a:t>加密货币地址</a:t>
                      </a:r>
                    </a:p>
                  </a:txBody>
                  <a:tcPr marL="95250" marR="95250" marT="95250" marB="95250" anchor="ctr"/>
                </a:tc>
                <a:tc>
                  <a:txBody>
                    <a:bodyPr/>
                    <a:lstStyle/>
                    <a:p>
                      <a:r>
                        <a:rPr lang="en-US" dirty="0">
                          <a:effectLst/>
                        </a:rPr>
                        <a:t>Clipper Malware</a:t>
                      </a:r>
                    </a:p>
                  </a:txBody>
                  <a:tcPr marL="95250" marR="95250" marT="95250" marB="95250" anchor="ctr"/>
                </a:tc>
                <a:extLst>
                  <a:ext uri="{0D108BD9-81ED-4DB2-BD59-A6C34878D82A}">
                    <a16:rowId xmlns:a16="http://schemas.microsoft.com/office/drawing/2014/main" val="286211298"/>
                  </a:ext>
                </a:extLst>
              </a:tr>
            </a:tbl>
          </a:graphicData>
        </a:graphic>
      </p:graphicFrame>
    </p:spTree>
    <p:extLst>
      <p:ext uri="{BB962C8B-B14F-4D97-AF65-F5344CB8AC3E}">
        <p14:creationId xmlns:p14="http://schemas.microsoft.com/office/powerpoint/2010/main" val="4707969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513386" cy="879086"/>
          </a:xfrm>
        </p:spPr>
        <p:txBody>
          <a:bodyPr>
            <a:normAutofit fontScale="90000"/>
          </a:bodyPr>
          <a:lstStyle/>
          <a:p>
            <a:r>
              <a:rPr lang="en-US" altLang="zh-CN" dirty="0"/>
              <a:t>10.8.1 </a:t>
            </a:r>
            <a:r>
              <a:rPr kumimoji="1" lang="zh-CN" altLang="zh-CN" dirty="0">
                <a:solidFill>
                  <a:prstClr val="black"/>
                </a:solidFill>
              </a:rPr>
              <a:t>证书窃取、键盘监测器和间谍软件</a:t>
            </a:r>
            <a:endParaRPr lang="zh-CN" altLang="en-US" dirty="0"/>
          </a:p>
        </p:txBody>
      </p:sp>
      <p:sp>
        <p:nvSpPr>
          <p:cNvPr id="3" name="内容占位符 2"/>
          <p:cNvSpPr>
            <a:spLocks noGrp="1"/>
          </p:cNvSpPr>
          <p:nvPr>
            <p:ph idx="1"/>
          </p:nvPr>
        </p:nvSpPr>
        <p:spPr>
          <a:xfrm>
            <a:off x="838200" y="1244213"/>
            <a:ext cx="10515600" cy="5085336"/>
          </a:xfrm>
        </p:spPr>
        <p:txBody>
          <a:bodyPr>
            <a:normAutofit/>
          </a:bodyPr>
          <a:lstStyle/>
          <a:p>
            <a:r>
              <a:rPr lang="en-US" altLang="zh-CN" b="1" dirty="0">
                <a:solidFill>
                  <a:srgbClr val="C00000"/>
                </a:solidFill>
              </a:rPr>
              <a:t>3. </a:t>
            </a:r>
            <a:r>
              <a:rPr lang="zh-CN" altLang="en-US" b="1" dirty="0">
                <a:solidFill>
                  <a:srgbClr val="C00000"/>
                </a:solidFill>
              </a:rPr>
              <a:t>间谍软件（</a:t>
            </a:r>
            <a:r>
              <a:rPr lang="en-US" altLang="zh-CN" b="1" dirty="0">
                <a:solidFill>
                  <a:srgbClr val="C00000"/>
                </a:solidFill>
              </a:rPr>
              <a:t>Spyware</a:t>
            </a:r>
            <a:r>
              <a:rPr lang="zh-CN" altLang="en-US" b="1" dirty="0">
                <a:solidFill>
                  <a:srgbClr val="C00000"/>
                </a:solidFill>
              </a:rPr>
              <a:t>）</a:t>
            </a:r>
          </a:p>
          <a:p>
            <a:pPr lvl="1"/>
            <a:r>
              <a:rPr lang="zh-CN" altLang="en-US" dirty="0"/>
              <a:t>间谍软件在后台</a:t>
            </a:r>
            <a:r>
              <a:rPr lang="zh-CN" altLang="en-US" b="1" dirty="0"/>
              <a:t>隐蔽收集用户活动数据</a:t>
            </a:r>
            <a:r>
              <a:rPr lang="zh-CN" altLang="en-US" dirty="0"/>
              <a:t>，包括文件、屏幕截图、麦克风录音等，常见于</a:t>
            </a:r>
            <a:r>
              <a:rPr lang="en-US" altLang="zh-CN" dirty="0"/>
              <a:t>APT</a:t>
            </a:r>
            <a:r>
              <a:rPr lang="zh-CN" altLang="en-US" dirty="0"/>
              <a:t>攻击和商业监控软件。</a:t>
            </a:r>
          </a:p>
          <a:p>
            <a:pPr lvl="1"/>
            <a:r>
              <a:rPr lang="zh-CN" altLang="en-US" b="1" dirty="0"/>
              <a:t>（</a:t>
            </a:r>
            <a:r>
              <a:rPr lang="en-US" altLang="zh-CN" b="1" dirty="0"/>
              <a:t>2</a:t>
            </a:r>
            <a:r>
              <a:rPr lang="zh-CN" altLang="en-US" b="1" dirty="0"/>
              <a:t>）高级间谍软件技术</a:t>
            </a:r>
          </a:p>
          <a:p>
            <a:pPr lvl="2"/>
            <a:r>
              <a:rPr lang="zh-CN" altLang="en-US" b="1" dirty="0"/>
              <a:t>无文件攻击</a:t>
            </a:r>
            <a:r>
              <a:rPr lang="zh-CN" altLang="en-US" dirty="0"/>
              <a:t>：</a:t>
            </a:r>
            <a:br>
              <a:rPr lang="zh-CN" altLang="en-US" dirty="0"/>
            </a:br>
            <a:r>
              <a:rPr lang="zh-CN" altLang="en-US" dirty="0"/>
              <a:t>通过 </a:t>
            </a:r>
            <a:r>
              <a:rPr lang="en-US" altLang="zh-CN" dirty="0"/>
              <a:t>PowerShell/WMI </a:t>
            </a:r>
            <a:r>
              <a:rPr lang="zh-CN" altLang="en-US" dirty="0"/>
              <a:t>执行内存驻留脚本，避免写入磁盘（如 </a:t>
            </a:r>
            <a:r>
              <a:rPr lang="en-US" altLang="zh-CN" b="1" dirty="0" err="1"/>
              <a:t>PowerSploit</a:t>
            </a:r>
            <a:r>
              <a:rPr lang="zh-CN" altLang="en-US" dirty="0"/>
              <a:t>）。</a:t>
            </a:r>
          </a:p>
          <a:p>
            <a:pPr lvl="2"/>
            <a:r>
              <a:rPr lang="zh-CN" altLang="en-US" b="1" dirty="0"/>
              <a:t>零点击漏洞</a:t>
            </a:r>
            <a:r>
              <a:rPr lang="zh-CN" altLang="en-US" dirty="0"/>
              <a:t>：</a:t>
            </a:r>
            <a:br>
              <a:rPr lang="zh-CN" altLang="en-US" dirty="0"/>
            </a:br>
            <a:r>
              <a:rPr lang="zh-CN" altLang="en-US" dirty="0"/>
              <a:t>利用 </a:t>
            </a:r>
            <a:r>
              <a:rPr lang="en-US" altLang="zh-CN" dirty="0" err="1"/>
              <a:t>iMessage</a:t>
            </a:r>
            <a:r>
              <a:rPr lang="en-US" altLang="zh-CN" dirty="0"/>
              <a:t>/WhatsApp </a:t>
            </a:r>
            <a:r>
              <a:rPr lang="zh-CN" altLang="en-US" dirty="0"/>
              <a:t>漏洞无需交互即可感染设备（如 </a:t>
            </a:r>
            <a:r>
              <a:rPr lang="en-US" altLang="zh-CN" b="1" dirty="0"/>
              <a:t>Pegasus</a:t>
            </a:r>
            <a:r>
              <a:rPr lang="zh-CN" altLang="en-US" dirty="0"/>
              <a:t>）。</a:t>
            </a:r>
          </a:p>
          <a:p>
            <a:pPr lvl="1"/>
            <a:r>
              <a:rPr lang="zh-CN" altLang="en-US" b="1" dirty="0"/>
              <a:t>（</a:t>
            </a:r>
            <a:r>
              <a:rPr lang="en-US" altLang="zh-CN" b="1" dirty="0"/>
              <a:t>3</a:t>
            </a:r>
            <a:r>
              <a:rPr lang="zh-CN" altLang="en-US" b="1" dirty="0"/>
              <a:t>）防御措施</a:t>
            </a:r>
          </a:p>
          <a:p>
            <a:pPr lvl="2"/>
            <a:r>
              <a:rPr lang="zh-CN" altLang="en-US" b="1" dirty="0"/>
              <a:t>禁用不必要的权限</a:t>
            </a:r>
            <a:r>
              <a:rPr lang="zh-CN" altLang="en-US" dirty="0"/>
              <a:t>（如麦克风、摄像头访问限制）。</a:t>
            </a:r>
          </a:p>
          <a:p>
            <a:pPr lvl="2"/>
            <a:r>
              <a:rPr lang="zh-CN" altLang="en-US" b="1" dirty="0"/>
              <a:t>加密敏感文件</a:t>
            </a:r>
            <a:r>
              <a:rPr lang="zh-CN" altLang="en-US" dirty="0"/>
              <a:t>（使用 </a:t>
            </a:r>
            <a:r>
              <a:rPr lang="en-US" altLang="zh-CN" dirty="0" err="1"/>
              <a:t>VeraCrypt</a:t>
            </a:r>
            <a:r>
              <a:rPr lang="en-US" altLang="zh-CN" dirty="0"/>
              <a:t> </a:t>
            </a:r>
            <a:r>
              <a:rPr lang="zh-CN" altLang="en-US" dirty="0"/>
              <a:t>或 </a:t>
            </a:r>
            <a:r>
              <a:rPr lang="en-US" altLang="zh-CN" dirty="0"/>
              <a:t>BitLocker</a:t>
            </a:r>
            <a:r>
              <a:rPr lang="zh-CN" altLang="en-US" dirty="0"/>
              <a:t>）。</a:t>
            </a:r>
          </a:p>
          <a:p>
            <a:pPr lvl="2"/>
            <a:r>
              <a:rPr lang="zh-CN" altLang="en-US" b="1" dirty="0"/>
              <a:t>网络流量审计</a:t>
            </a:r>
            <a:r>
              <a:rPr lang="zh-CN" altLang="en-US" dirty="0"/>
              <a:t>：检测异常外传数据（如大量文件上传至陌生</a:t>
            </a:r>
            <a:r>
              <a:rPr lang="en-US" altLang="zh-CN" dirty="0"/>
              <a:t>IP</a:t>
            </a:r>
            <a:r>
              <a:rPr lang="zh-CN" altLang="en-US" dirty="0"/>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84</a:t>
            </a:fld>
            <a:endParaRPr kumimoji="1" lang="zh-CN" altLang="en-US" dirty="0"/>
          </a:p>
        </p:txBody>
      </p:sp>
    </p:spTree>
    <p:extLst>
      <p:ext uri="{BB962C8B-B14F-4D97-AF65-F5344CB8AC3E}">
        <p14:creationId xmlns:p14="http://schemas.microsoft.com/office/powerpoint/2010/main" val="15108396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10.8.2 </a:t>
            </a:r>
            <a:r>
              <a:rPr kumimoji="1" lang="zh-CN" altLang="zh-CN" dirty="0">
                <a:solidFill>
                  <a:prstClr val="black"/>
                </a:solidFill>
              </a:rPr>
              <a:t>网络钓鱼和身份窃取</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solidFill>
                  <a:srgbClr val="C00000"/>
                </a:solidFill>
              </a:rPr>
              <a:t>网络钓鱼（</a:t>
            </a:r>
            <a:r>
              <a:rPr lang="en-US" altLang="zh-CN" dirty="0">
                <a:solidFill>
                  <a:srgbClr val="C00000"/>
                </a:solidFill>
              </a:rPr>
              <a:t>Phishing</a:t>
            </a:r>
            <a:r>
              <a:rPr lang="zh-CN" altLang="en-US" dirty="0">
                <a:solidFill>
                  <a:srgbClr val="C00000"/>
                </a:solidFill>
              </a:rPr>
              <a:t>）</a:t>
            </a:r>
            <a:r>
              <a:rPr lang="zh-CN" altLang="en-US" dirty="0"/>
              <a:t>和</a:t>
            </a:r>
            <a:r>
              <a:rPr lang="zh-CN" altLang="en-US" dirty="0">
                <a:solidFill>
                  <a:srgbClr val="C00000"/>
                </a:solidFill>
              </a:rPr>
              <a:t>身份窃取（</a:t>
            </a:r>
            <a:r>
              <a:rPr lang="en-US" altLang="zh-CN" dirty="0">
                <a:solidFill>
                  <a:srgbClr val="C00000"/>
                </a:solidFill>
              </a:rPr>
              <a:t>Identity Theft</a:t>
            </a:r>
            <a:r>
              <a:rPr lang="zh-CN" altLang="en-US" dirty="0">
                <a:solidFill>
                  <a:srgbClr val="C00000"/>
                </a:solidFill>
              </a:rPr>
              <a:t>）</a:t>
            </a:r>
            <a:r>
              <a:rPr lang="zh-CN" altLang="en-US" dirty="0"/>
              <a:t>是当今最常见的网络犯罪手段之一，攻击者利用社会工程学和技术手段结合的方式，诱骗受害者泄露敏感信息（如账号密码、信用卡号、身份证号等），进而实施欺诈、数据盗窃或金融犯罪。</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85</a:t>
            </a:fld>
            <a:endParaRPr kumimoji="1" lang="zh-CN" altLang="en-US" dirty="0"/>
          </a:p>
        </p:txBody>
      </p:sp>
    </p:spTree>
    <p:extLst>
      <p:ext uri="{BB962C8B-B14F-4D97-AF65-F5344CB8AC3E}">
        <p14:creationId xmlns:p14="http://schemas.microsoft.com/office/powerpoint/2010/main" val="16287594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10.8.2 </a:t>
            </a:r>
            <a:r>
              <a:rPr kumimoji="1" lang="zh-CN" altLang="zh-CN" dirty="0">
                <a:solidFill>
                  <a:prstClr val="black"/>
                </a:solidFill>
              </a:rPr>
              <a:t>网络钓鱼和身份窃取</a:t>
            </a:r>
            <a:endParaRPr lang="zh-CN" altLang="en-US" dirty="0"/>
          </a:p>
        </p:txBody>
      </p:sp>
      <p:sp>
        <p:nvSpPr>
          <p:cNvPr id="3" name="内容占位符 2"/>
          <p:cNvSpPr>
            <a:spLocks noGrp="1"/>
          </p:cNvSpPr>
          <p:nvPr>
            <p:ph idx="1"/>
          </p:nvPr>
        </p:nvSpPr>
        <p:spPr>
          <a:xfrm>
            <a:off x="838200" y="1510758"/>
            <a:ext cx="10633364" cy="4586694"/>
          </a:xfrm>
        </p:spPr>
        <p:txBody>
          <a:bodyPr>
            <a:normAutofit/>
          </a:bodyPr>
          <a:lstStyle/>
          <a:p>
            <a:r>
              <a:rPr lang="en-US" altLang="zh-CN" b="1" dirty="0">
                <a:solidFill>
                  <a:srgbClr val="C00000"/>
                </a:solidFill>
              </a:rPr>
              <a:t>1. </a:t>
            </a:r>
            <a:r>
              <a:rPr lang="zh-CN" altLang="en-US" b="1" dirty="0">
                <a:solidFill>
                  <a:srgbClr val="C00000"/>
                </a:solidFill>
              </a:rPr>
              <a:t>网络钓鱼（</a:t>
            </a:r>
            <a:r>
              <a:rPr lang="en-US" altLang="zh-CN" b="1" dirty="0">
                <a:solidFill>
                  <a:srgbClr val="C00000"/>
                </a:solidFill>
              </a:rPr>
              <a:t>Phishing</a:t>
            </a:r>
            <a:r>
              <a:rPr lang="zh-CN" altLang="en-US" b="1" dirty="0">
                <a:solidFill>
                  <a:srgbClr val="C00000"/>
                </a:solidFill>
              </a:rPr>
              <a:t>）</a:t>
            </a:r>
          </a:p>
          <a:p>
            <a:pPr lvl="1"/>
            <a:r>
              <a:rPr lang="zh-CN" altLang="en-US" dirty="0"/>
              <a:t>网络钓鱼是一种</a:t>
            </a:r>
            <a:r>
              <a:rPr lang="zh-CN" altLang="en-US" b="1" dirty="0"/>
              <a:t>欺骗性攻击</a:t>
            </a:r>
            <a:r>
              <a:rPr lang="zh-CN" altLang="en-US" dirty="0"/>
              <a:t>，攻击者伪装成可信来源（如银行、社交媒体、公司</a:t>
            </a:r>
            <a:r>
              <a:rPr lang="en-US" altLang="zh-CN" dirty="0"/>
              <a:t>IT</a:t>
            </a:r>
            <a:r>
              <a:rPr lang="zh-CN" altLang="en-US" dirty="0"/>
              <a:t>部门），诱导受害者点击恶意链接、下载附件或输入敏感信息。</a:t>
            </a:r>
          </a:p>
          <a:p>
            <a:pPr lvl="1"/>
            <a:r>
              <a:rPr lang="zh-CN" altLang="en-US" b="1" dirty="0"/>
              <a:t>（</a:t>
            </a:r>
            <a:r>
              <a:rPr lang="en-US" altLang="zh-CN" b="1" dirty="0"/>
              <a:t>1</a:t>
            </a:r>
            <a:r>
              <a:rPr lang="zh-CN" altLang="en-US" b="1" dirty="0"/>
              <a:t>）常见网络钓鱼类型</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86</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365717974"/>
              </p:ext>
            </p:extLst>
          </p:nvPr>
        </p:nvGraphicFramePr>
        <p:xfrm>
          <a:off x="838200" y="3287063"/>
          <a:ext cx="10383981" cy="3102192"/>
        </p:xfrm>
        <a:graphic>
          <a:graphicData uri="http://schemas.openxmlformats.org/drawingml/2006/table">
            <a:tbl>
              <a:tblPr firstRow="1" bandRow="1">
                <a:tableStyleId>{5C22544A-7EE6-4342-B048-85BDC9FD1C3A}</a:tableStyleId>
              </a:tblPr>
              <a:tblGrid>
                <a:gridCol w="2273135">
                  <a:extLst>
                    <a:ext uri="{9D8B030D-6E8A-4147-A177-3AD203B41FA5}">
                      <a16:colId xmlns:a16="http://schemas.microsoft.com/office/drawing/2014/main" val="727454723"/>
                    </a:ext>
                  </a:extLst>
                </a:gridCol>
                <a:gridCol w="5438899">
                  <a:extLst>
                    <a:ext uri="{9D8B030D-6E8A-4147-A177-3AD203B41FA5}">
                      <a16:colId xmlns:a16="http://schemas.microsoft.com/office/drawing/2014/main" val="3866342964"/>
                    </a:ext>
                  </a:extLst>
                </a:gridCol>
                <a:gridCol w="2671947">
                  <a:extLst>
                    <a:ext uri="{9D8B030D-6E8A-4147-A177-3AD203B41FA5}">
                      <a16:colId xmlns:a16="http://schemas.microsoft.com/office/drawing/2014/main" val="807492904"/>
                    </a:ext>
                  </a:extLst>
                </a:gridCol>
              </a:tblGrid>
              <a:tr h="439562">
                <a:tc>
                  <a:txBody>
                    <a:bodyPr/>
                    <a:lstStyle/>
                    <a:p>
                      <a:pPr algn="l"/>
                      <a:r>
                        <a:rPr lang="zh-CN" altLang="en-US" b="1">
                          <a:effectLst/>
                        </a:rPr>
                        <a:t>类型</a:t>
                      </a:r>
                    </a:p>
                  </a:txBody>
                  <a:tcPr marR="95250" marT="95250" marB="95250" anchor="ctr"/>
                </a:tc>
                <a:tc>
                  <a:txBody>
                    <a:bodyPr/>
                    <a:lstStyle/>
                    <a:p>
                      <a:pPr algn="l"/>
                      <a:r>
                        <a:rPr lang="zh-CN" altLang="en-US" b="1">
                          <a:effectLst/>
                        </a:rPr>
                        <a:t>攻击方式</a:t>
                      </a:r>
                    </a:p>
                  </a:txBody>
                  <a:tcPr marL="95250" marR="95250" marT="95250" marB="95250" anchor="ctr"/>
                </a:tc>
                <a:tc>
                  <a:txBody>
                    <a:bodyPr/>
                    <a:lstStyle/>
                    <a:p>
                      <a:pPr algn="l"/>
                      <a:r>
                        <a:rPr lang="zh-CN" altLang="en-US" b="1">
                          <a:effectLst/>
                        </a:rPr>
                        <a:t>典型案例</a:t>
                      </a:r>
                    </a:p>
                  </a:txBody>
                  <a:tcPr marL="95250" marR="95250" marT="95250" marB="95250" anchor="ctr"/>
                </a:tc>
                <a:extLst>
                  <a:ext uri="{0D108BD9-81ED-4DB2-BD59-A6C34878D82A}">
                    <a16:rowId xmlns:a16="http://schemas.microsoft.com/office/drawing/2014/main" val="1200568255"/>
                  </a:ext>
                </a:extLst>
              </a:tr>
              <a:tr h="439562">
                <a:tc>
                  <a:txBody>
                    <a:bodyPr/>
                    <a:lstStyle/>
                    <a:p>
                      <a:r>
                        <a:rPr lang="zh-CN" altLang="en-US" sz="1600" b="1" dirty="0">
                          <a:effectLst/>
                        </a:rPr>
                        <a:t>电子邮件钓鱼</a:t>
                      </a:r>
                      <a:endParaRPr lang="zh-CN" altLang="en-US" sz="1600" dirty="0">
                        <a:effectLst/>
                      </a:endParaRPr>
                    </a:p>
                  </a:txBody>
                  <a:tcPr marR="95250" marT="95250" marB="95250" anchor="ctr"/>
                </a:tc>
                <a:tc>
                  <a:txBody>
                    <a:bodyPr/>
                    <a:lstStyle/>
                    <a:p>
                      <a:r>
                        <a:rPr lang="zh-CN" altLang="en-US" sz="1200" dirty="0">
                          <a:effectLst/>
                        </a:rPr>
                        <a:t>伪装成银行、</a:t>
                      </a:r>
                      <a:r>
                        <a:rPr lang="en-US" altLang="zh-CN" sz="1200" dirty="0">
                          <a:effectLst/>
                        </a:rPr>
                        <a:t>PayPal</a:t>
                      </a:r>
                      <a:r>
                        <a:rPr lang="zh-CN" altLang="en-US" sz="1200" dirty="0">
                          <a:effectLst/>
                        </a:rPr>
                        <a:t>、</a:t>
                      </a:r>
                      <a:r>
                        <a:rPr lang="en-US" altLang="zh-CN" sz="1200" dirty="0">
                          <a:effectLst/>
                        </a:rPr>
                        <a:t>Microsoft</a:t>
                      </a:r>
                      <a:r>
                        <a:rPr lang="zh-CN" altLang="en-US" sz="1200" dirty="0">
                          <a:effectLst/>
                        </a:rPr>
                        <a:t>等官方邮件，诱导点击恶意链接或下载附件</a:t>
                      </a:r>
                    </a:p>
                  </a:txBody>
                  <a:tcPr marL="95250" marR="95250" marT="95250" marB="95250" anchor="ctr"/>
                </a:tc>
                <a:tc>
                  <a:txBody>
                    <a:bodyPr/>
                    <a:lstStyle/>
                    <a:p>
                      <a:r>
                        <a:rPr lang="en-US" sz="1600" b="1" dirty="0" err="1">
                          <a:effectLst/>
                        </a:rPr>
                        <a:t>Emotet</a:t>
                      </a:r>
                      <a:r>
                        <a:rPr lang="en-US" sz="1600" dirty="0">
                          <a:effectLst/>
                        </a:rPr>
                        <a:t>（</a:t>
                      </a:r>
                      <a:r>
                        <a:rPr lang="zh-CN" altLang="en-US" sz="1600" dirty="0">
                          <a:effectLst/>
                        </a:rPr>
                        <a:t>恶意附件传播）</a:t>
                      </a:r>
                    </a:p>
                  </a:txBody>
                  <a:tcPr marL="95250" marR="95250" marT="95250" marB="95250" anchor="ctr"/>
                </a:tc>
                <a:extLst>
                  <a:ext uri="{0D108BD9-81ED-4DB2-BD59-A6C34878D82A}">
                    <a16:rowId xmlns:a16="http://schemas.microsoft.com/office/drawing/2014/main" val="90029644"/>
                  </a:ext>
                </a:extLst>
              </a:tr>
              <a:tr h="439562">
                <a:tc>
                  <a:txBody>
                    <a:bodyPr/>
                    <a:lstStyle/>
                    <a:p>
                      <a:r>
                        <a:rPr lang="zh-CN" altLang="en-US" sz="1600" b="1" dirty="0">
                          <a:effectLst/>
                        </a:rPr>
                        <a:t>鱼叉式钓鱼</a:t>
                      </a:r>
                      <a:endParaRPr lang="zh-CN" altLang="en-US" sz="1600" dirty="0">
                        <a:effectLst/>
                      </a:endParaRPr>
                    </a:p>
                  </a:txBody>
                  <a:tcPr marR="95250" marT="95250" marB="95250" anchor="ctr"/>
                </a:tc>
                <a:tc>
                  <a:txBody>
                    <a:bodyPr/>
                    <a:lstStyle/>
                    <a:p>
                      <a:r>
                        <a:rPr lang="zh-CN" altLang="en-US" sz="1400" dirty="0">
                          <a:effectLst/>
                        </a:rPr>
                        <a:t>针对特定个人或组织（如高管、财务人员），内容高度定制化</a:t>
                      </a:r>
                    </a:p>
                  </a:txBody>
                  <a:tcPr marL="95250" marR="95250" marT="95250" marB="95250" anchor="ctr"/>
                </a:tc>
                <a:tc>
                  <a:txBody>
                    <a:bodyPr/>
                    <a:lstStyle/>
                    <a:p>
                      <a:r>
                        <a:rPr lang="en-US" altLang="zh-CN" sz="1600" b="1" dirty="0">
                          <a:effectLst/>
                        </a:rPr>
                        <a:t>CEO</a:t>
                      </a:r>
                      <a:r>
                        <a:rPr lang="zh-CN" altLang="en-US" sz="1600" b="1" dirty="0">
                          <a:effectLst/>
                        </a:rPr>
                        <a:t>欺诈</a:t>
                      </a:r>
                      <a:r>
                        <a:rPr lang="zh-CN" altLang="en-US" sz="1600" dirty="0">
                          <a:effectLst/>
                        </a:rPr>
                        <a:t>（</a:t>
                      </a:r>
                      <a:r>
                        <a:rPr lang="en-US" altLang="zh-CN" sz="1600" dirty="0">
                          <a:effectLst/>
                        </a:rPr>
                        <a:t>BEC</a:t>
                      </a:r>
                      <a:r>
                        <a:rPr lang="zh-CN" altLang="en-US" sz="1600" dirty="0">
                          <a:effectLst/>
                        </a:rPr>
                        <a:t>攻击）</a:t>
                      </a:r>
                    </a:p>
                  </a:txBody>
                  <a:tcPr marL="95250" marR="95250" marT="95250" marB="95250" anchor="ctr"/>
                </a:tc>
                <a:extLst>
                  <a:ext uri="{0D108BD9-81ED-4DB2-BD59-A6C34878D82A}">
                    <a16:rowId xmlns:a16="http://schemas.microsoft.com/office/drawing/2014/main" val="1443182742"/>
                  </a:ext>
                </a:extLst>
              </a:tr>
              <a:tr h="439562">
                <a:tc>
                  <a:txBody>
                    <a:bodyPr/>
                    <a:lstStyle/>
                    <a:p>
                      <a:r>
                        <a:rPr lang="zh-CN" altLang="en-US" sz="1600" b="1" dirty="0">
                          <a:effectLst/>
                        </a:rPr>
                        <a:t>短信钓鱼（</a:t>
                      </a:r>
                      <a:r>
                        <a:rPr lang="en-US" sz="1600" b="1" dirty="0" err="1">
                          <a:effectLst/>
                        </a:rPr>
                        <a:t>Smishing</a:t>
                      </a:r>
                      <a:r>
                        <a:rPr lang="en-US" sz="1600" b="1" dirty="0">
                          <a:effectLst/>
                        </a:rPr>
                        <a:t>）</a:t>
                      </a:r>
                      <a:endParaRPr lang="en-US" sz="1600" dirty="0">
                        <a:effectLst/>
                      </a:endParaRPr>
                    </a:p>
                  </a:txBody>
                  <a:tcPr marR="95250" marT="95250" marB="95250" anchor="ctr"/>
                </a:tc>
                <a:tc>
                  <a:txBody>
                    <a:bodyPr/>
                    <a:lstStyle/>
                    <a:p>
                      <a:r>
                        <a:rPr lang="zh-CN" altLang="en-US" sz="1400" dirty="0">
                          <a:effectLst/>
                        </a:rPr>
                        <a:t>通过短信发送虚假银行</a:t>
                      </a:r>
                      <a:r>
                        <a:rPr lang="en-US" altLang="zh-CN" sz="1400" dirty="0">
                          <a:effectLst/>
                        </a:rPr>
                        <a:t>/</a:t>
                      </a:r>
                      <a:r>
                        <a:rPr lang="zh-CN" altLang="en-US" sz="1400" dirty="0">
                          <a:effectLst/>
                        </a:rPr>
                        <a:t>快递通知，诱导点击恶意链接</a:t>
                      </a:r>
                    </a:p>
                  </a:txBody>
                  <a:tcPr marL="95250" marR="95250" marT="95250" marB="95250" anchor="ctr"/>
                </a:tc>
                <a:tc>
                  <a:txBody>
                    <a:bodyPr/>
                    <a:lstStyle/>
                    <a:p>
                      <a:r>
                        <a:rPr lang="en-US" sz="1600" b="1" dirty="0" err="1">
                          <a:effectLst/>
                        </a:rPr>
                        <a:t>FluBot</a:t>
                      </a:r>
                      <a:r>
                        <a:rPr lang="en-US" sz="1600" dirty="0" err="1">
                          <a:effectLst/>
                        </a:rPr>
                        <a:t>（Android</a:t>
                      </a:r>
                      <a:r>
                        <a:rPr lang="zh-CN" altLang="en-US" sz="1600" dirty="0">
                          <a:effectLst/>
                        </a:rPr>
                        <a:t>银行木马）</a:t>
                      </a:r>
                    </a:p>
                  </a:txBody>
                  <a:tcPr marL="95250" marR="95250" marT="95250" marB="95250" anchor="ctr"/>
                </a:tc>
                <a:extLst>
                  <a:ext uri="{0D108BD9-81ED-4DB2-BD59-A6C34878D82A}">
                    <a16:rowId xmlns:a16="http://schemas.microsoft.com/office/drawing/2014/main" val="2989158583"/>
                  </a:ext>
                </a:extLst>
              </a:tr>
              <a:tr h="439562">
                <a:tc>
                  <a:txBody>
                    <a:bodyPr/>
                    <a:lstStyle/>
                    <a:p>
                      <a:r>
                        <a:rPr lang="zh-CN" altLang="en-US" sz="1600" b="1" dirty="0">
                          <a:effectLst/>
                        </a:rPr>
                        <a:t>语音钓鱼（</a:t>
                      </a:r>
                      <a:r>
                        <a:rPr lang="en-US" altLang="zh-CN" sz="1600" b="1" dirty="0">
                          <a:effectLst/>
                        </a:rPr>
                        <a:t>Vishing</a:t>
                      </a:r>
                      <a:r>
                        <a:rPr lang="zh-CN" altLang="en-US" sz="1600" b="1" dirty="0">
                          <a:effectLst/>
                        </a:rPr>
                        <a:t>）</a:t>
                      </a:r>
                      <a:endParaRPr lang="zh-CN" altLang="en-US" sz="1600" dirty="0">
                        <a:effectLst/>
                      </a:endParaRPr>
                    </a:p>
                  </a:txBody>
                  <a:tcPr marR="95250" marT="95250" marB="95250" anchor="ctr"/>
                </a:tc>
                <a:tc>
                  <a:txBody>
                    <a:bodyPr/>
                    <a:lstStyle/>
                    <a:p>
                      <a:r>
                        <a:rPr lang="zh-CN" altLang="en-US" sz="1400" dirty="0">
                          <a:effectLst/>
                        </a:rPr>
                        <a:t>冒充客服</a:t>
                      </a:r>
                      <a:r>
                        <a:rPr lang="en-US" altLang="zh-CN" sz="1400" dirty="0">
                          <a:effectLst/>
                        </a:rPr>
                        <a:t>/</a:t>
                      </a:r>
                      <a:r>
                        <a:rPr lang="zh-CN" altLang="en-US" sz="1400" dirty="0">
                          <a:effectLst/>
                        </a:rPr>
                        <a:t>执法机构，电话诱导受害者提供密码或转账</a:t>
                      </a:r>
                    </a:p>
                  </a:txBody>
                  <a:tcPr marL="95250" marR="95250" marT="95250" marB="95250" anchor="ctr"/>
                </a:tc>
                <a:tc>
                  <a:txBody>
                    <a:bodyPr/>
                    <a:lstStyle/>
                    <a:p>
                      <a:r>
                        <a:rPr lang="en-US" altLang="zh-CN" sz="1600" b="1" dirty="0">
                          <a:effectLst/>
                        </a:rPr>
                        <a:t>IRS</a:t>
                      </a:r>
                      <a:r>
                        <a:rPr lang="zh-CN" altLang="en-US" sz="1600" b="1" dirty="0">
                          <a:effectLst/>
                        </a:rPr>
                        <a:t>税务诈骗</a:t>
                      </a:r>
                      <a:r>
                        <a:rPr lang="zh-CN" altLang="en-US" sz="1600" dirty="0">
                          <a:effectLst/>
                        </a:rPr>
                        <a:t>（美国常见）</a:t>
                      </a:r>
                    </a:p>
                  </a:txBody>
                  <a:tcPr marL="95250" marR="95250" marT="95250" marB="95250" anchor="ctr"/>
                </a:tc>
                <a:extLst>
                  <a:ext uri="{0D108BD9-81ED-4DB2-BD59-A6C34878D82A}">
                    <a16:rowId xmlns:a16="http://schemas.microsoft.com/office/drawing/2014/main" val="185010869"/>
                  </a:ext>
                </a:extLst>
              </a:tr>
              <a:tr h="439562">
                <a:tc>
                  <a:txBody>
                    <a:bodyPr/>
                    <a:lstStyle/>
                    <a:p>
                      <a:r>
                        <a:rPr lang="zh-CN" altLang="en-US" sz="1600" b="1" dirty="0">
                          <a:effectLst/>
                        </a:rPr>
                        <a:t>社交网络钓鱼</a:t>
                      </a:r>
                      <a:endParaRPr lang="zh-CN" altLang="en-US" sz="1600" dirty="0">
                        <a:effectLst/>
                      </a:endParaRPr>
                    </a:p>
                  </a:txBody>
                  <a:tcPr marR="95250" marT="95250" marB="95250" anchor="ctr"/>
                </a:tc>
                <a:tc>
                  <a:txBody>
                    <a:bodyPr/>
                    <a:lstStyle/>
                    <a:p>
                      <a:r>
                        <a:rPr lang="zh-CN" altLang="en-US" sz="1400" dirty="0">
                          <a:effectLst/>
                        </a:rPr>
                        <a:t>伪造</a:t>
                      </a:r>
                      <a:r>
                        <a:rPr lang="en-US" altLang="zh-CN" sz="1400" dirty="0">
                          <a:effectLst/>
                        </a:rPr>
                        <a:t>Facebook</a:t>
                      </a:r>
                      <a:r>
                        <a:rPr lang="zh-CN" altLang="en-US" sz="1400" dirty="0">
                          <a:effectLst/>
                        </a:rPr>
                        <a:t>、</a:t>
                      </a:r>
                      <a:r>
                        <a:rPr lang="en-US" altLang="zh-CN" sz="1400" dirty="0">
                          <a:effectLst/>
                        </a:rPr>
                        <a:t>LinkedIn</a:t>
                      </a:r>
                      <a:r>
                        <a:rPr lang="zh-CN" altLang="en-US" sz="1400" dirty="0">
                          <a:effectLst/>
                        </a:rPr>
                        <a:t>等平台消息，骗取账号或传播恶意链接</a:t>
                      </a:r>
                    </a:p>
                  </a:txBody>
                  <a:tcPr marL="95250" marR="95250" marT="95250" marB="95250" anchor="ctr"/>
                </a:tc>
                <a:tc>
                  <a:txBody>
                    <a:bodyPr/>
                    <a:lstStyle/>
                    <a:p>
                      <a:r>
                        <a:rPr lang="en-US" altLang="zh-CN" sz="1600" b="1" dirty="0">
                          <a:effectLst/>
                        </a:rPr>
                        <a:t>Twitter</a:t>
                      </a:r>
                      <a:r>
                        <a:rPr lang="zh-CN" altLang="en-US" sz="1600" b="1" dirty="0">
                          <a:effectLst/>
                        </a:rPr>
                        <a:t>比特币诈骗</a:t>
                      </a:r>
                      <a:r>
                        <a:rPr lang="zh-CN" altLang="en-US" sz="1600" dirty="0">
                          <a:effectLst/>
                        </a:rPr>
                        <a:t>（</a:t>
                      </a:r>
                      <a:r>
                        <a:rPr lang="en-US" altLang="zh-CN" sz="1600" dirty="0">
                          <a:effectLst/>
                        </a:rPr>
                        <a:t>2020</a:t>
                      </a:r>
                      <a:r>
                        <a:rPr lang="zh-CN" altLang="en-US" sz="1600" dirty="0">
                          <a:effectLst/>
                        </a:rPr>
                        <a:t>）</a:t>
                      </a:r>
                    </a:p>
                  </a:txBody>
                  <a:tcPr marL="95250" marR="95250" marT="95250" marB="95250" anchor="ctr"/>
                </a:tc>
                <a:extLst>
                  <a:ext uri="{0D108BD9-81ED-4DB2-BD59-A6C34878D82A}">
                    <a16:rowId xmlns:a16="http://schemas.microsoft.com/office/drawing/2014/main" val="3619292474"/>
                  </a:ext>
                </a:extLst>
              </a:tr>
              <a:tr h="439562">
                <a:tc>
                  <a:txBody>
                    <a:bodyPr/>
                    <a:lstStyle/>
                    <a:p>
                      <a:r>
                        <a:rPr lang="zh-CN" altLang="en-US" sz="1600" b="1" dirty="0">
                          <a:effectLst/>
                        </a:rPr>
                        <a:t>搜索引擎钓鱼</a:t>
                      </a:r>
                      <a:endParaRPr lang="zh-CN" altLang="en-US" sz="1600" dirty="0">
                        <a:effectLst/>
                      </a:endParaRPr>
                    </a:p>
                  </a:txBody>
                  <a:tcPr marR="95250" marT="95250" marB="95250" anchor="ctr"/>
                </a:tc>
                <a:tc>
                  <a:txBody>
                    <a:bodyPr/>
                    <a:lstStyle/>
                    <a:p>
                      <a:r>
                        <a:rPr lang="zh-CN" altLang="en-US" sz="1200" dirty="0">
                          <a:effectLst/>
                        </a:rPr>
                        <a:t>购买广告或</a:t>
                      </a:r>
                      <a:r>
                        <a:rPr lang="en-US" altLang="zh-CN" sz="1200" dirty="0">
                          <a:effectLst/>
                        </a:rPr>
                        <a:t>SEO</a:t>
                      </a:r>
                      <a:r>
                        <a:rPr lang="zh-CN" altLang="en-US" sz="1200" dirty="0">
                          <a:effectLst/>
                        </a:rPr>
                        <a:t>优化，使虚假网站（如假</a:t>
                      </a:r>
                      <a:r>
                        <a:rPr lang="en-US" altLang="zh-CN" sz="1200" dirty="0">
                          <a:effectLst/>
                        </a:rPr>
                        <a:t>PayPal</a:t>
                      </a:r>
                      <a:r>
                        <a:rPr lang="zh-CN" altLang="en-US" sz="1200" dirty="0">
                          <a:effectLst/>
                        </a:rPr>
                        <a:t>登录页）出现在搜索结果顶部</a:t>
                      </a:r>
                    </a:p>
                  </a:txBody>
                  <a:tcPr marL="95250" marR="95250" marT="95250" marB="95250" anchor="ctr"/>
                </a:tc>
                <a:tc>
                  <a:txBody>
                    <a:bodyPr/>
                    <a:lstStyle/>
                    <a:p>
                      <a:r>
                        <a:rPr lang="zh-CN" altLang="en-US" sz="1600" b="1" dirty="0">
                          <a:effectLst/>
                        </a:rPr>
                        <a:t>假加密货币交易所</a:t>
                      </a:r>
                      <a:endParaRPr lang="zh-CN" altLang="en-US" sz="1600" dirty="0">
                        <a:effectLst/>
                      </a:endParaRPr>
                    </a:p>
                  </a:txBody>
                  <a:tcPr marL="95250" marR="95250" marT="95250" marB="95250" anchor="ctr"/>
                </a:tc>
                <a:extLst>
                  <a:ext uri="{0D108BD9-81ED-4DB2-BD59-A6C34878D82A}">
                    <a16:rowId xmlns:a16="http://schemas.microsoft.com/office/drawing/2014/main" val="2892526967"/>
                  </a:ext>
                </a:extLst>
              </a:tr>
            </a:tbl>
          </a:graphicData>
        </a:graphic>
      </p:graphicFrame>
    </p:spTree>
    <p:extLst>
      <p:ext uri="{BB962C8B-B14F-4D97-AF65-F5344CB8AC3E}">
        <p14:creationId xmlns:p14="http://schemas.microsoft.com/office/powerpoint/2010/main" val="11690645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10.8.2 </a:t>
            </a:r>
            <a:r>
              <a:rPr kumimoji="1" lang="zh-CN" altLang="zh-CN" dirty="0">
                <a:solidFill>
                  <a:prstClr val="black"/>
                </a:solidFill>
              </a:rPr>
              <a:t>网络钓鱼和身份窃取</a:t>
            </a:r>
            <a:endParaRPr lang="zh-CN" altLang="en-US" dirty="0"/>
          </a:p>
        </p:txBody>
      </p:sp>
      <p:sp>
        <p:nvSpPr>
          <p:cNvPr id="3" name="内容占位符 2"/>
          <p:cNvSpPr>
            <a:spLocks noGrp="1"/>
          </p:cNvSpPr>
          <p:nvPr>
            <p:ph idx="1"/>
          </p:nvPr>
        </p:nvSpPr>
        <p:spPr>
          <a:xfrm>
            <a:off x="838200" y="1510758"/>
            <a:ext cx="10633364" cy="4586694"/>
          </a:xfrm>
        </p:spPr>
        <p:txBody>
          <a:bodyPr>
            <a:normAutofit lnSpcReduction="10000"/>
          </a:bodyPr>
          <a:lstStyle/>
          <a:p>
            <a:r>
              <a:rPr lang="en-US" altLang="zh-CN" b="1" dirty="0">
                <a:solidFill>
                  <a:srgbClr val="C00000"/>
                </a:solidFill>
              </a:rPr>
              <a:t>1. </a:t>
            </a:r>
            <a:r>
              <a:rPr lang="zh-CN" altLang="en-US" b="1" dirty="0">
                <a:solidFill>
                  <a:srgbClr val="C00000"/>
                </a:solidFill>
              </a:rPr>
              <a:t>网络钓鱼（</a:t>
            </a:r>
            <a:r>
              <a:rPr lang="en-US" altLang="zh-CN" b="1" dirty="0">
                <a:solidFill>
                  <a:srgbClr val="C00000"/>
                </a:solidFill>
              </a:rPr>
              <a:t>Phishing</a:t>
            </a:r>
            <a:r>
              <a:rPr lang="zh-CN" altLang="en-US" b="1" dirty="0">
                <a:solidFill>
                  <a:srgbClr val="C00000"/>
                </a:solidFill>
              </a:rPr>
              <a:t>）</a:t>
            </a:r>
          </a:p>
          <a:p>
            <a:pPr lvl="1"/>
            <a:r>
              <a:rPr lang="zh-CN" altLang="en-US" dirty="0"/>
              <a:t>网络钓鱼是一种</a:t>
            </a:r>
            <a:r>
              <a:rPr lang="zh-CN" altLang="en-US" b="1" dirty="0"/>
              <a:t>欺骗性攻击</a:t>
            </a:r>
            <a:r>
              <a:rPr lang="zh-CN" altLang="en-US" dirty="0"/>
              <a:t>，攻击者伪装成可信来源（如银行、社交媒体、公司</a:t>
            </a:r>
            <a:r>
              <a:rPr lang="en-US" altLang="zh-CN" dirty="0"/>
              <a:t>IT</a:t>
            </a:r>
            <a:r>
              <a:rPr lang="zh-CN" altLang="en-US" dirty="0"/>
              <a:t>部门），诱导受害者点击恶意链接、下载附件或输入敏感信息。</a:t>
            </a:r>
          </a:p>
          <a:p>
            <a:pPr lvl="1"/>
            <a:r>
              <a:rPr lang="zh-CN" altLang="en-US" b="1" dirty="0"/>
              <a:t>（</a:t>
            </a:r>
            <a:r>
              <a:rPr lang="en-US" altLang="zh-CN" b="1" dirty="0"/>
              <a:t>2</a:t>
            </a:r>
            <a:r>
              <a:rPr lang="zh-CN" altLang="en-US" b="1" dirty="0"/>
              <a:t>）钓鱼攻击的技术手段</a:t>
            </a:r>
          </a:p>
          <a:p>
            <a:pPr lvl="2"/>
            <a:r>
              <a:rPr lang="zh-CN" altLang="en-US" b="1" dirty="0"/>
              <a:t>伪造网站（</a:t>
            </a:r>
            <a:r>
              <a:rPr lang="en-US" altLang="zh-CN" b="1" dirty="0"/>
              <a:t>Spoofing</a:t>
            </a:r>
            <a:r>
              <a:rPr lang="zh-CN" altLang="en-US" b="1" dirty="0"/>
              <a:t>）</a:t>
            </a:r>
          </a:p>
          <a:p>
            <a:pPr lvl="3"/>
            <a:r>
              <a:rPr lang="zh-CN" altLang="en-US" sz="2000" dirty="0"/>
              <a:t>克隆合法网站（如 </a:t>
            </a:r>
            <a:r>
              <a:rPr lang="en-US" altLang="zh-CN" sz="2000" dirty="0"/>
              <a:t>paypa1.com </a:t>
            </a:r>
            <a:r>
              <a:rPr lang="zh-CN" altLang="en-US" sz="2000" dirty="0"/>
              <a:t>仿冒 </a:t>
            </a:r>
            <a:r>
              <a:rPr lang="en-US" altLang="zh-CN" sz="2000" dirty="0"/>
              <a:t>paypal.com</a:t>
            </a:r>
            <a:r>
              <a:rPr lang="zh-CN" altLang="en-US" sz="2000" dirty="0"/>
              <a:t>）。</a:t>
            </a:r>
          </a:p>
          <a:p>
            <a:pPr lvl="3"/>
            <a:r>
              <a:rPr lang="zh-CN" altLang="en-US" sz="2000" dirty="0"/>
              <a:t>使用 </a:t>
            </a:r>
            <a:r>
              <a:rPr lang="en-US" altLang="zh-CN" sz="2000" dirty="0"/>
              <a:t>SSL</a:t>
            </a:r>
            <a:r>
              <a:rPr lang="zh-CN" altLang="en-US" sz="2000" dirty="0"/>
              <a:t>证书（</a:t>
            </a:r>
            <a:r>
              <a:rPr lang="en-US" altLang="zh-CN" sz="2000" dirty="0"/>
              <a:t>Let's Encrypt</a:t>
            </a:r>
            <a:r>
              <a:rPr lang="zh-CN" altLang="en-US" sz="2000" dirty="0"/>
              <a:t>）增强可信度。</a:t>
            </a:r>
            <a:endParaRPr lang="zh-CN" altLang="en-US" dirty="0"/>
          </a:p>
          <a:p>
            <a:pPr lvl="2"/>
            <a:r>
              <a:rPr lang="zh-CN" altLang="en-US" b="1" dirty="0"/>
              <a:t>恶意附件</a:t>
            </a:r>
          </a:p>
          <a:p>
            <a:pPr lvl="3"/>
            <a:r>
              <a:rPr lang="zh-CN" altLang="en-US" sz="2000" dirty="0"/>
              <a:t>携带 宏病毒（</a:t>
            </a:r>
            <a:r>
              <a:rPr lang="en-US" altLang="zh-CN" sz="2000" dirty="0"/>
              <a:t>Word/Excel</a:t>
            </a:r>
            <a:r>
              <a:rPr lang="zh-CN" altLang="en-US" sz="2000" dirty="0"/>
              <a:t>） 或 </a:t>
            </a:r>
            <a:r>
              <a:rPr lang="en-US" altLang="zh-CN" sz="2000" dirty="0"/>
              <a:t>PDF</a:t>
            </a:r>
            <a:r>
              <a:rPr lang="zh-CN" altLang="en-US" sz="2000" dirty="0"/>
              <a:t>漏洞利用。</a:t>
            </a:r>
          </a:p>
          <a:p>
            <a:pPr lvl="3"/>
            <a:r>
              <a:rPr lang="zh-CN" altLang="en-US" sz="2000" dirty="0"/>
              <a:t>例如：</a:t>
            </a:r>
            <a:r>
              <a:rPr lang="en-US" altLang="zh-CN" sz="2000" dirty="0"/>
              <a:t>invoice.docm → </a:t>
            </a:r>
            <a:r>
              <a:rPr lang="zh-CN" altLang="en-US" sz="2000" dirty="0"/>
              <a:t>启用宏后下载恶意软件。</a:t>
            </a:r>
          </a:p>
          <a:p>
            <a:pPr lvl="2"/>
            <a:r>
              <a:rPr lang="zh-CN" altLang="en-US" b="1" dirty="0"/>
              <a:t>短链接隐藏真实</a:t>
            </a:r>
            <a:r>
              <a:rPr lang="en-US" altLang="zh-CN" b="1" dirty="0"/>
              <a:t>URL</a:t>
            </a:r>
          </a:p>
          <a:p>
            <a:pPr lvl="3"/>
            <a:r>
              <a:rPr lang="zh-CN" altLang="en-US" sz="2000" dirty="0"/>
              <a:t>使用 </a:t>
            </a:r>
            <a:r>
              <a:rPr lang="en-US" altLang="zh-CN" sz="2000" dirty="0"/>
              <a:t>bit.ly</a:t>
            </a:r>
            <a:r>
              <a:rPr lang="zh-CN" altLang="en-US" sz="2000" dirty="0"/>
              <a:t>、</a:t>
            </a:r>
            <a:r>
              <a:rPr lang="en-US" altLang="zh-CN" sz="2000" dirty="0"/>
              <a:t>tinyurl.com </a:t>
            </a:r>
            <a:r>
              <a:rPr lang="zh-CN" altLang="en-US" sz="2000" dirty="0"/>
              <a:t>伪装恶意链接。</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87</a:t>
            </a:fld>
            <a:endParaRPr kumimoji="1" lang="zh-CN" altLang="en-US" dirty="0"/>
          </a:p>
        </p:txBody>
      </p:sp>
    </p:spTree>
    <p:extLst>
      <p:ext uri="{BB962C8B-B14F-4D97-AF65-F5344CB8AC3E}">
        <p14:creationId xmlns:p14="http://schemas.microsoft.com/office/powerpoint/2010/main" val="27703153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10.8.2 </a:t>
            </a:r>
            <a:r>
              <a:rPr kumimoji="1" lang="zh-CN" altLang="zh-CN" dirty="0">
                <a:solidFill>
                  <a:prstClr val="black"/>
                </a:solidFill>
              </a:rPr>
              <a:t>网络钓鱼和身份窃取</a:t>
            </a:r>
            <a:endParaRPr lang="zh-CN" altLang="en-US" dirty="0"/>
          </a:p>
        </p:txBody>
      </p:sp>
      <p:sp>
        <p:nvSpPr>
          <p:cNvPr id="3" name="内容占位符 2"/>
          <p:cNvSpPr>
            <a:spLocks noGrp="1"/>
          </p:cNvSpPr>
          <p:nvPr>
            <p:ph idx="1"/>
          </p:nvPr>
        </p:nvSpPr>
        <p:spPr>
          <a:xfrm>
            <a:off x="838200" y="1510758"/>
            <a:ext cx="10633364" cy="4586694"/>
          </a:xfrm>
        </p:spPr>
        <p:txBody>
          <a:bodyPr>
            <a:normAutofit/>
          </a:bodyPr>
          <a:lstStyle/>
          <a:p>
            <a:r>
              <a:rPr lang="en-US" altLang="zh-CN" b="1" dirty="0">
                <a:solidFill>
                  <a:srgbClr val="C00000"/>
                </a:solidFill>
              </a:rPr>
              <a:t>1. </a:t>
            </a:r>
            <a:r>
              <a:rPr lang="zh-CN" altLang="en-US" b="1" dirty="0">
                <a:solidFill>
                  <a:srgbClr val="C00000"/>
                </a:solidFill>
              </a:rPr>
              <a:t>网络钓鱼（</a:t>
            </a:r>
            <a:r>
              <a:rPr lang="en-US" altLang="zh-CN" b="1" dirty="0">
                <a:solidFill>
                  <a:srgbClr val="C00000"/>
                </a:solidFill>
              </a:rPr>
              <a:t>Phishing</a:t>
            </a:r>
            <a:r>
              <a:rPr lang="zh-CN" altLang="en-US" b="1" dirty="0">
                <a:solidFill>
                  <a:srgbClr val="C00000"/>
                </a:solidFill>
              </a:rPr>
              <a:t>）</a:t>
            </a:r>
          </a:p>
          <a:p>
            <a:pPr lvl="1"/>
            <a:r>
              <a:rPr lang="zh-CN" altLang="en-US" dirty="0"/>
              <a:t>网络钓鱼是一种</a:t>
            </a:r>
            <a:r>
              <a:rPr lang="zh-CN" altLang="en-US" b="1" dirty="0"/>
              <a:t>欺骗性攻击</a:t>
            </a:r>
            <a:r>
              <a:rPr lang="zh-CN" altLang="en-US" dirty="0"/>
              <a:t>，攻击者伪装成可信来源（如银行、社交媒体、公司</a:t>
            </a:r>
            <a:r>
              <a:rPr lang="en-US" altLang="zh-CN" dirty="0"/>
              <a:t>IT</a:t>
            </a:r>
            <a:r>
              <a:rPr lang="zh-CN" altLang="en-US" dirty="0"/>
              <a:t>部门），诱导受害者点击恶意链接、下载附件或输入敏感信息。</a:t>
            </a:r>
          </a:p>
          <a:p>
            <a:pPr lvl="1"/>
            <a:r>
              <a:rPr lang="zh-CN" altLang="en-US" b="1" dirty="0"/>
              <a:t>（</a:t>
            </a:r>
            <a:r>
              <a:rPr lang="en-US" altLang="zh-CN" b="1" dirty="0"/>
              <a:t>3</a:t>
            </a:r>
            <a:r>
              <a:rPr lang="zh-CN" altLang="en-US" b="1" dirty="0"/>
              <a:t>）如何识别钓鱼攻击？</a:t>
            </a:r>
          </a:p>
          <a:p>
            <a:pPr lvl="2"/>
            <a:r>
              <a:rPr lang="zh-CN" altLang="en-US" dirty="0"/>
              <a:t>✅ 检查发件人地址（如 </a:t>
            </a:r>
            <a:r>
              <a:rPr lang="en-US" altLang="zh-CN" dirty="0"/>
              <a:t>support@paypal-security.com ≠ </a:t>
            </a:r>
            <a:r>
              <a:rPr lang="zh-CN" altLang="en-US" dirty="0"/>
              <a:t>官方地址）。</a:t>
            </a:r>
          </a:p>
          <a:p>
            <a:pPr lvl="2"/>
            <a:r>
              <a:rPr lang="zh-CN" altLang="en-US" dirty="0"/>
              <a:t>✅ 悬停链接（不直接点击，查看真实</a:t>
            </a:r>
            <a:r>
              <a:rPr lang="en-US" altLang="zh-CN" dirty="0"/>
              <a:t>URL</a:t>
            </a:r>
            <a:r>
              <a:rPr lang="zh-CN" altLang="en-US" dirty="0"/>
              <a:t>）。</a:t>
            </a:r>
          </a:p>
          <a:p>
            <a:pPr lvl="2"/>
            <a:r>
              <a:rPr lang="zh-CN" altLang="en-US" dirty="0"/>
              <a:t>✅ 警惕紧急威胁（如“账号将被关闭，请立即验证”）。</a:t>
            </a:r>
          </a:p>
          <a:p>
            <a:pPr lvl="2"/>
            <a:r>
              <a:rPr lang="zh-CN" altLang="en-US" dirty="0"/>
              <a:t>✅ 检查网站</a:t>
            </a:r>
            <a:r>
              <a:rPr lang="en-US" altLang="zh-CN" dirty="0"/>
              <a:t>SSL</a:t>
            </a:r>
            <a:r>
              <a:rPr lang="zh-CN" altLang="en-US" dirty="0"/>
              <a:t>证书（合法网站通常由可信</a:t>
            </a:r>
            <a:r>
              <a:rPr lang="en-US" altLang="zh-CN" dirty="0"/>
              <a:t>CA</a:t>
            </a:r>
            <a:r>
              <a:rPr lang="zh-CN" altLang="en-US" dirty="0"/>
              <a:t>颁发）。</a:t>
            </a:r>
            <a:endParaRPr lang="zh-CN" altLang="en-US" sz="1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88</a:t>
            </a:fld>
            <a:endParaRPr kumimoji="1" lang="zh-CN" altLang="en-US" dirty="0"/>
          </a:p>
        </p:txBody>
      </p:sp>
    </p:spTree>
    <p:extLst>
      <p:ext uri="{BB962C8B-B14F-4D97-AF65-F5344CB8AC3E}">
        <p14:creationId xmlns:p14="http://schemas.microsoft.com/office/powerpoint/2010/main" val="8965048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10.8.2 </a:t>
            </a:r>
            <a:r>
              <a:rPr kumimoji="1" lang="zh-CN" altLang="zh-CN" dirty="0">
                <a:solidFill>
                  <a:prstClr val="black"/>
                </a:solidFill>
              </a:rPr>
              <a:t>网络钓鱼和身份窃取</a:t>
            </a:r>
            <a:endParaRPr lang="zh-CN" altLang="en-US" dirty="0"/>
          </a:p>
        </p:txBody>
      </p:sp>
      <p:sp>
        <p:nvSpPr>
          <p:cNvPr id="3" name="内容占位符 2"/>
          <p:cNvSpPr>
            <a:spLocks noGrp="1"/>
          </p:cNvSpPr>
          <p:nvPr>
            <p:ph idx="1"/>
          </p:nvPr>
        </p:nvSpPr>
        <p:spPr>
          <a:xfrm>
            <a:off x="838200" y="1510758"/>
            <a:ext cx="10633364" cy="4586694"/>
          </a:xfrm>
        </p:spPr>
        <p:txBody>
          <a:bodyPr>
            <a:normAutofit/>
          </a:bodyPr>
          <a:lstStyle/>
          <a:p>
            <a:r>
              <a:rPr lang="en-US" altLang="zh-CN" b="1" dirty="0">
                <a:solidFill>
                  <a:srgbClr val="C00000"/>
                </a:solidFill>
              </a:rPr>
              <a:t>2. </a:t>
            </a:r>
            <a:r>
              <a:rPr lang="zh-CN" altLang="en-US" b="1" dirty="0">
                <a:solidFill>
                  <a:srgbClr val="C00000"/>
                </a:solidFill>
              </a:rPr>
              <a:t>身份窃取（</a:t>
            </a:r>
            <a:r>
              <a:rPr lang="en-US" altLang="zh-CN" b="1" dirty="0">
                <a:solidFill>
                  <a:srgbClr val="C00000"/>
                </a:solidFill>
              </a:rPr>
              <a:t>Identity Theft</a:t>
            </a:r>
            <a:r>
              <a:rPr lang="zh-CN" altLang="en-US" b="1" dirty="0">
                <a:solidFill>
                  <a:srgbClr val="C00000"/>
                </a:solidFill>
              </a:rPr>
              <a:t>）</a:t>
            </a:r>
          </a:p>
          <a:p>
            <a:pPr lvl="1"/>
            <a:r>
              <a:rPr lang="zh-CN" altLang="en-US" dirty="0"/>
              <a:t>身份窃取是指攻击者获取受害者的</a:t>
            </a:r>
            <a:r>
              <a:rPr lang="zh-CN" altLang="en-US" b="1" dirty="0"/>
              <a:t>个人身份信息（</a:t>
            </a:r>
            <a:r>
              <a:rPr lang="en-US" altLang="zh-CN" b="1" dirty="0"/>
              <a:t>PII</a:t>
            </a:r>
            <a:r>
              <a:rPr lang="zh-CN" altLang="en-US" b="1" dirty="0"/>
              <a:t>）</a:t>
            </a:r>
            <a:r>
              <a:rPr lang="zh-CN" altLang="en-US" dirty="0"/>
              <a:t>，并冒充其进行欺诈活动，如：</a:t>
            </a:r>
          </a:p>
          <a:p>
            <a:pPr lvl="2"/>
            <a:r>
              <a:rPr lang="zh-CN" altLang="en-US" b="1" dirty="0"/>
              <a:t>信用卡盗刷</a:t>
            </a:r>
            <a:endParaRPr lang="zh-CN" altLang="en-US" dirty="0"/>
          </a:p>
          <a:p>
            <a:pPr lvl="2"/>
            <a:r>
              <a:rPr lang="zh-CN" altLang="en-US" b="1" dirty="0"/>
              <a:t>虚假贷款</a:t>
            </a:r>
            <a:r>
              <a:rPr lang="en-US" altLang="zh-CN" b="1" dirty="0"/>
              <a:t>/</a:t>
            </a:r>
            <a:r>
              <a:rPr lang="zh-CN" altLang="en-US" b="1" dirty="0"/>
              <a:t>开户</a:t>
            </a:r>
            <a:endParaRPr lang="zh-CN" altLang="en-US" dirty="0"/>
          </a:p>
          <a:p>
            <a:pPr lvl="2"/>
            <a:r>
              <a:rPr lang="zh-CN" altLang="en-US" b="1" dirty="0"/>
              <a:t>税务诈骗</a:t>
            </a:r>
            <a:endParaRPr lang="zh-CN" altLang="en-US" dirty="0"/>
          </a:p>
          <a:p>
            <a:pPr lvl="2"/>
            <a:r>
              <a:rPr lang="zh-CN" altLang="en-US" b="1" dirty="0"/>
              <a:t>医疗欺诈</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89</a:t>
            </a:fld>
            <a:endParaRPr kumimoji="1" lang="zh-CN" altLang="en-US" dirty="0"/>
          </a:p>
        </p:txBody>
      </p:sp>
    </p:spTree>
    <p:extLst>
      <p:ext uri="{BB962C8B-B14F-4D97-AF65-F5344CB8AC3E}">
        <p14:creationId xmlns:p14="http://schemas.microsoft.com/office/powerpoint/2010/main" val="835874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10.8.2 </a:t>
            </a:r>
            <a:r>
              <a:rPr kumimoji="1" lang="zh-CN" altLang="zh-CN" dirty="0">
                <a:solidFill>
                  <a:prstClr val="black"/>
                </a:solidFill>
              </a:rPr>
              <a:t>网络钓鱼和身份窃取</a:t>
            </a:r>
            <a:endParaRPr lang="zh-CN" altLang="en-US" dirty="0"/>
          </a:p>
        </p:txBody>
      </p:sp>
      <p:sp>
        <p:nvSpPr>
          <p:cNvPr id="3" name="内容占位符 2"/>
          <p:cNvSpPr>
            <a:spLocks noGrp="1"/>
          </p:cNvSpPr>
          <p:nvPr>
            <p:ph idx="1"/>
          </p:nvPr>
        </p:nvSpPr>
        <p:spPr>
          <a:xfrm>
            <a:off x="838200" y="1510758"/>
            <a:ext cx="10633364" cy="4586694"/>
          </a:xfrm>
        </p:spPr>
        <p:txBody>
          <a:bodyPr>
            <a:normAutofit/>
          </a:bodyPr>
          <a:lstStyle/>
          <a:p>
            <a:r>
              <a:rPr lang="en-US" altLang="zh-CN" b="1" dirty="0">
                <a:solidFill>
                  <a:srgbClr val="C00000"/>
                </a:solidFill>
              </a:rPr>
              <a:t>2. </a:t>
            </a:r>
            <a:r>
              <a:rPr lang="zh-CN" altLang="en-US" b="1" dirty="0">
                <a:solidFill>
                  <a:srgbClr val="C00000"/>
                </a:solidFill>
              </a:rPr>
              <a:t>身份窃取（</a:t>
            </a:r>
            <a:r>
              <a:rPr lang="en-US" altLang="zh-CN" b="1" dirty="0">
                <a:solidFill>
                  <a:srgbClr val="C00000"/>
                </a:solidFill>
              </a:rPr>
              <a:t>Identity Theft</a:t>
            </a:r>
            <a:r>
              <a:rPr lang="zh-CN" altLang="en-US" b="1" dirty="0">
                <a:solidFill>
                  <a:srgbClr val="C00000"/>
                </a:solidFill>
              </a:rPr>
              <a:t>）</a:t>
            </a:r>
          </a:p>
          <a:p>
            <a:pPr lvl="1"/>
            <a:r>
              <a:rPr lang="zh-CN" altLang="en-US" b="1" dirty="0"/>
              <a:t>（</a:t>
            </a:r>
            <a:r>
              <a:rPr lang="en-US" altLang="zh-CN" b="1" dirty="0"/>
              <a:t>1</a:t>
            </a:r>
            <a:r>
              <a:rPr lang="zh-CN" altLang="en-US" b="1" dirty="0"/>
              <a:t>）身份窃取的数据来源</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90</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031603079"/>
              </p:ext>
            </p:extLst>
          </p:nvPr>
        </p:nvGraphicFramePr>
        <p:xfrm>
          <a:off x="1070099" y="2573866"/>
          <a:ext cx="9890826" cy="3517932"/>
        </p:xfrm>
        <a:graphic>
          <a:graphicData uri="http://schemas.openxmlformats.org/drawingml/2006/table">
            <a:tbl>
              <a:tblPr firstRow="1" bandRow="1">
                <a:tableStyleId>{5C22544A-7EE6-4342-B048-85BDC9FD1C3A}</a:tableStyleId>
              </a:tblPr>
              <a:tblGrid>
                <a:gridCol w="1732478">
                  <a:extLst>
                    <a:ext uri="{9D8B030D-6E8A-4147-A177-3AD203B41FA5}">
                      <a16:colId xmlns:a16="http://schemas.microsoft.com/office/drawing/2014/main" val="1926972807"/>
                    </a:ext>
                  </a:extLst>
                </a:gridCol>
                <a:gridCol w="5878285">
                  <a:extLst>
                    <a:ext uri="{9D8B030D-6E8A-4147-A177-3AD203B41FA5}">
                      <a16:colId xmlns:a16="http://schemas.microsoft.com/office/drawing/2014/main" val="4283646406"/>
                    </a:ext>
                  </a:extLst>
                </a:gridCol>
                <a:gridCol w="2280063">
                  <a:extLst>
                    <a:ext uri="{9D8B030D-6E8A-4147-A177-3AD203B41FA5}">
                      <a16:colId xmlns:a16="http://schemas.microsoft.com/office/drawing/2014/main" val="3025849879"/>
                    </a:ext>
                  </a:extLst>
                </a:gridCol>
              </a:tblGrid>
              <a:tr h="679884">
                <a:tc>
                  <a:txBody>
                    <a:bodyPr/>
                    <a:lstStyle/>
                    <a:p>
                      <a:pPr algn="l"/>
                      <a:r>
                        <a:rPr lang="zh-CN" altLang="en-US" b="1">
                          <a:effectLst/>
                        </a:rPr>
                        <a:t>数据来源</a:t>
                      </a:r>
                    </a:p>
                  </a:txBody>
                  <a:tcPr marR="95250" marT="95250" marB="95250" anchor="ctr"/>
                </a:tc>
                <a:tc>
                  <a:txBody>
                    <a:bodyPr/>
                    <a:lstStyle/>
                    <a:p>
                      <a:pPr algn="l"/>
                      <a:r>
                        <a:rPr lang="zh-CN" altLang="en-US" b="1">
                          <a:effectLst/>
                        </a:rPr>
                        <a:t>获取方式</a:t>
                      </a:r>
                    </a:p>
                  </a:txBody>
                  <a:tcPr marL="95250" marR="95250" marT="95250" marB="95250" anchor="ctr"/>
                </a:tc>
                <a:tc>
                  <a:txBody>
                    <a:bodyPr/>
                    <a:lstStyle/>
                    <a:p>
                      <a:pPr algn="l"/>
                      <a:r>
                        <a:rPr lang="zh-CN" altLang="en-US" b="1">
                          <a:effectLst/>
                        </a:rPr>
                        <a:t>恶意软件关联</a:t>
                      </a:r>
                    </a:p>
                  </a:txBody>
                  <a:tcPr marL="95250" marR="95250" marT="95250" marB="95250" anchor="ctr"/>
                </a:tc>
                <a:extLst>
                  <a:ext uri="{0D108BD9-81ED-4DB2-BD59-A6C34878D82A}">
                    <a16:rowId xmlns:a16="http://schemas.microsoft.com/office/drawing/2014/main" val="2385852139"/>
                  </a:ext>
                </a:extLst>
              </a:tr>
              <a:tr h="679884">
                <a:tc>
                  <a:txBody>
                    <a:bodyPr/>
                    <a:lstStyle/>
                    <a:p>
                      <a:r>
                        <a:rPr lang="zh-CN" altLang="en-US" b="1">
                          <a:effectLst/>
                        </a:rPr>
                        <a:t>数据泄露</a:t>
                      </a:r>
                      <a:endParaRPr lang="zh-CN" altLang="en-US">
                        <a:effectLst/>
                      </a:endParaRPr>
                    </a:p>
                  </a:txBody>
                  <a:tcPr marR="95250" marT="95250" marB="95250" anchor="ctr"/>
                </a:tc>
                <a:tc>
                  <a:txBody>
                    <a:bodyPr/>
                    <a:lstStyle/>
                    <a:p>
                      <a:r>
                        <a:rPr lang="zh-CN" altLang="en-US">
                          <a:effectLst/>
                        </a:rPr>
                        <a:t>从</a:t>
                      </a:r>
                      <a:r>
                        <a:rPr lang="en-US" altLang="zh-CN">
                          <a:effectLst/>
                        </a:rPr>
                        <a:t>LinkedIn</a:t>
                      </a:r>
                      <a:r>
                        <a:rPr lang="zh-CN" altLang="en-US">
                          <a:effectLst/>
                        </a:rPr>
                        <a:t>、</a:t>
                      </a:r>
                      <a:r>
                        <a:rPr lang="en-US" altLang="zh-CN">
                          <a:effectLst/>
                        </a:rPr>
                        <a:t>Facebook</a:t>
                      </a:r>
                      <a:r>
                        <a:rPr lang="zh-CN" altLang="en-US">
                          <a:effectLst/>
                        </a:rPr>
                        <a:t>等泄露数据库获取（如 </a:t>
                      </a:r>
                      <a:r>
                        <a:rPr lang="en-US" altLang="zh-CN" b="1">
                          <a:effectLst/>
                        </a:rPr>
                        <a:t>COMB</a:t>
                      </a:r>
                      <a:r>
                        <a:rPr lang="zh-CN" altLang="en-US">
                          <a:effectLst/>
                        </a:rPr>
                        <a:t> 泄露</a:t>
                      </a:r>
                      <a:r>
                        <a:rPr lang="en-US" altLang="zh-CN">
                          <a:effectLst/>
                        </a:rPr>
                        <a:t>30</a:t>
                      </a:r>
                      <a:r>
                        <a:rPr lang="zh-CN" altLang="en-US">
                          <a:effectLst/>
                        </a:rPr>
                        <a:t>亿条记录）</a:t>
                      </a:r>
                    </a:p>
                  </a:txBody>
                  <a:tcPr marL="95250" marR="95250" marT="95250" marB="95250" anchor="ctr"/>
                </a:tc>
                <a:tc>
                  <a:txBody>
                    <a:bodyPr/>
                    <a:lstStyle/>
                    <a:p>
                      <a:r>
                        <a:rPr lang="zh-CN" altLang="en-US">
                          <a:effectLst/>
                        </a:rPr>
                        <a:t>僵尸网络扫描</a:t>
                      </a:r>
                      <a:r>
                        <a:rPr lang="en-US" altLang="zh-CN">
                          <a:effectLst/>
                        </a:rPr>
                        <a:t>+</a:t>
                      </a:r>
                      <a:r>
                        <a:rPr lang="zh-CN" altLang="en-US">
                          <a:effectLst/>
                        </a:rPr>
                        <a:t>撞库</a:t>
                      </a:r>
                    </a:p>
                  </a:txBody>
                  <a:tcPr marL="95250" marR="95250" marT="95250" marB="95250" anchor="ctr"/>
                </a:tc>
                <a:extLst>
                  <a:ext uri="{0D108BD9-81ED-4DB2-BD59-A6C34878D82A}">
                    <a16:rowId xmlns:a16="http://schemas.microsoft.com/office/drawing/2014/main" val="2898520402"/>
                  </a:ext>
                </a:extLst>
              </a:tr>
              <a:tr h="679884">
                <a:tc>
                  <a:txBody>
                    <a:bodyPr/>
                    <a:lstStyle/>
                    <a:p>
                      <a:r>
                        <a:rPr lang="zh-CN" altLang="en-US" b="1">
                          <a:effectLst/>
                        </a:rPr>
                        <a:t>恶意软件窃取</a:t>
                      </a:r>
                      <a:endParaRPr lang="zh-CN" altLang="en-US">
                        <a:effectLst/>
                      </a:endParaRPr>
                    </a:p>
                  </a:txBody>
                  <a:tcPr marR="95250" marT="95250" marB="95250" anchor="ctr"/>
                </a:tc>
                <a:tc>
                  <a:txBody>
                    <a:bodyPr/>
                    <a:lstStyle/>
                    <a:p>
                      <a:r>
                        <a:rPr lang="zh-CN" altLang="en-US">
                          <a:effectLst/>
                        </a:rPr>
                        <a:t>键盘记录器、间谍软件窃取浏览器保存的密码</a:t>
                      </a:r>
                      <a:r>
                        <a:rPr lang="en-US" altLang="zh-CN">
                          <a:effectLst/>
                        </a:rPr>
                        <a:t>/</a:t>
                      </a:r>
                      <a:r>
                        <a:rPr lang="zh-CN" altLang="en-US">
                          <a:effectLst/>
                        </a:rPr>
                        <a:t>信用卡信息</a:t>
                      </a:r>
                    </a:p>
                  </a:txBody>
                  <a:tcPr marL="95250" marR="95250" marT="95250" marB="95250" anchor="ctr"/>
                </a:tc>
                <a:tc>
                  <a:txBody>
                    <a:bodyPr/>
                    <a:lstStyle/>
                    <a:p>
                      <a:r>
                        <a:rPr lang="en-US" b="1">
                          <a:effectLst/>
                        </a:rPr>
                        <a:t>RedLine、Vidar</a:t>
                      </a:r>
                      <a:endParaRPr lang="en-US">
                        <a:effectLst/>
                      </a:endParaRPr>
                    </a:p>
                  </a:txBody>
                  <a:tcPr marL="95250" marR="95250" marT="95250" marB="95250" anchor="ctr"/>
                </a:tc>
                <a:extLst>
                  <a:ext uri="{0D108BD9-81ED-4DB2-BD59-A6C34878D82A}">
                    <a16:rowId xmlns:a16="http://schemas.microsoft.com/office/drawing/2014/main" val="1375369057"/>
                  </a:ext>
                </a:extLst>
              </a:tr>
              <a:tr h="679884">
                <a:tc>
                  <a:txBody>
                    <a:bodyPr/>
                    <a:lstStyle/>
                    <a:p>
                      <a:r>
                        <a:rPr lang="zh-CN" altLang="en-US" b="1">
                          <a:effectLst/>
                        </a:rPr>
                        <a:t>钓鱼网站提交</a:t>
                      </a:r>
                      <a:endParaRPr lang="zh-CN" altLang="en-US">
                        <a:effectLst/>
                      </a:endParaRPr>
                    </a:p>
                  </a:txBody>
                  <a:tcPr marR="95250" marT="95250" marB="95250" anchor="ctr"/>
                </a:tc>
                <a:tc>
                  <a:txBody>
                    <a:bodyPr/>
                    <a:lstStyle/>
                    <a:p>
                      <a:r>
                        <a:rPr lang="zh-CN" altLang="en-US">
                          <a:effectLst/>
                        </a:rPr>
                        <a:t>诱导受害者在伪造的银行</a:t>
                      </a:r>
                      <a:r>
                        <a:rPr lang="en-US" altLang="zh-CN">
                          <a:effectLst/>
                        </a:rPr>
                        <a:t>/</a:t>
                      </a:r>
                      <a:r>
                        <a:rPr lang="zh-CN" altLang="en-US">
                          <a:effectLst/>
                        </a:rPr>
                        <a:t>政府网站输入</a:t>
                      </a:r>
                      <a:r>
                        <a:rPr lang="en-US" altLang="zh-CN">
                          <a:effectLst/>
                        </a:rPr>
                        <a:t>SSN</a:t>
                      </a:r>
                      <a:r>
                        <a:rPr lang="zh-CN" altLang="en-US">
                          <a:effectLst/>
                        </a:rPr>
                        <a:t>、驾照号等</a:t>
                      </a:r>
                    </a:p>
                  </a:txBody>
                  <a:tcPr marL="95250" marR="95250" marT="95250" marB="95250" anchor="ctr"/>
                </a:tc>
                <a:tc>
                  <a:txBody>
                    <a:bodyPr/>
                    <a:lstStyle/>
                    <a:p>
                      <a:r>
                        <a:rPr lang="en-US" b="1">
                          <a:effectLst/>
                        </a:rPr>
                        <a:t>Phishing Kits</a:t>
                      </a:r>
                      <a:endParaRPr lang="en-US">
                        <a:effectLst/>
                      </a:endParaRPr>
                    </a:p>
                  </a:txBody>
                  <a:tcPr marL="95250" marR="95250" marT="95250" marB="95250" anchor="ctr"/>
                </a:tc>
                <a:extLst>
                  <a:ext uri="{0D108BD9-81ED-4DB2-BD59-A6C34878D82A}">
                    <a16:rowId xmlns:a16="http://schemas.microsoft.com/office/drawing/2014/main" val="645973912"/>
                  </a:ext>
                </a:extLst>
              </a:tr>
              <a:tr h="679884">
                <a:tc>
                  <a:txBody>
                    <a:bodyPr/>
                    <a:lstStyle/>
                    <a:p>
                      <a:r>
                        <a:rPr lang="zh-CN" altLang="en-US" b="1">
                          <a:effectLst/>
                        </a:rPr>
                        <a:t>社交工程攻击</a:t>
                      </a:r>
                      <a:endParaRPr lang="zh-CN" altLang="en-US">
                        <a:effectLst/>
                      </a:endParaRPr>
                    </a:p>
                  </a:txBody>
                  <a:tcPr marR="95250" marT="95250" marB="95250" anchor="ctr"/>
                </a:tc>
                <a:tc>
                  <a:txBody>
                    <a:bodyPr/>
                    <a:lstStyle/>
                    <a:p>
                      <a:r>
                        <a:rPr lang="zh-CN" altLang="en-US">
                          <a:effectLst/>
                        </a:rPr>
                        <a:t>冒充银行</a:t>
                      </a:r>
                      <a:r>
                        <a:rPr lang="en-US" altLang="zh-CN">
                          <a:effectLst/>
                        </a:rPr>
                        <a:t>/IT</a:t>
                      </a:r>
                      <a:r>
                        <a:rPr lang="zh-CN" altLang="en-US">
                          <a:effectLst/>
                        </a:rPr>
                        <a:t>支持，电话骗取</a:t>
                      </a:r>
                      <a:r>
                        <a:rPr lang="en-US" altLang="zh-CN">
                          <a:effectLst/>
                        </a:rPr>
                        <a:t>OTP</a:t>
                      </a:r>
                      <a:r>
                        <a:rPr lang="zh-CN" altLang="en-US">
                          <a:effectLst/>
                        </a:rPr>
                        <a:t>验证码或密码重置</a:t>
                      </a:r>
                    </a:p>
                  </a:txBody>
                  <a:tcPr marL="95250" marR="95250" marT="95250" marB="95250" anchor="ctr"/>
                </a:tc>
                <a:tc>
                  <a:txBody>
                    <a:bodyPr/>
                    <a:lstStyle/>
                    <a:p>
                      <a:r>
                        <a:rPr lang="en-US" b="1" dirty="0">
                          <a:effectLst/>
                        </a:rPr>
                        <a:t>SIM</a:t>
                      </a:r>
                      <a:r>
                        <a:rPr lang="zh-CN" altLang="en-US" b="1" dirty="0">
                          <a:effectLst/>
                        </a:rPr>
                        <a:t>卡劫持</a:t>
                      </a:r>
                      <a:endParaRPr lang="zh-CN" altLang="en-US" dirty="0">
                        <a:effectLst/>
                      </a:endParaRPr>
                    </a:p>
                  </a:txBody>
                  <a:tcPr marL="95250" marR="95250" marT="95250" marB="95250" anchor="ctr"/>
                </a:tc>
                <a:extLst>
                  <a:ext uri="{0D108BD9-81ED-4DB2-BD59-A6C34878D82A}">
                    <a16:rowId xmlns:a16="http://schemas.microsoft.com/office/drawing/2014/main" val="4194509887"/>
                  </a:ext>
                </a:extLst>
              </a:tr>
            </a:tbl>
          </a:graphicData>
        </a:graphic>
      </p:graphicFrame>
    </p:spTree>
    <p:extLst>
      <p:ext uri="{BB962C8B-B14F-4D97-AF65-F5344CB8AC3E}">
        <p14:creationId xmlns:p14="http://schemas.microsoft.com/office/powerpoint/2010/main" val="28913796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10.8.2 </a:t>
            </a:r>
            <a:r>
              <a:rPr kumimoji="1" lang="zh-CN" altLang="zh-CN" dirty="0">
                <a:solidFill>
                  <a:prstClr val="black"/>
                </a:solidFill>
              </a:rPr>
              <a:t>网络钓鱼和身份窃取</a:t>
            </a:r>
            <a:endParaRPr lang="zh-CN" altLang="en-US" dirty="0"/>
          </a:p>
        </p:txBody>
      </p:sp>
      <p:sp>
        <p:nvSpPr>
          <p:cNvPr id="3" name="内容占位符 2"/>
          <p:cNvSpPr>
            <a:spLocks noGrp="1"/>
          </p:cNvSpPr>
          <p:nvPr>
            <p:ph idx="1"/>
          </p:nvPr>
        </p:nvSpPr>
        <p:spPr>
          <a:xfrm>
            <a:off x="838200" y="1510758"/>
            <a:ext cx="10633364" cy="4586694"/>
          </a:xfrm>
        </p:spPr>
        <p:txBody>
          <a:bodyPr>
            <a:normAutofit/>
          </a:bodyPr>
          <a:lstStyle/>
          <a:p>
            <a:pPr>
              <a:lnSpc>
                <a:spcPct val="150000"/>
              </a:lnSpc>
            </a:pPr>
            <a:r>
              <a:rPr lang="en-US" altLang="zh-CN" b="1" dirty="0">
                <a:solidFill>
                  <a:srgbClr val="C00000"/>
                </a:solidFill>
              </a:rPr>
              <a:t>2. </a:t>
            </a:r>
            <a:r>
              <a:rPr lang="zh-CN" altLang="en-US" b="1" dirty="0">
                <a:solidFill>
                  <a:srgbClr val="C00000"/>
                </a:solidFill>
              </a:rPr>
              <a:t>身份窃取（</a:t>
            </a:r>
            <a:r>
              <a:rPr lang="en-US" altLang="zh-CN" b="1" dirty="0">
                <a:solidFill>
                  <a:srgbClr val="C00000"/>
                </a:solidFill>
              </a:rPr>
              <a:t>Identity Theft</a:t>
            </a:r>
            <a:r>
              <a:rPr lang="zh-CN" altLang="en-US" b="1" dirty="0">
                <a:solidFill>
                  <a:srgbClr val="C00000"/>
                </a:solidFill>
              </a:rPr>
              <a:t>）</a:t>
            </a:r>
          </a:p>
          <a:p>
            <a:pPr lvl="1">
              <a:lnSpc>
                <a:spcPct val="150000"/>
              </a:lnSpc>
            </a:pPr>
            <a:r>
              <a:rPr lang="zh-CN" altLang="en-US" b="1" dirty="0"/>
              <a:t>（</a:t>
            </a:r>
            <a:r>
              <a:rPr lang="en-US" altLang="zh-CN" b="1" dirty="0"/>
              <a:t>2</a:t>
            </a:r>
            <a:r>
              <a:rPr lang="zh-CN" altLang="en-US" b="1" dirty="0"/>
              <a:t>）身份窃取的后续利用</a:t>
            </a:r>
          </a:p>
          <a:p>
            <a:pPr lvl="2">
              <a:lnSpc>
                <a:spcPct val="150000"/>
              </a:lnSpc>
            </a:pPr>
            <a:r>
              <a:rPr lang="zh-CN" altLang="en-US" sz="2200" dirty="0"/>
              <a:t>信用卡欺诈 → 在暗网出售（如 </a:t>
            </a:r>
            <a:r>
              <a:rPr lang="en-US" altLang="zh-CN" sz="2200" dirty="0"/>
              <a:t>Joker’s Stash </a:t>
            </a:r>
            <a:r>
              <a:rPr lang="zh-CN" altLang="en-US" sz="2200" dirty="0"/>
              <a:t>市场）。</a:t>
            </a:r>
          </a:p>
          <a:p>
            <a:pPr lvl="2">
              <a:lnSpc>
                <a:spcPct val="150000"/>
              </a:lnSpc>
            </a:pPr>
            <a:r>
              <a:rPr lang="zh-CN" altLang="en-US" sz="2200" dirty="0"/>
              <a:t>税务诈骗 → 冒用</a:t>
            </a:r>
            <a:r>
              <a:rPr lang="en-US" altLang="zh-CN" sz="2200" dirty="0"/>
              <a:t>SSN</a:t>
            </a:r>
            <a:r>
              <a:rPr lang="zh-CN" altLang="en-US" sz="2200" dirty="0"/>
              <a:t>申请退税。</a:t>
            </a:r>
          </a:p>
          <a:p>
            <a:pPr lvl="2">
              <a:lnSpc>
                <a:spcPct val="150000"/>
              </a:lnSpc>
            </a:pPr>
            <a:r>
              <a:rPr lang="zh-CN" altLang="en-US" sz="2200" dirty="0"/>
              <a:t>合成身份欺诈 → 混合真实和虚假信息创建新身份（更难检测）。</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91</a:t>
            </a:fld>
            <a:endParaRPr kumimoji="1" lang="zh-CN" altLang="en-US" dirty="0"/>
          </a:p>
        </p:txBody>
      </p:sp>
    </p:spTree>
    <p:extLst>
      <p:ext uri="{BB962C8B-B14F-4D97-AF65-F5344CB8AC3E}">
        <p14:creationId xmlns:p14="http://schemas.microsoft.com/office/powerpoint/2010/main" val="1437731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10.8.3 </a:t>
            </a:r>
            <a:r>
              <a:rPr kumimoji="1" lang="zh-CN" altLang="zh-CN" dirty="0">
                <a:solidFill>
                  <a:prstClr val="black"/>
                </a:solidFill>
              </a:rPr>
              <a:t>侦察和间谍</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solidFill>
                  <a:srgbClr val="C00000"/>
                </a:solidFill>
              </a:rPr>
              <a:t>侦察（</a:t>
            </a:r>
            <a:r>
              <a:rPr lang="en-US" altLang="zh-CN" dirty="0">
                <a:solidFill>
                  <a:srgbClr val="C00000"/>
                </a:solidFill>
              </a:rPr>
              <a:t>Reconnaissance</a:t>
            </a:r>
            <a:r>
              <a:rPr lang="zh-CN" altLang="en-US" dirty="0">
                <a:solidFill>
                  <a:srgbClr val="C00000"/>
                </a:solidFill>
              </a:rPr>
              <a:t>）</a:t>
            </a:r>
            <a:r>
              <a:rPr lang="zh-CN" altLang="en-US" dirty="0"/>
              <a:t>和</a:t>
            </a:r>
            <a:r>
              <a:rPr lang="zh-CN" altLang="en-US" dirty="0">
                <a:solidFill>
                  <a:srgbClr val="C00000"/>
                </a:solidFill>
              </a:rPr>
              <a:t>间谍（</a:t>
            </a:r>
            <a:r>
              <a:rPr lang="en-US" altLang="zh-CN" dirty="0">
                <a:solidFill>
                  <a:srgbClr val="C00000"/>
                </a:solidFill>
              </a:rPr>
              <a:t>Espionage</a:t>
            </a:r>
            <a:r>
              <a:rPr lang="zh-CN" altLang="en-US" dirty="0">
                <a:solidFill>
                  <a:srgbClr val="C00000"/>
                </a:solidFill>
              </a:rPr>
              <a:t>）</a:t>
            </a:r>
            <a:r>
              <a:rPr lang="zh-CN" altLang="en-US" dirty="0"/>
              <a:t>是高级网络攻击的关键阶段，攻击者通过恶意软件收集目标系统的情报，为后续攻击（如数据窃取、横向移动或破坏）做准备。这类攻击常见于</a:t>
            </a:r>
            <a:r>
              <a:rPr lang="en-US" altLang="zh-CN" b="1" dirty="0"/>
              <a:t>APT</a:t>
            </a:r>
            <a:r>
              <a:rPr lang="zh-CN" altLang="en-US" b="1" dirty="0"/>
              <a:t>（高级持续性威胁）</a:t>
            </a:r>
            <a:r>
              <a:rPr lang="zh-CN" altLang="en-US" dirty="0"/>
              <a:t>组织、国家支持的黑客团体以及商业间谍活动。</a:t>
            </a:r>
            <a:endParaRPr lang="en-US" altLang="zh-CN" dirty="0"/>
          </a:p>
          <a:p>
            <a:pPr>
              <a:lnSpc>
                <a:spcPct val="150000"/>
              </a:lnSpc>
            </a:pPr>
            <a:r>
              <a:rPr lang="zh-CN" altLang="en-US" dirty="0"/>
              <a:t>证书和身份窃取是更一般的具有侦察功能的载荷的特殊应用，其目标是获得某些类型的信息返回给攻击者。</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92</a:t>
            </a:fld>
            <a:endParaRPr kumimoji="1" lang="zh-CN" altLang="en-US" dirty="0"/>
          </a:p>
        </p:txBody>
      </p:sp>
    </p:spTree>
    <p:extLst>
      <p:ext uri="{BB962C8B-B14F-4D97-AF65-F5344CB8AC3E}">
        <p14:creationId xmlns:p14="http://schemas.microsoft.com/office/powerpoint/2010/main" val="15922394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10.8.3 </a:t>
            </a:r>
            <a:r>
              <a:rPr kumimoji="1" lang="zh-CN" altLang="zh-CN" dirty="0">
                <a:solidFill>
                  <a:prstClr val="black"/>
                </a:solidFill>
              </a:rPr>
              <a:t>侦察和间谍</a:t>
            </a:r>
            <a:endParaRPr lang="zh-CN" altLang="en-US" dirty="0"/>
          </a:p>
        </p:txBody>
      </p:sp>
      <p:sp>
        <p:nvSpPr>
          <p:cNvPr id="3" name="内容占位符 2"/>
          <p:cNvSpPr>
            <a:spLocks noGrp="1"/>
          </p:cNvSpPr>
          <p:nvPr>
            <p:ph idx="1"/>
          </p:nvPr>
        </p:nvSpPr>
        <p:spPr>
          <a:xfrm>
            <a:off x="838200" y="1304781"/>
            <a:ext cx="10515600" cy="4586694"/>
          </a:xfrm>
        </p:spPr>
        <p:txBody>
          <a:bodyPr>
            <a:normAutofit/>
          </a:bodyPr>
          <a:lstStyle/>
          <a:p>
            <a:r>
              <a:rPr lang="en-US" altLang="zh-CN" b="1" dirty="0">
                <a:solidFill>
                  <a:srgbClr val="C00000"/>
                </a:solidFill>
              </a:rPr>
              <a:t>1. </a:t>
            </a:r>
            <a:r>
              <a:rPr lang="zh-CN" altLang="en-US" b="1" dirty="0">
                <a:solidFill>
                  <a:srgbClr val="C00000"/>
                </a:solidFill>
              </a:rPr>
              <a:t>侦察（</a:t>
            </a:r>
            <a:r>
              <a:rPr lang="en-US" altLang="zh-CN" b="1" dirty="0">
                <a:solidFill>
                  <a:srgbClr val="C00000"/>
                </a:solidFill>
              </a:rPr>
              <a:t>Reconnaissance</a:t>
            </a:r>
            <a:r>
              <a:rPr lang="zh-CN" altLang="en-US" b="1" dirty="0">
                <a:solidFill>
                  <a:srgbClr val="C00000"/>
                </a:solidFill>
              </a:rPr>
              <a:t>）</a:t>
            </a:r>
          </a:p>
          <a:p>
            <a:pPr lvl="1"/>
            <a:r>
              <a:rPr lang="zh-CN" altLang="en-US" dirty="0"/>
              <a:t>侦察是攻击的</a:t>
            </a:r>
            <a:r>
              <a:rPr lang="zh-CN" altLang="en-US" b="1" dirty="0"/>
              <a:t>第一阶段</a:t>
            </a:r>
            <a:r>
              <a:rPr lang="zh-CN" altLang="en-US" dirty="0"/>
              <a:t>，目的是尽可能多地收集目标信息，包括：</a:t>
            </a:r>
          </a:p>
          <a:p>
            <a:pPr lvl="2"/>
            <a:r>
              <a:rPr lang="zh-CN" altLang="en-US" b="1" dirty="0"/>
              <a:t>网络拓扑</a:t>
            </a:r>
            <a:r>
              <a:rPr lang="zh-CN" altLang="en-US" dirty="0"/>
              <a:t>（</a:t>
            </a:r>
            <a:r>
              <a:rPr lang="en-US" altLang="zh-CN" dirty="0"/>
              <a:t>IP</a:t>
            </a:r>
            <a:r>
              <a:rPr lang="zh-CN" altLang="en-US" dirty="0"/>
              <a:t>范围、开放端口、服务版本）</a:t>
            </a:r>
          </a:p>
          <a:p>
            <a:pPr lvl="2"/>
            <a:r>
              <a:rPr lang="zh-CN" altLang="en-US" b="1" dirty="0"/>
              <a:t>用户账户</a:t>
            </a:r>
            <a:r>
              <a:rPr lang="zh-CN" altLang="en-US" dirty="0"/>
              <a:t>（用户名、邮箱、权限）</a:t>
            </a:r>
          </a:p>
          <a:p>
            <a:pPr lvl="2"/>
            <a:r>
              <a:rPr lang="zh-CN" altLang="en-US" b="1" dirty="0"/>
              <a:t>漏洞信息</a:t>
            </a:r>
            <a:r>
              <a:rPr lang="zh-CN" altLang="en-US" dirty="0"/>
              <a:t>（未修补的软件、错误配置）</a:t>
            </a:r>
          </a:p>
          <a:p>
            <a:pPr lvl="1"/>
            <a:r>
              <a:rPr lang="zh-CN" altLang="en-US" b="1" dirty="0"/>
              <a:t>（</a:t>
            </a:r>
            <a:r>
              <a:rPr lang="en-US" altLang="zh-CN" b="1" dirty="0"/>
              <a:t>1</a:t>
            </a:r>
            <a:r>
              <a:rPr lang="zh-CN" altLang="en-US" b="1" dirty="0"/>
              <a:t>）恶意软件如何执行侦察？</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93</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96853012"/>
              </p:ext>
            </p:extLst>
          </p:nvPr>
        </p:nvGraphicFramePr>
        <p:xfrm>
          <a:off x="838200" y="3889576"/>
          <a:ext cx="10348356" cy="2423160"/>
        </p:xfrm>
        <a:graphic>
          <a:graphicData uri="http://schemas.openxmlformats.org/drawingml/2006/table">
            <a:tbl>
              <a:tblPr firstRow="1" bandRow="1">
                <a:tableStyleId>{5C22544A-7EE6-4342-B048-85BDC9FD1C3A}</a:tableStyleId>
              </a:tblPr>
              <a:tblGrid>
                <a:gridCol w="1750621">
                  <a:extLst>
                    <a:ext uri="{9D8B030D-6E8A-4147-A177-3AD203B41FA5}">
                      <a16:colId xmlns:a16="http://schemas.microsoft.com/office/drawing/2014/main" val="1331797596"/>
                    </a:ext>
                  </a:extLst>
                </a:gridCol>
                <a:gridCol w="6697683">
                  <a:extLst>
                    <a:ext uri="{9D8B030D-6E8A-4147-A177-3AD203B41FA5}">
                      <a16:colId xmlns:a16="http://schemas.microsoft.com/office/drawing/2014/main" val="2647807476"/>
                    </a:ext>
                  </a:extLst>
                </a:gridCol>
                <a:gridCol w="1900052">
                  <a:extLst>
                    <a:ext uri="{9D8B030D-6E8A-4147-A177-3AD203B41FA5}">
                      <a16:colId xmlns:a16="http://schemas.microsoft.com/office/drawing/2014/main" val="1089101487"/>
                    </a:ext>
                  </a:extLst>
                </a:gridCol>
              </a:tblGrid>
              <a:tr h="370840">
                <a:tc>
                  <a:txBody>
                    <a:bodyPr/>
                    <a:lstStyle/>
                    <a:p>
                      <a:pPr algn="l"/>
                      <a:r>
                        <a:rPr lang="zh-CN" altLang="en-US" sz="1400" b="1">
                          <a:effectLst/>
                        </a:rPr>
                        <a:t>侦察类型</a:t>
                      </a:r>
                    </a:p>
                  </a:txBody>
                  <a:tcPr marR="95250" marT="95250" marB="95250" anchor="ctr"/>
                </a:tc>
                <a:tc>
                  <a:txBody>
                    <a:bodyPr/>
                    <a:lstStyle/>
                    <a:p>
                      <a:pPr algn="l"/>
                      <a:r>
                        <a:rPr lang="zh-CN" altLang="en-US" sz="1400" b="1">
                          <a:effectLst/>
                        </a:rPr>
                        <a:t>技术手段</a:t>
                      </a:r>
                    </a:p>
                  </a:txBody>
                  <a:tcPr marL="95250" marR="95250" marT="95250" marB="95250" anchor="ctr"/>
                </a:tc>
                <a:tc>
                  <a:txBody>
                    <a:bodyPr/>
                    <a:lstStyle/>
                    <a:p>
                      <a:pPr algn="l"/>
                      <a:r>
                        <a:rPr lang="zh-CN" altLang="en-US" sz="1400" b="1">
                          <a:effectLst/>
                        </a:rPr>
                        <a:t>恶意软件示例</a:t>
                      </a:r>
                    </a:p>
                  </a:txBody>
                  <a:tcPr marL="95250" marR="95250" marT="95250" marB="95250" anchor="ctr"/>
                </a:tc>
                <a:extLst>
                  <a:ext uri="{0D108BD9-81ED-4DB2-BD59-A6C34878D82A}">
                    <a16:rowId xmlns:a16="http://schemas.microsoft.com/office/drawing/2014/main" val="1196492249"/>
                  </a:ext>
                </a:extLst>
              </a:tr>
              <a:tr h="370840">
                <a:tc>
                  <a:txBody>
                    <a:bodyPr/>
                    <a:lstStyle/>
                    <a:p>
                      <a:r>
                        <a:rPr lang="zh-CN" altLang="en-US" sz="1400" b="1">
                          <a:effectLst/>
                        </a:rPr>
                        <a:t>主机信息收集</a:t>
                      </a:r>
                      <a:endParaRPr lang="zh-CN" altLang="en-US" sz="1400">
                        <a:effectLst/>
                      </a:endParaRPr>
                    </a:p>
                  </a:txBody>
                  <a:tcPr marR="95250" marT="95250" marB="95250" anchor="ctr"/>
                </a:tc>
                <a:tc>
                  <a:txBody>
                    <a:bodyPr/>
                    <a:lstStyle/>
                    <a:p>
                      <a:r>
                        <a:rPr lang="zh-CN" altLang="en-US" sz="1400" dirty="0">
                          <a:effectLst/>
                        </a:rPr>
                        <a:t>执行 </a:t>
                      </a:r>
                      <a:r>
                        <a:rPr lang="en-US" sz="1400" dirty="0" err="1">
                          <a:effectLst/>
                        </a:rPr>
                        <a:t>systeminfo、whoami、ipconfig</a:t>
                      </a:r>
                      <a:r>
                        <a:rPr lang="en-US" sz="1400" dirty="0">
                          <a:effectLst/>
                        </a:rPr>
                        <a:t> </a:t>
                      </a:r>
                      <a:r>
                        <a:rPr lang="zh-CN" altLang="en-US" sz="1400" dirty="0">
                          <a:effectLst/>
                        </a:rPr>
                        <a:t>等命令，回传系统版本、网络配置</a:t>
                      </a:r>
                    </a:p>
                  </a:txBody>
                  <a:tcPr marL="95250" marR="95250" marT="95250" marB="95250" anchor="ctr"/>
                </a:tc>
                <a:tc>
                  <a:txBody>
                    <a:bodyPr/>
                    <a:lstStyle/>
                    <a:p>
                      <a:r>
                        <a:rPr lang="en-US" sz="1400" b="1">
                          <a:effectLst/>
                        </a:rPr>
                        <a:t>Cobalt Strike</a:t>
                      </a:r>
                      <a:endParaRPr lang="en-US" sz="1400">
                        <a:effectLst/>
                      </a:endParaRPr>
                    </a:p>
                  </a:txBody>
                  <a:tcPr marL="95250" marR="95250" marT="95250" marB="95250" anchor="ctr"/>
                </a:tc>
                <a:extLst>
                  <a:ext uri="{0D108BD9-81ED-4DB2-BD59-A6C34878D82A}">
                    <a16:rowId xmlns:a16="http://schemas.microsoft.com/office/drawing/2014/main" val="2018156599"/>
                  </a:ext>
                </a:extLst>
              </a:tr>
              <a:tr h="370840">
                <a:tc>
                  <a:txBody>
                    <a:bodyPr/>
                    <a:lstStyle/>
                    <a:p>
                      <a:r>
                        <a:rPr lang="zh-CN" altLang="en-US" sz="1400" b="1">
                          <a:effectLst/>
                        </a:rPr>
                        <a:t>网络扫描</a:t>
                      </a:r>
                      <a:endParaRPr lang="zh-CN" altLang="en-US" sz="1400">
                        <a:effectLst/>
                      </a:endParaRPr>
                    </a:p>
                  </a:txBody>
                  <a:tcPr marR="95250" marT="95250" marB="95250" anchor="ctr"/>
                </a:tc>
                <a:tc>
                  <a:txBody>
                    <a:bodyPr/>
                    <a:lstStyle/>
                    <a:p>
                      <a:r>
                        <a:rPr lang="zh-CN" altLang="en-US" sz="1400">
                          <a:effectLst/>
                        </a:rPr>
                        <a:t>扫描内网</a:t>
                      </a:r>
                      <a:r>
                        <a:rPr lang="en-US" altLang="zh-CN" sz="1400">
                          <a:effectLst/>
                        </a:rPr>
                        <a:t>IP/</a:t>
                      </a:r>
                      <a:r>
                        <a:rPr lang="zh-CN" altLang="en-US" sz="1400">
                          <a:effectLst/>
                        </a:rPr>
                        <a:t>端口（如 </a:t>
                      </a:r>
                      <a:r>
                        <a:rPr lang="en-US" altLang="zh-CN" sz="1400">
                          <a:effectLst/>
                        </a:rPr>
                        <a:t>nmap</a:t>
                      </a:r>
                      <a:r>
                        <a:rPr lang="zh-CN" altLang="en-US" sz="1400">
                          <a:effectLst/>
                        </a:rPr>
                        <a:t>、</a:t>
                      </a:r>
                      <a:r>
                        <a:rPr lang="en-US" altLang="zh-CN" sz="1400">
                          <a:effectLst/>
                        </a:rPr>
                        <a:t>Masscan</a:t>
                      </a:r>
                      <a:r>
                        <a:rPr lang="zh-CN" altLang="en-US" sz="1400">
                          <a:effectLst/>
                        </a:rPr>
                        <a:t>），寻找脆弱服务（</a:t>
                      </a:r>
                      <a:r>
                        <a:rPr lang="en-US" altLang="zh-CN" sz="1400">
                          <a:effectLst/>
                        </a:rPr>
                        <a:t>RDP</a:t>
                      </a:r>
                      <a:r>
                        <a:rPr lang="zh-CN" altLang="en-US" sz="1400">
                          <a:effectLst/>
                        </a:rPr>
                        <a:t>、</a:t>
                      </a:r>
                      <a:r>
                        <a:rPr lang="en-US" altLang="zh-CN" sz="1400">
                          <a:effectLst/>
                        </a:rPr>
                        <a:t>SMB</a:t>
                      </a:r>
                      <a:r>
                        <a:rPr lang="zh-CN" altLang="en-US" sz="1400">
                          <a:effectLst/>
                        </a:rPr>
                        <a:t>、</a:t>
                      </a:r>
                      <a:r>
                        <a:rPr lang="en-US" altLang="zh-CN" sz="1400">
                          <a:effectLst/>
                        </a:rPr>
                        <a:t>MySQL</a:t>
                      </a:r>
                      <a:r>
                        <a:rPr lang="zh-CN" altLang="en-US" sz="1400">
                          <a:effectLst/>
                        </a:rPr>
                        <a:t>）</a:t>
                      </a:r>
                    </a:p>
                  </a:txBody>
                  <a:tcPr marL="95250" marR="95250" marT="95250" marB="95250" anchor="ctr"/>
                </a:tc>
                <a:tc>
                  <a:txBody>
                    <a:bodyPr/>
                    <a:lstStyle/>
                    <a:p>
                      <a:r>
                        <a:rPr lang="en-US" sz="1400" b="1">
                          <a:effectLst/>
                        </a:rPr>
                        <a:t>Mimikatz</a:t>
                      </a:r>
                      <a:endParaRPr lang="en-US" sz="1400">
                        <a:effectLst/>
                      </a:endParaRPr>
                    </a:p>
                  </a:txBody>
                  <a:tcPr marL="95250" marR="95250" marT="95250" marB="95250" anchor="ctr"/>
                </a:tc>
                <a:extLst>
                  <a:ext uri="{0D108BD9-81ED-4DB2-BD59-A6C34878D82A}">
                    <a16:rowId xmlns:a16="http://schemas.microsoft.com/office/drawing/2014/main" val="4214920697"/>
                  </a:ext>
                </a:extLst>
              </a:tr>
              <a:tr h="370840">
                <a:tc>
                  <a:txBody>
                    <a:bodyPr/>
                    <a:lstStyle/>
                    <a:p>
                      <a:r>
                        <a:rPr lang="zh-CN" altLang="en-US" sz="1400" b="1">
                          <a:effectLst/>
                        </a:rPr>
                        <a:t>进程</a:t>
                      </a:r>
                      <a:r>
                        <a:rPr lang="en-US" altLang="zh-CN" sz="1400" b="1">
                          <a:effectLst/>
                        </a:rPr>
                        <a:t>/</a:t>
                      </a:r>
                      <a:r>
                        <a:rPr lang="zh-CN" altLang="en-US" sz="1400" b="1">
                          <a:effectLst/>
                        </a:rPr>
                        <a:t>服务枚举</a:t>
                      </a:r>
                      <a:endParaRPr lang="zh-CN" altLang="en-US" sz="1400">
                        <a:effectLst/>
                      </a:endParaRPr>
                    </a:p>
                  </a:txBody>
                  <a:tcPr marR="95250" marT="95250" marB="95250" anchor="ctr"/>
                </a:tc>
                <a:tc>
                  <a:txBody>
                    <a:bodyPr/>
                    <a:lstStyle/>
                    <a:p>
                      <a:r>
                        <a:rPr lang="zh-CN" altLang="en-US" sz="1400">
                          <a:effectLst/>
                        </a:rPr>
                        <a:t>列出运行中的进程（</a:t>
                      </a:r>
                      <a:r>
                        <a:rPr lang="en-US" sz="1400">
                          <a:effectLst/>
                        </a:rPr>
                        <a:t>tasklist）、</a:t>
                      </a:r>
                      <a:r>
                        <a:rPr lang="zh-CN" altLang="en-US" sz="1400">
                          <a:effectLst/>
                        </a:rPr>
                        <a:t>安装的软件（</a:t>
                      </a:r>
                      <a:r>
                        <a:rPr lang="en-US" sz="1400">
                          <a:effectLst/>
                        </a:rPr>
                        <a:t>wmic product get name）</a:t>
                      </a:r>
                    </a:p>
                  </a:txBody>
                  <a:tcPr marL="95250" marR="95250" marT="95250" marB="95250" anchor="ctr"/>
                </a:tc>
                <a:tc>
                  <a:txBody>
                    <a:bodyPr/>
                    <a:lstStyle/>
                    <a:p>
                      <a:r>
                        <a:rPr lang="en-US" sz="1400" b="1">
                          <a:effectLst/>
                        </a:rPr>
                        <a:t>PowerShell Empire</a:t>
                      </a:r>
                      <a:endParaRPr lang="en-US" sz="1400">
                        <a:effectLst/>
                      </a:endParaRPr>
                    </a:p>
                  </a:txBody>
                  <a:tcPr marL="95250" marR="95250" marT="95250" marB="95250" anchor="ctr"/>
                </a:tc>
                <a:extLst>
                  <a:ext uri="{0D108BD9-81ED-4DB2-BD59-A6C34878D82A}">
                    <a16:rowId xmlns:a16="http://schemas.microsoft.com/office/drawing/2014/main" val="642028183"/>
                  </a:ext>
                </a:extLst>
              </a:tr>
              <a:tr h="370840">
                <a:tc>
                  <a:txBody>
                    <a:bodyPr/>
                    <a:lstStyle/>
                    <a:p>
                      <a:r>
                        <a:rPr lang="zh-CN" altLang="en-US" sz="1400" b="1">
                          <a:effectLst/>
                        </a:rPr>
                        <a:t>日志窃取</a:t>
                      </a:r>
                      <a:endParaRPr lang="zh-CN" altLang="en-US" sz="1400">
                        <a:effectLst/>
                      </a:endParaRPr>
                    </a:p>
                  </a:txBody>
                  <a:tcPr marR="95250" marT="95250" marB="95250" anchor="ctr"/>
                </a:tc>
                <a:tc>
                  <a:txBody>
                    <a:bodyPr/>
                    <a:lstStyle/>
                    <a:p>
                      <a:r>
                        <a:rPr lang="zh-CN" altLang="en-US" sz="1400">
                          <a:effectLst/>
                        </a:rPr>
                        <a:t>提取</a:t>
                      </a:r>
                      <a:r>
                        <a:rPr lang="en-US" altLang="zh-CN" sz="1400">
                          <a:effectLst/>
                        </a:rPr>
                        <a:t>Windows</a:t>
                      </a:r>
                      <a:r>
                        <a:rPr lang="zh-CN" altLang="en-US" sz="1400">
                          <a:effectLst/>
                        </a:rPr>
                        <a:t>事件日志（如</a:t>
                      </a:r>
                      <a:r>
                        <a:rPr lang="en-US" altLang="zh-CN" sz="1400">
                          <a:effectLst/>
                        </a:rPr>
                        <a:t>4624</a:t>
                      </a:r>
                      <a:r>
                        <a:rPr lang="zh-CN" altLang="en-US" sz="1400">
                          <a:effectLst/>
                        </a:rPr>
                        <a:t>登录记录）、</a:t>
                      </a:r>
                      <a:r>
                        <a:rPr lang="en-US" altLang="zh-CN" sz="1400">
                          <a:effectLst/>
                        </a:rPr>
                        <a:t>Linux auth.log</a:t>
                      </a:r>
                      <a:r>
                        <a:rPr lang="zh-CN" altLang="en-US" sz="1400">
                          <a:effectLst/>
                        </a:rPr>
                        <a:t>，分析用户活动</a:t>
                      </a:r>
                    </a:p>
                  </a:txBody>
                  <a:tcPr marL="95250" marR="95250" marT="95250" marB="95250" anchor="ctr"/>
                </a:tc>
                <a:tc>
                  <a:txBody>
                    <a:bodyPr/>
                    <a:lstStyle/>
                    <a:p>
                      <a:r>
                        <a:rPr lang="en-US" sz="1400" b="1">
                          <a:effectLst/>
                        </a:rPr>
                        <a:t>APT29（Cozy Bear）</a:t>
                      </a:r>
                      <a:endParaRPr lang="en-US" sz="1400">
                        <a:effectLst/>
                      </a:endParaRPr>
                    </a:p>
                  </a:txBody>
                  <a:tcPr marL="95250" marR="95250" marT="95250" marB="95250" anchor="ctr"/>
                </a:tc>
                <a:extLst>
                  <a:ext uri="{0D108BD9-81ED-4DB2-BD59-A6C34878D82A}">
                    <a16:rowId xmlns:a16="http://schemas.microsoft.com/office/drawing/2014/main" val="1345811075"/>
                  </a:ext>
                </a:extLst>
              </a:tr>
              <a:tr h="370840">
                <a:tc>
                  <a:txBody>
                    <a:bodyPr/>
                    <a:lstStyle/>
                    <a:p>
                      <a:r>
                        <a:rPr lang="zh-CN" altLang="en-US" sz="1400" b="1">
                          <a:effectLst/>
                        </a:rPr>
                        <a:t>云环境侦察</a:t>
                      </a:r>
                      <a:endParaRPr lang="zh-CN" altLang="en-US" sz="1400">
                        <a:effectLst/>
                      </a:endParaRPr>
                    </a:p>
                  </a:txBody>
                  <a:tcPr marR="95250" marT="95250" marB="95250" anchor="ctr"/>
                </a:tc>
                <a:tc>
                  <a:txBody>
                    <a:bodyPr/>
                    <a:lstStyle/>
                    <a:p>
                      <a:r>
                        <a:rPr lang="zh-CN" altLang="en-US" sz="1400">
                          <a:effectLst/>
                        </a:rPr>
                        <a:t>查询</a:t>
                      </a:r>
                      <a:r>
                        <a:rPr lang="en-US" altLang="zh-CN" sz="1400">
                          <a:effectLst/>
                        </a:rPr>
                        <a:t>AWS/Azure</a:t>
                      </a:r>
                      <a:r>
                        <a:rPr lang="zh-CN" altLang="en-US" sz="1400">
                          <a:effectLst/>
                        </a:rPr>
                        <a:t>元数据</a:t>
                      </a:r>
                      <a:r>
                        <a:rPr lang="en-US" altLang="zh-CN" sz="1400">
                          <a:effectLst/>
                        </a:rPr>
                        <a:t>API</a:t>
                      </a:r>
                      <a:r>
                        <a:rPr lang="zh-CN" altLang="en-US" sz="1400">
                          <a:effectLst/>
                        </a:rPr>
                        <a:t>，获取云服务器角色、存储桶信息</a:t>
                      </a:r>
                    </a:p>
                  </a:txBody>
                  <a:tcPr marL="95250" marR="95250" marT="95250" marB="95250" anchor="ctr"/>
                </a:tc>
                <a:tc>
                  <a:txBody>
                    <a:bodyPr/>
                    <a:lstStyle/>
                    <a:p>
                      <a:r>
                        <a:rPr lang="en-US" sz="1400" b="1" dirty="0" err="1">
                          <a:effectLst/>
                        </a:rPr>
                        <a:t>TeamTNT</a:t>
                      </a:r>
                      <a:endParaRPr lang="en-US" sz="1400" dirty="0">
                        <a:effectLst/>
                      </a:endParaRPr>
                    </a:p>
                  </a:txBody>
                  <a:tcPr marL="95250" marR="95250" marT="95250" marB="95250" anchor="ctr"/>
                </a:tc>
                <a:extLst>
                  <a:ext uri="{0D108BD9-81ED-4DB2-BD59-A6C34878D82A}">
                    <a16:rowId xmlns:a16="http://schemas.microsoft.com/office/drawing/2014/main" val="1833133412"/>
                  </a:ext>
                </a:extLst>
              </a:tr>
            </a:tbl>
          </a:graphicData>
        </a:graphic>
      </p:graphicFrame>
    </p:spTree>
    <p:extLst>
      <p:ext uri="{BB962C8B-B14F-4D97-AF65-F5344CB8AC3E}">
        <p14:creationId xmlns:p14="http://schemas.microsoft.com/office/powerpoint/2010/main" val="4537932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10.8.3 </a:t>
            </a:r>
            <a:r>
              <a:rPr kumimoji="1" lang="zh-CN" altLang="zh-CN" dirty="0">
                <a:solidFill>
                  <a:prstClr val="black"/>
                </a:solidFill>
              </a:rPr>
              <a:t>侦察和间谍</a:t>
            </a:r>
            <a:endParaRPr lang="zh-CN" altLang="en-US" dirty="0"/>
          </a:p>
        </p:txBody>
      </p:sp>
      <p:sp>
        <p:nvSpPr>
          <p:cNvPr id="3" name="内容占位符 2"/>
          <p:cNvSpPr>
            <a:spLocks noGrp="1"/>
          </p:cNvSpPr>
          <p:nvPr>
            <p:ph idx="1"/>
          </p:nvPr>
        </p:nvSpPr>
        <p:spPr>
          <a:xfrm>
            <a:off x="838200" y="1304781"/>
            <a:ext cx="10515600" cy="4586694"/>
          </a:xfrm>
        </p:spPr>
        <p:txBody>
          <a:bodyPr>
            <a:normAutofit/>
          </a:bodyPr>
          <a:lstStyle/>
          <a:p>
            <a:r>
              <a:rPr lang="en-US" altLang="zh-CN" b="1" dirty="0">
                <a:solidFill>
                  <a:srgbClr val="C00000"/>
                </a:solidFill>
              </a:rPr>
              <a:t>1. </a:t>
            </a:r>
            <a:r>
              <a:rPr lang="zh-CN" altLang="en-US" b="1" dirty="0">
                <a:solidFill>
                  <a:srgbClr val="C00000"/>
                </a:solidFill>
              </a:rPr>
              <a:t>侦察（</a:t>
            </a:r>
            <a:r>
              <a:rPr lang="en-US" altLang="zh-CN" b="1" dirty="0">
                <a:solidFill>
                  <a:srgbClr val="C00000"/>
                </a:solidFill>
              </a:rPr>
              <a:t>Reconnaissance</a:t>
            </a:r>
            <a:r>
              <a:rPr lang="zh-CN" altLang="en-US" b="1" dirty="0">
                <a:solidFill>
                  <a:srgbClr val="C00000"/>
                </a:solidFill>
              </a:rPr>
              <a:t>）</a:t>
            </a:r>
          </a:p>
          <a:p>
            <a:pPr lvl="1"/>
            <a:r>
              <a:rPr lang="zh-CN" altLang="en-US" sz="2800" b="1" dirty="0"/>
              <a:t>（</a:t>
            </a:r>
            <a:r>
              <a:rPr lang="en-US" altLang="zh-CN" sz="2800" b="1" dirty="0"/>
              <a:t>2</a:t>
            </a:r>
            <a:r>
              <a:rPr lang="zh-CN" altLang="en-US" sz="2800" b="1" dirty="0"/>
              <a:t>）防御措施</a:t>
            </a:r>
          </a:p>
          <a:p>
            <a:pPr lvl="2"/>
            <a:r>
              <a:rPr lang="zh-CN" altLang="en-US" sz="2400" b="1" dirty="0"/>
              <a:t>限制信息泄露</a:t>
            </a:r>
            <a:r>
              <a:rPr lang="zh-CN" altLang="en-US" sz="2400" dirty="0"/>
              <a:t>：</a:t>
            </a:r>
          </a:p>
          <a:p>
            <a:pPr lvl="3"/>
            <a:r>
              <a:rPr lang="zh-CN" altLang="en-US" sz="2400" dirty="0"/>
              <a:t>关闭不必要的服务（如</a:t>
            </a:r>
            <a:r>
              <a:rPr lang="en-US" altLang="zh-CN" sz="2400" dirty="0"/>
              <a:t>SMBv1</a:t>
            </a:r>
            <a:r>
              <a:rPr lang="zh-CN" altLang="en-US" sz="2400" dirty="0"/>
              <a:t>、</a:t>
            </a:r>
            <a:r>
              <a:rPr lang="en-US" altLang="zh-CN" sz="2400" dirty="0"/>
              <a:t>Telnet</a:t>
            </a:r>
            <a:r>
              <a:rPr lang="zh-CN" altLang="en-US" sz="2400" dirty="0"/>
              <a:t>）。</a:t>
            </a:r>
          </a:p>
          <a:p>
            <a:pPr lvl="3"/>
            <a:r>
              <a:rPr lang="zh-CN" altLang="en-US" sz="2400" dirty="0"/>
              <a:t>使用防火墙规则限制内网扫描（如仅允许业务</a:t>
            </a:r>
            <a:r>
              <a:rPr lang="en-US" altLang="zh-CN" sz="2400" dirty="0"/>
              <a:t>IP</a:t>
            </a:r>
            <a:r>
              <a:rPr lang="zh-CN" altLang="en-US" sz="2400" dirty="0"/>
              <a:t>访问关键端口）。</a:t>
            </a:r>
          </a:p>
          <a:p>
            <a:pPr lvl="2"/>
            <a:r>
              <a:rPr lang="zh-CN" altLang="en-US" sz="2400" b="1" dirty="0"/>
              <a:t>监控可疑命令</a:t>
            </a:r>
            <a:r>
              <a:rPr lang="zh-CN" altLang="en-US" sz="2400" dirty="0"/>
              <a:t>：</a:t>
            </a:r>
          </a:p>
          <a:p>
            <a:pPr lvl="3"/>
            <a:r>
              <a:rPr lang="zh-CN" altLang="en-US" sz="2400" dirty="0"/>
              <a:t>检测 </a:t>
            </a:r>
            <a:r>
              <a:rPr lang="en-US" altLang="zh-CN" sz="2400" dirty="0" err="1"/>
              <a:t>whoami</a:t>
            </a:r>
            <a:r>
              <a:rPr lang="en-US" altLang="zh-CN" sz="2400" dirty="0"/>
              <a:t> /all</a:t>
            </a:r>
            <a:r>
              <a:rPr lang="zh-CN" altLang="en-US" sz="2400" dirty="0"/>
              <a:t>、</a:t>
            </a:r>
            <a:r>
              <a:rPr lang="en-US" altLang="zh-CN" sz="2400" dirty="0"/>
              <a:t>net group "Domain Admins" </a:t>
            </a:r>
            <a:r>
              <a:rPr lang="zh-CN" altLang="en-US" sz="2400" dirty="0"/>
              <a:t>等高危操作。</a:t>
            </a:r>
          </a:p>
          <a:p>
            <a:pPr lvl="2"/>
            <a:r>
              <a:rPr lang="zh-CN" altLang="en-US" sz="2400" b="1" dirty="0"/>
              <a:t>欺骗技术（</a:t>
            </a:r>
            <a:r>
              <a:rPr lang="en-US" altLang="zh-CN" sz="2400" b="1" dirty="0"/>
              <a:t>Deception</a:t>
            </a:r>
            <a:r>
              <a:rPr lang="zh-CN" altLang="en-US" sz="2400" b="1" dirty="0"/>
              <a:t>）</a:t>
            </a:r>
            <a:r>
              <a:rPr lang="zh-CN" altLang="en-US" sz="2400" dirty="0"/>
              <a:t>：</a:t>
            </a:r>
          </a:p>
          <a:p>
            <a:pPr lvl="3"/>
            <a:r>
              <a:rPr lang="zh-CN" altLang="en-US" sz="2400" dirty="0"/>
              <a:t>部署蜜罐（</a:t>
            </a:r>
            <a:r>
              <a:rPr lang="en-US" altLang="zh-CN" sz="2400" dirty="0"/>
              <a:t>Honeypot</a:t>
            </a:r>
            <a:r>
              <a:rPr lang="zh-CN" altLang="en-US" sz="2400" dirty="0"/>
              <a:t>）诱骗攻击者，如 </a:t>
            </a:r>
            <a:r>
              <a:rPr lang="en-US" altLang="zh-CN" sz="2400" dirty="0" err="1"/>
              <a:t>CanaryTokens</a:t>
            </a:r>
            <a:r>
              <a:rPr lang="zh-CN" altLang="en-US" sz="2400" dirty="0"/>
              <a:t>。</a:t>
            </a:r>
            <a:endParaRPr lang="zh-CN" altLang="en-US" sz="2400" b="1"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94</a:t>
            </a:fld>
            <a:endParaRPr kumimoji="1" lang="zh-CN" altLang="en-US" dirty="0"/>
          </a:p>
        </p:txBody>
      </p:sp>
    </p:spTree>
    <p:extLst>
      <p:ext uri="{BB962C8B-B14F-4D97-AF65-F5344CB8AC3E}">
        <p14:creationId xmlns:p14="http://schemas.microsoft.com/office/powerpoint/2010/main" val="16217688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蜜罐</a:t>
            </a:r>
          </a:p>
        </p:txBody>
      </p:sp>
      <p:sp>
        <p:nvSpPr>
          <p:cNvPr id="3" name="内容占位符 2"/>
          <p:cNvSpPr>
            <a:spLocks noGrp="1"/>
          </p:cNvSpPr>
          <p:nvPr>
            <p:ph idx="1"/>
          </p:nvPr>
        </p:nvSpPr>
        <p:spPr/>
        <p:txBody>
          <a:bodyPr>
            <a:normAutofit lnSpcReduction="10000"/>
          </a:bodyPr>
          <a:lstStyle/>
          <a:p>
            <a:r>
              <a:rPr lang="zh-CN" altLang="en-US" dirty="0">
                <a:solidFill>
                  <a:srgbClr val="C00000"/>
                </a:solidFill>
              </a:rPr>
              <a:t>蜜罐（Honeypot）</a:t>
            </a:r>
            <a:endParaRPr lang="en-US" altLang="zh-CN" dirty="0">
              <a:solidFill>
                <a:srgbClr val="C00000"/>
              </a:solidFill>
            </a:endParaRPr>
          </a:p>
          <a:p>
            <a:pPr lvl="1"/>
            <a:r>
              <a:rPr lang="zh-CN" altLang="en-US" dirty="0">
                <a:solidFill>
                  <a:srgbClr val="C00000"/>
                </a:solidFill>
              </a:rPr>
              <a:t>本质</a:t>
            </a:r>
            <a:r>
              <a:rPr lang="zh-CN" altLang="en-US" dirty="0"/>
              <a:t>上是一种对攻击方进行欺骗的技术</a:t>
            </a:r>
            <a:endParaRPr lang="en-US" altLang="zh-CN" dirty="0"/>
          </a:p>
          <a:p>
            <a:pPr lvl="1"/>
            <a:r>
              <a:rPr lang="zh-CN" altLang="en-US" dirty="0"/>
              <a:t>通过布置一些作为诱饵的主机、网络服务或者信息，诱使攻击方对它们实施攻击，从而可以对攻击行为进行捕获和分析</a:t>
            </a:r>
            <a:endParaRPr lang="en-US" altLang="zh-CN" dirty="0"/>
          </a:p>
          <a:p>
            <a:r>
              <a:rPr lang="zh-CN" altLang="en-US" dirty="0"/>
              <a:t>蜜罐的分类</a:t>
            </a:r>
            <a:endParaRPr lang="en-US" altLang="zh-CN" dirty="0"/>
          </a:p>
          <a:p>
            <a:endParaRPr lang="en-US" altLang="zh-CN" dirty="0"/>
          </a:p>
          <a:p>
            <a:pPr lvl="1"/>
            <a:r>
              <a:rPr lang="zh-CN" altLang="en-US" dirty="0">
                <a:latin typeface="微软雅黑" pitchFamily="34" charset="-122"/>
                <a:ea typeface="微软雅黑" pitchFamily="34" charset="-122"/>
              </a:rPr>
              <a:t>按用途</a:t>
            </a:r>
            <a:endParaRPr lang="en-US" altLang="zh-CN" dirty="0">
              <a:latin typeface="微软雅黑" pitchFamily="34" charset="-122"/>
              <a:ea typeface="微软雅黑" pitchFamily="34" charset="-122"/>
            </a:endParaRPr>
          </a:p>
          <a:p>
            <a:pPr lvl="1"/>
            <a:endParaRPr lang="en-US" altLang="zh-CN" dirty="0">
              <a:latin typeface="微软雅黑" pitchFamily="34" charset="-122"/>
              <a:ea typeface="微软雅黑" pitchFamily="34" charset="-122"/>
            </a:endParaRPr>
          </a:p>
          <a:p>
            <a:pPr lvl="1"/>
            <a:endParaRPr lang="en-US" altLang="zh-CN" dirty="0">
              <a:latin typeface="微软雅黑" pitchFamily="34" charset="-122"/>
              <a:ea typeface="微软雅黑" pitchFamily="34" charset="-122"/>
            </a:endParaRPr>
          </a:p>
          <a:p>
            <a:pPr lvl="1"/>
            <a:endParaRPr lang="en-US" altLang="zh-CN" dirty="0">
              <a:latin typeface="微软雅黑" pitchFamily="34" charset="-122"/>
              <a:ea typeface="微软雅黑" pitchFamily="34" charset="-122"/>
            </a:endParaRPr>
          </a:p>
          <a:p>
            <a:pPr lvl="1"/>
            <a:r>
              <a:rPr lang="zh-CN" altLang="en-US" dirty="0"/>
              <a:t>按交互方式</a:t>
            </a:r>
          </a:p>
          <a:p>
            <a:pPr lvl="1"/>
            <a:endParaRPr lang="zh-CN" altLang="en-US" dirty="0">
              <a:latin typeface="微软雅黑" pitchFamily="34" charset="-122"/>
              <a:ea typeface="微软雅黑" pitchFamily="34" charset="-122"/>
            </a:endParaRPr>
          </a:p>
          <a:p>
            <a:pPr lvl="1"/>
            <a:endParaRPr lang="en-US" altLang="zh-CN" dirty="0"/>
          </a:p>
          <a:p>
            <a:pPr lvl="1">
              <a:buNone/>
            </a:pPr>
            <a:endParaRPr lang="en-US" altLang="zh-CN" dirty="0"/>
          </a:p>
          <a:p>
            <a:endParaRPr lang="en-US" altLang="zh-CN" dirty="0"/>
          </a:p>
          <a:p>
            <a:endParaRPr lang="en-US" altLang="zh-CN" dirty="0"/>
          </a:p>
        </p:txBody>
      </p:sp>
      <p:pic>
        <p:nvPicPr>
          <p:cNvPr id="1026" name="Picture 2"/>
          <p:cNvPicPr>
            <a:picLocks noChangeAspect="1" noChangeArrowheads="1"/>
          </p:cNvPicPr>
          <p:nvPr/>
        </p:nvPicPr>
        <p:blipFill>
          <a:blip r:embed="rId3"/>
          <a:srcRect/>
          <a:stretch>
            <a:fillRect/>
          </a:stretch>
        </p:blipFill>
        <p:spPr bwMode="auto">
          <a:xfrm>
            <a:off x="9528320" y="2977970"/>
            <a:ext cx="2031654" cy="1731523"/>
          </a:xfrm>
          <a:prstGeom prst="rect">
            <a:avLst/>
          </a:prstGeom>
          <a:noFill/>
          <a:ln w="9525">
            <a:noFill/>
            <a:miter lim="800000"/>
            <a:headEnd/>
            <a:tailEnd/>
          </a:ln>
          <a:effectLst/>
        </p:spPr>
      </p:pic>
      <p:sp>
        <p:nvSpPr>
          <p:cNvPr id="7" name="左大括号 6"/>
          <p:cNvSpPr/>
          <p:nvPr/>
        </p:nvSpPr>
        <p:spPr>
          <a:xfrm>
            <a:off x="2828022" y="3828416"/>
            <a:ext cx="562810" cy="781512"/>
          </a:xfrm>
          <a:prstGeom prst="leftBrace">
            <a:avLst>
              <a:gd name="adj1" fmla="val 8333"/>
              <a:gd name="adj2" fmla="val 47588"/>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TextBox 11"/>
          <p:cNvSpPr txBox="1"/>
          <p:nvPr/>
        </p:nvSpPr>
        <p:spPr>
          <a:xfrm>
            <a:off x="3459635" y="3594454"/>
            <a:ext cx="5827236" cy="400110"/>
          </a:xfrm>
          <a:prstGeom prst="rect">
            <a:avLst/>
          </a:prstGeom>
          <a:noFill/>
        </p:spPr>
        <p:txBody>
          <a:bodyPr wrap="none" rtlCol="0">
            <a:spAutoFit/>
          </a:bodyPr>
          <a:lstStyle/>
          <a:p>
            <a:pPr lvl="0"/>
            <a:r>
              <a:rPr lang="zh-CN" altLang="en-US" sz="2000" dirty="0">
                <a:latin typeface="Microsoft YaHei" panose="020B0503020204020204" pitchFamily="34" charset="-122"/>
                <a:ea typeface="Microsoft YaHei" panose="020B0503020204020204" pitchFamily="34" charset="-122"/>
              </a:rPr>
              <a:t>研究型，专门以研究和获取攻击信息为目的而设计</a:t>
            </a:r>
          </a:p>
        </p:txBody>
      </p:sp>
      <p:sp>
        <p:nvSpPr>
          <p:cNvPr id="13" name="TextBox 12"/>
          <p:cNvSpPr txBox="1"/>
          <p:nvPr/>
        </p:nvSpPr>
        <p:spPr>
          <a:xfrm>
            <a:off x="3459636" y="4398285"/>
            <a:ext cx="5827236" cy="707886"/>
          </a:xfrm>
          <a:prstGeom prst="rect">
            <a:avLst/>
          </a:prstGeom>
          <a:noFill/>
        </p:spPr>
        <p:txBody>
          <a:bodyPr wrap="square" rtlCol="0">
            <a:spAutoFit/>
          </a:bodyPr>
          <a:lstStyle/>
          <a:p>
            <a:pPr lvl="0"/>
            <a:r>
              <a:rPr lang="zh-CN" altLang="en-US" sz="2000" dirty="0">
                <a:latin typeface="Microsoft YaHei" panose="020B0503020204020204" pitchFamily="34" charset="-122"/>
                <a:ea typeface="Microsoft YaHei" panose="020B0503020204020204" pitchFamily="34" charset="-122"/>
              </a:rPr>
              <a:t>产品型，一般运用于商业组织，目的是减轻将受到的攻击威胁</a:t>
            </a:r>
          </a:p>
        </p:txBody>
      </p:sp>
      <p:sp>
        <p:nvSpPr>
          <p:cNvPr id="15" name="TextBox 14"/>
          <p:cNvSpPr txBox="1"/>
          <p:nvPr/>
        </p:nvSpPr>
        <p:spPr>
          <a:xfrm>
            <a:off x="3953642" y="5208767"/>
            <a:ext cx="7165744" cy="400110"/>
          </a:xfrm>
          <a:prstGeom prst="rect">
            <a:avLst/>
          </a:prstGeom>
          <a:noFill/>
        </p:spPr>
        <p:txBody>
          <a:bodyPr wrap="none" rtlCol="0">
            <a:spAutoFit/>
          </a:bodyPr>
          <a:lstStyle/>
          <a:p>
            <a:r>
              <a:rPr lang="zh-CN" altLang="en-US" sz="2000" dirty="0">
                <a:latin typeface="微软雅黑" pitchFamily="34" charset="-122"/>
                <a:ea typeface="微软雅黑" pitchFamily="34" charset="-122"/>
              </a:rPr>
              <a:t>低交互式蜜罐，虚拟蜜罐</a:t>
            </a:r>
            <a:r>
              <a:rPr lang="en-US" altLang="zh-CN" sz="2000" dirty="0">
                <a:latin typeface="微软雅黑" pitchFamily="34" charset="-122"/>
                <a:ea typeface="微软雅黑" pitchFamily="34" charset="-122"/>
              </a:rPr>
              <a:t>: </a:t>
            </a:r>
            <a:r>
              <a:rPr lang="zh-CN" altLang="en-US" sz="2000" dirty="0">
                <a:latin typeface="微软雅黑" pitchFamily="34" charset="-122"/>
                <a:ea typeface="微软雅黑" pitchFamily="34" charset="-122"/>
              </a:rPr>
              <a:t>模拟网络拓扑、协议栈、服务、 </a:t>
            </a:r>
            <a:r>
              <a:rPr lang="en-US" altLang="zh-CN" sz="2000" dirty="0">
                <a:latin typeface="微软雅黑" pitchFamily="34" charset="-122"/>
                <a:ea typeface="微软雅黑" pitchFamily="34" charset="-122"/>
              </a:rPr>
              <a:t>OS</a:t>
            </a:r>
          </a:p>
        </p:txBody>
      </p:sp>
      <p:sp>
        <p:nvSpPr>
          <p:cNvPr id="16" name="TextBox 15"/>
          <p:cNvSpPr txBox="1"/>
          <p:nvPr/>
        </p:nvSpPr>
        <p:spPr>
          <a:xfrm>
            <a:off x="3953642" y="5965475"/>
            <a:ext cx="7268540" cy="400110"/>
          </a:xfrm>
          <a:prstGeom prst="rect">
            <a:avLst/>
          </a:prstGeom>
          <a:noFill/>
        </p:spPr>
        <p:txBody>
          <a:bodyPr wrap="square" rtlCol="0">
            <a:spAutoFit/>
          </a:bodyPr>
          <a:lstStyle/>
          <a:p>
            <a:r>
              <a:rPr lang="zh-CN" altLang="en-US" sz="2000" dirty="0">
                <a:latin typeface="Microsoft YaHei" panose="020B0503020204020204" pitchFamily="34" charset="-122"/>
                <a:ea typeface="Microsoft YaHei" panose="020B0503020204020204" pitchFamily="34" charset="-122"/>
              </a:rPr>
              <a:t>高交互式蜜罐，物理蜜罐</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完全真实的硬件、</a:t>
            </a:r>
            <a:r>
              <a:rPr lang="en-US" altLang="zh-CN" sz="2000" dirty="0">
                <a:latin typeface="Microsoft YaHei" panose="020B0503020204020204" pitchFamily="34" charset="-122"/>
                <a:ea typeface="Microsoft YaHei" panose="020B0503020204020204" pitchFamily="34" charset="-122"/>
              </a:rPr>
              <a:t>OS</a:t>
            </a:r>
            <a:r>
              <a:rPr lang="zh-CN" altLang="en-US" sz="2000" dirty="0">
                <a:latin typeface="Microsoft YaHei" panose="020B0503020204020204" pitchFamily="34" charset="-122"/>
                <a:ea typeface="Microsoft YaHei" panose="020B0503020204020204" pitchFamily="34" charset="-122"/>
              </a:rPr>
              <a:t>、应用、服务</a:t>
            </a:r>
            <a:endParaRPr lang="en-US" altLang="zh-CN" sz="2000" dirty="0">
              <a:latin typeface="Microsoft YaHei" panose="020B0503020204020204" pitchFamily="34" charset="-122"/>
              <a:ea typeface="Microsoft YaHei" panose="020B0503020204020204" pitchFamily="34" charset="-122"/>
            </a:endParaRPr>
          </a:p>
        </p:txBody>
      </p:sp>
      <p:sp>
        <p:nvSpPr>
          <p:cNvPr id="17" name="左大括号 16"/>
          <p:cNvSpPr/>
          <p:nvPr/>
        </p:nvSpPr>
        <p:spPr>
          <a:xfrm>
            <a:off x="3390832" y="5412773"/>
            <a:ext cx="562810" cy="781512"/>
          </a:xfrm>
          <a:prstGeom prst="leftBrace">
            <a:avLst>
              <a:gd name="adj1" fmla="val 8333"/>
              <a:gd name="adj2" fmla="val 47588"/>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89303"/>
            <a:ext cx="3319670" cy="365125"/>
          </a:xfrm>
        </p:spPr>
        <p:txBody>
          <a:bodyPr/>
          <a:lstStyle/>
          <a:p>
            <a:fld id="{8D4D1E41-7A09-AB4A-A4E1-09765ADA2698}" type="slidenum">
              <a:rPr kumimoji="1" lang="zh-CN" altLang="en-US" smtClean="0"/>
              <a:pPr/>
              <a:t>95</a:t>
            </a:fld>
            <a:endParaRPr kumimoji="1" lang="zh-CN" altLang="en-US" dirty="0"/>
          </a:p>
        </p:txBody>
      </p:sp>
      <p:sp>
        <p:nvSpPr>
          <p:cNvPr id="19" name="文本框 18">
            <a:extLst>
              <a:ext uri="{FF2B5EF4-FFF2-40B4-BE49-F238E27FC236}">
                <a16:creationId xmlns:a16="http://schemas.microsoft.com/office/drawing/2014/main" id="{8EEFEE77-5EA2-4515-BFF8-3F3886299EE3}"/>
              </a:ext>
            </a:extLst>
          </p:cNvPr>
          <p:cNvSpPr txBox="1"/>
          <p:nvPr/>
        </p:nvSpPr>
        <p:spPr>
          <a:xfrm>
            <a:off x="3505191" y="6571858"/>
            <a:ext cx="6097978" cy="276999"/>
          </a:xfrm>
          <a:prstGeom prst="rect">
            <a:avLst/>
          </a:prstGeom>
        </p:spPr>
        <p:txBody>
          <a:bodyPr vert="horz" lIns="91440" tIns="45720" rIns="91440" bIns="45720" rtlCol="0" anchor="ctr"/>
          <a:lstStyle>
            <a:defPPr>
              <a:defRPr lang="zh-CN"/>
            </a:defPPr>
            <a:lvl1pPr>
              <a:defRPr kumimoji="1" sz="1200">
                <a:solidFill>
                  <a:schemeClr val="tx1">
                    <a:tint val="75000"/>
                  </a:schemeClr>
                </a:solidFill>
                <a:latin typeface="Microsoft YaHei" panose="020B0503020204020204" pitchFamily="34" charset="-122"/>
                <a:ea typeface="Microsoft YaHei" panose="020B0503020204020204" pitchFamily="34" charset="-122"/>
              </a:defRPr>
            </a:lvl1pPr>
          </a:lstStyle>
          <a:p>
            <a:r>
              <a:rPr lang="zh-CN" altLang="en-US" dirty="0"/>
              <a:t>引自：</a:t>
            </a:r>
            <a:r>
              <a:rPr lang="en-US" altLang="zh-CN" dirty="0"/>
              <a:t>https://hfish.io/onefishdocs/#/</a:t>
            </a:r>
            <a:endParaRPr lang="zh-CN" altLang="en-US" dirty="0"/>
          </a:p>
        </p:txBody>
      </p:sp>
    </p:spTree>
    <p:extLst>
      <p:ext uri="{BB962C8B-B14F-4D97-AF65-F5344CB8AC3E}">
        <p14:creationId xmlns:p14="http://schemas.microsoft.com/office/powerpoint/2010/main" val="39714969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10.8.3 </a:t>
            </a:r>
            <a:r>
              <a:rPr kumimoji="1" lang="zh-CN" altLang="zh-CN" dirty="0">
                <a:solidFill>
                  <a:prstClr val="black"/>
                </a:solidFill>
              </a:rPr>
              <a:t>侦察和间谍</a:t>
            </a:r>
            <a:endParaRPr lang="zh-CN" altLang="en-US" dirty="0"/>
          </a:p>
        </p:txBody>
      </p:sp>
      <p:sp>
        <p:nvSpPr>
          <p:cNvPr id="3" name="内容占位符 2"/>
          <p:cNvSpPr>
            <a:spLocks noGrp="1"/>
          </p:cNvSpPr>
          <p:nvPr>
            <p:ph idx="1"/>
          </p:nvPr>
        </p:nvSpPr>
        <p:spPr>
          <a:xfrm>
            <a:off x="838200" y="1304781"/>
            <a:ext cx="10515600" cy="4586694"/>
          </a:xfrm>
        </p:spPr>
        <p:txBody>
          <a:bodyPr>
            <a:normAutofit/>
          </a:bodyPr>
          <a:lstStyle/>
          <a:p>
            <a:pPr>
              <a:lnSpc>
                <a:spcPct val="150000"/>
              </a:lnSpc>
            </a:pPr>
            <a:r>
              <a:rPr lang="en-US" altLang="zh-CN" b="1" dirty="0">
                <a:solidFill>
                  <a:srgbClr val="C00000"/>
                </a:solidFill>
              </a:rPr>
              <a:t>2. </a:t>
            </a:r>
            <a:r>
              <a:rPr lang="zh-CN" altLang="en-US" b="1" dirty="0">
                <a:solidFill>
                  <a:srgbClr val="C00000"/>
                </a:solidFill>
              </a:rPr>
              <a:t>间谍（</a:t>
            </a:r>
            <a:r>
              <a:rPr lang="en-US" altLang="zh-CN" b="1" dirty="0">
                <a:solidFill>
                  <a:srgbClr val="C00000"/>
                </a:solidFill>
              </a:rPr>
              <a:t>Espionage</a:t>
            </a:r>
            <a:r>
              <a:rPr lang="zh-CN" altLang="en-US" b="1" dirty="0">
                <a:solidFill>
                  <a:srgbClr val="C00000"/>
                </a:solidFill>
              </a:rPr>
              <a:t>）</a:t>
            </a:r>
          </a:p>
          <a:p>
            <a:pPr lvl="1">
              <a:lnSpc>
                <a:spcPct val="150000"/>
              </a:lnSpc>
            </a:pPr>
            <a:r>
              <a:rPr lang="zh-CN" altLang="en-US" dirty="0"/>
              <a:t>间谍活动是</a:t>
            </a:r>
            <a:r>
              <a:rPr lang="zh-CN" altLang="en-US" b="1" dirty="0"/>
              <a:t>长期隐蔽的数据窃取</a:t>
            </a:r>
            <a:r>
              <a:rPr lang="zh-CN" altLang="en-US" dirty="0"/>
              <a:t>，通常针对：</a:t>
            </a:r>
          </a:p>
          <a:p>
            <a:pPr lvl="2">
              <a:lnSpc>
                <a:spcPct val="150000"/>
              </a:lnSpc>
            </a:pPr>
            <a:r>
              <a:rPr lang="zh-CN" altLang="en-US" b="1" dirty="0"/>
              <a:t>商业机密</a:t>
            </a:r>
            <a:r>
              <a:rPr lang="zh-CN" altLang="en-US" dirty="0"/>
              <a:t>（专利、客户数据）</a:t>
            </a:r>
          </a:p>
          <a:p>
            <a:pPr lvl="2">
              <a:lnSpc>
                <a:spcPct val="150000"/>
              </a:lnSpc>
            </a:pPr>
            <a:r>
              <a:rPr lang="zh-CN" altLang="en-US" b="1" dirty="0"/>
              <a:t>政府机密</a:t>
            </a:r>
            <a:r>
              <a:rPr lang="zh-CN" altLang="en-US" dirty="0"/>
              <a:t>（军事、外交情报）</a:t>
            </a:r>
          </a:p>
          <a:p>
            <a:pPr lvl="2">
              <a:lnSpc>
                <a:spcPct val="150000"/>
              </a:lnSpc>
            </a:pPr>
            <a:r>
              <a:rPr lang="zh-CN" altLang="en-US" b="1" dirty="0"/>
              <a:t>个人隐私</a:t>
            </a:r>
            <a:r>
              <a:rPr lang="zh-CN" altLang="en-US" dirty="0"/>
              <a:t>（政要、记者的通信记录）</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96</a:t>
            </a:fld>
            <a:endParaRPr kumimoji="1" lang="zh-CN" altLang="en-US" dirty="0"/>
          </a:p>
        </p:txBody>
      </p:sp>
    </p:spTree>
    <p:extLst>
      <p:ext uri="{BB962C8B-B14F-4D97-AF65-F5344CB8AC3E}">
        <p14:creationId xmlns:p14="http://schemas.microsoft.com/office/powerpoint/2010/main" val="369378103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10.8.3 </a:t>
            </a:r>
            <a:r>
              <a:rPr kumimoji="1" lang="zh-CN" altLang="zh-CN" dirty="0">
                <a:solidFill>
                  <a:prstClr val="black"/>
                </a:solidFill>
              </a:rPr>
              <a:t>侦察和间谍</a:t>
            </a:r>
            <a:endParaRPr lang="zh-CN" altLang="en-US" dirty="0"/>
          </a:p>
        </p:txBody>
      </p:sp>
      <p:sp>
        <p:nvSpPr>
          <p:cNvPr id="3" name="内容占位符 2"/>
          <p:cNvSpPr>
            <a:spLocks noGrp="1"/>
          </p:cNvSpPr>
          <p:nvPr>
            <p:ph idx="1"/>
          </p:nvPr>
        </p:nvSpPr>
        <p:spPr>
          <a:xfrm>
            <a:off x="838200" y="1304781"/>
            <a:ext cx="10515600" cy="4586694"/>
          </a:xfrm>
        </p:spPr>
        <p:txBody>
          <a:bodyPr>
            <a:normAutofit/>
          </a:bodyPr>
          <a:lstStyle/>
          <a:p>
            <a:r>
              <a:rPr lang="en-US" altLang="zh-CN" b="1" dirty="0">
                <a:solidFill>
                  <a:srgbClr val="C00000"/>
                </a:solidFill>
              </a:rPr>
              <a:t>2. </a:t>
            </a:r>
            <a:r>
              <a:rPr lang="zh-CN" altLang="en-US" b="1" dirty="0">
                <a:solidFill>
                  <a:srgbClr val="C00000"/>
                </a:solidFill>
              </a:rPr>
              <a:t>间谍（</a:t>
            </a:r>
            <a:r>
              <a:rPr lang="en-US" altLang="zh-CN" b="1" dirty="0">
                <a:solidFill>
                  <a:srgbClr val="C00000"/>
                </a:solidFill>
              </a:rPr>
              <a:t>Espionage</a:t>
            </a:r>
            <a:r>
              <a:rPr lang="zh-CN" altLang="en-US" b="1" dirty="0">
                <a:solidFill>
                  <a:srgbClr val="C00000"/>
                </a:solidFill>
              </a:rPr>
              <a:t>）</a:t>
            </a:r>
          </a:p>
          <a:p>
            <a:pPr lvl="1"/>
            <a:r>
              <a:rPr lang="zh-CN" altLang="en-US" b="1" dirty="0"/>
              <a:t>（</a:t>
            </a:r>
            <a:r>
              <a:rPr lang="en-US" altLang="zh-CN" b="1" dirty="0"/>
              <a:t>1</a:t>
            </a:r>
            <a:r>
              <a:rPr lang="zh-CN" altLang="en-US" b="1" dirty="0"/>
              <a:t>）恶意软件的间谍技术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97</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4199003171"/>
              </p:ext>
            </p:extLst>
          </p:nvPr>
        </p:nvGraphicFramePr>
        <p:xfrm>
          <a:off x="975096" y="2310959"/>
          <a:ext cx="10211460" cy="4048650"/>
        </p:xfrm>
        <a:graphic>
          <a:graphicData uri="http://schemas.openxmlformats.org/drawingml/2006/table">
            <a:tbl>
              <a:tblPr firstRow="1" bandRow="1">
                <a:tableStyleId>{5C22544A-7EE6-4342-B048-85BDC9FD1C3A}</a:tableStyleId>
              </a:tblPr>
              <a:tblGrid>
                <a:gridCol w="1589974">
                  <a:extLst>
                    <a:ext uri="{9D8B030D-6E8A-4147-A177-3AD203B41FA5}">
                      <a16:colId xmlns:a16="http://schemas.microsoft.com/office/drawing/2014/main" val="2708608914"/>
                    </a:ext>
                  </a:extLst>
                </a:gridCol>
                <a:gridCol w="6056416">
                  <a:extLst>
                    <a:ext uri="{9D8B030D-6E8A-4147-A177-3AD203B41FA5}">
                      <a16:colId xmlns:a16="http://schemas.microsoft.com/office/drawing/2014/main" val="2241205102"/>
                    </a:ext>
                  </a:extLst>
                </a:gridCol>
                <a:gridCol w="2565070">
                  <a:extLst>
                    <a:ext uri="{9D8B030D-6E8A-4147-A177-3AD203B41FA5}">
                      <a16:colId xmlns:a16="http://schemas.microsoft.com/office/drawing/2014/main" val="1252085088"/>
                    </a:ext>
                  </a:extLst>
                </a:gridCol>
              </a:tblGrid>
              <a:tr h="538458">
                <a:tc>
                  <a:txBody>
                    <a:bodyPr/>
                    <a:lstStyle/>
                    <a:p>
                      <a:pPr algn="l"/>
                      <a:r>
                        <a:rPr lang="zh-CN" altLang="en-US" sz="1600" b="1">
                          <a:effectLst/>
                        </a:rPr>
                        <a:t>间谍目标</a:t>
                      </a:r>
                    </a:p>
                  </a:txBody>
                  <a:tcPr marR="95250" marT="95250" marB="95250" anchor="ctr"/>
                </a:tc>
                <a:tc>
                  <a:txBody>
                    <a:bodyPr/>
                    <a:lstStyle/>
                    <a:p>
                      <a:pPr algn="l"/>
                      <a:r>
                        <a:rPr lang="zh-CN" altLang="en-US" sz="1600" b="1" dirty="0">
                          <a:effectLst/>
                        </a:rPr>
                        <a:t>技术实现</a:t>
                      </a:r>
                    </a:p>
                  </a:txBody>
                  <a:tcPr marL="95250" marR="95250" marT="95250" marB="95250" anchor="ctr"/>
                </a:tc>
                <a:tc>
                  <a:txBody>
                    <a:bodyPr/>
                    <a:lstStyle/>
                    <a:p>
                      <a:pPr algn="l"/>
                      <a:r>
                        <a:rPr lang="zh-CN" altLang="en-US" sz="1600" b="1">
                          <a:effectLst/>
                        </a:rPr>
                        <a:t>真实案例</a:t>
                      </a:r>
                    </a:p>
                  </a:txBody>
                  <a:tcPr marL="95250" marR="95250" marT="95250" marB="95250" anchor="ctr"/>
                </a:tc>
                <a:extLst>
                  <a:ext uri="{0D108BD9-81ED-4DB2-BD59-A6C34878D82A}">
                    <a16:rowId xmlns:a16="http://schemas.microsoft.com/office/drawing/2014/main" val="2156230043"/>
                  </a:ext>
                </a:extLst>
              </a:tr>
              <a:tr h="538458">
                <a:tc>
                  <a:txBody>
                    <a:bodyPr/>
                    <a:lstStyle/>
                    <a:p>
                      <a:r>
                        <a:rPr lang="zh-CN" altLang="en-US" sz="1600" b="1">
                          <a:effectLst/>
                        </a:rPr>
                        <a:t>文件窃取</a:t>
                      </a:r>
                      <a:endParaRPr lang="zh-CN" altLang="en-US" sz="1600">
                        <a:effectLst/>
                      </a:endParaRPr>
                    </a:p>
                  </a:txBody>
                  <a:tcPr marR="95250" marT="95250" marB="95250" anchor="ctr"/>
                </a:tc>
                <a:tc>
                  <a:txBody>
                    <a:bodyPr/>
                    <a:lstStyle/>
                    <a:p>
                      <a:r>
                        <a:rPr lang="zh-CN" altLang="en-US" sz="1600">
                          <a:effectLst/>
                        </a:rPr>
                        <a:t>监控并上传特定扩展名文件（</a:t>
                      </a:r>
                      <a:r>
                        <a:rPr lang="en-US" altLang="zh-CN" sz="1600">
                          <a:effectLst/>
                        </a:rPr>
                        <a:t>.docx, .pdf, .xlsx</a:t>
                      </a:r>
                      <a:r>
                        <a:rPr lang="zh-CN" altLang="en-US" sz="1600">
                          <a:effectLst/>
                        </a:rPr>
                        <a:t>）</a:t>
                      </a:r>
                    </a:p>
                  </a:txBody>
                  <a:tcPr marL="95250" marR="95250" marT="95250" marB="95250" anchor="ctr"/>
                </a:tc>
                <a:tc>
                  <a:txBody>
                    <a:bodyPr/>
                    <a:lstStyle/>
                    <a:p>
                      <a:r>
                        <a:rPr lang="en-US" sz="1600" b="1">
                          <a:effectLst/>
                        </a:rPr>
                        <a:t>APT10（Cloud Hopper）</a:t>
                      </a:r>
                      <a:endParaRPr lang="en-US" sz="1600">
                        <a:effectLst/>
                      </a:endParaRPr>
                    </a:p>
                  </a:txBody>
                  <a:tcPr marL="95250" marR="95250" marT="95250" marB="95250" anchor="ctr"/>
                </a:tc>
                <a:extLst>
                  <a:ext uri="{0D108BD9-81ED-4DB2-BD59-A6C34878D82A}">
                    <a16:rowId xmlns:a16="http://schemas.microsoft.com/office/drawing/2014/main" val="2536586075"/>
                  </a:ext>
                </a:extLst>
              </a:tr>
              <a:tr h="538458">
                <a:tc>
                  <a:txBody>
                    <a:bodyPr/>
                    <a:lstStyle/>
                    <a:p>
                      <a:r>
                        <a:rPr lang="zh-CN" altLang="en-US" sz="1600" b="1">
                          <a:effectLst/>
                        </a:rPr>
                        <a:t>屏幕截图</a:t>
                      </a:r>
                      <a:endParaRPr lang="zh-CN" altLang="en-US" sz="1600">
                        <a:effectLst/>
                      </a:endParaRPr>
                    </a:p>
                  </a:txBody>
                  <a:tcPr marR="95250" marT="95250" marB="95250" anchor="ctr"/>
                </a:tc>
                <a:tc>
                  <a:txBody>
                    <a:bodyPr/>
                    <a:lstStyle/>
                    <a:p>
                      <a:r>
                        <a:rPr lang="zh-CN" altLang="en-US" sz="1600">
                          <a:effectLst/>
                        </a:rPr>
                        <a:t>定时调用 </a:t>
                      </a:r>
                      <a:r>
                        <a:rPr lang="en-US" altLang="zh-CN" sz="1600">
                          <a:effectLst/>
                        </a:rPr>
                        <a:t>BitBlt API </a:t>
                      </a:r>
                      <a:r>
                        <a:rPr lang="zh-CN" altLang="en-US" sz="1600">
                          <a:effectLst/>
                        </a:rPr>
                        <a:t>捕获屏幕，回传敏感界面（如财务系统）</a:t>
                      </a:r>
                    </a:p>
                  </a:txBody>
                  <a:tcPr marL="95250" marR="95250" marT="95250" marB="95250" anchor="ctr"/>
                </a:tc>
                <a:tc>
                  <a:txBody>
                    <a:bodyPr/>
                    <a:lstStyle/>
                    <a:p>
                      <a:r>
                        <a:rPr lang="en-US" sz="1600" b="1">
                          <a:effectLst/>
                        </a:rPr>
                        <a:t>DarkComet</a:t>
                      </a:r>
                      <a:endParaRPr lang="en-US" sz="1600">
                        <a:effectLst/>
                      </a:endParaRPr>
                    </a:p>
                  </a:txBody>
                  <a:tcPr marL="95250" marR="95250" marT="95250" marB="95250" anchor="ctr"/>
                </a:tc>
                <a:extLst>
                  <a:ext uri="{0D108BD9-81ED-4DB2-BD59-A6C34878D82A}">
                    <a16:rowId xmlns:a16="http://schemas.microsoft.com/office/drawing/2014/main" val="1750579394"/>
                  </a:ext>
                </a:extLst>
              </a:tr>
              <a:tr h="538458">
                <a:tc>
                  <a:txBody>
                    <a:bodyPr/>
                    <a:lstStyle/>
                    <a:p>
                      <a:r>
                        <a:rPr lang="zh-CN" altLang="en-US" sz="1600" b="1">
                          <a:effectLst/>
                        </a:rPr>
                        <a:t>键盘记录</a:t>
                      </a:r>
                      <a:endParaRPr lang="zh-CN" altLang="en-US" sz="1600">
                        <a:effectLst/>
                      </a:endParaRPr>
                    </a:p>
                  </a:txBody>
                  <a:tcPr marR="95250" marT="95250" marB="95250" anchor="ctr"/>
                </a:tc>
                <a:tc>
                  <a:txBody>
                    <a:bodyPr/>
                    <a:lstStyle/>
                    <a:p>
                      <a:r>
                        <a:rPr lang="zh-CN" altLang="en-US" sz="1600">
                          <a:effectLst/>
                        </a:rPr>
                        <a:t>记录所有键盘输入（密码、聊天内容），存储到加密日志文件</a:t>
                      </a:r>
                    </a:p>
                  </a:txBody>
                  <a:tcPr marL="95250" marR="95250" marT="95250" marB="95250" anchor="ctr"/>
                </a:tc>
                <a:tc>
                  <a:txBody>
                    <a:bodyPr/>
                    <a:lstStyle/>
                    <a:p>
                      <a:r>
                        <a:rPr lang="en-US" sz="1600" b="1">
                          <a:effectLst/>
                        </a:rPr>
                        <a:t>Hawkeye</a:t>
                      </a:r>
                      <a:endParaRPr lang="en-US" sz="1600">
                        <a:effectLst/>
                      </a:endParaRPr>
                    </a:p>
                  </a:txBody>
                  <a:tcPr marL="95250" marR="95250" marT="95250" marB="95250" anchor="ctr"/>
                </a:tc>
                <a:extLst>
                  <a:ext uri="{0D108BD9-81ED-4DB2-BD59-A6C34878D82A}">
                    <a16:rowId xmlns:a16="http://schemas.microsoft.com/office/drawing/2014/main" val="2024565208"/>
                  </a:ext>
                </a:extLst>
              </a:tr>
              <a:tr h="538458">
                <a:tc>
                  <a:txBody>
                    <a:bodyPr/>
                    <a:lstStyle/>
                    <a:p>
                      <a:r>
                        <a:rPr lang="zh-CN" altLang="en-US" sz="1600" b="1">
                          <a:effectLst/>
                        </a:rPr>
                        <a:t>麦克风</a:t>
                      </a:r>
                      <a:r>
                        <a:rPr lang="en-US" altLang="zh-CN" sz="1600" b="1">
                          <a:effectLst/>
                        </a:rPr>
                        <a:t>/</a:t>
                      </a:r>
                      <a:r>
                        <a:rPr lang="zh-CN" altLang="en-US" sz="1600" b="1">
                          <a:effectLst/>
                        </a:rPr>
                        <a:t>摄像头</a:t>
                      </a:r>
                      <a:endParaRPr lang="zh-CN" altLang="en-US" sz="1600">
                        <a:effectLst/>
                      </a:endParaRPr>
                    </a:p>
                  </a:txBody>
                  <a:tcPr marR="95250" marT="95250" marB="95250" anchor="ctr"/>
                </a:tc>
                <a:tc>
                  <a:txBody>
                    <a:bodyPr/>
                    <a:lstStyle/>
                    <a:p>
                      <a:r>
                        <a:rPr lang="zh-CN" altLang="en-US" sz="1600">
                          <a:effectLst/>
                        </a:rPr>
                        <a:t>通过 </a:t>
                      </a:r>
                      <a:r>
                        <a:rPr lang="en-US" sz="1600">
                          <a:effectLst/>
                        </a:rPr>
                        <a:t>DirectShow（Windows）</a:t>
                      </a:r>
                      <a:r>
                        <a:rPr lang="zh-CN" altLang="en-US" sz="1600">
                          <a:effectLst/>
                        </a:rPr>
                        <a:t>或 </a:t>
                      </a:r>
                      <a:r>
                        <a:rPr lang="en-US" sz="1600">
                          <a:effectLst/>
                        </a:rPr>
                        <a:t>AVFoundation（macOS）</a:t>
                      </a:r>
                      <a:r>
                        <a:rPr lang="zh-CN" altLang="en-US" sz="1600">
                          <a:effectLst/>
                        </a:rPr>
                        <a:t>窃听环境音视频</a:t>
                      </a:r>
                    </a:p>
                  </a:txBody>
                  <a:tcPr marL="95250" marR="95250" marT="95250" marB="95250" anchor="ctr"/>
                </a:tc>
                <a:tc>
                  <a:txBody>
                    <a:bodyPr/>
                    <a:lstStyle/>
                    <a:p>
                      <a:r>
                        <a:rPr lang="en-US" sz="1600" b="1">
                          <a:effectLst/>
                        </a:rPr>
                        <a:t>Pegasus（NSO Group）</a:t>
                      </a:r>
                      <a:endParaRPr lang="en-US" sz="1600">
                        <a:effectLst/>
                      </a:endParaRPr>
                    </a:p>
                  </a:txBody>
                  <a:tcPr marL="95250" marR="95250" marT="95250" marB="95250" anchor="ctr"/>
                </a:tc>
                <a:extLst>
                  <a:ext uri="{0D108BD9-81ED-4DB2-BD59-A6C34878D82A}">
                    <a16:rowId xmlns:a16="http://schemas.microsoft.com/office/drawing/2014/main" val="2136579720"/>
                  </a:ext>
                </a:extLst>
              </a:tr>
              <a:tr h="538458">
                <a:tc>
                  <a:txBody>
                    <a:bodyPr/>
                    <a:lstStyle/>
                    <a:p>
                      <a:r>
                        <a:rPr lang="zh-CN" altLang="en-US" sz="1600" b="1">
                          <a:effectLst/>
                        </a:rPr>
                        <a:t>剪贴板监控</a:t>
                      </a:r>
                      <a:endParaRPr lang="zh-CN" altLang="en-US" sz="1600">
                        <a:effectLst/>
                      </a:endParaRPr>
                    </a:p>
                  </a:txBody>
                  <a:tcPr marR="95250" marT="95250" marB="95250" anchor="ctr"/>
                </a:tc>
                <a:tc>
                  <a:txBody>
                    <a:bodyPr/>
                    <a:lstStyle/>
                    <a:p>
                      <a:r>
                        <a:rPr lang="zh-CN" altLang="en-US" sz="1600">
                          <a:effectLst/>
                        </a:rPr>
                        <a:t>窃取复制的加密货币地址、密码（监听 </a:t>
                      </a:r>
                      <a:r>
                        <a:rPr lang="en-US" altLang="zh-CN" sz="1600">
                          <a:effectLst/>
                        </a:rPr>
                        <a:t>WM_CLIPBOARDUPDATE </a:t>
                      </a:r>
                      <a:r>
                        <a:rPr lang="zh-CN" altLang="en-US" sz="1600">
                          <a:effectLst/>
                        </a:rPr>
                        <a:t>事件）</a:t>
                      </a:r>
                    </a:p>
                  </a:txBody>
                  <a:tcPr marL="95250" marR="95250" marT="95250" marB="95250" anchor="ctr"/>
                </a:tc>
                <a:tc>
                  <a:txBody>
                    <a:bodyPr/>
                    <a:lstStyle/>
                    <a:p>
                      <a:r>
                        <a:rPr lang="en-US" sz="1600" b="1">
                          <a:effectLst/>
                        </a:rPr>
                        <a:t>Clipper Malware</a:t>
                      </a:r>
                      <a:endParaRPr lang="en-US" sz="1600">
                        <a:effectLst/>
                      </a:endParaRPr>
                    </a:p>
                  </a:txBody>
                  <a:tcPr marL="95250" marR="95250" marT="95250" marB="95250" anchor="ctr"/>
                </a:tc>
                <a:extLst>
                  <a:ext uri="{0D108BD9-81ED-4DB2-BD59-A6C34878D82A}">
                    <a16:rowId xmlns:a16="http://schemas.microsoft.com/office/drawing/2014/main" val="4065929188"/>
                  </a:ext>
                </a:extLst>
              </a:tr>
              <a:tr h="538458">
                <a:tc>
                  <a:txBody>
                    <a:bodyPr/>
                    <a:lstStyle/>
                    <a:p>
                      <a:r>
                        <a:rPr lang="zh-CN" altLang="en-US" sz="1600" b="1">
                          <a:effectLst/>
                        </a:rPr>
                        <a:t>云同步窃取</a:t>
                      </a:r>
                      <a:endParaRPr lang="zh-CN" altLang="en-US" sz="1600">
                        <a:effectLst/>
                      </a:endParaRPr>
                    </a:p>
                  </a:txBody>
                  <a:tcPr marR="95250" marT="95250" marB="95250" anchor="ctr"/>
                </a:tc>
                <a:tc>
                  <a:txBody>
                    <a:bodyPr/>
                    <a:lstStyle/>
                    <a:p>
                      <a:r>
                        <a:rPr lang="zh-CN" altLang="en-US" sz="1600">
                          <a:effectLst/>
                        </a:rPr>
                        <a:t>提取</a:t>
                      </a:r>
                      <a:r>
                        <a:rPr lang="en-US" sz="1600">
                          <a:effectLst/>
                        </a:rPr>
                        <a:t>Dropbox、Google Drive</a:t>
                      </a:r>
                      <a:r>
                        <a:rPr lang="zh-CN" altLang="en-US" sz="1600">
                          <a:effectLst/>
                        </a:rPr>
                        <a:t>等云存储的访问令牌</a:t>
                      </a:r>
                    </a:p>
                  </a:txBody>
                  <a:tcPr marL="95250" marR="95250" marT="95250" marB="95250" anchor="ctr"/>
                </a:tc>
                <a:tc>
                  <a:txBody>
                    <a:bodyPr/>
                    <a:lstStyle/>
                    <a:p>
                      <a:r>
                        <a:rPr lang="en-US" sz="1600" b="1" dirty="0">
                          <a:effectLst/>
                        </a:rPr>
                        <a:t>APT29</a:t>
                      </a:r>
                      <a:endParaRPr lang="en-US" sz="1600" dirty="0">
                        <a:effectLst/>
                      </a:endParaRPr>
                    </a:p>
                  </a:txBody>
                  <a:tcPr marL="95250" marR="95250" marT="95250" marB="95250" anchor="ctr"/>
                </a:tc>
                <a:extLst>
                  <a:ext uri="{0D108BD9-81ED-4DB2-BD59-A6C34878D82A}">
                    <a16:rowId xmlns:a16="http://schemas.microsoft.com/office/drawing/2014/main" val="1955042019"/>
                  </a:ext>
                </a:extLst>
              </a:tr>
            </a:tbl>
          </a:graphicData>
        </a:graphic>
      </p:graphicFrame>
    </p:spTree>
    <p:extLst>
      <p:ext uri="{BB962C8B-B14F-4D97-AF65-F5344CB8AC3E}">
        <p14:creationId xmlns:p14="http://schemas.microsoft.com/office/powerpoint/2010/main" val="28440818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10.8.3 </a:t>
            </a:r>
            <a:r>
              <a:rPr kumimoji="1" lang="zh-CN" altLang="zh-CN" dirty="0">
                <a:solidFill>
                  <a:prstClr val="black"/>
                </a:solidFill>
              </a:rPr>
              <a:t>侦察和间谍</a:t>
            </a:r>
            <a:endParaRPr lang="zh-CN" altLang="en-US" dirty="0"/>
          </a:p>
        </p:txBody>
      </p:sp>
      <p:sp>
        <p:nvSpPr>
          <p:cNvPr id="3" name="内容占位符 2"/>
          <p:cNvSpPr>
            <a:spLocks noGrp="1"/>
          </p:cNvSpPr>
          <p:nvPr>
            <p:ph idx="1"/>
          </p:nvPr>
        </p:nvSpPr>
        <p:spPr>
          <a:xfrm>
            <a:off x="838200" y="1304781"/>
            <a:ext cx="10515600" cy="4586694"/>
          </a:xfrm>
        </p:spPr>
        <p:txBody>
          <a:bodyPr>
            <a:normAutofit/>
          </a:bodyPr>
          <a:lstStyle/>
          <a:p>
            <a:r>
              <a:rPr lang="en-US" altLang="zh-CN" b="1" dirty="0">
                <a:solidFill>
                  <a:srgbClr val="C00000"/>
                </a:solidFill>
              </a:rPr>
              <a:t>2. </a:t>
            </a:r>
            <a:r>
              <a:rPr lang="zh-CN" altLang="en-US" b="1" dirty="0">
                <a:solidFill>
                  <a:srgbClr val="C00000"/>
                </a:solidFill>
              </a:rPr>
              <a:t>间谍（</a:t>
            </a:r>
            <a:r>
              <a:rPr lang="en-US" altLang="zh-CN" b="1" dirty="0">
                <a:solidFill>
                  <a:srgbClr val="C00000"/>
                </a:solidFill>
              </a:rPr>
              <a:t>Espionage</a:t>
            </a:r>
            <a:r>
              <a:rPr lang="zh-CN" altLang="en-US" b="1" dirty="0">
                <a:solidFill>
                  <a:srgbClr val="C00000"/>
                </a:solidFill>
              </a:rPr>
              <a:t>）</a:t>
            </a:r>
          </a:p>
          <a:p>
            <a:pPr lvl="1"/>
            <a:r>
              <a:rPr lang="zh-CN" altLang="en-US" b="1" dirty="0"/>
              <a:t>（</a:t>
            </a:r>
            <a:r>
              <a:rPr lang="en-US" altLang="zh-CN" b="1" dirty="0"/>
              <a:t>2</a:t>
            </a:r>
            <a:r>
              <a:rPr lang="zh-CN" altLang="en-US" b="1" dirty="0"/>
              <a:t>）高级间谍软件特征</a:t>
            </a:r>
          </a:p>
          <a:p>
            <a:pPr lvl="2"/>
            <a:r>
              <a:rPr lang="zh-CN" altLang="en-US" sz="2400" b="1" dirty="0"/>
              <a:t>无文件攻击</a:t>
            </a:r>
            <a:r>
              <a:rPr lang="zh-CN" altLang="en-US" sz="2400" dirty="0"/>
              <a:t>：</a:t>
            </a:r>
          </a:p>
          <a:p>
            <a:pPr lvl="3"/>
            <a:r>
              <a:rPr lang="zh-CN" altLang="en-US" sz="2200" dirty="0"/>
              <a:t>恶意代码仅驻留内存（如 </a:t>
            </a:r>
            <a:r>
              <a:rPr lang="en-US" altLang="zh-CN" sz="2200" dirty="0"/>
              <a:t>PowerShell Empire</a:t>
            </a:r>
            <a:r>
              <a:rPr lang="zh-CN" altLang="en-US" sz="2200" dirty="0"/>
              <a:t>），避免写入磁盘。</a:t>
            </a:r>
          </a:p>
          <a:p>
            <a:pPr lvl="2"/>
            <a:r>
              <a:rPr lang="zh-CN" altLang="en-US" sz="2400" b="1" dirty="0"/>
              <a:t>零日漏洞利用</a:t>
            </a:r>
            <a:r>
              <a:rPr lang="zh-CN" altLang="en-US" sz="2400" dirty="0"/>
              <a:t>：</a:t>
            </a:r>
          </a:p>
          <a:p>
            <a:pPr lvl="3"/>
            <a:r>
              <a:rPr lang="zh-CN" altLang="en-US" sz="2200" dirty="0"/>
              <a:t>使用未公开漏洞（如 </a:t>
            </a:r>
            <a:r>
              <a:rPr lang="en-US" altLang="zh-CN" sz="2200" dirty="0" err="1"/>
              <a:t>ProxyLogon</a:t>
            </a:r>
            <a:r>
              <a:rPr lang="zh-CN" altLang="en-US" sz="2200" dirty="0"/>
              <a:t>）绕过防御。</a:t>
            </a:r>
          </a:p>
          <a:p>
            <a:pPr lvl="2"/>
            <a:r>
              <a:rPr lang="zh-CN" altLang="en-US" sz="2400" b="1" dirty="0"/>
              <a:t>合法工具滥用</a:t>
            </a:r>
            <a:r>
              <a:rPr lang="zh-CN" altLang="en-US" sz="2400" dirty="0"/>
              <a:t>：</a:t>
            </a:r>
          </a:p>
          <a:p>
            <a:pPr lvl="3"/>
            <a:r>
              <a:rPr lang="zh-CN" altLang="en-US" sz="2200" dirty="0"/>
              <a:t>利用 </a:t>
            </a:r>
            <a:r>
              <a:rPr lang="en-US" altLang="zh-CN" sz="2200" dirty="0" err="1"/>
              <a:t>Rclone</a:t>
            </a:r>
            <a:r>
              <a:rPr lang="zh-CN" altLang="en-US" sz="2200" dirty="0"/>
              <a:t>、</a:t>
            </a:r>
            <a:r>
              <a:rPr lang="en-US" altLang="zh-CN" sz="2200" dirty="0"/>
              <a:t>7-Zip </a:t>
            </a:r>
            <a:r>
              <a:rPr lang="zh-CN" altLang="en-US" sz="2200" dirty="0"/>
              <a:t>等正常软件外传数据，逃避检测。</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98</a:t>
            </a:fld>
            <a:endParaRPr kumimoji="1" lang="zh-CN" altLang="en-US" dirty="0"/>
          </a:p>
        </p:txBody>
      </p:sp>
    </p:spTree>
    <p:extLst>
      <p:ext uri="{BB962C8B-B14F-4D97-AF65-F5344CB8AC3E}">
        <p14:creationId xmlns:p14="http://schemas.microsoft.com/office/powerpoint/2010/main" val="26489513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10.8.3 </a:t>
            </a:r>
            <a:r>
              <a:rPr kumimoji="1" lang="zh-CN" altLang="zh-CN" dirty="0">
                <a:solidFill>
                  <a:prstClr val="black"/>
                </a:solidFill>
              </a:rPr>
              <a:t>侦察和间谍</a:t>
            </a:r>
            <a:endParaRPr lang="zh-CN" altLang="en-US" dirty="0"/>
          </a:p>
        </p:txBody>
      </p:sp>
      <p:sp>
        <p:nvSpPr>
          <p:cNvPr id="3" name="内容占位符 2"/>
          <p:cNvSpPr>
            <a:spLocks noGrp="1"/>
          </p:cNvSpPr>
          <p:nvPr>
            <p:ph idx="1"/>
          </p:nvPr>
        </p:nvSpPr>
        <p:spPr>
          <a:xfrm>
            <a:off x="838200" y="1304781"/>
            <a:ext cx="10515600" cy="4586694"/>
          </a:xfrm>
        </p:spPr>
        <p:txBody>
          <a:bodyPr>
            <a:normAutofit/>
          </a:bodyPr>
          <a:lstStyle/>
          <a:p>
            <a:r>
              <a:rPr lang="en-US" altLang="zh-CN" b="1" dirty="0">
                <a:solidFill>
                  <a:srgbClr val="C00000"/>
                </a:solidFill>
              </a:rPr>
              <a:t>2. </a:t>
            </a:r>
            <a:r>
              <a:rPr lang="zh-CN" altLang="en-US" b="1" dirty="0">
                <a:solidFill>
                  <a:srgbClr val="C00000"/>
                </a:solidFill>
              </a:rPr>
              <a:t>间谍（</a:t>
            </a:r>
            <a:r>
              <a:rPr lang="en-US" altLang="zh-CN" b="1" dirty="0">
                <a:solidFill>
                  <a:srgbClr val="C00000"/>
                </a:solidFill>
              </a:rPr>
              <a:t>Espionage</a:t>
            </a:r>
            <a:r>
              <a:rPr lang="zh-CN" altLang="en-US" b="1" dirty="0">
                <a:solidFill>
                  <a:srgbClr val="C00000"/>
                </a:solidFill>
              </a:rPr>
              <a:t>）</a:t>
            </a:r>
          </a:p>
          <a:p>
            <a:pPr lvl="1"/>
            <a:r>
              <a:rPr lang="zh-CN" altLang="en-US" b="1" dirty="0"/>
              <a:t>（</a:t>
            </a:r>
            <a:r>
              <a:rPr lang="en-US" altLang="zh-CN" b="1" dirty="0"/>
              <a:t>3</a:t>
            </a:r>
            <a:r>
              <a:rPr lang="zh-CN" altLang="en-US" b="1" dirty="0"/>
              <a:t>）防御措施</a:t>
            </a:r>
          </a:p>
          <a:p>
            <a:pPr lvl="2"/>
            <a:r>
              <a:rPr lang="zh-CN" altLang="en-US" sz="2400" b="1" dirty="0"/>
              <a:t>数据分类与加密：</a:t>
            </a:r>
          </a:p>
          <a:p>
            <a:pPr lvl="3"/>
            <a:r>
              <a:rPr lang="zh-CN" altLang="en-US" sz="2400" dirty="0"/>
              <a:t>对敏感文件使用 </a:t>
            </a:r>
            <a:r>
              <a:rPr lang="en-US" altLang="zh-CN" sz="2400" dirty="0"/>
              <a:t>BitLocker </a:t>
            </a:r>
            <a:r>
              <a:rPr lang="zh-CN" altLang="en-US" sz="2400" dirty="0"/>
              <a:t>或 </a:t>
            </a:r>
            <a:r>
              <a:rPr lang="en-US" altLang="zh-CN" sz="2400" dirty="0" err="1"/>
              <a:t>VeraCrypt</a:t>
            </a:r>
            <a:r>
              <a:rPr lang="en-US" altLang="zh-CN" sz="2400" dirty="0"/>
              <a:t> </a:t>
            </a:r>
            <a:r>
              <a:rPr lang="zh-CN" altLang="en-US" sz="2400" dirty="0"/>
              <a:t>加密。</a:t>
            </a:r>
          </a:p>
          <a:p>
            <a:pPr lvl="3"/>
            <a:r>
              <a:rPr lang="zh-CN" altLang="en-US" sz="2400" dirty="0"/>
              <a:t>标记高价值数据（如 </a:t>
            </a:r>
            <a:r>
              <a:rPr lang="en-US" altLang="zh-CN" sz="2400" dirty="0"/>
              <a:t>//CONFIDENTIAL</a:t>
            </a:r>
            <a:r>
              <a:rPr lang="zh-CN" altLang="en-US" sz="2400" dirty="0"/>
              <a:t>），触发</a:t>
            </a:r>
            <a:r>
              <a:rPr lang="en-US" altLang="zh-CN" sz="2400" dirty="0"/>
              <a:t>DLP</a:t>
            </a:r>
            <a:r>
              <a:rPr lang="zh-CN" altLang="en-US" sz="2400" dirty="0"/>
              <a:t>（数据防泄露）警报。</a:t>
            </a:r>
          </a:p>
          <a:p>
            <a:pPr lvl="2"/>
            <a:r>
              <a:rPr lang="zh-CN" altLang="en-US" sz="2400" b="1" dirty="0"/>
              <a:t>端点检测与响应（</a:t>
            </a:r>
            <a:r>
              <a:rPr lang="en-US" altLang="zh-CN" sz="2400" b="1" dirty="0"/>
              <a:t>EDR</a:t>
            </a:r>
            <a:r>
              <a:rPr lang="zh-CN" altLang="en-US" sz="2400" b="1" dirty="0"/>
              <a:t>）：</a:t>
            </a:r>
          </a:p>
          <a:p>
            <a:pPr lvl="3"/>
            <a:r>
              <a:rPr lang="zh-CN" altLang="en-US" sz="2400" dirty="0"/>
              <a:t>监控异常进程（如 </a:t>
            </a:r>
            <a:r>
              <a:rPr lang="en-US" altLang="zh-CN" sz="2400" dirty="0"/>
              <a:t>powershell.exe </a:t>
            </a:r>
            <a:r>
              <a:rPr lang="zh-CN" altLang="en-US" sz="2400" dirty="0"/>
              <a:t>连接外部</a:t>
            </a:r>
            <a:r>
              <a:rPr lang="en-US" altLang="zh-CN" sz="2400" dirty="0"/>
              <a:t>IP</a:t>
            </a:r>
            <a:r>
              <a:rPr lang="zh-CN" altLang="en-US" sz="2400" dirty="0"/>
              <a:t>）。</a:t>
            </a:r>
          </a:p>
          <a:p>
            <a:pPr lvl="2"/>
            <a:r>
              <a:rPr lang="zh-CN" altLang="en-US" sz="2400" b="1" dirty="0"/>
              <a:t>物理隔离：</a:t>
            </a:r>
          </a:p>
          <a:p>
            <a:pPr lvl="3"/>
            <a:r>
              <a:rPr lang="zh-CN" altLang="en-US" sz="2400" dirty="0"/>
              <a:t>关键系统禁用</a:t>
            </a:r>
            <a:r>
              <a:rPr lang="en-US" altLang="zh-CN" sz="2400" dirty="0"/>
              <a:t>USB</a:t>
            </a:r>
            <a:r>
              <a:rPr lang="zh-CN" altLang="en-US" sz="2400" dirty="0"/>
              <a:t>、摄像头（如 气隙网络</a:t>
            </a:r>
            <a:r>
              <a:rPr lang="en-US" altLang="zh-CN" sz="2400" dirty="0"/>
              <a:t>, Air-Gapped</a:t>
            </a:r>
            <a:r>
              <a:rPr lang="zh-CN" altLang="en-US" sz="2400" dirty="0"/>
              <a:t>）。</a:t>
            </a:r>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99</a:t>
            </a:fld>
            <a:endParaRPr kumimoji="1" lang="zh-CN" altLang="en-US" dirty="0"/>
          </a:p>
        </p:txBody>
      </p:sp>
    </p:spTree>
    <p:extLst>
      <p:ext uri="{BB962C8B-B14F-4D97-AF65-F5344CB8AC3E}">
        <p14:creationId xmlns:p14="http://schemas.microsoft.com/office/powerpoint/2010/main" val="20169388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solidFill>
                  <a:srgbClr val="C00000"/>
                </a:solidFill>
              </a:rPr>
              <a:t>10.9 </a:t>
            </a:r>
            <a:r>
              <a:rPr kumimoji="1" lang="zh-CN" altLang="zh-CN" sz="3000" dirty="0">
                <a:solidFill>
                  <a:srgbClr val="C00000"/>
                </a:solidFill>
              </a:rPr>
              <a:t>载荷</a:t>
            </a:r>
            <a:r>
              <a:rPr kumimoji="1" lang="en-US" altLang="zh-CN" sz="3000" dirty="0">
                <a:solidFill>
                  <a:srgbClr val="C00000"/>
                </a:solidFill>
              </a:rPr>
              <a:t>-</a:t>
            </a:r>
            <a:r>
              <a:rPr kumimoji="1" lang="zh-CN" altLang="zh-CN" sz="3000" dirty="0">
                <a:solidFill>
                  <a:srgbClr val="C00000"/>
                </a:solidFill>
              </a:rPr>
              <a:t>隐身</a:t>
            </a:r>
            <a:r>
              <a:rPr kumimoji="1" lang="en-US" altLang="zh-CN" sz="3000" dirty="0">
                <a:solidFill>
                  <a:srgbClr val="C00000"/>
                </a:solidFill>
              </a:rPr>
              <a:t>-</a:t>
            </a:r>
            <a:r>
              <a:rPr kumimoji="1" lang="zh-CN" altLang="zh-CN" sz="3000" dirty="0">
                <a:solidFill>
                  <a:srgbClr val="C00000"/>
                </a:solidFill>
              </a:rPr>
              <a:t>后门与隐匿程序</a:t>
            </a:r>
            <a:endParaRPr kumimoji="1" lang="en-US" altLang="zh-CN" sz="3000" dirty="0">
              <a:solidFill>
                <a:srgbClr val="C00000"/>
              </a:solidFill>
            </a:endParaRPr>
          </a:p>
          <a:p>
            <a:pPr>
              <a:lnSpc>
                <a:spcPct val="150000"/>
              </a:lnSpc>
              <a:buNone/>
            </a:pPr>
            <a:r>
              <a:rPr kumimoji="1" lang="en-US" altLang="zh-CN" sz="3100" dirty="0"/>
              <a:t>10.10 </a:t>
            </a:r>
            <a:r>
              <a:rPr kumimoji="1" lang="zh-CN" altLang="zh-CN" sz="3100" dirty="0"/>
              <a:t>防护措施</a:t>
            </a:r>
            <a:endParaRPr kumimoji="1" lang="en-US" altLang="zh-CN" sz="3100" dirty="0"/>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968343" y="4643252"/>
            <a:ext cx="3433948" cy="1626918"/>
          </a:xfrm>
          <a:prstGeom prst="wedgeRectCallout">
            <a:avLst>
              <a:gd name="adj1" fmla="val -133201"/>
              <a:gd name="adj2" fmla="val -739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后门</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隐匿程序</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1563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10.9 </a:t>
            </a:r>
            <a:r>
              <a:rPr lang="zh-CN" altLang="zh-CN" dirty="0"/>
              <a:t>载荷</a:t>
            </a:r>
            <a:r>
              <a:rPr lang="en-US" altLang="zh-CN" dirty="0"/>
              <a:t>-</a:t>
            </a:r>
            <a:r>
              <a:rPr lang="zh-CN" altLang="zh-CN" dirty="0"/>
              <a:t>隐身</a:t>
            </a:r>
            <a:r>
              <a:rPr lang="en-US" altLang="zh-CN" dirty="0"/>
              <a:t>-</a:t>
            </a:r>
            <a:r>
              <a:rPr lang="zh-CN" altLang="zh-CN" dirty="0"/>
              <a:t>后门与隐匿程序</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恶意软件为了长期潜伏在受害系统中，通常会采用</a:t>
            </a:r>
            <a:r>
              <a:rPr lang="zh-CN" altLang="en-US" b="1" dirty="0"/>
              <a:t>后门（</a:t>
            </a:r>
            <a:r>
              <a:rPr lang="en-US" altLang="zh-CN" b="1" dirty="0"/>
              <a:t>Backdoor</a:t>
            </a:r>
            <a:r>
              <a:rPr lang="zh-CN" altLang="en-US" b="1" dirty="0"/>
              <a:t>）</a:t>
            </a:r>
            <a:r>
              <a:rPr lang="zh-CN" altLang="en-US" dirty="0"/>
              <a:t>和</a:t>
            </a:r>
            <a:r>
              <a:rPr lang="zh-CN" altLang="en-US" b="1" dirty="0"/>
              <a:t>隐匿程序（</a:t>
            </a:r>
            <a:r>
              <a:rPr lang="en-US" altLang="zh-CN" b="1" dirty="0"/>
              <a:t>Rootkit/</a:t>
            </a:r>
            <a:r>
              <a:rPr lang="en-US" altLang="zh-CN" b="1" dirty="0" err="1"/>
              <a:t>Stealthware</a:t>
            </a:r>
            <a:r>
              <a:rPr lang="zh-CN" altLang="en-US" b="1" dirty="0"/>
              <a:t>）</a:t>
            </a:r>
            <a:r>
              <a:rPr lang="zh-CN" altLang="en-US" dirty="0"/>
              <a:t>技术，确保自身不被安全软件或管理员发现。这些技术使攻击者能持久控制设备，进行数据窃取、横向移动或其他恶意活动。</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101</a:t>
            </a:fld>
            <a:endParaRPr kumimoji="1" lang="zh-CN" altLang="en-US" dirty="0"/>
          </a:p>
        </p:txBody>
      </p:sp>
    </p:spTree>
    <p:extLst>
      <p:ext uri="{BB962C8B-B14F-4D97-AF65-F5344CB8AC3E}">
        <p14:creationId xmlns:p14="http://schemas.microsoft.com/office/powerpoint/2010/main" val="15632532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10.9.1 </a:t>
            </a:r>
            <a:r>
              <a:rPr kumimoji="1" lang="zh-CN" altLang="zh-CN" dirty="0">
                <a:solidFill>
                  <a:prstClr val="black"/>
                </a:solidFill>
              </a:rPr>
              <a:t>后门</a:t>
            </a:r>
            <a:endParaRPr lang="zh-CN" altLang="en-US" dirty="0"/>
          </a:p>
        </p:txBody>
      </p:sp>
      <p:sp>
        <p:nvSpPr>
          <p:cNvPr id="3" name="内容占位符 2"/>
          <p:cNvSpPr>
            <a:spLocks noGrp="1"/>
          </p:cNvSpPr>
          <p:nvPr>
            <p:ph idx="1"/>
          </p:nvPr>
        </p:nvSpPr>
        <p:spPr>
          <a:xfrm>
            <a:off x="838200" y="1389413"/>
            <a:ext cx="10515600" cy="4708039"/>
          </a:xfrm>
        </p:spPr>
        <p:txBody>
          <a:bodyPr>
            <a:normAutofit/>
          </a:bodyPr>
          <a:lstStyle/>
          <a:p>
            <a:r>
              <a:rPr lang="zh-CN" altLang="en-US" dirty="0"/>
              <a:t>后门是一种</a:t>
            </a:r>
            <a:r>
              <a:rPr lang="zh-CN" altLang="en-US" b="1" dirty="0"/>
              <a:t>隐蔽的远程访问通道</a:t>
            </a:r>
            <a:r>
              <a:rPr lang="zh-CN" altLang="en-US" dirty="0"/>
              <a:t>，允许攻击者绕过正常认证机制，随时控制受感染设备。</a:t>
            </a:r>
          </a:p>
          <a:p>
            <a:r>
              <a:rPr lang="zh-CN" altLang="en-US" b="1" dirty="0">
                <a:solidFill>
                  <a:srgbClr val="C00000"/>
                </a:solidFill>
              </a:rPr>
              <a:t>（</a:t>
            </a:r>
            <a:r>
              <a:rPr lang="en-US" altLang="zh-CN" b="1" dirty="0">
                <a:solidFill>
                  <a:srgbClr val="C00000"/>
                </a:solidFill>
              </a:rPr>
              <a:t>1</a:t>
            </a:r>
            <a:r>
              <a:rPr lang="zh-CN" altLang="en-US" b="1" dirty="0">
                <a:solidFill>
                  <a:srgbClr val="C00000"/>
                </a:solidFill>
              </a:rPr>
              <a:t>）后门的主要功能</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102</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938812663"/>
              </p:ext>
            </p:extLst>
          </p:nvPr>
        </p:nvGraphicFramePr>
        <p:xfrm>
          <a:off x="838200" y="2964104"/>
          <a:ext cx="10336482" cy="3401014"/>
        </p:xfrm>
        <a:graphic>
          <a:graphicData uri="http://schemas.openxmlformats.org/drawingml/2006/table">
            <a:tbl>
              <a:tblPr firstRow="1" bandRow="1">
                <a:tableStyleId>{5C22544A-7EE6-4342-B048-85BDC9FD1C3A}</a:tableStyleId>
              </a:tblPr>
              <a:tblGrid>
                <a:gridCol w="1619992">
                  <a:extLst>
                    <a:ext uri="{9D8B030D-6E8A-4147-A177-3AD203B41FA5}">
                      <a16:colId xmlns:a16="http://schemas.microsoft.com/office/drawing/2014/main" val="1587799583"/>
                    </a:ext>
                  </a:extLst>
                </a:gridCol>
                <a:gridCol w="5807034">
                  <a:extLst>
                    <a:ext uri="{9D8B030D-6E8A-4147-A177-3AD203B41FA5}">
                      <a16:colId xmlns:a16="http://schemas.microsoft.com/office/drawing/2014/main" val="1778211471"/>
                    </a:ext>
                  </a:extLst>
                </a:gridCol>
                <a:gridCol w="2909456">
                  <a:extLst>
                    <a:ext uri="{9D8B030D-6E8A-4147-A177-3AD203B41FA5}">
                      <a16:colId xmlns:a16="http://schemas.microsoft.com/office/drawing/2014/main" val="423183361"/>
                    </a:ext>
                  </a:extLst>
                </a:gridCol>
              </a:tblGrid>
              <a:tr h="556400">
                <a:tc>
                  <a:txBody>
                    <a:bodyPr/>
                    <a:lstStyle/>
                    <a:p>
                      <a:pPr algn="l"/>
                      <a:r>
                        <a:rPr lang="zh-CN" altLang="en-US" b="1">
                          <a:effectLst/>
                        </a:rPr>
                        <a:t>功能</a:t>
                      </a:r>
                    </a:p>
                  </a:txBody>
                  <a:tcPr marR="95250" marT="95250" marB="95250" anchor="ctr"/>
                </a:tc>
                <a:tc>
                  <a:txBody>
                    <a:bodyPr/>
                    <a:lstStyle/>
                    <a:p>
                      <a:pPr algn="l"/>
                      <a:r>
                        <a:rPr lang="zh-CN" altLang="en-US" b="1">
                          <a:effectLst/>
                        </a:rPr>
                        <a:t>技术实现</a:t>
                      </a:r>
                    </a:p>
                  </a:txBody>
                  <a:tcPr marL="95250" marR="95250" marT="95250" marB="95250" anchor="ctr"/>
                </a:tc>
                <a:tc>
                  <a:txBody>
                    <a:bodyPr/>
                    <a:lstStyle/>
                    <a:p>
                      <a:pPr algn="l"/>
                      <a:r>
                        <a:rPr lang="zh-CN" altLang="en-US" b="1">
                          <a:effectLst/>
                        </a:rPr>
                        <a:t>示例</a:t>
                      </a:r>
                    </a:p>
                  </a:txBody>
                  <a:tcPr marL="95250" marR="95250" marT="95250" marB="95250" anchor="ctr"/>
                </a:tc>
                <a:extLst>
                  <a:ext uri="{0D108BD9-81ED-4DB2-BD59-A6C34878D82A}">
                    <a16:rowId xmlns:a16="http://schemas.microsoft.com/office/drawing/2014/main" val="207313459"/>
                  </a:ext>
                </a:extLst>
              </a:tr>
              <a:tr h="698318">
                <a:tc>
                  <a:txBody>
                    <a:bodyPr/>
                    <a:lstStyle/>
                    <a:p>
                      <a:r>
                        <a:rPr lang="zh-CN" altLang="en-US" b="1">
                          <a:effectLst/>
                        </a:rPr>
                        <a:t>远程</a:t>
                      </a:r>
                      <a:r>
                        <a:rPr lang="en-US" b="1">
                          <a:effectLst/>
                        </a:rPr>
                        <a:t>Shell</a:t>
                      </a:r>
                      <a:r>
                        <a:rPr lang="zh-CN" altLang="en-US" b="1">
                          <a:effectLst/>
                        </a:rPr>
                        <a:t>访问</a:t>
                      </a:r>
                      <a:endParaRPr lang="zh-CN" altLang="en-US">
                        <a:effectLst/>
                      </a:endParaRPr>
                    </a:p>
                  </a:txBody>
                  <a:tcPr marR="95250" marT="95250" marB="95250" anchor="ctr"/>
                </a:tc>
                <a:tc>
                  <a:txBody>
                    <a:bodyPr/>
                    <a:lstStyle/>
                    <a:p>
                      <a:r>
                        <a:rPr lang="zh-CN" altLang="en-US">
                          <a:effectLst/>
                        </a:rPr>
                        <a:t>绑定</a:t>
                      </a:r>
                      <a:r>
                        <a:rPr lang="en-US">
                          <a:effectLst/>
                        </a:rPr>
                        <a:t>CMD/PowerShell</a:t>
                      </a:r>
                      <a:r>
                        <a:rPr lang="zh-CN" altLang="en-US">
                          <a:effectLst/>
                        </a:rPr>
                        <a:t>到指定端口，允许攻击者执行任意命令</a:t>
                      </a:r>
                    </a:p>
                  </a:txBody>
                  <a:tcPr marL="95250" marR="95250" marT="95250" marB="95250" anchor="ctr"/>
                </a:tc>
                <a:tc>
                  <a:txBody>
                    <a:bodyPr/>
                    <a:lstStyle/>
                    <a:p>
                      <a:r>
                        <a:rPr lang="en-US" b="1">
                          <a:effectLst/>
                        </a:rPr>
                        <a:t>Netcat</a:t>
                      </a:r>
                      <a:r>
                        <a:rPr lang="en-US">
                          <a:effectLst/>
                        </a:rPr>
                        <a:t>、</a:t>
                      </a:r>
                      <a:r>
                        <a:rPr lang="en-US" b="1">
                          <a:effectLst/>
                        </a:rPr>
                        <a:t>Cobalt Strike</a:t>
                      </a:r>
                      <a:endParaRPr lang="en-US">
                        <a:effectLst/>
                      </a:endParaRPr>
                    </a:p>
                  </a:txBody>
                  <a:tcPr marL="95250" marR="95250" marT="95250" marB="95250" anchor="ctr"/>
                </a:tc>
                <a:extLst>
                  <a:ext uri="{0D108BD9-81ED-4DB2-BD59-A6C34878D82A}">
                    <a16:rowId xmlns:a16="http://schemas.microsoft.com/office/drawing/2014/main" val="4084672118"/>
                  </a:ext>
                </a:extLst>
              </a:tr>
              <a:tr h="698318">
                <a:tc>
                  <a:txBody>
                    <a:bodyPr/>
                    <a:lstStyle/>
                    <a:p>
                      <a:r>
                        <a:rPr lang="zh-CN" altLang="en-US" b="1">
                          <a:effectLst/>
                        </a:rPr>
                        <a:t>文件传输</a:t>
                      </a:r>
                      <a:endParaRPr lang="zh-CN" altLang="en-US">
                        <a:effectLst/>
                      </a:endParaRPr>
                    </a:p>
                  </a:txBody>
                  <a:tcPr marR="95250" marT="95250" marB="95250" anchor="ctr"/>
                </a:tc>
                <a:tc>
                  <a:txBody>
                    <a:bodyPr/>
                    <a:lstStyle/>
                    <a:p>
                      <a:r>
                        <a:rPr lang="zh-CN" altLang="en-US">
                          <a:effectLst/>
                        </a:rPr>
                        <a:t>通过</a:t>
                      </a:r>
                      <a:r>
                        <a:rPr lang="en-US" altLang="zh-CN">
                          <a:effectLst/>
                        </a:rPr>
                        <a:t>HTTP/FTP/TCP</a:t>
                      </a:r>
                      <a:r>
                        <a:rPr lang="zh-CN" altLang="en-US">
                          <a:effectLst/>
                        </a:rPr>
                        <a:t>上传或下载文件</a:t>
                      </a:r>
                    </a:p>
                  </a:txBody>
                  <a:tcPr marL="95250" marR="95250" marT="95250" marB="95250" anchor="ctr"/>
                </a:tc>
                <a:tc>
                  <a:txBody>
                    <a:bodyPr/>
                    <a:lstStyle/>
                    <a:p>
                      <a:r>
                        <a:rPr lang="en-US" b="1">
                          <a:effectLst/>
                        </a:rPr>
                        <a:t>Metasploit</a:t>
                      </a:r>
                      <a:r>
                        <a:rPr lang="zh-CN" altLang="en-US">
                          <a:effectLst/>
                        </a:rPr>
                        <a:t>的</a:t>
                      </a:r>
                      <a:r>
                        <a:rPr lang="en-US">
                          <a:effectLst/>
                        </a:rPr>
                        <a:t>upload/download</a:t>
                      </a:r>
                    </a:p>
                  </a:txBody>
                  <a:tcPr marL="95250" marR="95250" marT="95250" marB="95250" anchor="ctr"/>
                </a:tc>
                <a:extLst>
                  <a:ext uri="{0D108BD9-81ED-4DB2-BD59-A6C34878D82A}">
                    <a16:rowId xmlns:a16="http://schemas.microsoft.com/office/drawing/2014/main" val="4273781886"/>
                  </a:ext>
                </a:extLst>
              </a:tr>
              <a:tr h="627194">
                <a:tc>
                  <a:txBody>
                    <a:bodyPr/>
                    <a:lstStyle/>
                    <a:p>
                      <a:r>
                        <a:rPr lang="zh-CN" altLang="en-US" b="1">
                          <a:effectLst/>
                        </a:rPr>
                        <a:t>代理跳板</a:t>
                      </a:r>
                      <a:endParaRPr lang="zh-CN" altLang="en-US">
                        <a:effectLst/>
                      </a:endParaRPr>
                    </a:p>
                  </a:txBody>
                  <a:tcPr marR="95250" marT="95250" marB="95250" anchor="ctr"/>
                </a:tc>
                <a:tc>
                  <a:txBody>
                    <a:bodyPr/>
                    <a:lstStyle/>
                    <a:p>
                      <a:r>
                        <a:rPr lang="zh-CN" altLang="en-US">
                          <a:effectLst/>
                        </a:rPr>
                        <a:t>将受害主机作为</a:t>
                      </a:r>
                      <a:r>
                        <a:rPr lang="en-US" altLang="zh-CN">
                          <a:effectLst/>
                        </a:rPr>
                        <a:t>SOCKS</a:t>
                      </a:r>
                      <a:r>
                        <a:rPr lang="zh-CN" altLang="en-US">
                          <a:effectLst/>
                        </a:rPr>
                        <a:t>代理，用于攻击内网其他设备</a:t>
                      </a:r>
                    </a:p>
                  </a:txBody>
                  <a:tcPr marL="95250" marR="95250" marT="95250" marB="95250" anchor="ctr"/>
                </a:tc>
                <a:tc>
                  <a:txBody>
                    <a:bodyPr/>
                    <a:lstStyle/>
                    <a:p>
                      <a:r>
                        <a:rPr lang="en-US" b="1">
                          <a:effectLst/>
                        </a:rPr>
                        <a:t>EarthWorm</a:t>
                      </a:r>
                      <a:r>
                        <a:rPr lang="en-US">
                          <a:effectLst/>
                        </a:rPr>
                        <a:t>、</a:t>
                      </a:r>
                      <a:r>
                        <a:rPr lang="en-US" b="1">
                          <a:effectLst/>
                        </a:rPr>
                        <a:t>Chisel</a:t>
                      </a:r>
                      <a:endParaRPr lang="en-US">
                        <a:effectLst/>
                      </a:endParaRPr>
                    </a:p>
                  </a:txBody>
                  <a:tcPr marL="95250" marR="95250" marT="95250" marB="95250" anchor="ctr"/>
                </a:tc>
                <a:extLst>
                  <a:ext uri="{0D108BD9-81ED-4DB2-BD59-A6C34878D82A}">
                    <a16:rowId xmlns:a16="http://schemas.microsoft.com/office/drawing/2014/main" val="3449362061"/>
                  </a:ext>
                </a:extLst>
              </a:tr>
              <a:tr h="698318">
                <a:tc>
                  <a:txBody>
                    <a:bodyPr/>
                    <a:lstStyle/>
                    <a:p>
                      <a:r>
                        <a:rPr lang="zh-CN" altLang="en-US" b="1">
                          <a:effectLst/>
                        </a:rPr>
                        <a:t>持久化</a:t>
                      </a:r>
                      <a:endParaRPr lang="zh-CN" altLang="en-US">
                        <a:effectLst/>
                      </a:endParaRPr>
                    </a:p>
                  </a:txBody>
                  <a:tcPr marR="95250" marT="95250" marB="95250" anchor="ctr"/>
                </a:tc>
                <a:tc>
                  <a:txBody>
                    <a:bodyPr/>
                    <a:lstStyle/>
                    <a:p>
                      <a:r>
                        <a:rPr lang="zh-CN" altLang="en-US">
                          <a:effectLst/>
                        </a:rPr>
                        <a:t>注册表启动项、计划任务、服务安装确保后门长期存活</a:t>
                      </a:r>
                    </a:p>
                  </a:txBody>
                  <a:tcPr marL="95250" marR="95250" marT="95250" marB="95250" anchor="ctr"/>
                </a:tc>
                <a:tc>
                  <a:txBody>
                    <a:bodyPr/>
                    <a:lstStyle/>
                    <a:p>
                      <a:r>
                        <a:rPr lang="en-US" b="1" dirty="0">
                          <a:effectLst/>
                        </a:rPr>
                        <a:t>Persistence</a:t>
                      </a:r>
                      <a:r>
                        <a:rPr lang="zh-CN" altLang="en-US" dirty="0">
                          <a:effectLst/>
                        </a:rPr>
                        <a:t>模块（</a:t>
                      </a:r>
                      <a:r>
                        <a:rPr lang="en-US" dirty="0">
                          <a:effectLst/>
                        </a:rPr>
                        <a:t>Cobalt Strike）</a:t>
                      </a:r>
                    </a:p>
                  </a:txBody>
                  <a:tcPr marL="95250" marR="95250" marT="95250" marB="95250" anchor="ctr"/>
                </a:tc>
                <a:extLst>
                  <a:ext uri="{0D108BD9-81ED-4DB2-BD59-A6C34878D82A}">
                    <a16:rowId xmlns:a16="http://schemas.microsoft.com/office/drawing/2014/main" val="2668289494"/>
                  </a:ext>
                </a:extLst>
              </a:tr>
            </a:tbl>
          </a:graphicData>
        </a:graphic>
      </p:graphicFrame>
    </p:spTree>
    <p:extLst>
      <p:ext uri="{BB962C8B-B14F-4D97-AF65-F5344CB8AC3E}">
        <p14:creationId xmlns:p14="http://schemas.microsoft.com/office/powerpoint/2010/main" val="21426731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10.9.1 </a:t>
            </a:r>
            <a:r>
              <a:rPr kumimoji="1" lang="zh-CN" altLang="zh-CN" dirty="0">
                <a:solidFill>
                  <a:prstClr val="black"/>
                </a:solidFill>
              </a:rPr>
              <a:t>后门</a:t>
            </a:r>
            <a:endParaRPr lang="zh-CN" altLang="en-US" dirty="0"/>
          </a:p>
        </p:txBody>
      </p:sp>
      <p:sp>
        <p:nvSpPr>
          <p:cNvPr id="3" name="内容占位符 2"/>
          <p:cNvSpPr>
            <a:spLocks noGrp="1"/>
          </p:cNvSpPr>
          <p:nvPr>
            <p:ph idx="1"/>
          </p:nvPr>
        </p:nvSpPr>
        <p:spPr>
          <a:xfrm>
            <a:off x="700644" y="1389413"/>
            <a:ext cx="10653156" cy="4708039"/>
          </a:xfrm>
        </p:spPr>
        <p:txBody>
          <a:bodyPr>
            <a:normAutofit/>
          </a:bodyPr>
          <a:lstStyle/>
          <a:p>
            <a:r>
              <a:rPr lang="zh-CN" altLang="en-US" dirty="0"/>
              <a:t>后门是一种</a:t>
            </a:r>
            <a:r>
              <a:rPr lang="zh-CN" altLang="en-US" b="1" dirty="0"/>
              <a:t>隐蔽的远程访问通道</a:t>
            </a:r>
            <a:r>
              <a:rPr lang="zh-CN" altLang="en-US" dirty="0"/>
              <a:t>，允许攻击者绕过正常认证机制，随时控制受感染设备。</a:t>
            </a:r>
          </a:p>
          <a:p>
            <a:r>
              <a:rPr lang="zh-CN" altLang="en-US" b="1" dirty="0">
                <a:solidFill>
                  <a:srgbClr val="C00000"/>
                </a:solidFill>
              </a:rPr>
              <a:t>（</a:t>
            </a:r>
            <a:r>
              <a:rPr lang="en-US" altLang="zh-CN" b="1" dirty="0">
                <a:solidFill>
                  <a:srgbClr val="C00000"/>
                </a:solidFill>
              </a:rPr>
              <a:t>2</a:t>
            </a:r>
            <a:r>
              <a:rPr lang="zh-CN" altLang="en-US" b="1" dirty="0">
                <a:solidFill>
                  <a:srgbClr val="C00000"/>
                </a:solidFill>
              </a:rPr>
              <a:t>）后门隐藏技术</a:t>
            </a:r>
          </a:p>
          <a:p>
            <a:pPr lvl="1"/>
            <a:r>
              <a:rPr lang="zh-CN" altLang="en-US" sz="2800" b="1" dirty="0"/>
              <a:t>端口复用：</a:t>
            </a:r>
          </a:p>
          <a:p>
            <a:pPr lvl="2"/>
            <a:r>
              <a:rPr lang="zh-CN" altLang="en-US" sz="2400" dirty="0"/>
              <a:t>劫持现有服务的端口（如</a:t>
            </a:r>
            <a:r>
              <a:rPr lang="en-US" altLang="zh-CN" sz="2400" dirty="0"/>
              <a:t>HTTP 80</a:t>
            </a:r>
            <a:r>
              <a:rPr lang="zh-CN" altLang="en-US" sz="2400" dirty="0"/>
              <a:t>），使流量看起来像正常</a:t>
            </a:r>
            <a:r>
              <a:rPr lang="en-US" altLang="zh-CN" sz="2400" dirty="0"/>
              <a:t>Web</a:t>
            </a:r>
            <a:r>
              <a:rPr lang="zh-CN" altLang="en-US" sz="2400" dirty="0"/>
              <a:t>请求。</a:t>
            </a:r>
          </a:p>
          <a:p>
            <a:pPr lvl="1"/>
            <a:r>
              <a:rPr lang="zh-CN" altLang="en-US" sz="2800" b="1" dirty="0"/>
              <a:t>加密通信：</a:t>
            </a:r>
          </a:p>
          <a:p>
            <a:pPr lvl="2"/>
            <a:r>
              <a:rPr lang="zh-CN" altLang="en-US" sz="2400" dirty="0"/>
              <a:t>使用</a:t>
            </a:r>
            <a:r>
              <a:rPr lang="en-US" altLang="zh-CN" sz="2400" dirty="0"/>
              <a:t>TLS</a:t>
            </a:r>
            <a:r>
              <a:rPr lang="zh-CN" altLang="en-US" sz="2400" dirty="0"/>
              <a:t>或自定义加密协议（如</a:t>
            </a:r>
            <a:r>
              <a:rPr lang="en-US" altLang="zh-CN" sz="2400" dirty="0"/>
              <a:t>DNS-over-HTTPS</a:t>
            </a:r>
            <a:r>
              <a:rPr lang="zh-CN" altLang="en-US" sz="2400" dirty="0"/>
              <a:t>）逃避流量检测。</a:t>
            </a:r>
          </a:p>
          <a:p>
            <a:pPr lvl="1"/>
            <a:r>
              <a:rPr lang="zh-CN" altLang="en-US" sz="2800" b="1" dirty="0"/>
              <a:t>进程注入：</a:t>
            </a:r>
          </a:p>
          <a:p>
            <a:pPr lvl="2"/>
            <a:r>
              <a:rPr lang="zh-CN" altLang="en-US" sz="2400" dirty="0"/>
              <a:t>将恶意代码注入合法进程（如</a:t>
            </a:r>
            <a:r>
              <a:rPr lang="en-US" altLang="zh-CN" sz="2400" dirty="0"/>
              <a:t>explorer.exe</a:t>
            </a:r>
            <a:r>
              <a:rPr lang="zh-CN" altLang="en-US" sz="2400" dirty="0"/>
              <a:t>、</a:t>
            </a:r>
            <a:r>
              <a:rPr lang="en-US" altLang="zh-CN" sz="2400" dirty="0"/>
              <a:t>svchost.exe</a:t>
            </a:r>
            <a:r>
              <a:rPr lang="zh-CN" altLang="en-US" sz="2400" dirty="0"/>
              <a:t>）掩盖自身。</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103</a:t>
            </a:fld>
            <a:endParaRPr kumimoji="1" lang="zh-CN" altLang="en-US" dirty="0"/>
          </a:p>
        </p:txBody>
      </p:sp>
    </p:spTree>
    <p:extLst>
      <p:ext uri="{BB962C8B-B14F-4D97-AF65-F5344CB8AC3E}">
        <p14:creationId xmlns:p14="http://schemas.microsoft.com/office/powerpoint/2010/main" val="249675075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10.9.2 </a:t>
            </a:r>
            <a:r>
              <a:rPr kumimoji="1" lang="zh-CN" altLang="zh-CN" dirty="0">
                <a:solidFill>
                  <a:prstClr val="black"/>
                </a:solidFill>
              </a:rPr>
              <a:t>隐匿程序</a:t>
            </a:r>
            <a:endParaRPr lang="zh-CN" altLang="en-US" dirty="0"/>
          </a:p>
        </p:txBody>
      </p:sp>
      <p:sp>
        <p:nvSpPr>
          <p:cNvPr id="3" name="内容占位符 2"/>
          <p:cNvSpPr>
            <a:spLocks noGrp="1"/>
          </p:cNvSpPr>
          <p:nvPr>
            <p:ph idx="1"/>
          </p:nvPr>
        </p:nvSpPr>
        <p:spPr/>
        <p:txBody>
          <a:bodyPr>
            <a:normAutofit/>
          </a:bodyPr>
          <a:lstStyle/>
          <a:p>
            <a:r>
              <a:rPr lang="zh-CN" altLang="en-US" dirty="0"/>
              <a:t>隐匿程序通过</a:t>
            </a:r>
            <a:r>
              <a:rPr lang="zh-CN" altLang="en-US" b="1" dirty="0"/>
              <a:t>内核级或用户级技术</a:t>
            </a:r>
            <a:r>
              <a:rPr lang="zh-CN" altLang="en-US" dirty="0"/>
              <a:t>隐藏恶意进程、文件、网络连接等，对抗安全软件的检测。</a:t>
            </a:r>
          </a:p>
          <a:p>
            <a:r>
              <a:rPr lang="zh-CN" altLang="en-US" b="1" dirty="0"/>
              <a:t>（</a:t>
            </a:r>
            <a:r>
              <a:rPr lang="en-US" altLang="zh-CN" b="1" dirty="0"/>
              <a:t>1</a:t>
            </a:r>
            <a:r>
              <a:rPr lang="zh-CN" altLang="en-US" b="1" dirty="0"/>
              <a:t>）隐匿技术分类</a:t>
            </a:r>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104</a:t>
            </a:fld>
            <a:endParaRPr kumimoji="1"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725583814"/>
              </p:ext>
            </p:extLst>
          </p:nvPr>
        </p:nvGraphicFramePr>
        <p:xfrm>
          <a:off x="838200" y="3011604"/>
          <a:ext cx="10515600" cy="3329790"/>
        </p:xfrm>
        <a:graphic>
          <a:graphicData uri="http://schemas.openxmlformats.org/drawingml/2006/table">
            <a:tbl>
              <a:tblPr firstRow="1" bandRow="1">
                <a:tableStyleId>{5C22544A-7EE6-4342-B048-85BDC9FD1C3A}</a:tableStyleId>
              </a:tblPr>
              <a:tblGrid>
                <a:gridCol w="1738745">
                  <a:extLst>
                    <a:ext uri="{9D8B030D-6E8A-4147-A177-3AD203B41FA5}">
                      <a16:colId xmlns:a16="http://schemas.microsoft.com/office/drawing/2014/main" val="2494041729"/>
                    </a:ext>
                  </a:extLst>
                </a:gridCol>
                <a:gridCol w="6377050">
                  <a:extLst>
                    <a:ext uri="{9D8B030D-6E8A-4147-A177-3AD203B41FA5}">
                      <a16:colId xmlns:a16="http://schemas.microsoft.com/office/drawing/2014/main" val="3789120779"/>
                    </a:ext>
                  </a:extLst>
                </a:gridCol>
                <a:gridCol w="2399805">
                  <a:extLst>
                    <a:ext uri="{9D8B030D-6E8A-4147-A177-3AD203B41FA5}">
                      <a16:colId xmlns:a16="http://schemas.microsoft.com/office/drawing/2014/main" val="519436921"/>
                    </a:ext>
                  </a:extLst>
                </a:gridCol>
              </a:tblGrid>
              <a:tr h="617170">
                <a:tc>
                  <a:txBody>
                    <a:bodyPr/>
                    <a:lstStyle/>
                    <a:p>
                      <a:pPr algn="l"/>
                      <a:r>
                        <a:rPr lang="zh-CN" altLang="en-US" b="1" dirty="0">
                          <a:effectLst/>
                        </a:rPr>
                        <a:t>层级</a:t>
                      </a:r>
                    </a:p>
                  </a:txBody>
                  <a:tcPr marR="95250" marT="95250" marB="95250" anchor="ctr"/>
                </a:tc>
                <a:tc>
                  <a:txBody>
                    <a:bodyPr/>
                    <a:lstStyle/>
                    <a:p>
                      <a:pPr algn="l"/>
                      <a:r>
                        <a:rPr lang="zh-CN" altLang="en-US" b="1">
                          <a:effectLst/>
                        </a:rPr>
                        <a:t>技术手段</a:t>
                      </a:r>
                    </a:p>
                  </a:txBody>
                  <a:tcPr marL="95250" marR="95250" marT="95250" marB="95250" anchor="ctr"/>
                </a:tc>
                <a:tc>
                  <a:txBody>
                    <a:bodyPr/>
                    <a:lstStyle/>
                    <a:p>
                      <a:pPr algn="l"/>
                      <a:r>
                        <a:rPr lang="zh-CN" altLang="en-US" b="1">
                          <a:effectLst/>
                        </a:rPr>
                        <a:t>对抗难度</a:t>
                      </a:r>
                    </a:p>
                  </a:txBody>
                  <a:tcPr marL="95250" marR="95250" marT="95250" marB="95250" anchor="ctr"/>
                </a:tc>
                <a:extLst>
                  <a:ext uri="{0D108BD9-81ED-4DB2-BD59-A6C34878D82A}">
                    <a16:rowId xmlns:a16="http://schemas.microsoft.com/office/drawing/2014/main" val="3658948547"/>
                  </a:ext>
                </a:extLst>
              </a:tr>
              <a:tr h="617170">
                <a:tc>
                  <a:txBody>
                    <a:bodyPr/>
                    <a:lstStyle/>
                    <a:p>
                      <a:r>
                        <a:rPr lang="zh-CN" altLang="en-US" b="1" dirty="0">
                          <a:effectLst/>
                        </a:rPr>
                        <a:t>用户态</a:t>
                      </a:r>
                      <a:r>
                        <a:rPr lang="en-US" b="1" dirty="0">
                          <a:effectLst/>
                        </a:rPr>
                        <a:t>Rootkit</a:t>
                      </a:r>
                      <a:endParaRPr lang="en-US" dirty="0">
                        <a:effectLst/>
                      </a:endParaRPr>
                    </a:p>
                  </a:txBody>
                  <a:tcPr marR="95250" marT="95250" marB="95250" anchor="ctr"/>
                </a:tc>
                <a:tc>
                  <a:txBody>
                    <a:bodyPr/>
                    <a:lstStyle/>
                    <a:p>
                      <a:r>
                        <a:rPr lang="en-US" dirty="0">
                          <a:effectLst/>
                        </a:rPr>
                        <a:t>Hook API</a:t>
                      </a:r>
                      <a:r>
                        <a:rPr lang="zh-CN" altLang="en-US" dirty="0">
                          <a:effectLst/>
                        </a:rPr>
                        <a:t>调用（如</a:t>
                      </a:r>
                      <a:r>
                        <a:rPr lang="en-US" dirty="0" err="1">
                          <a:effectLst/>
                        </a:rPr>
                        <a:t>OpenProcess、EnumProcesses</a:t>
                      </a:r>
                      <a:r>
                        <a:rPr lang="en-US" dirty="0">
                          <a:effectLst/>
                        </a:rPr>
                        <a:t>）</a:t>
                      </a:r>
                      <a:r>
                        <a:rPr lang="zh-CN" altLang="en-US" dirty="0">
                          <a:effectLst/>
                        </a:rPr>
                        <a:t>隐藏进程</a:t>
                      </a:r>
                    </a:p>
                  </a:txBody>
                  <a:tcPr marL="95250" marR="95250" marT="95250" marB="95250" anchor="ctr"/>
                </a:tc>
                <a:tc>
                  <a:txBody>
                    <a:bodyPr/>
                    <a:lstStyle/>
                    <a:p>
                      <a:r>
                        <a:rPr lang="zh-CN" altLang="en-US">
                          <a:effectLst/>
                        </a:rPr>
                        <a:t>中等（</a:t>
                      </a:r>
                      <a:r>
                        <a:rPr lang="en-US" altLang="zh-CN">
                          <a:effectLst/>
                        </a:rPr>
                        <a:t>EDR</a:t>
                      </a:r>
                      <a:r>
                        <a:rPr lang="zh-CN" altLang="en-US">
                          <a:effectLst/>
                        </a:rPr>
                        <a:t>可检测）</a:t>
                      </a:r>
                    </a:p>
                  </a:txBody>
                  <a:tcPr marL="95250" marR="95250" marT="95250" marB="95250" anchor="ctr"/>
                </a:tc>
                <a:extLst>
                  <a:ext uri="{0D108BD9-81ED-4DB2-BD59-A6C34878D82A}">
                    <a16:rowId xmlns:a16="http://schemas.microsoft.com/office/drawing/2014/main" val="4289148177"/>
                  </a:ext>
                </a:extLst>
              </a:tr>
              <a:tr h="617170">
                <a:tc>
                  <a:txBody>
                    <a:bodyPr/>
                    <a:lstStyle/>
                    <a:p>
                      <a:r>
                        <a:rPr lang="zh-CN" altLang="en-US" b="1">
                          <a:effectLst/>
                        </a:rPr>
                        <a:t>内核态</a:t>
                      </a:r>
                      <a:r>
                        <a:rPr lang="en-US" b="1">
                          <a:effectLst/>
                        </a:rPr>
                        <a:t>Rootkit</a:t>
                      </a:r>
                      <a:endParaRPr lang="en-US">
                        <a:effectLst/>
                      </a:endParaRPr>
                    </a:p>
                  </a:txBody>
                  <a:tcPr marR="95250" marT="95250" marB="95250" anchor="ctr"/>
                </a:tc>
                <a:tc>
                  <a:txBody>
                    <a:bodyPr/>
                    <a:lstStyle/>
                    <a:p>
                      <a:r>
                        <a:rPr lang="zh-CN" altLang="en-US" dirty="0">
                          <a:effectLst/>
                        </a:rPr>
                        <a:t>修改系统调用表（</a:t>
                      </a:r>
                      <a:r>
                        <a:rPr lang="en-US" altLang="zh-CN" dirty="0">
                          <a:effectLst/>
                        </a:rPr>
                        <a:t>SSDT</a:t>
                      </a:r>
                      <a:r>
                        <a:rPr lang="zh-CN" altLang="en-US" dirty="0">
                          <a:effectLst/>
                        </a:rPr>
                        <a:t>）、驱动对象（</a:t>
                      </a:r>
                      <a:r>
                        <a:rPr lang="en-US" altLang="zh-CN" dirty="0">
                          <a:effectLst/>
                        </a:rPr>
                        <a:t>DKOM</a:t>
                      </a:r>
                      <a:r>
                        <a:rPr lang="zh-CN" altLang="en-US" dirty="0">
                          <a:effectLst/>
                        </a:rPr>
                        <a:t>）直接操纵内核数据结构</a:t>
                      </a:r>
                    </a:p>
                  </a:txBody>
                  <a:tcPr marL="95250" marR="95250" marT="95250" marB="95250" anchor="ctr"/>
                </a:tc>
                <a:tc>
                  <a:txBody>
                    <a:bodyPr/>
                    <a:lstStyle/>
                    <a:p>
                      <a:r>
                        <a:rPr lang="zh-CN" altLang="en-US" dirty="0">
                          <a:effectLst/>
                        </a:rPr>
                        <a:t>极高（需内存取证）</a:t>
                      </a:r>
                    </a:p>
                  </a:txBody>
                  <a:tcPr marL="95250" marR="95250" marT="95250" marB="95250" anchor="ctr"/>
                </a:tc>
                <a:extLst>
                  <a:ext uri="{0D108BD9-81ED-4DB2-BD59-A6C34878D82A}">
                    <a16:rowId xmlns:a16="http://schemas.microsoft.com/office/drawing/2014/main" val="1271750439"/>
                  </a:ext>
                </a:extLst>
              </a:tr>
              <a:tr h="617170">
                <a:tc>
                  <a:txBody>
                    <a:bodyPr/>
                    <a:lstStyle/>
                    <a:p>
                      <a:r>
                        <a:rPr lang="zh-CN" altLang="en-US" b="1">
                          <a:effectLst/>
                        </a:rPr>
                        <a:t>固件</a:t>
                      </a:r>
                      <a:r>
                        <a:rPr lang="en-US" b="1">
                          <a:effectLst/>
                        </a:rPr>
                        <a:t>Rootkit</a:t>
                      </a:r>
                      <a:endParaRPr lang="en-US">
                        <a:effectLst/>
                      </a:endParaRPr>
                    </a:p>
                  </a:txBody>
                  <a:tcPr marR="95250" marT="95250" marB="95250" anchor="ctr"/>
                </a:tc>
                <a:tc>
                  <a:txBody>
                    <a:bodyPr/>
                    <a:lstStyle/>
                    <a:p>
                      <a:r>
                        <a:rPr lang="zh-CN" altLang="en-US">
                          <a:effectLst/>
                        </a:rPr>
                        <a:t>感染</a:t>
                      </a:r>
                      <a:r>
                        <a:rPr lang="en-US">
                          <a:effectLst/>
                        </a:rPr>
                        <a:t>BIOS/UEFI</a:t>
                      </a:r>
                      <a:r>
                        <a:rPr lang="zh-CN" altLang="en-US">
                          <a:effectLst/>
                        </a:rPr>
                        <a:t>或硬件固件（如网卡、硬盘控制器），即使重装系统仍存活</a:t>
                      </a:r>
                    </a:p>
                  </a:txBody>
                  <a:tcPr marL="95250" marR="95250" marT="95250" marB="95250" anchor="ctr"/>
                </a:tc>
                <a:tc>
                  <a:txBody>
                    <a:bodyPr/>
                    <a:lstStyle/>
                    <a:p>
                      <a:r>
                        <a:rPr lang="zh-CN" altLang="en-US" dirty="0">
                          <a:effectLst/>
                        </a:rPr>
                        <a:t>极难（需硬件重置）</a:t>
                      </a:r>
                    </a:p>
                  </a:txBody>
                  <a:tcPr marL="95250" marR="95250" marT="95250" marB="95250" anchor="ctr"/>
                </a:tc>
                <a:extLst>
                  <a:ext uri="{0D108BD9-81ED-4DB2-BD59-A6C34878D82A}">
                    <a16:rowId xmlns:a16="http://schemas.microsoft.com/office/drawing/2014/main" val="3765979409"/>
                  </a:ext>
                </a:extLst>
              </a:tr>
              <a:tr h="617170">
                <a:tc>
                  <a:txBody>
                    <a:bodyPr/>
                    <a:lstStyle/>
                    <a:p>
                      <a:r>
                        <a:rPr lang="zh-CN" altLang="en-US" b="1">
                          <a:effectLst/>
                        </a:rPr>
                        <a:t>无文件</a:t>
                      </a:r>
                      <a:r>
                        <a:rPr lang="en-US" b="1">
                          <a:effectLst/>
                        </a:rPr>
                        <a:t>Rootkit</a:t>
                      </a:r>
                      <a:endParaRPr lang="en-US">
                        <a:effectLst/>
                      </a:endParaRPr>
                    </a:p>
                  </a:txBody>
                  <a:tcPr marR="95250" marT="95250" marB="95250" anchor="ctr"/>
                </a:tc>
                <a:tc>
                  <a:txBody>
                    <a:bodyPr/>
                    <a:lstStyle/>
                    <a:p>
                      <a:r>
                        <a:rPr lang="zh-CN" altLang="en-US">
                          <a:effectLst/>
                        </a:rPr>
                        <a:t>仅驻留内存（如通过</a:t>
                      </a:r>
                      <a:r>
                        <a:rPr lang="en-US" altLang="zh-CN">
                          <a:effectLst/>
                        </a:rPr>
                        <a:t>PowerShell</a:t>
                      </a:r>
                      <a:r>
                        <a:rPr lang="zh-CN" altLang="en-US">
                          <a:effectLst/>
                        </a:rPr>
                        <a:t>反射加载</a:t>
                      </a:r>
                      <a:r>
                        <a:rPr lang="en-US" altLang="zh-CN">
                          <a:effectLst/>
                        </a:rPr>
                        <a:t>DLL</a:t>
                      </a:r>
                      <a:r>
                        <a:rPr lang="zh-CN" altLang="en-US">
                          <a:effectLst/>
                        </a:rPr>
                        <a:t>），不写入磁盘</a:t>
                      </a:r>
                    </a:p>
                  </a:txBody>
                  <a:tcPr marL="95250" marR="95250" marT="95250" marB="95250" anchor="ctr"/>
                </a:tc>
                <a:tc>
                  <a:txBody>
                    <a:bodyPr/>
                    <a:lstStyle/>
                    <a:p>
                      <a:r>
                        <a:rPr lang="zh-CN" altLang="en-US" dirty="0">
                          <a:effectLst/>
                        </a:rPr>
                        <a:t>高（需内存分析）</a:t>
                      </a:r>
                    </a:p>
                  </a:txBody>
                  <a:tcPr marL="95250" marR="95250" marT="95250" marB="95250" anchor="ctr"/>
                </a:tc>
                <a:extLst>
                  <a:ext uri="{0D108BD9-81ED-4DB2-BD59-A6C34878D82A}">
                    <a16:rowId xmlns:a16="http://schemas.microsoft.com/office/drawing/2014/main" val="1701900956"/>
                  </a:ext>
                </a:extLst>
              </a:tr>
            </a:tbl>
          </a:graphicData>
        </a:graphic>
      </p:graphicFrame>
    </p:spTree>
    <p:extLst>
      <p:ext uri="{BB962C8B-B14F-4D97-AF65-F5344CB8AC3E}">
        <p14:creationId xmlns:p14="http://schemas.microsoft.com/office/powerpoint/2010/main" val="14432444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000" dirty="0"/>
              <a:t>载荷</a:t>
            </a:r>
            <a:r>
              <a:rPr kumimoji="1" lang="en-US" altLang="zh-CN" sz="3000" dirty="0"/>
              <a:t>-</a:t>
            </a:r>
            <a:r>
              <a:rPr kumimoji="1" lang="zh-CN" altLang="zh-CN" sz="3000" dirty="0"/>
              <a:t>隐身</a:t>
            </a:r>
            <a:r>
              <a:rPr kumimoji="1" lang="en-US" altLang="zh-CN" sz="3000" dirty="0"/>
              <a:t>-</a:t>
            </a:r>
            <a:r>
              <a:rPr kumimoji="1" lang="zh-CN" altLang="zh-CN" sz="3000" dirty="0"/>
              <a:t>后门与隐匿程序</a:t>
            </a:r>
            <a:endParaRPr kumimoji="1" lang="en-US" altLang="zh-CN" sz="3000" dirty="0"/>
          </a:p>
          <a:p>
            <a:pPr>
              <a:lnSpc>
                <a:spcPct val="150000"/>
              </a:lnSpc>
              <a:buNone/>
            </a:pPr>
            <a:r>
              <a:rPr kumimoji="1" lang="en-US" altLang="zh-CN" sz="3000" dirty="0">
                <a:solidFill>
                  <a:srgbClr val="C00000"/>
                </a:solidFill>
              </a:rPr>
              <a:t>10.10 </a:t>
            </a:r>
            <a:r>
              <a:rPr kumimoji="1" lang="zh-CN" altLang="zh-CN" sz="3000" dirty="0">
                <a:solidFill>
                  <a:srgbClr val="C00000"/>
                </a:solidFill>
              </a:rPr>
              <a:t>防护措施</a:t>
            </a:r>
            <a:endParaRPr kumimoji="1" lang="en-US" altLang="zh-CN" sz="3000" dirty="0">
              <a:solidFill>
                <a:srgbClr val="C00000"/>
              </a:solidFill>
            </a:endParaRPr>
          </a:p>
          <a:p>
            <a:pPr>
              <a:lnSpc>
                <a:spcPct val="150000"/>
              </a:lnSpc>
              <a:buNone/>
            </a:pPr>
            <a:r>
              <a:rPr kumimoji="1" lang="en-US" altLang="zh-CN" sz="3000" dirty="0"/>
              <a:t>10.11 </a:t>
            </a:r>
            <a:r>
              <a:rPr kumimoji="1" lang="zh-CN" altLang="zh-CN" sz="3000" dirty="0"/>
              <a:t>分布式拒绝服务攻击</a:t>
            </a:r>
            <a:endParaRPr kumimoji="1" lang="zh-CN" altLang="en-US" dirty="0"/>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932717" y="3705101"/>
            <a:ext cx="3750267" cy="2787773"/>
          </a:xfrm>
          <a:prstGeom prst="wedgeRectCallout">
            <a:avLst>
              <a:gd name="adj1" fmla="val -176379"/>
              <a:gd name="adj2" fmla="val 2679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恶意软件防护方法</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基于主机的扫描器</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边界扫描方法</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分布式情报搜集方法</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2647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10.10.1 </a:t>
            </a:r>
            <a:r>
              <a:rPr kumimoji="1" lang="zh-CN" altLang="zh-CN" dirty="0">
                <a:solidFill>
                  <a:prstClr val="black"/>
                </a:solidFill>
              </a:rPr>
              <a:t>恶意软件防护方法</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t>四种主要的防护元素：</a:t>
            </a:r>
            <a:r>
              <a:rPr lang="zh-CN" altLang="en-US" dirty="0">
                <a:solidFill>
                  <a:srgbClr val="C00000"/>
                </a:solidFill>
              </a:rPr>
              <a:t>政策</a:t>
            </a:r>
            <a:r>
              <a:rPr lang="zh-CN" altLang="en-US" dirty="0"/>
              <a:t>、</a:t>
            </a:r>
            <a:r>
              <a:rPr lang="zh-CN" altLang="en-US" dirty="0">
                <a:solidFill>
                  <a:srgbClr val="C00000"/>
                </a:solidFill>
              </a:rPr>
              <a:t>觉悟</a:t>
            </a:r>
            <a:r>
              <a:rPr lang="zh-CN" altLang="en-US" dirty="0"/>
              <a:t>、</a:t>
            </a:r>
            <a:r>
              <a:rPr lang="zh-CN" altLang="en-US" dirty="0">
                <a:solidFill>
                  <a:srgbClr val="C00000"/>
                </a:solidFill>
              </a:rPr>
              <a:t>漏洞缓解</a:t>
            </a:r>
            <a:r>
              <a:rPr lang="zh-CN" altLang="en-US" dirty="0"/>
              <a:t>、</a:t>
            </a:r>
            <a:r>
              <a:rPr lang="zh-CN" altLang="en-US" dirty="0">
                <a:solidFill>
                  <a:srgbClr val="C00000"/>
                </a:solidFill>
              </a:rPr>
              <a:t>威胁缓解</a:t>
            </a:r>
            <a:r>
              <a:rPr lang="zh-CN" altLang="en-US" dirty="0"/>
              <a:t>。</a:t>
            </a:r>
            <a:endParaRPr lang="en-US" altLang="zh-CN" dirty="0"/>
          </a:p>
          <a:p>
            <a:pPr>
              <a:lnSpc>
                <a:spcPct val="150000"/>
              </a:lnSpc>
            </a:pPr>
            <a:r>
              <a:rPr lang="zh-CN" altLang="en-US" dirty="0"/>
              <a:t>适当的</a:t>
            </a:r>
            <a:r>
              <a:rPr lang="zh-CN" altLang="en-US" dirty="0">
                <a:solidFill>
                  <a:srgbClr val="C00000"/>
                </a:solidFill>
              </a:rPr>
              <a:t>政策</a:t>
            </a:r>
            <a:r>
              <a:rPr lang="zh-CN" altLang="en-US" dirty="0"/>
              <a:t>为实现合适的预防措施提供</a:t>
            </a:r>
            <a:r>
              <a:rPr lang="zh-CN" altLang="en-US" dirty="0">
                <a:solidFill>
                  <a:srgbClr val="C00000"/>
                </a:solidFill>
              </a:rPr>
              <a:t>依据</a:t>
            </a:r>
            <a:r>
              <a:rPr lang="zh-CN" altLang="en-US" dirty="0"/>
              <a:t>。</a:t>
            </a:r>
            <a:endParaRPr lang="en-US" altLang="zh-CN" dirty="0"/>
          </a:p>
          <a:p>
            <a:pPr>
              <a:lnSpc>
                <a:spcPct val="150000"/>
              </a:lnSpc>
            </a:pPr>
            <a:r>
              <a:rPr lang="zh-CN" altLang="en-US" dirty="0"/>
              <a:t>第一种防护措施是确保所有的系统尽可能是最新的，</a:t>
            </a:r>
            <a:r>
              <a:rPr lang="zh-CN" altLang="en-US" dirty="0">
                <a:solidFill>
                  <a:srgbClr val="C00000"/>
                </a:solidFill>
              </a:rPr>
              <a:t>减少漏洞</a:t>
            </a:r>
            <a:r>
              <a:rPr lang="zh-CN" altLang="en-US" dirty="0"/>
              <a:t>。</a:t>
            </a:r>
            <a:endParaRPr lang="en-US" altLang="zh-CN" dirty="0"/>
          </a:p>
          <a:p>
            <a:pPr>
              <a:lnSpc>
                <a:spcPct val="150000"/>
              </a:lnSpc>
            </a:pPr>
            <a:r>
              <a:rPr lang="zh-CN" altLang="en-US" dirty="0"/>
              <a:t>第二种防护措施是对存储在系统上的应用程序和数据设置合适的</a:t>
            </a:r>
            <a:r>
              <a:rPr lang="zh-CN" altLang="en-US" dirty="0">
                <a:solidFill>
                  <a:srgbClr val="C00000"/>
                </a:solidFill>
              </a:rPr>
              <a:t>访问权限</a:t>
            </a:r>
            <a:r>
              <a:rPr lang="zh-CN" altLang="en-US" dirty="0"/>
              <a:t>。</a:t>
            </a:r>
            <a:endParaRPr lang="en-US" altLang="zh-CN" dirty="0"/>
          </a:p>
          <a:p>
            <a:pPr>
              <a:lnSpc>
                <a:spcPct val="150000"/>
              </a:lnSpc>
            </a:pPr>
            <a:r>
              <a:rPr lang="zh-CN" altLang="en-US" dirty="0"/>
              <a:t>第三种常用的防护机制针对社会工程攻击中的用户，通过用户</a:t>
            </a:r>
            <a:r>
              <a:rPr lang="zh-CN" altLang="en-US" dirty="0">
                <a:solidFill>
                  <a:srgbClr val="C00000"/>
                </a:solidFill>
              </a:rPr>
              <a:t>觉悟</a:t>
            </a:r>
            <a:r>
              <a:rPr lang="zh-CN" altLang="en-US" dirty="0"/>
              <a:t>和</a:t>
            </a:r>
            <a:r>
              <a:rPr lang="zh-CN" altLang="en-US" dirty="0">
                <a:solidFill>
                  <a:srgbClr val="C00000"/>
                </a:solidFill>
              </a:rPr>
              <a:t>训练</a:t>
            </a:r>
            <a:r>
              <a:rPr lang="zh-CN" altLang="en-US" dirty="0"/>
              <a:t>进行应对。</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106</a:t>
            </a:fld>
            <a:endParaRPr kumimoji="1" lang="zh-CN" altLang="en-US" dirty="0"/>
          </a:p>
        </p:txBody>
      </p:sp>
    </p:spTree>
    <p:extLst>
      <p:ext uri="{BB962C8B-B14F-4D97-AF65-F5344CB8AC3E}">
        <p14:creationId xmlns:p14="http://schemas.microsoft.com/office/powerpoint/2010/main" val="13065669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10.10.1 </a:t>
            </a:r>
            <a:r>
              <a:rPr kumimoji="1" lang="zh-CN" altLang="zh-CN" dirty="0">
                <a:solidFill>
                  <a:prstClr val="black"/>
                </a:solidFill>
              </a:rPr>
              <a:t>恶意软件防护方法</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50000"/>
              </a:lnSpc>
            </a:pPr>
            <a:r>
              <a:rPr lang="zh-CN" altLang="en-US" dirty="0"/>
              <a:t>如果预防措施失败，技术机制可以用来支持以下的威胁缓解选项：</a:t>
            </a:r>
            <a:endParaRPr lang="en-US" altLang="zh-CN" dirty="0"/>
          </a:p>
          <a:p>
            <a:pPr lvl="1">
              <a:lnSpc>
                <a:spcPct val="150000"/>
              </a:lnSpc>
            </a:pPr>
            <a:r>
              <a:rPr lang="zh-CN" altLang="en-US" dirty="0">
                <a:solidFill>
                  <a:srgbClr val="C00000"/>
                </a:solidFill>
              </a:rPr>
              <a:t>检测</a:t>
            </a:r>
            <a:r>
              <a:rPr lang="zh-CN" altLang="en-US" dirty="0"/>
              <a:t>：一旦感染发生，检测可以用来决定感染是否发生并定位恶意软件。</a:t>
            </a:r>
            <a:endParaRPr lang="en-US" altLang="zh-CN" dirty="0"/>
          </a:p>
          <a:p>
            <a:pPr lvl="1">
              <a:lnSpc>
                <a:spcPct val="150000"/>
              </a:lnSpc>
            </a:pPr>
            <a:r>
              <a:rPr lang="zh-CN" altLang="en-US" dirty="0">
                <a:solidFill>
                  <a:srgbClr val="C00000"/>
                </a:solidFill>
              </a:rPr>
              <a:t>鉴定</a:t>
            </a:r>
            <a:r>
              <a:rPr lang="zh-CN" altLang="en-US" dirty="0"/>
              <a:t>：一旦检测完成，鉴定感染系统的恶意软件。</a:t>
            </a:r>
            <a:endParaRPr lang="en-US" altLang="zh-CN" dirty="0"/>
          </a:p>
          <a:p>
            <a:pPr lvl="1">
              <a:lnSpc>
                <a:spcPct val="150000"/>
              </a:lnSpc>
            </a:pPr>
            <a:r>
              <a:rPr lang="zh-CN" altLang="en-US" dirty="0">
                <a:solidFill>
                  <a:srgbClr val="C00000"/>
                </a:solidFill>
              </a:rPr>
              <a:t>移除</a:t>
            </a:r>
            <a:r>
              <a:rPr lang="zh-CN" altLang="en-US" dirty="0"/>
              <a:t>：一旦特定的恶意软件被鉴定出来，从被感染系统中移除所有的恶意软件病毒的痕迹，从而使得恶意软件无法继续传播。</a:t>
            </a:r>
            <a:endParaRPr lang="en-US" altLang="zh-CN" dirty="0"/>
          </a:p>
          <a:p>
            <a:pPr>
              <a:lnSpc>
                <a:spcPct val="150000"/>
              </a:lnSpc>
            </a:pPr>
            <a:r>
              <a:rPr lang="zh-CN" altLang="en-US" dirty="0"/>
              <a:t>如果检测成功但是无法鉴定或者移除，一个替代选择是</a:t>
            </a:r>
            <a:r>
              <a:rPr lang="zh-CN" altLang="en-US" dirty="0">
                <a:solidFill>
                  <a:srgbClr val="C00000"/>
                </a:solidFill>
              </a:rPr>
              <a:t>丢弃</a:t>
            </a:r>
            <a:r>
              <a:rPr lang="zh-CN" altLang="en-US" dirty="0"/>
              <a:t>任何被感染的文件并重新加载一份未被感染的</a:t>
            </a:r>
            <a:r>
              <a:rPr lang="zh-CN" altLang="en-US" dirty="0">
                <a:solidFill>
                  <a:srgbClr val="C00000"/>
                </a:solidFill>
              </a:rPr>
              <a:t>备份版本</a:t>
            </a:r>
            <a:r>
              <a:rPr lang="zh-CN" altLang="en-US" dirty="0"/>
              <a:t>。如果感染特别严重，那么有可能需要将整个存储空间格式化，</a:t>
            </a:r>
            <a:r>
              <a:rPr lang="zh-CN" altLang="en-US" dirty="0">
                <a:solidFill>
                  <a:srgbClr val="C00000"/>
                </a:solidFill>
              </a:rPr>
              <a:t>重新建立一个干净的系统</a:t>
            </a:r>
            <a:r>
              <a:rPr lang="zh-CN" altLang="en-US" dirty="0"/>
              <a:t>。</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107</a:t>
            </a:fld>
            <a:endParaRPr kumimoji="1" lang="zh-CN" altLang="en-US" dirty="0"/>
          </a:p>
        </p:txBody>
      </p:sp>
    </p:spTree>
    <p:extLst>
      <p:ext uri="{BB962C8B-B14F-4D97-AF65-F5344CB8AC3E}">
        <p14:creationId xmlns:p14="http://schemas.microsoft.com/office/powerpoint/2010/main" val="24477643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10.10.1 </a:t>
            </a:r>
            <a:r>
              <a:rPr kumimoji="1" lang="zh-CN" altLang="zh-CN" dirty="0">
                <a:solidFill>
                  <a:prstClr val="black"/>
                </a:solidFill>
              </a:rPr>
              <a:t>恶意软件防护方法</a:t>
            </a:r>
            <a:endParaRPr lang="zh-CN" altLang="en-US" dirty="0"/>
          </a:p>
        </p:txBody>
      </p:sp>
      <p:sp>
        <p:nvSpPr>
          <p:cNvPr id="3" name="内容占位符 2"/>
          <p:cNvSpPr>
            <a:spLocks noGrp="1"/>
          </p:cNvSpPr>
          <p:nvPr>
            <p:ph idx="1"/>
          </p:nvPr>
        </p:nvSpPr>
        <p:spPr>
          <a:xfrm>
            <a:off x="838200" y="1365661"/>
            <a:ext cx="10515600" cy="5035139"/>
          </a:xfrm>
        </p:spPr>
        <p:txBody>
          <a:bodyPr>
            <a:normAutofit fontScale="85000" lnSpcReduction="10000"/>
          </a:bodyPr>
          <a:lstStyle/>
          <a:p>
            <a:pPr>
              <a:lnSpc>
                <a:spcPct val="140000"/>
              </a:lnSpc>
            </a:pPr>
            <a:r>
              <a:rPr lang="zh-CN" altLang="en-US" dirty="0"/>
              <a:t>恶意软件有效防护措施的一些要求：</a:t>
            </a:r>
            <a:endParaRPr lang="en-US" altLang="zh-CN" dirty="0"/>
          </a:p>
          <a:p>
            <a:pPr lvl="1">
              <a:lnSpc>
                <a:spcPct val="140000"/>
              </a:lnSpc>
            </a:pPr>
            <a:r>
              <a:rPr lang="zh-CN" altLang="en-US" dirty="0">
                <a:solidFill>
                  <a:srgbClr val="C00000"/>
                </a:solidFill>
              </a:rPr>
              <a:t>通用性</a:t>
            </a:r>
            <a:r>
              <a:rPr lang="zh-CN" altLang="en-US" dirty="0"/>
              <a:t>：所采取的防护措施应该能够处理各种类型的攻击。</a:t>
            </a:r>
            <a:endParaRPr lang="en-US" altLang="zh-CN" dirty="0"/>
          </a:p>
          <a:p>
            <a:pPr lvl="1">
              <a:lnSpc>
                <a:spcPct val="140000"/>
              </a:lnSpc>
            </a:pPr>
            <a:r>
              <a:rPr lang="zh-CN" altLang="en-US" dirty="0">
                <a:solidFill>
                  <a:srgbClr val="C00000"/>
                </a:solidFill>
              </a:rPr>
              <a:t>及时性</a:t>
            </a:r>
            <a:r>
              <a:rPr lang="zh-CN" altLang="en-US" dirty="0"/>
              <a:t>：应该快速响应，以便限制受感染的程序或系统以及感染之后带来的活动。</a:t>
            </a:r>
            <a:endParaRPr lang="en-US" altLang="zh-CN" dirty="0"/>
          </a:p>
          <a:p>
            <a:pPr lvl="1">
              <a:lnSpc>
                <a:spcPct val="140000"/>
              </a:lnSpc>
            </a:pPr>
            <a:r>
              <a:rPr lang="zh-CN" altLang="en-US" dirty="0">
                <a:solidFill>
                  <a:srgbClr val="C00000"/>
                </a:solidFill>
              </a:rPr>
              <a:t>弹性</a:t>
            </a:r>
            <a:r>
              <a:rPr lang="zh-CN" altLang="en-US" dirty="0"/>
              <a:t>：应该能够抵抗攻击者为了隐藏他们的恶意软件而采用的入侵技术。</a:t>
            </a:r>
            <a:endParaRPr lang="en-US" altLang="zh-CN" dirty="0"/>
          </a:p>
          <a:p>
            <a:pPr lvl="1">
              <a:lnSpc>
                <a:spcPct val="140000"/>
              </a:lnSpc>
            </a:pPr>
            <a:r>
              <a:rPr lang="zh-CN" altLang="en-US" dirty="0">
                <a:solidFill>
                  <a:srgbClr val="C00000"/>
                </a:solidFill>
              </a:rPr>
              <a:t>最小拒绝服务攻击成本</a:t>
            </a:r>
            <a:r>
              <a:rPr lang="zh-CN" altLang="en-US" dirty="0"/>
              <a:t>：应该能够最小地减少所需的容量或者服务，不应该明显的破坏正常操作。</a:t>
            </a:r>
            <a:endParaRPr lang="en-US" altLang="zh-CN" dirty="0"/>
          </a:p>
          <a:p>
            <a:pPr lvl="1">
              <a:lnSpc>
                <a:spcPct val="140000"/>
              </a:lnSpc>
            </a:pPr>
            <a:r>
              <a:rPr lang="zh-CN" altLang="en-US" dirty="0">
                <a:solidFill>
                  <a:srgbClr val="C00000"/>
                </a:solidFill>
              </a:rPr>
              <a:t>透明性</a:t>
            </a:r>
            <a:r>
              <a:rPr lang="zh-CN" altLang="en-US" dirty="0"/>
              <a:t>：不需要修改现有的操作系统、软件应用程序和与硬件就可以使用防护措施软件或设备。</a:t>
            </a:r>
            <a:endParaRPr lang="en-US" altLang="zh-CN" dirty="0"/>
          </a:p>
          <a:p>
            <a:pPr lvl="1">
              <a:lnSpc>
                <a:spcPct val="140000"/>
              </a:lnSpc>
            </a:pPr>
            <a:r>
              <a:rPr lang="zh-CN" altLang="en-US" dirty="0">
                <a:solidFill>
                  <a:srgbClr val="C00000"/>
                </a:solidFill>
              </a:rPr>
              <a:t>全局和局部覆盖</a:t>
            </a:r>
            <a:r>
              <a:rPr lang="zh-CN" altLang="en-US" dirty="0"/>
              <a:t>：这些防护措施应该能够处理来自公司网络内部或者外部的攻击。</a:t>
            </a:r>
            <a:endParaRPr lang="en-US" altLang="zh-CN" dirty="0"/>
          </a:p>
          <a:p>
            <a:pPr>
              <a:lnSpc>
                <a:spcPct val="140000"/>
              </a:lnSpc>
            </a:pPr>
            <a:r>
              <a:rPr lang="zh-CN" altLang="en-US" dirty="0"/>
              <a:t>满足所有的需求通常需要同时采用多种防护措施。</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108</a:t>
            </a:fld>
            <a:endParaRPr kumimoji="1" lang="zh-CN" altLang="en-US" dirty="0"/>
          </a:p>
        </p:txBody>
      </p:sp>
    </p:spTree>
    <p:extLst>
      <p:ext uri="{BB962C8B-B14F-4D97-AF65-F5344CB8AC3E}">
        <p14:creationId xmlns:p14="http://schemas.microsoft.com/office/powerpoint/2010/main" val="30906587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10.10.2 </a:t>
            </a:r>
            <a:r>
              <a:rPr kumimoji="1" lang="zh-CN" altLang="zh-CN" dirty="0">
                <a:solidFill>
                  <a:prstClr val="black"/>
                </a:solidFill>
              </a:rPr>
              <a:t>基于主机的扫描器</a:t>
            </a:r>
            <a:endParaRPr lang="zh-CN" altLang="en-US" dirty="0"/>
          </a:p>
        </p:txBody>
      </p:sp>
      <p:sp>
        <p:nvSpPr>
          <p:cNvPr id="3" name="内容占位符 2"/>
          <p:cNvSpPr>
            <a:spLocks noGrp="1"/>
          </p:cNvSpPr>
          <p:nvPr>
            <p:ph idx="1"/>
          </p:nvPr>
        </p:nvSpPr>
        <p:spPr>
          <a:xfrm>
            <a:off x="838200" y="1330036"/>
            <a:ext cx="10515600" cy="4892634"/>
          </a:xfrm>
        </p:spPr>
        <p:txBody>
          <a:bodyPr>
            <a:normAutofit fontScale="92500" lnSpcReduction="10000"/>
          </a:bodyPr>
          <a:lstStyle/>
          <a:p>
            <a:pPr>
              <a:lnSpc>
                <a:spcPct val="120000"/>
              </a:lnSpc>
            </a:pPr>
            <a:r>
              <a:rPr lang="zh-CN" altLang="en-US" dirty="0"/>
              <a:t>四代</a:t>
            </a:r>
            <a:r>
              <a:rPr lang="zh-CN" altLang="en-US" dirty="0">
                <a:solidFill>
                  <a:srgbClr val="C00000"/>
                </a:solidFill>
              </a:rPr>
              <a:t>反病毒</a:t>
            </a:r>
            <a:r>
              <a:rPr lang="zh-CN" altLang="en-US" dirty="0"/>
              <a:t>软件：</a:t>
            </a:r>
            <a:endParaRPr lang="en-US" altLang="zh-CN" dirty="0"/>
          </a:p>
          <a:p>
            <a:pPr lvl="1">
              <a:lnSpc>
                <a:spcPct val="120000"/>
              </a:lnSpc>
            </a:pPr>
            <a:r>
              <a:rPr lang="zh-CN" altLang="en-US" dirty="0"/>
              <a:t>第一代：简单的扫描器。</a:t>
            </a:r>
            <a:endParaRPr lang="en-US" altLang="zh-CN" dirty="0"/>
          </a:p>
          <a:p>
            <a:pPr lvl="1">
              <a:lnSpc>
                <a:spcPct val="120000"/>
              </a:lnSpc>
            </a:pPr>
            <a:r>
              <a:rPr lang="zh-CN" altLang="en-US" dirty="0"/>
              <a:t>第二代：启发式扫描器。</a:t>
            </a:r>
            <a:endParaRPr lang="en-US" altLang="zh-CN" dirty="0"/>
          </a:p>
          <a:p>
            <a:pPr lvl="1">
              <a:lnSpc>
                <a:spcPct val="120000"/>
              </a:lnSpc>
            </a:pPr>
            <a:r>
              <a:rPr lang="zh-CN" altLang="en-US" dirty="0"/>
              <a:t>第三代：活动陷阱。</a:t>
            </a:r>
            <a:endParaRPr lang="en-US" altLang="zh-CN" dirty="0"/>
          </a:p>
          <a:p>
            <a:pPr lvl="1">
              <a:lnSpc>
                <a:spcPct val="120000"/>
              </a:lnSpc>
            </a:pPr>
            <a:r>
              <a:rPr lang="zh-CN" altLang="en-US" dirty="0"/>
              <a:t>第四代：全功能保护。</a:t>
            </a:r>
            <a:endParaRPr lang="en-US" altLang="zh-CN" dirty="0"/>
          </a:p>
          <a:p>
            <a:pPr>
              <a:lnSpc>
                <a:spcPct val="120000"/>
              </a:lnSpc>
            </a:pPr>
            <a:r>
              <a:rPr lang="zh-CN" altLang="en-US" dirty="0"/>
              <a:t>第一代扫描器需要</a:t>
            </a:r>
            <a:r>
              <a:rPr lang="zh-CN" altLang="en-US" dirty="0">
                <a:solidFill>
                  <a:srgbClr val="C00000"/>
                </a:solidFill>
              </a:rPr>
              <a:t>恶意软件签名</a:t>
            </a:r>
            <a:r>
              <a:rPr lang="zh-CN" altLang="en-US" dirty="0"/>
              <a:t>从而可以鉴别恶意软件。</a:t>
            </a:r>
            <a:endParaRPr lang="en-US" altLang="zh-CN" dirty="0"/>
          </a:p>
          <a:p>
            <a:pPr lvl="1">
              <a:lnSpc>
                <a:spcPct val="120000"/>
              </a:lnSpc>
            </a:pPr>
            <a:r>
              <a:rPr lang="zh-CN" altLang="en-US" dirty="0">
                <a:solidFill>
                  <a:srgbClr val="C00000"/>
                </a:solidFill>
              </a:rPr>
              <a:t>签名可能包含通配符</a:t>
            </a:r>
            <a:r>
              <a:rPr lang="zh-CN" altLang="en-US" dirty="0"/>
              <a:t>，但是同一恶意软件所有复制的签名有相同的架构和比特模式。</a:t>
            </a:r>
            <a:endParaRPr lang="en-US" altLang="zh-CN" dirty="0"/>
          </a:p>
          <a:p>
            <a:pPr lvl="1">
              <a:lnSpc>
                <a:spcPct val="120000"/>
              </a:lnSpc>
            </a:pPr>
            <a:r>
              <a:rPr lang="zh-CN" altLang="en-US" dirty="0"/>
              <a:t>基于签名的扫描器仅限于用来</a:t>
            </a:r>
            <a:r>
              <a:rPr lang="zh-CN" altLang="en-US" dirty="0">
                <a:solidFill>
                  <a:srgbClr val="C00000"/>
                </a:solidFill>
              </a:rPr>
              <a:t>检测已知的恶意软件</a:t>
            </a:r>
            <a:r>
              <a:rPr lang="zh-CN" altLang="en-US" dirty="0"/>
              <a:t>。</a:t>
            </a:r>
            <a:endParaRPr lang="en-US" altLang="zh-CN" dirty="0"/>
          </a:p>
          <a:p>
            <a:pPr lvl="1">
              <a:lnSpc>
                <a:spcPct val="120000"/>
              </a:lnSpc>
            </a:pPr>
            <a:r>
              <a:rPr lang="zh-CN" altLang="en-US" dirty="0"/>
              <a:t>另一类型的第一代扫描器</a:t>
            </a:r>
            <a:r>
              <a:rPr lang="zh-CN" altLang="en-US" dirty="0">
                <a:solidFill>
                  <a:srgbClr val="C00000"/>
                </a:solidFill>
              </a:rPr>
              <a:t>记录所有程序的长度</a:t>
            </a:r>
            <a:r>
              <a:rPr lang="zh-CN" altLang="en-US" dirty="0"/>
              <a:t>，因此当有病毒感染时，通过寻找长度变化的程序即可检测出已感染文件。</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109</a:t>
            </a:fld>
            <a:endParaRPr kumimoji="1" lang="zh-CN" altLang="en-US" dirty="0"/>
          </a:p>
        </p:txBody>
      </p:sp>
    </p:spTree>
    <p:extLst>
      <p:ext uri="{BB962C8B-B14F-4D97-AF65-F5344CB8AC3E}">
        <p14:creationId xmlns:p14="http://schemas.microsoft.com/office/powerpoint/2010/main" val="388921013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10.10.2 </a:t>
            </a:r>
            <a:r>
              <a:rPr kumimoji="1" lang="zh-CN" altLang="zh-CN" dirty="0">
                <a:solidFill>
                  <a:prstClr val="black"/>
                </a:solidFill>
              </a:rPr>
              <a:t>基于主机的扫描器</a:t>
            </a:r>
            <a:endParaRPr lang="zh-CN" altLang="en-US" dirty="0"/>
          </a:p>
        </p:txBody>
      </p:sp>
      <p:sp>
        <p:nvSpPr>
          <p:cNvPr id="3" name="内容占位符 2"/>
          <p:cNvSpPr>
            <a:spLocks noGrp="1"/>
          </p:cNvSpPr>
          <p:nvPr>
            <p:ph idx="1"/>
          </p:nvPr>
        </p:nvSpPr>
        <p:spPr/>
        <p:txBody>
          <a:bodyPr>
            <a:normAutofit fontScale="92500"/>
          </a:bodyPr>
          <a:lstStyle/>
          <a:p>
            <a:pPr>
              <a:lnSpc>
                <a:spcPct val="150000"/>
              </a:lnSpc>
            </a:pPr>
            <a:r>
              <a:rPr lang="zh-CN" altLang="en-US" sz="2400" dirty="0"/>
              <a:t>第二代扫描器</a:t>
            </a:r>
            <a:r>
              <a:rPr lang="zh-CN" altLang="en-US" sz="2400" dirty="0">
                <a:solidFill>
                  <a:srgbClr val="C00000"/>
                </a:solidFill>
              </a:rPr>
              <a:t>不依靠特殊的签名</a:t>
            </a:r>
            <a:r>
              <a:rPr lang="zh-CN" altLang="en-US" sz="2400" dirty="0"/>
              <a:t>。扫描器使用</a:t>
            </a:r>
            <a:r>
              <a:rPr lang="zh-CN" altLang="en-US" sz="2400" dirty="0">
                <a:solidFill>
                  <a:srgbClr val="C00000"/>
                </a:solidFill>
              </a:rPr>
              <a:t>启发式规则</a:t>
            </a:r>
            <a:r>
              <a:rPr lang="zh-CN" altLang="en-US" sz="2400" dirty="0"/>
              <a:t>寻找可能的恶意软件实例，可以寻找跟恶意软件关联的</a:t>
            </a:r>
            <a:r>
              <a:rPr lang="zh-CN" altLang="en-US" sz="2400" dirty="0">
                <a:solidFill>
                  <a:srgbClr val="C00000"/>
                </a:solidFill>
              </a:rPr>
              <a:t>代码碎片</a:t>
            </a:r>
            <a:r>
              <a:rPr lang="zh-CN" altLang="en-US" sz="2400" dirty="0"/>
              <a:t>。比如，扫描器有可能通过寻找在</a:t>
            </a:r>
            <a:r>
              <a:rPr lang="zh-CN" altLang="en-US" sz="2400" dirty="0">
                <a:solidFill>
                  <a:srgbClr val="C00000"/>
                </a:solidFill>
              </a:rPr>
              <a:t>多态病毒</a:t>
            </a:r>
            <a:r>
              <a:rPr lang="zh-CN" altLang="en-US" sz="2400" dirty="0"/>
              <a:t>中使用的加密循环的开始从而可以发现加密密钥。一旦密钥被发现，扫描器可以解密恶意软件从而鉴别它，移除感染使得程序正常提供服务。</a:t>
            </a:r>
            <a:endParaRPr lang="en-US" altLang="zh-CN" sz="2400" dirty="0"/>
          </a:p>
          <a:p>
            <a:pPr lvl="1">
              <a:lnSpc>
                <a:spcPct val="150000"/>
              </a:lnSpc>
            </a:pPr>
            <a:r>
              <a:rPr lang="zh-CN" altLang="en-US" dirty="0"/>
              <a:t>另一种第二代扫描器方法是</a:t>
            </a:r>
            <a:r>
              <a:rPr lang="zh-CN" altLang="en-US" dirty="0">
                <a:solidFill>
                  <a:srgbClr val="C00000"/>
                </a:solidFill>
              </a:rPr>
              <a:t>完整性检查</a:t>
            </a:r>
            <a:r>
              <a:rPr lang="zh-CN" altLang="en-US" dirty="0"/>
              <a:t>。校验和可以附在每个程序的后面。</a:t>
            </a:r>
            <a:endParaRPr lang="en-US" altLang="zh-CN" dirty="0"/>
          </a:p>
          <a:p>
            <a:pPr lvl="1">
              <a:lnSpc>
                <a:spcPct val="150000"/>
              </a:lnSpc>
            </a:pPr>
            <a:r>
              <a:rPr lang="zh-CN" altLang="en-US" dirty="0"/>
              <a:t>对那些可以修改程序之后可以同时改变校验和的恶意软件，可以使用</a:t>
            </a:r>
            <a:r>
              <a:rPr lang="zh-CN" altLang="en-US" dirty="0">
                <a:solidFill>
                  <a:srgbClr val="C00000"/>
                </a:solidFill>
              </a:rPr>
              <a:t>加密的散列函数</a:t>
            </a:r>
            <a:r>
              <a:rPr lang="zh-CN" altLang="en-US" dirty="0"/>
              <a:t>。如果程序的保护列表被保存在安全的位置，那么这种方法同时可以检测到在这些位置安装流氓代码或程序的尝试。</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110</a:t>
            </a:fld>
            <a:endParaRPr kumimoji="1" lang="zh-CN" altLang="en-US" dirty="0"/>
          </a:p>
        </p:txBody>
      </p:sp>
    </p:spTree>
    <p:extLst>
      <p:ext uri="{BB962C8B-B14F-4D97-AF65-F5344CB8AC3E}">
        <p14:creationId xmlns:p14="http://schemas.microsoft.com/office/powerpoint/2010/main" val="49465406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10.10.2 </a:t>
            </a:r>
            <a:r>
              <a:rPr kumimoji="1" lang="zh-CN" altLang="zh-CN" dirty="0">
                <a:solidFill>
                  <a:prstClr val="black"/>
                </a:solidFill>
              </a:rPr>
              <a:t>基于主机的扫描器</a:t>
            </a:r>
            <a:endParaRPr lang="zh-CN" altLang="en-US" dirty="0"/>
          </a:p>
        </p:txBody>
      </p:sp>
      <p:sp>
        <p:nvSpPr>
          <p:cNvPr id="3" name="内容占位符 2"/>
          <p:cNvSpPr>
            <a:spLocks noGrp="1"/>
          </p:cNvSpPr>
          <p:nvPr>
            <p:ph idx="1"/>
          </p:nvPr>
        </p:nvSpPr>
        <p:spPr>
          <a:xfrm>
            <a:off x="838200" y="1413164"/>
            <a:ext cx="10515600" cy="4809506"/>
          </a:xfrm>
        </p:spPr>
        <p:txBody>
          <a:bodyPr>
            <a:normAutofit/>
          </a:bodyPr>
          <a:lstStyle/>
          <a:p>
            <a:pPr>
              <a:lnSpc>
                <a:spcPct val="150000"/>
              </a:lnSpc>
            </a:pPr>
            <a:r>
              <a:rPr lang="zh-CN" altLang="en-US" dirty="0"/>
              <a:t>第三代扫描器是驻留在内存中的程序，它通过</a:t>
            </a:r>
            <a:r>
              <a:rPr lang="zh-CN" altLang="en-US" dirty="0">
                <a:solidFill>
                  <a:srgbClr val="C00000"/>
                </a:solidFill>
              </a:rPr>
              <a:t>恶意软件的行为</a:t>
            </a:r>
            <a:r>
              <a:rPr lang="zh-CN" altLang="en-US" dirty="0"/>
              <a:t>而不是结构来鉴别恶意软件。它只需要鉴别企图入侵的恶意软件的一小部分行为集合然后进行干预处理即可。</a:t>
            </a:r>
            <a:endParaRPr lang="en-US" altLang="zh-CN" dirty="0"/>
          </a:p>
          <a:p>
            <a:pPr>
              <a:lnSpc>
                <a:spcPct val="150000"/>
              </a:lnSpc>
            </a:pPr>
            <a:r>
              <a:rPr lang="zh-CN" altLang="en-US" dirty="0"/>
              <a:t>第四代扫描器是由</a:t>
            </a:r>
            <a:r>
              <a:rPr lang="zh-CN" altLang="en-US" dirty="0">
                <a:solidFill>
                  <a:srgbClr val="C00000"/>
                </a:solidFill>
              </a:rPr>
              <a:t>各种反病毒技术</a:t>
            </a:r>
            <a:r>
              <a:rPr lang="zh-CN" altLang="en-US" dirty="0"/>
              <a:t>组成的程序包。这包括</a:t>
            </a:r>
            <a:r>
              <a:rPr lang="zh-CN" altLang="en-US" dirty="0">
                <a:solidFill>
                  <a:srgbClr val="C00000"/>
                </a:solidFill>
              </a:rPr>
              <a:t>扫描和活动陷阱</a:t>
            </a:r>
            <a:r>
              <a:rPr lang="zh-CN" altLang="en-US" dirty="0"/>
              <a:t>组件。另外，这种程序包包括</a:t>
            </a:r>
            <a:r>
              <a:rPr lang="zh-CN" altLang="en-US" dirty="0">
                <a:solidFill>
                  <a:srgbClr val="C00000"/>
                </a:solidFill>
              </a:rPr>
              <a:t>访问控制</a:t>
            </a:r>
            <a:r>
              <a:rPr lang="zh-CN" altLang="en-US" dirty="0"/>
              <a:t>能力，可以限制恶意软件入侵系统的能力，同时也能限制恶意软件更新文件以便传播的能力。</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111</a:t>
            </a:fld>
            <a:endParaRPr kumimoji="1" lang="zh-CN" altLang="en-US" dirty="0"/>
          </a:p>
        </p:txBody>
      </p:sp>
    </p:spTree>
    <p:extLst>
      <p:ext uri="{BB962C8B-B14F-4D97-AF65-F5344CB8AC3E}">
        <p14:creationId xmlns:p14="http://schemas.microsoft.com/office/powerpoint/2010/main" val="382234984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10.10.2 </a:t>
            </a:r>
            <a:r>
              <a:rPr kumimoji="1" lang="zh-CN" altLang="zh-CN" dirty="0">
                <a:solidFill>
                  <a:prstClr val="black"/>
                </a:solidFill>
              </a:rPr>
              <a:t>基于主机的扫描器</a:t>
            </a:r>
            <a:endParaRPr lang="zh-CN" altLang="en-US" dirty="0"/>
          </a:p>
        </p:txBody>
      </p:sp>
      <p:sp>
        <p:nvSpPr>
          <p:cNvPr id="3" name="内容占位符 2"/>
          <p:cNvSpPr>
            <a:spLocks noGrp="1"/>
          </p:cNvSpPr>
          <p:nvPr>
            <p:ph idx="1"/>
          </p:nvPr>
        </p:nvSpPr>
        <p:spPr>
          <a:xfrm>
            <a:off x="838200" y="1244211"/>
            <a:ext cx="10515600" cy="5109087"/>
          </a:xfrm>
        </p:spPr>
        <p:txBody>
          <a:bodyPr>
            <a:normAutofit fontScale="85000" lnSpcReduction="20000"/>
          </a:bodyPr>
          <a:lstStyle/>
          <a:p>
            <a:pPr>
              <a:lnSpc>
                <a:spcPct val="150000"/>
              </a:lnSpc>
            </a:pPr>
            <a:r>
              <a:rPr lang="zh-CN" altLang="en-US" dirty="0">
                <a:solidFill>
                  <a:srgbClr val="C00000"/>
                </a:solidFill>
              </a:rPr>
              <a:t>基于主机的行为阻挡软件</a:t>
            </a:r>
            <a:r>
              <a:rPr lang="zh-CN" altLang="en-US" dirty="0"/>
              <a:t>：与启发式或者基于指纹的扫描器不同，行为阻挡软件集成到主机的操作系统中，实时监控恶意程序的行为，在恶意软件影响系统之前阻挡其恶意的行为。</a:t>
            </a:r>
            <a:endParaRPr lang="en-US" altLang="zh-CN" dirty="0"/>
          </a:p>
          <a:p>
            <a:pPr>
              <a:lnSpc>
                <a:spcPct val="150000"/>
              </a:lnSpc>
            </a:pPr>
            <a:r>
              <a:rPr lang="zh-CN" altLang="en-US" dirty="0"/>
              <a:t>监控的行为包括以下内容：</a:t>
            </a:r>
            <a:endParaRPr lang="en-US" altLang="zh-CN" dirty="0"/>
          </a:p>
          <a:p>
            <a:pPr lvl="1">
              <a:lnSpc>
                <a:spcPct val="150000"/>
              </a:lnSpc>
            </a:pPr>
            <a:r>
              <a:rPr lang="zh-CN" altLang="en-US" dirty="0"/>
              <a:t>尝试打开、浏览、删除和</a:t>
            </a:r>
            <a:r>
              <a:rPr lang="en-US" altLang="zh-CN" dirty="0"/>
              <a:t>/</a:t>
            </a:r>
            <a:r>
              <a:rPr lang="zh-CN" altLang="en-US" dirty="0"/>
              <a:t>或修改文件。</a:t>
            </a:r>
            <a:endParaRPr lang="en-US" altLang="zh-CN" dirty="0"/>
          </a:p>
          <a:p>
            <a:pPr lvl="1">
              <a:lnSpc>
                <a:spcPct val="150000"/>
              </a:lnSpc>
            </a:pPr>
            <a:r>
              <a:rPr lang="zh-CN" altLang="en-US" dirty="0"/>
              <a:t>尝试格式化磁盘驱动器以及其他不可恢复的磁盘操作。</a:t>
            </a:r>
            <a:endParaRPr lang="en-US" altLang="zh-CN" dirty="0"/>
          </a:p>
          <a:p>
            <a:pPr lvl="1">
              <a:lnSpc>
                <a:spcPct val="150000"/>
              </a:lnSpc>
            </a:pPr>
            <a:r>
              <a:rPr lang="zh-CN" altLang="en-US" dirty="0"/>
              <a:t>修改逻辑可执行文件和宏文件。</a:t>
            </a:r>
            <a:endParaRPr lang="en-US" altLang="zh-CN" dirty="0"/>
          </a:p>
          <a:p>
            <a:pPr lvl="1">
              <a:lnSpc>
                <a:spcPct val="150000"/>
              </a:lnSpc>
            </a:pPr>
            <a:r>
              <a:rPr lang="zh-CN" altLang="en-US" dirty="0"/>
              <a:t>修改关键系统设置，比如启动设置。</a:t>
            </a:r>
            <a:endParaRPr lang="en-US" altLang="zh-CN" dirty="0"/>
          </a:p>
          <a:p>
            <a:pPr lvl="1">
              <a:lnSpc>
                <a:spcPct val="150000"/>
              </a:lnSpc>
            </a:pPr>
            <a:r>
              <a:rPr lang="zh-CN" altLang="en-US" dirty="0"/>
              <a:t>将电子邮件和即时信息客户端脚本化以便发送可执行内容。</a:t>
            </a:r>
            <a:endParaRPr lang="en-US" altLang="zh-CN" dirty="0"/>
          </a:p>
          <a:p>
            <a:pPr lvl="1">
              <a:lnSpc>
                <a:spcPct val="150000"/>
              </a:lnSpc>
            </a:pPr>
            <a:r>
              <a:rPr lang="zh-CN" altLang="en-US" dirty="0"/>
              <a:t>初始化网络通信</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112</a:t>
            </a:fld>
            <a:endParaRPr kumimoji="1" lang="zh-CN" altLang="en-US" dirty="0"/>
          </a:p>
        </p:txBody>
      </p:sp>
    </p:spTree>
    <p:extLst>
      <p:ext uri="{BB962C8B-B14F-4D97-AF65-F5344CB8AC3E}">
        <p14:creationId xmlns:p14="http://schemas.microsoft.com/office/powerpoint/2010/main" val="200096436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10.10.2 </a:t>
            </a:r>
            <a:r>
              <a:rPr kumimoji="1" lang="zh-CN" altLang="zh-CN" dirty="0">
                <a:solidFill>
                  <a:prstClr val="black"/>
                </a:solidFill>
              </a:rPr>
              <a:t>基于主机的扫描器</a:t>
            </a:r>
            <a:endParaRPr lang="zh-CN" altLang="en-US" dirty="0"/>
          </a:p>
        </p:txBody>
      </p:sp>
      <p:sp>
        <p:nvSpPr>
          <p:cNvPr id="3" name="内容占位符 2"/>
          <p:cNvSpPr>
            <a:spLocks noGrp="1"/>
          </p:cNvSpPr>
          <p:nvPr>
            <p:ph idx="1"/>
          </p:nvPr>
        </p:nvSpPr>
        <p:spPr>
          <a:xfrm>
            <a:off x="838200" y="1413164"/>
            <a:ext cx="10515600" cy="4809506"/>
          </a:xfrm>
        </p:spPr>
        <p:txBody>
          <a:bodyPr>
            <a:normAutofit fontScale="85000" lnSpcReduction="10000"/>
          </a:bodyPr>
          <a:lstStyle/>
          <a:p>
            <a:pPr>
              <a:lnSpc>
                <a:spcPct val="150000"/>
              </a:lnSpc>
            </a:pPr>
            <a:r>
              <a:rPr lang="zh-CN" altLang="en-US" dirty="0"/>
              <a:t>行为阻挡有它的</a:t>
            </a:r>
            <a:r>
              <a:rPr lang="zh-CN" altLang="en-US" dirty="0">
                <a:solidFill>
                  <a:srgbClr val="C00000"/>
                </a:solidFill>
              </a:rPr>
              <a:t>局限性</a:t>
            </a:r>
            <a:r>
              <a:rPr lang="zh-CN" altLang="en-US" dirty="0"/>
              <a:t>。因为恶意代码在所有行为被辨别出之前已经运行在目标机器上了，因此在被检测和阻挡之前，它会对系统造成损害。</a:t>
            </a:r>
            <a:endParaRPr lang="en-US" altLang="zh-CN" dirty="0"/>
          </a:p>
          <a:p>
            <a:pPr>
              <a:lnSpc>
                <a:spcPct val="150000"/>
              </a:lnSpc>
            </a:pPr>
            <a:r>
              <a:rPr lang="zh-CN" altLang="en-US" dirty="0">
                <a:solidFill>
                  <a:srgbClr val="C00000"/>
                </a:solidFill>
              </a:rPr>
              <a:t>间谍软件检测和移除</a:t>
            </a:r>
            <a:r>
              <a:rPr lang="zh-CN" altLang="en-US" dirty="0"/>
              <a:t>：这些工具专门用于检测和移除间谍软件，提供更多的鲁棒性能。它们</a:t>
            </a:r>
            <a:r>
              <a:rPr lang="zh-CN" altLang="en-US" dirty="0">
                <a:solidFill>
                  <a:srgbClr val="C00000"/>
                </a:solidFill>
              </a:rPr>
              <a:t>弥补了通用反病毒产品功能的不足</a:t>
            </a:r>
            <a:r>
              <a:rPr lang="zh-CN" altLang="en-US" dirty="0"/>
              <a:t>，需要一起使用。</a:t>
            </a:r>
            <a:endParaRPr lang="en-US" altLang="zh-CN" dirty="0"/>
          </a:p>
          <a:p>
            <a:pPr>
              <a:lnSpc>
                <a:spcPct val="150000"/>
              </a:lnSpc>
            </a:pPr>
            <a:r>
              <a:rPr lang="en-US" altLang="zh-CN" dirty="0">
                <a:solidFill>
                  <a:srgbClr val="C00000"/>
                </a:solidFill>
              </a:rPr>
              <a:t>rootkit</a:t>
            </a:r>
            <a:r>
              <a:rPr lang="zh-CN" altLang="en-US" dirty="0">
                <a:solidFill>
                  <a:srgbClr val="C00000"/>
                </a:solidFill>
              </a:rPr>
              <a:t>防护措施</a:t>
            </a:r>
            <a:r>
              <a:rPr lang="zh-CN" altLang="en-US" dirty="0"/>
              <a:t>：抵制</a:t>
            </a:r>
            <a:r>
              <a:rPr lang="en-US" altLang="zh-CN" dirty="0"/>
              <a:t>rootkit</a:t>
            </a:r>
            <a:r>
              <a:rPr lang="zh-CN" altLang="en-US" dirty="0"/>
              <a:t>病毒需要许多</a:t>
            </a:r>
            <a:r>
              <a:rPr lang="zh-CN" altLang="en-US" dirty="0">
                <a:solidFill>
                  <a:srgbClr val="C00000"/>
                </a:solidFill>
              </a:rPr>
              <a:t>网络</a:t>
            </a:r>
            <a:r>
              <a:rPr lang="en-US" altLang="zh-CN" dirty="0">
                <a:solidFill>
                  <a:srgbClr val="C00000"/>
                </a:solidFill>
              </a:rPr>
              <a:t>-</a:t>
            </a:r>
            <a:r>
              <a:rPr lang="zh-CN" altLang="en-US" dirty="0">
                <a:solidFill>
                  <a:srgbClr val="C00000"/>
                </a:solidFill>
              </a:rPr>
              <a:t>计算机级别</a:t>
            </a:r>
            <a:r>
              <a:rPr lang="zh-CN" altLang="en-US" dirty="0"/>
              <a:t>的安全工具。网络和基于主机的的</a:t>
            </a:r>
            <a:r>
              <a:rPr lang="en-US" altLang="zh-CN" dirty="0"/>
              <a:t>IDSs</a:t>
            </a:r>
            <a:r>
              <a:rPr lang="zh-CN" altLang="en-US" dirty="0"/>
              <a:t>可以从传入流量中寻找已知</a:t>
            </a:r>
            <a:r>
              <a:rPr lang="en-US" altLang="zh-CN" dirty="0"/>
              <a:t>rootkit</a:t>
            </a:r>
            <a:r>
              <a:rPr lang="zh-CN" altLang="en-US" dirty="0"/>
              <a:t>攻击的代码签名。基于主机的反病毒软件同时可以辨认已知签名。</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113</a:t>
            </a:fld>
            <a:endParaRPr kumimoji="1" lang="zh-CN" altLang="en-US" dirty="0"/>
          </a:p>
        </p:txBody>
      </p:sp>
    </p:spTree>
    <p:extLst>
      <p:ext uri="{BB962C8B-B14F-4D97-AF65-F5344CB8AC3E}">
        <p14:creationId xmlns:p14="http://schemas.microsoft.com/office/powerpoint/2010/main" val="389201864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10.10.2 </a:t>
            </a:r>
            <a:r>
              <a:rPr kumimoji="1" lang="zh-CN" altLang="zh-CN" dirty="0">
                <a:solidFill>
                  <a:prstClr val="black"/>
                </a:solidFill>
              </a:rPr>
              <a:t>基于主机的扫描器</a:t>
            </a:r>
            <a:endParaRPr lang="zh-CN" altLang="en-US" dirty="0"/>
          </a:p>
        </p:txBody>
      </p:sp>
      <p:sp>
        <p:nvSpPr>
          <p:cNvPr id="3" name="内容占位符 2"/>
          <p:cNvSpPr>
            <a:spLocks noGrp="1"/>
          </p:cNvSpPr>
          <p:nvPr>
            <p:ph idx="1"/>
          </p:nvPr>
        </p:nvSpPr>
        <p:spPr>
          <a:xfrm>
            <a:off x="838200" y="1413164"/>
            <a:ext cx="10515600" cy="4809506"/>
          </a:xfrm>
        </p:spPr>
        <p:txBody>
          <a:bodyPr>
            <a:normAutofit/>
          </a:bodyPr>
          <a:lstStyle/>
          <a:p>
            <a:pPr>
              <a:lnSpc>
                <a:spcPct val="150000"/>
              </a:lnSpc>
            </a:pPr>
            <a:r>
              <a:rPr lang="en-US" altLang="zh-CN" dirty="0">
                <a:solidFill>
                  <a:srgbClr val="C00000"/>
                </a:solidFill>
              </a:rPr>
              <a:t>rootkit</a:t>
            </a:r>
            <a:r>
              <a:rPr lang="zh-CN" altLang="en-US" dirty="0">
                <a:solidFill>
                  <a:srgbClr val="C00000"/>
                </a:solidFill>
              </a:rPr>
              <a:t>防护措施</a:t>
            </a:r>
            <a:endParaRPr lang="en-US" altLang="zh-CN" dirty="0">
              <a:solidFill>
                <a:srgbClr val="C00000"/>
              </a:solidFill>
            </a:endParaRPr>
          </a:p>
          <a:p>
            <a:pPr lvl="1">
              <a:lnSpc>
                <a:spcPct val="150000"/>
              </a:lnSpc>
            </a:pPr>
            <a:r>
              <a:rPr lang="zh-CN" altLang="en-US" dirty="0"/>
              <a:t>对于新的</a:t>
            </a:r>
            <a:r>
              <a:rPr lang="en-US" altLang="zh-CN" dirty="0"/>
              <a:t>rootkit</a:t>
            </a:r>
            <a:r>
              <a:rPr lang="zh-CN" altLang="en-US" dirty="0"/>
              <a:t>病毒或者现存的</a:t>
            </a:r>
            <a:r>
              <a:rPr lang="en-US" altLang="zh-CN" dirty="0"/>
              <a:t>rootkit</a:t>
            </a:r>
            <a:r>
              <a:rPr lang="zh-CN" altLang="en-US" dirty="0"/>
              <a:t>病毒修改版本出现，导致出现新的签名。此时，系统需要寻找能表明这些</a:t>
            </a:r>
            <a:r>
              <a:rPr lang="en-US" altLang="zh-CN" dirty="0"/>
              <a:t>rootkit</a:t>
            </a:r>
            <a:r>
              <a:rPr lang="zh-CN" altLang="en-US" dirty="0"/>
              <a:t>存在的</a:t>
            </a:r>
            <a:r>
              <a:rPr lang="zh-CN" altLang="en-US" dirty="0">
                <a:solidFill>
                  <a:srgbClr val="C00000"/>
                </a:solidFill>
              </a:rPr>
              <a:t>行为</a:t>
            </a:r>
            <a:r>
              <a:rPr lang="zh-CN" altLang="en-US" dirty="0"/>
              <a:t>，比如</a:t>
            </a:r>
            <a:r>
              <a:rPr lang="zh-CN" altLang="en-US" dirty="0">
                <a:solidFill>
                  <a:srgbClr val="C00000"/>
                </a:solidFill>
              </a:rPr>
              <a:t>侦听系统调用</a:t>
            </a:r>
            <a:r>
              <a:rPr lang="zh-CN" altLang="en-US" dirty="0"/>
              <a:t>，或者与键盘驱动器交互的</a:t>
            </a:r>
            <a:r>
              <a:rPr lang="zh-CN" altLang="en-US" dirty="0">
                <a:solidFill>
                  <a:srgbClr val="C00000"/>
                </a:solidFill>
              </a:rPr>
              <a:t>键盘记录器</a:t>
            </a:r>
            <a:r>
              <a:rPr lang="zh-CN" altLang="en-US" dirty="0"/>
              <a:t>。</a:t>
            </a:r>
            <a:endParaRPr lang="en-US" altLang="zh-CN" dirty="0"/>
          </a:p>
          <a:p>
            <a:pPr lvl="1">
              <a:lnSpc>
                <a:spcPct val="150000"/>
              </a:lnSpc>
            </a:pPr>
            <a:r>
              <a:rPr lang="zh-CN" altLang="en-US" dirty="0"/>
              <a:t>另一种方法是对文件进行</a:t>
            </a:r>
            <a:r>
              <a:rPr lang="zh-CN" altLang="en-US" dirty="0">
                <a:solidFill>
                  <a:srgbClr val="C00000"/>
                </a:solidFill>
              </a:rPr>
              <a:t>完整性检查</a:t>
            </a:r>
            <a:r>
              <a:rPr lang="zh-CN" altLang="en-US" dirty="0"/>
              <a:t>。如果内核级</a:t>
            </a:r>
            <a:r>
              <a:rPr lang="en-US" altLang="zh-CN" dirty="0"/>
              <a:t>rootkit</a:t>
            </a:r>
            <a:r>
              <a:rPr lang="zh-CN" altLang="en-US" dirty="0"/>
              <a:t>被检测出来，唯一安全可靠的恢复方法是在已感染机器上重新安装一个全新的操作系统。。</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114</a:t>
            </a:fld>
            <a:endParaRPr kumimoji="1" lang="zh-CN" altLang="en-US" dirty="0"/>
          </a:p>
        </p:txBody>
      </p:sp>
    </p:spTree>
    <p:extLst>
      <p:ext uri="{BB962C8B-B14F-4D97-AF65-F5344CB8AC3E}">
        <p14:creationId xmlns:p14="http://schemas.microsoft.com/office/powerpoint/2010/main" val="256131470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10.10.3 </a:t>
            </a:r>
            <a:r>
              <a:rPr kumimoji="1" lang="zh-CN" altLang="zh-CN" dirty="0">
                <a:solidFill>
                  <a:prstClr val="black"/>
                </a:solidFill>
              </a:rPr>
              <a:t>边界扫描方法</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t>病毒软件使用的下一个位置是组织机构的</a:t>
            </a:r>
            <a:r>
              <a:rPr lang="zh-CN" altLang="en-US" dirty="0">
                <a:solidFill>
                  <a:srgbClr val="C00000"/>
                </a:solidFill>
              </a:rPr>
              <a:t>防火墙</a:t>
            </a:r>
            <a:r>
              <a:rPr lang="zh-CN" altLang="en-US" dirty="0"/>
              <a:t>和</a:t>
            </a:r>
            <a:r>
              <a:rPr lang="en-US" altLang="zh-CN" dirty="0">
                <a:solidFill>
                  <a:srgbClr val="C00000"/>
                </a:solidFill>
              </a:rPr>
              <a:t>IDS</a:t>
            </a:r>
            <a:r>
              <a:rPr lang="zh-CN" altLang="en-US" dirty="0">
                <a:solidFill>
                  <a:srgbClr val="C00000"/>
                </a:solidFill>
              </a:rPr>
              <a:t>（入侵检测系统）</a:t>
            </a:r>
            <a:r>
              <a:rPr lang="zh-CN" altLang="en-US" dirty="0"/>
              <a:t>。这一般包括运行在这些系统上的电子邮件和</a:t>
            </a:r>
            <a:r>
              <a:rPr lang="en-US" altLang="zh-CN" dirty="0"/>
              <a:t>Web</a:t>
            </a:r>
            <a:r>
              <a:rPr lang="zh-CN" altLang="en-US" dirty="0"/>
              <a:t>代理服务。也有可能包含在</a:t>
            </a:r>
            <a:r>
              <a:rPr lang="en-US" altLang="zh-CN" dirty="0"/>
              <a:t>IDS</a:t>
            </a:r>
            <a:r>
              <a:rPr lang="zh-CN" altLang="en-US" dirty="0"/>
              <a:t>的流量分析组件中。这使得反病毒软件可以访问通过网络连接到任何组织系统的处于传输状态的恶意软件，同时可以大规模地观测恶意软件的活动。</a:t>
            </a:r>
            <a:endParaRPr lang="en-US" altLang="zh-CN" dirty="0"/>
          </a:p>
          <a:p>
            <a:pPr>
              <a:lnSpc>
                <a:spcPct val="150000"/>
              </a:lnSpc>
            </a:pPr>
            <a:r>
              <a:rPr lang="zh-CN" altLang="en-US" dirty="0"/>
              <a:t>这种软件有可能包含</a:t>
            </a:r>
            <a:r>
              <a:rPr lang="zh-CN" altLang="en-US" dirty="0">
                <a:solidFill>
                  <a:srgbClr val="C00000"/>
                </a:solidFill>
              </a:rPr>
              <a:t>入侵预防措施</a:t>
            </a:r>
            <a:r>
              <a:rPr lang="zh-CN" altLang="en-US" dirty="0"/>
              <a:t>，</a:t>
            </a:r>
            <a:r>
              <a:rPr lang="zh-CN" altLang="en-US" dirty="0">
                <a:solidFill>
                  <a:srgbClr val="C00000"/>
                </a:solidFill>
              </a:rPr>
              <a:t>阻挡可疑流量</a:t>
            </a:r>
            <a:r>
              <a:rPr lang="zh-CN" altLang="en-US" dirty="0"/>
              <a:t>，由此可以阻止恶意软件到达并破坏组织内部或外部的目标系统。</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115</a:t>
            </a:fld>
            <a:endParaRPr kumimoji="1" lang="zh-CN" altLang="en-US" dirty="0"/>
          </a:p>
        </p:txBody>
      </p:sp>
    </p:spTree>
    <p:extLst>
      <p:ext uri="{BB962C8B-B14F-4D97-AF65-F5344CB8AC3E}">
        <p14:creationId xmlns:p14="http://schemas.microsoft.com/office/powerpoint/2010/main" val="55737411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10.10.3 </a:t>
            </a:r>
            <a:r>
              <a:rPr kumimoji="1" lang="zh-CN" altLang="zh-CN" dirty="0">
                <a:solidFill>
                  <a:prstClr val="black"/>
                </a:solidFill>
              </a:rPr>
              <a:t>边界扫描方法</a:t>
            </a:r>
            <a:endParaRPr lang="zh-CN" altLang="en-US" dirty="0"/>
          </a:p>
        </p:txBody>
      </p:sp>
      <p:sp>
        <p:nvSpPr>
          <p:cNvPr id="3" name="内容占位符 2"/>
          <p:cNvSpPr>
            <a:spLocks noGrp="1"/>
          </p:cNvSpPr>
          <p:nvPr>
            <p:ph idx="1"/>
          </p:nvPr>
        </p:nvSpPr>
        <p:spPr>
          <a:xfrm>
            <a:off x="838200" y="1425039"/>
            <a:ext cx="10515600" cy="4672413"/>
          </a:xfrm>
        </p:spPr>
        <p:txBody>
          <a:bodyPr>
            <a:normAutofit fontScale="85000" lnSpcReduction="20000"/>
          </a:bodyPr>
          <a:lstStyle/>
          <a:p>
            <a:pPr>
              <a:lnSpc>
                <a:spcPct val="150000"/>
              </a:lnSpc>
            </a:pPr>
            <a:r>
              <a:rPr lang="zh-CN" altLang="en-US" dirty="0"/>
              <a:t>然而，</a:t>
            </a:r>
            <a:r>
              <a:rPr lang="zh-CN" altLang="en-US" dirty="0">
                <a:solidFill>
                  <a:srgbClr val="C00000"/>
                </a:solidFill>
              </a:rPr>
              <a:t>边界扫描</a:t>
            </a:r>
            <a:r>
              <a:rPr lang="zh-CN" altLang="en-US" dirty="0"/>
              <a:t>仅局限于</a:t>
            </a:r>
            <a:r>
              <a:rPr lang="zh-CN" altLang="en-US" dirty="0">
                <a:solidFill>
                  <a:srgbClr val="C00000"/>
                </a:solidFill>
              </a:rPr>
              <a:t>扫描恶意软件内容</a:t>
            </a:r>
            <a:r>
              <a:rPr lang="zh-CN" altLang="en-US" dirty="0"/>
              <a:t>，因为它没有访问任何运行在已感染系统的已观测行为的权限。</a:t>
            </a:r>
            <a:endParaRPr lang="en-US" altLang="zh-CN" dirty="0"/>
          </a:p>
          <a:p>
            <a:pPr>
              <a:lnSpc>
                <a:spcPct val="150000"/>
              </a:lnSpc>
            </a:pPr>
            <a:r>
              <a:rPr lang="zh-CN" altLang="en-US" dirty="0"/>
              <a:t>有两种类型的监控软件可能被使用：</a:t>
            </a:r>
            <a:endParaRPr lang="en-US" altLang="zh-CN" dirty="0"/>
          </a:p>
          <a:p>
            <a:pPr lvl="1">
              <a:lnSpc>
                <a:spcPct val="150000"/>
              </a:lnSpc>
            </a:pPr>
            <a:r>
              <a:rPr lang="zh-CN" altLang="en-US" b="1" dirty="0"/>
              <a:t>入口监控</a:t>
            </a:r>
            <a:r>
              <a:rPr lang="zh-CN" altLang="en-US" dirty="0"/>
              <a:t>：位于企业网络和互联网的边界处。可能是边界路由器、外部防火墙、单独的被动监控工具中的入口过滤软件。</a:t>
            </a:r>
            <a:r>
              <a:rPr lang="zh-CN" altLang="en-US" dirty="0">
                <a:solidFill>
                  <a:srgbClr val="C00000"/>
                </a:solidFill>
              </a:rPr>
              <a:t>蜜罐技术</a:t>
            </a:r>
            <a:r>
              <a:rPr lang="zh-CN" altLang="en-US" dirty="0"/>
              <a:t>可以捕捉恶意软件传入流量，寻找未使用的局部</a:t>
            </a:r>
            <a:r>
              <a:rPr lang="en-US" altLang="zh-CN" dirty="0"/>
              <a:t>IP</a:t>
            </a:r>
            <a:r>
              <a:rPr lang="zh-CN" altLang="en-US" dirty="0"/>
              <a:t>地址的传入流量。</a:t>
            </a:r>
            <a:endParaRPr lang="en-US" altLang="zh-CN" dirty="0"/>
          </a:p>
          <a:p>
            <a:pPr lvl="1">
              <a:lnSpc>
                <a:spcPct val="150000"/>
              </a:lnSpc>
            </a:pPr>
            <a:r>
              <a:rPr lang="zh-CN" altLang="en-US" b="1" dirty="0"/>
              <a:t>出口监控</a:t>
            </a:r>
            <a:r>
              <a:rPr lang="zh-CN" altLang="en-US" dirty="0"/>
              <a:t>：位于企业私有局域网的入口点，或企业网络和互联网的边界上。跟入口监控一样，外部防火墙或者蜜罐技术可以为监控软件提供场所。其实，这两种监控软件可以并置排列。出口监控软件被设计用来通过监控传出流量中的扫描迹象或者其他可疑行为从而捕捉恶意软件的攻击源。</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116</a:t>
            </a:fld>
            <a:endParaRPr kumimoji="1" lang="zh-CN" altLang="en-US" dirty="0"/>
          </a:p>
        </p:txBody>
      </p:sp>
    </p:spTree>
    <p:extLst>
      <p:ext uri="{BB962C8B-B14F-4D97-AF65-F5344CB8AC3E}">
        <p14:creationId xmlns:p14="http://schemas.microsoft.com/office/powerpoint/2010/main" val="18519523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10.10.3 </a:t>
            </a:r>
            <a:r>
              <a:rPr kumimoji="1" lang="zh-CN" altLang="zh-CN" dirty="0">
                <a:solidFill>
                  <a:prstClr val="black"/>
                </a:solidFill>
              </a:rPr>
              <a:t>边界扫描方法</a:t>
            </a:r>
            <a:endParaRPr lang="zh-CN" altLang="en-US" dirty="0"/>
          </a:p>
        </p:txBody>
      </p:sp>
      <p:sp>
        <p:nvSpPr>
          <p:cNvPr id="3" name="内容占位符 2"/>
          <p:cNvSpPr>
            <a:spLocks noGrp="1"/>
          </p:cNvSpPr>
          <p:nvPr>
            <p:ph idx="1"/>
          </p:nvPr>
        </p:nvSpPr>
        <p:spPr>
          <a:xfrm>
            <a:off x="838200" y="1377537"/>
            <a:ext cx="10515600" cy="5115337"/>
          </a:xfrm>
        </p:spPr>
        <p:txBody>
          <a:bodyPr>
            <a:normAutofit fontScale="70000" lnSpcReduction="20000"/>
          </a:bodyPr>
          <a:lstStyle/>
          <a:p>
            <a:pPr>
              <a:lnSpc>
                <a:spcPct val="140000"/>
              </a:lnSpc>
            </a:pPr>
            <a:r>
              <a:rPr lang="zh-CN" altLang="en-US" sz="3400" dirty="0"/>
              <a:t>边界监控同样可以通过检测</a:t>
            </a:r>
            <a:r>
              <a:rPr lang="zh-CN" altLang="en-US" sz="3400" dirty="0">
                <a:solidFill>
                  <a:srgbClr val="C00000"/>
                </a:solidFill>
              </a:rPr>
              <a:t>不正常的流量模式</a:t>
            </a:r>
            <a:r>
              <a:rPr lang="zh-CN" altLang="en-US" sz="3400" dirty="0"/>
              <a:t>从而对</a:t>
            </a:r>
            <a:r>
              <a:rPr lang="zh-CN" altLang="en-US" sz="3400" dirty="0">
                <a:solidFill>
                  <a:srgbClr val="C00000"/>
                </a:solidFill>
              </a:rPr>
              <a:t>僵尸网络</a:t>
            </a:r>
            <a:r>
              <a:rPr lang="zh-CN" altLang="en-US" sz="3400" dirty="0"/>
              <a:t>的活动作出检测和应答。一旦僵尸被激活，这种监控可以用来检测攻击。然而，</a:t>
            </a:r>
            <a:r>
              <a:rPr lang="zh-CN" altLang="en-US" sz="3400" dirty="0">
                <a:solidFill>
                  <a:srgbClr val="C00000"/>
                </a:solidFill>
              </a:rPr>
              <a:t>基本的目标</a:t>
            </a:r>
            <a:r>
              <a:rPr lang="zh-CN" altLang="en-US" sz="3400" dirty="0"/>
              <a:t>是在僵尸网络的建造阶段使用各种扫描技术，辨别并阻挡用来进行传播这种载荷类型的恶意软件，从而检测并禁止该网络。</a:t>
            </a:r>
            <a:endParaRPr lang="en-US" altLang="zh-CN" sz="3400" dirty="0"/>
          </a:p>
          <a:p>
            <a:pPr>
              <a:lnSpc>
                <a:spcPct val="140000"/>
              </a:lnSpc>
            </a:pPr>
            <a:r>
              <a:rPr lang="zh-CN" altLang="en-US" sz="3400" dirty="0">
                <a:solidFill>
                  <a:srgbClr val="C00000"/>
                </a:solidFill>
              </a:rPr>
              <a:t>边界蠕虫防护措施</a:t>
            </a:r>
            <a:r>
              <a:rPr lang="zh-CN" altLang="en-US" sz="3400" dirty="0"/>
              <a:t>：处理病毒和蠕虫的技术有很大程度的交叠。一旦蠕虫常驻机器，可以使用反病毒软件来检测并移除它。另外，因为蠕虫传播产生了很大的网络活动，边界网络活动和监控可以组成基本的蠕虫防护措施。</a:t>
            </a:r>
            <a:endParaRPr lang="en-US" altLang="zh-CN" sz="3400" dirty="0"/>
          </a:p>
          <a:p>
            <a:pPr>
              <a:lnSpc>
                <a:spcPct val="140000"/>
              </a:lnSpc>
            </a:pPr>
            <a:r>
              <a:rPr lang="en-US" altLang="zh-CN" sz="3400" dirty="0"/>
              <a:t>6</a:t>
            </a:r>
            <a:r>
              <a:rPr lang="zh-CN" altLang="en-US" sz="3400" dirty="0"/>
              <a:t>种</a:t>
            </a:r>
            <a:r>
              <a:rPr lang="zh-CN" altLang="en-US" sz="3400" dirty="0">
                <a:solidFill>
                  <a:srgbClr val="C00000"/>
                </a:solidFill>
              </a:rPr>
              <a:t>蠕虫防护措施</a:t>
            </a:r>
            <a:r>
              <a:rPr lang="zh-CN" altLang="en-US" sz="3400" dirty="0"/>
              <a:t>：</a:t>
            </a:r>
            <a:endParaRPr lang="en-US" altLang="zh-CN" sz="3400" dirty="0"/>
          </a:p>
          <a:p>
            <a:pPr lvl="1">
              <a:lnSpc>
                <a:spcPct val="140000"/>
              </a:lnSpc>
            </a:pPr>
            <a:r>
              <a:rPr lang="zh-CN" altLang="en-US" sz="2900" dirty="0"/>
              <a:t>（</a:t>
            </a:r>
            <a:r>
              <a:rPr lang="en-US" altLang="zh-CN" sz="2900" dirty="0"/>
              <a:t>1</a:t>
            </a:r>
            <a:r>
              <a:rPr lang="zh-CN" altLang="en-US" sz="2900" dirty="0"/>
              <a:t>）</a:t>
            </a:r>
            <a:r>
              <a:rPr lang="zh-CN" altLang="en-US" sz="2900" b="1" dirty="0"/>
              <a:t>基于签名的蠕虫扫描过滤</a:t>
            </a:r>
            <a:r>
              <a:rPr lang="zh-CN" altLang="en-US" sz="2900" dirty="0"/>
              <a:t>：这种防护措施产生蠕虫签名，该签名用来阻止蠕虫扫描进入</a:t>
            </a:r>
            <a:r>
              <a:rPr lang="en-US" altLang="zh-CN" sz="2900" dirty="0"/>
              <a:t>/</a:t>
            </a:r>
            <a:r>
              <a:rPr lang="zh-CN" altLang="en-US" sz="2900" dirty="0"/>
              <a:t>离开网络</a:t>
            </a:r>
            <a:r>
              <a:rPr lang="en-US" altLang="zh-CN" sz="2900" dirty="0"/>
              <a:t>/</a:t>
            </a:r>
            <a:r>
              <a:rPr lang="zh-CN" altLang="en-US" sz="2900" dirty="0"/>
              <a:t>主机。这种方法容易受到多态蠕虫的攻击；或者是检测软件漏掉该蠕虫，即便可以处理这种蠕虫，有可能花费太长的反应时间。</a:t>
            </a:r>
            <a:endParaRPr lang="en-US" altLang="zh-CN" sz="29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117</a:t>
            </a:fld>
            <a:endParaRPr kumimoji="1" lang="zh-CN" altLang="en-US" dirty="0"/>
          </a:p>
        </p:txBody>
      </p:sp>
    </p:spTree>
    <p:extLst>
      <p:ext uri="{BB962C8B-B14F-4D97-AF65-F5344CB8AC3E}">
        <p14:creationId xmlns:p14="http://schemas.microsoft.com/office/powerpoint/2010/main" val="278776168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10.10.3 </a:t>
            </a:r>
            <a:r>
              <a:rPr kumimoji="1" lang="zh-CN" altLang="zh-CN" dirty="0">
                <a:solidFill>
                  <a:prstClr val="black"/>
                </a:solidFill>
              </a:rPr>
              <a:t>边界扫描方法</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50000"/>
              </a:lnSpc>
            </a:pPr>
            <a:r>
              <a:rPr lang="en-US" altLang="zh-CN" dirty="0"/>
              <a:t>6</a:t>
            </a:r>
            <a:r>
              <a:rPr lang="zh-CN" altLang="en-US" dirty="0"/>
              <a:t>种</a:t>
            </a:r>
            <a:r>
              <a:rPr lang="zh-CN" altLang="en-US" dirty="0">
                <a:solidFill>
                  <a:srgbClr val="C00000"/>
                </a:solidFill>
              </a:rPr>
              <a:t>蠕虫防护措施</a:t>
            </a:r>
            <a:r>
              <a:rPr lang="zh-CN" altLang="en-US" dirty="0"/>
              <a:t>：</a:t>
            </a:r>
            <a:endParaRPr lang="en-US" altLang="zh-CN" dirty="0"/>
          </a:p>
          <a:p>
            <a:pPr lvl="1">
              <a:lnSpc>
                <a:spcPct val="150000"/>
              </a:lnSpc>
            </a:pPr>
            <a:r>
              <a:rPr lang="zh-CN" altLang="en-US" dirty="0"/>
              <a:t>（</a:t>
            </a:r>
            <a:r>
              <a:rPr lang="en-US" altLang="zh-CN" dirty="0"/>
              <a:t>2</a:t>
            </a:r>
            <a:r>
              <a:rPr lang="zh-CN" altLang="en-US" dirty="0"/>
              <a:t>）</a:t>
            </a:r>
            <a:r>
              <a:rPr lang="zh-CN" altLang="en-US" b="1" dirty="0"/>
              <a:t>基于过滤的蠕虫遏制</a:t>
            </a:r>
            <a:r>
              <a:rPr lang="zh-CN" altLang="en-US" dirty="0"/>
              <a:t>：关注于蠕虫内容而不是扫描签名。过滤器检查信息以决定该信息中是否有蠕虫代码。这种方法非常有效，但是需要高效的检测算法和迅速的警报传播。</a:t>
            </a:r>
            <a:endParaRPr lang="en-US" altLang="zh-CN" dirty="0"/>
          </a:p>
          <a:p>
            <a:pPr lvl="1">
              <a:lnSpc>
                <a:spcPct val="150000"/>
              </a:lnSpc>
            </a:pPr>
            <a:r>
              <a:rPr lang="zh-CN" altLang="en-US" dirty="0"/>
              <a:t>（</a:t>
            </a:r>
            <a:r>
              <a:rPr lang="en-US" altLang="zh-CN" dirty="0"/>
              <a:t>3</a:t>
            </a:r>
            <a:r>
              <a:rPr lang="zh-CN" altLang="en-US" dirty="0"/>
              <a:t>）</a:t>
            </a:r>
            <a:r>
              <a:rPr lang="zh-CN" altLang="en-US" b="1" dirty="0"/>
              <a:t>基于载荷分类的蠕虫遏制</a:t>
            </a:r>
            <a:r>
              <a:rPr lang="zh-CN" altLang="en-US" dirty="0"/>
              <a:t>：基于网络的技术检查数据包查看里面是否包含蠕虫。许多异常检测技术可以使用，但是必须小心高层次的漏报和误报。这种方法不产生基于字节模式的签名，而是寻找暗示了溢出的控制和数据流结构。</a:t>
            </a:r>
          </a:p>
          <a:p>
            <a:pPr lvl="1">
              <a:lnSpc>
                <a:spcPct val="150000"/>
              </a:lnSpc>
            </a:pPr>
            <a:r>
              <a:rPr lang="zh-CN" altLang="en-US" dirty="0"/>
              <a:t>（</a:t>
            </a:r>
            <a:r>
              <a:rPr lang="en-US" altLang="zh-CN" dirty="0"/>
              <a:t>4</a:t>
            </a:r>
            <a:r>
              <a:rPr lang="zh-CN" altLang="en-US" dirty="0"/>
              <a:t>）</a:t>
            </a:r>
            <a:r>
              <a:rPr lang="zh-CN" altLang="en-US" b="1" dirty="0"/>
              <a:t>阈值随机游走（</a:t>
            </a:r>
            <a:r>
              <a:rPr lang="en-US" altLang="zh-CN" b="1" dirty="0"/>
              <a:t>TRW</a:t>
            </a:r>
            <a:r>
              <a:rPr lang="zh-CN" altLang="en-US" b="1" dirty="0"/>
              <a:t>）扫描检测</a:t>
            </a:r>
            <a:r>
              <a:rPr lang="zh-CN" altLang="en-US" dirty="0"/>
              <a:t>：</a:t>
            </a:r>
            <a:r>
              <a:rPr lang="en-US" altLang="zh-CN" dirty="0"/>
              <a:t>TRW</a:t>
            </a:r>
            <a:r>
              <a:rPr lang="zh-CN" altLang="en-US" dirty="0"/>
              <a:t>随机选择连接目的地，以检测扫描器是否正在运行。</a:t>
            </a:r>
            <a:r>
              <a:rPr lang="en-US" altLang="zh-CN" dirty="0"/>
              <a:t>TRW</a:t>
            </a:r>
            <a:r>
              <a:rPr lang="zh-CN" altLang="en-US" dirty="0"/>
              <a:t>适合部署在高速、低成本的网络设备上。它可以有效抵抗蠕虫扫描中的常见行为。</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118</a:t>
            </a:fld>
            <a:endParaRPr kumimoji="1" lang="zh-CN" altLang="en-US" dirty="0"/>
          </a:p>
        </p:txBody>
      </p:sp>
    </p:spTree>
    <p:extLst>
      <p:ext uri="{BB962C8B-B14F-4D97-AF65-F5344CB8AC3E}">
        <p14:creationId xmlns:p14="http://schemas.microsoft.com/office/powerpoint/2010/main" val="416711639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10.10.3 </a:t>
            </a:r>
            <a:r>
              <a:rPr kumimoji="1" lang="zh-CN" altLang="zh-CN" dirty="0">
                <a:solidFill>
                  <a:prstClr val="black"/>
                </a:solidFill>
              </a:rPr>
              <a:t>边界扫描方法</a:t>
            </a:r>
            <a:endParaRPr lang="zh-CN" altLang="en-US" dirty="0"/>
          </a:p>
        </p:txBody>
      </p:sp>
      <p:sp>
        <p:nvSpPr>
          <p:cNvPr id="3" name="内容占位符 2"/>
          <p:cNvSpPr>
            <a:spLocks noGrp="1"/>
          </p:cNvSpPr>
          <p:nvPr>
            <p:ph idx="1"/>
          </p:nvPr>
        </p:nvSpPr>
        <p:spPr>
          <a:xfrm>
            <a:off x="838200" y="1377538"/>
            <a:ext cx="10515600" cy="4845132"/>
          </a:xfrm>
        </p:spPr>
        <p:txBody>
          <a:bodyPr>
            <a:normAutofit fontScale="92500" lnSpcReduction="10000"/>
          </a:bodyPr>
          <a:lstStyle/>
          <a:p>
            <a:pPr>
              <a:lnSpc>
                <a:spcPct val="150000"/>
              </a:lnSpc>
            </a:pPr>
            <a:r>
              <a:rPr lang="en-US" altLang="zh-CN" dirty="0"/>
              <a:t>6</a:t>
            </a:r>
            <a:r>
              <a:rPr lang="zh-CN" altLang="en-US" dirty="0"/>
              <a:t>种</a:t>
            </a:r>
            <a:r>
              <a:rPr lang="zh-CN" altLang="en-US" dirty="0">
                <a:solidFill>
                  <a:srgbClr val="C00000"/>
                </a:solidFill>
              </a:rPr>
              <a:t>蠕虫防护措施</a:t>
            </a:r>
            <a:r>
              <a:rPr lang="zh-CN" altLang="en-US" dirty="0"/>
              <a:t>：</a:t>
            </a:r>
            <a:endParaRPr lang="en-US" altLang="zh-CN" dirty="0"/>
          </a:p>
          <a:p>
            <a:pPr lvl="1">
              <a:lnSpc>
                <a:spcPct val="130000"/>
              </a:lnSpc>
            </a:pPr>
            <a:r>
              <a:rPr lang="zh-CN" altLang="en-US" dirty="0"/>
              <a:t>（</a:t>
            </a:r>
            <a:r>
              <a:rPr lang="en-US" altLang="zh-CN" dirty="0"/>
              <a:t>5</a:t>
            </a:r>
            <a:r>
              <a:rPr lang="zh-CN" altLang="en-US" dirty="0"/>
              <a:t>）</a:t>
            </a:r>
            <a:r>
              <a:rPr lang="zh-CN" altLang="en-US" b="1" dirty="0"/>
              <a:t>速率限制</a:t>
            </a:r>
            <a:r>
              <a:rPr lang="zh-CN" altLang="en-US" dirty="0"/>
              <a:t>：限制已感染主机的扫描流量速率。可以使用各种策略，比如限制在一个窗口时间内一个主机可以连接的新机器数量，检测高连接失败率，限制在一个窗口时间内一个主机可以扫描的</a:t>
            </a:r>
            <a:r>
              <a:rPr lang="en-US" altLang="zh-CN" dirty="0"/>
              <a:t>IP</a:t>
            </a:r>
            <a:r>
              <a:rPr lang="zh-CN" altLang="en-US" dirty="0"/>
              <a:t>地址数量。这种类型的防护措施有可能对正常流量导致更长的延时，不适合传播缓慢以便避免基于活动级别检测技术的隐蔽的蠕虫。</a:t>
            </a:r>
            <a:endParaRPr lang="en-US" altLang="zh-CN" dirty="0"/>
          </a:p>
          <a:p>
            <a:pPr lvl="1">
              <a:lnSpc>
                <a:spcPct val="130000"/>
              </a:lnSpc>
            </a:pPr>
            <a:r>
              <a:rPr lang="zh-CN" altLang="en-US" dirty="0"/>
              <a:t>（</a:t>
            </a:r>
            <a:r>
              <a:rPr lang="en-US" altLang="zh-CN" dirty="0"/>
              <a:t>6</a:t>
            </a:r>
            <a:r>
              <a:rPr lang="zh-CN" altLang="en-US" dirty="0"/>
              <a:t>）</a:t>
            </a:r>
            <a:r>
              <a:rPr lang="zh-CN" altLang="en-US" b="1" dirty="0"/>
              <a:t>速率停止</a:t>
            </a:r>
            <a:r>
              <a:rPr lang="zh-CN" altLang="en-US" dirty="0"/>
              <a:t>：当外出连接速率值或连接尝试次数超过指定阈值时，直接阻挡外出流量。需要包括以一种透明方式快速的解除被错误封锁的主机。可以将基于签名和过滤器的方法整合在一起，一旦签名或过滤器产生，每个被封锁的主机都可以被解除封锁。速率停止提供了一种很有效的防护措施，但不适用于低速、隐蔽的蠕虫。</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119</a:t>
            </a:fld>
            <a:endParaRPr kumimoji="1" lang="zh-CN" altLang="en-US" dirty="0"/>
          </a:p>
        </p:txBody>
      </p:sp>
    </p:spTree>
    <p:extLst>
      <p:ext uri="{BB962C8B-B14F-4D97-AF65-F5344CB8AC3E}">
        <p14:creationId xmlns:p14="http://schemas.microsoft.com/office/powerpoint/2010/main" val="27840542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10.10.4 </a:t>
            </a:r>
            <a:r>
              <a:rPr kumimoji="1" lang="zh-CN" altLang="zh-CN" dirty="0">
                <a:solidFill>
                  <a:prstClr val="black"/>
                </a:solidFill>
              </a:rPr>
              <a:t>分布式情报搜集方法</a:t>
            </a:r>
            <a:endParaRPr lang="zh-CN" altLang="en-US" dirty="0"/>
          </a:p>
        </p:txBody>
      </p:sp>
      <p:sp>
        <p:nvSpPr>
          <p:cNvPr id="3" name="内容占位符 2"/>
          <p:cNvSpPr>
            <a:spLocks noGrp="1"/>
          </p:cNvSpPr>
          <p:nvPr>
            <p:ph idx="1"/>
          </p:nvPr>
        </p:nvSpPr>
        <p:spPr>
          <a:xfrm>
            <a:off x="838200" y="1510758"/>
            <a:ext cx="3400425" cy="4586694"/>
          </a:xfrm>
        </p:spPr>
        <p:txBody>
          <a:bodyPr>
            <a:normAutofit fontScale="92500"/>
          </a:bodyPr>
          <a:lstStyle/>
          <a:p>
            <a:r>
              <a:rPr lang="zh-CN" altLang="en-US" sz="2400" dirty="0"/>
              <a:t>反病毒软件使用的最后一个位置是</a:t>
            </a:r>
            <a:r>
              <a:rPr lang="zh-CN" altLang="en-US" sz="2400" dirty="0">
                <a:solidFill>
                  <a:srgbClr val="C00000"/>
                </a:solidFill>
              </a:rPr>
              <a:t>分布式配置</a:t>
            </a:r>
            <a:r>
              <a:rPr lang="zh-CN" altLang="en-US" sz="2400" dirty="0"/>
              <a:t>。它从大量的基于主机和边界传感器中收集数据，将这些数据传达给中央分析系统，进行关联和分析，然后返回更新的签名和行为模式，使所有的协调系统可以应对和防御这种恶意软件攻击。</a:t>
            </a:r>
            <a:endParaRPr lang="en-US" altLang="zh-CN" sz="2400" dirty="0"/>
          </a:p>
          <a:p>
            <a:r>
              <a:rPr lang="zh-CN" altLang="en-US" sz="2400" dirty="0"/>
              <a:t>一种分布式蠕虫防护措施架构：</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120</a:t>
            </a:fld>
            <a:endParaRPr kumimoji="1" lang="zh-CN" altLang="en-US" dirty="0"/>
          </a:p>
        </p:txBody>
      </p:sp>
      <p:pic>
        <p:nvPicPr>
          <p:cNvPr id="5" name="图片 4"/>
          <p:cNvPicPr>
            <a:picLocks noChangeAspect="1"/>
          </p:cNvPicPr>
          <p:nvPr/>
        </p:nvPicPr>
        <p:blipFill>
          <a:blip r:embed="rId2"/>
          <a:stretch>
            <a:fillRect/>
          </a:stretch>
        </p:blipFill>
        <p:spPr>
          <a:xfrm>
            <a:off x="4357378" y="1423154"/>
            <a:ext cx="7304191" cy="4761902"/>
          </a:xfrm>
          <a:prstGeom prst="rect">
            <a:avLst/>
          </a:prstGeom>
        </p:spPr>
      </p:pic>
    </p:spTree>
    <p:extLst>
      <p:ext uri="{BB962C8B-B14F-4D97-AF65-F5344CB8AC3E}">
        <p14:creationId xmlns:p14="http://schemas.microsoft.com/office/powerpoint/2010/main" val="25829040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10.10.4 </a:t>
            </a:r>
            <a:r>
              <a:rPr kumimoji="1" lang="zh-CN" altLang="zh-CN" dirty="0">
                <a:solidFill>
                  <a:prstClr val="black"/>
                </a:solidFill>
              </a:rPr>
              <a:t>分布式情报搜集方法</a:t>
            </a:r>
            <a:endParaRPr lang="zh-CN" altLang="en-US" dirty="0"/>
          </a:p>
        </p:txBody>
      </p:sp>
      <p:sp>
        <p:nvSpPr>
          <p:cNvPr id="3" name="内容占位符 2"/>
          <p:cNvSpPr>
            <a:spLocks noGrp="1"/>
          </p:cNvSpPr>
          <p:nvPr>
            <p:ph idx="1"/>
          </p:nvPr>
        </p:nvSpPr>
        <p:spPr>
          <a:xfrm>
            <a:off x="838200" y="1510757"/>
            <a:ext cx="10515600" cy="4771289"/>
          </a:xfrm>
        </p:spPr>
        <p:txBody>
          <a:bodyPr>
            <a:normAutofit fontScale="92500" lnSpcReduction="20000"/>
          </a:bodyPr>
          <a:lstStyle/>
          <a:p>
            <a:pPr>
              <a:lnSpc>
                <a:spcPct val="130000"/>
              </a:lnSpc>
            </a:pPr>
            <a:r>
              <a:rPr lang="zh-CN" altLang="en-US" dirty="0"/>
              <a:t>系统工作方式如下：</a:t>
            </a:r>
            <a:endParaRPr lang="en-US" altLang="zh-CN" dirty="0"/>
          </a:p>
          <a:p>
            <a:pPr lvl="1">
              <a:lnSpc>
                <a:spcPct val="130000"/>
              </a:lnSpc>
            </a:pPr>
            <a:r>
              <a:rPr lang="zh-CN" altLang="en-US" dirty="0"/>
              <a:t>（</a:t>
            </a:r>
            <a:r>
              <a:rPr lang="en-US" altLang="zh-CN" dirty="0"/>
              <a:t>1</a:t>
            </a:r>
            <a:r>
              <a:rPr lang="zh-CN" altLang="en-US" dirty="0"/>
              <a:t>）部署在网络不同地方的传感器检测潜在的蠕虫，传感器逻辑可以采用</a:t>
            </a:r>
            <a:r>
              <a:rPr lang="en-US" altLang="zh-CN" dirty="0"/>
              <a:t>IDS</a:t>
            </a:r>
            <a:r>
              <a:rPr lang="zh-CN" altLang="en-US" dirty="0"/>
              <a:t>传感器。</a:t>
            </a:r>
            <a:endParaRPr lang="en-US" altLang="zh-CN" dirty="0"/>
          </a:p>
          <a:p>
            <a:pPr lvl="1">
              <a:lnSpc>
                <a:spcPct val="130000"/>
              </a:lnSpc>
            </a:pPr>
            <a:r>
              <a:rPr lang="zh-CN" altLang="en-US" dirty="0"/>
              <a:t>（</a:t>
            </a:r>
            <a:r>
              <a:rPr lang="en-US" altLang="zh-CN" dirty="0"/>
              <a:t>2</a:t>
            </a:r>
            <a:r>
              <a:rPr lang="zh-CN" altLang="en-US" dirty="0"/>
              <a:t>）传感器向中央服务器发送警报信息，分析接收到的警报信息。相关服务器决定观察到的蠕虫攻击和主要攻击特性之间的相似度。</a:t>
            </a:r>
            <a:endParaRPr lang="en-US" altLang="zh-CN" dirty="0"/>
          </a:p>
          <a:p>
            <a:pPr lvl="1">
              <a:lnSpc>
                <a:spcPct val="130000"/>
              </a:lnSpc>
            </a:pPr>
            <a:r>
              <a:rPr lang="zh-CN" altLang="en-US" dirty="0"/>
              <a:t>（</a:t>
            </a:r>
            <a:r>
              <a:rPr lang="en-US" altLang="zh-CN" dirty="0"/>
              <a:t>3</a:t>
            </a:r>
            <a:r>
              <a:rPr lang="zh-CN" altLang="en-US" dirty="0"/>
              <a:t>）服务器将该信息转发到受保护的环境中，在该环境中，潜在的蠕虫有可能被用来分析和测试。</a:t>
            </a:r>
            <a:endParaRPr lang="en-US" altLang="zh-CN" dirty="0"/>
          </a:p>
          <a:p>
            <a:pPr lvl="1">
              <a:lnSpc>
                <a:spcPct val="130000"/>
              </a:lnSpc>
            </a:pPr>
            <a:r>
              <a:rPr lang="zh-CN" altLang="en-US" dirty="0"/>
              <a:t>（</a:t>
            </a:r>
            <a:r>
              <a:rPr lang="en-US" altLang="zh-CN" dirty="0"/>
              <a:t>4</a:t>
            </a:r>
            <a:r>
              <a:rPr lang="zh-CN" altLang="en-US" dirty="0"/>
              <a:t>）受保护的系统测试可疑软件以确定其易受攻击程度。</a:t>
            </a:r>
            <a:endParaRPr lang="en-US" altLang="zh-CN" dirty="0"/>
          </a:p>
          <a:p>
            <a:pPr lvl="1">
              <a:lnSpc>
                <a:spcPct val="130000"/>
              </a:lnSpc>
            </a:pPr>
            <a:r>
              <a:rPr lang="zh-CN" altLang="en-US" dirty="0"/>
              <a:t>（</a:t>
            </a:r>
            <a:r>
              <a:rPr lang="en-US" altLang="zh-CN" dirty="0"/>
              <a:t>5</a:t>
            </a:r>
            <a:r>
              <a:rPr lang="zh-CN" altLang="en-US" dirty="0"/>
              <a:t>）受保护的系统产生一个或更多的软件补丁并进行测试。</a:t>
            </a:r>
            <a:endParaRPr lang="en-US" altLang="zh-CN" dirty="0"/>
          </a:p>
          <a:p>
            <a:pPr lvl="1">
              <a:lnSpc>
                <a:spcPct val="130000"/>
              </a:lnSpc>
            </a:pPr>
            <a:r>
              <a:rPr lang="zh-CN" altLang="en-US" dirty="0"/>
              <a:t>（</a:t>
            </a:r>
            <a:r>
              <a:rPr lang="en-US" altLang="zh-CN" dirty="0"/>
              <a:t>6</a:t>
            </a:r>
            <a:r>
              <a:rPr lang="zh-CN" altLang="en-US" dirty="0"/>
              <a:t>）如果补丁不容易受感染，而且不攻击应用程序的功能，系统将该补丁发送到应用程序主机，从而更新目标引用程序。</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121</a:t>
            </a:fld>
            <a:endParaRPr kumimoji="1" lang="zh-CN" altLang="en-US" dirty="0"/>
          </a:p>
        </p:txBody>
      </p:sp>
    </p:spTree>
    <p:extLst>
      <p:ext uri="{BB962C8B-B14F-4D97-AF65-F5344CB8AC3E}">
        <p14:creationId xmlns:p14="http://schemas.microsoft.com/office/powerpoint/2010/main" val="22734019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pPr>
              <a:lnSpc>
                <a:spcPct val="120000"/>
              </a:lnSpc>
            </a:pPr>
            <a:r>
              <a:rPr kumimoji="1" lang="zh-CN" altLang="en-US" dirty="0"/>
              <a:t>入侵检测</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fontScale="92500"/>
          </a:bodyPr>
          <a:lstStyle/>
          <a:p>
            <a:pPr algn="l"/>
            <a:r>
              <a:rPr kumimoji="1" lang="zh-CN" altLang="en-US" dirty="0"/>
              <a:t>入侵检测系统的架构</a:t>
            </a:r>
            <a:endParaRPr kumimoji="1" lang="en-US" altLang="zh-CN" dirty="0"/>
          </a:p>
          <a:p>
            <a:pPr algn="l"/>
            <a:endParaRPr kumimoji="1" lang="en-US" altLang="zh-CN" dirty="0"/>
          </a:p>
          <a:p>
            <a:pPr algn="l"/>
            <a:endParaRPr kumimoji="1" lang="en-US" altLang="zh-CN" dirty="0"/>
          </a:p>
          <a:p>
            <a:pPr algn="l"/>
            <a:endParaRPr kumimoji="1" lang="en-US" altLang="zh-CN" dirty="0"/>
          </a:p>
          <a:p>
            <a:pPr algn="l"/>
            <a:endParaRPr kumimoji="1" lang="en-US" altLang="zh-CN" dirty="0"/>
          </a:p>
          <a:p>
            <a:pPr algn="l"/>
            <a:endParaRPr kumimoji="1" lang="en-US" altLang="zh-CN" dirty="0"/>
          </a:p>
          <a:p>
            <a:pPr algn="l"/>
            <a:endParaRPr kumimoji="1" lang="zh-CN" altLang="en-US" dirty="0"/>
          </a:p>
          <a:p>
            <a:pPr lvl="1"/>
            <a:r>
              <a:rPr lang="zh-CN" altLang="en-US" b="0" i="0" dirty="0">
                <a:solidFill>
                  <a:srgbClr val="333333"/>
                </a:solidFill>
                <a:effectLst/>
                <a:latin typeface="-apple-system"/>
              </a:rPr>
              <a:t>事件产生器：从整个计算环境中获得事件，并向系统的其他部分提供此事件</a:t>
            </a:r>
          </a:p>
          <a:p>
            <a:pPr lvl="1"/>
            <a:r>
              <a:rPr lang="zh-CN" altLang="en-US" b="0" i="0" dirty="0">
                <a:solidFill>
                  <a:srgbClr val="333333"/>
                </a:solidFill>
                <a:effectLst/>
                <a:latin typeface="-apple-system"/>
              </a:rPr>
              <a:t>事件分析器：分析数据，发现危险、异常事件，通知响应单元</a:t>
            </a:r>
          </a:p>
          <a:p>
            <a:pPr lvl="1"/>
            <a:r>
              <a:rPr lang="zh-CN" altLang="en-US" b="0" i="0" dirty="0">
                <a:solidFill>
                  <a:srgbClr val="333333"/>
                </a:solidFill>
                <a:effectLst/>
                <a:latin typeface="-apple-system"/>
              </a:rPr>
              <a:t>响应单元：对分析结果作出反应</a:t>
            </a:r>
          </a:p>
          <a:p>
            <a:pPr lvl="1"/>
            <a:r>
              <a:rPr lang="zh-CN" altLang="en-US" b="0" i="0" dirty="0">
                <a:solidFill>
                  <a:srgbClr val="333333"/>
                </a:solidFill>
                <a:effectLst/>
                <a:latin typeface="-apple-system"/>
              </a:rPr>
              <a:t>事件数据库：存放各种中间和最终数据</a:t>
            </a:r>
          </a:p>
          <a:p>
            <a:pPr>
              <a:lnSpc>
                <a:spcPct val="120000"/>
              </a:lnSpc>
            </a:pPr>
            <a:endParaRPr kumimoji="1" lang="zh-CN" altLang="en-US" dirty="0"/>
          </a:p>
        </p:txBody>
      </p:sp>
      <p:grpSp>
        <p:nvGrpSpPr>
          <p:cNvPr id="7" name="组合 6"/>
          <p:cNvGrpSpPr/>
          <p:nvPr/>
        </p:nvGrpSpPr>
        <p:grpSpPr>
          <a:xfrm>
            <a:off x="939373" y="1836667"/>
            <a:ext cx="10884492" cy="2678771"/>
            <a:chOff x="1737739" y="1836668"/>
            <a:chExt cx="8867416" cy="2228968"/>
          </a:xfrm>
        </p:grpSpPr>
        <p:pic>
          <p:nvPicPr>
            <p:cNvPr id="1026" name="Picture 2">
              <a:extLst>
                <a:ext uri="{FF2B5EF4-FFF2-40B4-BE49-F238E27FC236}">
                  <a16:creationId xmlns:a16="http://schemas.microsoft.com/office/drawing/2014/main" id="{9A10A042-6CFB-4046-938B-74A9AF257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739" y="1836668"/>
              <a:ext cx="8388291" cy="222896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8389856" y="3808429"/>
              <a:ext cx="2215299" cy="2572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79110" y="6489302"/>
            <a:ext cx="2743200" cy="365125"/>
          </a:xfrm>
        </p:spPr>
        <p:txBody>
          <a:bodyPr/>
          <a:lstStyle/>
          <a:p>
            <a:r>
              <a:rPr kumimoji="1" lang="en-US" altLang="zh-CN" dirty="0"/>
              <a:t>8.7.3 </a:t>
            </a:r>
            <a:r>
              <a:rPr kumimoji="1" lang="zh-CN" altLang="en-US" dirty="0"/>
              <a:t>入侵检测系统</a:t>
            </a:r>
          </a:p>
        </p:txBody>
      </p:sp>
      <p:sp>
        <p:nvSpPr>
          <p:cNvPr id="10"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77683"/>
            <a:ext cx="3319670" cy="365125"/>
          </a:xfrm>
        </p:spPr>
        <p:txBody>
          <a:bodyPr/>
          <a:lstStyle/>
          <a:p>
            <a:fld id="{8D4D1E41-7A09-AB4A-A4E1-09765ADA2698}" type="slidenum">
              <a:rPr kumimoji="1" lang="zh-CN" altLang="en-US" smtClean="0"/>
              <a:pPr/>
              <a:t>122</a:t>
            </a:fld>
            <a:endParaRPr kumimoji="1" lang="zh-CN" altLang="en-US" dirty="0"/>
          </a:p>
        </p:txBody>
      </p:sp>
    </p:spTree>
    <p:extLst>
      <p:ext uri="{BB962C8B-B14F-4D97-AF65-F5344CB8AC3E}">
        <p14:creationId xmlns:p14="http://schemas.microsoft.com/office/powerpoint/2010/main" val="3149305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pPr>
              <a:lnSpc>
                <a:spcPct val="120000"/>
              </a:lnSpc>
            </a:pPr>
            <a:r>
              <a:rPr kumimoji="1" lang="zh-CN" altLang="en-US" dirty="0"/>
              <a:t>入侵检测</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a:bodyPr>
          <a:lstStyle/>
          <a:p>
            <a:pPr algn="l"/>
            <a:r>
              <a:rPr kumimoji="1" lang="zh-CN" altLang="en-US" dirty="0"/>
              <a:t>入侵检测系统的工作流程</a:t>
            </a:r>
          </a:p>
          <a:p>
            <a:pPr>
              <a:lnSpc>
                <a:spcPct val="120000"/>
              </a:lnSpc>
            </a:pPr>
            <a:endParaRPr kumimoji="1" lang="zh-CN" altLang="en-US" dirty="0"/>
          </a:p>
        </p:txBody>
      </p:sp>
      <p:grpSp>
        <p:nvGrpSpPr>
          <p:cNvPr id="7" name="组合 6"/>
          <p:cNvGrpSpPr/>
          <p:nvPr/>
        </p:nvGrpSpPr>
        <p:grpSpPr>
          <a:xfrm>
            <a:off x="0" y="1975018"/>
            <a:ext cx="6004874" cy="4300401"/>
            <a:chOff x="838200" y="2055949"/>
            <a:chExt cx="8541470" cy="4300401"/>
          </a:xfrm>
        </p:grpSpPr>
        <p:pic>
          <p:nvPicPr>
            <p:cNvPr id="2050" name="Picture 2">
              <a:extLst>
                <a:ext uri="{FF2B5EF4-FFF2-40B4-BE49-F238E27FC236}">
                  <a16:creationId xmlns:a16="http://schemas.microsoft.com/office/drawing/2014/main" id="{76BA1A58-EAF8-46DE-B1CA-C33E7F9849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55949"/>
              <a:ext cx="8423246" cy="430040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7456602" y="6108569"/>
              <a:ext cx="1923068" cy="2477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TextBox 7"/>
          <p:cNvSpPr txBox="1"/>
          <p:nvPr/>
        </p:nvSpPr>
        <p:spPr>
          <a:xfrm>
            <a:off x="6004874" y="4883085"/>
            <a:ext cx="424206" cy="369332"/>
          </a:xfrm>
          <a:prstGeom prst="rect">
            <a:avLst/>
          </a:prstGeom>
          <a:noFill/>
        </p:spPr>
        <p:txBody>
          <a:bodyPr wrap="square" rtlCol="0">
            <a:spAutoFit/>
          </a:bodyPr>
          <a:lstStyle/>
          <a:p>
            <a:r>
              <a:rPr lang="en-US" altLang="zh-CN" dirty="0"/>
              <a:t>N</a:t>
            </a:r>
            <a:endParaRPr lang="zh-CN" altLang="en-US" dirty="0"/>
          </a:p>
        </p:txBody>
      </p:sp>
      <p:sp>
        <p:nvSpPr>
          <p:cNvPr id="10" name="TextBox 9"/>
          <p:cNvSpPr txBox="1"/>
          <p:nvPr/>
        </p:nvSpPr>
        <p:spPr>
          <a:xfrm>
            <a:off x="2955774" y="5440728"/>
            <a:ext cx="424206" cy="369332"/>
          </a:xfrm>
          <a:prstGeom prst="rect">
            <a:avLst/>
          </a:prstGeom>
          <a:noFill/>
        </p:spPr>
        <p:txBody>
          <a:bodyPr wrap="square" rtlCol="0">
            <a:spAutoFit/>
          </a:bodyPr>
          <a:lstStyle/>
          <a:p>
            <a:r>
              <a:rPr lang="en-US" altLang="zh-CN" dirty="0"/>
              <a:t>Y</a:t>
            </a:r>
            <a:endParaRPr lang="zh-CN" altLang="en-US" dirty="0"/>
          </a:p>
        </p:txBody>
      </p:sp>
      <p:graphicFrame>
        <p:nvGraphicFramePr>
          <p:cNvPr id="12" name="表格 11"/>
          <p:cNvGraphicFramePr>
            <a:graphicFrameLocks noGrp="1"/>
          </p:cNvGraphicFramePr>
          <p:nvPr/>
        </p:nvGraphicFramePr>
        <p:xfrm>
          <a:off x="5921759" y="1894788"/>
          <a:ext cx="6171412" cy="4482153"/>
        </p:xfrm>
        <a:graphic>
          <a:graphicData uri="http://schemas.openxmlformats.org/drawingml/2006/table">
            <a:tbl>
              <a:tblPr firstRow="1" bandRow="1">
                <a:tableStyleId>{5C22544A-7EE6-4342-B048-85BDC9FD1C3A}</a:tableStyleId>
              </a:tblPr>
              <a:tblGrid>
                <a:gridCol w="925466">
                  <a:extLst>
                    <a:ext uri="{9D8B030D-6E8A-4147-A177-3AD203B41FA5}">
                      <a16:colId xmlns:a16="http://schemas.microsoft.com/office/drawing/2014/main" val="20000"/>
                    </a:ext>
                  </a:extLst>
                </a:gridCol>
                <a:gridCol w="2526620">
                  <a:extLst>
                    <a:ext uri="{9D8B030D-6E8A-4147-A177-3AD203B41FA5}">
                      <a16:colId xmlns:a16="http://schemas.microsoft.com/office/drawing/2014/main" val="20001"/>
                    </a:ext>
                  </a:extLst>
                </a:gridCol>
                <a:gridCol w="2719326">
                  <a:extLst>
                    <a:ext uri="{9D8B030D-6E8A-4147-A177-3AD203B41FA5}">
                      <a16:colId xmlns:a16="http://schemas.microsoft.com/office/drawing/2014/main" val="20002"/>
                    </a:ext>
                  </a:extLst>
                </a:gridCol>
              </a:tblGrid>
              <a:tr h="781270">
                <a:tc>
                  <a:txBody>
                    <a:bodyPr/>
                    <a:lstStyle/>
                    <a:p>
                      <a:pPr algn="ctr"/>
                      <a:r>
                        <a:rPr lang="zh-CN" altLang="en-US" sz="2000" dirty="0">
                          <a:latin typeface="微软雅黑" pitchFamily="34" charset="-122"/>
                          <a:ea typeface="微软雅黑" pitchFamily="34" charset="-122"/>
                        </a:rPr>
                        <a:t>分析引擎</a:t>
                      </a:r>
                    </a:p>
                  </a:txBody>
                  <a:tcPr/>
                </a:tc>
                <a:tc>
                  <a:txBody>
                    <a:bodyPr/>
                    <a:lstStyle/>
                    <a:p>
                      <a:pPr algn="ctr"/>
                      <a:r>
                        <a:rPr lang="zh-CN" altLang="en-US" sz="2000" dirty="0">
                          <a:latin typeface="微软雅黑" pitchFamily="34" charset="-122"/>
                          <a:ea typeface="微软雅黑" pitchFamily="34" charset="-122"/>
                        </a:rPr>
                        <a:t>误用检测技术</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kern="1200" dirty="0">
                          <a:solidFill>
                            <a:schemeClr val="lt1"/>
                          </a:solidFill>
                          <a:latin typeface="微软雅黑" pitchFamily="34" charset="-122"/>
                          <a:ea typeface="微软雅黑" pitchFamily="34" charset="-122"/>
                          <a:cs typeface="+mn-cs"/>
                        </a:rPr>
                        <a:t>异常检测技术</a:t>
                      </a:r>
                    </a:p>
                  </a:txBody>
                  <a:tcPr/>
                </a:tc>
                <a:extLst>
                  <a:ext uri="{0D108BD9-81ED-4DB2-BD59-A6C34878D82A}">
                    <a16:rowId xmlns:a16="http://schemas.microsoft.com/office/drawing/2014/main" val="10000"/>
                  </a:ext>
                </a:extLst>
              </a:tr>
              <a:tr h="515581">
                <a:tc>
                  <a:txBody>
                    <a:bodyPr/>
                    <a:lstStyle/>
                    <a:p>
                      <a:pPr algn="ctr"/>
                      <a:r>
                        <a:rPr lang="zh-CN" altLang="en-US" sz="2000" dirty="0">
                          <a:latin typeface="微软雅黑" pitchFamily="34" charset="-122"/>
                          <a:ea typeface="微软雅黑" pitchFamily="34" charset="-122"/>
                        </a:rPr>
                        <a:t>原理</a:t>
                      </a: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基于模式匹配</a:t>
                      </a:r>
                      <a:endParaRPr lang="zh-CN" altLang="en-US" sz="2000" dirty="0">
                        <a:latin typeface="微软雅黑" pitchFamily="34" charset="-122"/>
                        <a:ea typeface="微软雅黑" pitchFamily="34" charset="-122"/>
                      </a:endParaRP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基于统计分析原理</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1"/>
                  </a:ext>
                </a:extLst>
              </a:tr>
              <a:tr h="889907">
                <a:tc>
                  <a:txBody>
                    <a:bodyPr/>
                    <a:lstStyle/>
                    <a:p>
                      <a:pPr algn="ctr"/>
                      <a:r>
                        <a:rPr lang="zh-CN" altLang="en-US" sz="2000" dirty="0">
                          <a:latin typeface="微软雅黑" pitchFamily="34" charset="-122"/>
                          <a:ea typeface="微软雅黑" pitchFamily="34" charset="-122"/>
                        </a:rPr>
                        <a:t>知识库</a:t>
                      </a: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建立入侵行为模型</a:t>
                      </a:r>
                      <a:r>
                        <a:rPr lang="en-US" altLang="zh-CN" sz="2000" b="0" i="0" kern="1200" dirty="0">
                          <a:solidFill>
                            <a:schemeClr val="dk1"/>
                          </a:solidFill>
                          <a:latin typeface="微软雅黑" pitchFamily="34" charset="-122"/>
                          <a:ea typeface="微软雅黑" pitchFamily="34" charset="-122"/>
                          <a:cs typeface="+mn-cs"/>
                        </a:rPr>
                        <a:t>(</a:t>
                      </a:r>
                      <a:r>
                        <a:rPr lang="zh-CN" altLang="en-US" sz="2000" b="0" i="0" kern="1200" dirty="0">
                          <a:solidFill>
                            <a:schemeClr val="dk1"/>
                          </a:solidFill>
                          <a:latin typeface="微软雅黑" pitchFamily="34" charset="-122"/>
                          <a:ea typeface="微软雅黑" pitchFamily="34" charset="-122"/>
                          <a:cs typeface="+mn-cs"/>
                        </a:rPr>
                        <a:t>攻击特征</a:t>
                      </a:r>
                      <a:r>
                        <a:rPr lang="en-US" altLang="zh-CN" sz="2000" b="0" i="0" kern="1200" dirty="0">
                          <a:solidFill>
                            <a:schemeClr val="dk1"/>
                          </a:solidFill>
                          <a:latin typeface="微软雅黑" pitchFamily="34" charset="-122"/>
                          <a:ea typeface="微软雅黑" pitchFamily="34" charset="-122"/>
                          <a:cs typeface="+mn-cs"/>
                        </a:rPr>
                        <a:t>)</a:t>
                      </a:r>
                      <a:endParaRPr lang="zh-CN" altLang="en-US" sz="2000" dirty="0">
                        <a:latin typeface="微软雅黑" pitchFamily="34" charset="-122"/>
                        <a:ea typeface="微软雅黑" pitchFamily="34" charset="-122"/>
                      </a:endParaRP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总结正常操作应该具有的特征（用户轮廓）</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2"/>
                  </a:ext>
                </a:extLst>
              </a:tr>
              <a:tr h="515581">
                <a:tc>
                  <a:txBody>
                    <a:bodyPr/>
                    <a:lstStyle/>
                    <a:p>
                      <a:pPr algn="ctr"/>
                      <a:r>
                        <a:rPr lang="zh-CN" altLang="en-US" sz="2000" b="0" i="0" kern="1200" dirty="0">
                          <a:solidFill>
                            <a:schemeClr val="dk1"/>
                          </a:solidFill>
                          <a:latin typeface="微软雅黑" pitchFamily="34" charset="-122"/>
                          <a:ea typeface="微软雅黑" pitchFamily="34" charset="-122"/>
                          <a:cs typeface="+mn-cs"/>
                        </a:rPr>
                        <a:t>指标</a:t>
                      </a:r>
                      <a:endParaRPr lang="zh-CN" altLang="en-US" sz="2000" dirty="0">
                        <a:latin typeface="微软雅黑" pitchFamily="34" charset="-122"/>
                        <a:ea typeface="微软雅黑" pitchFamily="34" charset="-122"/>
                      </a:endParaRP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误报率低、漏报率高</a:t>
                      </a:r>
                      <a:endParaRPr lang="zh-CN" altLang="en-US" sz="2000" dirty="0">
                        <a:latin typeface="微软雅黑" pitchFamily="34" charset="-122"/>
                        <a:ea typeface="微软雅黑" pitchFamily="34" charset="-122"/>
                      </a:endParaRP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漏报率低，误报率高</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3"/>
                  </a:ext>
                </a:extLst>
              </a:tr>
              <a:tr h="889907">
                <a:tc>
                  <a:txBody>
                    <a:bodyPr/>
                    <a:lstStyle/>
                    <a:p>
                      <a:pPr algn="ctr"/>
                      <a:r>
                        <a:rPr lang="zh-CN" altLang="en-US" sz="2000" dirty="0">
                          <a:latin typeface="微软雅黑" pitchFamily="34" charset="-122"/>
                          <a:ea typeface="微软雅黑" pitchFamily="34" charset="-122"/>
                        </a:rPr>
                        <a:t>优点</a:t>
                      </a: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准确率高、算法简单</a:t>
                      </a:r>
                      <a:endParaRPr lang="zh-CN" altLang="en-US" sz="2000" dirty="0">
                        <a:latin typeface="微软雅黑" pitchFamily="34" charset="-122"/>
                        <a:ea typeface="微软雅黑" pitchFamily="34" charset="-122"/>
                      </a:endParaRP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可检测未知攻击，自适应、自学习能力</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4"/>
                  </a:ext>
                </a:extLst>
              </a:tr>
              <a:tr h="889907">
                <a:tc>
                  <a:txBody>
                    <a:bodyPr/>
                    <a:lstStyle/>
                    <a:p>
                      <a:pPr algn="ctr"/>
                      <a:r>
                        <a:rPr lang="zh-CN" altLang="en-US" sz="2000" dirty="0">
                          <a:latin typeface="微软雅黑" pitchFamily="34" charset="-122"/>
                          <a:ea typeface="微软雅黑" pitchFamily="34" charset="-122"/>
                        </a:rPr>
                        <a:t>缺点</a:t>
                      </a: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特征库要不断更新、无法检测新的入侵</a:t>
                      </a:r>
                      <a:endParaRPr lang="zh-CN" altLang="en-US" sz="2000" dirty="0">
                        <a:latin typeface="微软雅黑" pitchFamily="34" charset="-122"/>
                        <a:ea typeface="微软雅黑" pitchFamily="34" charset="-122"/>
                      </a:endParaRPr>
                    </a:p>
                  </a:txBody>
                  <a:tcPr/>
                </a:tc>
                <a:tc>
                  <a:txBody>
                    <a:bodyPr/>
                    <a:lstStyle/>
                    <a:p>
                      <a:r>
                        <a:rPr lang="zh-CN" altLang="en-US" sz="2000" b="0" i="0" kern="1200" dirty="0">
                          <a:solidFill>
                            <a:schemeClr val="dk1"/>
                          </a:solidFill>
                          <a:latin typeface="微软雅黑" pitchFamily="34" charset="-122"/>
                          <a:ea typeface="微软雅黑" pitchFamily="34" charset="-122"/>
                          <a:cs typeface="+mn-cs"/>
                        </a:rPr>
                        <a:t>正常行为特征、统计算法、统计点的选择</a:t>
                      </a:r>
                      <a:endParaRPr lang="zh-CN" altLang="en-US" sz="2000" dirty="0">
                        <a:latin typeface="微软雅黑" pitchFamily="34" charset="-122"/>
                        <a:ea typeface="微软雅黑" pitchFamily="34" charset="-122"/>
                      </a:endParaRPr>
                    </a:p>
                  </a:txBody>
                  <a:tcPr/>
                </a:tc>
                <a:extLst>
                  <a:ext uri="{0D108BD9-81ED-4DB2-BD59-A6C34878D82A}">
                    <a16:rowId xmlns:a16="http://schemas.microsoft.com/office/drawing/2014/main" val="10005"/>
                  </a:ext>
                </a:extLst>
              </a:tr>
            </a:tbl>
          </a:graphicData>
        </a:graphic>
      </p:graphicFrame>
      <p:sp>
        <p:nvSpPr>
          <p:cNvPr id="13"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5520" y="6503483"/>
            <a:ext cx="2743200" cy="365125"/>
          </a:xfrm>
        </p:spPr>
        <p:txBody>
          <a:bodyPr/>
          <a:lstStyle/>
          <a:p>
            <a:r>
              <a:rPr kumimoji="1" lang="en-US" altLang="zh-CN" dirty="0"/>
              <a:t>8.7.3 </a:t>
            </a:r>
            <a:r>
              <a:rPr kumimoji="1" lang="zh-CN" altLang="en-US" dirty="0"/>
              <a:t>入侵检测系统</a:t>
            </a:r>
          </a:p>
        </p:txBody>
      </p:sp>
      <p:sp>
        <p:nvSpPr>
          <p:cNvPr id="14"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89303"/>
            <a:ext cx="3319670" cy="365125"/>
          </a:xfrm>
        </p:spPr>
        <p:txBody>
          <a:bodyPr/>
          <a:lstStyle/>
          <a:p>
            <a:fld id="{8D4D1E41-7A09-AB4A-A4E1-09765ADA2698}" type="slidenum">
              <a:rPr kumimoji="1" lang="zh-CN" altLang="en-US" smtClean="0"/>
              <a:pPr/>
              <a:t>123</a:t>
            </a:fld>
            <a:endParaRPr kumimoji="1" lang="zh-CN" altLang="en-US" dirty="0"/>
          </a:p>
        </p:txBody>
      </p:sp>
    </p:spTree>
    <p:extLst>
      <p:ext uri="{BB962C8B-B14F-4D97-AF65-F5344CB8AC3E}">
        <p14:creationId xmlns:p14="http://schemas.microsoft.com/office/powerpoint/2010/main" val="395156334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pPr>
              <a:lnSpc>
                <a:spcPct val="120000"/>
              </a:lnSpc>
            </a:pPr>
            <a:r>
              <a:rPr kumimoji="1" lang="zh-CN" altLang="en-US" dirty="0"/>
              <a:t>入侵检测</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a:bodyPr>
          <a:lstStyle/>
          <a:p>
            <a:r>
              <a:rPr kumimoji="1" lang="zh-CN" altLang="en-US" dirty="0"/>
              <a:t>入侵检测技术</a:t>
            </a:r>
            <a:r>
              <a:rPr kumimoji="1" lang="en-US" altLang="zh-CN" dirty="0"/>
              <a:t>--IDS </a:t>
            </a:r>
            <a:r>
              <a:rPr kumimoji="1" lang="en-US" altLang="zh-CN" dirty="0" err="1"/>
              <a:t>vs</a:t>
            </a:r>
            <a:r>
              <a:rPr kumimoji="1" lang="en-US" altLang="zh-CN" dirty="0"/>
              <a:t> IPS </a:t>
            </a:r>
            <a:r>
              <a:rPr kumimoji="1" lang="en-US" altLang="zh-CN" dirty="0" err="1"/>
              <a:t>vs</a:t>
            </a:r>
            <a:r>
              <a:rPr kumimoji="1" lang="en-US" altLang="zh-CN" dirty="0"/>
              <a:t> FW </a:t>
            </a:r>
            <a:r>
              <a:rPr kumimoji="1" lang="en-US" altLang="zh-CN" dirty="0" err="1"/>
              <a:t>vs</a:t>
            </a:r>
            <a:r>
              <a:rPr kumimoji="1" lang="en-US" altLang="zh-CN" dirty="0"/>
              <a:t> WAF</a:t>
            </a:r>
          </a:p>
        </p:txBody>
      </p:sp>
      <p:graphicFrame>
        <p:nvGraphicFramePr>
          <p:cNvPr id="6" name="表格 5"/>
          <p:cNvGraphicFramePr>
            <a:graphicFrameLocks noGrp="1"/>
          </p:cNvGraphicFramePr>
          <p:nvPr/>
        </p:nvGraphicFramePr>
        <p:xfrm>
          <a:off x="317693" y="2139884"/>
          <a:ext cx="11036106" cy="3789576"/>
        </p:xfrm>
        <a:graphic>
          <a:graphicData uri="http://schemas.openxmlformats.org/drawingml/2006/table">
            <a:tbl>
              <a:tblPr firstRow="1" bandRow="1">
                <a:tableStyleId>{5C22544A-7EE6-4342-B048-85BDC9FD1C3A}</a:tableStyleId>
              </a:tblPr>
              <a:tblGrid>
                <a:gridCol w="894562">
                  <a:extLst>
                    <a:ext uri="{9D8B030D-6E8A-4147-A177-3AD203B41FA5}">
                      <a16:colId xmlns:a16="http://schemas.microsoft.com/office/drawing/2014/main" val="20000"/>
                    </a:ext>
                  </a:extLst>
                </a:gridCol>
                <a:gridCol w="2530186">
                  <a:extLst>
                    <a:ext uri="{9D8B030D-6E8A-4147-A177-3AD203B41FA5}">
                      <a16:colId xmlns:a16="http://schemas.microsoft.com/office/drawing/2014/main" val="20001"/>
                    </a:ext>
                  </a:extLst>
                </a:gridCol>
                <a:gridCol w="2516957">
                  <a:extLst>
                    <a:ext uri="{9D8B030D-6E8A-4147-A177-3AD203B41FA5}">
                      <a16:colId xmlns:a16="http://schemas.microsoft.com/office/drawing/2014/main" val="20002"/>
                    </a:ext>
                  </a:extLst>
                </a:gridCol>
                <a:gridCol w="2465880">
                  <a:extLst>
                    <a:ext uri="{9D8B030D-6E8A-4147-A177-3AD203B41FA5}">
                      <a16:colId xmlns:a16="http://schemas.microsoft.com/office/drawing/2014/main" val="20003"/>
                    </a:ext>
                  </a:extLst>
                </a:gridCol>
                <a:gridCol w="2628521">
                  <a:extLst>
                    <a:ext uri="{9D8B030D-6E8A-4147-A177-3AD203B41FA5}">
                      <a16:colId xmlns:a16="http://schemas.microsoft.com/office/drawing/2014/main" val="20004"/>
                    </a:ext>
                  </a:extLst>
                </a:gridCol>
              </a:tblGrid>
              <a:tr h="830234">
                <a:tc>
                  <a:txBody>
                    <a:bodyPr/>
                    <a:lstStyle/>
                    <a:p>
                      <a:pPr algn="ctr"/>
                      <a:r>
                        <a:rPr lang="zh-CN" altLang="en-US" sz="2000" b="1" kern="1200" dirty="0">
                          <a:solidFill>
                            <a:schemeClr val="lt1"/>
                          </a:solidFill>
                          <a:latin typeface="微软雅黑" pitchFamily="34" charset="-122"/>
                          <a:ea typeface="微软雅黑" pitchFamily="34" charset="-122"/>
                          <a:cs typeface="+mn-cs"/>
                          <a:sym typeface="+mn-ea"/>
                        </a:rPr>
                        <a:t>名称</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itchFamily="34" charset="-122"/>
                          <a:ea typeface="微软雅黑" pitchFamily="34" charset="-122"/>
                          <a:sym typeface="+mn-ea"/>
                        </a:rPr>
                        <a:t>IDS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a:latin typeface="微软雅黑" pitchFamily="34" charset="-122"/>
                          <a:ea typeface="微软雅黑" pitchFamily="34" charset="-122"/>
                          <a:sym typeface="+mn-ea"/>
                        </a:rPr>
                        <a:t>入侵检测技术</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itchFamily="34" charset="-122"/>
                          <a:ea typeface="微软雅黑" pitchFamily="34" charset="-122"/>
                          <a:sym typeface="+mn-ea"/>
                        </a:rPr>
                        <a:t>IPS</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dirty="0">
                          <a:latin typeface="微软雅黑" pitchFamily="34" charset="-122"/>
                          <a:ea typeface="微软雅黑" pitchFamily="34" charset="-122"/>
                          <a:sym typeface="+mn-ea"/>
                        </a:rPr>
                        <a:t>入侵防御技术</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b="1" kern="1200" dirty="0">
                          <a:solidFill>
                            <a:schemeClr val="lt1"/>
                          </a:solidFill>
                          <a:latin typeface="微软雅黑" pitchFamily="34" charset="-122"/>
                          <a:ea typeface="微软雅黑" pitchFamily="34" charset="-122"/>
                          <a:cs typeface="+mn-cs"/>
                          <a:sym typeface="+mn-ea"/>
                        </a:rPr>
                        <a:t>FW</a:t>
                      </a: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kern="1200" dirty="0">
                          <a:solidFill>
                            <a:schemeClr val="lt1"/>
                          </a:solidFill>
                          <a:latin typeface="微软雅黑" pitchFamily="34" charset="-122"/>
                          <a:ea typeface="微软雅黑" pitchFamily="34" charset="-122"/>
                          <a:cs typeface="+mn-cs"/>
                          <a:sym typeface="+mn-ea"/>
                        </a:rPr>
                        <a:t>防火墙</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b="1" kern="1200" dirty="0">
                          <a:solidFill>
                            <a:schemeClr val="lt1"/>
                          </a:solidFill>
                          <a:latin typeface="微软雅黑" pitchFamily="34" charset="-122"/>
                          <a:ea typeface="微软雅黑" pitchFamily="34" charset="-122"/>
                          <a:cs typeface="+mn-cs"/>
                          <a:sym typeface="+mn-ea"/>
                        </a:rPr>
                        <a:t>WAF</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b="1" kern="1200" dirty="0">
                          <a:solidFill>
                            <a:schemeClr val="lt1"/>
                          </a:solidFill>
                          <a:latin typeface="微软雅黑" pitchFamily="34" charset="-122"/>
                          <a:ea typeface="微软雅黑" pitchFamily="34" charset="-122"/>
                          <a:cs typeface="+mn-cs"/>
                          <a:sym typeface="+mn-ea"/>
                        </a:rPr>
                        <a:t>Web</a:t>
                      </a:r>
                      <a:r>
                        <a:rPr lang="zh-CN" altLang="en-US" sz="2000" b="1" kern="1200" dirty="0">
                          <a:solidFill>
                            <a:schemeClr val="lt1"/>
                          </a:solidFill>
                          <a:latin typeface="微软雅黑" pitchFamily="34" charset="-122"/>
                          <a:ea typeface="微软雅黑" pitchFamily="34" charset="-122"/>
                          <a:cs typeface="+mn-cs"/>
                          <a:sym typeface="+mn-ea"/>
                        </a:rPr>
                        <a:t>应用程序防火墙</a:t>
                      </a:r>
                    </a:p>
                  </a:txBody>
                  <a:tcPr/>
                </a:tc>
                <a:extLst>
                  <a:ext uri="{0D108BD9-81ED-4DB2-BD59-A6C34878D82A}">
                    <a16:rowId xmlns:a16="http://schemas.microsoft.com/office/drawing/2014/main" val="10000"/>
                  </a:ext>
                </a:extLst>
              </a:tr>
              <a:tr h="877222">
                <a:tc>
                  <a:txBody>
                    <a:bodyPr/>
                    <a:lstStyle/>
                    <a:p>
                      <a:pPr marL="0" algn="ctr"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网络</a:t>
                      </a:r>
                      <a:endParaRPr lang="en-US" altLang="zh-CN" sz="2000" kern="1200" dirty="0">
                        <a:solidFill>
                          <a:schemeClr val="dk1"/>
                        </a:solidFill>
                        <a:latin typeface="微软雅黑" pitchFamily="34" charset="-122"/>
                        <a:ea typeface="微软雅黑" pitchFamily="34" charset="-122"/>
                        <a:cs typeface="+mn-cs"/>
                        <a:sym typeface="+mn-ea"/>
                      </a:endParaRPr>
                    </a:p>
                    <a:p>
                      <a:pPr marL="0" algn="ctr"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布局</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通常放置在网络的内部，与流量并行</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000" kern="1200" dirty="0">
                          <a:solidFill>
                            <a:schemeClr val="dk1"/>
                          </a:solidFill>
                          <a:latin typeface="微软雅黑" pitchFamily="34" charset="-122"/>
                          <a:ea typeface="微软雅黑" pitchFamily="34" charset="-122"/>
                          <a:cs typeface="+mn-cs"/>
                          <a:sym typeface="+mn-ea"/>
                        </a:rPr>
                        <a:t>通常放置在网络的内部，与网络流量串联</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通常放置在网络的前端</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放置在网站</a:t>
                      </a:r>
                      <a:r>
                        <a:rPr lang="en-US" altLang="zh-CN" sz="2000" kern="1200" dirty="0">
                          <a:solidFill>
                            <a:schemeClr val="dk1"/>
                          </a:solidFill>
                          <a:latin typeface="微软雅黑" pitchFamily="34" charset="-122"/>
                          <a:ea typeface="微软雅黑" pitchFamily="34" charset="-122"/>
                          <a:cs typeface="+mn-cs"/>
                          <a:sym typeface="+mn-ea"/>
                        </a:rPr>
                        <a:t>/ Web</a:t>
                      </a:r>
                      <a:r>
                        <a:rPr lang="zh-CN" altLang="en-US" sz="2000" kern="1200" dirty="0">
                          <a:solidFill>
                            <a:schemeClr val="dk1"/>
                          </a:solidFill>
                          <a:latin typeface="微软雅黑" pitchFamily="34" charset="-122"/>
                          <a:ea typeface="微软雅黑" pitchFamily="34" charset="-122"/>
                          <a:cs typeface="+mn-cs"/>
                          <a:sym typeface="+mn-ea"/>
                        </a:rPr>
                        <a:t>应用程序的前面</a:t>
                      </a:r>
                    </a:p>
                  </a:txBody>
                  <a:tcPr/>
                </a:tc>
                <a:extLst>
                  <a:ext uri="{0D108BD9-81ED-4DB2-BD59-A6C34878D82A}">
                    <a16:rowId xmlns:a16="http://schemas.microsoft.com/office/drawing/2014/main" val="10001"/>
                  </a:ext>
                </a:extLst>
              </a:tr>
              <a:tr h="1041060">
                <a:tc>
                  <a:txBody>
                    <a:bodyPr/>
                    <a:lstStyle/>
                    <a:p>
                      <a:pPr marL="0" algn="ctr"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检测</a:t>
                      </a:r>
                      <a:endParaRPr lang="en-US" altLang="zh-CN" sz="2000" kern="1200" dirty="0">
                        <a:solidFill>
                          <a:schemeClr val="dk1"/>
                        </a:solidFill>
                        <a:latin typeface="微软雅黑" pitchFamily="34" charset="-122"/>
                        <a:ea typeface="微软雅黑" pitchFamily="34" charset="-122"/>
                        <a:cs typeface="+mn-cs"/>
                        <a:sym typeface="+mn-ea"/>
                      </a:endParaRPr>
                    </a:p>
                    <a:p>
                      <a:pPr marL="0" algn="ctr"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机制</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基于签名，基于规则，统计异常检测等</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基于签名，基于规则，统计异常检测等</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通常适用于传输层，以允许</a:t>
                      </a:r>
                      <a:r>
                        <a:rPr lang="en-US" altLang="zh-CN" sz="2000" kern="1200" dirty="0">
                          <a:solidFill>
                            <a:schemeClr val="dk1"/>
                          </a:solidFill>
                          <a:latin typeface="微软雅黑" pitchFamily="34" charset="-122"/>
                          <a:ea typeface="微软雅黑" pitchFamily="34" charset="-122"/>
                          <a:cs typeface="+mn-cs"/>
                          <a:sym typeface="+mn-ea"/>
                        </a:rPr>
                        <a:t>/</a:t>
                      </a:r>
                      <a:r>
                        <a:rPr lang="zh-CN" altLang="en-US" sz="2000" kern="1200" dirty="0">
                          <a:solidFill>
                            <a:schemeClr val="dk1"/>
                          </a:solidFill>
                          <a:latin typeface="微软雅黑" pitchFamily="34" charset="-122"/>
                          <a:ea typeface="微软雅黑" pitchFamily="34" charset="-122"/>
                          <a:cs typeface="+mn-cs"/>
                          <a:sym typeface="+mn-ea"/>
                        </a:rPr>
                        <a:t>阻止</a:t>
                      </a:r>
                      <a:r>
                        <a:rPr lang="en-US" altLang="zh-CN" sz="2000" kern="1200" dirty="0">
                          <a:solidFill>
                            <a:schemeClr val="dk1"/>
                          </a:solidFill>
                          <a:latin typeface="微软雅黑" pitchFamily="34" charset="-122"/>
                          <a:ea typeface="微软雅黑" pitchFamily="34" charset="-122"/>
                          <a:cs typeface="+mn-cs"/>
                          <a:sym typeface="+mn-ea"/>
                        </a:rPr>
                        <a:t>IP</a:t>
                      </a:r>
                      <a:r>
                        <a:rPr lang="zh-CN" altLang="en-US" sz="2000" kern="1200" dirty="0">
                          <a:solidFill>
                            <a:schemeClr val="dk1"/>
                          </a:solidFill>
                          <a:latin typeface="微软雅黑" pitchFamily="34" charset="-122"/>
                          <a:ea typeface="微软雅黑" pitchFamily="34" charset="-122"/>
                          <a:cs typeface="+mn-cs"/>
                          <a:sym typeface="+mn-ea"/>
                        </a:rPr>
                        <a:t>地址和端口</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在应用程序层工作以检查</a:t>
                      </a:r>
                      <a:r>
                        <a:rPr lang="en-US" altLang="zh-CN" sz="2000" kern="1200" dirty="0">
                          <a:solidFill>
                            <a:schemeClr val="dk1"/>
                          </a:solidFill>
                          <a:latin typeface="微软雅黑" pitchFamily="34" charset="-122"/>
                          <a:ea typeface="微软雅黑" pitchFamily="34" charset="-122"/>
                          <a:cs typeface="+mn-cs"/>
                          <a:sym typeface="+mn-ea"/>
                        </a:rPr>
                        <a:t>HTTP Web</a:t>
                      </a:r>
                      <a:r>
                        <a:rPr lang="zh-CN" altLang="en-US" sz="2000" kern="1200" dirty="0">
                          <a:solidFill>
                            <a:schemeClr val="dk1"/>
                          </a:solidFill>
                          <a:latin typeface="微软雅黑" pitchFamily="34" charset="-122"/>
                          <a:ea typeface="微软雅黑" pitchFamily="34" charset="-122"/>
                          <a:cs typeface="+mn-cs"/>
                          <a:sym typeface="+mn-ea"/>
                        </a:rPr>
                        <a:t>流量</a:t>
                      </a:r>
                    </a:p>
                  </a:txBody>
                  <a:tcPr/>
                </a:tc>
                <a:extLst>
                  <a:ext uri="{0D108BD9-81ED-4DB2-BD59-A6C34878D82A}">
                    <a16:rowId xmlns:a16="http://schemas.microsoft.com/office/drawing/2014/main" val="10002"/>
                  </a:ext>
                </a:extLst>
              </a:tr>
              <a:tr h="1041060">
                <a:tc>
                  <a:txBody>
                    <a:bodyPr/>
                    <a:lstStyle/>
                    <a:p>
                      <a:pPr marL="0" algn="ctr"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主要用例</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检测攻击并直接阻止流量或发送警报，只能检测并发送警报</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检测攻击，无法阻止攻击流量，可以主动阻止攻击流量</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允许</a:t>
                      </a:r>
                      <a:r>
                        <a:rPr lang="en-US" altLang="zh-CN" sz="2000" kern="1200" dirty="0">
                          <a:solidFill>
                            <a:schemeClr val="dk1"/>
                          </a:solidFill>
                          <a:latin typeface="微软雅黑" pitchFamily="34" charset="-122"/>
                          <a:ea typeface="微软雅黑" pitchFamily="34" charset="-122"/>
                          <a:cs typeface="+mn-cs"/>
                          <a:sym typeface="+mn-ea"/>
                        </a:rPr>
                        <a:t>/</a:t>
                      </a:r>
                      <a:r>
                        <a:rPr lang="zh-CN" altLang="en-US" sz="2000" kern="1200" dirty="0">
                          <a:solidFill>
                            <a:schemeClr val="dk1"/>
                          </a:solidFill>
                          <a:latin typeface="微软雅黑" pitchFamily="34" charset="-122"/>
                          <a:ea typeface="微软雅黑" pitchFamily="34" charset="-122"/>
                          <a:cs typeface="+mn-cs"/>
                          <a:sym typeface="+mn-ea"/>
                        </a:rPr>
                        <a:t>阻止不同网络区域之间的流量</a:t>
                      </a:r>
                    </a:p>
                  </a:txBody>
                  <a:tcPr/>
                </a:tc>
                <a:tc>
                  <a:txBody>
                    <a:bodyPr/>
                    <a:lstStyle/>
                    <a:p>
                      <a:pPr marL="0" algn="l" defTabSz="914400" rtl="0" eaLnBrk="1" latinLnBrk="0" hangingPunct="1"/>
                      <a:r>
                        <a:rPr lang="zh-CN" altLang="en-US" sz="2000" kern="1200" dirty="0">
                          <a:solidFill>
                            <a:schemeClr val="dk1"/>
                          </a:solidFill>
                          <a:latin typeface="微软雅黑" pitchFamily="34" charset="-122"/>
                          <a:ea typeface="微软雅黑" pitchFamily="34" charset="-122"/>
                          <a:cs typeface="+mn-cs"/>
                          <a:sym typeface="+mn-ea"/>
                        </a:rPr>
                        <a:t>专用于检查</a:t>
                      </a:r>
                      <a:r>
                        <a:rPr lang="en-US" altLang="zh-CN" sz="2000" kern="1200" dirty="0">
                          <a:solidFill>
                            <a:schemeClr val="dk1"/>
                          </a:solidFill>
                          <a:latin typeface="微软雅黑" pitchFamily="34" charset="-122"/>
                          <a:ea typeface="微软雅黑" pitchFamily="34" charset="-122"/>
                          <a:cs typeface="+mn-cs"/>
                          <a:sym typeface="+mn-ea"/>
                        </a:rPr>
                        <a:t>HTTP Web</a:t>
                      </a:r>
                      <a:r>
                        <a:rPr lang="zh-CN" altLang="en-US" sz="2000" kern="1200" dirty="0">
                          <a:solidFill>
                            <a:schemeClr val="dk1"/>
                          </a:solidFill>
                          <a:latin typeface="微软雅黑" pitchFamily="34" charset="-122"/>
                          <a:ea typeface="微软雅黑" pitchFamily="34" charset="-122"/>
                          <a:cs typeface="+mn-cs"/>
                          <a:sym typeface="+mn-ea"/>
                        </a:rPr>
                        <a:t>流量并防止</a:t>
                      </a:r>
                      <a:r>
                        <a:rPr lang="en-US" altLang="zh-CN" sz="2000" kern="1200" dirty="0">
                          <a:solidFill>
                            <a:schemeClr val="dk1"/>
                          </a:solidFill>
                          <a:latin typeface="微软雅黑" pitchFamily="34" charset="-122"/>
                          <a:ea typeface="微软雅黑" pitchFamily="34" charset="-122"/>
                          <a:cs typeface="+mn-cs"/>
                          <a:sym typeface="+mn-ea"/>
                        </a:rPr>
                        <a:t>Web</a:t>
                      </a:r>
                      <a:r>
                        <a:rPr lang="zh-CN" altLang="en-US" sz="2000" kern="1200" dirty="0">
                          <a:solidFill>
                            <a:schemeClr val="dk1"/>
                          </a:solidFill>
                          <a:latin typeface="微软雅黑" pitchFamily="34" charset="-122"/>
                          <a:ea typeface="微软雅黑" pitchFamily="34" charset="-122"/>
                          <a:cs typeface="+mn-cs"/>
                          <a:sym typeface="+mn-ea"/>
                        </a:rPr>
                        <a:t>特定攻击</a:t>
                      </a:r>
                    </a:p>
                  </a:txBody>
                  <a:tcPr/>
                </a:tc>
                <a:extLst>
                  <a:ext uri="{0D108BD9-81ED-4DB2-BD59-A6C34878D82A}">
                    <a16:rowId xmlns:a16="http://schemas.microsoft.com/office/drawing/2014/main" val="10003"/>
                  </a:ext>
                </a:extLst>
              </a:tr>
            </a:tbl>
          </a:graphicData>
        </a:graphic>
      </p:graphicFrame>
      <p:sp>
        <p:nvSpPr>
          <p:cNvPr id="8"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5520" y="6489302"/>
            <a:ext cx="2743200" cy="365125"/>
          </a:xfrm>
        </p:spPr>
        <p:txBody>
          <a:bodyPr/>
          <a:lstStyle/>
          <a:p>
            <a:r>
              <a:rPr kumimoji="1" lang="en-US" altLang="zh-CN" dirty="0"/>
              <a:t>8.7.3 </a:t>
            </a:r>
            <a:r>
              <a:rPr kumimoji="1" lang="zh-CN" altLang="en-US" dirty="0"/>
              <a:t>入侵检测系统</a:t>
            </a:r>
          </a:p>
        </p:txBody>
      </p:sp>
      <p:sp>
        <p:nvSpPr>
          <p:cNvPr id="9"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89303"/>
            <a:ext cx="3319670" cy="365125"/>
          </a:xfrm>
        </p:spPr>
        <p:txBody>
          <a:bodyPr/>
          <a:lstStyle/>
          <a:p>
            <a:fld id="{8D4D1E41-7A09-AB4A-A4E1-09765ADA2698}" type="slidenum">
              <a:rPr kumimoji="1" lang="zh-CN" altLang="en-US" smtClean="0"/>
              <a:pPr/>
              <a:t>124</a:t>
            </a:fld>
            <a:endParaRPr kumimoji="1" lang="zh-CN" altLang="en-US" dirty="0"/>
          </a:p>
        </p:txBody>
      </p:sp>
    </p:spTree>
    <p:extLst>
      <p:ext uri="{BB962C8B-B14F-4D97-AF65-F5344CB8AC3E}">
        <p14:creationId xmlns:p14="http://schemas.microsoft.com/office/powerpoint/2010/main" val="2571430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入侵检测 </a:t>
            </a:r>
            <a:r>
              <a:rPr kumimoji="1" lang="en-US" altLang="zh-CN" dirty="0"/>
              <a:t>– </a:t>
            </a:r>
            <a:r>
              <a:rPr kumimoji="1" lang="zh-CN" altLang="en-US" dirty="0"/>
              <a:t>实例</a:t>
            </a:r>
            <a:endParaRPr lang="zh-CN" altLang="en-US" dirty="0"/>
          </a:p>
        </p:txBody>
      </p:sp>
      <p:sp>
        <p:nvSpPr>
          <p:cNvPr id="3" name="内容占位符 2"/>
          <p:cNvSpPr>
            <a:spLocks noGrp="1"/>
          </p:cNvSpPr>
          <p:nvPr>
            <p:ph idx="1"/>
          </p:nvPr>
        </p:nvSpPr>
        <p:spPr/>
        <p:txBody>
          <a:bodyPr/>
          <a:lstStyle/>
          <a:p>
            <a:r>
              <a:rPr kumimoji="1" lang="zh-CN" altLang="en-US" dirty="0"/>
              <a:t>开源</a:t>
            </a:r>
            <a:r>
              <a:rPr kumimoji="1" lang="en-US" altLang="zh-CN" dirty="0"/>
              <a:t>IDS--snort</a:t>
            </a:r>
          </a:p>
          <a:p>
            <a:pPr lvl="1"/>
            <a:r>
              <a:rPr kumimoji="1" lang="zh-CN" altLang="en-US" sz="2800" dirty="0"/>
              <a:t>跨平台、轻量级的网络入侵检测工具，属于基于网络的误用检测</a:t>
            </a:r>
            <a:endParaRPr kumimoji="1" lang="en-US" altLang="zh-CN" sz="2800" dirty="0"/>
          </a:p>
          <a:p>
            <a:pPr lvl="1"/>
            <a:r>
              <a:rPr kumimoji="1" lang="zh-CN" altLang="en-US" sz="2800" dirty="0"/>
              <a:t>针对每一种入侵行为，都提炼出它的特征并按照规范写成规则，从而形成一个规则库，将捕获的数据包对照规则库逐一匹配，若匹配成功，则认为该入侵行为成立</a:t>
            </a:r>
            <a:endParaRPr kumimoji="1" lang="en-US" altLang="zh-CN" sz="2800" dirty="0"/>
          </a:p>
          <a:p>
            <a:pPr lvl="1"/>
            <a:r>
              <a:rPr kumimoji="1" lang="en-US" altLang="zh-CN" sz="2800" dirty="0"/>
              <a:t>www.snort.org</a:t>
            </a:r>
          </a:p>
          <a:p>
            <a:pPr lvl="1"/>
            <a:endParaRPr kumimoji="1" lang="zh-CN" altLang="en-US" sz="2800" dirty="0"/>
          </a:p>
        </p:txBody>
      </p:sp>
      <p:pic>
        <p:nvPicPr>
          <p:cNvPr id="5" name="内容占位符 3"/>
          <p:cNvPicPr>
            <a:picLocks noChangeAspect="1"/>
          </p:cNvPicPr>
          <p:nvPr/>
        </p:nvPicPr>
        <p:blipFill>
          <a:blip r:embed="rId3"/>
          <a:stretch>
            <a:fillRect/>
          </a:stretch>
        </p:blipFill>
        <p:spPr>
          <a:xfrm>
            <a:off x="1194386" y="1424487"/>
            <a:ext cx="10357376" cy="4672965"/>
          </a:xfrm>
          <a:prstGeom prst="rect">
            <a:avLst/>
          </a:prstGeom>
        </p:spPr>
      </p:pic>
      <p:sp>
        <p:nvSpPr>
          <p:cNvPr id="7"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5520" y="6492875"/>
            <a:ext cx="2743200" cy="365125"/>
          </a:xfrm>
        </p:spPr>
        <p:txBody>
          <a:bodyPr/>
          <a:lstStyle/>
          <a:p>
            <a:r>
              <a:rPr kumimoji="1" lang="en-US" altLang="zh-CN" dirty="0"/>
              <a:t>8.7.3 </a:t>
            </a:r>
            <a:r>
              <a:rPr kumimoji="1" lang="zh-CN" altLang="en-US" dirty="0"/>
              <a:t>入侵检测系统</a:t>
            </a:r>
          </a:p>
        </p:txBody>
      </p:sp>
      <p:sp>
        <p:nvSpPr>
          <p:cNvPr id="8"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92875"/>
            <a:ext cx="3319670" cy="365125"/>
          </a:xfrm>
        </p:spPr>
        <p:txBody>
          <a:bodyPr/>
          <a:lstStyle/>
          <a:p>
            <a:fld id="{8D4D1E41-7A09-AB4A-A4E1-09765ADA2698}" type="slidenum">
              <a:rPr kumimoji="1" lang="zh-CN" altLang="en-US" smtClean="0"/>
              <a:pPr/>
              <a:t>125</a:t>
            </a:fld>
            <a:endParaRPr kumimoji="1" lang="zh-CN" altLang="en-US" dirty="0"/>
          </a:p>
        </p:txBody>
      </p:sp>
    </p:spTree>
    <p:extLst>
      <p:ext uri="{BB962C8B-B14F-4D97-AF65-F5344CB8AC3E}">
        <p14:creationId xmlns:p14="http://schemas.microsoft.com/office/powerpoint/2010/main" val="69406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入侵检测</a:t>
            </a:r>
            <a:endParaRPr lang="zh-CN" altLang="en-US" dirty="0"/>
          </a:p>
        </p:txBody>
      </p:sp>
      <p:sp>
        <p:nvSpPr>
          <p:cNvPr id="3" name="内容占位符 2"/>
          <p:cNvSpPr>
            <a:spLocks noGrp="1"/>
          </p:cNvSpPr>
          <p:nvPr>
            <p:ph idx="1"/>
          </p:nvPr>
        </p:nvSpPr>
        <p:spPr/>
        <p:txBody>
          <a:bodyPr/>
          <a:lstStyle/>
          <a:p>
            <a:r>
              <a:rPr kumimoji="1" lang="zh-CN" altLang="en-US" dirty="0"/>
              <a:t>开源</a:t>
            </a:r>
            <a:r>
              <a:rPr kumimoji="1" lang="en-US" altLang="zh-CN" dirty="0"/>
              <a:t>IDS—snort</a:t>
            </a:r>
          </a:p>
          <a:p>
            <a:pPr lvl="1"/>
            <a:endParaRPr kumimoji="1" lang="zh-CN" altLang="en-US" sz="2800" dirty="0"/>
          </a:p>
        </p:txBody>
      </p:sp>
      <p:pic>
        <p:nvPicPr>
          <p:cNvPr id="6" name="图片 5"/>
          <p:cNvPicPr>
            <a:picLocks noChangeAspect="1"/>
          </p:cNvPicPr>
          <p:nvPr/>
        </p:nvPicPr>
        <p:blipFill>
          <a:blip r:embed="rId3"/>
          <a:stretch>
            <a:fillRect/>
          </a:stretch>
        </p:blipFill>
        <p:spPr>
          <a:xfrm>
            <a:off x="1307508" y="2079684"/>
            <a:ext cx="8441690" cy="3507105"/>
          </a:xfrm>
          <a:prstGeom prst="rect">
            <a:avLst/>
          </a:prstGeom>
        </p:spPr>
      </p:pic>
      <p:sp>
        <p:nvSpPr>
          <p:cNvPr id="7" name="矩形标注 6"/>
          <p:cNvSpPr/>
          <p:nvPr/>
        </p:nvSpPr>
        <p:spPr>
          <a:xfrm>
            <a:off x="188535" y="4430597"/>
            <a:ext cx="1734531" cy="1156191"/>
          </a:xfrm>
          <a:prstGeom prst="wedgeRectCallout">
            <a:avLst>
              <a:gd name="adj1" fmla="val 154903"/>
              <a:gd name="adj2" fmla="val -18519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rPr>
              <a:t>负责监听网络数据包，对网络进行分析</a:t>
            </a:r>
          </a:p>
        </p:txBody>
      </p:sp>
      <p:sp>
        <p:nvSpPr>
          <p:cNvPr id="8" name="矩形标注 7"/>
          <p:cNvSpPr/>
          <p:nvPr/>
        </p:nvSpPr>
        <p:spPr>
          <a:xfrm>
            <a:off x="2139886" y="4941261"/>
            <a:ext cx="2281286" cy="1422737"/>
          </a:xfrm>
          <a:prstGeom prst="wedgeRectCallout">
            <a:avLst>
              <a:gd name="adj1" fmla="val 59796"/>
              <a:gd name="adj2" fmla="val -11910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rPr>
              <a:t>用相应的插件来检查原始数据包</a:t>
            </a:r>
            <a:r>
              <a:rPr lang="en-US" altLang="zh-CN" sz="2000" dirty="0">
                <a:solidFill>
                  <a:srgbClr val="C00000"/>
                </a:solidFill>
              </a:rPr>
              <a:t>,</a:t>
            </a:r>
            <a:r>
              <a:rPr lang="zh-CN" altLang="en-US" sz="2000" dirty="0">
                <a:solidFill>
                  <a:srgbClr val="C00000"/>
                </a:solidFill>
              </a:rPr>
              <a:t>数据包经过预处理后才传到检测引擎</a:t>
            </a:r>
          </a:p>
        </p:txBody>
      </p:sp>
      <p:sp>
        <p:nvSpPr>
          <p:cNvPr id="9" name="矩形标注 8"/>
          <p:cNvSpPr/>
          <p:nvPr/>
        </p:nvSpPr>
        <p:spPr>
          <a:xfrm>
            <a:off x="7513163" y="1510757"/>
            <a:ext cx="4534293" cy="1128748"/>
          </a:xfrm>
          <a:prstGeom prst="wedgeRectCallout">
            <a:avLst>
              <a:gd name="adj1" fmla="val -76692"/>
              <a:gd name="adj2" fmla="val 4266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rPr>
              <a:t>snort的核心模块</a:t>
            </a:r>
            <a:r>
              <a:rPr lang="en-US" altLang="zh-CN" sz="2000" dirty="0">
                <a:solidFill>
                  <a:srgbClr val="C00000"/>
                </a:solidFill>
              </a:rPr>
              <a:t>,</a:t>
            </a:r>
            <a:r>
              <a:rPr lang="zh-CN" altLang="en-US" sz="2000" dirty="0">
                <a:solidFill>
                  <a:srgbClr val="C00000"/>
                </a:solidFill>
              </a:rPr>
              <a:t>依据预先设置的规则检查数据包，一旦发现数据包中的内容和某条规则相匹配，就通知报警模块</a:t>
            </a:r>
          </a:p>
        </p:txBody>
      </p:sp>
      <p:sp>
        <p:nvSpPr>
          <p:cNvPr id="10" name="矩形标注 9"/>
          <p:cNvSpPr/>
          <p:nvPr/>
        </p:nvSpPr>
        <p:spPr>
          <a:xfrm>
            <a:off x="8337553" y="4683430"/>
            <a:ext cx="2616396" cy="1128747"/>
          </a:xfrm>
          <a:prstGeom prst="wedgeRectCallout">
            <a:avLst>
              <a:gd name="adj1" fmla="val -82323"/>
              <a:gd name="adj2" fmla="val -12525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rgbClr val="C00000"/>
                </a:solidFill>
                <a:sym typeface="+mn-ea"/>
              </a:rPr>
              <a:t>报警输出，传送给日志文件、第三方插件、记入SQL数据库</a:t>
            </a:r>
            <a:endParaRPr lang="zh-CN" altLang="en-US" sz="2000" dirty="0">
              <a:solidFill>
                <a:srgbClr val="C00000"/>
              </a:solidFill>
            </a:endParaRPr>
          </a:p>
        </p:txBody>
      </p:sp>
      <p:sp>
        <p:nvSpPr>
          <p:cNvPr id="12"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8535" y="6489303"/>
            <a:ext cx="2743200" cy="365125"/>
          </a:xfrm>
        </p:spPr>
        <p:txBody>
          <a:bodyPr/>
          <a:lstStyle/>
          <a:p>
            <a:r>
              <a:rPr kumimoji="1" lang="en-US" altLang="zh-CN" dirty="0"/>
              <a:t>8.7.3 </a:t>
            </a:r>
            <a:r>
              <a:rPr kumimoji="1" lang="zh-CN" altLang="en-US" dirty="0"/>
              <a:t>入侵检测系统</a:t>
            </a:r>
          </a:p>
        </p:txBody>
      </p:sp>
      <p:sp>
        <p:nvSpPr>
          <p:cNvPr id="13"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77683"/>
            <a:ext cx="3319670" cy="365125"/>
          </a:xfrm>
        </p:spPr>
        <p:txBody>
          <a:bodyPr/>
          <a:lstStyle/>
          <a:p>
            <a:fld id="{8D4D1E41-7A09-AB4A-A4E1-09765ADA2698}" type="slidenum">
              <a:rPr kumimoji="1" lang="zh-CN" altLang="en-US" smtClean="0"/>
              <a:pPr/>
              <a:t>126</a:t>
            </a:fld>
            <a:endParaRPr kumimoji="1" lang="zh-CN" altLang="en-US" dirty="0"/>
          </a:p>
        </p:txBody>
      </p:sp>
    </p:spTree>
    <p:extLst>
      <p:ext uri="{BB962C8B-B14F-4D97-AF65-F5344CB8AC3E}">
        <p14:creationId xmlns:p14="http://schemas.microsoft.com/office/powerpoint/2010/main" val="104008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沙盒与隔离</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a:bodyPr>
          <a:lstStyle/>
          <a:p>
            <a:pPr>
              <a:lnSpc>
                <a:spcPct val="120000"/>
              </a:lnSpc>
            </a:pPr>
            <a:r>
              <a:rPr kumimoji="1" lang="zh-CN" altLang="en-US" dirty="0"/>
              <a:t>沙盒与隔离</a:t>
            </a:r>
            <a:endParaRPr kumimoji="1" lang="en-US" altLang="zh-CN" dirty="0"/>
          </a:p>
          <a:p>
            <a:pPr lvl="1"/>
            <a:r>
              <a:rPr lang="zh-CN" altLang="en-US" dirty="0">
                <a:solidFill>
                  <a:srgbClr val="C00000"/>
                </a:solidFill>
              </a:rPr>
              <a:t>沙盒</a:t>
            </a:r>
            <a:r>
              <a:rPr lang="en-US" altLang="zh-CN" dirty="0"/>
              <a:t>(sandbox</a:t>
            </a:r>
            <a:r>
              <a:rPr lang="zh-CN" altLang="en-US" dirty="0"/>
              <a:t>，又译为沙箱</a:t>
            </a:r>
            <a:r>
              <a:rPr lang="en-US" altLang="zh-CN" dirty="0"/>
              <a:t>)</a:t>
            </a:r>
            <a:r>
              <a:rPr lang="zh-CN" altLang="en-US" dirty="0"/>
              <a:t>，通过</a:t>
            </a:r>
            <a:r>
              <a:rPr lang="zh-CN" altLang="en-US" dirty="0">
                <a:solidFill>
                  <a:srgbClr val="C00000"/>
                </a:solidFill>
              </a:rPr>
              <a:t>重定向</a:t>
            </a:r>
            <a:r>
              <a:rPr lang="zh-CN" altLang="en-US" dirty="0"/>
              <a:t>技术，把程序生成和修改的文件，定向到自身文件夹中</a:t>
            </a:r>
            <a:endParaRPr lang="en-US" altLang="zh-CN" dirty="0"/>
          </a:p>
          <a:p>
            <a:pPr lvl="1">
              <a:buNone/>
            </a:pPr>
            <a:endParaRPr kumimoji="1" lang="zh-CN" altLang="en-US" dirty="0"/>
          </a:p>
          <a:p>
            <a:pPr>
              <a:lnSpc>
                <a:spcPct val="120000"/>
              </a:lnSpc>
            </a:pPr>
            <a:endParaRPr kumimoji="1" lang="zh-CN" altLang="en-US" dirty="0"/>
          </a:p>
        </p:txBody>
      </p:sp>
      <p:graphicFrame>
        <p:nvGraphicFramePr>
          <p:cNvPr id="5" name="图示 4"/>
          <p:cNvGraphicFramePr/>
          <p:nvPr/>
        </p:nvGraphicFramePr>
        <p:xfrm>
          <a:off x="1599742" y="2873461"/>
          <a:ext cx="9233032" cy="5844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表格 5">
            <a:extLst>
              <a:ext uri="{FF2B5EF4-FFF2-40B4-BE49-F238E27FC236}">
                <a16:creationId xmlns:a16="http://schemas.microsoft.com/office/drawing/2014/main" id="{F686877C-741D-4FCB-A73F-C79942B72BF6}"/>
              </a:ext>
            </a:extLst>
          </p:cNvPr>
          <p:cNvGraphicFramePr>
            <a:graphicFrameLocks noGrp="1"/>
          </p:cNvGraphicFramePr>
          <p:nvPr/>
        </p:nvGraphicFramePr>
        <p:xfrm>
          <a:off x="1725104" y="3553905"/>
          <a:ext cx="9107669" cy="2141906"/>
        </p:xfrm>
        <a:graphic>
          <a:graphicData uri="http://schemas.openxmlformats.org/drawingml/2006/table">
            <a:tbl>
              <a:tblPr firstRow="1" bandRow="1">
                <a:tableStyleId>{5C22544A-7EE6-4342-B048-85BDC9FD1C3A}</a:tableStyleId>
              </a:tblPr>
              <a:tblGrid>
                <a:gridCol w="2438367">
                  <a:extLst>
                    <a:ext uri="{9D8B030D-6E8A-4147-A177-3AD203B41FA5}">
                      <a16:colId xmlns:a16="http://schemas.microsoft.com/office/drawing/2014/main" val="3373124923"/>
                    </a:ext>
                  </a:extLst>
                </a:gridCol>
                <a:gridCol w="2702439">
                  <a:extLst>
                    <a:ext uri="{9D8B030D-6E8A-4147-A177-3AD203B41FA5}">
                      <a16:colId xmlns:a16="http://schemas.microsoft.com/office/drawing/2014/main" val="4073569113"/>
                    </a:ext>
                  </a:extLst>
                </a:gridCol>
                <a:gridCol w="3966863">
                  <a:extLst>
                    <a:ext uri="{9D8B030D-6E8A-4147-A177-3AD203B41FA5}">
                      <a16:colId xmlns:a16="http://schemas.microsoft.com/office/drawing/2014/main" val="3820487046"/>
                    </a:ext>
                  </a:extLst>
                </a:gridCol>
              </a:tblGrid>
              <a:tr h="381640">
                <a:tc>
                  <a:txBody>
                    <a:bodyPr/>
                    <a:lstStyle/>
                    <a:p>
                      <a:endParaRPr lang="zh-CN" altLang="en-US" sz="2000" dirty="0"/>
                    </a:p>
                  </a:txBody>
                  <a:tcPr/>
                </a:tc>
                <a:tc>
                  <a:txBody>
                    <a:bodyPr/>
                    <a:lstStyle/>
                    <a:p>
                      <a:r>
                        <a:rPr lang="zh-CN" altLang="en-US" sz="2000" dirty="0"/>
                        <a:t>沙盒</a:t>
                      </a:r>
                    </a:p>
                  </a:txBody>
                  <a:tcPr/>
                </a:tc>
                <a:tc>
                  <a:txBody>
                    <a:bodyPr/>
                    <a:lstStyle/>
                    <a:p>
                      <a:r>
                        <a:rPr lang="zh-CN" altLang="en-US" sz="2000" dirty="0"/>
                        <a:t>虚拟机</a:t>
                      </a:r>
                    </a:p>
                  </a:txBody>
                  <a:tcPr/>
                </a:tc>
                <a:extLst>
                  <a:ext uri="{0D108BD9-81ED-4DB2-BD59-A6C34878D82A}">
                    <a16:rowId xmlns:a16="http://schemas.microsoft.com/office/drawing/2014/main" val="4280025022"/>
                  </a:ext>
                </a:extLst>
              </a:tr>
              <a:tr h="350433">
                <a:tc>
                  <a:txBody>
                    <a:bodyPr/>
                    <a:lstStyle/>
                    <a:p>
                      <a:r>
                        <a:rPr lang="zh-CN" altLang="en-US" sz="2000" dirty="0"/>
                        <a:t>程序退出</a:t>
                      </a:r>
                    </a:p>
                  </a:txBody>
                  <a:tcPr/>
                </a:tc>
                <a:tc>
                  <a:txBody>
                    <a:bodyPr/>
                    <a:lstStyle/>
                    <a:p>
                      <a:r>
                        <a:rPr lang="zh-CN" altLang="en-US" sz="2000" dirty="0"/>
                        <a:t>不保留更改</a:t>
                      </a:r>
                    </a:p>
                  </a:txBody>
                  <a:tcPr/>
                </a:tc>
                <a:tc>
                  <a:txBody>
                    <a:bodyPr/>
                    <a:lstStyle/>
                    <a:p>
                      <a:r>
                        <a:rPr lang="zh-CN" altLang="en-US" sz="2000" dirty="0"/>
                        <a:t>保留更改</a:t>
                      </a:r>
                    </a:p>
                  </a:txBody>
                  <a:tcPr/>
                </a:tc>
                <a:extLst>
                  <a:ext uri="{0D108BD9-81ED-4DB2-BD59-A6C34878D82A}">
                    <a16:rowId xmlns:a16="http://schemas.microsoft.com/office/drawing/2014/main" val="2910191491"/>
                  </a:ext>
                </a:extLst>
              </a:tr>
              <a:tr h="353587">
                <a:tc>
                  <a:txBody>
                    <a:bodyPr/>
                    <a:lstStyle/>
                    <a:p>
                      <a:r>
                        <a:rPr lang="zh-CN" altLang="en-US" sz="2000" dirty="0"/>
                        <a:t>资源共享</a:t>
                      </a:r>
                    </a:p>
                  </a:txBody>
                  <a:tcPr/>
                </a:tc>
                <a:tc>
                  <a:txBody>
                    <a:bodyPr/>
                    <a:lstStyle/>
                    <a:p>
                      <a:r>
                        <a:rPr lang="zh-CN" altLang="en-US" sz="2000" dirty="0"/>
                        <a:t>共享资源</a:t>
                      </a:r>
                    </a:p>
                  </a:txBody>
                  <a:tcPr/>
                </a:tc>
                <a:tc>
                  <a:txBody>
                    <a:bodyPr/>
                    <a:lstStyle/>
                    <a:p>
                      <a:r>
                        <a:rPr lang="zh-CN" altLang="en-US" sz="2000" dirty="0"/>
                        <a:t>不共享资源</a:t>
                      </a:r>
                    </a:p>
                  </a:txBody>
                  <a:tcPr/>
                </a:tc>
                <a:extLst>
                  <a:ext uri="{0D108BD9-81ED-4DB2-BD59-A6C34878D82A}">
                    <a16:rowId xmlns:a16="http://schemas.microsoft.com/office/drawing/2014/main" val="2716604006"/>
                  </a:ext>
                </a:extLst>
              </a:tr>
              <a:tr h="350433">
                <a:tc>
                  <a:txBody>
                    <a:bodyPr/>
                    <a:lstStyle/>
                    <a:p>
                      <a:r>
                        <a:rPr lang="zh-CN" altLang="en-US" sz="2000" dirty="0"/>
                        <a:t>占用资源</a:t>
                      </a:r>
                    </a:p>
                  </a:txBody>
                  <a:tcPr/>
                </a:tc>
                <a:tc>
                  <a:txBody>
                    <a:bodyPr/>
                    <a:lstStyle/>
                    <a:p>
                      <a:r>
                        <a:rPr lang="zh-CN" altLang="en-US" sz="2000" dirty="0"/>
                        <a:t>少</a:t>
                      </a:r>
                    </a:p>
                  </a:txBody>
                  <a:tcPr/>
                </a:tc>
                <a:tc>
                  <a:txBody>
                    <a:bodyPr/>
                    <a:lstStyle/>
                    <a:p>
                      <a:r>
                        <a:rPr lang="zh-CN" altLang="en-US" sz="2000" dirty="0"/>
                        <a:t>多</a:t>
                      </a:r>
                    </a:p>
                  </a:txBody>
                  <a:tcPr/>
                </a:tc>
                <a:extLst>
                  <a:ext uri="{0D108BD9-81ED-4DB2-BD59-A6C34878D82A}">
                    <a16:rowId xmlns:a16="http://schemas.microsoft.com/office/drawing/2014/main" val="1273828352"/>
                  </a:ext>
                </a:extLst>
              </a:tr>
              <a:tr h="556946">
                <a:tc>
                  <a:txBody>
                    <a:bodyPr/>
                    <a:lstStyle/>
                    <a:p>
                      <a:r>
                        <a:rPr lang="zh-CN" altLang="en-US" sz="2000" dirty="0"/>
                        <a:t>本质</a:t>
                      </a:r>
                    </a:p>
                  </a:txBody>
                  <a:tcPr/>
                </a:tc>
                <a:tc>
                  <a:txBody>
                    <a:bodyPr/>
                    <a:lstStyle/>
                    <a:p>
                      <a:r>
                        <a:rPr lang="zh-CN" altLang="en-US" sz="2000" dirty="0"/>
                        <a:t>容器</a:t>
                      </a:r>
                    </a:p>
                  </a:txBody>
                  <a:tcPr/>
                </a:tc>
                <a:tc>
                  <a:txBody>
                    <a:bodyPr/>
                    <a:lstStyle/>
                    <a:p>
                      <a:r>
                        <a:rPr lang="zh-CN" altLang="en-US" sz="2000" dirty="0"/>
                        <a:t>虚拟计算机环境</a:t>
                      </a:r>
                    </a:p>
                  </a:txBody>
                  <a:tcPr/>
                </a:tc>
                <a:extLst>
                  <a:ext uri="{0D108BD9-81ED-4DB2-BD59-A6C34878D82A}">
                    <a16:rowId xmlns:a16="http://schemas.microsoft.com/office/drawing/2014/main" val="920391506"/>
                  </a:ext>
                </a:extLst>
              </a:tr>
            </a:tbl>
          </a:graphicData>
        </a:graphic>
      </p:graphicFrame>
      <p:sp>
        <p:nvSpPr>
          <p:cNvPr id="8"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5520" y="6489303"/>
            <a:ext cx="2743200" cy="365125"/>
          </a:xfrm>
        </p:spPr>
        <p:txBody>
          <a:bodyPr/>
          <a:lstStyle/>
          <a:p>
            <a:r>
              <a:rPr kumimoji="1" lang="en-US" altLang="zh-CN" dirty="0"/>
              <a:t>8.7.4  </a:t>
            </a:r>
            <a:r>
              <a:rPr kumimoji="1" lang="zh-CN" altLang="en-US" dirty="0"/>
              <a:t>沙盒与隔离</a:t>
            </a:r>
          </a:p>
        </p:txBody>
      </p:sp>
      <p:sp>
        <p:nvSpPr>
          <p:cNvPr id="9"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89303"/>
            <a:ext cx="3319670" cy="365125"/>
          </a:xfrm>
        </p:spPr>
        <p:txBody>
          <a:bodyPr/>
          <a:lstStyle/>
          <a:p>
            <a:fld id="{8D4D1E41-7A09-AB4A-A4E1-09765ADA2698}" type="slidenum">
              <a:rPr kumimoji="1" lang="zh-CN" altLang="en-US" smtClean="0"/>
              <a:pPr/>
              <a:t>127</a:t>
            </a:fld>
            <a:endParaRPr kumimoji="1" lang="zh-CN" altLang="en-US" dirty="0"/>
          </a:p>
        </p:txBody>
      </p:sp>
    </p:spTree>
    <p:extLst>
      <p:ext uri="{BB962C8B-B14F-4D97-AF65-F5344CB8AC3E}">
        <p14:creationId xmlns:p14="http://schemas.microsoft.com/office/powerpoint/2010/main" val="133872475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沙盒与隔离</a:t>
            </a:r>
            <a:endParaRPr lang="zh-CN" altLang="en-US" dirty="0"/>
          </a:p>
        </p:txBody>
      </p:sp>
      <p:sp>
        <p:nvSpPr>
          <p:cNvPr id="3" name="内容占位符 2"/>
          <p:cNvSpPr>
            <a:spLocks noGrp="1"/>
          </p:cNvSpPr>
          <p:nvPr>
            <p:ph idx="1"/>
          </p:nvPr>
        </p:nvSpPr>
        <p:spPr>
          <a:xfrm>
            <a:off x="838200" y="1533935"/>
            <a:ext cx="10515600" cy="4586694"/>
          </a:xfrm>
          <a:ln>
            <a:noFill/>
          </a:ln>
        </p:spPr>
        <p:style>
          <a:lnRef idx="1">
            <a:schemeClr val="accent1"/>
          </a:lnRef>
          <a:fillRef idx="0">
            <a:schemeClr val="accent1"/>
          </a:fillRef>
          <a:effectRef idx="0">
            <a:schemeClr val="accent1"/>
          </a:effectRef>
          <a:fontRef idx="minor">
            <a:schemeClr val="tx1"/>
          </a:fontRef>
        </p:style>
        <p:txBody>
          <a:bodyPr>
            <a:normAutofit/>
          </a:bodyPr>
          <a:lstStyle/>
          <a:p>
            <a:pPr>
              <a:lnSpc>
                <a:spcPct val="120000"/>
              </a:lnSpc>
            </a:pPr>
            <a:r>
              <a:rPr kumimoji="1" lang="en-US" altLang="zh-CN" dirty="0">
                <a:latin typeface="Microsoft YaHei" panose="020B0503020204020204" pitchFamily="34" charset="-122"/>
                <a:ea typeface="Microsoft YaHei" panose="020B0503020204020204" pitchFamily="34" charset="-122"/>
              </a:rPr>
              <a:t>Java</a:t>
            </a:r>
            <a:r>
              <a:rPr kumimoji="1" lang="zh-CN" altLang="en-US" dirty="0">
                <a:latin typeface="Microsoft YaHei" panose="020B0503020204020204" pitchFamily="34" charset="-122"/>
                <a:ea typeface="Microsoft YaHei" panose="020B0503020204020204" pitchFamily="34" charset="-122"/>
              </a:rPr>
              <a:t>沙盒</a:t>
            </a:r>
            <a:endParaRPr kumimoji="1" lang="en-US" altLang="zh-CN" dirty="0">
              <a:latin typeface="Microsoft YaHei" panose="020B0503020204020204" pitchFamily="34" charset="-122"/>
              <a:ea typeface="Microsoft YaHei" panose="020B0503020204020204" pitchFamily="34" charset="-122"/>
            </a:endParaRPr>
          </a:p>
          <a:p>
            <a:pPr lvl="1"/>
            <a:r>
              <a:rPr lang="en-US" altLang="zh-CN" sz="2000" dirty="0">
                <a:latin typeface="Microsoft YaHei" panose="020B0503020204020204" pitchFamily="34" charset="-122"/>
                <a:ea typeface="Microsoft YaHei" panose="020B0503020204020204" pitchFamily="34" charset="-122"/>
              </a:rPr>
              <a:t>Java</a:t>
            </a:r>
            <a:r>
              <a:rPr lang="zh-CN" altLang="en-US" sz="2000" dirty="0">
                <a:latin typeface="Microsoft YaHei" panose="020B0503020204020204" pitchFamily="34" charset="-122"/>
                <a:ea typeface="Microsoft YaHei" panose="020B0503020204020204" pitchFamily="34" charset="-122"/>
              </a:rPr>
              <a:t>安全模型的</a:t>
            </a:r>
            <a:r>
              <a:rPr lang="zh-CN" altLang="en-US" sz="2000" dirty="0">
                <a:solidFill>
                  <a:srgbClr val="C00000"/>
                </a:solidFill>
                <a:latin typeface="Microsoft YaHei" panose="020B0503020204020204" pitchFamily="34" charset="-122"/>
                <a:ea typeface="Microsoft YaHei" panose="020B0503020204020204" pitchFamily="34" charset="-122"/>
              </a:rPr>
              <a:t>核心</a:t>
            </a:r>
            <a:endParaRPr lang="en-US" altLang="zh-CN" sz="2000" dirty="0">
              <a:solidFill>
                <a:srgbClr val="C00000"/>
              </a:solidFill>
              <a:latin typeface="Microsoft YaHei" panose="020B0503020204020204" pitchFamily="34" charset="-122"/>
              <a:ea typeface="Microsoft YaHei" panose="020B0503020204020204" pitchFamily="34" charset="-122"/>
            </a:endParaRPr>
          </a:p>
          <a:p>
            <a:pPr lvl="1"/>
            <a:r>
              <a:rPr lang="zh-CN" altLang="en-US" sz="2000" dirty="0">
                <a:latin typeface="Microsoft YaHei" panose="020B0503020204020204" pitchFamily="34" charset="-122"/>
                <a:ea typeface="Microsoft YaHei" panose="020B0503020204020204" pitchFamily="34" charset="-122"/>
              </a:rPr>
              <a:t>将 </a:t>
            </a:r>
            <a:r>
              <a:rPr lang="en-US" altLang="zh-CN" sz="2000" dirty="0">
                <a:latin typeface="Microsoft YaHei" panose="020B0503020204020204" pitchFamily="34" charset="-122"/>
                <a:ea typeface="Microsoft YaHei" panose="020B0503020204020204" pitchFamily="34" charset="-122"/>
              </a:rPr>
              <a:t>Java </a:t>
            </a:r>
            <a:r>
              <a:rPr lang="zh-CN" altLang="en-US" sz="2000" dirty="0">
                <a:latin typeface="Microsoft YaHei" panose="020B0503020204020204" pitchFamily="34" charset="-122"/>
                <a:ea typeface="Microsoft YaHei" panose="020B0503020204020204" pitchFamily="34" charset="-122"/>
              </a:rPr>
              <a:t>代码限定在</a:t>
            </a:r>
            <a:r>
              <a:rPr lang="zh-CN" altLang="en-US" sz="2000" dirty="0">
                <a:solidFill>
                  <a:srgbClr val="C00000"/>
                </a:solidFill>
                <a:latin typeface="Microsoft YaHei" panose="020B0503020204020204" pitchFamily="34" charset="-122"/>
                <a:ea typeface="Microsoft YaHei" panose="020B0503020204020204" pitchFamily="34" charset="-122"/>
              </a:rPr>
              <a:t>虚拟机</a:t>
            </a:r>
            <a:r>
              <a:rPr lang="en-US" altLang="zh-CN" sz="2000" dirty="0">
                <a:latin typeface="Microsoft YaHei" panose="020B0503020204020204" pitchFamily="34" charset="-122"/>
                <a:ea typeface="Microsoft YaHei" panose="020B0503020204020204" pitchFamily="34" charset="-122"/>
              </a:rPr>
              <a:t>(JVM)</a:t>
            </a:r>
            <a:r>
              <a:rPr lang="zh-CN" altLang="en-US" sz="2000" dirty="0">
                <a:latin typeface="Microsoft YaHei" panose="020B0503020204020204" pitchFamily="34" charset="-122"/>
                <a:ea typeface="Microsoft YaHei" panose="020B0503020204020204" pitchFamily="34" charset="-122"/>
              </a:rPr>
              <a:t>特定的运行范围中</a:t>
            </a:r>
            <a:endParaRPr lang="en-US" altLang="zh-CN" sz="2000" dirty="0">
              <a:latin typeface="Microsoft YaHei" panose="020B0503020204020204" pitchFamily="34" charset="-122"/>
              <a:ea typeface="Microsoft YaHei" panose="020B0503020204020204" pitchFamily="34" charset="-122"/>
            </a:endParaRPr>
          </a:p>
          <a:p>
            <a:pPr lvl="1"/>
            <a:r>
              <a:rPr lang="zh-CN" altLang="en-US" sz="2000" dirty="0">
                <a:latin typeface="Microsoft YaHei" panose="020B0503020204020204" pitchFamily="34" charset="-122"/>
                <a:ea typeface="Microsoft YaHei" panose="020B0503020204020204" pitchFamily="34" charset="-122"/>
              </a:rPr>
              <a:t>严格</a:t>
            </a:r>
            <a:r>
              <a:rPr lang="zh-CN" altLang="en-US" sz="2000" dirty="0">
                <a:solidFill>
                  <a:srgbClr val="C00000"/>
                </a:solidFill>
                <a:latin typeface="Microsoft YaHei" panose="020B0503020204020204" pitchFamily="34" charset="-122"/>
                <a:ea typeface="Microsoft YaHei" panose="020B0503020204020204" pitchFamily="34" charset="-122"/>
              </a:rPr>
              <a:t>限制</a:t>
            </a:r>
            <a:r>
              <a:rPr lang="zh-CN" altLang="en-US" sz="2000" dirty="0">
                <a:latin typeface="Microsoft YaHei" panose="020B0503020204020204" pitchFamily="34" charset="-122"/>
                <a:ea typeface="Microsoft YaHei" panose="020B0503020204020204" pitchFamily="34" charset="-122"/>
              </a:rPr>
              <a:t>代码对本地系统资源访问</a:t>
            </a:r>
            <a:endParaRPr lang="en-US" altLang="zh-CN" sz="2000" dirty="0">
              <a:latin typeface="Microsoft YaHei" panose="020B0503020204020204" pitchFamily="34" charset="-122"/>
              <a:ea typeface="Microsoft YaHei" panose="020B0503020204020204" pitchFamily="34" charset="-122"/>
            </a:endParaRPr>
          </a:p>
          <a:p>
            <a:pPr lvl="1"/>
            <a:r>
              <a:rPr lang="zh-CN" altLang="en-US" sz="2000" dirty="0">
                <a:latin typeface="Microsoft YaHei" panose="020B0503020204020204" pitchFamily="34" charset="-122"/>
                <a:ea typeface="Microsoft YaHei" panose="020B0503020204020204" pitchFamily="34" charset="-122"/>
              </a:rPr>
              <a:t>保证对代码的有效</a:t>
            </a:r>
            <a:r>
              <a:rPr lang="zh-CN" altLang="en-US" sz="2000" dirty="0">
                <a:solidFill>
                  <a:srgbClr val="C00000"/>
                </a:solidFill>
                <a:latin typeface="Microsoft YaHei" panose="020B0503020204020204" pitchFamily="34" charset="-122"/>
                <a:ea typeface="Microsoft YaHei" panose="020B0503020204020204" pitchFamily="34" charset="-122"/>
              </a:rPr>
              <a:t>隔离</a:t>
            </a:r>
            <a:r>
              <a:rPr lang="zh-CN" altLang="en-US" sz="2000" dirty="0">
                <a:latin typeface="Microsoft YaHei" panose="020B0503020204020204" pitchFamily="34" charset="-122"/>
                <a:ea typeface="Microsoft YaHei" panose="020B0503020204020204" pitchFamily="34" charset="-122"/>
              </a:rPr>
              <a:t>，防止对本地系统造成破坏</a:t>
            </a:r>
            <a:endParaRPr lang="en-US" altLang="zh-CN" sz="2000" dirty="0">
              <a:latin typeface="Microsoft YaHei" panose="020B0503020204020204" pitchFamily="34" charset="-122"/>
              <a:ea typeface="Microsoft YaHei" panose="020B0503020204020204" pitchFamily="34" charset="-122"/>
            </a:endParaRPr>
          </a:p>
          <a:p>
            <a:pPr>
              <a:lnSpc>
                <a:spcPct val="120000"/>
              </a:lnSpc>
            </a:pPr>
            <a:endParaRPr kumimoji="1" lang="en-US" altLang="zh-CN" dirty="0"/>
          </a:p>
        </p:txBody>
      </p:sp>
      <p:grpSp>
        <p:nvGrpSpPr>
          <p:cNvPr id="48" name="组合 47"/>
          <p:cNvGrpSpPr/>
          <p:nvPr/>
        </p:nvGrpSpPr>
        <p:grpSpPr>
          <a:xfrm>
            <a:off x="2231860" y="3744017"/>
            <a:ext cx="6888816" cy="2600889"/>
            <a:chOff x="838200" y="2059806"/>
            <a:chExt cx="8690120" cy="3671691"/>
          </a:xfrm>
        </p:grpSpPr>
        <p:grpSp>
          <p:nvGrpSpPr>
            <p:cNvPr id="11" name="组合 10"/>
            <p:cNvGrpSpPr/>
            <p:nvPr/>
          </p:nvGrpSpPr>
          <p:grpSpPr>
            <a:xfrm>
              <a:off x="1941928" y="2535810"/>
              <a:ext cx="1756202" cy="1027522"/>
              <a:chOff x="1675161" y="3355942"/>
              <a:chExt cx="1756202" cy="1027522"/>
            </a:xfrm>
          </p:grpSpPr>
          <p:sp>
            <p:nvSpPr>
              <p:cNvPr id="6" name="矩形 5"/>
              <p:cNvSpPr/>
              <p:nvPr/>
            </p:nvSpPr>
            <p:spPr>
              <a:xfrm>
                <a:off x="1675161" y="3563332"/>
                <a:ext cx="681548" cy="263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676729" y="3913699"/>
                <a:ext cx="681548" cy="263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941928" y="3355942"/>
                <a:ext cx="1489435" cy="10275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      </a:t>
                </a:r>
                <a:r>
                  <a:rPr lang="zh-CN" altLang="en-US" sz="2000" dirty="0">
                    <a:solidFill>
                      <a:schemeClr val="tx1"/>
                    </a:solidFill>
                    <a:latin typeface="微软雅黑" pitchFamily="34" charset="-122"/>
                    <a:ea typeface="微软雅黑" pitchFamily="34" charset="-122"/>
                  </a:rPr>
                  <a:t>本地</a:t>
                </a:r>
                <a:endParaRPr lang="en-US" altLang="zh-CN" sz="2000" dirty="0">
                  <a:solidFill>
                    <a:schemeClr val="tx1"/>
                  </a:solidFill>
                  <a:latin typeface="微软雅黑" pitchFamily="34" charset="-122"/>
                  <a:ea typeface="微软雅黑" pitchFamily="34" charset="-122"/>
                </a:endParaRPr>
              </a:p>
              <a:p>
                <a:pPr algn="ctr"/>
                <a:r>
                  <a:rPr lang="en-US" altLang="zh-CN" sz="2000" dirty="0">
                    <a:solidFill>
                      <a:schemeClr val="tx1"/>
                    </a:solidFill>
                    <a:latin typeface="微软雅黑" pitchFamily="34" charset="-122"/>
                    <a:ea typeface="微软雅黑" pitchFamily="34" charset="-122"/>
                  </a:rPr>
                  <a:t>     </a:t>
                </a:r>
                <a:r>
                  <a:rPr lang="zh-CN" altLang="en-US" sz="2000" dirty="0">
                    <a:solidFill>
                      <a:schemeClr val="tx1"/>
                    </a:solidFill>
                    <a:latin typeface="微软雅黑" pitchFamily="34" charset="-122"/>
                    <a:ea typeface="微软雅黑" pitchFamily="34" charset="-122"/>
                  </a:rPr>
                  <a:t>代码</a:t>
                </a:r>
              </a:p>
            </p:txBody>
          </p:sp>
        </p:grpSp>
        <p:sp>
          <p:nvSpPr>
            <p:cNvPr id="10" name="矩形 9"/>
            <p:cNvSpPr/>
            <p:nvPr/>
          </p:nvSpPr>
          <p:spPr>
            <a:xfrm>
              <a:off x="838200" y="5328828"/>
              <a:ext cx="8690120" cy="4026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      </a:t>
              </a:r>
              <a:r>
                <a:rPr lang="zh-CN" altLang="en-US" sz="2000" dirty="0">
                  <a:solidFill>
                    <a:schemeClr val="tx1"/>
                  </a:solidFill>
                  <a:latin typeface="微软雅黑" pitchFamily="34" charset="-122"/>
                  <a:ea typeface="微软雅黑" pitchFamily="34" charset="-122"/>
                </a:rPr>
                <a:t>操作系统和本地资源</a:t>
              </a:r>
            </a:p>
          </p:txBody>
        </p:sp>
        <p:grpSp>
          <p:nvGrpSpPr>
            <p:cNvPr id="12" name="组合 11"/>
            <p:cNvGrpSpPr/>
            <p:nvPr/>
          </p:nvGrpSpPr>
          <p:grpSpPr>
            <a:xfrm>
              <a:off x="6345956" y="3402452"/>
              <a:ext cx="1756202" cy="1027522"/>
              <a:chOff x="1675161" y="3355942"/>
              <a:chExt cx="1756202" cy="1027522"/>
            </a:xfrm>
          </p:grpSpPr>
          <p:sp>
            <p:nvSpPr>
              <p:cNvPr id="13" name="矩形 12"/>
              <p:cNvSpPr/>
              <p:nvPr/>
            </p:nvSpPr>
            <p:spPr>
              <a:xfrm>
                <a:off x="1675161" y="3563332"/>
                <a:ext cx="681548" cy="263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6729" y="3913699"/>
                <a:ext cx="681548" cy="263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941928" y="3355942"/>
                <a:ext cx="1489435" cy="10275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      </a:t>
                </a:r>
                <a:r>
                  <a:rPr lang="zh-CN" altLang="en-US" sz="2000" dirty="0">
                    <a:solidFill>
                      <a:schemeClr val="tx1"/>
                    </a:solidFill>
                    <a:latin typeface="微软雅黑" pitchFamily="34" charset="-122"/>
                    <a:ea typeface="微软雅黑" pitchFamily="34" charset="-122"/>
                  </a:rPr>
                  <a:t>远程</a:t>
                </a:r>
                <a:endParaRPr lang="en-US" altLang="zh-CN" sz="2000" dirty="0">
                  <a:solidFill>
                    <a:schemeClr val="tx1"/>
                  </a:solidFill>
                  <a:latin typeface="微软雅黑" pitchFamily="34" charset="-122"/>
                  <a:ea typeface="微软雅黑" pitchFamily="34" charset="-122"/>
                </a:endParaRPr>
              </a:p>
              <a:p>
                <a:pPr algn="ctr"/>
                <a:r>
                  <a:rPr lang="en-US" altLang="zh-CN" sz="2000" dirty="0">
                    <a:solidFill>
                      <a:schemeClr val="tx1"/>
                    </a:solidFill>
                    <a:latin typeface="微软雅黑" pitchFamily="34" charset="-122"/>
                    <a:ea typeface="微软雅黑" pitchFamily="34" charset="-122"/>
                  </a:rPr>
                  <a:t>      </a:t>
                </a:r>
                <a:r>
                  <a:rPr lang="zh-CN" altLang="en-US" sz="2000" dirty="0">
                    <a:solidFill>
                      <a:schemeClr val="tx1"/>
                    </a:solidFill>
                    <a:latin typeface="微软雅黑" pitchFamily="34" charset="-122"/>
                    <a:ea typeface="微软雅黑" pitchFamily="34" charset="-122"/>
                  </a:rPr>
                  <a:t>代码</a:t>
                </a:r>
              </a:p>
            </p:txBody>
          </p:sp>
        </p:grpSp>
        <p:grpSp>
          <p:nvGrpSpPr>
            <p:cNvPr id="16" name="组合 15"/>
            <p:cNvGrpSpPr/>
            <p:nvPr/>
          </p:nvGrpSpPr>
          <p:grpSpPr>
            <a:xfrm>
              <a:off x="4652109" y="2329995"/>
              <a:ext cx="1756202" cy="1027522"/>
              <a:chOff x="1675161" y="3355942"/>
              <a:chExt cx="1756202" cy="1027522"/>
            </a:xfrm>
          </p:grpSpPr>
          <p:sp>
            <p:nvSpPr>
              <p:cNvPr id="17" name="矩形 16"/>
              <p:cNvSpPr/>
              <p:nvPr/>
            </p:nvSpPr>
            <p:spPr>
              <a:xfrm>
                <a:off x="1675161" y="3563332"/>
                <a:ext cx="681548" cy="263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676729" y="3913699"/>
                <a:ext cx="681548" cy="263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941928" y="3355942"/>
                <a:ext cx="1489435" cy="10275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      </a:t>
                </a:r>
                <a:r>
                  <a:rPr lang="zh-CN" altLang="en-US" sz="2000" dirty="0">
                    <a:solidFill>
                      <a:schemeClr val="tx1"/>
                    </a:solidFill>
                    <a:latin typeface="微软雅黑" pitchFamily="34" charset="-122"/>
                    <a:ea typeface="微软雅黑" pitchFamily="34" charset="-122"/>
                  </a:rPr>
                  <a:t>远程</a:t>
                </a:r>
                <a:endParaRPr lang="en-US" altLang="zh-CN" sz="2000" dirty="0">
                  <a:solidFill>
                    <a:schemeClr val="tx1"/>
                  </a:solidFill>
                  <a:latin typeface="微软雅黑" pitchFamily="34" charset="-122"/>
                  <a:ea typeface="微软雅黑" pitchFamily="34" charset="-122"/>
                </a:endParaRPr>
              </a:p>
              <a:p>
                <a:pPr algn="ctr"/>
                <a:r>
                  <a:rPr lang="en-US" altLang="zh-CN" sz="2000" dirty="0">
                    <a:solidFill>
                      <a:schemeClr val="tx1"/>
                    </a:solidFill>
                    <a:latin typeface="微软雅黑" pitchFamily="34" charset="-122"/>
                    <a:ea typeface="微软雅黑" pitchFamily="34" charset="-122"/>
                  </a:rPr>
                  <a:t>     </a:t>
                </a:r>
                <a:r>
                  <a:rPr lang="zh-CN" altLang="en-US" sz="2000" dirty="0">
                    <a:solidFill>
                      <a:schemeClr val="tx1"/>
                    </a:solidFill>
                    <a:latin typeface="微软雅黑" pitchFamily="34" charset="-122"/>
                    <a:ea typeface="微软雅黑" pitchFamily="34" charset="-122"/>
                  </a:rPr>
                  <a:t>代码</a:t>
                </a:r>
              </a:p>
            </p:txBody>
          </p:sp>
        </p:grpSp>
        <p:sp>
          <p:nvSpPr>
            <p:cNvPr id="21" name="矩形 20"/>
            <p:cNvSpPr/>
            <p:nvPr/>
          </p:nvSpPr>
          <p:spPr>
            <a:xfrm>
              <a:off x="1941928" y="4714041"/>
              <a:ext cx="1629338" cy="357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微软雅黑" pitchFamily="34" charset="-122"/>
                  <a:ea typeface="微软雅黑" pitchFamily="34" charset="-122"/>
                </a:rPr>
                <a:t>JVM</a:t>
              </a:r>
              <a:endParaRPr lang="zh-CN" altLang="en-US" sz="2800" dirty="0">
                <a:solidFill>
                  <a:schemeClr val="tx1"/>
                </a:solidFill>
                <a:latin typeface="微软雅黑" pitchFamily="34" charset="-122"/>
                <a:ea typeface="微软雅黑" pitchFamily="34" charset="-122"/>
              </a:endParaRPr>
            </a:p>
          </p:txBody>
        </p:sp>
        <p:sp>
          <p:nvSpPr>
            <p:cNvPr id="22" name="矩形 21"/>
            <p:cNvSpPr/>
            <p:nvPr/>
          </p:nvSpPr>
          <p:spPr>
            <a:xfrm>
              <a:off x="5057925" y="3781411"/>
              <a:ext cx="944570" cy="3575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itchFamily="34" charset="-122"/>
                  <a:ea typeface="微软雅黑" pitchFamily="34" charset="-122"/>
                </a:rPr>
                <a:t>沙盒</a:t>
              </a:r>
            </a:p>
          </p:txBody>
        </p:sp>
        <p:cxnSp>
          <p:nvCxnSpPr>
            <p:cNvPr id="31" name="肘形连接符 30"/>
            <p:cNvCxnSpPr/>
            <p:nvPr/>
          </p:nvCxnSpPr>
          <p:spPr>
            <a:xfrm rot="16200000" flipH="1">
              <a:off x="2419975" y="4050673"/>
              <a:ext cx="1765496" cy="7908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grpSp>
          <p:nvGrpSpPr>
            <p:cNvPr id="47" name="组合 46"/>
            <p:cNvGrpSpPr/>
            <p:nvPr/>
          </p:nvGrpSpPr>
          <p:grpSpPr>
            <a:xfrm>
              <a:off x="3698130" y="4429974"/>
              <a:ext cx="3330943" cy="441997"/>
              <a:chOff x="3698130" y="4429974"/>
              <a:chExt cx="3330943" cy="441997"/>
            </a:xfrm>
          </p:grpSpPr>
          <p:cxnSp>
            <p:nvCxnSpPr>
              <p:cNvPr id="41" name="直接连接符 40"/>
              <p:cNvCxnSpPr/>
              <p:nvPr/>
            </p:nvCxnSpPr>
            <p:spPr>
              <a:xfrm>
                <a:off x="3698130" y="4870383"/>
                <a:ext cx="332937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rot="16200000" flipV="1">
                <a:off x="6807290" y="4650189"/>
                <a:ext cx="441997" cy="1568"/>
              </a:xfrm>
              <a:prstGeom prst="line">
                <a:avLst/>
              </a:prstGeom>
            </p:spPr>
            <p:style>
              <a:lnRef idx="1">
                <a:schemeClr val="accent1"/>
              </a:lnRef>
              <a:fillRef idx="0">
                <a:schemeClr val="accent1"/>
              </a:fillRef>
              <a:effectRef idx="0">
                <a:schemeClr val="accent1"/>
              </a:effectRef>
              <a:fontRef idx="minor">
                <a:schemeClr val="tx1"/>
              </a:fontRef>
            </p:style>
          </p:cxnSp>
        </p:grpSp>
        <p:sp>
          <p:nvSpPr>
            <p:cNvPr id="45" name="矩形 44"/>
            <p:cNvSpPr/>
            <p:nvPr/>
          </p:nvSpPr>
          <p:spPr>
            <a:xfrm>
              <a:off x="4582420" y="2204185"/>
              <a:ext cx="3839685" cy="23581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1307508" y="2059806"/>
              <a:ext cx="7951995" cy="32690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582420" y="4714041"/>
              <a:ext cx="1420076" cy="35759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微软雅黑" pitchFamily="34" charset="-122"/>
                  <a:ea typeface="微软雅黑" pitchFamily="34" charset="-122"/>
                </a:rPr>
                <a:t>受信任</a:t>
              </a:r>
            </a:p>
          </p:txBody>
        </p:sp>
      </p:grpSp>
      <p:sp>
        <p:nvSpPr>
          <p:cNvPr id="29"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85520" y="6467879"/>
            <a:ext cx="2743200" cy="365125"/>
          </a:xfrm>
        </p:spPr>
        <p:txBody>
          <a:bodyPr/>
          <a:lstStyle/>
          <a:p>
            <a:r>
              <a:rPr kumimoji="1" lang="en-US" altLang="zh-CN" dirty="0"/>
              <a:t>8.7.4  </a:t>
            </a:r>
            <a:r>
              <a:rPr kumimoji="1" lang="zh-CN" altLang="en-US" dirty="0"/>
              <a:t>沙盒与隔离</a:t>
            </a:r>
          </a:p>
        </p:txBody>
      </p:sp>
      <p:sp>
        <p:nvSpPr>
          <p:cNvPr id="30"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872330" y="6492875"/>
            <a:ext cx="3319670" cy="365125"/>
          </a:xfrm>
        </p:spPr>
        <p:txBody>
          <a:bodyPr/>
          <a:lstStyle/>
          <a:p>
            <a:fld id="{8D4D1E41-7A09-AB4A-A4E1-09765ADA2698}" type="slidenum">
              <a:rPr kumimoji="1" lang="zh-CN" altLang="en-US" smtClean="0"/>
              <a:pPr/>
              <a:t>128</a:t>
            </a:fld>
            <a:endParaRPr kumimoji="1" lang="zh-CN" altLang="en-US" dirty="0"/>
          </a:p>
        </p:txBody>
      </p:sp>
    </p:spTree>
    <p:extLst>
      <p:ext uri="{BB962C8B-B14F-4D97-AF65-F5344CB8AC3E}">
        <p14:creationId xmlns:p14="http://schemas.microsoft.com/office/powerpoint/2010/main" val="31445221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167384" y="1303493"/>
            <a:ext cx="10515600" cy="5453567"/>
          </a:xfrm>
        </p:spPr>
        <p:txBody>
          <a:bodyPr>
            <a:normAutofit fontScale="70000" lnSpcReduction="20000"/>
          </a:bodyPr>
          <a:lstStyle/>
          <a:p>
            <a:pPr>
              <a:lnSpc>
                <a:spcPct val="130000"/>
              </a:lnSpc>
              <a:buNone/>
            </a:pPr>
            <a:r>
              <a:rPr kumimoji="1" lang="en-US" altLang="zh-CN" sz="3000" dirty="0"/>
              <a:t>10.1 </a:t>
            </a:r>
            <a:r>
              <a:rPr kumimoji="1" lang="zh-CN" altLang="zh-CN" sz="3000" dirty="0"/>
              <a:t>恶意软件类型</a:t>
            </a:r>
            <a:endParaRPr kumimoji="1" lang="en-US" altLang="zh-CN" sz="3000" dirty="0"/>
          </a:p>
          <a:p>
            <a:pPr>
              <a:lnSpc>
                <a:spcPct val="130000"/>
              </a:lnSpc>
              <a:buNone/>
            </a:pPr>
            <a:r>
              <a:rPr kumimoji="1" lang="en-US" altLang="zh-CN" sz="3000" dirty="0"/>
              <a:t>10.2 </a:t>
            </a:r>
            <a:r>
              <a:rPr kumimoji="1" lang="zh-CN" altLang="zh-CN" sz="3000" dirty="0"/>
              <a:t>高级持续性威胁</a:t>
            </a:r>
            <a:endParaRPr kumimoji="1" lang="en-US" altLang="zh-CN" sz="3000" dirty="0"/>
          </a:p>
          <a:p>
            <a:pPr>
              <a:lnSpc>
                <a:spcPct val="130000"/>
              </a:lnSpc>
              <a:buNone/>
            </a:pPr>
            <a:r>
              <a:rPr kumimoji="1" lang="en-US" altLang="zh-CN" sz="3000" dirty="0"/>
              <a:t>10.3 </a:t>
            </a:r>
            <a:r>
              <a:rPr kumimoji="1" lang="zh-CN" altLang="zh-CN" sz="3000" dirty="0"/>
              <a:t>传播</a:t>
            </a:r>
            <a:r>
              <a:rPr kumimoji="1" lang="en-US" altLang="zh-CN" sz="3000" dirty="0"/>
              <a:t>-</a:t>
            </a:r>
            <a:r>
              <a:rPr kumimoji="1" lang="zh-CN" altLang="zh-CN" sz="3000" dirty="0"/>
              <a:t>感染内容</a:t>
            </a:r>
            <a:r>
              <a:rPr kumimoji="1" lang="en-US" altLang="zh-CN" sz="3000" dirty="0"/>
              <a:t>-</a:t>
            </a:r>
            <a:r>
              <a:rPr kumimoji="1" lang="zh-CN" altLang="zh-CN" sz="3000" dirty="0"/>
              <a:t>病毒</a:t>
            </a:r>
            <a:endParaRPr kumimoji="1" lang="en-US" altLang="zh-CN" sz="3000" dirty="0"/>
          </a:p>
          <a:p>
            <a:pPr>
              <a:lnSpc>
                <a:spcPct val="150000"/>
              </a:lnSpc>
              <a:buNone/>
            </a:pPr>
            <a:r>
              <a:rPr kumimoji="1" lang="en-US" altLang="zh-CN" sz="3000" dirty="0"/>
              <a:t>10.4 </a:t>
            </a:r>
            <a:r>
              <a:rPr kumimoji="1" lang="zh-CN" altLang="zh-CN" sz="3000" dirty="0"/>
              <a:t>传播</a:t>
            </a:r>
            <a:r>
              <a:rPr kumimoji="1" lang="en-US" altLang="zh-CN" sz="3000" dirty="0"/>
              <a:t>-</a:t>
            </a:r>
            <a:r>
              <a:rPr kumimoji="1" lang="zh-CN" altLang="zh-CN" sz="3000" dirty="0"/>
              <a:t>漏洞利用</a:t>
            </a:r>
            <a:r>
              <a:rPr kumimoji="1" lang="en-US" altLang="zh-CN" sz="3000" dirty="0"/>
              <a:t>-</a:t>
            </a:r>
            <a:r>
              <a:rPr kumimoji="1" lang="zh-CN" altLang="zh-CN" sz="3000" dirty="0"/>
              <a:t>蠕虫</a:t>
            </a:r>
            <a:endParaRPr kumimoji="1" lang="en-US" altLang="zh-CN" sz="3000" dirty="0"/>
          </a:p>
          <a:p>
            <a:pPr>
              <a:lnSpc>
                <a:spcPct val="150000"/>
              </a:lnSpc>
              <a:buNone/>
            </a:pPr>
            <a:r>
              <a:rPr kumimoji="1" lang="en-US" altLang="zh-CN" sz="3000" dirty="0"/>
              <a:t>10.5 </a:t>
            </a:r>
            <a:r>
              <a:rPr kumimoji="1" lang="zh-CN" altLang="zh-CN" sz="3000" dirty="0"/>
              <a:t>传播</a:t>
            </a:r>
            <a:r>
              <a:rPr kumimoji="1" lang="en-US" altLang="zh-CN" sz="3000" dirty="0"/>
              <a:t>-</a:t>
            </a:r>
            <a:r>
              <a:rPr kumimoji="1" lang="zh-CN" altLang="zh-CN" sz="3000" dirty="0"/>
              <a:t>社会工程</a:t>
            </a:r>
            <a:r>
              <a:rPr kumimoji="1" lang="en-US" altLang="zh-CN" sz="3000" dirty="0"/>
              <a:t>-</a:t>
            </a:r>
            <a:r>
              <a:rPr kumimoji="1" lang="zh-CN" altLang="zh-CN" sz="3000" dirty="0"/>
              <a:t>垃圾邮件与特洛伊木马</a:t>
            </a:r>
            <a:endParaRPr kumimoji="1" lang="en-US" altLang="zh-CN" sz="3000" dirty="0"/>
          </a:p>
          <a:p>
            <a:pPr>
              <a:lnSpc>
                <a:spcPct val="150000"/>
              </a:lnSpc>
              <a:buNone/>
            </a:pPr>
            <a:r>
              <a:rPr kumimoji="1" lang="en-US" altLang="zh-CN" sz="3000" dirty="0"/>
              <a:t>10.6 </a:t>
            </a:r>
            <a:r>
              <a:rPr kumimoji="1" lang="zh-CN" altLang="zh-CN" sz="3000" dirty="0"/>
              <a:t>载荷</a:t>
            </a:r>
            <a:r>
              <a:rPr kumimoji="1" lang="en-US" altLang="zh-CN" sz="3000" dirty="0"/>
              <a:t>-</a:t>
            </a:r>
            <a:r>
              <a:rPr kumimoji="1" lang="zh-CN" altLang="zh-CN" sz="3000" dirty="0"/>
              <a:t>系统破坏</a:t>
            </a:r>
            <a:endParaRPr kumimoji="1" lang="en-US" altLang="zh-CN" sz="3000" dirty="0"/>
          </a:p>
          <a:p>
            <a:pPr>
              <a:lnSpc>
                <a:spcPct val="150000"/>
              </a:lnSpc>
              <a:buNone/>
            </a:pPr>
            <a:r>
              <a:rPr kumimoji="1" lang="en-US" altLang="zh-CN" sz="3000" dirty="0"/>
              <a:t>10.7 </a:t>
            </a:r>
            <a:r>
              <a:rPr kumimoji="1" lang="zh-CN" altLang="zh-CN" sz="3000" dirty="0"/>
              <a:t>载荷</a:t>
            </a:r>
            <a:r>
              <a:rPr kumimoji="1" lang="en-US" altLang="zh-CN" sz="3000" dirty="0"/>
              <a:t>-</a:t>
            </a:r>
            <a:r>
              <a:rPr kumimoji="1" lang="zh-CN" altLang="zh-CN" sz="3000" dirty="0"/>
              <a:t>攻击代理</a:t>
            </a:r>
            <a:r>
              <a:rPr kumimoji="1" lang="en-US" altLang="zh-CN" sz="3000" dirty="0"/>
              <a:t>-</a:t>
            </a:r>
            <a:r>
              <a:rPr kumimoji="1" lang="zh-CN" altLang="zh-CN" sz="3000" dirty="0"/>
              <a:t>僵尸病毒与机器人</a:t>
            </a:r>
            <a:endParaRPr kumimoji="1" lang="en-US" altLang="zh-CN" sz="3000" dirty="0"/>
          </a:p>
          <a:p>
            <a:pPr>
              <a:lnSpc>
                <a:spcPct val="150000"/>
              </a:lnSpc>
              <a:buNone/>
            </a:pPr>
            <a:r>
              <a:rPr kumimoji="1" lang="en-US" altLang="zh-CN" sz="3000" dirty="0"/>
              <a:t>10.8 </a:t>
            </a:r>
            <a:r>
              <a:rPr kumimoji="1" lang="zh-CN" altLang="zh-CN" sz="3000" dirty="0"/>
              <a:t>载荷</a:t>
            </a:r>
            <a:r>
              <a:rPr kumimoji="1" lang="en-US" altLang="zh-CN" sz="3000" dirty="0"/>
              <a:t>-</a:t>
            </a:r>
            <a:r>
              <a:rPr kumimoji="1" lang="zh-CN" altLang="zh-CN" sz="3000" dirty="0"/>
              <a:t>信息窃取</a:t>
            </a:r>
            <a:r>
              <a:rPr kumimoji="1" lang="en-US" altLang="zh-CN" sz="3000" dirty="0"/>
              <a:t>-</a:t>
            </a:r>
            <a:r>
              <a:rPr kumimoji="1" lang="zh-CN" altLang="zh-CN" sz="3000" dirty="0"/>
              <a:t>键盘监测器、网络钓鱼与间谍软件</a:t>
            </a:r>
            <a:endParaRPr kumimoji="1" lang="en-US" altLang="zh-CN" sz="3000" dirty="0"/>
          </a:p>
          <a:p>
            <a:pPr>
              <a:lnSpc>
                <a:spcPct val="150000"/>
              </a:lnSpc>
              <a:buNone/>
            </a:pPr>
            <a:r>
              <a:rPr kumimoji="1" lang="en-US" altLang="zh-CN" sz="3000" dirty="0"/>
              <a:t>10.9 </a:t>
            </a:r>
            <a:r>
              <a:rPr kumimoji="1" lang="zh-CN" altLang="zh-CN" sz="3000" dirty="0"/>
              <a:t>载荷</a:t>
            </a:r>
            <a:r>
              <a:rPr kumimoji="1" lang="en-US" altLang="zh-CN" sz="3000" dirty="0"/>
              <a:t>-</a:t>
            </a:r>
            <a:r>
              <a:rPr kumimoji="1" lang="zh-CN" altLang="zh-CN" sz="3000" dirty="0"/>
              <a:t>隐身</a:t>
            </a:r>
            <a:r>
              <a:rPr kumimoji="1" lang="en-US" altLang="zh-CN" sz="3000" dirty="0"/>
              <a:t>-</a:t>
            </a:r>
            <a:r>
              <a:rPr kumimoji="1" lang="zh-CN" altLang="zh-CN" sz="3000" dirty="0"/>
              <a:t>后门与隐匿程序</a:t>
            </a:r>
            <a:endParaRPr kumimoji="1" lang="en-US" altLang="zh-CN" sz="3000" dirty="0"/>
          </a:p>
          <a:p>
            <a:pPr>
              <a:lnSpc>
                <a:spcPct val="150000"/>
              </a:lnSpc>
              <a:buNone/>
            </a:pPr>
            <a:r>
              <a:rPr kumimoji="1" lang="en-US" altLang="zh-CN" sz="3000" dirty="0"/>
              <a:t>10.10 </a:t>
            </a:r>
            <a:r>
              <a:rPr kumimoji="1" lang="zh-CN" altLang="zh-CN" sz="3000" dirty="0"/>
              <a:t>防护措施</a:t>
            </a:r>
            <a:endParaRPr kumimoji="1" lang="en-US" altLang="zh-CN" sz="3000" dirty="0"/>
          </a:p>
          <a:p>
            <a:pPr>
              <a:lnSpc>
                <a:spcPct val="150000"/>
              </a:lnSpc>
              <a:buNone/>
            </a:pPr>
            <a:r>
              <a:rPr kumimoji="1" lang="en-US" altLang="zh-CN" sz="3000" dirty="0">
                <a:solidFill>
                  <a:srgbClr val="C00000"/>
                </a:solidFill>
              </a:rPr>
              <a:t>10.11 </a:t>
            </a:r>
            <a:r>
              <a:rPr kumimoji="1" lang="zh-CN" altLang="zh-CN" sz="3000" dirty="0">
                <a:solidFill>
                  <a:srgbClr val="C00000"/>
                </a:solidFill>
              </a:rPr>
              <a:t>分布式拒绝服务攻击</a:t>
            </a:r>
            <a:endParaRPr kumimoji="1" lang="zh-CN" altLang="en-US" sz="3000" dirty="0">
              <a:solidFill>
                <a:srgbClr val="C00000"/>
              </a:solidFill>
            </a:endParaRPr>
          </a:p>
          <a:p>
            <a:pPr>
              <a:lnSpc>
                <a:spcPct val="130000"/>
              </a:lnSpc>
              <a:buNone/>
            </a:pPr>
            <a:endParaRPr kumimoji="1" lang="en-US" altLang="zh-CN" dirty="0"/>
          </a:p>
          <a:p>
            <a:pPr>
              <a:lnSpc>
                <a:spcPct val="130000"/>
              </a:lnSpc>
              <a:buNone/>
            </a:pPr>
            <a:endParaRPr kumimoji="1" lang="zh-CN" altLang="en-US"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标注 5">
            <a:extLst>
              <a:ext uri="{FF2B5EF4-FFF2-40B4-BE49-F238E27FC236}">
                <a16:creationId xmlns:a16="http://schemas.microsoft.com/office/drawing/2014/main" id="{981187B3-3584-BA4E-A14C-4B26773516C6}"/>
              </a:ext>
            </a:extLst>
          </p:cNvPr>
          <p:cNvSpPr/>
          <p:nvPr/>
        </p:nvSpPr>
        <p:spPr>
          <a:xfrm>
            <a:off x="7932717" y="4310743"/>
            <a:ext cx="3750267" cy="2182131"/>
          </a:xfrm>
          <a:prstGeom prst="wedgeRectCallout">
            <a:avLst>
              <a:gd name="adj1" fmla="val -140281"/>
              <a:gd name="adj2" fmla="val 4382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err="1">
                <a:solidFill>
                  <a:prstClr val="black"/>
                </a:solidFill>
                <a:latin typeface="Microsoft YaHei" panose="020B0503020204020204" pitchFamily="34" charset="-122"/>
                <a:ea typeface="Microsoft YaHei" panose="020B0503020204020204" pitchFamily="34" charset="-122"/>
              </a:rPr>
              <a:t>DDoS</a:t>
            </a:r>
            <a:r>
              <a:rPr kumimoji="1" lang="en-US" altLang="zh-CN" sz="2400" dirty="0">
                <a:solidFill>
                  <a:prstClr val="black"/>
                </a:solidFill>
                <a:latin typeface="Microsoft YaHei" panose="020B0503020204020204" pitchFamily="34" charset="-122"/>
                <a:ea typeface="Microsoft YaHei" panose="020B0503020204020204" pitchFamily="34" charset="-122"/>
              </a:rPr>
              <a:t> </a:t>
            </a:r>
            <a:r>
              <a:rPr kumimoji="1" lang="zh-CN" altLang="zh-CN" sz="2400" dirty="0">
                <a:solidFill>
                  <a:prstClr val="black"/>
                </a:solidFill>
                <a:latin typeface="Microsoft YaHei" panose="020B0503020204020204" pitchFamily="34" charset="-122"/>
                <a:ea typeface="Microsoft YaHei" panose="020B0503020204020204" pitchFamily="34" charset="-122"/>
              </a:rPr>
              <a:t>攻击描述</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zh-CN" sz="2400" dirty="0">
                <a:solidFill>
                  <a:prstClr val="black"/>
                </a:solidFill>
                <a:latin typeface="Microsoft YaHei" panose="020B0503020204020204" pitchFamily="34" charset="-122"/>
                <a:ea typeface="Microsoft YaHei" panose="020B0503020204020204" pitchFamily="34" charset="-122"/>
              </a:rPr>
              <a:t>构造攻击网络</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err="1">
                <a:solidFill>
                  <a:prstClr val="black"/>
                </a:solidFill>
                <a:latin typeface="Microsoft YaHei" panose="020B0503020204020204" pitchFamily="34" charset="-122"/>
                <a:ea typeface="Microsoft YaHei" panose="020B0503020204020204" pitchFamily="34" charset="-122"/>
              </a:rPr>
              <a:t>DDoS</a:t>
            </a:r>
            <a:r>
              <a:rPr kumimoji="1" lang="en-US" altLang="zh-CN" sz="2400" dirty="0">
                <a:solidFill>
                  <a:prstClr val="black"/>
                </a:solidFill>
                <a:latin typeface="Microsoft YaHei" panose="020B0503020204020204" pitchFamily="34" charset="-122"/>
                <a:ea typeface="Microsoft YaHei" panose="020B0503020204020204" pitchFamily="34" charset="-122"/>
              </a:rPr>
              <a:t> </a:t>
            </a:r>
            <a:r>
              <a:rPr kumimoji="1" lang="zh-CN" altLang="zh-CN" sz="2400" dirty="0">
                <a:solidFill>
                  <a:prstClr val="black"/>
                </a:solidFill>
                <a:latin typeface="Microsoft YaHei" panose="020B0503020204020204" pitchFamily="34" charset="-122"/>
                <a:ea typeface="Microsoft YaHei" panose="020B0503020204020204" pitchFamily="34" charset="-122"/>
              </a:rPr>
              <a:t>防护措施</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6356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 </a:t>
            </a:r>
            <a:r>
              <a:rPr kumimoji="1" lang="zh-CN" altLang="en-US" dirty="0">
                <a:solidFill>
                  <a:prstClr val="black"/>
                </a:solidFill>
              </a:rPr>
              <a:t>分布式拒绝服务攻击</a:t>
            </a:r>
            <a:endParaRPr lang="zh-CN" altLang="en-US" dirty="0"/>
          </a:p>
        </p:txBody>
      </p:sp>
      <p:sp>
        <p:nvSpPr>
          <p:cNvPr id="3" name="内容占位符 2"/>
          <p:cNvSpPr>
            <a:spLocks noGrp="1"/>
          </p:cNvSpPr>
          <p:nvPr>
            <p:ph idx="1"/>
          </p:nvPr>
        </p:nvSpPr>
        <p:spPr/>
        <p:txBody>
          <a:bodyPr>
            <a:normAutofit/>
          </a:bodyPr>
          <a:lstStyle/>
          <a:p>
            <a:r>
              <a:rPr lang="zh-CN" altLang="en-US" dirty="0">
                <a:solidFill>
                  <a:srgbClr val="C00000"/>
                </a:solidFill>
              </a:rPr>
              <a:t>拒绝服务（</a:t>
            </a:r>
            <a:r>
              <a:rPr lang="en-US" altLang="zh-CN" dirty="0" err="1">
                <a:solidFill>
                  <a:srgbClr val="C00000"/>
                </a:solidFill>
              </a:rPr>
              <a:t>DoS</a:t>
            </a:r>
            <a:r>
              <a:rPr lang="zh-CN" altLang="en-US" dirty="0">
                <a:solidFill>
                  <a:srgbClr val="C00000"/>
                </a:solidFill>
              </a:rPr>
              <a:t>）</a:t>
            </a:r>
            <a:r>
              <a:rPr lang="zh-CN" altLang="en-US" dirty="0"/>
              <a:t>攻击指试图阻止某种服务的合法用户使用该服务。如果这种攻击是从某个单一的主机或者网站发起的，那么它就被称为</a:t>
            </a:r>
            <a:r>
              <a:rPr lang="en-US" altLang="zh-CN" dirty="0" err="1"/>
              <a:t>DoS</a:t>
            </a:r>
            <a:r>
              <a:rPr lang="zh-CN" altLang="en-US" dirty="0"/>
              <a:t>攻击。</a:t>
            </a:r>
            <a:endParaRPr lang="en-US" altLang="zh-CN" dirty="0"/>
          </a:p>
          <a:p>
            <a:r>
              <a:rPr lang="en-US" altLang="zh-CN" dirty="0" err="1">
                <a:solidFill>
                  <a:srgbClr val="C00000"/>
                </a:solidFill>
              </a:rPr>
              <a:t>DDoS</a:t>
            </a:r>
            <a:r>
              <a:rPr lang="zh-CN" altLang="en-US" dirty="0">
                <a:solidFill>
                  <a:srgbClr val="C00000"/>
                </a:solidFill>
              </a:rPr>
              <a:t>攻击</a:t>
            </a:r>
            <a:r>
              <a:rPr lang="zh-CN" altLang="en-US" dirty="0"/>
              <a:t>所带来的是一种更为严重的网络威胁。在</a:t>
            </a:r>
            <a:r>
              <a:rPr lang="en-US" altLang="zh-CN" dirty="0" err="1"/>
              <a:t>DDoS</a:t>
            </a:r>
            <a:r>
              <a:rPr lang="zh-CN" altLang="en-US" dirty="0"/>
              <a:t>攻击中，攻击者可以募集遍及整个互联网的大量主机，在同一时间或者以协同发射方式对目标站点发起进攻。</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130</a:t>
            </a:fld>
            <a:endParaRPr kumimoji="1" lang="zh-CN" altLang="en-US" dirty="0"/>
          </a:p>
        </p:txBody>
      </p:sp>
    </p:spTree>
    <p:extLst>
      <p:ext uri="{BB962C8B-B14F-4D97-AF65-F5344CB8AC3E}">
        <p14:creationId xmlns:p14="http://schemas.microsoft.com/office/powerpoint/2010/main" val="279013075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10.11.1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攻击描述</a:t>
            </a:r>
            <a:endParaRPr lang="zh-CN" altLang="en-US" dirty="0"/>
          </a:p>
        </p:txBody>
      </p:sp>
      <p:sp>
        <p:nvSpPr>
          <p:cNvPr id="3" name="内容占位符 2"/>
          <p:cNvSpPr>
            <a:spLocks noGrp="1"/>
          </p:cNvSpPr>
          <p:nvPr>
            <p:ph idx="1"/>
          </p:nvPr>
        </p:nvSpPr>
        <p:spPr/>
        <p:txBody>
          <a:bodyPr>
            <a:normAutofit/>
          </a:bodyPr>
          <a:lstStyle/>
          <a:p>
            <a:r>
              <a:rPr lang="en-US" altLang="zh-CN" dirty="0" err="1"/>
              <a:t>DDoS</a:t>
            </a:r>
            <a:r>
              <a:rPr lang="zh-CN" altLang="en-US" dirty="0"/>
              <a:t>攻击可以按照它所消耗的网络资源进行分类。被消耗的资源既可以是目标系统中的</a:t>
            </a:r>
            <a:r>
              <a:rPr lang="zh-CN" altLang="en-US" dirty="0">
                <a:solidFill>
                  <a:srgbClr val="C00000"/>
                </a:solidFill>
              </a:rPr>
              <a:t>内部主机资源</a:t>
            </a:r>
            <a:r>
              <a:rPr lang="zh-CN" altLang="en-US" dirty="0"/>
              <a:t>，也可以是攻击目标所在的局部</a:t>
            </a:r>
            <a:r>
              <a:rPr lang="zh-CN" altLang="en-US" dirty="0">
                <a:solidFill>
                  <a:srgbClr val="C00000"/>
                </a:solidFill>
              </a:rPr>
              <a:t>网络的数据传输能力</a:t>
            </a:r>
            <a:r>
              <a:rPr lang="zh-CN" altLang="en-US" dirty="0"/>
              <a:t>。</a:t>
            </a:r>
            <a:endParaRPr lang="en-US" altLang="zh-CN" dirty="0"/>
          </a:p>
          <a:p>
            <a:r>
              <a:rPr lang="zh-CN" altLang="en-US" dirty="0">
                <a:solidFill>
                  <a:srgbClr val="C00000"/>
                </a:solidFill>
              </a:rPr>
              <a:t>内部资源攻击</a:t>
            </a:r>
            <a:r>
              <a:rPr lang="zh-CN" altLang="en-US" dirty="0"/>
              <a:t>的一个简单实例是</a:t>
            </a:r>
            <a:r>
              <a:rPr lang="en-US" altLang="zh-CN" dirty="0"/>
              <a:t>SYN</a:t>
            </a:r>
            <a:r>
              <a:rPr lang="zh-CN" altLang="en-US" dirty="0"/>
              <a:t>突发流量攻击。</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131</a:t>
            </a:fld>
            <a:endParaRPr kumimoji="1" lang="zh-CN" altLang="en-US" dirty="0"/>
          </a:p>
        </p:txBody>
      </p:sp>
      <p:pic>
        <p:nvPicPr>
          <p:cNvPr id="5" name="图片 4"/>
          <p:cNvPicPr>
            <a:picLocks noChangeAspect="1"/>
          </p:cNvPicPr>
          <p:nvPr/>
        </p:nvPicPr>
        <p:blipFill>
          <a:blip r:embed="rId2"/>
          <a:stretch>
            <a:fillRect/>
          </a:stretch>
        </p:blipFill>
        <p:spPr>
          <a:xfrm>
            <a:off x="2096798" y="3392351"/>
            <a:ext cx="8024242" cy="3100523"/>
          </a:xfrm>
          <a:prstGeom prst="rect">
            <a:avLst/>
          </a:prstGeom>
        </p:spPr>
      </p:pic>
    </p:spTree>
    <p:extLst>
      <p:ext uri="{BB962C8B-B14F-4D97-AF65-F5344CB8AC3E}">
        <p14:creationId xmlns:p14="http://schemas.microsoft.com/office/powerpoint/2010/main" val="39574482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CP Handshake"/>
          <p:cNvSpPr txBox="1">
            <a:spLocks noGrp="1"/>
          </p:cNvSpPr>
          <p:nvPr>
            <p:ph type="title"/>
          </p:nvPr>
        </p:nvSpPr>
        <p:spPr>
          <a:prstGeom prst="rect">
            <a:avLst/>
          </a:prstGeom>
        </p:spPr>
        <p:txBody>
          <a:bodyPr>
            <a:normAutofit/>
          </a:bodyPr>
          <a:lstStyle>
            <a:lvl1pPr algn="l">
              <a:defRPr sz="13000">
                <a:latin typeface="Helvetica Neue Bold Condensed"/>
                <a:ea typeface="Helvetica Neue Bold Condensed"/>
                <a:cs typeface="Helvetica Neue Bold Condensed"/>
                <a:sym typeface="Helvetica Neue Bold Condensed"/>
              </a:defRPr>
            </a:lvl1pPr>
          </a:lstStyle>
          <a:p>
            <a:r>
              <a:rPr sz="4000" dirty="0">
                <a:latin typeface="Microsoft YaHei" panose="020B0503020204020204" pitchFamily="34" charset="-122"/>
                <a:ea typeface="Microsoft YaHei" panose="020B0503020204020204" pitchFamily="34" charset="-122"/>
              </a:rPr>
              <a:t>TCP</a:t>
            </a:r>
            <a:r>
              <a:rPr lang="zh-CN" altLang="en-US" sz="4000" dirty="0">
                <a:latin typeface="Microsoft YaHei" panose="020B0503020204020204" pitchFamily="34" charset="-122"/>
                <a:ea typeface="Microsoft YaHei" panose="020B0503020204020204" pitchFamily="34" charset="-122"/>
              </a:rPr>
              <a:t>三次握手协议</a:t>
            </a:r>
            <a:endParaRPr sz="4000" dirty="0">
              <a:latin typeface="Microsoft YaHei" panose="020B0503020204020204" pitchFamily="34" charset="-122"/>
              <a:ea typeface="Microsoft YaHei" panose="020B0503020204020204" pitchFamily="34" charset="-122"/>
            </a:endParaRPr>
          </a:p>
        </p:txBody>
      </p:sp>
      <p:sp>
        <p:nvSpPr>
          <p:cNvPr id="2" name="内容占位符 1">
            <a:extLst>
              <a:ext uri="{FF2B5EF4-FFF2-40B4-BE49-F238E27FC236}">
                <a16:creationId xmlns:a16="http://schemas.microsoft.com/office/drawing/2014/main" id="{5C8DE305-5490-C345-8900-BFAD015B14FE}"/>
              </a:ext>
            </a:extLst>
          </p:cNvPr>
          <p:cNvSpPr>
            <a:spLocks noGrp="1"/>
          </p:cNvSpPr>
          <p:nvPr>
            <p:ph idx="1"/>
          </p:nvPr>
        </p:nvSpPr>
        <p:spPr/>
        <p:txBody>
          <a:bodyPr/>
          <a:lstStyle/>
          <a:p>
            <a:endParaRPr kumimoji="1" lang="zh-CN" altLang="en-US" dirty="0"/>
          </a:p>
        </p:txBody>
      </p:sp>
      <p:sp>
        <p:nvSpPr>
          <p:cNvPr id="4" name="矩形 3">
            <a:extLst>
              <a:ext uri="{FF2B5EF4-FFF2-40B4-BE49-F238E27FC236}">
                <a16:creationId xmlns:a16="http://schemas.microsoft.com/office/drawing/2014/main" id="{7596655E-9321-4CF6-9C08-D2B45D4D6EAE}"/>
              </a:ext>
            </a:extLst>
          </p:cNvPr>
          <p:cNvSpPr/>
          <p:nvPr/>
        </p:nvSpPr>
        <p:spPr>
          <a:xfrm>
            <a:off x="1057755" y="2544510"/>
            <a:ext cx="1682602" cy="2457450"/>
          </a:xfrm>
          <a:prstGeom prst="rect">
            <a:avLst/>
          </a:prstGeom>
          <a:ln w="38100">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客户端</a:t>
            </a:r>
          </a:p>
        </p:txBody>
      </p:sp>
      <p:sp>
        <p:nvSpPr>
          <p:cNvPr id="6" name="矩形 5">
            <a:extLst>
              <a:ext uri="{FF2B5EF4-FFF2-40B4-BE49-F238E27FC236}">
                <a16:creationId xmlns:a16="http://schemas.microsoft.com/office/drawing/2014/main" id="{55932D2E-B777-4D38-93F1-67383318B00F}"/>
              </a:ext>
            </a:extLst>
          </p:cNvPr>
          <p:cNvSpPr/>
          <p:nvPr/>
        </p:nvSpPr>
        <p:spPr>
          <a:xfrm>
            <a:off x="8931729" y="2544510"/>
            <a:ext cx="1682602" cy="2457450"/>
          </a:xfrm>
          <a:prstGeom prst="rect">
            <a:avLst/>
          </a:prstGeom>
          <a:ln w="38100">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服务器</a:t>
            </a:r>
          </a:p>
        </p:txBody>
      </p:sp>
      <p:cxnSp>
        <p:nvCxnSpPr>
          <p:cNvPr id="7" name="直接箭头连接符 6">
            <a:extLst>
              <a:ext uri="{FF2B5EF4-FFF2-40B4-BE49-F238E27FC236}">
                <a16:creationId xmlns:a16="http://schemas.microsoft.com/office/drawing/2014/main" id="{4978FE14-A8CC-4635-BF0E-748BF46D8D99}"/>
              </a:ext>
            </a:extLst>
          </p:cNvPr>
          <p:cNvCxnSpPr>
            <a:cxnSpLocks/>
          </p:cNvCxnSpPr>
          <p:nvPr/>
        </p:nvCxnSpPr>
        <p:spPr>
          <a:xfrm>
            <a:off x="2740357" y="2733783"/>
            <a:ext cx="6109729" cy="42596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3AE68F1-960E-4F58-A92A-A8CAC0061479}"/>
              </a:ext>
            </a:extLst>
          </p:cNvPr>
          <p:cNvSpPr txBox="1"/>
          <p:nvPr/>
        </p:nvSpPr>
        <p:spPr>
          <a:xfrm>
            <a:off x="5175756" y="2525755"/>
            <a:ext cx="1238930" cy="369332"/>
          </a:xfrm>
          <a:prstGeom prst="rect">
            <a:avLst/>
          </a:prstGeom>
          <a:noFill/>
        </p:spPr>
        <p:txBody>
          <a:bodyPr wrap="square">
            <a:spAutoFit/>
          </a:bodyPr>
          <a:lstStyle/>
          <a:p>
            <a:r>
              <a:rPr lang="en" altLang="zh-CN" sz="1800" b="1" i="0" u="none" strike="noStrike" kern="1200" dirty="0">
                <a:solidFill>
                  <a:schemeClr val="tx1"/>
                </a:solidFill>
                <a:effectLst/>
                <a:latin typeface="微软雅黑" panose="020B0503020204020204" pitchFamily="34" charset="-122"/>
                <a:ea typeface="微软雅黑" panose="020B0503020204020204" pitchFamily="34" charset="-122"/>
              </a:rPr>
              <a:t>SYN =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X</a:t>
            </a:r>
            <a:endParaRPr lang="zh-CN" altLang="en-US" b="1" dirty="0">
              <a:latin typeface="微软雅黑" panose="020B0503020204020204" pitchFamily="34" charset="-122"/>
              <a:ea typeface="微软雅黑" panose="020B0503020204020204" pitchFamily="34" charset="-122"/>
            </a:endParaRPr>
          </a:p>
        </p:txBody>
      </p:sp>
      <p:cxnSp>
        <p:nvCxnSpPr>
          <p:cNvPr id="11" name="直接箭头连接符 10">
            <a:extLst>
              <a:ext uri="{FF2B5EF4-FFF2-40B4-BE49-F238E27FC236}">
                <a16:creationId xmlns:a16="http://schemas.microsoft.com/office/drawing/2014/main" id="{8332A10F-5F3C-4DE9-89AB-89455E2E143B}"/>
              </a:ext>
            </a:extLst>
          </p:cNvPr>
          <p:cNvCxnSpPr>
            <a:cxnSpLocks/>
          </p:cNvCxnSpPr>
          <p:nvPr/>
        </p:nvCxnSpPr>
        <p:spPr>
          <a:xfrm flipV="1">
            <a:off x="2740357" y="3499421"/>
            <a:ext cx="6191372" cy="429418"/>
          </a:xfrm>
          <a:prstGeom prst="straightConnector1">
            <a:avLst/>
          </a:prstGeom>
          <a:ln w="38100">
            <a:solidFill>
              <a:schemeClr val="accent1">
                <a:lumMod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AB8D8341-BCEC-49C9-82F2-B6D096E19E62}"/>
              </a:ext>
            </a:extLst>
          </p:cNvPr>
          <p:cNvSpPr txBox="1"/>
          <p:nvPr/>
        </p:nvSpPr>
        <p:spPr>
          <a:xfrm>
            <a:off x="4345189" y="3246981"/>
            <a:ext cx="2900064" cy="369332"/>
          </a:xfrm>
          <a:prstGeom prst="rect">
            <a:avLst/>
          </a:prstGeom>
          <a:noFill/>
        </p:spPr>
        <p:txBody>
          <a:bodyPr wrap="square">
            <a:spAutoFit/>
          </a:bodyPr>
          <a:lstStyle/>
          <a:p>
            <a:r>
              <a:rPr lang="en" altLang="zh-CN" sz="1800" b="1" i="0" u="none" strike="noStrike" kern="1200" dirty="0">
                <a:solidFill>
                  <a:schemeClr val="tx1"/>
                </a:solidFill>
                <a:effectLst/>
                <a:latin typeface="微软雅黑" panose="020B0503020204020204" pitchFamily="34" charset="-122"/>
                <a:ea typeface="微软雅黑" panose="020B0503020204020204" pitchFamily="34" charset="-122"/>
              </a:rPr>
              <a:t>SYN =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Y</a:t>
            </a:r>
            <a:r>
              <a:rPr lang="zh-CN" altLang="en-US" sz="1800" b="1" i="0" u="none" strike="noStrike" kern="1200" dirty="0">
                <a:solidFill>
                  <a:schemeClr val="tx1"/>
                </a:solidFill>
                <a:effectLst/>
                <a:latin typeface="微软雅黑" panose="020B0503020204020204" pitchFamily="34" charset="-122"/>
                <a:ea typeface="微软雅黑" panose="020B0503020204020204" pitchFamily="34" charset="-122"/>
              </a:rPr>
              <a:t>，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ACK = X + 1</a:t>
            </a:r>
            <a:endParaRPr lang="zh-CN" altLang="en-US" b="1" dirty="0">
              <a:latin typeface="微软雅黑" panose="020B0503020204020204" pitchFamily="34" charset="-122"/>
              <a:ea typeface="微软雅黑" panose="020B0503020204020204" pitchFamily="34" charset="-122"/>
            </a:endParaRPr>
          </a:p>
        </p:txBody>
      </p:sp>
      <p:cxnSp>
        <p:nvCxnSpPr>
          <p:cNvPr id="18" name="直接箭头连接符 17">
            <a:extLst>
              <a:ext uri="{FF2B5EF4-FFF2-40B4-BE49-F238E27FC236}">
                <a16:creationId xmlns:a16="http://schemas.microsoft.com/office/drawing/2014/main" id="{6DEB5BC5-69B8-446F-9CB6-B8F429D9FE31}"/>
              </a:ext>
            </a:extLst>
          </p:cNvPr>
          <p:cNvCxnSpPr>
            <a:cxnSpLocks/>
          </p:cNvCxnSpPr>
          <p:nvPr/>
        </p:nvCxnSpPr>
        <p:spPr>
          <a:xfrm>
            <a:off x="2740357" y="4193751"/>
            <a:ext cx="6109729" cy="528159"/>
          </a:xfrm>
          <a:prstGeom prst="straightConnector1">
            <a:avLst/>
          </a:prstGeom>
          <a:ln w="38100">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2EAA57E5-19A9-4651-9F5A-0306C27ACE96}"/>
              </a:ext>
            </a:extLst>
          </p:cNvPr>
          <p:cNvSpPr txBox="1"/>
          <p:nvPr/>
        </p:nvSpPr>
        <p:spPr>
          <a:xfrm>
            <a:off x="4113378" y="3936259"/>
            <a:ext cx="3445329" cy="369332"/>
          </a:xfrm>
          <a:prstGeom prst="rect">
            <a:avLst/>
          </a:prstGeom>
          <a:noFill/>
        </p:spPr>
        <p:txBody>
          <a:bodyPr wrap="square">
            <a:spAutoFit/>
          </a:bodyPr>
          <a:lstStyle/>
          <a:p>
            <a:r>
              <a:rPr lang="en" altLang="zh-CN" sz="1800" b="1" i="0" u="none" strike="noStrike" kern="1200" dirty="0">
                <a:solidFill>
                  <a:schemeClr val="tx1"/>
                </a:solidFill>
                <a:effectLst/>
                <a:latin typeface="微软雅黑" panose="020B0503020204020204" pitchFamily="34" charset="-122"/>
                <a:ea typeface="微软雅黑" panose="020B0503020204020204" pitchFamily="34" charset="-122"/>
              </a:rPr>
              <a:t>SYN =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X + 1 </a:t>
            </a:r>
            <a:r>
              <a:rPr lang="zh-CN" altLang="en-US" sz="1800" b="1" i="0" u="none" strike="noStrike" kern="1200" dirty="0">
                <a:solidFill>
                  <a:schemeClr val="tx1"/>
                </a:solidFill>
                <a:effectLst/>
                <a:latin typeface="微软雅黑" panose="020B0503020204020204" pitchFamily="34" charset="-122"/>
                <a:ea typeface="微软雅黑" panose="020B0503020204020204" pitchFamily="34" charset="-122"/>
              </a:rPr>
              <a:t>，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ACK = Y+ 1</a:t>
            </a:r>
            <a:endParaRPr lang="zh-CN" altLang="en-US" b="1" dirty="0">
              <a:latin typeface="微软雅黑" panose="020B0503020204020204" pitchFamily="34" charset="-122"/>
              <a:ea typeface="微软雅黑" panose="020B0503020204020204" pitchFamily="34" charset="-122"/>
            </a:endParaRPr>
          </a:p>
        </p:txBody>
      </p:sp>
      <p:sp>
        <p:nvSpPr>
          <p:cNvPr id="12" name="灯片编号占位符 3">
            <a:extLst>
              <a:ext uri="{FF2B5EF4-FFF2-40B4-BE49-F238E27FC236}">
                <a16:creationId xmlns:a16="http://schemas.microsoft.com/office/drawing/2014/main" id="{B54F47CE-A916-4221-B38B-DBE963079E2A}"/>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132</a:t>
            </a:fld>
            <a:endParaRPr kumimoji="1" lang="zh-CN" altLang="en-US" dirty="0"/>
          </a:p>
        </p:txBody>
      </p:sp>
      <p:sp>
        <p:nvSpPr>
          <p:cNvPr id="15" name="日期占位符 9">
            <a:extLst>
              <a:ext uri="{FF2B5EF4-FFF2-40B4-BE49-F238E27FC236}">
                <a16:creationId xmlns:a16="http://schemas.microsoft.com/office/drawing/2014/main" id="{B55CE126-5A6D-4D4C-9A13-8A4E809D28E1}"/>
              </a:ext>
            </a:extLst>
          </p:cNvPr>
          <p:cNvSpPr>
            <a:spLocks noGrp="1"/>
          </p:cNvSpPr>
          <p:nvPr>
            <p:ph type="dt" sz="half" idx="10"/>
          </p:nvPr>
        </p:nvSpPr>
        <p:spPr>
          <a:xfrm>
            <a:off x="263951" y="6490680"/>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410804417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SYN Floods"/>
          <p:cNvSpPr txBox="1">
            <a:spLocks noGrp="1"/>
          </p:cNvSpPr>
          <p:nvPr>
            <p:ph type="title"/>
          </p:nvPr>
        </p:nvSpPr>
        <p:spPr>
          <a:prstGeom prst="rect">
            <a:avLst/>
          </a:prstGeom>
        </p:spPr>
        <p:txBody>
          <a:bodyPr>
            <a:normAutofit/>
          </a:bodyPr>
          <a:lstStyle>
            <a:lvl1pPr algn="l">
              <a:defRPr sz="13000">
                <a:latin typeface="Helvetica Neue Bold Condensed"/>
                <a:ea typeface="Helvetica Neue Bold Condensed"/>
                <a:cs typeface="Helvetica Neue Bold Condensed"/>
                <a:sym typeface="Helvetica Neue Bold Condensed"/>
              </a:defRPr>
            </a:lvl1pPr>
          </a:lstStyle>
          <a:p>
            <a:r>
              <a:rPr sz="4000" dirty="0">
                <a:latin typeface="Microsoft YaHei" panose="020B0503020204020204" pitchFamily="34" charset="-122"/>
                <a:ea typeface="Microsoft YaHei" panose="020B0503020204020204" pitchFamily="34" charset="-122"/>
              </a:rPr>
              <a:t>SYN Floods</a:t>
            </a:r>
          </a:p>
        </p:txBody>
      </p:sp>
      <p:sp>
        <p:nvSpPr>
          <p:cNvPr id="2" name="内容占位符 1">
            <a:extLst>
              <a:ext uri="{FF2B5EF4-FFF2-40B4-BE49-F238E27FC236}">
                <a16:creationId xmlns:a16="http://schemas.microsoft.com/office/drawing/2014/main" id="{ED4029AB-F45F-C143-8005-F9885010CE6F}"/>
              </a:ext>
            </a:extLst>
          </p:cNvPr>
          <p:cNvSpPr>
            <a:spLocks noGrp="1"/>
          </p:cNvSpPr>
          <p:nvPr>
            <p:ph idx="1"/>
          </p:nvPr>
        </p:nvSpPr>
        <p:spPr/>
        <p:txBody>
          <a:bodyPr/>
          <a:lstStyle/>
          <a:p>
            <a:r>
              <a:rPr kumimoji="1" lang="zh-CN" altLang="en-US" dirty="0"/>
              <a:t>半连接</a:t>
            </a:r>
            <a:endParaRPr kumimoji="1" lang="en-US" altLang="zh-CN" dirty="0"/>
          </a:p>
          <a:p>
            <a:pPr lvl="1"/>
            <a:r>
              <a:rPr lang="en" altLang="zh-CN" dirty="0"/>
              <a:t>Server</a:t>
            </a:r>
            <a:r>
              <a:rPr lang="zh-CN" altLang="en-US" dirty="0"/>
              <a:t>发送</a:t>
            </a:r>
            <a:r>
              <a:rPr lang="en" altLang="zh-CN" dirty="0"/>
              <a:t>SYN-ACK</a:t>
            </a:r>
            <a:r>
              <a:rPr lang="zh-CN" altLang="en" dirty="0"/>
              <a:t>之后</a:t>
            </a:r>
            <a:endParaRPr lang="en-US" altLang="zh-CN" dirty="0"/>
          </a:p>
          <a:p>
            <a:pPr lvl="1"/>
            <a:r>
              <a:rPr kumimoji="1" lang="zh-CN" altLang="en-US" dirty="0"/>
              <a:t>客户端发送</a:t>
            </a:r>
            <a:r>
              <a:rPr kumimoji="1" lang="en-US" altLang="zh-CN" dirty="0"/>
              <a:t>ACK</a:t>
            </a:r>
            <a:r>
              <a:rPr kumimoji="1" lang="zh-CN" altLang="en-US" dirty="0"/>
              <a:t>之前</a:t>
            </a:r>
            <a:endParaRPr kumimoji="1" lang="en-US" altLang="zh-CN" dirty="0"/>
          </a:p>
          <a:p>
            <a:r>
              <a:rPr kumimoji="1" lang="zh-CN" altLang="en-US" dirty="0"/>
              <a:t>如果客户端不发</a:t>
            </a:r>
            <a:r>
              <a:rPr kumimoji="1" lang="en-US" altLang="zh-CN" dirty="0"/>
              <a:t>ACK</a:t>
            </a:r>
            <a:r>
              <a:rPr kumimoji="1" lang="zh-CN" altLang="en-US" dirty="0"/>
              <a:t>？</a:t>
            </a:r>
            <a:endParaRPr kumimoji="1" lang="en-US" altLang="zh-CN" dirty="0"/>
          </a:p>
          <a:p>
            <a:r>
              <a:rPr kumimoji="1" lang="zh-CN" altLang="en-US" dirty="0"/>
              <a:t>考虑攻击者的手段</a:t>
            </a:r>
            <a:endParaRPr kumimoji="1" lang="en-US" altLang="zh-CN" dirty="0"/>
          </a:p>
          <a:p>
            <a:pPr lvl="1"/>
            <a:r>
              <a:rPr kumimoji="1" lang="zh-CN" altLang="en-US" dirty="0"/>
              <a:t>伪造大量</a:t>
            </a:r>
            <a:r>
              <a:rPr kumimoji="1" lang="en-US" altLang="zh-CN" dirty="0"/>
              <a:t>SYN</a:t>
            </a:r>
            <a:r>
              <a:rPr kumimoji="1" lang="zh-CN" altLang="en-US" dirty="0"/>
              <a:t>包</a:t>
            </a:r>
            <a:endParaRPr kumimoji="1" lang="en-US" altLang="zh-CN" dirty="0"/>
          </a:p>
          <a:p>
            <a:pPr lvl="1"/>
            <a:r>
              <a:rPr kumimoji="1" lang="zh-CN" altLang="en-US" dirty="0"/>
              <a:t>发送到服务器端</a:t>
            </a:r>
            <a:endParaRPr kumimoji="1" lang="en-US" altLang="zh-CN" dirty="0"/>
          </a:p>
          <a:p>
            <a:pPr lvl="1"/>
            <a:r>
              <a:rPr kumimoji="1" lang="zh-CN" altLang="en-US" dirty="0"/>
              <a:t>产生大量半连接</a:t>
            </a:r>
            <a:endParaRPr kumimoji="1" lang="en-US" altLang="zh-CN" dirty="0"/>
          </a:p>
          <a:p>
            <a:pPr marL="457200" lvl="1" indent="0">
              <a:buNone/>
            </a:pPr>
            <a:endParaRPr kumimoji="1" lang="zh-CN" altLang="en-US" dirty="0"/>
          </a:p>
        </p:txBody>
      </p:sp>
      <p:grpSp>
        <p:nvGrpSpPr>
          <p:cNvPr id="16" name="组合 15">
            <a:extLst>
              <a:ext uri="{FF2B5EF4-FFF2-40B4-BE49-F238E27FC236}">
                <a16:creationId xmlns:a16="http://schemas.microsoft.com/office/drawing/2014/main" id="{62C8FB15-7020-4995-B48B-D16700734120}"/>
              </a:ext>
            </a:extLst>
          </p:cNvPr>
          <p:cNvGrpSpPr/>
          <p:nvPr/>
        </p:nvGrpSpPr>
        <p:grpSpPr>
          <a:xfrm>
            <a:off x="8882787" y="2479221"/>
            <a:ext cx="1121402" cy="1121402"/>
            <a:chOff x="9120739" y="2364102"/>
            <a:chExt cx="1121402" cy="1121402"/>
          </a:xfrm>
        </p:grpSpPr>
        <p:pic>
          <p:nvPicPr>
            <p:cNvPr id="14" name="图片 13">
              <a:extLst>
                <a:ext uri="{FF2B5EF4-FFF2-40B4-BE49-F238E27FC236}">
                  <a16:creationId xmlns:a16="http://schemas.microsoft.com/office/drawing/2014/main" id="{C32ABE60-18BB-40A5-8549-4BA7B5098188}"/>
                </a:ext>
              </a:extLst>
            </p:cNvPr>
            <p:cNvPicPr>
              <a:picLocks noChangeAspect="1"/>
            </p:cNvPicPr>
            <p:nvPr/>
          </p:nvPicPr>
          <p:blipFill>
            <a:blip r:embed="rId4"/>
            <a:stretch>
              <a:fillRect/>
            </a:stretch>
          </p:blipFill>
          <p:spPr>
            <a:xfrm>
              <a:off x="9120739" y="2364102"/>
              <a:ext cx="1121402" cy="1121402"/>
            </a:xfrm>
            <a:prstGeom prst="rect">
              <a:avLst/>
            </a:prstGeom>
          </p:spPr>
        </p:pic>
        <p:pic>
          <p:nvPicPr>
            <p:cNvPr id="12" name="图片 11">
              <a:extLst>
                <a:ext uri="{FF2B5EF4-FFF2-40B4-BE49-F238E27FC236}">
                  <a16:creationId xmlns:a16="http://schemas.microsoft.com/office/drawing/2014/main" id="{AA375B22-6565-4D07-8578-B2364DA0E660}"/>
                </a:ext>
              </a:extLst>
            </p:cNvPr>
            <p:cNvPicPr>
              <a:picLocks noChangeAspect="1"/>
            </p:cNvPicPr>
            <p:nvPr/>
          </p:nvPicPr>
          <p:blipFill rotWithShape="1">
            <a:blip r:embed="rId5"/>
            <a:srcRect l="12077" t="6786" r="8051" b="8214"/>
            <a:stretch/>
          </p:blipFill>
          <p:spPr>
            <a:xfrm>
              <a:off x="9451742" y="2742555"/>
              <a:ext cx="459395" cy="506185"/>
            </a:xfrm>
            <a:prstGeom prst="rect">
              <a:avLst/>
            </a:prstGeom>
          </p:spPr>
        </p:pic>
      </p:grpSp>
      <p:cxnSp>
        <p:nvCxnSpPr>
          <p:cNvPr id="18" name="直接箭头连接符 17">
            <a:extLst>
              <a:ext uri="{FF2B5EF4-FFF2-40B4-BE49-F238E27FC236}">
                <a16:creationId xmlns:a16="http://schemas.microsoft.com/office/drawing/2014/main" id="{54900AFE-742C-4968-90AA-C944F8320A57}"/>
              </a:ext>
            </a:extLst>
          </p:cNvPr>
          <p:cNvCxnSpPr>
            <a:cxnSpLocks/>
          </p:cNvCxnSpPr>
          <p:nvPr/>
        </p:nvCxnSpPr>
        <p:spPr>
          <a:xfrm>
            <a:off x="6433457" y="2857674"/>
            <a:ext cx="228106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30CF693-8058-4388-B7F0-7C5E2E889212}"/>
              </a:ext>
            </a:extLst>
          </p:cNvPr>
          <p:cNvCxnSpPr>
            <a:cxnSpLocks/>
          </p:cNvCxnSpPr>
          <p:nvPr/>
        </p:nvCxnSpPr>
        <p:spPr>
          <a:xfrm>
            <a:off x="6433457" y="3297507"/>
            <a:ext cx="228106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3209519F-2B14-4E39-8586-8D1A9ED43FE9}"/>
              </a:ext>
            </a:extLst>
          </p:cNvPr>
          <p:cNvSpPr txBox="1"/>
          <p:nvPr/>
        </p:nvSpPr>
        <p:spPr>
          <a:xfrm>
            <a:off x="6148883" y="2455229"/>
            <a:ext cx="1863009" cy="369332"/>
          </a:xfrm>
          <a:prstGeom prst="rect">
            <a:avLst/>
          </a:prstGeom>
          <a:noFill/>
        </p:spPr>
        <p:txBody>
          <a:bodyPr wrap="square">
            <a:spAutoFit/>
          </a:bodyPr>
          <a:lstStyle/>
          <a:p>
            <a:pPr lvl="1"/>
            <a:r>
              <a:rPr kumimoji="1" lang="zh-CN" altLang="en-US" dirty="0">
                <a:solidFill>
                  <a:srgbClr val="FF0000"/>
                </a:solidFill>
                <a:latin typeface="微软雅黑" panose="020B0503020204020204" pitchFamily="34" charset="-122"/>
                <a:ea typeface="微软雅黑" panose="020B0503020204020204" pitchFamily="34" charset="-122"/>
              </a:rPr>
              <a:t>伪造</a:t>
            </a:r>
            <a:r>
              <a:rPr kumimoji="1" lang="en-US" altLang="zh-CN" dirty="0">
                <a:solidFill>
                  <a:srgbClr val="FF0000"/>
                </a:solidFill>
                <a:latin typeface="微软雅黑" panose="020B0503020204020204" pitchFamily="34" charset="-122"/>
                <a:ea typeface="微软雅黑" panose="020B0503020204020204" pitchFamily="34" charset="-122"/>
              </a:rPr>
              <a:t>SYN</a:t>
            </a:r>
            <a:r>
              <a:rPr kumimoji="1" lang="zh-CN" altLang="en-US" dirty="0">
                <a:solidFill>
                  <a:srgbClr val="FF0000"/>
                </a:solidFill>
                <a:latin typeface="微软雅黑" panose="020B0503020204020204" pitchFamily="34" charset="-122"/>
                <a:ea typeface="微软雅黑" panose="020B0503020204020204" pitchFamily="34" charset="-122"/>
              </a:rPr>
              <a:t>包</a:t>
            </a:r>
            <a:endParaRPr kumimoji="1" lang="en-US" altLang="zh-CN" dirty="0">
              <a:solidFill>
                <a:srgbClr val="FF0000"/>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FD52CAE3-507E-4906-A31E-9C93DBAC6215}"/>
              </a:ext>
            </a:extLst>
          </p:cNvPr>
          <p:cNvSpPr txBox="1"/>
          <p:nvPr/>
        </p:nvSpPr>
        <p:spPr>
          <a:xfrm>
            <a:off x="6156228" y="2906441"/>
            <a:ext cx="1863009" cy="369332"/>
          </a:xfrm>
          <a:prstGeom prst="rect">
            <a:avLst/>
          </a:prstGeom>
          <a:noFill/>
        </p:spPr>
        <p:txBody>
          <a:bodyPr wrap="square">
            <a:spAutoFit/>
          </a:bodyPr>
          <a:lstStyle/>
          <a:p>
            <a:pPr lvl="1"/>
            <a:r>
              <a:rPr kumimoji="1" lang="zh-CN" altLang="en-US" dirty="0">
                <a:solidFill>
                  <a:srgbClr val="FF0000"/>
                </a:solidFill>
                <a:latin typeface="微软雅黑" panose="020B0503020204020204" pitchFamily="34" charset="-122"/>
                <a:ea typeface="微软雅黑" panose="020B0503020204020204" pitchFamily="34" charset="-122"/>
              </a:rPr>
              <a:t>伪造</a:t>
            </a:r>
            <a:r>
              <a:rPr kumimoji="1" lang="en-US" altLang="zh-CN" dirty="0">
                <a:solidFill>
                  <a:srgbClr val="FF0000"/>
                </a:solidFill>
                <a:latin typeface="微软雅黑" panose="020B0503020204020204" pitchFamily="34" charset="-122"/>
                <a:ea typeface="微软雅黑" panose="020B0503020204020204" pitchFamily="34" charset="-122"/>
              </a:rPr>
              <a:t>SYN</a:t>
            </a:r>
            <a:r>
              <a:rPr kumimoji="1" lang="zh-CN" altLang="en-US" dirty="0">
                <a:solidFill>
                  <a:srgbClr val="FF0000"/>
                </a:solidFill>
                <a:latin typeface="微软雅黑" panose="020B0503020204020204" pitchFamily="34" charset="-122"/>
                <a:ea typeface="微软雅黑" panose="020B0503020204020204" pitchFamily="34" charset="-122"/>
              </a:rPr>
              <a:t>包</a:t>
            </a:r>
            <a:endParaRPr kumimoji="1" lang="en-US" altLang="zh-CN" dirty="0">
              <a:solidFill>
                <a:srgbClr val="FF0000"/>
              </a:solidFill>
              <a:latin typeface="微软雅黑" panose="020B0503020204020204" pitchFamily="34" charset="-122"/>
              <a:ea typeface="微软雅黑" panose="020B0503020204020204" pitchFamily="34" charset="-122"/>
            </a:endParaRPr>
          </a:p>
        </p:txBody>
      </p:sp>
      <p:cxnSp>
        <p:nvCxnSpPr>
          <p:cNvPr id="35" name="Straight Arrow Connector 21">
            <a:extLst>
              <a:ext uri="{FF2B5EF4-FFF2-40B4-BE49-F238E27FC236}">
                <a16:creationId xmlns:a16="http://schemas.microsoft.com/office/drawing/2014/main" id="{26C131B6-30E4-43C7-82CD-E0172595C331}"/>
              </a:ext>
            </a:extLst>
          </p:cNvPr>
          <p:cNvCxnSpPr>
            <a:cxnSpLocks/>
          </p:cNvCxnSpPr>
          <p:nvPr/>
        </p:nvCxnSpPr>
        <p:spPr>
          <a:xfrm flipH="1">
            <a:off x="7403886" y="3723982"/>
            <a:ext cx="1478901" cy="12659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26">
            <a:extLst>
              <a:ext uri="{FF2B5EF4-FFF2-40B4-BE49-F238E27FC236}">
                <a16:creationId xmlns:a16="http://schemas.microsoft.com/office/drawing/2014/main" id="{D245093E-F26E-43A0-8AC2-33B8B475170A}"/>
              </a:ext>
            </a:extLst>
          </p:cNvPr>
          <p:cNvCxnSpPr>
            <a:cxnSpLocks/>
          </p:cNvCxnSpPr>
          <p:nvPr/>
        </p:nvCxnSpPr>
        <p:spPr>
          <a:xfrm flipH="1">
            <a:off x="8473780" y="3766471"/>
            <a:ext cx="563222" cy="12474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28">
            <a:extLst>
              <a:ext uri="{FF2B5EF4-FFF2-40B4-BE49-F238E27FC236}">
                <a16:creationId xmlns:a16="http://schemas.microsoft.com/office/drawing/2014/main" id="{52CD0D2B-F620-4742-AD29-960C36C61D9C}"/>
              </a:ext>
            </a:extLst>
          </p:cNvPr>
          <p:cNvCxnSpPr>
            <a:cxnSpLocks/>
          </p:cNvCxnSpPr>
          <p:nvPr/>
        </p:nvCxnSpPr>
        <p:spPr>
          <a:xfrm>
            <a:off x="9867172" y="3723982"/>
            <a:ext cx="1680353" cy="13706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iconfont-11253-5330515">
            <a:extLst>
              <a:ext uri="{FF2B5EF4-FFF2-40B4-BE49-F238E27FC236}">
                <a16:creationId xmlns:a16="http://schemas.microsoft.com/office/drawing/2014/main" id="{99094BEE-F807-467E-8BE3-84AEC1FB415D}"/>
              </a:ext>
            </a:extLst>
          </p:cNvPr>
          <p:cNvSpPr/>
          <p:nvPr/>
        </p:nvSpPr>
        <p:spPr>
          <a:xfrm>
            <a:off x="7253111" y="5094272"/>
            <a:ext cx="292102" cy="436916"/>
          </a:xfrm>
          <a:custGeom>
            <a:avLst/>
            <a:gdLst>
              <a:gd name="T0" fmla="*/ 7232 w 7232"/>
              <a:gd name="T1" fmla="*/ 3121 h 10000"/>
              <a:gd name="T2" fmla="*/ 7111 w 7232"/>
              <a:gd name="T3" fmla="*/ 3910 h 10000"/>
              <a:gd name="T4" fmla="*/ 6839 w 7232"/>
              <a:gd name="T5" fmla="*/ 4509 h 10000"/>
              <a:gd name="T6" fmla="*/ 6407 w 7232"/>
              <a:gd name="T7" fmla="*/ 4974 h 10000"/>
              <a:gd name="T8" fmla="*/ 5959 w 7232"/>
              <a:gd name="T9" fmla="*/ 5314 h 10000"/>
              <a:gd name="T10" fmla="*/ 5482 w 7232"/>
              <a:gd name="T11" fmla="*/ 5591 h 10000"/>
              <a:gd name="T12" fmla="*/ 4946 w 7232"/>
              <a:gd name="T13" fmla="*/ 6099 h 10000"/>
              <a:gd name="T14" fmla="*/ 4731 w 7232"/>
              <a:gd name="T15" fmla="*/ 6624 h 10000"/>
              <a:gd name="T16" fmla="*/ 4637 w 7232"/>
              <a:gd name="T17" fmla="*/ 6879 h 10000"/>
              <a:gd name="T18" fmla="*/ 4418 w 7232"/>
              <a:gd name="T19" fmla="*/ 7000 h 10000"/>
              <a:gd name="T20" fmla="*/ 2543 w 7232"/>
              <a:gd name="T21" fmla="*/ 7000 h 10000"/>
              <a:gd name="T22" fmla="*/ 2345 w 7232"/>
              <a:gd name="T23" fmla="*/ 6855 h 10000"/>
              <a:gd name="T24" fmla="*/ 2262 w 7232"/>
              <a:gd name="T25" fmla="*/ 6563 h 10000"/>
              <a:gd name="T26" fmla="*/ 2262 w 7232"/>
              <a:gd name="T27" fmla="*/ 6213 h 10000"/>
              <a:gd name="T28" fmla="*/ 2770 w 7232"/>
              <a:gd name="T29" fmla="*/ 4990 h 10000"/>
              <a:gd name="T30" fmla="*/ 3887 w 7232"/>
              <a:gd name="T31" fmla="*/ 4141 h 10000"/>
              <a:gd name="T32" fmla="*/ 4543 w 7232"/>
              <a:gd name="T33" fmla="*/ 3704 h 10000"/>
              <a:gd name="T34" fmla="*/ 4740 w 7232"/>
              <a:gd name="T35" fmla="*/ 3110 h 10000"/>
              <a:gd name="T36" fmla="*/ 4376 w 7232"/>
              <a:gd name="T37" fmla="*/ 2531 h 10000"/>
              <a:gd name="T38" fmla="*/ 3536 w 7232"/>
              <a:gd name="T39" fmla="*/ 2281 h 10000"/>
              <a:gd name="T40" fmla="*/ 2691 w 7232"/>
              <a:gd name="T41" fmla="*/ 2508 h 10000"/>
              <a:gd name="T42" fmla="*/ 1855 w 7232"/>
              <a:gd name="T43" fmla="*/ 3406 h 10000"/>
              <a:gd name="T44" fmla="*/ 1614 w 7232"/>
              <a:gd name="T45" fmla="*/ 3531 h 10000"/>
              <a:gd name="T46" fmla="*/ 1417 w 7232"/>
              <a:gd name="T47" fmla="*/ 3469 h 10000"/>
              <a:gd name="T48" fmla="*/ 135 w 7232"/>
              <a:gd name="T49" fmla="*/ 2493 h 10000"/>
              <a:gd name="T50" fmla="*/ 14 w 7232"/>
              <a:gd name="T51" fmla="*/ 2296 h 10000"/>
              <a:gd name="T52" fmla="*/ 56 w 7232"/>
              <a:gd name="T53" fmla="*/ 2078 h 10000"/>
              <a:gd name="T54" fmla="*/ 3684 w 7232"/>
              <a:gd name="T55" fmla="*/ 0 h 10000"/>
              <a:gd name="T56" fmla="*/ 4942 w 7232"/>
              <a:gd name="T57" fmla="*/ 241 h 10000"/>
              <a:gd name="T58" fmla="*/ 6084 w 7232"/>
              <a:gd name="T59" fmla="*/ 890 h 10000"/>
              <a:gd name="T60" fmla="*/ 6912 w 7232"/>
              <a:gd name="T61" fmla="*/ 1886 h 10000"/>
              <a:gd name="T62" fmla="*/ 7232 w 7232"/>
              <a:gd name="T63" fmla="*/ 3121 h 10000"/>
              <a:gd name="T64" fmla="*/ 4764 w 7232"/>
              <a:gd name="T65" fmla="*/ 7813 h 10000"/>
              <a:gd name="T66" fmla="*/ 4764 w 7232"/>
              <a:gd name="T67" fmla="*/ 9688 h 10000"/>
              <a:gd name="T68" fmla="*/ 4670 w 7232"/>
              <a:gd name="T69" fmla="*/ 9906 h 10000"/>
              <a:gd name="T70" fmla="*/ 4451 w 7232"/>
              <a:gd name="T71" fmla="*/ 10000 h 10000"/>
              <a:gd name="T72" fmla="*/ 2575 w 7232"/>
              <a:gd name="T73" fmla="*/ 10000 h 10000"/>
              <a:gd name="T74" fmla="*/ 2356 w 7232"/>
              <a:gd name="T75" fmla="*/ 9906 h 10000"/>
              <a:gd name="T76" fmla="*/ 2262 w 7232"/>
              <a:gd name="T77" fmla="*/ 9688 h 10000"/>
              <a:gd name="T78" fmla="*/ 2262 w 7232"/>
              <a:gd name="T79" fmla="*/ 7813 h 10000"/>
              <a:gd name="T80" fmla="*/ 2356 w 7232"/>
              <a:gd name="T81" fmla="*/ 7594 h 10000"/>
              <a:gd name="T82" fmla="*/ 2575 w 7232"/>
              <a:gd name="T83" fmla="*/ 7500 h 10000"/>
              <a:gd name="T84" fmla="*/ 4451 w 7232"/>
              <a:gd name="T85" fmla="*/ 7500 h 10000"/>
              <a:gd name="T86" fmla="*/ 4670 w 7232"/>
              <a:gd name="T87" fmla="*/ 7594 h 10000"/>
              <a:gd name="T88" fmla="*/ 4764 w 7232"/>
              <a:gd name="T89" fmla="*/ 7813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232" h="10000">
                <a:moveTo>
                  <a:pt x="7232" y="3121"/>
                </a:moveTo>
                <a:cubicBezTo>
                  <a:pt x="7232" y="3403"/>
                  <a:pt x="7191" y="3665"/>
                  <a:pt x="7111" y="3910"/>
                </a:cubicBezTo>
                <a:cubicBezTo>
                  <a:pt x="7031" y="4155"/>
                  <a:pt x="6939" y="4354"/>
                  <a:pt x="6839" y="4509"/>
                </a:cubicBezTo>
                <a:cubicBezTo>
                  <a:pt x="6736" y="4664"/>
                  <a:pt x="6594" y="4818"/>
                  <a:pt x="6407" y="4974"/>
                </a:cubicBezTo>
                <a:cubicBezTo>
                  <a:pt x="6221" y="5130"/>
                  <a:pt x="6072" y="5244"/>
                  <a:pt x="5959" y="5314"/>
                </a:cubicBezTo>
                <a:cubicBezTo>
                  <a:pt x="5844" y="5385"/>
                  <a:pt x="5686" y="5476"/>
                  <a:pt x="5482" y="5591"/>
                </a:cubicBezTo>
                <a:cubicBezTo>
                  <a:pt x="5268" y="5711"/>
                  <a:pt x="5090" y="5880"/>
                  <a:pt x="4946" y="6099"/>
                </a:cubicBezTo>
                <a:cubicBezTo>
                  <a:pt x="4804" y="6318"/>
                  <a:pt x="4731" y="6491"/>
                  <a:pt x="4731" y="6624"/>
                </a:cubicBezTo>
                <a:cubicBezTo>
                  <a:pt x="4731" y="6713"/>
                  <a:pt x="4700" y="6796"/>
                  <a:pt x="4637" y="6879"/>
                </a:cubicBezTo>
                <a:cubicBezTo>
                  <a:pt x="4575" y="6959"/>
                  <a:pt x="4502" y="7000"/>
                  <a:pt x="4418" y="7000"/>
                </a:cubicBezTo>
                <a:lnTo>
                  <a:pt x="2543" y="7000"/>
                </a:lnTo>
                <a:cubicBezTo>
                  <a:pt x="2465" y="7000"/>
                  <a:pt x="2398" y="6953"/>
                  <a:pt x="2345" y="6855"/>
                </a:cubicBezTo>
                <a:cubicBezTo>
                  <a:pt x="2291" y="6758"/>
                  <a:pt x="2262" y="6661"/>
                  <a:pt x="2262" y="6563"/>
                </a:cubicBezTo>
                <a:lnTo>
                  <a:pt x="2262" y="6213"/>
                </a:lnTo>
                <a:cubicBezTo>
                  <a:pt x="2262" y="5780"/>
                  <a:pt x="2431" y="5373"/>
                  <a:pt x="2770" y="4990"/>
                </a:cubicBezTo>
                <a:cubicBezTo>
                  <a:pt x="3109" y="4608"/>
                  <a:pt x="3481" y="4324"/>
                  <a:pt x="3887" y="4141"/>
                </a:cubicBezTo>
                <a:cubicBezTo>
                  <a:pt x="4195" y="4000"/>
                  <a:pt x="4414" y="3855"/>
                  <a:pt x="4543" y="3704"/>
                </a:cubicBezTo>
                <a:cubicBezTo>
                  <a:pt x="4673" y="3553"/>
                  <a:pt x="4740" y="3355"/>
                  <a:pt x="4740" y="3110"/>
                </a:cubicBezTo>
                <a:cubicBezTo>
                  <a:pt x="4740" y="2891"/>
                  <a:pt x="4618" y="2699"/>
                  <a:pt x="4376" y="2531"/>
                </a:cubicBezTo>
                <a:cubicBezTo>
                  <a:pt x="4135" y="2365"/>
                  <a:pt x="3854" y="2281"/>
                  <a:pt x="3536" y="2281"/>
                </a:cubicBezTo>
                <a:cubicBezTo>
                  <a:pt x="3197" y="2281"/>
                  <a:pt x="2916" y="2356"/>
                  <a:pt x="2691" y="2508"/>
                </a:cubicBezTo>
                <a:cubicBezTo>
                  <a:pt x="2509" y="2638"/>
                  <a:pt x="2229" y="2939"/>
                  <a:pt x="1855" y="3406"/>
                </a:cubicBezTo>
                <a:cubicBezTo>
                  <a:pt x="1787" y="3490"/>
                  <a:pt x="1707" y="3531"/>
                  <a:pt x="1614" y="3531"/>
                </a:cubicBezTo>
                <a:cubicBezTo>
                  <a:pt x="1551" y="3531"/>
                  <a:pt x="1485" y="3510"/>
                  <a:pt x="1417" y="3469"/>
                </a:cubicBezTo>
                <a:lnTo>
                  <a:pt x="135" y="2493"/>
                </a:lnTo>
                <a:cubicBezTo>
                  <a:pt x="67" y="2440"/>
                  <a:pt x="26" y="2376"/>
                  <a:pt x="14" y="2296"/>
                </a:cubicBezTo>
                <a:cubicBezTo>
                  <a:pt x="0" y="2218"/>
                  <a:pt x="15" y="2145"/>
                  <a:pt x="56" y="2078"/>
                </a:cubicBezTo>
                <a:cubicBezTo>
                  <a:pt x="890" y="694"/>
                  <a:pt x="2100" y="0"/>
                  <a:pt x="3684" y="0"/>
                </a:cubicBezTo>
                <a:cubicBezTo>
                  <a:pt x="4101" y="0"/>
                  <a:pt x="4520" y="80"/>
                  <a:pt x="4942" y="241"/>
                </a:cubicBezTo>
                <a:cubicBezTo>
                  <a:pt x="5365" y="403"/>
                  <a:pt x="5745" y="619"/>
                  <a:pt x="6084" y="890"/>
                </a:cubicBezTo>
                <a:cubicBezTo>
                  <a:pt x="6422" y="1161"/>
                  <a:pt x="6699" y="1494"/>
                  <a:pt x="6912" y="1886"/>
                </a:cubicBezTo>
                <a:cubicBezTo>
                  <a:pt x="7126" y="2276"/>
                  <a:pt x="7232" y="2690"/>
                  <a:pt x="7232" y="3121"/>
                </a:cubicBezTo>
                <a:close/>
                <a:moveTo>
                  <a:pt x="4764" y="7813"/>
                </a:moveTo>
                <a:lnTo>
                  <a:pt x="4764" y="9688"/>
                </a:lnTo>
                <a:cubicBezTo>
                  <a:pt x="4764" y="9771"/>
                  <a:pt x="4732" y="9844"/>
                  <a:pt x="4670" y="9906"/>
                </a:cubicBezTo>
                <a:cubicBezTo>
                  <a:pt x="4607" y="9969"/>
                  <a:pt x="4535" y="10000"/>
                  <a:pt x="4451" y="10000"/>
                </a:cubicBezTo>
                <a:lnTo>
                  <a:pt x="2575" y="10000"/>
                </a:lnTo>
                <a:cubicBezTo>
                  <a:pt x="2491" y="10000"/>
                  <a:pt x="2419" y="9969"/>
                  <a:pt x="2356" y="9906"/>
                </a:cubicBezTo>
                <a:cubicBezTo>
                  <a:pt x="2294" y="9844"/>
                  <a:pt x="2262" y="9771"/>
                  <a:pt x="2262" y="9688"/>
                </a:cubicBezTo>
                <a:lnTo>
                  <a:pt x="2262" y="7813"/>
                </a:lnTo>
                <a:cubicBezTo>
                  <a:pt x="2262" y="7729"/>
                  <a:pt x="2294" y="7656"/>
                  <a:pt x="2356" y="7594"/>
                </a:cubicBezTo>
                <a:cubicBezTo>
                  <a:pt x="2419" y="7531"/>
                  <a:pt x="2491" y="7500"/>
                  <a:pt x="2575" y="7500"/>
                </a:cubicBezTo>
                <a:lnTo>
                  <a:pt x="4451" y="7500"/>
                </a:lnTo>
                <a:cubicBezTo>
                  <a:pt x="4535" y="7500"/>
                  <a:pt x="4607" y="7531"/>
                  <a:pt x="4670" y="7594"/>
                </a:cubicBezTo>
                <a:cubicBezTo>
                  <a:pt x="4732" y="7656"/>
                  <a:pt x="4764" y="7728"/>
                  <a:pt x="4764" y="781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confont-11253-5330515">
            <a:extLst>
              <a:ext uri="{FF2B5EF4-FFF2-40B4-BE49-F238E27FC236}">
                <a16:creationId xmlns:a16="http://schemas.microsoft.com/office/drawing/2014/main" id="{A4CAFFE3-968A-483B-981C-181FD4118242}"/>
              </a:ext>
            </a:extLst>
          </p:cNvPr>
          <p:cNvSpPr/>
          <p:nvPr/>
        </p:nvSpPr>
        <p:spPr>
          <a:xfrm>
            <a:off x="8298521" y="5094612"/>
            <a:ext cx="292102" cy="436916"/>
          </a:xfrm>
          <a:custGeom>
            <a:avLst/>
            <a:gdLst>
              <a:gd name="T0" fmla="*/ 7232 w 7232"/>
              <a:gd name="T1" fmla="*/ 3121 h 10000"/>
              <a:gd name="T2" fmla="*/ 7111 w 7232"/>
              <a:gd name="T3" fmla="*/ 3910 h 10000"/>
              <a:gd name="T4" fmla="*/ 6839 w 7232"/>
              <a:gd name="T5" fmla="*/ 4509 h 10000"/>
              <a:gd name="T6" fmla="*/ 6407 w 7232"/>
              <a:gd name="T7" fmla="*/ 4974 h 10000"/>
              <a:gd name="T8" fmla="*/ 5959 w 7232"/>
              <a:gd name="T9" fmla="*/ 5314 h 10000"/>
              <a:gd name="T10" fmla="*/ 5482 w 7232"/>
              <a:gd name="T11" fmla="*/ 5591 h 10000"/>
              <a:gd name="T12" fmla="*/ 4946 w 7232"/>
              <a:gd name="T13" fmla="*/ 6099 h 10000"/>
              <a:gd name="T14" fmla="*/ 4731 w 7232"/>
              <a:gd name="T15" fmla="*/ 6624 h 10000"/>
              <a:gd name="T16" fmla="*/ 4637 w 7232"/>
              <a:gd name="T17" fmla="*/ 6879 h 10000"/>
              <a:gd name="T18" fmla="*/ 4418 w 7232"/>
              <a:gd name="T19" fmla="*/ 7000 h 10000"/>
              <a:gd name="T20" fmla="*/ 2543 w 7232"/>
              <a:gd name="T21" fmla="*/ 7000 h 10000"/>
              <a:gd name="T22" fmla="*/ 2345 w 7232"/>
              <a:gd name="T23" fmla="*/ 6855 h 10000"/>
              <a:gd name="T24" fmla="*/ 2262 w 7232"/>
              <a:gd name="T25" fmla="*/ 6563 h 10000"/>
              <a:gd name="T26" fmla="*/ 2262 w 7232"/>
              <a:gd name="T27" fmla="*/ 6213 h 10000"/>
              <a:gd name="T28" fmla="*/ 2770 w 7232"/>
              <a:gd name="T29" fmla="*/ 4990 h 10000"/>
              <a:gd name="T30" fmla="*/ 3887 w 7232"/>
              <a:gd name="T31" fmla="*/ 4141 h 10000"/>
              <a:gd name="T32" fmla="*/ 4543 w 7232"/>
              <a:gd name="T33" fmla="*/ 3704 h 10000"/>
              <a:gd name="T34" fmla="*/ 4740 w 7232"/>
              <a:gd name="T35" fmla="*/ 3110 h 10000"/>
              <a:gd name="T36" fmla="*/ 4376 w 7232"/>
              <a:gd name="T37" fmla="*/ 2531 h 10000"/>
              <a:gd name="T38" fmla="*/ 3536 w 7232"/>
              <a:gd name="T39" fmla="*/ 2281 h 10000"/>
              <a:gd name="T40" fmla="*/ 2691 w 7232"/>
              <a:gd name="T41" fmla="*/ 2508 h 10000"/>
              <a:gd name="T42" fmla="*/ 1855 w 7232"/>
              <a:gd name="T43" fmla="*/ 3406 h 10000"/>
              <a:gd name="T44" fmla="*/ 1614 w 7232"/>
              <a:gd name="T45" fmla="*/ 3531 h 10000"/>
              <a:gd name="T46" fmla="*/ 1417 w 7232"/>
              <a:gd name="T47" fmla="*/ 3469 h 10000"/>
              <a:gd name="T48" fmla="*/ 135 w 7232"/>
              <a:gd name="T49" fmla="*/ 2493 h 10000"/>
              <a:gd name="T50" fmla="*/ 14 w 7232"/>
              <a:gd name="T51" fmla="*/ 2296 h 10000"/>
              <a:gd name="T52" fmla="*/ 56 w 7232"/>
              <a:gd name="T53" fmla="*/ 2078 h 10000"/>
              <a:gd name="T54" fmla="*/ 3684 w 7232"/>
              <a:gd name="T55" fmla="*/ 0 h 10000"/>
              <a:gd name="T56" fmla="*/ 4942 w 7232"/>
              <a:gd name="T57" fmla="*/ 241 h 10000"/>
              <a:gd name="T58" fmla="*/ 6084 w 7232"/>
              <a:gd name="T59" fmla="*/ 890 h 10000"/>
              <a:gd name="T60" fmla="*/ 6912 w 7232"/>
              <a:gd name="T61" fmla="*/ 1886 h 10000"/>
              <a:gd name="T62" fmla="*/ 7232 w 7232"/>
              <a:gd name="T63" fmla="*/ 3121 h 10000"/>
              <a:gd name="T64" fmla="*/ 4764 w 7232"/>
              <a:gd name="T65" fmla="*/ 7813 h 10000"/>
              <a:gd name="T66" fmla="*/ 4764 w 7232"/>
              <a:gd name="T67" fmla="*/ 9688 h 10000"/>
              <a:gd name="T68" fmla="*/ 4670 w 7232"/>
              <a:gd name="T69" fmla="*/ 9906 h 10000"/>
              <a:gd name="T70" fmla="*/ 4451 w 7232"/>
              <a:gd name="T71" fmla="*/ 10000 h 10000"/>
              <a:gd name="T72" fmla="*/ 2575 w 7232"/>
              <a:gd name="T73" fmla="*/ 10000 h 10000"/>
              <a:gd name="T74" fmla="*/ 2356 w 7232"/>
              <a:gd name="T75" fmla="*/ 9906 h 10000"/>
              <a:gd name="T76" fmla="*/ 2262 w 7232"/>
              <a:gd name="T77" fmla="*/ 9688 h 10000"/>
              <a:gd name="T78" fmla="*/ 2262 w 7232"/>
              <a:gd name="T79" fmla="*/ 7813 h 10000"/>
              <a:gd name="T80" fmla="*/ 2356 w 7232"/>
              <a:gd name="T81" fmla="*/ 7594 h 10000"/>
              <a:gd name="T82" fmla="*/ 2575 w 7232"/>
              <a:gd name="T83" fmla="*/ 7500 h 10000"/>
              <a:gd name="T84" fmla="*/ 4451 w 7232"/>
              <a:gd name="T85" fmla="*/ 7500 h 10000"/>
              <a:gd name="T86" fmla="*/ 4670 w 7232"/>
              <a:gd name="T87" fmla="*/ 7594 h 10000"/>
              <a:gd name="T88" fmla="*/ 4764 w 7232"/>
              <a:gd name="T89" fmla="*/ 7813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232" h="10000">
                <a:moveTo>
                  <a:pt x="7232" y="3121"/>
                </a:moveTo>
                <a:cubicBezTo>
                  <a:pt x="7232" y="3403"/>
                  <a:pt x="7191" y="3665"/>
                  <a:pt x="7111" y="3910"/>
                </a:cubicBezTo>
                <a:cubicBezTo>
                  <a:pt x="7031" y="4155"/>
                  <a:pt x="6939" y="4354"/>
                  <a:pt x="6839" y="4509"/>
                </a:cubicBezTo>
                <a:cubicBezTo>
                  <a:pt x="6736" y="4664"/>
                  <a:pt x="6594" y="4818"/>
                  <a:pt x="6407" y="4974"/>
                </a:cubicBezTo>
                <a:cubicBezTo>
                  <a:pt x="6221" y="5130"/>
                  <a:pt x="6072" y="5244"/>
                  <a:pt x="5959" y="5314"/>
                </a:cubicBezTo>
                <a:cubicBezTo>
                  <a:pt x="5844" y="5385"/>
                  <a:pt x="5686" y="5476"/>
                  <a:pt x="5482" y="5591"/>
                </a:cubicBezTo>
                <a:cubicBezTo>
                  <a:pt x="5268" y="5711"/>
                  <a:pt x="5090" y="5880"/>
                  <a:pt x="4946" y="6099"/>
                </a:cubicBezTo>
                <a:cubicBezTo>
                  <a:pt x="4804" y="6318"/>
                  <a:pt x="4731" y="6491"/>
                  <a:pt x="4731" y="6624"/>
                </a:cubicBezTo>
                <a:cubicBezTo>
                  <a:pt x="4731" y="6713"/>
                  <a:pt x="4700" y="6796"/>
                  <a:pt x="4637" y="6879"/>
                </a:cubicBezTo>
                <a:cubicBezTo>
                  <a:pt x="4575" y="6959"/>
                  <a:pt x="4502" y="7000"/>
                  <a:pt x="4418" y="7000"/>
                </a:cubicBezTo>
                <a:lnTo>
                  <a:pt x="2543" y="7000"/>
                </a:lnTo>
                <a:cubicBezTo>
                  <a:pt x="2465" y="7000"/>
                  <a:pt x="2398" y="6953"/>
                  <a:pt x="2345" y="6855"/>
                </a:cubicBezTo>
                <a:cubicBezTo>
                  <a:pt x="2291" y="6758"/>
                  <a:pt x="2262" y="6661"/>
                  <a:pt x="2262" y="6563"/>
                </a:cubicBezTo>
                <a:lnTo>
                  <a:pt x="2262" y="6213"/>
                </a:lnTo>
                <a:cubicBezTo>
                  <a:pt x="2262" y="5780"/>
                  <a:pt x="2431" y="5373"/>
                  <a:pt x="2770" y="4990"/>
                </a:cubicBezTo>
                <a:cubicBezTo>
                  <a:pt x="3109" y="4608"/>
                  <a:pt x="3481" y="4324"/>
                  <a:pt x="3887" y="4141"/>
                </a:cubicBezTo>
                <a:cubicBezTo>
                  <a:pt x="4195" y="4000"/>
                  <a:pt x="4414" y="3855"/>
                  <a:pt x="4543" y="3704"/>
                </a:cubicBezTo>
                <a:cubicBezTo>
                  <a:pt x="4673" y="3553"/>
                  <a:pt x="4740" y="3355"/>
                  <a:pt x="4740" y="3110"/>
                </a:cubicBezTo>
                <a:cubicBezTo>
                  <a:pt x="4740" y="2891"/>
                  <a:pt x="4618" y="2699"/>
                  <a:pt x="4376" y="2531"/>
                </a:cubicBezTo>
                <a:cubicBezTo>
                  <a:pt x="4135" y="2365"/>
                  <a:pt x="3854" y="2281"/>
                  <a:pt x="3536" y="2281"/>
                </a:cubicBezTo>
                <a:cubicBezTo>
                  <a:pt x="3197" y="2281"/>
                  <a:pt x="2916" y="2356"/>
                  <a:pt x="2691" y="2508"/>
                </a:cubicBezTo>
                <a:cubicBezTo>
                  <a:pt x="2509" y="2638"/>
                  <a:pt x="2229" y="2939"/>
                  <a:pt x="1855" y="3406"/>
                </a:cubicBezTo>
                <a:cubicBezTo>
                  <a:pt x="1787" y="3490"/>
                  <a:pt x="1707" y="3531"/>
                  <a:pt x="1614" y="3531"/>
                </a:cubicBezTo>
                <a:cubicBezTo>
                  <a:pt x="1551" y="3531"/>
                  <a:pt x="1485" y="3510"/>
                  <a:pt x="1417" y="3469"/>
                </a:cubicBezTo>
                <a:lnTo>
                  <a:pt x="135" y="2493"/>
                </a:lnTo>
                <a:cubicBezTo>
                  <a:pt x="67" y="2440"/>
                  <a:pt x="26" y="2376"/>
                  <a:pt x="14" y="2296"/>
                </a:cubicBezTo>
                <a:cubicBezTo>
                  <a:pt x="0" y="2218"/>
                  <a:pt x="15" y="2145"/>
                  <a:pt x="56" y="2078"/>
                </a:cubicBezTo>
                <a:cubicBezTo>
                  <a:pt x="890" y="694"/>
                  <a:pt x="2100" y="0"/>
                  <a:pt x="3684" y="0"/>
                </a:cubicBezTo>
                <a:cubicBezTo>
                  <a:pt x="4101" y="0"/>
                  <a:pt x="4520" y="80"/>
                  <a:pt x="4942" y="241"/>
                </a:cubicBezTo>
                <a:cubicBezTo>
                  <a:pt x="5365" y="403"/>
                  <a:pt x="5745" y="619"/>
                  <a:pt x="6084" y="890"/>
                </a:cubicBezTo>
                <a:cubicBezTo>
                  <a:pt x="6422" y="1161"/>
                  <a:pt x="6699" y="1494"/>
                  <a:pt x="6912" y="1886"/>
                </a:cubicBezTo>
                <a:cubicBezTo>
                  <a:pt x="7126" y="2276"/>
                  <a:pt x="7232" y="2690"/>
                  <a:pt x="7232" y="3121"/>
                </a:cubicBezTo>
                <a:close/>
                <a:moveTo>
                  <a:pt x="4764" y="7813"/>
                </a:moveTo>
                <a:lnTo>
                  <a:pt x="4764" y="9688"/>
                </a:lnTo>
                <a:cubicBezTo>
                  <a:pt x="4764" y="9771"/>
                  <a:pt x="4732" y="9844"/>
                  <a:pt x="4670" y="9906"/>
                </a:cubicBezTo>
                <a:cubicBezTo>
                  <a:pt x="4607" y="9969"/>
                  <a:pt x="4535" y="10000"/>
                  <a:pt x="4451" y="10000"/>
                </a:cubicBezTo>
                <a:lnTo>
                  <a:pt x="2575" y="10000"/>
                </a:lnTo>
                <a:cubicBezTo>
                  <a:pt x="2491" y="10000"/>
                  <a:pt x="2419" y="9969"/>
                  <a:pt x="2356" y="9906"/>
                </a:cubicBezTo>
                <a:cubicBezTo>
                  <a:pt x="2294" y="9844"/>
                  <a:pt x="2262" y="9771"/>
                  <a:pt x="2262" y="9688"/>
                </a:cubicBezTo>
                <a:lnTo>
                  <a:pt x="2262" y="7813"/>
                </a:lnTo>
                <a:cubicBezTo>
                  <a:pt x="2262" y="7729"/>
                  <a:pt x="2294" y="7656"/>
                  <a:pt x="2356" y="7594"/>
                </a:cubicBezTo>
                <a:cubicBezTo>
                  <a:pt x="2419" y="7531"/>
                  <a:pt x="2491" y="7500"/>
                  <a:pt x="2575" y="7500"/>
                </a:cubicBezTo>
                <a:lnTo>
                  <a:pt x="4451" y="7500"/>
                </a:lnTo>
                <a:cubicBezTo>
                  <a:pt x="4535" y="7500"/>
                  <a:pt x="4607" y="7531"/>
                  <a:pt x="4670" y="7594"/>
                </a:cubicBezTo>
                <a:cubicBezTo>
                  <a:pt x="4732" y="7656"/>
                  <a:pt x="4764" y="7728"/>
                  <a:pt x="4764" y="781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confont-11253-5330515">
            <a:extLst>
              <a:ext uri="{FF2B5EF4-FFF2-40B4-BE49-F238E27FC236}">
                <a16:creationId xmlns:a16="http://schemas.microsoft.com/office/drawing/2014/main" id="{53F5E9A1-D7CF-4A10-9E88-E70CAE994627}"/>
              </a:ext>
            </a:extLst>
          </p:cNvPr>
          <p:cNvSpPr/>
          <p:nvPr/>
        </p:nvSpPr>
        <p:spPr>
          <a:xfrm>
            <a:off x="11342509" y="5142700"/>
            <a:ext cx="292102" cy="436916"/>
          </a:xfrm>
          <a:custGeom>
            <a:avLst/>
            <a:gdLst>
              <a:gd name="T0" fmla="*/ 7232 w 7232"/>
              <a:gd name="T1" fmla="*/ 3121 h 10000"/>
              <a:gd name="T2" fmla="*/ 7111 w 7232"/>
              <a:gd name="T3" fmla="*/ 3910 h 10000"/>
              <a:gd name="T4" fmla="*/ 6839 w 7232"/>
              <a:gd name="T5" fmla="*/ 4509 h 10000"/>
              <a:gd name="T6" fmla="*/ 6407 w 7232"/>
              <a:gd name="T7" fmla="*/ 4974 h 10000"/>
              <a:gd name="T8" fmla="*/ 5959 w 7232"/>
              <a:gd name="T9" fmla="*/ 5314 h 10000"/>
              <a:gd name="T10" fmla="*/ 5482 w 7232"/>
              <a:gd name="T11" fmla="*/ 5591 h 10000"/>
              <a:gd name="T12" fmla="*/ 4946 w 7232"/>
              <a:gd name="T13" fmla="*/ 6099 h 10000"/>
              <a:gd name="T14" fmla="*/ 4731 w 7232"/>
              <a:gd name="T15" fmla="*/ 6624 h 10000"/>
              <a:gd name="T16" fmla="*/ 4637 w 7232"/>
              <a:gd name="T17" fmla="*/ 6879 h 10000"/>
              <a:gd name="T18" fmla="*/ 4418 w 7232"/>
              <a:gd name="T19" fmla="*/ 7000 h 10000"/>
              <a:gd name="T20" fmla="*/ 2543 w 7232"/>
              <a:gd name="T21" fmla="*/ 7000 h 10000"/>
              <a:gd name="T22" fmla="*/ 2345 w 7232"/>
              <a:gd name="T23" fmla="*/ 6855 h 10000"/>
              <a:gd name="T24" fmla="*/ 2262 w 7232"/>
              <a:gd name="T25" fmla="*/ 6563 h 10000"/>
              <a:gd name="T26" fmla="*/ 2262 w 7232"/>
              <a:gd name="T27" fmla="*/ 6213 h 10000"/>
              <a:gd name="T28" fmla="*/ 2770 w 7232"/>
              <a:gd name="T29" fmla="*/ 4990 h 10000"/>
              <a:gd name="T30" fmla="*/ 3887 w 7232"/>
              <a:gd name="T31" fmla="*/ 4141 h 10000"/>
              <a:gd name="T32" fmla="*/ 4543 w 7232"/>
              <a:gd name="T33" fmla="*/ 3704 h 10000"/>
              <a:gd name="T34" fmla="*/ 4740 w 7232"/>
              <a:gd name="T35" fmla="*/ 3110 h 10000"/>
              <a:gd name="T36" fmla="*/ 4376 w 7232"/>
              <a:gd name="T37" fmla="*/ 2531 h 10000"/>
              <a:gd name="T38" fmla="*/ 3536 w 7232"/>
              <a:gd name="T39" fmla="*/ 2281 h 10000"/>
              <a:gd name="T40" fmla="*/ 2691 w 7232"/>
              <a:gd name="T41" fmla="*/ 2508 h 10000"/>
              <a:gd name="T42" fmla="*/ 1855 w 7232"/>
              <a:gd name="T43" fmla="*/ 3406 h 10000"/>
              <a:gd name="T44" fmla="*/ 1614 w 7232"/>
              <a:gd name="T45" fmla="*/ 3531 h 10000"/>
              <a:gd name="T46" fmla="*/ 1417 w 7232"/>
              <a:gd name="T47" fmla="*/ 3469 h 10000"/>
              <a:gd name="T48" fmla="*/ 135 w 7232"/>
              <a:gd name="T49" fmla="*/ 2493 h 10000"/>
              <a:gd name="T50" fmla="*/ 14 w 7232"/>
              <a:gd name="T51" fmla="*/ 2296 h 10000"/>
              <a:gd name="T52" fmla="*/ 56 w 7232"/>
              <a:gd name="T53" fmla="*/ 2078 h 10000"/>
              <a:gd name="T54" fmla="*/ 3684 w 7232"/>
              <a:gd name="T55" fmla="*/ 0 h 10000"/>
              <a:gd name="T56" fmla="*/ 4942 w 7232"/>
              <a:gd name="T57" fmla="*/ 241 h 10000"/>
              <a:gd name="T58" fmla="*/ 6084 w 7232"/>
              <a:gd name="T59" fmla="*/ 890 h 10000"/>
              <a:gd name="T60" fmla="*/ 6912 w 7232"/>
              <a:gd name="T61" fmla="*/ 1886 h 10000"/>
              <a:gd name="T62" fmla="*/ 7232 w 7232"/>
              <a:gd name="T63" fmla="*/ 3121 h 10000"/>
              <a:gd name="T64" fmla="*/ 4764 w 7232"/>
              <a:gd name="T65" fmla="*/ 7813 h 10000"/>
              <a:gd name="T66" fmla="*/ 4764 w 7232"/>
              <a:gd name="T67" fmla="*/ 9688 h 10000"/>
              <a:gd name="T68" fmla="*/ 4670 w 7232"/>
              <a:gd name="T69" fmla="*/ 9906 h 10000"/>
              <a:gd name="T70" fmla="*/ 4451 w 7232"/>
              <a:gd name="T71" fmla="*/ 10000 h 10000"/>
              <a:gd name="T72" fmla="*/ 2575 w 7232"/>
              <a:gd name="T73" fmla="*/ 10000 h 10000"/>
              <a:gd name="T74" fmla="*/ 2356 w 7232"/>
              <a:gd name="T75" fmla="*/ 9906 h 10000"/>
              <a:gd name="T76" fmla="*/ 2262 w 7232"/>
              <a:gd name="T77" fmla="*/ 9688 h 10000"/>
              <a:gd name="T78" fmla="*/ 2262 w 7232"/>
              <a:gd name="T79" fmla="*/ 7813 h 10000"/>
              <a:gd name="T80" fmla="*/ 2356 w 7232"/>
              <a:gd name="T81" fmla="*/ 7594 h 10000"/>
              <a:gd name="T82" fmla="*/ 2575 w 7232"/>
              <a:gd name="T83" fmla="*/ 7500 h 10000"/>
              <a:gd name="T84" fmla="*/ 4451 w 7232"/>
              <a:gd name="T85" fmla="*/ 7500 h 10000"/>
              <a:gd name="T86" fmla="*/ 4670 w 7232"/>
              <a:gd name="T87" fmla="*/ 7594 h 10000"/>
              <a:gd name="T88" fmla="*/ 4764 w 7232"/>
              <a:gd name="T89" fmla="*/ 7813 h 10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232" h="10000">
                <a:moveTo>
                  <a:pt x="7232" y="3121"/>
                </a:moveTo>
                <a:cubicBezTo>
                  <a:pt x="7232" y="3403"/>
                  <a:pt x="7191" y="3665"/>
                  <a:pt x="7111" y="3910"/>
                </a:cubicBezTo>
                <a:cubicBezTo>
                  <a:pt x="7031" y="4155"/>
                  <a:pt x="6939" y="4354"/>
                  <a:pt x="6839" y="4509"/>
                </a:cubicBezTo>
                <a:cubicBezTo>
                  <a:pt x="6736" y="4664"/>
                  <a:pt x="6594" y="4818"/>
                  <a:pt x="6407" y="4974"/>
                </a:cubicBezTo>
                <a:cubicBezTo>
                  <a:pt x="6221" y="5130"/>
                  <a:pt x="6072" y="5244"/>
                  <a:pt x="5959" y="5314"/>
                </a:cubicBezTo>
                <a:cubicBezTo>
                  <a:pt x="5844" y="5385"/>
                  <a:pt x="5686" y="5476"/>
                  <a:pt x="5482" y="5591"/>
                </a:cubicBezTo>
                <a:cubicBezTo>
                  <a:pt x="5268" y="5711"/>
                  <a:pt x="5090" y="5880"/>
                  <a:pt x="4946" y="6099"/>
                </a:cubicBezTo>
                <a:cubicBezTo>
                  <a:pt x="4804" y="6318"/>
                  <a:pt x="4731" y="6491"/>
                  <a:pt x="4731" y="6624"/>
                </a:cubicBezTo>
                <a:cubicBezTo>
                  <a:pt x="4731" y="6713"/>
                  <a:pt x="4700" y="6796"/>
                  <a:pt x="4637" y="6879"/>
                </a:cubicBezTo>
                <a:cubicBezTo>
                  <a:pt x="4575" y="6959"/>
                  <a:pt x="4502" y="7000"/>
                  <a:pt x="4418" y="7000"/>
                </a:cubicBezTo>
                <a:lnTo>
                  <a:pt x="2543" y="7000"/>
                </a:lnTo>
                <a:cubicBezTo>
                  <a:pt x="2465" y="7000"/>
                  <a:pt x="2398" y="6953"/>
                  <a:pt x="2345" y="6855"/>
                </a:cubicBezTo>
                <a:cubicBezTo>
                  <a:pt x="2291" y="6758"/>
                  <a:pt x="2262" y="6661"/>
                  <a:pt x="2262" y="6563"/>
                </a:cubicBezTo>
                <a:lnTo>
                  <a:pt x="2262" y="6213"/>
                </a:lnTo>
                <a:cubicBezTo>
                  <a:pt x="2262" y="5780"/>
                  <a:pt x="2431" y="5373"/>
                  <a:pt x="2770" y="4990"/>
                </a:cubicBezTo>
                <a:cubicBezTo>
                  <a:pt x="3109" y="4608"/>
                  <a:pt x="3481" y="4324"/>
                  <a:pt x="3887" y="4141"/>
                </a:cubicBezTo>
                <a:cubicBezTo>
                  <a:pt x="4195" y="4000"/>
                  <a:pt x="4414" y="3855"/>
                  <a:pt x="4543" y="3704"/>
                </a:cubicBezTo>
                <a:cubicBezTo>
                  <a:pt x="4673" y="3553"/>
                  <a:pt x="4740" y="3355"/>
                  <a:pt x="4740" y="3110"/>
                </a:cubicBezTo>
                <a:cubicBezTo>
                  <a:pt x="4740" y="2891"/>
                  <a:pt x="4618" y="2699"/>
                  <a:pt x="4376" y="2531"/>
                </a:cubicBezTo>
                <a:cubicBezTo>
                  <a:pt x="4135" y="2365"/>
                  <a:pt x="3854" y="2281"/>
                  <a:pt x="3536" y="2281"/>
                </a:cubicBezTo>
                <a:cubicBezTo>
                  <a:pt x="3197" y="2281"/>
                  <a:pt x="2916" y="2356"/>
                  <a:pt x="2691" y="2508"/>
                </a:cubicBezTo>
                <a:cubicBezTo>
                  <a:pt x="2509" y="2638"/>
                  <a:pt x="2229" y="2939"/>
                  <a:pt x="1855" y="3406"/>
                </a:cubicBezTo>
                <a:cubicBezTo>
                  <a:pt x="1787" y="3490"/>
                  <a:pt x="1707" y="3531"/>
                  <a:pt x="1614" y="3531"/>
                </a:cubicBezTo>
                <a:cubicBezTo>
                  <a:pt x="1551" y="3531"/>
                  <a:pt x="1485" y="3510"/>
                  <a:pt x="1417" y="3469"/>
                </a:cubicBezTo>
                <a:lnTo>
                  <a:pt x="135" y="2493"/>
                </a:lnTo>
                <a:cubicBezTo>
                  <a:pt x="67" y="2440"/>
                  <a:pt x="26" y="2376"/>
                  <a:pt x="14" y="2296"/>
                </a:cubicBezTo>
                <a:cubicBezTo>
                  <a:pt x="0" y="2218"/>
                  <a:pt x="15" y="2145"/>
                  <a:pt x="56" y="2078"/>
                </a:cubicBezTo>
                <a:cubicBezTo>
                  <a:pt x="890" y="694"/>
                  <a:pt x="2100" y="0"/>
                  <a:pt x="3684" y="0"/>
                </a:cubicBezTo>
                <a:cubicBezTo>
                  <a:pt x="4101" y="0"/>
                  <a:pt x="4520" y="80"/>
                  <a:pt x="4942" y="241"/>
                </a:cubicBezTo>
                <a:cubicBezTo>
                  <a:pt x="5365" y="403"/>
                  <a:pt x="5745" y="619"/>
                  <a:pt x="6084" y="890"/>
                </a:cubicBezTo>
                <a:cubicBezTo>
                  <a:pt x="6422" y="1161"/>
                  <a:pt x="6699" y="1494"/>
                  <a:pt x="6912" y="1886"/>
                </a:cubicBezTo>
                <a:cubicBezTo>
                  <a:pt x="7126" y="2276"/>
                  <a:pt x="7232" y="2690"/>
                  <a:pt x="7232" y="3121"/>
                </a:cubicBezTo>
                <a:close/>
                <a:moveTo>
                  <a:pt x="4764" y="7813"/>
                </a:moveTo>
                <a:lnTo>
                  <a:pt x="4764" y="9688"/>
                </a:lnTo>
                <a:cubicBezTo>
                  <a:pt x="4764" y="9771"/>
                  <a:pt x="4732" y="9844"/>
                  <a:pt x="4670" y="9906"/>
                </a:cubicBezTo>
                <a:cubicBezTo>
                  <a:pt x="4607" y="9969"/>
                  <a:pt x="4535" y="10000"/>
                  <a:pt x="4451" y="10000"/>
                </a:cubicBezTo>
                <a:lnTo>
                  <a:pt x="2575" y="10000"/>
                </a:lnTo>
                <a:cubicBezTo>
                  <a:pt x="2491" y="10000"/>
                  <a:pt x="2419" y="9969"/>
                  <a:pt x="2356" y="9906"/>
                </a:cubicBezTo>
                <a:cubicBezTo>
                  <a:pt x="2294" y="9844"/>
                  <a:pt x="2262" y="9771"/>
                  <a:pt x="2262" y="9688"/>
                </a:cubicBezTo>
                <a:lnTo>
                  <a:pt x="2262" y="7813"/>
                </a:lnTo>
                <a:cubicBezTo>
                  <a:pt x="2262" y="7729"/>
                  <a:pt x="2294" y="7656"/>
                  <a:pt x="2356" y="7594"/>
                </a:cubicBezTo>
                <a:cubicBezTo>
                  <a:pt x="2419" y="7531"/>
                  <a:pt x="2491" y="7500"/>
                  <a:pt x="2575" y="7500"/>
                </a:cubicBezTo>
                <a:lnTo>
                  <a:pt x="4451" y="7500"/>
                </a:lnTo>
                <a:cubicBezTo>
                  <a:pt x="4535" y="7500"/>
                  <a:pt x="4607" y="7531"/>
                  <a:pt x="4670" y="7594"/>
                </a:cubicBezTo>
                <a:cubicBezTo>
                  <a:pt x="4732" y="7656"/>
                  <a:pt x="4764" y="7728"/>
                  <a:pt x="4764" y="781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文本框 42">
            <a:extLst>
              <a:ext uri="{FF2B5EF4-FFF2-40B4-BE49-F238E27FC236}">
                <a16:creationId xmlns:a16="http://schemas.microsoft.com/office/drawing/2014/main" id="{817D6022-EC01-4448-9B79-EB8A86C7A507}"/>
              </a:ext>
            </a:extLst>
          </p:cNvPr>
          <p:cNvSpPr txBox="1"/>
          <p:nvPr/>
        </p:nvSpPr>
        <p:spPr>
          <a:xfrm>
            <a:off x="6000062" y="4319311"/>
            <a:ext cx="1863009" cy="369332"/>
          </a:xfrm>
          <a:prstGeom prst="rect">
            <a:avLst/>
          </a:prstGeom>
          <a:noFill/>
        </p:spPr>
        <p:txBody>
          <a:bodyPr wrap="square">
            <a:spAutoFit/>
          </a:bodyPr>
          <a:lstStyle/>
          <a:p>
            <a:pPr lvl="1"/>
            <a:r>
              <a:rPr kumimoji="1" lang="en-US" altLang="zh-CN" b="1" dirty="0">
                <a:solidFill>
                  <a:schemeClr val="accent1"/>
                </a:solidFill>
                <a:latin typeface="微软雅黑" panose="020B0503020204020204" pitchFamily="34" charset="-122"/>
                <a:ea typeface="微软雅黑" panose="020B0503020204020204" pitchFamily="34" charset="-122"/>
              </a:rPr>
              <a:t>SYN ACK</a:t>
            </a:r>
          </a:p>
        </p:txBody>
      </p:sp>
      <p:sp>
        <p:nvSpPr>
          <p:cNvPr id="44" name="文本框 43">
            <a:extLst>
              <a:ext uri="{FF2B5EF4-FFF2-40B4-BE49-F238E27FC236}">
                <a16:creationId xmlns:a16="http://schemas.microsoft.com/office/drawing/2014/main" id="{D564DB44-CE4F-4BD9-8BC0-981BD9ABB392}"/>
              </a:ext>
            </a:extLst>
          </p:cNvPr>
          <p:cNvSpPr txBox="1"/>
          <p:nvPr/>
        </p:nvSpPr>
        <p:spPr>
          <a:xfrm>
            <a:off x="8219991" y="4327453"/>
            <a:ext cx="1863009" cy="369332"/>
          </a:xfrm>
          <a:prstGeom prst="rect">
            <a:avLst/>
          </a:prstGeom>
          <a:noFill/>
        </p:spPr>
        <p:txBody>
          <a:bodyPr wrap="square">
            <a:spAutoFit/>
          </a:bodyPr>
          <a:lstStyle/>
          <a:p>
            <a:pPr lvl="1"/>
            <a:r>
              <a:rPr kumimoji="1" lang="en-US" altLang="zh-CN" b="1" dirty="0">
                <a:solidFill>
                  <a:schemeClr val="accent1"/>
                </a:solidFill>
                <a:latin typeface="微软雅黑" panose="020B0503020204020204" pitchFamily="34" charset="-122"/>
                <a:ea typeface="微软雅黑" panose="020B0503020204020204" pitchFamily="34" charset="-122"/>
              </a:rPr>
              <a:t>SYN ACK</a:t>
            </a:r>
          </a:p>
        </p:txBody>
      </p:sp>
      <p:sp>
        <p:nvSpPr>
          <p:cNvPr id="45" name="文本框 44">
            <a:extLst>
              <a:ext uri="{FF2B5EF4-FFF2-40B4-BE49-F238E27FC236}">
                <a16:creationId xmlns:a16="http://schemas.microsoft.com/office/drawing/2014/main" id="{E447183A-14F1-4519-B14C-0AB5F15EC3A8}"/>
              </a:ext>
            </a:extLst>
          </p:cNvPr>
          <p:cNvSpPr txBox="1"/>
          <p:nvPr/>
        </p:nvSpPr>
        <p:spPr>
          <a:xfrm>
            <a:off x="10541950" y="4327453"/>
            <a:ext cx="1863009" cy="369332"/>
          </a:xfrm>
          <a:prstGeom prst="rect">
            <a:avLst/>
          </a:prstGeom>
          <a:noFill/>
        </p:spPr>
        <p:txBody>
          <a:bodyPr wrap="square">
            <a:spAutoFit/>
          </a:bodyPr>
          <a:lstStyle/>
          <a:p>
            <a:pPr lvl="1"/>
            <a:r>
              <a:rPr kumimoji="1" lang="en-US" altLang="zh-CN" b="1" dirty="0">
                <a:solidFill>
                  <a:schemeClr val="accent1"/>
                </a:solidFill>
                <a:latin typeface="微软雅黑" panose="020B0503020204020204" pitchFamily="34" charset="-122"/>
                <a:ea typeface="微软雅黑" panose="020B0503020204020204" pitchFamily="34" charset="-122"/>
              </a:rPr>
              <a:t>SYN ACK</a:t>
            </a:r>
          </a:p>
        </p:txBody>
      </p:sp>
      <p:cxnSp>
        <p:nvCxnSpPr>
          <p:cNvPr id="194" name="直接连接符 193">
            <a:extLst>
              <a:ext uri="{FF2B5EF4-FFF2-40B4-BE49-F238E27FC236}">
                <a16:creationId xmlns:a16="http://schemas.microsoft.com/office/drawing/2014/main" id="{535F4673-7A3A-4232-AA2D-055044ED8F45}"/>
              </a:ext>
            </a:extLst>
          </p:cNvPr>
          <p:cNvCxnSpPr/>
          <p:nvPr/>
        </p:nvCxnSpPr>
        <p:spPr>
          <a:xfrm>
            <a:off x="9106078" y="4891462"/>
            <a:ext cx="1796221" cy="0"/>
          </a:xfrm>
          <a:prstGeom prst="line">
            <a:avLst/>
          </a:prstGeom>
          <a:ln w="57150">
            <a:prstDash val="sysDot"/>
          </a:ln>
        </p:spPr>
        <p:style>
          <a:lnRef idx="1">
            <a:schemeClr val="accent1"/>
          </a:lnRef>
          <a:fillRef idx="0">
            <a:schemeClr val="accent1"/>
          </a:fillRef>
          <a:effectRef idx="0">
            <a:schemeClr val="accent1"/>
          </a:effectRef>
          <a:fontRef idx="minor">
            <a:schemeClr val="tx1"/>
          </a:fontRef>
        </p:style>
      </p:cxnSp>
      <p:sp>
        <p:nvSpPr>
          <p:cNvPr id="57" name="anonymous_99618">
            <a:extLst>
              <a:ext uri="{FF2B5EF4-FFF2-40B4-BE49-F238E27FC236}">
                <a16:creationId xmlns:a16="http://schemas.microsoft.com/office/drawing/2014/main" id="{DE2E6C36-D172-4E2F-A5CF-A00F48E96135}"/>
              </a:ext>
            </a:extLst>
          </p:cNvPr>
          <p:cNvSpPr/>
          <p:nvPr/>
        </p:nvSpPr>
        <p:spPr>
          <a:xfrm>
            <a:off x="5576655" y="1448232"/>
            <a:ext cx="556399" cy="606297"/>
          </a:xfrm>
          <a:custGeom>
            <a:avLst/>
            <a:gdLst>
              <a:gd name="connsiteX0" fmla="*/ 255941 w 579906"/>
              <a:gd name="connsiteY0" fmla="*/ 386840 h 600018"/>
              <a:gd name="connsiteX1" fmla="*/ 323966 w 579906"/>
              <a:gd name="connsiteY1" fmla="*/ 386840 h 600018"/>
              <a:gd name="connsiteX2" fmla="*/ 289844 w 579906"/>
              <a:gd name="connsiteY2" fmla="*/ 504190 h 600018"/>
              <a:gd name="connsiteX3" fmla="*/ 271909 w 579906"/>
              <a:gd name="connsiteY3" fmla="*/ 342736 h 600018"/>
              <a:gd name="connsiteX4" fmla="*/ 307780 w 579906"/>
              <a:gd name="connsiteY4" fmla="*/ 342736 h 600018"/>
              <a:gd name="connsiteX5" fmla="*/ 319591 w 579906"/>
              <a:gd name="connsiteY5" fmla="*/ 354305 h 600018"/>
              <a:gd name="connsiteX6" fmla="*/ 307780 w 579906"/>
              <a:gd name="connsiteY6" fmla="*/ 366093 h 600018"/>
              <a:gd name="connsiteX7" fmla="*/ 271909 w 579906"/>
              <a:gd name="connsiteY7" fmla="*/ 366093 h 600018"/>
              <a:gd name="connsiteX8" fmla="*/ 260316 w 579906"/>
              <a:gd name="connsiteY8" fmla="*/ 354305 h 600018"/>
              <a:gd name="connsiteX9" fmla="*/ 271909 w 579906"/>
              <a:gd name="connsiteY9" fmla="*/ 342736 h 600018"/>
              <a:gd name="connsiteX10" fmla="*/ 254411 w 579906"/>
              <a:gd name="connsiteY10" fmla="*/ 286783 h 600018"/>
              <a:gd name="connsiteX11" fmla="*/ 325495 w 579906"/>
              <a:gd name="connsiteY11" fmla="*/ 286783 h 600018"/>
              <a:gd name="connsiteX12" fmla="*/ 340368 w 579906"/>
              <a:gd name="connsiteY12" fmla="*/ 295307 h 600018"/>
              <a:gd name="connsiteX13" fmla="*/ 357647 w 579906"/>
              <a:gd name="connsiteY13" fmla="*/ 323502 h 600018"/>
              <a:gd name="connsiteX14" fmla="*/ 405328 w 579906"/>
              <a:gd name="connsiteY14" fmla="*/ 323502 h 600018"/>
              <a:gd name="connsiteX15" fmla="*/ 420419 w 579906"/>
              <a:gd name="connsiteY15" fmla="*/ 295963 h 600018"/>
              <a:gd name="connsiteX16" fmla="*/ 444260 w 579906"/>
              <a:gd name="connsiteY16" fmla="*/ 288969 h 600018"/>
              <a:gd name="connsiteX17" fmla="*/ 451259 w 579906"/>
              <a:gd name="connsiteY17" fmla="*/ 312793 h 600018"/>
              <a:gd name="connsiteX18" fmla="*/ 430918 w 579906"/>
              <a:gd name="connsiteY18" fmla="*/ 349512 h 600018"/>
              <a:gd name="connsiteX19" fmla="*/ 415608 w 579906"/>
              <a:gd name="connsiteY19" fmla="*/ 358473 h 600018"/>
              <a:gd name="connsiteX20" fmla="*/ 347804 w 579906"/>
              <a:gd name="connsiteY20" fmla="*/ 358473 h 600018"/>
              <a:gd name="connsiteX21" fmla="*/ 332713 w 579906"/>
              <a:gd name="connsiteY21" fmla="*/ 350167 h 600018"/>
              <a:gd name="connsiteX22" fmla="*/ 315653 w 579906"/>
              <a:gd name="connsiteY22" fmla="*/ 321754 h 600018"/>
              <a:gd name="connsiteX23" fmla="*/ 264253 w 579906"/>
              <a:gd name="connsiteY23" fmla="*/ 321754 h 600018"/>
              <a:gd name="connsiteX24" fmla="*/ 247193 w 579906"/>
              <a:gd name="connsiteY24" fmla="*/ 350167 h 600018"/>
              <a:gd name="connsiteX25" fmla="*/ 232102 w 579906"/>
              <a:gd name="connsiteY25" fmla="*/ 358473 h 600018"/>
              <a:gd name="connsiteX26" fmla="*/ 164298 w 579906"/>
              <a:gd name="connsiteY26" fmla="*/ 358473 h 600018"/>
              <a:gd name="connsiteX27" fmla="*/ 148769 w 579906"/>
              <a:gd name="connsiteY27" fmla="*/ 349512 h 600018"/>
              <a:gd name="connsiteX28" fmla="*/ 128647 w 579906"/>
              <a:gd name="connsiteY28" fmla="*/ 312793 h 600018"/>
              <a:gd name="connsiteX29" fmla="*/ 135646 w 579906"/>
              <a:gd name="connsiteY29" fmla="*/ 288969 h 600018"/>
              <a:gd name="connsiteX30" fmla="*/ 159268 w 579906"/>
              <a:gd name="connsiteY30" fmla="*/ 295963 h 600018"/>
              <a:gd name="connsiteX31" fmla="*/ 174578 w 579906"/>
              <a:gd name="connsiteY31" fmla="*/ 323502 h 600018"/>
              <a:gd name="connsiteX32" fmla="*/ 222259 w 579906"/>
              <a:gd name="connsiteY32" fmla="*/ 323502 h 600018"/>
              <a:gd name="connsiteX33" fmla="*/ 239319 w 579906"/>
              <a:gd name="connsiteY33" fmla="*/ 295307 h 600018"/>
              <a:gd name="connsiteX34" fmla="*/ 254411 w 579906"/>
              <a:gd name="connsiteY34" fmla="*/ 286783 h 600018"/>
              <a:gd name="connsiteX35" fmla="*/ 379524 w 579906"/>
              <a:gd name="connsiteY35" fmla="*/ 160325 h 600018"/>
              <a:gd name="connsiteX36" fmla="*/ 425909 w 579906"/>
              <a:gd name="connsiteY36" fmla="*/ 160325 h 600018"/>
              <a:gd name="connsiteX37" fmla="*/ 437505 w 579906"/>
              <a:gd name="connsiteY37" fmla="*/ 172113 h 600018"/>
              <a:gd name="connsiteX38" fmla="*/ 425909 w 579906"/>
              <a:gd name="connsiteY38" fmla="*/ 183682 h 600018"/>
              <a:gd name="connsiteX39" fmla="*/ 379524 w 579906"/>
              <a:gd name="connsiteY39" fmla="*/ 183682 h 600018"/>
              <a:gd name="connsiteX40" fmla="*/ 367928 w 579906"/>
              <a:gd name="connsiteY40" fmla="*/ 172113 h 600018"/>
              <a:gd name="connsiteX41" fmla="*/ 379524 w 579906"/>
              <a:gd name="connsiteY41" fmla="*/ 160325 h 600018"/>
              <a:gd name="connsiteX42" fmla="*/ 156819 w 579906"/>
              <a:gd name="connsiteY42" fmla="*/ 160325 h 600018"/>
              <a:gd name="connsiteX43" fmla="*/ 203204 w 579906"/>
              <a:gd name="connsiteY43" fmla="*/ 160325 h 600018"/>
              <a:gd name="connsiteX44" fmla="*/ 214800 w 579906"/>
              <a:gd name="connsiteY44" fmla="*/ 172113 h 600018"/>
              <a:gd name="connsiteX45" fmla="*/ 203204 w 579906"/>
              <a:gd name="connsiteY45" fmla="*/ 183682 h 600018"/>
              <a:gd name="connsiteX46" fmla="*/ 156819 w 579906"/>
              <a:gd name="connsiteY46" fmla="*/ 183682 h 600018"/>
              <a:gd name="connsiteX47" fmla="*/ 145223 w 579906"/>
              <a:gd name="connsiteY47" fmla="*/ 172113 h 600018"/>
              <a:gd name="connsiteX48" fmla="*/ 156819 w 579906"/>
              <a:gd name="connsiteY48" fmla="*/ 160325 h 600018"/>
              <a:gd name="connsiteX49" fmla="*/ 401161 w 579906"/>
              <a:gd name="connsiteY49" fmla="*/ 98933 h 600018"/>
              <a:gd name="connsiteX50" fmla="*/ 492385 w 579906"/>
              <a:gd name="connsiteY50" fmla="*/ 151593 h 600018"/>
              <a:gd name="connsiteX51" fmla="*/ 486040 w 579906"/>
              <a:gd name="connsiteY51" fmla="*/ 175410 h 600018"/>
              <a:gd name="connsiteX52" fmla="*/ 462196 w 579906"/>
              <a:gd name="connsiteY52" fmla="*/ 169074 h 600018"/>
              <a:gd name="connsiteX53" fmla="*/ 401161 w 579906"/>
              <a:gd name="connsiteY53" fmla="*/ 133894 h 600018"/>
              <a:gd name="connsiteX54" fmla="*/ 340346 w 579906"/>
              <a:gd name="connsiteY54" fmla="*/ 169074 h 600018"/>
              <a:gd name="connsiteX55" fmla="*/ 325032 w 579906"/>
              <a:gd name="connsiteY55" fmla="*/ 177814 h 600018"/>
              <a:gd name="connsiteX56" fmla="*/ 316282 w 579906"/>
              <a:gd name="connsiteY56" fmla="*/ 175410 h 600018"/>
              <a:gd name="connsiteX57" fmla="*/ 309938 w 579906"/>
              <a:gd name="connsiteY57" fmla="*/ 151593 h 600018"/>
              <a:gd name="connsiteX58" fmla="*/ 401161 w 579906"/>
              <a:gd name="connsiteY58" fmla="*/ 98933 h 600018"/>
              <a:gd name="connsiteX59" fmla="*/ 178527 w 579906"/>
              <a:gd name="connsiteY59" fmla="*/ 98933 h 600018"/>
              <a:gd name="connsiteX60" fmla="*/ 269969 w 579906"/>
              <a:gd name="connsiteY60" fmla="*/ 151593 h 600018"/>
              <a:gd name="connsiteX61" fmla="*/ 263406 w 579906"/>
              <a:gd name="connsiteY61" fmla="*/ 175410 h 600018"/>
              <a:gd name="connsiteX62" fmla="*/ 239561 w 579906"/>
              <a:gd name="connsiteY62" fmla="*/ 169074 h 600018"/>
              <a:gd name="connsiteX63" fmla="*/ 178527 w 579906"/>
              <a:gd name="connsiteY63" fmla="*/ 133894 h 600018"/>
              <a:gd name="connsiteX64" fmla="*/ 117711 w 579906"/>
              <a:gd name="connsiteY64" fmla="*/ 169074 h 600018"/>
              <a:gd name="connsiteX65" fmla="*/ 102398 w 579906"/>
              <a:gd name="connsiteY65" fmla="*/ 177814 h 600018"/>
              <a:gd name="connsiteX66" fmla="*/ 93648 w 579906"/>
              <a:gd name="connsiteY66" fmla="*/ 175410 h 600018"/>
              <a:gd name="connsiteX67" fmla="*/ 87304 w 579906"/>
              <a:gd name="connsiteY67" fmla="*/ 151593 h 600018"/>
              <a:gd name="connsiteX68" fmla="*/ 178527 w 579906"/>
              <a:gd name="connsiteY68" fmla="*/ 98933 h 600018"/>
              <a:gd name="connsiteX69" fmla="*/ 97344 w 579906"/>
              <a:gd name="connsiteY69" fmla="*/ 34948 h 600018"/>
              <a:gd name="connsiteX70" fmla="*/ 75031 w 579906"/>
              <a:gd name="connsiteY70" fmla="*/ 75357 h 600018"/>
              <a:gd name="connsiteX71" fmla="*/ 35219 w 579906"/>
              <a:gd name="connsiteY71" fmla="*/ 97200 h 600018"/>
              <a:gd name="connsiteX72" fmla="*/ 289844 w 579906"/>
              <a:gd name="connsiteY72" fmla="*/ 561793 h 600018"/>
              <a:gd name="connsiteX73" fmla="*/ 544687 w 579906"/>
              <a:gd name="connsiteY73" fmla="*/ 97200 h 600018"/>
              <a:gd name="connsiteX74" fmla="*/ 504656 w 579906"/>
              <a:gd name="connsiteY74" fmla="*/ 75357 h 600018"/>
              <a:gd name="connsiteX75" fmla="*/ 482562 w 579906"/>
              <a:gd name="connsiteY75" fmla="*/ 34948 h 600018"/>
              <a:gd name="connsiteX76" fmla="*/ 81594 w 579906"/>
              <a:gd name="connsiteY76" fmla="*/ 0 h 600018"/>
              <a:gd name="connsiteX77" fmla="*/ 498312 w 579906"/>
              <a:gd name="connsiteY77" fmla="*/ 0 h 600018"/>
              <a:gd name="connsiteX78" fmla="*/ 510562 w 579906"/>
              <a:gd name="connsiteY78" fmla="*/ 5024 h 600018"/>
              <a:gd name="connsiteX79" fmla="*/ 515812 w 579906"/>
              <a:gd name="connsiteY79" fmla="*/ 17474 h 600018"/>
              <a:gd name="connsiteX80" fmla="*/ 529375 w 579906"/>
              <a:gd name="connsiteY80" fmla="*/ 50457 h 600018"/>
              <a:gd name="connsiteX81" fmla="*/ 562187 w 579906"/>
              <a:gd name="connsiteY81" fmla="*/ 63999 h 600018"/>
              <a:gd name="connsiteX82" fmla="*/ 562406 w 579906"/>
              <a:gd name="connsiteY82" fmla="*/ 63999 h 600018"/>
              <a:gd name="connsiteX83" fmla="*/ 574875 w 579906"/>
              <a:gd name="connsiteY83" fmla="*/ 69241 h 600018"/>
              <a:gd name="connsiteX84" fmla="*/ 579906 w 579906"/>
              <a:gd name="connsiteY84" fmla="*/ 81692 h 600018"/>
              <a:gd name="connsiteX85" fmla="*/ 532437 w 579906"/>
              <a:gd name="connsiteY85" fmla="*/ 325019 h 600018"/>
              <a:gd name="connsiteX86" fmla="*/ 299250 w 579906"/>
              <a:gd name="connsiteY86" fmla="*/ 597397 h 600018"/>
              <a:gd name="connsiteX87" fmla="*/ 289844 w 579906"/>
              <a:gd name="connsiteY87" fmla="*/ 600018 h 600018"/>
              <a:gd name="connsiteX88" fmla="*/ 280656 w 579906"/>
              <a:gd name="connsiteY88" fmla="*/ 597397 h 600018"/>
              <a:gd name="connsiteX89" fmla="*/ 47469 w 579906"/>
              <a:gd name="connsiteY89" fmla="*/ 325019 h 600018"/>
              <a:gd name="connsiteX90" fmla="*/ 0 w 579906"/>
              <a:gd name="connsiteY90" fmla="*/ 81692 h 600018"/>
              <a:gd name="connsiteX91" fmla="*/ 5031 w 579906"/>
              <a:gd name="connsiteY91" fmla="*/ 69241 h 600018"/>
              <a:gd name="connsiteX92" fmla="*/ 17500 w 579906"/>
              <a:gd name="connsiteY92" fmla="*/ 63999 h 600018"/>
              <a:gd name="connsiteX93" fmla="*/ 17719 w 579906"/>
              <a:gd name="connsiteY93" fmla="*/ 63999 h 600018"/>
              <a:gd name="connsiteX94" fmla="*/ 50312 w 579906"/>
              <a:gd name="connsiteY94" fmla="*/ 50457 h 600018"/>
              <a:gd name="connsiteX95" fmla="*/ 64094 w 579906"/>
              <a:gd name="connsiteY95" fmla="*/ 17474 h 600018"/>
              <a:gd name="connsiteX96" fmla="*/ 69344 w 579906"/>
              <a:gd name="connsiteY96" fmla="*/ 5024 h 600018"/>
              <a:gd name="connsiteX97" fmla="*/ 81594 w 579906"/>
              <a:gd name="connsiteY97" fmla="*/ 0 h 60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79906" h="600018">
                <a:moveTo>
                  <a:pt x="255941" y="386840"/>
                </a:moveTo>
                <a:lnTo>
                  <a:pt x="323966" y="386840"/>
                </a:lnTo>
                <a:lnTo>
                  <a:pt x="289844" y="504190"/>
                </a:lnTo>
                <a:close/>
                <a:moveTo>
                  <a:pt x="271909" y="342736"/>
                </a:moveTo>
                <a:lnTo>
                  <a:pt x="307780" y="342736"/>
                </a:lnTo>
                <a:cubicBezTo>
                  <a:pt x="314342" y="342736"/>
                  <a:pt x="319591" y="347975"/>
                  <a:pt x="319591" y="354305"/>
                </a:cubicBezTo>
                <a:cubicBezTo>
                  <a:pt x="319591" y="360854"/>
                  <a:pt x="314342" y="366093"/>
                  <a:pt x="307780" y="366093"/>
                </a:cubicBezTo>
                <a:lnTo>
                  <a:pt x="271909" y="366093"/>
                </a:lnTo>
                <a:cubicBezTo>
                  <a:pt x="265566" y="366093"/>
                  <a:pt x="260316" y="360854"/>
                  <a:pt x="260316" y="354305"/>
                </a:cubicBezTo>
                <a:cubicBezTo>
                  <a:pt x="260316" y="347975"/>
                  <a:pt x="265566" y="342736"/>
                  <a:pt x="271909" y="342736"/>
                </a:cubicBezTo>
                <a:close/>
                <a:moveTo>
                  <a:pt x="254411" y="286783"/>
                </a:moveTo>
                <a:lnTo>
                  <a:pt x="325495" y="286783"/>
                </a:lnTo>
                <a:cubicBezTo>
                  <a:pt x="331619" y="286783"/>
                  <a:pt x="337306" y="290062"/>
                  <a:pt x="340368" y="295307"/>
                </a:cubicBezTo>
                <a:lnTo>
                  <a:pt x="357647" y="323502"/>
                </a:lnTo>
                <a:lnTo>
                  <a:pt x="405328" y="323502"/>
                </a:lnTo>
                <a:lnTo>
                  <a:pt x="420419" y="295963"/>
                </a:lnTo>
                <a:cubicBezTo>
                  <a:pt x="425231" y="287439"/>
                  <a:pt x="435730" y="284379"/>
                  <a:pt x="444260" y="288969"/>
                </a:cubicBezTo>
                <a:cubicBezTo>
                  <a:pt x="452790" y="293777"/>
                  <a:pt x="455852" y="304269"/>
                  <a:pt x="451259" y="312793"/>
                </a:cubicBezTo>
                <a:lnTo>
                  <a:pt x="430918" y="349512"/>
                </a:lnTo>
                <a:cubicBezTo>
                  <a:pt x="427856" y="354976"/>
                  <a:pt x="421951" y="358473"/>
                  <a:pt x="415608" y="358473"/>
                </a:cubicBezTo>
                <a:lnTo>
                  <a:pt x="347804" y="358473"/>
                </a:lnTo>
                <a:cubicBezTo>
                  <a:pt x="341680" y="358473"/>
                  <a:pt x="335994" y="355413"/>
                  <a:pt x="332713" y="350167"/>
                </a:cubicBezTo>
                <a:lnTo>
                  <a:pt x="315653" y="321754"/>
                </a:lnTo>
                <a:lnTo>
                  <a:pt x="264253" y="321754"/>
                </a:lnTo>
                <a:lnTo>
                  <a:pt x="247193" y="350167"/>
                </a:lnTo>
                <a:cubicBezTo>
                  <a:pt x="243912" y="355413"/>
                  <a:pt x="238226" y="358473"/>
                  <a:pt x="232102" y="358473"/>
                </a:cubicBezTo>
                <a:lnTo>
                  <a:pt x="164298" y="358473"/>
                </a:lnTo>
                <a:cubicBezTo>
                  <a:pt x="157737" y="358473"/>
                  <a:pt x="152050" y="354976"/>
                  <a:pt x="148769" y="349512"/>
                </a:cubicBezTo>
                <a:lnTo>
                  <a:pt x="128647" y="312793"/>
                </a:lnTo>
                <a:cubicBezTo>
                  <a:pt x="124054" y="304269"/>
                  <a:pt x="127116" y="293777"/>
                  <a:pt x="135646" y="288969"/>
                </a:cubicBezTo>
                <a:cubicBezTo>
                  <a:pt x="143957" y="284379"/>
                  <a:pt x="154675" y="287439"/>
                  <a:pt x="159268" y="295963"/>
                </a:cubicBezTo>
                <a:lnTo>
                  <a:pt x="174578" y="323502"/>
                </a:lnTo>
                <a:lnTo>
                  <a:pt x="222259" y="323502"/>
                </a:lnTo>
                <a:lnTo>
                  <a:pt x="239319" y="295307"/>
                </a:lnTo>
                <a:cubicBezTo>
                  <a:pt x="242600" y="290062"/>
                  <a:pt x="248287" y="286783"/>
                  <a:pt x="254411" y="286783"/>
                </a:cubicBezTo>
                <a:close/>
                <a:moveTo>
                  <a:pt x="379524" y="160325"/>
                </a:moveTo>
                <a:lnTo>
                  <a:pt x="425909" y="160325"/>
                </a:lnTo>
                <a:cubicBezTo>
                  <a:pt x="432254" y="160325"/>
                  <a:pt x="437505" y="165564"/>
                  <a:pt x="437505" y="172113"/>
                </a:cubicBezTo>
                <a:cubicBezTo>
                  <a:pt x="437505" y="178443"/>
                  <a:pt x="432254" y="183682"/>
                  <a:pt x="425909" y="183682"/>
                </a:cubicBezTo>
                <a:lnTo>
                  <a:pt x="379524" y="183682"/>
                </a:lnTo>
                <a:cubicBezTo>
                  <a:pt x="373179" y="183682"/>
                  <a:pt x="367928" y="178443"/>
                  <a:pt x="367928" y="172113"/>
                </a:cubicBezTo>
                <a:cubicBezTo>
                  <a:pt x="367928" y="165564"/>
                  <a:pt x="373179" y="160325"/>
                  <a:pt x="379524" y="160325"/>
                </a:cubicBezTo>
                <a:close/>
                <a:moveTo>
                  <a:pt x="156819" y="160325"/>
                </a:moveTo>
                <a:lnTo>
                  <a:pt x="203204" y="160325"/>
                </a:lnTo>
                <a:cubicBezTo>
                  <a:pt x="209549" y="160325"/>
                  <a:pt x="214800" y="165564"/>
                  <a:pt x="214800" y="172113"/>
                </a:cubicBezTo>
                <a:cubicBezTo>
                  <a:pt x="214800" y="178443"/>
                  <a:pt x="209549" y="183682"/>
                  <a:pt x="203204" y="183682"/>
                </a:cubicBezTo>
                <a:lnTo>
                  <a:pt x="156819" y="183682"/>
                </a:lnTo>
                <a:cubicBezTo>
                  <a:pt x="150474" y="183682"/>
                  <a:pt x="145223" y="178443"/>
                  <a:pt x="145223" y="172113"/>
                </a:cubicBezTo>
                <a:cubicBezTo>
                  <a:pt x="145223" y="165564"/>
                  <a:pt x="150474" y="160325"/>
                  <a:pt x="156819" y="160325"/>
                </a:cubicBezTo>
                <a:close/>
                <a:moveTo>
                  <a:pt x="401161" y="98933"/>
                </a:moveTo>
                <a:cubicBezTo>
                  <a:pt x="438788" y="98933"/>
                  <a:pt x="473571" y="119254"/>
                  <a:pt x="492385" y="151593"/>
                </a:cubicBezTo>
                <a:cubicBezTo>
                  <a:pt x="497416" y="159896"/>
                  <a:pt x="494353" y="170603"/>
                  <a:pt x="486040" y="175410"/>
                </a:cubicBezTo>
                <a:cubicBezTo>
                  <a:pt x="477728" y="180436"/>
                  <a:pt x="467008" y="177377"/>
                  <a:pt x="462196" y="169074"/>
                </a:cubicBezTo>
                <a:cubicBezTo>
                  <a:pt x="449726" y="147441"/>
                  <a:pt x="426319" y="133894"/>
                  <a:pt x="401161" y="133894"/>
                </a:cubicBezTo>
                <a:cubicBezTo>
                  <a:pt x="376222" y="133894"/>
                  <a:pt x="352815" y="147441"/>
                  <a:pt x="340346" y="169074"/>
                </a:cubicBezTo>
                <a:cubicBezTo>
                  <a:pt x="337064" y="174755"/>
                  <a:pt x="331158" y="177814"/>
                  <a:pt x="325032" y="177814"/>
                </a:cubicBezTo>
                <a:cubicBezTo>
                  <a:pt x="322188" y="177814"/>
                  <a:pt x="319126" y="177158"/>
                  <a:pt x="316282" y="175410"/>
                </a:cubicBezTo>
                <a:cubicBezTo>
                  <a:pt x="307969" y="170603"/>
                  <a:pt x="305125" y="159896"/>
                  <a:pt x="309938" y="151593"/>
                </a:cubicBezTo>
                <a:cubicBezTo>
                  <a:pt x="328751" y="119254"/>
                  <a:pt x="363753" y="98933"/>
                  <a:pt x="401161" y="98933"/>
                </a:cubicBezTo>
                <a:close/>
                <a:moveTo>
                  <a:pt x="178527" y="98933"/>
                </a:moveTo>
                <a:cubicBezTo>
                  <a:pt x="216154" y="98933"/>
                  <a:pt x="251156" y="119254"/>
                  <a:pt x="269969" y="151593"/>
                </a:cubicBezTo>
                <a:cubicBezTo>
                  <a:pt x="274782" y="159896"/>
                  <a:pt x="271938" y="170603"/>
                  <a:pt x="263406" y="175410"/>
                </a:cubicBezTo>
                <a:cubicBezTo>
                  <a:pt x="255093" y="180436"/>
                  <a:pt x="244374" y="177377"/>
                  <a:pt x="239561" y="169074"/>
                </a:cubicBezTo>
                <a:cubicBezTo>
                  <a:pt x="227092" y="147441"/>
                  <a:pt x="203685" y="133894"/>
                  <a:pt x="178527" y="133894"/>
                </a:cubicBezTo>
                <a:cubicBezTo>
                  <a:pt x="153588" y="133894"/>
                  <a:pt x="130181" y="147441"/>
                  <a:pt x="117711" y="169074"/>
                </a:cubicBezTo>
                <a:cubicBezTo>
                  <a:pt x="114430" y="174755"/>
                  <a:pt x="108524" y="177814"/>
                  <a:pt x="102398" y="177814"/>
                </a:cubicBezTo>
                <a:cubicBezTo>
                  <a:pt x="99554" y="177814"/>
                  <a:pt x="96492" y="177158"/>
                  <a:pt x="93648" y="175410"/>
                </a:cubicBezTo>
                <a:cubicBezTo>
                  <a:pt x="85335" y="170603"/>
                  <a:pt x="82491" y="159896"/>
                  <a:pt x="87304" y="151593"/>
                </a:cubicBezTo>
                <a:cubicBezTo>
                  <a:pt x="106117" y="119254"/>
                  <a:pt x="141119" y="98933"/>
                  <a:pt x="178527" y="98933"/>
                </a:cubicBezTo>
                <a:close/>
                <a:moveTo>
                  <a:pt x="97344" y="34948"/>
                </a:moveTo>
                <a:cubicBezTo>
                  <a:pt x="94062" y="50020"/>
                  <a:pt x="86406" y="63999"/>
                  <a:pt x="75031" y="75357"/>
                </a:cubicBezTo>
                <a:cubicBezTo>
                  <a:pt x="63875" y="86497"/>
                  <a:pt x="50094" y="93923"/>
                  <a:pt x="35219" y="97200"/>
                </a:cubicBezTo>
                <a:cubicBezTo>
                  <a:pt x="38500" y="218645"/>
                  <a:pt x="78531" y="425058"/>
                  <a:pt x="289844" y="561793"/>
                </a:cubicBezTo>
                <a:cubicBezTo>
                  <a:pt x="501375" y="425058"/>
                  <a:pt x="541406" y="218645"/>
                  <a:pt x="544687" y="97200"/>
                </a:cubicBezTo>
                <a:cubicBezTo>
                  <a:pt x="529594" y="93923"/>
                  <a:pt x="515812" y="86497"/>
                  <a:pt x="504656" y="75357"/>
                </a:cubicBezTo>
                <a:cubicBezTo>
                  <a:pt x="493500" y="63999"/>
                  <a:pt x="485844" y="50020"/>
                  <a:pt x="482562" y="34948"/>
                </a:cubicBezTo>
                <a:close/>
                <a:moveTo>
                  <a:pt x="81594" y="0"/>
                </a:moveTo>
                <a:lnTo>
                  <a:pt x="498312" y="0"/>
                </a:lnTo>
                <a:cubicBezTo>
                  <a:pt x="502906" y="0"/>
                  <a:pt x="507281" y="1747"/>
                  <a:pt x="510562" y="5024"/>
                </a:cubicBezTo>
                <a:cubicBezTo>
                  <a:pt x="513844" y="8300"/>
                  <a:pt x="515812" y="12887"/>
                  <a:pt x="515812" y="17474"/>
                </a:cubicBezTo>
                <a:cubicBezTo>
                  <a:pt x="515812" y="29924"/>
                  <a:pt x="520625" y="41719"/>
                  <a:pt x="529375" y="50457"/>
                </a:cubicBezTo>
                <a:cubicBezTo>
                  <a:pt x="538125" y="59194"/>
                  <a:pt x="549937" y="63999"/>
                  <a:pt x="562187" y="63999"/>
                </a:cubicBezTo>
                <a:cubicBezTo>
                  <a:pt x="562187" y="63999"/>
                  <a:pt x="562406" y="63999"/>
                  <a:pt x="562406" y="63999"/>
                </a:cubicBezTo>
                <a:cubicBezTo>
                  <a:pt x="567000" y="63999"/>
                  <a:pt x="571594" y="65965"/>
                  <a:pt x="574875" y="69241"/>
                </a:cubicBezTo>
                <a:cubicBezTo>
                  <a:pt x="578156" y="72518"/>
                  <a:pt x="579906" y="76886"/>
                  <a:pt x="579906" y="81692"/>
                </a:cubicBezTo>
                <a:cubicBezTo>
                  <a:pt x="579687" y="140448"/>
                  <a:pt x="571375" y="230440"/>
                  <a:pt x="532437" y="325019"/>
                </a:cubicBezTo>
                <a:cubicBezTo>
                  <a:pt x="485625" y="438382"/>
                  <a:pt x="407094" y="530121"/>
                  <a:pt x="299250" y="597397"/>
                </a:cubicBezTo>
                <a:cubicBezTo>
                  <a:pt x="296406" y="599144"/>
                  <a:pt x="293125" y="600018"/>
                  <a:pt x="289844" y="600018"/>
                </a:cubicBezTo>
                <a:cubicBezTo>
                  <a:pt x="286781" y="600018"/>
                  <a:pt x="283500" y="599144"/>
                  <a:pt x="280656" y="597397"/>
                </a:cubicBezTo>
                <a:cubicBezTo>
                  <a:pt x="172594" y="530121"/>
                  <a:pt x="94281" y="438382"/>
                  <a:pt x="47469" y="325019"/>
                </a:cubicBezTo>
                <a:cubicBezTo>
                  <a:pt x="8531" y="230440"/>
                  <a:pt x="219" y="140448"/>
                  <a:pt x="0" y="81692"/>
                </a:cubicBezTo>
                <a:cubicBezTo>
                  <a:pt x="0" y="76886"/>
                  <a:pt x="1750" y="72518"/>
                  <a:pt x="5031" y="69241"/>
                </a:cubicBezTo>
                <a:cubicBezTo>
                  <a:pt x="8312" y="65965"/>
                  <a:pt x="12906" y="63999"/>
                  <a:pt x="17500" y="63999"/>
                </a:cubicBezTo>
                <a:cubicBezTo>
                  <a:pt x="17500" y="63999"/>
                  <a:pt x="17500" y="63999"/>
                  <a:pt x="17719" y="63999"/>
                </a:cubicBezTo>
                <a:cubicBezTo>
                  <a:pt x="29969" y="63999"/>
                  <a:pt x="41562" y="59194"/>
                  <a:pt x="50312" y="50457"/>
                </a:cubicBezTo>
                <a:cubicBezTo>
                  <a:pt x="59281" y="41719"/>
                  <a:pt x="64094" y="29924"/>
                  <a:pt x="64094" y="17474"/>
                </a:cubicBezTo>
                <a:cubicBezTo>
                  <a:pt x="64094" y="12887"/>
                  <a:pt x="66062" y="8300"/>
                  <a:pt x="69344" y="5024"/>
                </a:cubicBezTo>
                <a:cubicBezTo>
                  <a:pt x="72625" y="1747"/>
                  <a:pt x="77000" y="0"/>
                  <a:pt x="81594"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组合 57">
            <a:extLst>
              <a:ext uri="{FF2B5EF4-FFF2-40B4-BE49-F238E27FC236}">
                <a16:creationId xmlns:a16="http://schemas.microsoft.com/office/drawing/2014/main" id="{5EB20705-EEB9-41DD-B899-8DC8DAE8F7A3}"/>
              </a:ext>
            </a:extLst>
          </p:cNvPr>
          <p:cNvGrpSpPr/>
          <p:nvPr/>
        </p:nvGrpSpPr>
        <p:grpSpPr>
          <a:xfrm>
            <a:off x="5283288" y="2460159"/>
            <a:ext cx="1121402" cy="1121402"/>
            <a:chOff x="4559168" y="3417941"/>
            <a:chExt cx="1121402" cy="1121402"/>
          </a:xfrm>
        </p:grpSpPr>
        <p:pic>
          <p:nvPicPr>
            <p:cNvPr id="59" name="图片 58">
              <a:extLst>
                <a:ext uri="{FF2B5EF4-FFF2-40B4-BE49-F238E27FC236}">
                  <a16:creationId xmlns:a16="http://schemas.microsoft.com/office/drawing/2014/main" id="{2508CFFE-99B8-459B-B144-32C3D5EF61C4}"/>
                </a:ext>
              </a:extLst>
            </p:cNvPr>
            <p:cNvPicPr>
              <a:picLocks noChangeAspect="1"/>
            </p:cNvPicPr>
            <p:nvPr/>
          </p:nvPicPr>
          <p:blipFill>
            <a:blip r:embed="rId4"/>
            <a:stretch>
              <a:fillRect/>
            </a:stretch>
          </p:blipFill>
          <p:spPr>
            <a:xfrm>
              <a:off x="4559168" y="3417941"/>
              <a:ext cx="1121402" cy="1121402"/>
            </a:xfrm>
            <a:prstGeom prst="rect">
              <a:avLst/>
            </a:prstGeom>
          </p:spPr>
        </p:pic>
        <p:pic>
          <p:nvPicPr>
            <p:cNvPr id="60" name="图片 59">
              <a:extLst>
                <a:ext uri="{FF2B5EF4-FFF2-40B4-BE49-F238E27FC236}">
                  <a16:creationId xmlns:a16="http://schemas.microsoft.com/office/drawing/2014/main" id="{0F8B9D68-B426-4068-9689-3A5D9D5E2DF8}"/>
                </a:ext>
              </a:extLst>
            </p:cNvPr>
            <p:cNvPicPr>
              <a:picLocks noChangeAspect="1"/>
            </p:cNvPicPr>
            <p:nvPr/>
          </p:nvPicPr>
          <p:blipFill>
            <a:blip r:embed="rId6"/>
            <a:stretch>
              <a:fillRect/>
            </a:stretch>
          </p:blipFill>
          <p:spPr>
            <a:xfrm>
              <a:off x="4893765" y="3787410"/>
              <a:ext cx="515169" cy="515169"/>
            </a:xfrm>
            <a:prstGeom prst="rect">
              <a:avLst/>
            </a:prstGeom>
          </p:spPr>
        </p:pic>
      </p:grpSp>
      <p:sp>
        <p:nvSpPr>
          <p:cNvPr id="61" name="文本框 60">
            <a:extLst>
              <a:ext uri="{FF2B5EF4-FFF2-40B4-BE49-F238E27FC236}">
                <a16:creationId xmlns:a16="http://schemas.microsoft.com/office/drawing/2014/main" id="{8B768DF8-431C-4A43-8823-1088848E5E3D}"/>
              </a:ext>
            </a:extLst>
          </p:cNvPr>
          <p:cNvSpPr txBox="1"/>
          <p:nvPr/>
        </p:nvSpPr>
        <p:spPr>
          <a:xfrm>
            <a:off x="5112891" y="3638255"/>
            <a:ext cx="1863009" cy="369332"/>
          </a:xfrm>
          <a:prstGeom prst="rect">
            <a:avLst/>
          </a:prstGeom>
          <a:noFill/>
        </p:spPr>
        <p:txBody>
          <a:bodyPr wrap="square">
            <a:spAutoFit/>
          </a:bodyPr>
          <a:lstStyle/>
          <a:p>
            <a:pPr lvl="1"/>
            <a:r>
              <a:rPr kumimoji="1" lang="en-US" altLang="zh-CN" dirty="0">
                <a:latin typeface="微软雅黑" panose="020B0503020204020204" pitchFamily="34" charset="-122"/>
                <a:ea typeface="微软雅黑" panose="020B0503020204020204" pitchFamily="34" charset="-122"/>
              </a:rPr>
              <a:t>Bot</a:t>
            </a:r>
          </a:p>
        </p:txBody>
      </p:sp>
      <p:sp>
        <p:nvSpPr>
          <p:cNvPr id="62" name="文本框 61">
            <a:extLst>
              <a:ext uri="{FF2B5EF4-FFF2-40B4-BE49-F238E27FC236}">
                <a16:creationId xmlns:a16="http://schemas.microsoft.com/office/drawing/2014/main" id="{D3ACBD8E-0A12-464F-86FD-3BD7609E5117}"/>
              </a:ext>
            </a:extLst>
          </p:cNvPr>
          <p:cNvSpPr txBox="1"/>
          <p:nvPr/>
        </p:nvSpPr>
        <p:spPr>
          <a:xfrm>
            <a:off x="6311672" y="1510758"/>
            <a:ext cx="1060785" cy="369332"/>
          </a:xfrm>
          <a:prstGeom prst="rect">
            <a:avLst/>
          </a:prstGeom>
          <a:noFill/>
        </p:spPr>
        <p:txBody>
          <a:bodyPr wrap="square">
            <a:spAutoFit/>
          </a:bodyPr>
          <a:lstStyle/>
          <a:p>
            <a:r>
              <a:rPr kumimoji="1" lang="zh-CN" altLang="en-US" dirty="0">
                <a:latin typeface="微软雅黑" panose="020B0503020204020204" pitchFamily="34" charset="-122"/>
                <a:ea typeface="微软雅黑" panose="020B0503020204020204" pitchFamily="34" charset="-122"/>
              </a:rPr>
              <a:t>攻击者</a:t>
            </a:r>
            <a:endParaRPr lang="zh-CN" altLang="en-US" dirty="0">
              <a:latin typeface="微软雅黑" panose="020B0503020204020204" pitchFamily="34" charset="-122"/>
              <a:ea typeface="微软雅黑" panose="020B0503020204020204" pitchFamily="34" charset="-122"/>
            </a:endParaRPr>
          </a:p>
        </p:txBody>
      </p:sp>
      <p:cxnSp>
        <p:nvCxnSpPr>
          <p:cNvPr id="205" name="直接箭头连接符 204">
            <a:extLst>
              <a:ext uri="{FF2B5EF4-FFF2-40B4-BE49-F238E27FC236}">
                <a16:creationId xmlns:a16="http://schemas.microsoft.com/office/drawing/2014/main" id="{29D62B63-5186-4DD8-9840-DB7CD0BC6EBC}"/>
              </a:ext>
            </a:extLst>
          </p:cNvPr>
          <p:cNvCxnSpPr/>
          <p:nvPr/>
        </p:nvCxnSpPr>
        <p:spPr>
          <a:xfrm>
            <a:off x="5845629" y="2114550"/>
            <a:ext cx="0" cy="52251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灯片编号占位符 3">
            <a:extLst>
              <a:ext uri="{FF2B5EF4-FFF2-40B4-BE49-F238E27FC236}">
                <a16:creationId xmlns:a16="http://schemas.microsoft.com/office/drawing/2014/main" id="{6EA26F81-EC61-4025-B964-8248EAFC5233}"/>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133</a:t>
            </a:fld>
            <a:endParaRPr kumimoji="1" lang="zh-CN" altLang="en-US" dirty="0"/>
          </a:p>
        </p:txBody>
      </p:sp>
      <p:sp>
        <p:nvSpPr>
          <p:cNvPr id="30" name="文本框 29">
            <a:extLst>
              <a:ext uri="{FF2B5EF4-FFF2-40B4-BE49-F238E27FC236}">
                <a16:creationId xmlns:a16="http://schemas.microsoft.com/office/drawing/2014/main" id="{4ABA44F1-16FA-4011-8964-3DDBF16D85EB}"/>
              </a:ext>
            </a:extLst>
          </p:cNvPr>
          <p:cNvSpPr txBox="1"/>
          <p:nvPr/>
        </p:nvSpPr>
        <p:spPr>
          <a:xfrm>
            <a:off x="10102842" y="2994527"/>
            <a:ext cx="1531769" cy="369332"/>
          </a:xfrm>
          <a:prstGeom prst="rect">
            <a:avLst/>
          </a:prstGeom>
          <a:noFill/>
        </p:spPr>
        <p:txBody>
          <a:bodyPr wrap="square">
            <a:spAutoFit/>
          </a:bodyPr>
          <a:lstStyle/>
          <a:p>
            <a:r>
              <a:rPr kumimoji="1" lang="zh-CN" altLang="en-US" dirty="0">
                <a:latin typeface="微软雅黑" panose="020B0503020204020204" pitchFamily="34" charset="-122"/>
                <a:ea typeface="微软雅黑" panose="020B0503020204020204" pitchFamily="34" charset="-122"/>
              </a:rPr>
              <a:t>目标服务器</a:t>
            </a:r>
            <a:endParaRPr lang="zh-CN" altLang="en-US" dirty="0">
              <a:latin typeface="微软雅黑" panose="020B0503020204020204" pitchFamily="34" charset="-122"/>
              <a:ea typeface="微软雅黑" panose="020B0503020204020204" pitchFamily="34" charset="-122"/>
            </a:endParaRPr>
          </a:p>
        </p:txBody>
      </p:sp>
      <p:sp>
        <p:nvSpPr>
          <p:cNvPr id="31" name="日期占位符 9">
            <a:extLst>
              <a:ext uri="{FF2B5EF4-FFF2-40B4-BE49-F238E27FC236}">
                <a16:creationId xmlns:a16="http://schemas.microsoft.com/office/drawing/2014/main" id="{F6AC6712-79A0-42AA-9C81-37A4A6A7FCE1}"/>
              </a:ext>
            </a:extLst>
          </p:cNvPr>
          <p:cNvSpPr>
            <a:spLocks noGrp="1"/>
          </p:cNvSpPr>
          <p:nvPr>
            <p:ph type="dt" sz="half" idx="10"/>
          </p:nvPr>
        </p:nvSpPr>
        <p:spPr>
          <a:xfrm>
            <a:off x="216817" y="6487109"/>
            <a:ext cx="2743200" cy="365125"/>
          </a:xfrm>
        </p:spPr>
        <p:txBody>
          <a:bodyPr/>
          <a:lstStyle/>
          <a:p>
            <a:r>
              <a:rPr kumimoji="1" lang="en-US" altLang="zh-CN" dirty="0"/>
              <a:t>8.2.4  </a:t>
            </a:r>
            <a:r>
              <a:rPr kumimoji="1" lang="en-US" altLang="zh-CN" dirty="0" err="1"/>
              <a:t>DDos</a:t>
            </a:r>
            <a:r>
              <a:rPr kumimoji="1" lang="zh-CN" altLang="en-US" dirty="0"/>
              <a:t>攻击</a:t>
            </a:r>
          </a:p>
        </p:txBody>
      </p:sp>
    </p:spTree>
    <p:custDataLst>
      <p:tags r:id="rId1"/>
    </p:custDataLst>
    <p:extLst>
      <p:ext uri="{BB962C8B-B14F-4D97-AF65-F5344CB8AC3E}">
        <p14:creationId xmlns:p14="http://schemas.microsoft.com/office/powerpoint/2010/main" val="348051305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10.11.1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攻击描述</a:t>
            </a:r>
            <a:endParaRPr lang="zh-CN" altLang="en-US" dirty="0"/>
          </a:p>
        </p:txBody>
      </p:sp>
      <p:sp>
        <p:nvSpPr>
          <p:cNvPr id="3" name="内容占位符 2"/>
          <p:cNvSpPr>
            <a:spLocks noGrp="1"/>
          </p:cNvSpPr>
          <p:nvPr>
            <p:ph idx="1"/>
          </p:nvPr>
        </p:nvSpPr>
        <p:spPr>
          <a:xfrm>
            <a:off x="838200" y="1510757"/>
            <a:ext cx="10515600" cy="4735663"/>
          </a:xfrm>
        </p:spPr>
        <p:txBody>
          <a:bodyPr>
            <a:normAutofit/>
          </a:bodyPr>
          <a:lstStyle/>
          <a:p>
            <a:r>
              <a:rPr lang="en-US" altLang="zh-CN" dirty="0"/>
              <a:t>SYN</a:t>
            </a:r>
            <a:r>
              <a:rPr lang="zh-CN" altLang="en-US" dirty="0"/>
              <a:t>突发流量攻击步骤：</a:t>
            </a:r>
            <a:endParaRPr lang="en-US" altLang="zh-CN" dirty="0"/>
          </a:p>
          <a:p>
            <a:pPr lvl="1">
              <a:lnSpc>
                <a:spcPct val="120000"/>
              </a:lnSpc>
            </a:pPr>
            <a:r>
              <a:rPr lang="zh-CN" altLang="en-US" dirty="0"/>
              <a:t>（</a:t>
            </a:r>
            <a:r>
              <a:rPr lang="en-US" altLang="zh-CN" dirty="0"/>
              <a:t>1</a:t>
            </a:r>
            <a:r>
              <a:rPr lang="zh-CN" altLang="en-US" dirty="0"/>
              <a:t>）攻击者获取互联网上多个主机的控制权，并指示它们与目标网络服务器取得联系。</a:t>
            </a:r>
            <a:endParaRPr lang="en-US" altLang="zh-CN" dirty="0"/>
          </a:p>
          <a:p>
            <a:pPr lvl="1">
              <a:lnSpc>
                <a:spcPct val="120000"/>
              </a:lnSpc>
            </a:pPr>
            <a:r>
              <a:rPr lang="zh-CN" altLang="en-US" dirty="0"/>
              <a:t>（</a:t>
            </a:r>
            <a:r>
              <a:rPr lang="en-US" altLang="zh-CN" dirty="0"/>
              <a:t>2</a:t>
            </a:r>
            <a:r>
              <a:rPr lang="zh-CN" altLang="en-US" dirty="0"/>
              <a:t>）被夺取控制权的主机开始向目标服务器发送</a:t>
            </a:r>
            <a:r>
              <a:rPr lang="en-US" altLang="zh-CN" dirty="0"/>
              <a:t>TCP/IPSYN</a:t>
            </a:r>
            <a:r>
              <a:rPr lang="zh-CN" altLang="en-US" dirty="0"/>
              <a:t>（同步</a:t>
            </a:r>
            <a:r>
              <a:rPr lang="en-US" altLang="zh-CN" dirty="0"/>
              <a:t>/</a:t>
            </a:r>
            <a:r>
              <a:rPr lang="zh-CN" altLang="en-US" dirty="0"/>
              <a:t>初始化）封包，并</a:t>
            </a:r>
            <a:r>
              <a:rPr lang="zh-CN" altLang="en-US" dirty="0">
                <a:solidFill>
                  <a:srgbClr val="C00000"/>
                </a:solidFill>
              </a:rPr>
              <a:t>提供错误的返回</a:t>
            </a:r>
            <a:r>
              <a:rPr lang="en-US" altLang="zh-CN" dirty="0">
                <a:solidFill>
                  <a:srgbClr val="C00000"/>
                </a:solidFill>
              </a:rPr>
              <a:t>IP</a:t>
            </a:r>
            <a:r>
              <a:rPr lang="zh-CN" altLang="en-US" dirty="0">
                <a:solidFill>
                  <a:srgbClr val="C00000"/>
                </a:solidFill>
              </a:rPr>
              <a:t>地址</a:t>
            </a:r>
            <a:r>
              <a:rPr lang="zh-CN" altLang="en-US" dirty="0"/>
              <a:t>信息。</a:t>
            </a:r>
            <a:endParaRPr lang="en-US" altLang="zh-CN" dirty="0"/>
          </a:p>
          <a:p>
            <a:pPr lvl="1">
              <a:lnSpc>
                <a:spcPct val="120000"/>
              </a:lnSpc>
            </a:pPr>
            <a:r>
              <a:rPr lang="zh-CN" altLang="en-US" dirty="0"/>
              <a:t>（</a:t>
            </a:r>
            <a:r>
              <a:rPr lang="en-US" altLang="zh-CN" dirty="0"/>
              <a:t>3</a:t>
            </a:r>
            <a:r>
              <a:rPr lang="zh-CN" altLang="en-US" dirty="0"/>
              <a:t>）每个</a:t>
            </a:r>
            <a:r>
              <a:rPr lang="en-US" altLang="zh-CN" dirty="0"/>
              <a:t>SYN</a:t>
            </a:r>
            <a:r>
              <a:rPr lang="zh-CN" altLang="en-US" dirty="0"/>
              <a:t>包就是打开一条</a:t>
            </a:r>
            <a:r>
              <a:rPr lang="en-US" altLang="zh-CN" dirty="0"/>
              <a:t>TCP</a:t>
            </a:r>
            <a:r>
              <a:rPr lang="zh-CN" altLang="en-US" dirty="0"/>
              <a:t>连接的请求。对于每个这样的信息包，网络服务器都会使用</a:t>
            </a:r>
            <a:r>
              <a:rPr lang="en-US" altLang="zh-CN" dirty="0"/>
              <a:t>SYN/ACK</a:t>
            </a:r>
            <a:r>
              <a:rPr lang="zh-CN" altLang="en-US" dirty="0"/>
              <a:t>（同步</a:t>
            </a:r>
            <a:r>
              <a:rPr lang="en-US" altLang="zh-CN" dirty="0"/>
              <a:t>/</a:t>
            </a:r>
            <a:r>
              <a:rPr lang="zh-CN" altLang="en-US" dirty="0"/>
              <a:t>响应）封包做出回应，试图与一个使用伪造</a:t>
            </a:r>
            <a:r>
              <a:rPr lang="en-US" altLang="zh-CN" dirty="0"/>
              <a:t>IP</a:t>
            </a:r>
            <a:r>
              <a:rPr lang="zh-CN" altLang="en-US" dirty="0"/>
              <a:t>地址的</a:t>
            </a:r>
            <a:r>
              <a:rPr lang="en-US" altLang="zh-CN" dirty="0"/>
              <a:t>TCP</a:t>
            </a:r>
            <a:r>
              <a:rPr lang="zh-CN" altLang="en-US" dirty="0"/>
              <a:t>实体建立</a:t>
            </a:r>
            <a:r>
              <a:rPr lang="en-US" altLang="zh-CN" dirty="0"/>
              <a:t>TCP</a:t>
            </a:r>
            <a:r>
              <a:rPr lang="zh-CN" altLang="en-US" dirty="0"/>
              <a:t>连接。</a:t>
            </a:r>
            <a:r>
              <a:rPr lang="zh-CN" altLang="en-US" dirty="0">
                <a:solidFill>
                  <a:srgbClr val="C00000"/>
                </a:solidFill>
              </a:rPr>
              <a:t>网络服务器会为每个</a:t>
            </a:r>
            <a:r>
              <a:rPr lang="en-US" altLang="zh-CN" dirty="0">
                <a:solidFill>
                  <a:srgbClr val="C00000"/>
                </a:solidFill>
              </a:rPr>
              <a:t>SYN</a:t>
            </a:r>
            <a:r>
              <a:rPr lang="zh-CN" altLang="en-US" dirty="0">
                <a:solidFill>
                  <a:srgbClr val="C00000"/>
                </a:solidFill>
              </a:rPr>
              <a:t>请求保存数据结构并等待回应</a:t>
            </a:r>
            <a:r>
              <a:rPr lang="zh-CN" altLang="en-US" dirty="0"/>
              <a:t>。这种操作的结果是被攻击的服务器始终在等待着完成与伪造的“半开”连接，而合法用户的连接却被拒绝。</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134</a:t>
            </a:fld>
            <a:endParaRPr kumimoji="1" lang="zh-CN" altLang="en-US" dirty="0"/>
          </a:p>
        </p:txBody>
      </p:sp>
    </p:spTree>
    <p:extLst>
      <p:ext uri="{BB962C8B-B14F-4D97-AF65-F5344CB8AC3E}">
        <p14:creationId xmlns:p14="http://schemas.microsoft.com/office/powerpoint/2010/main" val="99351168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Core Problem"/>
          <p:cNvSpPr txBox="1">
            <a:spLocks noGrp="1"/>
          </p:cNvSpPr>
          <p:nvPr>
            <p:ph type="title"/>
          </p:nvPr>
        </p:nvSpPr>
        <p:spPr>
          <a:prstGeom prst="rect">
            <a:avLst/>
          </a:prstGeom>
        </p:spPr>
        <p:txBody>
          <a:bodyPr>
            <a:normAutofit/>
          </a:bodyPr>
          <a:lstStyle>
            <a:lvl1pPr algn="l">
              <a:defRPr sz="13000">
                <a:latin typeface="Helvetica Neue Bold Condensed"/>
                <a:ea typeface="Helvetica Neue Bold Condensed"/>
                <a:cs typeface="Helvetica Neue Bold Condensed"/>
                <a:sym typeface="Helvetica Neue Bold Condensed"/>
              </a:defRPr>
            </a:lvl1pPr>
          </a:lstStyle>
          <a:p>
            <a:r>
              <a:rPr lang="en-US" altLang="zh-CN" sz="4000" dirty="0">
                <a:latin typeface="Microsoft YaHei" panose="020B0503020204020204" pitchFamily="34" charset="-122"/>
                <a:ea typeface="Microsoft YaHei" panose="020B0503020204020204" pitchFamily="34" charset="-122"/>
              </a:rPr>
              <a:t>Dos</a:t>
            </a:r>
            <a:r>
              <a:rPr lang="zh-CN" altLang="en-US" sz="4000" dirty="0">
                <a:latin typeface="Microsoft YaHei" panose="020B0503020204020204" pitchFamily="34" charset="-122"/>
                <a:ea typeface="Microsoft YaHei" panose="020B0503020204020204" pitchFamily="34" charset="-122"/>
              </a:rPr>
              <a:t>攻击的关键</a:t>
            </a:r>
            <a:endParaRPr sz="4000" dirty="0">
              <a:latin typeface="Microsoft YaHei" panose="020B0503020204020204" pitchFamily="34" charset="-122"/>
              <a:ea typeface="Microsoft YaHei" panose="020B0503020204020204" pitchFamily="34" charset="-122"/>
            </a:endParaRPr>
          </a:p>
        </p:txBody>
      </p:sp>
      <p:sp>
        <p:nvSpPr>
          <p:cNvPr id="201" name="Problem: server commits resources (memory) before confirming identify of the client (when client responds)…"/>
          <p:cNvSpPr txBox="1">
            <a:spLocks noGrp="1"/>
          </p:cNvSpPr>
          <p:nvPr>
            <p:ph idx="1"/>
          </p:nvPr>
        </p:nvSpPr>
        <p:spPr>
          <a:prstGeom prst="rect">
            <a:avLst/>
          </a:prstGeom>
        </p:spPr>
        <p:txBody>
          <a:bodyPr vert="horz" lIns="91440" tIns="45720" rIns="91440" bIns="45720" rtlCol="0">
            <a:normAutofit/>
          </a:bodyPr>
          <a:lstStyle/>
          <a:p>
            <a:r>
              <a:rPr kumimoji="1" lang="zh-CN" altLang="en-US" dirty="0"/>
              <a:t>问题</a:t>
            </a:r>
            <a:r>
              <a:rPr kumimoji="1" dirty="0"/>
              <a:t>:</a:t>
            </a:r>
            <a:r>
              <a:rPr kumimoji="1" lang="zh-CN" altLang="en-US" dirty="0"/>
              <a:t> 服务器分配资源等待客户端响应</a:t>
            </a:r>
            <a:r>
              <a:rPr kumimoji="1" dirty="0"/>
              <a:t> </a:t>
            </a:r>
            <a:endParaRPr kumimoji="1" lang="en-US" altLang="zh-CN" dirty="0"/>
          </a:p>
          <a:p>
            <a:pPr lvl="1"/>
            <a:r>
              <a:rPr kumimoji="1" lang="zh-CN" altLang="en-US" dirty="0"/>
              <a:t>服务器端需要保持状态</a:t>
            </a:r>
            <a:endParaRPr kumimoji="1" lang="en-US" altLang="zh-CN" dirty="0"/>
          </a:p>
          <a:p>
            <a:endParaRPr kumimoji="1" lang="en-US" altLang="zh-CN" dirty="0"/>
          </a:p>
          <a:p>
            <a:r>
              <a:rPr kumimoji="1" lang="zh-CN" altLang="en-US" dirty="0"/>
              <a:t>不实际的解决方案</a:t>
            </a:r>
            <a:r>
              <a:rPr kumimoji="1" dirty="0"/>
              <a:t>:</a:t>
            </a:r>
          </a:p>
          <a:p>
            <a:pPr lvl="1"/>
            <a:r>
              <a:rPr kumimoji="1" lang="zh-CN" altLang="en-US" dirty="0"/>
              <a:t>增加队列规模</a:t>
            </a:r>
            <a:r>
              <a:rPr kumimoji="1" dirty="0"/>
              <a:t> </a:t>
            </a:r>
            <a:r>
              <a:rPr kumimoji="1" lang="zh-CN" altLang="en-US" dirty="0"/>
              <a:t>（</a:t>
            </a:r>
            <a:r>
              <a:rPr kumimoji="1" dirty="0"/>
              <a:t>Increase backlog queue size</a:t>
            </a:r>
            <a:r>
              <a:rPr kumimoji="1" lang="zh-CN" altLang="en-US" dirty="0"/>
              <a:t>）</a:t>
            </a:r>
            <a:endParaRPr kumimoji="1" dirty="0"/>
          </a:p>
          <a:p>
            <a:pPr lvl="1"/>
            <a:r>
              <a:rPr kumimoji="1" lang="zh-CN" altLang="en-US" dirty="0"/>
              <a:t>减少计时器的时长（减小</a:t>
            </a:r>
            <a:r>
              <a:rPr kumimoji="1" lang="en-US" altLang="zh-CN" dirty="0"/>
              <a:t>timeout</a:t>
            </a:r>
            <a:r>
              <a:rPr kumimoji="1" lang="zh-CN" altLang="en-US" dirty="0"/>
              <a:t>）</a:t>
            </a:r>
            <a:endParaRPr kumimoji="1" dirty="0"/>
          </a:p>
          <a:p>
            <a:endParaRPr kumimoji="1" lang="en-US" altLang="zh-CN" dirty="0"/>
          </a:p>
          <a:p>
            <a:r>
              <a:rPr kumimoji="1" lang="zh-CN" altLang="en-US" dirty="0"/>
              <a:t>可行的解决方案：</a:t>
            </a:r>
            <a:endParaRPr kumimoji="1" lang="en-US" altLang="zh-CN" dirty="0"/>
          </a:p>
          <a:p>
            <a:pPr lvl="1"/>
            <a:r>
              <a:rPr kumimoji="1" lang="zh-CN" altLang="en-US" dirty="0">
                <a:solidFill>
                  <a:srgbClr val="5B307E"/>
                </a:solidFill>
              </a:rPr>
              <a:t>避免保持状态</a:t>
            </a:r>
            <a:endParaRPr kumimoji="1" dirty="0">
              <a:solidFill>
                <a:srgbClr val="5B307E"/>
              </a:solidFill>
            </a:endParaRPr>
          </a:p>
        </p:txBody>
      </p:sp>
      <p:grpSp>
        <p:nvGrpSpPr>
          <p:cNvPr id="11" name="组合 10">
            <a:extLst>
              <a:ext uri="{FF2B5EF4-FFF2-40B4-BE49-F238E27FC236}">
                <a16:creationId xmlns:a16="http://schemas.microsoft.com/office/drawing/2014/main" id="{AF15ECCB-7535-4A96-A328-1E2498AFDD24}"/>
              </a:ext>
            </a:extLst>
          </p:cNvPr>
          <p:cNvGrpSpPr/>
          <p:nvPr/>
        </p:nvGrpSpPr>
        <p:grpSpPr>
          <a:xfrm>
            <a:off x="8572500" y="1428750"/>
            <a:ext cx="3118757" cy="1584171"/>
            <a:chOff x="8703128" y="1340306"/>
            <a:chExt cx="3058886" cy="2393862"/>
          </a:xfrm>
        </p:grpSpPr>
        <p:sp>
          <p:nvSpPr>
            <p:cNvPr id="2" name="矩形: 圆角 1">
              <a:extLst>
                <a:ext uri="{FF2B5EF4-FFF2-40B4-BE49-F238E27FC236}">
                  <a16:creationId xmlns:a16="http://schemas.microsoft.com/office/drawing/2014/main" id="{35229C81-CBBC-46E2-85E3-261D06C20C73}"/>
                </a:ext>
              </a:extLst>
            </p:cNvPr>
            <p:cNvSpPr/>
            <p:nvPr/>
          </p:nvSpPr>
          <p:spPr>
            <a:xfrm>
              <a:off x="8703128" y="1340306"/>
              <a:ext cx="1861457" cy="1338942"/>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4CA65FE8-6018-4F7F-8E17-7CBB4FC8E0F4}"/>
                </a:ext>
              </a:extLst>
            </p:cNvPr>
            <p:cNvSpPr/>
            <p:nvPr/>
          </p:nvSpPr>
          <p:spPr>
            <a:xfrm>
              <a:off x="9378042" y="1927773"/>
              <a:ext cx="1861457" cy="1338942"/>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80648D51-C64F-4AB7-92C5-84F425753AAA}"/>
                </a:ext>
              </a:extLst>
            </p:cNvPr>
            <p:cNvSpPr/>
            <p:nvPr/>
          </p:nvSpPr>
          <p:spPr>
            <a:xfrm>
              <a:off x="9530442" y="2080173"/>
              <a:ext cx="1861457" cy="1338942"/>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87284E3D-6B78-47ED-A822-9E20424F4985}"/>
                </a:ext>
              </a:extLst>
            </p:cNvPr>
            <p:cNvSpPr/>
            <p:nvPr/>
          </p:nvSpPr>
          <p:spPr>
            <a:xfrm>
              <a:off x="9682842" y="2232573"/>
              <a:ext cx="1861457" cy="1338942"/>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4D3909D7-A4DE-4465-AEE0-CE0DB7A50BB6}"/>
                </a:ext>
              </a:extLst>
            </p:cNvPr>
            <p:cNvSpPr/>
            <p:nvPr/>
          </p:nvSpPr>
          <p:spPr>
            <a:xfrm>
              <a:off x="9900557" y="2395226"/>
              <a:ext cx="1861457" cy="1338942"/>
            </a:xfrm>
            <a:prstGeom prst="round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89187DC8-4AC8-4CAC-B5BC-7C25CE26B4B4}"/>
                </a:ext>
              </a:extLst>
            </p:cNvPr>
            <p:cNvCxnSpPr>
              <a:cxnSpLocks/>
            </p:cNvCxnSpPr>
            <p:nvPr/>
          </p:nvCxnSpPr>
          <p:spPr>
            <a:xfrm>
              <a:off x="8915655" y="2803171"/>
              <a:ext cx="391630" cy="289220"/>
            </a:xfrm>
            <a:prstGeom prst="line">
              <a:avLst/>
            </a:prstGeom>
            <a:ln w="76200">
              <a:prstDash val="sysDot"/>
            </a:ln>
          </p:spPr>
          <p:style>
            <a:lnRef idx="1">
              <a:schemeClr val="accent1"/>
            </a:lnRef>
            <a:fillRef idx="0">
              <a:schemeClr val="accent1"/>
            </a:fillRef>
            <a:effectRef idx="0">
              <a:schemeClr val="accent1"/>
            </a:effectRef>
            <a:fontRef idx="minor">
              <a:schemeClr val="tx1"/>
            </a:fontRef>
          </p:style>
        </p:cxnSp>
      </p:grpSp>
      <p:pic>
        <p:nvPicPr>
          <p:cNvPr id="13" name="图片 12">
            <a:extLst>
              <a:ext uri="{FF2B5EF4-FFF2-40B4-BE49-F238E27FC236}">
                <a16:creationId xmlns:a16="http://schemas.microsoft.com/office/drawing/2014/main" id="{CF5A1030-C657-4124-A0FA-0CCC8376641B}"/>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0" b="100000" l="0" r="100000">
                        <a14:foregroundMark x1="20703" y1="21094" x2="45117" y2="46680"/>
                        <a14:foregroundMark x1="49609" y1="5859" x2="48633" y2="8398"/>
                      </a14:backgroundRemoval>
                    </a14:imgEffect>
                  </a14:imgLayer>
                </a14:imgProps>
              </a:ext>
            </a:extLst>
          </a:blip>
          <a:stretch>
            <a:fillRect/>
          </a:stretch>
        </p:blipFill>
        <p:spPr>
          <a:xfrm>
            <a:off x="8663434" y="3807793"/>
            <a:ext cx="1209767" cy="1209767"/>
          </a:xfrm>
          <a:prstGeom prst="rect">
            <a:avLst/>
          </a:prstGeom>
        </p:spPr>
      </p:pic>
      <p:grpSp>
        <p:nvGrpSpPr>
          <p:cNvPr id="22" name="组合 21">
            <a:extLst>
              <a:ext uri="{FF2B5EF4-FFF2-40B4-BE49-F238E27FC236}">
                <a16:creationId xmlns:a16="http://schemas.microsoft.com/office/drawing/2014/main" id="{08C67F7D-CE98-41A3-A67C-654B1998568A}"/>
              </a:ext>
            </a:extLst>
          </p:cNvPr>
          <p:cNvGrpSpPr/>
          <p:nvPr/>
        </p:nvGrpSpPr>
        <p:grpSpPr>
          <a:xfrm>
            <a:off x="10582726" y="3784187"/>
            <a:ext cx="1333445" cy="1256978"/>
            <a:chOff x="10301788" y="3236740"/>
            <a:chExt cx="1333445" cy="1256978"/>
          </a:xfrm>
        </p:grpSpPr>
        <p:pic>
          <p:nvPicPr>
            <p:cNvPr id="20" name="图片 19">
              <a:extLst>
                <a:ext uri="{FF2B5EF4-FFF2-40B4-BE49-F238E27FC236}">
                  <a16:creationId xmlns:a16="http://schemas.microsoft.com/office/drawing/2014/main" id="{45A3E54D-D7ED-4EFF-812F-50CDE5143F86}"/>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0" b="100000" l="0" r="100000">
                          <a14:foregroundMark x1="20703" y1="21094" x2="45117" y2="46680"/>
                          <a14:foregroundMark x1="49609" y1="5859" x2="48633" y2="8398"/>
                        </a14:backgroundRemoval>
                      </a14:imgEffect>
                    </a14:imgLayer>
                  </a14:imgProps>
                </a:ext>
              </a:extLst>
            </a:blip>
            <a:stretch>
              <a:fillRect/>
            </a:stretch>
          </p:blipFill>
          <p:spPr>
            <a:xfrm rot="17899964">
              <a:off x="10301788" y="3283951"/>
              <a:ext cx="1209767" cy="1209767"/>
            </a:xfrm>
            <a:prstGeom prst="rect">
              <a:avLst/>
            </a:prstGeom>
          </p:spPr>
        </p:pic>
        <p:sp>
          <p:nvSpPr>
            <p:cNvPr id="18" name="矩形 17">
              <a:extLst>
                <a:ext uri="{FF2B5EF4-FFF2-40B4-BE49-F238E27FC236}">
                  <a16:creationId xmlns:a16="http://schemas.microsoft.com/office/drawing/2014/main" id="{0FD8B7B0-D0A1-41A5-B0C9-4406B4ACA3C3}"/>
                </a:ext>
              </a:extLst>
            </p:cNvPr>
            <p:cNvSpPr/>
            <p:nvPr/>
          </p:nvSpPr>
          <p:spPr>
            <a:xfrm>
              <a:off x="10361604" y="3236740"/>
              <a:ext cx="1273629" cy="513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a:extLst>
                <a:ext uri="{FF2B5EF4-FFF2-40B4-BE49-F238E27FC236}">
                  <a16:creationId xmlns:a16="http://schemas.microsoft.com/office/drawing/2014/main" id="{8A6CD80A-6496-4D5D-B6D9-F99045E5721F}"/>
                </a:ext>
              </a:extLst>
            </p:cNvPr>
            <p:cNvPicPr>
              <a:picLocks noChangeAspect="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0" b="100000" l="0" r="100000">
                          <a14:foregroundMark x1="20703" y1="21094" x2="45117" y2="46680"/>
                          <a14:foregroundMark x1="49609" y1="5859" x2="48633" y2="8398"/>
                        </a14:backgroundRemoval>
                      </a14:imgEffect>
                    </a14:imgLayer>
                  </a14:imgProps>
                </a:ext>
              </a:extLst>
            </a:blip>
            <a:srcRect l="36484" t="-1" b="64161"/>
            <a:stretch/>
          </p:blipFill>
          <p:spPr>
            <a:xfrm>
              <a:off x="10752363" y="3316367"/>
              <a:ext cx="768401" cy="433570"/>
            </a:xfrm>
            <a:prstGeom prst="rect">
              <a:avLst/>
            </a:prstGeom>
          </p:spPr>
        </p:pic>
        <p:sp>
          <p:nvSpPr>
            <p:cNvPr id="19" name="矩形 18">
              <a:extLst>
                <a:ext uri="{FF2B5EF4-FFF2-40B4-BE49-F238E27FC236}">
                  <a16:creationId xmlns:a16="http://schemas.microsoft.com/office/drawing/2014/main" id="{BEB75E45-7E8F-43F7-8CCD-9BF411260552}"/>
                </a:ext>
              </a:extLst>
            </p:cNvPr>
            <p:cNvSpPr/>
            <p:nvPr/>
          </p:nvSpPr>
          <p:spPr>
            <a:xfrm>
              <a:off x="10470391" y="3567506"/>
              <a:ext cx="390759"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灯片编号占位符 3">
            <a:extLst>
              <a:ext uri="{FF2B5EF4-FFF2-40B4-BE49-F238E27FC236}">
                <a16:creationId xmlns:a16="http://schemas.microsoft.com/office/drawing/2014/main" id="{B9944022-DD73-47B7-B75B-DA1B5A1C1344}"/>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135</a:t>
            </a:fld>
            <a:endParaRPr kumimoji="1" lang="zh-CN" altLang="en-US" dirty="0"/>
          </a:p>
        </p:txBody>
      </p:sp>
      <p:sp>
        <p:nvSpPr>
          <p:cNvPr id="24" name="文本框 23">
            <a:extLst>
              <a:ext uri="{FF2B5EF4-FFF2-40B4-BE49-F238E27FC236}">
                <a16:creationId xmlns:a16="http://schemas.microsoft.com/office/drawing/2014/main" id="{51BB6571-BBEB-4D79-8DD0-0A30A379D5CD}"/>
              </a:ext>
            </a:extLst>
          </p:cNvPr>
          <p:cNvSpPr txBox="1"/>
          <p:nvPr/>
        </p:nvSpPr>
        <p:spPr>
          <a:xfrm>
            <a:off x="9439991" y="3244033"/>
            <a:ext cx="1702097" cy="369332"/>
          </a:xfrm>
          <a:prstGeom prst="rect">
            <a:avLst/>
          </a:prstGeom>
          <a:noFill/>
        </p:spPr>
        <p:txBody>
          <a:bodyPr wrap="square">
            <a:spAutoFit/>
          </a:bodyPr>
          <a:lstStyle/>
          <a:p>
            <a:r>
              <a:rPr kumimoji="1" lang="zh-CN" altLang="en-US" dirty="0">
                <a:latin typeface="微软雅黑" panose="020B0503020204020204" pitchFamily="34" charset="-122"/>
                <a:ea typeface="微软雅黑" panose="020B0503020204020204" pitchFamily="34" charset="-122"/>
              </a:rPr>
              <a:t>增加队列规模 </a:t>
            </a:r>
            <a:endParaRPr lang="zh-CN" altLang="en-US"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D683A412-FB2A-4C66-898B-DDA312502FC9}"/>
              </a:ext>
            </a:extLst>
          </p:cNvPr>
          <p:cNvSpPr txBox="1"/>
          <p:nvPr/>
        </p:nvSpPr>
        <p:spPr>
          <a:xfrm>
            <a:off x="9448800" y="5185187"/>
            <a:ext cx="1983769" cy="369332"/>
          </a:xfrm>
          <a:prstGeom prst="rect">
            <a:avLst/>
          </a:prstGeom>
          <a:noFill/>
        </p:spPr>
        <p:txBody>
          <a:bodyPr wrap="square">
            <a:spAutoFit/>
          </a:bodyPr>
          <a:lstStyle/>
          <a:p>
            <a:r>
              <a:rPr kumimoji="1" lang="zh-CN" altLang="en-US" dirty="0"/>
              <a:t>减少计时器的值</a:t>
            </a:r>
            <a:endParaRPr lang="zh-CN" altLang="en-US" dirty="0">
              <a:latin typeface="微软雅黑" panose="020B0503020204020204" pitchFamily="34" charset="-122"/>
              <a:ea typeface="微软雅黑" panose="020B0503020204020204" pitchFamily="34" charset="-122"/>
            </a:endParaRPr>
          </a:p>
        </p:txBody>
      </p:sp>
      <p:sp>
        <p:nvSpPr>
          <p:cNvPr id="26" name="日期占位符 9">
            <a:extLst>
              <a:ext uri="{FF2B5EF4-FFF2-40B4-BE49-F238E27FC236}">
                <a16:creationId xmlns:a16="http://schemas.microsoft.com/office/drawing/2014/main" id="{A04CE035-EC78-40D3-82C9-030229DBDBEB}"/>
              </a:ext>
            </a:extLst>
          </p:cNvPr>
          <p:cNvSpPr>
            <a:spLocks noGrp="1"/>
          </p:cNvSpPr>
          <p:nvPr>
            <p:ph type="dt" sz="half" idx="10"/>
          </p:nvPr>
        </p:nvSpPr>
        <p:spPr>
          <a:xfrm>
            <a:off x="235670" y="6487109"/>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137421645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SYN Cookies"/>
          <p:cNvSpPr txBox="1">
            <a:spLocks noGrp="1"/>
          </p:cNvSpPr>
          <p:nvPr>
            <p:ph type="title"/>
          </p:nvPr>
        </p:nvSpPr>
        <p:spPr>
          <a:prstGeom prst="rect">
            <a:avLst/>
          </a:prstGeom>
        </p:spPr>
        <p:txBody>
          <a:bodyPr>
            <a:normAutofit/>
          </a:bodyPr>
          <a:lstStyle>
            <a:lvl1pPr algn="l">
              <a:defRPr sz="13000">
                <a:latin typeface="Helvetica Neue Bold Condensed"/>
                <a:ea typeface="Helvetica Neue Bold Condensed"/>
                <a:cs typeface="Helvetica Neue Bold Condensed"/>
                <a:sym typeface="Helvetica Neue Bold Condensed"/>
              </a:defRPr>
            </a:lvl1pPr>
          </a:lstStyle>
          <a:p>
            <a:r>
              <a:rPr sz="4000" dirty="0">
                <a:latin typeface="Microsoft YaHei" panose="020B0503020204020204" pitchFamily="34" charset="-122"/>
                <a:ea typeface="Microsoft YaHei" panose="020B0503020204020204" pitchFamily="34" charset="-122"/>
              </a:rPr>
              <a:t>SYN Cookies</a:t>
            </a:r>
          </a:p>
        </p:txBody>
      </p:sp>
      <p:sp>
        <p:nvSpPr>
          <p:cNvPr id="206" name="Idea: Instead of storing SNc and SNs…  send a cookie back to the client.…"/>
          <p:cNvSpPr txBox="1">
            <a:spLocks noGrp="1"/>
          </p:cNvSpPr>
          <p:nvPr>
            <p:ph idx="1"/>
          </p:nvPr>
        </p:nvSpPr>
        <p:spPr>
          <a:xfrm>
            <a:off x="838200" y="1404622"/>
            <a:ext cx="6403521" cy="4586694"/>
          </a:xfrm>
          <a:prstGeom prst="rect">
            <a:avLst/>
          </a:prstGeom>
        </p:spPr>
        <p:txBody>
          <a:bodyPr>
            <a:normAutofit fontScale="25000" lnSpcReduction="20000"/>
          </a:bodyPr>
          <a:lstStyle/>
          <a:p>
            <a:pPr defTabSz="228600">
              <a:lnSpc>
                <a:spcPts val="3100"/>
              </a:lnSpc>
              <a:spcBef>
                <a:spcPts val="500"/>
              </a:spcBef>
              <a:defRPr sz="4000"/>
            </a:pPr>
            <a:r>
              <a:rPr kumimoji="1" lang="zh-CN" altLang="en-US" sz="11200" dirty="0"/>
              <a:t>思路：</a:t>
            </a:r>
            <a:endParaRPr kumimoji="1" lang="en-US" altLang="zh-CN" sz="11200" dirty="0"/>
          </a:p>
          <a:p>
            <a:pPr lvl="1" defTabSz="228600">
              <a:lnSpc>
                <a:spcPts val="3100"/>
              </a:lnSpc>
              <a:spcBef>
                <a:spcPts val="500"/>
              </a:spcBef>
              <a:defRPr sz="4000"/>
            </a:pPr>
            <a:r>
              <a:rPr kumimoji="1" lang="zh-CN" altLang="en-US" sz="10800" dirty="0"/>
              <a:t>服务器不为每个请求保持状态</a:t>
            </a:r>
            <a:endParaRPr kumimoji="1" lang="en-US" altLang="zh-CN" sz="10800" dirty="0"/>
          </a:p>
          <a:p>
            <a:pPr lvl="1" defTabSz="228600">
              <a:lnSpc>
                <a:spcPts val="3100"/>
              </a:lnSpc>
              <a:spcBef>
                <a:spcPts val="500"/>
              </a:spcBef>
              <a:defRPr sz="4000"/>
            </a:pPr>
            <a:r>
              <a:rPr kumimoji="1" lang="zh-CN" altLang="en-US" sz="10800" dirty="0"/>
              <a:t>发送一个</a:t>
            </a:r>
            <a:r>
              <a:rPr kumimoji="1" lang="en-US" altLang="zh-CN" sz="10800" dirty="0">
                <a:solidFill>
                  <a:srgbClr val="5B307E"/>
                </a:solidFill>
              </a:rPr>
              <a:t>cookie</a:t>
            </a:r>
            <a:r>
              <a:rPr kumimoji="1" lang="zh-CN" altLang="en-US" sz="10800" dirty="0"/>
              <a:t>给客户端</a:t>
            </a:r>
            <a:endParaRPr kumimoji="1" lang="en-US" altLang="zh-CN" sz="10800" dirty="0"/>
          </a:p>
          <a:p>
            <a:pPr defTabSz="228600">
              <a:lnSpc>
                <a:spcPts val="3100"/>
              </a:lnSpc>
              <a:spcBef>
                <a:spcPts val="500"/>
              </a:spcBef>
              <a:defRPr sz="4000"/>
            </a:pPr>
            <a:r>
              <a:rPr kumimoji="1" lang="en-US" altLang="zh-CN" sz="11200" dirty="0"/>
              <a:t>Cookie</a:t>
            </a:r>
            <a:r>
              <a:rPr kumimoji="1" lang="zh-CN" altLang="en-US" sz="11200" dirty="0"/>
              <a:t>生成</a:t>
            </a:r>
            <a:endParaRPr kumimoji="1" lang="en-US" altLang="zh-CN" sz="11200" dirty="0"/>
          </a:p>
          <a:p>
            <a:pPr lvl="1" defTabSz="228600">
              <a:lnSpc>
                <a:spcPts val="3100"/>
              </a:lnSpc>
              <a:spcBef>
                <a:spcPts val="500"/>
              </a:spcBef>
              <a:defRPr sz="4000"/>
            </a:pPr>
            <a:r>
              <a:rPr lang="en-US" sz="8000" b="1" dirty="0">
                <a:solidFill>
                  <a:srgbClr val="5B307E"/>
                </a:solidFill>
              </a:rPr>
              <a:t>Y</a:t>
            </a:r>
            <a:r>
              <a:rPr sz="8000" b="1" dirty="0">
                <a:solidFill>
                  <a:srgbClr val="5B307E"/>
                </a:solidFill>
              </a:rPr>
              <a:t> </a:t>
            </a:r>
            <a:r>
              <a:rPr sz="8000" dirty="0"/>
              <a:t>= </a:t>
            </a:r>
            <a:r>
              <a:rPr sz="8000" dirty="0" err="1"/>
              <a:t>MAC</a:t>
            </a:r>
            <a:r>
              <a:rPr sz="8000" i="1" baseline="-5999" dirty="0" err="1"/>
              <a:t>key</a:t>
            </a:r>
            <a:r>
              <a:rPr sz="8000" dirty="0"/>
              <a:t> (</a:t>
            </a:r>
            <a:r>
              <a:rPr lang="en-US" sz="8000" dirty="0"/>
              <a:t>SOURCE_IP || SOURCE_PORT || DST_IP || DST_PORT || t || MSSIND</a:t>
            </a:r>
            <a:r>
              <a:rPr sz="8000" dirty="0"/>
              <a:t>) </a:t>
            </a:r>
          </a:p>
          <a:p>
            <a:pPr lvl="1" defTabSz="228600">
              <a:lnSpc>
                <a:spcPts val="3100"/>
              </a:lnSpc>
              <a:spcBef>
                <a:spcPts val="500"/>
              </a:spcBef>
              <a:defRPr sz="4000"/>
            </a:pPr>
            <a:r>
              <a:rPr lang="en-US" altLang="zh-CN" sz="8000" dirty="0"/>
              <a:t>MAC</a:t>
            </a:r>
            <a:r>
              <a:rPr lang="zh-CN" altLang="en-US" sz="8000" dirty="0"/>
              <a:t>：带密钥的</a:t>
            </a:r>
            <a:r>
              <a:rPr lang="en-US" altLang="zh-CN" sz="8000" dirty="0"/>
              <a:t>hash</a:t>
            </a:r>
            <a:r>
              <a:rPr lang="zh-CN" altLang="en-US" sz="8000" dirty="0"/>
              <a:t>函数</a:t>
            </a:r>
            <a:endParaRPr lang="en-US" sz="8000" dirty="0"/>
          </a:p>
          <a:p>
            <a:pPr lvl="1" defTabSz="228600">
              <a:lnSpc>
                <a:spcPts val="3100"/>
              </a:lnSpc>
              <a:spcBef>
                <a:spcPts val="500"/>
              </a:spcBef>
              <a:defRPr sz="4000"/>
            </a:pPr>
            <a:r>
              <a:rPr sz="8000" dirty="0"/>
              <a:t>key:</a:t>
            </a:r>
            <a:r>
              <a:rPr lang="en-US" sz="8000" dirty="0"/>
              <a:t> </a:t>
            </a:r>
            <a:r>
              <a:rPr lang="zh-CN" altLang="en-US" sz="8000" dirty="0"/>
              <a:t>服务器独有的密钥</a:t>
            </a:r>
            <a:endParaRPr sz="8000" dirty="0"/>
          </a:p>
          <a:p>
            <a:pPr lvl="1" defTabSz="228600">
              <a:lnSpc>
                <a:spcPts val="3100"/>
              </a:lnSpc>
              <a:spcBef>
                <a:spcPts val="500"/>
              </a:spcBef>
              <a:defRPr sz="4000"/>
            </a:pPr>
            <a:r>
              <a:rPr lang="en-US" altLang="zh-CN" sz="8000" dirty="0"/>
              <a:t>t =</a:t>
            </a:r>
            <a:r>
              <a:rPr lang="zh-CN" altLang="en-US" sz="8000" dirty="0"/>
              <a:t> 系统启动时间</a:t>
            </a:r>
          </a:p>
          <a:p>
            <a:pPr lvl="1" defTabSz="228600">
              <a:lnSpc>
                <a:spcPts val="3100"/>
              </a:lnSpc>
              <a:spcBef>
                <a:spcPts val="500"/>
              </a:spcBef>
              <a:defRPr sz="4000"/>
            </a:pPr>
            <a:r>
              <a:rPr lang="en-US" altLang="zh-CN" sz="8000" dirty="0"/>
              <a:t>MSSID</a:t>
            </a:r>
            <a:r>
              <a:rPr lang="zh-CN" altLang="en-US" sz="8000" dirty="0"/>
              <a:t>：</a:t>
            </a:r>
            <a:r>
              <a:rPr lang="en-US" altLang="zh-CN" sz="8000" dirty="0"/>
              <a:t>SYN</a:t>
            </a:r>
            <a:r>
              <a:rPr lang="zh-CN" altLang="en-US" sz="8000" dirty="0"/>
              <a:t>报文中的</a:t>
            </a:r>
            <a:r>
              <a:rPr lang="en-US" altLang="zh-CN" sz="8000" dirty="0"/>
              <a:t>MSS</a:t>
            </a:r>
            <a:r>
              <a:rPr lang="zh-CN" altLang="en-US" sz="8000" dirty="0"/>
              <a:t>对应的索引</a:t>
            </a:r>
            <a:endParaRPr lang="en-US" altLang="zh-CN" sz="8000" dirty="0"/>
          </a:p>
        </p:txBody>
      </p:sp>
      <p:cxnSp>
        <p:nvCxnSpPr>
          <p:cNvPr id="8" name="直接箭头连接符 7">
            <a:extLst>
              <a:ext uri="{FF2B5EF4-FFF2-40B4-BE49-F238E27FC236}">
                <a16:creationId xmlns:a16="http://schemas.microsoft.com/office/drawing/2014/main" id="{4292F484-2CE9-4E93-8FDC-5C12E5A7B81C}"/>
              </a:ext>
            </a:extLst>
          </p:cNvPr>
          <p:cNvCxnSpPr>
            <a:cxnSpLocks/>
          </p:cNvCxnSpPr>
          <p:nvPr/>
        </p:nvCxnSpPr>
        <p:spPr>
          <a:xfrm>
            <a:off x="7323365" y="1693080"/>
            <a:ext cx="3347356" cy="260520"/>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2EB16CCB-6068-4F27-9757-C3C8F6E59E57}"/>
              </a:ext>
            </a:extLst>
          </p:cNvPr>
          <p:cNvSpPr txBox="1"/>
          <p:nvPr/>
        </p:nvSpPr>
        <p:spPr>
          <a:xfrm>
            <a:off x="8565356" y="1432304"/>
            <a:ext cx="1238930" cy="369332"/>
          </a:xfrm>
          <a:prstGeom prst="rect">
            <a:avLst/>
          </a:prstGeom>
          <a:noFill/>
        </p:spPr>
        <p:txBody>
          <a:bodyPr wrap="square">
            <a:spAutoFit/>
          </a:bodyPr>
          <a:lstStyle/>
          <a:p>
            <a:r>
              <a:rPr lang="en" altLang="zh-CN" sz="1800" b="1" i="0" u="none" strike="noStrike" kern="1200" dirty="0">
                <a:solidFill>
                  <a:schemeClr val="tx1"/>
                </a:solidFill>
                <a:effectLst/>
                <a:latin typeface="微软雅黑" panose="020B0503020204020204" pitchFamily="34" charset="-122"/>
                <a:ea typeface="微软雅黑" panose="020B0503020204020204" pitchFamily="34" charset="-122"/>
              </a:rPr>
              <a:t>SYN =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X</a:t>
            </a:r>
            <a:endParaRPr lang="zh-CN" altLang="en-US" b="1" dirty="0">
              <a:latin typeface="微软雅黑" panose="020B0503020204020204" pitchFamily="34" charset="-122"/>
              <a:ea typeface="微软雅黑" panose="020B0503020204020204" pitchFamily="34" charset="-122"/>
            </a:endParaRPr>
          </a:p>
        </p:txBody>
      </p:sp>
      <p:cxnSp>
        <p:nvCxnSpPr>
          <p:cNvPr id="10" name="直接箭头连接符 9">
            <a:extLst>
              <a:ext uri="{FF2B5EF4-FFF2-40B4-BE49-F238E27FC236}">
                <a16:creationId xmlns:a16="http://schemas.microsoft.com/office/drawing/2014/main" id="{9153F57C-AD6F-4CAF-8B88-22C3AC70C46F}"/>
              </a:ext>
            </a:extLst>
          </p:cNvPr>
          <p:cNvCxnSpPr>
            <a:cxnSpLocks/>
          </p:cNvCxnSpPr>
          <p:nvPr/>
        </p:nvCxnSpPr>
        <p:spPr>
          <a:xfrm flipV="1">
            <a:off x="7323963" y="2540933"/>
            <a:ext cx="3346758" cy="135556"/>
          </a:xfrm>
          <a:prstGeom prst="straightConnector1">
            <a:avLst/>
          </a:prstGeom>
          <a:ln w="38100">
            <a:solidFill>
              <a:schemeClr val="accent1">
                <a:lumMod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6CB456BC-245A-4BE5-9F2F-0DD4978C0797}"/>
              </a:ext>
            </a:extLst>
          </p:cNvPr>
          <p:cNvSpPr txBox="1"/>
          <p:nvPr/>
        </p:nvSpPr>
        <p:spPr>
          <a:xfrm>
            <a:off x="7734789" y="2216050"/>
            <a:ext cx="2900064" cy="369332"/>
          </a:xfrm>
          <a:prstGeom prst="rect">
            <a:avLst/>
          </a:prstGeom>
          <a:noFill/>
        </p:spPr>
        <p:txBody>
          <a:bodyPr wrap="square">
            <a:spAutoFit/>
          </a:bodyPr>
          <a:lstStyle/>
          <a:p>
            <a:r>
              <a:rPr lang="en" altLang="zh-CN" sz="1800" b="1" i="0" u="none" strike="noStrike" kern="1200" dirty="0">
                <a:solidFill>
                  <a:schemeClr val="tx1"/>
                </a:solidFill>
                <a:effectLst/>
                <a:latin typeface="微软雅黑" panose="020B0503020204020204" pitchFamily="34" charset="-122"/>
                <a:ea typeface="微软雅黑" panose="020B0503020204020204" pitchFamily="34" charset="-122"/>
              </a:rPr>
              <a:t>SYN = </a:t>
            </a:r>
            <a:r>
              <a:rPr lang="en-US" altLang="zh-CN" sz="1800" b="1" i="0" u="none" strike="noStrike" kern="1200" dirty="0">
                <a:solidFill>
                  <a:srgbClr val="5B307E"/>
                </a:solidFill>
                <a:effectLst/>
                <a:latin typeface="微软雅黑" panose="020B0503020204020204" pitchFamily="34" charset="-122"/>
                <a:ea typeface="微软雅黑" panose="020B0503020204020204" pitchFamily="34" charset="-122"/>
              </a:rPr>
              <a:t>Y</a:t>
            </a:r>
            <a:r>
              <a:rPr lang="zh-CN" altLang="en-US" sz="1800" b="1" i="0" u="none" strike="noStrike" kern="1200" dirty="0">
                <a:solidFill>
                  <a:schemeClr val="tx1"/>
                </a:solidFill>
                <a:effectLst/>
                <a:latin typeface="微软雅黑" panose="020B0503020204020204" pitchFamily="34" charset="-122"/>
                <a:ea typeface="微软雅黑" panose="020B0503020204020204" pitchFamily="34" charset="-122"/>
              </a:rPr>
              <a:t>，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ACK = X + 1</a:t>
            </a:r>
            <a:endParaRPr lang="zh-CN" altLang="en-US" b="1" dirty="0">
              <a:latin typeface="微软雅黑" panose="020B0503020204020204" pitchFamily="34" charset="-122"/>
              <a:ea typeface="微软雅黑" panose="020B0503020204020204" pitchFamily="34" charset="-122"/>
            </a:endParaRPr>
          </a:p>
        </p:txBody>
      </p:sp>
      <p:cxnSp>
        <p:nvCxnSpPr>
          <p:cNvPr id="12" name="直接箭头连接符 11">
            <a:extLst>
              <a:ext uri="{FF2B5EF4-FFF2-40B4-BE49-F238E27FC236}">
                <a16:creationId xmlns:a16="http://schemas.microsoft.com/office/drawing/2014/main" id="{79CF8AF0-FAE1-404F-9B31-1972746C2E12}"/>
              </a:ext>
            </a:extLst>
          </p:cNvPr>
          <p:cNvCxnSpPr>
            <a:cxnSpLocks/>
          </p:cNvCxnSpPr>
          <p:nvPr/>
        </p:nvCxnSpPr>
        <p:spPr>
          <a:xfrm>
            <a:off x="7323365" y="3164920"/>
            <a:ext cx="3347356" cy="256732"/>
          </a:xfrm>
          <a:prstGeom prst="straightConnector1">
            <a:avLst/>
          </a:prstGeom>
          <a:ln w="38100">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573ED2AD-F5AD-4F52-91BA-4A828F1D9BC7}"/>
              </a:ext>
            </a:extLst>
          </p:cNvPr>
          <p:cNvSpPr txBox="1"/>
          <p:nvPr/>
        </p:nvSpPr>
        <p:spPr>
          <a:xfrm>
            <a:off x="7462157" y="2895259"/>
            <a:ext cx="3445329" cy="369332"/>
          </a:xfrm>
          <a:prstGeom prst="rect">
            <a:avLst/>
          </a:prstGeom>
          <a:noFill/>
        </p:spPr>
        <p:txBody>
          <a:bodyPr wrap="square">
            <a:spAutoFit/>
          </a:bodyPr>
          <a:lstStyle/>
          <a:p>
            <a:r>
              <a:rPr lang="en" altLang="zh-CN" sz="1800" b="1" i="0" u="none" strike="noStrike" kern="1200" dirty="0">
                <a:solidFill>
                  <a:schemeClr val="tx1"/>
                </a:solidFill>
                <a:effectLst/>
                <a:latin typeface="微软雅黑" panose="020B0503020204020204" pitchFamily="34" charset="-122"/>
                <a:ea typeface="微软雅黑" panose="020B0503020204020204" pitchFamily="34" charset="-122"/>
              </a:rPr>
              <a:t>SYN =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X + 1 </a:t>
            </a:r>
            <a:r>
              <a:rPr lang="zh-CN" altLang="en-US" sz="1800" b="1" i="0" u="none" strike="noStrike" kern="1200" dirty="0">
                <a:solidFill>
                  <a:schemeClr val="tx1"/>
                </a:solidFill>
                <a:effectLst/>
                <a:latin typeface="微软雅黑" panose="020B0503020204020204" pitchFamily="34" charset="-122"/>
                <a:ea typeface="微软雅黑" panose="020B0503020204020204" pitchFamily="34" charset="-122"/>
              </a:rPr>
              <a:t>， </a:t>
            </a:r>
            <a:r>
              <a:rPr lang="en-US" altLang="zh-CN" sz="1800" b="1" i="0" u="none" strike="noStrike" kern="1200" dirty="0">
                <a:solidFill>
                  <a:schemeClr val="tx1"/>
                </a:solidFill>
                <a:effectLst/>
                <a:latin typeface="微软雅黑" panose="020B0503020204020204" pitchFamily="34" charset="-122"/>
                <a:ea typeface="微软雅黑" panose="020B0503020204020204" pitchFamily="34" charset="-122"/>
              </a:rPr>
              <a:t>ACK = </a:t>
            </a:r>
            <a:r>
              <a:rPr lang="en-US" altLang="zh-CN" sz="1800" b="1" i="0" u="none" strike="noStrike" kern="1200" dirty="0">
                <a:solidFill>
                  <a:srgbClr val="5B307E"/>
                </a:solidFill>
                <a:effectLst/>
                <a:latin typeface="微软雅黑" panose="020B0503020204020204" pitchFamily="34" charset="-122"/>
                <a:ea typeface="微软雅黑" panose="020B0503020204020204" pitchFamily="34" charset="-122"/>
              </a:rPr>
              <a:t>Y+ 1</a:t>
            </a:r>
            <a:endParaRPr lang="zh-CN" altLang="en-US" b="1" dirty="0">
              <a:solidFill>
                <a:srgbClr val="5B307E"/>
              </a:solidFill>
              <a:latin typeface="微软雅黑" panose="020B0503020204020204" pitchFamily="34" charset="-122"/>
              <a:ea typeface="微软雅黑" panose="020B0503020204020204" pitchFamily="34" charset="-122"/>
            </a:endParaRPr>
          </a:p>
        </p:txBody>
      </p:sp>
      <p:cxnSp>
        <p:nvCxnSpPr>
          <p:cNvPr id="15" name="直接连接符 14">
            <a:extLst>
              <a:ext uri="{FF2B5EF4-FFF2-40B4-BE49-F238E27FC236}">
                <a16:creationId xmlns:a16="http://schemas.microsoft.com/office/drawing/2014/main" id="{563A7483-C7C7-4102-A457-FD292F0B45F8}"/>
              </a:ext>
            </a:extLst>
          </p:cNvPr>
          <p:cNvCxnSpPr/>
          <p:nvPr/>
        </p:nvCxnSpPr>
        <p:spPr>
          <a:xfrm>
            <a:off x="7241721" y="1404622"/>
            <a:ext cx="0" cy="2293347"/>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D686EBF1-4CDE-47C1-88AE-3CCD0E817884}"/>
              </a:ext>
            </a:extLst>
          </p:cNvPr>
          <p:cNvCxnSpPr/>
          <p:nvPr/>
        </p:nvCxnSpPr>
        <p:spPr>
          <a:xfrm>
            <a:off x="10733314" y="1416665"/>
            <a:ext cx="0" cy="2293347"/>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6F018B87-A639-40C1-8CBF-892D1D7B5FCC}"/>
              </a:ext>
            </a:extLst>
          </p:cNvPr>
          <p:cNvSpPr txBox="1"/>
          <p:nvPr/>
        </p:nvSpPr>
        <p:spPr>
          <a:xfrm>
            <a:off x="6841549" y="3766142"/>
            <a:ext cx="964828" cy="400110"/>
          </a:xfrm>
          <a:prstGeom prst="rect">
            <a:avLst/>
          </a:prstGeom>
          <a:noFill/>
        </p:spPr>
        <p:txBody>
          <a:bodyPr wrap="square">
            <a:spAutoFit/>
          </a:bodyPr>
          <a:lstStyle/>
          <a:p>
            <a:r>
              <a:rPr kumimoji="1" lang="zh-CN" altLang="en-US" sz="2000" dirty="0">
                <a:latin typeface="微软雅黑" panose="020B0503020204020204" pitchFamily="34" charset="-122"/>
                <a:ea typeface="微软雅黑" panose="020B0503020204020204" pitchFamily="34" charset="-122"/>
              </a:rPr>
              <a:t>客户端</a:t>
            </a:r>
            <a:endParaRPr lang="zh-CN" altLang="en-US" sz="20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9E0A78AC-90ED-428C-81F3-ACB11B06F56A}"/>
              </a:ext>
            </a:extLst>
          </p:cNvPr>
          <p:cNvSpPr txBox="1"/>
          <p:nvPr/>
        </p:nvSpPr>
        <p:spPr>
          <a:xfrm>
            <a:off x="10256574" y="3772105"/>
            <a:ext cx="964828" cy="400110"/>
          </a:xfrm>
          <a:prstGeom prst="rect">
            <a:avLst/>
          </a:prstGeom>
          <a:noFill/>
        </p:spPr>
        <p:txBody>
          <a:bodyPr wrap="square">
            <a:spAutoFit/>
          </a:bodyPr>
          <a:lstStyle/>
          <a:p>
            <a:r>
              <a:rPr kumimoji="1" lang="zh-CN" altLang="en-US" sz="2000" dirty="0">
                <a:latin typeface="微软雅黑" panose="020B0503020204020204" pitchFamily="34" charset="-122"/>
                <a:ea typeface="微软雅黑" panose="020B0503020204020204" pitchFamily="34" charset="-122"/>
              </a:rPr>
              <a:t>服务器</a:t>
            </a:r>
            <a:endParaRPr lang="zh-CN" altLang="en-US" sz="2000"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1ED03F07-8EFA-4A29-B6D7-A6009EC3D2CE}"/>
              </a:ext>
            </a:extLst>
          </p:cNvPr>
          <p:cNvSpPr txBox="1"/>
          <p:nvPr/>
        </p:nvSpPr>
        <p:spPr>
          <a:xfrm>
            <a:off x="6970672" y="4642911"/>
            <a:ext cx="4584019" cy="1318246"/>
          </a:xfrm>
          <a:prstGeom prst="rect">
            <a:avLst/>
          </a:prstGeom>
          <a:noFill/>
        </p:spPr>
        <p:txBody>
          <a:bodyPr wrap="square">
            <a:spAutoFit/>
          </a:bodyPr>
          <a:lstStyle/>
          <a:p>
            <a:pPr defTabSz="228600">
              <a:lnSpc>
                <a:spcPts val="3100"/>
              </a:lnSpc>
              <a:spcBef>
                <a:spcPts val="500"/>
              </a:spcBef>
              <a:defRPr sz="4000"/>
            </a:pPr>
            <a:r>
              <a:rPr kumimoji="1" lang="zh-CN" altLang="en-US" sz="2000" b="1" dirty="0"/>
              <a:t>客户端返回</a:t>
            </a:r>
            <a:r>
              <a:rPr kumimoji="1" lang="en-US" altLang="zh-CN" sz="2000" b="1" dirty="0"/>
              <a:t>ACK</a:t>
            </a:r>
            <a:r>
              <a:rPr kumimoji="1" lang="zh-CN" altLang="en-US" sz="2000" b="1" dirty="0"/>
              <a:t>时，服务器根据包头重新计算</a:t>
            </a:r>
            <a:r>
              <a:rPr kumimoji="1" lang="en-US" altLang="zh-CN" sz="2000" b="1" dirty="0"/>
              <a:t>cookie</a:t>
            </a:r>
            <a:r>
              <a:rPr kumimoji="1" lang="zh-CN" altLang="en-US" sz="2000" b="1" dirty="0"/>
              <a:t>，判断是否对于</a:t>
            </a:r>
            <a:r>
              <a:rPr kumimoji="1" lang="en-US" altLang="zh-CN" sz="2000" b="1" dirty="0"/>
              <a:t> Y +1 ? </a:t>
            </a:r>
          </a:p>
          <a:p>
            <a:pPr defTabSz="228600">
              <a:lnSpc>
                <a:spcPts val="3100"/>
              </a:lnSpc>
              <a:spcBef>
                <a:spcPts val="500"/>
              </a:spcBef>
              <a:defRPr sz="4000"/>
            </a:pPr>
            <a:r>
              <a:rPr kumimoji="1" lang="zh-CN" altLang="en-US" sz="2000" b="1" dirty="0"/>
              <a:t>只有此条件成立，分配资源，建立连接</a:t>
            </a:r>
            <a:endParaRPr kumimoji="1" lang="en-US" altLang="zh-CN" sz="2000" b="1" dirty="0"/>
          </a:p>
        </p:txBody>
      </p:sp>
      <p:sp>
        <p:nvSpPr>
          <p:cNvPr id="16" name="灯片编号占位符 3">
            <a:extLst>
              <a:ext uri="{FF2B5EF4-FFF2-40B4-BE49-F238E27FC236}">
                <a16:creationId xmlns:a16="http://schemas.microsoft.com/office/drawing/2014/main" id="{19F5B0C4-8928-4B69-96E1-FD481A1B51CD}"/>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136</a:t>
            </a:fld>
            <a:endParaRPr kumimoji="1" lang="zh-CN" altLang="en-US" dirty="0"/>
          </a:p>
        </p:txBody>
      </p:sp>
      <p:sp>
        <p:nvSpPr>
          <p:cNvPr id="18" name="日期占位符 9">
            <a:extLst>
              <a:ext uri="{FF2B5EF4-FFF2-40B4-BE49-F238E27FC236}">
                <a16:creationId xmlns:a16="http://schemas.microsoft.com/office/drawing/2014/main" id="{A61AEE3E-AC20-4E13-8A7C-A39981C87BF6}"/>
              </a:ext>
            </a:extLst>
          </p:cNvPr>
          <p:cNvSpPr>
            <a:spLocks noGrp="1"/>
          </p:cNvSpPr>
          <p:nvPr>
            <p:ph type="dt" sz="half" idx="10"/>
          </p:nvPr>
        </p:nvSpPr>
        <p:spPr>
          <a:xfrm>
            <a:off x="226243" y="6489303"/>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71318248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10.11.1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攻击描述</a:t>
            </a:r>
            <a:endParaRPr lang="zh-CN" altLang="en-US" dirty="0"/>
          </a:p>
        </p:txBody>
      </p:sp>
      <p:sp>
        <p:nvSpPr>
          <p:cNvPr id="3" name="内容占位符 2"/>
          <p:cNvSpPr>
            <a:spLocks noGrp="1"/>
          </p:cNvSpPr>
          <p:nvPr>
            <p:ph idx="1"/>
          </p:nvPr>
        </p:nvSpPr>
        <p:spPr>
          <a:xfrm>
            <a:off x="838200" y="1510757"/>
            <a:ext cx="10515600" cy="4735663"/>
          </a:xfrm>
        </p:spPr>
        <p:txBody>
          <a:bodyPr>
            <a:normAutofit/>
          </a:bodyPr>
          <a:lstStyle/>
          <a:p>
            <a:pPr>
              <a:lnSpc>
                <a:spcPct val="120000"/>
              </a:lnSpc>
            </a:pPr>
            <a:r>
              <a:rPr lang="en-US" altLang="zh-CN" dirty="0"/>
              <a:t>TCP</a:t>
            </a:r>
            <a:r>
              <a:rPr lang="zh-CN" altLang="en-US" dirty="0"/>
              <a:t>状态数据结构是</a:t>
            </a:r>
            <a:r>
              <a:rPr lang="en-US" altLang="zh-CN" dirty="0" err="1"/>
              <a:t>DDoS</a:t>
            </a:r>
            <a:r>
              <a:rPr lang="zh-CN" altLang="en-US" dirty="0"/>
              <a:t>攻击的一种很流行的内部资源目标，但绝不是唯一的：</a:t>
            </a:r>
            <a:endParaRPr lang="en-US" altLang="zh-CN" dirty="0"/>
          </a:p>
          <a:p>
            <a:pPr lvl="1">
              <a:lnSpc>
                <a:spcPct val="120000"/>
              </a:lnSpc>
            </a:pPr>
            <a:r>
              <a:rPr lang="zh-CN" altLang="en-US" dirty="0"/>
              <a:t>（</a:t>
            </a:r>
            <a:r>
              <a:rPr lang="en-US" altLang="zh-CN" dirty="0"/>
              <a:t>1</a:t>
            </a:r>
            <a:r>
              <a:rPr lang="zh-CN" altLang="en-US" dirty="0"/>
              <a:t>）在许多系统中，只有有限的数据结构可保留</a:t>
            </a:r>
            <a:r>
              <a:rPr lang="zh-CN" altLang="en-US" dirty="0">
                <a:solidFill>
                  <a:srgbClr val="C00000"/>
                </a:solidFill>
              </a:rPr>
              <a:t>进程信息</a:t>
            </a:r>
            <a:r>
              <a:rPr lang="zh-CN" altLang="en-US" dirty="0"/>
              <a:t>（进程标识符、进程表入口、进程位置等）。入侵者可以通过写一些除重复生成副本外不进行其他操作的简单程序或者脚本，来消耗掉这些数据结构。</a:t>
            </a:r>
            <a:endParaRPr lang="en-US" altLang="zh-CN" dirty="0"/>
          </a:p>
          <a:p>
            <a:pPr lvl="1">
              <a:lnSpc>
                <a:spcPct val="120000"/>
              </a:lnSpc>
            </a:pPr>
            <a:r>
              <a:rPr lang="zh-CN" altLang="en-US" dirty="0"/>
              <a:t>（</a:t>
            </a:r>
            <a:r>
              <a:rPr lang="en-US" altLang="zh-CN" dirty="0"/>
              <a:t>2</a:t>
            </a:r>
            <a:r>
              <a:rPr lang="zh-CN" altLang="en-US" dirty="0"/>
              <a:t>）入侵者还可能试图通过其他方法消耗磁盘空间，这些方法包括：</a:t>
            </a:r>
            <a:endParaRPr lang="en-US" altLang="zh-CN" dirty="0"/>
          </a:p>
          <a:p>
            <a:pPr lvl="2">
              <a:lnSpc>
                <a:spcPct val="120000"/>
              </a:lnSpc>
            </a:pPr>
            <a:r>
              <a:rPr lang="zh-CN" altLang="en-US" sz="2400" dirty="0"/>
              <a:t>产生过多的邮件消息。</a:t>
            </a:r>
            <a:endParaRPr lang="en-US" altLang="zh-CN" sz="2400" dirty="0"/>
          </a:p>
          <a:p>
            <a:pPr lvl="2">
              <a:lnSpc>
                <a:spcPct val="120000"/>
              </a:lnSpc>
            </a:pPr>
            <a:r>
              <a:rPr lang="zh-CN" altLang="en-US" sz="2400" dirty="0"/>
              <a:t>故意产生必须记录的错误。</a:t>
            </a:r>
            <a:endParaRPr lang="en-US" altLang="zh-CN" sz="2400" dirty="0"/>
          </a:p>
          <a:p>
            <a:pPr lvl="2">
              <a:lnSpc>
                <a:spcPct val="120000"/>
              </a:lnSpc>
            </a:pPr>
            <a:r>
              <a:rPr lang="zh-CN" altLang="en-US" sz="2400" dirty="0"/>
              <a:t>在匿名</a:t>
            </a:r>
            <a:r>
              <a:rPr lang="en-US" altLang="zh-CN" sz="2400" dirty="0"/>
              <a:t>ftp</a:t>
            </a:r>
            <a:r>
              <a:rPr lang="zh-CN" altLang="en-US" sz="2400" dirty="0"/>
              <a:t>空间或者网络共享空间中放置文件。</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137</a:t>
            </a:fld>
            <a:endParaRPr kumimoji="1" lang="zh-CN" altLang="en-US" dirty="0"/>
          </a:p>
        </p:txBody>
      </p:sp>
    </p:spTree>
    <p:extLst>
      <p:ext uri="{BB962C8B-B14F-4D97-AF65-F5344CB8AC3E}">
        <p14:creationId xmlns:p14="http://schemas.microsoft.com/office/powerpoint/2010/main" val="23047642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10.11.1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攻击描述</a:t>
            </a:r>
            <a:endParaRPr lang="zh-CN" altLang="en-US" dirty="0"/>
          </a:p>
        </p:txBody>
      </p:sp>
      <p:sp>
        <p:nvSpPr>
          <p:cNvPr id="3" name="内容占位符 2"/>
          <p:cNvSpPr>
            <a:spLocks noGrp="1"/>
          </p:cNvSpPr>
          <p:nvPr>
            <p:ph idx="1"/>
          </p:nvPr>
        </p:nvSpPr>
        <p:spPr>
          <a:xfrm>
            <a:off x="838200" y="1510757"/>
            <a:ext cx="10515600" cy="4735663"/>
          </a:xfrm>
        </p:spPr>
        <p:txBody>
          <a:bodyPr>
            <a:normAutofit/>
          </a:bodyPr>
          <a:lstStyle/>
          <a:p>
            <a:pPr>
              <a:lnSpc>
                <a:spcPct val="120000"/>
              </a:lnSpc>
            </a:pPr>
            <a:r>
              <a:rPr lang="zh-CN" altLang="en-US" sz="2400" dirty="0">
                <a:solidFill>
                  <a:srgbClr val="C00000"/>
                </a:solidFill>
              </a:rPr>
              <a:t>消耗数据传输资源攻击</a:t>
            </a:r>
            <a:endParaRPr lang="en-US" altLang="zh-CN" sz="2400" dirty="0">
              <a:solidFill>
                <a:srgbClr val="C00000"/>
              </a:solidFill>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138</a:t>
            </a:fld>
            <a:endParaRPr kumimoji="1" lang="zh-CN" altLang="en-US" dirty="0"/>
          </a:p>
        </p:txBody>
      </p:sp>
      <p:pic>
        <p:nvPicPr>
          <p:cNvPr id="5" name="图片 4"/>
          <p:cNvPicPr>
            <a:picLocks noChangeAspect="1"/>
          </p:cNvPicPr>
          <p:nvPr/>
        </p:nvPicPr>
        <p:blipFill>
          <a:blip r:embed="rId2"/>
          <a:stretch>
            <a:fillRect/>
          </a:stretch>
        </p:blipFill>
        <p:spPr>
          <a:xfrm>
            <a:off x="1810785" y="2258908"/>
            <a:ext cx="8732566" cy="3856883"/>
          </a:xfrm>
          <a:prstGeom prst="rect">
            <a:avLst/>
          </a:prstGeom>
        </p:spPr>
      </p:pic>
    </p:spTree>
    <p:extLst>
      <p:ext uri="{BB962C8B-B14F-4D97-AF65-F5344CB8AC3E}">
        <p14:creationId xmlns:p14="http://schemas.microsoft.com/office/powerpoint/2010/main" val="209266170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10.11.1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攻击描述</a:t>
            </a:r>
            <a:endParaRPr lang="zh-CN" altLang="en-US" dirty="0"/>
          </a:p>
        </p:txBody>
      </p:sp>
      <p:sp>
        <p:nvSpPr>
          <p:cNvPr id="3" name="内容占位符 2"/>
          <p:cNvSpPr>
            <a:spLocks noGrp="1"/>
          </p:cNvSpPr>
          <p:nvPr>
            <p:ph idx="1"/>
          </p:nvPr>
        </p:nvSpPr>
        <p:spPr>
          <a:xfrm>
            <a:off x="838200" y="1510757"/>
            <a:ext cx="10515600" cy="4735663"/>
          </a:xfrm>
        </p:spPr>
        <p:txBody>
          <a:bodyPr>
            <a:normAutofit/>
          </a:bodyPr>
          <a:lstStyle/>
          <a:p>
            <a:pPr>
              <a:lnSpc>
                <a:spcPct val="120000"/>
              </a:lnSpc>
            </a:pPr>
            <a:r>
              <a:rPr lang="zh-CN" altLang="en-US" dirty="0">
                <a:solidFill>
                  <a:srgbClr val="C00000"/>
                </a:solidFill>
              </a:rPr>
              <a:t>消耗数据传输资源攻击</a:t>
            </a:r>
            <a:endParaRPr lang="en-US" altLang="zh-CN" dirty="0">
              <a:solidFill>
                <a:srgbClr val="C00000"/>
              </a:solidFill>
            </a:endParaRPr>
          </a:p>
          <a:p>
            <a:pPr lvl="1">
              <a:lnSpc>
                <a:spcPct val="120000"/>
              </a:lnSpc>
            </a:pPr>
            <a:r>
              <a:rPr lang="zh-CN" altLang="en-US" b="1" dirty="0"/>
              <a:t>攻击步骤</a:t>
            </a:r>
            <a:endParaRPr lang="en-US" altLang="zh-CN" b="1" dirty="0"/>
          </a:p>
          <a:p>
            <a:pPr lvl="2">
              <a:lnSpc>
                <a:spcPct val="130000"/>
              </a:lnSpc>
            </a:pPr>
            <a:r>
              <a:rPr lang="zh-CN" altLang="en-US" sz="2400" dirty="0"/>
              <a:t>（</a:t>
            </a:r>
            <a:r>
              <a:rPr lang="en-US" altLang="zh-CN" sz="2400" dirty="0"/>
              <a:t>1</a:t>
            </a:r>
            <a:r>
              <a:rPr lang="zh-CN" altLang="en-US" sz="2400" dirty="0"/>
              <a:t>）攻击者获取互联网上多个主机的控制权，指示它们盗用目标站点的地址向一组担当</a:t>
            </a:r>
            <a:r>
              <a:rPr lang="zh-CN" altLang="en-US" sz="2400" dirty="0">
                <a:solidFill>
                  <a:srgbClr val="C00000"/>
                </a:solidFill>
              </a:rPr>
              <a:t>反射体</a:t>
            </a:r>
            <a:r>
              <a:rPr lang="zh-CN" altLang="en-US" sz="2400" dirty="0"/>
              <a:t>的主机发送</a:t>
            </a:r>
            <a:r>
              <a:rPr lang="en-US" altLang="zh-CN" sz="2400" dirty="0"/>
              <a:t>ICMPECHO</a:t>
            </a:r>
            <a:r>
              <a:rPr lang="zh-CN" altLang="en-US" sz="2400" dirty="0"/>
              <a:t>封包。</a:t>
            </a:r>
            <a:endParaRPr lang="en-US" altLang="zh-CN" sz="2400" dirty="0"/>
          </a:p>
          <a:p>
            <a:pPr lvl="2">
              <a:lnSpc>
                <a:spcPct val="130000"/>
              </a:lnSpc>
            </a:pPr>
            <a:r>
              <a:rPr lang="zh-CN" altLang="en-US" sz="2400" dirty="0"/>
              <a:t>（</a:t>
            </a:r>
            <a:r>
              <a:rPr lang="en-US" altLang="zh-CN" sz="2400" dirty="0"/>
              <a:t>2</a:t>
            </a:r>
            <a:r>
              <a:rPr lang="zh-CN" altLang="en-US" sz="2400" dirty="0"/>
              <a:t>）反射站点上的节点接收到多个虚假请求后，通过向目标站点发送响应应答（</a:t>
            </a:r>
            <a:r>
              <a:rPr lang="en-US" altLang="zh-CN" sz="2400" dirty="0" err="1"/>
              <a:t>echoreply</a:t>
            </a:r>
            <a:r>
              <a:rPr lang="zh-CN" altLang="en-US" sz="2400" dirty="0"/>
              <a:t>）封包做出应答。</a:t>
            </a:r>
            <a:endParaRPr lang="en-US" altLang="zh-CN" sz="2400" dirty="0"/>
          </a:p>
          <a:p>
            <a:pPr lvl="2">
              <a:lnSpc>
                <a:spcPct val="130000"/>
              </a:lnSpc>
            </a:pPr>
            <a:r>
              <a:rPr lang="zh-CN" altLang="en-US" sz="2400" dirty="0"/>
              <a:t>（</a:t>
            </a:r>
            <a:r>
              <a:rPr lang="en-US" altLang="zh-CN" sz="2400" dirty="0"/>
              <a:t>3</a:t>
            </a:r>
            <a:r>
              <a:rPr lang="zh-CN" altLang="en-US" sz="2400" dirty="0"/>
              <a:t>）目标路由器将被反射站点发出的封包淹没，而丧失容纳合法用户数据传送的能力。</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139</a:t>
            </a:fld>
            <a:endParaRPr kumimoji="1" lang="zh-CN" altLang="en-US" dirty="0"/>
          </a:p>
        </p:txBody>
      </p:sp>
    </p:spTree>
    <p:extLst>
      <p:ext uri="{BB962C8B-B14F-4D97-AF65-F5344CB8AC3E}">
        <p14:creationId xmlns:p14="http://schemas.microsoft.com/office/powerpoint/2010/main" val="2228372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10.11.1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攻击描述</a:t>
            </a:r>
            <a:endParaRPr lang="zh-CN" altLang="en-US" dirty="0"/>
          </a:p>
        </p:txBody>
      </p:sp>
      <p:sp>
        <p:nvSpPr>
          <p:cNvPr id="3" name="内容占位符 2"/>
          <p:cNvSpPr>
            <a:spLocks noGrp="1"/>
          </p:cNvSpPr>
          <p:nvPr>
            <p:ph idx="1"/>
          </p:nvPr>
        </p:nvSpPr>
        <p:spPr>
          <a:xfrm>
            <a:off x="838200" y="1510757"/>
            <a:ext cx="5374820" cy="4735663"/>
          </a:xfrm>
        </p:spPr>
        <p:txBody>
          <a:bodyPr>
            <a:normAutofit lnSpcReduction="10000"/>
          </a:bodyPr>
          <a:lstStyle/>
          <a:p>
            <a:pPr>
              <a:lnSpc>
                <a:spcPct val="120000"/>
              </a:lnSpc>
            </a:pPr>
            <a:r>
              <a:rPr lang="zh-CN" altLang="en-US" sz="2400" dirty="0"/>
              <a:t>另一种对</a:t>
            </a:r>
            <a:r>
              <a:rPr lang="en-US" altLang="zh-CN" sz="2400" dirty="0" err="1"/>
              <a:t>DDoS</a:t>
            </a:r>
            <a:r>
              <a:rPr lang="zh-CN" altLang="en-US" sz="2400" dirty="0"/>
              <a:t>攻击进行分类的方法是将其分为</a:t>
            </a:r>
            <a:r>
              <a:rPr lang="zh-CN" altLang="en-US" sz="2400" dirty="0">
                <a:solidFill>
                  <a:srgbClr val="C00000"/>
                </a:solidFill>
              </a:rPr>
              <a:t>直接</a:t>
            </a:r>
            <a:r>
              <a:rPr lang="en-US" altLang="zh-CN" sz="2400" dirty="0" err="1">
                <a:solidFill>
                  <a:srgbClr val="C00000"/>
                </a:solidFill>
              </a:rPr>
              <a:t>DDoS</a:t>
            </a:r>
            <a:r>
              <a:rPr lang="zh-CN" altLang="en-US" sz="2400" dirty="0">
                <a:solidFill>
                  <a:srgbClr val="C00000"/>
                </a:solidFill>
              </a:rPr>
              <a:t>攻击</a:t>
            </a:r>
            <a:r>
              <a:rPr lang="zh-CN" altLang="en-US" sz="2400" dirty="0"/>
              <a:t>和</a:t>
            </a:r>
            <a:r>
              <a:rPr lang="zh-CN" altLang="en-US" sz="2400" dirty="0">
                <a:solidFill>
                  <a:srgbClr val="C00000"/>
                </a:solidFill>
              </a:rPr>
              <a:t>反射</a:t>
            </a:r>
            <a:r>
              <a:rPr lang="en-US" altLang="zh-CN" sz="2400" dirty="0" err="1">
                <a:solidFill>
                  <a:srgbClr val="C00000"/>
                </a:solidFill>
              </a:rPr>
              <a:t>DDoS</a:t>
            </a:r>
            <a:r>
              <a:rPr lang="zh-CN" altLang="en-US" sz="2400" dirty="0">
                <a:solidFill>
                  <a:srgbClr val="C00000"/>
                </a:solidFill>
              </a:rPr>
              <a:t>攻击</a:t>
            </a:r>
            <a:r>
              <a:rPr lang="zh-CN" altLang="en-US" sz="2400" dirty="0"/>
              <a:t>。</a:t>
            </a:r>
            <a:endParaRPr lang="en-US" altLang="zh-CN" sz="2400" dirty="0"/>
          </a:p>
          <a:p>
            <a:pPr>
              <a:lnSpc>
                <a:spcPct val="120000"/>
              </a:lnSpc>
            </a:pPr>
            <a:r>
              <a:rPr lang="zh-CN" altLang="en-US" sz="2400" dirty="0">
                <a:solidFill>
                  <a:srgbClr val="C00000"/>
                </a:solidFill>
              </a:rPr>
              <a:t>直接</a:t>
            </a:r>
            <a:r>
              <a:rPr lang="en-US" altLang="zh-CN" sz="2400" dirty="0" err="1">
                <a:solidFill>
                  <a:srgbClr val="C00000"/>
                </a:solidFill>
              </a:rPr>
              <a:t>DDoS</a:t>
            </a:r>
            <a:r>
              <a:rPr lang="zh-CN" altLang="en-US" sz="2400" dirty="0">
                <a:solidFill>
                  <a:srgbClr val="C00000"/>
                </a:solidFill>
              </a:rPr>
              <a:t>攻击</a:t>
            </a:r>
            <a:r>
              <a:rPr lang="zh-CN" altLang="en-US" sz="2400" dirty="0"/>
              <a:t>：攻击者通过互联网向大量分布网站灌输僵尸软件。通常，</a:t>
            </a:r>
            <a:r>
              <a:rPr lang="en-US" altLang="zh-CN" sz="2400" dirty="0" err="1"/>
              <a:t>DDoS</a:t>
            </a:r>
            <a:r>
              <a:rPr lang="zh-CN" altLang="en-US" sz="2400" dirty="0"/>
              <a:t>攻击采用</a:t>
            </a:r>
            <a:r>
              <a:rPr lang="zh-CN" altLang="en-US" sz="2400" b="1" dirty="0"/>
              <a:t>双重僵尸机制</a:t>
            </a:r>
            <a:r>
              <a:rPr lang="zh-CN" altLang="en-US" sz="2400" dirty="0"/>
              <a:t>，即</a:t>
            </a:r>
            <a:r>
              <a:rPr lang="zh-CN" altLang="en-US" sz="2400" b="1" dirty="0"/>
              <a:t>主僵尸</a:t>
            </a:r>
            <a:r>
              <a:rPr lang="zh-CN" altLang="en-US" sz="2400" dirty="0"/>
              <a:t>和</a:t>
            </a:r>
            <a:r>
              <a:rPr lang="zh-CN" altLang="en-US" sz="2400" b="1" dirty="0"/>
              <a:t>从僵尸</a:t>
            </a:r>
            <a:r>
              <a:rPr lang="zh-CN" altLang="en-US" sz="2400" dirty="0"/>
              <a:t>。攻击者首先调整并触发主僵尸，之后主僵尸会继续调整并触发从僵尸。</a:t>
            </a:r>
            <a:r>
              <a:rPr lang="zh-CN" altLang="en-US" sz="2400" b="1" dirty="0"/>
              <a:t>双重僵尸的作用使得追踪原始攻击者变得越发困难，而同时也向网络中弹回更多的攻击者</a:t>
            </a:r>
            <a:r>
              <a:rPr lang="zh-CN" altLang="en-US" sz="2400" dirty="0"/>
              <a:t>。</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140</a:t>
            </a:fld>
            <a:endParaRPr kumimoji="1" lang="zh-CN" altLang="en-US" dirty="0"/>
          </a:p>
        </p:txBody>
      </p:sp>
      <p:pic>
        <p:nvPicPr>
          <p:cNvPr id="5" name="图片 4"/>
          <p:cNvPicPr>
            <a:picLocks noChangeAspect="1"/>
          </p:cNvPicPr>
          <p:nvPr/>
        </p:nvPicPr>
        <p:blipFill>
          <a:blip r:embed="rId2"/>
          <a:stretch>
            <a:fillRect/>
          </a:stretch>
        </p:blipFill>
        <p:spPr>
          <a:xfrm>
            <a:off x="6213020" y="1962018"/>
            <a:ext cx="5480973" cy="3381877"/>
          </a:xfrm>
          <a:prstGeom prst="rect">
            <a:avLst/>
          </a:prstGeom>
        </p:spPr>
      </p:pic>
    </p:spTree>
    <p:extLst>
      <p:ext uri="{BB962C8B-B14F-4D97-AF65-F5344CB8AC3E}">
        <p14:creationId xmlns:p14="http://schemas.microsoft.com/office/powerpoint/2010/main" val="209141037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10.11.1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攻击描述</a:t>
            </a:r>
            <a:endParaRPr lang="zh-CN" altLang="en-US" dirty="0"/>
          </a:p>
        </p:txBody>
      </p:sp>
      <p:sp>
        <p:nvSpPr>
          <p:cNvPr id="3" name="内容占位符 2"/>
          <p:cNvSpPr>
            <a:spLocks noGrp="1"/>
          </p:cNvSpPr>
          <p:nvPr>
            <p:ph idx="1"/>
          </p:nvPr>
        </p:nvSpPr>
        <p:spPr>
          <a:xfrm>
            <a:off x="838200" y="1510757"/>
            <a:ext cx="5087587" cy="4735663"/>
          </a:xfrm>
        </p:spPr>
        <p:txBody>
          <a:bodyPr>
            <a:normAutofit fontScale="92500" lnSpcReduction="10000"/>
          </a:bodyPr>
          <a:lstStyle/>
          <a:p>
            <a:pPr>
              <a:lnSpc>
                <a:spcPct val="120000"/>
              </a:lnSpc>
            </a:pPr>
            <a:r>
              <a:rPr lang="zh-CN" altLang="en-US" sz="2400" dirty="0">
                <a:solidFill>
                  <a:srgbClr val="C00000"/>
                </a:solidFill>
              </a:rPr>
              <a:t>反射</a:t>
            </a:r>
            <a:r>
              <a:rPr lang="en-US" altLang="zh-CN" sz="2400" dirty="0" err="1">
                <a:solidFill>
                  <a:srgbClr val="C00000"/>
                </a:solidFill>
              </a:rPr>
              <a:t>DDoS</a:t>
            </a:r>
            <a:r>
              <a:rPr lang="zh-CN" altLang="en-US" sz="2400" dirty="0">
                <a:solidFill>
                  <a:srgbClr val="C00000"/>
                </a:solidFill>
              </a:rPr>
              <a:t>攻击</a:t>
            </a:r>
            <a:r>
              <a:rPr lang="zh-CN" altLang="en-US" sz="2400" dirty="0"/>
              <a:t>：向攻击机制中加入了另一个层。从僵尸会</a:t>
            </a:r>
            <a:r>
              <a:rPr lang="zh-CN" altLang="en-US" sz="2400" dirty="0">
                <a:solidFill>
                  <a:srgbClr val="C00000"/>
                </a:solidFill>
              </a:rPr>
              <a:t>构造要求回应的封包</a:t>
            </a:r>
            <a:r>
              <a:rPr lang="zh-CN" altLang="en-US" sz="2400" dirty="0"/>
              <a:t>，</a:t>
            </a:r>
            <a:r>
              <a:rPr lang="zh-CN" altLang="en-US" sz="2400" b="1" dirty="0"/>
              <a:t>封包的</a:t>
            </a:r>
            <a:r>
              <a:rPr lang="en-US" altLang="zh-CN" sz="2400" b="1" dirty="0"/>
              <a:t>IP</a:t>
            </a:r>
            <a:r>
              <a:rPr lang="zh-CN" altLang="en-US" sz="2400" b="1" dirty="0"/>
              <a:t>头中包含有以目标</a:t>
            </a:r>
            <a:r>
              <a:rPr lang="en-US" altLang="zh-CN" sz="2400" b="1" dirty="0"/>
              <a:t>IP</a:t>
            </a:r>
            <a:r>
              <a:rPr lang="zh-CN" altLang="en-US" sz="2400" b="1" dirty="0"/>
              <a:t>作为源</a:t>
            </a:r>
            <a:r>
              <a:rPr lang="en-US" altLang="zh-CN" sz="2400" b="1" dirty="0"/>
              <a:t>IP</a:t>
            </a:r>
            <a:r>
              <a:rPr lang="zh-CN" altLang="en-US" sz="2400" b="1" dirty="0"/>
              <a:t>的地址</a:t>
            </a:r>
            <a:r>
              <a:rPr lang="zh-CN" altLang="en-US" sz="2400" dirty="0"/>
              <a:t>。这些封包被发送到未感染机器中。之后，这些未被感染的机器作为反射体，会根据封包的要求对目标机器做出回应。</a:t>
            </a:r>
            <a:endParaRPr lang="en-US" altLang="zh-CN" sz="2400" dirty="0"/>
          </a:p>
          <a:p>
            <a:pPr>
              <a:lnSpc>
                <a:spcPct val="120000"/>
              </a:lnSpc>
            </a:pPr>
            <a:r>
              <a:rPr lang="zh-CN" altLang="en-US" sz="2400" dirty="0"/>
              <a:t>相对直接</a:t>
            </a:r>
            <a:r>
              <a:rPr lang="en-US" altLang="zh-CN" sz="2400" dirty="0" err="1"/>
              <a:t>DDoS</a:t>
            </a:r>
            <a:r>
              <a:rPr lang="zh-CN" altLang="en-US" sz="2400" dirty="0"/>
              <a:t>攻击，反射</a:t>
            </a:r>
            <a:r>
              <a:rPr lang="en-US" altLang="zh-CN" sz="2400" dirty="0" err="1"/>
              <a:t>DDoS</a:t>
            </a:r>
            <a:r>
              <a:rPr lang="zh-CN" altLang="en-US" sz="2400" dirty="0"/>
              <a:t>攻击可以简单地使</a:t>
            </a:r>
            <a:r>
              <a:rPr lang="zh-CN" altLang="en-US" sz="2400" b="1" dirty="0"/>
              <a:t>更多机器和更多的网络流量被卷入</a:t>
            </a:r>
            <a:r>
              <a:rPr lang="zh-CN" altLang="en-US" sz="2400" dirty="0"/>
              <a:t>，另外，由于攻击来自广泛分布的未被感染的机器，</a:t>
            </a:r>
            <a:r>
              <a:rPr lang="zh-CN" altLang="en-US" sz="2400" dirty="0">
                <a:solidFill>
                  <a:srgbClr val="C00000"/>
                </a:solidFill>
              </a:rPr>
              <a:t>回溯攻击源或者过滤攻击封包也变得更加困难</a:t>
            </a:r>
            <a:r>
              <a:rPr lang="zh-CN" altLang="en-US" sz="2400" dirty="0"/>
              <a:t>。</a:t>
            </a:r>
            <a:endParaRPr lang="en-US" altLang="zh-CN"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141</a:t>
            </a:fld>
            <a:endParaRPr kumimoji="1" lang="zh-CN" altLang="en-US" dirty="0"/>
          </a:p>
        </p:txBody>
      </p:sp>
      <p:pic>
        <p:nvPicPr>
          <p:cNvPr id="5" name="图片 4"/>
          <p:cNvPicPr>
            <a:picLocks noChangeAspect="1"/>
          </p:cNvPicPr>
          <p:nvPr/>
        </p:nvPicPr>
        <p:blipFill>
          <a:blip r:embed="rId2"/>
          <a:stretch>
            <a:fillRect/>
          </a:stretch>
        </p:blipFill>
        <p:spPr>
          <a:xfrm>
            <a:off x="6131289" y="1766638"/>
            <a:ext cx="5615074" cy="4289777"/>
          </a:xfrm>
          <a:prstGeom prst="rect">
            <a:avLst/>
          </a:prstGeom>
        </p:spPr>
      </p:pic>
    </p:spTree>
    <p:extLst>
      <p:ext uri="{BB962C8B-B14F-4D97-AF65-F5344CB8AC3E}">
        <p14:creationId xmlns:p14="http://schemas.microsoft.com/office/powerpoint/2010/main" val="328671427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Amplification Attacks"/>
          <p:cNvSpPr txBox="1">
            <a:spLocks noGrp="1"/>
          </p:cNvSpPr>
          <p:nvPr>
            <p:ph type="title"/>
          </p:nvPr>
        </p:nvSpPr>
        <p:spPr>
          <a:prstGeom prst="rect">
            <a:avLst/>
          </a:prstGeom>
        </p:spPr>
        <p:txBody>
          <a:bodyPr>
            <a:normAutofit/>
          </a:bodyPr>
          <a:lstStyle>
            <a:lvl1pPr algn="l">
              <a:defRPr sz="13000">
                <a:latin typeface="Helvetica Neue Bold Condensed"/>
                <a:ea typeface="Helvetica Neue Bold Condensed"/>
                <a:cs typeface="Helvetica Neue Bold Condensed"/>
                <a:sym typeface="Helvetica Neue Bold Condensed"/>
              </a:defRPr>
            </a:lvl1pPr>
          </a:lstStyle>
          <a:p>
            <a:r>
              <a:rPr lang="zh-CN" altLang="en-US" sz="4000" dirty="0">
                <a:latin typeface="Microsoft YaHei" panose="020B0503020204020204" pitchFamily="34" charset="-122"/>
                <a:ea typeface="Microsoft YaHei" panose="020B0503020204020204" pitchFamily="34" charset="-122"/>
              </a:rPr>
              <a:t>放大攻击</a:t>
            </a:r>
            <a:endParaRPr sz="4000" dirty="0">
              <a:latin typeface="Microsoft YaHei" panose="020B0503020204020204" pitchFamily="34" charset="-122"/>
              <a:ea typeface="Microsoft YaHei" panose="020B0503020204020204" pitchFamily="34" charset="-122"/>
            </a:endParaRPr>
          </a:p>
        </p:txBody>
      </p:sp>
      <p:sp>
        <p:nvSpPr>
          <p:cNvPr id="213" name="Services that respond to a single (small) UDP packet with a large UDP packet can be used to amplify DOS attacks…"/>
          <p:cNvSpPr txBox="1">
            <a:spLocks noGrp="1"/>
          </p:cNvSpPr>
          <p:nvPr>
            <p:ph idx="1"/>
          </p:nvPr>
        </p:nvSpPr>
        <p:spPr>
          <a:xfrm>
            <a:off x="838200" y="1510758"/>
            <a:ext cx="5708423" cy="4586694"/>
          </a:xfrm>
          <a:prstGeom prst="rect">
            <a:avLst/>
          </a:prstGeom>
        </p:spPr>
        <p:txBody>
          <a:bodyPr vert="horz" lIns="91440" tIns="45720" rIns="91440" bIns="45720" rtlCol="0">
            <a:normAutofit fontScale="92500" lnSpcReduction="10000"/>
          </a:bodyPr>
          <a:lstStyle/>
          <a:p>
            <a:r>
              <a:rPr kumimoji="1" lang="zh-CN" altLang="en-US" dirty="0"/>
              <a:t>原理</a:t>
            </a:r>
            <a:endParaRPr kumimoji="1" lang="en-US" altLang="zh-CN" dirty="0"/>
          </a:p>
          <a:p>
            <a:pPr lvl="1"/>
            <a:r>
              <a:rPr kumimoji="1" lang="zh-CN" altLang="en-US" dirty="0"/>
              <a:t>请求所需的包很少（</a:t>
            </a:r>
            <a:r>
              <a:rPr kumimoji="1" lang="en-US" altLang="zh-CN" dirty="0"/>
              <a:t>1</a:t>
            </a:r>
            <a:r>
              <a:rPr kumimoji="1" lang="zh-CN" altLang="en-US" dirty="0"/>
              <a:t>个或少量）</a:t>
            </a:r>
            <a:endParaRPr kumimoji="1" lang="en-US" altLang="zh-CN" dirty="0"/>
          </a:p>
          <a:p>
            <a:pPr lvl="1"/>
            <a:r>
              <a:rPr kumimoji="1" lang="zh-CN" altLang="en-US" dirty="0"/>
              <a:t>服务器端响应需要很多包</a:t>
            </a:r>
            <a:endParaRPr kumimoji="1" lang="en-US" altLang="zh-CN" dirty="0"/>
          </a:p>
          <a:p>
            <a:pPr lvl="1"/>
            <a:r>
              <a:rPr kumimoji="1" lang="zh-CN" altLang="en-US" dirty="0"/>
              <a:t>可用于放大</a:t>
            </a:r>
            <a:r>
              <a:rPr kumimoji="1" lang="en-US" altLang="zh-CN" dirty="0"/>
              <a:t>Dos</a:t>
            </a:r>
            <a:r>
              <a:rPr kumimoji="1" lang="zh-CN" altLang="en-US" dirty="0"/>
              <a:t>攻击效果</a:t>
            </a:r>
            <a:endParaRPr kumimoji="1" dirty="0"/>
          </a:p>
          <a:p>
            <a:r>
              <a:rPr kumimoji="1" lang="zh-CN" altLang="en-US" dirty="0"/>
              <a:t>攻击方式</a:t>
            </a:r>
            <a:endParaRPr kumimoji="1" lang="en-US" altLang="zh-CN" dirty="0"/>
          </a:p>
          <a:p>
            <a:pPr lvl="1"/>
            <a:r>
              <a:rPr kumimoji="1" lang="zh-CN" altLang="en-US" dirty="0"/>
              <a:t>伪造报文的源地址</a:t>
            </a:r>
            <a:endParaRPr kumimoji="1" lang="en-US" altLang="zh-CN" dirty="0"/>
          </a:p>
          <a:p>
            <a:pPr lvl="1"/>
            <a:r>
              <a:rPr kumimoji="1" lang="zh-CN" altLang="en-US" dirty="0"/>
              <a:t>将源地址设为攻击目标的</a:t>
            </a:r>
            <a:r>
              <a:rPr kumimoji="1" lang="en-US" altLang="zh-CN" dirty="0"/>
              <a:t>IP</a:t>
            </a:r>
            <a:r>
              <a:rPr kumimoji="1" lang="zh-CN" altLang="en-US" dirty="0"/>
              <a:t>地址</a:t>
            </a:r>
            <a:endParaRPr kumimoji="1" lang="en-US" altLang="zh-CN" dirty="0"/>
          </a:p>
          <a:p>
            <a:pPr lvl="1"/>
            <a:r>
              <a:rPr kumimoji="1" lang="zh-CN" altLang="en-US" dirty="0"/>
              <a:t>服务器将大量响应报文发送给目标</a:t>
            </a:r>
            <a:endParaRPr kumimoji="1" dirty="0"/>
          </a:p>
          <a:p>
            <a:r>
              <a:rPr kumimoji="1" lang="zh-CN" altLang="en-US" dirty="0"/>
              <a:t>必要条件</a:t>
            </a:r>
            <a:endParaRPr kumimoji="1" lang="en-US" altLang="zh-CN" dirty="0"/>
          </a:p>
          <a:p>
            <a:pPr lvl="1"/>
            <a:r>
              <a:rPr kumimoji="1" lang="zh-CN" altLang="en-US" dirty="0"/>
              <a:t>攻击者需要准备大量的服务请求</a:t>
            </a:r>
            <a:endParaRPr kumimoji="1" lang="en-US" altLang="zh-CN" dirty="0"/>
          </a:p>
          <a:p>
            <a:pPr lvl="1"/>
            <a:r>
              <a:rPr kumimoji="1" lang="zh-CN" altLang="en-US" dirty="0"/>
              <a:t>否则目标将通过简单的丢包化解</a:t>
            </a:r>
            <a:endParaRPr kumimoji="1" dirty="0"/>
          </a:p>
        </p:txBody>
      </p:sp>
      <p:sp>
        <p:nvSpPr>
          <p:cNvPr id="215" name="60-70x Increase in Size"/>
          <p:cNvSpPr txBox="1"/>
          <p:nvPr/>
        </p:nvSpPr>
        <p:spPr>
          <a:xfrm>
            <a:off x="8216780" y="5330381"/>
            <a:ext cx="2161102" cy="4470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a:defRPr sz="2000"/>
            </a:lvl1pPr>
          </a:lstStyle>
          <a:p>
            <a:r>
              <a:rPr lang="en-US" altLang="zh-CN" b="1" dirty="0">
                <a:solidFill>
                  <a:srgbClr val="BE5108"/>
                </a:solidFill>
                <a:latin typeface="微软雅黑" panose="020B0503020204020204" pitchFamily="34" charset="-122"/>
                <a:ea typeface="微软雅黑" panose="020B0503020204020204" pitchFamily="34" charset="-122"/>
              </a:rPr>
              <a:t>~66</a:t>
            </a:r>
            <a:r>
              <a:rPr lang="zh-CN" altLang="en-US" b="1" dirty="0">
                <a:solidFill>
                  <a:srgbClr val="BE5108"/>
                </a:solidFill>
                <a:latin typeface="微软雅黑" panose="020B0503020204020204" pitchFamily="34" charset="-122"/>
                <a:ea typeface="微软雅黑" panose="020B0503020204020204" pitchFamily="34" charset="-122"/>
              </a:rPr>
              <a:t>倍规模放大</a:t>
            </a:r>
            <a:endParaRPr b="1" dirty="0">
              <a:solidFill>
                <a:srgbClr val="BE5108"/>
              </a:solidFill>
              <a:latin typeface="微软雅黑" panose="020B0503020204020204" pitchFamily="34" charset="-122"/>
              <a:ea typeface="微软雅黑" panose="020B0503020204020204" pitchFamily="34" charset="-122"/>
            </a:endParaRPr>
          </a:p>
        </p:txBody>
      </p:sp>
      <p:sp>
        <p:nvSpPr>
          <p:cNvPr id="10" name="anonymous_99618">
            <a:extLst>
              <a:ext uri="{FF2B5EF4-FFF2-40B4-BE49-F238E27FC236}">
                <a16:creationId xmlns:a16="http://schemas.microsoft.com/office/drawing/2014/main" id="{91D9E080-EFA7-4E0F-B254-B1B719360DE3}"/>
              </a:ext>
            </a:extLst>
          </p:cNvPr>
          <p:cNvSpPr/>
          <p:nvPr/>
        </p:nvSpPr>
        <p:spPr>
          <a:xfrm>
            <a:off x="6488478" y="1971681"/>
            <a:ext cx="556399" cy="606297"/>
          </a:xfrm>
          <a:custGeom>
            <a:avLst/>
            <a:gdLst>
              <a:gd name="connsiteX0" fmla="*/ 255941 w 579906"/>
              <a:gd name="connsiteY0" fmla="*/ 386840 h 600018"/>
              <a:gd name="connsiteX1" fmla="*/ 323966 w 579906"/>
              <a:gd name="connsiteY1" fmla="*/ 386840 h 600018"/>
              <a:gd name="connsiteX2" fmla="*/ 289844 w 579906"/>
              <a:gd name="connsiteY2" fmla="*/ 504190 h 600018"/>
              <a:gd name="connsiteX3" fmla="*/ 271909 w 579906"/>
              <a:gd name="connsiteY3" fmla="*/ 342736 h 600018"/>
              <a:gd name="connsiteX4" fmla="*/ 307780 w 579906"/>
              <a:gd name="connsiteY4" fmla="*/ 342736 h 600018"/>
              <a:gd name="connsiteX5" fmla="*/ 319591 w 579906"/>
              <a:gd name="connsiteY5" fmla="*/ 354305 h 600018"/>
              <a:gd name="connsiteX6" fmla="*/ 307780 w 579906"/>
              <a:gd name="connsiteY6" fmla="*/ 366093 h 600018"/>
              <a:gd name="connsiteX7" fmla="*/ 271909 w 579906"/>
              <a:gd name="connsiteY7" fmla="*/ 366093 h 600018"/>
              <a:gd name="connsiteX8" fmla="*/ 260316 w 579906"/>
              <a:gd name="connsiteY8" fmla="*/ 354305 h 600018"/>
              <a:gd name="connsiteX9" fmla="*/ 271909 w 579906"/>
              <a:gd name="connsiteY9" fmla="*/ 342736 h 600018"/>
              <a:gd name="connsiteX10" fmla="*/ 254411 w 579906"/>
              <a:gd name="connsiteY10" fmla="*/ 286783 h 600018"/>
              <a:gd name="connsiteX11" fmla="*/ 325495 w 579906"/>
              <a:gd name="connsiteY11" fmla="*/ 286783 h 600018"/>
              <a:gd name="connsiteX12" fmla="*/ 340368 w 579906"/>
              <a:gd name="connsiteY12" fmla="*/ 295307 h 600018"/>
              <a:gd name="connsiteX13" fmla="*/ 357647 w 579906"/>
              <a:gd name="connsiteY13" fmla="*/ 323502 h 600018"/>
              <a:gd name="connsiteX14" fmla="*/ 405328 w 579906"/>
              <a:gd name="connsiteY14" fmla="*/ 323502 h 600018"/>
              <a:gd name="connsiteX15" fmla="*/ 420419 w 579906"/>
              <a:gd name="connsiteY15" fmla="*/ 295963 h 600018"/>
              <a:gd name="connsiteX16" fmla="*/ 444260 w 579906"/>
              <a:gd name="connsiteY16" fmla="*/ 288969 h 600018"/>
              <a:gd name="connsiteX17" fmla="*/ 451259 w 579906"/>
              <a:gd name="connsiteY17" fmla="*/ 312793 h 600018"/>
              <a:gd name="connsiteX18" fmla="*/ 430918 w 579906"/>
              <a:gd name="connsiteY18" fmla="*/ 349512 h 600018"/>
              <a:gd name="connsiteX19" fmla="*/ 415608 w 579906"/>
              <a:gd name="connsiteY19" fmla="*/ 358473 h 600018"/>
              <a:gd name="connsiteX20" fmla="*/ 347804 w 579906"/>
              <a:gd name="connsiteY20" fmla="*/ 358473 h 600018"/>
              <a:gd name="connsiteX21" fmla="*/ 332713 w 579906"/>
              <a:gd name="connsiteY21" fmla="*/ 350167 h 600018"/>
              <a:gd name="connsiteX22" fmla="*/ 315653 w 579906"/>
              <a:gd name="connsiteY22" fmla="*/ 321754 h 600018"/>
              <a:gd name="connsiteX23" fmla="*/ 264253 w 579906"/>
              <a:gd name="connsiteY23" fmla="*/ 321754 h 600018"/>
              <a:gd name="connsiteX24" fmla="*/ 247193 w 579906"/>
              <a:gd name="connsiteY24" fmla="*/ 350167 h 600018"/>
              <a:gd name="connsiteX25" fmla="*/ 232102 w 579906"/>
              <a:gd name="connsiteY25" fmla="*/ 358473 h 600018"/>
              <a:gd name="connsiteX26" fmla="*/ 164298 w 579906"/>
              <a:gd name="connsiteY26" fmla="*/ 358473 h 600018"/>
              <a:gd name="connsiteX27" fmla="*/ 148769 w 579906"/>
              <a:gd name="connsiteY27" fmla="*/ 349512 h 600018"/>
              <a:gd name="connsiteX28" fmla="*/ 128647 w 579906"/>
              <a:gd name="connsiteY28" fmla="*/ 312793 h 600018"/>
              <a:gd name="connsiteX29" fmla="*/ 135646 w 579906"/>
              <a:gd name="connsiteY29" fmla="*/ 288969 h 600018"/>
              <a:gd name="connsiteX30" fmla="*/ 159268 w 579906"/>
              <a:gd name="connsiteY30" fmla="*/ 295963 h 600018"/>
              <a:gd name="connsiteX31" fmla="*/ 174578 w 579906"/>
              <a:gd name="connsiteY31" fmla="*/ 323502 h 600018"/>
              <a:gd name="connsiteX32" fmla="*/ 222259 w 579906"/>
              <a:gd name="connsiteY32" fmla="*/ 323502 h 600018"/>
              <a:gd name="connsiteX33" fmla="*/ 239319 w 579906"/>
              <a:gd name="connsiteY33" fmla="*/ 295307 h 600018"/>
              <a:gd name="connsiteX34" fmla="*/ 254411 w 579906"/>
              <a:gd name="connsiteY34" fmla="*/ 286783 h 600018"/>
              <a:gd name="connsiteX35" fmla="*/ 379524 w 579906"/>
              <a:gd name="connsiteY35" fmla="*/ 160325 h 600018"/>
              <a:gd name="connsiteX36" fmla="*/ 425909 w 579906"/>
              <a:gd name="connsiteY36" fmla="*/ 160325 h 600018"/>
              <a:gd name="connsiteX37" fmla="*/ 437505 w 579906"/>
              <a:gd name="connsiteY37" fmla="*/ 172113 h 600018"/>
              <a:gd name="connsiteX38" fmla="*/ 425909 w 579906"/>
              <a:gd name="connsiteY38" fmla="*/ 183682 h 600018"/>
              <a:gd name="connsiteX39" fmla="*/ 379524 w 579906"/>
              <a:gd name="connsiteY39" fmla="*/ 183682 h 600018"/>
              <a:gd name="connsiteX40" fmla="*/ 367928 w 579906"/>
              <a:gd name="connsiteY40" fmla="*/ 172113 h 600018"/>
              <a:gd name="connsiteX41" fmla="*/ 379524 w 579906"/>
              <a:gd name="connsiteY41" fmla="*/ 160325 h 600018"/>
              <a:gd name="connsiteX42" fmla="*/ 156819 w 579906"/>
              <a:gd name="connsiteY42" fmla="*/ 160325 h 600018"/>
              <a:gd name="connsiteX43" fmla="*/ 203204 w 579906"/>
              <a:gd name="connsiteY43" fmla="*/ 160325 h 600018"/>
              <a:gd name="connsiteX44" fmla="*/ 214800 w 579906"/>
              <a:gd name="connsiteY44" fmla="*/ 172113 h 600018"/>
              <a:gd name="connsiteX45" fmla="*/ 203204 w 579906"/>
              <a:gd name="connsiteY45" fmla="*/ 183682 h 600018"/>
              <a:gd name="connsiteX46" fmla="*/ 156819 w 579906"/>
              <a:gd name="connsiteY46" fmla="*/ 183682 h 600018"/>
              <a:gd name="connsiteX47" fmla="*/ 145223 w 579906"/>
              <a:gd name="connsiteY47" fmla="*/ 172113 h 600018"/>
              <a:gd name="connsiteX48" fmla="*/ 156819 w 579906"/>
              <a:gd name="connsiteY48" fmla="*/ 160325 h 600018"/>
              <a:gd name="connsiteX49" fmla="*/ 401161 w 579906"/>
              <a:gd name="connsiteY49" fmla="*/ 98933 h 600018"/>
              <a:gd name="connsiteX50" fmla="*/ 492385 w 579906"/>
              <a:gd name="connsiteY50" fmla="*/ 151593 h 600018"/>
              <a:gd name="connsiteX51" fmla="*/ 486040 w 579906"/>
              <a:gd name="connsiteY51" fmla="*/ 175410 h 600018"/>
              <a:gd name="connsiteX52" fmla="*/ 462196 w 579906"/>
              <a:gd name="connsiteY52" fmla="*/ 169074 h 600018"/>
              <a:gd name="connsiteX53" fmla="*/ 401161 w 579906"/>
              <a:gd name="connsiteY53" fmla="*/ 133894 h 600018"/>
              <a:gd name="connsiteX54" fmla="*/ 340346 w 579906"/>
              <a:gd name="connsiteY54" fmla="*/ 169074 h 600018"/>
              <a:gd name="connsiteX55" fmla="*/ 325032 w 579906"/>
              <a:gd name="connsiteY55" fmla="*/ 177814 h 600018"/>
              <a:gd name="connsiteX56" fmla="*/ 316282 w 579906"/>
              <a:gd name="connsiteY56" fmla="*/ 175410 h 600018"/>
              <a:gd name="connsiteX57" fmla="*/ 309938 w 579906"/>
              <a:gd name="connsiteY57" fmla="*/ 151593 h 600018"/>
              <a:gd name="connsiteX58" fmla="*/ 401161 w 579906"/>
              <a:gd name="connsiteY58" fmla="*/ 98933 h 600018"/>
              <a:gd name="connsiteX59" fmla="*/ 178527 w 579906"/>
              <a:gd name="connsiteY59" fmla="*/ 98933 h 600018"/>
              <a:gd name="connsiteX60" fmla="*/ 269969 w 579906"/>
              <a:gd name="connsiteY60" fmla="*/ 151593 h 600018"/>
              <a:gd name="connsiteX61" fmla="*/ 263406 w 579906"/>
              <a:gd name="connsiteY61" fmla="*/ 175410 h 600018"/>
              <a:gd name="connsiteX62" fmla="*/ 239561 w 579906"/>
              <a:gd name="connsiteY62" fmla="*/ 169074 h 600018"/>
              <a:gd name="connsiteX63" fmla="*/ 178527 w 579906"/>
              <a:gd name="connsiteY63" fmla="*/ 133894 h 600018"/>
              <a:gd name="connsiteX64" fmla="*/ 117711 w 579906"/>
              <a:gd name="connsiteY64" fmla="*/ 169074 h 600018"/>
              <a:gd name="connsiteX65" fmla="*/ 102398 w 579906"/>
              <a:gd name="connsiteY65" fmla="*/ 177814 h 600018"/>
              <a:gd name="connsiteX66" fmla="*/ 93648 w 579906"/>
              <a:gd name="connsiteY66" fmla="*/ 175410 h 600018"/>
              <a:gd name="connsiteX67" fmla="*/ 87304 w 579906"/>
              <a:gd name="connsiteY67" fmla="*/ 151593 h 600018"/>
              <a:gd name="connsiteX68" fmla="*/ 178527 w 579906"/>
              <a:gd name="connsiteY68" fmla="*/ 98933 h 600018"/>
              <a:gd name="connsiteX69" fmla="*/ 97344 w 579906"/>
              <a:gd name="connsiteY69" fmla="*/ 34948 h 600018"/>
              <a:gd name="connsiteX70" fmla="*/ 75031 w 579906"/>
              <a:gd name="connsiteY70" fmla="*/ 75357 h 600018"/>
              <a:gd name="connsiteX71" fmla="*/ 35219 w 579906"/>
              <a:gd name="connsiteY71" fmla="*/ 97200 h 600018"/>
              <a:gd name="connsiteX72" fmla="*/ 289844 w 579906"/>
              <a:gd name="connsiteY72" fmla="*/ 561793 h 600018"/>
              <a:gd name="connsiteX73" fmla="*/ 544687 w 579906"/>
              <a:gd name="connsiteY73" fmla="*/ 97200 h 600018"/>
              <a:gd name="connsiteX74" fmla="*/ 504656 w 579906"/>
              <a:gd name="connsiteY74" fmla="*/ 75357 h 600018"/>
              <a:gd name="connsiteX75" fmla="*/ 482562 w 579906"/>
              <a:gd name="connsiteY75" fmla="*/ 34948 h 600018"/>
              <a:gd name="connsiteX76" fmla="*/ 81594 w 579906"/>
              <a:gd name="connsiteY76" fmla="*/ 0 h 600018"/>
              <a:gd name="connsiteX77" fmla="*/ 498312 w 579906"/>
              <a:gd name="connsiteY77" fmla="*/ 0 h 600018"/>
              <a:gd name="connsiteX78" fmla="*/ 510562 w 579906"/>
              <a:gd name="connsiteY78" fmla="*/ 5024 h 600018"/>
              <a:gd name="connsiteX79" fmla="*/ 515812 w 579906"/>
              <a:gd name="connsiteY79" fmla="*/ 17474 h 600018"/>
              <a:gd name="connsiteX80" fmla="*/ 529375 w 579906"/>
              <a:gd name="connsiteY80" fmla="*/ 50457 h 600018"/>
              <a:gd name="connsiteX81" fmla="*/ 562187 w 579906"/>
              <a:gd name="connsiteY81" fmla="*/ 63999 h 600018"/>
              <a:gd name="connsiteX82" fmla="*/ 562406 w 579906"/>
              <a:gd name="connsiteY82" fmla="*/ 63999 h 600018"/>
              <a:gd name="connsiteX83" fmla="*/ 574875 w 579906"/>
              <a:gd name="connsiteY83" fmla="*/ 69241 h 600018"/>
              <a:gd name="connsiteX84" fmla="*/ 579906 w 579906"/>
              <a:gd name="connsiteY84" fmla="*/ 81692 h 600018"/>
              <a:gd name="connsiteX85" fmla="*/ 532437 w 579906"/>
              <a:gd name="connsiteY85" fmla="*/ 325019 h 600018"/>
              <a:gd name="connsiteX86" fmla="*/ 299250 w 579906"/>
              <a:gd name="connsiteY86" fmla="*/ 597397 h 600018"/>
              <a:gd name="connsiteX87" fmla="*/ 289844 w 579906"/>
              <a:gd name="connsiteY87" fmla="*/ 600018 h 600018"/>
              <a:gd name="connsiteX88" fmla="*/ 280656 w 579906"/>
              <a:gd name="connsiteY88" fmla="*/ 597397 h 600018"/>
              <a:gd name="connsiteX89" fmla="*/ 47469 w 579906"/>
              <a:gd name="connsiteY89" fmla="*/ 325019 h 600018"/>
              <a:gd name="connsiteX90" fmla="*/ 0 w 579906"/>
              <a:gd name="connsiteY90" fmla="*/ 81692 h 600018"/>
              <a:gd name="connsiteX91" fmla="*/ 5031 w 579906"/>
              <a:gd name="connsiteY91" fmla="*/ 69241 h 600018"/>
              <a:gd name="connsiteX92" fmla="*/ 17500 w 579906"/>
              <a:gd name="connsiteY92" fmla="*/ 63999 h 600018"/>
              <a:gd name="connsiteX93" fmla="*/ 17719 w 579906"/>
              <a:gd name="connsiteY93" fmla="*/ 63999 h 600018"/>
              <a:gd name="connsiteX94" fmla="*/ 50312 w 579906"/>
              <a:gd name="connsiteY94" fmla="*/ 50457 h 600018"/>
              <a:gd name="connsiteX95" fmla="*/ 64094 w 579906"/>
              <a:gd name="connsiteY95" fmla="*/ 17474 h 600018"/>
              <a:gd name="connsiteX96" fmla="*/ 69344 w 579906"/>
              <a:gd name="connsiteY96" fmla="*/ 5024 h 600018"/>
              <a:gd name="connsiteX97" fmla="*/ 81594 w 579906"/>
              <a:gd name="connsiteY97" fmla="*/ 0 h 60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79906" h="600018">
                <a:moveTo>
                  <a:pt x="255941" y="386840"/>
                </a:moveTo>
                <a:lnTo>
                  <a:pt x="323966" y="386840"/>
                </a:lnTo>
                <a:lnTo>
                  <a:pt x="289844" y="504190"/>
                </a:lnTo>
                <a:close/>
                <a:moveTo>
                  <a:pt x="271909" y="342736"/>
                </a:moveTo>
                <a:lnTo>
                  <a:pt x="307780" y="342736"/>
                </a:lnTo>
                <a:cubicBezTo>
                  <a:pt x="314342" y="342736"/>
                  <a:pt x="319591" y="347975"/>
                  <a:pt x="319591" y="354305"/>
                </a:cubicBezTo>
                <a:cubicBezTo>
                  <a:pt x="319591" y="360854"/>
                  <a:pt x="314342" y="366093"/>
                  <a:pt x="307780" y="366093"/>
                </a:cubicBezTo>
                <a:lnTo>
                  <a:pt x="271909" y="366093"/>
                </a:lnTo>
                <a:cubicBezTo>
                  <a:pt x="265566" y="366093"/>
                  <a:pt x="260316" y="360854"/>
                  <a:pt x="260316" y="354305"/>
                </a:cubicBezTo>
                <a:cubicBezTo>
                  <a:pt x="260316" y="347975"/>
                  <a:pt x="265566" y="342736"/>
                  <a:pt x="271909" y="342736"/>
                </a:cubicBezTo>
                <a:close/>
                <a:moveTo>
                  <a:pt x="254411" y="286783"/>
                </a:moveTo>
                <a:lnTo>
                  <a:pt x="325495" y="286783"/>
                </a:lnTo>
                <a:cubicBezTo>
                  <a:pt x="331619" y="286783"/>
                  <a:pt x="337306" y="290062"/>
                  <a:pt x="340368" y="295307"/>
                </a:cubicBezTo>
                <a:lnTo>
                  <a:pt x="357647" y="323502"/>
                </a:lnTo>
                <a:lnTo>
                  <a:pt x="405328" y="323502"/>
                </a:lnTo>
                <a:lnTo>
                  <a:pt x="420419" y="295963"/>
                </a:lnTo>
                <a:cubicBezTo>
                  <a:pt x="425231" y="287439"/>
                  <a:pt x="435730" y="284379"/>
                  <a:pt x="444260" y="288969"/>
                </a:cubicBezTo>
                <a:cubicBezTo>
                  <a:pt x="452790" y="293777"/>
                  <a:pt x="455852" y="304269"/>
                  <a:pt x="451259" y="312793"/>
                </a:cubicBezTo>
                <a:lnTo>
                  <a:pt x="430918" y="349512"/>
                </a:lnTo>
                <a:cubicBezTo>
                  <a:pt x="427856" y="354976"/>
                  <a:pt x="421951" y="358473"/>
                  <a:pt x="415608" y="358473"/>
                </a:cubicBezTo>
                <a:lnTo>
                  <a:pt x="347804" y="358473"/>
                </a:lnTo>
                <a:cubicBezTo>
                  <a:pt x="341680" y="358473"/>
                  <a:pt x="335994" y="355413"/>
                  <a:pt x="332713" y="350167"/>
                </a:cubicBezTo>
                <a:lnTo>
                  <a:pt x="315653" y="321754"/>
                </a:lnTo>
                <a:lnTo>
                  <a:pt x="264253" y="321754"/>
                </a:lnTo>
                <a:lnTo>
                  <a:pt x="247193" y="350167"/>
                </a:lnTo>
                <a:cubicBezTo>
                  <a:pt x="243912" y="355413"/>
                  <a:pt x="238226" y="358473"/>
                  <a:pt x="232102" y="358473"/>
                </a:cubicBezTo>
                <a:lnTo>
                  <a:pt x="164298" y="358473"/>
                </a:lnTo>
                <a:cubicBezTo>
                  <a:pt x="157737" y="358473"/>
                  <a:pt x="152050" y="354976"/>
                  <a:pt x="148769" y="349512"/>
                </a:cubicBezTo>
                <a:lnTo>
                  <a:pt x="128647" y="312793"/>
                </a:lnTo>
                <a:cubicBezTo>
                  <a:pt x="124054" y="304269"/>
                  <a:pt x="127116" y="293777"/>
                  <a:pt x="135646" y="288969"/>
                </a:cubicBezTo>
                <a:cubicBezTo>
                  <a:pt x="143957" y="284379"/>
                  <a:pt x="154675" y="287439"/>
                  <a:pt x="159268" y="295963"/>
                </a:cubicBezTo>
                <a:lnTo>
                  <a:pt x="174578" y="323502"/>
                </a:lnTo>
                <a:lnTo>
                  <a:pt x="222259" y="323502"/>
                </a:lnTo>
                <a:lnTo>
                  <a:pt x="239319" y="295307"/>
                </a:lnTo>
                <a:cubicBezTo>
                  <a:pt x="242600" y="290062"/>
                  <a:pt x="248287" y="286783"/>
                  <a:pt x="254411" y="286783"/>
                </a:cubicBezTo>
                <a:close/>
                <a:moveTo>
                  <a:pt x="379524" y="160325"/>
                </a:moveTo>
                <a:lnTo>
                  <a:pt x="425909" y="160325"/>
                </a:lnTo>
                <a:cubicBezTo>
                  <a:pt x="432254" y="160325"/>
                  <a:pt x="437505" y="165564"/>
                  <a:pt x="437505" y="172113"/>
                </a:cubicBezTo>
                <a:cubicBezTo>
                  <a:pt x="437505" y="178443"/>
                  <a:pt x="432254" y="183682"/>
                  <a:pt x="425909" y="183682"/>
                </a:cubicBezTo>
                <a:lnTo>
                  <a:pt x="379524" y="183682"/>
                </a:lnTo>
                <a:cubicBezTo>
                  <a:pt x="373179" y="183682"/>
                  <a:pt x="367928" y="178443"/>
                  <a:pt x="367928" y="172113"/>
                </a:cubicBezTo>
                <a:cubicBezTo>
                  <a:pt x="367928" y="165564"/>
                  <a:pt x="373179" y="160325"/>
                  <a:pt x="379524" y="160325"/>
                </a:cubicBezTo>
                <a:close/>
                <a:moveTo>
                  <a:pt x="156819" y="160325"/>
                </a:moveTo>
                <a:lnTo>
                  <a:pt x="203204" y="160325"/>
                </a:lnTo>
                <a:cubicBezTo>
                  <a:pt x="209549" y="160325"/>
                  <a:pt x="214800" y="165564"/>
                  <a:pt x="214800" y="172113"/>
                </a:cubicBezTo>
                <a:cubicBezTo>
                  <a:pt x="214800" y="178443"/>
                  <a:pt x="209549" y="183682"/>
                  <a:pt x="203204" y="183682"/>
                </a:cubicBezTo>
                <a:lnTo>
                  <a:pt x="156819" y="183682"/>
                </a:lnTo>
                <a:cubicBezTo>
                  <a:pt x="150474" y="183682"/>
                  <a:pt x="145223" y="178443"/>
                  <a:pt x="145223" y="172113"/>
                </a:cubicBezTo>
                <a:cubicBezTo>
                  <a:pt x="145223" y="165564"/>
                  <a:pt x="150474" y="160325"/>
                  <a:pt x="156819" y="160325"/>
                </a:cubicBezTo>
                <a:close/>
                <a:moveTo>
                  <a:pt x="401161" y="98933"/>
                </a:moveTo>
                <a:cubicBezTo>
                  <a:pt x="438788" y="98933"/>
                  <a:pt x="473571" y="119254"/>
                  <a:pt x="492385" y="151593"/>
                </a:cubicBezTo>
                <a:cubicBezTo>
                  <a:pt x="497416" y="159896"/>
                  <a:pt x="494353" y="170603"/>
                  <a:pt x="486040" y="175410"/>
                </a:cubicBezTo>
                <a:cubicBezTo>
                  <a:pt x="477728" y="180436"/>
                  <a:pt x="467008" y="177377"/>
                  <a:pt x="462196" y="169074"/>
                </a:cubicBezTo>
                <a:cubicBezTo>
                  <a:pt x="449726" y="147441"/>
                  <a:pt x="426319" y="133894"/>
                  <a:pt x="401161" y="133894"/>
                </a:cubicBezTo>
                <a:cubicBezTo>
                  <a:pt x="376222" y="133894"/>
                  <a:pt x="352815" y="147441"/>
                  <a:pt x="340346" y="169074"/>
                </a:cubicBezTo>
                <a:cubicBezTo>
                  <a:pt x="337064" y="174755"/>
                  <a:pt x="331158" y="177814"/>
                  <a:pt x="325032" y="177814"/>
                </a:cubicBezTo>
                <a:cubicBezTo>
                  <a:pt x="322188" y="177814"/>
                  <a:pt x="319126" y="177158"/>
                  <a:pt x="316282" y="175410"/>
                </a:cubicBezTo>
                <a:cubicBezTo>
                  <a:pt x="307969" y="170603"/>
                  <a:pt x="305125" y="159896"/>
                  <a:pt x="309938" y="151593"/>
                </a:cubicBezTo>
                <a:cubicBezTo>
                  <a:pt x="328751" y="119254"/>
                  <a:pt x="363753" y="98933"/>
                  <a:pt x="401161" y="98933"/>
                </a:cubicBezTo>
                <a:close/>
                <a:moveTo>
                  <a:pt x="178527" y="98933"/>
                </a:moveTo>
                <a:cubicBezTo>
                  <a:pt x="216154" y="98933"/>
                  <a:pt x="251156" y="119254"/>
                  <a:pt x="269969" y="151593"/>
                </a:cubicBezTo>
                <a:cubicBezTo>
                  <a:pt x="274782" y="159896"/>
                  <a:pt x="271938" y="170603"/>
                  <a:pt x="263406" y="175410"/>
                </a:cubicBezTo>
                <a:cubicBezTo>
                  <a:pt x="255093" y="180436"/>
                  <a:pt x="244374" y="177377"/>
                  <a:pt x="239561" y="169074"/>
                </a:cubicBezTo>
                <a:cubicBezTo>
                  <a:pt x="227092" y="147441"/>
                  <a:pt x="203685" y="133894"/>
                  <a:pt x="178527" y="133894"/>
                </a:cubicBezTo>
                <a:cubicBezTo>
                  <a:pt x="153588" y="133894"/>
                  <a:pt x="130181" y="147441"/>
                  <a:pt x="117711" y="169074"/>
                </a:cubicBezTo>
                <a:cubicBezTo>
                  <a:pt x="114430" y="174755"/>
                  <a:pt x="108524" y="177814"/>
                  <a:pt x="102398" y="177814"/>
                </a:cubicBezTo>
                <a:cubicBezTo>
                  <a:pt x="99554" y="177814"/>
                  <a:pt x="96492" y="177158"/>
                  <a:pt x="93648" y="175410"/>
                </a:cubicBezTo>
                <a:cubicBezTo>
                  <a:pt x="85335" y="170603"/>
                  <a:pt x="82491" y="159896"/>
                  <a:pt x="87304" y="151593"/>
                </a:cubicBezTo>
                <a:cubicBezTo>
                  <a:pt x="106117" y="119254"/>
                  <a:pt x="141119" y="98933"/>
                  <a:pt x="178527" y="98933"/>
                </a:cubicBezTo>
                <a:close/>
                <a:moveTo>
                  <a:pt x="97344" y="34948"/>
                </a:moveTo>
                <a:cubicBezTo>
                  <a:pt x="94062" y="50020"/>
                  <a:pt x="86406" y="63999"/>
                  <a:pt x="75031" y="75357"/>
                </a:cubicBezTo>
                <a:cubicBezTo>
                  <a:pt x="63875" y="86497"/>
                  <a:pt x="50094" y="93923"/>
                  <a:pt x="35219" y="97200"/>
                </a:cubicBezTo>
                <a:cubicBezTo>
                  <a:pt x="38500" y="218645"/>
                  <a:pt x="78531" y="425058"/>
                  <a:pt x="289844" y="561793"/>
                </a:cubicBezTo>
                <a:cubicBezTo>
                  <a:pt x="501375" y="425058"/>
                  <a:pt x="541406" y="218645"/>
                  <a:pt x="544687" y="97200"/>
                </a:cubicBezTo>
                <a:cubicBezTo>
                  <a:pt x="529594" y="93923"/>
                  <a:pt x="515812" y="86497"/>
                  <a:pt x="504656" y="75357"/>
                </a:cubicBezTo>
                <a:cubicBezTo>
                  <a:pt x="493500" y="63999"/>
                  <a:pt x="485844" y="50020"/>
                  <a:pt x="482562" y="34948"/>
                </a:cubicBezTo>
                <a:close/>
                <a:moveTo>
                  <a:pt x="81594" y="0"/>
                </a:moveTo>
                <a:lnTo>
                  <a:pt x="498312" y="0"/>
                </a:lnTo>
                <a:cubicBezTo>
                  <a:pt x="502906" y="0"/>
                  <a:pt x="507281" y="1747"/>
                  <a:pt x="510562" y="5024"/>
                </a:cubicBezTo>
                <a:cubicBezTo>
                  <a:pt x="513844" y="8300"/>
                  <a:pt x="515812" y="12887"/>
                  <a:pt x="515812" y="17474"/>
                </a:cubicBezTo>
                <a:cubicBezTo>
                  <a:pt x="515812" y="29924"/>
                  <a:pt x="520625" y="41719"/>
                  <a:pt x="529375" y="50457"/>
                </a:cubicBezTo>
                <a:cubicBezTo>
                  <a:pt x="538125" y="59194"/>
                  <a:pt x="549937" y="63999"/>
                  <a:pt x="562187" y="63999"/>
                </a:cubicBezTo>
                <a:cubicBezTo>
                  <a:pt x="562187" y="63999"/>
                  <a:pt x="562406" y="63999"/>
                  <a:pt x="562406" y="63999"/>
                </a:cubicBezTo>
                <a:cubicBezTo>
                  <a:pt x="567000" y="63999"/>
                  <a:pt x="571594" y="65965"/>
                  <a:pt x="574875" y="69241"/>
                </a:cubicBezTo>
                <a:cubicBezTo>
                  <a:pt x="578156" y="72518"/>
                  <a:pt x="579906" y="76886"/>
                  <a:pt x="579906" y="81692"/>
                </a:cubicBezTo>
                <a:cubicBezTo>
                  <a:pt x="579687" y="140448"/>
                  <a:pt x="571375" y="230440"/>
                  <a:pt x="532437" y="325019"/>
                </a:cubicBezTo>
                <a:cubicBezTo>
                  <a:pt x="485625" y="438382"/>
                  <a:pt x="407094" y="530121"/>
                  <a:pt x="299250" y="597397"/>
                </a:cubicBezTo>
                <a:cubicBezTo>
                  <a:pt x="296406" y="599144"/>
                  <a:pt x="293125" y="600018"/>
                  <a:pt x="289844" y="600018"/>
                </a:cubicBezTo>
                <a:cubicBezTo>
                  <a:pt x="286781" y="600018"/>
                  <a:pt x="283500" y="599144"/>
                  <a:pt x="280656" y="597397"/>
                </a:cubicBezTo>
                <a:cubicBezTo>
                  <a:pt x="172594" y="530121"/>
                  <a:pt x="94281" y="438382"/>
                  <a:pt x="47469" y="325019"/>
                </a:cubicBezTo>
                <a:cubicBezTo>
                  <a:pt x="8531" y="230440"/>
                  <a:pt x="219" y="140448"/>
                  <a:pt x="0" y="81692"/>
                </a:cubicBezTo>
                <a:cubicBezTo>
                  <a:pt x="0" y="76886"/>
                  <a:pt x="1750" y="72518"/>
                  <a:pt x="5031" y="69241"/>
                </a:cubicBezTo>
                <a:cubicBezTo>
                  <a:pt x="8312" y="65965"/>
                  <a:pt x="12906" y="63999"/>
                  <a:pt x="17500" y="63999"/>
                </a:cubicBezTo>
                <a:cubicBezTo>
                  <a:pt x="17500" y="63999"/>
                  <a:pt x="17500" y="63999"/>
                  <a:pt x="17719" y="63999"/>
                </a:cubicBezTo>
                <a:cubicBezTo>
                  <a:pt x="29969" y="63999"/>
                  <a:pt x="41562" y="59194"/>
                  <a:pt x="50312" y="50457"/>
                </a:cubicBezTo>
                <a:cubicBezTo>
                  <a:pt x="59281" y="41719"/>
                  <a:pt x="64094" y="29924"/>
                  <a:pt x="64094" y="17474"/>
                </a:cubicBezTo>
                <a:cubicBezTo>
                  <a:pt x="64094" y="12887"/>
                  <a:pt x="66062" y="8300"/>
                  <a:pt x="69344" y="5024"/>
                </a:cubicBezTo>
                <a:cubicBezTo>
                  <a:pt x="72625" y="1747"/>
                  <a:pt x="77000" y="0"/>
                  <a:pt x="81594"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组合 10">
            <a:extLst>
              <a:ext uri="{FF2B5EF4-FFF2-40B4-BE49-F238E27FC236}">
                <a16:creationId xmlns:a16="http://schemas.microsoft.com/office/drawing/2014/main" id="{BC575110-017F-4DF5-8DAC-8F566678E346}"/>
              </a:ext>
            </a:extLst>
          </p:cNvPr>
          <p:cNvGrpSpPr/>
          <p:nvPr/>
        </p:nvGrpSpPr>
        <p:grpSpPr>
          <a:xfrm>
            <a:off x="6195111" y="2983608"/>
            <a:ext cx="1121402" cy="1121402"/>
            <a:chOff x="4559168" y="3417941"/>
            <a:chExt cx="1121402" cy="1121402"/>
          </a:xfrm>
        </p:grpSpPr>
        <p:pic>
          <p:nvPicPr>
            <p:cNvPr id="12" name="图片 11">
              <a:extLst>
                <a:ext uri="{FF2B5EF4-FFF2-40B4-BE49-F238E27FC236}">
                  <a16:creationId xmlns:a16="http://schemas.microsoft.com/office/drawing/2014/main" id="{6C5C0174-F17D-4D3D-9EF7-CBFCF1FF5350}"/>
                </a:ext>
              </a:extLst>
            </p:cNvPr>
            <p:cNvPicPr>
              <a:picLocks noChangeAspect="1"/>
            </p:cNvPicPr>
            <p:nvPr/>
          </p:nvPicPr>
          <p:blipFill>
            <a:blip r:embed="rId4"/>
            <a:stretch>
              <a:fillRect/>
            </a:stretch>
          </p:blipFill>
          <p:spPr>
            <a:xfrm>
              <a:off x="4559168" y="3417941"/>
              <a:ext cx="1121402" cy="1121402"/>
            </a:xfrm>
            <a:prstGeom prst="rect">
              <a:avLst/>
            </a:prstGeom>
          </p:spPr>
        </p:pic>
        <p:pic>
          <p:nvPicPr>
            <p:cNvPr id="13" name="图片 12">
              <a:extLst>
                <a:ext uri="{FF2B5EF4-FFF2-40B4-BE49-F238E27FC236}">
                  <a16:creationId xmlns:a16="http://schemas.microsoft.com/office/drawing/2014/main" id="{82D6F576-BD54-4598-A667-6BB51FFE276C}"/>
                </a:ext>
              </a:extLst>
            </p:cNvPr>
            <p:cNvPicPr>
              <a:picLocks noChangeAspect="1"/>
            </p:cNvPicPr>
            <p:nvPr/>
          </p:nvPicPr>
          <p:blipFill>
            <a:blip r:embed="rId5"/>
            <a:stretch>
              <a:fillRect/>
            </a:stretch>
          </p:blipFill>
          <p:spPr>
            <a:xfrm>
              <a:off x="4893765" y="3787410"/>
              <a:ext cx="515169" cy="515169"/>
            </a:xfrm>
            <a:prstGeom prst="rect">
              <a:avLst/>
            </a:prstGeom>
          </p:spPr>
        </p:pic>
      </p:grpSp>
      <p:sp>
        <p:nvSpPr>
          <p:cNvPr id="14" name="文本框 13">
            <a:extLst>
              <a:ext uri="{FF2B5EF4-FFF2-40B4-BE49-F238E27FC236}">
                <a16:creationId xmlns:a16="http://schemas.microsoft.com/office/drawing/2014/main" id="{782E630A-3C23-47F6-BD70-3FEC5CD29666}"/>
              </a:ext>
            </a:extLst>
          </p:cNvPr>
          <p:cNvSpPr txBox="1"/>
          <p:nvPr/>
        </p:nvSpPr>
        <p:spPr>
          <a:xfrm>
            <a:off x="6024714" y="4161704"/>
            <a:ext cx="1863009" cy="369332"/>
          </a:xfrm>
          <a:prstGeom prst="rect">
            <a:avLst/>
          </a:prstGeom>
          <a:noFill/>
        </p:spPr>
        <p:txBody>
          <a:bodyPr wrap="square">
            <a:spAutoFit/>
          </a:bodyPr>
          <a:lstStyle/>
          <a:p>
            <a:pPr lvl="1"/>
            <a:r>
              <a:rPr kumimoji="1" lang="en-US" altLang="zh-CN" dirty="0">
                <a:latin typeface="微软雅黑" panose="020B0503020204020204" pitchFamily="34" charset="-122"/>
                <a:ea typeface="微软雅黑" panose="020B0503020204020204" pitchFamily="34" charset="-122"/>
              </a:rPr>
              <a:t>Bot</a:t>
            </a:r>
          </a:p>
        </p:txBody>
      </p:sp>
      <p:sp>
        <p:nvSpPr>
          <p:cNvPr id="15" name="文本框 14">
            <a:extLst>
              <a:ext uri="{FF2B5EF4-FFF2-40B4-BE49-F238E27FC236}">
                <a16:creationId xmlns:a16="http://schemas.microsoft.com/office/drawing/2014/main" id="{93114680-604D-4765-8887-833ED098DC85}"/>
              </a:ext>
            </a:extLst>
          </p:cNvPr>
          <p:cNvSpPr txBox="1"/>
          <p:nvPr/>
        </p:nvSpPr>
        <p:spPr>
          <a:xfrm>
            <a:off x="7223495" y="2034207"/>
            <a:ext cx="1060785" cy="369332"/>
          </a:xfrm>
          <a:prstGeom prst="rect">
            <a:avLst/>
          </a:prstGeom>
          <a:noFill/>
        </p:spPr>
        <p:txBody>
          <a:bodyPr wrap="square">
            <a:spAutoFit/>
          </a:bodyPr>
          <a:lstStyle/>
          <a:p>
            <a:r>
              <a:rPr kumimoji="1" lang="zh-CN" altLang="en-US" dirty="0">
                <a:latin typeface="微软雅黑" panose="020B0503020204020204" pitchFamily="34" charset="-122"/>
                <a:ea typeface="微软雅黑" panose="020B0503020204020204" pitchFamily="34" charset="-122"/>
              </a:rPr>
              <a:t>攻击者</a:t>
            </a:r>
            <a:endParaRPr lang="zh-CN" altLang="en-US" dirty="0">
              <a:latin typeface="微软雅黑" panose="020B0503020204020204" pitchFamily="34" charset="-122"/>
              <a:ea typeface="微软雅黑" panose="020B0503020204020204" pitchFamily="34" charset="-122"/>
            </a:endParaRPr>
          </a:p>
        </p:txBody>
      </p:sp>
      <p:pic>
        <p:nvPicPr>
          <p:cNvPr id="18" name="Picture 2">
            <a:extLst>
              <a:ext uri="{FF2B5EF4-FFF2-40B4-BE49-F238E27FC236}">
                <a16:creationId xmlns:a16="http://schemas.microsoft.com/office/drawing/2014/main" id="{82BE313E-168F-42BF-9E71-7A9229102D03}"/>
              </a:ext>
            </a:extLst>
          </p:cNvPr>
          <p:cNvPicPr>
            <a:picLocks noChangeAspect="1"/>
          </p:cNvPicPr>
          <p:nvPr/>
        </p:nvPicPr>
        <p:blipFill rotWithShape="1">
          <a:blip r:embed="rId6">
            <a:grayscl/>
          </a:blip>
          <a:srcRect l="27238" t="32000" r="25502" b="31429"/>
          <a:stretch/>
        </p:blipFill>
        <p:spPr>
          <a:xfrm>
            <a:off x="8587353" y="2290757"/>
            <a:ext cx="912690" cy="706268"/>
          </a:xfrm>
          <a:prstGeom prst="rect">
            <a:avLst/>
          </a:prstGeom>
        </p:spPr>
      </p:pic>
      <p:cxnSp>
        <p:nvCxnSpPr>
          <p:cNvPr id="5" name="直接箭头连接符 4">
            <a:extLst>
              <a:ext uri="{FF2B5EF4-FFF2-40B4-BE49-F238E27FC236}">
                <a16:creationId xmlns:a16="http://schemas.microsoft.com/office/drawing/2014/main" id="{D4F3AB05-9851-4738-ACF9-94F20294ED72}"/>
              </a:ext>
            </a:extLst>
          </p:cNvPr>
          <p:cNvCxnSpPr>
            <a:cxnSpLocks/>
          </p:cNvCxnSpPr>
          <p:nvPr/>
        </p:nvCxnSpPr>
        <p:spPr>
          <a:xfrm flipV="1">
            <a:off x="7316513" y="2662035"/>
            <a:ext cx="1177822" cy="766966"/>
          </a:xfrm>
          <a:prstGeom prst="straightConnector1">
            <a:avLst/>
          </a:prstGeom>
          <a:ln w="28575">
            <a:solidFill>
              <a:srgbClr val="BE5108"/>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10C6418B-FA7F-42A3-BEA4-40DA5D223E7C}"/>
              </a:ext>
            </a:extLst>
          </p:cNvPr>
          <p:cNvSpPr txBox="1"/>
          <p:nvPr/>
        </p:nvSpPr>
        <p:spPr>
          <a:xfrm rot="19563983">
            <a:off x="7057172" y="2612025"/>
            <a:ext cx="1589994" cy="369332"/>
          </a:xfrm>
          <a:prstGeom prst="rect">
            <a:avLst/>
          </a:prstGeom>
          <a:noFill/>
        </p:spPr>
        <p:txBody>
          <a:bodyPr wrap="square">
            <a:spAutoFit/>
          </a:bodyPr>
          <a:lstStyle/>
          <a:p>
            <a:r>
              <a:rPr kumimoji="1" lang="zh-CN" altLang="en-US" dirty="0">
                <a:solidFill>
                  <a:srgbClr val="BE5108"/>
                </a:solidFill>
                <a:latin typeface="微软雅黑" panose="020B0503020204020204" pitchFamily="34" charset="-122"/>
                <a:ea typeface="微软雅黑" panose="020B0503020204020204" pitchFamily="34" charset="-122"/>
              </a:rPr>
              <a:t>伪造</a:t>
            </a:r>
            <a:r>
              <a:rPr kumimoji="1" lang="en-US" altLang="zh-CN" dirty="0">
                <a:solidFill>
                  <a:srgbClr val="BE5108"/>
                </a:solidFill>
                <a:latin typeface="微软雅黑" panose="020B0503020204020204" pitchFamily="34" charset="-122"/>
                <a:ea typeface="微软雅黑" panose="020B0503020204020204" pitchFamily="34" charset="-122"/>
              </a:rPr>
              <a:t>DNS</a:t>
            </a:r>
            <a:r>
              <a:rPr kumimoji="1" lang="zh-CN" altLang="en-US" dirty="0">
                <a:solidFill>
                  <a:srgbClr val="BE5108"/>
                </a:solidFill>
                <a:latin typeface="微软雅黑" panose="020B0503020204020204" pitchFamily="34" charset="-122"/>
                <a:ea typeface="微软雅黑" panose="020B0503020204020204" pitchFamily="34" charset="-122"/>
              </a:rPr>
              <a:t>请求</a:t>
            </a:r>
            <a:endParaRPr lang="zh-CN" altLang="en-US" dirty="0">
              <a:solidFill>
                <a:srgbClr val="BE5108"/>
              </a:solidFill>
              <a:latin typeface="微软雅黑" panose="020B0503020204020204" pitchFamily="34" charset="-122"/>
              <a:ea typeface="微软雅黑" panose="020B0503020204020204" pitchFamily="34" charset="-122"/>
            </a:endParaRPr>
          </a:p>
        </p:txBody>
      </p:sp>
      <p:pic>
        <p:nvPicPr>
          <p:cNvPr id="24" name="Picture 2">
            <a:extLst>
              <a:ext uri="{FF2B5EF4-FFF2-40B4-BE49-F238E27FC236}">
                <a16:creationId xmlns:a16="http://schemas.microsoft.com/office/drawing/2014/main" id="{B3931D45-FC6D-4F35-AA34-1B78D12FC333}"/>
              </a:ext>
            </a:extLst>
          </p:cNvPr>
          <p:cNvPicPr>
            <a:picLocks noChangeAspect="1"/>
          </p:cNvPicPr>
          <p:nvPr/>
        </p:nvPicPr>
        <p:blipFill rotWithShape="1">
          <a:blip r:embed="rId6">
            <a:grayscl/>
          </a:blip>
          <a:srcRect l="27238" t="32000" r="25502" b="31429"/>
          <a:stretch/>
        </p:blipFill>
        <p:spPr>
          <a:xfrm>
            <a:off x="8562256" y="3191175"/>
            <a:ext cx="912690" cy="706268"/>
          </a:xfrm>
          <a:prstGeom prst="rect">
            <a:avLst/>
          </a:prstGeom>
        </p:spPr>
      </p:pic>
      <p:pic>
        <p:nvPicPr>
          <p:cNvPr id="25" name="Picture 2">
            <a:extLst>
              <a:ext uri="{FF2B5EF4-FFF2-40B4-BE49-F238E27FC236}">
                <a16:creationId xmlns:a16="http://schemas.microsoft.com/office/drawing/2014/main" id="{787F4596-95D5-496D-B35D-FB974C6C6BBE}"/>
              </a:ext>
            </a:extLst>
          </p:cNvPr>
          <p:cNvPicPr>
            <a:picLocks noChangeAspect="1"/>
          </p:cNvPicPr>
          <p:nvPr/>
        </p:nvPicPr>
        <p:blipFill rotWithShape="1">
          <a:blip r:embed="rId6">
            <a:grayscl/>
          </a:blip>
          <a:srcRect l="27238" t="32000" r="25502" b="31429"/>
          <a:stretch/>
        </p:blipFill>
        <p:spPr>
          <a:xfrm>
            <a:off x="8552078" y="4038912"/>
            <a:ext cx="912690" cy="706268"/>
          </a:xfrm>
          <a:prstGeom prst="rect">
            <a:avLst/>
          </a:prstGeom>
        </p:spPr>
      </p:pic>
      <p:cxnSp>
        <p:nvCxnSpPr>
          <p:cNvPr id="26" name="直接箭头连接符 25">
            <a:extLst>
              <a:ext uri="{FF2B5EF4-FFF2-40B4-BE49-F238E27FC236}">
                <a16:creationId xmlns:a16="http://schemas.microsoft.com/office/drawing/2014/main" id="{028A4A8D-EC6B-4CF6-BB1E-52C1BD8718BC}"/>
              </a:ext>
            </a:extLst>
          </p:cNvPr>
          <p:cNvCxnSpPr>
            <a:cxnSpLocks/>
            <a:stCxn id="12" idx="3"/>
            <a:endCxn id="24" idx="1"/>
          </p:cNvCxnSpPr>
          <p:nvPr/>
        </p:nvCxnSpPr>
        <p:spPr>
          <a:xfrm>
            <a:off x="7316513" y="3544309"/>
            <a:ext cx="1245743" cy="0"/>
          </a:xfrm>
          <a:prstGeom prst="straightConnector1">
            <a:avLst/>
          </a:prstGeom>
          <a:ln w="28575">
            <a:solidFill>
              <a:srgbClr val="BE5108"/>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2A4E2DB-5C98-46C9-A71E-CBA6DB3740FA}"/>
              </a:ext>
            </a:extLst>
          </p:cNvPr>
          <p:cNvCxnSpPr>
            <a:cxnSpLocks/>
            <a:endCxn id="25" idx="1"/>
          </p:cNvCxnSpPr>
          <p:nvPr/>
        </p:nvCxnSpPr>
        <p:spPr>
          <a:xfrm>
            <a:off x="7316513" y="3659618"/>
            <a:ext cx="1235565" cy="732428"/>
          </a:xfrm>
          <a:prstGeom prst="straightConnector1">
            <a:avLst/>
          </a:prstGeom>
          <a:ln w="28575">
            <a:solidFill>
              <a:srgbClr val="BE5108"/>
            </a:solidFill>
            <a:tailEnd type="triangle"/>
          </a:ln>
        </p:spPr>
        <p:style>
          <a:lnRef idx="1">
            <a:schemeClr val="accent1"/>
          </a:lnRef>
          <a:fillRef idx="0">
            <a:schemeClr val="accent1"/>
          </a:fillRef>
          <a:effectRef idx="0">
            <a:schemeClr val="accent1"/>
          </a:effectRef>
          <a:fontRef idx="minor">
            <a:schemeClr val="tx1"/>
          </a:fontRef>
        </p:style>
      </p:cxnSp>
      <p:pic>
        <p:nvPicPr>
          <p:cNvPr id="35" name="图片 34">
            <a:extLst>
              <a:ext uri="{FF2B5EF4-FFF2-40B4-BE49-F238E27FC236}">
                <a16:creationId xmlns:a16="http://schemas.microsoft.com/office/drawing/2014/main" id="{78271FC0-FE2C-40D9-944C-0831C9B05007}"/>
              </a:ext>
            </a:extLst>
          </p:cNvPr>
          <p:cNvPicPr>
            <a:picLocks noChangeAspect="1"/>
          </p:cNvPicPr>
          <p:nvPr/>
        </p:nvPicPr>
        <p:blipFill>
          <a:blip r:embed="rId4"/>
          <a:stretch>
            <a:fillRect/>
          </a:stretch>
        </p:blipFill>
        <p:spPr>
          <a:xfrm>
            <a:off x="10900511" y="2997025"/>
            <a:ext cx="1121402" cy="1121402"/>
          </a:xfrm>
          <a:prstGeom prst="rect">
            <a:avLst/>
          </a:prstGeom>
        </p:spPr>
      </p:pic>
      <p:pic>
        <p:nvPicPr>
          <p:cNvPr id="37" name="图片 36">
            <a:extLst>
              <a:ext uri="{FF2B5EF4-FFF2-40B4-BE49-F238E27FC236}">
                <a16:creationId xmlns:a16="http://schemas.microsoft.com/office/drawing/2014/main" id="{E7545FC2-251D-441E-B017-4731DD512A59}"/>
              </a:ext>
            </a:extLst>
          </p:cNvPr>
          <p:cNvPicPr>
            <a:picLocks noChangeAspect="1"/>
          </p:cNvPicPr>
          <p:nvPr/>
        </p:nvPicPr>
        <p:blipFill rotWithShape="1">
          <a:blip r:embed="rId7"/>
          <a:srcRect l="12077" t="6786" r="8051" b="8214"/>
          <a:stretch/>
        </p:blipFill>
        <p:spPr>
          <a:xfrm>
            <a:off x="11231514" y="3391258"/>
            <a:ext cx="459395" cy="506185"/>
          </a:xfrm>
          <a:prstGeom prst="rect">
            <a:avLst/>
          </a:prstGeom>
        </p:spPr>
      </p:pic>
      <p:cxnSp>
        <p:nvCxnSpPr>
          <p:cNvPr id="38" name="直接箭头连接符 37">
            <a:extLst>
              <a:ext uri="{FF2B5EF4-FFF2-40B4-BE49-F238E27FC236}">
                <a16:creationId xmlns:a16="http://schemas.microsoft.com/office/drawing/2014/main" id="{3E740183-8F68-4B1E-B646-999325BB658A}"/>
              </a:ext>
            </a:extLst>
          </p:cNvPr>
          <p:cNvCxnSpPr>
            <a:cxnSpLocks/>
          </p:cNvCxnSpPr>
          <p:nvPr/>
        </p:nvCxnSpPr>
        <p:spPr>
          <a:xfrm>
            <a:off x="9488602" y="2594423"/>
            <a:ext cx="1403003" cy="799276"/>
          </a:xfrm>
          <a:prstGeom prst="straightConnector1">
            <a:avLst/>
          </a:prstGeom>
          <a:ln w="76200">
            <a:solidFill>
              <a:srgbClr val="BE5108"/>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EC6EDFF3-3AC7-4A9B-B5C9-63C78D84CCFF}"/>
              </a:ext>
            </a:extLst>
          </p:cNvPr>
          <p:cNvCxnSpPr>
            <a:cxnSpLocks/>
          </p:cNvCxnSpPr>
          <p:nvPr/>
        </p:nvCxnSpPr>
        <p:spPr>
          <a:xfrm>
            <a:off x="9494317" y="3569274"/>
            <a:ext cx="1397288" cy="5955"/>
          </a:xfrm>
          <a:prstGeom prst="straightConnector1">
            <a:avLst/>
          </a:prstGeom>
          <a:ln w="76200">
            <a:solidFill>
              <a:srgbClr val="BE5108"/>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B928A433-1A78-4C0B-A555-CBFF1F4F23B6}"/>
              </a:ext>
            </a:extLst>
          </p:cNvPr>
          <p:cNvCxnSpPr>
            <a:cxnSpLocks/>
          </p:cNvCxnSpPr>
          <p:nvPr/>
        </p:nvCxnSpPr>
        <p:spPr>
          <a:xfrm flipV="1">
            <a:off x="9460552" y="3763026"/>
            <a:ext cx="1431053" cy="670983"/>
          </a:xfrm>
          <a:prstGeom prst="straightConnector1">
            <a:avLst/>
          </a:prstGeom>
          <a:ln w="76200">
            <a:solidFill>
              <a:srgbClr val="BE5108"/>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6D6F7FC7-3DA0-4F22-A58E-C5DAFBA4D0F2}"/>
              </a:ext>
            </a:extLst>
          </p:cNvPr>
          <p:cNvSpPr txBox="1"/>
          <p:nvPr/>
        </p:nvSpPr>
        <p:spPr>
          <a:xfrm>
            <a:off x="8341077" y="4809303"/>
            <a:ext cx="1674244" cy="369332"/>
          </a:xfrm>
          <a:prstGeom prst="rect">
            <a:avLst/>
          </a:prstGeom>
          <a:noFill/>
        </p:spPr>
        <p:txBody>
          <a:bodyPr wrap="square">
            <a:spAutoFit/>
          </a:bodyPr>
          <a:lstStyle/>
          <a:p>
            <a:r>
              <a:rPr lang="en-US" altLang="zh-CN" b="1" dirty="0">
                <a:latin typeface="微软雅黑" panose="020B0503020204020204" pitchFamily="34" charset="-122"/>
                <a:ea typeface="微软雅黑" panose="020B0503020204020204" pitchFamily="34" charset="-122"/>
              </a:rPr>
              <a:t>DNS</a:t>
            </a:r>
            <a:r>
              <a:rPr lang="zh-CN" altLang="en-US" b="1" dirty="0">
                <a:latin typeface="微软雅黑" panose="020B0503020204020204" pitchFamily="34" charset="-122"/>
                <a:ea typeface="微软雅黑" panose="020B0503020204020204" pitchFamily="34" charset="-122"/>
              </a:rPr>
              <a:t>解析器</a:t>
            </a:r>
          </a:p>
        </p:txBody>
      </p:sp>
      <p:sp>
        <p:nvSpPr>
          <p:cNvPr id="48" name="文本框 47">
            <a:extLst>
              <a:ext uri="{FF2B5EF4-FFF2-40B4-BE49-F238E27FC236}">
                <a16:creationId xmlns:a16="http://schemas.microsoft.com/office/drawing/2014/main" id="{ECB7F1A8-DC3C-444E-8716-473C81DC4DC3}"/>
              </a:ext>
            </a:extLst>
          </p:cNvPr>
          <p:cNvSpPr txBox="1"/>
          <p:nvPr/>
        </p:nvSpPr>
        <p:spPr>
          <a:xfrm>
            <a:off x="7234016" y="4223748"/>
            <a:ext cx="1353337" cy="646331"/>
          </a:xfrm>
          <a:prstGeom prst="rect">
            <a:avLst/>
          </a:prstGeom>
          <a:noFill/>
        </p:spPr>
        <p:txBody>
          <a:bodyPr wrap="square">
            <a:spAutoFit/>
          </a:bodyPr>
          <a:lstStyle/>
          <a:p>
            <a:r>
              <a:rPr lang="zh-CN" altLang="en-US" b="1" dirty="0">
                <a:solidFill>
                  <a:srgbClr val="BE5108"/>
                </a:solidFill>
              </a:rPr>
              <a:t>每个查询</a:t>
            </a:r>
            <a:endParaRPr lang="en-US" altLang="zh-CN" b="1" dirty="0">
              <a:solidFill>
                <a:srgbClr val="BE5108"/>
              </a:solidFill>
            </a:endParaRPr>
          </a:p>
          <a:p>
            <a:r>
              <a:rPr lang="en-US" altLang="zh-CN" b="1" dirty="0">
                <a:solidFill>
                  <a:srgbClr val="BE5108"/>
                </a:solidFill>
              </a:rPr>
              <a:t>60</a:t>
            </a:r>
            <a:r>
              <a:rPr lang="zh-CN" altLang="en-US" b="1" dirty="0">
                <a:solidFill>
                  <a:srgbClr val="BE5108"/>
                </a:solidFill>
              </a:rPr>
              <a:t>个字节</a:t>
            </a:r>
          </a:p>
        </p:txBody>
      </p:sp>
      <p:sp>
        <p:nvSpPr>
          <p:cNvPr id="49" name="文本框 48">
            <a:extLst>
              <a:ext uri="{FF2B5EF4-FFF2-40B4-BE49-F238E27FC236}">
                <a16:creationId xmlns:a16="http://schemas.microsoft.com/office/drawing/2014/main" id="{EB4D679F-4A56-4FCA-B98F-47E8F55F0BA8}"/>
              </a:ext>
            </a:extLst>
          </p:cNvPr>
          <p:cNvSpPr txBox="1"/>
          <p:nvPr/>
        </p:nvSpPr>
        <p:spPr>
          <a:xfrm>
            <a:off x="9905415" y="4212518"/>
            <a:ext cx="2059588" cy="646331"/>
          </a:xfrm>
          <a:prstGeom prst="rect">
            <a:avLst/>
          </a:prstGeom>
          <a:noFill/>
        </p:spPr>
        <p:txBody>
          <a:bodyPr wrap="square">
            <a:spAutoFit/>
          </a:bodyPr>
          <a:lstStyle/>
          <a:p>
            <a:r>
              <a:rPr lang="zh-CN" altLang="en-US" b="1" dirty="0">
                <a:solidFill>
                  <a:srgbClr val="BE5108"/>
                </a:solidFill>
                <a:latin typeface="微软雅黑" panose="020B0503020204020204" pitchFamily="34" charset="-122"/>
                <a:ea typeface="微软雅黑" panose="020B0503020204020204" pitchFamily="34" charset="-122"/>
              </a:rPr>
              <a:t>每个回复</a:t>
            </a:r>
            <a:endParaRPr lang="en-US" altLang="zh-CN" b="1" dirty="0">
              <a:solidFill>
                <a:srgbClr val="BE5108"/>
              </a:solidFill>
              <a:latin typeface="微软雅黑" panose="020B0503020204020204" pitchFamily="34" charset="-122"/>
              <a:ea typeface="微软雅黑" panose="020B0503020204020204" pitchFamily="34" charset="-122"/>
            </a:endParaRPr>
          </a:p>
          <a:p>
            <a:r>
              <a:rPr lang="zh-CN" altLang="en-US" b="1" dirty="0">
                <a:solidFill>
                  <a:srgbClr val="BE5108"/>
                </a:solidFill>
                <a:latin typeface="微软雅黑" panose="020B0503020204020204" pitchFamily="34" charset="-122"/>
                <a:ea typeface="微软雅黑" panose="020B0503020204020204" pitchFamily="34" charset="-122"/>
              </a:rPr>
              <a:t>大约</a:t>
            </a:r>
            <a:r>
              <a:rPr lang="en-US" altLang="zh-CN" b="1" dirty="0">
                <a:solidFill>
                  <a:srgbClr val="BE5108"/>
                </a:solidFill>
                <a:latin typeface="微软雅黑" panose="020B0503020204020204" pitchFamily="34" charset="-122"/>
                <a:ea typeface="微软雅黑" panose="020B0503020204020204" pitchFamily="34" charset="-122"/>
              </a:rPr>
              <a:t>4000</a:t>
            </a:r>
            <a:r>
              <a:rPr lang="zh-CN" altLang="en-US" b="1" dirty="0">
                <a:solidFill>
                  <a:srgbClr val="BE5108"/>
                </a:solidFill>
                <a:latin typeface="微软雅黑" panose="020B0503020204020204" pitchFamily="34" charset="-122"/>
                <a:ea typeface="微软雅黑" panose="020B0503020204020204" pitchFamily="34" charset="-122"/>
              </a:rPr>
              <a:t>个字节！</a:t>
            </a:r>
          </a:p>
        </p:txBody>
      </p:sp>
      <p:cxnSp>
        <p:nvCxnSpPr>
          <p:cNvPr id="50" name="直接箭头连接符 49">
            <a:extLst>
              <a:ext uri="{FF2B5EF4-FFF2-40B4-BE49-F238E27FC236}">
                <a16:creationId xmlns:a16="http://schemas.microsoft.com/office/drawing/2014/main" id="{0CBC8409-B1F9-469A-A6FA-34BB0961A4B9}"/>
              </a:ext>
            </a:extLst>
          </p:cNvPr>
          <p:cNvCxnSpPr/>
          <p:nvPr/>
        </p:nvCxnSpPr>
        <p:spPr>
          <a:xfrm>
            <a:off x="6743700" y="2594423"/>
            <a:ext cx="0" cy="52251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灯片编号占位符 3">
            <a:extLst>
              <a:ext uri="{FF2B5EF4-FFF2-40B4-BE49-F238E27FC236}">
                <a16:creationId xmlns:a16="http://schemas.microsoft.com/office/drawing/2014/main" id="{F6E7F124-3E55-4B3F-BBD7-643AF2C03772}"/>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142</a:t>
            </a:fld>
            <a:endParaRPr kumimoji="1" lang="zh-CN" altLang="en-US" dirty="0"/>
          </a:p>
        </p:txBody>
      </p:sp>
      <p:sp>
        <p:nvSpPr>
          <p:cNvPr id="29" name="日期占位符 9">
            <a:extLst>
              <a:ext uri="{FF2B5EF4-FFF2-40B4-BE49-F238E27FC236}">
                <a16:creationId xmlns:a16="http://schemas.microsoft.com/office/drawing/2014/main" id="{1418AC2E-4554-4F3F-B49B-361E4F4A9214}"/>
              </a:ext>
            </a:extLst>
          </p:cNvPr>
          <p:cNvSpPr>
            <a:spLocks noGrp="1"/>
          </p:cNvSpPr>
          <p:nvPr>
            <p:ph type="dt" sz="half" idx="10"/>
          </p:nvPr>
        </p:nvSpPr>
        <p:spPr>
          <a:xfrm>
            <a:off x="235671" y="6489303"/>
            <a:ext cx="2743200" cy="365125"/>
          </a:xfrm>
        </p:spPr>
        <p:txBody>
          <a:bodyPr/>
          <a:lstStyle/>
          <a:p>
            <a:r>
              <a:rPr kumimoji="1" lang="en-US" altLang="zh-CN" dirty="0"/>
              <a:t>8.2.4  </a:t>
            </a:r>
            <a:r>
              <a:rPr kumimoji="1" lang="en-US" altLang="zh-CN" dirty="0" err="1"/>
              <a:t>DDos</a:t>
            </a:r>
            <a:r>
              <a:rPr kumimoji="1" lang="zh-CN" altLang="en-US" dirty="0"/>
              <a:t>攻击</a:t>
            </a:r>
          </a:p>
        </p:txBody>
      </p:sp>
    </p:spTree>
    <p:custDataLst>
      <p:tags r:id="rId1"/>
    </p:custDataLst>
    <p:extLst>
      <p:ext uri="{BB962C8B-B14F-4D97-AF65-F5344CB8AC3E}">
        <p14:creationId xmlns:p14="http://schemas.microsoft.com/office/powerpoint/2010/main" val="77501526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Amplification Attacks"/>
          <p:cNvSpPr txBox="1">
            <a:spLocks noGrp="1"/>
          </p:cNvSpPr>
          <p:nvPr>
            <p:ph type="title"/>
          </p:nvPr>
        </p:nvSpPr>
        <p:spPr>
          <a:prstGeom prst="rect">
            <a:avLst/>
          </a:prstGeom>
        </p:spPr>
        <p:txBody>
          <a:bodyPr>
            <a:normAutofit/>
          </a:bodyPr>
          <a:lstStyle>
            <a:lvl1pPr algn="l">
              <a:defRPr sz="13000">
                <a:latin typeface="Helvetica Neue Bold Condensed"/>
                <a:ea typeface="Helvetica Neue Bold Condensed"/>
                <a:cs typeface="Helvetica Neue Bold Condensed"/>
                <a:sym typeface="Helvetica Neue Bold Condensed"/>
              </a:defRPr>
            </a:lvl1pPr>
          </a:lstStyle>
          <a:p>
            <a:r>
              <a:rPr lang="zh-CN" altLang="en-US" sz="4000" dirty="0">
                <a:latin typeface="Microsoft YaHei" panose="020B0503020204020204" pitchFamily="34" charset="-122"/>
                <a:ea typeface="Microsoft YaHei" panose="020B0503020204020204" pitchFamily="34" charset="-122"/>
              </a:rPr>
              <a:t>放大攻击实例</a:t>
            </a:r>
            <a:endParaRPr sz="4000" dirty="0">
              <a:latin typeface="Microsoft YaHei" panose="020B0503020204020204" pitchFamily="34" charset="-122"/>
              <a:ea typeface="Microsoft YaHei" panose="020B0503020204020204" pitchFamily="34" charset="-122"/>
            </a:endParaRPr>
          </a:p>
        </p:txBody>
      </p:sp>
      <p:sp>
        <p:nvSpPr>
          <p:cNvPr id="229" name="2013: DDoS attack generated 300 Gbps (DNS) - 31,000 misconfigured open DNS resolvers, each at 10 Mbps…"/>
          <p:cNvSpPr txBox="1">
            <a:spLocks noGrp="1"/>
          </p:cNvSpPr>
          <p:nvPr>
            <p:ph idx="1"/>
          </p:nvPr>
        </p:nvSpPr>
        <p:spPr>
          <a:xfrm>
            <a:off x="816934" y="1446962"/>
            <a:ext cx="10515600" cy="4586694"/>
          </a:xfrm>
          <a:prstGeom prst="rect">
            <a:avLst/>
          </a:prstGeom>
        </p:spPr>
        <p:txBody>
          <a:bodyPr vert="horz" lIns="91440" tIns="45720" rIns="91440" bIns="45720" rtlCol="0">
            <a:normAutofit/>
          </a:bodyPr>
          <a:lstStyle/>
          <a:p>
            <a:r>
              <a:rPr kumimoji="1" lang="en-US" altLang="zh-CN" dirty="0"/>
              <a:t>2018</a:t>
            </a:r>
            <a:r>
              <a:rPr kumimoji="1" lang="zh-CN" altLang="en-US" dirty="0"/>
              <a:t>年</a:t>
            </a:r>
            <a:r>
              <a:rPr kumimoji="1" lang="en-US" altLang="zh-CN" dirty="0"/>
              <a:t>2</a:t>
            </a:r>
            <a:r>
              <a:rPr kumimoji="1" lang="zh-CN" altLang="en-US" dirty="0"/>
              <a:t>月</a:t>
            </a:r>
            <a:r>
              <a:rPr kumimoji="1" lang="en-US" altLang="zh-CN" dirty="0"/>
              <a:t>28</a:t>
            </a:r>
            <a:r>
              <a:rPr kumimoji="1" lang="zh-CN" altLang="en-US" dirty="0"/>
              <a:t>日下午，</a:t>
            </a:r>
            <a:r>
              <a:rPr kumimoji="1" lang="en-US" altLang="zh-CN" dirty="0"/>
              <a:t>GitHub.com</a:t>
            </a:r>
            <a:r>
              <a:rPr kumimoji="1" lang="zh-CN" altLang="en-US" dirty="0"/>
              <a:t>瘫痪 （</a:t>
            </a:r>
            <a:r>
              <a:rPr kumimoji="1" lang="en-US" altLang="zh-CN" dirty="0"/>
              <a:t>17</a:t>
            </a:r>
            <a:r>
              <a:rPr kumimoji="1" lang="zh-CN" altLang="en-US" dirty="0"/>
              <a:t>：</a:t>
            </a:r>
            <a:r>
              <a:rPr kumimoji="1" lang="en-US" altLang="zh-CN" dirty="0"/>
              <a:t>21</a:t>
            </a:r>
            <a:r>
              <a:rPr kumimoji="1" lang="zh-CN" altLang="en-US" dirty="0"/>
              <a:t>至</a:t>
            </a:r>
            <a:r>
              <a:rPr kumimoji="1" lang="en-US" altLang="zh-CN" dirty="0"/>
              <a:t>17</a:t>
            </a:r>
            <a:r>
              <a:rPr kumimoji="1" lang="zh-CN" altLang="en-US" dirty="0"/>
              <a:t>：</a:t>
            </a:r>
            <a:r>
              <a:rPr kumimoji="1" lang="en-US" altLang="zh-CN" dirty="0"/>
              <a:t>26</a:t>
            </a:r>
            <a:r>
              <a:rPr kumimoji="1" lang="zh-CN" altLang="en-US" dirty="0"/>
              <a:t>）</a:t>
            </a:r>
            <a:endParaRPr kumimoji="1" lang="en-US" altLang="zh-CN" dirty="0"/>
          </a:p>
          <a:p>
            <a:r>
              <a:rPr kumimoji="1" lang="zh-CN" altLang="en-US" dirty="0"/>
              <a:t>每秒 </a:t>
            </a:r>
            <a:r>
              <a:rPr kumimoji="1" lang="en-US" altLang="zh-CN" dirty="0"/>
              <a:t>1.269 </a:t>
            </a:r>
            <a:r>
              <a:rPr kumimoji="1" lang="zh-CN" altLang="en-US" dirty="0"/>
              <a:t>亿个数据包，峰值达到了 </a:t>
            </a:r>
            <a:r>
              <a:rPr kumimoji="1" lang="en-US" altLang="zh-CN" dirty="0"/>
              <a:t>1.35 </a:t>
            </a:r>
            <a:r>
              <a:rPr kumimoji="1" lang="en-US" altLang="zh-CN" dirty="0" err="1"/>
              <a:t>Tbps</a:t>
            </a:r>
            <a:r>
              <a:rPr kumimoji="1" lang="en-US" altLang="zh-CN" dirty="0"/>
              <a:t> </a:t>
            </a:r>
          </a:p>
          <a:p>
            <a:endParaRPr kumimoji="1" dirty="0"/>
          </a:p>
        </p:txBody>
      </p:sp>
      <p:pic>
        <p:nvPicPr>
          <p:cNvPr id="1028" name="Picture 4">
            <a:extLst>
              <a:ext uri="{FF2B5EF4-FFF2-40B4-BE49-F238E27FC236}">
                <a16:creationId xmlns:a16="http://schemas.microsoft.com/office/drawing/2014/main" id="{5EAD2505-BADA-4C53-BDE5-ED91CE6B36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234" y="2476788"/>
            <a:ext cx="10287000" cy="3905250"/>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3">
            <a:extLst>
              <a:ext uri="{FF2B5EF4-FFF2-40B4-BE49-F238E27FC236}">
                <a16:creationId xmlns:a16="http://schemas.microsoft.com/office/drawing/2014/main" id="{E6274179-BBFC-4FE0-9A90-8EC243601315}"/>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143</a:t>
            </a:fld>
            <a:endParaRPr kumimoji="1" lang="zh-CN" altLang="en-US" dirty="0"/>
          </a:p>
        </p:txBody>
      </p:sp>
      <p:sp>
        <p:nvSpPr>
          <p:cNvPr id="7" name="日期占位符 9">
            <a:extLst>
              <a:ext uri="{FF2B5EF4-FFF2-40B4-BE49-F238E27FC236}">
                <a16:creationId xmlns:a16="http://schemas.microsoft.com/office/drawing/2014/main" id="{30169E4C-8067-49AA-B8E6-F499E8DA4D68}"/>
              </a:ext>
            </a:extLst>
          </p:cNvPr>
          <p:cNvSpPr>
            <a:spLocks noGrp="1"/>
          </p:cNvSpPr>
          <p:nvPr>
            <p:ph type="dt" sz="half" idx="10"/>
          </p:nvPr>
        </p:nvSpPr>
        <p:spPr>
          <a:xfrm>
            <a:off x="216816" y="6489303"/>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75095904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 name="ddos_diagram_http-get (1).png" descr="ddos_diagram_http-get (1).png"/>
          <p:cNvPicPr>
            <a:picLocks noChangeAspect="1"/>
          </p:cNvPicPr>
          <p:nvPr/>
        </p:nvPicPr>
        <p:blipFill>
          <a:blip r:embed="rId3"/>
          <a:stretch>
            <a:fillRect/>
          </a:stretch>
        </p:blipFill>
        <p:spPr>
          <a:xfrm>
            <a:off x="1666419" y="1370587"/>
            <a:ext cx="8983149" cy="3448888"/>
          </a:xfrm>
          <a:prstGeom prst="rect">
            <a:avLst/>
          </a:prstGeom>
          <a:ln w="12700">
            <a:miter lim="400000"/>
          </a:ln>
        </p:spPr>
      </p:pic>
      <p:sp>
        <p:nvSpPr>
          <p:cNvPr id="251" name="Image: Verisign"/>
          <p:cNvSpPr txBox="1"/>
          <p:nvPr/>
        </p:nvSpPr>
        <p:spPr>
          <a:xfrm>
            <a:off x="5614519" y="6627989"/>
            <a:ext cx="1973422" cy="23596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lIns="91440" tIns="45720" rIns="91440" bIns="45720" rtlCol="0" anchor="ctr"/>
          <a:lstStyle>
            <a:defPPr>
              <a:defRPr lang="zh-CN"/>
            </a:defPPr>
            <a:lvl1pPr>
              <a:defRPr kumimoji="1" sz="1200">
                <a:solidFill>
                  <a:schemeClr val="tx1">
                    <a:tint val="75000"/>
                  </a:schemeClr>
                </a:solidFill>
                <a:latin typeface="Microsoft YaHei" panose="020B0503020204020204" pitchFamily="34" charset="-122"/>
                <a:ea typeface="Microsoft YaHei" panose="020B0503020204020204" pitchFamily="34" charset="-122"/>
              </a:defRPr>
            </a:lvl1pPr>
          </a:lstStyle>
          <a:p>
            <a:r>
              <a:rPr lang="zh-CN" altLang="en-US" dirty="0"/>
              <a:t>引自</a:t>
            </a:r>
            <a:r>
              <a:rPr dirty="0"/>
              <a:t>: Verisign</a:t>
            </a:r>
          </a:p>
        </p:txBody>
      </p:sp>
      <p:sp>
        <p:nvSpPr>
          <p:cNvPr id="252" name="矩形"/>
          <p:cNvSpPr/>
          <p:nvPr/>
        </p:nvSpPr>
        <p:spPr>
          <a:xfrm>
            <a:off x="7068641" y="1701800"/>
            <a:ext cx="1069703" cy="707157"/>
          </a:xfrm>
          <a:prstGeom prst="rect">
            <a:avLst/>
          </a:prstGeom>
          <a:solidFill>
            <a:srgbClr val="FFFFFF"/>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253" name="图像" descr="图像"/>
          <p:cNvPicPr>
            <a:picLocks noChangeAspect="1"/>
          </p:cNvPicPr>
          <p:nvPr/>
        </p:nvPicPr>
        <p:blipFill>
          <a:blip r:embed="rId4"/>
          <a:stretch>
            <a:fillRect/>
          </a:stretch>
        </p:blipFill>
        <p:spPr>
          <a:xfrm>
            <a:off x="7175740" y="1882217"/>
            <a:ext cx="855506" cy="333624"/>
          </a:xfrm>
          <a:prstGeom prst="rect">
            <a:avLst/>
          </a:prstGeom>
          <a:ln w="12700">
            <a:miter lim="400000"/>
          </a:ln>
        </p:spPr>
      </p:pic>
      <p:sp>
        <p:nvSpPr>
          <p:cNvPr id="254" name="“We are still working on analyzing the data but the estimate at the time of this report is up to 100,000 malicious endpoints. […] There have been some reports of a magnitude in the 1.2 Tbps range; at this time we are unable to verify that claim.”"/>
          <p:cNvSpPr txBox="1"/>
          <p:nvPr/>
        </p:nvSpPr>
        <p:spPr>
          <a:xfrm>
            <a:off x="1307508" y="4924168"/>
            <a:ext cx="10222819" cy="155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lgn="l" defTabSz="457200">
              <a:defRPr sz="4900" b="0"/>
            </a:lvl1pPr>
          </a:lstStyle>
          <a:p>
            <a:r>
              <a:rPr sz="2450" dirty="0"/>
              <a:t>“We are still working on analyzing the data but the estimate at the time of this report is up to 100,000 malicious endpoints. […] There have been some reports of a magnitude in the 1.2 </a:t>
            </a:r>
            <a:r>
              <a:rPr sz="2450" dirty="0" err="1"/>
              <a:t>Tbps</a:t>
            </a:r>
            <a:r>
              <a:rPr sz="2450" dirty="0"/>
              <a:t> range; at this time we are unable to verify that claim.”</a:t>
            </a:r>
          </a:p>
        </p:txBody>
      </p:sp>
      <p:sp>
        <p:nvSpPr>
          <p:cNvPr id="255" name="线条"/>
          <p:cNvSpPr/>
          <p:nvPr/>
        </p:nvSpPr>
        <p:spPr>
          <a:xfrm flipV="1">
            <a:off x="1117600" y="5013555"/>
            <a:ext cx="0" cy="1380626"/>
          </a:xfrm>
          <a:prstGeom prst="line">
            <a:avLst/>
          </a:prstGeom>
          <a:ln w="152400">
            <a:solidFill>
              <a:srgbClr val="000000"/>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2" name="标题 1">
            <a:extLst>
              <a:ext uri="{FF2B5EF4-FFF2-40B4-BE49-F238E27FC236}">
                <a16:creationId xmlns:a16="http://schemas.microsoft.com/office/drawing/2014/main" id="{72992D9C-8E85-7740-8C85-569FE1DEF5D1}"/>
              </a:ext>
            </a:extLst>
          </p:cNvPr>
          <p:cNvSpPr>
            <a:spLocks noGrp="1"/>
          </p:cNvSpPr>
          <p:nvPr>
            <p:ph type="title"/>
          </p:nvPr>
        </p:nvSpPr>
        <p:spPr/>
        <p:txBody>
          <a:bodyPr>
            <a:normAutofit/>
          </a:bodyPr>
          <a:lstStyle/>
          <a:p>
            <a:r>
              <a:rPr kumimoji="1" lang="zh-CN" altLang="en-US" dirty="0"/>
              <a:t>对美国</a:t>
            </a:r>
            <a:r>
              <a:rPr kumimoji="1" lang="en-US" altLang="zh-CN" dirty="0"/>
              <a:t>DNS</a:t>
            </a:r>
            <a:r>
              <a:rPr kumimoji="1" lang="zh-CN" altLang="en-US" dirty="0"/>
              <a:t>服务商</a:t>
            </a:r>
            <a:r>
              <a:rPr kumimoji="1" lang="en-US" altLang="zh-CN" dirty="0" err="1"/>
              <a:t>Dyn</a:t>
            </a:r>
            <a:r>
              <a:rPr kumimoji="1" lang="zh-CN" altLang="en-US" dirty="0"/>
              <a:t>发起的</a:t>
            </a:r>
            <a:r>
              <a:rPr kumimoji="1" lang="en-US" altLang="zh-CN" dirty="0" err="1"/>
              <a:t>DDos</a:t>
            </a:r>
            <a:endParaRPr kumimoji="1" lang="zh-CN" altLang="en-US" dirty="0"/>
          </a:p>
        </p:txBody>
      </p:sp>
      <p:sp>
        <p:nvSpPr>
          <p:cNvPr id="9" name="灯片编号占位符 3">
            <a:extLst>
              <a:ext uri="{FF2B5EF4-FFF2-40B4-BE49-F238E27FC236}">
                <a16:creationId xmlns:a16="http://schemas.microsoft.com/office/drawing/2014/main" id="{F5B5F2C5-7592-4B6E-A7C5-0060745A1184}"/>
              </a:ext>
            </a:extLst>
          </p:cNvPr>
          <p:cNvSpPr>
            <a:spLocks noGrp="1"/>
          </p:cNvSpPr>
          <p:nvPr>
            <p:ph type="sldNum" sz="quarter" idx="12"/>
          </p:nvPr>
        </p:nvSpPr>
        <p:spPr>
          <a:xfrm>
            <a:off x="9448800" y="6492117"/>
            <a:ext cx="2743200" cy="365125"/>
          </a:xfrm>
        </p:spPr>
        <p:txBody>
          <a:bodyPr/>
          <a:lstStyle/>
          <a:p>
            <a:fld id="{8D4D1E41-7A09-AB4A-A4E1-09765ADA2698}" type="slidenum">
              <a:rPr kumimoji="1" lang="zh-CN" altLang="en-US" smtClean="0"/>
              <a:pPr/>
              <a:t>144</a:t>
            </a:fld>
            <a:endParaRPr kumimoji="1" lang="zh-CN" altLang="en-US" dirty="0"/>
          </a:p>
        </p:txBody>
      </p:sp>
      <p:sp>
        <p:nvSpPr>
          <p:cNvPr id="11" name="日期占位符 9">
            <a:extLst>
              <a:ext uri="{FF2B5EF4-FFF2-40B4-BE49-F238E27FC236}">
                <a16:creationId xmlns:a16="http://schemas.microsoft.com/office/drawing/2014/main" id="{1FF50B36-933A-430C-832F-9D83F1D140A5}"/>
              </a:ext>
            </a:extLst>
          </p:cNvPr>
          <p:cNvSpPr>
            <a:spLocks noGrp="1"/>
          </p:cNvSpPr>
          <p:nvPr>
            <p:ph type="dt" sz="half" idx="10"/>
          </p:nvPr>
        </p:nvSpPr>
        <p:spPr>
          <a:xfrm>
            <a:off x="226243" y="6498826"/>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118781027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AAF059-DFBA-544D-A355-FFFCD4B2F083}"/>
              </a:ext>
            </a:extLst>
          </p:cNvPr>
          <p:cNvSpPr>
            <a:spLocks noGrp="1"/>
          </p:cNvSpPr>
          <p:nvPr>
            <p:ph type="title"/>
          </p:nvPr>
        </p:nvSpPr>
        <p:spPr/>
        <p:txBody>
          <a:bodyPr/>
          <a:lstStyle/>
          <a:p>
            <a:r>
              <a:rPr kumimoji="1" lang="en-US" altLang="zh-CN" dirty="0"/>
              <a:t>MAC Flooding</a:t>
            </a:r>
            <a:endParaRPr kumimoji="1" lang="zh-CN" altLang="en-US" dirty="0"/>
          </a:p>
        </p:txBody>
      </p:sp>
      <p:sp>
        <p:nvSpPr>
          <p:cNvPr id="3" name="内容占位符 2">
            <a:extLst>
              <a:ext uri="{FF2B5EF4-FFF2-40B4-BE49-F238E27FC236}">
                <a16:creationId xmlns:a16="http://schemas.microsoft.com/office/drawing/2014/main" id="{82335622-877C-A349-B301-A4CBEBC6F8E0}"/>
              </a:ext>
            </a:extLst>
          </p:cNvPr>
          <p:cNvSpPr>
            <a:spLocks noGrp="1"/>
          </p:cNvSpPr>
          <p:nvPr>
            <p:ph idx="1"/>
          </p:nvPr>
        </p:nvSpPr>
        <p:spPr>
          <a:xfrm>
            <a:off x="938893" y="3826442"/>
            <a:ext cx="5157107" cy="2860108"/>
          </a:xfrm>
        </p:spPr>
        <p:txBody>
          <a:bodyPr>
            <a:normAutofit fontScale="70000" lnSpcReduction="20000"/>
          </a:bodyPr>
          <a:lstStyle/>
          <a:p>
            <a:r>
              <a:rPr kumimoji="1" lang="zh-CN" altLang="en-US" dirty="0"/>
              <a:t>攻击者对交换机发送很多非法的、包含不同源</a:t>
            </a:r>
            <a:r>
              <a:rPr kumimoji="1" lang="en-US" altLang="zh-CN" dirty="0"/>
              <a:t>MAC</a:t>
            </a:r>
            <a:r>
              <a:rPr kumimoji="1" lang="zh-CN" altLang="en-US" dirty="0"/>
              <a:t>地址的封包</a:t>
            </a:r>
            <a:endParaRPr kumimoji="1" lang="en-US" altLang="zh-CN" dirty="0"/>
          </a:p>
          <a:p>
            <a:r>
              <a:rPr kumimoji="1" lang="zh-CN" altLang="en-US" dirty="0"/>
              <a:t>交换机会把所有这些</a:t>
            </a:r>
            <a:r>
              <a:rPr kumimoji="1" lang="en-US" altLang="zh-CN" dirty="0"/>
              <a:t>MAC</a:t>
            </a:r>
            <a:r>
              <a:rPr kumimoji="1" lang="zh-CN" altLang="en-US" dirty="0"/>
              <a:t>地址记录到自己的</a:t>
            </a:r>
            <a:r>
              <a:rPr kumimoji="1" lang="en-US" altLang="zh-CN" dirty="0"/>
              <a:t>CAM(Content Addressable Memory)</a:t>
            </a:r>
            <a:r>
              <a:rPr kumimoji="1" lang="zh-CN" altLang="en-US" dirty="0"/>
              <a:t>表之中。</a:t>
            </a:r>
            <a:endParaRPr kumimoji="1" lang="en-US" altLang="zh-CN" dirty="0"/>
          </a:p>
          <a:p>
            <a:r>
              <a:rPr kumimoji="1" lang="zh-CN" altLang="en-US" dirty="0"/>
              <a:t>当这些记录超过交换机所能承载的内存的时候，</a:t>
            </a:r>
            <a:r>
              <a:rPr kumimoji="1" lang="en-US" altLang="zh-CN" dirty="0"/>
              <a:t>MAC flooding</a:t>
            </a:r>
            <a:r>
              <a:rPr kumimoji="1" lang="zh-CN" altLang="en-US" dirty="0"/>
              <a:t>的效果就达成了。</a:t>
            </a:r>
            <a:endParaRPr kumimoji="1" lang="en-US" altLang="zh-CN" dirty="0"/>
          </a:p>
          <a:p>
            <a:r>
              <a:rPr lang="zh-CN" altLang="en-US" dirty="0"/>
              <a:t>这时，交换机就变成了集线器，对所有信息进行无定向广播。</a:t>
            </a:r>
            <a:endParaRPr kumimoji="1" lang="zh-CN" altLang="en-US" dirty="0"/>
          </a:p>
        </p:txBody>
      </p:sp>
      <p:sp>
        <p:nvSpPr>
          <p:cNvPr id="5" name="灯片编号占位符 3">
            <a:extLst>
              <a:ext uri="{FF2B5EF4-FFF2-40B4-BE49-F238E27FC236}">
                <a16:creationId xmlns:a16="http://schemas.microsoft.com/office/drawing/2014/main" id="{9EFCA516-8E32-44FF-B19D-5D08FE0FAC57}"/>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145</a:t>
            </a:fld>
            <a:endParaRPr kumimoji="1" lang="zh-CN" altLang="en-US" dirty="0"/>
          </a:p>
        </p:txBody>
      </p:sp>
      <p:pic>
        <p:nvPicPr>
          <p:cNvPr id="7" name="图片 6">
            <a:extLst>
              <a:ext uri="{FF2B5EF4-FFF2-40B4-BE49-F238E27FC236}">
                <a16:creationId xmlns:a16="http://schemas.microsoft.com/office/drawing/2014/main" id="{A1E5D00E-BB79-4898-A613-9B4E5921300B}"/>
              </a:ext>
            </a:extLst>
          </p:cNvPr>
          <p:cNvPicPr>
            <a:picLocks noChangeAspect="1"/>
          </p:cNvPicPr>
          <p:nvPr/>
        </p:nvPicPr>
        <p:blipFill>
          <a:blip r:embed="rId3"/>
          <a:stretch>
            <a:fillRect/>
          </a:stretch>
        </p:blipFill>
        <p:spPr>
          <a:xfrm>
            <a:off x="1307508" y="1402055"/>
            <a:ext cx="3171825" cy="2076450"/>
          </a:xfrm>
          <a:prstGeom prst="rect">
            <a:avLst/>
          </a:prstGeom>
        </p:spPr>
      </p:pic>
      <p:pic>
        <p:nvPicPr>
          <p:cNvPr id="8" name="图片 7">
            <a:extLst>
              <a:ext uri="{FF2B5EF4-FFF2-40B4-BE49-F238E27FC236}">
                <a16:creationId xmlns:a16="http://schemas.microsoft.com/office/drawing/2014/main" id="{92A1F94D-6E6B-47D9-830F-4538FA472320}"/>
              </a:ext>
            </a:extLst>
          </p:cNvPr>
          <p:cNvPicPr>
            <a:picLocks noChangeAspect="1"/>
          </p:cNvPicPr>
          <p:nvPr/>
        </p:nvPicPr>
        <p:blipFill>
          <a:blip r:embed="rId4"/>
          <a:stretch>
            <a:fillRect/>
          </a:stretch>
        </p:blipFill>
        <p:spPr>
          <a:xfrm>
            <a:off x="6804932" y="1352550"/>
            <a:ext cx="4391025" cy="2076450"/>
          </a:xfrm>
          <a:prstGeom prst="rect">
            <a:avLst/>
          </a:prstGeom>
        </p:spPr>
      </p:pic>
      <p:pic>
        <p:nvPicPr>
          <p:cNvPr id="10" name="图片 9">
            <a:extLst>
              <a:ext uri="{FF2B5EF4-FFF2-40B4-BE49-F238E27FC236}">
                <a16:creationId xmlns:a16="http://schemas.microsoft.com/office/drawing/2014/main" id="{ADF413AF-873D-4A44-8744-CDC747CDE720}"/>
              </a:ext>
            </a:extLst>
          </p:cNvPr>
          <p:cNvPicPr>
            <a:picLocks noChangeAspect="1"/>
          </p:cNvPicPr>
          <p:nvPr/>
        </p:nvPicPr>
        <p:blipFill>
          <a:blip r:embed="rId5"/>
          <a:stretch>
            <a:fillRect/>
          </a:stretch>
        </p:blipFill>
        <p:spPr>
          <a:xfrm>
            <a:off x="7754711" y="4208480"/>
            <a:ext cx="3171825" cy="2076450"/>
          </a:xfrm>
          <a:prstGeom prst="rect">
            <a:avLst/>
          </a:prstGeom>
        </p:spPr>
      </p:pic>
      <p:sp>
        <p:nvSpPr>
          <p:cNvPr id="11" name="箭头: 右 10">
            <a:extLst>
              <a:ext uri="{FF2B5EF4-FFF2-40B4-BE49-F238E27FC236}">
                <a16:creationId xmlns:a16="http://schemas.microsoft.com/office/drawing/2014/main" id="{3BB2882D-D9BE-4B81-89D9-5B948A49654B}"/>
              </a:ext>
            </a:extLst>
          </p:cNvPr>
          <p:cNvSpPr/>
          <p:nvPr/>
        </p:nvSpPr>
        <p:spPr>
          <a:xfrm>
            <a:off x="5192486" y="2163536"/>
            <a:ext cx="903514" cy="594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右 11">
            <a:extLst>
              <a:ext uri="{FF2B5EF4-FFF2-40B4-BE49-F238E27FC236}">
                <a16:creationId xmlns:a16="http://schemas.microsoft.com/office/drawing/2014/main" id="{80C4088F-C4B9-4104-9D60-CDE45222356D}"/>
              </a:ext>
            </a:extLst>
          </p:cNvPr>
          <p:cNvSpPr/>
          <p:nvPr/>
        </p:nvSpPr>
        <p:spPr>
          <a:xfrm rot="5400000">
            <a:off x="8997043" y="3239976"/>
            <a:ext cx="903514" cy="594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4DDB745-4981-4A02-B97B-85118E8E427F}"/>
              </a:ext>
            </a:extLst>
          </p:cNvPr>
          <p:cNvSpPr txBox="1"/>
          <p:nvPr/>
        </p:nvSpPr>
        <p:spPr>
          <a:xfrm>
            <a:off x="3433682" y="6568704"/>
            <a:ext cx="6094638" cy="276999"/>
          </a:xfrm>
          <a:prstGeom prst="rect">
            <a:avLst/>
          </a:prstGeom>
        </p:spPr>
        <p:txBody>
          <a:bodyPr vert="horz" lIns="91440" tIns="45720" rIns="91440" bIns="45720" rtlCol="0" anchor="ctr"/>
          <a:lstStyle>
            <a:defPPr>
              <a:defRPr lang="zh-CN"/>
            </a:defPPr>
            <a:lvl1pPr>
              <a:defRPr kumimoji="1" sz="1200">
                <a:solidFill>
                  <a:schemeClr val="tx1">
                    <a:tint val="75000"/>
                  </a:schemeClr>
                </a:solidFill>
                <a:latin typeface="Microsoft YaHei" panose="020B0503020204020204" pitchFamily="34" charset="-122"/>
                <a:ea typeface="Microsoft YaHei" panose="020B0503020204020204" pitchFamily="34" charset="-122"/>
              </a:defRPr>
            </a:lvl1pPr>
          </a:lstStyle>
          <a:p>
            <a:r>
              <a:rPr lang="zh-CN" altLang="en-US" dirty="0"/>
              <a:t>引自：https://www.xiaopeiqing.com/posts/1439.html</a:t>
            </a:r>
          </a:p>
        </p:txBody>
      </p:sp>
      <p:sp>
        <p:nvSpPr>
          <p:cNvPr id="15" name="日期占位符 9">
            <a:extLst>
              <a:ext uri="{FF2B5EF4-FFF2-40B4-BE49-F238E27FC236}">
                <a16:creationId xmlns:a16="http://schemas.microsoft.com/office/drawing/2014/main" id="{32508F30-8C08-4AE9-8AF6-C2C1688D2444}"/>
              </a:ext>
            </a:extLst>
          </p:cNvPr>
          <p:cNvSpPr>
            <a:spLocks noGrp="1"/>
          </p:cNvSpPr>
          <p:nvPr>
            <p:ph type="dt" sz="half" idx="10"/>
          </p:nvPr>
        </p:nvSpPr>
        <p:spPr>
          <a:xfrm>
            <a:off x="263951" y="6502392"/>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418728006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10.11.2 </a:t>
            </a:r>
            <a:r>
              <a:rPr kumimoji="1" lang="zh-CN" altLang="zh-CN" dirty="0">
                <a:solidFill>
                  <a:prstClr val="black"/>
                </a:solidFill>
              </a:rPr>
              <a:t>构造攻击网络</a:t>
            </a:r>
            <a:endParaRPr lang="zh-CN" altLang="en-US" dirty="0"/>
          </a:p>
        </p:txBody>
      </p:sp>
      <p:sp>
        <p:nvSpPr>
          <p:cNvPr id="3" name="内容占位符 2"/>
          <p:cNvSpPr>
            <a:spLocks noGrp="1"/>
          </p:cNvSpPr>
          <p:nvPr>
            <p:ph idx="1"/>
          </p:nvPr>
        </p:nvSpPr>
        <p:spPr/>
        <p:txBody>
          <a:bodyPr>
            <a:normAutofit/>
          </a:bodyPr>
          <a:lstStyle/>
          <a:p>
            <a:r>
              <a:rPr lang="en-US" altLang="zh-CN" dirty="0" err="1"/>
              <a:t>DDoS</a:t>
            </a:r>
            <a:r>
              <a:rPr lang="zh-CN" altLang="en-US" dirty="0"/>
              <a:t>攻击的第一步是攻击者使用僵尸软件感染大量机器，这些僵尸软件最终将被用于执行攻击。这一阶段的攻击主要有以下几点。</a:t>
            </a:r>
            <a:endParaRPr lang="en-US" altLang="zh-CN" dirty="0"/>
          </a:p>
          <a:p>
            <a:pPr lvl="1"/>
            <a:r>
              <a:rPr lang="zh-CN" altLang="en-US" dirty="0"/>
              <a:t>（</a:t>
            </a:r>
            <a:r>
              <a:rPr lang="en-US" altLang="zh-CN" dirty="0"/>
              <a:t>1</a:t>
            </a:r>
            <a:r>
              <a:rPr lang="zh-CN" altLang="en-US" dirty="0"/>
              <a:t>）</a:t>
            </a:r>
            <a:r>
              <a:rPr lang="zh-CN" altLang="en-US" dirty="0">
                <a:solidFill>
                  <a:srgbClr val="C00000"/>
                </a:solidFill>
              </a:rPr>
              <a:t>可以执行</a:t>
            </a:r>
            <a:r>
              <a:rPr lang="en-US" altLang="zh-CN" dirty="0" err="1">
                <a:solidFill>
                  <a:srgbClr val="C00000"/>
                </a:solidFill>
              </a:rPr>
              <a:t>DDoS</a:t>
            </a:r>
            <a:r>
              <a:rPr lang="zh-CN" altLang="en-US" dirty="0">
                <a:solidFill>
                  <a:srgbClr val="C00000"/>
                </a:solidFill>
              </a:rPr>
              <a:t>攻击的软件</a:t>
            </a:r>
            <a:r>
              <a:rPr lang="zh-CN" altLang="en-US" dirty="0"/>
              <a:t>。这种软件必须可以在大量机器上运行、必须可以隐藏它的存在、必须可以与攻击者进行通信或者具有某种时间触发机制、必须可以向目标发射预期攻击。</a:t>
            </a:r>
            <a:endParaRPr lang="en-US" altLang="zh-CN" dirty="0"/>
          </a:p>
          <a:p>
            <a:pPr lvl="1"/>
            <a:r>
              <a:rPr lang="zh-CN" altLang="en-US" dirty="0"/>
              <a:t>（</a:t>
            </a:r>
            <a:r>
              <a:rPr lang="en-US" altLang="zh-CN" dirty="0"/>
              <a:t>2</a:t>
            </a:r>
            <a:r>
              <a:rPr lang="zh-CN" altLang="en-US" dirty="0"/>
              <a:t>）</a:t>
            </a:r>
            <a:r>
              <a:rPr lang="zh-CN" altLang="en-US" dirty="0">
                <a:solidFill>
                  <a:srgbClr val="C00000"/>
                </a:solidFill>
              </a:rPr>
              <a:t>存在大量系统漏洞</a:t>
            </a:r>
            <a:r>
              <a:rPr lang="zh-CN" altLang="en-US" dirty="0"/>
              <a:t>。攻击者必须清楚地知道很多系统管理员和个体用户都尚未修补这个系统漏洞，从而使得攻击者可以向这些系统中安装僵尸软件。</a:t>
            </a:r>
            <a:endParaRPr lang="en-US" altLang="zh-CN" dirty="0"/>
          </a:p>
          <a:p>
            <a:pPr lvl="1"/>
            <a:r>
              <a:rPr lang="zh-CN" altLang="en-US" dirty="0"/>
              <a:t>（</a:t>
            </a:r>
            <a:r>
              <a:rPr lang="en-US" altLang="zh-CN" dirty="0"/>
              <a:t>3</a:t>
            </a:r>
            <a:r>
              <a:rPr lang="zh-CN" altLang="en-US" dirty="0"/>
              <a:t>）</a:t>
            </a:r>
            <a:r>
              <a:rPr lang="zh-CN" altLang="en-US" dirty="0">
                <a:solidFill>
                  <a:srgbClr val="C00000"/>
                </a:solidFill>
              </a:rPr>
              <a:t>定位存在漏洞机器的策略</a:t>
            </a:r>
            <a:r>
              <a:rPr lang="zh-CN" altLang="en-US" dirty="0"/>
              <a:t>，一种方法称作扫描。</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146</a:t>
            </a:fld>
            <a:endParaRPr kumimoji="1" lang="zh-CN" altLang="en-US" dirty="0"/>
          </a:p>
        </p:txBody>
      </p:sp>
    </p:spTree>
    <p:extLst>
      <p:ext uri="{BB962C8B-B14F-4D97-AF65-F5344CB8AC3E}">
        <p14:creationId xmlns:p14="http://schemas.microsoft.com/office/powerpoint/2010/main" val="8459646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10.11.2 </a:t>
            </a:r>
            <a:r>
              <a:rPr kumimoji="1" lang="zh-CN" altLang="zh-CN" dirty="0">
                <a:solidFill>
                  <a:prstClr val="black"/>
                </a:solidFill>
              </a:rPr>
              <a:t>构造攻击网络</a:t>
            </a:r>
            <a:endParaRPr lang="zh-CN" altLang="en-US" dirty="0"/>
          </a:p>
        </p:txBody>
      </p:sp>
      <p:sp>
        <p:nvSpPr>
          <p:cNvPr id="3" name="内容占位符 2"/>
          <p:cNvSpPr>
            <a:spLocks noGrp="1"/>
          </p:cNvSpPr>
          <p:nvPr>
            <p:ph idx="1"/>
          </p:nvPr>
        </p:nvSpPr>
        <p:spPr>
          <a:xfrm>
            <a:off x="838200" y="1510758"/>
            <a:ext cx="10515600" cy="4783164"/>
          </a:xfrm>
        </p:spPr>
        <p:txBody>
          <a:bodyPr>
            <a:normAutofit lnSpcReduction="10000"/>
          </a:bodyPr>
          <a:lstStyle/>
          <a:p>
            <a:pPr>
              <a:lnSpc>
                <a:spcPct val="120000"/>
              </a:lnSpc>
            </a:pPr>
            <a:r>
              <a:rPr lang="zh-CN" altLang="en-US" dirty="0"/>
              <a:t>在</a:t>
            </a:r>
            <a:r>
              <a:rPr lang="zh-CN" altLang="en-US" dirty="0">
                <a:solidFill>
                  <a:srgbClr val="C00000"/>
                </a:solidFill>
              </a:rPr>
              <a:t>扫描</a:t>
            </a:r>
            <a:r>
              <a:rPr lang="zh-CN" altLang="en-US" dirty="0"/>
              <a:t>过程中，攻击者首先搜寻大量存在漏洞的机器并将其感染。之后，被感染机器上的僵尸软件通常会重复相同的扫描方法，直到由被感染机器组成的</a:t>
            </a:r>
            <a:r>
              <a:rPr lang="zh-CN" altLang="en-US" b="1" dirty="0"/>
              <a:t>大型分布式网络建立完成</a:t>
            </a:r>
            <a:r>
              <a:rPr lang="zh-CN" altLang="en-US" dirty="0"/>
              <a:t>。</a:t>
            </a:r>
            <a:endParaRPr lang="en-US" altLang="zh-CN" dirty="0"/>
          </a:p>
          <a:p>
            <a:pPr>
              <a:lnSpc>
                <a:spcPct val="120000"/>
              </a:lnSpc>
            </a:pPr>
            <a:r>
              <a:rPr lang="zh-CN" altLang="en-US" dirty="0"/>
              <a:t>几种</a:t>
            </a:r>
            <a:r>
              <a:rPr lang="zh-CN" altLang="en-US" dirty="0">
                <a:solidFill>
                  <a:srgbClr val="C00000"/>
                </a:solidFill>
              </a:rPr>
              <a:t>扫描策略类型</a:t>
            </a:r>
            <a:r>
              <a:rPr lang="zh-CN" altLang="en-US" dirty="0"/>
              <a:t>：</a:t>
            </a:r>
            <a:endParaRPr lang="en-US" altLang="zh-CN" dirty="0"/>
          </a:p>
          <a:p>
            <a:pPr lvl="1">
              <a:lnSpc>
                <a:spcPct val="120000"/>
              </a:lnSpc>
            </a:pPr>
            <a:r>
              <a:rPr lang="zh-CN" altLang="en-US" b="1" dirty="0"/>
              <a:t>随机</a:t>
            </a:r>
            <a:r>
              <a:rPr lang="zh-CN" altLang="en-US" dirty="0"/>
              <a:t>：每个被感染主机</a:t>
            </a:r>
            <a:r>
              <a:rPr lang="zh-CN" altLang="en-US" b="1" dirty="0"/>
              <a:t>使用不同的种子探查</a:t>
            </a:r>
            <a:r>
              <a:rPr lang="en-US" altLang="zh-CN" b="1" dirty="0"/>
              <a:t>IP</a:t>
            </a:r>
            <a:r>
              <a:rPr lang="zh-CN" altLang="en-US" b="1" dirty="0"/>
              <a:t>地址空间中的随机地址</a:t>
            </a:r>
            <a:r>
              <a:rPr lang="zh-CN" altLang="en-US" dirty="0"/>
              <a:t>。这种技术会产生大量的网络流量，攻击地址也是没有显著特点的分布。</a:t>
            </a:r>
            <a:endParaRPr lang="en-US" altLang="zh-CN" dirty="0"/>
          </a:p>
          <a:p>
            <a:pPr lvl="1">
              <a:lnSpc>
                <a:spcPct val="120000"/>
              </a:lnSpc>
            </a:pPr>
            <a:r>
              <a:rPr lang="zh-CN" altLang="en-US" b="1" dirty="0"/>
              <a:t>攻击表</a:t>
            </a:r>
            <a:r>
              <a:rPr lang="zh-CN" altLang="en-US" dirty="0"/>
              <a:t>：攻击者首先</a:t>
            </a:r>
            <a:r>
              <a:rPr lang="zh-CN" altLang="en-US" b="1" dirty="0"/>
              <a:t>编译一份潜在漏洞机器列表</a:t>
            </a:r>
            <a:r>
              <a:rPr lang="zh-CN" altLang="en-US" dirty="0"/>
              <a:t>。一旦潜在漏洞机器列表被编译完成，攻击者将开始感染列表中的机器。每当有新的机器被感染之后，攻击者会提供给该机器一部分漏洞机器列表，使其继续加入扫描。这个策略的结果是</a:t>
            </a:r>
            <a:r>
              <a:rPr lang="zh-CN" altLang="en-US" b="1" dirty="0"/>
              <a:t>扫描阶段非常短</a:t>
            </a:r>
            <a:r>
              <a:rPr lang="zh-CN" altLang="en-US" dirty="0"/>
              <a:t>，使得很难检测到感染正在发生。</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147</a:t>
            </a:fld>
            <a:endParaRPr kumimoji="1" lang="zh-CN" altLang="en-US" dirty="0"/>
          </a:p>
        </p:txBody>
      </p:sp>
    </p:spTree>
    <p:extLst>
      <p:ext uri="{BB962C8B-B14F-4D97-AF65-F5344CB8AC3E}">
        <p14:creationId xmlns:p14="http://schemas.microsoft.com/office/powerpoint/2010/main" val="325192928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10.11.2 </a:t>
            </a:r>
            <a:r>
              <a:rPr kumimoji="1" lang="zh-CN" altLang="zh-CN" dirty="0">
                <a:solidFill>
                  <a:prstClr val="black"/>
                </a:solidFill>
              </a:rPr>
              <a:t>构造攻击网络</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a:t>几种</a:t>
            </a:r>
            <a:r>
              <a:rPr lang="zh-CN" altLang="en-US" dirty="0">
                <a:solidFill>
                  <a:srgbClr val="C00000"/>
                </a:solidFill>
              </a:rPr>
              <a:t>扫描策略类型</a:t>
            </a:r>
            <a:r>
              <a:rPr lang="zh-CN" altLang="en-US" dirty="0"/>
              <a:t>：</a:t>
            </a:r>
            <a:endParaRPr lang="en-US" altLang="zh-CN" dirty="0"/>
          </a:p>
          <a:p>
            <a:pPr lvl="1">
              <a:lnSpc>
                <a:spcPct val="150000"/>
              </a:lnSpc>
            </a:pPr>
            <a:r>
              <a:rPr lang="zh-CN" altLang="en-US" b="1" dirty="0"/>
              <a:t>拓扑</a:t>
            </a:r>
            <a:r>
              <a:rPr lang="zh-CN" altLang="en-US" dirty="0"/>
              <a:t>：利用被感染机器包含的信息去寻找更多主机来进行扫描。</a:t>
            </a:r>
            <a:endParaRPr lang="en-US" altLang="zh-CN" dirty="0"/>
          </a:p>
          <a:p>
            <a:pPr lvl="1">
              <a:lnSpc>
                <a:spcPct val="150000"/>
              </a:lnSpc>
            </a:pPr>
            <a:r>
              <a:rPr lang="zh-CN" altLang="en-US" b="1" dirty="0"/>
              <a:t>本地子网路</a:t>
            </a:r>
            <a:r>
              <a:rPr lang="zh-CN" altLang="en-US" dirty="0"/>
              <a:t>：如果一个处于防火墙之后的主机被感染，那么这个主机将在它所处的本地网络中寻找其他目标。使用子网络地址结构，这个主机可以寻找到处于防火墙保护下外部感染源无法感染到的其他主机并将其感染。</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148</a:t>
            </a:fld>
            <a:endParaRPr kumimoji="1" lang="zh-CN" altLang="en-US" dirty="0"/>
          </a:p>
        </p:txBody>
      </p:sp>
    </p:spTree>
    <p:extLst>
      <p:ext uri="{BB962C8B-B14F-4D97-AF65-F5344CB8AC3E}">
        <p14:creationId xmlns:p14="http://schemas.microsoft.com/office/powerpoint/2010/main" val="22582739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A Botnet of IoT Devices"/>
          <p:cNvSpPr txBox="1">
            <a:spLocks noGrp="1"/>
          </p:cNvSpPr>
          <p:nvPr>
            <p:ph type="title"/>
          </p:nvPr>
        </p:nvSpPr>
        <p:spPr>
          <a:prstGeom prst="rect">
            <a:avLst/>
          </a:prstGeom>
        </p:spPr>
        <p:txBody>
          <a:bodyPr anchor="ctr">
            <a:normAutofit fontScale="90000"/>
          </a:bodyPr>
          <a:lstStyle>
            <a:lvl1pPr algn="l">
              <a:defRPr sz="7000"/>
            </a:lvl1pPr>
          </a:lstStyle>
          <a:p>
            <a:r>
              <a:rPr lang="zh-CN" altLang="en-US" sz="4000" dirty="0"/>
              <a:t>延伸阅读 </a:t>
            </a:r>
            <a:r>
              <a:rPr lang="en-US" altLang="zh-CN" sz="4000" dirty="0"/>
              <a:t>- </a:t>
            </a:r>
            <a:r>
              <a:rPr lang="zh-CN" altLang="en-US" sz="4000" dirty="0"/>
              <a:t>物联网设备作为僵尸机器</a:t>
            </a:r>
            <a:endParaRPr sz="4000" dirty="0"/>
          </a:p>
        </p:txBody>
      </p:sp>
      <p:sp>
        <p:nvSpPr>
          <p:cNvPr id="2" name="内容占位符 1">
            <a:extLst>
              <a:ext uri="{FF2B5EF4-FFF2-40B4-BE49-F238E27FC236}">
                <a16:creationId xmlns:a16="http://schemas.microsoft.com/office/drawing/2014/main" id="{DEAA15B2-7F5F-5F47-9C0A-217EBC594BDC}"/>
              </a:ext>
            </a:extLst>
          </p:cNvPr>
          <p:cNvSpPr>
            <a:spLocks noGrp="1"/>
          </p:cNvSpPr>
          <p:nvPr>
            <p:ph idx="1"/>
          </p:nvPr>
        </p:nvSpPr>
        <p:spPr/>
        <p:txBody>
          <a:bodyPr/>
          <a:lstStyle/>
          <a:p>
            <a:endParaRPr kumimoji="1" lang="zh-CN" altLang="en-US" dirty="0"/>
          </a:p>
        </p:txBody>
      </p:sp>
      <p:sp>
        <p:nvSpPr>
          <p:cNvPr id="264" name="线条"/>
          <p:cNvSpPr/>
          <p:nvPr/>
        </p:nvSpPr>
        <p:spPr>
          <a:xfrm>
            <a:off x="1949225" y="3460386"/>
            <a:ext cx="599157" cy="1"/>
          </a:xfrm>
          <a:prstGeom prst="line">
            <a:avLst/>
          </a:prstGeom>
          <a:ln w="88900">
            <a:solidFill>
              <a:srgbClr val="000000"/>
            </a:solidFill>
            <a:miter lim="400000"/>
            <a:tailEnd type="triangle"/>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265" name="箭头"/>
          <p:cNvSpPr/>
          <p:nvPr/>
        </p:nvSpPr>
        <p:spPr>
          <a:xfrm>
            <a:off x="7570830" y="1950846"/>
            <a:ext cx="2038423" cy="3019082"/>
          </a:xfrm>
          <a:prstGeom prst="rightArrow">
            <a:avLst>
              <a:gd name="adj1" fmla="val 100000"/>
              <a:gd name="adj2" fmla="val 46507"/>
            </a:avLst>
          </a:prstGeom>
          <a:solidFill>
            <a:srgbClr val="DD6064"/>
          </a:solidFill>
          <a:ln w="12700">
            <a:miter lim="400000"/>
          </a:ln>
        </p:spPr>
        <p:txBody>
          <a:bodyPr lIns="0" tIns="0" rIns="0" bIns="0" anchor="ctr"/>
          <a:lstStyle/>
          <a:p>
            <a:pPr indent="88900">
              <a:defRPr sz="2400" b="0">
                <a:solidFill>
                  <a:srgbClr val="FFFFFF"/>
                </a:solidFill>
                <a:latin typeface="+mn-lt"/>
                <a:ea typeface="+mn-ea"/>
                <a:cs typeface="+mn-cs"/>
                <a:sym typeface="Helvetica Neue Medium"/>
              </a:defRPr>
            </a:pPr>
            <a:endParaRPr sz="1200"/>
          </a:p>
        </p:txBody>
      </p:sp>
      <p:sp>
        <p:nvSpPr>
          <p:cNvPr id="266" name="GRE HTTP TLS"/>
          <p:cNvSpPr txBox="1"/>
          <p:nvPr/>
        </p:nvSpPr>
        <p:spPr>
          <a:xfrm>
            <a:off x="8055064" y="2624838"/>
            <a:ext cx="540212" cy="1671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nSpc>
                <a:spcPct val="150000"/>
              </a:lnSpc>
              <a:defRPr>
                <a:solidFill>
                  <a:srgbClr val="FFFFFF"/>
                </a:solidFill>
              </a:defRPr>
            </a:pPr>
            <a:r>
              <a:rPr lang="en-US" b="1" dirty="0">
                <a:solidFill>
                  <a:schemeClr val="bg1"/>
                </a:solidFill>
              </a:rPr>
              <a:t>SYN</a:t>
            </a:r>
          </a:p>
          <a:p>
            <a:pPr>
              <a:lnSpc>
                <a:spcPct val="150000"/>
              </a:lnSpc>
              <a:defRPr>
                <a:solidFill>
                  <a:srgbClr val="FFFFFF"/>
                </a:solidFill>
              </a:defRPr>
            </a:pPr>
            <a:r>
              <a:rPr lang="en-US" altLang="zh-CN" b="1" dirty="0">
                <a:solidFill>
                  <a:schemeClr val="bg1"/>
                </a:solidFill>
              </a:rPr>
              <a:t>NTP</a:t>
            </a:r>
            <a:endParaRPr lang="en-US" b="1" dirty="0">
              <a:solidFill>
                <a:schemeClr val="bg1"/>
              </a:solidFill>
            </a:endParaRPr>
          </a:p>
          <a:p>
            <a:pPr>
              <a:lnSpc>
                <a:spcPct val="150000"/>
              </a:lnSpc>
              <a:defRPr>
                <a:solidFill>
                  <a:srgbClr val="FFFFFF"/>
                </a:solidFill>
              </a:defRPr>
            </a:pPr>
            <a:r>
              <a:rPr lang="en-US" altLang="zh-CN" b="1" dirty="0">
                <a:solidFill>
                  <a:schemeClr val="bg1"/>
                </a:solidFill>
              </a:rPr>
              <a:t>DNS</a:t>
            </a:r>
            <a:endParaRPr lang="en-US" b="1" dirty="0">
              <a:solidFill>
                <a:schemeClr val="bg1"/>
              </a:solidFill>
            </a:endParaRPr>
          </a:p>
          <a:p>
            <a:pPr>
              <a:lnSpc>
                <a:spcPct val="150000"/>
              </a:lnSpc>
              <a:defRPr>
                <a:solidFill>
                  <a:srgbClr val="FFFFFF"/>
                </a:solidFill>
              </a:defRPr>
            </a:pPr>
            <a:r>
              <a:rPr lang="en-US" b="1" dirty="0">
                <a:solidFill>
                  <a:schemeClr val="bg1"/>
                </a:solidFill>
              </a:rPr>
              <a:t>GRE </a:t>
            </a:r>
            <a:endParaRPr b="1" dirty="0">
              <a:solidFill>
                <a:schemeClr val="bg1"/>
              </a:solidFill>
            </a:endParaRPr>
          </a:p>
        </p:txBody>
      </p:sp>
      <p:pic>
        <p:nvPicPr>
          <p:cNvPr id="267" name="图像" descr="图像"/>
          <p:cNvPicPr>
            <a:picLocks noChangeAspect="1"/>
          </p:cNvPicPr>
          <p:nvPr/>
        </p:nvPicPr>
        <p:blipFill>
          <a:blip r:embed="rId3"/>
          <a:stretch>
            <a:fillRect/>
          </a:stretch>
        </p:blipFill>
        <p:spPr>
          <a:xfrm>
            <a:off x="3185431" y="3192225"/>
            <a:ext cx="660328" cy="660328"/>
          </a:xfrm>
          <a:prstGeom prst="rect">
            <a:avLst/>
          </a:prstGeom>
          <a:ln w="12700">
            <a:miter lim="400000"/>
          </a:ln>
        </p:spPr>
      </p:pic>
      <p:pic>
        <p:nvPicPr>
          <p:cNvPr id="268" name="图像" descr="图像"/>
          <p:cNvPicPr>
            <a:picLocks noChangeAspect="1"/>
          </p:cNvPicPr>
          <p:nvPr/>
        </p:nvPicPr>
        <p:blipFill>
          <a:blip r:embed="rId4"/>
          <a:stretch>
            <a:fillRect/>
          </a:stretch>
        </p:blipFill>
        <p:spPr>
          <a:xfrm>
            <a:off x="2992783" y="4303073"/>
            <a:ext cx="1990743" cy="533317"/>
          </a:xfrm>
          <a:prstGeom prst="rect">
            <a:avLst/>
          </a:prstGeom>
          <a:ln w="12700">
            <a:miter lim="400000"/>
          </a:ln>
        </p:spPr>
      </p:pic>
      <p:pic>
        <p:nvPicPr>
          <p:cNvPr id="269" name="图像" descr="图像"/>
          <p:cNvPicPr>
            <a:picLocks noChangeAspect="1"/>
          </p:cNvPicPr>
          <p:nvPr/>
        </p:nvPicPr>
        <p:blipFill>
          <a:blip r:embed="rId5"/>
          <a:srcRect l="64396" b="98717"/>
          <a:stretch>
            <a:fillRect/>
          </a:stretch>
        </p:blipFill>
        <p:spPr>
          <a:xfrm>
            <a:off x="7653536" y="5106491"/>
            <a:ext cx="730251" cy="12701"/>
          </a:xfrm>
          <a:prstGeom prst="rect">
            <a:avLst/>
          </a:prstGeom>
          <a:ln w="12700">
            <a:miter lim="400000"/>
          </a:ln>
        </p:spPr>
      </p:pic>
      <p:pic>
        <p:nvPicPr>
          <p:cNvPr id="270" name="图像" descr="图像"/>
          <p:cNvPicPr>
            <a:picLocks noChangeAspect="1"/>
          </p:cNvPicPr>
          <p:nvPr/>
        </p:nvPicPr>
        <p:blipFill>
          <a:blip r:embed="rId6"/>
          <a:stretch>
            <a:fillRect/>
          </a:stretch>
        </p:blipFill>
        <p:spPr>
          <a:xfrm>
            <a:off x="6256494" y="2942533"/>
            <a:ext cx="1012803" cy="758625"/>
          </a:xfrm>
          <a:prstGeom prst="rect">
            <a:avLst/>
          </a:prstGeom>
          <a:ln w="12700">
            <a:miter lim="400000"/>
          </a:ln>
        </p:spPr>
      </p:pic>
      <p:pic>
        <p:nvPicPr>
          <p:cNvPr id="271" name="图像" descr="图像"/>
          <p:cNvPicPr>
            <a:picLocks noChangeAspect="1"/>
          </p:cNvPicPr>
          <p:nvPr/>
        </p:nvPicPr>
        <p:blipFill>
          <a:blip r:embed="rId7"/>
          <a:stretch>
            <a:fillRect/>
          </a:stretch>
        </p:blipFill>
        <p:spPr>
          <a:xfrm>
            <a:off x="6444810" y="3947926"/>
            <a:ext cx="938014" cy="938014"/>
          </a:xfrm>
          <a:prstGeom prst="rect">
            <a:avLst/>
          </a:prstGeom>
          <a:ln w="12700">
            <a:miter lim="400000"/>
          </a:ln>
        </p:spPr>
      </p:pic>
      <p:pic>
        <p:nvPicPr>
          <p:cNvPr id="272" name="图像" descr="图像"/>
          <p:cNvPicPr>
            <a:picLocks noChangeAspect="1"/>
          </p:cNvPicPr>
          <p:nvPr/>
        </p:nvPicPr>
        <p:blipFill>
          <a:blip r:embed="rId8"/>
          <a:stretch>
            <a:fillRect/>
          </a:stretch>
        </p:blipFill>
        <p:spPr>
          <a:xfrm>
            <a:off x="4520673" y="2091310"/>
            <a:ext cx="1008016" cy="729284"/>
          </a:xfrm>
          <a:prstGeom prst="rect">
            <a:avLst/>
          </a:prstGeom>
          <a:ln w="12700">
            <a:miter lim="400000"/>
          </a:ln>
        </p:spPr>
      </p:pic>
      <p:pic>
        <p:nvPicPr>
          <p:cNvPr id="273" name="图像" descr="图像"/>
          <p:cNvPicPr>
            <a:picLocks noChangeAspect="1"/>
          </p:cNvPicPr>
          <p:nvPr/>
        </p:nvPicPr>
        <p:blipFill>
          <a:blip r:embed="rId9"/>
          <a:stretch>
            <a:fillRect/>
          </a:stretch>
        </p:blipFill>
        <p:spPr>
          <a:xfrm>
            <a:off x="5179673" y="3789150"/>
            <a:ext cx="1097016" cy="729284"/>
          </a:xfrm>
          <a:prstGeom prst="rect">
            <a:avLst/>
          </a:prstGeom>
          <a:ln w="12700">
            <a:miter lim="400000"/>
          </a:ln>
        </p:spPr>
      </p:pic>
      <p:pic>
        <p:nvPicPr>
          <p:cNvPr id="274" name="图像" descr="图像"/>
          <p:cNvPicPr>
            <a:picLocks noChangeAspect="1"/>
          </p:cNvPicPr>
          <p:nvPr/>
        </p:nvPicPr>
        <p:blipFill>
          <a:blip r:embed="rId10"/>
          <a:stretch>
            <a:fillRect/>
          </a:stretch>
        </p:blipFill>
        <p:spPr>
          <a:xfrm>
            <a:off x="2943746" y="2070986"/>
            <a:ext cx="1364304" cy="936386"/>
          </a:xfrm>
          <a:prstGeom prst="rect">
            <a:avLst/>
          </a:prstGeom>
          <a:ln w="12700">
            <a:miter lim="400000"/>
          </a:ln>
        </p:spPr>
      </p:pic>
      <p:pic>
        <p:nvPicPr>
          <p:cNvPr id="275" name="图像" descr="图像"/>
          <p:cNvPicPr>
            <a:picLocks noChangeAspect="1"/>
          </p:cNvPicPr>
          <p:nvPr/>
        </p:nvPicPr>
        <p:blipFill>
          <a:blip r:embed="rId11"/>
          <a:stretch>
            <a:fillRect/>
          </a:stretch>
        </p:blipFill>
        <p:spPr>
          <a:xfrm>
            <a:off x="5911638" y="2057362"/>
            <a:ext cx="1497141" cy="797179"/>
          </a:xfrm>
          <a:prstGeom prst="rect">
            <a:avLst/>
          </a:prstGeom>
          <a:ln w="12700">
            <a:miter lim="400000"/>
          </a:ln>
        </p:spPr>
      </p:pic>
      <p:pic>
        <p:nvPicPr>
          <p:cNvPr id="276" name="图像" descr="图像"/>
          <p:cNvPicPr>
            <a:picLocks noChangeAspect="1"/>
          </p:cNvPicPr>
          <p:nvPr/>
        </p:nvPicPr>
        <p:blipFill>
          <a:blip r:embed="rId12"/>
          <a:stretch>
            <a:fillRect/>
          </a:stretch>
        </p:blipFill>
        <p:spPr>
          <a:xfrm>
            <a:off x="4026079" y="3144529"/>
            <a:ext cx="1153595" cy="834609"/>
          </a:xfrm>
          <a:prstGeom prst="rect">
            <a:avLst/>
          </a:prstGeom>
          <a:ln w="12700">
            <a:miter lim="400000"/>
          </a:ln>
        </p:spPr>
      </p:pic>
      <p:sp>
        <p:nvSpPr>
          <p:cNvPr id="277" name="矩形"/>
          <p:cNvSpPr/>
          <p:nvPr/>
        </p:nvSpPr>
        <p:spPr>
          <a:xfrm>
            <a:off x="2874789" y="1955800"/>
            <a:ext cx="4675362" cy="2993681"/>
          </a:xfrm>
          <a:prstGeom prst="rect">
            <a:avLst/>
          </a:prstGeom>
          <a:ln w="50800">
            <a:solidFill>
              <a:srgbClr val="CE6767"/>
            </a:solidFill>
            <a:prstDash val="sysDot"/>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24" name="anonymous_99618">
            <a:extLst>
              <a:ext uri="{FF2B5EF4-FFF2-40B4-BE49-F238E27FC236}">
                <a16:creationId xmlns:a16="http://schemas.microsoft.com/office/drawing/2014/main" id="{CF649890-BF4F-4704-966D-3FB34F20DE6E}"/>
              </a:ext>
            </a:extLst>
          </p:cNvPr>
          <p:cNvSpPr/>
          <p:nvPr/>
        </p:nvSpPr>
        <p:spPr>
          <a:xfrm>
            <a:off x="1044928" y="3197808"/>
            <a:ext cx="556399" cy="606297"/>
          </a:xfrm>
          <a:custGeom>
            <a:avLst/>
            <a:gdLst>
              <a:gd name="connsiteX0" fmla="*/ 255941 w 579906"/>
              <a:gd name="connsiteY0" fmla="*/ 386840 h 600018"/>
              <a:gd name="connsiteX1" fmla="*/ 323966 w 579906"/>
              <a:gd name="connsiteY1" fmla="*/ 386840 h 600018"/>
              <a:gd name="connsiteX2" fmla="*/ 289844 w 579906"/>
              <a:gd name="connsiteY2" fmla="*/ 504190 h 600018"/>
              <a:gd name="connsiteX3" fmla="*/ 271909 w 579906"/>
              <a:gd name="connsiteY3" fmla="*/ 342736 h 600018"/>
              <a:gd name="connsiteX4" fmla="*/ 307780 w 579906"/>
              <a:gd name="connsiteY4" fmla="*/ 342736 h 600018"/>
              <a:gd name="connsiteX5" fmla="*/ 319591 w 579906"/>
              <a:gd name="connsiteY5" fmla="*/ 354305 h 600018"/>
              <a:gd name="connsiteX6" fmla="*/ 307780 w 579906"/>
              <a:gd name="connsiteY6" fmla="*/ 366093 h 600018"/>
              <a:gd name="connsiteX7" fmla="*/ 271909 w 579906"/>
              <a:gd name="connsiteY7" fmla="*/ 366093 h 600018"/>
              <a:gd name="connsiteX8" fmla="*/ 260316 w 579906"/>
              <a:gd name="connsiteY8" fmla="*/ 354305 h 600018"/>
              <a:gd name="connsiteX9" fmla="*/ 271909 w 579906"/>
              <a:gd name="connsiteY9" fmla="*/ 342736 h 600018"/>
              <a:gd name="connsiteX10" fmla="*/ 254411 w 579906"/>
              <a:gd name="connsiteY10" fmla="*/ 286783 h 600018"/>
              <a:gd name="connsiteX11" fmla="*/ 325495 w 579906"/>
              <a:gd name="connsiteY11" fmla="*/ 286783 h 600018"/>
              <a:gd name="connsiteX12" fmla="*/ 340368 w 579906"/>
              <a:gd name="connsiteY12" fmla="*/ 295307 h 600018"/>
              <a:gd name="connsiteX13" fmla="*/ 357647 w 579906"/>
              <a:gd name="connsiteY13" fmla="*/ 323502 h 600018"/>
              <a:gd name="connsiteX14" fmla="*/ 405328 w 579906"/>
              <a:gd name="connsiteY14" fmla="*/ 323502 h 600018"/>
              <a:gd name="connsiteX15" fmla="*/ 420419 w 579906"/>
              <a:gd name="connsiteY15" fmla="*/ 295963 h 600018"/>
              <a:gd name="connsiteX16" fmla="*/ 444260 w 579906"/>
              <a:gd name="connsiteY16" fmla="*/ 288969 h 600018"/>
              <a:gd name="connsiteX17" fmla="*/ 451259 w 579906"/>
              <a:gd name="connsiteY17" fmla="*/ 312793 h 600018"/>
              <a:gd name="connsiteX18" fmla="*/ 430918 w 579906"/>
              <a:gd name="connsiteY18" fmla="*/ 349512 h 600018"/>
              <a:gd name="connsiteX19" fmla="*/ 415608 w 579906"/>
              <a:gd name="connsiteY19" fmla="*/ 358473 h 600018"/>
              <a:gd name="connsiteX20" fmla="*/ 347804 w 579906"/>
              <a:gd name="connsiteY20" fmla="*/ 358473 h 600018"/>
              <a:gd name="connsiteX21" fmla="*/ 332713 w 579906"/>
              <a:gd name="connsiteY21" fmla="*/ 350167 h 600018"/>
              <a:gd name="connsiteX22" fmla="*/ 315653 w 579906"/>
              <a:gd name="connsiteY22" fmla="*/ 321754 h 600018"/>
              <a:gd name="connsiteX23" fmla="*/ 264253 w 579906"/>
              <a:gd name="connsiteY23" fmla="*/ 321754 h 600018"/>
              <a:gd name="connsiteX24" fmla="*/ 247193 w 579906"/>
              <a:gd name="connsiteY24" fmla="*/ 350167 h 600018"/>
              <a:gd name="connsiteX25" fmla="*/ 232102 w 579906"/>
              <a:gd name="connsiteY25" fmla="*/ 358473 h 600018"/>
              <a:gd name="connsiteX26" fmla="*/ 164298 w 579906"/>
              <a:gd name="connsiteY26" fmla="*/ 358473 h 600018"/>
              <a:gd name="connsiteX27" fmla="*/ 148769 w 579906"/>
              <a:gd name="connsiteY27" fmla="*/ 349512 h 600018"/>
              <a:gd name="connsiteX28" fmla="*/ 128647 w 579906"/>
              <a:gd name="connsiteY28" fmla="*/ 312793 h 600018"/>
              <a:gd name="connsiteX29" fmla="*/ 135646 w 579906"/>
              <a:gd name="connsiteY29" fmla="*/ 288969 h 600018"/>
              <a:gd name="connsiteX30" fmla="*/ 159268 w 579906"/>
              <a:gd name="connsiteY30" fmla="*/ 295963 h 600018"/>
              <a:gd name="connsiteX31" fmla="*/ 174578 w 579906"/>
              <a:gd name="connsiteY31" fmla="*/ 323502 h 600018"/>
              <a:gd name="connsiteX32" fmla="*/ 222259 w 579906"/>
              <a:gd name="connsiteY32" fmla="*/ 323502 h 600018"/>
              <a:gd name="connsiteX33" fmla="*/ 239319 w 579906"/>
              <a:gd name="connsiteY33" fmla="*/ 295307 h 600018"/>
              <a:gd name="connsiteX34" fmla="*/ 254411 w 579906"/>
              <a:gd name="connsiteY34" fmla="*/ 286783 h 600018"/>
              <a:gd name="connsiteX35" fmla="*/ 379524 w 579906"/>
              <a:gd name="connsiteY35" fmla="*/ 160325 h 600018"/>
              <a:gd name="connsiteX36" fmla="*/ 425909 w 579906"/>
              <a:gd name="connsiteY36" fmla="*/ 160325 h 600018"/>
              <a:gd name="connsiteX37" fmla="*/ 437505 w 579906"/>
              <a:gd name="connsiteY37" fmla="*/ 172113 h 600018"/>
              <a:gd name="connsiteX38" fmla="*/ 425909 w 579906"/>
              <a:gd name="connsiteY38" fmla="*/ 183682 h 600018"/>
              <a:gd name="connsiteX39" fmla="*/ 379524 w 579906"/>
              <a:gd name="connsiteY39" fmla="*/ 183682 h 600018"/>
              <a:gd name="connsiteX40" fmla="*/ 367928 w 579906"/>
              <a:gd name="connsiteY40" fmla="*/ 172113 h 600018"/>
              <a:gd name="connsiteX41" fmla="*/ 379524 w 579906"/>
              <a:gd name="connsiteY41" fmla="*/ 160325 h 600018"/>
              <a:gd name="connsiteX42" fmla="*/ 156819 w 579906"/>
              <a:gd name="connsiteY42" fmla="*/ 160325 h 600018"/>
              <a:gd name="connsiteX43" fmla="*/ 203204 w 579906"/>
              <a:gd name="connsiteY43" fmla="*/ 160325 h 600018"/>
              <a:gd name="connsiteX44" fmla="*/ 214800 w 579906"/>
              <a:gd name="connsiteY44" fmla="*/ 172113 h 600018"/>
              <a:gd name="connsiteX45" fmla="*/ 203204 w 579906"/>
              <a:gd name="connsiteY45" fmla="*/ 183682 h 600018"/>
              <a:gd name="connsiteX46" fmla="*/ 156819 w 579906"/>
              <a:gd name="connsiteY46" fmla="*/ 183682 h 600018"/>
              <a:gd name="connsiteX47" fmla="*/ 145223 w 579906"/>
              <a:gd name="connsiteY47" fmla="*/ 172113 h 600018"/>
              <a:gd name="connsiteX48" fmla="*/ 156819 w 579906"/>
              <a:gd name="connsiteY48" fmla="*/ 160325 h 600018"/>
              <a:gd name="connsiteX49" fmla="*/ 401161 w 579906"/>
              <a:gd name="connsiteY49" fmla="*/ 98933 h 600018"/>
              <a:gd name="connsiteX50" fmla="*/ 492385 w 579906"/>
              <a:gd name="connsiteY50" fmla="*/ 151593 h 600018"/>
              <a:gd name="connsiteX51" fmla="*/ 486040 w 579906"/>
              <a:gd name="connsiteY51" fmla="*/ 175410 h 600018"/>
              <a:gd name="connsiteX52" fmla="*/ 462196 w 579906"/>
              <a:gd name="connsiteY52" fmla="*/ 169074 h 600018"/>
              <a:gd name="connsiteX53" fmla="*/ 401161 w 579906"/>
              <a:gd name="connsiteY53" fmla="*/ 133894 h 600018"/>
              <a:gd name="connsiteX54" fmla="*/ 340346 w 579906"/>
              <a:gd name="connsiteY54" fmla="*/ 169074 h 600018"/>
              <a:gd name="connsiteX55" fmla="*/ 325032 w 579906"/>
              <a:gd name="connsiteY55" fmla="*/ 177814 h 600018"/>
              <a:gd name="connsiteX56" fmla="*/ 316282 w 579906"/>
              <a:gd name="connsiteY56" fmla="*/ 175410 h 600018"/>
              <a:gd name="connsiteX57" fmla="*/ 309938 w 579906"/>
              <a:gd name="connsiteY57" fmla="*/ 151593 h 600018"/>
              <a:gd name="connsiteX58" fmla="*/ 401161 w 579906"/>
              <a:gd name="connsiteY58" fmla="*/ 98933 h 600018"/>
              <a:gd name="connsiteX59" fmla="*/ 178527 w 579906"/>
              <a:gd name="connsiteY59" fmla="*/ 98933 h 600018"/>
              <a:gd name="connsiteX60" fmla="*/ 269969 w 579906"/>
              <a:gd name="connsiteY60" fmla="*/ 151593 h 600018"/>
              <a:gd name="connsiteX61" fmla="*/ 263406 w 579906"/>
              <a:gd name="connsiteY61" fmla="*/ 175410 h 600018"/>
              <a:gd name="connsiteX62" fmla="*/ 239561 w 579906"/>
              <a:gd name="connsiteY62" fmla="*/ 169074 h 600018"/>
              <a:gd name="connsiteX63" fmla="*/ 178527 w 579906"/>
              <a:gd name="connsiteY63" fmla="*/ 133894 h 600018"/>
              <a:gd name="connsiteX64" fmla="*/ 117711 w 579906"/>
              <a:gd name="connsiteY64" fmla="*/ 169074 h 600018"/>
              <a:gd name="connsiteX65" fmla="*/ 102398 w 579906"/>
              <a:gd name="connsiteY65" fmla="*/ 177814 h 600018"/>
              <a:gd name="connsiteX66" fmla="*/ 93648 w 579906"/>
              <a:gd name="connsiteY66" fmla="*/ 175410 h 600018"/>
              <a:gd name="connsiteX67" fmla="*/ 87304 w 579906"/>
              <a:gd name="connsiteY67" fmla="*/ 151593 h 600018"/>
              <a:gd name="connsiteX68" fmla="*/ 178527 w 579906"/>
              <a:gd name="connsiteY68" fmla="*/ 98933 h 600018"/>
              <a:gd name="connsiteX69" fmla="*/ 97344 w 579906"/>
              <a:gd name="connsiteY69" fmla="*/ 34948 h 600018"/>
              <a:gd name="connsiteX70" fmla="*/ 75031 w 579906"/>
              <a:gd name="connsiteY70" fmla="*/ 75357 h 600018"/>
              <a:gd name="connsiteX71" fmla="*/ 35219 w 579906"/>
              <a:gd name="connsiteY71" fmla="*/ 97200 h 600018"/>
              <a:gd name="connsiteX72" fmla="*/ 289844 w 579906"/>
              <a:gd name="connsiteY72" fmla="*/ 561793 h 600018"/>
              <a:gd name="connsiteX73" fmla="*/ 544687 w 579906"/>
              <a:gd name="connsiteY73" fmla="*/ 97200 h 600018"/>
              <a:gd name="connsiteX74" fmla="*/ 504656 w 579906"/>
              <a:gd name="connsiteY74" fmla="*/ 75357 h 600018"/>
              <a:gd name="connsiteX75" fmla="*/ 482562 w 579906"/>
              <a:gd name="connsiteY75" fmla="*/ 34948 h 600018"/>
              <a:gd name="connsiteX76" fmla="*/ 81594 w 579906"/>
              <a:gd name="connsiteY76" fmla="*/ 0 h 600018"/>
              <a:gd name="connsiteX77" fmla="*/ 498312 w 579906"/>
              <a:gd name="connsiteY77" fmla="*/ 0 h 600018"/>
              <a:gd name="connsiteX78" fmla="*/ 510562 w 579906"/>
              <a:gd name="connsiteY78" fmla="*/ 5024 h 600018"/>
              <a:gd name="connsiteX79" fmla="*/ 515812 w 579906"/>
              <a:gd name="connsiteY79" fmla="*/ 17474 h 600018"/>
              <a:gd name="connsiteX80" fmla="*/ 529375 w 579906"/>
              <a:gd name="connsiteY80" fmla="*/ 50457 h 600018"/>
              <a:gd name="connsiteX81" fmla="*/ 562187 w 579906"/>
              <a:gd name="connsiteY81" fmla="*/ 63999 h 600018"/>
              <a:gd name="connsiteX82" fmla="*/ 562406 w 579906"/>
              <a:gd name="connsiteY82" fmla="*/ 63999 h 600018"/>
              <a:gd name="connsiteX83" fmla="*/ 574875 w 579906"/>
              <a:gd name="connsiteY83" fmla="*/ 69241 h 600018"/>
              <a:gd name="connsiteX84" fmla="*/ 579906 w 579906"/>
              <a:gd name="connsiteY84" fmla="*/ 81692 h 600018"/>
              <a:gd name="connsiteX85" fmla="*/ 532437 w 579906"/>
              <a:gd name="connsiteY85" fmla="*/ 325019 h 600018"/>
              <a:gd name="connsiteX86" fmla="*/ 299250 w 579906"/>
              <a:gd name="connsiteY86" fmla="*/ 597397 h 600018"/>
              <a:gd name="connsiteX87" fmla="*/ 289844 w 579906"/>
              <a:gd name="connsiteY87" fmla="*/ 600018 h 600018"/>
              <a:gd name="connsiteX88" fmla="*/ 280656 w 579906"/>
              <a:gd name="connsiteY88" fmla="*/ 597397 h 600018"/>
              <a:gd name="connsiteX89" fmla="*/ 47469 w 579906"/>
              <a:gd name="connsiteY89" fmla="*/ 325019 h 600018"/>
              <a:gd name="connsiteX90" fmla="*/ 0 w 579906"/>
              <a:gd name="connsiteY90" fmla="*/ 81692 h 600018"/>
              <a:gd name="connsiteX91" fmla="*/ 5031 w 579906"/>
              <a:gd name="connsiteY91" fmla="*/ 69241 h 600018"/>
              <a:gd name="connsiteX92" fmla="*/ 17500 w 579906"/>
              <a:gd name="connsiteY92" fmla="*/ 63999 h 600018"/>
              <a:gd name="connsiteX93" fmla="*/ 17719 w 579906"/>
              <a:gd name="connsiteY93" fmla="*/ 63999 h 600018"/>
              <a:gd name="connsiteX94" fmla="*/ 50312 w 579906"/>
              <a:gd name="connsiteY94" fmla="*/ 50457 h 600018"/>
              <a:gd name="connsiteX95" fmla="*/ 64094 w 579906"/>
              <a:gd name="connsiteY95" fmla="*/ 17474 h 600018"/>
              <a:gd name="connsiteX96" fmla="*/ 69344 w 579906"/>
              <a:gd name="connsiteY96" fmla="*/ 5024 h 600018"/>
              <a:gd name="connsiteX97" fmla="*/ 81594 w 579906"/>
              <a:gd name="connsiteY97" fmla="*/ 0 h 600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579906" h="600018">
                <a:moveTo>
                  <a:pt x="255941" y="386840"/>
                </a:moveTo>
                <a:lnTo>
                  <a:pt x="323966" y="386840"/>
                </a:lnTo>
                <a:lnTo>
                  <a:pt x="289844" y="504190"/>
                </a:lnTo>
                <a:close/>
                <a:moveTo>
                  <a:pt x="271909" y="342736"/>
                </a:moveTo>
                <a:lnTo>
                  <a:pt x="307780" y="342736"/>
                </a:lnTo>
                <a:cubicBezTo>
                  <a:pt x="314342" y="342736"/>
                  <a:pt x="319591" y="347975"/>
                  <a:pt x="319591" y="354305"/>
                </a:cubicBezTo>
                <a:cubicBezTo>
                  <a:pt x="319591" y="360854"/>
                  <a:pt x="314342" y="366093"/>
                  <a:pt x="307780" y="366093"/>
                </a:cubicBezTo>
                <a:lnTo>
                  <a:pt x="271909" y="366093"/>
                </a:lnTo>
                <a:cubicBezTo>
                  <a:pt x="265566" y="366093"/>
                  <a:pt x="260316" y="360854"/>
                  <a:pt x="260316" y="354305"/>
                </a:cubicBezTo>
                <a:cubicBezTo>
                  <a:pt x="260316" y="347975"/>
                  <a:pt x="265566" y="342736"/>
                  <a:pt x="271909" y="342736"/>
                </a:cubicBezTo>
                <a:close/>
                <a:moveTo>
                  <a:pt x="254411" y="286783"/>
                </a:moveTo>
                <a:lnTo>
                  <a:pt x="325495" y="286783"/>
                </a:lnTo>
                <a:cubicBezTo>
                  <a:pt x="331619" y="286783"/>
                  <a:pt x="337306" y="290062"/>
                  <a:pt x="340368" y="295307"/>
                </a:cubicBezTo>
                <a:lnTo>
                  <a:pt x="357647" y="323502"/>
                </a:lnTo>
                <a:lnTo>
                  <a:pt x="405328" y="323502"/>
                </a:lnTo>
                <a:lnTo>
                  <a:pt x="420419" y="295963"/>
                </a:lnTo>
                <a:cubicBezTo>
                  <a:pt x="425231" y="287439"/>
                  <a:pt x="435730" y="284379"/>
                  <a:pt x="444260" y="288969"/>
                </a:cubicBezTo>
                <a:cubicBezTo>
                  <a:pt x="452790" y="293777"/>
                  <a:pt x="455852" y="304269"/>
                  <a:pt x="451259" y="312793"/>
                </a:cubicBezTo>
                <a:lnTo>
                  <a:pt x="430918" y="349512"/>
                </a:lnTo>
                <a:cubicBezTo>
                  <a:pt x="427856" y="354976"/>
                  <a:pt x="421951" y="358473"/>
                  <a:pt x="415608" y="358473"/>
                </a:cubicBezTo>
                <a:lnTo>
                  <a:pt x="347804" y="358473"/>
                </a:lnTo>
                <a:cubicBezTo>
                  <a:pt x="341680" y="358473"/>
                  <a:pt x="335994" y="355413"/>
                  <a:pt x="332713" y="350167"/>
                </a:cubicBezTo>
                <a:lnTo>
                  <a:pt x="315653" y="321754"/>
                </a:lnTo>
                <a:lnTo>
                  <a:pt x="264253" y="321754"/>
                </a:lnTo>
                <a:lnTo>
                  <a:pt x="247193" y="350167"/>
                </a:lnTo>
                <a:cubicBezTo>
                  <a:pt x="243912" y="355413"/>
                  <a:pt x="238226" y="358473"/>
                  <a:pt x="232102" y="358473"/>
                </a:cubicBezTo>
                <a:lnTo>
                  <a:pt x="164298" y="358473"/>
                </a:lnTo>
                <a:cubicBezTo>
                  <a:pt x="157737" y="358473"/>
                  <a:pt x="152050" y="354976"/>
                  <a:pt x="148769" y="349512"/>
                </a:cubicBezTo>
                <a:lnTo>
                  <a:pt x="128647" y="312793"/>
                </a:lnTo>
                <a:cubicBezTo>
                  <a:pt x="124054" y="304269"/>
                  <a:pt x="127116" y="293777"/>
                  <a:pt x="135646" y="288969"/>
                </a:cubicBezTo>
                <a:cubicBezTo>
                  <a:pt x="143957" y="284379"/>
                  <a:pt x="154675" y="287439"/>
                  <a:pt x="159268" y="295963"/>
                </a:cubicBezTo>
                <a:lnTo>
                  <a:pt x="174578" y="323502"/>
                </a:lnTo>
                <a:lnTo>
                  <a:pt x="222259" y="323502"/>
                </a:lnTo>
                <a:lnTo>
                  <a:pt x="239319" y="295307"/>
                </a:lnTo>
                <a:cubicBezTo>
                  <a:pt x="242600" y="290062"/>
                  <a:pt x="248287" y="286783"/>
                  <a:pt x="254411" y="286783"/>
                </a:cubicBezTo>
                <a:close/>
                <a:moveTo>
                  <a:pt x="379524" y="160325"/>
                </a:moveTo>
                <a:lnTo>
                  <a:pt x="425909" y="160325"/>
                </a:lnTo>
                <a:cubicBezTo>
                  <a:pt x="432254" y="160325"/>
                  <a:pt x="437505" y="165564"/>
                  <a:pt x="437505" y="172113"/>
                </a:cubicBezTo>
                <a:cubicBezTo>
                  <a:pt x="437505" y="178443"/>
                  <a:pt x="432254" y="183682"/>
                  <a:pt x="425909" y="183682"/>
                </a:cubicBezTo>
                <a:lnTo>
                  <a:pt x="379524" y="183682"/>
                </a:lnTo>
                <a:cubicBezTo>
                  <a:pt x="373179" y="183682"/>
                  <a:pt x="367928" y="178443"/>
                  <a:pt x="367928" y="172113"/>
                </a:cubicBezTo>
                <a:cubicBezTo>
                  <a:pt x="367928" y="165564"/>
                  <a:pt x="373179" y="160325"/>
                  <a:pt x="379524" y="160325"/>
                </a:cubicBezTo>
                <a:close/>
                <a:moveTo>
                  <a:pt x="156819" y="160325"/>
                </a:moveTo>
                <a:lnTo>
                  <a:pt x="203204" y="160325"/>
                </a:lnTo>
                <a:cubicBezTo>
                  <a:pt x="209549" y="160325"/>
                  <a:pt x="214800" y="165564"/>
                  <a:pt x="214800" y="172113"/>
                </a:cubicBezTo>
                <a:cubicBezTo>
                  <a:pt x="214800" y="178443"/>
                  <a:pt x="209549" y="183682"/>
                  <a:pt x="203204" y="183682"/>
                </a:cubicBezTo>
                <a:lnTo>
                  <a:pt x="156819" y="183682"/>
                </a:lnTo>
                <a:cubicBezTo>
                  <a:pt x="150474" y="183682"/>
                  <a:pt x="145223" y="178443"/>
                  <a:pt x="145223" y="172113"/>
                </a:cubicBezTo>
                <a:cubicBezTo>
                  <a:pt x="145223" y="165564"/>
                  <a:pt x="150474" y="160325"/>
                  <a:pt x="156819" y="160325"/>
                </a:cubicBezTo>
                <a:close/>
                <a:moveTo>
                  <a:pt x="401161" y="98933"/>
                </a:moveTo>
                <a:cubicBezTo>
                  <a:pt x="438788" y="98933"/>
                  <a:pt x="473571" y="119254"/>
                  <a:pt x="492385" y="151593"/>
                </a:cubicBezTo>
                <a:cubicBezTo>
                  <a:pt x="497416" y="159896"/>
                  <a:pt x="494353" y="170603"/>
                  <a:pt x="486040" y="175410"/>
                </a:cubicBezTo>
                <a:cubicBezTo>
                  <a:pt x="477728" y="180436"/>
                  <a:pt x="467008" y="177377"/>
                  <a:pt x="462196" y="169074"/>
                </a:cubicBezTo>
                <a:cubicBezTo>
                  <a:pt x="449726" y="147441"/>
                  <a:pt x="426319" y="133894"/>
                  <a:pt x="401161" y="133894"/>
                </a:cubicBezTo>
                <a:cubicBezTo>
                  <a:pt x="376222" y="133894"/>
                  <a:pt x="352815" y="147441"/>
                  <a:pt x="340346" y="169074"/>
                </a:cubicBezTo>
                <a:cubicBezTo>
                  <a:pt x="337064" y="174755"/>
                  <a:pt x="331158" y="177814"/>
                  <a:pt x="325032" y="177814"/>
                </a:cubicBezTo>
                <a:cubicBezTo>
                  <a:pt x="322188" y="177814"/>
                  <a:pt x="319126" y="177158"/>
                  <a:pt x="316282" y="175410"/>
                </a:cubicBezTo>
                <a:cubicBezTo>
                  <a:pt x="307969" y="170603"/>
                  <a:pt x="305125" y="159896"/>
                  <a:pt x="309938" y="151593"/>
                </a:cubicBezTo>
                <a:cubicBezTo>
                  <a:pt x="328751" y="119254"/>
                  <a:pt x="363753" y="98933"/>
                  <a:pt x="401161" y="98933"/>
                </a:cubicBezTo>
                <a:close/>
                <a:moveTo>
                  <a:pt x="178527" y="98933"/>
                </a:moveTo>
                <a:cubicBezTo>
                  <a:pt x="216154" y="98933"/>
                  <a:pt x="251156" y="119254"/>
                  <a:pt x="269969" y="151593"/>
                </a:cubicBezTo>
                <a:cubicBezTo>
                  <a:pt x="274782" y="159896"/>
                  <a:pt x="271938" y="170603"/>
                  <a:pt x="263406" y="175410"/>
                </a:cubicBezTo>
                <a:cubicBezTo>
                  <a:pt x="255093" y="180436"/>
                  <a:pt x="244374" y="177377"/>
                  <a:pt x="239561" y="169074"/>
                </a:cubicBezTo>
                <a:cubicBezTo>
                  <a:pt x="227092" y="147441"/>
                  <a:pt x="203685" y="133894"/>
                  <a:pt x="178527" y="133894"/>
                </a:cubicBezTo>
                <a:cubicBezTo>
                  <a:pt x="153588" y="133894"/>
                  <a:pt x="130181" y="147441"/>
                  <a:pt x="117711" y="169074"/>
                </a:cubicBezTo>
                <a:cubicBezTo>
                  <a:pt x="114430" y="174755"/>
                  <a:pt x="108524" y="177814"/>
                  <a:pt x="102398" y="177814"/>
                </a:cubicBezTo>
                <a:cubicBezTo>
                  <a:pt x="99554" y="177814"/>
                  <a:pt x="96492" y="177158"/>
                  <a:pt x="93648" y="175410"/>
                </a:cubicBezTo>
                <a:cubicBezTo>
                  <a:pt x="85335" y="170603"/>
                  <a:pt x="82491" y="159896"/>
                  <a:pt x="87304" y="151593"/>
                </a:cubicBezTo>
                <a:cubicBezTo>
                  <a:pt x="106117" y="119254"/>
                  <a:pt x="141119" y="98933"/>
                  <a:pt x="178527" y="98933"/>
                </a:cubicBezTo>
                <a:close/>
                <a:moveTo>
                  <a:pt x="97344" y="34948"/>
                </a:moveTo>
                <a:cubicBezTo>
                  <a:pt x="94062" y="50020"/>
                  <a:pt x="86406" y="63999"/>
                  <a:pt x="75031" y="75357"/>
                </a:cubicBezTo>
                <a:cubicBezTo>
                  <a:pt x="63875" y="86497"/>
                  <a:pt x="50094" y="93923"/>
                  <a:pt x="35219" y="97200"/>
                </a:cubicBezTo>
                <a:cubicBezTo>
                  <a:pt x="38500" y="218645"/>
                  <a:pt x="78531" y="425058"/>
                  <a:pt x="289844" y="561793"/>
                </a:cubicBezTo>
                <a:cubicBezTo>
                  <a:pt x="501375" y="425058"/>
                  <a:pt x="541406" y="218645"/>
                  <a:pt x="544687" y="97200"/>
                </a:cubicBezTo>
                <a:cubicBezTo>
                  <a:pt x="529594" y="93923"/>
                  <a:pt x="515812" y="86497"/>
                  <a:pt x="504656" y="75357"/>
                </a:cubicBezTo>
                <a:cubicBezTo>
                  <a:pt x="493500" y="63999"/>
                  <a:pt x="485844" y="50020"/>
                  <a:pt x="482562" y="34948"/>
                </a:cubicBezTo>
                <a:close/>
                <a:moveTo>
                  <a:pt x="81594" y="0"/>
                </a:moveTo>
                <a:lnTo>
                  <a:pt x="498312" y="0"/>
                </a:lnTo>
                <a:cubicBezTo>
                  <a:pt x="502906" y="0"/>
                  <a:pt x="507281" y="1747"/>
                  <a:pt x="510562" y="5024"/>
                </a:cubicBezTo>
                <a:cubicBezTo>
                  <a:pt x="513844" y="8300"/>
                  <a:pt x="515812" y="12887"/>
                  <a:pt x="515812" y="17474"/>
                </a:cubicBezTo>
                <a:cubicBezTo>
                  <a:pt x="515812" y="29924"/>
                  <a:pt x="520625" y="41719"/>
                  <a:pt x="529375" y="50457"/>
                </a:cubicBezTo>
                <a:cubicBezTo>
                  <a:pt x="538125" y="59194"/>
                  <a:pt x="549937" y="63999"/>
                  <a:pt x="562187" y="63999"/>
                </a:cubicBezTo>
                <a:cubicBezTo>
                  <a:pt x="562187" y="63999"/>
                  <a:pt x="562406" y="63999"/>
                  <a:pt x="562406" y="63999"/>
                </a:cubicBezTo>
                <a:cubicBezTo>
                  <a:pt x="567000" y="63999"/>
                  <a:pt x="571594" y="65965"/>
                  <a:pt x="574875" y="69241"/>
                </a:cubicBezTo>
                <a:cubicBezTo>
                  <a:pt x="578156" y="72518"/>
                  <a:pt x="579906" y="76886"/>
                  <a:pt x="579906" y="81692"/>
                </a:cubicBezTo>
                <a:cubicBezTo>
                  <a:pt x="579687" y="140448"/>
                  <a:pt x="571375" y="230440"/>
                  <a:pt x="532437" y="325019"/>
                </a:cubicBezTo>
                <a:cubicBezTo>
                  <a:pt x="485625" y="438382"/>
                  <a:pt x="407094" y="530121"/>
                  <a:pt x="299250" y="597397"/>
                </a:cubicBezTo>
                <a:cubicBezTo>
                  <a:pt x="296406" y="599144"/>
                  <a:pt x="293125" y="600018"/>
                  <a:pt x="289844" y="600018"/>
                </a:cubicBezTo>
                <a:cubicBezTo>
                  <a:pt x="286781" y="600018"/>
                  <a:pt x="283500" y="599144"/>
                  <a:pt x="280656" y="597397"/>
                </a:cubicBezTo>
                <a:cubicBezTo>
                  <a:pt x="172594" y="530121"/>
                  <a:pt x="94281" y="438382"/>
                  <a:pt x="47469" y="325019"/>
                </a:cubicBezTo>
                <a:cubicBezTo>
                  <a:pt x="8531" y="230440"/>
                  <a:pt x="219" y="140448"/>
                  <a:pt x="0" y="81692"/>
                </a:cubicBezTo>
                <a:cubicBezTo>
                  <a:pt x="0" y="76886"/>
                  <a:pt x="1750" y="72518"/>
                  <a:pt x="5031" y="69241"/>
                </a:cubicBezTo>
                <a:cubicBezTo>
                  <a:pt x="8312" y="65965"/>
                  <a:pt x="12906" y="63999"/>
                  <a:pt x="17500" y="63999"/>
                </a:cubicBezTo>
                <a:cubicBezTo>
                  <a:pt x="17500" y="63999"/>
                  <a:pt x="17500" y="63999"/>
                  <a:pt x="17719" y="63999"/>
                </a:cubicBezTo>
                <a:cubicBezTo>
                  <a:pt x="29969" y="63999"/>
                  <a:pt x="41562" y="59194"/>
                  <a:pt x="50312" y="50457"/>
                </a:cubicBezTo>
                <a:cubicBezTo>
                  <a:pt x="59281" y="41719"/>
                  <a:pt x="64094" y="29924"/>
                  <a:pt x="64094" y="17474"/>
                </a:cubicBezTo>
                <a:cubicBezTo>
                  <a:pt x="64094" y="12887"/>
                  <a:pt x="66062" y="8300"/>
                  <a:pt x="69344" y="5024"/>
                </a:cubicBezTo>
                <a:cubicBezTo>
                  <a:pt x="72625" y="1747"/>
                  <a:pt x="77000" y="0"/>
                  <a:pt x="81594"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200K IoT devices">
            <a:extLst>
              <a:ext uri="{FF2B5EF4-FFF2-40B4-BE49-F238E27FC236}">
                <a16:creationId xmlns:a16="http://schemas.microsoft.com/office/drawing/2014/main" id="{6702350D-123F-4DA9-A1FC-FA5489CE44F9}"/>
              </a:ext>
            </a:extLst>
          </p:cNvPr>
          <p:cNvSpPr txBox="1"/>
          <p:nvPr/>
        </p:nvSpPr>
        <p:spPr>
          <a:xfrm>
            <a:off x="5139179" y="5078452"/>
            <a:ext cx="1173398" cy="320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defRPr sz="3500" b="0">
                <a:solidFill>
                  <a:srgbClr val="5E5E5E"/>
                </a:solidFill>
              </a:defRPr>
            </a:lvl1pPr>
          </a:lstStyle>
          <a:p>
            <a:r>
              <a:rPr lang="zh-CN" altLang="en-US" sz="1750" b="1" dirty="0"/>
              <a:t>物联网设备</a:t>
            </a:r>
            <a:endParaRPr sz="1750" b="1" dirty="0"/>
          </a:p>
        </p:txBody>
      </p:sp>
      <p:pic>
        <p:nvPicPr>
          <p:cNvPr id="26" name="图片 25">
            <a:extLst>
              <a:ext uri="{FF2B5EF4-FFF2-40B4-BE49-F238E27FC236}">
                <a16:creationId xmlns:a16="http://schemas.microsoft.com/office/drawing/2014/main" id="{90F91ECB-1BA8-4B0F-8364-A8A14147DFC6}"/>
              </a:ext>
            </a:extLst>
          </p:cNvPr>
          <p:cNvPicPr>
            <a:picLocks noChangeAspect="1"/>
          </p:cNvPicPr>
          <p:nvPr/>
        </p:nvPicPr>
        <p:blipFill>
          <a:blip r:embed="rId13"/>
          <a:stretch>
            <a:fillRect/>
          </a:stretch>
        </p:blipFill>
        <p:spPr>
          <a:xfrm>
            <a:off x="9755758" y="2710372"/>
            <a:ext cx="1121402" cy="1121402"/>
          </a:xfrm>
          <a:prstGeom prst="rect">
            <a:avLst/>
          </a:prstGeom>
        </p:spPr>
      </p:pic>
      <p:pic>
        <p:nvPicPr>
          <p:cNvPr id="27" name="图片 26">
            <a:extLst>
              <a:ext uri="{FF2B5EF4-FFF2-40B4-BE49-F238E27FC236}">
                <a16:creationId xmlns:a16="http://schemas.microsoft.com/office/drawing/2014/main" id="{27832E6C-4F21-47DA-B1AC-C8610A40445D}"/>
              </a:ext>
            </a:extLst>
          </p:cNvPr>
          <p:cNvPicPr>
            <a:picLocks noChangeAspect="1"/>
          </p:cNvPicPr>
          <p:nvPr/>
        </p:nvPicPr>
        <p:blipFill rotWithShape="1">
          <a:blip r:embed="rId14"/>
          <a:srcRect l="12077" t="6786" r="8051" b="8214"/>
          <a:stretch/>
        </p:blipFill>
        <p:spPr>
          <a:xfrm>
            <a:off x="10086761" y="3104605"/>
            <a:ext cx="459395" cy="506185"/>
          </a:xfrm>
          <a:prstGeom prst="rect">
            <a:avLst/>
          </a:prstGeom>
        </p:spPr>
      </p:pic>
      <p:sp>
        <p:nvSpPr>
          <p:cNvPr id="28" name="灯片编号占位符 3">
            <a:extLst>
              <a:ext uri="{FF2B5EF4-FFF2-40B4-BE49-F238E27FC236}">
                <a16:creationId xmlns:a16="http://schemas.microsoft.com/office/drawing/2014/main" id="{443FBA54-C117-497C-898D-AD1997B5BB7B}"/>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149</a:t>
            </a:fld>
            <a:endParaRPr kumimoji="1" lang="zh-CN" altLang="en-US" dirty="0"/>
          </a:p>
        </p:txBody>
      </p:sp>
      <p:sp>
        <p:nvSpPr>
          <p:cNvPr id="30" name="文本框 29">
            <a:extLst>
              <a:ext uri="{FF2B5EF4-FFF2-40B4-BE49-F238E27FC236}">
                <a16:creationId xmlns:a16="http://schemas.microsoft.com/office/drawing/2014/main" id="{FE22AAE8-5B17-41F1-90B3-5FEDD8916975}"/>
              </a:ext>
            </a:extLst>
          </p:cNvPr>
          <p:cNvSpPr txBox="1"/>
          <p:nvPr/>
        </p:nvSpPr>
        <p:spPr>
          <a:xfrm>
            <a:off x="798440" y="3892097"/>
            <a:ext cx="6094638" cy="369332"/>
          </a:xfrm>
          <a:prstGeom prst="rect">
            <a:avLst/>
          </a:prstGeom>
          <a:noFill/>
        </p:spPr>
        <p:txBody>
          <a:bodyPr wrap="square">
            <a:spAutoFit/>
          </a:bodyPr>
          <a:lstStyle/>
          <a:p>
            <a:r>
              <a:rPr kumimoji="1" lang="zh-CN" altLang="en-US" dirty="0"/>
              <a:t>攻击者</a:t>
            </a:r>
            <a:endParaRPr lang="zh-CN" altLang="en-US" dirty="0"/>
          </a:p>
        </p:txBody>
      </p:sp>
      <p:sp>
        <p:nvSpPr>
          <p:cNvPr id="31" name="文本框 30">
            <a:extLst>
              <a:ext uri="{FF2B5EF4-FFF2-40B4-BE49-F238E27FC236}">
                <a16:creationId xmlns:a16="http://schemas.microsoft.com/office/drawing/2014/main" id="{4B9C6879-225B-4ADD-8ED3-6D319961FB28}"/>
              </a:ext>
            </a:extLst>
          </p:cNvPr>
          <p:cNvSpPr txBox="1"/>
          <p:nvPr/>
        </p:nvSpPr>
        <p:spPr>
          <a:xfrm>
            <a:off x="9755757" y="4017653"/>
            <a:ext cx="1197087" cy="369332"/>
          </a:xfrm>
          <a:prstGeom prst="rect">
            <a:avLst/>
          </a:prstGeom>
          <a:noFill/>
        </p:spPr>
        <p:txBody>
          <a:bodyPr wrap="square">
            <a:spAutoFit/>
          </a:bodyPr>
          <a:lstStyle/>
          <a:p>
            <a:r>
              <a:rPr kumimoji="1" lang="zh-CN" altLang="en-US" dirty="0"/>
              <a:t>目标主机</a:t>
            </a:r>
            <a:endParaRPr lang="zh-CN" altLang="en-US" dirty="0"/>
          </a:p>
        </p:txBody>
      </p:sp>
      <p:sp>
        <p:nvSpPr>
          <p:cNvPr id="32" name="日期占位符 9">
            <a:extLst>
              <a:ext uri="{FF2B5EF4-FFF2-40B4-BE49-F238E27FC236}">
                <a16:creationId xmlns:a16="http://schemas.microsoft.com/office/drawing/2014/main" id="{0BEE232C-6CB9-4DE1-91B8-D0041D7CBC5D}"/>
              </a:ext>
            </a:extLst>
          </p:cNvPr>
          <p:cNvSpPr>
            <a:spLocks noGrp="1"/>
          </p:cNvSpPr>
          <p:nvPr>
            <p:ph type="dt" sz="half" idx="10"/>
          </p:nvPr>
        </p:nvSpPr>
        <p:spPr>
          <a:xfrm>
            <a:off x="229727" y="6489303"/>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5688340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The Mirai Malware"/>
          <p:cNvSpPr txBox="1">
            <a:spLocks noGrp="1"/>
          </p:cNvSpPr>
          <p:nvPr>
            <p:ph type="title"/>
          </p:nvPr>
        </p:nvSpPr>
        <p:spPr>
          <a:prstGeom prst="rect">
            <a:avLst/>
          </a:prstGeom>
        </p:spPr>
        <p:txBody>
          <a:bodyPr anchor="ctr">
            <a:normAutofit/>
          </a:bodyPr>
          <a:lstStyle>
            <a:lvl1pPr algn="l">
              <a:defRPr sz="7000"/>
            </a:lvl1pPr>
          </a:lstStyle>
          <a:p>
            <a:r>
              <a:rPr lang="en-US" altLang="zh-CN" sz="4000" dirty="0" err="1"/>
              <a:t>Mirai</a:t>
            </a:r>
            <a:r>
              <a:rPr lang="zh-CN" altLang="en-US" sz="4000" dirty="0"/>
              <a:t>僵尸网络</a:t>
            </a:r>
            <a:endParaRPr sz="4000" dirty="0"/>
          </a:p>
        </p:txBody>
      </p:sp>
      <p:sp>
        <p:nvSpPr>
          <p:cNvPr id="2" name="内容占位符 1">
            <a:extLst>
              <a:ext uri="{FF2B5EF4-FFF2-40B4-BE49-F238E27FC236}">
                <a16:creationId xmlns:a16="http://schemas.microsoft.com/office/drawing/2014/main" id="{5247B88E-6B98-BB42-8513-ABBF9FADF8E6}"/>
              </a:ext>
            </a:extLst>
          </p:cNvPr>
          <p:cNvSpPr>
            <a:spLocks noGrp="1"/>
          </p:cNvSpPr>
          <p:nvPr>
            <p:ph idx="1"/>
          </p:nvPr>
        </p:nvSpPr>
        <p:spPr>
          <a:xfrm>
            <a:off x="838201" y="1510758"/>
            <a:ext cx="5902842" cy="4586694"/>
          </a:xfrm>
        </p:spPr>
        <p:txBody>
          <a:bodyPr vert="horz" lIns="91440" tIns="45720" rIns="91440" bIns="45720" rtlCol="0">
            <a:normAutofit/>
          </a:bodyPr>
          <a:lstStyle/>
          <a:p>
            <a:r>
              <a:rPr lang="zh-CN" altLang="en-US" dirty="0"/>
              <a:t>由主僵尸机器控制</a:t>
            </a:r>
            <a:endParaRPr lang="en-US" altLang="zh-CN" dirty="0"/>
          </a:p>
          <a:p>
            <a:pPr lvl="1"/>
            <a:r>
              <a:rPr lang="zh-CN" altLang="en-US" dirty="0"/>
              <a:t>扫描</a:t>
            </a:r>
            <a:r>
              <a:rPr lang="en" altLang="zh-CN" dirty="0"/>
              <a:t> </a:t>
            </a:r>
          </a:p>
          <a:p>
            <a:pPr lvl="1"/>
            <a:r>
              <a:rPr lang="zh-CN" altLang="en-US" dirty="0"/>
              <a:t>攻击</a:t>
            </a:r>
            <a:endParaRPr lang="en" altLang="zh-CN" dirty="0"/>
          </a:p>
          <a:p>
            <a:endParaRPr lang="en" altLang="zh-CN" dirty="0"/>
          </a:p>
          <a:p>
            <a:r>
              <a:rPr lang="zh-CN" altLang="en-US" dirty="0"/>
              <a:t>攻击流程</a:t>
            </a:r>
            <a:r>
              <a:rPr lang="en" altLang="zh-CN" dirty="0"/>
              <a:t>:</a:t>
            </a:r>
          </a:p>
          <a:p>
            <a:pPr lvl="1"/>
            <a:r>
              <a:rPr lang="zh-CN" altLang="en-US" dirty="0"/>
              <a:t>利用</a:t>
            </a:r>
            <a:r>
              <a:rPr lang="en-US" altLang="zh-CN" dirty="0"/>
              <a:t>Bots</a:t>
            </a:r>
            <a:r>
              <a:rPr lang="zh-CN" altLang="en-US" dirty="0"/>
              <a:t>快速扫描</a:t>
            </a:r>
            <a:endParaRPr lang="en" altLang="zh-CN" dirty="0"/>
          </a:p>
          <a:p>
            <a:pPr lvl="1"/>
            <a:r>
              <a:rPr lang="zh-CN" altLang="en-US" dirty="0"/>
              <a:t>确定受害者和它的</a:t>
            </a:r>
            <a:r>
              <a:rPr lang="en" altLang="zh-CN" dirty="0"/>
              <a:t>IP(s)</a:t>
            </a:r>
          </a:p>
          <a:p>
            <a:pPr lvl="1"/>
            <a:r>
              <a:rPr lang="zh-CN" altLang="en-US" dirty="0"/>
              <a:t>开展</a:t>
            </a:r>
            <a:r>
              <a:rPr lang="en" altLang="zh-CN" dirty="0"/>
              <a:t>GRE, DNS, TCP</a:t>
            </a:r>
            <a:r>
              <a:rPr lang="zh-CN" altLang="en-US" dirty="0"/>
              <a:t>等攻击</a:t>
            </a:r>
            <a:endParaRPr lang="en" altLang="zh-CN" dirty="0"/>
          </a:p>
          <a:p>
            <a:pPr lvl="1"/>
            <a:r>
              <a:rPr lang="zh-CN" altLang="en-US" dirty="0"/>
              <a:t>持续攻击（不断重复以上过程）</a:t>
            </a:r>
            <a:endParaRPr lang="en" altLang="zh-CN" dirty="0"/>
          </a:p>
          <a:p>
            <a:endParaRPr lang="zh-CN" altLang="en-US" dirty="0"/>
          </a:p>
        </p:txBody>
      </p:sp>
      <p:pic>
        <p:nvPicPr>
          <p:cNvPr id="282" name="state_machine_v2.pdf" descr="state_machine_v2.pdf"/>
          <p:cNvPicPr>
            <a:picLocks noChangeAspect="1"/>
          </p:cNvPicPr>
          <p:nvPr/>
        </p:nvPicPr>
        <p:blipFill>
          <a:blip r:embed="rId3"/>
          <a:stretch>
            <a:fillRect/>
          </a:stretch>
        </p:blipFill>
        <p:spPr>
          <a:xfrm rot="17999">
            <a:off x="6549772" y="1258909"/>
            <a:ext cx="5628336" cy="5321577"/>
          </a:xfrm>
          <a:prstGeom prst="rect">
            <a:avLst/>
          </a:prstGeom>
          <a:ln w="12700">
            <a:miter lim="400000"/>
          </a:ln>
        </p:spPr>
      </p:pic>
      <p:sp>
        <p:nvSpPr>
          <p:cNvPr id="283" name="Bot master will issue commands to scan  or start an attack…"/>
          <p:cNvSpPr txBox="1"/>
          <p:nvPr/>
        </p:nvSpPr>
        <p:spPr>
          <a:xfrm>
            <a:off x="244710" y="2857645"/>
            <a:ext cx="4896196" cy="2975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a:spcBef>
                <a:spcPts val="1050"/>
              </a:spcBef>
              <a:defRPr sz="3200" b="0"/>
            </a:pPr>
            <a:endParaRPr sz="1600" dirty="0"/>
          </a:p>
        </p:txBody>
      </p:sp>
      <p:sp>
        <p:nvSpPr>
          <p:cNvPr id="7" name="文本框 6">
            <a:extLst>
              <a:ext uri="{FF2B5EF4-FFF2-40B4-BE49-F238E27FC236}">
                <a16:creationId xmlns:a16="http://schemas.microsoft.com/office/drawing/2014/main" id="{EB6E333B-3A6F-4F23-8711-709E65336A29}"/>
              </a:ext>
            </a:extLst>
          </p:cNvPr>
          <p:cNvSpPr txBox="1"/>
          <p:nvPr/>
        </p:nvSpPr>
        <p:spPr>
          <a:xfrm>
            <a:off x="3198068" y="6567050"/>
            <a:ext cx="6097554" cy="276999"/>
          </a:xfrm>
          <a:prstGeom prst="rect">
            <a:avLst/>
          </a:prstGeom>
        </p:spPr>
        <p:txBody>
          <a:bodyPr vert="horz" lIns="91440" tIns="45720" rIns="91440" bIns="45720" rtlCol="0" anchor="ctr"/>
          <a:lstStyle>
            <a:defPPr>
              <a:defRPr lang="zh-CN"/>
            </a:defPPr>
            <a:lvl1pPr>
              <a:defRPr kumimoji="1" sz="1200">
                <a:solidFill>
                  <a:schemeClr val="tx1">
                    <a:tint val="75000"/>
                  </a:schemeClr>
                </a:solidFill>
                <a:latin typeface="Microsoft YaHei" panose="020B0503020204020204" pitchFamily="34" charset="-122"/>
                <a:ea typeface="Microsoft YaHei" panose="020B0503020204020204" pitchFamily="34" charset="-122"/>
              </a:defRPr>
            </a:lvl1pPr>
          </a:lstStyle>
          <a:p>
            <a:r>
              <a:rPr lang="zh-CN" altLang="en-US" dirty="0"/>
              <a:t>引自：https://blog.csdn.net/zheng_zmy/article/details/106769690</a:t>
            </a:r>
          </a:p>
        </p:txBody>
      </p:sp>
      <p:sp>
        <p:nvSpPr>
          <p:cNvPr id="8" name="灯片编号占位符 3">
            <a:extLst>
              <a:ext uri="{FF2B5EF4-FFF2-40B4-BE49-F238E27FC236}">
                <a16:creationId xmlns:a16="http://schemas.microsoft.com/office/drawing/2014/main" id="{93961FBF-0B61-417A-A3F6-371A7ADB3E86}"/>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150</a:t>
            </a:fld>
            <a:endParaRPr kumimoji="1" lang="zh-CN" altLang="en-US" dirty="0"/>
          </a:p>
        </p:txBody>
      </p:sp>
      <p:sp>
        <p:nvSpPr>
          <p:cNvPr id="10" name="日期占位符 9">
            <a:extLst>
              <a:ext uri="{FF2B5EF4-FFF2-40B4-BE49-F238E27FC236}">
                <a16:creationId xmlns:a16="http://schemas.microsoft.com/office/drawing/2014/main" id="{EFB13B0F-C078-482E-850D-80DA7F37F14C}"/>
              </a:ext>
            </a:extLst>
          </p:cNvPr>
          <p:cNvSpPr>
            <a:spLocks noGrp="1"/>
          </p:cNvSpPr>
          <p:nvPr>
            <p:ph type="dt" sz="half" idx="10"/>
          </p:nvPr>
        </p:nvSpPr>
        <p:spPr>
          <a:xfrm>
            <a:off x="244710" y="6489303"/>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342698771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What made Mirai Successful?"/>
          <p:cNvSpPr txBox="1">
            <a:spLocks noGrp="1"/>
          </p:cNvSpPr>
          <p:nvPr>
            <p:ph type="title"/>
          </p:nvPr>
        </p:nvSpPr>
        <p:spPr>
          <a:prstGeom prst="rect">
            <a:avLst/>
          </a:prstGeom>
        </p:spPr>
        <p:txBody>
          <a:bodyPr anchor="ctr">
            <a:normAutofit/>
          </a:bodyPr>
          <a:lstStyle>
            <a:lvl1pPr algn="l">
              <a:defRPr sz="7000"/>
            </a:lvl1pPr>
          </a:lstStyle>
          <a:p>
            <a:r>
              <a:rPr lang="zh-CN" altLang="en-US" sz="4000" dirty="0"/>
              <a:t>延伸阅读 </a:t>
            </a:r>
            <a:r>
              <a:rPr lang="en-US" altLang="zh-CN" sz="4000" dirty="0"/>
              <a:t>– </a:t>
            </a:r>
            <a:r>
              <a:rPr sz="4000" dirty="0" err="1"/>
              <a:t>Mirai</a:t>
            </a:r>
            <a:r>
              <a:rPr lang="en-US" sz="4000" dirty="0"/>
              <a:t> </a:t>
            </a:r>
            <a:r>
              <a:rPr lang="zh-CN" altLang="en-US" sz="4000" dirty="0"/>
              <a:t>成功所在</a:t>
            </a:r>
            <a:endParaRPr sz="4000" dirty="0"/>
          </a:p>
        </p:txBody>
      </p:sp>
      <p:sp>
        <p:nvSpPr>
          <p:cNvPr id="2" name="内容占位符 1">
            <a:extLst>
              <a:ext uri="{FF2B5EF4-FFF2-40B4-BE49-F238E27FC236}">
                <a16:creationId xmlns:a16="http://schemas.microsoft.com/office/drawing/2014/main" id="{93F220FC-14F0-F746-B0E6-CC72CB5FCE99}"/>
              </a:ext>
            </a:extLst>
          </p:cNvPr>
          <p:cNvSpPr>
            <a:spLocks noGrp="1"/>
          </p:cNvSpPr>
          <p:nvPr>
            <p:ph idx="1"/>
          </p:nvPr>
        </p:nvSpPr>
        <p:spPr>
          <a:xfrm>
            <a:off x="838199" y="1510757"/>
            <a:ext cx="8255764" cy="4908515"/>
          </a:xfrm>
        </p:spPr>
        <p:txBody>
          <a:bodyPr>
            <a:normAutofit/>
          </a:bodyPr>
          <a:lstStyle/>
          <a:p>
            <a:pPr>
              <a:spcBef>
                <a:spcPts val="1050"/>
              </a:spcBef>
              <a:defRPr sz="4500" b="0"/>
            </a:pPr>
            <a:r>
              <a:rPr lang="en" altLang="zh-CN" sz="3000" dirty="0"/>
              <a:t>Mirai </a:t>
            </a:r>
            <a:r>
              <a:rPr lang="zh-CN" altLang="en-US" sz="3000" dirty="0"/>
              <a:t>代码</a:t>
            </a:r>
            <a:endParaRPr lang="en-US" altLang="zh-CN" sz="3000" dirty="0"/>
          </a:p>
          <a:p>
            <a:pPr lvl="1">
              <a:spcBef>
                <a:spcPts val="1050"/>
              </a:spcBef>
              <a:defRPr sz="4500" b="0"/>
            </a:pPr>
            <a:r>
              <a:rPr lang="zh-CN" altLang="en-US" sz="2600" dirty="0"/>
              <a:t>制作粗劣</a:t>
            </a:r>
            <a:endParaRPr lang="en-US" altLang="zh-CN" sz="2600" dirty="0"/>
          </a:p>
          <a:p>
            <a:pPr lvl="1">
              <a:spcBef>
                <a:spcPts val="1050"/>
              </a:spcBef>
              <a:defRPr sz="4500" b="0"/>
            </a:pPr>
            <a:r>
              <a:rPr lang="zh-CN" altLang="en-US" sz="2600" dirty="0"/>
              <a:t>没有使用新技术和复杂手段</a:t>
            </a:r>
            <a:endParaRPr lang="en" altLang="zh-CN" sz="2600" dirty="0"/>
          </a:p>
          <a:p>
            <a:pPr>
              <a:spcBef>
                <a:spcPts val="150"/>
              </a:spcBef>
              <a:defRPr sz="3500" b="0"/>
            </a:pPr>
            <a:endParaRPr lang="en" altLang="zh-CN" sz="2000" dirty="0"/>
          </a:p>
          <a:p>
            <a:pPr>
              <a:spcBef>
                <a:spcPts val="1050"/>
              </a:spcBef>
              <a:defRPr sz="4500" b="0"/>
            </a:pPr>
            <a:r>
              <a:rPr lang="en" altLang="zh-CN" sz="3000" dirty="0"/>
              <a:t>Mirai </a:t>
            </a:r>
            <a:r>
              <a:rPr lang="zh-CN" altLang="en-US" sz="3000" dirty="0"/>
              <a:t>成功的原因</a:t>
            </a:r>
            <a:endParaRPr lang="en" altLang="zh-CN" sz="3000" dirty="0"/>
          </a:p>
          <a:p>
            <a:pPr lvl="1">
              <a:spcBef>
                <a:spcPts val="1050"/>
              </a:spcBef>
              <a:buSzPct val="100000"/>
              <a:defRPr sz="4500" b="0"/>
            </a:pPr>
            <a:r>
              <a:rPr lang="zh-CN" altLang="en-US" sz="2600" dirty="0"/>
              <a:t>物联网安全防御水平低</a:t>
            </a:r>
            <a:endParaRPr lang="en-US" altLang="zh-CN" sz="2600" dirty="0"/>
          </a:p>
          <a:p>
            <a:pPr lvl="1">
              <a:spcBef>
                <a:spcPts val="1050"/>
              </a:spcBef>
              <a:buSzPct val="100000"/>
              <a:defRPr sz="4500" b="0"/>
            </a:pPr>
            <a:r>
              <a:rPr lang="zh-CN" altLang="en-US" sz="2600" dirty="0"/>
              <a:t>针对物联网设备的攻击手段和技术正在快速升级</a:t>
            </a:r>
            <a:endParaRPr lang="en-US" altLang="zh-CN" sz="2600" dirty="0"/>
          </a:p>
          <a:p>
            <a:pPr lvl="1">
              <a:spcBef>
                <a:spcPts val="1050"/>
              </a:spcBef>
              <a:buSzPct val="100000"/>
              <a:defRPr sz="4500" b="0"/>
            </a:pPr>
            <a:r>
              <a:rPr lang="zh-CN" altLang="en-US" sz="2600" dirty="0"/>
              <a:t>针对物联网设备的高级威胁攻击事件在快速上升</a:t>
            </a:r>
          </a:p>
        </p:txBody>
      </p:sp>
      <p:sp>
        <p:nvSpPr>
          <p:cNvPr id="286" name="The Mirai malware is (astoundingly) badly written. It uses no new or complex techniques.…"/>
          <p:cNvSpPr txBox="1"/>
          <p:nvPr/>
        </p:nvSpPr>
        <p:spPr>
          <a:xfrm>
            <a:off x="-42627" y="5592880"/>
            <a:ext cx="6138627" cy="397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a:spcBef>
                <a:spcPts val="1050"/>
              </a:spcBef>
              <a:defRPr sz="4500" b="0"/>
            </a:pPr>
            <a:endParaRPr sz="2250" dirty="0"/>
          </a:p>
        </p:txBody>
      </p:sp>
      <p:sp>
        <p:nvSpPr>
          <p:cNvPr id="287" name="云"/>
          <p:cNvSpPr/>
          <p:nvPr/>
        </p:nvSpPr>
        <p:spPr>
          <a:xfrm>
            <a:off x="8052863" y="1610981"/>
            <a:ext cx="3687291" cy="2222169"/>
          </a:xfrm>
          <a:custGeom>
            <a:avLst/>
            <a:gdLst/>
            <a:ahLst/>
            <a:cxnLst>
              <a:cxn ang="0">
                <a:pos x="wd2" y="hd2"/>
              </a:cxn>
              <a:cxn ang="5400000">
                <a:pos x="wd2" y="hd2"/>
              </a:cxn>
              <a:cxn ang="10800000">
                <a:pos x="wd2" y="hd2"/>
              </a:cxn>
              <a:cxn ang="16200000">
                <a:pos x="wd2" y="hd2"/>
              </a:cxn>
            </a:cxnLst>
            <a:rect l="0" t="0" r="r" b="b"/>
            <a:pathLst>
              <a:path w="21600" h="21600" extrusionOk="0">
                <a:moveTo>
                  <a:pt x="10603" y="0"/>
                </a:moveTo>
                <a:cubicBezTo>
                  <a:pt x="7967" y="0"/>
                  <a:pt x="5720" y="2939"/>
                  <a:pt x="4858" y="7062"/>
                </a:cubicBezTo>
                <a:cubicBezTo>
                  <a:pt x="4628" y="6992"/>
                  <a:pt x="4391" y="6953"/>
                  <a:pt x="4150" y="6953"/>
                </a:cubicBezTo>
                <a:cubicBezTo>
                  <a:pt x="1857" y="6953"/>
                  <a:pt x="0" y="10233"/>
                  <a:pt x="0" y="14278"/>
                </a:cubicBezTo>
                <a:cubicBezTo>
                  <a:pt x="0" y="18323"/>
                  <a:pt x="1857" y="21600"/>
                  <a:pt x="4150" y="21600"/>
                </a:cubicBezTo>
                <a:cubicBezTo>
                  <a:pt x="4193" y="21600"/>
                  <a:pt x="4237" y="21597"/>
                  <a:pt x="4279" y="21594"/>
                </a:cubicBezTo>
                <a:lnTo>
                  <a:pt x="10532" y="21597"/>
                </a:lnTo>
                <a:cubicBezTo>
                  <a:pt x="10555" y="21598"/>
                  <a:pt x="10579" y="21600"/>
                  <a:pt x="10603" y="21600"/>
                </a:cubicBezTo>
                <a:cubicBezTo>
                  <a:pt x="10626" y="21600"/>
                  <a:pt x="10648" y="21598"/>
                  <a:pt x="10672" y="21597"/>
                </a:cubicBezTo>
                <a:lnTo>
                  <a:pt x="18141" y="21600"/>
                </a:lnTo>
                <a:cubicBezTo>
                  <a:pt x="20051" y="21600"/>
                  <a:pt x="21600" y="18868"/>
                  <a:pt x="21600" y="15496"/>
                </a:cubicBezTo>
                <a:cubicBezTo>
                  <a:pt x="21600" y="12124"/>
                  <a:pt x="20051" y="9389"/>
                  <a:pt x="18141" y="9389"/>
                </a:cubicBezTo>
                <a:cubicBezTo>
                  <a:pt x="17627" y="9389"/>
                  <a:pt x="17139" y="9589"/>
                  <a:pt x="16701" y="9943"/>
                </a:cubicBezTo>
                <a:cubicBezTo>
                  <a:pt x="16453" y="4379"/>
                  <a:pt x="13819" y="0"/>
                  <a:pt x="10603" y="0"/>
                </a:cubicBezTo>
                <a:close/>
              </a:path>
            </a:pathLst>
          </a:custGeom>
          <a:solidFill>
            <a:srgbClr val="FFFFFF"/>
          </a:solidFill>
          <a:ln w="63500">
            <a:solidFill>
              <a:srgbClr val="B1040E"/>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288" name="箭头"/>
          <p:cNvSpPr/>
          <p:nvPr/>
        </p:nvSpPr>
        <p:spPr>
          <a:xfrm rot="16200000" flipH="1">
            <a:off x="9584853" y="4357698"/>
            <a:ext cx="635001" cy="635001"/>
          </a:xfrm>
          <a:prstGeom prst="rightArrow">
            <a:avLst>
              <a:gd name="adj1" fmla="val 41546"/>
              <a:gd name="adj2" fmla="val 49408"/>
            </a:avLst>
          </a:prstGeom>
          <a:ln w="63500">
            <a:solidFill>
              <a:srgbClr val="929292"/>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289" name="Mirai"/>
          <p:cNvSpPr txBox="1"/>
          <p:nvPr/>
        </p:nvSpPr>
        <p:spPr>
          <a:xfrm>
            <a:off x="9443661" y="5492698"/>
            <a:ext cx="905697" cy="528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6200" b="0"/>
            </a:lvl1pPr>
          </a:lstStyle>
          <a:p>
            <a:r>
              <a:rPr sz="3100"/>
              <a:t>Mirai</a:t>
            </a:r>
          </a:p>
        </p:txBody>
      </p:sp>
      <p:sp>
        <p:nvSpPr>
          <p:cNvPr id="290" name="BASHLITE"/>
          <p:cNvSpPr txBox="1"/>
          <p:nvPr/>
        </p:nvSpPr>
        <p:spPr>
          <a:xfrm>
            <a:off x="8465203" y="2526176"/>
            <a:ext cx="1033937" cy="3359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700" b="0"/>
            </a:lvl1pPr>
          </a:lstStyle>
          <a:p>
            <a:r>
              <a:rPr sz="1850"/>
              <a:t>BASHLITE</a:t>
            </a:r>
          </a:p>
        </p:txBody>
      </p:sp>
      <p:sp>
        <p:nvSpPr>
          <p:cNvPr id="291" name="LizardStresser"/>
          <p:cNvSpPr txBox="1"/>
          <p:nvPr/>
        </p:nvSpPr>
        <p:spPr>
          <a:xfrm>
            <a:off x="8486894" y="3368805"/>
            <a:ext cx="1452321" cy="3359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700" b="0"/>
            </a:lvl1pPr>
          </a:lstStyle>
          <a:p>
            <a:r>
              <a:rPr sz="1850"/>
              <a:t>LizardStresser</a:t>
            </a:r>
          </a:p>
        </p:txBody>
      </p:sp>
      <p:sp>
        <p:nvSpPr>
          <p:cNvPr id="292" name="Gafgyt"/>
          <p:cNvSpPr txBox="1"/>
          <p:nvPr/>
        </p:nvSpPr>
        <p:spPr>
          <a:xfrm>
            <a:off x="10728187" y="3137045"/>
            <a:ext cx="722955" cy="3359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700" b="0"/>
            </a:lvl1pPr>
          </a:lstStyle>
          <a:p>
            <a:r>
              <a:rPr sz="1850"/>
              <a:t>Gafgyt</a:t>
            </a:r>
          </a:p>
        </p:txBody>
      </p:sp>
      <p:sp>
        <p:nvSpPr>
          <p:cNvPr id="293" name="Torlus"/>
          <p:cNvSpPr txBox="1"/>
          <p:nvPr/>
        </p:nvSpPr>
        <p:spPr>
          <a:xfrm>
            <a:off x="9706830" y="2950541"/>
            <a:ext cx="671659" cy="3359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700" b="0"/>
            </a:lvl1pPr>
          </a:lstStyle>
          <a:p>
            <a:r>
              <a:rPr sz="1850"/>
              <a:t>Torlus</a:t>
            </a:r>
          </a:p>
        </p:txBody>
      </p:sp>
      <p:sp>
        <p:nvSpPr>
          <p:cNvPr id="294" name="Lizkebab"/>
          <p:cNvSpPr txBox="1"/>
          <p:nvPr/>
        </p:nvSpPr>
        <p:spPr>
          <a:xfrm>
            <a:off x="9262403" y="1975396"/>
            <a:ext cx="948978" cy="3359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700" b="0"/>
            </a:lvl1pPr>
          </a:lstStyle>
          <a:p>
            <a:r>
              <a:rPr sz="1850"/>
              <a:t>Lizkebab</a:t>
            </a:r>
          </a:p>
        </p:txBody>
      </p:sp>
      <p:sp>
        <p:nvSpPr>
          <p:cNvPr id="295" name="Qbot"/>
          <p:cNvSpPr txBox="1"/>
          <p:nvPr/>
        </p:nvSpPr>
        <p:spPr>
          <a:xfrm>
            <a:off x="10130402" y="2420931"/>
            <a:ext cx="578685" cy="3359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700" b="0"/>
            </a:lvl1pPr>
          </a:lstStyle>
          <a:p>
            <a:r>
              <a:rPr sz="1850"/>
              <a:t>Qbot</a:t>
            </a:r>
          </a:p>
        </p:txBody>
      </p:sp>
      <p:sp>
        <p:nvSpPr>
          <p:cNvPr id="14" name="灯片编号占位符 3">
            <a:extLst>
              <a:ext uri="{FF2B5EF4-FFF2-40B4-BE49-F238E27FC236}">
                <a16:creationId xmlns:a16="http://schemas.microsoft.com/office/drawing/2014/main" id="{0751306F-6F4A-4FEC-A17F-C1CC5EF21C58}"/>
              </a:ext>
            </a:extLst>
          </p:cNvPr>
          <p:cNvSpPr>
            <a:spLocks noGrp="1"/>
          </p:cNvSpPr>
          <p:nvPr>
            <p:ph type="sldNum" sz="quarter" idx="12"/>
          </p:nvPr>
        </p:nvSpPr>
        <p:spPr>
          <a:xfrm>
            <a:off x="9448800" y="6504315"/>
            <a:ext cx="2743200" cy="365125"/>
          </a:xfrm>
        </p:spPr>
        <p:txBody>
          <a:bodyPr/>
          <a:lstStyle/>
          <a:p>
            <a:fld id="{8D4D1E41-7A09-AB4A-A4E1-09765ADA2698}" type="slidenum">
              <a:rPr kumimoji="1" lang="zh-CN" altLang="en-US" smtClean="0"/>
              <a:pPr/>
              <a:t>151</a:t>
            </a:fld>
            <a:endParaRPr kumimoji="1" lang="zh-CN" altLang="en-US" dirty="0"/>
          </a:p>
        </p:txBody>
      </p:sp>
      <p:sp>
        <p:nvSpPr>
          <p:cNvPr id="16" name="日期占位符 9">
            <a:extLst>
              <a:ext uri="{FF2B5EF4-FFF2-40B4-BE49-F238E27FC236}">
                <a16:creationId xmlns:a16="http://schemas.microsoft.com/office/drawing/2014/main" id="{79BD8848-D6F5-4272-8208-939DAE415867}"/>
              </a:ext>
            </a:extLst>
          </p:cNvPr>
          <p:cNvSpPr>
            <a:spLocks noGrp="1"/>
          </p:cNvSpPr>
          <p:nvPr>
            <p:ph type="dt" sz="half" idx="10"/>
          </p:nvPr>
        </p:nvSpPr>
        <p:spPr>
          <a:xfrm>
            <a:off x="197963" y="6489303"/>
            <a:ext cx="2743200" cy="365125"/>
          </a:xfrm>
        </p:spPr>
        <p:txBody>
          <a:bodyPr/>
          <a:lstStyle/>
          <a:p>
            <a:r>
              <a:rPr kumimoji="1" lang="en-US" altLang="zh-CN" dirty="0"/>
              <a:t>8.2.4  </a:t>
            </a:r>
            <a:r>
              <a:rPr kumimoji="1" lang="en-US" altLang="zh-CN" dirty="0" err="1"/>
              <a:t>DDos</a:t>
            </a:r>
            <a:r>
              <a:rPr kumimoji="1" lang="zh-CN" altLang="en-US" dirty="0"/>
              <a:t>攻击</a:t>
            </a:r>
          </a:p>
        </p:txBody>
      </p:sp>
    </p:spTree>
    <p:extLst>
      <p:ext uri="{BB962C8B-B14F-4D97-AF65-F5344CB8AC3E}">
        <p14:creationId xmlns:p14="http://schemas.microsoft.com/office/powerpoint/2010/main" val="182223844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10.11.3 </a:t>
            </a:r>
            <a:r>
              <a:rPr kumimoji="1" lang="en-US" altLang="zh-CN" dirty="0" err="1">
                <a:solidFill>
                  <a:prstClr val="black"/>
                </a:solidFill>
              </a:rPr>
              <a:t>DDoS</a:t>
            </a:r>
            <a:r>
              <a:rPr kumimoji="1" lang="en-US" altLang="zh-CN" dirty="0">
                <a:solidFill>
                  <a:prstClr val="black"/>
                </a:solidFill>
              </a:rPr>
              <a:t> </a:t>
            </a:r>
            <a:r>
              <a:rPr kumimoji="1" lang="zh-CN" altLang="zh-CN" dirty="0">
                <a:solidFill>
                  <a:prstClr val="black"/>
                </a:solidFill>
              </a:rPr>
              <a:t>防护措施</a:t>
            </a:r>
            <a:endParaRPr lang="zh-CN" altLang="en-US" dirty="0"/>
          </a:p>
        </p:txBody>
      </p:sp>
      <p:sp>
        <p:nvSpPr>
          <p:cNvPr id="3" name="内容占位符 2"/>
          <p:cNvSpPr>
            <a:spLocks noGrp="1"/>
          </p:cNvSpPr>
          <p:nvPr>
            <p:ph idx="1"/>
          </p:nvPr>
        </p:nvSpPr>
        <p:spPr>
          <a:xfrm>
            <a:off x="838200" y="1389413"/>
            <a:ext cx="10515600" cy="4940135"/>
          </a:xfrm>
        </p:spPr>
        <p:txBody>
          <a:bodyPr>
            <a:normAutofit fontScale="92500" lnSpcReduction="10000"/>
          </a:bodyPr>
          <a:lstStyle/>
          <a:p>
            <a:pPr>
              <a:lnSpc>
                <a:spcPct val="130000"/>
              </a:lnSpc>
            </a:pPr>
            <a:r>
              <a:rPr lang="zh-CN" altLang="en-US" dirty="0"/>
              <a:t>对抗</a:t>
            </a:r>
            <a:r>
              <a:rPr lang="en-US" altLang="zh-CN" dirty="0" err="1"/>
              <a:t>DDoS</a:t>
            </a:r>
            <a:r>
              <a:rPr lang="zh-CN" altLang="en-US" dirty="0"/>
              <a:t>攻击有三种较普遍的方法：</a:t>
            </a:r>
            <a:endParaRPr lang="en-US" altLang="zh-CN" dirty="0"/>
          </a:p>
          <a:p>
            <a:pPr lvl="1">
              <a:lnSpc>
                <a:spcPct val="130000"/>
              </a:lnSpc>
            </a:pPr>
            <a:r>
              <a:rPr lang="zh-CN" altLang="en-US" b="1" dirty="0"/>
              <a:t>攻击预防和先占</a:t>
            </a:r>
            <a:r>
              <a:rPr lang="zh-CN" altLang="en-US" dirty="0"/>
              <a:t>（</a:t>
            </a:r>
            <a:r>
              <a:rPr lang="zh-CN" altLang="en-US" dirty="0">
                <a:solidFill>
                  <a:srgbClr val="C00000"/>
                </a:solidFill>
              </a:rPr>
              <a:t>攻击之前</a:t>
            </a:r>
            <a:r>
              <a:rPr lang="zh-CN" altLang="en-US" dirty="0"/>
              <a:t>）：使受害服务器需要忍受攻击尝试，但不会对合法客户端执行拒绝服务。这种技术</a:t>
            </a:r>
            <a:r>
              <a:rPr lang="zh-CN" altLang="en-US" b="1" dirty="0"/>
              <a:t>包括对资源消耗的强制执行政策和在需要时提供可利用的后备资源</a:t>
            </a:r>
            <a:r>
              <a:rPr lang="zh-CN" altLang="en-US" dirty="0"/>
              <a:t>。另外，预防机制修改互联网上的系统和协议，从而减少</a:t>
            </a:r>
            <a:r>
              <a:rPr lang="en-US" altLang="zh-CN" dirty="0" err="1"/>
              <a:t>DDoS</a:t>
            </a:r>
            <a:r>
              <a:rPr lang="zh-CN" altLang="en-US" dirty="0"/>
              <a:t>攻击的可能性。</a:t>
            </a:r>
            <a:endParaRPr lang="en-US" altLang="zh-CN" dirty="0"/>
          </a:p>
          <a:p>
            <a:pPr lvl="1">
              <a:lnSpc>
                <a:spcPct val="130000"/>
              </a:lnSpc>
            </a:pPr>
            <a:r>
              <a:rPr lang="zh-CN" altLang="en-US" b="1" dirty="0"/>
              <a:t>攻击检测和过滤</a:t>
            </a:r>
            <a:r>
              <a:rPr lang="zh-CN" altLang="en-US" dirty="0"/>
              <a:t>（</a:t>
            </a:r>
            <a:r>
              <a:rPr lang="zh-CN" altLang="en-US" dirty="0">
                <a:solidFill>
                  <a:srgbClr val="C00000"/>
                </a:solidFill>
              </a:rPr>
              <a:t>攻击进行中</a:t>
            </a:r>
            <a:r>
              <a:rPr lang="zh-CN" altLang="en-US" dirty="0"/>
              <a:t>）：在攻击开始时就对其进行</a:t>
            </a:r>
            <a:r>
              <a:rPr lang="zh-CN" altLang="en-US" b="1" dirty="0"/>
              <a:t>监测</a:t>
            </a:r>
            <a:r>
              <a:rPr lang="zh-CN" altLang="en-US" dirty="0"/>
              <a:t>并立即做出</a:t>
            </a:r>
            <a:r>
              <a:rPr lang="zh-CN" altLang="en-US" b="1" dirty="0"/>
              <a:t>回应</a:t>
            </a:r>
            <a:r>
              <a:rPr lang="zh-CN" altLang="en-US" dirty="0"/>
              <a:t>。这会使攻击对目标造成的影响降到最低。</a:t>
            </a:r>
            <a:r>
              <a:rPr lang="zh-CN" altLang="en-US" b="1" dirty="0"/>
              <a:t>监测还包括搜寻可疑的行为模式。回应还包括过滤掉可能是攻击组成部分的封包</a:t>
            </a:r>
            <a:r>
              <a:rPr lang="zh-CN" altLang="en-US" dirty="0"/>
              <a:t>。</a:t>
            </a:r>
            <a:endParaRPr lang="en-US" altLang="zh-CN" dirty="0"/>
          </a:p>
          <a:p>
            <a:pPr lvl="1">
              <a:lnSpc>
                <a:spcPct val="130000"/>
              </a:lnSpc>
            </a:pPr>
            <a:r>
              <a:rPr lang="zh-CN" altLang="en-US" b="1" dirty="0"/>
              <a:t>攻击源回溯和鉴定</a:t>
            </a:r>
            <a:r>
              <a:rPr lang="zh-CN" altLang="en-US" dirty="0"/>
              <a:t>（</a:t>
            </a:r>
            <a:r>
              <a:rPr lang="zh-CN" altLang="en-US" dirty="0">
                <a:solidFill>
                  <a:srgbClr val="C00000"/>
                </a:solidFill>
              </a:rPr>
              <a:t>攻击进行中或攻击完成后</a:t>
            </a:r>
            <a:r>
              <a:rPr lang="zh-CN" altLang="en-US" dirty="0"/>
              <a:t>）：</a:t>
            </a:r>
            <a:r>
              <a:rPr lang="zh-CN" altLang="en-US" b="1" dirty="0"/>
              <a:t>尝试鉴定攻击源</a:t>
            </a:r>
            <a:r>
              <a:rPr lang="zh-CN" altLang="en-US" dirty="0"/>
              <a:t>是为了阻止将来的攻击所要进行的第一步。但是，这种方法通常无法得到足够快的结果以减轻正在进行的攻击。</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152</a:t>
            </a:fld>
            <a:endParaRPr kumimoji="1" lang="zh-CN" altLang="en-US" dirty="0"/>
          </a:p>
        </p:txBody>
      </p:sp>
    </p:spTree>
    <p:extLst>
      <p:ext uri="{BB962C8B-B14F-4D97-AF65-F5344CB8AC3E}">
        <p14:creationId xmlns:p14="http://schemas.microsoft.com/office/powerpoint/2010/main" val="3521510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i"/>
  <p:tag name="KSO_WM_UNIT_INDEX" val="1_1"/>
  <p:tag name="KSO_WM_UNIT_ID" val="diagram20170362_2*l_i*1_1"/>
  <p:tag name="KSO_WM_UNIT_LAYERLEVEL" val="1_1"/>
  <p:tag name="KSO_WM_DIAGRAM_GROUP_CODE" val="l1-1"/>
  <p:tag name="KSO_WM_UNIT_FILL_FORE_SCHEMECOLOR_INDEX" val="14"/>
  <p:tag name="KSO_WM_UNIT_FILL_TYPE" val="1"/>
  <p:tag name="KSO_WM_UNIT_TEXT_FILL_FORE_SCHEMECOLOR_INDEX" val="13"/>
  <p:tag name="KSO_WM_UNIT_TEXT_FILL_TYPE" val="1"/>
  <p:tag name="KSO_WM_UNIT_USESOURCEFORMAT_APPLY" val="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i"/>
  <p:tag name="KSO_WM_UNIT_INDEX" val="1_2"/>
  <p:tag name="KSO_WM_UNIT_ID" val="diagram20170362_2*l_i*1_2"/>
  <p:tag name="KSO_WM_UNIT_LAYERLEVEL" val="1_1"/>
  <p:tag name="KSO_WM_DIAGRAM_GROUP_CODE" val="l1-1"/>
  <p:tag name="KSO_WM_UNIT_FILL_FORE_SCHEMECOLOR_INDEX" val="14"/>
  <p:tag name="KSO_WM_UNIT_FILL_TYPE" val="1"/>
  <p:tag name="KSO_WM_UNIT_TEXT_FILL_FORE_SCHEMECOLOR_INDEX" val="13"/>
  <p:tag name="KSO_WM_UNIT_TEXT_FILL_TYPE" val="1"/>
  <p:tag name="KSO_WM_UNIT_USESOURCEFORMAT_APPLY" val="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3_1"/>
  <p:tag name="KSO_WM_UNIT_ID" val="diagram20170362_2*l_h_i*1_3_1"/>
  <p:tag name="KSO_WM_UNIT_LAYERLEVEL" val="1_1_1"/>
  <p:tag name="KSO_WM_DIAGRAM_GROUP_CODE" val="l1-1"/>
  <p:tag name="KSO_WM_UNIT_FILL_FORE_SCHEMECOLOR_INDEX" val="7"/>
  <p:tag name="KSO_WM_UNIT_FILL_TYPE" val="1"/>
  <p:tag name="KSO_WM_UNIT_TEXT_FILL_FORE_SCHEMECOLOR_INDEX" val="13"/>
  <p:tag name="KSO_WM_UNIT_TEXT_FILL_TYPE" val="1"/>
  <p:tag name="KSO_WM_UNIT_USESOURCEFORMAT_APPLY" val="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2_1"/>
  <p:tag name="KSO_WM_UNIT_ID" val="diagram20170362_2*l_h_i*1_2_1"/>
  <p:tag name="KSO_WM_UNIT_LAYERLEVEL" val="1_1_1"/>
  <p:tag name="KSO_WM_DIAGRAM_GROUP_CODE" val="l1-1"/>
  <p:tag name="KSO_WM_UNIT_FILL_FORE_SCHEMECOLOR_INDEX" val="6"/>
  <p:tag name="KSO_WM_UNIT_FILL_TYPE" val="1"/>
  <p:tag name="KSO_WM_UNIT_TEXT_FILL_FORE_SCHEMECOLOR_INDEX" val="13"/>
  <p:tag name="KSO_WM_UNIT_TEXT_FILL_TYPE" val="1"/>
  <p:tag name="KSO_WM_UNIT_USESOURCEFORMAT_APPLY" val="0"/>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i"/>
  <p:tag name="KSO_WM_UNIT_INDEX" val="1_2"/>
  <p:tag name="KSO_WM_UNIT_ID" val="diagram20170362_2*l_i*1_2"/>
  <p:tag name="KSO_WM_UNIT_LAYERLEVEL" val="1_1"/>
  <p:tag name="KSO_WM_DIAGRAM_GROUP_CODE" val="l1-1"/>
  <p:tag name="KSO_WM_UNIT_FILL_FORE_SCHEMECOLOR_INDEX" val="14"/>
  <p:tag name="KSO_WM_UNIT_FILL_TYPE" val="1"/>
  <p:tag name="KSO_WM_UNIT_TEXT_FILL_FORE_SCHEMECOLOR_INDEX" val="13"/>
  <p:tag name="KSO_WM_UNIT_TEXT_FILL_TYPE" val="1"/>
  <p:tag name="KSO_WM_UNIT_USESOURCEFORMAT_APPLY"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i"/>
  <p:tag name="KSO_WM_UNIT_INDEX" val="1_1"/>
  <p:tag name="KSO_WM_UNIT_ID" val="diagram20170362_2*l_i*1_1"/>
  <p:tag name="KSO_WM_UNIT_LAYERLEVEL" val="1_1"/>
  <p:tag name="KSO_WM_DIAGRAM_GROUP_CODE" val="l1-1"/>
  <p:tag name="KSO_WM_UNIT_FILL_FORE_SCHEMECOLOR_INDEX" val="14"/>
  <p:tag name="KSO_WM_UNIT_FILL_TYPE" val="1"/>
  <p:tag name="KSO_WM_UNIT_TEXT_FILL_FORE_SCHEMECOLOR_INDEX" val="13"/>
  <p:tag name="KSO_WM_UNIT_TEXT_FILL_TYPE" val="1"/>
  <p:tag name="KSO_WM_UNIT_USESOURCEFORMAT_APPLY" val="0"/>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i"/>
  <p:tag name="KSO_WM_UNIT_INDEX" val="1_2"/>
  <p:tag name="KSO_WM_UNIT_ID" val="diagram20170362_2*l_i*1_2"/>
  <p:tag name="KSO_WM_UNIT_LAYERLEVEL" val="1_1"/>
  <p:tag name="KSO_WM_DIAGRAM_GROUP_CODE" val="l1-1"/>
  <p:tag name="KSO_WM_UNIT_FILL_FORE_SCHEMECOLOR_INDEX" val="14"/>
  <p:tag name="KSO_WM_UNIT_FILL_TYPE" val="1"/>
  <p:tag name="KSO_WM_UNIT_TEXT_FILL_FORE_SCHEMECOLOR_INDEX" val="13"/>
  <p:tag name="KSO_WM_UNIT_TEXT_FILL_TYPE" val="1"/>
  <p:tag name="KSO_WM_UNIT_USESOURCEFORMAT_APPLY" val="0"/>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3_1"/>
  <p:tag name="KSO_WM_UNIT_ID" val="diagram20170362_2*l_h_i*1_3_1"/>
  <p:tag name="KSO_WM_UNIT_LAYERLEVEL" val="1_1_1"/>
  <p:tag name="KSO_WM_DIAGRAM_GROUP_CODE" val="l1-1"/>
  <p:tag name="KSO_WM_UNIT_FILL_FORE_SCHEMECOLOR_INDEX" val="7"/>
  <p:tag name="KSO_WM_UNIT_FILL_TYPE" val="1"/>
  <p:tag name="KSO_WM_UNIT_TEXT_FILL_FORE_SCHEMECOLOR_INDEX" val="13"/>
  <p:tag name="KSO_WM_UNIT_TEXT_FILL_TYPE" val="1"/>
  <p:tag name="KSO_WM_UNIT_USESOURCEFORMAT_APPLY" val="0"/>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i"/>
  <p:tag name="KSO_WM_UNIT_INDEX" val="1_2"/>
  <p:tag name="KSO_WM_UNIT_ID" val="diagram20170362_2*l_i*1_2"/>
  <p:tag name="KSO_WM_UNIT_LAYERLEVEL" val="1_1"/>
  <p:tag name="KSO_WM_DIAGRAM_GROUP_CODE" val="l1-1"/>
  <p:tag name="KSO_WM_UNIT_FILL_FORE_SCHEMECOLOR_INDEX" val="14"/>
  <p:tag name="KSO_WM_UNIT_FILL_TYPE" val="1"/>
  <p:tag name="KSO_WM_UNIT_TEXT_FILL_FORE_SCHEMECOLOR_INDEX" val="13"/>
  <p:tag name="KSO_WM_UNIT_TEXT_FILL_TYPE" val="1"/>
  <p:tag name="KSO_WM_UNIT_USESOURCEFORMAT_APPLY" val="0"/>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1_1"/>
  <p:tag name="KSO_WM_UNIT_ID" val="diagram20170362_2*l_h_i*1_1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0"/>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2_1"/>
  <p:tag name="KSO_WM_UNIT_ID" val="diagram20170362_2*l_h_i*1_2_1"/>
  <p:tag name="KSO_WM_UNIT_LAYERLEVEL" val="1_1_1"/>
  <p:tag name="KSO_WM_DIAGRAM_GROUP_CODE" val="l1-1"/>
  <p:tag name="KSO_WM_UNIT_FILL_FORE_SCHEMECOLOR_INDEX" val="6"/>
  <p:tag name="KSO_WM_UNIT_FILL_TYPE" val="1"/>
  <p:tag name="KSO_WM_UNIT_TEXT_FILL_FORE_SCHEMECOLOR_INDEX" val="13"/>
  <p:tag name="KSO_WM_UNIT_TEXT_FILL_TYPE" val="1"/>
  <p:tag name="KSO_WM_UNIT_USESOURCEFORMAT_APPLY" val="0"/>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1_1"/>
  <p:tag name="KSO_WM_UNIT_ID" val="diagram20170362_2*l_h_i*1_1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0"/>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1_1"/>
  <p:tag name="KSO_WM_UNIT_ID" val="diagram20170362_2*l_h_i*1_1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0"/>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70362"/>
  <p:tag name="KSO_WM_UNIT_TYPE" val="l_h_i"/>
  <p:tag name="KSO_WM_UNIT_INDEX" val="1_1_1"/>
  <p:tag name="KSO_WM_UNIT_ID" val="diagram20170362_2*l_h_i*1_1_1"/>
  <p:tag name="KSO_WM_UNIT_LAYERLEVEL" val="1_1_1"/>
  <p:tag name="KSO_WM_DIAGRAM_GROUP_CODE" val="l1-1"/>
  <p:tag name="KSO_WM_UNIT_FILL_FORE_SCHEMECOLOR_INDEX" val="5"/>
  <p:tag name="KSO_WM_UNIT_FILL_TYPE" val="1"/>
  <p:tag name="KSO_WM_UNIT_TEXT_FILL_FORE_SCHEMECOLOR_INDEX" val="13"/>
  <p:tag name="KSO_WM_UNIT_TEXT_FILL_TYPE" val="1"/>
  <p:tag name="KSO_WM_UNIT_USESOURCEFORMAT_APPLY" val="0"/>
</p:tagLst>
</file>

<file path=ppt/tags/tag15.xml><?xml version="1.0" encoding="utf-8"?>
<p:tagLst xmlns:a="http://schemas.openxmlformats.org/drawingml/2006/main" xmlns:r="http://schemas.openxmlformats.org/officeDocument/2006/relationships" xmlns:p="http://schemas.openxmlformats.org/presentationml/2006/main">
  <p:tag name="ISLIDE.ICON" val="#393873;#393873;"/>
</p:tagLst>
</file>

<file path=ppt/tags/tag16.xml><?xml version="1.0" encoding="utf-8"?>
<p:tagLst xmlns:a="http://schemas.openxmlformats.org/drawingml/2006/main" xmlns:r="http://schemas.openxmlformats.org/officeDocument/2006/relationships" xmlns:p="http://schemas.openxmlformats.org/presentationml/2006/main">
  <p:tag name="ISLIDE.ICON" val="#393854;#393854;"/>
</p:tagLst>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13647</TotalTime>
  <Words>20438</Words>
  <Application>Microsoft Office PowerPoint</Application>
  <PresentationFormat>宽屏</PresentationFormat>
  <Paragraphs>1707</Paragraphs>
  <Slides>152</Slides>
  <Notes>33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152</vt:i4>
      </vt:variant>
    </vt:vector>
  </HeadingPairs>
  <TitlesOfParts>
    <vt:vector size="162" baseType="lpstr">
      <vt:lpstr>-apple-system</vt:lpstr>
      <vt:lpstr>PingFang SC</vt:lpstr>
      <vt:lpstr>等线</vt:lpstr>
      <vt:lpstr>宋体</vt:lpstr>
      <vt:lpstr>Microsoft YaHei</vt:lpstr>
      <vt:lpstr>Microsoft YaHei</vt:lpstr>
      <vt:lpstr>Arial</vt:lpstr>
      <vt:lpstr>Arial</vt:lpstr>
      <vt:lpstr>Wingdings</vt:lpstr>
      <vt:lpstr>Office 主题​​</vt:lpstr>
      <vt:lpstr>第十章 恶意软件</vt:lpstr>
      <vt:lpstr>10 恶意软件</vt:lpstr>
      <vt:lpstr>本章内容</vt:lpstr>
      <vt:lpstr>10.1 恶意软件类型</vt:lpstr>
      <vt:lpstr>10.1 恶意软件类型</vt:lpstr>
      <vt:lpstr>10.1.1 恶意软件的分类</vt:lpstr>
      <vt:lpstr>10.1.1 恶意软件的分类</vt:lpstr>
      <vt:lpstr>10.1.1 恶意软件的分类</vt:lpstr>
      <vt:lpstr>10.1.2 攻击套件</vt:lpstr>
      <vt:lpstr>10.1.3 攻击源头</vt:lpstr>
      <vt:lpstr>本章内容</vt:lpstr>
      <vt:lpstr>10.2 高级持续性威胁</vt:lpstr>
      <vt:lpstr>10.2 高级持续性威胁</vt:lpstr>
      <vt:lpstr>10.2 高级持续性威胁</vt:lpstr>
      <vt:lpstr>10.2 高级持续性威胁</vt:lpstr>
      <vt:lpstr>本章内容</vt:lpstr>
      <vt:lpstr>10.3.1 病毒本质</vt:lpstr>
      <vt:lpstr>10.3.1 病毒本质</vt:lpstr>
      <vt:lpstr>10.3.1 病毒本质</vt:lpstr>
      <vt:lpstr>10.3.1 病毒本质</vt:lpstr>
      <vt:lpstr>10.3.1 病毒本质</vt:lpstr>
      <vt:lpstr>10.3.2 病毒分类</vt:lpstr>
      <vt:lpstr>10.3.2 病毒分类</vt:lpstr>
      <vt:lpstr>10.3.3 宏病毒与脚本病毒</vt:lpstr>
      <vt:lpstr>10.3.3 宏病毒与脚本病毒</vt:lpstr>
      <vt:lpstr>本章内容</vt:lpstr>
      <vt:lpstr>10.4 传播-漏洞利用-蠕虫</vt:lpstr>
      <vt:lpstr>10.4 传播-漏洞利用-蠕虫</vt:lpstr>
      <vt:lpstr>10.4 传播-漏洞利用-蠕虫</vt:lpstr>
      <vt:lpstr>10.4.1 目标搜寻</vt:lpstr>
      <vt:lpstr>10.4.2 蠕虫传播模式</vt:lpstr>
      <vt:lpstr>10.4.2 蠕虫传播模式</vt:lpstr>
      <vt:lpstr>10.4.3 莫里斯蠕虫</vt:lpstr>
      <vt:lpstr>10.4.3 莫里斯蠕虫</vt:lpstr>
      <vt:lpstr>10.4.3 莫里斯蠕虫</vt:lpstr>
      <vt:lpstr>10.4.4 蠕虫病毒技术现状</vt:lpstr>
      <vt:lpstr>10.4.4 蠕虫病毒技术现状</vt:lpstr>
      <vt:lpstr>10.4.5 恶意移动代码</vt:lpstr>
      <vt:lpstr>10.4.5 恶意移动代码</vt:lpstr>
      <vt:lpstr>10.4.5 恶意移动代码</vt:lpstr>
      <vt:lpstr>10.4.6 客户端漏洞和网站挂马攻击</vt:lpstr>
      <vt:lpstr>10.4.6 客户端漏洞和网站挂马攻击</vt:lpstr>
      <vt:lpstr>10.4.6 客户端漏洞和网站挂马攻击</vt:lpstr>
      <vt:lpstr>10.4.6 客户端漏洞和网站挂马攻击</vt:lpstr>
      <vt:lpstr>10.4.7 点击劫持</vt:lpstr>
      <vt:lpstr>10.4.7 点击劫持</vt:lpstr>
      <vt:lpstr>10.4.7 点击劫持</vt:lpstr>
      <vt:lpstr>10.4.7 点击劫持</vt:lpstr>
      <vt:lpstr>本章内容</vt:lpstr>
      <vt:lpstr>10.5 传播-社会工程-垃圾邮件与特洛伊木马</vt:lpstr>
      <vt:lpstr>10.5.1 垃圾邮件（未经同意而发送给接收方的巨量）</vt:lpstr>
      <vt:lpstr>10.5.1 垃圾邮件（未经同意而发送给接收方的巨量）</vt:lpstr>
      <vt:lpstr>10.5.2 特洛伊木马</vt:lpstr>
      <vt:lpstr>10.5.2 特洛伊木马</vt:lpstr>
      <vt:lpstr>本章内容</vt:lpstr>
      <vt:lpstr>10.6 载荷-系统破坏</vt:lpstr>
      <vt:lpstr>10.6 载荷-系统破坏</vt:lpstr>
      <vt:lpstr>10.6 载荷-系统破坏</vt:lpstr>
      <vt:lpstr>10.6.1 实质破坏</vt:lpstr>
      <vt:lpstr>10.6.1 实质破坏</vt:lpstr>
      <vt:lpstr>10.6.1 实质破坏</vt:lpstr>
      <vt:lpstr>10.6.2 逻辑炸弹</vt:lpstr>
      <vt:lpstr>10.6.2 逻辑炸弹</vt:lpstr>
      <vt:lpstr>10.6.2 逻辑炸弹</vt:lpstr>
      <vt:lpstr>10.6.2 逻辑炸弹</vt:lpstr>
      <vt:lpstr>10.6.2 逻辑炸弹</vt:lpstr>
      <vt:lpstr>本章内容</vt:lpstr>
      <vt:lpstr>10.7 载荷-攻击代理-僵尸病毒与机器人</vt:lpstr>
      <vt:lpstr>10.7.1 机器人的用途</vt:lpstr>
      <vt:lpstr>10.7.1 机器人的用途</vt:lpstr>
      <vt:lpstr>10.7.2 远程控制设备</vt:lpstr>
      <vt:lpstr>10.7.2 远程控制设备</vt:lpstr>
      <vt:lpstr>10.7.2 远程控制设备</vt:lpstr>
      <vt:lpstr>10.7.2 远程控制设备</vt:lpstr>
      <vt:lpstr>本章内容</vt:lpstr>
      <vt:lpstr>10.8 载荷-信息窃取-键盘监测器、网络钓鱼与间谍软件</vt:lpstr>
      <vt:lpstr>10.8.1 证书窃取、键盘监测器和间谍软件</vt:lpstr>
      <vt:lpstr>10.8.1 证书窃取、键盘监测器和间谍软件</vt:lpstr>
      <vt:lpstr>10.8.1 证书窃取、键盘监测器和间谍软件</vt:lpstr>
      <vt:lpstr>10.8.1 证书窃取、键盘监测器和间谍软件</vt:lpstr>
      <vt:lpstr>10.8.1 证书窃取、键盘监测器和间谍软件</vt:lpstr>
      <vt:lpstr>10.8.1 证书窃取、键盘监测器和间谍软件</vt:lpstr>
      <vt:lpstr>10.8.1 证书窃取、键盘监测器和间谍软件</vt:lpstr>
      <vt:lpstr>10.8.1 证书窃取、键盘监测器和间谍软件</vt:lpstr>
      <vt:lpstr>10.8.2 网络钓鱼和身份窃取</vt:lpstr>
      <vt:lpstr>10.8.2 网络钓鱼和身份窃取</vt:lpstr>
      <vt:lpstr>10.8.2 网络钓鱼和身份窃取</vt:lpstr>
      <vt:lpstr>10.8.2 网络钓鱼和身份窃取</vt:lpstr>
      <vt:lpstr>10.8.2 网络钓鱼和身份窃取</vt:lpstr>
      <vt:lpstr>10.8.2 网络钓鱼和身份窃取</vt:lpstr>
      <vt:lpstr>10.8.2 网络钓鱼和身份窃取</vt:lpstr>
      <vt:lpstr>10.8.3 侦察和间谍</vt:lpstr>
      <vt:lpstr>10.8.3 侦察和间谍</vt:lpstr>
      <vt:lpstr>10.8.3 侦察和间谍</vt:lpstr>
      <vt:lpstr>蜜罐</vt:lpstr>
      <vt:lpstr>10.8.3 侦察和间谍</vt:lpstr>
      <vt:lpstr>10.8.3 侦察和间谍</vt:lpstr>
      <vt:lpstr>10.8.3 侦察和间谍</vt:lpstr>
      <vt:lpstr>10.8.3 侦察和间谍</vt:lpstr>
      <vt:lpstr>本章内容</vt:lpstr>
      <vt:lpstr>10.9 载荷-隐身-后门与隐匿程序</vt:lpstr>
      <vt:lpstr>10.9.1 后门</vt:lpstr>
      <vt:lpstr>10.9.1 后门</vt:lpstr>
      <vt:lpstr>10.9.2 隐匿程序</vt:lpstr>
      <vt:lpstr>本章内容</vt:lpstr>
      <vt:lpstr>10.10.1 恶意软件防护方法</vt:lpstr>
      <vt:lpstr>10.10.1 恶意软件防护方法</vt:lpstr>
      <vt:lpstr>10.10.1 恶意软件防护方法</vt:lpstr>
      <vt:lpstr>10.10.2 基于主机的扫描器</vt:lpstr>
      <vt:lpstr>10.10.2 基于主机的扫描器</vt:lpstr>
      <vt:lpstr>10.10.2 基于主机的扫描器</vt:lpstr>
      <vt:lpstr>10.10.2 基于主机的扫描器</vt:lpstr>
      <vt:lpstr>10.10.2 基于主机的扫描器</vt:lpstr>
      <vt:lpstr>10.10.2 基于主机的扫描器</vt:lpstr>
      <vt:lpstr>10.10.3 边界扫描方法</vt:lpstr>
      <vt:lpstr>10.10.3 边界扫描方法</vt:lpstr>
      <vt:lpstr>10.10.3 边界扫描方法</vt:lpstr>
      <vt:lpstr>10.10.3 边界扫描方法</vt:lpstr>
      <vt:lpstr>10.10.3 边界扫描方法</vt:lpstr>
      <vt:lpstr>10.10.4 分布式情报搜集方法</vt:lpstr>
      <vt:lpstr>10.10.4 分布式情报搜集方法</vt:lpstr>
      <vt:lpstr>入侵检测</vt:lpstr>
      <vt:lpstr>入侵检测</vt:lpstr>
      <vt:lpstr>入侵检测</vt:lpstr>
      <vt:lpstr>入侵检测 – 实例</vt:lpstr>
      <vt:lpstr>入侵检测</vt:lpstr>
      <vt:lpstr>沙盒与隔离</vt:lpstr>
      <vt:lpstr>沙盒与隔离</vt:lpstr>
      <vt:lpstr>本章内容</vt:lpstr>
      <vt:lpstr>10.11 分布式拒绝服务攻击</vt:lpstr>
      <vt:lpstr>10.11.1 DDoS 攻击描述</vt:lpstr>
      <vt:lpstr>TCP三次握手协议</vt:lpstr>
      <vt:lpstr>SYN Floods</vt:lpstr>
      <vt:lpstr>10.11.1 DDoS 攻击描述</vt:lpstr>
      <vt:lpstr>Dos攻击的关键</vt:lpstr>
      <vt:lpstr>SYN Cookies</vt:lpstr>
      <vt:lpstr>10.11.1 DDoS 攻击描述</vt:lpstr>
      <vt:lpstr>10.11.1 DDoS 攻击描述</vt:lpstr>
      <vt:lpstr>10.11.1 DDoS 攻击描述</vt:lpstr>
      <vt:lpstr>10.11.1 DDoS 攻击描述</vt:lpstr>
      <vt:lpstr>10.11.1 DDoS 攻击描述</vt:lpstr>
      <vt:lpstr>放大攻击</vt:lpstr>
      <vt:lpstr>放大攻击实例</vt:lpstr>
      <vt:lpstr>对美国DNS服务商Dyn发起的DDos</vt:lpstr>
      <vt:lpstr>MAC Flooding</vt:lpstr>
      <vt:lpstr>10.11.2 构造攻击网络</vt:lpstr>
      <vt:lpstr>10.11.2 构造攻击网络</vt:lpstr>
      <vt:lpstr>10.11.2 构造攻击网络</vt:lpstr>
      <vt:lpstr>延伸阅读 - 物联网设备作为僵尸机器</vt:lpstr>
      <vt:lpstr>Mirai僵尸网络</vt:lpstr>
      <vt:lpstr>延伸阅读 – Mirai 成功所在</vt:lpstr>
      <vt:lpstr>10.11.3 DDoS 防护措施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chunwu yu</cp:lastModifiedBy>
  <cp:revision>523</cp:revision>
  <dcterms:created xsi:type="dcterms:W3CDTF">2021-01-06T05:35:51Z</dcterms:created>
  <dcterms:modified xsi:type="dcterms:W3CDTF">2026-02-26T13:34:12Z</dcterms:modified>
</cp:coreProperties>
</file>