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8" r:id="rId5"/>
    <p:sldId id="259" r:id="rId6"/>
    <p:sldId id="260" r:id="rId7"/>
    <p:sldId id="271" r:id="rId8"/>
    <p:sldId id="270" r:id="rId9"/>
    <p:sldId id="269" r:id="rId10"/>
    <p:sldId id="273" r:id="rId11"/>
    <p:sldId id="294" r:id="rId12"/>
    <p:sldId id="274" r:id="rId13"/>
    <p:sldId id="275" r:id="rId14"/>
    <p:sldId id="276" r:id="rId15"/>
    <p:sldId id="277" r:id="rId16"/>
    <p:sldId id="278" r:id="rId17"/>
    <p:sldId id="272" r:id="rId18"/>
    <p:sldId id="261" r:id="rId19"/>
    <p:sldId id="280" r:id="rId20"/>
    <p:sldId id="281" r:id="rId21"/>
    <p:sldId id="282" r:id="rId22"/>
    <p:sldId id="283" r:id="rId23"/>
    <p:sldId id="284" r:id="rId24"/>
    <p:sldId id="262" r:id="rId25"/>
    <p:sldId id="285" r:id="rId26"/>
    <p:sldId id="286" r:id="rId27"/>
    <p:sldId id="263" r:id="rId28"/>
    <p:sldId id="292" r:id="rId29"/>
    <p:sldId id="296" r:id="rId30"/>
    <p:sldId id="287" r:id="rId31"/>
    <p:sldId id="288" r:id="rId32"/>
    <p:sldId id="289" r:id="rId33"/>
    <p:sldId id="290" r:id="rId34"/>
    <p:sldId id="291" r:id="rId35"/>
    <p:sldId id="293" r:id="rId36"/>
    <p:sldId id="295" r:id="rId37"/>
    <p:sldId id="300" r:id="rId38"/>
    <p:sldId id="299" r:id="rId39"/>
    <p:sldId id="297" r:id="rId40"/>
    <p:sldId id="298" r:id="rId41"/>
    <p:sldId id="301" r:id="rId42"/>
    <p:sldId id="264" r:id="rId43"/>
    <p:sldId id="316" r:id="rId44"/>
    <p:sldId id="318" r:id="rId45"/>
    <p:sldId id="303" r:id="rId46"/>
    <p:sldId id="304" r:id="rId47"/>
    <p:sldId id="305" r:id="rId48"/>
    <p:sldId id="306" r:id="rId49"/>
    <p:sldId id="307" r:id="rId50"/>
    <p:sldId id="308" r:id="rId51"/>
    <p:sldId id="309" r:id="rId52"/>
    <p:sldId id="310" r:id="rId53"/>
    <p:sldId id="312" r:id="rId54"/>
    <p:sldId id="313" r:id="rId55"/>
    <p:sldId id="317" r:id="rId56"/>
    <p:sldId id="314" r:id="rId57"/>
    <p:sldId id="315" r:id="rId58"/>
    <p:sldId id="265" r:id="rId59"/>
    <p:sldId id="319" r:id="rId60"/>
    <p:sldId id="324" r:id="rId61"/>
    <p:sldId id="322" r:id="rId62"/>
    <p:sldId id="334" r:id="rId63"/>
    <p:sldId id="323" r:id="rId64"/>
    <p:sldId id="329" r:id="rId65"/>
    <p:sldId id="330" r:id="rId66"/>
    <p:sldId id="333" r:id="rId67"/>
    <p:sldId id="331" r:id="rId68"/>
    <p:sldId id="325" r:id="rId69"/>
    <p:sldId id="326" r:id="rId70"/>
    <p:sldId id="327" r:id="rId71"/>
    <p:sldId id="328" r:id="rId72"/>
    <p:sldId id="266" r:id="rId73"/>
    <p:sldId id="320" r:id="rId74"/>
    <p:sldId id="267" r:id="rId75"/>
    <p:sldId id="339" r:id="rId76"/>
    <p:sldId id="340" r:id="rId77"/>
    <p:sldId id="341" r:id="rId78"/>
    <p:sldId id="338" r:id="rId79"/>
    <p:sldId id="337" r:id="rId80"/>
    <p:sldId id="335" r:id="rId81"/>
    <p:sldId id="336" r:id="rId82"/>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5" d="100"/>
          <a:sy n="85" d="100"/>
        </p:scale>
        <p:origin x="740" y="5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slide" Target="slides/slide8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2026/2/26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2026/2/26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2026/2/26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2026/2/26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30820CF-B880-4189-942D-D702A7CBA730}" type="datetimeFigureOut">
              <a:rPr lang="zh-CN" altLang="en-US" smtClean="0"/>
              <a:t>2026/2/26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30820CF-B880-4189-942D-D702A7CBA730}" type="datetimeFigureOut">
              <a:rPr lang="zh-CN" altLang="en-US" smtClean="0"/>
              <a:t>2026/2/26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2026/2/26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2026/2/26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2026/2/26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2026/2/26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2026/2/26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pic>
        <p:nvPicPr>
          <p:cNvPr id="3" name="Picture 2" descr="D:\Documents\Pictures\ppt背景.jpg"/>
          <p:cNvPicPr>
            <a:picLocks noChangeAspect="1" noChangeArrowheads="1"/>
          </p:cNvPicPr>
          <p:nvPr/>
        </p:nvPicPr>
        <p:blipFill>
          <a:blip r:embed="rId2"/>
          <a:srcRect/>
          <a:stretch>
            <a:fillRect/>
          </a:stretch>
        </p:blipFill>
        <p:spPr bwMode="auto">
          <a:xfrm>
            <a:off x="0" y="0"/>
            <a:ext cx="9144000" cy="6858000"/>
          </a:xfrm>
          <a:prstGeom prst="rect">
            <a:avLst/>
          </a:prstGeom>
          <a:noFill/>
          <a:ln w="9525">
            <a:noFill/>
            <a:miter lim="800000"/>
            <a:headEnd/>
            <a:tailEnd/>
          </a:ln>
        </p:spPr>
      </p:pic>
      <p:sp>
        <p:nvSpPr>
          <p:cNvPr id="2" name="标题 1"/>
          <p:cNvSpPr>
            <a:spLocks noGrp="1"/>
          </p:cNvSpPr>
          <p:nvPr>
            <p:ph type="title"/>
          </p:nvPr>
        </p:nvSpPr>
        <p:spPr>
          <a:xfrm>
            <a:off x="457200" y="-24"/>
            <a:ext cx="8115328" cy="500066"/>
          </a:xfrm>
          <a:noFill/>
          <a:ln>
            <a:noFill/>
          </a:ln>
        </p:spPr>
        <p:txBody>
          <a:bodyPr/>
          <a:lstStyle>
            <a:lvl1pPr>
              <a:defRPr sz="3200" baseline="0">
                <a:latin typeface="宋体" pitchFamily="2" charset="-122"/>
                <a:ea typeface="宋体" pitchFamily="2" charset="-122"/>
              </a:defRPr>
            </a:lvl1pPr>
          </a:lstStyle>
          <a:p>
            <a:r>
              <a:rPr lang="zh-CN" altLang="en-US"/>
              <a:t>单击此处编辑母版标题样式</a:t>
            </a:r>
            <a:endParaRPr lang="zh-CN" altLang="en-US" dirty="0"/>
          </a:p>
        </p:txBody>
      </p:sp>
      <p:sp>
        <p:nvSpPr>
          <p:cNvPr id="4" name="日期占位符 2"/>
          <p:cNvSpPr>
            <a:spLocks noGrp="1"/>
          </p:cNvSpPr>
          <p:nvPr>
            <p:ph type="dt" sz="half" idx="10"/>
          </p:nvPr>
        </p:nvSpPr>
        <p:spPr/>
        <p:txBody>
          <a:bodyPr/>
          <a:lstStyle>
            <a:lvl1pPr>
              <a:defRPr/>
            </a:lvl1pPr>
          </a:lstStyle>
          <a:p>
            <a:pPr>
              <a:defRPr/>
            </a:pPr>
            <a:fld id="{9A059DFF-DE35-4462-A35E-ACE59E9BFD17}" type="datetimeFigureOut">
              <a:rPr lang="zh-CN" altLang="en-US"/>
              <a:pPr>
                <a:defRPr/>
              </a:pPr>
              <a:t>2026/2/26</a:t>
            </a:fld>
            <a:endParaRPr lang="zh-CN" altLang="en-US"/>
          </a:p>
        </p:txBody>
      </p:sp>
      <p:sp>
        <p:nvSpPr>
          <p:cNvPr id="5" name="页脚占位符 3"/>
          <p:cNvSpPr>
            <a:spLocks noGrp="1"/>
          </p:cNvSpPr>
          <p:nvPr>
            <p:ph type="ftr" sz="quarter" idx="11"/>
          </p:nvPr>
        </p:nvSpPr>
        <p:spPr/>
        <p:txBody>
          <a:bodyPr/>
          <a:lstStyle>
            <a:lvl1pPr>
              <a:defRPr dirty="0"/>
            </a:lvl1pPr>
          </a:lstStyle>
          <a:p>
            <a:pPr>
              <a:defRPr/>
            </a:pPr>
            <a:endParaRPr lang="zh-CN" altLang="en-US"/>
          </a:p>
        </p:txBody>
      </p:sp>
      <p:sp>
        <p:nvSpPr>
          <p:cNvPr id="6" name="灯片编号占位符 4"/>
          <p:cNvSpPr>
            <a:spLocks noGrp="1"/>
          </p:cNvSpPr>
          <p:nvPr>
            <p:ph type="sldNum" sz="quarter" idx="12"/>
          </p:nvPr>
        </p:nvSpPr>
        <p:spPr/>
        <p:txBody>
          <a:bodyPr/>
          <a:lstStyle>
            <a:lvl1pPr>
              <a:defRPr/>
            </a:lvl1pPr>
          </a:lstStyle>
          <a:p>
            <a:pPr>
              <a:defRPr/>
            </a:pPr>
            <a:fld id="{58A193D8-58C4-4350-8655-E73DB3D9147C}" type="slidenum">
              <a:rPr lang="zh-CN" altLang="en-US"/>
              <a:pPr>
                <a:defRPr/>
              </a:pPr>
              <a:t>‹#›</a:t>
            </a:fld>
            <a:endParaRPr lang="zh-CN" altLang="en-US"/>
          </a:p>
        </p:txBody>
      </p:sp>
    </p:spTree>
    <p:extLst>
      <p:ext uri="{BB962C8B-B14F-4D97-AF65-F5344CB8AC3E}">
        <p14:creationId xmlns:p14="http://schemas.microsoft.com/office/powerpoint/2010/main" val="38585737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1_Title and Content Slide">
    <p:spTree>
      <p:nvGrpSpPr>
        <p:cNvPr id="1" name=""/>
        <p:cNvGrpSpPr/>
        <p:nvPr/>
      </p:nvGrpSpPr>
      <p:grpSpPr>
        <a:xfrm>
          <a:off x="0" y="0"/>
          <a:ext cx="0" cy="0"/>
          <a:chOff x="0" y="0"/>
          <a:chExt cx="0" cy="0"/>
        </a:xfrm>
      </p:grpSpPr>
      <p:sp>
        <p:nvSpPr>
          <p:cNvPr id="44" name="Rectangle 226"/>
          <p:cNvSpPr>
            <a:spLocks noGrp="1" noChangeArrowheads="1"/>
          </p:cNvSpPr>
          <p:nvPr>
            <p:ph type="title"/>
          </p:nvPr>
        </p:nvSpPr>
        <p:spPr bwMode="auto">
          <a:xfrm>
            <a:off x="224643" y="280717"/>
            <a:ext cx="8747266" cy="654049"/>
          </a:xfrm>
          <a:prstGeom prst="rect">
            <a:avLst/>
          </a:prstGeom>
          <a:noFill/>
          <a:ln w="9525" algn="ctr">
            <a:noFill/>
            <a:miter lim="800000"/>
            <a:headEnd/>
            <a:tailEnd/>
          </a:ln>
          <a:effectLst/>
        </p:spPr>
        <p:txBody>
          <a:bodyPr vert="horz" wrap="square" lIns="91440" tIns="45720" rIns="91440" bIns="45720" numCol="1" anchor="t" anchorCtr="0" compatLnSpc="1">
            <a:prstTxWarp prst="textNoShape">
              <a:avLst/>
            </a:prstTxWarp>
          </a:bodyPr>
          <a:lstStyle>
            <a:lvl1pPr>
              <a:defRPr>
                <a:solidFill>
                  <a:schemeClr val="tx2">
                    <a:lumMod val="75000"/>
                  </a:schemeClr>
                </a:solidFill>
              </a:defRPr>
            </a:lvl1pPr>
          </a:lstStyle>
          <a:p>
            <a:pPr lvl="0"/>
            <a:r>
              <a:rPr lang="en-US" dirty="0"/>
              <a:t>Title Goes Here</a:t>
            </a:r>
          </a:p>
        </p:txBody>
      </p:sp>
      <p:sp>
        <p:nvSpPr>
          <p:cNvPr id="5" name="Text Placeholder 45"/>
          <p:cNvSpPr>
            <a:spLocks noGrp="1"/>
          </p:cNvSpPr>
          <p:nvPr>
            <p:ph type="body" sz="quarter" idx="10"/>
          </p:nvPr>
        </p:nvSpPr>
        <p:spPr>
          <a:xfrm>
            <a:off x="224643" y="1074191"/>
            <a:ext cx="4385458" cy="466724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45"/>
          <p:cNvSpPr>
            <a:spLocks noGrp="1"/>
          </p:cNvSpPr>
          <p:nvPr>
            <p:ph type="body" sz="quarter" idx="11"/>
          </p:nvPr>
        </p:nvSpPr>
        <p:spPr>
          <a:xfrm>
            <a:off x="4586451" y="1074191"/>
            <a:ext cx="4385458" cy="466724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668501960"/>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t>2026/2/26</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baike.so.com/doc/6624648-6838445.html" TargetMode="External"/><Relationship Id="rId2" Type="http://schemas.openxmlformats.org/officeDocument/2006/relationships/hyperlink" Target="https://baike.so.com/doc/3840102-4032232.html"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密码标准第二讲</a:t>
            </a:r>
          </a:p>
        </p:txBody>
      </p:sp>
      <p:sp>
        <p:nvSpPr>
          <p:cNvPr id="3" name="副标题 2"/>
          <p:cNvSpPr>
            <a:spLocks noGrp="1"/>
          </p:cNvSpPr>
          <p:nvPr>
            <p:ph type="subTitle" idx="1"/>
          </p:nvPr>
        </p:nvSpPr>
        <p:spPr/>
        <p:txBody>
          <a:bodyPr/>
          <a:lstStyle/>
          <a:p>
            <a:r>
              <a:rPr lang="zh-CN" altLang="en-US" dirty="0"/>
              <a:t>余纯武</a:t>
            </a:r>
          </a:p>
        </p:txBody>
      </p:sp>
    </p:spTree>
    <p:extLst>
      <p:ext uri="{BB962C8B-B14F-4D97-AF65-F5344CB8AC3E}">
        <p14:creationId xmlns:p14="http://schemas.microsoft.com/office/powerpoint/2010/main" val="21266363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标准的分类</a:t>
            </a:r>
          </a:p>
        </p:txBody>
      </p:sp>
      <p:sp>
        <p:nvSpPr>
          <p:cNvPr id="3" name="内容占位符 2"/>
          <p:cNvSpPr>
            <a:spLocks noGrp="1"/>
          </p:cNvSpPr>
          <p:nvPr>
            <p:ph idx="1"/>
          </p:nvPr>
        </p:nvSpPr>
        <p:spPr/>
        <p:txBody>
          <a:bodyPr>
            <a:normAutofit fontScale="92500" lnSpcReduction="20000"/>
          </a:bodyPr>
          <a:lstStyle/>
          <a:p>
            <a:pPr marL="0" indent="0">
              <a:buNone/>
            </a:pPr>
            <a:r>
              <a:rPr lang="en-US" altLang="zh-CN" dirty="0"/>
              <a:t>1 </a:t>
            </a:r>
            <a:r>
              <a:rPr lang="zh-CN" altLang="zh-CN" dirty="0"/>
              <a:t>国际标准化</a:t>
            </a:r>
            <a:r>
              <a:rPr lang="en-US" altLang="zh-CN" dirty="0"/>
              <a:t>组织</a:t>
            </a:r>
            <a:r>
              <a:rPr lang="zh-CN" altLang="zh-CN" dirty="0"/>
              <a:t>（</a:t>
            </a:r>
            <a:r>
              <a:rPr lang="en-US" altLang="zh-CN" dirty="0"/>
              <a:t>INTERNATIONAL ORGANIGATION FOR STANDRDSIGATION</a:t>
            </a:r>
            <a:r>
              <a:rPr lang="zh-CN" altLang="zh-CN" dirty="0"/>
              <a:t>，简称</a:t>
            </a:r>
            <a:r>
              <a:rPr lang="en-US" altLang="zh-CN" dirty="0"/>
              <a:t>ISO</a:t>
            </a:r>
            <a:r>
              <a:rPr lang="zh-CN" altLang="zh-CN" dirty="0"/>
              <a:t>）</a:t>
            </a:r>
            <a:r>
              <a:rPr lang="zh-CN" altLang="en-US" dirty="0"/>
              <a:t>在国际上欧盟已成功地将它的技术和规范通过它的标准和欧盟国家的国际标准化组织</a:t>
            </a:r>
            <a:r>
              <a:rPr lang="en-US" altLang="zh-CN" dirty="0"/>
              <a:t>ISO</a:t>
            </a:r>
            <a:r>
              <a:rPr lang="zh-CN" altLang="en-US" dirty="0"/>
              <a:t>、</a:t>
            </a:r>
            <a:r>
              <a:rPr lang="en-US" altLang="zh-CN" dirty="0"/>
              <a:t>IEC</a:t>
            </a:r>
            <a:r>
              <a:rPr lang="zh-CN" altLang="en-US" dirty="0"/>
              <a:t>和</a:t>
            </a:r>
            <a:r>
              <a:rPr lang="en-US" altLang="zh-CN" dirty="0"/>
              <a:t>ITU</a:t>
            </a:r>
            <a:r>
              <a:rPr lang="zh-CN" altLang="en-US" dirty="0"/>
              <a:t>中的工作推向世界各地。</a:t>
            </a:r>
          </a:p>
          <a:p>
            <a:pPr marL="0" indent="0">
              <a:buNone/>
            </a:pPr>
            <a:endParaRPr lang="zh-CN" altLang="zh-CN" dirty="0"/>
          </a:p>
          <a:p>
            <a:pPr marL="0" indent="0">
              <a:buNone/>
            </a:pPr>
            <a:r>
              <a:rPr lang="en-US" altLang="zh-CN" dirty="0"/>
              <a:t>2 </a:t>
            </a:r>
            <a:r>
              <a:rPr lang="zh-CN" altLang="zh-CN" dirty="0"/>
              <a:t>区域标准化组织如欧洲标准化委员会（</a:t>
            </a:r>
            <a:r>
              <a:rPr lang="en-US" altLang="zh-CN" dirty="0"/>
              <a:t>CEN</a:t>
            </a:r>
            <a:r>
              <a:rPr lang="zh-CN" altLang="zh-CN" dirty="0"/>
              <a:t>）、欧洲电工标准化委员会（</a:t>
            </a:r>
            <a:r>
              <a:rPr lang="en-US" altLang="zh-CN" dirty="0"/>
              <a:t>CENELEC</a:t>
            </a:r>
            <a:r>
              <a:rPr lang="zh-CN" altLang="zh-CN" dirty="0"/>
              <a:t>）、欧洲电信标准学会（</a:t>
            </a:r>
            <a:r>
              <a:rPr lang="en-US" altLang="zh-CN" dirty="0"/>
              <a:t>ETSI</a:t>
            </a:r>
            <a:r>
              <a:rPr lang="zh-CN" altLang="zh-CN" dirty="0"/>
              <a:t>）、太平洋地区标准大会（</a:t>
            </a:r>
            <a:r>
              <a:rPr lang="en-US" altLang="zh-CN" dirty="0"/>
              <a:t>PASC</a:t>
            </a:r>
            <a:r>
              <a:rPr lang="zh-CN" altLang="zh-CN" dirty="0"/>
              <a:t>）、泛美技术标准委员会（</a:t>
            </a:r>
            <a:r>
              <a:rPr lang="en-US" altLang="zh-CN" dirty="0"/>
              <a:t>COPANT</a:t>
            </a:r>
            <a:r>
              <a:rPr lang="zh-CN" altLang="zh-CN" dirty="0"/>
              <a:t>）、非洲地区标准化组织（</a:t>
            </a:r>
            <a:r>
              <a:rPr lang="en-US" altLang="zh-CN" dirty="0"/>
              <a:t>ARSO</a:t>
            </a:r>
            <a:r>
              <a:rPr lang="zh-CN" altLang="zh-CN" dirty="0"/>
              <a:t>）等。</a:t>
            </a:r>
          </a:p>
          <a:p>
            <a:pPr marL="0" indent="0">
              <a:buNone/>
            </a:pPr>
            <a:endParaRPr lang="zh-CN" altLang="en-US" dirty="0"/>
          </a:p>
        </p:txBody>
      </p:sp>
    </p:spTree>
    <p:extLst>
      <p:ext uri="{BB962C8B-B14F-4D97-AF65-F5344CB8AC3E}">
        <p14:creationId xmlns:p14="http://schemas.microsoft.com/office/powerpoint/2010/main" val="24068936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620688"/>
            <a:ext cx="8229600" cy="5505475"/>
          </a:xfrm>
        </p:spPr>
        <p:txBody>
          <a:bodyPr>
            <a:normAutofit fontScale="85000" lnSpcReduction="20000"/>
          </a:bodyPr>
          <a:lstStyle/>
          <a:p>
            <a:pPr marL="0" indent="0">
              <a:buNone/>
            </a:pPr>
            <a:r>
              <a:rPr lang="en-US" altLang="zh-CN" dirty="0"/>
              <a:t>3 </a:t>
            </a:r>
            <a:r>
              <a:rPr lang="zh-CN" altLang="zh-CN" dirty="0"/>
              <a:t>行业标准化组织如美国电气电子工程师学会（</a:t>
            </a:r>
            <a:r>
              <a:rPr lang="en-US" altLang="zh-CN" dirty="0"/>
              <a:t>IEEE</a:t>
            </a:r>
            <a:r>
              <a:rPr lang="zh-CN" altLang="zh-CN" dirty="0"/>
              <a:t>），国际电工技术委员会（</a:t>
            </a:r>
            <a:r>
              <a:rPr lang="en-US" altLang="zh-CN" dirty="0"/>
              <a:t>International </a:t>
            </a:r>
            <a:r>
              <a:rPr lang="en-US" altLang="zh-CN" dirty="0" err="1"/>
              <a:t>Electrotechnical</a:t>
            </a:r>
            <a:r>
              <a:rPr lang="en-US" altLang="zh-CN" dirty="0"/>
              <a:t> Commission</a:t>
            </a:r>
            <a:r>
              <a:rPr lang="zh-CN" altLang="zh-CN" dirty="0"/>
              <a:t>，简称</a:t>
            </a:r>
            <a:r>
              <a:rPr lang="en-US" altLang="zh-CN" dirty="0"/>
              <a:t>IEC</a:t>
            </a:r>
            <a:r>
              <a:rPr lang="zh-CN" altLang="zh-CN" dirty="0"/>
              <a:t>）、联邦信息处理标准出版物系列（</a:t>
            </a:r>
            <a:r>
              <a:rPr lang="en-US" altLang="zh-CN" dirty="0"/>
              <a:t>Federal Information Processing Standards Publication Series</a:t>
            </a:r>
            <a:r>
              <a:rPr lang="zh-CN" altLang="zh-CN" dirty="0"/>
              <a:t>，简称</a:t>
            </a:r>
            <a:r>
              <a:rPr lang="en-US" altLang="zh-CN" dirty="0"/>
              <a:t>FIPS</a:t>
            </a:r>
            <a:r>
              <a:rPr lang="zh-CN" altLang="zh-CN" dirty="0"/>
              <a:t>）</a:t>
            </a:r>
            <a:r>
              <a:rPr lang="zh-CN" altLang="en-US" dirty="0"/>
              <a:t>、德国联邦信息安全局</a:t>
            </a:r>
            <a:r>
              <a:rPr lang="de-DE" altLang="zh-CN" dirty="0"/>
              <a:t>Bundesamt für Sicherheit in der Informationstechnik (BSI) </a:t>
            </a:r>
            <a:r>
              <a:rPr lang="zh-CN" altLang="en-US" dirty="0"/>
              <a:t>、国际电信联盟（</a:t>
            </a:r>
            <a:r>
              <a:rPr lang="en-US" altLang="zh-CN" dirty="0"/>
              <a:t>ITU</a:t>
            </a:r>
            <a:r>
              <a:rPr lang="zh-CN" altLang="en-US" dirty="0"/>
              <a:t>）</a:t>
            </a:r>
            <a:r>
              <a:rPr lang="zh-CN" altLang="zh-CN" dirty="0"/>
              <a:t>以及我国国防科学技术工业委员会（</a:t>
            </a:r>
            <a:r>
              <a:rPr lang="en-US" altLang="zh-CN" dirty="0"/>
              <a:t>GJB</a:t>
            </a:r>
            <a:r>
              <a:rPr lang="zh-CN" altLang="zh-CN" dirty="0"/>
              <a:t>）、密码行业标准（</a:t>
            </a:r>
            <a:r>
              <a:rPr lang="en-US" altLang="zh-CN" dirty="0"/>
              <a:t>GM/T</a:t>
            </a:r>
            <a:r>
              <a:rPr lang="zh-CN" altLang="zh-CN" dirty="0"/>
              <a:t>）。</a:t>
            </a:r>
          </a:p>
          <a:p>
            <a:pPr marL="0" indent="0">
              <a:buNone/>
            </a:pPr>
            <a:r>
              <a:rPr lang="en-US" altLang="zh-CN" dirty="0"/>
              <a:t>4 </a:t>
            </a:r>
            <a:r>
              <a:rPr lang="zh-CN" altLang="zh-CN" dirty="0"/>
              <a:t>国家标准化组织如美国国家标准学会（</a:t>
            </a:r>
            <a:r>
              <a:rPr lang="en-US" altLang="zh-CN" dirty="0"/>
              <a:t>American National Standards Institute</a:t>
            </a:r>
            <a:r>
              <a:rPr lang="zh-CN" altLang="zh-CN" dirty="0"/>
              <a:t>，简称</a:t>
            </a:r>
            <a:r>
              <a:rPr lang="en-US" altLang="zh-CN" dirty="0"/>
              <a:t>ANSI</a:t>
            </a:r>
            <a:r>
              <a:rPr lang="zh-CN" altLang="zh-CN" dirty="0"/>
              <a:t>）、英国标准学会（</a:t>
            </a:r>
            <a:r>
              <a:rPr lang="en-US" altLang="zh-CN" dirty="0"/>
              <a:t>British Standards Institution</a:t>
            </a:r>
            <a:r>
              <a:rPr lang="zh-CN" altLang="zh-CN" dirty="0"/>
              <a:t>，简称</a:t>
            </a:r>
            <a:r>
              <a:rPr lang="en-US" altLang="zh-CN" dirty="0"/>
              <a:t>BSI</a:t>
            </a:r>
            <a:r>
              <a:rPr lang="zh-CN" altLang="zh-CN" dirty="0"/>
              <a:t>）、</a:t>
            </a:r>
            <a:r>
              <a:rPr lang="en-US" altLang="zh-CN" dirty="0"/>
              <a:t>德国</a:t>
            </a:r>
            <a:r>
              <a:rPr lang="zh-CN" altLang="zh-CN" dirty="0"/>
              <a:t>标准化学会（</a:t>
            </a:r>
            <a:r>
              <a:rPr lang="en-US" altLang="zh-CN" dirty="0"/>
              <a:t>German Institute for Standardization</a:t>
            </a:r>
            <a:r>
              <a:rPr lang="zh-CN" altLang="zh-CN" dirty="0"/>
              <a:t>，简称</a:t>
            </a:r>
            <a:r>
              <a:rPr lang="en-US" altLang="zh-CN" dirty="0"/>
              <a:t>DIN</a:t>
            </a:r>
            <a:r>
              <a:rPr lang="zh-CN" altLang="zh-CN" dirty="0"/>
              <a:t>（德文））、</a:t>
            </a:r>
            <a:r>
              <a:rPr lang="zh-CN" altLang="en-US" dirty="0"/>
              <a:t>法国</a:t>
            </a:r>
            <a:r>
              <a:rPr lang="zh-CN" altLang="zh-CN" dirty="0"/>
              <a:t>标准化学会（</a:t>
            </a:r>
            <a:r>
              <a:rPr lang="en-US" altLang="zh-CN" dirty="0"/>
              <a:t>Association </a:t>
            </a:r>
            <a:r>
              <a:rPr lang="en-US" altLang="zh-CN" dirty="0" err="1"/>
              <a:t>Francaise</a:t>
            </a:r>
            <a:r>
              <a:rPr lang="en-US" altLang="zh-CN" dirty="0"/>
              <a:t> de </a:t>
            </a:r>
            <a:r>
              <a:rPr lang="en-US" altLang="zh-CN" dirty="0" err="1"/>
              <a:t>Normalisation</a:t>
            </a:r>
            <a:r>
              <a:rPr lang="zh-CN" altLang="zh-CN" dirty="0"/>
              <a:t>，简称</a:t>
            </a:r>
            <a:r>
              <a:rPr lang="en-US" altLang="zh-CN" dirty="0"/>
              <a:t>AFNOR</a:t>
            </a:r>
            <a:r>
              <a:rPr lang="zh-CN" altLang="zh-CN" dirty="0"/>
              <a:t>）、</a:t>
            </a:r>
            <a:r>
              <a:rPr lang="en-US" altLang="zh-CN" dirty="0" err="1"/>
              <a:t>日本工业标准调查会</a:t>
            </a:r>
            <a:r>
              <a:rPr lang="zh-CN" altLang="zh-CN" dirty="0"/>
              <a:t>（</a:t>
            </a:r>
            <a:r>
              <a:rPr lang="en-US" altLang="zh-CN" dirty="0"/>
              <a:t>Japanese Industrial Standards Committee</a:t>
            </a:r>
            <a:r>
              <a:rPr lang="zh-CN" altLang="zh-CN" dirty="0"/>
              <a:t>，简称</a:t>
            </a:r>
            <a:r>
              <a:rPr lang="en-US" altLang="zh-CN" dirty="0"/>
              <a:t>JISC</a:t>
            </a:r>
            <a:r>
              <a:rPr lang="zh-CN" altLang="zh-CN" dirty="0"/>
              <a:t>）、我国国家标准（</a:t>
            </a:r>
            <a:r>
              <a:rPr lang="en-US" altLang="zh-CN" dirty="0"/>
              <a:t>GB</a:t>
            </a:r>
            <a:r>
              <a:rPr lang="zh-CN" altLang="zh-CN" dirty="0"/>
              <a:t>，</a:t>
            </a:r>
            <a:r>
              <a:rPr lang="en-US" altLang="zh-CN" dirty="0"/>
              <a:t>GB/T</a:t>
            </a:r>
            <a:r>
              <a:rPr lang="zh-CN" altLang="zh-CN" dirty="0"/>
              <a:t>）</a:t>
            </a:r>
          </a:p>
          <a:p>
            <a:endParaRPr lang="zh-CN" altLang="en-US" dirty="0"/>
          </a:p>
        </p:txBody>
      </p:sp>
    </p:spTree>
    <p:extLst>
      <p:ext uri="{BB962C8B-B14F-4D97-AF65-F5344CB8AC3E}">
        <p14:creationId xmlns:p14="http://schemas.microsoft.com/office/powerpoint/2010/main" val="41359105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ANSI</a:t>
            </a:r>
            <a:r>
              <a:rPr lang="zh-CN" altLang="en-US" dirty="0"/>
              <a:t>和</a:t>
            </a:r>
            <a:r>
              <a:rPr lang="en-US" altLang="zh-CN" dirty="0"/>
              <a:t>NIST</a:t>
            </a:r>
            <a:endParaRPr lang="zh-CN" altLang="en-US" dirty="0"/>
          </a:p>
        </p:txBody>
      </p:sp>
      <p:sp>
        <p:nvSpPr>
          <p:cNvPr id="3" name="内容占位符 2"/>
          <p:cNvSpPr>
            <a:spLocks noGrp="1"/>
          </p:cNvSpPr>
          <p:nvPr>
            <p:ph idx="1"/>
          </p:nvPr>
        </p:nvSpPr>
        <p:spPr/>
        <p:txBody>
          <a:bodyPr>
            <a:normAutofit fontScale="85000" lnSpcReduction="20000"/>
          </a:bodyPr>
          <a:lstStyle/>
          <a:p>
            <a:pPr marL="0" indent="0">
              <a:buNone/>
            </a:pPr>
            <a:r>
              <a:rPr lang="zh-CN" altLang="en-US" dirty="0"/>
              <a:t>美国国家标准学会</a:t>
            </a:r>
            <a:r>
              <a:rPr lang="en-US" altLang="zh-CN" dirty="0"/>
              <a:t>(ANSI)</a:t>
            </a:r>
            <a:r>
              <a:rPr lang="zh-CN" altLang="en-US" dirty="0"/>
              <a:t>是非营利性民间标准制定组织，不隶属于任何政府机构，其主要职责是将私有部门和政府部门以及经认可和未经认可的标准集合在一起，为标准团体制定标准提供应遵循的程序和指南，并批准和发布美国国家标准。</a:t>
            </a:r>
            <a:r>
              <a:rPr lang="en-US" altLang="zh-CN" dirty="0"/>
              <a:t>ANSI</a:t>
            </a:r>
            <a:r>
              <a:rPr lang="zh-CN" altLang="en-US" dirty="0"/>
              <a:t>是自愿性标准组织，负责制定国家标准战略。</a:t>
            </a:r>
            <a:endParaRPr lang="en-US" altLang="zh-CN" dirty="0"/>
          </a:p>
          <a:p>
            <a:pPr marL="0" indent="0">
              <a:buNone/>
            </a:pPr>
            <a:r>
              <a:rPr lang="zh-CN" altLang="en-US" dirty="0"/>
              <a:t>国家标准技术研究院</a:t>
            </a:r>
            <a:r>
              <a:rPr lang="en-US" altLang="zh-CN" dirty="0"/>
              <a:t>(NIST)</a:t>
            </a:r>
            <a:r>
              <a:rPr lang="zh-CN" altLang="en-US" dirty="0"/>
              <a:t> 主要从事研究，确定测量、试验和测定材料性的方法以及标准物质，是美国标准化发展的技术后方，发挥了重要的技术支撑作用，属于政府一方的标准化组织。</a:t>
            </a:r>
            <a:r>
              <a:rPr lang="en-US" altLang="zh-CN" dirty="0"/>
              <a:t> NIST</a:t>
            </a:r>
            <a:r>
              <a:rPr lang="zh-CN" altLang="en-US" dirty="0"/>
              <a:t>信息安全文件已经超过</a:t>
            </a:r>
            <a:r>
              <a:rPr lang="en-US" altLang="zh-CN" dirty="0"/>
              <a:t>500</a:t>
            </a:r>
            <a:r>
              <a:rPr lang="zh-CN" altLang="en-US" dirty="0"/>
              <a:t>份，包括联邦信息处理标准（</a:t>
            </a:r>
            <a:r>
              <a:rPr lang="en-US" altLang="zh-CN" dirty="0"/>
              <a:t>FIPS</a:t>
            </a:r>
            <a:r>
              <a:rPr lang="zh-CN" altLang="en-US" dirty="0"/>
              <a:t>）、特别出版物（</a:t>
            </a:r>
            <a:r>
              <a:rPr lang="en-US" altLang="zh-CN" dirty="0"/>
              <a:t>SP</a:t>
            </a:r>
            <a:r>
              <a:rPr lang="zh-CN" altLang="en-US" dirty="0"/>
              <a:t>）系列、</a:t>
            </a:r>
            <a:r>
              <a:rPr lang="en-US" altLang="zh-CN" dirty="0"/>
              <a:t>NIST</a:t>
            </a:r>
            <a:r>
              <a:rPr lang="zh-CN" altLang="en-US" dirty="0"/>
              <a:t>内部</a:t>
            </a:r>
            <a:r>
              <a:rPr lang="en-US" altLang="zh-CN" dirty="0"/>
              <a:t>/</a:t>
            </a:r>
            <a:r>
              <a:rPr lang="zh-CN" altLang="en-US" dirty="0"/>
              <a:t>机构间报告（</a:t>
            </a:r>
            <a:r>
              <a:rPr lang="en-US" altLang="zh-CN" dirty="0"/>
              <a:t>NISTIR</a:t>
            </a:r>
            <a:r>
              <a:rPr lang="zh-CN" altLang="en-US" dirty="0"/>
              <a:t>）以及信息技术实验室（</a:t>
            </a:r>
            <a:r>
              <a:rPr lang="en-US" altLang="zh-CN" dirty="0"/>
              <a:t>ITL</a:t>
            </a:r>
            <a:r>
              <a:rPr lang="zh-CN" altLang="en-US" dirty="0"/>
              <a:t>）计算机安全公告等</a:t>
            </a:r>
          </a:p>
        </p:txBody>
      </p:sp>
    </p:spTree>
    <p:extLst>
      <p:ext uri="{BB962C8B-B14F-4D97-AF65-F5344CB8AC3E}">
        <p14:creationId xmlns:p14="http://schemas.microsoft.com/office/powerpoint/2010/main" val="37050871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主要内容</a:t>
            </a:r>
          </a:p>
        </p:txBody>
      </p:sp>
      <p:sp>
        <p:nvSpPr>
          <p:cNvPr id="3" name="内容占位符 2"/>
          <p:cNvSpPr>
            <a:spLocks noGrp="1"/>
          </p:cNvSpPr>
          <p:nvPr>
            <p:ph idx="1"/>
          </p:nvPr>
        </p:nvSpPr>
        <p:spPr/>
        <p:txBody>
          <a:bodyPr>
            <a:normAutofit fontScale="92500" lnSpcReduction="20000"/>
          </a:bodyPr>
          <a:lstStyle/>
          <a:p>
            <a:pPr marL="0" indent="0">
              <a:buNone/>
            </a:pPr>
            <a:r>
              <a:rPr lang="en-US" altLang="zh-CN" dirty="0"/>
              <a:t>1 ANSI</a:t>
            </a:r>
          </a:p>
          <a:p>
            <a:pPr marL="0" indent="0">
              <a:buNone/>
            </a:pPr>
            <a:r>
              <a:rPr lang="en-US" altLang="zh-CN" dirty="0"/>
              <a:t>2 BSI</a:t>
            </a:r>
          </a:p>
          <a:p>
            <a:pPr marL="0" indent="0">
              <a:buNone/>
            </a:pPr>
            <a:r>
              <a:rPr lang="en-US" altLang="zh-CN" dirty="0"/>
              <a:t>3 ETSI</a:t>
            </a:r>
          </a:p>
          <a:p>
            <a:pPr marL="0" indent="0">
              <a:buNone/>
            </a:pPr>
            <a:r>
              <a:rPr lang="en-US" altLang="zh-CN" dirty="0"/>
              <a:t>4 FIPS</a:t>
            </a:r>
          </a:p>
          <a:p>
            <a:pPr marL="0" indent="0">
              <a:buNone/>
            </a:pPr>
            <a:r>
              <a:rPr lang="en-US" altLang="zh-CN" dirty="0"/>
              <a:t>5 GB</a:t>
            </a:r>
            <a:r>
              <a:rPr lang="zh-CN" altLang="en-US" dirty="0"/>
              <a:t>（</a:t>
            </a:r>
            <a:r>
              <a:rPr lang="en-US" altLang="zh-CN" dirty="0"/>
              <a:t>GM</a:t>
            </a:r>
            <a:r>
              <a:rPr lang="zh-CN" altLang="en-US" dirty="0"/>
              <a:t>）</a:t>
            </a:r>
            <a:endParaRPr lang="en-US" altLang="zh-CN" dirty="0"/>
          </a:p>
          <a:p>
            <a:pPr marL="0" indent="0">
              <a:buNone/>
            </a:pPr>
            <a:r>
              <a:rPr lang="en-US" altLang="zh-CN" dirty="0"/>
              <a:t>6 ISO/IEC</a:t>
            </a:r>
          </a:p>
          <a:p>
            <a:pPr marL="0" indent="0">
              <a:buNone/>
            </a:pPr>
            <a:r>
              <a:rPr lang="en-US" altLang="zh-CN" dirty="0"/>
              <a:t>7 ITU</a:t>
            </a:r>
          </a:p>
          <a:p>
            <a:pPr marL="0" indent="0">
              <a:buNone/>
            </a:pPr>
            <a:r>
              <a:rPr lang="en-US" altLang="zh-CN" dirty="0"/>
              <a:t>8 NIST</a:t>
            </a:r>
          </a:p>
          <a:p>
            <a:pPr marL="0" indent="0">
              <a:buNone/>
            </a:pPr>
            <a:r>
              <a:rPr lang="en-US" altLang="zh-CN" dirty="0"/>
              <a:t>9 PKCS#</a:t>
            </a:r>
          </a:p>
          <a:p>
            <a:pPr marL="0" indent="0">
              <a:buNone/>
            </a:pPr>
            <a:endParaRPr lang="zh-CN" altLang="en-US" dirty="0"/>
          </a:p>
        </p:txBody>
      </p:sp>
    </p:spTree>
    <p:extLst>
      <p:ext uri="{BB962C8B-B14F-4D97-AF65-F5344CB8AC3E}">
        <p14:creationId xmlns:p14="http://schemas.microsoft.com/office/powerpoint/2010/main" val="7366080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marL="0" indent="0"/>
            <a:r>
              <a:rPr lang="en-US" altLang="zh-CN" dirty="0"/>
              <a:t>1 ANSI</a:t>
            </a:r>
            <a:endParaRPr lang="zh-CN" altLang="en-US" dirty="0"/>
          </a:p>
        </p:txBody>
      </p:sp>
      <p:sp>
        <p:nvSpPr>
          <p:cNvPr id="3" name="内容占位符 2"/>
          <p:cNvSpPr>
            <a:spLocks noGrp="1"/>
          </p:cNvSpPr>
          <p:nvPr>
            <p:ph idx="1"/>
          </p:nvPr>
        </p:nvSpPr>
        <p:spPr/>
        <p:txBody>
          <a:bodyPr>
            <a:normAutofit fontScale="85000" lnSpcReduction="10000"/>
          </a:bodyPr>
          <a:lstStyle/>
          <a:p>
            <a:r>
              <a:rPr lang="en-US" altLang="zh-CN" dirty="0"/>
              <a:t>ANSI X9.9-1986, Financial Institution Message Authentication (Wholesale)</a:t>
            </a:r>
            <a:r>
              <a:rPr lang="zh-CN" altLang="en-US" dirty="0"/>
              <a:t>金融机构的报文鉴别</a:t>
            </a:r>
            <a:r>
              <a:rPr lang="en-US" altLang="zh-CN" dirty="0"/>
              <a:t>(</a:t>
            </a:r>
            <a:r>
              <a:rPr lang="zh-CN" altLang="en-US" dirty="0"/>
              <a:t>全部</a:t>
            </a:r>
            <a:r>
              <a:rPr lang="en-US" altLang="zh-CN" dirty="0"/>
              <a:t>)</a:t>
            </a:r>
          </a:p>
          <a:p>
            <a:r>
              <a:rPr lang="en-US" altLang="zh-CN" dirty="0"/>
              <a:t>ANSI X9.17-1985,Financial Institution Key Management (Wholesale)</a:t>
            </a:r>
            <a:r>
              <a:rPr lang="zh-CN" altLang="en-US" dirty="0"/>
              <a:t>金融机构的钥匙管理</a:t>
            </a:r>
            <a:r>
              <a:rPr lang="en-US" altLang="zh-CN" dirty="0"/>
              <a:t>(</a:t>
            </a:r>
            <a:r>
              <a:rPr lang="zh-CN" altLang="en-US" dirty="0"/>
              <a:t>全部</a:t>
            </a:r>
            <a:r>
              <a:rPr lang="en-US" altLang="zh-CN" dirty="0"/>
              <a:t>)</a:t>
            </a:r>
          </a:p>
          <a:p>
            <a:r>
              <a:rPr lang="en-US" altLang="zh-CN" dirty="0"/>
              <a:t>ANSI X9.19-1986, Financial Institution Retail Message Authentication </a:t>
            </a:r>
            <a:r>
              <a:rPr lang="zh-CN" altLang="en-US" dirty="0"/>
              <a:t>金融机构的零散报文鉴别</a:t>
            </a:r>
            <a:endParaRPr lang="en-US" altLang="zh-CN" dirty="0"/>
          </a:p>
          <a:p>
            <a:r>
              <a:rPr lang="en-US" altLang="zh-CN" dirty="0"/>
              <a:t>ANSI X9.31-1998 Digital Signatures Using Reversible Public Key Cryptography for the Financial Services Industry (</a:t>
            </a:r>
            <a:r>
              <a:rPr lang="en-US" altLang="zh-CN" dirty="0" err="1"/>
              <a:t>rDSA</a:t>
            </a:r>
            <a:r>
              <a:rPr lang="en-US" altLang="zh-CN" dirty="0"/>
              <a:t>)</a:t>
            </a:r>
            <a:r>
              <a:rPr lang="zh-CN" altLang="en-US" dirty="0"/>
              <a:t>使用可逆公钥密码的数字签名（金融服务业</a:t>
            </a:r>
            <a:r>
              <a:rPr lang="en-US" altLang="zh-CN" dirty="0" err="1"/>
              <a:t>rDSA</a:t>
            </a:r>
            <a:r>
              <a:rPr lang="zh-CN" altLang="en-US" dirty="0"/>
              <a:t>）</a:t>
            </a:r>
          </a:p>
        </p:txBody>
      </p:sp>
    </p:spTree>
    <p:extLst>
      <p:ext uri="{BB962C8B-B14F-4D97-AF65-F5344CB8AC3E}">
        <p14:creationId xmlns:p14="http://schemas.microsoft.com/office/powerpoint/2010/main" val="41512641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85000" lnSpcReduction="10000"/>
          </a:bodyPr>
          <a:lstStyle/>
          <a:p>
            <a:r>
              <a:rPr lang="en-US" altLang="zh-CN" dirty="0"/>
              <a:t>ANSI X9.52 -1998 Triple Data Encryption Algorithm Modes Of Operation</a:t>
            </a:r>
            <a:r>
              <a:rPr lang="zh-CN" altLang="en-US" dirty="0"/>
              <a:t>（</a:t>
            </a:r>
            <a:r>
              <a:rPr lang="en-US" altLang="zh-CN" dirty="0"/>
              <a:t>American Bankers Association</a:t>
            </a:r>
            <a:r>
              <a:rPr lang="zh-CN" altLang="en-US" dirty="0"/>
              <a:t>）三位数据加密算法</a:t>
            </a:r>
            <a:r>
              <a:rPr lang="en-US" altLang="zh-CN" dirty="0"/>
              <a:t>(TDEA)</a:t>
            </a:r>
            <a:r>
              <a:rPr lang="zh-CN" altLang="en-US" dirty="0"/>
              <a:t>的操作模型</a:t>
            </a:r>
            <a:endParaRPr lang="en-US" altLang="zh-CN" dirty="0"/>
          </a:p>
          <a:p>
            <a:r>
              <a:rPr lang="en-US" altLang="zh-CN" dirty="0"/>
              <a:t>ANSI X9.62 -1998 The Elliptic Curve Digital Signature Algorithm (ECDSA)</a:t>
            </a:r>
            <a:r>
              <a:rPr lang="zh-CN" altLang="en-US" dirty="0"/>
              <a:t>椭圆曲线数字签名算法（金融服务业）</a:t>
            </a:r>
            <a:endParaRPr lang="en-US" altLang="zh-CN" dirty="0"/>
          </a:p>
          <a:p>
            <a:r>
              <a:rPr lang="en-US" altLang="zh-CN" dirty="0"/>
              <a:t>ANSI X9.63 -2001 Key Agreement and Key Transport Using Elliptic Curve Cryptography (Public Key Cryptography for the Financial Services Industry ) </a:t>
            </a:r>
            <a:r>
              <a:rPr lang="zh-CN" altLang="en-US" dirty="0"/>
              <a:t>使用椭圆曲线密码表的钥匙协议和管理（金融服务业）</a:t>
            </a:r>
          </a:p>
          <a:p>
            <a:endParaRPr lang="zh-CN" altLang="en-US" dirty="0"/>
          </a:p>
        </p:txBody>
      </p:sp>
    </p:spTree>
    <p:extLst>
      <p:ext uri="{BB962C8B-B14F-4D97-AF65-F5344CB8AC3E}">
        <p14:creationId xmlns:p14="http://schemas.microsoft.com/office/powerpoint/2010/main" val="30725099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ANSI X9.9 MAC</a:t>
            </a:r>
            <a:r>
              <a:rPr lang="zh-CN" altLang="en-US" dirty="0"/>
              <a:t>算法</a:t>
            </a:r>
          </a:p>
        </p:txBody>
      </p:sp>
      <p:sp>
        <p:nvSpPr>
          <p:cNvPr id="3" name="内容占位符 2"/>
          <p:cNvSpPr>
            <a:spLocks noGrp="1"/>
          </p:cNvSpPr>
          <p:nvPr>
            <p:ph idx="1"/>
          </p:nvPr>
        </p:nvSpPr>
        <p:spPr/>
        <p:txBody>
          <a:bodyPr>
            <a:normAutofit fontScale="92500"/>
          </a:bodyPr>
          <a:lstStyle/>
          <a:p>
            <a:pPr marL="0" indent="0">
              <a:buNone/>
            </a:pPr>
            <a:r>
              <a:rPr lang="zh-CN" altLang="en-US" dirty="0"/>
              <a:t>采用</a:t>
            </a:r>
            <a:r>
              <a:rPr lang="en-US" altLang="zh-CN" dirty="0"/>
              <a:t>DES-CBC</a:t>
            </a:r>
            <a:r>
              <a:rPr lang="zh-CN" altLang="en-US" dirty="0"/>
              <a:t>算法</a:t>
            </a:r>
            <a:endParaRPr lang="en-US" altLang="zh-CN" dirty="0"/>
          </a:p>
          <a:p>
            <a:pPr marL="0" indent="0">
              <a:buNone/>
            </a:pPr>
            <a:r>
              <a:rPr lang="en-US" altLang="zh-CN" dirty="0"/>
              <a:t>1</a:t>
            </a:r>
            <a:r>
              <a:rPr lang="zh-CN" altLang="en-US" dirty="0"/>
              <a:t>）该算法只使用单倍长密钥，也就是</a:t>
            </a:r>
            <a:r>
              <a:rPr lang="en-US" altLang="zh-CN" dirty="0"/>
              <a:t>8</a:t>
            </a:r>
            <a:r>
              <a:rPr lang="zh-CN" altLang="en-US" dirty="0"/>
              <a:t>字节密钥；</a:t>
            </a:r>
          </a:p>
          <a:p>
            <a:pPr marL="0" indent="0">
              <a:buNone/>
            </a:pPr>
            <a:r>
              <a:rPr lang="en-US" altLang="zh-CN" dirty="0"/>
              <a:t>2</a:t>
            </a:r>
            <a:r>
              <a:rPr lang="zh-CN" altLang="en-US" dirty="0"/>
              <a:t>）</a:t>
            </a:r>
            <a:r>
              <a:rPr lang="en-US" altLang="zh-CN" dirty="0"/>
              <a:t>MAC</a:t>
            </a:r>
            <a:r>
              <a:rPr lang="zh-CN" altLang="en-US" dirty="0"/>
              <a:t>数据按</a:t>
            </a:r>
            <a:r>
              <a:rPr lang="en-US" altLang="zh-CN" dirty="0"/>
              <a:t>8</a:t>
            </a:r>
            <a:r>
              <a:rPr lang="zh-CN" altLang="en-US" dirty="0"/>
              <a:t>字节分组，尾部以字节</a:t>
            </a:r>
            <a:r>
              <a:rPr lang="en-US" altLang="zh-CN" dirty="0"/>
              <a:t>00</a:t>
            </a:r>
            <a:r>
              <a:rPr lang="zh-CN" altLang="en-US" dirty="0"/>
              <a:t>补齐；</a:t>
            </a:r>
          </a:p>
          <a:p>
            <a:pPr marL="0" indent="0">
              <a:buNone/>
            </a:pPr>
            <a:r>
              <a:rPr lang="en-US" altLang="zh-CN" dirty="0"/>
              <a:t>3</a:t>
            </a:r>
            <a:r>
              <a:rPr lang="zh-CN" altLang="en-US" dirty="0"/>
              <a:t>）用</a:t>
            </a:r>
            <a:r>
              <a:rPr lang="en-US" altLang="zh-CN" dirty="0"/>
              <a:t>MAC</a:t>
            </a:r>
            <a:r>
              <a:rPr lang="zh-CN" altLang="en-US" dirty="0"/>
              <a:t>密钥加密第一个</a:t>
            </a:r>
            <a:r>
              <a:rPr lang="en-US" altLang="zh-CN" dirty="0"/>
              <a:t>8</a:t>
            </a:r>
            <a:r>
              <a:rPr lang="zh-CN" altLang="en-US" dirty="0"/>
              <a:t>字节分组，加密结果与第二个</a:t>
            </a:r>
            <a:r>
              <a:rPr lang="en-US" altLang="zh-CN" dirty="0"/>
              <a:t>8</a:t>
            </a:r>
            <a:r>
              <a:rPr lang="zh-CN" altLang="en-US" dirty="0"/>
              <a:t>字节分组异或，然后再用</a:t>
            </a:r>
            <a:r>
              <a:rPr lang="en-US" altLang="zh-CN" dirty="0"/>
              <a:t>MAC</a:t>
            </a:r>
            <a:r>
              <a:rPr lang="zh-CN" altLang="en-US" dirty="0"/>
              <a:t>密钥加密，重复该步骤，直至所有分组结束，取最后结果的左半部作为</a:t>
            </a:r>
            <a:r>
              <a:rPr lang="en-US" altLang="zh-CN" dirty="0"/>
              <a:t>MAC</a:t>
            </a:r>
            <a:r>
              <a:rPr lang="zh-CN" altLang="en-US" dirty="0"/>
              <a:t>。</a:t>
            </a:r>
            <a:br>
              <a:rPr lang="zh-CN" altLang="en-US" dirty="0"/>
            </a:br>
            <a:endParaRPr lang="zh-CN" altLang="en-US" dirty="0"/>
          </a:p>
        </p:txBody>
      </p:sp>
    </p:spTree>
    <p:extLst>
      <p:ext uri="{BB962C8B-B14F-4D97-AF65-F5344CB8AC3E}">
        <p14:creationId xmlns:p14="http://schemas.microsoft.com/office/powerpoint/2010/main" val="8098752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ANSI X9.19</a:t>
            </a:r>
            <a:r>
              <a:rPr lang="zh-CN" altLang="en-US" dirty="0"/>
              <a:t>零散报文</a:t>
            </a:r>
            <a:r>
              <a:rPr lang="en-US" altLang="zh-CN" dirty="0"/>
              <a:t>MAC</a:t>
            </a:r>
            <a:r>
              <a:rPr lang="zh-CN" altLang="en-US" dirty="0"/>
              <a:t>算法</a:t>
            </a:r>
          </a:p>
        </p:txBody>
      </p:sp>
      <p:sp>
        <p:nvSpPr>
          <p:cNvPr id="3" name="内容占位符 2"/>
          <p:cNvSpPr>
            <a:spLocks noGrp="1"/>
          </p:cNvSpPr>
          <p:nvPr>
            <p:ph idx="1"/>
          </p:nvPr>
        </p:nvSpPr>
        <p:spPr/>
        <p:txBody>
          <a:bodyPr>
            <a:normAutofit fontScale="85000" lnSpcReduction="20000"/>
          </a:bodyPr>
          <a:lstStyle/>
          <a:p>
            <a:pPr marL="0" indent="0">
              <a:buNone/>
            </a:pPr>
            <a:r>
              <a:rPr lang="en-US" altLang="zh-CN" dirty="0"/>
              <a:t>(1)      ANSI X9.19MAC</a:t>
            </a:r>
            <a:r>
              <a:rPr lang="zh-CN" altLang="en-US" dirty="0"/>
              <a:t>算法只使用双倍长密钥。</a:t>
            </a:r>
          </a:p>
          <a:p>
            <a:pPr marL="0" indent="0">
              <a:buNone/>
            </a:pPr>
            <a:r>
              <a:rPr lang="en-US" altLang="zh-CN" dirty="0"/>
              <a:t>(2)      MAC</a:t>
            </a:r>
            <a:r>
              <a:rPr lang="zh-CN" altLang="en-US" dirty="0"/>
              <a:t>数据先按</a:t>
            </a:r>
            <a:r>
              <a:rPr lang="en-US" altLang="zh-CN" dirty="0"/>
              <a:t>8</a:t>
            </a:r>
            <a:r>
              <a:rPr lang="zh-CN" altLang="en-US" dirty="0"/>
              <a:t>字节分组，表示为</a:t>
            </a:r>
            <a:r>
              <a:rPr lang="en-US" altLang="zh-CN" dirty="0"/>
              <a:t>D</a:t>
            </a:r>
            <a:r>
              <a:rPr lang="en-US" altLang="zh-CN" baseline="-25000" dirty="0"/>
              <a:t>0</a:t>
            </a:r>
            <a:r>
              <a:rPr lang="zh-CN" altLang="en-US" dirty="0"/>
              <a:t>～</a:t>
            </a:r>
            <a:r>
              <a:rPr lang="en-US" altLang="zh-CN" dirty="0" err="1"/>
              <a:t>Dn</a:t>
            </a:r>
            <a:r>
              <a:rPr lang="zh-CN" altLang="en-US" dirty="0"/>
              <a:t>，如果</a:t>
            </a:r>
            <a:r>
              <a:rPr lang="en-US" altLang="zh-CN" dirty="0" err="1"/>
              <a:t>Dn</a:t>
            </a:r>
            <a:r>
              <a:rPr lang="zh-CN" altLang="en-US" dirty="0"/>
              <a:t>不足</a:t>
            </a:r>
            <a:r>
              <a:rPr lang="en-US" altLang="zh-CN" dirty="0"/>
              <a:t>8</a:t>
            </a:r>
            <a:r>
              <a:rPr lang="zh-CN" altLang="en-US" dirty="0"/>
              <a:t>字节时，尾部以字节</a:t>
            </a:r>
            <a:r>
              <a:rPr lang="en-US" altLang="zh-CN" dirty="0"/>
              <a:t>00</a:t>
            </a:r>
            <a:r>
              <a:rPr lang="zh-CN" altLang="en-US" dirty="0"/>
              <a:t>补齐。</a:t>
            </a:r>
          </a:p>
          <a:p>
            <a:pPr marL="0" indent="0">
              <a:buNone/>
            </a:pPr>
            <a:r>
              <a:rPr lang="en-US" altLang="zh-CN" dirty="0"/>
              <a:t>(3)      </a:t>
            </a:r>
            <a:r>
              <a:rPr lang="zh-CN" altLang="en-US" dirty="0"/>
              <a:t>用</a:t>
            </a:r>
            <a:r>
              <a:rPr lang="en-US" altLang="zh-CN" dirty="0"/>
              <a:t>MAC</a:t>
            </a:r>
            <a:r>
              <a:rPr lang="zh-CN" altLang="en-US" dirty="0"/>
              <a:t>密钥左半部加密</a:t>
            </a:r>
            <a:r>
              <a:rPr lang="en-US" altLang="zh-CN" dirty="0"/>
              <a:t>D</a:t>
            </a:r>
            <a:r>
              <a:rPr lang="en-US" altLang="zh-CN" baseline="-25000" dirty="0"/>
              <a:t>0</a:t>
            </a:r>
            <a:r>
              <a:rPr lang="zh-CN" altLang="en-US" dirty="0"/>
              <a:t>，加密结果与</a:t>
            </a:r>
            <a:r>
              <a:rPr lang="en-US" altLang="zh-CN" dirty="0"/>
              <a:t>D</a:t>
            </a:r>
            <a:r>
              <a:rPr lang="en-US" altLang="zh-CN" baseline="-25000" dirty="0"/>
              <a:t>1</a:t>
            </a:r>
            <a:r>
              <a:rPr lang="zh-CN" altLang="en-US" dirty="0"/>
              <a:t>异或作为下一次的输入。</a:t>
            </a:r>
          </a:p>
          <a:p>
            <a:pPr marL="0" indent="0">
              <a:buNone/>
            </a:pPr>
            <a:r>
              <a:rPr lang="en-US" altLang="zh-CN" dirty="0"/>
              <a:t>(4)      </a:t>
            </a:r>
            <a:r>
              <a:rPr lang="zh-CN" altLang="en-US" dirty="0"/>
              <a:t>将上一步的加密结果与下一分组异或，然后用</a:t>
            </a:r>
            <a:r>
              <a:rPr lang="en-US" altLang="zh-CN" dirty="0"/>
              <a:t>MAC</a:t>
            </a:r>
            <a:r>
              <a:rPr lang="zh-CN" altLang="en-US" dirty="0"/>
              <a:t>密钥左半部加密。</a:t>
            </a:r>
          </a:p>
          <a:p>
            <a:pPr marL="0" indent="0">
              <a:buNone/>
            </a:pPr>
            <a:r>
              <a:rPr lang="en-US" altLang="zh-CN" dirty="0"/>
              <a:t>(5)      </a:t>
            </a:r>
            <a:r>
              <a:rPr lang="zh-CN" altLang="en-US" dirty="0"/>
              <a:t>直至所有分组结束。</a:t>
            </a:r>
          </a:p>
          <a:p>
            <a:pPr marL="0" indent="0">
              <a:buNone/>
            </a:pPr>
            <a:r>
              <a:rPr lang="en-US" altLang="zh-CN" dirty="0"/>
              <a:t>(6)      </a:t>
            </a:r>
            <a:r>
              <a:rPr lang="zh-CN" altLang="en-US" dirty="0"/>
              <a:t>用</a:t>
            </a:r>
            <a:r>
              <a:rPr lang="en-US" altLang="zh-CN" dirty="0"/>
              <a:t>MAC</a:t>
            </a:r>
            <a:r>
              <a:rPr lang="zh-CN" altLang="en-US" dirty="0"/>
              <a:t>密钥右半部解密</a:t>
            </a:r>
            <a:r>
              <a:rPr lang="en-US" altLang="zh-CN" dirty="0"/>
              <a:t>(5)</a:t>
            </a:r>
            <a:r>
              <a:rPr lang="zh-CN" altLang="en-US" dirty="0"/>
              <a:t>的结果。</a:t>
            </a:r>
          </a:p>
          <a:p>
            <a:pPr marL="0" indent="0">
              <a:buNone/>
            </a:pPr>
            <a:r>
              <a:rPr lang="en-US" altLang="zh-CN" dirty="0"/>
              <a:t>(7)      </a:t>
            </a:r>
            <a:r>
              <a:rPr lang="zh-CN" altLang="en-US" dirty="0"/>
              <a:t>用</a:t>
            </a:r>
            <a:r>
              <a:rPr lang="en-US" altLang="zh-CN" dirty="0"/>
              <a:t>MAC</a:t>
            </a:r>
            <a:r>
              <a:rPr lang="zh-CN" altLang="en-US" dirty="0"/>
              <a:t>密钥左半部加密</a:t>
            </a:r>
            <a:r>
              <a:rPr lang="en-US" altLang="zh-CN" dirty="0"/>
              <a:t>(6)</a:t>
            </a:r>
            <a:r>
              <a:rPr lang="zh-CN" altLang="en-US" dirty="0"/>
              <a:t>的结果。</a:t>
            </a:r>
          </a:p>
          <a:p>
            <a:pPr marL="0" indent="0">
              <a:buNone/>
            </a:pPr>
            <a:r>
              <a:rPr lang="en-US" altLang="zh-CN" dirty="0"/>
              <a:t>(8)      </a:t>
            </a:r>
            <a:r>
              <a:rPr lang="zh-CN" altLang="en-US" dirty="0"/>
              <a:t>取</a:t>
            </a:r>
            <a:r>
              <a:rPr lang="en-US" altLang="zh-CN" dirty="0"/>
              <a:t>(7)</a:t>
            </a:r>
            <a:r>
              <a:rPr lang="zh-CN" altLang="en-US" dirty="0"/>
              <a:t>的结果的左半部作为</a:t>
            </a:r>
            <a:r>
              <a:rPr lang="en-US" altLang="zh-CN" dirty="0"/>
              <a:t>MAC</a:t>
            </a:r>
            <a:r>
              <a:rPr lang="zh-CN" altLang="en-US" dirty="0"/>
              <a:t>。</a:t>
            </a:r>
          </a:p>
          <a:p>
            <a:pPr marL="0" indent="0">
              <a:buNone/>
            </a:pPr>
            <a:endParaRPr lang="zh-CN" altLang="en-US" dirty="0"/>
          </a:p>
        </p:txBody>
      </p:sp>
    </p:spTree>
    <p:extLst>
      <p:ext uri="{BB962C8B-B14F-4D97-AF65-F5344CB8AC3E}">
        <p14:creationId xmlns:p14="http://schemas.microsoft.com/office/powerpoint/2010/main" val="33870586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ANSI X9.17-1985</a:t>
            </a:r>
            <a:r>
              <a:rPr lang="zh-CN" altLang="en-US" dirty="0"/>
              <a:t>密钥管理</a:t>
            </a:r>
          </a:p>
        </p:txBody>
      </p:sp>
      <p:sp>
        <p:nvSpPr>
          <p:cNvPr id="3" name="内容占位符 2"/>
          <p:cNvSpPr>
            <a:spLocks noGrp="1"/>
          </p:cNvSpPr>
          <p:nvPr>
            <p:ph idx="1"/>
          </p:nvPr>
        </p:nvSpPr>
        <p:spPr/>
        <p:txBody>
          <a:bodyPr/>
          <a:lstStyle/>
          <a:p>
            <a:pPr marL="0" indent="0">
              <a:buNone/>
            </a:pPr>
            <a:r>
              <a:rPr lang="zh-CN" altLang="en-US" dirty="0"/>
              <a:t>本标准规定了联邦政府在使用</a:t>
            </a:r>
            <a:r>
              <a:rPr lang="en-US" altLang="zh-CN" dirty="0"/>
              <a:t>ANSI X9.17</a:t>
            </a:r>
            <a:r>
              <a:rPr lang="zh-CN" altLang="en-US" dirty="0"/>
              <a:t>协议时自动分配密钥的特定选项。</a:t>
            </a:r>
            <a:r>
              <a:rPr lang="en-US" altLang="zh-CN" dirty="0"/>
              <a:t>ANSI X9.17</a:t>
            </a:r>
            <a:r>
              <a:rPr lang="zh-CN" altLang="en-US" dirty="0"/>
              <a:t>定义了密钥的手动和自动管理过程，并包含许多选项。为符合</a:t>
            </a:r>
            <a:r>
              <a:rPr lang="en-US" altLang="zh-CN" dirty="0"/>
              <a:t>ANSI X9.17</a:t>
            </a:r>
            <a:r>
              <a:rPr lang="zh-CN" altLang="en-US" dirty="0"/>
              <a:t>的所有选项而构建的系统可能会非常复杂且花销很大。本标准中指定的选项将允许开发具有成本效益的系统，这将增加互操作性。</a:t>
            </a:r>
          </a:p>
        </p:txBody>
      </p:sp>
    </p:spTree>
    <p:extLst>
      <p:ext uri="{BB962C8B-B14F-4D97-AF65-F5344CB8AC3E}">
        <p14:creationId xmlns:p14="http://schemas.microsoft.com/office/powerpoint/2010/main" val="6606312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ANSI X9.31</a:t>
            </a:r>
            <a:r>
              <a:rPr lang="zh-CN" altLang="en-US" dirty="0"/>
              <a:t>公钥密码的数字签名</a:t>
            </a:r>
          </a:p>
        </p:txBody>
      </p:sp>
      <p:sp>
        <p:nvSpPr>
          <p:cNvPr id="3" name="内容占位符 2"/>
          <p:cNvSpPr>
            <a:spLocks noGrp="1"/>
          </p:cNvSpPr>
          <p:nvPr>
            <p:ph idx="1"/>
          </p:nvPr>
        </p:nvSpPr>
        <p:spPr/>
        <p:txBody>
          <a:bodyPr/>
          <a:lstStyle/>
          <a:p>
            <a:pPr marL="0" indent="0">
              <a:buNone/>
            </a:pPr>
            <a:r>
              <a:rPr lang="zh-CN" altLang="en-US" dirty="0"/>
              <a:t>本标准改编自</a:t>
            </a:r>
            <a:r>
              <a:rPr lang="en-US" altLang="zh-CN" dirty="0">
                <a:solidFill>
                  <a:srgbClr val="FF0000"/>
                </a:solidFill>
              </a:rPr>
              <a:t>ISO/IEC 9796-2</a:t>
            </a:r>
            <a:r>
              <a:rPr lang="zh-CN" altLang="en-US" dirty="0"/>
              <a:t>和</a:t>
            </a:r>
            <a:r>
              <a:rPr lang="en-US" altLang="zh-CN" dirty="0">
                <a:solidFill>
                  <a:srgbClr val="FF0000"/>
                </a:solidFill>
              </a:rPr>
              <a:t>ISO/IEC 14888-3</a:t>
            </a:r>
            <a:r>
              <a:rPr lang="zh-CN" altLang="en-US" dirty="0"/>
              <a:t>，规定了一种数字签名（签名）生成和验证方法，用于在不恢复消息的情况下使用可逆公钥密码系统保护财务消息和数据。此外，该</a:t>
            </a:r>
            <a:r>
              <a:rPr lang="en-US" altLang="zh-CN" dirty="0" err="1"/>
              <a:t>rDSA</a:t>
            </a:r>
            <a:r>
              <a:rPr lang="zh-CN" altLang="en-US" dirty="0"/>
              <a:t>标准提供了生成算法所需的公钥和私钥的标准，以及安全使用算法所需的过程控制。</a:t>
            </a:r>
          </a:p>
        </p:txBody>
      </p:sp>
    </p:spTree>
    <p:extLst>
      <p:ext uri="{BB962C8B-B14F-4D97-AF65-F5344CB8AC3E}">
        <p14:creationId xmlns:p14="http://schemas.microsoft.com/office/powerpoint/2010/main" val="29235567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ANSI X9.52 -1998</a:t>
            </a:r>
            <a:r>
              <a:rPr lang="zh-CN" altLang="en-US" dirty="0"/>
              <a:t>三重</a:t>
            </a:r>
            <a:r>
              <a:rPr lang="en-US" altLang="zh-CN" dirty="0"/>
              <a:t>DES(TDEA)</a:t>
            </a:r>
            <a:endParaRPr lang="zh-CN" altLang="en-US" dirty="0"/>
          </a:p>
        </p:txBody>
      </p:sp>
      <p:sp>
        <p:nvSpPr>
          <p:cNvPr id="3" name="内容占位符 2"/>
          <p:cNvSpPr>
            <a:spLocks noGrp="1"/>
          </p:cNvSpPr>
          <p:nvPr>
            <p:ph idx="1"/>
          </p:nvPr>
        </p:nvSpPr>
        <p:spPr>
          <a:xfrm>
            <a:off x="539552" y="1556792"/>
            <a:ext cx="8229600" cy="4525963"/>
          </a:xfrm>
        </p:spPr>
        <p:txBody>
          <a:bodyPr>
            <a:normAutofit fontScale="77500" lnSpcReduction="20000"/>
          </a:bodyPr>
          <a:lstStyle/>
          <a:p>
            <a:pPr marL="0" indent="0">
              <a:buNone/>
            </a:pPr>
            <a:r>
              <a:rPr lang="zh-CN" altLang="en-US" dirty="0"/>
              <a:t>本标准在</a:t>
            </a:r>
            <a:r>
              <a:rPr lang="en-US" altLang="zh-CN" dirty="0"/>
              <a:t>DES</a:t>
            </a:r>
            <a:r>
              <a:rPr lang="zh-CN" altLang="en-US" dirty="0"/>
              <a:t>的基础上增加了密码保护，不是</a:t>
            </a:r>
            <a:r>
              <a:rPr lang="en-US" altLang="zh-CN" dirty="0"/>
              <a:t>ANSI X3.92 DES</a:t>
            </a:r>
            <a:r>
              <a:rPr lang="zh-CN" altLang="en-US" dirty="0"/>
              <a:t>标准的简单代替；</a:t>
            </a:r>
            <a:endParaRPr lang="en-US" altLang="zh-CN" dirty="0"/>
          </a:p>
          <a:p>
            <a:pPr marL="0" indent="0">
              <a:buNone/>
            </a:pPr>
            <a:r>
              <a:rPr lang="zh-CN" altLang="en-US" dirty="0"/>
              <a:t>遵循</a:t>
            </a:r>
            <a:r>
              <a:rPr lang="en-US" altLang="zh-CN" dirty="0"/>
              <a:t>ANSI X3.106 </a:t>
            </a:r>
            <a:r>
              <a:rPr lang="zh-CN" altLang="en-US" dirty="0"/>
              <a:t>和</a:t>
            </a:r>
            <a:r>
              <a:rPr lang="en-US" altLang="zh-CN" dirty="0"/>
              <a:t> ISO 8372</a:t>
            </a:r>
            <a:r>
              <a:rPr lang="zh-CN" altLang="en-US" dirty="0"/>
              <a:t>规定的四种密码实现模式，这些模式的新版本可以在多处理器系统中使用，以提高加密</a:t>
            </a:r>
            <a:r>
              <a:rPr lang="en-US" altLang="zh-CN" dirty="0"/>
              <a:t>/</a:t>
            </a:r>
            <a:r>
              <a:rPr lang="zh-CN" altLang="en-US" dirty="0"/>
              <a:t>解密性能；</a:t>
            </a:r>
            <a:endParaRPr lang="en-US" altLang="zh-CN" dirty="0"/>
          </a:p>
          <a:p>
            <a:pPr marL="0" indent="0">
              <a:buNone/>
            </a:pPr>
            <a:r>
              <a:rPr lang="zh-CN" altLang="en-US" dirty="0"/>
              <a:t>随着计算技术和密码分析技术的进步，</a:t>
            </a:r>
            <a:r>
              <a:rPr lang="en-US" altLang="zh-CN" dirty="0"/>
              <a:t>TDEA</a:t>
            </a:r>
            <a:r>
              <a:rPr lang="zh-CN" altLang="en-US" dirty="0"/>
              <a:t>提供了更高的安全性。</a:t>
            </a:r>
            <a:r>
              <a:rPr lang="en-US" altLang="zh-CN" dirty="0"/>
              <a:t>TDEA</a:t>
            </a:r>
            <a:r>
              <a:rPr lang="zh-CN" altLang="en-US" dirty="0"/>
              <a:t>可以在硬件、软件或硬件和软件组合中实现。</a:t>
            </a:r>
            <a:endParaRPr lang="en-US" altLang="zh-CN" dirty="0"/>
          </a:p>
          <a:p>
            <a:pPr marL="0" indent="0">
              <a:buNone/>
            </a:pPr>
            <a:r>
              <a:rPr lang="en-US" altLang="zh-CN" dirty="0">
                <a:solidFill>
                  <a:srgbClr val="FF0000"/>
                </a:solidFill>
              </a:rPr>
              <a:t>ANSI X3.92-1981, </a:t>
            </a:r>
            <a:r>
              <a:rPr lang="en-US" altLang="zh-CN" dirty="0"/>
              <a:t>Data Encryption Algorithm</a:t>
            </a:r>
            <a:r>
              <a:rPr lang="zh-CN" altLang="en-US" dirty="0"/>
              <a:t>数据加密算法</a:t>
            </a:r>
            <a:r>
              <a:rPr lang="en-US" altLang="zh-CN" dirty="0"/>
              <a:t>.</a:t>
            </a:r>
          </a:p>
          <a:p>
            <a:pPr marL="0" indent="0">
              <a:buNone/>
            </a:pPr>
            <a:r>
              <a:rPr lang="en-US" altLang="zh-CN" dirty="0">
                <a:solidFill>
                  <a:srgbClr val="FF0000"/>
                </a:solidFill>
              </a:rPr>
              <a:t>NIST Special Publication 800-67 </a:t>
            </a:r>
            <a:r>
              <a:rPr lang="zh-CN" altLang="en-US" dirty="0"/>
              <a:t>使用三重数据加密算法（</a:t>
            </a:r>
            <a:r>
              <a:rPr lang="en-US" altLang="zh-CN" dirty="0"/>
              <a:t>TDEA</a:t>
            </a:r>
            <a:r>
              <a:rPr lang="zh-CN" altLang="en-US" dirty="0"/>
              <a:t>）块密码的建议；</a:t>
            </a:r>
            <a:endParaRPr lang="en-US" altLang="zh-CN" dirty="0"/>
          </a:p>
          <a:p>
            <a:pPr marL="0" indent="0">
              <a:buNone/>
            </a:pPr>
            <a:r>
              <a:rPr lang="en-US" altLang="zh-CN" dirty="0">
                <a:solidFill>
                  <a:srgbClr val="FF0000"/>
                </a:solidFill>
              </a:rPr>
              <a:t>ISO/IEC 18033-3:2005 </a:t>
            </a:r>
            <a:r>
              <a:rPr lang="zh-CN" altLang="en-US" dirty="0"/>
              <a:t>信息技术</a:t>
            </a:r>
            <a:r>
              <a:rPr lang="en-US" altLang="zh-CN" dirty="0"/>
              <a:t>—</a:t>
            </a:r>
            <a:r>
              <a:rPr lang="zh-CN" altLang="en-US" dirty="0"/>
              <a:t>安全技术</a:t>
            </a:r>
            <a:r>
              <a:rPr lang="en-US" altLang="zh-CN" dirty="0"/>
              <a:t>—</a:t>
            </a:r>
            <a:r>
              <a:rPr lang="zh-CN" altLang="en-US" dirty="0"/>
              <a:t>加密算法</a:t>
            </a:r>
            <a:r>
              <a:rPr lang="en-US" altLang="zh-CN" dirty="0"/>
              <a:t>—</a:t>
            </a:r>
            <a:r>
              <a:rPr lang="zh-CN" altLang="en-US" dirty="0"/>
              <a:t>第三部分：块密码</a:t>
            </a:r>
          </a:p>
          <a:p>
            <a:pPr marL="0" indent="0">
              <a:buNone/>
            </a:pPr>
            <a:endParaRPr lang="zh-CN" altLang="en-US" dirty="0"/>
          </a:p>
          <a:p>
            <a:pPr marL="0" indent="0">
              <a:buNone/>
            </a:pPr>
            <a:endParaRPr lang="zh-CN" altLang="en-US" dirty="0"/>
          </a:p>
        </p:txBody>
      </p:sp>
    </p:spTree>
    <p:extLst>
      <p:ext uri="{BB962C8B-B14F-4D97-AF65-F5344CB8AC3E}">
        <p14:creationId xmlns:p14="http://schemas.microsoft.com/office/powerpoint/2010/main" val="38555837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ANSI X9.62 -1998 ECDSA</a:t>
            </a:r>
            <a:endParaRPr lang="zh-CN" altLang="en-US" dirty="0"/>
          </a:p>
        </p:txBody>
      </p:sp>
      <p:sp>
        <p:nvSpPr>
          <p:cNvPr id="3" name="内容占位符 2"/>
          <p:cNvSpPr>
            <a:spLocks noGrp="1"/>
          </p:cNvSpPr>
          <p:nvPr>
            <p:ph idx="1"/>
          </p:nvPr>
        </p:nvSpPr>
        <p:spPr/>
        <p:txBody>
          <a:bodyPr>
            <a:normAutofit fontScale="85000" lnSpcReduction="10000"/>
          </a:bodyPr>
          <a:lstStyle/>
          <a:p>
            <a:pPr marL="0" indent="0">
              <a:buNone/>
            </a:pPr>
            <a:r>
              <a:rPr lang="zh-CN" altLang="en-US" dirty="0"/>
              <a:t>本标准定义了使用</a:t>
            </a:r>
            <a:r>
              <a:rPr lang="en-US" altLang="zh-CN" dirty="0"/>
              <a:t>ECDSA</a:t>
            </a:r>
            <a:r>
              <a:rPr lang="zh-CN" altLang="en-US" dirty="0"/>
              <a:t>时的签名生成和签名验证方法，应与</a:t>
            </a:r>
            <a:r>
              <a:rPr lang="en-US" altLang="zh-CN" dirty="0"/>
              <a:t>ANSI X9.30</a:t>
            </a:r>
            <a:r>
              <a:rPr lang="zh-CN" altLang="en-US" dirty="0"/>
              <a:t>第</a:t>
            </a:r>
            <a:r>
              <a:rPr lang="en-US" altLang="zh-CN" dirty="0"/>
              <a:t>2</a:t>
            </a:r>
            <a:r>
              <a:rPr lang="zh-CN" altLang="en-US" dirty="0"/>
              <a:t>部分中定义的散列函数</a:t>
            </a:r>
            <a:r>
              <a:rPr lang="en-US" altLang="zh-CN" dirty="0"/>
              <a:t>SHA-1</a:t>
            </a:r>
            <a:r>
              <a:rPr lang="zh-CN" altLang="en-US" dirty="0"/>
              <a:t>一起使用。本标准提供了公钥和私钥的生成标准，以及安全使用算法所需的过程控制。</a:t>
            </a:r>
            <a:endParaRPr lang="en-US" altLang="zh-CN" dirty="0"/>
          </a:p>
          <a:p>
            <a:pPr marL="0" indent="0">
              <a:buNone/>
            </a:pPr>
            <a:r>
              <a:rPr lang="en-US" altLang="zh-CN" dirty="0">
                <a:solidFill>
                  <a:srgbClr val="FF0000"/>
                </a:solidFill>
              </a:rPr>
              <a:t>ANSI X9.30-1995 Part 1 </a:t>
            </a:r>
            <a:r>
              <a:rPr lang="zh-CN" altLang="en-US" dirty="0"/>
              <a:t>：</a:t>
            </a:r>
            <a:r>
              <a:rPr lang="en-US" altLang="zh-CN" dirty="0"/>
              <a:t>Public key cryptography using irreversible algorithms for the financial services industry: The Digital Signature Algorithm (Revised)</a:t>
            </a:r>
          </a:p>
          <a:p>
            <a:pPr marL="0" indent="0">
              <a:buNone/>
            </a:pPr>
            <a:r>
              <a:rPr lang="en-US" altLang="zh-CN" dirty="0">
                <a:solidFill>
                  <a:srgbClr val="FF0000"/>
                </a:solidFill>
              </a:rPr>
              <a:t>ANSI X9.30-1993, Part 2</a:t>
            </a:r>
            <a:r>
              <a:rPr lang="en-US" altLang="zh-CN" dirty="0"/>
              <a:t>: Public key cryptography using irreversible algorithms for the financial services industry: The Secure Hash Algorithm 1 (SHA-1) (Revised).</a:t>
            </a:r>
          </a:p>
          <a:p>
            <a:pPr marL="0" indent="0">
              <a:buNone/>
            </a:pPr>
            <a:r>
              <a:rPr lang="en-US" altLang="zh-CN" dirty="0">
                <a:solidFill>
                  <a:srgbClr val="FF0000"/>
                </a:solidFill>
              </a:rPr>
              <a:t>FIPS Publication 186-1993</a:t>
            </a:r>
            <a:r>
              <a:rPr lang="en-US" altLang="zh-CN" dirty="0"/>
              <a:t> Digital Signature Standard</a:t>
            </a:r>
            <a:endParaRPr lang="zh-CN" altLang="en-US" dirty="0"/>
          </a:p>
        </p:txBody>
      </p:sp>
    </p:spTree>
    <p:extLst>
      <p:ext uri="{BB962C8B-B14F-4D97-AF65-F5344CB8AC3E}">
        <p14:creationId xmlns:p14="http://schemas.microsoft.com/office/powerpoint/2010/main" val="35904105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DSA</a:t>
            </a:r>
            <a:r>
              <a:rPr lang="zh-CN" altLang="en-US" dirty="0"/>
              <a:t>与</a:t>
            </a:r>
            <a:r>
              <a:rPr lang="en-US" altLang="zh-CN" dirty="0"/>
              <a:t>ECDSA</a:t>
            </a:r>
            <a:endParaRPr lang="zh-CN" altLang="en-US" dirty="0"/>
          </a:p>
        </p:txBody>
      </p:sp>
      <p:sp>
        <p:nvSpPr>
          <p:cNvPr id="3" name="内容占位符 2"/>
          <p:cNvSpPr>
            <a:spLocks noGrp="1"/>
          </p:cNvSpPr>
          <p:nvPr>
            <p:ph idx="1"/>
          </p:nvPr>
        </p:nvSpPr>
        <p:spPr>
          <a:xfrm>
            <a:off x="0" y="1600200"/>
            <a:ext cx="9144000" cy="4525963"/>
          </a:xfrm>
        </p:spPr>
        <p:txBody>
          <a:bodyPr/>
          <a:lstStyle/>
          <a:p>
            <a:pPr marL="0" indent="0">
              <a:buNone/>
            </a:pPr>
            <a:endParaRPr lang="zh-CN" alt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 y="1844824"/>
            <a:ext cx="8610600" cy="3848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742410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签名生成</a:t>
            </a:r>
          </a:p>
        </p:txBody>
      </p:sp>
      <p:sp>
        <p:nvSpPr>
          <p:cNvPr id="3" name="内容占位符 2"/>
          <p:cNvSpPr>
            <a:spLocks noGrp="1"/>
          </p:cNvSpPr>
          <p:nvPr>
            <p:ph idx="1"/>
          </p:nvPr>
        </p:nvSpPr>
        <p:spPr/>
        <p:txBody>
          <a:bodyPr/>
          <a:lstStyle/>
          <a:p>
            <a:pPr marL="0" indent="0">
              <a:buNone/>
            </a:pPr>
            <a:endParaRPr lang="zh-CN" alt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8175" y="2348880"/>
            <a:ext cx="7867650" cy="35283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278713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验签算法</a:t>
            </a:r>
          </a:p>
        </p:txBody>
      </p:sp>
      <p:sp>
        <p:nvSpPr>
          <p:cNvPr id="3" name="内容占位符 2"/>
          <p:cNvSpPr>
            <a:spLocks noGrp="1"/>
          </p:cNvSpPr>
          <p:nvPr>
            <p:ph idx="1"/>
          </p:nvPr>
        </p:nvSpPr>
        <p:spPr/>
        <p:txBody>
          <a:bodyPr/>
          <a:lstStyle/>
          <a:p>
            <a:pPr marL="0" indent="0">
              <a:buNone/>
            </a:pPr>
            <a:endParaRPr lang="zh-CN" alt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2348880"/>
            <a:ext cx="8280920" cy="3384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161157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ANSI X9.63 -2001 </a:t>
            </a:r>
            <a:r>
              <a:rPr lang="zh-CN" altLang="en-US" dirty="0"/>
              <a:t>椭圆曲线密钥建立</a:t>
            </a:r>
          </a:p>
        </p:txBody>
      </p:sp>
      <p:sp>
        <p:nvSpPr>
          <p:cNvPr id="3" name="内容占位符 2"/>
          <p:cNvSpPr>
            <a:spLocks noGrp="1"/>
          </p:cNvSpPr>
          <p:nvPr>
            <p:ph idx="1"/>
          </p:nvPr>
        </p:nvSpPr>
        <p:spPr/>
        <p:txBody>
          <a:bodyPr>
            <a:normAutofit fontScale="85000" lnSpcReduction="20000"/>
          </a:bodyPr>
          <a:lstStyle/>
          <a:p>
            <a:pPr marL="0" indent="0">
              <a:buNone/>
            </a:pPr>
            <a:r>
              <a:rPr lang="zh-CN" altLang="zh-CN" dirty="0"/>
              <a:t>本标准是</a:t>
            </a:r>
            <a:r>
              <a:rPr lang="en-US" altLang="zh-CN" dirty="0"/>
              <a:t>ISO/IEC 15946-3</a:t>
            </a:r>
            <a:r>
              <a:rPr lang="zh-CN" altLang="zh-CN" dirty="0"/>
              <a:t>椭圆曲线密码技术的第三部分密钥建立在金融服务业的应用，标准定义了非对称密码技术的密钥建立方案，包括密钥协商和密钥传输。密钥建立方案使用对称密码提供密码服务（如数据的机密性和完整性）。目前有两个版本，</a:t>
            </a:r>
            <a:r>
              <a:rPr lang="en-US" altLang="zh-CN" dirty="0"/>
              <a:t>2001</a:t>
            </a:r>
            <a:r>
              <a:rPr lang="zh-CN" altLang="zh-CN" dirty="0"/>
              <a:t>年版和</a:t>
            </a:r>
            <a:r>
              <a:rPr lang="en-US" altLang="zh-CN" dirty="0"/>
              <a:t>2011</a:t>
            </a:r>
            <a:r>
              <a:rPr lang="zh-CN" altLang="zh-CN" dirty="0"/>
              <a:t>年版。</a:t>
            </a:r>
            <a:endParaRPr lang="en-US" altLang="zh-CN" dirty="0"/>
          </a:p>
          <a:p>
            <a:pPr marL="0" indent="0">
              <a:buNone/>
            </a:pPr>
            <a:r>
              <a:rPr lang="zh-CN" altLang="zh-CN" dirty="0"/>
              <a:t>密钥协商方案共给出了</a:t>
            </a:r>
            <a:r>
              <a:rPr lang="en-US" altLang="zh-CN" dirty="0"/>
              <a:t>11</a:t>
            </a:r>
            <a:r>
              <a:rPr lang="zh-CN" altLang="zh-CN" dirty="0"/>
              <a:t>种，其中一致模型方案有</a:t>
            </a:r>
            <a:r>
              <a:rPr lang="en-US" altLang="zh-CN" dirty="0"/>
              <a:t>7</a:t>
            </a:r>
            <a:r>
              <a:rPr lang="zh-CN" altLang="zh-CN" dirty="0"/>
              <a:t>种，主要是在是否单通、是否带密钥确认和是否完全上（动态共享密钥连接静态共享密钥）的区别；还有</a:t>
            </a:r>
            <a:r>
              <a:rPr lang="en-US" altLang="zh-CN" dirty="0"/>
              <a:t>3</a:t>
            </a:r>
            <a:r>
              <a:rPr lang="zh-CN" altLang="zh-CN" dirty="0"/>
              <a:t>种</a:t>
            </a:r>
            <a:r>
              <a:rPr lang="en-US" altLang="zh-CN" dirty="0"/>
              <a:t>MQV</a:t>
            </a:r>
            <a:r>
              <a:rPr lang="zh-CN" altLang="zh-CN" dirty="0"/>
              <a:t>方案，可以防止椭圆曲线上点加循环群的小子群攻击，另外还有一种带</a:t>
            </a:r>
            <a:r>
              <a:rPr lang="en-US" altLang="zh-CN" dirty="0"/>
              <a:t>MAC</a:t>
            </a:r>
            <a:r>
              <a:rPr lang="zh-CN" altLang="zh-CN" dirty="0"/>
              <a:t>的站对站方案。密钥传输方案主要有单通传输和三通传输方案。与标准</a:t>
            </a:r>
            <a:r>
              <a:rPr lang="en-US" altLang="zh-CN" dirty="0"/>
              <a:t>ISO/IEC 15946-3</a:t>
            </a:r>
            <a:r>
              <a:rPr lang="zh-CN" altLang="zh-CN" dirty="0"/>
              <a:t>相比，密钥确认放在密钥协商部分了。</a:t>
            </a:r>
          </a:p>
          <a:p>
            <a:pPr marL="0" indent="0">
              <a:buNone/>
            </a:pPr>
            <a:endParaRPr lang="zh-CN" altLang="en-US" dirty="0"/>
          </a:p>
        </p:txBody>
      </p:sp>
    </p:spTree>
    <p:extLst>
      <p:ext uri="{BB962C8B-B14F-4D97-AF65-F5344CB8AC3E}">
        <p14:creationId xmlns:p14="http://schemas.microsoft.com/office/powerpoint/2010/main" val="6659644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marL="0" indent="0"/>
            <a:r>
              <a:rPr lang="en-US" altLang="zh-CN" sz="2800" dirty="0"/>
              <a:t>2 BSI</a:t>
            </a:r>
            <a:r>
              <a:rPr lang="zh-CN" altLang="en-US" sz="2800" dirty="0"/>
              <a:t>（</a:t>
            </a:r>
            <a:r>
              <a:rPr lang="de-DE" altLang="zh-CN" sz="2800" dirty="0"/>
              <a:t> Bundesamt für Sicherheit in der Informationstechnik </a:t>
            </a:r>
            <a:r>
              <a:rPr lang="zh-CN" altLang="en-US" sz="2800" dirty="0"/>
              <a:t>）</a:t>
            </a:r>
          </a:p>
        </p:txBody>
      </p:sp>
      <p:sp>
        <p:nvSpPr>
          <p:cNvPr id="3" name="内容占位符 2"/>
          <p:cNvSpPr>
            <a:spLocks noGrp="1"/>
          </p:cNvSpPr>
          <p:nvPr>
            <p:ph idx="1"/>
          </p:nvPr>
        </p:nvSpPr>
        <p:spPr/>
        <p:txBody>
          <a:bodyPr>
            <a:normAutofit lnSpcReduction="10000"/>
          </a:bodyPr>
          <a:lstStyle/>
          <a:p>
            <a:r>
              <a:rPr lang="en-US" altLang="zh-CN" dirty="0"/>
              <a:t>Application Notes and Interpretation of the Scheme</a:t>
            </a:r>
            <a:r>
              <a:rPr lang="zh-CN" altLang="en-US" dirty="0"/>
              <a:t>（</a:t>
            </a:r>
            <a:r>
              <a:rPr lang="en-US" altLang="zh-CN" dirty="0"/>
              <a:t>AIS</a:t>
            </a:r>
            <a:r>
              <a:rPr lang="zh-CN" altLang="en-US" dirty="0"/>
              <a:t>）</a:t>
            </a:r>
            <a:r>
              <a:rPr lang="en-US" altLang="zh-CN" dirty="0"/>
              <a:t>20-2011 Functionality classes and evaluation methodology for deterministic random number generators</a:t>
            </a:r>
            <a:r>
              <a:rPr lang="zh-CN" altLang="en-US" dirty="0"/>
              <a:t>确定性</a:t>
            </a:r>
            <a:r>
              <a:rPr lang="zh-CN" altLang="zh-CN" dirty="0"/>
              <a:t>随机数生成器的功能类</a:t>
            </a:r>
            <a:r>
              <a:rPr lang="zh-CN" altLang="en-US" dirty="0"/>
              <a:t>和评估方法</a:t>
            </a:r>
            <a:endParaRPr lang="en-US" altLang="zh-CN" dirty="0"/>
          </a:p>
          <a:p>
            <a:r>
              <a:rPr lang="en-US" altLang="zh-CN" dirty="0"/>
              <a:t>AIS31-2001  Functionality Classes and Evaluation Methodology for Physical Random Number Generators </a:t>
            </a:r>
            <a:r>
              <a:rPr lang="zh-CN" altLang="en-US" dirty="0"/>
              <a:t>物理真随机数产生器的功能类和评估方法</a:t>
            </a:r>
            <a:endParaRPr lang="en-US" altLang="zh-CN" dirty="0"/>
          </a:p>
          <a:p>
            <a:pPr marL="0" indent="0">
              <a:buNone/>
            </a:pPr>
            <a:endParaRPr lang="en-US" altLang="zh-CN" dirty="0"/>
          </a:p>
          <a:p>
            <a:pPr marL="0" indent="0">
              <a:buNone/>
            </a:pPr>
            <a:endParaRPr lang="zh-CN" altLang="en-US" dirty="0"/>
          </a:p>
        </p:txBody>
      </p:sp>
    </p:spTree>
    <p:extLst>
      <p:ext uri="{BB962C8B-B14F-4D97-AF65-F5344CB8AC3E}">
        <p14:creationId xmlns:p14="http://schemas.microsoft.com/office/powerpoint/2010/main" val="42925238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AIS20 </a:t>
            </a:r>
            <a:r>
              <a:rPr lang="zh-CN" altLang="zh-CN" dirty="0"/>
              <a:t>随机数生成器的功能类</a:t>
            </a:r>
            <a:endParaRPr lang="zh-CN" altLang="en-US" dirty="0"/>
          </a:p>
        </p:txBody>
      </p:sp>
      <p:sp>
        <p:nvSpPr>
          <p:cNvPr id="3" name="内容占位符 2"/>
          <p:cNvSpPr>
            <a:spLocks noGrp="1"/>
          </p:cNvSpPr>
          <p:nvPr>
            <p:ph idx="1"/>
          </p:nvPr>
        </p:nvSpPr>
        <p:spPr/>
        <p:txBody>
          <a:bodyPr>
            <a:normAutofit lnSpcReduction="10000"/>
          </a:bodyPr>
          <a:lstStyle/>
          <a:p>
            <a:pPr marL="0" indent="0">
              <a:buNone/>
            </a:pPr>
            <a:r>
              <a:rPr lang="zh-CN" altLang="en-US" sz="2800" dirty="0">
                <a:latin typeface="+mn-ea"/>
              </a:rPr>
              <a:t>标准的功能：</a:t>
            </a:r>
            <a:r>
              <a:rPr lang="en-US" altLang="zh-CN" sz="2800" dirty="0">
                <a:latin typeface="+mn-ea"/>
              </a:rPr>
              <a:t>AIS20</a:t>
            </a:r>
            <a:r>
              <a:rPr lang="zh-CN" altLang="zh-CN" sz="2800" dirty="0">
                <a:latin typeface="+mn-ea"/>
              </a:rPr>
              <a:t>意图给出</a:t>
            </a:r>
            <a:r>
              <a:rPr lang="en-US" altLang="zh-CN" sz="2800" dirty="0">
                <a:latin typeface="+mn-ea"/>
              </a:rPr>
              <a:t>RNG</a:t>
            </a:r>
            <a:r>
              <a:rPr lang="zh-CN" altLang="en-US" sz="2800" dirty="0">
                <a:latin typeface="+mn-ea"/>
              </a:rPr>
              <a:t>的</a:t>
            </a:r>
            <a:r>
              <a:rPr lang="zh-CN" altLang="zh-CN" sz="2800" dirty="0">
                <a:latin typeface="+mn-ea"/>
              </a:rPr>
              <a:t>通用评估标准方面的应用</a:t>
            </a:r>
            <a:r>
              <a:rPr lang="zh-CN" altLang="en-US" sz="2800" dirty="0">
                <a:latin typeface="+mn-ea"/>
              </a:rPr>
              <a:t>。</a:t>
            </a:r>
            <a:endParaRPr lang="en-US" altLang="zh-CN" sz="2800" dirty="0">
              <a:latin typeface="+mn-ea"/>
            </a:endParaRPr>
          </a:p>
          <a:p>
            <a:pPr marL="0" indent="0">
              <a:buNone/>
            </a:pPr>
            <a:r>
              <a:rPr lang="zh-CN" altLang="en-US" sz="2800" dirty="0">
                <a:latin typeface="+mn-ea"/>
              </a:rPr>
              <a:t>标准的版本信息：</a:t>
            </a:r>
            <a:r>
              <a:rPr lang="en-US" altLang="zh-CN" sz="2800" dirty="0">
                <a:latin typeface="+mn-ea"/>
              </a:rPr>
              <a:t>1999-2-12</a:t>
            </a:r>
            <a:r>
              <a:rPr lang="zh-CN" altLang="zh-CN" sz="2800" dirty="0">
                <a:latin typeface="+mn-ea"/>
              </a:rPr>
              <a:t>出版第一版，</a:t>
            </a:r>
            <a:r>
              <a:rPr lang="en-US" altLang="zh-CN" sz="2800" dirty="0">
                <a:latin typeface="+mn-ea"/>
              </a:rPr>
              <a:t>2011-9-18</a:t>
            </a:r>
            <a:r>
              <a:rPr lang="zh-CN" altLang="zh-CN" sz="2800" dirty="0">
                <a:latin typeface="+mn-ea"/>
              </a:rPr>
              <a:t>出版第二版，目前只找到了第二版。</a:t>
            </a:r>
            <a:endParaRPr lang="en-US" altLang="zh-CN" sz="2800" dirty="0">
              <a:latin typeface="+mn-ea"/>
            </a:endParaRPr>
          </a:p>
          <a:p>
            <a:pPr marL="0" indent="0">
              <a:buNone/>
            </a:pPr>
            <a:r>
              <a:rPr lang="zh-CN" altLang="en-US" sz="2800" dirty="0">
                <a:latin typeface="+mn-ea"/>
              </a:rPr>
              <a:t>标准的内容：</a:t>
            </a:r>
            <a:r>
              <a:rPr lang="en-US" altLang="zh-CN" sz="2800" dirty="0">
                <a:latin typeface="+mn-ea"/>
              </a:rPr>
              <a:t>RNG</a:t>
            </a:r>
            <a:r>
              <a:rPr lang="zh-CN" altLang="zh-CN" sz="2800" dirty="0">
                <a:latin typeface="+mn-ea"/>
              </a:rPr>
              <a:t>的基本概念</a:t>
            </a:r>
            <a:r>
              <a:rPr lang="zh-CN" altLang="en-US" sz="2800" dirty="0">
                <a:latin typeface="+mn-ea"/>
              </a:rPr>
              <a:t>、</a:t>
            </a:r>
            <a:r>
              <a:rPr lang="en-US" altLang="zh-CN" sz="2800" dirty="0">
                <a:latin typeface="+mn-ea"/>
              </a:rPr>
              <a:t>CC</a:t>
            </a:r>
            <a:r>
              <a:rPr lang="zh-CN" altLang="zh-CN" sz="2800" dirty="0">
                <a:latin typeface="+mn-ea"/>
              </a:rPr>
              <a:t>族用于描述安全功能的</a:t>
            </a:r>
            <a:r>
              <a:rPr lang="en-US" altLang="zh-CN" sz="2800" dirty="0">
                <a:latin typeface="+mn-ea"/>
              </a:rPr>
              <a:t>FCS_RNG</a:t>
            </a:r>
            <a:r>
              <a:rPr lang="zh-CN" altLang="zh-CN" sz="2800" dirty="0">
                <a:latin typeface="+mn-ea"/>
              </a:rPr>
              <a:t>单元和扩展组件</a:t>
            </a:r>
            <a:r>
              <a:rPr lang="en-US" altLang="zh-CN" sz="2800" dirty="0">
                <a:latin typeface="+mn-ea"/>
              </a:rPr>
              <a:t>FCS_RNG.1</a:t>
            </a:r>
            <a:r>
              <a:rPr lang="zh-CN" altLang="en-US" sz="2800" dirty="0">
                <a:latin typeface="+mn-ea"/>
              </a:rPr>
              <a:t>、</a:t>
            </a:r>
            <a:r>
              <a:rPr lang="zh-CN" altLang="zh-CN" sz="2800" dirty="0">
                <a:latin typeface="+mn-ea"/>
              </a:rPr>
              <a:t>描述了预先定义的类，这些类说明物理真、非物理真、确定性和混合随机数生成器</a:t>
            </a:r>
            <a:r>
              <a:rPr lang="zh-CN" altLang="en-US" sz="2800" dirty="0">
                <a:latin typeface="+mn-ea"/>
              </a:rPr>
              <a:t>等特性，</a:t>
            </a:r>
            <a:r>
              <a:rPr lang="zh-CN" altLang="zh-CN" sz="2800" dirty="0">
                <a:latin typeface="+mn-ea"/>
              </a:rPr>
              <a:t>评估标准通过示例进行说明。</a:t>
            </a:r>
            <a:endParaRPr lang="en-US" altLang="zh-CN" sz="2800" dirty="0">
              <a:latin typeface="+mn-ea"/>
            </a:endParaRPr>
          </a:p>
          <a:p>
            <a:pPr marL="0" indent="0">
              <a:buNone/>
            </a:pPr>
            <a:r>
              <a:rPr lang="zh-CN" altLang="en-US" sz="2800" dirty="0">
                <a:latin typeface="+mn-ea"/>
              </a:rPr>
              <a:t>标准的应用领域：德国电信和德国安全局。</a:t>
            </a:r>
          </a:p>
        </p:txBody>
      </p:sp>
    </p:spTree>
    <p:extLst>
      <p:ext uri="{BB962C8B-B14F-4D97-AF65-F5344CB8AC3E}">
        <p14:creationId xmlns:p14="http://schemas.microsoft.com/office/powerpoint/2010/main" val="40249592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t>AIS20An</a:t>
            </a:r>
            <a:r>
              <a:rPr lang="zh-CN" altLang="zh-CN" sz="3200" dirty="0"/>
              <a:t>和</a:t>
            </a:r>
            <a:r>
              <a:rPr lang="en-US" altLang="zh-CN" sz="3200" dirty="0"/>
              <a:t>AIS31An</a:t>
            </a:r>
            <a:r>
              <a:rPr lang="zh-CN" altLang="zh-CN" sz="3200" dirty="0"/>
              <a:t>中的</a:t>
            </a:r>
            <a:r>
              <a:rPr lang="en-US" altLang="zh-CN" sz="3200" dirty="0"/>
              <a:t>RNG </a:t>
            </a:r>
            <a:r>
              <a:rPr lang="zh-CN" altLang="zh-CN" sz="3200" dirty="0"/>
              <a:t>类比较如下</a:t>
            </a:r>
            <a:endParaRPr lang="zh-CN" altLang="en-US" sz="3200" dirty="0"/>
          </a:p>
        </p:txBody>
      </p:sp>
      <p:graphicFrame>
        <p:nvGraphicFramePr>
          <p:cNvPr id="4" name="内容占位符 3"/>
          <p:cNvGraphicFramePr>
            <a:graphicFrameLocks noGrp="1"/>
          </p:cNvGraphicFramePr>
          <p:nvPr>
            <p:ph idx="1"/>
            <p:extLst>
              <p:ext uri="{D42A27DB-BD31-4B8C-83A1-F6EECF244321}">
                <p14:modId xmlns:p14="http://schemas.microsoft.com/office/powerpoint/2010/main" val="3576358837"/>
              </p:ext>
            </p:extLst>
          </p:nvPr>
        </p:nvGraphicFramePr>
        <p:xfrm>
          <a:off x="755576" y="1844823"/>
          <a:ext cx="7848872" cy="4442024"/>
        </p:xfrm>
        <a:graphic>
          <a:graphicData uri="http://schemas.openxmlformats.org/drawingml/2006/table">
            <a:tbl>
              <a:tblPr firstRow="1" firstCol="1" bandRow="1"/>
              <a:tblGrid>
                <a:gridCol w="883251">
                  <a:extLst>
                    <a:ext uri="{9D8B030D-6E8A-4147-A177-3AD203B41FA5}">
                      <a16:colId xmlns:a16="http://schemas.microsoft.com/office/drawing/2014/main" val="20000"/>
                    </a:ext>
                  </a:extLst>
                </a:gridCol>
                <a:gridCol w="2219641">
                  <a:extLst>
                    <a:ext uri="{9D8B030D-6E8A-4147-A177-3AD203B41FA5}">
                      <a16:colId xmlns:a16="http://schemas.microsoft.com/office/drawing/2014/main" val="20001"/>
                    </a:ext>
                  </a:extLst>
                </a:gridCol>
                <a:gridCol w="4745980">
                  <a:extLst>
                    <a:ext uri="{9D8B030D-6E8A-4147-A177-3AD203B41FA5}">
                      <a16:colId xmlns:a16="http://schemas.microsoft.com/office/drawing/2014/main" val="20002"/>
                    </a:ext>
                  </a:extLst>
                </a:gridCol>
              </a:tblGrid>
              <a:tr h="687704">
                <a:tc>
                  <a:txBody>
                    <a:bodyPr/>
                    <a:lstStyle/>
                    <a:p>
                      <a:pPr algn="l">
                        <a:spcAft>
                          <a:spcPts val="0"/>
                        </a:spcAft>
                      </a:pPr>
                      <a:r>
                        <a:rPr lang="en-US" sz="1800" kern="100" dirty="0">
                          <a:effectLst/>
                          <a:latin typeface="Calibri"/>
                          <a:ea typeface="宋体"/>
                          <a:cs typeface="Times New Roman"/>
                        </a:rPr>
                        <a:t>RNG</a:t>
                      </a:r>
                      <a:r>
                        <a:rPr lang="zh-CN" sz="1800" kern="100" dirty="0">
                          <a:effectLst/>
                          <a:latin typeface="Calibri"/>
                          <a:ea typeface="宋体"/>
                          <a:cs typeface="Times New Roman"/>
                        </a:rPr>
                        <a:t>类</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800" kern="0">
                          <a:effectLst/>
                          <a:latin typeface="Times New Roman"/>
                          <a:ea typeface="宋体"/>
                          <a:cs typeface="Times New Roman"/>
                        </a:rPr>
                        <a:t>与</a:t>
                      </a:r>
                      <a:r>
                        <a:rPr lang="en-US" sz="1800" kern="0">
                          <a:effectLst/>
                          <a:latin typeface="Times New Roman"/>
                          <a:ea typeface="宋体"/>
                          <a:cs typeface="Times New Roman"/>
                        </a:rPr>
                        <a:t>AIS20An</a:t>
                      </a:r>
                      <a:r>
                        <a:rPr lang="zh-CN" sz="1800" kern="0">
                          <a:effectLst/>
                          <a:latin typeface="Times New Roman"/>
                          <a:ea typeface="宋体"/>
                          <a:cs typeface="Times New Roman"/>
                        </a:rPr>
                        <a:t>或</a:t>
                      </a:r>
                      <a:endParaRPr lang="zh-CN" sz="1800" kern="100">
                        <a:effectLst/>
                        <a:latin typeface="Calibri"/>
                        <a:ea typeface="宋体"/>
                        <a:cs typeface="Times New Roman"/>
                      </a:endParaRPr>
                    </a:p>
                    <a:p>
                      <a:pPr algn="l">
                        <a:spcAft>
                          <a:spcPts val="0"/>
                        </a:spcAft>
                      </a:pPr>
                      <a:r>
                        <a:rPr lang="en-US" sz="1800" kern="0">
                          <a:effectLst/>
                          <a:latin typeface="Times New Roman"/>
                          <a:ea typeface="宋体"/>
                          <a:cs typeface="Times New Roman"/>
                        </a:rPr>
                        <a:t>AIS31An</a:t>
                      </a:r>
                      <a:r>
                        <a:rPr lang="zh-CN" sz="1800" kern="0">
                          <a:effectLst/>
                          <a:latin typeface="Times New Roman"/>
                          <a:ea typeface="宋体"/>
                          <a:cs typeface="Times New Roman"/>
                        </a:rPr>
                        <a:t>中类的对比</a:t>
                      </a:r>
                      <a:endParaRPr lang="zh-CN" sz="18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800" kern="100" dirty="0">
                          <a:effectLst/>
                          <a:latin typeface="Calibri"/>
                          <a:ea typeface="宋体"/>
                          <a:cs typeface="Times New Roman"/>
                        </a:rPr>
                        <a:t>评论</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656445">
                <a:tc>
                  <a:txBody>
                    <a:bodyPr/>
                    <a:lstStyle/>
                    <a:p>
                      <a:pPr algn="l">
                        <a:spcAft>
                          <a:spcPts val="0"/>
                        </a:spcAft>
                      </a:pPr>
                      <a:r>
                        <a:rPr lang="en-US" sz="1800" kern="100" dirty="0">
                          <a:effectLst/>
                          <a:latin typeface="Calibri"/>
                          <a:ea typeface="宋体"/>
                          <a:cs typeface="Times New Roman"/>
                        </a:rPr>
                        <a:t>PTG.1</a:t>
                      </a:r>
                      <a:endParaRPr lang="zh-CN" sz="1800" kern="100" dirty="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800" kern="0" dirty="0">
                          <a:effectLst/>
                          <a:latin typeface="Times New Roman"/>
                          <a:ea typeface="宋体"/>
                          <a:cs typeface="Times New Roman"/>
                        </a:rPr>
                        <a:t>AIS31, P1</a:t>
                      </a:r>
                      <a:endParaRPr lang="zh-CN" sz="1800" kern="100" dirty="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800" kern="100" dirty="0">
                          <a:effectLst/>
                          <a:latin typeface="Calibri"/>
                          <a:ea typeface="宋体"/>
                          <a:cs typeface="Times New Roman"/>
                        </a:rPr>
                        <a:t>物理随机数，经过内部测试，检测到熵源总数失效，内部随机数的统计缺陷不可容忍</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656445">
                <a:tc>
                  <a:txBody>
                    <a:bodyPr/>
                    <a:lstStyle/>
                    <a:p>
                      <a:pPr algn="l">
                        <a:spcAft>
                          <a:spcPts val="0"/>
                        </a:spcAft>
                      </a:pPr>
                      <a:r>
                        <a:rPr lang="en-US" sz="1800" kern="100" dirty="0">
                          <a:effectLst/>
                          <a:latin typeface="Calibri"/>
                          <a:ea typeface="宋体"/>
                          <a:cs typeface="Times New Roman"/>
                        </a:rPr>
                        <a:t>PTG.2</a:t>
                      </a:r>
                      <a:endParaRPr lang="zh-CN" sz="1800" kern="100" dirty="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800" kern="0" dirty="0">
                          <a:effectLst/>
                          <a:latin typeface="Times New Roman"/>
                          <a:ea typeface="宋体"/>
                          <a:cs typeface="Times New Roman"/>
                        </a:rPr>
                        <a:t>AIS31, P2</a:t>
                      </a:r>
                      <a:endParaRPr lang="zh-CN" sz="1800" kern="100" dirty="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800" kern="100" dirty="0">
                          <a:effectLst/>
                          <a:latin typeface="Calibri"/>
                          <a:ea typeface="宋体"/>
                          <a:cs typeface="Times New Roman"/>
                        </a:rPr>
                        <a:t>相比</a:t>
                      </a:r>
                      <a:r>
                        <a:rPr lang="en-US" sz="1800" kern="100" dirty="0">
                          <a:effectLst/>
                          <a:latin typeface="Calibri"/>
                          <a:ea typeface="宋体"/>
                          <a:cs typeface="Times New Roman"/>
                        </a:rPr>
                        <a:t>PTG.1</a:t>
                      </a:r>
                      <a:r>
                        <a:rPr lang="zh-CN" sz="1800" kern="100" dirty="0">
                          <a:effectLst/>
                          <a:latin typeface="Calibri"/>
                          <a:ea typeface="宋体"/>
                          <a:cs typeface="Times New Roman"/>
                        </a:rPr>
                        <a:t>，额外的熵源随机模型和随机原始数据的统计检验数目（代替内部随机数目）</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28223">
                <a:tc>
                  <a:txBody>
                    <a:bodyPr/>
                    <a:lstStyle/>
                    <a:p>
                      <a:pPr algn="l">
                        <a:spcAft>
                          <a:spcPts val="0"/>
                        </a:spcAft>
                      </a:pPr>
                      <a:r>
                        <a:rPr lang="en-US" sz="1800" kern="100">
                          <a:effectLst/>
                          <a:latin typeface="Calibri"/>
                          <a:ea typeface="宋体"/>
                          <a:cs typeface="Times New Roman"/>
                        </a:rPr>
                        <a:t>PTG.3</a:t>
                      </a:r>
                      <a:endParaRPr lang="zh-CN" sz="18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800" kern="100">
                          <a:effectLst/>
                          <a:latin typeface="Calibri"/>
                          <a:ea typeface="宋体"/>
                          <a:cs typeface="Times New Roman"/>
                        </a:rPr>
                        <a:t>无对应部分</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800" kern="100" dirty="0">
                          <a:effectLst/>
                          <a:latin typeface="Calibri"/>
                          <a:ea typeface="宋体"/>
                          <a:cs typeface="Times New Roman"/>
                        </a:rPr>
                        <a:t>相比</a:t>
                      </a:r>
                      <a:r>
                        <a:rPr lang="en-US" sz="1800" kern="100" dirty="0">
                          <a:effectLst/>
                          <a:latin typeface="Calibri"/>
                          <a:ea typeface="宋体"/>
                          <a:cs typeface="Times New Roman"/>
                        </a:rPr>
                        <a:t>PTG.2</a:t>
                      </a:r>
                      <a:r>
                        <a:rPr lang="zh-CN" sz="1800" kern="100" dirty="0">
                          <a:effectLst/>
                          <a:latin typeface="Calibri"/>
                          <a:ea typeface="宋体"/>
                          <a:cs typeface="Times New Roman"/>
                        </a:rPr>
                        <a:t>，额外的加密后处理（混合</a:t>
                      </a:r>
                      <a:r>
                        <a:rPr lang="en-US" sz="1800" kern="100" dirty="0">
                          <a:effectLst/>
                          <a:latin typeface="Calibri"/>
                          <a:ea typeface="宋体"/>
                          <a:cs typeface="Times New Roman"/>
                        </a:rPr>
                        <a:t>PTRNG</a:t>
                      </a:r>
                      <a:r>
                        <a:rPr lang="zh-CN" sz="1800" kern="100" dirty="0">
                          <a:effectLst/>
                          <a:latin typeface="Calibri"/>
                          <a:ea typeface="宋体"/>
                          <a:cs typeface="Times New Roman"/>
                        </a:rPr>
                        <a: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43852">
                <a:tc>
                  <a:txBody>
                    <a:bodyPr/>
                    <a:lstStyle/>
                    <a:p>
                      <a:pPr algn="l">
                        <a:spcAft>
                          <a:spcPts val="0"/>
                        </a:spcAft>
                      </a:pPr>
                      <a:r>
                        <a:rPr lang="en-US" sz="1800" kern="100">
                          <a:effectLst/>
                          <a:latin typeface="Calibri"/>
                          <a:ea typeface="宋体"/>
                          <a:cs typeface="Times New Roman"/>
                        </a:rPr>
                        <a:t>DRG.1</a:t>
                      </a:r>
                      <a:endParaRPr lang="zh-CN" sz="18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800" kern="0">
                          <a:effectLst/>
                          <a:latin typeface="Times New Roman"/>
                          <a:ea typeface="宋体"/>
                          <a:cs typeface="Times New Roman"/>
                        </a:rPr>
                        <a:t>AIS20, K2, </a:t>
                      </a:r>
                      <a:r>
                        <a:rPr lang="zh-CN" sz="1800" kern="0">
                          <a:effectLst/>
                          <a:latin typeface="Times New Roman"/>
                          <a:ea typeface="宋体"/>
                          <a:cs typeface="Times New Roman"/>
                        </a:rPr>
                        <a:t>部分</a:t>
                      </a:r>
                      <a:r>
                        <a:rPr lang="en-US" sz="1800" kern="0">
                          <a:effectLst/>
                          <a:latin typeface="Times New Roman"/>
                          <a:ea typeface="宋体"/>
                          <a:cs typeface="Times New Roman"/>
                        </a:rPr>
                        <a:t> K3</a:t>
                      </a:r>
                      <a:endParaRPr lang="zh-CN" sz="18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800" kern="0" dirty="0">
                          <a:effectLst/>
                          <a:latin typeface="Times New Roman"/>
                          <a:ea typeface="宋体"/>
                          <a:cs typeface="Times New Roman"/>
                        </a:rPr>
                        <a:t>按照</a:t>
                      </a:r>
                      <a:r>
                        <a:rPr lang="en-US" sz="1800" kern="0" dirty="0">
                          <a:effectLst/>
                          <a:latin typeface="Times New Roman"/>
                          <a:ea typeface="宋体"/>
                          <a:cs typeface="Times New Roman"/>
                        </a:rPr>
                        <a:t>ISO18031</a:t>
                      </a:r>
                      <a:r>
                        <a:rPr lang="zh-CN" sz="1800" kern="0" dirty="0">
                          <a:effectLst/>
                          <a:latin typeface="Times New Roman"/>
                          <a:ea typeface="宋体"/>
                          <a:cs typeface="Times New Roman"/>
                        </a:rPr>
                        <a:t>，比</a:t>
                      </a:r>
                      <a:r>
                        <a:rPr lang="en-US" sz="1800" kern="0" dirty="0">
                          <a:effectLst/>
                          <a:latin typeface="Times New Roman"/>
                          <a:ea typeface="宋体"/>
                          <a:cs typeface="Times New Roman"/>
                        </a:rPr>
                        <a:t>DRNG</a:t>
                      </a:r>
                      <a:r>
                        <a:rPr lang="zh-CN" sz="1800" kern="0" dirty="0">
                          <a:effectLst/>
                          <a:latin typeface="Times New Roman"/>
                          <a:ea typeface="宋体"/>
                          <a:cs typeface="Times New Roman"/>
                        </a:rPr>
                        <a:t>具有前向私密性</a:t>
                      </a:r>
                      <a:endParaRPr lang="zh-CN" sz="1800" kern="100" dirty="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343852">
                <a:tc>
                  <a:txBody>
                    <a:bodyPr/>
                    <a:lstStyle/>
                    <a:p>
                      <a:pPr algn="l">
                        <a:spcAft>
                          <a:spcPts val="0"/>
                        </a:spcAft>
                      </a:pPr>
                      <a:r>
                        <a:rPr lang="en-US" sz="1800" kern="100">
                          <a:effectLst/>
                          <a:latin typeface="Calibri"/>
                          <a:ea typeface="宋体"/>
                          <a:cs typeface="Times New Roman"/>
                        </a:rPr>
                        <a:t>DRG.2</a:t>
                      </a:r>
                      <a:endParaRPr lang="zh-CN" sz="18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800" kern="0">
                          <a:effectLst/>
                          <a:latin typeface="Times New Roman"/>
                          <a:ea typeface="宋体"/>
                          <a:cs typeface="Times New Roman"/>
                        </a:rPr>
                        <a:t>AIS20, K3</a:t>
                      </a:r>
                      <a:endParaRPr lang="zh-CN" sz="18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800" kern="0" dirty="0">
                          <a:effectLst/>
                          <a:latin typeface="Times New Roman"/>
                          <a:ea typeface="宋体"/>
                          <a:cs typeface="Times New Roman"/>
                        </a:rPr>
                        <a:t>按照</a:t>
                      </a:r>
                      <a:r>
                        <a:rPr lang="en-US" sz="1800" kern="0" dirty="0">
                          <a:effectLst/>
                          <a:latin typeface="Times New Roman"/>
                          <a:ea typeface="宋体"/>
                          <a:cs typeface="Times New Roman"/>
                        </a:rPr>
                        <a:t>ISO18031</a:t>
                      </a:r>
                      <a:r>
                        <a:rPr lang="zh-CN" sz="1800" kern="0" dirty="0">
                          <a:effectLst/>
                          <a:latin typeface="Times New Roman"/>
                          <a:ea typeface="宋体"/>
                          <a:cs typeface="Times New Roman"/>
                        </a:rPr>
                        <a:t>，比</a:t>
                      </a:r>
                      <a:r>
                        <a:rPr lang="en-US" sz="1800" kern="0" dirty="0">
                          <a:effectLst/>
                          <a:latin typeface="Times New Roman"/>
                          <a:ea typeface="宋体"/>
                          <a:cs typeface="Times New Roman"/>
                        </a:rPr>
                        <a:t>DRG.1</a:t>
                      </a:r>
                      <a:r>
                        <a:rPr lang="zh-CN" sz="1800" kern="0" dirty="0">
                          <a:effectLst/>
                          <a:latin typeface="Times New Roman"/>
                          <a:ea typeface="宋体"/>
                          <a:cs typeface="Times New Roman"/>
                        </a:rPr>
                        <a:t>具有额外的后向私密性</a:t>
                      </a:r>
                      <a:endParaRPr lang="zh-CN" sz="1800" kern="100" dirty="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343852">
                <a:tc>
                  <a:txBody>
                    <a:bodyPr/>
                    <a:lstStyle/>
                    <a:p>
                      <a:pPr algn="l">
                        <a:spcAft>
                          <a:spcPts val="0"/>
                        </a:spcAft>
                      </a:pPr>
                      <a:r>
                        <a:rPr lang="en-US" sz="1800" kern="100">
                          <a:effectLst/>
                          <a:latin typeface="Calibri"/>
                          <a:ea typeface="宋体"/>
                          <a:cs typeface="Times New Roman"/>
                        </a:rPr>
                        <a:t>DRG.3</a:t>
                      </a:r>
                      <a:endParaRPr lang="zh-CN" sz="18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800" kern="0">
                          <a:effectLst/>
                          <a:latin typeface="Times New Roman"/>
                          <a:ea typeface="宋体"/>
                          <a:cs typeface="Times New Roman"/>
                        </a:rPr>
                        <a:t>AIS20, K4</a:t>
                      </a:r>
                      <a:endParaRPr lang="zh-CN" sz="18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800" kern="0" dirty="0">
                          <a:effectLst/>
                          <a:latin typeface="Times New Roman"/>
                          <a:ea typeface="宋体"/>
                          <a:cs typeface="Times New Roman"/>
                        </a:rPr>
                        <a:t>比</a:t>
                      </a:r>
                      <a:r>
                        <a:rPr lang="en-US" sz="1800" kern="0" dirty="0">
                          <a:effectLst/>
                          <a:latin typeface="Times New Roman"/>
                          <a:ea typeface="宋体"/>
                          <a:cs typeface="Times New Roman"/>
                        </a:rPr>
                        <a:t>DRG.2</a:t>
                      </a:r>
                      <a:r>
                        <a:rPr lang="zh-CN" sz="1800" kern="0" dirty="0">
                          <a:effectLst/>
                          <a:latin typeface="Times New Roman"/>
                          <a:ea typeface="宋体"/>
                          <a:cs typeface="Times New Roman"/>
                        </a:rPr>
                        <a:t>具有额外的加强后向私密性</a:t>
                      </a:r>
                      <a:endParaRPr lang="zh-CN" sz="1800" kern="100" dirty="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343852">
                <a:tc>
                  <a:txBody>
                    <a:bodyPr/>
                    <a:lstStyle/>
                    <a:p>
                      <a:pPr algn="l">
                        <a:spcAft>
                          <a:spcPts val="0"/>
                        </a:spcAft>
                      </a:pPr>
                      <a:r>
                        <a:rPr lang="en-US" sz="1800" kern="100">
                          <a:effectLst/>
                          <a:latin typeface="Calibri"/>
                          <a:ea typeface="宋体"/>
                          <a:cs typeface="Times New Roman"/>
                        </a:rPr>
                        <a:t>DRG.4</a:t>
                      </a:r>
                      <a:endParaRPr lang="zh-CN" sz="18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800" kern="100">
                          <a:effectLst/>
                          <a:latin typeface="Calibri"/>
                          <a:ea typeface="宋体"/>
                          <a:cs typeface="Times New Roman"/>
                        </a:rPr>
                        <a:t>无对应部分</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800" kern="0" dirty="0">
                          <a:effectLst/>
                          <a:latin typeface="Times New Roman"/>
                          <a:ea typeface="宋体"/>
                          <a:cs typeface="Times New Roman"/>
                        </a:rPr>
                        <a:t>比</a:t>
                      </a:r>
                      <a:r>
                        <a:rPr lang="en-US" sz="1800" kern="0" dirty="0">
                          <a:effectLst/>
                          <a:latin typeface="Times New Roman"/>
                          <a:ea typeface="宋体"/>
                          <a:cs typeface="Times New Roman"/>
                        </a:rPr>
                        <a:t>DRG.3</a:t>
                      </a:r>
                      <a:r>
                        <a:rPr lang="zh-CN" sz="1800" kern="0" dirty="0">
                          <a:effectLst/>
                          <a:latin typeface="Times New Roman"/>
                          <a:ea typeface="宋体"/>
                          <a:cs typeface="Times New Roman"/>
                        </a:rPr>
                        <a:t>具有额外的加强前向私密性（混合</a:t>
                      </a:r>
                      <a:r>
                        <a:rPr lang="en-US" sz="1800" kern="0" dirty="0">
                          <a:effectLst/>
                          <a:latin typeface="Times New Roman"/>
                          <a:ea typeface="宋体"/>
                          <a:cs typeface="Times New Roman"/>
                        </a:rPr>
                        <a:t>DRNG</a:t>
                      </a:r>
                      <a:r>
                        <a:rPr lang="zh-CN" sz="1800" kern="0" dirty="0">
                          <a:effectLst/>
                          <a:latin typeface="Times New Roman"/>
                          <a:ea typeface="宋体"/>
                          <a:cs typeface="Times New Roman"/>
                        </a:rPr>
                        <a:t>）</a:t>
                      </a:r>
                      <a:endParaRPr lang="zh-CN" sz="1800" kern="100" dirty="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328223">
                <a:tc>
                  <a:txBody>
                    <a:bodyPr/>
                    <a:lstStyle/>
                    <a:p>
                      <a:pPr algn="l">
                        <a:spcAft>
                          <a:spcPts val="0"/>
                        </a:spcAft>
                      </a:pPr>
                      <a:r>
                        <a:rPr lang="en-US" sz="1800" kern="100" dirty="0">
                          <a:effectLst/>
                          <a:latin typeface="Calibri"/>
                          <a:ea typeface="宋体"/>
                          <a:cs typeface="Times New Roman"/>
                        </a:rPr>
                        <a:t>NTG.1</a:t>
                      </a:r>
                      <a:endParaRPr lang="zh-CN" sz="1800" kern="100" dirty="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800" kern="100">
                          <a:effectLst/>
                          <a:latin typeface="Calibri"/>
                          <a:ea typeface="宋体"/>
                          <a:cs typeface="Times New Roman"/>
                        </a:rPr>
                        <a:t>无对应部分</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1800" kern="100" dirty="0">
                          <a:effectLst/>
                          <a:latin typeface="Calibri"/>
                          <a:ea typeface="宋体"/>
                          <a:cs typeface="Times New Roman"/>
                        </a:rPr>
                        <a:t>没有物理真随机数的信息熵估计</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7124822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100" dirty="0"/>
              <a:t>AIS31 </a:t>
            </a:r>
            <a:r>
              <a:rPr lang="zh-CN" altLang="en-US" sz="3100" dirty="0"/>
              <a:t>物理真随机数产生器的功能类和评估方法</a:t>
            </a:r>
            <a:endParaRPr lang="zh-CN" altLang="en-US" dirty="0"/>
          </a:p>
        </p:txBody>
      </p:sp>
      <p:sp>
        <p:nvSpPr>
          <p:cNvPr id="3" name="内容占位符 2"/>
          <p:cNvSpPr>
            <a:spLocks noGrp="1"/>
          </p:cNvSpPr>
          <p:nvPr>
            <p:ph idx="1"/>
          </p:nvPr>
        </p:nvSpPr>
        <p:spPr/>
        <p:txBody>
          <a:bodyPr>
            <a:normAutofit/>
          </a:bodyPr>
          <a:lstStyle/>
          <a:p>
            <a:pPr marL="0" indent="0">
              <a:buNone/>
            </a:pPr>
            <a:r>
              <a:rPr lang="zh-CN" altLang="en-US" sz="2800" dirty="0"/>
              <a:t>标准的功能：</a:t>
            </a:r>
            <a:r>
              <a:rPr lang="zh-CN" altLang="zh-CN" sz="2800" dirty="0"/>
              <a:t>物理真随机数生成器的评价标准，是</a:t>
            </a:r>
            <a:r>
              <a:rPr lang="en-US" altLang="zh-CN" sz="2800" dirty="0"/>
              <a:t>AIS20</a:t>
            </a:r>
            <a:r>
              <a:rPr lang="zh-CN" altLang="zh-CN" sz="2800" dirty="0"/>
              <a:t>数学基础部分的对应文件</a:t>
            </a:r>
            <a:endParaRPr lang="en-US" altLang="zh-CN" sz="2800" dirty="0"/>
          </a:p>
          <a:p>
            <a:pPr marL="0" indent="0">
              <a:buNone/>
            </a:pPr>
            <a:r>
              <a:rPr lang="zh-CN" altLang="en-US" sz="2800" dirty="0"/>
              <a:t>标准的版本信息：</a:t>
            </a:r>
            <a:r>
              <a:rPr lang="zh-CN" altLang="zh-CN" sz="2800" dirty="0"/>
              <a:t>目前只有</a:t>
            </a:r>
            <a:r>
              <a:rPr lang="en-US" altLang="zh-CN" sz="2800" dirty="0"/>
              <a:t>2001-9-25</a:t>
            </a:r>
            <a:r>
              <a:rPr lang="zh-CN" altLang="zh-CN" sz="2800" dirty="0"/>
              <a:t>第</a:t>
            </a:r>
            <a:r>
              <a:rPr lang="en-US" altLang="zh-CN" sz="2800" dirty="0"/>
              <a:t>3.1</a:t>
            </a:r>
            <a:r>
              <a:rPr lang="zh-CN" altLang="zh-CN" sz="2800" dirty="0"/>
              <a:t>版。</a:t>
            </a:r>
          </a:p>
          <a:p>
            <a:pPr marL="0" indent="0">
              <a:buNone/>
            </a:pPr>
            <a:r>
              <a:rPr lang="zh-CN" altLang="en-US" sz="2800" dirty="0"/>
              <a:t>标准的内容：</a:t>
            </a:r>
            <a:r>
              <a:rPr lang="zh-CN" altLang="zh-CN" sz="2800" dirty="0"/>
              <a:t>两个功能类（</a:t>
            </a:r>
            <a:r>
              <a:rPr lang="en-US" altLang="zh-CN" sz="2800" dirty="0"/>
              <a:t>P1</a:t>
            </a:r>
            <a:r>
              <a:rPr lang="zh-CN" altLang="zh-CN" sz="2800" dirty="0"/>
              <a:t>，</a:t>
            </a:r>
            <a:r>
              <a:rPr lang="en-US" altLang="zh-CN" sz="2800" dirty="0"/>
              <a:t>P2</a:t>
            </a:r>
            <a:r>
              <a:rPr lang="zh-CN" altLang="zh-CN" sz="2800" dirty="0"/>
              <a:t>）</a:t>
            </a:r>
            <a:r>
              <a:rPr lang="zh-CN" altLang="en-US" sz="2800" dirty="0"/>
              <a:t>和</a:t>
            </a:r>
            <a:r>
              <a:rPr lang="zh-CN" altLang="zh-CN" sz="2800" dirty="0"/>
              <a:t>评估的任务。</a:t>
            </a:r>
            <a:endParaRPr lang="en-US" altLang="zh-CN" sz="2800" dirty="0"/>
          </a:p>
          <a:p>
            <a:pPr marL="0" indent="0">
              <a:buNone/>
            </a:pPr>
            <a:r>
              <a:rPr lang="zh-CN" altLang="en-US" sz="2800" dirty="0"/>
              <a:t>标准的应用领域：</a:t>
            </a:r>
            <a:r>
              <a:rPr lang="en-US" altLang="zh-CN" sz="2800" dirty="0"/>
              <a:t> T-Systems </a:t>
            </a:r>
            <a:r>
              <a:rPr lang="en-US" altLang="zh-CN" sz="2800" dirty="0" err="1"/>
              <a:t>debis</a:t>
            </a:r>
            <a:r>
              <a:rPr lang="en-US" altLang="zh-CN" sz="2800" dirty="0"/>
              <a:t> </a:t>
            </a:r>
            <a:r>
              <a:rPr lang="en-US" altLang="zh-CN" sz="2800" dirty="0" err="1"/>
              <a:t>Systemhaus</a:t>
            </a:r>
            <a:r>
              <a:rPr lang="en-US" altLang="zh-CN" sz="2800" dirty="0"/>
              <a:t> Information Security Services</a:t>
            </a:r>
          </a:p>
        </p:txBody>
      </p:sp>
    </p:spTree>
    <p:extLst>
      <p:ext uri="{BB962C8B-B14F-4D97-AF65-F5344CB8AC3E}">
        <p14:creationId xmlns:p14="http://schemas.microsoft.com/office/powerpoint/2010/main" val="22597050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AIS31 </a:t>
            </a:r>
            <a:r>
              <a:rPr lang="zh-CN" altLang="en-US" dirty="0"/>
              <a:t>评估要求</a:t>
            </a:r>
          </a:p>
        </p:txBody>
      </p:sp>
      <p:sp>
        <p:nvSpPr>
          <p:cNvPr id="3" name="内容占位符 2"/>
          <p:cNvSpPr>
            <a:spLocks noGrp="1"/>
          </p:cNvSpPr>
          <p:nvPr>
            <p:ph idx="1"/>
          </p:nvPr>
        </p:nvSpPr>
        <p:spPr/>
        <p:txBody>
          <a:bodyPr>
            <a:normAutofit/>
          </a:bodyPr>
          <a:lstStyle/>
          <a:p>
            <a:pPr marL="0" indent="0">
              <a:buNone/>
            </a:pPr>
            <a:r>
              <a:rPr lang="zh-CN" altLang="zh-CN" sz="2800" dirty="0"/>
              <a:t>申请人必须根据标准</a:t>
            </a:r>
            <a:r>
              <a:rPr lang="en-US" altLang="zh-CN" sz="2800" dirty="0"/>
              <a:t>ITSEC JIL</a:t>
            </a:r>
            <a:r>
              <a:rPr lang="zh-CN" altLang="zh-CN" sz="2800" dirty="0"/>
              <a:t>说明</a:t>
            </a:r>
            <a:r>
              <a:rPr lang="en-US" altLang="zh-CN" sz="2800" dirty="0"/>
              <a:t>TRNG</a:t>
            </a:r>
            <a:r>
              <a:rPr lang="zh-CN" altLang="zh-CN" sz="2800" dirty="0"/>
              <a:t>的结构和功能模式，作为</a:t>
            </a:r>
            <a:r>
              <a:rPr lang="zh-CN" altLang="en-US" sz="2800" dirty="0"/>
              <a:t>结构</a:t>
            </a:r>
            <a:r>
              <a:rPr lang="zh-CN" altLang="zh-CN" sz="2800" dirty="0"/>
              <a:t>强度证明的一部分</a:t>
            </a:r>
            <a:r>
              <a:rPr lang="zh-CN" altLang="en-US" sz="2800" dirty="0"/>
              <a:t>；</a:t>
            </a:r>
            <a:endParaRPr lang="en-US" altLang="zh-CN" sz="2800" dirty="0"/>
          </a:p>
          <a:p>
            <a:pPr marL="0" indent="0">
              <a:buNone/>
            </a:pPr>
            <a:r>
              <a:rPr lang="zh-CN" altLang="zh-CN" sz="2800" dirty="0"/>
              <a:t>对于正在实施中的</a:t>
            </a:r>
            <a:r>
              <a:rPr lang="en-US" altLang="zh-CN" sz="2800" dirty="0"/>
              <a:t>ITSEC E3</a:t>
            </a:r>
            <a:r>
              <a:rPr lang="zh-CN" altLang="zh-CN" sz="2800" dirty="0"/>
              <a:t>或在</a:t>
            </a:r>
            <a:r>
              <a:rPr lang="en-US" altLang="zh-CN" sz="2800" dirty="0"/>
              <a:t>ATE DPT.2</a:t>
            </a:r>
            <a:r>
              <a:rPr lang="zh-CN" altLang="zh-CN" sz="2800" dirty="0"/>
              <a:t>测试下的</a:t>
            </a:r>
            <a:r>
              <a:rPr lang="en-US" altLang="zh-CN" sz="2800" dirty="0"/>
              <a:t>CC EAL5</a:t>
            </a:r>
            <a:r>
              <a:rPr lang="zh-CN" altLang="zh-CN" sz="2800" dirty="0"/>
              <a:t>的底层设计，申请人必须提供符合预期功能等级的统计测试证明</a:t>
            </a:r>
            <a:r>
              <a:rPr lang="zh-CN" altLang="en-US" sz="2800" dirty="0"/>
              <a:t>；</a:t>
            </a:r>
            <a:endParaRPr lang="en-US" altLang="zh-CN" sz="2800" dirty="0"/>
          </a:p>
          <a:p>
            <a:pPr marL="0" indent="0">
              <a:buNone/>
            </a:pPr>
            <a:r>
              <a:rPr lang="zh-CN" altLang="zh-CN" sz="2800" dirty="0"/>
              <a:t>对如何产生噪声信号，以及对以这种方式诱发数字化随机噪声信号的解释，必须作出清晰描述。</a:t>
            </a:r>
            <a:endParaRPr lang="zh-CN" altLang="en-US" sz="2800" dirty="0"/>
          </a:p>
        </p:txBody>
      </p:sp>
    </p:spTree>
    <p:extLst>
      <p:ext uri="{BB962C8B-B14F-4D97-AF65-F5344CB8AC3E}">
        <p14:creationId xmlns:p14="http://schemas.microsoft.com/office/powerpoint/2010/main" val="27475268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AIS31</a:t>
            </a:r>
            <a:r>
              <a:rPr lang="zh-CN" altLang="en-US" dirty="0"/>
              <a:t>与</a:t>
            </a:r>
            <a:r>
              <a:rPr lang="en-US" altLang="zh-CN" dirty="0"/>
              <a:t>ITSEC</a:t>
            </a:r>
            <a:r>
              <a:rPr lang="zh-CN" altLang="zh-CN" dirty="0"/>
              <a:t>和</a:t>
            </a:r>
            <a:r>
              <a:rPr lang="en-US" altLang="zh-CN" dirty="0"/>
              <a:t>CC</a:t>
            </a:r>
            <a:r>
              <a:rPr lang="zh-CN" altLang="en-US" dirty="0"/>
              <a:t>的比较</a:t>
            </a:r>
          </a:p>
        </p:txBody>
      </p:sp>
      <p:sp>
        <p:nvSpPr>
          <p:cNvPr id="3" name="内容占位符 2"/>
          <p:cNvSpPr>
            <a:spLocks noGrp="1"/>
          </p:cNvSpPr>
          <p:nvPr>
            <p:ph idx="1"/>
          </p:nvPr>
        </p:nvSpPr>
        <p:spPr/>
        <p:txBody>
          <a:bodyPr>
            <a:normAutofit lnSpcReduction="10000"/>
          </a:bodyPr>
          <a:lstStyle/>
          <a:p>
            <a:pPr marL="0" indent="0">
              <a:buNone/>
            </a:pPr>
            <a:r>
              <a:rPr lang="zh-CN" altLang="en-US" sz="3000" dirty="0"/>
              <a:t>评估</a:t>
            </a:r>
            <a:r>
              <a:rPr lang="zh-CN" altLang="zh-CN" sz="3000" dirty="0"/>
              <a:t>任务与</a:t>
            </a:r>
            <a:r>
              <a:rPr lang="en-US" altLang="zh-CN" sz="3000" dirty="0"/>
              <a:t>TRNG</a:t>
            </a:r>
            <a:r>
              <a:rPr lang="zh-CN" altLang="zh-CN" sz="3000" dirty="0"/>
              <a:t>的检测有关，但没有</a:t>
            </a:r>
            <a:r>
              <a:rPr lang="zh-CN" altLang="en-US" sz="3000" dirty="0"/>
              <a:t>达到</a:t>
            </a:r>
            <a:r>
              <a:rPr lang="en-US" altLang="zh-CN" sz="3000" dirty="0"/>
              <a:t>ITSEC</a:t>
            </a:r>
            <a:r>
              <a:rPr lang="zh-CN" altLang="zh-CN" sz="3000" dirty="0"/>
              <a:t>和</a:t>
            </a:r>
            <a:r>
              <a:rPr lang="en-US" altLang="zh-CN" sz="3000" dirty="0"/>
              <a:t>CC</a:t>
            </a:r>
            <a:r>
              <a:rPr lang="zh-CN" altLang="zh-CN" sz="3000" dirty="0"/>
              <a:t>标准的全部要求</a:t>
            </a:r>
            <a:r>
              <a:rPr lang="zh-CN" altLang="en-US" sz="3000" dirty="0"/>
              <a:t>；</a:t>
            </a:r>
            <a:endParaRPr lang="en-US" altLang="zh-CN" sz="3000" dirty="0"/>
          </a:p>
          <a:p>
            <a:pPr marL="0" indent="0">
              <a:buNone/>
            </a:pPr>
            <a:r>
              <a:rPr lang="zh-CN" altLang="zh-CN" sz="3000" dirty="0"/>
              <a:t>评估方法不能应用于噪声源</a:t>
            </a:r>
            <a:r>
              <a:rPr lang="zh-CN" altLang="en-US" sz="3000" dirty="0"/>
              <a:t>在</a:t>
            </a:r>
            <a:r>
              <a:rPr lang="zh-CN" altLang="zh-CN" sz="3000" dirty="0"/>
              <a:t>评估目标之外的随机数生成器</a:t>
            </a:r>
            <a:r>
              <a:rPr lang="zh-CN" altLang="en-US" sz="3000" dirty="0"/>
              <a:t>；</a:t>
            </a:r>
            <a:endParaRPr lang="en-US" altLang="zh-CN" sz="3000" dirty="0"/>
          </a:p>
          <a:p>
            <a:pPr marL="0" indent="0">
              <a:buNone/>
            </a:pPr>
            <a:r>
              <a:rPr lang="zh-CN" altLang="zh-CN" sz="3000" dirty="0"/>
              <a:t>功能类（</a:t>
            </a:r>
            <a:r>
              <a:rPr lang="en-US" altLang="zh-CN" sz="3000" dirty="0"/>
              <a:t>p1</a:t>
            </a:r>
            <a:r>
              <a:rPr lang="zh-CN" altLang="zh-CN" sz="3000" dirty="0"/>
              <a:t>、</a:t>
            </a:r>
            <a:r>
              <a:rPr lang="en-US" altLang="zh-CN" sz="3000" dirty="0"/>
              <a:t>p2</a:t>
            </a:r>
            <a:r>
              <a:rPr lang="zh-CN" altLang="zh-CN" sz="3000" dirty="0"/>
              <a:t>）具有</a:t>
            </a:r>
            <a:r>
              <a:rPr lang="en-US" altLang="zh-CN" sz="3000" dirty="0"/>
              <a:t>ITSEC</a:t>
            </a:r>
            <a:r>
              <a:rPr lang="zh-CN" altLang="zh-CN" sz="3000" dirty="0"/>
              <a:t>的评估机制和</a:t>
            </a:r>
            <a:r>
              <a:rPr lang="en-US" altLang="zh-CN" sz="3000" dirty="0"/>
              <a:t>CC</a:t>
            </a:r>
            <a:r>
              <a:rPr lang="zh-CN" altLang="zh-CN" sz="3000" dirty="0"/>
              <a:t>的功能优点</a:t>
            </a:r>
            <a:r>
              <a:rPr lang="zh-CN" altLang="en-US" sz="3000" dirty="0"/>
              <a:t>；</a:t>
            </a:r>
            <a:endParaRPr lang="en-US" altLang="zh-CN" sz="3000" dirty="0"/>
          </a:p>
          <a:p>
            <a:pPr marL="0" indent="0">
              <a:buNone/>
            </a:pPr>
            <a:r>
              <a:rPr lang="zh-CN" altLang="zh-CN" sz="3000" dirty="0"/>
              <a:t>关于</a:t>
            </a:r>
            <a:r>
              <a:rPr lang="en-US" altLang="zh-CN" sz="3000" dirty="0"/>
              <a:t>TRNG</a:t>
            </a:r>
            <a:r>
              <a:rPr lang="zh-CN" altLang="zh-CN" sz="3000" dirty="0"/>
              <a:t>结构和功能模式的信息，以及评估级别所需的规格表和规格深度必须在</a:t>
            </a:r>
            <a:r>
              <a:rPr lang="en-US" altLang="zh-CN" sz="3000" dirty="0"/>
              <a:t>ITSEC E2</a:t>
            </a:r>
            <a:r>
              <a:rPr lang="zh-CN" altLang="zh-CN" sz="3000" dirty="0"/>
              <a:t>的详细设计和</a:t>
            </a:r>
            <a:r>
              <a:rPr lang="en-US" altLang="zh-CN" sz="3000" dirty="0"/>
              <a:t>CC EAL4 </a:t>
            </a:r>
            <a:r>
              <a:rPr lang="zh-CN" altLang="zh-CN" sz="3000" dirty="0"/>
              <a:t>相应的</a:t>
            </a:r>
            <a:r>
              <a:rPr lang="en-US" altLang="zh-CN" sz="3000" dirty="0"/>
              <a:t>ADV_LLD.1</a:t>
            </a:r>
            <a:r>
              <a:rPr lang="zh-CN" altLang="zh-CN" sz="3000" dirty="0"/>
              <a:t>的底层设计中提供。</a:t>
            </a:r>
            <a:endParaRPr lang="zh-CN" altLang="en-US" sz="3000" dirty="0"/>
          </a:p>
          <a:p>
            <a:pPr marL="0" indent="0">
              <a:buNone/>
            </a:pPr>
            <a:endParaRPr lang="zh-CN" altLang="en-US" dirty="0"/>
          </a:p>
        </p:txBody>
      </p:sp>
    </p:spTree>
    <p:extLst>
      <p:ext uri="{BB962C8B-B14F-4D97-AF65-F5344CB8AC3E}">
        <p14:creationId xmlns:p14="http://schemas.microsoft.com/office/powerpoint/2010/main" val="20394491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L="0" indent="0"/>
            <a:r>
              <a:rPr lang="en-US" altLang="zh-CN" dirty="0"/>
              <a:t>3 ETSI</a:t>
            </a:r>
          </a:p>
        </p:txBody>
      </p:sp>
      <p:sp>
        <p:nvSpPr>
          <p:cNvPr id="3" name="内容占位符 2"/>
          <p:cNvSpPr>
            <a:spLocks noGrp="1"/>
          </p:cNvSpPr>
          <p:nvPr>
            <p:ph idx="1"/>
          </p:nvPr>
        </p:nvSpPr>
        <p:spPr/>
        <p:txBody>
          <a:bodyPr>
            <a:normAutofit fontScale="85000" lnSpcReduction="20000"/>
          </a:bodyPr>
          <a:lstStyle/>
          <a:p>
            <a:r>
              <a:rPr lang="fi-FI" altLang="zh-CN" dirty="0"/>
              <a:t>ETSI TS 133 501 V15.3.1 (2019-04)</a:t>
            </a:r>
            <a:r>
              <a:rPr lang="en-US" altLang="zh-CN" b="1" dirty="0"/>
              <a:t> 5G;</a:t>
            </a:r>
            <a:r>
              <a:rPr lang="en-US" altLang="zh-CN" dirty="0"/>
              <a:t>Security architecture and procedures for 5G System</a:t>
            </a:r>
            <a:r>
              <a:rPr lang="zh-CN" altLang="en-US" dirty="0"/>
              <a:t>，</a:t>
            </a:r>
            <a:r>
              <a:rPr lang="en-US" altLang="zh-CN" dirty="0"/>
              <a:t> 5G</a:t>
            </a:r>
            <a:r>
              <a:rPr lang="zh-CN" altLang="en-US" dirty="0"/>
              <a:t>系统的安全体系结构和程序</a:t>
            </a:r>
            <a:r>
              <a:rPr lang="en-US" altLang="zh-CN" dirty="0"/>
              <a:t>(3GPP TS 33.501 version 15.3.1 Release 15)</a:t>
            </a:r>
          </a:p>
          <a:p>
            <a:r>
              <a:rPr lang="fi-FI" altLang="zh-CN" dirty="0"/>
              <a:t>ETSI EN 302 307 V1.3.1 (2013-03) </a:t>
            </a:r>
            <a:r>
              <a:rPr lang="en-US" altLang="zh-CN" dirty="0"/>
              <a:t>Digital Video Broadcasting (DVB);Second generation framing structure, channel coding and modulation systems for Broadcasting, Interactive Services, News Gathering and other broadband satellite applications (DVB-S2)</a:t>
            </a:r>
            <a:r>
              <a:rPr lang="zh-CN" altLang="en-US" dirty="0"/>
              <a:t>数字视频广播（</a:t>
            </a:r>
            <a:r>
              <a:rPr lang="en-US" altLang="zh-CN" dirty="0"/>
              <a:t>DVB</a:t>
            </a:r>
            <a:r>
              <a:rPr lang="zh-CN" altLang="en-US" dirty="0"/>
              <a:t>）；广播、交互式服务、新闻收集和其它宽带卫星应用（</a:t>
            </a:r>
            <a:r>
              <a:rPr lang="en-US" altLang="zh-CN" dirty="0"/>
              <a:t>DVB-S2</a:t>
            </a:r>
            <a:r>
              <a:rPr lang="zh-CN" altLang="en-US" dirty="0"/>
              <a:t>）的第二代帧结构、信道编码和调制系统</a:t>
            </a:r>
          </a:p>
        </p:txBody>
      </p:sp>
    </p:spTree>
    <p:extLst>
      <p:ext uri="{BB962C8B-B14F-4D97-AF65-F5344CB8AC3E}">
        <p14:creationId xmlns:p14="http://schemas.microsoft.com/office/powerpoint/2010/main" val="31617514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p:txBody>
          <a:bodyPr>
            <a:normAutofit lnSpcReduction="10000"/>
          </a:bodyPr>
          <a:lstStyle/>
          <a:p>
            <a:pPr marL="0" indent="0">
              <a:buNone/>
            </a:pPr>
            <a:r>
              <a:rPr lang="en-US" altLang="zh-CN" dirty="0"/>
              <a:t>3GPP</a:t>
            </a:r>
            <a:r>
              <a:rPr lang="zh-CN" altLang="en-US" dirty="0"/>
              <a:t>（</a:t>
            </a:r>
            <a:r>
              <a:rPr lang="en-US" altLang="zh-CN" dirty="0"/>
              <a:t>3rd Generation Partnership Project</a:t>
            </a:r>
            <a:r>
              <a:rPr lang="zh-CN" altLang="en-US" dirty="0"/>
              <a:t>）的组织伙伴包括</a:t>
            </a:r>
            <a:r>
              <a:rPr lang="zh-CN" altLang="en-US" dirty="0">
                <a:hlinkClick r:id="rId2"/>
              </a:rPr>
              <a:t>欧洲</a:t>
            </a:r>
            <a:r>
              <a:rPr lang="zh-CN" altLang="en-US" dirty="0"/>
              <a:t>的</a:t>
            </a:r>
            <a:r>
              <a:rPr lang="en-US" altLang="zh-CN" dirty="0"/>
              <a:t>ETSI</a:t>
            </a:r>
            <a:r>
              <a:rPr lang="zh-CN" altLang="en-US" dirty="0"/>
              <a:t>、日本的</a:t>
            </a:r>
            <a:r>
              <a:rPr lang="en-US" altLang="zh-CN" dirty="0"/>
              <a:t>ARIB</a:t>
            </a:r>
            <a:r>
              <a:rPr lang="zh-CN" altLang="en-US" dirty="0"/>
              <a:t>、日本的</a:t>
            </a:r>
            <a:r>
              <a:rPr lang="en-US" altLang="zh-CN" dirty="0"/>
              <a:t>TTC</a:t>
            </a:r>
            <a:r>
              <a:rPr lang="zh-CN" altLang="en-US" dirty="0"/>
              <a:t>、韩国的</a:t>
            </a:r>
            <a:r>
              <a:rPr lang="en-US" altLang="zh-CN" dirty="0"/>
              <a:t>TTA</a:t>
            </a:r>
            <a:r>
              <a:rPr lang="zh-CN" altLang="en-US" dirty="0"/>
              <a:t>美国的</a:t>
            </a:r>
            <a:r>
              <a:rPr lang="en-US" altLang="zh-CN" dirty="0"/>
              <a:t>T1</a:t>
            </a:r>
            <a:r>
              <a:rPr lang="zh-CN" altLang="en-US" dirty="0"/>
              <a:t>和</a:t>
            </a:r>
            <a:r>
              <a:rPr lang="zh-CN" altLang="en-US" dirty="0">
                <a:hlinkClick r:id="rId3"/>
              </a:rPr>
              <a:t>中国通信标准化协会</a:t>
            </a:r>
            <a:r>
              <a:rPr lang="zh-CN" altLang="en-US" dirty="0"/>
              <a:t>六个标准化组织。标准文本采用分系列的方式进行管理。</a:t>
            </a:r>
            <a:r>
              <a:rPr lang="en-US" altLang="zh-CN" dirty="0"/>
              <a:t>R4</a:t>
            </a:r>
            <a:r>
              <a:rPr lang="zh-CN" altLang="en-US" dirty="0"/>
              <a:t>规范在</a:t>
            </a:r>
            <a:r>
              <a:rPr lang="en-US" altLang="zh-CN" dirty="0"/>
              <a:t>2001</a:t>
            </a:r>
            <a:r>
              <a:rPr lang="zh-CN" altLang="en-US" dirty="0"/>
              <a:t>年</a:t>
            </a:r>
            <a:r>
              <a:rPr lang="en-US" altLang="zh-CN" dirty="0"/>
              <a:t>3</a:t>
            </a:r>
            <a:r>
              <a:rPr lang="zh-CN" altLang="en-US" dirty="0"/>
              <a:t>月</a:t>
            </a:r>
            <a:r>
              <a:rPr lang="en-US" altLang="zh-CN" dirty="0"/>
              <a:t>"</a:t>
            </a:r>
            <a:r>
              <a:rPr lang="zh-CN" altLang="en-US" dirty="0"/>
              <a:t>冻结</a:t>
            </a:r>
            <a:r>
              <a:rPr lang="en-US" altLang="zh-CN" dirty="0"/>
              <a:t>"</a:t>
            </a:r>
            <a:r>
              <a:rPr lang="zh-CN" altLang="en-US" dirty="0"/>
              <a:t>，意为自即日起对</a:t>
            </a:r>
            <a:r>
              <a:rPr lang="en-US" altLang="zh-CN" dirty="0"/>
              <a:t>R4</a:t>
            </a:r>
            <a:r>
              <a:rPr lang="zh-CN" altLang="en-US" dirty="0"/>
              <a:t>只允许进行必要的修正而推出修订版，不再添加新特性。所有</a:t>
            </a:r>
            <a:r>
              <a:rPr lang="en-US" altLang="zh-CN" dirty="0"/>
              <a:t>R4</a:t>
            </a:r>
            <a:r>
              <a:rPr lang="zh-CN" altLang="en-US" dirty="0"/>
              <a:t>规范均拥有一个</a:t>
            </a:r>
            <a:r>
              <a:rPr lang="en-US" altLang="zh-CN" dirty="0"/>
              <a:t>"4.x.y"</a:t>
            </a:r>
            <a:r>
              <a:rPr lang="zh-CN" altLang="en-US" dirty="0"/>
              <a:t>形式的版本号。如果规范在冻结期后发现需要添加新特性，则制定一个新版本规范。</a:t>
            </a:r>
          </a:p>
        </p:txBody>
      </p:sp>
    </p:spTree>
    <p:extLst>
      <p:ext uri="{BB962C8B-B14F-4D97-AF65-F5344CB8AC3E}">
        <p14:creationId xmlns:p14="http://schemas.microsoft.com/office/powerpoint/2010/main" val="42092477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5G</a:t>
            </a:r>
            <a:r>
              <a:rPr lang="zh-CN" altLang="en-US" dirty="0"/>
              <a:t>系统的安全体系结构和程序</a:t>
            </a:r>
          </a:p>
        </p:txBody>
      </p:sp>
      <p:sp>
        <p:nvSpPr>
          <p:cNvPr id="3" name="内容占位符 2"/>
          <p:cNvSpPr>
            <a:spLocks noGrp="1"/>
          </p:cNvSpPr>
          <p:nvPr>
            <p:ph idx="1"/>
          </p:nvPr>
        </p:nvSpPr>
        <p:spPr/>
        <p:txBody>
          <a:bodyPr/>
          <a:lstStyle/>
          <a:p>
            <a:pPr marL="0" indent="0">
              <a:buNone/>
            </a:pPr>
            <a:r>
              <a:rPr lang="zh-CN" altLang="en-US" dirty="0"/>
              <a:t>本文件规定了</a:t>
            </a:r>
            <a:r>
              <a:rPr lang="en-US" altLang="zh-CN" dirty="0"/>
              <a:t>5G</a:t>
            </a:r>
            <a:r>
              <a:rPr lang="zh-CN" altLang="en-US" dirty="0"/>
              <a:t>系统和</a:t>
            </a:r>
            <a:r>
              <a:rPr lang="en-US" altLang="zh-CN" dirty="0"/>
              <a:t>5G</a:t>
            </a:r>
            <a:r>
              <a:rPr lang="zh-CN" altLang="en-US" dirty="0"/>
              <a:t>核心的安全体系结构，即安全特性和安全机制，以及</a:t>
            </a:r>
            <a:r>
              <a:rPr lang="en-US" altLang="zh-CN" dirty="0"/>
              <a:t>5G</a:t>
            </a:r>
            <a:r>
              <a:rPr lang="zh-CN" altLang="en-US" dirty="0"/>
              <a:t>系统内执行的安全程序，包括</a:t>
            </a:r>
            <a:r>
              <a:rPr lang="en-US" altLang="zh-CN" dirty="0"/>
              <a:t>5G</a:t>
            </a:r>
            <a:r>
              <a:rPr lang="zh-CN" altLang="en-US" dirty="0"/>
              <a:t>核心和</a:t>
            </a:r>
            <a:r>
              <a:rPr lang="en-US" altLang="zh-CN" dirty="0"/>
              <a:t>5G</a:t>
            </a:r>
            <a:r>
              <a:rPr lang="zh-CN" altLang="en-US" dirty="0"/>
              <a:t>新无线电通信。</a:t>
            </a:r>
            <a:endParaRPr lang="en-US" altLang="zh-CN" dirty="0"/>
          </a:p>
          <a:p>
            <a:pPr marL="0" indent="0">
              <a:buNone/>
            </a:pPr>
            <a:endParaRPr lang="zh-CN" altLang="en-US" dirty="0"/>
          </a:p>
        </p:txBody>
      </p:sp>
    </p:spTree>
    <p:extLst>
      <p:ext uri="{BB962C8B-B14F-4D97-AF65-F5344CB8AC3E}">
        <p14:creationId xmlns:p14="http://schemas.microsoft.com/office/powerpoint/2010/main" val="8219641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4 FIPS</a:t>
            </a:r>
            <a:endParaRPr lang="zh-CN" altLang="en-US" dirty="0"/>
          </a:p>
        </p:txBody>
      </p:sp>
      <p:sp>
        <p:nvSpPr>
          <p:cNvPr id="3" name="内容占位符 2"/>
          <p:cNvSpPr>
            <a:spLocks noGrp="1"/>
          </p:cNvSpPr>
          <p:nvPr>
            <p:ph idx="1"/>
          </p:nvPr>
        </p:nvSpPr>
        <p:spPr/>
        <p:txBody>
          <a:bodyPr>
            <a:normAutofit/>
          </a:bodyPr>
          <a:lstStyle/>
          <a:p>
            <a:r>
              <a:rPr lang="en-US" altLang="zh-CN" dirty="0"/>
              <a:t>FIPS PUB 180-1-1995, Secure Hash Standards (SHS)</a:t>
            </a:r>
            <a:r>
              <a:rPr lang="zh-CN" altLang="en-US" dirty="0"/>
              <a:t>安全哈希标准</a:t>
            </a:r>
            <a:endParaRPr lang="en-US" altLang="zh-CN" dirty="0"/>
          </a:p>
          <a:p>
            <a:r>
              <a:rPr lang="en-US" altLang="zh-CN" dirty="0"/>
              <a:t>FIPS PUB 180-2-2001, Secure Hash Standards (SHS)</a:t>
            </a:r>
            <a:r>
              <a:rPr lang="zh-CN" altLang="en-US" dirty="0"/>
              <a:t>安全哈希标准</a:t>
            </a:r>
            <a:endParaRPr lang="en-US" altLang="zh-CN" dirty="0"/>
          </a:p>
          <a:p>
            <a:r>
              <a:rPr lang="en-US" altLang="zh-CN" dirty="0"/>
              <a:t>FIPS PUB 180-3-2008 Secure Hash Standard (SHS) </a:t>
            </a:r>
            <a:r>
              <a:rPr lang="zh-CN" altLang="en-US" dirty="0"/>
              <a:t>安全哈希标准</a:t>
            </a:r>
            <a:endParaRPr lang="en-US" altLang="zh-CN" dirty="0"/>
          </a:p>
          <a:p>
            <a:r>
              <a:rPr lang="en-US" altLang="zh-CN" dirty="0"/>
              <a:t>FIPS PUB 180-4-2015 Secure Hash Standard (SHS) </a:t>
            </a:r>
            <a:r>
              <a:rPr lang="zh-CN" altLang="en-US" dirty="0"/>
              <a:t>安全哈希标准</a:t>
            </a:r>
            <a:endParaRPr lang="en-US" altLang="zh-CN" dirty="0"/>
          </a:p>
        </p:txBody>
      </p:sp>
    </p:spTree>
    <p:extLst>
      <p:ext uri="{BB962C8B-B14F-4D97-AF65-F5344CB8AC3E}">
        <p14:creationId xmlns:p14="http://schemas.microsoft.com/office/powerpoint/2010/main" val="35245618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p:txBody>
          <a:bodyPr/>
          <a:lstStyle/>
          <a:p>
            <a:r>
              <a:rPr lang="en-US" altLang="zh-CN" dirty="0"/>
              <a:t>FIPS PUB 186-1-1998 DIGITAL SIGNATURE STANDARD (DSS) </a:t>
            </a:r>
            <a:r>
              <a:rPr lang="zh-CN" altLang="en-US" dirty="0"/>
              <a:t>数字签名标准</a:t>
            </a:r>
            <a:endParaRPr lang="en-US" altLang="zh-CN" dirty="0"/>
          </a:p>
          <a:p>
            <a:r>
              <a:rPr lang="en-US" altLang="zh-CN" dirty="0"/>
              <a:t>FIPS PUB 186-2-2000 DIGITAL SIGNATURE STANDARD (DSS) </a:t>
            </a:r>
            <a:r>
              <a:rPr lang="zh-CN" altLang="en-US" dirty="0"/>
              <a:t>数字签名标准</a:t>
            </a:r>
            <a:endParaRPr lang="en-US" altLang="zh-CN" dirty="0"/>
          </a:p>
          <a:p>
            <a:r>
              <a:rPr lang="en-US" altLang="zh-CN" dirty="0"/>
              <a:t>FIPS PUB 186-3-2009 DIGITAL SIGNATURE STANDARD (DSS) </a:t>
            </a:r>
            <a:r>
              <a:rPr lang="zh-CN" altLang="en-US" dirty="0"/>
              <a:t>数字签名标准</a:t>
            </a:r>
            <a:endParaRPr lang="en-US" altLang="zh-CN" dirty="0"/>
          </a:p>
          <a:p>
            <a:r>
              <a:rPr lang="en-US" altLang="zh-CN" dirty="0"/>
              <a:t>FIPS PUB 186-4-2013 DIGITAL SIGNATURE STANDARD (DSS) </a:t>
            </a:r>
            <a:r>
              <a:rPr lang="zh-CN" altLang="en-US" dirty="0"/>
              <a:t>数字签名标准</a:t>
            </a:r>
            <a:endParaRPr lang="en-US" altLang="zh-CN" dirty="0"/>
          </a:p>
          <a:p>
            <a:endParaRPr lang="zh-CN" altLang="en-US" dirty="0"/>
          </a:p>
        </p:txBody>
      </p:sp>
    </p:spTree>
    <p:extLst>
      <p:ext uri="{BB962C8B-B14F-4D97-AF65-F5344CB8AC3E}">
        <p14:creationId xmlns:p14="http://schemas.microsoft.com/office/powerpoint/2010/main" val="15046004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lnSpcReduction="10000"/>
          </a:bodyPr>
          <a:lstStyle/>
          <a:p>
            <a:r>
              <a:rPr lang="en-US" altLang="zh-CN" dirty="0">
                <a:latin typeface="+mn-ea"/>
              </a:rPr>
              <a:t>FIPS PUB 46-3 Data Encryption Standard (DES)</a:t>
            </a:r>
            <a:r>
              <a:rPr lang="zh-CN" altLang="en-US" dirty="0">
                <a:latin typeface="+mn-ea"/>
              </a:rPr>
              <a:t>数据加密标准</a:t>
            </a:r>
            <a:r>
              <a:rPr lang="en-US" altLang="zh-CN" dirty="0">
                <a:latin typeface="+mn-ea"/>
              </a:rPr>
              <a:t> </a:t>
            </a:r>
          </a:p>
          <a:p>
            <a:r>
              <a:rPr lang="en-US" altLang="zh-CN" dirty="0">
                <a:latin typeface="+mn-ea"/>
              </a:rPr>
              <a:t>FIPS PUB 197-2001 </a:t>
            </a:r>
            <a:r>
              <a:rPr lang="en-US" altLang="zh-CN" dirty="0"/>
              <a:t> </a:t>
            </a:r>
            <a:r>
              <a:rPr lang="en-US" altLang="zh-CN" dirty="0">
                <a:latin typeface="+mn-ea"/>
              </a:rPr>
              <a:t>ADVANCED ENCRYPTION STANDARD (AES)</a:t>
            </a:r>
            <a:r>
              <a:rPr lang="zh-CN" altLang="en-US" dirty="0">
                <a:latin typeface="+mn-ea"/>
              </a:rPr>
              <a:t>高级数据加密标准</a:t>
            </a:r>
            <a:r>
              <a:rPr lang="en-US" altLang="zh-CN" dirty="0">
                <a:latin typeface="+mn-ea"/>
              </a:rPr>
              <a:t> </a:t>
            </a:r>
          </a:p>
          <a:p>
            <a:r>
              <a:rPr lang="en-US" altLang="zh-CN" dirty="0">
                <a:latin typeface="+mn-ea"/>
              </a:rPr>
              <a:t>FIPS PUB 198-1-2008  The Keyed-Hash Message Authentication Code (HMAC)</a:t>
            </a:r>
            <a:r>
              <a:rPr lang="zh-CN" altLang="en-US" dirty="0">
                <a:latin typeface="+mn-ea"/>
              </a:rPr>
              <a:t>基于哈希值的消息认证码</a:t>
            </a:r>
            <a:endParaRPr lang="en-US" altLang="zh-CN" dirty="0">
              <a:latin typeface="+mn-ea"/>
            </a:endParaRPr>
          </a:p>
          <a:p>
            <a:r>
              <a:rPr lang="en-US" altLang="zh-CN" dirty="0">
                <a:latin typeface="+mn-ea"/>
              </a:rPr>
              <a:t>RFC 2104, HMAC, Keyed-Hashing for Message Authentication</a:t>
            </a:r>
          </a:p>
          <a:p>
            <a:endParaRPr lang="zh-CN" altLang="en-US" dirty="0"/>
          </a:p>
        </p:txBody>
      </p:sp>
    </p:spTree>
    <p:extLst>
      <p:ext uri="{BB962C8B-B14F-4D97-AF65-F5344CB8AC3E}">
        <p14:creationId xmlns:p14="http://schemas.microsoft.com/office/powerpoint/2010/main" val="11999689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600" dirty="0"/>
              <a:t>FIPS PUB 180 </a:t>
            </a:r>
            <a:r>
              <a:rPr lang="zh-CN" altLang="en-US" sz="3600" dirty="0"/>
              <a:t>安全哈希标准</a:t>
            </a:r>
          </a:p>
        </p:txBody>
      </p:sp>
      <p:sp>
        <p:nvSpPr>
          <p:cNvPr id="3" name="内容占位符 2"/>
          <p:cNvSpPr>
            <a:spLocks noGrp="1"/>
          </p:cNvSpPr>
          <p:nvPr>
            <p:ph idx="1"/>
          </p:nvPr>
        </p:nvSpPr>
        <p:spPr/>
        <p:txBody>
          <a:bodyPr>
            <a:normAutofit/>
          </a:bodyPr>
          <a:lstStyle/>
          <a:p>
            <a:pPr marL="0" indent="0">
              <a:buNone/>
            </a:pPr>
            <a:r>
              <a:rPr lang="zh-CN" altLang="en-US" dirty="0"/>
              <a:t>哈希算法分为两步：预处理和哈希计算，生成消息摘要。摘要用于检测自生成摘要以后消息是否发生改变。</a:t>
            </a:r>
          </a:p>
        </p:txBody>
      </p:sp>
    </p:spTree>
    <p:extLst>
      <p:ext uri="{BB962C8B-B14F-4D97-AF65-F5344CB8AC3E}">
        <p14:creationId xmlns:p14="http://schemas.microsoft.com/office/powerpoint/2010/main" val="3213062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endParaRPr lang="zh-CN" altLang="en-US" dirty="0"/>
          </a:p>
        </p:txBody>
      </p:sp>
      <p:sp>
        <p:nvSpPr>
          <p:cNvPr id="3" name="内容占位符 2"/>
          <p:cNvSpPr>
            <a:spLocks noGrp="1"/>
          </p:cNvSpPr>
          <p:nvPr>
            <p:ph idx="1"/>
          </p:nvPr>
        </p:nvSpPr>
        <p:spPr/>
        <p:txBody>
          <a:bodyPr>
            <a:normAutofit fontScale="85000" lnSpcReduction="10000"/>
          </a:bodyPr>
          <a:lstStyle/>
          <a:p>
            <a:pPr marL="0" indent="0">
              <a:buNone/>
            </a:pPr>
            <a:r>
              <a:rPr lang="en-US" altLang="zh-CN" sz="2800" b="1" dirty="0"/>
              <a:t>SHA</a:t>
            </a:r>
            <a:r>
              <a:rPr lang="zh-CN" altLang="en-US" sz="2800" dirty="0"/>
              <a:t>系列</a:t>
            </a:r>
            <a:r>
              <a:rPr lang="en-US" altLang="zh-CN" sz="2800" b="1" dirty="0"/>
              <a:t>Hash</a:t>
            </a:r>
            <a:r>
              <a:rPr lang="zh-CN" altLang="en-US" sz="2800" dirty="0"/>
              <a:t>函数是由美国标准与技术研究所</a:t>
            </a:r>
            <a:r>
              <a:rPr lang="en-US" altLang="zh-CN" sz="2800" b="1" dirty="0"/>
              <a:t>(NIST)</a:t>
            </a:r>
            <a:r>
              <a:rPr lang="zh-CN" altLang="en-US" sz="2800" dirty="0"/>
              <a:t>设计的。</a:t>
            </a:r>
          </a:p>
          <a:p>
            <a:pPr marL="0" indent="0">
              <a:buNone/>
            </a:pPr>
            <a:r>
              <a:rPr lang="en-US" altLang="zh-CN" sz="2800" b="1" dirty="0"/>
              <a:t>1993</a:t>
            </a:r>
            <a:r>
              <a:rPr lang="zh-CN" altLang="en-US" sz="2800" dirty="0"/>
              <a:t>年公布了</a:t>
            </a:r>
            <a:r>
              <a:rPr lang="en-US" altLang="zh-CN" sz="2800" b="1" dirty="0"/>
              <a:t>SHA-0(FIPS PUB 180) </a:t>
            </a:r>
            <a:r>
              <a:rPr lang="zh-CN" altLang="en-US" sz="2800" dirty="0"/>
              <a:t>，后来发现它不安全。</a:t>
            </a:r>
          </a:p>
          <a:p>
            <a:pPr marL="0" indent="0">
              <a:buNone/>
            </a:pPr>
            <a:r>
              <a:rPr lang="en-US" altLang="zh-CN" sz="2800" b="1" dirty="0"/>
              <a:t>1995</a:t>
            </a:r>
            <a:r>
              <a:rPr lang="zh-CN" altLang="en-US" sz="2800" dirty="0"/>
              <a:t>年又公布了</a:t>
            </a:r>
            <a:r>
              <a:rPr lang="en-US" altLang="zh-CN" sz="2800" b="1" dirty="0"/>
              <a:t>SHA-1</a:t>
            </a:r>
            <a:r>
              <a:rPr lang="zh-CN" altLang="en-US" sz="2800" dirty="0"/>
              <a:t>（</a:t>
            </a:r>
            <a:r>
              <a:rPr lang="en-US" altLang="zh-CN" sz="2800" b="1" dirty="0"/>
              <a:t>FIPS PUB 180-1</a:t>
            </a:r>
            <a:r>
              <a:rPr lang="zh-CN" altLang="en-US" sz="2800" dirty="0"/>
              <a:t>）。</a:t>
            </a:r>
          </a:p>
          <a:p>
            <a:pPr marL="0" indent="0">
              <a:buNone/>
            </a:pPr>
            <a:r>
              <a:rPr lang="en-US" altLang="zh-CN" sz="2800" b="1" dirty="0"/>
              <a:t>2002</a:t>
            </a:r>
            <a:r>
              <a:rPr lang="zh-CN" altLang="en-US" sz="2800" dirty="0"/>
              <a:t>年又公布了</a:t>
            </a:r>
            <a:r>
              <a:rPr lang="en-US" altLang="zh-CN" sz="2800" b="1" dirty="0"/>
              <a:t>SHA-2</a:t>
            </a:r>
            <a:r>
              <a:rPr lang="zh-CN" altLang="en-US" sz="2800" dirty="0"/>
              <a:t>（</a:t>
            </a:r>
            <a:r>
              <a:rPr lang="en-US" altLang="zh-CN" sz="2800" b="1" dirty="0"/>
              <a:t>FIPS PUB 180-2</a:t>
            </a:r>
            <a:r>
              <a:rPr lang="zh-CN" altLang="en-US" sz="2800" dirty="0"/>
              <a:t>）。</a:t>
            </a:r>
            <a:endParaRPr lang="en-US" altLang="zh-CN" sz="2800" dirty="0"/>
          </a:p>
          <a:p>
            <a:pPr marL="0" indent="0">
              <a:buNone/>
            </a:pPr>
            <a:r>
              <a:rPr lang="en-US" altLang="zh-CN" sz="2800" b="1" dirty="0"/>
              <a:t> SHA-2</a:t>
            </a:r>
            <a:r>
              <a:rPr lang="zh-CN" altLang="en-US" sz="2800" dirty="0"/>
              <a:t>包括</a:t>
            </a:r>
            <a:r>
              <a:rPr lang="en-US" altLang="zh-CN" sz="2800" b="1" dirty="0"/>
              <a:t>3</a:t>
            </a:r>
            <a:r>
              <a:rPr lang="zh-CN" altLang="en-US" sz="2800" dirty="0"/>
              <a:t>个</a:t>
            </a:r>
            <a:r>
              <a:rPr lang="en-US" altLang="zh-CN" sz="2800" b="1" dirty="0"/>
              <a:t>Hash</a:t>
            </a:r>
            <a:r>
              <a:rPr lang="zh-CN" altLang="en-US" sz="2800" dirty="0"/>
              <a:t>函数：</a:t>
            </a:r>
            <a:r>
              <a:rPr lang="en-US" altLang="zh-CN" sz="2800" b="1" dirty="0"/>
              <a:t>SHA-256</a:t>
            </a:r>
            <a:r>
              <a:rPr lang="zh-CN" altLang="en-US" sz="2800" dirty="0"/>
              <a:t>，，</a:t>
            </a:r>
            <a:r>
              <a:rPr lang="en-US" altLang="zh-CN" sz="2800" b="1" dirty="0"/>
              <a:t>SHA-384</a:t>
            </a:r>
            <a:r>
              <a:rPr lang="zh-CN" altLang="en-US" sz="2800" dirty="0"/>
              <a:t>，，</a:t>
            </a:r>
            <a:r>
              <a:rPr lang="en-US" altLang="zh-CN" sz="2800" b="1" dirty="0"/>
              <a:t>SHA-512</a:t>
            </a:r>
          </a:p>
          <a:p>
            <a:pPr marL="0" indent="0">
              <a:buNone/>
            </a:pPr>
            <a:r>
              <a:rPr lang="en-US" altLang="zh-CN" sz="2800" b="1" dirty="0"/>
              <a:t>2005</a:t>
            </a:r>
            <a:r>
              <a:rPr lang="zh-CN" altLang="en-US" sz="2800" dirty="0"/>
              <a:t>年王小云给出一种攻击</a:t>
            </a:r>
            <a:r>
              <a:rPr lang="en-US" altLang="zh-CN" sz="2800" b="1" dirty="0"/>
              <a:t>SHA-1</a:t>
            </a:r>
            <a:r>
              <a:rPr lang="zh-CN" altLang="en-US" sz="2800" dirty="0"/>
              <a:t>的方法，用</a:t>
            </a:r>
            <a:r>
              <a:rPr lang="en-US" altLang="zh-CN" sz="2800" b="1" dirty="0"/>
              <a:t>2</a:t>
            </a:r>
            <a:r>
              <a:rPr lang="en-US" altLang="zh-CN" sz="2800" b="1" baseline="30000" dirty="0"/>
              <a:t>69</a:t>
            </a:r>
            <a:r>
              <a:rPr lang="zh-CN" altLang="en-US" sz="2800" dirty="0"/>
              <a:t>操作找到一个强碰撞，以前认为是</a:t>
            </a:r>
            <a:r>
              <a:rPr lang="en-US" altLang="zh-CN" sz="2800" b="1" dirty="0"/>
              <a:t>2</a:t>
            </a:r>
            <a:r>
              <a:rPr lang="en-US" altLang="zh-CN" sz="2800" b="1" baseline="30000" dirty="0"/>
              <a:t>80</a:t>
            </a:r>
            <a:r>
              <a:rPr lang="zh-CN" altLang="en-US" sz="2800" dirty="0"/>
              <a:t>。</a:t>
            </a:r>
          </a:p>
          <a:p>
            <a:pPr marL="0" indent="0">
              <a:buNone/>
            </a:pPr>
            <a:r>
              <a:rPr lang="en-US" altLang="zh-CN" sz="2800" b="1" dirty="0"/>
              <a:t>2007</a:t>
            </a:r>
            <a:r>
              <a:rPr lang="zh-CN" altLang="en-US" sz="2800" dirty="0"/>
              <a:t>年</a:t>
            </a:r>
            <a:r>
              <a:rPr lang="en-US" altLang="zh-CN" sz="2800" b="1" dirty="0"/>
              <a:t>NIST</a:t>
            </a:r>
            <a:r>
              <a:rPr lang="zh-CN" altLang="en-US" sz="2800" dirty="0"/>
              <a:t>公开征集</a:t>
            </a:r>
            <a:r>
              <a:rPr lang="en-US" altLang="zh-CN" sz="2800" b="1" dirty="0"/>
              <a:t>SHA-3</a:t>
            </a:r>
            <a:r>
              <a:rPr lang="zh-CN" altLang="en-US" sz="2800" dirty="0"/>
              <a:t>，并于</a:t>
            </a:r>
            <a:r>
              <a:rPr lang="en-US" altLang="zh-CN" sz="2800" dirty="0"/>
              <a:t>2008</a:t>
            </a:r>
            <a:r>
              <a:rPr lang="zh-CN" altLang="en-US" sz="2800" dirty="0"/>
              <a:t>年公布</a:t>
            </a:r>
            <a:r>
              <a:rPr lang="en-US" altLang="zh-CN" sz="2800" b="1" dirty="0"/>
              <a:t>SHA-3</a:t>
            </a:r>
            <a:r>
              <a:rPr lang="zh-CN" altLang="en-US" sz="2800" b="1" dirty="0"/>
              <a:t>（</a:t>
            </a:r>
            <a:r>
              <a:rPr lang="en-US" altLang="zh-CN" sz="2800" b="1" dirty="0"/>
              <a:t>180-3</a:t>
            </a:r>
            <a:r>
              <a:rPr lang="zh-CN" altLang="en-US" sz="2800" b="1" dirty="0"/>
              <a:t>）</a:t>
            </a:r>
            <a:r>
              <a:rPr lang="zh-CN" altLang="en-US" sz="2800" dirty="0"/>
              <a:t>。</a:t>
            </a:r>
            <a:endParaRPr lang="en-US" altLang="zh-CN" sz="2800" dirty="0"/>
          </a:p>
          <a:p>
            <a:pPr marL="0" indent="0">
              <a:buNone/>
            </a:pPr>
            <a:r>
              <a:rPr lang="en-US" altLang="zh-CN" sz="2800" b="1" dirty="0"/>
              <a:t>2012</a:t>
            </a:r>
            <a:r>
              <a:rPr lang="zh-CN" altLang="en-US" sz="2800" b="1" dirty="0"/>
              <a:t>年</a:t>
            </a:r>
            <a:r>
              <a:rPr lang="en-US" altLang="zh-CN" sz="2800" b="1" dirty="0"/>
              <a:t>3</a:t>
            </a:r>
            <a:r>
              <a:rPr lang="zh-CN" altLang="en-US" sz="2800" dirty="0">
                <a:latin typeface="+mn-ea"/>
              </a:rPr>
              <a:t>月公布</a:t>
            </a:r>
            <a:r>
              <a:rPr lang="en-US" altLang="zh-CN" sz="2800" dirty="0">
                <a:latin typeface="+mn-ea"/>
              </a:rPr>
              <a:t>SHA-4(180-4),</a:t>
            </a:r>
            <a:r>
              <a:rPr lang="en-US" altLang="zh-CN" sz="2800" b="1" dirty="0"/>
              <a:t>2015</a:t>
            </a:r>
            <a:r>
              <a:rPr lang="zh-CN" altLang="en-US" sz="2800" b="1" dirty="0"/>
              <a:t>年</a:t>
            </a:r>
            <a:r>
              <a:rPr lang="en-US" altLang="zh-CN" sz="2800" b="1" dirty="0"/>
              <a:t>8</a:t>
            </a:r>
            <a:r>
              <a:rPr lang="zh-CN" altLang="en-US" sz="2800" b="1" dirty="0"/>
              <a:t>月</a:t>
            </a:r>
            <a:r>
              <a:rPr lang="zh-CN" altLang="en-US" sz="2800" dirty="0">
                <a:latin typeface="+mn-ea"/>
              </a:rPr>
              <a:t>公布</a:t>
            </a:r>
            <a:r>
              <a:rPr lang="en-US" altLang="zh-CN" sz="2800" dirty="0">
                <a:latin typeface="+mn-ea"/>
              </a:rPr>
              <a:t>SHA-4</a:t>
            </a:r>
            <a:r>
              <a:rPr lang="zh-CN" altLang="en-US" sz="2800" dirty="0">
                <a:latin typeface="+mn-ea"/>
              </a:rPr>
              <a:t>的修改版本。</a:t>
            </a:r>
            <a:endParaRPr lang="en-US" altLang="zh-CN" sz="2800" dirty="0">
              <a:latin typeface="+mn-ea"/>
            </a:endParaRPr>
          </a:p>
          <a:p>
            <a:pPr marL="0" indent="0">
              <a:buNone/>
            </a:pPr>
            <a:endParaRPr lang="en-US" altLang="zh-CN" sz="2800" dirty="0">
              <a:latin typeface="+mn-ea"/>
            </a:endParaRPr>
          </a:p>
        </p:txBody>
      </p:sp>
    </p:spTree>
    <p:extLst>
      <p:ext uri="{BB962C8B-B14F-4D97-AF65-F5344CB8AC3E}">
        <p14:creationId xmlns:p14="http://schemas.microsoft.com/office/powerpoint/2010/main" val="1773653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SHA-1</a:t>
            </a:r>
            <a:endParaRPr lang="zh-CN" altLang="en-US" dirty="0"/>
          </a:p>
        </p:txBody>
      </p:sp>
      <p:sp>
        <p:nvSpPr>
          <p:cNvPr id="3" name="内容占位符 2"/>
          <p:cNvSpPr>
            <a:spLocks noGrp="1"/>
          </p:cNvSpPr>
          <p:nvPr>
            <p:ph idx="1"/>
          </p:nvPr>
        </p:nvSpPr>
        <p:spPr/>
        <p:txBody>
          <a:bodyPr>
            <a:normAutofit lnSpcReduction="10000"/>
          </a:bodyPr>
          <a:lstStyle/>
          <a:p>
            <a:pPr marL="0" indent="0">
              <a:buNone/>
            </a:pPr>
            <a:r>
              <a:rPr lang="zh-CN" altLang="en-US" dirty="0"/>
              <a:t>本标准要求用于数字签名标准（</a:t>
            </a:r>
            <a:r>
              <a:rPr lang="en-US" altLang="zh-CN" dirty="0"/>
              <a:t>DSS</a:t>
            </a:r>
            <a:r>
              <a:rPr lang="zh-CN" altLang="en-US" dirty="0"/>
              <a:t>）中规定的数字签名算法（</a:t>
            </a:r>
            <a:r>
              <a:rPr lang="en-US" altLang="zh-CN" dirty="0" err="1"/>
              <a:t>DSA,Digital</a:t>
            </a:r>
            <a:r>
              <a:rPr lang="en-US" altLang="zh-CN" dirty="0"/>
              <a:t> Signature Algorithm</a:t>
            </a:r>
            <a:r>
              <a:rPr lang="zh-CN" altLang="en-US" dirty="0"/>
              <a:t>），以及联邦应用需要安全哈希算法时使用。 </a:t>
            </a:r>
            <a:endParaRPr lang="en-US" altLang="zh-CN" dirty="0"/>
          </a:p>
          <a:p>
            <a:pPr marL="0" indent="0">
              <a:buNone/>
            </a:pPr>
            <a:r>
              <a:rPr lang="en-US" altLang="zh-CN" dirty="0" err="1"/>
              <a:t>Alg</a:t>
            </a:r>
            <a:r>
              <a:rPr lang="en-US" altLang="zh-CN" dirty="0"/>
              <a:t>        </a:t>
            </a:r>
            <a:r>
              <a:rPr lang="en-US" altLang="zh-CN" dirty="0" err="1"/>
              <a:t>MsgSize</a:t>
            </a:r>
            <a:r>
              <a:rPr lang="en-US" altLang="zh-CN" dirty="0"/>
              <a:t>    </a:t>
            </a:r>
            <a:r>
              <a:rPr lang="en-US" altLang="zh-CN" dirty="0" err="1"/>
              <a:t>BLSize</a:t>
            </a:r>
            <a:r>
              <a:rPr lang="en-US" altLang="zh-CN" dirty="0"/>
              <a:t> </a:t>
            </a:r>
            <a:r>
              <a:rPr lang="en-US" altLang="zh-CN" dirty="0" err="1"/>
              <a:t>WordSize</a:t>
            </a:r>
            <a:r>
              <a:rPr lang="en-US" altLang="zh-CN" dirty="0"/>
              <a:t>     </a:t>
            </a:r>
            <a:r>
              <a:rPr lang="en-US" altLang="zh-CN" dirty="0" err="1"/>
              <a:t>MsgDigSize</a:t>
            </a:r>
            <a:r>
              <a:rPr lang="en-US" altLang="zh-CN" dirty="0"/>
              <a:t> </a:t>
            </a:r>
          </a:p>
          <a:p>
            <a:pPr marL="0" indent="0">
              <a:buNone/>
            </a:pPr>
            <a:r>
              <a:rPr lang="en-US" altLang="zh-CN" dirty="0"/>
              <a:t>SHA-1   &lt;2^64         512           32            160</a:t>
            </a:r>
          </a:p>
          <a:p>
            <a:pPr marL="0" indent="0">
              <a:buNone/>
            </a:pPr>
            <a:r>
              <a:rPr lang="zh-CN" altLang="en-US" dirty="0"/>
              <a:t>在</a:t>
            </a:r>
            <a:r>
              <a:rPr lang="en-US" altLang="zh-CN" dirty="0"/>
              <a:t>FIPS 180</a:t>
            </a:r>
            <a:r>
              <a:rPr lang="zh-CN" altLang="en-US" dirty="0"/>
              <a:t>第</a:t>
            </a:r>
            <a:r>
              <a:rPr lang="en-US" altLang="zh-CN" dirty="0"/>
              <a:t>9</a:t>
            </a:r>
            <a:r>
              <a:rPr lang="zh-CN" altLang="en-US" dirty="0"/>
              <a:t>页第</a:t>
            </a:r>
            <a:r>
              <a:rPr lang="en-US" altLang="zh-CN" dirty="0"/>
              <a:t>7</a:t>
            </a:r>
            <a:r>
              <a:rPr lang="zh-CN" altLang="en-US" dirty="0"/>
              <a:t>节</a:t>
            </a:r>
            <a:r>
              <a:rPr lang="en-US" altLang="zh-CN" dirty="0"/>
              <a:t>B</a:t>
            </a:r>
            <a:r>
              <a:rPr lang="zh-CN" altLang="en-US" dirty="0"/>
              <a:t>行的规范中增加了循环左移操作，在</a:t>
            </a:r>
            <a:r>
              <a:rPr lang="en-US" altLang="zh-CN" dirty="0"/>
              <a:t>FIPS 180</a:t>
            </a:r>
            <a:r>
              <a:rPr lang="zh-CN" altLang="en-US" dirty="0"/>
              <a:t>第</a:t>
            </a:r>
            <a:r>
              <a:rPr lang="en-US" altLang="zh-CN" dirty="0"/>
              <a:t>10</a:t>
            </a:r>
            <a:r>
              <a:rPr lang="zh-CN" altLang="en-US" dirty="0"/>
              <a:t>页第</a:t>
            </a:r>
            <a:r>
              <a:rPr lang="en-US" altLang="zh-CN" dirty="0"/>
              <a:t>8</a:t>
            </a:r>
            <a:r>
              <a:rPr lang="zh-CN" altLang="en-US" dirty="0"/>
              <a:t>节</a:t>
            </a:r>
            <a:r>
              <a:rPr lang="en-US" altLang="zh-CN" dirty="0"/>
              <a:t>C</a:t>
            </a:r>
            <a:r>
              <a:rPr lang="zh-CN" altLang="en-US" dirty="0"/>
              <a:t>行的规范中增加了循环左移操作。</a:t>
            </a:r>
          </a:p>
        </p:txBody>
      </p:sp>
    </p:spTree>
    <p:extLst>
      <p:ext uri="{BB962C8B-B14F-4D97-AF65-F5344CB8AC3E}">
        <p14:creationId xmlns:p14="http://schemas.microsoft.com/office/powerpoint/2010/main" val="30191436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SHA-2</a:t>
            </a:r>
            <a:r>
              <a:rPr lang="zh-CN" altLang="en-US" dirty="0"/>
              <a:t>、</a:t>
            </a:r>
            <a:r>
              <a:rPr lang="en-US" altLang="zh-CN" dirty="0"/>
              <a:t>SHA-3</a:t>
            </a:r>
            <a:r>
              <a:rPr lang="zh-CN" altLang="en-US" dirty="0"/>
              <a:t>、</a:t>
            </a:r>
            <a:r>
              <a:rPr lang="en-US" altLang="zh-CN" dirty="0"/>
              <a:t>SHA-4</a:t>
            </a:r>
            <a:endParaRPr lang="zh-CN" altLang="en-US" dirty="0"/>
          </a:p>
        </p:txBody>
      </p:sp>
      <p:sp>
        <p:nvSpPr>
          <p:cNvPr id="3" name="内容占位符 2"/>
          <p:cNvSpPr>
            <a:spLocks noGrp="1"/>
          </p:cNvSpPr>
          <p:nvPr>
            <p:ph idx="1"/>
          </p:nvPr>
        </p:nvSpPr>
        <p:spPr/>
        <p:txBody>
          <a:bodyPr>
            <a:normAutofit fontScale="85000" lnSpcReduction="20000"/>
          </a:bodyPr>
          <a:lstStyle/>
          <a:p>
            <a:pPr marL="0" indent="0">
              <a:buNone/>
            </a:pPr>
            <a:r>
              <a:rPr lang="en-US" altLang="zh-CN" dirty="0"/>
              <a:t>SHA-2</a:t>
            </a:r>
            <a:r>
              <a:rPr lang="zh-CN" altLang="en-US" dirty="0"/>
              <a:t>增加了三种能够产生更大消息摘要的算法。</a:t>
            </a:r>
            <a:r>
              <a:rPr lang="en-US" altLang="zh-CN" dirty="0"/>
              <a:t>SHA-1</a:t>
            </a:r>
            <a:r>
              <a:rPr lang="zh-CN" altLang="en-US" dirty="0"/>
              <a:t>的一些符号已修改为与</a:t>
            </a:r>
            <a:r>
              <a:rPr lang="en-US" altLang="zh-CN" dirty="0"/>
              <a:t>SHA-256</a:t>
            </a:r>
            <a:r>
              <a:rPr lang="zh-CN" altLang="en-US" dirty="0"/>
              <a:t>、</a:t>
            </a:r>
            <a:r>
              <a:rPr lang="en-US" altLang="zh-CN" dirty="0"/>
              <a:t>SHA-384</a:t>
            </a:r>
            <a:r>
              <a:rPr lang="zh-CN" altLang="en-US" dirty="0"/>
              <a:t>和</a:t>
            </a:r>
            <a:r>
              <a:rPr lang="en-US" altLang="zh-CN" dirty="0"/>
              <a:t>SHA-512</a:t>
            </a:r>
            <a:r>
              <a:rPr lang="zh-CN" altLang="en-US" dirty="0"/>
              <a:t>算法中使用的符号一致。</a:t>
            </a:r>
            <a:endParaRPr lang="en-US" altLang="zh-CN" dirty="0"/>
          </a:p>
          <a:p>
            <a:pPr marL="0" indent="0">
              <a:buNone/>
            </a:pPr>
            <a:r>
              <a:rPr lang="en-US" altLang="zh-CN" dirty="0"/>
              <a:t>SHA-3</a:t>
            </a:r>
            <a:r>
              <a:rPr lang="zh-CN" altLang="en-US" dirty="0"/>
              <a:t>用于计算电子数据</a:t>
            </a:r>
            <a:r>
              <a:rPr lang="en-US" altLang="zh-CN" dirty="0"/>
              <a:t>/</a:t>
            </a:r>
            <a:r>
              <a:rPr lang="zh-CN" altLang="en-US" dirty="0"/>
              <a:t>消息的压缩表示，新增标准</a:t>
            </a:r>
            <a:r>
              <a:rPr lang="en-US" altLang="zh-CN" dirty="0"/>
              <a:t>SHA-224</a:t>
            </a:r>
            <a:r>
              <a:rPr lang="zh-CN" altLang="en-US" dirty="0"/>
              <a:t>。</a:t>
            </a:r>
            <a:endParaRPr lang="en-US" altLang="zh-CN" dirty="0"/>
          </a:p>
          <a:p>
            <a:pPr marL="0" indent="0">
              <a:buNone/>
            </a:pPr>
            <a:r>
              <a:rPr lang="en-US" altLang="zh-CN" dirty="0"/>
              <a:t>SHA-4</a:t>
            </a:r>
            <a:r>
              <a:rPr lang="zh-CN" altLang="en-US" dirty="0"/>
              <a:t>新增标准</a:t>
            </a:r>
            <a:r>
              <a:rPr lang="en-US" altLang="zh-CN" dirty="0"/>
              <a:t>SHA-512/224</a:t>
            </a:r>
            <a:r>
              <a:rPr lang="zh-CN" altLang="en-US" dirty="0"/>
              <a:t>，</a:t>
            </a:r>
            <a:r>
              <a:rPr lang="en-US" altLang="zh-CN" dirty="0"/>
              <a:t>SHA-512/256</a:t>
            </a:r>
            <a:r>
              <a:rPr lang="zh-CN" altLang="en-US" dirty="0"/>
              <a:t>。</a:t>
            </a:r>
          </a:p>
          <a:p>
            <a:pPr marL="0" indent="0">
              <a:buNone/>
            </a:pPr>
            <a:endParaRPr lang="en-US" altLang="zh-CN" dirty="0"/>
          </a:p>
          <a:p>
            <a:r>
              <a:rPr lang="en-US" altLang="zh-CN" dirty="0"/>
              <a:t>SHA-512/224</a:t>
            </a:r>
            <a:r>
              <a:rPr lang="zh-CN" altLang="en-US" dirty="0"/>
              <a:t>算法步骤其实和</a:t>
            </a:r>
            <a:r>
              <a:rPr lang="en-US" altLang="zh-CN" dirty="0"/>
              <a:t>SHA-512</a:t>
            </a:r>
            <a:r>
              <a:rPr lang="zh-CN" altLang="en-US" dirty="0"/>
              <a:t>一样，只有两处例外：</a:t>
            </a:r>
          </a:p>
          <a:p>
            <a:pPr marL="0" indent="0">
              <a:buNone/>
            </a:pPr>
            <a:r>
              <a:rPr lang="en-US" altLang="zh-CN" dirty="0"/>
              <a:t>1.</a:t>
            </a:r>
            <a:r>
              <a:rPr lang="zh-CN" altLang="en-US" dirty="0"/>
              <a:t>初始向量不同</a:t>
            </a:r>
          </a:p>
          <a:p>
            <a:pPr marL="0" indent="0">
              <a:buNone/>
            </a:pPr>
            <a:r>
              <a:rPr lang="en-US" altLang="zh-CN" dirty="0"/>
              <a:t>2.</a:t>
            </a:r>
            <a:r>
              <a:rPr lang="zh-CN" altLang="en-US" dirty="0"/>
              <a:t>需要截位，取最左边的</a:t>
            </a:r>
            <a:r>
              <a:rPr lang="en-US" altLang="zh-CN" dirty="0"/>
              <a:t>224bits</a:t>
            </a:r>
          </a:p>
        </p:txBody>
      </p:sp>
    </p:spTree>
    <p:extLst>
      <p:ext uri="{BB962C8B-B14F-4D97-AF65-F5344CB8AC3E}">
        <p14:creationId xmlns:p14="http://schemas.microsoft.com/office/powerpoint/2010/main" val="36748774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FIPS180-2</a:t>
            </a:r>
            <a:r>
              <a:rPr lang="zh-CN" altLang="en-US" dirty="0"/>
              <a:t>中的四个算法的比较</a:t>
            </a:r>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89697" y="2442690"/>
            <a:ext cx="7364606" cy="28409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648495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FIPS PUB 186</a:t>
            </a:r>
            <a:r>
              <a:rPr lang="zh-CN" altLang="en-US" dirty="0"/>
              <a:t>数字签名标准</a:t>
            </a:r>
          </a:p>
        </p:txBody>
      </p:sp>
      <p:sp>
        <p:nvSpPr>
          <p:cNvPr id="3" name="内容占位符 2"/>
          <p:cNvSpPr>
            <a:spLocks noGrp="1"/>
          </p:cNvSpPr>
          <p:nvPr>
            <p:ph idx="1"/>
          </p:nvPr>
        </p:nvSpPr>
        <p:spPr/>
        <p:txBody>
          <a:bodyPr>
            <a:normAutofit lnSpcReduction="10000"/>
          </a:bodyPr>
          <a:lstStyle/>
          <a:p>
            <a:pPr marL="0" indent="0">
              <a:buNone/>
            </a:pPr>
            <a:r>
              <a:rPr lang="zh-CN" altLang="en-US" dirty="0"/>
              <a:t>本标准规定了可用于保护二进制数据（通常称为消息）以及验证和确认这些数字签名的数字签名生成方法。三种技术被认可</a:t>
            </a:r>
            <a:r>
              <a:rPr lang="en-US" altLang="zh-CN" dirty="0"/>
              <a:t>:DSA</a:t>
            </a:r>
            <a:r>
              <a:rPr lang="zh-CN" altLang="en-US" dirty="0"/>
              <a:t>、</a:t>
            </a:r>
            <a:r>
              <a:rPr lang="en-US" altLang="zh-CN" dirty="0"/>
              <a:t>RSA-DSA</a:t>
            </a:r>
            <a:r>
              <a:rPr lang="zh-CN" altLang="en-US" dirty="0"/>
              <a:t>（</a:t>
            </a:r>
            <a:r>
              <a:rPr lang="en-US" altLang="zh-CN" dirty="0">
                <a:solidFill>
                  <a:srgbClr val="FF0000"/>
                </a:solidFill>
              </a:rPr>
              <a:t>ANSI X9.31 </a:t>
            </a:r>
            <a:r>
              <a:rPr lang="zh-CN" altLang="en-US" dirty="0"/>
              <a:t>和</a:t>
            </a:r>
            <a:r>
              <a:rPr lang="en-US" altLang="zh-CN" dirty="0">
                <a:solidFill>
                  <a:srgbClr val="FF0000"/>
                </a:solidFill>
              </a:rPr>
              <a:t>PKCS#1</a:t>
            </a:r>
            <a:r>
              <a:rPr lang="zh-CN" altLang="en-US" dirty="0"/>
              <a:t>）、</a:t>
            </a:r>
            <a:r>
              <a:rPr lang="en-US" altLang="zh-CN" dirty="0"/>
              <a:t>ECDSA</a:t>
            </a:r>
            <a:r>
              <a:rPr lang="zh-CN" altLang="en-US" dirty="0"/>
              <a:t>（</a:t>
            </a:r>
            <a:r>
              <a:rPr lang="en-US" altLang="zh-CN" dirty="0">
                <a:solidFill>
                  <a:srgbClr val="FF0000"/>
                </a:solidFill>
              </a:rPr>
              <a:t>ANSI X9.62</a:t>
            </a:r>
            <a:r>
              <a:rPr lang="zh-CN" altLang="en-US" dirty="0"/>
              <a:t>）。</a:t>
            </a:r>
            <a:endParaRPr lang="en-US" altLang="zh-CN" dirty="0"/>
          </a:p>
          <a:p>
            <a:pPr marL="0" indent="0">
              <a:buNone/>
            </a:pPr>
            <a:r>
              <a:rPr lang="zh-CN" altLang="en-US" dirty="0"/>
              <a:t>本标准包括获得有效数字签名所需保证的要求。获得这些保证的方法见</a:t>
            </a:r>
            <a:r>
              <a:rPr lang="en-US" altLang="zh-CN" dirty="0">
                <a:solidFill>
                  <a:srgbClr val="FF0000"/>
                </a:solidFill>
              </a:rPr>
              <a:t>NIST (SP) 800-89</a:t>
            </a:r>
            <a:r>
              <a:rPr lang="en-US" altLang="zh-CN" dirty="0"/>
              <a:t>, </a:t>
            </a:r>
            <a:r>
              <a:rPr lang="en-US" altLang="zh-CN" i="1" dirty="0"/>
              <a:t>Recommendation for Obtaining Assurances for Digital Signature Applications</a:t>
            </a:r>
            <a:endParaRPr lang="zh-CN" altLang="en-US" dirty="0"/>
          </a:p>
        </p:txBody>
      </p:sp>
    </p:spTree>
    <p:extLst>
      <p:ext uri="{BB962C8B-B14F-4D97-AF65-F5344CB8AC3E}">
        <p14:creationId xmlns:p14="http://schemas.microsoft.com/office/powerpoint/2010/main" val="10527299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FIPS PUB 186</a:t>
            </a:r>
            <a:r>
              <a:rPr lang="zh-CN" altLang="en-US" dirty="0"/>
              <a:t>的比较</a:t>
            </a:r>
          </a:p>
        </p:txBody>
      </p:sp>
      <p:sp>
        <p:nvSpPr>
          <p:cNvPr id="3" name="内容占位符 2"/>
          <p:cNvSpPr>
            <a:spLocks noGrp="1"/>
          </p:cNvSpPr>
          <p:nvPr>
            <p:ph idx="1"/>
          </p:nvPr>
        </p:nvSpPr>
        <p:spPr/>
        <p:txBody>
          <a:bodyPr>
            <a:normAutofit fontScale="92500" lnSpcReduction="20000"/>
          </a:bodyPr>
          <a:lstStyle/>
          <a:p>
            <a:r>
              <a:rPr lang="en-US" altLang="zh-CN" dirty="0"/>
              <a:t>FIPS PUB 186-1 </a:t>
            </a:r>
            <a:r>
              <a:rPr lang="zh-CN" altLang="en-US" dirty="0"/>
              <a:t>只有</a:t>
            </a:r>
            <a:r>
              <a:rPr lang="en-US" altLang="zh-CN" dirty="0"/>
              <a:t>DSA</a:t>
            </a:r>
            <a:r>
              <a:rPr lang="zh-CN" altLang="en-US" dirty="0"/>
              <a:t>和</a:t>
            </a:r>
            <a:r>
              <a:rPr lang="en-US" altLang="zh-CN" dirty="0"/>
              <a:t>RSA-DSA</a:t>
            </a:r>
            <a:r>
              <a:rPr lang="zh-CN" altLang="en-US" dirty="0"/>
              <a:t>，在标准中</a:t>
            </a:r>
            <a:r>
              <a:rPr lang="en-US" altLang="zh-CN" dirty="0"/>
              <a:t>RSA-DSA</a:t>
            </a:r>
            <a:r>
              <a:rPr lang="zh-CN" altLang="en-US" dirty="0"/>
              <a:t>直接参照标准</a:t>
            </a:r>
            <a:r>
              <a:rPr lang="en-US" altLang="zh-CN" dirty="0"/>
              <a:t>ANSI X9.31</a:t>
            </a:r>
            <a:r>
              <a:rPr lang="zh-CN" altLang="en-US" dirty="0"/>
              <a:t>，签名时使用了</a:t>
            </a:r>
            <a:r>
              <a:rPr lang="en-US" altLang="zh-CN" dirty="0"/>
              <a:t>FIPS 180-1 </a:t>
            </a:r>
            <a:r>
              <a:rPr lang="zh-CN" altLang="en-US" dirty="0"/>
              <a:t>的安全哈希函数；</a:t>
            </a:r>
            <a:endParaRPr lang="en-US" altLang="zh-CN" dirty="0"/>
          </a:p>
          <a:p>
            <a:r>
              <a:rPr lang="en-US" altLang="zh-CN" dirty="0"/>
              <a:t>FIPS PUB 186-2</a:t>
            </a:r>
            <a:r>
              <a:rPr lang="zh-CN" altLang="en-US" dirty="0"/>
              <a:t>增加了</a:t>
            </a:r>
            <a:r>
              <a:rPr lang="en-US" altLang="zh-CN" dirty="0"/>
              <a:t>ECDSA</a:t>
            </a:r>
            <a:r>
              <a:rPr lang="zh-CN" altLang="en-US" dirty="0"/>
              <a:t>；</a:t>
            </a:r>
            <a:endParaRPr lang="en-US" altLang="zh-CN" dirty="0"/>
          </a:p>
          <a:p>
            <a:r>
              <a:rPr lang="en-US" altLang="zh-CN" dirty="0"/>
              <a:t>FIPS PUB 186-3</a:t>
            </a:r>
            <a:r>
              <a:rPr lang="zh-CN" altLang="en-US" dirty="0"/>
              <a:t>签名时使用了</a:t>
            </a:r>
            <a:r>
              <a:rPr lang="en-US" altLang="zh-CN" dirty="0"/>
              <a:t>FIPS 180-4 </a:t>
            </a:r>
            <a:r>
              <a:rPr lang="zh-CN" altLang="en-US" dirty="0"/>
              <a:t>的安全哈希函数，同时使用了</a:t>
            </a:r>
            <a:r>
              <a:rPr lang="en-US" altLang="zh-CN" dirty="0">
                <a:solidFill>
                  <a:srgbClr val="FF0000"/>
                </a:solidFill>
              </a:rPr>
              <a:t>NIST (SP) 800-89</a:t>
            </a:r>
            <a:r>
              <a:rPr lang="zh-CN" altLang="en-US" dirty="0"/>
              <a:t>中的随机数生成器，</a:t>
            </a:r>
            <a:r>
              <a:rPr lang="en-US" altLang="zh-CN" dirty="0"/>
              <a:t>ECDSA</a:t>
            </a:r>
            <a:r>
              <a:rPr lang="zh-CN" altLang="en-US" dirty="0"/>
              <a:t>时</a:t>
            </a:r>
            <a:r>
              <a:rPr lang="en-US" altLang="zh-CN" dirty="0"/>
              <a:t>N=</a:t>
            </a:r>
            <a:r>
              <a:rPr lang="en-US" altLang="zh-CN" dirty="0" err="1"/>
              <a:t>len</a:t>
            </a:r>
            <a:r>
              <a:rPr lang="en-US" altLang="zh-CN" dirty="0"/>
              <a:t>(n)(186-2</a:t>
            </a:r>
            <a:r>
              <a:rPr lang="zh-CN" altLang="en-US" dirty="0"/>
              <a:t>时是</a:t>
            </a:r>
            <a:r>
              <a:rPr lang="en-US" altLang="zh-CN" dirty="0"/>
              <a:t>q)</a:t>
            </a:r>
            <a:r>
              <a:rPr lang="zh-CN" altLang="en-US" dirty="0"/>
              <a:t>素数为</a:t>
            </a:r>
            <a:r>
              <a:rPr lang="en-US" altLang="zh-CN" dirty="0"/>
              <a:t>2048</a:t>
            </a:r>
            <a:r>
              <a:rPr lang="zh-CN" altLang="en-US" dirty="0"/>
              <a:t>或</a:t>
            </a:r>
            <a:r>
              <a:rPr lang="en-US" altLang="zh-CN" dirty="0"/>
              <a:t>3072 </a:t>
            </a:r>
            <a:r>
              <a:rPr lang="zh-CN" altLang="en-US" dirty="0"/>
              <a:t>位，</a:t>
            </a:r>
            <a:r>
              <a:rPr lang="en-US" altLang="zh-CN" dirty="0"/>
              <a:t>Salt</a:t>
            </a:r>
            <a:r>
              <a:rPr lang="zh-CN" altLang="en-US" dirty="0"/>
              <a:t>的长度发生了改变；</a:t>
            </a:r>
            <a:endParaRPr lang="en-US" altLang="zh-CN" dirty="0"/>
          </a:p>
          <a:p>
            <a:r>
              <a:rPr lang="en-US" altLang="zh-CN" dirty="0"/>
              <a:t>FIPS PUB 186-4 </a:t>
            </a:r>
            <a:r>
              <a:rPr lang="zh-CN" altLang="en-US" dirty="0"/>
              <a:t>和</a:t>
            </a:r>
            <a:r>
              <a:rPr lang="en-US" altLang="zh-CN" dirty="0"/>
              <a:t>FIPS 186-3</a:t>
            </a:r>
            <a:r>
              <a:rPr lang="zh-CN" altLang="en-US" dirty="0"/>
              <a:t>之间的所有变化都已纳入</a:t>
            </a:r>
            <a:r>
              <a:rPr lang="en-US" altLang="zh-CN" dirty="0"/>
              <a:t>CAVP</a:t>
            </a:r>
            <a:r>
              <a:rPr lang="zh-CN" altLang="en-US" dirty="0"/>
              <a:t>测试工具，所有供应商立刻使用</a:t>
            </a:r>
            <a:r>
              <a:rPr lang="en-US" altLang="zh-CN" dirty="0"/>
              <a:t>186-4.</a:t>
            </a:r>
          </a:p>
          <a:p>
            <a:endParaRPr lang="zh-CN" altLang="en-US" dirty="0"/>
          </a:p>
        </p:txBody>
      </p:sp>
    </p:spTree>
    <p:extLst>
      <p:ext uri="{BB962C8B-B14F-4D97-AF65-F5344CB8AC3E}">
        <p14:creationId xmlns:p14="http://schemas.microsoft.com/office/powerpoint/2010/main" val="210535497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latin typeface="+mn-ea"/>
              </a:rPr>
              <a:t>FIPS PUB 46-3-1999 </a:t>
            </a:r>
            <a:r>
              <a:rPr lang="zh-CN" altLang="en-US" dirty="0">
                <a:latin typeface="+mn-ea"/>
              </a:rPr>
              <a:t>数据加密标准</a:t>
            </a:r>
            <a:r>
              <a:rPr lang="en-US" altLang="zh-CN" dirty="0">
                <a:latin typeface="+mn-ea"/>
              </a:rPr>
              <a:t> </a:t>
            </a:r>
            <a:endParaRPr lang="zh-CN" altLang="en-US" dirty="0"/>
          </a:p>
        </p:txBody>
      </p:sp>
      <p:sp>
        <p:nvSpPr>
          <p:cNvPr id="3" name="内容占位符 2"/>
          <p:cNvSpPr>
            <a:spLocks noGrp="1"/>
          </p:cNvSpPr>
          <p:nvPr>
            <p:ph idx="1"/>
          </p:nvPr>
        </p:nvSpPr>
        <p:spPr/>
        <p:txBody>
          <a:bodyPr/>
          <a:lstStyle/>
          <a:p>
            <a:pPr marL="0" indent="0">
              <a:buNone/>
            </a:pPr>
            <a:r>
              <a:rPr lang="zh-CN" altLang="en-US" dirty="0"/>
              <a:t>本标准由</a:t>
            </a:r>
            <a:r>
              <a:rPr lang="en-US" altLang="zh-CN" dirty="0"/>
              <a:t>DES</a:t>
            </a:r>
            <a:r>
              <a:rPr lang="zh-CN" altLang="en-US" dirty="0"/>
              <a:t>算法和标准</a:t>
            </a:r>
            <a:r>
              <a:rPr lang="en-US" altLang="zh-CN" dirty="0"/>
              <a:t>ANSI X9.52</a:t>
            </a:r>
            <a:r>
              <a:rPr lang="zh-CN" altLang="en-US" dirty="0"/>
              <a:t>的</a:t>
            </a:r>
            <a:r>
              <a:rPr lang="en-US" altLang="zh-CN" dirty="0"/>
              <a:t> TDEA</a:t>
            </a:r>
            <a:r>
              <a:rPr lang="zh-CN" altLang="en-US" dirty="0"/>
              <a:t>共同构成，在</a:t>
            </a:r>
            <a:r>
              <a:rPr lang="en-US" altLang="zh-CN" dirty="0"/>
              <a:t>TDEA</a:t>
            </a:r>
            <a:r>
              <a:rPr lang="zh-CN" altLang="en-US" dirty="0"/>
              <a:t>的三个密钥中提供三种可选方式（</a:t>
            </a:r>
            <a:r>
              <a:rPr lang="en-US" altLang="zh-CN" dirty="0"/>
              <a:t>1</a:t>
            </a:r>
            <a:r>
              <a:rPr lang="zh-CN" altLang="en-US" dirty="0"/>
              <a:t>）</a:t>
            </a:r>
            <a:r>
              <a:rPr lang="en-US" altLang="zh-CN" dirty="0"/>
              <a:t>k1,k2,k3</a:t>
            </a:r>
            <a:r>
              <a:rPr lang="zh-CN" altLang="en-US" dirty="0"/>
              <a:t>独立（</a:t>
            </a:r>
            <a:r>
              <a:rPr lang="en-US" altLang="zh-CN" dirty="0"/>
              <a:t>2</a:t>
            </a:r>
            <a:r>
              <a:rPr lang="zh-CN" altLang="en-US" dirty="0"/>
              <a:t>）</a:t>
            </a:r>
            <a:r>
              <a:rPr lang="en-US" altLang="zh-CN" dirty="0"/>
              <a:t>k1,k2</a:t>
            </a:r>
            <a:r>
              <a:rPr lang="zh-CN" altLang="en-US" dirty="0"/>
              <a:t>独立，</a:t>
            </a:r>
            <a:r>
              <a:rPr lang="en-US" altLang="zh-CN" dirty="0"/>
              <a:t>k1=k3</a:t>
            </a:r>
            <a:r>
              <a:rPr lang="zh-CN" altLang="en-US" dirty="0"/>
              <a:t>（</a:t>
            </a:r>
            <a:r>
              <a:rPr lang="en-US" altLang="zh-CN" dirty="0"/>
              <a:t>3</a:t>
            </a:r>
            <a:r>
              <a:rPr lang="zh-CN" altLang="en-US" dirty="0"/>
              <a:t>）</a:t>
            </a:r>
            <a:r>
              <a:rPr lang="en-US" altLang="zh-CN" dirty="0"/>
              <a:t>k1=k2=k3</a:t>
            </a:r>
            <a:r>
              <a:rPr lang="zh-CN" altLang="en-US" dirty="0"/>
              <a:t>。密码的实现模式四种可选：</a:t>
            </a:r>
            <a:r>
              <a:rPr lang="en-US" altLang="zh-CN" dirty="0"/>
              <a:t>TECB,TCBC,TCFB,TOFB.</a:t>
            </a:r>
            <a:endParaRPr lang="zh-CN" altLang="en-US" dirty="0"/>
          </a:p>
        </p:txBody>
      </p:sp>
    </p:spTree>
    <p:extLst>
      <p:ext uri="{BB962C8B-B14F-4D97-AF65-F5344CB8AC3E}">
        <p14:creationId xmlns:p14="http://schemas.microsoft.com/office/powerpoint/2010/main" val="12604862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mn-ea"/>
              </a:rPr>
              <a:t>FIPS PUB 197-2001 AES</a:t>
            </a:r>
            <a:endParaRPr lang="zh-CN" altLang="en-US" dirty="0"/>
          </a:p>
        </p:txBody>
      </p:sp>
      <p:sp>
        <p:nvSpPr>
          <p:cNvPr id="3" name="内容占位符 2"/>
          <p:cNvSpPr>
            <a:spLocks noGrp="1"/>
          </p:cNvSpPr>
          <p:nvPr>
            <p:ph idx="1"/>
          </p:nvPr>
        </p:nvSpPr>
        <p:spPr/>
        <p:txBody>
          <a:bodyPr/>
          <a:lstStyle/>
          <a:p>
            <a:pPr marL="0" indent="0">
              <a:buNone/>
            </a:pPr>
            <a:r>
              <a:rPr lang="zh-CN" altLang="en-US" dirty="0"/>
              <a:t>本标准指定</a:t>
            </a:r>
            <a:r>
              <a:rPr lang="en-US" altLang="zh-CN" dirty="0" err="1"/>
              <a:t>Rijndael</a:t>
            </a:r>
            <a:r>
              <a:rPr lang="en-US" altLang="zh-CN" dirty="0"/>
              <a:t> </a:t>
            </a:r>
            <a:r>
              <a:rPr lang="zh-CN" altLang="en-US" dirty="0"/>
              <a:t>算法作为对称分组加密算法，</a:t>
            </a:r>
            <a:r>
              <a:rPr lang="en-US" altLang="zh-CN" dirty="0">
                <a:latin typeface="+mn-ea"/>
              </a:rPr>
              <a:t>128</a:t>
            </a:r>
            <a:r>
              <a:rPr lang="zh-CN" altLang="en-US" dirty="0">
                <a:latin typeface="+mn-ea"/>
              </a:rPr>
              <a:t>、</a:t>
            </a:r>
            <a:r>
              <a:rPr lang="en-US" altLang="zh-CN" dirty="0">
                <a:latin typeface="+mn-ea"/>
              </a:rPr>
              <a:t>192</a:t>
            </a:r>
            <a:r>
              <a:rPr lang="zh-CN" altLang="en-US" dirty="0">
                <a:latin typeface="+mn-ea"/>
              </a:rPr>
              <a:t>、</a:t>
            </a:r>
            <a:r>
              <a:rPr lang="en-US" altLang="zh-CN" dirty="0">
                <a:latin typeface="+mn-ea"/>
              </a:rPr>
              <a:t>256</a:t>
            </a:r>
            <a:r>
              <a:rPr lang="zh-CN" altLang="en-US" dirty="0">
                <a:latin typeface="+mn-ea"/>
              </a:rPr>
              <a:t>比特的分组明文经过可选的轮次迭代运算，每轮四个运算：</a:t>
            </a:r>
            <a:r>
              <a:rPr lang="en-US" altLang="zh-CN" dirty="0">
                <a:latin typeface="+mn-ea"/>
              </a:rPr>
              <a:t>S</a:t>
            </a:r>
            <a:r>
              <a:rPr lang="zh-CN" altLang="en-US" dirty="0">
                <a:latin typeface="+mn-ea"/>
              </a:rPr>
              <a:t>盒代替、行循环左移、列混合变换、与扩展密钥异或。</a:t>
            </a:r>
            <a:endParaRPr lang="en-US" altLang="zh-CN" dirty="0">
              <a:latin typeface="+mn-ea"/>
            </a:endParaRPr>
          </a:p>
          <a:p>
            <a:pPr marL="0" indent="0">
              <a:buNone/>
            </a:pPr>
            <a:r>
              <a:rPr lang="en-US" altLang="zh-CN" dirty="0"/>
              <a:t>S-</a:t>
            </a:r>
            <a:r>
              <a:rPr lang="zh-CN" altLang="en-US" dirty="0"/>
              <a:t>盒能抵抗差分和线性密码分析，行循环左移能抵抗截断差分密码分析及</a:t>
            </a:r>
            <a:r>
              <a:rPr lang="en-US" altLang="zh-CN" dirty="0"/>
              <a:t>Square</a:t>
            </a:r>
            <a:r>
              <a:rPr lang="zh-CN" altLang="en-US" dirty="0"/>
              <a:t>攻击，列混合达到了扩散的目的，没有弱密钥，因此对密钥的选择没有限制。</a:t>
            </a:r>
          </a:p>
          <a:p>
            <a:pPr marL="0" indent="0">
              <a:buNone/>
            </a:pPr>
            <a:endParaRPr lang="zh-CN" altLang="en-US" dirty="0"/>
          </a:p>
        </p:txBody>
      </p:sp>
    </p:spTree>
    <p:extLst>
      <p:ext uri="{BB962C8B-B14F-4D97-AF65-F5344CB8AC3E}">
        <p14:creationId xmlns:p14="http://schemas.microsoft.com/office/powerpoint/2010/main" val="313263887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mn-ea"/>
              </a:rPr>
              <a:t>FIPS PUB 198-1 </a:t>
            </a:r>
            <a:r>
              <a:rPr lang="en-US" altLang="zh-CN" dirty="0"/>
              <a:t>HMAC</a:t>
            </a:r>
            <a:endParaRPr lang="zh-CN" altLang="en-US" dirty="0"/>
          </a:p>
        </p:txBody>
      </p:sp>
      <p:sp>
        <p:nvSpPr>
          <p:cNvPr id="3" name="内容占位符 2"/>
          <p:cNvSpPr>
            <a:spLocks noGrp="1"/>
          </p:cNvSpPr>
          <p:nvPr>
            <p:ph idx="1"/>
          </p:nvPr>
        </p:nvSpPr>
        <p:spPr/>
        <p:txBody>
          <a:bodyPr/>
          <a:lstStyle/>
          <a:p>
            <a:pPr marL="0" indent="0">
              <a:buNone/>
            </a:pPr>
            <a:r>
              <a:rPr lang="zh-CN" altLang="en-US" dirty="0"/>
              <a:t>本标准描述了一种基于哈希消息认证码。</a:t>
            </a:r>
            <a:r>
              <a:rPr lang="en-US" altLang="zh-CN" dirty="0"/>
              <a:t>HMAC</a:t>
            </a:r>
            <a:r>
              <a:rPr lang="zh-CN" altLang="en-US" dirty="0"/>
              <a:t>可以与任何迭代密码哈希函数一起使用，加密时使用了共享密钥。通常，消息认证码用于共享密钥的两方之间，以对传输的信息进行身份验证。</a:t>
            </a:r>
            <a:r>
              <a:rPr lang="en-US" altLang="zh-CN" dirty="0"/>
              <a:t>HMAC</a:t>
            </a:r>
            <a:r>
              <a:rPr lang="zh-CN" altLang="en-US" dirty="0"/>
              <a:t>应使用经批准的密码散列函数</a:t>
            </a:r>
            <a:r>
              <a:rPr lang="en-US" altLang="zh-CN" dirty="0"/>
              <a:t>[FIPS 180-3]</a:t>
            </a:r>
            <a:r>
              <a:rPr lang="zh-CN" altLang="en-US" dirty="0"/>
              <a:t>。</a:t>
            </a:r>
            <a:r>
              <a:rPr lang="en-US" altLang="zh-CN" dirty="0"/>
              <a:t>HMAC</a:t>
            </a:r>
            <a:r>
              <a:rPr lang="zh-CN" altLang="en-US" dirty="0"/>
              <a:t>使用密钥来计算和验证</a:t>
            </a:r>
            <a:r>
              <a:rPr lang="en-US" altLang="zh-CN" dirty="0"/>
              <a:t>MACs</a:t>
            </a:r>
            <a:r>
              <a:rPr lang="zh-CN" altLang="en-US" dirty="0"/>
              <a:t>。</a:t>
            </a:r>
          </a:p>
        </p:txBody>
      </p:sp>
    </p:spTree>
    <p:extLst>
      <p:ext uri="{BB962C8B-B14F-4D97-AF65-F5344CB8AC3E}">
        <p14:creationId xmlns:p14="http://schemas.microsoft.com/office/powerpoint/2010/main" val="316044720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类似的标准</a:t>
            </a:r>
          </a:p>
        </p:txBody>
      </p:sp>
      <p:sp>
        <p:nvSpPr>
          <p:cNvPr id="3" name="内容占位符 2"/>
          <p:cNvSpPr>
            <a:spLocks noGrp="1"/>
          </p:cNvSpPr>
          <p:nvPr>
            <p:ph idx="1"/>
          </p:nvPr>
        </p:nvSpPr>
        <p:spPr/>
        <p:txBody>
          <a:bodyPr>
            <a:normAutofit/>
          </a:bodyPr>
          <a:lstStyle/>
          <a:p>
            <a:r>
              <a:rPr lang="en-US" altLang="zh-CN" dirty="0">
                <a:latin typeface="+mn-ea"/>
              </a:rPr>
              <a:t>RFC 2104, HMAC, Keyed-Hashing for Message Authentication;</a:t>
            </a:r>
          </a:p>
          <a:p>
            <a:r>
              <a:rPr lang="en-US" altLang="zh-CN" dirty="0">
                <a:latin typeface="+mn-ea"/>
              </a:rPr>
              <a:t>ANSI X9.71, Keyed Hash Message Authentication Code.</a:t>
            </a:r>
          </a:p>
          <a:p>
            <a:r>
              <a:rPr lang="en-US" altLang="zh-CN" dirty="0">
                <a:latin typeface="+mn-ea"/>
              </a:rPr>
              <a:t>FIPS PUB 198a-2002 The Keyed-Hash Message Authentication Code </a:t>
            </a:r>
          </a:p>
          <a:p>
            <a:r>
              <a:rPr lang="en-US" altLang="zh-CN" dirty="0">
                <a:latin typeface="+mn-ea"/>
              </a:rPr>
              <a:t>ISO/IEC 9797-2-2011 Mechanisms using a dedicated hash-function</a:t>
            </a:r>
            <a:endParaRPr lang="zh-CN" altLang="en-US" dirty="0">
              <a:latin typeface="+mn-ea"/>
            </a:endParaRPr>
          </a:p>
        </p:txBody>
      </p:sp>
    </p:spTree>
    <p:extLst>
      <p:ext uri="{BB962C8B-B14F-4D97-AF65-F5344CB8AC3E}">
        <p14:creationId xmlns:p14="http://schemas.microsoft.com/office/powerpoint/2010/main" val="137363932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mn-ea"/>
              </a:rPr>
              <a:t>RFC 2104, HMAC</a:t>
            </a:r>
            <a:endParaRPr lang="zh-CN" altLang="en-US" dirty="0"/>
          </a:p>
        </p:txBody>
      </p:sp>
      <p:sp>
        <p:nvSpPr>
          <p:cNvPr id="3" name="内容占位符 2"/>
          <p:cNvSpPr>
            <a:spLocks noGrp="1"/>
          </p:cNvSpPr>
          <p:nvPr>
            <p:ph idx="1"/>
          </p:nvPr>
        </p:nvSpPr>
        <p:spPr/>
        <p:txBody>
          <a:bodyPr>
            <a:normAutofit fontScale="92500" lnSpcReduction="10000"/>
          </a:bodyPr>
          <a:lstStyle/>
          <a:p>
            <a:pPr marL="0" indent="0">
              <a:buNone/>
            </a:pPr>
            <a:r>
              <a:rPr lang="en-US" altLang="zh-CN" dirty="0"/>
              <a:t>Network Working Group</a:t>
            </a:r>
            <a:r>
              <a:rPr lang="zh-CN" altLang="en-US" dirty="0"/>
              <a:t>，</a:t>
            </a:r>
            <a:r>
              <a:rPr lang="en-US" altLang="zh-CN" dirty="0"/>
              <a:t> Request for Comments</a:t>
            </a:r>
            <a:r>
              <a:rPr lang="zh-CN" altLang="en-US" dirty="0"/>
              <a:t>。</a:t>
            </a:r>
            <a:r>
              <a:rPr lang="zh-CN" altLang="zh-CN" dirty="0"/>
              <a:t>消息鉴别码用于验证传输于两个共同享有一个密钥的单位之间的消息。本文档描述一种基于散列函数的消息鉴别码机制</a:t>
            </a:r>
            <a:r>
              <a:rPr lang="en-US" altLang="zh-CN" dirty="0"/>
              <a:t>HMAC</a:t>
            </a:r>
            <a:r>
              <a:rPr lang="zh-CN" altLang="en-US" dirty="0"/>
              <a:t>，</a:t>
            </a:r>
            <a:r>
              <a:rPr lang="zh-CN" altLang="zh-CN" dirty="0"/>
              <a:t>它是基于</a:t>
            </a:r>
            <a:r>
              <a:rPr lang="en-US" altLang="zh-CN" dirty="0"/>
              <a:t>[BCK1]</a:t>
            </a:r>
            <a:r>
              <a:rPr lang="zh-CN" altLang="zh-CN" dirty="0"/>
              <a:t>的所做的工作，</a:t>
            </a:r>
            <a:r>
              <a:rPr lang="zh-CN" altLang="en-US" dirty="0"/>
              <a:t>从</a:t>
            </a:r>
            <a:r>
              <a:rPr lang="zh-CN" altLang="zh-CN" dirty="0"/>
              <a:t>加密性能</a:t>
            </a:r>
            <a:r>
              <a:rPr lang="zh-CN" altLang="en-US" dirty="0"/>
              <a:t>角度</a:t>
            </a:r>
            <a:r>
              <a:rPr lang="zh-CN" altLang="zh-CN" dirty="0"/>
              <a:t>分析了</a:t>
            </a:r>
            <a:r>
              <a:rPr lang="en-US" altLang="zh-CN" dirty="0"/>
              <a:t>HMAC</a:t>
            </a:r>
            <a:r>
              <a:rPr lang="zh-CN" altLang="zh-CN" dirty="0"/>
              <a:t>的结构，与其他</a:t>
            </a:r>
            <a:r>
              <a:rPr lang="zh-CN" altLang="en-US" dirty="0"/>
              <a:t>密钥哈希</a:t>
            </a:r>
            <a:r>
              <a:rPr lang="zh-CN" altLang="zh-CN" dirty="0"/>
              <a:t>方法做对比。</a:t>
            </a:r>
          </a:p>
          <a:p>
            <a:pPr marL="0" indent="0">
              <a:buNone/>
            </a:pPr>
            <a:r>
              <a:rPr lang="en-US" altLang="zh-CN" dirty="0"/>
              <a:t>HMAC</a:t>
            </a:r>
            <a:r>
              <a:rPr lang="zh-CN" altLang="zh-CN" dirty="0"/>
              <a:t>可以与任何迭代</a:t>
            </a:r>
            <a:r>
              <a:rPr lang="zh-CN" altLang="en-US" dirty="0"/>
              <a:t>哈希</a:t>
            </a:r>
            <a:r>
              <a:rPr lang="zh-CN" altLang="zh-CN" dirty="0"/>
              <a:t>函数捆绑使用。</a:t>
            </a:r>
            <a:r>
              <a:rPr lang="en-US" altLang="zh-CN" dirty="0"/>
              <a:t>MD5</a:t>
            </a:r>
            <a:r>
              <a:rPr lang="zh-CN" altLang="zh-CN" dirty="0"/>
              <a:t>和</a:t>
            </a:r>
            <a:r>
              <a:rPr lang="en-US" altLang="zh-CN" dirty="0"/>
              <a:t>SHA-1</a:t>
            </a:r>
            <a:r>
              <a:rPr lang="zh-CN" altLang="zh-CN" dirty="0"/>
              <a:t>就是这种</a:t>
            </a:r>
            <a:r>
              <a:rPr lang="zh-CN" altLang="en-US" dirty="0"/>
              <a:t>哈希</a:t>
            </a:r>
            <a:r>
              <a:rPr lang="zh-CN" altLang="zh-CN" dirty="0"/>
              <a:t>函数</a:t>
            </a:r>
          </a:p>
          <a:p>
            <a:pPr marL="0" indent="0">
              <a:buNone/>
            </a:pPr>
            <a:r>
              <a:rPr lang="en-US" altLang="zh-CN" dirty="0"/>
              <a:t>HMAC</a:t>
            </a:r>
            <a:r>
              <a:rPr lang="zh-CN" altLang="zh-CN" dirty="0"/>
              <a:t>还可以使用一个用于计算和确认消息鉴别值的密钥。</a:t>
            </a:r>
            <a:endParaRPr lang="zh-CN" altLang="en-US" dirty="0"/>
          </a:p>
        </p:txBody>
      </p:sp>
    </p:spTree>
    <p:extLst>
      <p:ext uri="{BB962C8B-B14F-4D97-AF65-F5344CB8AC3E}">
        <p14:creationId xmlns:p14="http://schemas.microsoft.com/office/powerpoint/2010/main" val="40671429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5 </a:t>
            </a:r>
            <a:r>
              <a:rPr lang="zh-CN" altLang="en-US" dirty="0"/>
              <a:t>中国标准</a:t>
            </a:r>
            <a:r>
              <a:rPr lang="en-US" altLang="zh-CN" dirty="0"/>
              <a:t>GB</a:t>
            </a:r>
            <a:r>
              <a:rPr lang="zh-CN" altLang="en-US" dirty="0"/>
              <a:t>（</a:t>
            </a:r>
            <a:r>
              <a:rPr lang="en-US" altLang="zh-CN" dirty="0"/>
              <a:t>GM</a:t>
            </a:r>
            <a:r>
              <a:rPr lang="zh-CN" altLang="en-US" dirty="0"/>
              <a:t>）</a:t>
            </a:r>
          </a:p>
        </p:txBody>
      </p:sp>
      <p:sp>
        <p:nvSpPr>
          <p:cNvPr id="3" name="内容占位符 2"/>
          <p:cNvSpPr>
            <a:spLocks noGrp="1"/>
          </p:cNvSpPr>
          <p:nvPr>
            <p:ph idx="1"/>
          </p:nvPr>
        </p:nvSpPr>
        <p:spPr/>
        <p:txBody>
          <a:bodyPr>
            <a:normAutofit fontScale="92500"/>
          </a:bodyPr>
          <a:lstStyle/>
          <a:p>
            <a:r>
              <a:rPr lang="en-US" altLang="zh-CN" dirty="0"/>
              <a:t>GM/T 0005-2012 </a:t>
            </a:r>
            <a:r>
              <a:rPr lang="zh-CN" altLang="en-US" dirty="0"/>
              <a:t>随机性检测规范</a:t>
            </a:r>
            <a:endParaRPr lang="en-US" altLang="zh-CN" dirty="0"/>
          </a:p>
          <a:p>
            <a:r>
              <a:rPr lang="en-US" altLang="zh-CN" dirty="0"/>
              <a:t>GB/T 32915-2016 </a:t>
            </a:r>
            <a:r>
              <a:rPr lang="zh-CN" altLang="en-US" dirty="0"/>
              <a:t>二元序列随机性检测方法</a:t>
            </a:r>
            <a:endParaRPr lang="en-US" altLang="zh-CN" dirty="0"/>
          </a:p>
          <a:p>
            <a:r>
              <a:rPr lang="en-US" altLang="zh-CN" dirty="0"/>
              <a:t> GM/T 0062—2018 </a:t>
            </a:r>
            <a:r>
              <a:rPr lang="zh-CN" altLang="en-US" dirty="0"/>
              <a:t>密码产品随机数检测要求</a:t>
            </a:r>
            <a:endParaRPr lang="en-US" altLang="zh-CN" dirty="0"/>
          </a:p>
          <a:p>
            <a:r>
              <a:rPr lang="en-US" altLang="zh-CN" dirty="0"/>
              <a:t>GM/T 0001-2012 </a:t>
            </a:r>
            <a:r>
              <a:rPr lang="zh-CN" altLang="en-US" dirty="0"/>
              <a:t>祖冲之序列密码算法</a:t>
            </a:r>
            <a:endParaRPr lang="en-US" altLang="zh-CN" dirty="0"/>
          </a:p>
          <a:p>
            <a:r>
              <a:rPr lang="en-US" altLang="zh-CN" dirty="0"/>
              <a:t>GM/T 0002-2012 SM4</a:t>
            </a:r>
            <a:r>
              <a:rPr lang="zh-CN" altLang="en-US" dirty="0"/>
              <a:t>分组密码算法</a:t>
            </a:r>
            <a:endParaRPr lang="en-US" altLang="zh-CN" dirty="0"/>
          </a:p>
          <a:p>
            <a:r>
              <a:rPr lang="en-US" altLang="zh-CN" dirty="0"/>
              <a:t>GM/T 0003-2012 SM2</a:t>
            </a:r>
            <a:r>
              <a:rPr lang="zh-CN" altLang="en-US" dirty="0"/>
              <a:t>椭圆曲线公钥密码算法</a:t>
            </a:r>
            <a:endParaRPr lang="en-US" altLang="zh-CN" dirty="0"/>
          </a:p>
          <a:p>
            <a:r>
              <a:rPr lang="en-US" altLang="zh-CN" dirty="0"/>
              <a:t>GM/T 0004-2012 SM3 </a:t>
            </a:r>
            <a:r>
              <a:rPr lang="zh-CN" altLang="en-US" dirty="0"/>
              <a:t>密码杂凑算法</a:t>
            </a:r>
            <a:endParaRPr lang="en-US" altLang="zh-CN" dirty="0"/>
          </a:p>
          <a:p>
            <a:r>
              <a:rPr lang="en-US" altLang="zh-CN" dirty="0"/>
              <a:t>GM/T 0006-2012 </a:t>
            </a:r>
            <a:r>
              <a:rPr lang="zh-CN" altLang="en-US" dirty="0"/>
              <a:t>密码应用标识规范</a:t>
            </a:r>
          </a:p>
        </p:txBody>
      </p:sp>
    </p:spTree>
    <p:extLst>
      <p:ext uri="{BB962C8B-B14F-4D97-AF65-F5344CB8AC3E}">
        <p14:creationId xmlns:p14="http://schemas.microsoft.com/office/powerpoint/2010/main" val="149211351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续</a:t>
            </a:r>
            <a:r>
              <a:rPr lang="en-US" altLang="zh-CN" dirty="0"/>
              <a:t>1</a:t>
            </a:r>
            <a:endParaRPr lang="zh-CN" altLang="en-US" dirty="0"/>
          </a:p>
        </p:txBody>
      </p:sp>
      <p:sp>
        <p:nvSpPr>
          <p:cNvPr id="3" name="内容占位符 2"/>
          <p:cNvSpPr>
            <a:spLocks noGrp="1"/>
          </p:cNvSpPr>
          <p:nvPr>
            <p:ph idx="1"/>
          </p:nvPr>
        </p:nvSpPr>
        <p:spPr/>
        <p:txBody>
          <a:bodyPr>
            <a:normAutofit fontScale="70000" lnSpcReduction="20000"/>
          </a:bodyPr>
          <a:lstStyle/>
          <a:p>
            <a:r>
              <a:rPr lang="en-US" altLang="zh-CN" dirty="0"/>
              <a:t>GM/T 0008-2012 </a:t>
            </a:r>
            <a:r>
              <a:rPr lang="zh-CN" altLang="en-US" dirty="0"/>
              <a:t>安全芯片密码检测准则</a:t>
            </a:r>
            <a:endParaRPr lang="en-US" altLang="zh-CN" dirty="0"/>
          </a:p>
          <a:p>
            <a:r>
              <a:rPr lang="en-US" altLang="zh-CN" dirty="0"/>
              <a:t>GM/T 0009-2012 SM2 </a:t>
            </a:r>
            <a:r>
              <a:rPr lang="zh-CN" altLang="en-US" dirty="0"/>
              <a:t>密码算法使用规范</a:t>
            </a:r>
            <a:endParaRPr lang="en-US" altLang="zh-CN" dirty="0"/>
          </a:p>
          <a:p>
            <a:r>
              <a:rPr lang="en-US" altLang="zh-CN" dirty="0"/>
              <a:t>GM/T 0010-2012 SM2 </a:t>
            </a:r>
            <a:r>
              <a:rPr lang="zh-CN" altLang="en-US" dirty="0"/>
              <a:t>密码算法加密签名消息语法规范</a:t>
            </a:r>
            <a:endParaRPr lang="en-US" altLang="zh-CN" dirty="0"/>
          </a:p>
          <a:p>
            <a:r>
              <a:rPr lang="en-US" altLang="zh-CN" dirty="0"/>
              <a:t>GM/T 0011-2012</a:t>
            </a:r>
            <a:r>
              <a:rPr lang="zh-CN" altLang="en-US" dirty="0"/>
              <a:t>可信计算 可信密码支撑平台功能与接口规范</a:t>
            </a:r>
            <a:endParaRPr lang="en-US" altLang="zh-CN" dirty="0"/>
          </a:p>
          <a:p>
            <a:r>
              <a:rPr lang="en-US" altLang="zh-CN" dirty="0"/>
              <a:t>GM/T 0012-2012</a:t>
            </a:r>
            <a:r>
              <a:rPr lang="zh-CN" altLang="en-US" dirty="0"/>
              <a:t>可信计算 可信密码模块接口规范</a:t>
            </a:r>
            <a:endParaRPr lang="en-US" altLang="zh-CN" dirty="0"/>
          </a:p>
          <a:p>
            <a:r>
              <a:rPr lang="en-US" altLang="zh-CN" dirty="0"/>
              <a:t>GM/T 0013-2012</a:t>
            </a:r>
            <a:r>
              <a:rPr lang="zh-CN" altLang="en-US" dirty="0"/>
              <a:t>可信计算 可信密码模块接口符合性测试规范</a:t>
            </a:r>
            <a:endParaRPr lang="en-US" altLang="zh-CN" dirty="0"/>
          </a:p>
          <a:p>
            <a:r>
              <a:rPr lang="en-US" altLang="zh-CN" dirty="0"/>
              <a:t>GM/T 0014-2012</a:t>
            </a:r>
            <a:r>
              <a:rPr lang="zh-CN" altLang="en-US" dirty="0"/>
              <a:t>数字证书认证系统密码协议规范</a:t>
            </a:r>
            <a:endParaRPr lang="en-US" altLang="zh-CN" dirty="0"/>
          </a:p>
          <a:p>
            <a:r>
              <a:rPr lang="en-US" altLang="zh-CN" dirty="0"/>
              <a:t>GM/T 0026-2014</a:t>
            </a:r>
            <a:r>
              <a:rPr lang="zh-CN" altLang="en-US" dirty="0"/>
              <a:t>安全认证网关产品规范</a:t>
            </a:r>
            <a:endParaRPr lang="en-US" altLang="zh-CN" dirty="0"/>
          </a:p>
          <a:p>
            <a:r>
              <a:rPr lang="en-US" altLang="zh-CN" dirty="0"/>
              <a:t>GM/T 0028-2014</a:t>
            </a:r>
            <a:r>
              <a:rPr lang="zh-CN" altLang="en-US" dirty="0"/>
              <a:t>密码模块安全技术要求</a:t>
            </a:r>
            <a:endParaRPr lang="en-US" altLang="zh-CN" dirty="0"/>
          </a:p>
          <a:p>
            <a:r>
              <a:rPr lang="en-US" altLang="zh-CN" dirty="0"/>
              <a:t>GM/T 0031-2014</a:t>
            </a:r>
            <a:r>
              <a:rPr lang="zh-CN" altLang="en-US" dirty="0"/>
              <a:t>安全电子签章密码技术规范</a:t>
            </a:r>
            <a:endParaRPr lang="en-US" altLang="zh-CN" dirty="0"/>
          </a:p>
          <a:p>
            <a:r>
              <a:rPr lang="en-US" altLang="zh-CN" dirty="0"/>
              <a:t>GM/T 0034-2014</a:t>
            </a:r>
            <a:r>
              <a:rPr lang="zh-CN" altLang="en-US" dirty="0"/>
              <a:t>基于</a:t>
            </a:r>
            <a:r>
              <a:rPr lang="en-US" altLang="zh-CN" dirty="0"/>
              <a:t>SM</a:t>
            </a:r>
            <a:r>
              <a:rPr lang="zh-CN" altLang="en-US" dirty="0"/>
              <a:t>２密码算法的证书认证系统密码及其相关安全技术规范</a:t>
            </a:r>
            <a:endParaRPr lang="en-US" altLang="zh-CN" dirty="0"/>
          </a:p>
        </p:txBody>
      </p:sp>
    </p:spTree>
    <p:extLst>
      <p:ext uri="{BB962C8B-B14F-4D97-AF65-F5344CB8AC3E}">
        <p14:creationId xmlns:p14="http://schemas.microsoft.com/office/powerpoint/2010/main" val="14643148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续</a:t>
            </a:r>
            <a:r>
              <a:rPr lang="en-US" altLang="zh-CN" dirty="0"/>
              <a:t>2</a:t>
            </a:r>
            <a:endParaRPr lang="zh-CN" altLang="en-US" dirty="0"/>
          </a:p>
        </p:txBody>
      </p:sp>
      <p:sp>
        <p:nvSpPr>
          <p:cNvPr id="3" name="内容占位符 2"/>
          <p:cNvSpPr>
            <a:spLocks noGrp="1"/>
          </p:cNvSpPr>
          <p:nvPr>
            <p:ph idx="1"/>
          </p:nvPr>
        </p:nvSpPr>
        <p:spPr/>
        <p:txBody>
          <a:bodyPr>
            <a:normAutofit fontScale="77500" lnSpcReduction="20000"/>
          </a:bodyPr>
          <a:lstStyle/>
          <a:p>
            <a:r>
              <a:rPr lang="en-US" altLang="zh-CN" dirty="0"/>
              <a:t>GMT 0035.1-2014 </a:t>
            </a:r>
            <a:r>
              <a:rPr lang="zh-CN" altLang="en-US" dirty="0"/>
              <a:t>射频识别系统密码应用技术要求</a:t>
            </a:r>
            <a:endParaRPr lang="en-US" altLang="zh-CN" dirty="0"/>
          </a:p>
          <a:p>
            <a:r>
              <a:rPr lang="en-US" altLang="zh-CN" dirty="0"/>
              <a:t>GMT 0036-2014 </a:t>
            </a:r>
            <a:r>
              <a:rPr lang="zh-CN" altLang="en-US" dirty="0"/>
              <a:t>采用非接触卡的门禁系统密码应用技术指南</a:t>
            </a:r>
            <a:endParaRPr lang="en-US" altLang="zh-CN" dirty="0"/>
          </a:p>
          <a:p>
            <a:r>
              <a:rPr lang="en-US" altLang="zh-CN" dirty="0"/>
              <a:t>GMT 0039-2015 </a:t>
            </a:r>
            <a:r>
              <a:rPr lang="zh-CN" altLang="en-US" dirty="0"/>
              <a:t>密码模块安全检测要求</a:t>
            </a:r>
            <a:endParaRPr lang="en-US" altLang="zh-CN" dirty="0"/>
          </a:p>
          <a:p>
            <a:r>
              <a:rPr lang="en-US" altLang="zh-CN" dirty="0"/>
              <a:t>GMT 0041-2015 </a:t>
            </a:r>
            <a:r>
              <a:rPr lang="zh-CN" altLang="en-US" dirty="0"/>
              <a:t>智能</a:t>
            </a:r>
            <a:r>
              <a:rPr lang="en-US" altLang="zh-CN" dirty="0"/>
              <a:t>IC</a:t>
            </a:r>
            <a:r>
              <a:rPr lang="zh-CN" altLang="en-US" dirty="0"/>
              <a:t>卡密码检测规范</a:t>
            </a:r>
            <a:endParaRPr lang="en-US" altLang="zh-CN" dirty="0"/>
          </a:p>
          <a:p>
            <a:r>
              <a:rPr lang="en-US" altLang="zh-CN" dirty="0"/>
              <a:t>GMT 0042-2015 </a:t>
            </a:r>
            <a:r>
              <a:rPr lang="zh-CN" altLang="en-US" dirty="0"/>
              <a:t>三元对等密码安全协议测试规范</a:t>
            </a:r>
            <a:endParaRPr lang="en-US" altLang="zh-CN" dirty="0"/>
          </a:p>
          <a:p>
            <a:r>
              <a:rPr lang="en-US" altLang="zh-CN" dirty="0"/>
              <a:t>GMT 0043-2015 </a:t>
            </a:r>
            <a:r>
              <a:rPr lang="zh-CN" altLang="en-US" dirty="0"/>
              <a:t>数字证书互操作检测规范</a:t>
            </a:r>
            <a:endParaRPr lang="en-US" altLang="zh-CN" dirty="0"/>
          </a:p>
          <a:p>
            <a:r>
              <a:rPr lang="en-US" altLang="zh-CN" dirty="0"/>
              <a:t>GM/T 0044.1-2016 SM9</a:t>
            </a:r>
            <a:r>
              <a:rPr lang="zh-CN" altLang="zh-CN" dirty="0"/>
              <a:t>标识密码算法</a:t>
            </a:r>
            <a:endParaRPr lang="en-US" altLang="zh-CN" dirty="0"/>
          </a:p>
          <a:p>
            <a:r>
              <a:rPr lang="en-US" altLang="zh-CN" dirty="0"/>
              <a:t>GMT 0045-2016 </a:t>
            </a:r>
            <a:r>
              <a:rPr lang="zh-CN" altLang="en-US" dirty="0"/>
              <a:t>金融数据密码机技术规范</a:t>
            </a:r>
            <a:endParaRPr lang="en-US" altLang="zh-CN" dirty="0"/>
          </a:p>
          <a:p>
            <a:r>
              <a:rPr lang="en-US" altLang="zh-CN" dirty="0"/>
              <a:t>GMT 0046-2016 </a:t>
            </a:r>
            <a:r>
              <a:rPr lang="zh-CN" altLang="en-US" dirty="0"/>
              <a:t>金融数据密码机检测规范</a:t>
            </a:r>
            <a:endParaRPr lang="en-US" altLang="zh-CN" dirty="0"/>
          </a:p>
          <a:p>
            <a:r>
              <a:rPr lang="en-US" altLang="zh-CN" dirty="0"/>
              <a:t>GMT 0047-2016 </a:t>
            </a:r>
            <a:r>
              <a:rPr lang="zh-CN" altLang="en-US" dirty="0"/>
              <a:t>安全电子签章密码检测规范</a:t>
            </a:r>
            <a:endParaRPr lang="en-US" altLang="zh-CN" dirty="0"/>
          </a:p>
          <a:p>
            <a:r>
              <a:rPr lang="en-US" altLang="zh-CN" dirty="0"/>
              <a:t>GMT 0051-2016 </a:t>
            </a:r>
            <a:r>
              <a:rPr lang="zh-CN" altLang="en-US" dirty="0"/>
              <a:t>密码设备管理 对称密钥管理技术规范</a:t>
            </a:r>
          </a:p>
          <a:p>
            <a:endParaRPr lang="zh-CN" altLang="en-US" dirty="0"/>
          </a:p>
        </p:txBody>
      </p:sp>
    </p:spTree>
    <p:extLst>
      <p:ext uri="{BB962C8B-B14F-4D97-AF65-F5344CB8AC3E}">
        <p14:creationId xmlns:p14="http://schemas.microsoft.com/office/powerpoint/2010/main" val="84441039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t>GM/T 0005-2012</a:t>
            </a:r>
            <a:r>
              <a:rPr lang="zh-CN" altLang="en-US" sz="3200" dirty="0"/>
              <a:t>的检测内容与</a:t>
            </a:r>
            <a:r>
              <a:rPr lang="en-US" altLang="zh-CN" sz="3200" dirty="0"/>
              <a:t>AIS 20</a:t>
            </a:r>
            <a:r>
              <a:rPr lang="zh-CN" altLang="en-US" sz="3200" dirty="0"/>
              <a:t>的比较</a:t>
            </a:r>
          </a:p>
        </p:txBody>
      </p:sp>
      <p:sp>
        <p:nvSpPr>
          <p:cNvPr id="3" name="内容占位符 2"/>
          <p:cNvSpPr>
            <a:spLocks noGrp="1"/>
          </p:cNvSpPr>
          <p:nvPr>
            <p:ph idx="1"/>
          </p:nvPr>
        </p:nvSpPr>
        <p:spPr/>
        <p:txBody>
          <a:bodyPr>
            <a:normAutofit fontScale="92500" lnSpcReduction="20000"/>
          </a:bodyPr>
          <a:lstStyle/>
          <a:p>
            <a:pPr marL="0" indent="0">
              <a:buNone/>
            </a:pPr>
            <a:r>
              <a:rPr lang="zh-CN" altLang="en-US" dirty="0"/>
              <a:t>检测内容与</a:t>
            </a:r>
            <a:r>
              <a:rPr lang="en-US" altLang="zh-CN" dirty="0"/>
              <a:t>NIST800-22</a:t>
            </a:r>
            <a:r>
              <a:rPr lang="zh-CN" altLang="en-US" dirty="0"/>
              <a:t>（</a:t>
            </a:r>
            <a:r>
              <a:rPr lang="en-US" altLang="zh-CN" dirty="0"/>
              <a:t>1a</a:t>
            </a:r>
            <a:r>
              <a:rPr lang="zh-CN" altLang="en-US" dirty="0"/>
              <a:t>）接近：</a:t>
            </a:r>
            <a:endParaRPr lang="en-US" altLang="zh-CN" dirty="0"/>
          </a:p>
          <a:p>
            <a:pPr marL="0" indent="0">
              <a:buNone/>
            </a:pPr>
            <a:r>
              <a:rPr lang="zh-CN" altLang="en-US" dirty="0"/>
              <a:t>单比特频数检测、</a:t>
            </a:r>
            <a:r>
              <a:rPr lang="zh-CN" altLang="en-US" dirty="0">
                <a:solidFill>
                  <a:srgbClr val="FF0000"/>
                </a:solidFill>
              </a:rPr>
              <a:t>块内频数检测、扑克检测、</a:t>
            </a:r>
            <a:r>
              <a:rPr lang="zh-CN" altLang="en-US" dirty="0">
                <a:solidFill>
                  <a:srgbClr val="00B050"/>
                </a:solidFill>
              </a:rPr>
              <a:t>重叠子序列检测</a:t>
            </a:r>
            <a:r>
              <a:rPr lang="zh-CN" altLang="en-US" dirty="0"/>
              <a:t>、</a:t>
            </a:r>
            <a:r>
              <a:rPr lang="zh-CN" altLang="en-US" dirty="0">
                <a:solidFill>
                  <a:schemeClr val="accent1"/>
                </a:solidFill>
              </a:rPr>
              <a:t>游程总数检测、游程分布检测、块内最大游程检测</a:t>
            </a:r>
            <a:r>
              <a:rPr lang="zh-CN" altLang="en-US" dirty="0"/>
              <a:t>、二元推导检测、</a:t>
            </a:r>
            <a:r>
              <a:rPr lang="zh-CN" altLang="en-US" dirty="0">
                <a:solidFill>
                  <a:srgbClr val="00B0F0"/>
                </a:solidFill>
              </a:rPr>
              <a:t>自相关检测、矩阵秩检测、</a:t>
            </a:r>
            <a:r>
              <a:rPr lang="zh-CN" altLang="en-US" dirty="0"/>
              <a:t>累加和检测、近似熵检测、线性复杂度检测、通用统计检测、离散傅立叶检测。</a:t>
            </a:r>
            <a:endParaRPr lang="en-US" altLang="zh-CN" dirty="0"/>
          </a:p>
          <a:p>
            <a:pPr marL="0" indent="0">
              <a:buNone/>
            </a:pPr>
            <a:r>
              <a:rPr lang="en-US" altLang="zh-CN" dirty="0"/>
              <a:t>AIS 20</a:t>
            </a:r>
            <a:r>
              <a:rPr lang="zh-CN" altLang="en-US" dirty="0"/>
              <a:t>：不相交测试、单比特测试、块内频率测试、游程测试、自相关测试、多项式分布测试、熵估计。</a:t>
            </a:r>
            <a:endParaRPr lang="en-US" altLang="zh-CN" dirty="0"/>
          </a:p>
          <a:p>
            <a:pPr marL="0" indent="0">
              <a:buNone/>
            </a:pPr>
            <a:r>
              <a:rPr lang="en-US" altLang="zh-CN" dirty="0"/>
              <a:t>2016</a:t>
            </a:r>
            <a:r>
              <a:rPr lang="zh-CN" altLang="en-US" dirty="0"/>
              <a:t>年归口到</a:t>
            </a:r>
            <a:r>
              <a:rPr lang="en-US" altLang="zh-CN" dirty="0"/>
              <a:t>GB/T 32915-2016 </a:t>
            </a:r>
            <a:r>
              <a:rPr lang="zh-CN" altLang="en-US" dirty="0"/>
              <a:t>二元序列随机性检测方法。</a:t>
            </a:r>
            <a:endParaRPr lang="en-US" altLang="zh-CN" dirty="0"/>
          </a:p>
          <a:p>
            <a:pPr marL="0" indent="0">
              <a:buNone/>
            </a:pPr>
            <a:endParaRPr lang="zh-CN" altLang="en-US" dirty="0"/>
          </a:p>
          <a:p>
            <a:pPr marL="0" indent="0">
              <a:buNone/>
            </a:pPr>
            <a:endParaRPr lang="zh-CN" altLang="en-US" dirty="0"/>
          </a:p>
        </p:txBody>
      </p:sp>
    </p:spTree>
    <p:extLst>
      <p:ext uri="{BB962C8B-B14F-4D97-AF65-F5344CB8AC3E}">
        <p14:creationId xmlns:p14="http://schemas.microsoft.com/office/powerpoint/2010/main" val="218720012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t>GM/T 0062—2018 </a:t>
            </a:r>
            <a:r>
              <a:rPr lang="zh-CN" altLang="en-US" sz="3200" dirty="0"/>
              <a:t>密码产品随机数检测要求</a:t>
            </a:r>
          </a:p>
        </p:txBody>
      </p:sp>
      <p:graphicFrame>
        <p:nvGraphicFramePr>
          <p:cNvPr id="4" name="内容占位符 3"/>
          <p:cNvGraphicFramePr>
            <a:graphicFrameLocks noGrp="1"/>
          </p:cNvGraphicFramePr>
          <p:nvPr>
            <p:ph idx="1"/>
            <p:extLst>
              <p:ext uri="{D42A27DB-BD31-4B8C-83A1-F6EECF244321}">
                <p14:modId xmlns:p14="http://schemas.microsoft.com/office/powerpoint/2010/main" val="2630751933"/>
              </p:ext>
            </p:extLst>
          </p:nvPr>
        </p:nvGraphicFramePr>
        <p:xfrm>
          <a:off x="1259632" y="2060847"/>
          <a:ext cx="6840760" cy="4207431"/>
        </p:xfrm>
        <a:graphic>
          <a:graphicData uri="http://schemas.openxmlformats.org/drawingml/2006/table">
            <a:tbl>
              <a:tblPr firstRow="1" firstCol="1" bandRow="1"/>
              <a:tblGrid>
                <a:gridCol w="883792">
                  <a:extLst>
                    <a:ext uri="{9D8B030D-6E8A-4147-A177-3AD203B41FA5}">
                      <a16:colId xmlns:a16="http://schemas.microsoft.com/office/drawing/2014/main" val="20000"/>
                    </a:ext>
                  </a:extLst>
                </a:gridCol>
                <a:gridCol w="4012752">
                  <a:extLst>
                    <a:ext uri="{9D8B030D-6E8A-4147-A177-3AD203B41FA5}">
                      <a16:colId xmlns:a16="http://schemas.microsoft.com/office/drawing/2014/main" val="20001"/>
                    </a:ext>
                  </a:extLst>
                </a:gridCol>
                <a:gridCol w="1944216">
                  <a:extLst>
                    <a:ext uri="{9D8B030D-6E8A-4147-A177-3AD203B41FA5}">
                      <a16:colId xmlns:a16="http://schemas.microsoft.com/office/drawing/2014/main" val="20002"/>
                    </a:ext>
                  </a:extLst>
                </a:gridCol>
              </a:tblGrid>
              <a:tr h="345638">
                <a:tc>
                  <a:txBody>
                    <a:bodyPr/>
                    <a:lstStyle/>
                    <a:p>
                      <a:pPr algn="l">
                        <a:spcAft>
                          <a:spcPts val="0"/>
                        </a:spcAft>
                      </a:pPr>
                      <a:r>
                        <a:rPr lang="zh-CN" sz="2000" kern="100" dirty="0">
                          <a:effectLst/>
                          <a:latin typeface="Calibri"/>
                          <a:ea typeface="宋体"/>
                          <a:cs typeface="Times New Roman"/>
                        </a:rPr>
                        <a:t>产品类别</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2000" kern="100" dirty="0">
                          <a:effectLst/>
                          <a:latin typeface="Calibri"/>
                          <a:ea typeface="宋体"/>
                          <a:cs typeface="Times New Roman"/>
                        </a:rPr>
                        <a:t>主要特征</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2000" kern="100">
                          <a:effectLst/>
                          <a:latin typeface="Calibri"/>
                          <a:ea typeface="宋体"/>
                          <a:cs typeface="Times New Roman"/>
                        </a:rPr>
                        <a:t>典型产品形态</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45638">
                <a:tc>
                  <a:txBody>
                    <a:bodyPr/>
                    <a:lstStyle/>
                    <a:p>
                      <a:pPr algn="l">
                        <a:spcAft>
                          <a:spcPts val="0"/>
                        </a:spcAft>
                      </a:pPr>
                      <a:r>
                        <a:rPr lang="en-US" sz="2000" kern="100">
                          <a:effectLst/>
                          <a:latin typeface="Calibri"/>
                          <a:ea typeface="宋体"/>
                          <a:cs typeface="Times New Roman"/>
                        </a:rPr>
                        <a:t>A</a:t>
                      </a:r>
                      <a:endParaRPr lang="zh-CN" sz="20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2000" kern="100" dirty="0">
                          <a:effectLst/>
                          <a:latin typeface="Calibri"/>
                          <a:ea typeface="宋体"/>
                          <a:cs typeface="Times New Roman"/>
                        </a:rPr>
                        <a:t>不能独立作为功能产品使用</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2000" kern="100">
                          <a:effectLst/>
                          <a:latin typeface="Calibri"/>
                          <a:ea typeface="宋体"/>
                          <a:cs typeface="Times New Roman"/>
                        </a:rPr>
                        <a:t>随机数发生器芯片</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691277">
                <a:tc>
                  <a:txBody>
                    <a:bodyPr/>
                    <a:lstStyle/>
                    <a:p>
                      <a:pPr algn="l">
                        <a:spcAft>
                          <a:spcPts val="0"/>
                        </a:spcAft>
                      </a:pPr>
                      <a:r>
                        <a:rPr lang="en-US" sz="2000" kern="100">
                          <a:effectLst/>
                          <a:latin typeface="Calibri"/>
                          <a:ea typeface="宋体"/>
                          <a:cs typeface="Times New Roman"/>
                        </a:rPr>
                        <a:t>B</a:t>
                      </a:r>
                      <a:endParaRPr lang="zh-CN" sz="20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2000" kern="100" dirty="0">
                          <a:effectLst/>
                          <a:latin typeface="Calibri"/>
                          <a:ea typeface="宋体"/>
                          <a:cs typeface="Times New Roman"/>
                        </a:rPr>
                        <a:t>用时上电，随机数检测处理能力有限，对上电响应速度有严格要求</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2000" kern="100">
                          <a:effectLst/>
                          <a:latin typeface="Calibri"/>
                          <a:ea typeface="宋体"/>
                          <a:cs typeface="Times New Roman"/>
                        </a:rPr>
                        <a:t>IC</a:t>
                      </a:r>
                      <a:r>
                        <a:rPr lang="zh-CN" sz="2000" kern="100">
                          <a:effectLst/>
                          <a:latin typeface="Calibri"/>
                          <a:ea typeface="宋体"/>
                          <a:cs typeface="Times New Roman"/>
                        </a:rPr>
                        <a:t>卡</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691277">
                <a:tc>
                  <a:txBody>
                    <a:bodyPr/>
                    <a:lstStyle/>
                    <a:p>
                      <a:pPr algn="l">
                        <a:spcAft>
                          <a:spcPts val="0"/>
                        </a:spcAft>
                      </a:pPr>
                      <a:r>
                        <a:rPr lang="en-US" sz="2000" kern="100">
                          <a:effectLst/>
                          <a:latin typeface="Calibri"/>
                          <a:ea typeface="宋体"/>
                          <a:cs typeface="Times New Roman"/>
                        </a:rPr>
                        <a:t>C</a:t>
                      </a:r>
                      <a:endParaRPr lang="zh-CN" sz="20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2000" kern="100" dirty="0">
                          <a:effectLst/>
                          <a:latin typeface="Calibri"/>
                          <a:ea typeface="宋体"/>
                          <a:cs typeface="Times New Roman"/>
                        </a:rPr>
                        <a:t>用时上电，随机数检测处理能力有限，对上电响应速度没有严格要求</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2000" kern="100">
                          <a:effectLst/>
                          <a:latin typeface="Calibri"/>
                          <a:ea typeface="宋体"/>
                          <a:cs typeface="Times New Roman"/>
                        </a:rPr>
                        <a:t>USBKey</a:t>
                      </a:r>
                      <a:endParaRPr lang="zh-CN" sz="20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691277">
                <a:tc>
                  <a:txBody>
                    <a:bodyPr/>
                    <a:lstStyle/>
                    <a:p>
                      <a:pPr algn="l">
                        <a:spcAft>
                          <a:spcPts val="0"/>
                        </a:spcAft>
                      </a:pPr>
                      <a:r>
                        <a:rPr lang="en-US" sz="2000" kern="100">
                          <a:effectLst/>
                          <a:latin typeface="Calibri"/>
                          <a:ea typeface="宋体"/>
                          <a:cs typeface="Times New Roman"/>
                        </a:rPr>
                        <a:t>D</a:t>
                      </a:r>
                      <a:endParaRPr lang="zh-CN" sz="20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2000" kern="100" dirty="0">
                          <a:effectLst/>
                          <a:latin typeface="Calibri"/>
                          <a:ea typeface="宋体"/>
                          <a:cs typeface="Times New Roman"/>
                        </a:rPr>
                        <a:t>长期加电，随机数检测处理能力有限，对上电响应速度没有严格要求</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2000" kern="100" dirty="0">
                          <a:effectLst/>
                          <a:latin typeface="Calibri"/>
                          <a:ea typeface="宋体"/>
                          <a:cs typeface="Times New Roman"/>
                        </a:rPr>
                        <a:t>POS</a:t>
                      </a:r>
                      <a:r>
                        <a:rPr lang="zh-CN" sz="2000" kern="100" dirty="0">
                          <a:effectLst/>
                          <a:latin typeface="Calibri"/>
                          <a:ea typeface="宋体"/>
                          <a:cs typeface="Times New Roman"/>
                        </a:rPr>
                        <a:t>机</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691277">
                <a:tc>
                  <a:txBody>
                    <a:bodyPr/>
                    <a:lstStyle/>
                    <a:p>
                      <a:pPr algn="l">
                        <a:spcAft>
                          <a:spcPts val="0"/>
                        </a:spcAft>
                      </a:pPr>
                      <a:r>
                        <a:rPr lang="en-US" sz="2000" kern="100" dirty="0">
                          <a:effectLst/>
                          <a:latin typeface="Calibri"/>
                          <a:ea typeface="宋体"/>
                          <a:cs typeface="Times New Roman"/>
                        </a:rPr>
                        <a:t>E</a:t>
                      </a:r>
                      <a:endParaRPr lang="zh-CN" sz="2000" kern="100" dirty="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2000" kern="100" dirty="0">
                          <a:effectLst/>
                          <a:latin typeface="Calibri"/>
                          <a:ea typeface="宋体"/>
                          <a:cs typeface="Times New Roman"/>
                        </a:rPr>
                        <a:t>长期加电，具有较强的随机数检测处理能力，对上电响应速度没有要求</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2000" kern="100" dirty="0">
                          <a:effectLst/>
                          <a:latin typeface="Calibri"/>
                          <a:ea typeface="宋体"/>
                          <a:cs typeface="Times New Roman"/>
                        </a:rPr>
                        <a:t>服务器</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26379384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600" dirty="0"/>
              <a:t>GM/T 0001-2012 </a:t>
            </a:r>
            <a:r>
              <a:rPr lang="zh-CN" altLang="en-US" sz="3600" dirty="0"/>
              <a:t>祖冲之序列密码算法</a:t>
            </a:r>
          </a:p>
        </p:txBody>
      </p:sp>
      <p:sp>
        <p:nvSpPr>
          <p:cNvPr id="3" name="内容占位符 2"/>
          <p:cNvSpPr>
            <a:spLocks noGrp="1"/>
          </p:cNvSpPr>
          <p:nvPr>
            <p:ph idx="1"/>
          </p:nvPr>
        </p:nvSpPr>
        <p:spPr/>
        <p:txBody>
          <a:bodyPr>
            <a:normAutofit fontScale="92500" lnSpcReduction="20000"/>
          </a:bodyPr>
          <a:lstStyle/>
          <a:p>
            <a:r>
              <a:rPr lang="en-US" altLang="zh-CN" dirty="0"/>
              <a:t>GM/T 0001.1-2012 </a:t>
            </a:r>
            <a:r>
              <a:rPr lang="zh-CN" altLang="en-US" dirty="0"/>
              <a:t>祖冲之序列密码算法</a:t>
            </a:r>
            <a:endParaRPr lang="en-US" altLang="zh-CN" dirty="0"/>
          </a:p>
          <a:p>
            <a:pPr marL="0" indent="0">
              <a:buNone/>
            </a:pPr>
            <a:r>
              <a:rPr lang="zh-CN" altLang="en-US" dirty="0"/>
              <a:t>    第</a:t>
            </a:r>
            <a:r>
              <a:rPr lang="en-US" altLang="zh-CN" dirty="0"/>
              <a:t>1</a:t>
            </a:r>
            <a:r>
              <a:rPr lang="zh-CN" altLang="en-US" dirty="0"/>
              <a:t>部分：算法描述</a:t>
            </a:r>
            <a:endParaRPr lang="en-US" altLang="zh-CN" dirty="0"/>
          </a:p>
          <a:p>
            <a:pPr marL="0" indent="0">
              <a:buNone/>
            </a:pPr>
            <a:r>
              <a:rPr lang="zh-CN" altLang="en-US" dirty="0"/>
              <a:t>指导相关产品的研制、检测和使用。</a:t>
            </a:r>
            <a:endParaRPr lang="en-US" altLang="zh-CN" dirty="0"/>
          </a:p>
          <a:p>
            <a:r>
              <a:rPr lang="en-US" altLang="zh-CN" dirty="0"/>
              <a:t>GM/T 0001.2-2012 </a:t>
            </a:r>
            <a:r>
              <a:rPr lang="zh-CN" altLang="en-US" dirty="0"/>
              <a:t>祖冲之序列密码算法</a:t>
            </a:r>
            <a:endParaRPr lang="en-US" altLang="zh-CN" dirty="0"/>
          </a:p>
          <a:p>
            <a:pPr marL="0" indent="0">
              <a:buNone/>
            </a:pPr>
            <a:r>
              <a:rPr lang="en-US" altLang="zh-CN" dirty="0"/>
              <a:t>    </a:t>
            </a:r>
            <a:r>
              <a:rPr lang="zh-CN" altLang="en-US" dirty="0"/>
              <a:t>第</a:t>
            </a:r>
            <a:r>
              <a:rPr lang="en-US" altLang="zh-CN" dirty="0"/>
              <a:t>2</a:t>
            </a:r>
            <a:r>
              <a:rPr lang="zh-CN" altLang="en-US" dirty="0"/>
              <a:t>部分：基于祖冲之算法的机密性算法</a:t>
            </a:r>
            <a:endParaRPr lang="en-US" altLang="zh-CN" dirty="0"/>
          </a:p>
          <a:p>
            <a:pPr marL="0" indent="0">
              <a:buNone/>
            </a:pPr>
            <a:r>
              <a:rPr lang="zh-CN" altLang="en-US" dirty="0"/>
              <a:t>适用于</a:t>
            </a:r>
            <a:r>
              <a:rPr lang="en-US" altLang="zh-CN" dirty="0"/>
              <a:t>3GPP LTE</a:t>
            </a:r>
            <a:r>
              <a:rPr lang="zh-CN" altLang="en-US" dirty="0"/>
              <a:t>通信中的加解密</a:t>
            </a:r>
            <a:endParaRPr lang="en-US" altLang="zh-CN" dirty="0"/>
          </a:p>
          <a:p>
            <a:r>
              <a:rPr lang="en-US" altLang="zh-CN" dirty="0"/>
              <a:t>GM/T 0001.3-2012 </a:t>
            </a:r>
            <a:r>
              <a:rPr lang="zh-CN" altLang="en-US" dirty="0"/>
              <a:t>祖冲之序列密码算法</a:t>
            </a:r>
            <a:endParaRPr lang="en-US" altLang="zh-CN" dirty="0"/>
          </a:p>
          <a:p>
            <a:pPr marL="0" indent="0">
              <a:buNone/>
            </a:pPr>
            <a:r>
              <a:rPr lang="en-US" altLang="zh-CN" dirty="0"/>
              <a:t>    </a:t>
            </a:r>
            <a:r>
              <a:rPr lang="zh-CN" altLang="en-US" dirty="0"/>
              <a:t>第</a:t>
            </a:r>
            <a:r>
              <a:rPr lang="en-US" altLang="zh-CN" dirty="0"/>
              <a:t>3</a:t>
            </a:r>
            <a:r>
              <a:rPr lang="zh-CN" altLang="en-US" dirty="0"/>
              <a:t>部分：基于祖冲之算法的完整性算法</a:t>
            </a:r>
            <a:endParaRPr lang="en-US" altLang="zh-CN" dirty="0"/>
          </a:p>
          <a:p>
            <a:pPr marL="0" indent="0">
              <a:buNone/>
            </a:pPr>
            <a:r>
              <a:rPr lang="zh-CN" altLang="en-US" dirty="0"/>
              <a:t>适用于</a:t>
            </a:r>
            <a:r>
              <a:rPr lang="en-US" altLang="zh-CN" dirty="0"/>
              <a:t>3GPP LTE</a:t>
            </a:r>
            <a:r>
              <a:rPr lang="zh-CN" altLang="en-US" dirty="0"/>
              <a:t>通信中消息的完整性保护</a:t>
            </a:r>
          </a:p>
          <a:p>
            <a:endParaRPr lang="zh-CN" altLang="en-US" dirty="0"/>
          </a:p>
          <a:p>
            <a:endParaRPr lang="zh-CN" altLang="en-US" dirty="0"/>
          </a:p>
          <a:p>
            <a:endParaRPr lang="zh-CN" altLang="en-US" dirty="0"/>
          </a:p>
        </p:txBody>
      </p:sp>
    </p:spTree>
    <p:extLst>
      <p:ext uri="{BB962C8B-B14F-4D97-AF65-F5344CB8AC3E}">
        <p14:creationId xmlns:p14="http://schemas.microsoft.com/office/powerpoint/2010/main" val="48451636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600" dirty="0"/>
              <a:t>SM4 </a:t>
            </a:r>
            <a:r>
              <a:rPr lang="zh-CN" altLang="en-US" sz="3600" dirty="0"/>
              <a:t>分组密码算法</a:t>
            </a:r>
          </a:p>
        </p:txBody>
      </p:sp>
      <p:sp>
        <p:nvSpPr>
          <p:cNvPr id="3" name="内容占位符 2"/>
          <p:cNvSpPr>
            <a:spLocks noGrp="1"/>
          </p:cNvSpPr>
          <p:nvPr>
            <p:ph idx="1"/>
          </p:nvPr>
        </p:nvSpPr>
        <p:spPr/>
        <p:txBody>
          <a:bodyPr>
            <a:normAutofit lnSpcReduction="10000"/>
          </a:bodyPr>
          <a:lstStyle/>
          <a:p>
            <a:pPr marL="0" indent="0">
              <a:buNone/>
            </a:pPr>
            <a:r>
              <a:rPr lang="zh-CN" altLang="en-US" sz="2800" dirty="0">
                <a:latin typeface="+mn-ea"/>
              </a:rPr>
              <a:t>英文名称：</a:t>
            </a:r>
            <a:r>
              <a:rPr lang="en-US" altLang="zh-CN" sz="2800" dirty="0"/>
              <a:t> SM4 block cipher algorithm</a:t>
            </a:r>
          </a:p>
          <a:p>
            <a:pPr marL="0" indent="0">
              <a:buNone/>
            </a:pPr>
            <a:r>
              <a:rPr lang="zh-CN" altLang="en-US" sz="2800" dirty="0">
                <a:latin typeface="+mn-ea"/>
              </a:rPr>
              <a:t>标准的功能：</a:t>
            </a:r>
            <a:r>
              <a:rPr lang="zh-CN" altLang="en-US" sz="2800" dirty="0"/>
              <a:t>对称</a:t>
            </a:r>
            <a:r>
              <a:rPr lang="zh-CN" altLang="zh-CN" sz="2800" dirty="0"/>
              <a:t>密码</a:t>
            </a:r>
            <a:r>
              <a:rPr lang="zh-CN" altLang="en-US" sz="2800" dirty="0"/>
              <a:t>。</a:t>
            </a:r>
            <a:endParaRPr lang="en-US" altLang="zh-CN" sz="2800" dirty="0">
              <a:latin typeface="+mn-ea"/>
            </a:endParaRPr>
          </a:p>
          <a:p>
            <a:pPr marL="0" indent="0">
              <a:buNone/>
            </a:pPr>
            <a:r>
              <a:rPr lang="zh-CN" altLang="en-US" sz="2800" dirty="0">
                <a:latin typeface="+mn-ea"/>
              </a:rPr>
              <a:t>标准的版本信息：</a:t>
            </a:r>
            <a:r>
              <a:rPr lang="zh-CN" altLang="zh-CN" sz="2800" dirty="0"/>
              <a:t>中国国家密码管理局于</a:t>
            </a:r>
            <a:r>
              <a:rPr lang="en-US" altLang="zh-CN" sz="2800" dirty="0"/>
              <a:t>2006</a:t>
            </a:r>
            <a:r>
              <a:rPr lang="zh-CN" altLang="zh-CN" sz="2800" dirty="0"/>
              <a:t>年</a:t>
            </a:r>
            <a:r>
              <a:rPr lang="en-US" altLang="zh-CN" sz="2800" dirty="0"/>
              <a:t>1</a:t>
            </a:r>
            <a:r>
              <a:rPr lang="zh-CN" altLang="zh-CN" sz="2800" dirty="0"/>
              <a:t>月</a:t>
            </a:r>
            <a:r>
              <a:rPr lang="en-US" altLang="zh-CN" sz="2800" dirty="0"/>
              <a:t>6</a:t>
            </a:r>
            <a:r>
              <a:rPr lang="zh-CN" altLang="zh-CN" sz="2800" dirty="0"/>
              <a:t>日公布的分组加密算法，是无线标准中的分组加密算法，</a:t>
            </a:r>
            <a:r>
              <a:rPr lang="en-US" altLang="zh-CN" sz="2800" dirty="0"/>
              <a:t>2012</a:t>
            </a:r>
            <a:r>
              <a:rPr lang="zh-CN" altLang="zh-CN" sz="2800" dirty="0"/>
              <a:t>年改名为</a:t>
            </a:r>
            <a:r>
              <a:rPr lang="en-US" altLang="zh-CN" sz="2800" dirty="0"/>
              <a:t>GM/T 0002-2012 SM4 </a:t>
            </a:r>
            <a:r>
              <a:rPr lang="zh-CN" altLang="zh-CN" sz="2800" dirty="0"/>
              <a:t>，国家标准号为</a:t>
            </a:r>
            <a:r>
              <a:rPr lang="en-US" altLang="zh-CN" sz="2800" dirty="0"/>
              <a:t>GB/T 32907-2016</a:t>
            </a:r>
            <a:r>
              <a:rPr lang="zh-CN" altLang="zh-CN" sz="2800" dirty="0"/>
              <a:t>。</a:t>
            </a:r>
            <a:endParaRPr lang="en-US" altLang="zh-CN" sz="2800" dirty="0">
              <a:latin typeface="+mn-ea"/>
            </a:endParaRPr>
          </a:p>
          <a:p>
            <a:pPr marL="0" indent="0">
              <a:buNone/>
            </a:pPr>
            <a:r>
              <a:rPr lang="zh-CN" altLang="en-US" sz="2800" dirty="0">
                <a:latin typeface="+mn-ea"/>
              </a:rPr>
              <a:t>标准的内容：</a:t>
            </a:r>
            <a:r>
              <a:rPr lang="zh-CN" altLang="zh-CN" sz="2800" dirty="0"/>
              <a:t>由加解密算法和密钥扩展算法组成，</a:t>
            </a:r>
            <a:r>
              <a:rPr lang="en-US" altLang="zh-CN" sz="2800" dirty="0"/>
              <a:t>32 </a:t>
            </a:r>
            <a:r>
              <a:rPr lang="zh-CN" altLang="zh-CN" sz="2800" dirty="0"/>
              <a:t>轮的非线性迭代，分组长度</a:t>
            </a:r>
            <a:r>
              <a:rPr lang="en-US" altLang="zh-CN" sz="2800" dirty="0"/>
              <a:t>128 </a:t>
            </a:r>
            <a:r>
              <a:rPr lang="zh-CN" altLang="zh-CN" sz="2800" dirty="0"/>
              <a:t>比特，密钥长度</a:t>
            </a:r>
            <a:r>
              <a:rPr lang="en-US" altLang="zh-CN" sz="2800" dirty="0"/>
              <a:t>128 </a:t>
            </a:r>
            <a:r>
              <a:rPr lang="zh-CN" altLang="zh-CN" sz="2800" dirty="0"/>
              <a:t>比特</a:t>
            </a:r>
            <a:r>
              <a:rPr lang="zh-CN" altLang="en-US" sz="2800" dirty="0"/>
              <a:t>。</a:t>
            </a:r>
            <a:endParaRPr lang="en-US" altLang="zh-CN" sz="2800" dirty="0">
              <a:latin typeface="+mn-ea"/>
            </a:endParaRPr>
          </a:p>
          <a:p>
            <a:pPr marL="0" indent="0">
              <a:buNone/>
            </a:pPr>
            <a:r>
              <a:rPr lang="zh-CN" altLang="en-US" sz="2800" dirty="0">
                <a:latin typeface="+mn-ea"/>
              </a:rPr>
              <a:t>标准的应用领域：无线局域网、金融领域（</a:t>
            </a:r>
            <a:r>
              <a:rPr lang="en-US" altLang="zh-CN" sz="2800" dirty="0">
                <a:latin typeface="+mn-ea"/>
              </a:rPr>
              <a:t>TPM2.0</a:t>
            </a:r>
            <a:r>
              <a:rPr lang="zh-CN" altLang="en-US" sz="2800" dirty="0">
                <a:latin typeface="+mn-ea"/>
              </a:rPr>
              <a:t>）</a:t>
            </a:r>
          </a:p>
        </p:txBody>
      </p:sp>
    </p:spTree>
    <p:extLst>
      <p:ext uri="{BB962C8B-B14F-4D97-AF65-F5344CB8AC3E}">
        <p14:creationId xmlns:p14="http://schemas.microsoft.com/office/powerpoint/2010/main" val="136025347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国外</a:t>
            </a:r>
            <a:r>
              <a:rPr lang="zh-CN" altLang="en-US" dirty="0"/>
              <a:t>类似</a:t>
            </a:r>
            <a:r>
              <a:rPr lang="zh-CN" altLang="zh-CN" dirty="0"/>
              <a:t>分组密码</a:t>
            </a:r>
            <a:r>
              <a:rPr lang="zh-CN" altLang="en-US" dirty="0"/>
              <a:t>比较</a:t>
            </a:r>
          </a:p>
        </p:txBody>
      </p:sp>
      <p:sp>
        <p:nvSpPr>
          <p:cNvPr id="3" name="内容占位符 2"/>
          <p:cNvSpPr>
            <a:spLocks noGrp="1"/>
          </p:cNvSpPr>
          <p:nvPr>
            <p:ph idx="1"/>
          </p:nvPr>
        </p:nvSpPr>
        <p:spPr/>
        <p:txBody>
          <a:bodyPr>
            <a:normAutofit fontScale="92500" lnSpcReduction="10000"/>
          </a:bodyPr>
          <a:lstStyle/>
          <a:p>
            <a:pPr marL="0" indent="0">
              <a:buNone/>
            </a:pPr>
            <a:r>
              <a:rPr lang="en-US" altLang="zh-CN" dirty="0"/>
              <a:t>SM4</a:t>
            </a:r>
            <a:r>
              <a:rPr lang="zh-CN" altLang="en-US" dirty="0"/>
              <a:t>目前已经</a:t>
            </a:r>
            <a:r>
              <a:rPr lang="zh-CN" altLang="zh-CN" dirty="0"/>
              <a:t>纳入</a:t>
            </a:r>
            <a:r>
              <a:rPr lang="en-US" altLang="zh-CN" dirty="0"/>
              <a:t> ISO/IEC 18033-3</a:t>
            </a:r>
            <a:r>
              <a:rPr lang="zh-CN" altLang="en-US" dirty="0"/>
              <a:t>。</a:t>
            </a:r>
            <a:endParaRPr lang="en-US" altLang="zh-CN" dirty="0"/>
          </a:p>
          <a:p>
            <a:pPr marL="0" indent="0">
              <a:buNone/>
            </a:pPr>
            <a:r>
              <a:rPr lang="zh-CN" altLang="zh-CN" dirty="0"/>
              <a:t>国际标准的国外分组密码：</a:t>
            </a:r>
            <a:r>
              <a:rPr lang="en-US" altLang="zh-CN" dirty="0"/>
              <a:t>TDEA</a:t>
            </a:r>
            <a:r>
              <a:rPr lang="zh-CN" altLang="zh-CN" dirty="0"/>
              <a:t>、</a:t>
            </a:r>
            <a:r>
              <a:rPr lang="en-US" altLang="zh-CN" dirty="0"/>
              <a:t>MISTY1</a:t>
            </a:r>
            <a:r>
              <a:rPr lang="zh-CN" altLang="zh-CN" dirty="0"/>
              <a:t>、</a:t>
            </a:r>
            <a:r>
              <a:rPr lang="en-US" altLang="zh-CN" dirty="0"/>
              <a:t>CAST-128</a:t>
            </a:r>
            <a:r>
              <a:rPr lang="zh-CN" altLang="zh-CN" dirty="0"/>
              <a:t>、</a:t>
            </a:r>
            <a:r>
              <a:rPr lang="en-US" altLang="zh-CN" dirty="0"/>
              <a:t>AES</a:t>
            </a:r>
            <a:r>
              <a:rPr lang="zh-CN" altLang="zh-CN" dirty="0"/>
              <a:t>、</a:t>
            </a:r>
            <a:r>
              <a:rPr lang="en-US" altLang="zh-CN" dirty="0"/>
              <a:t>Camellia</a:t>
            </a:r>
            <a:r>
              <a:rPr lang="zh-CN" altLang="zh-CN" dirty="0"/>
              <a:t>、</a:t>
            </a:r>
            <a:r>
              <a:rPr lang="en-US" altLang="zh-CN" dirty="0"/>
              <a:t>SEED</a:t>
            </a:r>
            <a:r>
              <a:rPr lang="zh-CN" altLang="zh-CN" dirty="0"/>
              <a:t>、</a:t>
            </a:r>
            <a:r>
              <a:rPr lang="en-US" altLang="zh-CN" dirty="0"/>
              <a:t>HIGHT</a:t>
            </a:r>
            <a:r>
              <a:rPr lang="zh-CN" altLang="zh-CN" dirty="0"/>
              <a:t>。</a:t>
            </a:r>
            <a:endParaRPr lang="en-US" altLang="zh-CN" dirty="0"/>
          </a:p>
          <a:p>
            <a:pPr marL="0" indent="0">
              <a:buNone/>
            </a:pPr>
            <a:r>
              <a:rPr lang="zh-CN" altLang="zh-CN" dirty="0"/>
              <a:t>与</a:t>
            </a:r>
            <a:r>
              <a:rPr lang="en-US" altLang="zh-CN" dirty="0"/>
              <a:t>AES </a:t>
            </a:r>
            <a:r>
              <a:rPr lang="zh-CN" altLang="zh-CN" dirty="0"/>
              <a:t>相比，</a:t>
            </a:r>
            <a:r>
              <a:rPr lang="en-US" altLang="zh-CN" dirty="0"/>
              <a:t>SM4 </a:t>
            </a:r>
            <a:r>
              <a:rPr lang="zh-CN" altLang="zh-CN" dirty="0"/>
              <a:t>算法在实现面积上存在一定优势。</a:t>
            </a:r>
            <a:r>
              <a:rPr lang="en-US" altLang="zh-CN" dirty="0"/>
              <a:t>SM4 </a:t>
            </a:r>
            <a:r>
              <a:rPr lang="zh-CN" altLang="zh-CN" dirty="0"/>
              <a:t>算法市场应用广泛，目前已有</a:t>
            </a:r>
            <a:r>
              <a:rPr lang="en-US" altLang="zh-CN" dirty="0"/>
              <a:t>500 </a:t>
            </a:r>
            <a:r>
              <a:rPr lang="zh-CN" altLang="zh-CN" dirty="0"/>
              <a:t>多种产品支持</a:t>
            </a:r>
            <a:r>
              <a:rPr lang="en-US" altLang="zh-CN" dirty="0"/>
              <a:t>SM4 </a:t>
            </a:r>
            <a:r>
              <a:rPr lang="zh-CN" altLang="zh-CN" dirty="0"/>
              <a:t>算法，涵盖安全芯片、终端、设备和应用系统等。</a:t>
            </a:r>
            <a:endParaRPr lang="en-US" altLang="zh-CN" dirty="0"/>
          </a:p>
          <a:p>
            <a:pPr marL="0" indent="0">
              <a:buNone/>
            </a:pPr>
            <a:r>
              <a:rPr lang="zh-CN" altLang="zh-CN" dirty="0"/>
              <a:t>在</a:t>
            </a:r>
            <a:r>
              <a:rPr lang="en-US" altLang="zh-CN" dirty="0"/>
              <a:t>SM4 </a:t>
            </a:r>
            <a:r>
              <a:rPr lang="zh-CN" altLang="zh-CN" dirty="0"/>
              <a:t>算法提案的研制过程中，工作组内一直关注的焦点在该算法是否有由权威机构发布的正式英文版。</a:t>
            </a:r>
            <a:endParaRPr lang="zh-CN" altLang="en-US" dirty="0"/>
          </a:p>
        </p:txBody>
      </p:sp>
    </p:spTree>
    <p:extLst>
      <p:ext uri="{BB962C8B-B14F-4D97-AF65-F5344CB8AC3E}">
        <p14:creationId xmlns:p14="http://schemas.microsoft.com/office/powerpoint/2010/main" val="143304106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SM2</a:t>
            </a:r>
            <a:r>
              <a:rPr lang="zh-CN" altLang="zh-CN" dirty="0"/>
              <a:t>椭圆曲线公钥密码算法</a:t>
            </a:r>
            <a:endParaRPr lang="zh-CN" altLang="en-US" dirty="0"/>
          </a:p>
        </p:txBody>
      </p:sp>
      <p:sp>
        <p:nvSpPr>
          <p:cNvPr id="3" name="内容占位符 2"/>
          <p:cNvSpPr>
            <a:spLocks noGrp="1"/>
          </p:cNvSpPr>
          <p:nvPr>
            <p:ph idx="1"/>
          </p:nvPr>
        </p:nvSpPr>
        <p:spPr/>
        <p:txBody>
          <a:bodyPr>
            <a:normAutofit lnSpcReduction="10000"/>
          </a:bodyPr>
          <a:lstStyle/>
          <a:p>
            <a:pPr marL="0" indent="0">
              <a:buNone/>
            </a:pPr>
            <a:r>
              <a:rPr lang="zh-CN" altLang="en-US" sz="2800" dirty="0">
                <a:latin typeface="+mn-ea"/>
              </a:rPr>
              <a:t>英文名称：</a:t>
            </a:r>
            <a:r>
              <a:rPr lang="en-US" altLang="zh-CN" sz="2800" dirty="0"/>
              <a:t> Public key cryptographic algorithm SM2 based on elliptic curves</a:t>
            </a:r>
          </a:p>
          <a:p>
            <a:pPr marL="0" indent="0">
              <a:buNone/>
            </a:pPr>
            <a:r>
              <a:rPr lang="zh-CN" altLang="en-US" sz="2800" dirty="0">
                <a:latin typeface="+mn-ea"/>
              </a:rPr>
              <a:t>标准的版本信息：</a:t>
            </a:r>
            <a:r>
              <a:rPr lang="en-US" altLang="zh-CN" sz="2800" dirty="0"/>
              <a:t> 2010</a:t>
            </a:r>
            <a:r>
              <a:rPr lang="zh-CN" altLang="zh-CN" sz="2800" dirty="0"/>
              <a:t>年</a:t>
            </a:r>
            <a:r>
              <a:rPr lang="en-US" altLang="zh-CN" sz="2800" dirty="0"/>
              <a:t>12</a:t>
            </a:r>
            <a:r>
              <a:rPr lang="zh-CN" altLang="zh-CN" sz="2800" dirty="0"/>
              <a:t>月，中国首次公开发布了</a:t>
            </a:r>
            <a:r>
              <a:rPr lang="en-US" altLang="zh-CN" sz="2800" dirty="0"/>
              <a:t>SM2</a:t>
            </a:r>
            <a:r>
              <a:rPr lang="zh-CN" altLang="zh-CN" sz="2800" dirty="0"/>
              <a:t>椭圆曲线公钥密码算法，</a:t>
            </a:r>
            <a:r>
              <a:rPr lang="en-US" altLang="zh-CN" sz="2800" dirty="0"/>
              <a:t>2012</a:t>
            </a:r>
            <a:r>
              <a:rPr lang="zh-CN" altLang="zh-CN" sz="2800" dirty="0"/>
              <a:t>年成为中国商用密码标准</a:t>
            </a:r>
            <a:r>
              <a:rPr lang="en-US" altLang="zh-CN" sz="2800" dirty="0"/>
              <a:t>(</a:t>
            </a:r>
            <a:r>
              <a:rPr lang="zh-CN" altLang="zh-CN" sz="2800" dirty="0"/>
              <a:t>标准号为</a:t>
            </a:r>
            <a:r>
              <a:rPr lang="en-US" altLang="zh-CN" sz="2800" dirty="0"/>
              <a:t>GM/T 0003-2012</a:t>
            </a:r>
            <a:r>
              <a:rPr lang="zh-CN" altLang="zh-CN" sz="2800" dirty="0"/>
              <a:t>），</a:t>
            </a:r>
            <a:r>
              <a:rPr lang="en-US" altLang="zh-CN" sz="2800" dirty="0"/>
              <a:t>2016</a:t>
            </a:r>
            <a:r>
              <a:rPr lang="zh-CN" altLang="zh-CN" sz="2800" dirty="0"/>
              <a:t>年成为中国国家密码标准</a:t>
            </a:r>
            <a:r>
              <a:rPr lang="en-US" altLang="zh-CN" sz="2800" dirty="0"/>
              <a:t>(</a:t>
            </a:r>
            <a:r>
              <a:rPr lang="zh-CN" altLang="zh-CN" sz="2800" dirty="0"/>
              <a:t>标准号为</a:t>
            </a:r>
            <a:r>
              <a:rPr lang="en-US" altLang="zh-CN" sz="2800" dirty="0"/>
              <a:t>GB/T 32918-2016</a:t>
            </a:r>
            <a:r>
              <a:rPr lang="zh-CN" altLang="zh-CN" sz="2800" dirty="0"/>
              <a:t>），</a:t>
            </a:r>
            <a:r>
              <a:rPr lang="en-US" altLang="zh-CN" sz="2800" dirty="0"/>
              <a:t>2017</a:t>
            </a:r>
            <a:r>
              <a:rPr lang="zh-CN" altLang="zh-CN" sz="2800" dirty="0"/>
              <a:t>年</a:t>
            </a:r>
            <a:r>
              <a:rPr lang="en-US" altLang="zh-CN" sz="2800" dirty="0"/>
              <a:t>SM2</a:t>
            </a:r>
            <a:r>
              <a:rPr lang="zh-CN" altLang="zh-CN" sz="2800" dirty="0"/>
              <a:t>数字签名算法成为</a:t>
            </a:r>
            <a:r>
              <a:rPr lang="en-US" altLang="zh-CN" sz="2800" dirty="0"/>
              <a:t>ISO/IEC</a:t>
            </a:r>
            <a:r>
              <a:rPr lang="zh-CN" altLang="zh-CN" sz="2800" dirty="0"/>
              <a:t>国际标准（</a:t>
            </a:r>
            <a:r>
              <a:rPr lang="en-US" altLang="zh-CN" sz="2800" dirty="0"/>
              <a:t>ISO/IEC14888-3</a:t>
            </a:r>
            <a:r>
              <a:rPr lang="zh-CN" altLang="zh-CN" sz="2800" dirty="0"/>
              <a:t>）</a:t>
            </a:r>
            <a:r>
              <a:rPr lang="zh-CN" altLang="en-US" sz="2800" dirty="0"/>
              <a:t>。</a:t>
            </a:r>
            <a:endParaRPr lang="en-US" altLang="zh-CN" sz="2800" dirty="0"/>
          </a:p>
          <a:p>
            <a:pPr marL="0" indent="0">
              <a:buNone/>
            </a:pPr>
            <a:r>
              <a:rPr lang="en-US" altLang="zh-CN" sz="2800" dirty="0"/>
              <a:t>GM/T 0003-2012</a:t>
            </a:r>
            <a:r>
              <a:rPr lang="zh-CN" altLang="en-US" sz="2800" dirty="0"/>
              <a:t>共分</a:t>
            </a:r>
            <a:r>
              <a:rPr lang="en-US" altLang="zh-CN" sz="2800" dirty="0"/>
              <a:t>5</a:t>
            </a:r>
            <a:r>
              <a:rPr lang="zh-CN" altLang="en-US" sz="2800" dirty="0"/>
              <a:t>部分：总则、数字签名算法、密钥交换协议、公钥加密算法、参数定义。</a:t>
            </a:r>
            <a:endParaRPr lang="en-US" altLang="zh-CN" sz="2800" dirty="0">
              <a:latin typeface="+mn-ea"/>
            </a:endParaRPr>
          </a:p>
        </p:txBody>
      </p:sp>
    </p:spTree>
    <p:extLst>
      <p:ext uri="{BB962C8B-B14F-4D97-AF65-F5344CB8AC3E}">
        <p14:creationId xmlns:p14="http://schemas.microsoft.com/office/powerpoint/2010/main" val="7766408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5496" y="274638"/>
            <a:ext cx="8651304" cy="1143000"/>
          </a:xfrm>
        </p:spPr>
        <p:txBody>
          <a:bodyPr>
            <a:normAutofit fontScale="90000"/>
          </a:bodyPr>
          <a:lstStyle/>
          <a:p>
            <a:r>
              <a:rPr lang="zh-CN" altLang="zh-CN" sz="3600" dirty="0"/>
              <a:t>纳入</a:t>
            </a:r>
            <a:r>
              <a:rPr lang="en-US" altLang="zh-CN" sz="3600" dirty="0"/>
              <a:t>ISO/IEC14888-3 </a:t>
            </a:r>
            <a:r>
              <a:rPr lang="zh-CN" altLang="zh-CN" sz="3600" dirty="0"/>
              <a:t>的国外数字签名标准算法：</a:t>
            </a:r>
            <a:endParaRPr lang="zh-CN" altLang="en-US" sz="3600" dirty="0"/>
          </a:p>
        </p:txBody>
      </p:sp>
      <p:sp>
        <p:nvSpPr>
          <p:cNvPr id="3" name="内容占位符 2"/>
          <p:cNvSpPr>
            <a:spLocks noGrp="1"/>
          </p:cNvSpPr>
          <p:nvPr>
            <p:ph idx="1"/>
          </p:nvPr>
        </p:nvSpPr>
        <p:spPr/>
        <p:txBody>
          <a:bodyPr/>
          <a:lstStyle/>
          <a:p>
            <a:pPr marL="0" indent="0">
              <a:buNone/>
            </a:pPr>
            <a:r>
              <a:rPr lang="en-US" altLang="zh-CN" dirty="0"/>
              <a:t>DSA</a:t>
            </a:r>
            <a:r>
              <a:rPr lang="zh-CN" altLang="zh-CN" dirty="0"/>
              <a:t>、</a:t>
            </a:r>
            <a:r>
              <a:rPr lang="en-US" altLang="zh-CN" dirty="0"/>
              <a:t>KCDSA</a:t>
            </a:r>
            <a:r>
              <a:rPr lang="zh-CN" altLang="zh-CN" dirty="0"/>
              <a:t>、</a:t>
            </a:r>
            <a:r>
              <a:rPr lang="en-US" altLang="zh-CN" dirty="0" err="1"/>
              <a:t>Pointcheval</a:t>
            </a:r>
            <a:r>
              <a:rPr lang="en-US" altLang="zh-CN" dirty="0"/>
              <a:t>/</a:t>
            </a:r>
            <a:r>
              <a:rPr lang="en-US" altLang="zh-CN" dirty="0" err="1"/>
              <a:t>Vaudenay</a:t>
            </a:r>
            <a:r>
              <a:rPr lang="en-US" altLang="zh-CN" dirty="0"/>
              <a:t> algorithm</a:t>
            </a:r>
            <a:r>
              <a:rPr lang="zh-CN" altLang="zh-CN" dirty="0"/>
              <a:t>、</a:t>
            </a:r>
            <a:r>
              <a:rPr lang="en-US" altLang="zh-CN" dirty="0"/>
              <a:t>SDSA</a:t>
            </a:r>
            <a:r>
              <a:rPr lang="zh-CN" altLang="zh-CN" dirty="0"/>
              <a:t>、</a:t>
            </a:r>
            <a:r>
              <a:rPr lang="en-US" altLang="zh-CN" dirty="0"/>
              <a:t>EC-DSA</a:t>
            </a:r>
            <a:r>
              <a:rPr lang="zh-CN" altLang="zh-CN" dirty="0"/>
              <a:t>、</a:t>
            </a:r>
            <a:r>
              <a:rPr lang="en-US" altLang="zh-CN" dirty="0"/>
              <a:t>EC-KCDSA</a:t>
            </a:r>
            <a:r>
              <a:rPr lang="zh-CN" altLang="zh-CN" dirty="0"/>
              <a:t>、</a:t>
            </a:r>
            <a:r>
              <a:rPr lang="en-US" altLang="zh-CN" dirty="0"/>
              <a:t>EC-GDSA</a:t>
            </a:r>
            <a:r>
              <a:rPr lang="zh-CN" altLang="zh-CN" dirty="0"/>
              <a:t>、</a:t>
            </a:r>
            <a:r>
              <a:rPr lang="en-US" altLang="zh-CN" dirty="0"/>
              <a:t>EC-RDSA</a:t>
            </a:r>
            <a:r>
              <a:rPr lang="zh-CN" altLang="zh-CN" dirty="0"/>
              <a:t>、</a:t>
            </a:r>
            <a:r>
              <a:rPr lang="en-US" altLang="zh-CN" dirty="0"/>
              <a:t>EC-SDSA</a:t>
            </a:r>
            <a:r>
              <a:rPr lang="zh-CN" altLang="zh-CN" dirty="0"/>
              <a:t>、</a:t>
            </a:r>
            <a:r>
              <a:rPr lang="en-US" altLang="zh-CN" dirty="0"/>
              <a:t>EC-FSDSA</a:t>
            </a:r>
            <a:r>
              <a:rPr lang="zh-CN" altLang="zh-CN" dirty="0"/>
              <a:t>。</a:t>
            </a:r>
            <a:endParaRPr lang="zh-CN" altLang="en-US" dirty="0"/>
          </a:p>
        </p:txBody>
      </p:sp>
    </p:spTree>
    <p:extLst>
      <p:ext uri="{BB962C8B-B14F-4D97-AF65-F5344CB8AC3E}">
        <p14:creationId xmlns:p14="http://schemas.microsoft.com/office/powerpoint/2010/main" val="273423691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SM2</a:t>
            </a:r>
            <a:r>
              <a:rPr lang="zh-CN" altLang="en-US" dirty="0"/>
              <a:t>的优势</a:t>
            </a:r>
          </a:p>
        </p:txBody>
      </p:sp>
      <p:sp>
        <p:nvSpPr>
          <p:cNvPr id="3" name="内容占位符 2"/>
          <p:cNvSpPr>
            <a:spLocks noGrp="1"/>
          </p:cNvSpPr>
          <p:nvPr>
            <p:ph idx="1"/>
          </p:nvPr>
        </p:nvSpPr>
        <p:spPr/>
        <p:txBody>
          <a:bodyPr>
            <a:normAutofit/>
          </a:bodyPr>
          <a:lstStyle/>
          <a:p>
            <a:pPr marL="0" indent="0">
              <a:buNone/>
            </a:pPr>
            <a:r>
              <a:rPr lang="en-US" altLang="zh-CN" dirty="0"/>
              <a:t>SM2 </a:t>
            </a:r>
            <a:r>
              <a:rPr lang="zh-CN" altLang="zh-CN" dirty="0"/>
              <a:t>数字签名算法具备可证明安全，能够抵御选择消息攻击。</a:t>
            </a:r>
            <a:endParaRPr lang="en-US" altLang="zh-CN" dirty="0"/>
          </a:p>
          <a:p>
            <a:pPr marL="0" indent="0">
              <a:buNone/>
            </a:pPr>
            <a:r>
              <a:rPr lang="en-US" altLang="zh-CN" dirty="0"/>
              <a:t>SM2 </a:t>
            </a:r>
            <a:r>
              <a:rPr lang="zh-CN" altLang="zh-CN" dirty="0"/>
              <a:t>数字签名算法在验签时无模逆操作，与</a:t>
            </a:r>
            <a:r>
              <a:rPr lang="en-US" altLang="zh-CN" dirty="0"/>
              <a:t>ISO/IEC 14888-3 </a:t>
            </a:r>
            <a:r>
              <a:rPr lang="zh-CN" altLang="zh-CN" dirty="0"/>
              <a:t>中的基于椭圆曲线的数字签名算法相比，性能上具备一定优势。</a:t>
            </a:r>
          </a:p>
          <a:p>
            <a:pPr marL="0" indent="0">
              <a:buNone/>
            </a:pPr>
            <a:endParaRPr lang="zh-CN" altLang="en-US" dirty="0"/>
          </a:p>
        </p:txBody>
      </p:sp>
    </p:spTree>
    <p:extLst>
      <p:ext uri="{BB962C8B-B14F-4D97-AF65-F5344CB8AC3E}">
        <p14:creationId xmlns:p14="http://schemas.microsoft.com/office/powerpoint/2010/main" val="9020236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600" dirty="0"/>
              <a:t>SM3</a:t>
            </a:r>
            <a:r>
              <a:rPr lang="zh-CN" altLang="zh-CN" sz="3600" dirty="0"/>
              <a:t>密码杂凑算法</a:t>
            </a:r>
            <a:endParaRPr lang="zh-CN" altLang="en-US" sz="3600" dirty="0"/>
          </a:p>
        </p:txBody>
      </p:sp>
      <p:sp>
        <p:nvSpPr>
          <p:cNvPr id="3" name="内容占位符 2"/>
          <p:cNvSpPr>
            <a:spLocks noGrp="1"/>
          </p:cNvSpPr>
          <p:nvPr>
            <p:ph idx="1"/>
          </p:nvPr>
        </p:nvSpPr>
        <p:spPr/>
        <p:txBody>
          <a:bodyPr>
            <a:normAutofit lnSpcReduction="10000"/>
          </a:bodyPr>
          <a:lstStyle/>
          <a:p>
            <a:pPr marL="0" indent="0">
              <a:buNone/>
            </a:pPr>
            <a:r>
              <a:rPr lang="zh-CN" altLang="en-US" sz="2800" dirty="0">
                <a:latin typeface="+mn-ea"/>
              </a:rPr>
              <a:t>英文名称：</a:t>
            </a:r>
            <a:r>
              <a:rPr lang="en-US" altLang="zh-CN" sz="2800" dirty="0">
                <a:latin typeface="+mn-ea"/>
              </a:rPr>
              <a:t>SM3 cryptographic hash algorithm</a:t>
            </a:r>
            <a:r>
              <a:rPr lang="en-US" altLang="zh-CN" sz="2800" dirty="0"/>
              <a:t> </a:t>
            </a:r>
          </a:p>
          <a:p>
            <a:pPr marL="0" indent="0">
              <a:buNone/>
            </a:pPr>
            <a:r>
              <a:rPr lang="zh-CN" altLang="en-US" sz="2800" dirty="0">
                <a:latin typeface="+mn-ea"/>
              </a:rPr>
              <a:t>标准的功能：</a:t>
            </a:r>
            <a:r>
              <a:rPr lang="zh-CN" altLang="zh-CN" sz="2800" dirty="0"/>
              <a:t>主要用于消息摘要，保障数据完整性</a:t>
            </a:r>
            <a:r>
              <a:rPr lang="en-US" altLang="zh-CN" sz="2800" dirty="0"/>
              <a:t>.</a:t>
            </a:r>
            <a:endParaRPr lang="en-US" altLang="zh-CN" sz="2800" dirty="0">
              <a:latin typeface="+mn-ea"/>
            </a:endParaRPr>
          </a:p>
          <a:p>
            <a:pPr marL="0" indent="0">
              <a:buNone/>
            </a:pPr>
            <a:r>
              <a:rPr lang="zh-CN" altLang="en-US" sz="2800" dirty="0">
                <a:latin typeface="+mn-ea"/>
              </a:rPr>
              <a:t>标准的版本信息：</a:t>
            </a:r>
            <a:r>
              <a:rPr lang="en-US" altLang="zh-CN" sz="2800" dirty="0">
                <a:latin typeface="+mn-ea"/>
              </a:rPr>
              <a:t>2012</a:t>
            </a:r>
            <a:r>
              <a:rPr lang="zh-CN" altLang="en-US" sz="2800" dirty="0">
                <a:latin typeface="+mn-ea"/>
              </a:rPr>
              <a:t>年</a:t>
            </a:r>
            <a:r>
              <a:rPr lang="en-US" altLang="zh-CN" sz="2800" dirty="0">
                <a:latin typeface="+mn-ea"/>
              </a:rPr>
              <a:t>GM/T 0004-2012</a:t>
            </a:r>
            <a:r>
              <a:rPr lang="zh-CN" altLang="en-US" sz="2800" dirty="0">
                <a:latin typeface="+mn-ea"/>
              </a:rPr>
              <a:t>，</a:t>
            </a:r>
            <a:r>
              <a:rPr lang="en-US" altLang="zh-CN" sz="2800" dirty="0">
                <a:latin typeface="+mn-ea"/>
              </a:rPr>
              <a:t>2016</a:t>
            </a:r>
            <a:r>
              <a:rPr lang="zh-CN" altLang="en-US" sz="2800" dirty="0">
                <a:latin typeface="+mn-ea"/>
              </a:rPr>
              <a:t>年改为</a:t>
            </a:r>
            <a:r>
              <a:rPr lang="en-US" altLang="zh-CN" sz="2800" dirty="0"/>
              <a:t>GB/T 32905-2016 </a:t>
            </a:r>
            <a:r>
              <a:rPr lang="zh-CN" altLang="en-US" sz="2800" dirty="0"/>
              <a:t>。</a:t>
            </a:r>
            <a:endParaRPr lang="en-US" altLang="zh-CN" sz="2800" dirty="0">
              <a:latin typeface="+mn-ea"/>
            </a:endParaRPr>
          </a:p>
          <a:p>
            <a:pPr marL="0" indent="0">
              <a:buNone/>
            </a:pPr>
            <a:r>
              <a:rPr lang="zh-CN" altLang="en-US" sz="2800" dirty="0">
                <a:latin typeface="+mn-ea"/>
              </a:rPr>
              <a:t>标准的内容：</a:t>
            </a:r>
            <a:r>
              <a:rPr lang="zh-CN" altLang="zh-CN" sz="2800" dirty="0"/>
              <a:t>消息分组长度为</a:t>
            </a:r>
            <a:r>
              <a:rPr lang="en-US" altLang="zh-CN" sz="2800" dirty="0"/>
              <a:t>512 </a:t>
            </a:r>
            <a:r>
              <a:rPr lang="zh-CN" altLang="zh-CN" sz="2800" dirty="0"/>
              <a:t>比特，</a:t>
            </a:r>
            <a:r>
              <a:rPr lang="zh-CN" altLang="en-US" sz="2800" dirty="0"/>
              <a:t>采用</a:t>
            </a:r>
            <a:r>
              <a:rPr lang="zh-CN" altLang="zh-CN" sz="2800" dirty="0"/>
              <a:t>迭代压缩结构，将填充后的原数据，通过布尔函数与置换逻辑处理，在压缩过程中充分地进行扩散和扰乱</a:t>
            </a:r>
            <a:r>
              <a:rPr lang="zh-CN" altLang="en-US" sz="2800" dirty="0"/>
              <a:t>，</a:t>
            </a:r>
            <a:r>
              <a:rPr lang="zh-CN" altLang="zh-CN" sz="2800" dirty="0"/>
              <a:t>摘要值长度为</a:t>
            </a:r>
            <a:r>
              <a:rPr lang="en-US" altLang="zh-CN" sz="2800" dirty="0"/>
              <a:t>256 </a:t>
            </a:r>
            <a:r>
              <a:rPr lang="zh-CN" altLang="zh-CN" sz="2800" dirty="0"/>
              <a:t>比特</a:t>
            </a:r>
            <a:r>
              <a:rPr lang="zh-CN" altLang="en-US" sz="2800" dirty="0"/>
              <a:t>。</a:t>
            </a:r>
            <a:endParaRPr lang="en-US" altLang="zh-CN" sz="2800" dirty="0">
              <a:latin typeface="+mn-ea"/>
            </a:endParaRPr>
          </a:p>
          <a:p>
            <a:pPr marL="0" indent="0">
              <a:buNone/>
            </a:pPr>
            <a:r>
              <a:rPr lang="zh-CN" altLang="en-US" sz="2800" dirty="0">
                <a:latin typeface="+mn-ea"/>
              </a:rPr>
              <a:t>标准的应用领域：中国</a:t>
            </a:r>
            <a:r>
              <a:rPr lang="zh-CN" altLang="en-US" sz="2800" dirty="0"/>
              <a:t>安全芯片、终端、设备和应用系统。</a:t>
            </a:r>
            <a:endParaRPr lang="zh-CN" altLang="en-US" sz="2800" dirty="0">
              <a:latin typeface="+mn-ea"/>
            </a:endParaRPr>
          </a:p>
        </p:txBody>
      </p:sp>
    </p:spTree>
    <p:extLst>
      <p:ext uri="{BB962C8B-B14F-4D97-AF65-F5344CB8AC3E}">
        <p14:creationId xmlns:p14="http://schemas.microsoft.com/office/powerpoint/2010/main" val="171297918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国外类似杂凑函数比较</a:t>
            </a:r>
          </a:p>
        </p:txBody>
      </p:sp>
      <p:sp>
        <p:nvSpPr>
          <p:cNvPr id="3" name="内容占位符 2"/>
          <p:cNvSpPr>
            <a:spLocks noGrp="1"/>
          </p:cNvSpPr>
          <p:nvPr>
            <p:ph idx="1"/>
          </p:nvPr>
        </p:nvSpPr>
        <p:spPr/>
        <p:txBody>
          <a:bodyPr>
            <a:normAutofit fontScale="85000" lnSpcReduction="20000"/>
          </a:bodyPr>
          <a:lstStyle/>
          <a:p>
            <a:pPr marL="0" indent="0">
              <a:buNone/>
            </a:pPr>
            <a:r>
              <a:rPr lang="en-US" altLang="zh-CN" dirty="0"/>
              <a:t>SM3</a:t>
            </a:r>
            <a:r>
              <a:rPr lang="zh-CN" altLang="en-US" dirty="0"/>
              <a:t>目前已经</a:t>
            </a:r>
            <a:r>
              <a:rPr lang="zh-CN" altLang="zh-CN" dirty="0"/>
              <a:t>纳入</a:t>
            </a:r>
            <a:r>
              <a:rPr lang="en-US" altLang="zh-CN" dirty="0"/>
              <a:t> ISO/IEC 10118-3</a:t>
            </a:r>
            <a:r>
              <a:rPr lang="zh-CN" altLang="en-US" dirty="0"/>
              <a:t>。</a:t>
            </a:r>
            <a:endParaRPr lang="en-US" altLang="zh-CN" dirty="0"/>
          </a:p>
          <a:p>
            <a:pPr marL="0" indent="0">
              <a:buNone/>
            </a:pPr>
            <a:r>
              <a:rPr lang="zh-CN" altLang="zh-CN" dirty="0"/>
              <a:t>纳入</a:t>
            </a:r>
            <a:r>
              <a:rPr lang="en-US" altLang="zh-CN" dirty="0"/>
              <a:t>ISO/IEC10118-3 </a:t>
            </a:r>
            <a:r>
              <a:rPr lang="zh-CN" altLang="zh-CN" dirty="0"/>
              <a:t>国际标准的国外杂凑算法</a:t>
            </a:r>
            <a:r>
              <a:rPr lang="en-US" altLang="zh-CN" dirty="0"/>
              <a:t>SHA-1</a:t>
            </a:r>
            <a:r>
              <a:rPr lang="zh-CN" altLang="zh-CN" dirty="0"/>
              <a:t>、</a:t>
            </a:r>
            <a:r>
              <a:rPr lang="en-US" altLang="zh-CN" dirty="0"/>
              <a:t>SHA-256</a:t>
            </a:r>
            <a:r>
              <a:rPr lang="zh-CN" altLang="zh-CN" dirty="0"/>
              <a:t>、</a:t>
            </a:r>
            <a:r>
              <a:rPr lang="en-US" altLang="zh-CN" dirty="0"/>
              <a:t>SHA-384</a:t>
            </a:r>
            <a:r>
              <a:rPr lang="zh-CN" altLang="zh-CN" dirty="0"/>
              <a:t>、</a:t>
            </a:r>
            <a:r>
              <a:rPr lang="en-US" altLang="zh-CN" dirty="0"/>
              <a:t>SHA-512</a:t>
            </a:r>
            <a:r>
              <a:rPr lang="zh-CN" altLang="zh-CN" dirty="0"/>
              <a:t>、</a:t>
            </a:r>
            <a:r>
              <a:rPr lang="en-US" altLang="zh-CN" dirty="0"/>
              <a:t>RIPEMD-160</a:t>
            </a:r>
            <a:r>
              <a:rPr lang="zh-CN" altLang="zh-CN" dirty="0"/>
              <a:t>、</a:t>
            </a:r>
            <a:r>
              <a:rPr lang="en-US" altLang="zh-CN" dirty="0"/>
              <a:t>RIPEMD-128</a:t>
            </a:r>
            <a:r>
              <a:rPr lang="zh-CN" altLang="zh-CN" dirty="0"/>
              <a:t>、</a:t>
            </a:r>
            <a:r>
              <a:rPr lang="en-US" altLang="zh-CN" dirty="0"/>
              <a:t>WHIRLPOOL</a:t>
            </a:r>
            <a:r>
              <a:rPr lang="zh-CN" altLang="zh-CN" dirty="0"/>
              <a:t>。</a:t>
            </a:r>
            <a:endParaRPr lang="en-US" altLang="zh-CN" dirty="0"/>
          </a:p>
          <a:p>
            <a:pPr marL="0" indent="0">
              <a:buNone/>
            </a:pPr>
            <a:r>
              <a:rPr lang="zh-CN" altLang="zh-CN" dirty="0"/>
              <a:t>在压缩函数和消息扩展中使用了两个</a:t>
            </a:r>
            <a:r>
              <a:rPr lang="en-US" altLang="zh-CN" dirty="0"/>
              <a:t>P </a:t>
            </a:r>
            <a:r>
              <a:rPr lang="zh-CN" altLang="zh-CN" dirty="0"/>
              <a:t>置换，从而具备了强扩散性；</a:t>
            </a:r>
            <a:endParaRPr lang="en-US" altLang="zh-CN" dirty="0"/>
          </a:p>
          <a:p>
            <a:pPr marL="0" indent="0">
              <a:buNone/>
            </a:pPr>
            <a:r>
              <a:rPr lang="zh-CN" altLang="zh-CN" dirty="0"/>
              <a:t>在第一轮中使用了线性轮函数，能够抵御差分分析；使用了并行的模加操作节省硬件消耗，同时增强杂凑函数的安全性。</a:t>
            </a:r>
            <a:endParaRPr lang="en-US" altLang="zh-CN" dirty="0"/>
          </a:p>
          <a:p>
            <a:pPr marL="0" indent="0">
              <a:buNone/>
            </a:pPr>
            <a:r>
              <a:rPr lang="en-US" altLang="zh-CN" dirty="0"/>
              <a:t>SM3 </a:t>
            </a:r>
            <a:r>
              <a:rPr lang="zh-CN" altLang="zh-CN" dirty="0"/>
              <a:t>算法在硬件平台的实现方面具有优势。与其他</a:t>
            </a:r>
            <a:r>
              <a:rPr lang="en-US" altLang="zh-CN" dirty="0"/>
              <a:t>ISO/IEC 10118-3 </a:t>
            </a:r>
            <a:r>
              <a:rPr lang="zh-CN" altLang="zh-CN" dirty="0"/>
              <a:t>的算法相比，</a:t>
            </a:r>
            <a:r>
              <a:rPr lang="en-US" altLang="zh-CN" dirty="0"/>
              <a:t>SM3 </a:t>
            </a:r>
            <a:r>
              <a:rPr lang="zh-CN" altLang="zh-CN" dirty="0"/>
              <a:t>在</a:t>
            </a:r>
            <a:r>
              <a:rPr lang="en-US" altLang="zh-CN" dirty="0"/>
              <a:t>ASIC </a:t>
            </a:r>
            <a:r>
              <a:rPr lang="zh-CN" altLang="zh-CN" dirty="0"/>
              <a:t>和</a:t>
            </a:r>
            <a:r>
              <a:rPr lang="en-US" altLang="zh-CN" dirty="0"/>
              <a:t>FPGA </a:t>
            </a:r>
            <a:r>
              <a:rPr lang="zh-CN" altLang="zh-CN" dirty="0"/>
              <a:t>实现上，具有相对较小的实现面积和较高的吞吐量。</a:t>
            </a:r>
          </a:p>
          <a:p>
            <a:pPr marL="0" indent="0">
              <a:buNone/>
            </a:pPr>
            <a:endParaRPr lang="zh-CN" altLang="en-US" dirty="0"/>
          </a:p>
        </p:txBody>
      </p:sp>
    </p:spTree>
    <p:extLst>
      <p:ext uri="{BB962C8B-B14F-4D97-AF65-F5344CB8AC3E}">
        <p14:creationId xmlns:p14="http://schemas.microsoft.com/office/powerpoint/2010/main" val="320391486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密码应用标识规范</a:t>
            </a:r>
          </a:p>
        </p:txBody>
      </p:sp>
      <p:sp>
        <p:nvSpPr>
          <p:cNvPr id="3" name="内容占位符 2"/>
          <p:cNvSpPr>
            <a:spLocks noGrp="1"/>
          </p:cNvSpPr>
          <p:nvPr>
            <p:ph idx="1"/>
          </p:nvPr>
        </p:nvSpPr>
        <p:spPr/>
        <p:txBody>
          <a:bodyPr/>
          <a:lstStyle/>
          <a:p>
            <a:pPr marL="0" indent="0">
              <a:buNone/>
            </a:pPr>
            <a:r>
              <a:rPr lang="zh-CN" altLang="en-US" dirty="0"/>
              <a:t>本标准定义了密码应用中所使用的标识，包括规范算法标识、密钥标识、设备标识、数据标识、协议标识、角色标识等的表示和使用。</a:t>
            </a:r>
          </a:p>
        </p:txBody>
      </p:sp>
    </p:spTree>
    <p:extLst>
      <p:ext uri="{BB962C8B-B14F-4D97-AF65-F5344CB8AC3E}">
        <p14:creationId xmlns:p14="http://schemas.microsoft.com/office/powerpoint/2010/main" val="192660360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SM9</a:t>
            </a:r>
            <a:r>
              <a:rPr lang="zh-CN" altLang="zh-CN" dirty="0"/>
              <a:t>标识密码算法</a:t>
            </a:r>
            <a:endParaRPr lang="zh-CN" altLang="en-US" dirty="0"/>
          </a:p>
        </p:txBody>
      </p:sp>
      <p:sp>
        <p:nvSpPr>
          <p:cNvPr id="3" name="内容占位符 2"/>
          <p:cNvSpPr>
            <a:spLocks noGrp="1"/>
          </p:cNvSpPr>
          <p:nvPr>
            <p:ph idx="1"/>
          </p:nvPr>
        </p:nvSpPr>
        <p:spPr/>
        <p:txBody>
          <a:bodyPr>
            <a:normAutofit/>
          </a:bodyPr>
          <a:lstStyle/>
          <a:p>
            <a:pPr marL="0" indent="0">
              <a:buNone/>
            </a:pPr>
            <a:r>
              <a:rPr lang="zh-CN" altLang="en-US" sz="2800" dirty="0">
                <a:latin typeface="+mn-ea"/>
              </a:rPr>
              <a:t>英文名称：</a:t>
            </a:r>
            <a:r>
              <a:rPr lang="en-US" altLang="zh-CN" sz="2800" dirty="0"/>
              <a:t> identity cipher algorithm</a:t>
            </a:r>
          </a:p>
          <a:p>
            <a:pPr marL="0" indent="0">
              <a:buNone/>
            </a:pPr>
            <a:r>
              <a:rPr lang="zh-CN" altLang="en-US" sz="2800" dirty="0">
                <a:latin typeface="+mn-ea"/>
              </a:rPr>
              <a:t>标准的功能：</a:t>
            </a:r>
            <a:r>
              <a:rPr lang="zh-CN" altLang="zh-CN" sz="2800" dirty="0"/>
              <a:t>分组密码算法的行业标准，是第一个用于商业用途的分组密码算法</a:t>
            </a:r>
            <a:r>
              <a:rPr lang="zh-CN" altLang="en-US" sz="2800" dirty="0"/>
              <a:t>。</a:t>
            </a:r>
            <a:endParaRPr lang="en-US" altLang="zh-CN" sz="2800" dirty="0"/>
          </a:p>
          <a:p>
            <a:pPr marL="0" indent="0">
              <a:buNone/>
            </a:pPr>
            <a:r>
              <a:rPr lang="zh-CN" altLang="en-US" sz="2800" dirty="0">
                <a:latin typeface="+mn-ea"/>
              </a:rPr>
              <a:t>标准的版本信息：</a:t>
            </a:r>
            <a:r>
              <a:rPr lang="en-US" altLang="zh-CN" sz="2800" dirty="0">
                <a:latin typeface="+mn-ea"/>
              </a:rPr>
              <a:t>2016</a:t>
            </a:r>
            <a:r>
              <a:rPr lang="zh-CN" altLang="en-US" sz="2800" dirty="0">
                <a:latin typeface="+mn-ea"/>
              </a:rPr>
              <a:t>年第一版。</a:t>
            </a:r>
            <a:endParaRPr lang="en-US" altLang="zh-CN" sz="2800" dirty="0">
              <a:latin typeface="+mn-ea"/>
            </a:endParaRPr>
          </a:p>
          <a:p>
            <a:pPr marL="0" indent="0">
              <a:buNone/>
            </a:pPr>
            <a:r>
              <a:rPr lang="zh-CN" altLang="en-US" sz="2800" dirty="0">
                <a:latin typeface="+mn-ea"/>
              </a:rPr>
              <a:t>标准的内容：</a:t>
            </a:r>
            <a:r>
              <a:rPr lang="zh-CN" altLang="zh-CN" sz="2800" dirty="0"/>
              <a:t>总则、数字签名算法、密钥交换协议、密钥封装机制和公钥加密算法、参数定义</a:t>
            </a:r>
            <a:r>
              <a:rPr lang="en-US" altLang="zh-CN" sz="2800" dirty="0"/>
              <a:t>5</a:t>
            </a:r>
            <a:r>
              <a:rPr lang="zh-CN" altLang="zh-CN" sz="2800" dirty="0"/>
              <a:t>个部分</a:t>
            </a:r>
            <a:r>
              <a:rPr lang="zh-CN" altLang="en-US" sz="2800" dirty="0"/>
              <a:t>。</a:t>
            </a:r>
            <a:endParaRPr lang="en-US" altLang="zh-CN" sz="2800" dirty="0">
              <a:latin typeface="+mn-ea"/>
            </a:endParaRPr>
          </a:p>
          <a:p>
            <a:pPr marL="0" indent="0">
              <a:buNone/>
            </a:pPr>
            <a:r>
              <a:rPr lang="zh-CN" altLang="en-US" sz="2800" dirty="0">
                <a:latin typeface="+mn-ea"/>
              </a:rPr>
              <a:t>标准的应用领域：中国</a:t>
            </a:r>
            <a:r>
              <a:rPr lang="zh-CN" altLang="zh-CN" sz="2800" dirty="0"/>
              <a:t>无线局域网专用密码算法</a:t>
            </a:r>
            <a:r>
              <a:rPr lang="zh-CN" altLang="en-US" sz="2800" dirty="0"/>
              <a:t>。</a:t>
            </a:r>
            <a:endParaRPr lang="zh-CN" altLang="en-US" sz="2800" dirty="0">
              <a:latin typeface="+mn-ea"/>
            </a:endParaRPr>
          </a:p>
        </p:txBody>
      </p:sp>
    </p:spTree>
    <p:extLst>
      <p:ext uri="{BB962C8B-B14F-4D97-AF65-F5344CB8AC3E}">
        <p14:creationId xmlns:p14="http://schemas.microsoft.com/office/powerpoint/2010/main" val="383278247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SM9</a:t>
            </a:r>
            <a:r>
              <a:rPr lang="zh-CN" altLang="en-US" dirty="0"/>
              <a:t>与</a:t>
            </a:r>
            <a:r>
              <a:rPr lang="en-US" altLang="zh-CN" dirty="0"/>
              <a:t>ISO/IEC 14888-3 </a:t>
            </a:r>
            <a:endParaRPr lang="zh-CN" altLang="en-US" dirty="0"/>
          </a:p>
        </p:txBody>
      </p:sp>
      <p:sp>
        <p:nvSpPr>
          <p:cNvPr id="3" name="内容占位符 2"/>
          <p:cNvSpPr>
            <a:spLocks noGrp="1"/>
          </p:cNvSpPr>
          <p:nvPr>
            <p:ph idx="1"/>
          </p:nvPr>
        </p:nvSpPr>
        <p:spPr/>
        <p:txBody>
          <a:bodyPr>
            <a:normAutofit/>
          </a:bodyPr>
          <a:lstStyle/>
          <a:p>
            <a:r>
              <a:rPr lang="zh-CN" altLang="zh-CN" dirty="0"/>
              <a:t>纳入</a:t>
            </a:r>
            <a:r>
              <a:rPr lang="en-US" altLang="zh-CN" dirty="0"/>
              <a:t>ISO/IEC14888-3 </a:t>
            </a:r>
            <a:r>
              <a:rPr lang="zh-CN" altLang="zh-CN" dirty="0"/>
              <a:t>国际标准的国外相关算法：</a:t>
            </a:r>
            <a:r>
              <a:rPr lang="en-US" altLang="zh-CN" dirty="0"/>
              <a:t>IBS-1</a:t>
            </a:r>
            <a:r>
              <a:rPr lang="zh-CN" altLang="zh-CN" dirty="0"/>
              <a:t>、</a:t>
            </a:r>
            <a:r>
              <a:rPr lang="en-US" altLang="zh-CN" dirty="0"/>
              <a:t>IBS-2</a:t>
            </a:r>
            <a:r>
              <a:rPr lang="zh-CN" altLang="zh-CN" dirty="0"/>
              <a:t>。</a:t>
            </a:r>
          </a:p>
          <a:p>
            <a:r>
              <a:rPr lang="en-US" altLang="zh-CN" dirty="0"/>
              <a:t>SM9 </a:t>
            </a:r>
            <a:r>
              <a:rPr lang="zh-CN" altLang="zh-CN" dirty="0"/>
              <a:t>数字签名算法在验签时少一次</a:t>
            </a:r>
            <a:r>
              <a:rPr lang="zh-CN" altLang="en-US" dirty="0"/>
              <a:t>双</a:t>
            </a:r>
            <a:r>
              <a:rPr lang="zh-CN" altLang="zh-CN" dirty="0"/>
              <a:t>线</a:t>
            </a:r>
            <a:r>
              <a:rPr lang="zh-CN" altLang="en-US" dirty="0"/>
              <a:t>性</a:t>
            </a:r>
            <a:r>
              <a:rPr lang="zh-CN" altLang="zh-CN" dirty="0"/>
              <a:t>对操作，与</a:t>
            </a:r>
            <a:r>
              <a:rPr lang="en-US" altLang="zh-CN" dirty="0"/>
              <a:t>ISO/IEC 14888-3 </a:t>
            </a:r>
            <a:r>
              <a:rPr lang="zh-CN" altLang="zh-CN" dirty="0"/>
              <a:t>中的基于标识密码的数字签名算法相比，性能上具备一定优势。</a:t>
            </a:r>
            <a:endParaRPr lang="zh-CN" altLang="en-US" dirty="0"/>
          </a:p>
        </p:txBody>
      </p:sp>
    </p:spTree>
    <p:extLst>
      <p:ext uri="{BB962C8B-B14F-4D97-AF65-F5344CB8AC3E}">
        <p14:creationId xmlns:p14="http://schemas.microsoft.com/office/powerpoint/2010/main" val="392900130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6 ISO/IEC</a:t>
            </a:r>
            <a:endParaRPr lang="zh-CN" altLang="en-US" dirty="0"/>
          </a:p>
        </p:txBody>
      </p:sp>
      <p:sp>
        <p:nvSpPr>
          <p:cNvPr id="3" name="内容占位符 2"/>
          <p:cNvSpPr>
            <a:spLocks noGrp="1"/>
          </p:cNvSpPr>
          <p:nvPr>
            <p:ph idx="1"/>
          </p:nvPr>
        </p:nvSpPr>
        <p:spPr/>
        <p:txBody>
          <a:bodyPr>
            <a:normAutofit fontScale="85000" lnSpcReduction="10000"/>
          </a:bodyPr>
          <a:lstStyle/>
          <a:p>
            <a:r>
              <a:rPr lang="en-US" altLang="zh-CN" dirty="0"/>
              <a:t>ISO IEC 9796-2-2010 Information technology — Security techniques — Digital signature schemes giving message recovery — Integer factorization based mechanisms </a:t>
            </a:r>
            <a:r>
              <a:rPr lang="zh-CN" altLang="en-US" dirty="0"/>
              <a:t>信息技术</a:t>
            </a:r>
            <a:r>
              <a:rPr lang="en-US" altLang="zh-CN" dirty="0"/>
              <a:t>-</a:t>
            </a:r>
            <a:r>
              <a:rPr lang="zh-CN" altLang="en-US" dirty="0"/>
              <a:t>安全技术</a:t>
            </a:r>
            <a:r>
              <a:rPr lang="en-US" altLang="zh-CN" dirty="0"/>
              <a:t>-</a:t>
            </a:r>
            <a:r>
              <a:rPr lang="zh-CN" altLang="en-US" dirty="0"/>
              <a:t>带消息恢复的数字签名</a:t>
            </a:r>
            <a:r>
              <a:rPr lang="en-US" altLang="zh-CN" dirty="0"/>
              <a:t>-</a:t>
            </a:r>
            <a:r>
              <a:rPr lang="zh-CN" altLang="en-US" dirty="0"/>
              <a:t>基于整数分解</a:t>
            </a:r>
            <a:endParaRPr lang="en-US" altLang="zh-CN" dirty="0"/>
          </a:p>
          <a:p>
            <a:r>
              <a:rPr lang="en-US" altLang="zh-CN" dirty="0"/>
              <a:t>ISO IEC 9797-2011 Information technology — Security techniques — Message authentication Codes (MACs)</a:t>
            </a:r>
            <a:r>
              <a:rPr lang="zh-CN" altLang="en-US" dirty="0"/>
              <a:t>信息技术</a:t>
            </a:r>
            <a:r>
              <a:rPr lang="en-US" altLang="zh-CN" dirty="0"/>
              <a:t>-</a:t>
            </a:r>
            <a:r>
              <a:rPr lang="zh-CN" altLang="en-US" dirty="0"/>
              <a:t>安全技术</a:t>
            </a:r>
            <a:r>
              <a:rPr lang="en-US" altLang="zh-CN" dirty="0"/>
              <a:t>-</a:t>
            </a:r>
            <a:r>
              <a:rPr lang="zh-CN" altLang="en-US" dirty="0"/>
              <a:t>消息认证码（</a:t>
            </a:r>
            <a:r>
              <a:rPr lang="en-US" altLang="zh-CN" dirty="0"/>
              <a:t>MACs</a:t>
            </a:r>
            <a:r>
              <a:rPr lang="zh-CN" altLang="en-US" dirty="0"/>
              <a:t>）</a:t>
            </a:r>
            <a:endParaRPr lang="en-US" altLang="zh-CN" dirty="0"/>
          </a:p>
          <a:p>
            <a:r>
              <a:rPr lang="en-US" altLang="zh-CN" dirty="0"/>
              <a:t>ISO IEC 15946-2016 Information technology — Security techniques — Cryptographic techniques based on elliptic curves</a:t>
            </a:r>
            <a:r>
              <a:rPr lang="zh-CN" altLang="en-US" dirty="0"/>
              <a:t>信息技术</a:t>
            </a:r>
            <a:r>
              <a:rPr lang="en-US" altLang="zh-CN" dirty="0"/>
              <a:t>-</a:t>
            </a:r>
            <a:r>
              <a:rPr lang="zh-CN" altLang="en-US" dirty="0"/>
              <a:t>安全技术</a:t>
            </a:r>
            <a:r>
              <a:rPr lang="en-US" altLang="zh-CN" dirty="0"/>
              <a:t>-</a:t>
            </a:r>
            <a:r>
              <a:rPr lang="zh-CN" altLang="en-US" dirty="0"/>
              <a:t>椭圆曲线密码技术</a:t>
            </a:r>
          </a:p>
        </p:txBody>
      </p:sp>
    </p:spTree>
    <p:extLst>
      <p:ext uri="{BB962C8B-B14F-4D97-AF65-F5344CB8AC3E}">
        <p14:creationId xmlns:p14="http://schemas.microsoft.com/office/powerpoint/2010/main" val="4565447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600" dirty="0"/>
              <a:t>ISO IEC 9796-2 </a:t>
            </a:r>
            <a:r>
              <a:rPr lang="zh-CN" altLang="en-US" sz="3600" dirty="0"/>
              <a:t>带消息恢复的数字签名</a:t>
            </a:r>
          </a:p>
        </p:txBody>
      </p:sp>
      <p:sp>
        <p:nvSpPr>
          <p:cNvPr id="3" name="内容占位符 2"/>
          <p:cNvSpPr>
            <a:spLocks noGrp="1"/>
          </p:cNvSpPr>
          <p:nvPr>
            <p:ph idx="1"/>
          </p:nvPr>
        </p:nvSpPr>
        <p:spPr/>
        <p:txBody>
          <a:bodyPr/>
          <a:lstStyle/>
          <a:p>
            <a:pPr marL="0" indent="0">
              <a:buNone/>
            </a:pPr>
            <a:r>
              <a:rPr lang="zh-CN" altLang="zh-CN" dirty="0"/>
              <a:t>本标准给出了三种带消息恢复的数字签名方案</a:t>
            </a:r>
            <a:r>
              <a:rPr lang="zh-CN" altLang="en-US" dirty="0"/>
              <a:t>。</a:t>
            </a:r>
            <a:r>
              <a:rPr lang="en-US" altLang="zh-CN" dirty="0"/>
              <a:t>1997-9-1</a:t>
            </a:r>
            <a:r>
              <a:rPr lang="zh-CN" altLang="zh-CN" dirty="0"/>
              <a:t>第一版只有签名方案</a:t>
            </a:r>
            <a:r>
              <a:rPr lang="en-US" altLang="zh-CN" dirty="0"/>
              <a:t>1</a:t>
            </a:r>
            <a:r>
              <a:rPr lang="zh-CN" altLang="zh-CN" dirty="0"/>
              <a:t>，</a:t>
            </a:r>
            <a:r>
              <a:rPr lang="en-US" altLang="zh-CN" dirty="0"/>
              <a:t>2010-12-15</a:t>
            </a:r>
            <a:r>
              <a:rPr lang="zh-CN" altLang="zh-CN" dirty="0"/>
              <a:t>第三版推荐采用签名方案</a:t>
            </a:r>
            <a:r>
              <a:rPr lang="en-US" altLang="zh-CN" dirty="0"/>
              <a:t>2</a:t>
            </a:r>
            <a:r>
              <a:rPr lang="zh-CN" altLang="zh-CN" dirty="0"/>
              <a:t>，当对于签名者没有随机要求时，采用方案</a:t>
            </a:r>
            <a:r>
              <a:rPr lang="en-US" altLang="zh-CN" dirty="0"/>
              <a:t>3</a:t>
            </a:r>
            <a:r>
              <a:rPr lang="zh-CN" altLang="zh-CN" dirty="0"/>
              <a:t>。</a:t>
            </a:r>
            <a:r>
              <a:rPr lang="en-US" altLang="zh-CN" dirty="0"/>
              <a:t> 9796-3</a:t>
            </a:r>
            <a:r>
              <a:rPr lang="zh-CN" altLang="en-US" dirty="0"/>
              <a:t>（</a:t>
            </a:r>
            <a:r>
              <a:rPr lang="en-US" altLang="zh-CN" dirty="0"/>
              <a:t> 1997 V1</a:t>
            </a:r>
            <a:r>
              <a:rPr lang="zh-CN" altLang="zh-CN" dirty="0"/>
              <a:t>，</a:t>
            </a:r>
            <a:r>
              <a:rPr lang="en-US" altLang="zh-CN" dirty="0"/>
              <a:t>2006 V2</a:t>
            </a:r>
            <a:r>
              <a:rPr lang="zh-CN" altLang="en-US" dirty="0"/>
              <a:t>，</a:t>
            </a:r>
            <a:r>
              <a:rPr lang="en-US" altLang="zh-CN" dirty="0"/>
              <a:t>2010V3</a:t>
            </a:r>
            <a:r>
              <a:rPr lang="zh-CN" altLang="en-US" dirty="0"/>
              <a:t>）是关于的离散对数的数字签名。</a:t>
            </a:r>
          </a:p>
        </p:txBody>
      </p:sp>
    </p:spTree>
    <p:extLst>
      <p:ext uri="{BB962C8B-B14F-4D97-AF65-F5344CB8AC3E}">
        <p14:creationId xmlns:p14="http://schemas.microsoft.com/office/powerpoint/2010/main" val="83132331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 ISO/IEC 9796-2</a:t>
            </a:r>
            <a:r>
              <a:rPr lang="zh-CN" altLang="en-US" dirty="0"/>
              <a:t>安全分析</a:t>
            </a:r>
          </a:p>
        </p:txBody>
      </p:sp>
      <p:sp>
        <p:nvSpPr>
          <p:cNvPr id="3" name="内容占位符 2"/>
          <p:cNvSpPr>
            <a:spLocks noGrp="1"/>
          </p:cNvSpPr>
          <p:nvPr>
            <p:ph idx="1"/>
          </p:nvPr>
        </p:nvSpPr>
        <p:spPr/>
        <p:txBody>
          <a:bodyPr>
            <a:normAutofit/>
          </a:bodyPr>
          <a:lstStyle/>
          <a:p>
            <a:r>
              <a:rPr lang="zh-CN" altLang="zh-CN" sz="2800" dirty="0"/>
              <a:t>验签公钥</a:t>
            </a:r>
            <a:r>
              <a:rPr lang="en-US" altLang="zh-CN" sz="2800" dirty="0"/>
              <a:t>v</a:t>
            </a:r>
            <a:r>
              <a:rPr lang="zh-CN" altLang="zh-CN" sz="2800" dirty="0"/>
              <a:t>一般指定为</a:t>
            </a:r>
            <a:r>
              <a:rPr lang="en-US" altLang="zh-CN" sz="2800" dirty="0"/>
              <a:t>2</a:t>
            </a:r>
            <a:r>
              <a:rPr lang="zh-CN" altLang="zh-CN" sz="2800" dirty="0"/>
              <a:t>，</a:t>
            </a:r>
            <a:r>
              <a:rPr lang="en-US" altLang="zh-CN" sz="2800" dirty="0"/>
              <a:t>3</a:t>
            </a:r>
            <a:r>
              <a:rPr lang="zh-CN" altLang="zh-CN" sz="2800" dirty="0"/>
              <a:t>，</a:t>
            </a:r>
            <a:r>
              <a:rPr lang="en-US" altLang="zh-CN" sz="2800" dirty="0"/>
              <a:t>17</a:t>
            </a:r>
            <a:r>
              <a:rPr lang="zh-CN" altLang="zh-CN" sz="2800" dirty="0"/>
              <a:t>，</a:t>
            </a:r>
            <a:r>
              <a:rPr lang="en-US" altLang="zh-CN" sz="2800" dirty="0"/>
              <a:t>65537</a:t>
            </a:r>
            <a:r>
              <a:rPr lang="zh-CN" altLang="zh-CN" sz="2800" dirty="0"/>
              <a:t>。</a:t>
            </a:r>
            <a:r>
              <a:rPr lang="en-US" altLang="zh-CN" sz="2800" dirty="0"/>
              <a:t>v</a:t>
            </a:r>
            <a:r>
              <a:rPr lang="zh-CN" altLang="zh-CN" sz="2800" dirty="0"/>
              <a:t>为奇数时，</a:t>
            </a:r>
            <a:r>
              <a:rPr lang="en-US" altLang="zh-CN" sz="2800" dirty="0"/>
              <a:t>sv-1</a:t>
            </a:r>
            <a:r>
              <a:rPr lang="zh-CN" altLang="zh-CN" sz="2800" dirty="0"/>
              <a:t>为</a:t>
            </a:r>
            <a:r>
              <a:rPr lang="en-US" altLang="zh-CN" sz="2800" dirty="0"/>
              <a:t>p-1,q-1</a:t>
            </a:r>
            <a:r>
              <a:rPr lang="zh-CN" altLang="zh-CN" sz="2800" dirty="0"/>
              <a:t>的最小公倍数；</a:t>
            </a:r>
            <a:r>
              <a:rPr lang="en-US" altLang="zh-CN" sz="2800" dirty="0"/>
              <a:t>v</a:t>
            </a:r>
            <a:r>
              <a:rPr lang="zh-CN" altLang="zh-CN" sz="2800" dirty="0"/>
              <a:t>为偶数时，</a:t>
            </a:r>
            <a:r>
              <a:rPr lang="en-US" altLang="zh-CN" sz="2800" dirty="0"/>
              <a:t>2(sv-1) </a:t>
            </a:r>
            <a:r>
              <a:rPr lang="zh-CN" altLang="zh-CN" sz="2800" dirty="0"/>
              <a:t>为</a:t>
            </a:r>
            <a:r>
              <a:rPr lang="en-US" altLang="zh-CN" sz="2800" dirty="0"/>
              <a:t>p-1,q-1</a:t>
            </a:r>
            <a:r>
              <a:rPr lang="zh-CN" altLang="zh-CN" sz="2800" dirty="0"/>
              <a:t>的最小公倍数</a:t>
            </a:r>
            <a:r>
              <a:rPr lang="zh-CN" altLang="en-US" sz="2800" dirty="0"/>
              <a:t>，防止迭代攻击；</a:t>
            </a:r>
            <a:endParaRPr lang="en-US" altLang="zh-CN" sz="2800" dirty="0"/>
          </a:p>
          <a:p>
            <a:r>
              <a:rPr lang="zh-CN" altLang="zh-CN" sz="2800" dirty="0"/>
              <a:t>本标准的签名方案要求选择一个防碰撞的</a:t>
            </a:r>
            <a:r>
              <a:rPr lang="en-US" altLang="zh-CN" sz="2800" dirty="0"/>
              <a:t>HASH</a:t>
            </a:r>
            <a:r>
              <a:rPr lang="zh-CN" altLang="zh-CN" sz="2800" dirty="0"/>
              <a:t>函数，</a:t>
            </a:r>
            <a:r>
              <a:rPr lang="en-US" altLang="zh-CN" sz="2800" dirty="0"/>
              <a:t>HASH</a:t>
            </a:r>
            <a:r>
              <a:rPr lang="zh-CN" altLang="zh-CN" sz="2800" dirty="0"/>
              <a:t>函数由</a:t>
            </a:r>
            <a:r>
              <a:rPr lang="en-US" altLang="zh-CN" sz="2800" dirty="0"/>
              <a:t>ISO/IEC10118</a:t>
            </a:r>
            <a:r>
              <a:rPr lang="zh-CN" altLang="zh-CN" sz="2800" dirty="0"/>
              <a:t>给出，弱</a:t>
            </a:r>
            <a:r>
              <a:rPr lang="en-US" altLang="zh-CN" sz="2800" dirty="0"/>
              <a:t>HASH</a:t>
            </a:r>
            <a:r>
              <a:rPr lang="zh-CN" altLang="zh-CN" sz="2800" dirty="0"/>
              <a:t>函数将会导致伪造签名</a:t>
            </a:r>
            <a:r>
              <a:rPr lang="en-US" altLang="zh-CN" sz="2800"/>
              <a:t>.</a:t>
            </a:r>
            <a:endParaRPr lang="en-US" altLang="zh-CN" sz="2800" dirty="0"/>
          </a:p>
        </p:txBody>
      </p:sp>
    </p:spTree>
    <p:extLst>
      <p:ext uri="{BB962C8B-B14F-4D97-AF65-F5344CB8AC3E}">
        <p14:creationId xmlns:p14="http://schemas.microsoft.com/office/powerpoint/2010/main" val="99615475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ISO IEC 9797-2011 </a:t>
            </a:r>
            <a:r>
              <a:rPr lang="zh-CN" altLang="en-US" dirty="0"/>
              <a:t>消息认证码</a:t>
            </a:r>
          </a:p>
        </p:txBody>
      </p:sp>
      <p:sp>
        <p:nvSpPr>
          <p:cNvPr id="3" name="内容占位符 2"/>
          <p:cNvSpPr>
            <a:spLocks noGrp="1"/>
          </p:cNvSpPr>
          <p:nvPr>
            <p:ph idx="1"/>
          </p:nvPr>
        </p:nvSpPr>
        <p:spPr/>
        <p:txBody>
          <a:bodyPr>
            <a:normAutofit/>
          </a:bodyPr>
          <a:lstStyle/>
          <a:p>
            <a:pPr marL="0" indent="0">
              <a:buNone/>
            </a:pPr>
            <a:r>
              <a:rPr lang="en-US" altLang="zh-CN" dirty="0"/>
              <a:t>ISO IEC 9797</a:t>
            </a:r>
            <a:r>
              <a:rPr lang="zh-CN" altLang="en-US" dirty="0"/>
              <a:t>消息认证码共分三部分：使用分组密码的机制、使用专用哈希函数的机制和使用通用哈希函数的机制。</a:t>
            </a:r>
            <a:endParaRPr lang="en-US" altLang="zh-CN" dirty="0"/>
          </a:p>
          <a:p>
            <a:pPr marL="0" indent="0">
              <a:buNone/>
            </a:pPr>
            <a:r>
              <a:rPr lang="zh-CN" altLang="en-US" dirty="0"/>
              <a:t>目前</a:t>
            </a:r>
            <a:r>
              <a:rPr lang="en-US" altLang="zh-CN" dirty="0"/>
              <a:t>ISO IEC 9797-1</a:t>
            </a:r>
            <a:r>
              <a:rPr lang="zh-CN" altLang="en-US" dirty="0"/>
              <a:t>有</a:t>
            </a:r>
            <a:r>
              <a:rPr lang="en-US" altLang="zh-CN" dirty="0"/>
              <a:t>1999</a:t>
            </a:r>
            <a:r>
              <a:rPr lang="zh-CN" altLang="en-US" dirty="0"/>
              <a:t>和</a:t>
            </a:r>
            <a:r>
              <a:rPr lang="en-US" altLang="zh-CN" dirty="0"/>
              <a:t>2011</a:t>
            </a:r>
            <a:r>
              <a:rPr lang="zh-CN" altLang="en-US" dirty="0"/>
              <a:t>年两个版本，</a:t>
            </a:r>
            <a:r>
              <a:rPr lang="en-US" altLang="zh-CN" dirty="0"/>
              <a:t> ISO IEC 9797-2</a:t>
            </a:r>
            <a:r>
              <a:rPr lang="zh-CN" altLang="en-US" dirty="0"/>
              <a:t>有</a:t>
            </a:r>
            <a:r>
              <a:rPr lang="en-US" altLang="zh-CN" dirty="0"/>
              <a:t>2002</a:t>
            </a:r>
            <a:r>
              <a:rPr lang="zh-CN" altLang="en-US" dirty="0"/>
              <a:t>和</a:t>
            </a:r>
            <a:r>
              <a:rPr lang="en-US" altLang="zh-CN" dirty="0"/>
              <a:t>2011</a:t>
            </a:r>
            <a:r>
              <a:rPr lang="zh-CN" altLang="en-US" dirty="0"/>
              <a:t>年两个版本。</a:t>
            </a:r>
            <a:endParaRPr lang="en-US" altLang="zh-CN" dirty="0"/>
          </a:p>
          <a:p>
            <a:pPr marL="0" indent="0">
              <a:buNone/>
            </a:pPr>
            <a:r>
              <a:rPr lang="en-US" altLang="zh-CN" dirty="0"/>
              <a:t>ISO/IEC 9797-1</a:t>
            </a:r>
            <a:r>
              <a:rPr lang="zh-CN" altLang="en-US" dirty="0"/>
              <a:t>规定了六种</a:t>
            </a:r>
            <a:r>
              <a:rPr lang="en-US" altLang="zh-CN" dirty="0"/>
              <a:t>MAC</a:t>
            </a:r>
            <a:r>
              <a:rPr lang="zh-CN" altLang="en-US" dirty="0"/>
              <a:t>算法，它们使用密钥和</a:t>
            </a:r>
            <a:r>
              <a:rPr lang="en-US" altLang="zh-CN" dirty="0"/>
              <a:t>N</a:t>
            </a:r>
            <a:r>
              <a:rPr lang="zh-CN" altLang="en-US" dirty="0"/>
              <a:t>位分组密码来计算</a:t>
            </a:r>
            <a:r>
              <a:rPr lang="en-US" altLang="zh-CN" dirty="0"/>
              <a:t>M</a:t>
            </a:r>
            <a:r>
              <a:rPr lang="zh-CN" altLang="en-US" dirty="0"/>
              <a:t>位</a:t>
            </a:r>
            <a:r>
              <a:rPr lang="en-US" altLang="zh-CN" dirty="0"/>
              <a:t>MAC</a:t>
            </a:r>
            <a:r>
              <a:rPr lang="zh-CN" altLang="en-US" dirty="0"/>
              <a:t>。</a:t>
            </a:r>
            <a:endParaRPr lang="en-US" altLang="zh-CN" dirty="0"/>
          </a:p>
        </p:txBody>
      </p:sp>
    </p:spTree>
    <p:extLst>
      <p:ext uri="{BB962C8B-B14F-4D97-AF65-F5344CB8AC3E}">
        <p14:creationId xmlns:p14="http://schemas.microsoft.com/office/powerpoint/2010/main" val="340346968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600" dirty="0"/>
              <a:t>ISO/IEC 9797-2</a:t>
            </a:r>
            <a:r>
              <a:rPr lang="zh-CN" altLang="en-US" sz="3600" dirty="0"/>
              <a:t>使用专用哈希函数的机制</a:t>
            </a:r>
          </a:p>
        </p:txBody>
      </p:sp>
      <p:sp>
        <p:nvSpPr>
          <p:cNvPr id="3" name="内容占位符 2"/>
          <p:cNvSpPr>
            <a:spLocks noGrp="1"/>
          </p:cNvSpPr>
          <p:nvPr>
            <p:ph idx="1"/>
          </p:nvPr>
        </p:nvSpPr>
        <p:spPr/>
        <p:txBody>
          <a:bodyPr>
            <a:normAutofit lnSpcReduction="10000"/>
          </a:bodyPr>
          <a:lstStyle/>
          <a:p>
            <a:pPr marL="0" indent="0">
              <a:buNone/>
            </a:pPr>
            <a:r>
              <a:rPr lang="en-US" altLang="zh-CN" dirty="0"/>
              <a:t>ISO/IEC 9797-2</a:t>
            </a:r>
            <a:r>
              <a:rPr lang="zh-CN" altLang="en-US" dirty="0"/>
              <a:t>规定了三种</a:t>
            </a:r>
            <a:r>
              <a:rPr lang="en-US" altLang="zh-CN" dirty="0"/>
              <a:t>MAC</a:t>
            </a:r>
            <a:r>
              <a:rPr lang="zh-CN" altLang="en-US" dirty="0"/>
              <a:t>算法，它们使用一个秘密密钥和一个哈希函数（或其圆函数）以及一个</a:t>
            </a:r>
            <a:r>
              <a:rPr lang="en-US" altLang="zh-CN" dirty="0"/>
              <a:t>n</a:t>
            </a:r>
            <a:r>
              <a:rPr lang="zh-CN" altLang="en-US" dirty="0"/>
              <a:t>位结果来计算</a:t>
            </a:r>
            <a:r>
              <a:rPr lang="en-US" altLang="zh-CN" dirty="0"/>
              <a:t>M</a:t>
            </a:r>
            <a:r>
              <a:rPr lang="zh-CN" altLang="en-US" dirty="0"/>
              <a:t>位</a:t>
            </a:r>
            <a:r>
              <a:rPr lang="en-US" altLang="zh-CN" dirty="0"/>
              <a:t>MAC</a:t>
            </a:r>
            <a:r>
              <a:rPr lang="zh-CN" altLang="en-US" dirty="0"/>
              <a:t>。这些机制可以用作数据完整性机制，以验证数据没有以未经授权的方式进行更改。它们还可以用作消息身份验证机制，以确保消息是由拥有该密钥的实体发起的。数据完整性和消息认证机制的强度取决于密钥的熵和保密性、哈希函数生成的哈希代码的长度、哈希函数的强度、</a:t>
            </a:r>
            <a:r>
              <a:rPr lang="en-US" altLang="zh-CN" dirty="0"/>
              <a:t>MAC</a:t>
            </a:r>
            <a:r>
              <a:rPr lang="zh-CN" altLang="en-US" dirty="0"/>
              <a:t>的长度</a:t>
            </a:r>
            <a:r>
              <a:rPr lang="en-US" altLang="zh-CN" dirty="0"/>
              <a:t>m</a:t>
            </a:r>
            <a:r>
              <a:rPr lang="zh-CN" altLang="en-US" dirty="0"/>
              <a:t>以及特定机制。</a:t>
            </a:r>
          </a:p>
        </p:txBody>
      </p:sp>
    </p:spTree>
    <p:extLst>
      <p:ext uri="{BB962C8B-B14F-4D97-AF65-F5344CB8AC3E}">
        <p14:creationId xmlns:p14="http://schemas.microsoft.com/office/powerpoint/2010/main" val="145091155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ISO IEC 15946 </a:t>
            </a:r>
            <a:r>
              <a:rPr lang="zh-CN" altLang="en-US" dirty="0"/>
              <a:t>椭圆曲线密码技术</a:t>
            </a:r>
          </a:p>
        </p:txBody>
      </p:sp>
      <p:sp>
        <p:nvSpPr>
          <p:cNvPr id="3" name="内容占位符 2"/>
          <p:cNvSpPr>
            <a:spLocks noGrp="1"/>
          </p:cNvSpPr>
          <p:nvPr>
            <p:ph idx="1"/>
          </p:nvPr>
        </p:nvSpPr>
        <p:spPr/>
        <p:txBody>
          <a:bodyPr/>
          <a:lstStyle/>
          <a:p>
            <a:pPr marL="0" indent="0">
              <a:buNone/>
            </a:pPr>
            <a:r>
              <a:rPr lang="en-US" altLang="zh-CN" dirty="0"/>
              <a:t>ISO/IEC 15946</a:t>
            </a:r>
            <a:r>
              <a:rPr lang="zh-CN" altLang="zh-CN" dirty="0"/>
              <a:t>系列标准包括</a:t>
            </a:r>
            <a:r>
              <a:rPr lang="zh-CN" altLang="en-US" dirty="0"/>
              <a:t>五</a:t>
            </a:r>
            <a:r>
              <a:rPr lang="zh-CN" altLang="zh-CN" dirty="0"/>
              <a:t>部分：概述、数字签名、密钥建立、带消息恢复的数字签名</a:t>
            </a:r>
            <a:r>
              <a:rPr lang="zh-CN" altLang="en-US" dirty="0"/>
              <a:t>、椭圆曲线生成。</a:t>
            </a:r>
            <a:endParaRPr lang="en-US" altLang="zh-CN" dirty="0">
              <a:latin typeface="+mn-ea"/>
            </a:endParaRPr>
          </a:p>
          <a:p>
            <a:pPr marL="0" indent="0">
              <a:buNone/>
            </a:pPr>
            <a:r>
              <a:rPr lang="en-US" altLang="zh-CN" dirty="0"/>
              <a:t>ISO/IEC 15946 2016</a:t>
            </a:r>
            <a:r>
              <a:rPr lang="zh-CN" altLang="zh-CN" dirty="0"/>
              <a:t>年第三版取代了第二版</a:t>
            </a:r>
            <a:r>
              <a:rPr lang="en-US" altLang="zh-CN" dirty="0"/>
              <a:t>(ISO/IEC 15946-1:2008 with ISO/IEC 15946-1/</a:t>
            </a:r>
            <a:r>
              <a:rPr lang="en-US" altLang="zh-CN" dirty="0" err="1"/>
              <a:t>Cor</a:t>
            </a:r>
            <a:r>
              <a:rPr lang="en-US" altLang="zh-CN" dirty="0"/>
              <a:t> 1:2009)</a:t>
            </a:r>
            <a:r>
              <a:rPr lang="zh-CN" altLang="zh-CN" dirty="0"/>
              <a:t>新版只有两部分：概述和椭圆曲线生成，其余三部分数字签名、密钥建立、带消息恢复的数字签名没有改变。</a:t>
            </a:r>
            <a:endParaRPr lang="en-US" altLang="zh-CN" dirty="0">
              <a:latin typeface="+mn-ea"/>
            </a:endParaRPr>
          </a:p>
          <a:p>
            <a:pPr marL="0" indent="0">
              <a:buNone/>
            </a:pPr>
            <a:endParaRPr lang="zh-CN" altLang="en-US" dirty="0"/>
          </a:p>
        </p:txBody>
      </p:sp>
    </p:spTree>
    <p:extLst>
      <p:ext uri="{BB962C8B-B14F-4D97-AF65-F5344CB8AC3E}">
        <p14:creationId xmlns:p14="http://schemas.microsoft.com/office/powerpoint/2010/main" val="3240370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ISO/IEC 15946-1 </a:t>
            </a:r>
            <a:r>
              <a:rPr lang="zh-CN" altLang="en-US" dirty="0"/>
              <a:t>总则</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fontScale="92500"/>
              </a:bodyPr>
              <a:lstStyle/>
              <a:p>
                <a:pPr marL="0" indent="0">
                  <a:buNone/>
                </a:pPr>
                <a:r>
                  <a:rPr lang="zh-CN" altLang="zh-CN" dirty="0"/>
                  <a:t>在</a:t>
                </a:r>
                <a:r>
                  <a:rPr lang="en-US" altLang="zh-CN" dirty="0"/>
                  <a:t>ISO/IEC 15946-1</a:t>
                </a:r>
                <a:r>
                  <a:rPr lang="zh-CN" altLang="zh-CN" dirty="0"/>
                  <a:t>概述部分，</a:t>
                </a:r>
                <a:r>
                  <a:rPr lang="en-US" altLang="zh-CN" dirty="0"/>
                  <a:t>2016</a:t>
                </a:r>
                <a:r>
                  <a:rPr lang="zh-CN" altLang="zh-CN" dirty="0"/>
                  <a:t>年第三版在</a:t>
                </a:r>
                <a:r>
                  <a:rPr lang="en-US" altLang="zh-CN" dirty="0"/>
                  <a:t>2002</a:t>
                </a:r>
                <a:r>
                  <a:rPr lang="zh-CN" altLang="zh-CN" dirty="0"/>
                  <a:t>年第一版的基础上特别增加了有限域</a:t>
                </a:r>
                <a14:m>
                  <m:oMath xmlns:m="http://schemas.openxmlformats.org/officeDocument/2006/math">
                    <m:r>
                      <m:rPr>
                        <m:sty m:val="p"/>
                      </m:rPr>
                      <a:rPr lang="en-US" altLang="zh-CN">
                        <a:latin typeface="Cambria Math"/>
                      </a:rPr>
                      <m:t>F</m:t>
                    </m:r>
                    <m:r>
                      <a:rPr lang="en-US" altLang="zh-CN">
                        <a:latin typeface="Cambria Math"/>
                      </a:rPr>
                      <m:t>(</m:t>
                    </m:r>
                    <m:sSup>
                      <m:sSupPr>
                        <m:ctrlPr>
                          <a:rPr lang="zh-CN" altLang="zh-CN" i="1">
                            <a:latin typeface="Cambria Math" panose="02040503050406030204" pitchFamily="18" charset="0"/>
                          </a:rPr>
                        </m:ctrlPr>
                      </m:sSupPr>
                      <m:e>
                        <m:r>
                          <a:rPr lang="en-US" altLang="zh-CN" i="1">
                            <a:latin typeface="Cambria Math"/>
                          </a:rPr>
                          <m:t>3</m:t>
                        </m:r>
                      </m:e>
                      <m:sup>
                        <m:r>
                          <a:rPr lang="en-US" altLang="zh-CN" i="1">
                            <a:latin typeface="Cambria Math"/>
                          </a:rPr>
                          <m:t>𝑚</m:t>
                        </m:r>
                      </m:sup>
                    </m:sSup>
                    <m:r>
                      <a:rPr lang="en-US" altLang="zh-CN">
                        <a:latin typeface="Cambria Math"/>
                      </a:rPr>
                      <m:t>)</m:t>
                    </m:r>
                  </m:oMath>
                </a14:m>
                <a:r>
                  <a:rPr lang="zh-CN" altLang="zh-CN" dirty="0"/>
                  <a:t>上的椭圆曲线、双线性映射和转换函数</a:t>
                </a:r>
                <a:r>
                  <a:rPr lang="zh-CN" altLang="en-US" dirty="0"/>
                  <a:t>，</a:t>
                </a:r>
                <a:r>
                  <a:rPr lang="zh-CN" altLang="zh-CN" dirty="0"/>
                  <a:t>双线性对的计算算法</a:t>
                </a:r>
                <a:r>
                  <a:rPr lang="zh-CN" altLang="en-US" dirty="0"/>
                  <a:t>，</a:t>
                </a:r>
                <a:r>
                  <a:rPr lang="zh-CN" altLang="zh-CN" dirty="0"/>
                  <a:t>两种坐标系统的点加和倍点计算时间比较。</a:t>
                </a:r>
                <a:endParaRPr lang="zh-CN" altLang="en-US" dirty="0"/>
              </a:p>
              <a:p>
                <a:pPr marL="0" indent="0">
                  <a:buNone/>
                </a:pPr>
                <a:endParaRPr lang="en-US" altLang="zh-CN" dirty="0"/>
              </a:p>
              <a:p>
                <a:pPr marL="0" indent="0">
                  <a:buNone/>
                </a:pPr>
                <a:r>
                  <a:rPr lang="zh-CN" altLang="en-US" dirty="0"/>
                  <a:t>能够抵抗功耗分析和电磁辐射分析。</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1">
                <a:blip r:embed="rId2"/>
                <a:stretch>
                  <a:fillRect l="-1704" t="-2291" r="-140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06932723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ISO/IEC 15946-2 </a:t>
            </a:r>
            <a:r>
              <a:rPr lang="zh-CN" altLang="en-US" dirty="0"/>
              <a:t>数字签名</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pPr marL="0" indent="0">
                  <a:buNone/>
                </a:pPr>
                <a:r>
                  <a:rPr lang="zh-CN" altLang="zh-CN" dirty="0"/>
                  <a:t>在</a:t>
                </a:r>
                <a:r>
                  <a:rPr lang="en-US" altLang="zh-CN" dirty="0"/>
                  <a:t>ISO/IEC 15946-2</a:t>
                </a:r>
                <a:r>
                  <a:rPr lang="zh-CN" altLang="zh-CN" dirty="0"/>
                  <a:t>数字签名部分，目前只有</a:t>
                </a:r>
                <a:r>
                  <a:rPr lang="en-US" altLang="zh-CN" dirty="0"/>
                  <a:t>2002</a:t>
                </a:r>
                <a:r>
                  <a:rPr lang="zh-CN" altLang="zh-CN" dirty="0"/>
                  <a:t>年第一版，没有双线性映射和有限域</a:t>
                </a:r>
                <a14:m>
                  <m:oMath xmlns:m="http://schemas.openxmlformats.org/officeDocument/2006/math">
                    <m:r>
                      <m:rPr>
                        <m:sty m:val="p"/>
                      </m:rPr>
                      <a:rPr lang="en-US" altLang="zh-CN">
                        <a:latin typeface="Cambria Math"/>
                      </a:rPr>
                      <m:t>F</m:t>
                    </m:r>
                    <m:r>
                      <a:rPr lang="en-US" altLang="zh-CN">
                        <a:latin typeface="Cambria Math"/>
                      </a:rPr>
                      <m:t>(</m:t>
                    </m:r>
                    <m:sSup>
                      <m:sSupPr>
                        <m:ctrlPr>
                          <a:rPr lang="zh-CN" altLang="zh-CN" i="1">
                            <a:latin typeface="Cambria Math" panose="02040503050406030204" pitchFamily="18" charset="0"/>
                          </a:rPr>
                        </m:ctrlPr>
                      </m:sSupPr>
                      <m:e>
                        <m:r>
                          <a:rPr lang="en-US" altLang="zh-CN">
                            <a:latin typeface="Cambria Math"/>
                          </a:rPr>
                          <m:t>3</m:t>
                        </m:r>
                      </m:e>
                      <m:sup>
                        <m:r>
                          <m:rPr>
                            <m:sty m:val="p"/>
                          </m:rPr>
                          <a:rPr lang="en-US" altLang="zh-CN">
                            <a:latin typeface="Cambria Math"/>
                          </a:rPr>
                          <m:t>m</m:t>
                        </m:r>
                      </m:sup>
                    </m:sSup>
                    <m:r>
                      <a:rPr lang="en-US" altLang="zh-CN">
                        <a:latin typeface="Cambria Math"/>
                      </a:rPr>
                      <m:t>)</m:t>
                    </m:r>
                  </m:oMath>
                </a14:m>
                <a:r>
                  <a:rPr lang="zh-CN" altLang="zh-CN" dirty="0"/>
                  <a:t>，里面着重介绍了三种椭圆曲线数字签名方法：</a:t>
                </a:r>
                <a:r>
                  <a:rPr lang="en-US" altLang="zh-CN" dirty="0"/>
                  <a:t>EC-GDSA</a:t>
                </a:r>
                <a:r>
                  <a:rPr lang="zh-CN" altLang="zh-CN" dirty="0"/>
                  <a:t>、</a:t>
                </a:r>
                <a:r>
                  <a:rPr lang="en-US" altLang="zh-CN" dirty="0"/>
                  <a:t>EC-DSA</a:t>
                </a:r>
                <a:r>
                  <a:rPr lang="zh-CN" altLang="zh-CN" dirty="0"/>
                  <a:t>、</a:t>
                </a:r>
                <a:r>
                  <a:rPr lang="en-US" altLang="zh-CN" dirty="0"/>
                  <a:t>EC-KCDSA</a:t>
                </a:r>
                <a:r>
                  <a:rPr lang="zh-CN" altLang="zh-CN" dirty="0"/>
                  <a:t>。</a:t>
                </a:r>
              </a:p>
              <a:p>
                <a:pPr marL="0" indent="0">
                  <a:buNone/>
                </a:pPr>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1">
                <a:blip r:embed="rId2"/>
                <a:stretch>
                  <a:fillRect l="-1852" t="-2426" r="-88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36418683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7544" y="1628800"/>
            <a:ext cx="8208912" cy="45693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2564564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600" dirty="0"/>
              <a:t>ISO/IEC 15946-2</a:t>
            </a:r>
            <a:r>
              <a:rPr lang="zh-CN" altLang="en-US" sz="3600" dirty="0"/>
              <a:t>三种签名算法的比较</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fontScale="92500" lnSpcReduction="10000"/>
              </a:bodyPr>
              <a:lstStyle/>
              <a:p>
                <a:pPr marL="0" indent="0">
                  <a:buNone/>
                </a:pPr>
                <a:r>
                  <a:rPr lang="en-US" altLang="zh-CN" dirty="0"/>
                  <a:t>EC-GDSA</a:t>
                </a:r>
                <a:r>
                  <a:rPr lang="zh-CN" altLang="zh-CN" dirty="0"/>
                  <a:t>和</a:t>
                </a:r>
                <a:r>
                  <a:rPr lang="en-US" altLang="zh-CN" dirty="0"/>
                  <a:t>EC-DSA</a:t>
                </a:r>
                <a:r>
                  <a:rPr lang="zh-CN" altLang="zh-CN" dirty="0"/>
                  <a:t>的主要区别是在签名生成时少了一次模逆计算，验签时操作次数相同，但是生成公钥时需要多一次模逆计算；</a:t>
                </a:r>
                <a:endParaRPr lang="en-US" altLang="zh-CN" dirty="0"/>
              </a:p>
              <a:p>
                <a:pPr marL="0" indent="0">
                  <a:buNone/>
                </a:pPr>
                <a:r>
                  <a:rPr lang="en-US" altLang="zh-CN" dirty="0"/>
                  <a:t>EC-KCDSA</a:t>
                </a:r>
                <a:r>
                  <a:rPr lang="zh-CN" altLang="zh-CN" dirty="0"/>
                  <a:t>只是在生成公钥时需要一次模逆计算，签名和验签时都不需要模逆计算，少了一次投影π的计算和两次</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a:rPr>
                          <m:t>𝑍</m:t>
                        </m:r>
                      </m:e>
                      <m:sub>
                        <m:r>
                          <a:rPr lang="en-US" altLang="zh-CN" i="1">
                            <a:latin typeface="Cambria Math"/>
                          </a:rPr>
                          <m:t>𝑛</m:t>
                        </m:r>
                      </m:sub>
                    </m:sSub>
                  </m:oMath>
                </a14:m>
                <a:r>
                  <a:rPr lang="zh-CN" altLang="zh-CN" dirty="0"/>
                  <a:t>中乘法计算，多了一次</a:t>
                </a:r>
                <a:r>
                  <a:rPr lang="en-US" altLang="zh-CN" dirty="0"/>
                  <a:t>HASH</a:t>
                </a:r>
                <a:r>
                  <a:rPr lang="zh-CN" altLang="zh-CN" dirty="0"/>
                  <a:t>函数的计算和两次异或运算。</a:t>
                </a:r>
                <a:endParaRPr lang="en-US" altLang="zh-CN" dirty="0"/>
              </a:p>
              <a:p>
                <a:pPr marL="0" indent="0">
                  <a:buNone/>
                </a:pPr>
                <a:r>
                  <a:rPr lang="en-US" altLang="zh-CN" dirty="0"/>
                  <a:t>HASH</a:t>
                </a:r>
                <a:r>
                  <a:rPr lang="zh-CN" altLang="zh-CN" dirty="0"/>
                  <a:t>函数的运用可以防止利用已有的签名进行攻击，</a:t>
                </a:r>
                <a:r>
                  <a:rPr lang="en-US" altLang="zh-CN" dirty="0"/>
                  <a:t>Elgamal</a:t>
                </a:r>
                <a:r>
                  <a:rPr lang="zh-CN" altLang="zh-CN" dirty="0"/>
                  <a:t>型数字签名应该防止对随机数</a:t>
                </a:r>
                <a:r>
                  <a:rPr lang="en-US" altLang="zh-CN" dirty="0"/>
                  <a:t>k</a:t>
                </a:r>
                <a:r>
                  <a:rPr lang="zh-CN" altLang="zh-CN" dirty="0"/>
                  <a:t>的攻击，在签名时同一个</a:t>
                </a:r>
                <a:r>
                  <a:rPr lang="en-US" altLang="zh-CN" dirty="0"/>
                  <a:t>k</a:t>
                </a:r>
                <a:r>
                  <a:rPr lang="zh-CN" altLang="zh-CN" dirty="0"/>
                  <a:t>会导致私钥</a:t>
                </a:r>
                <a:r>
                  <a:rPr lang="en-US" altLang="zh-CN" dirty="0"/>
                  <a:t>d</a:t>
                </a:r>
                <a:r>
                  <a:rPr lang="zh-CN" altLang="zh-CN" dirty="0"/>
                  <a:t>的暴漏。</a:t>
                </a:r>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1">
                <a:blip r:embed="rId2"/>
                <a:stretch>
                  <a:fillRect l="-1704" t="-3369" r="-1407" b="-134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55070358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ISO/IEC 15946-3 </a:t>
            </a:r>
            <a:r>
              <a:rPr lang="zh-CN" altLang="en-US" dirty="0"/>
              <a:t>密钥建立</a:t>
            </a:r>
          </a:p>
        </p:txBody>
      </p:sp>
      <p:sp>
        <p:nvSpPr>
          <p:cNvPr id="3" name="内容占位符 2"/>
          <p:cNvSpPr>
            <a:spLocks noGrp="1"/>
          </p:cNvSpPr>
          <p:nvPr>
            <p:ph idx="1"/>
          </p:nvPr>
        </p:nvSpPr>
        <p:spPr/>
        <p:txBody>
          <a:bodyPr>
            <a:normAutofit/>
          </a:bodyPr>
          <a:lstStyle/>
          <a:p>
            <a:pPr marL="0" indent="0">
              <a:buNone/>
            </a:pPr>
            <a:r>
              <a:rPr lang="zh-CN" altLang="zh-CN" dirty="0"/>
              <a:t>密钥派生函</a:t>
            </a:r>
            <a:r>
              <a:rPr lang="zh-CN" altLang="en-US" dirty="0"/>
              <a:t>推荐</a:t>
            </a:r>
            <a:r>
              <a:rPr lang="zh-CN" altLang="zh-CN" dirty="0"/>
              <a:t>三种标准</a:t>
            </a:r>
            <a:r>
              <a:rPr lang="en-US" altLang="zh-CN" dirty="0">
                <a:solidFill>
                  <a:srgbClr val="FF0000"/>
                </a:solidFill>
              </a:rPr>
              <a:t>IEEE P1363</a:t>
            </a:r>
            <a:r>
              <a:rPr lang="zh-CN" altLang="zh-CN" dirty="0">
                <a:solidFill>
                  <a:srgbClr val="FF0000"/>
                </a:solidFill>
              </a:rPr>
              <a:t>、</a:t>
            </a:r>
            <a:r>
              <a:rPr lang="en-US" altLang="zh-CN" dirty="0">
                <a:solidFill>
                  <a:srgbClr val="FF0000"/>
                </a:solidFill>
              </a:rPr>
              <a:t>ANSI X9.42</a:t>
            </a:r>
            <a:r>
              <a:rPr lang="zh-CN" altLang="zh-CN" dirty="0">
                <a:solidFill>
                  <a:srgbClr val="FF0000"/>
                </a:solidFill>
              </a:rPr>
              <a:t>、</a:t>
            </a:r>
            <a:r>
              <a:rPr lang="en-US" altLang="zh-CN" dirty="0">
                <a:solidFill>
                  <a:srgbClr val="FF0000"/>
                </a:solidFill>
              </a:rPr>
              <a:t>ANSI X9.63</a:t>
            </a:r>
            <a:r>
              <a:rPr lang="zh-CN" altLang="zh-CN" dirty="0"/>
              <a:t>给出的密钥派生函数。</a:t>
            </a:r>
          </a:p>
          <a:p>
            <a:pPr marL="0" indent="0">
              <a:buNone/>
            </a:pPr>
            <a:r>
              <a:rPr lang="zh-CN" altLang="zh-CN" dirty="0"/>
              <a:t>按照</a:t>
            </a:r>
            <a:r>
              <a:rPr lang="en-US" altLang="zh-CN" dirty="0">
                <a:solidFill>
                  <a:srgbClr val="FF0000"/>
                </a:solidFill>
              </a:rPr>
              <a:t>ISO/IEC 11770-3</a:t>
            </a:r>
            <a:r>
              <a:rPr lang="zh-CN" altLang="zh-CN" dirty="0">
                <a:solidFill>
                  <a:srgbClr val="FF0000"/>
                </a:solidFill>
              </a:rPr>
              <a:t>标准</a:t>
            </a:r>
            <a:r>
              <a:rPr lang="zh-CN" altLang="zh-CN" dirty="0"/>
              <a:t>，密钥协商机制共提供了</a:t>
            </a:r>
            <a:r>
              <a:rPr lang="en-US" altLang="zh-CN" dirty="0"/>
              <a:t>5</a:t>
            </a:r>
            <a:r>
              <a:rPr lang="zh-CN" altLang="en-US" dirty="0"/>
              <a:t>种</a:t>
            </a:r>
            <a:r>
              <a:rPr lang="zh-CN" altLang="zh-CN" dirty="0"/>
              <a:t>方式</a:t>
            </a:r>
            <a:r>
              <a:rPr lang="zh-CN" altLang="en-US" dirty="0"/>
              <a:t>；</a:t>
            </a:r>
            <a:r>
              <a:rPr lang="zh-CN" altLang="zh-CN" dirty="0"/>
              <a:t>在</a:t>
            </a:r>
            <a:r>
              <a:rPr lang="en-US" altLang="zh-CN" dirty="0"/>
              <a:t>ISO/IEC 11770-3</a:t>
            </a:r>
            <a:r>
              <a:rPr lang="zh-CN" altLang="zh-CN" dirty="0"/>
              <a:t>标准之外还提供了</a:t>
            </a:r>
            <a:r>
              <a:rPr lang="en-US" altLang="zh-CN" dirty="0"/>
              <a:t>2</a:t>
            </a:r>
            <a:r>
              <a:rPr lang="zh-CN" altLang="zh-CN" dirty="0"/>
              <a:t>种协商机制共</a:t>
            </a:r>
            <a:r>
              <a:rPr lang="en-US" altLang="zh-CN" dirty="0"/>
              <a:t>7</a:t>
            </a:r>
            <a:r>
              <a:rPr lang="zh-CN" altLang="zh-CN" dirty="0"/>
              <a:t>种方式。</a:t>
            </a:r>
            <a:endParaRPr lang="en-US" altLang="zh-CN" dirty="0"/>
          </a:p>
          <a:p>
            <a:pPr marL="0" indent="0">
              <a:buNone/>
            </a:pPr>
            <a:r>
              <a:rPr lang="zh-CN" altLang="zh-CN" dirty="0"/>
              <a:t>密钥传输共两种方式。</a:t>
            </a:r>
            <a:endParaRPr lang="en-US" altLang="zh-CN" dirty="0"/>
          </a:p>
          <a:p>
            <a:pPr marL="0" indent="0">
              <a:buNone/>
            </a:pPr>
            <a:r>
              <a:rPr lang="zh-CN" altLang="zh-CN" dirty="0"/>
              <a:t>密钥确认可以采用消息认证码（</a:t>
            </a:r>
            <a:r>
              <a:rPr lang="en-US" altLang="zh-CN" dirty="0"/>
              <a:t>MAC</a:t>
            </a:r>
            <a:r>
              <a:rPr lang="zh-CN" altLang="zh-CN" dirty="0"/>
              <a:t>）的方式实现。</a:t>
            </a:r>
            <a:endParaRPr lang="zh-CN" altLang="en-US" dirty="0"/>
          </a:p>
        </p:txBody>
      </p:sp>
    </p:spTree>
    <p:extLst>
      <p:ext uri="{BB962C8B-B14F-4D97-AF65-F5344CB8AC3E}">
        <p14:creationId xmlns:p14="http://schemas.microsoft.com/office/powerpoint/2010/main" val="92447262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600" dirty="0"/>
              <a:t>ISO/IEC 15946-4 </a:t>
            </a:r>
            <a:r>
              <a:rPr lang="zh-CN" altLang="en-US" sz="3600" dirty="0"/>
              <a:t>带消息恢复的数字签名</a:t>
            </a:r>
          </a:p>
        </p:txBody>
      </p:sp>
      <p:sp>
        <p:nvSpPr>
          <p:cNvPr id="3" name="内容占位符 2"/>
          <p:cNvSpPr>
            <a:spLocks noGrp="1"/>
          </p:cNvSpPr>
          <p:nvPr>
            <p:ph idx="1"/>
          </p:nvPr>
        </p:nvSpPr>
        <p:spPr/>
        <p:txBody>
          <a:bodyPr>
            <a:noAutofit/>
          </a:bodyPr>
          <a:lstStyle/>
          <a:p>
            <a:pPr marL="0" indent="0">
              <a:buNone/>
            </a:pPr>
            <a:r>
              <a:rPr lang="en-US" altLang="zh-CN" sz="2400" dirty="0"/>
              <a:t>    ISO/IEC 15946-4</a:t>
            </a:r>
            <a:r>
              <a:rPr lang="zh-CN" altLang="zh-CN" sz="2400" dirty="0"/>
              <a:t>部分是关于带消息恢复（完全或部分恢复）的数字签名。本标准给出了</a:t>
            </a:r>
            <a:r>
              <a:rPr lang="en-US" altLang="zh-CN" sz="2400" dirty="0"/>
              <a:t>5</a:t>
            </a:r>
            <a:r>
              <a:rPr lang="zh-CN" altLang="zh-CN" sz="2400" dirty="0"/>
              <a:t>种带消息恢复的数字签名机制：</a:t>
            </a:r>
            <a:r>
              <a:rPr lang="en-US" altLang="zh-CN" sz="2400" dirty="0"/>
              <a:t>ECNR</a:t>
            </a:r>
            <a:r>
              <a:rPr lang="zh-CN" altLang="zh-CN" sz="2400" dirty="0"/>
              <a:t>、</a:t>
            </a:r>
            <a:r>
              <a:rPr lang="en-US" altLang="zh-CN" sz="2400" dirty="0"/>
              <a:t>ECMR</a:t>
            </a:r>
            <a:r>
              <a:rPr lang="zh-CN" altLang="zh-CN" sz="2400" dirty="0"/>
              <a:t>、</a:t>
            </a:r>
            <a:r>
              <a:rPr lang="en-US" altLang="zh-CN" sz="2400" dirty="0"/>
              <a:t>ECAO</a:t>
            </a:r>
            <a:r>
              <a:rPr lang="zh-CN" altLang="zh-CN" sz="2400" dirty="0"/>
              <a:t>、</a:t>
            </a:r>
            <a:r>
              <a:rPr lang="en-US" altLang="zh-CN" sz="2400" dirty="0"/>
              <a:t>ECPV</a:t>
            </a:r>
            <a:r>
              <a:rPr lang="zh-CN" altLang="zh-CN" sz="2400" dirty="0"/>
              <a:t>、</a:t>
            </a:r>
            <a:r>
              <a:rPr lang="en-US" altLang="zh-CN" sz="2400" dirty="0"/>
              <a:t>ECKNR</a:t>
            </a:r>
            <a:r>
              <a:rPr lang="zh-CN" altLang="zh-CN" sz="2400" dirty="0"/>
              <a:t>。</a:t>
            </a:r>
          </a:p>
        </p:txBody>
      </p:sp>
    </p:spTree>
    <p:extLst>
      <p:ext uri="{BB962C8B-B14F-4D97-AF65-F5344CB8AC3E}">
        <p14:creationId xmlns:p14="http://schemas.microsoft.com/office/powerpoint/2010/main" val="27860562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zh-CN" dirty="0"/>
              <a:t>签名生成过程中各算法的运算比较</a:t>
            </a:r>
            <a:endParaRPr lang="zh-CN" altLang="en-US" dirty="0"/>
          </a:p>
        </p:txBody>
      </p:sp>
      <mc:AlternateContent xmlns:mc="http://schemas.openxmlformats.org/markup-compatibility/2006" xmlns:a14="http://schemas.microsoft.com/office/drawing/2010/main">
        <mc:Choice Requires="a14">
          <p:graphicFrame>
            <p:nvGraphicFramePr>
              <p:cNvPr id="4" name="内容占位符 3"/>
              <p:cNvGraphicFramePr>
                <a:graphicFrameLocks noGrp="1"/>
              </p:cNvGraphicFramePr>
              <p:nvPr>
                <p:ph idx="1"/>
                <p:extLst>
                  <p:ext uri="{D42A27DB-BD31-4B8C-83A1-F6EECF244321}">
                    <p14:modId xmlns:p14="http://schemas.microsoft.com/office/powerpoint/2010/main" val="76812531"/>
                  </p:ext>
                </p:extLst>
              </p:nvPr>
            </p:nvGraphicFramePr>
            <p:xfrm>
              <a:off x="1259632" y="2132858"/>
              <a:ext cx="6552727" cy="4148878"/>
            </p:xfrm>
            <a:graphic>
              <a:graphicData uri="http://schemas.openxmlformats.org/drawingml/2006/table">
                <a:tbl>
                  <a:tblPr firstRow="1" firstCol="1" bandRow="1">
                    <a:tableStyleId>{5C22544A-7EE6-4342-B048-85BDC9FD1C3A}</a:tableStyleId>
                  </a:tblPr>
                  <a:tblGrid>
                    <a:gridCol w="1824382">
                      <a:extLst>
                        <a:ext uri="{9D8B030D-6E8A-4147-A177-3AD203B41FA5}">
                          <a16:colId xmlns:a16="http://schemas.microsoft.com/office/drawing/2014/main" val="20000"/>
                        </a:ext>
                      </a:extLst>
                    </a:gridCol>
                    <a:gridCol w="875335">
                      <a:extLst>
                        <a:ext uri="{9D8B030D-6E8A-4147-A177-3AD203B41FA5}">
                          <a16:colId xmlns:a16="http://schemas.microsoft.com/office/drawing/2014/main" val="20001"/>
                        </a:ext>
                      </a:extLst>
                    </a:gridCol>
                    <a:gridCol w="875335">
                      <a:extLst>
                        <a:ext uri="{9D8B030D-6E8A-4147-A177-3AD203B41FA5}">
                          <a16:colId xmlns:a16="http://schemas.microsoft.com/office/drawing/2014/main" val="20002"/>
                        </a:ext>
                      </a:extLst>
                    </a:gridCol>
                    <a:gridCol w="979761">
                      <a:extLst>
                        <a:ext uri="{9D8B030D-6E8A-4147-A177-3AD203B41FA5}">
                          <a16:colId xmlns:a16="http://schemas.microsoft.com/office/drawing/2014/main" val="20003"/>
                        </a:ext>
                      </a:extLst>
                    </a:gridCol>
                    <a:gridCol w="1088794">
                      <a:extLst>
                        <a:ext uri="{9D8B030D-6E8A-4147-A177-3AD203B41FA5}">
                          <a16:colId xmlns:a16="http://schemas.microsoft.com/office/drawing/2014/main" val="20004"/>
                        </a:ext>
                      </a:extLst>
                    </a:gridCol>
                    <a:gridCol w="909120">
                      <a:extLst>
                        <a:ext uri="{9D8B030D-6E8A-4147-A177-3AD203B41FA5}">
                          <a16:colId xmlns:a16="http://schemas.microsoft.com/office/drawing/2014/main" val="20005"/>
                        </a:ext>
                      </a:extLst>
                    </a:gridCol>
                  </a:tblGrid>
                  <a:tr h="308398">
                    <a:tc>
                      <a:txBody>
                        <a:bodyPr/>
                        <a:lstStyle/>
                        <a:p>
                          <a:pPr algn="l">
                            <a:spcAft>
                              <a:spcPts val="0"/>
                            </a:spcAft>
                          </a:pPr>
                          <a:r>
                            <a:rPr lang="en-US" sz="1800" kern="0" dirty="0">
                              <a:effectLst/>
                            </a:rPr>
                            <a:t> </a:t>
                          </a:r>
                          <a:endParaRPr lang="zh-CN" sz="1800" kern="100" dirty="0">
                            <a:effectLst/>
                            <a:latin typeface="Calibri"/>
                            <a:ea typeface="宋体"/>
                            <a:cs typeface="Times New Roman"/>
                          </a:endParaRPr>
                        </a:p>
                      </a:txBody>
                      <a:tcPr marL="68580" marR="68580" marT="0" marB="0"/>
                    </a:tc>
                    <a:tc>
                      <a:txBody>
                        <a:bodyPr/>
                        <a:lstStyle/>
                        <a:p>
                          <a:pPr algn="l">
                            <a:spcAft>
                              <a:spcPts val="0"/>
                            </a:spcAft>
                          </a:pPr>
                          <a:r>
                            <a:rPr lang="en-US" sz="1800" kern="0">
                              <a:effectLst/>
                            </a:rPr>
                            <a:t>ECNR</a:t>
                          </a:r>
                          <a:endParaRPr lang="zh-CN" sz="1800" kern="100">
                            <a:effectLst/>
                            <a:latin typeface="Calibri"/>
                            <a:ea typeface="宋体"/>
                            <a:cs typeface="Times New Roman"/>
                          </a:endParaRPr>
                        </a:p>
                      </a:txBody>
                      <a:tcPr marL="68580" marR="68580" marT="0" marB="0"/>
                    </a:tc>
                    <a:tc>
                      <a:txBody>
                        <a:bodyPr/>
                        <a:lstStyle/>
                        <a:p>
                          <a:pPr algn="l">
                            <a:spcAft>
                              <a:spcPts val="0"/>
                            </a:spcAft>
                          </a:pPr>
                          <a:r>
                            <a:rPr lang="en-US" sz="1800" kern="0">
                              <a:effectLst/>
                            </a:rPr>
                            <a:t>ECMR</a:t>
                          </a:r>
                          <a:endParaRPr lang="zh-CN" sz="1800" kern="100">
                            <a:effectLst/>
                            <a:latin typeface="Calibri"/>
                            <a:ea typeface="宋体"/>
                            <a:cs typeface="Times New Roman"/>
                          </a:endParaRPr>
                        </a:p>
                      </a:txBody>
                      <a:tcPr marL="68580" marR="68580" marT="0" marB="0"/>
                    </a:tc>
                    <a:tc>
                      <a:txBody>
                        <a:bodyPr/>
                        <a:lstStyle/>
                        <a:p>
                          <a:pPr algn="l">
                            <a:spcAft>
                              <a:spcPts val="0"/>
                            </a:spcAft>
                          </a:pPr>
                          <a:r>
                            <a:rPr lang="en-US" sz="1800" kern="0">
                              <a:effectLst/>
                            </a:rPr>
                            <a:t>ECAO</a:t>
                          </a:r>
                          <a:endParaRPr lang="zh-CN" sz="1800" kern="100">
                            <a:effectLst/>
                            <a:latin typeface="Calibri"/>
                            <a:ea typeface="宋体"/>
                            <a:cs typeface="Times New Roman"/>
                          </a:endParaRPr>
                        </a:p>
                      </a:txBody>
                      <a:tcPr marL="68580" marR="68580" marT="0" marB="0"/>
                    </a:tc>
                    <a:tc>
                      <a:txBody>
                        <a:bodyPr/>
                        <a:lstStyle/>
                        <a:p>
                          <a:pPr algn="l">
                            <a:spcAft>
                              <a:spcPts val="0"/>
                            </a:spcAft>
                          </a:pPr>
                          <a:r>
                            <a:rPr lang="en-US" sz="1800" kern="0">
                              <a:effectLst/>
                            </a:rPr>
                            <a:t>ECPV</a:t>
                          </a:r>
                          <a:endParaRPr lang="zh-CN" sz="1800" kern="100">
                            <a:effectLst/>
                            <a:latin typeface="Calibri"/>
                            <a:ea typeface="宋体"/>
                            <a:cs typeface="Times New Roman"/>
                          </a:endParaRPr>
                        </a:p>
                      </a:txBody>
                      <a:tcPr marL="68580" marR="68580" marT="0" marB="0"/>
                    </a:tc>
                    <a:tc>
                      <a:txBody>
                        <a:bodyPr/>
                        <a:lstStyle/>
                        <a:p>
                          <a:pPr algn="l">
                            <a:spcAft>
                              <a:spcPts val="0"/>
                            </a:spcAft>
                          </a:pPr>
                          <a:r>
                            <a:rPr lang="en-US" sz="1800" kern="0">
                              <a:effectLst/>
                            </a:rPr>
                            <a:t>ECKNR</a:t>
                          </a:r>
                          <a:endParaRPr lang="zh-CN" sz="1800" kern="100">
                            <a:effectLst/>
                            <a:latin typeface="Calibri"/>
                            <a:ea typeface="宋体"/>
                            <a:cs typeface="Times New Roman"/>
                          </a:endParaRPr>
                        </a:p>
                      </a:txBody>
                      <a:tcPr marL="68580" marR="68580" marT="0" marB="0"/>
                    </a:tc>
                    <a:extLst>
                      <a:ext uri="{0D108BD9-81ED-4DB2-BD59-A6C34878D82A}">
                        <a16:rowId xmlns:a16="http://schemas.microsoft.com/office/drawing/2014/main" val="10000"/>
                      </a:ext>
                    </a:extLst>
                  </a:tr>
                  <a:tr h="1349241">
                    <a:tc>
                      <a:txBody>
                        <a:bodyPr/>
                        <a:lstStyle/>
                        <a:p>
                          <a:pPr algn="l">
                            <a:spcAft>
                              <a:spcPts val="0"/>
                            </a:spcAft>
                          </a:pPr>
                          <a:r>
                            <a:rPr lang="zh-CN" sz="1800" kern="0" dirty="0">
                              <a:effectLst/>
                            </a:rPr>
                            <a:t>参数</a:t>
                          </a:r>
                          <a:endParaRPr lang="zh-CN" sz="1800" kern="100" dirty="0">
                            <a:effectLst/>
                            <a:latin typeface="Calibri"/>
                            <a:ea typeface="宋体"/>
                            <a:cs typeface="Times New Roman"/>
                          </a:endParaRPr>
                        </a:p>
                      </a:txBody>
                      <a:tcPr marL="68580" marR="68580" marT="0" marB="0"/>
                    </a:tc>
                    <a:tc>
                      <a:txBody>
                        <a:bodyPr/>
                        <a:lstStyle/>
                        <a:p>
                          <a:pPr algn="l">
                            <a:spcAft>
                              <a:spcPts val="0"/>
                            </a:spcAft>
                          </a:pPr>
                          <a14:m>
                            <m:oMathPara xmlns:m="http://schemas.openxmlformats.org/officeDocument/2006/math">
                              <m:oMathParaPr>
                                <m:jc m:val="centerGroup"/>
                              </m:oMathParaPr>
                              <m:oMath xmlns:m="http://schemas.openxmlformats.org/officeDocument/2006/math">
                                <m:sSub>
                                  <m:sSubPr>
                                    <m:ctrlPr>
                                      <a:rPr lang="zh-CN" sz="1800" i="1" kern="0">
                                        <a:effectLst/>
                                        <a:latin typeface="Cambria Math" panose="02040503050406030204" pitchFamily="18" charset="0"/>
                                      </a:rPr>
                                    </m:ctrlPr>
                                  </m:sSubPr>
                                  <m:e>
                                    <m:r>
                                      <a:rPr lang="en-US" sz="1800" kern="0">
                                        <a:effectLst/>
                                        <a:latin typeface="Cambria Math"/>
                                      </a:rPr>
                                      <m:t>𝑋</m:t>
                                    </m:r>
                                  </m:e>
                                  <m:sub>
                                    <m:r>
                                      <a:rPr lang="en-US" sz="1800" kern="0">
                                        <a:effectLst/>
                                        <a:latin typeface="Cambria Math"/>
                                      </a:rPr>
                                      <m:t>𝐴</m:t>
                                    </m:r>
                                  </m:sub>
                                </m:sSub>
                              </m:oMath>
                            </m:oMathPara>
                          </a14:m>
                          <a:endParaRPr lang="zh-CN" sz="1800" kern="100" dirty="0">
                            <a:effectLst/>
                          </a:endParaRPr>
                        </a:p>
                        <a:p>
                          <a:pPr algn="l">
                            <a:spcAft>
                              <a:spcPts val="0"/>
                            </a:spcAft>
                          </a:pPr>
                          <a14:m>
                            <m:oMathPara xmlns:m="http://schemas.openxmlformats.org/officeDocument/2006/math">
                              <m:oMathParaPr>
                                <m:jc m:val="centerGroup"/>
                              </m:oMathParaPr>
                              <m:oMath xmlns:m="http://schemas.openxmlformats.org/officeDocument/2006/math">
                                <m:sSub>
                                  <m:sSubPr>
                                    <m:ctrlPr>
                                      <a:rPr lang="zh-CN" sz="1800" i="1" kern="0">
                                        <a:effectLst/>
                                        <a:latin typeface="Cambria Math" panose="02040503050406030204" pitchFamily="18" charset="0"/>
                                      </a:rPr>
                                    </m:ctrlPr>
                                  </m:sSubPr>
                                  <m:e>
                                    <m:r>
                                      <a:rPr lang="en-US" sz="1800" kern="0">
                                        <a:effectLst/>
                                        <a:latin typeface="Cambria Math"/>
                                      </a:rPr>
                                      <m:t>𝑌</m:t>
                                    </m:r>
                                  </m:e>
                                  <m:sub>
                                    <m:r>
                                      <a:rPr lang="en-US" sz="1800" kern="0">
                                        <a:effectLst/>
                                        <a:latin typeface="Cambria Math"/>
                                      </a:rPr>
                                      <m:t>𝐴</m:t>
                                    </m:r>
                                  </m:sub>
                                </m:sSub>
                              </m:oMath>
                            </m:oMathPara>
                          </a14:m>
                          <a:endParaRPr lang="zh-CN" sz="1800" kern="100" dirty="0">
                            <a:effectLst/>
                            <a:latin typeface="Calibri"/>
                            <a:ea typeface="宋体"/>
                            <a:cs typeface="Times New Roman"/>
                          </a:endParaRPr>
                        </a:p>
                      </a:txBody>
                      <a:tcPr marL="68580" marR="68580" marT="0" marB="0"/>
                    </a:tc>
                    <a:tc>
                      <a:txBody>
                        <a:bodyPr/>
                        <a:lstStyle/>
                        <a:p>
                          <a:pPr algn="l">
                            <a:spcAft>
                              <a:spcPts val="0"/>
                            </a:spcAft>
                          </a:pPr>
                          <a14:m>
                            <m:oMathPara xmlns:m="http://schemas.openxmlformats.org/officeDocument/2006/math">
                              <m:oMathParaPr>
                                <m:jc m:val="centerGroup"/>
                              </m:oMathParaPr>
                              <m:oMath xmlns:m="http://schemas.openxmlformats.org/officeDocument/2006/math">
                                <m:sSub>
                                  <m:sSubPr>
                                    <m:ctrlPr>
                                      <a:rPr lang="zh-CN" sz="1800" i="1" kern="0">
                                        <a:effectLst/>
                                        <a:latin typeface="Cambria Math" panose="02040503050406030204" pitchFamily="18" charset="0"/>
                                      </a:rPr>
                                    </m:ctrlPr>
                                  </m:sSubPr>
                                  <m:e>
                                    <m:r>
                                      <a:rPr lang="en-US" sz="1800" kern="0">
                                        <a:effectLst/>
                                        <a:latin typeface="Cambria Math"/>
                                      </a:rPr>
                                      <m:t>𝑋</m:t>
                                    </m:r>
                                  </m:e>
                                  <m:sub>
                                    <m:r>
                                      <a:rPr lang="en-US" sz="1800" kern="0">
                                        <a:effectLst/>
                                        <a:latin typeface="Cambria Math"/>
                                      </a:rPr>
                                      <m:t>𝐴</m:t>
                                    </m:r>
                                  </m:sub>
                                </m:sSub>
                              </m:oMath>
                            </m:oMathPara>
                          </a14:m>
                          <a:endParaRPr lang="zh-CN" sz="1800" kern="100" dirty="0">
                            <a:effectLst/>
                          </a:endParaRPr>
                        </a:p>
                        <a:p>
                          <a:pPr algn="l">
                            <a:spcAft>
                              <a:spcPts val="0"/>
                            </a:spcAft>
                          </a:pPr>
                          <a14:m>
                            <m:oMathPara xmlns:m="http://schemas.openxmlformats.org/officeDocument/2006/math">
                              <m:oMathParaPr>
                                <m:jc m:val="centerGroup"/>
                              </m:oMathParaPr>
                              <m:oMath xmlns:m="http://schemas.openxmlformats.org/officeDocument/2006/math">
                                <m:sSub>
                                  <m:sSubPr>
                                    <m:ctrlPr>
                                      <a:rPr lang="zh-CN" sz="1800" i="1" kern="0">
                                        <a:effectLst/>
                                        <a:latin typeface="Cambria Math" panose="02040503050406030204" pitchFamily="18" charset="0"/>
                                      </a:rPr>
                                    </m:ctrlPr>
                                  </m:sSubPr>
                                  <m:e>
                                    <m:r>
                                      <a:rPr lang="en-US" sz="1800" kern="0">
                                        <a:effectLst/>
                                        <a:latin typeface="Cambria Math"/>
                                      </a:rPr>
                                      <m:t>𝑌</m:t>
                                    </m:r>
                                  </m:e>
                                  <m:sub>
                                    <m:r>
                                      <a:rPr lang="en-US" sz="1800" kern="0">
                                        <a:effectLst/>
                                        <a:latin typeface="Cambria Math"/>
                                      </a:rPr>
                                      <m:t>𝐴</m:t>
                                    </m:r>
                                  </m:sub>
                                </m:sSub>
                              </m:oMath>
                            </m:oMathPara>
                          </a14:m>
                          <a:endParaRPr lang="zh-CN" sz="1800" kern="100" dirty="0">
                            <a:effectLst/>
                          </a:endParaRPr>
                        </a:p>
                        <a:p>
                          <a:pPr algn="l">
                            <a:spcAft>
                              <a:spcPts val="0"/>
                            </a:spcAft>
                          </a:pPr>
                          <a14:m>
                            <m:oMathPara xmlns:m="http://schemas.openxmlformats.org/officeDocument/2006/math">
                              <m:oMathParaPr>
                                <m:jc m:val="centerGroup"/>
                              </m:oMathParaPr>
                              <m:oMath xmlns:m="http://schemas.openxmlformats.org/officeDocument/2006/math">
                                <m:r>
                                  <m:rPr>
                                    <m:sty m:val="p"/>
                                  </m:rPr>
                                  <a:rPr lang="en-US" sz="1800" kern="0">
                                    <a:effectLst/>
                                    <a:latin typeface="Cambria Math"/>
                                  </a:rPr>
                                  <m:t>Hash</m:t>
                                </m:r>
                              </m:oMath>
                            </m:oMathPara>
                          </a14:m>
                          <a:endParaRPr lang="zh-CN" sz="1800" kern="100" dirty="0">
                            <a:effectLst/>
                            <a:latin typeface="Calibri"/>
                            <a:ea typeface="宋体"/>
                            <a:cs typeface="Times New Roman"/>
                          </a:endParaRPr>
                        </a:p>
                      </a:txBody>
                      <a:tcPr marL="68580" marR="68580" marT="0" marB="0"/>
                    </a:tc>
                    <a:tc>
                      <a:txBody>
                        <a:bodyPr/>
                        <a:lstStyle/>
                        <a:p>
                          <a:pPr algn="l">
                            <a:spcAft>
                              <a:spcPts val="0"/>
                            </a:spcAft>
                          </a:pPr>
                          <a14:m>
                            <m:oMathPara xmlns:m="http://schemas.openxmlformats.org/officeDocument/2006/math">
                              <m:oMathParaPr>
                                <m:jc m:val="centerGroup"/>
                              </m:oMathParaPr>
                              <m:oMath xmlns:m="http://schemas.openxmlformats.org/officeDocument/2006/math">
                                <m:sSub>
                                  <m:sSubPr>
                                    <m:ctrlPr>
                                      <a:rPr lang="zh-CN" sz="1800" i="1" kern="0">
                                        <a:effectLst/>
                                        <a:latin typeface="Cambria Math" panose="02040503050406030204" pitchFamily="18" charset="0"/>
                                      </a:rPr>
                                    </m:ctrlPr>
                                  </m:sSubPr>
                                  <m:e>
                                    <m:r>
                                      <a:rPr lang="en-US" sz="1800" kern="0">
                                        <a:effectLst/>
                                        <a:latin typeface="Cambria Math"/>
                                      </a:rPr>
                                      <m:t>𝑋</m:t>
                                    </m:r>
                                  </m:e>
                                  <m:sub>
                                    <m:r>
                                      <a:rPr lang="en-US" sz="1800" kern="0">
                                        <a:effectLst/>
                                        <a:latin typeface="Cambria Math"/>
                                      </a:rPr>
                                      <m:t>𝐴</m:t>
                                    </m:r>
                                  </m:sub>
                                </m:sSub>
                              </m:oMath>
                            </m:oMathPara>
                          </a14:m>
                          <a:endParaRPr lang="zh-CN" sz="1800" kern="100" dirty="0">
                            <a:effectLst/>
                          </a:endParaRPr>
                        </a:p>
                        <a:p>
                          <a:pPr algn="l">
                            <a:spcAft>
                              <a:spcPts val="0"/>
                            </a:spcAft>
                          </a:pPr>
                          <a14:m>
                            <m:oMathPara xmlns:m="http://schemas.openxmlformats.org/officeDocument/2006/math">
                              <m:oMathParaPr>
                                <m:jc m:val="centerGroup"/>
                              </m:oMathParaPr>
                              <m:oMath xmlns:m="http://schemas.openxmlformats.org/officeDocument/2006/math">
                                <m:sSub>
                                  <m:sSubPr>
                                    <m:ctrlPr>
                                      <a:rPr lang="zh-CN" sz="1800" i="1" kern="0">
                                        <a:effectLst/>
                                        <a:latin typeface="Cambria Math" panose="02040503050406030204" pitchFamily="18" charset="0"/>
                                      </a:rPr>
                                    </m:ctrlPr>
                                  </m:sSubPr>
                                  <m:e>
                                    <m:r>
                                      <a:rPr lang="en-US" sz="1800" kern="0">
                                        <a:effectLst/>
                                        <a:latin typeface="Cambria Math"/>
                                      </a:rPr>
                                      <m:t>𝑌</m:t>
                                    </m:r>
                                  </m:e>
                                  <m:sub>
                                    <m:r>
                                      <a:rPr lang="en-US" sz="1800" kern="0">
                                        <a:effectLst/>
                                        <a:latin typeface="Cambria Math"/>
                                      </a:rPr>
                                      <m:t>𝐴</m:t>
                                    </m:r>
                                  </m:sub>
                                </m:sSub>
                              </m:oMath>
                            </m:oMathPara>
                          </a14:m>
                          <a:endParaRPr lang="zh-CN" sz="1800" kern="100" dirty="0">
                            <a:effectLst/>
                          </a:endParaRPr>
                        </a:p>
                        <a:p>
                          <a:pPr algn="l">
                            <a:spcAft>
                              <a:spcPts val="0"/>
                            </a:spcAft>
                          </a:pPr>
                          <a14:m>
                            <m:oMathPara xmlns:m="http://schemas.openxmlformats.org/officeDocument/2006/math">
                              <m:oMathParaPr>
                                <m:jc m:val="centerGroup"/>
                              </m:oMathParaPr>
                              <m:oMath xmlns:m="http://schemas.openxmlformats.org/officeDocument/2006/math">
                                <m:sSub>
                                  <m:sSubPr>
                                    <m:ctrlPr>
                                      <a:rPr lang="zh-CN" sz="1800" i="1" kern="0">
                                        <a:effectLst/>
                                        <a:latin typeface="Cambria Math" panose="02040503050406030204" pitchFamily="18" charset="0"/>
                                      </a:rPr>
                                    </m:ctrlPr>
                                  </m:sSubPr>
                                  <m:e>
                                    <m:r>
                                      <a:rPr lang="en-US" sz="1800" kern="0">
                                        <a:effectLst/>
                                        <a:latin typeface="Cambria Math"/>
                                      </a:rPr>
                                      <m:t>𝐻𝑎𝑠h</m:t>
                                    </m:r>
                                  </m:e>
                                  <m:sub>
                                    <m:r>
                                      <a:rPr lang="en-US" sz="1800" kern="0">
                                        <a:effectLst/>
                                        <a:latin typeface="Cambria Math"/>
                                      </a:rPr>
                                      <m:t>1</m:t>
                                    </m:r>
                                  </m:sub>
                                </m:sSub>
                              </m:oMath>
                            </m:oMathPara>
                          </a14:m>
                          <a:endParaRPr lang="zh-CN" sz="1800" kern="100" dirty="0">
                            <a:effectLst/>
                          </a:endParaRPr>
                        </a:p>
                        <a:p>
                          <a:pPr algn="l">
                            <a:spcAft>
                              <a:spcPts val="0"/>
                            </a:spcAft>
                          </a:pPr>
                          <a14:m>
                            <m:oMathPara xmlns:m="http://schemas.openxmlformats.org/officeDocument/2006/math">
                              <m:oMathParaPr>
                                <m:jc m:val="centerGroup"/>
                              </m:oMathParaPr>
                              <m:oMath xmlns:m="http://schemas.openxmlformats.org/officeDocument/2006/math">
                                <m:sSub>
                                  <m:sSubPr>
                                    <m:ctrlPr>
                                      <a:rPr lang="zh-CN" sz="1800" i="1" kern="0">
                                        <a:effectLst/>
                                        <a:latin typeface="Cambria Math" panose="02040503050406030204" pitchFamily="18" charset="0"/>
                                      </a:rPr>
                                    </m:ctrlPr>
                                  </m:sSubPr>
                                  <m:e>
                                    <m:r>
                                      <a:rPr lang="en-US" sz="1800" kern="0">
                                        <a:effectLst/>
                                        <a:latin typeface="Cambria Math"/>
                                      </a:rPr>
                                      <m:t>𝐻𝑎𝑠h</m:t>
                                    </m:r>
                                  </m:e>
                                  <m:sub>
                                    <m:r>
                                      <a:rPr lang="en-US" sz="1800" kern="0">
                                        <a:effectLst/>
                                        <a:latin typeface="Cambria Math"/>
                                      </a:rPr>
                                      <m:t>2</m:t>
                                    </m:r>
                                  </m:sub>
                                </m:sSub>
                              </m:oMath>
                            </m:oMathPara>
                          </a14:m>
                          <a:endParaRPr lang="zh-CN" sz="1800" kern="100" dirty="0">
                            <a:effectLst/>
                          </a:endParaRPr>
                        </a:p>
                        <a:p>
                          <a:pPr algn="l">
                            <a:spcAft>
                              <a:spcPts val="0"/>
                            </a:spcAft>
                          </a:pPr>
                          <a14:m>
                            <m:oMathPara xmlns:m="http://schemas.openxmlformats.org/officeDocument/2006/math">
                              <m:oMathParaPr>
                                <m:jc m:val="centerGroup"/>
                              </m:oMathParaPr>
                              <m:oMath xmlns:m="http://schemas.openxmlformats.org/officeDocument/2006/math">
                                <m:sSub>
                                  <m:sSubPr>
                                    <m:ctrlPr>
                                      <a:rPr lang="zh-CN" sz="1800" i="1" kern="0">
                                        <a:effectLst/>
                                        <a:latin typeface="Cambria Math" panose="02040503050406030204" pitchFamily="18" charset="0"/>
                                      </a:rPr>
                                    </m:ctrlPr>
                                  </m:sSubPr>
                                  <m:e>
                                    <m:r>
                                      <a:rPr lang="en-US" sz="1800" kern="0">
                                        <a:effectLst/>
                                        <a:latin typeface="Cambria Math"/>
                                      </a:rPr>
                                      <m:t>𝐻𝑎𝑠h</m:t>
                                    </m:r>
                                  </m:e>
                                  <m:sub>
                                    <m:r>
                                      <a:rPr lang="en-US" sz="1800" kern="0">
                                        <a:effectLst/>
                                        <a:latin typeface="Cambria Math"/>
                                      </a:rPr>
                                      <m:t>3</m:t>
                                    </m:r>
                                  </m:sub>
                                </m:sSub>
                              </m:oMath>
                            </m:oMathPara>
                          </a14:m>
                          <a:endParaRPr lang="zh-CN" sz="1800" kern="100" dirty="0">
                            <a:effectLst/>
                            <a:latin typeface="Calibri"/>
                            <a:ea typeface="宋体"/>
                            <a:cs typeface="Times New Roman"/>
                          </a:endParaRPr>
                        </a:p>
                      </a:txBody>
                      <a:tcPr marL="68580" marR="68580" marT="0" marB="0"/>
                    </a:tc>
                    <a:tc>
                      <a:txBody>
                        <a:bodyPr/>
                        <a:lstStyle/>
                        <a:p>
                          <a:pPr algn="l">
                            <a:spcAft>
                              <a:spcPts val="0"/>
                            </a:spcAft>
                          </a:pPr>
                          <a14:m>
                            <m:oMathPara xmlns:m="http://schemas.openxmlformats.org/officeDocument/2006/math">
                              <m:oMathParaPr>
                                <m:jc m:val="centerGroup"/>
                              </m:oMathParaPr>
                              <m:oMath xmlns:m="http://schemas.openxmlformats.org/officeDocument/2006/math">
                                <m:sSub>
                                  <m:sSubPr>
                                    <m:ctrlPr>
                                      <a:rPr lang="zh-CN" sz="1800" i="1" kern="0">
                                        <a:effectLst/>
                                        <a:latin typeface="Cambria Math" panose="02040503050406030204" pitchFamily="18" charset="0"/>
                                      </a:rPr>
                                    </m:ctrlPr>
                                  </m:sSubPr>
                                  <m:e>
                                    <m:r>
                                      <a:rPr lang="en-US" sz="1800" kern="0">
                                        <a:effectLst/>
                                        <a:latin typeface="Cambria Math"/>
                                      </a:rPr>
                                      <m:t>𝑋</m:t>
                                    </m:r>
                                  </m:e>
                                  <m:sub>
                                    <m:r>
                                      <a:rPr lang="en-US" sz="1800" kern="0">
                                        <a:effectLst/>
                                        <a:latin typeface="Cambria Math"/>
                                      </a:rPr>
                                      <m:t>𝐴</m:t>
                                    </m:r>
                                  </m:sub>
                                </m:sSub>
                              </m:oMath>
                            </m:oMathPara>
                          </a14:m>
                          <a:endParaRPr lang="zh-CN" sz="1800" kern="100" dirty="0">
                            <a:effectLst/>
                          </a:endParaRPr>
                        </a:p>
                        <a:p>
                          <a:pPr algn="l">
                            <a:spcAft>
                              <a:spcPts val="0"/>
                            </a:spcAft>
                          </a:pPr>
                          <a14:m>
                            <m:oMathPara xmlns:m="http://schemas.openxmlformats.org/officeDocument/2006/math">
                              <m:oMathParaPr>
                                <m:jc m:val="centerGroup"/>
                              </m:oMathParaPr>
                              <m:oMath xmlns:m="http://schemas.openxmlformats.org/officeDocument/2006/math">
                                <m:sSub>
                                  <m:sSubPr>
                                    <m:ctrlPr>
                                      <a:rPr lang="zh-CN" sz="1800" i="1" kern="0">
                                        <a:effectLst/>
                                        <a:latin typeface="Cambria Math" panose="02040503050406030204" pitchFamily="18" charset="0"/>
                                      </a:rPr>
                                    </m:ctrlPr>
                                  </m:sSubPr>
                                  <m:e>
                                    <m:r>
                                      <a:rPr lang="en-US" sz="1800" kern="0">
                                        <a:effectLst/>
                                        <a:latin typeface="Cambria Math"/>
                                      </a:rPr>
                                      <m:t>𝑌</m:t>
                                    </m:r>
                                  </m:e>
                                  <m:sub>
                                    <m:r>
                                      <a:rPr lang="en-US" sz="1800" kern="0">
                                        <a:effectLst/>
                                        <a:latin typeface="Cambria Math"/>
                                      </a:rPr>
                                      <m:t>𝐴</m:t>
                                    </m:r>
                                  </m:sub>
                                </m:sSub>
                              </m:oMath>
                            </m:oMathPara>
                          </a14:m>
                          <a:endParaRPr lang="zh-CN" sz="1800" kern="100" dirty="0">
                            <a:effectLst/>
                          </a:endParaRPr>
                        </a:p>
                        <a:p>
                          <a:pPr algn="l">
                            <a:spcAft>
                              <a:spcPts val="0"/>
                            </a:spcAft>
                          </a:pPr>
                          <a14:m>
                            <m:oMathPara xmlns:m="http://schemas.openxmlformats.org/officeDocument/2006/math">
                              <m:oMathParaPr>
                                <m:jc m:val="centerGroup"/>
                              </m:oMathParaPr>
                              <m:oMath xmlns:m="http://schemas.openxmlformats.org/officeDocument/2006/math">
                                <m:r>
                                  <m:rPr>
                                    <m:sty m:val="p"/>
                                  </m:rPr>
                                  <a:rPr lang="en-US" sz="1800" kern="0">
                                    <a:effectLst/>
                                    <a:latin typeface="Cambria Math"/>
                                  </a:rPr>
                                  <m:t>Hash</m:t>
                                </m:r>
                              </m:oMath>
                            </m:oMathPara>
                          </a14:m>
                          <a:endParaRPr lang="zh-CN" sz="1800" kern="100" dirty="0">
                            <a:effectLst/>
                          </a:endParaRPr>
                        </a:p>
                        <a:p>
                          <a:pPr algn="l">
                            <a:spcAft>
                              <a:spcPts val="0"/>
                            </a:spcAft>
                          </a:pPr>
                          <a14:m>
                            <m:oMathPara xmlns:m="http://schemas.openxmlformats.org/officeDocument/2006/math">
                              <m:oMathParaPr>
                                <m:jc m:val="centerGroup"/>
                              </m:oMathParaPr>
                              <m:oMath xmlns:m="http://schemas.openxmlformats.org/officeDocument/2006/math">
                                <m:r>
                                  <m:rPr>
                                    <m:sty m:val="p"/>
                                  </m:rPr>
                                  <a:rPr lang="en-US" sz="1800" kern="0">
                                    <a:effectLst/>
                                    <a:latin typeface="Cambria Math"/>
                                  </a:rPr>
                                  <m:t>SYM</m:t>
                                </m:r>
                              </m:oMath>
                            </m:oMathPara>
                          </a14:m>
                          <a:endParaRPr lang="zh-CN" sz="1800" kern="100" dirty="0">
                            <a:effectLst/>
                          </a:endParaRPr>
                        </a:p>
                        <a:p>
                          <a:pPr algn="l">
                            <a:spcAft>
                              <a:spcPts val="0"/>
                            </a:spcAft>
                          </a:pPr>
                          <a14:m>
                            <m:oMathPara xmlns:m="http://schemas.openxmlformats.org/officeDocument/2006/math">
                              <m:oMathParaPr>
                                <m:jc m:val="centerGroup"/>
                              </m:oMathParaPr>
                              <m:oMath xmlns:m="http://schemas.openxmlformats.org/officeDocument/2006/math">
                                <m:r>
                                  <m:rPr>
                                    <m:sty m:val="p"/>
                                  </m:rPr>
                                  <a:rPr lang="en-US" sz="1800" kern="0">
                                    <a:effectLst/>
                                    <a:latin typeface="Cambria Math"/>
                                  </a:rPr>
                                  <m:t>KDF</m:t>
                                </m:r>
                              </m:oMath>
                            </m:oMathPara>
                          </a14:m>
                          <a:endParaRPr lang="zh-CN" sz="1800" kern="100" dirty="0">
                            <a:effectLst/>
                            <a:latin typeface="Calibri"/>
                            <a:ea typeface="宋体"/>
                            <a:cs typeface="Times New Roman"/>
                          </a:endParaRPr>
                        </a:p>
                      </a:txBody>
                      <a:tcPr marL="68580" marR="68580" marT="0" marB="0"/>
                    </a:tc>
                    <a:tc>
                      <a:txBody>
                        <a:bodyPr/>
                        <a:lstStyle/>
                        <a:p>
                          <a:pPr algn="l">
                            <a:spcAft>
                              <a:spcPts val="0"/>
                            </a:spcAft>
                          </a:pPr>
                          <a14:m>
                            <m:oMathPara xmlns:m="http://schemas.openxmlformats.org/officeDocument/2006/math">
                              <m:oMathParaPr>
                                <m:jc m:val="centerGroup"/>
                              </m:oMathParaPr>
                              <m:oMath xmlns:m="http://schemas.openxmlformats.org/officeDocument/2006/math">
                                <m:sSub>
                                  <m:sSubPr>
                                    <m:ctrlPr>
                                      <a:rPr lang="zh-CN" sz="1800" i="1" kern="0">
                                        <a:effectLst/>
                                        <a:latin typeface="Cambria Math" panose="02040503050406030204" pitchFamily="18" charset="0"/>
                                      </a:rPr>
                                    </m:ctrlPr>
                                  </m:sSubPr>
                                  <m:e>
                                    <m:r>
                                      <a:rPr lang="en-US" sz="1800" kern="0">
                                        <a:effectLst/>
                                        <a:latin typeface="Cambria Math"/>
                                      </a:rPr>
                                      <m:t>𝑋</m:t>
                                    </m:r>
                                  </m:e>
                                  <m:sub>
                                    <m:r>
                                      <a:rPr lang="en-US" sz="1800" kern="0">
                                        <a:effectLst/>
                                        <a:latin typeface="Cambria Math"/>
                                      </a:rPr>
                                      <m:t>𝐴</m:t>
                                    </m:r>
                                  </m:sub>
                                </m:sSub>
                              </m:oMath>
                            </m:oMathPara>
                          </a14:m>
                          <a:endParaRPr lang="zh-CN" sz="1800" kern="100">
                            <a:effectLst/>
                          </a:endParaRPr>
                        </a:p>
                        <a:p>
                          <a:pPr algn="l">
                            <a:spcAft>
                              <a:spcPts val="0"/>
                            </a:spcAft>
                          </a:pPr>
                          <a14:m>
                            <m:oMathPara xmlns:m="http://schemas.openxmlformats.org/officeDocument/2006/math">
                              <m:oMathParaPr>
                                <m:jc m:val="centerGroup"/>
                              </m:oMathParaPr>
                              <m:oMath xmlns:m="http://schemas.openxmlformats.org/officeDocument/2006/math">
                                <m:sSub>
                                  <m:sSubPr>
                                    <m:ctrlPr>
                                      <a:rPr lang="zh-CN" sz="1800" i="1" kern="0">
                                        <a:effectLst/>
                                        <a:latin typeface="Cambria Math" panose="02040503050406030204" pitchFamily="18" charset="0"/>
                                      </a:rPr>
                                    </m:ctrlPr>
                                  </m:sSubPr>
                                  <m:e>
                                    <m:r>
                                      <a:rPr lang="en-US" sz="1800" kern="0">
                                        <a:effectLst/>
                                        <a:latin typeface="Cambria Math"/>
                                      </a:rPr>
                                      <m:t>𝑌</m:t>
                                    </m:r>
                                  </m:e>
                                  <m:sub>
                                    <m:r>
                                      <a:rPr lang="en-US" sz="1800" kern="0">
                                        <a:effectLst/>
                                        <a:latin typeface="Cambria Math"/>
                                      </a:rPr>
                                      <m:t>𝐴</m:t>
                                    </m:r>
                                  </m:sub>
                                </m:sSub>
                              </m:oMath>
                            </m:oMathPara>
                          </a14:m>
                          <a:endParaRPr lang="zh-CN" sz="1800" kern="100">
                            <a:effectLst/>
                          </a:endParaRPr>
                        </a:p>
                        <a:p>
                          <a:pPr algn="l">
                            <a:spcAft>
                              <a:spcPts val="0"/>
                            </a:spcAft>
                          </a:pPr>
                          <a14:m>
                            <m:oMathPara xmlns:m="http://schemas.openxmlformats.org/officeDocument/2006/math">
                              <m:oMathParaPr>
                                <m:jc m:val="centerGroup"/>
                              </m:oMathParaPr>
                              <m:oMath xmlns:m="http://schemas.openxmlformats.org/officeDocument/2006/math">
                                <m:sSub>
                                  <m:sSubPr>
                                    <m:ctrlPr>
                                      <a:rPr lang="zh-CN" sz="1800" i="1" kern="0">
                                        <a:effectLst/>
                                        <a:latin typeface="Cambria Math" panose="02040503050406030204" pitchFamily="18" charset="0"/>
                                      </a:rPr>
                                    </m:ctrlPr>
                                  </m:sSubPr>
                                  <m:e>
                                    <m:r>
                                      <a:rPr lang="en-US" sz="1800" kern="0">
                                        <a:effectLst/>
                                        <a:latin typeface="Cambria Math"/>
                                      </a:rPr>
                                      <m:t>𝐻𝑎𝑠h</m:t>
                                    </m:r>
                                  </m:e>
                                  <m:sub>
                                    <m:r>
                                      <a:rPr lang="en-US" sz="1800" kern="0">
                                        <a:effectLst/>
                                        <a:latin typeface="Cambria Math"/>
                                      </a:rPr>
                                      <m:t>1</m:t>
                                    </m:r>
                                  </m:sub>
                                </m:sSub>
                              </m:oMath>
                            </m:oMathPara>
                          </a14:m>
                          <a:endParaRPr lang="zh-CN" sz="1800" kern="100">
                            <a:effectLst/>
                          </a:endParaRPr>
                        </a:p>
                        <a:p>
                          <a:pPr algn="l">
                            <a:spcAft>
                              <a:spcPts val="0"/>
                            </a:spcAft>
                          </a:pPr>
                          <a14:m>
                            <m:oMathPara xmlns:m="http://schemas.openxmlformats.org/officeDocument/2006/math">
                              <m:oMathParaPr>
                                <m:jc m:val="centerGroup"/>
                              </m:oMathParaPr>
                              <m:oMath xmlns:m="http://schemas.openxmlformats.org/officeDocument/2006/math">
                                <m:sSub>
                                  <m:sSubPr>
                                    <m:ctrlPr>
                                      <a:rPr lang="zh-CN" sz="1800" i="1" kern="0">
                                        <a:effectLst/>
                                        <a:latin typeface="Cambria Math" panose="02040503050406030204" pitchFamily="18" charset="0"/>
                                      </a:rPr>
                                    </m:ctrlPr>
                                  </m:sSubPr>
                                  <m:e>
                                    <m:r>
                                      <a:rPr lang="en-US" sz="1800" kern="0">
                                        <a:effectLst/>
                                        <a:latin typeface="Cambria Math"/>
                                      </a:rPr>
                                      <m:t>𝐻𝑎𝑠h</m:t>
                                    </m:r>
                                  </m:e>
                                  <m:sub>
                                    <m:r>
                                      <a:rPr lang="en-US" sz="1800" kern="0">
                                        <a:effectLst/>
                                        <a:latin typeface="Cambria Math"/>
                                      </a:rPr>
                                      <m:t>2</m:t>
                                    </m:r>
                                  </m:sub>
                                </m:sSub>
                              </m:oMath>
                            </m:oMathPara>
                          </a14:m>
                          <a:endParaRPr lang="zh-CN" sz="1800" kern="100">
                            <a:effectLst/>
                            <a:latin typeface="Calibri"/>
                            <a:ea typeface="宋体"/>
                            <a:cs typeface="Times New Roman"/>
                          </a:endParaRPr>
                        </a:p>
                      </a:txBody>
                      <a:tcPr marL="68580" marR="68580" marT="0" marB="0"/>
                    </a:tc>
                    <a:extLst>
                      <a:ext uri="{0D108BD9-81ED-4DB2-BD59-A6C34878D82A}">
                        <a16:rowId xmlns:a16="http://schemas.microsoft.com/office/drawing/2014/main" val="10001"/>
                      </a:ext>
                    </a:extLst>
                  </a:tr>
                  <a:tr h="269848">
                    <a:tc>
                      <a:txBody>
                        <a:bodyPr/>
                        <a:lstStyle/>
                        <a:p>
                          <a:pPr algn="l">
                            <a:spcAft>
                              <a:spcPts val="0"/>
                            </a:spcAft>
                          </a:pPr>
                          <a:r>
                            <a:rPr lang="en-US" sz="1800" kern="0">
                              <a:effectLst/>
                            </a:rPr>
                            <a:t>Hash</a:t>
                          </a:r>
                          <a:endParaRPr lang="zh-CN" sz="1800" kern="100">
                            <a:effectLst/>
                            <a:latin typeface="Calibri"/>
                            <a:ea typeface="宋体"/>
                            <a:cs typeface="Times New Roman"/>
                          </a:endParaRPr>
                        </a:p>
                      </a:txBody>
                      <a:tcPr marL="68580" marR="68580" marT="0" marB="0"/>
                    </a:tc>
                    <a:tc>
                      <a:txBody>
                        <a:bodyPr/>
                        <a:lstStyle/>
                        <a:p>
                          <a:pPr algn="ctr">
                            <a:spcAft>
                              <a:spcPts val="0"/>
                            </a:spcAft>
                          </a:pPr>
                          <a:r>
                            <a:rPr lang="en-US" sz="1800" kern="0">
                              <a:effectLst/>
                            </a:rPr>
                            <a:t>1</a:t>
                          </a:r>
                          <a:endParaRPr lang="zh-CN" sz="1800" kern="100">
                            <a:effectLst/>
                            <a:latin typeface="Calibri"/>
                            <a:ea typeface="宋体"/>
                            <a:cs typeface="Times New Roman"/>
                          </a:endParaRPr>
                        </a:p>
                      </a:txBody>
                      <a:tcPr marL="68580" marR="68580" marT="0" marB="0"/>
                    </a:tc>
                    <a:tc>
                      <a:txBody>
                        <a:bodyPr/>
                        <a:lstStyle/>
                        <a:p>
                          <a:pPr algn="ctr">
                            <a:spcAft>
                              <a:spcPts val="0"/>
                            </a:spcAft>
                          </a:pPr>
                          <a:r>
                            <a:rPr lang="en-US" sz="1800" kern="0">
                              <a:effectLst/>
                            </a:rPr>
                            <a:t>2</a:t>
                          </a:r>
                          <a:endParaRPr lang="zh-CN" sz="1800" kern="100">
                            <a:effectLst/>
                            <a:latin typeface="Calibri"/>
                            <a:ea typeface="宋体"/>
                            <a:cs typeface="Times New Roman"/>
                          </a:endParaRPr>
                        </a:p>
                      </a:txBody>
                      <a:tcPr marL="68580" marR="68580" marT="0" marB="0"/>
                    </a:tc>
                    <a:tc>
                      <a:txBody>
                        <a:bodyPr/>
                        <a:lstStyle/>
                        <a:p>
                          <a:pPr algn="ctr">
                            <a:spcAft>
                              <a:spcPts val="0"/>
                            </a:spcAft>
                          </a:pPr>
                          <a:r>
                            <a:rPr lang="en-US" sz="1800" kern="0">
                              <a:effectLst/>
                            </a:rPr>
                            <a:t>3</a:t>
                          </a:r>
                          <a:endParaRPr lang="zh-CN" sz="1800" kern="100">
                            <a:effectLst/>
                            <a:latin typeface="Calibri"/>
                            <a:ea typeface="宋体"/>
                            <a:cs typeface="Times New Roman"/>
                          </a:endParaRPr>
                        </a:p>
                      </a:txBody>
                      <a:tcPr marL="68580" marR="68580" marT="0" marB="0"/>
                    </a:tc>
                    <a:tc>
                      <a:txBody>
                        <a:bodyPr/>
                        <a:lstStyle/>
                        <a:p>
                          <a:pPr algn="ctr">
                            <a:spcAft>
                              <a:spcPts val="0"/>
                            </a:spcAft>
                          </a:pPr>
                          <a:r>
                            <a:rPr lang="en-US" sz="1800" kern="0" dirty="0">
                              <a:effectLst/>
                            </a:rPr>
                            <a:t>2</a:t>
                          </a:r>
                          <a:endParaRPr lang="zh-CN" sz="1800" kern="100" dirty="0">
                            <a:effectLst/>
                            <a:latin typeface="Calibri"/>
                            <a:ea typeface="宋体"/>
                            <a:cs typeface="Times New Roman"/>
                          </a:endParaRPr>
                        </a:p>
                      </a:txBody>
                      <a:tcPr marL="68580" marR="68580" marT="0" marB="0"/>
                    </a:tc>
                    <a:tc>
                      <a:txBody>
                        <a:bodyPr/>
                        <a:lstStyle/>
                        <a:p>
                          <a:pPr algn="ctr">
                            <a:spcAft>
                              <a:spcPts val="0"/>
                            </a:spcAft>
                          </a:pPr>
                          <a:r>
                            <a:rPr lang="en-US" sz="1800" kern="0">
                              <a:effectLst/>
                            </a:rPr>
                            <a:t>2</a:t>
                          </a:r>
                          <a:endParaRPr lang="zh-CN" sz="1800" kern="100">
                            <a:effectLst/>
                            <a:latin typeface="Calibri"/>
                            <a:ea typeface="宋体"/>
                            <a:cs typeface="Times New Roman"/>
                          </a:endParaRPr>
                        </a:p>
                      </a:txBody>
                      <a:tcPr marL="68580" marR="68580" marT="0" marB="0"/>
                    </a:tc>
                    <a:extLst>
                      <a:ext uri="{0D108BD9-81ED-4DB2-BD59-A6C34878D82A}">
                        <a16:rowId xmlns:a16="http://schemas.microsoft.com/office/drawing/2014/main" val="10002"/>
                      </a:ext>
                    </a:extLst>
                  </a:tr>
                  <a:tr h="269848">
                    <a:tc>
                      <a:txBody>
                        <a:bodyPr/>
                        <a:lstStyle/>
                        <a:p>
                          <a:pPr algn="l">
                            <a:spcAft>
                              <a:spcPts val="0"/>
                            </a:spcAft>
                          </a:pPr>
                          <a:r>
                            <a:rPr lang="zh-CN" sz="1800" kern="0">
                              <a:effectLst/>
                            </a:rPr>
                            <a:t>对称密钥密码</a:t>
                          </a:r>
                          <a:endParaRPr lang="zh-CN" sz="1800" kern="100">
                            <a:effectLst/>
                            <a:latin typeface="Calibri"/>
                            <a:ea typeface="宋体"/>
                            <a:cs typeface="Times New Roman"/>
                          </a:endParaRPr>
                        </a:p>
                      </a:txBody>
                      <a:tcPr marL="68580" marR="68580" marT="0" marB="0"/>
                    </a:tc>
                    <a:tc>
                      <a:txBody>
                        <a:bodyPr/>
                        <a:lstStyle/>
                        <a:p>
                          <a:pPr algn="ctr">
                            <a:spcAft>
                              <a:spcPts val="0"/>
                            </a:spcAft>
                          </a:pPr>
                          <a:r>
                            <a:rPr lang="en-US" sz="1800" kern="0">
                              <a:effectLst/>
                            </a:rPr>
                            <a:t>0</a:t>
                          </a:r>
                          <a:endParaRPr lang="zh-CN" sz="1800" kern="100">
                            <a:effectLst/>
                            <a:latin typeface="Calibri"/>
                            <a:ea typeface="宋体"/>
                            <a:cs typeface="Times New Roman"/>
                          </a:endParaRPr>
                        </a:p>
                      </a:txBody>
                      <a:tcPr marL="68580" marR="68580" marT="0" marB="0"/>
                    </a:tc>
                    <a:tc>
                      <a:txBody>
                        <a:bodyPr/>
                        <a:lstStyle/>
                        <a:p>
                          <a:pPr algn="ctr">
                            <a:spcAft>
                              <a:spcPts val="0"/>
                            </a:spcAft>
                          </a:pPr>
                          <a:r>
                            <a:rPr lang="en-US" sz="1800" kern="0">
                              <a:effectLst/>
                            </a:rPr>
                            <a:t>0</a:t>
                          </a:r>
                          <a:endParaRPr lang="zh-CN" sz="1800" kern="100">
                            <a:effectLst/>
                            <a:latin typeface="Calibri"/>
                            <a:ea typeface="宋体"/>
                            <a:cs typeface="Times New Roman"/>
                          </a:endParaRPr>
                        </a:p>
                      </a:txBody>
                      <a:tcPr marL="68580" marR="68580" marT="0" marB="0"/>
                    </a:tc>
                    <a:tc>
                      <a:txBody>
                        <a:bodyPr/>
                        <a:lstStyle/>
                        <a:p>
                          <a:pPr algn="ctr">
                            <a:spcAft>
                              <a:spcPts val="0"/>
                            </a:spcAft>
                          </a:pPr>
                          <a:r>
                            <a:rPr lang="en-US" sz="1800" kern="0">
                              <a:effectLst/>
                            </a:rPr>
                            <a:t>0</a:t>
                          </a:r>
                          <a:endParaRPr lang="zh-CN" sz="1800" kern="100">
                            <a:effectLst/>
                            <a:latin typeface="Calibri"/>
                            <a:ea typeface="宋体"/>
                            <a:cs typeface="Times New Roman"/>
                          </a:endParaRPr>
                        </a:p>
                      </a:txBody>
                      <a:tcPr marL="68580" marR="68580" marT="0" marB="0"/>
                    </a:tc>
                    <a:tc>
                      <a:txBody>
                        <a:bodyPr/>
                        <a:lstStyle/>
                        <a:p>
                          <a:pPr algn="ctr">
                            <a:spcAft>
                              <a:spcPts val="0"/>
                            </a:spcAft>
                          </a:pPr>
                          <a:r>
                            <a:rPr lang="en-US" sz="1800" kern="0" dirty="0">
                              <a:effectLst/>
                            </a:rPr>
                            <a:t>1</a:t>
                          </a:r>
                          <a:endParaRPr lang="zh-CN" sz="1800" kern="100" dirty="0">
                            <a:effectLst/>
                            <a:latin typeface="Calibri"/>
                            <a:ea typeface="宋体"/>
                            <a:cs typeface="Times New Roman"/>
                          </a:endParaRPr>
                        </a:p>
                      </a:txBody>
                      <a:tcPr marL="68580" marR="68580" marT="0" marB="0"/>
                    </a:tc>
                    <a:tc>
                      <a:txBody>
                        <a:bodyPr/>
                        <a:lstStyle/>
                        <a:p>
                          <a:pPr algn="ctr">
                            <a:spcAft>
                              <a:spcPts val="0"/>
                            </a:spcAft>
                          </a:pPr>
                          <a:r>
                            <a:rPr lang="en-US" sz="1800" kern="0" dirty="0">
                              <a:effectLst/>
                            </a:rPr>
                            <a:t>0</a:t>
                          </a:r>
                          <a:endParaRPr lang="zh-CN" sz="1800" kern="100" dirty="0">
                            <a:effectLst/>
                            <a:latin typeface="Calibri"/>
                            <a:ea typeface="宋体"/>
                            <a:cs typeface="Times New Roman"/>
                          </a:endParaRPr>
                        </a:p>
                      </a:txBody>
                      <a:tcPr marL="68580" marR="68580" marT="0" marB="0"/>
                    </a:tc>
                    <a:extLst>
                      <a:ext uri="{0D108BD9-81ED-4DB2-BD59-A6C34878D82A}">
                        <a16:rowId xmlns:a16="http://schemas.microsoft.com/office/drawing/2014/main" val="10003"/>
                      </a:ext>
                    </a:extLst>
                  </a:tr>
                  <a:tr h="269848">
                    <a:tc>
                      <a:txBody>
                        <a:bodyPr/>
                        <a:lstStyle/>
                        <a:p>
                          <a:pPr algn="l">
                            <a:spcAft>
                              <a:spcPts val="0"/>
                            </a:spcAft>
                          </a:pPr>
                          <a14:m>
                            <m:oMath xmlns:m="http://schemas.openxmlformats.org/officeDocument/2006/math">
                              <m:r>
                                <m:rPr>
                                  <m:sty m:val="p"/>
                                </m:rPr>
                                <a:rPr lang="en-US" sz="1800" kern="0">
                                  <a:effectLst/>
                                  <a:latin typeface="Cambria Math"/>
                                </a:rPr>
                                <m:t>F</m:t>
                              </m:r>
                              <m:r>
                                <a:rPr lang="en-US" sz="1800" kern="0">
                                  <a:effectLst/>
                                  <a:latin typeface="Cambria Math"/>
                                </a:rPr>
                                <m:t>(</m:t>
                              </m:r>
                              <m:r>
                                <m:rPr>
                                  <m:sty m:val="p"/>
                                </m:rPr>
                                <a:rPr lang="en-US" sz="1800" kern="0">
                                  <a:effectLst/>
                                  <a:latin typeface="Cambria Math"/>
                                </a:rPr>
                                <m:t>n</m:t>
                              </m:r>
                              <m:r>
                                <a:rPr lang="en-US" sz="1800" kern="0">
                                  <a:effectLst/>
                                  <a:latin typeface="Cambria Math"/>
                                </a:rPr>
                                <m:t>)</m:t>
                              </m:r>
                            </m:oMath>
                          </a14:m>
                          <a:r>
                            <a:rPr lang="zh-CN" sz="1800" kern="0">
                              <a:effectLst/>
                            </a:rPr>
                            <a:t>中的逆</a:t>
                          </a:r>
                          <a:endParaRPr lang="zh-CN" sz="1800" kern="100">
                            <a:effectLst/>
                            <a:latin typeface="Calibri"/>
                            <a:ea typeface="宋体"/>
                            <a:cs typeface="Times New Roman"/>
                          </a:endParaRPr>
                        </a:p>
                      </a:txBody>
                      <a:tcPr marL="68580" marR="68580" marT="0" marB="0"/>
                    </a:tc>
                    <a:tc>
                      <a:txBody>
                        <a:bodyPr/>
                        <a:lstStyle/>
                        <a:p>
                          <a:pPr algn="ctr">
                            <a:spcAft>
                              <a:spcPts val="0"/>
                            </a:spcAft>
                          </a:pPr>
                          <a:r>
                            <a:rPr lang="en-US" sz="1800" kern="0">
                              <a:effectLst/>
                            </a:rPr>
                            <a:t>0</a:t>
                          </a:r>
                          <a:endParaRPr lang="zh-CN" sz="1800" kern="100">
                            <a:effectLst/>
                            <a:latin typeface="Calibri"/>
                            <a:ea typeface="宋体"/>
                            <a:cs typeface="Times New Roman"/>
                          </a:endParaRPr>
                        </a:p>
                      </a:txBody>
                      <a:tcPr marL="68580" marR="68580" marT="0" marB="0"/>
                    </a:tc>
                    <a:tc>
                      <a:txBody>
                        <a:bodyPr/>
                        <a:lstStyle/>
                        <a:p>
                          <a:pPr algn="ctr">
                            <a:spcAft>
                              <a:spcPts val="0"/>
                            </a:spcAft>
                          </a:pPr>
                          <a:r>
                            <a:rPr lang="en-US" sz="1800" kern="0">
                              <a:effectLst/>
                            </a:rPr>
                            <a:t>0</a:t>
                          </a:r>
                          <a:endParaRPr lang="zh-CN" sz="1800" kern="100">
                            <a:effectLst/>
                            <a:latin typeface="Calibri"/>
                            <a:ea typeface="宋体"/>
                            <a:cs typeface="Times New Roman"/>
                          </a:endParaRPr>
                        </a:p>
                      </a:txBody>
                      <a:tcPr marL="68580" marR="68580" marT="0" marB="0"/>
                    </a:tc>
                    <a:tc>
                      <a:txBody>
                        <a:bodyPr/>
                        <a:lstStyle/>
                        <a:p>
                          <a:pPr algn="ctr">
                            <a:spcAft>
                              <a:spcPts val="0"/>
                            </a:spcAft>
                          </a:pPr>
                          <a:r>
                            <a:rPr lang="en-US" sz="1800" kern="0">
                              <a:effectLst/>
                            </a:rPr>
                            <a:t>0</a:t>
                          </a:r>
                          <a:endParaRPr lang="zh-CN" sz="1800" kern="100">
                            <a:effectLst/>
                            <a:latin typeface="Calibri"/>
                            <a:ea typeface="宋体"/>
                            <a:cs typeface="Times New Roman"/>
                          </a:endParaRPr>
                        </a:p>
                      </a:txBody>
                      <a:tcPr marL="68580" marR="68580" marT="0" marB="0"/>
                    </a:tc>
                    <a:tc>
                      <a:txBody>
                        <a:bodyPr/>
                        <a:lstStyle/>
                        <a:p>
                          <a:pPr algn="ctr">
                            <a:spcAft>
                              <a:spcPts val="0"/>
                            </a:spcAft>
                          </a:pPr>
                          <a:r>
                            <a:rPr lang="en-US" sz="1800" kern="0">
                              <a:effectLst/>
                            </a:rPr>
                            <a:t>0</a:t>
                          </a:r>
                          <a:endParaRPr lang="zh-CN" sz="1800" kern="100">
                            <a:effectLst/>
                            <a:latin typeface="Calibri"/>
                            <a:ea typeface="宋体"/>
                            <a:cs typeface="Times New Roman"/>
                          </a:endParaRPr>
                        </a:p>
                      </a:txBody>
                      <a:tcPr marL="68580" marR="68580" marT="0" marB="0"/>
                    </a:tc>
                    <a:tc>
                      <a:txBody>
                        <a:bodyPr/>
                        <a:lstStyle/>
                        <a:p>
                          <a:pPr algn="ctr">
                            <a:spcAft>
                              <a:spcPts val="0"/>
                            </a:spcAft>
                          </a:pPr>
                          <a:r>
                            <a:rPr lang="en-US" sz="1800" kern="0" dirty="0">
                              <a:effectLst/>
                            </a:rPr>
                            <a:t>0</a:t>
                          </a:r>
                          <a:endParaRPr lang="zh-CN" sz="1800" kern="100" dirty="0">
                            <a:effectLst/>
                            <a:latin typeface="Calibri"/>
                            <a:ea typeface="宋体"/>
                            <a:cs typeface="Times New Roman"/>
                          </a:endParaRPr>
                        </a:p>
                      </a:txBody>
                      <a:tcPr marL="68580" marR="68580" marT="0" marB="0"/>
                    </a:tc>
                    <a:extLst>
                      <a:ext uri="{0D108BD9-81ED-4DB2-BD59-A6C34878D82A}">
                        <a16:rowId xmlns:a16="http://schemas.microsoft.com/office/drawing/2014/main" val="10004"/>
                      </a:ext>
                    </a:extLst>
                  </a:tr>
                  <a:tr h="269848">
                    <a:tc>
                      <a:txBody>
                        <a:bodyPr/>
                        <a:lstStyle/>
                        <a:p>
                          <a:pPr algn="l">
                            <a:spcAft>
                              <a:spcPts val="0"/>
                            </a:spcAft>
                          </a:pPr>
                          <a14:m>
                            <m:oMath xmlns:m="http://schemas.openxmlformats.org/officeDocument/2006/math">
                              <m:r>
                                <m:rPr>
                                  <m:sty m:val="p"/>
                                </m:rPr>
                                <a:rPr lang="en-US" sz="1800" kern="0">
                                  <a:effectLst/>
                                  <a:latin typeface="Cambria Math"/>
                                </a:rPr>
                                <m:t>F</m:t>
                              </m:r>
                              <m:r>
                                <a:rPr lang="en-US" sz="1800" kern="0">
                                  <a:effectLst/>
                                  <a:latin typeface="Cambria Math"/>
                                </a:rPr>
                                <m:t>(</m:t>
                              </m:r>
                              <m:r>
                                <m:rPr>
                                  <m:sty m:val="p"/>
                                </m:rPr>
                                <a:rPr lang="en-US" sz="1800" kern="0">
                                  <a:effectLst/>
                                  <a:latin typeface="Cambria Math"/>
                                </a:rPr>
                                <m:t>n</m:t>
                              </m:r>
                              <m:r>
                                <a:rPr lang="en-US" sz="1800" kern="0">
                                  <a:effectLst/>
                                  <a:latin typeface="Cambria Math"/>
                                </a:rPr>
                                <m:t>)</m:t>
                              </m:r>
                            </m:oMath>
                          </a14:m>
                          <a:r>
                            <a:rPr lang="zh-CN" sz="1800" kern="0">
                              <a:effectLst/>
                            </a:rPr>
                            <a:t>中的乘法</a:t>
                          </a:r>
                          <a:endParaRPr lang="zh-CN" sz="1800" kern="100">
                            <a:effectLst/>
                            <a:latin typeface="Calibri"/>
                            <a:ea typeface="宋体"/>
                            <a:cs typeface="Times New Roman"/>
                          </a:endParaRPr>
                        </a:p>
                      </a:txBody>
                      <a:tcPr marL="68580" marR="68580" marT="0" marB="0"/>
                    </a:tc>
                    <a:tc>
                      <a:txBody>
                        <a:bodyPr/>
                        <a:lstStyle/>
                        <a:p>
                          <a:pPr algn="ctr">
                            <a:spcAft>
                              <a:spcPts val="0"/>
                            </a:spcAft>
                          </a:pPr>
                          <a:r>
                            <a:rPr lang="en-US" sz="1800" kern="0">
                              <a:effectLst/>
                            </a:rPr>
                            <a:t>1</a:t>
                          </a:r>
                          <a:endParaRPr lang="zh-CN" sz="1800" kern="100">
                            <a:effectLst/>
                            <a:latin typeface="Calibri"/>
                            <a:ea typeface="宋体"/>
                            <a:cs typeface="Times New Roman"/>
                          </a:endParaRPr>
                        </a:p>
                      </a:txBody>
                      <a:tcPr marL="68580" marR="68580" marT="0" marB="0"/>
                    </a:tc>
                    <a:tc>
                      <a:txBody>
                        <a:bodyPr/>
                        <a:lstStyle/>
                        <a:p>
                          <a:pPr algn="ctr">
                            <a:spcAft>
                              <a:spcPts val="0"/>
                            </a:spcAft>
                          </a:pPr>
                          <a:r>
                            <a:rPr lang="en-US" sz="1800" kern="0">
                              <a:effectLst/>
                            </a:rPr>
                            <a:t>2</a:t>
                          </a:r>
                          <a:endParaRPr lang="zh-CN" sz="1800" kern="100">
                            <a:effectLst/>
                            <a:latin typeface="Calibri"/>
                            <a:ea typeface="宋体"/>
                            <a:cs typeface="Times New Roman"/>
                          </a:endParaRPr>
                        </a:p>
                      </a:txBody>
                      <a:tcPr marL="68580" marR="68580" marT="0" marB="0"/>
                    </a:tc>
                    <a:tc>
                      <a:txBody>
                        <a:bodyPr/>
                        <a:lstStyle/>
                        <a:p>
                          <a:pPr algn="ctr">
                            <a:spcAft>
                              <a:spcPts val="0"/>
                            </a:spcAft>
                          </a:pPr>
                          <a:r>
                            <a:rPr lang="en-US" sz="1800" kern="0">
                              <a:effectLst/>
                            </a:rPr>
                            <a:t>1</a:t>
                          </a:r>
                          <a:endParaRPr lang="zh-CN" sz="1800" kern="100">
                            <a:effectLst/>
                            <a:latin typeface="Calibri"/>
                            <a:ea typeface="宋体"/>
                            <a:cs typeface="Times New Roman"/>
                          </a:endParaRPr>
                        </a:p>
                      </a:txBody>
                      <a:tcPr marL="68580" marR="68580" marT="0" marB="0"/>
                    </a:tc>
                    <a:tc>
                      <a:txBody>
                        <a:bodyPr/>
                        <a:lstStyle/>
                        <a:p>
                          <a:pPr algn="ctr">
                            <a:spcAft>
                              <a:spcPts val="0"/>
                            </a:spcAft>
                          </a:pPr>
                          <a:r>
                            <a:rPr lang="en-US" sz="1800" kern="0">
                              <a:effectLst/>
                            </a:rPr>
                            <a:t>1</a:t>
                          </a:r>
                          <a:endParaRPr lang="zh-CN" sz="1800" kern="100">
                            <a:effectLst/>
                            <a:latin typeface="Calibri"/>
                            <a:ea typeface="宋体"/>
                            <a:cs typeface="Times New Roman"/>
                          </a:endParaRPr>
                        </a:p>
                      </a:txBody>
                      <a:tcPr marL="68580" marR="68580" marT="0" marB="0"/>
                    </a:tc>
                    <a:tc>
                      <a:txBody>
                        <a:bodyPr/>
                        <a:lstStyle/>
                        <a:p>
                          <a:pPr algn="ctr">
                            <a:spcAft>
                              <a:spcPts val="0"/>
                            </a:spcAft>
                          </a:pPr>
                          <a:r>
                            <a:rPr lang="en-US" sz="1800" kern="0" dirty="0">
                              <a:effectLst/>
                            </a:rPr>
                            <a:t>1</a:t>
                          </a:r>
                          <a:endParaRPr lang="zh-CN" sz="1800" kern="100" dirty="0">
                            <a:effectLst/>
                            <a:latin typeface="Calibri"/>
                            <a:ea typeface="宋体"/>
                            <a:cs typeface="Times New Roman"/>
                          </a:endParaRPr>
                        </a:p>
                      </a:txBody>
                      <a:tcPr marL="68580" marR="68580" marT="0" marB="0"/>
                    </a:tc>
                    <a:extLst>
                      <a:ext uri="{0D108BD9-81ED-4DB2-BD59-A6C34878D82A}">
                        <a16:rowId xmlns:a16="http://schemas.microsoft.com/office/drawing/2014/main" val="10005"/>
                      </a:ext>
                    </a:extLst>
                  </a:tr>
                  <a:tr h="269848">
                    <a:tc>
                      <a:txBody>
                        <a:bodyPr/>
                        <a:lstStyle/>
                        <a:p>
                          <a:pPr algn="l">
                            <a:spcAft>
                              <a:spcPts val="0"/>
                            </a:spcAft>
                          </a:pPr>
                          <a14:m>
                            <m:oMath xmlns:m="http://schemas.openxmlformats.org/officeDocument/2006/math">
                              <m:r>
                                <m:rPr>
                                  <m:sty m:val="p"/>
                                </m:rPr>
                                <a:rPr lang="en-US" sz="1800" kern="0">
                                  <a:effectLst/>
                                  <a:latin typeface="Cambria Math"/>
                                </a:rPr>
                                <m:t>F</m:t>
                              </m:r>
                              <m:r>
                                <a:rPr lang="en-US" sz="1800" kern="0">
                                  <a:effectLst/>
                                  <a:latin typeface="Cambria Math"/>
                                </a:rPr>
                                <m:t>(</m:t>
                              </m:r>
                              <m:r>
                                <m:rPr>
                                  <m:sty m:val="p"/>
                                </m:rPr>
                                <a:rPr lang="en-US" sz="1800" kern="0">
                                  <a:effectLst/>
                                  <a:latin typeface="Cambria Math"/>
                                </a:rPr>
                                <m:t>n</m:t>
                              </m:r>
                              <m:r>
                                <a:rPr lang="en-US" sz="1800" kern="0">
                                  <a:effectLst/>
                                  <a:latin typeface="Cambria Math"/>
                                </a:rPr>
                                <m:t>)</m:t>
                              </m:r>
                            </m:oMath>
                          </a14:m>
                          <a:r>
                            <a:rPr lang="zh-CN" sz="1800" kern="0">
                              <a:effectLst/>
                            </a:rPr>
                            <a:t>中的加法</a:t>
                          </a:r>
                          <a:endParaRPr lang="zh-CN" sz="1800" kern="100">
                            <a:effectLst/>
                            <a:latin typeface="Calibri"/>
                            <a:ea typeface="宋体"/>
                            <a:cs typeface="Times New Roman"/>
                          </a:endParaRPr>
                        </a:p>
                      </a:txBody>
                      <a:tcPr marL="68580" marR="68580" marT="0" marB="0"/>
                    </a:tc>
                    <a:tc>
                      <a:txBody>
                        <a:bodyPr/>
                        <a:lstStyle/>
                        <a:p>
                          <a:pPr algn="ctr">
                            <a:spcAft>
                              <a:spcPts val="0"/>
                            </a:spcAft>
                          </a:pPr>
                          <a:r>
                            <a:rPr lang="en-US" sz="1800" kern="0">
                              <a:effectLst/>
                            </a:rPr>
                            <a:t>2</a:t>
                          </a:r>
                          <a:endParaRPr lang="zh-CN" sz="1800" kern="100">
                            <a:effectLst/>
                            <a:latin typeface="Calibri"/>
                            <a:ea typeface="宋体"/>
                            <a:cs typeface="Times New Roman"/>
                          </a:endParaRPr>
                        </a:p>
                      </a:txBody>
                      <a:tcPr marL="68580" marR="68580" marT="0" marB="0"/>
                    </a:tc>
                    <a:tc>
                      <a:txBody>
                        <a:bodyPr/>
                        <a:lstStyle/>
                        <a:p>
                          <a:pPr algn="ctr">
                            <a:spcAft>
                              <a:spcPts val="0"/>
                            </a:spcAft>
                          </a:pPr>
                          <a:r>
                            <a:rPr lang="en-US" sz="1800" kern="0">
                              <a:effectLst/>
                            </a:rPr>
                            <a:t>3</a:t>
                          </a:r>
                          <a:endParaRPr lang="zh-CN" sz="1800" kern="100">
                            <a:effectLst/>
                            <a:latin typeface="Calibri"/>
                            <a:ea typeface="宋体"/>
                            <a:cs typeface="Times New Roman"/>
                          </a:endParaRPr>
                        </a:p>
                      </a:txBody>
                      <a:tcPr marL="68580" marR="68580" marT="0" marB="0"/>
                    </a:tc>
                    <a:tc>
                      <a:txBody>
                        <a:bodyPr/>
                        <a:lstStyle/>
                        <a:p>
                          <a:pPr algn="ctr">
                            <a:spcAft>
                              <a:spcPts val="0"/>
                            </a:spcAft>
                          </a:pPr>
                          <a:r>
                            <a:rPr lang="en-US" sz="1800" kern="0">
                              <a:effectLst/>
                            </a:rPr>
                            <a:t>1</a:t>
                          </a:r>
                          <a:endParaRPr lang="zh-CN" sz="1800" kern="100">
                            <a:effectLst/>
                            <a:latin typeface="Calibri"/>
                            <a:ea typeface="宋体"/>
                            <a:cs typeface="Times New Roman"/>
                          </a:endParaRPr>
                        </a:p>
                      </a:txBody>
                      <a:tcPr marL="68580" marR="68580" marT="0" marB="0"/>
                    </a:tc>
                    <a:tc>
                      <a:txBody>
                        <a:bodyPr/>
                        <a:lstStyle/>
                        <a:p>
                          <a:pPr algn="ctr">
                            <a:spcAft>
                              <a:spcPts val="0"/>
                            </a:spcAft>
                          </a:pPr>
                          <a:r>
                            <a:rPr lang="en-US" sz="1800" kern="0">
                              <a:effectLst/>
                            </a:rPr>
                            <a:t>1</a:t>
                          </a:r>
                          <a:endParaRPr lang="zh-CN" sz="1800" kern="100">
                            <a:effectLst/>
                            <a:latin typeface="Calibri"/>
                            <a:ea typeface="宋体"/>
                            <a:cs typeface="Times New Roman"/>
                          </a:endParaRPr>
                        </a:p>
                      </a:txBody>
                      <a:tcPr marL="68580" marR="68580" marT="0" marB="0"/>
                    </a:tc>
                    <a:tc>
                      <a:txBody>
                        <a:bodyPr/>
                        <a:lstStyle/>
                        <a:p>
                          <a:pPr algn="ctr">
                            <a:spcAft>
                              <a:spcPts val="0"/>
                            </a:spcAft>
                          </a:pPr>
                          <a:r>
                            <a:rPr lang="en-US" sz="1800" kern="0" dirty="0">
                              <a:effectLst/>
                            </a:rPr>
                            <a:t>1</a:t>
                          </a:r>
                          <a:endParaRPr lang="zh-CN" sz="1800" kern="100" dirty="0">
                            <a:effectLst/>
                            <a:latin typeface="Calibri"/>
                            <a:ea typeface="宋体"/>
                            <a:cs typeface="Times New Roman"/>
                          </a:endParaRPr>
                        </a:p>
                      </a:txBody>
                      <a:tcPr marL="68580" marR="68580" marT="0" marB="0"/>
                    </a:tc>
                    <a:extLst>
                      <a:ext uri="{0D108BD9-81ED-4DB2-BD59-A6C34878D82A}">
                        <a16:rowId xmlns:a16="http://schemas.microsoft.com/office/drawing/2014/main" val="10006"/>
                      </a:ext>
                    </a:extLst>
                  </a:tr>
                  <a:tr h="269848">
                    <a:tc>
                      <a:txBody>
                        <a:bodyPr/>
                        <a:lstStyle/>
                        <a:p>
                          <a:pPr algn="l">
                            <a:spcAft>
                              <a:spcPts val="0"/>
                            </a:spcAft>
                          </a:pPr>
                          <a:r>
                            <a:rPr lang="en-US" sz="1800" kern="0">
                              <a:effectLst/>
                            </a:rPr>
                            <a:t>EC</a:t>
                          </a:r>
                          <a:r>
                            <a:rPr lang="zh-CN" sz="1800" kern="0">
                              <a:effectLst/>
                            </a:rPr>
                            <a:t>上的标量乘法</a:t>
                          </a:r>
                          <a:endParaRPr lang="zh-CN" sz="1800" kern="100">
                            <a:effectLst/>
                            <a:latin typeface="Calibri"/>
                            <a:ea typeface="宋体"/>
                            <a:cs typeface="Times New Roman"/>
                          </a:endParaRPr>
                        </a:p>
                      </a:txBody>
                      <a:tcPr marL="68580" marR="68580" marT="0" marB="0"/>
                    </a:tc>
                    <a:tc>
                      <a:txBody>
                        <a:bodyPr/>
                        <a:lstStyle/>
                        <a:p>
                          <a:pPr algn="ctr">
                            <a:spcAft>
                              <a:spcPts val="0"/>
                            </a:spcAft>
                          </a:pPr>
                          <a:r>
                            <a:rPr lang="en-US" sz="1800" kern="0">
                              <a:effectLst/>
                            </a:rPr>
                            <a:t>1</a:t>
                          </a:r>
                          <a:endParaRPr lang="zh-CN" sz="1800" kern="100">
                            <a:effectLst/>
                            <a:latin typeface="Calibri"/>
                            <a:ea typeface="宋体"/>
                            <a:cs typeface="Times New Roman"/>
                          </a:endParaRPr>
                        </a:p>
                      </a:txBody>
                      <a:tcPr marL="68580" marR="68580" marT="0" marB="0"/>
                    </a:tc>
                    <a:tc>
                      <a:txBody>
                        <a:bodyPr/>
                        <a:lstStyle/>
                        <a:p>
                          <a:pPr algn="ctr">
                            <a:spcAft>
                              <a:spcPts val="0"/>
                            </a:spcAft>
                          </a:pPr>
                          <a:r>
                            <a:rPr lang="en-US" sz="1800" kern="0">
                              <a:effectLst/>
                            </a:rPr>
                            <a:t>1</a:t>
                          </a:r>
                          <a:endParaRPr lang="zh-CN" sz="1800" kern="100">
                            <a:effectLst/>
                            <a:latin typeface="Calibri"/>
                            <a:ea typeface="宋体"/>
                            <a:cs typeface="Times New Roman"/>
                          </a:endParaRPr>
                        </a:p>
                      </a:txBody>
                      <a:tcPr marL="68580" marR="68580" marT="0" marB="0"/>
                    </a:tc>
                    <a:tc>
                      <a:txBody>
                        <a:bodyPr/>
                        <a:lstStyle/>
                        <a:p>
                          <a:pPr algn="ctr">
                            <a:spcAft>
                              <a:spcPts val="0"/>
                            </a:spcAft>
                          </a:pPr>
                          <a:r>
                            <a:rPr lang="en-US" sz="1800" kern="0">
                              <a:effectLst/>
                            </a:rPr>
                            <a:t>1</a:t>
                          </a:r>
                          <a:endParaRPr lang="zh-CN" sz="1800" kern="100">
                            <a:effectLst/>
                            <a:latin typeface="Calibri"/>
                            <a:ea typeface="宋体"/>
                            <a:cs typeface="Times New Roman"/>
                          </a:endParaRPr>
                        </a:p>
                      </a:txBody>
                      <a:tcPr marL="68580" marR="68580" marT="0" marB="0"/>
                    </a:tc>
                    <a:tc>
                      <a:txBody>
                        <a:bodyPr/>
                        <a:lstStyle/>
                        <a:p>
                          <a:pPr algn="ctr">
                            <a:spcAft>
                              <a:spcPts val="0"/>
                            </a:spcAft>
                          </a:pPr>
                          <a:r>
                            <a:rPr lang="en-US" sz="1800" kern="0">
                              <a:effectLst/>
                            </a:rPr>
                            <a:t>1</a:t>
                          </a:r>
                          <a:endParaRPr lang="zh-CN" sz="1800" kern="100">
                            <a:effectLst/>
                            <a:latin typeface="Calibri"/>
                            <a:ea typeface="宋体"/>
                            <a:cs typeface="Times New Roman"/>
                          </a:endParaRPr>
                        </a:p>
                      </a:txBody>
                      <a:tcPr marL="68580" marR="68580" marT="0" marB="0"/>
                    </a:tc>
                    <a:tc>
                      <a:txBody>
                        <a:bodyPr/>
                        <a:lstStyle/>
                        <a:p>
                          <a:pPr algn="ctr">
                            <a:spcAft>
                              <a:spcPts val="0"/>
                            </a:spcAft>
                          </a:pPr>
                          <a:r>
                            <a:rPr lang="en-US" sz="1800" kern="0" dirty="0">
                              <a:effectLst/>
                            </a:rPr>
                            <a:t>1</a:t>
                          </a:r>
                          <a:endParaRPr lang="zh-CN" sz="1800" kern="100" dirty="0">
                            <a:effectLst/>
                            <a:latin typeface="Calibri"/>
                            <a:ea typeface="宋体"/>
                            <a:cs typeface="Times New Roman"/>
                          </a:endParaRPr>
                        </a:p>
                      </a:txBody>
                      <a:tcPr marL="68580" marR="68580" marT="0" marB="0"/>
                    </a:tc>
                    <a:extLst>
                      <a:ext uri="{0D108BD9-81ED-4DB2-BD59-A6C34878D82A}">
                        <a16:rowId xmlns:a16="http://schemas.microsoft.com/office/drawing/2014/main" val="10007"/>
                      </a:ext>
                    </a:extLst>
                  </a:tr>
                  <a:tr h="269848">
                    <a:tc>
                      <a:txBody>
                        <a:bodyPr/>
                        <a:lstStyle/>
                        <a:p>
                          <a:pPr algn="l">
                            <a:spcAft>
                              <a:spcPts val="0"/>
                            </a:spcAft>
                          </a:pPr>
                          <a:r>
                            <a:rPr lang="zh-CN" sz="1800" kern="0">
                              <a:effectLst/>
                            </a:rPr>
                            <a:t>异或操作</a:t>
                          </a:r>
                          <a:endParaRPr lang="zh-CN" sz="1800" kern="100">
                            <a:effectLst/>
                            <a:latin typeface="Calibri"/>
                            <a:ea typeface="宋体"/>
                            <a:cs typeface="Times New Roman"/>
                          </a:endParaRPr>
                        </a:p>
                      </a:txBody>
                      <a:tcPr marL="68580" marR="68580" marT="0" marB="0"/>
                    </a:tc>
                    <a:tc>
                      <a:txBody>
                        <a:bodyPr/>
                        <a:lstStyle/>
                        <a:p>
                          <a:pPr algn="ctr">
                            <a:spcAft>
                              <a:spcPts val="0"/>
                            </a:spcAft>
                          </a:pPr>
                          <a:r>
                            <a:rPr lang="en-US" sz="1800" kern="0">
                              <a:effectLst/>
                            </a:rPr>
                            <a:t>0</a:t>
                          </a:r>
                          <a:endParaRPr lang="zh-CN" sz="1800" kern="100">
                            <a:effectLst/>
                            <a:latin typeface="Calibri"/>
                            <a:ea typeface="宋体"/>
                            <a:cs typeface="Times New Roman"/>
                          </a:endParaRPr>
                        </a:p>
                      </a:txBody>
                      <a:tcPr marL="68580" marR="68580" marT="0" marB="0"/>
                    </a:tc>
                    <a:tc>
                      <a:txBody>
                        <a:bodyPr/>
                        <a:lstStyle/>
                        <a:p>
                          <a:pPr algn="ctr">
                            <a:spcAft>
                              <a:spcPts val="0"/>
                            </a:spcAft>
                          </a:pPr>
                          <a:r>
                            <a:rPr lang="en-US" sz="1800" kern="0">
                              <a:effectLst/>
                            </a:rPr>
                            <a:t>1</a:t>
                          </a:r>
                          <a:endParaRPr lang="zh-CN" sz="1800" kern="100">
                            <a:effectLst/>
                            <a:latin typeface="Calibri"/>
                            <a:ea typeface="宋体"/>
                            <a:cs typeface="Times New Roman"/>
                          </a:endParaRPr>
                        </a:p>
                      </a:txBody>
                      <a:tcPr marL="68580" marR="68580" marT="0" marB="0"/>
                    </a:tc>
                    <a:tc>
                      <a:txBody>
                        <a:bodyPr/>
                        <a:lstStyle/>
                        <a:p>
                          <a:pPr algn="ctr">
                            <a:spcAft>
                              <a:spcPts val="0"/>
                            </a:spcAft>
                          </a:pPr>
                          <a:r>
                            <a:rPr lang="en-US" sz="1800" kern="0">
                              <a:effectLst/>
                            </a:rPr>
                            <a:t>2</a:t>
                          </a:r>
                          <a:endParaRPr lang="zh-CN" sz="1800" kern="100">
                            <a:effectLst/>
                            <a:latin typeface="Calibri"/>
                            <a:ea typeface="宋体"/>
                            <a:cs typeface="Times New Roman"/>
                          </a:endParaRPr>
                        </a:p>
                      </a:txBody>
                      <a:tcPr marL="68580" marR="68580" marT="0" marB="0"/>
                    </a:tc>
                    <a:tc>
                      <a:txBody>
                        <a:bodyPr/>
                        <a:lstStyle/>
                        <a:p>
                          <a:pPr algn="ctr">
                            <a:spcAft>
                              <a:spcPts val="0"/>
                            </a:spcAft>
                          </a:pPr>
                          <a:r>
                            <a:rPr lang="en-US" sz="1800" kern="0">
                              <a:effectLst/>
                            </a:rPr>
                            <a:t>0</a:t>
                          </a:r>
                          <a:endParaRPr lang="zh-CN" sz="1800" kern="100">
                            <a:effectLst/>
                            <a:latin typeface="Calibri"/>
                            <a:ea typeface="宋体"/>
                            <a:cs typeface="Times New Roman"/>
                          </a:endParaRPr>
                        </a:p>
                      </a:txBody>
                      <a:tcPr marL="68580" marR="68580" marT="0" marB="0"/>
                    </a:tc>
                    <a:tc>
                      <a:txBody>
                        <a:bodyPr/>
                        <a:lstStyle/>
                        <a:p>
                          <a:pPr algn="ctr">
                            <a:spcAft>
                              <a:spcPts val="0"/>
                            </a:spcAft>
                          </a:pPr>
                          <a:r>
                            <a:rPr lang="en-US" sz="1800" kern="0" dirty="0">
                              <a:effectLst/>
                            </a:rPr>
                            <a:t>2</a:t>
                          </a:r>
                          <a:endParaRPr lang="zh-CN" sz="1800" kern="100" dirty="0">
                            <a:effectLst/>
                            <a:latin typeface="Calibri"/>
                            <a:ea typeface="宋体"/>
                            <a:cs typeface="Times New Roman"/>
                          </a:endParaRPr>
                        </a:p>
                      </a:txBody>
                      <a:tcPr marL="68580" marR="68580" marT="0" marB="0"/>
                    </a:tc>
                    <a:extLst>
                      <a:ext uri="{0D108BD9-81ED-4DB2-BD59-A6C34878D82A}">
                        <a16:rowId xmlns:a16="http://schemas.microsoft.com/office/drawing/2014/main" val="10008"/>
                      </a:ext>
                    </a:extLst>
                  </a:tr>
                  <a:tr h="269848">
                    <a:tc>
                      <a:txBody>
                        <a:bodyPr/>
                        <a:lstStyle/>
                        <a:p>
                          <a:pPr algn="l">
                            <a:spcAft>
                              <a:spcPts val="0"/>
                            </a:spcAft>
                          </a:pPr>
                          <a:r>
                            <a:rPr lang="zh-CN" sz="1800" kern="0">
                              <a:effectLst/>
                            </a:rPr>
                            <a:t>对称密钥派生函数</a:t>
                          </a:r>
                          <a:endParaRPr lang="zh-CN" sz="1800" kern="100">
                            <a:effectLst/>
                            <a:latin typeface="Calibri"/>
                            <a:ea typeface="宋体"/>
                            <a:cs typeface="Times New Roman"/>
                          </a:endParaRPr>
                        </a:p>
                      </a:txBody>
                      <a:tcPr marL="68580" marR="68580" marT="0" marB="0"/>
                    </a:tc>
                    <a:tc>
                      <a:txBody>
                        <a:bodyPr/>
                        <a:lstStyle/>
                        <a:p>
                          <a:pPr algn="ctr">
                            <a:spcAft>
                              <a:spcPts val="0"/>
                            </a:spcAft>
                          </a:pPr>
                          <a:r>
                            <a:rPr lang="en-US" sz="1800" kern="0">
                              <a:effectLst/>
                            </a:rPr>
                            <a:t>0</a:t>
                          </a:r>
                          <a:endParaRPr lang="zh-CN" sz="1800" kern="100">
                            <a:effectLst/>
                            <a:latin typeface="Calibri"/>
                            <a:ea typeface="宋体"/>
                            <a:cs typeface="Times New Roman"/>
                          </a:endParaRPr>
                        </a:p>
                      </a:txBody>
                      <a:tcPr marL="68580" marR="68580" marT="0" marB="0"/>
                    </a:tc>
                    <a:tc>
                      <a:txBody>
                        <a:bodyPr/>
                        <a:lstStyle/>
                        <a:p>
                          <a:pPr algn="ctr">
                            <a:spcAft>
                              <a:spcPts val="0"/>
                            </a:spcAft>
                          </a:pPr>
                          <a:r>
                            <a:rPr lang="en-US" sz="1800" kern="0">
                              <a:effectLst/>
                            </a:rPr>
                            <a:t>0</a:t>
                          </a:r>
                          <a:endParaRPr lang="zh-CN" sz="1800" kern="100">
                            <a:effectLst/>
                            <a:latin typeface="Calibri"/>
                            <a:ea typeface="宋体"/>
                            <a:cs typeface="Times New Roman"/>
                          </a:endParaRPr>
                        </a:p>
                      </a:txBody>
                      <a:tcPr marL="68580" marR="68580" marT="0" marB="0"/>
                    </a:tc>
                    <a:tc>
                      <a:txBody>
                        <a:bodyPr/>
                        <a:lstStyle/>
                        <a:p>
                          <a:pPr algn="ctr">
                            <a:spcAft>
                              <a:spcPts val="0"/>
                            </a:spcAft>
                          </a:pPr>
                          <a:r>
                            <a:rPr lang="en-US" sz="1800" kern="0">
                              <a:effectLst/>
                            </a:rPr>
                            <a:t>0</a:t>
                          </a:r>
                          <a:endParaRPr lang="zh-CN" sz="1800" kern="100">
                            <a:effectLst/>
                            <a:latin typeface="Calibri"/>
                            <a:ea typeface="宋体"/>
                            <a:cs typeface="Times New Roman"/>
                          </a:endParaRPr>
                        </a:p>
                      </a:txBody>
                      <a:tcPr marL="68580" marR="68580" marT="0" marB="0"/>
                    </a:tc>
                    <a:tc>
                      <a:txBody>
                        <a:bodyPr/>
                        <a:lstStyle/>
                        <a:p>
                          <a:pPr algn="ctr">
                            <a:spcAft>
                              <a:spcPts val="0"/>
                            </a:spcAft>
                          </a:pPr>
                          <a:r>
                            <a:rPr lang="en-US" sz="1800" kern="0">
                              <a:effectLst/>
                            </a:rPr>
                            <a:t>1</a:t>
                          </a:r>
                          <a:endParaRPr lang="zh-CN" sz="1800" kern="100">
                            <a:effectLst/>
                            <a:latin typeface="Calibri"/>
                            <a:ea typeface="宋体"/>
                            <a:cs typeface="Times New Roman"/>
                          </a:endParaRPr>
                        </a:p>
                      </a:txBody>
                      <a:tcPr marL="68580" marR="68580" marT="0" marB="0"/>
                    </a:tc>
                    <a:tc>
                      <a:txBody>
                        <a:bodyPr/>
                        <a:lstStyle/>
                        <a:p>
                          <a:pPr algn="ctr">
                            <a:spcAft>
                              <a:spcPts val="0"/>
                            </a:spcAft>
                          </a:pPr>
                          <a:r>
                            <a:rPr lang="en-US" sz="1800" kern="0" dirty="0">
                              <a:effectLst/>
                            </a:rPr>
                            <a:t>0</a:t>
                          </a:r>
                          <a:endParaRPr lang="zh-CN" sz="1800" kern="100" dirty="0">
                            <a:effectLst/>
                            <a:latin typeface="Calibri"/>
                            <a:ea typeface="宋体"/>
                            <a:cs typeface="Times New Roman"/>
                          </a:endParaRPr>
                        </a:p>
                      </a:txBody>
                      <a:tcPr marL="68580" marR="68580" marT="0" marB="0"/>
                    </a:tc>
                    <a:extLst>
                      <a:ext uri="{0D108BD9-81ED-4DB2-BD59-A6C34878D82A}">
                        <a16:rowId xmlns:a16="http://schemas.microsoft.com/office/drawing/2014/main" val="10009"/>
                      </a:ext>
                    </a:extLst>
                  </a:tr>
                </a:tbl>
              </a:graphicData>
            </a:graphic>
          </p:graphicFrame>
        </mc:Choice>
        <mc:Fallback xmlns="">
          <p:graphicFrame>
            <p:nvGraphicFramePr>
              <p:cNvPr id="4" name="内容占位符 3"/>
              <p:cNvGraphicFramePr>
                <a:graphicFrameLocks noGrp="1"/>
              </p:cNvGraphicFramePr>
              <p:nvPr>
                <p:ph idx="1"/>
                <p:extLst>
                  <p:ext uri="{D42A27DB-BD31-4B8C-83A1-F6EECF244321}">
                    <p14:modId xmlns:p14="http://schemas.microsoft.com/office/powerpoint/2010/main" val="3584227647"/>
                  </p:ext>
                </p:extLst>
              </p:nvPr>
            </p:nvGraphicFramePr>
            <p:xfrm>
              <a:off x="1259632" y="2132858"/>
              <a:ext cx="6552727" cy="4148878"/>
            </p:xfrm>
            <a:graphic>
              <a:graphicData uri="http://schemas.openxmlformats.org/drawingml/2006/table">
                <a:tbl>
                  <a:tblPr firstRow="1" firstCol="1" bandRow="1">
                    <a:tableStyleId>{5C22544A-7EE6-4342-B048-85BDC9FD1C3A}</a:tableStyleId>
                  </a:tblPr>
                  <a:tblGrid>
                    <a:gridCol w="1824382"/>
                    <a:gridCol w="875335"/>
                    <a:gridCol w="875335"/>
                    <a:gridCol w="979761"/>
                    <a:gridCol w="1088794"/>
                    <a:gridCol w="909120"/>
                  </a:tblGrid>
                  <a:tr h="308398">
                    <a:tc>
                      <a:txBody>
                        <a:bodyPr/>
                        <a:lstStyle/>
                        <a:p>
                          <a:pPr algn="l">
                            <a:spcAft>
                              <a:spcPts val="0"/>
                            </a:spcAft>
                          </a:pPr>
                          <a:r>
                            <a:rPr lang="en-US" sz="1800" kern="0" dirty="0">
                              <a:effectLst/>
                            </a:rPr>
                            <a:t> </a:t>
                          </a:r>
                          <a:endParaRPr lang="zh-CN" sz="1800" kern="100" dirty="0">
                            <a:effectLst/>
                            <a:latin typeface="Calibri"/>
                            <a:ea typeface="宋体"/>
                            <a:cs typeface="Times New Roman"/>
                          </a:endParaRPr>
                        </a:p>
                      </a:txBody>
                      <a:tcPr marL="68580" marR="68580" marT="0" marB="0"/>
                    </a:tc>
                    <a:tc>
                      <a:txBody>
                        <a:bodyPr/>
                        <a:lstStyle/>
                        <a:p>
                          <a:pPr algn="l">
                            <a:spcAft>
                              <a:spcPts val="0"/>
                            </a:spcAft>
                          </a:pPr>
                          <a:r>
                            <a:rPr lang="en-US" sz="1800" kern="0">
                              <a:effectLst/>
                            </a:rPr>
                            <a:t>ECNR</a:t>
                          </a:r>
                          <a:endParaRPr lang="zh-CN" sz="1800" kern="100">
                            <a:effectLst/>
                            <a:latin typeface="Calibri"/>
                            <a:ea typeface="宋体"/>
                            <a:cs typeface="Times New Roman"/>
                          </a:endParaRPr>
                        </a:p>
                      </a:txBody>
                      <a:tcPr marL="68580" marR="68580" marT="0" marB="0"/>
                    </a:tc>
                    <a:tc>
                      <a:txBody>
                        <a:bodyPr/>
                        <a:lstStyle/>
                        <a:p>
                          <a:pPr algn="l">
                            <a:spcAft>
                              <a:spcPts val="0"/>
                            </a:spcAft>
                          </a:pPr>
                          <a:r>
                            <a:rPr lang="en-US" sz="1800" kern="0">
                              <a:effectLst/>
                            </a:rPr>
                            <a:t>ECMR</a:t>
                          </a:r>
                          <a:endParaRPr lang="zh-CN" sz="1800" kern="100">
                            <a:effectLst/>
                            <a:latin typeface="Calibri"/>
                            <a:ea typeface="宋体"/>
                            <a:cs typeface="Times New Roman"/>
                          </a:endParaRPr>
                        </a:p>
                      </a:txBody>
                      <a:tcPr marL="68580" marR="68580" marT="0" marB="0"/>
                    </a:tc>
                    <a:tc>
                      <a:txBody>
                        <a:bodyPr/>
                        <a:lstStyle/>
                        <a:p>
                          <a:pPr algn="l">
                            <a:spcAft>
                              <a:spcPts val="0"/>
                            </a:spcAft>
                          </a:pPr>
                          <a:r>
                            <a:rPr lang="en-US" sz="1800" kern="0">
                              <a:effectLst/>
                            </a:rPr>
                            <a:t>ECAO</a:t>
                          </a:r>
                          <a:endParaRPr lang="zh-CN" sz="1800" kern="100">
                            <a:effectLst/>
                            <a:latin typeface="Calibri"/>
                            <a:ea typeface="宋体"/>
                            <a:cs typeface="Times New Roman"/>
                          </a:endParaRPr>
                        </a:p>
                      </a:txBody>
                      <a:tcPr marL="68580" marR="68580" marT="0" marB="0"/>
                    </a:tc>
                    <a:tc>
                      <a:txBody>
                        <a:bodyPr/>
                        <a:lstStyle/>
                        <a:p>
                          <a:pPr algn="l">
                            <a:spcAft>
                              <a:spcPts val="0"/>
                            </a:spcAft>
                          </a:pPr>
                          <a:r>
                            <a:rPr lang="en-US" sz="1800" kern="0">
                              <a:effectLst/>
                            </a:rPr>
                            <a:t>ECPV</a:t>
                          </a:r>
                          <a:endParaRPr lang="zh-CN" sz="1800" kern="100">
                            <a:effectLst/>
                            <a:latin typeface="Calibri"/>
                            <a:ea typeface="宋体"/>
                            <a:cs typeface="Times New Roman"/>
                          </a:endParaRPr>
                        </a:p>
                      </a:txBody>
                      <a:tcPr marL="68580" marR="68580" marT="0" marB="0"/>
                    </a:tc>
                    <a:tc>
                      <a:txBody>
                        <a:bodyPr/>
                        <a:lstStyle/>
                        <a:p>
                          <a:pPr algn="l">
                            <a:spcAft>
                              <a:spcPts val="0"/>
                            </a:spcAft>
                          </a:pPr>
                          <a:r>
                            <a:rPr lang="en-US" sz="1800" kern="0">
                              <a:effectLst/>
                            </a:rPr>
                            <a:t>ECKNR</a:t>
                          </a:r>
                          <a:endParaRPr lang="zh-CN" sz="1800" kern="100">
                            <a:effectLst/>
                            <a:latin typeface="Calibri"/>
                            <a:ea typeface="宋体"/>
                            <a:cs typeface="Times New Roman"/>
                          </a:endParaRPr>
                        </a:p>
                      </a:txBody>
                      <a:tcPr marL="68580" marR="68580" marT="0" marB="0"/>
                    </a:tc>
                  </a:tr>
                  <a:tr h="1371600">
                    <a:tc>
                      <a:txBody>
                        <a:bodyPr/>
                        <a:lstStyle/>
                        <a:p>
                          <a:pPr algn="l">
                            <a:spcAft>
                              <a:spcPts val="0"/>
                            </a:spcAft>
                          </a:pPr>
                          <a:r>
                            <a:rPr lang="zh-CN" sz="1800" kern="0" dirty="0">
                              <a:effectLst/>
                            </a:rPr>
                            <a:t>参数</a:t>
                          </a:r>
                          <a:endParaRPr lang="zh-CN" sz="1800" kern="100" dirty="0">
                            <a:effectLst/>
                            <a:latin typeface="Calibri"/>
                            <a:ea typeface="宋体"/>
                            <a:cs typeface="Times New Roman"/>
                          </a:endParaRPr>
                        </a:p>
                      </a:txBody>
                      <a:tcPr marL="68580" marR="68580" marT="0" marB="0"/>
                    </a:tc>
                    <a:tc>
                      <a:txBody>
                        <a:bodyPr/>
                        <a:lstStyle/>
                        <a:p>
                          <a:endParaRPr lang="zh-CN"/>
                        </a:p>
                      </a:txBody>
                      <a:tcPr marL="68580" marR="68580" marT="0" marB="0">
                        <a:blipFill rotWithShape="1">
                          <a:blip r:embed="rId2"/>
                          <a:stretch>
                            <a:fillRect l="-208333" t="-28571" r="-438889" b="-190179"/>
                          </a:stretch>
                        </a:blipFill>
                      </a:tcPr>
                    </a:tc>
                    <a:tc>
                      <a:txBody>
                        <a:bodyPr/>
                        <a:lstStyle/>
                        <a:p>
                          <a:endParaRPr lang="zh-CN"/>
                        </a:p>
                      </a:txBody>
                      <a:tcPr marL="68580" marR="68580" marT="0" marB="0">
                        <a:blipFill rotWithShape="1">
                          <a:blip r:embed="rId2"/>
                          <a:stretch>
                            <a:fillRect l="-308333" t="-28571" r="-338889" b="-190179"/>
                          </a:stretch>
                        </a:blipFill>
                      </a:tcPr>
                    </a:tc>
                    <a:tc>
                      <a:txBody>
                        <a:bodyPr/>
                        <a:lstStyle/>
                        <a:p>
                          <a:endParaRPr lang="zh-CN"/>
                        </a:p>
                      </a:txBody>
                      <a:tcPr marL="68580" marR="68580" marT="0" marB="0">
                        <a:blipFill rotWithShape="1">
                          <a:blip r:embed="rId2"/>
                          <a:stretch>
                            <a:fillRect l="-367500" t="-28571" r="-205000" b="-190179"/>
                          </a:stretch>
                        </a:blipFill>
                      </a:tcPr>
                    </a:tc>
                    <a:tc>
                      <a:txBody>
                        <a:bodyPr/>
                        <a:lstStyle/>
                        <a:p>
                          <a:endParaRPr lang="zh-CN"/>
                        </a:p>
                      </a:txBody>
                      <a:tcPr marL="68580" marR="68580" marT="0" marB="0">
                        <a:blipFill rotWithShape="1">
                          <a:blip r:embed="rId2"/>
                          <a:stretch>
                            <a:fillRect l="-417877" t="-28571" r="-83240" b="-190179"/>
                          </a:stretch>
                        </a:blipFill>
                      </a:tcPr>
                    </a:tc>
                    <a:tc>
                      <a:txBody>
                        <a:bodyPr/>
                        <a:lstStyle/>
                        <a:p>
                          <a:endParaRPr lang="zh-CN"/>
                        </a:p>
                      </a:txBody>
                      <a:tcPr marL="68580" marR="68580" marT="0" marB="0">
                        <a:blipFill rotWithShape="1">
                          <a:blip r:embed="rId2"/>
                          <a:stretch>
                            <a:fillRect l="-622148" t="-28571" b="-190179"/>
                          </a:stretch>
                        </a:blipFill>
                      </a:tcPr>
                    </a:tc>
                  </a:tr>
                  <a:tr h="274320">
                    <a:tc>
                      <a:txBody>
                        <a:bodyPr/>
                        <a:lstStyle/>
                        <a:p>
                          <a:pPr algn="l">
                            <a:spcAft>
                              <a:spcPts val="0"/>
                            </a:spcAft>
                          </a:pPr>
                          <a:r>
                            <a:rPr lang="en-US" sz="1800" kern="0">
                              <a:effectLst/>
                            </a:rPr>
                            <a:t>Hash</a:t>
                          </a:r>
                          <a:endParaRPr lang="zh-CN" sz="1800" kern="100">
                            <a:effectLst/>
                            <a:latin typeface="Calibri"/>
                            <a:ea typeface="宋体"/>
                            <a:cs typeface="Times New Roman"/>
                          </a:endParaRPr>
                        </a:p>
                      </a:txBody>
                      <a:tcPr marL="68580" marR="68580" marT="0" marB="0"/>
                    </a:tc>
                    <a:tc>
                      <a:txBody>
                        <a:bodyPr/>
                        <a:lstStyle/>
                        <a:p>
                          <a:pPr algn="ctr">
                            <a:spcAft>
                              <a:spcPts val="0"/>
                            </a:spcAft>
                          </a:pPr>
                          <a:r>
                            <a:rPr lang="en-US" sz="1800" kern="0">
                              <a:effectLst/>
                            </a:rPr>
                            <a:t>1</a:t>
                          </a:r>
                          <a:endParaRPr lang="zh-CN" sz="1800" kern="100">
                            <a:effectLst/>
                            <a:latin typeface="Calibri"/>
                            <a:ea typeface="宋体"/>
                            <a:cs typeface="Times New Roman"/>
                          </a:endParaRPr>
                        </a:p>
                      </a:txBody>
                      <a:tcPr marL="68580" marR="68580" marT="0" marB="0"/>
                    </a:tc>
                    <a:tc>
                      <a:txBody>
                        <a:bodyPr/>
                        <a:lstStyle/>
                        <a:p>
                          <a:pPr algn="ctr">
                            <a:spcAft>
                              <a:spcPts val="0"/>
                            </a:spcAft>
                          </a:pPr>
                          <a:r>
                            <a:rPr lang="en-US" sz="1800" kern="0">
                              <a:effectLst/>
                            </a:rPr>
                            <a:t>2</a:t>
                          </a:r>
                          <a:endParaRPr lang="zh-CN" sz="1800" kern="100">
                            <a:effectLst/>
                            <a:latin typeface="Calibri"/>
                            <a:ea typeface="宋体"/>
                            <a:cs typeface="Times New Roman"/>
                          </a:endParaRPr>
                        </a:p>
                      </a:txBody>
                      <a:tcPr marL="68580" marR="68580" marT="0" marB="0"/>
                    </a:tc>
                    <a:tc>
                      <a:txBody>
                        <a:bodyPr/>
                        <a:lstStyle/>
                        <a:p>
                          <a:pPr algn="ctr">
                            <a:spcAft>
                              <a:spcPts val="0"/>
                            </a:spcAft>
                          </a:pPr>
                          <a:r>
                            <a:rPr lang="en-US" sz="1800" kern="0">
                              <a:effectLst/>
                            </a:rPr>
                            <a:t>3</a:t>
                          </a:r>
                          <a:endParaRPr lang="zh-CN" sz="1800" kern="100">
                            <a:effectLst/>
                            <a:latin typeface="Calibri"/>
                            <a:ea typeface="宋体"/>
                            <a:cs typeface="Times New Roman"/>
                          </a:endParaRPr>
                        </a:p>
                      </a:txBody>
                      <a:tcPr marL="68580" marR="68580" marT="0" marB="0"/>
                    </a:tc>
                    <a:tc>
                      <a:txBody>
                        <a:bodyPr/>
                        <a:lstStyle/>
                        <a:p>
                          <a:pPr algn="ctr">
                            <a:spcAft>
                              <a:spcPts val="0"/>
                            </a:spcAft>
                          </a:pPr>
                          <a:r>
                            <a:rPr lang="en-US" sz="1800" kern="0" dirty="0">
                              <a:effectLst/>
                            </a:rPr>
                            <a:t>2</a:t>
                          </a:r>
                          <a:endParaRPr lang="zh-CN" sz="1800" kern="100" dirty="0">
                            <a:effectLst/>
                            <a:latin typeface="Calibri"/>
                            <a:ea typeface="宋体"/>
                            <a:cs typeface="Times New Roman"/>
                          </a:endParaRPr>
                        </a:p>
                      </a:txBody>
                      <a:tcPr marL="68580" marR="68580" marT="0" marB="0"/>
                    </a:tc>
                    <a:tc>
                      <a:txBody>
                        <a:bodyPr/>
                        <a:lstStyle/>
                        <a:p>
                          <a:pPr algn="ctr">
                            <a:spcAft>
                              <a:spcPts val="0"/>
                            </a:spcAft>
                          </a:pPr>
                          <a:r>
                            <a:rPr lang="en-US" sz="1800" kern="0">
                              <a:effectLst/>
                            </a:rPr>
                            <a:t>2</a:t>
                          </a:r>
                          <a:endParaRPr lang="zh-CN" sz="1800" kern="100">
                            <a:effectLst/>
                            <a:latin typeface="Calibri"/>
                            <a:ea typeface="宋体"/>
                            <a:cs typeface="Times New Roman"/>
                          </a:endParaRPr>
                        </a:p>
                      </a:txBody>
                      <a:tcPr marL="68580" marR="68580" marT="0" marB="0"/>
                    </a:tc>
                  </a:tr>
                  <a:tr h="274320">
                    <a:tc>
                      <a:txBody>
                        <a:bodyPr/>
                        <a:lstStyle/>
                        <a:p>
                          <a:pPr algn="l">
                            <a:spcAft>
                              <a:spcPts val="0"/>
                            </a:spcAft>
                          </a:pPr>
                          <a:r>
                            <a:rPr lang="zh-CN" sz="1800" kern="0">
                              <a:effectLst/>
                            </a:rPr>
                            <a:t>对称密钥密码</a:t>
                          </a:r>
                          <a:endParaRPr lang="zh-CN" sz="1800" kern="100">
                            <a:effectLst/>
                            <a:latin typeface="Calibri"/>
                            <a:ea typeface="宋体"/>
                            <a:cs typeface="Times New Roman"/>
                          </a:endParaRPr>
                        </a:p>
                      </a:txBody>
                      <a:tcPr marL="68580" marR="68580" marT="0" marB="0"/>
                    </a:tc>
                    <a:tc>
                      <a:txBody>
                        <a:bodyPr/>
                        <a:lstStyle/>
                        <a:p>
                          <a:pPr algn="ctr">
                            <a:spcAft>
                              <a:spcPts val="0"/>
                            </a:spcAft>
                          </a:pPr>
                          <a:r>
                            <a:rPr lang="en-US" sz="1800" kern="0">
                              <a:effectLst/>
                            </a:rPr>
                            <a:t>0</a:t>
                          </a:r>
                          <a:endParaRPr lang="zh-CN" sz="1800" kern="100">
                            <a:effectLst/>
                            <a:latin typeface="Calibri"/>
                            <a:ea typeface="宋体"/>
                            <a:cs typeface="Times New Roman"/>
                          </a:endParaRPr>
                        </a:p>
                      </a:txBody>
                      <a:tcPr marL="68580" marR="68580" marT="0" marB="0"/>
                    </a:tc>
                    <a:tc>
                      <a:txBody>
                        <a:bodyPr/>
                        <a:lstStyle/>
                        <a:p>
                          <a:pPr algn="ctr">
                            <a:spcAft>
                              <a:spcPts val="0"/>
                            </a:spcAft>
                          </a:pPr>
                          <a:r>
                            <a:rPr lang="en-US" sz="1800" kern="0">
                              <a:effectLst/>
                            </a:rPr>
                            <a:t>0</a:t>
                          </a:r>
                          <a:endParaRPr lang="zh-CN" sz="1800" kern="100">
                            <a:effectLst/>
                            <a:latin typeface="Calibri"/>
                            <a:ea typeface="宋体"/>
                            <a:cs typeface="Times New Roman"/>
                          </a:endParaRPr>
                        </a:p>
                      </a:txBody>
                      <a:tcPr marL="68580" marR="68580" marT="0" marB="0"/>
                    </a:tc>
                    <a:tc>
                      <a:txBody>
                        <a:bodyPr/>
                        <a:lstStyle/>
                        <a:p>
                          <a:pPr algn="ctr">
                            <a:spcAft>
                              <a:spcPts val="0"/>
                            </a:spcAft>
                          </a:pPr>
                          <a:r>
                            <a:rPr lang="en-US" sz="1800" kern="0">
                              <a:effectLst/>
                            </a:rPr>
                            <a:t>0</a:t>
                          </a:r>
                          <a:endParaRPr lang="zh-CN" sz="1800" kern="100">
                            <a:effectLst/>
                            <a:latin typeface="Calibri"/>
                            <a:ea typeface="宋体"/>
                            <a:cs typeface="Times New Roman"/>
                          </a:endParaRPr>
                        </a:p>
                      </a:txBody>
                      <a:tcPr marL="68580" marR="68580" marT="0" marB="0"/>
                    </a:tc>
                    <a:tc>
                      <a:txBody>
                        <a:bodyPr/>
                        <a:lstStyle/>
                        <a:p>
                          <a:pPr algn="ctr">
                            <a:spcAft>
                              <a:spcPts val="0"/>
                            </a:spcAft>
                          </a:pPr>
                          <a:r>
                            <a:rPr lang="en-US" sz="1800" kern="0" dirty="0">
                              <a:effectLst/>
                            </a:rPr>
                            <a:t>1</a:t>
                          </a:r>
                          <a:endParaRPr lang="zh-CN" sz="1800" kern="100" dirty="0">
                            <a:effectLst/>
                            <a:latin typeface="Calibri"/>
                            <a:ea typeface="宋体"/>
                            <a:cs typeface="Times New Roman"/>
                          </a:endParaRPr>
                        </a:p>
                      </a:txBody>
                      <a:tcPr marL="68580" marR="68580" marT="0" marB="0"/>
                    </a:tc>
                    <a:tc>
                      <a:txBody>
                        <a:bodyPr/>
                        <a:lstStyle/>
                        <a:p>
                          <a:pPr algn="ctr">
                            <a:spcAft>
                              <a:spcPts val="0"/>
                            </a:spcAft>
                          </a:pPr>
                          <a:r>
                            <a:rPr lang="en-US" sz="1800" kern="0" dirty="0">
                              <a:effectLst/>
                            </a:rPr>
                            <a:t>0</a:t>
                          </a:r>
                          <a:endParaRPr lang="zh-CN" sz="1800" kern="100" dirty="0">
                            <a:effectLst/>
                            <a:latin typeface="Calibri"/>
                            <a:ea typeface="宋体"/>
                            <a:cs typeface="Times New Roman"/>
                          </a:endParaRPr>
                        </a:p>
                      </a:txBody>
                      <a:tcPr marL="68580" marR="68580" marT="0" marB="0"/>
                    </a:tc>
                  </a:tr>
                  <a:tr h="274320">
                    <a:tc>
                      <a:txBody>
                        <a:bodyPr/>
                        <a:lstStyle/>
                        <a:p>
                          <a:endParaRPr lang="zh-CN"/>
                        </a:p>
                      </a:txBody>
                      <a:tcPr marL="68580" marR="68580" marT="0" marB="0">
                        <a:blipFill rotWithShape="1">
                          <a:blip r:embed="rId2"/>
                          <a:stretch>
                            <a:fillRect l="-334" t="-840000" r="-259532" b="-646667"/>
                          </a:stretch>
                        </a:blipFill>
                      </a:tcPr>
                    </a:tc>
                    <a:tc>
                      <a:txBody>
                        <a:bodyPr/>
                        <a:lstStyle/>
                        <a:p>
                          <a:pPr algn="ctr">
                            <a:spcAft>
                              <a:spcPts val="0"/>
                            </a:spcAft>
                          </a:pPr>
                          <a:r>
                            <a:rPr lang="en-US" sz="1800" kern="0">
                              <a:effectLst/>
                            </a:rPr>
                            <a:t>0</a:t>
                          </a:r>
                          <a:endParaRPr lang="zh-CN" sz="1800" kern="100">
                            <a:effectLst/>
                            <a:latin typeface="Calibri"/>
                            <a:ea typeface="宋体"/>
                            <a:cs typeface="Times New Roman"/>
                          </a:endParaRPr>
                        </a:p>
                      </a:txBody>
                      <a:tcPr marL="68580" marR="68580" marT="0" marB="0"/>
                    </a:tc>
                    <a:tc>
                      <a:txBody>
                        <a:bodyPr/>
                        <a:lstStyle/>
                        <a:p>
                          <a:pPr algn="ctr">
                            <a:spcAft>
                              <a:spcPts val="0"/>
                            </a:spcAft>
                          </a:pPr>
                          <a:r>
                            <a:rPr lang="en-US" sz="1800" kern="0">
                              <a:effectLst/>
                            </a:rPr>
                            <a:t>0</a:t>
                          </a:r>
                          <a:endParaRPr lang="zh-CN" sz="1800" kern="100">
                            <a:effectLst/>
                            <a:latin typeface="Calibri"/>
                            <a:ea typeface="宋体"/>
                            <a:cs typeface="Times New Roman"/>
                          </a:endParaRPr>
                        </a:p>
                      </a:txBody>
                      <a:tcPr marL="68580" marR="68580" marT="0" marB="0"/>
                    </a:tc>
                    <a:tc>
                      <a:txBody>
                        <a:bodyPr/>
                        <a:lstStyle/>
                        <a:p>
                          <a:pPr algn="ctr">
                            <a:spcAft>
                              <a:spcPts val="0"/>
                            </a:spcAft>
                          </a:pPr>
                          <a:r>
                            <a:rPr lang="en-US" sz="1800" kern="0">
                              <a:effectLst/>
                            </a:rPr>
                            <a:t>0</a:t>
                          </a:r>
                          <a:endParaRPr lang="zh-CN" sz="1800" kern="100">
                            <a:effectLst/>
                            <a:latin typeface="Calibri"/>
                            <a:ea typeface="宋体"/>
                            <a:cs typeface="Times New Roman"/>
                          </a:endParaRPr>
                        </a:p>
                      </a:txBody>
                      <a:tcPr marL="68580" marR="68580" marT="0" marB="0"/>
                    </a:tc>
                    <a:tc>
                      <a:txBody>
                        <a:bodyPr/>
                        <a:lstStyle/>
                        <a:p>
                          <a:pPr algn="ctr">
                            <a:spcAft>
                              <a:spcPts val="0"/>
                            </a:spcAft>
                          </a:pPr>
                          <a:r>
                            <a:rPr lang="en-US" sz="1800" kern="0">
                              <a:effectLst/>
                            </a:rPr>
                            <a:t>0</a:t>
                          </a:r>
                          <a:endParaRPr lang="zh-CN" sz="1800" kern="100">
                            <a:effectLst/>
                            <a:latin typeface="Calibri"/>
                            <a:ea typeface="宋体"/>
                            <a:cs typeface="Times New Roman"/>
                          </a:endParaRPr>
                        </a:p>
                      </a:txBody>
                      <a:tcPr marL="68580" marR="68580" marT="0" marB="0"/>
                    </a:tc>
                    <a:tc>
                      <a:txBody>
                        <a:bodyPr/>
                        <a:lstStyle/>
                        <a:p>
                          <a:pPr algn="ctr">
                            <a:spcAft>
                              <a:spcPts val="0"/>
                            </a:spcAft>
                          </a:pPr>
                          <a:r>
                            <a:rPr lang="en-US" sz="1800" kern="0" dirty="0">
                              <a:effectLst/>
                            </a:rPr>
                            <a:t>0</a:t>
                          </a:r>
                          <a:endParaRPr lang="zh-CN" sz="1800" kern="100" dirty="0">
                            <a:effectLst/>
                            <a:latin typeface="Calibri"/>
                            <a:ea typeface="宋体"/>
                            <a:cs typeface="Times New Roman"/>
                          </a:endParaRPr>
                        </a:p>
                      </a:txBody>
                      <a:tcPr marL="68580" marR="68580" marT="0" marB="0"/>
                    </a:tc>
                  </a:tr>
                  <a:tr h="274320">
                    <a:tc>
                      <a:txBody>
                        <a:bodyPr/>
                        <a:lstStyle/>
                        <a:p>
                          <a:endParaRPr lang="zh-CN"/>
                        </a:p>
                      </a:txBody>
                      <a:tcPr marL="68580" marR="68580" marT="0" marB="0">
                        <a:blipFill rotWithShape="1">
                          <a:blip r:embed="rId2"/>
                          <a:stretch>
                            <a:fillRect l="-334" t="-940000" r="-259532" b="-546667"/>
                          </a:stretch>
                        </a:blipFill>
                      </a:tcPr>
                    </a:tc>
                    <a:tc>
                      <a:txBody>
                        <a:bodyPr/>
                        <a:lstStyle/>
                        <a:p>
                          <a:pPr algn="ctr">
                            <a:spcAft>
                              <a:spcPts val="0"/>
                            </a:spcAft>
                          </a:pPr>
                          <a:r>
                            <a:rPr lang="en-US" sz="1800" kern="0">
                              <a:effectLst/>
                            </a:rPr>
                            <a:t>1</a:t>
                          </a:r>
                          <a:endParaRPr lang="zh-CN" sz="1800" kern="100">
                            <a:effectLst/>
                            <a:latin typeface="Calibri"/>
                            <a:ea typeface="宋体"/>
                            <a:cs typeface="Times New Roman"/>
                          </a:endParaRPr>
                        </a:p>
                      </a:txBody>
                      <a:tcPr marL="68580" marR="68580" marT="0" marB="0"/>
                    </a:tc>
                    <a:tc>
                      <a:txBody>
                        <a:bodyPr/>
                        <a:lstStyle/>
                        <a:p>
                          <a:pPr algn="ctr">
                            <a:spcAft>
                              <a:spcPts val="0"/>
                            </a:spcAft>
                          </a:pPr>
                          <a:r>
                            <a:rPr lang="en-US" sz="1800" kern="0">
                              <a:effectLst/>
                            </a:rPr>
                            <a:t>2</a:t>
                          </a:r>
                          <a:endParaRPr lang="zh-CN" sz="1800" kern="100">
                            <a:effectLst/>
                            <a:latin typeface="Calibri"/>
                            <a:ea typeface="宋体"/>
                            <a:cs typeface="Times New Roman"/>
                          </a:endParaRPr>
                        </a:p>
                      </a:txBody>
                      <a:tcPr marL="68580" marR="68580" marT="0" marB="0"/>
                    </a:tc>
                    <a:tc>
                      <a:txBody>
                        <a:bodyPr/>
                        <a:lstStyle/>
                        <a:p>
                          <a:pPr algn="ctr">
                            <a:spcAft>
                              <a:spcPts val="0"/>
                            </a:spcAft>
                          </a:pPr>
                          <a:r>
                            <a:rPr lang="en-US" sz="1800" kern="0">
                              <a:effectLst/>
                            </a:rPr>
                            <a:t>1</a:t>
                          </a:r>
                          <a:endParaRPr lang="zh-CN" sz="1800" kern="100">
                            <a:effectLst/>
                            <a:latin typeface="Calibri"/>
                            <a:ea typeface="宋体"/>
                            <a:cs typeface="Times New Roman"/>
                          </a:endParaRPr>
                        </a:p>
                      </a:txBody>
                      <a:tcPr marL="68580" marR="68580" marT="0" marB="0"/>
                    </a:tc>
                    <a:tc>
                      <a:txBody>
                        <a:bodyPr/>
                        <a:lstStyle/>
                        <a:p>
                          <a:pPr algn="ctr">
                            <a:spcAft>
                              <a:spcPts val="0"/>
                            </a:spcAft>
                          </a:pPr>
                          <a:r>
                            <a:rPr lang="en-US" sz="1800" kern="0">
                              <a:effectLst/>
                            </a:rPr>
                            <a:t>1</a:t>
                          </a:r>
                          <a:endParaRPr lang="zh-CN" sz="1800" kern="100">
                            <a:effectLst/>
                            <a:latin typeface="Calibri"/>
                            <a:ea typeface="宋体"/>
                            <a:cs typeface="Times New Roman"/>
                          </a:endParaRPr>
                        </a:p>
                      </a:txBody>
                      <a:tcPr marL="68580" marR="68580" marT="0" marB="0"/>
                    </a:tc>
                    <a:tc>
                      <a:txBody>
                        <a:bodyPr/>
                        <a:lstStyle/>
                        <a:p>
                          <a:pPr algn="ctr">
                            <a:spcAft>
                              <a:spcPts val="0"/>
                            </a:spcAft>
                          </a:pPr>
                          <a:r>
                            <a:rPr lang="en-US" sz="1800" kern="0" dirty="0">
                              <a:effectLst/>
                            </a:rPr>
                            <a:t>1</a:t>
                          </a:r>
                          <a:endParaRPr lang="zh-CN" sz="1800" kern="100" dirty="0">
                            <a:effectLst/>
                            <a:latin typeface="Calibri"/>
                            <a:ea typeface="宋体"/>
                            <a:cs typeface="Times New Roman"/>
                          </a:endParaRPr>
                        </a:p>
                      </a:txBody>
                      <a:tcPr marL="68580" marR="68580" marT="0" marB="0"/>
                    </a:tc>
                  </a:tr>
                  <a:tr h="274320">
                    <a:tc>
                      <a:txBody>
                        <a:bodyPr/>
                        <a:lstStyle/>
                        <a:p>
                          <a:endParaRPr lang="zh-CN"/>
                        </a:p>
                      </a:txBody>
                      <a:tcPr marL="68580" marR="68580" marT="0" marB="0">
                        <a:blipFill rotWithShape="1">
                          <a:blip r:embed="rId2"/>
                          <a:stretch>
                            <a:fillRect l="-334" t="-1040000" r="-259532" b="-446667"/>
                          </a:stretch>
                        </a:blipFill>
                      </a:tcPr>
                    </a:tc>
                    <a:tc>
                      <a:txBody>
                        <a:bodyPr/>
                        <a:lstStyle/>
                        <a:p>
                          <a:pPr algn="ctr">
                            <a:spcAft>
                              <a:spcPts val="0"/>
                            </a:spcAft>
                          </a:pPr>
                          <a:r>
                            <a:rPr lang="en-US" sz="1800" kern="0">
                              <a:effectLst/>
                            </a:rPr>
                            <a:t>2</a:t>
                          </a:r>
                          <a:endParaRPr lang="zh-CN" sz="1800" kern="100">
                            <a:effectLst/>
                            <a:latin typeface="Calibri"/>
                            <a:ea typeface="宋体"/>
                            <a:cs typeface="Times New Roman"/>
                          </a:endParaRPr>
                        </a:p>
                      </a:txBody>
                      <a:tcPr marL="68580" marR="68580" marT="0" marB="0"/>
                    </a:tc>
                    <a:tc>
                      <a:txBody>
                        <a:bodyPr/>
                        <a:lstStyle/>
                        <a:p>
                          <a:pPr algn="ctr">
                            <a:spcAft>
                              <a:spcPts val="0"/>
                            </a:spcAft>
                          </a:pPr>
                          <a:r>
                            <a:rPr lang="en-US" sz="1800" kern="0">
                              <a:effectLst/>
                            </a:rPr>
                            <a:t>3</a:t>
                          </a:r>
                          <a:endParaRPr lang="zh-CN" sz="1800" kern="100">
                            <a:effectLst/>
                            <a:latin typeface="Calibri"/>
                            <a:ea typeface="宋体"/>
                            <a:cs typeface="Times New Roman"/>
                          </a:endParaRPr>
                        </a:p>
                      </a:txBody>
                      <a:tcPr marL="68580" marR="68580" marT="0" marB="0"/>
                    </a:tc>
                    <a:tc>
                      <a:txBody>
                        <a:bodyPr/>
                        <a:lstStyle/>
                        <a:p>
                          <a:pPr algn="ctr">
                            <a:spcAft>
                              <a:spcPts val="0"/>
                            </a:spcAft>
                          </a:pPr>
                          <a:r>
                            <a:rPr lang="en-US" sz="1800" kern="0">
                              <a:effectLst/>
                            </a:rPr>
                            <a:t>1</a:t>
                          </a:r>
                          <a:endParaRPr lang="zh-CN" sz="1800" kern="100">
                            <a:effectLst/>
                            <a:latin typeface="Calibri"/>
                            <a:ea typeface="宋体"/>
                            <a:cs typeface="Times New Roman"/>
                          </a:endParaRPr>
                        </a:p>
                      </a:txBody>
                      <a:tcPr marL="68580" marR="68580" marT="0" marB="0"/>
                    </a:tc>
                    <a:tc>
                      <a:txBody>
                        <a:bodyPr/>
                        <a:lstStyle/>
                        <a:p>
                          <a:pPr algn="ctr">
                            <a:spcAft>
                              <a:spcPts val="0"/>
                            </a:spcAft>
                          </a:pPr>
                          <a:r>
                            <a:rPr lang="en-US" sz="1800" kern="0">
                              <a:effectLst/>
                            </a:rPr>
                            <a:t>1</a:t>
                          </a:r>
                          <a:endParaRPr lang="zh-CN" sz="1800" kern="100">
                            <a:effectLst/>
                            <a:latin typeface="Calibri"/>
                            <a:ea typeface="宋体"/>
                            <a:cs typeface="Times New Roman"/>
                          </a:endParaRPr>
                        </a:p>
                      </a:txBody>
                      <a:tcPr marL="68580" marR="68580" marT="0" marB="0"/>
                    </a:tc>
                    <a:tc>
                      <a:txBody>
                        <a:bodyPr/>
                        <a:lstStyle/>
                        <a:p>
                          <a:pPr algn="ctr">
                            <a:spcAft>
                              <a:spcPts val="0"/>
                            </a:spcAft>
                          </a:pPr>
                          <a:r>
                            <a:rPr lang="en-US" sz="1800" kern="0" dirty="0">
                              <a:effectLst/>
                            </a:rPr>
                            <a:t>1</a:t>
                          </a:r>
                          <a:endParaRPr lang="zh-CN" sz="1800" kern="100" dirty="0">
                            <a:effectLst/>
                            <a:latin typeface="Calibri"/>
                            <a:ea typeface="宋体"/>
                            <a:cs typeface="Times New Roman"/>
                          </a:endParaRPr>
                        </a:p>
                      </a:txBody>
                      <a:tcPr marL="68580" marR="68580" marT="0" marB="0"/>
                    </a:tc>
                  </a:tr>
                  <a:tr h="274320">
                    <a:tc>
                      <a:txBody>
                        <a:bodyPr/>
                        <a:lstStyle/>
                        <a:p>
                          <a:pPr algn="l">
                            <a:spcAft>
                              <a:spcPts val="0"/>
                            </a:spcAft>
                          </a:pPr>
                          <a:r>
                            <a:rPr lang="en-US" sz="1800" kern="0">
                              <a:effectLst/>
                            </a:rPr>
                            <a:t>EC</a:t>
                          </a:r>
                          <a:r>
                            <a:rPr lang="zh-CN" sz="1800" kern="0">
                              <a:effectLst/>
                            </a:rPr>
                            <a:t>上的标量乘法</a:t>
                          </a:r>
                          <a:endParaRPr lang="zh-CN" sz="1800" kern="100">
                            <a:effectLst/>
                            <a:latin typeface="Calibri"/>
                            <a:ea typeface="宋体"/>
                            <a:cs typeface="Times New Roman"/>
                          </a:endParaRPr>
                        </a:p>
                      </a:txBody>
                      <a:tcPr marL="68580" marR="68580" marT="0" marB="0"/>
                    </a:tc>
                    <a:tc>
                      <a:txBody>
                        <a:bodyPr/>
                        <a:lstStyle/>
                        <a:p>
                          <a:pPr algn="ctr">
                            <a:spcAft>
                              <a:spcPts val="0"/>
                            </a:spcAft>
                          </a:pPr>
                          <a:r>
                            <a:rPr lang="en-US" sz="1800" kern="0">
                              <a:effectLst/>
                            </a:rPr>
                            <a:t>1</a:t>
                          </a:r>
                          <a:endParaRPr lang="zh-CN" sz="1800" kern="100">
                            <a:effectLst/>
                            <a:latin typeface="Calibri"/>
                            <a:ea typeface="宋体"/>
                            <a:cs typeface="Times New Roman"/>
                          </a:endParaRPr>
                        </a:p>
                      </a:txBody>
                      <a:tcPr marL="68580" marR="68580" marT="0" marB="0"/>
                    </a:tc>
                    <a:tc>
                      <a:txBody>
                        <a:bodyPr/>
                        <a:lstStyle/>
                        <a:p>
                          <a:pPr algn="ctr">
                            <a:spcAft>
                              <a:spcPts val="0"/>
                            </a:spcAft>
                          </a:pPr>
                          <a:r>
                            <a:rPr lang="en-US" sz="1800" kern="0">
                              <a:effectLst/>
                            </a:rPr>
                            <a:t>1</a:t>
                          </a:r>
                          <a:endParaRPr lang="zh-CN" sz="1800" kern="100">
                            <a:effectLst/>
                            <a:latin typeface="Calibri"/>
                            <a:ea typeface="宋体"/>
                            <a:cs typeface="Times New Roman"/>
                          </a:endParaRPr>
                        </a:p>
                      </a:txBody>
                      <a:tcPr marL="68580" marR="68580" marT="0" marB="0"/>
                    </a:tc>
                    <a:tc>
                      <a:txBody>
                        <a:bodyPr/>
                        <a:lstStyle/>
                        <a:p>
                          <a:pPr algn="ctr">
                            <a:spcAft>
                              <a:spcPts val="0"/>
                            </a:spcAft>
                          </a:pPr>
                          <a:r>
                            <a:rPr lang="en-US" sz="1800" kern="0">
                              <a:effectLst/>
                            </a:rPr>
                            <a:t>1</a:t>
                          </a:r>
                          <a:endParaRPr lang="zh-CN" sz="1800" kern="100">
                            <a:effectLst/>
                            <a:latin typeface="Calibri"/>
                            <a:ea typeface="宋体"/>
                            <a:cs typeface="Times New Roman"/>
                          </a:endParaRPr>
                        </a:p>
                      </a:txBody>
                      <a:tcPr marL="68580" marR="68580" marT="0" marB="0"/>
                    </a:tc>
                    <a:tc>
                      <a:txBody>
                        <a:bodyPr/>
                        <a:lstStyle/>
                        <a:p>
                          <a:pPr algn="ctr">
                            <a:spcAft>
                              <a:spcPts val="0"/>
                            </a:spcAft>
                          </a:pPr>
                          <a:r>
                            <a:rPr lang="en-US" sz="1800" kern="0">
                              <a:effectLst/>
                            </a:rPr>
                            <a:t>1</a:t>
                          </a:r>
                          <a:endParaRPr lang="zh-CN" sz="1800" kern="100">
                            <a:effectLst/>
                            <a:latin typeface="Calibri"/>
                            <a:ea typeface="宋体"/>
                            <a:cs typeface="Times New Roman"/>
                          </a:endParaRPr>
                        </a:p>
                      </a:txBody>
                      <a:tcPr marL="68580" marR="68580" marT="0" marB="0"/>
                    </a:tc>
                    <a:tc>
                      <a:txBody>
                        <a:bodyPr/>
                        <a:lstStyle/>
                        <a:p>
                          <a:pPr algn="ctr">
                            <a:spcAft>
                              <a:spcPts val="0"/>
                            </a:spcAft>
                          </a:pPr>
                          <a:r>
                            <a:rPr lang="en-US" sz="1800" kern="0" dirty="0">
                              <a:effectLst/>
                            </a:rPr>
                            <a:t>1</a:t>
                          </a:r>
                          <a:endParaRPr lang="zh-CN" sz="1800" kern="100" dirty="0">
                            <a:effectLst/>
                            <a:latin typeface="Calibri"/>
                            <a:ea typeface="宋体"/>
                            <a:cs typeface="Times New Roman"/>
                          </a:endParaRPr>
                        </a:p>
                      </a:txBody>
                      <a:tcPr marL="68580" marR="68580" marT="0" marB="0"/>
                    </a:tc>
                  </a:tr>
                  <a:tr h="274320">
                    <a:tc>
                      <a:txBody>
                        <a:bodyPr/>
                        <a:lstStyle/>
                        <a:p>
                          <a:pPr algn="l">
                            <a:spcAft>
                              <a:spcPts val="0"/>
                            </a:spcAft>
                          </a:pPr>
                          <a:r>
                            <a:rPr lang="zh-CN" sz="1800" kern="0">
                              <a:effectLst/>
                            </a:rPr>
                            <a:t>异或操作</a:t>
                          </a:r>
                          <a:endParaRPr lang="zh-CN" sz="1800" kern="100">
                            <a:effectLst/>
                            <a:latin typeface="Calibri"/>
                            <a:ea typeface="宋体"/>
                            <a:cs typeface="Times New Roman"/>
                          </a:endParaRPr>
                        </a:p>
                      </a:txBody>
                      <a:tcPr marL="68580" marR="68580" marT="0" marB="0"/>
                    </a:tc>
                    <a:tc>
                      <a:txBody>
                        <a:bodyPr/>
                        <a:lstStyle/>
                        <a:p>
                          <a:pPr algn="ctr">
                            <a:spcAft>
                              <a:spcPts val="0"/>
                            </a:spcAft>
                          </a:pPr>
                          <a:r>
                            <a:rPr lang="en-US" sz="1800" kern="0">
                              <a:effectLst/>
                            </a:rPr>
                            <a:t>0</a:t>
                          </a:r>
                          <a:endParaRPr lang="zh-CN" sz="1800" kern="100">
                            <a:effectLst/>
                            <a:latin typeface="Calibri"/>
                            <a:ea typeface="宋体"/>
                            <a:cs typeface="Times New Roman"/>
                          </a:endParaRPr>
                        </a:p>
                      </a:txBody>
                      <a:tcPr marL="68580" marR="68580" marT="0" marB="0"/>
                    </a:tc>
                    <a:tc>
                      <a:txBody>
                        <a:bodyPr/>
                        <a:lstStyle/>
                        <a:p>
                          <a:pPr algn="ctr">
                            <a:spcAft>
                              <a:spcPts val="0"/>
                            </a:spcAft>
                          </a:pPr>
                          <a:r>
                            <a:rPr lang="en-US" sz="1800" kern="0">
                              <a:effectLst/>
                            </a:rPr>
                            <a:t>1</a:t>
                          </a:r>
                          <a:endParaRPr lang="zh-CN" sz="1800" kern="100">
                            <a:effectLst/>
                            <a:latin typeface="Calibri"/>
                            <a:ea typeface="宋体"/>
                            <a:cs typeface="Times New Roman"/>
                          </a:endParaRPr>
                        </a:p>
                      </a:txBody>
                      <a:tcPr marL="68580" marR="68580" marT="0" marB="0"/>
                    </a:tc>
                    <a:tc>
                      <a:txBody>
                        <a:bodyPr/>
                        <a:lstStyle/>
                        <a:p>
                          <a:pPr algn="ctr">
                            <a:spcAft>
                              <a:spcPts val="0"/>
                            </a:spcAft>
                          </a:pPr>
                          <a:r>
                            <a:rPr lang="en-US" sz="1800" kern="0">
                              <a:effectLst/>
                            </a:rPr>
                            <a:t>2</a:t>
                          </a:r>
                          <a:endParaRPr lang="zh-CN" sz="1800" kern="100">
                            <a:effectLst/>
                            <a:latin typeface="Calibri"/>
                            <a:ea typeface="宋体"/>
                            <a:cs typeface="Times New Roman"/>
                          </a:endParaRPr>
                        </a:p>
                      </a:txBody>
                      <a:tcPr marL="68580" marR="68580" marT="0" marB="0"/>
                    </a:tc>
                    <a:tc>
                      <a:txBody>
                        <a:bodyPr/>
                        <a:lstStyle/>
                        <a:p>
                          <a:pPr algn="ctr">
                            <a:spcAft>
                              <a:spcPts val="0"/>
                            </a:spcAft>
                          </a:pPr>
                          <a:r>
                            <a:rPr lang="en-US" sz="1800" kern="0">
                              <a:effectLst/>
                            </a:rPr>
                            <a:t>0</a:t>
                          </a:r>
                          <a:endParaRPr lang="zh-CN" sz="1800" kern="100">
                            <a:effectLst/>
                            <a:latin typeface="Calibri"/>
                            <a:ea typeface="宋体"/>
                            <a:cs typeface="Times New Roman"/>
                          </a:endParaRPr>
                        </a:p>
                      </a:txBody>
                      <a:tcPr marL="68580" marR="68580" marT="0" marB="0"/>
                    </a:tc>
                    <a:tc>
                      <a:txBody>
                        <a:bodyPr/>
                        <a:lstStyle/>
                        <a:p>
                          <a:pPr algn="ctr">
                            <a:spcAft>
                              <a:spcPts val="0"/>
                            </a:spcAft>
                          </a:pPr>
                          <a:r>
                            <a:rPr lang="en-US" sz="1800" kern="0" dirty="0">
                              <a:effectLst/>
                            </a:rPr>
                            <a:t>2</a:t>
                          </a:r>
                          <a:endParaRPr lang="zh-CN" sz="1800" kern="100" dirty="0">
                            <a:effectLst/>
                            <a:latin typeface="Calibri"/>
                            <a:ea typeface="宋体"/>
                            <a:cs typeface="Times New Roman"/>
                          </a:endParaRPr>
                        </a:p>
                      </a:txBody>
                      <a:tcPr marL="68580" marR="68580" marT="0" marB="0"/>
                    </a:tc>
                  </a:tr>
                  <a:tr h="548640">
                    <a:tc>
                      <a:txBody>
                        <a:bodyPr/>
                        <a:lstStyle/>
                        <a:p>
                          <a:pPr algn="l">
                            <a:spcAft>
                              <a:spcPts val="0"/>
                            </a:spcAft>
                          </a:pPr>
                          <a:r>
                            <a:rPr lang="zh-CN" sz="1800" kern="0">
                              <a:effectLst/>
                            </a:rPr>
                            <a:t>对称密钥派生函数</a:t>
                          </a:r>
                          <a:endParaRPr lang="zh-CN" sz="1800" kern="100">
                            <a:effectLst/>
                            <a:latin typeface="Calibri"/>
                            <a:ea typeface="宋体"/>
                            <a:cs typeface="Times New Roman"/>
                          </a:endParaRPr>
                        </a:p>
                      </a:txBody>
                      <a:tcPr marL="68580" marR="68580" marT="0" marB="0"/>
                    </a:tc>
                    <a:tc>
                      <a:txBody>
                        <a:bodyPr/>
                        <a:lstStyle/>
                        <a:p>
                          <a:pPr algn="ctr">
                            <a:spcAft>
                              <a:spcPts val="0"/>
                            </a:spcAft>
                          </a:pPr>
                          <a:r>
                            <a:rPr lang="en-US" sz="1800" kern="0">
                              <a:effectLst/>
                            </a:rPr>
                            <a:t>0</a:t>
                          </a:r>
                          <a:endParaRPr lang="zh-CN" sz="1800" kern="100">
                            <a:effectLst/>
                            <a:latin typeface="Calibri"/>
                            <a:ea typeface="宋体"/>
                            <a:cs typeface="Times New Roman"/>
                          </a:endParaRPr>
                        </a:p>
                      </a:txBody>
                      <a:tcPr marL="68580" marR="68580" marT="0" marB="0"/>
                    </a:tc>
                    <a:tc>
                      <a:txBody>
                        <a:bodyPr/>
                        <a:lstStyle/>
                        <a:p>
                          <a:pPr algn="ctr">
                            <a:spcAft>
                              <a:spcPts val="0"/>
                            </a:spcAft>
                          </a:pPr>
                          <a:r>
                            <a:rPr lang="en-US" sz="1800" kern="0">
                              <a:effectLst/>
                            </a:rPr>
                            <a:t>0</a:t>
                          </a:r>
                          <a:endParaRPr lang="zh-CN" sz="1800" kern="100">
                            <a:effectLst/>
                            <a:latin typeface="Calibri"/>
                            <a:ea typeface="宋体"/>
                            <a:cs typeface="Times New Roman"/>
                          </a:endParaRPr>
                        </a:p>
                      </a:txBody>
                      <a:tcPr marL="68580" marR="68580" marT="0" marB="0"/>
                    </a:tc>
                    <a:tc>
                      <a:txBody>
                        <a:bodyPr/>
                        <a:lstStyle/>
                        <a:p>
                          <a:pPr algn="ctr">
                            <a:spcAft>
                              <a:spcPts val="0"/>
                            </a:spcAft>
                          </a:pPr>
                          <a:r>
                            <a:rPr lang="en-US" sz="1800" kern="0">
                              <a:effectLst/>
                            </a:rPr>
                            <a:t>0</a:t>
                          </a:r>
                          <a:endParaRPr lang="zh-CN" sz="1800" kern="100">
                            <a:effectLst/>
                            <a:latin typeface="Calibri"/>
                            <a:ea typeface="宋体"/>
                            <a:cs typeface="Times New Roman"/>
                          </a:endParaRPr>
                        </a:p>
                      </a:txBody>
                      <a:tcPr marL="68580" marR="68580" marT="0" marB="0"/>
                    </a:tc>
                    <a:tc>
                      <a:txBody>
                        <a:bodyPr/>
                        <a:lstStyle/>
                        <a:p>
                          <a:pPr algn="ctr">
                            <a:spcAft>
                              <a:spcPts val="0"/>
                            </a:spcAft>
                          </a:pPr>
                          <a:r>
                            <a:rPr lang="en-US" sz="1800" kern="0">
                              <a:effectLst/>
                            </a:rPr>
                            <a:t>1</a:t>
                          </a:r>
                          <a:endParaRPr lang="zh-CN" sz="1800" kern="100">
                            <a:effectLst/>
                            <a:latin typeface="Calibri"/>
                            <a:ea typeface="宋体"/>
                            <a:cs typeface="Times New Roman"/>
                          </a:endParaRPr>
                        </a:p>
                      </a:txBody>
                      <a:tcPr marL="68580" marR="68580" marT="0" marB="0"/>
                    </a:tc>
                    <a:tc>
                      <a:txBody>
                        <a:bodyPr/>
                        <a:lstStyle/>
                        <a:p>
                          <a:pPr algn="ctr">
                            <a:spcAft>
                              <a:spcPts val="0"/>
                            </a:spcAft>
                          </a:pPr>
                          <a:r>
                            <a:rPr lang="en-US" sz="1800" kern="0" dirty="0">
                              <a:effectLst/>
                            </a:rPr>
                            <a:t>0</a:t>
                          </a:r>
                          <a:endParaRPr lang="zh-CN" sz="1800" kern="100" dirty="0">
                            <a:effectLst/>
                            <a:latin typeface="Calibri"/>
                            <a:ea typeface="宋体"/>
                            <a:cs typeface="Times New Roman"/>
                          </a:endParaRPr>
                        </a:p>
                      </a:txBody>
                      <a:tcPr marL="68580" marR="68580" marT="0" marB="0"/>
                    </a:tc>
                  </a:tr>
                </a:tbl>
              </a:graphicData>
            </a:graphic>
          </p:graphicFrame>
        </mc:Fallback>
      </mc:AlternateContent>
    </p:spTree>
    <p:extLst>
      <p:ext uri="{BB962C8B-B14F-4D97-AF65-F5344CB8AC3E}">
        <p14:creationId xmlns:p14="http://schemas.microsoft.com/office/powerpoint/2010/main" val="200969367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zh-CN" dirty="0"/>
              <a:t>签名验证过程中各算法的运算比较</a:t>
            </a:r>
            <a:endParaRPr lang="zh-CN" altLang="en-US" dirty="0"/>
          </a:p>
        </p:txBody>
      </p:sp>
      <mc:AlternateContent xmlns:mc="http://schemas.openxmlformats.org/markup-compatibility/2006" xmlns:a14="http://schemas.microsoft.com/office/drawing/2010/main">
        <mc:Choice Requires="a14">
          <p:graphicFrame>
            <p:nvGraphicFramePr>
              <p:cNvPr id="4" name="内容占位符 3"/>
              <p:cNvGraphicFramePr>
                <a:graphicFrameLocks noGrp="1"/>
              </p:cNvGraphicFramePr>
              <p:nvPr>
                <p:ph idx="1"/>
                <p:extLst>
                  <p:ext uri="{D42A27DB-BD31-4B8C-83A1-F6EECF244321}">
                    <p14:modId xmlns:p14="http://schemas.microsoft.com/office/powerpoint/2010/main" val="2299427579"/>
                  </p:ext>
                </p:extLst>
              </p:nvPr>
            </p:nvGraphicFramePr>
            <p:xfrm>
              <a:off x="1043608" y="2204864"/>
              <a:ext cx="7128791" cy="3456382"/>
            </p:xfrm>
            <a:graphic>
              <a:graphicData uri="http://schemas.openxmlformats.org/drawingml/2006/table">
                <a:tbl>
                  <a:tblPr firstRow="1" firstCol="1" bandRow="1"/>
                  <a:tblGrid>
                    <a:gridCol w="1984768">
                      <a:extLst>
                        <a:ext uri="{9D8B030D-6E8A-4147-A177-3AD203B41FA5}">
                          <a16:colId xmlns:a16="http://schemas.microsoft.com/office/drawing/2014/main" val="20000"/>
                        </a:ext>
                      </a:extLst>
                    </a:gridCol>
                    <a:gridCol w="952287">
                      <a:extLst>
                        <a:ext uri="{9D8B030D-6E8A-4147-A177-3AD203B41FA5}">
                          <a16:colId xmlns:a16="http://schemas.microsoft.com/office/drawing/2014/main" val="20001"/>
                        </a:ext>
                      </a:extLst>
                    </a:gridCol>
                    <a:gridCol w="952287">
                      <a:extLst>
                        <a:ext uri="{9D8B030D-6E8A-4147-A177-3AD203B41FA5}">
                          <a16:colId xmlns:a16="http://schemas.microsoft.com/office/drawing/2014/main" val="20002"/>
                        </a:ext>
                      </a:extLst>
                    </a:gridCol>
                    <a:gridCol w="1065894">
                      <a:extLst>
                        <a:ext uri="{9D8B030D-6E8A-4147-A177-3AD203B41FA5}">
                          <a16:colId xmlns:a16="http://schemas.microsoft.com/office/drawing/2014/main" val="20003"/>
                        </a:ext>
                      </a:extLst>
                    </a:gridCol>
                    <a:gridCol w="1184513">
                      <a:extLst>
                        <a:ext uri="{9D8B030D-6E8A-4147-A177-3AD203B41FA5}">
                          <a16:colId xmlns:a16="http://schemas.microsoft.com/office/drawing/2014/main" val="20004"/>
                        </a:ext>
                      </a:extLst>
                    </a:gridCol>
                    <a:gridCol w="989042">
                      <a:extLst>
                        <a:ext uri="{9D8B030D-6E8A-4147-A177-3AD203B41FA5}">
                          <a16:colId xmlns:a16="http://schemas.microsoft.com/office/drawing/2014/main" val="20005"/>
                        </a:ext>
                      </a:extLst>
                    </a:gridCol>
                  </a:tblGrid>
                  <a:tr h="389452">
                    <a:tc>
                      <a:txBody>
                        <a:bodyPr/>
                        <a:lstStyle/>
                        <a:p>
                          <a:pPr algn="l">
                            <a:spcAft>
                              <a:spcPts val="0"/>
                            </a:spcAft>
                          </a:pPr>
                          <a:r>
                            <a:rPr lang="en-US" sz="1800" kern="0" dirty="0">
                              <a:effectLst/>
                              <a:latin typeface="宋体"/>
                              <a:ea typeface="宋体"/>
                              <a:cs typeface="AdobeSongStd-Light"/>
                            </a:rPr>
                            <a:t> </a:t>
                          </a:r>
                          <a:endParaRPr lang="zh-CN" sz="1800" kern="100" dirty="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800" kern="0" dirty="0">
                              <a:effectLst/>
                              <a:latin typeface="宋体"/>
                              <a:ea typeface="宋体"/>
                              <a:cs typeface="AdobeSongStd-Light"/>
                            </a:rPr>
                            <a:t>ECNR</a:t>
                          </a:r>
                          <a:endParaRPr lang="zh-CN" sz="1800" kern="100" dirty="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800" kern="0" dirty="0">
                              <a:effectLst/>
                              <a:latin typeface="宋体"/>
                              <a:ea typeface="宋体"/>
                              <a:cs typeface="AdobeSongStd-Light"/>
                            </a:rPr>
                            <a:t>ECMR</a:t>
                          </a:r>
                          <a:endParaRPr lang="zh-CN" sz="1800" kern="100" dirty="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800" kern="0">
                              <a:effectLst/>
                              <a:latin typeface="宋体"/>
                              <a:ea typeface="宋体"/>
                              <a:cs typeface="AdobeSongStd-Light"/>
                            </a:rPr>
                            <a:t>ECAO</a:t>
                          </a:r>
                          <a:endParaRPr lang="zh-CN" sz="18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800" kern="0">
                              <a:effectLst/>
                              <a:latin typeface="宋体"/>
                              <a:ea typeface="宋体"/>
                              <a:cs typeface="AdobeSongStd-Light"/>
                            </a:rPr>
                            <a:t>ECPV</a:t>
                          </a:r>
                          <a:endParaRPr lang="zh-CN" sz="18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800" kern="0">
                              <a:effectLst/>
                              <a:latin typeface="宋体"/>
                              <a:ea typeface="宋体"/>
                              <a:cs typeface="AdobeSongStd-Light"/>
                            </a:rPr>
                            <a:t>ECKNR</a:t>
                          </a:r>
                          <a:endParaRPr lang="zh-CN" sz="18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40770">
                    <a:tc>
                      <a:txBody>
                        <a:bodyPr/>
                        <a:lstStyle/>
                        <a:p>
                          <a:pPr algn="l">
                            <a:spcAft>
                              <a:spcPts val="0"/>
                            </a:spcAft>
                          </a:pPr>
                          <a:r>
                            <a:rPr lang="en-US" sz="1800" kern="0">
                              <a:effectLst/>
                              <a:latin typeface="宋体"/>
                              <a:ea typeface="宋体"/>
                              <a:cs typeface="AdobeSongStd-Light"/>
                            </a:rPr>
                            <a:t>Hash</a:t>
                          </a:r>
                          <a:endParaRPr lang="zh-CN" sz="18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effectLst/>
                              <a:latin typeface="宋体"/>
                              <a:ea typeface="宋体"/>
                              <a:cs typeface="AdobeSongStd-Light"/>
                            </a:rPr>
                            <a:t>1</a:t>
                          </a:r>
                          <a:endParaRPr lang="zh-CN" sz="18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dirty="0">
                              <a:effectLst/>
                              <a:latin typeface="宋体"/>
                              <a:ea typeface="宋体"/>
                              <a:cs typeface="AdobeSongStd-Light"/>
                            </a:rPr>
                            <a:t>2</a:t>
                          </a:r>
                          <a:endParaRPr lang="zh-CN" sz="1800" kern="100" dirty="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dirty="0">
                              <a:effectLst/>
                              <a:latin typeface="宋体"/>
                              <a:ea typeface="宋体"/>
                              <a:cs typeface="AdobeSongStd-Light"/>
                            </a:rPr>
                            <a:t>3</a:t>
                          </a:r>
                          <a:endParaRPr lang="zh-CN" sz="1800" kern="100" dirty="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effectLst/>
                              <a:latin typeface="宋体"/>
                              <a:ea typeface="宋体"/>
                              <a:cs typeface="AdobeSongStd-Light"/>
                            </a:rPr>
                            <a:t>2</a:t>
                          </a:r>
                          <a:endParaRPr lang="zh-CN" sz="18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effectLst/>
                              <a:latin typeface="宋体"/>
                              <a:ea typeface="宋体"/>
                              <a:cs typeface="AdobeSongStd-Light"/>
                            </a:rPr>
                            <a:t>2</a:t>
                          </a:r>
                          <a:endParaRPr lang="zh-CN" sz="18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40770">
                    <a:tc>
                      <a:txBody>
                        <a:bodyPr/>
                        <a:lstStyle/>
                        <a:p>
                          <a:pPr algn="l">
                            <a:spcAft>
                              <a:spcPts val="0"/>
                            </a:spcAft>
                          </a:pPr>
                          <a:r>
                            <a:rPr lang="zh-CN" sz="1800" kern="0">
                              <a:effectLst/>
                              <a:latin typeface="Calibri"/>
                              <a:ea typeface="宋体"/>
                              <a:cs typeface="AdobeSongStd-Light"/>
                            </a:rPr>
                            <a:t>对称密钥密码</a:t>
                          </a:r>
                          <a:endParaRPr lang="zh-CN" sz="18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effectLst/>
                              <a:latin typeface="宋体"/>
                              <a:ea typeface="宋体"/>
                              <a:cs typeface="AdobeSongStd-Light"/>
                            </a:rPr>
                            <a:t>0</a:t>
                          </a:r>
                          <a:endParaRPr lang="zh-CN" sz="18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effectLst/>
                              <a:latin typeface="宋体"/>
                              <a:ea typeface="宋体"/>
                              <a:cs typeface="AdobeSongStd-Light"/>
                            </a:rPr>
                            <a:t>0</a:t>
                          </a:r>
                          <a:endParaRPr lang="zh-CN" sz="18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dirty="0">
                              <a:effectLst/>
                              <a:latin typeface="宋体"/>
                              <a:ea typeface="宋体"/>
                              <a:cs typeface="AdobeSongStd-Light"/>
                            </a:rPr>
                            <a:t>0</a:t>
                          </a:r>
                          <a:endParaRPr lang="zh-CN" sz="1800" kern="100" dirty="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dirty="0">
                              <a:effectLst/>
                              <a:latin typeface="宋体"/>
                              <a:ea typeface="宋体"/>
                              <a:cs typeface="AdobeSongStd-Light"/>
                            </a:rPr>
                            <a:t>1</a:t>
                          </a:r>
                          <a:endParaRPr lang="zh-CN" sz="1800" kern="100" dirty="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effectLst/>
                              <a:latin typeface="宋体"/>
                              <a:ea typeface="宋体"/>
                              <a:cs typeface="AdobeSongStd-Light"/>
                            </a:rPr>
                            <a:t>0</a:t>
                          </a:r>
                          <a:endParaRPr lang="zh-CN" sz="18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40770">
                    <a:tc>
                      <a:txBody>
                        <a:bodyPr/>
                        <a:lstStyle/>
                        <a:p>
                          <a:pPr algn="l">
                            <a:spcAft>
                              <a:spcPts val="0"/>
                            </a:spcAft>
                          </a:pPr>
                          <a14:m>
                            <m:oMath xmlns:m="http://schemas.openxmlformats.org/officeDocument/2006/math">
                              <m:r>
                                <m:rPr>
                                  <m:sty m:val="p"/>
                                </m:rPr>
                                <a:rPr lang="en-US" sz="1800" kern="0">
                                  <a:effectLst/>
                                  <a:latin typeface="Cambria Math"/>
                                  <a:ea typeface="宋体"/>
                                  <a:cs typeface="AdobeSongStd-Light"/>
                                </a:rPr>
                                <m:t>F</m:t>
                              </m:r>
                              <m:r>
                                <a:rPr lang="en-US" sz="1800" kern="0">
                                  <a:effectLst/>
                                  <a:latin typeface="Cambria Math"/>
                                  <a:ea typeface="宋体"/>
                                  <a:cs typeface="AdobeSongStd-Light"/>
                                </a:rPr>
                                <m:t>(</m:t>
                              </m:r>
                              <m:r>
                                <m:rPr>
                                  <m:sty m:val="p"/>
                                </m:rPr>
                                <a:rPr lang="en-US" sz="1800" kern="0">
                                  <a:effectLst/>
                                  <a:latin typeface="Cambria Math"/>
                                  <a:ea typeface="宋体"/>
                                  <a:cs typeface="AdobeSongStd-Light"/>
                                </a:rPr>
                                <m:t>n</m:t>
                              </m:r>
                              <m:r>
                                <a:rPr lang="en-US" sz="1800" kern="0">
                                  <a:effectLst/>
                                  <a:latin typeface="Cambria Math"/>
                                  <a:ea typeface="宋体"/>
                                  <a:cs typeface="AdobeSongStd-Light"/>
                                </a:rPr>
                                <m:t>)</m:t>
                              </m:r>
                            </m:oMath>
                          </a14:m>
                          <a:r>
                            <a:rPr lang="zh-CN" sz="1800" kern="0" dirty="0">
                              <a:effectLst/>
                              <a:latin typeface="Calibri"/>
                              <a:ea typeface="宋体"/>
                              <a:cs typeface="AdobeSongStd-Light"/>
                            </a:rPr>
                            <a:t>中的逆</a:t>
                          </a:r>
                          <a:endParaRPr lang="zh-CN" sz="1800" kern="100" dirty="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effectLst/>
                              <a:latin typeface="宋体"/>
                              <a:ea typeface="宋体"/>
                              <a:cs typeface="AdobeSongStd-Light"/>
                            </a:rPr>
                            <a:t>0</a:t>
                          </a:r>
                          <a:endParaRPr lang="zh-CN" sz="18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effectLst/>
                              <a:latin typeface="宋体"/>
                              <a:ea typeface="宋体"/>
                              <a:cs typeface="AdobeSongStd-Light"/>
                            </a:rPr>
                            <a:t>1</a:t>
                          </a:r>
                          <a:endParaRPr lang="zh-CN" sz="18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effectLst/>
                              <a:latin typeface="宋体"/>
                              <a:ea typeface="宋体"/>
                              <a:cs typeface="AdobeSongStd-Light"/>
                            </a:rPr>
                            <a:t>0</a:t>
                          </a:r>
                          <a:endParaRPr lang="zh-CN" sz="18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dirty="0">
                              <a:effectLst/>
                              <a:latin typeface="宋体"/>
                              <a:ea typeface="宋体"/>
                              <a:cs typeface="AdobeSongStd-Light"/>
                            </a:rPr>
                            <a:t>0</a:t>
                          </a:r>
                          <a:endParaRPr lang="zh-CN" sz="1800" kern="100" dirty="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dirty="0">
                              <a:effectLst/>
                              <a:latin typeface="宋体"/>
                              <a:ea typeface="宋体"/>
                              <a:cs typeface="AdobeSongStd-Light"/>
                            </a:rPr>
                            <a:t>0</a:t>
                          </a:r>
                          <a:endParaRPr lang="zh-CN" sz="1800" kern="100" dirty="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40770">
                    <a:tc>
                      <a:txBody>
                        <a:bodyPr/>
                        <a:lstStyle/>
                        <a:p>
                          <a:pPr algn="l">
                            <a:spcAft>
                              <a:spcPts val="0"/>
                            </a:spcAft>
                          </a:pPr>
                          <a14:m>
                            <m:oMath xmlns:m="http://schemas.openxmlformats.org/officeDocument/2006/math">
                              <m:r>
                                <m:rPr>
                                  <m:sty m:val="p"/>
                                </m:rPr>
                                <a:rPr lang="en-US" sz="1800" kern="0">
                                  <a:effectLst/>
                                  <a:latin typeface="Cambria Math"/>
                                  <a:ea typeface="宋体"/>
                                  <a:cs typeface="AdobeSongStd-Light"/>
                                </a:rPr>
                                <m:t>F</m:t>
                              </m:r>
                              <m:r>
                                <a:rPr lang="en-US" sz="1800" kern="0">
                                  <a:effectLst/>
                                  <a:latin typeface="Cambria Math"/>
                                  <a:ea typeface="宋体"/>
                                  <a:cs typeface="AdobeSongStd-Light"/>
                                </a:rPr>
                                <m:t>(</m:t>
                              </m:r>
                              <m:r>
                                <m:rPr>
                                  <m:sty m:val="p"/>
                                </m:rPr>
                                <a:rPr lang="en-US" sz="1800" kern="0">
                                  <a:effectLst/>
                                  <a:latin typeface="Cambria Math"/>
                                  <a:ea typeface="宋体"/>
                                  <a:cs typeface="AdobeSongStd-Light"/>
                                </a:rPr>
                                <m:t>n</m:t>
                              </m:r>
                              <m:r>
                                <a:rPr lang="en-US" sz="1800" kern="0">
                                  <a:effectLst/>
                                  <a:latin typeface="Cambria Math"/>
                                  <a:ea typeface="宋体"/>
                                  <a:cs typeface="AdobeSongStd-Light"/>
                                </a:rPr>
                                <m:t>)</m:t>
                              </m:r>
                            </m:oMath>
                          </a14:m>
                          <a:r>
                            <a:rPr lang="zh-CN" sz="1800" kern="0">
                              <a:effectLst/>
                              <a:latin typeface="Calibri"/>
                              <a:ea typeface="宋体"/>
                              <a:cs typeface="AdobeSongStd-Light"/>
                            </a:rPr>
                            <a:t>中的乘法</a:t>
                          </a:r>
                          <a:endParaRPr lang="zh-CN" sz="18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effectLst/>
                              <a:latin typeface="宋体"/>
                              <a:ea typeface="宋体"/>
                              <a:cs typeface="AdobeSongStd-Light"/>
                            </a:rPr>
                            <a:t>0</a:t>
                          </a:r>
                          <a:endParaRPr lang="zh-CN" sz="18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effectLst/>
                              <a:latin typeface="宋体"/>
                              <a:ea typeface="宋体"/>
                              <a:cs typeface="AdobeSongStd-Light"/>
                            </a:rPr>
                            <a:t>2</a:t>
                          </a:r>
                          <a:endParaRPr lang="zh-CN" sz="18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effectLst/>
                              <a:latin typeface="宋体"/>
                              <a:ea typeface="宋体"/>
                              <a:cs typeface="AdobeSongStd-Light"/>
                            </a:rPr>
                            <a:t>0</a:t>
                          </a:r>
                          <a:endParaRPr lang="zh-CN" sz="18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dirty="0">
                              <a:effectLst/>
                              <a:latin typeface="宋体"/>
                              <a:ea typeface="宋体"/>
                              <a:cs typeface="AdobeSongStd-Light"/>
                            </a:rPr>
                            <a:t>0</a:t>
                          </a:r>
                          <a:endParaRPr lang="zh-CN" sz="1800" kern="100" dirty="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dirty="0">
                              <a:effectLst/>
                              <a:latin typeface="宋体"/>
                              <a:ea typeface="宋体"/>
                              <a:cs typeface="AdobeSongStd-Light"/>
                            </a:rPr>
                            <a:t>0</a:t>
                          </a:r>
                          <a:endParaRPr lang="zh-CN" sz="1800" kern="100" dirty="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340770">
                    <a:tc>
                      <a:txBody>
                        <a:bodyPr/>
                        <a:lstStyle/>
                        <a:p>
                          <a:pPr algn="l">
                            <a:spcAft>
                              <a:spcPts val="0"/>
                            </a:spcAft>
                          </a:pPr>
                          <a14:m>
                            <m:oMath xmlns:m="http://schemas.openxmlformats.org/officeDocument/2006/math">
                              <m:r>
                                <m:rPr>
                                  <m:sty m:val="p"/>
                                </m:rPr>
                                <a:rPr lang="en-US" sz="1800" kern="0">
                                  <a:effectLst/>
                                  <a:latin typeface="Cambria Math"/>
                                  <a:ea typeface="宋体"/>
                                  <a:cs typeface="AdobeSongStd-Light"/>
                                </a:rPr>
                                <m:t>F</m:t>
                              </m:r>
                              <m:r>
                                <a:rPr lang="en-US" sz="1800" kern="0">
                                  <a:effectLst/>
                                  <a:latin typeface="Cambria Math"/>
                                  <a:ea typeface="宋体"/>
                                  <a:cs typeface="AdobeSongStd-Light"/>
                                </a:rPr>
                                <m:t>(</m:t>
                              </m:r>
                              <m:r>
                                <m:rPr>
                                  <m:sty m:val="p"/>
                                </m:rPr>
                                <a:rPr lang="en-US" sz="1800" kern="0">
                                  <a:effectLst/>
                                  <a:latin typeface="Cambria Math"/>
                                  <a:ea typeface="宋体"/>
                                  <a:cs typeface="AdobeSongStd-Light"/>
                                </a:rPr>
                                <m:t>n</m:t>
                              </m:r>
                              <m:r>
                                <a:rPr lang="en-US" sz="1800" kern="0">
                                  <a:effectLst/>
                                  <a:latin typeface="Cambria Math"/>
                                  <a:ea typeface="宋体"/>
                                  <a:cs typeface="AdobeSongStd-Light"/>
                                </a:rPr>
                                <m:t>)</m:t>
                              </m:r>
                            </m:oMath>
                          </a14:m>
                          <a:r>
                            <a:rPr lang="zh-CN" sz="1800" kern="0">
                              <a:effectLst/>
                              <a:latin typeface="Calibri"/>
                              <a:ea typeface="宋体"/>
                              <a:cs typeface="AdobeSongStd-Light"/>
                            </a:rPr>
                            <a:t>中的加法</a:t>
                          </a:r>
                          <a:endParaRPr lang="zh-CN" sz="18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effectLst/>
                              <a:latin typeface="宋体"/>
                              <a:ea typeface="宋体"/>
                              <a:cs typeface="AdobeSongStd-Light"/>
                            </a:rPr>
                            <a:t>1</a:t>
                          </a:r>
                          <a:endParaRPr lang="zh-CN" sz="18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effectLst/>
                              <a:latin typeface="宋体"/>
                              <a:ea typeface="宋体"/>
                              <a:cs typeface="AdobeSongStd-Light"/>
                            </a:rPr>
                            <a:t>2</a:t>
                          </a:r>
                          <a:endParaRPr lang="zh-CN" sz="18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effectLst/>
                              <a:latin typeface="宋体"/>
                              <a:ea typeface="宋体"/>
                              <a:cs typeface="AdobeSongStd-Light"/>
                            </a:rPr>
                            <a:t>0</a:t>
                          </a:r>
                          <a:endParaRPr lang="zh-CN" sz="18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effectLst/>
                              <a:latin typeface="宋体"/>
                              <a:ea typeface="宋体"/>
                              <a:cs typeface="AdobeSongStd-Light"/>
                            </a:rPr>
                            <a:t>0</a:t>
                          </a:r>
                          <a:endParaRPr lang="zh-CN" sz="18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dirty="0">
                              <a:effectLst/>
                              <a:latin typeface="宋体"/>
                              <a:ea typeface="宋体"/>
                              <a:cs typeface="AdobeSongStd-Light"/>
                            </a:rPr>
                            <a:t>0</a:t>
                          </a:r>
                          <a:endParaRPr lang="zh-CN" sz="1800" kern="100" dirty="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340770">
                    <a:tc>
                      <a:txBody>
                        <a:bodyPr/>
                        <a:lstStyle/>
                        <a:p>
                          <a:pPr algn="l">
                            <a:spcAft>
                              <a:spcPts val="0"/>
                            </a:spcAft>
                          </a:pPr>
                          <a:r>
                            <a:rPr lang="en-US" sz="1800" kern="0">
                              <a:effectLst/>
                              <a:latin typeface="宋体"/>
                              <a:ea typeface="宋体"/>
                              <a:cs typeface="AdobeSongStd-Light"/>
                            </a:rPr>
                            <a:t>EC</a:t>
                          </a:r>
                          <a:r>
                            <a:rPr lang="zh-CN" sz="1800" kern="0">
                              <a:effectLst/>
                              <a:latin typeface="Calibri"/>
                              <a:ea typeface="宋体"/>
                              <a:cs typeface="AdobeSongStd-Light"/>
                            </a:rPr>
                            <a:t>上的标量乘法</a:t>
                          </a:r>
                          <a:endParaRPr lang="zh-CN" sz="18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effectLst/>
                              <a:latin typeface="宋体"/>
                              <a:ea typeface="宋体"/>
                              <a:cs typeface="AdobeSongStd-Light"/>
                            </a:rPr>
                            <a:t>2</a:t>
                          </a:r>
                          <a:endParaRPr lang="zh-CN" sz="18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effectLst/>
                              <a:latin typeface="宋体"/>
                              <a:ea typeface="宋体"/>
                              <a:cs typeface="AdobeSongStd-Light"/>
                            </a:rPr>
                            <a:t>2</a:t>
                          </a:r>
                          <a:endParaRPr lang="zh-CN" sz="18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effectLst/>
                              <a:latin typeface="宋体"/>
                              <a:ea typeface="宋体"/>
                              <a:cs typeface="AdobeSongStd-Light"/>
                            </a:rPr>
                            <a:t>2</a:t>
                          </a:r>
                          <a:endParaRPr lang="zh-CN" sz="18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effectLst/>
                              <a:latin typeface="宋体"/>
                              <a:ea typeface="宋体"/>
                              <a:cs typeface="AdobeSongStd-Light"/>
                            </a:rPr>
                            <a:t>2</a:t>
                          </a:r>
                          <a:endParaRPr lang="zh-CN" sz="18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dirty="0">
                              <a:effectLst/>
                              <a:latin typeface="宋体"/>
                              <a:ea typeface="宋体"/>
                              <a:cs typeface="AdobeSongStd-Light"/>
                            </a:rPr>
                            <a:t>2</a:t>
                          </a:r>
                          <a:endParaRPr lang="zh-CN" sz="1800" kern="100" dirty="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340770">
                    <a:tc>
                      <a:txBody>
                        <a:bodyPr/>
                        <a:lstStyle/>
                        <a:p>
                          <a:pPr algn="l">
                            <a:spcAft>
                              <a:spcPts val="0"/>
                            </a:spcAft>
                          </a:pPr>
                          <a:r>
                            <a:rPr lang="en-US" sz="1800" kern="0">
                              <a:effectLst/>
                              <a:latin typeface="宋体"/>
                              <a:ea typeface="宋体"/>
                              <a:cs typeface="AdobeSongStd-Light"/>
                            </a:rPr>
                            <a:t>EC</a:t>
                          </a:r>
                          <a:r>
                            <a:rPr lang="zh-CN" sz="1800" kern="0">
                              <a:effectLst/>
                              <a:latin typeface="Calibri"/>
                              <a:ea typeface="宋体"/>
                              <a:cs typeface="AdobeSongStd-Light"/>
                            </a:rPr>
                            <a:t>上的点加</a:t>
                          </a:r>
                          <a:endParaRPr lang="zh-CN" sz="18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effectLst/>
                              <a:latin typeface="宋体"/>
                              <a:ea typeface="宋体"/>
                              <a:cs typeface="AdobeSongStd-Light"/>
                            </a:rPr>
                            <a:t>1</a:t>
                          </a:r>
                          <a:endParaRPr lang="zh-CN" sz="18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effectLst/>
                              <a:latin typeface="宋体"/>
                              <a:ea typeface="宋体"/>
                              <a:cs typeface="AdobeSongStd-Light"/>
                            </a:rPr>
                            <a:t>1</a:t>
                          </a:r>
                          <a:endParaRPr lang="zh-CN" sz="18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effectLst/>
                              <a:latin typeface="宋体"/>
                              <a:ea typeface="宋体"/>
                              <a:cs typeface="AdobeSongStd-Light"/>
                            </a:rPr>
                            <a:t>1</a:t>
                          </a:r>
                          <a:endParaRPr lang="zh-CN" sz="18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effectLst/>
                              <a:latin typeface="宋体"/>
                              <a:ea typeface="宋体"/>
                              <a:cs typeface="AdobeSongStd-Light"/>
                            </a:rPr>
                            <a:t>1</a:t>
                          </a:r>
                          <a:endParaRPr lang="zh-CN" sz="18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dirty="0">
                              <a:effectLst/>
                              <a:latin typeface="宋体"/>
                              <a:ea typeface="宋体"/>
                              <a:cs typeface="AdobeSongStd-Light"/>
                            </a:rPr>
                            <a:t>1</a:t>
                          </a:r>
                          <a:endParaRPr lang="zh-CN" sz="1800" kern="100" dirty="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340770">
                    <a:tc>
                      <a:txBody>
                        <a:bodyPr/>
                        <a:lstStyle/>
                        <a:p>
                          <a:pPr algn="l">
                            <a:spcAft>
                              <a:spcPts val="0"/>
                            </a:spcAft>
                          </a:pPr>
                          <a:r>
                            <a:rPr lang="zh-CN" sz="1800" kern="0">
                              <a:effectLst/>
                              <a:latin typeface="Calibri"/>
                              <a:ea typeface="宋体"/>
                              <a:cs typeface="AdobeSongStd-Light"/>
                            </a:rPr>
                            <a:t>异或操作</a:t>
                          </a:r>
                          <a:endParaRPr lang="zh-CN" sz="18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effectLst/>
                              <a:latin typeface="宋体"/>
                              <a:ea typeface="宋体"/>
                              <a:cs typeface="AdobeSongStd-Light"/>
                            </a:rPr>
                            <a:t>0</a:t>
                          </a:r>
                          <a:endParaRPr lang="zh-CN" sz="18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effectLst/>
                              <a:latin typeface="宋体"/>
                              <a:ea typeface="宋体"/>
                              <a:cs typeface="AdobeSongStd-Light"/>
                            </a:rPr>
                            <a:t>1</a:t>
                          </a:r>
                          <a:endParaRPr lang="zh-CN" sz="18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effectLst/>
                              <a:latin typeface="宋体"/>
                              <a:ea typeface="宋体"/>
                              <a:cs typeface="AdobeSongStd-Light"/>
                            </a:rPr>
                            <a:t>2</a:t>
                          </a:r>
                          <a:endParaRPr lang="zh-CN" sz="18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effectLst/>
                              <a:latin typeface="宋体"/>
                              <a:ea typeface="宋体"/>
                              <a:cs typeface="AdobeSongStd-Light"/>
                            </a:rPr>
                            <a:t>0</a:t>
                          </a:r>
                          <a:endParaRPr lang="zh-CN" sz="18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dirty="0">
                              <a:effectLst/>
                              <a:latin typeface="宋体"/>
                              <a:ea typeface="宋体"/>
                              <a:cs typeface="AdobeSongStd-Light"/>
                            </a:rPr>
                            <a:t>2</a:t>
                          </a:r>
                          <a:endParaRPr lang="zh-CN" sz="1800" kern="100" dirty="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340770">
                    <a:tc>
                      <a:txBody>
                        <a:bodyPr/>
                        <a:lstStyle/>
                        <a:p>
                          <a:pPr algn="l">
                            <a:spcAft>
                              <a:spcPts val="0"/>
                            </a:spcAft>
                          </a:pPr>
                          <a:r>
                            <a:rPr lang="zh-CN" sz="1800" kern="0">
                              <a:effectLst/>
                              <a:latin typeface="Calibri"/>
                              <a:ea typeface="宋体"/>
                              <a:cs typeface="AdobeSongStd-Light"/>
                            </a:rPr>
                            <a:t>对称密钥派生函数</a:t>
                          </a:r>
                          <a:endParaRPr lang="zh-CN" sz="18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effectLst/>
                              <a:latin typeface="宋体"/>
                              <a:ea typeface="宋体"/>
                              <a:cs typeface="AdobeSongStd-Light"/>
                            </a:rPr>
                            <a:t>0</a:t>
                          </a:r>
                          <a:endParaRPr lang="zh-CN" sz="18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effectLst/>
                              <a:latin typeface="宋体"/>
                              <a:ea typeface="宋体"/>
                              <a:cs typeface="AdobeSongStd-Light"/>
                            </a:rPr>
                            <a:t>0</a:t>
                          </a:r>
                          <a:endParaRPr lang="zh-CN" sz="18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effectLst/>
                              <a:latin typeface="宋体"/>
                              <a:ea typeface="宋体"/>
                              <a:cs typeface="AdobeSongStd-Light"/>
                            </a:rPr>
                            <a:t>0</a:t>
                          </a:r>
                          <a:endParaRPr lang="zh-CN" sz="18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effectLst/>
                              <a:latin typeface="宋体"/>
                              <a:ea typeface="宋体"/>
                              <a:cs typeface="AdobeSongStd-Light"/>
                            </a:rPr>
                            <a:t>1</a:t>
                          </a:r>
                          <a:endParaRPr lang="zh-CN" sz="18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dirty="0">
                              <a:effectLst/>
                              <a:latin typeface="宋体"/>
                              <a:ea typeface="宋体"/>
                              <a:cs typeface="AdobeSongStd-Light"/>
                            </a:rPr>
                            <a:t>0</a:t>
                          </a:r>
                          <a:endParaRPr lang="zh-CN" sz="1800" kern="100" dirty="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mc:Choice>
        <mc:Fallback xmlns="">
          <p:graphicFrame>
            <p:nvGraphicFramePr>
              <p:cNvPr id="4" name="内容占位符 3"/>
              <p:cNvGraphicFramePr>
                <a:graphicFrameLocks noGrp="1"/>
              </p:cNvGraphicFramePr>
              <p:nvPr>
                <p:ph idx="1"/>
                <p:extLst>
                  <p:ext uri="{D42A27DB-BD31-4B8C-83A1-F6EECF244321}">
                    <p14:modId xmlns:p14="http://schemas.microsoft.com/office/powerpoint/2010/main" val="4074853267"/>
                  </p:ext>
                </p:extLst>
              </p:nvPr>
            </p:nvGraphicFramePr>
            <p:xfrm>
              <a:off x="1043608" y="2204864"/>
              <a:ext cx="7128791" cy="3456382"/>
            </p:xfrm>
            <a:graphic>
              <a:graphicData uri="http://schemas.openxmlformats.org/drawingml/2006/table">
                <a:tbl>
                  <a:tblPr firstRow="1" firstCol="1" bandRow="1"/>
                  <a:tblGrid>
                    <a:gridCol w="1984768"/>
                    <a:gridCol w="952287"/>
                    <a:gridCol w="952287"/>
                    <a:gridCol w="1065894"/>
                    <a:gridCol w="1184513"/>
                    <a:gridCol w="989042"/>
                  </a:tblGrid>
                  <a:tr h="389452">
                    <a:tc>
                      <a:txBody>
                        <a:bodyPr/>
                        <a:lstStyle/>
                        <a:p>
                          <a:pPr algn="l">
                            <a:spcAft>
                              <a:spcPts val="0"/>
                            </a:spcAft>
                          </a:pPr>
                          <a:r>
                            <a:rPr lang="en-US" sz="1800" kern="0" dirty="0">
                              <a:effectLst/>
                              <a:latin typeface="宋体"/>
                              <a:ea typeface="宋体"/>
                              <a:cs typeface="AdobeSongStd-Light"/>
                            </a:rPr>
                            <a:t> </a:t>
                          </a:r>
                          <a:endParaRPr lang="zh-CN" sz="1800" kern="100" dirty="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800" kern="0" dirty="0">
                              <a:effectLst/>
                              <a:latin typeface="宋体"/>
                              <a:ea typeface="宋体"/>
                              <a:cs typeface="AdobeSongStd-Light"/>
                            </a:rPr>
                            <a:t>ECNR</a:t>
                          </a:r>
                          <a:endParaRPr lang="zh-CN" sz="1800" kern="100" dirty="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800" kern="0" dirty="0">
                              <a:effectLst/>
                              <a:latin typeface="宋体"/>
                              <a:ea typeface="宋体"/>
                              <a:cs typeface="AdobeSongStd-Light"/>
                            </a:rPr>
                            <a:t>ECMR</a:t>
                          </a:r>
                          <a:endParaRPr lang="zh-CN" sz="1800" kern="100" dirty="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800" kern="0">
                              <a:effectLst/>
                              <a:latin typeface="宋体"/>
                              <a:ea typeface="宋体"/>
                              <a:cs typeface="AdobeSongStd-Light"/>
                            </a:rPr>
                            <a:t>ECAO</a:t>
                          </a:r>
                          <a:endParaRPr lang="zh-CN" sz="18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800" kern="0">
                              <a:effectLst/>
                              <a:latin typeface="宋体"/>
                              <a:ea typeface="宋体"/>
                              <a:cs typeface="AdobeSongStd-Light"/>
                            </a:rPr>
                            <a:t>ECPV</a:t>
                          </a:r>
                          <a:endParaRPr lang="zh-CN" sz="18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800" kern="0">
                              <a:effectLst/>
                              <a:latin typeface="宋体"/>
                              <a:ea typeface="宋体"/>
                              <a:cs typeface="AdobeSongStd-Light"/>
                            </a:rPr>
                            <a:t>ECKNR</a:t>
                          </a:r>
                          <a:endParaRPr lang="zh-CN" sz="18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40770">
                    <a:tc>
                      <a:txBody>
                        <a:bodyPr/>
                        <a:lstStyle/>
                        <a:p>
                          <a:pPr algn="l">
                            <a:spcAft>
                              <a:spcPts val="0"/>
                            </a:spcAft>
                          </a:pPr>
                          <a:r>
                            <a:rPr lang="en-US" sz="1800" kern="0">
                              <a:effectLst/>
                              <a:latin typeface="宋体"/>
                              <a:ea typeface="宋体"/>
                              <a:cs typeface="AdobeSongStd-Light"/>
                            </a:rPr>
                            <a:t>Hash</a:t>
                          </a:r>
                          <a:endParaRPr lang="zh-CN" sz="18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effectLst/>
                              <a:latin typeface="宋体"/>
                              <a:ea typeface="宋体"/>
                              <a:cs typeface="AdobeSongStd-Light"/>
                            </a:rPr>
                            <a:t>1</a:t>
                          </a:r>
                          <a:endParaRPr lang="zh-CN" sz="18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dirty="0">
                              <a:effectLst/>
                              <a:latin typeface="宋体"/>
                              <a:ea typeface="宋体"/>
                              <a:cs typeface="AdobeSongStd-Light"/>
                            </a:rPr>
                            <a:t>2</a:t>
                          </a:r>
                          <a:endParaRPr lang="zh-CN" sz="1800" kern="100" dirty="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dirty="0">
                              <a:effectLst/>
                              <a:latin typeface="宋体"/>
                              <a:ea typeface="宋体"/>
                              <a:cs typeface="AdobeSongStd-Light"/>
                            </a:rPr>
                            <a:t>3</a:t>
                          </a:r>
                          <a:endParaRPr lang="zh-CN" sz="1800" kern="100" dirty="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effectLst/>
                              <a:latin typeface="宋体"/>
                              <a:ea typeface="宋体"/>
                              <a:cs typeface="AdobeSongStd-Light"/>
                            </a:rPr>
                            <a:t>2</a:t>
                          </a:r>
                          <a:endParaRPr lang="zh-CN" sz="18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effectLst/>
                              <a:latin typeface="宋体"/>
                              <a:ea typeface="宋体"/>
                              <a:cs typeface="AdobeSongStd-Light"/>
                            </a:rPr>
                            <a:t>2</a:t>
                          </a:r>
                          <a:endParaRPr lang="zh-CN" sz="18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40770">
                    <a:tc>
                      <a:txBody>
                        <a:bodyPr/>
                        <a:lstStyle/>
                        <a:p>
                          <a:pPr algn="l">
                            <a:spcAft>
                              <a:spcPts val="0"/>
                            </a:spcAft>
                          </a:pPr>
                          <a:r>
                            <a:rPr lang="zh-CN" sz="1800" kern="0">
                              <a:effectLst/>
                              <a:latin typeface="Calibri"/>
                              <a:ea typeface="宋体"/>
                              <a:cs typeface="AdobeSongStd-Light"/>
                            </a:rPr>
                            <a:t>对称密钥密码</a:t>
                          </a:r>
                          <a:endParaRPr lang="zh-CN" sz="18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effectLst/>
                              <a:latin typeface="宋体"/>
                              <a:ea typeface="宋体"/>
                              <a:cs typeface="AdobeSongStd-Light"/>
                            </a:rPr>
                            <a:t>0</a:t>
                          </a:r>
                          <a:endParaRPr lang="zh-CN" sz="18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effectLst/>
                              <a:latin typeface="宋体"/>
                              <a:ea typeface="宋体"/>
                              <a:cs typeface="AdobeSongStd-Light"/>
                            </a:rPr>
                            <a:t>0</a:t>
                          </a:r>
                          <a:endParaRPr lang="zh-CN" sz="18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dirty="0">
                              <a:effectLst/>
                              <a:latin typeface="宋体"/>
                              <a:ea typeface="宋体"/>
                              <a:cs typeface="AdobeSongStd-Light"/>
                            </a:rPr>
                            <a:t>0</a:t>
                          </a:r>
                          <a:endParaRPr lang="zh-CN" sz="1800" kern="100" dirty="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dirty="0">
                              <a:effectLst/>
                              <a:latin typeface="宋体"/>
                              <a:ea typeface="宋体"/>
                              <a:cs typeface="AdobeSongStd-Light"/>
                            </a:rPr>
                            <a:t>1</a:t>
                          </a:r>
                          <a:endParaRPr lang="zh-CN" sz="1800" kern="100" dirty="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effectLst/>
                              <a:latin typeface="宋体"/>
                              <a:ea typeface="宋体"/>
                              <a:cs typeface="AdobeSongStd-Light"/>
                            </a:rPr>
                            <a:t>0</a:t>
                          </a:r>
                          <a:endParaRPr lang="zh-CN" sz="18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40770">
                    <a:tc>
                      <a:txBody>
                        <a:bodyPr/>
                        <a:lstStyle/>
                        <a:p>
                          <a:endParaRPr lang="zh-CN"/>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1">
                          <a:blip r:embed="rId2"/>
                          <a:stretch>
                            <a:fillRect t="-342857" r="-258896" b="-614286"/>
                          </a:stretch>
                        </a:blipFill>
                      </a:tcPr>
                    </a:tc>
                    <a:tc>
                      <a:txBody>
                        <a:bodyPr/>
                        <a:lstStyle/>
                        <a:p>
                          <a:pPr algn="ctr">
                            <a:spcAft>
                              <a:spcPts val="0"/>
                            </a:spcAft>
                          </a:pPr>
                          <a:r>
                            <a:rPr lang="en-US" sz="1800" kern="0">
                              <a:effectLst/>
                              <a:latin typeface="宋体"/>
                              <a:ea typeface="宋体"/>
                              <a:cs typeface="AdobeSongStd-Light"/>
                            </a:rPr>
                            <a:t>0</a:t>
                          </a:r>
                          <a:endParaRPr lang="zh-CN" sz="18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effectLst/>
                              <a:latin typeface="宋体"/>
                              <a:ea typeface="宋体"/>
                              <a:cs typeface="AdobeSongStd-Light"/>
                            </a:rPr>
                            <a:t>1</a:t>
                          </a:r>
                          <a:endParaRPr lang="zh-CN" sz="18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effectLst/>
                              <a:latin typeface="宋体"/>
                              <a:ea typeface="宋体"/>
                              <a:cs typeface="AdobeSongStd-Light"/>
                            </a:rPr>
                            <a:t>0</a:t>
                          </a:r>
                          <a:endParaRPr lang="zh-CN" sz="18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dirty="0">
                              <a:effectLst/>
                              <a:latin typeface="宋体"/>
                              <a:ea typeface="宋体"/>
                              <a:cs typeface="AdobeSongStd-Light"/>
                            </a:rPr>
                            <a:t>0</a:t>
                          </a:r>
                          <a:endParaRPr lang="zh-CN" sz="1800" kern="100" dirty="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dirty="0">
                              <a:effectLst/>
                              <a:latin typeface="宋体"/>
                              <a:ea typeface="宋体"/>
                              <a:cs typeface="AdobeSongStd-Light"/>
                            </a:rPr>
                            <a:t>0</a:t>
                          </a:r>
                          <a:endParaRPr lang="zh-CN" sz="1800" kern="100" dirty="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40770">
                    <a:tc>
                      <a:txBody>
                        <a:bodyPr/>
                        <a:lstStyle/>
                        <a:p>
                          <a:endParaRPr lang="zh-CN"/>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1">
                          <a:blip r:embed="rId2"/>
                          <a:stretch>
                            <a:fillRect t="-450909" r="-258896" b="-525455"/>
                          </a:stretch>
                        </a:blipFill>
                      </a:tcPr>
                    </a:tc>
                    <a:tc>
                      <a:txBody>
                        <a:bodyPr/>
                        <a:lstStyle/>
                        <a:p>
                          <a:pPr algn="ctr">
                            <a:spcAft>
                              <a:spcPts val="0"/>
                            </a:spcAft>
                          </a:pPr>
                          <a:r>
                            <a:rPr lang="en-US" sz="1800" kern="0">
                              <a:effectLst/>
                              <a:latin typeface="宋体"/>
                              <a:ea typeface="宋体"/>
                              <a:cs typeface="AdobeSongStd-Light"/>
                            </a:rPr>
                            <a:t>0</a:t>
                          </a:r>
                          <a:endParaRPr lang="zh-CN" sz="18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effectLst/>
                              <a:latin typeface="宋体"/>
                              <a:ea typeface="宋体"/>
                              <a:cs typeface="AdobeSongStd-Light"/>
                            </a:rPr>
                            <a:t>2</a:t>
                          </a:r>
                          <a:endParaRPr lang="zh-CN" sz="18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effectLst/>
                              <a:latin typeface="宋体"/>
                              <a:ea typeface="宋体"/>
                              <a:cs typeface="AdobeSongStd-Light"/>
                            </a:rPr>
                            <a:t>0</a:t>
                          </a:r>
                          <a:endParaRPr lang="zh-CN" sz="18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dirty="0">
                              <a:effectLst/>
                              <a:latin typeface="宋体"/>
                              <a:ea typeface="宋体"/>
                              <a:cs typeface="AdobeSongStd-Light"/>
                            </a:rPr>
                            <a:t>0</a:t>
                          </a:r>
                          <a:endParaRPr lang="zh-CN" sz="1800" kern="100" dirty="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dirty="0">
                              <a:effectLst/>
                              <a:latin typeface="宋体"/>
                              <a:ea typeface="宋体"/>
                              <a:cs typeface="AdobeSongStd-Light"/>
                            </a:rPr>
                            <a:t>0</a:t>
                          </a:r>
                          <a:endParaRPr lang="zh-CN" sz="1800" kern="100" dirty="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40770">
                    <a:tc>
                      <a:txBody>
                        <a:bodyPr/>
                        <a:lstStyle/>
                        <a:p>
                          <a:endParaRPr lang="zh-CN"/>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1">
                          <a:blip r:embed="rId2"/>
                          <a:stretch>
                            <a:fillRect t="-541071" r="-258896" b="-416071"/>
                          </a:stretch>
                        </a:blipFill>
                      </a:tcPr>
                    </a:tc>
                    <a:tc>
                      <a:txBody>
                        <a:bodyPr/>
                        <a:lstStyle/>
                        <a:p>
                          <a:pPr algn="ctr">
                            <a:spcAft>
                              <a:spcPts val="0"/>
                            </a:spcAft>
                          </a:pPr>
                          <a:r>
                            <a:rPr lang="en-US" sz="1800" kern="0">
                              <a:effectLst/>
                              <a:latin typeface="宋体"/>
                              <a:ea typeface="宋体"/>
                              <a:cs typeface="AdobeSongStd-Light"/>
                            </a:rPr>
                            <a:t>1</a:t>
                          </a:r>
                          <a:endParaRPr lang="zh-CN" sz="18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effectLst/>
                              <a:latin typeface="宋体"/>
                              <a:ea typeface="宋体"/>
                              <a:cs typeface="AdobeSongStd-Light"/>
                            </a:rPr>
                            <a:t>2</a:t>
                          </a:r>
                          <a:endParaRPr lang="zh-CN" sz="18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effectLst/>
                              <a:latin typeface="宋体"/>
                              <a:ea typeface="宋体"/>
                              <a:cs typeface="AdobeSongStd-Light"/>
                            </a:rPr>
                            <a:t>0</a:t>
                          </a:r>
                          <a:endParaRPr lang="zh-CN" sz="18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effectLst/>
                              <a:latin typeface="宋体"/>
                              <a:ea typeface="宋体"/>
                              <a:cs typeface="AdobeSongStd-Light"/>
                            </a:rPr>
                            <a:t>0</a:t>
                          </a:r>
                          <a:endParaRPr lang="zh-CN" sz="18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dirty="0">
                              <a:effectLst/>
                              <a:latin typeface="宋体"/>
                              <a:ea typeface="宋体"/>
                              <a:cs typeface="AdobeSongStd-Light"/>
                            </a:rPr>
                            <a:t>0</a:t>
                          </a:r>
                          <a:endParaRPr lang="zh-CN" sz="1800" kern="100" dirty="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40770">
                    <a:tc>
                      <a:txBody>
                        <a:bodyPr/>
                        <a:lstStyle/>
                        <a:p>
                          <a:pPr algn="l">
                            <a:spcAft>
                              <a:spcPts val="0"/>
                            </a:spcAft>
                          </a:pPr>
                          <a:r>
                            <a:rPr lang="en-US" sz="1800" kern="0">
                              <a:effectLst/>
                              <a:latin typeface="宋体"/>
                              <a:ea typeface="宋体"/>
                              <a:cs typeface="AdobeSongStd-Light"/>
                            </a:rPr>
                            <a:t>EC</a:t>
                          </a:r>
                          <a:r>
                            <a:rPr lang="zh-CN" sz="1800" kern="0">
                              <a:effectLst/>
                              <a:latin typeface="Calibri"/>
                              <a:ea typeface="宋体"/>
                              <a:cs typeface="AdobeSongStd-Light"/>
                            </a:rPr>
                            <a:t>上的标量乘法</a:t>
                          </a:r>
                          <a:endParaRPr lang="zh-CN" sz="18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effectLst/>
                              <a:latin typeface="宋体"/>
                              <a:ea typeface="宋体"/>
                              <a:cs typeface="AdobeSongStd-Light"/>
                            </a:rPr>
                            <a:t>2</a:t>
                          </a:r>
                          <a:endParaRPr lang="zh-CN" sz="18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effectLst/>
                              <a:latin typeface="宋体"/>
                              <a:ea typeface="宋体"/>
                              <a:cs typeface="AdobeSongStd-Light"/>
                            </a:rPr>
                            <a:t>2</a:t>
                          </a:r>
                          <a:endParaRPr lang="zh-CN" sz="18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effectLst/>
                              <a:latin typeface="宋体"/>
                              <a:ea typeface="宋体"/>
                              <a:cs typeface="AdobeSongStd-Light"/>
                            </a:rPr>
                            <a:t>2</a:t>
                          </a:r>
                          <a:endParaRPr lang="zh-CN" sz="18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effectLst/>
                              <a:latin typeface="宋体"/>
                              <a:ea typeface="宋体"/>
                              <a:cs typeface="AdobeSongStd-Light"/>
                            </a:rPr>
                            <a:t>2</a:t>
                          </a:r>
                          <a:endParaRPr lang="zh-CN" sz="18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dirty="0">
                              <a:effectLst/>
                              <a:latin typeface="宋体"/>
                              <a:ea typeface="宋体"/>
                              <a:cs typeface="AdobeSongStd-Light"/>
                            </a:rPr>
                            <a:t>2</a:t>
                          </a:r>
                          <a:endParaRPr lang="zh-CN" sz="1800" kern="100" dirty="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40770">
                    <a:tc>
                      <a:txBody>
                        <a:bodyPr/>
                        <a:lstStyle/>
                        <a:p>
                          <a:pPr algn="l">
                            <a:spcAft>
                              <a:spcPts val="0"/>
                            </a:spcAft>
                          </a:pPr>
                          <a:r>
                            <a:rPr lang="en-US" sz="1800" kern="0">
                              <a:effectLst/>
                              <a:latin typeface="宋体"/>
                              <a:ea typeface="宋体"/>
                              <a:cs typeface="AdobeSongStd-Light"/>
                            </a:rPr>
                            <a:t>EC</a:t>
                          </a:r>
                          <a:r>
                            <a:rPr lang="zh-CN" sz="1800" kern="0">
                              <a:effectLst/>
                              <a:latin typeface="Calibri"/>
                              <a:ea typeface="宋体"/>
                              <a:cs typeface="AdobeSongStd-Light"/>
                            </a:rPr>
                            <a:t>上的点加</a:t>
                          </a:r>
                          <a:endParaRPr lang="zh-CN" sz="18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effectLst/>
                              <a:latin typeface="宋体"/>
                              <a:ea typeface="宋体"/>
                              <a:cs typeface="AdobeSongStd-Light"/>
                            </a:rPr>
                            <a:t>1</a:t>
                          </a:r>
                          <a:endParaRPr lang="zh-CN" sz="18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effectLst/>
                              <a:latin typeface="宋体"/>
                              <a:ea typeface="宋体"/>
                              <a:cs typeface="AdobeSongStd-Light"/>
                            </a:rPr>
                            <a:t>1</a:t>
                          </a:r>
                          <a:endParaRPr lang="zh-CN" sz="18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effectLst/>
                              <a:latin typeface="宋体"/>
                              <a:ea typeface="宋体"/>
                              <a:cs typeface="AdobeSongStd-Light"/>
                            </a:rPr>
                            <a:t>1</a:t>
                          </a:r>
                          <a:endParaRPr lang="zh-CN" sz="18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effectLst/>
                              <a:latin typeface="宋体"/>
                              <a:ea typeface="宋体"/>
                              <a:cs typeface="AdobeSongStd-Light"/>
                            </a:rPr>
                            <a:t>1</a:t>
                          </a:r>
                          <a:endParaRPr lang="zh-CN" sz="18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dirty="0">
                              <a:effectLst/>
                              <a:latin typeface="宋体"/>
                              <a:ea typeface="宋体"/>
                              <a:cs typeface="AdobeSongStd-Light"/>
                            </a:rPr>
                            <a:t>1</a:t>
                          </a:r>
                          <a:endParaRPr lang="zh-CN" sz="1800" kern="100" dirty="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40770">
                    <a:tc>
                      <a:txBody>
                        <a:bodyPr/>
                        <a:lstStyle/>
                        <a:p>
                          <a:pPr algn="l">
                            <a:spcAft>
                              <a:spcPts val="0"/>
                            </a:spcAft>
                          </a:pPr>
                          <a:r>
                            <a:rPr lang="zh-CN" sz="1800" kern="0">
                              <a:effectLst/>
                              <a:latin typeface="Calibri"/>
                              <a:ea typeface="宋体"/>
                              <a:cs typeface="AdobeSongStd-Light"/>
                            </a:rPr>
                            <a:t>异或操作</a:t>
                          </a:r>
                          <a:endParaRPr lang="zh-CN" sz="18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effectLst/>
                              <a:latin typeface="宋体"/>
                              <a:ea typeface="宋体"/>
                              <a:cs typeface="AdobeSongStd-Light"/>
                            </a:rPr>
                            <a:t>0</a:t>
                          </a:r>
                          <a:endParaRPr lang="zh-CN" sz="18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effectLst/>
                              <a:latin typeface="宋体"/>
                              <a:ea typeface="宋体"/>
                              <a:cs typeface="AdobeSongStd-Light"/>
                            </a:rPr>
                            <a:t>1</a:t>
                          </a:r>
                          <a:endParaRPr lang="zh-CN" sz="18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effectLst/>
                              <a:latin typeface="宋体"/>
                              <a:ea typeface="宋体"/>
                              <a:cs typeface="AdobeSongStd-Light"/>
                            </a:rPr>
                            <a:t>2</a:t>
                          </a:r>
                          <a:endParaRPr lang="zh-CN" sz="18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effectLst/>
                              <a:latin typeface="宋体"/>
                              <a:ea typeface="宋体"/>
                              <a:cs typeface="AdobeSongStd-Light"/>
                            </a:rPr>
                            <a:t>0</a:t>
                          </a:r>
                          <a:endParaRPr lang="zh-CN" sz="18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dirty="0">
                              <a:effectLst/>
                              <a:latin typeface="宋体"/>
                              <a:ea typeface="宋体"/>
                              <a:cs typeface="AdobeSongStd-Light"/>
                            </a:rPr>
                            <a:t>2</a:t>
                          </a:r>
                          <a:endParaRPr lang="zh-CN" sz="1800" kern="100" dirty="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40770">
                    <a:tc>
                      <a:txBody>
                        <a:bodyPr/>
                        <a:lstStyle/>
                        <a:p>
                          <a:pPr algn="l">
                            <a:spcAft>
                              <a:spcPts val="0"/>
                            </a:spcAft>
                          </a:pPr>
                          <a:r>
                            <a:rPr lang="zh-CN" sz="1800" kern="0">
                              <a:effectLst/>
                              <a:latin typeface="Calibri"/>
                              <a:ea typeface="宋体"/>
                              <a:cs typeface="AdobeSongStd-Light"/>
                            </a:rPr>
                            <a:t>对称密钥派生函数</a:t>
                          </a:r>
                          <a:endParaRPr lang="zh-CN" sz="18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effectLst/>
                              <a:latin typeface="宋体"/>
                              <a:ea typeface="宋体"/>
                              <a:cs typeface="AdobeSongStd-Light"/>
                            </a:rPr>
                            <a:t>0</a:t>
                          </a:r>
                          <a:endParaRPr lang="zh-CN" sz="18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effectLst/>
                              <a:latin typeface="宋体"/>
                              <a:ea typeface="宋体"/>
                              <a:cs typeface="AdobeSongStd-Light"/>
                            </a:rPr>
                            <a:t>0</a:t>
                          </a:r>
                          <a:endParaRPr lang="zh-CN" sz="18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effectLst/>
                              <a:latin typeface="宋体"/>
                              <a:ea typeface="宋体"/>
                              <a:cs typeface="AdobeSongStd-Light"/>
                            </a:rPr>
                            <a:t>0</a:t>
                          </a:r>
                          <a:endParaRPr lang="zh-CN" sz="18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a:effectLst/>
                              <a:latin typeface="宋体"/>
                              <a:ea typeface="宋体"/>
                              <a:cs typeface="AdobeSongStd-Light"/>
                            </a:rPr>
                            <a:t>1</a:t>
                          </a:r>
                          <a:endParaRPr lang="zh-CN" sz="1800" kern="10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800" kern="0" dirty="0">
                              <a:effectLst/>
                              <a:latin typeface="宋体"/>
                              <a:ea typeface="宋体"/>
                              <a:cs typeface="AdobeSongStd-Light"/>
                            </a:rPr>
                            <a:t>0</a:t>
                          </a:r>
                          <a:endParaRPr lang="zh-CN" sz="1800" kern="100" dirty="0">
                            <a:effectLst/>
                            <a:latin typeface="Calibri"/>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mc:Fallback>
      </mc:AlternateContent>
    </p:spTree>
    <p:extLst>
      <p:ext uri="{BB962C8B-B14F-4D97-AF65-F5344CB8AC3E}">
        <p14:creationId xmlns:p14="http://schemas.microsoft.com/office/powerpoint/2010/main" val="299792945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7 ITU</a:t>
            </a:r>
            <a:endParaRPr lang="zh-CN" altLang="en-US" dirty="0"/>
          </a:p>
        </p:txBody>
      </p:sp>
      <p:sp>
        <p:nvSpPr>
          <p:cNvPr id="3" name="内容占位符 2"/>
          <p:cNvSpPr>
            <a:spLocks noGrp="1"/>
          </p:cNvSpPr>
          <p:nvPr>
            <p:ph idx="1"/>
          </p:nvPr>
        </p:nvSpPr>
        <p:spPr/>
        <p:txBody>
          <a:bodyPr>
            <a:normAutofit fontScale="92500"/>
          </a:bodyPr>
          <a:lstStyle/>
          <a:p>
            <a:r>
              <a:rPr lang="en-US" altLang="zh-CN" dirty="0"/>
              <a:t>ITU-T Rec. G.707-1988 SYNCHRONOUS DIGITAL HIERARCHY BIT RATES</a:t>
            </a:r>
            <a:r>
              <a:rPr lang="zh-CN" altLang="en-US" dirty="0"/>
              <a:t>同步数字体系比特率</a:t>
            </a:r>
            <a:endParaRPr lang="en-US" altLang="zh-CN" dirty="0"/>
          </a:p>
          <a:p>
            <a:r>
              <a:rPr lang="en-US" altLang="zh-CN" dirty="0"/>
              <a:t>ITU-T Rec. G.707/Y.1322-2007 Network node interface for the synchronous digital hierarchy (SDH)</a:t>
            </a:r>
            <a:r>
              <a:rPr lang="zh-CN" altLang="en-US" dirty="0"/>
              <a:t>同步数字体系（</a:t>
            </a:r>
            <a:r>
              <a:rPr lang="en-US" altLang="zh-CN" dirty="0"/>
              <a:t>SDH</a:t>
            </a:r>
            <a:r>
              <a:rPr lang="zh-CN" altLang="en-US" dirty="0"/>
              <a:t>）的网络节点接口</a:t>
            </a:r>
            <a:endParaRPr lang="en-US" altLang="zh-CN" dirty="0"/>
          </a:p>
          <a:p>
            <a:r>
              <a:rPr lang="en-US" altLang="zh-CN" dirty="0"/>
              <a:t>ITU-T Rec. G.832-1998 TRANSPORT OF SDH ELEMENTS ON PDH NETWORKS: FRAME AND MULTIPLEXING STRUCTURES</a:t>
            </a:r>
            <a:r>
              <a:rPr lang="zh-CN" altLang="en-US" dirty="0"/>
              <a:t>在</a:t>
            </a:r>
            <a:r>
              <a:rPr lang="en-US" altLang="zh-CN" dirty="0"/>
              <a:t>PDH</a:t>
            </a:r>
            <a:r>
              <a:rPr lang="zh-CN" altLang="en-US" dirty="0"/>
              <a:t>网络上传输</a:t>
            </a:r>
            <a:r>
              <a:rPr lang="en-US" altLang="zh-CN" dirty="0"/>
              <a:t>SDH</a:t>
            </a:r>
            <a:r>
              <a:rPr lang="zh-CN" altLang="en-US" dirty="0"/>
              <a:t>元件：帧和复用结构</a:t>
            </a:r>
            <a:endParaRPr lang="en-US" altLang="zh-CN" dirty="0"/>
          </a:p>
          <a:p>
            <a:pPr marL="0" indent="0">
              <a:buNone/>
            </a:pPr>
            <a:endParaRPr lang="zh-CN" altLang="en-US" dirty="0"/>
          </a:p>
        </p:txBody>
      </p:sp>
    </p:spTree>
    <p:extLst>
      <p:ext uri="{BB962C8B-B14F-4D97-AF65-F5344CB8AC3E}">
        <p14:creationId xmlns:p14="http://schemas.microsoft.com/office/powerpoint/2010/main" val="51259098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续</a:t>
            </a:r>
            <a:r>
              <a:rPr lang="en-US" altLang="zh-CN" dirty="0"/>
              <a:t>1</a:t>
            </a:r>
            <a:endParaRPr lang="zh-CN" altLang="en-US" dirty="0"/>
          </a:p>
        </p:txBody>
      </p:sp>
      <p:sp>
        <p:nvSpPr>
          <p:cNvPr id="3" name="内容占位符 2"/>
          <p:cNvSpPr>
            <a:spLocks noGrp="1"/>
          </p:cNvSpPr>
          <p:nvPr>
            <p:ph idx="1"/>
          </p:nvPr>
        </p:nvSpPr>
        <p:spPr/>
        <p:txBody>
          <a:bodyPr>
            <a:normAutofit lnSpcReduction="10000"/>
          </a:bodyPr>
          <a:lstStyle/>
          <a:p>
            <a:r>
              <a:rPr lang="en-US" altLang="zh-CN" dirty="0"/>
              <a:t>ITU-T Rec. G.704-1998 SYNCHRONOUS FRAME STRUCTURES USED AT 1544, 6312, 2048, 8448 AND 44736 </a:t>
            </a:r>
            <a:r>
              <a:rPr lang="en-US" altLang="zh-CN" dirty="0" err="1"/>
              <a:t>kbit</a:t>
            </a:r>
            <a:r>
              <a:rPr lang="en-US" altLang="zh-CN" dirty="0"/>
              <a:t>/s HIERARCHICAL LEVELS</a:t>
            </a:r>
            <a:r>
              <a:rPr lang="zh-CN" altLang="en-US" dirty="0"/>
              <a:t>在</a:t>
            </a:r>
            <a:r>
              <a:rPr lang="en-US" altLang="zh-CN" dirty="0"/>
              <a:t>1544</a:t>
            </a:r>
            <a:r>
              <a:rPr lang="zh-CN" altLang="en-US" dirty="0"/>
              <a:t>、</a:t>
            </a:r>
            <a:r>
              <a:rPr lang="en-US" altLang="zh-CN" dirty="0"/>
              <a:t>6312</a:t>
            </a:r>
            <a:r>
              <a:rPr lang="zh-CN" altLang="en-US" dirty="0"/>
              <a:t>、</a:t>
            </a:r>
            <a:r>
              <a:rPr lang="en-US" altLang="zh-CN" dirty="0"/>
              <a:t>2048</a:t>
            </a:r>
            <a:r>
              <a:rPr lang="zh-CN" altLang="en-US" dirty="0"/>
              <a:t>、</a:t>
            </a:r>
            <a:r>
              <a:rPr lang="en-US" altLang="zh-CN" dirty="0"/>
              <a:t>8448</a:t>
            </a:r>
            <a:r>
              <a:rPr lang="zh-CN" altLang="en-US" dirty="0"/>
              <a:t>和</a:t>
            </a:r>
            <a:r>
              <a:rPr lang="en-US" altLang="zh-CN" dirty="0"/>
              <a:t>44736 </a:t>
            </a:r>
            <a:r>
              <a:rPr lang="en-US" altLang="zh-CN" dirty="0" err="1"/>
              <a:t>kbit</a:t>
            </a:r>
            <a:r>
              <a:rPr lang="en-US" altLang="zh-CN" dirty="0"/>
              <a:t>/s</a:t>
            </a:r>
            <a:r>
              <a:rPr lang="zh-CN" altLang="en-US" dirty="0"/>
              <a:t>层次上使用的同步帧结构</a:t>
            </a:r>
            <a:endParaRPr lang="en-US" altLang="zh-CN" dirty="0"/>
          </a:p>
          <a:p>
            <a:r>
              <a:rPr lang="en-US" altLang="zh-CN" dirty="0"/>
              <a:t>ITU-T Rec I.432.1-1999 B-ISDN USER-NETWORK INTERFACE – PHYSICAL LAYER SPECIFICATION: GENERAL CHARACTERISTICS</a:t>
            </a:r>
            <a:r>
              <a:rPr lang="zh-CN" altLang="en-US" dirty="0"/>
              <a:t> </a:t>
            </a:r>
            <a:r>
              <a:rPr lang="en-US" altLang="zh-CN" dirty="0"/>
              <a:t>B-ISDN</a:t>
            </a:r>
            <a:r>
              <a:rPr lang="zh-CN" altLang="en-US" dirty="0"/>
              <a:t>用户网络接口物理层规范：一般特性</a:t>
            </a:r>
          </a:p>
        </p:txBody>
      </p:sp>
    </p:spTree>
    <p:extLst>
      <p:ext uri="{BB962C8B-B14F-4D97-AF65-F5344CB8AC3E}">
        <p14:creationId xmlns:p14="http://schemas.microsoft.com/office/powerpoint/2010/main" val="169839611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8 NIST</a:t>
            </a:r>
            <a:endParaRPr lang="zh-CN" altLang="en-US" dirty="0"/>
          </a:p>
        </p:txBody>
      </p:sp>
      <p:sp>
        <p:nvSpPr>
          <p:cNvPr id="3" name="内容占位符 2"/>
          <p:cNvSpPr>
            <a:spLocks noGrp="1"/>
          </p:cNvSpPr>
          <p:nvPr>
            <p:ph idx="1"/>
          </p:nvPr>
        </p:nvSpPr>
        <p:spPr/>
        <p:txBody>
          <a:bodyPr>
            <a:normAutofit fontScale="85000" lnSpcReduction="10000"/>
          </a:bodyPr>
          <a:lstStyle/>
          <a:p>
            <a:r>
              <a:rPr lang="en-US" altLang="zh-CN" dirty="0"/>
              <a:t>NIST SP 800-22rev1a, A Statistical Test Suite for Random and Pseudorandom Number</a:t>
            </a:r>
            <a:r>
              <a:rPr lang="zh-CN" altLang="en-US" dirty="0"/>
              <a:t>随机数和伪随机数的统计测试集</a:t>
            </a:r>
            <a:endParaRPr lang="en-US" altLang="zh-CN" dirty="0"/>
          </a:p>
          <a:p>
            <a:r>
              <a:rPr lang="en-US" altLang="zh-CN" dirty="0"/>
              <a:t>NIST SP 800-38A (2001): "Recommendation for Block Cipher Modes of Operation".</a:t>
            </a:r>
            <a:r>
              <a:rPr lang="zh-CN" altLang="en-US" dirty="0"/>
              <a:t>分组密码操作模式建议</a:t>
            </a:r>
            <a:endParaRPr lang="en-US" altLang="zh-CN" dirty="0"/>
          </a:p>
          <a:p>
            <a:r>
              <a:rPr lang="en-US" altLang="zh-CN" dirty="0"/>
              <a:t>NIST SP 800-67 Revision 1 Recommendation for the Triple Data Encryption Algorithm (TDEA) Block Cipher</a:t>
            </a:r>
            <a:r>
              <a:rPr lang="zh-CN" altLang="en-US" dirty="0"/>
              <a:t>三重数据加密算法（</a:t>
            </a:r>
            <a:r>
              <a:rPr lang="en-US" altLang="zh-CN" dirty="0"/>
              <a:t>TDEA</a:t>
            </a:r>
            <a:r>
              <a:rPr lang="zh-CN" altLang="en-US" dirty="0"/>
              <a:t>）分组密码建议</a:t>
            </a:r>
            <a:endParaRPr lang="en-US" altLang="zh-CN" dirty="0"/>
          </a:p>
          <a:p>
            <a:r>
              <a:rPr lang="en-US" altLang="zh-CN" dirty="0"/>
              <a:t>NIST SP 800-133 Recommendation for Cryptographic Key Generation</a:t>
            </a:r>
            <a:r>
              <a:rPr lang="zh-CN" altLang="en-US" dirty="0"/>
              <a:t>密码密钥生成建议</a:t>
            </a:r>
          </a:p>
        </p:txBody>
      </p:sp>
    </p:spTree>
    <p:extLst>
      <p:ext uri="{BB962C8B-B14F-4D97-AF65-F5344CB8AC3E}">
        <p14:creationId xmlns:p14="http://schemas.microsoft.com/office/powerpoint/2010/main" val="231920826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t>NIST SP 800-22rev1a</a:t>
            </a:r>
            <a:r>
              <a:rPr lang="zh-CN" altLang="en-US" sz="3200" dirty="0"/>
              <a:t>随机数和伪随机数的统计测试集</a:t>
            </a:r>
          </a:p>
        </p:txBody>
      </p:sp>
      <p:sp>
        <p:nvSpPr>
          <p:cNvPr id="3" name="内容占位符 2"/>
          <p:cNvSpPr>
            <a:spLocks noGrp="1"/>
          </p:cNvSpPr>
          <p:nvPr>
            <p:ph idx="1"/>
          </p:nvPr>
        </p:nvSpPr>
        <p:spPr/>
        <p:txBody>
          <a:bodyPr/>
          <a:lstStyle/>
          <a:p>
            <a:pPr marL="0" indent="0">
              <a:buNone/>
            </a:pPr>
            <a:r>
              <a:rPr lang="zh-CN" altLang="en-US" dirty="0"/>
              <a:t>本文讨论了随机和伪随机数生成器的选择和测试的一些方面。这些生成器的输出可用于许多密码应用程序，例如生成密钥材料。适用于加密应用程序的生成器可能需要满足比其他应用程序更强的要求。但是，没有一组统计测试可以绝对地证明生成器适用于特定应用程序，即统计测试不能代替密码分析。</a:t>
            </a:r>
          </a:p>
        </p:txBody>
      </p:sp>
    </p:spTree>
    <p:extLst>
      <p:ext uri="{BB962C8B-B14F-4D97-AF65-F5344CB8AC3E}">
        <p14:creationId xmlns:p14="http://schemas.microsoft.com/office/powerpoint/2010/main" val="256730913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600" dirty="0"/>
              <a:t>NIST SP 800-38A </a:t>
            </a:r>
            <a:r>
              <a:rPr lang="zh-CN" altLang="en-US" sz="3600" dirty="0"/>
              <a:t>分组密码操作模式建议</a:t>
            </a:r>
          </a:p>
        </p:txBody>
      </p:sp>
      <p:sp>
        <p:nvSpPr>
          <p:cNvPr id="3" name="内容占位符 2"/>
          <p:cNvSpPr>
            <a:spLocks noGrp="1"/>
          </p:cNvSpPr>
          <p:nvPr>
            <p:ph idx="1"/>
          </p:nvPr>
        </p:nvSpPr>
        <p:spPr/>
        <p:txBody>
          <a:bodyPr/>
          <a:lstStyle/>
          <a:p>
            <a:pPr marL="0" indent="0">
              <a:buNone/>
            </a:pPr>
            <a:r>
              <a:rPr lang="zh-CN" altLang="en-US" dirty="0"/>
              <a:t>本建议定义了对称密钥块密码算法的五种保密操作模式：电码本（</a:t>
            </a:r>
            <a:r>
              <a:rPr lang="en-US" altLang="zh-CN" dirty="0"/>
              <a:t>ECB</a:t>
            </a:r>
            <a:r>
              <a:rPr lang="zh-CN" altLang="en-US" dirty="0"/>
              <a:t>）、密码分组链（</a:t>
            </a:r>
            <a:r>
              <a:rPr lang="en-US" altLang="zh-CN" dirty="0"/>
              <a:t>CBC</a:t>
            </a:r>
            <a:r>
              <a:rPr lang="zh-CN" altLang="en-US" dirty="0"/>
              <a:t>）、密码反馈（</a:t>
            </a:r>
            <a:r>
              <a:rPr lang="en-US" altLang="zh-CN" dirty="0"/>
              <a:t>CFB</a:t>
            </a:r>
            <a:r>
              <a:rPr lang="zh-CN" altLang="en-US" dirty="0"/>
              <a:t>）、输出反馈（</a:t>
            </a:r>
            <a:r>
              <a:rPr lang="en-US" altLang="zh-CN" dirty="0"/>
              <a:t>OFB</a:t>
            </a:r>
            <a:r>
              <a:rPr lang="zh-CN" altLang="en-US" dirty="0"/>
              <a:t>）和计数器（</a:t>
            </a:r>
            <a:r>
              <a:rPr lang="en-US" altLang="zh-CN" dirty="0"/>
              <a:t>CTR</a:t>
            </a:r>
            <a:r>
              <a:rPr lang="zh-CN" altLang="en-US" dirty="0"/>
              <a:t>）。与联邦信息处理标准（</a:t>
            </a:r>
            <a:r>
              <a:rPr lang="en-US" altLang="zh-CN" dirty="0"/>
              <a:t>FIPS</a:t>
            </a:r>
            <a:r>
              <a:rPr lang="zh-CN" altLang="en-US" dirty="0"/>
              <a:t>）中批准的基础分组密码算法一起使用，这些模式可以为敏感的计算机数据提供加密保护。</a:t>
            </a:r>
          </a:p>
        </p:txBody>
      </p:sp>
    </p:spTree>
    <p:extLst>
      <p:ext uri="{BB962C8B-B14F-4D97-AF65-F5344CB8AC3E}">
        <p14:creationId xmlns:p14="http://schemas.microsoft.com/office/powerpoint/2010/main" val="46330979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NIST SP 800-67 Revision 1</a:t>
            </a:r>
            <a:r>
              <a:rPr lang="zh-CN" altLang="en-US" dirty="0"/>
              <a:t>三重数据加密算法（</a:t>
            </a:r>
            <a:r>
              <a:rPr lang="en-US" altLang="zh-CN" dirty="0"/>
              <a:t>TDEA</a:t>
            </a:r>
            <a:r>
              <a:rPr lang="zh-CN" altLang="en-US" dirty="0"/>
              <a:t>）分组密码建议</a:t>
            </a:r>
          </a:p>
        </p:txBody>
      </p:sp>
      <p:sp>
        <p:nvSpPr>
          <p:cNvPr id="3" name="内容占位符 2"/>
          <p:cNvSpPr>
            <a:spLocks noGrp="1"/>
          </p:cNvSpPr>
          <p:nvPr>
            <p:ph idx="1"/>
          </p:nvPr>
        </p:nvSpPr>
        <p:spPr/>
        <p:txBody>
          <a:bodyPr/>
          <a:lstStyle/>
          <a:p>
            <a:pPr marL="0" indent="0">
              <a:buNone/>
            </a:pPr>
            <a:r>
              <a:rPr lang="zh-CN" altLang="en-US" dirty="0"/>
              <a:t>本标准指定了三重数据加密算法（</a:t>
            </a:r>
            <a:r>
              <a:rPr lang="en-US" altLang="zh-CN" dirty="0"/>
              <a:t>TDEA</a:t>
            </a:r>
            <a:r>
              <a:rPr lang="zh-CN" altLang="en-US" dirty="0"/>
              <a:t>），包括其主要组件加密引擎、数据加密算法（</a:t>
            </a:r>
            <a:r>
              <a:rPr lang="en-US" altLang="zh-CN" dirty="0"/>
              <a:t>DEA</a:t>
            </a:r>
            <a:r>
              <a:rPr lang="zh-CN" altLang="en-US" dirty="0"/>
              <a:t>）。在符合</a:t>
            </a:r>
            <a:r>
              <a:rPr lang="en-US" altLang="zh-CN" dirty="0"/>
              <a:t>SP 800-38</a:t>
            </a:r>
            <a:r>
              <a:rPr lang="zh-CN" altLang="en-US" dirty="0"/>
              <a:t>系列的操作模式和符合</a:t>
            </a:r>
            <a:r>
              <a:rPr lang="en-US" altLang="zh-CN" dirty="0"/>
              <a:t>FIPS 140-2</a:t>
            </a:r>
            <a:r>
              <a:rPr lang="zh-CN" altLang="en-US" dirty="0"/>
              <a:t>的加密模块中，联邦组织可使用</a:t>
            </a:r>
            <a:r>
              <a:rPr lang="en-US" altLang="zh-CN" dirty="0"/>
              <a:t>TDEA</a:t>
            </a:r>
            <a:r>
              <a:rPr lang="zh-CN" altLang="en-US" dirty="0"/>
              <a:t>保护敏感数据。在传输过程中或存储过程中需要保护数据的机密性和完整性。</a:t>
            </a:r>
          </a:p>
        </p:txBody>
      </p:sp>
    </p:spTree>
    <p:extLst>
      <p:ext uri="{BB962C8B-B14F-4D97-AF65-F5344CB8AC3E}">
        <p14:creationId xmlns:p14="http://schemas.microsoft.com/office/powerpoint/2010/main" val="167017698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NIST SP 800-133</a:t>
            </a:r>
            <a:r>
              <a:rPr lang="zh-CN" altLang="en-US" dirty="0"/>
              <a:t>密码密钥生成建议</a:t>
            </a:r>
          </a:p>
        </p:txBody>
      </p:sp>
      <p:sp>
        <p:nvSpPr>
          <p:cNvPr id="3" name="内容占位符 2"/>
          <p:cNvSpPr>
            <a:spLocks noGrp="1"/>
          </p:cNvSpPr>
          <p:nvPr>
            <p:ph idx="1"/>
          </p:nvPr>
        </p:nvSpPr>
        <p:spPr/>
        <p:txBody>
          <a:bodyPr/>
          <a:lstStyle/>
          <a:p>
            <a:pPr marL="0" indent="0">
              <a:buNone/>
            </a:pPr>
            <a:r>
              <a:rPr lang="zh-CN" altLang="en-US" dirty="0"/>
              <a:t>本建议讨论了核准加密算法一起使用的密钥的生成。密钥可以通过对已核准的随机位生成器和可能的其他参数的输出进行数学处理来生成，也可以基于这种方式生成的密钥来生成。</a:t>
            </a:r>
          </a:p>
        </p:txBody>
      </p:sp>
    </p:spTree>
    <p:extLst>
      <p:ext uri="{BB962C8B-B14F-4D97-AF65-F5344CB8AC3E}">
        <p14:creationId xmlns:p14="http://schemas.microsoft.com/office/powerpoint/2010/main" val="424988025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Curve25519/Ed25519/X25519 </a:t>
            </a:r>
            <a:endParaRPr lang="zh-CN" altLang="en-US" dirty="0"/>
          </a:p>
        </p:txBody>
      </p:sp>
      <p:sp>
        <p:nvSpPr>
          <p:cNvPr id="3" name="文本占位符 2"/>
          <p:cNvSpPr>
            <a:spLocks noGrp="1"/>
          </p:cNvSpPr>
          <p:nvPr>
            <p:ph type="body" sz="quarter" idx="10"/>
          </p:nvPr>
        </p:nvSpPr>
        <p:spPr>
          <a:xfrm>
            <a:off x="224642" y="1074191"/>
            <a:ext cx="8667837" cy="5307137"/>
          </a:xfrm>
        </p:spPr>
        <p:txBody>
          <a:bodyPr>
            <a:normAutofit fontScale="92500" lnSpcReduction="20000"/>
          </a:bodyPr>
          <a:lstStyle/>
          <a:p>
            <a:pPr marL="0" indent="0">
              <a:buNone/>
            </a:pPr>
            <a:r>
              <a:rPr lang="zh-CN" altLang="en-US" dirty="0"/>
              <a:t>著名密码学家 </a:t>
            </a:r>
            <a:r>
              <a:rPr lang="en-US" altLang="zh-CN" dirty="0"/>
              <a:t>Daniel J. Bernstein </a:t>
            </a:r>
            <a:r>
              <a:rPr lang="zh-CN" altLang="en-US" dirty="0"/>
              <a:t>在 </a:t>
            </a:r>
            <a:r>
              <a:rPr lang="en-US" altLang="zh-CN" dirty="0"/>
              <a:t>2006 </a:t>
            </a:r>
            <a:r>
              <a:rPr lang="zh-CN" altLang="en-US" dirty="0"/>
              <a:t>年独立设计的椭圆曲线加密 </a:t>
            </a:r>
            <a:r>
              <a:rPr lang="en-US" altLang="zh-CN" dirty="0"/>
              <a:t>/</a:t>
            </a:r>
            <a:r>
              <a:rPr lang="zh-CN" altLang="en-US" dirty="0"/>
              <a:t>签名 </a:t>
            </a:r>
            <a:r>
              <a:rPr lang="en-US" altLang="zh-CN" dirty="0"/>
              <a:t>/</a:t>
            </a:r>
            <a:r>
              <a:rPr lang="zh-CN" altLang="en-US" dirty="0"/>
              <a:t>密钥交换算法，和现有的任何椭圆曲线算法都完全独立。</a:t>
            </a:r>
            <a:endParaRPr lang="en-US" altLang="zh-CN" dirty="0"/>
          </a:p>
          <a:p>
            <a:pPr marL="0" indent="0">
              <a:buNone/>
            </a:pPr>
            <a:r>
              <a:rPr lang="zh-CN" altLang="en-US" dirty="0"/>
              <a:t>特点如下：</a:t>
            </a:r>
            <a:endParaRPr lang="en-US" altLang="zh-CN" dirty="0"/>
          </a:p>
          <a:p>
            <a:pPr marL="0" indent="0">
              <a:buNone/>
            </a:pPr>
            <a:r>
              <a:rPr lang="zh-CN" altLang="en-US" dirty="0"/>
              <a:t>第一完全开放设计；</a:t>
            </a:r>
            <a:endParaRPr lang="en-US" altLang="zh-CN" dirty="0"/>
          </a:p>
          <a:p>
            <a:pPr marL="0" indent="0">
              <a:buNone/>
            </a:pPr>
            <a:r>
              <a:rPr lang="zh-CN" altLang="en-US" dirty="0"/>
              <a:t>第二，</a:t>
            </a:r>
            <a:r>
              <a:rPr lang="en-US" altLang="zh-CN" dirty="0"/>
              <a:t>25519 </a:t>
            </a:r>
            <a:r>
              <a:rPr lang="zh-CN" altLang="en-US" dirty="0"/>
              <a:t>系列椭圆曲线出错的概率低；</a:t>
            </a:r>
            <a:endParaRPr lang="en-US" altLang="zh-CN" dirty="0"/>
          </a:p>
          <a:p>
            <a:pPr marL="0" indent="0">
              <a:buNone/>
            </a:pPr>
            <a:r>
              <a:rPr lang="zh-CN" altLang="en-US" dirty="0"/>
              <a:t>第三， 加密速度快，安全性高，性能远远超过 </a:t>
            </a:r>
            <a:r>
              <a:rPr lang="en-US" altLang="zh-CN" dirty="0"/>
              <a:t>NIST </a:t>
            </a:r>
            <a:r>
              <a:rPr lang="zh-CN" altLang="en-US" dirty="0"/>
              <a:t>系列；</a:t>
            </a:r>
            <a:endParaRPr lang="en-US" altLang="zh-CN" dirty="0"/>
          </a:p>
          <a:p>
            <a:pPr marL="0" indent="0">
              <a:buNone/>
            </a:pPr>
            <a:r>
              <a:rPr lang="zh-CN" altLang="en-US" dirty="0"/>
              <a:t>第四，</a:t>
            </a:r>
            <a:r>
              <a:rPr lang="en-US" altLang="zh-CN" dirty="0" err="1"/>
              <a:t>OpenSSH</a:t>
            </a:r>
            <a:r>
              <a:rPr lang="en-US" altLang="zh-CN" dirty="0"/>
              <a:t> </a:t>
            </a:r>
            <a:r>
              <a:rPr lang="zh-CN" altLang="en-US" dirty="0"/>
              <a:t>增加了对 </a:t>
            </a:r>
            <a:r>
              <a:rPr lang="en-US" altLang="zh-CN" dirty="0"/>
              <a:t>25519 </a:t>
            </a:r>
            <a:r>
              <a:rPr lang="zh-CN" altLang="en-US" dirty="0"/>
              <a:t>系列的支持，</a:t>
            </a:r>
            <a:r>
              <a:rPr lang="en-US" altLang="zh-CN" dirty="0"/>
              <a:t>RFC </a:t>
            </a:r>
            <a:r>
              <a:rPr lang="zh-CN" altLang="en-US" dirty="0"/>
              <a:t>增加了 </a:t>
            </a:r>
            <a:r>
              <a:rPr lang="en-US" altLang="zh-CN" dirty="0"/>
              <a:t>SSL/TLS </a:t>
            </a:r>
            <a:r>
              <a:rPr lang="zh-CN" altLang="en-US" dirty="0"/>
              <a:t>对 </a:t>
            </a:r>
            <a:r>
              <a:rPr lang="en-US" altLang="zh-CN" dirty="0"/>
              <a:t>X25519 </a:t>
            </a:r>
            <a:r>
              <a:rPr lang="zh-CN" altLang="en-US" dirty="0"/>
              <a:t>密钥交换协议的支持，而新版 </a:t>
            </a:r>
            <a:r>
              <a:rPr lang="en-US" altLang="zh-CN" dirty="0" err="1"/>
              <a:t>OpenSSL</a:t>
            </a:r>
            <a:r>
              <a:rPr lang="en-US" altLang="zh-CN" dirty="0"/>
              <a:t> 1.1 </a:t>
            </a:r>
            <a:r>
              <a:rPr lang="zh-CN" altLang="en-US" dirty="0"/>
              <a:t>也加入支持，下一步是将 </a:t>
            </a:r>
            <a:r>
              <a:rPr lang="en-US" altLang="zh-CN" dirty="0"/>
              <a:t>Ed25519 </a:t>
            </a:r>
            <a:r>
              <a:rPr lang="zh-CN" altLang="en-US" dirty="0"/>
              <a:t>做为可选的 </a:t>
            </a:r>
            <a:r>
              <a:rPr lang="en-US" altLang="zh-CN" dirty="0"/>
              <a:t>TLS </a:t>
            </a:r>
            <a:r>
              <a:rPr lang="zh-CN" altLang="en-US" dirty="0"/>
              <a:t>证书签名算法，彻底摆脱 </a:t>
            </a:r>
            <a:r>
              <a:rPr lang="en-US" altLang="zh-CN" dirty="0"/>
              <a:t>NIST </a:t>
            </a:r>
            <a:r>
              <a:rPr lang="zh-CN" altLang="en-US" dirty="0"/>
              <a:t>。</a:t>
            </a:r>
          </a:p>
        </p:txBody>
      </p:sp>
    </p:spTree>
    <p:extLst>
      <p:ext uri="{BB962C8B-B14F-4D97-AF65-F5344CB8AC3E}">
        <p14:creationId xmlns:p14="http://schemas.microsoft.com/office/powerpoint/2010/main" val="3498754784"/>
      </p:ext>
    </p:extLst>
  </p:cSld>
  <p:clrMapOvr>
    <a:masterClrMapping/>
  </p:clrMapOvr>
  <p:transition>
    <p:fade/>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ChangeArrowheads="1"/>
          </p:cNvSpPr>
          <p:nvPr/>
        </p:nvSpPr>
        <p:spPr bwMode="auto">
          <a:xfrm>
            <a:off x="381000" y="228600"/>
            <a:ext cx="8240713" cy="7700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r>
              <a:rPr lang="en-US" altLang="zh-CN" sz="4400" b="1" dirty="0">
                <a:solidFill>
                  <a:srgbClr val="000066"/>
                </a:solidFill>
                <a:ea typeface="华文新魏" pitchFamily="2" charset="-122"/>
              </a:rPr>
              <a:t>9 PKCS#</a:t>
            </a:r>
            <a:endParaRPr lang="zh-CN" altLang="en-US" sz="4400" b="1" dirty="0">
              <a:solidFill>
                <a:srgbClr val="000066"/>
              </a:solidFill>
              <a:ea typeface="华文新魏" pitchFamily="2" charset="-122"/>
            </a:endParaRPr>
          </a:p>
        </p:txBody>
      </p:sp>
      <p:sp>
        <p:nvSpPr>
          <p:cNvPr id="83971" name="Rectangle 3"/>
          <p:cNvSpPr>
            <a:spLocks noChangeArrowheads="1"/>
          </p:cNvSpPr>
          <p:nvPr/>
        </p:nvSpPr>
        <p:spPr bwMode="auto">
          <a:xfrm>
            <a:off x="533400" y="1219200"/>
            <a:ext cx="8240713" cy="3090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marL="342900" indent="-342900">
              <a:spcBef>
                <a:spcPct val="20000"/>
              </a:spcBef>
              <a:buFontTx/>
              <a:buChar char="•"/>
            </a:pPr>
            <a:r>
              <a:rPr lang="en-US" altLang="zh-CN" b="1" dirty="0">
                <a:solidFill>
                  <a:srgbClr val="000066"/>
                </a:solidFill>
              </a:rPr>
              <a:t>PKCS #1 V2.2-2012</a:t>
            </a:r>
          </a:p>
          <a:p>
            <a:pPr marL="742950" lvl="1" indent="-285750">
              <a:spcBef>
                <a:spcPct val="20000"/>
              </a:spcBef>
              <a:buFontTx/>
              <a:buChar char="–"/>
            </a:pPr>
            <a:r>
              <a:rPr lang="en-US" altLang="zh-CN" sz="2000" b="1" dirty="0">
                <a:solidFill>
                  <a:srgbClr val="000066"/>
                </a:solidFill>
              </a:rPr>
              <a:t>RSA Encryption Standard </a:t>
            </a:r>
            <a:r>
              <a:rPr lang="zh-CN" altLang="en-US" sz="2000" b="1" dirty="0">
                <a:solidFill>
                  <a:srgbClr val="000066"/>
                </a:solidFill>
              </a:rPr>
              <a:t>（</a:t>
            </a:r>
            <a:r>
              <a:rPr lang="en-US" altLang="zh-CN" sz="2000" b="1" dirty="0">
                <a:solidFill>
                  <a:srgbClr val="000066"/>
                </a:solidFill>
              </a:rPr>
              <a:t>RSA</a:t>
            </a:r>
            <a:r>
              <a:rPr lang="zh-CN" altLang="en-US" sz="2000" b="1" dirty="0">
                <a:solidFill>
                  <a:srgbClr val="000066"/>
                </a:solidFill>
              </a:rPr>
              <a:t>加密标准）</a:t>
            </a:r>
            <a:endParaRPr lang="en-US" altLang="zh-CN" sz="2000" b="1" dirty="0">
              <a:solidFill>
                <a:srgbClr val="000066"/>
              </a:solidFill>
            </a:endParaRPr>
          </a:p>
          <a:p>
            <a:pPr marL="342900" indent="-342900">
              <a:spcBef>
                <a:spcPct val="20000"/>
              </a:spcBef>
              <a:buFontTx/>
              <a:buChar char="•"/>
            </a:pPr>
            <a:r>
              <a:rPr lang="en-US" altLang="zh-CN" b="1" dirty="0">
                <a:solidFill>
                  <a:srgbClr val="000066"/>
                </a:solidFill>
              </a:rPr>
              <a:t>PKCS #3 V1.4-1993</a:t>
            </a:r>
          </a:p>
          <a:p>
            <a:r>
              <a:rPr lang="en-US" altLang="zh-CN" sz="2000" b="1" dirty="0">
                <a:solidFill>
                  <a:srgbClr val="000066"/>
                </a:solidFill>
              </a:rPr>
              <a:t>       - </a:t>
            </a:r>
            <a:r>
              <a:rPr lang="en-US" altLang="zh-CN" sz="2000" b="1" dirty="0" err="1">
                <a:solidFill>
                  <a:srgbClr val="000066"/>
                </a:solidFill>
              </a:rPr>
              <a:t>Diffie</a:t>
            </a:r>
            <a:r>
              <a:rPr lang="en-US" altLang="zh-CN" sz="2000" b="1" dirty="0">
                <a:solidFill>
                  <a:srgbClr val="000066"/>
                </a:solidFill>
              </a:rPr>
              <a:t>-Hellman Key-Agreement Standard</a:t>
            </a:r>
          </a:p>
          <a:p>
            <a:r>
              <a:rPr lang="zh-CN" altLang="en-US" sz="2000" b="1" dirty="0">
                <a:solidFill>
                  <a:srgbClr val="000066"/>
                </a:solidFill>
              </a:rPr>
              <a:t>      （</a:t>
            </a:r>
            <a:r>
              <a:rPr lang="en-US" altLang="zh-CN" sz="900" dirty="0"/>
              <a:t> </a:t>
            </a:r>
            <a:r>
              <a:rPr lang="en-US" altLang="zh-CN" dirty="0" err="1"/>
              <a:t>Diffie</a:t>
            </a:r>
            <a:r>
              <a:rPr lang="en-US" altLang="zh-CN" dirty="0"/>
              <a:t>-Hellman </a:t>
            </a:r>
            <a:r>
              <a:rPr lang="zh-CN" altLang="en-US" dirty="0"/>
              <a:t>密钥协商</a:t>
            </a:r>
            <a:r>
              <a:rPr lang="zh-CN" altLang="en-US" sz="1200" b="1" dirty="0">
                <a:solidFill>
                  <a:srgbClr val="000066"/>
                </a:solidFill>
              </a:rPr>
              <a:t>）</a:t>
            </a:r>
            <a:endParaRPr lang="en-US" altLang="zh-CN" sz="1200" b="1" dirty="0">
              <a:solidFill>
                <a:srgbClr val="000066"/>
              </a:solidFill>
            </a:endParaRPr>
          </a:p>
          <a:p>
            <a:pPr marL="342900" indent="-342900">
              <a:spcBef>
                <a:spcPct val="20000"/>
              </a:spcBef>
              <a:buFontTx/>
              <a:buChar char="•"/>
            </a:pPr>
            <a:r>
              <a:rPr lang="en-US" altLang="zh-CN" b="1" dirty="0">
                <a:solidFill>
                  <a:srgbClr val="000066"/>
                </a:solidFill>
              </a:rPr>
              <a:t>PKCS # 5 V2.0 -2000</a:t>
            </a:r>
          </a:p>
          <a:p>
            <a:pPr marL="742950" lvl="1" indent="-285750">
              <a:spcBef>
                <a:spcPct val="20000"/>
              </a:spcBef>
              <a:buFontTx/>
              <a:buChar char="–"/>
            </a:pPr>
            <a:r>
              <a:rPr lang="en-US" altLang="zh-CN" sz="2000" b="1" dirty="0">
                <a:solidFill>
                  <a:srgbClr val="000066"/>
                </a:solidFill>
              </a:rPr>
              <a:t>Password-Based Encryption Standard</a:t>
            </a:r>
            <a:r>
              <a:rPr lang="zh-CN" altLang="en-US" sz="2000" b="1" dirty="0">
                <a:solidFill>
                  <a:srgbClr val="000066"/>
                </a:solidFill>
              </a:rPr>
              <a:t>（基于口令的加密方案）</a:t>
            </a:r>
            <a:endParaRPr lang="en-US" altLang="zh-CN" sz="2000" b="1" dirty="0">
              <a:solidFill>
                <a:srgbClr val="000066"/>
              </a:solidFill>
            </a:endParaRPr>
          </a:p>
          <a:p>
            <a:pPr marL="342900" indent="-342900">
              <a:spcBef>
                <a:spcPct val="20000"/>
              </a:spcBef>
              <a:buFontTx/>
              <a:buChar char="•"/>
            </a:pPr>
            <a:r>
              <a:rPr lang="en-US" altLang="zh-CN" b="1" dirty="0">
                <a:solidFill>
                  <a:srgbClr val="000066"/>
                </a:solidFill>
              </a:rPr>
              <a:t>PKCS #7 V1.5-1998</a:t>
            </a:r>
          </a:p>
          <a:p>
            <a:pPr marL="742950" lvl="1" indent="-285750">
              <a:spcBef>
                <a:spcPct val="20000"/>
              </a:spcBef>
              <a:buFontTx/>
              <a:buChar char="–"/>
            </a:pPr>
            <a:r>
              <a:rPr lang="en-US" altLang="zh-CN" sz="2000" b="1" dirty="0">
                <a:solidFill>
                  <a:srgbClr val="000066"/>
                </a:solidFill>
              </a:rPr>
              <a:t>Cryptographic Message Syntax Standard(</a:t>
            </a:r>
            <a:r>
              <a:rPr lang="zh-CN" altLang="en-US" sz="2000" b="1" dirty="0">
                <a:solidFill>
                  <a:srgbClr val="000066"/>
                </a:solidFill>
              </a:rPr>
              <a:t>加密消息语法标准</a:t>
            </a:r>
            <a:r>
              <a:rPr lang="en-US" altLang="zh-CN" sz="2000" b="1" dirty="0">
                <a:solidFill>
                  <a:srgbClr val="000066"/>
                </a:solidFill>
              </a:rPr>
              <a:t>)</a:t>
            </a:r>
          </a:p>
        </p:txBody>
      </p:sp>
    </p:spTree>
    <p:extLst>
      <p:ext uri="{BB962C8B-B14F-4D97-AF65-F5344CB8AC3E}">
        <p14:creationId xmlns:p14="http://schemas.microsoft.com/office/powerpoint/2010/main" val="175541068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1026"/>
          <p:cNvSpPr>
            <a:spLocks noChangeArrowheads="1"/>
          </p:cNvSpPr>
          <p:nvPr/>
        </p:nvSpPr>
        <p:spPr bwMode="auto">
          <a:xfrm>
            <a:off x="381000" y="228600"/>
            <a:ext cx="8240713" cy="695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r>
              <a:rPr lang="en-US" altLang="zh-CN" sz="4400" b="1">
                <a:solidFill>
                  <a:srgbClr val="000066"/>
                </a:solidFill>
                <a:ea typeface="华文新魏" pitchFamily="2" charset="-122"/>
              </a:rPr>
              <a:t>PKCS</a:t>
            </a:r>
            <a:r>
              <a:rPr lang="zh-CN" altLang="en-US" sz="4400" b="1">
                <a:solidFill>
                  <a:srgbClr val="000066"/>
                </a:solidFill>
                <a:ea typeface="华文新魏" pitchFamily="2" charset="-122"/>
              </a:rPr>
              <a:t>系列标准</a:t>
            </a:r>
            <a:r>
              <a:rPr lang="en-US" altLang="zh-CN" sz="4400" b="1">
                <a:solidFill>
                  <a:srgbClr val="000066"/>
                </a:solidFill>
                <a:ea typeface="华文新魏" pitchFamily="2" charset="-122"/>
              </a:rPr>
              <a:t>(</a:t>
            </a:r>
            <a:r>
              <a:rPr lang="zh-CN" altLang="en-US" sz="4400" b="1">
                <a:solidFill>
                  <a:srgbClr val="000066"/>
                </a:solidFill>
                <a:ea typeface="华文新魏" pitchFamily="2" charset="-122"/>
              </a:rPr>
              <a:t>续</a:t>
            </a:r>
            <a:r>
              <a:rPr lang="en-US" altLang="zh-CN" sz="4400" b="1">
                <a:solidFill>
                  <a:srgbClr val="000066"/>
                </a:solidFill>
                <a:ea typeface="华文新魏" pitchFamily="2" charset="-122"/>
              </a:rPr>
              <a:t>)</a:t>
            </a:r>
          </a:p>
        </p:txBody>
      </p:sp>
      <p:sp>
        <p:nvSpPr>
          <p:cNvPr id="84995" name="Rectangle 1027"/>
          <p:cNvSpPr>
            <a:spLocks noChangeArrowheads="1"/>
          </p:cNvSpPr>
          <p:nvPr/>
        </p:nvSpPr>
        <p:spPr bwMode="auto">
          <a:xfrm>
            <a:off x="533400" y="1219200"/>
            <a:ext cx="8240713" cy="2142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marL="342900" indent="-342900">
              <a:spcBef>
                <a:spcPct val="20000"/>
              </a:spcBef>
              <a:buFontTx/>
              <a:buChar char="•"/>
            </a:pPr>
            <a:r>
              <a:rPr lang="en-US" altLang="zh-CN" b="1" dirty="0">
                <a:solidFill>
                  <a:srgbClr val="000066"/>
                </a:solidFill>
              </a:rPr>
              <a:t>PKCS #9 V2.0-2000</a:t>
            </a:r>
          </a:p>
          <a:p>
            <a:pPr marL="742950" lvl="1" indent="-285750">
              <a:spcBef>
                <a:spcPct val="20000"/>
              </a:spcBef>
              <a:buFontTx/>
              <a:buChar char="–"/>
            </a:pPr>
            <a:r>
              <a:rPr lang="en-US" altLang="zh-CN" sz="2000" b="1" dirty="0">
                <a:solidFill>
                  <a:srgbClr val="000066"/>
                </a:solidFill>
              </a:rPr>
              <a:t>Selected Attribute Types </a:t>
            </a:r>
            <a:r>
              <a:rPr lang="zh-CN" altLang="en-US" sz="2000" b="1" dirty="0">
                <a:solidFill>
                  <a:srgbClr val="000066"/>
                </a:solidFill>
              </a:rPr>
              <a:t>（可选属性类型）</a:t>
            </a:r>
            <a:endParaRPr lang="en-US" altLang="zh-CN" sz="2000" b="1" dirty="0">
              <a:solidFill>
                <a:srgbClr val="000066"/>
              </a:solidFill>
            </a:endParaRPr>
          </a:p>
          <a:p>
            <a:pPr marL="342900" indent="-342900">
              <a:spcBef>
                <a:spcPct val="20000"/>
              </a:spcBef>
              <a:buFontTx/>
              <a:buChar char="•"/>
            </a:pPr>
            <a:r>
              <a:rPr lang="en-US" altLang="zh-CN" b="1" dirty="0">
                <a:solidFill>
                  <a:srgbClr val="000066"/>
                </a:solidFill>
              </a:rPr>
              <a:t>PKCS #10 V1.7-2000</a:t>
            </a:r>
          </a:p>
          <a:p>
            <a:pPr marL="742950" lvl="1" indent="-285750">
              <a:spcBef>
                <a:spcPct val="20000"/>
              </a:spcBef>
              <a:buFontTx/>
              <a:buChar char="–"/>
            </a:pPr>
            <a:r>
              <a:rPr lang="en-US" altLang="zh-CN" sz="2000" b="1" dirty="0">
                <a:solidFill>
                  <a:srgbClr val="000066"/>
                </a:solidFill>
              </a:rPr>
              <a:t>Certification Request Syntax Standard</a:t>
            </a:r>
            <a:r>
              <a:rPr lang="zh-CN" altLang="en-US" sz="2000" b="1" dirty="0">
                <a:solidFill>
                  <a:srgbClr val="000066"/>
                </a:solidFill>
              </a:rPr>
              <a:t>（认证请求语法规范）</a:t>
            </a:r>
            <a:endParaRPr lang="en-US" altLang="zh-CN" sz="2000" b="1" dirty="0">
              <a:solidFill>
                <a:srgbClr val="000066"/>
              </a:solidFill>
            </a:endParaRPr>
          </a:p>
          <a:p>
            <a:pPr marL="342900" indent="-342900">
              <a:spcBef>
                <a:spcPct val="20000"/>
              </a:spcBef>
              <a:buFontTx/>
              <a:buChar char="•"/>
            </a:pPr>
            <a:r>
              <a:rPr lang="en-US" altLang="zh-CN" b="1" dirty="0">
                <a:solidFill>
                  <a:srgbClr val="000066"/>
                </a:solidFill>
              </a:rPr>
              <a:t>PKCS #11 V2.4-2015</a:t>
            </a:r>
          </a:p>
          <a:p>
            <a:pPr marL="742950" lvl="1" indent="-285750">
              <a:spcBef>
                <a:spcPct val="20000"/>
              </a:spcBef>
              <a:buFontTx/>
              <a:buChar char="–"/>
            </a:pPr>
            <a:r>
              <a:rPr lang="en-US" altLang="zh-CN" sz="2000" b="1" dirty="0">
                <a:solidFill>
                  <a:srgbClr val="000066"/>
                </a:solidFill>
              </a:rPr>
              <a:t>Cryptographic Token Interface Standard</a:t>
            </a:r>
            <a:r>
              <a:rPr lang="zh-CN" altLang="en-US" sz="2000" b="1" dirty="0">
                <a:solidFill>
                  <a:srgbClr val="000066"/>
                </a:solidFill>
              </a:rPr>
              <a:t>（密码令牌接口规范）</a:t>
            </a:r>
            <a:endParaRPr lang="en-US" altLang="zh-CN" sz="2000" b="1" dirty="0">
              <a:solidFill>
                <a:srgbClr val="000066"/>
              </a:solidFill>
            </a:endParaRPr>
          </a:p>
        </p:txBody>
      </p:sp>
    </p:spTree>
    <p:extLst>
      <p:ext uri="{BB962C8B-B14F-4D97-AF65-F5344CB8AC3E}">
        <p14:creationId xmlns:p14="http://schemas.microsoft.com/office/powerpoint/2010/main" val="3789183136"/>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1215</TotalTime>
  <Words>6738</Words>
  <Application>Microsoft Office PowerPoint</Application>
  <PresentationFormat>全屏显示(4:3)</PresentationFormat>
  <Paragraphs>509</Paragraphs>
  <Slides>81</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81</vt:i4>
      </vt:variant>
    </vt:vector>
  </HeadingPairs>
  <TitlesOfParts>
    <vt:vector size="88" baseType="lpstr">
      <vt:lpstr>华文新魏</vt:lpstr>
      <vt:lpstr>宋体</vt:lpstr>
      <vt:lpstr>Arial</vt:lpstr>
      <vt:lpstr>Calibri</vt:lpstr>
      <vt:lpstr>Cambria Math</vt:lpstr>
      <vt:lpstr>Times New Roman</vt:lpstr>
      <vt:lpstr>Office 主题</vt:lpstr>
      <vt:lpstr>密码标准第二讲</vt:lpstr>
      <vt:lpstr>标准的分类</vt:lpstr>
      <vt:lpstr>PowerPoint 演示文稿</vt:lpstr>
      <vt:lpstr>ANSI和NIST</vt:lpstr>
      <vt:lpstr>主要内容</vt:lpstr>
      <vt:lpstr>1 ANSI</vt:lpstr>
      <vt:lpstr>PowerPoint 演示文稿</vt:lpstr>
      <vt:lpstr>ANSI X9.9 MAC算法</vt:lpstr>
      <vt:lpstr>ANSI X9.19零散报文MAC算法</vt:lpstr>
      <vt:lpstr>ANSI X9.17-1985密钥管理</vt:lpstr>
      <vt:lpstr>ANSI X9.31公钥密码的数字签名</vt:lpstr>
      <vt:lpstr>ANSI X9.52 -1998三重DES(TDEA)</vt:lpstr>
      <vt:lpstr>ANSI X9.62 -1998 ECDSA</vt:lpstr>
      <vt:lpstr>DSA与ECDSA</vt:lpstr>
      <vt:lpstr>签名生成</vt:lpstr>
      <vt:lpstr>验签算法</vt:lpstr>
      <vt:lpstr>ANSI X9.63 -2001 椭圆曲线密钥建立</vt:lpstr>
      <vt:lpstr>2 BSI（ Bundesamt für Sicherheit in der Informationstechnik ）</vt:lpstr>
      <vt:lpstr>AIS20 随机数生成器的功能类</vt:lpstr>
      <vt:lpstr>AIS20An和AIS31An中的RNG 类比较如下</vt:lpstr>
      <vt:lpstr>AIS31 物理真随机数产生器的功能类和评估方法</vt:lpstr>
      <vt:lpstr>AIS31 评估要求</vt:lpstr>
      <vt:lpstr>AIS31与ITSEC和CC的比较</vt:lpstr>
      <vt:lpstr>3 ETSI</vt:lpstr>
      <vt:lpstr>PowerPoint 演示文稿</vt:lpstr>
      <vt:lpstr>5G系统的安全体系结构和程序</vt:lpstr>
      <vt:lpstr>4 FIPS</vt:lpstr>
      <vt:lpstr>PowerPoint 演示文稿</vt:lpstr>
      <vt:lpstr>PowerPoint 演示文稿</vt:lpstr>
      <vt:lpstr>FIPS PUB 180 安全哈希标准</vt:lpstr>
      <vt:lpstr>PowerPoint 演示文稿</vt:lpstr>
      <vt:lpstr>SHA-1</vt:lpstr>
      <vt:lpstr>SHA-2、SHA-3、SHA-4</vt:lpstr>
      <vt:lpstr>FIPS180-2中的四个算法的比较</vt:lpstr>
      <vt:lpstr>FIPS PUB 186数字签名标准</vt:lpstr>
      <vt:lpstr>FIPS PUB 186的比较</vt:lpstr>
      <vt:lpstr>FIPS PUB 46-3-1999 数据加密标准 </vt:lpstr>
      <vt:lpstr>FIPS PUB 197-2001 AES</vt:lpstr>
      <vt:lpstr>FIPS PUB 198-1 HMAC</vt:lpstr>
      <vt:lpstr>类似的标准</vt:lpstr>
      <vt:lpstr>RFC 2104, HMAC</vt:lpstr>
      <vt:lpstr>5 中国标准GB（GM）</vt:lpstr>
      <vt:lpstr>续1</vt:lpstr>
      <vt:lpstr>续2</vt:lpstr>
      <vt:lpstr>GM/T 0005-2012的检测内容与AIS 20的比较</vt:lpstr>
      <vt:lpstr>GM/T 0062—2018 密码产品随机数检测要求</vt:lpstr>
      <vt:lpstr>GM/T 0001-2012 祖冲之序列密码算法</vt:lpstr>
      <vt:lpstr>SM4 分组密码算法</vt:lpstr>
      <vt:lpstr>国外类似分组密码比较</vt:lpstr>
      <vt:lpstr>SM2椭圆曲线公钥密码算法</vt:lpstr>
      <vt:lpstr>纳入ISO/IEC14888-3 的国外数字签名标准算法：</vt:lpstr>
      <vt:lpstr>SM2的优势</vt:lpstr>
      <vt:lpstr>SM3密码杂凑算法</vt:lpstr>
      <vt:lpstr>国外类似杂凑函数比较</vt:lpstr>
      <vt:lpstr>密码应用标识规范</vt:lpstr>
      <vt:lpstr>SM9标识密码算法</vt:lpstr>
      <vt:lpstr>SM9与ISO/IEC 14888-3 </vt:lpstr>
      <vt:lpstr>6 ISO/IEC</vt:lpstr>
      <vt:lpstr>ISO IEC 9796-2 带消息恢复的数字签名</vt:lpstr>
      <vt:lpstr> ISO/IEC 9796-2安全分析</vt:lpstr>
      <vt:lpstr>ISO IEC 9797-2011 消息认证码</vt:lpstr>
      <vt:lpstr>ISO/IEC 9797-2使用专用哈希函数的机制</vt:lpstr>
      <vt:lpstr>ISO IEC 15946 椭圆曲线密码技术</vt:lpstr>
      <vt:lpstr>ISO/IEC 15946-1 总则</vt:lpstr>
      <vt:lpstr>ISO/IEC 15946-2 数字签名</vt:lpstr>
      <vt:lpstr>PowerPoint 演示文稿</vt:lpstr>
      <vt:lpstr>ISO/IEC 15946-2三种签名算法的比较</vt:lpstr>
      <vt:lpstr>ISO/IEC 15946-3 密钥建立</vt:lpstr>
      <vt:lpstr>ISO/IEC 15946-4 带消息恢复的数字签名</vt:lpstr>
      <vt:lpstr>签名生成过程中各算法的运算比较</vt:lpstr>
      <vt:lpstr>签名验证过程中各算法的运算比较</vt:lpstr>
      <vt:lpstr>7 ITU</vt:lpstr>
      <vt:lpstr>续1</vt:lpstr>
      <vt:lpstr>8 NIST</vt:lpstr>
      <vt:lpstr>NIST SP 800-22rev1a随机数和伪随机数的统计测试集</vt:lpstr>
      <vt:lpstr>NIST SP 800-38A 分组密码操作模式建议</vt:lpstr>
      <vt:lpstr>NIST SP 800-67 Revision 1三重数据加密算法（TDEA）分组密码建议</vt:lpstr>
      <vt:lpstr>NIST SP 800-133密码密钥生成建议</vt:lpstr>
      <vt:lpstr>Curve25519/Ed25519/X25519 </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密码标准第二讲</dc:title>
  <dc:creator>Administrator</dc:creator>
  <cp:lastModifiedBy>chunwu yu</cp:lastModifiedBy>
  <cp:revision>74</cp:revision>
  <dcterms:created xsi:type="dcterms:W3CDTF">2019-05-06T03:08:07Z</dcterms:created>
  <dcterms:modified xsi:type="dcterms:W3CDTF">2026-02-26T13:19:01Z</dcterms:modified>
</cp:coreProperties>
</file>