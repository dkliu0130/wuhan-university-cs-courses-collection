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3"/>
  </p:notesMasterIdLst>
  <p:sldIdLst>
    <p:sldId id="256" r:id="rId2"/>
    <p:sldId id="2154" r:id="rId3"/>
    <p:sldId id="2099" r:id="rId4"/>
    <p:sldId id="2100" r:id="rId5"/>
    <p:sldId id="2101" r:id="rId6"/>
    <p:sldId id="2102" r:id="rId7"/>
    <p:sldId id="2103" r:id="rId8"/>
    <p:sldId id="2105" r:id="rId9"/>
    <p:sldId id="2106" r:id="rId10"/>
    <p:sldId id="2107" r:id="rId11"/>
    <p:sldId id="2108" r:id="rId12"/>
    <p:sldId id="2109" r:id="rId13"/>
    <p:sldId id="2110" r:id="rId14"/>
    <p:sldId id="258" r:id="rId15"/>
    <p:sldId id="1870" r:id="rId16"/>
    <p:sldId id="2045" r:id="rId17"/>
    <p:sldId id="2046" r:id="rId18"/>
    <p:sldId id="2047" r:id="rId19"/>
    <p:sldId id="2053" r:id="rId20"/>
    <p:sldId id="2044" r:id="rId21"/>
    <p:sldId id="2054" r:id="rId22"/>
    <p:sldId id="2055" r:id="rId23"/>
    <p:sldId id="2056" r:id="rId24"/>
    <p:sldId id="2057" r:id="rId25"/>
    <p:sldId id="2059" r:id="rId26"/>
    <p:sldId id="2060" r:id="rId27"/>
    <p:sldId id="2072" r:id="rId28"/>
    <p:sldId id="2071" r:id="rId29"/>
    <p:sldId id="2073" r:id="rId30"/>
    <p:sldId id="2074" r:id="rId31"/>
    <p:sldId id="2075" r:id="rId32"/>
    <p:sldId id="2078" r:id="rId33"/>
    <p:sldId id="2076" r:id="rId34"/>
    <p:sldId id="2079" r:id="rId35"/>
    <p:sldId id="2080" r:id="rId36"/>
    <p:sldId id="2082" r:id="rId37"/>
    <p:sldId id="2083" r:id="rId38"/>
    <p:sldId id="2090" r:id="rId39"/>
    <p:sldId id="2089" r:id="rId40"/>
    <p:sldId id="2091" r:id="rId41"/>
    <p:sldId id="2092" r:id="rId42"/>
    <p:sldId id="2093" r:id="rId43"/>
    <p:sldId id="2095" r:id="rId44"/>
    <p:sldId id="2096" r:id="rId45"/>
    <p:sldId id="2098" r:id="rId46"/>
    <p:sldId id="2112" r:id="rId47"/>
    <p:sldId id="2113" r:id="rId48"/>
    <p:sldId id="2114" r:id="rId49"/>
    <p:sldId id="2116" r:id="rId50"/>
    <p:sldId id="2117" r:id="rId51"/>
    <p:sldId id="2118" r:id="rId52"/>
    <p:sldId id="2119" r:id="rId53"/>
    <p:sldId id="2120" r:id="rId54"/>
    <p:sldId id="2123" r:id="rId55"/>
    <p:sldId id="2124" r:id="rId56"/>
    <p:sldId id="2125" r:id="rId57"/>
    <p:sldId id="2126" r:id="rId58"/>
    <p:sldId id="2127" r:id="rId59"/>
    <p:sldId id="2128" r:id="rId60"/>
    <p:sldId id="2129" r:id="rId61"/>
    <p:sldId id="2130" r:id="rId62"/>
    <p:sldId id="2131" r:id="rId63"/>
    <p:sldId id="2132" r:id="rId64"/>
    <p:sldId id="2133" r:id="rId65"/>
    <p:sldId id="2134" r:id="rId66"/>
    <p:sldId id="2147" r:id="rId67"/>
    <p:sldId id="2148" r:id="rId68"/>
    <p:sldId id="2149" r:id="rId69"/>
    <p:sldId id="2152" r:id="rId70"/>
    <p:sldId id="2135" r:id="rId71"/>
    <p:sldId id="2153" r:id="rId72"/>
    <p:sldId id="2136" r:id="rId73"/>
    <p:sldId id="2138" r:id="rId74"/>
    <p:sldId id="2139" r:id="rId75"/>
    <p:sldId id="2140" r:id="rId76"/>
    <p:sldId id="2141" r:id="rId77"/>
    <p:sldId id="2142" r:id="rId78"/>
    <p:sldId id="2144" r:id="rId79"/>
    <p:sldId id="2150" r:id="rId80"/>
    <p:sldId id="2151" r:id="rId81"/>
    <p:sldId id="2137"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428EDA"/>
    <a:srgbClr val="01B1FD"/>
    <a:srgbClr val="EBEBEB"/>
    <a:srgbClr val="0000FF"/>
    <a:srgbClr val="5B307E"/>
    <a:srgbClr val="BDBCBC"/>
    <a:srgbClr val="BE5108"/>
    <a:srgbClr val="FEFF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77" autoAdjust="0"/>
    <p:restoredTop sz="74636" autoAdjust="0"/>
  </p:normalViewPr>
  <p:slideViewPr>
    <p:cSldViewPr snapToGrid="0" snapToObjects="1">
      <p:cViewPr varScale="1">
        <p:scale>
          <a:sx n="76" d="100"/>
          <a:sy n="76" d="100"/>
        </p:scale>
        <p:origin x="30" y="4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pPr/>
              <a:t>2026/6/4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pPr/>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3</a:t>
            </a:fld>
            <a:endParaRPr lang="zh-CN" altLang="en-US"/>
          </a:p>
        </p:txBody>
      </p:sp>
    </p:spTree>
    <p:extLst>
      <p:ext uri="{BB962C8B-B14F-4D97-AF65-F5344CB8AC3E}">
        <p14:creationId xmlns:p14="http://schemas.microsoft.com/office/powerpoint/2010/main" val="3483836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19</a:t>
            </a:fld>
            <a:endParaRPr lang="zh-CN" altLang="en-US"/>
          </a:p>
        </p:txBody>
      </p:sp>
    </p:spTree>
    <p:extLst>
      <p:ext uri="{BB962C8B-B14F-4D97-AF65-F5344CB8AC3E}">
        <p14:creationId xmlns:p14="http://schemas.microsoft.com/office/powerpoint/2010/main" val="847501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25</a:t>
            </a:fld>
            <a:endParaRPr kumimoji="1" lang="zh-CN" altLang="en-US"/>
          </a:p>
        </p:txBody>
      </p:sp>
    </p:spTree>
    <p:extLst>
      <p:ext uri="{BB962C8B-B14F-4D97-AF65-F5344CB8AC3E}">
        <p14:creationId xmlns:p14="http://schemas.microsoft.com/office/powerpoint/2010/main" val="3517855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26</a:t>
            </a:fld>
            <a:endParaRPr kumimoji="1" lang="zh-CN" altLang="en-US"/>
          </a:p>
        </p:txBody>
      </p:sp>
    </p:spTree>
    <p:extLst>
      <p:ext uri="{BB962C8B-B14F-4D97-AF65-F5344CB8AC3E}">
        <p14:creationId xmlns:p14="http://schemas.microsoft.com/office/powerpoint/2010/main" val="1436879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27</a:t>
            </a:fld>
            <a:endParaRPr lang="zh-CN" altLang="en-US"/>
          </a:p>
        </p:txBody>
      </p:sp>
    </p:spTree>
    <p:extLst>
      <p:ext uri="{BB962C8B-B14F-4D97-AF65-F5344CB8AC3E}">
        <p14:creationId xmlns:p14="http://schemas.microsoft.com/office/powerpoint/2010/main" val="2799253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32</a:t>
            </a:fld>
            <a:endParaRPr lang="zh-CN" altLang="en-US"/>
          </a:p>
        </p:txBody>
      </p:sp>
    </p:spTree>
    <p:extLst>
      <p:ext uri="{BB962C8B-B14F-4D97-AF65-F5344CB8AC3E}">
        <p14:creationId xmlns:p14="http://schemas.microsoft.com/office/powerpoint/2010/main" val="3086266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38</a:t>
            </a:fld>
            <a:endParaRPr lang="zh-CN" altLang="en-US"/>
          </a:p>
        </p:txBody>
      </p:sp>
    </p:spTree>
    <p:extLst>
      <p:ext uri="{BB962C8B-B14F-4D97-AF65-F5344CB8AC3E}">
        <p14:creationId xmlns:p14="http://schemas.microsoft.com/office/powerpoint/2010/main" val="2684294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45</a:t>
            </a:fld>
            <a:endParaRPr lang="zh-CN" altLang="en-US"/>
          </a:p>
        </p:txBody>
      </p:sp>
    </p:spTree>
    <p:extLst>
      <p:ext uri="{BB962C8B-B14F-4D97-AF65-F5344CB8AC3E}">
        <p14:creationId xmlns:p14="http://schemas.microsoft.com/office/powerpoint/2010/main" val="1587956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71</a:t>
            </a:fld>
            <a:endParaRPr kumimoji="1" lang="zh-CN" altLang="en-US"/>
          </a:p>
        </p:txBody>
      </p:sp>
    </p:spTree>
    <p:extLst>
      <p:ext uri="{BB962C8B-B14F-4D97-AF65-F5344CB8AC3E}">
        <p14:creationId xmlns:p14="http://schemas.microsoft.com/office/powerpoint/2010/main" val="38159345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pPr/>
              <a:t>2026/6/4</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pPr/>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pPr/>
              <a:t>2026/6/4</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pPr/>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8CEEC-A71C-6B45-9639-E6D2E93DD6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9C15C2-A82D-BD4C-BAD3-5F2059019642}"/>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7A8D863A-9922-6145-9D8F-6EEBB82FFFEC}"/>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FA258540-FE69-0049-9DB3-4C6C4DC60AC7}"/>
              </a:ext>
            </a:extLst>
          </p:cNvPr>
          <p:cNvSpPr>
            <a:spLocks noGrp="1"/>
          </p:cNvSpPr>
          <p:nvPr>
            <p:ph type="sldNum" sz="quarter" idx="12"/>
          </p:nvPr>
        </p:nvSpPr>
        <p:spPr/>
        <p:txBody>
          <a:bodyPr/>
          <a:lstStyle>
            <a:lvl1pPr>
              <a:defRPr/>
            </a:lvl1pPr>
          </a:lstStyle>
          <a:p>
            <a:fld id="{831E9399-7559-704E-82CE-1E968243B59A}" type="slidenum">
              <a:rPr lang="en-US" altLang="zh-CN"/>
              <a:pPr/>
              <a:t>‹#›</a:t>
            </a:fld>
            <a:endParaRPr lang="en-US" altLang="zh-CN"/>
          </a:p>
        </p:txBody>
      </p:sp>
    </p:spTree>
    <p:extLst>
      <p:ext uri="{BB962C8B-B14F-4D97-AF65-F5344CB8AC3E}">
        <p14:creationId xmlns:p14="http://schemas.microsoft.com/office/powerpoint/2010/main" val="1770455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40419959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21AB4529-D7CE-4152-AC8C-C773609077B7}" type="slidenum">
              <a:rPr lang="en-US" altLang="zh-CN"/>
              <a:pPr>
                <a:defRPr/>
              </a:pPr>
              <a:t>‹#›</a:t>
            </a:fld>
            <a:endParaRPr lang="en-US" altLang="zh-CN"/>
          </a:p>
        </p:txBody>
      </p:sp>
    </p:spTree>
    <p:extLst>
      <p:ext uri="{BB962C8B-B14F-4D97-AF65-F5344CB8AC3E}">
        <p14:creationId xmlns:p14="http://schemas.microsoft.com/office/powerpoint/2010/main" val="56490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pPr/>
              <a:t>2026/6/4</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0.wmf"/><Relationship Id="rId17" Type="http://schemas.openxmlformats.org/officeDocument/2006/relationships/image" Target="../media/image16.png"/><Relationship Id="rId2" Type="http://schemas.openxmlformats.org/officeDocument/2006/relationships/notesSlide" Target="../notesSlides/notesSlide5.xml"/><Relationship Id="rId16"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7.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14.png"/><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4.bin"/><Relationship Id="rId14" Type="http://schemas.openxmlformats.org/officeDocument/2006/relationships/image" Target="../media/image11.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5.wmf"/></Relationships>
</file>

<file path=ppt/slides/_rels/slide3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6.wmf"/><Relationship Id="rId4" Type="http://schemas.openxmlformats.org/officeDocument/2006/relationships/oleObject" Target="../embeddings/oleObject17.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29.wmf"/><Relationship Id="rId4" Type="http://schemas.openxmlformats.org/officeDocument/2006/relationships/oleObject" Target="../embeddings/oleObject20.bin"/><Relationship Id="rId9" Type="http://schemas.openxmlformats.org/officeDocument/2006/relationships/image" Target="../media/image31.wmf"/></Relationships>
</file>

<file path=ppt/slides/_rels/slide6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3.wmf"/><Relationship Id="rId4" Type="http://schemas.openxmlformats.org/officeDocument/2006/relationships/oleObject" Target="../embeddings/oleObject24.bin"/></Relationships>
</file>

<file path=ppt/slides/_rels/slide6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35.wmf"/><Relationship Id="rId4" Type="http://schemas.openxmlformats.org/officeDocument/2006/relationships/oleObject" Target="../embeddings/oleObject26.bin"/></Relationships>
</file>

<file path=ppt/slides/_rels/slide6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38.wmf"/><Relationship Id="rId4" Type="http://schemas.openxmlformats.org/officeDocument/2006/relationships/oleObject" Target="../embeddings/oleObject29.bin"/></Relationships>
</file>

<file path=ppt/slides/_rels/slide74.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1.bin"/><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2.bin"/><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2.bin"/><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33.bin"/><Relationship Id="rId1" Type="http://schemas.openxmlformats.org/officeDocument/2006/relationships/slideLayout" Target="../slideLayouts/slideLayout8.xml"/><Relationship Id="rId5" Type="http://schemas.openxmlformats.org/officeDocument/2006/relationships/image" Target="../media/image43.wmf"/><Relationship Id="rId4" Type="http://schemas.openxmlformats.org/officeDocument/2006/relationships/oleObject" Target="../embeddings/oleObject34.bin"/></Relationships>
</file>

<file path=ppt/slides/_rels/slide7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5.bin"/><Relationship Id="rId1" Type="http://schemas.openxmlformats.org/officeDocument/2006/relationships/slideLayout" Target="../slideLayouts/slideLayout8.xml"/><Relationship Id="rId5" Type="http://schemas.openxmlformats.org/officeDocument/2006/relationships/image" Target="../media/image44.wmf"/><Relationship Id="rId4" Type="http://schemas.openxmlformats.org/officeDocument/2006/relationships/oleObject" Target="../embeddings/oleObject36.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50.wmf"/><Relationship Id="rId3" Type="http://schemas.openxmlformats.org/officeDocument/2006/relationships/image" Target="../media/image45.wmf"/><Relationship Id="rId7" Type="http://schemas.openxmlformats.org/officeDocument/2006/relationships/image" Target="../media/image47.wmf"/><Relationship Id="rId12" Type="http://schemas.openxmlformats.org/officeDocument/2006/relationships/oleObject" Target="../embeddings/oleObject42.bin"/><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11" Type="http://schemas.openxmlformats.org/officeDocument/2006/relationships/image" Target="../media/image49.wmf"/><Relationship Id="rId5" Type="http://schemas.openxmlformats.org/officeDocument/2006/relationships/image" Target="../media/image46.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8.wmf"/><Relationship Id="rId1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318161" y="1888176"/>
            <a:ext cx="9595262" cy="1005751"/>
          </a:xfrm>
        </p:spPr>
        <p:txBody>
          <a:bodyPr>
            <a:normAutofit/>
          </a:bodyPr>
          <a:lstStyle/>
          <a:p>
            <a:r>
              <a:rPr lang="zh-CN" altLang="en-US" sz="4800" dirty="0"/>
              <a:t>第三章</a:t>
            </a:r>
            <a:r>
              <a:rPr lang="en-US" altLang="zh-CN" sz="4800" dirty="0"/>
              <a:t> </a:t>
            </a:r>
            <a:r>
              <a:rPr lang="zh-CN" altLang="en-US" sz="4800" dirty="0"/>
              <a:t>古典加密方法</a:t>
            </a:r>
            <a:endParaRPr kumimoji="1" lang="zh-CN" altLang="en-US" sz="4800" b="1"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014BF-C2AC-C420-1B5E-728D0EFDE0C1}"/>
              </a:ext>
            </a:extLst>
          </p:cNvPr>
          <p:cNvSpPr>
            <a:spLocks noGrp="1"/>
          </p:cNvSpPr>
          <p:nvPr>
            <p:ph type="title"/>
          </p:nvPr>
        </p:nvSpPr>
        <p:spPr/>
        <p:txBody>
          <a:bodyPr/>
          <a:lstStyle/>
          <a:p>
            <a:r>
              <a:rPr lang="zh-CN" altLang="en-US" dirty="0"/>
              <a:t>本章思路</a:t>
            </a:r>
          </a:p>
        </p:txBody>
      </p:sp>
      <p:sp>
        <p:nvSpPr>
          <p:cNvPr id="4" name="灯片编号占位符 3">
            <a:extLst>
              <a:ext uri="{FF2B5EF4-FFF2-40B4-BE49-F238E27FC236}">
                <a16:creationId xmlns:a16="http://schemas.microsoft.com/office/drawing/2014/main" id="{F68A05FB-73B5-58BD-75FF-9CBC31498E4F}"/>
              </a:ext>
            </a:extLst>
          </p:cNvPr>
          <p:cNvSpPr>
            <a:spLocks noGrp="1"/>
          </p:cNvSpPr>
          <p:nvPr>
            <p:ph type="sldNum" sz="quarter" idx="12"/>
          </p:nvPr>
        </p:nvSpPr>
        <p:spPr/>
        <p:txBody>
          <a:bodyPr/>
          <a:lstStyle/>
          <a:p>
            <a:fld id="{8D4D1E41-7A09-AB4A-A4E1-09765ADA2698}" type="slidenum">
              <a:rPr kumimoji="1" lang="zh-CN" altLang="en-US" smtClean="0"/>
              <a:pPr/>
              <a:t>2</a:t>
            </a:fld>
            <a:endParaRPr kumimoji="1" lang="zh-CN" altLang="en-US" dirty="0"/>
          </a:p>
        </p:txBody>
      </p:sp>
      <p:pic>
        <p:nvPicPr>
          <p:cNvPr id="6" name="图片 5">
            <a:extLst>
              <a:ext uri="{FF2B5EF4-FFF2-40B4-BE49-F238E27FC236}">
                <a16:creationId xmlns:a16="http://schemas.microsoft.com/office/drawing/2014/main" id="{C0609EF9-B9CF-B1FD-34E0-3856042A273E}"/>
              </a:ext>
            </a:extLst>
          </p:cNvPr>
          <p:cNvPicPr>
            <a:picLocks noChangeAspect="1"/>
          </p:cNvPicPr>
          <p:nvPr/>
        </p:nvPicPr>
        <p:blipFill>
          <a:blip r:embed="rId2"/>
          <a:stretch>
            <a:fillRect/>
          </a:stretch>
        </p:blipFill>
        <p:spPr>
          <a:xfrm>
            <a:off x="559553" y="1330286"/>
            <a:ext cx="11072893" cy="5162588"/>
          </a:xfrm>
          <a:prstGeom prst="rect">
            <a:avLst/>
          </a:prstGeom>
        </p:spPr>
      </p:pic>
    </p:spTree>
    <p:extLst>
      <p:ext uri="{BB962C8B-B14F-4D97-AF65-F5344CB8AC3E}">
        <p14:creationId xmlns:p14="http://schemas.microsoft.com/office/powerpoint/2010/main" val="679756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solidFill>
                  <a:srgbClr val="FF0000"/>
                </a:solidFill>
              </a:rPr>
              <a:t>3.1 </a:t>
            </a:r>
            <a:r>
              <a:rPr lang="zh-CN" altLang="en-US" sz="3200" dirty="0">
                <a:solidFill>
                  <a:srgbClr val="FF0000"/>
                </a:solidFill>
              </a:rPr>
              <a:t>密码学的起源与发展</a:t>
            </a:r>
            <a:endParaRPr lang="en-US" altLang="zh-CN" sz="3200" dirty="0">
              <a:solidFill>
                <a:srgbClr val="FF0000"/>
              </a:solidFill>
            </a:endParaRPr>
          </a:p>
          <a:p>
            <a:pPr>
              <a:buNone/>
            </a:pPr>
            <a:r>
              <a:rPr lang="en-US" altLang="zh-CN" sz="3200" dirty="0"/>
              <a:t>3.2 </a:t>
            </a:r>
            <a:r>
              <a:rPr lang="zh-CN" altLang="en-US" sz="3200" dirty="0"/>
              <a:t>换位法</a:t>
            </a:r>
          </a:p>
          <a:p>
            <a:pPr>
              <a:buNone/>
            </a:pPr>
            <a:r>
              <a:rPr lang="en-US" altLang="zh-CN" sz="3200" dirty="0"/>
              <a:t>3.3 </a:t>
            </a:r>
            <a:r>
              <a:rPr lang="zh-CN" altLang="en-US" sz="3200" dirty="0"/>
              <a:t>简单代替密码</a:t>
            </a:r>
          </a:p>
          <a:p>
            <a:pPr>
              <a:buNone/>
            </a:pPr>
            <a:r>
              <a:rPr lang="en-US" altLang="zh-CN" sz="3200" dirty="0"/>
              <a:t>3.4 </a:t>
            </a:r>
            <a:r>
              <a:rPr lang="zh-CN" altLang="en-US" sz="3200" dirty="0"/>
              <a:t>同音代替密码</a:t>
            </a:r>
          </a:p>
          <a:p>
            <a:pPr>
              <a:buNone/>
            </a:pPr>
            <a:r>
              <a:rPr lang="en-US" altLang="zh-CN" sz="3200" dirty="0"/>
              <a:t>3.5 </a:t>
            </a:r>
            <a:r>
              <a:rPr lang="zh-CN" altLang="en-US" sz="3200" dirty="0"/>
              <a:t>多表代替密码</a:t>
            </a:r>
          </a:p>
          <a:p>
            <a:pPr>
              <a:buNone/>
            </a:pPr>
            <a:r>
              <a:rPr lang="en-US" altLang="zh-CN" sz="3200" dirty="0"/>
              <a:t>3.6 </a:t>
            </a:r>
            <a:r>
              <a:rPr lang="zh-CN" altLang="en-US" sz="3200" dirty="0"/>
              <a:t>多字母组代替密码</a:t>
            </a:r>
            <a:endParaRPr lang="en-US" altLang="zh-CN" sz="3200" dirty="0"/>
          </a:p>
          <a:p>
            <a:pPr>
              <a:buNone/>
            </a:pPr>
            <a:r>
              <a:rPr lang="en-US" altLang="zh-CN" sz="3200" dirty="0"/>
              <a:t>3.7 </a:t>
            </a:r>
            <a:r>
              <a:rPr lang="zh-CN" altLang="en-US" sz="3200" dirty="0"/>
              <a:t>古典密码分析</a:t>
            </a:r>
            <a:endParaRPr lang="en-US" altLang="zh-CN" sz="3200" dirty="0"/>
          </a:p>
          <a:p>
            <a:pPr>
              <a:buNone/>
            </a:pPr>
            <a:endParaRPr lang="zh-CN" altLang="en-US" sz="32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5" name="矩形标注 4">
            <a:extLst>
              <a:ext uri="{FF2B5EF4-FFF2-40B4-BE49-F238E27FC236}">
                <a16:creationId xmlns:a16="http://schemas.microsoft.com/office/drawing/2014/main" id="{981187B3-3584-BA4E-A14C-4B26773516C6}"/>
              </a:ext>
            </a:extLst>
          </p:cNvPr>
          <p:cNvSpPr/>
          <p:nvPr/>
        </p:nvSpPr>
        <p:spPr>
          <a:xfrm>
            <a:off x="6947063" y="1574065"/>
            <a:ext cx="4122717" cy="1632274"/>
          </a:xfrm>
          <a:prstGeom prst="wedgeRectCallout">
            <a:avLst>
              <a:gd name="adj1" fmla="val -71264"/>
              <a:gd name="adj2" fmla="val -4501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密码学的起源</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密码学的发展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10942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3.1.1 </a:t>
            </a:r>
            <a:r>
              <a:rPr lang="zh-CN" altLang="en-US" dirty="0"/>
              <a:t>密码学的起源</a:t>
            </a:r>
          </a:p>
        </p:txBody>
      </p:sp>
      <p:sp>
        <p:nvSpPr>
          <p:cNvPr id="3" name="内容占位符 2"/>
          <p:cNvSpPr>
            <a:spLocks noGrp="1"/>
          </p:cNvSpPr>
          <p:nvPr>
            <p:ph idx="1"/>
          </p:nvPr>
        </p:nvSpPr>
        <p:spPr/>
        <p:txBody>
          <a:bodyPr/>
          <a:lstStyle/>
          <a:p>
            <a:pPr>
              <a:lnSpc>
                <a:spcPct val="150000"/>
              </a:lnSpc>
            </a:pPr>
            <a:r>
              <a:rPr lang="zh-CN" altLang="en-US" dirty="0">
                <a:latin typeface="宋体" panose="02010600030101010101" pitchFamily="2" charset="-122"/>
              </a:rPr>
              <a:t>三个阶段：</a:t>
            </a:r>
            <a:endParaRPr lang="en-US" altLang="zh-CN" dirty="0">
              <a:latin typeface="宋体" panose="02010600030101010101" pitchFamily="2" charset="-122"/>
            </a:endParaRPr>
          </a:p>
          <a:p>
            <a:pPr>
              <a:lnSpc>
                <a:spcPct val="150000"/>
              </a:lnSpc>
              <a:spcBef>
                <a:spcPct val="0"/>
              </a:spcBef>
              <a:buClr>
                <a:srgbClr val="000066"/>
              </a:buClr>
              <a:buFontTx/>
              <a:buChar char="•"/>
            </a:pPr>
            <a:r>
              <a:rPr lang="en-US" altLang="zh-CN" dirty="0">
                <a:latin typeface="宋体" panose="02010600030101010101" pitchFamily="2" charset="-122"/>
              </a:rPr>
              <a:t>1949</a:t>
            </a:r>
            <a:r>
              <a:rPr lang="zh-CN" altLang="en-US" dirty="0">
                <a:latin typeface="宋体" panose="02010600030101010101" pitchFamily="2" charset="-122"/>
              </a:rPr>
              <a:t>年之前</a:t>
            </a:r>
          </a:p>
          <a:p>
            <a:pPr>
              <a:lnSpc>
                <a:spcPct val="150000"/>
              </a:lnSpc>
              <a:spcBef>
                <a:spcPct val="0"/>
              </a:spcBef>
              <a:buClr>
                <a:srgbClr val="FF3300"/>
              </a:buClr>
              <a:buNone/>
            </a:pPr>
            <a:r>
              <a:rPr lang="zh-CN" altLang="en-US" dirty="0">
                <a:latin typeface="宋体" panose="02010600030101010101" pitchFamily="2" charset="-122"/>
              </a:rPr>
              <a:t>    密码学是一门艺术</a:t>
            </a:r>
          </a:p>
          <a:p>
            <a:pPr>
              <a:lnSpc>
                <a:spcPct val="150000"/>
              </a:lnSpc>
              <a:spcBef>
                <a:spcPct val="0"/>
              </a:spcBef>
              <a:buClr>
                <a:srgbClr val="000066"/>
              </a:buClr>
              <a:buFontTx/>
              <a:buChar char="•"/>
            </a:pPr>
            <a:r>
              <a:rPr lang="en-US" altLang="zh-CN" dirty="0">
                <a:latin typeface="宋体" panose="02010600030101010101" pitchFamily="2" charset="-122"/>
              </a:rPr>
              <a:t>1949</a:t>
            </a:r>
            <a:r>
              <a:rPr lang="zh-CN" altLang="en-US" dirty="0">
                <a:latin typeface="宋体" panose="02010600030101010101" pitchFamily="2" charset="-122"/>
              </a:rPr>
              <a:t>～</a:t>
            </a:r>
            <a:r>
              <a:rPr lang="en-US" altLang="zh-CN" dirty="0">
                <a:latin typeface="宋体" panose="02010600030101010101" pitchFamily="2" charset="-122"/>
              </a:rPr>
              <a:t>1975</a:t>
            </a:r>
            <a:r>
              <a:rPr lang="zh-CN" altLang="en-US" dirty="0">
                <a:latin typeface="宋体" panose="02010600030101010101" pitchFamily="2" charset="-122"/>
              </a:rPr>
              <a:t>年</a:t>
            </a:r>
          </a:p>
          <a:p>
            <a:pPr>
              <a:lnSpc>
                <a:spcPct val="150000"/>
              </a:lnSpc>
              <a:spcBef>
                <a:spcPct val="0"/>
              </a:spcBef>
              <a:buClr>
                <a:srgbClr val="FF3300"/>
              </a:buClr>
              <a:buNone/>
            </a:pPr>
            <a:r>
              <a:rPr lang="zh-CN" altLang="en-US" dirty="0">
                <a:latin typeface="宋体" panose="02010600030101010101" pitchFamily="2" charset="-122"/>
              </a:rPr>
              <a:t>    密码学成为科学</a:t>
            </a:r>
          </a:p>
          <a:p>
            <a:pPr>
              <a:lnSpc>
                <a:spcPct val="150000"/>
              </a:lnSpc>
              <a:spcBef>
                <a:spcPct val="0"/>
              </a:spcBef>
              <a:buClr>
                <a:srgbClr val="000066"/>
              </a:buClr>
              <a:buFontTx/>
              <a:buChar char="•"/>
            </a:pPr>
            <a:r>
              <a:rPr lang="en-US" altLang="zh-CN" dirty="0">
                <a:latin typeface="宋体" panose="02010600030101010101" pitchFamily="2" charset="-122"/>
              </a:rPr>
              <a:t>1976</a:t>
            </a:r>
            <a:r>
              <a:rPr lang="zh-CN" altLang="en-US" dirty="0">
                <a:latin typeface="宋体" panose="02010600030101010101" pitchFamily="2" charset="-122"/>
              </a:rPr>
              <a:t>年以后</a:t>
            </a:r>
          </a:p>
          <a:p>
            <a:pPr>
              <a:lnSpc>
                <a:spcPct val="150000"/>
              </a:lnSpc>
              <a:spcBef>
                <a:spcPct val="0"/>
              </a:spcBef>
              <a:buClr>
                <a:srgbClr val="FF3300"/>
              </a:buClr>
              <a:buNone/>
            </a:pPr>
            <a:r>
              <a:rPr lang="zh-CN" altLang="en-US" dirty="0">
                <a:latin typeface="宋体" panose="02010600030101010101" pitchFamily="2" charset="-122"/>
              </a:rPr>
              <a:t>    密码学的新方向</a:t>
            </a:r>
            <a:r>
              <a:rPr lang="en-US" altLang="zh-CN" dirty="0">
                <a:latin typeface="Times" panose="02020603050405020304" pitchFamily="18" charset="0"/>
              </a:rPr>
              <a:t>——</a:t>
            </a:r>
            <a:r>
              <a:rPr lang="zh-CN" altLang="en-US" dirty="0">
                <a:latin typeface="宋体" panose="02010600030101010101" pitchFamily="2" charset="-122"/>
              </a:rPr>
              <a:t>公钥密码学</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a:t>
            </a:fld>
            <a:endParaRPr kumimoji="1" lang="zh-CN" altLang="en-US" dirty="0"/>
          </a:p>
        </p:txBody>
      </p:sp>
    </p:spTree>
    <p:extLst>
      <p:ext uri="{BB962C8B-B14F-4D97-AF65-F5344CB8AC3E}">
        <p14:creationId xmlns:p14="http://schemas.microsoft.com/office/powerpoint/2010/main" val="185228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3.1.1 </a:t>
            </a:r>
            <a:r>
              <a:rPr lang="zh-CN" altLang="en-US" dirty="0"/>
              <a:t>密码学的起源</a:t>
            </a:r>
          </a:p>
        </p:txBody>
      </p:sp>
      <p:sp>
        <p:nvSpPr>
          <p:cNvPr id="3" name="内容占位符 2"/>
          <p:cNvSpPr>
            <a:spLocks noGrp="1"/>
          </p:cNvSpPr>
          <p:nvPr>
            <p:ph idx="1"/>
          </p:nvPr>
        </p:nvSpPr>
        <p:spPr/>
        <p:txBody>
          <a:bodyPr/>
          <a:lstStyle/>
          <a:p>
            <a:pPr marL="533400" indent="-533400"/>
            <a:r>
              <a:rPr lang="zh-CN" altLang="en-US" dirty="0">
                <a:solidFill>
                  <a:srgbClr val="C00000"/>
                </a:solidFill>
              </a:rPr>
              <a:t>隐写术</a:t>
            </a:r>
            <a:r>
              <a:rPr lang="en-US" altLang="zh-CN" dirty="0">
                <a:solidFill>
                  <a:srgbClr val="C00000"/>
                </a:solidFill>
              </a:rPr>
              <a:t>(steganography)</a:t>
            </a:r>
            <a:r>
              <a:rPr lang="zh-CN" altLang="en-US" dirty="0"/>
              <a:t>：通过隐藏消息的</a:t>
            </a:r>
            <a:r>
              <a:rPr lang="zh-CN" altLang="en-US" dirty="0">
                <a:solidFill>
                  <a:srgbClr val="FF0000"/>
                </a:solidFill>
              </a:rPr>
              <a:t>存在</a:t>
            </a:r>
            <a:r>
              <a:rPr lang="zh-CN" altLang="en-US" dirty="0"/>
              <a:t>来保护消息</a:t>
            </a:r>
            <a:endParaRPr lang="en-US" altLang="zh-CN" dirty="0"/>
          </a:p>
          <a:p>
            <a:pPr marL="990600" lvl="1" indent="-533400">
              <a:buClr>
                <a:srgbClr val="000066"/>
              </a:buClr>
              <a:buFont typeface="Wingdings" panose="05000000000000000000" pitchFamily="2" charset="2"/>
              <a:buAutoNum type="alphaLcPeriod"/>
            </a:pPr>
            <a:r>
              <a:rPr lang="zh-CN" altLang="en-US" dirty="0"/>
              <a:t>隐形墨水</a:t>
            </a:r>
          </a:p>
          <a:p>
            <a:pPr marL="990600" lvl="1" indent="-533400">
              <a:buClr>
                <a:srgbClr val="000066"/>
              </a:buClr>
              <a:buFont typeface="Wingdings" panose="05000000000000000000" pitchFamily="2" charset="2"/>
              <a:buAutoNum type="alphaLcPeriod"/>
            </a:pPr>
            <a:r>
              <a:rPr lang="zh-CN" altLang="en-US" dirty="0"/>
              <a:t>字符格式的变化</a:t>
            </a:r>
          </a:p>
          <a:p>
            <a:pPr marL="990600" lvl="1" indent="-533400">
              <a:buClr>
                <a:srgbClr val="000066"/>
              </a:buClr>
              <a:buFont typeface="Wingdings" panose="05000000000000000000" pitchFamily="2" charset="2"/>
              <a:buAutoNum type="alphaLcPeriod"/>
            </a:pPr>
            <a:r>
              <a:rPr lang="zh-CN" altLang="en-US" dirty="0"/>
              <a:t>图象图像</a:t>
            </a:r>
            <a:endParaRPr lang="en-US" altLang="zh-CN" dirty="0"/>
          </a:p>
          <a:p>
            <a:r>
              <a:rPr lang="en-US" altLang="zh-CN" dirty="0"/>
              <a:t>example-</a:t>
            </a:r>
            <a:r>
              <a:rPr lang="en-US" altLang="zh-CN" dirty="0" err="1"/>
              <a:t>i</a:t>
            </a:r>
            <a:r>
              <a:rPr lang="zh-CN" altLang="en-US" dirty="0"/>
              <a:t>：</a:t>
            </a:r>
            <a:r>
              <a:rPr lang="en-US" altLang="zh-CN" dirty="0">
                <a:highlight>
                  <a:srgbClr val="FFFF00"/>
                </a:highlight>
              </a:rPr>
              <a:t>(</a:t>
            </a:r>
            <a:r>
              <a:rPr lang="zh-CN" altLang="en-US" dirty="0">
                <a:highlight>
                  <a:srgbClr val="FFFF00"/>
                </a:highlight>
              </a:rPr>
              <a:t>象形文字的修改</a:t>
            </a:r>
            <a:r>
              <a:rPr lang="en-US" altLang="zh-CN" dirty="0">
                <a:highlight>
                  <a:srgbClr val="FFFF00"/>
                </a:highlight>
              </a:rPr>
              <a:t>)Modified Hieroglyphics</a:t>
            </a:r>
            <a:r>
              <a:rPr lang="en-US" altLang="zh-CN" dirty="0"/>
              <a:t>, c. 1900 B.C.</a:t>
            </a:r>
          </a:p>
          <a:p>
            <a:pPr>
              <a:buNone/>
            </a:pPr>
            <a:r>
              <a:rPr lang="en-US" altLang="zh-CN" dirty="0"/>
              <a:t>		</a:t>
            </a:r>
            <a:r>
              <a:rPr lang="zh-CN" altLang="en-US" dirty="0"/>
              <a:t>密码学的第一个例子是对标准书写符号的修改</a:t>
            </a:r>
          </a:p>
          <a:p>
            <a:pPr>
              <a:buNone/>
            </a:pPr>
            <a:r>
              <a:rPr lang="zh-CN" altLang="en-US" dirty="0"/>
              <a:t>  </a:t>
            </a:r>
            <a:r>
              <a:rPr lang="en-US" altLang="zh-CN" dirty="0"/>
              <a:t>		</a:t>
            </a:r>
            <a:r>
              <a:rPr lang="zh-CN" altLang="en-US" dirty="0"/>
              <a:t>例如</a:t>
            </a:r>
            <a:r>
              <a:rPr lang="en-US" altLang="zh-CN" dirty="0"/>
              <a:t>:</a:t>
            </a:r>
            <a:r>
              <a:rPr lang="zh-CN" altLang="en-US" dirty="0"/>
              <a:t>古埃及法老坟墓上的文字</a:t>
            </a:r>
          </a:p>
          <a:p>
            <a:pPr>
              <a:buNone/>
            </a:pPr>
            <a:r>
              <a:rPr lang="zh-CN" altLang="en-US" dirty="0"/>
              <a:t>  </a:t>
            </a:r>
            <a:r>
              <a:rPr lang="en-US" altLang="zh-CN" dirty="0"/>
              <a:t>		</a:t>
            </a:r>
            <a:r>
              <a:rPr lang="zh-CN" altLang="en-US" dirty="0"/>
              <a:t>思想</a:t>
            </a:r>
            <a:r>
              <a:rPr lang="en-US" altLang="zh-CN" dirty="0"/>
              <a:t>:</a:t>
            </a:r>
            <a:r>
              <a:rPr lang="zh-CN" altLang="en-US" dirty="0"/>
              <a:t>代替</a:t>
            </a:r>
            <a:r>
              <a:rPr lang="en-US" altLang="zh-CN" dirty="0"/>
              <a:t>(substitution)</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a:t>
            </a:fld>
            <a:endParaRPr kumimoji="1" lang="zh-CN" altLang="en-US" dirty="0"/>
          </a:p>
        </p:txBody>
      </p:sp>
    </p:spTree>
    <p:extLst>
      <p:ext uri="{BB962C8B-B14F-4D97-AF65-F5344CB8AC3E}">
        <p14:creationId xmlns:p14="http://schemas.microsoft.com/office/powerpoint/2010/main" val="32907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3.1.1 </a:t>
            </a:r>
            <a:r>
              <a:rPr lang="zh-CN" altLang="en-US" dirty="0"/>
              <a:t>密码学的起源</a:t>
            </a:r>
          </a:p>
        </p:txBody>
      </p:sp>
      <p:sp>
        <p:nvSpPr>
          <p:cNvPr id="3" name="内容占位符 2"/>
          <p:cNvSpPr>
            <a:spLocks noGrp="1"/>
          </p:cNvSpPr>
          <p:nvPr>
            <p:ph idx="1"/>
          </p:nvPr>
        </p:nvSpPr>
        <p:spPr/>
        <p:txBody>
          <a:bodyPr>
            <a:normAutofit/>
          </a:bodyPr>
          <a:lstStyle/>
          <a:p>
            <a:pPr marL="533400" indent="-533400"/>
            <a:r>
              <a:rPr lang="en-US" altLang="zh-CN" dirty="0"/>
              <a:t>example-ii</a:t>
            </a:r>
            <a:r>
              <a:rPr lang="zh-CN" altLang="en-US" dirty="0"/>
              <a:t>：</a:t>
            </a:r>
            <a:r>
              <a:rPr lang="en-US" altLang="zh-CN" dirty="0"/>
              <a:t>Spartan </a:t>
            </a:r>
            <a:r>
              <a:rPr lang="en-US" altLang="zh-CN" dirty="0" err="1"/>
              <a:t>Scytale</a:t>
            </a:r>
            <a:r>
              <a:rPr lang="en-US" altLang="zh-CN" dirty="0"/>
              <a:t>, c. 500 B.C.</a:t>
            </a:r>
          </a:p>
          <a:p>
            <a:pPr>
              <a:buNone/>
            </a:pPr>
            <a:r>
              <a:rPr lang="en-US" altLang="zh-CN" dirty="0"/>
              <a:t>		</a:t>
            </a:r>
            <a:r>
              <a:rPr lang="zh-CN" altLang="en-US" dirty="0"/>
              <a:t>斯巴达人用于加解密的一种军事设备 </a:t>
            </a:r>
          </a:p>
          <a:p>
            <a:pPr>
              <a:buNone/>
            </a:pPr>
            <a:r>
              <a:rPr lang="zh-CN" altLang="en-US" dirty="0"/>
              <a:t>     </a:t>
            </a:r>
            <a:r>
              <a:rPr lang="en-US" altLang="zh-CN" dirty="0"/>
              <a:t>	</a:t>
            </a:r>
            <a:r>
              <a:rPr lang="zh-CN" altLang="en-US" dirty="0"/>
              <a:t>发送者把一条羊皮螺旋形地缠在一个圆柱形棒上</a:t>
            </a:r>
          </a:p>
          <a:p>
            <a:pPr>
              <a:buNone/>
            </a:pPr>
            <a:r>
              <a:rPr lang="en-US" altLang="zh-CN" dirty="0"/>
              <a:t>		</a:t>
            </a:r>
            <a:r>
              <a:rPr lang="zh-CN" altLang="en-US" dirty="0"/>
              <a:t>思想：置换（</a:t>
            </a:r>
            <a:r>
              <a:rPr lang="en-US" altLang="zh-CN" dirty="0"/>
              <a:t>permutation)</a:t>
            </a:r>
          </a:p>
          <a:p>
            <a:r>
              <a:rPr lang="en-US" altLang="zh-CN" dirty="0"/>
              <a:t> example-iii</a:t>
            </a:r>
            <a:r>
              <a:rPr lang="zh-CN" altLang="en-US" dirty="0"/>
              <a:t>：</a:t>
            </a:r>
            <a:r>
              <a:rPr lang="en-US" altLang="zh-CN" dirty="0"/>
              <a:t>Polybius’ Checkerboard ,  205~123 B.C.</a:t>
            </a:r>
          </a:p>
          <a:p>
            <a:pPr lvl="1">
              <a:lnSpc>
                <a:spcPct val="90000"/>
              </a:lnSpc>
            </a:pPr>
            <a:r>
              <a:rPr lang="zh-CN" altLang="en-US" dirty="0"/>
              <a:t>明文</a:t>
            </a:r>
            <a:r>
              <a:rPr lang="en-US" altLang="zh-CN" dirty="0"/>
              <a:t>:POLYBIUS</a:t>
            </a:r>
          </a:p>
          <a:p>
            <a:pPr lvl="1">
              <a:lnSpc>
                <a:spcPct val="90000"/>
              </a:lnSpc>
            </a:pPr>
            <a:r>
              <a:rPr lang="zh-CN" altLang="en-US" dirty="0"/>
              <a:t>密文</a:t>
            </a:r>
            <a:r>
              <a:rPr lang="en-US" altLang="zh-CN" dirty="0"/>
              <a:t>:3534315412244543</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a:t>
            </a:fld>
            <a:endParaRPr kumimoji="1" lang="zh-CN" altLang="en-US" dirty="0"/>
          </a:p>
        </p:txBody>
      </p:sp>
      <p:graphicFrame>
        <p:nvGraphicFramePr>
          <p:cNvPr id="5" name="Group 3"/>
          <p:cNvGraphicFramePr>
            <a:graphicFrameLocks noGrp="1"/>
          </p:cNvGraphicFramePr>
          <p:nvPr>
            <p:extLst>
              <p:ext uri="{D42A27DB-BD31-4B8C-83A1-F6EECF244321}">
                <p14:modId xmlns:p14="http://schemas.microsoft.com/office/powerpoint/2010/main" val="2377068812"/>
              </p:ext>
            </p:extLst>
          </p:nvPr>
        </p:nvGraphicFramePr>
        <p:xfrm>
          <a:off x="5833551" y="4039590"/>
          <a:ext cx="3615252" cy="2351532"/>
        </p:xfrm>
        <a:graphic>
          <a:graphicData uri="http://schemas.openxmlformats.org/drawingml/2006/table">
            <a:tbl>
              <a:tblPr/>
              <a:tblGrid>
                <a:gridCol w="602542">
                  <a:extLst>
                    <a:ext uri="{9D8B030D-6E8A-4147-A177-3AD203B41FA5}">
                      <a16:colId xmlns:a16="http://schemas.microsoft.com/office/drawing/2014/main" val="178995521"/>
                    </a:ext>
                  </a:extLst>
                </a:gridCol>
                <a:gridCol w="602542">
                  <a:extLst>
                    <a:ext uri="{9D8B030D-6E8A-4147-A177-3AD203B41FA5}">
                      <a16:colId xmlns:a16="http://schemas.microsoft.com/office/drawing/2014/main" val="1631363797"/>
                    </a:ext>
                  </a:extLst>
                </a:gridCol>
                <a:gridCol w="602542">
                  <a:extLst>
                    <a:ext uri="{9D8B030D-6E8A-4147-A177-3AD203B41FA5}">
                      <a16:colId xmlns:a16="http://schemas.microsoft.com/office/drawing/2014/main" val="629514527"/>
                    </a:ext>
                  </a:extLst>
                </a:gridCol>
                <a:gridCol w="602542">
                  <a:extLst>
                    <a:ext uri="{9D8B030D-6E8A-4147-A177-3AD203B41FA5}">
                      <a16:colId xmlns:a16="http://schemas.microsoft.com/office/drawing/2014/main" val="515975730"/>
                    </a:ext>
                  </a:extLst>
                </a:gridCol>
                <a:gridCol w="602542">
                  <a:extLst>
                    <a:ext uri="{9D8B030D-6E8A-4147-A177-3AD203B41FA5}">
                      <a16:colId xmlns:a16="http://schemas.microsoft.com/office/drawing/2014/main" val="630106568"/>
                    </a:ext>
                  </a:extLst>
                </a:gridCol>
                <a:gridCol w="602542">
                  <a:extLst>
                    <a:ext uri="{9D8B030D-6E8A-4147-A177-3AD203B41FA5}">
                      <a16:colId xmlns:a16="http://schemas.microsoft.com/office/drawing/2014/main" val="282485886"/>
                    </a:ext>
                  </a:extLst>
                </a:gridCol>
              </a:tblGrid>
              <a:tr h="387401">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18043291"/>
                  </a:ext>
                </a:extLst>
              </a:tr>
              <a:tr h="387401">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9752523"/>
                  </a:ext>
                </a:extLst>
              </a:tr>
              <a:tr h="387401">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32383969"/>
                  </a:ext>
                </a:extLst>
              </a:tr>
              <a:tr h="387401">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07749739"/>
                  </a:ext>
                </a:extLst>
              </a:tr>
              <a:tr h="387401">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9022237"/>
                  </a:ext>
                </a:extLst>
              </a:tr>
              <a:tr h="387401">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18603030"/>
                  </a:ext>
                </a:extLst>
              </a:tr>
            </a:tbl>
          </a:graphicData>
        </a:graphic>
      </p:graphicFrame>
      <p:pic>
        <p:nvPicPr>
          <p:cNvPr id="9" name="图片 8">
            <a:extLst>
              <a:ext uri="{FF2B5EF4-FFF2-40B4-BE49-F238E27FC236}">
                <a16:creationId xmlns:a16="http://schemas.microsoft.com/office/drawing/2014/main" id="{AAB9248E-7AE5-3CA4-022C-C3A88DDDCCB6}"/>
              </a:ext>
            </a:extLst>
          </p:cNvPr>
          <p:cNvPicPr>
            <a:picLocks noChangeAspect="1"/>
          </p:cNvPicPr>
          <p:nvPr/>
        </p:nvPicPr>
        <p:blipFill>
          <a:blip r:embed="rId2"/>
          <a:stretch>
            <a:fillRect/>
          </a:stretch>
        </p:blipFill>
        <p:spPr>
          <a:xfrm>
            <a:off x="10290320" y="1612510"/>
            <a:ext cx="1234279" cy="1918242"/>
          </a:xfrm>
          <a:prstGeom prst="rect">
            <a:avLst/>
          </a:prstGeom>
        </p:spPr>
      </p:pic>
      <p:sp>
        <p:nvSpPr>
          <p:cNvPr id="11" name="文本框 10">
            <a:extLst>
              <a:ext uri="{FF2B5EF4-FFF2-40B4-BE49-F238E27FC236}">
                <a16:creationId xmlns:a16="http://schemas.microsoft.com/office/drawing/2014/main" id="{0AC9316F-A5AC-7196-E558-A5BB11956A77}"/>
              </a:ext>
            </a:extLst>
          </p:cNvPr>
          <p:cNvSpPr txBox="1"/>
          <p:nvPr/>
        </p:nvSpPr>
        <p:spPr>
          <a:xfrm>
            <a:off x="7048501" y="3119778"/>
            <a:ext cx="6101860" cy="369332"/>
          </a:xfrm>
          <a:prstGeom prst="rect">
            <a:avLst/>
          </a:prstGeom>
          <a:noFill/>
        </p:spPr>
        <p:txBody>
          <a:bodyPr wrap="square">
            <a:spAutoFit/>
          </a:bodyPr>
          <a:lstStyle/>
          <a:p>
            <a:r>
              <a:rPr lang="en-US" altLang="zh-CN" dirty="0">
                <a:highlight>
                  <a:srgbClr val="FFFF00"/>
                </a:highlight>
              </a:rPr>
              <a:t>EYAAN NACTX ETKDX MTSWX</a:t>
            </a:r>
            <a:endParaRPr lang="zh-CN" altLang="en-US" dirty="0">
              <a:highlight>
                <a:srgbClr val="FFFF00"/>
              </a:highlight>
            </a:endParaRPr>
          </a:p>
        </p:txBody>
      </p:sp>
    </p:spTree>
    <p:extLst>
      <p:ext uri="{BB962C8B-B14F-4D97-AF65-F5344CB8AC3E}">
        <p14:creationId xmlns:p14="http://schemas.microsoft.com/office/powerpoint/2010/main" val="3920919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3.1.1 </a:t>
            </a:r>
            <a:r>
              <a:rPr lang="zh-CN" altLang="en-US" dirty="0"/>
              <a:t>密码学的起源</a:t>
            </a:r>
          </a:p>
        </p:txBody>
      </p:sp>
      <p:sp>
        <p:nvSpPr>
          <p:cNvPr id="3" name="内容占位符 2"/>
          <p:cNvSpPr>
            <a:spLocks noGrp="1"/>
          </p:cNvSpPr>
          <p:nvPr>
            <p:ph idx="1"/>
          </p:nvPr>
        </p:nvSpPr>
        <p:spPr/>
        <p:txBody>
          <a:bodyPr>
            <a:normAutofit/>
          </a:bodyPr>
          <a:lstStyle/>
          <a:p>
            <a:r>
              <a:rPr lang="en-US" altLang="zh-CN" dirty="0"/>
              <a:t>example-</a:t>
            </a:r>
            <a:r>
              <a:rPr lang="en-US" altLang="zh-CN" dirty="0" err="1"/>
              <a:t>iV</a:t>
            </a:r>
            <a:r>
              <a:rPr lang="zh-CN" altLang="en-US" dirty="0"/>
              <a:t>：</a:t>
            </a:r>
            <a:r>
              <a:rPr lang="en-US" altLang="zh-CN" dirty="0"/>
              <a:t>Caesar Cipher, c. 50 B.C.</a:t>
            </a:r>
          </a:p>
          <a:p>
            <a:pPr>
              <a:buNone/>
            </a:pPr>
            <a:r>
              <a:rPr lang="en-US" altLang="zh-CN" dirty="0"/>
              <a:t>		A   B   C   D   E   F   G  …… X  Y  Z</a:t>
            </a:r>
          </a:p>
          <a:p>
            <a:pPr>
              <a:buNone/>
            </a:pPr>
            <a:r>
              <a:rPr lang="en-US" altLang="zh-CN" dirty="0"/>
              <a:t>     	D   E   F   G   H   I    J  ……  A  B  C</a:t>
            </a:r>
          </a:p>
          <a:p>
            <a:pPr>
              <a:buNone/>
            </a:pPr>
            <a:r>
              <a:rPr lang="en-US" altLang="zh-CN" dirty="0"/>
              <a:t>		</a:t>
            </a:r>
            <a:r>
              <a:rPr lang="zh-CN" altLang="en-US" dirty="0"/>
              <a:t>明文</a:t>
            </a:r>
            <a:r>
              <a:rPr lang="en-US" altLang="zh-CN" dirty="0"/>
              <a:t>:Caesar cipher is a shift substitution</a:t>
            </a:r>
          </a:p>
          <a:p>
            <a:pPr>
              <a:buNone/>
            </a:pPr>
            <a:r>
              <a:rPr lang="en-US" altLang="zh-CN" dirty="0"/>
              <a:t>    	</a:t>
            </a:r>
            <a:r>
              <a:rPr lang="zh-CN" altLang="en-US" dirty="0"/>
              <a:t>密文</a:t>
            </a:r>
            <a:r>
              <a:rPr lang="en-US" altLang="zh-CN" dirty="0"/>
              <a:t>:FDHVDU FLSKHU LV D VKLIW VXEVWLWXWLRQ</a:t>
            </a:r>
          </a:p>
          <a:p>
            <a:r>
              <a:rPr lang="en-US" altLang="zh-CN" dirty="0"/>
              <a:t> Example -V</a:t>
            </a:r>
            <a:r>
              <a:rPr lang="zh-CN" altLang="en-US" dirty="0"/>
              <a:t>：</a:t>
            </a:r>
            <a:r>
              <a:rPr lang="en-US" altLang="zh-CN" dirty="0" err="1"/>
              <a:t>Nomenclator</a:t>
            </a:r>
            <a:r>
              <a:rPr lang="en-US" altLang="zh-CN" dirty="0"/>
              <a:t> </a:t>
            </a:r>
            <a:r>
              <a:rPr lang="zh-CN" altLang="en-US" dirty="0"/>
              <a:t>代码本  </a:t>
            </a:r>
            <a:r>
              <a:rPr lang="en-US" altLang="zh-CN" dirty="0"/>
              <a:t>c.1400</a:t>
            </a:r>
          </a:p>
          <a:p>
            <a:pPr lvl="1">
              <a:buClr>
                <a:srgbClr val="000066"/>
              </a:buClr>
            </a:pPr>
            <a:r>
              <a:rPr lang="zh-CN" altLang="en-US" dirty="0"/>
              <a:t>字母、符号、单词、短语                 代码</a:t>
            </a:r>
          </a:p>
          <a:p>
            <a:pPr lvl="1">
              <a:buClr>
                <a:srgbClr val="000066"/>
              </a:buClr>
            </a:pPr>
            <a:r>
              <a:rPr lang="zh-CN" altLang="en-US" dirty="0"/>
              <a:t>代码                  字母、符号、单词、短语</a:t>
            </a:r>
          </a:p>
          <a:p>
            <a:pPr lvl="1"/>
            <a:r>
              <a:rPr lang="zh-CN" altLang="en-US" dirty="0"/>
              <a:t>应用：</a:t>
            </a:r>
            <a:r>
              <a:rPr lang="en-US" altLang="zh-CN" dirty="0"/>
              <a:t>World War II</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a:t>
            </a:fld>
            <a:endParaRPr kumimoji="1" lang="zh-CN" altLang="en-US" dirty="0"/>
          </a:p>
        </p:txBody>
      </p:sp>
      <p:sp>
        <p:nvSpPr>
          <p:cNvPr id="6" name="AutoShape 3"/>
          <p:cNvSpPr>
            <a:spLocks noChangeArrowheads="1"/>
          </p:cNvSpPr>
          <p:nvPr/>
        </p:nvSpPr>
        <p:spPr bwMode="auto">
          <a:xfrm>
            <a:off x="5152902" y="4607628"/>
            <a:ext cx="1295400" cy="304800"/>
          </a:xfrm>
          <a:prstGeom prst="rightArrow">
            <a:avLst>
              <a:gd name="adj1" fmla="val 50000"/>
              <a:gd name="adj2" fmla="val 106250"/>
            </a:avLst>
          </a:prstGeom>
          <a:solidFill>
            <a:schemeClr val="accent1"/>
          </a:solidFill>
          <a:ln w="9525">
            <a:solidFill>
              <a:schemeClr val="tx1"/>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7" name="AutoShape 4"/>
          <p:cNvSpPr>
            <a:spLocks noChangeArrowheads="1"/>
          </p:cNvSpPr>
          <p:nvPr/>
        </p:nvSpPr>
        <p:spPr bwMode="auto">
          <a:xfrm>
            <a:off x="2415639" y="5048003"/>
            <a:ext cx="1295400" cy="304800"/>
          </a:xfrm>
          <a:prstGeom prst="rightArrow">
            <a:avLst>
              <a:gd name="adj1" fmla="val 50000"/>
              <a:gd name="adj2" fmla="val 106250"/>
            </a:avLst>
          </a:prstGeom>
          <a:solidFill>
            <a:schemeClr val="accent1"/>
          </a:solidFill>
          <a:ln w="9525">
            <a:solidFill>
              <a:schemeClr val="tx1"/>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pic>
        <p:nvPicPr>
          <p:cNvPr id="8" name="图片 7">
            <a:extLst>
              <a:ext uri="{FF2B5EF4-FFF2-40B4-BE49-F238E27FC236}">
                <a16:creationId xmlns:a16="http://schemas.microsoft.com/office/drawing/2014/main" id="{1916902F-8537-3502-1152-1107D3A4BB82}"/>
              </a:ext>
            </a:extLst>
          </p:cNvPr>
          <p:cNvPicPr>
            <a:picLocks noChangeAspect="1"/>
          </p:cNvPicPr>
          <p:nvPr/>
        </p:nvPicPr>
        <p:blipFill>
          <a:blip r:embed="rId2"/>
          <a:stretch>
            <a:fillRect/>
          </a:stretch>
        </p:blipFill>
        <p:spPr>
          <a:xfrm>
            <a:off x="7825245" y="4517055"/>
            <a:ext cx="3902232" cy="2257173"/>
          </a:xfrm>
          <a:prstGeom prst="rect">
            <a:avLst/>
          </a:prstGeom>
        </p:spPr>
      </p:pic>
    </p:spTree>
    <p:extLst>
      <p:ext uri="{BB962C8B-B14F-4D97-AF65-F5344CB8AC3E}">
        <p14:creationId xmlns:p14="http://schemas.microsoft.com/office/powerpoint/2010/main" val="1143422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3.1.1 </a:t>
            </a:r>
            <a:r>
              <a:rPr lang="zh-CN" altLang="en-US" dirty="0"/>
              <a:t>密码学的起源</a:t>
            </a:r>
          </a:p>
        </p:txBody>
      </p:sp>
      <p:sp>
        <p:nvSpPr>
          <p:cNvPr id="3" name="内容占位符 2"/>
          <p:cNvSpPr>
            <a:spLocks noGrp="1"/>
          </p:cNvSpPr>
          <p:nvPr>
            <p:ph idx="1"/>
          </p:nvPr>
        </p:nvSpPr>
        <p:spPr/>
        <p:txBody>
          <a:bodyPr>
            <a:normAutofit/>
          </a:bodyPr>
          <a:lstStyle/>
          <a:p>
            <a:r>
              <a:rPr lang="en-US" altLang="zh-CN" dirty="0"/>
              <a:t>Example –VI</a:t>
            </a:r>
            <a:r>
              <a:rPr lang="zh-CN" altLang="en-US" dirty="0"/>
              <a:t>：网格加密法：中国</a:t>
            </a:r>
            <a:endParaRPr lang="en-US" altLang="zh-CN" dirty="0"/>
          </a:p>
          <a:p>
            <a:pPr lvl="1"/>
            <a:r>
              <a:rPr lang="zh-CN" altLang="en-US" dirty="0"/>
              <a:t>例：密文：</a:t>
            </a:r>
          </a:p>
          <a:p>
            <a:pPr lvl="2">
              <a:buNone/>
            </a:pPr>
            <a:r>
              <a:rPr lang="zh-CN" altLang="en-US" dirty="0"/>
              <a:t>王先生：</a:t>
            </a:r>
          </a:p>
          <a:p>
            <a:pPr lvl="2">
              <a:buNone/>
            </a:pPr>
            <a:r>
              <a:rPr lang="zh-CN" altLang="en-US" dirty="0"/>
              <a:t>   来信收悉，你的盛情难以报答。我已在昨天抵</a:t>
            </a:r>
          </a:p>
          <a:p>
            <a:pPr lvl="2">
              <a:buNone/>
            </a:pPr>
            <a:r>
              <a:rPr lang="zh-CN" altLang="en-US" dirty="0"/>
              <a:t>达广州。秋雨连绵，每天需备伞一把。大约本月</a:t>
            </a:r>
          </a:p>
          <a:p>
            <a:pPr lvl="2">
              <a:buNone/>
            </a:pPr>
            <a:r>
              <a:rPr lang="zh-CN" altLang="en-US" dirty="0"/>
              <a:t>中旬即可返回，再谈。</a:t>
            </a:r>
          </a:p>
          <a:p>
            <a:pPr lvl="2">
              <a:buNone/>
            </a:pPr>
            <a:r>
              <a:rPr lang="zh-CN" altLang="en-US" dirty="0"/>
              <a:t>                      弟：李明</a:t>
            </a:r>
          </a:p>
          <a:p>
            <a:pPr lvl="2">
              <a:buNone/>
            </a:pPr>
            <a:r>
              <a:rPr lang="zh-CN" altLang="en-US" dirty="0"/>
              <a:t>                      </a:t>
            </a:r>
            <a:r>
              <a:rPr lang="en-US" altLang="zh-CN" dirty="0"/>
              <a:t>2001</a:t>
            </a:r>
            <a:r>
              <a:rPr lang="zh-CN" altLang="en-US" dirty="0"/>
              <a:t>年</a:t>
            </a:r>
            <a:r>
              <a:rPr lang="en-US" altLang="zh-CN" dirty="0"/>
              <a:t>11</a:t>
            </a:r>
            <a:r>
              <a:rPr lang="zh-CN" altLang="en-US" dirty="0"/>
              <a:t>月</a:t>
            </a:r>
            <a:r>
              <a:rPr lang="en-US" altLang="zh-CN" dirty="0"/>
              <a:t>7</a:t>
            </a:r>
            <a:r>
              <a:rPr lang="zh-CN" altLang="en-US" dirty="0"/>
              <a:t>日</a:t>
            </a:r>
          </a:p>
          <a:p>
            <a:pPr lvl="1"/>
            <a:endParaRPr lang="en-US" altLang="zh-CN" dirty="0"/>
          </a:p>
          <a:p>
            <a:r>
              <a:rPr kumimoji="1" lang="zh-CN" altLang="en-US" dirty="0">
                <a:latin typeface="Times New Roman" panose="02020603050405020304" pitchFamily="18" charset="0"/>
              </a:rPr>
              <a:t>明文：情报在雨伞把中。</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a:t>
            </a:fld>
            <a:endParaRPr kumimoji="1" lang="zh-CN" altLang="en-US" dirty="0"/>
          </a:p>
        </p:txBody>
      </p:sp>
      <p:grpSp>
        <p:nvGrpSpPr>
          <p:cNvPr id="5" name="Group 5"/>
          <p:cNvGrpSpPr>
            <a:grpSpLocks/>
          </p:cNvGrpSpPr>
          <p:nvPr/>
        </p:nvGrpSpPr>
        <p:grpSpPr bwMode="auto">
          <a:xfrm>
            <a:off x="1424754" y="2493818"/>
            <a:ext cx="5771693" cy="2493818"/>
            <a:chOff x="432" y="1536"/>
            <a:chExt cx="4512" cy="1824"/>
          </a:xfrm>
        </p:grpSpPr>
        <p:grpSp>
          <p:nvGrpSpPr>
            <p:cNvPr id="6" name="Group 6"/>
            <p:cNvGrpSpPr>
              <a:grpSpLocks/>
            </p:cNvGrpSpPr>
            <p:nvPr/>
          </p:nvGrpSpPr>
          <p:grpSpPr bwMode="auto">
            <a:xfrm>
              <a:off x="771" y="1776"/>
              <a:ext cx="3549" cy="832"/>
              <a:chOff x="771" y="1776"/>
              <a:chExt cx="3549" cy="832"/>
            </a:xfrm>
          </p:grpSpPr>
          <p:sp>
            <p:nvSpPr>
              <p:cNvPr id="8" name="Rectangle 7"/>
              <p:cNvSpPr>
                <a:spLocks noChangeArrowheads="1"/>
              </p:cNvSpPr>
              <p:nvPr/>
            </p:nvSpPr>
            <p:spPr bwMode="auto">
              <a:xfrm>
                <a:off x="2547" y="1776"/>
                <a:ext cx="237"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9" name="Rectangle 8"/>
              <p:cNvSpPr>
                <a:spLocks noChangeArrowheads="1"/>
              </p:cNvSpPr>
              <p:nvPr/>
            </p:nvSpPr>
            <p:spPr bwMode="auto">
              <a:xfrm>
                <a:off x="3123" y="1776"/>
                <a:ext cx="237"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0" name="Rectangle 9"/>
              <p:cNvSpPr>
                <a:spLocks noChangeArrowheads="1"/>
              </p:cNvSpPr>
              <p:nvPr/>
            </p:nvSpPr>
            <p:spPr bwMode="auto">
              <a:xfrm>
                <a:off x="4083" y="1776"/>
                <a:ext cx="237"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1" name="Rectangle 10"/>
              <p:cNvSpPr>
                <a:spLocks noChangeArrowheads="1"/>
              </p:cNvSpPr>
              <p:nvPr/>
            </p:nvSpPr>
            <p:spPr bwMode="auto">
              <a:xfrm>
                <a:off x="1763" y="2064"/>
                <a:ext cx="237"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2" name="Rectangle 11"/>
              <p:cNvSpPr>
                <a:spLocks noChangeArrowheads="1"/>
              </p:cNvSpPr>
              <p:nvPr/>
            </p:nvSpPr>
            <p:spPr bwMode="auto">
              <a:xfrm>
                <a:off x="3278" y="2064"/>
                <a:ext cx="237"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3" name="Rectangle 12"/>
              <p:cNvSpPr>
                <a:spLocks noChangeArrowheads="1"/>
              </p:cNvSpPr>
              <p:nvPr/>
            </p:nvSpPr>
            <p:spPr bwMode="auto">
              <a:xfrm>
                <a:off x="3700" y="2064"/>
                <a:ext cx="236"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4" name="Rectangle 13"/>
              <p:cNvSpPr>
                <a:spLocks noChangeArrowheads="1"/>
              </p:cNvSpPr>
              <p:nvPr/>
            </p:nvSpPr>
            <p:spPr bwMode="auto">
              <a:xfrm>
                <a:off x="771" y="2352"/>
                <a:ext cx="237" cy="256"/>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grpSp>
        <p:sp>
          <p:nvSpPr>
            <p:cNvPr id="7" name="Rectangle 14"/>
            <p:cNvSpPr>
              <a:spLocks noChangeArrowheads="1"/>
            </p:cNvSpPr>
            <p:nvPr/>
          </p:nvSpPr>
          <p:spPr bwMode="auto">
            <a:xfrm>
              <a:off x="432" y="1536"/>
              <a:ext cx="4512" cy="1824"/>
            </a:xfrm>
            <a:prstGeom prst="rect">
              <a:avLst/>
            </a:prstGeom>
            <a:noFill/>
            <a:ln w="28575">
              <a:solidFill>
                <a:schemeClr val="accent2"/>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grpSp>
    </p:spTree>
    <p:extLst>
      <p:ext uri="{BB962C8B-B14F-4D97-AF65-F5344CB8AC3E}">
        <p14:creationId xmlns:p14="http://schemas.microsoft.com/office/powerpoint/2010/main" val="246012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3.1.1 </a:t>
            </a:r>
            <a:r>
              <a:rPr lang="zh-CN" altLang="en-US" dirty="0"/>
              <a:t>密码学的起源</a:t>
            </a:r>
          </a:p>
        </p:txBody>
      </p:sp>
      <p:sp>
        <p:nvSpPr>
          <p:cNvPr id="3" name="内容占位符 2"/>
          <p:cNvSpPr>
            <a:spLocks noGrp="1"/>
          </p:cNvSpPr>
          <p:nvPr>
            <p:ph idx="1"/>
          </p:nvPr>
        </p:nvSpPr>
        <p:spPr/>
        <p:txBody>
          <a:bodyPr>
            <a:normAutofit/>
          </a:bodyPr>
          <a:lstStyle/>
          <a:p>
            <a:r>
              <a:rPr lang="en-US" altLang="zh-CN" dirty="0"/>
              <a:t>Example –VII</a:t>
            </a:r>
            <a:r>
              <a:rPr lang="zh-CN" altLang="en-US" dirty="0"/>
              <a:t>：兽栏密码</a:t>
            </a:r>
          </a:p>
          <a:p>
            <a:pPr lvl="1"/>
            <a:r>
              <a:rPr lang="zh-CN" altLang="en-US" dirty="0"/>
              <a:t>明文：</a:t>
            </a:r>
            <a:r>
              <a:rPr lang="en-US" altLang="zh-CN" dirty="0"/>
              <a:t>System</a:t>
            </a:r>
          </a:p>
          <a:p>
            <a:pPr lvl="1"/>
            <a:r>
              <a:rPr lang="zh-CN" altLang="en-US" dirty="0"/>
              <a:t>密文： </a:t>
            </a:r>
          </a:p>
          <a:p>
            <a:pPr lvl="1"/>
            <a:endParaRPr lang="en-US" altLang="zh-CN" dirty="0"/>
          </a:p>
          <a:p>
            <a:pPr lvl="1">
              <a:spcBef>
                <a:spcPct val="50000"/>
              </a:spcBef>
            </a:pPr>
            <a:r>
              <a:rPr kumimoji="1" lang="zh-CN" altLang="en-US" dirty="0">
                <a:latin typeface="Times New Roman" panose="02020603050405020304" pitchFamily="18" charset="0"/>
              </a:rPr>
              <a:t>密文字母表：</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a:t>
            </a:fld>
            <a:endParaRPr kumimoji="1" lang="zh-CN" altLang="en-US" dirty="0"/>
          </a:p>
        </p:txBody>
      </p:sp>
      <p:grpSp>
        <p:nvGrpSpPr>
          <p:cNvPr id="15" name="Group 44"/>
          <p:cNvGrpSpPr>
            <a:grpSpLocks/>
          </p:cNvGrpSpPr>
          <p:nvPr/>
        </p:nvGrpSpPr>
        <p:grpSpPr bwMode="auto">
          <a:xfrm>
            <a:off x="2852058" y="2536031"/>
            <a:ext cx="3943350" cy="566738"/>
            <a:chOff x="1932" y="1920"/>
            <a:chExt cx="2484" cy="357"/>
          </a:xfrm>
        </p:grpSpPr>
        <p:sp>
          <p:nvSpPr>
            <p:cNvPr id="16" name="Line 45"/>
            <p:cNvSpPr>
              <a:spLocks noChangeShapeType="1"/>
            </p:cNvSpPr>
            <p:nvPr/>
          </p:nvSpPr>
          <p:spPr bwMode="auto">
            <a:xfrm>
              <a:off x="2592" y="2016"/>
              <a:ext cx="1" cy="250"/>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7" name="Line 46"/>
            <p:cNvSpPr>
              <a:spLocks noChangeShapeType="1"/>
            </p:cNvSpPr>
            <p:nvPr/>
          </p:nvSpPr>
          <p:spPr bwMode="auto">
            <a:xfrm>
              <a:off x="2192" y="1988"/>
              <a:ext cx="1" cy="260"/>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8" name="Line 47"/>
            <p:cNvSpPr>
              <a:spLocks noChangeShapeType="1"/>
            </p:cNvSpPr>
            <p:nvPr/>
          </p:nvSpPr>
          <p:spPr bwMode="auto">
            <a:xfrm>
              <a:off x="1932" y="2248"/>
              <a:ext cx="260"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9" name="Rectangle 48"/>
            <p:cNvSpPr>
              <a:spLocks noChangeArrowheads="1"/>
            </p:cNvSpPr>
            <p:nvPr/>
          </p:nvSpPr>
          <p:spPr bwMode="auto">
            <a:xfrm>
              <a:off x="3648" y="1968"/>
              <a:ext cx="274" cy="274"/>
            </a:xfrm>
            <a:prstGeom prst="rect">
              <a:avLst/>
            </a:prstGeom>
            <a:noFill/>
            <a:ln w="15875">
              <a:solidFill>
                <a:schemeClr val="tx1"/>
              </a:solidFill>
              <a:miter lim="800000"/>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0" name="Line 49"/>
            <p:cNvSpPr>
              <a:spLocks noChangeShapeType="1"/>
            </p:cNvSpPr>
            <p:nvPr/>
          </p:nvSpPr>
          <p:spPr bwMode="auto">
            <a:xfrm>
              <a:off x="3216" y="1968"/>
              <a:ext cx="0" cy="288"/>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1" name="Line 50"/>
            <p:cNvSpPr>
              <a:spLocks noChangeShapeType="1"/>
            </p:cNvSpPr>
            <p:nvPr/>
          </p:nvSpPr>
          <p:spPr bwMode="auto">
            <a:xfrm>
              <a:off x="3216" y="2256"/>
              <a:ext cx="288" cy="0"/>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2" name="Line 51"/>
            <p:cNvSpPr>
              <a:spLocks noChangeShapeType="1"/>
            </p:cNvSpPr>
            <p:nvPr/>
          </p:nvSpPr>
          <p:spPr bwMode="auto">
            <a:xfrm flipV="1">
              <a:off x="3504" y="1968"/>
              <a:ext cx="0" cy="288"/>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3" name="Line 52"/>
            <p:cNvSpPr>
              <a:spLocks noChangeShapeType="1"/>
            </p:cNvSpPr>
            <p:nvPr/>
          </p:nvSpPr>
          <p:spPr bwMode="auto">
            <a:xfrm>
              <a:off x="4139" y="1968"/>
              <a:ext cx="277" cy="0"/>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4" name="Line 53"/>
            <p:cNvSpPr>
              <a:spLocks noChangeShapeType="1"/>
            </p:cNvSpPr>
            <p:nvPr/>
          </p:nvSpPr>
          <p:spPr bwMode="auto">
            <a:xfrm>
              <a:off x="4416" y="1968"/>
              <a:ext cx="0" cy="288"/>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5" name="Line 54"/>
            <p:cNvSpPr>
              <a:spLocks noChangeShapeType="1"/>
            </p:cNvSpPr>
            <p:nvPr/>
          </p:nvSpPr>
          <p:spPr bwMode="auto">
            <a:xfrm flipH="1">
              <a:off x="4128" y="2256"/>
              <a:ext cx="288"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6" name="Line 55"/>
            <p:cNvSpPr>
              <a:spLocks noChangeShapeType="1"/>
            </p:cNvSpPr>
            <p:nvPr/>
          </p:nvSpPr>
          <p:spPr bwMode="auto">
            <a:xfrm>
              <a:off x="3024" y="2016"/>
              <a:ext cx="1" cy="26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7" name="Line 56"/>
            <p:cNvSpPr>
              <a:spLocks noChangeShapeType="1"/>
            </p:cNvSpPr>
            <p:nvPr/>
          </p:nvSpPr>
          <p:spPr bwMode="auto">
            <a:xfrm flipH="1">
              <a:off x="2784" y="2266"/>
              <a:ext cx="251"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8" name="Line 57"/>
            <p:cNvSpPr>
              <a:spLocks noChangeShapeType="1"/>
            </p:cNvSpPr>
            <p:nvPr/>
          </p:nvSpPr>
          <p:spPr bwMode="auto">
            <a:xfrm>
              <a:off x="2332" y="2016"/>
              <a:ext cx="260"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9" name="Text Box 58"/>
            <p:cNvSpPr txBox="1">
              <a:spLocks noChangeArrowheads="1"/>
            </p:cNvSpPr>
            <p:nvPr/>
          </p:nvSpPr>
          <p:spPr bwMode="auto">
            <a:xfrm>
              <a:off x="1968" y="192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b="0">
                  <a:solidFill>
                    <a:schemeClr val="tx1"/>
                  </a:solidFill>
                  <a:latin typeface="Times New Roman" panose="02020603050405020304" pitchFamily="18" charset="0"/>
                </a:rPr>
                <a:t>：</a:t>
              </a:r>
            </a:p>
          </p:txBody>
        </p:sp>
        <p:sp>
          <p:nvSpPr>
            <p:cNvPr id="30" name="Text Box 59"/>
            <p:cNvSpPr txBox="1">
              <a:spLocks noChangeArrowheads="1"/>
            </p:cNvSpPr>
            <p:nvPr/>
          </p:nvSpPr>
          <p:spPr bwMode="auto">
            <a:xfrm>
              <a:off x="2352" y="1968"/>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b="0">
                  <a:solidFill>
                    <a:schemeClr val="tx1"/>
                  </a:solidFill>
                  <a:latin typeface="Times New Roman" panose="02020603050405020304" pitchFamily="18" charset="0"/>
                </a:rPr>
                <a:t>：</a:t>
              </a:r>
            </a:p>
          </p:txBody>
        </p:sp>
        <p:sp>
          <p:nvSpPr>
            <p:cNvPr id="31" name="Text Box 60"/>
            <p:cNvSpPr txBox="1">
              <a:spLocks noChangeArrowheads="1"/>
            </p:cNvSpPr>
            <p:nvPr/>
          </p:nvSpPr>
          <p:spPr bwMode="auto">
            <a:xfrm>
              <a:off x="2784" y="192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b="0">
                  <a:solidFill>
                    <a:schemeClr val="tx1"/>
                  </a:solidFill>
                  <a:latin typeface="Times New Roman" panose="02020603050405020304" pitchFamily="18" charset="0"/>
                </a:rPr>
                <a:t>：</a:t>
              </a:r>
            </a:p>
          </p:txBody>
        </p:sp>
        <p:sp>
          <p:nvSpPr>
            <p:cNvPr id="32" name="Text Box 61"/>
            <p:cNvSpPr txBox="1">
              <a:spLocks noChangeArrowheads="1"/>
            </p:cNvSpPr>
            <p:nvPr/>
          </p:nvSpPr>
          <p:spPr bwMode="auto">
            <a:xfrm>
              <a:off x="3264" y="192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b="0">
                  <a:solidFill>
                    <a:schemeClr val="tx1"/>
                  </a:solidFill>
                  <a:latin typeface="Times New Roman" panose="02020603050405020304" pitchFamily="18" charset="0"/>
                </a:rPr>
                <a:t>：</a:t>
              </a:r>
            </a:p>
          </p:txBody>
        </p:sp>
        <p:sp>
          <p:nvSpPr>
            <p:cNvPr id="33" name="Text Box 62"/>
            <p:cNvSpPr txBox="1">
              <a:spLocks noChangeArrowheads="1"/>
            </p:cNvSpPr>
            <p:nvPr/>
          </p:nvSpPr>
          <p:spPr bwMode="auto">
            <a:xfrm>
              <a:off x="4176" y="196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1900" b="0">
                  <a:solidFill>
                    <a:schemeClr val="tx1"/>
                  </a:solidFill>
                  <a:latin typeface="宋体" panose="02010600030101010101" pitchFamily="2" charset="-122"/>
                </a:rPr>
                <a:t>.</a:t>
              </a:r>
            </a:p>
          </p:txBody>
        </p:sp>
      </p:grpSp>
      <p:grpSp>
        <p:nvGrpSpPr>
          <p:cNvPr id="34" name="Group 4"/>
          <p:cNvGrpSpPr>
            <a:grpSpLocks/>
          </p:cNvGrpSpPr>
          <p:nvPr/>
        </p:nvGrpSpPr>
        <p:grpSpPr bwMode="auto">
          <a:xfrm>
            <a:off x="2389333" y="4010819"/>
            <a:ext cx="7138987" cy="1671637"/>
            <a:chOff x="927" y="2739"/>
            <a:chExt cx="4497" cy="1053"/>
          </a:xfrm>
        </p:grpSpPr>
        <p:sp>
          <p:nvSpPr>
            <p:cNvPr id="35" name="Line 5"/>
            <p:cNvSpPr>
              <a:spLocks noChangeShapeType="1"/>
            </p:cNvSpPr>
            <p:nvPr/>
          </p:nvSpPr>
          <p:spPr bwMode="auto">
            <a:xfrm>
              <a:off x="927" y="3097"/>
              <a:ext cx="1029"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6" name="Line 6"/>
            <p:cNvSpPr>
              <a:spLocks noChangeShapeType="1"/>
            </p:cNvSpPr>
            <p:nvPr/>
          </p:nvSpPr>
          <p:spPr bwMode="auto">
            <a:xfrm>
              <a:off x="927" y="3434"/>
              <a:ext cx="1040"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7" name="Line 7"/>
            <p:cNvSpPr>
              <a:spLocks noChangeShapeType="1"/>
            </p:cNvSpPr>
            <p:nvPr/>
          </p:nvSpPr>
          <p:spPr bwMode="auto">
            <a:xfrm>
              <a:off x="2660" y="3087"/>
              <a:ext cx="1016"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8" name="Line 8"/>
            <p:cNvSpPr>
              <a:spLocks noChangeShapeType="1"/>
            </p:cNvSpPr>
            <p:nvPr/>
          </p:nvSpPr>
          <p:spPr bwMode="auto">
            <a:xfrm>
              <a:off x="2660" y="3434"/>
              <a:ext cx="1016"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9" name="Line 9"/>
            <p:cNvSpPr>
              <a:spLocks noChangeShapeType="1"/>
            </p:cNvSpPr>
            <p:nvPr/>
          </p:nvSpPr>
          <p:spPr bwMode="auto">
            <a:xfrm>
              <a:off x="4394" y="3087"/>
              <a:ext cx="1016"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0" name="Line 10"/>
            <p:cNvSpPr>
              <a:spLocks noChangeShapeType="1"/>
            </p:cNvSpPr>
            <p:nvPr/>
          </p:nvSpPr>
          <p:spPr bwMode="auto">
            <a:xfrm>
              <a:off x="4405" y="3434"/>
              <a:ext cx="1019" cy="1"/>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1" name="Line 11"/>
            <p:cNvSpPr>
              <a:spLocks noChangeShapeType="1"/>
            </p:cNvSpPr>
            <p:nvPr/>
          </p:nvSpPr>
          <p:spPr bwMode="auto">
            <a:xfrm>
              <a:off x="1263" y="2739"/>
              <a:ext cx="1" cy="1042"/>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2" name="Line 12"/>
            <p:cNvSpPr>
              <a:spLocks noChangeShapeType="1"/>
            </p:cNvSpPr>
            <p:nvPr/>
          </p:nvSpPr>
          <p:spPr bwMode="auto">
            <a:xfrm flipH="1">
              <a:off x="1608" y="2749"/>
              <a:ext cx="2" cy="1009"/>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3" name="Line 13"/>
            <p:cNvSpPr>
              <a:spLocks noChangeShapeType="1"/>
            </p:cNvSpPr>
            <p:nvPr/>
          </p:nvSpPr>
          <p:spPr bwMode="auto">
            <a:xfrm>
              <a:off x="2997" y="2749"/>
              <a:ext cx="1" cy="1043"/>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4" name="Line 14"/>
            <p:cNvSpPr>
              <a:spLocks noChangeShapeType="1"/>
            </p:cNvSpPr>
            <p:nvPr/>
          </p:nvSpPr>
          <p:spPr bwMode="auto">
            <a:xfrm>
              <a:off x="3344" y="2739"/>
              <a:ext cx="1" cy="1042"/>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5" name="Line 15"/>
            <p:cNvSpPr>
              <a:spLocks noChangeShapeType="1"/>
            </p:cNvSpPr>
            <p:nvPr/>
          </p:nvSpPr>
          <p:spPr bwMode="auto">
            <a:xfrm>
              <a:off x="4731" y="2749"/>
              <a:ext cx="1" cy="1043"/>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6" name="Line 16"/>
            <p:cNvSpPr>
              <a:spLocks noChangeShapeType="1"/>
            </p:cNvSpPr>
            <p:nvPr/>
          </p:nvSpPr>
          <p:spPr bwMode="auto">
            <a:xfrm>
              <a:off x="5088" y="2749"/>
              <a:ext cx="1" cy="1043"/>
            </a:xfrm>
            <a:prstGeom prst="line">
              <a:avLst/>
            </a:prstGeom>
            <a:noFill/>
            <a:ln w="15875">
              <a:solidFill>
                <a:schemeClr val="tx1"/>
              </a:solid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7" name="Rectangle 17"/>
            <p:cNvSpPr>
              <a:spLocks noChangeArrowheads="1"/>
            </p:cNvSpPr>
            <p:nvPr/>
          </p:nvSpPr>
          <p:spPr bwMode="auto">
            <a:xfrm>
              <a:off x="1044" y="287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A</a:t>
              </a:r>
              <a:endParaRPr kumimoji="1" lang="en-US" altLang="zh-CN" sz="2400" b="0">
                <a:solidFill>
                  <a:schemeClr val="tx1"/>
                </a:solidFill>
                <a:latin typeface="Times New Roman" panose="02020603050405020304" pitchFamily="18" charset="0"/>
              </a:endParaRPr>
            </a:p>
          </p:txBody>
        </p:sp>
        <p:sp>
          <p:nvSpPr>
            <p:cNvPr id="48" name="Rectangle 18"/>
            <p:cNvSpPr>
              <a:spLocks noChangeArrowheads="1"/>
            </p:cNvSpPr>
            <p:nvPr/>
          </p:nvSpPr>
          <p:spPr bwMode="auto">
            <a:xfrm>
              <a:off x="1402" y="287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B</a:t>
              </a:r>
              <a:endParaRPr kumimoji="1" lang="en-US" altLang="zh-CN" sz="2400" b="0">
                <a:solidFill>
                  <a:schemeClr val="tx1"/>
                </a:solidFill>
                <a:latin typeface="Times New Roman" panose="02020603050405020304" pitchFamily="18" charset="0"/>
              </a:endParaRPr>
            </a:p>
          </p:txBody>
        </p:sp>
        <p:sp>
          <p:nvSpPr>
            <p:cNvPr id="49" name="Rectangle 19"/>
            <p:cNvSpPr>
              <a:spLocks noChangeArrowheads="1"/>
            </p:cNvSpPr>
            <p:nvPr/>
          </p:nvSpPr>
          <p:spPr bwMode="auto">
            <a:xfrm>
              <a:off x="1738" y="288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C</a:t>
              </a:r>
              <a:endParaRPr kumimoji="1" lang="en-US" altLang="zh-CN" sz="2400" b="0">
                <a:solidFill>
                  <a:schemeClr val="tx1"/>
                </a:solidFill>
                <a:latin typeface="Times New Roman" panose="02020603050405020304" pitchFamily="18" charset="0"/>
              </a:endParaRPr>
            </a:p>
          </p:txBody>
        </p:sp>
        <p:sp>
          <p:nvSpPr>
            <p:cNvPr id="50" name="Rectangle 20"/>
            <p:cNvSpPr>
              <a:spLocks noChangeArrowheads="1"/>
            </p:cNvSpPr>
            <p:nvPr/>
          </p:nvSpPr>
          <p:spPr bwMode="auto">
            <a:xfrm>
              <a:off x="1055" y="322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D</a:t>
              </a:r>
              <a:endParaRPr kumimoji="1" lang="en-US" altLang="zh-CN" sz="2400" b="0">
                <a:solidFill>
                  <a:schemeClr val="tx1"/>
                </a:solidFill>
                <a:latin typeface="Times New Roman" panose="02020603050405020304" pitchFamily="18" charset="0"/>
              </a:endParaRPr>
            </a:p>
          </p:txBody>
        </p:sp>
        <p:sp>
          <p:nvSpPr>
            <p:cNvPr id="51" name="Rectangle 21"/>
            <p:cNvSpPr>
              <a:spLocks noChangeArrowheads="1"/>
            </p:cNvSpPr>
            <p:nvPr/>
          </p:nvSpPr>
          <p:spPr bwMode="auto">
            <a:xfrm>
              <a:off x="1402" y="322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E</a:t>
              </a:r>
              <a:endParaRPr kumimoji="1" lang="en-US" altLang="zh-CN" sz="2400" b="0">
                <a:solidFill>
                  <a:schemeClr val="tx1"/>
                </a:solidFill>
                <a:latin typeface="Times New Roman" panose="02020603050405020304" pitchFamily="18" charset="0"/>
              </a:endParaRPr>
            </a:p>
          </p:txBody>
        </p:sp>
        <p:sp>
          <p:nvSpPr>
            <p:cNvPr id="52" name="Rectangle 22"/>
            <p:cNvSpPr>
              <a:spLocks noChangeArrowheads="1"/>
            </p:cNvSpPr>
            <p:nvPr/>
          </p:nvSpPr>
          <p:spPr bwMode="auto">
            <a:xfrm>
              <a:off x="1738" y="322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F</a:t>
              </a:r>
              <a:endParaRPr kumimoji="1" lang="en-US" altLang="zh-CN" sz="2400" b="0">
                <a:solidFill>
                  <a:schemeClr val="tx1"/>
                </a:solidFill>
                <a:latin typeface="Times New Roman" panose="02020603050405020304" pitchFamily="18" charset="0"/>
              </a:endParaRPr>
            </a:p>
          </p:txBody>
        </p:sp>
        <p:sp>
          <p:nvSpPr>
            <p:cNvPr id="53" name="Rectangle 23"/>
            <p:cNvSpPr>
              <a:spLocks noChangeArrowheads="1"/>
            </p:cNvSpPr>
            <p:nvPr/>
          </p:nvSpPr>
          <p:spPr bwMode="auto">
            <a:xfrm>
              <a:off x="1055" y="355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G</a:t>
              </a:r>
              <a:endParaRPr kumimoji="1" lang="en-US" altLang="zh-CN" sz="2400" b="0">
                <a:solidFill>
                  <a:schemeClr val="tx1"/>
                </a:solidFill>
                <a:latin typeface="Times New Roman" panose="02020603050405020304" pitchFamily="18" charset="0"/>
              </a:endParaRPr>
            </a:p>
          </p:txBody>
        </p:sp>
        <p:sp>
          <p:nvSpPr>
            <p:cNvPr id="54" name="Rectangle 24"/>
            <p:cNvSpPr>
              <a:spLocks noChangeArrowheads="1"/>
            </p:cNvSpPr>
            <p:nvPr/>
          </p:nvSpPr>
          <p:spPr bwMode="auto">
            <a:xfrm>
              <a:off x="1391" y="355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H</a:t>
              </a:r>
              <a:endParaRPr kumimoji="1" lang="en-US" altLang="zh-CN" sz="2400" b="0">
                <a:solidFill>
                  <a:schemeClr val="tx1"/>
                </a:solidFill>
                <a:latin typeface="Times New Roman" panose="02020603050405020304" pitchFamily="18" charset="0"/>
              </a:endParaRPr>
            </a:p>
          </p:txBody>
        </p:sp>
        <p:sp>
          <p:nvSpPr>
            <p:cNvPr id="55" name="Rectangle 25"/>
            <p:cNvSpPr>
              <a:spLocks noChangeArrowheads="1"/>
            </p:cNvSpPr>
            <p:nvPr/>
          </p:nvSpPr>
          <p:spPr bwMode="auto">
            <a:xfrm>
              <a:off x="1738" y="355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I</a:t>
              </a:r>
              <a:endParaRPr kumimoji="1" lang="en-US" altLang="zh-CN" sz="2400" b="0">
                <a:solidFill>
                  <a:schemeClr val="tx1"/>
                </a:solidFill>
                <a:latin typeface="Times New Roman" panose="02020603050405020304" pitchFamily="18" charset="0"/>
              </a:endParaRPr>
            </a:p>
          </p:txBody>
        </p:sp>
        <p:sp>
          <p:nvSpPr>
            <p:cNvPr id="56" name="Rectangle 26"/>
            <p:cNvSpPr>
              <a:spLocks noChangeArrowheads="1"/>
            </p:cNvSpPr>
            <p:nvPr/>
          </p:nvSpPr>
          <p:spPr bwMode="auto">
            <a:xfrm>
              <a:off x="2778" y="288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J.</a:t>
              </a:r>
              <a:endParaRPr kumimoji="1" lang="en-US" altLang="zh-CN" sz="2400" b="0">
                <a:solidFill>
                  <a:schemeClr val="tx1"/>
                </a:solidFill>
                <a:latin typeface="Times New Roman" panose="02020603050405020304" pitchFamily="18" charset="0"/>
              </a:endParaRPr>
            </a:p>
          </p:txBody>
        </p:sp>
        <p:sp>
          <p:nvSpPr>
            <p:cNvPr id="57" name="Rectangle 27"/>
            <p:cNvSpPr>
              <a:spLocks noChangeArrowheads="1"/>
            </p:cNvSpPr>
            <p:nvPr/>
          </p:nvSpPr>
          <p:spPr bwMode="auto">
            <a:xfrm>
              <a:off x="3070" y="287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K.</a:t>
              </a:r>
              <a:endParaRPr kumimoji="1" lang="en-US" altLang="zh-CN" sz="2400" b="0">
                <a:solidFill>
                  <a:schemeClr val="tx1"/>
                </a:solidFill>
                <a:latin typeface="Times New Roman" panose="02020603050405020304" pitchFamily="18" charset="0"/>
              </a:endParaRPr>
            </a:p>
          </p:txBody>
        </p:sp>
        <p:sp>
          <p:nvSpPr>
            <p:cNvPr id="58" name="Rectangle 28"/>
            <p:cNvSpPr>
              <a:spLocks noChangeArrowheads="1"/>
            </p:cNvSpPr>
            <p:nvPr/>
          </p:nvSpPr>
          <p:spPr bwMode="auto">
            <a:xfrm>
              <a:off x="3416" y="288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.L</a:t>
              </a:r>
              <a:endParaRPr kumimoji="1" lang="en-US" altLang="zh-CN" sz="2400" b="0">
                <a:solidFill>
                  <a:schemeClr val="tx1"/>
                </a:solidFill>
                <a:latin typeface="Times New Roman" panose="02020603050405020304" pitchFamily="18" charset="0"/>
              </a:endParaRPr>
            </a:p>
          </p:txBody>
        </p:sp>
        <p:sp>
          <p:nvSpPr>
            <p:cNvPr id="59" name="Rectangle 29"/>
            <p:cNvSpPr>
              <a:spLocks noChangeArrowheads="1"/>
            </p:cNvSpPr>
            <p:nvPr/>
          </p:nvSpPr>
          <p:spPr bwMode="auto">
            <a:xfrm>
              <a:off x="2758" y="3219"/>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M.</a:t>
              </a:r>
              <a:endParaRPr kumimoji="1" lang="en-US" altLang="zh-CN" sz="2400" b="0">
                <a:solidFill>
                  <a:schemeClr val="tx1"/>
                </a:solidFill>
                <a:latin typeface="Times New Roman" panose="02020603050405020304" pitchFamily="18" charset="0"/>
              </a:endParaRPr>
            </a:p>
          </p:txBody>
        </p:sp>
        <p:sp>
          <p:nvSpPr>
            <p:cNvPr id="60" name="Rectangle 30"/>
            <p:cNvSpPr>
              <a:spLocks noChangeArrowheads="1"/>
            </p:cNvSpPr>
            <p:nvPr/>
          </p:nvSpPr>
          <p:spPr bwMode="auto">
            <a:xfrm>
              <a:off x="3083" y="320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N.</a:t>
              </a:r>
              <a:endParaRPr kumimoji="1" lang="en-US" altLang="zh-CN" sz="2400" b="0">
                <a:solidFill>
                  <a:schemeClr val="tx1"/>
                </a:solidFill>
                <a:latin typeface="Times New Roman" panose="02020603050405020304" pitchFamily="18" charset="0"/>
              </a:endParaRPr>
            </a:p>
          </p:txBody>
        </p:sp>
        <p:sp>
          <p:nvSpPr>
            <p:cNvPr id="61" name="Rectangle 31"/>
            <p:cNvSpPr>
              <a:spLocks noChangeArrowheads="1"/>
            </p:cNvSpPr>
            <p:nvPr/>
          </p:nvSpPr>
          <p:spPr bwMode="auto">
            <a:xfrm>
              <a:off x="3416" y="3219"/>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.O</a:t>
              </a:r>
              <a:endParaRPr kumimoji="1" lang="en-US" altLang="zh-CN" sz="2400" b="0">
                <a:solidFill>
                  <a:schemeClr val="tx1"/>
                </a:solidFill>
                <a:latin typeface="Times New Roman" panose="02020603050405020304" pitchFamily="18" charset="0"/>
              </a:endParaRPr>
            </a:p>
          </p:txBody>
        </p:sp>
        <p:sp>
          <p:nvSpPr>
            <p:cNvPr id="62" name="Rectangle 32"/>
            <p:cNvSpPr>
              <a:spLocks noChangeArrowheads="1"/>
            </p:cNvSpPr>
            <p:nvPr/>
          </p:nvSpPr>
          <p:spPr bwMode="auto">
            <a:xfrm>
              <a:off x="2758" y="3535"/>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P.</a:t>
              </a:r>
              <a:endParaRPr kumimoji="1" lang="en-US" altLang="zh-CN" sz="2400" b="0">
                <a:solidFill>
                  <a:schemeClr val="tx1"/>
                </a:solidFill>
                <a:latin typeface="Times New Roman" panose="02020603050405020304" pitchFamily="18" charset="0"/>
              </a:endParaRPr>
            </a:p>
          </p:txBody>
        </p:sp>
        <p:sp>
          <p:nvSpPr>
            <p:cNvPr id="63" name="Rectangle 33"/>
            <p:cNvSpPr>
              <a:spLocks noChangeArrowheads="1"/>
            </p:cNvSpPr>
            <p:nvPr/>
          </p:nvSpPr>
          <p:spPr bwMode="auto">
            <a:xfrm>
              <a:off x="3094" y="354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Q.</a:t>
              </a:r>
              <a:endParaRPr kumimoji="1" lang="en-US" altLang="zh-CN" sz="2400" b="0">
                <a:solidFill>
                  <a:schemeClr val="tx1"/>
                </a:solidFill>
                <a:latin typeface="Times New Roman" panose="02020603050405020304" pitchFamily="18" charset="0"/>
              </a:endParaRPr>
            </a:p>
          </p:txBody>
        </p:sp>
        <p:sp>
          <p:nvSpPr>
            <p:cNvPr id="64" name="Rectangle 34"/>
            <p:cNvSpPr>
              <a:spLocks noChangeArrowheads="1"/>
            </p:cNvSpPr>
            <p:nvPr/>
          </p:nvSpPr>
          <p:spPr bwMode="auto">
            <a:xfrm>
              <a:off x="3430" y="3524"/>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.R</a:t>
              </a:r>
              <a:endParaRPr kumimoji="1" lang="en-US" altLang="zh-CN" sz="2400" b="0">
                <a:solidFill>
                  <a:schemeClr val="tx1"/>
                </a:solidFill>
                <a:latin typeface="Times New Roman" panose="02020603050405020304" pitchFamily="18" charset="0"/>
              </a:endParaRPr>
            </a:p>
          </p:txBody>
        </p:sp>
        <p:sp>
          <p:nvSpPr>
            <p:cNvPr id="65" name="Rectangle 35"/>
            <p:cNvSpPr>
              <a:spLocks noChangeArrowheads="1"/>
            </p:cNvSpPr>
            <p:nvPr/>
          </p:nvSpPr>
          <p:spPr bwMode="auto">
            <a:xfrm>
              <a:off x="4457" y="287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S:</a:t>
              </a:r>
              <a:endParaRPr kumimoji="1" lang="en-US" altLang="zh-CN" sz="2400" b="0">
                <a:solidFill>
                  <a:schemeClr val="tx1"/>
                </a:solidFill>
                <a:latin typeface="Times New Roman" panose="02020603050405020304" pitchFamily="18" charset="0"/>
              </a:endParaRPr>
            </a:p>
          </p:txBody>
        </p:sp>
        <p:sp>
          <p:nvSpPr>
            <p:cNvPr id="66" name="Rectangle 36"/>
            <p:cNvSpPr>
              <a:spLocks noChangeArrowheads="1"/>
            </p:cNvSpPr>
            <p:nvPr/>
          </p:nvSpPr>
          <p:spPr bwMode="auto">
            <a:xfrm>
              <a:off x="4793" y="287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T:</a:t>
              </a:r>
              <a:endParaRPr kumimoji="1" lang="en-US" altLang="zh-CN" sz="2400" b="0">
                <a:solidFill>
                  <a:schemeClr val="tx1"/>
                </a:solidFill>
                <a:latin typeface="Times New Roman" panose="02020603050405020304" pitchFamily="18" charset="0"/>
              </a:endParaRPr>
            </a:p>
          </p:txBody>
        </p:sp>
        <p:sp>
          <p:nvSpPr>
            <p:cNvPr id="67" name="Rectangle 37"/>
            <p:cNvSpPr>
              <a:spLocks noChangeArrowheads="1"/>
            </p:cNvSpPr>
            <p:nvPr/>
          </p:nvSpPr>
          <p:spPr bwMode="auto">
            <a:xfrm>
              <a:off x="5164" y="2850"/>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:U</a:t>
              </a:r>
              <a:endParaRPr kumimoji="1" lang="en-US" altLang="zh-CN" sz="2400" b="0">
                <a:solidFill>
                  <a:schemeClr val="tx1"/>
                </a:solidFill>
                <a:latin typeface="Times New Roman" panose="02020603050405020304" pitchFamily="18" charset="0"/>
              </a:endParaRPr>
            </a:p>
          </p:txBody>
        </p:sp>
        <p:sp>
          <p:nvSpPr>
            <p:cNvPr id="68" name="Rectangle 38"/>
            <p:cNvSpPr>
              <a:spLocks noChangeArrowheads="1"/>
            </p:cNvSpPr>
            <p:nvPr/>
          </p:nvSpPr>
          <p:spPr bwMode="auto">
            <a:xfrm>
              <a:off x="4446" y="3194"/>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V:</a:t>
              </a:r>
              <a:endParaRPr kumimoji="1" lang="en-US" altLang="zh-CN" sz="2400" b="0">
                <a:solidFill>
                  <a:schemeClr val="tx1"/>
                </a:solidFill>
                <a:latin typeface="Times New Roman" panose="02020603050405020304" pitchFamily="18" charset="0"/>
              </a:endParaRPr>
            </a:p>
          </p:txBody>
        </p:sp>
        <p:sp>
          <p:nvSpPr>
            <p:cNvPr id="69" name="Rectangle 39"/>
            <p:cNvSpPr>
              <a:spLocks noChangeArrowheads="1"/>
            </p:cNvSpPr>
            <p:nvPr/>
          </p:nvSpPr>
          <p:spPr bwMode="auto">
            <a:xfrm>
              <a:off x="4783" y="320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W:</a:t>
              </a:r>
              <a:endParaRPr kumimoji="1" lang="en-US" altLang="zh-CN" sz="2400" b="0">
                <a:solidFill>
                  <a:schemeClr val="tx1"/>
                </a:solidFill>
                <a:latin typeface="Times New Roman" panose="02020603050405020304" pitchFamily="18" charset="0"/>
              </a:endParaRPr>
            </a:p>
          </p:txBody>
        </p:sp>
        <p:sp>
          <p:nvSpPr>
            <p:cNvPr id="70" name="Rectangle 40"/>
            <p:cNvSpPr>
              <a:spLocks noChangeArrowheads="1"/>
            </p:cNvSpPr>
            <p:nvPr/>
          </p:nvSpPr>
          <p:spPr bwMode="auto">
            <a:xfrm>
              <a:off x="5164" y="320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:X</a:t>
              </a:r>
              <a:endParaRPr kumimoji="1" lang="en-US" altLang="zh-CN" sz="2400" b="0">
                <a:solidFill>
                  <a:schemeClr val="tx1"/>
                </a:solidFill>
                <a:latin typeface="Times New Roman" panose="02020603050405020304" pitchFamily="18" charset="0"/>
              </a:endParaRPr>
            </a:p>
          </p:txBody>
        </p:sp>
        <p:sp>
          <p:nvSpPr>
            <p:cNvPr id="71" name="Rectangle 41"/>
            <p:cNvSpPr>
              <a:spLocks noChangeArrowheads="1"/>
            </p:cNvSpPr>
            <p:nvPr/>
          </p:nvSpPr>
          <p:spPr bwMode="auto">
            <a:xfrm>
              <a:off x="4457" y="3542"/>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Y:</a:t>
              </a:r>
              <a:endParaRPr kumimoji="1" lang="en-US" altLang="zh-CN" sz="2400" b="0">
                <a:solidFill>
                  <a:schemeClr val="tx1"/>
                </a:solidFill>
                <a:latin typeface="Times New Roman" panose="02020603050405020304" pitchFamily="18" charset="0"/>
              </a:endParaRPr>
            </a:p>
          </p:txBody>
        </p:sp>
        <p:sp>
          <p:nvSpPr>
            <p:cNvPr id="72" name="Rectangle 42"/>
            <p:cNvSpPr>
              <a:spLocks noChangeArrowheads="1"/>
            </p:cNvSpPr>
            <p:nvPr/>
          </p:nvSpPr>
          <p:spPr bwMode="auto">
            <a:xfrm>
              <a:off x="4804" y="353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Z:</a:t>
              </a:r>
              <a:endParaRPr kumimoji="1" lang="en-US" altLang="zh-CN" sz="2400" b="0">
                <a:solidFill>
                  <a:schemeClr val="tx1"/>
                </a:solidFill>
                <a:latin typeface="Times New Roman" panose="02020603050405020304" pitchFamily="18" charset="0"/>
              </a:endParaRPr>
            </a:p>
          </p:txBody>
        </p:sp>
        <p:sp>
          <p:nvSpPr>
            <p:cNvPr id="73" name="Rectangle 43"/>
            <p:cNvSpPr>
              <a:spLocks noChangeArrowheads="1"/>
            </p:cNvSpPr>
            <p:nvPr/>
          </p:nvSpPr>
          <p:spPr bwMode="auto">
            <a:xfrm>
              <a:off x="5175" y="3535"/>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kumimoji="1" lang="en-US" altLang="zh-CN" sz="1900" b="0">
                  <a:solidFill>
                    <a:schemeClr val="tx1"/>
                  </a:solidFill>
                  <a:latin typeface="宋体" panose="02010600030101010101" pitchFamily="2" charset="-122"/>
                </a:rPr>
                <a:t>:.</a:t>
              </a:r>
              <a:endParaRPr kumimoji="1" lang="en-US" altLang="zh-CN" sz="2400" b="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6238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3.1.2 </a:t>
            </a:r>
            <a:r>
              <a:rPr lang="zh-CN" altLang="en-US" dirty="0"/>
              <a:t>密码学的发展</a:t>
            </a:r>
          </a:p>
        </p:txBody>
      </p:sp>
      <p:sp>
        <p:nvSpPr>
          <p:cNvPr id="3" name="内容占位符 2"/>
          <p:cNvSpPr>
            <a:spLocks noGrp="1"/>
          </p:cNvSpPr>
          <p:nvPr>
            <p:ph idx="1"/>
          </p:nvPr>
        </p:nvSpPr>
        <p:spPr/>
        <p:txBody>
          <a:bodyPr>
            <a:normAutofit/>
          </a:bodyPr>
          <a:lstStyle/>
          <a:p>
            <a:pPr>
              <a:lnSpc>
                <a:spcPct val="150000"/>
              </a:lnSpc>
            </a:pPr>
            <a:r>
              <a:rPr lang="en-US" altLang="zh-CN" dirty="0">
                <a:solidFill>
                  <a:srgbClr val="C86400"/>
                </a:solidFill>
                <a:latin typeface="宋体" panose="02010600030101010101" pitchFamily="2" charset="-122"/>
              </a:rPr>
              <a:t>1949</a:t>
            </a:r>
            <a:r>
              <a:rPr lang="zh-CN" altLang="en-US" dirty="0">
                <a:solidFill>
                  <a:srgbClr val="C86400"/>
                </a:solidFill>
                <a:latin typeface="宋体" panose="02010600030101010101" pitchFamily="2" charset="-122"/>
              </a:rPr>
              <a:t>年之前</a:t>
            </a:r>
            <a:r>
              <a:rPr lang="en-US" altLang="zh-CN" dirty="0">
                <a:solidFill>
                  <a:srgbClr val="C86400"/>
                </a:solidFill>
                <a:latin typeface="宋体" panose="02010600030101010101" pitchFamily="2" charset="-122"/>
              </a:rPr>
              <a:t>:</a:t>
            </a:r>
            <a:r>
              <a:rPr lang="zh-CN" altLang="en-US" dirty="0">
                <a:latin typeface="宋体" panose="02010600030101010101" pitchFamily="2" charset="-122"/>
              </a:rPr>
              <a:t>古典密码（</a:t>
            </a:r>
            <a:r>
              <a:rPr lang="en-US" altLang="zh-CN" dirty="0">
                <a:latin typeface="宋体" panose="02010600030101010101" pitchFamily="2" charset="-122"/>
              </a:rPr>
              <a:t>classical cryptography)</a:t>
            </a:r>
            <a:endParaRPr lang="en-US" altLang="zh-CN" dirty="0">
              <a:solidFill>
                <a:srgbClr val="C86400"/>
              </a:solidFill>
              <a:latin typeface="宋体" panose="02010600030101010101" pitchFamily="2" charset="-122"/>
            </a:endParaRPr>
          </a:p>
          <a:p>
            <a:pPr lvl="1">
              <a:lnSpc>
                <a:spcPct val="150000"/>
              </a:lnSpc>
              <a:spcBef>
                <a:spcPct val="0"/>
              </a:spcBef>
              <a:buClr>
                <a:srgbClr val="000066"/>
              </a:buClr>
            </a:pPr>
            <a:r>
              <a:rPr lang="zh-CN" altLang="en-US" dirty="0">
                <a:latin typeface="宋体" panose="02010600030101010101" pitchFamily="2" charset="-122"/>
              </a:rPr>
              <a:t>密码学还不是科学</a:t>
            </a:r>
            <a:r>
              <a:rPr lang="en-US" altLang="zh-CN" dirty="0">
                <a:latin typeface="宋体" panose="02010600030101010101" pitchFamily="2" charset="-122"/>
              </a:rPr>
              <a:t>,</a:t>
            </a:r>
            <a:r>
              <a:rPr lang="zh-CN" altLang="en-US" dirty="0">
                <a:latin typeface="宋体" panose="02010600030101010101" pitchFamily="2" charset="-122"/>
              </a:rPr>
              <a:t>而是艺术</a:t>
            </a:r>
          </a:p>
          <a:p>
            <a:pPr lvl="1">
              <a:lnSpc>
                <a:spcPct val="150000"/>
              </a:lnSpc>
              <a:spcBef>
                <a:spcPct val="0"/>
              </a:spcBef>
              <a:buClr>
                <a:srgbClr val="000066"/>
              </a:buClr>
            </a:pPr>
            <a:r>
              <a:rPr lang="zh-CN" altLang="en-US" dirty="0">
                <a:latin typeface="宋体" panose="02010600030101010101" pitchFamily="2" charset="-122"/>
              </a:rPr>
              <a:t>出现一些密码算法和加密设备</a:t>
            </a:r>
          </a:p>
          <a:p>
            <a:pPr lvl="1">
              <a:lnSpc>
                <a:spcPct val="150000"/>
              </a:lnSpc>
              <a:spcBef>
                <a:spcPct val="0"/>
              </a:spcBef>
              <a:buClr>
                <a:srgbClr val="000066"/>
              </a:buClr>
            </a:pPr>
            <a:r>
              <a:rPr lang="zh-CN" altLang="en-US" dirty="0">
                <a:latin typeface="宋体" panose="02010600030101010101" pitchFamily="2" charset="-122"/>
              </a:rPr>
              <a:t>密码算法的基本手段</a:t>
            </a:r>
            <a:r>
              <a:rPr lang="en-US" altLang="zh-CN" dirty="0">
                <a:latin typeface="宋体" panose="02010600030101010101" pitchFamily="2" charset="-122"/>
              </a:rPr>
              <a:t>(substitution &amp; permutation)</a:t>
            </a:r>
            <a:r>
              <a:rPr lang="zh-CN" altLang="zh-CN" dirty="0">
                <a:latin typeface="宋体" panose="02010600030101010101" pitchFamily="2" charset="-122"/>
              </a:rPr>
              <a:t>出现</a:t>
            </a:r>
            <a:r>
              <a:rPr lang="zh-CN" altLang="en-US" dirty="0">
                <a:latin typeface="宋体" panose="02010600030101010101" pitchFamily="2" charset="-122"/>
              </a:rPr>
              <a:t>，针对的是字符</a:t>
            </a:r>
          </a:p>
          <a:p>
            <a:pPr lvl="1">
              <a:lnSpc>
                <a:spcPct val="150000"/>
              </a:lnSpc>
              <a:spcBef>
                <a:spcPct val="0"/>
              </a:spcBef>
              <a:buClr>
                <a:srgbClr val="000066"/>
              </a:buClr>
            </a:pPr>
            <a:r>
              <a:rPr lang="zh-CN" altLang="en-US" dirty="0">
                <a:latin typeface="宋体" panose="02010600030101010101" pitchFamily="2" charset="-122"/>
              </a:rPr>
              <a:t>简单的密码分析手段出现</a:t>
            </a:r>
          </a:p>
          <a:p>
            <a:endParaRPr lang="en-US" altLang="zh-CN" dirty="0">
              <a:solidFill>
                <a:srgbClr val="C86400"/>
              </a:solidFill>
              <a:latin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a:t>
            </a:fld>
            <a:endParaRPr kumimoji="1" lang="zh-CN" altLang="en-US" dirty="0"/>
          </a:p>
        </p:txBody>
      </p:sp>
    </p:spTree>
    <p:extLst>
      <p:ext uri="{BB962C8B-B14F-4D97-AF65-F5344CB8AC3E}">
        <p14:creationId xmlns:p14="http://schemas.microsoft.com/office/powerpoint/2010/main" val="555716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3.1.2 </a:t>
            </a:r>
            <a:r>
              <a:rPr lang="zh-CN" altLang="en-US" dirty="0"/>
              <a:t>密码学的发展</a:t>
            </a:r>
          </a:p>
        </p:txBody>
      </p:sp>
      <p:sp>
        <p:nvSpPr>
          <p:cNvPr id="3" name="内容占位符 2"/>
          <p:cNvSpPr>
            <a:spLocks noGrp="1"/>
          </p:cNvSpPr>
          <p:nvPr>
            <p:ph idx="1"/>
          </p:nvPr>
        </p:nvSpPr>
        <p:spPr/>
        <p:txBody>
          <a:bodyPr>
            <a:normAutofit/>
          </a:bodyPr>
          <a:lstStyle/>
          <a:p>
            <a:pPr>
              <a:lnSpc>
                <a:spcPct val="150000"/>
              </a:lnSpc>
            </a:pPr>
            <a:r>
              <a:rPr lang="en-US" altLang="zh-CN" dirty="0">
                <a:solidFill>
                  <a:srgbClr val="C86400"/>
                </a:solidFill>
                <a:latin typeface="宋体" panose="02010600030101010101" pitchFamily="2" charset="-122"/>
              </a:rPr>
              <a:t>1949</a:t>
            </a:r>
            <a:r>
              <a:rPr lang="zh-CN" altLang="en-US" dirty="0">
                <a:solidFill>
                  <a:srgbClr val="C86400"/>
                </a:solidFill>
                <a:latin typeface="宋体" panose="02010600030101010101" pitchFamily="2" charset="-122"/>
              </a:rPr>
              <a:t>～</a:t>
            </a:r>
            <a:r>
              <a:rPr lang="en-US" altLang="zh-CN" dirty="0">
                <a:solidFill>
                  <a:srgbClr val="C86400"/>
                </a:solidFill>
                <a:latin typeface="宋体" panose="02010600030101010101" pitchFamily="2" charset="-122"/>
              </a:rPr>
              <a:t>1975</a:t>
            </a:r>
            <a:r>
              <a:rPr lang="zh-CN" altLang="en-US" dirty="0">
                <a:solidFill>
                  <a:srgbClr val="C86400"/>
                </a:solidFill>
                <a:latin typeface="宋体" panose="02010600030101010101" pitchFamily="2" charset="-122"/>
              </a:rPr>
              <a:t>年</a:t>
            </a:r>
            <a:r>
              <a:rPr lang="en-US" altLang="zh-CN" dirty="0">
                <a:solidFill>
                  <a:srgbClr val="C86400"/>
                </a:solidFill>
                <a:latin typeface="宋体" panose="02010600030101010101" pitchFamily="2" charset="-122"/>
              </a:rPr>
              <a:t>:</a:t>
            </a:r>
            <a:r>
              <a:rPr lang="zh-CN" altLang="en-US" dirty="0">
                <a:latin typeface="宋体" panose="02010600030101010101" pitchFamily="2" charset="-122"/>
              </a:rPr>
              <a:t>计算机使得基于复杂计算的密码成为可能</a:t>
            </a:r>
            <a:endParaRPr lang="en-US" altLang="zh-CN" dirty="0">
              <a:solidFill>
                <a:srgbClr val="C86400"/>
              </a:solidFill>
              <a:latin typeface="宋体" panose="02010600030101010101" pitchFamily="2" charset="-122"/>
            </a:endParaRPr>
          </a:p>
          <a:p>
            <a:pPr lvl="1">
              <a:spcBef>
                <a:spcPct val="0"/>
              </a:spcBef>
              <a:buClr>
                <a:srgbClr val="000066"/>
              </a:buClr>
            </a:pPr>
            <a:r>
              <a:rPr lang="en-US" altLang="zh-CN" dirty="0">
                <a:latin typeface="宋体" panose="02010600030101010101" pitchFamily="2" charset="-122"/>
              </a:rPr>
              <a:t>1949</a:t>
            </a:r>
            <a:r>
              <a:rPr lang="zh-CN" altLang="en-US" dirty="0">
                <a:latin typeface="宋体" panose="02010600030101010101" pitchFamily="2" charset="-122"/>
              </a:rPr>
              <a:t>年</a:t>
            </a:r>
            <a:r>
              <a:rPr lang="en-US" altLang="zh-CN" dirty="0">
                <a:latin typeface="宋体" panose="02010600030101010101" pitchFamily="2" charset="-122"/>
              </a:rPr>
              <a:t>Shannon</a:t>
            </a:r>
            <a:r>
              <a:rPr lang="zh-CN" altLang="zh-CN" dirty="0">
                <a:latin typeface="宋体" panose="02010600030101010101" pitchFamily="2" charset="-122"/>
              </a:rPr>
              <a:t>的</a:t>
            </a:r>
            <a:r>
              <a:rPr lang="zh-CN" altLang="en-US" dirty="0">
                <a:latin typeface="Times" panose="02020603050405020304" pitchFamily="18" charset="0"/>
              </a:rPr>
              <a:t>“</a:t>
            </a:r>
            <a:r>
              <a:rPr lang="en-US" altLang="zh-CN" dirty="0">
                <a:latin typeface="宋体" panose="02010600030101010101" pitchFamily="2" charset="-122"/>
              </a:rPr>
              <a:t>The Communication Theory of Secret Systems</a:t>
            </a:r>
            <a:r>
              <a:rPr lang="en-US" altLang="zh-CN" dirty="0">
                <a:latin typeface="Times" panose="02020603050405020304" pitchFamily="18" charset="0"/>
              </a:rPr>
              <a:t>”</a:t>
            </a:r>
            <a:r>
              <a:rPr lang="en-US" altLang="zh-CN" dirty="0">
                <a:latin typeface="宋体" panose="02010600030101010101" pitchFamily="2" charset="-122"/>
              </a:rPr>
              <a:t> </a:t>
            </a:r>
          </a:p>
          <a:p>
            <a:pPr lvl="1">
              <a:spcBef>
                <a:spcPct val="0"/>
              </a:spcBef>
              <a:buClr>
                <a:srgbClr val="000066"/>
              </a:buClr>
            </a:pPr>
            <a:r>
              <a:rPr lang="en-US" altLang="zh-CN" dirty="0">
                <a:latin typeface="宋体" panose="02010600030101010101" pitchFamily="2" charset="-122"/>
              </a:rPr>
              <a:t>1967</a:t>
            </a:r>
            <a:r>
              <a:rPr lang="zh-CN" altLang="zh-CN" dirty="0">
                <a:latin typeface="宋体" panose="02010600030101010101" pitchFamily="2" charset="-122"/>
              </a:rPr>
              <a:t>年</a:t>
            </a:r>
            <a:r>
              <a:rPr lang="en-US" altLang="zh-CN" dirty="0">
                <a:latin typeface="宋体" panose="02010600030101010101" pitchFamily="2" charset="-122"/>
              </a:rPr>
              <a:t>David Kahn</a:t>
            </a:r>
            <a:r>
              <a:rPr lang="zh-CN" altLang="zh-CN" dirty="0">
                <a:latin typeface="宋体" panose="02010600030101010101" pitchFamily="2" charset="-122"/>
              </a:rPr>
              <a:t>的</a:t>
            </a:r>
            <a:r>
              <a:rPr lang="en-US" altLang="zh-CN" dirty="0">
                <a:latin typeface="宋体" panose="02010600030101010101" pitchFamily="2" charset="-122"/>
              </a:rPr>
              <a:t>《The Codebreakers》</a:t>
            </a:r>
          </a:p>
          <a:p>
            <a:pPr lvl="1">
              <a:spcBef>
                <a:spcPct val="0"/>
              </a:spcBef>
              <a:buClr>
                <a:srgbClr val="000066"/>
              </a:buClr>
            </a:pPr>
            <a:r>
              <a:rPr lang="en-US" altLang="zh-CN" dirty="0">
                <a:latin typeface="宋体" panose="02010600030101010101" pitchFamily="2" charset="-122"/>
              </a:rPr>
              <a:t>1971-73</a:t>
            </a:r>
            <a:r>
              <a:rPr lang="zh-CN" altLang="zh-CN" dirty="0">
                <a:latin typeface="宋体" panose="02010600030101010101" pitchFamily="2" charset="-122"/>
              </a:rPr>
              <a:t>年</a:t>
            </a:r>
            <a:r>
              <a:rPr lang="en-US" altLang="zh-CN" dirty="0">
                <a:latin typeface="宋体" panose="02010600030101010101" pitchFamily="2" charset="-122"/>
              </a:rPr>
              <a:t>IBM Watson</a:t>
            </a:r>
            <a:r>
              <a:rPr lang="zh-CN" altLang="en-US" dirty="0">
                <a:latin typeface="宋体" panose="02010600030101010101" pitchFamily="2" charset="-122"/>
              </a:rPr>
              <a:t>实验室</a:t>
            </a:r>
            <a:r>
              <a:rPr lang="zh-CN" altLang="zh-CN" dirty="0">
                <a:latin typeface="宋体" panose="02010600030101010101" pitchFamily="2" charset="-122"/>
              </a:rPr>
              <a:t>的</a:t>
            </a:r>
            <a:r>
              <a:rPr lang="en-US" altLang="zh-CN" dirty="0">
                <a:latin typeface="宋体" panose="02010600030101010101" pitchFamily="2" charset="-122"/>
              </a:rPr>
              <a:t>Horst </a:t>
            </a:r>
            <a:r>
              <a:rPr lang="en-US" altLang="zh-CN" dirty="0" err="1">
                <a:latin typeface="宋体" panose="02010600030101010101" pitchFamily="2" charset="-122"/>
              </a:rPr>
              <a:t>Feistel</a:t>
            </a:r>
            <a:r>
              <a:rPr lang="zh-CN" altLang="zh-CN" dirty="0">
                <a:latin typeface="宋体" panose="02010600030101010101" pitchFamily="2" charset="-122"/>
              </a:rPr>
              <a:t>等的几篇技术报告</a:t>
            </a:r>
            <a:endParaRPr lang="zh-CN" altLang="en-US" dirty="0">
              <a:latin typeface="宋体" panose="02010600030101010101" pitchFamily="2" charset="-122"/>
            </a:endParaRPr>
          </a:p>
          <a:p>
            <a:pPr lvl="1">
              <a:spcBef>
                <a:spcPct val="0"/>
              </a:spcBef>
              <a:buClr>
                <a:srgbClr val="000066"/>
              </a:buClr>
              <a:buNone/>
            </a:pPr>
            <a:r>
              <a:rPr lang="zh-CN" altLang="zh-CN" b="1" dirty="0">
                <a:latin typeface="Times" panose="02020603050405020304" pitchFamily="18" charset="0"/>
                <a:ea typeface="楷体_GB2312" pitchFamily="49" charset="-122"/>
                <a:sym typeface="Wingdings" panose="05000000000000000000" pitchFamily="2" charset="2"/>
              </a:rPr>
              <a:t> </a:t>
            </a:r>
            <a:r>
              <a:rPr lang="en-US" altLang="zh-CN" b="1" dirty="0" err="1">
                <a:latin typeface="Times" panose="02020603050405020304" pitchFamily="18" charset="0"/>
                <a:ea typeface="楷体_GB2312" pitchFamily="49" charset="-122"/>
              </a:rPr>
              <a:t>Smith,J.L.,The</a:t>
            </a:r>
            <a:r>
              <a:rPr lang="en-US" altLang="zh-CN" b="1" dirty="0">
                <a:latin typeface="Times" panose="02020603050405020304" pitchFamily="18" charset="0"/>
                <a:ea typeface="楷体_GB2312" pitchFamily="49" charset="-122"/>
              </a:rPr>
              <a:t> Design of Lucifer, A Cryptographic Device for Data Communication, 1971</a:t>
            </a:r>
          </a:p>
          <a:p>
            <a:pPr lvl="1">
              <a:spcBef>
                <a:spcPct val="0"/>
              </a:spcBef>
              <a:buClr>
                <a:srgbClr val="FF3300"/>
              </a:buClr>
              <a:buNone/>
            </a:pPr>
            <a:r>
              <a:rPr lang="en-US" altLang="zh-CN" b="1" dirty="0">
                <a:latin typeface="Times" panose="02020603050405020304" pitchFamily="18" charset="0"/>
                <a:ea typeface="楷体_GB2312" pitchFamily="49" charset="-122"/>
                <a:sym typeface="Wingdings" panose="05000000000000000000" pitchFamily="2" charset="2"/>
              </a:rPr>
              <a:t></a:t>
            </a:r>
            <a:r>
              <a:rPr lang="en-US" altLang="zh-CN" b="1" dirty="0" err="1">
                <a:latin typeface="Times" panose="02020603050405020304" pitchFamily="18" charset="0"/>
                <a:ea typeface="楷体_GB2312" pitchFamily="49" charset="-122"/>
              </a:rPr>
              <a:t>Smith,J.L</a:t>
            </a:r>
            <a:r>
              <a:rPr lang="en-US" altLang="zh-CN" b="1" dirty="0">
                <a:latin typeface="Times" panose="02020603050405020304" pitchFamily="18" charset="0"/>
                <a:ea typeface="楷体_GB2312" pitchFamily="49" charset="-122"/>
              </a:rPr>
              <a:t>.,…,An </a:t>
            </a:r>
            <a:r>
              <a:rPr lang="en-US" altLang="zh-CN" b="1" dirty="0" err="1">
                <a:latin typeface="Times" panose="02020603050405020304" pitchFamily="18" charset="0"/>
                <a:ea typeface="楷体_GB2312" pitchFamily="49" charset="-122"/>
              </a:rPr>
              <a:t>Expremental</a:t>
            </a:r>
            <a:r>
              <a:rPr lang="en-US" altLang="zh-CN" b="1" dirty="0">
                <a:latin typeface="Times" panose="02020603050405020304" pitchFamily="18" charset="0"/>
                <a:ea typeface="楷体_GB2312" pitchFamily="49" charset="-122"/>
              </a:rPr>
              <a:t> Application of </a:t>
            </a:r>
            <a:r>
              <a:rPr lang="en-US" altLang="zh-CN" b="1" dirty="0" err="1">
                <a:latin typeface="Times" panose="02020603050405020304" pitchFamily="18" charset="0"/>
                <a:ea typeface="楷体_GB2312" pitchFamily="49" charset="-122"/>
              </a:rPr>
              <a:t>Cryptogrphy</a:t>
            </a:r>
            <a:r>
              <a:rPr lang="en-US" altLang="zh-CN" b="1" dirty="0">
                <a:latin typeface="Times" panose="02020603050405020304" pitchFamily="18" charset="0"/>
                <a:ea typeface="楷体_GB2312" pitchFamily="49" charset="-122"/>
              </a:rPr>
              <a:t>  to a remotely Accessed Data System, Aug.1972</a:t>
            </a:r>
          </a:p>
          <a:p>
            <a:pPr lvl="1">
              <a:spcBef>
                <a:spcPct val="0"/>
              </a:spcBef>
              <a:buClr>
                <a:srgbClr val="FF3300"/>
              </a:buClr>
              <a:buNone/>
            </a:pPr>
            <a:r>
              <a:rPr lang="en-US" altLang="zh-CN" b="1" dirty="0">
                <a:latin typeface="Times" panose="02020603050405020304" pitchFamily="18" charset="0"/>
                <a:ea typeface="楷体_GB2312" pitchFamily="49" charset="-122"/>
                <a:sym typeface="Wingdings" panose="05000000000000000000" pitchFamily="2" charset="2"/>
              </a:rPr>
              <a:t> </a:t>
            </a:r>
            <a:r>
              <a:rPr lang="en-US" altLang="zh-CN" b="1" dirty="0" err="1">
                <a:latin typeface="Times" panose="02020603050405020304" pitchFamily="18" charset="0"/>
                <a:ea typeface="楷体_GB2312" pitchFamily="49" charset="-122"/>
              </a:rPr>
              <a:t>Feistel,H.,Cryptography</a:t>
            </a:r>
            <a:r>
              <a:rPr lang="en-US" altLang="zh-CN" b="1" dirty="0">
                <a:latin typeface="Times" panose="02020603050405020304" pitchFamily="18" charset="0"/>
                <a:ea typeface="楷体_GB2312" pitchFamily="49" charset="-122"/>
              </a:rPr>
              <a:t> and Computer Privacy, May 1973</a:t>
            </a:r>
          </a:p>
          <a:p>
            <a:r>
              <a:rPr lang="zh-CN" altLang="en-US" dirty="0">
                <a:solidFill>
                  <a:srgbClr val="990033"/>
                </a:solidFill>
                <a:latin typeface="宋体" panose="02010600030101010101" pitchFamily="2" charset="-122"/>
              </a:rPr>
              <a:t>数据的安全基于密钥而不是算法的保密</a:t>
            </a:r>
            <a:endParaRPr lang="en-US" altLang="zh-CN" dirty="0">
              <a:solidFill>
                <a:srgbClr val="C86400"/>
              </a:solidFill>
              <a:latin typeface="宋体"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a:t>
            </a:fld>
            <a:endParaRPr kumimoji="1" lang="zh-CN" altLang="en-US" dirty="0"/>
          </a:p>
        </p:txBody>
      </p:sp>
    </p:spTree>
    <p:extLst>
      <p:ext uri="{BB962C8B-B14F-4D97-AF65-F5344CB8AC3E}">
        <p14:creationId xmlns:p14="http://schemas.microsoft.com/office/powerpoint/2010/main" val="922720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3.1.2 </a:t>
            </a:r>
            <a:r>
              <a:rPr lang="zh-CN" altLang="en-US" dirty="0"/>
              <a:t>密码学的发展</a:t>
            </a:r>
          </a:p>
        </p:txBody>
      </p:sp>
      <p:sp>
        <p:nvSpPr>
          <p:cNvPr id="3" name="内容占位符 2"/>
          <p:cNvSpPr>
            <a:spLocks noGrp="1"/>
          </p:cNvSpPr>
          <p:nvPr>
            <p:ph idx="1"/>
          </p:nvPr>
        </p:nvSpPr>
        <p:spPr/>
        <p:txBody>
          <a:bodyPr>
            <a:normAutofit/>
          </a:bodyPr>
          <a:lstStyle/>
          <a:p>
            <a:pPr>
              <a:lnSpc>
                <a:spcPct val="150000"/>
              </a:lnSpc>
            </a:pPr>
            <a:r>
              <a:rPr lang="en-US" altLang="zh-CN" dirty="0">
                <a:solidFill>
                  <a:srgbClr val="C86400"/>
                </a:solidFill>
                <a:latin typeface="宋体" panose="02010600030101010101" pitchFamily="2" charset="-122"/>
              </a:rPr>
              <a:t>1976</a:t>
            </a:r>
            <a:r>
              <a:rPr lang="zh-CN" altLang="en-US" dirty="0">
                <a:solidFill>
                  <a:srgbClr val="C86400"/>
                </a:solidFill>
                <a:latin typeface="宋体" panose="02010600030101010101" pitchFamily="2" charset="-122"/>
              </a:rPr>
              <a:t>年以后</a:t>
            </a:r>
            <a:r>
              <a:rPr lang="en-US" altLang="zh-CN" dirty="0">
                <a:solidFill>
                  <a:srgbClr val="C86400"/>
                </a:solidFill>
                <a:latin typeface="宋体" panose="02010600030101010101" pitchFamily="2" charset="-122"/>
              </a:rPr>
              <a:t>:</a:t>
            </a:r>
          </a:p>
          <a:p>
            <a:pPr lvl="1">
              <a:lnSpc>
                <a:spcPct val="150000"/>
              </a:lnSpc>
              <a:spcBef>
                <a:spcPct val="0"/>
              </a:spcBef>
              <a:buClr>
                <a:srgbClr val="000066"/>
              </a:buClr>
            </a:pPr>
            <a:r>
              <a:rPr lang="en-US" altLang="zh-CN" dirty="0">
                <a:latin typeface="宋体" panose="02010600030101010101" pitchFamily="2" charset="-122"/>
              </a:rPr>
              <a:t>1976</a:t>
            </a:r>
            <a:r>
              <a:rPr lang="zh-CN" altLang="zh-CN" dirty="0">
                <a:latin typeface="宋体" panose="02010600030101010101" pitchFamily="2" charset="-122"/>
              </a:rPr>
              <a:t>年</a:t>
            </a:r>
            <a:r>
              <a:rPr lang="en-US" altLang="zh-CN" dirty="0" err="1">
                <a:latin typeface="宋体" panose="02010600030101010101" pitchFamily="2" charset="-122"/>
              </a:rPr>
              <a:t>Diffie</a:t>
            </a:r>
            <a:r>
              <a:rPr lang="en-US" altLang="zh-CN" dirty="0">
                <a:latin typeface="宋体" panose="02010600030101010101" pitchFamily="2" charset="-122"/>
              </a:rPr>
              <a:t> &amp; Hellman</a:t>
            </a:r>
            <a:r>
              <a:rPr lang="zh-CN" altLang="zh-CN" dirty="0">
                <a:latin typeface="宋体" panose="02010600030101010101" pitchFamily="2" charset="-122"/>
              </a:rPr>
              <a:t>的</a:t>
            </a:r>
            <a:r>
              <a:rPr lang="zh-CN" altLang="zh-CN" dirty="0">
                <a:latin typeface="Times" panose="02020603050405020304" pitchFamily="18" charset="0"/>
              </a:rPr>
              <a:t>“</a:t>
            </a:r>
            <a:r>
              <a:rPr lang="en-US" altLang="zh-CN" dirty="0">
                <a:latin typeface="宋体" panose="02010600030101010101" pitchFamily="2" charset="-122"/>
              </a:rPr>
              <a:t>New Directions in Cryptography</a:t>
            </a:r>
            <a:r>
              <a:rPr lang="en-US" altLang="zh-CN" dirty="0">
                <a:latin typeface="Times" panose="02020603050405020304" pitchFamily="18" charset="0"/>
              </a:rPr>
              <a:t>”</a:t>
            </a:r>
            <a:r>
              <a:rPr lang="zh-CN" altLang="zh-CN" dirty="0">
                <a:latin typeface="宋体" panose="02010600030101010101" pitchFamily="2" charset="-122"/>
              </a:rPr>
              <a:t>提出了不对称密钥密码</a:t>
            </a:r>
          </a:p>
          <a:p>
            <a:pPr lvl="1">
              <a:lnSpc>
                <a:spcPct val="150000"/>
              </a:lnSpc>
              <a:spcBef>
                <a:spcPct val="0"/>
              </a:spcBef>
              <a:buClr>
                <a:srgbClr val="000066"/>
              </a:buClr>
            </a:pPr>
            <a:r>
              <a:rPr lang="zh-CN" altLang="zh-CN" dirty="0">
                <a:latin typeface="宋体" panose="02010600030101010101" pitchFamily="2" charset="-122"/>
              </a:rPr>
              <a:t>1977年</a:t>
            </a:r>
            <a:r>
              <a:rPr lang="en-US" altLang="zh-CN" dirty="0" err="1">
                <a:latin typeface="宋体" panose="02010600030101010101" pitchFamily="2" charset="-122"/>
              </a:rPr>
              <a:t>Rivest,Shamir</a:t>
            </a:r>
            <a:r>
              <a:rPr lang="en-US" altLang="zh-CN" dirty="0">
                <a:latin typeface="宋体" panose="02010600030101010101" pitchFamily="2" charset="-122"/>
              </a:rPr>
              <a:t> &amp; </a:t>
            </a:r>
            <a:r>
              <a:rPr lang="en-US" altLang="zh-CN" dirty="0" err="1">
                <a:latin typeface="宋体" panose="02010600030101010101" pitchFamily="2" charset="-122"/>
              </a:rPr>
              <a:t>Adleman</a:t>
            </a:r>
            <a:r>
              <a:rPr lang="zh-CN" altLang="zh-CN" dirty="0">
                <a:latin typeface="宋体" panose="02010600030101010101" pitchFamily="2" charset="-122"/>
              </a:rPr>
              <a:t>提出了</a:t>
            </a:r>
            <a:r>
              <a:rPr lang="en-US" altLang="zh-CN" dirty="0">
                <a:highlight>
                  <a:srgbClr val="FFFF00"/>
                </a:highlight>
                <a:latin typeface="宋体" panose="02010600030101010101" pitchFamily="2" charset="-122"/>
              </a:rPr>
              <a:t>RSA</a:t>
            </a:r>
            <a:r>
              <a:rPr lang="zh-CN" altLang="zh-CN" dirty="0">
                <a:latin typeface="宋体" panose="02010600030101010101" pitchFamily="2" charset="-122"/>
              </a:rPr>
              <a:t>公钥算法</a:t>
            </a:r>
          </a:p>
          <a:p>
            <a:pPr lvl="1">
              <a:lnSpc>
                <a:spcPct val="150000"/>
              </a:lnSpc>
              <a:spcBef>
                <a:spcPct val="0"/>
              </a:spcBef>
              <a:buClr>
                <a:srgbClr val="000066"/>
              </a:buClr>
            </a:pPr>
            <a:r>
              <a:rPr lang="en-US" altLang="zh-CN" dirty="0">
                <a:latin typeface="宋体" panose="02010600030101010101" pitchFamily="2" charset="-122"/>
              </a:rPr>
              <a:t>90</a:t>
            </a:r>
            <a:r>
              <a:rPr lang="zh-CN" altLang="zh-CN" dirty="0">
                <a:latin typeface="宋体" panose="02010600030101010101" pitchFamily="2" charset="-122"/>
              </a:rPr>
              <a:t>年代逐步出现</a:t>
            </a:r>
            <a:r>
              <a:rPr lang="zh-CN" altLang="zh-CN" dirty="0">
                <a:highlight>
                  <a:srgbClr val="FFFF00"/>
                </a:highlight>
                <a:latin typeface="宋体" panose="02010600030101010101" pitchFamily="2" charset="-122"/>
              </a:rPr>
              <a:t>椭圆曲线</a:t>
            </a:r>
            <a:r>
              <a:rPr lang="zh-CN" altLang="zh-CN" dirty="0">
                <a:latin typeface="宋体" panose="02010600030101010101" pitchFamily="2" charset="-122"/>
              </a:rPr>
              <a:t>等其他公钥算法</a:t>
            </a:r>
          </a:p>
          <a:p>
            <a:pPr>
              <a:lnSpc>
                <a:spcPct val="150000"/>
              </a:lnSpc>
            </a:pPr>
            <a:r>
              <a:rPr lang="zh-CN" altLang="zh-CN" dirty="0">
                <a:solidFill>
                  <a:srgbClr val="990033"/>
                </a:solidFill>
                <a:latin typeface="宋体" panose="02010600030101010101" pitchFamily="2" charset="-122"/>
              </a:rPr>
              <a:t>公钥密码使得发送端和接收端无密钥传输的保密通信成为可能</a:t>
            </a:r>
            <a:r>
              <a:rPr lang="zh-CN" altLang="en-US" dirty="0">
                <a:solidFill>
                  <a:srgbClr val="990033"/>
                </a:solidFill>
                <a:latin typeface="宋体" panose="02010600030101010101" pitchFamily="2" charset="-122"/>
              </a:rPr>
              <a:t>！</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12</a:t>
            </a:fld>
            <a:endParaRPr kumimoji="1" lang="zh-CN" altLang="en-US" dirty="0"/>
          </a:p>
        </p:txBody>
      </p:sp>
    </p:spTree>
    <p:extLst>
      <p:ext uri="{BB962C8B-B14F-4D97-AF65-F5344CB8AC3E}">
        <p14:creationId xmlns:p14="http://schemas.microsoft.com/office/powerpoint/2010/main" val="288302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3.1.2 </a:t>
            </a:r>
            <a:r>
              <a:rPr lang="zh-CN" altLang="en-US" dirty="0"/>
              <a:t>密码学的发展</a:t>
            </a:r>
          </a:p>
        </p:txBody>
      </p:sp>
      <p:sp>
        <p:nvSpPr>
          <p:cNvPr id="3" name="内容占位符 2"/>
          <p:cNvSpPr>
            <a:spLocks noGrp="1"/>
          </p:cNvSpPr>
          <p:nvPr>
            <p:ph idx="1"/>
          </p:nvPr>
        </p:nvSpPr>
        <p:spPr/>
        <p:txBody>
          <a:bodyPr>
            <a:normAutofit/>
          </a:bodyPr>
          <a:lstStyle/>
          <a:p>
            <a:pPr>
              <a:lnSpc>
                <a:spcPct val="150000"/>
              </a:lnSpc>
              <a:spcBef>
                <a:spcPct val="0"/>
              </a:spcBef>
              <a:buClr>
                <a:srgbClr val="C86400"/>
              </a:buClr>
              <a:buNone/>
            </a:pPr>
            <a:r>
              <a:rPr lang="en-US" altLang="zh-CN" dirty="0">
                <a:solidFill>
                  <a:srgbClr val="C86400"/>
                </a:solidFill>
                <a:latin typeface="宋体" panose="02010600030101010101" pitchFamily="2" charset="-122"/>
              </a:rPr>
              <a:t>1976</a:t>
            </a:r>
            <a:r>
              <a:rPr lang="zh-CN" altLang="en-US" dirty="0">
                <a:solidFill>
                  <a:srgbClr val="C86400"/>
                </a:solidFill>
                <a:latin typeface="宋体" panose="02010600030101010101" pitchFamily="2" charset="-122"/>
              </a:rPr>
              <a:t>年以后</a:t>
            </a:r>
            <a:r>
              <a:rPr lang="en-US" altLang="zh-CN" dirty="0">
                <a:solidFill>
                  <a:srgbClr val="C86400"/>
                </a:solidFill>
                <a:latin typeface="宋体" panose="02010600030101010101" pitchFamily="2" charset="-122"/>
              </a:rPr>
              <a:t>:</a:t>
            </a:r>
            <a:r>
              <a:rPr lang="zh-CN" altLang="en-US" dirty="0">
                <a:latin typeface="宋体" panose="02010600030101010101" pitchFamily="2" charset="-122"/>
              </a:rPr>
              <a:t>对称密钥密码算法进一步发展</a:t>
            </a:r>
          </a:p>
          <a:p>
            <a:pPr lvl="1">
              <a:lnSpc>
                <a:spcPct val="150000"/>
              </a:lnSpc>
              <a:spcBef>
                <a:spcPct val="0"/>
              </a:spcBef>
              <a:buClr>
                <a:srgbClr val="000066"/>
              </a:buClr>
            </a:pPr>
            <a:r>
              <a:rPr lang="zh-CN" altLang="zh-CN" dirty="0">
                <a:latin typeface="宋体" panose="02010600030101010101" pitchFamily="2" charset="-122"/>
              </a:rPr>
              <a:t>1977年</a:t>
            </a:r>
            <a:r>
              <a:rPr lang="en-US" altLang="zh-CN" dirty="0">
                <a:highlight>
                  <a:srgbClr val="FFFF00"/>
                </a:highlight>
                <a:latin typeface="宋体" panose="02010600030101010101" pitchFamily="2" charset="-122"/>
              </a:rPr>
              <a:t>DES</a:t>
            </a:r>
            <a:r>
              <a:rPr lang="zh-CN" altLang="zh-CN" dirty="0">
                <a:latin typeface="宋体" panose="02010600030101010101" pitchFamily="2" charset="-122"/>
              </a:rPr>
              <a:t>正式成为标准</a:t>
            </a:r>
          </a:p>
          <a:p>
            <a:pPr lvl="1">
              <a:lnSpc>
                <a:spcPct val="150000"/>
              </a:lnSpc>
              <a:spcBef>
                <a:spcPct val="0"/>
              </a:spcBef>
              <a:buClr>
                <a:srgbClr val="000066"/>
              </a:buClr>
            </a:pPr>
            <a:r>
              <a:rPr lang="zh-CN" altLang="zh-CN" dirty="0">
                <a:latin typeface="宋体" panose="02010600030101010101" pitchFamily="2" charset="-122"/>
              </a:rPr>
              <a:t>80年代出现</a:t>
            </a:r>
            <a:r>
              <a:rPr lang="zh-CN" altLang="zh-CN" dirty="0">
                <a:latin typeface="Times" panose="02020603050405020304" pitchFamily="18" charset="0"/>
              </a:rPr>
              <a:t>“</a:t>
            </a:r>
            <a:r>
              <a:rPr lang="zh-CN" altLang="zh-CN" dirty="0">
                <a:latin typeface="宋体" panose="02010600030101010101" pitchFamily="2" charset="-122"/>
              </a:rPr>
              <a:t>过渡性</a:t>
            </a:r>
            <a:r>
              <a:rPr lang="zh-CN" altLang="zh-CN" dirty="0">
                <a:latin typeface="Times" panose="02020603050405020304" pitchFamily="18" charset="0"/>
              </a:rPr>
              <a:t>”</a:t>
            </a:r>
            <a:r>
              <a:rPr lang="zh-CN" altLang="zh-CN" dirty="0">
                <a:latin typeface="宋体" panose="02010600030101010101" pitchFamily="2" charset="-122"/>
              </a:rPr>
              <a:t>的</a:t>
            </a:r>
            <a:r>
              <a:rPr lang="zh-CN" altLang="zh-CN" dirty="0">
                <a:latin typeface="Times" panose="02020603050405020304" pitchFamily="18" charset="0"/>
              </a:rPr>
              <a:t>“</a:t>
            </a:r>
            <a:r>
              <a:rPr lang="en-US" altLang="zh-CN" dirty="0">
                <a:latin typeface="宋体" panose="02010600030101010101" pitchFamily="2" charset="-122"/>
              </a:rPr>
              <a:t>post DES</a:t>
            </a:r>
            <a:r>
              <a:rPr lang="en-US" altLang="zh-CN" dirty="0">
                <a:latin typeface="Times" panose="02020603050405020304" pitchFamily="18" charset="0"/>
              </a:rPr>
              <a:t>”</a:t>
            </a:r>
            <a:r>
              <a:rPr lang="zh-CN" altLang="zh-CN" dirty="0">
                <a:latin typeface="宋体" panose="02010600030101010101" pitchFamily="2" charset="-122"/>
              </a:rPr>
              <a:t>算法,如</a:t>
            </a:r>
            <a:r>
              <a:rPr lang="en-US" altLang="zh-CN" dirty="0" err="1">
                <a:latin typeface="宋体" panose="02010600030101010101" pitchFamily="2" charset="-122"/>
              </a:rPr>
              <a:t>IDEA,RCx,CAST</a:t>
            </a:r>
            <a:r>
              <a:rPr lang="zh-CN" altLang="zh-CN" dirty="0">
                <a:latin typeface="宋体" panose="02010600030101010101" pitchFamily="2" charset="-122"/>
              </a:rPr>
              <a:t>等</a:t>
            </a:r>
            <a:endParaRPr lang="zh-CN" altLang="en-US" dirty="0">
              <a:latin typeface="宋体" panose="02010600030101010101" pitchFamily="2" charset="-122"/>
            </a:endParaRPr>
          </a:p>
          <a:p>
            <a:pPr lvl="1">
              <a:lnSpc>
                <a:spcPct val="150000"/>
              </a:lnSpc>
              <a:spcBef>
                <a:spcPct val="0"/>
              </a:spcBef>
              <a:buClr>
                <a:srgbClr val="000066"/>
              </a:buClr>
            </a:pPr>
            <a:r>
              <a:rPr lang="en-US" altLang="zh-CN" dirty="0">
                <a:latin typeface="宋体" panose="02010600030101010101" pitchFamily="2" charset="-122"/>
              </a:rPr>
              <a:t>90</a:t>
            </a:r>
            <a:r>
              <a:rPr lang="zh-CN" altLang="zh-CN" dirty="0">
                <a:latin typeface="宋体" panose="02010600030101010101" pitchFamily="2" charset="-122"/>
              </a:rPr>
              <a:t>年代对称密钥密码进一步成熟 </a:t>
            </a:r>
            <a:r>
              <a:rPr lang="en-US" altLang="zh-CN" dirty="0">
                <a:latin typeface="宋体" panose="02010600030101010101" pitchFamily="2" charset="-122"/>
              </a:rPr>
              <a:t>Rijndael,RC6, MARS, </a:t>
            </a:r>
            <a:r>
              <a:rPr lang="en-US" altLang="zh-CN" dirty="0" err="1">
                <a:latin typeface="宋体" panose="02010600030101010101" pitchFamily="2" charset="-122"/>
              </a:rPr>
              <a:t>Twofish</a:t>
            </a:r>
            <a:r>
              <a:rPr lang="en-US" altLang="zh-CN" dirty="0">
                <a:latin typeface="宋体" panose="02010600030101010101" pitchFamily="2" charset="-122"/>
              </a:rPr>
              <a:t>, Serpent</a:t>
            </a:r>
            <a:r>
              <a:rPr lang="zh-CN" altLang="zh-CN" dirty="0">
                <a:latin typeface="宋体" panose="02010600030101010101" pitchFamily="2" charset="-122"/>
              </a:rPr>
              <a:t>等出现</a:t>
            </a:r>
          </a:p>
          <a:p>
            <a:pPr lvl="1">
              <a:lnSpc>
                <a:spcPct val="150000"/>
              </a:lnSpc>
              <a:spcBef>
                <a:spcPct val="0"/>
              </a:spcBef>
              <a:buClr>
                <a:srgbClr val="000066"/>
              </a:buClr>
            </a:pPr>
            <a:r>
              <a:rPr lang="zh-CN" altLang="zh-CN" dirty="0">
                <a:latin typeface="宋体" panose="02010600030101010101" pitchFamily="2" charset="-122"/>
              </a:rPr>
              <a:t>2001年</a:t>
            </a:r>
            <a:r>
              <a:rPr lang="en-US" altLang="zh-CN" dirty="0" err="1">
                <a:latin typeface="宋体" panose="02010600030101010101" pitchFamily="2" charset="-122"/>
              </a:rPr>
              <a:t>Rijndael</a:t>
            </a:r>
            <a:r>
              <a:rPr lang="zh-CN" altLang="zh-CN" dirty="0">
                <a:latin typeface="宋体" panose="02010600030101010101" pitchFamily="2" charset="-122"/>
              </a:rPr>
              <a:t>成为</a:t>
            </a:r>
            <a:r>
              <a:rPr lang="en-US" altLang="zh-CN" dirty="0">
                <a:latin typeface="宋体" panose="02010600030101010101" pitchFamily="2" charset="-122"/>
              </a:rPr>
              <a:t>DES</a:t>
            </a:r>
            <a:r>
              <a:rPr lang="zh-CN" altLang="zh-CN" dirty="0">
                <a:latin typeface="宋体" panose="02010600030101010101" pitchFamily="2" charset="-122"/>
              </a:rPr>
              <a:t>的替代者</a:t>
            </a:r>
            <a:endParaRPr lang="en-US" altLang="zh-CN" dirty="0">
              <a:latin typeface="宋体" panose="02010600030101010101" pitchFamily="2" charset="-122"/>
            </a:endParaRPr>
          </a:p>
          <a:p>
            <a:pPr>
              <a:spcBef>
                <a:spcPct val="0"/>
              </a:spcBef>
              <a:buClr>
                <a:srgbClr val="000066"/>
              </a:buClr>
            </a:pPr>
            <a:endParaRPr lang="zh-CN" altLang="zh-CN" dirty="0">
              <a:latin typeface="宋体" panose="02010600030101010101" pitchFamily="2"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a:t>
            </a:fld>
            <a:endParaRPr kumimoji="1" lang="zh-CN" altLang="en-US" dirty="0"/>
          </a:p>
        </p:txBody>
      </p:sp>
    </p:spTree>
    <p:extLst>
      <p:ext uri="{BB962C8B-B14F-4D97-AF65-F5344CB8AC3E}">
        <p14:creationId xmlns:p14="http://schemas.microsoft.com/office/powerpoint/2010/main" val="2422178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t>3.1 </a:t>
            </a:r>
            <a:r>
              <a:rPr lang="zh-CN" altLang="en-US" sz="3200" dirty="0"/>
              <a:t>密码学的起源与发展</a:t>
            </a:r>
            <a:endParaRPr lang="en-US" altLang="zh-CN" sz="3200" dirty="0"/>
          </a:p>
          <a:p>
            <a:pPr>
              <a:buNone/>
            </a:pPr>
            <a:r>
              <a:rPr lang="en-US" altLang="zh-CN" sz="3200" dirty="0">
                <a:solidFill>
                  <a:srgbClr val="FF0000"/>
                </a:solidFill>
              </a:rPr>
              <a:t>3.2 </a:t>
            </a:r>
            <a:r>
              <a:rPr lang="zh-CN" altLang="en-US" sz="3200" dirty="0">
                <a:solidFill>
                  <a:srgbClr val="FF0000"/>
                </a:solidFill>
              </a:rPr>
              <a:t>换位法</a:t>
            </a:r>
          </a:p>
          <a:p>
            <a:pPr>
              <a:buNone/>
            </a:pPr>
            <a:r>
              <a:rPr lang="en-US" altLang="zh-CN" sz="3200" dirty="0"/>
              <a:t>3.3 </a:t>
            </a:r>
            <a:r>
              <a:rPr lang="zh-CN" altLang="en-US" sz="3200" dirty="0"/>
              <a:t>简单代替密码</a:t>
            </a:r>
          </a:p>
          <a:p>
            <a:pPr>
              <a:buNone/>
            </a:pPr>
            <a:r>
              <a:rPr lang="en-US" altLang="zh-CN" sz="3200" dirty="0"/>
              <a:t>3.4 </a:t>
            </a:r>
            <a:r>
              <a:rPr lang="zh-CN" altLang="en-US" sz="3200" dirty="0"/>
              <a:t>同音代替密码</a:t>
            </a:r>
          </a:p>
          <a:p>
            <a:pPr>
              <a:buNone/>
            </a:pPr>
            <a:r>
              <a:rPr lang="en-US" altLang="zh-CN" sz="3200" dirty="0"/>
              <a:t>3.5 </a:t>
            </a:r>
            <a:r>
              <a:rPr lang="zh-CN" altLang="en-US" sz="3200" dirty="0"/>
              <a:t>多表代替密码</a:t>
            </a:r>
          </a:p>
          <a:p>
            <a:pPr>
              <a:buNone/>
            </a:pPr>
            <a:r>
              <a:rPr lang="en-US" altLang="zh-CN" sz="3200" dirty="0"/>
              <a:t>3.6 </a:t>
            </a:r>
            <a:r>
              <a:rPr lang="zh-CN" altLang="en-US" sz="3200" dirty="0"/>
              <a:t>多字母组代替密码</a:t>
            </a:r>
            <a:endParaRPr lang="en-US" altLang="zh-CN" sz="3200" dirty="0"/>
          </a:p>
          <a:p>
            <a:pPr>
              <a:buNone/>
            </a:pPr>
            <a:r>
              <a:rPr lang="en-US" altLang="zh-CN" sz="3200" dirty="0"/>
              <a:t>3.7 </a:t>
            </a:r>
            <a:r>
              <a:rPr lang="zh-CN" altLang="en-US" sz="3200" dirty="0"/>
              <a:t>古典密码分析</a:t>
            </a:r>
            <a:endParaRPr lang="en-US" altLang="zh-CN" sz="3200" dirty="0"/>
          </a:p>
          <a:p>
            <a:pPr>
              <a:buNone/>
            </a:pPr>
            <a:endParaRPr lang="zh-CN" altLang="en-US" sz="32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1245188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zh-CN" altLang="en-US" dirty="0"/>
              <a:t>换位法</a:t>
            </a:r>
          </a:p>
        </p:txBody>
      </p:sp>
      <p:sp>
        <p:nvSpPr>
          <p:cNvPr id="3" name="内容占位符 2"/>
          <p:cNvSpPr>
            <a:spLocks noGrp="1"/>
          </p:cNvSpPr>
          <p:nvPr>
            <p:ph idx="1"/>
          </p:nvPr>
        </p:nvSpPr>
        <p:spPr/>
        <p:txBody>
          <a:bodyPr/>
          <a:lstStyle/>
          <a:p>
            <a:r>
              <a:rPr lang="zh-CN" altLang="en-US" dirty="0"/>
              <a:t>换位法按照一定的方法来重新排列字符，通常是借助于某种几何图表来实现。</a:t>
            </a:r>
          </a:p>
          <a:p>
            <a:r>
              <a:rPr lang="zh-CN" altLang="en-US" dirty="0"/>
              <a:t>加密过程分为两个步骤：</a:t>
            </a:r>
          </a:p>
          <a:p>
            <a:pPr lvl="1"/>
            <a:r>
              <a:rPr lang="zh-CN" altLang="en-US" sz="2800" dirty="0"/>
              <a:t>将明文按照一定的路径写入图表中；</a:t>
            </a:r>
          </a:p>
          <a:p>
            <a:pPr lvl="1"/>
            <a:r>
              <a:rPr lang="zh-CN" altLang="en-US" sz="2800" dirty="0"/>
              <a:t>以某种路径从图表中取出字符构成密文。</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15</a:t>
            </a:fld>
            <a:endParaRPr kumimoji="1" lang="zh-CN" altLang="en-US" dirty="0"/>
          </a:p>
        </p:txBody>
      </p:sp>
      <p:grpSp>
        <p:nvGrpSpPr>
          <p:cNvPr id="5" name="组合 4"/>
          <p:cNvGrpSpPr/>
          <p:nvPr/>
        </p:nvGrpSpPr>
        <p:grpSpPr>
          <a:xfrm>
            <a:off x="2634232" y="4362203"/>
            <a:ext cx="5567363" cy="762000"/>
            <a:chOff x="1752600" y="4724400"/>
            <a:chExt cx="5567363" cy="762000"/>
          </a:xfrm>
        </p:grpSpPr>
        <p:sp>
          <p:nvSpPr>
            <p:cNvPr id="6" name="Line 4"/>
            <p:cNvSpPr>
              <a:spLocks noChangeShapeType="1"/>
            </p:cNvSpPr>
            <p:nvPr/>
          </p:nvSpPr>
          <p:spPr bwMode="auto">
            <a:xfrm flipV="1">
              <a:off x="3810000" y="5105400"/>
              <a:ext cx="1066800" cy="0"/>
            </a:xfrm>
            <a:prstGeom prst="line">
              <a:avLst/>
            </a:prstGeom>
            <a:noFill/>
            <a:ln w="9525">
              <a:solidFill>
                <a:schemeClr val="tx1"/>
              </a:solidFill>
              <a:round/>
              <a:headEnd/>
              <a:tailEnd type="triangle" w="med" len="me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7" name="Rectangle 5"/>
            <p:cNvSpPr>
              <a:spLocks noChangeArrowheads="1"/>
            </p:cNvSpPr>
            <p:nvPr/>
          </p:nvSpPr>
          <p:spPr bwMode="auto">
            <a:xfrm>
              <a:off x="3200400" y="4800600"/>
              <a:ext cx="68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zh-CN" altLang="en-US" sz="2400" b="0">
                  <a:solidFill>
                    <a:schemeClr val="tx1"/>
                  </a:solidFill>
                  <a:latin typeface="Times New Roman" panose="02020603050405020304" pitchFamily="18" charset="0"/>
                </a:rPr>
                <a:t>明文</a:t>
              </a:r>
            </a:p>
          </p:txBody>
        </p:sp>
        <p:sp>
          <p:nvSpPr>
            <p:cNvPr id="8" name="Rectangle 6"/>
            <p:cNvSpPr>
              <a:spLocks noChangeArrowheads="1"/>
            </p:cNvSpPr>
            <p:nvPr/>
          </p:nvSpPr>
          <p:spPr bwMode="auto">
            <a:xfrm>
              <a:off x="3886200" y="5181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zh-CN" altLang="en-US" b="0">
                  <a:solidFill>
                    <a:schemeClr val="tx1"/>
                  </a:solidFill>
                  <a:latin typeface="Times New Roman" panose="02020603050405020304" pitchFamily="18" charset="0"/>
                </a:rPr>
                <a:t>写入</a:t>
              </a:r>
            </a:p>
          </p:txBody>
        </p:sp>
        <p:sp>
          <p:nvSpPr>
            <p:cNvPr id="9" name="Rectangle 7"/>
            <p:cNvSpPr>
              <a:spLocks noChangeArrowheads="1"/>
            </p:cNvSpPr>
            <p:nvPr/>
          </p:nvSpPr>
          <p:spPr bwMode="auto">
            <a:xfrm>
              <a:off x="4876800" y="4800600"/>
              <a:ext cx="68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zh-CN" altLang="en-US" sz="2400" b="0">
                  <a:solidFill>
                    <a:schemeClr val="tx1"/>
                  </a:solidFill>
                  <a:latin typeface="Times New Roman" panose="02020603050405020304" pitchFamily="18" charset="0"/>
                </a:rPr>
                <a:t>图表</a:t>
              </a:r>
            </a:p>
          </p:txBody>
        </p:sp>
        <p:sp>
          <p:nvSpPr>
            <p:cNvPr id="10" name="Line 8"/>
            <p:cNvSpPr>
              <a:spLocks noChangeShapeType="1"/>
            </p:cNvSpPr>
            <p:nvPr/>
          </p:nvSpPr>
          <p:spPr bwMode="auto">
            <a:xfrm flipV="1">
              <a:off x="5562600" y="5100638"/>
              <a:ext cx="1066800" cy="0"/>
            </a:xfrm>
            <a:prstGeom prst="line">
              <a:avLst/>
            </a:prstGeom>
            <a:noFill/>
            <a:ln w="9525">
              <a:solidFill>
                <a:schemeClr val="tx1"/>
              </a:solidFill>
              <a:round/>
              <a:headEnd/>
              <a:tailEnd type="triangle" w="med" len="me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11" name="Rectangle 9"/>
            <p:cNvSpPr>
              <a:spLocks noChangeArrowheads="1"/>
            </p:cNvSpPr>
            <p:nvPr/>
          </p:nvSpPr>
          <p:spPr bwMode="auto">
            <a:xfrm>
              <a:off x="6634163" y="4800600"/>
              <a:ext cx="68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zh-CN" altLang="en-US" sz="2400" b="0">
                  <a:solidFill>
                    <a:schemeClr val="tx1"/>
                  </a:solidFill>
                  <a:latin typeface="Times New Roman" panose="02020603050405020304" pitchFamily="18" charset="0"/>
                </a:rPr>
                <a:t>密文</a:t>
              </a:r>
            </a:p>
          </p:txBody>
        </p:sp>
        <p:sp>
          <p:nvSpPr>
            <p:cNvPr id="12" name="Rectangle 10"/>
            <p:cNvSpPr>
              <a:spLocks noChangeArrowheads="1"/>
            </p:cNvSpPr>
            <p:nvPr/>
          </p:nvSpPr>
          <p:spPr bwMode="auto">
            <a:xfrm>
              <a:off x="5486400" y="5181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zh-CN" altLang="en-US" b="0">
                  <a:solidFill>
                    <a:schemeClr val="tx1"/>
                  </a:solidFill>
                  <a:latin typeface="Times New Roman" panose="02020603050405020304" pitchFamily="18" charset="0"/>
                </a:rPr>
                <a:t>取出</a:t>
              </a:r>
            </a:p>
          </p:txBody>
        </p:sp>
        <p:sp>
          <p:nvSpPr>
            <p:cNvPr id="13" name="Rectangle 11"/>
            <p:cNvSpPr>
              <a:spLocks noChangeArrowheads="1"/>
            </p:cNvSpPr>
            <p:nvPr/>
          </p:nvSpPr>
          <p:spPr bwMode="auto">
            <a:xfrm>
              <a:off x="1752600" y="4724400"/>
              <a:ext cx="152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zh-CN" altLang="en-US" sz="2400" b="0">
                  <a:solidFill>
                    <a:schemeClr val="tx1"/>
                  </a:solidFill>
                  <a:latin typeface="Times New Roman" panose="02020603050405020304" pitchFamily="18" charset="0"/>
                </a:rPr>
                <a:t>图例：</a:t>
              </a:r>
            </a:p>
          </p:txBody>
        </p:sp>
      </p:grpSp>
    </p:spTree>
    <p:extLst>
      <p:ext uri="{BB962C8B-B14F-4D97-AF65-F5344CB8AC3E}">
        <p14:creationId xmlns:p14="http://schemas.microsoft.com/office/powerpoint/2010/main" val="74142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zh-CN" altLang="en-US" dirty="0"/>
              <a:t>换位法</a:t>
            </a:r>
          </a:p>
        </p:txBody>
      </p:sp>
      <p:sp>
        <p:nvSpPr>
          <p:cNvPr id="3" name="内容占位符 2"/>
          <p:cNvSpPr>
            <a:spLocks noGrp="1"/>
          </p:cNvSpPr>
          <p:nvPr>
            <p:ph idx="1"/>
          </p:nvPr>
        </p:nvSpPr>
        <p:spPr/>
        <p:txBody>
          <a:bodyPr/>
          <a:lstStyle/>
          <a:p>
            <a:r>
              <a:rPr lang="zh-CN" altLang="en-US" dirty="0"/>
              <a:t>设明文</a:t>
            </a:r>
            <a:r>
              <a:rPr lang="en-US" altLang="zh-CN" dirty="0"/>
              <a:t>DATA SECURITY</a:t>
            </a:r>
            <a:r>
              <a:rPr lang="zh-CN" altLang="en-US" dirty="0"/>
              <a:t>写入一个</a:t>
            </a:r>
            <a:r>
              <a:rPr lang="en-US" altLang="zh-CN" dirty="0"/>
              <a:t>3×4</a:t>
            </a:r>
            <a:r>
              <a:rPr lang="zh-CN" altLang="en-US" dirty="0"/>
              <a:t>的矩阵：</a:t>
            </a:r>
          </a:p>
          <a:p>
            <a:pPr>
              <a:buNone/>
            </a:pPr>
            <a:r>
              <a:rPr lang="zh-CN" altLang="en-US" dirty="0"/>
              <a:t>                  </a:t>
            </a:r>
            <a:r>
              <a:rPr lang="en-US" altLang="zh-CN" dirty="0"/>
              <a:t>1      2	3	4</a:t>
            </a:r>
          </a:p>
          <a:p>
            <a:pPr>
              <a:buNone/>
            </a:pPr>
            <a:r>
              <a:rPr lang="en-US" altLang="zh-CN" dirty="0"/>
              <a:t>			D	A	T	A</a:t>
            </a:r>
          </a:p>
          <a:p>
            <a:pPr>
              <a:buNone/>
            </a:pPr>
            <a:r>
              <a:rPr lang="en-US" altLang="zh-CN" dirty="0"/>
              <a:t>			S	E	C	U</a:t>
            </a:r>
          </a:p>
          <a:p>
            <a:pPr>
              <a:buNone/>
            </a:pPr>
            <a:r>
              <a:rPr lang="en-US" altLang="zh-CN" dirty="0"/>
              <a:t>			R 	I	T 	Y</a:t>
            </a:r>
          </a:p>
          <a:p>
            <a:r>
              <a:rPr lang="en-US" altLang="zh-CN" dirty="0"/>
              <a:t>   </a:t>
            </a:r>
            <a:r>
              <a:rPr lang="zh-CN" altLang="en-US" dirty="0"/>
              <a:t>若按照</a:t>
            </a:r>
            <a:r>
              <a:rPr lang="en-US" altLang="zh-CN" dirty="0"/>
              <a:t>2</a:t>
            </a:r>
            <a:r>
              <a:rPr lang="zh-CN" altLang="en-US" dirty="0"/>
              <a:t>－</a:t>
            </a:r>
            <a:r>
              <a:rPr lang="en-US" altLang="zh-CN" dirty="0"/>
              <a:t>4</a:t>
            </a:r>
            <a:r>
              <a:rPr lang="zh-CN" altLang="en-US" dirty="0"/>
              <a:t>－</a:t>
            </a:r>
            <a:r>
              <a:rPr lang="en-US" altLang="zh-CN" dirty="0"/>
              <a:t>1</a:t>
            </a:r>
            <a:r>
              <a:rPr lang="zh-CN" altLang="en-US" dirty="0"/>
              <a:t>－</a:t>
            </a:r>
            <a:r>
              <a:rPr lang="en-US" altLang="zh-CN" dirty="0"/>
              <a:t>3</a:t>
            </a:r>
            <a:r>
              <a:rPr lang="zh-CN" altLang="en-US" dirty="0"/>
              <a:t>的顺序将各列写出，则密文为</a:t>
            </a:r>
            <a:r>
              <a:rPr lang="en-US" altLang="zh-CN" dirty="0"/>
              <a:t>:</a:t>
            </a:r>
          </a:p>
          <a:p>
            <a:pPr algn="ctr">
              <a:buNone/>
            </a:pPr>
            <a:r>
              <a:rPr lang="en-US" altLang="zh-CN" dirty="0"/>
              <a:t>AEIAUYDSRTCT</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16</a:t>
            </a:fld>
            <a:endParaRPr kumimoji="1" lang="zh-CN" altLang="en-US" dirty="0"/>
          </a:p>
        </p:txBody>
      </p:sp>
    </p:spTree>
    <p:extLst>
      <p:ext uri="{BB962C8B-B14F-4D97-AF65-F5344CB8AC3E}">
        <p14:creationId xmlns:p14="http://schemas.microsoft.com/office/powerpoint/2010/main" val="1717736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zh-CN" altLang="en-US" dirty="0"/>
              <a:t>换位法</a:t>
            </a:r>
          </a:p>
        </p:txBody>
      </p:sp>
      <p:sp>
        <p:nvSpPr>
          <p:cNvPr id="3" name="内容占位符 2"/>
          <p:cNvSpPr>
            <a:spLocks noGrp="1"/>
          </p:cNvSpPr>
          <p:nvPr>
            <p:ph idx="1"/>
          </p:nvPr>
        </p:nvSpPr>
        <p:spPr/>
        <p:txBody>
          <a:bodyPr>
            <a:normAutofit lnSpcReduction="10000"/>
          </a:bodyPr>
          <a:lstStyle/>
          <a:p>
            <a:pPr>
              <a:lnSpc>
                <a:spcPct val="150000"/>
              </a:lnSpc>
            </a:pPr>
            <a:r>
              <a:rPr lang="zh-CN" altLang="en-US" dirty="0">
                <a:solidFill>
                  <a:srgbClr val="C00000"/>
                </a:solidFill>
              </a:rPr>
              <a:t>周期换位密码</a:t>
            </a:r>
            <a:r>
              <a:rPr lang="zh-CN" altLang="en-US" dirty="0"/>
              <a:t>：以一定的周期来变换明文字符。</a:t>
            </a:r>
          </a:p>
          <a:p>
            <a:pPr lvl="1">
              <a:lnSpc>
                <a:spcPct val="150000"/>
              </a:lnSpc>
            </a:pPr>
            <a:r>
              <a:rPr lang="zh-CN" altLang="en-US" sz="2800" dirty="0"/>
              <a:t>令</a:t>
            </a:r>
            <a:r>
              <a:rPr lang="en-US" altLang="zh-CN" sz="2800" i="1" dirty="0" err="1"/>
              <a:t>Z</a:t>
            </a:r>
            <a:r>
              <a:rPr lang="en-US" altLang="zh-CN" sz="2800" i="1" baseline="-25000" dirty="0" err="1"/>
              <a:t>d</a:t>
            </a:r>
            <a:r>
              <a:rPr lang="zh-CN" altLang="en-US" sz="2800" dirty="0"/>
              <a:t>为从</a:t>
            </a:r>
            <a:r>
              <a:rPr lang="en-US" altLang="zh-CN" sz="2800" dirty="0"/>
              <a:t>1</a:t>
            </a:r>
            <a:r>
              <a:rPr lang="zh-CN" altLang="en-US" sz="2800" dirty="0"/>
              <a:t>到</a:t>
            </a:r>
            <a:r>
              <a:rPr lang="en-US" altLang="zh-CN" sz="2800" i="1" dirty="0"/>
              <a:t>d</a:t>
            </a:r>
            <a:r>
              <a:rPr lang="zh-CN" altLang="en-US" sz="2800" dirty="0"/>
              <a:t>的整数集合，</a:t>
            </a:r>
            <a:r>
              <a:rPr lang="en-US" altLang="zh-CN" sz="2800" dirty="0"/>
              <a:t>f</a:t>
            </a:r>
            <a:r>
              <a:rPr lang="zh-CN" altLang="en-US" sz="2800" dirty="0"/>
              <a:t>：</a:t>
            </a:r>
            <a:r>
              <a:rPr lang="en-US" altLang="zh-CN" sz="2800" dirty="0" err="1"/>
              <a:t>Z</a:t>
            </a:r>
            <a:r>
              <a:rPr lang="en-US" altLang="zh-CN" sz="2800" baseline="-25000" dirty="0" err="1"/>
              <a:t>d</a:t>
            </a:r>
            <a:r>
              <a:rPr lang="en-US" altLang="zh-CN" sz="2800" dirty="0"/>
              <a:t> →</a:t>
            </a:r>
            <a:r>
              <a:rPr lang="en-US" altLang="zh-CN" sz="2800" dirty="0" err="1"/>
              <a:t>Z</a:t>
            </a:r>
            <a:r>
              <a:rPr lang="en-US" altLang="zh-CN" sz="2800" baseline="-25000" dirty="0" err="1"/>
              <a:t>d</a:t>
            </a:r>
            <a:r>
              <a:rPr lang="zh-CN" altLang="en-US" sz="2800" dirty="0"/>
              <a:t>为</a:t>
            </a:r>
            <a:r>
              <a:rPr lang="en-US" altLang="zh-CN" sz="2800" dirty="0" err="1"/>
              <a:t>Z</a:t>
            </a:r>
            <a:r>
              <a:rPr lang="en-US" altLang="zh-CN" sz="2800" baseline="-25000" dirty="0" err="1"/>
              <a:t>d</a:t>
            </a:r>
            <a:r>
              <a:rPr lang="zh-CN" altLang="en-US" sz="2800" dirty="0"/>
              <a:t>上的一个排列，密码的密钥由</a:t>
            </a:r>
            <a:r>
              <a:rPr lang="en-US" altLang="zh-CN" sz="2800" dirty="0"/>
              <a:t>k</a:t>
            </a:r>
            <a:r>
              <a:rPr lang="zh-CN" altLang="en-US" sz="2800" dirty="0"/>
              <a:t>＝</a:t>
            </a:r>
            <a:r>
              <a:rPr lang="en-US" altLang="zh-CN" sz="2800" dirty="0"/>
              <a:t>(d</a:t>
            </a:r>
            <a:r>
              <a:rPr lang="zh-CN" altLang="en-US" sz="2800" dirty="0"/>
              <a:t>，</a:t>
            </a:r>
            <a:r>
              <a:rPr lang="en-US" altLang="zh-CN" sz="2800" dirty="0"/>
              <a:t>f) </a:t>
            </a:r>
            <a:r>
              <a:rPr lang="zh-CN" altLang="en-US" sz="2800" dirty="0"/>
              <a:t>给出。连续的</a:t>
            </a:r>
            <a:r>
              <a:rPr lang="en-US" altLang="zh-CN" sz="2800" dirty="0"/>
              <a:t>d</a:t>
            </a:r>
            <a:r>
              <a:rPr lang="zh-CN" altLang="en-US" sz="2800" dirty="0"/>
              <a:t>个字符由</a:t>
            </a:r>
            <a:r>
              <a:rPr lang="en-US" altLang="zh-CN" sz="2800" dirty="0"/>
              <a:t>f</a:t>
            </a:r>
            <a:r>
              <a:rPr lang="zh-CN" altLang="en-US" sz="2800" dirty="0"/>
              <a:t>来加密。因此，明文信息：</a:t>
            </a:r>
            <a:r>
              <a:rPr lang="en-US" altLang="zh-CN" sz="2800" dirty="0"/>
              <a:t>M</a:t>
            </a:r>
            <a:r>
              <a:rPr lang="zh-CN" altLang="en-US" sz="2800" dirty="0"/>
              <a:t>＝</a:t>
            </a:r>
            <a:r>
              <a:rPr lang="en-US" altLang="zh-CN" sz="2800" dirty="0"/>
              <a:t>m</a:t>
            </a:r>
            <a:r>
              <a:rPr lang="en-US" altLang="zh-CN" sz="2800" baseline="-25000" dirty="0"/>
              <a:t>1</a:t>
            </a:r>
            <a:r>
              <a:rPr lang="en-US" altLang="zh-CN" sz="2800" dirty="0"/>
              <a:t>…m</a:t>
            </a:r>
            <a:r>
              <a:rPr lang="en-US" altLang="zh-CN" sz="2800" baseline="-25000" dirty="0"/>
              <a:t>d</a:t>
            </a:r>
            <a:r>
              <a:rPr lang="en-US" altLang="zh-CN" sz="2800" dirty="0"/>
              <a:t>m</a:t>
            </a:r>
            <a:r>
              <a:rPr lang="en-US" altLang="zh-CN" sz="2800" baseline="-25000" dirty="0"/>
              <a:t>d+1</a:t>
            </a:r>
            <a:r>
              <a:rPr lang="en-US" altLang="zh-CN" sz="2800" dirty="0"/>
              <a:t>…m</a:t>
            </a:r>
            <a:r>
              <a:rPr lang="en-US" altLang="zh-CN" sz="2800" baseline="-25000" dirty="0"/>
              <a:t>2d</a:t>
            </a:r>
            <a:r>
              <a:rPr lang="en-US" altLang="zh-CN" sz="2800" dirty="0"/>
              <a:t>…  </a:t>
            </a:r>
            <a:r>
              <a:rPr lang="zh-CN" altLang="en-US" sz="2800" dirty="0"/>
              <a:t>被加密成密文为：</a:t>
            </a:r>
            <a:r>
              <a:rPr lang="en-US" altLang="zh-CN" sz="2800" dirty="0" err="1"/>
              <a:t>E</a:t>
            </a:r>
            <a:r>
              <a:rPr lang="en-US" altLang="zh-CN" sz="2800" baseline="-25000" dirty="0" err="1"/>
              <a:t>k</a:t>
            </a:r>
            <a:r>
              <a:rPr lang="en-US" altLang="zh-CN" sz="2800" dirty="0"/>
              <a:t>(M)</a:t>
            </a:r>
            <a:r>
              <a:rPr lang="zh-CN" altLang="en-US" sz="2800" dirty="0"/>
              <a:t>＝</a:t>
            </a:r>
            <a:r>
              <a:rPr lang="en-US" altLang="zh-CN" sz="2800" dirty="0"/>
              <a:t>m</a:t>
            </a:r>
            <a:r>
              <a:rPr lang="en-US" altLang="zh-CN" sz="2800" baseline="-25000" dirty="0"/>
              <a:t>f(1)</a:t>
            </a:r>
            <a:r>
              <a:rPr lang="en-US" altLang="zh-CN" sz="2800" dirty="0"/>
              <a:t>…m</a:t>
            </a:r>
            <a:r>
              <a:rPr lang="en-US" altLang="zh-CN" sz="2800" baseline="-25000" dirty="0"/>
              <a:t>f(d)</a:t>
            </a:r>
            <a:r>
              <a:rPr lang="en-US" altLang="zh-CN" sz="2800" dirty="0" err="1"/>
              <a:t>m</a:t>
            </a:r>
            <a:r>
              <a:rPr lang="en-US" altLang="zh-CN" sz="2800" baseline="-25000" dirty="0" err="1"/>
              <a:t>d+f</a:t>
            </a:r>
            <a:r>
              <a:rPr lang="en-US" altLang="zh-CN" sz="2800" baseline="-25000" dirty="0"/>
              <a:t>(1)</a:t>
            </a:r>
            <a:r>
              <a:rPr lang="en-US" altLang="zh-CN" sz="2800" dirty="0"/>
              <a:t>…</a:t>
            </a:r>
            <a:r>
              <a:rPr lang="en-US" altLang="zh-CN" sz="2800" dirty="0" err="1"/>
              <a:t>m</a:t>
            </a:r>
            <a:r>
              <a:rPr lang="en-US" altLang="zh-CN" sz="2800" baseline="-25000" dirty="0" err="1"/>
              <a:t>d+f</a:t>
            </a:r>
            <a:r>
              <a:rPr lang="en-US" altLang="zh-CN" sz="2800" baseline="-25000" dirty="0"/>
              <a:t>(d)</a:t>
            </a:r>
            <a:r>
              <a:rPr lang="en-US" altLang="zh-CN" sz="2800" dirty="0"/>
              <a:t>…</a:t>
            </a:r>
          </a:p>
          <a:p>
            <a:pPr lvl="1">
              <a:lnSpc>
                <a:spcPct val="150000"/>
              </a:lnSpc>
            </a:pPr>
            <a:r>
              <a:rPr lang="zh-CN" altLang="en-US" sz="2800" dirty="0"/>
              <a:t>解密为其逆操作。</a:t>
            </a:r>
          </a:p>
          <a:p>
            <a:pPr lvl="1">
              <a:lnSpc>
                <a:spcPct val="150000"/>
              </a:lnSpc>
            </a:pPr>
            <a:r>
              <a:rPr lang="zh-CN" altLang="en-US" sz="2800" dirty="0"/>
              <a:t>与列换位密码相比，周期换位密码用计算机实现时效率更高。</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17</a:t>
            </a:fld>
            <a:endParaRPr kumimoji="1" lang="zh-CN" altLang="en-US" dirty="0"/>
          </a:p>
        </p:txBody>
      </p:sp>
    </p:spTree>
    <p:extLst>
      <p:ext uri="{BB962C8B-B14F-4D97-AF65-F5344CB8AC3E}">
        <p14:creationId xmlns:p14="http://schemas.microsoft.com/office/powerpoint/2010/main" val="4157481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a:t>
            </a:r>
            <a:r>
              <a:rPr lang="zh-CN" altLang="en-US" dirty="0"/>
              <a:t>换位法</a:t>
            </a:r>
          </a:p>
        </p:txBody>
      </p:sp>
      <p:sp>
        <p:nvSpPr>
          <p:cNvPr id="3" name="内容占位符 2"/>
          <p:cNvSpPr>
            <a:spLocks noGrp="1"/>
          </p:cNvSpPr>
          <p:nvPr>
            <p:ph idx="1"/>
          </p:nvPr>
        </p:nvSpPr>
        <p:spPr/>
        <p:txBody>
          <a:bodyPr>
            <a:normAutofit/>
          </a:bodyPr>
          <a:lstStyle/>
          <a:p>
            <a:pPr lvl="1"/>
            <a:r>
              <a:rPr lang="zh-CN" altLang="en-US" dirty="0"/>
              <a:t>设</a:t>
            </a:r>
            <a:r>
              <a:rPr lang="en-US" altLang="zh-CN" i="1" dirty="0"/>
              <a:t>d</a:t>
            </a:r>
            <a:r>
              <a:rPr lang="zh-CN" altLang="en-US" dirty="0"/>
              <a:t>＝</a:t>
            </a:r>
            <a:r>
              <a:rPr lang="en-US" altLang="zh-CN" dirty="0"/>
              <a:t>4</a:t>
            </a:r>
            <a:r>
              <a:rPr lang="zh-CN" altLang="en-US" dirty="0"/>
              <a:t>，</a:t>
            </a:r>
            <a:r>
              <a:rPr lang="en-US" altLang="zh-CN" i="1" dirty="0"/>
              <a:t>f</a:t>
            </a:r>
            <a:r>
              <a:rPr lang="zh-CN" altLang="en-US" dirty="0"/>
              <a:t>为</a:t>
            </a:r>
          </a:p>
          <a:p>
            <a:pPr>
              <a:buNone/>
            </a:pPr>
            <a:r>
              <a:rPr lang="zh-CN" altLang="en-US" dirty="0"/>
              <a:t>          </a:t>
            </a:r>
            <a:r>
              <a:rPr lang="en-US" altLang="zh-CN" i="1" dirty="0"/>
              <a:t>i</a:t>
            </a:r>
            <a:r>
              <a:rPr lang="en-US" altLang="zh-CN" dirty="0"/>
              <a:t>: 	1	2	3	4</a:t>
            </a:r>
          </a:p>
          <a:p>
            <a:pPr>
              <a:buNone/>
            </a:pPr>
            <a:r>
              <a:rPr lang="en-US" altLang="zh-CN" dirty="0"/>
              <a:t>		</a:t>
            </a:r>
            <a:r>
              <a:rPr lang="en-US" altLang="zh-CN" i="1" dirty="0"/>
              <a:t>f</a:t>
            </a:r>
            <a:r>
              <a:rPr lang="en-US" altLang="zh-CN" dirty="0"/>
              <a:t>(</a:t>
            </a:r>
            <a:r>
              <a:rPr lang="en-US" altLang="zh-CN" i="1" dirty="0" err="1"/>
              <a:t>i</a:t>
            </a:r>
            <a:r>
              <a:rPr lang="en-US" altLang="zh-CN" dirty="0"/>
              <a:t>):	3	1	4	2</a:t>
            </a:r>
          </a:p>
          <a:p>
            <a:pPr lvl="1"/>
            <a:r>
              <a:rPr lang="zh-CN" altLang="en-US" dirty="0"/>
              <a:t>则第</a:t>
            </a:r>
            <a:r>
              <a:rPr lang="en-US" altLang="zh-CN" dirty="0"/>
              <a:t>1</a:t>
            </a:r>
            <a:r>
              <a:rPr lang="zh-CN" altLang="en-US" dirty="0"/>
              <a:t>个明文字母在密文中被移到第</a:t>
            </a:r>
            <a:r>
              <a:rPr lang="en-US" altLang="zh-CN" dirty="0"/>
              <a:t>3</a:t>
            </a:r>
            <a:r>
              <a:rPr lang="zh-CN" altLang="en-US" dirty="0"/>
              <a:t>个位置，而第</a:t>
            </a:r>
            <a:r>
              <a:rPr lang="en-US" altLang="zh-CN" dirty="0"/>
              <a:t>2</a:t>
            </a:r>
            <a:r>
              <a:rPr lang="zh-CN" altLang="en-US" dirty="0"/>
              <a:t>个明文字母被移到第一个位置，依此类推。</a:t>
            </a:r>
          </a:p>
          <a:p>
            <a:pPr lvl="1"/>
            <a:r>
              <a:rPr lang="zh-CN" altLang="en-US" dirty="0"/>
              <a:t>明文</a:t>
            </a:r>
            <a:r>
              <a:rPr lang="en-US" altLang="zh-CN" dirty="0"/>
              <a:t>DATA SECURITY</a:t>
            </a:r>
            <a:r>
              <a:rPr lang="zh-CN" altLang="en-US" dirty="0"/>
              <a:t>被加密为</a:t>
            </a:r>
          </a:p>
          <a:p>
            <a:pPr>
              <a:buNone/>
            </a:pPr>
            <a:r>
              <a:rPr lang="zh-CN" altLang="en-US" dirty="0"/>
              <a:t>			</a:t>
            </a:r>
            <a:r>
              <a:rPr lang="en-US" altLang="zh-CN" i="1" dirty="0"/>
              <a:t>M</a:t>
            </a:r>
            <a:r>
              <a:rPr lang="en-US" altLang="zh-CN" dirty="0"/>
              <a:t> = DATA      SECU      RITY</a:t>
            </a:r>
          </a:p>
          <a:p>
            <a:pPr>
              <a:buNone/>
            </a:pPr>
            <a:r>
              <a:rPr lang="en-US" altLang="zh-CN" dirty="0"/>
              <a:t>     	    </a:t>
            </a:r>
            <a:r>
              <a:rPr lang="en-US" altLang="zh-CN" i="1" dirty="0"/>
              <a:t>E</a:t>
            </a:r>
            <a:r>
              <a:rPr lang="en-US" altLang="zh-CN" i="1" baseline="-25000" dirty="0"/>
              <a:t>k</a:t>
            </a:r>
            <a:r>
              <a:rPr lang="en-US" altLang="zh-CN" dirty="0"/>
              <a:t>(</a:t>
            </a:r>
            <a:r>
              <a:rPr lang="en-US" altLang="zh-CN" i="1" dirty="0"/>
              <a:t>M</a:t>
            </a:r>
            <a:r>
              <a:rPr lang="en-US" altLang="zh-CN" dirty="0"/>
              <a:t>) = AADT     EUSC      IYRT</a:t>
            </a:r>
          </a:p>
          <a:p>
            <a:pPr>
              <a:buNone/>
            </a:pPr>
            <a:r>
              <a:rPr lang="en-US" altLang="zh-CN" sz="2800" dirty="0"/>
              <a:t>                          </a:t>
            </a:r>
            <a:r>
              <a:rPr lang="zh-CN" altLang="en-US" dirty="0"/>
              <a:t>这类似</a:t>
            </a:r>
            <a:r>
              <a:rPr lang="en-US" altLang="zh-CN" dirty="0"/>
              <a:t>example-ii</a:t>
            </a:r>
            <a:r>
              <a:rPr lang="zh-CN" altLang="en-US" dirty="0"/>
              <a:t>，只不过换了一个读取的顺序</a:t>
            </a:r>
            <a:endParaRPr lang="zh-CN" altLang="en-US" sz="2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18</a:t>
            </a:fld>
            <a:endParaRPr kumimoji="1" lang="zh-CN" altLang="en-US" dirty="0"/>
          </a:p>
        </p:txBody>
      </p:sp>
    </p:spTree>
    <p:extLst>
      <p:ext uri="{BB962C8B-B14F-4D97-AF65-F5344CB8AC3E}">
        <p14:creationId xmlns:p14="http://schemas.microsoft.com/office/powerpoint/2010/main" val="2307005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t>3.1 </a:t>
            </a:r>
            <a:r>
              <a:rPr lang="zh-CN" altLang="en-US" sz="3200" dirty="0"/>
              <a:t>密码学的起源与发展</a:t>
            </a:r>
            <a:endParaRPr lang="en-US" altLang="zh-CN" sz="3200" dirty="0"/>
          </a:p>
          <a:p>
            <a:pPr>
              <a:buNone/>
            </a:pPr>
            <a:r>
              <a:rPr lang="en-US" altLang="zh-CN" sz="3200" dirty="0"/>
              <a:t>3.2 </a:t>
            </a:r>
            <a:r>
              <a:rPr lang="zh-CN" altLang="en-US" sz="3200" dirty="0"/>
              <a:t>换位法</a:t>
            </a:r>
          </a:p>
          <a:p>
            <a:pPr>
              <a:buNone/>
            </a:pPr>
            <a:r>
              <a:rPr lang="en-US" altLang="zh-CN" sz="3200" dirty="0">
                <a:solidFill>
                  <a:srgbClr val="FF0000"/>
                </a:solidFill>
              </a:rPr>
              <a:t>3.3 </a:t>
            </a:r>
            <a:r>
              <a:rPr lang="zh-CN" altLang="en-US" sz="3200" dirty="0">
                <a:solidFill>
                  <a:srgbClr val="FF0000"/>
                </a:solidFill>
              </a:rPr>
              <a:t>简单代替密码</a:t>
            </a:r>
          </a:p>
          <a:p>
            <a:pPr>
              <a:buNone/>
            </a:pPr>
            <a:r>
              <a:rPr lang="en-US" altLang="zh-CN" sz="3200" dirty="0"/>
              <a:t>3.4 </a:t>
            </a:r>
            <a:r>
              <a:rPr lang="zh-CN" altLang="en-US" sz="3200" dirty="0"/>
              <a:t>同音代替密码</a:t>
            </a:r>
          </a:p>
          <a:p>
            <a:pPr>
              <a:buNone/>
            </a:pPr>
            <a:r>
              <a:rPr lang="en-US" altLang="zh-CN" sz="3200" dirty="0"/>
              <a:t>3.5 </a:t>
            </a:r>
            <a:r>
              <a:rPr lang="zh-CN" altLang="en-US" sz="3200" dirty="0"/>
              <a:t>多表代替密码</a:t>
            </a:r>
          </a:p>
          <a:p>
            <a:pPr>
              <a:buNone/>
            </a:pPr>
            <a:r>
              <a:rPr lang="en-US" altLang="zh-CN" sz="3200" dirty="0"/>
              <a:t>3.6 </a:t>
            </a:r>
            <a:r>
              <a:rPr lang="zh-CN" altLang="en-US" sz="3200" dirty="0"/>
              <a:t>多字母组代替密码</a:t>
            </a:r>
          </a:p>
          <a:p>
            <a:pPr>
              <a:lnSpc>
                <a:spcPct val="130000"/>
              </a:lnSpc>
              <a:buNone/>
            </a:pPr>
            <a:r>
              <a:rPr lang="en-US" altLang="zh-CN" sz="3200" dirty="0"/>
              <a:t>3.7 </a:t>
            </a:r>
            <a:r>
              <a:rPr lang="zh-CN" altLang="en-US" sz="3200" dirty="0"/>
              <a:t>古典密码分析</a:t>
            </a:r>
            <a:endParaRPr lang="en-US" altLang="zh-CN" sz="32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567053" y="2120328"/>
            <a:ext cx="4122717" cy="2641675"/>
          </a:xfrm>
          <a:prstGeom prst="wedgeRectCallout">
            <a:avLst>
              <a:gd name="adj1" fmla="val -90563"/>
              <a:gd name="adj2" fmla="val -2928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标准字母表代替</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凯撒密码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仿射变换</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单字母频率分析</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9567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3.3 </a:t>
            </a:r>
            <a:r>
              <a:rPr lang="zh-CN" altLang="en-US" dirty="0"/>
              <a:t>简单代替密码</a:t>
            </a:r>
          </a:p>
        </p:txBody>
      </p:sp>
      <p:sp>
        <p:nvSpPr>
          <p:cNvPr id="3" name="内容占位符 2"/>
          <p:cNvSpPr>
            <a:spLocks noGrp="1"/>
          </p:cNvSpPr>
          <p:nvPr>
            <p:ph idx="1"/>
          </p:nvPr>
        </p:nvSpPr>
        <p:spPr>
          <a:xfrm>
            <a:off x="838200" y="1510758"/>
            <a:ext cx="10515600" cy="4982116"/>
          </a:xfrm>
        </p:spPr>
        <p:txBody>
          <a:bodyPr>
            <a:normAutofit fontScale="92500" lnSpcReduction="10000"/>
          </a:bodyPr>
          <a:lstStyle/>
          <a:p>
            <a:pPr>
              <a:lnSpc>
                <a:spcPct val="150000"/>
              </a:lnSpc>
            </a:pPr>
            <a:r>
              <a:rPr lang="zh-CN" altLang="en-US" dirty="0"/>
              <a:t>简单代替密码将明文字母表中的每个字母用密文字母表中相应的字母来代替。</a:t>
            </a:r>
            <a:endParaRPr lang="en-US" altLang="zh-CN" dirty="0"/>
          </a:p>
          <a:p>
            <a:pPr>
              <a:lnSpc>
                <a:spcPct val="150000"/>
              </a:lnSpc>
            </a:pPr>
            <a:r>
              <a:rPr lang="zh-CN" altLang="en-US" dirty="0"/>
              <a:t>令</a:t>
            </a:r>
            <a:r>
              <a:rPr lang="en-US" altLang="zh-CN" dirty="0"/>
              <a:t>A</a:t>
            </a:r>
            <a:r>
              <a:rPr lang="zh-CN" altLang="en-US" dirty="0"/>
              <a:t>为</a:t>
            </a:r>
            <a:r>
              <a:rPr lang="en-US" altLang="zh-CN" dirty="0"/>
              <a:t>n</a:t>
            </a:r>
            <a:r>
              <a:rPr lang="zh-CN" altLang="en-US" dirty="0"/>
              <a:t>个字母的字母表</a:t>
            </a:r>
            <a:r>
              <a:rPr lang="en-US" altLang="zh-CN" dirty="0"/>
              <a:t>{a</a:t>
            </a:r>
            <a:r>
              <a:rPr lang="en-US" altLang="zh-CN" baseline="-25000" dirty="0"/>
              <a:t>0</a:t>
            </a:r>
            <a:r>
              <a:rPr lang="zh-CN" altLang="en-US" dirty="0"/>
              <a:t>，</a:t>
            </a:r>
            <a:r>
              <a:rPr lang="en-US" altLang="zh-CN" dirty="0"/>
              <a:t>a</a:t>
            </a:r>
            <a:r>
              <a:rPr lang="en-US" altLang="zh-CN" baseline="-25000" dirty="0"/>
              <a:t>1</a:t>
            </a:r>
            <a:r>
              <a:rPr lang="zh-CN" altLang="en-US" dirty="0"/>
              <a:t>，</a:t>
            </a:r>
            <a:r>
              <a:rPr lang="en-US" altLang="zh-CN" dirty="0"/>
              <a:t>…</a:t>
            </a:r>
            <a:r>
              <a:rPr lang="zh-CN" altLang="en-US" dirty="0"/>
              <a:t>，</a:t>
            </a:r>
            <a:r>
              <a:rPr lang="en-US" altLang="zh-CN" dirty="0"/>
              <a:t>a</a:t>
            </a:r>
            <a:r>
              <a:rPr lang="en-US" altLang="zh-CN" baseline="-25000" dirty="0"/>
              <a:t>n-1</a:t>
            </a:r>
            <a:r>
              <a:rPr lang="en-US" altLang="zh-CN" dirty="0"/>
              <a:t>}</a:t>
            </a:r>
            <a:r>
              <a:rPr lang="zh-CN" altLang="en-US" dirty="0"/>
              <a:t>，则</a:t>
            </a:r>
            <a:r>
              <a:rPr lang="en-US" altLang="zh-CN" dirty="0"/>
              <a:t>C</a:t>
            </a:r>
            <a:r>
              <a:rPr lang="zh-CN" altLang="en-US" dirty="0"/>
              <a:t>为</a:t>
            </a:r>
            <a:r>
              <a:rPr lang="en-US" altLang="zh-CN" dirty="0"/>
              <a:t>n</a:t>
            </a:r>
            <a:r>
              <a:rPr lang="zh-CN" altLang="en-US" dirty="0"/>
              <a:t>个字母的字母表</a:t>
            </a:r>
            <a:r>
              <a:rPr lang="en-US" altLang="zh-CN" dirty="0"/>
              <a:t>{f(a</a:t>
            </a:r>
            <a:r>
              <a:rPr lang="en-US" altLang="zh-CN" baseline="-25000" dirty="0"/>
              <a:t>0</a:t>
            </a:r>
            <a:r>
              <a:rPr lang="en-US" altLang="zh-CN" dirty="0"/>
              <a:t>)</a:t>
            </a:r>
            <a:r>
              <a:rPr lang="zh-CN" altLang="en-US" dirty="0"/>
              <a:t>，</a:t>
            </a:r>
            <a:r>
              <a:rPr lang="en-US" altLang="zh-CN" dirty="0"/>
              <a:t>f(a</a:t>
            </a:r>
            <a:r>
              <a:rPr lang="en-US" altLang="zh-CN" baseline="-25000" dirty="0"/>
              <a:t>1</a:t>
            </a:r>
            <a:r>
              <a:rPr lang="en-US" altLang="zh-CN" dirty="0"/>
              <a:t>)</a:t>
            </a:r>
            <a:r>
              <a:rPr lang="zh-CN" altLang="en-US" dirty="0"/>
              <a:t>，</a:t>
            </a:r>
            <a:r>
              <a:rPr lang="en-US" altLang="zh-CN" dirty="0"/>
              <a:t>… </a:t>
            </a:r>
            <a:r>
              <a:rPr lang="zh-CN" altLang="en-US" dirty="0"/>
              <a:t>，</a:t>
            </a:r>
            <a:r>
              <a:rPr lang="en-US" altLang="zh-CN" dirty="0"/>
              <a:t>f(a</a:t>
            </a:r>
            <a:r>
              <a:rPr lang="en-US" altLang="zh-CN" baseline="-25000" dirty="0"/>
              <a:t>n-1</a:t>
            </a:r>
            <a:r>
              <a:rPr lang="en-US" altLang="zh-CN" dirty="0"/>
              <a:t>)}</a:t>
            </a:r>
            <a:r>
              <a:rPr lang="zh-CN" altLang="en-US" dirty="0"/>
              <a:t>，其中</a:t>
            </a:r>
            <a:r>
              <a:rPr lang="en-US" altLang="zh-CN" dirty="0"/>
              <a:t>f</a:t>
            </a:r>
            <a:r>
              <a:rPr lang="zh-CN" altLang="en-US" dirty="0"/>
              <a:t>：</a:t>
            </a:r>
            <a:r>
              <a:rPr lang="en-US" altLang="zh-CN" dirty="0"/>
              <a:t>A→C</a:t>
            </a:r>
            <a:r>
              <a:rPr lang="zh-CN" altLang="en-US" dirty="0"/>
              <a:t>为从</a:t>
            </a:r>
            <a:r>
              <a:rPr lang="en-US" altLang="zh-CN" dirty="0"/>
              <a:t>A</a:t>
            </a:r>
            <a:r>
              <a:rPr lang="zh-CN" altLang="en-US" dirty="0"/>
              <a:t>中的每个字母到</a:t>
            </a:r>
            <a:r>
              <a:rPr lang="en-US" altLang="zh-CN" dirty="0"/>
              <a:t>C</a:t>
            </a:r>
            <a:r>
              <a:rPr lang="zh-CN" altLang="en-US" dirty="0"/>
              <a:t>中的相应字母的一对一映射。密码的密钥由</a:t>
            </a:r>
            <a:r>
              <a:rPr lang="en-US" altLang="zh-CN" dirty="0"/>
              <a:t>C</a:t>
            </a:r>
            <a:r>
              <a:rPr lang="zh-CN" altLang="en-US" dirty="0"/>
              <a:t>给出，或者说，由函数 </a:t>
            </a:r>
            <a:r>
              <a:rPr lang="en-US" altLang="zh-CN" dirty="0"/>
              <a:t>f </a:t>
            </a:r>
            <a:r>
              <a:rPr lang="zh-CN" altLang="en-US" dirty="0"/>
              <a:t>给出。</a:t>
            </a:r>
          </a:p>
          <a:p>
            <a:pPr>
              <a:lnSpc>
                <a:spcPct val="150000"/>
              </a:lnSpc>
            </a:pPr>
            <a:r>
              <a:rPr lang="zh-CN" altLang="en-US" dirty="0"/>
              <a:t>若明文信息为：</a:t>
            </a:r>
            <a:r>
              <a:rPr lang="en-US" altLang="zh-CN" dirty="0"/>
              <a:t>M = m</a:t>
            </a:r>
            <a:r>
              <a:rPr lang="en-US" altLang="zh-CN" baseline="-25000" dirty="0"/>
              <a:t>1</a:t>
            </a:r>
            <a:r>
              <a:rPr lang="zh-CN" altLang="en-US" dirty="0"/>
              <a:t>，</a:t>
            </a:r>
            <a:r>
              <a:rPr lang="en-US" altLang="zh-CN" dirty="0"/>
              <a:t>m</a:t>
            </a:r>
            <a:r>
              <a:rPr lang="en-US" altLang="zh-CN" baseline="-25000" dirty="0"/>
              <a:t>2</a:t>
            </a:r>
            <a:r>
              <a:rPr lang="zh-CN" altLang="en-US" dirty="0"/>
              <a:t>，</a:t>
            </a:r>
            <a:r>
              <a:rPr lang="en-US" altLang="zh-CN" dirty="0"/>
              <a:t>…  </a:t>
            </a:r>
            <a:r>
              <a:rPr lang="zh-CN" altLang="en-US" dirty="0"/>
              <a:t>，则密文为：</a:t>
            </a:r>
            <a:r>
              <a:rPr lang="en-US" altLang="zh-CN" dirty="0" err="1"/>
              <a:t>E</a:t>
            </a:r>
            <a:r>
              <a:rPr lang="en-US" altLang="zh-CN" baseline="-25000" dirty="0" err="1"/>
              <a:t>k</a:t>
            </a:r>
            <a:r>
              <a:rPr lang="en-US" altLang="zh-CN" dirty="0"/>
              <a:t>(M) = f(m</a:t>
            </a:r>
            <a:r>
              <a:rPr lang="en-US" altLang="zh-CN" baseline="-25000" dirty="0"/>
              <a:t>1</a:t>
            </a:r>
            <a:r>
              <a:rPr lang="en-US" altLang="zh-CN" dirty="0"/>
              <a:t>)f(m</a:t>
            </a:r>
            <a:r>
              <a:rPr lang="en-US" altLang="zh-CN" baseline="-25000" dirty="0"/>
              <a:t>2</a:t>
            </a:r>
            <a:r>
              <a:rPr lang="en-US" altLang="zh-CN" dirty="0"/>
              <a:t>)…</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20</a:t>
            </a:fld>
            <a:endParaRPr kumimoji="1" lang="zh-CN" altLang="en-US" dirty="0"/>
          </a:p>
        </p:txBody>
      </p:sp>
    </p:spTree>
    <p:extLst>
      <p:ext uri="{BB962C8B-B14F-4D97-AF65-F5344CB8AC3E}">
        <p14:creationId xmlns:p14="http://schemas.microsoft.com/office/powerpoint/2010/main" val="2220073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149225">
              <a:lnSpc>
                <a:spcPct val="130000"/>
              </a:lnSpc>
              <a:spcBef>
                <a:spcPts val="600"/>
              </a:spcBef>
            </a:pPr>
            <a:r>
              <a:rPr lang="en-US" altLang="zh-CN" dirty="0"/>
              <a:t>3.3.1 </a:t>
            </a:r>
            <a:r>
              <a:rPr kumimoji="1" lang="zh-CN" altLang="en-US" dirty="0">
                <a:solidFill>
                  <a:prstClr val="black"/>
                </a:solidFill>
              </a:rPr>
              <a:t>标准字母表代替</a:t>
            </a:r>
            <a:endParaRPr kumimoji="1" lang="en-US" altLang="zh-CN" dirty="0">
              <a:solidFill>
                <a:prstClr val="black"/>
              </a:solidFill>
            </a:endParaRPr>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lang="zh-CN" altLang="en-US" dirty="0"/>
              <a:t>设</a:t>
            </a:r>
            <a:r>
              <a:rPr lang="en-US" altLang="zh-CN" dirty="0"/>
              <a:t>f</a:t>
            </a:r>
            <a:r>
              <a:rPr lang="zh-CN" altLang="en-US" dirty="0"/>
              <a:t>从标准的英语字母表</a:t>
            </a:r>
            <a:r>
              <a:rPr lang="en-US" altLang="zh-CN" i="1" dirty="0"/>
              <a:t>A=</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a:t>
            </a:r>
            <a:r>
              <a:rPr lang="zh-CN" altLang="en-US" dirty="0"/>
              <a:t>，</a:t>
            </a:r>
            <a:r>
              <a:rPr lang="en-US" altLang="zh-CN" dirty="0"/>
              <a:t>Z}</a:t>
            </a:r>
            <a:r>
              <a:rPr lang="zh-CN" altLang="en-US" dirty="0"/>
              <a:t>映射到如下的密文字母表</a:t>
            </a:r>
            <a:r>
              <a:rPr lang="en-US" altLang="zh-CN" i="1" dirty="0"/>
              <a:t>C</a:t>
            </a:r>
            <a:r>
              <a:rPr lang="zh-CN" altLang="en-US" dirty="0"/>
              <a:t>：</a:t>
            </a:r>
          </a:p>
          <a:p>
            <a:pPr>
              <a:lnSpc>
                <a:spcPct val="150000"/>
              </a:lnSpc>
              <a:buNone/>
            </a:pPr>
            <a:r>
              <a:rPr lang="zh-CN" altLang="en-US" dirty="0"/>
              <a:t>  </a:t>
            </a:r>
            <a:r>
              <a:rPr lang="en-US" altLang="zh-CN" i="1" dirty="0"/>
              <a:t>A</a:t>
            </a:r>
            <a:r>
              <a:rPr lang="zh-CN" altLang="en-US" dirty="0"/>
              <a:t>：</a:t>
            </a:r>
            <a:r>
              <a:rPr lang="en-US" altLang="zh-CN" dirty="0"/>
              <a:t>ABCDEFGHIJKLMNOPQRSTUVWXYZ</a:t>
            </a:r>
          </a:p>
          <a:p>
            <a:pPr>
              <a:lnSpc>
                <a:spcPct val="150000"/>
              </a:lnSpc>
              <a:buNone/>
            </a:pPr>
            <a:r>
              <a:rPr lang="en-US" altLang="zh-CN" i="1" dirty="0"/>
              <a:t>  C</a:t>
            </a:r>
            <a:r>
              <a:rPr lang="zh-CN" altLang="en-US" dirty="0"/>
              <a:t>：</a:t>
            </a:r>
            <a:r>
              <a:rPr lang="en-US" altLang="zh-CN" dirty="0"/>
              <a:t>HARPSICODBEFGJKLMNQTUVWXYZ</a:t>
            </a:r>
          </a:p>
          <a:p>
            <a:pPr>
              <a:lnSpc>
                <a:spcPct val="150000"/>
              </a:lnSpc>
              <a:buNone/>
            </a:pPr>
            <a:r>
              <a:rPr lang="en-US" altLang="zh-CN" dirty="0"/>
              <a:t>   </a:t>
            </a:r>
            <a:r>
              <a:rPr lang="zh-CN" altLang="en-US" dirty="0"/>
              <a:t>则明文</a:t>
            </a:r>
            <a:r>
              <a:rPr lang="en-US" altLang="zh-CN" dirty="0"/>
              <a:t>INTELLIGENT</a:t>
            </a:r>
            <a:r>
              <a:rPr lang="zh-CN" altLang="en-US" dirty="0"/>
              <a:t>被加密为：</a:t>
            </a:r>
          </a:p>
          <a:p>
            <a:pPr>
              <a:lnSpc>
                <a:spcPct val="150000"/>
              </a:lnSpc>
              <a:buNone/>
            </a:pPr>
            <a:r>
              <a:rPr lang="zh-CN" altLang="en-US" dirty="0"/>
              <a:t>   	        	</a:t>
            </a:r>
            <a:r>
              <a:rPr lang="en-US" altLang="zh-CN" i="1" dirty="0"/>
              <a:t>M</a:t>
            </a:r>
            <a:r>
              <a:rPr lang="en-US" altLang="zh-CN" dirty="0"/>
              <a:t>=INTELLIGENT</a:t>
            </a:r>
          </a:p>
          <a:p>
            <a:pPr>
              <a:lnSpc>
                <a:spcPct val="150000"/>
              </a:lnSpc>
              <a:buNone/>
            </a:pPr>
            <a:r>
              <a:rPr lang="en-US" altLang="zh-CN" dirty="0"/>
              <a:t>		          </a:t>
            </a:r>
            <a:r>
              <a:rPr lang="en-US" altLang="zh-CN" i="1" dirty="0" err="1"/>
              <a:t>E</a:t>
            </a:r>
            <a:r>
              <a:rPr lang="en-US" altLang="zh-CN" i="1" baseline="-25000" dirty="0" err="1"/>
              <a:t>k</a:t>
            </a:r>
            <a:r>
              <a:rPr lang="en-US" altLang="zh-CN" dirty="0"/>
              <a:t>(</a:t>
            </a:r>
            <a:r>
              <a:rPr lang="en-US" altLang="zh-CN" i="1" dirty="0"/>
              <a:t>M</a:t>
            </a:r>
            <a:r>
              <a:rPr lang="en-US" altLang="zh-CN" dirty="0"/>
              <a:t>)=DJTSFFDCSJT</a:t>
            </a:r>
          </a:p>
          <a:p>
            <a:pPr>
              <a:buNone/>
            </a:pP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21</a:t>
            </a:fld>
            <a:endParaRPr kumimoji="1" lang="zh-CN" altLang="en-US" dirty="0"/>
          </a:p>
        </p:txBody>
      </p:sp>
    </p:spTree>
    <p:extLst>
      <p:ext uri="{BB962C8B-B14F-4D97-AF65-F5344CB8AC3E}">
        <p14:creationId xmlns:p14="http://schemas.microsoft.com/office/powerpoint/2010/main" val="3506876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3.3.2 </a:t>
            </a:r>
            <a:r>
              <a:rPr lang="zh-CN" altLang="en-US" dirty="0"/>
              <a:t>凯撒密码</a:t>
            </a:r>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lang="zh-CN" altLang="en-US" dirty="0">
                <a:solidFill>
                  <a:srgbClr val="C00000"/>
                </a:solidFill>
              </a:rPr>
              <a:t>恺撒密码</a:t>
            </a:r>
            <a:r>
              <a:rPr lang="zh-CN" altLang="en-US" dirty="0"/>
              <a:t>：基于移位字母表（有时也成为直接标准字母表）的密码，将字母表的字母右移</a:t>
            </a:r>
            <a:r>
              <a:rPr lang="en-US" altLang="zh-CN" dirty="0"/>
              <a:t>K</a:t>
            </a:r>
            <a:r>
              <a:rPr lang="zh-CN" altLang="en-US" dirty="0"/>
              <a:t>个位置，并对字母表长度做模运算，形式为：</a:t>
            </a:r>
          </a:p>
          <a:p>
            <a:pPr>
              <a:lnSpc>
                <a:spcPct val="150000"/>
              </a:lnSpc>
            </a:pPr>
            <a:r>
              <a:rPr lang="zh-CN" altLang="en-US" dirty="0"/>
              <a:t>             </a:t>
            </a:r>
            <a:r>
              <a:rPr lang="en-US" altLang="zh-CN" dirty="0"/>
              <a:t>f(a) = (</a:t>
            </a:r>
            <a:r>
              <a:rPr lang="en-US" altLang="zh-CN" dirty="0" err="1"/>
              <a:t>a+k</a:t>
            </a:r>
            <a:r>
              <a:rPr lang="en-US" altLang="zh-CN" dirty="0"/>
              <a:t>) mod  n</a:t>
            </a:r>
          </a:p>
          <a:p>
            <a:pPr lvl="1">
              <a:lnSpc>
                <a:spcPct val="150000"/>
              </a:lnSpc>
            </a:pPr>
            <a:r>
              <a:rPr lang="zh-CN" altLang="en-US" sz="2800" dirty="0"/>
              <a:t>令</a:t>
            </a:r>
            <a:r>
              <a:rPr lang="en-US" altLang="zh-CN" sz="2800" dirty="0"/>
              <a:t>k=3</a:t>
            </a:r>
            <a:r>
              <a:rPr lang="zh-CN" altLang="en-US" sz="2800" dirty="0"/>
              <a:t>，</a:t>
            </a:r>
            <a:r>
              <a:rPr lang="en-US" altLang="zh-CN" sz="2800" dirty="0"/>
              <a:t>n=26</a:t>
            </a:r>
            <a:r>
              <a:rPr lang="zh-CN" altLang="en-US" sz="2800" dirty="0"/>
              <a:t>，明文：</a:t>
            </a:r>
            <a:r>
              <a:rPr lang="en-US" altLang="zh-CN" sz="2800" dirty="0"/>
              <a:t>M=Message</a:t>
            </a:r>
            <a:r>
              <a:rPr lang="zh-CN" altLang="en-US" sz="2800" dirty="0"/>
              <a:t>，则密文为：</a:t>
            </a:r>
            <a:r>
              <a:rPr lang="en-US" altLang="zh-CN" sz="2800" dirty="0" err="1"/>
              <a:t>Phvvdjh</a:t>
            </a:r>
            <a:endParaRPr lang="en-US" altLang="zh-CN" sz="2800" dirty="0"/>
          </a:p>
          <a:p>
            <a:pPr>
              <a:lnSpc>
                <a:spcPct val="150000"/>
              </a:lnSpc>
            </a:pPr>
            <a:r>
              <a:rPr lang="zh-CN" altLang="en-US" dirty="0"/>
              <a:t>基于标准字母表乘法的密码：</a:t>
            </a:r>
          </a:p>
          <a:p>
            <a:pPr lvl="1">
              <a:lnSpc>
                <a:spcPct val="150000"/>
              </a:lnSpc>
            </a:pPr>
            <a:r>
              <a:rPr lang="en-US" altLang="zh-CN" sz="2800" dirty="0"/>
              <a:t>f(a) =  a </a:t>
            </a:r>
            <a:r>
              <a:rPr lang="en-US" altLang="zh-CN" sz="2800" dirty="0">
                <a:sym typeface="Symbol" panose="05050102010706020507" pitchFamily="18" charset="2"/>
              </a:rPr>
              <a:t>·</a:t>
            </a:r>
            <a:r>
              <a:rPr lang="en-US" altLang="zh-CN" sz="2800" dirty="0"/>
              <a:t> k  mod  n</a:t>
            </a:r>
            <a:r>
              <a:rPr lang="zh-CN" altLang="en-US" sz="2800" dirty="0"/>
              <a:t>，其中</a:t>
            </a:r>
            <a:r>
              <a:rPr lang="en-US" altLang="zh-CN" sz="2800" dirty="0"/>
              <a:t>k</a:t>
            </a:r>
            <a:r>
              <a:rPr lang="zh-CN" altLang="en-US" sz="2800" dirty="0"/>
              <a:t>和</a:t>
            </a:r>
            <a:r>
              <a:rPr lang="en-US" altLang="zh-CN" sz="2800" dirty="0"/>
              <a:t>n</a:t>
            </a:r>
            <a:r>
              <a:rPr lang="zh-CN" altLang="en-US" sz="2800" dirty="0"/>
              <a:t>为互素的。</a:t>
            </a:r>
          </a:p>
          <a:p>
            <a:pPr>
              <a:buNone/>
            </a:pP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22</a:t>
            </a:fld>
            <a:endParaRPr kumimoji="1" lang="zh-CN" altLang="en-US" dirty="0"/>
          </a:p>
        </p:txBody>
      </p:sp>
    </p:spTree>
    <p:extLst>
      <p:ext uri="{BB962C8B-B14F-4D97-AF65-F5344CB8AC3E}">
        <p14:creationId xmlns:p14="http://schemas.microsoft.com/office/powerpoint/2010/main" val="1372320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3.3.2 </a:t>
            </a:r>
            <a:r>
              <a:rPr lang="zh-CN" altLang="en-US" dirty="0"/>
              <a:t>凯撒密码</a:t>
            </a:r>
          </a:p>
        </p:txBody>
      </p:sp>
      <p:sp>
        <p:nvSpPr>
          <p:cNvPr id="3" name="内容占位符 2"/>
          <p:cNvSpPr>
            <a:spLocks noGrp="1"/>
          </p:cNvSpPr>
          <p:nvPr>
            <p:ph idx="1"/>
          </p:nvPr>
        </p:nvSpPr>
        <p:spPr>
          <a:xfrm>
            <a:off x="732693" y="1510758"/>
            <a:ext cx="10515600" cy="4982116"/>
          </a:xfrm>
        </p:spPr>
        <p:txBody>
          <a:bodyPr>
            <a:normAutofit fontScale="92500" lnSpcReduction="10000"/>
          </a:bodyPr>
          <a:lstStyle/>
          <a:p>
            <a:pPr algn="just">
              <a:lnSpc>
                <a:spcPct val="11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例</a:t>
            </a:r>
            <a:r>
              <a:rPr kumimoji="1" lang="en-US" altLang="zh-CN" dirty="0">
                <a:latin typeface="Times New Roman" panose="02020603050405020304" pitchFamily="18" charset="0"/>
              </a:rPr>
              <a:t>2.4</a:t>
            </a:r>
            <a:r>
              <a:rPr kumimoji="1" lang="zh-CN" altLang="en-US" dirty="0">
                <a:latin typeface="Times New Roman" panose="02020603050405020304" pitchFamily="18" charset="0"/>
              </a:rPr>
              <a:t> 恺撒（</a:t>
            </a:r>
            <a:r>
              <a:rPr kumimoji="1" lang="en-US" altLang="zh-CN" dirty="0">
                <a:latin typeface="Times New Roman" panose="02020603050405020304" pitchFamily="18" charset="0"/>
              </a:rPr>
              <a:t>Caesar</a:t>
            </a:r>
            <a:r>
              <a:rPr kumimoji="1" lang="zh-CN" altLang="en-US" dirty="0">
                <a:latin typeface="Times New Roman" panose="02020603050405020304" pitchFamily="18" charset="0"/>
              </a:rPr>
              <a:t>）密码是</a:t>
            </a:r>
            <a:r>
              <a:rPr kumimoji="1" lang="en-US" altLang="zh-CN" dirty="0">
                <a:latin typeface="Times New Roman" panose="02020603050405020304" pitchFamily="18" charset="0"/>
              </a:rPr>
              <a:t>k</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3</a:t>
            </a:r>
            <a:r>
              <a:rPr kumimoji="1" lang="zh-CN" altLang="en-US" dirty="0">
                <a:latin typeface="Times New Roman" panose="02020603050405020304" pitchFamily="18" charset="0"/>
              </a:rPr>
              <a:t>的情况。即通过简单的向右移动源字母表</a:t>
            </a:r>
            <a:r>
              <a:rPr kumimoji="1" lang="en-US" altLang="zh-CN" dirty="0">
                <a:latin typeface="Times New Roman" panose="02020603050405020304" pitchFamily="18" charset="0"/>
              </a:rPr>
              <a:t>3</a:t>
            </a:r>
            <a:r>
              <a:rPr kumimoji="1" lang="zh-CN" altLang="en-US" dirty="0">
                <a:latin typeface="Times New Roman" panose="02020603050405020304" pitchFamily="18" charset="0"/>
              </a:rPr>
              <a:t>个字母则形成如下代换字母表 </a:t>
            </a:r>
          </a:p>
          <a:p>
            <a:pPr algn="just">
              <a:lnSpc>
                <a:spcPct val="110000"/>
              </a:lnSpc>
              <a:spcBef>
                <a:spcPct val="20000"/>
              </a:spcBef>
              <a:buClr>
                <a:schemeClr val="accent2"/>
              </a:buClr>
              <a:buSzPct val="55000"/>
              <a:buFont typeface="Wingdings" panose="05000000000000000000" pitchFamily="2" charset="2"/>
              <a:buChar char="l"/>
            </a:pPr>
            <a:endParaRPr kumimoji="1" lang="zh-CN" altLang="en-US" dirty="0">
              <a:latin typeface="Times New Roman" panose="02020603050405020304" pitchFamily="18" charset="0"/>
            </a:endParaRPr>
          </a:p>
          <a:p>
            <a:pPr algn="just">
              <a:lnSpc>
                <a:spcPct val="110000"/>
              </a:lnSpc>
              <a:spcBef>
                <a:spcPct val="20000"/>
              </a:spcBef>
              <a:buClr>
                <a:schemeClr val="accent2"/>
              </a:buClr>
              <a:buSzPct val="55000"/>
              <a:buFont typeface="Wingdings" panose="05000000000000000000" pitchFamily="2" charset="2"/>
              <a:buChar char="l"/>
            </a:pPr>
            <a:endParaRPr kumimoji="1" lang="zh-CN" altLang="en-US" dirty="0">
              <a:latin typeface="Times New Roman" panose="02020603050405020304" pitchFamily="18" charset="0"/>
            </a:endParaRPr>
          </a:p>
          <a:p>
            <a:pPr algn="just">
              <a:lnSpc>
                <a:spcPct val="110000"/>
              </a:lnSpc>
              <a:spcBef>
                <a:spcPct val="20000"/>
              </a:spcBef>
              <a:buClr>
                <a:schemeClr val="accent2"/>
              </a:buClr>
              <a:buSzPct val="55000"/>
              <a:buFont typeface="Wingdings" panose="05000000000000000000" pitchFamily="2" charset="2"/>
              <a:buChar char="l"/>
            </a:pPr>
            <a:endParaRPr kumimoji="1" lang="zh-CN" altLang="en-US" dirty="0">
              <a:latin typeface="Times New Roman" panose="02020603050405020304" pitchFamily="18" charset="0"/>
            </a:endParaRPr>
          </a:p>
          <a:p>
            <a:pPr algn="just">
              <a:lnSpc>
                <a:spcPct val="110000"/>
              </a:lnSpc>
              <a:spcBef>
                <a:spcPct val="20000"/>
              </a:spcBef>
              <a:buClr>
                <a:schemeClr val="accent2"/>
              </a:buClr>
              <a:buSzPct val="55000"/>
              <a:buFont typeface="Wingdings" panose="05000000000000000000" pitchFamily="2" charset="2"/>
              <a:buChar char="l"/>
            </a:pPr>
            <a:endParaRPr kumimoji="1" lang="zh-CN" altLang="en-US" dirty="0">
              <a:latin typeface="Times New Roman" panose="02020603050405020304" pitchFamily="18" charset="0"/>
            </a:endParaRPr>
          </a:p>
          <a:p>
            <a:pPr algn="just">
              <a:lnSpc>
                <a:spcPct val="110000"/>
              </a:lnSpc>
              <a:spcBef>
                <a:spcPct val="20000"/>
              </a:spcBef>
              <a:buClr>
                <a:schemeClr val="accent2"/>
              </a:buClr>
              <a:buSzPct val="55000"/>
              <a:buFont typeface="Wingdings" panose="05000000000000000000" pitchFamily="2" charset="2"/>
              <a:buChar char="l"/>
            </a:pPr>
            <a:endParaRPr kumimoji="1" lang="zh-CN" altLang="en-US" dirty="0">
              <a:latin typeface="Times New Roman" panose="02020603050405020304" pitchFamily="18" charset="0"/>
            </a:endParaRPr>
          </a:p>
          <a:p>
            <a:pPr algn="just">
              <a:lnSpc>
                <a:spcPct val="110000"/>
              </a:lnSpc>
              <a:spcBef>
                <a:spcPct val="20000"/>
              </a:spcBef>
              <a:buClr>
                <a:schemeClr val="accent2"/>
              </a:buClr>
              <a:buSzPct val="55000"/>
              <a:buFont typeface="Wingdings" panose="05000000000000000000" pitchFamily="2" charset="2"/>
              <a:buChar char="l"/>
            </a:pPr>
            <a:endParaRPr kumimoji="1" lang="zh-CN" altLang="en-US" dirty="0">
              <a:latin typeface="Times New Roman" panose="02020603050405020304" pitchFamily="18" charset="0"/>
            </a:endParaRPr>
          </a:p>
          <a:p>
            <a:pPr algn="just">
              <a:lnSpc>
                <a:spcPct val="11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若明文为： </a:t>
            </a:r>
            <a:r>
              <a:rPr kumimoji="1" lang="en-US" altLang="zh-CN" dirty="0">
                <a:latin typeface="Times New Roman" panose="02020603050405020304" pitchFamily="18" charset="0"/>
              </a:rPr>
              <a:t>please    confirm    receipt</a:t>
            </a:r>
          </a:p>
          <a:p>
            <a:pPr algn="just">
              <a:lnSpc>
                <a:spcPct val="110000"/>
              </a:lnSpc>
              <a:spcBef>
                <a:spcPct val="20000"/>
              </a:spcBef>
              <a:buClr>
                <a:schemeClr val="accent2"/>
              </a:buClr>
              <a:buSzPct val="55000"/>
              <a:buNone/>
            </a:pPr>
            <a:r>
              <a:rPr kumimoji="1" lang="zh-CN" altLang="en-US" dirty="0">
                <a:latin typeface="Times New Roman" panose="02020603050405020304" pitchFamily="18" charset="0"/>
              </a:rPr>
              <a:t>则密文为：</a:t>
            </a:r>
            <a:r>
              <a:rPr kumimoji="1" lang="en-US" altLang="zh-CN" dirty="0">
                <a:latin typeface="Times New Roman" panose="02020603050405020304" pitchFamily="18" charset="0"/>
              </a:rPr>
              <a:t>SOHDVH  FRQILUP  UHFHLSW </a:t>
            </a:r>
          </a:p>
          <a:p>
            <a:pPr>
              <a:buNone/>
            </a:pP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23</a:t>
            </a:fld>
            <a:endParaRPr kumimoji="1" lang="zh-CN" altLang="en-US" dirty="0"/>
          </a:p>
        </p:txBody>
      </p:sp>
      <p:graphicFrame>
        <p:nvGraphicFramePr>
          <p:cNvPr id="5" name="Group 3"/>
          <p:cNvGraphicFramePr>
            <a:graphicFrameLocks/>
          </p:cNvGraphicFramePr>
          <p:nvPr>
            <p:extLst>
              <p:ext uri="{D42A27DB-BD31-4B8C-83A1-F6EECF244321}">
                <p14:modId xmlns:p14="http://schemas.microsoft.com/office/powerpoint/2010/main" val="3008486449"/>
              </p:ext>
            </p:extLst>
          </p:nvPr>
        </p:nvGraphicFramePr>
        <p:xfrm>
          <a:off x="1751013" y="2553195"/>
          <a:ext cx="7697787" cy="1095376"/>
        </p:xfrm>
        <a:graphic>
          <a:graphicData uri="http://schemas.openxmlformats.org/drawingml/2006/table">
            <a:tbl>
              <a:tblPr/>
              <a:tblGrid>
                <a:gridCol w="612775">
                  <a:extLst>
                    <a:ext uri="{9D8B030D-6E8A-4147-A177-3AD203B41FA5}">
                      <a16:colId xmlns:a16="http://schemas.microsoft.com/office/drawing/2014/main" val="20000"/>
                    </a:ext>
                  </a:extLst>
                </a:gridCol>
                <a:gridCol w="544512">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476250">
                  <a:extLst>
                    <a:ext uri="{9D8B030D-6E8A-4147-A177-3AD203B41FA5}">
                      <a16:colId xmlns:a16="http://schemas.microsoft.com/office/drawing/2014/main" val="20003"/>
                    </a:ext>
                  </a:extLst>
                </a:gridCol>
                <a:gridCol w="612775">
                  <a:extLst>
                    <a:ext uri="{9D8B030D-6E8A-4147-A177-3AD203B41FA5}">
                      <a16:colId xmlns:a16="http://schemas.microsoft.com/office/drawing/2014/main" val="20004"/>
                    </a:ext>
                  </a:extLst>
                </a:gridCol>
                <a:gridCol w="492125">
                  <a:extLst>
                    <a:ext uri="{9D8B030D-6E8A-4147-A177-3AD203B41FA5}">
                      <a16:colId xmlns:a16="http://schemas.microsoft.com/office/drawing/2014/main" val="20005"/>
                    </a:ext>
                  </a:extLst>
                </a:gridCol>
                <a:gridCol w="530225">
                  <a:extLst>
                    <a:ext uri="{9D8B030D-6E8A-4147-A177-3AD203B41FA5}">
                      <a16:colId xmlns:a16="http://schemas.microsoft.com/office/drawing/2014/main" val="20006"/>
                    </a:ext>
                  </a:extLst>
                </a:gridCol>
                <a:gridCol w="477838">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38162">
                  <a:extLst>
                    <a:ext uri="{9D8B030D-6E8A-4147-A177-3AD203B41FA5}">
                      <a16:colId xmlns:a16="http://schemas.microsoft.com/office/drawing/2014/main" val="20009"/>
                    </a:ext>
                  </a:extLst>
                </a:gridCol>
                <a:gridCol w="623888">
                  <a:extLst>
                    <a:ext uri="{9D8B030D-6E8A-4147-A177-3AD203B41FA5}">
                      <a16:colId xmlns:a16="http://schemas.microsoft.com/office/drawing/2014/main" val="20010"/>
                    </a:ext>
                  </a:extLst>
                </a:gridCol>
                <a:gridCol w="576262">
                  <a:extLst>
                    <a:ext uri="{9D8B030D-6E8A-4147-A177-3AD203B41FA5}">
                      <a16:colId xmlns:a16="http://schemas.microsoft.com/office/drawing/2014/main" val="20011"/>
                    </a:ext>
                  </a:extLst>
                </a:gridCol>
                <a:gridCol w="568325">
                  <a:extLst>
                    <a:ext uri="{9D8B030D-6E8A-4147-A177-3AD203B41FA5}">
                      <a16:colId xmlns:a16="http://schemas.microsoft.com/office/drawing/2014/main" val="20012"/>
                    </a:ext>
                  </a:extLst>
                </a:gridCol>
                <a:gridCol w="593725">
                  <a:extLst>
                    <a:ext uri="{9D8B030D-6E8A-4147-A177-3AD203B41FA5}">
                      <a16:colId xmlns:a16="http://schemas.microsoft.com/office/drawing/2014/main" val="20013"/>
                    </a:ext>
                  </a:extLst>
                </a:gridCol>
              </a:tblGrid>
              <a:tr h="547688">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rPr>
                        <a:t>Θ:</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g</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j</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l</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7688">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rPr>
                        <a:t>Ξ:</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J</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 name="Group 3"/>
          <p:cNvGraphicFramePr>
            <a:graphicFrameLocks/>
          </p:cNvGraphicFramePr>
          <p:nvPr>
            <p:extLst>
              <p:ext uri="{D42A27DB-BD31-4B8C-83A1-F6EECF244321}">
                <p14:modId xmlns:p14="http://schemas.microsoft.com/office/powerpoint/2010/main" val="3055261886"/>
              </p:ext>
            </p:extLst>
          </p:nvPr>
        </p:nvGraphicFramePr>
        <p:xfrm>
          <a:off x="1751012" y="4001816"/>
          <a:ext cx="7697787" cy="1095376"/>
        </p:xfrm>
        <a:graphic>
          <a:graphicData uri="http://schemas.openxmlformats.org/drawingml/2006/table">
            <a:tbl>
              <a:tblPr/>
              <a:tblGrid>
                <a:gridCol w="612775">
                  <a:extLst>
                    <a:ext uri="{9D8B030D-6E8A-4147-A177-3AD203B41FA5}">
                      <a16:colId xmlns:a16="http://schemas.microsoft.com/office/drawing/2014/main" val="20000"/>
                    </a:ext>
                  </a:extLst>
                </a:gridCol>
                <a:gridCol w="544512">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476250">
                  <a:extLst>
                    <a:ext uri="{9D8B030D-6E8A-4147-A177-3AD203B41FA5}">
                      <a16:colId xmlns:a16="http://schemas.microsoft.com/office/drawing/2014/main" val="20003"/>
                    </a:ext>
                  </a:extLst>
                </a:gridCol>
                <a:gridCol w="612775">
                  <a:extLst>
                    <a:ext uri="{9D8B030D-6E8A-4147-A177-3AD203B41FA5}">
                      <a16:colId xmlns:a16="http://schemas.microsoft.com/office/drawing/2014/main" val="20004"/>
                    </a:ext>
                  </a:extLst>
                </a:gridCol>
                <a:gridCol w="492125">
                  <a:extLst>
                    <a:ext uri="{9D8B030D-6E8A-4147-A177-3AD203B41FA5}">
                      <a16:colId xmlns:a16="http://schemas.microsoft.com/office/drawing/2014/main" val="20005"/>
                    </a:ext>
                  </a:extLst>
                </a:gridCol>
                <a:gridCol w="530225">
                  <a:extLst>
                    <a:ext uri="{9D8B030D-6E8A-4147-A177-3AD203B41FA5}">
                      <a16:colId xmlns:a16="http://schemas.microsoft.com/office/drawing/2014/main" val="20006"/>
                    </a:ext>
                  </a:extLst>
                </a:gridCol>
                <a:gridCol w="477838">
                  <a:extLst>
                    <a:ext uri="{9D8B030D-6E8A-4147-A177-3AD203B41FA5}">
                      <a16:colId xmlns:a16="http://schemas.microsoft.com/office/drawing/2014/main" val="20007"/>
                    </a:ext>
                  </a:extLst>
                </a:gridCol>
                <a:gridCol w="504825">
                  <a:extLst>
                    <a:ext uri="{9D8B030D-6E8A-4147-A177-3AD203B41FA5}">
                      <a16:colId xmlns:a16="http://schemas.microsoft.com/office/drawing/2014/main" val="20008"/>
                    </a:ext>
                  </a:extLst>
                </a:gridCol>
                <a:gridCol w="538162">
                  <a:extLst>
                    <a:ext uri="{9D8B030D-6E8A-4147-A177-3AD203B41FA5}">
                      <a16:colId xmlns:a16="http://schemas.microsoft.com/office/drawing/2014/main" val="20009"/>
                    </a:ext>
                  </a:extLst>
                </a:gridCol>
                <a:gridCol w="623888">
                  <a:extLst>
                    <a:ext uri="{9D8B030D-6E8A-4147-A177-3AD203B41FA5}">
                      <a16:colId xmlns:a16="http://schemas.microsoft.com/office/drawing/2014/main" val="20010"/>
                    </a:ext>
                  </a:extLst>
                </a:gridCol>
                <a:gridCol w="576262">
                  <a:extLst>
                    <a:ext uri="{9D8B030D-6E8A-4147-A177-3AD203B41FA5}">
                      <a16:colId xmlns:a16="http://schemas.microsoft.com/office/drawing/2014/main" val="20011"/>
                    </a:ext>
                  </a:extLst>
                </a:gridCol>
                <a:gridCol w="552451">
                  <a:extLst>
                    <a:ext uri="{9D8B030D-6E8A-4147-A177-3AD203B41FA5}">
                      <a16:colId xmlns:a16="http://schemas.microsoft.com/office/drawing/2014/main" val="20012"/>
                    </a:ext>
                  </a:extLst>
                </a:gridCol>
                <a:gridCol w="609599">
                  <a:extLst>
                    <a:ext uri="{9D8B030D-6E8A-4147-A177-3AD203B41FA5}">
                      <a16:colId xmlns:a16="http://schemas.microsoft.com/office/drawing/2014/main" val="20013"/>
                    </a:ext>
                  </a:extLst>
                </a:gridCol>
              </a:tblGrid>
              <a:tr h="547688">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a:ln>
                            <a:noFill/>
                          </a:ln>
                          <a:solidFill>
                            <a:schemeClr val="tx1"/>
                          </a:solidFill>
                          <a:effectLst/>
                          <a:latin typeface="宋体" pitchFamily="2" charset="-122"/>
                          <a:ea typeface="宋体" pitchFamily="2" charset="-122"/>
                          <a:cs typeface="Times New Roman" pitchFamily="18" charset="0"/>
                        </a:rPr>
                        <a:t>Θ:</a:t>
                      </a:r>
                      <a:endParaRPr kumimoji="1" lang="en-US" altLang="zh-CN" sz="14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n</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Arial" pitchFamily="34" charset="0"/>
                          <a:ea typeface="宋体"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p</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Arial" pitchFamily="34" charset="0"/>
                          <a:ea typeface="宋体" pitchFamily="2" charset="-122"/>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r</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z</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7688">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宋体" pitchFamily="2" charset="-122"/>
                          <a:ea typeface="宋体" pitchFamily="2" charset="-122"/>
                          <a:cs typeface="Times New Roman" pitchFamily="18" charset="0"/>
                        </a:rPr>
                        <a:t>Ξ:</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Q</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R</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U</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W</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X</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Y</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Z</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a:t>
                      </a:r>
                      <a:endParaRPr kumimoji="1" lang="en-US" altLang="zh-CN" sz="14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96929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3.3.2 </a:t>
            </a:r>
            <a:r>
              <a:rPr lang="zh-CN" altLang="en-US" dirty="0"/>
              <a:t>凯撒密码</a:t>
            </a:r>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kumimoji="1" lang="zh-CN" altLang="en-US" dirty="0">
                <a:solidFill>
                  <a:srgbClr val="C00000"/>
                </a:solidFill>
                <a:latin typeface="Times New Roman" panose="02020603050405020304" pitchFamily="18" charset="0"/>
              </a:rPr>
              <a:t>安全性分析</a:t>
            </a:r>
            <a:endParaRPr kumimoji="1" lang="en-US" altLang="zh-CN" dirty="0">
              <a:solidFill>
                <a:srgbClr val="C00000"/>
              </a:solidFill>
              <a:latin typeface="Times New Roman" panose="02020603050405020304" pitchFamily="18" charset="0"/>
            </a:endParaRPr>
          </a:p>
          <a:p>
            <a:pPr lvl="1">
              <a:lnSpc>
                <a:spcPct val="150000"/>
              </a:lnSpc>
            </a:pPr>
            <a:r>
              <a:rPr kumimoji="1" lang="zh-CN" altLang="en-US" dirty="0">
                <a:latin typeface="Times New Roman" panose="02020603050405020304" pitchFamily="18" charset="0"/>
              </a:rPr>
              <a:t>移位密码是极不安全的（</a:t>
            </a:r>
            <a:r>
              <a:rPr kumimoji="1" lang="en-US" altLang="zh-CN" dirty="0">
                <a:latin typeface="Times New Roman" panose="02020603050405020304" pitchFamily="18" charset="0"/>
              </a:rPr>
              <a:t>mod26</a:t>
            </a:r>
            <a:r>
              <a:rPr kumimoji="1" lang="zh-CN" altLang="en-US" dirty="0">
                <a:latin typeface="Times New Roman" panose="02020603050405020304" pitchFamily="18" charset="0"/>
              </a:rPr>
              <a:t>），因为它可被穷举密钥搜索所分析：</a:t>
            </a:r>
            <a:r>
              <a:rPr kumimoji="1" lang="zh-CN" altLang="en-US" dirty="0">
                <a:highlight>
                  <a:srgbClr val="FFFF00"/>
                </a:highlight>
                <a:latin typeface="Times New Roman" panose="02020603050405020304" pitchFamily="18" charset="0"/>
              </a:rPr>
              <a:t>仅有</a:t>
            </a:r>
            <a:r>
              <a:rPr kumimoji="1" lang="en-US" altLang="zh-CN" dirty="0">
                <a:highlight>
                  <a:srgbClr val="FFFF00"/>
                </a:highlight>
                <a:latin typeface="Times New Roman" panose="02020603050405020304" pitchFamily="18" charset="0"/>
              </a:rPr>
              <a:t>26</a:t>
            </a:r>
            <a:r>
              <a:rPr kumimoji="1" lang="zh-CN" altLang="en-US" dirty="0">
                <a:highlight>
                  <a:srgbClr val="FFFF00"/>
                </a:highlight>
                <a:latin typeface="Times New Roman" panose="02020603050405020304" pitchFamily="18" charset="0"/>
              </a:rPr>
              <a:t>个（如果刨去没有加密就是</a:t>
            </a:r>
            <a:r>
              <a:rPr kumimoji="1" lang="en-US" altLang="zh-CN" dirty="0">
                <a:highlight>
                  <a:srgbClr val="FFFF00"/>
                </a:highlight>
                <a:latin typeface="Times New Roman" panose="02020603050405020304" pitchFamily="18" charset="0"/>
              </a:rPr>
              <a:t>25</a:t>
            </a:r>
            <a:r>
              <a:rPr kumimoji="1" lang="zh-CN" altLang="en-US" dirty="0">
                <a:highlight>
                  <a:srgbClr val="FFFF00"/>
                </a:highlight>
                <a:latin typeface="Times New Roman" panose="02020603050405020304" pitchFamily="18" charset="0"/>
              </a:rPr>
              <a:t>个）</a:t>
            </a:r>
            <a:r>
              <a:rPr kumimoji="1" lang="zh-CN" altLang="en-US" dirty="0">
                <a:latin typeface="Times New Roman" panose="02020603050405020304" pitchFamily="18" charset="0"/>
              </a:rPr>
              <a:t>可能的密钥，尝试每一个可能的加密规则，直到一个有意义的明文串被获得。平均地说，一个明文在尝试</a:t>
            </a:r>
            <a:r>
              <a:rPr kumimoji="1" lang="en-US" altLang="zh-CN" dirty="0">
                <a:latin typeface="Times New Roman" panose="02020603050405020304" pitchFamily="18" charset="0"/>
              </a:rPr>
              <a:t>26/2</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13</a:t>
            </a:r>
            <a:r>
              <a:rPr kumimoji="1" lang="zh-CN" altLang="en-US" dirty="0">
                <a:latin typeface="Times New Roman" panose="02020603050405020304" pitchFamily="18" charset="0"/>
              </a:rPr>
              <a:t>解密规则后将显现出来。</a:t>
            </a:r>
            <a:endParaRPr kumimoji="1" lang="en-US" altLang="zh-CN" dirty="0">
              <a:latin typeface="Times New Roman" panose="02020603050405020304" pitchFamily="18" charset="0"/>
            </a:endParaRPr>
          </a:p>
          <a:p>
            <a:pPr lvl="1"/>
            <a:r>
              <a:rPr lang="en-US" altLang="zh-CN" dirty="0"/>
              <a:t>Caesar</a:t>
            </a:r>
            <a:r>
              <a:rPr lang="zh-CN" altLang="en-US" dirty="0"/>
              <a:t>密码的三个重要特征使我们可以采用穷举攻击分析方法。</a:t>
            </a:r>
          </a:p>
          <a:p>
            <a:pPr lvl="1"/>
            <a:r>
              <a:rPr lang="en-US" altLang="zh-CN" b="1" dirty="0"/>
              <a:t>1</a:t>
            </a:r>
            <a:r>
              <a:rPr lang="zh-CN" altLang="en-US" b="1" dirty="0"/>
              <a:t>．</a:t>
            </a:r>
            <a:r>
              <a:rPr lang="zh-CN" altLang="en-US" b="1" dirty="0">
                <a:ea typeface="楷体" panose="02010609060101010101" pitchFamily="49" charset="-122"/>
              </a:rPr>
              <a:t>已知加密和解密算法；</a:t>
            </a:r>
            <a:endParaRPr lang="zh-CN" altLang="en-US" dirty="0"/>
          </a:p>
          <a:p>
            <a:pPr lvl="1"/>
            <a:r>
              <a:rPr lang="en-US" altLang="zh-CN" b="1" dirty="0"/>
              <a:t>2</a:t>
            </a:r>
            <a:r>
              <a:rPr lang="zh-CN" altLang="en-US" b="1" dirty="0"/>
              <a:t>．</a:t>
            </a:r>
            <a:r>
              <a:rPr lang="zh-CN" altLang="en-US" b="1" dirty="0">
                <a:ea typeface="楷体" panose="02010609060101010101" pitchFamily="49" charset="-122"/>
              </a:rPr>
              <a:t>需测试的秘密钥只有</a:t>
            </a:r>
            <a:r>
              <a:rPr lang="en-US" altLang="zh-CN" b="1" dirty="0">
                <a:ea typeface="楷体" panose="02010609060101010101" pitchFamily="49" charset="-122"/>
              </a:rPr>
              <a:t>25</a:t>
            </a:r>
            <a:r>
              <a:rPr lang="zh-CN" altLang="en-US" b="1" dirty="0">
                <a:ea typeface="楷体" panose="02010609060101010101" pitchFamily="49" charset="-122"/>
              </a:rPr>
              <a:t>个；</a:t>
            </a:r>
            <a:endParaRPr lang="zh-CN" altLang="en-US" dirty="0"/>
          </a:p>
          <a:p>
            <a:pPr lvl="1"/>
            <a:r>
              <a:rPr lang="en-US" altLang="zh-CN" b="1" dirty="0">
                <a:latin typeface="宋体" panose="02010600030101010101" pitchFamily="2" charset="-122"/>
              </a:rPr>
              <a:t>3</a:t>
            </a:r>
            <a:r>
              <a:rPr lang="zh-CN" altLang="en-US" b="1" dirty="0">
                <a:latin typeface="宋体" panose="02010600030101010101" pitchFamily="2" charset="-122"/>
              </a:rPr>
              <a:t>．</a:t>
            </a:r>
            <a:r>
              <a:rPr lang="zh-CN" altLang="en-US" b="1" dirty="0">
                <a:ea typeface="楷体" panose="02010609060101010101" pitchFamily="49" charset="-122"/>
              </a:rPr>
              <a:t>明文所用的语言是已知的，且其意义易于识别；</a:t>
            </a:r>
            <a:r>
              <a:rPr lang="zh-CN" altLang="en-US" dirty="0"/>
              <a:t> </a:t>
            </a:r>
          </a:p>
          <a:p>
            <a:pPr lvl="1">
              <a:lnSpc>
                <a:spcPct val="150000"/>
              </a:lnSpc>
            </a:pP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24</a:t>
            </a:fld>
            <a:endParaRPr kumimoji="1" lang="zh-CN" altLang="en-US" dirty="0"/>
          </a:p>
        </p:txBody>
      </p:sp>
    </p:spTree>
    <p:extLst>
      <p:ext uri="{BB962C8B-B14F-4D97-AF65-F5344CB8AC3E}">
        <p14:creationId xmlns:p14="http://schemas.microsoft.com/office/powerpoint/2010/main" val="2562830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3.3.3 </a:t>
            </a:r>
            <a:r>
              <a:rPr lang="zh-CN" altLang="en-US" dirty="0"/>
              <a:t>仿射变换</a:t>
            </a:r>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lang="zh-CN" altLang="en-US" dirty="0"/>
              <a:t>基于</a:t>
            </a:r>
            <a:r>
              <a:rPr lang="zh-CN" altLang="en-US" dirty="0">
                <a:solidFill>
                  <a:srgbClr val="C00000"/>
                </a:solidFill>
              </a:rPr>
              <a:t>仿射变换</a:t>
            </a:r>
            <a:r>
              <a:rPr lang="zh-CN" altLang="en-US" dirty="0"/>
              <a:t>的密码：</a:t>
            </a:r>
          </a:p>
          <a:p>
            <a:pPr>
              <a:lnSpc>
                <a:spcPct val="150000"/>
              </a:lnSpc>
              <a:buNone/>
            </a:pPr>
            <a:r>
              <a:rPr lang="zh-CN" altLang="en-US" dirty="0"/>
              <a:t>			</a:t>
            </a:r>
            <a:r>
              <a:rPr lang="en-US" altLang="zh-CN" dirty="0"/>
              <a:t>f(a) = (ak</a:t>
            </a:r>
            <a:r>
              <a:rPr lang="en-US" altLang="zh-CN" baseline="-25000" dirty="0"/>
              <a:t>1</a:t>
            </a:r>
            <a:r>
              <a:rPr lang="en-US" altLang="zh-CN" dirty="0"/>
              <a:t>+k</a:t>
            </a:r>
            <a:r>
              <a:rPr lang="en-US" altLang="zh-CN" baseline="-25000" dirty="0"/>
              <a:t>0</a:t>
            </a:r>
            <a:r>
              <a:rPr lang="en-US" altLang="zh-CN" dirty="0"/>
              <a:t>) mod n</a:t>
            </a:r>
          </a:p>
          <a:p>
            <a:pPr>
              <a:lnSpc>
                <a:spcPct val="150000"/>
              </a:lnSpc>
              <a:buNone/>
            </a:pPr>
            <a:r>
              <a:rPr lang="en-US" altLang="zh-CN" dirty="0"/>
              <a:t>        </a:t>
            </a:r>
            <a:r>
              <a:rPr lang="zh-CN" altLang="en-US" dirty="0"/>
              <a:t>其中：</a:t>
            </a:r>
            <a:r>
              <a:rPr lang="en-US" altLang="zh-CN" dirty="0"/>
              <a:t>k</a:t>
            </a:r>
            <a:r>
              <a:rPr lang="en-US" altLang="zh-CN" baseline="-25000" dirty="0"/>
              <a:t>1</a:t>
            </a:r>
            <a:r>
              <a:rPr lang="zh-CN" altLang="en-US" dirty="0"/>
              <a:t>和</a:t>
            </a:r>
            <a:r>
              <a:rPr lang="en-US" altLang="zh-CN" dirty="0"/>
              <a:t>n</a:t>
            </a:r>
            <a:r>
              <a:rPr lang="zh-CN" altLang="en-US" dirty="0"/>
              <a:t>是互素的，否则无法还原。</a:t>
            </a:r>
          </a:p>
          <a:p>
            <a:pPr>
              <a:lnSpc>
                <a:spcPct val="150000"/>
              </a:lnSpc>
            </a:pPr>
            <a:r>
              <a:rPr lang="zh-CN" altLang="en-US" dirty="0"/>
              <a:t>利用 </a:t>
            </a:r>
            <a:r>
              <a:rPr lang="en-US" altLang="zh-CN" dirty="0"/>
              <a:t>t </a:t>
            </a:r>
            <a:r>
              <a:rPr lang="zh-CN" altLang="en-US" dirty="0"/>
              <a:t>阶多项式变换可以生成高阶的变换。恺撒密码是</a:t>
            </a:r>
            <a:r>
              <a:rPr lang="en-US" altLang="zh-CN" dirty="0"/>
              <a:t>0</a:t>
            </a:r>
            <a:r>
              <a:rPr lang="zh-CN" altLang="en-US" dirty="0"/>
              <a:t>阶多项式变换，而仿射变换是一阶多项式变换。</a:t>
            </a:r>
          </a:p>
          <a:p>
            <a:pPr>
              <a:lnSpc>
                <a:spcPct val="150000"/>
              </a:lnSpc>
            </a:pPr>
            <a:r>
              <a:rPr lang="zh-CN" altLang="en-US" dirty="0"/>
              <a:t>有些代替密码使用</a:t>
            </a:r>
            <a:r>
              <a:rPr lang="zh-CN" altLang="en-US" dirty="0">
                <a:solidFill>
                  <a:srgbClr val="C00000"/>
                </a:solidFill>
              </a:rPr>
              <a:t>非标准的密文字母表</a:t>
            </a:r>
            <a:r>
              <a:rPr lang="zh-CN" altLang="en-US" dirty="0"/>
              <a:t>，如</a:t>
            </a:r>
            <a:r>
              <a:rPr lang="zh-CN" altLang="en-US" dirty="0">
                <a:solidFill>
                  <a:srgbClr val="C00000"/>
                </a:solidFill>
              </a:rPr>
              <a:t>兽栏密码</a:t>
            </a:r>
            <a:r>
              <a:rPr lang="zh-CN" altLang="en-US" dirty="0"/>
              <a:t>。</a:t>
            </a: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25</a:t>
            </a:fld>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E6DF39E-E99C-EA87-9833-464F3F8A3837}"/>
                  </a:ext>
                </a:extLst>
              </p:cNvPr>
              <p:cNvSpPr txBox="1"/>
              <p:nvPr/>
            </p:nvSpPr>
            <p:spPr>
              <a:xfrm>
                <a:off x="647892" y="5973566"/>
                <a:ext cx="1089621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2800" i="0" smtClean="0">
                          <a:highlight>
                            <a:srgbClr val="FFFF00"/>
                          </a:highlight>
                          <a:latin typeface="Cambria Math" panose="02040503050406030204" pitchFamily="18" charset="0"/>
                        </a:rPr>
                        <m:t>总密钥个数</m:t>
                      </m:r>
                      <m:r>
                        <a:rPr lang="zh-CN" altLang="en-US" sz="2800" i="1">
                          <a:highlight>
                            <a:srgbClr val="FFFF00"/>
                          </a:highlight>
                          <a:latin typeface="Cambria Math" panose="02040503050406030204" pitchFamily="18" charset="0"/>
                        </a:rPr>
                        <m:t>=</m:t>
                      </m:r>
                      <m:sSub>
                        <m:sSubPr>
                          <m:ctrlPr>
                            <a:rPr lang="zh-CN" altLang="en-US" sz="2800" i="1">
                              <a:highlight>
                                <a:srgbClr val="FFFF00"/>
                              </a:highlight>
                              <a:latin typeface="Cambria Math" panose="02040503050406030204" pitchFamily="18" charset="0"/>
                            </a:rPr>
                          </m:ctrlPr>
                        </m:sSubPr>
                        <m:e>
                          <m:r>
                            <a:rPr lang="zh-CN" altLang="en-US" sz="2800" i="1">
                              <a:highlight>
                                <a:srgbClr val="FFFF00"/>
                              </a:highlight>
                              <a:latin typeface="Cambria Math" panose="02040503050406030204" pitchFamily="18" charset="0"/>
                            </a:rPr>
                            <m:t>𝑘</m:t>
                          </m:r>
                        </m:e>
                        <m:sub>
                          <m:r>
                            <a:rPr lang="zh-CN" altLang="en-US" sz="2800" i="1">
                              <a:highlight>
                                <a:srgbClr val="FFFF00"/>
                              </a:highlight>
                              <a:latin typeface="Cambria Math" panose="02040503050406030204" pitchFamily="18" charset="0"/>
                            </a:rPr>
                            <m:t>1</m:t>
                          </m:r>
                        </m:sub>
                      </m:sSub>
                      <m:r>
                        <m:rPr>
                          <m:nor/>
                        </m:rPr>
                        <a:rPr lang="zh-CN" altLang="en-US" sz="2800" i="0">
                          <a:highlight>
                            <a:srgbClr val="FFFF00"/>
                          </a:highlight>
                          <a:latin typeface="Cambria Math" panose="02040503050406030204" pitchFamily="18" charset="0"/>
                        </a:rPr>
                        <m:t>的选法</m:t>
                      </m:r>
                      <m:r>
                        <a:rPr lang="zh-CN" altLang="en-US" sz="2800" i="1">
                          <a:highlight>
                            <a:srgbClr val="FFFF00"/>
                          </a:highlight>
                          <a:latin typeface="Cambria Math" panose="02040503050406030204" pitchFamily="18" charset="0"/>
                        </a:rPr>
                        <m:t>×</m:t>
                      </m:r>
                      <m:sSub>
                        <m:sSubPr>
                          <m:ctrlPr>
                            <a:rPr lang="zh-CN" altLang="en-US" sz="2800" i="1">
                              <a:highlight>
                                <a:srgbClr val="FFFF00"/>
                              </a:highlight>
                              <a:latin typeface="Cambria Math" panose="02040503050406030204" pitchFamily="18" charset="0"/>
                            </a:rPr>
                          </m:ctrlPr>
                        </m:sSubPr>
                        <m:e>
                          <m:r>
                            <a:rPr lang="zh-CN" altLang="en-US" sz="2800" i="1">
                              <a:highlight>
                                <a:srgbClr val="FFFF00"/>
                              </a:highlight>
                              <a:latin typeface="Cambria Math" panose="02040503050406030204" pitchFamily="18" charset="0"/>
                            </a:rPr>
                            <m:t>𝑘</m:t>
                          </m:r>
                        </m:e>
                        <m:sub>
                          <m:r>
                            <a:rPr lang="zh-CN" altLang="en-US" sz="2800" i="1">
                              <a:highlight>
                                <a:srgbClr val="FFFF00"/>
                              </a:highlight>
                              <a:latin typeface="Cambria Math" panose="02040503050406030204" pitchFamily="18" charset="0"/>
                            </a:rPr>
                            <m:t>0</m:t>
                          </m:r>
                        </m:sub>
                      </m:sSub>
                      <m:r>
                        <m:rPr>
                          <m:nor/>
                        </m:rPr>
                        <a:rPr lang="zh-CN" altLang="en-US" sz="2800" i="0">
                          <a:highlight>
                            <a:srgbClr val="FFFF00"/>
                          </a:highlight>
                          <a:latin typeface="Cambria Math" panose="02040503050406030204" pitchFamily="18" charset="0"/>
                        </a:rPr>
                        <m:t>的选法</m:t>
                      </m:r>
                      <m:r>
                        <m:rPr>
                          <m:nor/>
                        </m:rPr>
                        <a:rPr lang="en-US" altLang="zh-CN" sz="2800" b="0" i="0" smtClean="0">
                          <a:highlight>
                            <a:srgbClr val="FFFF00"/>
                          </a:highlight>
                          <a:latin typeface="Cambria Math" panose="02040503050406030204" pitchFamily="18" charset="0"/>
                        </a:rPr>
                        <m:t> − 1</m:t>
                      </m:r>
                      <m:r>
                        <a:rPr lang="zh-CN" altLang="en-US" sz="2800" i="1">
                          <a:highlight>
                            <a:srgbClr val="FFFF00"/>
                          </a:highlight>
                          <a:latin typeface="Cambria Math" panose="02040503050406030204" pitchFamily="18" charset="0"/>
                        </a:rPr>
                        <m:t>=12×26</m:t>
                      </m:r>
                      <m:r>
                        <a:rPr lang="en-US" altLang="zh-CN" sz="2800" b="0" i="1" smtClean="0">
                          <a:highlight>
                            <a:srgbClr val="FFFF00"/>
                          </a:highlight>
                          <a:latin typeface="Cambria Math" panose="02040503050406030204" pitchFamily="18" charset="0"/>
                        </a:rPr>
                        <m:t>−1</m:t>
                      </m:r>
                      <m:r>
                        <a:rPr lang="zh-CN" altLang="en-US" sz="2800" i="1">
                          <a:highlight>
                            <a:srgbClr val="FFFF00"/>
                          </a:highlight>
                          <a:latin typeface="Cambria Math" panose="02040503050406030204" pitchFamily="18" charset="0"/>
                        </a:rPr>
                        <m:t>=31</m:t>
                      </m:r>
                      <m:r>
                        <a:rPr lang="en-US" altLang="zh-CN" sz="2800" b="0" i="1" smtClean="0">
                          <a:highlight>
                            <a:srgbClr val="FFFF00"/>
                          </a:highlight>
                          <a:latin typeface="Cambria Math" panose="02040503050406030204" pitchFamily="18" charset="0"/>
                        </a:rPr>
                        <m:t>1</m:t>
                      </m:r>
                      <m:r>
                        <m:rPr>
                          <m:nor/>
                        </m:rPr>
                        <a:rPr lang="zh-CN" altLang="en-US" sz="2800" i="0">
                          <a:highlight>
                            <a:srgbClr val="FFFF00"/>
                          </a:highlight>
                          <a:latin typeface="Cambria Math" panose="02040503050406030204" pitchFamily="18" charset="0"/>
                        </a:rPr>
                        <m:t> </m:t>
                      </m:r>
                      <m:r>
                        <m:rPr>
                          <m:nor/>
                        </m:rPr>
                        <a:rPr lang="zh-CN" altLang="en-US" sz="2800" i="0">
                          <a:highlight>
                            <a:srgbClr val="FFFF00"/>
                          </a:highlight>
                          <a:latin typeface="Cambria Math" panose="02040503050406030204" pitchFamily="18" charset="0"/>
                        </a:rPr>
                        <m:t>种</m:t>
                      </m:r>
                    </m:oMath>
                  </m:oMathPara>
                </a14:m>
                <a:endParaRPr lang="zh-CN" altLang="en-US" sz="2800" dirty="0">
                  <a:highlight>
                    <a:srgbClr val="FFFF00"/>
                  </a:highlight>
                </a:endParaRPr>
              </a:p>
            </p:txBody>
          </p:sp>
        </mc:Choice>
        <mc:Fallback xmlns="">
          <p:sp>
            <p:nvSpPr>
              <p:cNvPr id="6" name="文本框 5">
                <a:extLst>
                  <a:ext uri="{FF2B5EF4-FFF2-40B4-BE49-F238E27FC236}">
                    <a16:creationId xmlns:a16="http://schemas.microsoft.com/office/drawing/2014/main" id="{CE6DF39E-E99C-EA87-9833-464F3F8A3837}"/>
                  </a:ext>
                </a:extLst>
              </p:cNvPr>
              <p:cNvSpPr txBox="1">
                <a:spLocks noRot="1" noChangeAspect="1" noMove="1" noResize="1" noEditPoints="1" noAdjustHandles="1" noChangeArrowheads="1" noChangeShapeType="1" noTextEdit="1"/>
              </p:cNvSpPr>
              <p:nvPr/>
            </p:nvSpPr>
            <p:spPr>
              <a:xfrm>
                <a:off x="647892" y="5973566"/>
                <a:ext cx="10896216" cy="52322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1B8373C-9960-C422-A705-0A6468924D7E}"/>
                  </a:ext>
                </a:extLst>
              </p:cNvPr>
              <p:cNvSpPr txBox="1"/>
              <p:nvPr/>
            </p:nvSpPr>
            <p:spPr>
              <a:xfrm>
                <a:off x="6090140" y="2700363"/>
                <a:ext cx="610186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lit/>
                        </m:rPr>
                        <a:rPr lang="zh-CN" altLang="en-US" sz="2400" i="1" smtClean="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1, 3, 5, 7, 9, 11, 15, 17, 19, 21, 23, 25</m:t>
                      </m:r>
                      <m:r>
                        <m:rPr>
                          <m:lit/>
                        </m:rPr>
                        <a:rPr lang="zh-CN" altLang="en-US" sz="2400" i="1">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xmlns="">
          <p:sp>
            <p:nvSpPr>
              <p:cNvPr id="8" name="文本框 7">
                <a:extLst>
                  <a:ext uri="{FF2B5EF4-FFF2-40B4-BE49-F238E27FC236}">
                    <a16:creationId xmlns:a16="http://schemas.microsoft.com/office/drawing/2014/main" id="{71B8373C-9960-C422-A705-0A6468924D7E}"/>
                  </a:ext>
                </a:extLst>
              </p:cNvPr>
              <p:cNvSpPr txBox="1">
                <a:spLocks noRot="1" noChangeAspect="1" noMove="1" noResize="1" noEditPoints="1" noAdjustHandles="1" noChangeArrowheads="1" noChangeShapeType="1" noTextEdit="1"/>
              </p:cNvSpPr>
              <p:nvPr/>
            </p:nvSpPr>
            <p:spPr>
              <a:xfrm>
                <a:off x="6090140" y="2700363"/>
                <a:ext cx="6101860" cy="461665"/>
              </a:xfrm>
              <a:prstGeom prst="rect">
                <a:avLst/>
              </a:prstGeom>
              <a:blipFill>
                <a:blip r:embed="rId4"/>
                <a:stretch>
                  <a:fillRect b="-171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0914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3.3.3 </a:t>
            </a:r>
            <a:r>
              <a:rPr lang="zh-CN" altLang="en-US" dirty="0"/>
              <a:t>仿射变换</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例</a:t>
            </a:r>
            <a:r>
              <a:rPr kumimoji="1" lang="en-US" altLang="zh-CN" dirty="0">
                <a:latin typeface="Times New Roman" panose="02020603050405020304" pitchFamily="18" charset="0"/>
              </a:rPr>
              <a:t>2.5  </a:t>
            </a:r>
            <a:r>
              <a:rPr kumimoji="1" lang="zh-CN" altLang="en-US" dirty="0">
                <a:latin typeface="Times New Roman" panose="02020603050405020304" pitchFamily="18" charset="0"/>
              </a:rPr>
              <a:t>假定                ，                   ，加密函数为                     ，则相应的解密函数为                                    ，其中所有的运算都是在   中。加密明文</a:t>
            </a:r>
            <a:r>
              <a:rPr kumimoji="1" lang="en-US" altLang="zh-CN" dirty="0">
                <a:latin typeface="Times New Roman" panose="02020603050405020304" pitchFamily="18" charset="0"/>
              </a:rPr>
              <a:t>hot</a:t>
            </a:r>
            <a:r>
              <a:rPr kumimoji="1" lang="en-US" altLang="zh-CN" dirty="0">
                <a:highlight>
                  <a:srgbClr val="FFFF00"/>
                </a:highlight>
                <a:latin typeface="Times New Roman" panose="02020603050405020304" pitchFamily="18" charset="0"/>
              </a:rPr>
              <a:t>(</a:t>
            </a:r>
            <a:r>
              <a:rPr kumimoji="1" lang="zh-CN" altLang="en-US" dirty="0">
                <a:highlight>
                  <a:srgbClr val="FFFF00"/>
                </a:highlight>
                <a:latin typeface="Times New Roman" panose="02020603050405020304" pitchFamily="18" charset="0"/>
              </a:rPr>
              <a:t>第</a:t>
            </a:r>
            <a:r>
              <a:rPr kumimoji="1" lang="en-US" altLang="zh-CN" dirty="0">
                <a:highlight>
                  <a:srgbClr val="FFFF00"/>
                </a:highlight>
                <a:latin typeface="Times New Roman" panose="02020603050405020304" pitchFamily="18" charset="0"/>
              </a:rPr>
              <a:t>8</a:t>
            </a:r>
            <a:r>
              <a:rPr kumimoji="1" lang="zh-CN" altLang="en-US" dirty="0">
                <a:highlight>
                  <a:srgbClr val="FFFF00"/>
                </a:highlight>
                <a:latin typeface="Times New Roman" panose="02020603050405020304" pitchFamily="18" charset="0"/>
              </a:rPr>
              <a:t>个，第</a:t>
            </a:r>
            <a:r>
              <a:rPr kumimoji="1" lang="en-US" altLang="zh-CN" dirty="0">
                <a:highlight>
                  <a:srgbClr val="FFFF00"/>
                </a:highlight>
                <a:latin typeface="Times New Roman" panose="02020603050405020304" pitchFamily="18" charset="0"/>
              </a:rPr>
              <a:t>15</a:t>
            </a:r>
            <a:r>
              <a:rPr kumimoji="1" lang="zh-CN" altLang="en-US" dirty="0">
                <a:highlight>
                  <a:srgbClr val="FFFF00"/>
                </a:highlight>
                <a:latin typeface="Times New Roman" panose="02020603050405020304" pitchFamily="18" charset="0"/>
              </a:rPr>
              <a:t>个，第</a:t>
            </a:r>
            <a:r>
              <a:rPr kumimoji="1" lang="en-US" altLang="zh-CN" dirty="0">
                <a:highlight>
                  <a:srgbClr val="FFFF00"/>
                </a:highlight>
                <a:latin typeface="Times New Roman" panose="02020603050405020304" pitchFamily="18" charset="0"/>
              </a:rPr>
              <a:t>20</a:t>
            </a:r>
            <a:r>
              <a:rPr kumimoji="1" lang="zh-CN" altLang="en-US" dirty="0">
                <a:highlight>
                  <a:srgbClr val="FFFF00"/>
                </a:highlight>
                <a:latin typeface="Times New Roman" panose="02020603050405020304" pitchFamily="18" charset="0"/>
              </a:rPr>
              <a:t>个</a:t>
            </a:r>
            <a:r>
              <a:rPr kumimoji="1" lang="en-US" altLang="zh-CN" dirty="0">
                <a:highlight>
                  <a:srgbClr val="FFFF00"/>
                </a:highlight>
                <a:latin typeface="Times New Roman" panose="02020603050405020304" pitchFamily="18" charset="0"/>
              </a:rPr>
              <a:t>)</a:t>
            </a:r>
            <a:r>
              <a:rPr kumimoji="1" lang="zh-CN" altLang="en-US" dirty="0">
                <a:latin typeface="Times New Roman" panose="02020603050405020304" pitchFamily="18" charset="0"/>
              </a:rPr>
              <a:t>。容易验证</a:t>
            </a:r>
          </a:p>
          <a:p>
            <a:pPr>
              <a:lnSpc>
                <a:spcPct val="12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     </a:t>
            </a:r>
          </a:p>
          <a:p>
            <a:pPr>
              <a:lnSpc>
                <a:spcPct val="12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首先转化这三个字母分别为数字</a:t>
            </a:r>
            <a:r>
              <a:rPr kumimoji="1" lang="en-US" altLang="zh-CN" dirty="0">
                <a:highlight>
                  <a:srgbClr val="FFFF00"/>
                </a:highlight>
                <a:latin typeface="Times New Roman" panose="02020603050405020304" pitchFamily="18" charset="0"/>
              </a:rPr>
              <a:t>7</a:t>
            </a:r>
            <a:r>
              <a:rPr kumimoji="1" lang="zh-CN" altLang="en-US" dirty="0">
                <a:highlight>
                  <a:srgbClr val="FFFF00"/>
                </a:highlight>
                <a:latin typeface="Times New Roman" panose="02020603050405020304" pitchFamily="18" charset="0"/>
              </a:rPr>
              <a:t>，</a:t>
            </a:r>
            <a:r>
              <a:rPr kumimoji="1" lang="en-US" altLang="zh-CN" dirty="0">
                <a:highlight>
                  <a:srgbClr val="FFFF00"/>
                </a:highlight>
                <a:latin typeface="Times New Roman" panose="02020603050405020304" pitchFamily="18" charset="0"/>
              </a:rPr>
              <a:t>14</a:t>
            </a:r>
            <a:r>
              <a:rPr kumimoji="1" lang="zh-CN" altLang="en-US" dirty="0">
                <a:highlight>
                  <a:srgbClr val="FFFF00"/>
                </a:highlight>
                <a:latin typeface="Times New Roman" panose="02020603050405020304" pitchFamily="18" charset="0"/>
              </a:rPr>
              <a:t>和</a:t>
            </a:r>
            <a:r>
              <a:rPr kumimoji="1" lang="en-US" altLang="zh-CN" dirty="0">
                <a:highlight>
                  <a:srgbClr val="FFFF00"/>
                </a:highlight>
                <a:latin typeface="Times New Roman" panose="02020603050405020304" pitchFamily="18" charset="0"/>
              </a:rPr>
              <a:t>19</a:t>
            </a:r>
            <a:r>
              <a:rPr kumimoji="1" lang="zh-CN" altLang="en-US" dirty="0">
                <a:latin typeface="Times New Roman" panose="02020603050405020304" pitchFamily="18" charset="0"/>
              </a:rPr>
              <a:t>。然后加密</a:t>
            </a:r>
          </a:p>
          <a:p>
            <a:pPr>
              <a:lnSpc>
                <a:spcPct val="120000"/>
              </a:lnSpc>
              <a:spcBef>
                <a:spcPct val="20000"/>
              </a:spcBef>
              <a:buClr>
                <a:schemeClr val="accent2"/>
              </a:buClr>
              <a:buSzPct val="55000"/>
              <a:buNone/>
            </a:pPr>
            <a:endParaRPr kumimoji="1" lang="zh-CN" altLang="en-US" dirty="0">
              <a:latin typeface="Times New Roman" panose="02020603050405020304" pitchFamily="18" charset="0"/>
            </a:endParaRPr>
          </a:p>
          <a:p>
            <a:pPr>
              <a:lnSpc>
                <a:spcPct val="120000"/>
              </a:lnSpc>
              <a:spcBef>
                <a:spcPct val="20000"/>
              </a:spcBef>
              <a:buClr>
                <a:schemeClr val="accent2"/>
              </a:buClr>
              <a:buSzPct val="55000"/>
              <a:buNone/>
            </a:pPr>
            <a:endParaRPr kumimoji="1" lang="zh-CN" altLang="en-US" dirty="0">
              <a:latin typeface="Times New Roman" panose="02020603050405020304" pitchFamily="18" charset="0"/>
            </a:endParaRPr>
          </a:p>
          <a:p>
            <a:pPr>
              <a:lnSpc>
                <a:spcPct val="120000"/>
              </a:lnSpc>
              <a:spcBef>
                <a:spcPct val="20000"/>
              </a:spcBef>
              <a:buClr>
                <a:schemeClr val="accent2"/>
              </a:buClr>
              <a:buSzPct val="55000"/>
              <a:buNone/>
            </a:pPr>
            <a:r>
              <a:rPr kumimoji="1" lang="zh-CN" altLang="en-US" dirty="0">
                <a:latin typeface="Times New Roman" panose="02020603050405020304" pitchFamily="18" charset="0"/>
              </a:rPr>
              <a:t>密文串为</a:t>
            </a:r>
            <a:r>
              <a:rPr kumimoji="1" lang="en-US" altLang="zh-CN" dirty="0">
                <a:latin typeface="Times New Roman" panose="02020603050405020304" pitchFamily="18" charset="0"/>
              </a:rPr>
              <a:t>AXG</a:t>
            </a:r>
            <a:r>
              <a:rPr kumimoji="1" lang="zh-CN" altLang="en-US" dirty="0">
                <a:latin typeface="Times New Roman" panose="02020603050405020304" pitchFamily="18" charset="0"/>
              </a:rPr>
              <a:t>。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26</a:t>
            </a:fld>
            <a:endParaRPr kumimoji="1" lang="zh-CN" altLang="en-US" dirty="0"/>
          </a:p>
        </p:txBody>
      </p:sp>
      <p:graphicFrame>
        <p:nvGraphicFramePr>
          <p:cNvPr id="5" name="Object 3"/>
          <p:cNvGraphicFramePr>
            <a:graphicFrameLocks noChangeAspect="1"/>
          </p:cNvGraphicFramePr>
          <p:nvPr>
            <p:extLst>
              <p:ext uri="{D42A27DB-BD31-4B8C-83A1-F6EECF244321}">
                <p14:modId xmlns:p14="http://schemas.microsoft.com/office/powerpoint/2010/main" val="876243052"/>
              </p:ext>
            </p:extLst>
          </p:nvPr>
        </p:nvGraphicFramePr>
        <p:xfrm>
          <a:off x="2952998" y="1665016"/>
          <a:ext cx="1295400" cy="347663"/>
        </p:xfrm>
        <a:graphic>
          <a:graphicData uri="http://schemas.openxmlformats.org/presentationml/2006/ole">
            <mc:AlternateContent xmlns:mc="http://schemas.openxmlformats.org/markup-compatibility/2006">
              <mc:Choice xmlns:v="urn:schemas-microsoft-com:vml" Requires="v">
                <p:oleObj name="公式" r:id="rId3" imgW="571252" imgH="203112" progId="Equation.3">
                  <p:embed/>
                </p:oleObj>
              </mc:Choice>
              <mc:Fallback>
                <p:oleObj name="公式" r:id="rId3" imgW="571252" imgH="203112" progId="Equation.3">
                  <p:embed/>
                  <p:pic>
                    <p:nvPicPr>
                      <p:cNvPr id="2150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998" y="1665016"/>
                        <a:ext cx="12954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2572754950"/>
              </p:ext>
            </p:extLst>
          </p:nvPr>
        </p:nvGraphicFramePr>
        <p:xfrm>
          <a:off x="4634346" y="1624481"/>
          <a:ext cx="1676400" cy="334963"/>
        </p:xfrm>
        <a:graphic>
          <a:graphicData uri="http://schemas.openxmlformats.org/presentationml/2006/ole">
            <mc:AlternateContent xmlns:mc="http://schemas.openxmlformats.org/markup-compatibility/2006">
              <mc:Choice xmlns:v="urn:schemas-microsoft-com:vml" Requires="v">
                <p:oleObj name="公式" r:id="rId5" imgW="1002865" imgH="203112" progId="Equation.3">
                  <p:embed/>
                </p:oleObj>
              </mc:Choice>
              <mc:Fallback>
                <p:oleObj name="公式" r:id="rId5" imgW="1002865" imgH="203112" progId="Equation.3">
                  <p:embed/>
                  <p:pic>
                    <p:nvPicPr>
                      <p:cNvPr id="2150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4346" y="1624481"/>
                        <a:ext cx="16764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3508304491"/>
              </p:ext>
            </p:extLst>
          </p:nvPr>
        </p:nvGraphicFramePr>
        <p:xfrm>
          <a:off x="8523515" y="1607004"/>
          <a:ext cx="1676400" cy="423862"/>
        </p:xfrm>
        <a:graphic>
          <a:graphicData uri="http://schemas.openxmlformats.org/presentationml/2006/ole">
            <mc:AlternateContent xmlns:mc="http://schemas.openxmlformats.org/markup-compatibility/2006">
              <mc:Choice xmlns:v="urn:schemas-microsoft-com:vml" Requires="v">
                <p:oleObj name="公式" r:id="rId7" imgW="901309" imgH="228501" progId="Equation.3">
                  <p:embed/>
                </p:oleObj>
              </mc:Choice>
              <mc:Fallback>
                <p:oleObj name="公式" r:id="rId7" imgW="901309" imgH="228501" progId="Equation.3">
                  <p:embed/>
                  <p:pic>
                    <p:nvPicPr>
                      <p:cNvPr id="21509"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23515" y="1607004"/>
                        <a:ext cx="16764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2332649798"/>
              </p:ext>
            </p:extLst>
          </p:nvPr>
        </p:nvGraphicFramePr>
        <p:xfrm>
          <a:off x="4165600" y="2144713"/>
          <a:ext cx="2971800" cy="385762"/>
        </p:xfrm>
        <a:graphic>
          <a:graphicData uri="http://schemas.openxmlformats.org/presentationml/2006/ole">
            <mc:AlternateContent xmlns:mc="http://schemas.openxmlformats.org/markup-compatibility/2006">
              <mc:Choice xmlns:v="urn:schemas-microsoft-com:vml" Requires="v">
                <p:oleObj name="公式" r:id="rId9" imgW="1765300" imgH="228600" progId="Equation.3">
                  <p:embed/>
                </p:oleObj>
              </mc:Choice>
              <mc:Fallback>
                <p:oleObj name="公式" r:id="rId9" imgW="1765300" imgH="228600" progId="Equation.3">
                  <p:embed/>
                  <p:pic>
                    <p:nvPicPr>
                      <p:cNvPr id="2151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5600" y="2144713"/>
                        <a:ext cx="29718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913075477"/>
              </p:ext>
            </p:extLst>
          </p:nvPr>
        </p:nvGraphicFramePr>
        <p:xfrm>
          <a:off x="1967346" y="3179054"/>
          <a:ext cx="7696200" cy="496888"/>
        </p:xfrm>
        <a:graphic>
          <a:graphicData uri="http://schemas.openxmlformats.org/presentationml/2006/ole">
            <mc:AlternateContent xmlns:mc="http://schemas.openxmlformats.org/markup-compatibility/2006">
              <mc:Choice xmlns:v="urn:schemas-microsoft-com:vml" Requires="v">
                <p:oleObj name="公式" r:id="rId11" imgW="3543300" imgH="228600" progId="Equation.3">
                  <p:embed/>
                </p:oleObj>
              </mc:Choice>
              <mc:Fallback>
                <p:oleObj name="公式" r:id="rId11" imgW="3543300" imgH="228600" progId="Equation.3">
                  <p:embed/>
                  <p:pic>
                    <p:nvPicPr>
                      <p:cNvPr id="21512"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7346" y="3179054"/>
                        <a:ext cx="76962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22410020"/>
              </p:ext>
            </p:extLst>
          </p:nvPr>
        </p:nvGraphicFramePr>
        <p:xfrm>
          <a:off x="3186546" y="4264026"/>
          <a:ext cx="4495800" cy="1471612"/>
        </p:xfrm>
        <a:graphic>
          <a:graphicData uri="http://schemas.openxmlformats.org/presentationml/2006/ole">
            <mc:AlternateContent xmlns:mc="http://schemas.openxmlformats.org/markup-compatibility/2006">
              <mc:Choice xmlns:v="urn:schemas-microsoft-com:vml" Requires="v">
                <p:oleObj name="公式" r:id="rId13" imgW="2184400" imgH="711200" progId="Equation.3">
                  <p:embed/>
                </p:oleObj>
              </mc:Choice>
              <mc:Fallback>
                <p:oleObj name="公式" r:id="rId13" imgW="2184400" imgH="711200" progId="Equation.3">
                  <p:embed/>
                  <p:pic>
                    <p:nvPicPr>
                      <p:cNvPr id="21513"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86546" y="4264026"/>
                        <a:ext cx="4495800" cy="147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A2A7EB3-4DA4-49F5-054D-6E1259B608B8}"/>
                  </a:ext>
                </a:extLst>
              </p:cNvPr>
              <p:cNvSpPr txBox="1"/>
              <p:nvPr/>
            </p:nvSpPr>
            <p:spPr>
              <a:xfrm>
                <a:off x="7925867" y="4609453"/>
                <a:ext cx="42661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𝑒</m:t>
                          </m:r>
                        </m:e>
                        <m:sub>
                          <m:r>
                            <a:rPr lang="zh-CN" altLang="en-US" i="1">
                              <a:latin typeface="Cambria Math" panose="02040503050406030204" pitchFamily="18" charset="0"/>
                            </a:rPr>
                            <m:t>𝑘</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1">
                          <a:latin typeface="Cambria Math" panose="02040503050406030204" pitchFamily="18" charset="0"/>
                        </a:rPr>
                        <m:t>=</m:t>
                      </m:r>
                      <m:r>
                        <a:rPr lang="zh-CN" altLang="en-US" i="1">
                          <a:latin typeface="Cambria Math" panose="02040503050406030204" pitchFamily="18" charset="0"/>
                        </a:rPr>
                        <m:t>𝑦</m:t>
                      </m:r>
                      <m:r>
                        <a:rPr lang="zh-CN" altLang="en-US" i="1">
                          <a:latin typeface="Cambria Math" panose="02040503050406030204" pitchFamily="18" charset="0"/>
                        </a:rPr>
                        <m:t>=7</m:t>
                      </m:r>
                      <m:r>
                        <a:rPr lang="zh-CN" altLang="en-US" i="1">
                          <a:latin typeface="Cambria Math" panose="02040503050406030204" pitchFamily="18" charset="0"/>
                        </a:rPr>
                        <m:t>𝑥</m:t>
                      </m:r>
                      <m:r>
                        <a:rPr lang="zh-CN" altLang="en-US" i="1">
                          <a:latin typeface="Cambria Math" panose="02040503050406030204" pitchFamily="18" charset="0"/>
                        </a:rPr>
                        <m:t>+3   </m:t>
                      </m:r>
                      <m:r>
                        <m:rPr>
                          <m:sty m:val="p"/>
                        </m:rPr>
                        <a:rPr lang="zh-CN" altLang="en-US" i="1">
                          <a:latin typeface="Cambria Math" panose="02040503050406030204" pitchFamily="18" charset="0"/>
                        </a:rPr>
                        <m:t>mod</m:t>
                      </m:r>
                      <m:r>
                        <a:rPr lang="en-US" altLang="zh-CN" b="0" i="1" smtClean="0">
                          <a:latin typeface="Cambria Math" panose="02040503050406030204" pitchFamily="18" charset="0"/>
                        </a:rPr>
                        <m:t> </m:t>
                      </m:r>
                      <m:r>
                        <a:rPr lang="zh-CN" altLang="en-US" i="1">
                          <a:latin typeface="Cambria Math" panose="02040503050406030204" pitchFamily="18" charset="0"/>
                        </a:rPr>
                        <m:t>26</m:t>
                      </m:r>
                    </m:oMath>
                  </m:oMathPara>
                </a14:m>
                <a:endParaRPr lang="zh-CN" altLang="en-US" dirty="0"/>
              </a:p>
            </p:txBody>
          </p:sp>
        </mc:Choice>
        <mc:Fallback xmlns="">
          <p:sp>
            <p:nvSpPr>
              <p:cNvPr id="12" name="文本框 11">
                <a:extLst>
                  <a:ext uri="{FF2B5EF4-FFF2-40B4-BE49-F238E27FC236}">
                    <a16:creationId xmlns:a16="http://schemas.microsoft.com/office/drawing/2014/main" id="{AA2A7EB3-4DA4-49F5-054D-6E1259B608B8}"/>
                  </a:ext>
                </a:extLst>
              </p:cNvPr>
              <p:cNvSpPr txBox="1">
                <a:spLocks noRot="1" noChangeAspect="1" noMove="1" noResize="1" noEditPoints="1" noAdjustHandles="1" noChangeArrowheads="1" noChangeShapeType="1" noTextEdit="1"/>
              </p:cNvSpPr>
              <p:nvPr/>
            </p:nvSpPr>
            <p:spPr>
              <a:xfrm>
                <a:off x="7925867" y="4609453"/>
                <a:ext cx="4266133" cy="369332"/>
              </a:xfrm>
              <a:prstGeom prst="rect">
                <a:avLst/>
              </a:prstGeom>
              <a:blipFill>
                <a:blip r:embed="rId15"/>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E5D745F-84CC-DCB3-A4F4-9E7510AD7D50}"/>
                  </a:ext>
                </a:extLst>
              </p:cNvPr>
              <p:cNvSpPr txBox="1"/>
              <p:nvPr/>
            </p:nvSpPr>
            <p:spPr>
              <a:xfrm>
                <a:off x="7682346" y="5117027"/>
                <a:ext cx="462182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𝑥</m:t>
                      </m:r>
                      <m:r>
                        <a:rPr lang="zh-CN" altLang="en-US" i="1" smtClean="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7</m:t>
                          </m:r>
                        </m:e>
                        <m:sup>
                          <m:r>
                            <a:rPr lang="zh-CN" altLang="en-US" i="1">
                              <a:latin typeface="Cambria Math" panose="02040503050406030204" pitchFamily="18" charset="0"/>
                            </a:rPr>
                            <m:t>−1</m:t>
                          </m:r>
                        </m:sup>
                      </m:sSup>
                      <m:r>
                        <a:rPr lang="zh-CN" altLang="en-US" i="1">
                          <a:latin typeface="Cambria Math" panose="02040503050406030204" pitchFamily="18" charset="0"/>
                        </a:rPr>
                        <m:t>⋅</m:t>
                      </m:r>
                      <m:d>
                        <m:dPr>
                          <m:ctrlPr>
                            <a:rPr lang="zh-CN" altLang="en-US" i="1">
                              <a:latin typeface="Cambria Math" panose="02040503050406030204" pitchFamily="18" charset="0"/>
                            </a:rPr>
                          </m:ctrlPr>
                        </m:dPr>
                        <m:e>
                          <m:r>
                            <a:rPr lang="zh-CN" altLang="en-US" i="1">
                              <a:latin typeface="Cambria Math" panose="02040503050406030204" pitchFamily="18" charset="0"/>
                            </a:rPr>
                            <m:t>𝑦</m:t>
                          </m:r>
                          <m:r>
                            <a:rPr lang="zh-CN" altLang="en-US" i="1">
                              <a:latin typeface="Cambria Math" panose="02040503050406030204" pitchFamily="18" charset="0"/>
                            </a:rPr>
                            <m:t>−3</m:t>
                          </m:r>
                        </m:e>
                      </m:d>
                      <m:r>
                        <a:rPr lang="zh-CN" altLang="en-US" i="1">
                          <a:latin typeface="Cambria Math" panose="02040503050406030204" pitchFamily="18" charset="0"/>
                        </a:rPr>
                        <m:t>≡15⋅</m:t>
                      </m:r>
                      <m:d>
                        <m:dPr>
                          <m:ctrlPr>
                            <a:rPr lang="zh-CN" altLang="en-US" i="1">
                              <a:latin typeface="Cambria Math" panose="02040503050406030204" pitchFamily="18" charset="0"/>
                            </a:rPr>
                          </m:ctrlPr>
                        </m:dPr>
                        <m:e>
                          <m:r>
                            <a:rPr lang="zh-CN" altLang="en-US" i="1">
                              <a:latin typeface="Cambria Math" panose="02040503050406030204" pitchFamily="18" charset="0"/>
                            </a:rPr>
                            <m:t>𝑦</m:t>
                          </m:r>
                          <m:r>
                            <a:rPr lang="zh-CN" altLang="en-US" i="1">
                              <a:latin typeface="Cambria Math" panose="02040503050406030204" pitchFamily="18" charset="0"/>
                            </a:rPr>
                            <m:t>−3</m:t>
                          </m:r>
                        </m:e>
                      </m:d>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en-US" altLang="zh-CN" b="0" i="1" smtClean="0">
                          <a:latin typeface="Cambria Math" panose="02040503050406030204" pitchFamily="18" charset="0"/>
                        </a:rPr>
                        <m:t> </m:t>
                      </m:r>
                      <m:r>
                        <a:rPr lang="zh-CN" altLang="en-US" i="1">
                          <a:latin typeface="Cambria Math" panose="02040503050406030204" pitchFamily="18" charset="0"/>
                        </a:rPr>
                        <m:t>26</m:t>
                      </m:r>
                    </m:oMath>
                  </m:oMathPara>
                </a14:m>
                <a:endParaRPr lang="zh-CN" altLang="en-US" dirty="0"/>
              </a:p>
            </p:txBody>
          </p:sp>
        </mc:Choice>
        <mc:Fallback xmlns="">
          <p:sp>
            <p:nvSpPr>
              <p:cNvPr id="14" name="文本框 13">
                <a:extLst>
                  <a:ext uri="{FF2B5EF4-FFF2-40B4-BE49-F238E27FC236}">
                    <a16:creationId xmlns:a16="http://schemas.microsoft.com/office/drawing/2014/main" id="{7E5D745F-84CC-DCB3-A4F4-9E7510AD7D50}"/>
                  </a:ext>
                </a:extLst>
              </p:cNvPr>
              <p:cNvSpPr txBox="1">
                <a:spLocks noRot="1" noChangeAspect="1" noMove="1" noResize="1" noEditPoints="1" noAdjustHandles="1" noChangeArrowheads="1" noChangeShapeType="1" noTextEdit="1"/>
              </p:cNvSpPr>
              <p:nvPr/>
            </p:nvSpPr>
            <p:spPr>
              <a:xfrm>
                <a:off x="7682346" y="5117027"/>
                <a:ext cx="4621823" cy="369332"/>
              </a:xfrm>
              <a:prstGeom prst="rect">
                <a:avLst/>
              </a:prstGeom>
              <a:blipFill>
                <a:blip r:embed="rId16"/>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21FCE55-74DB-CE5A-79EC-B395F9414230}"/>
                  </a:ext>
                </a:extLst>
              </p:cNvPr>
              <p:cNvSpPr txBox="1"/>
              <p:nvPr/>
            </p:nvSpPr>
            <p:spPr>
              <a:xfrm>
                <a:off x="6716657" y="5821550"/>
                <a:ext cx="61546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105÷26=4……</m:t>
                      </m:r>
                      <m:r>
                        <m:rPr>
                          <m:nor/>
                        </m:rPr>
                        <a:rPr lang="zh-CN" altLang="en-US" i="0">
                          <a:latin typeface="Cambria Math" panose="02040503050406030204" pitchFamily="18" charset="0"/>
                        </a:rPr>
                        <m:t>余</m:t>
                      </m:r>
                      <m:r>
                        <m:rPr>
                          <m:nor/>
                        </m:rPr>
                        <a:rPr lang="zh-CN" altLang="en-US" i="0">
                          <a:latin typeface="Cambria Math" panose="02040503050406030204" pitchFamily="18" charset="0"/>
                        </a:rPr>
                        <m:t> </m:t>
                      </m:r>
                      <m:r>
                        <a:rPr lang="zh-CN" altLang="en-US" i="1">
                          <a:latin typeface="Cambria Math" panose="02040503050406030204" pitchFamily="18" charset="0"/>
                        </a:rPr>
                        <m:t>1</m:t>
                      </m:r>
                    </m:oMath>
                  </m:oMathPara>
                </a14:m>
                <a:endParaRPr lang="zh-CN" altLang="en-US" dirty="0"/>
              </a:p>
            </p:txBody>
          </p:sp>
        </mc:Choice>
        <mc:Fallback xmlns="">
          <p:sp>
            <p:nvSpPr>
              <p:cNvPr id="16" name="文本框 15">
                <a:extLst>
                  <a:ext uri="{FF2B5EF4-FFF2-40B4-BE49-F238E27FC236}">
                    <a16:creationId xmlns:a16="http://schemas.microsoft.com/office/drawing/2014/main" id="{321FCE55-74DB-CE5A-79EC-B395F9414230}"/>
                  </a:ext>
                </a:extLst>
              </p:cNvPr>
              <p:cNvSpPr txBox="1">
                <a:spLocks noRot="1" noChangeAspect="1" noMove="1" noResize="1" noEditPoints="1" noAdjustHandles="1" noChangeArrowheads="1" noChangeShapeType="1" noTextEdit="1"/>
              </p:cNvSpPr>
              <p:nvPr/>
            </p:nvSpPr>
            <p:spPr>
              <a:xfrm>
                <a:off x="6716657" y="5821550"/>
                <a:ext cx="6154614" cy="369332"/>
              </a:xfrm>
              <a:prstGeom prst="rect">
                <a:avLst/>
              </a:prstGeom>
              <a:blipFill>
                <a:blip r:embed="rId17"/>
                <a:stretch>
                  <a:fillRect b="-9836"/>
                </a:stretch>
              </a:blipFill>
            </p:spPr>
            <p:txBody>
              <a:bodyPr/>
              <a:lstStyle/>
              <a:p>
                <a:r>
                  <a:rPr lang="zh-CN" altLang="en-US">
                    <a:noFill/>
                  </a:rPr>
                  <a:t> </a:t>
                </a:r>
              </a:p>
            </p:txBody>
          </p:sp>
        </mc:Fallback>
      </mc:AlternateContent>
      <p:cxnSp>
        <p:nvCxnSpPr>
          <p:cNvPr id="18" name="直接箭头连接符 17">
            <a:extLst>
              <a:ext uri="{FF2B5EF4-FFF2-40B4-BE49-F238E27FC236}">
                <a16:creationId xmlns:a16="http://schemas.microsoft.com/office/drawing/2014/main" id="{3CA901E7-962E-880A-29D2-33E134298917}"/>
              </a:ext>
            </a:extLst>
          </p:cNvPr>
          <p:cNvCxnSpPr>
            <a:cxnSpLocks/>
            <a:stCxn id="16" idx="0"/>
          </p:cNvCxnSpPr>
          <p:nvPr/>
        </p:nvCxnSpPr>
        <p:spPr>
          <a:xfrm flipV="1">
            <a:off x="9793964" y="5486359"/>
            <a:ext cx="0" cy="3351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12541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t>3.1 </a:t>
            </a:r>
            <a:r>
              <a:rPr lang="zh-CN" altLang="en-US" sz="3200" dirty="0"/>
              <a:t>密码学的起源与发展</a:t>
            </a:r>
            <a:endParaRPr lang="en-US" altLang="zh-CN" sz="3200" dirty="0"/>
          </a:p>
          <a:p>
            <a:pPr>
              <a:buNone/>
            </a:pPr>
            <a:r>
              <a:rPr lang="en-US" altLang="zh-CN" sz="3200" dirty="0"/>
              <a:t>3.2 </a:t>
            </a:r>
            <a:r>
              <a:rPr lang="zh-CN" altLang="en-US" sz="3200" dirty="0"/>
              <a:t>换位法</a:t>
            </a:r>
          </a:p>
          <a:p>
            <a:pPr>
              <a:buNone/>
            </a:pPr>
            <a:r>
              <a:rPr lang="en-US" altLang="zh-CN" sz="3200" dirty="0"/>
              <a:t>3.3 </a:t>
            </a:r>
            <a:r>
              <a:rPr lang="zh-CN" altLang="en-US" sz="3200" dirty="0"/>
              <a:t>简单代替密码</a:t>
            </a:r>
          </a:p>
          <a:p>
            <a:pPr>
              <a:buNone/>
            </a:pPr>
            <a:r>
              <a:rPr lang="en-US" altLang="zh-CN" sz="3200" dirty="0">
                <a:solidFill>
                  <a:srgbClr val="FF0000"/>
                </a:solidFill>
              </a:rPr>
              <a:t>3.4 </a:t>
            </a:r>
            <a:r>
              <a:rPr lang="zh-CN" altLang="en-US" sz="3200" dirty="0">
                <a:solidFill>
                  <a:srgbClr val="FF0000"/>
                </a:solidFill>
              </a:rPr>
              <a:t>同音代替密码</a:t>
            </a:r>
          </a:p>
          <a:p>
            <a:pPr>
              <a:buNone/>
            </a:pPr>
            <a:r>
              <a:rPr lang="en-US" altLang="zh-CN" sz="3200" dirty="0"/>
              <a:t>3.5 </a:t>
            </a:r>
            <a:r>
              <a:rPr lang="zh-CN" altLang="en-US" sz="3200" dirty="0"/>
              <a:t>多表代替密码</a:t>
            </a:r>
          </a:p>
          <a:p>
            <a:pPr>
              <a:buNone/>
            </a:pPr>
            <a:r>
              <a:rPr lang="en-US" altLang="zh-CN" sz="3200" dirty="0"/>
              <a:t>3.6 </a:t>
            </a:r>
            <a:r>
              <a:rPr lang="zh-CN" altLang="en-US" sz="3200" dirty="0"/>
              <a:t>多字母组代替密码</a:t>
            </a:r>
            <a:endParaRPr lang="en-US" altLang="zh-CN" sz="3200" dirty="0"/>
          </a:p>
          <a:p>
            <a:pPr>
              <a:buNone/>
            </a:pPr>
            <a:r>
              <a:rPr lang="en-US" altLang="zh-CN" sz="3200" dirty="0"/>
              <a:t>3.7 </a:t>
            </a:r>
            <a:r>
              <a:rPr lang="zh-CN" altLang="en-US" sz="3200" dirty="0"/>
              <a:t>古典密码分析</a:t>
            </a:r>
            <a:endParaRPr lang="en-US" altLang="zh-CN" sz="3200" dirty="0"/>
          </a:p>
          <a:p>
            <a:pPr>
              <a:buNone/>
            </a:pPr>
            <a:endParaRPr lang="zh-CN" altLang="en-US" sz="32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135772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en-US" dirty="0"/>
              <a:t>同音代替密码</a:t>
            </a:r>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lang="zh-CN" altLang="en-US" dirty="0">
                <a:solidFill>
                  <a:srgbClr val="C00000"/>
                </a:solidFill>
              </a:rPr>
              <a:t>同音代替密码</a:t>
            </a:r>
            <a:r>
              <a:rPr lang="zh-CN" altLang="en-US" dirty="0"/>
              <a:t>：将明文字母表中的每个字母</a:t>
            </a:r>
            <a:r>
              <a:rPr lang="en-US" altLang="zh-CN" dirty="0"/>
              <a:t>a</a:t>
            </a:r>
            <a:r>
              <a:rPr lang="zh-CN" altLang="en-US" dirty="0"/>
              <a:t>映射到一系列密文字母</a:t>
            </a:r>
            <a:r>
              <a:rPr lang="en-US" altLang="zh-CN" dirty="0"/>
              <a:t>f(a)</a:t>
            </a:r>
            <a:r>
              <a:rPr lang="zh-CN" altLang="en-US" dirty="0"/>
              <a:t>，这些</a:t>
            </a:r>
            <a:r>
              <a:rPr lang="en-US" altLang="zh-CN" dirty="0"/>
              <a:t>f(a)</a:t>
            </a:r>
            <a:r>
              <a:rPr lang="zh-CN" altLang="en-US" dirty="0"/>
              <a:t>称为同音字母。这样，一个明文信息</a:t>
            </a:r>
            <a:r>
              <a:rPr lang="en-US" altLang="zh-CN" dirty="0"/>
              <a:t>M=m</a:t>
            </a:r>
            <a:r>
              <a:rPr lang="en-US" altLang="zh-CN" baseline="-25000" dirty="0"/>
              <a:t>1</a:t>
            </a:r>
            <a:r>
              <a:rPr lang="en-US" altLang="zh-CN" dirty="0"/>
              <a:t>m</a:t>
            </a:r>
            <a:r>
              <a:rPr lang="en-US" altLang="zh-CN" baseline="-25000" dirty="0"/>
              <a:t>2</a:t>
            </a:r>
            <a:r>
              <a:rPr lang="en-US" altLang="zh-CN" dirty="0"/>
              <a:t>…</a:t>
            </a:r>
            <a:r>
              <a:rPr lang="zh-CN" altLang="en-US" dirty="0"/>
              <a:t>被加密为</a:t>
            </a:r>
            <a:r>
              <a:rPr lang="en-US" altLang="zh-CN" dirty="0"/>
              <a:t>C=c</a:t>
            </a:r>
            <a:r>
              <a:rPr lang="en-US" altLang="zh-CN" baseline="-25000" dirty="0"/>
              <a:t>1</a:t>
            </a:r>
            <a:r>
              <a:rPr lang="en-US" altLang="zh-CN" dirty="0"/>
              <a:t>c</a:t>
            </a:r>
            <a:r>
              <a:rPr lang="en-US" altLang="zh-CN" baseline="-25000" dirty="0"/>
              <a:t>2</a:t>
            </a:r>
            <a:r>
              <a:rPr lang="en-US" altLang="zh-CN" dirty="0"/>
              <a:t>…,</a:t>
            </a:r>
            <a:r>
              <a:rPr lang="zh-CN" altLang="en-US" dirty="0"/>
              <a:t>其中</a:t>
            </a:r>
            <a:r>
              <a:rPr lang="en-US" altLang="zh-CN" dirty="0"/>
              <a:t>c</a:t>
            </a:r>
            <a:r>
              <a:rPr lang="en-US" altLang="zh-CN" baseline="-25000" dirty="0"/>
              <a:t>i</a:t>
            </a:r>
            <a:r>
              <a:rPr lang="zh-CN" altLang="en-US" dirty="0"/>
              <a:t>是从</a:t>
            </a:r>
            <a:r>
              <a:rPr lang="en-US" altLang="zh-CN" dirty="0"/>
              <a:t>f(m</a:t>
            </a:r>
            <a:r>
              <a:rPr lang="en-US" altLang="zh-CN" baseline="-25000" dirty="0"/>
              <a:t>i</a:t>
            </a:r>
            <a:r>
              <a:rPr lang="en-US" altLang="zh-CN" dirty="0"/>
              <a:t>)</a:t>
            </a:r>
            <a:r>
              <a:rPr lang="zh-CN" altLang="en-US" dirty="0"/>
              <a:t>的集合中随机选取的。</a:t>
            </a:r>
          </a:p>
          <a:p>
            <a:pPr>
              <a:lnSpc>
                <a:spcPct val="150000"/>
              </a:lnSpc>
            </a:pPr>
            <a:r>
              <a:rPr lang="zh-CN" altLang="en-US" dirty="0"/>
              <a:t>因为密文符号的相关分布会近似于平的，可以挫败频率分析，所以同音代替密码比简单代替密码难破译得多。</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28</a:t>
            </a:fld>
            <a:endParaRPr kumimoji="1" lang="zh-CN" altLang="en-US" dirty="0"/>
          </a:p>
        </p:txBody>
      </p:sp>
    </p:spTree>
    <p:extLst>
      <p:ext uri="{BB962C8B-B14F-4D97-AF65-F5344CB8AC3E}">
        <p14:creationId xmlns:p14="http://schemas.microsoft.com/office/powerpoint/2010/main" val="6976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en-US" dirty="0"/>
              <a:t>同音代替密码</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29</a:t>
            </a:fld>
            <a:endParaRPr kumimoji="1" lang="zh-CN" altLang="en-US" dirty="0"/>
          </a:p>
        </p:txBody>
      </p:sp>
      <p:grpSp>
        <p:nvGrpSpPr>
          <p:cNvPr id="5" name="组合 4"/>
          <p:cNvGrpSpPr/>
          <p:nvPr/>
        </p:nvGrpSpPr>
        <p:grpSpPr>
          <a:xfrm>
            <a:off x="4874669" y="1367942"/>
            <a:ext cx="7592824" cy="5307494"/>
            <a:chOff x="1066800" y="762000"/>
            <a:chExt cx="7592824" cy="5877427"/>
          </a:xfrm>
        </p:grpSpPr>
        <p:sp>
          <p:nvSpPr>
            <p:cNvPr id="6" name="Line 2"/>
            <p:cNvSpPr>
              <a:spLocks noChangeShapeType="1"/>
            </p:cNvSpPr>
            <p:nvPr/>
          </p:nvSpPr>
          <p:spPr bwMode="auto">
            <a:xfrm>
              <a:off x="1143000" y="1295400"/>
              <a:ext cx="5943600" cy="0"/>
            </a:xfrm>
            <a:prstGeom prst="line">
              <a:avLst/>
            </a:prstGeom>
            <a:noFill/>
            <a:ln w="38100" cap="sq">
              <a:solidFill>
                <a:schemeClr val="tx1"/>
              </a:solidFill>
              <a:round/>
              <a:headEnd type="none" w="sm" len="sm"/>
              <a:tailEnd type="none" w="sm" len="sm"/>
            </a:ln>
            <a:effectLst/>
          </p:spPr>
          <p:txBody>
            <a:bodyPr wrap="none"/>
            <a:lstStyle/>
            <a:p>
              <a:pPr algn="ctr">
                <a:defRPr/>
              </a:pPr>
              <a:endParaRPr lang="zh-CN" altLang="en-US">
                <a:effectLst>
                  <a:outerShdw blurRad="38100" dist="38100" dir="2700000" algn="tl">
                    <a:srgbClr val="000000">
                      <a:alpha val="43137"/>
                    </a:srgbClr>
                  </a:outerShdw>
                </a:effectLst>
              </a:endParaRPr>
            </a:p>
          </p:txBody>
        </p:sp>
        <p:sp>
          <p:nvSpPr>
            <p:cNvPr id="7" name="Text Box 3"/>
            <p:cNvSpPr txBox="1">
              <a:spLocks noChangeArrowheads="1"/>
            </p:cNvSpPr>
            <p:nvPr/>
          </p:nvSpPr>
          <p:spPr bwMode="auto">
            <a:xfrm>
              <a:off x="1066800" y="7620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b="0" dirty="0">
                  <a:solidFill>
                    <a:schemeClr val="tx1"/>
                  </a:solidFill>
                  <a:latin typeface="Times New Roman" panose="02020603050405020304" pitchFamily="18" charset="0"/>
                </a:rPr>
                <a:t>字母</a:t>
              </a:r>
            </a:p>
          </p:txBody>
        </p:sp>
        <p:sp>
          <p:nvSpPr>
            <p:cNvPr id="8" name="Text Box 4"/>
            <p:cNvSpPr txBox="1">
              <a:spLocks noChangeArrowheads="1"/>
            </p:cNvSpPr>
            <p:nvPr/>
          </p:nvSpPr>
          <p:spPr bwMode="auto">
            <a:xfrm>
              <a:off x="3429000" y="7620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b="0">
                  <a:solidFill>
                    <a:schemeClr val="tx1"/>
                  </a:solidFill>
                  <a:latin typeface="Times New Roman" panose="02020603050405020304" pitchFamily="18" charset="0"/>
                </a:rPr>
                <a:t>同音字母</a:t>
              </a:r>
            </a:p>
          </p:txBody>
        </p:sp>
        <p:sp>
          <p:nvSpPr>
            <p:cNvPr id="9" name="Text Box 5"/>
            <p:cNvSpPr txBox="1">
              <a:spLocks noChangeArrowheads="1"/>
            </p:cNvSpPr>
            <p:nvPr/>
          </p:nvSpPr>
          <p:spPr bwMode="auto">
            <a:xfrm>
              <a:off x="1295400" y="1295400"/>
              <a:ext cx="65532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宋体" panose="02010600030101010101" pitchFamily="2" charset="-122"/>
                </a:rPr>
                <a:t>A    17  19  34  41  56  60  67  83</a:t>
              </a:r>
            </a:p>
            <a:p>
              <a:pPr>
                <a:spcBef>
                  <a:spcPct val="50000"/>
                </a:spcBef>
              </a:pPr>
              <a:r>
                <a:rPr kumimoji="1" lang="en-US" altLang="zh-CN" sz="2400" b="0" dirty="0">
                  <a:solidFill>
                    <a:schemeClr val="tx1"/>
                  </a:solidFill>
                  <a:latin typeface="宋体" panose="02010600030101010101" pitchFamily="2" charset="-122"/>
                </a:rPr>
                <a:t>I    08  22  53  65  88  90</a:t>
              </a:r>
            </a:p>
            <a:p>
              <a:pPr>
                <a:spcBef>
                  <a:spcPct val="50000"/>
                </a:spcBef>
              </a:pPr>
              <a:r>
                <a:rPr kumimoji="1" lang="en-US" altLang="zh-CN" sz="2400" b="0" dirty="0">
                  <a:solidFill>
                    <a:schemeClr val="tx1"/>
                  </a:solidFill>
                  <a:latin typeface="宋体" panose="02010600030101010101" pitchFamily="2" charset="-122"/>
                </a:rPr>
                <a:t>L    03  44  76</a:t>
              </a:r>
            </a:p>
            <a:p>
              <a:pPr>
                <a:spcBef>
                  <a:spcPct val="50000"/>
                </a:spcBef>
              </a:pPr>
              <a:r>
                <a:rPr kumimoji="1" lang="en-US" altLang="zh-CN" sz="2400" b="0" dirty="0">
                  <a:solidFill>
                    <a:schemeClr val="tx1"/>
                  </a:solidFill>
                  <a:latin typeface="宋体" panose="02010600030101010101" pitchFamily="2" charset="-122"/>
                </a:rPr>
                <a:t>N    02  09  15  27  32  40  59</a:t>
              </a:r>
            </a:p>
            <a:p>
              <a:pPr>
                <a:spcBef>
                  <a:spcPct val="50000"/>
                </a:spcBef>
              </a:pPr>
              <a:r>
                <a:rPr kumimoji="1" lang="en-US" altLang="zh-CN" sz="2400" b="0" dirty="0">
                  <a:solidFill>
                    <a:schemeClr val="tx1"/>
                  </a:solidFill>
                  <a:latin typeface="宋体" panose="02010600030101010101" pitchFamily="2" charset="-122"/>
                </a:rPr>
                <a:t>O    01  11  23  28  42  54  70  80</a:t>
              </a:r>
            </a:p>
            <a:p>
              <a:pPr>
                <a:spcBef>
                  <a:spcPct val="50000"/>
                </a:spcBef>
              </a:pPr>
              <a:r>
                <a:rPr kumimoji="1" lang="en-US" altLang="zh-CN" sz="2400" b="0" dirty="0">
                  <a:solidFill>
                    <a:schemeClr val="tx1"/>
                  </a:solidFill>
                  <a:latin typeface="宋体" panose="02010600030101010101" pitchFamily="2" charset="-122"/>
                </a:rPr>
                <a:t>P    33  91</a:t>
              </a:r>
            </a:p>
            <a:p>
              <a:pPr>
                <a:spcBef>
                  <a:spcPct val="50000"/>
                </a:spcBef>
              </a:pPr>
              <a:r>
                <a:rPr kumimoji="1" lang="en-US" altLang="zh-CN" sz="2400" b="0" dirty="0">
                  <a:solidFill>
                    <a:schemeClr val="tx1"/>
                  </a:solidFill>
                  <a:latin typeface="宋体" panose="02010600030101010101" pitchFamily="2" charset="-122"/>
                </a:rPr>
                <a:t>T    05  10  20  29  45  58  64  78  99</a:t>
              </a:r>
            </a:p>
          </p:txBody>
        </p:sp>
        <p:sp>
          <p:nvSpPr>
            <p:cNvPr id="10" name="Text Box 6"/>
            <p:cNvSpPr txBox="1">
              <a:spLocks noChangeArrowheads="1"/>
            </p:cNvSpPr>
            <p:nvPr/>
          </p:nvSpPr>
          <p:spPr bwMode="auto">
            <a:xfrm>
              <a:off x="1295400" y="5514699"/>
              <a:ext cx="7364224" cy="1124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宋体" panose="02010600030101010101" pitchFamily="2" charset="-122"/>
                </a:rPr>
                <a:t>M =  P  L  A  I  N  P  I  L  O  T</a:t>
              </a:r>
            </a:p>
            <a:p>
              <a:pPr>
                <a:spcBef>
                  <a:spcPct val="50000"/>
                </a:spcBef>
              </a:pPr>
              <a:r>
                <a:rPr kumimoji="1" lang="en-US" altLang="zh-CN" sz="2400" b="0" dirty="0">
                  <a:solidFill>
                    <a:schemeClr val="tx1"/>
                  </a:solidFill>
                  <a:latin typeface="宋体" panose="02010600030101010101" pitchFamily="2" charset="-122"/>
                </a:rPr>
                <a:t>C = 91 44 56 65 59 33 08 76 28 78</a:t>
              </a:r>
            </a:p>
          </p:txBody>
        </p:sp>
      </p:grpSp>
      <p:sp>
        <p:nvSpPr>
          <p:cNvPr id="14" name="文本框 13">
            <a:extLst>
              <a:ext uri="{FF2B5EF4-FFF2-40B4-BE49-F238E27FC236}">
                <a16:creationId xmlns:a16="http://schemas.microsoft.com/office/drawing/2014/main" id="{3FAE23AE-3935-0558-FA95-56263EC43974}"/>
              </a:ext>
            </a:extLst>
          </p:cNvPr>
          <p:cNvSpPr txBox="1"/>
          <p:nvPr/>
        </p:nvSpPr>
        <p:spPr>
          <a:xfrm>
            <a:off x="1017777" y="2339134"/>
            <a:ext cx="3495608" cy="2246769"/>
          </a:xfrm>
          <a:prstGeom prst="rect">
            <a:avLst/>
          </a:prstGeom>
          <a:noFill/>
        </p:spPr>
        <p:txBody>
          <a:bodyPr wrap="square">
            <a:spAutoFit/>
          </a:bodyPr>
          <a:lstStyle/>
          <a:p>
            <a:r>
              <a:rPr lang="zh-CN" altLang="en-US" sz="2000" b="1" dirty="0">
                <a:highlight>
                  <a:srgbClr val="FFFF00"/>
                </a:highlight>
              </a:rPr>
              <a:t>每次遇到同一个字母，我们都可以从它的代号池里“随机”挑选一个数字</a:t>
            </a:r>
            <a:r>
              <a:rPr lang="zh-CN" altLang="en-US" sz="2000" dirty="0">
                <a:highlight>
                  <a:srgbClr val="FFFF00"/>
                </a:highlight>
              </a:rPr>
              <a:t>。这就实现了“同字不同密”</a:t>
            </a:r>
            <a:endParaRPr lang="en-US" altLang="zh-CN" sz="2000" dirty="0">
              <a:highlight>
                <a:srgbClr val="FFFF00"/>
              </a:highlight>
            </a:endParaRPr>
          </a:p>
          <a:p>
            <a:r>
              <a:rPr lang="zh-CN" altLang="en-US" sz="2000" dirty="0">
                <a:highlight>
                  <a:srgbClr val="FFFF00"/>
                </a:highlight>
              </a:rPr>
              <a:t>接收方也需要拥有相同的代替密码本，同时一旦密码本泄露就完蛋了。</a:t>
            </a:r>
          </a:p>
        </p:txBody>
      </p:sp>
      <p:sp>
        <p:nvSpPr>
          <p:cNvPr id="16" name="文本框 15">
            <a:extLst>
              <a:ext uri="{FF2B5EF4-FFF2-40B4-BE49-F238E27FC236}">
                <a16:creationId xmlns:a16="http://schemas.microsoft.com/office/drawing/2014/main" id="{D6B63D43-918D-C251-D129-F05619A0B411}"/>
              </a:ext>
            </a:extLst>
          </p:cNvPr>
          <p:cNvSpPr txBox="1"/>
          <p:nvPr/>
        </p:nvSpPr>
        <p:spPr>
          <a:xfrm>
            <a:off x="518747" y="1427854"/>
            <a:ext cx="6383214" cy="662554"/>
          </a:xfrm>
          <a:prstGeom prst="rect">
            <a:avLst/>
          </a:prstGeom>
          <a:noFill/>
        </p:spPr>
        <p:txBody>
          <a:bodyPr wrap="square">
            <a:spAutoFit/>
          </a:bodyPr>
          <a:lstStyle/>
          <a:p>
            <a:pPr marL="228600" indent="-228600">
              <a:lnSpc>
                <a:spcPct val="150000"/>
              </a:lnSpc>
              <a:spcBef>
                <a:spcPts val="600"/>
              </a:spcBef>
              <a:buFont typeface="Wingdings" pitchFamily="2" charset="2"/>
              <a:buChar char="Ø"/>
            </a:pPr>
            <a:r>
              <a:rPr lang="zh-CN" altLang="en-US" sz="2800" dirty="0">
                <a:solidFill>
                  <a:srgbClr val="C00000"/>
                </a:solidFill>
                <a:latin typeface="Microsoft YaHei" panose="020B0503020204020204" pitchFamily="34" charset="-122"/>
                <a:ea typeface="Microsoft YaHei" panose="020B0503020204020204" pitchFamily="34" charset="-122"/>
              </a:rPr>
              <a:t>基础同音代替密码</a:t>
            </a:r>
          </a:p>
        </p:txBody>
      </p:sp>
    </p:spTree>
    <p:extLst>
      <p:ext uri="{BB962C8B-B14F-4D97-AF65-F5344CB8AC3E}">
        <p14:creationId xmlns:p14="http://schemas.microsoft.com/office/powerpoint/2010/main" val="3021305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en-US" dirty="0"/>
              <a:t>同音代替密码</a:t>
            </a:r>
          </a:p>
        </p:txBody>
      </p:sp>
      <p:sp>
        <p:nvSpPr>
          <p:cNvPr id="3" name="内容占位符 2"/>
          <p:cNvSpPr>
            <a:spLocks noGrp="1"/>
          </p:cNvSpPr>
          <p:nvPr>
            <p:ph idx="1"/>
          </p:nvPr>
        </p:nvSpPr>
        <p:spPr>
          <a:xfrm>
            <a:off x="838200" y="1510758"/>
            <a:ext cx="10515600" cy="4982116"/>
          </a:xfrm>
        </p:spPr>
        <p:txBody>
          <a:bodyPr>
            <a:normAutofit lnSpcReduction="10000"/>
          </a:bodyPr>
          <a:lstStyle/>
          <a:p>
            <a:pPr>
              <a:lnSpc>
                <a:spcPct val="150000"/>
              </a:lnSpc>
            </a:pPr>
            <a:r>
              <a:rPr lang="en-US" altLang="zh-CN" dirty="0">
                <a:solidFill>
                  <a:srgbClr val="C00000"/>
                </a:solidFill>
              </a:rPr>
              <a:t>Beale</a:t>
            </a:r>
            <a:r>
              <a:rPr lang="zh-CN" altLang="en-US" dirty="0">
                <a:solidFill>
                  <a:srgbClr val="C00000"/>
                </a:solidFill>
              </a:rPr>
              <a:t>密码</a:t>
            </a:r>
            <a:endParaRPr lang="en-US" altLang="zh-CN" dirty="0">
              <a:solidFill>
                <a:srgbClr val="C00000"/>
              </a:solidFill>
            </a:endParaRPr>
          </a:p>
          <a:p>
            <a:pPr>
              <a:lnSpc>
                <a:spcPct val="150000"/>
              </a:lnSpc>
            </a:pPr>
            <a:endParaRPr lang="en-US" altLang="zh-CN" dirty="0">
              <a:solidFill>
                <a:srgbClr val="C00000"/>
              </a:solidFill>
            </a:endParaRPr>
          </a:p>
          <a:p>
            <a:pPr>
              <a:lnSpc>
                <a:spcPct val="150000"/>
              </a:lnSpc>
            </a:pPr>
            <a:endParaRPr lang="en-US" altLang="zh-CN" dirty="0">
              <a:solidFill>
                <a:srgbClr val="C00000"/>
              </a:solidFill>
            </a:endParaRPr>
          </a:p>
          <a:p>
            <a:pPr>
              <a:lnSpc>
                <a:spcPct val="150000"/>
              </a:lnSpc>
            </a:pPr>
            <a:endParaRPr lang="en-US" altLang="zh-CN" dirty="0">
              <a:solidFill>
                <a:srgbClr val="C00000"/>
              </a:solidFill>
            </a:endParaRPr>
          </a:p>
          <a:p>
            <a:pPr>
              <a:lnSpc>
                <a:spcPct val="150000"/>
              </a:lnSpc>
            </a:pPr>
            <a:endParaRPr lang="en-US" altLang="zh-CN" dirty="0">
              <a:solidFill>
                <a:srgbClr val="C00000"/>
              </a:solidFill>
            </a:endParaRPr>
          </a:p>
          <a:p>
            <a:pPr>
              <a:lnSpc>
                <a:spcPct val="150000"/>
              </a:lnSpc>
            </a:pPr>
            <a:endParaRPr lang="en-US" altLang="zh-CN" dirty="0">
              <a:solidFill>
                <a:srgbClr val="C00000"/>
              </a:solidFill>
            </a:endParaRPr>
          </a:p>
          <a:p>
            <a:pPr lvl="1"/>
            <a:r>
              <a:rPr kumimoji="1" lang="en-US" altLang="zh-CN" dirty="0">
                <a:latin typeface="Times New Roman" panose="02020603050405020304" pitchFamily="18" charset="0"/>
              </a:rPr>
              <a:t>C= 115 73 24 818 37 52 49 17 31 62 657 22 7 15…</a:t>
            </a:r>
          </a:p>
          <a:p>
            <a:pPr lvl="1"/>
            <a:r>
              <a:rPr kumimoji="1" lang="en-US" altLang="zh-CN" dirty="0">
                <a:latin typeface="Times New Roman" panose="02020603050405020304" pitchFamily="18" charset="0"/>
              </a:rPr>
              <a:t>M= I have deposited…</a:t>
            </a:r>
          </a:p>
          <a:p>
            <a:pPr lvl="1">
              <a:lnSpc>
                <a:spcPct val="150000"/>
              </a:lnSpc>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30</a:t>
            </a:fld>
            <a:endParaRPr kumimoji="1" lang="zh-CN" altLang="en-US" dirty="0"/>
          </a:p>
        </p:txBody>
      </p:sp>
      <p:grpSp>
        <p:nvGrpSpPr>
          <p:cNvPr id="11" name="组合 10"/>
          <p:cNvGrpSpPr/>
          <p:nvPr/>
        </p:nvGrpSpPr>
        <p:grpSpPr>
          <a:xfrm>
            <a:off x="2912423" y="1433739"/>
            <a:ext cx="8763000" cy="3886200"/>
            <a:chOff x="228600" y="1295400"/>
            <a:chExt cx="8763000" cy="3886200"/>
          </a:xfrm>
        </p:grpSpPr>
        <p:sp>
          <p:nvSpPr>
            <p:cNvPr id="12" name="Line 5"/>
            <p:cNvSpPr>
              <a:spLocks noChangeShapeType="1"/>
            </p:cNvSpPr>
            <p:nvPr/>
          </p:nvSpPr>
          <p:spPr bwMode="auto">
            <a:xfrm>
              <a:off x="228600" y="1295400"/>
              <a:ext cx="8763000" cy="0"/>
            </a:xfrm>
            <a:prstGeom prst="line">
              <a:avLst/>
            </a:prstGeom>
            <a:noFill/>
            <a:ln w="38100" cap="sq">
              <a:solidFill>
                <a:schemeClr val="tx1"/>
              </a:solidFill>
              <a:round/>
              <a:headEnd type="none" w="sm" len="sm"/>
              <a:tailEnd type="none" w="sm" len="sm"/>
            </a:ln>
            <a:effectLst/>
          </p:spPr>
          <p:txBody>
            <a:bodyPr wrap="none"/>
            <a:lstStyle/>
            <a:p>
              <a:pPr algn="ctr">
                <a:defRPr/>
              </a:pPr>
              <a:endParaRPr lang="zh-CN" altLang="en-US">
                <a:effectLst>
                  <a:outerShdw blurRad="38100" dist="38100" dir="2700000" algn="tl">
                    <a:srgbClr val="000000">
                      <a:alpha val="43137"/>
                    </a:srgbClr>
                  </a:outerShdw>
                </a:effectLst>
              </a:endParaRPr>
            </a:p>
          </p:txBody>
        </p:sp>
        <p:sp>
          <p:nvSpPr>
            <p:cNvPr id="13" name="Line 6"/>
            <p:cNvSpPr>
              <a:spLocks noChangeShapeType="1"/>
            </p:cNvSpPr>
            <p:nvPr/>
          </p:nvSpPr>
          <p:spPr bwMode="auto">
            <a:xfrm>
              <a:off x="228600" y="5181600"/>
              <a:ext cx="8686800" cy="0"/>
            </a:xfrm>
            <a:prstGeom prst="line">
              <a:avLst/>
            </a:prstGeom>
            <a:noFill/>
            <a:ln w="38100" cap="sq">
              <a:solidFill>
                <a:schemeClr val="tx1"/>
              </a:solidFill>
              <a:round/>
              <a:headEnd type="none" w="sm" len="sm"/>
              <a:tailEnd type="none" w="sm" len="sm"/>
            </a:ln>
            <a:effectLst/>
          </p:spPr>
          <p:txBody>
            <a:bodyPr wrap="none"/>
            <a:lstStyle/>
            <a:p>
              <a:pPr algn="ctr">
                <a:defRPr/>
              </a:pPr>
              <a:endParaRPr lang="zh-CN" altLang="en-US">
                <a:effectLst>
                  <a:outerShdw blurRad="38100" dist="38100" dir="2700000" algn="tl">
                    <a:srgbClr val="000000">
                      <a:alpha val="43137"/>
                    </a:srgbClr>
                  </a:outerShdw>
                </a:effectLst>
              </a:endParaRPr>
            </a:p>
          </p:txBody>
        </p:sp>
        <p:sp>
          <p:nvSpPr>
            <p:cNvPr id="14" name="Text Box 7"/>
            <p:cNvSpPr txBox="1">
              <a:spLocks noChangeArrowheads="1"/>
            </p:cNvSpPr>
            <p:nvPr/>
          </p:nvSpPr>
          <p:spPr bwMode="auto">
            <a:xfrm>
              <a:off x="228600" y="1444625"/>
              <a:ext cx="8610600" cy="369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60000"/>
                </a:lnSpc>
                <a:spcBef>
                  <a:spcPct val="50000"/>
                </a:spcBef>
              </a:pPr>
              <a:r>
                <a:rPr kumimoji="1" lang="en-US" altLang="zh-CN" sz="2400" b="0" dirty="0">
                  <a:solidFill>
                    <a:schemeClr val="tx1"/>
                  </a:solidFill>
                  <a:latin typeface="Times New Roman" panose="02020603050405020304" pitchFamily="18" charset="0"/>
                </a:rPr>
                <a:t> </a:t>
              </a:r>
              <a:r>
                <a:rPr kumimoji="1" lang="en-US" altLang="zh-CN" sz="2000" dirty="0">
                  <a:solidFill>
                    <a:schemeClr val="tx1"/>
                  </a:solidFill>
                  <a:latin typeface="宋体" panose="02010600030101010101" pitchFamily="2" charset="-122"/>
                </a:rPr>
                <a:t>(1) When, in the course of human events, it becomes necessary</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(11) For one people to dissolve the political bands which have </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(21) Connected them with </a:t>
              </a:r>
              <a:r>
                <a:rPr kumimoji="1" lang="en-US" altLang="zh-CN" sz="2000" dirty="0">
                  <a:solidFill>
                    <a:schemeClr val="tx1"/>
                  </a:solidFill>
                  <a:highlight>
                    <a:srgbClr val="FFFF00"/>
                  </a:highlight>
                  <a:latin typeface="宋体" panose="02010600030101010101" pitchFamily="2" charset="-122"/>
                </a:rPr>
                <a:t>another</a:t>
              </a:r>
              <a:r>
                <a:rPr kumimoji="1" lang="en-US" altLang="zh-CN" sz="2000" dirty="0">
                  <a:solidFill>
                    <a:schemeClr val="tx1"/>
                  </a:solidFill>
                  <a:latin typeface="宋体" panose="02010600030101010101" pitchFamily="2" charset="-122"/>
                </a:rPr>
                <a:t>, and to assume among the Powers</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(31) Of the earth the separate and </a:t>
              </a:r>
              <a:r>
                <a:rPr kumimoji="1" lang="en-US" altLang="zh-CN" sz="2000" dirty="0">
                  <a:solidFill>
                    <a:schemeClr val="tx1"/>
                  </a:solidFill>
                  <a:highlight>
                    <a:srgbClr val="FFFF00"/>
                  </a:highlight>
                  <a:latin typeface="宋体" panose="02010600030101010101" pitchFamily="2" charset="-122"/>
                </a:rPr>
                <a:t>equal</a:t>
              </a:r>
              <a:r>
                <a:rPr kumimoji="1" lang="en-US" altLang="zh-CN" sz="2000" dirty="0">
                  <a:solidFill>
                    <a:schemeClr val="tx1"/>
                  </a:solidFill>
                  <a:latin typeface="宋体" panose="02010600030101010101" pitchFamily="2" charset="-122"/>
                </a:rPr>
                <a:t> station to which </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(41) The Laws of Nature and of Nature</a:t>
              </a:r>
              <a:r>
                <a:rPr kumimoji="1" lang="en-US" altLang="zh-CN" sz="2000" dirty="0">
                  <a:solidFill>
                    <a:schemeClr val="tx1"/>
                  </a:solidFill>
                  <a:latin typeface="Times New Roman" panose="02020603050405020304" pitchFamily="18" charset="0"/>
                </a:rPr>
                <a:t>’</a:t>
              </a:r>
              <a:r>
                <a:rPr kumimoji="1" lang="en-US" altLang="zh-CN" sz="2000" dirty="0">
                  <a:solidFill>
                    <a:schemeClr val="tx1"/>
                  </a:solidFill>
                  <a:latin typeface="宋体" panose="02010600030101010101" pitchFamily="2" charset="-122"/>
                </a:rPr>
                <a:t>s God entitle them,</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(51) A decent respect to the opinions of mankind requires that</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(61) They should declare the causes which impel them to the</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(71) separation. We </a:t>
              </a:r>
              <a:r>
                <a:rPr kumimoji="1" lang="en-US" altLang="zh-CN" sz="2000" dirty="0">
                  <a:solidFill>
                    <a:schemeClr val="tx1"/>
                  </a:solidFill>
                  <a:highlight>
                    <a:srgbClr val="FFFF00"/>
                  </a:highlight>
                  <a:latin typeface="宋体" panose="02010600030101010101" pitchFamily="2" charset="-122"/>
                </a:rPr>
                <a:t>hold</a:t>
              </a:r>
              <a:r>
                <a:rPr kumimoji="1" lang="en-US" altLang="zh-CN" sz="2000" dirty="0">
                  <a:solidFill>
                    <a:schemeClr val="tx1"/>
                  </a:solidFill>
                  <a:latin typeface="宋体" panose="02010600030101010101" pitchFamily="2" charset="-122"/>
                </a:rPr>
                <a:t> these truths to be self-evident, that</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(81) All men are created equal, that they are endowed by</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(91) Their Creator with certain unalienable rights, that among</a:t>
              </a:r>
            </a:p>
            <a:p>
              <a:pPr eaLnBrk="1" hangingPunct="1">
                <a:lnSpc>
                  <a:spcPct val="60000"/>
                </a:lnSpc>
                <a:spcBef>
                  <a:spcPct val="50000"/>
                </a:spcBef>
              </a:pPr>
              <a:r>
                <a:rPr kumimoji="1" lang="en-US" altLang="zh-CN" sz="2000" dirty="0">
                  <a:solidFill>
                    <a:schemeClr val="tx1"/>
                  </a:solidFill>
                  <a:latin typeface="宋体" panose="02010600030101010101" pitchFamily="2" charset="-122"/>
                </a:rPr>
                <a:t>(99) These are Life, Liberty, and the pursuit of Happiness.</a:t>
              </a:r>
            </a:p>
          </p:txBody>
        </p:sp>
      </p:grpSp>
      <p:cxnSp>
        <p:nvCxnSpPr>
          <p:cNvPr id="6" name="直接箭头连接符 5">
            <a:extLst>
              <a:ext uri="{FF2B5EF4-FFF2-40B4-BE49-F238E27FC236}">
                <a16:creationId xmlns:a16="http://schemas.microsoft.com/office/drawing/2014/main" id="{D5DB1284-A774-FBCC-F442-9FD9CD921238}"/>
              </a:ext>
            </a:extLst>
          </p:cNvPr>
          <p:cNvCxnSpPr/>
          <p:nvPr/>
        </p:nvCxnSpPr>
        <p:spPr>
          <a:xfrm flipH="1">
            <a:off x="2414954" y="4196862"/>
            <a:ext cx="3399692" cy="1840523"/>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 name="直接箭头连接符 6">
            <a:extLst>
              <a:ext uri="{FF2B5EF4-FFF2-40B4-BE49-F238E27FC236}">
                <a16:creationId xmlns:a16="http://schemas.microsoft.com/office/drawing/2014/main" id="{99EABBFD-4D7A-908C-FE4D-06637B0B6CFE}"/>
              </a:ext>
            </a:extLst>
          </p:cNvPr>
          <p:cNvCxnSpPr>
            <a:cxnSpLocks/>
          </p:cNvCxnSpPr>
          <p:nvPr/>
        </p:nvCxnSpPr>
        <p:spPr>
          <a:xfrm flipH="1">
            <a:off x="2567354" y="2661138"/>
            <a:ext cx="3810002" cy="3376247"/>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a:extLst>
              <a:ext uri="{FF2B5EF4-FFF2-40B4-BE49-F238E27FC236}">
                <a16:creationId xmlns:a16="http://schemas.microsoft.com/office/drawing/2014/main" id="{2F5012AA-E285-D4F7-D785-B4B85578E137}"/>
              </a:ext>
            </a:extLst>
          </p:cNvPr>
          <p:cNvCxnSpPr>
            <a:cxnSpLocks/>
          </p:cNvCxnSpPr>
          <p:nvPr/>
        </p:nvCxnSpPr>
        <p:spPr>
          <a:xfrm flipH="1">
            <a:off x="2912423" y="2977662"/>
            <a:ext cx="5117885" cy="3059723"/>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76A4D674-9E83-C40B-B8A0-85C79F95FFA7}"/>
              </a:ext>
            </a:extLst>
          </p:cNvPr>
          <p:cNvSpPr txBox="1"/>
          <p:nvPr/>
        </p:nvSpPr>
        <p:spPr>
          <a:xfrm>
            <a:off x="422031" y="2639197"/>
            <a:ext cx="2490392" cy="1938992"/>
          </a:xfrm>
          <a:prstGeom prst="rect">
            <a:avLst/>
          </a:prstGeom>
          <a:noFill/>
        </p:spPr>
        <p:txBody>
          <a:bodyPr wrap="square">
            <a:spAutoFit/>
          </a:bodyPr>
          <a:lstStyle/>
          <a:p>
            <a:r>
              <a:rPr lang="zh-CN" altLang="en-US" sz="2400" b="1" dirty="0">
                <a:highlight>
                  <a:srgbClr val="FFFF00"/>
                </a:highlight>
              </a:rPr>
              <a:t>接收方也需要知晓文章内容，如果文章被外人得知，所有的加密就形同虚设了。</a:t>
            </a:r>
          </a:p>
        </p:txBody>
      </p:sp>
    </p:spTree>
    <p:extLst>
      <p:ext uri="{BB962C8B-B14F-4D97-AF65-F5344CB8AC3E}">
        <p14:creationId xmlns:p14="http://schemas.microsoft.com/office/powerpoint/2010/main" val="515343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en-US" dirty="0"/>
              <a:t>同音代替密码</a:t>
            </a:r>
          </a:p>
        </p:txBody>
      </p:sp>
      <p:sp>
        <p:nvSpPr>
          <p:cNvPr id="3" name="内容占位符 2"/>
          <p:cNvSpPr>
            <a:spLocks noGrp="1"/>
          </p:cNvSpPr>
          <p:nvPr>
            <p:ph idx="1"/>
          </p:nvPr>
        </p:nvSpPr>
        <p:spPr>
          <a:xfrm>
            <a:off x="838200" y="1510758"/>
            <a:ext cx="10515600" cy="4982116"/>
          </a:xfrm>
        </p:spPr>
        <p:txBody>
          <a:bodyPr>
            <a:normAutofit/>
          </a:bodyPr>
          <a:lstStyle/>
          <a:p>
            <a:pPr>
              <a:lnSpc>
                <a:spcPct val="150000"/>
              </a:lnSpc>
            </a:pPr>
            <a:r>
              <a:rPr lang="zh-CN" altLang="en-US" dirty="0">
                <a:solidFill>
                  <a:srgbClr val="C00000"/>
                </a:solidFill>
              </a:rPr>
              <a:t>高阶同音代替密码</a:t>
            </a:r>
            <a:endParaRPr lang="en-US" altLang="zh-CN" dirty="0">
              <a:solidFill>
                <a:srgbClr val="C00000"/>
              </a:solidFill>
            </a:endParaRP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31</a:t>
            </a:fld>
            <a:endParaRPr kumimoji="1" lang="zh-CN" altLang="en-US" dirty="0"/>
          </a:p>
        </p:txBody>
      </p:sp>
      <p:grpSp>
        <p:nvGrpSpPr>
          <p:cNvPr id="9" name="组合 8"/>
          <p:cNvGrpSpPr/>
          <p:nvPr/>
        </p:nvGrpSpPr>
        <p:grpSpPr>
          <a:xfrm>
            <a:off x="6863861" y="1510758"/>
            <a:ext cx="4800600" cy="4876800"/>
            <a:chOff x="2057400" y="1600200"/>
            <a:chExt cx="4800600" cy="4876800"/>
          </a:xfrm>
        </p:grpSpPr>
        <p:grpSp>
          <p:nvGrpSpPr>
            <p:cNvPr id="10" name="Group 3"/>
            <p:cNvGrpSpPr>
              <a:grpSpLocks/>
            </p:cNvGrpSpPr>
            <p:nvPr/>
          </p:nvGrpSpPr>
          <p:grpSpPr bwMode="auto">
            <a:xfrm>
              <a:off x="2057400" y="1600200"/>
              <a:ext cx="4800600" cy="3363913"/>
              <a:chOff x="1248" y="1008"/>
              <a:chExt cx="3024" cy="2119"/>
            </a:xfrm>
          </p:grpSpPr>
          <p:sp>
            <p:nvSpPr>
              <p:cNvPr id="18" name="Line 4"/>
              <p:cNvSpPr>
                <a:spLocks noChangeShapeType="1"/>
              </p:cNvSpPr>
              <p:nvPr/>
            </p:nvSpPr>
            <p:spPr bwMode="auto">
              <a:xfrm>
                <a:off x="1632" y="1344"/>
                <a:ext cx="2640" cy="0"/>
              </a:xfrm>
              <a:prstGeom prst="line">
                <a:avLst/>
              </a:prstGeom>
              <a:noFill/>
              <a:ln w="12700" cap="sq">
                <a:solidFill>
                  <a:schemeClr val="tx1"/>
                </a:solidFill>
                <a:round/>
                <a:headEnd type="none" w="sm" len="sm"/>
                <a:tailEnd type="none" w="sm" len="sm"/>
              </a:ln>
              <a:effectLst/>
            </p:spPr>
            <p:txBody>
              <a:bodyPr wrap="none"/>
              <a:lstStyle/>
              <a:p>
                <a:pPr algn="ctr">
                  <a:defRPr/>
                </a:pPr>
                <a:endParaRPr lang="zh-CN" altLang="en-US">
                  <a:effectLst>
                    <a:outerShdw blurRad="38100" dist="38100" dir="2700000" algn="tl">
                      <a:srgbClr val="000000">
                        <a:alpha val="43137"/>
                      </a:srgbClr>
                    </a:outerShdw>
                  </a:effectLst>
                </a:endParaRPr>
              </a:p>
            </p:txBody>
          </p:sp>
          <p:sp>
            <p:nvSpPr>
              <p:cNvPr id="19" name="Line 5"/>
              <p:cNvSpPr>
                <a:spLocks noChangeShapeType="1"/>
              </p:cNvSpPr>
              <p:nvPr/>
            </p:nvSpPr>
            <p:spPr bwMode="auto">
              <a:xfrm>
                <a:off x="1632" y="1344"/>
                <a:ext cx="0" cy="1728"/>
              </a:xfrm>
              <a:prstGeom prst="line">
                <a:avLst/>
              </a:prstGeom>
              <a:noFill/>
              <a:ln w="12700" cap="sq">
                <a:solidFill>
                  <a:schemeClr val="tx1"/>
                </a:solidFill>
                <a:round/>
                <a:headEnd type="none" w="sm" len="sm"/>
                <a:tailEnd type="none" w="sm" len="sm"/>
              </a:ln>
              <a:effectLst/>
            </p:spPr>
            <p:txBody>
              <a:bodyPr wrap="none"/>
              <a:lstStyle/>
              <a:p>
                <a:pPr algn="ctr">
                  <a:defRPr/>
                </a:pPr>
                <a:endParaRPr lang="zh-CN" altLang="en-US">
                  <a:effectLst>
                    <a:outerShdw blurRad="38100" dist="38100" dir="2700000" algn="tl">
                      <a:srgbClr val="000000">
                        <a:alpha val="43137"/>
                      </a:srgbClr>
                    </a:outerShdw>
                  </a:effectLst>
                </a:endParaRPr>
              </a:p>
            </p:txBody>
          </p:sp>
          <p:sp>
            <p:nvSpPr>
              <p:cNvPr id="20" name="Text Box 6"/>
              <p:cNvSpPr txBox="1">
                <a:spLocks noChangeArrowheads="1"/>
              </p:cNvSpPr>
              <p:nvPr/>
            </p:nvSpPr>
            <p:spPr bwMode="auto">
              <a:xfrm>
                <a:off x="1728" y="1008"/>
                <a:ext cx="2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Times New Roman" panose="02020603050405020304" pitchFamily="18" charset="0"/>
                  </a:rPr>
                  <a:t>E        I        </a:t>
                </a:r>
                <a:r>
                  <a:rPr kumimoji="1" lang="en-US" altLang="zh-CN" sz="2400" b="0" dirty="0">
                    <a:solidFill>
                      <a:schemeClr val="tx1"/>
                    </a:solidFill>
                    <a:highlight>
                      <a:srgbClr val="FFFF00"/>
                    </a:highlight>
                    <a:latin typeface="Times New Roman" panose="02020603050405020304" pitchFamily="18" charset="0"/>
                  </a:rPr>
                  <a:t>L</a:t>
                </a:r>
                <a:r>
                  <a:rPr kumimoji="1" lang="en-US" altLang="zh-CN" sz="2400" b="0" dirty="0">
                    <a:solidFill>
                      <a:schemeClr val="tx1"/>
                    </a:solidFill>
                    <a:latin typeface="Times New Roman" panose="02020603050405020304" pitchFamily="18" charset="0"/>
                  </a:rPr>
                  <a:t>        M        S</a:t>
                </a:r>
              </a:p>
            </p:txBody>
          </p:sp>
          <p:sp>
            <p:nvSpPr>
              <p:cNvPr id="21" name="Text Box 7"/>
              <p:cNvSpPr txBox="1">
                <a:spLocks noChangeArrowheads="1"/>
              </p:cNvSpPr>
              <p:nvPr/>
            </p:nvSpPr>
            <p:spPr bwMode="auto">
              <a:xfrm>
                <a:off x="1248" y="1440"/>
                <a:ext cx="288"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Times New Roman" panose="02020603050405020304" pitchFamily="18" charset="0"/>
                  </a:rPr>
                  <a:t>E</a:t>
                </a:r>
              </a:p>
              <a:p>
                <a:pPr>
                  <a:spcBef>
                    <a:spcPct val="50000"/>
                  </a:spcBef>
                </a:pPr>
                <a:r>
                  <a:rPr kumimoji="1" lang="en-US" altLang="zh-CN" sz="2400" b="0" dirty="0">
                    <a:solidFill>
                      <a:schemeClr val="tx1"/>
                    </a:solidFill>
                    <a:latin typeface="Times New Roman" panose="02020603050405020304" pitchFamily="18" charset="0"/>
                  </a:rPr>
                  <a:t>I</a:t>
                </a:r>
              </a:p>
              <a:p>
                <a:pPr>
                  <a:spcBef>
                    <a:spcPct val="50000"/>
                  </a:spcBef>
                </a:pPr>
                <a:r>
                  <a:rPr kumimoji="1" lang="en-US" altLang="zh-CN" sz="2400" b="0" dirty="0">
                    <a:solidFill>
                      <a:schemeClr val="tx1"/>
                    </a:solidFill>
                    <a:latin typeface="Times New Roman" panose="02020603050405020304" pitchFamily="18" charset="0"/>
                  </a:rPr>
                  <a:t>L</a:t>
                </a:r>
              </a:p>
              <a:p>
                <a:pPr>
                  <a:spcBef>
                    <a:spcPct val="50000"/>
                  </a:spcBef>
                </a:pPr>
                <a:r>
                  <a:rPr kumimoji="1" lang="en-US" altLang="zh-CN" sz="2400" b="0" dirty="0">
                    <a:solidFill>
                      <a:schemeClr val="tx1"/>
                    </a:solidFill>
                    <a:latin typeface="Times New Roman" panose="02020603050405020304" pitchFamily="18" charset="0"/>
                  </a:rPr>
                  <a:t>M</a:t>
                </a:r>
              </a:p>
              <a:p>
                <a:pPr>
                  <a:spcBef>
                    <a:spcPct val="50000"/>
                  </a:spcBef>
                </a:pPr>
                <a:r>
                  <a:rPr kumimoji="1" lang="en-US" altLang="zh-CN" sz="2400" b="0" dirty="0">
                    <a:solidFill>
                      <a:schemeClr val="tx1"/>
                    </a:solidFill>
                    <a:highlight>
                      <a:srgbClr val="FFFF00"/>
                    </a:highlight>
                    <a:latin typeface="Times New Roman" panose="02020603050405020304" pitchFamily="18" charset="0"/>
                  </a:rPr>
                  <a:t>S</a:t>
                </a:r>
              </a:p>
            </p:txBody>
          </p:sp>
          <p:sp>
            <p:nvSpPr>
              <p:cNvPr id="22" name="Text Box 8"/>
              <p:cNvSpPr txBox="1">
                <a:spLocks noChangeArrowheads="1"/>
              </p:cNvSpPr>
              <p:nvPr/>
            </p:nvSpPr>
            <p:spPr bwMode="auto">
              <a:xfrm>
                <a:off x="1680" y="1440"/>
                <a:ext cx="2544"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Times New Roman" panose="02020603050405020304" pitchFamily="18" charset="0"/>
                  </a:rPr>
                  <a:t> 10     22      18       02       11</a:t>
                </a:r>
              </a:p>
              <a:p>
                <a:pPr>
                  <a:spcBef>
                    <a:spcPct val="50000"/>
                  </a:spcBef>
                </a:pPr>
                <a:r>
                  <a:rPr kumimoji="1" lang="en-US" altLang="zh-CN" sz="2400" b="0" dirty="0">
                    <a:solidFill>
                      <a:schemeClr val="tx1"/>
                    </a:solidFill>
                    <a:latin typeface="Times New Roman" panose="02020603050405020304" pitchFamily="18" charset="0"/>
                  </a:rPr>
                  <a:t> 12     01      25       05       20</a:t>
                </a:r>
              </a:p>
              <a:p>
                <a:pPr>
                  <a:spcBef>
                    <a:spcPct val="50000"/>
                  </a:spcBef>
                </a:pPr>
                <a:r>
                  <a:rPr kumimoji="1" lang="en-US" altLang="zh-CN" sz="2400" b="0" dirty="0">
                    <a:solidFill>
                      <a:schemeClr val="tx1"/>
                    </a:solidFill>
                    <a:latin typeface="Times New Roman" panose="02020603050405020304" pitchFamily="18" charset="0"/>
                  </a:rPr>
                  <a:t> 19     06      23       13       07</a:t>
                </a:r>
              </a:p>
              <a:p>
                <a:pPr>
                  <a:spcBef>
                    <a:spcPct val="50000"/>
                  </a:spcBef>
                </a:pPr>
                <a:r>
                  <a:rPr kumimoji="1" lang="en-US" altLang="zh-CN" sz="2400" b="0" dirty="0">
                    <a:solidFill>
                      <a:schemeClr val="tx1"/>
                    </a:solidFill>
                    <a:latin typeface="Times New Roman" panose="02020603050405020304" pitchFamily="18" charset="0"/>
                  </a:rPr>
                  <a:t> 03     16      08       24       15</a:t>
                </a:r>
              </a:p>
              <a:p>
                <a:pPr>
                  <a:spcBef>
                    <a:spcPct val="50000"/>
                  </a:spcBef>
                </a:pPr>
                <a:r>
                  <a:rPr kumimoji="1" lang="en-US" altLang="zh-CN" sz="2400" b="0" dirty="0">
                    <a:solidFill>
                      <a:schemeClr val="tx1"/>
                    </a:solidFill>
                    <a:latin typeface="Times New Roman" panose="02020603050405020304" pitchFamily="18" charset="0"/>
                  </a:rPr>
                  <a:t> 17     09      </a:t>
                </a:r>
                <a:r>
                  <a:rPr kumimoji="1" lang="en-US" altLang="zh-CN" sz="2400" b="0" dirty="0">
                    <a:solidFill>
                      <a:schemeClr val="tx1"/>
                    </a:solidFill>
                    <a:highlight>
                      <a:srgbClr val="FFFF00"/>
                    </a:highlight>
                    <a:latin typeface="Times New Roman" panose="02020603050405020304" pitchFamily="18" charset="0"/>
                  </a:rPr>
                  <a:t>21</a:t>
                </a:r>
                <a:r>
                  <a:rPr kumimoji="1" lang="en-US" altLang="zh-CN" sz="2400" b="0" dirty="0">
                    <a:solidFill>
                      <a:schemeClr val="tx1"/>
                    </a:solidFill>
                    <a:latin typeface="Times New Roman" panose="02020603050405020304" pitchFamily="18" charset="0"/>
                  </a:rPr>
                  <a:t>       14       04</a:t>
                </a:r>
              </a:p>
            </p:txBody>
          </p:sp>
        </p:grpSp>
        <p:sp>
          <p:nvSpPr>
            <p:cNvPr id="15" name="Text Box 9"/>
            <p:cNvSpPr txBox="1">
              <a:spLocks noChangeArrowheads="1"/>
            </p:cNvSpPr>
            <p:nvPr/>
          </p:nvSpPr>
          <p:spPr bwMode="auto">
            <a:xfrm>
              <a:off x="2133600" y="50292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宋体" panose="02010600030101010101" pitchFamily="2" charset="-122"/>
                </a:rPr>
                <a:t>M =  </a:t>
              </a:r>
              <a:r>
                <a:rPr kumimoji="1" lang="en-US" altLang="zh-CN" sz="2400" b="0" dirty="0">
                  <a:solidFill>
                    <a:schemeClr val="tx1"/>
                  </a:solidFill>
                  <a:highlight>
                    <a:srgbClr val="FFFF00"/>
                  </a:highlight>
                  <a:latin typeface="宋体" panose="02010600030101010101" pitchFamily="2" charset="-122"/>
                </a:rPr>
                <a:t>S</a:t>
              </a:r>
              <a:r>
                <a:rPr kumimoji="1" lang="en-US" altLang="zh-CN" sz="2400" b="0" dirty="0">
                  <a:solidFill>
                    <a:schemeClr val="tx1"/>
                  </a:solidFill>
                  <a:latin typeface="宋体" panose="02010600030101010101" pitchFamily="2" charset="-122"/>
                </a:rPr>
                <a:t>   M   I   L   E</a:t>
              </a:r>
            </a:p>
          </p:txBody>
        </p:sp>
        <p:sp>
          <p:nvSpPr>
            <p:cNvPr id="16" name="Text Box 10"/>
            <p:cNvSpPr txBox="1">
              <a:spLocks noChangeArrowheads="1"/>
            </p:cNvSpPr>
            <p:nvPr/>
          </p:nvSpPr>
          <p:spPr bwMode="auto">
            <a:xfrm>
              <a:off x="2133600" y="5562600"/>
              <a:ext cx="381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dirty="0">
                  <a:solidFill>
                    <a:schemeClr val="tx1"/>
                  </a:solidFill>
                  <a:latin typeface="宋体" panose="02010600030101010101" pitchFamily="2" charset="-122"/>
                </a:rPr>
                <a:t>X =  </a:t>
              </a:r>
              <a:r>
                <a:rPr kumimoji="1" lang="en-US" altLang="zh-CN" sz="2400" b="0" dirty="0">
                  <a:solidFill>
                    <a:schemeClr val="tx1"/>
                  </a:solidFill>
                  <a:highlight>
                    <a:srgbClr val="FFFF00"/>
                  </a:highlight>
                  <a:latin typeface="宋体" panose="02010600030101010101" pitchFamily="2" charset="-122"/>
                </a:rPr>
                <a:t>L</a:t>
              </a:r>
              <a:r>
                <a:rPr kumimoji="1" lang="en-US" altLang="zh-CN" sz="2400" b="0" dirty="0">
                  <a:solidFill>
                    <a:schemeClr val="tx1"/>
                  </a:solidFill>
                  <a:latin typeface="宋体" panose="02010600030101010101" pitchFamily="2" charset="-122"/>
                </a:rPr>
                <a:t>   I   M   E   S</a:t>
              </a:r>
            </a:p>
          </p:txBody>
        </p:sp>
        <p:sp>
          <p:nvSpPr>
            <p:cNvPr id="17" name="Text Box 11"/>
            <p:cNvSpPr txBox="1">
              <a:spLocks noChangeArrowheads="1"/>
            </p:cNvSpPr>
            <p:nvPr/>
          </p:nvSpPr>
          <p:spPr bwMode="auto">
            <a:xfrm>
              <a:off x="2133600" y="60198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en-US" altLang="zh-CN" sz="2400" b="0">
                  <a:solidFill>
                    <a:schemeClr val="tx1"/>
                  </a:solidFill>
                  <a:latin typeface="宋体" panose="02010600030101010101" pitchFamily="2" charset="-122"/>
                </a:rPr>
                <a:t>C = 21  16  05  19   11</a:t>
              </a:r>
            </a:p>
          </p:txBody>
        </p:sp>
      </p:grpSp>
      <p:sp>
        <p:nvSpPr>
          <p:cNvPr id="6" name="文本框 5">
            <a:extLst>
              <a:ext uri="{FF2B5EF4-FFF2-40B4-BE49-F238E27FC236}">
                <a16:creationId xmlns:a16="http://schemas.microsoft.com/office/drawing/2014/main" id="{6E8716DD-7161-C6E7-D0D4-32881D94EC27}"/>
              </a:ext>
            </a:extLst>
          </p:cNvPr>
          <p:cNvSpPr txBox="1"/>
          <p:nvPr/>
        </p:nvSpPr>
        <p:spPr>
          <a:xfrm>
            <a:off x="3782158" y="3736625"/>
            <a:ext cx="3420206" cy="369332"/>
          </a:xfrm>
          <a:prstGeom prst="rect">
            <a:avLst/>
          </a:prstGeom>
          <a:noFill/>
        </p:spPr>
        <p:txBody>
          <a:bodyPr wrap="square">
            <a:spAutoFit/>
          </a:bodyPr>
          <a:lstStyle/>
          <a:p>
            <a:r>
              <a:rPr lang="zh-CN" altLang="en-US" dirty="0"/>
              <a:t>纵坐标是明文可以使用的字母</a:t>
            </a:r>
          </a:p>
        </p:txBody>
      </p:sp>
      <p:sp>
        <p:nvSpPr>
          <p:cNvPr id="8" name="文本框 7">
            <a:extLst>
              <a:ext uri="{FF2B5EF4-FFF2-40B4-BE49-F238E27FC236}">
                <a16:creationId xmlns:a16="http://schemas.microsoft.com/office/drawing/2014/main" id="{691E39D1-CCC8-5C2C-93F7-5E0C6DE582F8}"/>
              </a:ext>
            </a:extLst>
          </p:cNvPr>
          <p:cNvSpPr txBox="1"/>
          <p:nvPr/>
        </p:nvSpPr>
        <p:spPr>
          <a:xfrm>
            <a:off x="8119696" y="1240671"/>
            <a:ext cx="2822330" cy="369332"/>
          </a:xfrm>
          <a:prstGeom prst="rect">
            <a:avLst/>
          </a:prstGeom>
          <a:noFill/>
        </p:spPr>
        <p:txBody>
          <a:bodyPr wrap="square">
            <a:spAutoFit/>
          </a:bodyPr>
          <a:lstStyle/>
          <a:p>
            <a:r>
              <a:rPr lang="zh-CN" altLang="en-US" dirty="0"/>
              <a:t>横坐标是加密矩阵的行标</a:t>
            </a:r>
          </a:p>
        </p:txBody>
      </p:sp>
      <p:sp>
        <p:nvSpPr>
          <p:cNvPr id="12" name="文本框 11">
            <a:extLst>
              <a:ext uri="{FF2B5EF4-FFF2-40B4-BE49-F238E27FC236}">
                <a16:creationId xmlns:a16="http://schemas.microsoft.com/office/drawing/2014/main" id="{E674F6A2-9FEE-7BC4-A952-EA3AE95CD6E4}"/>
              </a:ext>
            </a:extLst>
          </p:cNvPr>
          <p:cNvSpPr txBox="1"/>
          <p:nvPr/>
        </p:nvSpPr>
        <p:spPr>
          <a:xfrm>
            <a:off x="10553700" y="5528096"/>
            <a:ext cx="1723644" cy="461665"/>
          </a:xfrm>
          <a:prstGeom prst="rect">
            <a:avLst/>
          </a:prstGeom>
          <a:noFill/>
        </p:spPr>
        <p:txBody>
          <a:bodyPr wrap="square">
            <a:spAutoFit/>
          </a:bodyPr>
          <a:lstStyle/>
          <a:p>
            <a:r>
              <a:rPr lang="zh-CN" altLang="en-US" sz="2400" dirty="0">
                <a:highlight>
                  <a:srgbClr val="FFFF00"/>
                </a:highlight>
              </a:rPr>
              <a:t>干预密钥</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8D34398-44E3-B226-15FE-4B93EC28A21A}"/>
                  </a:ext>
                </a:extLst>
              </p:cNvPr>
              <p:cNvSpPr txBox="1"/>
              <p:nvPr/>
            </p:nvSpPr>
            <p:spPr>
              <a:xfrm>
                <a:off x="146540" y="4547943"/>
                <a:ext cx="6860930" cy="1698029"/>
              </a:xfrm>
              <a:prstGeom prst="rect">
                <a:avLst/>
              </a:prstGeom>
              <a:noFill/>
            </p:spPr>
            <p:txBody>
              <a:bodyPr wrap="square">
                <a:spAutoFit/>
              </a:bodyPr>
              <a:lstStyle/>
              <a:p>
                <a:pPr>
                  <a:lnSpc>
                    <a:spcPct val="150000"/>
                  </a:lnSpc>
                </a:pPr>
                <a:r>
                  <a:rPr lang="zh-CN" altLang="en-US" sz="2400" dirty="0">
                    <a:solidFill>
                      <a:srgbClr val="FF0000"/>
                    </a:solidFill>
                    <a:latin typeface="Cambria Math" panose="02040503050406030204" pitchFamily="18" charset="0"/>
                  </a:rPr>
                  <a:t>在本例中：</a:t>
                </a:r>
                <a:endParaRPr lang="en-US" altLang="zh-CN" sz="2400" i="0" dirty="0">
                  <a:solidFill>
                    <a:srgbClr val="FF0000"/>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m:rPr>
                          <m:nor/>
                        </m:rPr>
                        <a:rPr lang="zh-CN" altLang="en-US" sz="2400" i="0" smtClean="0">
                          <a:solidFill>
                            <a:srgbClr val="FF0000"/>
                          </a:solidFill>
                          <a:latin typeface="Cambria Math" panose="02040503050406030204" pitchFamily="18" charset="0"/>
                        </a:rPr>
                        <m:t>理论最大组合数</m:t>
                      </m:r>
                      <m:r>
                        <a:rPr lang="zh-CN" altLang="en-US" sz="2400" i="1">
                          <a:solidFill>
                            <a:srgbClr val="FF0000"/>
                          </a:solidFill>
                          <a:latin typeface="Cambria Math" panose="02040503050406030204" pitchFamily="18" charset="0"/>
                        </a:rPr>
                        <m:t>=120×120×25!≈2.23×</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10</m:t>
                          </m:r>
                        </m:e>
                        <m:sup>
                          <m:r>
                            <a:rPr lang="zh-CN" altLang="en-US" sz="2400" i="1">
                              <a:solidFill>
                                <a:srgbClr val="FF0000"/>
                              </a:solidFill>
                              <a:latin typeface="Cambria Math" panose="02040503050406030204" pitchFamily="18" charset="0"/>
                            </a:rPr>
                            <m:t>29</m:t>
                          </m:r>
                        </m:sup>
                      </m:sSup>
                    </m:oMath>
                  </m:oMathPara>
                </a14:m>
                <a:endParaRPr lang="en-US" altLang="zh-CN" sz="2400" dirty="0">
                  <a:solidFill>
                    <a:srgbClr val="FF0000"/>
                  </a:solidFill>
                </a:endParaRPr>
              </a:p>
              <a:p>
                <a:pPr>
                  <a:lnSpc>
                    <a:spcPct val="150000"/>
                  </a:lnSpc>
                </a:pPr>
                <a:r>
                  <a:rPr lang="zh-CN" altLang="en-US" sz="2400" dirty="0">
                    <a:solidFill>
                      <a:srgbClr val="FF0000"/>
                    </a:solidFill>
                  </a:rPr>
                  <a:t>实际工程中一般传输</a:t>
                </a:r>
                <a:r>
                  <a:rPr lang="en-US" altLang="zh-CN" sz="2400" dirty="0">
                    <a:solidFill>
                      <a:srgbClr val="FF0000"/>
                    </a:solidFill>
                  </a:rPr>
                  <a:t>X</a:t>
                </a:r>
                <a:r>
                  <a:rPr lang="zh-CN" altLang="en-US" sz="2400" dirty="0">
                    <a:solidFill>
                      <a:srgbClr val="FF0000"/>
                    </a:solidFill>
                  </a:rPr>
                  <a:t>，也就是密钥数为</a:t>
                </a:r>
                <a:r>
                  <a:rPr lang="en-US" altLang="zh-CN" sz="2400" dirty="0">
                    <a:solidFill>
                      <a:srgbClr val="FF0000"/>
                    </a:solidFill>
                  </a:rPr>
                  <a:t>120</a:t>
                </a:r>
                <a:r>
                  <a:rPr lang="zh-CN" altLang="en-US" sz="2400" dirty="0">
                    <a:solidFill>
                      <a:srgbClr val="FF0000"/>
                    </a:solidFill>
                  </a:rPr>
                  <a:t>。</a:t>
                </a:r>
              </a:p>
            </p:txBody>
          </p:sp>
        </mc:Choice>
        <mc:Fallback xmlns="">
          <p:sp>
            <p:nvSpPr>
              <p:cNvPr id="14" name="文本框 13">
                <a:extLst>
                  <a:ext uri="{FF2B5EF4-FFF2-40B4-BE49-F238E27FC236}">
                    <a16:creationId xmlns:a16="http://schemas.microsoft.com/office/drawing/2014/main" id="{08D34398-44E3-B226-15FE-4B93EC28A21A}"/>
                  </a:ext>
                </a:extLst>
              </p:cNvPr>
              <p:cNvSpPr txBox="1">
                <a:spLocks noRot="1" noChangeAspect="1" noMove="1" noResize="1" noEditPoints="1" noAdjustHandles="1" noChangeArrowheads="1" noChangeShapeType="1" noTextEdit="1"/>
              </p:cNvSpPr>
              <p:nvPr/>
            </p:nvSpPr>
            <p:spPr>
              <a:xfrm>
                <a:off x="146540" y="4547943"/>
                <a:ext cx="6860930" cy="1698029"/>
              </a:xfrm>
              <a:prstGeom prst="rect">
                <a:avLst/>
              </a:prstGeom>
              <a:blipFill>
                <a:blip r:embed="rId2"/>
                <a:stretch>
                  <a:fillRect l="-1332" b="-75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6780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t>3.1 </a:t>
            </a:r>
            <a:r>
              <a:rPr lang="zh-CN" altLang="en-US" sz="3200" dirty="0"/>
              <a:t>密码学的起源与发展</a:t>
            </a:r>
            <a:endParaRPr lang="en-US" altLang="zh-CN" sz="3200" dirty="0"/>
          </a:p>
          <a:p>
            <a:pPr>
              <a:buNone/>
            </a:pPr>
            <a:r>
              <a:rPr lang="en-US" altLang="zh-CN" sz="3200" dirty="0"/>
              <a:t>3.2 </a:t>
            </a:r>
            <a:r>
              <a:rPr lang="zh-CN" altLang="en-US" sz="3200" dirty="0"/>
              <a:t>换位法</a:t>
            </a:r>
          </a:p>
          <a:p>
            <a:pPr>
              <a:buNone/>
            </a:pPr>
            <a:r>
              <a:rPr lang="en-US" altLang="zh-CN" sz="3200" dirty="0"/>
              <a:t>3.3 </a:t>
            </a:r>
            <a:r>
              <a:rPr lang="zh-CN" altLang="en-US" sz="3200" dirty="0"/>
              <a:t>简单代替密码</a:t>
            </a:r>
          </a:p>
          <a:p>
            <a:pPr>
              <a:buNone/>
            </a:pPr>
            <a:r>
              <a:rPr lang="en-US" altLang="zh-CN" sz="3200" dirty="0"/>
              <a:t>3.4 </a:t>
            </a:r>
            <a:r>
              <a:rPr lang="zh-CN" altLang="en-US" sz="3200" dirty="0"/>
              <a:t>同音代替密码</a:t>
            </a:r>
          </a:p>
          <a:p>
            <a:pPr>
              <a:buNone/>
            </a:pPr>
            <a:r>
              <a:rPr lang="en-US" altLang="zh-CN" sz="3200" dirty="0">
                <a:solidFill>
                  <a:srgbClr val="FF0000"/>
                </a:solidFill>
              </a:rPr>
              <a:t>3.5 </a:t>
            </a:r>
            <a:r>
              <a:rPr lang="zh-CN" altLang="en-US" sz="3200" dirty="0">
                <a:solidFill>
                  <a:srgbClr val="FF0000"/>
                </a:solidFill>
              </a:rPr>
              <a:t>多表代替密码</a:t>
            </a:r>
          </a:p>
          <a:p>
            <a:pPr>
              <a:buNone/>
            </a:pPr>
            <a:r>
              <a:rPr lang="en-US" altLang="zh-CN" sz="3200" dirty="0"/>
              <a:t>3.6 </a:t>
            </a:r>
            <a:r>
              <a:rPr lang="zh-CN" altLang="en-US" sz="3200" dirty="0"/>
              <a:t>多字母组代替密码</a:t>
            </a:r>
            <a:endParaRPr lang="en-US" altLang="zh-CN" sz="3200" dirty="0"/>
          </a:p>
          <a:p>
            <a:pPr>
              <a:buNone/>
            </a:pPr>
            <a:r>
              <a:rPr lang="en-US" altLang="zh-CN" sz="3200" dirty="0"/>
              <a:t>3.7 </a:t>
            </a:r>
            <a:r>
              <a:rPr lang="zh-CN" altLang="en-US" sz="3200" dirty="0"/>
              <a:t>古典密码分析</a:t>
            </a:r>
            <a:endParaRPr lang="en-US" altLang="zh-CN" sz="3200" dirty="0"/>
          </a:p>
          <a:p>
            <a:pPr>
              <a:buNone/>
            </a:pPr>
            <a:endParaRPr lang="zh-CN" altLang="en-US" sz="32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567053" y="3705101"/>
            <a:ext cx="4122717" cy="1567542"/>
          </a:xfrm>
          <a:prstGeom prst="wedgeRectCallout">
            <a:avLst>
              <a:gd name="adj1" fmla="val -87971"/>
              <a:gd name="adj2" fmla="val -3890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err="1">
                <a:solidFill>
                  <a:prstClr val="black"/>
                </a:solidFill>
                <a:latin typeface="Microsoft YaHei" panose="020B0503020204020204" pitchFamily="34" charset="-122"/>
                <a:ea typeface="Microsoft YaHei" panose="020B0503020204020204" pitchFamily="34" charset="-122"/>
              </a:rPr>
              <a:t>Vigenère</a:t>
            </a:r>
            <a:r>
              <a:rPr kumimoji="1" lang="zh-CN" altLang="en-US" sz="2400" dirty="0">
                <a:solidFill>
                  <a:prstClr val="black"/>
                </a:solidFill>
                <a:latin typeface="Microsoft YaHei" panose="020B0503020204020204" pitchFamily="34" charset="-122"/>
                <a:ea typeface="Microsoft YaHei" panose="020B0503020204020204" pitchFamily="34" charset="-122"/>
              </a:rPr>
              <a:t>密码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Beaufort</a:t>
            </a:r>
            <a:r>
              <a:rPr kumimoji="1" lang="zh-CN" altLang="en-US" sz="2400" dirty="0">
                <a:solidFill>
                  <a:prstClr val="black"/>
                </a:solidFill>
                <a:latin typeface="Microsoft YaHei" panose="020B0503020204020204" pitchFamily="34" charset="-122"/>
                <a:ea typeface="Microsoft YaHei" panose="020B0503020204020204" pitchFamily="34" charset="-122"/>
              </a:rPr>
              <a:t>密码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8798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a:t>
            </a:r>
            <a:r>
              <a:rPr lang="zh-CN" altLang="en-US" dirty="0"/>
              <a:t>多表代替密码</a:t>
            </a:r>
          </a:p>
        </p:txBody>
      </p:sp>
      <p:sp>
        <p:nvSpPr>
          <p:cNvPr id="3" name="内容占位符 2"/>
          <p:cNvSpPr>
            <a:spLocks noGrp="1"/>
          </p:cNvSpPr>
          <p:nvPr>
            <p:ph idx="1"/>
          </p:nvPr>
        </p:nvSpPr>
        <p:spPr>
          <a:xfrm>
            <a:off x="838200" y="1510758"/>
            <a:ext cx="10515600" cy="4982116"/>
          </a:xfrm>
        </p:spPr>
        <p:txBody>
          <a:bodyPr>
            <a:normAutofit fontScale="92500" lnSpcReduction="10000"/>
          </a:bodyPr>
          <a:lstStyle/>
          <a:p>
            <a:pPr marL="342900" indent="-342900">
              <a:lnSpc>
                <a:spcPct val="150000"/>
              </a:lnSpc>
            </a:pPr>
            <a:r>
              <a:rPr lang="zh-CN" altLang="en-US" dirty="0">
                <a:solidFill>
                  <a:srgbClr val="C00000"/>
                </a:solidFill>
              </a:rPr>
              <a:t>多表代替密码</a:t>
            </a:r>
            <a:r>
              <a:rPr lang="zh-CN" altLang="en-US" dirty="0"/>
              <a:t>：使用从明文字母到密文字母的多个映射，每个映射是像简单代替密码中的一对一映射。</a:t>
            </a:r>
          </a:p>
          <a:p>
            <a:pPr marL="342900" indent="-342900">
              <a:lnSpc>
                <a:spcPct val="150000"/>
              </a:lnSpc>
            </a:pPr>
            <a:r>
              <a:rPr lang="zh-CN" altLang="en-US" dirty="0"/>
              <a:t>基于周期</a:t>
            </a:r>
            <a:r>
              <a:rPr lang="en-US" altLang="zh-CN" dirty="0"/>
              <a:t>d</a:t>
            </a:r>
            <a:r>
              <a:rPr lang="zh-CN" altLang="en-US" dirty="0"/>
              <a:t>的周期代替密码：</a:t>
            </a:r>
          </a:p>
          <a:p>
            <a:pPr marL="342900" indent="-342900">
              <a:lnSpc>
                <a:spcPct val="150000"/>
              </a:lnSpc>
              <a:buNone/>
            </a:pPr>
            <a:r>
              <a:rPr lang="zh-CN" altLang="en-US" dirty="0"/>
              <a:t>            给定</a:t>
            </a:r>
            <a:r>
              <a:rPr lang="en-US" altLang="zh-CN" dirty="0"/>
              <a:t>d</a:t>
            </a:r>
            <a:r>
              <a:rPr lang="zh-CN" altLang="en-US" dirty="0"/>
              <a:t>个密文字母表</a:t>
            </a:r>
            <a:r>
              <a:rPr lang="en-US" altLang="zh-CN" dirty="0"/>
              <a:t>C</a:t>
            </a:r>
            <a:r>
              <a:rPr lang="en-US" altLang="zh-CN" baseline="-25000" dirty="0"/>
              <a:t>1</a:t>
            </a:r>
            <a:r>
              <a:rPr lang="en-US" altLang="zh-CN" dirty="0"/>
              <a:t>,…C</a:t>
            </a:r>
            <a:r>
              <a:rPr lang="en-US" altLang="zh-CN" baseline="-25000" dirty="0"/>
              <a:t>d </a:t>
            </a:r>
            <a:r>
              <a:rPr lang="zh-CN" altLang="en-US" dirty="0"/>
              <a:t>，令 </a:t>
            </a:r>
            <a:r>
              <a:rPr lang="en-US" altLang="zh-CN" dirty="0"/>
              <a:t>f</a:t>
            </a:r>
            <a:r>
              <a:rPr lang="en-US" altLang="zh-CN" baseline="-25000" dirty="0"/>
              <a:t>i</a:t>
            </a:r>
            <a:r>
              <a:rPr lang="zh-CN" altLang="en-US" dirty="0"/>
              <a:t>：</a:t>
            </a:r>
            <a:r>
              <a:rPr lang="en-US" altLang="zh-CN" dirty="0"/>
              <a:t>A → C</a:t>
            </a:r>
            <a:r>
              <a:rPr lang="en-US" altLang="zh-CN" baseline="-25000" dirty="0"/>
              <a:t>i</a:t>
            </a:r>
            <a:r>
              <a:rPr lang="zh-CN" altLang="en-US" dirty="0"/>
              <a:t>为从明文字母表</a:t>
            </a:r>
            <a:r>
              <a:rPr lang="en-US" altLang="zh-CN" dirty="0"/>
              <a:t>A</a:t>
            </a:r>
            <a:r>
              <a:rPr lang="zh-CN" altLang="en-US" dirty="0"/>
              <a:t>到密文字母表</a:t>
            </a:r>
            <a:r>
              <a:rPr lang="en-US" altLang="zh-CN" dirty="0"/>
              <a:t>C</a:t>
            </a:r>
            <a:r>
              <a:rPr lang="en-US" altLang="zh-CN" baseline="-25000" dirty="0"/>
              <a:t>i</a:t>
            </a:r>
            <a:r>
              <a:rPr lang="zh-CN" altLang="en-US" dirty="0"/>
              <a:t>（</a:t>
            </a:r>
            <a:r>
              <a:rPr lang="en-US" altLang="zh-CN" dirty="0"/>
              <a:t>1</a:t>
            </a:r>
            <a:r>
              <a:rPr lang="en-US" altLang="zh-CN" dirty="0">
                <a:sym typeface="Symbol" panose="05050102010706020507" pitchFamily="18" charset="2"/>
              </a:rPr>
              <a:t></a:t>
            </a:r>
            <a:r>
              <a:rPr lang="en-US" altLang="zh-CN" dirty="0"/>
              <a:t>i </a:t>
            </a:r>
            <a:r>
              <a:rPr lang="en-US" altLang="zh-CN" dirty="0">
                <a:sym typeface="Symbol" panose="05050102010706020507" pitchFamily="18" charset="2"/>
              </a:rPr>
              <a:t></a:t>
            </a:r>
            <a:r>
              <a:rPr lang="en-US" altLang="zh-CN" dirty="0"/>
              <a:t> d</a:t>
            </a:r>
            <a:r>
              <a:rPr lang="zh-CN" altLang="en-US" dirty="0"/>
              <a:t>）的映射，对明文信息：</a:t>
            </a:r>
            <a:r>
              <a:rPr lang="en-US" altLang="zh-CN" dirty="0"/>
              <a:t>M</a:t>
            </a:r>
            <a:r>
              <a:rPr lang="zh-CN" altLang="en-US" dirty="0"/>
              <a:t>＝</a:t>
            </a:r>
            <a:r>
              <a:rPr lang="en-US" altLang="zh-CN" dirty="0"/>
              <a:t>m</a:t>
            </a:r>
            <a:r>
              <a:rPr lang="en-US" altLang="zh-CN" baseline="-25000" dirty="0"/>
              <a:t>1</a:t>
            </a:r>
            <a:r>
              <a:rPr lang="en-US" altLang="zh-CN" dirty="0"/>
              <a:t>…m</a:t>
            </a:r>
            <a:r>
              <a:rPr lang="en-US" altLang="zh-CN" baseline="-25000" dirty="0"/>
              <a:t>d</a:t>
            </a:r>
            <a:r>
              <a:rPr lang="en-US" altLang="zh-CN" dirty="0"/>
              <a:t>m</a:t>
            </a:r>
            <a:r>
              <a:rPr lang="en-US" altLang="zh-CN" baseline="-25000" dirty="0"/>
              <a:t>d+1</a:t>
            </a:r>
            <a:r>
              <a:rPr lang="en-US" altLang="zh-CN" dirty="0"/>
              <a:t>…m</a:t>
            </a:r>
            <a:r>
              <a:rPr lang="en-US" altLang="zh-CN" baseline="-25000" dirty="0"/>
              <a:t>2d</a:t>
            </a:r>
            <a:r>
              <a:rPr lang="en-US" altLang="zh-CN" dirty="0"/>
              <a:t>…   </a:t>
            </a:r>
            <a:r>
              <a:rPr lang="zh-CN" altLang="en-US" dirty="0"/>
              <a:t>加密，有：    </a:t>
            </a:r>
          </a:p>
          <a:p>
            <a:pPr marL="342900" indent="-342900">
              <a:lnSpc>
                <a:spcPct val="150000"/>
              </a:lnSpc>
              <a:buNone/>
            </a:pPr>
            <a:r>
              <a:rPr lang="zh-CN" altLang="en-US" dirty="0"/>
              <a:t>      </a:t>
            </a:r>
            <a:r>
              <a:rPr lang="en-US" altLang="zh-CN" dirty="0" err="1"/>
              <a:t>E</a:t>
            </a:r>
            <a:r>
              <a:rPr lang="en-US" altLang="zh-CN" baseline="-25000" dirty="0" err="1"/>
              <a:t>k</a:t>
            </a:r>
            <a:r>
              <a:rPr lang="en-US" altLang="zh-CN" dirty="0"/>
              <a:t>(M)</a:t>
            </a:r>
            <a:r>
              <a:rPr lang="zh-CN" altLang="en-US" dirty="0"/>
              <a:t>＝</a:t>
            </a:r>
            <a:r>
              <a:rPr lang="en-US" altLang="zh-CN" dirty="0"/>
              <a:t>f</a:t>
            </a:r>
            <a:r>
              <a:rPr lang="en-US" altLang="zh-CN" baseline="-25000" dirty="0"/>
              <a:t>1</a:t>
            </a:r>
            <a:r>
              <a:rPr lang="en-US" altLang="zh-CN" dirty="0"/>
              <a:t>(m</a:t>
            </a:r>
            <a:r>
              <a:rPr lang="en-US" altLang="zh-CN" baseline="-25000" dirty="0"/>
              <a:t>1</a:t>
            </a:r>
            <a:r>
              <a:rPr lang="en-US" altLang="zh-CN" dirty="0"/>
              <a:t>)…</a:t>
            </a:r>
            <a:r>
              <a:rPr lang="en-US" altLang="zh-CN" dirty="0" err="1"/>
              <a:t>f</a:t>
            </a:r>
            <a:r>
              <a:rPr lang="en-US" altLang="zh-CN" baseline="-25000" dirty="0" err="1"/>
              <a:t>d</a:t>
            </a:r>
            <a:r>
              <a:rPr lang="en-US" altLang="zh-CN" dirty="0"/>
              <a:t>(m</a:t>
            </a:r>
            <a:r>
              <a:rPr lang="en-US" altLang="zh-CN" baseline="-25000" dirty="0"/>
              <a:t>d</a:t>
            </a:r>
            <a:r>
              <a:rPr lang="en-US" altLang="zh-CN" dirty="0"/>
              <a:t>)f</a:t>
            </a:r>
            <a:r>
              <a:rPr lang="en-US" altLang="zh-CN" baseline="-25000" dirty="0"/>
              <a:t>1</a:t>
            </a:r>
            <a:r>
              <a:rPr lang="en-US" altLang="zh-CN" dirty="0"/>
              <a:t>(m</a:t>
            </a:r>
            <a:r>
              <a:rPr lang="en-US" altLang="zh-CN" baseline="-25000" dirty="0"/>
              <a:t>d+1</a:t>
            </a:r>
            <a:r>
              <a:rPr lang="en-US" altLang="zh-CN" dirty="0"/>
              <a:t>)…</a:t>
            </a:r>
            <a:r>
              <a:rPr lang="en-US" altLang="zh-CN" dirty="0" err="1"/>
              <a:t>f</a:t>
            </a:r>
            <a:r>
              <a:rPr lang="en-US" altLang="zh-CN" baseline="-25000" dirty="0" err="1"/>
              <a:t>d</a:t>
            </a:r>
            <a:r>
              <a:rPr lang="en-US" altLang="zh-CN" dirty="0"/>
              <a:t>(m</a:t>
            </a:r>
            <a:r>
              <a:rPr lang="en-US" altLang="zh-CN" baseline="-25000" dirty="0"/>
              <a:t>2d</a:t>
            </a:r>
            <a:r>
              <a:rPr lang="en-US" altLang="zh-CN" dirty="0"/>
              <a:t>)…</a:t>
            </a:r>
          </a:p>
          <a:p>
            <a:pPr marL="342900" indent="-342900">
              <a:lnSpc>
                <a:spcPct val="150000"/>
              </a:lnSpc>
            </a:pPr>
            <a:r>
              <a:rPr lang="zh-CN" altLang="en-US" dirty="0"/>
              <a:t>当</a:t>
            </a:r>
            <a:r>
              <a:rPr lang="en-US" altLang="zh-CN" dirty="0"/>
              <a:t>d</a:t>
            </a:r>
            <a:r>
              <a:rPr lang="zh-CN" altLang="en-US" dirty="0"/>
              <a:t>＝</a:t>
            </a:r>
            <a:r>
              <a:rPr lang="en-US" altLang="zh-CN" dirty="0"/>
              <a:t>1</a:t>
            </a:r>
            <a:r>
              <a:rPr lang="zh-CN" altLang="en-US" dirty="0"/>
              <a:t>时，密码为单表代替密码等价与简单代替密码。</a:t>
            </a: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33</a:t>
            </a:fld>
            <a:endParaRPr kumimoji="1" lang="zh-CN" altLang="en-US" dirty="0"/>
          </a:p>
        </p:txBody>
      </p:sp>
    </p:spTree>
    <p:extLst>
      <p:ext uri="{BB962C8B-B14F-4D97-AF65-F5344CB8AC3E}">
        <p14:creationId xmlns:p14="http://schemas.microsoft.com/office/powerpoint/2010/main" val="3400404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3.5.1 </a:t>
            </a:r>
            <a:r>
              <a:rPr lang="en-US" altLang="zh-CN" dirty="0" err="1"/>
              <a:t>Vigenère</a:t>
            </a:r>
            <a:r>
              <a:rPr lang="zh-CN" altLang="en-US" dirty="0"/>
              <a:t>密码</a:t>
            </a:r>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10000"/>
              </a:lnSpc>
            </a:pPr>
            <a:r>
              <a:rPr lang="en-US" altLang="zh-CN" dirty="0" err="1">
                <a:solidFill>
                  <a:srgbClr val="C00000"/>
                </a:solidFill>
              </a:rPr>
              <a:t>Vigenère</a:t>
            </a:r>
            <a:r>
              <a:rPr lang="zh-CN" altLang="en-US" dirty="0">
                <a:solidFill>
                  <a:srgbClr val="C00000"/>
                </a:solidFill>
              </a:rPr>
              <a:t>（维吉尼亚）密码</a:t>
            </a:r>
            <a:r>
              <a:rPr lang="zh-CN" altLang="en-US" dirty="0"/>
              <a:t>是一种基于移位字母表的周期代替密码，它的密钥</a:t>
            </a:r>
            <a:r>
              <a:rPr lang="en-US" altLang="zh-CN" dirty="0"/>
              <a:t>K</a:t>
            </a:r>
            <a:r>
              <a:rPr lang="zh-CN" altLang="en-US" dirty="0"/>
              <a:t>由一个字母序列来指定：</a:t>
            </a:r>
            <a:r>
              <a:rPr lang="en-US" altLang="zh-CN" dirty="0"/>
              <a:t>k</a:t>
            </a:r>
            <a:r>
              <a:rPr lang="zh-CN" altLang="en-US" dirty="0"/>
              <a:t>＝</a:t>
            </a:r>
            <a:r>
              <a:rPr lang="en-US" altLang="zh-CN" dirty="0"/>
              <a:t>k</a:t>
            </a:r>
            <a:r>
              <a:rPr lang="en-US" altLang="zh-CN" baseline="-25000" dirty="0"/>
              <a:t>1</a:t>
            </a:r>
            <a:r>
              <a:rPr lang="en-US" altLang="zh-CN" dirty="0"/>
              <a:t>…</a:t>
            </a:r>
            <a:r>
              <a:rPr lang="en-US" altLang="zh-CN" dirty="0" err="1"/>
              <a:t>k</a:t>
            </a:r>
            <a:r>
              <a:rPr lang="en-US" altLang="zh-CN" baseline="-25000" dirty="0" err="1"/>
              <a:t>d</a:t>
            </a:r>
            <a:r>
              <a:rPr lang="zh-CN" altLang="en-US" dirty="0"/>
              <a:t>。</a:t>
            </a:r>
          </a:p>
          <a:p>
            <a:pPr marL="342900" indent="-342900">
              <a:lnSpc>
                <a:spcPct val="110000"/>
              </a:lnSpc>
            </a:pPr>
            <a:r>
              <a:rPr lang="zh-CN" altLang="en-US" dirty="0"/>
              <a:t>   其中：</a:t>
            </a:r>
            <a:r>
              <a:rPr lang="en-US" altLang="zh-CN" dirty="0" err="1"/>
              <a:t>k</a:t>
            </a:r>
            <a:r>
              <a:rPr lang="en-US" altLang="zh-CN" baseline="-25000" dirty="0" err="1"/>
              <a:t>i</a:t>
            </a:r>
            <a:r>
              <a:rPr lang="zh-CN" altLang="en-US" dirty="0"/>
              <a:t>（</a:t>
            </a:r>
            <a:r>
              <a:rPr lang="en-US" altLang="zh-CN" dirty="0" err="1"/>
              <a:t>i</a:t>
            </a:r>
            <a:r>
              <a:rPr lang="zh-CN" altLang="en-US" dirty="0"/>
              <a:t>＝</a:t>
            </a:r>
            <a:r>
              <a:rPr lang="en-US" altLang="zh-CN" dirty="0"/>
              <a:t>1</a:t>
            </a:r>
            <a:r>
              <a:rPr lang="zh-CN" altLang="en-US" dirty="0"/>
              <a:t>，</a:t>
            </a:r>
            <a:r>
              <a:rPr lang="en-US" altLang="zh-CN" dirty="0"/>
              <a:t>…</a:t>
            </a:r>
            <a:r>
              <a:rPr lang="zh-CN" altLang="en-US" dirty="0"/>
              <a:t>，</a:t>
            </a:r>
            <a:r>
              <a:rPr lang="en-US" altLang="zh-CN" dirty="0"/>
              <a:t>d</a:t>
            </a:r>
            <a:r>
              <a:rPr lang="zh-CN" altLang="en-US" dirty="0"/>
              <a:t>）给出了第</a:t>
            </a:r>
            <a:r>
              <a:rPr lang="en-US" altLang="zh-CN" dirty="0" err="1"/>
              <a:t>i</a:t>
            </a:r>
            <a:r>
              <a:rPr lang="zh-CN" altLang="en-US" dirty="0"/>
              <a:t>个字母表的移动位数，即</a:t>
            </a:r>
            <a:r>
              <a:rPr lang="en-US" altLang="zh-CN" dirty="0"/>
              <a:t>f</a:t>
            </a:r>
            <a:r>
              <a:rPr lang="en-US" altLang="zh-CN" baseline="-25000" dirty="0"/>
              <a:t>i</a:t>
            </a:r>
            <a:r>
              <a:rPr lang="en-US" altLang="zh-CN" dirty="0"/>
              <a:t>(a)</a:t>
            </a:r>
            <a:r>
              <a:rPr lang="zh-CN" altLang="en-US" dirty="0"/>
              <a:t>＝</a:t>
            </a:r>
            <a:r>
              <a:rPr lang="en-US" altLang="zh-CN" dirty="0"/>
              <a:t>(</a:t>
            </a:r>
            <a:r>
              <a:rPr lang="en-US" altLang="zh-CN" dirty="0" err="1"/>
              <a:t>a+k</a:t>
            </a:r>
            <a:r>
              <a:rPr lang="en-US" altLang="zh-CN" baseline="-25000" dirty="0" err="1"/>
              <a:t>i</a:t>
            </a:r>
            <a:r>
              <a:rPr lang="en-US" altLang="zh-CN" dirty="0"/>
              <a:t>) mod n.</a:t>
            </a:r>
          </a:p>
          <a:p>
            <a:pPr marL="342900" indent="-342900">
              <a:lnSpc>
                <a:spcPct val="110000"/>
              </a:lnSpc>
            </a:pPr>
            <a:r>
              <a:rPr lang="zh-CN" altLang="en-US" dirty="0"/>
              <a:t>例如：明文</a:t>
            </a:r>
            <a:r>
              <a:rPr lang="en-US" altLang="zh-CN" dirty="0"/>
              <a:t>INTELLIGENT</a:t>
            </a:r>
            <a:r>
              <a:rPr lang="zh-CN" altLang="en-US" dirty="0"/>
              <a:t>用密钥</a:t>
            </a:r>
            <a:r>
              <a:rPr lang="en-US" altLang="zh-CN" dirty="0"/>
              <a:t>PLAY</a:t>
            </a:r>
            <a:r>
              <a:rPr lang="zh-CN" altLang="en-US" dirty="0"/>
              <a:t>加密为： </a:t>
            </a:r>
          </a:p>
          <a:p>
            <a:pPr marL="342900" indent="-342900">
              <a:lnSpc>
                <a:spcPct val="110000"/>
              </a:lnSpc>
              <a:buNone/>
            </a:pPr>
            <a:r>
              <a:rPr lang="zh-CN" altLang="en-US" dirty="0"/>
              <a:t>                     </a:t>
            </a:r>
            <a:r>
              <a:rPr lang="en-US" altLang="zh-CN" dirty="0"/>
              <a:t>M</a:t>
            </a:r>
            <a:r>
              <a:rPr lang="zh-CN" altLang="en-US" dirty="0"/>
              <a:t>＝</a:t>
            </a:r>
            <a:r>
              <a:rPr lang="en-US" altLang="zh-CN" dirty="0">
                <a:highlight>
                  <a:srgbClr val="FFFF00"/>
                </a:highlight>
              </a:rPr>
              <a:t>I</a:t>
            </a:r>
            <a:r>
              <a:rPr lang="en-US" altLang="zh-CN" dirty="0"/>
              <a:t>NTE  LLIG   ENT </a:t>
            </a:r>
          </a:p>
          <a:p>
            <a:pPr marL="342900" indent="-342900">
              <a:lnSpc>
                <a:spcPct val="110000"/>
              </a:lnSpc>
              <a:buNone/>
            </a:pPr>
            <a:r>
              <a:rPr lang="en-US" altLang="zh-CN" dirty="0"/>
              <a:t> 			 K</a:t>
            </a:r>
            <a:r>
              <a:rPr lang="zh-CN" altLang="en-US" dirty="0"/>
              <a:t>＝</a:t>
            </a:r>
            <a:r>
              <a:rPr lang="en-US" altLang="zh-CN" dirty="0">
                <a:highlight>
                  <a:srgbClr val="FFFF00"/>
                </a:highlight>
              </a:rPr>
              <a:t>P</a:t>
            </a:r>
            <a:r>
              <a:rPr lang="en-US" altLang="zh-CN" dirty="0"/>
              <a:t>LAY  PLAY  PLA	          </a:t>
            </a:r>
            <a:r>
              <a:rPr lang="en-US" altLang="zh-CN" dirty="0">
                <a:highlight>
                  <a:srgbClr val="FFFF00"/>
                </a:highlight>
              </a:rPr>
              <a:t>8+15=23</a:t>
            </a:r>
          </a:p>
          <a:p>
            <a:pPr marL="342900" indent="-342900">
              <a:lnSpc>
                <a:spcPct val="110000"/>
              </a:lnSpc>
            </a:pPr>
            <a:r>
              <a:rPr lang="en-US" altLang="zh-CN" dirty="0"/>
              <a:t>	           </a:t>
            </a:r>
            <a:r>
              <a:rPr lang="en-US" altLang="zh-CN" dirty="0" err="1"/>
              <a:t>E</a:t>
            </a:r>
            <a:r>
              <a:rPr lang="en-US" altLang="zh-CN" baseline="-25000" dirty="0" err="1"/>
              <a:t>k</a:t>
            </a:r>
            <a:r>
              <a:rPr lang="en-US" altLang="zh-CN" dirty="0"/>
              <a:t>(M)</a:t>
            </a:r>
            <a:r>
              <a:rPr lang="zh-CN" altLang="en-US" dirty="0"/>
              <a:t>＝</a:t>
            </a:r>
            <a:r>
              <a:rPr lang="en-US" altLang="zh-CN" dirty="0">
                <a:highlight>
                  <a:srgbClr val="FFFF00"/>
                </a:highlight>
              </a:rPr>
              <a:t>X</a:t>
            </a:r>
            <a:r>
              <a:rPr lang="en-US" altLang="zh-CN" dirty="0"/>
              <a:t>YTC  AMIE  TYT</a:t>
            </a:r>
          </a:p>
          <a:p>
            <a:pPr marL="342900" indent="-342900">
              <a:lnSpc>
                <a:spcPct val="110000"/>
              </a:lnSpc>
            </a:pPr>
            <a:r>
              <a:rPr lang="zh-CN" altLang="en-US" dirty="0"/>
              <a:t>使用</a:t>
            </a:r>
            <a:r>
              <a:rPr lang="en-US" altLang="zh-CN" dirty="0" err="1"/>
              <a:t>Vigenère</a:t>
            </a:r>
            <a:r>
              <a:rPr lang="zh-CN" altLang="en-US" dirty="0"/>
              <a:t>表可以方便地进行加密和解密。</a:t>
            </a: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34</a:t>
            </a:fld>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F55FEC0-420C-0446-33BF-F30A3C9BDCA1}"/>
                  </a:ext>
                </a:extLst>
              </p:cNvPr>
              <p:cNvSpPr txBox="1"/>
              <p:nvPr/>
            </p:nvSpPr>
            <p:spPr>
              <a:xfrm>
                <a:off x="8367736" y="5347242"/>
                <a:ext cx="340516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2400" i="0" smtClean="0">
                          <a:highlight>
                            <a:srgbClr val="FFFF00"/>
                          </a:highlight>
                          <a:latin typeface="Cambria Math" panose="02040503050406030204" pitchFamily="18" charset="0"/>
                        </a:rPr>
                        <m:t>总密钥个数</m:t>
                      </m:r>
                      <m:r>
                        <a:rPr lang="zh-CN" altLang="en-US" sz="2400" i="1">
                          <a:highlight>
                            <a:srgbClr val="FFFF00"/>
                          </a:highlight>
                          <a:latin typeface="Cambria Math" panose="02040503050406030204" pitchFamily="18" charset="0"/>
                        </a:rPr>
                        <m:t>=</m:t>
                      </m:r>
                      <m:sSup>
                        <m:sSupPr>
                          <m:ctrlPr>
                            <a:rPr lang="zh-CN" altLang="en-US" sz="2400" i="1">
                              <a:highlight>
                                <a:srgbClr val="FFFF00"/>
                              </a:highlight>
                              <a:latin typeface="Cambria Math" panose="02040503050406030204" pitchFamily="18" charset="0"/>
                            </a:rPr>
                          </m:ctrlPr>
                        </m:sSupPr>
                        <m:e>
                          <m:r>
                            <a:rPr lang="zh-CN" altLang="en-US" sz="2400" i="1">
                              <a:highlight>
                                <a:srgbClr val="FFFF00"/>
                              </a:highlight>
                              <a:latin typeface="Cambria Math" panose="02040503050406030204" pitchFamily="18" charset="0"/>
                            </a:rPr>
                            <m:t>26</m:t>
                          </m:r>
                        </m:e>
                        <m:sup>
                          <m:r>
                            <a:rPr lang="zh-CN" altLang="en-US" sz="2400" i="1">
                              <a:highlight>
                                <a:srgbClr val="FFFF00"/>
                              </a:highlight>
                              <a:latin typeface="Cambria Math" panose="02040503050406030204" pitchFamily="18" charset="0"/>
                            </a:rPr>
                            <m:t>4</m:t>
                          </m:r>
                        </m:sup>
                      </m:sSup>
                      <m:r>
                        <m:rPr>
                          <m:nor/>
                        </m:rPr>
                        <a:rPr lang="zh-CN" altLang="en-US" sz="2400" i="0">
                          <a:highlight>
                            <a:srgbClr val="FFFF00"/>
                          </a:highlight>
                          <a:latin typeface="Cambria Math" panose="02040503050406030204" pitchFamily="18" charset="0"/>
                        </a:rPr>
                        <m:t> </m:t>
                      </m:r>
                      <m:r>
                        <m:rPr>
                          <m:nor/>
                        </m:rPr>
                        <a:rPr lang="zh-CN" altLang="en-US" sz="2400" i="0">
                          <a:highlight>
                            <a:srgbClr val="FFFF00"/>
                          </a:highlight>
                          <a:latin typeface="Cambria Math" panose="02040503050406030204" pitchFamily="18" charset="0"/>
                        </a:rPr>
                        <m:t>种</m:t>
                      </m:r>
                    </m:oMath>
                  </m:oMathPara>
                </a14:m>
                <a:endParaRPr lang="zh-CN" altLang="en-US" sz="2400" dirty="0">
                  <a:highlight>
                    <a:srgbClr val="FFFF00"/>
                  </a:highlight>
                </a:endParaRPr>
              </a:p>
            </p:txBody>
          </p:sp>
        </mc:Choice>
        <mc:Fallback xmlns="">
          <p:sp>
            <p:nvSpPr>
              <p:cNvPr id="6" name="文本框 5">
                <a:extLst>
                  <a:ext uri="{FF2B5EF4-FFF2-40B4-BE49-F238E27FC236}">
                    <a16:creationId xmlns:a16="http://schemas.microsoft.com/office/drawing/2014/main" id="{BF55FEC0-420C-0446-33BF-F30A3C9BDCA1}"/>
                  </a:ext>
                </a:extLst>
              </p:cNvPr>
              <p:cNvSpPr txBox="1">
                <a:spLocks noRot="1" noChangeAspect="1" noMove="1" noResize="1" noEditPoints="1" noAdjustHandles="1" noChangeArrowheads="1" noChangeShapeType="1" noTextEdit="1"/>
              </p:cNvSpPr>
              <p:nvPr/>
            </p:nvSpPr>
            <p:spPr>
              <a:xfrm>
                <a:off x="8367736" y="5347242"/>
                <a:ext cx="3405164" cy="461665"/>
              </a:xfrm>
              <a:prstGeom prst="rect">
                <a:avLst/>
              </a:prstGeom>
              <a:blipFill>
                <a:blip r:embed="rId2"/>
                <a:stretch>
                  <a:fillRect b="-144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1738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3.5.1 </a:t>
            </a:r>
            <a:r>
              <a:rPr lang="en-US" altLang="zh-CN" dirty="0" err="1"/>
              <a:t>Vigenère</a:t>
            </a:r>
            <a:r>
              <a:rPr lang="zh-CN" altLang="en-US" dirty="0"/>
              <a:t>密码</a:t>
            </a:r>
          </a:p>
        </p:txBody>
      </p:sp>
      <p:sp>
        <p:nvSpPr>
          <p:cNvPr id="3" name="内容占位符 2"/>
          <p:cNvSpPr>
            <a:spLocks noGrp="1"/>
          </p:cNvSpPr>
          <p:nvPr>
            <p:ph idx="1"/>
          </p:nvPr>
        </p:nvSpPr>
        <p:spPr>
          <a:xfrm>
            <a:off x="427892" y="1463829"/>
            <a:ext cx="11764108" cy="4982116"/>
          </a:xfrm>
        </p:spPr>
        <p:txBody>
          <a:bodyPr>
            <a:normAutofit/>
          </a:bodyPr>
          <a:lstStyle/>
          <a:p>
            <a:pPr>
              <a:lnSpc>
                <a:spcPct val="12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例</a:t>
            </a:r>
            <a:r>
              <a:rPr kumimoji="1" lang="en-US" altLang="zh-CN" dirty="0">
                <a:latin typeface="Times New Roman" panose="02020603050405020304" pitchFamily="18" charset="0"/>
              </a:rPr>
              <a:t>2.8</a:t>
            </a:r>
            <a:r>
              <a:rPr kumimoji="1" lang="zh-CN" altLang="en-US" dirty="0">
                <a:latin typeface="Times New Roman" panose="02020603050405020304" pitchFamily="18" charset="0"/>
              </a:rPr>
              <a:t> 设</a:t>
            </a:r>
            <a:r>
              <a:rPr kumimoji="1" lang="en-US" altLang="zh-CN" dirty="0">
                <a:latin typeface="Times New Roman" panose="02020603050405020304" pitchFamily="18" charset="0"/>
              </a:rPr>
              <a:t>m</a:t>
            </a:r>
            <a:r>
              <a:rPr kumimoji="1" lang="zh-CN" altLang="en-US" dirty="0">
                <a:latin typeface="Times New Roman" panose="02020603050405020304" pitchFamily="18" charset="0"/>
              </a:rPr>
              <a:t>＝</a:t>
            </a:r>
            <a:r>
              <a:rPr kumimoji="1" lang="en-US" altLang="zh-CN" dirty="0">
                <a:latin typeface="Times New Roman" panose="02020603050405020304" pitchFamily="18" charset="0"/>
              </a:rPr>
              <a:t>6</a:t>
            </a:r>
            <a:r>
              <a:rPr kumimoji="1" lang="zh-CN" altLang="en-US" dirty="0">
                <a:latin typeface="Times New Roman" panose="02020603050405020304" pitchFamily="18" charset="0"/>
              </a:rPr>
              <a:t>，且密钥字是</a:t>
            </a:r>
            <a:r>
              <a:rPr kumimoji="1" lang="en-US" altLang="zh-CN" dirty="0">
                <a:latin typeface="Times New Roman" panose="02020603050405020304" pitchFamily="18" charset="0"/>
              </a:rPr>
              <a:t>CIPHER,</a:t>
            </a:r>
            <a:r>
              <a:rPr kumimoji="1" lang="zh-CN" altLang="en-US" dirty="0">
                <a:latin typeface="Times New Roman" panose="02020603050405020304" pitchFamily="18" charset="0"/>
              </a:rPr>
              <a:t>这相应于密钥。假定明文串是  </a:t>
            </a:r>
            <a:r>
              <a:rPr kumimoji="1" lang="en-US" altLang="zh-CN" dirty="0">
                <a:latin typeface="Times New Roman" panose="02020603050405020304" pitchFamily="18" charset="0"/>
              </a:rPr>
              <a:t>this cryptosystem  is  not  secure </a:t>
            </a:r>
          </a:p>
          <a:p>
            <a:pPr lvl="1">
              <a:lnSpc>
                <a:spcPct val="120000"/>
              </a:lnSpc>
              <a:spcBef>
                <a:spcPct val="20000"/>
              </a:spcBef>
              <a:buClr>
                <a:schemeClr val="accent2"/>
              </a:buClr>
              <a:buSzPct val="55000"/>
              <a:buFont typeface="Wingdings" panose="05000000000000000000" pitchFamily="2" charset="2"/>
              <a:buChar char="l"/>
            </a:pPr>
            <a:r>
              <a:rPr kumimoji="1" lang="zh-CN" altLang="en-US" dirty="0">
                <a:latin typeface="Times New Roman" panose="02020603050405020304" pitchFamily="18" charset="0"/>
              </a:rPr>
              <a:t>首先将明文串转化为数字串，按</a:t>
            </a:r>
            <a:r>
              <a:rPr kumimoji="1" lang="en-US" altLang="zh-CN" dirty="0">
                <a:latin typeface="Times New Roman" panose="02020603050405020304" pitchFamily="18" charset="0"/>
              </a:rPr>
              <a:t>6</a:t>
            </a:r>
            <a:r>
              <a:rPr kumimoji="1" lang="zh-CN" altLang="en-US" dirty="0">
                <a:latin typeface="Times New Roman" panose="02020603050405020304" pitchFamily="18" charset="0"/>
              </a:rPr>
              <a:t>个一组分段，然后模</a:t>
            </a:r>
            <a:r>
              <a:rPr kumimoji="1" lang="en-US" altLang="zh-CN" dirty="0">
                <a:latin typeface="Times New Roman" panose="02020603050405020304" pitchFamily="18" charset="0"/>
              </a:rPr>
              <a:t>26“</a:t>
            </a:r>
            <a:r>
              <a:rPr kumimoji="1" lang="zh-CN" altLang="en-US" dirty="0">
                <a:latin typeface="Times New Roman" panose="02020603050405020304" pitchFamily="18" charset="0"/>
              </a:rPr>
              <a:t>加”上密钥字得：</a:t>
            </a:r>
          </a:p>
          <a:p>
            <a:pPr>
              <a:lnSpc>
                <a:spcPct val="120000"/>
              </a:lnSpc>
              <a:spcBef>
                <a:spcPct val="20000"/>
              </a:spcBef>
              <a:buClr>
                <a:schemeClr val="accent2"/>
              </a:buClr>
              <a:buSzPct val="55000"/>
              <a:buFont typeface="Wingdings" panose="05000000000000000000" pitchFamily="2" charset="2"/>
              <a:buChar char="l"/>
            </a:pPr>
            <a:endParaRPr kumimoji="1" lang="en-US" altLang="zh-CN" dirty="0">
              <a:latin typeface="Times New Roman" panose="02020603050405020304" pitchFamily="18" charset="0"/>
            </a:endParaRPr>
          </a:p>
          <a:p>
            <a:pPr>
              <a:lnSpc>
                <a:spcPct val="120000"/>
              </a:lnSpc>
              <a:spcBef>
                <a:spcPct val="20000"/>
              </a:spcBef>
              <a:buClr>
                <a:schemeClr val="accent2"/>
              </a:buClr>
              <a:buSzPct val="55000"/>
              <a:buFont typeface="Wingdings" panose="05000000000000000000" pitchFamily="2" charset="2"/>
              <a:buChar char="l"/>
            </a:pPr>
            <a:endParaRPr kumimoji="1" lang="en-US" altLang="zh-CN" dirty="0">
              <a:latin typeface="Times New Roman" panose="02020603050405020304" pitchFamily="18" charset="0"/>
            </a:endParaRPr>
          </a:p>
          <a:p>
            <a:pPr>
              <a:lnSpc>
                <a:spcPct val="120000"/>
              </a:lnSpc>
              <a:spcBef>
                <a:spcPct val="20000"/>
              </a:spcBef>
              <a:buClr>
                <a:schemeClr val="accent2"/>
              </a:buClr>
              <a:buSzPct val="55000"/>
              <a:buFont typeface="Wingdings" panose="05000000000000000000" pitchFamily="2" charset="2"/>
              <a:buChar char="l"/>
            </a:pPr>
            <a:endParaRPr kumimoji="1" lang="en-US" altLang="zh-CN" dirty="0">
              <a:latin typeface="Times New Roman" panose="02020603050405020304" pitchFamily="18" charset="0"/>
            </a:endParaRPr>
          </a:p>
          <a:p>
            <a:pPr>
              <a:lnSpc>
                <a:spcPct val="120000"/>
              </a:lnSpc>
              <a:spcBef>
                <a:spcPct val="20000"/>
              </a:spcBef>
              <a:buClr>
                <a:schemeClr val="accent2"/>
              </a:buClr>
              <a:buSzPct val="55000"/>
              <a:buFont typeface="Wingdings" panose="05000000000000000000" pitchFamily="2" charset="2"/>
              <a:buChar char="l"/>
            </a:pPr>
            <a:endParaRPr kumimoji="1" lang="en-US" altLang="zh-CN" dirty="0">
              <a:latin typeface="Times New Roman" panose="02020603050405020304" pitchFamily="18" charset="0"/>
            </a:endParaRPr>
          </a:p>
          <a:p>
            <a:pPr algn="just">
              <a:lnSpc>
                <a:spcPct val="120000"/>
              </a:lnSpc>
              <a:spcBef>
                <a:spcPct val="20000"/>
              </a:spcBef>
              <a:buClr>
                <a:schemeClr val="accent2"/>
              </a:buClr>
              <a:buSzPct val="55000"/>
              <a:buNone/>
            </a:pPr>
            <a:r>
              <a:rPr kumimoji="1" lang="en-US" altLang="zh-CN" dirty="0">
                <a:latin typeface="Times New Roman" panose="02020603050405020304" pitchFamily="18" charset="0"/>
              </a:rPr>
              <a:t>		</a:t>
            </a:r>
            <a:r>
              <a:rPr kumimoji="1" lang="zh-CN" altLang="en-US" dirty="0">
                <a:latin typeface="Times New Roman" panose="02020603050405020304" pitchFamily="18" charset="0"/>
              </a:rPr>
              <a:t>相应的密文串将是</a:t>
            </a:r>
            <a:r>
              <a:rPr kumimoji="1" lang="en-US" altLang="zh-CN" dirty="0">
                <a:latin typeface="Times New Roman" panose="02020603050405020304" pitchFamily="18" charset="0"/>
              </a:rPr>
              <a:t>: VPXZGI  AXIVWP  VBTTMJ   PWIZIT   WZT</a:t>
            </a:r>
            <a:endParaRPr kumimoji="1" lang="en-US" altLang="zh-CN" sz="1800" dirty="0">
              <a:latin typeface="Times New Roman" panose="02020603050405020304" pitchFamily="18" charset="0"/>
            </a:endParaRPr>
          </a:p>
          <a:p>
            <a:pPr>
              <a:lnSpc>
                <a:spcPct val="120000"/>
              </a:lnSpc>
              <a:spcBef>
                <a:spcPct val="20000"/>
              </a:spcBef>
              <a:buClr>
                <a:schemeClr val="accent2"/>
              </a:buClr>
              <a:buSzPct val="55000"/>
              <a:buFont typeface="Wingdings" panose="05000000000000000000" pitchFamily="2" charset="2"/>
              <a:buChar char="l"/>
            </a:pPr>
            <a:endParaRPr kumimoji="1" lang="en-US" altLang="zh-CN" dirty="0">
              <a:latin typeface="Times New Roman" panose="02020603050405020304" pitchFamily="18" charset="0"/>
            </a:endParaRP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35</a:t>
            </a:fld>
            <a:endParaRPr kumimoji="1" lang="zh-CN" altLang="en-US" dirty="0"/>
          </a:p>
        </p:txBody>
      </p:sp>
      <p:grpSp>
        <p:nvGrpSpPr>
          <p:cNvPr id="11" name="组合 10"/>
          <p:cNvGrpSpPr/>
          <p:nvPr/>
        </p:nvGrpSpPr>
        <p:grpSpPr>
          <a:xfrm>
            <a:off x="1554952" y="3297861"/>
            <a:ext cx="8838620" cy="2155671"/>
            <a:chOff x="2718202" y="3238500"/>
            <a:chExt cx="8838620" cy="2155671"/>
          </a:xfrm>
        </p:grpSpPr>
        <p:graphicFrame>
          <p:nvGraphicFramePr>
            <p:cNvPr id="6" name="Object 3"/>
            <p:cNvGraphicFramePr>
              <a:graphicFrameLocks noChangeAspect="1"/>
            </p:cNvGraphicFramePr>
            <p:nvPr>
              <p:extLst>
                <p:ext uri="{D42A27DB-BD31-4B8C-83A1-F6EECF244321}">
                  <p14:modId xmlns:p14="http://schemas.microsoft.com/office/powerpoint/2010/main" val="4131571290"/>
                </p:ext>
              </p:extLst>
            </p:nvPr>
          </p:nvGraphicFramePr>
          <p:xfrm>
            <a:off x="2790434" y="3238500"/>
            <a:ext cx="2160587" cy="931863"/>
          </p:xfrm>
          <a:graphic>
            <a:graphicData uri="http://schemas.openxmlformats.org/presentationml/2006/ole">
              <mc:AlternateContent xmlns:mc="http://schemas.openxmlformats.org/markup-compatibility/2006">
                <mc:Choice xmlns:v="urn:schemas-microsoft-com:vml" Requires="v">
                  <p:oleObj name="公式" r:id="rId2" imgW="1524000" imgH="660400" progId="Equation.3">
                    <p:embed/>
                  </p:oleObj>
                </mc:Choice>
                <mc:Fallback>
                  <p:oleObj name="公式" r:id="rId2" imgW="1524000" imgH="660400" progId="Equation.3">
                    <p:embed/>
                    <p:pic>
                      <p:nvPicPr>
                        <p:cNvPr id="3789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434" y="3238500"/>
                          <a:ext cx="2160587"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extLst>
                <p:ext uri="{D42A27DB-BD31-4B8C-83A1-F6EECF244321}">
                  <p14:modId xmlns:p14="http://schemas.microsoft.com/office/powerpoint/2010/main" val="1198224648"/>
                </p:ext>
              </p:extLst>
            </p:nvPr>
          </p:nvGraphicFramePr>
          <p:xfrm>
            <a:off x="5974262" y="3238500"/>
            <a:ext cx="2376487" cy="915988"/>
          </p:xfrm>
          <a:graphic>
            <a:graphicData uri="http://schemas.openxmlformats.org/presentationml/2006/ole">
              <mc:AlternateContent xmlns:mc="http://schemas.openxmlformats.org/markup-compatibility/2006">
                <mc:Choice xmlns:v="urn:schemas-microsoft-com:vml" Requires="v">
                  <p:oleObj name="公式" r:id="rId4" imgW="1701800" imgH="660400" progId="Equation.3">
                    <p:embed/>
                  </p:oleObj>
                </mc:Choice>
                <mc:Fallback>
                  <p:oleObj name="公式" r:id="rId4" imgW="1701800" imgH="660400" progId="Equation.3">
                    <p:embed/>
                    <p:pic>
                      <p:nvPicPr>
                        <p:cNvPr id="3789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4262" y="3238500"/>
                          <a:ext cx="23764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2450665233"/>
                </p:ext>
              </p:extLst>
            </p:nvPr>
          </p:nvGraphicFramePr>
          <p:xfrm>
            <a:off x="9396235" y="3258034"/>
            <a:ext cx="2160587" cy="909638"/>
          </p:xfrm>
          <a:graphic>
            <a:graphicData uri="http://schemas.openxmlformats.org/presentationml/2006/ole">
              <mc:AlternateContent xmlns:mc="http://schemas.openxmlformats.org/markup-compatibility/2006">
                <mc:Choice xmlns:v="urn:schemas-microsoft-com:vml" Requires="v">
                  <p:oleObj name="公式" r:id="rId6" imgW="1562100" imgH="660400" progId="Equation.3">
                    <p:embed/>
                  </p:oleObj>
                </mc:Choice>
                <mc:Fallback>
                  <p:oleObj name="公式" r:id="rId6" imgW="1562100" imgH="660400" progId="Equation.3">
                    <p:embed/>
                    <p:pic>
                      <p:nvPicPr>
                        <p:cNvPr id="3789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96235" y="3258034"/>
                          <a:ext cx="2160587"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3639097027"/>
                </p:ext>
              </p:extLst>
            </p:nvPr>
          </p:nvGraphicFramePr>
          <p:xfrm>
            <a:off x="2718202" y="4375697"/>
            <a:ext cx="2305050" cy="987425"/>
          </p:xfrm>
          <a:graphic>
            <a:graphicData uri="http://schemas.openxmlformats.org/presentationml/2006/ole">
              <mc:AlternateContent xmlns:mc="http://schemas.openxmlformats.org/markup-compatibility/2006">
                <mc:Choice xmlns:v="urn:schemas-microsoft-com:vml" Requires="v">
                  <p:oleObj name="公式" r:id="rId8" imgW="1536700" imgH="660400" progId="Equation.3">
                    <p:embed/>
                  </p:oleObj>
                </mc:Choice>
                <mc:Fallback>
                  <p:oleObj name="公式" r:id="rId8" imgW="1536700" imgH="660400" progId="Equation.3">
                    <p:embed/>
                    <p:pic>
                      <p:nvPicPr>
                        <p:cNvPr id="3789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8202" y="4375697"/>
                          <a:ext cx="230505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3828784075"/>
                </p:ext>
              </p:extLst>
            </p:nvPr>
          </p:nvGraphicFramePr>
          <p:xfrm>
            <a:off x="5974262" y="4448021"/>
            <a:ext cx="1152525" cy="946150"/>
          </p:xfrm>
          <a:graphic>
            <a:graphicData uri="http://schemas.openxmlformats.org/presentationml/2006/ole">
              <mc:AlternateContent xmlns:mc="http://schemas.openxmlformats.org/markup-compatibility/2006">
                <mc:Choice xmlns:v="urn:schemas-microsoft-com:vml" Requires="v">
                  <p:oleObj name="公式" r:id="rId10" imgW="799753" imgH="660113" progId="Equation.3">
                    <p:embed/>
                  </p:oleObj>
                </mc:Choice>
                <mc:Fallback>
                  <p:oleObj name="公式" r:id="rId10" imgW="799753" imgH="660113" progId="Equation.3">
                    <p:embed/>
                    <p:pic>
                      <p:nvPicPr>
                        <p:cNvPr id="37899"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74262" y="4448021"/>
                          <a:ext cx="11525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1716636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3.5.1 </a:t>
            </a:r>
            <a:r>
              <a:rPr lang="en-US" altLang="zh-CN" dirty="0" err="1"/>
              <a:t>Vigenère</a:t>
            </a:r>
            <a:r>
              <a:rPr lang="zh-CN" altLang="en-US" dirty="0"/>
              <a:t>密码</a:t>
            </a:r>
          </a:p>
        </p:txBody>
      </p:sp>
      <p:sp>
        <p:nvSpPr>
          <p:cNvPr id="3" name="内容占位符 2"/>
          <p:cNvSpPr>
            <a:spLocks noGrp="1"/>
          </p:cNvSpPr>
          <p:nvPr>
            <p:ph idx="1"/>
          </p:nvPr>
        </p:nvSpPr>
        <p:spPr>
          <a:xfrm>
            <a:off x="838200" y="1510758"/>
            <a:ext cx="4446319" cy="4982116"/>
          </a:xfrm>
        </p:spPr>
        <p:txBody>
          <a:bodyPr>
            <a:normAutofit/>
          </a:bodyPr>
          <a:lstStyle/>
          <a:p>
            <a:pPr marL="342900" indent="-342900">
              <a:lnSpc>
                <a:spcPct val="110000"/>
              </a:lnSpc>
            </a:pPr>
            <a:r>
              <a:rPr lang="en-US" altLang="zh-CN" dirty="0" err="1"/>
              <a:t>Vigenère</a:t>
            </a:r>
            <a:r>
              <a:rPr lang="zh-CN" altLang="en-US" dirty="0"/>
              <a:t>表可以方便地进行加密和解密。</a:t>
            </a: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36</a:t>
            </a:fld>
            <a:endParaRPr kumimoji="1"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4085799247"/>
              </p:ext>
            </p:extLst>
          </p:nvPr>
        </p:nvGraphicFramePr>
        <p:xfrm>
          <a:off x="5417914" y="1244212"/>
          <a:ext cx="5041237" cy="5374574"/>
        </p:xfrm>
        <a:graphic>
          <a:graphicData uri="http://schemas.openxmlformats.org/presentationml/2006/ole">
            <mc:AlternateContent xmlns:mc="http://schemas.openxmlformats.org/markup-compatibility/2006">
              <mc:Choice xmlns:v="urn:schemas-microsoft-com:vml" Requires="v">
                <p:oleObj name="Picture2" r:id="rId2" imgW="4236720" imgH="4511040" progId="Word.Picture.8">
                  <p:embed/>
                </p:oleObj>
              </mc:Choice>
              <mc:Fallback>
                <p:oleObj name="Picture2" r:id="rId2" imgW="4236720" imgH="4511040" progId="Word.Picture.8">
                  <p:embed/>
                  <p:pic>
                    <p:nvPicPr>
                      <p:cNvPr id="3891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7914" y="1244212"/>
                        <a:ext cx="5041237" cy="537457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62538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3.5.2 Beaufort</a:t>
            </a:r>
            <a:r>
              <a:rPr lang="zh-CN" altLang="en-US" dirty="0"/>
              <a:t>密码</a:t>
            </a:r>
          </a:p>
        </p:txBody>
      </p:sp>
      <p:sp>
        <p:nvSpPr>
          <p:cNvPr id="3" name="内容占位符 2"/>
          <p:cNvSpPr>
            <a:spLocks noGrp="1"/>
          </p:cNvSpPr>
          <p:nvPr>
            <p:ph idx="1"/>
          </p:nvPr>
        </p:nvSpPr>
        <p:spPr>
          <a:xfrm>
            <a:off x="838200" y="1510758"/>
            <a:ext cx="10300855" cy="4982116"/>
          </a:xfrm>
        </p:spPr>
        <p:txBody>
          <a:bodyPr>
            <a:normAutofit fontScale="85000" lnSpcReduction="10000"/>
          </a:bodyPr>
          <a:lstStyle/>
          <a:p>
            <a:pPr>
              <a:lnSpc>
                <a:spcPct val="150000"/>
              </a:lnSpc>
            </a:pPr>
            <a:r>
              <a:rPr lang="en-US" altLang="zh-CN" dirty="0">
                <a:solidFill>
                  <a:srgbClr val="C00000"/>
                </a:solidFill>
              </a:rPr>
              <a:t>Beaufort</a:t>
            </a:r>
            <a:r>
              <a:rPr lang="zh-CN" altLang="en-US" dirty="0">
                <a:solidFill>
                  <a:srgbClr val="C00000"/>
                </a:solidFill>
              </a:rPr>
              <a:t>（博福特）密码</a:t>
            </a:r>
            <a:r>
              <a:rPr lang="zh-CN" altLang="en-US" dirty="0"/>
              <a:t>：</a:t>
            </a:r>
          </a:p>
          <a:p>
            <a:pPr lvl="1">
              <a:lnSpc>
                <a:spcPct val="150000"/>
              </a:lnSpc>
            </a:pPr>
            <a:r>
              <a:rPr lang="zh-CN" altLang="en-US" sz="2800" dirty="0"/>
              <a:t>加密：</a:t>
            </a:r>
            <a:r>
              <a:rPr lang="en-US" altLang="zh-CN" sz="2800" dirty="0"/>
              <a:t>f</a:t>
            </a:r>
            <a:r>
              <a:rPr lang="en-US" altLang="zh-CN" sz="2800" baseline="-25000" dirty="0"/>
              <a:t>i</a:t>
            </a:r>
            <a:r>
              <a:rPr lang="en-US" altLang="zh-CN" sz="2800" dirty="0"/>
              <a:t>(a)</a:t>
            </a:r>
            <a:r>
              <a:rPr lang="zh-CN" altLang="en-US" sz="2800" dirty="0"/>
              <a:t>＝</a:t>
            </a:r>
            <a:r>
              <a:rPr lang="en-US" altLang="zh-CN" sz="2800" dirty="0"/>
              <a:t>(</a:t>
            </a:r>
            <a:r>
              <a:rPr lang="en-US" altLang="zh-CN" sz="2800" dirty="0" err="1"/>
              <a:t>k</a:t>
            </a:r>
            <a:r>
              <a:rPr lang="en-US" altLang="zh-CN" sz="2800" baseline="-25000" dirty="0" err="1"/>
              <a:t>i</a:t>
            </a:r>
            <a:r>
              <a:rPr lang="en-US" altLang="zh-CN" sz="2800" dirty="0"/>
              <a:t>-a) mod n</a:t>
            </a:r>
          </a:p>
          <a:p>
            <a:pPr lvl="1">
              <a:lnSpc>
                <a:spcPct val="150000"/>
              </a:lnSpc>
            </a:pPr>
            <a:r>
              <a:rPr lang="zh-CN" altLang="en-US" sz="2800" dirty="0"/>
              <a:t>解密：</a:t>
            </a:r>
            <a:r>
              <a:rPr lang="en-US" altLang="zh-CN" sz="2800" dirty="0"/>
              <a:t>f</a:t>
            </a:r>
            <a:r>
              <a:rPr lang="en-US" altLang="zh-CN" sz="2800" baseline="-25000" dirty="0"/>
              <a:t>i</a:t>
            </a:r>
            <a:r>
              <a:rPr lang="en-US" altLang="zh-CN" sz="2800" baseline="30000" dirty="0"/>
              <a:t>-1</a:t>
            </a:r>
            <a:r>
              <a:rPr lang="en-US" altLang="zh-CN" sz="2800" dirty="0"/>
              <a:t>(c)=(</a:t>
            </a:r>
            <a:r>
              <a:rPr lang="en-US" altLang="zh-CN" sz="2800" dirty="0" err="1"/>
              <a:t>k</a:t>
            </a:r>
            <a:r>
              <a:rPr lang="en-US" altLang="zh-CN" sz="2800" baseline="-25000" dirty="0" err="1"/>
              <a:t>i</a:t>
            </a:r>
            <a:r>
              <a:rPr lang="en-US" altLang="zh-CN" sz="2800" dirty="0"/>
              <a:t>-c) mod n</a:t>
            </a:r>
          </a:p>
          <a:p>
            <a:pPr>
              <a:lnSpc>
                <a:spcPct val="150000"/>
              </a:lnSpc>
            </a:pPr>
            <a:r>
              <a:rPr lang="zh-CN" altLang="en-US" dirty="0"/>
              <a:t>变异的</a:t>
            </a:r>
            <a:r>
              <a:rPr lang="en-US" altLang="zh-CN" dirty="0"/>
              <a:t>Beaufort</a:t>
            </a:r>
            <a:r>
              <a:rPr lang="zh-CN" altLang="en-US" dirty="0"/>
              <a:t>密码： </a:t>
            </a:r>
            <a:r>
              <a:rPr lang="en-US" altLang="zh-CN" dirty="0"/>
              <a:t>f</a:t>
            </a:r>
            <a:r>
              <a:rPr lang="en-US" altLang="zh-CN" baseline="-25000" dirty="0"/>
              <a:t>i</a:t>
            </a:r>
            <a:r>
              <a:rPr lang="en-US" altLang="zh-CN" dirty="0"/>
              <a:t>(a)</a:t>
            </a:r>
            <a:r>
              <a:rPr lang="zh-CN" altLang="en-US" dirty="0"/>
              <a:t>＝</a:t>
            </a:r>
            <a:r>
              <a:rPr lang="en-US" altLang="zh-CN" dirty="0"/>
              <a:t>(a-</a:t>
            </a:r>
            <a:r>
              <a:rPr lang="en-US" altLang="zh-CN" dirty="0" err="1"/>
              <a:t>k</a:t>
            </a:r>
            <a:r>
              <a:rPr lang="en-US" altLang="zh-CN" baseline="-25000" dirty="0" err="1"/>
              <a:t>i</a:t>
            </a:r>
            <a:r>
              <a:rPr lang="en-US" altLang="zh-CN" dirty="0"/>
              <a:t>) mod n</a:t>
            </a:r>
          </a:p>
          <a:p>
            <a:pPr>
              <a:lnSpc>
                <a:spcPct val="150000"/>
              </a:lnSpc>
            </a:pPr>
            <a:r>
              <a:rPr lang="zh-CN" altLang="en-US" dirty="0"/>
              <a:t>周期代替密码的确定性距离：</a:t>
            </a:r>
          </a:p>
          <a:p>
            <a:pPr lvl="1">
              <a:lnSpc>
                <a:spcPct val="150000"/>
              </a:lnSpc>
            </a:pPr>
            <a:r>
              <a:rPr lang="zh-CN" altLang="en-US" sz="2800" dirty="0"/>
              <a:t>设对每个简单代替（每一位）有</a:t>
            </a:r>
            <a:r>
              <a:rPr lang="en-US" altLang="zh-CN" sz="2800" dirty="0"/>
              <a:t>s</a:t>
            </a:r>
            <a:r>
              <a:rPr lang="zh-CN" altLang="en-US" sz="2800" dirty="0"/>
              <a:t>个可能的密钥，则若使用</a:t>
            </a:r>
            <a:r>
              <a:rPr lang="en-US" altLang="zh-CN" sz="2800" dirty="0"/>
              <a:t>d</a:t>
            </a:r>
            <a:r>
              <a:rPr lang="zh-CN" altLang="en-US" sz="2800" dirty="0"/>
              <a:t>个代替，共有</a:t>
            </a:r>
            <a:r>
              <a:rPr lang="en-US" altLang="zh-CN" sz="2800" dirty="0" err="1"/>
              <a:t>s</a:t>
            </a:r>
            <a:r>
              <a:rPr lang="en-US" altLang="zh-CN" sz="2800" baseline="30000" dirty="0" err="1"/>
              <a:t>d</a:t>
            </a:r>
            <a:r>
              <a:rPr lang="zh-CN" altLang="en-US" sz="2800" dirty="0"/>
              <a:t>个可能的密钥。</a:t>
            </a:r>
          </a:p>
          <a:p>
            <a:pPr lvl="1">
              <a:lnSpc>
                <a:spcPct val="150000"/>
              </a:lnSpc>
            </a:pPr>
            <a:r>
              <a:rPr lang="zh-CN" altLang="en-US" sz="2800" dirty="0"/>
              <a:t>确定性距离：</a:t>
            </a:r>
            <a:r>
              <a:rPr lang="en-US" altLang="zh-CN" sz="2800" dirty="0"/>
              <a:t>u </a:t>
            </a:r>
            <a:r>
              <a:rPr lang="en-US" altLang="zh-CN" sz="2800" dirty="0">
                <a:sym typeface="Symbol" panose="05050102010706020507" pitchFamily="18" charset="2"/>
              </a:rPr>
              <a:t> H(K)/</a:t>
            </a:r>
            <a:r>
              <a:rPr lang="en-US" altLang="zh-CN" sz="2800" dirty="0">
                <a:highlight>
                  <a:srgbClr val="FFFF00"/>
                </a:highlight>
                <a:sym typeface="Symbol" panose="05050102010706020507" pitchFamily="18" charset="2"/>
              </a:rPr>
              <a:t>D</a:t>
            </a:r>
            <a:r>
              <a:rPr lang="en-US" altLang="zh-CN" sz="2800" dirty="0">
                <a:sym typeface="Symbol" panose="05050102010706020507" pitchFamily="18" charset="2"/>
              </a:rPr>
              <a:t>=log</a:t>
            </a:r>
            <a:r>
              <a:rPr lang="en-US" altLang="zh-CN" sz="2800" baseline="-25000" dirty="0">
                <a:sym typeface="Symbol" panose="05050102010706020507" pitchFamily="18" charset="2"/>
              </a:rPr>
              <a:t>2</a:t>
            </a:r>
            <a:r>
              <a:rPr lang="en-US" altLang="zh-CN" sz="2800" dirty="0">
                <a:sym typeface="Symbol" panose="05050102010706020507" pitchFamily="18" charset="2"/>
              </a:rPr>
              <a:t>(</a:t>
            </a:r>
            <a:r>
              <a:rPr lang="en-US" altLang="zh-CN" sz="2800" dirty="0" err="1">
                <a:sym typeface="Symbol" panose="05050102010706020507" pitchFamily="18" charset="2"/>
              </a:rPr>
              <a:t>s</a:t>
            </a:r>
            <a:r>
              <a:rPr lang="en-US" altLang="zh-CN" sz="2800" baseline="30000" dirty="0" err="1">
                <a:sym typeface="Symbol" panose="05050102010706020507" pitchFamily="18" charset="2"/>
              </a:rPr>
              <a:t>d</a:t>
            </a:r>
            <a:r>
              <a:rPr lang="en-US" altLang="zh-CN" sz="2800" dirty="0">
                <a:sym typeface="Symbol" panose="05050102010706020507" pitchFamily="18" charset="2"/>
              </a:rPr>
              <a:t>)/D=dlog</a:t>
            </a:r>
            <a:r>
              <a:rPr lang="en-US" altLang="zh-CN" sz="2800" baseline="-25000" dirty="0">
                <a:sym typeface="Symbol" panose="05050102010706020507" pitchFamily="18" charset="2"/>
              </a:rPr>
              <a:t>2</a:t>
            </a:r>
            <a:r>
              <a:rPr lang="en-US" altLang="zh-CN" sz="2800" dirty="0">
                <a:sym typeface="Symbol" panose="05050102010706020507" pitchFamily="18" charset="2"/>
              </a:rPr>
              <a:t>s/D </a:t>
            </a:r>
            <a:r>
              <a:rPr lang="zh-CN" altLang="en-US" sz="2800" dirty="0">
                <a:sym typeface="Symbol" panose="05050102010706020507" pitchFamily="18" charset="2"/>
              </a:rPr>
              <a:t>当</a:t>
            </a:r>
            <a:r>
              <a:rPr lang="en-US" altLang="zh-CN" sz="2800" dirty="0">
                <a:sym typeface="Symbol" panose="05050102010706020507" pitchFamily="18" charset="2"/>
              </a:rPr>
              <a:t>s=26</a:t>
            </a:r>
            <a:r>
              <a:rPr lang="zh-CN" altLang="en-US" sz="2800" dirty="0">
                <a:sym typeface="Symbol" panose="05050102010706020507" pitchFamily="18" charset="2"/>
              </a:rPr>
              <a:t>时，</a:t>
            </a:r>
            <a:r>
              <a:rPr lang="en-US" altLang="zh-CN" sz="2800" dirty="0">
                <a:sym typeface="Symbol" panose="05050102010706020507" pitchFamily="18" charset="2"/>
              </a:rPr>
              <a:t>u  1.5d</a:t>
            </a: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37</a:t>
            </a:fld>
            <a:endParaRPr kumimoji="1"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6A9E1CF-7109-EE8A-3DE3-41D000BB9602}"/>
                  </a:ext>
                </a:extLst>
              </p:cNvPr>
              <p:cNvSpPr txBox="1"/>
              <p:nvPr/>
            </p:nvSpPr>
            <p:spPr>
              <a:xfrm>
                <a:off x="6307016" y="1602621"/>
                <a:ext cx="5717930" cy="923330"/>
              </a:xfrm>
              <a:prstGeom prst="rect">
                <a:avLst/>
              </a:prstGeom>
              <a:noFill/>
            </p:spPr>
            <p:txBody>
              <a:bodyPr wrap="square">
                <a:spAutoFit/>
              </a:bodyPr>
              <a:lstStyle/>
              <a:p>
                <a:pPr>
                  <a:buNone/>
                </a:pPr>
                <a:r>
                  <a:rPr lang="zh-CN" altLang="en-US" b="1" dirty="0">
                    <a:effectLst/>
                    <a:latin typeface="Google Sans Text"/>
                  </a:rPr>
                  <a:t>明文 </a:t>
                </a:r>
                <a14:m>
                  <m:oMath xmlns:m="http://schemas.openxmlformats.org/officeDocument/2006/math">
                    <m:r>
                      <a:rPr lang="en-US" altLang="zh-CN" b="1" i="1" dirty="0" smtClean="0">
                        <a:effectLst/>
                        <a:latin typeface="Cambria Math" panose="02040503050406030204" pitchFamily="18" charset="0"/>
                      </a:rPr>
                      <m:t>𝑴</m:t>
                    </m:r>
                  </m:oMath>
                </a14:m>
                <a:r>
                  <a:rPr lang="zh-CN" altLang="en-US" dirty="0">
                    <a:effectLst/>
                    <a:latin typeface="Google Sans Text"/>
                  </a:rPr>
                  <a:t> </a:t>
                </a:r>
                <a:r>
                  <a:rPr lang="en-US" altLang="zh-CN" dirty="0">
                    <a:effectLst/>
                    <a:latin typeface="Google Sans Text"/>
                  </a:rPr>
                  <a:t>= H</a:t>
                </a:r>
                <a:r>
                  <a:rPr lang="zh-CN" altLang="en-US" dirty="0">
                    <a:effectLst/>
                    <a:latin typeface="Google Sans Text"/>
                  </a:rPr>
                  <a:t>（数字 </a:t>
                </a:r>
                <a:r>
                  <a:rPr lang="en-US" altLang="zh-CN" dirty="0">
                    <a:effectLst/>
                    <a:latin typeface="Google Sans Text"/>
                  </a:rPr>
                  <a:t>7</a:t>
                </a:r>
                <a:r>
                  <a:rPr lang="zh-CN" altLang="en-US" dirty="0">
                    <a:effectLst/>
                    <a:latin typeface="Google Sans Text"/>
                  </a:rPr>
                  <a:t>）</a:t>
                </a:r>
              </a:p>
              <a:p>
                <a:pPr>
                  <a:buNone/>
                </a:pPr>
                <a:r>
                  <a:rPr lang="zh-CN" altLang="en-US" b="1" dirty="0">
                    <a:effectLst/>
                    <a:latin typeface="Google Sans Text"/>
                  </a:rPr>
                  <a:t>密钥 </a:t>
                </a:r>
                <a14:m>
                  <m:oMath xmlns:m="http://schemas.openxmlformats.org/officeDocument/2006/math">
                    <m:r>
                      <a:rPr lang="en-US" altLang="zh-CN" b="1" i="1" dirty="0" smtClean="0">
                        <a:effectLst/>
                        <a:latin typeface="Cambria Math" panose="02040503050406030204" pitchFamily="18" charset="0"/>
                      </a:rPr>
                      <m:t>𝑲</m:t>
                    </m:r>
                    <m:r>
                      <a:rPr lang="zh-CN" altLang="en-US" i="1" dirty="0">
                        <a:effectLst/>
                        <a:latin typeface="Cambria Math" panose="02040503050406030204" pitchFamily="18" charset="0"/>
                      </a:rPr>
                      <m:t> </m:t>
                    </m:r>
                  </m:oMath>
                </a14:m>
                <a:r>
                  <a:rPr lang="en-US" altLang="zh-CN" dirty="0">
                    <a:effectLst/>
                    <a:latin typeface="Google Sans Text"/>
                  </a:rPr>
                  <a:t>= K</a:t>
                </a:r>
                <a:r>
                  <a:rPr lang="zh-CN" altLang="en-US" dirty="0">
                    <a:effectLst/>
                    <a:latin typeface="Google Sans Text"/>
                  </a:rPr>
                  <a:t>（数字 </a:t>
                </a:r>
                <a:r>
                  <a:rPr lang="en-US" altLang="zh-CN" dirty="0">
                    <a:effectLst/>
                    <a:latin typeface="Google Sans Text"/>
                  </a:rPr>
                  <a:t>10</a:t>
                </a:r>
                <a:r>
                  <a:rPr lang="zh-CN" altLang="en-US" dirty="0">
                    <a:effectLst/>
                    <a:latin typeface="Google Sans Text"/>
                  </a:rPr>
                  <a:t>）  也可以像前面一样多位一起</a:t>
                </a:r>
                <a:endParaRPr lang="en-US" altLang="zh-CN" dirty="0">
                  <a:effectLst/>
                  <a:latin typeface="Google Sans Text"/>
                </a:endParaRPr>
              </a:p>
              <a:p>
                <a:pPr>
                  <a:buNone/>
                </a:pPr>
                <a:endParaRPr lang="zh-CN" altLang="en-US" dirty="0">
                  <a:effectLst/>
                  <a:latin typeface="Google Sans Text"/>
                </a:endParaRPr>
              </a:p>
            </p:txBody>
          </p:sp>
        </mc:Choice>
        <mc:Fallback xmlns="">
          <p:sp>
            <p:nvSpPr>
              <p:cNvPr id="6" name="文本框 5">
                <a:extLst>
                  <a:ext uri="{FF2B5EF4-FFF2-40B4-BE49-F238E27FC236}">
                    <a16:creationId xmlns:a16="http://schemas.microsoft.com/office/drawing/2014/main" id="{66A9E1CF-7109-EE8A-3DE3-41D000BB9602}"/>
                  </a:ext>
                </a:extLst>
              </p:cNvPr>
              <p:cNvSpPr txBox="1">
                <a:spLocks noRot="1" noChangeAspect="1" noMove="1" noResize="1" noEditPoints="1" noAdjustHandles="1" noChangeArrowheads="1" noChangeShapeType="1" noTextEdit="1"/>
              </p:cNvSpPr>
              <p:nvPr/>
            </p:nvSpPr>
            <p:spPr>
              <a:xfrm>
                <a:off x="6307016" y="1602621"/>
                <a:ext cx="5717930" cy="923330"/>
              </a:xfrm>
              <a:prstGeom prst="rect">
                <a:avLst/>
              </a:prstGeom>
              <a:blipFill>
                <a:blip r:embed="rId2"/>
                <a:stretch>
                  <a:fillRect l="-959" t="-39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F619C02-0479-05BB-1543-D9EFDC4F5567}"/>
                  </a:ext>
                </a:extLst>
              </p:cNvPr>
              <p:cNvSpPr txBox="1"/>
              <p:nvPr/>
            </p:nvSpPr>
            <p:spPr>
              <a:xfrm>
                <a:off x="5805854" y="2299292"/>
                <a:ext cx="61018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𝑐</m:t>
                      </m:r>
                      <m:r>
                        <a:rPr lang="zh-CN" altLang="en-US" i="1" smtClean="0">
                          <a:latin typeface="Cambria Math" panose="02040503050406030204" pitchFamily="18" charset="0"/>
                        </a:rPr>
                        <m:t>=</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r>
                            <a:rPr lang="zh-CN" altLang="en-US" i="1">
                              <a:latin typeface="Cambria Math" panose="02040503050406030204" pitchFamily="18" charset="0"/>
                            </a:rPr>
                            <m:t>−</m:t>
                          </m:r>
                          <m:r>
                            <a:rPr lang="zh-CN" altLang="en-US" i="1">
                              <a:latin typeface="Cambria Math" panose="02040503050406030204" pitchFamily="18" charset="0"/>
                            </a:rPr>
                            <m:t>𝑎</m:t>
                          </m:r>
                        </m:e>
                      </m:d>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zh-CN" altLang="en-US" i="1">
                          <a:latin typeface="Cambria Math" panose="02040503050406030204" pitchFamily="18" charset="0"/>
                        </a:rPr>
                        <m:t>26=</m:t>
                      </m:r>
                      <m:d>
                        <m:dPr>
                          <m:ctrlPr>
                            <a:rPr lang="zh-CN" altLang="en-US" i="1">
                              <a:latin typeface="Cambria Math" panose="02040503050406030204" pitchFamily="18" charset="0"/>
                            </a:rPr>
                          </m:ctrlPr>
                        </m:dPr>
                        <m:e>
                          <m:r>
                            <a:rPr lang="zh-CN" altLang="en-US" i="1">
                              <a:latin typeface="Cambria Math" panose="02040503050406030204" pitchFamily="18" charset="0"/>
                            </a:rPr>
                            <m:t>10−7</m:t>
                          </m:r>
                        </m:e>
                      </m:d>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zh-CN" altLang="en-US" i="1">
                          <a:latin typeface="Cambria Math" panose="02040503050406030204" pitchFamily="18" charset="0"/>
                        </a:rPr>
                        <m:t>26=3⟶</m:t>
                      </m:r>
                      <m:r>
                        <a:rPr lang="zh-CN" altLang="en-US" i="1">
                          <a:latin typeface="Cambria Math" panose="02040503050406030204" pitchFamily="18" charset="0"/>
                        </a:rPr>
                        <m:t>𝐃</m:t>
                      </m:r>
                    </m:oMath>
                  </m:oMathPara>
                </a14:m>
                <a:endParaRPr lang="zh-CN" altLang="en-US" dirty="0"/>
              </a:p>
            </p:txBody>
          </p:sp>
        </mc:Choice>
        <mc:Fallback xmlns="">
          <p:sp>
            <p:nvSpPr>
              <p:cNvPr id="8" name="文本框 7">
                <a:extLst>
                  <a:ext uri="{FF2B5EF4-FFF2-40B4-BE49-F238E27FC236}">
                    <a16:creationId xmlns:a16="http://schemas.microsoft.com/office/drawing/2014/main" id="{6F619C02-0479-05BB-1543-D9EFDC4F5567}"/>
                  </a:ext>
                </a:extLst>
              </p:cNvPr>
              <p:cNvSpPr txBox="1">
                <a:spLocks noRot="1" noChangeAspect="1" noMove="1" noResize="1" noEditPoints="1" noAdjustHandles="1" noChangeArrowheads="1" noChangeShapeType="1" noTextEdit="1"/>
              </p:cNvSpPr>
              <p:nvPr/>
            </p:nvSpPr>
            <p:spPr>
              <a:xfrm>
                <a:off x="5805854" y="2299292"/>
                <a:ext cx="6101860"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4879D21-A720-9328-BE59-1D91335601CE}"/>
                  </a:ext>
                </a:extLst>
              </p:cNvPr>
              <p:cNvSpPr txBox="1"/>
              <p:nvPr/>
            </p:nvSpPr>
            <p:spPr>
              <a:xfrm>
                <a:off x="5864470" y="2657701"/>
                <a:ext cx="61018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𝑎</m:t>
                      </m:r>
                      <m:r>
                        <a:rPr lang="zh-CN" altLang="en-US" i="1" smtClean="0">
                          <a:latin typeface="Cambria Math" panose="02040503050406030204" pitchFamily="18" charset="0"/>
                        </a:rPr>
                        <m:t>=</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r>
                            <a:rPr lang="zh-CN" altLang="en-US" i="1">
                              <a:latin typeface="Cambria Math" panose="02040503050406030204" pitchFamily="18" charset="0"/>
                            </a:rPr>
                            <m:t>−</m:t>
                          </m:r>
                          <m:r>
                            <a:rPr lang="zh-CN" altLang="en-US" i="1">
                              <a:latin typeface="Cambria Math" panose="02040503050406030204" pitchFamily="18" charset="0"/>
                            </a:rPr>
                            <m:t>𝑐</m:t>
                          </m:r>
                        </m:e>
                      </m:d>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zh-CN" altLang="en-US" i="1">
                          <a:latin typeface="Cambria Math" panose="02040503050406030204" pitchFamily="18" charset="0"/>
                        </a:rPr>
                        <m:t>26=</m:t>
                      </m:r>
                      <m:d>
                        <m:dPr>
                          <m:ctrlPr>
                            <a:rPr lang="zh-CN" altLang="en-US" i="1">
                              <a:latin typeface="Cambria Math" panose="02040503050406030204" pitchFamily="18" charset="0"/>
                            </a:rPr>
                          </m:ctrlPr>
                        </m:dPr>
                        <m:e>
                          <m:r>
                            <a:rPr lang="zh-CN" altLang="en-US" i="1">
                              <a:latin typeface="Cambria Math" panose="02040503050406030204" pitchFamily="18" charset="0"/>
                            </a:rPr>
                            <m:t>10−3</m:t>
                          </m:r>
                        </m:e>
                      </m:d>
                      <m:r>
                        <a:rPr lang="en-US" altLang="zh-CN" b="0" i="1" smtClean="0">
                          <a:latin typeface="Cambria Math" panose="02040503050406030204" pitchFamily="18" charset="0"/>
                        </a:rPr>
                        <m:t>  </m:t>
                      </m:r>
                      <m:r>
                        <m:rPr>
                          <m:sty m:val="p"/>
                        </m:rPr>
                        <a:rPr lang="zh-CN" altLang="en-US" i="1">
                          <a:latin typeface="Cambria Math" panose="02040503050406030204" pitchFamily="18" charset="0"/>
                        </a:rPr>
                        <m:t>mod</m:t>
                      </m:r>
                      <m:r>
                        <a:rPr lang="zh-CN" altLang="en-US" i="1">
                          <a:latin typeface="Cambria Math" panose="02040503050406030204" pitchFamily="18" charset="0"/>
                        </a:rPr>
                        <m:t>26=7⟶</m:t>
                      </m:r>
                      <m:r>
                        <a:rPr lang="zh-CN" altLang="en-US" i="1">
                          <a:latin typeface="Cambria Math" panose="02040503050406030204" pitchFamily="18" charset="0"/>
                        </a:rPr>
                        <m:t>𝐇</m:t>
                      </m:r>
                    </m:oMath>
                  </m:oMathPara>
                </a14:m>
                <a:endParaRPr lang="zh-CN" altLang="en-US" dirty="0"/>
              </a:p>
            </p:txBody>
          </p:sp>
        </mc:Choice>
        <mc:Fallback xmlns="">
          <p:sp>
            <p:nvSpPr>
              <p:cNvPr id="10" name="文本框 9">
                <a:extLst>
                  <a:ext uri="{FF2B5EF4-FFF2-40B4-BE49-F238E27FC236}">
                    <a16:creationId xmlns:a16="http://schemas.microsoft.com/office/drawing/2014/main" id="{74879D21-A720-9328-BE59-1D91335601CE}"/>
                  </a:ext>
                </a:extLst>
              </p:cNvPr>
              <p:cNvSpPr txBox="1">
                <a:spLocks noRot="1" noChangeAspect="1" noMove="1" noResize="1" noEditPoints="1" noAdjustHandles="1" noChangeArrowheads="1" noChangeShapeType="1" noTextEdit="1"/>
              </p:cNvSpPr>
              <p:nvPr/>
            </p:nvSpPr>
            <p:spPr>
              <a:xfrm>
                <a:off x="5864470" y="2657701"/>
                <a:ext cx="6101860" cy="369332"/>
              </a:xfrm>
              <a:prstGeom prst="rect">
                <a:avLst/>
              </a:prstGeom>
              <a:blipFill>
                <a:blip r:embed="rId4"/>
                <a:stretch>
                  <a:fillRect/>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B9ADD7BF-05A0-8699-27A9-7BD7BF931517}"/>
              </a:ext>
            </a:extLst>
          </p:cNvPr>
          <p:cNvSpPr txBox="1"/>
          <p:nvPr/>
        </p:nvSpPr>
        <p:spPr>
          <a:xfrm>
            <a:off x="4070838" y="6236200"/>
            <a:ext cx="2412023" cy="523220"/>
          </a:xfrm>
          <a:prstGeom prst="rect">
            <a:avLst/>
          </a:prstGeom>
          <a:noFill/>
        </p:spPr>
        <p:txBody>
          <a:bodyPr wrap="square">
            <a:spAutoFit/>
          </a:bodyPr>
          <a:lstStyle/>
          <a:p>
            <a:r>
              <a:rPr lang="zh-CN" altLang="en-US" sz="2800" dirty="0">
                <a:highlight>
                  <a:srgbClr val="FFFF00"/>
                </a:highlight>
              </a:rPr>
              <a:t>语言冗余度</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7687C9A-E9CF-1DF3-ECFF-E4E82ACB1A40}"/>
                  </a:ext>
                </a:extLst>
              </p:cNvPr>
              <p:cNvSpPr txBox="1"/>
              <p:nvPr/>
            </p:nvSpPr>
            <p:spPr>
              <a:xfrm>
                <a:off x="7926070" y="3461636"/>
                <a:ext cx="304545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𝑐</m:t>
                      </m:r>
                      <m:r>
                        <a:rPr lang="zh-CN" altLang="en-US" i="1" smtClean="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r>
                        <a:rPr lang="zh-CN" altLang="en-US" i="1">
                          <a:latin typeface="Cambria Math" panose="02040503050406030204" pitchFamily="18" charset="0"/>
                        </a:rPr>
                        <m:t>−</m:t>
                      </m:r>
                      <m:r>
                        <a:rPr lang="zh-CN" altLang="en-US" i="1">
                          <a:latin typeface="Cambria Math" panose="02040503050406030204" pitchFamily="18" charset="0"/>
                        </a:rPr>
                        <m:t>𝑎</m:t>
                      </m:r>
                      <m:r>
                        <a:rPr lang="zh-CN" altLang="en-US" i="1">
                          <a:latin typeface="Cambria Math" panose="02040503050406030204" pitchFamily="18" charset="0"/>
                        </a:rPr>
                        <m:t>+</m:t>
                      </m:r>
                      <m:r>
                        <a:rPr lang="zh-CN" altLang="en-US" i="1">
                          <a:latin typeface="Cambria Math" panose="02040503050406030204" pitchFamily="18" charset="0"/>
                        </a:rPr>
                        <m:t>𝑚</m:t>
                      </m:r>
                      <m:r>
                        <a:rPr lang="zh-CN" altLang="en-US" i="1">
                          <a:latin typeface="Cambria Math" panose="02040503050406030204" pitchFamily="18" charset="0"/>
                        </a:rPr>
                        <m:t>⋅</m:t>
                      </m:r>
                      <m:r>
                        <a:rPr lang="zh-CN" altLang="en-US" i="1">
                          <a:latin typeface="Cambria Math" panose="02040503050406030204" pitchFamily="18" charset="0"/>
                        </a:rPr>
                        <m:t>𝑛</m:t>
                      </m:r>
                    </m:oMath>
                  </m:oMathPara>
                </a14:m>
                <a:endParaRPr lang="zh-CN" altLang="en-US" dirty="0"/>
              </a:p>
            </p:txBody>
          </p:sp>
        </mc:Choice>
        <mc:Fallback xmlns="">
          <p:sp>
            <p:nvSpPr>
              <p:cNvPr id="14" name="文本框 13">
                <a:extLst>
                  <a:ext uri="{FF2B5EF4-FFF2-40B4-BE49-F238E27FC236}">
                    <a16:creationId xmlns:a16="http://schemas.microsoft.com/office/drawing/2014/main" id="{67687C9A-E9CF-1DF3-ECFF-E4E82ACB1A40}"/>
                  </a:ext>
                </a:extLst>
              </p:cNvPr>
              <p:cNvSpPr txBox="1">
                <a:spLocks noRot="1" noChangeAspect="1" noMove="1" noResize="1" noEditPoints="1" noAdjustHandles="1" noChangeArrowheads="1" noChangeShapeType="1" noTextEdit="1"/>
              </p:cNvSpPr>
              <p:nvPr/>
            </p:nvSpPr>
            <p:spPr>
              <a:xfrm>
                <a:off x="7926070" y="3461636"/>
                <a:ext cx="3045459"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1F5E0FF-091D-5614-9503-D44B64ADE809}"/>
                  </a:ext>
                </a:extLst>
              </p:cNvPr>
              <p:cNvSpPr txBox="1"/>
              <p:nvPr/>
            </p:nvSpPr>
            <p:spPr>
              <a:xfrm>
                <a:off x="8113834" y="3916781"/>
                <a:ext cx="266993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𝑎</m:t>
                      </m:r>
                      <m:r>
                        <a:rPr lang="zh-CN" altLang="en-US" i="1" smtClean="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r>
                        <a:rPr lang="zh-CN" altLang="en-US" i="1">
                          <a:latin typeface="Cambria Math" panose="02040503050406030204" pitchFamily="18" charset="0"/>
                        </a:rPr>
                        <m:t>−</m:t>
                      </m:r>
                      <m:r>
                        <a:rPr lang="zh-CN" altLang="en-US" i="1">
                          <a:latin typeface="Cambria Math" panose="02040503050406030204" pitchFamily="18" charset="0"/>
                        </a:rPr>
                        <m:t>𝑐</m:t>
                      </m:r>
                      <m:r>
                        <a:rPr lang="zh-CN" altLang="en-US" i="1">
                          <a:latin typeface="Cambria Math" panose="02040503050406030204" pitchFamily="18" charset="0"/>
                        </a:rPr>
                        <m:t>+</m:t>
                      </m:r>
                      <m:r>
                        <a:rPr lang="zh-CN" altLang="en-US" i="1">
                          <a:latin typeface="Cambria Math" panose="02040503050406030204" pitchFamily="18" charset="0"/>
                        </a:rPr>
                        <m:t>𝑚</m:t>
                      </m:r>
                      <m:r>
                        <a:rPr lang="zh-CN" altLang="en-US" i="1">
                          <a:latin typeface="Cambria Math" panose="02040503050406030204" pitchFamily="18" charset="0"/>
                        </a:rPr>
                        <m:t>⋅</m:t>
                      </m:r>
                      <m:r>
                        <a:rPr lang="zh-CN" altLang="en-US" i="1">
                          <a:latin typeface="Cambria Math" panose="02040503050406030204" pitchFamily="18" charset="0"/>
                        </a:rPr>
                        <m:t>𝑛</m:t>
                      </m:r>
                    </m:oMath>
                  </m:oMathPara>
                </a14:m>
                <a:endParaRPr lang="zh-CN" altLang="en-US" dirty="0"/>
              </a:p>
            </p:txBody>
          </p:sp>
        </mc:Choice>
        <mc:Fallback xmlns="">
          <p:sp>
            <p:nvSpPr>
              <p:cNvPr id="16" name="文本框 15">
                <a:extLst>
                  <a:ext uri="{FF2B5EF4-FFF2-40B4-BE49-F238E27FC236}">
                    <a16:creationId xmlns:a16="http://schemas.microsoft.com/office/drawing/2014/main" id="{81F5E0FF-091D-5614-9503-D44B64ADE809}"/>
                  </a:ext>
                </a:extLst>
              </p:cNvPr>
              <p:cNvSpPr txBox="1">
                <a:spLocks noRot="1" noChangeAspect="1" noMove="1" noResize="1" noEditPoints="1" noAdjustHandles="1" noChangeArrowheads="1" noChangeShapeType="1" noTextEdit="1"/>
              </p:cNvSpPr>
              <p:nvPr/>
            </p:nvSpPr>
            <p:spPr>
              <a:xfrm>
                <a:off x="8113834" y="3916781"/>
                <a:ext cx="2669931" cy="369332"/>
              </a:xfrm>
              <a:prstGeom prst="rect">
                <a:avLst/>
              </a:prstGeom>
              <a:blipFill>
                <a:blip r:embed="rId6"/>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EA2A817F-4F0C-F0C7-2A1C-182AA46A7D29}"/>
              </a:ext>
            </a:extLst>
          </p:cNvPr>
          <p:cNvSpPr/>
          <p:nvPr/>
        </p:nvSpPr>
        <p:spPr>
          <a:xfrm>
            <a:off x="8103715" y="3409758"/>
            <a:ext cx="2669931" cy="10140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a:extLst>
              <a:ext uri="{FF2B5EF4-FFF2-40B4-BE49-F238E27FC236}">
                <a16:creationId xmlns:a16="http://schemas.microsoft.com/office/drawing/2014/main" id="{FD9C0823-7B0F-9629-CB07-F3924810B43F}"/>
              </a:ext>
            </a:extLst>
          </p:cNvPr>
          <p:cNvCxnSpPr>
            <a:stCxn id="17" idx="1"/>
          </p:cNvCxnSpPr>
          <p:nvPr/>
        </p:nvCxnSpPr>
        <p:spPr>
          <a:xfrm flipH="1" flipV="1">
            <a:off x="5417914" y="2842367"/>
            <a:ext cx="2685801" cy="1074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871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t>3.1 </a:t>
            </a:r>
            <a:r>
              <a:rPr lang="zh-CN" altLang="en-US" sz="3200" dirty="0"/>
              <a:t>密码学的起源与发展</a:t>
            </a:r>
            <a:endParaRPr lang="en-US" altLang="zh-CN" sz="3200" dirty="0"/>
          </a:p>
          <a:p>
            <a:pPr>
              <a:buNone/>
            </a:pPr>
            <a:r>
              <a:rPr lang="en-US" altLang="zh-CN" sz="3200" dirty="0"/>
              <a:t>3.2 </a:t>
            </a:r>
            <a:r>
              <a:rPr lang="zh-CN" altLang="en-US" sz="3200" dirty="0"/>
              <a:t>换位法</a:t>
            </a:r>
          </a:p>
          <a:p>
            <a:pPr>
              <a:buNone/>
            </a:pPr>
            <a:r>
              <a:rPr lang="en-US" altLang="zh-CN" sz="3200" dirty="0"/>
              <a:t>3.3 </a:t>
            </a:r>
            <a:r>
              <a:rPr lang="zh-CN" altLang="en-US" sz="3200" dirty="0"/>
              <a:t>简单代替密码</a:t>
            </a:r>
          </a:p>
          <a:p>
            <a:pPr>
              <a:buNone/>
            </a:pPr>
            <a:r>
              <a:rPr lang="en-US" altLang="zh-CN" sz="3200" dirty="0"/>
              <a:t>3.4 </a:t>
            </a:r>
            <a:r>
              <a:rPr lang="zh-CN" altLang="en-US" sz="3200" dirty="0"/>
              <a:t>同音代替密码</a:t>
            </a:r>
          </a:p>
          <a:p>
            <a:pPr>
              <a:buNone/>
            </a:pPr>
            <a:r>
              <a:rPr lang="en-US" altLang="zh-CN" sz="3200" dirty="0"/>
              <a:t>3.5 </a:t>
            </a:r>
            <a:r>
              <a:rPr lang="zh-CN" altLang="en-US" sz="3200" dirty="0"/>
              <a:t>多表代替密码</a:t>
            </a:r>
          </a:p>
          <a:p>
            <a:pPr>
              <a:buNone/>
            </a:pPr>
            <a:r>
              <a:rPr lang="en-US" altLang="zh-CN" sz="3200" dirty="0">
                <a:solidFill>
                  <a:srgbClr val="FF0000"/>
                </a:solidFill>
              </a:rPr>
              <a:t>3.6 </a:t>
            </a:r>
            <a:r>
              <a:rPr lang="zh-CN" altLang="en-US" sz="3200" dirty="0">
                <a:solidFill>
                  <a:srgbClr val="FF0000"/>
                </a:solidFill>
              </a:rPr>
              <a:t>多字母组代替密码</a:t>
            </a:r>
            <a:endParaRPr lang="en-US" altLang="zh-CN" sz="3200" dirty="0">
              <a:solidFill>
                <a:srgbClr val="FF0000"/>
              </a:solidFill>
            </a:endParaRPr>
          </a:p>
          <a:p>
            <a:pPr>
              <a:buNone/>
            </a:pPr>
            <a:r>
              <a:rPr lang="en-US" altLang="zh-CN" sz="3200" dirty="0"/>
              <a:t>3.7 </a:t>
            </a:r>
            <a:r>
              <a:rPr lang="zh-CN" altLang="en-US" sz="3200" dirty="0"/>
              <a:t>古典密码分析</a:t>
            </a:r>
            <a:endParaRPr lang="en-US" altLang="zh-CN" sz="3200" dirty="0"/>
          </a:p>
          <a:p>
            <a:pPr>
              <a:buNone/>
            </a:pPr>
            <a:endParaRPr lang="zh-CN" altLang="en-US" sz="3200" dirty="0">
              <a:solidFill>
                <a:srgbClr val="FF000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567053" y="3598223"/>
            <a:ext cx="4393872" cy="1686295"/>
          </a:xfrm>
          <a:prstGeom prst="wedgeRectCallout">
            <a:avLst>
              <a:gd name="adj1" fmla="val -70090"/>
              <a:gd name="adj2" fmla="val -491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err="1">
                <a:solidFill>
                  <a:prstClr val="black"/>
                </a:solidFill>
                <a:latin typeface="Microsoft YaHei" panose="020B0503020204020204" pitchFamily="34" charset="-122"/>
                <a:ea typeface="Microsoft YaHei" panose="020B0503020204020204" pitchFamily="34" charset="-122"/>
              </a:rPr>
              <a:t>Playfair</a:t>
            </a:r>
            <a:r>
              <a:rPr kumimoji="1" lang="zh-CN" altLang="en-US" sz="2400" dirty="0">
                <a:solidFill>
                  <a:prstClr val="black"/>
                </a:solidFill>
                <a:latin typeface="Microsoft YaHei" panose="020B0503020204020204" pitchFamily="34" charset="-122"/>
                <a:ea typeface="Microsoft YaHei" panose="020B0503020204020204" pitchFamily="34" charset="-122"/>
              </a:rPr>
              <a:t>（普莱费尔）密码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Hill</a:t>
            </a:r>
            <a:r>
              <a:rPr kumimoji="1" lang="zh-CN" altLang="en-US" sz="2400" dirty="0">
                <a:solidFill>
                  <a:prstClr val="black"/>
                </a:solidFill>
                <a:latin typeface="Microsoft YaHei" panose="020B0503020204020204" pitchFamily="34" charset="-122"/>
                <a:ea typeface="Microsoft YaHei" panose="020B0503020204020204" pitchFamily="34" charset="-122"/>
              </a:rPr>
              <a:t>密码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93467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3.6.1 </a:t>
            </a:r>
            <a:r>
              <a:rPr lang="en-US" altLang="zh-CN" dirty="0" err="1"/>
              <a:t>Playfair</a:t>
            </a:r>
            <a:r>
              <a:rPr lang="zh-CN" altLang="en-US" dirty="0"/>
              <a:t>（普莱费尔）密码</a:t>
            </a:r>
          </a:p>
        </p:txBody>
      </p:sp>
      <p:sp>
        <p:nvSpPr>
          <p:cNvPr id="3" name="内容占位符 2"/>
          <p:cNvSpPr>
            <a:spLocks noGrp="1"/>
          </p:cNvSpPr>
          <p:nvPr>
            <p:ph idx="1"/>
          </p:nvPr>
        </p:nvSpPr>
        <p:spPr>
          <a:xfrm>
            <a:off x="838200" y="1510758"/>
            <a:ext cx="10467109" cy="4982116"/>
          </a:xfrm>
        </p:spPr>
        <p:txBody>
          <a:bodyPr>
            <a:normAutofit/>
          </a:bodyPr>
          <a:lstStyle/>
          <a:p>
            <a:pPr>
              <a:lnSpc>
                <a:spcPct val="150000"/>
              </a:lnSpc>
            </a:pPr>
            <a:r>
              <a:rPr lang="en-US" altLang="zh-CN" dirty="0" err="1"/>
              <a:t>Playfair</a:t>
            </a:r>
            <a:r>
              <a:rPr lang="zh-CN" altLang="en-US" dirty="0"/>
              <a:t>密码是一个双字母组代替密码，用英国科学家</a:t>
            </a:r>
            <a:r>
              <a:rPr lang="en-US" altLang="zh-CN" dirty="0"/>
              <a:t>Lyon </a:t>
            </a:r>
            <a:r>
              <a:rPr lang="en-US" altLang="zh-CN" dirty="0" err="1"/>
              <a:t>Playfair</a:t>
            </a:r>
            <a:r>
              <a:rPr lang="zh-CN" altLang="en-US" dirty="0"/>
              <a:t>的名字命名。</a:t>
            </a:r>
            <a:endParaRPr lang="en-US" altLang="zh-CN" dirty="0"/>
          </a:p>
          <a:p>
            <a:pPr>
              <a:lnSpc>
                <a:spcPct val="150000"/>
              </a:lnSpc>
            </a:pPr>
            <a:r>
              <a:rPr lang="en-US" altLang="zh-CN" dirty="0" err="1"/>
              <a:t>Playfair</a:t>
            </a:r>
            <a:r>
              <a:rPr lang="zh-CN" altLang="en-US" dirty="0"/>
              <a:t>密码的密钥是由一个</a:t>
            </a:r>
            <a:r>
              <a:rPr lang="en-US" altLang="zh-CN" dirty="0"/>
              <a:t>25</a:t>
            </a:r>
            <a:r>
              <a:rPr lang="zh-CN" altLang="en-US" dirty="0"/>
              <a:t>个字母（</a:t>
            </a:r>
            <a:r>
              <a:rPr lang="en-US" altLang="zh-CN" dirty="0"/>
              <a:t>J</a:t>
            </a:r>
            <a:r>
              <a:rPr lang="zh-CN" altLang="en-US" dirty="0"/>
              <a:t>视为</a:t>
            </a:r>
            <a:r>
              <a:rPr lang="en-US" altLang="zh-CN" dirty="0"/>
              <a:t>I</a:t>
            </a:r>
            <a:r>
              <a:rPr lang="zh-CN" altLang="en-US" dirty="0"/>
              <a:t>）的</a:t>
            </a:r>
            <a:r>
              <a:rPr lang="en-US" altLang="zh-CN" dirty="0"/>
              <a:t>5×5</a:t>
            </a:r>
            <a:r>
              <a:rPr lang="zh-CN" altLang="en-US" dirty="0"/>
              <a:t>矩阵给出：</a:t>
            </a: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39</a:t>
            </a:fld>
            <a:endParaRPr kumimoji="1" lang="zh-CN" altLang="en-US" dirty="0"/>
          </a:p>
        </p:txBody>
      </p:sp>
      <p:sp>
        <p:nvSpPr>
          <p:cNvPr id="5" name="Rectangle 4"/>
          <p:cNvSpPr>
            <a:spLocks noChangeArrowheads="1"/>
          </p:cNvSpPr>
          <p:nvPr/>
        </p:nvSpPr>
        <p:spPr bwMode="auto">
          <a:xfrm>
            <a:off x="2762003" y="3806042"/>
            <a:ext cx="5867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kumimoji="1" lang="en-US" altLang="zh-CN" sz="2400" b="0" dirty="0">
                <a:solidFill>
                  <a:schemeClr val="tx1"/>
                </a:solidFill>
                <a:latin typeface="Times New Roman" panose="02020603050405020304" pitchFamily="18" charset="0"/>
              </a:rPr>
              <a:t>	H	A	R	P	S</a:t>
            </a:r>
          </a:p>
          <a:p>
            <a:pPr eaLnBrk="1" hangingPunct="1"/>
            <a:r>
              <a:rPr kumimoji="1" lang="en-US" altLang="zh-CN" sz="2400" b="0" dirty="0">
                <a:solidFill>
                  <a:schemeClr val="tx1"/>
                </a:solidFill>
                <a:latin typeface="Times New Roman" panose="02020603050405020304" pitchFamily="18" charset="0"/>
              </a:rPr>
              <a:t>	I	C	O	D	B</a:t>
            </a:r>
          </a:p>
          <a:p>
            <a:pPr eaLnBrk="1" hangingPunct="1"/>
            <a:r>
              <a:rPr kumimoji="1" lang="en-US" altLang="zh-CN" sz="2400" b="0" dirty="0">
                <a:solidFill>
                  <a:schemeClr val="tx1"/>
                </a:solidFill>
                <a:latin typeface="Times New Roman" panose="02020603050405020304" pitchFamily="18" charset="0"/>
              </a:rPr>
              <a:t>	E	F	G	K	L	</a:t>
            </a:r>
          </a:p>
          <a:p>
            <a:pPr eaLnBrk="1" hangingPunct="1"/>
            <a:r>
              <a:rPr kumimoji="1" lang="en-US" altLang="zh-CN" sz="2400" b="0" dirty="0">
                <a:solidFill>
                  <a:schemeClr val="tx1"/>
                </a:solidFill>
                <a:latin typeface="Times New Roman" panose="02020603050405020304" pitchFamily="18" charset="0"/>
              </a:rPr>
              <a:t>	M	N	Q	T 	U</a:t>
            </a:r>
          </a:p>
          <a:p>
            <a:pPr eaLnBrk="1" hangingPunct="1"/>
            <a:r>
              <a:rPr kumimoji="1" lang="en-US" altLang="zh-CN" sz="2400" b="0" dirty="0">
                <a:solidFill>
                  <a:schemeClr val="tx1"/>
                </a:solidFill>
                <a:latin typeface="Times New Roman" panose="02020603050405020304" pitchFamily="18" charset="0"/>
              </a:rPr>
              <a:t>	V	W	X	Y	Z</a:t>
            </a:r>
          </a:p>
        </p:txBody>
      </p:sp>
    </p:spTree>
    <p:extLst>
      <p:ext uri="{BB962C8B-B14F-4D97-AF65-F5344CB8AC3E}">
        <p14:creationId xmlns:p14="http://schemas.microsoft.com/office/powerpoint/2010/main" val="1518626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3.6.1 </a:t>
            </a:r>
            <a:r>
              <a:rPr lang="en-US" altLang="zh-CN" dirty="0" err="1"/>
              <a:t>Playfair</a:t>
            </a:r>
            <a:r>
              <a:rPr lang="zh-CN" altLang="en-US" dirty="0"/>
              <a:t>（普莱费尔）密码</a:t>
            </a:r>
          </a:p>
        </p:txBody>
      </p:sp>
      <p:sp>
        <p:nvSpPr>
          <p:cNvPr id="3" name="内容占位符 2"/>
          <p:cNvSpPr>
            <a:spLocks noGrp="1"/>
          </p:cNvSpPr>
          <p:nvPr>
            <p:ph idx="1"/>
          </p:nvPr>
        </p:nvSpPr>
        <p:spPr>
          <a:xfrm>
            <a:off x="838200" y="1510758"/>
            <a:ext cx="10467109" cy="4982116"/>
          </a:xfrm>
        </p:spPr>
        <p:txBody>
          <a:bodyPr>
            <a:normAutofit fontScale="92500" lnSpcReduction="20000"/>
          </a:bodyPr>
          <a:lstStyle/>
          <a:p>
            <a:pPr>
              <a:lnSpc>
                <a:spcPct val="130000"/>
              </a:lnSpc>
            </a:pPr>
            <a:r>
              <a:rPr lang="zh-CN" altLang="en-US" dirty="0"/>
              <a:t>对于矩阵中的每一对明文字母</a:t>
            </a:r>
            <a:r>
              <a:rPr lang="en-US" altLang="zh-CN" dirty="0"/>
              <a:t>m</a:t>
            </a:r>
            <a:r>
              <a:rPr lang="en-US" altLang="zh-CN" baseline="-25000" dirty="0"/>
              <a:t>1</a:t>
            </a:r>
            <a:r>
              <a:rPr lang="en-US" altLang="zh-CN" dirty="0"/>
              <a:t>m</a:t>
            </a:r>
            <a:r>
              <a:rPr lang="en-US" altLang="zh-CN" baseline="-25000" dirty="0"/>
              <a:t>2</a:t>
            </a:r>
            <a:r>
              <a:rPr lang="zh-CN" altLang="en-US" dirty="0"/>
              <a:t>按如 下规则加密（</a:t>
            </a:r>
            <a:r>
              <a:rPr lang="en-US" altLang="zh-CN" dirty="0"/>
              <a:t>m</a:t>
            </a:r>
            <a:r>
              <a:rPr lang="en-US" altLang="zh-CN" baseline="-25000" dirty="0"/>
              <a:t>1</a:t>
            </a:r>
            <a:r>
              <a:rPr lang="en-US" altLang="zh-CN" dirty="0"/>
              <a:t>m</a:t>
            </a:r>
            <a:r>
              <a:rPr lang="en-US" altLang="zh-CN" baseline="-25000" dirty="0"/>
              <a:t>2</a:t>
            </a:r>
            <a:r>
              <a:rPr lang="zh-CN" altLang="en-US" dirty="0"/>
              <a:t>对应的密文为</a:t>
            </a:r>
            <a:r>
              <a:rPr lang="en-US" altLang="zh-CN" dirty="0"/>
              <a:t>c</a:t>
            </a:r>
            <a:r>
              <a:rPr lang="en-US" altLang="zh-CN" baseline="-25000" dirty="0"/>
              <a:t>1</a:t>
            </a:r>
            <a:r>
              <a:rPr lang="en-US" altLang="zh-CN" dirty="0"/>
              <a:t>c</a:t>
            </a:r>
            <a:r>
              <a:rPr lang="en-US" altLang="zh-CN" baseline="-25000" dirty="0"/>
              <a:t>2</a:t>
            </a:r>
            <a:r>
              <a:rPr lang="zh-CN" altLang="en-US" dirty="0"/>
              <a:t>）</a:t>
            </a:r>
            <a:r>
              <a:rPr lang="en-US" altLang="zh-CN" dirty="0"/>
              <a:t>:</a:t>
            </a:r>
          </a:p>
          <a:p>
            <a:pPr lvl="2">
              <a:lnSpc>
                <a:spcPct val="130000"/>
              </a:lnSpc>
            </a:pPr>
            <a:r>
              <a:rPr lang="zh-CN" altLang="en-US" sz="2400" dirty="0"/>
              <a:t>（</a:t>
            </a:r>
            <a:r>
              <a:rPr lang="en-US" altLang="zh-CN" sz="2400" dirty="0"/>
              <a:t>1</a:t>
            </a:r>
            <a:r>
              <a:rPr lang="zh-CN" altLang="en-US" sz="2400" dirty="0"/>
              <a:t>）若</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t>在同一行，则</a:t>
            </a:r>
            <a:r>
              <a:rPr lang="en-US" altLang="zh-CN" sz="2400" dirty="0"/>
              <a:t>c</a:t>
            </a:r>
            <a:r>
              <a:rPr lang="en-US" altLang="zh-CN" sz="2400" baseline="-25000" dirty="0"/>
              <a:t>1</a:t>
            </a:r>
            <a:r>
              <a:rPr lang="zh-CN" altLang="en-US" sz="2400" dirty="0"/>
              <a:t>和</a:t>
            </a:r>
            <a:r>
              <a:rPr lang="en-US" altLang="zh-CN" sz="2400" dirty="0"/>
              <a:t>c</a:t>
            </a:r>
            <a:r>
              <a:rPr lang="en-US" altLang="zh-CN" sz="2400" baseline="-25000" dirty="0"/>
              <a:t>2</a:t>
            </a:r>
            <a:r>
              <a:rPr lang="zh-CN" altLang="en-US" sz="2400" dirty="0"/>
              <a:t>分别是</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highlight>
                  <a:srgbClr val="FFFF00"/>
                </a:highlight>
              </a:rPr>
              <a:t>右边</a:t>
            </a:r>
            <a:r>
              <a:rPr lang="zh-CN" altLang="en-US" sz="2400" dirty="0"/>
              <a:t>的字母，其中第一列认为是第五列的右边；</a:t>
            </a:r>
          </a:p>
          <a:p>
            <a:pPr lvl="2">
              <a:lnSpc>
                <a:spcPct val="130000"/>
              </a:lnSpc>
            </a:pPr>
            <a:r>
              <a:rPr lang="zh-CN" altLang="en-US" sz="2400" dirty="0"/>
              <a:t>（</a:t>
            </a:r>
            <a:r>
              <a:rPr lang="en-US" altLang="zh-CN" sz="2400" dirty="0"/>
              <a:t>2</a:t>
            </a:r>
            <a:r>
              <a:rPr lang="zh-CN" altLang="en-US" sz="2400" dirty="0"/>
              <a:t>）若</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t>在同一列，则</a:t>
            </a:r>
            <a:r>
              <a:rPr lang="en-US" altLang="zh-CN" sz="2400" dirty="0"/>
              <a:t>c</a:t>
            </a:r>
            <a:r>
              <a:rPr lang="en-US" altLang="zh-CN" sz="2400" baseline="-25000" dirty="0"/>
              <a:t>1</a:t>
            </a:r>
            <a:r>
              <a:rPr lang="zh-CN" altLang="en-US" sz="2400" dirty="0"/>
              <a:t>和</a:t>
            </a:r>
            <a:r>
              <a:rPr lang="en-US" altLang="zh-CN" sz="2400" dirty="0"/>
              <a:t>c</a:t>
            </a:r>
            <a:r>
              <a:rPr lang="en-US" altLang="zh-CN" sz="2400" baseline="-25000" dirty="0"/>
              <a:t>2</a:t>
            </a:r>
            <a:r>
              <a:rPr lang="zh-CN" altLang="en-US" sz="2400" dirty="0"/>
              <a:t>分别是</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highlight>
                  <a:srgbClr val="FFFF00"/>
                </a:highlight>
              </a:rPr>
              <a:t>下边</a:t>
            </a:r>
            <a:r>
              <a:rPr lang="zh-CN" altLang="en-US" sz="2400" dirty="0"/>
              <a:t>的字母，其中第一行认为是最后一行的下边；  </a:t>
            </a:r>
          </a:p>
          <a:p>
            <a:pPr lvl="2">
              <a:lnSpc>
                <a:spcPct val="130000"/>
              </a:lnSpc>
            </a:pPr>
            <a:r>
              <a:rPr lang="zh-CN" altLang="en-US" sz="2400" dirty="0"/>
              <a:t>（</a:t>
            </a:r>
            <a:r>
              <a:rPr lang="en-US" altLang="zh-CN" sz="2400" dirty="0"/>
              <a:t>3</a:t>
            </a:r>
            <a:r>
              <a:rPr lang="zh-CN" altLang="en-US" sz="2400" dirty="0"/>
              <a:t>）若</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t>在不同的列，则</a:t>
            </a:r>
            <a:r>
              <a:rPr lang="en-US" altLang="zh-CN" sz="2400" dirty="0"/>
              <a:t>c</a:t>
            </a:r>
            <a:r>
              <a:rPr lang="en-US" altLang="zh-CN" sz="2400" baseline="-25000" dirty="0"/>
              <a:t>1</a:t>
            </a:r>
            <a:r>
              <a:rPr lang="zh-CN" altLang="en-US" sz="2400" dirty="0"/>
              <a:t>和</a:t>
            </a:r>
            <a:r>
              <a:rPr lang="en-US" altLang="zh-CN" sz="2400" dirty="0"/>
              <a:t>c</a:t>
            </a:r>
            <a:r>
              <a:rPr lang="en-US" altLang="zh-CN" sz="2400" baseline="-25000" dirty="0"/>
              <a:t>2</a:t>
            </a:r>
            <a:r>
              <a:rPr lang="zh-CN" altLang="en-US" sz="2400" dirty="0"/>
              <a:t>是以</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t>为顶点的矩形的</a:t>
            </a:r>
            <a:r>
              <a:rPr lang="zh-CN" altLang="en-US" sz="2400" dirty="0">
                <a:highlight>
                  <a:srgbClr val="FFFF00"/>
                </a:highlight>
              </a:rPr>
              <a:t>另两个顶点</a:t>
            </a:r>
            <a:r>
              <a:rPr lang="zh-CN" altLang="en-US" sz="2400" dirty="0"/>
              <a:t>，其中</a:t>
            </a:r>
            <a:r>
              <a:rPr lang="en-US" altLang="zh-CN" sz="2400" dirty="0"/>
              <a:t>c</a:t>
            </a:r>
            <a:r>
              <a:rPr lang="en-US" altLang="zh-CN" sz="2400" baseline="-25000" dirty="0"/>
              <a:t>1</a:t>
            </a:r>
            <a:r>
              <a:rPr lang="zh-CN" altLang="en-US" sz="2400" dirty="0"/>
              <a:t>和</a:t>
            </a:r>
            <a:r>
              <a:rPr lang="en-US" altLang="zh-CN" sz="2400" dirty="0"/>
              <a:t>m</a:t>
            </a:r>
            <a:r>
              <a:rPr lang="en-US" altLang="zh-CN" sz="2400" baseline="-25000" dirty="0"/>
              <a:t>1</a:t>
            </a:r>
            <a:r>
              <a:rPr lang="zh-CN" altLang="en-US" sz="2400" dirty="0"/>
              <a:t>在一行， </a:t>
            </a:r>
            <a:r>
              <a:rPr lang="en-US" altLang="zh-CN" sz="2400" dirty="0"/>
              <a:t>c</a:t>
            </a:r>
            <a:r>
              <a:rPr lang="en-US" altLang="zh-CN" sz="2400" baseline="-25000" dirty="0"/>
              <a:t>2</a:t>
            </a:r>
            <a:r>
              <a:rPr lang="zh-CN" altLang="en-US" sz="2400" dirty="0"/>
              <a:t>和</a:t>
            </a:r>
            <a:r>
              <a:rPr lang="en-US" altLang="zh-CN" sz="2400" dirty="0"/>
              <a:t>m</a:t>
            </a:r>
            <a:r>
              <a:rPr lang="en-US" altLang="zh-CN" sz="2400" baseline="-25000" dirty="0"/>
              <a:t>2</a:t>
            </a:r>
            <a:r>
              <a:rPr lang="zh-CN" altLang="en-US" sz="2400" dirty="0"/>
              <a:t>在一行；</a:t>
            </a:r>
          </a:p>
          <a:p>
            <a:pPr lvl="2">
              <a:lnSpc>
                <a:spcPct val="130000"/>
              </a:lnSpc>
            </a:pPr>
            <a:r>
              <a:rPr lang="zh-CN" altLang="en-US" sz="2400" dirty="0"/>
              <a:t> （</a:t>
            </a:r>
            <a:r>
              <a:rPr lang="en-US" altLang="zh-CN" sz="2400" dirty="0"/>
              <a:t>4</a:t>
            </a:r>
            <a:r>
              <a:rPr lang="zh-CN" altLang="en-US" sz="2400" dirty="0"/>
              <a:t>）若</a:t>
            </a:r>
            <a:r>
              <a:rPr lang="en-US" altLang="zh-CN" sz="2400" dirty="0"/>
              <a:t>m</a:t>
            </a:r>
            <a:r>
              <a:rPr lang="en-US" altLang="zh-CN" sz="2400" baseline="-25000" dirty="0"/>
              <a:t>1</a:t>
            </a:r>
            <a:r>
              <a:rPr lang="zh-CN" altLang="en-US" sz="2400" dirty="0"/>
              <a:t>＝</a:t>
            </a:r>
            <a:r>
              <a:rPr lang="en-US" altLang="zh-CN" sz="2400" dirty="0"/>
              <a:t>m</a:t>
            </a:r>
            <a:r>
              <a:rPr lang="en-US" altLang="zh-CN" sz="2400" baseline="-25000" dirty="0"/>
              <a:t>2</a:t>
            </a:r>
            <a:r>
              <a:rPr lang="zh-CN" altLang="en-US" sz="2400" dirty="0"/>
              <a:t>，则在</a:t>
            </a:r>
            <a:r>
              <a:rPr lang="en-US" altLang="zh-CN" sz="2400" dirty="0"/>
              <a:t>m</a:t>
            </a:r>
            <a:r>
              <a:rPr lang="en-US" altLang="zh-CN" sz="2400" baseline="-25000" dirty="0"/>
              <a:t>1</a:t>
            </a:r>
            <a:r>
              <a:rPr lang="zh-CN" altLang="en-US" sz="2400" dirty="0"/>
              <a:t>和</a:t>
            </a:r>
            <a:r>
              <a:rPr lang="en-US" altLang="zh-CN" sz="2400" dirty="0"/>
              <a:t>m</a:t>
            </a:r>
            <a:r>
              <a:rPr lang="en-US" altLang="zh-CN" sz="2400" baseline="-25000" dirty="0"/>
              <a:t>2</a:t>
            </a:r>
            <a:r>
              <a:rPr lang="zh-CN" altLang="en-US" sz="2400" dirty="0"/>
              <a:t>之间插入一个无效字符（例如</a:t>
            </a:r>
            <a:r>
              <a:rPr lang="en-US" altLang="zh-CN" sz="2400" dirty="0"/>
              <a:t>X</a:t>
            </a:r>
            <a:r>
              <a:rPr lang="zh-CN" altLang="en-US" sz="2400" dirty="0"/>
              <a:t>）后重新分组；</a:t>
            </a:r>
          </a:p>
          <a:p>
            <a:pPr lvl="2">
              <a:lnSpc>
                <a:spcPct val="130000"/>
              </a:lnSpc>
            </a:pPr>
            <a:r>
              <a:rPr lang="zh-CN" altLang="en-US" sz="2400" dirty="0"/>
              <a:t> （</a:t>
            </a:r>
            <a:r>
              <a:rPr lang="en-US" altLang="zh-CN" sz="2400" dirty="0"/>
              <a:t>5</a:t>
            </a:r>
            <a:r>
              <a:rPr lang="zh-CN" altLang="en-US" sz="2400" dirty="0"/>
              <a:t>）若明文有奇数个字符，则在末尾加上一个无效字符。</a:t>
            </a: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40</a:t>
            </a:fld>
            <a:endParaRPr kumimoji="1" lang="zh-CN" altLang="en-US" dirty="0"/>
          </a:p>
        </p:txBody>
      </p:sp>
    </p:spTree>
    <p:extLst>
      <p:ext uri="{BB962C8B-B14F-4D97-AF65-F5344CB8AC3E}">
        <p14:creationId xmlns:p14="http://schemas.microsoft.com/office/powerpoint/2010/main" val="3199148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3.6.1 </a:t>
            </a:r>
            <a:r>
              <a:rPr lang="en-US" altLang="zh-CN" dirty="0" err="1"/>
              <a:t>Playfair</a:t>
            </a:r>
            <a:r>
              <a:rPr lang="zh-CN" altLang="en-US" dirty="0"/>
              <a:t>（普莱费尔）密码</a:t>
            </a:r>
          </a:p>
        </p:txBody>
      </p:sp>
      <p:sp>
        <p:nvSpPr>
          <p:cNvPr id="3" name="内容占位符 2"/>
          <p:cNvSpPr>
            <a:spLocks noGrp="1"/>
          </p:cNvSpPr>
          <p:nvPr>
            <p:ph idx="1"/>
          </p:nvPr>
        </p:nvSpPr>
        <p:spPr>
          <a:xfrm>
            <a:off x="838200" y="1510758"/>
            <a:ext cx="10467109" cy="4982116"/>
          </a:xfrm>
        </p:spPr>
        <p:txBody>
          <a:bodyPr>
            <a:normAutofit/>
          </a:bodyPr>
          <a:lstStyle/>
          <a:p>
            <a:r>
              <a:rPr lang="zh-CN" altLang="en-US" dirty="0"/>
              <a:t>例</a:t>
            </a:r>
            <a:r>
              <a:rPr lang="en-US" altLang="zh-CN" dirty="0"/>
              <a:t>2.9</a:t>
            </a:r>
            <a:r>
              <a:rPr lang="zh-CN" altLang="en-US" dirty="0"/>
              <a:t>：对明文</a:t>
            </a:r>
            <a:r>
              <a:rPr lang="en-US" altLang="zh-CN" dirty="0"/>
              <a:t>INTELLIGENT</a:t>
            </a:r>
            <a:r>
              <a:rPr lang="zh-CN" altLang="en-US" dirty="0"/>
              <a:t>进行加密，则：</a:t>
            </a:r>
          </a:p>
          <a:p>
            <a:pPr>
              <a:buNone/>
            </a:pPr>
            <a:r>
              <a:rPr lang="zh-CN" altLang="en-US" dirty="0"/>
              <a:t>		  </a:t>
            </a:r>
            <a:r>
              <a:rPr lang="en-US" altLang="zh-CN" dirty="0"/>
              <a:t>M</a:t>
            </a:r>
            <a:r>
              <a:rPr lang="zh-CN" altLang="en-US" dirty="0"/>
              <a:t>＝</a:t>
            </a:r>
            <a:r>
              <a:rPr lang="en-US" altLang="zh-CN" dirty="0"/>
              <a:t>IN TE LX LI GE NT</a:t>
            </a:r>
          </a:p>
          <a:p>
            <a:pPr>
              <a:buNone/>
            </a:pPr>
            <a:r>
              <a:rPr lang="en-US" altLang="zh-CN" dirty="0"/>
              <a:t>           </a:t>
            </a:r>
            <a:r>
              <a:rPr lang="en-US" altLang="zh-CN" dirty="0" err="1"/>
              <a:t>Ek</a:t>
            </a:r>
            <a:r>
              <a:rPr lang="en-US" altLang="zh-CN" dirty="0"/>
              <a:t>(M)</a:t>
            </a:r>
            <a:r>
              <a:rPr lang="zh-CN" altLang="en-US" dirty="0"/>
              <a:t>＝</a:t>
            </a:r>
            <a:r>
              <a:rPr lang="en-US" altLang="zh-CN" dirty="0"/>
              <a:t>CM MK GZ EB KF QU</a:t>
            </a:r>
          </a:p>
          <a:p>
            <a:pPr>
              <a:buNone/>
            </a:pPr>
            <a:r>
              <a:rPr kumimoji="1" lang="en-US" altLang="zh-CN" dirty="0">
                <a:latin typeface="Times New Roman" panose="02020603050405020304" pitchFamily="18" charset="0"/>
              </a:rPr>
              <a:t>	</a:t>
            </a:r>
            <a:r>
              <a:rPr kumimoji="1" lang="zh-CN" altLang="en-US" dirty="0">
                <a:latin typeface="Times New Roman" panose="02020603050405020304" pitchFamily="18" charset="0"/>
              </a:rPr>
              <a:t>其中两个</a:t>
            </a:r>
            <a:r>
              <a:rPr kumimoji="1" lang="en-US" altLang="zh-CN" dirty="0">
                <a:latin typeface="Times New Roman" panose="02020603050405020304" pitchFamily="18" charset="0"/>
              </a:rPr>
              <a:t>L</a:t>
            </a:r>
            <a:r>
              <a:rPr kumimoji="1" lang="zh-CN" altLang="en-US" dirty="0">
                <a:latin typeface="Times New Roman" panose="02020603050405020304" pitchFamily="18" charset="0"/>
              </a:rPr>
              <a:t>之间插入了一个无效字符</a:t>
            </a:r>
            <a:r>
              <a:rPr kumimoji="1" lang="en-US" altLang="zh-CN" dirty="0">
                <a:latin typeface="Times New Roman" panose="02020603050405020304" pitchFamily="18" charset="0"/>
              </a:rPr>
              <a:t>X</a:t>
            </a:r>
            <a:r>
              <a:rPr kumimoji="1" lang="zh-CN" altLang="en-US" dirty="0">
                <a:latin typeface="Times New Roman" panose="02020603050405020304" pitchFamily="18" charset="0"/>
              </a:rPr>
              <a:t>。</a:t>
            </a:r>
          </a:p>
          <a:p>
            <a:pPr>
              <a:buNone/>
            </a:pPr>
            <a:endParaRPr lang="en-US" altLang="zh-CN" dirty="0"/>
          </a:p>
          <a:p>
            <a:pPr>
              <a:buNone/>
            </a:pPr>
            <a:endParaRPr lang="zh-CN" altLang="en-US" dirty="0"/>
          </a:p>
          <a:p>
            <a:pPr>
              <a:buNone/>
            </a:pPr>
            <a:r>
              <a:rPr lang="zh-CN" altLang="en-US" dirty="0"/>
              <a:t>   </a:t>
            </a: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41</a:t>
            </a:fld>
            <a:endParaRPr kumimoji="1" lang="zh-CN" altLang="en-US" dirty="0"/>
          </a:p>
        </p:txBody>
      </p:sp>
      <p:sp>
        <p:nvSpPr>
          <p:cNvPr id="5" name="Rectangle 4">
            <a:extLst>
              <a:ext uri="{FF2B5EF4-FFF2-40B4-BE49-F238E27FC236}">
                <a16:creationId xmlns:a16="http://schemas.microsoft.com/office/drawing/2014/main" id="{F1426F38-3861-1B78-44E8-D7E1841297A4}"/>
              </a:ext>
            </a:extLst>
          </p:cNvPr>
          <p:cNvSpPr>
            <a:spLocks noChangeArrowheads="1"/>
          </p:cNvSpPr>
          <p:nvPr/>
        </p:nvSpPr>
        <p:spPr bwMode="auto">
          <a:xfrm>
            <a:off x="838200" y="3739950"/>
            <a:ext cx="5867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r>
              <a:rPr kumimoji="1" lang="en-US" altLang="zh-CN" sz="2400" b="0" dirty="0">
                <a:solidFill>
                  <a:schemeClr val="tx1"/>
                </a:solidFill>
                <a:latin typeface="Times New Roman" panose="02020603050405020304" pitchFamily="18" charset="0"/>
              </a:rPr>
              <a:t>	H	A	R	P	S</a:t>
            </a:r>
          </a:p>
          <a:p>
            <a:pPr eaLnBrk="1" hangingPunct="1"/>
            <a:r>
              <a:rPr kumimoji="1" lang="en-US" altLang="zh-CN" sz="2400" b="0" dirty="0">
                <a:solidFill>
                  <a:schemeClr val="tx1"/>
                </a:solidFill>
                <a:latin typeface="Times New Roman" panose="02020603050405020304" pitchFamily="18" charset="0"/>
              </a:rPr>
              <a:t>	</a:t>
            </a:r>
            <a:r>
              <a:rPr kumimoji="1" lang="en-US" altLang="zh-CN" sz="2400" b="0" dirty="0">
                <a:solidFill>
                  <a:schemeClr val="tx1"/>
                </a:solidFill>
                <a:highlight>
                  <a:srgbClr val="FFFF00"/>
                </a:highlight>
                <a:latin typeface="Times New Roman" panose="02020603050405020304" pitchFamily="18" charset="0"/>
              </a:rPr>
              <a:t>I</a:t>
            </a:r>
            <a:r>
              <a:rPr kumimoji="1" lang="en-US" altLang="zh-CN" sz="2400" b="0" dirty="0">
                <a:solidFill>
                  <a:schemeClr val="tx1"/>
                </a:solidFill>
                <a:latin typeface="Times New Roman" panose="02020603050405020304" pitchFamily="18" charset="0"/>
              </a:rPr>
              <a:t>	C	O	D	B</a:t>
            </a:r>
          </a:p>
          <a:p>
            <a:pPr eaLnBrk="1" hangingPunct="1"/>
            <a:r>
              <a:rPr kumimoji="1" lang="en-US" altLang="zh-CN" sz="2400" b="0" dirty="0">
                <a:solidFill>
                  <a:schemeClr val="tx1"/>
                </a:solidFill>
                <a:latin typeface="Times New Roman" panose="02020603050405020304" pitchFamily="18" charset="0"/>
              </a:rPr>
              <a:t>	E	F	G	K	L	</a:t>
            </a:r>
          </a:p>
          <a:p>
            <a:pPr eaLnBrk="1" hangingPunct="1"/>
            <a:r>
              <a:rPr kumimoji="1" lang="en-US" altLang="zh-CN" sz="2400" b="0" dirty="0">
                <a:solidFill>
                  <a:schemeClr val="tx1"/>
                </a:solidFill>
                <a:latin typeface="Times New Roman" panose="02020603050405020304" pitchFamily="18" charset="0"/>
              </a:rPr>
              <a:t>	M	</a:t>
            </a:r>
            <a:r>
              <a:rPr kumimoji="1" lang="en-US" altLang="zh-CN" sz="2400" b="0" dirty="0">
                <a:solidFill>
                  <a:schemeClr val="tx1"/>
                </a:solidFill>
                <a:highlight>
                  <a:srgbClr val="FFFF00"/>
                </a:highlight>
                <a:latin typeface="Times New Roman" panose="02020603050405020304" pitchFamily="18" charset="0"/>
              </a:rPr>
              <a:t>N</a:t>
            </a:r>
            <a:r>
              <a:rPr kumimoji="1" lang="en-US" altLang="zh-CN" sz="2400" b="0" dirty="0">
                <a:solidFill>
                  <a:schemeClr val="tx1"/>
                </a:solidFill>
                <a:latin typeface="Times New Roman" panose="02020603050405020304" pitchFamily="18" charset="0"/>
              </a:rPr>
              <a:t>	Q	T 	U</a:t>
            </a:r>
          </a:p>
          <a:p>
            <a:pPr eaLnBrk="1" hangingPunct="1"/>
            <a:r>
              <a:rPr kumimoji="1" lang="en-US" altLang="zh-CN" sz="2400" b="0" dirty="0">
                <a:solidFill>
                  <a:schemeClr val="tx1"/>
                </a:solidFill>
                <a:latin typeface="Times New Roman" panose="02020603050405020304" pitchFamily="18" charset="0"/>
              </a:rPr>
              <a:t>	V	W	X	Y	Z</a:t>
            </a:r>
          </a:p>
        </p:txBody>
      </p:sp>
      <p:sp>
        <p:nvSpPr>
          <p:cNvPr id="7" name="文本框 6">
            <a:extLst>
              <a:ext uri="{FF2B5EF4-FFF2-40B4-BE49-F238E27FC236}">
                <a16:creationId xmlns:a16="http://schemas.microsoft.com/office/drawing/2014/main" id="{7EE130E2-C995-F7EA-7AFA-999682535025}"/>
              </a:ext>
            </a:extLst>
          </p:cNvPr>
          <p:cNvSpPr txBox="1"/>
          <p:nvPr/>
        </p:nvSpPr>
        <p:spPr>
          <a:xfrm>
            <a:off x="6705600" y="4290852"/>
            <a:ext cx="5052646" cy="369332"/>
          </a:xfrm>
          <a:prstGeom prst="rect">
            <a:avLst/>
          </a:prstGeom>
          <a:noFill/>
        </p:spPr>
        <p:txBody>
          <a:bodyPr wrap="square">
            <a:spAutoFit/>
          </a:bodyPr>
          <a:lstStyle/>
          <a:p>
            <a:r>
              <a:rPr lang="zh-CN" altLang="en-US" b="1" dirty="0"/>
              <a:t>字母矩阵本身，就是这套加密体制的“核心密钥”</a:t>
            </a:r>
          </a:p>
        </p:txBody>
      </p:sp>
    </p:spTree>
    <p:extLst>
      <p:ext uri="{BB962C8B-B14F-4D97-AF65-F5344CB8AC3E}">
        <p14:creationId xmlns:p14="http://schemas.microsoft.com/office/powerpoint/2010/main" val="2452048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3.6.2 Hill</a:t>
            </a:r>
            <a:r>
              <a:rPr lang="zh-CN" altLang="en-US" dirty="0"/>
              <a:t>密码</a:t>
            </a:r>
          </a:p>
        </p:txBody>
      </p:sp>
      <p:sp>
        <p:nvSpPr>
          <p:cNvPr id="3" name="内容占位符 2"/>
          <p:cNvSpPr>
            <a:spLocks noGrp="1"/>
          </p:cNvSpPr>
          <p:nvPr>
            <p:ph idx="1"/>
          </p:nvPr>
        </p:nvSpPr>
        <p:spPr>
          <a:xfrm>
            <a:off x="838200" y="1510758"/>
            <a:ext cx="10467109" cy="4982116"/>
          </a:xfrm>
        </p:spPr>
        <p:txBody>
          <a:bodyPr>
            <a:normAutofit fontScale="92500" lnSpcReduction="20000"/>
          </a:bodyPr>
          <a:lstStyle/>
          <a:p>
            <a:pPr>
              <a:lnSpc>
                <a:spcPct val="150000"/>
              </a:lnSpc>
            </a:pPr>
            <a:r>
              <a:rPr lang="en-US" altLang="zh-CN" dirty="0">
                <a:solidFill>
                  <a:srgbClr val="C00000"/>
                </a:solidFill>
              </a:rPr>
              <a:t>Hill</a:t>
            </a:r>
            <a:r>
              <a:rPr lang="zh-CN" altLang="en-US" dirty="0">
                <a:solidFill>
                  <a:srgbClr val="C00000"/>
                </a:solidFill>
              </a:rPr>
              <a:t>密码</a:t>
            </a:r>
            <a:r>
              <a:rPr lang="zh-CN" altLang="en-US" dirty="0"/>
              <a:t>：完成从</a:t>
            </a:r>
            <a:r>
              <a:rPr lang="en-US" altLang="zh-CN" dirty="0"/>
              <a:t>d</a:t>
            </a:r>
            <a:r>
              <a:rPr lang="zh-CN" altLang="en-US" dirty="0"/>
              <a:t>个明文字母到</a:t>
            </a:r>
            <a:r>
              <a:rPr lang="en-US" altLang="zh-CN" dirty="0"/>
              <a:t>d</a:t>
            </a:r>
            <a:r>
              <a:rPr lang="zh-CN" altLang="en-US" dirty="0"/>
              <a:t>个密文字母的线性变换。</a:t>
            </a:r>
          </a:p>
          <a:p>
            <a:pPr lvl="1">
              <a:lnSpc>
                <a:spcPct val="150000"/>
              </a:lnSpc>
              <a:buNone/>
            </a:pPr>
            <a:r>
              <a:rPr lang="zh-CN" altLang="en-US" sz="2800" dirty="0"/>
              <a:t>设</a:t>
            </a:r>
            <a:r>
              <a:rPr lang="en-US" altLang="zh-CN" sz="2800" dirty="0"/>
              <a:t>d</a:t>
            </a:r>
            <a:r>
              <a:rPr lang="zh-CN" altLang="en-US" sz="2800" dirty="0"/>
              <a:t>＝</a:t>
            </a:r>
            <a:r>
              <a:rPr lang="en-US" altLang="zh-CN" sz="2800" dirty="0"/>
              <a:t>2</a:t>
            </a:r>
            <a:r>
              <a:rPr lang="zh-CN" altLang="en-US" sz="2800" dirty="0"/>
              <a:t>，令</a:t>
            </a:r>
            <a:r>
              <a:rPr lang="en-US" altLang="zh-CN" sz="2800" b="1" dirty="0"/>
              <a:t>M</a:t>
            </a:r>
            <a:r>
              <a:rPr lang="zh-CN" altLang="en-US" sz="2800" dirty="0"/>
              <a:t>＝ </a:t>
            </a:r>
            <a:r>
              <a:rPr lang="en-US" altLang="zh-CN" sz="2800" dirty="0"/>
              <a:t>m</a:t>
            </a:r>
            <a:r>
              <a:rPr lang="en-US" altLang="zh-CN" sz="2800" baseline="-25000" dirty="0"/>
              <a:t>1</a:t>
            </a:r>
            <a:r>
              <a:rPr lang="en-US" altLang="zh-CN" sz="2800" dirty="0"/>
              <a:t>m</a:t>
            </a:r>
            <a:r>
              <a:rPr lang="en-US" altLang="zh-CN" sz="2800" baseline="-25000" dirty="0"/>
              <a:t>2</a:t>
            </a:r>
            <a:r>
              <a:rPr lang="zh-CN" altLang="en-US" sz="2800" dirty="0"/>
              <a:t>，将</a:t>
            </a:r>
            <a:r>
              <a:rPr lang="en-US" altLang="zh-CN" sz="2800" b="1" dirty="0"/>
              <a:t>M</a:t>
            </a:r>
            <a:r>
              <a:rPr lang="zh-CN" altLang="en-US" sz="2800" dirty="0"/>
              <a:t>加密成：</a:t>
            </a:r>
          </a:p>
          <a:p>
            <a:pPr lvl="1">
              <a:lnSpc>
                <a:spcPct val="150000"/>
              </a:lnSpc>
              <a:buNone/>
            </a:pPr>
            <a:r>
              <a:rPr lang="zh-CN" altLang="en-US" sz="2800" dirty="0"/>
              <a:t>       </a:t>
            </a:r>
            <a:r>
              <a:rPr lang="en-US" altLang="zh-CN" sz="2800" b="1" dirty="0"/>
              <a:t>C</a:t>
            </a:r>
            <a:r>
              <a:rPr lang="zh-CN" altLang="en-US" sz="2800" dirty="0"/>
              <a:t>＝</a:t>
            </a:r>
            <a:r>
              <a:rPr lang="en-US" altLang="zh-CN" sz="2800" dirty="0" err="1"/>
              <a:t>E</a:t>
            </a:r>
            <a:r>
              <a:rPr lang="en-US" altLang="zh-CN" sz="2800" baseline="-25000" dirty="0" err="1"/>
              <a:t>k</a:t>
            </a:r>
            <a:r>
              <a:rPr lang="en-US" altLang="zh-CN" sz="2800" dirty="0"/>
              <a:t>(</a:t>
            </a:r>
            <a:r>
              <a:rPr lang="en-US" altLang="zh-CN" sz="2800" b="1" dirty="0"/>
              <a:t>M</a:t>
            </a:r>
            <a:r>
              <a:rPr lang="en-US" altLang="zh-CN" sz="2800" dirty="0"/>
              <a:t>)</a:t>
            </a:r>
            <a:r>
              <a:rPr lang="zh-CN" altLang="en-US" sz="2800" dirty="0"/>
              <a:t>＝</a:t>
            </a:r>
            <a:r>
              <a:rPr lang="en-US" altLang="zh-CN" sz="2800" b="1" dirty="0"/>
              <a:t>KM</a:t>
            </a:r>
            <a:r>
              <a:rPr lang="en-US" altLang="zh-CN" sz="2800" dirty="0"/>
              <a:t> mod n</a:t>
            </a:r>
            <a:r>
              <a:rPr lang="zh-CN" altLang="en-US" sz="2800" dirty="0"/>
              <a:t>，其中：</a:t>
            </a:r>
          </a:p>
          <a:p>
            <a:pPr lvl="1">
              <a:lnSpc>
                <a:spcPct val="150000"/>
              </a:lnSpc>
              <a:buNone/>
            </a:pPr>
            <a:r>
              <a:rPr lang="zh-CN" altLang="en-US" sz="2800" dirty="0"/>
              <a:t>        </a:t>
            </a:r>
            <a:r>
              <a:rPr lang="en-US" altLang="zh-CN" sz="2800" b="1" dirty="0"/>
              <a:t>M</a:t>
            </a:r>
            <a:r>
              <a:rPr lang="zh-CN" altLang="en-US" sz="2800" dirty="0"/>
              <a:t>＝                   </a:t>
            </a:r>
            <a:r>
              <a:rPr lang="en-US" altLang="zh-CN" sz="2800" b="1" dirty="0"/>
              <a:t>C</a:t>
            </a:r>
            <a:r>
              <a:rPr lang="zh-CN" altLang="en-US" sz="2800" dirty="0"/>
              <a:t>＝            </a:t>
            </a:r>
          </a:p>
          <a:p>
            <a:pPr lvl="1">
              <a:lnSpc>
                <a:spcPct val="150000"/>
              </a:lnSpc>
              <a:buNone/>
            </a:pPr>
            <a:r>
              <a:rPr lang="zh-CN" altLang="en-US" sz="2800" dirty="0"/>
              <a:t>        </a:t>
            </a:r>
          </a:p>
          <a:p>
            <a:pPr lvl="1">
              <a:lnSpc>
                <a:spcPct val="150000"/>
              </a:lnSpc>
              <a:buNone/>
            </a:pPr>
            <a:r>
              <a:rPr lang="zh-CN" altLang="en-US" sz="2800" dirty="0"/>
              <a:t>		</a:t>
            </a:r>
            <a:r>
              <a:rPr lang="en-US" altLang="zh-CN" sz="2800" b="1" dirty="0"/>
              <a:t>K</a:t>
            </a:r>
            <a:r>
              <a:rPr lang="zh-CN" altLang="en-US" sz="2800" dirty="0"/>
              <a:t>为系数矩阵：</a:t>
            </a:r>
            <a:endParaRPr lang="en-US" altLang="zh-CN" dirty="0"/>
          </a:p>
          <a:p>
            <a:pPr>
              <a:lnSpc>
                <a:spcPct val="150000"/>
              </a:lnSpc>
              <a:buNone/>
            </a:pPr>
            <a:endParaRPr lang="zh-CN" altLang="en-US" dirty="0"/>
          </a:p>
          <a:p>
            <a:pPr>
              <a:lnSpc>
                <a:spcPct val="150000"/>
              </a:lnSpc>
              <a:buNone/>
            </a:pPr>
            <a:r>
              <a:rPr lang="zh-CN" altLang="en-US" dirty="0"/>
              <a:t>   </a:t>
            </a: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42</a:t>
            </a:fld>
            <a:endParaRPr kumimoji="1" lang="zh-CN" altLang="en-US" dirty="0"/>
          </a:p>
        </p:txBody>
      </p:sp>
      <p:grpSp>
        <p:nvGrpSpPr>
          <p:cNvPr id="5" name="Group 4"/>
          <p:cNvGrpSpPr>
            <a:grpSpLocks/>
          </p:cNvGrpSpPr>
          <p:nvPr/>
        </p:nvGrpSpPr>
        <p:grpSpPr bwMode="auto">
          <a:xfrm>
            <a:off x="4175166" y="4241811"/>
            <a:ext cx="2438400" cy="1143000"/>
            <a:chOff x="2064" y="2688"/>
            <a:chExt cx="1536" cy="720"/>
          </a:xfrm>
        </p:grpSpPr>
        <p:sp>
          <p:nvSpPr>
            <p:cNvPr id="6" name="Rectangle 5"/>
            <p:cNvSpPr>
              <a:spLocks noChangeArrowheads="1"/>
            </p:cNvSpPr>
            <p:nvPr/>
          </p:nvSpPr>
          <p:spPr bwMode="auto">
            <a:xfrm>
              <a:off x="2064" y="2688"/>
              <a:ext cx="1536"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en-US" altLang="zh-CN" sz="2800" b="0" i="1" dirty="0">
                  <a:solidFill>
                    <a:schemeClr val="tx1"/>
                  </a:solidFill>
                  <a:latin typeface="Times New Roman" panose="02020603050405020304" pitchFamily="18" charset="0"/>
                </a:rPr>
                <a:t>k</a:t>
              </a:r>
              <a:r>
                <a:rPr kumimoji="1" lang="en-US" altLang="zh-CN" b="0" dirty="0">
                  <a:solidFill>
                    <a:schemeClr val="tx1"/>
                  </a:solidFill>
                  <a:latin typeface="Times New Roman" panose="02020603050405020304" pitchFamily="18" charset="0"/>
                </a:rPr>
                <a:t>11</a:t>
              </a:r>
              <a:r>
                <a:rPr kumimoji="1" lang="en-US" altLang="zh-CN" sz="2400" b="0" i="1" dirty="0">
                  <a:solidFill>
                    <a:schemeClr val="tx1"/>
                  </a:solidFill>
                  <a:latin typeface="Times New Roman" panose="02020603050405020304" pitchFamily="18" charset="0"/>
                </a:rPr>
                <a:t>   </a:t>
              </a:r>
              <a:r>
                <a:rPr kumimoji="1" lang="en-US" altLang="zh-CN" sz="2800" b="0" i="1" dirty="0">
                  <a:solidFill>
                    <a:schemeClr val="tx1"/>
                  </a:solidFill>
                  <a:latin typeface="Times New Roman" panose="02020603050405020304" pitchFamily="18" charset="0"/>
                </a:rPr>
                <a:t>k</a:t>
              </a:r>
              <a:r>
                <a:rPr kumimoji="1" lang="en-US" altLang="zh-CN" b="0" dirty="0">
                  <a:solidFill>
                    <a:schemeClr val="tx1"/>
                  </a:solidFill>
                  <a:latin typeface="Times New Roman" panose="02020603050405020304" pitchFamily="18" charset="0"/>
                </a:rPr>
                <a:t>12</a:t>
              </a:r>
            </a:p>
            <a:p>
              <a:pPr algn="ctr" eaLnBrk="1" hangingPunct="1"/>
              <a:r>
                <a:rPr kumimoji="1" lang="en-US" altLang="zh-CN" sz="2800" b="0" i="1" dirty="0">
                  <a:solidFill>
                    <a:schemeClr val="tx1"/>
                  </a:solidFill>
                  <a:latin typeface="Times New Roman" panose="02020603050405020304" pitchFamily="18" charset="0"/>
                </a:rPr>
                <a:t>k</a:t>
              </a:r>
              <a:r>
                <a:rPr kumimoji="1" lang="en-US" altLang="zh-CN" b="0" dirty="0">
                  <a:solidFill>
                    <a:schemeClr val="tx1"/>
                  </a:solidFill>
                  <a:latin typeface="Times New Roman" panose="02020603050405020304" pitchFamily="18" charset="0"/>
                </a:rPr>
                <a:t>21</a:t>
              </a:r>
              <a:r>
                <a:rPr kumimoji="1" lang="en-US" altLang="zh-CN" sz="2400" b="0" i="1" dirty="0">
                  <a:solidFill>
                    <a:schemeClr val="tx1"/>
                  </a:solidFill>
                  <a:latin typeface="Times New Roman" panose="02020603050405020304" pitchFamily="18" charset="0"/>
                </a:rPr>
                <a:t>   </a:t>
              </a:r>
              <a:r>
                <a:rPr kumimoji="1" lang="en-US" altLang="zh-CN" sz="2800" b="0" i="1" dirty="0">
                  <a:solidFill>
                    <a:schemeClr val="tx1"/>
                  </a:solidFill>
                  <a:latin typeface="Times New Roman" panose="02020603050405020304" pitchFamily="18" charset="0"/>
                </a:rPr>
                <a:t>k</a:t>
              </a:r>
              <a:r>
                <a:rPr kumimoji="1" lang="en-US" altLang="zh-CN" b="0" dirty="0">
                  <a:solidFill>
                    <a:schemeClr val="tx1"/>
                  </a:solidFill>
                  <a:latin typeface="Times New Roman" panose="02020603050405020304" pitchFamily="18" charset="0"/>
                </a:rPr>
                <a:t>22</a:t>
              </a:r>
            </a:p>
          </p:txBody>
        </p:sp>
        <p:sp>
          <p:nvSpPr>
            <p:cNvPr id="7" name="AutoShape 6"/>
            <p:cNvSpPr>
              <a:spLocks noChangeArrowheads="1"/>
            </p:cNvSpPr>
            <p:nvPr/>
          </p:nvSpPr>
          <p:spPr bwMode="auto">
            <a:xfrm>
              <a:off x="2352" y="2832"/>
              <a:ext cx="1056" cy="432"/>
            </a:xfrm>
            <a:prstGeom prst="bracketPair">
              <a:avLst>
                <a:gd name="adj" fmla="val 16667"/>
              </a:avLst>
            </a:prstGeom>
            <a:noFill/>
            <a:ln w="9525">
              <a:solidFill>
                <a:schemeClr val="tx1"/>
              </a:solidFill>
              <a:round/>
              <a:headEnd/>
              <a:tailEn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grpSp>
      <p:grpSp>
        <p:nvGrpSpPr>
          <p:cNvPr id="8" name="Group 7"/>
          <p:cNvGrpSpPr>
            <a:grpSpLocks/>
          </p:cNvGrpSpPr>
          <p:nvPr/>
        </p:nvGrpSpPr>
        <p:grpSpPr bwMode="auto">
          <a:xfrm>
            <a:off x="3032166" y="3200400"/>
            <a:ext cx="1143000" cy="762000"/>
            <a:chOff x="3936" y="2736"/>
            <a:chExt cx="720" cy="480"/>
          </a:xfrm>
        </p:grpSpPr>
        <p:sp>
          <p:nvSpPr>
            <p:cNvPr id="9" name="Rectangle 8"/>
            <p:cNvSpPr>
              <a:spLocks noChangeArrowheads="1"/>
            </p:cNvSpPr>
            <p:nvPr/>
          </p:nvSpPr>
          <p:spPr bwMode="auto">
            <a:xfrm>
              <a:off x="3936" y="2736"/>
              <a:ext cx="7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en-US" altLang="zh-CN" sz="2800" b="0" i="1" dirty="0">
                  <a:solidFill>
                    <a:schemeClr val="tx1"/>
                  </a:solidFill>
                  <a:latin typeface="Times New Roman" panose="02020603050405020304" pitchFamily="18" charset="0"/>
                </a:rPr>
                <a:t>m</a:t>
              </a:r>
              <a:r>
                <a:rPr kumimoji="1" lang="en-US" altLang="zh-CN" b="0" baseline="-25000" dirty="0">
                  <a:solidFill>
                    <a:schemeClr val="tx1"/>
                  </a:solidFill>
                  <a:latin typeface="Times New Roman" panose="02020603050405020304" pitchFamily="18" charset="0"/>
                </a:rPr>
                <a:t>1</a:t>
              </a:r>
            </a:p>
            <a:p>
              <a:pPr algn="ctr" eaLnBrk="1" hangingPunct="1"/>
              <a:r>
                <a:rPr kumimoji="1" lang="en-US" altLang="zh-CN" sz="2800" b="0" i="1" dirty="0">
                  <a:solidFill>
                    <a:schemeClr val="tx1"/>
                  </a:solidFill>
                  <a:latin typeface="Times New Roman" panose="02020603050405020304" pitchFamily="18" charset="0"/>
                </a:rPr>
                <a:t>m</a:t>
              </a:r>
              <a:r>
                <a:rPr kumimoji="1" lang="en-US" altLang="zh-CN" b="0" baseline="-25000" dirty="0">
                  <a:solidFill>
                    <a:schemeClr val="tx1"/>
                  </a:solidFill>
                  <a:latin typeface="Times New Roman" panose="02020603050405020304" pitchFamily="18" charset="0"/>
                </a:rPr>
                <a:t>2</a:t>
              </a:r>
            </a:p>
          </p:txBody>
        </p:sp>
        <p:sp>
          <p:nvSpPr>
            <p:cNvPr id="10" name="AutoShape 9"/>
            <p:cNvSpPr>
              <a:spLocks noChangeArrowheads="1"/>
            </p:cNvSpPr>
            <p:nvPr/>
          </p:nvSpPr>
          <p:spPr bwMode="auto">
            <a:xfrm>
              <a:off x="4032" y="2832"/>
              <a:ext cx="528" cy="336"/>
            </a:xfrm>
            <a:prstGeom prst="bracketPair">
              <a:avLst>
                <a:gd name="adj" fmla="val 16667"/>
              </a:avLst>
            </a:prstGeom>
            <a:noFill/>
            <a:ln w="9525">
              <a:solidFill>
                <a:schemeClr val="tx1"/>
              </a:solidFill>
              <a:round/>
              <a:headEnd/>
              <a:tailEn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grpSp>
      <p:grpSp>
        <p:nvGrpSpPr>
          <p:cNvPr id="11" name="Group 10"/>
          <p:cNvGrpSpPr>
            <a:grpSpLocks/>
          </p:cNvGrpSpPr>
          <p:nvPr/>
        </p:nvGrpSpPr>
        <p:grpSpPr bwMode="auto">
          <a:xfrm>
            <a:off x="5676900" y="3124200"/>
            <a:ext cx="1143000" cy="762000"/>
            <a:chOff x="3936" y="2736"/>
            <a:chExt cx="720" cy="480"/>
          </a:xfrm>
        </p:grpSpPr>
        <p:sp>
          <p:nvSpPr>
            <p:cNvPr id="12" name="Rectangle 11"/>
            <p:cNvSpPr>
              <a:spLocks noChangeArrowheads="1"/>
            </p:cNvSpPr>
            <p:nvPr/>
          </p:nvSpPr>
          <p:spPr bwMode="auto">
            <a:xfrm>
              <a:off x="3936" y="2736"/>
              <a:ext cx="7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en-US" altLang="zh-CN" sz="2800" b="0" i="1">
                  <a:solidFill>
                    <a:schemeClr val="tx1"/>
                  </a:solidFill>
                  <a:latin typeface="Times New Roman" panose="02020603050405020304" pitchFamily="18" charset="0"/>
                </a:rPr>
                <a:t>c</a:t>
              </a:r>
              <a:r>
                <a:rPr kumimoji="1" lang="en-US" altLang="zh-CN" b="0" baseline="-25000">
                  <a:solidFill>
                    <a:schemeClr val="tx1"/>
                  </a:solidFill>
                  <a:latin typeface="Times New Roman" panose="02020603050405020304" pitchFamily="18" charset="0"/>
                </a:rPr>
                <a:t>1</a:t>
              </a:r>
            </a:p>
            <a:p>
              <a:pPr algn="ctr" eaLnBrk="1" hangingPunct="1"/>
              <a:r>
                <a:rPr kumimoji="1" lang="en-US" altLang="zh-CN" sz="2800" b="0" i="1">
                  <a:solidFill>
                    <a:schemeClr val="tx1"/>
                  </a:solidFill>
                  <a:latin typeface="Times New Roman" panose="02020603050405020304" pitchFamily="18" charset="0"/>
                </a:rPr>
                <a:t>c</a:t>
              </a:r>
              <a:r>
                <a:rPr kumimoji="1" lang="en-US" altLang="zh-CN" b="0" baseline="-25000">
                  <a:solidFill>
                    <a:schemeClr val="tx1"/>
                  </a:solidFill>
                  <a:latin typeface="Times New Roman" panose="02020603050405020304" pitchFamily="18" charset="0"/>
                </a:rPr>
                <a:t>2</a:t>
              </a:r>
            </a:p>
          </p:txBody>
        </p:sp>
        <p:sp>
          <p:nvSpPr>
            <p:cNvPr id="13" name="AutoShape 12"/>
            <p:cNvSpPr>
              <a:spLocks noChangeArrowheads="1"/>
            </p:cNvSpPr>
            <p:nvPr/>
          </p:nvSpPr>
          <p:spPr bwMode="auto">
            <a:xfrm>
              <a:off x="4032" y="2832"/>
              <a:ext cx="528" cy="336"/>
            </a:xfrm>
            <a:prstGeom prst="bracketPair">
              <a:avLst>
                <a:gd name="adj" fmla="val 16667"/>
              </a:avLst>
            </a:prstGeom>
            <a:noFill/>
            <a:ln w="9525">
              <a:solidFill>
                <a:schemeClr val="tx1"/>
              </a:solidFill>
              <a:round/>
              <a:headEnd/>
              <a:tailEn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3472965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3.6.2 Hill</a:t>
            </a:r>
            <a:r>
              <a:rPr lang="zh-CN" altLang="en-US" dirty="0"/>
              <a:t>密码</a:t>
            </a:r>
          </a:p>
        </p:txBody>
      </p:sp>
      <p:sp>
        <p:nvSpPr>
          <p:cNvPr id="3" name="内容占位符 2"/>
          <p:cNvSpPr>
            <a:spLocks noGrp="1"/>
          </p:cNvSpPr>
          <p:nvPr>
            <p:ph idx="1"/>
          </p:nvPr>
        </p:nvSpPr>
        <p:spPr>
          <a:xfrm>
            <a:off x="838200" y="1308881"/>
            <a:ext cx="10467109" cy="4982116"/>
          </a:xfrm>
        </p:spPr>
        <p:txBody>
          <a:bodyPr>
            <a:normAutofit/>
          </a:bodyPr>
          <a:lstStyle/>
          <a:p>
            <a:pPr>
              <a:lnSpc>
                <a:spcPct val="150000"/>
              </a:lnSpc>
            </a:pPr>
            <a:r>
              <a:rPr lang="zh-CN" altLang="en-US" dirty="0"/>
              <a:t>解密时使用</a:t>
            </a:r>
            <a:r>
              <a:rPr lang="en-US" altLang="zh-CN" b="1" dirty="0"/>
              <a:t>K</a:t>
            </a:r>
            <a:r>
              <a:rPr lang="zh-CN" altLang="en-US" dirty="0"/>
              <a:t>的逆矩阵</a:t>
            </a:r>
            <a:r>
              <a:rPr lang="en-US" altLang="zh-CN" b="1" dirty="0"/>
              <a:t>K</a:t>
            </a:r>
            <a:r>
              <a:rPr lang="en-US" altLang="zh-CN" baseline="30000" dirty="0"/>
              <a:t>-1</a:t>
            </a:r>
            <a:r>
              <a:rPr lang="zh-CN" altLang="en-US" dirty="0"/>
              <a:t>：</a:t>
            </a:r>
            <a:endParaRPr lang="en-US" altLang="zh-CN" dirty="0"/>
          </a:p>
          <a:p>
            <a:pPr lvl="1"/>
            <a:r>
              <a:rPr lang="en-US" altLang="zh-CN" dirty="0" err="1"/>
              <a:t>D</a:t>
            </a:r>
            <a:r>
              <a:rPr lang="en-US" altLang="zh-CN" baseline="-25000" dirty="0" err="1"/>
              <a:t>k</a:t>
            </a:r>
            <a:r>
              <a:rPr lang="en-US" altLang="zh-CN" dirty="0"/>
              <a:t>(</a:t>
            </a:r>
            <a:r>
              <a:rPr lang="en-US" altLang="zh-CN" b="1" dirty="0"/>
              <a:t>C</a:t>
            </a:r>
            <a:r>
              <a:rPr lang="en-US" altLang="zh-CN" dirty="0"/>
              <a:t>)</a:t>
            </a:r>
            <a:r>
              <a:rPr lang="zh-CN" altLang="en-US" dirty="0"/>
              <a:t>＝ </a:t>
            </a:r>
            <a:r>
              <a:rPr lang="en-US" altLang="zh-CN" b="1" dirty="0"/>
              <a:t>K</a:t>
            </a:r>
            <a:r>
              <a:rPr lang="en-US" altLang="zh-CN" baseline="30000" dirty="0"/>
              <a:t>-1</a:t>
            </a:r>
            <a:r>
              <a:rPr lang="en-US" altLang="zh-CN" dirty="0"/>
              <a:t> </a:t>
            </a:r>
            <a:r>
              <a:rPr lang="en-US" altLang="zh-CN" b="1" dirty="0"/>
              <a:t>C</a:t>
            </a:r>
            <a:r>
              <a:rPr lang="en-US" altLang="zh-CN" dirty="0"/>
              <a:t> mod n= </a:t>
            </a:r>
            <a:r>
              <a:rPr lang="en-US" altLang="zh-CN" b="1" dirty="0"/>
              <a:t>K</a:t>
            </a:r>
            <a:r>
              <a:rPr lang="en-US" altLang="zh-CN" baseline="30000" dirty="0"/>
              <a:t>-1</a:t>
            </a:r>
            <a:r>
              <a:rPr lang="en-US" altLang="zh-CN" dirty="0"/>
              <a:t> </a:t>
            </a:r>
            <a:r>
              <a:rPr lang="en-US" altLang="zh-CN" b="1" dirty="0"/>
              <a:t>KM</a:t>
            </a:r>
            <a:r>
              <a:rPr lang="en-US" altLang="zh-CN" dirty="0"/>
              <a:t> mod n=</a:t>
            </a:r>
            <a:r>
              <a:rPr lang="en-US" altLang="zh-CN" b="1" dirty="0"/>
              <a:t>M</a:t>
            </a:r>
          </a:p>
          <a:p>
            <a:pPr lvl="1"/>
            <a:r>
              <a:rPr lang="en-US" altLang="zh-CN" dirty="0"/>
              <a:t>   </a:t>
            </a:r>
            <a:r>
              <a:rPr lang="zh-CN" altLang="en-US" dirty="0"/>
              <a:t>其中</a:t>
            </a:r>
            <a:r>
              <a:rPr lang="en-US" altLang="zh-CN" b="1" dirty="0"/>
              <a:t>K</a:t>
            </a:r>
            <a:r>
              <a:rPr lang="en-US" altLang="zh-CN" baseline="30000" dirty="0"/>
              <a:t>-1</a:t>
            </a:r>
            <a:r>
              <a:rPr lang="en-US" altLang="zh-CN" dirty="0"/>
              <a:t> </a:t>
            </a:r>
            <a:r>
              <a:rPr lang="en-US" altLang="zh-CN" b="1" dirty="0"/>
              <a:t>K</a:t>
            </a:r>
            <a:r>
              <a:rPr lang="en-US" altLang="zh-CN" dirty="0"/>
              <a:t> mod n</a:t>
            </a:r>
            <a:r>
              <a:rPr lang="zh-CN" altLang="en-US" dirty="0"/>
              <a:t>＝</a:t>
            </a:r>
            <a:r>
              <a:rPr lang="en-US" altLang="zh-CN" b="1" dirty="0"/>
              <a:t>I</a:t>
            </a:r>
            <a:r>
              <a:rPr lang="zh-CN" altLang="en-US" dirty="0"/>
              <a:t>，</a:t>
            </a:r>
            <a:r>
              <a:rPr lang="en-US" altLang="zh-CN" b="1" dirty="0"/>
              <a:t>I</a:t>
            </a:r>
            <a:r>
              <a:rPr lang="zh-CN" altLang="en-US" dirty="0"/>
              <a:t>为</a:t>
            </a:r>
            <a:r>
              <a:rPr lang="en-US" altLang="zh-CN" dirty="0"/>
              <a:t>2×2</a:t>
            </a:r>
            <a:r>
              <a:rPr lang="zh-CN" altLang="en-US" dirty="0"/>
              <a:t>的单位矩阵。</a:t>
            </a:r>
          </a:p>
          <a:p>
            <a:pPr lvl="1"/>
            <a:r>
              <a:rPr lang="zh-CN" altLang="en-US" dirty="0"/>
              <a:t>例</a:t>
            </a:r>
            <a:r>
              <a:rPr lang="en-US" altLang="zh-CN" dirty="0"/>
              <a:t>2.10: n=26, </a:t>
            </a:r>
            <a:r>
              <a:rPr lang="en-US" altLang="zh-CN" b="1" dirty="0"/>
              <a:t>M</a:t>
            </a:r>
            <a:r>
              <a:rPr lang="en-US" altLang="zh-CN" dirty="0"/>
              <a:t>=(4,6)</a:t>
            </a:r>
            <a:r>
              <a:rPr lang="en-US" altLang="zh-CN" baseline="30000" dirty="0"/>
              <a:t>T</a:t>
            </a:r>
            <a:r>
              <a:rPr lang="zh-CN" altLang="en-US" dirty="0"/>
              <a:t>，即</a:t>
            </a:r>
            <a:r>
              <a:rPr lang="en-US" altLang="zh-CN" dirty="0"/>
              <a:t>EG</a:t>
            </a:r>
            <a:r>
              <a:rPr lang="zh-CN" altLang="en-US" dirty="0"/>
              <a:t>， </a:t>
            </a:r>
            <a:r>
              <a:rPr lang="en-US" altLang="zh-CN" b="1" dirty="0"/>
              <a:t>K</a:t>
            </a:r>
            <a:r>
              <a:rPr lang="zh-CN" altLang="en-US" dirty="0"/>
              <a:t>与</a:t>
            </a:r>
            <a:r>
              <a:rPr lang="en-US" altLang="zh-CN" b="1" dirty="0"/>
              <a:t>K</a:t>
            </a:r>
            <a:r>
              <a:rPr lang="en-US" altLang="zh-CN" baseline="30000" dirty="0"/>
              <a:t>-1</a:t>
            </a:r>
            <a:r>
              <a:rPr lang="zh-CN" altLang="en-US" dirty="0"/>
              <a:t>如下</a:t>
            </a:r>
            <a:r>
              <a:rPr lang="en-US" altLang="zh-CN" dirty="0"/>
              <a:t>:</a:t>
            </a:r>
          </a:p>
          <a:p>
            <a:pPr>
              <a:lnSpc>
                <a:spcPct val="150000"/>
              </a:lnSpc>
            </a:pPr>
            <a:endParaRPr lang="zh-CN" altLang="en-US" dirty="0"/>
          </a:p>
          <a:p>
            <a:pPr>
              <a:lnSpc>
                <a:spcPct val="150000"/>
              </a:lnSpc>
              <a:buNone/>
            </a:pPr>
            <a:r>
              <a:rPr lang="zh-CN" altLang="en-US" dirty="0"/>
              <a:t>   </a:t>
            </a: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43</a:t>
            </a:fld>
            <a:endParaRPr kumimoji="1" lang="zh-CN" altLang="en-US" dirty="0"/>
          </a:p>
        </p:txBody>
      </p:sp>
      <p:grpSp>
        <p:nvGrpSpPr>
          <p:cNvPr id="14" name="组合 13"/>
          <p:cNvGrpSpPr/>
          <p:nvPr/>
        </p:nvGrpSpPr>
        <p:grpSpPr>
          <a:xfrm>
            <a:off x="3347020" y="3458711"/>
            <a:ext cx="5137150" cy="3124200"/>
            <a:chOff x="1524000" y="2971800"/>
            <a:chExt cx="5137150" cy="3124200"/>
          </a:xfrm>
        </p:grpSpPr>
        <p:sp>
          <p:nvSpPr>
            <p:cNvPr id="15" name="Text Box 4"/>
            <p:cNvSpPr txBox="1">
              <a:spLocks noChangeArrowheads="1"/>
            </p:cNvSpPr>
            <p:nvPr/>
          </p:nvSpPr>
          <p:spPr bwMode="auto">
            <a:xfrm>
              <a:off x="3657600" y="3352800"/>
              <a:ext cx="135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0">
                  <a:solidFill>
                    <a:schemeClr val="tx1"/>
                  </a:solidFill>
                  <a:latin typeface="Times New Roman" panose="02020603050405020304" pitchFamily="18" charset="0"/>
                </a:rPr>
                <a:t>mod 26 =</a:t>
              </a:r>
            </a:p>
          </p:txBody>
        </p:sp>
        <p:grpSp>
          <p:nvGrpSpPr>
            <p:cNvPr id="16" name="Group 5"/>
            <p:cNvGrpSpPr>
              <a:grpSpLocks/>
            </p:cNvGrpSpPr>
            <p:nvPr/>
          </p:nvGrpSpPr>
          <p:grpSpPr bwMode="auto">
            <a:xfrm>
              <a:off x="1524000" y="3030538"/>
              <a:ext cx="717550" cy="931862"/>
              <a:chOff x="960" y="2005"/>
              <a:chExt cx="452" cy="587"/>
            </a:xfrm>
          </p:grpSpPr>
          <p:sp>
            <p:nvSpPr>
              <p:cNvPr id="44" name="AutoShape 6"/>
              <p:cNvSpPr>
                <a:spLocks noChangeArrowheads="1"/>
              </p:cNvSpPr>
              <p:nvPr/>
            </p:nvSpPr>
            <p:spPr bwMode="auto">
              <a:xfrm>
                <a:off x="960" y="2208"/>
                <a:ext cx="432" cy="336"/>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45" name="Text Box 7"/>
              <p:cNvSpPr txBox="1">
                <a:spLocks noChangeArrowheads="1"/>
              </p:cNvSpPr>
              <p:nvPr/>
            </p:nvSpPr>
            <p:spPr bwMode="auto">
              <a:xfrm>
                <a:off x="1008" y="2005"/>
                <a:ext cx="404"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dirty="0">
                    <a:solidFill>
                      <a:schemeClr val="tx1"/>
                    </a:solidFill>
                    <a:latin typeface="Times New Roman" panose="02020603050405020304" pitchFamily="18" charset="0"/>
                  </a:rPr>
                  <a:t>  </a:t>
                </a:r>
                <a:r>
                  <a:rPr kumimoji="1" lang="en-US" altLang="zh-CN" sz="2400" i="1" dirty="0">
                    <a:solidFill>
                      <a:schemeClr val="tx1"/>
                    </a:solidFill>
                    <a:latin typeface="Times New Roman" panose="02020603050405020304" pitchFamily="18" charset="0"/>
                  </a:rPr>
                  <a:t>K</a:t>
                </a:r>
              </a:p>
              <a:p>
                <a:pPr eaLnBrk="1" hangingPunct="1">
                  <a:lnSpc>
                    <a:spcPct val="30000"/>
                  </a:lnSpc>
                  <a:spcBef>
                    <a:spcPct val="50000"/>
                  </a:spcBef>
                </a:pPr>
                <a:r>
                  <a:rPr kumimoji="1" lang="en-US" altLang="zh-CN" sz="2400" b="0" dirty="0">
                    <a:solidFill>
                      <a:schemeClr val="tx1"/>
                    </a:solidFill>
                    <a:latin typeface="Times New Roman" panose="02020603050405020304" pitchFamily="18" charset="0"/>
                  </a:rPr>
                  <a:t>3  2</a:t>
                </a:r>
              </a:p>
              <a:p>
                <a:pPr eaLnBrk="1" hangingPunct="1">
                  <a:lnSpc>
                    <a:spcPct val="30000"/>
                  </a:lnSpc>
                  <a:spcBef>
                    <a:spcPct val="50000"/>
                  </a:spcBef>
                </a:pPr>
                <a:r>
                  <a:rPr kumimoji="1" lang="en-US" altLang="zh-CN" sz="2400" b="0" dirty="0">
                    <a:solidFill>
                      <a:schemeClr val="tx1"/>
                    </a:solidFill>
                    <a:latin typeface="Times New Roman" panose="02020603050405020304" pitchFamily="18" charset="0"/>
                  </a:rPr>
                  <a:t>3  5</a:t>
                </a:r>
              </a:p>
            </p:txBody>
          </p:sp>
        </p:grpSp>
        <p:grpSp>
          <p:nvGrpSpPr>
            <p:cNvPr id="17" name="Group 8"/>
            <p:cNvGrpSpPr>
              <a:grpSpLocks/>
            </p:cNvGrpSpPr>
            <p:nvPr/>
          </p:nvGrpSpPr>
          <p:grpSpPr bwMode="auto">
            <a:xfrm>
              <a:off x="2590800" y="2994025"/>
              <a:ext cx="946150" cy="968375"/>
              <a:chOff x="1632" y="1982"/>
              <a:chExt cx="596" cy="610"/>
            </a:xfrm>
          </p:grpSpPr>
          <p:sp>
            <p:nvSpPr>
              <p:cNvPr id="42" name="AutoShape 9"/>
              <p:cNvSpPr>
                <a:spLocks noChangeArrowheads="1"/>
              </p:cNvSpPr>
              <p:nvPr/>
            </p:nvSpPr>
            <p:spPr bwMode="auto">
              <a:xfrm>
                <a:off x="1632" y="2208"/>
                <a:ext cx="576" cy="336"/>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43" name="Text Box 10"/>
              <p:cNvSpPr txBox="1">
                <a:spLocks noChangeArrowheads="1"/>
              </p:cNvSpPr>
              <p:nvPr/>
            </p:nvSpPr>
            <p:spPr bwMode="auto">
              <a:xfrm>
                <a:off x="1632" y="1982"/>
                <a:ext cx="596" cy="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80000"/>
                  </a:lnSpc>
                  <a:spcBef>
                    <a:spcPct val="50000"/>
                  </a:spcBef>
                </a:pPr>
                <a:r>
                  <a:rPr kumimoji="1" lang="en-US" altLang="zh-CN" sz="2400" b="0">
                    <a:solidFill>
                      <a:schemeClr val="tx1"/>
                    </a:solidFill>
                    <a:latin typeface="Times New Roman" panose="02020603050405020304" pitchFamily="18" charset="0"/>
                  </a:rPr>
                  <a:t>  </a:t>
                </a:r>
                <a:r>
                  <a:rPr kumimoji="1" lang="en-US" altLang="zh-CN" sz="2400" i="1">
                    <a:solidFill>
                      <a:schemeClr val="tx1"/>
                    </a:solidFill>
                    <a:latin typeface="Times New Roman" panose="02020603050405020304" pitchFamily="18" charset="0"/>
                  </a:rPr>
                  <a:t>K</a:t>
                </a:r>
                <a:r>
                  <a:rPr kumimoji="1" lang="en-US" altLang="zh-CN" sz="2400" b="0" baseline="30000">
                    <a:solidFill>
                      <a:schemeClr val="tx1"/>
                    </a:solidFill>
                    <a:latin typeface="Times New Roman" panose="02020603050405020304" pitchFamily="18" charset="0"/>
                  </a:rPr>
                  <a:t>-1</a:t>
                </a:r>
                <a:endParaRPr kumimoji="1" lang="en-US" altLang="zh-CN" sz="2400" b="0">
                  <a:solidFill>
                    <a:schemeClr val="tx1"/>
                  </a:solidFill>
                  <a:latin typeface="Times New Roman" panose="02020603050405020304" pitchFamily="18" charset="0"/>
                </a:endParaRPr>
              </a:p>
              <a:p>
                <a:pPr eaLnBrk="1" hangingPunct="1">
                  <a:lnSpc>
                    <a:spcPct val="30000"/>
                  </a:lnSpc>
                  <a:spcBef>
                    <a:spcPct val="50000"/>
                  </a:spcBef>
                </a:pPr>
                <a:r>
                  <a:rPr kumimoji="1" lang="en-US" altLang="zh-CN" sz="2400" b="0">
                    <a:solidFill>
                      <a:schemeClr val="tx1"/>
                    </a:solidFill>
                    <a:latin typeface="Times New Roman" panose="02020603050405020304" pitchFamily="18" charset="0"/>
                  </a:rPr>
                  <a:t>15  20</a:t>
                </a:r>
              </a:p>
              <a:p>
                <a:pPr eaLnBrk="1" hangingPunct="1">
                  <a:lnSpc>
                    <a:spcPct val="30000"/>
                  </a:lnSpc>
                  <a:spcBef>
                    <a:spcPct val="50000"/>
                  </a:spcBef>
                </a:pPr>
                <a:r>
                  <a:rPr kumimoji="1" lang="en-US" altLang="zh-CN" sz="2400" b="0">
                    <a:solidFill>
                      <a:schemeClr val="tx1"/>
                    </a:solidFill>
                    <a:latin typeface="Times New Roman" panose="02020603050405020304" pitchFamily="18" charset="0"/>
                  </a:rPr>
                  <a:t>17  9</a:t>
                </a:r>
              </a:p>
            </p:txBody>
          </p:sp>
        </p:grpSp>
        <p:grpSp>
          <p:nvGrpSpPr>
            <p:cNvPr id="18" name="Group 11"/>
            <p:cNvGrpSpPr>
              <a:grpSpLocks/>
            </p:cNvGrpSpPr>
            <p:nvPr/>
          </p:nvGrpSpPr>
          <p:grpSpPr bwMode="auto">
            <a:xfrm>
              <a:off x="5257800" y="2971800"/>
              <a:ext cx="762000" cy="931863"/>
              <a:chOff x="3312" y="1776"/>
              <a:chExt cx="480" cy="587"/>
            </a:xfrm>
          </p:grpSpPr>
          <p:sp>
            <p:nvSpPr>
              <p:cNvPr id="40" name="AutoShape 12"/>
              <p:cNvSpPr>
                <a:spLocks noChangeArrowheads="1"/>
              </p:cNvSpPr>
              <p:nvPr/>
            </p:nvSpPr>
            <p:spPr bwMode="auto">
              <a:xfrm>
                <a:off x="3312" y="2016"/>
                <a:ext cx="480" cy="336"/>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41" name="Text Box 13"/>
              <p:cNvSpPr txBox="1">
                <a:spLocks noChangeArrowheads="1"/>
              </p:cNvSpPr>
              <p:nvPr/>
            </p:nvSpPr>
            <p:spPr bwMode="auto">
              <a:xfrm>
                <a:off x="3360" y="1776"/>
                <a:ext cx="404"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a:solidFill>
                      <a:schemeClr val="tx1"/>
                    </a:solidFill>
                    <a:latin typeface="Times New Roman" panose="02020603050405020304" pitchFamily="18" charset="0"/>
                  </a:rPr>
                  <a:t> </a:t>
                </a:r>
                <a:r>
                  <a:rPr kumimoji="1" lang="en-US" altLang="zh-CN" sz="2400" i="1">
                    <a:solidFill>
                      <a:schemeClr val="tx1"/>
                    </a:solidFill>
                    <a:latin typeface="Times New Roman" panose="02020603050405020304" pitchFamily="18" charset="0"/>
                  </a:rPr>
                  <a:t> I</a:t>
                </a:r>
              </a:p>
              <a:p>
                <a:pPr eaLnBrk="1" hangingPunct="1">
                  <a:lnSpc>
                    <a:spcPct val="30000"/>
                  </a:lnSpc>
                  <a:spcBef>
                    <a:spcPct val="50000"/>
                  </a:spcBef>
                </a:pPr>
                <a:r>
                  <a:rPr kumimoji="1" lang="en-US" altLang="zh-CN" sz="2400" b="0">
                    <a:solidFill>
                      <a:schemeClr val="tx1"/>
                    </a:solidFill>
                    <a:latin typeface="Times New Roman" panose="02020603050405020304" pitchFamily="18" charset="0"/>
                  </a:rPr>
                  <a:t>1  0</a:t>
                </a:r>
              </a:p>
              <a:p>
                <a:pPr eaLnBrk="1" hangingPunct="1">
                  <a:lnSpc>
                    <a:spcPct val="30000"/>
                  </a:lnSpc>
                  <a:spcBef>
                    <a:spcPct val="50000"/>
                  </a:spcBef>
                </a:pPr>
                <a:r>
                  <a:rPr kumimoji="1" lang="en-US" altLang="zh-CN" sz="2400" b="0">
                    <a:solidFill>
                      <a:schemeClr val="tx1"/>
                    </a:solidFill>
                    <a:latin typeface="Times New Roman" panose="02020603050405020304" pitchFamily="18" charset="0"/>
                  </a:rPr>
                  <a:t>0  1</a:t>
                </a:r>
              </a:p>
            </p:txBody>
          </p:sp>
        </p:grpSp>
        <p:sp>
          <p:nvSpPr>
            <p:cNvPr id="19" name="Text Box 14"/>
            <p:cNvSpPr txBox="1">
              <a:spLocks noChangeArrowheads="1"/>
            </p:cNvSpPr>
            <p:nvPr/>
          </p:nvSpPr>
          <p:spPr bwMode="auto">
            <a:xfrm>
              <a:off x="2559050" y="3886200"/>
              <a:ext cx="42068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i="1">
                  <a:solidFill>
                    <a:schemeClr val="tx1"/>
                  </a:solidFill>
                  <a:latin typeface="Times New Roman" panose="02020603050405020304" pitchFamily="18" charset="0"/>
                </a:rPr>
                <a:t>c</a:t>
              </a:r>
              <a:r>
                <a:rPr kumimoji="1" lang="en-US" altLang="zh-CN" sz="2400" b="0" baseline="-25000">
                  <a:solidFill>
                    <a:schemeClr val="tx1"/>
                  </a:solidFill>
                  <a:latin typeface="Times New Roman" panose="02020603050405020304" pitchFamily="18" charset="0"/>
                </a:rPr>
                <a:t>1</a:t>
              </a:r>
              <a:endParaRPr kumimoji="1" lang="en-US" altLang="zh-CN" sz="2400" b="0">
                <a:solidFill>
                  <a:schemeClr val="tx1"/>
                </a:solidFill>
                <a:latin typeface="Times New Roman" panose="02020603050405020304" pitchFamily="18" charset="0"/>
              </a:endParaRPr>
            </a:p>
            <a:p>
              <a:pPr eaLnBrk="1" hangingPunct="1">
                <a:lnSpc>
                  <a:spcPct val="70000"/>
                </a:lnSpc>
                <a:spcBef>
                  <a:spcPct val="50000"/>
                </a:spcBef>
              </a:pPr>
              <a:r>
                <a:rPr kumimoji="1" lang="en-US" altLang="zh-CN" sz="2400" b="0" i="1">
                  <a:solidFill>
                    <a:schemeClr val="tx1"/>
                  </a:solidFill>
                  <a:latin typeface="Times New Roman" panose="02020603050405020304" pitchFamily="18" charset="0"/>
                </a:rPr>
                <a:t>c</a:t>
              </a:r>
              <a:r>
                <a:rPr kumimoji="1" lang="en-US" altLang="zh-CN" sz="2400" b="0" baseline="-18000">
                  <a:solidFill>
                    <a:schemeClr val="tx1"/>
                  </a:solidFill>
                  <a:latin typeface="Times New Roman" panose="02020603050405020304" pitchFamily="18" charset="0"/>
                </a:rPr>
                <a:t>2</a:t>
              </a:r>
              <a:endParaRPr kumimoji="1" lang="en-US" altLang="zh-CN" sz="2400" b="0">
                <a:solidFill>
                  <a:schemeClr val="tx1"/>
                </a:solidFill>
                <a:latin typeface="Times New Roman" panose="02020603050405020304" pitchFamily="18" charset="0"/>
              </a:endParaRPr>
            </a:p>
          </p:txBody>
        </p:sp>
        <p:sp>
          <p:nvSpPr>
            <p:cNvPr id="20" name="Text Box 15"/>
            <p:cNvSpPr txBox="1">
              <a:spLocks noChangeArrowheads="1"/>
            </p:cNvSpPr>
            <p:nvPr/>
          </p:nvSpPr>
          <p:spPr bwMode="auto">
            <a:xfrm>
              <a:off x="3041650" y="4111625"/>
              <a:ext cx="3556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80000"/>
                </a:lnSpc>
                <a:spcBef>
                  <a:spcPct val="50000"/>
                </a:spcBef>
              </a:pPr>
              <a:r>
                <a:rPr kumimoji="1" lang="en-US" altLang="zh-CN" sz="2400" b="0">
                  <a:solidFill>
                    <a:schemeClr val="tx1"/>
                  </a:solidFill>
                  <a:latin typeface="Times New Roman" panose="02020603050405020304" pitchFamily="18" charset="0"/>
                </a:rPr>
                <a:t>=</a:t>
              </a:r>
            </a:p>
          </p:txBody>
        </p:sp>
        <p:sp>
          <p:nvSpPr>
            <p:cNvPr id="21" name="Rectangle 16"/>
            <p:cNvSpPr>
              <a:spLocks noChangeArrowheads="1"/>
            </p:cNvSpPr>
            <p:nvPr/>
          </p:nvSpPr>
          <p:spPr bwMode="auto">
            <a:xfrm>
              <a:off x="3625850" y="4008438"/>
              <a:ext cx="102235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a:solidFill>
                    <a:schemeClr val="tx1"/>
                  </a:solidFill>
                  <a:latin typeface="Times New Roman" panose="02020603050405020304" pitchFamily="18" charset="0"/>
                </a:rPr>
                <a:t>3  2   4</a:t>
              </a:r>
            </a:p>
            <a:p>
              <a:pPr eaLnBrk="1" hangingPunct="1">
                <a:lnSpc>
                  <a:spcPct val="30000"/>
                </a:lnSpc>
                <a:spcBef>
                  <a:spcPct val="50000"/>
                </a:spcBef>
              </a:pPr>
              <a:r>
                <a:rPr kumimoji="1" lang="en-US" altLang="zh-CN" sz="2400" b="0">
                  <a:solidFill>
                    <a:schemeClr val="tx1"/>
                  </a:solidFill>
                  <a:latin typeface="Times New Roman" panose="02020603050405020304" pitchFamily="18" charset="0"/>
                </a:rPr>
                <a:t>3  5   6</a:t>
              </a:r>
            </a:p>
          </p:txBody>
        </p:sp>
        <p:sp>
          <p:nvSpPr>
            <p:cNvPr id="22" name="Text Box 17"/>
            <p:cNvSpPr txBox="1">
              <a:spLocks noChangeArrowheads="1"/>
            </p:cNvSpPr>
            <p:nvPr/>
          </p:nvSpPr>
          <p:spPr bwMode="auto">
            <a:xfrm>
              <a:off x="4768850" y="4038600"/>
              <a:ext cx="135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0">
                  <a:solidFill>
                    <a:schemeClr val="tx1"/>
                  </a:solidFill>
                  <a:latin typeface="Times New Roman" panose="02020603050405020304" pitchFamily="18" charset="0"/>
                </a:rPr>
                <a:t>mod 26 =</a:t>
              </a:r>
            </a:p>
          </p:txBody>
        </p:sp>
        <p:sp>
          <p:nvSpPr>
            <p:cNvPr id="23" name="Text Box 18"/>
            <p:cNvSpPr txBox="1">
              <a:spLocks noChangeArrowheads="1"/>
            </p:cNvSpPr>
            <p:nvPr/>
          </p:nvSpPr>
          <p:spPr bwMode="auto">
            <a:xfrm>
              <a:off x="6140450" y="4038600"/>
              <a:ext cx="4889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a:solidFill>
                    <a:schemeClr val="tx1"/>
                  </a:solidFill>
                  <a:latin typeface="Times New Roman" panose="02020603050405020304" pitchFamily="18" charset="0"/>
                </a:rPr>
                <a:t>24</a:t>
              </a:r>
            </a:p>
            <a:p>
              <a:pPr eaLnBrk="1" hangingPunct="1">
                <a:lnSpc>
                  <a:spcPct val="20000"/>
                </a:lnSpc>
                <a:spcBef>
                  <a:spcPct val="50000"/>
                </a:spcBef>
              </a:pPr>
              <a:r>
                <a:rPr kumimoji="1" lang="en-US" altLang="zh-CN" sz="2400" b="0">
                  <a:solidFill>
                    <a:schemeClr val="tx1"/>
                  </a:solidFill>
                  <a:latin typeface="Times New Roman" panose="02020603050405020304" pitchFamily="18" charset="0"/>
                </a:rPr>
                <a:t>16</a:t>
              </a:r>
            </a:p>
          </p:txBody>
        </p:sp>
        <p:sp>
          <p:nvSpPr>
            <p:cNvPr id="24" name="AutoShape 19"/>
            <p:cNvSpPr>
              <a:spLocks noChangeArrowheads="1"/>
            </p:cNvSpPr>
            <p:nvPr/>
          </p:nvSpPr>
          <p:spPr bwMode="auto">
            <a:xfrm>
              <a:off x="2559050" y="4038600"/>
              <a:ext cx="4572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25" name="AutoShape 20"/>
            <p:cNvSpPr>
              <a:spLocks noChangeArrowheads="1"/>
            </p:cNvSpPr>
            <p:nvPr/>
          </p:nvSpPr>
          <p:spPr bwMode="auto">
            <a:xfrm>
              <a:off x="3625850" y="4038600"/>
              <a:ext cx="6096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26" name="AutoShape 21"/>
            <p:cNvSpPr>
              <a:spLocks noChangeArrowheads="1"/>
            </p:cNvSpPr>
            <p:nvPr/>
          </p:nvSpPr>
          <p:spPr bwMode="auto">
            <a:xfrm>
              <a:off x="4311650" y="4038600"/>
              <a:ext cx="3810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27" name="AutoShape 22"/>
            <p:cNvSpPr>
              <a:spLocks noChangeArrowheads="1"/>
            </p:cNvSpPr>
            <p:nvPr/>
          </p:nvSpPr>
          <p:spPr bwMode="auto">
            <a:xfrm>
              <a:off x="6172200" y="4038600"/>
              <a:ext cx="4572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28" name="Text Box 23"/>
            <p:cNvSpPr txBox="1">
              <a:spLocks noChangeArrowheads="1"/>
            </p:cNvSpPr>
            <p:nvPr/>
          </p:nvSpPr>
          <p:spPr bwMode="auto">
            <a:xfrm>
              <a:off x="1644650" y="3962400"/>
              <a:ext cx="87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dirty="0">
                  <a:solidFill>
                    <a:schemeClr val="tx1"/>
                  </a:solidFill>
                  <a:latin typeface="Times New Roman" panose="02020603050405020304" pitchFamily="18" charset="0"/>
                </a:rPr>
                <a:t>加密</a:t>
              </a:r>
              <a:r>
                <a:rPr kumimoji="1" lang="en-US" altLang="zh-CN" sz="2400" b="0" dirty="0">
                  <a:solidFill>
                    <a:schemeClr val="tx1"/>
                  </a:solidFill>
                  <a:latin typeface="Times New Roman" panose="02020603050405020304" pitchFamily="18" charset="0"/>
                </a:rPr>
                <a:t>:</a:t>
              </a:r>
            </a:p>
          </p:txBody>
        </p:sp>
        <p:sp>
          <p:nvSpPr>
            <p:cNvPr id="29" name="Text Box 24"/>
            <p:cNvSpPr txBox="1">
              <a:spLocks noChangeArrowheads="1"/>
            </p:cNvSpPr>
            <p:nvPr/>
          </p:nvSpPr>
          <p:spPr bwMode="auto">
            <a:xfrm>
              <a:off x="2559050" y="5310188"/>
              <a:ext cx="506413"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i="1">
                  <a:solidFill>
                    <a:schemeClr val="tx1"/>
                  </a:solidFill>
                  <a:latin typeface="Times New Roman" panose="02020603050405020304" pitchFamily="18" charset="0"/>
                </a:rPr>
                <a:t>m</a:t>
              </a:r>
              <a:r>
                <a:rPr kumimoji="1" lang="en-US" altLang="zh-CN" sz="2400" b="0" baseline="-25000">
                  <a:solidFill>
                    <a:schemeClr val="tx1"/>
                  </a:solidFill>
                  <a:latin typeface="Times New Roman" panose="02020603050405020304" pitchFamily="18" charset="0"/>
                </a:rPr>
                <a:t>1</a:t>
              </a:r>
              <a:endParaRPr kumimoji="1" lang="en-US" altLang="zh-CN" sz="2400" b="0">
                <a:solidFill>
                  <a:schemeClr val="tx1"/>
                </a:solidFill>
                <a:latin typeface="Times New Roman" panose="02020603050405020304" pitchFamily="18" charset="0"/>
              </a:endParaRPr>
            </a:p>
            <a:p>
              <a:pPr eaLnBrk="1" hangingPunct="1">
                <a:lnSpc>
                  <a:spcPct val="70000"/>
                </a:lnSpc>
                <a:spcBef>
                  <a:spcPct val="50000"/>
                </a:spcBef>
              </a:pPr>
              <a:r>
                <a:rPr kumimoji="1" lang="en-US" altLang="zh-CN" sz="2400" b="0" i="1">
                  <a:solidFill>
                    <a:schemeClr val="tx1"/>
                  </a:solidFill>
                  <a:latin typeface="Times New Roman" panose="02020603050405020304" pitchFamily="18" charset="0"/>
                </a:rPr>
                <a:t>m</a:t>
              </a:r>
              <a:r>
                <a:rPr kumimoji="1" lang="en-US" altLang="zh-CN" sz="2400" b="0" baseline="-16000">
                  <a:solidFill>
                    <a:schemeClr val="tx1"/>
                  </a:solidFill>
                  <a:latin typeface="Times New Roman" panose="02020603050405020304" pitchFamily="18" charset="0"/>
                </a:rPr>
                <a:t>2</a:t>
              </a:r>
              <a:endParaRPr kumimoji="1" lang="en-US" altLang="zh-CN" sz="2400" b="0">
                <a:solidFill>
                  <a:schemeClr val="tx1"/>
                </a:solidFill>
                <a:latin typeface="Times New Roman" panose="02020603050405020304" pitchFamily="18" charset="0"/>
              </a:endParaRPr>
            </a:p>
          </p:txBody>
        </p:sp>
        <p:sp>
          <p:nvSpPr>
            <p:cNvPr id="30" name="Text Box 25"/>
            <p:cNvSpPr txBox="1">
              <a:spLocks noChangeArrowheads="1"/>
            </p:cNvSpPr>
            <p:nvPr/>
          </p:nvSpPr>
          <p:spPr bwMode="auto">
            <a:xfrm>
              <a:off x="3041650" y="5535613"/>
              <a:ext cx="3556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80000"/>
                </a:lnSpc>
                <a:spcBef>
                  <a:spcPct val="50000"/>
                </a:spcBef>
              </a:pPr>
              <a:r>
                <a:rPr kumimoji="1" lang="en-US" altLang="zh-CN" sz="2400" b="0">
                  <a:solidFill>
                    <a:schemeClr val="tx1"/>
                  </a:solidFill>
                  <a:latin typeface="Times New Roman" panose="02020603050405020304" pitchFamily="18" charset="0"/>
                </a:rPr>
                <a:t>=</a:t>
              </a:r>
            </a:p>
          </p:txBody>
        </p:sp>
        <p:sp>
          <p:nvSpPr>
            <p:cNvPr id="31" name="Rectangle 26"/>
            <p:cNvSpPr>
              <a:spLocks noChangeArrowheads="1"/>
            </p:cNvSpPr>
            <p:nvPr/>
          </p:nvSpPr>
          <p:spPr bwMode="auto">
            <a:xfrm>
              <a:off x="3429000" y="5432425"/>
              <a:ext cx="16002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a:solidFill>
                    <a:schemeClr val="tx1"/>
                  </a:solidFill>
                  <a:latin typeface="Times New Roman" panose="02020603050405020304" pitchFamily="18" charset="0"/>
                </a:rPr>
                <a:t>15  20   24</a:t>
              </a:r>
            </a:p>
            <a:p>
              <a:pPr eaLnBrk="1" hangingPunct="1">
                <a:lnSpc>
                  <a:spcPct val="30000"/>
                </a:lnSpc>
                <a:spcBef>
                  <a:spcPct val="50000"/>
                </a:spcBef>
              </a:pPr>
              <a:r>
                <a:rPr kumimoji="1" lang="en-US" altLang="zh-CN" sz="2400" b="0">
                  <a:solidFill>
                    <a:schemeClr val="tx1"/>
                  </a:solidFill>
                  <a:latin typeface="Times New Roman" panose="02020603050405020304" pitchFamily="18" charset="0"/>
                </a:rPr>
                <a:t>17  9     16</a:t>
              </a:r>
            </a:p>
          </p:txBody>
        </p:sp>
        <p:sp>
          <p:nvSpPr>
            <p:cNvPr id="32" name="Text Box 27"/>
            <p:cNvSpPr txBox="1">
              <a:spLocks noChangeArrowheads="1"/>
            </p:cNvSpPr>
            <p:nvPr/>
          </p:nvSpPr>
          <p:spPr bwMode="auto">
            <a:xfrm>
              <a:off x="4894263" y="5462588"/>
              <a:ext cx="1354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0">
                  <a:solidFill>
                    <a:schemeClr val="tx1"/>
                  </a:solidFill>
                  <a:latin typeface="Times New Roman" panose="02020603050405020304" pitchFamily="18" charset="0"/>
                </a:rPr>
                <a:t>mod 26 =</a:t>
              </a:r>
            </a:p>
          </p:txBody>
        </p:sp>
        <p:sp>
          <p:nvSpPr>
            <p:cNvPr id="33" name="Text Box 28"/>
            <p:cNvSpPr txBox="1">
              <a:spLocks noChangeArrowheads="1"/>
            </p:cNvSpPr>
            <p:nvPr/>
          </p:nvSpPr>
          <p:spPr bwMode="auto">
            <a:xfrm>
              <a:off x="6261100" y="5462588"/>
              <a:ext cx="3365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lnSpc>
                  <a:spcPct val="70000"/>
                </a:lnSpc>
                <a:spcBef>
                  <a:spcPct val="50000"/>
                </a:spcBef>
              </a:pPr>
              <a:r>
                <a:rPr kumimoji="1" lang="en-US" altLang="zh-CN" sz="2400" b="0">
                  <a:solidFill>
                    <a:schemeClr val="tx1"/>
                  </a:solidFill>
                  <a:latin typeface="Times New Roman" panose="02020603050405020304" pitchFamily="18" charset="0"/>
                </a:rPr>
                <a:t>4</a:t>
              </a:r>
            </a:p>
            <a:p>
              <a:pPr eaLnBrk="1" hangingPunct="1">
                <a:lnSpc>
                  <a:spcPct val="20000"/>
                </a:lnSpc>
                <a:spcBef>
                  <a:spcPct val="50000"/>
                </a:spcBef>
              </a:pPr>
              <a:r>
                <a:rPr kumimoji="1" lang="en-US" altLang="zh-CN" sz="2400" b="0">
                  <a:solidFill>
                    <a:schemeClr val="tx1"/>
                  </a:solidFill>
                  <a:latin typeface="Times New Roman" panose="02020603050405020304" pitchFamily="18" charset="0"/>
                </a:rPr>
                <a:t>6</a:t>
              </a:r>
            </a:p>
          </p:txBody>
        </p:sp>
        <p:sp>
          <p:nvSpPr>
            <p:cNvPr id="34" name="AutoShape 29"/>
            <p:cNvSpPr>
              <a:spLocks noChangeArrowheads="1"/>
            </p:cNvSpPr>
            <p:nvPr/>
          </p:nvSpPr>
          <p:spPr bwMode="auto">
            <a:xfrm>
              <a:off x="2559050" y="5462588"/>
              <a:ext cx="4572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35" name="AutoShape 30"/>
            <p:cNvSpPr>
              <a:spLocks noChangeArrowheads="1"/>
            </p:cNvSpPr>
            <p:nvPr/>
          </p:nvSpPr>
          <p:spPr bwMode="auto">
            <a:xfrm>
              <a:off x="3429000" y="5486400"/>
              <a:ext cx="9144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36" name="AutoShape 31"/>
            <p:cNvSpPr>
              <a:spLocks noChangeArrowheads="1"/>
            </p:cNvSpPr>
            <p:nvPr/>
          </p:nvSpPr>
          <p:spPr bwMode="auto">
            <a:xfrm>
              <a:off x="4419600" y="5486400"/>
              <a:ext cx="53340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37" name="AutoShape 32"/>
            <p:cNvSpPr>
              <a:spLocks noChangeArrowheads="1"/>
            </p:cNvSpPr>
            <p:nvPr/>
          </p:nvSpPr>
          <p:spPr bwMode="auto">
            <a:xfrm>
              <a:off x="6248400" y="5462588"/>
              <a:ext cx="412750" cy="533400"/>
            </a:xfrm>
            <a:prstGeom prst="bracketPair">
              <a:avLst>
                <a:gd name="adj" fmla="val 16667"/>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38" name="Text Box 33"/>
            <p:cNvSpPr txBox="1">
              <a:spLocks noChangeArrowheads="1"/>
            </p:cNvSpPr>
            <p:nvPr/>
          </p:nvSpPr>
          <p:spPr bwMode="auto">
            <a:xfrm>
              <a:off x="1644650" y="5386388"/>
              <a:ext cx="87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a:solidFill>
                    <a:schemeClr val="tx1"/>
                  </a:solidFill>
                  <a:latin typeface="Times New Roman" panose="02020603050405020304" pitchFamily="18" charset="0"/>
                </a:rPr>
                <a:t>解密</a:t>
              </a:r>
              <a:r>
                <a:rPr kumimoji="1" lang="en-US" altLang="zh-CN" sz="2400" b="0">
                  <a:solidFill>
                    <a:schemeClr val="tx1"/>
                  </a:solidFill>
                  <a:latin typeface="Times New Roman" panose="02020603050405020304" pitchFamily="18" charset="0"/>
                </a:rPr>
                <a:t>:</a:t>
              </a:r>
            </a:p>
          </p:txBody>
        </p:sp>
        <p:sp>
          <p:nvSpPr>
            <p:cNvPr id="39" name="Text Box 34"/>
            <p:cNvSpPr txBox="1">
              <a:spLocks noChangeArrowheads="1"/>
            </p:cNvSpPr>
            <p:nvPr/>
          </p:nvSpPr>
          <p:spPr bwMode="auto">
            <a:xfrm>
              <a:off x="1676400" y="4800600"/>
              <a:ext cx="3654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0" dirty="0">
                  <a:solidFill>
                    <a:schemeClr val="tx1"/>
                  </a:solidFill>
                  <a:latin typeface="Times New Roman" panose="02020603050405020304" pitchFamily="18" charset="0"/>
                </a:rPr>
                <a:t>密文</a:t>
              </a:r>
              <a:r>
                <a:rPr kumimoji="1" lang="en-US" altLang="zh-CN" sz="2800" i="1" dirty="0">
                  <a:solidFill>
                    <a:schemeClr val="tx1"/>
                  </a:solidFill>
                  <a:latin typeface="Times New Roman" panose="02020603050405020304" pitchFamily="18" charset="0"/>
                </a:rPr>
                <a:t>C</a:t>
              </a:r>
              <a:r>
                <a:rPr kumimoji="1" lang="en-US" altLang="zh-CN" sz="2800" b="0" dirty="0">
                  <a:solidFill>
                    <a:schemeClr val="tx1"/>
                  </a:solidFill>
                  <a:latin typeface="Times New Roman" panose="02020603050405020304" pitchFamily="18" charset="0"/>
                </a:rPr>
                <a:t>= (24,16)</a:t>
              </a:r>
              <a:r>
                <a:rPr kumimoji="1" lang="en-US" altLang="zh-CN" sz="2800" b="0" baseline="30000" dirty="0">
                  <a:solidFill>
                    <a:schemeClr val="tx1"/>
                  </a:solidFill>
                  <a:latin typeface="Times New Roman" panose="02020603050405020304" pitchFamily="18" charset="0"/>
                </a:rPr>
                <a:t>T</a:t>
              </a:r>
              <a:r>
                <a:rPr kumimoji="1" lang="en-US" altLang="zh-CN" sz="2800" b="0" dirty="0">
                  <a:solidFill>
                    <a:schemeClr val="tx1"/>
                  </a:solidFill>
                  <a:latin typeface="Times New Roman" panose="02020603050405020304" pitchFamily="18" charset="0"/>
                </a:rPr>
                <a:t>, </a:t>
              </a:r>
              <a:r>
                <a:rPr kumimoji="1" lang="zh-CN" altLang="en-US" sz="2800" b="0" dirty="0">
                  <a:solidFill>
                    <a:schemeClr val="tx1"/>
                  </a:solidFill>
                  <a:latin typeface="Times New Roman" panose="02020603050405020304" pitchFamily="18" charset="0"/>
                </a:rPr>
                <a:t>即</a:t>
              </a:r>
              <a:r>
                <a:rPr kumimoji="1" lang="en-US" altLang="zh-CN" sz="2800" b="0" dirty="0">
                  <a:solidFill>
                    <a:schemeClr val="tx1"/>
                  </a:solidFill>
                  <a:latin typeface="Times New Roman" panose="02020603050405020304" pitchFamily="18" charset="0"/>
                </a:rPr>
                <a:t>YQ</a:t>
              </a:r>
            </a:p>
          </p:txBody>
        </p:sp>
      </p:grpSp>
    </p:spTree>
    <p:extLst>
      <p:ext uri="{BB962C8B-B14F-4D97-AF65-F5344CB8AC3E}">
        <p14:creationId xmlns:p14="http://schemas.microsoft.com/office/powerpoint/2010/main" val="2321655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3.6.2 Hill</a:t>
            </a:r>
            <a:r>
              <a:rPr lang="zh-CN" altLang="en-US" dirty="0"/>
              <a:t>密码</a:t>
            </a:r>
          </a:p>
        </p:txBody>
      </p:sp>
      <p:sp>
        <p:nvSpPr>
          <p:cNvPr id="3" name="内容占位符 2"/>
          <p:cNvSpPr>
            <a:spLocks noGrp="1"/>
          </p:cNvSpPr>
          <p:nvPr>
            <p:ph idx="1"/>
          </p:nvPr>
        </p:nvSpPr>
        <p:spPr>
          <a:xfrm>
            <a:off x="862445" y="1308881"/>
            <a:ext cx="10467109" cy="4982116"/>
          </a:xfrm>
        </p:spPr>
        <p:txBody>
          <a:bodyPr>
            <a:normAutofit/>
          </a:bodyPr>
          <a:lstStyle/>
          <a:p>
            <a:pPr>
              <a:lnSpc>
                <a:spcPct val="150000"/>
              </a:lnSpc>
            </a:pPr>
            <a:r>
              <a:rPr lang="zh-CN" altLang="en-US" dirty="0"/>
              <a:t>解密时使用</a:t>
            </a:r>
            <a:r>
              <a:rPr lang="en-US" altLang="zh-CN" b="1" dirty="0"/>
              <a:t>K</a:t>
            </a:r>
            <a:r>
              <a:rPr lang="zh-CN" altLang="en-US" dirty="0"/>
              <a:t>的逆矩阵</a:t>
            </a:r>
            <a:r>
              <a:rPr lang="en-US" altLang="zh-CN" b="1" dirty="0"/>
              <a:t>K</a:t>
            </a:r>
            <a:r>
              <a:rPr lang="en-US" altLang="zh-CN" baseline="30000" dirty="0"/>
              <a:t>-1</a:t>
            </a:r>
            <a:r>
              <a:rPr lang="zh-CN" altLang="en-US" dirty="0"/>
              <a:t>：</a:t>
            </a:r>
            <a:endParaRPr lang="en-US" altLang="zh-CN" dirty="0"/>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44</a:t>
            </a:fld>
            <a:endParaRPr kumimoji="1" lang="zh-CN" altLang="en-US" dirty="0"/>
          </a:p>
        </p:txBody>
      </p:sp>
      <p:pic>
        <p:nvPicPr>
          <p:cNvPr id="46"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8924" y="2196646"/>
            <a:ext cx="631507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90BCE6A-59F6-63C3-8CB1-0A07FCBAB054}"/>
                  </a:ext>
                </a:extLst>
              </p:cNvPr>
              <p:cNvSpPr txBox="1"/>
              <p:nvPr/>
            </p:nvSpPr>
            <p:spPr>
              <a:xfrm>
                <a:off x="2366984" y="4642518"/>
                <a:ext cx="6101860" cy="470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𝐊</m:t>
                          </m:r>
                        </m:e>
                        <m:sup>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𝟏</m:t>
                          </m:r>
                        </m:sup>
                      </m:sSup>
                      <m:r>
                        <a:rPr lang="zh-CN" altLang="en-US" sz="2400" i="1">
                          <a:solidFill>
                            <a:srgbClr val="FF0000"/>
                          </a:solidFill>
                          <a:latin typeface="Cambria Math" panose="02040503050406030204" pitchFamily="18" charset="0"/>
                        </a:rPr>
                        <m:t>=</m:t>
                      </m:r>
                      <m:d>
                        <m:dPr>
                          <m:ctrlPr>
                            <a:rPr lang="zh-CN" altLang="en-US" sz="2400" i="1">
                              <a:solidFill>
                                <a:srgbClr val="FF0000"/>
                              </a:solidFill>
                              <a:latin typeface="Cambria Math" panose="02040503050406030204" pitchFamily="18" charset="0"/>
                            </a:rPr>
                          </m:ctrlPr>
                        </m:dPr>
                        <m:e>
                          <m:sSup>
                            <m:sSupPr>
                              <m:ctrlPr>
                                <a:rPr lang="zh-CN" altLang="en-US" sz="2400" i="1">
                                  <a:solidFill>
                                    <a:srgbClr val="FF0000"/>
                                  </a:solidFill>
                                  <a:latin typeface="Cambria Math" panose="02040503050406030204" pitchFamily="18" charset="0"/>
                                </a:rPr>
                              </m:ctrlPr>
                            </m:sSupPr>
                            <m:e>
                              <m:d>
                                <m:dPr>
                                  <m:begChr m:val="|"/>
                                  <m:endChr m:val="|"/>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𝐊</m:t>
                                  </m:r>
                                </m:e>
                              </m:d>
                            </m:e>
                            <m:sup>
                              <m:r>
                                <a:rPr lang="zh-CN" altLang="en-US" sz="2400" i="1">
                                  <a:solidFill>
                                    <a:srgbClr val="FF0000"/>
                                  </a:solidFill>
                                  <a:latin typeface="Cambria Math" panose="02040503050406030204" pitchFamily="18" charset="0"/>
                                </a:rPr>
                                <m:t>−1</m:t>
                              </m:r>
                            </m:sup>
                          </m:sSup>
                          <m:r>
                            <a:rPr lang="en-US" altLang="zh-CN" sz="2400" b="0" i="1" smtClean="0">
                              <a:solidFill>
                                <a:srgbClr val="FF0000"/>
                              </a:solidFill>
                              <a:latin typeface="Cambria Math" panose="02040503050406030204" pitchFamily="18" charset="0"/>
                            </a:rPr>
                            <m:t> </m:t>
                          </m:r>
                          <m:r>
                            <m:rPr>
                              <m:sty m:val="p"/>
                            </m:rPr>
                            <a:rPr lang="zh-CN" altLang="en-US" sz="2400" i="1">
                              <a:solidFill>
                                <a:srgbClr val="FF0000"/>
                              </a:solidFill>
                              <a:latin typeface="Cambria Math" panose="02040503050406030204" pitchFamily="18" charset="0"/>
                            </a:rPr>
                            <m:t>mod</m:t>
                          </m:r>
                          <m:r>
                            <a:rPr lang="en-US" altLang="zh-CN" sz="2400" b="0" i="1" smtClean="0">
                              <a:solidFill>
                                <a:srgbClr val="FF0000"/>
                              </a:solidFill>
                              <a:latin typeface="Cambria Math" panose="02040503050406030204" pitchFamily="18" charset="0"/>
                            </a:rPr>
                            <m:t> </m:t>
                          </m:r>
                          <m:r>
                            <a:rPr lang="zh-CN" altLang="en-US" sz="2400" i="1">
                              <a:solidFill>
                                <a:srgbClr val="FF0000"/>
                              </a:solidFill>
                              <a:latin typeface="Cambria Math" panose="02040503050406030204" pitchFamily="18" charset="0"/>
                            </a:rPr>
                            <m:t>𝑛</m:t>
                          </m:r>
                        </m:e>
                      </m:d>
                      <m:r>
                        <a:rPr lang="zh-CN" altLang="en-US" sz="2400" i="1">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𝐊</m:t>
                          </m:r>
                        </m:e>
                        <m:sup>
                          <m:r>
                            <a:rPr lang="zh-CN" altLang="en-US" sz="2400" i="1">
                              <a:solidFill>
                                <a:srgbClr val="FF0000"/>
                              </a:solidFill>
                              <a:latin typeface="Cambria Math" panose="02040503050406030204" pitchFamily="18" charset="0"/>
                            </a:rPr>
                            <m:t>∗</m:t>
                          </m:r>
                        </m:sup>
                      </m:sSup>
                      <m:r>
                        <a:rPr lang="en-US" altLang="zh-CN" sz="2400" b="0" i="1" smtClean="0">
                          <a:solidFill>
                            <a:srgbClr val="FF0000"/>
                          </a:solidFill>
                          <a:latin typeface="Cambria Math" panose="02040503050406030204" pitchFamily="18" charset="0"/>
                        </a:rPr>
                        <m:t>  </m:t>
                      </m:r>
                      <m:r>
                        <m:rPr>
                          <m:sty m:val="p"/>
                        </m:rPr>
                        <a:rPr lang="zh-CN" altLang="en-US" sz="2400" i="1">
                          <a:solidFill>
                            <a:srgbClr val="FF0000"/>
                          </a:solidFill>
                          <a:latin typeface="Cambria Math" panose="02040503050406030204" pitchFamily="18" charset="0"/>
                        </a:rPr>
                        <m:t>mo</m:t>
                      </m:r>
                      <m:r>
                        <m:rPr>
                          <m:sty m:val="p"/>
                        </m:rPr>
                        <a:rPr lang="zh-CN" altLang="en-US" sz="2400" i="1" smtClean="0">
                          <a:solidFill>
                            <a:srgbClr val="FF0000"/>
                          </a:solidFill>
                          <a:latin typeface="Cambria Math" panose="02040503050406030204" pitchFamily="18" charset="0"/>
                        </a:rPr>
                        <m:t>d</m:t>
                      </m:r>
                      <m:r>
                        <a:rPr lang="en-US" altLang="zh-CN" sz="2400" b="0" i="1" smtClean="0">
                          <a:solidFill>
                            <a:srgbClr val="FF0000"/>
                          </a:solidFill>
                          <a:latin typeface="Cambria Math" panose="02040503050406030204" pitchFamily="18" charset="0"/>
                        </a:rPr>
                        <m:t>  </m:t>
                      </m:r>
                      <m:r>
                        <a:rPr lang="zh-CN" altLang="en-US" sz="2400" i="1">
                          <a:solidFill>
                            <a:srgbClr val="FF0000"/>
                          </a:solidFill>
                          <a:latin typeface="Cambria Math" panose="02040503050406030204" pitchFamily="18" charset="0"/>
                        </a:rPr>
                        <m:t>𝑛</m:t>
                      </m:r>
                    </m:oMath>
                  </m:oMathPara>
                </a14:m>
                <a:endParaRPr lang="zh-CN" altLang="en-US" sz="2400" dirty="0">
                  <a:solidFill>
                    <a:srgbClr val="FF0000"/>
                  </a:solidFill>
                </a:endParaRPr>
              </a:p>
            </p:txBody>
          </p:sp>
        </mc:Choice>
        <mc:Fallback xmlns="">
          <p:sp>
            <p:nvSpPr>
              <p:cNvPr id="6" name="文本框 5">
                <a:extLst>
                  <a:ext uri="{FF2B5EF4-FFF2-40B4-BE49-F238E27FC236}">
                    <a16:creationId xmlns:a16="http://schemas.microsoft.com/office/drawing/2014/main" id="{190BCE6A-59F6-63C3-8CB1-0A07FCBAB054}"/>
                  </a:ext>
                </a:extLst>
              </p:cNvPr>
              <p:cNvSpPr txBox="1">
                <a:spLocks noRot="1" noChangeAspect="1" noMove="1" noResize="1" noEditPoints="1" noAdjustHandles="1" noChangeArrowheads="1" noChangeShapeType="1" noTextEdit="1"/>
              </p:cNvSpPr>
              <p:nvPr/>
            </p:nvSpPr>
            <p:spPr>
              <a:xfrm>
                <a:off x="2366984" y="4642518"/>
                <a:ext cx="6101860" cy="470000"/>
              </a:xfrm>
              <a:prstGeom prst="rect">
                <a:avLst/>
              </a:prstGeom>
              <a:blipFill>
                <a:blip r:embed="rId3"/>
                <a:stretch>
                  <a:fillRect/>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2D664798-6FD9-4B93-CCB8-C9580ED26ABE}"/>
              </a:ext>
            </a:extLst>
          </p:cNvPr>
          <p:cNvPicPr>
            <a:picLocks noChangeAspect="1"/>
          </p:cNvPicPr>
          <p:nvPr/>
        </p:nvPicPr>
        <p:blipFill>
          <a:blip r:embed="rId4"/>
          <a:stretch>
            <a:fillRect/>
          </a:stretch>
        </p:blipFill>
        <p:spPr>
          <a:xfrm>
            <a:off x="8522137" y="4322573"/>
            <a:ext cx="2605757" cy="1182876"/>
          </a:xfrm>
          <a:prstGeom prst="rect">
            <a:avLst/>
          </a:prstGeom>
        </p:spPr>
      </p:pic>
      <p:sp>
        <p:nvSpPr>
          <p:cNvPr id="10" name="箭头: 右 9">
            <a:extLst>
              <a:ext uri="{FF2B5EF4-FFF2-40B4-BE49-F238E27FC236}">
                <a16:creationId xmlns:a16="http://schemas.microsoft.com/office/drawing/2014/main" id="{A05AA330-8EC3-ABA9-BD7F-315A87C25367}"/>
              </a:ext>
            </a:extLst>
          </p:cNvPr>
          <p:cNvSpPr/>
          <p:nvPr/>
        </p:nvSpPr>
        <p:spPr>
          <a:xfrm>
            <a:off x="8010061" y="5008461"/>
            <a:ext cx="485429" cy="263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346D494E-60B8-4502-B29E-DFA361206ECD}"/>
              </a:ext>
            </a:extLst>
          </p:cNvPr>
          <p:cNvPicPr>
            <a:picLocks noChangeAspect="1"/>
          </p:cNvPicPr>
          <p:nvPr/>
        </p:nvPicPr>
        <p:blipFill>
          <a:blip r:embed="rId5"/>
          <a:stretch>
            <a:fillRect/>
          </a:stretch>
        </p:blipFill>
        <p:spPr>
          <a:xfrm>
            <a:off x="8903999" y="1674824"/>
            <a:ext cx="2821539" cy="1360491"/>
          </a:xfrm>
          <a:prstGeom prst="rect">
            <a:avLst/>
          </a:prstGeom>
        </p:spPr>
      </p:pic>
    </p:spTree>
    <p:extLst>
      <p:ext uri="{BB962C8B-B14F-4D97-AF65-F5344CB8AC3E}">
        <p14:creationId xmlns:p14="http://schemas.microsoft.com/office/powerpoint/2010/main" val="609846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189381"/>
          </a:xfrm>
        </p:spPr>
        <p:txBody>
          <a:bodyPr>
            <a:normAutofit/>
          </a:bodyPr>
          <a:lstStyle/>
          <a:p>
            <a:pPr>
              <a:buNone/>
            </a:pPr>
            <a:r>
              <a:rPr lang="en-US" altLang="zh-CN" sz="3200" dirty="0"/>
              <a:t>3.1 </a:t>
            </a:r>
            <a:r>
              <a:rPr lang="zh-CN" altLang="en-US" sz="3200" dirty="0"/>
              <a:t>密码学的起源与发展</a:t>
            </a:r>
            <a:endParaRPr lang="en-US" altLang="zh-CN" sz="3200" dirty="0"/>
          </a:p>
          <a:p>
            <a:pPr>
              <a:buNone/>
            </a:pPr>
            <a:r>
              <a:rPr lang="en-US" altLang="zh-CN" sz="3200" dirty="0"/>
              <a:t>3.2 </a:t>
            </a:r>
            <a:r>
              <a:rPr lang="zh-CN" altLang="en-US" sz="3200" dirty="0"/>
              <a:t>换位法</a:t>
            </a:r>
          </a:p>
          <a:p>
            <a:pPr>
              <a:buNone/>
            </a:pPr>
            <a:r>
              <a:rPr lang="en-US" altLang="zh-CN" sz="3200" dirty="0"/>
              <a:t>3.3 </a:t>
            </a:r>
            <a:r>
              <a:rPr lang="zh-CN" altLang="en-US" sz="3200" dirty="0"/>
              <a:t>简单代替密码</a:t>
            </a:r>
          </a:p>
          <a:p>
            <a:pPr>
              <a:buNone/>
            </a:pPr>
            <a:r>
              <a:rPr lang="en-US" altLang="zh-CN" sz="3200" dirty="0"/>
              <a:t>3.4 </a:t>
            </a:r>
            <a:r>
              <a:rPr lang="zh-CN" altLang="en-US" sz="3200" dirty="0"/>
              <a:t>同音代替密码</a:t>
            </a:r>
          </a:p>
          <a:p>
            <a:pPr>
              <a:buNone/>
            </a:pPr>
            <a:r>
              <a:rPr lang="en-US" altLang="zh-CN" sz="3200" dirty="0"/>
              <a:t>3.5 </a:t>
            </a:r>
            <a:r>
              <a:rPr lang="zh-CN" altLang="en-US" sz="3200" dirty="0"/>
              <a:t>多表代替密码</a:t>
            </a:r>
          </a:p>
          <a:p>
            <a:pPr>
              <a:buNone/>
            </a:pPr>
            <a:r>
              <a:rPr lang="en-US" altLang="zh-CN" sz="3200" dirty="0"/>
              <a:t>3.6 </a:t>
            </a:r>
            <a:r>
              <a:rPr lang="zh-CN" altLang="en-US" sz="3200" dirty="0"/>
              <a:t>多字母组代替密码</a:t>
            </a:r>
            <a:endParaRPr lang="en-US" altLang="zh-CN" sz="3200" dirty="0"/>
          </a:p>
          <a:p>
            <a:pPr>
              <a:buNone/>
            </a:pPr>
            <a:r>
              <a:rPr lang="en-US" altLang="zh-CN" sz="3200" dirty="0">
                <a:solidFill>
                  <a:srgbClr val="FF0000"/>
                </a:solidFill>
              </a:rPr>
              <a:t>3.7 </a:t>
            </a:r>
            <a:r>
              <a:rPr lang="zh-CN" altLang="en-US" sz="3200" dirty="0">
                <a:solidFill>
                  <a:srgbClr val="FF0000"/>
                </a:solidFill>
              </a:rPr>
              <a:t>古典密码分析</a:t>
            </a:r>
            <a:endParaRPr lang="en-US" altLang="zh-CN" sz="3200" dirty="0">
              <a:solidFill>
                <a:srgbClr val="FF0000"/>
              </a:solidFill>
            </a:endParaRPr>
          </a:p>
          <a:p>
            <a:pPr>
              <a:buNone/>
            </a:pPr>
            <a:endParaRPr lang="zh-CN" altLang="en-US" sz="32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567053" y="2049076"/>
            <a:ext cx="4370121" cy="3995464"/>
          </a:xfrm>
          <a:prstGeom prst="wedgeRectCallout">
            <a:avLst>
              <a:gd name="adj1" fmla="val -89411"/>
              <a:gd name="adj2" fmla="val 2488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密码分析与破译</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密码算法的安全性</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换位密码分析</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单表代替密码分析</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多表代替密码分析</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Vernam</a:t>
            </a:r>
            <a:r>
              <a:rPr kumimoji="1" lang="zh-CN" altLang="en-US" sz="2400" dirty="0">
                <a:solidFill>
                  <a:prstClr val="black"/>
                </a:solidFill>
                <a:latin typeface="Microsoft YaHei" panose="020B0503020204020204" pitchFamily="34" charset="-122"/>
                <a:ea typeface="Microsoft YaHei" panose="020B0503020204020204" pitchFamily="34" charset="-122"/>
              </a:rPr>
              <a:t>密码与一次一密</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对</a:t>
            </a:r>
            <a:r>
              <a:rPr kumimoji="1" lang="en-US" altLang="zh-CN" sz="2400" dirty="0">
                <a:solidFill>
                  <a:prstClr val="black"/>
                </a:solidFill>
                <a:latin typeface="Microsoft YaHei" panose="020B0503020204020204" pitchFamily="34" charset="-122"/>
                <a:ea typeface="Microsoft YaHei" panose="020B0503020204020204" pitchFamily="34" charset="-122"/>
              </a:rPr>
              <a:t>Hill</a:t>
            </a:r>
            <a:r>
              <a:rPr kumimoji="1" lang="zh-CN" altLang="en-US" sz="2400" dirty="0">
                <a:solidFill>
                  <a:prstClr val="black"/>
                </a:solidFill>
                <a:latin typeface="Microsoft YaHei" panose="020B0503020204020204" pitchFamily="34" charset="-122"/>
                <a:ea typeface="Microsoft YaHei" panose="020B0503020204020204" pitchFamily="34" charset="-122"/>
              </a:rPr>
              <a:t>密码的已知明文分析</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1706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3.7.1 </a:t>
            </a:r>
            <a:r>
              <a:rPr lang="zh-CN" altLang="en-US" dirty="0"/>
              <a:t>密码分析与破译</a:t>
            </a:r>
          </a:p>
        </p:txBody>
      </p:sp>
      <p:sp>
        <p:nvSpPr>
          <p:cNvPr id="3" name="内容占位符 2"/>
          <p:cNvSpPr>
            <a:spLocks noGrp="1"/>
          </p:cNvSpPr>
          <p:nvPr>
            <p:ph idx="1"/>
          </p:nvPr>
        </p:nvSpPr>
        <p:spPr>
          <a:xfrm>
            <a:off x="838200" y="1308881"/>
            <a:ext cx="10467109" cy="4982116"/>
          </a:xfrm>
        </p:spPr>
        <p:txBody>
          <a:bodyPr>
            <a:normAutofit fontScale="92500" lnSpcReduction="10000"/>
          </a:bodyPr>
          <a:lstStyle/>
          <a:p>
            <a:pPr>
              <a:lnSpc>
                <a:spcPct val="130000"/>
              </a:lnSpc>
            </a:pPr>
            <a:r>
              <a:rPr lang="zh-CN" altLang="en-US" dirty="0">
                <a:solidFill>
                  <a:srgbClr val="C00000"/>
                </a:solidFill>
              </a:rPr>
              <a:t>密码分析</a:t>
            </a:r>
            <a:r>
              <a:rPr lang="zh-CN" altLang="en-US" dirty="0"/>
              <a:t>：假设破译者</a:t>
            </a:r>
            <a:r>
              <a:rPr lang="en-US" altLang="zh-CN" dirty="0"/>
              <a:t>Oscar</a:t>
            </a:r>
            <a:r>
              <a:rPr lang="zh-CN" altLang="en-US" dirty="0"/>
              <a:t>是在已知密码体制的前提下来破译</a:t>
            </a:r>
            <a:r>
              <a:rPr lang="en-US" altLang="zh-CN" dirty="0"/>
              <a:t>Bob</a:t>
            </a:r>
            <a:r>
              <a:rPr lang="zh-CN" altLang="en-US" dirty="0"/>
              <a:t>使用的密钥。这个假设称为</a:t>
            </a:r>
            <a:r>
              <a:rPr lang="en-US" altLang="zh-CN" dirty="0">
                <a:solidFill>
                  <a:srgbClr val="C00000"/>
                </a:solidFill>
              </a:rPr>
              <a:t>Kerckhoff</a:t>
            </a:r>
            <a:r>
              <a:rPr lang="zh-CN" altLang="en-US" dirty="0">
                <a:solidFill>
                  <a:srgbClr val="C00000"/>
                </a:solidFill>
              </a:rPr>
              <a:t>柯克霍夫原则</a:t>
            </a:r>
            <a:r>
              <a:rPr lang="zh-CN" altLang="en-US" dirty="0"/>
              <a:t>。最常见的破解类型如下：</a:t>
            </a:r>
            <a:endParaRPr lang="en-US" altLang="zh-CN" dirty="0"/>
          </a:p>
          <a:p>
            <a:pPr lvl="1">
              <a:lnSpc>
                <a:spcPct val="130000"/>
              </a:lnSpc>
              <a:buClr>
                <a:srgbClr val="000066"/>
              </a:buClr>
            </a:pPr>
            <a:r>
              <a:rPr lang="en-US" altLang="zh-CN" dirty="0"/>
              <a:t>1.</a:t>
            </a:r>
            <a:r>
              <a:rPr lang="zh-CN" altLang="en-US" dirty="0">
                <a:solidFill>
                  <a:srgbClr val="C00000"/>
                </a:solidFill>
              </a:rPr>
              <a:t>唯密文攻击</a:t>
            </a:r>
            <a:r>
              <a:rPr lang="zh-CN" altLang="en-US" dirty="0"/>
              <a:t>：</a:t>
            </a:r>
            <a:r>
              <a:rPr lang="en-US" altLang="zh-CN" dirty="0"/>
              <a:t>Oscar</a:t>
            </a:r>
            <a:r>
              <a:rPr lang="zh-CN" altLang="en-US" dirty="0"/>
              <a:t>具有密文串</a:t>
            </a:r>
            <a:r>
              <a:rPr lang="en-US" altLang="zh-CN" dirty="0"/>
              <a:t>y.</a:t>
            </a:r>
          </a:p>
          <a:p>
            <a:pPr lvl="1">
              <a:lnSpc>
                <a:spcPct val="130000"/>
              </a:lnSpc>
              <a:buClr>
                <a:srgbClr val="000066"/>
              </a:buClr>
            </a:pPr>
            <a:r>
              <a:rPr lang="en-US" altLang="zh-CN" dirty="0"/>
              <a:t>2.</a:t>
            </a:r>
            <a:r>
              <a:rPr lang="zh-CN" altLang="en-US" dirty="0">
                <a:solidFill>
                  <a:srgbClr val="C00000"/>
                </a:solidFill>
              </a:rPr>
              <a:t>已知明文攻击</a:t>
            </a:r>
            <a:r>
              <a:rPr lang="en-US" altLang="zh-CN" dirty="0"/>
              <a:t>: Oscar</a:t>
            </a:r>
            <a:r>
              <a:rPr lang="zh-CN" altLang="en-US" dirty="0"/>
              <a:t>具有明文串</a:t>
            </a:r>
            <a:r>
              <a:rPr lang="en-US" altLang="zh-CN" dirty="0"/>
              <a:t>x</a:t>
            </a:r>
            <a:r>
              <a:rPr lang="zh-CN" altLang="en-US" dirty="0"/>
              <a:t>和相应的密文</a:t>
            </a:r>
            <a:r>
              <a:rPr lang="en-US" altLang="zh-CN" dirty="0"/>
              <a:t>y.</a:t>
            </a:r>
          </a:p>
          <a:p>
            <a:pPr lvl="1">
              <a:lnSpc>
                <a:spcPct val="130000"/>
              </a:lnSpc>
              <a:buClr>
                <a:srgbClr val="000066"/>
              </a:buClr>
            </a:pPr>
            <a:r>
              <a:rPr lang="en-US" altLang="zh-CN" dirty="0"/>
              <a:t>3.</a:t>
            </a:r>
            <a:r>
              <a:rPr lang="zh-CN" altLang="en-US" dirty="0">
                <a:solidFill>
                  <a:srgbClr val="C00000"/>
                </a:solidFill>
              </a:rPr>
              <a:t>选择明文攻击</a:t>
            </a:r>
            <a:r>
              <a:rPr lang="zh-CN" altLang="en-US" dirty="0"/>
              <a:t>：</a:t>
            </a:r>
            <a:r>
              <a:rPr lang="en-US" altLang="zh-CN" dirty="0"/>
              <a:t>Oscar</a:t>
            </a:r>
            <a:r>
              <a:rPr lang="zh-CN" altLang="en-US" dirty="0"/>
              <a:t>可获得对加密机的暂时访问， 因此他能选择明文串</a:t>
            </a:r>
            <a:r>
              <a:rPr lang="en-US" altLang="zh-CN" dirty="0"/>
              <a:t>x</a:t>
            </a:r>
            <a:r>
              <a:rPr lang="zh-CN" altLang="en-US" dirty="0"/>
              <a:t>并构造出相应的密文串</a:t>
            </a:r>
            <a:r>
              <a:rPr lang="en-US" altLang="zh-CN" dirty="0"/>
              <a:t>y</a:t>
            </a:r>
            <a:r>
              <a:rPr lang="zh-CN" altLang="en-US" dirty="0"/>
              <a:t>。</a:t>
            </a:r>
          </a:p>
          <a:p>
            <a:pPr lvl="1">
              <a:lnSpc>
                <a:spcPct val="130000"/>
              </a:lnSpc>
              <a:buClr>
                <a:srgbClr val="000066"/>
              </a:buClr>
            </a:pPr>
            <a:r>
              <a:rPr lang="en-US" altLang="zh-CN" dirty="0"/>
              <a:t>4.</a:t>
            </a:r>
            <a:r>
              <a:rPr lang="zh-CN" altLang="en-US" dirty="0">
                <a:solidFill>
                  <a:srgbClr val="C00000"/>
                </a:solidFill>
              </a:rPr>
              <a:t>选择密文攻击</a:t>
            </a:r>
            <a:r>
              <a:rPr lang="zh-CN" altLang="en-US" dirty="0"/>
              <a:t>： </a:t>
            </a:r>
            <a:r>
              <a:rPr lang="en-US" altLang="zh-CN" dirty="0"/>
              <a:t>Oscar</a:t>
            </a:r>
            <a:r>
              <a:rPr lang="zh-CN" altLang="en-US" dirty="0"/>
              <a:t>可暂时接近密码机</a:t>
            </a:r>
            <a:r>
              <a:rPr lang="en-US" altLang="zh-CN" dirty="0"/>
              <a:t>,</a:t>
            </a:r>
            <a:r>
              <a:rPr lang="zh-CN" altLang="en-US" dirty="0"/>
              <a:t>可选择密文串</a:t>
            </a:r>
            <a:r>
              <a:rPr lang="en-US" altLang="zh-CN" dirty="0"/>
              <a:t>y</a:t>
            </a:r>
            <a:r>
              <a:rPr lang="zh-CN" altLang="en-US" dirty="0"/>
              <a:t>，并构造出相应的明文</a:t>
            </a:r>
            <a:r>
              <a:rPr lang="en-US" altLang="zh-CN" dirty="0"/>
              <a:t>x.</a:t>
            </a:r>
          </a:p>
          <a:p>
            <a:pPr>
              <a:lnSpc>
                <a:spcPct val="130000"/>
              </a:lnSpc>
            </a:pPr>
            <a:r>
              <a:rPr lang="zh-CN" altLang="en-US" dirty="0"/>
              <a:t>这一切的目的在于</a:t>
            </a:r>
            <a:r>
              <a:rPr lang="zh-CN" altLang="en-US" dirty="0">
                <a:solidFill>
                  <a:srgbClr val="FF0000"/>
                </a:solidFill>
              </a:rPr>
              <a:t>破译出密钥或密文</a:t>
            </a:r>
            <a:endParaRPr lang="en-US" altLang="zh-CN" dirty="0"/>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46</a:t>
            </a:fld>
            <a:endParaRPr kumimoji="1" lang="zh-CN" altLang="en-US" dirty="0"/>
          </a:p>
        </p:txBody>
      </p:sp>
    </p:spTree>
    <p:extLst>
      <p:ext uri="{BB962C8B-B14F-4D97-AF65-F5344CB8AC3E}">
        <p14:creationId xmlns:p14="http://schemas.microsoft.com/office/powerpoint/2010/main" val="1759902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3.7.1 </a:t>
            </a:r>
            <a:r>
              <a:rPr lang="zh-CN" altLang="en-US" dirty="0"/>
              <a:t>密码分析与破译</a:t>
            </a:r>
          </a:p>
        </p:txBody>
      </p:sp>
      <p:sp>
        <p:nvSpPr>
          <p:cNvPr id="3" name="内容占位符 2"/>
          <p:cNvSpPr>
            <a:spLocks noGrp="1"/>
          </p:cNvSpPr>
          <p:nvPr>
            <p:ph idx="1"/>
          </p:nvPr>
        </p:nvSpPr>
        <p:spPr>
          <a:xfrm>
            <a:off x="838200" y="1308881"/>
            <a:ext cx="10467109" cy="4982116"/>
          </a:xfrm>
        </p:spPr>
        <p:txBody>
          <a:bodyPr>
            <a:normAutofit/>
          </a:bodyPr>
          <a:lstStyle/>
          <a:p>
            <a:pPr>
              <a:lnSpc>
                <a:spcPct val="130000"/>
              </a:lnSpc>
            </a:pPr>
            <a:r>
              <a:rPr lang="zh-CN" altLang="en-US" dirty="0">
                <a:solidFill>
                  <a:srgbClr val="C00000"/>
                </a:solidFill>
              </a:rPr>
              <a:t>密码破译</a:t>
            </a:r>
            <a:endParaRPr lang="en-US" altLang="zh-CN" dirty="0">
              <a:solidFill>
                <a:srgbClr val="C00000"/>
              </a:solidFill>
            </a:endParaRPr>
          </a:p>
          <a:p>
            <a:pPr lvl="1"/>
            <a:r>
              <a:rPr lang="zh-CN" altLang="en-US" dirty="0"/>
              <a:t>密码破译的原则</a:t>
            </a:r>
            <a:r>
              <a:rPr lang="en-US" altLang="zh-CN" dirty="0"/>
              <a:t>: </a:t>
            </a:r>
            <a:r>
              <a:rPr lang="zh-CN" altLang="en-US" dirty="0"/>
              <a:t>遵循观察与经验</a:t>
            </a:r>
          </a:p>
          <a:p>
            <a:pPr lvl="1"/>
            <a:r>
              <a:rPr lang="zh-CN" altLang="en-US" dirty="0"/>
              <a:t>方法</a:t>
            </a:r>
            <a:r>
              <a:rPr lang="en-US" altLang="zh-CN" dirty="0"/>
              <a:t>:</a:t>
            </a:r>
            <a:r>
              <a:rPr lang="zh-CN" altLang="en-US" dirty="0"/>
              <a:t>采用归纳与演绎</a:t>
            </a:r>
          </a:p>
          <a:p>
            <a:pPr lvl="1"/>
            <a:r>
              <a:rPr lang="zh-CN" altLang="en-US" dirty="0"/>
              <a:t>步骤</a:t>
            </a:r>
            <a:r>
              <a:rPr lang="en-US" altLang="zh-CN" dirty="0"/>
              <a:t>:</a:t>
            </a:r>
          </a:p>
          <a:p>
            <a:pPr lvl="1"/>
            <a:r>
              <a:rPr lang="zh-CN" altLang="en-US" dirty="0"/>
              <a:t>三大要素：</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47</a:t>
            </a:fld>
            <a:endParaRPr kumimoji="1" lang="zh-CN" altLang="en-US" dirty="0"/>
          </a:p>
        </p:txBody>
      </p:sp>
      <p:sp>
        <p:nvSpPr>
          <p:cNvPr id="8" name="文本框 7">
            <a:extLst>
              <a:ext uri="{FF2B5EF4-FFF2-40B4-BE49-F238E27FC236}">
                <a16:creationId xmlns:a16="http://schemas.microsoft.com/office/drawing/2014/main" id="{BD768026-BAD3-9DE3-EB18-ACDED431960A}"/>
              </a:ext>
            </a:extLst>
          </p:cNvPr>
          <p:cNvSpPr txBox="1"/>
          <p:nvPr/>
        </p:nvSpPr>
        <p:spPr>
          <a:xfrm>
            <a:off x="1784838" y="3799939"/>
            <a:ext cx="9187962" cy="2677656"/>
          </a:xfrm>
          <a:prstGeom prst="rect">
            <a:avLst/>
          </a:prstGeom>
          <a:noFill/>
        </p:spPr>
        <p:txBody>
          <a:bodyPr wrap="square">
            <a:spAutoFit/>
          </a:bodyPr>
          <a:lstStyle/>
          <a:p>
            <a:pPr>
              <a:buNone/>
            </a:pPr>
            <a:r>
              <a:rPr lang="zh-CN" altLang="en-US" sz="2400" b="1" dirty="0">
                <a:effectLst/>
                <a:latin typeface="Google Sans Text"/>
              </a:rPr>
              <a:t>语言的频率特征</a:t>
            </a:r>
            <a:r>
              <a:rPr lang="zh-CN" altLang="en-US" sz="2400" dirty="0">
                <a:effectLst/>
                <a:latin typeface="Google Sans Text"/>
              </a:rPr>
              <a:t>：单个字母的出现概率极度不均匀。字母 </a:t>
            </a:r>
            <a:r>
              <a:rPr lang="en-US" altLang="zh-CN" sz="2400" b="1" dirty="0">
                <a:effectLst/>
                <a:latin typeface="Google Sans Text"/>
              </a:rPr>
              <a:t>e</a:t>
            </a:r>
            <a:r>
              <a:rPr lang="zh-CN" altLang="en-US" sz="2400" dirty="0">
                <a:effectLst/>
                <a:latin typeface="Google Sans Text"/>
              </a:rPr>
              <a:t> 独霸天下（</a:t>
            </a:r>
            <a:r>
              <a:rPr lang="en-US" altLang="zh-CN" sz="2400" dirty="0">
                <a:effectLst/>
                <a:latin typeface="Google Sans Text"/>
              </a:rPr>
              <a:t>12.7%</a:t>
            </a:r>
            <a:r>
              <a:rPr lang="zh-CN" altLang="en-US" sz="2400" dirty="0">
                <a:effectLst/>
                <a:latin typeface="Google Sans Text"/>
              </a:rPr>
              <a:t>），其次是 </a:t>
            </a:r>
            <a:r>
              <a:rPr lang="en-US" altLang="zh-CN" sz="2400" dirty="0">
                <a:effectLst/>
                <a:latin typeface="Google Sans Text"/>
              </a:rPr>
              <a:t>t, a, o</a:t>
            </a:r>
            <a:r>
              <a:rPr lang="zh-CN" altLang="en-US" sz="2400" dirty="0">
                <a:effectLst/>
                <a:latin typeface="Google Sans Text"/>
              </a:rPr>
              <a:t>。</a:t>
            </a:r>
          </a:p>
          <a:p>
            <a:pPr>
              <a:buNone/>
            </a:pPr>
            <a:r>
              <a:rPr lang="zh-CN" altLang="en-US" sz="2400" b="1" dirty="0">
                <a:effectLst/>
                <a:latin typeface="Google Sans Text"/>
              </a:rPr>
              <a:t>连接特征（连字规律）</a:t>
            </a:r>
            <a:r>
              <a:rPr lang="zh-CN" altLang="en-US" sz="2400" dirty="0">
                <a:effectLst/>
                <a:latin typeface="Google Sans Text"/>
              </a:rPr>
              <a:t>：某些字母就像胶水一样固定连接。比如字母 </a:t>
            </a:r>
            <a:r>
              <a:rPr lang="en-US" altLang="zh-CN" sz="2400" b="1" dirty="0">
                <a:effectLst/>
                <a:latin typeface="Google Sans Text"/>
              </a:rPr>
              <a:t>q</a:t>
            </a:r>
            <a:r>
              <a:rPr lang="zh-CN" altLang="en-US" sz="2400" dirty="0">
                <a:effectLst/>
                <a:latin typeface="Google Sans Text"/>
              </a:rPr>
              <a:t> 后面雷打不动一定会跟着 </a:t>
            </a:r>
            <a:r>
              <a:rPr lang="en-US" altLang="zh-CN" sz="2400" b="1" dirty="0">
                <a:effectLst/>
                <a:latin typeface="Google Sans Text"/>
              </a:rPr>
              <a:t>u</a:t>
            </a:r>
            <a:r>
              <a:rPr lang="zh-CN" altLang="en-US" sz="2400" dirty="0">
                <a:effectLst/>
                <a:latin typeface="Google Sans Text"/>
              </a:rPr>
              <a:t>（如 </a:t>
            </a:r>
            <a:r>
              <a:rPr lang="en-US" altLang="zh-CN" sz="2400" i="1" dirty="0">
                <a:effectLst/>
                <a:latin typeface="Google Sans Text"/>
              </a:rPr>
              <a:t>queen, quick</a:t>
            </a:r>
            <a:r>
              <a:rPr lang="zh-CN" altLang="en-US" sz="2400" dirty="0">
                <a:effectLst/>
                <a:latin typeface="Google Sans Text"/>
              </a:rPr>
              <a:t>）；还有常用的 </a:t>
            </a:r>
            <a:r>
              <a:rPr lang="en-US" altLang="zh-CN" sz="2400" dirty="0">
                <a:effectLst/>
                <a:latin typeface="Google Sans Text"/>
              </a:rPr>
              <a:t>l e x </a:t>
            </a:r>
            <a:r>
              <a:rPr lang="zh-CN" altLang="en-US" sz="2400" dirty="0">
                <a:effectLst/>
                <a:latin typeface="Google Sans Text"/>
              </a:rPr>
              <a:t>组合。</a:t>
            </a:r>
          </a:p>
          <a:p>
            <a:pPr>
              <a:buNone/>
            </a:pPr>
            <a:r>
              <a:rPr lang="zh-CN" altLang="en-US" sz="2400" b="1" dirty="0">
                <a:effectLst/>
                <a:latin typeface="Google Sans Text"/>
              </a:rPr>
              <a:t>重复特征（高频词根尾缀）</a:t>
            </a:r>
            <a:r>
              <a:rPr lang="zh-CN" altLang="en-US" sz="2400" dirty="0">
                <a:effectLst/>
                <a:latin typeface="Google Sans Text"/>
              </a:rPr>
              <a:t>：在长文本中，</a:t>
            </a:r>
            <a:r>
              <a:rPr lang="en-US" altLang="zh-CN" sz="2400" b="1" dirty="0" err="1">
                <a:effectLst/>
                <a:latin typeface="Google Sans Text"/>
              </a:rPr>
              <a:t>th</a:t>
            </a:r>
            <a:r>
              <a:rPr lang="zh-CN" altLang="en-US" sz="2400" dirty="0">
                <a:effectLst/>
                <a:latin typeface="Google Sans Text"/>
              </a:rPr>
              <a:t>（冠词开头）、</a:t>
            </a:r>
            <a:r>
              <a:rPr lang="en-US" altLang="zh-CN" sz="2400" b="1" dirty="0" err="1">
                <a:effectLst/>
                <a:latin typeface="Google Sans Text"/>
              </a:rPr>
              <a:t>tion</a:t>
            </a:r>
            <a:r>
              <a:rPr lang="zh-CN" altLang="en-US" sz="2400" dirty="0">
                <a:effectLst/>
                <a:latin typeface="Google Sans Text"/>
              </a:rPr>
              <a:t>（名词尾缀）、</a:t>
            </a:r>
            <a:r>
              <a:rPr lang="en-US" altLang="zh-CN" sz="2400" b="1" dirty="0" err="1">
                <a:effectLst/>
                <a:latin typeface="Google Sans Text"/>
              </a:rPr>
              <a:t>tious</a:t>
            </a:r>
            <a:r>
              <a:rPr lang="zh-CN" altLang="en-US" sz="2400" dirty="0">
                <a:effectLst/>
                <a:latin typeface="Google Sans Text"/>
              </a:rPr>
              <a:t>（形容词尾缀）会反复、高频地成块出现。</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293E53B-3CF1-3A70-D78D-D65017040D82}"/>
                  </a:ext>
                </a:extLst>
              </p:cNvPr>
              <p:cNvSpPr txBox="1"/>
              <p:nvPr/>
            </p:nvSpPr>
            <p:spPr>
              <a:xfrm>
                <a:off x="1562100" y="2827228"/>
                <a:ext cx="1019614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2400" i="0" smtClean="0">
                          <a:latin typeface="Cambria Math" panose="02040503050406030204" pitchFamily="18" charset="0"/>
                        </a:rPr>
                        <m:t>分析数据</m:t>
                      </m:r>
                      <m:r>
                        <a:rPr lang="zh-CN" altLang="en-US" sz="2400" i="1">
                          <a:latin typeface="Cambria Math" panose="02040503050406030204" pitchFamily="18" charset="0"/>
                        </a:rPr>
                        <m:t>⟶</m:t>
                      </m:r>
                      <m:r>
                        <m:rPr>
                          <m:nor/>
                        </m:rPr>
                        <a:rPr lang="zh-CN" altLang="en-US" sz="2400" i="0">
                          <a:latin typeface="Cambria Math" panose="02040503050406030204" pitchFamily="18" charset="0"/>
                        </a:rPr>
                        <m:t>提出合理假设</m:t>
                      </m:r>
                      <m:r>
                        <a:rPr lang="zh-CN" altLang="en-US" sz="2400" i="1">
                          <a:latin typeface="Cambria Math" panose="02040503050406030204" pitchFamily="18" charset="0"/>
                        </a:rPr>
                        <m:t>⟶</m:t>
                      </m:r>
                      <m:r>
                        <m:rPr>
                          <m:nor/>
                        </m:rPr>
                        <a:rPr lang="zh-CN" altLang="en-US" sz="2400" i="0">
                          <a:latin typeface="Cambria Math" panose="02040503050406030204" pitchFamily="18" charset="0"/>
                        </a:rPr>
                        <m:t>推测密钥规律</m:t>
                      </m:r>
                      <m:r>
                        <a:rPr lang="zh-CN" altLang="en-US" sz="2400" i="1">
                          <a:latin typeface="Cambria Math" panose="02040503050406030204" pitchFamily="18" charset="0"/>
                        </a:rPr>
                        <m:t>⟶</m:t>
                      </m:r>
                      <m:r>
                        <m:rPr>
                          <m:nor/>
                        </m:rPr>
                        <a:rPr lang="zh-CN" altLang="en-US" sz="2400" i="0">
                          <a:latin typeface="Cambria Math" panose="02040503050406030204" pitchFamily="18" charset="0"/>
                        </a:rPr>
                        <m:t>代入明文证实</m:t>
                      </m:r>
                    </m:oMath>
                  </m:oMathPara>
                </a14:m>
                <a:endParaRPr lang="zh-CN" altLang="en-US" sz="2400" dirty="0"/>
              </a:p>
            </p:txBody>
          </p:sp>
        </mc:Choice>
        <mc:Fallback xmlns="">
          <p:sp>
            <p:nvSpPr>
              <p:cNvPr id="10" name="文本框 9">
                <a:extLst>
                  <a:ext uri="{FF2B5EF4-FFF2-40B4-BE49-F238E27FC236}">
                    <a16:creationId xmlns:a16="http://schemas.microsoft.com/office/drawing/2014/main" id="{4293E53B-3CF1-3A70-D78D-D65017040D82}"/>
                  </a:ext>
                </a:extLst>
              </p:cNvPr>
              <p:cNvSpPr txBox="1">
                <a:spLocks noRot="1" noChangeAspect="1" noMove="1" noResize="1" noEditPoints="1" noAdjustHandles="1" noChangeArrowheads="1" noChangeShapeType="1" noTextEdit="1"/>
              </p:cNvSpPr>
              <p:nvPr/>
            </p:nvSpPr>
            <p:spPr>
              <a:xfrm>
                <a:off x="1562100" y="2827228"/>
                <a:ext cx="10196145" cy="461665"/>
              </a:xfrm>
              <a:prstGeom prst="rect">
                <a:avLst/>
              </a:prstGeom>
              <a:blipFill>
                <a:blip r:embed="rId2"/>
                <a:stretch>
                  <a:fillRect b="-144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83479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3.7.2 </a:t>
            </a:r>
            <a:r>
              <a:rPr lang="zh-CN" altLang="zh-CN" dirty="0"/>
              <a:t>密码算法的安全性</a:t>
            </a:r>
            <a:endParaRPr lang="zh-CN" altLang="en-US" dirty="0"/>
          </a:p>
        </p:txBody>
      </p:sp>
      <p:sp>
        <p:nvSpPr>
          <p:cNvPr id="3" name="内容占位符 2"/>
          <p:cNvSpPr>
            <a:spLocks noGrp="1"/>
          </p:cNvSpPr>
          <p:nvPr>
            <p:ph idx="1"/>
          </p:nvPr>
        </p:nvSpPr>
        <p:spPr>
          <a:xfrm>
            <a:off x="838200" y="1308881"/>
            <a:ext cx="10467109" cy="4982116"/>
          </a:xfrm>
        </p:spPr>
        <p:txBody>
          <a:bodyPr>
            <a:normAutofit/>
          </a:bodyPr>
          <a:lstStyle/>
          <a:p>
            <a:pPr>
              <a:lnSpc>
                <a:spcPct val="130000"/>
              </a:lnSpc>
            </a:pPr>
            <a:r>
              <a:rPr lang="zh-CN" altLang="en-US" dirty="0">
                <a:solidFill>
                  <a:srgbClr val="C00000"/>
                </a:solidFill>
                <a:latin typeface="宋体" panose="02010600030101010101" pitchFamily="2" charset="-122"/>
              </a:rPr>
              <a:t>无条件安全</a:t>
            </a:r>
            <a:r>
              <a:rPr lang="zh-CN" altLang="en-US" dirty="0">
                <a:latin typeface="宋体" panose="02010600030101010101" pitchFamily="2" charset="-122"/>
              </a:rPr>
              <a:t>（</a:t>
            </a:r>
            <a:r>
              <a:rPr lang="en-US" altLang="zh-CN" dirty="0">
                <a:latin typeface="宋体" panose="02010600030101010101" pitchFamily="2" charset="-122"/>
              </a:rPr>
              <a:t>Unconditionally secure</a:t>
            </a:r>
            <a:r>
              <a:rPr lang="zh-CN" altLang="en-US" dirty="0">
                <a:latin typeface="宋体" panose="02010600030101010101" pitchFamily="2" charset="-122"/>
              </a:rPr>
              <a:t>）</a:t>
            </a:r>
            <a:endParaRPr lang="en-US" altLang="zh-CN" dirty="0">
              <a:latin typeface="宋体" panose="02010600030101010101" pitchFamily="2" charset="-122"/>
            </a:endParaRPr>
          </a:p>
          <a:p>
            <a:pPr lvl="1">
              <a:lnSpc>
                <a:spcPct val="130000"/>
              </a:lnSpc>
            </a:pPr>
            <a:r>
              <a:rPr lang="zh-CN" altLang="en-US" dirty="0">
                <a:latin typeface="宋体" panose="02010600030101010101" pitchFamily="2" charset="-122"/>
              </a:rPr>
              <a:t>无论破译者有多少密文</a:t>
            </a:r>
            <a:r>
              <a:rPr lang="en-US" altLang="zh-CN" dirty="0">
                <a:latin typeface="宋体" panose="02010600030101010101" pitchFamily="2" charset="-122"/>
              </a:rPr>
              <a:t>,</a:t>
            </a:r>
            <a:r>
              <a:rPr lang="zh-CN" altLang="en-US" dirty="0">
                <a:latin typeface="宋体" panose="02010600030101010101" pitchFamily="2" charset="-122"/>
              </a:rPr>
              <a:t>他也无法解出对应的明文</a:t>
            </a:r>
            <a:r>
              <a:rPr lang="en-US" altLang="zh-CN" dirty="0">
                <a:latin typeface="宋体" panose="02010600030101010101" pitchFamily="2" charset="-122"/>
              </a:rPr>
              <a:t>,</a:t>
            </a:r>
            <a:r>
              <a:rPr lang="zh-CN" altLang="en-US" dirty="0">
                <a:latin typeface="宋体" panose="02010600030101010101" pitchFamily="2" charset="-122"/>
              </a:rPr>
              <a:t>即使他解出了</a:t>
            </a:r>
            <a:r>
              <a:rPr lang="en-US" altLang="zh-CN" dirty="0">
                <a:latin typeface="宋体" panose="02010600030101010101" pitchFamily="2" charset="-122"/>
              </a:rPr>
              <a:t>,</a:t>
            </a:r>
            <a:r>
              <a:rPr lang="zh-CN" altLang="en-US" dirty="0">
                <a:latin typeface="宋体" panose="02010600030101010101" pitchFamily="2" charset="-122"/>
              </a:rPr>
              <a:t>他也无法验证结果的正确性。</a:t>
            </a:r>
            <a:endParaRPr lang="en-US" altLang="zh-CN" dirty="0">
              <a:latin typeface="宋体" panose="02010600030101010101" pitchFamily="2" charset="-122"/>
            </a:endParaRPr>
          </a:p>
          <a:p>
            <a:pPr lvl="1">
              <a:lnSpc>
                <a:spcPct val="130000"/>
              </a:lnSpc>
            </a:pPr>
            <a:r>
              <a:rPr lang="zh-CN" altLang="en-US" dirty="0"/>
              <a:t>一次一密（</a:t>
            </a:r>
            <a:r>
              <a:rPr lang="en-US" altLang="zh-CN" dirty="0"/>
              <a:t>One-Time Pad, OTP</a:t>
            </a:r>
            <a:r>
              <a:rPr lang="zh-CN" altLang="en-US" dirty="0"/>
              <a:t>）</a:t>
            </a:r>
            <a:endParaRPr lang="en-US" altLang="zh-CN" dirty="0">
              <a:latin typeface="宋体" panose="02010600030101010101" pitchFamily="2" charset="-122"/>
            </a:endParaRPr>
          </a:p>
          <a:p>
            <a:pPr>
              <a:lnSpc>
                <a:spcPct val="130000"/>
              </a:lnSpc>
            </a:pPr>
            <a:r>
              <a:rPr lang="zh-CN" altLang="en-US" dirty="0">
                <a:solidFill>
                  <a:srgbClr val="C00000"/>
                </a:solidFill>
                <a:latin typeface="宋体" panose="02010600030101010101" pitchFamily="2" charset="-122"/>
              </a:rPr>
              <a:t>计算上安全</a:t>
            </a:r>
            <a:r>
              <a:rPr lang="zh-CN" altLang="en-US" dirty="0">
                <a:latin typeface="宋体" panose="02010600030101010101" pitchFamily="2" charset="-122"/>
              </a:rPr>
              <a:t>（</a:t>
            </a:r>
            <a:r>
              <a:rPr lang="en-US" altLang="zh-CN" dirty="0">
                <a:latin typeface="宋体" panose="02010600030101010101" pitchFamily="2" charset="-122"/>
              </a:rPr>
              <a:t>Computationally secure</a:t>
            </a:r>
            <a:r>
              <a:rPr lang="zh-CN" altLang="en-US" dirty="0">
                <a:latin typeface="宋体" panose="02010600030101010101" pitchFamily="2" charset="-122"/>
              </a:rPr>
              <a:t>）</a:t>
            </a:r>
            <a:endParaRPr lang="en-US" altLang="zh-CN" dirty="0">
              <a:latin typeface="宋体" panose="02010600030101010101" pitchFamily="2" charset="-122"/>
            </a:endParaRPr>
          </a:p>
          <a:p>
            <a:pPr lvl="1">
              <a:lnSpc>
                <a:spcPct val="150000"/>
              </a:lnSpc>
              <a:spcBef>
                <a:spcPct val="0"/>
              </a:spcBef>
              <a:buClr>
                <a:srgbClr val="000066"/>
              </a:buClr>
            </a:pPr>
            <a:r>
              <a:rPr lang="zh-CN" altLang="en-US" dirty="0">
                <a:latin typeface="宋体" panose="02010600030101010101" pitchFamily="2" charset="-122"/>
              </a:rPr>
              <a:t>破译的</a:t>
            </a:r>
            <a:r>
              <a:rPr lang="zh-CN" altLang="en-US" dirty="0">
                <a:highlight>
                  <a:srgbClr val="FFFF00"/>
                </a:highlight>
                <a:latin typeface="宋体" panose="02010600030101010101" pitchFamily="2" charset="-122"/>
              </a:rPr>
              <a:t>代价</a:t>
            </a:r>
            <a:r>
              <a:rPr lang="zh-CN" altLang="en-US" dirty="0">
                <a:latin typeface="宋体" panose="02010600030101010101" pitchFamily="2" charset="-122"/>
              </a:rPr>
              <a:t>超出信息本身的价值</a:t>
            </a:r>
          </a:p>
          <a:p>
            <a:pPr lvl="1">
              <a:lnSpc>
                <a:spcPct val="150000"/>
              </a:lnSpc>
              <a:spcBef>
                <a:spcPct val="0"/>
              </a:spcBef>
              <a:buClr>
                <a:srgbClr val="000066"/>
              </a:buClr>
            </a:pPr>
            <a:r>
              <a:rPr lang="zh-CN" altLang="en-US" dirty="0">
                <a:latin typeface="宋体" panose="02010600030101010101" pitchFamily="2" charset="-122"/>
              </a:rPr>
              <a:t>破译的</a:t>
            </a:r>
            <a:r>
              <a:rPr lang="zh-CN" altLang="en-US" dirty="0">
                <a:highlight>
                  <a:srgbClr val="FFFF00"/>
                </a:highlight>
                <a:latin typeface="宋体" panose="02010600030101010101" pitchFamily="2" charset="-122"/>
              </a:rPr>
              <a:t>时间</a:t>
            </a:r>
            <a:r>
              <a:rPr lang="zh-CN" altLang="en-US" dirty="0">
                <a:latin typeface="宋体" panose="02010600030101010101" pitchFamily="2" charset="-122"/>
              </a:rPr>
              <a:t>超出了信息的有效期</a:t>
            </a:r>
            <a:endParaRPr lang="en-US" altLang="zh-CN" dirty="0">
              <a:latin typeface="宋体" panose="02010600030101010101" pitchFamily="2" charset="-122"/>
              <a:sym typeface="ZapfDingbats" pitchFamily="82" charset="2"/>
            </a:endParaRPr>
          </a:p>
          <a:p>
            <a:pPr>
              <a:lnSpc>
                <a:spcPct val="1300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48</a:t>
            </a:fld>
            <a:endParaRPr kumimoji="1" lang="zh-CN" altLang="en-US" dirty="0"/>
          </a:p>
        </p:txBody>
      </p:sp>
    </p:spTree>
    <p:extLst>
      <p:ext uri="{BB962C8B-B14F-4D97-AF65-F5344CB8AC3E}">
        <p14:creationId xmlns:p14="http://schemas.microsoft.com/office/powerpoint/2010/main" val="98712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3.7.3 </a:t>
            </a:r>
            <a:r>
              <a:rPr lang="zh-CN" altLang="en-US" dirty="0"/>
              <a:t>换位密码分析</a:t>
            </a:r>
          </a:p>
        </p:txBody>
      </p:sp>
      <p:sp>
        <p:nvSpPr>
          <p:cNvPr id="3" name="内容占位符 2"/>
          <p:cNvSpPr>
            <a:spLocks noGrp="1"/>
          </p:cNvSpPr>
          <p:nvPr>
            <p:ph idx="1"/>
          </p:nvPr>
        </p:nvSpPr>
        <p:spPr/>
        <p:txBody>
          <a:bodyPr>
            <a:normAutofit/>
          </a:bodyPr>
          <a:lstStyle/>
          <a:p>
            <a:pPr>
              <a:lnSpc>
                <a:spcPct val="150000"/>
              </a:lnSpc>
            </a:pPr>
            <a:r>
              <a:rPr lang="zh-CN" altLang="en-US" dirty="0">
                <a:solidFill>
                  <a:srgbClr val="C00000"/>
                </a:solidFill>
              </a:rPr>
              <a:t>换位密码的破译</a:t>
            </a:r>
            <a:endParaRPr lang="en-US" altLang="zh-CN" dirty="0">
              <a:solidFill>
                <a:srgbClr val="C00000"/>
              </a:solidFill>
            </a:endParaRPr>
          </a:p>
          <a:p>
            <a:pPr lvl="1">
              <a:lnSpc>
                <a:spcPct val="150000"/>
              </a:lnSpc>
            </a:pPr>
            <a:r>
              <a:rPr lang="zh-CN" altLang="en-US" dirty="0"/>
              <a:t>换位密码中，密文中字母出现的频率与明文中字母出现的频率相同，所以密码员可以很容易的由此来判别换位密码。</a:t>
            </a:r>
          </a:p>
          <a:p>
            <a:pPr lvl="1">
              <a:lnSpc>
                <a:spcPct val="150000"/>
              </a:lnSpc>
            </a:pPr>
            <a:r>
              <a:rPr lang="zh-CN" altLang="en-US" dirty="0"/>
              <a:t>这种密码可以通过移动字母顺序的方法来破译。</a:t>
            </a:r>
          </a:p>
          <a:p>
            <a:pPr lvl="1">
              <a:lnSpc>
                <a:spcPct val="150000"/>
              </a:lnSpc>
            </a:pPr>
            <a:r>
              <a:rPr lang="zh-CN" altLang="en-US" dirty="0"/>
              <a:t>还可以参考双字母和三字母组合的出现频率分布。</a:t>
            </a:r>
          </a:p>
          <a:p>
            <a:pPr>
              <a:lnSpc>
                <a:spcPct val="150000"/>
              </a:lnSpc>
            </a:pPr>
            <a:endParaRPr lang="zh-CN" altLang="en-US" sz="2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49</a:t>
            </a:fld>
            <a:endParaRPr kumimoji="1" lang="zh-CN" altLang="en-US" dirty="0"/>
          </a:p>
        </p:txBody>
      </p:sp>
    </p:spTree>
    <p:extLst>
      <p:ext uri="{BB962C8B-B14F-4D97-AF65-F5344CB8AC3E}">
        <p14:creationId xmlns:p14="http://schemas.microsoft.com/office/powerpoint/2010/main" val="1672319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3.7.3 </a:t>
            </a:r>
            <a:r>
              <a:rPr lang="zh-CN" altLang="en-US" dirty="0"/>
              <a:t>换位密码分析</a:t>
            </a:r>
          </a:p>
        </p:txBody>
      </p:sp>
      <p:sp>
        <p:nvSpPr>
          <p:cNvPr id="3" name="内容占位符 2"/>
          <p:cNvSpPr>
            <a:spLocks noGrp="1"/>
          </p:cNvSpPr>
          <p:nvPr>
            <p:ph idx="1"/>
          </p:nvPr>
        </p:nvSpPr>
        <p:spPr/>
        <p:txBody>
          <a:bodyPr>
            <a:normAutofit/>
          </a:bodyPr>
          <a:lstStyle/>
          <a:p>
            <a:pPr>
              <a:lnSpc>
                <a:spcPct val="150000"/>
              </a:lnSpc>
            </a:pPr>
            <a:r>
              <a:rPr lang="zh-CN" altLang="en-US" dirty="0">
                <a:solidFill>
                  <a:srgbClr val="C00000"/>
                </a:solidFill>
              </a:rPr>
              <a:t>换位密码的破译</a:t>
            </a:r>
            <a:endParaRPr lang="en-US" altLang="zh-CN" dirty="0">
              <a:solidFill>
                <a:srgbClr val="C00000"/>
              </a:solidFill>
            </a:endParaRPr>
          </a:p>
          <a:p>
            <a:pPr lvl="1">
              <a:lnSpc>
                <a:spcPct val="150000"/>
              </a:lnSpc>
            </a:pPr>
            <a:r>
              <a:rPr kumimoji="1" lang="zh-CN" altLang="en-US" dirty="0">
                <a:latin typeface="宋体" panose="02010600030101010101" pitchFamily="2" charset="-122"/>
              </a:rPr>
              <a:t>双字母组出现频率分布</a:t>
            </a:r>
            <a:endParaRPr lang="en-US" altLang="zh-CN" dirty="0">
              <a:solidFill>
                <a:srgbClr val="C00000"/>
              </a:solidFill>
            </a:endParaRPr>
          </a:p>
          <a:p>
            <a:pPr>
              <a:lnSpc>
                <a:spcPct val="150000"/>
              </a:lnSpc>
            </a:pPr>
            <a:endParaRPr lang="zh-CN" altLang="en-US" sz="28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50</a:t>
            </a:fld>
            <a:endParaRPr kumimoji="1" lang="zh-CN" altLang="en-US" dirty="0"/>
          </a:p>
        </p:txBody>
      </p:sp>
      <p:graphicFrame>
        <p:nvGraphicFramePr>
          <p:cNvPr id="5" name="Object 2"/>
          <p:cNvGraphicFramePr>
            <a:graphicFrameLocks noChangeAspect="1"/>
          </p:cNvGraphicFramePr>
          <p:nvPr>
            <p:extLst>
              <p:ext uri="{D42A27DB-BD31-4B8C-83A1-F6EECF244321}">
                <p14:modId xmlns:p14="http://schemas.microsoft.com/office/powerpoint/2010/main" val="2855821435"/>
              </p:ext>
            </p:extLst>
          </p:nvPr>
        </p:nvGraphicFramePr>
        <p:xfrm>
          <a:off x="6192353" y="832305"/>
          <a:ext cx="4175125" cy="5943600"/>
        </p:xfrm>
        <a:graphic>
          <a:graphicData uri="http://schemas.openxmlformats.org/presentationml/2006/ole">
            <mc:AlternateContent xmlns:mc="http://schemas.openxmlformats.org/markup-compatibility/2006">
              <mc:Choice xmlns:v="urn:schemas-microsoft-com:vml" Requires="v">
                <p:oleObj r:id="rId2" imgW="4025900" imgH="5740400" progId="MSDraw.Drawing.8.2">
                  <p:embed/>
                </p:oleObj>
              </mc:Choice>
              <mc:Fallback>
                <p:oleObj r:id="rId2" imgW="4025900" imgH="5740400" progId="MSDraw.Drawing.8.2">
                  <p:embed/>
                  <p:pic>
                    <p:nvPicPr>
                      <p:cNvPr id="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2353" y="832305"/>
                        <a:ext cx="4175125"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110954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3.7.3 </a:t>
            </a:r>
            <a:r>
              <a:rPr lang="zh-CN" altLang="en-US" dirty="0"/>
              <a:t>换位密码分析</a:t>
            </a:r>
          </a:p>
        </p:txBody>
      </p:sp>
      <p:sp>
        <p:nvSpPr>
          <p:cNvPr id="3" name="内容占位符 2"/>
          <p:cNvSpPr>
            <a:spLocks noGrp="1"/>
          </p:cNvSpPr>
          <p:nvPr>
            <p:ph idx="1"/>
          </p:nvPr>
        </p:nvSpPr>
        <p:spPr/>
        <p:txBody>
          <a:bodyPr>
            <a:normAutofit/>
          </a:bodyPr>
          <a:lstStyle/>
          <a:p>
            <a:pPr>
              <a:lnSpc>
                <a:spcPct val="150000"/>
              </a:lnSpc>
            </a:pPr>
            <a:r>
              <a:rPr lang="zh-CN" altLang="en-US" dirty="0">
                <a:solidFill>
                  <a:srgbClr val="C00000"/>
                </a:solidFill>
              </a:rPr>
              <a:t>换位密码的破译</a:t>
            </a:r>
            <a:endParaRPr lang="en-US" altLang="zh-CN" dirty="0">
              <a:solidFill>
                <a:srgbClr val="C00000"/>
              </a:solidFill>
            </a:endParaRPr>
          </a:p>
          <a:p>
            <a:pPr lvl="1"/>
            <a:r>
              <a:rPr lang="zh-CN" altLang="en-US" dirty="0"/>
              <a:t>对于周期为</a:t>
            </a:r>
            <a:r>
              <a:rPr lang="en-US" altLang="zh-CN" dirty="0"/>
              <a:t>d</a:t>
            </a:r>
            <a:r>
              <a:rPr lang="zh-CN" altLang="en-US" dirty="0"/>
              <a:t>的换位密码，这</a:t>
            </a:r>
            <a:r>
              <a:rPr lang="en-US" altLang="zh-CN" dirty="0"/>
              <a:t>d</a:t>
            </a:r>
            <a:r>
              <a:rPr lang="zh-CN" altLang="en-US" dirty="0"/>
              <a:t>个字母共有</a:t>
            </a:r>
            <a:r>
              <a:rPr lang="en-US" altLang="zh-CN" dirty="0"/>
              <a:t>d!</a:t>
            </a:r>
            <a:r>
              <a:rPr lang="zh-CN" altLang="en-US" dirty="0"/>
              <a:t>种可能组合。假设所有的密钥出现的机会相等，则密钥的熵为</a:t>
            </a:r>
            <a:r>
              <a:rPr lang="en-US" altLang="zh-CN" dirty="0"/>
              <a:t>H(K)=log</a:t>
            </a:r>
            <a:r>
              <a:rPr lang="en-US" altLang="zh-CN" baseline="-25000" dirty="0"/>
              <a:t>2</a:t>
            </a:r>
            <a:r>
              <a:rPr lang="en-US" altLang="zh-CN" dirty="0"/>
              <a:t>d!,</a:t>
            </a:r>
          </a:p>
          <a:p>
            <a:pPr lvl="1"/>
            <a:r>
              <a:rPr lang="zh-CN" altLang="en-US" dirty="0"/>
              <a:t>使用</a:t>
            </a:r>
            <a:r>
              <a:rPr lang="en-US" altLang="zh-CN" dirty="0" err="1"/>
              <a:t>Stirling</a:t>
            </a:r>
            <a:r>
              <a:rPr lang="zh-CN" altLang="en-US" dirty="0"/>
              <a:t>的对</a:t>
            </a:r>
            <a:r>
              <a:rPr lang="en-US" altLang="zh-CN" dirty="0"/>
              <a:t>d!</a:t>
            </a:r>
            <a:r>
              <a:rPr lang="zh-CN" altLang="en-US" dirty="0"/>
              <a:t>的估计法，</a:t>
            </a:r>
            <a:r>
              <a:rPr lang="zh-CN" altLang="en-US" dirty="0">
                <a:solidFill>
                  <a:srgbClr val="FF0000"/>
                </a:solidFill>
              </a:rPr>
              <a:t>确定性距离</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51</a:t>
            </a:fld>
            <a:endParaRPr kumimoji="1" lang="zh-CN" altLang="en-US" dirty="0"/>
          </a:p>
        </p:txBody>
      </p:sp>
      <p:grpSp>
        <p:nvGrpSpPr>
          <p:cNvPr id="6" name="Group 4"/>
          <p:cNvGrpSpPr>
            <a:grpSpLocks/>
          </p:cNvGrpSpPr>
          <p:nvPr/>
        </p:nvGrpSpPr>
        <p:grpSpPr bwMode="auto">
          <a:xfrm>
            <a:off x="3500437" y="3611698"/>
            <a:ext cx="4729163" cy="1143000"/>
            <a:chOff x="1680" y="2640"/>
            <a:chExt cx="2979" cy="720"/>
          </a:xfrm>
        </p:grpSpPr>
        <p:sp>
          <p:nvSpPr>
            <p:cNvPr id="7" name="Line 5"/>
            <p:cNvSpPr>
              <a:spLocks noChangeShapeType="1"/>
            </p:cNvSpPr>
            <p:nvPr/>
          </p:nvSpPr>
          <p:spPr bwMode="auto">
            <a:xfrm>
              <a:off x="2256" y="3024"/>
              <a:ext cx="1056" cy="0"/>
            </a:xfrm>
            <a:prstGeom prst="line">
              <a:avLst/>
            </a:prstGeom>
            <a:noFill/>
            <a:ln w="9525">
              <a:solidFill>
                <a:schemeClr val="tx1"/>
              </a:solidFill>
              <a:round/>
              <a:headEnd/>
              <a:tailEn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
          <p:nvSpPr>
            <p:cNvPr id="8" name="Rectangle 6"/>
            <p:cNvSpPr>
              <a:spLocks noChangeArrowheads="1"/>
            </p:cNvSpPr>
            <p:nvPr/>
          </p:nvSpPr>
          <p:spPr bwMode="auto">
            <a:xfrm>
              <a:off x="2208" y="2640"/>
              <a:ext cx="124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en-US" altLang="zh-CN" sz="2800" b="0" dirty="0">
                  <a:solidFill>
                    <a:schemeClr val="tx1"/>
                  </a:solidFill>
                  <a:latin typeface="Times New Roman" panose="02020603050405020304" pitchFamily="18" charset="0"/>
                </a:rPr>
                <a:t>dlog</a:t>
              </a:r>
              <a:r>
                <a:rPr kumimoji="1" lang="en-US" altLang="zh-CN" sz="2800" b="0" baseline="-20000" dirty="0">
                  <a:solidFill>
                    <a:schemeClr val="tx1"/>
                  </a:solidFill>
                  <a:latin typeface="Times New Roman" panose="02020603050405020304" pitchFamily="18" charset="0"/>
                </a:rPr>
                <a:t>2</a:t>
              </a:r>
              <a:r>
                <a:rPr kumimoji="1" lang="en-US" altLang="zh-CN" sz="2800" b="0" dirty="0">
                  <a:solidFill>
                    <a:schemeClr val="tx1"/>
                  </a:solidFill>
                  <a:latin typeface="Times New Roman" panose="02020603050405020304" pitchFamily="18" charset="0"/>
                </a:rPr>
                <a:t>(d/e)</a:t>
              </a:r>
            </a:p>
          </p:txBody>
        </p:sp>
        <p:sp>
          <p:nvSpPr>
            <p:cNvPr id="9" name="Rectangle 7"/>
            <p:cNvSpPr>
              <a:spLocks noChangeArrowheads="1"/>
            </p:cNvSpPr>
            <p:nvPr/>
          </p:nvSpPr>
          <p:spPr bwMode="auto">
            <a:xfrm>
              <a:off x="2208" y="3072"/>
              <a:ext cx="1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en-US" altLang="zh-CN" sz="2800" b="0">
                  <a:solidFill>
                    <a:schemeClr val="tx1"/>
                  </a:solidFill>
                  <a:latin typeface="Times New Roman" panose="02020603050405020304" pitchFamily="18" charset="0"/>
                </a:rPr>
                <a:t>3.2</a:t>
              </a:r>
            </a:p>
          </p:txBody>
        </p:sp>
        <p:sp>
          <p:nvSpPr>
            <p:cNvPr id="10" name="Rectangle 8"/>
            <p:cNvSpPr>
              <a:spLocks noChangeArrowheads="1"/>
            </p:cNvSpPr>
            <p:nvPr/>
          </p:nvSpPr>
          <p:spPr bwMode="auto">
            <a:xfrm>
              <a:off x="1680" y="2832"/>
              <a:ext cx="528" cy="384"/>
            </a:xfrm>
            <a:prstGeom prst="rect">
              <a:avLst/>
            </a:prstGeom>
            <a:noFill/>
            <a:ln>
              <a:noFill/>
            </a:ln>
            <a:effectLst/>
          </p:spPr>
          <p:txBody>
            <a:bodyPr wrap="none" anchor="ctr"/>
            <a:lstStyle/>
            <a:p>
              <a:pPr algn="ctr" eaLnBrk="1" hangingPunct="1">
                <a:defRPr/>
              </a:pPr>
              <a:r>
                <a:rPr kumimoji="1" lang="en-US" altLang="zh-CN" sz="2800" b="0" dirty="0">
                  <a:solidFill>
                    <a:schemeClr val="tx1"/>
                  </a:solidFill>
                  <a:latin typeface="Times New Roman" pitchFamily="18" charset="0"/>
                </a:rPr>
                <a:t> u </a:t>
              </a:r>
              <a:r>
                <a:rPr kumimoji="1" lang="en-US" altLang="zh-CN" sz="2800" b="0" dirty="0">
                  <a:solidFill>
                    <a:schemeClr val="tx1"/>
                  </a:solidFill>
                  <a:effectLst>
                    <a:outerShdw blurRad="38100" dist="38100" dir="2700000" algn="tl">
                      <a:srgbClr val="C0C0C0"/>
                    </a:outerShdw>
                  </a:effectLst>
                  <a:latin typeface="Times New Roman" pitchFamily="18" charset="0"/>
                  <a:cs typeface="Times New Roman" pitchFamily="18" charset="0"/>
                  <a:sym typeface="Symbol" pitchFamily="18" charset="2"/>
                </a:rPr>
                <a:t></a:t>
              </a:r>
              <a:endParaRPr kumimoji="1" lang="en-US" altLang="zh-CN" sz="2800" b="0" dirty="0">
                <a:solidFill>
                  <a:schemeClr val="tx1"/>
                </a:solidFill>
                <a:effectLst>
                  <a:outerShdw blurRad="38100" dist="38100" dir="2700000" algn="tl">
                    <a:srgbClr val="C0C0C0"/>
                  </a:outerShdw>
                </a:effectLst>
                <a:latin typeface="Times New Roman" pitchFamily="18" charset="0"/>
                <a:cs typeface="Times New Roman" pitchFamily="18" charset="0"/>
              </a:endParaRPr>
            </a:p>
          </p:txBody>
        </p:sp>
        <p:sp>
          <p:nvSpPr>
            <p:cNvPr id="11" name="Rectangle 9"/>
            <p:cNvSpPr>
              <a:spLocks noChangeArrowheads="1"/>
            </p:cNvSpPr>
            <p:nvPr/>
          </p:nvSpPr>
          <p:spPr bwMode="auto">
            <a:xfrm>
              <a:off x="3219" y="2832"/>
              <a:ext cx="14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eaLnBrk="1" hangingPunct="1"/>
              <a:r>
                <a:rPr kumimoji="1" lang="en-US" altLang="zh-CN" sz="2800" b="0">
                  <a:solidFill>
                    <a:schemeClr val="tx1"/>
                  </a:solidFill>
                  <a:latin typeface="Times New Roman" panose="02020603050405020304" pitchFamily="18" charset="0"/>
                </a:rPr>
                <a:t>=  0.3dlog</a:t>
              </a:r>
              <a:r>
                <a:rPr kumimoji="1" lang="en-US" altLang="zh-CN" sz="2800" b="0" baseline="-20000">
                  <a:solidFill>
                    <a:schemeClr val="tx1"/>
                  </a:solidFill>
                  <a:latin typeface="Times New Roman" panose="02020603050405020304" pitchFamily="18" charset="0"/>
                </a:rPr>
                <a:t>2</a:t>
              </a:r>
              <a:r>
                <a:rPr kumimoji="1" lang="en-US" altLang="zh-CN" sz="2800" b="0">
                  <a:solidFill>
                    <a:schemeClr val="tx1"/>
                  </a:solidFill>
                  <a:latin typeface="Times New Roman" panose="02020603050405020304" pitchFamily="18" charset="0"/>
                </a:rPr>
                <a:t>(d/e)</a:t>
              </a:r>
            </a:p>
          </p:txBody>
        </p:sp>
      </p:grpSp>
      <p:sp>
        <p:nvSpPr>
          <p:cNvPr id="12" name="Text Box 10"/>
          <p:cNvSpPr txBox="1">
            <a:spLocks noChangeArrowheads="1"/>
          </p:cNvSpPr>
          <p:nvPr/>
        </p:nvSpPr>
        <p:spPr bwMode="auto">
          <a:xfrm>
            <a:off x="844138" y="5050165"/>
            <a:ext cx="105096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0" dirty="0">
                <a:solidFill>
                  <a:schemeClr val="tx1"/>
                </a:solidFill>
                <a:latin typeface="Times New Roman" panose="02020603050405020304" pitchFamily="18" charset="0"/>
              </a:rPr>
              <a:t>令</a:t>
            </a:r>
            <a:r>
              <a:rPr kumimoji="1" lang="en-US" altLang="zh-CN" sz="2800" b="0" dirty="0">
                <a:solidFill>
                  <a:schemeClr val="tx1"/>
                </a:solidFill>
                <a:latin typeface="Times New Roman" panose="02020603050405020304" pitchFamily="18" charset="0"/>
              </a:rPr>
              <a:t>D=3.2</a:t>
            </a:r>
            <a:r>
              <a:rPr kumimoji="1" lang="zh-CN" altLang="en-US" sz="2800" b="0" dirty="0">
                <a:solidFill>
                  <a:schemeClr val="tx1"/>
                </a:solidFill>
                <a:latin typeface="Times New Roman" panose="02020603050405020304" pitchFamily="18" charset="0"/>
              </a:rPr>
              <a:t>位</a:t>
            </a:r>
            <a:r>
              <a:rPr kumimoji="1" lang="en-US" altLang="zh-CN" sz="2800" b="0" dirty="0">
                <a:solidFill>
                  <a:schemeClr val="tx1"/>
                </a:solidFill>
                <a:latin typeface="Times New Roman" panose="02020603050405020304" pitchFamily="18" charset="0"/>
              </a:rPr>
              <a:t>/</a:t>
            </a:r>
            <a:r>
              <a:rPr kumimoji="1" lang="zh-CN" altLang="en-US" sz="2800" b="0" dirty="0">
                <a:solidFill>
                  <a:schemeClr val="tx1"/>
                </a:solidFill>
                <a:latin typeface="Times New Roman" panose="02020603050405020304" pitchFamily="18" charset="0"/>
              </a:rPr>
              <a:t>字母，设</a:t>
            </a:r>
            <a:r>
              <a:rPr kumimoji="1" lang="en-US" altLang="zh-CN" sz="2800" b="0" dirty="0">
                <a:solidFill>
                  <a:schemeClr val="tx1"/>
                </a:solidFill>
                <a:latin typeface="Times New Roman" panose="02020603050405020304" pitchFamily="18" charset="0"/>
              </a:rPr>
              <a:t>d=26</a:t>
            </a:r>
            <a:r>
              <a:rPr kumimoji="1" lang="zh-CN" altLang="en-US" sz="2800" b="0" dirty="0">
                <a:solidFill>
                  <a:schemeClr val="tx1"/>
                </a:solidFill>
                <a:latin typeface="Times New Roman" panose="02020603050405020304" pitchFamily="18" charset="0"/>
              </a:rPr>
              <a:t>，则</a:t>
            </a:r>
            <a:r>
              <a:rPr kumimoji="1" lang="en-US" altLang="zh-CN" sz="2800" b="0" dirty="0">
                <a:solidFill>
                  <a:schemeClr val="tx1"/>
                </a:solidFill>
                <a:latin typeface="Times New Roman" panose="02020603050405020304" pitchFamily="18" charset="0"/>
              </a:rPr>
              <a:t>d/e</a:t>
            </a:r>
            <a:r>
              <a:rPr kumimoji="1" lang="en-US" altLang="zh-CN" sz="2800" b="0" dirty="0">
                <a:solidFill>
                  <a:schemeClr val="tx1"/>
                </a:solidFill>
                <a:latin typeface="Times New Roman" panose="02020603050405020304" pitchFamily="18" charset="0"/>
                <a:sym typeface="Symbol" panose="05050102010706020507" pitchFamily="18" charset="2"/>
              </a:rPr>
              <a:t>10</a:t>
            </a:r>
            <a:r>
              <a:rPr kumimoji="1" lang="zh-CN" altLang="en-US" sz="2800" b="0" dirty="0">
                <a:solidFill>
                  <a:schemeClr val="tx1"/>
                </a:solidFill>
                <a:latin typeface="Times New Roman" panose="02020603050405020304" pitchFamily="18" charset="0"/>
                <a:sym typeface="Symbol" panose="05050102010706020507" pitchFamily="18" charset="2"/>
              </a:rPr>
              <a:t>，</a:t>
            </a:r>
            <a:r>
              <a:rPr kumimoji="1" lang="en-US" altLang="zh-CN" sz="2800" b="0" dirty="0">
                <a:solidFill>
                  <a:schemeClr val="tx1"/>
                </a:solidFill>
                <a:latin typeface="Times New Roman" panose="02020603050405020304" pitchFamily="18" charset="0"/>
                <a:sym typeface="Symbol" panose="05050102010706020507" pitchFamily="18" charset="2"/>
              </a:rPr>
              <a:t>log</a:t>
            </a:r>
            <a:r>
              <a:rPr kumimoji="1" lang="en-US" altLang="zh-CN" sz="2800" b="0" baseline="-20000" dirty="0">
                <a:solidFill>
                  <a:schemeClr val="tx1"/>
                </a:solidFill>
                <a:latin typeface="Times New Roman" panose="02020603050405020304" pitchFamily="18" charset="0"/>
                <a:sym typeface="Symbol" panose="05050102010706020507" pitchFamily="18" charset="2"/>
              </a:rPr>
              <a:t>2</a:t>
            </a:r>
            <a:r>
              <a:rPr kumimoji="1" lang="en-US" altLang="zh-CN" sz="2800" b="0" dirty="0">
                <a:solidFill>
                  <a:schemeClr val="tx1"/>
                </a:solidFill>
                <a:latin typeface="Times New Roman" panose="02020603050405020304" pitchFamily="18" charset="0"/>
                <a:sym typeface="Symbol" panose="05050102010706020507" pitchFamily="18" charset="2"/>
              </a:rPr>
              <a:t>(d/e) 3.2</a:t>
            </a:r>
            <a:r>
              <a:rPr kumimoji="1" lang="zh-CN" altLang="en-US" sz="2800" b="0" dirty="0">
                <a:solidFill>
                  <a:schemeClr val="tx1"/>
                </a:solidFill>
                <a:latin typeface="Times New Roman" panose="02020603050405020304" pitchFamily="18" charset="0"/>
                <a:sym typeface="Symbol" panose="05050102010706020507" pitchFamily="18" charset="2"/>
              </a:rPr>
              <a:t>，因此，</a:t>
            </a:r>
            <a:r>
              <a:rPr kumimoji="1" lang="en-US" altLang="zh-CN" sz="2800" b="0" dirty="0">
                <a:solidFill>
                  <a:schemeClr val="tx1"/>
                </a:solidFill>
                <a:latin typeface="Times New Roman" panose="02020603050405020304" pitchFamily="18" charset="0"/>
                <a:sym typeface="Symbol" panose="05050102010706020507" pitchFamily="18" charset="2"/>
              </a:rPr>
              <a:t>u 26</a:t>
            </a:r>
            <a:r>
              <a:rPr kumimoji="1" lang="zh-CN" altLang="en-US" sz="2800" b="0" dirty="0">
                <a:solidFill>
                  <a:schemeClr val="tx1"/>
                </a:solidFill>
                <a:latin typeface="Times New Roman" panose="02020603050405020304" pitchFamily="18" charset="0"/>
                <a:sym typeface="Symbol" panose="05050102010706020507" pitchFamily="18" charset="2"/>
              </a:rPr>
              <a:t>。</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F138C57-3805-2CEC-7114-9078A96457AB}"/>
                  </a:ext>
                </a:extLst>
              </p:cNvPr>
              <p:cNvSpPr txBox="1"/>
              <p:nvPr/>
            </p:nvSpPr>
            <p:spPr>
              <a:xfrm>
                <a:off x="6667500" y="2779751"/>
                <a:ext cx="6101860" cy="922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CN" altLang="en-US" sz="2400" i="1" smtClean="0">
                              <a:solidFill>
                                <a:srgbClr val="FF0000"/>
                              </a:solidFill>
                              <a:latin typeface="Cambria Math" panose="02040503050406030204" pitchFamily="18" charset="0"/>
                            </a:rPr>
                          </m:ctrlPr>
                        </m:funcPr>
                        <m:fName>
                          <m:r>
                            <m:rPr>
                              <m:sty m:val="p"/>
                            </m:rPr>
                            <a:rPr lang="zh-CN" altLang="en-US" sz="2400" i="0">
                              <a:solidFill>
                                <a:srgbClr val="FF0000"/>
                              </a:solidFill>
                              <a:latin typeface="Cambria Math" panose="02040503050406030204" pitchFamily="18" charset="0"/>
                            </a:rPr>
                            <m:t>ln</m:t>
                          </m:r>
                        </m:fName>
                        <m:e>
                          <m:d>
                            <m:dPr>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𝑑</m:t>
                              </m:r>
                              <m:r>
                                <a:rPr lang="zh-CN" altLang="en-US" sz="2400" i="1">
                                  <a:solidFill>
                                    <a:srgbClr val="FF0000"/>
                                  </a:solidFill>
                                  <a:latin typeface="Cambria Math" panose="02040503050406030204" pitchFamily="18" charset="0"/>
                                </a:rPr>
                                <m:t>!</m:t>
                              </m:r>
                            </m:e>
                          </m:d>
                        </m:e>
                      </m:func>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𝑑</m:t>
                      </m:r>
                      <m:func>
                        <m:funcPr>
                          <m:ctrlPr>
                            <a:rPr lang="zh-CN" altLang="en-US" sz="2400" i="1">
                              <a:solidFill>
                                <a:srgbClr val="FF0000"/>
                              </a:solidFill>
                              <a:latin typeface="Cambria Math" panose="02040503050406030204" pitchFamily="18" charset="0"/>
                            </a:rPr>
                          </m:ctrlPr>
                        </m:funcPr>
                        <m:fName>
                          <m:r>
                            <m:rPr>
                              <m:sty m:val="p"/>
                            </m:rPr>
                            <a:rPr lang="zh-CN" altLang="en-US" sz="2400" i="0">
                              <a:solidFill>
                                <a:srgbClr val="FF0000"/>
                              </a:solidFill>
                              <a:latin typeface="Cambria Math" panose="02040503050406030204" pitchFamily="18" charset="0"/>
                            </a:rPr>
                            <m:t>ln</m:t>
                          </m:r>
                        </m:fName>
                        <m:e>
                          <m:r>
                            <a:rPr lang="zh-CN" altLang="en-US" sz="2400" i="1">
                              <a:solidFill>
                                <a:srgbClr val="FF0000"/>
                              </a:solidFill>
                              <a:latin typeface="Cambria Math" panose="02040503050406030204" pitchFamily="18" charset="0"/>
                            </a:rPr>
                            <m:t>𝑑</m:t>
                          </m:r>
                        </m:e>
                      </m:func>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𝑑</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𝑑</m:t>
                      </m:r>
                      <m:func>
                        <m:funcPr>
                          <m:ctrlPr>
                            <a:rPr lang="zh-CN" altLang="en-US" sz="2400" i="1">
                              <a:solidFill>
                                <a:srgbClr val="FF0000"/>
                              </a:solidFill>
                              <a:latin typeface="Cambria Math" panose="02040503050406030204" pitchFamily="18" charset="0"/>
                            </a:rPr>
                          </m:ctrlPr>
                        </m:funcPr>
                        <m:fName>
                          <m:r>
                            <m:rPr>
                              <m:sty m:val="p"/>
                            </m:rPr>
                            <a:rPr lang="zh-CN" altLang="en-US" sz="2400" i="0">
                              <a:solidFill>
                                <a:srgbClr val="FF0000"/>
                              </a:solidFill>
                              <a:latin typeface="Cambria Math" panose="02040503050406030204" pitchFamily="18" charset="0"/>
                            </a:rPr>
                            <m:t>ln</m:t>
                          </m:r>
                        </m:fName>
                        <m:e>
                          <m:d>
                            <m:dPr>
                              <m:ctrlPr>
                                <a:rPr lang="zh-CN" altLang="en-US" sz="2400" i="1">
                                  <a:solidFill>
                                    <a:srgbClr val="FF0000"/>
                                  </a:solidFill>
                                  <a:latin typeface="Cambria Math" panose="02040503050406030204" pitchFamily="18" charset="0"/>
                                </a:rPr>
                              </m:ctrlPr>
                            </m:dPr>
                            <m:e>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𝑑</m:t>
                                  </m:r>
                                </m:num>
                                <m:den>
                                  <m:r>
                                    <a:rPr lang="zh-CN" altLang="en-US" sz="2400" i="1">
                                      <a:solidFill>
                                        <a:srgbClr val="FF0000"/>
                                      </a:solidFill>
                                      <a:latin typeface="Cambria Math" panose="02040503050406030204" pitchFamily="18" charset="0"/>
                                    </a:rPr>
                                    <m:t>𝑒</m:t>
                                  </m:r>
                                </m:den>
                              </m:f>
                            </m:e>
                          </m:d>
                        </m:e>
                      </m:func>
                    </m:oMath>
                  </m:oMathPara>
                </a14:m>
                <a:endParaRPr lang="zh-CN" altLang="en-US" sz="2400" dirty="0">
                  <a:solidFill>
                    <a:srgbClr val="FF0000"/>
                  </a:solidFill>
                </a:endParaRPr>
              </a:p>
            </p:txBody>
          </p:sp>
        </mc:Choice>
        <mc:Fallback xmlns="">
          <p:sp>
            <p:nvSpPr>
              <p:cNvPr id="13" name="文本框 12">
                <a:extLst>
                  <a:ext uri="{FF2B5EF4-FFF2-40B4-BE49-F238E27FC236}">
                    <a16:creationId xmlns:a16="http://schemas.microsoft.com/office/drawing/2014/main" id="{3F138C57-3805-2CEC-7114-9078A96457AB}"/>
                  </a:ext>
                </a:extLst>
              </p:cNvPr>
              <p:cNvSpPr txBox="1">
                <a:spLocks noRot="1" noChangeAspect="1" noMove="1" noResize="1" noEditPoints="1" noAdjustHandles="1" noChangeArrowheads="1" noChangeShapeType="1" noTextEdit="1"/>
              </p:cNvSpPr>
              <p:nvPr/>
            </p:nvSpPr>
            <p:spPr>
              <a:xfrm>
                <a:off x="6667500" y="2779751"/>
                <a:ext cx="6101860" cy="92217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2055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200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简单的单表代换密码，如移位密码，仅统计标出</a:t>
            </a:r>
            <a:r>
              <a:rPr lang="zh-CN" altLang="en-US" dirty="0">
                <a:solidFill>
                  <a:srgbClr val="C00000"/>
                </a:solidFill>
              </a:rPr>
              <a:t>最高频度字母</a:t>
            </a:r>
            <a:r>
              <a:rPr lang="zh-CN" altLang="en-US" dirty="0"/>
              <a:t>再与明文字母表字母对应决定出移位量，就差不多得到正确解了。也很容易用</a:t>
            </a:r>
            <a:r>
              <a:rPr lang="zh-CN" altLang="en-US" dirty="0">
                <a:solidFill>
                  <a:srgbClr val="C00000"/>
                </a:solidFill>
              </a:rPr>
              <a:t>穷举密钥搜索</a:t>
            </a:r>
            <a:r>
              <a:rPr lang="zh-CN" altLang="en-US" dirty="0"/>
              <a:t>来破译。 </a:t>
            </a:r>
          </a:p>
          <a:p>
            <a:pPr>
              <a:lnSpc>
                <a:spcPct val="150000"/>
              </a:lnSpc>
            </a:pPr>
            <a:r>
              <a:rPr lang="zh-CN" altLang="en-US" dirty="0"/>
              <a:t>一般的仿射密码，多考虑几个密文字母统计表与明文字母统计表的匹配关系也不难解出。</a:t>
            </a:r>
          </a:p>
          <a:p>
            <a:pPr>
              <a:lnSpc>
                <a:spcPct val="150000"/>
              </a:lnSpc>
            </a:pPr>
            <a:r>
              <a:rPr lang="zh-CN" altLang="en-US" dirty="0"/>
              <a:t>结论：一个密码系统是安全的一个必要条件是密钥空间必须足够大，使得穷举密钥搜索破译是不可行的。</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52</a:t>
            </a:fld>
            <a:endParaRPr kumimoji="1" lang="zh-CN" altLang="en-US" dirty="0"/>
          </a:p>
        </p:txBody>
      </p:sp>
    </p:spTree>
    <p:extLst>
      <p:ext uri="{BB962C8B-B14F-4D97-AF65-F5344CB8AC3E}">
        <p14:creationId xmlns:p14="http://schemas.microsoft.com/office/powerpoint/2010/main" val="42020380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solidFill>
                  <a:srgbClr val="C00000"/>
                </a:solidFill>
              </a:rPr>
              <a:t>唯密文攻击法</a:t>
            </a:r>
            <a:r>
              <a:rPr lang="zh-CN" altLang="en-US" dirty="0"/>
              <a:t>分析单表和多表代换密码是可行的。</a:t>
            </a:r>
            <a:endParaRPr lang="en-US" altLang="zh-CN" dirty="0"/>
          </a:p>
          <a:p>
            <a:pPr>
              <a:lnSpc>
                <a:spcPct val="150000"/>
              </a:lnSpc>
            </a:pPr>
            <a:r>
              <a:rPr lang="zh-CN" altLang="en-US" dirty="0"/>
              <a:t>但用唯密文攻击法分析多字母代换密码如</a:t>
            </a:r>
            <a:r>
              <a:rPr lang="en-US" altLang="zh-CN" dirty="0"/>
              <a:t>Hill</a:t>
            </a:r>
            <a:r>
              <a:rPr lang="zh-CN" altLang="en-US" dirty="0"/>
              <a:t>密码是比较困难的。分析多字母代换多用</a:t>
            </a:r>
            <a:r>
              <a:rPr lang="zh-CN" altLang="en-US" dirty="0">
                <a:solidFill>
                  <a:srgbClr val="FF0000"/>
                </a:solidFill>
              </a:rPr>
              <a:t>已知明文攻击法</a:t>
            </a:r>
            <a:r>
              <a:rPr lang="zh-CN" altLang="en-US" dirty="0"/>
              <a:t>。 </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53</a:t>
            </a:fld>
            <a:endParaRPr kumimoji="1" lang="zh-CN" altLang="en-US" dirty="0"/>
          </a:p>
        </p:txBody>
      </p:sp>
    </p:spTree>
    <p:extLst>
      <p:ext uri="{BB962C8B-B14F-4D97-AF65-F5344CB8AC3E}">
        <p14:creationId xmlns:p14="http://schemas.microsoft.com/office/powerpoint/2010/main" val="25611814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50000"/>
              </a:lnSpc>
            </a:pPr>
            <a:r>
              <a:rPr lang="zh-CN" altLang="en-US" dirty="0">
                <a:solidFill>
                  <a:srgbClr val="C00000"/>
                </a:solidFill>
              </a:rPr>
              <a:t>单字母频率分析</a:t>
            </a:r>
            <a:endParaRPr lang="en-US" altLang="zh-CN" dirty="0">
              <a:solidFill>
                <a:srgbClr val="C00000"/>
              </a:solidFill>
            </a:endParaRPr>
          </a:p>
          <a:p>
            <a:pPr marL="800100" lvl="1" indent="-342900">
              <a:lnSpc>
                <a:spcPct val="150000"/>
              </a:lnSpc>
            </a:pPr>
            <a:r>
              <a:rPr lang="zh-CN" altLang="en-US" dirty="0"/>
              <a:t>简单代替密码可能很容易的通过使用</a:t>
            </a:r>
            <a:r>
              <a:rPr lang="zh-CN" altLang="en-US" dirty="0">
                <a:solidFill>
                  <a:srgbClr val="C00000"/>
                </a:solidFill>
              </a:rPr>
              <a:t>单字母频率分析法</a:t>
            </a:r>
            <a:r>
              <a:rPr lang="zh-CN" altLang="en-US" dirty="0"/>
              <a:t>的只有密文的攻击来破译。</a:t>
            </a:r>
          </a:p>
          <a:p>
            <a:pPr marL="800100" lvl="1" indent="-342900">
              <a:lnSpc>
                <a:spcPct val="150000"/>
              </a:lnSpc>
            </a:pPr>
            <a:r>
              <a:rPr lang="zh-CN" altLang="en-US" dirty="0"/>
              <a:t>基于移位字母表的密码通常易于破译，因为每个密文字母与相应的明文字母的差为一个常数。</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54</a:t>
            </a:fld>
            <a:endParaRPr kumimoji="1" lang="zh-CN" altLang="en-US" dirty="0"/>
          </a:p>
        </p:txBody>
      </p:sp>
    </p:spTree>
    <p:extLst>
      <p:ext uri="{BB962C8B-B14F-4D97-AF65-F5344CB8AC3E}">
        <p14:creationId xmlns:p14="http://schemas.microsoft.com/office/powerpoint/2010/main" val="2388179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r>
              <a:rPr lang="zh-CN" altLang="en-US" dirty="0">
                <a:solidFill>
                  <a:srgbClr val="C00000"/>
                </a:solidFill>
              </a:rPr>
              <a:t>单字母频率分析（仿射变换例）</a:t>
            </a:r>
            <a:endParaRPr lang="en-US" altLang="zh-CN" dirty="0"/>
          </a:p>
          <a:p>
            <a:pPr lvl="1"/>
            <a:r>
              <a:rPr lang="zh-CN" altLang="en-US" dirty="0"/>
              <a:t>例：明文：</a:t>
            </a:r>
            <a:r>
              <a:rPr lang="en-US" altLang="zh-CN" dirty="0"/>
              <a:t>F(5), I(8)</a:t>
            </a:r>
            <a:r>
              <a:rPr lang="zh-CN" altLang="en-US" dirty="0"/>
              <a:t>和</a:t>
            </a:r>
            <a:r>
              <a:rPr lang="en-US" altLang="zh-CN" dirty="0"/>
              <a:t>L(11), </a:t>
            </a:r>
            <a:r>
              <a:rPr lang="zh-CN" altLang="en-US" dirty="0"/>
              <a:t>对应的密文为：</a:t>
            </a:r>
            <a:r>
              <a:rPr lang="en-US" altLang="zh-CN" dirty="0"/>
              <a:t>M(12), S(18)</a:t>
            </a:r>
            <a:r>
              <a:rPr lang="zh-CN" altLang="en-US" dirty="0"/>
              <a:t>和</a:t>
            </a:r>
            <a:r>
              <a:rPr lang="en-US" altLang="zh-CN" dirty="0"/>
              <a:t>Y(24)</a:t>
            </a:r>
            <a:r>
              <a:rPr lang="zh-CN" altLang="en-US" dirty="0"/>
              <a:t>。</a:t>
            </a:r>
          </a:p>
          <a:p>
            <a:pPr lvl="1">
              <a:buNone/>
            </a:pPr>
            <a:r>
              <a:rPr lang="zh-CN" altLang="en-US" dirty="0"/>
              <a:t>	</a:t>
            </a:r>
            <a:r>
              <a:rPr lang="en-US" altLang="zh-CN" dirty="0"/>
              <a:t>(5</a:t>
            </a:r>
            <a:r>
              <a:rPr lang="en-US" altLang="zh-CN" i="1" dirty="0"/>
              <a:t>k</a:t>
            </a:r>
            <a:r>
              <a:rPr lang="en-US" altLang="zh-CN" baseline="-25000" dirty="0"/>
              <a:t>1</a:t>
            </a:r>
            <a:r>
              <a:rPr lang="en-US" altLang="zh-CN" dirty="0"/>
              <a:t>+</a:t>
            </a:r>
            <a:r>
              <a:rPr lang="en-US" altLang="zh-CN" i="1" dirty="0"/>
              <a:t>k</a:t>
            </a:r>
            <a:r>
              <a:rPr lang="en-US" altLang="zh-CN" baseline="-25000" dirty="0"/>
              <a:t>0</a:t>
            </a:r>
            <a:r>
              <a:rPr lang="en-US" altLang="zh-CN" dirty="0"/>
              <a:t>) mod 26 = 12		(1)</a:t>
            </a:r>
          </a:p>
          <a:p>
            <a:pPr lvl="1">
              <a:buNone/>
            </a:pPr>
            <a:r>
              <a:rPr lang="en-US" altLang="zh-CN" dirty="0"/>
              <a:t>	(8</a:t>
            </a:r>
            <a:r>
              <a:rPr lang="en-US" altLang="zh-CN" i="1" dirty="0"/>
              <a:t>k</a:t>
            </a:r>
            <a:r>
              <a:rPr lang="en-US" altLang="zh-CN" baseline="-25000" dirty="0"/>
              <a:t>1</a:t>
            </a:r>
            <a:r>
              <a:rPr lang="en-US" altLang="zh-CN" dirty="0"/>
              <a:t>+</a:t>
            </a:r>
            <a:r>
              <a:rPr lang="en-US" altLang="zh-CN" i="1" dirty="0"/>
              <a:t>k</a:t>
            </a:r>
            <a:r>
              <a:rPr lang="en-US" altLang="zh-CN" baseline="-25000" dirty="0"/>
              <a:t>0</a:t>
            </a:r>
            <a:r>
              <a:rPr lang="en-US" altLang="zh-CN" dirty="0"/>
              <a:t>) mod 26 = 18		(2)</a:t>
            </a:r>
          </a:p>
          <a:p>
            <a:pPr lvl="1">
              <a:buNone/>
            </a:pPr>
            <a:r>
              <a:rPr lang="en-US" altLang="zh-CN" dirty="0"/>
              <a:t>	(11</a:t>
            </a:r>
            <a:r>
              <a:rPr lang="en-US" altLang="zh-CN" i="1" dirty="0"/>
              <a:t>k</a:t>
            </a:r>
            <a:r>
              <a:rPr lang="en-US" altLang="zh-CN" baseline="-25000" dirty="0"/>
              <a:t>1</a:t>
            </a:r>
            <a:r>
              <a:rPr lang="en-US" altLang="zh-CN" dirty="0"/>
              <a:t>+</a:t>
            </a:r>
            <a:r>
              <a:rPr lang="en-US" altLang="zh-CN" i="1" dirty="0"/>
              <a:t>k</a:t>
            </a:r>
            <a:r>
              <a:rPr lang="en-US" altLang="zh-CN" baseline="-25000" dirty="0"/>
              <a:t>0</a:t>
            </a:r>
            <a:r>
              <a:rPr lang="en-US" altLang="zh-CN" dirty="0"/>
              <a:t>) mod 26 = 24		(3)</a:t>
            </a:r>
          </a:p>
          <a:p>
            <a:pPr lvl="1"/>
            <a:r>
              <a:rPr lang="en-US" altLang="zh-CN" dirty="0"/>
              <a:t>(2)-(1)</a:t>
            </a:r>
            <a:r>
              <a:rPr lang="zh-CN" altLang="en-US" dirty="0"/>
              <a:t>得：</a:t>
            </a:r>
            <a:r>
              <a:rPr lang="en-US" altLang="zh-CN" dirty="0"/>
              <a:t>3</a:t>
            </a:r>
            <a:r>
              <a:rPr lang="en-US" altLang="zh-CN" i="1" dirty="0"/>
              <a:t>k</a:t>
            </a:r>
            <a:r>
              <a:rPr lang="en-US" altLang="zh-CN" baseline="-25000" dirty="0"/>
              <a:t>1</a:t>
            </a:r>
            <a:r>
              <a:rPr lang="en-US" altLang="zh-CN" dirty="0"/>
              <a:t> mod 26 = 6</a:t>
            </a:r>
          </a:p>
          <a:p>
            <a:pPr lvl="1"/>
            <a:r>
              <a:rPr lang="zh-CN" altLang="en-US" dirty="0"/>
              <a:t>解得：</a:t>
            </a:r>
            <a:r>
              <a:rPr lang="en-US" altLang="zh-CN" i="1" dirty="0"/>
              <a:t>k</a:t>
            </a:r>
            <a:r>
              <a:rPr lang="en-US" altLang="zh-CN" baseline="-25000" dirty="0"/>
              <a:t>1</a:t>
            </a:r>
            <a:r>
              <a:rPr lang="en-US" altLang="zh-CN" dirty="0"/>
              <a:t>=6 * 3</a:t>
            </a:r>
            <a:r>
              <a:rPr lang="en-US" altLang="zh-CN" baseline="30000" dirty="0"/>
              <a:t>-1</a:t>
            </a:r>
            <a:r>
              <a:rPr lang="en-US" altLang="zh-CN" dirty="0"/>
              <a:t> mod 26 = 6 * 9 mod 26 = 2</a:t>
            </a:r>
          </a:p>
          <a:p>
            <a:pPr lvl="1"/>
            <a:r>
              <a:rPr lang="zh-CN" altLang="en-US" dirty="0"/>
              <a:t>代入</a:t>
            </a:r>
            <a:r>
              <a:rPr lang="en-US" altLang="zh-CN" dirty="0"/>
              <a:t>(1)</a:t>
            </a:r>
            <a:r>
              <a:rPr lang="zh-CN" altLang="en-US" dirty="0"/>
              <a:t>，得：</a:t>
            </a:r>
            <a:r>
              <a:rPr lang="en-US" altLang="zh-CN" i="1" dirty="0"/>
              <a:t>k</a:t>
            </a:r>
            <a:r>
              <a:rPr lang="en-US" altLang="zh-CN" baseline="-25000" dirty="0"/>
              <a:t>0</a:t>
            </a:r>
            <a:r>
              <a:rPr lang="en-US" altLang="zh-CN" dirty="0"/>
              <a:t> = 2</a:t>
            </a:r>
          </a:p>
          <a:p>
            <a:pPr>
              <a:lnSpc>
                <a:spcPct val="150000"/>
              </a:lnSpc>
            </a:pP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55</a:t>
            </a:fld>
            <a:endParaRPr kumimoji="1" lang="zh-CN" altLang="en-US" dirty="0"/>
          </a:p>
        </p:txBody>
      </p:sp>
    </p:spTree>
    <p:extLst>
      <p:ext uri="{BB962C8B-B14F-4D97-AF65-F5344CB8AC3E}">
        <p14:creationId xmlns:p14="http://schemas.microsoft.com/office/powerpoint/2010/main" val="1959355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r>
              <a:rPr lang="zh-CN" altLang="en-US" dirty="0">
                <a:solidFill>
                  <a:srgbClr val="C00000"/>
                </a:solidFill>
              </a:rPr>
              <a:t>单字母频率分析</a:t>
            </a:r>
            <a:endParaRPr lang="en-US" altLang="zh-CN" dirty="0">
              <a:solidFill>
                <a:srgbClr val="C00000"/>
              </a:solidFill>
            </a:endParaRPr>
          </a:p>
          <a:p>
            <a:pPr lvl="1"/>
            <a:r>
              <a:rPr lang="zh-CN" altLang="en-US" dirty="0"/>
              <a:t>需要解密的密文是：</a:t>
            </a:r>
          </a:p>
          <a:p>
            <a:pPr lvl="1"/>
            <a:r>
              <a:rPr lang="en-US" altLang="zh-CN" dirty="0">
                <a:latin typeface="Courier" pitchFamily="49" charset="0"/>
              </a:rPr>
              <a:t>UZQSOVUOHXMOPVGPOZPEVSGZWSZOPFPESXUDBMETSXAIZ</a:t>
            </a:r>
            <a:endParaRPr lang="en-US" altLang="zh-CN" dirty="0"/>
          </a:p>
          <a:p>
            <a:pPr lvl="1"/>
            <a:r>
              <a:rPr lang="en-US" altLang="zh-CN" dirty="0">
                <a:latin typeface="Courier" pitchFamily="49" charset="0"/>
              </a:rPr>
              <a:t>VUEPHZHMDZSHZOWSFPAPPDTSVPQUZWYMXUZUHSX</a:t>
            </a:r>
          </a:p>
          <a:p>
            <a:pPr lvl="1"/>
            <a:r>
              <a:rPr lang="en-US" altLang="zh-CN" dirty="0">
                <a:latin typeface="Courier" pitchFamily="49" charset="0"/>
              </a:rPr>
              <a:t>EPYEPOPDZSZUFPOMBZWPFUPZHMDJUDTMOHMQ</a:t>
            </a:r>
            <a:r>
              <a:rPr lang="en-US" altLang="zh-CN" dirty="0"/>
              <a:t> </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56</a:t>
            </a:fld>
            <a:endParaRPr kumimoji="1" lang="zh-CN" altLang="en-US" dirty="0"/>
          </a:p>
        </p:txBody>
      </p:sp>
      <p:grpSp>
        <p:nvGrpSpPr>
          <p:cNvPr id="5" name="Group 66"/>
          <p:cNvGrpSpPr>
            <a:grpSpLocks/>
          </p:cNvGrpSpPr>
          <p:nvPr/>
        </p:nvGrpSpPr>
        <p:grpSpPr bwMode="auto">
          <a:xfrm>
            <a:off x="1524000" y="3978274"/>
            <a:ext cx="9144000" cy="2514600"/>
            <a:chOff x="43" y="384"/>
            <a:chExt cx="2721" cy="2496"/>
          </a:xfrm>
        </p:grpSpPr>
        <p:sp>
          <p:nvSpPr>
            <p:cNvPr id="6" name="Rectangle 6"/>
            <p:cNvSpPr>
              <a:spLocks noChangeArrowheads="1"/>
            </p:cNvSpPr>
            <p:nvPr/>
          </p:nvSpPr>
          <p:spPr bwMode="auto">
            <a:xfrm>
              <a:off x="43" y="384"/>
              <a:ext cx="27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P</a:t>
              </a:r>
            </a:p>
            <a:p>
              <a:pPr algn="r"/>
              <a:endParaRPr kumimoji="1" lang="en-US" altLang="zh-CN" sz="2400" b="0">
                <a:solidFill>
                  <a:schemeClr val="tx1"/>
                </a:solidFill>
                <a:latin typeface="Times New Roman" panose="02020603050405020304" pitchFamily="18" charset="0"/>
              </a:endParaRPr>
            </a:p>
          </p:txBody>
        </p:sp>
        <p:sp>
          <p:nvSpPr>
            <p:cNvPr id="7" name="Rectangle 7"/>
            <p:cNvSpPr>
              <a:spLocks noChangeArrowheads="1"/>
            </p:cNvSpPr>
            <p:nvPr/>
          </p:nvSpPr>
          <p:spPr bwMode="auto">
            <a:xfrm>
              <a:off x="316"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dirty="0">
                  <a:solidFill>
                    <a:schemeClr val="tx1"/>
                  </a:solidFill>
                  <a:latin typeface="Times New Roman" panose="02020603050405020304" pitchFamily="18" charset="0"/>
                  <a:cs typeface="Times New Roman" panose="02020603050405020304" pitchFamily="18" charset="0"/>
                </a:rPr>
                <a:t>13.33</a:t>
              </a:r>
            </a:p>
            <a:p>
              <a:pPr algn="just"/>
              <a:endParaRPr kumimoji="1" lang="en-US" altLang="zh-CN" sz="2400" b="0" dirty="0">
                <a:solidFill>
                  <a:schemeClr val="tx1"/>
                </a:solidFill>
                <a:latin typeface="Times New Roman" panose="02020603050405020304" pitchFamily="18" charset="0"/>
              </a:endParaRPr>
            </a:p>
          </p:txBody>
        </p:sp>
        <p:sp>
          <p:nvSpPr>
            <p:cNvPr id="8" name="Rectangle 8"/>
            <p:cNvSpPr>
              <a:spLocks noChangeArrowheads="1"/>
            </p:cNvSpPr>
            <p:nvPr/>
          </p:nvSpPr>
          <p:spPr bwMode="auto">
            <a:xfrm>
              <a:off x="588"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H</a:t>
              </a:r>
            </a:p>
            <a:p>
              <a:pPr algn="r"/>
              <a:endParaRPr kumimoji="1" lang="en-US" altLang="zh-CN" sz="2400" b="0">
                <a:solidFill>
                  <a:schemeClr val="tx1"/>
                </a:solidFill>
                <a:latin typeface="Times New Roman" panose="02020603050405020304" pitchFamily="18" charset="0"/>
              </a:endParaRPr>
            </a:p>
          </p:txBody>
        </p:sp>
        <p:sp>
          <p:nvSpPr>
            <p:cNvPr id="9" name="Rectangle 9"/>
            <p:cNvSpPr>
              <a:spLocks noChangeArrowheads="1"/>
            </p:cNvSpPr>
            <p:nvPr/>
          </p:nvSpPr>
          <p:spPr bwMode="auto">
            <a:xfrm>
              <a:off x="860"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5.00</a:t>
              </a:r>
            </a:p>
            <a:p>
              <a:pPr algn="just"/>
              <a:endParaRPr kumimoji="1" lang="en-US" altLang="zh-CN" sz="2400" b="0">
                <a:solidFill>
                  <a:schemeClr val="tx1"/>
                </a:solidFill>
                <a:latin typeface="Times New Roman" panose="02020603050405020304" pitchFamily="18" charset="0"/>
              </a:endParaRPr>
            </a:p>
          </p:txBody>
        </p:sp>
        <p:sp>
          <p:nvSpPr>
            <p:cNvPr id="10" name="Rectangle 10"/>
            <p:cNvSpPr>
              <a:spLocks noChangeArrowheads="1"/>
            </p:cNvSpPr>
            <p:nvPr/>
          </p:nvSpPr>
          <p:spPr bwMode="auto">
            <a:xfrm>
              <a:off x="1132"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F</a:t>
              </a:r>
            </a:p>
            <a:p>
              <a:pPr algn="r"/>
              <a:endParaRPr kumimoji="1" lang="en-US" altLang="zh-CN" sz="2400" b="0">
                <a:solidFill>
                  <a:schemeClr val="tx1"/>
                </a:solidFill>
                <a:latin typeface="Times New Roman" panose="02020603050405020304" pitchFamily="18" charset="0"/>
              </a:endParaRPr>
            </a:p>
          </p:txBody>
        </p:sp>
        <p:sp>
          <p:nvSpPr>
            <p:cNvPr id="11" name="Rectangle 11"/>
            <p:cNvSpPr>
              <a:spLocks noChangeArrowheads="1"/>
            </p:cNvSpPr>
            <p:nvPr/>
          </p:nvSpPr>
          <p:spPr bwMode="auto">
            <a:xfrm>
              <a:off x="1404"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3.33</a:t>
              </a:r>
            </a:p>
            <a:p>
              <a:pPr algn="just"/>
              <a:endParaRPr kumimoji="1" lang="en-US" altLang="zh-CN" sz="2400" b="0">
                <a:solidFill>
                  <a:schemeClr val="tx1"/>
                </a:solidFill>
                <a:latin typeface="Times New Roman" panose="02020603050405020304" pitchFamily="18" charset="0"/>
              </a:endParaRPr>
            </a:p>
          </p:txBody>
        </p:sp>
        <p:sp>
          <p:nvSpPr>
            <p:cNvPr id="12" name="Rectangle 12"/>
            <p:cNvSpPr>
              <a:spLocks noChangeArrowheads="1"/>
            </p:cNvSpPr>
            <p:nvPr/>
          </p:nvSpPr>
          <p:spPr bwMode="auto">
            <a:xfrm>
              <a:off x="1676"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B</a:t>
              </a:r>
            </a:p>
            <a:p>
              <a:pPr algn="r"/>
              <a:endParaRPr kumimoji="1" lang="en-US" altLang="zh-CN" sz="2400" b="0">
                <a:solidFill>
                  <a:schemeClr val="tx1"/>
                </a:solidFill>
                <a:latin typeface="Times New Roman" panose="02020603050405020304" pitchFamily="18" charset="0"/>
              </a:endParaRPr>
            </a:p>
          </p:txBody>
        </p:sp>
        <p:sp>
          <p:nvSpPr>
            <p:cNvPr id="13" name="Rectangle 13"/>
            <p:cNvSpPr>
              <a:spLocks noChangeArrowheads="1"/>
            </p:cNvSpPr>
            <p:nvPr/>
          </p:nvSpPr>
          <p:spPr bwMode="auto">
            <a:xfrm>
              <a:off x="1948"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1.67</a:t>
              </a:r>
            </a:p>
            <a:p>
              <a:pPr algn="just"/>
              <a:endParaRPr kumimoji="1" lang="en-US" altLang="zh-CN" sz="2400" b="0">
                <a:solidFill>
                  <a:schemeClr val="tx1"/>
                </a:solidFill>
                <a:latin typeface="Times New Roman" panose="02020603050405020304" pitchFamily="18" charset="0"/>
              </a:endParaRPr>
            </a:p>
          </p:txBody>
        </p:sp>
        <p:sp>
          <p:nvSpPr>
            <p:cNvPr id="14" name="Rectangle 14"/>
            <p:cNvSpPr>
              <a:spLocks noChangeArrowheads="1"/>
            </p:cNvSpPr>
            <p:nvPr/>
          </p:nvSpPr>
          <p:spPr bwMode="auto">
            <a:xfrm>
              <a:off x="2220"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C</a:t>
              </a:r>
            </a:p>
            <a:p>
              <a:pPr algn="r"/>
              <a:endParaRPr kumimoji="1" lang="en-US" altLang="zh-CN" sz="2400" b="0">
                <a:solidFill>
                  <a:schemeClr val="tx1"/>
                </a:solidFill>
                <a:latin typeface="Times New Roman" panose="02020603050405020304" pitchFamily="18" charset="0"/>
              </a:endParaRPr>
            </a:p>
          </p:txBody>
        </p:sp>
        <p:sp>
          <p:nvSpPr>
            <p:cNvPr id="15" name="Rectangle 15"/>
            <p:cNvSpPr>
              <a:spLocks noChangeArrowheads="1"/>
            </p:cNvSpPr>
            <p:nvPr/>
          </p:nvSpPr>
          <p:spPr bwMode="auto">
            <a:xfrm>
              <a:off x="2492" y="38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0.00</a:t>
              </a:r>
            </a:p>
            <a:p>
              <a:pPr algn="just"/>
              <a:endParaRPr kumimoji="1" lang="en-US" altLang="zh-CN" sz="2400" b="0">
                <a:solidFill>
                  <a:schemeClr val="tx1"/>
                </a:solidFill>
                <a:latin typeface="Times New Roman" panose="02020603050405020304" pitchFamily="18" charset="0"/>
              </a:endParaRPr>
            </a:p>
          </p:txBody>
        </p:sp>
        <p:sp>
          <p:nvSpPr>
            <p:cNvPr id="16" name="Rectangle 16"/>
            <p:cNvSpPr>
              <a:spLocks noChangeArrowheads="1"/>
            </p:cNvSpPr>
            <p:nvPr/>
          </p:nvSpPr>
          <p:spPr bwMode="auto">
            <a:xfrm>
              <a:off x="43" y="864"/>
              <a:ext cx="27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Z</a:t>
              </a:r>
            </a:p>
            <a:p>
              <a:pPr algn="r"/>
              <a:endParaRPr kumimoji="1" lang="en-US" altLang="zh-CN" sz="2400" b="0">
                <a:solidFill>
                  <a:schemeClr val="tx1"/>
                </a:solidFill>
                <a:latin typeface="Times New Roman" panose="02020603050405020304" pitchFamily="18" charset="0"/>
              </a:endParaRPr>
            </a:p>
          </p:txBody>
        </p:sp>
        <p:sp>
          <p:nvSpPr>
            <p:cNvPr id="17" name="Rectangle 17"/>
            <p:cNvSpPr>
              <a:spLocks noChangeArrowheads="1"/>
            </p:cNvSpPr>
            <p:nvPr/>
          </p:nvSpPr>
          <p:spPr bwMode="auto">
            <a:xfrm>
              <a:off x="316"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11.67</a:t>
              </a:r>
            </a:p>
            <a:p>
              <a:pPr algn="just"/>
              <a:endParaRPr kumimoji="1" lang="en-US" altLang="zh-CN" sz="2400" b="0">
                <a:solidFill>
                  <a:schemeClr val="tx1"/>
                </a:solidFill>
                <a:latin typeface="Times New Roman" panose="02020603050405020304" pitchFamily="18" charset="0"/>
              </a:endParaRPr>
            </a:p>
          </p:txBody>
        </p:sp>
        <p:sp>
          <p:nvSpPr>
            <p:cNvPr id="18" name="Rectangle 18"/>
            <p:cNvSpPr>
              <a:spLocks noChangeArrowheads="1"/>
            </p:cNvSpPr>
            <p:nvPr/>
          </p:nvSpPr>
          <p:spPr bwMode="auto">
            <a:xfrm>
              <a:off x="588"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D</a:t>
              </a:r>
            </a:p>
            <a:p>
              <a:pPr algn="r"/>
              <a:endParaRPr kumimoji="1" lang="en-US" altLang="zh-CN" sz="2400" b="0">
                <a:solidFill>
                  <a:schemeClr val="tx1"/>
                </a:solidFill>
                <a:latin typeface="Times New Roman" panose="02020603050405020304" pitchFamily="18" charset="0"/>
              </a:endParaRPr>
            </a:p>
          </p:txBody>
        </p:sp>
        <p:sp>
          <p:nvSpPr>
            <p:cNvPr id="19" name="Rectangle 19"/>
            <p:cNvSpPr>
              <a:spLocks noChangeArrowheads="1"/>
            </p:cNvSpPr>
            <p:nvPr/>
          </p:nvSpPr>
          <p:spPr bwMode="auto">
            <a:xfrm>
              <a:off x="860"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5.83</a:t>
              </a:r>
            </a:p>
            <a:p>
              <a:pPr algn="just"/>
              <a:endParaRPr kumimoji="1" lang="en-US" altLang="zh-CN" sz="2400" b="0">
                <a:solidFill>
                  <a:schemeClr val="tx1"/>
                </a:solidFill>
                <a:latin typeface="Times New Roman" panose="02020603050405020304" pitchFamily="18" charset="0"/>
              </a:endParaRPr>
            </a:p>
          </p:txBody>
        </p:sp>
        <p:sp>
          <p:nvSpPr>
            <p:cNvPr id="20" name="Rectangle 20"/>
            <p:cNvSpPr>
              <a:spLocks noChangeArrowheads="1"/>
            </p:cNvSpPr>
            <p:nvPr/>
          </p:nvSpPr>
          <p:spPr bwMode="auto">
            <a:xfrm>
              <a:off x="1132"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W</a:t>
              </a:r>
            </a:p>
            <a:p>
              <a:pPr algn="r"/>
              <a:endParaRPr kumimoji="1" lang="en-US" altLang="zh-CN" sz="2400" b="0">
                <a:solidFill>
                  <a:schemeClr val="tx1"/>
                </a:solidFill>
                <a:latin typeface="Times New Roman" panose="02020603050405020304" pitchFamily="18" charset="0"/>
              </a:endParaRPr>
            </a:p>
          </p:txBody>
        </p:sp>
        <p:sp>
          <p:nvSpPr>
            <p:cNvPr id="21" name="Rectangle 21"/>
            <p:cNvSpPr>
              <a:spLocks noChangeArrowheads="1"/>
            </p:cNvSpPr>
            <p:nvPr/>
          </p:nvSpPr>
          <p:spPr bwMode="auto">
            <a:xfrm>
              <a:off x="1404"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3.33</a:t>
              </a:r>
            </a:p>
            <a:p>
              <a:pPr algn="just"/>
              <a:endParaRPr kumimoji="1" lang="en-US" altLang="zh-CN" sz="2400" b="0">
                <a:solidFill>
                  <a:schemeClr val="tx1"/>
                </a:solidFill>
                <a:latin typeface="Times New Roman" panose="02020603050405020304" pitchFamily="18" charset="0"/>
              </a:endParaRPr>
            </a:p>
          </p:txBody>
        </p:sp>
        <p:sp>
          <p:nvSpPr>
            <p:cNvPr id="22" name="Rectangle 22"/>
            <p:cNvSpPr>
              <a:spLocks noChangeArrowheads="1"/>
            </p:cNvSpPr>
            <p:nvPr/>
          </p:nvSpPr>
          <p:spPr bwMode="auto">
            <a:xfrm>
              <a:off x="1676"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G</a:t>
              </a:r>
            </a:p>
            <a:p>
              <a:pPr algn="r"/>
              <a:endParaRPr kumimoji="1" lang="en-US" altLang="zh-CN" sz="2400" b="0">
                <a:solidFill>
                  <a:schemeClr val="tx1"/>
                </a:solidFill>
                <a:latin typeface="Times New Roman" panose="02020603050405020304" pitchFamily="18" charset="0"/>
              </a:endParaRPr>
            </a:p>
          </p:txBody>
        </p:sp>
        <p:sp>
          <p:nvSpPr>
            <p:cNvPr id="23" name="Rectangle 23"/>
            <p:cNvSpPr>
              <a:spLocks noChangeArrowheads="1"/>
            </p:cNvSpPr>
            <p:nvPr/>
          </p:nvSpPr>
          <p:spPr bwMode="auto">
            <a:xfrm>
              <a:off x="1948"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1.67</a:t>
              </a:r>
            </a:p>
            <a:p>
              <a:pPr algn="just"/>
              <a:endParaRPr kumimoji="1" lang="en-US" altLang="zh-CN" sz="2400" b="0">
                <a:solidFill>
                  <a:schemeClr val="tx1"/>
                </a:solidFill>
                <a:latin typeface="Times New Roman" panose="02020603050405020304" pitchFamily="18" charset="0"/>
              </a:endParaRPr>
            </a:p>
          </p:txBody>
        </p:sp>
        <p:sp>
          <p:nvSpPr>
            <p:cNvPr id="24" name="Rectangle 24"/>
            <p:cNvSpPr>
              <a:spLocks noChangeArrowheads="1"/>
            </p:cNvSpPr>
            <p:nvPr/>
          </p:nvSpPr>
          <p:spPr bwMode="auto">
            <a:xfrm>
              <a:off x="2220"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K</a:t>
              </a:r>
            </a:p>
            <a:p>
              <a:pPr algn="r"/>
              <a:endParaRPr kumimoji="1" lang="en-US" altLang="zh-CN" sz="2400" b="0">
                <a:solidFill>
                  <a:schemeClr val="tx1"/>
                </a:solidFill>
                <a:latin typeface="Times New Roman" panose="02020603050405020304" pitchFamily="18" charset="0"/>
              </a:endParaRPr>
            </a:p>
          </p:txBody>
        </p:sp>
        <p:sp>
          <p:nvSpPr>
            <p:cNvPr id="25" name="Rectangle 25"/>
            <p:cNvSpPr>
              <a:spLocks noChangeArrowheads="1"/>
            </p:cNvSpPr>
            <p:nvPr/>
          </p:nvSpPr>
          <p:spPr bwMode="auto">
            <a:xfrm>
              <a:off x="2492" y="864"/>
              <a:ext cx="27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0.00</a:t>
              </a:r>
            </a:p>
            <a:p>
              <a:pPr algn="just"/>
              <a:endParaRPr kumimoji="1" lang="en-US" altLang="zh-CN" sz="2400" b="0">
                <a:solidFill>
                  <a:schemeClr val="tx1"/>
                </a:solidFill>
                <a:latin typeface="Times New Roman" panose="02020603050405020304" pitchFamily="18" charset="0"/>
              </a:endParaRPr>
            </a:p>
          </p:txBody>
        </p:sp>
        <p:sp>
          <p:nvSpPr>
            <p:cNvPr id="26" name="Rectangle 26"/>
            <p:cNvSpPr>
              <a:spLocks noChangeArrowheads="1"/>
            </p:cNvSpPr>
            <p:nvPr/>
          </p:nvSpPr>
          <p:spPr bwMode="auto">
            <a:xfrm>
              <a:off x="43" y="1344"/>
              <a:ext cx="2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S</a:t>
              </a:r>
            </a:p>
            <a:p>
              <a:pPr algn="r"/>
              <a:endParaRPr kumimoji="1" lang="en-US" altLang="zh-CN" sz="2400" b="0">
                <a:solidFill>
                  <a:schemeClr val="tx1"/>
                </a:solidFill>
                <a:latin typeface="Times New Roman" panose="02020603050405020304" pitchFamily="18" charset="0"/>
              </a:endParaRPr>
            </a:p>
          </p:txBody>
        </p:sp>
        <p:sp>
          <p:nvSpPr>
            <p:cNvPr id="27" name="Rectangle 27"/>
            <p:cNvSpPr>
              <a:spLocks noChangeArrowheads="1"/>
            </p:cNvSpPr>
            <p:nvPr/>
          </p:nvSpPr>
          <p:spPr bwMode="auto">
            <a:xfrm>
              <a:off x="316"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8.33</a:t>
              </a:r>
            </a:p>
            <a:p>
              <a:pPr algn="just"/>
              <a:endParaRPr kumimoji="1" lang="en-US" altLang="zh-CN" sz="2400" b="0">
                <a:solidFill>
                  <a:schemeClr val="tx1"/>
                </a:solidFill>
                <a:latin typeface="Times New Roman" panose="02020603050405020304" pitchFamily="18" charset="0"/>
              </a:endParaRPr>
            </a:p>
          </p:txBody>
        </p:sp>
        <p:sp>
          <p:nvSpPr>
            <p:cNvPr id="28" name="Rectangle 28"/>
            <p:cNvSpPr>
              <a:spLocks noChangeArrowheads="1"/>
            </p:cNvSpPr>
            <p:nvPr/>
          </p:nvSpPr>
          <p:spPr bwMode="auto">
            <a:xfrm>
              <a:off x="588"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E</a:t>
              </a:r>
            </a:p>
            <a:p>
              <a:pPr algn="r"/>
              <a:endParaRPr kumimoji="1" lang="en-US" altLang="zh-CN" sz="2400" b="0">
                <a:solidFill>
                  <a:schemeClr val="tx1"/>
                </a:solidFill>
                <a:latin typeface="Times New Roman" panose="02020603050405020304" pitchFamily="18" charset="0"/>
              </a:endParaRPr>
            </a:p>
          </p:txBody>
        </p:sp>
        <p:sp>
          <p:nvSpPr>
            <p:cNvPr id="29" name="Rectangle 29"/>
            <p:cNvSpPr>
              <a:spLocks noChangeArrowheads="1"/>
            </p:cNvSpPr>
            <p:nvPr/>
          </p:nvSpPr>
          <p:spPr bwMode="auto">
            <a:xfrm>
              <a:off x="860"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5.00</a:t>
              </a:r>
            </a:p>
            <a:p>
              <a:pPr algn="just"/>
              <a:endParaRPr kumimoji="1" lang="en-US" altLang="zh-CN" sz="2400" b="0">
                <a:solidFill>
                  <a:schemeClr val="tx1"/>
                </a:solidFill>
                <a:latin typeface="Times New Roman" panose="02020603050405020304" pitchFamily="18" charset="0"/>
              </a:endParaRPr>
            </a:p>
          </p:txBody>
        </p:sp>
        <p:sp>
          <p:nvSpPr>
            <p:cNvPr id="30" name="Rectangle 30"/>
            <p:cNvSpPr>
              <a:spLocks noChangeArrowheads="1"/>
            </p:cNvSpPr>
            <p:nvPr/>
          </p:nvSpPr>
          <p:spPr bwMode="auto">
            <a:xfrm>
              <a:off x="1132"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Q</a:t>
              </a:r>
            </a:p>
            <a:p>
              <a:pPr algn="r"/>
              <a:endParaRPr kumimoji="1" lang="en-US" altLang="zh-CN" sz="2400" b="0">
                <a:solidFill>
                  <a:schemeClr val="tx1"/>
                </a:solidFill>
                <a:latin typeface="Times New Roman" panose="02020603050405020304" pitchFamily="18" charset="0"/>
              </a:endParaRPr>
            </a:p>
          </p:txBody>
        </p:sp>
        <p:sp>
          <p:nvSpPr>
            <p:cNvPr id="31" name="Rectangle 31"/>
            <p:cNvSpPr>
              <a:spLocks noChangeArrowheads="1"/>
            </p:cNvSpPr>
            <p:nvPr/>
          </p:nvSpPr>
          <p:spPr bwMode="auto">
            <a:xfrm>
              <a:off x="1404"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2.50</a:t>
              </a:r>
            </a:p>
            <a:p>
              <a:pPr algn="just"/>
              <a:endParaRPr kumimoji="1" lang="en-US" altLang="zh-CN" sz="2400" b="0">
                <a:solidFill>
                  <a:schemeClr val="tx1"/>
                </a:solidFill>
                <a:latin typeface="Times New Roman" panose="02020603050405020304" pitchFamily="18" charset="0"/>
              </a:endParaRPr>
            </a:p>
          </p:txBody>
        </p:sp>
        <p:sp>
          <p:nvSpPr>
            <p:cNvPr id="32" name="Rectangle 32"/>
            <p:cNvSpPr>
              <a:spLocks noChangeArrowheads="1"/>
            </p:cNvSpPr>
            <p:nvPr/>
          </p:nvSpPr>
          <p:spPr bwMode="auto">
            <a:xfrm>
              <a:off x="1676"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Y</a:t>
              </a:r>
            </a:p>
            <a:p>
              <a:pPr algn="r"/>
              <a:endParaRPr kumimoji="1" lang="en-US" altLang="zh-CN" sz="2400" b="0">
                <a:solidFill>
                  <a:schemeClr val="tx1"/>
                </a:solidFill>
                <a:latin typeface="Times New Roman" panose="02020603050405020304" pitchFamily="18" charset="0"/>
              </a:endParaRPr>
            </a:p>
          </p:txBody>
        </p:sp>
        <p:sp>
          <p:nvSpPr>
            <p:cNvPr id="33" name="Rectangle 33"/>
            <p:cNvSpPr>
              <a:spLocks noChangeArrowheads="1"/>
            </p:cNvSpPr>
            <p:nvPr/>
          </p:nvSpPr>
          <p:spPr bwMode="auto">
            <a:xfrm>
              <a:off x="1948"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1.67</a:t>
              </a:r>
            </a:p>
            <a:p>
              <a:pPr algn="just"/>
              <a:endParaRPr kumimoji="1" lang="en-US" altLang="zh-CN" sz="2400" b="0">
                <a:solidFill>
                  <a:schemeClr val="tx1"/>
                </a:solidFill>
                <a:latin typeface="Times New Roman" panose="02020603050405020304" pitchFamily="18" charset="0"/>
              </a:endParaRPr>
            </a:p>
          </p:txBody>
        </p:sp>
        <p:sp>
          <p:nvSpPr>
            <p:cNvPr id="34" name="Rectangle 34"/>
            <p:cNvSpPr>
              <a:spLocks noChangeArrowheads="1"/>
            </p:cNvSpPr>
            <p:nvPr/>
          </p:nvSpPr>
          <p:spPr bwMode="auto">
            <a:xfrm>
              <a:off x="2220"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L</a:t>
              </a:r>
            </a:p>
            <a:p>
              <a:pPr algn="r"/>
              <a:endParaRPr kumimoji="1" lang="en-US" altLang="zh-CN" sz="2400" b="0">
                <a:solidFill>
                  <a:schemeClr val="tx1"/>
                </a:solidFill>
                <a:latin typeface="Times New Roman" panose="02020603050405020304" pitchFamily="18" charset="0"/>
              </a:endParaRPr>
            </a:p>
          </p:txBody>
        </p:sp>
        <p:sp>
          <p:nvSpPr>
            <p:cNvPr id="35" name="Rectangle 35"/>
            <p:cNvSpPr>
              <a:spLocks noChangeArrowheads="1"/>
            </p:cNvSpPr>
            <p:nvPr/>
          </p:nvSpPr>
          <p:spPr bwMode="auto">
            <a:xfrm>
              <a:off x="2492" y="1344"/>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0.00</a:t>
              </a:r>
            </a:p>
            <a:p>
              <a:pPr algn="just"/>
              <a:endParaRPr kumimoji="1" lang="en-US" altLang="zh-CN" sz="2400" b="0">
                <a:solidFill>
                  <a:schemeClr val="tx1"/>
                </a:solidFill>
                <a:latin typeface="Times New Roman" panose="02020603050405020304" pitchFamily="18" charset="0"/>
              </a:endParaRPr>
            </a:p>
          </p:txBody>
        </p:sp>
        <p:sp>
          <p:nvSpPr>
            <p:cNvPr id="36" name="Rectangle 36"/>
            <p:cNvSpPr>
              <a:spLocks noChangeArrowheads="1"/>
            </p:cNvSpPr>
            <p:nvPr/>
          </p:nvSpPr>
          <p:spPr bwMode="auto">
            <a:xfrm>
              <a:off x="43" y="1728"/>
              <a:ext cx="2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U</a:t>
              </a:r>
            </a:p>
            <a:p>
              <a:pPr algn="r"/>
              <a:endParaRPr kumimoji="1" lang="en-US" altLang="zh-CN" sz="2400" b="0">
                <a:solidFill>
                  <a:schemeClr val="tx1"/>
                </a:solidFill>
                <a:latin typeface="Times New Roman" panose="02020603050405020304" pitchFamily="18" charset="0"/>
              </a:endParaRPr>
            </a:p>
          </p:txBody>
        </p:sp>
        <p:sp>
          <p:nvSpPr>
            <p:cNvPr id="37" name="Rectangle 37"/>
            <p:cNvSpPr>
              <a:spLocks noChangeArrowheads="1"/>
            </p:cNvSpPr>
            <p:nvPr/>
          </p:nvSpPr>
          <p:spPr bwMode="auto">
            <a:xfrm>
              <a:off x="316"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8.33</a:t>
              </a:r>
            </a:p>
            <a:p>
              <a:pPr algn="just"/>
              <a:endParaRPr kumimoji="1" lang="en-US" altLang="zh-CN" sz="2400" b="0">
                <a:solidFill>
                  <a:schemeClr val="tx1"/>
                </a:solidFill>
                <a:latin typeface="Times New Roman" panose="02020603050405020304" pitchFamily="18" charset="0"/>
              </a:endParaRPr>
            </a:p>
          </p:txBody>
        </p:sp>
        <p:sp>
          <p:nvSpPr>
            <p:cNvPr id="38" name="Rectangle 38"/>
            <p:cNvSpPr>
              <a:spLocks noChangeArrowheads="1"/>
            </p:cNvSpPr>
            <p:nvPr/>
          </p:nvSpPr>
          <p:spPr bwMode="auto">
            <a:xfrm>
              <a:off x="588"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V</a:t>
              </a:r>
            </a:p>
            <a:p>
              <a:pPr algn="r"/>
              <a:endParaRPr kumimoji="1" lang="en-US" altLang="zh-CN" sz="2400" b="0">
                <a:solidFill>
                  <a:schemeClr val="tx1"/>
                </a:solidFill>
                <a:latin typeface="Times New Roman" panose="02020603050405020304" pitchFamily="18" charset="0"/>
              </a:endParaRPr>
            </a:p>
          </p:txBody>
        </p:sp>
        <p:sp>
          <p:nvSpPr>
            <p:cNvPr id="39" name="Rectangle 39"/>
            <p:cNvSpPr>
              <a:spLocks noChangeArrowheads="1"/>
            </p:cNvSpPr>
            <p:nvPr/>
          </p:nvSpPr>
          <p:spPr bwMode="auto">
            <a:xfrm>
              <a:off x="860"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4.17</a:t>
              </a:r>
            </a:p>
            <a:p>
              <a:pPr algn="just"/>
              <a:endParaRPr kumimoji="1" lang="en-US" altLang="zh-CN" sz="2400" b="0">
                <a:solidFill>
                  <a:schemeClr val="tx1"/>
                </a:solidFill>
                <a:latin typeface="Times New Roman" panose="02020603050405020304" pitchFamily="18" charset="0"/>
              </a:endParaRPr>
            </a:p>
          </p:txBody>
        </p:sp>
        <p:sp>
          <p:nvSpPr>
            <p:cNvPr id="40" name="Rectangle 40"/>
            <p:cNvSpPr>
              <a:spLocks noChangeArrowheads="1"/>
            </p:cNvSpPr>
            <p:nvPr/>
          </p:nvSpPr>
          <p:spPr bwMode="auto">
            <a:xfrm>
              <a:off x="1132"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T</a:t>
              </a:r>
            </a:p>
            <a:p>
              <a:pPr algn="r"/>
              <a:endParaRPr kumimoji="1" lang="en-US" altLang="zh-CN" sz="2400" b="0">
                <a:solidFill>
                  <a:schemeClr val="tx1"/>
                </a:solidFill>
                <a:latin typeface="Times New Roman" panose="02020603050405020304" pitchFamily="18" charset="0"/>
              </a:endParaRPr>
            </a:p>
          </p:txBody>
        </p:sp>
        <p:sp>
          <p:nvSpPr>
            <p:cNvPr id="41" name="Rectangle 41"/>
            <p:cNvSpPr>
              <a:spLocks noChangeArrowheads="1"/>
            </p:cNvSpPr>
            <p:nvPr/>
          </p:nvSpPr>
          <p:spPr bwMode="auto">
            <a:xfrm>
              <a:off x="1404"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2.50</a:t>
              </a:r>
            </a:p>
            <a:p>
              <a:pPr algn="just"/>
              <a:endParaRPr kumimoji="1" lang="en-US" altLang="zh-CN" sz="2400" b="0">
                <a:solidFill>
                  <a:schemeClr val="tx1"/>
                </a:solidFill>
                <a:latin typeface="Times New Roman" panose="02020603050405020304" pitchFamily="18" charset="0"/>
              </a:endParaRPr>
            </a:p>
          </p:txBody>
        </p:sp>
        <p:sp>
          <p:nvSpPr>
            <p:cNvPr id="42" name="Rectangle 42"/>
            <p:cNvSpPr>
              <a:spLocks noChangeArrowheads="1"/>
            </p:cNvSpPr>
            <p:nvPr/>
          </p:nvSpPr>
          <p:spPr bwMode="auto">
            <a:xfrm>
              <a:off x="1676"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I</a:t>
              </a:r>
            </a:p>
            <a:p>
              <a:pPr algn="r"/>
              <a:endParaRPr kumimoji="1" lang="en-US" altLang="zh-CN" sz="2400" b="0">
                <a:solidFill>
                  <a:schemeClr val="tx1"/>
                </a:solidFill>
                <a:latin typeface="Times New Roman" panose="02020603050405020304" pitchFamily="18" charset="0"/>
              </a:endParaRPr>
            </a:p>
          </p:txBody>
        </p:sp>
        <p:sp>
          <p:nvSpPr>
            <p:cNvPr id="43" name="Rectangle 43"/>
            <p:cNvSpPr>
              <a:spLocks noChangeArrowheads="1"/>
            </p:cNvSpPr>
            <p:nvPr/>
          </p:nvSpPr>
          <p:spPr bwMode="auto">
            <a:xfrm>
              <a:off x="1948"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0.83</a:t>
              </a:r>
            </a:p>
            <a:p>
              <a:pPr algn="just"/>
              <a:endParaRPr kumimoji="1" lang="en-US" altLang="zh-CN" sz="2400" b="0">
                <a:solidFill>
                  <a:schemeClr val="tx1"/>
                </a:solidFill>
                <a:latin typeface="Times New Roman" panose="02020603050405020304" pitchFamily="18" charset="0"/>
              </a:endParaRPr>
            </a:p>
          </p:txBody>
        </p:sp>
        <p:sp>
          <p:nvSpPr>
            <p:cNvPr id="44" name="Rectangle 44"/>
            <p:cNvSpPr>
              <a:spLocks noChangeArrowheads="1"/>
            </p:cNvSpPr>
            <p:nvPr/>
          </p:nvSpPr>
          <p:spPr bwMode="auto">
            <a:xfrm>
              <a:off x="2220"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N</a:t>
              </a:r>
            </a:p>
            <a:p>
              <a:pPr algn="r"/>
              <a:endParaRPr kumimoji="1" lang="en-US" altLang="zh-CN" sz="2400" b="0">
                <a:solidFill>
                  <a:schemeClr val="tx1"/>
                </a:solidFill>
                <a:latin typeface="Times New Roman" panose="02020603050405020304" pitchFamily="18" charset="0"/>
              </a:endParaRPr>
            </a:p>
          </p:txBody>
        </p:sp>
        <p:sp>
          <p:nvSpPr>
            <p:cNvPr id="45" name="Rectangle 45"/>
            <p:cNvSpPr>
              <a:spLocks noChangeArrowheads="1"/>
            </p:cNvSpPr>
            <p:nvPr/>
          </p:nvSpPr>
          <p:spPr bwMode="auto">
            <a:xfrm>
              <a:off x="2492" y="1728"/>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0.00</a:t>
              </a:r>
            </a:p>
            <a:p>
              <a:pPr algn="just"/>
              <a:endParaRPr kumimoji="1" lang="en-US" altLang="zh-CN" sz="2400" b="0">
                <a:solidFill>
                  <a:schemeClr val="tx1"/>
                </a:solidFill>
                <a:latin typeface="Times New Roman" panose="02020603050405020304" pitchFamily="18" charset="0"/>
              </a:endParaRPr>
            </a:p>
          </p:txBody>
        </p:sp>
        <p:sp>
          <p:nvSpPr>
            <p:cNvPr id="46" name="Rectangle 46"/>
            <p:cNvSpPr>
              <a:spLocks noChangeArrowheads="1"/>
            </p:cNvSpPr>
            <p:nvPr/>
          </p:nvSpPr>
          <p:spPr bwMode="auto">
            <a:xfrm>
              <a:off x="43" y="2112"/>
              <a:ext cx="2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O</a:t>
              </a:r>
            </a:p>
            <a:p>
              <a:pPr algn="r"/>
              <a:endParaRPr kumimoji="1" lang="en-US" altLang="zh-CN" sz="2400" b="0">
                <a:solidFill>
                  <a:schemeClr val="tx1"/>
                </a:solidFill>
                <a:latin typeface="Times New Roman" panose="02020603050405020304" pitchFamily="18" charset="0"/>
              </a:endParaRPr>
            </a:p>
          </p:txBody>
        </p:sp>
        <p:sp>
          <p:nvSpPr>
            <p:cNvPr id="47" name="Rectangle 47"/>
            <p:cNvSpPr>
              <a:spLocks noChangeArrowheads="1"/>
            </p:cNvSpPr>
            <p:nvPr/>
          </p:nvSpPr>
          <p:spPr bwMode="auto">
            <a:xfrm>
              <a:off x="316"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7.55</a:t>
              </a:r>
            </a:p>
            <a:p>
              <a:pPr algn="just"/>
              <a:endParaRPr kumimoji="1" lang="en-US" altLang="zh-CN" sz="2400" b="0">
                <a:solidFill>
                  <a:schemeClr val="tx1"/>
                </a:solidFill>
                <a:latin typeface="Times New Roman" panose="02020603050405020304" pitchFamily="18" charset="0"/>
              </a:endParaRPr>
            </a:p>
          </p:txBody>
        </p:sp>
        <p:sp>
          <p:nvSpPr>
            <p:cNvPr id="48" name="Rectangle 48"/>
            <p:cNvSpPr>
              <a:spLocks noChangeArrowheads="1"/>
            </p:cNvSpPr>
            <p:nvPr/>
          </p:nvSpPr>
          <p:spPr bwMode="auto">
            <a:xfrm>
              <a:off x="588"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X</a:t>
              </a:r>
            </a:p>
            <a:p>
              <a:pPr algn="r"/>
              <a:endParaRPr kumimoji="1" lang="en-US" altLang="zh-CN" sz="2400" b="0">
                <a:solidFill>
                  <a:schemeClr val="tx1"/>
                </a:solidFill>
                <a:latin typeface="Times New Roman" panose="02020603050405020304" pitchFamily="18" charset="0"/>
              </a:endParaRPr>
            </a:p>
          </p:txBody>
        </p:sp>
        <p:sp>
          <p:nvSpPr>
            <p:cNvPr id="49" name="Rectangle 49"/>
            <p:cNvSpPr>
              <a:spLocks noChangeArrowheads="1"/>
            </p:cNvSpPr>
            <p:nvPr/>
          </p:nvSpPr>
          <p:spPr bwMode="auto">
            <a:xfrm>
              <a:off x="860"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4.17</a:t>
              </a:r>
            </a:p>
            <a:p>
              <a:pPr algn="just"/>
              <a:endParaRPr kumimoji="1" lang="en-US" altLang="zh-CN" sz="2400" b="0">
                <a:solidFill>
                  <a:schemeClr val="tx1"/>
                </a:solidFill>
                <a:latin typeface="Times New Roman" panose="02020603050405020304" pitchFamily="18" charset="0"/>
              </a:endParaRPr>
            </a:p>
          </p:txBody>
        </p:sp>
        <p:sp>
          <p:nvSpPr>
            <p:cNvPr id="50" name="Rectangle 50"/>
            <p:cNvSpPr>
              <a:spLocks noChangeArrowheads="1"/>
            </p:cNvSpPr>
            <p:nvPr/>
          </p:nvSpPr>
          <p:spPr bwMode="auto">
            <a:xfrm>
              <a:off x="1132"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A</a:t>
              </a:r>
            </a:p>
            <a:p>
              <a:pPr algn="r"/>
              <a:endParaRPr kumimoji="1" lang="en-US" altLang="zh-CN" sz="2400" b="0">
                <a:solidFill>
                  <a:schemeClr val="tx1"/>
                </a:solidFill>
                <a:latin typeface="Times New Roman" panose="02020603050405020304" pitchFamily="18" charset="0"/>
              </a:endParaRPr>
            </a:p>
          </p:txBody>
        </p:sp>
        <p:sp>
          <p:nvSpPr>
            <p:cNvPr id="51" name="Rectangle 51"/>
            <p:cNvSpPr>
              <a:spLocks noChangeArrowheads="1"/>
            </p:cNvSpPr>
            <p:nvPr/>
          </p:nvSpPr>
          <p:spPr bwMode="auto">
            <a:xfrm>
              <a:off x="1404"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1.67</a:t>
              </a:r>
            </a:p>
            <a:p>
              <a:pPr algn="just"/>
              <a:endParaRPr kumimoji="1" lang="en-US" altLang="zh-CN" sz="2400" b="0">
                <a:solidFill>
                  <a:schemeClr val="tx1"/>
                </a:solidFill>
                <a:latin typeface="Times New Roman" panose="02020603050405020304" pitchFamily="18" charset="0"/>
              </a:endParaRPr>
            </a:p>
          </p:txBody>
        </p:sp>
        <p:sp>
          <p:nvSpPr>
            <p:cNvPr id="52" name="Rectangle 52"/>
            <p:cNvSpPr>
              <a:spLocks noChangeArrowheads="1"/>
            </p:cNvSpPr>
            <p:nvPr/>
          </p:nvSpPr>
          <p:spPr bwMode="auto">
            <a:xfrm>
              <a:off x="1676"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J</a:t>
              </a:r>
            </a:p>
            <a:p>
              <a:pPr algn="r"/>
              <a:endParaRPr kumimoji="1" lang="en-US" altLang="zh-CN" sz="2400" b="0">
                <a:solidFill>
                  <a:schemeClr val="tx1"/>
                </a:solidFill>
                <a:latin typeface="Times New Roman" panose="02020603050405020304" pitchFamily="18" charset="0"/>
              </a:endParaRPr>
            </a:p>
          </p:txBody>
        </p:sp>
        <p:sp>
          <p:nvSpPr>
            <p:cNvPr id="53" name="Rectangle 53"/>
            <p:cNvSpPr>
              <a:spLocks noChangeArrowheads="1"/>
            </p:cNvSpPr>
            <p:nvPr/>
          </p:nvSpPr>
          <p:spPr bwMode="auto">
            <a:xfrm>
              <a:off x="1948"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0.83</a:t>
              </a:r>
            </a:p>
            <a:p>
              <a:pPr algn="just"/>
              <a:endParaRPr kumimoji="1" lang="en-US" altLang="zh-CN" sz="2400" b="0">
                <a:solidFill>
                  <a:schemeClr val="tx1"/>
                </a:solidFill>
                <a:latin typeface="Times New Roman" panose="02020603050405020304" pitchFamily="18" charset="0"/>
              </a:endParaRPr>
            </a:p>
          </p:txBody>
        </p:sp>
        <p:sp>
          <p:nvSpPr>
            <p:cNvPr id="54" name="Rectangle 54"/>
            <p:cNvSpPr>
              <a:spLocks noChangeArrowheads="1"/>
            </p:cNvSpPr>
            <p:nvPr/>
          </p:nvSpPr>
          <p:spPr bwMode="auto">
            <a:xfrm>
              <a:off x="2220"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R</a:t>
              </a:r>
            </a:p>
            <a:p>
              <a:pPr algn="r"/>
              <a:endParaRPr kumimoji="1" lang="en-US" altLang="zh-CN" sz="2400" b="0">
                <a:solidFill>
                  <a:schemeClr val="tx1"/>
                </a:solidFill>
                <a:latin typeface="Times New Roman" panose="02020603050405020304" pitchFamily="18" charset="0"/>
              </a:endParaRPr>
            </a:p>
          </p:txBody>
        </p:sp>
        <p:sp>
          <p:nvSpPr>
            <p:cNvPr id="55" name="Rectangle 55"/>
            <p:cNvSpPr>
              <a:spLocks noChangeArrowheads="1"/>
            </p:cNvSpPr>
            <p:nvPr/>
          </p:nvSpPr>
          <p:spPr bwMode="auto">
            <a:xfrm>
              <a:off x="2492" y="2112"/>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0.00</a:t>
              </a:r>
            </a:p>
            <a:p>
              <a:pPr algn="just"/>
              <a:endParaRPr kumimoji="1" lang="en-US" altLang="zh-CN" sz="2400" b="0">
                <a:solidFill>
                  <a:schemeClr val="tx1"/>
                </a:solidFill>
                <a:latin typeface="Times New Roman" panose="02020603050405020304" pitchFamily="18" charset="0"/>
              </a:endParaRPr>
            </a:p>
          </p:txBody>
        </p:sp>
        <p:sp>
          <p:nvSpPr>
            <p:cNvPr id="56" name="Rectangle 56"/>
            <p:cNvSpPr>
              <a:spLocks noChangeArrowheads="1"/>
            </p:cNvSpPr>
            <p:nvPr/>
          </p:nvSpPr>
          <p:spPr bwMode="auto">
            <a:xfrm>
              <a:off x="43" y="2496"/>
              <a:ext cx="2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a:solidFill>
                    <a:schemeClr val="tx1"/>
                  </a:solidFill>
                  <a:latin typeface="Times New Roman" panose="02020603050405020304" pitchFamily="18" charset="0"/>
                  <a:cs typeface="Times New Roman" panose="02020603050405020304" pitchFamily="18" charset="0"/>
                </a:rPr>
                <a:t>M</a:t>
              </a:r>
            </a:p>
            <a:p>
              <a:pPr algn="r"/>
              <a:endParaRPr kumimoji="1" lang="en-US" altLang="zh-CN" sz="2400" b="0">
                <a:solidFill>
                  <a:schemeClr val="tx1"/>
                </a:solidFill>
                <a:latin typeface="Times New Roman" panose="02020603050405020304" pitchFamily="18" charset="0"/>
              </a:endParaRPr>
            </a:p>
          </p:txBody>
        </p:sp>
        <p:sp>
          <p:nvSpPr>
            <p:cNvPr id="57" name="Rectangle 57"/>
            <p:cNvSpPr>
              <a:spLocks noChangeArrowheads="1"/>
            </p:cNvSpPr>
            <p:nvPr/>
          </p:nvSpPr>
          <p:spPr bwMode="auto">
            <a:xfrm>
              <a:off x="316"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a:solidFill>
                    <a:schemeClr val="tx1"/>
                  </a:solidFill>
                  <a:latin typeface="Times New Roman" panose="02020603050405020304" pitchFamily="18" charset="0"/>
                  <a:cs typeface="Times New Roman" panose="02020603050405020304" pitchFamily="18" charset="0"/>
                </a:rPr>
                <a:t>6.67</a:t>
              </a:r>
            </a:p>
            <a:p>
              <a:pPr algn="just"/>
              <a:endParaRPr kumimoji="1" lang="en-US" altLang="zh-CN" sz="2400" b="0">
                <a:solidFill>
                  <a:schemeClr val="tx1"/>
                </a:solidFill>
                <a:latin typeface="Times New Roman" panose="02020603050405020304" pitchFamily="18" charset="0"/>
              </a:endParaRPr>
            </a:p>
          </p:txBody>
        </p:sp>
        <p:sp>
          <p:nvSpPr>
            <p:cNvPr id="58" name="Rectangle 58"/>
            <p:cNvSpPr>
              <a:spLocks noChangeArrowheads="1"/>
            </p:cNvSpPr>
            <p:nvPr/>
          </p:nvSpPr>
          <p:spPr bwMode="auto">
            <a:xfrm>
              <a:off x="588"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r"/>
              <a:endParaRPr kumimoji="1" lang="en-US" altLang="zh-CN" sz="2400" b="0">
                <a:solidFill>
                  <a:schemeClr val="tx1"/>
                </a:solidFill>
                <a:latin typeface="Times New Roman" panose="02020603050405020304" pitchFamily="18" charset="0"/>
              </a:endParaRPr>
            </a:p>
          </p:txBody>
        </p:sp>
        <p:sp>
          <p:nvSpPr>
            <p:cNvPr id="59" name="Rectangle 59"/>
            <p:cNvSpPr>
              <a:spLocks noChangeArrowheads="1"/>
            </p:cNvSpPr>
            <p:nvPr/>
          </p:nvSpPr>
          <p:spPr bwMode="auto">
            <a:xfrm>
              <a:off x="860"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400" b="0">
                <a:solidFill>
                  <a:schemeClr val="tx1"/>
                </a:solidFill>
                <a:latin typeface="Times New Roman" panose="02020603050405020304" pitchFamily="18" charset="0"/>
              </a:endParaRPr>
            </a:p>
          </p:txBody>
        </p:sp>
        <p:sp>
          <p:nvSpPr>
            <p:cNvPr id="60" name="Rectangle 60"/>
            <p:cNvSpPr>
              <a:spLocks noChangeArrowheads="1"/>
            </p:cNvSpPr>
            <p:nvPr/>
          </p:nvSpPr>
          <p:spPr bwMode="auto">
            <a:xfrm>
              <a:off x="1132"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r"/>
              <a:endParaRPr kumimoji="1" lang="en-US" altLang="zh-CN" sz="2400" b="0">
                <a:solidFill>
                  <a:schemeClr val="tx1"/>
                </a:solidFill>
                <a:latin typeface="Times New Roman" panose="02020603050405020304" pitchFamily="18" charset="0"/>
              </a:endParaRPr>
            </a:p>
          </p:txBody>
        </p:sp>
        <p:sp>
          <p:nvSpPr>
            <p:cNvPr id="61" name="Rectangle 61"/>
            <p:cNvSpPr>
              <a:spLocks noChangeArrowheads="1"/>
            </p:cNvSpPr>
            <p:nvPr/>
          </p:nvSpPr>
          <p:spPr bwMode="auto">
            <a:xfrm>
              <a:off x="1404"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400" b="0">
                <a:solidFill>
                  <a:schemeClr val="tx1"/>
                </a:solidFill>
                <a:latin typeface="Times New Roman" panose="02020603050405020304" pitchFamily="18" charset="0"/>
              </a:endParaRPr>
            </a:p>
          </p:txBody>
        </p:sp>
        <p:sp>
          <p:nvSpPr>
            <p:cNvPr id="62" name="Rectangle 62"/>
            <p:cNvSpPr>
              <a:spLocks noChangeArrowheads="1"/>
            </p:cNvSpPr>
            <p:nvPr/>
          </p:nvSpPr>
          <p:spPr bwMode="auto">
            <a:xfrm>
              <a:off x="1676"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r"/>
              <a:endParaRPr kumimoji="1" lang="en-US" altLang="zh-CN" sz="2400" b="0">
                <a:solidFill>
                  <a:schemeClr val="tx1"/>
                </a:solidFill>
                <a:latin typeface="Times New Roman" panose="02020603050405020304" pitchFamily="18" charset="0"/>
              </a:endParaRPr>
            </a:p>
          </p:txBody>
        </p:sp>
        <p:sp>
          <p:nvSpPr>
            <p:cNvPr id="63" name="Rectangle 63"/>
            <p:cNvSpPr>
              <a:spLocks noChangeArrowheads="1"/>
            </p:cNvSpPr>
            <p:nvPr/>
          </p:nvSpPr>
          <p:spPr bwMode="auto">
            <a:xfrm>
              <a:off x="1948"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400" b="0">
                <a:solidFill>
                  <a:schemeClr val="tx1"/>
                </a:solidFill>
                <a:latin typeface="Times New Roman" panose="02020603050405020304" pitchFamily="18" charset="0"/>
              </a:endParaRPr>
            </a:p>
          </p:txBody>
        </p:sp>
        <p:sp>
          <p:nvSpPr>
            <p:cNvPr id="64" name="Rectangle 64"/>
            <p:cNvSpPr>
              <a:spLocks noChangeArrowheads="1"/>
            </p:cNvSpPr>
            <p:nvPr/>
          </p:nvSpPr>
          <p:spPr bwMode="auto">
            <a:xfrm>
              <a:off x="2220"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r"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r"/>
              <a:endParaRPr kumimoji="1" lang="en-US" altLang="zh-CN" sz="2400" b="0">
                <a:solidFill>
                  <a:schemeClr val="tx1"/>
                </a:solidFill>
                <a:latin typeface="Times New Roman" panose="02020603050405020304" pitchFamily="18" charset="0"/>
              </a:endParaRPr>
            </a:p>
          </p:txBody>
        </p:sp>
        <p:sp>
          <p:nvSpPr>
            <p:cNvPr id="65" name="Rectangle 65"/>
            <p:cNvSpPr>
              <a:spLocks noChangeArrowheads="1"/>
            </p:cNvSpPr>
            <p:nvPr/>
          </p:nvSpPr>
          <p:spPr bwMode="auto">
            <a:xfrm>
              <a:off x="2492" y="2496"/>
              <a:ext cx="2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4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400" b="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40460968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50000"/>
              </a:lnSpc>
            </a:pPr>
            <a:r>
              <a:rPr lang="zh-CN" altLang="en-US" dirty="0">
                <a:solidFill>
                  <a:srgbClr val="C00000"/>
                </a:solidFill>
              </a:rPr>
              <a:t>单字母频率分析</a:t>
            </a: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57</a:t>
            </a:fld>
            <a:endParaRPr kumimoji="1" lang="zh-CN" altLang="en-US" dirty="0"/>
          </a:p>
        </p:txBody>
      </p:sp>
      <p:graphicFrame>
        <p:nvGraphicFramePr>
          <p:cNvPr id="66" name="Object 8"/>
          <p:cNvGraphicFramePr>
            <a:graphicFrameLocks noChangeAspect="1"/>
          </p:cNvGraphicFramePr>
          <p:nvPr>
            <p:extLst>
              <p:ext uri="{D42A27DB-BD31-4B8C-83A1-F6EECF244321}">
                <p14:modId xmlns:p14="http://schemas.microsoft.com/office/powerpoint/2010/main" val="1611017115"/>
              </p:ext>
            </p:extLst>
          </p:nvPr>
        </p:nvGraphicFramePr>
        <p:xfrm>
          <a:off x="2042257" y="2132225"/>
          <a:ext cx="8107485" cy="4543212"/>
        </p:xfrm>
        <a:graphic>
          <a:graphicData uri="http://schemas.openxmlformats.org/presentationml/2006/ole">
            <mc:AlternateContent xmlns:mc="http://schemas.openxmlformats.org/markup-compatibility/2006">
              <mc:Choice xmlns:v="urn:schemas-microsoft-com:vml" Requires="v">
                <p:oleObj name="Chart" r:id="rId2" imgW="4934407" imgH="2496007" progId="MSGraph.Chart.8">
                  <p:embed/>
                </p:oleObj>
              </mc:Choice>
              <mc:Fallback>
                <p:oleObj name="Chart" r:id="rId2" imgW="4934407" imgH="2496007" progId="MSGraph.Chart.8">
                  <p:embed/>
                  <p:pic>
                    <p:nvPicPr>
                      <p:cNvPr id="6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2257" y="2132225"/>
                        <a:ext cx="8107485" cy="45432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294107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50000"/>
              </a:lnSpc>
            </a:pPr>
            <a:r>
              <a:rPr lang="zh-CN" altLang="en-US" dirty="0">
                <a:solidFill>
                  <a:srgbClr val="C00000"/>
                </a:solidFill>
              </a:rPr>
              <a:t>单字母频率分析</a:t>
            </a: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58</a:t>
            </a:fld>
            <a:endParaRPr kumimoji="1" lang="zh-CN" altLang="en-US" dirty="0"/>
          </a:p>
        </p:txBody>
      </p:sp>
      <p:graphicFrame>
        <p:nvGraphicFramePr>
          <p:cNvPr id="6" name="Object 3"/>
          <p:cNvGraphicFramePr>
            <a:graphicFrameLocks noChangeAspect="1"/>
          </p:cNvGraphicFramePr>
          <p:nvPr/>
        </p:nvGraphicFramePr>
        <p:xfrm>
          <a:off x="2438400" y="2470067"/>
          <a:ext cx="7010400" cy="2543175"/>
        </p:xfrm>
        <a:graphic>
          <a:graphicData uri="http://schemas.openxmlformats.org/presentationml/2006/ole">
            <mc:AlternateContent xmlns:mc="http://schemas.openxmlformats.org/markup-compatibility/2006">
              <mc:Choice xmlns:v="urn:schemas-microsoft-com:vml" Requires="v">
                <p:oleObj r:id="rId2" imgW="2178050" imgH="787400" progId="MSDraw.Drawing.8.2">
                  <p:embed/>
                </p:oleObj>
              </mc:Choice>
              <mc:Fallback>
                <p:oleObj r:id="rId2" imgW="2178050" imgH="787400" progId="MSDraw.Drawing.8.2">
                  <p:embed/>
                  <p:pic>
                    <p:nvPicPr>
                      <p:cNvPr id="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470067"/>
                        <a:ext cx="70104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232651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50000"/>
              </a:lnSpc>
            </a:pPr>
            <a:r>
              <a:rPr lang="zh-CN" altLang="en-US" dirty="0">
                <a:solidFill>
                  <a:srgbClr val="C00000"/>
                </a:solidFill>
              </a:rPr>
              <a:t>单字母频率分析</a:t>
            </a:r>
            <a:endParaRPr lang="en-US" altLang="zh-CN" dirty="0">
              <a:solidFill>
                <a:srgbClr val="C00000"/>
              </a:solidFill>
            </a:endParaRPr>
          </a:p>
          <a:p>
            <a:pPr lvl="1">
              <a:lnSpc>
                <a:spcPct val="150000"/>
              </a:lnSpc>
            </a:pPr>
            <a:r>
              <a:rPr lang="zh-CN" altLang="en-US" dirty="0">
                <a:latin typeface="宋体" panose="02010600030101010101" pitchFamily="2" charset="-122"/>
              </a:rPr>
              <a:t>结论：密文字母中的</a:t>
            </a:r>
            <a:r>
              <a:rPr lang="en-US" altLang="zh-CN" dirty="0"/>
              <a:t>P</a:t>
            </a:r>
            <a:r>
              <a:rPr lang="zh-CN" altLang="en-US" dirty="0">
                <a:latin typeface="宋体" panose="02010600030101010101" pitchFamily="2" charset="-122"/>
              </a:rPr>
              <a:t>和</a:t>
            </a:r>
            <a:r>
              <a:rPr lang="en-US" altLang="zh-CN" dirty="0"/>
              <a:t>Z</a:t>
            </a:r>
            <a:r>
              <a:rPr lang="zh-CN" altLang="en-US" dirty="0">
                <a:latin typeface="宋体" panose="02010600030101010101" pitchFamily="2" charset="-122"/>
              </a:rPr>
              <a:t>可能相当于明文中的</a:t>
            </a:r>
            <a:r>
              <a:rPr lang="en-US" altLang="zh-CN" dirty="0"/>
              <a:t>e</a:t>
            </a:r>
            <a:r>
              <a:rPr lang="zh-CN" altLang="en-US" dirty="0">
                <a:latin typeface="宋体" panose="02010600030101010101" pitchFamily="2" charset="-122"/>
              </a:rPr>
              <a:t>和</a:t>
            </a:r>
            <a:r>
              <a:rPr lang="en-US" altLang="zh-CN" dirty="0"/>
              <a:t>t</a:t>
            </a:r>
            <a:r>
              <a:rPr lang="zh-CN" altLang="en-US" dirty="0">
                <a:latin typeface="宋体" panose="02010600030101010101" pitchFamily="2" charset="-122"/>
              </a:rPr>
              <a:t>，但是并不能确定</a:t>
            </a:r>
            <a:r>
              <a:rPr lang="en-US" altLang="zh-CN" dirty="0"/>
              <a:t>P</a:t>
            </a:r>
            <a:r>
              <a:rPr lang="zh-CN" altLang="en-US" dirty="0">
                <a:latin typeface="宋体" panose="02010600030101010101" pitchFamily="2" charset="-122"/>
              </a:rPr>
              <a:t>对应</a:t>
            </a:r>
            <a:r>
              <a:rPr lang="en-US" altLang="zh-CN" dirty="0"/>
              <a:t>e</a:t>
            </a:r>
            <a:r>
              <a:rPr lang="zh-CN" altLang="en-US" dirty="0">
                <a:latin typeface="宋体" panose="02010600030101010101" pitchFamily="2" charset="-122"/>
              </a:rPr>
              <a:t>（</a:t>
            </a:r>
            <a:r>
              <a:rPr lang="en-US" altLang="zh-CN" dirty="0"/>
              <a:t>Z</a:t>
            </a:r>
            <a:r>
              <a:rPr lang="zh-CN" altLang="en-US" dirty="0">
                <a:latin typeface="宋体" panose="02010600030101010101" pitchFamily="2" charset="-122"/>
              </a:rPr>
              <a:t>对应</a:t>
            </a:r>
            <a:r>
              <a:rPr lang="en-US" altLang="zh-CN" dirty="0"/>
              <a:t>t</a:t>
            </a:r>
            <a:r>
              <a:rPr lang="zh-CN" altLang="en-US" dirty="0">
                <a:latin typeface="宋体" panose="02010600030101010101" pitchFamily="2" charset="-122"/>
              </a:rPr>
              <a:t>）还是</a:t>
            </a:r>
            <a:r>
              <a:rPr lang="en-US" altLang="zh-CN" dirty="0"/>
              <a:t>Z</a:t>
            </a:r>
            <a:r>
              <a:rPr lang="zh-CN" altLang="en-US" dirty="0">
                <a:latin typeface="宋体" panose="02010600030101010101" pitchFamily="2" charset="-122"/>
              </a:rPr>
              <a:t>对应</a:t>
            </a:r>
            <a:r>
              <a:rPr lang="en-US" altLang="zh-CN" dirty="0"/>
              <a:t>e</a:t>
            </a:r>
            <a:r>
              <a:rPr lang="zh-CN" altLang="en-US" dirty="0">
                <a:latin typeface="宋体" panose="02010600030101010101" pitchFamily="2" charset="-122"/>
              </a:rPr>
              <a:t>（</a:t>
            </a:r>
            <a:r>
              <a:rPr lang="en-US" altLang="zh-CN" dirty="0"/>
              <a:t>P</a:t>
            </a:r>
            <a:r>
              <a:rPr lang="zh-CN" altLang="en-US" dirty="0">
                <a:latin typeface="宋体" panose="02010600030101010101" pitchFamily="2" charset="-122"/>
              </a:rPr>
              <a:t>对应</a:t>
            </a:r>
            <a:r>
              <a:rPr lang="en-US" altLang="zh-CN" dirty="0"/>
              <a:t>t</a:t>
            </a:r>
            <a:r>
              <a:rPr lang="zh-CN" altLang="en-US" dirty="0">
                <a:latin typeface="宋体" panose="02010600030101010101" pitchFamily="2" charset="-122"/>
              </a:rPr>
              <a:t>）。密文中的</a:t>
            </a:r>
            <a:r>
              <a:rPr lang="en-US" altLang="zh-CN" dirty="0"/>
              <a:t>S</a:t>
            </a:r>
            <a:r>
              <a:rPr lang="zh-CN" altLang="en-US" dirty="0">
                <a:latin typeface="宋体" panose="02010600030101010101" pitchFamily="2" charset="-122"/>
              </a:rPr>
              <a:t>、</a:t>
            </a:r>
            <a:r>
              <a:rPr lang="en-US" altLang="zh-CN" dirty="0"/>
              <a:t>U</a:t>
            </a:r>
            <a:r>
              <a:rPr lang="zh-CN" altLang="en-US" dirty="0">
                <a:latin typeface="宋体" panose="02010600030101010101" pitchFamily="2" charset="-122"/>
              </a:rPr>
              <a:t>、</a:t>
            </a:r>
            <a:r>
              <a:rPr lang="en-US" altLang="zh-CN" dirty="0"/>
              <a:t>O</a:t>
            </a:r>
            <a:r>
              <a:rPr lang="zh-CN" altLang="en-US" dirty="0">
                <a:latin typeface="宋体" panose="02010600030101010101" pitchFamily="2" charset="-122"/>
              </a:rPr>
              <a:t>、</a:t>
            </a:r>
            <a:r>
              <a:rPr lang="en-US" altLang="zh-CN" dirty="0"/>
              <a:t>M</a:t>
            </a:r>
            <a:r>
              <a:rPr lang="zh-CN" altLang="en-US" dirty="0">
                <a:latin typeface="宋体" panose="02010600030101010101" pitchFamily="2" charset="-122"/>
              </a:rPr>
              <a:t>和</a:t>
            </a:r>
            <a:r>
              <a:rPr lang="en-US" altLang="zh-CN" dirty="0"/>
              <a:t>H</a:t>
            </a:r>
            <a:r>
              <a:rPr lang="zh-CN" altLang="en-US" dirty="0">
                <a:latin typeface="宋体" panose="02010600030101010101" pitchFamily="2" charset="-122"/>
              </a:rPr>
              <a:t>相对频率都比较高，可能与明文中的字母</a:t>
            </a:r>
            <a:r>
              <a:rPr lang="en-US" altLang="zh-CN" dirty="0" err="1"/>
              <a:t>r,n,i,o,a,s</a:t>
            </a:r>
            <a:r>
              <a:rPr lang="zh-CN" altLang="en-US" dirty="0">
                <a:latin typeface="宋体" panose="02010600030101010101" pitchFamily="2" charset="-122"/>
              </a:rPr>
              <a:t>中的某一个相对应。相对频率较低的字母（即</a:t>
            </a:r>
            <a:r>
              <a:rPr lang="en-US" altLang="zh-CN" dirty="0"/>
              <a:t>A</a:t>
            </a:r>
            <a:r>
              <a:rPr lang="zh-CN" altLang="en-US" dirty="0">
                <a:latin typeface="宋体" panose="02010600030101010101" pitchFamily="2" charset="-122"/>
              </a:rPr>
              <a:t>，</a:t>
            </a:r>
            <a:r>
              <a:rPr lang="en-US" altLang="zh-CN" dirty="0"/>
              <a:t>B</a:t>
            </a:r>
            <a:r>
              <a:rPr lang="zh-CN" altLang="en-US" dirty="0">
                <a:latin typeface="宋体" panose="02010600030101010101" pitchFamily="2" charset="-122"/>
              </a:rPr>
              <a:t>，</a:t>
            </a:r>
            <a:r>
              <a:rPr lang="en-US" altLang="zh-CN" dirty="0"/>
              <a:t>G</a:t>
            </a:r>
            <a:r>
              <a:rPr lang="zh-CN" altLang="en-US" dirty="0">
                <a:latin typeface="宋体" panose="02010600030101010101" pitchFamily="2" charset="-122"/>
              </a:rPr>
              <a:t>，</a:t>
            </a:r>
            <a:r>
              <a:rPr lang="en-US" altLang="zh-CN" dirty="0"/>
              <a:t>Y</a:t>
            </a:r>
            <a:r>
              <a:rPr lang="zh-CN" altLang="en-US" dirty="0">
                <a:latin typeface="宋体" panose="02010600030101010101" pitchFamily="2" charset="-122"/>
              </a:rPr>
              <a:t>，</a:t>
            </a:r>
            <a:r>
              <a:rPr lang="en-US" altLang="zh-CN" dirty="0"/>
              <a:t>I</a:t>
            </a:r>
            <a:r>
              <a:rPr lang="zh-CN" altLang="en-US" dirty="0">
                <a:latin typeface="宋体" panose="02010600030101010101" pitchFamily="2" charset="-122"/>
              </a:rPr>
              <a:t>，</a:t>
            </a:r>
            <a:r>
              <a:rPr lang="en-US" altLang="zh-CN" dirty="0"/>
              <a:t>J</a:t>
            </a:r>
            <a:r>
              <a:rPr lang="zh-CN" altLang="en-US" dirty="0">
                <a:latin typeface="宋体" panose="02010600030101010101" pitchFamily="2" charset="-122"/>
              </a:rPr>
              <a:t>）可能对应着明文字母集</a:t>
            </a:r>
            <a:r>
              <a:rPr lang="en-US" altLang="zh-CN" dirty="0"/>
              <a:t>{</a:t>
            </a:r>
            <a:r>
              <a:rPr lang="en-US" altLang="zh-CN" dirty="0" err="1"/>
              <a:t>w,v,b,k,x,g,j,z</a:t>
            </a:r>
            <a:r>
              <a:rPr lang="en-US" altLang="zh-CN" dirty="0"/>
              <a:t>}</a:t>
            </a:r>
            <a:r>
              <a:rPr lang="zh-CN" altLang="en-US" dirty="0">
                <a:latin typeface="宋体" panose="02010600030101010101" pitchFamily="2" charset="-122"/>
              </a:rPr>
              <a:t>中的某个元素。</a:t>
            </a:r>
            <a:r>
              <a:rPr lang="zh-CN" altLang="en-US" dirty="0"/>
              <a:t> </a:t>
            </a:r>
          </a:p>
          <a:p>
            <a:pPr lvl="1"/>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59</a:t>
            </a:fld>
            <a:endParaRPr kumimoji="1" lang="zh-CN" altLang="en-US" dirty="0"/>
          </a:p>
        </p:txBody>
      </p:sp>
    </p:spTree>
    <p:extLst>
      <p:ext uri="{BB962C8B-B14F-4D97-AF65-F5344CB8AC3E}">
        <p14:creationId xmlns:p14="http://schemas.microsoft.com/office/powerpoint/2010/main" val="5429534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50000"/>
              </a:lnSpc>
            </a:pPr>
            <a:r>
              <a:rPr lang="zh-CN" altLang="en-US" dirty="0">
                <a:solidFill>
                  <a:srgbClr val="C00000"/>
                </a:solidFill>
              </a:rPr>
              <a:t>单字母频率分析</a:t>
            </a:r>
            <a:endParaRPr lang="en-US" altLang="zh-CN" dirty="0">
              <a:solidFill>
                <a:srgbClr val="C00000"/>
              </a:solidFill>
            </a:endParaRPr>
          </a:p>
          <a:p>
            <a:pPr lvl="1">
              <a:lnSpc>
                <a:spcPct val="150000"/>
              </a:lnSpc>
            </a:pPr>
            <a:r>
              <a:rPr lang="zh-CN" altLang="en-US" dirty="0">
                <a:latin typeface="宋体" panose="02010600030101010101" pitchFamily="2" charset="-122"/>
              </a:rPr>
              <a:t>统计双字母组合（比如代表单音节的两个字母）的频率是一个很有效的工具。由此可以得到一个类似于图</a:t>
            </a:r>
            <a:r>
              <a:rPr lang="en-US" altLang="zh-CN" dirty="0"/>
              <a:t>2.5</a:t>
            </a:r>
            <a:r>
              <a:rPr lang="zh-CN" altLang="en-US" dirty="0">
                <a:latin typeface="宋体" panose="02010600030101010101" pitchFamily="2" charset="-122"/>
              </a:rPr>
              <a:t>的字母相关频率图。最常用的一个字母组合是</a:t>
            </a:r>
            <a:r>
              <a:rPr lang="en-US" altLang="zh-CN" dirty="0" err="1"/>
              <a:t>th</a:t>
            </a:r>
            <a:r>
              <a:rPr lang="zh-CN" altLang="en-US" dirty="0">
                <a:latin typeface="宋体" panose="02010600030101010101" pitchFamily="2" charset="-122"/>
              </a:rPr>
              <a:t>。</a:t>
            </a:r>
          </a:p>
          <a:p>
            <a:pPr lvl="1">
              <a:lnSpc>
                <a:spcPct val="150000"/>
              </a:lnSpc>
            </a:pPr>
            <a:r>
              <a:rPr lang="zh-CN" altLang="en-US" dirty="0">
                <a:latin typeface="宋体" panose="02010600030101010101" pitchFamily="2" charset="-122"/>
              </a:rPr>
              <a:t>而在我们的密文中，用得最多的双字母组合是</a:t>
            </a:r>
            <a:r>
              <a:rPr lang="en-US" altLang="zh-CN" dirty="0"/>
              <a:t>ZW,</a:t>
            </a:r>
            <a:r>
              <a:rPr lang="zh-CN" altLang="en-US" dirty="0">
                <a:latin typeface="宋体" panose="02010600030101010101" pitchFamily="2" charset="-122"/>
              </a:rPr>
              <a:t>它出现了三次。所以我们可以估计</a:t>
            </a:r>
            <a:r>
              <a:rPr lang="en-US" altLang="zh-CN" dirty="0"/>
              <a:t>Z</a:t>
            </a:r>
            <a:r>
              <a:rPr lang="zh-CN" altLang="en-US" dirty="0">
                <a:latin typeface="宋体" panose="02010600030101010101" pitchFamily="2" charset="-122"/>
              </a:rPr>
              <a:t>对应明文</a:t>
            </a:r>
            <a:r>
              <a:rPr lang="en-US" altLang="zh-CN" dirty="0"/>
              <a:t>t</a:t>
            </a:r>
            <a:r>
              <a:rPr lang="zh-CN" altLang="en-US" dirty="0">
                <a:latin typeface="宋体" panose="02010600030101010101" pitchFamily="2" charset="-122"/>
              </a:rPr>
              <a:t>，而</a:t>
            </a:r>
            <a:r>
              <a:rPr lang="en-US" altLang="zh-CN" dirty="0"/>
              <a:t>W</a:t>
            </a:r>
            <a:r>
              <a:rPr lang="zh-CN" altLang="en-US" dirty="0">
                <a:latin typeface="宋体" panose="02010600030101010101" pitchFamily="2" charset="-122"/>
              </a:rPr>
              <a:t>对应明文</a:t>
            </a:r>
            <a:r>
              <a:rPr lang="en-US" altLang="zh-CN" dirty="0"/>
              <a:t>h</a:t>
            </a:r>
            <a:r>
              <a:rPr lang="zh-CN" altLang="en-US" dirty="0">
                <a:latin typeface="宋体" panose="02010600030101010101" pitchFamily="2" charset="-122"/>
              </a:rPr>
              <a:t>。根据先前的假设，我们可以认为</a:t>
            </a:r>
            <a:r>
              <a:rPr lang="en-US" altLang="zh-CN" dirty="0"/>
              <a:t>P</a:t>
            </a:r>
            <a:r>
              <a:rPr lang="zh-CN" altLang="en-US" dirty="0">
                <a:latin typeface="宋体" panose="02010600030101010101" pitchFamily="2" charset="-122"/>
              </a:rPr>
              <a:t>对应</a:t>
            </a:r>
            <a:r>
              <a:rPr lang="en-US" altLang="zh-CN" dirty="0"/>
              <a:t>e</a:t>
            </a:r>
            <a:r>
              <a:rPr lang="zh-CN" altLang="en-US" dirty="0">
                <a:latin typeface="宋体" panose="02010600030101010101" pitchFamily="2" charset="-122"/>
              </a:rPr>
              <a:t>。现在我们意识到密文中的</a:t>
            </a:r>
            <a:r>
              <a:rPr lang="en-US" altLang="zh-CN" dirty="0"/>
              <a:t>ZWP</a:t>
            </a:r>
            <a:r>
              <a:rPr lang="zh-CN" altLang="en-US" dirty="0">
                <a:latin typeface="宋体" panose="02010600030101010101" pitchFamily="2" charset="-122"/>
              </a:rPr>
              <a:t>很可能就</a:t>
            </a:r>
            <a:r>
              <a:rPr lang="en-US" altLang="zh-CN" dirty="0"/>
              <a:t>the</a:t>
            </a:r>
            <a:r>
              <a:rPr lang="zh-CN" altLang="en-US" dirty="0">
                <a:latin typeface="宋体" panose="02010600030101010101" pitchFamily="2" charset="-122"/>
              </a:rPr>
              <a:t>，这是英语中最常用的三字母组合，这表明我们的思路是正确的。</a:t>
            </a:r>
            <a:r>
              <a:rPr lang="zh-CN" altLang="en-US" dirty="0"/>
              <a:t> </a:t>
            </a:r>
          </a:p>
          <a:p>
            <a:pPr lvl="1"/>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60</a:t>
            </a:fld>
            <a:endParaRPr kumimoji="1" lang="zh-CN" altLang="en-US" dirty="0"/>
          </a:p>
        </p:txBody>
      </p:sp>
    </p:spTree>
    <p:extLst>
      <p:ext uri="{BB962C8B-B14F-4D97-AF65-F5344CB8AC3E}">
        <p14:creationId xmlns:p14="http://schemas.microsoft.com/office/powerpoint/2010/main" val="1707523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r>
              <a:rPr lang="zh-CN" altLang="en-US" dirty="0">
                <a:solidFill>
                  <a:srgbClr val="C00000"/>
                </a:solidFill>
              </a:rPr>
              <a:t>单字母频率分析</a:t>
            </a:r>
            <a:endParaRPr lang="en-US" altLang="zh-CN" dirty="0">
              <a:solidFill>
                <a:srgbClr val="C00000"/>
              </a:solidFill>
            </a:endParaRPr>
          </a:p>
          <a:p>
            <a:pPr lvl="1">
              <a:lnSpc>
                <a:spcPct val="150000"/>
              </a:lnSpc>
            </a:pPr>
            <a:r>
              <a:rPr lang="zh-CN" altLang="en-US" sz="2000" dirty="0">
                <a:latin typeface="宋体" panose="02010600030101010101" pitchFamily="2" charset="-122"/>
              </a:rPr>
              <a:t>接下来注意到第一行中的序列</a:t>
            </a:r>
            <a:r>
              <a:rPr lang="en-US" altLang="zh-CN" sz="2000" dirty="0">
                <a:latin typeface="宋体" panose="02010600030101010101" pitchFamily="2" charset="-122"/>
              </a:rPr>
              <a:t>ZWSZ</a:t>
            </a:r>
            <a:r>
              <a:rPr lang="zh-CN" altLang="en-US" sz="2000" dirty="0">
                <a:latin typeface="宋体" panose="02010600030101010101" pitchFamily="2" charset="-122"/>
              </a:rPr>
              <a:t>。我们并不知道它是否为一个完整的单词，若是这样的话，它应该翻译成</a:t>
            </a:r>
            <a:r>
              <a:rPr lang="en-US" altLang="zh-CN" sz="2000" dirty="0" err="1">
                <a:latin typeface="宋体" panose="02010600030101010101" pitchFamily="2" charset="-122"/>
              </a:rPr>
              <a:t>th_t</a:t>
            </a:r>
            <a:r>
              <a:rPr lang="zh-CN" altLang="en-US" sz="2000" dirty="0">
                <a:latin typeface="宋体" panose="02010600030101010101" pitchFamily="2" charset="-122"/>
              </a:rPr>
              <a:t>的形式，因此</a:t>
            </a:r>
            <a:r>
              <a:rPr lang="en-US" altLang="zh-CN" sz="2000" dirty="0">
                <a:latin typeface="宋体" panose="02010600030101010101" pitchFamily="2" charset="-122"/>
              </a:rPr>
              <a:t>S</a:t>
            </a:r>
            <a:r>
              <a:rPr lang="zh-CN" altLang="en-US" sz="2000" dirty="0">
                <a:latin typeface="宋体" panose="02010600030101010101" pitchFamily="2" charset="-122"/>
              </a:rPr>
              <a:t>很可能是明文</a:t>
            </a:r>
            <a:r>
              <a:rPr lang="en-US" altLang="zh-CN" sz="2000" dirty="0">
                <a:latin typeface="宋体" panose="02010600030101010101" pitchFamily="2" charset="-122"/>
              </a:rPr>
              <a:t>a</a:t>
            </a:r>
            <a:r>
              <a:rPr lang="zh-CN" altLang="en-US" sz="2000" dirty="0">
                <a:latin typeface="宋体" panose="02010600030101010101" pitchFamily="2" charset="-122"/>
              </a:rPr>
              <a:t>。至此我们有以下结果：</a:t>
            </a:r>
            <a:endParaRPr lang="en-US" altLang="zh-CN" sz="2000" dirty="0">
              <a:latin typeface="宋体" panose="02010600030101010101" pitchFamily="2" charset="-122"/>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61</a:t>
            </a:fld>
            <a:endParaRPr kumimoji="1" lang="zh-CN" altLang="en-US" dirty="0"/>
          </a:p>
        </p:txBody>
      </p:sp>
      <p:grpSp>
        <p:nvGrpSpPr>
          <p:cNvPr id="5" name="Group 278"/>
          <p:cNvGrpSpPr>
            <a:grpSpLocks/>
          </p:cNvGrpSpPr>
          <p:nvPr/>
        </p:nvGrpSpPr>
        <p:grpSpPr bwMode="auto">
          <a:xfrm>
            <a:off x="1524000" y="3017836"/>
            <a:ext cx="9144000" cy="3657600"/>
            <a:chOff x="11" y="480"/>
            <a:chExt cx="6750" cy="2304"/>
          </a:xfrm>
        </p:grpSpPr>
        <p:sp>
          <p:nvSpPr>
            <p:cNvPr id="6" name="Rectangle 8"/>
            <p:cNvSpPr>
              <a:spLocks noChangeArrowheads="1"/>
            </p:cNvSpPr>
            <p:nvPr/>
          </p:nvSpPr>
          <p:spPr bwMode="auto">
            <a:xfrm>
              <a:off x="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dirty="0">
                  <a:solidFill>
                    <a:schemeClr val="tx1"/>
                  </a:solidFill>
                  <a:latin typeface="Courier" pitchFamily="49" charset="0"/>
                  <a:cs typeface="Times New Roman" panose="02020603050405020304" pitchFamily="18" charset="0"/>
                </a:rPr>
                <a:t>U</a:t>
              </a:r>
              <a:endParaRPr kumimoji="1" lang="en-US" altLang="zh-CN" sz="2000" b="0" dirty="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dirty="0">
                <a:solidFill>
                  <a:schemeClr val="tx1"/>
                </a:solidFill>
                <a:latin typeface="Times New Roman" panose="02020603050405020304" pitchFamily="18" charset="0"/>
              </a:endParaRPr>
            </a:p>
          </p:txBody>
        </p:sp>
        <p:sp>
          <p:nvSpPr>
            <p:cNvPr id="7" name="Rectangle 9"/>
            <p:cNvSpPr>
              <a:spLocks noChangeArrowheads="1"/>
            </p:cNvSpPr>
            <p:nvPr/>
          </p:nvSpPr>
          <p:spPr bwMode="auto">
            <a:xfrm>
              <a:off x="1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8" name="Rectangle 10"/>
            <p:cNvSpPr>
              <a:spLocks noChangeArrowheads="1"/>
            </p:cNvSpPr>
            <p:nvPr/>
          </p:nvSpPr>
          <p:spPr bwMode="auto">
            <a:xfrm>
              <a:off x="3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Q</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9" name="Rectangle 11"/>
            <p:cNvSpPr>
              <a:spLocks noChangeArrowheads="1"/>
            </p:cNvSpPr>
            <p:nvPr/>
          </p:nvSpPr>
          <p:spPr bwMode="auto">
            <a:xfrm>
              <a:off x="4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 name="Rectangle 12"/>
            <p:cNvSpPr>
              <a:spLocks noChangeArrowheads="1"/>
            </p:cNvSpPr>
            <p:nvPr/>
          </p:nvSpPr>
          <p:spPr bwMode="auto">
            <a:xfrm>
              <a:off x="6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 name="Rectangle 13"/>
            <p:cNvSpPr>
              <a:spLocks noChangeArrowheads="1"/>
            </p:cNvSpPr>
            <p:nvPr/>
          </p:nvSpPr>
          <p:spPr bwMode="auto">
            <a:xfrm>
              <a:off x="7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V</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 name="Rectangle 14"/>
            <p:cNvSpPr>
              <a:spLocks noChangeArrowheads="1"/>
            </p:cNvSpPr>
            <p:nvPr/>
          </p:nvSpPr>
          <p:spPr bwMode="auto">
            <a:xfrm>
              <a:off x="9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 name="Rectangle 15"/>
            <p:cNvSpPr>
              <a:spLocks noChangeArrowheads="1"/>
            </p:cNvSpPr>
            <p:nvPr/>
          </p:nvSpPr>
          <p:spPr bwMode="auto">
            <a:xfrm>
              <a:off x="10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4" name="Rectangle 16"/>
            <p:cNvSpPr>
              <a:spLocks noChangeArrowheads="1"/>
            </p:cNvSpPr>
            <p:nvPr/>
          </p:nvSpPr>
          <p:spPr bwMode="auto">
            <a:xfrm>
              <a:off x="12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 name="Rectangle 17"/>
            <p:cNvSpPr>
              <a:spLocks noChangeArrowheads="1"/>
            </p:cNvSpPr>
            <p:nvPr/>
          </p:nvSpPr>
          <p:spPr bwMode="auto">
            <a:xfrm>
              <a:off x="13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X</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6" name="Rectangle 18"/>
            <p:cNvSpPr>
              <a:spLocks noChangeArrowheads="1"/>
            </p:cNvSpPr>
            <p:nvPr/>
          </p:nvSpPr>
          <p:spPr bwMode="auto">
            <a:xfrm>
              <a:off x="15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7" name="Rectangle 19"/>
            <p:cNvSpPr>
              <a:spLocks noChangeArrowheads="1"/>
            </p:cNvSpPr>
            <p:nvPr/>
          </p:nvSpPr>
          <p:spPr bwMode="auto">
            <a:xfrm>
              <a:off x="16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8" name="Rectangle 20"/>
            <p:cNvSpPr>
              <a:spLocks noChangeArrowheads="1"/>
            </p:cNvSpPr>
            <p:nvPr/>
          </p:nvSpPr>
          <p:spPr bwMode="auto">
            <a:xfrm>
              <a:off x="18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 name="Rectangle 21"/>
            <p:cNvSpPr>
              <a:spLocks noChangeArrowheads="1"/>
            </p:cNvSpPr>
            <p:nvPr/>
          </p:nvSpPr>
          <p:spPr bwMode="auto">
            <a:xfrm>
              <a:off x="19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V</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 name="Rectangle 22"/>
            <p:cNvSpPr>
              <a:spLocks noChangeArrowheads="1"/>
            </p:cNvSpPr>
            <p:nvPr/>
          </p:nvSpPr>
          <p:spPr bwMode="auto">
            <a:xfrm>
              <a:off x="21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G</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 name="Rectangle 23"/>
            <p:cNvSpPr>
              <a:spLocks noChangeArrowheads="1"/>
            </p:cNvSpPr>
            <p:nvPr/>
          </p:nvSpPr>
          <p:spPr bwMode="auto">
            <a:xfrm>
              <a:off x="22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2" name="Rectangle 24"/>
            <p:cNvSpPr>
              <a:spLocks noChangeArrowheads="1"/>
            </p:cNvSpPr>
            <p:nvPr/>
          </p:nvSpPr>
          <p:spPr bwMode="auto">
            <a:xfrm>
              <a:off x="24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3" name="Rectangle 25"/>
            <p:cNvSpPr>
              <a:spLocks noChangeArrowheads="1"/>
            </p:cNvSpPr>
            <p:nvPr/>
          </p:nvSpPr>
          <p:spPr bwMode="auto">
            <a:xfrm>
              <a:off x="25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4" name="Rectangle 26"/>
            <p:cNvSpPr>
              <a:spLocks noChangeArrowheads="1"/>
            </p:cNvSpPr>
            <p:nvPr/>
          </p:nvSpPr>
          <p:spPr bwMode="auto">
            <a:xfrm>
              <a:off x="27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5" name="Rectangle 27"/>
            <p:cNvSpPr>
              <a:spLocks noChangeArrowheads="1"/>
            </p:cNvSpPr>
            <p:nvPr/>
          </p:nvSpPr>
          <p:spPr bwMode="auto">
            <a:xfrm>
              <a:off x="28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6" name="Rectangle 28"/>
            <p:cNvSpPr>
              <a:spLocks noChangeArrowheads="1"/>
            </p:cNvSpPr>
            <p:nvPr/>
          </p:nvSpPr>
          <p:spPr bwMode="auto">
            <a:xfrm>
              <a:off x="30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V</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7" name="Rectangle 29"/>
            <p:cNvSpPr>
              <a:spLocks noChangeArrowheads="1"/>
            </p:cNvSpPr>
            <p:nvPr/>
          </p:nvSpPr>
          <p:spPr bwMode="auto">
            <a:xfrm>
              <a:off x="31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8" name="Rectangle 30"/>
            <p:cNvSpPr>
              <a:spLocks noChangeArrowheads="1"/>
            </p:cNvSpPr>
            <p:nvPr/>
          </p:nvSpPr>
          <p:spPr bwMode="auto">
            <a:xfrm>
              <a:off x="33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G</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9" name="Rectangle 31"/>
            <p:cNvSpPr>
              <a:spLocks noChangeArrowheads="1"/>
            </p:cNvSpPr>
            <p:nvPr/>
          </p:nvSpPr>
          <p:spPr bwMode="auto">
            <a:xfrm>
              <a:off x="34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0" name="Rectangle 32"/>
            <p:cNvSpPr>
              <a:spLocks noChangeArrowheads="1"/>
            </p:cNvSpPr>
            <p:nvPr/>
          </p:nvSpPr>
          <p:spPr bwMode="auto">
            <a:xfrm>
              <a:off x="36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W</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1" name="Rectangle 33"/>
            <p:cNvSpPr>
              <a:spLocks noChangeArrowheads="1"/>
            </p:cNvSpPr>
            <p:nvPr/>
          </p:nvSpPr>
          <p:spPr bwMode="auto">
            <a:xfrm>
              <a:off x="37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2" name="Rectangle 34"/>
            <p:cNvSpPr>
              <a:spLocks noChangeArrowheads="1"/>
            </p:cNvSpPr>
            <p:nvPr/>
          </p:nvSpPr>
          <p:spPr bwMode="auto">
            <a:xfrm>
              <a:off x="39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3" name="Rectangle 35"/>
            <p:cNvSpPr>
              <a:spLocks noChangeArrowheads="1"/>
            </p:cNvSpPr>
            <p:nvPr/>
          </p:nvSpPr>
          <p:spPr bwMode="auto">
            <a:xfrm>
              <a:off x="40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4" name="Rectangle 36"/>
            <p:cNvSpPr>
              <a:spLocks noChangeArrowheads="1"/>
            </p:cNvSpPr>
            <p:nvPr/>
          </p:nvSpPr>
          <p:spPr bwMode="auto">
            <a:xfrm>
              <a:off x="42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5" name="Rectangle 37"/>
            <p:cNvSpPr>
              <a:spLocks noChangeArrowheads="1"/>
            </p:cNvSpPr>
            <p:nvPr/>
          </p:nvSpPr>
          <p:spPr bwMode="auto">
            <a:xfrm>
              <a:off x="43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F</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6" name="Rectangle 38"/>
            <p:cNvSpPr>
              <a:spLocks noChangeArrowheads="1"/>
            </p:cNvSpPr>
            <p:nvPr/>
          </p:nvSpPr>
          <p:spPr bwMode="auto">
            <a:xfrm>
              <a:off x="45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7" name="Rectangle 39"/>
            <p:cNvSpPr>
              <a:spLocks noChangeArrowheads="1"/>
            </p:cNvSpPr>
            <p:nvPr/>
          </p:nvSpPr>
          <p:spPr bwMode="auto">
            <a:xfrm>
              <a:off x="46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8" name="Rectangle 40"/>
            <p:cNvSpPr>
              <a:spLocks noChangeArrowheads="1"/>
            </p:cNvSpPr>
            <p:nvPr/>
          </p:nvSpPr>
          <p:spPr bwMode="auto">
            <a:xfrm>
              <a:off x="48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39" name="Rectangle 41"/>
            <p:cNvSpPr>
              <a:spLocks noChangeArrowheads="1"/>
            </p:cNvSpPr>
            <p:nvPr/>
          </p:nvSpPr>
          <p:spPr bwMode="auto">
            <a:xfrm>
              <a:off x="49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X</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0" name="Rectangle 42"/>
            <p:cNvSpPr>
              <a:spLocks noChangeArrowheads="1"/>
            </p:cNvSpPr>
            <p:nvPr/>
          </p:nvSpPr>
          <p:spPr bwMode="auto">
            <a:xfrm>
              <a:off x="51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1" name="Rectangle 43"/>
            <p:cNvSpPr>
              <a:spLocks noChangeArrowheads="1"/>
            </p:cNvSpPr>
            <p:nvPr/>
          </p:nvSpPr>
          <p:spPr bwMode="auto">
            <a:xfrm>
              <a:off x="52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D</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2" name="Rectangle 44"/>
            <p:cNvSpPr>
              <a:spLocks noChangeArrowheads="1"/>
            </p:cNvSpPr>
            <p:nvPr/>
          </p:nvSpPr>
          <p:spPr bwMode="auto">
            <a:xfrm>
              <a:off x="54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B</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3" name="Rectangle 45"/>
            <p:cNvSpPr>
              <a:spLocks noChangeArrowheads="1"/>
            </p:cNvSpPr>
            <p:nvPr/>
          </p:nvSpPr>
          <p:spPr bwMode="auto">
            <a:xfrm>
              <a:off x="55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4" name="Rectangle 46"/>
            <p:cNvSpPr>
              <a:spLocks noChangeArrowheads="1"/>
            </p:cNvSpPr>
            <p:nvPr/>
          </p:nvSpPr>
          <p:spPr bwMode="auto">
            <a:xfrm>
              <a:off x="57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5" name="Rectangle 47"/>
            <p:cNvSpPr>
              <a:spLocks noChangeArrowheads="1"/>
            </p:cNvSpPr>
            <p:nvPr/>
          </p:nvSpPr>
          <p:spPr bwMode="auto">
            <a:xfrm>
              <a:off x="58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6" name="Rectangle 48"/>
            <p:cNvSpPr>
              <a:spLocks noChangeArrowheads="1"/>
            </p:cNvSpPr>
            <p:nvPr/>
          </p:nvSpPr>
          <p:spPr bwMode="auto">
            <a:xfrm>
              <a:off x="60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7" name="Rectangle 49"/>
            <p:cNvSpPr>
              <a:spLocks noChangeArrowheads="1"/>
            </p:cNvSpPr>
            <p:nvPr/>
          </p:nvSpPr>
          <p:spPr bwMode="auto">
            <a:xfrm>
              <a:off x="61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X</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8" name="Rectangle 50"/>
            <p:cNvSpPr>
              <a:spLocks noChangeArrowheads="1"/>
            </p:cNvSpPr>
            <p:nvPr/>
          </p:nvSpPr>
          <p:spPr bwMode="auto">
            <a:xfrm>
              <a:off x="63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49" name="Rectangle 51"/>
            <p:cNvSpPr>
              <a:spLocks noChangeArrowheads="1"/>
            </p:cNvSpPr>
            <p:nvPr/>
          </p:nvSpPr>
          <p:spPr bwMode="auto">
            <a:xfrm>
              <a:off x="646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I</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50" name="Rectangle 52"/>
            <p:cNvSpPr>
              <a:spLocks noChangeArrowheads="1"/>
            </p:cNvSpPr>
            <p:nvPr/>
          </p:nvSpPr>
          <p:spPr bwMode="auto">
            <a:xfrm>
              <a:off x="6611" y="48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51" name="Rectangle 53"/>
            <p:cNvSpPr>
              <a:spLocks noChangeArrowheads="1"/>
            </p:cNvSpPr>
            <p:nvPr/>
          </p:nvSpPr>
          <p:spPr bwMode="auto">
            <a:xfrm>
              <a:off x="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52" name="Rectangle 54"/>
            <p:cNvSpPr>
              <a:spLocks noChangeArrowheads="1"/>
            </p:cNvSpPr>
            <p:nvPr/>
          </p:nvSpPr>
          <p:spPr bwMode="auto">
            <a:xfrm>
              <a:off x="1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53" name="Rectangle 55"/>
            <p:cNvSpPr>
              <a:spLocks noChangeArrowheads="1"/>
            </p:cNvSpPr>
            <p:nvPr/>
          </p:nvSpPr>
          <p:spPr bwMode="auto">
            <a:xfrm>
              <a:off x="3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54" name="Rectangle 56"/>
            <p:cNvSpPr>
              <a:spLocks noChangeArrowheads="1"/>
            </p:cNvSpPr>
            <p:nvPr/>
          </p:nvSpPr>
          <p:spPr bwMode="auto">
            <a:xfrm>
              <a:off x="4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55" name="Rectangle 57"/>
            <p:cNvSpPr>
              <a:spLocks noChangeArrowheads="1"/>
            </p:cNvSpPr>
            <p:nvPr/>
          </p:nvSpPr>
          <p:spPr bwMode="auto">
            <a:xfrm>
              <a:off x="6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56" name="Rectangle 58"/>
            <p:cNvSpPr>
              <a:spLocks noChangeArrowheads="1"/>
            </p:cNvSpPr>
            <p:nvPr/>
          </p:nvSpPr>
          <p:spPr bwMode="auto">
            <a:xfrm>
              <a:off x="7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57" name="Rectangle 59"/>
            <p:cNvSpPr>
              <a:spLocks noChangeArrowheads="1"/>
            </p:cNvSpPr>
            <p:nvPr/>
          </p:nvSpPr>
          <p:spPr bwMode="auto">
            <a:xfrm>
              <a:off x="9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58" name="Rectangle 60"/>
            <p:cNvSpPr>
              <a:spLocks noChangeArrowheads="1"/>
            </p:cNvSpPr>
            <p:nvPr/>
          </p:nvSpPr>
          <p:spPr bwMode="auto">
            <a:xfrm>
              <a:off x="10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59" name="Rectangle 61"/>
            <p:cNvSpPr>
              <a:spLocks noChangeArrowheads="1"/>
            </p:cNvSpPr>
            <p:nvPr/>
          </p:nvSpPr>
          <p:spPr bwMode="auto">
            <a:xfrm>
              <a:off x="12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0" name="Rectangle 62"/>
            <p:cNvSpPr>
              <a:spLocks noChangeArrowheads="1"/>
            </p:cNvSpPr>
            <p:nvPr/>
          </p:nvSpPr>
          <p:spPr bwMode="auto">
            <a:xfrm>
              <a:off x="13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1" name="Rectangle 63"/>
            <p:cNvSpPr>
              <a:spLocks noChangeArrowheads="1"/>
            </p:cNvSpPr>
            <p:nvPr/>
          </p:nvSpPr>
          <p:spPr bwMode="auto">
            <a:xfrm>
              <a:off x="15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2" name="Rectangle 64"/>
            <p:cNvSpPr>
              <a:spLocks noChangeArrowheads="1"/>
            </p:cNvSpPr>
            <p:nvPr/>
          </p:nvSpPr>
          <p:spPr bwMode="auto">
            <a:xfrm>
              <a:off x="16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3" name="Rectangle 65"/>
            <p:cNvSpPr>
              <a:spLocks noChangeArrowheads="1"/>
            </p:cNvSpPr>
            <p:nvPr/>
          </p:nvSpPr>
          <p:spPr bwMode="auto">
            <a:xfrm>
              <a:off x="18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64" name="Rectangle 66"/>
            <p:cNvSpPr>
              <a:spLocks noChangeArrowheads="1"/>
            </p:cNvSpPr>
            <p:nvPr/>
          </p:nvSpPr>
          <p:spPr bwMode="auto">
            <a:xfrm>
              <a:off x="19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5" name="Rectangle 67"/>
            <p:cNvSpPr>
              <a:spLocks noChangeArrowheads="1"/>
            </p:cNvSpPr>
            <p:nvPr/>
          </p:nvSpPr>
          <p:spPr bwMode="auto">
            <a:xfrm>
              <a:off x="21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6" name="Rectangle 68"/>
            <p:cNvSpPr>
              <a:spLocks noChangeArrowheads="1"/>
            </p:cNvSpPr>
            <p:nvPr/>
          </p:nvSpPr>
          <p:spPr bwMode="auto">
            <a:xfrm>
              <a:off x="22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67" name="Rectangle 69"/>
            <p:cNvSpPr>
              <a:spLocks noChangeArrowheads="1"/>
            </p:cNvSpPr>
            <p:nvPr/>
          </p:nvSpPr>
          <p:spPr bwMode="auto">
            <a:xfrm>
              <a:off x="24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68" name="Rectangle 70"/>
            <p:cNvSpPr>
              <a:spLocks noChangeArrowheads="1"/>
            </p:cNvSpPr>
            <p:nvPr/>
          </p:nvSpPr>
          <p:spPr bwMode="auto">
            <a:xfrm>
              <a:off x="25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69" name="Rectangle 71"/>
            <p:cNvSpPr>
              <a:spLocks noChangeArrowheads="1"/>
            </p:cNvSpPr>
            <p:nvPr/>
          </p:nvSpPr>
          <p:spPr bwMode="auto">
            <a:xfrm>
              <a:off x="27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70" name="Rectangle 72"/>
            <p:cNvSpPr>
              <a:spLocks noChangeArrowheads="1"/>
            </p:cNvSpPr>
            <p:nvPr/>
          </p:nvSpPr>
          <p:spPr bwMode="auto">
            <a:xfrm>
              <a:off x="28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71" name="Rectangle 73"/>
            <p:cNvSpPr>
              <a:spLocks noChangeArrowheads="1"/>
            </p:cNvSpPr>
            <p:nvPr/>
          </p:nvSpPr>
          <p:spPr bwMode="auto">
            <a:xfrm>
              <a:off x="30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72" name="Rectangle 74"/>
            <p:cNvSpPr>
              <a:spLocks noChangeArrowheads="1"/>
            </p:cNvSpPr>
            <p:nvPr/>
          </p:nvSpPr>
          <p:spPr bwMode="auto">
            <a:xfrm>
              <a:off x="31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73" name="Rectangle 75"/>
            <p:cNvSpPr>
              <a:spLocks noChangeArrowheads="1"/>
            </p:cNvSpPr>
            <p:nvPr/>
          </p:nvSpPr>
          <p:spPr bwMode="auto">
            <a:xfrm>
              <a:off x="33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74" name="Rectangle 76"/>
            <p:cNvSpPr>
              <a:spLocks noChangeArrowheads="1"/>
            </p:cNvSpPr>
            <p:nvPr/>
          </p:nvSpPr>
          <p:spPr bwMode="auto">
            <a:xfrm>
              <a:off x="34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75" name="Rectangle 77"/>
            <p:cNvSpPr>
              <a:spLocks noChangeArrowheads="1"/>
            </p:cNvSpPr>
            <p:nvPr/>
          </p:nvSpPr>
          <p:spPr bwMode="auto">
            <a:xfrm>
              <a:off x="36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76" name="Rectangle 78"/>
            <p:cNvSpPr>
              <a:spLocks noChangeArrowheads="1"/>
            </p:cNvSpPr>
            <p:nvPr/>
          </p:nvSpPr>
          <p:spPr bwMode="auto">
            <a:xfrm>
              <a:off x="37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77" name="Rectangle 79"/>
            <p:cNvSpPr>
              <a:spLocks noChangeArrowheads="1"/>
            </p:cNvSpPr>
            <p:nvPr/>
          </p:nvSpPr>
          <p:spPr bwMode="auto">
            <a:xfrm>
              <a:off x="39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78" name="Rectangle 80"/>
            <p:cNvSpPr>
              <a:spLocks noChangeArrowheads="1"/>
            </p:cNvSpPr>
            <p:nvPr/>
          </p:nvSpPr>
          <p:spPr bwMode="auto">
            <a:xfrm>
              <a:off x="40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79" name="Rectangle 81"/>
            <p:cNvSpPr>
              <a:spLocks noChangeArrowheads="1"/>
            </p:cNvSpPr>
            <p:nvPr/>
          </p:nvSpPr>
          <p:spPr bwMode="auto">
            <a:xfrm>
              <a:off x="42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80" name="Rectangle 82"/>
            <p:cNvSpPr>
              <a:spLocks noChangeArrowheads="1"/>
            </p:cNvSpPr>
            <p:nvPr/>
          </p:nvSpPr>
          <p:spPr bwMode="auto">
            <a:xfrm>
              <a:off x="43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1" name="Rectangle 83"/>
            <p:cNvSpPr>
              <a:spLocks noChangeArrowheads="1"/>
            </p:cNvSpPr>
            <p:nvPr/>
          </p:nvSpPr>
          <p:spPr bwMode="auto">
            <a:xfrm>
              <a:off x="45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82" name="Rectangle 84"/>
            <p:cNvSpPr>
              <a:spLocks noChangeArrowheads="1"/>
            </p:cNvSpPr>
            <p:nvPr/>
          </p:nvSpPr>
          <p:spPr bwMode="auto">
            <a:xfrm>
              <a:off x="46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3" name="Rectangle 85"/>
            <p:cNvSpPr>
              <a:spLocks noChangeArrowheads="1"/>
            </p:cNvSpPr>
            <p:nvPr/>
          </p:nvSpPr>
          <p:spPr bwMode="auto">
            <a:xfrm>
              <a:off x="48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4" name="Rectangle 86"/>
            <p:cNvSpPr>
              <a:spLocks noChangeArrowheads="1"/>
            </p:cNvSpPr>
            <p:nvPr/>
          </p:nvSpPr>
          <p:spPr bwMode="auto">
            <a:xfrm>
              <a:off x="49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5" name="Rectangle 87"/>
            <p:cNvSpPr>
              <a:spLocks noChangeArrowheads="1"/>
            </p:cNvSpPr>
            <p:nvPr/>
          </p:nvSpPr>
          <p:spPr bwMode="auto">
            <a:xfrm>
              <a:off x="51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6" name="Rectangle 88"/>
            <p:cNvSpPr>
              <a:spLocks noChangeArrowheads="1"/>
            </p:cNvSpPr>
            <p:nvPr/>
          </p:nvSpPr>
          <p:spPr bwMode="auto">
            <a:xfrm>
              <a:off x="52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7" name="Rectangle 89"/>
            <p:cNvSpPr>
              <a:spLocks noChangeArrowheads="1"/>
            </p:cNvSpPr>
            <p:nvPr/>
          </p:nvSpPr>
          <p:spPr bwMode="auto">
            <a:xfrm>
              <a:off x="54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8" name="Rectangle 90"/>
            <p:cNvSpPr>
              <a:spLocks noChangeArrowheads="1"/>
            </p:cNvSpPr>
            <p:nvPr/>
          </p:nvSpPr>
          <p:spPr bwMode="auto">
            <a:xfrm>
              <a:off x="55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89" name="Rectangle 91"/>
            <p:cNvSpPr>
              <a:spLocks noChangeArrowheads="1"/>
            </p:cNvSpPr>
            <p:nvPr/>
          </p:nvSpPr>
          <p:spPr bwMode="auto">
            <a:xfrm>
              <a:off x="57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90" name="Rectangle 92"/>
            <p:cNvSpPr>
              <a:spLocks noChangeArrowheads="1"/>
            </p:cNvSpPr>
            <p:nvPr/>
          </p:nvSpPr>
          <p:spPr bwMode="auto">
            <a:xfrm>
              <a:off x="58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91" name="Rectangle 93"/>
            <p:cNvSpPr>
              <a:spLocks noChangeArrowheads="1"/>
            </p:cNvSpPr>
            <p:nvPr/>
          </p:nvSpPr>
          <p:spPr bwMode="auto">
            <a:xfrm>
              <a:off x="60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92" name="Rectangle 94"/>
            <p:cNvSpPr>
              <a:spLocks noChangeArrowheads="1"/>
            </p:cNvSpPr>
            <p:nvPr/>
          </p:nvSpPr>
          <p:spPr bwMode="auto">
            <a:xfrm>
              <a:off x="61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93" name="Rectangle 95"/>
            <p:cNvSpPr>
              <a:spLocks noChangeArrowheads="1"/>
            </p:cNvSpPr>
            <p:nvPr/>
          </p:nvSpPr>
          <p:spPr bwMode="auto">
            <a:xfrm>
              <a:off x="63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94" name="Rectangle 96"/>
            <p:cNvSpPr>
              <a:spLocks noChangeArrowheads="1"/>
            </p:cNvSpPr>
            <p:nvPr/>
          </p:nvSpPr>
          <p:spPr bwMode="auto">
            <a:xfrm>
              <a:off x="646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95" name="Rectangle 97"/>
            <p:cNvSpPr>
              <a:spLocks noChangeArrowheads="1"/>
            </p:cNvSpPr>
            <p:nvPr/>
          </p:nvSpPr>
          <p:spPr bwMode="auto">
            <a:xfrm>
              <a:off x="6611" y="864"/>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96" name="Rectangle 98"/>
            <p:cNvSpPr>
              <a:spLocks noChangeArrowheads="1"/>
            </p:cNvSpPr>
            <p:nvPr/>
          </p:nvSpPr>
          <p:spPr bwMode="auto">
            <a:xfrm>
              <a:off x="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V</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97" name="Rectangle 99"/>
            <p:cNvSpPr>
              <a:spLocks noChangeArrowheads="1"/>
            </p:cNvSpPr>
            <p:nvPr/>
          </p:nvSpPr>
          <p:spPr bwMode="auto">
            <a:xfrm>
              <a:off x="1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98" name="Rectangle 100"/>
            <p:cNvSpPr>
              <a:spLocks noChangeArrowheads="1"/>
            </p:cNvSpPr>
            <p:nvPr/>
          </p:nvSpPr>
          <p:spPr bwMode="auto">
            <a:xfrm>
              <a:off x="3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99" name="Rectangle 101"/>
            <p:cNvSpPr>
              <a:spLocks noChangeArrowheads="1"/>
            </p:cNvSpPr>
            <p:nvPr/>
          </p:nvSpPr>
          <p:spPr bwMode="auto">
            <a:xfrm>
              <a:off x="4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0" name="Rectangle 102"/>
            <p:cNvSpPr>
              <a:spLocks noChangeArrowheads="1"/>
            </p:cNvSpPr>
            <p:nvPr/>
          </p:nvSpPr>
          <p:spPr bwMode="auto">
            <a:xfrm>
              <a:off x="6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1" name="Rectangle 103"/>
            <p:cNvSpPr>
              <a:spLocks noChangeArrowheads="1"/>
            </p:cNvSpPr>
            <p:nvPr/>
          </p:nvSpPr>
          <p:spPr bwMode="auto">
            <a:xfrm>
              <a:off x="7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2" name="Rectangle 104"/>
            <p:cNvSpPr>
              <a:spLocks noChangeArrowheads="1"/>
            </p:cNvSpPr>
            <p:nvPr/>
          </p:nvSpPr>
          <p:spPr bwMode="auto">
            <a:xfrm>
              <a:off x="9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3" name="Rectangle 105"/>
            <p:cNvSpPr>
              <a:spLocks noChangeArrowheads="1"/>
            </p:cNvSpPr>
            <p:nvPr/>
          </p:nvSpPr>
          <p:spPr bwMode="auto">
            <a:xfrm>
              <a:off x="10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4" name="Rectangle 106"/>
            <p:cNvSpPr>
              <a:spLocks noChangeArrowheads="1"/>
            </p:cNvSpPr>
            <p:nvPr/>
          </p:nvSpPr>
          <p:spPr bwMode="auto">
            <a:xfrm>
              <a:off x="12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D</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5" name="Rectangle 107"/>
            <p:cNvSpPr>
              <a:spLocks noChangeArrowheads="1"/>
            </p:cNvSpPr>
            <p:nvPr/>
          </p:nvSpPr>
          <p:spPr bwMode="auto">
            <a:xfrm>
              <a:off x="13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6" name="Rectangle 108"/>
            <p:cNvSpPr>
              <a:spLocks noChangeArrowheads="1"/>
            </p:cNvSpPr>
            <p:nvPr/>
          </p:nvSpPr>
          <p:spPr bwMode="auto">
            <a:xfrm>
              <a:off x="15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7" name="Rectangle 109"/>
            <p:cNvSpPr>
              <a:spLocks noChangeArrowheads="1"/>
            </p:cNvSpPr>
            <p:nvPr/>
          </p:nvSpPr>
          <p:spPr bwMode="auto">
            <a:xfrm>
              <a:off x="16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8" name="Rectangle 110"/>
            <p:cNvSpPr>
              <a:spLocks noChangeArrowheads="1"/>
            </p:cNvSpPr>
            <p:nvPr/>
          </p:nvSpPr>
          <p:spPr bwMode="auto">
            <a:xfrm>
              <a:off x="18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09" name="Rectangle 111"/>
            <p:cNvSpPr>
              <a:spLocks noChangeArrowheads="1"/>
            </p:cNvSpPr>
            <p:nvPr/>
          </p:nvSpPr>
          <p:spPr bwMode="auto">
            <a:xfrm>
              <a:off x="19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0" name="Rectangle 112"/>
            <p:cNvSpPr>
              <a:spLocks noChangeArrowheads="1"/>
            </p:cNvSpPr>
            <p:nvPr/>
          </p:nvSpPr>
          <p:spPr bwMode="auto">
            <a:xfrm>
              <a:off x="21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W</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1" name="Rectangle 113"/>
            <p:cNvSpPr>
              <a:spLocks noChangeArrowheads="1"/>
            </p:cNvSpPr>
            <p:nvPr/>
          </p:nvSpPr>
          <p:spPr bwMode="auto">
            <a:xfrm>
              <a:off x="22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2" name="Rectangle 114"/>
            <p:cNvSpPr>
              <a:spLocks noChangeArrowheads="1"/>
            </p:cNvSpPr>
            <p:nvPr/>
          </p:nvSpPr>
          <p:spPr bwMode="auto">
            <a:xfrm>
              <a:off x="24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F</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3" name="Rectangle 115"/>
            <p:cNvSpPr>
              <a:spLocks noChangeArrowheads="1"/>
            </p:cNvSpPr>
            <p:nvPr/>
          </p:nvSpPr>
          <p:spPr bwMode="auto">
            <a:xfrm>
              <a:off x="25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4" name="Rectangle 116"/>
            <p:cNvSpPr>
              <a:spLocks noChangeArrowheads="1"/>
            </p:cNvSpPr>
            <p:nvPr/>
          </p:nvSpPr>
          <p:spPr bwMode="auto">
            <a:xfrm>
              <a:off x="27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5" name="Rectangle 117"/>
            <p:cNvSpPr>
              <a:spLocks noChangeArrowheads="1"/>
            </p:cNvSpPr>
            <p:nvPr/>
          </p:nvSpPr>
          <p:spPr bwMode="auto">
            <a:xfrm>
              <a:off x="28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6" name="Rectangle 118"/>
            <p:cNvSpPr>
              <a:spLocks noChangeArrowheads="1"/>
            </p:cNvSpPr>
            <p:nvPr/>
          </p:nvSpPr>
          <p:spPr bwMode="auto">
            <a:xfrm>
              <a:off x="30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7" name="Rectangle 119"/>
            <p:cNvSpPr>
              <a:spLocks noChangeArrowheads="1"/>
            </p:cNvSpPr>
            <p:nvPr/>
          </p:nvSpPr>
          <p:spPr bwMode="auto">
            <a:xfrm>
              <a:off x="31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D</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8" name="Rectangle 120"/>
            <p:cNvSpPr>
              <a:spLocks noChangeArrowheads="1"/>
            </p:cNvSpPr>
            <p:nvPr/>
          </p:nvSpPr>
          <p:spPr bwMode="auto">
            <a:xfrm>
              <a:off x="33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19" name="Rectangle 121"/>
            <p:cNvSpPr>
              <a:spLocks noChangeArrowheads="1"/>
            </p:cNvSpPr>
            <p:nvPr/>
          </p:nvSpPr>
          <p:spPr bwMode="auto">
            <a:xfrm>
              <a:off x="34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0" name="Rectangle 122"/>
            <p:cNvSpPr>
              <a:spLocks noChangeArrowheads="1"/>
            </p:cNvSpPr>
            <p:nvPr/>
          </p:nvSpPr>
          <p:spPr bwMode="auto">
            <a:xfrm>
              <a:off x="36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V</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1" name="Rectangle 123"/>
            <p:cNvSpPr>
              <a:spLocks noChangeArrowheads="1"/>
            </p:cNvSpPr>
            <p:nvPr/>
          </p:nvSpPr>
          <p:spPr bwMode="auto">
            <a:xfrm>
              <a:off x="37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2" name="Rectangle 124"/>
            <p:cNvSpPr>
              <a:spLocks noChangeArrowheads="1"/>
            </p:cNvSpPr>
            <p:nvPr/>
          </p:nvSpPr>
          <p:spPr bwMode="auto">
            <a:xfrm>
              <a:off x="39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Q</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3" name="Rectangle 125"/>
            <p:cNvSpPr>
              <a:spLocks noChangeArrowheads="1"/>
            </p:cNvSpPr>
            <p:nvPr/>
          </p:nvSpPr>
          <p:spPr bwMode="auto">
            <a:xfrm>
              <a:off x="40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4" name="Rectangle 126"/>
            <p:cNvSpPr>
              <a:spLocks noChangeArrowheads="1"/>
            </p:cNvSpPr>
            <p:nvPr/>
          </p:nvSpPr>
          <p:spPr bwMode="auto">
            <a:xfrm>
              <a:off x="42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5" name="Rectangle 127"/>
            <p:cNvSpPr>
              <a:spLocks noChangeArrowheads="1"/>
            </p:cNvSpPr>
            <p:nvPr/>
          </p:nvSpPr>
          <p:spPr bwMode="auto">
            <a:xfrm>
              <a:off x="43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W</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6" name="Rectangle 128"/>
            <p:cNvSpPr>
              <a:spLocks noChangeArrowheads="1"/>
            </p:cNvSpPr>
            <p:nvPr/>
          </p:nvSpPr>
          <p:spPr bwMode="auto">
            <a:xfrm>
              <a:off x="45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Y</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7" name="Rectangle 129"/>
            <p:cNvSpPr>
              <a:spLocks noChangeArrowheads="1"/>
            </p:cNvSpPr>
            <p:nvPr/>
          </p:nvSpPr>
          <p:spPr bwMode="auto">
            <a:xfrm>
              <a:off x="46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8" name="Rectangle 130"/>
            <p:cNvSpPr>
              <a:spLocks noChangeArrowheads="1"/>
            </p:cNvSpPr>
            <p:nvPr/>
          </p:nvSpPr>
          <p:spPr bwMode="auto">
            <a:xfrm>
              <a:off x="48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X</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29" name="Rectangle 131"/>
            <p:cNvSpPr>
              <a:spLocks noChangeArrowheads="1"/>
            </p:cNvSpPr>
            <p:nvPr/>
          </p:nvSpPr>
          <p:spPr bwMode="auto">
            <a:xfrm>
              <a:off x="49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0" name="Rectangle 132"/>
            <p:cNvSpPr>
              <a:spLocks noChangeArrowheads="1"/>
            </p:cNvSpPr>
            <p:nvPr/>
          </p:nvSpPr>
          <p:spPr bwMode="auto">
            <a:xfrm>
              <a:off x="51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1" name="Rectangle 133"/>
            <p:cNvSpPr>
              <a:spLocks noChangeArrowheads="1"/>
            </p:cNvSpPr>
            <p:nvPr/>
          </p:nvSpPr>
          <p:spPr bwMode="auto">
            <a:xfrm>
              <a:off x="52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2" name="Rectangle 134"/>
            <p:cNvSpPr>
              <a:spLocks noChangeArrowheads="1"/>
            </p:cNvSpPr>
            <p:nvPr/>
          </p:nvSpPr>
          <p:spPr bwMode="auto">
            <a:xfrm>
              <a:off x="54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3" name="Rectangle 135"/>
            <p:cNvSpPr>
              <a:spLocks noChangeArrowheads="1"/>
            </p:cNvSpPr>
            <p:nvPr/>
          </p:nvSpPr>
          <p:spPr bwMode="auto">
            <a:xfrm>
              <a:off x="55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4" name="Rectangle 136"/>
            <p:cNvSpPr>
              <a:spLocks noChangeArrowheads="1"/>
            </p:cNvSpPr>
            <p:nvPr/>
          </p:nvSpPr>
          <p:spPr bwMode="auto">
            <a:xfrm>
              <a:off x="57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X</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35" name="Rectangle 137"/>
            <p:cNvSpPr>
              <a:spLocks noChangeArrowheads="1"/>
            </p:cNvSpPr>
            <p:nvPr/>
          </p:nvSpPr>
          <p:spPr bwMode="auto">
            <a:xfrm>
              <a:off x="58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36" name="Rectangle 138"/>
            <p:cNvSpPr>
              <a:spLocks noChangeArrowheads="1"/>
            </p:cNvSpPr>
            <p:nvPr/>
          </p:nvSpPr>
          <p:spPr bwMode="auto">
            <a:xfrm>
              <a:off x="60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37" name="Rectangle 139"/>
            <p:cNvSpPr>
              <a:spLocks noChangeArrowheads="1"/>
            </p:cNvSpPr>
            <p:nvPr/>
          </p:nvSpPr>
          <p:spPr bwMode="auto">
            <a:xfrm>
              <a:off x="61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38" name="Rectangle 140"/>
            <p:cNvSpPr>
              <a:spLocks noChangeArrowheads="1"/>
            </p:cNvSpPr>
            <p:nvPr/>
          </p:nvSpPr>
          <p:spPr bwMode="auto">
            <a:xfrm>
              <a:off x="63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39" name="Rectangle 141"/>
            <p:cNvSpPr>
              <a:spLocks noChangeArrowheads="1"/>
            </p:cNvSpPr>
            <p:nvPr/>
          </p:nvSpPr>
          <p:spPr bwMode="auto">
            <a:xfrm>
              <a:off x="646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0" name="Rectangle 142"/>
            <p:cNvSpPr>
              <a:spLocks noChangeArrowheads="1"/>
            </p:cNvSpPr>
            <p:nvPr/>
          </p:nvSpPr>
          <p:spPr bwMode="auto">
            <a:xfrm>
              <a:off x="6611" y="1248"/>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1" name="Rectangle 143"/>
            <p:cNvSpPr>
              <a:spLocks noChangeArrowheads="1"/>
            </p:cNvSpPr>
            <p:nvPr/>
          </p:nvSpPr>
          <p:spPr bwMode="auto">
            <a:xfrm>
              <a:off x="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2" name="Rectangle 144"/>
            <p:cNvSpPr>
              <a:spLocks noChangeArrowheads="1"/>
            </p:cNvSpPr>
            <p:nvPr/>
          </p:nvSpPr>
          <p:spPr bwMode="auto">
            <a:xfrm>
              <a:off x="1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3" name="Rectangle 145"/>
            <p:cNvSpPr>
              <a:spLocks noChangeArrowheads="1"/>
            </p:cNvSpPr>
            <p:nvPr/>
          </p:nvSpPr>
          <p:spPr bwMode="auto">
            <a:xfrm>
              <a:off x="3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4" name="Rectangle 146"/>
            <p:cNvSpPr>
              <a:spLocks noChangeArrowheads="1"/>
            </p:cNvSpPr>
            <p:nvPr/>
          </p:nvSpPr>
          <p:spPr bwMode="auto">
            <a:xfrm>
              <a:off x="4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45" name="Rectangle 147"/>
            <p:cNvSpPr>
              <a:spLocks noChangeArrowheads="1"/>
            </p:cNvSpPr>
            <p:nvPr/>
          </p:nvSpPr>
          <p:spPr bwMode="auto">
            <a:xfrm>
              <a:off x="6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6" name="Rectangle 148"/>
            <p:cNvSpPr>
              <a:spLocks noChangeArrowheads="1"/>
            </p:cNvSpPr>
            <p:nvPr/>
          </p:nvSpPr>
          <p:spPr bwMode="auto">
            <a:xfrm>
              <a:off x="7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47" name="Rectangle 149"/>
            <p:cNvSpPr>
              <a:spLocks noChangeArrowheads="1"/>
            </p:cNvSpPr>
            <p:nvPr/>
          </p:nvSpPr>
          <p:spPr bwMode="auto">
            <a:xfrm>
              <a:off x="9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8" name="Rectangle 150"/>
            <p:cNvSpPr>
              <a:spLocks noChangeArrowheads="1"/>
            </p:cNvSpPr>
            <p:nvPr/>
          </p:nvSpPr>
          <p:spPr bwMode="auto">
            <a:xfrm>
              <a:off x="10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49" name="Rectangle 151"/>
            <p:cNvSpPr>
              <a:spLocks noChangeArrowheads="1"/>
            </p:cNvSpPr>
            <p:nvPr/>
          </p:nvSpPr>
          <p:spPr bwMode="auto">
            <a:xfrm>
              <a:off x="12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50" name="Rectangle 152"/>
            <p:cNvSpPr>
              <a:spLocks noChangeArrowheads="1"/>
            </p:cNvSpPr>
            <p:nvPr/>
          </p:nvSpPr>
          <p:spPr bwMode="auto">
            <a:xfrm>
              <a:off x="13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1" name="Rectangle 153"/>
            <p:cNvSpPr>
              <a:spLocks noChangeArrowheads="1"/>
            </p:cNvSpPr>
            <p:nvPr/>
          </p:nvSpPr>
          <p:spPr bwMode="auto">
            <a:xfrm>
              <a:off x="15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2" name="Rectangle 154"/>
            <p:cNvSpPr>
              <a:spLocks noChangeArrowheads="1"/>
            </p:cNvSpPr>
            <p:nvPr/>
          </p:nvSpPr>
          <p:spPr bwMode="auto">
            <a:xfrm>
              <a:off x="16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53" name="Rectangle 155"/>
            <p:cNvSpPr>
              <a:spLocks noChangeArrowheads="1"/>
            </p:cNvSpPr>
            <p:nvPr/>
          </p:nvSpPr>
          <p:spPr bwMode="auto">
            <a:xfrm>
              <a:off x="18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4" name="Rectangle 156"/>
            <p:cNvSpPr>
              <a:spLocks noChangeArrowheads="1"/>
            </p:cNvSpPr>
            <p:nvPr/>
          </p:nvSpPr>
          <p:spPr bwMode="auto">
            <a:xfrm>
              <a:off x="19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55" name="Rectangle 157"/>
            <p:cNvSpPr>
              <a:spLocks noChangeArrowheads="1"/>
            </p:cNvSpPr>
            <p:nvPr/>
          </p:nvSpPr>
          <p:spPr bwMode="auto">
            <a:xfrm>
              <a:off x="21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6" name="Rectangle 158"/>
            <p:cNvSpPr>
              <a:spLocks noChangeArrowheads="1"/>
            </p:cNvSpPr>
            <p:nvPr/>
          </p:nvSpPr>
          <p:spPr bwMode="auto">
            <a:xfrm>
              <a:off x="22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7" name="Rectangle 159"/>
            <p:cNvSpPr>
              <a:spLocks noChangeArrowheads="1"/>
            </p:cNvSpPr>
            <p:nvPr/>
          </p:nvSpPr>
          <p:spPr bwMode="auto">
            <a:xfrm>
              <a:off x="24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58" name="Rectangle 160"/>
            <p:cNvSpPr>
              <a:spLocks noChangeArrowheads="1"/>
            </p:cNvSpPr>
            <p:nvPr/>
          </p:nvSpPr>
          <p:spPr bwMode="auto">
            <a:xfrm>
              <a:off x="25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59" name="Rectangle 161"/>
            <p:cNvSpPr>
              <a:spLocks noChangeArrowheads="1"/>
            </p:cNvSpPr>
            <p:nvPr/>
          </p:nvSpPr>
          <p:spPr bwMode="auto">
            <a:xfrm>
              <a:off x="27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60" name="Rectangle 162"/>
            <p:cNvSpPr>
              <a:spLocks noChangeArrowheads="1"/>
            </p:cNvSpPr>
            <p:nvPr/>
          </p:nvSpPr>
          <p:spPr bwMode="auto">
            <a:xfrm>
              <a:off x="28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61" name="Rectangle 163"/>
            <p:cNvSpPr>
              <a:spLocks noChangeArrowheads="1"/>
            </p:cNvSpPr>
            <p:nvPr/>
          </p:nvSpPr>
          <p:spPr bwMode="auto">
            <a:xfrm>
              <a:off x="30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62" name="Rectangle 164"/>
            <p:cNvSpPr>
              <a:spLocks noChangeArrowheads="1"/>
            </p:cNvSpPr>
            <p:nvPr/>
          </p:nvSpPr>
          <p:spPr bwMode="auto">
            <a:xfrm>
              <a:off x="31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63" name="Rectangle 165"/>
            <p:cNvSpPr>
              <a:spLocks noChangeArrowheads="1"/>
            </p:cNvSpPr>
            <p:nvPr/>
          </p:nvSpPr>
          <p:spPr bwMode="auto">
            <a:xfrm>
              <a:off x="33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64" name="Rectangle 166"/>
            <p:cNvSpPr>
              <a:spLocks noChangeArrowheads="1"/>
            </p:cNvSpPr>
            <p:nvPr/>
          </p:nvSpPr>
          <p:spPr bwMode="auto">
            <a:xfrm>
              <a:off x="34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65" name="Rectangle 167"/>
            <p:cNvSpPr>
              <a:spLocks noChangeArrowheads="1"/>
            </p:cNvSpPr>
            <p:nvPr/>
          </p:nvSpPr>
          <p:spPr bwMode="auto">
            <a:xfrm>
              <a:off x="36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66" name="Rectangle 168"/>
            <p:cNvSpPr>
              <a:spLocks noChangeArrowheads="1"/>
            </p:cNvSpPr>
            <p:nvPr/>
          </p:nvSpPr>
          <p:spPr bwMode="auto">
            <a:xfrm>
              <a:off x="37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67" name="Rectangle 169"/>
            <p:cNvSpPr>
              <a:spLocks noChangeArrowheads="1"/>
            </p:cNvSpPr>
            <p:nvPr/>
          </p:nvSpPr>
          <p:spPr bwMode="auto">
            <a:xfrm>
              <a:off x="39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68" name="Rectangle 170"/>
            <p:cNvSpPr>
              <a:spLocks noChangeArrowheads="1"/>
            </p:cNvSpPr>
            <p:nvPr/>
          </p:nvSpPr>
          <p:spPr bwMode="auto">
            <a:xfrm>
              <a:off x="40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69" name="Rectangle 171"/>
            <p:cNvSpPr>
              <a:spLocks noChangeArrowheads="1"/>
            </p:cNvSpPr>
            <p:nvPr/>
          </p:nvSpPr>
          <p:spPr bwMode="auto">
            <a:xfrm>
              <a:off x="42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70" name="Rectangle 172"/>
            <p:cNvSpPr>
              <a:spLocks noChangeArrowheads="1"/>
            </p:cNvSpPr>
            <p:nvPr/>
          </p:nvSpPr>
          <p:spPr bwMode="auto">
            <a:xfrm>
              <a:off x="43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71" name="Rectangle 173"/>
            <p:cNvSpPr>
              <a:spLocks noChangeArrowheads="1"/>
            </p:cNvSpPr>
            <p:nvPr/>
          </p:nvSpPr>
          <p:spPr bwMode="auto">
            <a:xfrm>
              <a:off x="45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72" name="Rectangle 174"/>
            <p:cNvSpPr>
              <a:spLocks noChangeArrowheads="1"/>
            </p:cNvSpPr>
            <p:nvPr/>
          </p:nvSpPr>
          <p:spPr bwMode="auto">
            <a:xfrm>
              <a:off x="46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73" name="Rectangle 175"/>
            <p:cNvSpPr>
              <a:spLocks noChangeArrowheads="1"/>
            </p:cNvSpPr>
            <p:nvPr/>
          </p:nvSpPr>
          <p:spPr bwMode="auto">
            <a:xfrm>
              <a:off x="48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74" name="Rectangle 176"/>
            <p:cNvSpPr>
              <a:spLocks noChangeArrowheads="1"/>
            </p:cNvSpPr>
            <p:nvPr/>
          </p:nvSpPr>
          <p:spPr bwMode="auto">
            <a:xfrm>
              <a:off x="49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75" name="Rectangle 177"/>
            <p:cNvSpPr>
              <a:spLocks noChangeArrowheads="1"/>
            </p:cNvSpPr>
            <p:nvPr/>
          </p:nvSpPr>
          <p:spPr bwMode="auto">
            <a:xfrm>
              <a:off x="51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76" name="Rectangle 178"/>
            <p:cNvSpPr>
              <a:spLocks noChangeArrowheads="1"/>
            </p:cNvSpPr>
            <p:nvPr/>
          </p:nvSpPr>
          <p:spPr bwMode="auto">
            <a:xfrm>
              <a:off x="52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77" name="Rectangle 179"/>
            <p:cNvSpPr>
              <a:spLocks noChangeArrowheads="1"/>
            </p:cNvSpPr>
            <p:nvPr/>
          </p:nvSpPr>
          <p:spPr bwMode="auto">
            <a:xfrm>
              <a:off x="54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78" name="Rectangle 180"/>
            <p:cNvSpPr>
              <a:spLocks noChangeArrowheads="1"/>
            </p:cNvSpPr>
            <p:nvPr/>
          </p:nvSpPr>
          <p:spPr bwMode="auto">
            <a:xfrm>
              <a:off x="55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79" name="Rectangle 181"/>
            <p:cNvSpPr>
              <a:spLocks noChangeArrowheads="1"/>
            </p:cNvSpPr>
            <p:nvPr/>
          </p:nvSpPr>
          <p:spPr bwMode="auto">
            <a:xfrm>
              <a:off x="57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0" name="Rectangle 182"/>
            <p:cNvSpPr>
              <a:spLocks noChangeArrowheads="1"/>
            </p:cNvSpPr>
            <p:nvPr/>
          </p:nvSpPr>
          <p:spPr bwMode="auto">
            <a:xfrm>
              <a:off x="58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1" name="Rectangle 183"/>
            <p:cNvSpPr>
              <a:spLocks noChangeArrowheads="1"/>
            </p:cNvSpPr>
            <p:nvPr/>
          </p:nvSpPr>
          <p:spPr bwMode="auto">
            <a:xfrm>
              <a:off x="60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2" name="Rectangle 184"/>
            <p:cNvSpPr>
              <a:spLocks noChangeArrowheads="1"/>
            </p:cNvSpPr>
            <p:nvPr/>
          </p:nvSpPr>
          <p:spPr bwMode="auto">
            <a:xfrm>
              <a:off x="61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3" name="Rectangle 185"/>
            <p:cNvSpPr>
              <a:spLocks noChangeArrowheads="1"/>
            </p:cNvSpPr>
            <p:nvPr/>
          </p:nvSpPr>
          <p:spPr bwMode="auto">
            <a:xfrm>
              <a:off x="63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4" name="Rectangle 186"/>
            <p:cNvSpPr>
              <a:spLocks noChangeArrowheads="1"/>
            </p:cNvSpPr>
            <p:nvPr/>
          </p:nvSpPr>
          <p:spPr bwMode="auto">
            <a:xfrm>
              <a:off x="646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5" name="Rectangle 187"/>
            <p:cNvSpPr>
              <a:spLocks noChangeArrowheads="1"/>
            </p:cNvSpPr>
            <p:nvPr/>
          </p:nvSpPr>
          <p:spPr bwMode="auto">
            <a:xfrm>
              <a:off x="6611" y="1632"/>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186" name="Rectangle 188"/>
            <p:cNvSpPr>
              <a:spLocks noChangeArrowheads="1"/>
            </p:cNvSpPr>
            <p:nvPr/>
          </p:nvSpPr>
          <p:spPr bwMode="auto">
            <a:xfrm>
              <a:off x="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87" name="Rectangle 189"/>
            <p:cNvSpPr>
              <a:spLocks noChangeArrowheads="1"/>
            </p:cNvSpPr>
            <p:nvPr/>
          </p:nvSpPr>
          <p:spPr bwMode="auto">
            <a:xfrm>
              <a:off x="1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88" name="Rectangle 190"/>
            <p:cNvSpPr>
              <a:spLocks noChangeArrowheads="1"/>
            </p:cNvSpPr>
            <p:nvPr/>
          </p:nvSpPr>
          <p:spPr bwMode="auto">
            <a:xfrm>
              <a:off x="3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Y</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89" name="Rectangle 191"/>
            <p:cNvSpPr>
              <a:spLocks noChangeArrowheads="1"/>
            </p:cNvSpPr>
            <p:nvPr/>
          </p:nvSpPr>
          <p:spPr bwMode="auto">
            <a:xfrm>
              <a:off x="4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0" name="Rectangle 192"/>
            <p:cNvSpPr>
              <a:spLocks noChangeArrowheads="1"/>
            </p:cNvSpPr>
            <p:nvPr/>
          </p:nvSpPr>
          <p:spPr bwMode="auto">
            <a:xfrm>
              <a:off x="6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1" name="Rectangle 193"/>
            <p:cNvSpPr>
              <a:spLocks noChangeArrowheads="1"/>
            </p:cNvSpPr>
            <p:nvPr/>
          </p:nvSpPr>
          <p:spPr bwMode="auto">
            <a:xfrm>
              <a:off x="7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2" name="Rectangle 194"/>
            <p:cNvSpPr>
              <a:spLocks noChangeArrowheads="1"/>
            </p:cNvSpPr>
            <p:nvPr/>
          </p:nvSpPr>
          <p:spPr bwMode="auto">
            <a:xfrm>
              <a:off x="9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3" name="Rectangle 195"/>
            <p:cNvSpPr>
              <a:spLocks noChangeArrowheads="1"/>
            </p:cNvSpPr>
            <p:nvPr/>
          </p:nvSpPr>
          <p:spPr bwMode="auto">
            <a:xfrm>
              <a:off x="10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D</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4" name="Rectangle 196"/>
            <p:cNvSpPr>
              <a:spLocks noChangeArrowheads="1"/>
            </p:cNvSpPr>
            <p:nvPr/>
          </p:nvSpPr>
          <p:spPr bwMode="auto">
            <a:xfrm>
              <a:off x="12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5" name="Rectangle 197"/>
            <p:cNvSpPr>
              <a:spLocks noChangeArrowheads="1"/>
            </p:cNvSpPr>
            <p:nvPr/>
          </p:nvSpPr>
          <p:spPr bwMode="auto">
            <a:xfrm>
              <a:off x="13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S</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6" name="Rectangle 198"/>
            <p:cNvSpPr>
              <a:spLocks noChangeArrowheads="1"/>
            </p:cNvSpPr>
            <p:nvPr/>
          </p:nvSpPr>
          <p:spPr bwMode="auto">
            <a:xfrm>
              <a:off x="15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dirty="0">
                  <a:solidFill>
                    <a:schemeClr val="tx1"/>
                  </a:solidFill>
                  <a:latin typeface="Courier" pitchFamily="49" charset="0"/>
                  <a:cs typeface="Times New Roman" panose="02020603050405020304" pitchFamily="18" charset="0"/>
                </a:rPr>
                <a:t>Z</a:t>
              </a:r>
              <a:endParaRPr kumimoji="1" lang="en-US" altLang="zh-CN" sz="2000" b="0" dirty="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dirty="0">
                <a:solidFill>
                  <a:schemeClr val="tx1"/>
                </a:solidFill>
                <a:latin typeface="Times New Roman" panose="02020603050405020304" pitchFamily="18" charset="0"/>
              </a:endParaRPr>
            </a:p>
          </p:txBody>
        </p:sp>
        <p:sp>
          <p:nvSpPr>
            <p:cNvPr id="197" name="Rectangle 199"/>
            <p:cNvSpPr>
              <a:spLocks noChangeArrowheads="1"/>
            </p:cNvSpPr>
            <p:nvPr/>
          </p:nvSpPr>
          <p:spPr bwMode="auto">
            <a:xfrm>
              <a:off x="16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8" name="Rectangle 200"/>
            <p:cNvSpPr>
              <a:spLocks noChangeArrowheads="1"/>
            </p:cNvSpPr>
            <p:nvPr/>
          </p:nvSpPr>
          <p:spPr bwMode="auto">
            <a:xfrm>
              <a:off x="18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F</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199" name="Rectangle 201"/>
            <p:cNvSpPr>
              <a:spLocks noChangeArrowheads="1"/>
            </p:cNvSpPr>
            <p:nvPr/>
          </p:nvSpPr>
          <p:spPr bwMode="auto">
            <a:xfrm>
              <a:off x="19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0" name="Rectangle 202"/>
            <p:cNvSpPr>
              <a:spLocks noChangeArrowheads="1"/>
            </p:cNvSpPr>
            <p:nvPr/>
          </p:nvSpPr>
          <p:spPr bwMode="auto">
            <a:xfrm>
              <a:off x="21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1" name="Rectangle 203"/>
            <p:cNvSpPr>
              <a:spLocks noChangeArrowheads="1"/>
            </p:cNvSpPr>
            <p:nvPr/>
          </p:nvSpPr>
          <p:spPr bwMode="auto">
            <a:xfrm>
              <a:off x="22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2" name="Rectangle 204"/>
            <p:cNvSpPr>
              <a:spLocks noChangeArrowheads="1"/>
            </p:cNvSpPr>
            <p:nvPr/>
          </p:nvSpPr>
          <p:spPr bwMode="auto">
            <a:xfrm>
              <a:off x="24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B</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3" name="Rectangle 205"/>
            <p:cNvSpPr>
              <a:spLocks noChangeArrowheads="1"/>
            </p:cNvSpPr>
            <p:nvPr/>
          </p:nvSpPr>
          <p:spPr bwMode="auto">
            <a:xfrm>
              <a:off x="25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4" name="Rectangle 206"/>
            <p:cNvSpPr>
              <a:spLocks noChangeArrowheads="1"/>
            </p:cNvSpPr>
            <p:nvPr/>
          </p:nvSpPr>
          <p:spPr bwMode="auto">
            <a:xfrm>
              <a:off x="27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W</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5" name="Rectangle 207"/>
            <p:cNvSpPr>
              <a:spLocks noChangeArrowheads="1"/>
            </p:cNvSpPr>
            <p:nvPr/>
          </p:nvSpPr>
          <p:spPr bwMode="auto">
            <a:xfrm>
              <a:off x="28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6" name="Rectangle 208"/>
            <p:cNvSpPr>
              <a:spLocks noChangeArrowheads="1"/>
            </p:cNvSpPr>
            <p:nvPr/>
          </p:nvSpPr>
          <p:spPr bwMode="auto">
            <a:xfrm>
              <a:off x="30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F</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7" name="Rectangle 209"/>
            <p:cNvSpPr>
              <a:spLocks noChangeArrowheads="1"/>
            </p:cNvSpPr>
            <p:nvPr/>
          </p:nvSpPr>
          <p:spPr bwMode="auto">
            <a:xfrm>
              <a:off x="31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8" name="Rectangle 210"/>
            <p:cNvSpPr>
              <a:spLocks noChangeArrowheads="1"/>
            </p:cNvSpPr>
            <p:nvPr/>
          </p:nvSpPr>
          <p:spPr bwMode="auto">
            <a:xfrm>
              <a:off x="33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P</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09" name="Rectangle 211"/>
            <p:cNvSpPr>
              <a:spLocks noChangeArrowheads="1"/>
            </p:cNvSpPr>
            <p:nvPr/>
          </p:nvSpPr>
          <p:spPr bwMode="auto">
            <a:xfrm>
              <a:off x="34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Z</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0" name="Rectangle 212"/>
            <p:cNvSpPr>
              <a:spLocks noChangeArrowheads="1"/>
            </p:cNvSpPr>
            <p:nvPr/>
          </p:nvSpPr>
          <p:spPr bwMode="auto">
            <a:xfrm>
              <a:off x="36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1" name="Rectangle 213"/>
            <p:cNvSpPr>
              <a:spLocks noChangeArrowheads="1"/>
            </p:cNvSpPr>
            <p:nvPr/>
          </p:nvSpPr>
          <p:spPr bwMode="auto">
            <a:xfrm>
              <a:off x="37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2" name="Rectangle 214"/>
            <p:cNvSpPr>
              <a:spLocks noChangeArrowheads="1"/>
            </p:cNvSpPr>
            <p:nvPr/>
          </p:nvSpPr>
          <p:spPr bwMode="auto">
            <a:xfrm>
              <a:off x="39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D</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3" name="Rectangle 215"/>
            <p:cNvSpPr>
              <a:spLocks noChangeArrowheads="1"/>
            </p:cNvSpPr>
            <p:nvPr/>
          </p:nvSpPr>
          <p:spPr bwMode="auto">
            <a:xfrm>
              <a:off x="40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J</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4" name="Rectangle 216"/>
            <p:cNvSpPr>
              <a:spLocks noChangeArrowheads="1"/>
            </p:cNvSpPr>
            <p:nvPr/>
          </p:nvSpPr>
          <p:spPr bwMode="auto">
            <a:xfrm>
              <a:off x="42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U</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5" name="Rectangle 217"/>
            <p:cNvSpPr>
              <a:spLocks noChangeArrowheads="1"/>
            </p:cNvSpPr>
            <p:nvPr/>
          </p:nvSpPr>
          <p:spPr bwMode="auto">
            <a:xfrm>
              <a:off x="43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D</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6" name="Rectangle 218"/>
            <p:cNvSpPr>
              <a:spLocks noChangeArrowheads="1"/>
            </p:cNvSpPr>
            <p:nvPr/>
          </p:nvSpPr>
          <p:spPr bwMode="auto">
            <a:xfrm>
              <a:off x="45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7" name="Rectangle 219"/>
            <p:cNvSpPr>
              <a:spLocks noChangeArrowheads="1"/>
            </p:cNvSpPr>
            <p:nvPr/>
          </p:nvSpPr>
          <p:spPr bwMode="auto">
            <a:xfrm>
              <a:off x="46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8" name="Rectangle 220"/>
            <p:cNvSpPr>
              <a:spLocks noChangeArrowheads="1"/>
            </p:cNvSpPr>
            <p:nvPr/>
          </p:nvSpPr>
          <p:spPr bwMode="auto">
            <a:xfrm>
              <a:off x="48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O</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19" name="Rectangle 221"/>
            <p:cNvSpPr>
              <a:spLocks noChangeArrowheads="1"/>
            </p:cNvSpPr>
            <p:nvPr/>
          </p:nvSpPr>
          <p:spPr bwMode="auto">
            <a:xfrm>
              <a:off x="49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20" name="Rectangle 222"/>
            <p:cNvSpPr>
              <a:spLocks noChangeArrowheads="1"/>
            </p:cNvSpPr>
            <p:nvPr/>
          </p:nvSpPr>
          <p:spPr bwMode="auto">
            <a:xfrm>
              <a:off x="51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M</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21" name="Rectangle 223"/>
            <p:cNvSpPr>
              <a:spLocks noChangeArrowheads="1"/>
            </p:cNvSpPr>
            <p:nvPr/>
          </p:nvSpPr>
          <p:spPr bwMode="auto">
            <a:xfrm>
              <a:off x="52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Q</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22" name="Rectangle 224"/>
            <p:cNvSpPr>
              <a:spLocks noChangeArrowheads="1"/>
            </p:cNvSpPr>
            <p:nvPr/>
          </p:nvSpPr>
          <p:spPr bwMode="auto">
            <a:xfrm>
              <a:off x="54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3" name="Rectangle 225"/>
            <p:cNvSpPr>
              <a:spLocks noChangeArrowheads="1"/>
            </p:cNvSpPr>
            <p:nvPr/>
          </p:nvSpPr>
          <p:spPr bwMode="auto">
            <a:xfrm>
              <a:off x="55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4" name="Rectangle 226"/>
            <p:cNvSpPr>
              <a:spLocks noChangeArrowheads="1"/>
            </p:cNvSpPr>
            <p:nvPr/>
          </p:nvSpPr>
          <p:spPr bwMode="auto">
            <a:xfrm>
              <a:off x="57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5" name="Rectangle 227"/>
            <p:cNvSpPr>
              <a:spLocks noChangeArrowheads="1"/>
            </p:cNvSpPr>
            <p:nvPr/>
          </p:nvSpPr>
          <p:spPr bwMode="auto">
            <a:xfrm>
              <a:off x="58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6" name="Rectangle 228"/>
            <p:cNvSpPr>
              <a:spLocks noChangeArrowheads="1"/>
            </p:cNvSpPr>
            <p:nvPr/>
          </p:nvSpPr>
          <p:spPr bwMode="auto">
            <a:xfrm>
              <a:off x="60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7" name="Rectangle 229"/>
            <p:cNvSpPr>
              <a:spLocks noChangeArrowheads="1"/>
            </p:cNvSpPr>
            <p:nvPr/>
          </p:nvSpPr>
          <p:spPr bwMode="auto">
            <a:xfrm>
              <a:off x="61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8" name="Rectangle 230"/>
            <p:cNvSpPr>
              <a:spLocks noChangeArrowheads="1"/>
            </p:cNvSpPr>
            <p:nvPr/>
          </p:nvSpPr>
          <p:spPr bwMode="auto">
            <a:xfrm>
              <a:off x="63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29" name="Rectangle 231"/>
            <p:cNvSpPr>
              <a:spLocks noChangeArrowheads="1"/>
            </p:cNvSpPr>
            <p:nvPr/>
          </p:nvSpPr>
          <p:spPr bwMode="auto">
            <a:xfrm>
              <a:off x="646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0" name="Rectangle 232"/>
            <p:cNvSpPr>
              <a:spLocks noChangeArrowheads="1"/>
            </p:cNvSpPr>
            <p:nvPr/>
          </p:nvSpPr>
          <p:spPr bwMode="auto">
            <a:xfrm>
              <a:off x="6611" y="2016"/>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1" name="Rectangle 233"/>
            <p:cNvSpPr>
              <a:spLocks noChangeArrowheads="1"/>
            </p:cNvSpPr>
            <p:nvPr/>
          </p:nvSpPr>
          <p:spPr bwMode="auto">
            <a:xfrm>
              <a:off x="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2" name="Rectangle 234"/>
            <p:cNvSpPr>
              <a:spLocks noChangeArrowheads="1"/>
            </p:cNvSpPr>
            <p:nvPr/>
          </p:nvSpPr>
          <p:spPr bwMode="auto">
            <a:xfrm>
              <a:off x="1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33" name="Rectangle 235"/>
            <p:cNvSpPr>
              <a:spLocks noChangeArrowheads="1"/>
            </p:cNvSpPr>
            <p:nvPr/>
          </p:nvSpPr>
          <p:spPr bwMode="auto">
            <a:xfrm>
              <a:off x="3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4" name="Rectangle 236"/>
            <p:cNvSpPr>
              <a:spLocks noChangeArrowheads="1"/>
            </p:cNvSpPr>
            <p:nvPr/>
          </p:nvSpPr>
          <p:spPr bwMode="auto">
            <a:xfrm>
              <a:off x="4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5" name="Rectangle 237"/>
            <p:cNvSpPr>
              <a:spLocks noChangeArrowheads="1"/>
            </p:cNvSpPr>
            <p:nvPr/>
          </p:nvSpPr>
          <p:spPr bwMode="auto">
            <a:xfrm>
              <a:off x="6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36" name="Rectangle 238"/>
            <p:cNvSpPr>
              <a:spLocks noChangeArrowheads="1"/>
            </p:cNvSpPr>
            <p:nvPr/>
          </p:nvSpPr>
          <p:spPr bwMode="auto">
            <a:xfrm>
              <a:off x="7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7" name="Rectangle 239"/>
            <p:cNvSpPr>
              <a:spLocks noChangeArrowheads="1"/>
            </p:cNvSpPr>
            <p:nvPr/>
          </p:nvSpPr>
          <p:spPr bwMode="auto">
            <a:xfrm>
              <a:off x="9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38" name="Rectangle 240"/>
            <p:cNvSpPr>
              <a:spLocks noChangeArrowheads="1"/>
            </p:cNvSpPr>
            <p:nvPr/>
          </p:nvSpPr>
          <p:spPr bwMode="auto">
            <a:xfrm>
              <a:off x="10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39" name="Rectangle 241"/>
            <p:cNvSpPr>
              <a:spLocks noChangeArrowheads="1"/>
            </p:cNvSpPr>
            <p:nvPr/>
          </p:nvSpPr>
          <p:spPr bwMode="auto">
            <a:xfrm>
              <a:off x="12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40" name="Rectangle 242"/>
            <p:cNvSpPr>
              <a:spLocks noChangeArrowheads="1"/>
            </p:cNvSpPr>
            <p:nvPr/>
          </p:nvSpPr>
          <p:spPr bwMode="auto">
            <a:xfrm>
              <a:off x="13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A</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41" name="Rectangle 243"/>
            <p:cNvSpPr>
              <a:spLocks noChangeArrowheads="1"/>
            </p:cNvSpPr>
            <p:nvPr/>
          </p:nvSpPr>
          <p:spPr bwMode="auto">
            <a:xfrm>
              <a:off x="15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42" name="Rectangle 244"/>
            <p:cNvSpPr>
              <a:spLocks noChangeArrowheads="1"/>
            </p:cNvSpPr>
            <p:nvPr/>
          </p:nvSpPr>
          <p:spPr bwMode="auto">
            <a:xfrm>
              <a:off x="16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43" name="Rectangle 245"/>
            <p:cNvSpPr>
              <a:spLocks noChangeArrowheads="1"/>
            </p:cNvSpPr>
            <p:nvPr/>
          </p:nvSpPr>
          <p:spPr bwMode="auto">
            <a:xfrm>
              <a:off x="18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44" name="Rectangle 246"/>
            <p:cNvSpPr>
              <a:spLocks noChangeArrowheads="1"/>
            </p:cNvSpPr>
            <p:nvPr/>
          </p:nvSpPr>
          <p:spPr bwMode="auto">
            <a:xfrm>
              <a:off x="19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45" name="Rectangle 247"/>
            <p:cNvSpPr>
              <a:spLocks noChangeArrowheads="1"/>
            </p:cNvSpPr>
            <p:nvPr/>
          </p:nvSpPr>
          <p:spPr bwMode="auto">
            <a:xfrm>
              <a:off x="21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46" name="Rectangle 248"/>
            <p:cNvSpPr>
              <a:spLocks noChangeArrowheads="1"/>
            </p:cNvSpPr>
            <p:nvPr/>
          </p:nvSpPr>
          <p:spPr bwMode="auto">
            <a:xfrm>
              <a:off x="22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47" name="Rectangle 249"/>
            <p:cNvSpPr>
              <a:spLocks noChangeArrowheads="1"/>
            </p:cNvSpPr>
            <p:nvPr/>
          </p:nvSpPr>
          <p:spPr bwMode="auto">
            <a:xfrm>
              <a:off x="24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48" name="Rectangle 250"/>
            <p:cNvSpPr>
              <a:spLocks noChangeArrowheads="1"/>
            </p:cNvSpPr>
            <p:nvPr/>
          </p:nvSpPr>
          <p:spPr bwMode="auto">
            <a:xfrm>
              <a:off x="25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49" name="Rectangle 251"/>
            <p:cNvSpPr>
              <a:spLocks noChangeArrowheads="1"/>
            </p:cNvSpPr>
            <p:nvPr/>
          </p:nvSpPr>
          <p:spPr bwMode="auto">
            <a:xfrm>
              <a:off x="27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h</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50" name="Rectangle 252"/>
            <p:cNvSpPr>
              <a:spLocks noChangeArrowheads="1"/>
            </p:cNvSpPr>
            <p:nvPr/>
          </p:nvSpPr>
          <p:spPr bwMode="auto">
            <a:xfrm>
              <a:off x="28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e</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51" name="Rectangle 253"/>
            <p:cNvSpPr>
              <a:spLocks noChangeArrowheads="1"/>
            </p:cNvSpPr>
            <p:nvPr/>
          </p:nvSpPr>
          <p:spPr bwMode="auto">
            <a:xfrm>
              <a:off x="30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2" name="Rectangle 254"/>
            <p:cNvSpPr>
              <a:spLocks noChangeArrowheads="1"/>
            </p:cNvSpPr>
            <p:nvPr/>
          </p:nvSpPr>
          <p:spPr bwMode="auto">
            <a:xfrm>
              <a:off x="31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3" name="Rectangle 255"/>
            <p:cNvSpPr>
              <a:spLocks noChangeArrowheads="1"/>
            </p:cNvSpPr>
            <p:nvPr/>
          </p:nvSpPr>
          <p:spPr bwMode="auto">
            <a:xfrm>
              <a:off x="33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4" name="Rectangle 256"/>
            <p:cNvSpPr>
              <a:spLocks noChangeArrowheads="1"/>
            </p:cNvSpPr>
            <p:nvPr/>
          </p:nvSpPr>
          <p:spPr bwMode="auto">
            <a:xfrm>
              <a:off x="34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Courier" pitchFamily="49" charset="0"/>
                  <a:cs typeface="Times New Roman" panose="02020603050405020304" pitchFamily="18" charset="0"/>
                </a:rPr>
                <a:t>t</a:t>
              </a:r>
              <a:endParaRPr kumimoji="1" lang="en-US" altLang="zh-CN" sz="2000" b="0">
                <a:solidFill>
                  <a:schemeClr val="tx1"/>
                </a:solidFill>
                <a:latin typeface="Times New Roman" panose="02020603050405020304" pitchFamily="18" charset="0"/>
                <a:cs typeface="Times New Roman" panose="02020603050405020304" pitchFamily="18" charset="0"/>
              </a:endParaRPr>
            </a:p>
            <a:p>
              <a:pPr algn="just"/>
              <a:endParaRPr kumimoji="1" lang="en-US" altLang="zh-CN" sz="2000" b="0">
                <a:solidFill>
                  <a:schemeClr val="tx1"/>
                </a:solidFill>
                <a:latin typeface="Times New Roman" panose="02020603050405020304" pitchFamily="18" charset="0"/>
              </a:endParaRPr>
            </a:p>
          </p:txBody>
        </p:sp>
        <p:sp>
          <p:nvSpPr>
            <p:cNvPr id="255" name="Rectangle 257"/>
            <p:cNvSpPr>
              <a:spLocks noChangeArrowheads="1"/>
            </p:cNvSpPr>
            <p:nvPr/>
          </p:nvSpPr>
          <p:spPr bwMode="auto">
            <a:xfrm>
              <a:off x="36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6" name="Rectangle 258"/>
            <p:cNvSpPr>
              <a:spLocks noChangeArrowheads="1"/>
            </p:cNvSpPr>
            <p:nvPr/>
          </p:nvSpPr>
          <p:spPr bwMode="auto">
            <a:xfrm>
              <a:off x="37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7" name="Rectangle 259"/>
            <p:cNvSpPr>
              <a:spLocks noChangeArrowheads="1"/>
            </p:cNvSpPr>
            <p:nvPr/>
          </p:nvSpPr>
          <p:spPr bwMode="auto">
            <a:xfrm>
              <a:off x="39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8" name="Rectangle 260"/>
            <p:cNvSpPr>
              <a:spLocks noChangeArrowheads="1"/>
            </p:cNvSpPr>
            <p:nvPr/>
          </p:nvSpPr>
          <p:spPr bwMode="auto">
            <a:xfrm>
              <a:off x="40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59" name="Rectangle 261"/>
            <p:cNvSpPr>
              <a:spLocks noChangeArrowheads="1"/>
            </p:cNvSpPr>
            <p:nvPr/>
          </p:nvSpPr>
          <p:spPr bwMode="auto">
            <a:xfrm>
              <a:off x="42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0" name="Rectangle 262"/>
            <p:cNvSpPr>
              <a:spLocks noChangeArrowheads="1"/>
            </p:cNvSpPr>
            <p:nvPr/>
          </p:nvSpPr>
          <p:spPr bwMode="auto">
            <a:xfrm>
              <a:off x="43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1" name="Rectangle 263"/>
            <p:cNvSpPr>
              <a:spLocks noChangeArrowheads="1"/>
            </p:cNvSpPr>
            <p:nvPr/>
          </p:nvSpPr>
          <p:spPr bwMode="auto">
            <a:xfrm>
              <a:off x="45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2" name="Rectangle 264"/>
            <p:cNvSpPr>
              <a:spLocks noChangeArrowheads="1"/>
            </p:cNvSpPr>
            <p:nvPr/>
          </p:nvSpPr>
          <p:spPr bwMode="auto">
            <a:xfrm>
              <a:off x="46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3" name="Rectangle 265"/>
            <p:cNvSpPr>
              <a:spLocks noChangeArrowheads="1"/>
            </p:cNvSpPr>
            <p:nvPr/>
          </p:nvSpPr>
          <p:spPr bwMode="auto">
            <a:xfrm>
              <a:off x="48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4" name="Rectangle 266"/>
            <p:cNvSpPr>
              <a:spLocks noChangeArrowheads="1"/>
            </p:cNvSpPr>
            <p:nvPr/>
          </p:nvSpPr>
          <p:spPr bwMode="auto">
            <a:xfrm>
              <a:off x="49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5" name="Rectangle 267"/>
            <p:cNvSpPr>
              <a:spLocks noChangeArrowheads="1"/>
            </p:cNvSpPr>
            <p:nvPr/>
          </p:nvSpPr>
          <p:spPr bwMode="auto">
            <a:xfrm>
              <a:off x="51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6" name="Rectangle 268"/>
            <p:cNvSpPr>
              <a:spLocks noChangeArrowheads="1"/>
            </p:cNvSpPr>
            <p:nvPr/>
          </p:nvSpPr>
          <p:spPr bwMode="auto">
            <a:xfrm>
              <a:off x="52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7" name="Rectangle 269"/>
            <p:cNvSpPr>
              <a:spLocks noChangeArrowheads="1"/>
            </p:cNvSpPr>
            <p:nvPr/>
          </p:nvSpPr>
          <p:spPr bwMode="auto">
            <a:xfrm>
              <a:off x="54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8" name="Rectangle 270"/>
            <p:cNvSpPr>
              <a:spLocks noChangeArrowheads="1"/>
            </p:cNvSpPr>
            <p:nvPr/>
          </p:nvSpPr>
          <p:spPr bwMode="auto">
            <a:xfrm>
              <a:off x="55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69" name="Rectangle 271"/>
            <p:cNvSpPr>
              <a:spLocks noChangeArrowheads="1"/>
            </p:cNvSpPr>
            <p:nvPr/>
          </p:nvSpPr>
          <p:spPr bwMode="auto">
            <a:xfrm>
              <a:off x="57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70" name="Rectangle 272"/>
            <p:cNvSpPr>
              <a:spLocks noChangeArrowheads="1"/>
            </p:cNvSpPr>
            <p:nvPr/>
          </p:nvSpPr>
          <p:spPr bwMode="auto">
            <a:xfrm>
              <a:off x="58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71" name="Rectangle 273"/>
            <p:cNvSpPr>
              <a:spLocks noChangeArrowheads="1"/>
            </p:cNvSpPr>
            <p:nvPr/>
          </p:nvSpPr>
          <p:spPr bwMode="auto">
            <a:xfrm>
              <a:off x="60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72" name="Rectangle 274"/>
            <p:cNvSpPr>
              <a:spLocks noChangeArrowheads="1"/>
            </p:cNvSpPr>
            <p:nvPr/>
          </p:nvSpPr>
          <p:spPr bwMode="auto">
            <a:xfrm>
              <a:off x="61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73" name="Rectangle 275"/>
            <p:cNvSpPr>
              <a:spLocks noChangeArrowheads="1"/>
            </p:cNvSpPr>
            <p:nvPr/>
          </p:nvSpPr>
          <p:spPr bwMode="auto">
            <a:xfrm>
              <a:off x="63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74" name="Rectangle 276"/>
            <p:cNvSpPr>
              <a:spLocks noChangeArrowheads="1"/>
            </p:cNvSpPr>
            <p:nvPr/>
          </p:nvSpPr>
          <p:spPr bwMode="auto">
            <a:xfrm>
              <a:off x="646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sp>
          <p:nvSpPr>
            <p:cNvPr id="275" name="Rectangle 277"/>
            <p:cNvSpPr>
              <a:spLocks noChangeArrowheads="1"/>
            </p:cNvSpPr>
            <p:nvPr/>
          </p:nvSpPr>
          <p:spPr bwMode="auto">
            <a:xfrm>
              <a:off x="6611" y="2400"/>
              <a:ext cx="1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just" eaLnBrk="1" hangingPunct="1"/>
              <a:r>
                <a:rPr kumimoji="1" lang="en-US" altLang="zh-CN" sz="2000" b="0">
                  <a:solidFill>
                    <a:schemeClr val="tx1"/>
                  </a:solidFill>
                  <a:latin typeface="Times New Roman" panose="02020603050405020304" pitchFamily="18" charset="0"/>
                  <a:cs typeface="Times New Roman" panose="02020603050405020304" pitchFamily="18" charset="0"/>
                </a:rPr>
                <a:t> </a:t>
              </a:r>
            </a:p>
            <a:p>
              <a:pPr algn="just"/>
              <a:endParaRPr kumimoji="1" lang="en-US" altLang="zh-CN" sz="2000" b="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2783640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lnSpc>
                <a:spcPct val="150000"/>
              </a:lnSpc>
            </a:pPr>
            <a:r>
              <a:rPr lang="zh-CN" altLang="en-US" dirty="0">
                <a:solidFill>
                  <a:srgbClr val="C00000"/>
                </a:solidFill>
              </a:rPr>
              <a:t>单字母频率分析</a:t>
            </a:r>
            <a:endParaRPr lang="en-US" altLang="zh-CN" dirty="0">
              <a:solidFill>
                <a:srgbClr val="C00000"/>
              </a:solidFill>
            </a:endParaRPr>
          </a:p>
          <a:p>
            <a:pPr lvl="1">
              <a:lnSpc>
                <a:spcPct val="150000"/>
              </a:lnSpc>
            </a:pPr>
            <a:r>
              <a:rPr lang="zh-CN" altLang="en-US" dirty="0"/>
              <a:t>虽然只确定了</a:t>
            </a:r>
            <a:r>
              <a:rPr lang="en-US" altLang="zh-CN" dirty="0"/>
              <a:t>4</a:t>
            </a:r>
            <a:r>
              <a:rPr lang="zh-CN" altLang="en-US" dirty="0"/>
              <a:t>个字母，但是我们已经有眉目了。继续进行类似的分析、测试，很快就可以得出完整的明文，加上空格后如下：</a:t>
            </a:r>
          </a:p>
          <a:p>
            <a:pPr lvl="1">
              <a:lnSpc>
                <a:spcPct val="150000"/>
              </a:lnSpc>
            </a:pPr>
            <a:r>
              <a:rPr lang="en-US" altLang="zh-CN" dirty="0"/>
              <a:t>it was disclosed yesterday that several informal but direct contacts have been made with political representatives of the </a:t>
            </a:r>
            <a:r>
              <a:rPr lang="en-US" altLang="zh-CN" dirty="0" err="1"/>
              <a:t>viet</a:t>
            </a:r>
            <a:r>
              <a:rPr lang="en-US" altLang="zh-CN" dirty="0"/>
              <a:t> </a:t>
            </a:r>
            <a:r>
              <a:rPr lang="en-US" altLang="zh-CN" dirty="0" err="1"/>
              <a:t>cong</a:t>
            </a:r>
            <a:r>
              <a:rPr lang="en-US" altLang="zh-CN" dirty="0"/>
              <a:t> in </a:t>
            </a:r>
            <a:r>
              <a:rPr lang="en-US" altLang="zh-CN" dirty="0" err="1"/>
              <a:t>moscow</a:t>
            </a:r>
            <a:r>
              <a:rPr lang="en-US" altLang="zh-CN" dirty="0"/>
              <a:t>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62</a:t>
            </a:fld>
            <a:endParaRPr kumimoji="1" lang="zh-CN" altLang="en-US" dirty="0"/>
          </a:p>
        </p:txBody>
      </p:sp>
    </p:spTree>
    <p:extLst>
      <p:ext uri="{BB962C8B-B14F-4D97-AF65-F5344CB8AC3E}">
        <p14:creationId xmlns:p14="http://schemas.microsoft.com/office/powerpoint/2010/main" val="17875044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marL="342900" indent="-342900"/>
            <a:r>
              <a:rPr lang="zh-CN" altLang="en-US" dirty="0">
                <a:solidFill>
                  <a:srgbClr val="C00000"/>
                </a:solidFill>
              </a:rPr>
              <a:t>仿射变换密码分析</a:t>
            </a:r>
            <a:endParaRPr lang="en-US" altLang="zh-CN" dirty="0">
              <a:solidFill>
                <a:srgbClr val="C00000"/>
              </a:solidFill>
            </a:endParaRPr>
          </a:p>
          <a:p>
            <a:pPr marL="800100" lvl="1" indent="-342900"/>
            <a:r>
              <a:rPr lang="zh-CN" altLang="en-US" sz="2800" dirty="0"/>
              <a:t>求解联立方程组：</a:t>
            </a:r>
          </a:p>
          <a:p>
            <a:pPr marL="1200150" lvl="2"/>
            <a:r>
              <a:rPr lang="zh-CN" altLang="en-US" sz="2400" dirty="0"/>
              <a:t>已知</a:t>
            </a:r>
            <a:r>
              <a:rPr lang="en-US" altLang="zh-CN" sz="2400" i="1" dirty="0"/>
              <a:t>t</a:t>
            </a:r>
            <a:r>
              <a:rPr lang="zh-CN" altLang="en-US" sz="2400" dirty="0"/>
              <a:t>个对应的明文字母</a:t>
            </a:r>
            <a:r>
              <a:rPr lang="en-US" altLang="zh-CN" sz="2400" i="1" dirty="0"/>
              <a:t>m</a:t>
            </a:r>
            <a:r>
              <a:rPr lang="en-US" altLang="zh-CN" sz="2400" i="1" baseline="-25000" dirty="0"/>
              <a:t>i</a:t>
            </a:r>
            <a:r>
              <a:rPr lang="zh-CN" altLang="en-US" sz="2400" dirty="0"/>
              <a:t>和密文字母</a:t>
            </a:r>
            <a:r>
              <a:rPr lang="en-US" altLang="zh-CN" sz="2400" i="1" dirty="0"/>
              <a:t>c</a:t>
            </a:r>
            <a:r>
              <a:rPr lang="en-US" altLang="zh-CN" sz="2400" i="1" baseline="-25000" dirty="0"/>
              <a:t>i</a:t>
            </a:r>
            <a:r>
              <a:rPr lang="en-US" altLang="zh-CN" sz="2400" dirty="0"/>
              <a:t>(1</a:t>
            </a:r>
            <a:r>
              <a:rPr lang="en-US" altLang="zh-CN" sz="2400" dirty="0">
                <a:sym typeface="Symbol" panose="05050102010706020507" pitchFamily="18" charset="2"/>
              </a:rPr>
              <a:t></a:t>
            </a:r>
            <a:r>
              <a:rPr lang="en-US" altLang="zh-CN" sz="2400" i="1" dirty="0"/>
              <a:t>i</a:t>
            </a:r>
            <a:r>
              <a:rPr lang="en-US" altLang="zh-CN" sz="2400" dirty="0"/>
              <a:t> </a:t>
            </a:r>
            <a:r>
              <a:rPr lang="en-US" altLang="zh-CN" sz="2400" dirty="0">
                <a:sym typeface="Symbol" panose="05050102010706020507" pitchFamily="18" charset="2"/>
              </a:rPr>
              <a:t></a:t>
            </a:r>
            <a:r>
              <a:rPr lang="en-US" altLang="zh-CN" sz="2400" i="1" dirty="0"/>
              <a:t> t</a:t>
            </a:r>
            <a:r>
              <a:rPr lang="en-US" altLang="zh-CN" sz="2400" dirty="0"/>
              <a:t>)</a:t>
            </a:r>
            <a:r>
              <a:rPr lang="zh-CN" altLang="en-US" sz="2400" dirty="0"/>
              <a:t>，则</a:t>
            </a:r>
          </a:p>
          <a:p>
            <a:pPr lvl="3">
              <a:buNone/>
            </a:pPr>
            <a:r>
              <a:rPr lang="en-US" altLang="zh-CN" sz="2600" i="1" dirty="0"/>
              <a:t>(m</a:t>
            </a:r>
            <a:r>
              <a:rPr lang="en-US" altLang="zh-CN" sz="2600" baseline="-25000" dirty="0"/>
              <a:t>1</a:t>
            </a:r>
            <a:r>
              <a:rPr lang="en-US" altLang="zh-CN" sz="2600" i="1" dirty="0"/>
              <a:t>k</a:t>
            </a:r>
            <a:r>
              <a:rPr lang="en-US" altLang="zh-CN" sz="2600" baseline="-25000" dirty="0"/>
              <a:t>1</a:t>
            </a:r>
            <a:r>
              <a:rPr lang="en-US" altLang="zh-CN" sz="2600" i="1" dirty="0"/>
              <a:t>+k</a:t>
            </a:r>
            <a:r>
              <a:rPr lang="en-US" altLang="zh-CN" sz="2600" baseline="-25000" dirty="0"/>
              <a:t>0</a:t>
            </a:r>
            <a:r>
              <a:rPr lang="en-US" altLang="zh-CN" sz="2600" i="1" dirty="0"/>
              <a:t>) </a:t>
            </a:r>
            <a:r>
              <a:rPr lang="en-US" altLang="zh-CN" sz="2600" dirty="0"/>
              <a:t>mod</a:t>
            </a:r>
            <a:r>
              <a:rPr lang="en-US" altLang="zh-CN" sz="2600" i="1" dirty="0"/>
              <a:t> n=c</a:t>
            </a:r>
            <a:r>
              <a:rPr lang="en-US" altLang="zh-CN" sz="2600" baseline="-25000" dirty="0"/>
              <a:t>1</a:t>
            </a:r>
          </a:p>
          <a:p>
            <a:pPr lvl="3">
              <a:buNone/>
            </a:pPr>
            <a:r>
              <a:rPr lang="en-US" altLang="zh-CN" sz="2600" i="1" dirty="0"/>
              <a:t>…</a:t>
            </a:r>
          </a:p>
          <a:p>
            <a:pPr lvl="3">
              <a:buNone/>
            </a:pPr>
            <a:r>
              <a:rPr lang="en-US" altLang="zh-CN" sz="2600" i="1" dirty="0"/>
              <a:t>(m</a:t>
            </a:r>
            <a:r>
              <a:rPr lang="en-US" altLang="zh-CN" sz="2600" i="1" baseline="-25000" dirty="0"/>
              <a:t>t</a:t>
            </a:r>
            <a:r>
              <a:rPr lang="en-US" altLang="zh-CN" sz="2600" i="1" dirty="0"/>
              <a:t>k</a:t>
            </a:r>
            <a:r>
              <a:rPr lang="en-US" altLang="zh-CN" sz="2600" baseline="-25000" dirty="0"/>
              <a:t>1</a:t>
            </a:r>
            <a:r>
              <a:rPr lang="en-US" altLang="zh-CN" sz="2600" i="1" dirty="0"/>
              <a:t>+k</a:t>
            </a:r>
            <a:r>
              <a:rPr lang="en-US" altLang="zh-CN" sz="2600" baseline="-25000" dirty="0"/>
              <a:t>0</a:t>
            </a:r>
            <a:r>
              <a:rPr lang="en-US" altLang="zh-CN" sz="2600" i="1" dirty="0"/>
              <a:t>) </a:t>
            </a:r>
            <a:r>
              <a:rPr lang="en-US" altLang="zh-CN" sz="2600" dirty="0"/>
              <a:t>mod</a:t>
            </a:r>
            <a:r>
              <a:rPr lang="en-US" altLang="zh-CN" sz="2600" i="1" dirty="0"/>
              <a:t> n=</a:t>
            </a:r>
            <a:r>
              <a:rPr lang="en-US" altLang="zh-CN" sz="2600" i="1" dirty="0" err="1"/>
              <a:t>c</a:t>
            </a:r>
            <a:r>
              <a:rPr lang="en-US" altLang="zh-CN" sz="2600" i="1" baseline="-25000" dirty="0" err="1"/>
              <a:t>t</a:t>
            </a:r>
            <a:endParaRPr lang="en-US" altLang="zh-CN" sz="2600" i="1" baseline="-25000" dirty="0"/>
          </a:p>
          <a:p>
            <a:pPr>
              <a:lnSpc>
                <a:spcPct val="150000"/>
              </a:lnSpc>
            </a:pP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63</a:t>
            </a:fld>
            <a:endParaRPr kumimoji="1" lang="zh-CN" altLang="en-US" dirty="0"/>
          </a:p>
        </p:txBody>
      </p:sp>
      <p:sp>
        <p:nvSpPr>
          <p:cNvPr id="5" name="AutoShape 4"/>
          <p:cNvSpPr>
            <a:spLocks/>
          </p:cNvSpPr>
          <p:nvPr/>
        </p:nvSpPr>
        <p:spPr bwMode="auto">
          <a:xfrm>
            <a:off x="1907969" y="3132117"/>
            <a:ext cx="288966" cy="1066800"/>
          </a:xfrm>
          <a:prstGeom prst="leftBrace">
            <a:avLst>
              <a:gd name="adj1" fmla="val 58333"/>
              <a:gd name="adj2" fmla="val 50000"/>
            </a:avLst>
          </a:prstGeom>
          <a:noFill/>
          <a:ln w="12700" cap="sq">
            <a:solidFill>
              <a:schemeClr val="tx1"/>
            </a:solidFill>
            <a:round/>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02014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486888" y="1510758"/>
            <a:ext cx="7421088" cy="4982116"/>
          </a:xfrm>
        </p:spPr>
        <p:txBody>
          <a:bodyPr>
            <a:normAutofit fontScale="92500" lnSpcReduction="10000"/>
          </a:bodyPr>
          <a:lstStyle/>
          <a:p>
            <a:pPr marL="342900" indent="-342900"/>
            <a:r>
              <a:rPr lang="zh-CN" altLang="en-US" dirty="0">
                <a:solidFill>
                  <a:srgbClr val="C00000"/>
                </a:solidFill>
              </a:rPr>
              <a:t>仿射变换密码分析</a:t>
            </a:r>
            <a:endParaRPr lang="en-US" altLang="zh-CN" dirty="0">
              <a:solidFill>
                <a:srgbClr val="C00000"/>
              </a:solidFill>
            </a:endParaRPr>
          </a:p>
          <a:p>
            <a:pPr marL="800100" lvl="1" indent="-342900">
              <a:lnSpc>
                <a:spcPct val="120000"/>
              </a:lnSpc>
            </a:pPr>
            <a:r>
              <a:rPr lang="zh-CN" altLang="en-US" b="1" dirty="0"/>
              <a:t>例 ：</a:t>
            </a:r>
            <a:r>
              <a:rPr lang="en-US" altLang="zh-CN" b="1" dirty="0"/>
              <a:t>  </a:t>
            </a:r>
            <a:r>
              <a:rPr lang="zh-CN" altLang="en-US" dirty="0"/>
              <a:t>假设从仿射密码获得的密文为：</a:t>
            </a:r>
          </a:p>
          <a:p>
            <a:pPr marL="450850" lvl="1" indent="6350">
              <a:lnSpc>
                <a:spcPct val="120000"/>
              </a:lnSpc>
              <a:buNone/>
            </a:pPr>
            <a:r>
              <a:rPr lang="en-US" altLang="zh-CN" dirty="0"/>
              <a:t>FMXVEDKAPHFERBNDKRXRSREFMORUDSDKDVSHVUFEDKAPRKDLYEVLRHHRH </a:t>
            </a:r>
            <a:r>
              <a:rPr lang="zh-CN" altLang="en-US" dirty="0"/>
              <a:t>仅有</a:t>
            </a:r>
            <a:r>
              <a:rPr lang="en-US" altLang="zh-CN" dirty="0"/>
              <a:t>57</a:t>
            </a:r>
            <a:r>
              <a:rPr lang="zh-CN" altLang="en-US" dirty="0"/>
              <a:t>个密文字母，但足够分析仿射密码。</a:t>
            </a:r>
            <a:endParaRPr lang="zh-CN" altLang="en-US" sz="1200" dirty="0"/>
          </a:p>
          <a:p>
            <a:pPr marL="450850" lvl="1" indent="6350">
              <a:lnSpc>
                <a:spcPct val="120000"/>
              </a:lnSpc>
              <a:buNone/>
            </a:pPr>
            <a:r>
              <a:rPr lang="zh-CN" altLang="en-US" sz="2000" dirty="0"/>
              <a:t>最高频的密文字母是：</a:t>
            </a:r>
            <a:r>
              <a:rPr lang="en-US" altLang="zh-CN" sz="2000" dirty="0"/>
              <a:t>R(8</a:t>
            </a:r>
            <a:r>
              <a:rPr lang="zh-CN" altLang="en-US" sz="2000" dirty="0"/>
              <a:t>次</a:t>
            </a:r>
            <a:r>
              <a:rPr lang="en-US" altLang="zh-CN" sz="2000" dirty="0"/>
              <a:t>)</a:t>
            </a:r>
            <a:r>
              <a:rPr lang="zh-CN" altLang="en-US" sz="2000" dirty="0"/>
              <a:t>，</a:t>
            </a:r>
            <a:r>
              <a:rPr lang="en-US" altLang="zh-CN" sz="2000" dirty="0"/>
              <a:t>D</a:t>
            </a:r>
            <a:r>
              <a:rPr lang="zh-CN" altLang="en-US" sz="2000" dirty="0"/>
              <a:t>（</a:t>
            </a:r>
            <a:r>
              <a:rPr lang="en-US" altLang="zh-CN" sz="2000" dirty="0"/>
              <a:t>6</a:t>
            </a:r>
            <a:r>
              <a:rPr lang="zh-CN" altLang="en-US" sz="2000" dirty="0"/>
              <a:t>次），</a:t>
            </a:r>
            <a:r>
              <a:rPr lang="en-US" altLang="zh-CN" sz="2000" dirty="0"/>
              <a:t>E</a:t>
            </a:r>
            <a:r>
              <a:rPr lang="zh-CN" altLang="en-US" sz="2000" dirty="0"/>
              <a:t>，</a:t>
            </a:r>
            <a:r>
              <a:rPr lang="en-US" altLang="zh-CN" sz="2000" dirty="0"/>
              <a:t>H</a:t>
            </a:r>
            <a:r>
              <a:rPr lang="zh-CN" altLang="en-US" sz="2000" dirty="0"/>
              <a:t>，</a:t>
            </a:r>
            <a:r>
              <a:rPr lang="en-US" altLang="zh-CN" sz="2000" dirty="0"/>
              <a:t>K</a:t>
            </a:r>
            <a:r>
              <a:rPr lang="zh-CN" altLang="en-US" sz="2000" dirty="0"/>
              <a:t>（各五次），</a:t>
            </a:r>
            <a:r>
              <a:rPr lang="en-US" altLang="zh-CN" sz="2000" dirty="0"/>
              <a:t>F</a:t>
            </a:r>
            <a:r>
              <a:rPr lang="zh-CN" altLang="en-US" sz="2000" dirty="0"/>
              <a:t>，</a:t>
            </a:r>
            <a:r>
              <a:rPr lang="en-US" altLang="zh-CN" sz="2000" dirty="0"/>
              <a:t>S</a:t>
            </a:r>
            <a:r>
              <a:rPr lang="zh-CN" altLang="en-US" sz="2000" dirty="0"/>
              <a:t>，</a:t>
            </a:r>
            <a:r>
              <a:rPr lang="en-US" altLang="zh-CN" sz="2000" dirty="0"/>
              <a:t>V</a:t>
            </a:r>
            <a:r>
              <a:rPr lang="zh-CN" altLang="en-US" sz="2000" dirty="0"/>
              <a:t>（各四次）。</a:t>
            </a:r>
          </a:p>
          <a:p>
            <a:pPr marL="450850" lvl="1" indent="6350">
              <a:lnSpc>
                <a:spcPct val="120000"/>
              </a:lnSpc>
              <a:buNone/>
            </a:pPr>
            <a:r>
              <a:rPr lang="zh-CN" altLang="en-US" sz="2000" dirty="0"/>
              <a:t>开始，我们可以</a:t>
            </a:r>
            <a:r>
              <a:rPr lang="zh-CN" altLang="en-US" sz="2000" dirty="0">
                <a:highlight>
                  <a:srgbClr val="FFFF00"/>
                </a:highlight>
              </a:rPr>
              <a:t>假定</a:t>
            </a:r>
            <a:r>
              <a:rPr lang="en-US" altLang="zh-CN" sz="2000" dirty="0">
                <a:highlight>
                  <a:srgbClr val="FFFF00"/>
                </a:highlight>
              </a:rPr>
              <a:t>R</a:t>
            </a:r>
            <a:r>
              <a:rPr lang="zh-CN" altLang="en-US" sz="2000" dirty="0">
                <a:highlight>
                  <a:srgbClr val="FFFF00"/>
                </a:highlight>
              </a:rPr>
              <a:t>是</a:t>
            </a:r>
            <a:r>
              <a:rPr lang="en-US" altLang="zh-CN" sz="2000" dirty="0">
                <a:highlight>
                  <a:srgbClr val="FFFF00"/>
                </a:highlight>
              </a:rPr>
              <a:t>e</a:t>
            </a:r>
            <a:r>
              <a:rPr lang="zh-CN" altLang="en-US" sz="2000" dirty="0">
                <a:highlight>
                  <a:srgbClr val="FFFF00"/>
                </a:highlight>
              </a:rPr>
              <a:t>的加密且</a:t>
            </a:r>
            <a:r>
              <a:rPr lang="en-US" altLang="zh-CN" sz="2000" dirty="0">
                <a:highlight>
                  <a:srgbClr val="FFFF00"/>
                </a:highlight>
              </a:rPr>
              <a:t>D</a:t>
            </a:r>
            <a:r>
              <a:rPr lang="zh-CN" altLang="en-US" sz="2000" dirty="0">
                <a:highlight>
                  <a:srgbClr val="FFFF00"/>
                </a:highlight>
              </a:rPr>
              <a:t>是</a:t>
            </a:r>
            <a:r>
              <a:rPr lang="en-US" altLang="zh-CN" sz="2000" dirty="0">
                <a:highlight>
                  <a:srgbClr val="FFFF00"/>
                </a:highlight>
              </a:rPr>
              <a:t>t</a:t>
            </a:r>
            <a:r>
              <a:rPr lang="zh-CN" altLang="en-US" sz="2000" dirty="0">
                <a:highlight>
                  <a:srgbClr val="FFFF00"/>
                </a:highlight>
              </a:rPr>
              <a:t>的加密</a:t>
            </a:r>
            <a:r>
              <a:rPr lang="zh-CN" altLang="en-US" sz="2000" dirty="0"/>
              <a:t>，因为</a:t>
            </a:r>
            <a:r>
              <a:rPr lang="en-US" altLang="zh-CN" sz="2000" dirty="0"/>
              <a:t>e</a:t>
            </a:r>
            <a:r>
              <a:rPr lang="zh-CN" altLang="en-US" sz="2000" dirty="0"/>
              <a:t>和</a:t>
            </a:r>
            <a:r>
              <a:rPr lang="en-US" altLang="zh-CN" sz="2000" dirty="0"/>
              <a:t>t</a:t>
            </a:r>
            <a:r>
              <a:rPr lang="zh-CN" altLang="en-US" sz="2000" dirty="0"/>
              <a:t>分别是两个最常见的字母。数值化后，有                                   。回忆加密函数                          。</a:t>
            </a:r>
          </a:p>
          <a:p>
            <a:pPr marL="450850" lvl="1" indent="6350">
              <a:lnSpc>
                <a:spcPct val="120000"/>
              </a:lnSpc>
              <a:buNone/>
            </a:pPr>
            <a:r>
              <a:rPr lang="zh-CN" altLang="en-US" sz="2000" dirty="0"/>
              <a:t>所以得到两个含两个未知量的线性方程组：</a:t>
            </a:r>
          </a:p>
          <a:p>
            <a:pPr marL="342900" indent="-342900">
              <a:lnSpc>
                <a:spcPct val="80000"/>
              </a:lnSpc>
              <a:buNone/>
            </a:pPr>
            <a:endParaRPr lang="zh-CN" altLang="en-US" sz="1600" dirty="0"/>
          </a:p>
          <a:p>
            <a:pPr marL="342900" indent="-342900">
              <a:lnSpc>
                <a:spcPct val="80000"/>
              </a:lnSpc>
              <a:buNone/>
            </a:pPr>
            <a:r>
              <a:rPr lang="zh-CN" altLang="en-US" sz="800" dirty="0"/>
              <a:t> </a:t>
            </a:r>
          </a:p>
          <a:p>
            <a:pPr>
              <a:lnSpc>
                <a:spcPct val="150000"/>
              </a:lnSpc>
            </a:pP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64</a:t>
            </a:fld>
            <a:endParaRPr kumimoji="1" lang="zh-CN" altLang="en-US" dirty="0"/>
          </a:p>
        </p:txBody>
      </p:sp>
      <p:graphicFrame>
        <p:nvGraphicFramePr>
          <p:cNvPr id="6" name="Object 84"/>
          <p:cNvGraphicFramePr>
            <a:graphicFrameLocks noChangeAspect="1"/>
          </p:cNvGraphicFramePr>
          <p:nvPr>
            <p:extLst>
              <p:ext uri="{D42A27DB-BD31-4B8C-83A1-F6EECF244321}">
                <p14:modId xmlns:p14="http://schemas.microsoft.com/office/powerpoint/2010/main" val="4188390075"/>
              </p:ext>
            </p:extLst>
          </p:nvPr>
        </p:nvGraphicFramePr>
        <p:xfrm>
          <a:off x="4985532" y="4622827"/>
          <a:ext cx="2303463" cy="371475"/>
        </p:xfrm>
        <a:graphic>
          <a:graphicData uri="http://schemas.openxmlformats.org/presentationml/2006/ole">
            <mc:AlternateContent xmlns:mc="http://schemas.openxmlformats.org/markup-compatibility/2006">
              <mc:Choice xmlns:v="urn:schemas-microsoft-com:vml" Requires="v">
                <p:oleObj name="公式" r:id="rId2" imgW="1422400" imgH="228600" progId="Equation.3">
                  <p:embed/>
                </p:oleObj>
              </mc:Choice>
              <mc:Fallback>
                <p:oleObj name="公式" r:id="rId2" imgW="1422400" imgH="228600" progId="Equation.3">
                  <p:embed/>
                  <p:pic>
                    <p:nvPicPr>
                      <p:cNvPr id="55378" name="Object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5532" y="4622827"/>
                        <a:ext cx="23034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88"/>
          <p:cNvGraphicFramePr>
            <a:graphicFrameLocks noChangeAspect="1"/>
          </p:cNvGraphicFramePr>
          <p:nvPr>
            <p:extLst>
              <p:ext uri="{D42A27DB-BD31-4B8C-83A1-F6EECF244321}">
                <p14:modId xmlns:p14="http://schemas.microsoft.com/office/powerpoint/2010/main" val="2031008610"/>
              </p:ext>
            </p:extLst>
          </p:nvPr>
        </p:nvGraphicFramePr>
        <p:xfrm>
          <a:off x="5633727" y="5092990"/>
          <a:ext cx="1800225" cy="1028700"/>
        </p:xfrm>
        <a:graphic>
          <a:graphicData uri="http://schemas.openxmlformats.org/presentationml/2006/ole">
            <mc:AlternateContent xmlns:mc="http://schemas.openxmlformats.org/markup-compatibility/2006">
              <mc:Choice xmlns:v="urn:schemas-microsoft-com:vml" Requires="v">
                <p:oleObj name="公式" r:id="rId4" imgW="800100" imgH="457200" progId="Equation.3">
                  <p:embed/>
                </p:oleObj>
              </mc:Choice>
              <mc:Fallback>
                <p:oleObj name="公式" r:id="rId4" imgW="800100" imgH="457200" progId="Equation.3">
                  <p:embed/>
                  <p:pic>
                    <p:nvPicPr>
                      <p:cNvPr id="55382" name="Object 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3727" y="5092990"/>
                        <a:ext cx="18002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Group 100"/>
          <p:cNvGraphicFramePr>
            <a:graphicFrameLocks/>
          </p:cNvGraphicFramePr>
          <p:nvPr>
            <p:extLst>
              <p:ext uri="{D42A27DB-BD31-4B8C-83A1-F6EECF244321}">
                <p14:modId xmlns:p14="http://schemas.microsoft.com/office/powerpoint/2010/main" val="3967237114"/>
              </p:ext>
            </p:extLst>
          </p:nvPr>
        </p:nvGraphicFramePr>
        <p:xfrm>
          <a:off x="7907976" y="1313382"/>
          <a:ext cx="3810000" cy="5376868"/>
        </p:xfrm>
        <a:graphic>
          <a:graphicData uri="http://schemas.openxmlformats.org/drawingml/2006/table">
            <a:tbl>
              <a:tblPr/>
              <a:tblGrid>
                <a:gridCol w="931863">
                  <a:extLst>
                    <a:ext uri="{9D8B030D-6E8A-4147-A177-3AD203B41FA5}">
                      <a16:colId xmlns:a16="http://schemas.microsoft.com/office/drawing/2014/main" val="20000"/>
                    </a:ext>
                  </a:extLst>
                </a:gridCol>
                <a:gridCol w="973137">
                  <a:extLst>
                    <a:ext uri="{9D8B030D-6E8A-4147-A177-3AD203B41FA5}">
                      <a16:colId xmlns:a16="http://schemas.microsoft.com/office/drawing/2014/main" val="20001"/>
                    </a:ext>
                  </a:extLst>
                </a:gridCol>
                <a:gridCol w="931863">
                  <a:extLst>
                    <a:ext uri="{9D8B030D-6E8A-4147-A177-3AD203B41FA5}">
                      <a16:colId xmlns:a16="http://schemas.microsoft.com/office/drawing/2014/main" val="20002"/>
                    </a:ext>
                  </a:extLst>
                </a:gridCol>
                <a:gridCol w="973137">
                  <a:extLst>
                    <a:ext uri="{9D8B030D-6E8A-4147-A177-3AD203B41FA5}">
                      <a16:colId xmlns:a16="http://schemas.microsoft.com/office/drawing/2014/main" val="20003"/>
                    </a:ext>
                  </a:extLst>
                </a:gridCol>
              </a:tblGrid>
              <a:tr h="384062">
                <a:tc>
                  <a:txBody>
                    <a:bodyPr/>
                    <a:lstStyle/>
                    <a:p>
                      <a:pPr marL="185738" marR="0" lvl="0" indent="-185738" algn="ctr" defTabSz="914400" rtl="0" eaLnBrk="1" fontAlgn="base" latinLnBrk="0" hangingPunct="1">
                        <a:lnSpc>
                          <a:spcPct val="120000"/>
                        </a:lnSpc>
                        <a:spcBef>
                          <a:spcPct val="0"/>
                        </a:spcBef>
                        <a:spcAft>
                          <a:spcPct val="0"/>
                        </a:spcAft>
                        <a:buClrTx/>
                        <a:buSzPct val="55000"/>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字母</a:t>
                      </a:r>
                      <a:endParaRPr kumimoji="1" lang="zh-CN" altLang="en-US"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概率</a:t>
                      </a:r>
                      <a:endParaRPr kumimoji="1" lang="zh-CN" altLang="en-US"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字母</a:t>
                      </a:r>
                      <a:endParaRPr kumimoji="1" lang="zh-CN" altLang="en-US"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zh-CN" altLang="en-US"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概率</a:t>
                      </a:r>
                      <a:endParaRPr kumimoji="1" lang="zh-CN" altLang="en-US"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0.082</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0.067</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0.015</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0.075</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0.028</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0.019</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0.043</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0.001</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0.127</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0.060</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0.022</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0.063</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0.091</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0.061</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0.028</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0.070</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0.010</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J</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0.002</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0.023</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0.008</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0.001</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0.040</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0.020</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84062">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0.024</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Z</a:t>
                      </a:r>
                      <a:endParaRPr kumimoji="1" lang="en-US" altLang="zh-CN" sz="1600" b="0" i="0" u="none" strike="noStrike" cap="none" normalizeH="0" baseline="0">
                        <a:ln>
                          <a:noFill/>
                        </a:ln>
                        <a:solidFill>
                          <a:schemeClr val="tx1"/>
                        </a:solidFill>
                        <a:effectLst/>
                        <a:latin typeface="Arial" pitchFamily="34" charset="0"/>
                        <a:ea typeface="宋体" pitchFamily="2" charset="-122"/>
                      </a:endParaRPr>
                    </a:p>
                  </a:txBody>
                  <a:tcPr marT="45722" marB="45722"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0.001</a:t>
                      </a:r>
                      <a:endParaRPr kumimoji="1" lang="en-US" altLang="zh-CN" sz="1600" b="0" i="0" u="none" strike="noStrike" cap="none" normalizeH="0" baseline="0" dirty="0">
                        <a:ln>
                          <a:noFill/>
                        </a:ln>
                        <a:solidFill>
                          <a:schemeClr val="tx1"/>
                        </a:solidFill>
                        <a:effectLst/>
                        <a:latin typeface="Arial" pitchFamily="34" charset="0"/>
                        <a:ea typeface="宋体" pitchFamily="2" charset="-122"/>
                      </a:endParaRPr>
                    </a:p>
                  </a:txBody>
                  <a:tcPr marT="45722" marB="45722"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aphicFrame>
        <p:nvGraphicFramePr>
          <p:cNvPr id="10" name="Object 86"/>
          <p:cNvGraphicFramePr>
            <a:graphicFrameLocks noChangeAspect="1"/>
          </p:cNvGraphicFramePr>
          <p:nvPr>
            <p:extLst>
              <p:ext uri="{D42A27DB-BD31-4B8C-83A1-F6EECF244321}">
                <p14:modId xmlns:p14="http://schemas.microsoft.com/office/powerpoint/2010/main" val="2533468349"/>
              </p:ext>
            </p:extLst>
          </p:nvPr>
        </p:nvGraphicFramePr>
        <p:xfrm>
          <a:off x="2581603" y="4949196"/>
          <a:ext cx="1511300" cy="382588"/>
        </p:xfrm>
        <a:graphic>
          <a:graphicData uri="http://schemas.openxmlformats.org/presentationml/2006/ole">
            <mc:AlternateContent xmlns:mc="http://schemas.openxmlformats.org/markup-compatibility/2006">
              <mc:Choice xmlns:v="urn:schemas-microsoft-com:vml" Requires="v">
                <p:oleObj name="公式" r:id="rId6" imgW="901309" imgH="228501" progId="Equation.3">
                  <p:embed/>
                </p:oleObj>
              </mc:Choice>
              <mc:Fallback>
                <p:oleObj name="公式" r:id="rId6" imgW="901309" imgH="228501" progId="Equation.3">
                  <p:embed/>
                  <p:pic>
                    <p:nvPicPr>
                      <p:cNvPr id="55380" name="Object 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1603" y="4949196"/>
                        <a:ext cx="15113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788641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3.7.4 </a:t>
            </a:r>
            <a:r>
              <a:rPr kumimoji="1" lang="zh-CN" altLang="en-US" dirty="0">
                <a:solidFill>
                  <a:prstClr val="black"/>
                </a:solidFill>
              </a:rPr>
              <a:t>单表代替密码分析</a:t>
            </a:r>
            <a:endParaRPr lang="zh-CN" altLang="en-US" dirty="0"/>
          </a:p>
        </p:txBody>
      </p:sp>
      <p:sp>
        <p:nvSpPr>
          <p:cNvPr id="3" name="内容占位符 2"/>
          <p:cNvSpPr>
            <a:spLocks noGrp="1"/>
          </p:cNvSpPr>
          <p:nvPr>
            <p:ph idx="1"/>
          </p:nvPr>
        </p:nvSpPr>
        <p:spPr>
          <a:xfrm>
            <a:off x="914400" y="1427633"/>
            <a:ext cx="10272156" cy="4982116"/>
          </a:xfrm>
        </p:spPr>
        <p:txBody>
          <a:bodyPr>
            <a:normAutofit/>
          </a:bodyPr>
          <a:lstStyle/>
          <a:p>
            <a:pPr marL="342900" indent="-342900"/>
            <a:r>
              <a:rPr lang="zh-CN" altLang="en-US" dirty="0">
                <a:solidFill>
                  <a:srgbClr val="C00000"/>
                </a:solidFill>
              </a:rPr>
              <a:t>仿射变换密码分析</a:t>
            </a:r>
            <a:endParaRPr lang="en-US" altLang="zh-CN" dirty="0">
              <a:solidFill>
                <a:srgbClr val="C00000"/>
              </a:solidFill>
            </a:endParaRPr>
          </a:p>
          <a:p>
            <a:pPr marL="177800" lvl="1" indent="0">
              <a:lnSpc>
                <a:spcPct val="120000"/>
              </a:lnSpc>
              <a:buNone/>
            </a:pPr>
            <a:r>
              <a:rPr lang="en-US" altLang="zh-CN" dirty="0"/>
              <a:t>	</a:t>
            </a:r>
            <a:r>
              <a:rPr lang="zh-CN" altLang="en-US" dirty="0"/>
              <a:t>这个系统有唯一的解                          。但这是一个</a:t>
            </a:r>
            <a:r>
              <a:rPr lang="zh-CN" altLang="en-US" dirty="0">
                <a:highlight>
                  <a:srgbClr val="FFFF00"/>
                </a:highlight>
              </a:rPr>
              <a:t>非法的密钥</a:t>
            </a:r>
            <a:r>
              <a:rPr lang="zh-CN" altLang="en-US" dirty="0"/>
              <a:t>，因为                          。所以我们假设有误。</a:t>
            </a:r>
          </a:p>
          <a:p>
            <a:pPr marL="177800" lvl="1" indent="0">
              <a:lnSpc>
                <a:spcPct val="120000"/>
              </a:lnSpc>
              <a:buNone/>
            </a:pPr>
            <a:r>
              <a:rPr lang="zh-CN" altLang="en-US" dirty="0"/>
              <a:t>     </a:t>
            </a:r>
            <a:r>
              <a:rPr lang="en-US" altLang="zh-CN" dirty="0"/>
              <a:t>	</a:t>
            </a:r>
            <a:r>
              <a:rPr lang="zh-CN" altLang="en-US" dirty="0"/>
              <a:t>我们下一个猜想可能是</a:t>
            </a:r>
            <a:r>
              <a:rPr lang="en-US" altLang="zh-CN" dirty="0"/>
              <a:t>R</a:t>
            </a:r>
            <a:r>
              <a:rPr lang="zh-CN" altLang="en-US" dirty="0"/>
              <a:t>是</a:t>
            </a:r>
            <a:r>
              <a:rPr lang="en-US" altLang="zh-CN" dirty="0"/>
              <a:t>e</a:t>
            </a:r>
            <a:r>
              <a:rPr lang="zh-CN" altLang="en-US" dirty="0"/>
              <a:t>的加密，</a:t>
            </a:r>
            <a:r>
              <a:rPr lang="en-US" altLang="zh-CN" dirty="0"/>
              <a:t>E</a:t>
            </a:r>
            <a:r>
              <a:rPr lang="zh-CN" altLang="en-US" dirty="0"/>
              <a:t>是</a:t>
            </a:r>
            <a:r>
              <a:rPr lang="en-US" altLang="zh-CN" dirty="0"/>
              <a:t>t</a:t>
            </a:r>
            <a:r>
              <a:rPr lang="zh-CN" altLang="en-US" dirty="0"/>
              <a:t>的加密。得            ，又是不可能的。继续假定</a:t>
            </a:r>
            <a:r>
              <a:rPr lang="en-US" altLang="zh-CN" dirty="0"/>
              <a:t>R</a:t>
            </a:r>
            <a:r>
              <a:rPr lang="zh-CN" altLang="en-US" dirty="0"/>
              <a:t>是</a:t>
            </a:r>
            <a:r>
              <a:rPr lang="en-US" altLang="zh-CN" dirty="0"/>
              <a:t>e</a:t>
            </a:r>
            <a:r>
              <a:rPr lang="zh-CN" altLang="en-US" dirty="0"/>
              <a:t>的加密且</a:t>
            </a:r>
            <a:r>
              <a:rPr lang="en-US" altLang="zh-CN" dirty="0"/>
              <a:t>K</a:t>
            </a:r>
            <a:r>
              <a:rPr lang="zh-CN" altLang="en-US" dirty="0"/>
              <a:t>是</a:t>
            </a:r>
            <a:r>
              <a:rPr lang="en-US" altLang="zh-CN" dirty="0"/>
              <a:t>t</a:t>
            </a:r>
            <a:r>
              <a:rPr lang="zh-CN" altLang="en-US" dirty="0"/>
              <a:t>的加密。这产生了                  ，至少是一个合法的密钥。剩下的事是计算相应于</a:t>
            </a:r>
            <a:r>
              <a:rPr lang="en-US" altLang="zh-CN" dirty="0"/>
              <a:t>k</a:t>
            </a:r>
            <a:r>
              <a:rPr lang="zh-CN" altLang="en-US" dirty="0"/>
              <a:t>＝（</a:t>
            </a:r>
            <a:r>
              <a:rPr lang="en-US" altLang="zh-CN" dirty="0"/>
              <a:t>3</a:t>
            </a:r>
            <a:r>
              <a:rPr lang="zh-CN" altLang="en-US" dirty="0"/>
              <a:t>，</a:t>
            </a:r>
            <a:r>
              <a:rPr lang="en-US" altLang="zh-CN" dirty="0"/>
              <a:t>5</a:t>
            </a:r>
            <a:r>
              <a:rPr lang="zh-CN" altLang="en-US" dirty="0"/>
              <a:t>）的解密函数，然后解密密文看是否得到了有意义的英文串。容易证明这是一个有效的密钥。</a:t>
            </a:r>
          </a:p>
          <a:p>
            <a:pPr marL="177800" lvl="1" indent="0">
              <a:lnSpc>
                <a:spcPct val="120000"/>
              </a:lnSpc>
              <a:buNone/>
            </a:pPr>
            <a:r>
              <a:rPr lang="zh-CN" altLang="en-US" dirty="0"/>
              <a:t>     最后的密文是：</a:t>
            </a:r>
          </a:p>
          <a:p>
            <a:pPr marL="177800" lvl="1" indent="0">
              <a:lnSpc>
                <a:spcPct val="120000"/>
              </a:lnSpc>
              <a:buNone/>
            </a:pPr>
            <a:r>
              <a:rPr lang="zh-CN" altLang="en-US" dirty="0"/>
              <a:t>     </a:t>
            </a:r>
            <a:r>
              <a:rPr lang="en-US" altLang="zh-CN" dirty="0"/>
              <a:t>algorithms are quite general definitions of arithmetic processes </a:t>
            </a:r>
          </a:p>
          <a:p>
            <a:pPr marL="177800" indent="0">
              <a:lnSpc>
                <a:spcPct val="150000"/>
              </a:lnSpc>
            </a:pP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65</a:t>
            </a:fld>
            <a:endParaRPr kumimoji="1" lang="zh-CN" altLang="en-US" dirty="0"/>
          </a:p>
        </p:txBody>
      </p:sp>
      <p:graphicFrame>
        <p:nvGraphicFramePr>
          <p:cNvPr id="11" name="Object 4"/>
          <p:cNvGraphicFramePr>
            <a:graphicFrameLocks noChangeAspect="1"/>
          </p:cNvGraphicFramePr>
          <p:nvPr>
            <p:extLst>
              <p:ext uri="{D42A27DB-BD31-4B8C-83A1-F6EECF244321}">
                <p14:modId xmlns:p14="http://schemas.microsoft.com/office/powerpoint/2010/main" val="2962280345"/>
              </p:ext>
            </p:extLst>
          </p:nvPr>
        </p:nvGraphicFramePr>
        <p:xfrm>
          <a:off x="4749142" y="1952762"/>
          <a:ext cx="2216944" cy="399603"/>
        </p:xfrm>
        <a:graphic>
          <a:graphicData uri="http://schemas.openxmlformats.org/presentationml/2006/ole">
            <mc:AlternateContent xmlns:mc="http://schemas.openxmlformats.org/markup-compatibility/2006">
              <mc:Choice xmlns:v="urn:schemas-microsoft-com:vml" Requires="v">
                <p:oleObj name="公式" r:id="rId2" imgW="1270000" imgH="228600" progId="Equation.3">
                  <p:embed/>
                </p:oleObj>
              </mc:Choice>
              <mc:Fallback>
                <p:oleObj name="公式" r:id="rId2" imgW="1270000" imgH="228600" progId="Equation.3">
                  <p:embed/>
                  <p:pic>
                    <p:nvPicPr>
                      <p:cNvPr id="563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142" y="1952762"/>
                        <a:ext cx="2216944" cy="399603"/>
                      </a:xfrm>
                      <a:prstGeom prst="rect">
                        <a:avLst/>
                      </a:prstGeom>
                      <a:noFill/>
                      <a:ln>
                        <a:noFill/>
                      </a:ln>
                    </p:spPr>
                  </p:pic>
                </p:oleObj>
              </mc:Fallback>
            </mc:AlternateContent>
          </a:graphicData>
        </a:graphic>
      </p:graphicFrame>
      <p:graphicFrame>
        <p:nvGraphicFramePr>
          <p:cNvPr id="12" name="Object 6"/>
          <p:cNvGraphicFramePr>
            <a:graphicFrameLocks noChangeAspect="1"/>
          </p:cNvGraphicFramePr>
          <p:nvPr>
            <p:extLst>
              <p:ext uri="{D42A27DB-BD31-4B8C-83A1-F6EECF244321}">
                <p14:modId xmlns:p14="http://schemas.microsoft.com/office/powerpoint/2010/main" val="4136064823"/>
              </p:ext>
            </p:extLst>
          </p:nvPr>
        </p:nvGraphicFramePr>
        <p:xfrm>
          <a:off x="1553690" y="2352365"/>
          <a:ext cx="2266110" cy="414586"/>
        </p:xfrm>
        <a:graphic>
          <a:graphicData uri="http://schemas.openxmlformats.org/presentationml/2006/ole">
            <mc:AlternateContent xmlns:mc="http://schemas.openxmlformats.org/markup-compatibility/2006">
              <mc:Choice xmlns:v="urn:schemas-microsoft-com:vml" Requires="v">
                <p:oleObj name="公式" r:id="rId4" imgW="1091726" imgH="203112" progId="Equation.3">
                  <p:embed/>
                </p:oleObj>
              </mc:Choice>
              <mc:Fallback>
                <p:oleObj name="公式" r:id="rId4" imgW="1091726" imgH="203112" progId="Equation.3">
                  <p:embed/>
                  <p:pic>
                    <p:nvPicPr>
                      <p:cNvPr id="5632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3690" y="2352365"/>
                        <a:ext cx="2266110" cy="414586"/>
                      </a:xfrm>
                      <a:prstGeom prst="rect">
                        <a:avLst/>
                      </a:prstGeom>
                      <a:noFill/>
                      <a:ln>
                        <a:noFill/>
                      </a:ln>
                    </p:spPr>
                  </p:pic>
                </p:oleObj>
              </mc:Fallback>
            </mc:AlternateContent>
          </a:graphicData>
        </a:graphic>
      </p:graphicFrame>
      <p:graphicFrame>
        <p:nvGraphicFramePr>
          <p:cNvPr id="13" name="Object 8"/>
          <p:cNvGraphicFramePr>
            <a:graphicFrameLocks noChangeAspect="1"/>
          </p:cNvGraphicFramePr>
          <p:nvPr>
            <p:extLst>
              <p:ext uri="{D42A27DB-BD31-4B8C-83A1-F6EECF244321}">
                <p14:modId xmlns:p14="http://schemas.microsoft.com/office/powerpoint/2010/main" val="3581468239"/>
              </p:ext>
            </p:extLst>
          </p:nvPr>
        </p:nvGraphicFramePr>
        <p:xfrm>
          <a:off x="9088437" y="2800441"/>
          <a:ext cx="864075" cy="443458"/>
        </p:xfrm>
        <a:graphic>
          <a:graphicData uri="http://schemas.openxmlformats.org/presentationml/2006/ole">
            <mc:AlternateContent xmlns:mc="http://schemas.openxmlformats.org/markup-compatibility/2006">
              <mc:Choice xmlns:v="urn:schemas-microsoft-com:vml" Requires="v">
                <p:oleObj name="公式" r:id="rId6" imgW="355138" imgH="177569" progId="Equation.3">
                  <p:embed/>
                </p:oleObj>
              </mc:Choice>
              <mc:Fallback>
                <p:oleObj name="公式" r:id="rId6" imgW="355138" imgH="177569" progId="Equation.3">
                  <p:embed/>
                  <p:pic>
                    <p:nvPicPr>
                      <p:cNvPr id="56327"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88437" y="2800441"/>
                        <a:ext cx="864075" cy="443458"/>
                      </a:xfrm>
                      <a:prstGeom prst="rect">
                        <a:avLst/>
                      </a:prstGeom>
                      <a:noFill/>
                      <a:ln>
                        <a:noFill/>
                      </a:ln>
                    </p:spPr>
                  </p:pic>
                </p:oleObj>
              </mc:Fallback>
            </mc:AlternateContent>
          </a:graphicData>
        </a:graphic>
      </p:graphicFrame>
      <p:graphicFrame>
        <p:nvGraphicFramePr>
          <p:cNvPr id="14" name="Object 10"/>
          <p:cNvGraphicFramePr>
            <a:graphicFrameLocks noChangeAspect="1"/>
          </p:cNvGraphicFramePr>
          <p:nvPr>
            <p:extLst>
              <p:ext uri="{D42A27DB-BD31-4B8C-83A1-F6EECF244321}">
                <p14:modId xmlns:p14="http://schemas.microsoft.com/office/powerpoint/2010/main" val="2684116415"/>
              </p:ext>
            </p:extLst>
          </p:nvPr>
        </p:nvGraphicFramePr>
        <p:xfrm>
          <a:off x="8842520" y="3327024"/>
          <a:ext cx="1631516" cy="456976"/>
        </p:xfrm>
        <a:graphic>
          <a:graphicData uri="http://schemas.openxmlformats.org/presentationml/2006/ole">
            <mc:AlternateContent xmlns:mc="http://schemas.openxmlformats.org/markup-compatibility/2006">
              <mc:Choice xmlns:v="urn:schemas-microsoft-com:vml" Requires="v">
                <p:oleObj name="公式" r:id="rId8" imgW="710891" imgH="203112" progId="Equation.3">
                  <p:embed/>
                </p:oleObj>
              </mc:Choice>
              <mc:Fallback>
                <p:oleObj name="公式" r:id="rId8" imgW="710891" imgH="203112" progId="Equation.3">
                  <p:embed/>
                  <p:pic>
                    <p:nvPicPr>
                      <p:cNvPr id="56329"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42520" y="3327024"/>
                        <a:ext cx="1631516" cy="45697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563362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838200" y="1510758"/>
            <a:ext cx="10300855" cy="4982116"/>
          </a:xfrm>
        </p:spPr>
        <p:txBody>
          <a:bodyPr>
            <a:normAutofit/>
          </a:bodyPr>
          <a:lstStyle/>
          <a:p>
            <a:pPr marL="342900" indent="-342900">
              <a:lnSpc>
                <a:spcPct val="150000"/>
              </a:lnSpc>
            </a:pPr>
            <a:r>
              <a:rPr lang="zh-CN" altLang="en-US" sz="2000" dirty="0"/>
              <a:t>要破译周期代替密码，必须先确定周期，可以使用两种工具：</a:t>
            </a:r>
            <a:r>
              <a:rPr lang="zh-CN" altLang="en-US" sz="2000" dirty="0">
                <a:solidFill>
                  <a:srgbClr val="FF0000"/>
                </a:solidFill>
              </a:rPr>
              <a:t>重合度</a:t>
            </a:r>
            <a:r>
              <a:rPr lang="zh-CN" altLang="en-US" sz="2000" dirty="0"/>
              <a:t>和</a:t>
            </a:r>
            <a:r>
              <a:rPr lang="en-US" altLang="zh-CN" sz="2000" dirty="0" err="1">
                <a:solidFill>
                  <a:srgbClr val="FF0000"/>
                </a:solidFill>
              </a:rPr>
              <a:t>Kasiski</a:t>
            </a:r>
            <a:r>
              <a:rPr lang="zh-CN" altLang="en-US" sz="2000" b="1" dirty="0">
                <a:solidFill>
                  <a:srgbClr val="FF0000"/>
                </a:solidFill>
              </a:rPr>
              <a:t>（</a:t>
            </a:r>
            <a:r>
              <a:rPr lang="zh-CN" altLang="en-US" sz="2000" dirty="0">
                <a:solidFill>
                  <a:srgbClr val="FF0000"/>
                </a:solidFill>
              </a:rPr>
              <a:t>卡西斯基</a:t>
            </a:r>
            <a:r>
              <a:rPr lang="zh-CN" altLang="en-US" sz="2000" b="1" dirty="0">
                <a:solidFill>
                  <a:srgbClr val="FF0000"/>
                </a:solidFill>
              </a:rPr>
              <a:t>）</a:t>
            </a:r>
            <a:r>
              <a:rPr lang="zh-CN" altLang="en-US" sz="2000" dirty="0"/>
              <a:t>方法</a:t>
            </a:r>
            <a:r>
              <a:rPr lang="zh-CN" altLang="en-US" sz="2000" b="1" dirty="0"/>
              <a:t>。</a:t>
            </a:r>
            <a:endParaRPr lang="en-US" altLang="zh-CN" sz="2000" dirty="0"/>
          </a:p>
          <a:p>
            <a:pPr marL="342900" indent="-342900">
              <a:lnSpc>
                <a:spcPct val="150000"/>
              </a:lnSpc>
            </a:pPr>
            <a:r>
              <a:rPr lang="zh-CN" altLang="en-US" sz="2000" dirty="0">
                <a:solidFill>
                  <a:srgbClr val="C00000"/>
                </a:solidFill>
              </a:rPr>
              <a:t>重合度</a:t>
            </a:r>
            <a:r>
              <a:rPr lang="zh-CN" altLang="en-US" sz="2000" dirty="0"/>
              <a:t>是用来度量密文中字母出现频率的变化程度的，用</a:t>
            </a:r>
            <a:r>
              <a:rPr lang="en-US" altLang="zh-CN" sz="2000" dirty="0"/>
              <a:t>IC</a:t>
            </a:r>
            <a:r>
              <a:rPr lang="zh-CN" altLang="en-US" sz="2000" dirty="0"/>
              <a:t>来表示。</a:t>
            </a:r>
          </a:p>
          <a:p>
            <a:pPr marL="342900" indent="-342900">
              <a:lnSpc>
                <a:spcPct val="150000"/>
              </a:lnSpc>
            </a:pPr>
            <a:r>
              <a:rPr lang="zh-CN" altLang="en-US" sz="2000" dirty="0"/>
              <a:t>单个字符的出现频率与均匀分布的偏差定义为</a:t>
            </a:r>
            <a:r>
              <a:rPr lang="zh-CN" altLang="en-US" sz="2000" dirty="0">
                <a:solidFill>
                  <a:srgbClr val="C00000"/>
                </a:solidFill>
              </a:rPr>
              <a:t>粗糙度</a:t>
            </a:r>
            <a:r>
              <a:rPr lang="zh-CN" altLang="en-US" sz="2000" dirty="0"/>
              <a:t>（</a:t>
            </a:r>
            <a:r>
              <a:rPr lang="en-US" altLang="zh-CN" sz="2000" dirty="0"/>
              <a:t>MR</a:t>
            </a:r>
            <a:r>
              <a:rPr lang="zh-CN" altLang="en-US" sz="2000" dirty="0"/>
              <a:t>）。</a:t>
            </a:r>
            <a:endParaRPr lang="en-US" altLang="zh-CN" sz="2000" dirty="0"/>
          </a:p>
          <a:p>
            <a:pPr marL="342900" indent="-342900">
              <a:lnSpc>
                <a:spcPct val="150000"/>
              </a:lnSpc>
            </a:pPr>
            <a:endParaRPr lang="en-US" altLang="zh-CN" sz="2000" dirty="0"/>
          </a:p>
          <a:p>
            <a:pPr marL="0" indent="0">
              <a:lnSpc>
                <a:spcPct val="150000"/>
              </a:lnSpc>
              <a:buNone/>
            </a:pPr>
            <a:endParaRPr lang="en-US" altLang="zh-CN" sz="2000" dirty="0"/>
          </a:p>
          <a:p>
            <a:pPr marL="342900" indent="-342900">
              <a:lnSpc>
                <a:spcPct val="150000"/>
              </a:lnSpc>
            </a:pPr>
            <a:r>
              <a:rPr lang="zh-CN" altLang="en-US" sz="2000" dirty="0"/>
              <a:t>给定长度为</a:t>
            </a:r>
            <a:r>
              <a:rPr lang="en-US" altLang="zh-CN" sz="2000" dirty="0"/>
              <a:t>N</a:t>
            </a:r>
            <a:r>
              <a:rPr lang="zh-CN" altLang="en-US" sz="2000" dirty="0"/>
              <a:t>的密文，令</a:t>
            </a:r>
            <a:r>
              <a:rPr lang="en-US" altLang="zh-CN" sz="2000" dirty="0"/>
              <a:t>F</a:t>
            </a:r>
            <a:r>
              <a:rPr lang="en-US" altLang="zh-CN" sz="2000" baseline="-25000" dirty="0"/>
              <a:t>i</a:t>
            </a:r>
            <a:r>
              <a:rPr lang="zh-CN" altLang="en-US" sz="2000" dirty="0"/>
              <a:t>为第</a:t>
            </a:r>
            <a:r>
              <a:rPr lang="en-US" altLang="zh-CN" sz="2000" dirty="0" err="1"/>
              <a:t>i</a:t>
            </a:r>
            <a:r>
              <a:rPr lang="zh-CN" altLang="en-US" sz="2000" dirty="0"/>
              <a:t>个字母的频率，则有</a:t>
            </a:r>
            <a:endParaRPr lang="en-US" altLang="zh-CN" sz="2000" dirty="0"/>
          </a:p>
          <a:p>
            <a:pPr marL="342900" indent="-342900">
              <a:lnSpc>
                <a:spcPct val="150000"/>
              </a:lnSpc>
            </a:pPr>
            <a:endParaRPr lang="en-US" altLang="zh-CN" sz="2000" dirty="0"/>
          </a:p>
          <a:p>
            <a:pPr marL="342900" indent="-342900">
              <a:lnSpc>
                <a:spcPct val="150000"/>
              </a:lnSpc>
            </a:pPr>
            <a:endParaRPr lang="en-US" altLang="zh-CN" sz="2000" dirty="0"/>
          </a:p>
          <a:p>
            <a:pPr marL="0" indent="0">
              <a:lnSpc>
                <a:spcPct val="150000"/>
              </a:lnSpc>
              <a:buNone/>
            </a:pPr>
            <a:endParaRPr lang="en-US" altLang="zh-CN" sz="2000" dirty="0"/>
          </a:p>
          <a:p>
            <a:pPr marL="342900" indent="-342900">
              <a:lnSpc>
                <a:spcPct val="150000"/>
              </a:lnSpc>
            </a:pPr>
            <a:endParaRPr lang="zh-CN" altLang="en-US" sz="2000" dirty="0"/>
          </a:p>
          <a:p>
            <a:pPr marL="457200" lvl="1" indent="0">
              <a:lnSpc>
                <a:spcPct val="150000"/>
              </a:lnSpc>
              <a:buNone/>
            </a:pPr>
            <a:endParaRPr kumimoji="1" lang="en-US" altLang="zh-CN" sz="1800" dirty="0">
              <a:latin typeface="Times New Roman" panose="02020603050405020304" pitchFamily="18" charset="0"/>
            </a:endParaRPr>
          </a:p>
          <a:p>
            <a:pPr>
              <a:lnSpc>
                <a:spcPct val="150000"/>
              </a:lnSpc>
            </a:pPr>
            <a:endParaRPr lang="en-US" altLang="zh-CN" sz="2000" dirty="0">
              <a:solidFill>
                <a:srgbClr val="C00000"/>
              </a:solidFill>
            </a:endParaRPr>
          </a:p>
          <a:p>
            <a:pPr>
              <a:lnSpc>
                <a:spcPct val="150000"/>
              </a:lnSpc>
            </a:pPr>
            <a:endParaRPr lang="zh-CN" altLang="en-US" sz="2000" dirty="0">
              <a:solidFill>
                <a:srgbClr val="C00000"/>
              </a:solidFill>
            </a:endParaRPr>
          </a:p>
          <a:p>
            <a:pPr>
              <a:lnSpc>
                <a:spcPct val="150000"/>
              </a:lnSpc>
            </a:pP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66</a:t>
            </a:fld>
            <a:endParaRPr kumimoji="1" lang="zh-CN" altLang="en-US" dirty="0"/>
          </a:p>
        </p:txBody>
      </p:sp>
      <p:graphicFrame>
        <p:nvGraphicFramePr>
          <p:cNvPr id="5" name="Object 5"/>
          <p:cNvGraphicFramePr>
            <a:graphicFrameLocks noChangeAspect="1"/>
          </p:cNvGraphicFramePr>
          <p:nvPr>
            <p:extLst>
              <p:ext uri="{D42A27DB-BD31-4B8C-83A1-F6EECF244321}">
                <p14:modId xmlns:p14="http://schemas.microsoft.com/office/powerpoint/2010/main" val="225108740"/>
              </p:ext>
            </p:extLst>
          </p:nvPr>
        </p:nvGraphicFramePr>
        <p:xfrm>
          <a:off x="3859051" y="3581838"/>
          <a:ext cx="5000625" cy="1008062"/>
        </p:xfrm>
        <a:graphic>
          <a:graphicData uri="http://schemas.openxmlformats.org/presentationml/2006/ole">
            <mc:AlternateContent xmlns:mc="http://schemas.openxmlformats.org/markup-compatibility/2006">
              <mc:Choice xmlns:v="urn:schemas-microsoft-com:vml" Requires="v">
                <p:oleObj name="Equation" r:id="rId2" imgW="2057400" imgH="457200" progId="Equation.DSMT4">
                  <p:embed/>
                </p:oleObj>
              </mc:Choice>
              <mc:Fallback>
                <p:oleObj name="Equation" r:id="rId2" imgW="2057400" imgH="457200" progId="Equation.DSMT4">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051" y="3581838"/>
                        <a:ext cx="5000625"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6"/>
          <p:cNvGraphicFramePr>
            <a:graphicFrameLocks noChangeAspect="1"/>
          </p:cNvGraphicFramePr>
          <p:nvPr>
            <p:extLst>
              <p:ext uri="{D42A27DB-BD31-4B8C-83A1-F6EECF244321}">
                <p14:modId xmlns:p14="http://schemas.microsoft.com/office/powerpoint/2010/main" val="245042894"/>
              </p:ext>
            </p:extLst>
          </p:nvPr>
        </p:nvGraphicFramePr>
        <p:xfrm>
          <a:off x="5587838" y="5227204"/>
          <a:ext cx="1543050" cy="952500"/>
        </p:xfrm>
        <a:graphic>
          <a:graphicData uri="http://schemas.openxmlformats.org/presentationml/2006/ole">
            <mc:AlternateContent xmlns:mc="http://schemas.openxmlformats.org/markup-compatibility/2006">
              <mc:Choice xmlns:v="urn:schemas-microsoft-com:vml" Requires="v">
                <p:oleObj name="Equation" r:id="rId4" imgW="634725" imgH="431613" progId="Equation.DSMT4">
                  <p:embed/>
                </p:oleObj>
              </mc:Choice>
              <mc:Fallback>
                <p:oleObj name="Equation" r:id="rId4" imgW="634725" imgH="431613" progId="Equation.DSMT4">
                  <p:embed/>
                  <p:pic>
                    <p:nvPicPr>
                      <p:cNvPr id="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7838" y="5227204"/>
                        <a:ext cx="1543050"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FC8AA88-03EB-5A7B-75F8-E8E94B43240E}"/>
                  </a:ext>
                </a:extLst>
              </p:cNvPr>
              <p:cNvSpPr txBox="1"/>
              <p:nvPr/>
            </p:nvSpPr>
            <p:spPr>
              <a:xfrm>
                <a:off x="9067150" y="3321638"/>
                <a:ext cx="318998"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i="1" smtClean="0">
                              <a:latin typeface="Cambria Math" panose="02040503050406030204" pitchFamily="18" charset="0"/>
                            </a:rPr>
                          </m:ctrlPr>
                        </m:fPr>
                        <m:num>
                          <m:r>
                            <a:rPr lang="zh-CN" altLang="en-US">
                              <a:latin typeface="Cambria Math" panose="02040503050406030204" pitchFamily="18" charset="0"/>
                            </a:rPr>
                            <m:t>1</m:t>
                          </m:r>
                        </m:num>
                        <m:den>
                          <m:r>
                            <a:rPr lang="zh-CN" altLang="en-US" i="0">
                              <a:latin typeface="Cambria Math" panose="02040503050406030204" pitchFamily="18" charset="0"/>
                            </a:rPr>
                            <m:t>26</m:t>
                          </m:r>
                        </m:den>
                      </m:f>
                    </m:oMath>
                  </m:oMathPara>
                </a14:m>
                <a:endParaRPr lang="zh-CN" altLang="en-US" dirty="0"/>
              </a:p>
            </p:txBody>
          </p:sp>
        </mc:Choice>
        <mc:Fallback xmlns="">
          <p:sp>
            <p:nvSpPr>
              <p:cNvPr id="7" name="文本框 6">
                <a:extLst>
                  <a:ext uri="{FF2B5EF4-FFF2-40B4-BE49-F238E27FC236}">
                    <a16:creationId xmlns:a16="http://schemas.microsoft.com/office/drawing/2014/main" id="{CFC8AA88-03EB-5A7B-75F8-E8E94B43240E}"/>
                  </a:ext>
                </a:extLst>
              </p:cNvPr>
              <p:cNvSpPr txBox="1">
                <a:spLocks noRot="1" noChangeAspect="1" noMove="1" noResize="1" noEditPoints="1" noAdjustHandles="1" noChangeArrowheads="1" noChangeShapeType="1" noTextEdit="1"/>
              </p:cNvSpPr>
              <p:nvPr/>
            </p:nvSpPr>
            <p:spPr>
              <a:xfrm>
                <a:off x="9067150" y="3321638"/>
                <a:ext cx="318998" cy="520399"/>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128913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838200" y="1510758"/>
            <a:ext cx="10467109" cy="4982116"/>
          </a:xfrm>
        </p:spPr>
        <p:txBody>
          <a:bodyPr>
            <a:normAutofit fontScale="92500" lnSpcReduction="20000"/>
          </a:bodyPr>
          <a:lstStyle/>
          <a:p>
            <a:pPr marL="342900" indent="-342900">
              <a:lnSpc>
                <a:spcPct val="150000"/>
              </a:lnSpc>
            </a:pPr>
            <a:r>
              <a:rPr lang="en-US" altLang="zh-CN" dirty="0"/>
              <a:t>IC</a:t>
            </a:r>
            <a:r>
              <a:rPr lang="zh-CN" altLang="en-US" dirty="0"/>
              <a:t>：从给定的密文中随机选取两个字母相同的概率</a:t>
            </a:r>
          </a:p>
          <a:p>
            <a:pPr marL="342900" indent="-342900">
              <a:lnSpc>
                <a:spcPct val="150000"/>
              </a:lnSpc>
            </a:pPr>
            <a:endParaRPr lang="zh-CN" altLang="en-US" dirty="0"/>
          </a:p>
          <a:p>
            <a:pPr marL="342900" indent="-342900">
              <a:lnSpc>
                <a:spcPct val="150000"/>
              </a:lnSpc>
            </a:pPr>
            <a:endParaRPr lang="zh-CN" altLang="en-US" dirty="0"/>
          </a:p>
          <a:p>
            <a:pPr marL="342900" indent="-342900">
              <a:lnSpc>
                <a:spcPct val="150000"/>
              </a:lnSpc>
            </a:pPr>
            <a:r>
              <a:rPr lang="zh-CN" altLang="en-US" dirty="0"/>
              <a:t>这是对          的一个估计，因而</a:t>
            </a:r>
            <a:r>
              <a:rPr lang="en-US" altLang="zh-CN" dirty="0"/>
              <a:t>IC</a:t>
            </a:r>
            <a:r>
              <a:rPr lang="zh-CN" altLang="en-US" dirty="0"/>
              <a:t>为</a:t>
            </a:r>
            <a:r>
              <a:rPr lang="en-US" altLang="zh-CN" dirty="0"/>
              <a:t>MR+0.038</a:t>
            </a:r>
            <a:r>
              <a:rPr lang="zh-CN" altLang="en-US" dirty="0"/>
              <a:t>的估计值</a:t>
            </a:r>
            <a:endParaRPr lang="en-US" altLang="zh-CN" dirty="0"/>
          </a:p>
          <a:p>
            <a:pPr marL="342900" indent="-342900">
              <a:lnSpc>
                <a:spcPct val="150000"/>
              </a:lnSpc>
            </a:pPr>
            <a:r>
              <a:rPr lang="zh-CN" altLang="en-US" dirty="0"/>
              <a:t>对于均匀分布（周期无限大），</a:t>
            </a:r>
            <a:r>
              <a:rPr lang="en-US" altLang="zh-CN" dirty="0"/>
              <a:t>MR=0</a:t>
            </a:r>
            <a:r>
              <a:rPr lang="zh-CN" altLang="en-US" dirty="0"/>
              <a:t>；而对于周期为</a:t>
            </a:r>
            <a:r>
              <a:rPr lang="en-US" altLang="zh-CN" dirty="0"/>
              <a:t>1</a:t>
            </a:r>
            <a:r>
              <a:rPr lang="zh-CN" altLang="en-US" dirty="0"/>
              <a:t>的英文密文，</a:t>
            </a:r>
            <a:r>
              <a:rPr lang="en-US" altLang="zh-CN" dirty="0"/>
              <a:t>MR</a:t>
            </a:r>
            <a:r>
              <a:rPr lang="zh-CN" altLang="en-US" dirty="0"/>
              <a:t>＝</a:t>
            </a:r>
            <a:r>
              <a:rPr lang="en-US" altLang="zh-CN" dirty="0"/>
              <a:t>0.028</a:t>
            </a:r>
            <a:r>
              <a:rPr lang="zh-CN" altLang="en-US" dirty="0"/>
              <a:t>；对于周期为</a:t>
            </a:r>
            <a:r>
              <a:rPr lang="en-US" altLang="zh-CN" dirty="0"/>
              <a:t>d</a:t>
            </a:r>
            <a:r>
              <a:rPr lang="zh-CN" altLang="en-US" dirty="0"/>
              <a:t>的密码，</a:t>
            </a:r>
            <a:r>
              <a:rPr lang="en-US" altLang="zh-CN" dirty="0"/>
              <a:t>IC</a:t>
            </a:r>
            <a:r>
              <a:rPr lang="zh-CN" altLang="en-US" dirty="0"/>
              <a:t>的期望值为：</a:t>
            </a:r>
          </a:p>
          <a:p>
            <a:pPr marL="342900" indent="-342900">
              <a:lnSpc>
                <a:spcPct val="150000"/>
              </a:lnSpc>
            </a:pPr>
            <a:endParaRPr lang="en-US" altLang="zh-CN" dirty="0"/>
          </a:p>
          <a:p>
            <a:pPr marL="342900" indent="-342900">
              <a:lnSpc>
                <a:spcPct val="150000"/>
              </a:lnSpc>
            </a:pPr>
            <a:r>
              <a:rPr lang="zh-CN" altLang="en-US" dirty="0"/>
              <a:t>其中：</a:t>
            </a:r>
            <a:r>
              <a:rPr lang="en-US" altLang="zh-CN" dirty="0"/>
              <a:t>N</a:t>
            </a:r>
            <a:r>
              <a:rPr lang="zh-CN" altLang="en-US" dirty="0"/>
              <a:t>为密文的长度。</a:t>
            </a:r>
          </a:p>
          <a:p>
            <a:pPr marL="457200" lvl="1" indent="0">
              <a:lnSpc>
                <a:spcPct val="150000"/>
              </a:lnSpc>
              <a:buNone/>
            </a:pPr>
            <a:endParaRPr kumimoji="1" lang="en-US" altLang="zh-CN" dirty="0">
              <a:latin typeface="Times New Roman" panose="02020603050405020304" pitchFamily="18" charset="0"/>
            </a:endParaRP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67</a:t>
            </a:fld>
            <a:endParaRPr kumimoji="1" lang="zh-CN" altLang="en-US" dirty="0"/>
          </a:p>
        </p:txBody>
      </p:sp>
      <p:graphicFrame>
        <p:nvGraphicFramePr>
          <p:cNvPr id="7" name="Object 5"/>
          <p:cNvGraphicFramePr>
            <a:graphicFrameLocks noChangeAspect="1"/>
          </p:cNvGraphicFramePr>
          <p:nvPr/>
        </p:nvGraphicFramePr>
        <p:xfrm>
          <a:off x="4360863" y="2087563"/>
          <a:ext cx="2312987" cy="1112837"/>
        </p:xfrm>
        <a:graphic>
          <a:graphicData uri="http://schemas.openxmlformats.org/presentationml/2006/ole">
            <mc:AlternateContent xmlns:mc="http://schemas.openxmlformats.org/markup-compatibility/2006">
              <mc:Choice xmlns:v="urn:schemas-microsoft-com:vml" Requires="v">
                <p:oleObj name="Equation" r:id="rId2" imgW="1320227" imgH="634725" progId="Equation.3">
                  <p:embed/>
                </p:oleObj>
              </mc:Choice>
              <mc:Fallback>
                <p:oleObj name="Equation" r:id="rId2" imgW="1320227" imgH="634725" progId="Equation.3">
                  <p:embed/>
                  <p:pic>
                    <p:nvPicPr>
                      <p:cNvPr id="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0863" y="2087563"/>
                        <a:ext cx="2312987" cy="111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6"/>
          <p:cNvGraphicFramePr>
            <a:graphicFrameLocks noChangeAspect="1"/>
          </p:cNvGraphicFramePr>
          <p:nvPr/>
        </p:nvGraphicFramePr>
        <p:xfrm>
          <a:off x="2351366" y="3049316"/>
          <a:ext cx="957262" cy="952500"/>
        </p:xfrm>
        <a:graphic>
          <a:graphicData uri="http://schemas.openxmlformats.org/presentationml/2006/ole">
            <mc:AlternateContent xmlns:mc="http://schemas.openxmlformats.org/markup-compatibility/2006">
              <mc:Choice xmlns:v="urn:schemas-microsoft-com:vml" Requires="v">
                <p:oleObj name="Equation" r:id="rId4" imgW="393529" imgH="431613" progId="Equation.DSMT4">
                  <p:embed/>
                </p:oleObj>
              </mc:Choice>
              <mc:Fallback>
                <p:oleObj name="Equation" r:id="rId4" imgW="393529" imgH="431613" progId="Equation.DSMT4">
                  <p:embed/>
                  <p:pic>
                    <p:nvPicPr>
                      <p:cNvPr id="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1366" y="3049316"/>
                        <a:ext cx="957262"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C75D465-6EE5-F1D1-0CBA-86DA8BD4C1C3}"/>
                  </a:ext>
                </a:extLst>
              </p:cNvPr>
              <p:cNvSpPr txBox="1"/>
              <p:nvPr/>
            </p:nvSpPr>
            <p:spPr>
              <a:xfrm>
                <a:off x="3045069" y="5038119"/>
                <a:ext cx="7810499" cy="7935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𝐸</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𝐼𝐶</m:t>
                          </m:r>
                        </m:e>
                      </m:d>
                      <m:r>
                        <a:rPr lang="zh-CN" altLang="en-US" sz="2400" i="1">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1</m:t>
                          </m:r>
                        </m:num>
                        <m:den>
                          <m:r>
                            <a:rPr lang="zh-CN" altLang="en-US" sz="2400" i="1">
                              <a:latin typeface="Cambria Math" panose="02040503050406030204" pitchFamily="18" charset="0"/>
                            </a:rPr>
                            <m:t>𝑑</m:t>
                          </m:r>
                        </m:den>
                      </m:f>
                      <m:r>
                        <a:rPr lang="zh-CN" altLang="en-US" sz="2400" i="1">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𝑁</m:t>
                          </m:r>
                          <m:r>
                            <a:rPr lang="zh-CN" altLang="en-US" sz="2400" i="1">
                              <a:latin typeface="Cambria Math" panose="02040503050406030204" pitchFamily="18" charset="0"/>
                            </a:rPr>
                            <m:t>−</m:t>
                          </m:r>
                          <m:r>
                            <a:rPr lang="zh-CN" altLang="en-US" sz="2400" i="1">
                              <a:latin typeface="Cambria Math" panose="02040503050406030204" pitchFamily="18" charset="0"/>
                            </a:rPr>
                            <m:t>𝑑</m:t>
                          </m:r>
                        </m:num>
                        <m:den>
                          <m:r>
                            <a:rPr lang="zh-CN" altLang="en-US" sz="2400" i="1">
                              <a:latin typeface="Cambria Math" panose="02040503050406030204" pitchFamily="18" charset="0"/>
                            </a:rPr>
                            <m:t>𝑁</m:t>
                          </m:r>
                          <m:r>
                            <a:rPr lang="zh-CN" altLang="en-US" sz="2400" i="1">
                              <a:latin typeface="Cambria Math" panose="02040503050406030204" pitchFamily="18" charset="0"/>
                            </a:rPr>
                            <m:t>−1</m:t>
                          </m:r>
                        </m:den>
                      </m:f>
                      <m:r>
                        <a:rPr lang="zh-CN" altLang="en-US" sz="2400" i="1">
                          <a:latin typeface="Cambria Math" panose="02040503050406030204" pitchFamily="18" charset="0"/>
                        </a:rPr>
                        <m:t>⋅0.066+</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𝑑</m:t>
                          </m:r>
                          <m:r>
                            <a:rPr lang="zh-CN" altLang="en-US" sz="2400" i="1">
                              <a:latin typeface="Cambria Math" panose="02040503050406030204" pitchFamily="18" charset="0"/>
                            </a:rPr>
                            <m:t>−1</m:t>
                          </m:r>
                        </m:num>
                        <m:den>
                          <m:r>
                            <a:rPr lang="zh-CN" altLang="en-US" sz="2400" i="1">
                              <a:latin typeface="Cambria Math" panose="02040503050406030204" pitchFamily="18" charset="0"/>
                            </a:rPr>
                            <m:t>𝑑</m:t>
                          </m:r>
                        </m:den>
                      </m:f>
                      <m:r>
                        <a:rPr lang="zh-CN" altLang="en-US" sz="2400" i="1">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𝑁</m:t>
                          </m:r>
                        </m:num>
                        <m:den>
                          <m:r>
                            <a:rPr lang="zh-CN" altLang="en-US" sz="2400" i="1">
                              <a:latin typeface="Cambria Math" panose="02040503050406030204" pitchFamily="18" charset="0"/>
                            </a:rPr>
                            <m:t>𝑁</m:t>
                          </m:r>
                          <m:r>
                            <a:rPr lang="zh-CN" altLang="en-US" sz="2400" i="1">
                              <a:latin typeface="Cambria Math" panose="02040503050406030204" pitchFamily="18" charset="0"/>
                            </a:rPr>
                            <m:t>−1</m:t>
                          </m:r>
                        </m:den>
                      </m:f>
                      <m:r>
                        <a:rPr lang="zh-CN" altLang="en-US" sz="2400" i="1">
                          <a:latin typeface="Cambria Math" panose="02040503050406030204" pitchFamily="18" charset="0"/>
                        </a:rPr>
                        <m:t>⋅0.038</m:t>
                      </m:r>
                    </m:oMath>
                  </m:oMathPara>
                </a14:m>
                <a:endParaRPr lang="zh-CN" altLang="en-US" sz="2400" dirty="0"/>
              </a:p>
            </p:txBody>
          </p:sp>
        </mc:Choice>
        <mc:Fallback xmlns="">
          <p:sp>
            <p:nvSpPr>
              <p:cNvPr id="6" name="文本框 5">
                <a:extLst>
                  <a:ext uri="{FF2B5EF4-FFF2-40B4-BE49-F238E27FC236}">
                    <a16:creationId xmlns:a16="http://schemas.microsoft.com/office/drawing/2014/main" id="{9C75D465-6EE5-F1D1-0CBA-86DA8BD4C1C3}"/>
                  </a:ext>
                </a:extLst>
              </p:cNvPr>
              <p:cNvSpPr txBox="1">
                <a:spLocks noRot="1" noChangeAspect="1" noMove="1" noResize="1" noEditPoints="1" noAdjustHandles="1" noChangeArrowheads="1" noChangeShapeType="1" noTextEdit="1"/>
              </p:cNvSpPr>
              <p:nvPr/>
            </p:nvSpPr>
            <p:spPr>
              <a:xfrm>
                <a:off x="3045069" y="5038119"/>
                <a:ext cx="7810499" cy="793551"/>
              </a:xfrm>
              <a:prstGeom prst="rect">
                <a:avLst/>
              </a:prstGeom>
              <a:blipFill>
                <a:blip r:embed="rId6"/>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5B9D1D2C-0B71-B0B0-F7BA-29EA89475508}"/>
              </a:ext>
            </a:extLst>
          </p:cNvPr>
          <p:cNvSpPr txBox="1"/>
          <p:nvPr/>
        </p:nvSpPr>
        <p:spPr>
          <a:xfrm>
            <a:off x="5263661" y="5911334"/>
            <a:ext cx="1230923" cy="369332"/>
          </a:xfrm>
          <a:prstGeom prst="rect">
            <a:avLst/>
          </a:prstGeom>
          <a:noFill/>
        </p:spPr>
        <p:txBody>
          <a:bodyPr wrap="square" rtlCol="0">
            <a:spAutoFit/>
          </a:bodyPr>
          <a:lstStyle/>
          <a:p>
            <a:r>
              <a:rPr lang="zh-CN" altLang="en-US" dirty="0"/>
              <a:t>约等于</a:t>
            </a:r>
            <a:r>
              <a:rPr lang="en-US" altLang="zh-CN" dirty="0"/>
              <a:t>1</a:t>
            </a:r>
            <a:endParaRPr lang="zh-CN" altLang="en-US" dirty="0"/>
          </a:p>
        </p:txBody>
      </p:sp>
      <p:sp>
        <p:nvSpPr>
          <p:cNvPr id="10" name="文本框 9">
            <a:extLst>
              <a:ext uri="{FF2B5EF4-FFF2-40B4-BE49-F238E27FC236}">
                <a16:creationId xmlns:a16="http://schemas.microsoft.com/office/drawing/2014/main" id="{D217BA4A-3959-D461-4A3A-2FF526E9E2C6}"/>
              </a:ext>
            </a:extLst>
          </p:cNvPr>
          <p:cNvSpPr txBox="1"/>
          <p:nvPr/>
        </p:nvSpPr>
        <p:spPr>
          <a:xfrm>
            <a:off x="8297397" y="5908431"/>
            <a:ext cx="1230923" cy="369332"/>
          </a:xfrm>
          <a:prstGeom prst="rect">
            <a:avLst/>
          </a:prstGeom>
          <a:noFill/>
        </p:spPr>
        <p:txBody>
          <a:bodyPr wrap="square" rtlCol="0">
            <a:spAutoFit/>
          </a:bodyPr>
          <a:lstStyle/>
          <a:p>
            <a:r>
              <a:rPr lang="zh-CN" altLang="en-US" dirty="0"/>
              <a:t>约等于</a:t>
            </a:r>
            <a:r>
              <a:rPr lang="en-US" altLang="zh-CN" dirty="0"/>
              <a:t>1</a:t>
            </a:r>
            <a:endParaRPr lang="zh-CN" altLang="en-US" dirty="0"/>
          </a:p>
        </p:txBody>
      </p:sp>
    </p:spTree>
    <p:extLst>
      <p:ext uri="{BB962C8B-B14F-4D97-AF65-F5344CB8AC3E}">
        <p14:creationId xmlns:p14="http://schemas.microsoft.com/office/powerpoint/2010/main" val="32299108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838200" y="1510758"/>
            <a:ext cx="10467109" cy="4982116"/>
          </a:xfrm>
        </p:spPr>
        <p:txBody>
          <a:bodyPr>
            <a:normAutofit/>
          </a:bodyPr>
          <a:lstStyle/>
          <a:p>
            <a:pPr marL="342900" indent="-342900">
              <a:lnSpc>
                <a:spcPct val="150000"/>
              </a:lnSpc>
            </a:pPr>
            <a:r>
              <a:rPr lang="zh-CN" altLang="en-US" sz="2600" dirty="0"/>
              <a:t>重合度的期望值</a:t>
            </a:r>
            <a:endParaRPr lang="en-US" altLang="zh-CN" sz="2600" dirty="0"/>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68</a:t>
            </a:fld>
            <a:endParaRPr kumimoji="1" lang="zh-CN" altLang="en-US" dirty="0"/>
          </a:p>
        </p:txBody>
      </p:sp>
      <p:graphicFrame>
        <p:nvGraphicFramePr>
          <p:cNvPr id="9" name="Object 2"/>
          <p:cNvGraphicFramePr>
            <a:graphicFrameLocks noChangeAspect="1"/>
          </p:cNvGraphicFramePr>
          <p:nvPr/>
        </p:nvGraphicFramePr>
        <p:xfrm>
          <a:off x="3944670" y="1745199"/>
          <a:ext cx="5791200" cy="4295775"/>
        </p:xfrm>
        <a:graphic>
          <a:graphicData uri="http://schemas.openxmlformats.org/presentationml/2006/ole">
            <mc:AlternateContent xmlns:mc="http://schemas.openxmlformats.org/markup-compatibility/2006">
              <mc:Choice xmlns:v="urn:schemas-microsoft-com:vml" Requires="v">
                <p:oleObj r:id="rId2" imgW="1987550" imgH="1473200" progId="MSDraw.Drawing.8.2">
                  <p:embed/>
                </p:oleObj>
              </mc:Choice>
              <mc:Fallback>
                <p:oleObj r:id="rId2" imgW="1987550" imgH="1473200" progId="MSDraw.Drawing.8.2">
                  <p:embed/>
                  <p:pic>
                    <p:nvPicPr>
                      <p:cNvPr id="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4670" y="1745199"/>
                        <a:ext cx="5791200"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830989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813B7-7564-9719-5B39-6248E8AF3DD1}"/>
              </a:ext>
            </a:extLst>
          </p:cNvPr>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9F75239-B032-C147-3AAB-DE792FA796D5}"/>
                  </a:ext>
                </a:extLst>
              </p:cNvPr>
              <p:cNvSpPr>
                <a:spLocks noGrp="1"/>
              </p:cNvSpPr>
              <p:nvPr>
                <p:ph idx="1"/>
              </p:nvPr>
            </p:nvSpPr>
            <p:spPr/>
            <p:txBody>
              <a:bodyPr/>
              <a:lstStyle/>
              <a:p>
                <a:r>
                  <a:rPr lang="zh-CN" altLang="en-US" dirty="0"/>
                  <a:t>密码分析员拦截到了一篇长度为 </a:t>
                </a:r>
                <a:r>
                  <a:rPr lang="en-US" altLang="zh-CN" dirty="0"/>
                  <a:t>N = 1000</a:t>
                </a:r>
                <a:r>
                  <a:rPr lang="zh-CN" altLang="en-US" dirty="0"/>
                  <a:t> 的长密文，经过统计，密文中各个字母出现的实际频率（次数组合）计算出的</a:t>
                </a:r>
                <a:r>
                  <a:rPr lang="zh-CN" altLang="en-US" b="1" dirty="0"/>
                  <a:t>实际重合度 </a:t>
                </a:r>
                <a:r>
                  <a:rPr lang="en-US" altLang="zh-CN" b="1" dirty="0"/>
                  <a:t>IC = 0.045</a:t>
                </a:r>
                <a:r>
                  <a:rPr lang="zh-CN" altLang="en-US" dirty="0"/>
                  <a:t>。请通过重合度指数法，求出该密码的加密周期 </a:t>
                </a:r>
                <a:r>
                  <a:rPr lang="en-US" altLang="zh-CN" dirty="0"/>
                  <a:t>d</a:t>
                </a:r>
                <a:r>
                  <a:rPr lang="zh-CN" altLang="en-US" dirty="0"/>
                  <a:t> 是多少？</a:t>
                </a:r>
                <a:endParaRPr lang="en-US" altLang="zh-CN" dirty="0"/>
              </a:p>
              <a:p>
                <a14:m>
                  <m:oMath xmlns:m="http://schemas.openxmlformats.org/officeDocument/2006/math">
                    <m:r>
                      <a:rPr lang="zh-CN" altLang="en-US" i="1">
                        <a:latin typeface="Cambria Math" panose="02040503050406030204" pitchFamily="18" charset="0"/>
                      </a:rPr>
                      <m:t>𝐸</m:t>
                    </m:r>
                    <m:d>
                      <m:dPr>
                        <m:ctrlPr>
                          <a:rPr lang="zh-CN" altLang="en-US" i="1">
                            <a:latin typeface="Cambria Math" panose="02040503050406030204" pitchFamily="18" charset="0"/>
                          </a:rPr>
                        </m:ctrlPr>
                      </m:dPr>
                      <m:e>
                        <m:r>
                          <a:rPr lang="zh-CN" altLang="en-US" i="1">
                            <a:latin typeface="Cambria Math" panose="02040503050406030204" pitchFamily="18" charset="0"/>
                          </a:rPr>
                          <m:t>𝐼𝐶</m:t>
                        </m:r>
                      </m:e>
                    </m:d>
                    <m:r>
                      <a:rPr lang="zh-CN" altLang="en-US" i="1">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1</m:t>
                        </m:r>
                      </m:num>
                      <m:den>
                        <m:r>
                          <a:rPr lang="zh-CN" altLang="en-US" i="1">
                            <a:latin typeface="Cambria Math" panose="02040503050406030204" pitchFamily="18" charset="0"/>
                          </a:rPr>
                          <m:t>𝑑</m:t>
                        </m:r>
                      </m:den>
                    </m:f>
                    <m:r>
                      <a:rPr lang="zh-CN" altLang="en-US" i="1">
                        <a:latin typeface="Cambria Math" panose="02040503050406030204" pitchFamily="18" charset="0"/>
                      </a:rPr>
                      <m:t>⋅0.066+</m:t>
                    </m:r>
                    <m:f>
                      <m:fPr>
                        <m:ctrlPr>
                          <a:rPr lang="zh-CN" altLang="en-US" i="1">
                            <a:latin typeface="Cambria Math" panose="02040503050406030204" pitchFamily="18" charset="0"/>
                          </a:rPr>
                        </m:ctrlPr>
                      </m:fPr>
                      <m:num>
                        <m:r>
                          <a:rPr lang="zh-CN" altLang="en-US" i="1">
                            <a:latin typeface="Cambria Math" panose="02040503050406030204" pitchFamily="18" charset="0"/>
                          </a:rPr>
                          <m:t>𝑑</m:t>
                        </m:r>
                        <m:r>
                          <a:rPr lang="zh-CN" altLang="en-US" i="1">
                            <a:latin typeface="Cambria Math" panose="02040503050406030204" pitchFamily="18" charset="0"/>
                          </a:rPr>
                          <m:t>−1</m:t>
                        </m:r>
                      </m:num>
                      <m:den>
                        <m:r>
                          <a:rPr lang="zh-CN" altLang="en-US" i="1">
                            <a:latin typeface="Cambria Math" panose="02040503050406030204" pitchFamily="18" charset="0"/>
                          </a:rPr>
                          <m:t>𝑑</m:t>
                        </m:r>
                      </m:den>
                    </m:f>
                    <m:r>
                      <a:rPr lang="zh-CN" altLang="en-US" i="1">
                        <a:latin typeface="Cambria Math" panose="02040503050406030204" pitchFamily="18" charset="0"/>
                      </a:rPr>
                      <m:t>⋅0.038</m:t>
                    </m:r>
                  </m:oMath>
                </a14:m>
                <a:endParaRPr lang="en-US" altLang="zh-CN" dirty="0"/>
              </a:p>
              <a:p>
                <a:r>
                  <a:rPr lang="zh-CN" altLang="en-US" dirty="0"/>
                  <a:t>解得：</a:t>
                </a:r>
                <a:r>
                  <a:rPr lang="en-US" altLang="zh-CN" dirty="0"/>
                  <a:t>d = 4</a:t>
                </a:r>
              </a:p>
              <a:p>
                <a:endParaRPr lang="zh-CN" altLang="en-US" dirty="0"/>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C9F75239-B032-C147-3AAB-DE792FA796D5}"/>
                  </a:ext>
                </a:extLst>
              </p:cNvPr>
              <p:cNvSpPr>
                <a:spLocks noGrp="1" noRot="1" noChangeAspect="1" noMove="1" noResize="1" noEditPoints="1" noAdjustHandles="1" noChangeArrowheads="1" noChangeShapeType="1" noTextEdit="1"/>
              </p:cNvSpPr>
              <p:nvPr>
                <p:ph idx="1"/>
              </p:nvPr>
            </p:nvSpPr>
            <p:spPr>
              <a:blipFill>
                <a:blip r:embed="rId2"/>
                <a:stretch>
                  <a:fillRect l="-1043" t="-1463" r="-3884"/>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05A24B5C-CA7E-8558-C137-45EB82B1105C}"/>
              </a:ext>
            </a:extLst>
          </p:cNvPr>
          <p:cNvSpPr>
            <a:spLocks noGrp="1"/>
          </p:cNvSpPr>
          <p:nvPr>
            <p:ph type="sldNum" sz="quarter" idx="12"/>
          </p:nvPr>
        </p:nvSpPr>
        <p:spPr/>
        <p:txBody>
          <a:bodyPr/>
          <a:lstStyle/>
          <a:p>
            <a:fld id="{8D4D1E41-7A09-AB4A-A4E1-09765ADA2698}" type="slidenum">
              <a:rPr kumimoji="1" lang="zh-CN" altLang="en-US" smtClean="0"/>
              <a:pPr/>
              <a:t>69</a:t>
            </a:fld>
            <a:endParaRPr kumimoji="1"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09CCE65-E737-F604-824B-2697D9F97BB7}"/>
                  </a:ext>
                </a:extLst>
              </p:cNvPr>
              <p:cNvSpPr txBox="1"/>
              <p:nvPr/>
            </p:nvSpPr>
            <p:spPr>
              <a:xfrm>
                <a:off x="6591301" y="5027380"/>
                <a:ext cx="3467100" cy="8613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𝐶</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𝐼</m:t>
                          </m:r>
                        </m:e>
                        <m:sup>
                          <m:r>
                            <a:rPr lang="zh-CN" altLang="en-US" sz="2400" i="1">
                              <a:latin typeface="Cambria Math" panose="02040503050406030204" pitchFamily="18" charset="0"/>
                            </a:rPr>
                            <m:t>′</m:t>
                          </m:r>
                        </m:sup>
                      </m:sSup>
                      <m:r>
                        <a:rPr lang="zh-CN" altLang="en-US" sz="2400" i="1">
                          <a:latin typeface="Cambria Math" panose="02040503050406030204" pitchFamily="18" charset="0"/>
                        </a:rPr>
                        <m:t>=</m:t>
                      </m:r>
                      <m:f>
                        <m:fPr>
                          <m:ctrlPr>
                            <a:rPr lang="zh-CN" altLang="en-US" sz="2400" i="1">
                              <a:latin typeface="Cambria Math" panose="02040503050406030204" pitchFamily="18" charset="0"/>
                            </a:rPr>
                          </m:ctrlPr>
                        </m:fPr>
                        <m:num>
                          <m:nary>
                            <m:naryPr>
                              <m:chr m:val="∑"/>
                              <m:subHide m:val="on"/>
                              <m:supHide m:val="on"/>
                              <m:ctrlPr>
                                <a:rPr lang="zh-CN" altLang="en-US" sz="2400" i="1">
                                  <a:latin typeface="Cambria Math" panose="02040503050406030204" pitchFamily="18" charset="0"/>
                                </a:rPr>
                              </m:ctrlPr>
                            </m:naryPr>
                            <m:sub/>
                            <m:sup/>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1">
                                      <a:latin typeface="Cambria Math" panose="02040503050406030204" pitchFamily="18" charset="0"/>
                                    </a:rPr>
                                    <m:t>𝑖</m:t>
                                  </m:r>
                                </m:sub>
                              </m:sSub>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1">
                                          <a:latin typeface="Cambria Math" panose="02040503050406030204" pitchFamily="18" charset="0"/>
                                        </a:rPr>
                                        <m:t>𝑖</m:t>
                                      </m:r>
                                    </m:sub>
                                  </m:sSub>
                                  <m:r>
                                    <a:rPr lang="zh-CN" altLang="en-US" sz="2400" i="1">
                                      <a:latin typeface="Cambria Math" panose="02040503050406030204" pitchFamily="18" charset="0"/>
                                    </a:rPr>
                                    <m:t>−1</m:t>
                                  </m:r>
                                </m:e>
                              </m:d>
                            </m:e>
                          </m:nary>
                        </m:num>
                        <m:den>
                          <m:r>
                            <a:rPr lang="zh-CN" altLang="en-US" sz="2400" i="1">
                              <a:latin typeface="Cambria Math" panose="02040503050406030204" pitchFamily="18" charset="0"/>
                            </a:rPr>
                            <m:t>𝐿</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𝐿</m:t>
                              </m:r>
                              <m:r>
                                <a:rPr lang="zh-CN" altLang="en-US" sz="2400" i="1">
                                  <a:latin typeface="Cambria Math" panose="02040503050406030204" pitchFamily="18" charset="0"/>
                                </a:rPr>
                                <m:t>−1</m:t>
                              </m:r>
                            </m:e>
                          </m:d>
                        </m:den>
                      </m:f>
                    </m:oMath>
                  </m:oMathPara>
                </a14:m>
                <a:endParaRPr lang="zh-CN" altLang="en-US" sz="2400" dirty="0"/>
              </a:p>
            </p:txBody>
          </p:sp>
        </mc:Choice>
        <mc:Fallback xmlns="">
          <p:sp>
            <p:nvSpPr>
              <p:cNvPr id="7" name="文本框 6">
                <a:extLst>
                  <a:ext uri="{FF2B5EF4-FFF2-40B4-BE49-F238E27FC236}">
                    <a16:creationId xmlns:a16="http://schemas.microsoft.com/office/drawing/2014/main" id="{E09CCE65-E737-F604-824B-2697D9F97BB7}"/>
                  </a:ext>
                </a:extLst>
              </p:cNvPr>
              <p:cNvSpPr txBox="1">
                <a:spLocks noRot="1" noChangeAspect="1" noMove="1" noResize="1" noEditPoints="1" noAdjustHandles="1" noChangeArrowheads="1" noChangeShapeType="1" noTextEdit="1"/>
              </p:cNvSpPr>
              <p:nvPr/>
            </p:nvSpPr>
            <p:spPr>
              <a:xfrm>
                <a:off x="6591301" y="5027380"/>
                <a:ext cx="3467100" cy="861326"/>
              </a:xfrm>
              <a:prstGeom prst="rect">
                <a:avLst/>
              </a:prstGeom>
              <a:blipFill>
                <a:blip r:embed="rId3"/>
                <a:stretch>
                  <a:fillRect/>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85218E03-C627-5B15-4157-0E05DE7140CE}"/>
              </a:ext>
            </a:extLst>
          </p:cNvPr>
          <p:cNvCxnSpPr>
            <a:stCxn id="7" idx="0"/>
          </p:cNvCxnSpPr>
          <p:nvPr/>
        </p:nvCxnSpPr>
        <p:spPr>
          <a:xfrm flipV="1">
            <a:off x="8324851" y="2403231"/>
            <a:ext cx="1651487" cy="262414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821605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679939" y="1377485"/>
            <a:ext cx="10585938" cy="4982116"/>
          </a:xfrm>
        </p:spPr>
        <p:txBody>
          <a:bodyPr>
            <a:normAutofit/>
          </a:bodyPr>
          <a:lstStyle/>
          <a:p>
            <a:pPr marL="342900" indent="-342900">
              <a:lnSpc>
                <a:spcPct val="150000"/>
              </a:lnSpc>
            </a:pPr>
            <a:r>
              <a:rPr lang="en-US" altLang="zh-CN" dirty="0" err="1">
                <a:solidFill>
                  <a:srgbClr val="C00000"/>
                </a:solidFill>
              </a:rPr>
              <a:t>Kasiski</a:t>
            </a:r>
            <a:r>
              <a:rPr lang="zh-CN" altLang="en-US" dirty="0">
                <a:solidFill>
                  <a:srgbClr val="C00000"/>
                </a:solidFill>
              </a:rPr>
              <a:t>测试法</a:t>
            </a:r>
            <a:endParaRPr lang="en-US" altLang="zh-CN" dirty="0">
              <a:solidFill>
                <a:srgbClr val="C00000"/>
              </a:solidFill>
            </a:endParaRPr>
          </a:p>
          <a:p>
            <a:pPr lvl="1">
              <a:lnSpc>
                <a:spcPct val="150000"/>
              </a:lnSpc>
              <a:buNone/>
            </a:pPr>
            <a:r>
              <a:rPr lang="zh-CN" altLang="en-US" sz="2000" dirty="0"/>
              <a:t>	若用给定的</a:t>
            </a:r>
            <a:r>
              <a:rPr lang="en-US" altLang="zh-CN" sz="2000" dirty="0"/>
              <a:t>m</a:t>
            </a:r>
            <a:r>
              <a:rPr lang="zh-CN" altLang="en-US" sz="2000" dirty="0"/>
              <a:t>个密钥表周期地对明文字母加密，则当明文中有两个相同字母组在明文序列中间隔的字母数为</a:t>
            </a:r>
            <a:r>
              <a:rPr lang="en-US" altLang="zh-CN" sz="2000" dirty="0"/>
              <a:t>m</a:t>
            </a:r>
            <a:r>
              <a:rPr lang="zh-CN" altLang="en-US" sz="2000" dirty="0"/>
              <a:t>的倍数时，这两个明文字母组对应的密文字母组必相同。但反过来，若密文中出现两个相同的字母组，它们所对应的明文字母组未必相同，但相同的可能性很大。如果我们将密文中相同的字母组找出来，并对其相同字母数综合研究，找出它们的相同字母数的最大公因子，就有可能提取出有关密钥字的长度</a:t>
            </a:r>
            <a:r>
              <a:rPr lang="en-US" altLang="zh-CN" sz="2000" dirty="0"/>
              <a:t>m</a:t>
            </a:r>
            <a:r>
              <a:rPr lang="zh-CN" altLang="en-US" sz="2000" dirty="0"/>
              <a:t>的信息。</a:t>
            </a:r>
            <a:endParaRPr lang="zh-CN" altLang="en-US" sz="1400" dirty="0"/>
          </a:p>
          <a:p>
            <a:pPr marL="342900" indent="-342900"/>
            <a:r>
              <a:rPr lang="zh-CN" altLang="en-US" sz="2000" dirty="0"/>
              <a:t>如果在加密时，</a:t>
            </a:r>
            <a:r>
              <a:rPr lang="zh-CN" altLang="en-US" sz="2000" b="1" dirty="0"/>
              <a:t>前后两个 </a:t>
            </a:r>
            <a:r>
              <a:rPr lang="en-US" altLang="zh-CN" sz="2000" b="1" dirty="0"/>
              <a:t>THE</a:t>
            </a:r>
            <a:r>
              <a:rPr lang="zh-CN" altLang="en-US" sz="2000" b="1" dirty="0"/>
              <a:t> 恰好碰到了循环过来的同一组密钥字母</a:t>
            </a:r>
            <a:r>
              <a:rPr lang="zh-CN" altLang="en-US" sz="2000" dirty="0"/>
              <a:t>，那么这两个 </a:t>
            </a:r>
            <a:r>
              <a:rPr lang="en-US" altLang="zh-CN" sz="2000" dirty="0"/>
              <a:t>THE</a:t>
            </a:r>
            <a:r>
              <a:rPr lang="zh-CN" altLang="en-US" sz="2000" dirty="0"/>
              <a:t> 就会被加密成</a:t>
            </a:r>
            <a:r>
              <a:rPr lang="zh-CN" altLang="en-US" sz="2000" b="1" dirty="0"/>
              <a:t>完全一模一样的密文三字组（比如 </a:t>
            </a:r>
            <a:r>
              <a:rPr lang="en-US" altLang="zh-CN" sz="2000" b="1" dirty="0"/>
              <a:t>XYZ</a:t>
            </a:r>
            <a:r>
              <a:rPr lang="zh-CN" altLang="en-US" sz="2000" b="1" dirty="0"/>
              <a:t> 和 </a:t>
            </a:r>
            <a:r>
              <a:rPr lang="en-US" altLang="zh-CN" sz="2000" b="1" dirty="0"/>
              <a:t>XYZ</a:t>
            </a:r>
            <a:r>
              <a:rPr lang="zh-CN" altLang="en-US" sz="2000" b="1" dirty="0"/>
              <a:t>）</a:t>
            </a:r>
            <a:r>
              <a:rPr lang="zh-CN" altLang="en-US" sz="2000" dirty="0"/>
              <a:t>。</a:t>
            </a:r>
            <a:endParaRPr lang="en-US" altLang="zh-CN" sz="2000" dirty="0"/>
          </a:p>
          <a:p>
            <a:pPr marL="800100" lvl="1" indent="-342900"/>
            <a:r>
              <a:rPr lang="zh-CN" altLang="en-US" sz="1800" dirty="0"/>
              <a:t>寻找长得一模一样的字母串（比如发现了两个 </a:t>
            </a:r>
            <a:r>
              <a:rPr lang="en-US" altLang="zh-CN" sz="1800" dirty="0"/>
              <a:t>XYZ</a:t>
            </a:r>
            <a:r>
              <a:rPr lang="zh-CN" altLang="en-US" sz="1800" dirty="0"/>
              <a:t>）。</a:t>
            </a:r>
            <a:endParaRPr lang="en-US" altLang="zh-CN" sz="1800" dirty="0"/>
          </a:p>
          <a:p>
            <a:pPr marL="800100" lvl="1" indent="-342900"/>
            <a:r>
              <a:rPr lang="zh-CN" altLang="en-US" sz="1800" dirty="0"/>
              <a:t>数一数这两个相同字母串在密文中间</a:t>
            </a:r>
            <a:r>
              <a:rPr lang="zh-CN" altLang="en-US" sz="1800" b="1" dirty="0"/>
              <a:t>隔了多少个字符</a:t>
            </a:r>
            <a:endParaRPr lang="en-US" altLang="zh-CN" sz="1800" b="1" dirty="0"/>
          </a:p>
          <a:p>
            <a:pPr marL="800100" lvl="1" indent="-342900"/>
            <a:r>
              <a:rPr lang="zh-CN" altLang="en-US" sz="1800" dirty="0">
                <a:solidFill>
                  <a:srgbClr val="C00000"/>
                </a:solidFill>
              </a:rPr>
              <a:t>其对应密钥长度的倍数一般为这个间隔。</a:t>
            </a:r>
            <a:endParaRPr lang="en-US" altLang="zh-CN" sz="1800"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70</a:t>
            </a:fld>
            <a:endParaRPr kumimoji="1" lang="zh-CN" altLang="en-US" dirty="0"/>
          </a:p>
        </p:txBody>
      </p:sp>
    </p:spTree>
    <p:extLst>
      <p:ext uri="{BB962C8B-B14F-4D97-AF65-F5344CB8AC3E}">
        <p14:creationId xmlns:p14="http://schemas.microsoft.com/office/powerpoint/2010/main" val="14649338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15E86-6EA6-E0D5-AFFE-93AF1D4380B3}"/>
              </a:ext>
            </a:extLst>
          </p:cNvPr>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CC03A30-90FC-1235-70AB-EB1C42A37444}"/>
                  </a:ext>
                </a:extLst>
              </p:cNvPr>
              <p:cNvSpPr>
                <a:spLocks noGrp="1"/>
              </p:cNvSpPr>
              <p:nvPr>
                <p:ph idx="1"/>
              </p:nvPr>
            </p:nvSpPr>
            <p:spPr/>
            <p:txBody>
              <a:bodyPr/>
              <a:lstStyle/>
              <a:p>
                <a:r>
                  <a:rPr lang="zh-CN" altLang="en-US" b="1" dirty="0"/>
                  <a:t>第一步</a:t>
                </a:r>
                <a:r>
                  <a:rPr lang="zh-CN" altLang="en-US" dirty="0"/>
                  <a:t>：在几万字的密文里肉眼扫描，寻找长得一模一样的字母串（比如发现了两个 </a:t>
                </a:r>
                <a:r>
                  <a:rPr lang="en-US" altLang="zh-CN" dirty="0"/>
                  <a:t>XYZ</a:t>
                </a:r>
                <a:r>
                  <a:rPr lang="zh-CN" altLang="en-US" dirty="0"/>
                  <a:t>）。</a:t>
                </a:r>
              </a:p>
              <a:p>
                <a:r>
                  <a:rPr lang="zh-CN" altLang="en-US" b="1" dirty="0"/>
                  <a:t>第二步</a:t>
                </a:r>
                <a:r>
                  <a:rPr lang="zh-CN" altLang="en-US" dirty="0"/>
                  <a:t>：数一数这两个相同字母串在密文中间</a:t>
                </a:r>
                <a:r>
                  <a:rPr lang="zh-CN" altLang="en-US" b="1" dirty="0"/>
                  <a:t>隔了多少个字符</a:t>
                </a:r>
                <a:r>
                  <a:rPr lang="zh-CN" altLang="en-US" dirty="0"/>
                  <a:t>（假设间隔了 </a:t>
                </a:r>
                <a:r>
                  <a:rPr lang="en-US" altLang="zh-CN" dirty="0"/>
                  <a:t>12 </a:t>
                </a:r>
                <a:r>
                  <a:rPr lang="zh-CN" altLang="en-US" dirty="0"/>
                  <a:t>个字母）。</a:t>
                </a:r>
              </a:p>
              <a:p>
                <a:r>
                  <a:rPr lang="zh-CN" altLang="en-US" b="1" dirty="0"/>
                  <a:t>第三步</a:t>
                </a:r>
                <a:r>
                  <a:rPr lang="zh-CN" altLang="en-US" dirty="0"/>
                  <a:t>：如果再找一对相同的字母串，发现间隔了 </a:t>
                </a:r>
                <a:r>
                  <a:rPr lang="en-US" altLang="zh-CN" dirty="0"/>
                  <a:t>18 </a:t>
                </a:r>
                <a:r>
                  <a:rPr lang="zh-CN" altLang="en-US" dirty="0"/>
                  <a:t>个字母。</a:t>
                </a:r>
              </a:p>
              <a:p>
                <a:r>
                  <a:rPr lang="zh-CN" altLang="en-US" b="1" dirty="0"/>
                  <a:t>第四步</a:t>
                </a:r>
                <a:r>
                  <a:rPr lang="zh-CN" altLang="en-US" dirty="0"/>
                  <a:t>：根据数学逻辑，</a:t>
                </a:r>
                <a:r>
                  <a:rPr lang="zh-CN" altLang="en-US" b="1" dirty="0"/>
                  <a:t>加密周期 </a:t>
                </a:r>
                <a:r>
                  <a:rPr lang="en-US" altLang="zh-CN" b="1" dirty="0"/>
                  <a:t>m </a:t>
                </a:r>
                <a:r>
                  <a:rPr lang="zh-CN" altLang="en-US" b="1" dirty="0"/>
                  <a:t>必然是这些间隔距离的公因子</a:t>
                </a:r>
                <a:r>
                  <a:rPr lang="zh-CN" altLang="en-US" dirty="0"/>
                  <a:t>！</a:t>
                </a:r>
              </a:p>
              <a:p>
                <a:r>
                  <a:rPr lang="zh-CN" altLang="en-US" dirty="0"/>
                  <a:t>我们求 </a:t>
                </a:r>
                <a:r>
                  <a:rPr lang="en-US" altLang="zh-CN" dirty="0"/>
                  <a:t>12 </a:t>
                </a:r>
                <a:r>
                  <a:rPr lang="zh-CN" altLang="en-US" dirty="0"/>
                  <a:t>和 </a:t>
                </a:r>
                <a:r>
                  <a:rPr lang="en-US" altLang="zh-CN" dirty="0"/>
                  <a:t>18 </a:t>
                </a:r>
                <a:r>
                  <a:rPr lang="zh-CN" altLang="en-US" dirty="0"/>
                  <a:t>的最大公约数：</a:t>
                </a:r>
              </a:p>
              <a:p>
                <a:pPr marL="0" indent="0" algn="ctr">
                  <a:buNone/>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𝑔𝑐𝑑</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12, 18</m:t>
                          </m:r>
                        </m:e>
                      </m:d>
                      <m:r>
                        <a:rPr lang="en-US" altLang="zh-CN" i="1" dirty="0">
                          <a:latin typeface="Cambria Math" panose="02040503050406030204" pitchFamily="18" charset="0"/>
                        </a:rPr>
                        <m:t>= </m:t>
                      </m:r>
                      <m:r>
                        <a:rPr lang="en-US" altLang="zh-CN" i="1" dirty="0" smtClean="0">
                          <a:latin typeface="Cambria Math" panose="02040503050406030204" pitchFamily="18" charset="0"/>
                        </a:rPr>
                        <m:t>6</m:t>
                      </m:r>
                    </m:oMath>
                  </m:oMathPara>
                </a14:m>
                <a:endParaRPr lang="zh-CN" altLang="en-US" dirty="0"/>
              </a:p>
              <a:p>
                <a:endParaRPr lang="zh-CN" altLang="en-US" dirty="0"/>
              </a:p>
            </p:txBody>
          </p:sp>
        </mc:Choice>
        <mc:Fallback xmlns="">
          <p:sp>
            <p:nvSpPr>
              <p:cNvPr id="3" name="内容占位符 2">
                <a:extLst>
                  <a:ext uri="{FF2B5EF4-FFF2-40B4-BE49-F238E27FC236}">
                    <a16:creationId xmlns:a16="http://schemas.microsoft.com/office/drawing/2014/main" id="{DCC03A30-90FC-1235-70AB-EB1C42A37444}"/>
                  </a:ext>
                </a:extLst>
              </p:cNvPr>
              <p:cNvSpPr>
                <a:spLocks noGrp="1" noRot="1" noChangeAspect="1" noMove="1" noResize="1" noEditPoints="1" noAdjustHandles="1" noChangeArrowheads="1" noChangeShapeType="1" noTextEdit="1"/>
              </p:cNvSpPr>
              <p:nvPr>
                <p:ph idx="1"/>
              </p:nvPr>
            </p:nvSpPr>
            <p:spPr>
              <a:blipFill>
                <a:blip r:embed="rId3"/>
                <a:stretch>
                  <a:fillRect l="-1043" t="-146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27A3A22-AF24-F4D7-4371-07EE11A1ABEA}"/>
              </a:ext>
            </a:extLst>
          </p:cNvPr>
          <p:cNvSpPr>
            <a:spLocks noGrp="1"/>
          </p:cNvSpPr>
          <p:nvPr>
            <p:ph type="sldNum" sz="quarter" idx="12"/>
          </p:nvPr>
        </p:nvSpPr>
        <p:spPr/>
        <p:txBody>
          <a:bodyPr/>
          <a:lstStyle/>
          <a:p>
            <a:fld id="{8D4D1E41-7A09-AB4A-A4E1-09765ADA2698}" type="slidenum">
              <a:rPr kumimoji="1" lang="zh-CN" altLang="en-US" smtClean="0"/>
              <a:pPr/>
              <a:t>71</a:t>
            </a:fld>
            <a:endParaRPr kumimoji="1" lang="zh-CN" altLang="en-US" dirty="0"/>
          </a:p>
        </p:txBody>
      </p:sp>
    </p:spTree>
    <p:extLst>
      <p:ext uri="{BB962C8B-B14F-4D97-AF65-F5344CB8AC3E}">
        <p14:creationId xmlns:p14="http://schemas.microsoft.com/office/powerpoint/2010/main" val="7808823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914399" y="1427633"/>
            <a:ext cx="5937663" cy="4982116"/>
          </a:xfrm>
        </p:spPr>
        <p:txBody>
          <a:bodyPr>
            <a:normAutofit/>
          </a:bodyPr>
          <a:lstStyle/>
          <a:p>
            <a:pPr marL="342900" indent="-342900">
              <a:lnSpc>
                <a:spcPct val="150000"/>
              </a:lnSpc>
            </a:pPr>
            <a:r>
              <a:rPr lang="en-US" altLang="zh-CN" dirty="0" err="1">
                <a:solidFill>
                  <a:srgbClr val="C00000"/>
                </a:solidFill>
              </a:rPr>
              <a:t>Vigenère</a:t>
            </a:r>
            <a:r>
              <a:rPr lang="zh-CN" altLang="en-US" dirty="0">
                <a:solidFill>
                  <a:srgbClr val="C00000"/>
                </a:solidFill>
              </a:rPr>
              <a:t>密码分析</a:t>
            </a:r>
            <a:endParaRPr lang="en-US" altLang="zh-CN" dirty="0">
              <a:solidFill>
                <a:srgbClr val="C00000"/>
              </a:solidFill>
            </a:endParaRPr>
          </a:p>
          <a:p>
            <a:pPr marL="800100" lvl="1" indent="-342900">
              <a:lnSpc>
                <a:spcPct val="150000"/>
              </a:lnSpc>
            </a:pPr>
            <a:r>
              <a:rPr lang="zh-CN" altLang="en-US" dirty="0">
                <a:solidFill>
                  <a:srgbClr val="C00000"/>
                </a:solidFill>
              </a:rPr>
              <a:t>如何确定代替周期</a:t>
            </a:r>
            <a:endParaRPr lang="en-US" altLang="zh-CN" dirty="0">
              <a:solidFill>
                <a:srgbClr val="C00000"/>
              </a:solidFill>
            </a:endParaRPr>
          </a:p>
          <a:p>
            <a:pPr marL="450850" lvl="1" indent="6350">
              <a:lnSpc>
                <a:spcPct val="150000"/>
              </a:lnSpc>
              <a:buNone/>
            </a:pPr>
            <a:r>
              <a:rPr lang="zh-CN" altLang="en-US" dirty="0"/>
              <a:t>方法一（</a:t>
            </a:r>
            <a:r>
              <a:rPr lang="en-US" altLang="zh-CN" dirty="0">
                <a:solidFill>
                  <a:srgbClr val="C00000"/>
                </a:solidFill>
              </a:rPr>
              <a:t> </a:t>
            </a:r>
            <a:r>
              <a:rPr lang="en-US" altLang="zh-CN" dirty="0" err="1">
                <a:solidFill>
                  <a:srgbClr val="C00000"/>
                </a:solidFill>
              </a:rPr>
              <a:t>Kasiski</a:t>
            </a:r>
            <a:r>
              <a:rPr lang="zh-CN" altLang="en-US" dirty="0">
                <a:solidFill>
                  <a:srgbClr val="C00000"/>
                </a:solidFill>
              </a:rPr>
              <a:t>测试法 </a:t>
            </a:r>
            <a:r>
              <a:rPr lang="zh-CN" altLang="en-US" dirty="0"/>
              <a:t>）：一个给定密文包含下列重复的序列，且有距离如表所示：</a:t>
            </a:r>
          </a:p>
          <a:p>
            <a:pPr marL="450850" lvl="1" indent="6350">
              <a:lnSpc>
                <a:spcPct val="150000"/>
              </a:lnSpc>
              <a:buNone/>
            </a:pPr>
            <a:r>
              <a:rPr lang="zh-CN" altLang="en-US" dirty="0"/>
              <a:t>因为</a:t>
            </a:r>
            <a:r>
              <a:rPr lang="en-US" altLang="zh-CN" dirty="0"/>
              <a:t>3</a:t>
            </a:r>
            <a:r>
              <a:rPr lang="zh-CN" altLang="en-US" dirty="0"/>
              <a:t>是出现最频繁的因子，所以密文的周期最有可能是</a:t>
            </a:r>
            <a:r>
              <a:rPr lang="en-US" altLang="zh-CN" dirty="0"/>
              <a:t>3</a:t>
            </a:r>
            <a:r>
              <a:rPr lang="zh-CN" altLang="en-US" dirty="0"/>
              <a:t>。</a:t>
            </a:r>
            <a:endParaRPr lang="en-US" altLang="zh-CN" dirty="0">
              <a:solidFill>
                <a:srgbClr val="C00000"/>
              </a:solidFill>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72</a:t>
            </a:fld>
            <a:endParaRPr kumimoji="1" lang="zh-CN" altLang="en-US" dirty="0"/>
          </a:p>
        </p:txBody>
      </p:sp>
      <p:graphicFrame>
        <p:nvGraphicFramePr>
          <p:cNvPr id="5" name="Group 29"/>
          <p:cNvGraphicFramePr>
            <a:graphicFrameLocks/>
          </p:cNvGraphicFramePr>
          <p:nvPr>
            <p:extLst>
              <p:ext uri="{D42A27DB-BD31-4B8C-83A1-F6EECF244321}">
                <p14:modId xmlns:p14="http://schemas.microsoft.com/office/powerpoint/2010/main" val="2631370138"/>
              </p:ext>
            </p:extLst>
          </p:nvPr>
        </p:nvGraphicFramePr>
        <p:xfrm>
          <a:off x="7214363" y="1687286"/>
          <a:ext cx="3160713" cy="3810002"/>
        </p:xfrm>
        <a:graphic>
          <a:graphicData uri="http://schemas.openxmlformats.org/drawingml/2006/table">
            <a:tbl>
              <a:tblPr/>
              <a:tblGrid>
                <a:gridCol w="1389063">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tblGrid>
              <a:tr h="539750">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字母序列</a:t>
                      </a:r>
                      <a:endParaRPr kumimoji="1" lang="zh-CN" altLang="en-US"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距离</a:t>
                      </a:r>
                      <a:endParaRPr kumimoji="1" lang="zh-CN" altLang="en-US"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4538">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PQA</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150=2×5</a:t>
                      </a:r>
                      <a:r>
                        <a:rPr kumimoji="1"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 </a:t>
                      </a: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4825">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RET</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42=7×2×3</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825">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FRT</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10=2×5</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6413">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ROPY</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81=3</a:t>
                      </a:r>
                      <a:r>
                        <a:rPr kumimoji="1"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4</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238">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DER</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57=19×3</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6413">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RUN</a:t>
                      </a:r>
                      <a:endParaRPr kumimoji="1" lang="en-US"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85738" marR="0" lvl="0" indent="-185738" algn="just" defTabSz="914400" rtl="0" eaLnBrk="1" fontAlgn="base" latinLnBrk="0" hangingPunct="1">
                        <a:lnSpc>
                          <a:spcPct val="120000"/>
                        </a:lnSpc>
                        <a:spcBef>
                          <a:spcPct val="0"/>
                        </a:spcBef>
                        <a:spcAft>
                          <a:spcPct val="0"/>
                        </a:spcAft>
                        <a:buClrTx/>
                        <a:buSzPct val="55000"/>
                        <a:buFontTx/>
                        <a:buNone/>
                        <a:tabLst/>
                      </a:pPr>
                      <a:r>
                        <a:rPr kumimoji="1"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117=13×3</a:t>
                      </a:r>
                      <a:r>
                        <a:rPr kumimoji="1" lang="en-US" altLang="zh-CN" sz="2000" b="0" i="0" u="none" strike="noStrike" cap="none" normalizeH="0" baseline="30000" dirty="0">
                          <a:ln>
                            <a:noFill/>
                          </a:ln>
                          <a:solidFill>
                            <a:schemeClr val="tx1"/>
                          </a:solidFill>
                          <a:effectLst/>
                          <a:latin typeface="Times New Roman" pitchFamily="18" charset="0"/>
                          <a:ea typeface="宋体" pitchFamily="2" charset="-122"/>
                          <a:cs typeface="Times New Roman" pitchFamily="18" charset="0"/>
                        </a:rPr>
                        <a:t>2</a:t>
                      </a:r>
                      <a:endParaRPr kumimoji="1" lang="en-US"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578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914399" y="1427633"/>
            <a:ext cx="11183816" cy="4982116"/>
          </a:xfrm>
        </p:spPr>
        <p:txBody>
          <a:bodyPr>
            <a:normAutofit lnSpcReduction="10000"/>
          </a:bodyPr>
          <a:lstStyle/>
          <a:p>
            <a:pPr marL="342900" indent="-342900">
              <a:lnSpc>
                <a:spcPct val="150000"/>
              </a:lnSpc>
            </a:pPr>
            <a:r>
              <a:rPr lang="en-US" altLang="zh-CN" dirty="0" err="1">
                <a:solidFill>
                  <a:srgbClr val="C00000"/>
                </a:solidFill>
              </a:rPr>
              <a:t>Vigenère</a:t>
            </a:r>
            <a:r>
              <a:rPr lang="zh-CN" altLang="en-US" dirty="0">
                <a:solidFill>
                  <a:srgbClr val="C00000"/>
                </a:solidFill>
              </a:rPr>
              <a:t>密码分析</a:t>
            </a:r>
            <a:endParaRPr lang="en-US" altLang="zh-CN" dirty="0">
              <a:solidFill>
                <a:srgbClr val="C00000"/>
              </a:solidFill>
            </a:endParaRPr>
          </a:p>
          <a:p>
            <a:pPr marL="800100" lvl="1" indent="-342900">
              <a:lnSpc>
                <a:spcPct val="150000"/>
              </a:lnSpc>
            </a:pPr>
            <a:r>
              <a:rPr lang="zh-CN" altLang="en-US" dirty="0">
                <a:solidFill>
                  <a:srgbClr val="C00000"/>
                </a:solidFill>
              </a:rPr>
              <a:t>如何确定代替周期</a:t>
            </a:r>
            <a:endParaRPr lang="en-US" altLang="zh-CN" dirty="0">
              <a:solidFill>
                <a:srgbClr val="C00000"/>
              </a:solidFill>
            </a:endParaRPr>
          </a:p>
          <a:p>
            <a:pPr marL="450850" lvl="1" indent="6350">
              <a:lnSpc>
                <a:spcPct val="150000"/>
              </a:lnSpc>
              <a:buNone/>
            </a:pPr>
            <a:r>
              <a:rPr lang="zh-CN" altLang="en-US" dirty="0"/>
              <a:t>方法二：</a:t>
            </a:r>
            <a:r>
              <a:rPr lang="zh-CN" altLang="en-US" dirty="0">
                <a:solidFill>
                  <a:srgbClr val="C00000"/>
                </a:solidFill>
              </a:rPr>
              <a:t>重合指数法</a:t>
            </a:r>
            <a:r>
              <a:rPr lang="zh-CN" altLang="en-US" dirty="0"/>
              <a:t>（</a:t>
            </a:r>
            <a:r>
              <a:rPr lang="en-US" altLang="zh-CN" dirty="0"/>
              <a:t>Coincidence  Index</a:t>
            </a:r>
            <a:r>
              <a:rPr lang="zh-CN" altLang="en-US" dirty="0"/>
              <a:t>）</a:t>
            </a:r>
            <a:endParaRPr lang="en-US" altLang="zh-CN" dirty="0"/>
          </a:p>
          <a:p>
            <a:pPr lvl="1">
              <a:lnSpc>
                <a:spcPct val="150000"/>
              </a:lnSpc>
            </a:pPr>
            <a:r>
              <a:rPr lang="zh-CN" altLang="en-US" dirty="0"/>
              <a:t>设一门语言由</a:t>
            </a:r>
            <a:r>
              <a:rPr lang="en-US" altLang="zh-CN" dirty="0"/>
              <a:t>n</a:t>
            </a:r>
            <a:r>
              <a:rPr lang="zh-CN" altLang="en-US" dirty="0"/>
              <a:t>个字母构成，每个字母发生的概率为             ，则重合指数是指其中两个随机元素相同的概率，记为                。 </a:t>
            </a:r>
          </a:p>
          <a:p>
            <a:pPr lvl="1">
              <a:lnSpc>
                <a:spcPct val="150000"/>
              </a:lnSpc>
            </a:pPr>
            <a:r>
              <a:rPr lang="zh-CN" altLang="zh-CN" dirty="0"/>
              <a:t>完全随机的文本CI=0.0385，一个有意义的英文文本CI=0.065</a:t>
            </a:r>
            <a:r>
              <a:rPr lang="zh-CN" altLang="en-US" dirty="0"/>
              <a:t>（有的</a:t>
            </a:r>
            <a:r>
              <a:rPr lang="en-US" altLang="zh-CN" dirty="0"/>
              <a:t>0.066</a:t>
            </a:r>
            <a:r>
              <a:rPr lang="zh-CN" altLang="en-US" dirty="0"/>
              <a:t>）。</a:t>
            </a:r>
            <a:endParaRPr lang="en-US" altLang="zh-CN" dirty="0"/>
          </a:p>
          <a:p>
            <a:pPr lvl="1">
              <a:lnSpc>
                <a:spcPct val="150000"/>
              </a:lnSpc>
            </a:pPr>
            <a:endParaRPr lang="en-US" altLang="zh-CN" dirty="0"/>
          </a:p>
          <a:p>
            <a:pPr lvl="1">
              <a:lnSpc>
                <a:spcPct val="150000"/>
              </a:lnSpc>
            </a:pPr>
            <a:r>
              <a:rPr lang="zh-CN" altLang="en-US" dirty="0">
                <a:solidFill>
                  <a:srgbClr val="FF0000"/>
                </a:solidFill>
              </a:rPr>
              <a:t>可以用来判断文本是用单表还是用多表代换加密。</a:t>
            </a:r>
          </a:p>
          <a:p>
            <a:pPr marL="450850" lvl="1" indent="6350">
              <a:lnSpc>
                <a:spcPct val="150000"/>
              </a:lnSpc>
              <a:buNone/>
            </a:pPr>
            <a:endParaRPr lang="zh-CN" altLang="zh-CN" dirty="0"/>
          </a:p>
          <a:p>
            <a:pPr marL="450850" lvl="1" indent="6350">
              <a:lnSpc>
                <a:spcPct val="150000"/>
              </a:lnSpc>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73</a:t>
            </a:fld>
            <a:endParaRPr kumimoji="1" lang="zh-CN" alt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3140196339"/>
              </p:ext>
            </p:extLst>
          </p:nvPr>
        </p:nvGraphicFramePr>
        <p:xfrm>
          <a:off x="8530010" y="3415757"/>
          <a:ext cx="1273464" cy="402639"/>
        </p:xfrm>
        <a:graphic>
          <a:graphicData uri="http://schemas.openxmlformats.org/presentationml/2006/ole">
            <mc:AlternateContent xmlns:mc="http://schemas.openxmlformats.org/markup-compatibility/2006">
              <mc:Choice xmlns:v="urn:schemas-microsoft-com:vml" Requires="v">
                <p:oleObj name="公式" r:id="rId2" imgW="723586" imgH="228501" progId="Equation.3">
                  <p:embed/>
                </p:oleObj>
              </mc:Choice>
              <mc:Fallback>
                <p:oleObj name="公式" r:id="rId2" imgW="723586" imgH="228501" progId="Equation.3">
                  <p:embed/>
                  <p:pic>
                    <p:nvPicPr>
                      <p:cNvPr id="5939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0010" y="3415757"/>
                        <a:ext cx="1273464" cy="402639"/>
                      </a:xfrm>
                      <a:prstGeom prst="rect">
                        <a:avLst/>
                      </a:prstGeom>
                      <a:noFill/>
                      <a:ln>
                        <a:noFill/>
                      </a:ln>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646267100"/>
              </p:ext>
            </p:extLst>
          </p:nvPr>
        </p:nvGraphicFramePr>
        <p:xfrm>
          <a:off x="6908210" y="3708787"/>
          <a:ext cx="1426194" cy="832674"/>
        </p:xfrm>
        <a:graphic>
          <a:graphicData uri="http://schemas.openxmlformats.org/presentationml/2006/ole">
            <mc:AlternateContent xmlns:mc="http://schemas.openxmlformats.org/markup-compatibility/2006">
              <mc:Choice xmlns:v="urn:schemas-microsoft-com:vml" Requires="v">
                <p:oleObj name="公式" r:id="rId4" imgW="736600" imgH="431800" progId="Equation.3">
                  <p:embed/>
                </p:oleObj>
              </mc:Choice>
              <mc:Fallback>
                <p:oleObj name="公式" r:id="rId4" imgW="736600" imgH="431800" progId="Equation.3">
                  <p:embed/>
                  <p:pic>
                    <p:nvPicPr>
                      <p:cNvPr id="59399"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8210" y="3708787"/>
                        <a:ext cx="1426194" cy="832674"/>
                      </a:xfrm>
                      <a:prstGeom prst="rect">
                        <a:avLst/>
                      </a:prstGeom>
                      <a:noFill/>
                      <a:ln>
                        <a:noFill/>
                      </a:ln>
                    </p:spPr>
                  </p:pic>
                </p:oleObj>
              </mc:Fallback>
            </mc:AlternateContent>
          </a:graphicData>
        </a:graphic>
      </p:graphicFrame>
      <p:graphicFrame>
        <p:nvGraphicFramePr>
          <p:cNvPr id="8" name="Object 14"/>
          <p:cNvGraphicFramePr>
            <a:graphicFrameLocks noChangeAspect="1"/>
          </p:cNvGraphicFramePr>
          <p:nvPr>
            <p:extLst>
              <p:ext uri="{D42A27DB-BD31-4B8C-83A1-F6EECF244321}">
                <p14:modId xmlns:p14="http://schemas.microsoft.com/office/powerpoint/2010/main" val="1327881577"/>
              </p:ext>
            </p:extLst>
          </p:nvPr>
        </p:nvGraphicFramePr>
        <p:xfrm>
          <a:off x="4910731" y="4949040"/>
          <a:ext cx="1853483" cy="751703"/>
        </p:xfrm>
        <a:graphic>
          <a:graphicData uri="http://schemas.openxmlformats.org/presentationml/2006/ole">
            <mc:AlternateContent xmlns:mc="http://schemas.openxmlformats.org/markup-compatibility/2006">
              <mc:Choice xmlns:v="urn:schemas-microsoft-com:vml" Requires="v">
                <p:oleObj r:id="rId6" imgW="1156511" imgH="470170" progId="Equation.3">
                  <p:embed/>
                </p:oleObj>
              </mc:Choice>
              <mc:Fallback>
                <p:oleObj r:id="rId6" imgW="1156511" imgH="470170" progId="Equation.3">
                  <p:embed/>
                  <p:pic>
                    <p:nvPicPr>
                      <p:cNvPr id="11"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0731" y="4949040"/>
                        <a:ext cx="1853483" cy="75170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08891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3.7.5 </a:t>
            </a:r>
            <a:r>
              <a:rPr kumimoji="1" lang="zh-CN" altLang="en-US" dirty="0">
                <a:solidFill>
                  <a:prstClr val="black"/>
                </a:solidFill>
              </a:rPr>
              <a:t>多表代替密码分析</a:t>
            </a:r>
            <a:endParaRPr lang="zh-CN" altLang="en-US" dirty="0"/>
          </a:p>
        </p:txBody>
      </p:sp>
      <p:sp>
        <p:nvSpPr>
          <p:cNvPr id="3" name="内容占位符 2"/>
          <p:cNvSpPr>
            <a:spLocks noGrp="1"/>
          </p:cNvSpPr>
          <p:nvPr>
            <p:ph idx="1"/>
          </p:nvPr>
        </p:nvSpPr>
        <p:spPr>
          <a:xfrm>
            <a:off x="914399" y="1427633"/>
            <a:ext cx="10200905" cy="4982116"/>
          </a:xfrm>
        </p:spPr>
        <p:txBody>
          <a:bodyPr>
            <a:normAutofit/>
          </a:bodyPr>
          <a:lstStyle/>
          <a:p>
            <a:pPr marL="342900" indent="-342900">
              <a:lnSpc>
                <a:spcPct val="150000"/>
              </a:lnSpc>
            </a:pPr>
            <a:r>
              <a:rPr lang="en-US" altLang="zh-CN" dirty="0" err="1">
                <a:solidFill>
                  <a:srgbClr val="C00000"/>
                </a:solidFill>
              </a:rPr>
              <a:t>Vigenère</a:t>
            </a:r>
            <a:r>
              <a:rPr lang="zh-CN" altLang="en-US" dirty="0">
                <a:solidFill>
                  <a:srgbClr val="C00000"/>
                </a:solidFill>
              </a:rPr>
              <a:t>密码分析</a:t>
            </a:r>
            <a:endParaRPr lang="en-US" altLang="zh-CN" dirty="0">
              <a:solidFill>
                <a:srgbClr val="C00000"/>
              </a:solidFill>
            </a:endParaRPr>
          </a:p>
          <a:p>
            <a:pPr marL="800100" lvl="1" indent="-342900">
              <a:lnSpc>
                <a:spcPct val="150000"/>
              </a:lnSpc>
            </a:pPr>
            <a:r>
              <a:rPr lang="zh-CN" altLang="en-US" dirty="0">
                <a:solidFill>
                  <a:srgbClr val="C00000"/>
                </a:solidFill>
              </a:rPr>
              <a:t>如何确定代替周期</a:t>
            </a:r>
            <a:endParaRPr lang="en-US" altLang="zh-CN" dirty="0">
              <a:solidFill>
                <a:srgbClr val="C00000"/>
              </a:solidFill>
            </a:endParaRPr>
          </a:p>
          <a:p>
            <a:pPr marL="450850" lvl="1" indent="6350">
              <a:lnSpc>
                <a:spcPct val="150000"/>
              </a:lnSpc>
              <a:buNone/>
            </a:pPr>
            <a:r>
              <a:rPr lang="zh-CN" altLang="en-US" dirty="0"/>
              <a:t>方法二：重合指数法（</a:t>
            </a:r>
            <a:r>
              <a:rPr lang="en-US" altLang="zh-CN" dirty="0"/>
              <a:t>Coincidence  Index</a:t>
            </a:r>
            <a:r>
              <a:rPr lang="zh-CN" altLang="en-US" dirty="0"/>
              <a:t>）</a:t>
            </a:r>
            <a:endParaRPr lang="en-US" altLang="zh-CN" dirty="0"/>
          </a:p>
          <a:p>
            <a:pPr lvl="1"/>
            <a:r>
              <a:rPr lang="zh-CN" altLang="en-US" dirty="0"/>
              <a:t>另外，重合度还能提供对两个不同密文的洞察力 。 </a:t>
            </a:r>
            <a:endParaRPr lang="en-US" altLang="zh-CN" dirty="0"/>
          </a:p>
          <a:p>
            <a:pPr lvl="1"/>
            <a:r>
              <a:rPr lang="zh-CN" altLang="zh-CN" dirty="0"/>
              <a:t>实际使用CI的</a:t>
            </a:r>
            <a:r>
              <a:rPr lang="zh-CN" altLang="zh-CN" dirty="0">
                <a:solidFill>
                  <a:srgbClr val="FF0000"/>
                </a:solidFill>
              </a:rPr>
              <a:t>估计值CI</a:t>
            </a:r>
            <a:r>
              <a:rPr lang="en-US" altLang="zh-CN" dirty="0">
                <a:solidFill>
                  <a:srgbClr val="FF0000"/>
                </a:solidFill>
              </a:rPr>
              <a:t>’</a:t>
            </a:r>
            <a:r>
              <a:rPr lang="en-US" altLang="zh-CN" dirty="0"/>
              <a:t>:</a:t>
            </a:r>
            <a:endParaRPr lang="zh-CN" altLang="en-US" dirty="0"/>
          </a:p>
          <a:p>
            <a:pPr lvl="1"/>
            <a:endParaRPr lang="en-US" altLang="zh-CN" dirty="0"/>
          </a:p>
          <a:p>
            <a:pPr marL="450850" lvl="1" indent="6350">
              <a:lnSpc>
                <a:spcPct val="150000"/>
              </a:lnSpc>
              <a:buNone/>
            </a:pPr>
            <a:endParaRPr lang="zh-CN" altLang="zh-CN" dirty="0"/>
          </a:p>
          <a:p>
            <a:pPr marL="450850" lvl="1" indent="6350">
              <a:lnSpc>
                <a:spcPct val="150000"/>
              </a:lnSpc>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74</a:t>
            </a:fld>
            <a:endParaRPr kumimoji="1" lang="zh-CN" altLang="en-US" dirty="0"/>
          </a:p>
        </p:txBody>
      </p:sp>
      <p:graphicFrame>
        <p:nvGraphicFramePr>
          <p:cNvPr id="9" name="Object 9"/>
          <p:cNvGraphicFramePr>
            <a:graphicFrameLocks noChangeAspect="1"/>
          </p:cNvGraphicFramePr>
          <p:nvPr>
            <p:extLst>
              <p:ext uri="{D42A27DB-BD31-4B8C-83A1-F6EECF244321}">
                <p14:modId xmlns:p14="http://schemas.microsoft.com/office/powerpoint/2010/main" val="1430042005"/>
              </p:ext>
            </p:extLst>
          </p:nvPr>
        </p:nvGraphicFramePr>
        <p:xfrm>
          <a:off x="4202957" y="4404105"/>
          <a:ext cx="3786086" cy="943137"/>
        </p:xfrm>
        <a:graphic>
          <a:graphicData uri="http://schemas.openxmlformats.org/presentationml/2006/ole">
            <mc:AlternateContent xmlns:mc="http://schemas.openxmlformats.org/markup-compatibility/2006">
              <mc:Choice xmlns:v="urn:schemas-microsoft-com:vml" Requires="v">
                <p:oleObj name="公式" r:id="rId2" imgW="1727200" imgH="431800" progId="Equation.3">
                  <p:embed/>
                </p:oleObj>
              </mc:Choice>
              <mc:Fallback>
                <p:oleObj name="公式" r:id="rId2" imgW="1727200" imgH="431800" progId="Equation.3">
                  <p:embed/>
                  <p:pic>
                    <p:nvPicPr>
                      <p:cNvPr id="59401"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2957" y="4404105"/>
                        <a:ext cx="3786086" cy="943137"/>
                      </a:xfrm>
                      <a:prstGeom prst="rect">
                        <a:avLst/>
                      </a:prstGeom>
                      <a:noFill/>
                      <a:ln>
                        <a:noFill/>
                      </a:ln>
                    </p:spPr>
                  </p:pic>
                </p:oleObj>
              </mc:Fallback>
            </mc:AlternateContent>
          </a:graphicData>
        </a:graphic>
      </p:graphicFrame>
      <p:sp>
        <p:nvSpPr>
          <p:cNvPr id="10" name="Text Box 13"/>
          <p:cNvSpPr txBox="1">
            <a:spLocks noChangeArrowheads="1"/>
          </p:cNvSpPr>
          <p:nvPr/>
        </p:nvSpPr>
        <p:spPr bwMode="auto">
          <a:xfrm>
            <a:off x="3572387" y="5430367"/>
            <a:ext cx="410368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lang="zh-CN" altLang="zh-CN" dirty="0"/>
              <a:t>L：密文长。</a:t>
            </a:r>
          </a:p>
          <a:p>
            <a:pPr>
              <a:spcBef>
                <a:spcPct val="50000"/>
              </a:spcBef>
            </a:pPr>
            <a:r>
              <a:rPr lang="zh-CN" altLang="zh-CN" dirty="0"/>
              <a:t>x</a:t>
            </a:r>
            <a:r>
              <a:rPr lang="zh-CN" altLang="zh-CN" baseline="-25000" dirty="0"/>
              <a:t>i</a:t>
            </a:r>
            <a:r>
              <a:rPr lang="zh-CN" altLang="zh-CN" dirty="0"/>
              <a:t>：密文符号i发生的数目。</a:t>
            </a:r>
          </a:p>
        </p:txBody>
      </p:sp>
    </p:spTree>
    <p:extLst>
      <p:ext uri="{BB962C8B-B14F-4D97-AF65-F5344CB8AC3E}">
        <p14:creationId xmlns:p14="http://schemas.microsoft.com/office/powerpoint/2010/main" val="1683545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803946" y="688977"/>
            <a:ext cx="695996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20000"/>
              </a:spcBef>
              <a:buFontTx/>
              <a:buChar char="•"/>
            </a:pPr>
            <a:r>
              <a:rPr lang="zh-CN" altLang="zh-CN" sz="2000" dirty="0"/>
              <a:t>例</a:t>
            </a:r>
            <a:r>
              <a:rPr lang="en-US" altLang="zh-CN" sz="2000" dirty="0"/>
              <a:t>1</a:t>
            </a:r>
            <a:r>
              <a:rPr lang="zh-CN" altLang="zh-CN" sz="2000" dirty="0"/>
              <a:t>：</a:t>
            </a:r>
          </a:p>
          <a:p>
            <a:pPr lvl="1">
              <a:spcBef>
                <a:spcPct val="20000"/>
              </a:spcBef>
            </a:pPr>
            <a:r>
              <a:rPr lang="zh-CN" altLang="zh-CN" sz="2000" dirty="0"/>
              <a:t>明文</a:t>
            </a:r>
            <a:r>
              <a:rPr lang="en-US" altLang="zh-CN" sz="2000" dirty="0"/>
              <a:t>(</a:t>
            </a:r>
            <a:r>
              <a:rPr lang="zh-CN" altLang="en-US" sz="2000" dirty="0"/>
              <a:t>未知</a:t>
            </a:r>
            <a:r>
              <a:rPr lang="en-US" altLang="zh-CN" sz="2000" dirty="0"/>
              <a:t>)</a:t>
            </a:r>
            <a:r>
              <a:rPr lang="zh-CN" altLang="zh-CN" sz="2000" dirty="0"/>
              <a:t>：EXECUTE  THESE  COMMANDS</a:t>
            </a:r>
          </a:p>
          <a:p>
            <a:pPr lvl="1">
              <a:spcBef>
                <a:spcPct val="20000"/>
              </a:spcBef>
            </a:pPr>
            <a:r>
              <a:rPr lang="zh-CN" altLang="zh-CN" sz="2000" dirty="0"/>
              <a:t>密钥</a:t>
            </a:r>
            <a:r>
              <a:rPr lang="en-US" altLang="zh-CN" sz="2000" dirty="0"/>
              <a:t>(</a:t>
            </a:r>
            <a:r>
              <a:rPr lang="zh-CN" altLang="en-US" sz="2000" dirty="0"/>
              <a:t>未知</a:t>
            </a:r>
            <a:r>
              <a:rPr lang="en-US" altLang="zh-CN" sz="2000" dirty="0"/>
              <a:t>) </a:t>
            </a:r>
            <a:r>
              <a:rPr lang="zh-CN" altLang="zh-CN" sz="2000" dirty="0"/>
              <a:t>：RADIORA  DIORA  DIORADIO</a:t>
            </a:r>
          </a:p>
          <a:p>
            <a:pPr lvl="1">
              <a:spcBef>
                <a:spcPct val="20000"/>
              </a:spcBef>
            </a:pPr>
            <a:r>
              <a:rPr lang="zh-CN" altLang="zh-CN" sz="2000" dirty="0"/>
              <a:t>密文：VXHKIKE  WPSJE  FWADAQLG</a:t>
            </a:r>
            <a:r>
              <a:rPr lang="zh-CN" altLang="zh-CN" sz="2800" dirty="0"/>
              <a:t> </a:t>
            </a:r>
          </a:p>
        </p:txBody>
      </p:sp>
      <p:sp>
        <p:nvSpPr>
          <p:cNvPr id="60420" name="Text Box 4"/>
          <p:cNvSpPr txBox="1">
            <a:spLocks noChangeArrowheads="1"/>
          </p:cNvSpPr>
          <p:nvPr/>
        </p:nvSpPr>
        <p:spPr bwMode="auto">
          <a:xfrm>
            <a:off x="7908072" y="1015083"/>
            <a:ext cx="2879725" cy="730250"/>
          </a:xfrm>
          <a:prstGeom prst="rect">
            <a:avLst/>
          </a:prstGeom>
          <a:solidFill>
            <a:srgbClr val="CCFFFF"/>
          </a:solidFill>
          <a:ln w="28575">
            <a:solidFill>
              <a:srgbClr val="FF6600"/>
            </a:solidFill>
            <a:miter lim="800000"/>
            <a:headEnd/>
            <a:tailEnd/>
          </a:ln>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spcBef>
                <a:spcPct val="50000"/>
              </a:spcBef>
            </a:pPr>
            <a:r>
              <a:rPr lang="zh-CN" altLang="zh-CN" sz="2000" dirty="0"/>
              <a:t>经过Kasiski分析、CI测试，确定</a:t>
            </a:r>
            <a:r>
              <a:rPr lang="zh-CN" altLang="zh-CN" sz="2000" dirty="0">
                <a:solidFill>
                  <a:srgbClr val="0000FF"/>
                </a:solidFill>
              </a:rPr>
              <a:t>密钥长度为5</a:t>
            </a:r>
            <a:r>
              <a:rPr lang="zh-CN" altLang="zh-CN" sz="2000" dirty="0"/>
              <a:t>。</a:t>
            </a:r>
          </a:p>
        </p:txBody>
      </p:sp>
      <p:sp>
        <p:nvSpPr>
          <p:cNvPr id="7173" name="Text Box 5"/>
          <p:cNvSpPr txBox="1">
            <a:spLocks noChangeArrowheads="1"/>
          </p:cNvSpPr>
          <p:nvPr/>
        </p:nvSpPr>
        <p:spPr bwMode="auto">
          <a:xfrm>
            <a:off x="1879601" y="2565401"/>
            <a:ext cx="1655763" cy="1643063"/>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50000"/>
              </a:spcBef>
            </a:pPr>
            <a:r>
              <a:rPr lang="zh-CN" altLang="zh-CN" dirty="0"/>
              <a:t>V  X  H  K  </a:t>
            </a:r>
            <a:r>
              <a:rPr lang="en-US" altLang="zh-CN" dirty="0"/>
              <a:t> </a:t>
            </a:r>
            <a:r>
              <a:rPr lang="zh-CN" altLang="zh-CN" dirty="0"/>
              <a:t>I</a:t>
            </a:r>
          </a:p>
          <a:p>
            <a:pPr>
              <a:spcBef>
                <a:spcPct val="50000"/>
              </a:spcBef>
            </a:pPr>
            <a:r>
              <a:rPr lang="zh-CN" altLang="zh-CN" dirty="0"/>
              <a:t>K  E  W  P  S</a:t>
            </a:r>
          </a:p>
          <a:p>
            <a:pPr>
              <a:spcBef>
                <a:spcPct val="50000"/>
              </a:spcBef>
            </a:pPr>
            <a:r>
              <a:rPr lang="zh-CN" altLang="zh-CN" dirty="0"/>
              <a:t>J  </a:t>
            </a:r>
            <a:r>
              <a:rPr lang="en-US" altLang="zh-CN" dirty="0"/>
              <a:t> </a:t>
            </a:r>
            <a:r>
              <a:rPr lang="zh-CN" altLang="zh-CN" dirty="0"/>
              <a:t>E  F  W  A</a:t>
            </a:r>
          </a:p>
          <a:p>
            <a:pPr>
              <a:spcBef>
                <a:spcPct val="50000"/>
              </a:spcBef>
            </a:pPr>
            <a:r>
              <a:rPr lang="zh-CN" altLang="zh-CN" dirty="0"/>
              <a:t>D  A  Q  L  G</a:t>
            </a:r>
          </a:p>
        </p:txBody>
      </p:sp>
      <p:sp>
        <p:nvSpPr>
          <p:cNvPr id="7174" name="Oval 6"/>
          <p:cNvSpPr>
            <a:spLocks noChangeArrowheads="1"/>
          </p:cNvSpPr>
          <p:nvPr/>
        </p:nvSpPr>
        <p:spPr bwMode="auto">
          <a:xfrm>
            <a:off x="1841501" y="2349501"/>
            <a:ext cx="360363" cy="2087563"/>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sp>
        <p:nvSpPr>
          <p:cNvPr id="7175" name="Oval 7"/>
          <p:cNvSpPr>
            <a:spLocks noChangeArrowheads="1"/>
          </p:cNvSpPr>
          <p:nvPr/>
        </p:nvSpPr>
        <p:spPr bwMode="auto">
          <a:xfrm>
            <a:off x="2124076" y="2354263"/>
            <a:ext cx="360363" cy="2087562"/>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sp>
        <p:nvSpPr>
          <p:cNvPr id="7176" name="Oval 8"/>
          <p:cNvSpPr>
            <a:spLocks noChangeArrowheads="1"/>
          </p:cNvSpPr>
          <p:nvPr/>
        </p:nvSpPr>
        <p:spPr bwMode="auto">
          <a:xfrm>
            <a:off x="2446338" y="2349501"/>
            <a:ext cx="360362" cy="2087563"/>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sp>
        <p:nvSpPr>
          <p:cNvPr id="7177" name="Oval 9"/>
          <p:cNvSpPr>
            <a:spLocks noChangeArrowheads="1"/>
          </p:cNvSpPr>
          <p:nvPr/>
        </p:nvSpPr>
        <p:spPr bwMode="auto">
          <a:xfrm>
            <a:off x="2722563" y="2349501"/>
            <a:ext cx="360362" cy="2087563"/>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sp>
        <p:nvSpPr>
          <p:cNvPr id="7178" name="Oval 10"/>
          <p:cNvSpPr>
            <a:spLocks noChangeArrowheads="1"/>
          </p:cNvSpPr>
          <p:nvPr/>
        </p:nvSpPr>
        <p:spPr bwMode="auto">
          <a:xfrm>
            <a:off x="3021013" y="2349501"/>
            <a:ext cx="360362" cy="2087563"/>
          </a:xfrm>
          <a:prstGeom prst="ellipse">
            <a:avLst/>
          </a:pr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sp>
        <p:nvSpPr>
          <p:cNvPr id="7179" name="Text Box 11"/>
          <p:cNvSpPr txBox="1">
            <a:spLocks noChangeArrowheads="1"/>
          </p:cNvSpPr>
          <p:nvPr/>
        </p:nvSpPr>
        <p:spPr bwMode="auto">
          <a:xfrm>
            <a:off x="4079876" y="2349500"/>
            <a:ext cx="6264275"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rgbClr val="000000"/>
                </a:solidFill>
                <a:latin typeface="Arial" panose="020B0604020202020204" pitchFamily="34" charset="0"/>
                <a:ea typeface="宋体" panose="02010600030101010101" pitchFamily="2" charset="-122"/>
              </a:defRPr>
            </a:lvl1pPr>
            <a:lvl2pPr>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lvl="1"/>
            <a:r>
              <a:rPr lang="zh-CN" altLang="zh-CN" sz="2400">
                <a:solidFill>
                  <a:schemeClr val="tx2"/>
                </a:solidFill>
              </a:rPr>
              <a:t>-Chi 测试 </a:t>
            </a:r>
            <a:r>
              <a:rPr lang="en-US" altLang="zh-CN" sz="1600">
                <a:solidFill>
                  <a:schemeClr val="tx2"/>
                </a:solidFill>
              </a:rPr>
              <a:t>(</a:t>
            </a:r>
            <a:r>
              <a:rPr lang="zh-CN" altLang="en-US" sz="1600" b="0"/>
              <a:t>卡方检验是用途非常广的一种假设检验方法</a:t>
            </a:r>
            <a:r>
              <a:rPr lang="en-US" altLang="zh-CN" sz="1600">
                <a:solidFill>
                  <a:schemeClr val="tx2"/>
                </a:solidFill>
              </a:rPr>
              <a:t>)</a:t>
            </a:r>
            <a:endParaRPr lang="zh-CN" altLang="zh-CN" sz="1600">
              <a:solidFill>
                <a:schemeClr val="tx2"/>
              </a:solidFill>
            </a:endParaRPr>
          </a:p>
          <a:p>
            <a:pPr lvl="1"/>
            <a:endParaRPr lang="zh-CN" altLang="zh-CN" sz="2400">
              <a:solidFill>
                <a:schemeClr val="tx2"/>
              </a:solidFill>
            </a:endParaRPr>
          </a:p>
          <a:p>
            <a:pPr lvl="1">
              <a:buFontTx/>
              <a:buChar char="•"/>
            </a:pPr>
            <a:endParaRPr lang="zh-CN" altLang="zh-CN" sz="2400"/>
          </a:p>
          <a:p>
            <a:pPr lvl="1">
              <a:buFontTx/>
              <a:buChar char="•"/>
            </a:pPr>
            <a:endParaRPr lang="zh-CN" altLang="zh-CN" sz="2400"/>
          </a:p>
          <a:p>
            <a:pPr lvl="1">
              <a:buFontTx/>
              <a:buChar char="•"/>
            </a:pPr>
            <a:endParaRPr lang="zh-CN" altLang="zh-CN" sz="2400"/>
          </a:p>
          <a:p>
            <a:pPr lvl="1">
              <a:buFontTx/>
              <a:buChar char="•"/>
            </a:pPr>
            <a:r>
              <a:rPr lang="zh-CN" altLang="zh-CN" sz="2400"/>
              <a:t> 当两个频率分布类似时，X值相对要高。</a:t>
            </a:r>
          </a:p>
          <a:p>
            <a:pPr lvl="1">
              <a:buFontTx/>
              <a:buChar char="•"/>
            </a:pPr>
            <a:endParaRPr lang="zh-CN" altLang="zh-CN" sz="2400"/>
          </a:p>
          <a:p>
            <a:pPr lvl="1">
              <a:buFontTx/>
              <a:buChar char="•"/>
            </a:pPr>
            <a:r>
              <a:rPr lang="zh-CN" altLang="zh-CN" sz="2400"/>
              <a:t>  比较两个频率分布 ，决定是否同样或不同的代换被采用 。</a:t>
            </a:r>
          </a:p>
          <a:p>
            <a:pPr lvl="1">
              <a:buFontTx/>
              <a:buChar char="•"/>
            </a:pPr>
            <a:r>
              <a:rPr lang="zh-CN" altLang="zh-CN" sz="2400"/>
              <a:t>  简化多表代换为单表代换。</a:t>
            </a:r>
          </a:p>
        </p:txBody>
      </p:sp>
      <p:graphicFrame>
        <p:nvGraphicFramePr>
          <p:cNvPr id="7180" name="Object 12"/>
          <p:cNvGraphicFramePr>
            <a:graphicFrameLocks noChangeAspect="1"/>
          </p:cNvGraphicFramePr>
          <p:nvPr/>
        </p:nvGraphicFramePr>
        <p:xfrm>
          <a:off x="4727575" y="2924176"/>
          <a:ext cx="1284288" cy="720725"/>
        </p:xfrm>
        <a:graphic>
          <a:graphicData uri="http://schemas.openxmlformats.org/presentationml/2006/ole">
            <mc:AlternateContent xmlns:mc="http://schemas.openxmlformats.org/markup-compatibility/2006">
              <mc:Choice xmlns:v="urn:schemas-microsoft-com:vml" Requires="v">
                <p:oleObj r:id="rId2" imgW="761669" imgH="431613" progId="Equation.3">
                  <p:embed/>
                </p:oleObj>
              </mc:Choice>
              <mc:Fallback>
                <p:oleObj r:id="rId2" imgW="761669" imgH="431613" progId="Equation.3">
                  <p:embed/>
                  <p:pic>
                    <p:nvPicPr>
                      <p:cNvPr id="718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575" y="2924176"/>
                        <a:ext cx="12842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1" name="Text Box 13"/>
          <p:cNvSpPr txBox="1">
            <a:spLocks noChangeArrowheads="1"/>
          </p:cNvSpPr>
          <p:nvPr/>
        </p:nvSpPr>
        <p:spPr bwMode="auto">
          <a:xfrm>
            <a:off x="6096000" y="2932114"/>
            <a:ext cx="4032250" cy="784225"/>
          </a:xfrm>
          <a:prstGeom prst="rect">
            <a:avLst/>
          </a:prstGeom>
          <a:noFill/>
          <a:ln w="19050">
            <a:solidFill>
              <a:srgbClr val="6666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spcBef>
                <a:spcPct val="50000"/>
              </a:spcBef>
            </a:pPr>
            <a:r>
              <a:rPr lang="zh-CN" altLang="zh-CN"/>
              <a:t>P</a:t>
            </a:r>
            <a:r>
              <a:rPr lang="zh-CN" altLang="zh-CN" baseline="-25000"/>
              <a:t>i</a:t>
            </a:r>
            <a:r>
              <a:rPr lang="zh-CN" altLang="zh-CN"/>
              <a:t>：符号i在第一个分布中发生的概率</a:t>
            </a:r>
          </a:p>
          <a:p>
            <a:pPr algn="ctr">
              <a:spcBef>
                <a:spcPct val="50000"/>
              </a:spcBef>
            </a:pPr>
            <a:r>
              <a:rPr lang="zh-CN" altLang="zh-CN"/>
              <a:t>q</a:t>
            </a:r>
            <a:r>
              <a:rPr lang="zh-CN" altLang="zh-CN" baseline="-25000"/>
              <a:t>i</a:t>
            </a:r>
            <a:r>
              <a:rPr lang="zh-CN" altLang="zh-CN"/>
              <a:t>：符号i在第二个分布中发生的概率</a:t>
            </a:r>
          </a:p>
        </p:txBody>
      </p:sp>
    </p:spTree>
    <p:extLst>
      <p:ext uri="{BB962C8B-B14F-4D97-AF65-F5344CB8AC3E}">
        <p14:creationId xmlns:p14="http://schemas.microsoft.com/office/powerpoint/2010/main" val="2781285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blinds(horizontal)">
                                      <p:cBhvr>
                                        <p:cTn id="7" dur="500"/>
                                        <p:tgtEl>
                                          <p:spTgt spid="7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4"/>
                                        </p:tgtEl>
                                        <p:attrNameLst>
                                          <p:attrName>style.visibility</p:attrName>
                                        </p:attrNameLst>
                                      </p:cBhvr>
                                      <p:to>
                                        <p:strVal val="visible"/>
                                      </p:to>
                                    </p:set>
                                    <p:animEffect transition="in" filter="blinds(horizontal)">
                                      <p:cBhvr>
                                        <p:cTn id="12" dur="500"/>
                                        <p:tgtEl>
                                          <p:spTgt spid="7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5"/>
                                        </p:tgtEl>
                                        <p:attrNameLst>
                                          <p:attrName>style.visibility</p:attrName>
                                        </p:attrNameLst>
                                      </p:cBhvr>
                                      <p:to>
                                        <p:strVal val="visible"/>
                                      </p:to>
                                    </p:set>
                                    <p:animEffect transition="in" filter="blinds(horizontal)">
                                      <p:cBhvr>
                                        <p:cTn id="17" dur="500"/>
                                        <p:tgtEl>
                                          <p:spTgt spid="7175"/>
                                        </p:tgtEl>
                                      </p:cBhvr>
                                    </p:animEffect>
                                  </p:childTnLst>
                                </p:cTn>
                              </p:par>
                              <p:par>
                                <p:cTn id="18" presetID="3" presetClass="exit" presetSubtype="10" fill="hold" grpId="1" nodeType="withEffect">
                                  <p:stCondLst>
                                    <p:cond delay="0"/>
                                  </p:stCondLst>
                                  <p:childTnLst>
                                    <p:animEffect transition="out" filter="blinds(horizontal)">
                                      <p:cBhvr>
                                        <p:cTn id="19" dur="500"/>
                                        <p:tgtEl>
                                          <p:spTgt spid="7174"/>
                                        </p:tgtEl>
                                      </p:cBhvr>
                                    </p:animEffect>
                                    <p:set>
                                      <p:cBhvr>
                                        <p:cTn id="20" dur="1" fill="hold">
                                          <p:stCondLst>
                                            <p:cond delay="499"/>
                                          </p:stCondLst>
                                        </p:cTn>
                                        <p:tgtEl>
                                          <p:spTgt spid="7174"/>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xit" presetSubtype="10" fill="hold" grpId="1" nodeType="clickEffect">
                                  <p:stCondLst>
                                    <p:cond delay="0"/>
                                  </p:stCondLst>
                                  <p:childTnLst>
                                    <p:animEffect transition="out" filter="blinds(horizontal)">
                                      <p:cBhvr>
                                        <p:cTn id="24" dur="500"/>
                                        <p:tgtEl>
                                          <p:spTgt spid="7175"/>
                                        </p:tgtEl>
                                      </p:cBhvr>
                                    </p:animEffect>
                                    <p:set>
                                      <p:cBhvr>
                                        <p:cTn id="25" dur="1" fill="hold">
                                          <p:stCondLst>
                                            <p:cond delay="499"/>
                                          </p:stCondLst>
                                        </p:cTn>
                                        <p:tgtEl>
                                          <p:spTgt spid="7175"/>
                                        </p:tgtEl>
                                        <p:attrNameLst>
                                          <p:attrName>style.visibility</p:attrName>
                                        </p:attrNameLst>
                                      </p:cBhvr>
                                      <p:to>
                                        <p:strVal val="hidden"/>
                                      </p:to>
                                    </p:set>
                                  </p:childTnLst>
                                </p:cTn>
                              </p:par>
                            </p:childTnLst>
                          </p:cTn>
                        </p:par>
                        <p:par>
                          <p:cTn id="26" fill="hold" nodeType="afterGroup">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7176"/>
                                        </p:tgtEl>
                                        <p:attrNameLst>
                                          <p:attrName>style.visibility</p:attrName>
                                        </p:attrNameLst>
                                      </p:cBhvr>
                                      <p:to>
                                        <p:strVal val="visible"/>
                                      </p:to>
                                    </p:set>
                                    <p:animEffect transition="in" filter="blinds(horizontal)">
                                      <p:cBhvr>
                                        <p:cTn id="29" dur="500"/>
                                        <p:tgtEl>
                                          <p:spTgt spid="717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xit" presetSubtype="16" fill="hold" grpId="1" nodeType="clickEffect">
                                  <p:stCondLst>
                                    <p:cond delay="0"/>
                                  </p:stCondLst>
                                  <p:childTnLst>
                                    <p:animEffect transition="out" filter="box(in)">
                                      <p:cBhvr>
                                        <p:cTn id="33" dur="500"/>
                                        <p:tgtEl>
                                          <p:spTgt spid="7176"/>
                                        </p:tgtEl>
                                      </p:cBhvr>
                                    </p:animEffect>
                                    <p:set>
                                      <p:cBhvr>
                                        <p:cTn id="34" dur="1" fill="hold">
                                          <p:stCondLst>
                                            <p:cond delay="499"/>
                                          </p:stCondLst>
                                        </p:cTn>
                                        <p:tgtEl>
                                          <p:spTgt spid="7176"/>
                                        </p:tgtEl>
                                        <p:attrNameLst>
                                          <p:attrName>style.visibility</p:attrName>
                                        </p:attrNameLst>
                                      </p:cBhvr>
                                      <p:to>
                                        <p:strVal val="hidden"/>
                                      </p:to>
                                    </p:set>
                                  </p:childTnLst>
                                </p:cTn>
                              </p:par>
                            </p:childTnLst>
                          </p:cTn>
                        </p:par>
                        <p:par>
                          <p:cTn id="35" fill="hold" nodeType="afterGroup">
                            <p:stCondLst>
                              <p:cond delay="500"/>
                            </p:stCondLst>
                            <p:childTnLst>
                              <p:par>
                                <p:cTn id="36" presetID="3" presetClass="entr" presetSubtype="10" fill="hold" grpId="0" nodeType="afterEffect">
                                  <p:stCondLst>
                                    <p:cond delay="0"/>
                                  </p:stCondLst>
                                  <p:childTnLst>
                                    <p:set>
                                      <p:cBhvr>
                                        <p:cTn id="37" dur="1" fill="hold">
                                          <p:stCondLst>
                                            <p:cond delay="0"/>
                                          </p:stCondLst>
                                        </p:cTn>
                                        <p:tgtEl>
                                          <p:spTgt spid="7177"/>
                                        </p:tgtEl>
                                        <p:attrNameLst>
                                          <p:attrName>style.visibility</p:attrName>
                                        </p:attrNameLst>
                                      </p:cBhvr>
                                      <p:to>
                                        <p:strVal val="visible"/>
                                      </p:to>
                                    </p:set>
                                    <p:animEffect transition="in" filter="blinds(horizontal)">
                                      <p:cBhvr>
                                        <p:cTn id="38" dur="500"/>
                                        <p:tgtEl>
                                          <p:spTgt spid="717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xit" presetSubtype="10" fill="hold" grpId="1" nodeType="clickEffect">
                                  <p:stCondLst>
                                    <p:cond delay="0"/>
                                  </p:stCondLst>
                                  <p:childTnLst>
                                    <p:animEffect transition="out" filter="checkerboard(across)">
                                      <p:cBhvr>
                                        <p:cTn id="42" dur="500"/>
                                        <p:tgtEl>
                                          <p:spTgt spid="7177"/>
                                        </p:tgtEl>
                                      </p:cBhvr>
                                    </p:animEffect>
                                    <p:set>
                                      <p:cBhvr>
                                        <p:cTn id="43" dur="1" fill="hold">
                                          <p:stCondLst>
                                            <p:cond delay="499"/>
                                          </p:stCondLst>
                                        </p:cTn>
                                        <p:tgtEl>
                                          <p:spTgt spid="7177"/>
                                        </p:tgtEl>
                                        <p:attrNameLst>
                                          <p:attrName>style.visibility</p:attrName>
                                        </p:attrNameLst>
                                      </p:cBhvr>
                                      <p:to>
                                        <p:strVal val="hidden"/>
                                      </p:to>
                                    </p:set>
                                  </p:childTnLst>
                                </p:cTn>
                              </p:par>
                            </p:childTnLst>
                          </p:cTn>
                        </p:par>
                        <p:par>
                          <p:cTn id="44" fill="hold" nodeType="afterGroup">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7178"/>
                                        </p:tgtEl>
                                        <p:attrNameLst>
                                          <p:attrName>style.visibility</p:attrName>
                                        </p:attrNameLst>
                                      </p:cBhvr>
                                      <p:to>
                                        <p:strVal val="visible"/>
                                      </p:to>
                                    </p:set>
                                    <p:animEffect transition="in" filter="blinds(horizontal)">
                                      <p:cBhvr>
                                        <p:cTn id="47" dur="500"/>
                                        <p:tgtEl>
                                          <p:spTgt spid="717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79"/>
                                        </p:tgtEl>
                                        <p:attrNameLst>
                                          <p:attrName>style.visibility</p:attrName>
                                        </p:attrNameLst>
                                      </p:cBhvr>
                                      <p:to>
                                        <p:strVal val="visible"/>
                                      </p:to>
                                    </p:set>
                                    <p:animEffect transition="in" filter="blinds(horizontal)">
                                      <p:cBhvr>
                                        <p:cTn id="52" dur="500"/>
                                        <p:tgtEl>
                                          <p:spTgt spid="7179"/>
                                        </p:tgtEl>
                                      </p:cBhvr>
                                    </p:animEffect>
                                  </p:childTnLst>
                                </p:cTn>
                              </p:par>
                              <p:par>
                                <p:cTn id="53" presetID="3" presetClass="entr" presetSubtype="10" fill="hold" nodeType="withEffect">
                                  <p:stCondLst>
                                    <p:cond delay="0"/>
                                  </p:stCondLst>
                                  <p:childTnLst>
                                    <p:set>
                                      <p:cBhvr>
                                        <p:cTn id="54" dur="1" fill="hold">
                                          <p:stCondLst>
                                            <p:cond delay="0"/>
                                          </p:stCondLst>
                                        </p:cTn>
                                        <p:tgtEl>
                                          <p:spTgt spid="7180"/>
                                        </p:tgtEl>
                                        <p:attrNameLst>
                                          <p:attrName>style.visibility</p:attrName>
                                        </p:attrNameLst>
                                      </p:cBhvr>
                                      <p:to>
                                        <p:strVal val="visible"/>
                                      </p:to>
                                    </p:set>
                                    <p:animEffect transition="in" filter="blinds(horizontal)">
                                      <p:cBhvr>
                                        <p:cTn id="55" dur="500"/>
                                        <p:tgtEl>
                                          <p:spTgt spid="7180"/>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7181"/>
                                        </p:tgtEl>
                                        <p:attrNameLst>
                                          <p:attrName>style.visibility</p:attrName>
                                        </p:attrNameLst>
                                      </p:cBhvr>
                                      <p:to>
                                        <p:strVal val="visible"/>
                                      </p:to>
                                    </p:set>
                                    <p:animEffect transition="in" filter="blinds(horizontal)">
                                      <p:cBhvr>
                                        <p:cTn id="58"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nimBg="1" autoUpdateAnimBg="0"/>
      <p:bldP spid="7174" grpId="0" animBg="1"/>
      <p:bldP spid="7174" grpId="1" animBg="1"/>
      <p:bldP spid="7175" grpId="0" animBg="1"/>
      <p:bldP spid="7175" grpId="1" animBg="1"/>
      <p:bldP spid="7176" grpId="0" animBg="1"/>
      <p:bldP spid="7176" grpId="1" animBg="1"/>
      <p:bldP spid="7177" grpId="0" animBg="1"/>
      <p:bldP spid="7177" grpId="1" animBg="1"/>
      <p:bldP spid="7178" grpId="0" animBg="1"/>
      <p:bldP spid="7179" grpId="0" autoUpdateAnimBg="0"/>
      <p:bldP spid="7181" grpId="0" bldLvl="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5" name="Group 3"/>
          <p:cNvGraphicFramePr>
            <a:graphicFrameLocks noGrp="1"/>
          </p:cNvGraphicFramePr>
          <p:nvPr>
            <p:ph sz="half" idx="4294967295"/>
            <p:extLst>
              <p:ext uri="{D42A27DB-BD31-4B8C-83A1-F6EECF244321}">
                <p14:modId xmlns:p14="http://schemas.microsoft.com/office/powerpoint/2010/main" val="1664363317"/>
              </p:ext>
            </p:extLst>
          </p:nvPr>
        </p:nvGraphicFramePr>
        <p:xfrm>
          <a:off x="8472373" y="3741696"/>
          <a:ext cx="2730500" cy="2149476"/>
        </p:xfrm>
        <a:graphic>
          <a:graphicData uri="http://schemas.openxmlformats.org/drawingml/2006/table">
            <a:tbl>
              <a:tblPr/>
              <a:tblGrid>
                <a:gridCol w="546100">
                  <a:extLst>
                    <a:ext uri="{9D8B030D-6E8A-4147-A177-3AD203B41FA5}">
                      <a16:colId xmlns:a16="http://schemas.microsoft.com/office/drawing/2014/main" val="20000"/>
                    </a:ext>
                  </a:extLst>
                </a:gridCol>
                <a:gridCol w="546100">
                  <a:extLst>
                    <a:ext uri="{9D8B030D-6E8A-4147-A177-3AD203B41FA5}">
                      <a16:colId xmlns:a16="http://schemas.microsoft.com/office/drawing/2014/main" val="20001"/>
                    </a:ext>
                  </a:extLst>
                </a:gridCol>
                <a:gridCol w="546100">
                  <a:extLst>
                    <a:ext uri="{9D8B030D-6E8A-4147-A177-3AD203B41FA5}">
                      <a16:colId xmlns:a16="http://schemas.microsoft.com/office/drawing/2014/main" val="20002"/>
                    </a:ext>
                  </a:extLst>
                </a:gridCol>
                <a:gridCol w="546100">
                  <a:extLst>
                    <a:ext uri="{9D8B030D-6E8A-4147-A177-3AD203B41FA5}">
                      <a16:colId xmlns:a16="http://schemas.microsoft.com/office/drawing/2014/main" val="20003"/>
                    </a:ext>
                  </a:extLst>
                </a:gridCol>
                <a:gridCol w="546100">
                  <a:extLst>
                    <a:ext uri="{9D8B030D-6E8A-4147-A177-3AD203B41FA5}">
                      <a16:colId xmlns:a16="http://schemas.microsoft.com/office/drawing/2014/main" val="20004"/>
                    </a:ext>
                  </a:extLst>
                </a:gridCol>
              </a:tblGrid>
              <a:tr h="528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O</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539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J</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V</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539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U</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J</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220" name="Group 28"/>
          <p:cNvGraphicFramePr>
            <a:graphicFrameLocks noGrp="1"/>
          </p:cNvGraphicFramePr>
          <p:nvPr>
            <p:ph sz="half" idx="4294967295"/>
            <p:extLst>
              <p:ext uri="{D42A27DB-BD31-4B8C-83A1-F6EECF244321}">
                <p14:modId xmlns:p14="http://schemas.microsoft.com/office/powerpoint/2010/main" val="97702631"/>
              </p:ext>
            </p:extLst>
          </p:nvPr>
        </p:nvGraphicFramePr>
        <p:xfrm>
          <a:off x="3184733" y="5844886"/>
          <a:ext cx="3384550" cy="648735"/>
        </p:xfrm>
        <a:graphic>
          <a:graphicData uri="http://schemas.openxmlformats.org/drawingml/2006/table">
            <a:tbl>
              <a:tblPr/>
              <a:tblGrid>
                <a:gridCol w="563562">
                  <a:extLst>
                    <a:ext uri="{9D8B030D-6E8A-4147-A177-3AD203B41FA5}">
                      <a16:colId xmlns:a16="http://schemas.microsoft.com/office/drawing/2014/main" val="3658334239"/>
                    </a:ext>
                  </a:extLst>
                </a:gridCol>
                <a:gridCol w="633413">
                  <a:extLst>
                    <a:ext uri="{9D8B030D-6E8A-4147-A177-3AD203B41FA5}">
                      <a16:colId xmlns:a16="http://schemas.microsoft.com/office/drawing/2014/main" val="2031019511"/>
                    </a:ext>
                  </a:extLst>
                </a:gridCol>
                <a:gridCol w="777875">
                  <a:extLst>
                    <a:ext uri="{9D8B030D-6E8A-4147-A177-3AD203B41FA5}">
                      <a16:colId xmlns:a16="http://schemas.microsoft.com/office/drawing/2014/main" val="3845061244"/>
                    </a:ext>
                  </a:extLst>
                </a:gridCol>
                <a:gridCol w="704850">
                  <a:extLst>
                    <a:ext uri="{9D8B030D-6E8A-4147-A177-3AD203B41FA5}">
                      <a16:colId xmlns:a16="http://schemas.microsoft.com/office/drawing/2014/main" val="897482303"/>
                    </a:ext>
                  </a:extLst>
                </a:gridCol>
                <a:gridCol w="704850">
                  <a:extLst>
                    <a:ext uri="{9D8B030D-6E8A-4147-A177-3AD203B41FA5}">
                      <a16:colId xmlns:a16="http://schemas.microsoft.com/office/drawing/2014/main" val="3014207308"/>
                    </a:ext>
                  </a:extLst>
                </a:gridCol>
              </a:tblGrid>
              <a:tr h="648735">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folHlink"/>
                          </a:solidFill>
                          <a:effectLst/>
                          <a:latin typeface="Times New Roman" panose="02020603050405020304" pitchFamily="18" charset="0"/>
                          <a:ea typeface="宋体" panose="02010600030101010101" pitchFamily="2" charset="-122"/>
                          <a:cs typeface="Times New Roman" panose="02020603050405020304" pitchFamily="18" charset="0"/>
                        </a:rPr>
                        <a:t>17</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633962"/>
                  </a:ext>
                </a:extLst>
              </a:tr>
            </a:tbl>
          </a:graphicData>
        </a:graphic>
      </p:graphicFrame>
      <p:graphicFrame>
        <p:nvGraphicFramePr>
          <p:cNvPr id="8246" name="Group 54"/>
          <p:cNvGraphicFramePr>
            <a:graphicFrameLocks noGrp="1"/>
          </p:cNvGraphicFramePr>
          <p:nvPr>
            <p:ph sz="quarter" idx="4294967295"/>
            <p:extLst>
              <p:ext uri="{D42A27DB-BD31-4B8C-83A1-F6EECF244321}">
                <p14:modId xmlns:p14="http://schemas.microsoft.com/office/powerpoint/2010/main" val="2306032977"/>
              </p:ext>
            </p:extLst>
          </p:nvPr>
        </p:nvGraphicFramePr>
        <p:xfrm>
          <a:off x="1288378" y="2531980"/>
          <a:ext cx="3400853" cy="1464664"/>
        </p:xfrm>
        <a:graphic>
          <a:graphicData uri="http://schemas.openxmlformats.org/drawingml/2006/table">
            <a:tbl>
              <a:tblPr/>
              <a:tblGrid>
                <a:gridCol w="657653">
                  <a:extLst>
                    <a:ext uri="{9D8B030D-6E8A-4147-A177-3AD203B41FA5}">
                      <a16:colId xmlns:a16="http://schemas.microsoft.com/office/drawing/2014/main" val="20000"/>
                    </a:ext>
                  </a:extLst>
                </a:gridCol>
                <a:gridCol w="668337">
                  <a:extLst>
                    <a:ext uri="{9D8B030D-6E8A-4147-A177-3AD203B41FA5}">
                      <a16:colId xmlns:a16="http://schemas.microsoft.com/office/drawing/2014/main" val="20001"/>
                    </a:ext>
                  </a:extLst>
                </a:gridCol>
                <a:gridCol w="703263">
                  <a:extLst>
                    <a:ext uri="{9D8B030D-6E8A-4147-A177-3AD203B41FA5}">
                      <a16:colId xmlns:a16="http://schemas.microsoft.com/office/drawing/2014/main" val="20002"/>
                    </a:ext>
                  </a:extLst>
                </a:gridCol>
                <a:gridCol w="703262">
                  <a:extLst>
                    <a:ext uri="{9D8B030D-6E8A-4147-A177-3AD203B41FA5}">
                      <a16:colId xmlns:a16="http://schemas.microsoft.com/office/drawing/2014/main" val="20003"/>
                    </a:ext>
                  </a:extLst>
                </a:gridCol>
                <a:gridCol w="668338">
                  <a:extLst>
                    <a:ext uri="{9D8B030D-6E8A-4147-A177-3AD203B41FA5}">
                      <a16:colId xmlns:a16="http://schemas.microsoft.com/office/drawing/2014/main" val="20004"/>
                    </a:ext>
                  </a:extLst>
                </a:gridCol>
              </a:tblGrid>
              <a:tr h="366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V</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marT="45705" marB="45705"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K</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marT="45705" marB="45705"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marT="45705" marB="45705"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65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K</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P</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66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J</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W</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marT="45705" marB="4570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65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Q</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L</a:t>
                      </a:r>
                      <a:endParaRPr kumimoji="0" lang="zh-CN" altLang="zh-CN" sz="1800" b="0" i="0" u="none" strike="noStrike" cap="none" normalizeH="0" baseline="0">
                        <a:ln>
                          <a:noFill/>
                        </a:ln>
                        <a:solidFill>
                          <a:schemeClr val="tx1"/>
                        </a:solidFill>
                        <a:effectLst/>
                        <a:latin typeface="Arial" pitchFamily="34" charset="0"/>
                        <a:ea typeface="宋体" pitchFamily="2" charset="-122"/>
                      </a:endParaRPr>
                    </a:p>
                  </a:txBody>
                  <a:tcPr marT="45705" marB="45705"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G</a:t>
                      </a:r>
                      <a:endParaRPr kumimoji="0" lang="zh-CN" altLang="zh-CN" sz="1800" b="0" i="0" u="none" strike="noStrike" cap="none" normalizeH="0" baseline="0" dirty="0">
                        <a:ln>
                          <a:noFill/>
                        </a:ln>
                        <a:solidFill>
                          <a:schemeClr val="tx1"/>
                        </a:solidFill>
                        <a:effectLst/>
                        <a:latin typeface="Arial" pitchFamily="34" charset="0"/>
                        <a:ea typeface="宋体" pitchFamily="2" charset="-122"/>
                      </a:endParaRPr>
                    </a:p>
                  </a:txBody>
                  <a:tcPr marT="45705" marB="45705"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277" name="Text Box 85"/>
          <p:cNvSpPr txBox="1">
            <a:spLocks noChangeArrowheads="1"/>
          </p:cNvSpPr>
          <p:nvPr/>
        </p:nvSpPr>
        <p:spPr bwMode="auto">
          <a:xfrm>
            <a:off x="5173662" y="2392844"/>
            <a:ext cx="65974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zh-CN" sz="2000" b="0" dirty="0">
                <a:latin typeface="仿宋_GB2312" pitchFamily="49" charset="-122"/>
                <a:ea typeface="仿宋_GB2312" pitchFamily="49" charset="-122"/>
              </a:rPr>
              <a:t>重复移动某一列字母，直到这一列字母和第一列的X值最大值出现，然后就可以用和第一列同样的方式解密。</a:t>
            </a:r>
          </a:p>
        </p:txBody>
      </p:sp>
      <p:graphicFrame>
        <p:nvGraphicFramePr>
          <p:cNvPr id="8278" name="Object 86"/>
          <p:cNvGraphicFramePr>
            <a:graphicFrameLocks noChangeAspect="1"/>
          </p:cNvGraphicFramePr>
          <p:nvPr>
            <p:extLst>
              <p:ext uri="{D42A27DB-BD31-4B8C-83A1-F6EECF244321}">
                <p14:modId xmlns:p14="http://schemas.microsoft.com/office/powerpoint/2010/main" val="4171289417"/>
              </p:ext>
            </p:extLst>
          </p:nvPr>
        </p:nvGraphicFramePr>
        <p:xfrm>
          <a:off x="5352928" y="3679938"/>
          <a:ext cx="1813902" cy="891382"/>
        </p:xfrm>
        <a:graphic>
          <a:graphicData uri="http://schemas.openxmlformats.org/presentationml/2006/ole">
            <mc:AlternateContent xmlns:mc="http://schemas.openxmlformats.org/markup-compatibility/2006">
              <mc:Choice xmlns:v="urn:schemas-microsoft-com:vml" Requires="v">
                <p:oleObj r:id="rId2" imgW="761669" imgH="431613" progId="Equation.3">
                  <p:embed/>
                </p:oleObj>
              </mc:Choice>
              <mc:Fallback>
                <p:oleObj r:id="rId2" imgW="761669" imgH="431613" progId="Equation.3">
                  <p:embed/>
                  <p:pic>
                    <p:nvPicPr>
                      <p:cNvPr id="8278" name="Object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2928" y="3679938"/>
                        <a:ext cx="1813902" cy="891382"/>
                      </a:xfrm>
                      <a:prstGeom prst="rect">
                        <a:avLst/>
                      </a:prstGeom>
                      <a:noFill/>
                      <a:ln>
                        <a:noFill/>
                      </a:ln>
                      <a:effectLst/>
                    </p:spPr>
                  </p:pic>
                </p:oleObj>
              </mc:Fallback>
            </mc:AlternateContent>
          </a:graphicData>
        </a:graphic>
      </p:graphicFrame>
      <p:sp>
        <p:nvSpPr>
          <p:cNvPr id="2" name="Rectangle 2">
            <a:extLst>
              <a:ext uri="{FF2B5EF4-FFF2-40B4-BE49-F238E27FC236}">
                <a16:creationId xmlns:a16="http://schemas.microsoft.com/office/drawing/2014/main" id="{4796ECCB-7E17-B807-4199-CD8556E26A3E}"/>
              </a:ext>
            </a:extLst>
          </p:cNvPr>
          <p:cNvSpPr>
            <a:spLocks noChangeArrowheads="1"/>
          </p:cNvSpPr>
          <p:nvPr/>
        </p:nvSpPr>
        <p:spPr bwMode="auto">
          <a:xfrm>
            <a:off x="803946" y="688977"/>
            <a:ext cx="695996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20000"/>
              </a:spcBef>
              <a:buFontTx/>
              <a:buChar char="•"/>
            </a:pPr>
            <a:r>
              <a:rPr lang="zh-CN" altLang="zh-CN" sz="2000" dirty="0"/>
              <a:t>例</a:t>
            </a:r>
            <a:r>
              <a:rPr lang="en-US" altLang="zh-CN" sz="2000" dirty="0"/>
              <a:t>1</a:t>
            </a:r>
            <a:r>
              <a:rPr lang="zh-CN" altLang="zh-CN" sz="2000" dirty="0"/>
              <a:t>：</a:t>
            </a:r>
          </a:p>
          <a:p>
            <a:pPr lvl="1">
              <a:spcBef>
                <a:spcPct val="20000"/>
              </a:spcBef>
            </a:pPr>
            <a:r>
              <a:rPr lang="zh-CN" altLang="zh-CN" sz="2000" dirty="0"/>
              <a:t>明文</a:t>
            </a:r>
            <a:r>
              <a:rPr lang="en-US" altLang="zh-CN" sz="2000" dirty="0"/>
              <a:t>(</a:t>
            </a:r>
            <a:r>
              <a:rPr lang="zh-CN" altLang="en-US" sz="2000" dirty="0"/>
              <a:t>未知</a:t>
            </a:r>
            <a:r>
              <a:rPr lang="en-US" altLang="zh-CN" sz="2000" dirty="0"/>
              <a:t>)</a:t>
            </a:r>
            <a:r>
              <a:rPr lang="zh-CN" altLang="zh-CN" sz="2000" dirty="0"/>
              <a:t>：EXECUTE  THESE  COMMANDS</a:t>
            </a:r>
          </a:p>
          <a:p>
            <a:pPr lvl="1">
              <a:spcBef>
                <a:spcPct val="20000"/>
              </a:spcBef>
            </a:pPr>
            <a:r>
              <a:rPr lang="zh-CN" altLang="zh-CN" sz="2000" dirty="0"/>
              <a:t>密钥</a:t>
            </a:r>
            <a:r>
              <a:rPr lang="en-US" altLang="zh-CN" sz="2000" dirty="0"/>
              <a:t>(</a:t>
            </a:r>
            <a:r>
              <a:rPr lang="zh-CN" altLang="en-US" sz="2000" dirty="0"/>
              <a:t>未知</a:t>
            </a:r>
            <a:r>
              <a:rPr lang="en-US" altLang="zh-CN" sz="2000" dirty="0"/>
              <a:t>) </a:t>
            </a:r>
            <a:r>
              <a:rPr lang="zh-CN" altLang="zh-CN" sz="2000" dirty="0"/>
              <a:t>：RADIORA  DIORA  DIORADIO</a:t>
            </a:r>
          </a:p>
          <a:p>
            <a:pPr lvl="1">
              <a:spcBef>
                <a:spcPct val="20000"/>
              </a:spcBef>
            </a:pPr>
            <a:r>
              <a:rPr lang="zh-CN" altLang="zh-CN" sz="2000" dirty="0"/>
              <a:t>密文：VXHKIKE  WPSJE  FWADAQLG</a:t>
            </a:r>
            <a:r>
              <a:rPr lang="zh-CN" altLang="zh-CN" sz="2800" dirty="0"/>
              <a:t> </a:t>
            </a:r>
          </a:p>
        </p:txBody>
      </p:sp>
      <p:graphicFrame>
        <p:nvGraphicFramePr>
          <p:cNvPr id="3" name="表格 2">
            <a:extLst>
              <a:ext uri="{FF2B5EF4-FFF2-40B4-BE49-F238E27FC236}">
                <a16:creationId xmlns:a16="http://schemas.microsoft.com/office/drawing/2014/main" id="{D1A15C21-1691-5AB2-251B-8880D747EDC9}"/>
              </a:ext>
            </a:extLst>
          </p:cNvPr>
          <p:cNvGraphicFramePr>
            <a:graphicFrameLocks noGrp="1"/>
          </p:cNvGraphicFramePr>
          <p:nvPr>
            <p:extLst>
              <p:ext uri="{D42A27DB-BD31-4B8C-83A1-F6EECF244321}">
                <p14:modId xmlns:p14="http://schemas.microsoft.com/office/powerpoint/2010/main" val="2355126787"/>
              </p:ext>
            </p:extLst>
          </p:nvPr>
        </p:nvGraphicFramePr>
        <p:xfrm>
          <a:off x="8145348" y="3261368"/>
          <a:ext cx="3384550" cy="365680"/>
        </p:xfrm>
        <a:graphic>
          <a:graphicData uri="http://schemas.openxmlformats.org/drawingml/2006/table">
            <a:tbl>
              <a:tblPr/>
              <a:tblGrid>
                <a:gridCol w="563562">
                  <a:extLst>
                    <a:ext uri="{9D8B030D-6E8A-4147-A177-3AD203B41FA5}">
                      <a16:colId xmlns:a16="http://schemas.microsoft.com/office/drawing/2014/main" val="1524853822"/>
                    </a:ext>
                  </a:extLst>
                </a:gridCol>
                <a:gridCol w="633413">
                  <a:extLst>
                    <a:ext uri="{9D8B030D-6E8A-4147-A177-3AD203B41FA5}">
                      <a16:colId xmlns:a16="http://schemas.microsoft.com/office/drawing/2014/main" val="1069241202"/>
                    </a:ext>
                  </a:extLst>
                </a:gridCol>
                <a:gridCol w="777875">
                  <a:extLst>
                    <a:ext uri="{9D8B030D-6E8A-4147-A177-3AD203B41FA5}">
                      <a16:colId xmlns:a16="http://schemas.microsoft.com/office/drawing/2014/main" val="393839758"/>
                    </a:ext>
                  </a:extLst>
                </a:gridCol>
                <a:gridCol w="704850">
                  <a:extLst>
                    <a:ext uri="{9D8B030D-6E8A-4147-A177-3AD203B41FA5}">
                      <a16:colId xmlns:a16="http://schemas.microsoft.com/office/drawing/2014/main" val="289117919"/>
                    </a:ext>
                  </a:extLst>
                </a:gridCol>
                <a:gridCol w="704850">
                  <a:extLst>
                    <a:ext uri="{9D8B030D-6E8A-4147-A177-3AD203B41FA5}">
                      <a16:colId xmlns:a16="http://schemas.microsoft.com/office/drawing/2014/main" val="996526796"/>
                    </a:ext>
                  </a:extLst>
                </a:gridCol>
              </a:tblGrid>
              <a:tr h="365677">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just">
                        <a:lnSpc>
                          <a:spcPct val="120000"/>
                        </a:lnSpc>
                        <a:spcBef>
                          <a:spcPct val="20000"/>
                        </a:spcBef>
                        <a:buClr>
                          <a:schemeClr val="accent2"/>
                        </a:buClr>
                        <a:buSzPct val="55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1pPr>
                      <a:lvl2pPr marL="742950" indent="-28575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2pPr>
                      <a:lvl3pPr marL="1143000" indent="-228600" algn="just">
                        <a:lnSpc>
                          <a:spcPct val="120000"/>
                        </a:lnSpc>
                        <a:spcBef>
                          <a:spcPct val="20000"/>
                        </a:spcBef>
                        <a:buClr>
                          <a:schemeClr val="accent2"/>
                        </a:buClr>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3pPr>
                      <a:lvl4pPr marL="16002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4pPr>
                      <a:lvl5pPr marL="2057400" indent="-228600" algn="l">
                        <a:spcBef>
                          <a:spcPct val="20000"/>
                        </a:spcBef>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80" marB="45680"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836250804"/>
                  </a:ext>
                </a:extLst>
              </a:tr>
            </a:tbl>
          </a:graphicData>
        </a:graphic>
      </p:graphicFrame>
      <p:sp>
        <p:nvSpPr>
          <p:cNvPr id="4" name="箭头: 右 3">
            <a:extLst>
              <a:ext uri="{FF2B5EF4-FFF2-40B4-BE49-F238E27FC236}">
                <a16:creationId xmlns:a16="http://schemas.microsoft.com/office/drawing/2014/main" id="{99766BCB-25F5-4B5C-B49E-27338E78B7B7}"/>
              </a:ext>
            </a:extLst>
          </p:cNvPr>
          <p:cNvSpPr/>
          <p:nvPr/>
        </p:nvSpPr>
        <p:spPr>
          <a:xfrm rot="919550">
            <a:off x="4946528" y="3587332"/>
            <a:ext cx="3268548" cy="328270"/>
          </a:xfrm>
          <a:prstGeom prst="rightArrow">
            <a:avLst>
              <a:gd name="adj1" fmla="val 50000"/>
              <a:gd name="adj2" fmla="val 1979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1FF05236-89EA-6906-9E10-AD2122E34812}"/>
              </a:ext>
            </a:extLst>
          </p:cNvPr>
          <p:cNvSpPr txBox="1"/>
          <p:nvPr/>
        </p:nvSpPr>
        <p:spPr>
          <a:xfrm>
            <a:off x="6259879" y="4997415"/>
            <a:ext cx="1813901" cy="369332"/>
          </a:xfrm>
          <a:prstGeom prst="rect">
            <a:avLst/>
          </a:prstGeom>
          <a:noFill/>
        </p:spPr>
        <p:txBody>
          <a:bodyPr wrap="square" rtlCol="0">
            <a:spAutoFit/>
          </a:bodyPr>
          <a:lstStyle/>
          <a:p>
            <a:r>
              <a:rPr lang="zh-CN" altLang="en-US" dirty="0"/>
              <a:t>假设第一列为</a:t>
            </a:r>
            <a:r>
              <a:rPr lang="en-US" altLang="zh-CN" dirty="0"/>
              <a:t>R</a:t>
            </a:r>
            <a:endParaRPr lang="zh-CN" altLang="en-US" dirty="0"/>
          </a:p>
        </p:txBody>
      </p:sp>
      <p:sp>
        <p:nvSpPr>
          <p:cNvPr id="6" name="箭头: 右 5">
            <a:extLst>
              <a:ext uri="{FF2B5EF4-FFF2-40B4-BE49-F238E27FC236}">
                <a16:creationId xmlns:a16="http://schemas.microsoft.com/office/drawing/2014/main" id="{1F7EF7F6-D928-5613-8A79-10DAB276262E}"/>
              </a:ext>
            </a:extLst>
          </p:cNvPr>
          <p:cNvSpPr/>
          <p:nvPr/>
        </p:nvSpPr>
        <p:spPr>
          <a:xfrm rot="9958656">
            <a:off x="6583567" y="5422063"/>
            <a:ext cx="1710589" cy="328270"/>
          </a:xfrm>
          <a:prstGeom prst="rightArrow">
            <a:avLst>
              <a:gd name="adj1" fmla="val 50000"/>
              <a:gd name="adj2" fmla="val 1135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9D540F5-9270-9BD8-F5D2-A9A9516F285C}"/>
              </a:ext>
            </a:extLst>
          </p:cNvPr>
          <p:cNvSpPr txBox="1"/>
          <p:nvPr/>
        </p:nvSpPr>
        <p:spPr>
          <a:xfrm>
            <a:off x="1569732" y="4585703"/>
            <a:ext cx="4554131" cy="369332"/>
          </a:xfrm>
          <a:prstGeom prst="rect">
            <a:avLst/>
          </a:prstGeom>
          <a:noFill/>
        </p:spPr>
        <p:txBody>
          <a:bodyPr wrap="square">
            <a:spAutoFit/>
          </a:bodyPr>
          <a:lstStyle/>
          <a:p>
            <a:pPr lvl="1">
              <a:spcBef>
                <a:spcPct val="20000"/>
              </a:spcBef>
            </a:pPr>
            <a:r>
              <a:rPr lang="zh-CN" altLang="en-US" sz="1800" b="1" dirty="0"/>
              <a:t>合理：</a:t>
            </a:r>
            <a:r>
              <a:rPr lang="zh-CN" altLang="zh-CN" sz="1800" b="1" dirty="0"/>
              <a:t>EXECUTE  THESE  COMMANDS</a:t>
            </a:r>
          </a:p>
        </p:txBody>
      </p:sp>
      <p:sp>
        <p:nvSpPr>
          <p:cNvPr id="9" name="箭头: 右 8">
            <a:extLst>
              <a:ext uri="{FF2B5EF4-FFF2-40B4-BE49-F238E27FC236}">
                <a16:creationId xmlns:a16="http://schemas.microsoft.com/office/drawing/2014/main" id="{CBD0839C-C78B-DDEE-87AE-E805373B6283}"/>
              </a:ext>
            </a:extLst>
          </p:cNvPr>
          <p:cNvSpPr/>
          <p:nvPr/>
        </p:nvSpPr>
        <p:spPr>
          <a:xfrm rot="16200000">
            <a:off x="3790355" y="5181125"/>
            <a:ext cx="658874" cy="328272"/>
          </a:xfrm>
          <a:prstGeom prst="rightArrow">
            <a:avLst>
              <a:gd name="adj1" fmla="val 50000"/>
              <a:gd name="adj2" fmla="val 9031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076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77"/>
                                        </p:tgtEl>
                                        <p:attrNameLst>
                                          <p:attrName>style.visibility</p:attrName>
                                        </p:attrNameLst>
                                      </p:cBhvr>
                                      <p:to>
                                        <p:strVal val="visible"/>
                                      </p:to>
                                    </p:set>
                                    <p:animEffect transition="in" filter="blinds(horizontal)">
                                      <p:cBhvr>
                                        <p:cTn id="7" dur="500"/>
                                        <p:tgtEl>
                                          <p:spTgt spid="8277"/>
                                        </p:tgtEl>
                                      </p:cBhvr>
                                    </p:animEffect>
                                  </p:childTnLst>
                                </p:cTn>
                              </p:par>
                              <p:par>
                                <p:cTn id="8" presetID="3" presetClass="entr" presetSubtype="10" fill="hold" nodeType="withEffect">
                                  <p:stCondLst>
                                    <p:cond delay="0"/>
                                  </p:stCondLst>
                                  <p:childTnLst>
                                    <p:set>
                                      <p:cBhvr>
                                        <p:cTn id="9" dur="1" fill="hold">
                                          <p:stCondLst>
                                            <p:cond delay="0"/>
                                          </p:stCondLst>
                                        </p:cTn>
                                        <p:tgtEl>
                                          <p:spTgt spid="8278"/>
                                        </p:tgtEl>
                                        <p:attrNameLst>
                                          <p:attrName>style.visibility</p:attrName>
                                        </p:attrNameLst>
                                      </p:cBhvr>
                                      <p:to>
                                        <p:strVal val="visible"/>
                                      </p:to>
                                    </p:set>
                                    <p:animEffect transition="in" filter="blinds(horizontal)">
                                      <p:cBhvr>
                                        <p:cTn id="10" dur="500"/>
                                        <p:tgtEl>
                                          <p:spTgt spid="82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220"/>
                                        </p:tgtEl>
                                        <p:attrNameLst>
                                          <p:attrName>style.visibility</p:attrName>
                                        </p:attrNameLst>
                                      </p:cBhvr>
                                      <p:to>
                                        <p:strVal val="visible"/>
                                      </p:to>
                                    </p:set>
                                    <p:animEffect transition="in" filter="blinds(horizontal)">
                                      <p:cBhvr>
                                        <p:cTn id="15" dur="500"/>
                                        <p:tgtEl>
                                          <p:spTgt spid="822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195"/>
                                        </p:tgtEl>
                                        <p:attrNameLst>
                                          <p:attrName>style.visibility</p:attrName>
                                        </p:attrNameLst>
                                      </p:cBhvr>
                                      <p:to>
                                        <p:strVal val="visible"/>
                                      </p:to>
                                    </p:set>
                                    <p:animEffect transition="in" filter="blinds(horizontal)">
                                      <p:cBhvr>
                                        <p:cTn id="20"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7" grpId="0" bldLvl="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nvSpPr>
        <p:spPr bwMode="auto">
          <a:xfrm>
            <a:off x="1703388" y="4221164"/>
            <a:ext cx="76962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20000"/>
              </a:spcBef>
            </a:pPr>
            <a:r>
              <a:rPr lang="zh-CN" altLang="zh-CN" sz="2400" dirty="0"/>
              <a:t>（1）假定两段文本的确是用同样方式加密的。 </a:t>
            </a:r>
          </a:p>
          <a:p>
            <a:pPr>
              <a:spcBef>
                <a:spcPct val="20000"/>
              </a:spcBef>
            </a:pPr>
            <a:r>
              <a:rPr lang="zh-CN" altLang="zh-CN" sz="2400" dirty="0"/>
              <a:t>	</a:t>
            </a:r>
          </a:p>
        </p:txBody>
      </p:sp>
      <p:sp>
        <p:nvSpPr>
          <p:cNvPr id="62467" name="Rectangle 3"/>
          <p:cNvSpPr>
            <a:spLocks noChangeArrowheads="1"/>
          </p:cNvSpPr>
          <p:nvPr/>
        </p:nvSpPr>
        <p:spPr bwMode="auto">
          <a:xfrm>
            <a:off x="6002841" y="6659047"/>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graphicFrame>
        <p:nvGraphicFramePr>
          <p:cNvPr id="10244" name="Object 4"/>
          <p:cNvGraphicFramePr>
            <a:graphicFrameLocks noChangeAspect="1"/>
          </p:cNvGraphicFramePr>
          <p:nvPr>
            <p:extLst>
              <p:ext uri="{D42A27DB-BD31-4B8C-83A1-F6EECF244321}">
                <p14:modId xmlns:p14="http://schemas.microsoft.com/office/powerpoint/2010/main" val="3875394455"/>
              </p:ext>
            </p:extLst>
          </p:nvPr>
        </p:nvGraphicFramePr>
        <p:xfrm>
          <a:off x="9639605" y="1517843"/>
          <a:ext cx="2089150" cy="434975"/>
        </p:xfrm>
        <a:graphic>
          <a:graphicData uri="http://schemas.openxmlformats.org/presentationml/2006/ole">
            <mc:AlternateContent xmlns:mc="http://schemas.openxmlformats.org/markup-compatibility/2006">
              <mc:Choice xmlns:v="urn:schemas-microsoft-com:vml" Requires="v">
                <p:oleObj r:id="rId2" imgW="1054911" imgH="228780" progId="Equation.3">
                  <p:embed/>
                </p:oleObj>
              </mc:Choice>
              <mc:Fallback>
                <p:oleObj r:id="rId2" imgW="1054911" imgH="228780" progId="Equation.3">
                  <p:embed/>
                  <p:pic>
                    <p:nvPicPr>
                      <p:cNvPr id="102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9605" y="1517843"/>
                        <a:ext cx="2089150"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69" name="Rectangle 5"/>
          <p:cNvSpPr>
            <a:spLocks noChangeArrowheads="1"/>
          </p:cNvSpPr>
          <p:nvPr/>
        </p:nvSpPr>
        <p:spPr bwMode="auto">
          <a:xfrm>
            <a:off x="6002841" y="6659047"/>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endParaRPr lang="zh-CN" altLang="en-US"/>
          </a:p>
        </p:txBody>
      </p:sp>
      <p:graphicFrame>
        <p:nvGraphicFramePr>
          <p:cNvPr id="10246" name="Object 6"/>
          <p:cNvGraphicFramePr>
            <a:graphicFrameLocks noChangeAspect="1"/>
          </p:cNvGraphicFramePr>
          <p:nvPr>
            <p:extLst>
              <p:ext uri="{D42A27DB-BD31-4B8C-83A1-F6EECF244321}">
                <p14:modId xmlns:p14="http://schemas.microsoft.com/office/powerpoint/2010/main" val="3891983694"/>
              </p:ext>
            </p:extLst>
          </p:nvPr>
        </p:nvGraphicFramePr>
        <p:xfrm>
          <a:off x="9740961" y="3045158"/>
          <a:ext cx="2087562" cy="427038"/>
        </p:xfrm>
        <a:graphic>
          <a:graphicData uri="http://schemas.openxmlformats.org/presentationml/2006/ole">
            <mc:AlternateContent xmlns:mc="http://schemas.openxmlformats.org/markup-compatibility/2006">
              <mc:Choice xmlns:v="urn:schemas-microsoft-com:vml" Requires="v">
                <p:oleObj r:id="rId4" imgW="1117600" imgH="228600" progId="Equation.3">
                  <p:embed/>
                </p:oleObj>
              </mc:Choice>
              <mc:Fallback>
                <p:oleObj r:id="rId4" imgW="1117600" imgH="228600" progId="Equation.3">
                  <p:embed/>
                  <p:pic>
                    <p:nvPicPr>
                      <p:cNvPr id="1024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40961" y="3045158"/>
                        <a:ext cx="2087562"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1" name="Text Box 7"/>
          <p:cNvSpPr txBox="1">
            <a:spLocks noChangeArrowheads="1"/>
          </p:cNvSpPr>
          <p:nvPr/>
        </p:nvSpPr>
        <p:spPr bwMode="auto">
          <a:xfrm>
            <a:off x="674260" y="1209258"/>
            <a:ext cx="872532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dirty="0"/>
              <a:t>k o o m m a c o m o q e g l x x m q c c k u e y f c u r y l y l i g z s x c z v b c k m y o p n p o g d g i a z t x d d i a k n v o m x h i e m r d e z v x b m z r n l z a y q i q x g k k k p n e v h o v v b k k t c s s e p k g d h x y v j m r d k b c j u e f m a k n t d r x b i e m r d p r r j b x f q n e m x d r l b c j h p z t v v i x y e t n i i a w d r g n o m r z r r e i k i o x r u s x c r e t v </a:t>
            </a:r>
          </a:p>
          <a:p>
            <a:pPr algn="ctr"/>
            <a:endParaRPr lang="zh-CN" altLang="zh-CN" dirty="0"/>
          </a:p>
          <a:p>
            <a:pPr algn="ctr"/>
            <a:r>
              <a:rPr lang="zh-CN" altLang="zh-CN" dirty="0"/>
              <a:t>z a o z y g y u k n d w p i o u o r i y r h h b z x r c e a y v x u v r x k c m a x s t x s e p b r x c s 1 r u k v b x t g z u g g d w h x m x c s x b i k t n s l r j z h b x m s p u n g z r g k u d x n a u f c m r z x j r y w y m i </a:t>
            </a:r>
          </a:p>
        </p:txBody>
      </p:sp>
      <p:sp>
        <p:nvSpPr>
          <p:cNvPr id="10248" name="Text Box 8"/>
          <p:cNvSpPr txBox="1">
            <a:spLocks noChangeArrowheads="1"/>
          </p:cNvSpPr>
          <p:nvPr/>
        </p:nvSpPr>
        <p:spPr bwMode="auto">
          <a:xfrm>
            <a:off x="1703388" y="4797425"/>
            <a:ext cx="63373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spcBef>
                <a:spcPct val="20000"/>
              </a:spcBef>
            </a:pPr>
            <a:r>
              <a:rPr lang="zh-CN" altLang="zh-CN" sz="2400">
                <a:sym typeface="Arial" panose="020B0604020202020204" pitchFamily="34" charset="0"/>
              </a:rPr>
              <a:t>（2）采用Kasiski测试估计密钥的长度。</a:t>
            </a:r>
          </a:p>
        </p:txBody>
      </p:sp>
      <p:sp>
        <p:nvSpPr>
          <p:cNvPr id="5" name="文本框 4">
            <a:extLst>
              <a:ext uri="{FF2B5EF4-FFF2-40B4-BE49-F238E27FC236}">
                <a16:creationId xmlns:a16="http://schemas.microsoft.com/office/drawing/2014/main" id="{F09A8837-5EA9-6982-0730-19975D1DDBD3}"/>
              </a:ext>
            </a:extLst>
          </p:cNvPr>
          <p:cNvSpPr txBox="1"/>
          <p:nvPr/>
        </p:nvSpPr>
        <p:spPr>
          <a:xfrm>
            <a:off x="445477" y="846107"/>
            <a:ext cx="6096000" cy="40011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Tx/>
              <a:buChar char="•"/>
              <a:tabLst/>
              <a:defRPr/>
            </a:pPr>
            <a:r>
              <a:rPr kumimoji="0" lang="zh-CN" altLang="zh-CN"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例</a:t>
            </a:r>
            <a:r>
              <a:rPr lang="en-US" altLang="zh-CN" sz="2000" b="1" dirty="0">
                <a:solidFill>
                  <a:prstClr val="black"/>
                </a:solidFill>
                <a:latin typeface="等线"/>
                <a:ea typeface="等线" panose="02010600030101010101" pitchFamily="2" charset="-122"/>
              </a:rPr>
              <a:t>2</a:t>
            </a:r>
            <a:r>
              <a:rPr kumimoji="0" lang="zh-CN" altLang="zh-CN"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p>
        </p:txBody>
      </p:sp>
      <p:sp>
        <p:nvSpPr>
          <p:cNvPr id="6" name="Text Box 10">
            <a:extLst>
              <a:ext uri="{FF2B5EF4-FFF2-40B4-BE49-F238E27FC236}">
                <a16:creationId xmlns:a16="http://schemas.microsoft.com/office/drawing/2014/main" id="{4F858E74-CEA6-2D38-1CCA-E4F32A0DB499}"/>
              </a:ext>
            </a:extLst>
          </p:cNvPr>
          <p:cNvSpPr txBox="1">
            <a:spLocks noChangeArrowheads="1"/>
          </p:cNvSpPr>
          <p:nvPr/>
        </p:nvSpPr>
        <p:spPr bwMode="auto">
          <a:xfrm>
            <a:off x="8040688" y="3735170"/>
            <a:ext cx="2268537"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sz="1600" dirty="0"/>
              <a:t> sxc          161</a:t>
            </a:r>
          </a:p>
          <a:p>
            <a:pPr algn="ctr"/>
            <a:r>
              <a:rPr lang="zh-CN" altLang="zh-CN" sz="1600" dirty="0"/>
              <a:t> akn           70</a:t>
            </a:r>
          </a:p>
          <a:p>
            <a:pPr algn="ctr"/>
            <a:r>
              <a:rPr lang="zh-CN" altLang="zh-CN" sz="1600" dirty="0"/>
              <a:t> iemr          70</a:t>
            </a:r>
          </a:p>
          <a:p>
            <a:pPr algn="ctr"/>
            <a:r>
              <a:rPr lang="zh-CN" altLang="zh-CN" sz="1600" dirty="0"/>
              <a:t> emrd          70</a:t>
            </a:r>
          </a:p>
          <a:p>
            <a:pPr algn="ctr"/>
            <a:r>
              <a:rPr lang="zh-CN" altLang="zh-CN" sz="1600" dirty="0"/>
              <a:t> mrd           49</a:t>
            </a:r>
          </a:p>
          <a:p>
            <a:pPr algn="ctr"/>
            <a:r>
              <a:rPr lang="zh-CN" altLang="zh-CN" sz="1600" dirty="0"/>
              <a:t> mrd           70</a:t>
            </a:r>
          </a:p>
          <a:p>
            <a:pPr algn="ctr"/>
            <a:r>
              <a:rPr lang="zh-CN" altLang="zh-CN" sz="1600" dirty="0"/>
              <a:t> sep          139</a:t>
            </a:r>
          </a:p>
          <a:p>
            <a:pPr algn="ctr"/>
            <a:r>
              <a:rPr lang="zh-CN" altLang="zh-CN" sz="1600" dirty="0"/>
              <a:t> mrd           21</a:t>
            </a:r>
          </a:p>
          <a:p>
            <a:pPr algn="ctr"/>
            <a:r>
              <a:rPr lang="zh-CN" altLang="zh-CN" sz="1600" dirty="0"/>
              <a:t> bcj           35</a:t>
            </a:r>
          </a:p>
          <a:p>
            <a:pPr algn="ctr"/>
            <a:r>
              <a:rPr lang="zh-CN" altLang="zh-CN" sz="1600" dirty="0"/>
              <a:t> xbi          139</a:t>
            </a:r>
          </a:p>
          <a:p>
            <a:pPr algn="ctr"/>
            <a:r>
              <a:rPr lang="zh-CN" altLang="zh-CN" sz="1600" dirty="0"/>
              <a:t> mrz          125</a:t>
            </a:r>
          </a:p>
          <a:p>
            <a:pPr algn="ctr"/>
            <a:r>
              <a:rPr lang="zh-CN" altLang="zh-CN" sz="1600" dirty="0"/>
              <a:t> xcs           20</a:t>
            </a:r>
          </a:p>
        </p:txBody>
      </p:sp>
      <p:sp>
        <p:nvSpPr>
          <p:cNvPr id="7" name="Text Box 12">
            <a:extLst>
              <a:ext uri="{FF2B5EF4-FFF2-40B4-BE49-F238E27FC236}">
                <a16:creationId xmlns:a16="http://schemas.microsoft.com/office/drawing/2014/main" id="{DAC570C3-C40B-3906-C91F-D37B595A49B4}"/>
              </a:ext>
            </a:extLst>
          </p:cNvPr>
          <p:cNvSpPr txBox="1">
            <a:spLocks noChangeArrowheads="1"/>
          </p:cNvSpPr>
          <p:nvPr/>
        </p:nvSpPr>
        <p:spPr bwMode="auto">
          <a:xfrm>
            <a:off x="4246622" y="5710178"/>
            <a:ext cx="239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sz="2000" dirty="0">
                <a:solidFill>
                  <a:schemeClr val="tx2"/>
                </a:solidFill>
                <a:sym typeface="Arial" panose="020B0604020202020204" pitchFamily="34" charset="0"/>
              </a:rPr>
              <a:t>估计密钥的长度为7</a:t>
            </a:r>
            <a:endParaRPr lang="zh-CN" altLang="zh-CN" sz="2000" dirty="0">
              <a:solidFill>
                <a:schemeClr val="tx2"/>
              </a:solidFill>
            </a:endParaRPr>
          </a:p>
        </p:txBody>
      </p:sp>
      <p:sp>
        <p:nvSpPr>
          <p:cNvPr id="8" name="箭头: 右 7">
            <a:extLst>
              <a:ext uri="{FF2B5EF4-FFF2-40B4-BE49-F238E27FC236}">
                <a16:creationId xmlns:a16="http://schemas.microsoft.com/office/drawing/2014/main" id="{C9994924-2F4A-AB4A-24E8-F9AD18F1DEE2}"/>
              </a:ext>
            </a:extLst>
          </p:cNvPr>
          <p:cNvSpPr/>
          <p:nvPr/>
        </p:nvSpPr>
        <p:spPr>
          <a:xfrm rot="10800000">
            <a:off x="7089398" y="5729246"/>
            <a:ext cx="666873"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3712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blinds(horizontal)">
                                      <p:cBhvr>
                                        <p:cTn id="7" dur="500"/>
                                        <p:tgtEl>
                                          <p:spTgt spid="10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blinds(horizontal)">
                                      <p:cBhvr>
                                        <p:cTn id="12" dur="500"/>
                                        <p:tgtEl>
                                          <p:spTgt spid="10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2"/>
                                        </p:tgtEl>
                                        <p:attrNameLst>
                                          <p:attrName>style.visibility</p:attrName>
                                        </p:attrNameLst>
                                      </p:cBhvr>
                                      <p:to>
                                        <p:strVal val="visible"/>
                                      </p:to>
                                    </p:set>
                                    <p:animEffect transition="in" filter="blinds(horizontal)">
                                      <p:cBhvr>
                                        <p:cTn id="17" dur="500"/>
                                        <p:tgtEl>
                                          <p:spTgt spid="102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248"/>
                                        </p:tgtEl>
                                        <p:attrNameLst>
                                          <p:attrName>style.visibility</p:attrName>
                                        </p:attrNameLst>
                                      </p:cBhvr>
                                      <p:to>
                                        <p:strVal val="visible"/>
                                      </p:to>
                                    </p:set>
                                    <p:animEffect transition="in" filter="blinds(horizontal)">
                                      <p:cBhvr>
                                        <p:cTn id="22" dur="500"/>
                                        <p:tgtEl>
                                          <p:spTgt spid="1024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ldLvl="0" autoUpdateAnimBg="0"/>
      <p:bldP spid="10248" grpId="0" bldLvl="0" autoUpdateAnimBg="0"/>
      <p:bldP spid="6" grpId="0" bldLvl="0" autoUpdateAnimBg="0"/>
      <p:bldP spid="7" grpId="0" bldLvl="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644523" y="569069"/>
            <a:ext cx="194468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en-US" altLang="zh-CN" sz="1400" dirty="0">
                <a:latin typeface="Verdana" panose="020B0604030504040204" pitchFamily="34" charset="0"/>
                <a:ea typeface="MS PGothic" panose="020B0600070205080204" pitchFamily="34" charset="-128"/>
              </a:rPr>
              <a:t>k o </a:t>
            </a:r>
            <a:r>
              <a:rPr lang="en-US" altLang="zh-CN" sz="1400" dirty="0" err="1">
                <a:latin typeface="Verdana" panose="020B0604030504040204" pitchFamily="34" charset="0"/>
                <a:ea typeface="MS PGothic" panose="020B0600070205080204" pitchFamily="34" charset="-128"/>
              </a:rPr>
              <a:t>o</a:t>
            </a:r>
            <a:r>
              <a:rPr lang="en-US" altLang="zh-CN" sz="1400" dirty="0">
                <a:latin typeface="Verdana" panose="020B0604030504040204" pitchFamily="34" charset="0"/>
                <a:ea typeface="MS PGothic" panose="020B0600070205080204" pitchFamily="34" charset="-128"/>
              </a:rPr>
              <a:t> m </a:t>
            </a:r>
            <a:r>
              <a:rPr lang="en-US" altLang="zh-CN" sz="1400" dirty="0" err="1">
                <a:latin typeface="Verdana" panose="020B0604030504040204" pitchFamily="34" charset="0"/>
                <a:ea typeface="MS PGothic" panose="020B0600070205080204" pitchFamily="34" charset="-128"/>
              </a:rPr>
              <a:t>m</a:t>
            </a:r>
            <a:r>
              <a:rPr lang="en-US" altLang="zh-CN" sz="1400" dirty="0">
                <a:latin typeface="Verdana" panose="020B0604030504040204" pitchFamily="34" charset="0"/>
                <a:ea typeface="MS PGothic" panose="020B0600070205080204" pitchFamily="34" charset="-128"/>
              </a:rPr>
              <a:t> a c</a:t>
            </a:r>
          </a:p>
          <a:p>
            <a:r>
              <a:rPr lang="en-US" altLang="zh-CN" sz="1400" dirty="0">
                <a:latin typeface="Verdana" panose="020B0604030504040204" pitchFamily="34" charset="0"/>
                <a:ea typeface="MS PGothic" panose="020B0600070205080204" pitchFamily="34" charset="-128"/>
              </a:rPr>
              <a:t>o m o q e g l </a:t>
            </a:r>
          </a:p>
          <a:p>
            <a:r>
              <a:rPr lang="en-US" altLang="zh-CN" sz="1400" dirty="0">
                <a:latin typeface="Verdana" panose="020B0604030504040204" pitchFamily="34" charset="0"/>
                <a:ea typeface="MS PGothic" panose="020B0600070205080204" pitchFamily="34" charset="-128"/>
              </a:rPr>
              <a:t>x </a:t>
            </a:r>
            <a:r>
              <a:rPr lang="en-US" altLang="zh-CN" sz="1400" dirty="0" err="1">
                <a:latin typeface="Verdana" panose="020B0604030504040204" pitchFamily="34" charset="0"/>
                <a:ea typeface="MS PGothic" panose="020B0600070205080204" pitchFamily="34" charset="-128"/>
              </a:rPr>
              <a:t>x</a:t>
            </a:r>
            <a:r>
              <a:rPr lang="en-US" altLang="zh-CN" sz="1400" dirty="0">
                <a:latin typeface="Verdana" panose="020B0604030504040204" pitchFamily="34" charset="0"/>
                <a:ea typeface="MS PGothic" panose="020B0600070205080204" pitchFamily="34" charset="-128"/>
              </a:rPr>
              <a:t> m q c </a:t>
            </a:r>
            <a:r>
              <a:rPr lang="en-US" altLang="zh-CN" sz="1400" dirty="0" err="1">
                <a:latin typeface="Verdana" panose="020B0604030504040204" pitchFamily="34" charset="0"/>
                <a:ea typeface="MS PGothic" panose="020B0600070205080204" pitchFamily="34" charset="-128"/>
              </a:rPr>
              <a:t>c</a:t>
            </a:r>
            <a:r>
              <a:rPr lang="en-US" altLang="zh-CN" sz="1400" dirty="0">
                <a:latin typeface="Verdana" panose="020B0604030504040204" pitchFamily="34" charset="0"/>
                <a:ea typeface="MS PGothic" panose="020B0600070205080204" pitchFamily="34" charset="-128"/>
              </a:rPr>
              <a:t> k </a:t>
            </a:r>
          </a:p>
          <a:p>
            <a:r>
              <a:rPr lang="en-US" altLang="zh-CN" sz="1400" dirty="0">
                <a:latin typeface="Verdana" panose="020B0604030504040204" pitchFamily="34" charset="0"/>
                <a:ea typeface="MS PGothic" panose="020B0600070205080204" pitchFamily="34" charset="-128"/>
              </a:rPr>
              <a:t>u e y f c u r </a:t>
            </a:r>
          </a:p>
          <a:p>
            <a:r>
              <a:rPr lang="en-US" altLang="zh-CN" sz="1400" dirty="0">
                <a:latin typeface="Verdana" panose="020B0604030504040204" pitchFamily="34" charset="0"/>
                <a:ea typeface="MS PGothic" panose="020B0600070205080204" pitchFamily="34" charset="-128"/>
              </a:rPr>
              <a:t>y l y l </a:t>
            </a:r>
            <a:r>
              <a:rPr lang="en-US" altLang="zh-CN" sz="1400" dirty="0" err="1">
                <a:latin typeface="Verdana" panose="020B0604030504040204" pitchFamily="34" charset="0"/>
                <a:ea typeface="MS PGothic" panose="020B0600070205080204" pitchFamily="34" charset="-128"/>
              </a:rPr>
              <a:t>i</a:t>
            </a:r>
            <a:r>
              <a:rPr lang="en-US" altLang="zh-CN" sz="1400" dirty="0">
                <a:latin typeface="Verdana" panose="020B0604030504040204" pitchFamily="34" charset="0"/>
                <a:ea typeface="MS PGothic" panose="020B0600070205080204" pitchFamily="34" charset="-128"/>
              </a:rPr>
              <a:t> g z </a:t>
            </a:r>
          </a:p>
          <a:p>
            <a:r>
              <a:rPr lang="en-US" altLang="zh-CN" sz="1400" dirty="0">
                <a:latin typeface="Verdana" panose="020B0604030504040204" pitchFamily="34" charset="0"/>
                <a:ea typeface="MS PGothic" panose="020B0600070205080204" pitchFamily="34" charset="-128"/>
              </a:rPr>
              <a:t>s x c z v b c </a:t>
            </a:r>
          </a:p>
          <a:p>
            <a:r>
              <a:rPr lang="en-US" altLang="zh-CN" sz="1400" dirty="0">
                <a:latin typeface="Verdana" panose="020B0604030504040204" pitchFamily="34" charset="0"/>
                <a:ea typeface="MS PGothic" panose="020B0600070205080204" pitchFamily="34" charset="-128"/>
              </a:rPr>
              <a:t>k m y o p n p </a:t>
            </a:r>
          </a:p>
          <a:p>
            <a:r>
              <a:rPr lang="en-US" altLang="zh-CN" sz="1400" dirty="0">
                <a:latin typeface="Verdana" panose="020B0604030504040204" pitchFamily="34" charset="0"/>
                <a:ea typeface="MS PGothic" panose="020B0600070205080204" pitchFamily="34" charset="-128"/>
              </a:rPr>
              <a:t>o g d g </a:t>
            </a:r>
            <a:r>
              <a:rPr lang="en-US" altLang="zh-CN" sz="1400" dirty="0" err="1">
                <a:latin typeface="Verdana" panose="020B0604030504040204" pitchFamily="34" charset="0"/>
                <a:ea typeface="MS PGothic" panose="020B0600070205080204" pitchFamily="34" charset="-128"/>
              </a:rPr>
              <a:t>i</a:t>
            </a:r>
            <a:r>
              <a:rPr lang="en-US" altLang="zh-CN" sz="1400" dirty="0">
                <a:latin typeface="Verdana" panose="020B0604030504040204" pitchFamily="34" charset="0"/>
                <a:ea typeface="MS PGothic" panose="020B0600070205080204" pitchFamily="34" charset="-128"/>
              </a:rPr>
              <a:t> a z </a:t>
            </a:r>
          </a:p>
          <a:p>
            <a:r>
              <a:rPr lang="en-US" altLang="zh-CN" sz="1400" dirty="0">
                <a:latin typeface="Verdana" panose="020B0604030504040204" pitchFamily="34" charset="0"/>
                <a:ea typeface="MS PGothic" panose="020B0600070205080204" pitchFamily="34" charset="-128"/>
              </a:rPr>
              <a:t>t x d </a:t>
            </a:r>
            <a:r>
              <a:rPr lang="en-US" altLang="zh-CN" sz="1400" dirty="0" err="1">
                <a:latin typeface="Verdana" panose="020B0604030504040204" pitchFamily="34" charset="0"/>
                <a:ea typeface="MS PGothic" panose="020B0600070205080204" pitchFamily="34" charset="-128"/>
              </a:rPr>
              <a:t>d</a:t>
            </a:r>
            <a:r>
              <a:rPr lang="en-US" altLang="zh-CN" sz="1400" dirty="0">
                <a:latin typeface="Verdana" panose="020B0604030504040204" pitchFamily="34" charset="0"/>
                <a:ea typeface="MS PGothic" panose="020B0600070205080204" pitchFamily="34" charset="-128"/>
              </a:rPr>
              <a:t> </a:t>
            </a:r>
            <a:r>
              <a:rPr lang="en-US" altLang="zh-CN" sz="1400" dirty="0" err="1">
                <a:latin typeface="Verdana" panose="020B0604030504040204" pitchFamily="34" charset="0"/>
                <a:ea typeface="MS PGothic" panose="020B0600070205080204" pitchFamily="34" charset="-128"/>
              </a:rPr>
              <a:t>i</a:t>
            </a:r>
            <a:r>
              <a:rPr lang="en-US" altLang="zh-CN" sz="1400" dirty="0">
                <a:latin typeface="Verdana" panose="020B0604030504040204" pitchFamily="34" charset="0"/>
                <a:ea typeface="MS PGothic" panose="020B0600070205080204" pitchFamily="34" charset="-128"/>
              </a:rPr>
              <a:t> a k </a:t>
            </a:r>
          </a:p>
          <a:p>
            <a:r>
              <a:rPr lang="en-US" altLang="zh-CN" sz="1400" dirty="0">
                <a:latin typeface="Verdana" panose="020B0604030504040204" pitchFamily="34" charset="0"/>
                <a:ea typeface="MS PGothic" panose="020B0600070205080204" pitchFamily="34" charset="-128"/>
              </a:rPr>
              <a:t>n v o m x h </a:t>
            </a:r>
            <a:r>
              <a:rPr lang="en-US" altLang="zh-CN" sz="1400" dirty="0" err="1">
                <a:latin typeface="Verdana" panose="020B0604030504040204" pitchFamily="34" charset="0"/>
                <a:ea typeface="MS PGothic" panose="020B0600070205080204" pitchFamily="34" charset="-128"/>
              </a:rPr>
              <a:t>i</a:t>
            </a:r>
            <a:r>
              <a:rPr lang="en-US" altLang="zh-CN" sz="1400" dirty="0">
                <a:latin typeface="Verdana" panose="020B0604030504040204" pitchFamily="34" charset="0"/>
                <a:ea typeface="MS PGothic" panose="020B0600070205080204" pitchFamily="34" charset="-128"/>
              </a:rPr>
              <a:t> </a:t>
            </a:r>
          </a:p>
          <a:p>
            <a:r>
              <a:rPr lang="en-US" altLang="zh-CN" sz="1400" dirty="0">
                <a:latin typeface="Verdana" panose="020B0604030504040204" pitchFamily="34" charset="0"/>
                <a:ea typeface="MS PGothic" panose="020B0600070205080204" pitchFamily="34" charset="-128"/>
              </a:rPr>
              <a:t>e m r d e z v </a:t>
            </a:r>
          </a:p>
          <a:p>
            <a:r>
              <a:rPr lang="en-US" altLang="zh-CN" sz="1400" dirty="0">
                <a:latin typeface="Verdana" panose="020B0604030504040204" pitchFamily="34" charset="0"/>
                <a:ea typeface="MS PGothic" panose="020B0600070205080204" pitchFamily="34" charset="-128"/>
              </a:rPr>
              <a:t>x b m z r n l </a:t>
            </a:r>
          </a:p>
          <a:p>
            <a:r>
              <a:rPr lang="en-US" altLang="zh-CN" sz="1400" dirty="0">
                <a:latin typeface="Verdana" panose="020B0604030504040204" pitchFamily="34" charset="0"/>
                <a:ea typeface="MS PGothic" panose="020B0600070205080204" pitchFamily="34" charset="-128"/>
              </a:rPr>
              <a:t>z a y q </a:t>
            </a:r>
            <a:r>
              <a:rPr lang="en-US" altLang="zh-CN" sz="1400" dirty="0" err="1">
                <a:latin typeface="Verdana" panose="020B0604030504040204" pitchFamily="34" charset="0"/>
                <a:ea typeface="MS PGothic" panose="020B0600070205080204" pitchFamily="34" charset="-128"/>
              </a:rPr>
              <a:t>i</a:t>
            </a:r>
            <a:r>
              <a:rPr lang="en-US" altLang="zh-CN" sz="1400" dirty="0">
                <a:latin typeface="Verdana" panose="020B0604030504040204" pitchFamily="34" charset="0"/>
                <a:ea typeface="MS PGothic" panose="020B0600070205080204" pitchFamily="34" charset="-128"/>
              </a:rPr>
              <a:t> q x </a:t>
            </a:r>
          </a:p>
          <a:p>
            <a:r>
              <a:rPr lang="en-US" altLang="zh-CN" sz="1400" dirty="0">
                <a:latin typeface="Verdana" panose="020B0604030504040204" pitchFamily="34" charset="0"/>
                <a:ea typeface="MS PGothic" panose="020B0600070205080204" pitchFamily="34" charset="-128"/>
              </a:rPr>
              <a:t>g k </a:t>
            </a:r>
            <a:r>
              <a:rPr lang="en-US" altLang="zh-CN" sz="1400" dirty="0" err="1">
                <a:latin typeface="Verdana" panose="020B0604030504040204" pitchFamily="34" charset="0"/>
                <a:ea typeface="MS PGothic" panose="020B0600070205080204" pitchFamily="34" charset="-128"/>
              </a:rPr>
              <a:t>k</a:t>
            </a:r>
            <a:r>
              <a:rPr lang="en-US" altLang="zh-CN" sz="1400" dirty="0">
                <a:latin typeface="Verdana" panose="020B0604030504040204" pitchFamily="34" charset="0"/>
                <a:ea typeface="MS PGothic" panose="020B0600070205080204" pitchFamily="34" charset="-128"/>
              </a:rPr>
              <a:t> </a:t>
            </a:r>
            <a:r>
              <a:rPr lang="en-US" altLang="zh-CN" sz="1400" dirty="0" err="1">
                <a:latin typeface="Verdana" panose="020B0604030504040204" pitchFamily="34" charset="0"/>
                <a:ea typeface="MS PGothic" panose="020B0600070205080204" pitchFamily="34" charset="-128"/>
              </a:rPr>
              <a:t>k</a:t>
            </a:r>
            <a:r>
              <a:rPr lang="en-US" altLang="zh-CN" sz="1400" dirty="0">
                <a:latin typeface="Verdana" panose="020B0604030504040204" pitchFamily="34" charset="0"/>
                <a:ea typeface="MS PGothic" panose="020B0600070205080204" pitchFamily="34" charset="-128"/>
              </a:rPr>
              <a:t> p n e </a:t>
            </a:r>
          </a:p>
          <a:p>
            <a:r>
              <a:rPr lang="en-US" altLang="zh-CN" sz="1400" dirty="0">
                <a:latin typeface="Verdana" panose="020B0604030504040204" pitchFamily="34" charset="0"/>
                <a:ea typeface="MS PGothic" panose="020B0600070205080204" pitchFamily="34" charset="-128"/>
              </a:rPr>
              <a:t>v h o v </a:t>
            </a:r>
            <a:r>
              <a:rPr lang="en-US" altLang="zh-CN" sz="1400" dirty="0" err="1">
                <a:latin typeface="Verdana" panose="020B0604030504040204" pitchFamily="34" charset="0"/>
                <a:ea typeface="MS PGothic" panose="020B0600070205080204" pitchFamily="34" charset="-128"/>
              </a:rPr>
              <a:t>v</a:t>
            </a:r>
            <a:r>
              <a:rPr lang="en-US" altLang="zh-CN" sz="1400" dirty="0">
                <a:latin typeface="Verdana" panose="020B0604030504040204" pitchFamily="34" charset="0"/>
                <a:ea typeface="MS PGothic" panose="020B0600070205080204" pitchFamily="34" charset="-128"/>
              </a:rPr>
              <a:t> b k </a:t>
            </a:r>
          </a:p>
          <a:p>
            <a:r>
              <a:rPr lang="en-US" altLang="zh-CN" sz="1400" dirty="0">
                <a:latin typeface="Verdana" panose="020B0604030504040204" pitchFamily="34" charset="0"/>
                <a:ea typeface="MS PGothic" panose="020B0600070205080204" pitchFamily="34" charset="-128"/>
              </a:rPr>
              <a:t>k t c s </a:t>
            </a:r>
            <a:r>
              <a:rPr lang="en-US" altLang="zh-CN" sz="1400" dirty="0" err="1">
                <a:latin typeface="Verdana" panose="020B0604030504040204" pitchFamily="34" charset="0"/>
                <a:ea typeface="MS PGothic" panose="020B0600070205080204" pitchFamily="34" charset="-128"/>
              </a:rPr>
              <a:t>s</a:t>
            </a:r>
            <a:r>
              <a:rPr lang="en-US" altLang="zh-CN" sz="1400" dirty="0">
                <a:latin typeface="Verdana" panose="020B0604030504040204" pitchFamily="34" charset="0"/>
                <a:ea typeface="MS PGothic" panose="020B0600070205080204" pitchFamily="34" charset="-128"/>
              </a:rPr>
              <a:t> e p </a:t>
            </a:r>
          </a:p>
          <a:p>
            <a:r>
              <a:rPr lang="en-US" altLang="zh-CN" sz="1400" dirty="0">
                <a:latin typeface="Verdana" panose="020B0604030504040204" pitchFamily="34" charset="0"/>
                <a:ea typeface="MS PGothic" panose="020B0600070205080204" pitchFamily="34" charset="-128"/>
              </a:rPr>
              <a:t>k g d h x y v </a:t>
            </a:r>
          </a:p>
          <a:p>
            <a:r>
              <a:rPr lang="en-US" altLang="zh-CN" sz="1400" dirty="0">
                <a:latin typeface="Verdana" panose="020B0604030504040204" pitchFamily="34" charset="0"/>
                <a:ea typeface="MS PGothic" panose="020B0600070205080204" pitchFamily="34" charset="-128"/>
              </a:rPr>
              <a:t>j m r d k b c </a:t>
            </a:r>
          </a:p>
          <a:p>
            <a:r>
              <a:rPr lang="en-US" altLang="zh-CN" sz="1400" dirty="0">
                <a:latin typeface="Verdana" panose="020B0604030504040204" pitchFamily="34" charset="0"/>
                <a:ea typeface="MS PGothic" panose="020B0600070205080204" pitchFamily="34" charset="-128"/>
              </a:rPr>
              <a:t>j u e f m a k </a:t>
            </a:r>
          </a:p>
          <a:p>
            <a:r>
              <a:rPr lang="en-US" altLang="zh-CN" sz="1400" dirty="0">
                <a:latin typeface="Verdana" panose="020B0604030504040204" pitchFamily="34" charset="0"/>
                <a:ea typeface="MS PGothic" panose="020B0600070205080204" pitchFamily="34" charset="-128"/>
              </a:rPr>
              <a:t>n t d r x b </a:t>
            </a:r>
            <a:r>
              <a:rPr lang="en-US" altLang="zh-CN" sz="1400" dirty="0" err="1">
                <a:latin typeface="Verdana" panose="020B0604030504040204" pitchFamily="34" charset="0"/>
                <a:ea typeface="MS PGothic" panose="020B0600070205080204" pitchFamily="34" charset="-128"/>
              </a:rPr>
              <a:t>i</a:t>
            </a:r>
            <a:r>
              <a:rPr lang="en-US" altLang="zh-CN" sz="1400" dirty="0">
                <a:latin typeface="Verdana" panose="020B0604030504040204" pitchFamily="34" charset="0"/>
                <a:ea typeface="MS PGothic" panose="020B0600070205080204" pitchFamily="34" charset="-128"/>
              </a:rPr>
              <a:t>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e m r d p r </a:t>
            </a:r>
            <a:r>
              <a:rPr lang="en-US" altLang="zh-CN" sz="1400" dirty="0" err="1">
                <a:latin typeface="Verdana" panose="020B0604030504040204" pitchFamily="34" charset="0"/>
                <a:ea typeface="MS PGothic" panose="020B0600070205080204" pitchFamily="34" charset="-128"/>
                <a:sym typeface="Arial" panose="020B0604020202020204" pitchFamily="34" charset="0"/>
              </a:rPr>
              <a:t>r</a:t>
            </a:r>
            <a:r>
              <a:rPr lang="en-US" altLang="zh-CN" sz="1400" dirty="0">
                <a:latin typeface="Verdana" panose="020B0604030504040204" pitchFamily="34" charset="0"/>
                <a:ea typeface="MS PGothic" panose="020B0600070205080204" pitchFamily="34" charset="-128"/>
                <a:sym typeface="Arial" panose="020B0604020202020204" pitchFamily="34" charset="0"/>
              </a:rPr>
              <a:t>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j b x f q n e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m x d r l b c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j h p z t v </a:t>
            </a:r>
            <a:r>
              <a:rPr lang="en-US" altLang="zh-CN" sz="1400" dirty="0" err="1">
                <a:latin typeface="Verdana" panose="020B0604030504040204" pitchFamily="34" charset="0"/>
                <a:ea typeface="MS PGothic" panose="020B0600070205080204" pitchFamily="34" charset="-128"/>
                <a:sym typeface="Arial" panose="020B0604020202020204" pitchFamily="34" charset="0"/>
              </a:rPr>
              <a:t>v</a:t>
            </a:r>
            <a:r>
              <a:rPr lang="en-US" altLang="zh-CN" sz="1400" dirty="0">
                <a:latin typeface="Verdana" panose="020B0604030504040204" pitchFamily="34" charset="0"/>
                <a:ea typeface="MS PGothic" panose="020B0600070205080204" pitchFamily="34" charset="-128"/>
                <a:sym typeface="Arial" panose="020B0604020202020204" pitchFamily="34" charset="0"/>
              </a:rPr>
              <a:t> </a:t>
            </a:r>
          </a:p>
          <a:p>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x y e t n </a:t>
            </a:r>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a:t>
            </a:r>
          </a:p>
          <a:p>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a w d r g n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o m r z r </a:t>
            </a:r>
            <a:r>
              <a:rPr lang="en-US" altLang="zh-CN" sz="1400" dirty="0" err="1">
                <a:latin typeface="Verdana" panose="020B0604030504040204" pitchFamily="34" charset="0"/>
                <a:ea typeface="MS PGothic" panose="020B0600070205080204" pitchFamily="34" charset="-128"/>
                <a:sym typeface="Arial" panose="020B0604020202020204" pitchFamily="34" charset="0"/>
              </a:rPr>
              <a:t>r</a:t>
            </a:r>
            <a:r>
              <a:rPr lang="en-US" altLang="zh-CN" sz="1400" dirty="0">
                <a:latin typeface="Verdana" panose="020B0604030504040204" pitchFamily="34" charset="0"/>
                <a:ea typeface="MS PGothic" panose="020B0600070205080204" pitchFamily="34" charset="-128"/>
                <a:sym typeface="Arial" panose="020B0604020202020204" pitchFamily="34" charset="0"/>
              </a:rPr>
              <a:t> e </a:t>
            </a:r>
          </a:p>
          <a:p>
            <a:endParaRPr lang="en-US" altLang="zh-CN" sz="1400" dirty="0">
              <a:latin typeface="Verdana" panose="020B0604030504040204" pitchFamily="34" charset="0"/>
              <a:ea typeface="MS PGothic" panose="020B0600070205080204" pitchFamily="34" charset="-128"/>
            </a:endParaRPr>
          </a:p>
        </p:txBody>
      </p:sp>
      <p:sp>
        <p:nvSpPr>
          <p:cNvPr id="64515" name="Text Box 3"/>
          <p:cNvSpPr txBox="1">
            <a:spLocks noChangeArrowheads="1"/>
          </p:cNvSpPr>
          <p:nvPr/>
        </p:nvSpPr>
        <p:spPr bwMode="auto">
          <a:xfrm>
            <a:off x="2217736" y="569069"/>
            <a:ext cx="1944688"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k </a:t>
            </a:r>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o x r u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s x c r e t v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z a o z y g y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u k n d w p </a:t>
            </a:r>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o u o r </a:t>
            </a:r>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y r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h </a:t>
            </a:r>
            <a:r>
              <a:rPr lang="en-US" altLang="zh-CN" sz="1400" dirty="0" err="1">
                <a:latin typeface="Verdana" panose="020B0604030504040204" pitchFamily="34" charset="0"/>
                <a:ea typeface="MS PGothic" panose="020B0600070205080204" pitchFamily="34" charset="-128"/>
                <a:sym typeface="Arial" panose="020B0604020202020204" pitchFamily="34" charset="0"/>
              </a:rPr>
              <a:t>h</a:t>
            </a:r>
            <a:r>
              <a:rPr lang="en-US" altLang="zh-CN" sz="1400" dirty="0">
                <a:latin typeface="Verdana" panose="020B0604030504040204" pitchFamily="34" charset="0"/>
                <a:ea typeface="MS PGothic" panose="020B0600070205080204" pitchFamily="34" charset="-128"/>
                <a:sym typeface="Arial" panose="020B0604020202020204" pitchFamily="34" charset="0"/>
              </a:rPr>
              <a:t> b z x r c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e a y v x u v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r x k c m a x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s t x s e p b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r x c s 1 r u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k v b x t g z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u g </a:t>
            </a:r>
            <a:r>
              <a:rPr lang="en-US" altLang="zh-CN" sz="1400" dirty="0" err="1">
                <a:latin typeface="Verdana" panose="020B0604030504040204" pitchFamily="34" charset="0"/>
                <a:ea typeface="MS PGothic" panose="020B0600070205080204" pitchFamily="34" charset="-128"/>
                <a:sym typeface="Arial" panose="020B0604020202020204" pitchFamily="34" charset="0"/>
              </a:rPr>
              <a:t>g</a:t>
            </a:r>
            <a:r>
              <a:rPr lang="en-US" altLang="zh-CN" sz="1400" dirty="0">
                <a:latin typeface="Verdana" panose="020B0604030504040204" pitchFamily="34" charset="0"/>
                <a:ea typeface="MS PGothic" panose="020B0600070205080204" pitchFamily="34" charset="-128"/>
                <a:sym typeface="Arial" panose="020B0604020202020204" pitchFamily="34" charset="0"/>
              </a:rPr>
              <a:t> d w h x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m x c s x b </a:t>
            </a:r>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k t n s l r j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z h b x m s p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u n g z r g k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u d x n a u f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c m r z x j r </a:t>
            </a:r>
          </a:p>
          <a:p>
            <a:r>
              <a:rPr lang="en-US" altLang="zh-CN" sz="1400" dirty="0">
                <a:latin typeface="Verdana" panose="020B0604030504040204" pitchFamily="34" charset="0"/>
                <a:ea typeface="MS PGothic" panose="020B0600070205080204" pitchFamily="34" charset="-128"/>
                <a:sym typeface="Arial" panose="020B0604020202020204" pitchFamily="34" charset="0"/>
              </a:rPr>
              <a:t>y w y m </a:t>
            </a:r>
            <a:r>
              <a:rPr lang="en-US" altLang="zh-CN" sz="1400" dirty="0" err="1">
                <a:latin typeface="Verdana" panose="020B0604030504040204" pitchFamily="34" charset="0"/>
                <a:ea typeface="MS PGothic" panose="020B0600070205080204" pitchFamily="34" charset="-128"/>
                <a:sym typeface="Arial" panose="020B0604020202020204" pitchFamily="34" charset="0"/>
              </a:rPr>
              <a:t>i</a:t>
            </a:r>
            <a:r>
              <a:rPr lang="en-US" altLang="zh-CN" sz="1400" dirty="0">
                <a:latin typeface="Verdana" panose="020B0604030504040204" pitchFamily="34" charset="0"/>
                <a:ea typeface="MS PGothic" panose="020B0600070205080204" pitchFamily="34" charset="-128"/>
                <a:sym typeface="Arial" panose="020B0604020202020204" pitchFamily="34" charset="0"/>
              </a:rPr>
              <a:t> </a:t>
            </a:r>
          </a:p>
          <a:p>
            <a:endParaRPr lang="zh-CN" altLang="en-US" sz="1400" dirty="0">
              <a:latin typeface="Verdana" panose="020B0604030504040204" pitchFamily="34" charset="0"/>
              <a:ea typeface="MS PGothic" panose="020B0600070205080204" pitchFamily="34" charset="-128"/>
              <a:sym typeface="Arial" panose="020B0604020202020204" pitchFamily="34" charset="0"/>
            </a:endParaRPr>
          </a:p>
          <a:p>
            <a:endParaRPr lang="zh-CN" altLang="en-US" sz="1400" dirty="0">
              <a:latin typeface="Verdana" panose="020B0604030504040204" pitchFamily="34" charset="0"/>
              <a:ea typeface="MS PGothic" panose="020B0600070205080204" pitchFamily="34" charset="-128"/>
              <a:sym typeface="Arial" panose="020B0604020202020204" pitchFamily="34" charset="0"/>
            </a:endParaRPr>
          </a:p>
        </p:txBody>
      </p:sp>
      <p:sp>
        <p:nvSpPr>
          <p:cNvPr id="64517" name="Text Box 5"/>
          <p:cNvSpPr txBox="1">
            <a:spLocks noChangeArrowheads="1"/>
          </p:cNvSpPr>
          <p:nvPr/>
        </p:nvSpPr>
        <p:spPr bwMode="auto">
          <a:xfrm>
            <a:off x="3853450" y="495504"/>
            <a:ext cx="64059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zh-CN" sz="2000" dirty="0"/>
              <a:t>（3）将密文写成7列，即每一列是用同一密钥加密的。</a:t>
            </a:r>
          </a:p>
        </p:txBody>
      </p:sp>
      <p:sp>
        <p:nvSpPr>
          <p:cNvPr id="12294" name="Text Box 6"/>
          <p:cNvSpPr txBox="1">
            <a:spLocks noChangeArrowheads="1"/>
          </p:cNvSpPr>
          <p:nvPr/>
        </p:nvSpPr>
        <p:spPr bwMode="auto">
          <a:xfrm>
            <a:off x="3853450" y="825888"/>
            <a:ext cx="754893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zh-CN" sz="2000" dirty="0"/>
              <a:t>（4）重复移动2~7列字母，移动距离分别为1~25，并分别计算相</a:t>
            </a:r>
            <a:r>
              <a:rPr lang="zh-CN" altLang="en-US" sz="2000" dirty="0"/>
              <a:t>对</a:t>
            </a:r>
            <a:r>
              <a:rPr lang="zh-CN" altLang="zh-CN" sz="2000" dirty="0"/>
              <a:t>于第一列的X值，把最大值用下划线标出。</a:t>
            </a:r>
          </a:p>
        </p:txBody>
      </p:sp>
      <p:graphicFrame>
        <p:nvGraphicFramePr>
          <p:cNvPr id="12295" name="Object 7"/>
          <p:cNvGraphicFramePr>
            <a:graphicFrameLocks noChangeAspect="1"/>
          </p:cNvGraphicFramePr>
          <p:nvPr>
            <p:extLst>
              <p:ext uri="{D42A27DB-BD31-4B8C-83A1-F6EECF244321}">
                <p14:modId xmlns:p14="http://schemas.microsoft.com/office/powerpoint/2010/main" val="3612786387"/>
              </p:ext>
            </p:extLst>
          </p:nvPr>
        </p:nvGraphicFramePr>
        <p:xfrm>
          <a:off x="10334063" y="3888525"/>
          <a:ext cx="1483329" cy="833597"/>
        </p:xfrm>
        <a:graphic>
          <a:graphicData uri="http://schemas.openxmlformats.org/presentationml/2006/ole">
            <mc:AlternateContent xmlns:mc="http://schemas.openxmlformats.org/markup-compatibility/2006">
              <mc:Choice xmlns:v="urn:schemas-microsoft-com:vml" Requires="v">
                <p:oleObj r:id="rId2" imgW="761669" imgH="431613" progId="Equation.3">
                  <p:embed/>
                </p:oleObj>
              </mc:Choice>
              <mc:Fallback>
                <p:oleObj r:id="rId2" imgW="761669" imgH="431613" progId="Equation.3">
                  <p:embed/>
                  <p:pic>
                    <p:nvPicPr>
                      <p:cNvPr id="1229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4063" y="3888525"/>
                        <a:ext cx="1483329" cy="833597"/>
                      </a:xfrm>
                      <a:prstGeom prst="rect">
                        <a:avLst/>
                      </a:prstGeom>
                      <a:noFill/>
                      <a:ln>
                        <a:noFill/>
                      </a:ln>
                      <a:effectLst/>
                    </p:spPr>
                  </p:pic>
                </p:oleObj>
              </mc:Fallback>
            </mc:AlternateContent>
          </a:graphicData>
        </a:graphic>
      </p:graphicFrame>
      <p:sp>
        <p:nvSpPr>
          <p:cNvPr id="2" name="Text Box 2">
            <a:extLst>
              <a:ext uri="{FF2B5EF4-FFF2-40B4-BE49-F238E27FC236}">
                <a16:creationId xmlns:a16="http://schemas.microsoft.com/office/drawing/2014/main" id="{94B91EF7-84A0-E7C5-93A7-F3AB81035DEA}"/>
              </a:ext>
            </a:extLst>
          </p:cNvPr>
          <p:cNvSpPr txBox="1">
            <a:spLocks noChangeArrowheads="1"/>
          </p:cNvSpPr>
          <p:nvPr/>
        </p:nvSpPr>
        <p:spPr bwMode="auto">
          <a:xfrm>
            <a:off x="4260031" y="1833925"/>
            <a:ext cx="66784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dirty="0"/>
              <a:t>第1列：koxuyskotnexzgvkkjjnejmjiioiszuohersrkumkzuucy </a:t>
            </a:r>
          </a:p>
        </p:txBody>
      </p:sp>
      <p:sp>
        <p:nvSpPr>
          <p:cNvPr id="3" name="Text Box 3">
            <a:extLst>
              <a:ext uri="{FF2B5EF4-FFF2-40B4-BE49-F238E27FC236}">
                <a16:creationId xmlns:a16="http://schemas.microsoft.com/office/drawing/2014/main" id="{6E1BD50F-6465-4559-F03E-08383D73F4FD}"/>
              </a:ext>
            </a:extLst>
          </p:cNvPr>
          <p:cNvSpPr txBox="1">
            <a:spLocks noChangeArrowheads="1"/>
          </p:cNvSpPr>
          <p:nvPr/>
        </p:nvSpPr>
        <p:spPr bwMode="auto">
          <a:xfrm>
            <a:off x="4260031" y="2126541"/>
            <a:ext cx="82073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zh-CN" dirty="0"/>
              <a:t>第2列：omxelxmgxvmbakhtgmutmbxhxamkxakuhaxtxvgxthndmw </a:t>
            </a:r>
          </a:p>
          <a:p>
            <a:r>
              <a:rPr lang="zh-CN" altLang="zh-CN" dirty="0"/>
              <a:t>第2列右移1位：pnyfmynhywncbliuhnvuncyiybnlyblvibyuywhyuioenx  </a:t>
            </a:r>
          </a:p>
        </p:txBody>
      </p:sp>
      <p:sp>
        <p:nvSpPr>
          <p:cNvPr id="4" name="Text Box 4">
            <a:extLst>
              <a:ext uri="{FF2B5EF4-FFF2-40B4-BE49-F238E27FC236}">
                <a16:creationId xmlns:a16="http://schemas.microsoft.com/office/drawing/2014/main" id="{4CC2E1B2-AD9A-5660-C005-F48A898BD802}"/>
              </a:ext>
            </a:extLst>
          </p:cNvPr>
          <p:cNvSpPr txBox="1">
            <a:spLocks noChangeArrowheads="1"/>
          </p:cNvSpPr>
          <p:nvPr/>
        </p:nvSpPr>
        <p:spPr bwMode="auto">
          <a:xfrm>
            <a:off x="6029216" y="2705738"/>
            <a:ext cx="58324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zh-CN" dirty="0"/>
              <a:t>统计信息：</a:t>
            </a:r>
          </a:p>
          <a:p>
            <a:r>
              <a:rPr lang="zh-CN" altLang="zh-CN" dirty="0"/>
              <a:t>a b c d e f g h i </a:t>
            </a:r>
            <a:r>
              <a:rPr lang="en-US" altLang="zh-CN" dirty="0"/>
              <a:t>  </a:t>
            </a:r>
            <a:r>
              <a:rPr lang="zh-CN" altLang="zh-CN" dirty="0"/>
              <a:t>j k l m n o p q r s </a:t>
            </a:r>
            <a:r>
              <a:rPr lang="en-US" altLang="zh-CN" dirty="0"/>
              <a:t> </a:t>
            </a:r>
            <a:r>
              <a:rPr lang="zh-CN" altLang="zh-CN" dirty="0"/>
              <a:t>t u v w x </a:t>
            </a:r>
            <a:r>
              <a:rPr lang="en-US" altLang="zh-CN" dirty="0"/>
              <a:t> </a:t>
            </a:r>
            <a:r>
              <a:rPr lang="zh-CN" altLang="zh-CN" dirty="0"/>
              <a:t>y z</a:t>
            </a:r>
          </a:p>
          <a:p>
            <a:r>
              <a:rPr lang="zh-CN" altLang="zh-CN" dirty="0"/>
              <a:t>0 0 1 0 3 0 1 1 3</a:t>
            </a:r>
            <a:r>
              <a:rPr lang="en-US" altLang="zh-CN" dirty="0"/>
              <a:t> </a:t>
            </a:r>
            <a:r>
              <a:rPr lang="zh-CN" altLang="zh-CN" dirty="0"/>
              <a:t>4</a:t>
            </a:r>
            <a:r>
              <a:rPr lang="en-US" altLang="zh-CN" dirty="0"/>
              <a:t> </a:t>
            </a:r>
            <a:r>
              <a:rPr lang="zh-CN" altLang="zh-CN" dirty="0"/>
              <a:t>6 0</a:t>
            </a:r>
            <a:r>
              <a:rPr lang="en-US" altLang="zh-CN" dirty="0"/>
              <a:t> </a:t>
            </a:r>
            <a:r>
              <a:rPr lang="zh-CN" altLang="zh-CN" dirty="0"/>
              <a:t>2 2 4 0 </a:t>
            </a:r>
            <a:r>
              <a:rPr lang="en-US" altLang="zh-CN" dirty="0"/>
              <a:t> </a:t>
            </a:r>
            <a:r>
              <a:rPr lang="zh-CN" altLang="zh-CN" dirty="0"/>
              <a:t>0</a:t>
            </a:r>
            <a:r>
              <a:rPr lang="en-US" altLang="zh-CN" dirty="0"/>
              <a:t> </a:t>
            </a:r>
            <a:r>
              <a:rPr lang="zh-CN" altLang="zh-CN" dirty="0"/>
              <a:t>2 3 1 5 1 0</a:t>
            </a:r>
            <a:r>
              <a:rPr lang="en-US" altLang="zh-CN" dirty="0"/>
              <a:t>  </a:t>
            </a:r>
            <a:r>
              <a:rPr lang="zh-CN" altLang="zh-CN" dirty="0"/>
              <a:t>2</a:t>
            </a:r>
            <a:r>
              <a:rPr lang="en-US" altLang="zh-CN" dirty="0"/>
              <a:t> </a:t>
            </a:r>
            <a:r>
              <a:rPr lang="zh-CN" altLang="zh-CN" dirty="0"/>
              <a:t> 2 3</a:t>
            </a:r>
          </a:p>
          <a:p>
            <a:r>
              <a:rPr lang="zh-CN" altLang="zh-CN" dirty="0"/>
              <a:t>0 4 2 0 1 1 0 3 4 0</a:t>
            </a:r>
            <a:r>
              <a:rPr lang="en-US" altLang="zh-CN" dirty="0"/>
              <a:t> </a:t>
            </a:r>
            <a:r>
              <a:rPr lang="zh-CN" altLang="zh-CN" dirty="0"/>
              <a:t>0</a:t>
            </a:r>
            <a:r>
              <a:rPr lang="en-US" altLang="zh-CN" dirty="0"/>
              <a:t> </a:t>
            </a:r>
            <a:r>
              <a:rPr lang="zh-CN" altLang="zh-CN" dirty="0"/>
              <a:t>3 1 7 1 1 </a:t>
            </a:r>
            <a:r>
              <a:rPr lang="en-US" altLang="zh-CN" dirty="0"/>
              <a:t> </a:t>
            </a:r>
            <a:r>
              <a:rPr lang="zh-CN" altLang="zh-CN" dirty="0"/>
              <a:t>0 0 0</a:t>
            </a:r>
            <a:r>
              <a:rPr lang="en-US" altLang="zh-CN" dirty="0"/>
              <a:t> </a:t>
            </a:r>
            <a:r>
              <a:rPr lang="zh-CN" altLang="zh-CN" dirty="0"/>
              <a:t>0</a:t>
            </a:r>
            <a:r>
              <a:rPr lang="en-US" altLang="zh-CN" dirty="0"/>
              <a:t> </a:t>
            </a:r>
            <a:r>
              <a:rPr lang="zh-CN" altLang="zh-CN" dirty="0"/>
              <a:t>4 2 2</a:t>
            </a:r>
            <a:r>
              <a:rPr lang="en-US" altLang="zh-CN" dirty="0"/>
              <a:t> </a:t>
            </a:r>
            <a:r>
              <a:rPr lang="zh-CN" altLang="zh-CN" dirty="0"/>
              <a:t> 1 </a:t>
            </a:r>
            <a:r>
              <a:rPr lang="en-US" altLang="zh-CN" dirty="0"/>
              <a:t> </a:t>
            </a:r>
            <a:r>
              <a:rPr lang="zh-CN" altLang="zh-CN" dirty="0"/>
              <a:t>9 0 </a:t>
            </a:r>
          </a:p>
          <a:p>
            <a:endParaRPr lang="zh-CN" altLang="zh-CN" dirty="0"/>
          </a:p>
        </p:txBody>
      </p:sp>
      <p:sp>
        <p:nvSpPr>
          <p:cNvPr id="5" name="Text Box 5">
            <a:extLst>
              <a:ext uri="{FF2B5EF4-FFF2-40B4-BE49-F238E27FC236}">
                <a16:creationId xmlns:a16="http://schemas.microsoft.com/office/drawing/2014/main" id="{EF35070D-3C5E-D91E-A83B-172897D695AA}"/>
              </a:ext>
            </a:extLst>
          </p:cNvPr>
          <p:cNvSpPr txBox="1">
            <a:spLocks noChangeArrowheads="1"/>
          </p:cNvSpPr>
          <p:nvPr/>
        </p:nvSpPr>
        <p:spPr bwMode="auto">
          <a:xfrm>
            <a:off x="5124826" y="3245791"/>
            <a:ext cx="10102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a:t>第1列：</a:t>
            </a:r>
          </a:p>
        </p:txBody>
      </p:sp>
      <p:sp>
        <p:nvSpPr>
          <p:cNvPr id="6" name="Text Box 6">
            <a:extLst>
              <a:ext uri="{FF2B5EF4-FFF2-40B4-BE49-F238E27FC236}">
                <a16:creationId xmlns:a16="http://schemas.microsoft.com/office/drawing/2014/main" id="{DB4C1BC8-369B-8AB7-3BDE-0BFF44838F0C}"/>
              </a:ext>
            </a:extLst>
          </p:cNvPr>
          <p:cNvSpPr txBox="1">
            <a:spLocks noChangeArrowheads="1"/>
          </p:cNvSpPr>
          <p:nvPr/>
        </p:nvSpPr>
        <p:spPr bwMode="auto">
          <a:xfrm>
            <a:off x="4367847" y="3539971"/>
            <a:ext cx="1835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dirty="0"/>
              <a:t>第2列右移1位：</a:t>
            </a:r>
          </a:p>
        </p:txBody>
      </p:sp>
      <p:graphicFrame>
        <p:nvGraphicFramePr>
          <p:cNvPr id="7" name="Object 8">
            <a:extLst>
              <a:ext uri="{FF2B5EF4-FFF2-40B4-BE49-F238E27FC236}">
                <a16:creationId xmlns:a16="http://schemas.microsoft.com/office/drawing/2014/main" id="{65F07270-544A-E3A1-EC35-8C5DC65FA916}"/>
              </a:ext>
            </a:extLst>
          </p:cNvPr>
          <p:cNvGraphicFramePr>
            <a:graphicFrameLocks noChangeAspect="1"/>
          </p:cNvGraphicFramePr>
          <p:nvPr>
            <p:extLst>
              <p:ext uri="{D42A27DB-BD31-4B8C-83A1-F6EECF244321}">
                <p14:modId xmlns:p14="http://schemas.microsoft.com/office/powerpoint/2010/main" val="429388028"/>
              </p:ext>
            </p:extLst>
          </p:nvPr>
        </p:nvGraphicFramePr>
        <p:xfrm>
          <a:off x="4960080" y="4296778"/>
          <a:ext cx="5375663" cy="1058512"/>
        </p:xfrm>
        <a:graphic>
          <a:graphicData uri="http://schemas.openxmlformats.org/presentationml/2006/ole">
            <mc:AlternateContent xmlns:mc="http://schemas.openxmlformats.org/markup-compatibility/2006">
              <mc:Choice xmlns:v="urn:schemas-microsoft-com:vml" Requires="v">
                <p:oleObj r:id="rId4" imgW="3288960" imgH="647640" progId="Equation.3">
                  <p:embed/>
                </p:oleObj>
              </mc:Choice>
              <mc:Fallback>
                <p:oleObj r:id="rId4" imgW="3288960" imgH="647640" progId="Equation.3">
                  <p:embed/>
                  <p:pic>
                    <p:nvPicPr>
                      <p:cNvPr id="65544"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0080" y="4296778"/>
                        <a:ext cx="5375663" cy="1058512"/>
                      </a:xfrm>
                      <a:prstGeom prst="rect">
                        <a:avLst/>
                      </a:prstGeom>
                      <a:noFill/>
                      <a:ln>
                        <a:noFill/>
                      </a:ln>
                    </p:spPr>
                  </p:pic>
                </p:oleObj>
              </mc:Fallback>
            </mc:AlternateContent>
          </a:graphicData>
        </a:graphic>
      </p:graphicFrame>
      <p:sp>
        <p:nvSpPr>
          <p:cNvPr id="8" name="Text Box 9">
            <a:extLst>
              <a:ext uri="{FF2B5EF4-FFF2-40B4-BE49-F238E27FC236}">
                <a16:creationId xmlns:a16="http://schemas.microsoft.com/office/drawing/2014/main" id="{581539B6-9882-91ED-C1F5-462EB24ACF8A}"/>
              </a:ext>
            </a:extLst>
          </p:cNvPr>
          <p:cNvSpPr txBox="1">
            <a:spLocks noChangeArrowheads="1"/>
          </p:cNvSpPr>
          <p:nvPr/>
        </p:nvSpPr>
        <p:spPr bwMode="auto">
          <a:xfrm>
            <a:off x="10104063" y="4840561"/>
            <a:ext cx="1647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dirty="0"/>
              <a:t>=0.0388</a:t>
            </a:r>
          </a:p>
        </p:txBody>
      </p:sp>
      <p:sp>
        <p:nvSpPr>
          <p:cNvPr id="9" name="Text Box 10">
            <a:extLst>
              <a:ext uri="{FF2B5EF4-FFF2-40B4-BE49-F238E27FC236}">
                <a16:creationId xmlns:a16="http://schemas.microsoft.com/office/drawing/2014/main" id="{2378F445-3ED9-4B83-47B2-B8E2CCA67A63}"/>
              </a:ext>
            </a:extLst>
          </p:cNvPr>
          <p:cNvSpPr txBox="1">
            <a:spLocks noChangeArrowheads="1"/>
          </p:cNvSpPr>
          <p:nvPr/>
        </p:nvSpPr>
        <p:spPr bwMode="auto">
          <a:xfrm>
            <a:off x="4367847" y="3942833"/>
            <a:ext cx="32800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pPr algn="ctr"/>
            <a:r>
              <a:rPr lang="zh-CN" altLang="zh-CN" dirty="0"/>
              <a:t>第1列和第2列右移1位的X值：</a:t>
            </a:r>
          </a:p>
        </p:txBody>
      </p:sp>
      <p:sp>
        <p:nvSpPr>
          <p:cNvPr id="10" name="Text Box 11">
            <a:extLst>
              <a:ext uri="{FF2B5EF4-FFF2-40B4-BE49-F238E27FC236}">
                <a16:creationId xmlns:a16="http://schemas.microsoft.com/office/drawing/2014/main" id="{42D46512-C774-1F64-E016-0FA18B3B64DE}"/>
              </a:ext>
            </a:extLst>
          </p:cNvPr>
          <p:cNvSpPr txBox="1">
            <a:spLocks noChangeArrowheads="1"/>
          </p:cNvSpPr>
          <p:nvPr/>
        </p:nvSpPr>
        <p:spPr bwMode="auto">
          <a:xfrm>
            <a:off x="4367847" y="5488654"/>
            <a:ext cx="738404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rgbClr val="000000"/>
                </a:solidFill>
                <a:latin typeface="Arial" panose="020B0604020202020204" pitchFamily="34" charset="0"/>
                <a:ea typeface="宋体" panose="02010600030101010101" pitchFamily="2" charset="-122"/>
              </a:defRPr>
            </a:lvl1pPr>
            <a:lvl2pPr marL="742950" indent="-285750">
              <a:defRPr b="1">
                <a:solidFill>
                  <a:srgbClr val="000000"/>
                </a:solidFill>
                <a:latin typeface="Arial" panose="020B0604020202020204" pitchFamily="34" charset="0"/>
                <a:ea typeface="宋体" panose="02010600030101010101" pitchFamily="2" charset="-122"/>
              </a:defRPr>
            </a:lvl2pPr>
            <a:lvl3pPr marL="1143000" indent="-228600">
              <a:defRPr b="1">
                <a:solidFill>
                  <a:srgbClr val="000000"/>
                </a:solidFill>
                <a:latin typeface="Arial" panose="020B0604020202020204" pitchFamily="34" charset="0"/>
                <a:ea typeface="宋体" panose="02010600030101010101" pitchFamily="2" charset="-122"/>
              </a:defRPr>
            </a:lvl3pPr>
            <a:lvl4pPr marL="1600200" indent="-228600">
              <a:defRPr b="1">
                <a:solidFill>
                  <a:srgbClr val="000000"/>
                </a:solidFill>
                <a:latin typeface="Arial" panose="020B0604020202020204" pitchFamily="34" charset="0"/>
                <a:ea typeface="宋体" panose="02010600030101010101" pitchFamily="2" charset="-122"/>
              </a:defRPr>
            </a:lvl4pPr>
            <a:lvl5pPr marL="2057400" indent="-228600">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rgbClr val="000000"/>
                </a:solidFill>
                <a:latin typeface="Arial" panose="020B0604020202020204" pitchFamily="34" charset="0"/>
                <a:ea typeface="宋体" panose="02010600030101010101" pitchFamily="2" charset="-122"/>
              </a:defRPr>
            </a:lvl9pPr>
          </a:lstStyle>
          <a:p>
            <a:r>
              <a:rPr lang="zh-CN" altLang="zh-CN" dirty="0"/>
              <a:t>重复移动2~7列字母，移动距离分别为1~25，并分别计算相当于第1列的X值，取最大值得：</a:t>
            </a:r>
          </a:p>
          <a:p>
            <a:r>
              <a:rPr lang="zh-CN" altLang="zh-CN" dirty="0"/>
              <a:t>   列： 2    </a:t>
            </a:r>
            <a:r>
              <a:rPr lang="en-US" altLang="zh-CN" dirty="0"/>
              <a:t> </a:t>
            </a:r>
            <a:r>
              <a:rPr lang="zh-CN" altLang="zh-CN" dirty="0"/>
              <a:t>3      4      5       6        7</a:t>
            </a:r>
          </a:p>
          <a:p>
            <a:r>
              <a:rPr lang="zh-CN" altLang="zh-CN" dirty="0"/>
              <a:t>距离： 13   22     7     </a:t>
            </a:r>
            <a:r>
              <a:rPr lang="en-US" altLang="zh-CN" dirty="0"/>
              <a:t> </a:t>
            </a:r>
            <a:r>
              <a:rPr lang="zh-CN" altLang="zh-CN" dirty="0"/>
              <a:t>2      19      15</a:t>
            </a:r>
          </a:p>
        </p:txBody>
      </p:sp>
      <p:sp>
        <p:nvSpPr>
          <p:cNvPr id="11" name="文本框 10">
            <a:extLst>
              <a:ext uri="{FF2B5EF4-FFF2-40B4-BE49-F238E27FC236}">
                <a16:creationId xmlns:a16="http://schemas.microsoft.com/office/drawing/2014/main" id="{28AB44A8-A1A3-71BF-02E5-9FAC59C068AF}"/>
              </a:ext>
            </a:extLst>
          </p:cNvPr>
          <p:cNvSpPr txBox="1"/>
          <p:nvPr/>
        </p:nvSpPr>
        <p:spPr>
          <a:xfrm>
            <a:off x="8635891" y="6146017"/>
            <a:ext cx="3396343" cy="369332"/>
          </a:xfrm>
          <a:prstGeom prst="rect">
            <a:avLst/>
          </a:prstGeom>
          <a:noFill/>
        </p:spPr>
        <p:txBody>
          <a:bodyPr wrap="square" rtlCol="0">
            <a:spAutoFit/>
          </a:bodyPr>
          <a:lstStyle/>
          <a:p>
            <a:r>
              <a:rPr lang="zh-CN" altLang="en-US" b="1" dirty="0"/>
              <a:t>移动后，利用凯撒密码分析求解</a:t>
            </a:r>
          </a:p>
        </p:txBody>
      </p:sp>
    </p:spTree>
    <p:extLst>
      <p:ext uri="{BB962C8B-B14F-4D97-AF65-F5344CB8AC3E}">
        <p14:creationId xmlns:p14="http://schemas.microsoft.com/office/powerpoint/2010/main" val="16486843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transition="in" filter="blinds(horizontal)">
                                      <p:cBhvr>
                                        <p:cTn id="7" dur="500"/>
                                        <p:tgtEl>
                                          <p:spTgt spid="12294"/>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12295"/>
                                        </p:tgtEl>
                                        <p:attrNameLst>
                                          <p:attrName>style.visibility</p:attrName>
                                        </p:attrNameLst>
                                      </p:cBhvr>
                                      <p:to>
                                        <p:strVal val="visible"/>
                                      </p:to>
                                    </p:set>
                                    <p:animEffect transition="in" filter="blinds(horizontal)">
                                      <p:cBhvr>
                                        <p:cTn id="11"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bldLvl="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3.7.6 </a:t>
            </a:r>
            <a:r>
              <a:rPr lang="en-US" altLang="zh-CN" dirty="0" err="1"/>
              <a:t>Vernam</a:t>
            </a:r>
            <a:r>
              <a:rPr lang="zh-CN" altLang="en-US" dirty="0"/>
              <a:t>密码与一次一密密码</a:t>
            </a:r>
          </a:p>
        </p:txBody>
      </p:sp>
      <p:sp>
        <p:nvSpPr>
          <p:cNvPr id="3" name="内容占位符 2"/>
          <p:cNvSpPr>
            <a:spLocks noGrp="1"/>
          </p:cNvSpPr>
          <p:nvPr>
            <p:ph idx="1"/>
          </p:nvPr>
        </p:nvSpPr>
        <p:spPr>
          <a:xfrm>
            <a:off x="838200" y="1510758"/>
            <a:ext cx="10467109" cy="4982116"/>
          </a:xfrm>
        </p:spPr>
        <p:txBody>
          <a:bodyPr>
            <a:normAutofit/>
          </a:bodyPr>
          <a:lstStyle/>
          <a:p>
            <a:pPr>
              <a:lnSpc>
                <a:spcPct val="150000"/>
              </a:lnSpc>
            </a:pPr>
            <a:r>
              <a:rPr lang="zh-CN" altLang="en-US" sz="2400" dirty="0"/>
              <a:t>密钥与明文一样长，可以</a:t>
            </a:r>
            <a:r>
              <a:rPr lang="zh-CN" altLang="en-US" sz="2400" dirty="0">
                <a:solidFill>
                  <a:srgbClr val="C00000"/>
                </a:solidFill>
              </a:rPr>
              <a:t>挫败</a:t>
            </a:r>
            <a:r>
              <a:rPr lang="en-US" altLang="zh-CN" sz="2400" dirty="0" err="1">
                <a:solidFill>
                  <a:srgbClr val="C00000"/>
                </a:solidFill>
              </a:rPr>
              <a:t>Kasiski</a:t>
            </a:r>
            <a:r>
              <a:rPr lang="zh-CN" altLang="en-US" sz="2400" b="1" dirty="0">
                <a:solidFill>
                  <a:srgbClr val="C00000"/>
                </a:solidFill>
              </a:rPr>
              <a:t>（</a:t>
            </a:r>
            <a:r>
              <a:rPr lang="zh-CN" altLang="en-US" sz="2400" dirty="0">
                <a:solidFill>
                  <a:srgbClr val="C00000"/>
                </a:solidFill>
              </a:rPr>
              <a:t>卡西斯基</a:t>
            </a:r>
            <a:r>
              <a:rPr lang="zh-CN" altLang="en-US" sz="2400" b="1" dirty="0">
                <a:solidFill>
                  <a:srgbClr val="C00000"/>
                </a:solidFill>
              </a:rPr>
              <a:t>）</a:t>
            </a:r>
            <a:r>
              <a:rPr lang="zh-CN" altLang="en-US" sz="2400" dirty="0">
                <a:solidFill>
                  <a:srgbClr val="C00000"/>
                </a:solidFill>
              </a:rPr>
              <a:t>攻击</a:t>
            </a:r>
            <a:r>
              <a:rPr lang="zh-CN" altLang="en-US" sz="2400" dirty="0"/>
              <a:t>（假设密钥没有重复）。</a:t>
            </a:r>
          </a:p>
          <a:p>
            <a:pPr>
              <a:lnSpc>
                <a:spcPct val="150000"/>
              </a:lnSpc>
            </a:pPr>
            <a:r>
              <a:rPr lang="zh-CN" altLang="en-US" sz="2400" dirty="0"/>
              <a:t>方法：使用一本书（或其他文件）中的文字作为基于移位字母表的代替密码的密钥。密钥由书的标题和开始位置来指定。</a:t>
            </a:r>
          </a:p>
          <a:p>
            <a:pPr>
              <a:lnSpc>
                <a:spcPct val="150000"/>
              </a:lnSpc>
            </a:pPr>
            <a:r>
              <a:rPr lang="zh-CN" altLang="en-US" sz="2400" dirty="0"/>
              <a:t>破译：</a:t>
            </a:r>
            <a:r>
              <a:rPr lang="en-US" altLang="zh-CN" sz="2400" dirty="0"/>
              <a:t>Friedman</a:t>
            </a:r>
            <a:r>
              <a:rPr lang="zh-CN" altLang="en-US" sz="2400" dirty="0"/>
              <a:t>方法。假设所有密文字母都对应于高频字母对（例如 </a:t>
            </a:r>
            <a:r>
              <a:rPr lang="en-US" altLang="zh-CN" sz="2400" dirty="0"/>
              <a:t>the</a:t>
            </a:r>
            <a:r>
              <a:rPr lang="zh-CN" altLang="en-US" sz="2400" dirty="0"/>
              <a:t>、</a:t>
            </a:r>
            <a:r>
              <a:rPr lang="en-US" altLang="zh-CN" sz="2400" dirty="0" err="1"/>
              <a:t>ing</a:t>
            </a:r>
            <a:r>
              <a:rPr lang="zh-CN" altLang="en-US" sz="2400" dirty="0"/>
              <a:t>）。不稳妥。</a:t>
            </a:r>
          </a:p>
          <a:p>
            <a:pPr>
              <a:lnSpc>
                <a:spcPct val="150000"/>
              </a:lnSpc>
            </a:pPr>
            <a:endParaRPr lang="en-US" altLang="zh-CN" dirty="0">
              <a:solidFill>
                <a:srgbClr val="C00000"/>
              </a:solidFill>
            </a:endParaRPr>
          </a:p>
          <a:p>
            <a:pPr>
              <a:lnSpc>
                <a:spcPct val="150000"/>
              </a:lnSpc>
            </a:pPr>
            <a:endParaRPr lang="zh-CN" altLang="en-US" dirty="0">
              <a:solidFill>
                <a:srgbClr val="C00000"/>
              </a:solidFill>
            </a:endParaRP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79</a:t>
            </a:fld>
            <a:endParaRPr kumimoji="1" lang="zh-CN" altLang="en-US" dirty="0"/>
          </a:p>
        </p:txBody>
      </p:sp>
    </p:spTree>
    <p:extLst>
      <p:ext uri="{BB962C8B-B14F-4D97-AF65-F5344CB8AC3E}">
        <p14:creationId xmlns:p14="http://schemas.microsoft.com/office/powerpoint/2010/main" val="3133206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3.7.6 Vernam</a:t>
            </a:r>
            <a:r>
              <a:rPr lang="zh-CN" altLang="en-US" dirty="0"/>
              <a:t>密码与一次一密密码</a:t>
            </a:r>
          </a:p>
        </p:txBody>
      </p:sp>
      <p:sp>
        <p:nvSpPr>
          <p:cNvPr id="3" name="内容占位符 2"/>
          <p:cNvSpPr>
            <a:spLocks noGrp="1"/>
          </p:cNvSpPr>
          <p:nvPr>
            <p:ph idx="1"/>
          </p:nvPr>
        </p:nvSpPr>
        <p:spPr>
          <a:xfrm>
            <a:off x="838200" y="1510758"/>
            <a:ext cx="10467109" cy="4982116"/>
          </a:xfrm>
        </p:spPr>
        <p:txBody>
          <a:bodyPr>
            <a:normAutofit/>
          </a:bodyPr>
          <a:lstStyle/>
          <a:p>
            <a:pPr>
              <a:lnSpc>
                <a:spcPct val="150000"/>
              </a:lnSpc>
            </a:pPr>
            <a:r>
              <a:rPr lang="en-US" altLang="zh-CN" sz="2400" dirty="0">
                <a:solidFill>
                  <a:srgbClr val="C00000"/>
                </a:solidFill>
              </a:rPr>
              <a:t>Vernam</a:t>
            </a:r>
            <a:r>
              <a:rPr lang="zh-CN" altLang="en-US" sz="2400" dirty="0">
                <a:solidFill>
                  <a:srgbClr val="C00000"/>
                </a:solidFill>
              </a:rPr>
              <a:t>（弗纳姆）密码</a:t>
            </a:r>
            <a:r>
              <a:rPr lang="zh-CN" altLang="en-US" sz="2400" dirty="0"/>
              <a:t>：</a:t>
            </a:r>
          </a:p>
          <a:p>
            <a:pPr lvl="1">
              <a:lnSpc>
                <a:spcPct val="150000"/>
              </a:lnSpc>
            </a:pPr>
            <a:r>
              <a:rPr lang="zh-CN" altLang="en-US" dirty="0"/>
              <a:t>加密：</a:t>
            </a:r>
            <a:r>
              <a:rPr lang="en-US" altLang="zh-CN" dirty="0"/>
              <a:t>c</a:t>
            </a:r>
            <a:r>
              <a:rPr lang="en-US" altLang="zh-CN" baseline="-25000" dirty="0"/>
              <a:t>i</a:t>
            </a:r>
            <a:r>
              <a:rPr lang="en-US" altLang="zh-CN" dirty="0"/>
              <a:t>=</a:t>
            </a:r>
            <a:r>
              <a:rPr lang="en-US" altLang="zh-CN" dirty="0" err="1"/>
              <a:t>m</a:t>
            </a:r>
            <a:r>
              <a:rPr lang="en-US" altLang="zh-CN" baseline="-25000" dirty="0" err="1"/>
              <a:t>i</a:t>
            </a:r>
            <a:r>
              <a:rPr lang="en-US" altLang="zh-CN" dirty="0" err="1"/>
              <a:t>+k</a:t>
            </a:r>
            <a:r>
              <a:rPr lang="en-US" altLang="zh-CN" baseline="-25000" dirty="0" err="1"/>
              <a:t>i</a:t>
            </a:r>
            <a:r>
              <a:rPr lang="en-US" altLang="zh-CN" dirty="0"/>
              <a:t> mod 2</a:t>
            </a:r>
          </a:p>
          <a:p>
            <a:pPr lvl="1">
              <a:lnSpc>
                <a:spcPct val="150000"/>
              </a:lnSpc>
            </a:pPr>
            <a:r>
              <a:rPr lang="zh-CN" altLang="en-US" dirty="0"/>
              <a:t>解密：</a:t>
            </a:r>
            <a:r>
              <a:rPr lang="en-US" altLang="zh-CN" dirty="0"/>
              <a:t>m</a:t>
            </a:r>
            <a:r>
              <a:rPr lang="en-US" altLang="zh-CN" baseline="-25000" dirty="0"/>
              <a:t>i</a:t>
            </a:r>
            <a:r>
              <a:rPr lang="en-US" altLang="zh-CN" dirty="0"/>
              <a:t>=</a:t>
            </a:r>
            <a:r>
              <a:rPr lang="en-US" altLang="zh-CN" dirty="0" err="1"/>
              <a:t>c</a:t>
            </a:r>
            <a:r>
              <a:rPr lang="en-US" altLang="zh-CN" baseline="-25000" dirty="0" err="1"/>
              <a:t>i</a:t>
            </a:r>
            <a:r>
              <a:rPr lang="en-US" altLang="zh-CN" dirty="0" err="1"/>
              <a:t>+k</a:t>
            </a:r>
            <a:r>
              <a:rPr lang="en-US" altLang="zh-CN" baseline="-25000" dirty="0" err="1"/>
              <a:t>i</a:t>
            </a:r>
            <a:r>
              <a:rPr lang="en-US" altLang="zh-CN" dirty="0"/>
              <a:t> mod 2</a:t>
            </a:r>
          </a:p>
          <a:p>
            <a:pPr lvl="1">
              <a:lnSpc>
                <a:spcPct val="150000"/>
              </a:lnSpc>
            </a:pPr>
            <a:r>
              <a:rPr lang="zh-CN" altLang="en-US" dirty="0"/>
              <a:t>例：</a:t>
            </a:r>
            <a:r>
              <a:rPr lang="en-US" altLang="zh-CN" dirty="0"/>
              <a:t>11000</a:t>
            </a:r>
            <a:r>
              <a:rPr lang="en-US" altLang="zh-CN" dirty="0">
                <a:sym typeface="Symbol" panose="05050102010706020507" pitchFamily="18" charset="2"/>
              </a:rPr>
              <a:t></a:t>
            </a:r>
            <a:r>
              <a:rPr lang="en-US" altLang="zh-CN" dirty="0"/>
              <a:t>10010 </a:t>
            </a:r>
            <a:r>
              <a:rPr lang="zh-CN" altLang="en-US" dirty="0"/>
              <a:t>＝</a:t>
            </a:r>
            <a:r>
              <a:rPr lang="en-US" altLang="zh-CN" dirty="0"/>
              <a:t>01010</a:t>
            </a:r>
          </a:p>
          <a:p>
            <a:pPr>
              <a:lnSpc>
                <a:spcPct val="150000"/>
              </a:lnSpc>
            </a:pPr>
            <a:r>
              <a:rPr lang="zh-CN" altLang="en-US" sz="2400" dirty="0"/>
              <a:t>一次一密：密钥为一个随机且不重复的字符序列。无条件安全（绝对无法破译）</a:t>
            </a:r>
            <a:endParaRPr lang="en-US" altLang="zh-CN" sz="2400" dirty="0"/>
          </a:p>
          <a:p>
            <a:pPr>
              <a:lnSpc>
                <a:spcPct val="150000"/>
              </a:lnSpc>
            </a:pPr>
            <a:r>
              <a:rPr lang="zh-CN" altLang="en-US" sz="2400" dirty="0"/>
              <a:t>绝对随机、密钥和明文一样长、一次一密</a:t>
            </a:r>
          </a:p>
          <a:p>
            <a:pPr>
              <a:lnSpc>
                <a:spcPct val="150000"/>
              </a:lnSpc>
            </a:pPr>
            <a:r>
              <a:rPr lang="zh-CN" altLang="en-US" sz="2400" dirty="0">
                <a:solidFill>
                  <a:srgbClr val="C00000"/>
                </a:solidFill>
              </a:rPr>
              <a:t>为什么不是主流？</a:t>
            </a:r>
            <a:r>
              <a:rPr lang="zh-CN" altLang="en-US" sz="2400" dirty="0"/>
              <a:t>密钥分发困境。分发一部分</a:t>
            </a:r>
            <a:r>
              <a:rPr lang="en-US" altLang="zh-CN" sz="2400" dirty="0"/>
              <a:t>+</a:t>
            </a:r>
            <a:r>
              <a:rPr lang="zh-CN" altLang="en-US" sz="2400" dirty="0"/>
              <a:t>约定一部分反而更安全。</a:t>
            </a:r>
            <a:endParaRPr lang="en-US" altLang="zh-CN" sz="2400" dirty="0">
              <a:solidFill>
                <a:srgbClr val="C00000"/>
              </a:solidFill>
            </a:endParaRPr>
          </a:p>
          <a:p>
            <a:pPr>
              <a:lnSpc>
                <a:spcPct val="150000"/>
              </a:lnSpc>
            </a:pPr>
            <a:endParaRPr lang="zh-CN" altLang="en-US" sz="2400" dirty="0">
              <a:solidFill>
                <a:srgbClr val="C00000"/>
              </a:solidFill>
            </a:endParaRPr>
          </a:p>
          <a:p>
            <a:pPr>
              <a:lnSpc>
                <a:spcPct val="150000"/>
              </a:lnSpc>
            </a:pPr>
            <a:endParaRPr lang="zh-CN" altLang="en-US"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80</a:t>
            </a:fld>
            <a:endParaRPr kumimoji="1" lang="zh-CN" altLang="en-US" dirty="0"/>
          </a:p>
        </p:txBody>
      </p:sp>
    </p:spTree>
    <p:extLst>
      <p:ext uri="{BB962C8B-B14F-4D97-AF65-F5344CB8AC3E}">
        <p14:creationId xmlns:p14="http://schemas.microsoft.com/office/powerpoint/2010/main" val="425264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3.7.7 </a:t>
            </a:r>
            <a:r>
              <a:rPr lang="zh-CN" altLang="en-US" dirty="0"/>
              <a:t>对</a:t>
            </a:r>
            <a:r>
              <a:rPr lang="en-US" altLang="zh-CN" dirty="0"/>
              <a:t>Hill</a:t>
            </a:r>
            <a:r>
              <a:rPr lang="zh-CN" altLang="en-US" dirty="0"/>
              <a:t>密码的已知明文分析</a:t>
            </a:r>
          </a:p>
        </p:txBody>
      </p:sp>
      <p:sp>
        <p:nvSpPr>
          <p:cNvPr id="3" name="内容占位符 2"/>
          <p:cNvSpPr>
            <a:spLocks noGrp="1"/>
          </p:cNvSpPr>
          <p:nvPr>
            <p:ph idx="1"/>
          </p:nvPr>
        </p:nvSpPr>
        <p:spPr>
          <a:xfrm>
            <a:off x="914399" y="1427633"/>
            <a:ext cx="10165279" cy="4982116"/>
          </a:xfrm>
        </p:spPr>
        <p:txBody>
          <a:bodyPr>
            <a:normAutofit/>
          </a:bodyPr>
          <a:lstStyle/>
          <a:p>
            <a:pPr marL="342900" indent="-342900"/>
            <a:r>
              <a:rPr lang="zh-CN" altLang="en-US" b="1" dirty="0"/>
              <a:t>例 </a:t>
            </a:r>
            <a:r>
              <a:rPr lang="en-US" altLang="zh-CN" b="1" dirty="0"/>
              <a:t>:</a:t>
            </a:r>
            <a:r>
              <a:rPr lang="en-US" altLang="zh-CN" dirty="0"/>
              <a:t>  </a:t>
            </a:r>
            <a:r>
              <a:rPr lang="zh-CN" altLang="en-US" dirty="0"/>
              <a:t>明文</a:t>
            </a:r>
            <a:r>
              <a:rPr lang="en-US" altLang="zh-CN" dirty="0" err="1"/>
              <a:t>friday</a:t>
            </a:r>
            <a:r>
              <a:rPr lang="zh-CN" altLang="en-US" dirty="0"/>
              <a:t>是用</a:t>
            </a:r>
            <a:r>
              <a:rPr lang="en-US" altLang="zh-CN" dirty="0"/>
              <a:t>Hill </a:t>
            </a:r>
            <a:r>
              <a:rPr lang="zh-CN" altLang="en-US" dirty="0"/>
              <a:t>密码加密的，</a:t>
            </a:r>
            <a:r>
              <a:rPr lang="en-US" altLang="zh-CN" dirty="0"/>
              <a:t>m=2</a:t>
            </a:r>
            <a:r>
              <a:rPr lang="zh-CN" altLang="en-US" dirty="0"/>
              <a:t>，得到密文</a:t>
            </a:r>
            <a:r>
              <a:rPr lang="en-US" altLang="zh-CN" dirty="0"/>
              <a:t>POCFKC</a:t>
            </a:r>
            <a:r>
              <a:rPr lang="zh-CN" altLang="en-US" dirty="0"/>
              <a:t>。 </a:t>
            </a:r>
          </a:p>
          <a:p>
            <a:pPr marL="342900" indent="-342900"/>
            <a:r>
              <a:rPr lang="zh-CN" altLang="en-US" dirty="0"/>
              <a:t>则有                 ，                   ，                      。</a:t>
            </a:r>
          </a:p>
          <a:p>
            <a:pPr marL="342900" indent="-342900"/>
            <a:r>
              <a:rPr lang="zh-CN" altLang="en-US" dirty="0"/>
              <a:t>从最初两个明文对，我们得到矩阵方程</a:t>
            </a:r>
          </a:p>
          <a:p>
            <a:pPr marL="342900" indent="-342900"/>
            <a:endParaRPr lang="zh-CN" altLang="en-US" dirty="0"/>
          </a:p>
          <a:p>
            <a:pPr marL="342900" indent="-342900"/>
            <a:r>
              <a:rPr lang="zh-CN" altLang="en-US" dirty="0"/>
              <a:t>                           ，容易计算                           ，</a:t>
            </a:r>
          </a:p>
          <a:p>
            <a:pPr marL="342900" indent="-342900"/>
            <a:endParaRPr lang="zh-CN" altLang="en-US" dirty="0"/>
          </a:p>
          <a:p>
            <a:pPr marL="342900" indent="-342900"/>
            <a:r>
              <a:rPr lang="zh-CN" altLang="en-US" dirty="0"/>
              <a:t>所以                                                         。</a:t>
            </a:r>
          </a:p>
          <a:p>
            <a:pPr marL="342900" indent="-342900"/>
            <a:endParaRPr lang="zh-CN" altLang="en-US" dirty="0"/>
          </a:p>
          <a:p>
            <a:pPr marL="342900" indent="-342900"/>
            <a:r>
              <a:rPr lang="zh-CN" altLang="en-US" dirty="0"/>
              <a:t>可用第三个明密文对验证。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81</a:t>
            </a:fld>
            <a:endParaRPr kumimoji="1" lang="zh-CN" altLang="en-US" dirty="0"/>
          </a:p>
        </p:txBody>
      </p:sp>
      <p:graphicFrame>
        <p:nvGraphicFramePr>
          <p:cNvPr id="5" name="Object 6"/>
          <p:cNvGraphicFramePr>
            <a:graphicFrameLocks noChangeAspect="1"/>
          </p:cNvGraphicFramePr>
          <p:nvPr>
            <p:extLst>
              <p:ext uri="{D42A27DB-BD31-4B8C-83A1-F6EECF244321}">
                <p14:modId xmlns:p14="http://schemas.microsoft.com/office/powerpoint/2010/main" val="784975544"/>
              </p:ext>
            </p:extLst>
          </p:nvPr>
        </p:nvGraphicFramePr>
        <p:xfrm>
          <a:off x="2128406" y="2412206"/>
          <a:ext cx="1841767" cy="385763"/>
        </p:xfrm>
        <a:graphic>
          <a:graphicData uri="http://schemas.openxmlformats.org/presentationml/2006/ole">
            <mc:AlternateContent xmlns:mc="http://schemas.openxmlformats.org/markup-compatibility/2006">
              <mc:Choice xmlns:v="urn:schemas-microsoft-com:vml" Requires="v">
                <p:oleObj name="公式" r:id="rId2" imgW="1091726" imgH="228501" progId="Equation.3">
                  <p:embed/>
                </p:oleObj>
              </mc:Choice>
              <mc:Fallback>
                <p:oleObj name="公式" r:id="rId2" imgW="1091726" imgH="228501" progId="Equation.3">
                  <p:embed/>
                  <p:pic>
                    <p:nvPicPr>
                      <p:cNvPr id="6759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406" y="2412206"/>
                        <a:ext cx="1841767" cy="385763"/>
                      </a:xfrm>
                      <a:prstGeom prst="rect">
                        <a:avLst/>
                      </a:prstGeom>
                      <a:noFill/>
                      <a:ln>
                        <a:noFill/>
                      </a:ln>
                    </p:spPr>
                  </p:pic>
                </p:oleObj>
              </mc:Fallback>
            </mc:AlternateContent>
          </a:graphicData>
        </a:graphic>
      </p:graphicFrame>
      <p:graphicFrame>
        <p:nvGraphicFramePr>
          <p:cNvPr id="6" name="Object 8"/>
          <p:cNvGraphicFramePr>
            <a:graphicFrameLocks noChangeAspect="1"/>
          </p:cNvGraphicFramePr>
          <p:nvPr>
            <p:extLst>
              <p:ext uri="{D42A27DB-BD31-4B8C-83A1-F6EECF244321}">
                <p14:modId xmlns:p14="http://schemas.microsoft.com/office/powerpoint/2010/main" val="3462621897"/>
              </p:ext>
            </p:extLst>
          </p:nvPr>
        </p:nvGraphicFramePr>
        <p:xfrm>
          <a:off x="4361007" y="2412206"/>
          <a:ext cx="1774825" cy="413877"/>
        </p:xfrm>
        <a:graphic>
          <a:graphicData uri="http://schemas.openxmlformats.org/presentationml/2006/ole">
            <mc:AlternateContent xmlns:mc="http://schemas.openxmlformats.org/markup-compatibility/2006">
              <mc:Choice xmlns:v="urn:schemas-microsoft-com:vml" Requires="v">
                <p:oleObj name="公式" r:id="rId4" imgW="977900" imgH="228600" progId="Equation.3">
                  <p:embed/>
                </p:oleObj>
              </mc:Choice>
              <mc:Fallback>
                <p:oleObj name="公式" r:id="rId4" imgW="977900" imgH="228600" progId="Equation.3">
                  <p:embed/>
                  <p:pic>
                    <p:nvPicPr>
                      <p:cNvPr id="67592"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1007" y="2412206"/>
                        <a:ext cx="1774825" cy="413877"/>
                      </a:xfrm>
                      <a:prstGeom prst="rect">
                        <a:avLst/>
                      </a:prstGeom>
                      <a:noFill/>
                      <a:ln>
                        <a:noFill/>
                      </a:ln>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3374794069"/>
              </p:ext>
            </p:extLst>
          </p:nvPr>
        </p:nvGraphicFramePr>
        <p:xfrm>
          <a:off x="6645420" y="2412206"/>
          <a:ext cx="1908012" cy="413877"/>
        </p:xfrm>
        <a:graphic>
          <a:graphicData uri="http://schemas.openxmlformats.org/presentationml/2006/ole">
            <mc:AlternateContent xmlns:mc="http://schemas.openxmlformats.org/markup-compatibility/2006">
              <mc:Choice xmlns:v="urn:schemas-microsoft-com:vml" Requires="v">
                <p:oleObj name="公式" r:id="rId6" imgW="1054100" imgH="228600" progId="Equation.3">
                  <p:embed/>
                </p:oleObj>
              </mc:Choice>
              <mc:Fallback>
                <p:oleObj name="公式" r:id="rId6" imgW="1054100" imgH="228600" progId="Equation.3">
                  <p:embed/>
                  <p:pic>
                    <p:nvPicPr>
                      <p:cNvPr id="67594"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45420" y="2412206"/>
                        <a:ext cx="1908012" cy="413877"/>
                      </a:xfrm>
                      <a:prstGeom prst="rect">
                        <a:avLst/>
                      </a:prstGeom>
                      <a:noFill/>
                      <a:ln>
                        <a:noFill/>
                      </a:ln>
                    </p:spPr>
                  </p:pic>
                </p:oleObj>
              </mc:Fallback>
            </mc:AlternateContent>
          </a:graphicData>
        </a:graphic>
      </p:graphicFrame>
      <p:graphicFrame>
        <p:nvGraphicFramePr>
          <p:cNvPr id="8" name="Object 12"/>
          <p:cNvGraphicFramePr>
            <a:graphicFrameLocks noChangeAspect="1"/>
          </p:cNvGraphicFramePr>
          <p:nvPr>
            <p:extLst>
              <p:ext uri="{D42A27DB-BD31-4B8C-83A1-F6EECF244321}">
                <p14:modId xmlns:p14="http://schemas.microsoft.com/office/powerpoint/2010/main" val="1755501151"/>
              </p:ext>
            </p:extLst>
          </p:nvPr>
        </p:nvGraphicFramePr>
        <p:xfrm>
          <a:off x="1658773" y="3674674"/>
          <a:ext cx="2311400" cy="809625"/>
        </p:xfrm>
        <a:graphic>
          <a:graphicData uri="http://schemas.openxmlformats.org/presentationml/2006/ole">
            <mc:AlternateContent xmlns:mc="http://schemas.openxmlformats.org/markup-compatibility/2006">
              <mc:Choice xmlns:v="urn:schemas-microsoft-com:vml" Requires="v">
                <p:oleObj name="公式" r:id="rId8" imgW="1308100" imgH="457200" progId="Equation.3">
                  <p:embed/>
                </p:oleObj>
              </mc:Choice>
              <mc:Fallback>
                <p:oleObj name="公式" r:id="rId8" imgW="1308100" imgH="457200" progId="Equation.3">
                  <p:embed/>
                  <p:pic>
                    <p:nvPicPr>
                      <p:cNvPr id="67596"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8773" y="3674674"/>
                        <a:ext cx="23114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4"/>
          <p:cNvGraphicFramePr>
            <a:graphicFrameLocks noChangeAspect="1"/>
          </p:cNvGraphicFramePr>
          <p:nvPr>
            <p:extLst>
              <p:ext uri="{D42A27DB-BD31-4B8C-83A1-F6EECF244321}">
                <p14:modId xmlns:p14="http://schemas.microsoft.com/office/powerpoint/2010/main" val="1649890318"/>
              </p:ext>
            </p:extLst>
          </p:nvPr>
        </p:nvGraphicFramePr>
        <p:xfrm>
          <a:off x="6212033" y="3634986"/>
          <a:ext cx="2332038" cy="889000"/>
        </p:xfrm>
        <a:graphic>
          <a:graphicData uri="http://schemas.openxmlformats.org/presentationml/2006/ole">
            <mc:AlternateContent xmlns:mc="http://schemas.openxmlformats.org/markup-compatibility/2006">
              <mc:Choice xmlns:v="urn:schemas-microsoft-com:vml" Requires="v">
                <p:oleObj name="公式" r:id="rId10" imgW="1294838" imgH="495085" progId="Equation.3">
                  <p:embed/>
                </p:oleObj>
              </mc:Choice>
              <mc:Fallback>
                <p:oleObj name="公式" r:id="rId10" imgW="1294838" imgH="495085" progId="Equation.3">
                  <p:embed/>
                  <p:pic>
                    <p:nvPicPr>
                      <p:cNvPr id="67598"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12033" y="3634986"/>
                        <a:ext cx="2332038"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6"/>
          <p:cNvGraphicFramePr>
            <a:graphicFrameLocks noChangeAspect="1"/>
          </p:cNvGraphicFramePr>
          <p:nvPr>
            <p:extLst>
              <p:ext uri="{D42A27DB-BD31-4B8C-83A1-F6EECF244321}">
                <p14:modId xmlns:p14="http://schemas.microsoft.com/office/powerpoint/2010/main" val="4184111806"/>
              </p:ext>
            </p:extLst>
          </p:nvPr>
        </p:nvGraphicFramePr>
        <p:xfrm>
          <a:off x="2347375" y="4797424"/>
          <a:ext cx="3649663" cy="862013"/>
        </p:xfrm>
        <a:graphic>
          <a:graphicData uri="http://schemas.openxmlformats.org/presentationml/2006/ole">
            <mc:AlternateContent xmlns:mc="http://schemas.openxmlformats.org/markup-compatibility/2006">
              <mc:Choice xmlns:v="urn:schemas-microsoft-com:vml" Requires="v">
                <p:oleObj name="公式" r:id="rId12" imgW="1930400" imgH="457200" progId="Equation.3">
                  <p:embed/>
                </p:oleObj>
              </mc:Choice>
              <mc:Fallback>
                <p:oleObj name="公式" r:id="rId12" imgW="1930400" imgH="457200" progId="Equation.3">
                  <p:embed/>
                  <p:pic>
                    <p:nvPicPr>
                      <p:cNvPr id="6760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47375" y="4797424"/>
                        <a:ext cx="3649663"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标注 10"/>
          <p:cNvSpPr/>
          <p:nvPr/>
        </p:nvSpPr>
        <p:spPr bwMode="auto">
          <a:xfrm>
            <a:off x="6664028" y="4812538"/>
            <a:ext cx="3095625" cy="1081087"/>
          </a:xfrm>
          <a:prstGeom prst="wedgeRectCallout">
            <a:avLst>
              <a:gd name="adj1" fmla="val -42430"/>
              <a:gd name="adj2" fmla="val -84625"/>
            </a:avLst>
          </a:prstGeom>
          <a:solidFill>
            <a:schemeClr val="bg1"/>
          </a:solidFill>
          <a:ln w="9525" cap="flat" cmpd="sng" algn="ctr">
            <a:solidFill>
              <a:schemeClr val="hlink"/>
            </a:solidFill>
            <a:prstDash val="solid"/>
            <a:round/>
            <a:headEnd type="none" w="med" len="med"/>
            <a:tailEnd type="none" w="med" len="med"/>
          </a:ln>
          <a:effectLst/>
        </p:spPr>
        <p:txBody>
          <a:bodyPr wrap="none" anchor="ctr"/>
          <a:lstStyle/>
          <a:p>
            <a:pPr algn="ctr">
              <a:defRPr/>
            </a:pPr>
            <a:endParaRPr lang="zh-CN" altLang="en-US">
              <a:effectLst>
                <a:outerShdw blurRad="38100" dist="38100" dir="2700000" algn="tl">
                  <a:srgbClr val="000000">
                    <a:alpha val="43137"/>
                  </a:srgbClr>
                </a:outerShdw>
              </a:effectLst>
            </a:endParaRPr>
          </a:p>
        </p:txBody>
      </p:sp>
      <p:pic>
        <p:nvPicPr>
          <p:cNvPr id="12" name="图片 2"/>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6770390" y="4928870"/>
            <a:ext cx="288290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5905814"/>
      </p:ext>
    </p:extLst>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16614</TotalTime>
  <Words>8329</Words>
  <Application>Microsoft Office PowerPoint</Application>
  <PresentationFormat>宽屏</PresentationFormat>
  <Paragraphs>1429</Paragraphs>
  <Slides>81</Slides>
  <Notes>10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6</vt:i4>
      </vt:variant>
      <vt:variant>
        <vt:lpstr>幻灯片标题</vt:lpstr>
      </vt:variant>
      <vt:variant>
        <vt:i4>81</vt:i4>
      </vt:variant>
    </vt:vector>
  </HeadingPairs>
  <TitlesOfParts>
    <vt:vector size="103" baseType="lpstr">
      <vt:lpstr>Courier</vt:lpstr>
      <vt:lpstr>Google Sans Text</vt:lpstr>
      <vt:lpstr>等线</vt:lpstr>
      <vt:lpstr>仿宋_GB2312</vt:lpstr>
      <vt:lpstr>楷体</vt:lpstr>
      <vt:lpstr>宋体</vt:lpstr>
      <vt:lpstr>微软雅黑</vt:lpstr>
      <vt:lpstr>微软雅黑</vt:lpstr>
      <vt:lpstr>Arial</vt:lpstr>
      <vt:lpstr>Cambria Math</vt:lpstr>
      <vt:lpstr>Symbol</vt:lpstr>
      <vt:lpstr>Times</vt:lpstr>
      <vt:lpstr>Times New Roman</vt:lpstr>
      <vt:lpstr>Verdana</vt:lpstr>
      <vt:lpstr>Wingdings</vt:lpstr>
      <vt:lpstr>Office 主题​​</vt:lpstr>
      <vt:lpstr>公式</vt:lpstr>
      <vt:lpstr>Picture2</vt:lpstr>
      <vt:lpstr>MSDraw.Drawing.8.2</vt:lpstr>
      <vt:lpstr>Chart</vt:lpstr>
      <vt:lpstr>Equation</vt:lpstr>
      <vt:lpstr>Equation.3</vt:lpstr>
      <vt:lpstr>第三章 古典加密方法</vt:lpstr>
      <vt:lpstr>本章思路</vt:lpstr>
      <vt:lpstr>本章内容</vt:lpstr>
      <vt:lpstr>3.1.1 密码学的起源</vt:lpstr>
      <vt:lpstr>3.1.1 密码学的起源</vt:lpstr>
      <vt:lpstr>3.1.1 密码学的起源</vt:lpstr>
      <vt:lpstr>3.1.1 密码学的起源</vt:lpstr>
      <vt:lpstr>3.1.1 密码学的起源</vt:lpstr>
      <vt:lpstr>3.1.1 密码学的起源</vt:lpstr>
      <vt:lpstr>3.1.2 密码学的发展</vt:lpstr>
      <vt:lpstr>3.1.2 密码学的发展</vt:lpstr>
      <vt:lpstr>3.1.2 密码学的发展</vt:lpstr>
      <vt:lpstr>3.1.2 密码学的发展</vt:lpstr>
      <vt:lpstr>本章内容</vt:lpstr>
      <vt:lpstr>3.2 换位法</vt:lpstr>
      <vt:lpstr>3.2 换位法</vt:lpstr>
      <vt:lpstr>3.2 换位法</vt:lpstr>
      <vt:lpstr>3.2 换位法</vt:lpstr>
      <vt:lpstr>本章内容</vt:lpstr>
      <vt:lpstr>3.3 简单代替密码</vt:lpstr>
      <vt:lpstr>3.3.1 标准字母表代替</vt:lpstr>
      <vt:lpstr>3.3.2 凯撒密码</vt:lpstr>
      <vt:lpstr>3.3.2 凯撒密码</vt:lpstr>
      <vt:lpstr>3.3.2 凯撒密码</vt:lpstr>
      <vt:lpstr>3.3.3 仿射变换</vt:lpstr>
      <vt:lpstr>3.3.3 仿射变换</vt:lpstr>
      <vt:lpstr>本章内容</vt:lpstr>
      <vt:lpstr>3.4 同音代替密码</vt:lpstr>
      <vt:lpstr>3.4 同音代替密码</vt:lpstr>
      <vt:lpstr>3.4 同音代替密码</vt:lpstr>
      <vt:lpstr>3.4 同音代替密码</vt:lpstr>
      <vt:lpstr>本章内容</vt:lpstr>
      <vt:lpstr>3.5 多表代替密码</vt:lpstr>
      <vt:lpstr>3.5.1 Vigenère密码</vt:lpstr>
      <vt:lpstr>3.5.1 Vigenère密码</vt:lpstr>
      <vt:lpstr>3.5.1 Vigenère密码</vt:lpstr>
      <vt:lpstr>3.5.2 Beaufort密码</vt:lpstr>
      <vt:lpstr>本章内容</vt:lpstr>
      <vt:lpstr>3.6.1 Playfair（普莱费尔）密码</vt:lpstr>
      <vt:lpstr>3.6.1 Playfair（普莱费尔）密码</vt:lpstr>
      <vt:lpstr>3.6.1 Playfair（普莱费尔）密码</vt:lpstr>
      <vt:lpstr>3.6.2 Hill密码</vt:lpstr>
      <vt:lpstr>3.6.2 Hill密码</vt:lpstr>
      <vt:lpstr>3.6.2 Hill密码</vt:lpstr>
      <vt:lpstr>本章内容</vt:lpstr>
      <vt:lpstr>3.7.1 密码分析与破译</vt:lpstr>
      <vt:lpstr>3.7.1 密码分析与破译</vt:lpstr>
      <vt:lpstr>3.7.2 密码算法的安全性</vt:lpstr>
      <vt:lpstr>3.7.3 换位密码分析</vt:lpstr>
      <vt:lpstr>3.7.3 换位密码分析</vt:lpstr>
      <vt:lpstr>3.7.3 换位密码分析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3.7.4 单表代替密码分析</vt:lpstr>
      <vt:lpstr>3.7.5 多表代替密码分析</vt:lpstr>
      <vt:lpstr>3.7.5 多表代替密码分析</vt:lpstr>
      <vt:lpstr>3.7.5 多表代替密码分析</vt:lpstr>
      <vt:lpstr>3.7.5 多表代替密码分析</vt:lpstr>
      <vt:lpstr>3.7.5 多表代替密码分析</vt:lpstr>
      <vt:lpstr>3.7.5 多表代替密码分析</vt:lpstr>
      <vt:lpstr>3.7.5 多表代替密码分析</vt:lpstr>
      <vt:lpstr>3.7.5 多表代替密码分析</vt:lpstr>
      <vt:lpstr>3.7.5 多表代替密码分析</vt:lpstr>
      <vt:lpstr>PowerPoint 演示文稿</vt:lpstr>
      <vt:lpstr>PowerPoint 演示文稿</vt:lpstr>
      <vt:lpstr>PowerPoint 演示文稿</vt:lpstr>
      <vt:lpstr>PowerPoint 演示文稿</vt:lpstr>
      <vt:lpstr>3.7.6 Vernam密码与一次一密密码</vt:lpstr>
      <vt:lpstr>3.7.6 Vernam密码与一次一密密码</vt:lpstr>
      <vt:lpstr>3.7.7 对Hill密码的已知明文分析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dk liu</cp:lastModifiedBy>
  <cp:revision>530</cp:revision>
  <dcterms:created xsi:type="dcterms:W3CDTF">2021-01-06T05:35:51Z</dcterms:created>
  <dcterms:modified xsi:type="dcterms:W3CDTF">2026-06-04T14:14:58Z</dcterms:modified>
</cp:coreProperties>
</file>