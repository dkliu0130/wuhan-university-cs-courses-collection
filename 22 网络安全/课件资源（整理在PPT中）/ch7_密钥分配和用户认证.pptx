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90"/>
  </p:notesMasterIdLst>
  <p:sldIdLst>
    <p:sldId id="256" r:id="rId2"/>
    <p:sldId id="258" r:id="rId3"/>
    <p:sldId id="1887" r:id="rId4"/>
    <p:sldId id="1888" r:id="rId5"/>
    <p:sldId id="1870" r:id="rId6"/>
    <p:sldId id="1889" r:id="rId7"/>
    <p:sldId id="1890" r:id="rId8"/>
    <p:sldId id="1792" r:id="rId9"/>
    <p:sldId id="1891" r:id="rId10"/>
    <p:sldId id="1892" r:id="rId11"/>
    <p:sldId id="1881" r:id="rId12"/>
    <p:sldId id="1837" r:id="rId13"/>
    <p:sldId id="1894" r:id="rId14"/>
    <p:sldId id="1893" r:id="rId15"/>
    <p:sldId id="1895" r:id="rId16"/>
    <p:sldId id="1896" r:id="rId17"/>
    <p:sldId id="1882" r:id="rId18"/>
    <p:sldId id="1872" r:id="rId19"/>
    <p:sldId id="1901" r:id="rId20"/>
    <p:sldId id="1911" r:id="rId21"/>
    <p:sldId id="1912" r:id="rId22"/>
    <p:sldId id="1913" r:id="rId23"/>
    <p:sldId id="1914" r:id="rId24"/>
    <p:sldId id="1915" r:id="rId25"/>
    <p:sldId id="1916" r:id="rId26"/>
    <p:sldId id="1917" r:id="rId27"/>
    <p:sldId id="1918" r:id="rId28"/>
    <p:sldId id="1919" r:id="rId29"/>
    <p:sldId id="1920" r:id="rId30"/>
    <p:sldId id="1921" r:id="rId31"/>
    <p:sldId id="1922" r:id="rId32"/>
    <p:sldId id="1923" r:id="rId33"/>
    <p:sldId id="1924" r:id="rId34"/>
    <p:sldId id="1925" r:id="rId35"/>
    <p:sldId id="1926" r:id="rId36"/>
    <p:sldId id="1927" r:id="rId37"/>
    <p:sldId id="1928" r:id="rId38"/>
    <p:sldId id="1929" r:id="rId39"/>
    <p:sldId id="1930" r:id="rId40"/>
    <p:sldId id="1931" r:id="rId41"/>
    <p:sldId id="1932" r:id="rId42"/>
    <p:sldId id="1902" r:id="rId43"/>
    <p:sldId id="1903" r:id="rId44"/>
    <p:sldId id="1904" r:id="rId45"/>
    <p:sldId id="1905" r:id="rId46"/>
    <p:sldId id="1906" r:id="rId47"/>
    <p:sldId id="1900" r:id="rId48"/>
    <p:sldId id="1908" r:id="rId49"/>
    <p:sldId id="1897" r:id="rId50"/>
    <p:sldId id="1907" r:id="rId51"/>
    <p:sldId id="1898" r:id="rId52"/>
    <p:sldId id="1909" r:id="rId53"/>
    <p:sldId id="1910" r:id="rId54"/>
    <p:sldId id="1933" r:id="rId55"/>
    <p:sldId id="1934" r:id="rId56"/>
    <p:sldId id="1935" r:id="rId57"/>
    <p:sldId id="1883" r:id="rId58"/>
    <p:sldId id="1860" r:id="rId59"/>
    <p:sldId id="1936" r:id="rId60"/>
    <p:sldId id="1939" r:id="rId61"/>
    <p:sldId id="1938" r:id="rId62"/>
    <p:sldId id="1940" r:id="rId63"/>
    <p:sldId id="1961" r:id="rId64"/>
    <p:sldId id="1861" r:id="rId65"/>
    <p:sldId id="1941" r:id="rId66"/>
    <p:sldId id="1943" r:id="rId67"/>
    <p:sldId id="1884" r:id="rId68"/>
    <p:sldId id="1864" r:id="rId69"/>
    <p:sldId id="1946" r:id="rId70"/>
    <p:sldId id="1947" r:id="rId71"/>
    <p:sldId id="1948" r:id="rId72"/>
    <p:sldId id="1885" r:id="rId73"/>
    <p:sldId id="1950" r:id="rId74"/>
    <p:sldId id="1951" r:id="rId75"/>
    <p:sldId id="1952" r:id="rId76"/>
    <p:sldId id="1953" r:id="rId77"/>
    <p:sldId id="1865" r:id="rId78"/>
    <p:sldId id="1954" r:id="rId79"/>
    <p:sldId id="1866" r:id="rId80"/>
    <p:sldId id="1886" r:id="rId81"/>
    <p:sldId id="1957" r:id="rId82"/>
    <p:sldId id="1878" r:id="rId83"/>
    <p:sldId id="1955" r:id="rId84"/>
    <p:sldId id="1879" r:id="rId85"/>
    <p:sldId id="1956" r:id="rId86"/>
    <p:sldId id="1958" r:id="rId87"/>
    <p:sldId id="1959" r:id="rId88"/>
    <p:sldId id="1960" r:id="rId8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428EDA"/>
    <a:srgbClr val="01B1FD"/>
    <a:srgbClr val="EBEBEB"/>
    <a:srgbClr val="0000FF"/>
    <a:srgbClr val="5B307E"/>
    <a:srgbClr val="BDBCBC"/>
    <a:srgbClr val="BE5108"/>
    <a:srgbClr val="FEFF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476" autoAdjust="0"/>
    <p:restoredTop sz="74251" autoAdjust="0"/>
  </p:normalViewPr>
  <p:slideViewPr>
    <p:cSldViewPr snapToGrid="0" snapToObjects="1" showGuides="1">
      <p:cViewPr varScale="1">
        <p:scale>
          <a:sx n="66" d="100"/>
          <a:sy n="66" d="100"/>
        </p:scale>
        <p:origin x="521" y="62"/>
      </p:cViewPr>
      <p:guideLst>
        <p:guide orient="horz" pos="214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8.png"/></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7:38"/>
    </inkml:context>
    <inkml:brush xml:id="br0">
      <inkml:brushProperty name="width" value="0.05292" units="cm"/>
      <inkml:brushProperty name="height" value="0.05292" units="cm"/>
      <inkml:brushProperty name="color" value="#F80600"/>
    </inkml:brush>
  </inkml:definitions>
  <inkml:trace contextRef="#ctx0" brushRef="#br0">3569 6884 767,'13'-5'0,"1"0"0,3-2 0,-8 1 0,2 3 0,12-4 0,-8 1-4,8 1-12,4 2 14,1-3 0,2 3-1,2-1 1,-4 2-2,0 1 1,2-1 0,9 2-2,2-2 4,5 2 3,1 0-1,3 0-6,10-2-2,5 1 0,5-3-1,8-1 2,0 0 1,-2-3 0,-2 0 0,-2-3 0,-7 2 6,-6 0 1,-8 2 0,-9 2 0,-7 0 9,-3 1 8,-4 1-4,-5 1-4,-5-2-6,0 1-5,-4 1 1,2 0-1,1-1 1,10-1 1,6 1 0,22-4-7,7-4-4,5 0-1,3-1 0,1-2 0,-2 2 3,-8 1-1,-4 2 2,-6 2 1,-5 2 7,-4 1-1,-8 1 0,-1 1 0,-3-1 0,-2-1 2,2-1 4,4-2 2,-4 0-1,0-2 0,-4 0-3,1-2-4,-2 1-1,-2-1 1,-1-1-1,1-2 0,0-2 10,2-2 0,0-3-14,-1-2 0,-2 0 0,-1-2 0,-2 1 1,-1-3 2,-1 1 0,-1-1 0,-2 6 0,-1 0 3,-3 1 2,1-4 0,0 1 1,1-5 0,2-6-1,2-5-7,0 0-3,0 1 0,1-1 0,1 0 2,1 4 7,1-2-5,-1 5-1,-1 2 0,1 2 0,1 3 0,-3 0 3,3 0 3,-3 2 0,-3 2 0,-3 4 0,-4-3 5,0 3-3,-3-1 0,-3 2-3,1-2-2,-2 6 1,0 0-1,0-1 1,-2 3-1,2-3 1,0 3 1,-1-11 1,-1 3 0,-5 0-1,-2-1-3,-2 1 0,-4 6-1,4 7 5,-3-1 0,-4 1-5,4 1 0,0 1 0,0 1 0,-4-1 0,1 1-1,-5-2 6,0 3-1,-3-3-6,-2 2 1,-4-1-1,-10-3-1,-8 1-1,-8 2 3,-6-3 2,-6 3-4,-2 1-3,2-1-1,1 1 1,1 2-1,5-2 6,-3 2 3,3 0-1,2 0 0,2 0 4,1 0 2,-1 4 0,-4-3 0,-1 5-7,-3-1-1,5 0 0,-6 0-1,-8 3 0,10-3 1,0 0 2,1-1 0,1 1-1,-1 4 1,-6 1 0,3-1 11,5 2-3,4-1-5,5 1 0,3 0 3,6 1 0,2-2-5,1 3 0,4-1 0,2 2 0,0 0 1,7-1 3,-2-1 0,0 2 0,-2 0 0,-2 2-1,1 0-1,-3 2 0,1 1-5,-4 1-1,4-1 0,-2 2 1,4-1-1,1-1 3,-2 2 2,2-1 0,2-1 0,4 0 1,3-1 2,2 0 0,3-1-1,6-1 1,0 2-2,-3-2 1,1 0-1,-2-2 3,2 0-3,0-2-1,5-3 0,1 2 0,-3 6-2,0 3 0,4 1 5,2 0-1,2 0-6,1 2 1,2 0-1,-2 2 1,2 0 1,2 1 0,1-1 1,-1 0-1,3-4 1,1-2 0,1 1 0,0-1 0,2-1 2,-2-2 0,-2-2 0,0-2 0,1 2-2,-3-3 0,4-2 0,0-1 0,7 3 7,-5-6-4,0 2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7:42"/>
    </inkml:context>
    <inkml:brush xml:id="br0">
      <inkml:brushProperty name="width" value="0.05292" units="cm"/>
      <inkml:brushProperty name="height" value="0.05292" units="cm"/>
      <inkml:brushProperty name="color" value="#F80600"/>
    </inkml:brush>
  </inkml:definitions>
  <inkml:trace contextRef="#ctx0" brushRef="#br0">5539 5248 767,'9'-8'0,"3"0"0,2 6-6,6 1 4,-8 1 0,1 0 1,8-2-2,-7 2 1,2 0 0,0 0-1,0 0 6,-1 0-1,3 2-4,0-2 0,-2 0 1,1 0-1,3 0 1,-3 0 1,-4 0-1,-1 0 1,2 1-1,-3 3 4,-6 4 1</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7:42"/>
    </inkml:context>
    <inkml:brush xml:id="br0">
      <inkml:brushProperty name="width" value="0.05292" units="cm"/>
      <inkml:brushProperty name="height" value="0.05292" units="cm"/>
      <inkml:brushProperty name="color" value="#F80600"/>
    </inkml:brush>
  </inkml:definitions>
  <inkml:trace contextRef="#ctx0" brushRef="#br0">6774 5903 767,'11'-5'0,"-1"-1"0,1-1 0,10 5-8,-7 1 8,4 1-1,1 0-2,1 0 0,-3 0 0,1 0 0,-1 0 1,-1 0-1,0 0 3,-2 0 0,0 0 0,2 0 1,-2 0 0,1 0 0,-3 0 0,-1 0 0,4 0 1,-2 0 0,-3 0 1,-6-13 3,8 17-2</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7:44"/>
    </inkml:context>
    <inkml:brush xml:id="br0">
      <inkml:brushProperty name="width" value="0.05292" units="cm"/>
      <inkml:brushProperty name="height" value="0.05292" units="cm"/>
      <inkml:brushProperty name="color" value="#F80600"/>
    </inkml:brush>
  </inkml:definitions>
  <inkml:trace contextRef="#ctx0" brushRef="#br0">8865 7107 767,'0'-9'0,"11"0"-5,8 8 3,-8 1 1,3 0-1,-2 0 1,0-2-1,3 2 1,-1 0-1,0 0 1,0 2 0,0-2 0,-2 0 0,-1 0 0,10 0-1,0 0 11,-8 0-9,-1 0-1,2 0 0,-2 0 0,1 0 1,4 0 2,-6 0-1,1 0-1,1 0 0,-1 0 1,4 0 0,3 0-1,-3 0 1,-3 1-1,-3 3 0,-3 4-1</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8:07"/>
    </inkml:context>
    <inkml:brush xml:id="br0">
      <inkml:brushProperty name="width" value="0.05292" units="cm"/>
      <inkml:brushProperty name="height" value="0.05292" units="cm"/>
      <inkml:brushProperty name="color" value="#F80600"/>
    </inkml:brush>
  </inkml:definitions>
  <inkml:trace contextRef="#ctx0" brushRef="#br0">6910 5671 767,'16'7'-4,"-3"-3"3,1 1-1,2 0-1,-1 2 0,3 2 0,0 0 0,1 3-1,1-1 3,-1 0-1,-3-4 1,0 0 0,0 0 3,-4-2 0,2 0-1,7 1 1,2-3-1,4 1-2,1-3 0,-2 1-1,-3-2-1,0 0 0,-3-2 1,-3 1 0,-2-3 3,-1-1 0,0-4 1,3-2 0,1 1-1,2-4 1,1 1 0,2-2-4,3-5-1,1-3 0,3-2-1,1-6 0,1-1 0,-2-2 0,-1 4 1,-7 6 6,-2 1 1,-4 3 0,-4 1-1,-3 1-1,-2 2-1,-3 6-1,-1-4 1,2-4-1,2-5 2,2-2 1,4-7 0,-1 1-6,0-1-1,-1 4 0,0-2 0,-4 0 1,0-2 6,-4-2-3,1 4-1,-3 2 0,1-2 0,-5 5 0,-3 4 0,-1 2 7,-1 6 6,-1-1-11,-4 0 0,-1 2 1,4 3 0,-1 2-1,2 0 1,-5-6 2,5 6-3,-3 0-2,-2 0 0,-2 0-1,0 0 0,-2 2 0,2 0 0,-1 1 1,3 2 0,-4 1 1,0-1 0,2 0 1,1 2 1,0 0 1,3 0-2,-7 0-3,-4 2 1,7 1 3,-2 3 2,-1 1-6,-1 1-1,3 0 1,1 0-1,0-2 1,4-1 1,3 0-1,-2 1 5,1-3 1,-1 4-2,-1-2-1,1 3-1,0-3 1,-1 0-1,1 0 1,-6 1 3,3-3-3,0-3 0,-1 0-1,3 2-1,1 0 1,-3 5 2,4 2-1,1-2-1,-3 0-1,-1 0 2,1 0-1,-1 0-1,3 0-1,-1 2 0,2-2 1,1 3-1,-5 3 1,3 1 1,-4 2 1,1 2 0,-1-1-3,0 6-2,0-2 0,0 0 1,1-1-1,3-2 4,3-10 1,1 1-1,-2 7 1,-1 2 0,0-2 9,0 0-5,-1-1-8,-1 1 1,0 0-1,2 0 1,1-2 0,1-1 3,0 1 2,1 2-1,-1-1-2,2 1 0,1-2 0,1 1-1,-1-5 1,3 1 0,-1 8 3,0 1 2,2-8-3,0 0-2,0-1 0,0 8 0,0-6 0,2 1 0,-2-4 3</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8:08"/>
    </inkml:context>
    <inkml:brush xml:id="br0">
      <inkml:brushProperty name="width" value="0.05292" units="cm"/>
      <inkml:brushProperty name="height" value="0.05292" units="cm"/>
      <inkml:brushProperty name="color" value="#F80600"/>
    </inkml:brush>
  </inkml:definitions>
  <inkml:trace contextRef="#ctx0" brushRef="#br0">7218 5435 767,'-2'-19'0,"2"5"0,-2-4 0,1-3 0,-1-2 0,0-3 0,0-1 0,-1-1 0,3-4 0,3-12-13,3-11-22,3-10 28,1-14-1,2-11-1,1 0 0,-1 2 1,-1 3 3,-2 7 2,-1 8 1,-1 6-1,0 6 1,1 7 0,0 3 1,-1 2 1,0 6 7,2-1-1,-2 8-1,0-1 1,-1-3-1,1-9 3,-2 2-3,-1 4-1,-1 3 0,-1 5 0,0 4-2,-1 5 1,3 3-1,-1 1 4,-1 3 1,2 5-2,-1-4 0,-1 0-2,-2 3 0,0 0 0,0 1 2,7 1-3,2 3-1,2 3-1,-8 15-4,-10-1 4,-2 3-1,0 1 0,-3 0 0,1-4 0,-3 3 0,-3 1-2,-5 3-1,1-1 1,-2 2-1,-8 7-1,-1-1 0,2 1 2,2-4 3,3 0 0,4-3-1,3-2 1,4-2 0,3-3 3,3-1 1,2-1 0,1 2 0,17-11-2,1-9-2,-1 2 0,0-2-1,-1 2 1,0 0 0,-1 0 0,3 1-1,-3-1 1,1 0 0,-1 0 0,1 0 0,1 0-1,-1 0 1,-1 0 0,13-5-1,0-4 0,4-2 0,1 1 0,-2-1 0,1 2-14,-4 0 28,2-2-16,-6 3 0,-1 0 1,-4 1 0,-2 2 8,-3 1 0,0 1 0,-2 1-1,3-3 1,1 6-3,0 10-3,-1 7 0,1-4 0,-1 1 0,-1-1 0,0 13-1,2 3-1,4 9-1,5 6 0,6 10-4,3 5-2,1 0 0,0 0 0,-2-6 1,0-1 1,-3-3 5,-4-8 0,-2 0 1,2-1-1,-3-4 3,-2-4 11,-4-7-3,-1-3-1,-2-3-2,-2-6 3,3 2-4,1-17 0,-6 0 3</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9:44"/>
    </inkml:context>
    <inkml:brush xml:id="br0">
      <inkml:brushProperty name="width" value="0.05292" units="cm"/>
      <inkml:brushProperty name="height" value="0.05292" units="cm"/>
      <inkml:brushProperty name="color" value="#F80600"/>
    </inkml:brush>
  </inkml:definitions>
  <inkml:trace contextRef="#ctx0" brushRef="#br0">9724 5930 767,'-7'-14'0,"11"3"0,20 4-7,-3 7 4,-3 0 0,1 2 0,6 1 0,0 1-1,0 1 1,-1-1 1,-1-2 4,-7 1-3,2-1-1,13 0-1,3 0 6,3-1 1,2-1-8,1 2-1,1-2-1,-13 0 2,-1 0 0,27 0-3,1 0-1,-2 0 11,-2 0 10,-7 0-14,-5-2-3,-6 2 0,-3-1 1,-5-1 3,-4 0 4,-3 0-2,-2-1 1,0 1-1,-2 0 0,3 0 4,3-1 8,6-3-3,4 3-16,0-4 1,9 1-1,-2-1 0,-2 2 3,1 1 0,-8 1 1,-5 1 0,-2 0 0,-5 0 1,-2 2 0,4 0 9,-4-2 4,-4 1-8,5-3 2,-1 2-10,1-1 1,1 1-1,2 0 1,0 0 0,-2 1 0,1 1 0,-1 0 0,0-2 0,-2 2 0,2-2 9,2 0 0,-3 0-9,7-1-1,1 1 1,-2-2-1,2 3 1,-2-1 2,0 0 0,-3 2-1,1 0 1,-3-2 1,2 2 0,-3-2 0,1 1 0,0-3 0,-3 2 0,1-1 0,0-1-1,0 1 1,0-3-1,2 3-1,-2-1 0,0-1 1,4-3-1,-4 3 1,0 2 1,-4-1 0,6-1 1,-3 1 1,6 4-1,-8 0 0,1 0-1,4 0-1,2 0-3,-3 0 1,1 0 0,-2 0 2,-3 0 0,7 0-1,-8 0 3,1 0 1,-1 5 1,-1 3-2</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9:46"/>
    </inkml:context>
    <inkml:brush xml:id="br0">
      <inkml:brushProperty name="width" value="0.05292" units="cm"/>
      <inkml:brushProperty name="height" value="0.05292" units="cm"/>
      <inkml:brushProperty name="color" value="#F80600"/>
    </inkml:brush>
  </inkml:definitions>
  <inkml:trace contextRef="#ctx0" brushRef="#br0">7740 5934 767,'11'-5'0,"-1"0"0,1-1 0,3 3-8,-2 3 7,1-2-1,4 2 1,-1 0-1,0 0 1,0 0 0,-2 0 0,0 0 0,1 0 0,-5 0 0,3 0 1,-3 0-1,10 0 7,-8 0-3,2 0-1,0 0-2,4 0-1,1 0 0,-1 0 0,-6 0 1,-1 2 1,-4 7 0,0-2-1</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09:52"/>
    </inkml:context>
    <inkml:brush xml:id="br0">
      <inkml:brushProperty name="width" value="0.05292" units="cm"/>
      <inkml:brushProperty name="height" value="0.05292" units="cm"/>
      <inkml:brushProperty name="color" value="#F80600"/>
    </inkml:brush>
  </inkml:definitions>
  <inkml:trace contextRef="#ctx0" brushRef="#br0">10210 7124 767,'9'5'0,"12"6"-6,-7-8 4,2 3-1,3-1 0,-1-1 0,0-1 0,-1-1 2,1 2 0,0-1 0,1 2 0,-1 1 1,-1-1 0,3 0 1,1 4 1,6 0-1,3 0-5,0-2 1,-4 2 0,-1-4 1,-2 0-1,-4-1 3,1 0 0,-8-4 0,-2 1 0,10 1 4,-1-2 5,1 0-3,-1 0-6,-1 0-2,-2 0-1,1 0 1,1-2 0,0 2 0,-2 0 0,-2 0 4,-2 0 2,7 0 2,-6 0-6,-1 0 0,2 0 0,4 0 1,3 0-1,-3 0 0,-2 0 0,-6 0 2,4 0 1,-3 0-1,1 0 0,1 0-2,1 0 0,-4 0-1,1 0 0,1 2 1,-3 5 0,-2 0 1</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10:15"/>
    </inkml:context>
    <inkml:brush xml:id="br0">
      <inkml:brushProperty name="width" value="0.05292" units="cm"/>
      <inkml:brushProperty name="height" value="0.05292" units="cm"/>
      <inkml:brushProperty name="color" value="#F80600"/>
    </inkml:brush>
  </inkml:definitions>
  <inkml:trace contextRef="#ctx0" brushRef="#br0">4182 10913 767,'16'-5'0,"-2"0"0,8 6 0,9 5-14,12 3 8,9 1-1,10 2-1,7 1-3,5 1 0,7 0-2,2 0 0,9-1-1,15-1 14,20-2 18,18 1-36,-16-6 1,3 2 1,-3-3-1,-3-1 1,1-1 3,-7-2 17,-7-3 0,-7-1 0,-18-3 3,-7 2 1,-7-4-1,-5 0-1,-5 0 4,-6-1 2,-5 1 0,1-5 0,-3-2 4,-1-5-1,-1 0-12,-5 1-3,-8 3 0,-1 1-1,-2 0 11,-1-2-3,2-1-9,-3 1 0,1-1 0,0 1 0,0-1 1,-2 1 0,1-3 0,1 0 1,0-4-1,1 0-1,-1-1 1,0-1 0,-4 3 0,0-1-1,-3 2 3,-2 2 0,-4 1 0,9-6 1,4-6 1,3-3 6,-1-6-2,-2-5-14,-4-5-1,-3 2 0,-4 1 8,-7 6 1,-5 3 0,-1 4 1,-4 3-1,-1 4 1,-3 3 0,2 2 0,-4 4 0,2-3 0,-1 5 7,1-1 0,-2 6-5,0-1-3,0 1 0,-3-2 0,-4-2 0,0 2 0,-3 2-2,-2-3-1,0 3 0,-4 2 0,1-3 0,-3 1-1,1 0 2,-2-1 0,1 3 0,3-1 1,-4 0-1,1 1 0,-3-3 2,-1 1 0,1 0-1,0-1 1,5 6-2,-1-1 1,-15-7 0,-3 3-2,0-2 1,0 3 0,2 1-1,0 3-2,5 0 1,0 3 0,0 1 8,7 1 0,0 0-1,-23 0-7,-2 1 1,-3-1 0,-2 0 1,2 0-5,0 0-1,9-1 2,-20-2-4,-3-2 0,-6-2 27,-5 2-10,-1-4-19,12 4 2,-2-2-1,-11 0-2,11-1 3,2 1 17,3-2 5,2 1-4,-2-3-7,-1 3-4,-6-1-3,-1 2 0,1 1 1,-2 1 0,2 0 0,2-1 1,-3 3-1,-1 0 5,-6 0 2,10 1-1,2 1 5,-1 1 2,5 2 5,6-2-9,6 2-8,-6 0 0,5 4 5,6-1 0,-3 4 6,-3 2 1,-4 3-11,-11 4-5,-2 0 0,7 0 0,3 0 1,8 0 8,6 0 4,5-1-2,4 1-5,13-5 1,-2 1 0,-16 15-1,2-1 8,2 2 1,0 1 0,6-6-9,3 0-2,5-4 0,1 2 0,5-3 2,1-1 4,1 3 1,-3 1-1,2 4 1,0 3-1,4 2 0,1 5-1,0 1-5,4-3-1,1-1 1,1-2 0,1 0 0,2-4 11,-2 1-4,2-3-6,0 17-1,2 0 0,1 5 1,1 6 1,3 3-1,2 14-1,3-4-6,0-5 1,2-9 1,-3-10 2,1-6 6,1-6 6,-3-7-1,3-2 1,-3-4-2,1-2 0,-1-4-1,-3-1 0,4 5 14,-4-3-7,-7 0-9</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28:19"/>
    </inkml:context>
    <inkml:brush xml:id="br0">
      <inkml:brushProperty name="width" value="0.05292" units="cm"/>
      <inkml:brushProperty name="height" value="0.05292" units="cm"/>
      <inkml:brushProperty name="color" value="#F80600"/>
    </inkml:brush>
  </inkml:definitions>
  <inkml:trace contextRef="#ctx0" brushRef="#br0">10113 8090 767,'6'-2'0,"2"-1"0,-2 0 0,2 2 0,-1 0 0,4 2-14,12 0 9,7 0-2,7 0-1,6 0-3,-9 0 3,-1 0 0,12 0-4,2 0 1,1-1 5,1 1 25,-3-1-28,-2-1 0,-1 0 1,-3 0 0,-3-1 9,3-1 5,9 0 1,1-2-3,1 0-1,-1 0-1,-7 0-7,-2 1-1,-3 0 0,-3 1 0,-4 0 5,-2 1 10,-3 1-1,-2 0-1,-3 0-1,4 1 0,0-1 0,1 1 0,0 1-6,1-1 1,5 0-1,4 0 1,-2 0-4,5 0-1,-1 0 0,2 0-1,1-1 1,8 0-1,-2-1 1,-4 1-1,-5-1 1,-5 1 0,-4 0 2,-3 0 9,-3 1 0,1-1 3,-1 0 2,-1-1 0,0 1-11,-2-1 0,0 0 0,0 1 0,-2-1 0,-3 1 5,-1 1 0,1-1 3,1 1-10,3-1-2,-1 1 1,-2 0-1,-2 0 1,-2 0 4,-1 0 2,-1 0-1,-1 0-3,-1 0 0,0 1 0,0-1 0,1 0 1,0 0 1,0 0-1,-1 0 0,0 0 0,-1 0 0,-1 0-1,5 0 1,-5 0 0,0 2 1,-2 4 2</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28:23"/>
    </inkml:context>
    <inkml:brush xml:id="br0">
      <inkml:brushProperty name="width" value="0.05292" units="cm"/>
      <inkml:brushProperty name="height" value="0.05292" units="cm"/>
      <inkml:brushProperty name="color" value="#F80600"/>
    </inkml:brush>
  </inkml:definitions>
  <inkml:trace contextRef="#ctx0" brushRef="#br0">10210 9728 767,'7'-2'0,"4"-1"0,-4 2 0,1-1 0,1 1 0,1 0-15,1 0 13,0 1 0,2-1 0,0 1 0,1 0 0,0-1 0,-1 1 0,0 0 1,-1 0 0,0 0 0,0 0 0,-2 0 1,-1 1-1,-2-1 1,4 0 9,-3 0 2,1 0-6,2 0-6,-5 0 0,1 0 0,0 1 0,1 0 0,1 0-1,0 0 1,0 0-1,4 1-1,2-1 1,0 0 3,1 0 2,1 0-6,-2-1-1,1 1 1,-5-1 2,-1 0 1,0 0 0,-3 0-1,1 0 1,-2 0 5,4 0 6,-2 0-7,-1 1-3,0 1-1,1 1-1,0-1 0,3 1 1,1-2 4,-5-1-5,1 1-1,-1-1 1,0 1 1,0-1-1,0 1 1,0 0 0,0 0-2,1 1 1,-1-1 0,0 1 0,0-1 0,-1-1 2,2 1 1,0-1 0,3 1 2,1-1-5,3 0-2,4 1-2,-1 0 0,-3 0 1,-2 1 1,4-1-2,0 1 14,0-1-6,2 0-5,-3 0-1,-1-1 0,-1 1 1,-1-1-1,0 0 1,-1 1 7,-1 0 1,1 1-4,-1-1-2,-2 1 0,-1-1 1,-1 0-1,1 1 1,-2-1 1,1-1 0,0 0 0,1 0 6,-1 0-3,0 0-6,0 0 0,0 0 0,0 0 1,1 0 1,0 0-1,0 0 0,0 0-1,-1 1 0,0 1 1,-2 1 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6" units="1/cm"/>
          <inkml:channelProperty channel="Y" name="resolution" value="28.34646" units="1/cm"/>
          <inkml:channelProperty channel="F" name="resolution" value="0" units="1/dev"/>
        </inkml:channelProperties>
      </inkml:inkSource>
      <inkml:timestamp xml:id="ts0" timeString="2026-06-04T11:28:25"/>
    </inkml:context>
    <inkml:brush xml:id="br0">
      <inkml:brushProperty name="width" value="0.05292" units="cm"/>
      <inkml:brushProperty name="height" value="0.05292" units="cm"/>
      <inkml:brushProperty name="color" value="#F80600"/>
    </inkml:brush>
  </inkml:definitions>
  <inkml:trace contextRef="#ctx0" brushRef="#br0">12412 10108 767,'5'-6'0,"5"4"-6,7-1 2,3 0-2,5 0 0,1-1-1,2 1-1,2-1 1,-2 1-1,-3-1 2,-3 1 0,3 0 4,25-1 18,13-1-25,8 0-3,9-1 0,8 0-10,6 0-2,7-1 1,-9 0 8,-3 0 0,-4 1 0,-6-1 2,-5 1 2,-14 2 18,2-1 0,-6 1 0,-9 1-2,-7 0 13,-8 1 17,-6 1-6,-5 0-6,-6 0 21,-4 1-19,-4 0-19,0 0-3,0 1-1,0 0 1,-2 3-3,0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2026-06-05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t>
            </a:r>
            <a:r>
              <a:rPr lang="zh-CN" altLang="en-US" dirty="0"/>
              <a:t>讲解脚本</a:t>
            </a:r>
            <a:r>
              <a:rPr lang="en-US" altLang="zh-CN" dirty="0"/>
              <a:t>】</a:t>
            </a:r>
            <a:r>
              <a:rPr lang="zh-CN" altLang="en-US" dirty="0"/>
              <a:t>本章的主要内容包括以下</a:t>
            </a:r>
            <a:r>
              <a:rPr lang="en-US" altLang="zh-CN" dirty="0"/>
              <a:t>9</a:t>
            </a:r>
            <a:r>
              <a:rPr lang="zh-CN" altLang="en-US" dirty="0"/>
              <a:t>个小节，其中第</a:t>
            </a:r>
            <a:r>
              <a:rPr lang="en-US" altLang="zh-CN" dirty="0"/>
              <a:t>8</a:t>
            </a:r>
            <a:r>
              <a:rPr lang="zh-CN" altLang="en-US" dirty="0"/>
              <a:t>小节隐私保护与审计是选讲内容。第一节，网络安全基础，包括网络安全基本属性、基本原则、网络攻击基本原则、网络安全威胁基本解决方案</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t>
            </a:r>
            <a:r>
              <a:rPr lang="zh-CN" altLang="en-US" dirty="0"/>
              <a:t>讲解脚本</a:t>
            </a:r>
            <a:r>
              <a:rPr lang="en-US" altLang="zh-CN" dirty="0"/>
              <a:t>】</a:t>
            </a:r>
            <a:r>
              <a:rPr lang="zh-CN" altLang="en-US" dirty="0"/>
              <a:t>本章的主要内容包括以下</a:t>
            </a:r>
            <a:r>
              <a:rPr lang="en-US" altLang="zh-CN" dirty="0"/>
              <a:t>9</a:t>
            </a:r>
            <a:r>
              <a:rPr lang="zh-CN" altLang="en-US" dirty="0"/>
              <a:t>个小节，其中第</a:t>
            </a:r>
            <a:r>
              <a:rPr lang="en-US" altLang="zh-CN" dirty="0"/>
              <a:t>8</a:t>
            </a:r>
            <a:r>
              <a:rPr lang="zh-CN" altLang="en-US" dirty="0"/>
              <a:t>小节隐私保护与审计是选讲内容。第一节，网络安全基础，包括网络安全基本属性、基本原则、网络攻击基本原则、网络安全威胁基本解决方案</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11</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17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042D51-505E-421F-A669-146A489EE137}" type="slidenum">
              <a:rPr lang="en-US" altLang="zh-CN"/>
              <a:t>20</a:t>
            </a:fld>
            <a:endParaRPr lang="en-US" altLang="zh-CN"/>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ED0DBD9-65FB-401A-B3E4-7ABAC0EE25A5}" type="slidenum">
              <a:rPr lang="en-US" altLang="zh-CN"/>
              <a:t>21</a:t>
            </a:fld>
            <a:endParaRPr lang="en-US" altLang="zh-CN"/>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93E316E-BA27-4D48-B5A4-C9E57028458A}" type="slidenum">
              <a:rPr lang="en-US" altLang="zh-CN"/>
              <a:t>22</a:t>
            </a:fld>
            <a:endParaRPr lang="en-US" altLang="zh-CN"/>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48940FB-1E6D-43D1-A8DD-6AFA538160DE}" type="slidenum">
              <a:rPr lang="en-US" altLang="zh-CN"/>
              <a:t>23</a:t>
            </a:fld>
            <a:endParaRPr lang="en-US" altLang="zh-CN"/>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556D28-DD4E-4D9B-9C60-4C8480B8AE48}" type="slidenum">
              <a:rPr lang="en-US" altLang="zh-CN"/>
              <a:t>24</a:t>
            </a:fld>
            <a:endParaRPr lang="en-US" altLang="zh-CN"/>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66986F0-C552-49C0-82FE-1D13EC9E092A}" type="slidenum">
              <a:rPr lang="en-US" altLang="zh-CN"/>
              <a:t>25</a:t>
            </a:fld>
            <a:endParaRPr lang="en-US" altLang="zh-CN"/>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4926C18-6DD1-4F25-9074-289DBB487BF8}" type="slidenum">
              <a:rPr lang="en-US" altLang="zh-CN"/>
              <a:t>26</a:t>
            </a:fld>
            <a:endParaRPr lang="en-US" altLang="zh-CN"/>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2EBE27A-E460-4172-8469-730B8AAA6BCB}" type="slidenum">
              <a:rPr lang="en-US" altLang="zh-CN"/>
              <a:t>27</a:t>
            </a:fld>
            <a:endParaRPr lang="en-US" altLang="zh-CN"/>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7003D84-33C8-4AA1-9422-316B3B3F22DC}" type="slidenum">
              <a:rPr lang="en-US" altLang="zh-CN"/>
              <a:t>28</a:t>
            </a:fld>
            <a:endParaRPr lang="en-US" altLang="zh-CN"/>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7691D8C-0715-4BFB-A325-692BACE04E29}" type="slidenum">
              <a:rPr lang="en-US" altLang="zh-CN"/>
              <a:t>29</a:t>
            </a:fld>
            <a:endParaRPr lang="en-US" altLang="zh-CN"/>
          </a:p>
        </p:txBody>
      </p:sp>
      <p:sp>
        <p:nvSpPr>
          <p:cNvPr id="120835" name="Rectangle 2"/>
          <p:cNvSpPr>
            <a:spLocks noGrp="1" noRot="1" noChangeAspect="1" noChangeArrowheads="1" noTextEdit="1"/>
          </p:cNvSpPr>
          <p:nvPr>
            <p:ph type="sldImg"/>
          </p:nvPr>
        </p:nvSpPr>
        <p:spPr/>
      </p:sp>
      <p:sp>
        <p:nvSpPr>
          <p:cNvPr id="1208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C736FE-35E4-4696-84F8-4B9D698EE781}" type="slidenum">
              <a:rPr lang="en-US" altLang="zh-CN"/>
              <a:t>30</a:t>
            </a:fld>
            <a:endParaRPr lang="en-US" altLang="zh-CN"/>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9528BC-C9D2-4270-B378-39182287B2CD}" type="slidenum">
              <a:rPr lang="en-US" altLang="zh-CN"/>
              <a:t>31</a:t>
            </a:fld>
            <a:endParaRPr lang="en-US" altLang="zh-CN"/>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E7B6FEC-1062-4EB8-A93C-4CB7D6541A0C}" type="slidenum">
              <a:rPr lang="en-US" altLang="zh-CN"/>
              <a:t>32</a:t>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74A2CC-B8E9-453D-888E-9991928CFA7C}" type="slidenum">
              <a:rPr lang="en-US" altLang="zh-CN"/>
              <a:t>33</a:t>
            </a:fld>
            <a:endParaRPr lang="en-US" altLang="zh-CN"/>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5B3CAD-B997-4420-83C1-066F9AC59AA7}" type="slidenum">
              <a:rPr lang="en-US" altLang="zh-CN"/>
              <a:t>34</a:t>
            </a:fld>
            <a:endParaRPr lang="en-US" altLang="zh-CN"/>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C79B51-1611-4B18-8741-E06834122BC7}" type="slidenum">
              <a:rPr lang="en-US" altLang="zh-CN"/>
              <a:t>35</a:t>
            </a:fld>
            <a:endParaRPr lang="en-US" altLang="zh-CN"/>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490DC6A-2F22-421F-ABB3-0AD4CDF5F16D}" type="slidenum">
              <a:rPr lang="en-US" altLang="zh-CN"/>
              <a:t>36</a:t>
            </a:fld>
            <a:endParaRPr lang="en-US" altLang="zh-CN"/>
          </a:p>
        </p:txBody>
      </p:sp>
      <p:sp>
        <p:nvSpPr>
          <p:cNvPr id="128003" name="Rectangle 2"/>
          <p:cNvSpPr>
            <a:spLocks noGrp="1" noRot="1" noChangeAspect="1" noChangeArrowheads="1" noTextEdit="1"/>
          </p:cNvSpPr>
          <p:nvPr>
            <p:ph type="sldImg"/>
          </p:nvPr>
        </p:nvSpPr>
        <p:spPr/>
      </p:sp>
      <p:sp>
        <p:nvSpPr>
          <p:cNvPr id="1280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a:latin typeface="Arial" panose="020B0604020202020204" pitchFamily="34" charset="0"/>
              </a:rPr>
              <a:t>Message(1)	Client </a:t>
            </a:r>
            <a:r>
              <a:rPr lang="zh-CN" altLang="zh-CN" b="1">
                <a:latin typeface="Arial" panose="020B0604020202020204" pitchFamily="34" charset="0"/>
              </a:rPr>
              <a:t>请求</a:t>
            </a:r>
            <a:r>
              <a:rPr lang="zh-CN" altLang="en-US" b="1">
                <a:latin typeface="Arial" panose="020B0604020202020204" pitchFamily="34" charset="0"/>
              </a:rPr>
              <a:t> </a:t>
            </a:r>
            <a:r>
              <a:rPr lang="en-US" altLang="zh-CN" b="1">
                <a:latin typeface="Arial" panose="020B0604020202020204" pitchFamily="34" charset="0"/>
              </a:rPr>
              <a:t>ticket-granting ticket</a:t>
            </a:r>
          </a:p>
          <a:p>
            <a:r>
              <a:rPr lang="en-US" altLang="zh-CN" b="1">
                <a:latin typeface="Arial" panose="020B0604020202020204" pitchFamily="34" charset="0"/>
              </a:rPr>
              <a:t>    ID</a:t>
            </a:r>
            <a:r>
              <a:rPr lang="en-US" altLang="zh-CN" b="1" baseline="-25000">
                <a:latin typeface="Arial" panose="020B0604020202020204" pitchFamily="34" charset="0"/>
              </a:rPr>
              <a:t>C</a:t>
            </a:r>
            <a:r>
              <a:rPr lang="en-US" altLang="zh-CN" b="1">
                <a:latin typeface="Arial" panose="020B0604020202020204" pitchFamily="34" charset="0"/>
              </a:rPr>
              <a:t>   :	</a:t>
            </a:r>
            <a:r>
              <a:rPr lang="zh-CN" altLang="en-US" b="1">
                <a:latin typeface="Arial" panose="020B0604020202020204" pitchFamily="34" charset="0"/>
              </a:rPr>
              <a:t>告诉</a:t>
            </a:r>
            <a:r>
              <a:rPr lang="en-US" altLang="zh-CN" b="1">
                <a:latin typeface="Arial" panose="020B0604020202020204" pitchFamily="34" charset="0"/>
              </a:rPr>
              <a:t>AS</a:t>
            </a:r>
            <a:r>
              <a:rPr lang="zh-CN" altLang="en-US" b="1">
                <a:latin typeface="Arial" panose="020B0604020202020204" pitchFamily="34" charset="0"/>
              </a:rPr>
              <a:t>本</a:t>
            </a:r>
            <a:r>
              <a:rPr lang="en-US" altLang="zh-CN" b="1">
                <a:latin typeface="Arial" panose="020B0604020202020204" pitchFamily="34" charset="0"/>
              </a:rPr>
              <a:t>client</a:t>
            </a:r>
            <a:r>
              <a:rPr lang="zh-CN" altLang="zh-CN" b="1">
                <a:latin typeface="Arial" panose="020B0604020202020204" pitchFamily="34" charset="0"/>
              </a:rPr>
              <a:t>端的</a:t>
            </a:r>
            <a:r>
              <a:rPr lang="zh-CN" altLang="en-US" b="1">
                <a:latin typeface="Arial" panose="020B0604020202020204" pitchFamily="34" charset="0"/>
              </a:rPr>
              <a:t>用户标识；</a:t>
            </a:r>
          </a:p>
          <a:p>
            <a:r>
              <a:rPr lang="zh-CN" altLang="en-US" b="1">
                <a:latin typeface="Arial" panose="020B0604020202020204" pitchFamily="34" charset="0"/>
              </a:rPr>
              <a:t>    </a:t>
            </a:r>
            <a:r>
              <a:rPr lang="en-US" altLang="zh-CN" b="1">
                <a:latin typeface="Arial" panose="020B0604020202020204" pitchFamily="34" charset="0"/>
              </a:rPr>
              <a:t>ID</a:t>
            </a:r>
            <a:r>
              <a:rPr lang="en-US" altLang="zh-CN" b="1" baseline="-25000">
                <a:latin typeface="Arial" panose="020B0604020202020204" pitchFamily="34" charset="0"/>
              </a:rPr>
              <a:t>tgs</a:t>
            </a:r>
            <a:r>
              <a:rPr lang="en-US" altLang="zh-CN" b="1">
                <a:latin typeface="Arial" panose="020B0604020202020204" pitchFamily="34" charset="0"/>
              </a:rPr>
              <a:t>  :	</a:t>
            </a:r>
            <a:r>
              <a:rPr lang="zh-CN" altLang="zh-CN" b="1">
                <a:latin typeface="Arial" panose="020B0604020202020204" pitchFamily="34" charset="0"/>
              </a:rPr>
              <a:t>告诉</a:t>
            </a:r>
            <a:r>
              <a:rPr lang="en-US" altLang="zh-CN" b="1">
                <a:latin typeface="Arial" panose="020B0604020202020204" pitchFamily="34" charset="0"/>
              </a:rPr>
              <a:t>AS</a:t>
            </a:r>
            <a:r>
              <a:rPr lang="zh-CN" altLang="zh-CN" b="1">
                <a:latin typeface="Arial" panose="020B0604020202020204" pitchFamily="34" charset="0"/>
              </a:rPr>
              <a:t>用户请求访问</a:t>
            </a:r>
            <a:r>
              <a:rPr lang="en-US" altLang="zh-CN" b="1">
                <a:latin typeface="Arial" panose="020B0604020202020204" pitchFamily="34" charset="0"/>
              </a:rPr>
              <a:t>TGS</a:t>
            </a:r>
            <a:r>
              <a:rPr lang="zh-CN" altLang="en-US" b="1">
                <a:latin typeface="Arial" panose="020B0604020202020204" pitchFamily="34" charset="0"/>
              </a:rPr>
              <a:t>；</a:t>
            </a:r>
          </a:p>
          <a:p>
            <a:r>
              <a:rPr lang="zh-CN" altLang="en-US" b="1">
                <a:latin typeface="Arial" panose="020B0604020202020204" pitchFamily="34" charset="0"/>
              </a:rPr>
              <a:t>    </a:t>
            </a:r>
            <a:r>
              <a:rPr lang="en-US" altLang="zh-CN" b="1">
                <a:latin typeface="Arial" panose="020B0604020202020204" pitchFamily="34" charset="0"/>
              </a:rPr>
              <a:t>TS</a:t>
            </a:r>
            <a:r>
              <a:rPr lang="en-US" altLang="zh-CN" b="1" baseline="-25000">
                <a:latin typeface="Arial" panose="020B0604020202020204" pitchFamily="34" charset="0"/>
              </a:rPr>
              <a:t>1</a:t>
            </a:r>
            <a:r>
              <a:rPr lang="en-US" altLang="zh-CN" b="1">
                <a:latin typeface="Arial" panose="020B0604020202020204" pitchFamily="34" charset="0"/>
              </a:rPr>
              <a:t>   :	</a:t>
            </a:r>
            <a:r>
              <a:rPr lang="zh-CN" altLang="zh-CN" b="1">
                <a:latin typeface="Arial" panose="020B0604020202020204" pitchFamily="34" charset="0"/>
              </a:rPr>
              <a:t>让</a:t>
            </a:r>
            <a:r>
              <a:rPr lang="en-US" altLang="zh-CN" b="1">
                <a:latin typeface="Arial" panose="020B0604020202020204" pitchFamily="34" charset="0"/>
              </a:rPr>
              <a:t>AS</a:t>
            </a:r>
            <a:r>
              <a:rPr lang="zh-CN" altLang="zh-CN" b="1">
                <a:latin typeface="Arial" panose="020B0604020202020204" pitchFamily="34" charset="0"/>
              </a:rPr>
              <a:t>验证</a:t>
            </a:r>
            <a:r>
              <a:rPr lang="en-US" altLang="zh-CN" b="1">
                <a:latin typeface="Arial" panose="020B0604020202020204" pitchFamily="34" charset="0"/>
              </a:rPr>
              <a:t>client</a:t>
            </a:r>
            <a:r>
              <a:rPr lang="zh-CN" altLang="zh-CN" b="1">
                <a:latin typeface="Arial" panose="020B0604020202020204" pitchFamily="34" charset="0"/>
              </a:rPr>
              <a:t>端的时钟是与</a:t>
            </a:r>
            <a:r>
              <a:rPr lang="en-US" altLang="zh-CN" b="1">
                <a:latin typeface="Arial" panose="020B0604020202020204" pitchFamily="34" charset="0"/>
              </a:rPr>
              <a:t>AS</a:t>
            </a:r>
            <a:r>
              <a:rPr lang="zh-CN" altLang="zh-CN" b="1">
                <a:latin typeface="Arial" panose="020B0604020202020204" pitchFamily="34" charset="0"/>
              </a:rPr>
              <a:t>的时钟同步的；</a:t>
            </a:r>
          </a:p>
          <a:p>
            <a:r>
              <a:rPr lang="en-US" altLang="zh-CN" b="1">
                <a:latin typeface="Arial" panose="020B0604020202020204" pitchFamily="34" charset="0"/>
              </a:rPr>
              <a:t>Message(2)	AS</a:t>
            </a:r>
            <a:r>
              <a:rPr lang="zh-CN" altLang="zh-CN" b="1">
                <a:latin typeface="Arial" panose="020B0604020202020204" pitchFamily="34" charset="0"/>
              </a:rPr>
              <a:t>返回</a:t>
            </a:r>
            <a:r>
              <a:rPr lang="en-US" altLang="zh-CN" b="1">
                <a:latin typeface="Arial" panose="020B0604020202020204" pitchFamily="34" charset="0"/>
              </a:rPr>
              <a:t>ticket-granting ticket</a:t>
            </a:r>
          </a:p>
          <a:p>
            <a:r>
              <a:rPr lang="en-US" altLang="zh-CN" b="1">
                <a:latin typeface="Arial" panose="020B0604020202020204" pitchFamily="34" charset="0"/>
              </a:rPr>
              <a:t>    E</a:t>
            </a:r>
            <a:r>
              <a:rPr lang="en-US" altLang="zh-CN" b="1" baseline="-25000">
                <a:latin typeface="Arial" panose="020B0604020202020204" pitchFamily="34" charset="0"/>
              </a:rPr>
              <a:t>K</a:t>
            </a:r>
            <a:r>
              <a:rPr lang="en-US" altLang="zh-CN" b="1" baseline="-50000">
                <a:latin typeface="Arial" panose="020B0604020202020204" pitchFamily="34" charset="0"/>
              </a:rPr>
              <a:t>C</a:t>
            </a:r>
            <a:r>
              <a:rPr lang="en-US" altLang="zh-CN" b="1">
                <a:latin typeface="Arial" panose="020B0604020202020204" pitchFamily="34" charset="0"/>
              </a:rPr>
              <a:t>  :	</a:t>
            </a:r>
            <a:r>
              <a:rPr lang="zh-CN" altLang="zh-CN" b="1">
                <a:latin typeface="Arial" panose="020B0604020202020204" pitchFamily="34" charset="0"/>
              </a:rPr>
              <a:t>基于用户口令的加密，使得</a:t>
            </a:r>
            <a:r>
              <a:rPr lang="en-US" altLang="zh-CN" b="1">
                <a:latin typeface="Arial" panose="020B0604020202020204" pitchFamily="34" charset="0"/>
              </a:rPr>
              <a:t>AS</a:t>
            </a:r>
            <a:r>
              <a:rPr lang="zh-CN" altLang="zh-CN" b="1">
                <a:latin typeface="Arial" panose="020B0604020202020204" pitchFamily="34" charset="0"/>
              </a:rPr>
              <a:t>和</a:t>
            </a:r>
            <a:r>
              <a:rPr lang="en-US" altLang="zh-CN" b="1">
                <a:latin typeface="Arial" panose="020B0604020202020204" pitchFamily="34" charset="0"/>
              </a:rPr>
              <a:t>client</a:t>
            </a:r>
            <a:r>
              <a:rPr lang="zh-CN" altLang="zh-CN" b="1">
                <a:latin typeface="Arial" panose="020B0604020202020204" pitchFamily="34" charset="0"/>
              </a:rPr>
              <a:t>可以验证口令，并保护</a:t>
            </a:r>
            <a:r>
              <a:rPr lang="en-US" altLang="zh-CN" b="1">
                <a:latin typeface="Arial" panose="020B0604020202020204" pitchFamily="34" charset="0"/>
              </a:rPr>
              <a:t>Message(2)</a:t>
            </a:r>
            <a:r>
              <a:rPr lang="zh-CN" altLang="en-US" b="1">
                <a:latin typeface="Arial" panose="020B0604020202020204" pitchFamily="34" charset="0"/>
              </a:rPr>
              <a:t>。</a:t>
            </a:r>
          </a:p>
          <a:p>
            <a:r>
              <a:rPr lang="zh-CN" altLang="en-US" b="1">
                <a:latin typeface="Arial" panose="020B0604020202020204" pitchFamily="34" charset="0"/>
              </a:rPr>
              <a:t>    </a:t>
            </a:r>
            <a:r>
              <a:rPr lang="en-US" altLang="zh-CN" b="1">
                <a:latin typeface="Arial" panose="020B0604020202020204" pitchFamily="34" charset="0"/>
              </a:rPr>
              <a:t>K</a:t>
            </a:r>
            <a:r>
              <a:rPr lang="en-US" altLang="zh-CN" b="1" baseline="-25000">
                <a:latin typeface="Arial" panose="020B0604020202020204" pitchFamily="34" charset="0"/>
              </a:rPr>
              <a:t>c,tgs</a:t>
            </a:r>
            <a:r>
              <a:rPr lang="en-US" altLang="zh-CN" b="1">
                <a:latin typeface="Arial" panose="020B0604020202020204" pitchFamily="34" charset="0"/>
              </a:rPr>
              <a:t> :	session key</a:t>
            </a:r>
            <a:r>
              <a:rPr lang="zh-CN" altLang="zh-CN" b="1">
                <a:latin typeface="Arial" panose="020B0604020202020204" pitchFamily="34" charset="0"/>
              </a:rPr>
              <a:t>的副本，由</a:t>
            </a:r>
            <a:r>
              <a:rPr lang="en-US" altLang="zh-CN" b="1">
                <a:latin typeface="Arial" panose="020B0604020202020204" pitchFamily="34" charset="0"/>
              </a:rPr>
              <a:t>AS</a:t>
            </a:r>
            <a:r>
              <a:rPr lang="zh-CN" altLang="zh-CN" b="1">
                <a:latin typeface="Arial" panose="020B0604020202020204" pitchFamily="34" charset="0"/>
              </a:rPr>
              <a:t>产生，</a:t>
            </a:r>
            <a:r>
              <a:rPr lang="en-US" altLang="zh-CN" b="1">
                <a:latin typeface="Arial" panose="020B0604020202020204" pitchFamily="34" charset="0"/>
              </a:rPr>
              <a:t>client</a:t>
            </a:r>
            <a:r>
              <a:rPr lang="zh-CN" altLang="zh-CN" b="1">
                <a:latin typeface="Arial" panose="020B0604020202020204" pitchFamily="34" charset="0"/>
              </a:rPr>
              <a:t>可用于在</a:t>
            </a:r>
            <a:r>
              <a:rPr lang="en-US" altLang="zh-CN" b="1">
                <a:latin typeface="Arial" panose="020B0604020202020204" pitchFamily="34" charset="0"/>
              </a:rPr>
              <a:t>AS</a:t>
            </a:r>
            <a:r>
              <a:rPr lang="zh-CN" altLang="en-US" b="1">
                <a:latin typeface="Arial" panose="020B0604020202020204" pitchFamily="34" charset="0"/>
              </a:rPr>
              <a:t>与</a:t>
            </a:r>
            <a:r>
              <a:rPr lang="en-US" altLang="zh-CN" b="1">
                <a:latin typeface="Arial" panose="020B0604020202020204" pitchFamily="34" charset="0"/>
              </a:rPr>
              <a:t>client</a:t>
            </a:r>
            <a:r>
              <a:rPr lang="zh-CN" altLang="en-US" b="1">
                <a:latin typeface="Arial" panose="020B0604020202020204" pitchFamily="34" charset="0"/>
              </a:rPr>
              <a:t>之间信息的</a:t>
            </a:r>
            <a:r>
              <a:rPr lang="zh-CN" altLang="zh-CN" b="1">
                <a:latin typeface="Arial" panose="020B0604020202020204" pitchFamily="34" charset="0"/>
              </a:rPr>
              <a:t>安全交换，而不必共用一个永久的</a:t>
            </a:r>
            <a:r>
              <a:rPr lang="en-US" altLang="zh-CN" b="1">
                <a:latin typeface="Arial" panose="020B0604020202020204" pitchFamily="34" charset="0"/>
              </a:rPr>
              <a:t>key</a:t>
            </a:r>
            <a:r>
              <a:rPr lang="zh-CN" altLang="en-US" b="1">
                <a:latin typeface="Arial" panose="020B0604020202020204" pitchFamily="34" charset="0"/>
              </a:rPr>
              <a:t>。</a:t>
            </a:r>
          </a:p>
          <a:p>
            <a:r>
              <a:rPr lang="zh-CN" altLang="en-US" b="1">
                <a:latin typeface="Arial" panose="020B0604020202020204" pitchFamily="34" charset="0"/>
              </a:rPr>
              <a:t>    </a:t>
            </a:r>
            <a:r>
              <a:rPr lang="en-US" altLang="zh-CN" b="1">
                <a:latin typeface="Arial" panose="020B0604020202020204" pitchFamily="34" charset="0"/>
              </a:rPr>
              <a:t>ID</a:t>
            </a:r>
            <a:r>
              <a:rPr lang="en-US" altLang="zh-CN" b="1" baseline="-25000">
                <a:latin typeface="Arial" panose="020B0604020202020204" pitchFamily="34" charset="0"/>
              </a:rPr>
              <a:t>tgs</a:t>
            </a:r>
            <a:r>
              <a:rPr lang="en-US" altLang="zh-CN" b="1">
                <a:latin typeface="Arial" panose="020B0604020202020204" pitchFamily="34" charset="0"/>
              </a:rPr>
              <a:t>  :	</a:t>
            </a:r>
            <a:r>
              <a:rPr lang="zh-CN" altLang="en-US" b="1">
                <a:latin typeface="Arial" panose="020B0604020202020204" pitchFamily="34" charset="0"/>
              </a:rPr>
              <a:t>确认这个</a:t>
            </a:r>
            <a:r>
              <a:rPr lang="en-US" altLang="zh-CN" b="1">
                <a:latin typeface="Arial" panose="020B0604020202020204" pitchFamily="34" charset="0"/>
              </a:rPr>
              <a:t>ticket</a:t>
            </a:r>
            <a:r>
              <a:rPr lang="zh-CN" altLang="en-US" b="1">
                <a:latin typeface="Arial" panose="020B0604020202020204" pitchFamily="34" charset="0"/>
              </a:rPr>
              <a:t>是为</a:t>
            </a:r>
            <a:r>
              <a:rPr lang="en-US" altLang="zh-CN" b="1">
                <a:latin typeface="Arial" panose="020B0604020202020204" pitchFamily="34" charset="0"/>
              </a:rPr>
              <a:t>TGS</a:t>
            </a:r>
            <a:r>
              <a:rPr lang="zh-CN" altLang="en-US" b="1">
                <a:latin typeface="Arial" panose="020B0604020202020204" pitchFamily="34" charset="0"/>
              </a:rPr>
              <a:t>制作的。</a:t>
            </a:r>
          </a:p>
          <a:p>
            <a:r>
              <a:rPr lang="zh-CN" altLang="en-US" b="1">
                <a:latin typeface="Arial" panose="020B0604020202020204" pitchFamily="34" charset="0"/>
              </a:rPr>
              <a:t>    </a:t>
            </a:r>
            <a:r>
              <a:rPr lang="en-US" altLang="zh-CN" b="1">
                <a:latin typeface="Arial" panose="020B0604020202020204" pitchFamily="34" charset="0"/>
              </a:rPr>
              <a:t>TS</a:t>
            </a:r>
            <a:r>
              <a:rPr lang="en-US" altLang="zh-CN" b="1" baseline="-25000">
                <a:latin typeface="Arial" panose="020B0604020202020204" pitchFamily="34" charset="0"/>
              </a:rPr>
              <a:t>2</a:t>
            </a:r>
            <a:r>
              <a:rPr lang="en-US" altLang="zh-CN" b="1">
                <a:latin typeface="Arial" panose="020B0604020202020204" pitchFamily="34" charset="0"/>
              </a:rPr>
              <a:t>   :	</a:t>
            </a:r>
            <a:r>
              <a:rPr lang="zh-CN" altLang="zh-CN" b="1">
                <a:latin typeface="Arial" panose="020B0604020202020204" pitchFamily="34" charset="0"/>
              </a:rPr>
              <a:t>告诉</a:t>
            </a:r>
            <a:r>
              <a:rPr lang="en-US" altLang="zh-CN" b="1">
                <a:latin typeface="Arial" panose="020B0604020202020204" pitchFamily="34" charset="0"/>
              </a:rPr>
              <a:t>client</a:t>
            </a:r>
            <a:r>
              <a:rPr lang="zh-CN" altLang="zh-CN" b="1">
                <a:latin typeface="Arial" panose="020B0604020202020204" pitchFamily="34" charset="0"/>
              </a:rPr>
              <a:t>该</a:t>
            </a:r>
            <a:r>
              <a:rPr lang="en-US" altLang="zh-CN" b="1">
                <a:latin typeface="Arial" panose="020B0604020202020204" pitchFamily="34" charset="0"/>
              </a:rPr>
              <a:t>ticket</a:t>
            </a:r>
            <a:r>
              <a:rPr lang="zh-CN" altLang="zh-CN" b="1">
                <a:latin typeface="Arial" panose="020B0604020202020204" pitchFamily="34" charset="0"/>
              </a:rPr>
              <a:t>签发的时间。</a:t>
            </a:r>
          </a:p>
          <a:p>
            <a:r>
              <a:rPr lang="zh-CN" altLang="zh-CN" b="1">
                <a:latin typeface="Arial" panose="020B0604020202020204" pitchFamily="34" charset="0"/>
              </a:rPr>
              <a:t>    </a:t>
            </a:r>
            <a:r>
              <a:rPr lang="en-US" altLang="zh-CN" b="1">
                <a:latin typeface="Arial" panose="020B0604020202020204" pitchFamily="34" charset="0"/>
              </a:rPr>
              <a:t>Lifetime</a:t>
            </a:r>
            <a:r>
              <a:rPr lang="en-US" altLang="zh-CN" b="1" baseline="-25000">
                <a:latin typeface="Arial" panose="020B0604020202020204" pitchFamily="34" charset="0"/>
              </a:rPr>
              <a:t>2</a:t>
            </a:r>
            <a:r>
              <a:rPr lang="en-US" altLang="zh-CN" b="1">
                <a:latin typeface="Arial" panose="020B0604020202020204" pitchFamily="34" charset="0"/>
              </a:rPr>
              <a:t>:	</a:t>
            </a:r>
            <a:r>
              <a:rPr lang="zh-CN" altLang="zh-CN" b="1">
                <a:latin typeface="Arial" panose="020B0604020202020204" pitchFamily="34" charset="0"/>
              </a:rPr>
              <a:t>告诉</a:t>
            </a:r>
            <a:r>
              <a:rPr lang="en-US" altLang="zh-CN" b="1">
                <a:latin typeface="Arial" panose="020B0604020202020204" pitchFamily="34" charset="0"/>
              </a:rPr>
              <a:t>client</a:t>
            </a:r>
            <a:r>
              <a:rPr lang="zh-CN" altLang="zh-CN" b="1">
                <a:latin typeface="Arial" panose="020B0604020202020204" pitchFamily="34" charset="0"/>
              </a:rPr>
              <a:t>该</a:t>
            </a:r>
            <a:r>
              <a:rPr lang="en-US" altLang="zh-CN" b="1">
                <a:latin typeface="Arial" panose="020B0604020202020204" pitchFamily="34" charset="0"/>
              </a:rPr>
              <a:t>ticket</a:t>
            </a:r>
            <a:r>
              <a:rPr lang="zh-CN" altLang="zh-CN" b="1">
                <a:latin typeface="Arial" panose="020B0604020202020204" pitchFamily="34" charset="0"/>
              </a:rPr>
              <a:t>的有效期；</a:t>
            </a:r>
          </a:p>
          <a:p>
            <a:r>
              <a:rPr lang="zh-CN" altLang="zh-CN" b="1">
                <a:latin typeface="Arial" panose="020B0604020202020204" pitchFamily="34" charset="0"/>
              </a:rPr>
              <a:t>    </a:t>
            </a:r>
            <a:r>
              <a:rPr lang="en-US" altLang="zh-CN" b="1">
                <a:latin typeface="Arial" panose="020B0604020202020204" pitchFamily="34" charset="0"/>
              </a:rPr>
              <a:t>Ticket</a:t>
            </a:r>
            <a:r>
              <a:rPr lang="en-US" altLang="zh-CN" b="1" baseline="-25000">
                <a:latin typeface="Arial" panose="020B0604020202020204" pitchFamily="34" charset="0"/>
              </a:rPr>
              <a:t>tgs</a:t>
            </a:r>
            <a:r>
              <a:rPr lang="en-US" altLang="zh-CN" b="1">
                <a:latin typeface="Arial" panose="020B0604020202020204" pitchFamily="34" charset="0"/>
              </a:rPr>
              <a:t>:	client</a:t>
            </a:r>
            <a:r>
              <a:rPr lang="zh-CN" altLang="en-US" b="1">
                <a:latin typeface="Arial" panose="020B0604020202020204" pitchFamily="34" charset="0"/>
              </a:rPr>
              <a:t>用来访问</a:t>
            </a:r>
            <a:r>
              <a:rPr lang="en-US" altLang="zh-CN" b="1">
                <a:latin typeface="Arial" panose="020B0604020202020204" pitchFamily="34" charset="0"/>
              </a:rPr>
              <a:t>TGS</a:t>
            </a:r>
            <a:r>
              <a:rPr lang="zh-CN" altLang="en-US" b="1">
                <a:latin typeface="Arial" panose="020B0604020202020204" pitchFamily="34" charset="0"/>
              </a:rPr>
              <a:t>的</a:t>
            </a:r>
            <a:r>
              <a:rPr lang="en-US" altLang="zh-CN" b="1">
                <a:latin typeface="Arial" panose="020B0604020202020204" pitchFamily="34" charset="0"/>
              </a:rPr>
              <a:t>ticket</a:t>
            </a:r>
            <a:r>
              <a:rPr lang="zh-CN" altLang="en-US" b="1">
                <a:latin typeface="Arial" panose="020B0604020202020204" pitchFamily="34" charset="0"/>
              </a:rPr>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19F12B3-AAED-4DE5-AA54-4104E2BC0A59}" type="slidenum">
              <a:rPr lang="en-US" altLang="zh-CN"/>
              <a:t>37</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a:latin typeface="Arial" panose="020B0604020202020204" pitchFamily="34" charset="0"/>
              </a:rPr>
              <a:t>Message(3)	client </a:t>
            </a:r>
            <a:r>
              <a:rPr lang="zh-CN" altLang="zh-CN" b="1">
                <a:latin typeface="Arial" panose="020B0604020202020204" pitchFamily="34" charset="0"/>
              </a:rPr>
              <a:t>请求</a:t>
            </a:r>
            <a:r>
              <a:rPr lang="en-US" altLang="zh-CN" b="1">
                <a:latin typeface="Arial" panose="020B0604020202020204" pitchFamily="34" charset="0"/>
              </a:rPr>
              <a:t>service-granting ticket</a:t>
            </a:r>
          </a:p>
          <a:p>
            <a:r>
              <a:rPr lang="en-US" altLang="zh-CN" b="1">
                <a:latin typeface="Arial" panose="020B0604020202020204" pitchFamily="34" charset="0"/>
              </a:rPr>
              <a:t>    ID</a:t>
            </a:r>
            <a:r>
              <a:rPr lang="en-US" altLang="zh-CN" b="1" baseline="-25000">
                <a:latin typeface="Arial" panose="020B0604020202020204" pitchFamily="34" charset="0"/>
              </a:rPr>
              <a:t>v</a:t>
            </a:r>
            <a:r>
              <a:rPr lang="en-US" altLang="zh-CN" b="1">
                <a:latin typeface="Arial" panose="020B0604020202020204" pitchFamily="34" charset="0"/>
              </a:rPr>
              <a:t>:		</a:t>
            </a:r>
            <a:r>
              <a:rPr lang="zh-CN" altLang="zh-CN" b="1">
                <a:latin typeface="Arial" panose="020B0604020202020204" pitchFamily="34" charset="0"/>
              </a:rPr>
              <a:t>告诉</a:t>
            </a:r>
            <a:r>
              <a:rPr lang="en-US" altLang="zh-CN" b="1">
                <a:latin typeface="Arial" panose="020B0604020202020204" pitchFamily="34" charset="0"/>
              </a:rPr>
              <a:t>TGS</a:t>
            </a:r>
            <a:r>
              <a:rPr lang="zh-CN" altLang="zh-CN" b="1">
                <a:latin typeface="Arial" panose="020B0604020202020204" pitchFamily="34" charset="0"/>
              </a:rPr>
              <a:t>用户要访问服务器</a:t>
            </a:r>
            <a:r>
              <a:rPr lang="en-US" altLang="zh-CN" b="1">
                <a:latin typeface="Arial" panose="020B0604020202020204" pitchFamily="34" charset="0"/>
              </a:rPr>
              <a:t>V</a:t>
            </a:r>
            <a:r>
              <a:rPr lang="zh-CN" altLang="en-US" b="1">
                <a:latin typeface="Arial" panose="020B0604020202020204" pitchFamily="34" charset="0"/>
              </a:rPr>
              <a:t>；</a:t>
            </a:r>
          </a:p>
          <a:p>
            <a:r>
              <a:rPr lang="zh-CN" altLang="en-US" b="1">
                <a:latin typeface="Arial" panose="020B0604020202020204" pitchFamily="34" charset="0"/>
              </a:rPr>
              <a:t>    </a:t>
            </a:r>
            <a:r>
              <a:rPr lang="en-US" altLang="zh-CN" b="1">
                <a:latin typeface="Arial" panose="020B0604020202020204" pitchFamily="34" charset="0"/>
              </a:rPr>
              <a:t>Ticket</a:t>
            </a:r>
            <a:r>
              <a:rPr lang="en-US" altLang="zh-CN" b="1" baseline="-25000">
                <a:latin typeface="Arial" panose="020B0604020202020204" pitchFamily="34" charset="0"/>
              </a:rPr>
              <a:t>tgs</a:t>
            </a:r>
            <a:r>
              <a:rPr lang="en-US" altLang="zh-CN" b="1">
                <a:latin typeface="Arial" panose="020B0604020202020204" pitchFamily="34" charset="0"/>
              </a:rPr>
              <a:t> :	</a:t>
            </a:r>
            <a:r>
              <a:rPr lang="zh-CN" altLang="zh-CN" b="1">
                <a:latin typeface="Arial" panose="020B0604020202020204" pitchFamily="34" charset="0"/>
              </a:rPr>
              <a:t>向</a:t>
            </a:r>
            <a:r>
              <a:rPr lang="en-US" altLang="zh-CN" b="1">
                <a:latin typeface="Arial" panose="020B0604020202020204" pitchFamily="34" charset="0"/>
              </a:rPr>
              <a:t>TGS</a:t>
            </a:r>
            <a:r>
              <a:rPr lang="zh-CN" altLang="zh-CN" b="1">
                <a:latin typeface="Arial" panose="020B0604020202020204" pitchFamily="34" charset="0"/>
              </a:rPr>
              <a:t>证实该用户已被</a:t>
            </a:r>
            <a:r>
              <a:rPr lang="en-US" altLang="zh-CN" b="1">
                <a:latin typeface="Arial" panose="020B0604020202020204" pitchFamily="34" charset="0"/>
              </a:rPr>
              <a:t>AS</a:t>
            </a:r>
            <a:r>
              <a:rPr lang="zh-CN" altLang="zh-CN" b="1">
                <a:latin typeface="Arial" panose="020B0604020202020204" pitchFamily="34" charset="0"/>
              </a:rPr>
              <a:t>认证；</a:t>
            </a:r>
          </a:p>
          <a:p>
            <a:r>
              <a:rPr lang="en-US" altLang="zh-CN" b="1">
                <a:latin typeface="Arial" panose="020B0604020202020204" pitchFamily="34" charset="0"/>
              </a:rPr>
              <a:t>Authenticator</a:t>
            </a:r>
            <a:r>
              <a:rPr lang="en-US" altLang="zh-CN" b="1" baseline="-25000">
                <a:latin typeface="Arial" panose="020B0604020202020204" pitchFamily="34" charset="0"/>
              </a:rPr>
              <a:t>c</a:t>
            </a:r>
            <a:r>
              <a:rPr lang="en-US" altLang="zh-CN" b="1">
                <a:latin typeface="Arial" panose="020B0604020202020204" pitchFamily="34" charset="0"/>
              </a:rPr>
              <a:t>:</a:t>
            </a:r>
            <a:r>
              <a:rPr lang="zh-CN" altLang="zh-CN" b="1">
                <a:latin typeface="Arial" panose="020B0604020202020204" pitchFamily="34" charset="0"/>
              </a:rPr>
              <a:t>由</a:t>
            </a:r>
            <a:r>
              <a:rPr lang="en-US" altLang="zh-CN" b="1">
                <a:latin typeface="Arial" panose="020B0604020202020204" pitchFamily="34" charset="0"/>
              </a:rPr>
              <a:t>client</a:t>
            </a:r>
            <a:r>
              <a:rPr lang="zh-CN" altLang="zh-CN" b="1">
                <a:latin typeface="Arial" panose="020B0604020202020204" pitchFamily="34" charset="0"/>
              </a:rPr>
              <a:t>生成，用于验证</a:t>
            </a:r>
            <a:r>
              <a:rPr lang="en-US" altLang="zh-CN" b="1">
                <a:latin typeface="Arial" panose="020B0604020202020204" pitchFamily="34" charset="0"/>
              </a:rPr>
              <a:t>ticket</a:t>
            </a:r>
            <a:r>
              <a:rPr lang="zh-CN" altLang="en-US" b="1">
                <a:latin typeface="Arial" panose="020B0604020202020204" pitchFamily="34" charset="0"/>
              </a:rPr>
              <a:t>；</a:t>
            </a:r>
          </a:p>
          <a:p>
            <a:r>
              <a:rPr lang="en-US" altLang="zh-CN" b="1">
                <a:latin typeface="Arial" panose="020B0604020202020204" pitchFamily="34" charset="0"/>
              </a:rPr>
              <a:t>Message(4)	TGS</a:t>
            </a:r>
            <a:r>
              <a:rPr lang="zh-CN" altLang="zh-CN" b="1">
                <a:latin typeface="Arial" panose="020B0604020202020204" pitchFamily="34" charset="0"/>
              </a:rPr>
              <a:t>返回</a:t>
            </a:r>
            <a:r>
              <a:rPr lang="en-US" altLang="zh-CN" b="1">
                <a:latin typeface="Arial" panose="020B0604020202020204" pitchFamily="34" charset="0"/>
              </a:rPr>
              <a:t>service-granting ticket</a:t>
            </a:r>
          </a:p>
          <a:p>
            <a:r>
              <a:rPr lang="en-US" altLang="zh-CN" b="1">
                <a:latin typeface="Arial" panose="020B0604020202020204" pitchFamily="34" charset="0"/>
              </a:rPr>
              <a:t>    E</a:t>
            </a:r>
            <a:r>
              <a:rPr lang="en-US" altLang="zh-CN" b="1" baseline="-25000">
                <a:latin typeface="Arial" panose="020B0604020202020204" pitchFamily="34" charset="0"/>
              </a:rPr>
              <a:t>K</a:t>
            </a:r>
            <a:r>
              <a:rPr lang="en-US" altLang="zh-CN" b="1" baseline="-46000">
                <a:latin typeface="Arial" panose="020B0604020202020204" pitchFamily="34" charset="0"/>
              </a:rPr>
              <a:t>c,tgs</a:t>
            </a:r>
            <a:r>
              <a:rPr lang="en-US" altLang="zh-CN" b="1">
                <a:latin typeface="Arial" panose="020B0604020202020204" pitchFamily="34" charset="0"/>
              </a:rPr>
              <a:t> :	</a:t>
            </a:r>
            <a:r>
              <a:rPr lang="zh-CN" altLang="zh-CN" b="1">
                <a:latin typeface="Arial" panose="020B0604020202020204" pitchFamily="34" charset="0"/>
              </a:rPr>
              <a:t>仅由</a:t>
            </a:r>
            <a:r>
              <a:rPr lang="en-US" altLang="zh-CN" b="1">
                <a:latin typeface="Arial" panose="020B0604020202020204" pitchFamily="34" charset="0"/>
              </a:rPr>
              <a:t>C</a:t>
            </a:r>
            <a:r>
              <a:rPr lang="zh-CN" altLang="en-US" b="1">
                <a:latin typeface="Arial" panose="020B0604020202020204" pitchFamily="34" charset="0"/>
              </a:rPr>
              <a:t>和</a:t>
            </a:r>
            <a:r>
              <a:rPr lang="en-US" altLang="zh-CN" b="1">
                <a:latin typeface="Arial" panose="020B0604020202020204" pitchFamily="34" charset="0"/>
              </a:rPr>
              <a:t>TGS</a:t>
            </a:r>
            <a:r>
              <a:rPr lang="zh-CN" altLang="en-US" b="1">
                <a:latin typeface="Arial" panose="020B0604020202020204" pitchFamily="34" charset="0"/>
              </a:rPr>
              <a:t>共享的密钥；用以保护</a:t>
            </a:r>
            <a:r>
              <a:rPr lang="en-US" altLang="zh-CN" b="1">
                <a:latin typeface="Arial" panose="020B0604020202020204" pitchFamily="34" charset="0"/>
              </a:rPr>
              <a:t>Message(4)</a:t>
            </a:r>
            <a:r>
              <a:rPr lang="zh-CN" altLang="en-US" b="1">
                <a:latin typeface="Arial" panose="020B0604020202020204" pitchFamily="34" charset="0"/>
              </a:rPr>
              <a:t>；</a:t>
            </a:r>
          </a:p>
          <a:p>
            <a:r>
              <a:rPr lang="zh-CN" altLang="en-US" b="1">
                <a:latin typeface="Arial" panose="020B0604020202020204" pitchFamily="34" charset="0"/>
              </a:rPr>
              <a:t>    </a:t>
            </a:r>
            <a:r>
              <a:rPr lang="en-US" altLang="zh-CN" b="1">
                <a:latin typeface="Arial" panose="020B0604020202020204" pitchFamily="34" charset="0"/>
              </a:rPr>
              <a:t>K</a:t>
            </a:r>
            <a:r>
              <a:rPr lang="en-US" altLang="zh-CN" b="1" baseline="-25000">
                <a:latin typeface="Arial" panose="020B0604020202020204" pitchFamily="34" charset="0"/>
              </a:rPr>
              <a:t>c,tgs</a:t>
            </a:r>
            <a:r>
              <a:rPr lang="en-US" altLang="zh-CN" b="1">
                <a:latin typeface="Arial" panose="020B0604020202020204" pitchFamily="34" charset="0"/>
              </a:rPr>
              <a:t>:	session key</a:t>
            </a:r>
            <a:r>
              <a:rPr lang="zh-CN" altLang="zh-CN" b="1">
                <a:latin typeface="Arial" panose="020B0604020202020204" pitchFamily="34" charset="0"/>
              </a:rPr>
              <a:t>的副本，由</a:t>
            </a:r>
            <a:r>
              <a:rPr lang="en-US" altLang="zh-CN" b="1">
                <a:latin typeface="Arial" panose="020B0604020202020204" pitchFamily="34" charset="0"/>
              </a:rPr>
              <a:t>TGS</a:t>
            </a:r>
            <a:r>
              <a:rPr lang="zh-CN" altLang="zh-CN" b="1">
                <a:latin typeface="Arial" panose="020B0604020202020204" pitchFamily="34" charset="0"/>
              </a:rPr>
              <a:t>生成，供</a:t>
            </a:r>
            <a:r>
              <a:rPr lang="en-US" altLang="zh-CN" b="1">
                <a:latin typeface="Arial" panose="020B0604020202020204" pitchFamily="34" charset="0"/>
              </a:rPr>
              <a:t>client</a:t>
            </a:r>
            <a:r>
              <a:rPr lang="zh-CN" altLang="zh-CN" b="1">
                <a:latin typeface="Arial" panose="020B0604020202020204" pitchFamily="34" charset="0"/>
              </a:rPr>
              <a:t>和</a:t>
            </a:r>
            <a:r>
              <a:rPr lang="en-US" altLang="zh-CN" b="1">
                <a:latin typeface="Arial" panose="020B0604020202020204" pitchFamily="34" charset="0"/>
              </a:rPr>
              <a:t>server</a:t>
            </a:r>
            <a:r>
              <a:rPr lang="zh-CN" altLang="zh-CN" b="1">
                <a:latin typeface="Arial" panose="020B0604020202020204" pitchFamily="34" charset="0"/>
              </a:rPr>
              <a:t>之间</a:t>
            </a:r>
          </a:p>
          <a:p>
            <a:r>
              <a:rPr lang="zh-CN" altLang="zh-CN" b="1">
                <a:latin typeface="Arial" panose="020B0604020202020204" pitchFamily="34" charset="0"/>
              </a:rPr>
              <a:t>		信息的安全交换，而无须共用一个永久密钥。</a:t>
            </a:r>
          </a:p>
          <a:p>
            <a:r>
              <a:rPr lang="zh-CN" altLang="zh-CN" b="1">
                <a:latin typeface="Arial" panose="020B0604020202020204" pitchFamily="34" charset="0"/>
              </a:rPr>
              <a:t>    </a:t>
            </a:r>
            <a:r>
              <a:rPr lang="en-US" altLang="zh-CN" b="1">
                <a:latin typeface="Arial" panose="020B0604020202020204" pitchFamily="34" charset="0"/>
              </a:rPr>
              <a:t>ID</a:t>
            </a:r>
            <a:r>
              <a:rPr lang="en-US" altLang="zh-CN" b="1" baseline="-25000">
                <a:latin typeface="Arial" panose="020B0604020202020204" pitchFamily="34" charset="0"/>
              </a:rPr>
              <a:t>v</a:t>
            </a:r>
            <a:r>
              <a:rPr lang="en-US" altLang="zh-CN" b="1">
                <a:latin typeface="Arial" panose="020B0604020202020204" pitchFamily="34" charset="0"/>
              </a:rPr>
              <a:t> :		</a:t>
            </a:r>
            <a:r>
              <a:rPr lang="zh-CN" altLang="zh-CN" b="1">
                <a:latin typeface="Arial" panose="020B0604020202020204" pitchFamily="34" charset="0"/>
              </a:rPr>
              <a:t>确认该</a:t>
            </a:r>
            <a:r>
              <a:rPr lang="en-US" altLang="zh-CN" b="1">
                <a:latin typeface="Arial" panose="020B0604020202020204" pitchFamily="34" charset="0"/>
              </a:rPr>
              <a:t>ticket</a:t>
            </a:r>
            <a:r>
              <a:rPr lang="zh-CN" altLang="zh-CN" b="1">
                <a:latin typeface="Arial" panose="020B0604020202020204" pitchFamily="34" charset="0"/>
              </a:rPr>
              <a:t>是为</a:t>
            </a:r>
            <a:r>
              <a:rPr lang="en-US" altLang="zh-CN" b="1">
                <a:latin typeface="Arial" panose="020B0604020202020204" pitchFamily="34" charset="0"/>
              </a:rPr>
              <a:t>server V</a:t>
            </a:r>
            <a:r>
              <a:rPr lang="zh-CN" altLang="zh-CN" b="1">
                <a:latin typeface="Arial" panose="020B0604020202020204" pitchFamily="34" charset="0"/>
              </a:rPr>
              <a:t>签发的；</a:t>
            </a:r>
          </a:p>
          <a:p>
            <a:r>
              <a:rPr lang="zh-CN" altLang="en-US" b="1">
                <a:latin typeface="Arial" panose="020B0604020202020204" pitchFamily="34" charset="0"/>
              </a:rPr>
              <a:t>    </a:t>
            </a:r>
            <a:r>
              <a:rPr lang="en-US" altLang="zh-CN" b="1">
                <a:latin typeface="Arial" panose="020B0604020202020204" pitchFamily="34" charset="0"/>
              </a:rPr>
              <a:t>TS</a:t>
            </a:r>
            <a:r>
              <a:rPr lang="en-US" altLang="zh-CN" b="1" baseline="-25000">
                <a:latin typeface="Arial" panose="020B0604020202020204" pitchFamily="34" charset="0"/>
              </a:rPr>
              <a:t>4</a:t>
            </a:r>
            <a:r>
              <a:rPr lang="en-US" altLang="zh-CN" b="1">
                <a:latin typeface="Arial" panose="020B0604020202020204" pitchFamily="34" charset="0"/>
              </a:rPr>
              <a:t> :	</a:t>
            </a:r>
            <a:r>
              <a:rPr lang="zh-CN" altLang="en-US" b="1">
                <a:latin typeface="Arial" panose="020B0604020202020204" pitchFamily="34" charset="0"/>
              </a:rPr>
              <a:t>告诉</a:t>
            </a:r>
            <a:r>
              <a:rPr lang="en-US" altLang="zh-CN" b="1">
                <a:latin typeface="Arial" panose="020B0604020202020204" pitchFamily="34" charset="0"/>
              </a:rPr>
              <a:t>client</a:t>
            </a:r>
            <a:r>
              <a:rPr lang="zh-CN" altLang="en-US" b="1">
                <a:latin typeface="Arial" panose="020B0604020202020204" pitchFamily="34" charset="0"/>
              </a:rPr>
              <a:t>该</a:t>
            </a:r>
            <a:r>
              <a:rPr lang="en-US" altLang="zh-CN" b="1">
                <a:latin typeface="Arial" panose="020B0604020202020204" pitchFamily="34" charset="0"/>
              </a:rPr>
              <a:t>ticket</a:t>
            </a:r>
            <a:r>
              <a:rPr lang="zh-CN" altLang="en-US" b="1">
                <a:latin typeface="Arial" panose="020B0604020202020204" pitchFamily="34" charset="0"/>
              </a:rPr>
              <a:t>签发的时间；</a:t>
            </a:r>
          </a:p>
          <a:p>
            <a:r>
              <a:rPr lang="zh-CN" altLang="en-US" b="1">
                <a:latin typeface="Arial" panose="020B0604020202020204" pitchFamily="34" charset="0"/>
              </a:rPr>
              <a:t>    </a:t>
            </a:r>
            <a:r>
              <a:rPr lang="en-US" altLang="zh-CN" b="1">
                <a:latin typeface="Arial" panose="020B0604020202020204" pitchFamily="34" charset="0"/>
              </a:rPr>
              <a:t>Ticket</a:t>
            </a:r>
            <a:r>
              <a:rPr lang="en-US" altLang="zh-CN" b="1" baseline="-25000">
                <a:latin typeface="Arial" panose="020B0604020202020204" pitchFamily="34" charset="0"/>
              </a:rPr>
              <a:t>V</a:t>
            </a:r>
            <a:r>
              <a:rPr lang="en-US" altLang="zh-CN" b="1">
                <a:latin typeface="Arial" panose="020B0604020202020204" pitchFamily="34" charset="0"/>
              </a:rPr>
              <a:t> :	client</a:t>
            </a:r>
            <a:r>
              <a:rPr lang="zh-CN" altLang="zh-CN" b="1">
                <a:latin typeface="Arial" panose="020B0604020202020204" pitchFamily="34" charset="0"/>
              </a:rPr>
              <a:t>用以访问服务器</a:t>
            </a:r>
            <a:r>
              <a:rPr lang="en-US" altLang="zh-CN" b="1">
                <a:latin typeface="Arial" panose="020B0604020202020204" pitchFamily="34" charset="0"/>
              </a:rPr>
              <a:t>V</a:t>
            </a:r>
            <a:r>
              <a:rPr lang="zh-CN" altLang="zh-CN" b="1">
                <a:latin typeface="Arial" panose="020B0604020202020204" pitchFamily="34" charset="0"/>
              </a:rPr>
              <a:t>的</a:t>
            </a:r>
            <a:r>
              <a:rPr lang="en-US" altLang="zh-CN" b="1">
                <a:latin typeface="Arial" panose="020B0604020202020204" pitchFamily="34" charset="0"/>
              </a:rPr>
              <a:t>ticket</a:t>
            </a:r>
            <a:r>
              <a:rPr lang="zh-CN" altLang="en-US" b="1">
                <a:latin typeface="Arial" panose="020B0604020202020204" pitchFamily="34" charset="0"/>
              </a:rPr>
              <a:t>；</a:t>
            </a:r>
          </a:p>
          <a:p>
            <a:r>
              <a:rPr lang="zh-CN" altLang="en-US" b="1">
                <a:latin typeface="Arial" panose="020B0604020202020204" pitchFamily="34" charset="0"/>
              </a:rPr>
              <a:t>    </a:t>
            </a:r>
            <a:r>
              <a:rPr lang="en-US" altLang="zh-CN" b="1">
                <a:latin typeface="Arial" panose="020B0604020202020204" pitchFamily="34" charset="0"/>
              </a:rPr>
              <a:t>Ticket</a:t>
            </a:r>
            <a:r>
              <a:rPr lang="en-US" altLang="zh-CN" b="1" baseline="-25000">
                <a:latin typeface="Arial" panose="020B0604020202020204" pitchFamily="34" charset="0"/>
              </a:rPr>
              <a:t>tgs</a:t>
            </a:r>
            <a:r>
              <a:rPr lang="en-US" altLang="zh-CN" b="1">
                <a:latin typeface="Arial" panose="020B0604020202020204" pitchFamily="34" charset="0"/>
              </a:rPr>
              <a:t>:	</a:t>
            </a:r>
            <a:r>
              <a:rPr lang="zh-CN" altLang="zh-CN" b="1">
                <a:latin typeface="Arial" panose="020B0604020202020204" pitchFamily="34" charset="0"/>
              </a:rPr>
              <a:t>可重用，从而用户不必重新输入口令；</a:t>
            </a:r>
          </a:p>
          <a:p>
            <a:r>
              <a:rPr lang="zh-CN" altLang="zh-CN" b="1">
                <a:latin typeface="Arial" panose="020B0604020202020204" pitchFamily="34" charset="0"/>
              </a:rPr>
              <a:t>    </a:t>
            </a:r>
            <a:r>
              <a:rPr lang="en-US" altLang="zh-CN" b="1">
                <a:latin typeface="Arial" panose="020B0604020202020204" pitchFamily="34" charset="0"/>
              </a:rPr>
              <a:t>E</a:t>
            </a:r>
            <a:r>
              <a:rPr lang="en-US" altLang="zh-CN" b="1" baseline="-25000">
                <a:latin typeface="Arial" panose="020B0604020202020204" pitchFamily="34" charset="0"/>
              </a:rPr>
              <a:t>K</a:t>
            </a:r>
            <a:r>
              <a:rPr lang="en-US" altLang="zh-CN" b="1" baseline="-46000">
                <a:latin typeface="Arial" panose="020B0604020202020204" pitchFamily="34" charset="0"/>
              </a:rPr>
              <a:t>tgs</a:t>
            </a:r>
            <a:r>
              <a:rPr lang="en-US" altLang="zh-CN" b="1">
                <a:latin typeface="Arial" panose="020B0604020202020204" pitchFamily="34" charset="0"/>
              </a:rPr>
              <a:t> :	ticket</a:t>
            </a:r>
            <a:r>
              <a:rPr lang="zh-CN" altLang="en-US" b="1">
                <a:latin typeface="Arial" panose="020B0604020202020204" pitchFamily="34" charset="0"/>
              </a:rPr>
              <a:t>用只有</a:t>
            </a:r>
            <a:r>
              <a:rPr lang="en-US" altLang="zh-CN" b="1">
                <a:latin typeface="Arial" panose="020B0604020202020204" pitchFamily="34" charset="0"/>
              </a:rPr>
              <a:t>AS</a:t>
            </a:r>
            <a:r>
              <a:rPr lang="zh-CN" altLang="en-US" b="1">
                <a:latin typeface="Arial" panose="020B0604020202020204" pitchFamily="34" charset="0"/>
              </a:rPr>
              <a:t>和</a:t>
            </a:r>
            <a:r>
              <a:rPr lang="en-US" altLang="zh-CN" b="1">
                <a:latin typeface="Arial" panose="020B0604020202020204" pitchFamily="34" charset="0"/>
              </a:rPr>
              <a:t>TGS</a:t>
            </a:r>
            <a:r>
              <a:rPr lang="zh-CN" altLang="en-US" b="1">
                <a:latin typeface="Arial" panose="020B0604020202020204" pitchFamily="34" charset="0"/>
              </a:rPr>
              <a:t>才知道的密钥加密，以预防篡改；</a:t>
            </a:r>
          </a:p>
          <a:p>
            <a:r>
              <a:rPr lang="zh-CN" altLang="en-US" b="1">
                <a:latin typeface="Arial" panose="020B0604020202020204" pitchFamily="34" charset="0"/>
              </a:rPr>
              <a:t>    </a:t>
            </a:r>
            <a:r>
              <a:rPr lang="en-US" altLang="zh-CN" b="1">
                <a:latin typeface="Arial" panose="020B0604020202020204" pitchFamily="34" charset="0"/>
              </a:rPr>
              <a:t>K</a:t>
            </a:r>
            <a:r>
              <a:rPr lang="en-US" altLang="zh-CN" b="1" baseline="-25000">
                <a:latin typeface="Arial" panose="020B0604020202020204" pitchFamily="34" charset="0"/>
              </a:rPr>
              <a:t>c,tgs</a:t>
            </a:r>
            <a:r>
              <a:rPr lang="en-US" altLang="zh-CN" b="1">
                <a:latin typeface="Arial" panose="020B0604020202020204" pitchFamily="34" charset="0"/>
              </a:rPr>
              <a:t> :	TGS</a:t>
            </a:r>
            <a:r>
              <a:rPr lang="zh-CN" altLang="zh-CN" b="1">
                <a:latin typeface="Arial" panose="020B0604020202020204" pitchFamily="34" charset="0"/>
              </a:rPr>
              <a:t>可用的</a:t>
            </a:r>
            <a:r>
              <a:rPr lang="en-US" altLang="zh-CN" b="1">
                <a:latin typeface="Arial" panose="020B0604020202020204" pitchFamily="34" charset="0"/>
              </a:rPr>
              <a:t>session key</a:t>
            </a:r>
            <a:r>
              <a:rPr lang="zh-CN" altLang="en-US" b="1">
                <a:latin typeface="Arial" panose="020B0604020202020204" pitchFamily="34" charset="0"/>
              </a:rPr>
              <a:t>副本，用于解密</a:t>
            </a:r>
            <a:r>
              <a:rPr lang="en-US" altLang="zh-CN" b="1">
                <a:latin typeface="Arial" panose="020B0604020202020204" pitchFamily="34" charset="0"/>
              </a:rPr>
              <a:t>authenticator,</a:t>
            </a:r>
            <a:r>
              <a:rPr lang="zh-CN" altLang="en-US" b="1">
                <a:latin typeface="Arial" panose="020B0604020202020204" pitchFamily="34" charset="0"/>
              </a:rPr>
              <a:t>从而认证</a:t>
            </a:r>
            <a:r>
              <a:rPr lang="en-US" altLang="zh-CN" b="1">
                <a:latin typeface="Arial" panose="020B0604020202020204" pitchFamily="34" charset="0"/>
              </a:rPr>
              <a:t>ticket</a:t>
            </a:r>
            <a:r>
              <a:rPr lang="zh-CN" altLang="en-US" b="1">
                <a:latin typeface="Arial" panose="020B0604020202020204" pitchFamily="34" charset="0"/>
              </a:rPr>
              <a:t>；</a:t>
            </a:r>
          </a:p>
          <a:p>
            <a:r>
              <a:rPr lang="zh-CN" altLang="en-US" b="1">
                <a:latin typeface="Arial" panose="020B0604020202020204" pitchFamily="34" charset="0"/>
              </a:rPr>
              <a:t>    </a:t>
            </a:r>
            <a:r>
              <a:rPr lang="en-US" altLang="zh-CN" b="1">
                <a:latin typeface="Arial" panose="020B0604020202020204" pitchFamily="34" charset="0"/>
              </a:rPr>
              <a:t>IDc :	</a:t>
            </a:r>
            <a:r>
              <a:rPr lang="zh-CN" altLang="en-US" b="1">
                <a:latin typeface="Arial" panose="020B0604020202020204" pitchFamily="34" charset="0"/>
              </a:rPr>
              <a:t>指明该</a:t>
            </a:r>
            <a:r>
              <a:rPr lang="en-US" altLang="zh-CN" b="1">
                <a:latin typeface="Arial" panose="020B0604020202020204" pitchFamily="34" charset="0"/>
              </a:rPr>
              <a:t>ticket</a:t>
            </a:r>
            <a:r>
              <a:rPr lang="zh-CN" altLang="en-US" b="1">
                <a:latin typeface="Arial" panose="020B0604020202020204" pitchFamily="34" charset="0"/>
              </a:rPr>
              <a:t>的正确主人；</a:t>
            </a:r>
          </a:p>
          <a:p>
            <a:pPr eaLnBrk="1" hangingPunct="1"/>
            <a:endParaRPr lang="zh-CN"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3638C52-7724-4F2F-8A8A-28BA7D8B19D8}" type="slidenum">
              <a:rPr lang="en-US" altLang="zh-CN"/>
              <a:t>38</a:t>
            </a:fld>
            <a:endParaRPr lang="en-US" altLang="zh-CN"/>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a:latin typeface="Arial" panose="020B0604020202020204" pitchFamily="34" charset="0"/>
              </a:rPr>
              <a:t>Message(5)	client </a:t>
            </a:r>
            <a:r>
              <a:rPr lang="zh-CN" altLang="zh-CN" b="1">
                <a:latin typeface="Arial" panose="020B0604020202020204" pitchFamily="34" charset="0"/>
              </a:rPr>
              <a:t>请求</a:t>
            </a:r>
            <a:r>
              <a:rPr lang="zh-CN" altLang="en-US" b="1">
                <a:latin typeface="Arial" panose="020B0604020202020204" pitchFamily="34" charset="0"/>
              </a:rPr>
              <a:t>服务</a:t>
            </a:r>
          </a:p>
          <a:p>
            <a:r>
              <a:rPr lang="zh-CN" altLang="en-US" b="1">
                <a:latin typeface="Arial" panose="020B0604020202020204" pitchFamily="34" charset="0"/>
              </a:rPr>
              <a:t>    </a:t>
            </a:r>
            <a:r>
              <a:rPr lang="en-US" altLang="zh-CN" b="1">
                <a:latin typeface="Arial" panose="020B0604020202020204" pitchFamily="34" charset="0"/>
              </a:rPr>
              <a:t>Ticket</a:t>
            </a:r>
            <a:r>
              <a:rPr lang="en-US" altLang="zh-CN" b="1" baseline="-25000">
                <a:latin typeface="Arial" panose="020B0604020202020204" pitchFamily="34" charset="0"/>
              </a:rPr>
              <a:t>v</a:t>
            </a:r>
            <a:r>
              <a:rPr lang="en-US" altLang="zh-CN" b="1">
                <a:latin typeface="Arial" panose="020B0604020202020204" pitchFamily="34" charset="0"/>
              </a:rPr>
              <a:t> :	</a:t>
            </a:r>
            <a:r>
              <a:rPr lang="zh-CN" altLang="zh-CN" b="1">
                <a:latin typeface="Arial" panose="020B0604020202020204" pitchFamily="34" charset="0"/>
              </a:rPr>
              <a:t>向</a:t>
            </a:r>
            <a:r>
              <a:rPr lang="zh-CN" altLang="en-US" b="1">
                <a:latin typeface="Arial" panose="020B0604020202020204" pitchFamily="34" charset="0"/>
              </a:rPr>
              <a:t>服务器</a:t>
            </a:r>
            <a:r>
              <a:rPr lang="zh-CN" altLang="zh-CN" b="1">
                <a:latin typeface="Arial" panose="020B0604020202020204" pitchFamily="34" charset="0"/>
              </a:rPr>
              <a:t>证实该用户已被</a:t>
            </a:r>
            <a:r>
              <a:rPr lang="en-US" altLang="zh-CN" b="1">
                <a:latin typeface="Arial" panose="020B0604020202020204" pitchFamily="34" charset="0"/>
              </a:rPr>
              <a:t>AS</a:t>
            </a:r>
            <a:r>
              <a:rPr lang="zh-CN" altLang="zh-CN" b="1">
                <a:latin typeface="Arial" panose="020B0604020202020204" pitchFamily="34" charset="0"/>
              </a:rPr>
              <a:t>认证；</a:t>
            </a:r>
          </a:p>
          <a:p>
            <a:r>
              <a:rPr lang="zh-CN" altLang="en-US" b="1">
                <a:latin typeface="Arial" panose="020B0604020202020204" pitchFamily="34" charset="0"/>
              </a:rPr>
              <a:t>    </a:t>
            </a:r>
            <a:r>
              <a:rPr lang="en-US" altLang="zh-CN" b="1">
                <a:latin typeface="Arial" panose="020B0604020202020204" pitchFamily="34" charset="0"/>
              </a:rPr>
              <a:t>Authenticator</a:t>
            </a:r>
            <a:r>
              <a:rPr lang="en-US" altLang="zh-CN" b="1" baseline="-25000">
                <a:latin typeface="Arial" panose="020B0604020202020204" pitchFamily="34" charset="0"/>
              </a:rPr>
              <a:t>c</a:t>
            </a:r>
            <a:r>
              <a:rPr lang="en-US" altLang="zh-CN" b="1">
                <a:latin typeface="Arial" panose="020B0604020202020204" pitchFamily="34" charset="0"/>
              </a:rPr>
              <a:t>:</a:t>
            </a:r>
            <a:r>
              <a:rPr lang="zh-CN" altLang="zh-CN" b="1">
                <a:latin typeface="Arial" panose="020B0604020202020204" pitchFamily="34" charset="0"/>
              </a:rPr>
              <a:t>由</a:t>
            </a:r>
            <a:r>
              <a:rPr lang="zh-CN" altLang="en-US" b="1">
                <a:latin typeface="Arial" panose="020B0604020202020204" pitchFamily="34" charset="0"/>
              </a:rPr>
              <a:t>客户</a:t>
            </a:r>
            <a:r>
              <a:rPr lang="zh-CN" altLang="zh-CN" b="1">
                <a:latin typeface="Arial" panose="020B0604020202020204" pitchFamily="34" charset="0"/>
              </a:rPr>
              <a:t>生成，用于验证</a:t>
            </a:r>
            <a:r>
              <a:rPr lang="en-US" altLang="zh-CN" b="1">
                <a:latin typeface="Arial" panose="020B0604020202020204" pitchFamily="34" charset="0"/>
              </a:rPr>
              <a:t>ticket</a:t>
            </a:r>
            <a:r>
              <a:rPr lang="zh-CN" altLang="en-US" b="1">
                <a:latin typeface="Arial" panose="020B0604020202020204" pitchFamily="34" charset="0"/>
              </a:rPr>
              <a:t>有效；</a:t>
            </a:r>
          </a:p>
          <a:p>
            <a:r>
              <a:rPr lang="en-US" altLang="zh-CN" b="1">
                <a:latin typeface="Arial" panose="020B0604020202020204" pitchFamily="34" charset="0"/>
              </a:rPr>
              <a:t>Message(6)	</a:t>
            </a:r>
            <a:r>
              <a:rPr lang="zh-CN" altLang="en-US" b="1">
                <a:latin typeface="Arial" panose="020B0604020202020204" pitchFamily="34" charset="0"/>
              </a:rPr>
              <a:t>客户对服务器的可选认证</a:t>
            </a:r>
          </a:p>
          <a:p>
            <a:r>
              <a:rPr lang="zh-CN" altLang="en-US" b="1">
                <a:latin typeface="Arial" panose="020B0604020202020204" pitchFamily="34" charset="0"/>
              </a:rPr>
              <a:t>    </a:t>
            </a:r>
            <a:r>
              <a:rPr lang="en-US" altLang="zh-CN" b="1">
                <a:latin typeface="Arial" panose="020B0604020202020204" pitchFamily="34" charset="0"/>
              </a:rPr>
              <a:t>E</a:t>
            </a:r>
            <a:r>
              <a:rPr lang="en-US" altLang="zh-CN" b="1" baseline="-25000">
                <a:latin typeface="Arial" panose="020B0604020202020204" pitchFamily="34" charset="0"/>
              </a:rPr>
              <a:t>k</a:t>
            </a:r>
            <a:r>
              <a:rPr lang="en-US" altLang="zh-CN" b="1" baseline="-46000">
                <a:latin typeface="Arial" panose="020B0604020202020204" pitchFamily="34" charset="0"/>
              </a:rPr>
              <a:t>c,v</a:t>
            </a:r>
            <a:r>
              <a:rPr lang="en-US" altLang="zh-CN" b="1">
                <a:latin typeface="Arial" panose="020B0604020202020204" pitchFamily="34" charset="0"/>
              </a:rPr>
              <a:t> :	</a:t>
            </a:r>
            <a:r>
              <a:rPr lang="zh-CN" altLang="zh-CN" b="1">
                <a:latin typeface="Arial" panose="020B0604020202020204" pitchFamily="34" charset="0"/>
              </a:rPr>
              <a:t>使</a:t>
            </a:r>
            <a:r>
              <a:rPr lang="en-US" altLang="zh-CN" b="1">
                <a:latin typeface="Arial" panose="020B0604020202020204" pitchFamily="34" charset="0"/>
              </a:rPr>
              <a:t>C</a:t>
            </a:r>
            <a:r>
              <a:rPr lang="zh-CN" altLang="en-US" b="1">
                <a:latin typeface="Arial" panose="020B0604020202020204" pitchFamily="34" charset="0"/>
              </a:rPr>
              <a:t>确认报文来自</a:t>
            </a:r>
            <a:r>
              <a:rPr lang="en-US" altLang="zh-CN" b="1">
                <a:latin typeface="Arial" panose="020B0604020202020204" pitchFamily="34" charset="0"/>
              </a:rPr>
              <a:t>V</a:t>
            </a:r>
            <a:r>
              <a:rPr lang="zh-CN" altLang="en-US" b="1">
                <a:latin typeface="Arial" panose="020B0604020202020204" pitchFamily="34" charset="0"/>
              </a:rPr>
              <a:t>；</a:t>
            </a:r>
          </a:p>
          <a:p>
            <a:r>
              <a:rPr lang="zh-CN" altLang="en-US" b="1">
                <a:latin typeface="Arial" panose="020B0604020202020204" pitchFamily="34" charset="0"/>
              </a:rPr>
              <a:t>    </a:t>
            </a:r>
            <a:r>
              <a:rPr lang="en-US" altLang="zh-CN" b="1">
                <a:latin typeface="Arial" panose="020B0604020202020204" pitchFamily="34" charset="0"/>
              </a:rPr>
              <a:t>TS</a:t>
            </a:r>
            <a:r>
              <a:rPr lang="en-US" altLang="zh-CN" b="1" baseline="-25000">
                <a:latin typeface="Arial" panose="020B0604020202020204" pitchFamily="34" charset="0"/>
              </a:rPr>
              <a:t>5</a:t>
            </a:r>
            <a:r>
              <a:rPr lang="zh-CN" altLang="en-US" b="1">
                <a:latin typeface="Arial" panose="020B0604020202020204" pitchFamily="34" charset="0"/>
              </a:rPr>
              <a:t>＋</a:t>
            </a:r>
            <a:r>
              <a:rPr lang="en-US" altLang="zh-CN" b="1">
                <a:latin typeface="Arial" panose="020B0604020202020204" pitchFamily="34" charset="0"/>
              </a:rPr>
              <a:t>1</a:t>
            </a:r>
            <a:r>
              <a:rPr lang="zh-CN" altLang="en-US" b="1">
                <a:latin typeface="Arial" panose="020B0604020202020204" pitchFamily="34" charset="0"/>
              </a:rPr>
              <a:t>：   使</a:t>
            </a:r>
            <a:r>
              <a:rPr lang="en-US" altLang="zh-CN" b="1">
                <a:latin typeface="Arial" panose="020B0604020202020204" pitchFamily="34" charset="0"/>
              </a:rPr>
              <a:t>C</a:t>
            </a:r>
            <a:r>
              <a:rPr lang="zh-CN" altLang="en-US" b="1">
                <a:latin typeface="Arial" panose="020B0604020202020204" pitchFamily="34" charset="0"/>
              </a:rPr>
              <a:t>确信这不使报文重放；</a:t>
            </a:r>
          </a:p>
          <a:p>
            <a:r>
              <a:rPr lang="zh-CN" altLang="en-US" b="1">
                <a:latin typeface="Arial" panose="020B0604020202020204" pitchFamily="34" charset="0"/>
              </a:rPr>
              <a:t>    </a:t>
            </a:r>
            <a:r>
              <a:rPr lang="en-US" altLang="zh-CN" b="1">
                <a:latin typeface="Arial" panose="020B0604020202020204" pitchFamily="34" charset="0"/>
              </a:rPr>
              <a:t>Ticket</a:t>
            </a:r>
            <a:r>
              <a:rPr lang="en-US" altLang="zh-CN" b="1" baseline="-25000">
                <a:latin typeface="Arial" panose="020B0604020202020204" pitchFamily="34" charset="0"/>
              </a:rPr>
              <a:t>V</a:t>
            </a:r>
            <a:r>
              <a:rPr lang="en-US" altLang="zh-CN" b="1">
                <a:latin typeface="Arial" panose="020B0604020202020204" pitchFamily="34" charset="0"/>
              </a:rPr>
              <a:t> :	client</a:t>
            </a:r>
            <a:r>
              <a:rPr lang="zh-CN" altLang="zh-CN" b="1">
                <a:latin typeface="Arial" panose="020B0604020202020204" pitchFamily="34" charset="0"/>
              </a:rPr>
              <a:t>用以访问服务器</a:t>
            </a:r>
            <a:r>
              <a:rPr lang="en-US" altLang="zh-CN" b="1">
                <a:latin typeface="Arial" panose="020B0604020202020204" pitchFamily="34" charset="0"/>
              </a:rPr>
              <a:t>V</a:t>
            </a:r>
            <a:r>
              <a:rPr lang="zh-CN" altLang="zh-CN" b="1">
                <a:latin typeface="Arial" panose="020B0604020202020204" pitchFamily="34" charset="0"/>
              </a:rPr>
              <a:t>的</a:t>
            </a:r>
            <a:r>
              <a:rPr lang="en-US" altLang="zh-CN" b="1">
                <a:latin typeface="Arial" panose="020B0604020202020204" pitchFamily="34" charset="0"/>
              </a:rPr>
              <a:t>ticket</a:t>
            </a:r>
            <a:r>
              <a:rPr lang="zh-CN" altLang="en-US" b="1">
                <a:latin typeface="Arial" panose="020B0604020202020204" pitchFamily="34" charset="0"/>
              </a:rPr>
              <a:t>； </a:t>
            </a:r>
          </a:p>
          <a:p>
            <a:r>
              <a:rPr lang="zh-CN" altLang="en-US" b="1">
                <a:latin typeface="Arial" panose="020B0604020202020204" pitchFamily="34" charset="0"/>
              </a:rPr>
              <a:t>     </a:t>
            </a:r>
            <a:r>
              <a:rPr lang="en-US" altLang="zh-CN" b="1">
                <a:latin typeface="Arial" panose="020B0604020202020204" pitchFamily="34" charset="0"/>
              </a:rPr>
              <a:t>E</a:t>
            </a:r>
            <a:r>
              <a:rPr lang="en-US" altLang="zh-CN" b="1" baseline="-25000">
                <a:latin typeface="Arial" panose="020B0604020202020204" pitchFamily="34" charset="0"/>
              </a:rPr>
              <a:t>K</a:t>
            </a:r>
            <a:r>
              <a:rPr lang="en-US" altLang="zh-CN" b="1" baseline="-46000">
                <a:latin typeface="Arial" panose="020B0604020202020204" pitchFamily="34" charset="0"/>
              </a:rPr>
              <a:t>v</a:t>
            </a:r>
            <a:r>
              <a:rPr lang="en-US" altLang="zh-CN" b="1">
                <a:latin typeface="Arial" panose="020B0604020202020204" pitchFamily="34" charset="0"/>
              </a:rPr>
              <a:t> :	</a:t>
            </a:r>
            <a:r>
              <a:rPr lang="zh-CN" altLang="en-US" b="1">
                <a:latin typeface="Arial" panose="020B0604020202020204" pitchFamily="34" charset="0"/>
              </a:rPr>
              <a:t>用只有</a:t>
            </a:r>
            <a:r>
              <a:rPr lang="en-US" altLang="zh-CN" b="1">
                <a:latin typeface="Arial" panose="020B0604020202020204" pitchFamily="34" charset="0"/>
              </a:rPr>
              <a:t>AS</a:t>
            </a:r>
            <a:r>
              <a:rPr lang="zh-CN" altLang="en-US" b="1">
                <a:latin typeface="Arial" panose="020B0604020202020204" pitchFamily="34" charset="0"/>
              </a:rPr>
              <a:t>和</a:t>
            </a:r>
            <a:r>
              <a:rPr lang="en-US" altLang="zh-CN" b="1">
                <a:latin typeface="Arial" panose="020B0604020202020204" pitchFamily="34" charset="0"/>
              </a:rPr>
              <a:t>TGS</a:t>
            </a:r>
            <a:r>
              <a:rPr lang="zh-CN" altLang="en-US" b="1">
                <a:latin typeface="Arial" panose="020B0604020202020204" pitchFamily="34" charset="0"/>
              </a:rPr>
              <a:t>才知道的密钥加密的票据，以预防篡改；</a:t>
            </a:r>
          </a:p>
          <a:p>
            <a:r>
              <a:rPr lang="zh-CN" altLang="en-US" b="1">
                <a:latin typeface="Arial" panose="020B0604020202020204" pitchFamily="34" charset="0"/>
              </a:rPr>
              <a:t>    </a:t>
            </a:r>
            <a:r>
              <a:rPr lang="en-US" altLang="zh-CN" b="1">
                <a:latin typeface="Arial" panose="020B0604020202020204" pitchFamily="34" charset="0"/>
              </a:rPr>
              <a:t>K</a:t>
            </a:r>
            <a:r>
              <a:rPr lang="en-US" altLang="zh-CN" b="1" baseline="-25000">
                <a:latin typeface="Arial" panose="020B0604020202020204" pitchFamily="34" charset="0"/>
              </a:rPr>
              <a:t>c,v</a:t>
            </a:r>
            <a:r>
              <a:rPr lang="en-US" altLang="zh-CN" b="1">
                <a:latin typeface="Arial" panose="020B0604020202020204" pitchFamily="34" charset="0"/>
              </a:rPr>
              <a:t>:           </a:t>
            </a:r>
            <a:r>
              <a:rPr lang="zh-CN" altLang="en-US" b="1">
                <a:latin typeface="Arial" panose="020B0604020202020204" pitchFamily="34" charset="0"/>
              </a:rPr>
              <a:t>用户的会话密钥副本；</a:t>
            </a:r>
          </a:p>
          <a:p>
            <a:r>
              <a:rPr lang="zh-CN" altLang="en-US" b="1">
                <a:latin typeface="Arial" panose="020B0604020202020204" pitchFamily="34" charset="0"/>
              </a:rPr>
              <a:t>    </a:t>
            </a:r>
            <a:r>
              <a:rPr lang="en-US" altLang="zh-CN" b="1">
                <a:latin typeface="Arial" panose="020B0604020202020204" pitchFamily="34" charset="0"/>
              </a:rPr>
              <a:t>IDc </a:t>
            </a:r>
            <a:r>
              <a:rPr lang="zh-CN" altLang="en-US" b="1">
                <a:latin typeface="Arial" panose="020B0604020202020204" pitchFamily="34" charset="0"/>
              </a:rPr>
              <a:t>：         票据的合法用户；</a:t>
            </a:r>
          </a:p>
          <a:p>
            <a:r>
              <a:rPr lang="zh-CN" altLang="en-US" b="1">
                <a:latin typeface="Arial" panose="020B0604020202020204" pitchFamily="34" charset="0"/>
              </a:rPr>
              <a:t>    </a:t>
            </a:r>
            <a:r>
              <a:rPr lang="en-US" altLang="zh-CN" b="1">
                <a:latin typeface="Arial" panose="020B0604020202020204" pitchFamily="34" charset="0"/>
              </a:rPr>
              <a:t>ADc</a:t>
            </a:r>
            <a:r>
              <a:rPr lang="zh-CN" altLang="en-US" b="1">
                <a:latin typeface="Arial" panose="020B0604020202020204" pitchFamily="34" charset="0"/>
              </a:rPr>
              <a:t>：         防止非法使用；</a:t>
            </a:r>
          </a:p>
          <a:p>
            <a:r>
              <a:rPr lang="zh-CN" altLang="en-US" b="1">
                <a:latin typeface="Arial" panose="020B0604020202020204" pitchFamily="34" charset="0"/>
              </a:rPr>
              <a:t>     </a:t>
            </a:r>
            <a:r>
              <a:rPr lang="en-US" altLang="zh-CN" b="1">
                <a:latin typeface="Arial" panose="020B0604020202020204" pitchFamily="34" charset="0"/>
              </a:rPr>
              <a:t>IDv:          </a:t>
            </a:r>
            <a:r>
              <a:rPr lang="zh-CN" altLang="en-US" b="1">
                <a:latin typeface="Arial" panose="020B0604020202020204" pitchFamily="34" charset="0"/>
              </a:rPr>
              <a:t>使服务器确信解密正确；</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A72CBC-C594-4CB2-9013-43ADC480B96A}" type="slidenum">
              <a:rPr lang="en-US" altLang="zh-CN"/>
              <a:t>39</a:t>
            </a:fld>
            <a:endParaRPr lang="en-US" altLang="zh-CN"/>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C43840E-F1AF-49EF-9655-4F9212F5EE37}" type="slidenum">
              <a:rPr lang="en-US" altLang="zh-CN"/>
              <a:t>40</a:t>
            </a:fld>
            <a:endParaRPr lang="en-US" altLang="zh-CN"/>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6158AE-8837-4869-BFCB-6E3A007CD51A}" type="slidenum">
              <a:rPr lang="en-US" altLang="zh-CN"/>
              <a:t>41</a:t>
            </a:fld>
            <a:endParaRPr lang="en-US" altLang="zh-CN"/>
          </a:p>
        </p:txBody>
      </p:sp>
      <p:sp>
        <p:nvSpPr>
          <p:cNvPr id="133123" name="Rectangle 2"/>
          <p:cNvSpPr>
            <a:spLocks noGrp="1" noRot="1" noChangeAspect="1" noChangeArrowheads="1" noTextEdit="1"/>
          </p:cNvSpPr>
          <p:nvPr>
            <p:ph type="sldImg"/>
          </p:nvPr>
        </p:nvSpPr>
        <p:spPr/>
      </p:sp>
      <p:sp>
        <p:nvSpPr>
          <p:cNvPr id="1331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0AEA8A-2DE3-43F8-AA57-1076206B287D}" type="slidenum">
              <a:rPr lang="en-US" altLang="zh-CN"/>
              <a:t>54</a:t>
            </a:fld>
            <a:endParaRPr lang="en-US" altLang="zh-CN"/>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C3D66F4-ACA8-4143-942E-4E834AD67F63}" type="slidenum">
              <a:rPr lang="en-US" altLang="zh-CN"/>
              <a:t>55</a:t>
            </a:fld>
            <a:endParaRPr lang="en-US" altLang="zh-CN"/>
          </a:p>
        </p:txBody>
      </p:sp>
      <p:sp>
        <p:nvSpPr>
          <p:cNvPr id="137219" name="Rectangle 2"/>
          <p:cNvSpPr>
            <a:spLocks noGrp="1" noRot="1" noChangeAspect="1" noChangeArrowheads="1" noTextEdit="1"/>
          </p:cNvSpPr>
          <p:nvPr>
            <p:ph type="sldImg"/>
          </p:nvPr>
        </p:nvSpPr>
        <p:spPr/>
      </p:sp>
      <p:sp>
        <p:nvSpPr>
          <p:cNvPr id="137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AEBA417-7449-4F5D-BDD0-A10F64835414}" type="slidenum">
              <a:rPr lang="en-US" altLang="zh-CN"/>
              <a:t>56</a:t>
            </a:fld>
            <a:endParaRPr lang="en-US" altLang="zh-CN"/>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t>
            </a:r>
            <a:r>
              <a:rPr lang="zh-CN" altLang="en-US" dirty="0"/>
              <a:t>讲解脚本</a:t>
            </a:r>
            <a:r>
              <a:rPr lang="en-US" altLang="zh-CN" dirty="0"/>
              <a:t>】</a:t>
            </a:r>
            <a:r>
              <a:rPr lang="zh-CN" altLang="en-US" dirty="0"/>
              <a:t>本章的主要内容包括以下</a:t>
            </a:r>
            <a:r>
              <a:rPr lang="en-US" altLang="zh-CN" dirty="0"/>
              <a:t>9</a:t>
            </a:r>
            <a:r>
              <a:rPr lang="zh-CN" altLang="en-US" dirty="0"/>
              <a:t>个小节，其中第</a:t>
            </a:r>
            <a:r>
              <a:rPr lang="en-US" altLang="zh-CN" dirty="0"/>
              <a:t>8</a:t>
            </a:r>
            <a:r>
              <a:rPr lang="zh-CN" altLang="en-US" dirty="0"/>
              <a:t>小节隐私保护与审计是选讲内容。第一节，网络安全基础，包括网络安全基本属性、基本原则、网络攻击基本原则、网络安全威胁基本解决方案</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57</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67</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72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t>
            </a:r>
            <a:r>
              <a:rPr lang="zh-CN" altLang="en-US" dirty="0"/>
              <a:t>讲解脚本</a:t>
            </a:r>
            <a:r>
              <a:rPr lang="en-US" altLang="zh-CN" dirty="0"/>
              <a:t>】</a:t>
            </a:r>
            <a:r>
              <a:rPr lang="zh-CN" altLang="en-US" dirty="0"/>
              <a:t>本章的主要内容包括以下</a:t>
            </a:r>
            <a:r>
              <a:rPr lang="en-US" altLang="zh-CN" dirty="0"/>
              <a:t>9</a:t>
            </a:r>
            <a:r>
              <a:rPr lang="zh-CN" altLang="en-US" dirty="0"/>
              <a:t>个小节，其中第</a:t>
            </a:r>
            <a:r>
              <a:rPr lang="en-US" altLang="zh-CN" dirty="0"/>
              <a:t>8</a:t>
            </a:r>
            <a:r>
              <a:rPr lang="zh-CN" altLang="en-US" dirty="0"/>
              <a:t>小节隐私保护与审计是选讲内容。第一节，网络安全基础，包括网络安全基本属性、基本原则、网络攻击基本原则、网络安全威胁基本解决方案</a:t>
            </a: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t>80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p:cNvSpPr>
            <a:spLocks noGrp="1"/>
          </p:cNvSpPr>
          <p:nvPr>
            <p:ph type="dt" sz="half" idx="10"/>
          </p:nvPr>
        </p:nvSpPr>
        <p:spPr/>
        <p:txBody>
          <a:bodyPr/>
          <a:lstStyle/>
          <a:p>
            <a:fld id="{0E59C439-FD35-4547-BEF5-304266CA27AE}" type="datetime1">
              <a:rPr kumimoji="1" lang="zh-CN" altLang="en-US" smtClean="0"/>
              <a:t>2026-06-05</a:t>
            </a:fld>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7" name="矩形 6"/>
          <p:cNvSpPr/>
          <p:nvPr userDrawn="1"/>
        </p:nvSpPr>
        <p:spPr>
          <a:xfrm>
            <a:off x="-9939" y="-8627"/>
            <a:ext cx="8772939"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网络安全</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a:lnSpc>
                <a:spcPct val="100000"/>
              </a:lnSpc>
              <a:spcBef>
                <a:spcPts val="600"/>
              </a:spcBef>
              <a:buFont typeface="Wingdings" panose="05000000000000000000"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p:txBody>
          <a:bodyPr/>
          <a:lstStyle/>
          <a:p>
            <a:fld id="{742A9FFD-B852-1440-BFA7-3771E624B655}" type="datetime1">
              <a:rPr kumimoji="1" lang="zh-CN" altLang="en-US" smtClean="0"/>
              <a:t>2026-06-05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a:xfrm>
            <a:off x="9448800" y="6492874"/>
            <a:ext cx="2743200" cy="365125"/>
          </a:xfrm>
        </p:spPr>
        <p:txBody>
          <a:body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27644" y="644181"/>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8FB9FD2C-6821-D14F-9B68-59272353C12E}" type="datetime1">
              <a:rPr kumimoji="1" lang="zh-CN" altLang="en-US" smtClean="0"/>
              <a:t>2026-06-05</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p:txBody>
          <a:bodyPr/>
          <a:lstStyle/>
          <a:p>
            <a:fld id="{3B2C8BEE-C117-B242-AE80-6684D8ECFAC3}" type="datetime1">
              <a:rPr kumimoji="1" lang="zh-CN" altLang="en-US" smtClean="0"/>
              <a:t>2026-06-05</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a:xfrm>
            <a:off x="9428202" y="6492874"/>
            <a:ext cx="2743200" cy="365125"/>
          </a:xfrm>
        </p:spPr>
        <p:txBody>
          <a:bodyPr/>
          <a:lstStyle/>
          <a:p>
            <a:fld id="{8D4D1E41-7A09-AB4A-A4E1-09765ADA2698}" type="slidenum">
              <a:rPr kumimoji="1" lang="zh-CN" altLang="en-US" smtClean="0"/>
              <a:t>‹#›</a:t>
            </a:fld>
            <a:endParaRPr kumimoji="1" lang="zh-CN" altLang="en-US"/>
          </a:p>
        </p:txBody>
      </p:sp>
      <p:sp>
        <p:nvSpPr>
          <p:cNvPr id="8" name="矩形 7"/>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userDrawn="1"/>
        </p:nvGrpSpPr>
        <p:grpSpPr>
          <a:xfrm>
            <a:off x="715452" y="729525"/>
            <a:ext cx="403039" cy="321898"/>
            <a:chOff x="1368170" y="664579"/>
            <a:chExt cx="550582" cy="439737"/>
          </a:xfrm>
          <a:solidFill>
            <a:schemeClr val="bg1"/>
          </a:solidFill>
        </p:grpSpPr>
        <p:sp>
          <p:nvSpPr>
            <p:cNvPr id="41"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242C34E1-A7B1-194A-A03F-68AF0754181E}" type="datetime1">
              <a:rPr kumimoji="1" lang="zh-CN" altLang="en-US" smtClean="0"/>
              <a:t>2026-06-05</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a:xfrm>
            <a:off x="9448800" y="6492875"/>
            <a:ext cx="2743200" cy="365125"/>
          </a:xfrm>
        </p:spPr>
        <p:txBody>
          <a:bodyPr/>
          <a:lstStyle/>
          <a:p>
            <a:fld id="{8D4D1E41-7A09-AB4A-A4E1-09765ADA2698}" type="slidenum">
              <a:rPr kumimoji="1" lang="zh-CN" altLang="en-US" smtClean="0"/>
              <a:t>‹#›</a:t>
            </a:fld>
            <a:endParaRPr kumimoji="1" lang="zh-CN" altLang="en-US"/>
          </a:p>
        </p:txBody>
      </p:sp>
      <p:sp>
        <p:nvSpPr>
          <p:cNvPr id="10" name="矩形 9"/>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p:cNvGrpSpPr/>
          <p:nvPr userDrawn="1"/>
        </p:nvGrpSpPr>
        <p:grpSpPr>
          <a:xfrm>
            <a:off x="715452" y="729525"/>
            <a:ext cx="403039" cy="321898"/>
            <a:chOff x="1368170" y="664579"/>
            <a:chExt cx="550582" cy="439737"/>
          </a:xfrm>
          <a:solidFill>
            <a:schemeClr val="bg1"/>
          </a:solidFill>
        </p:grpSpPr>
        <p:sp>
          <p:nvSpPr>
            <p:cNvPr id="43"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a:fillRect/>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31E9399-7559-704E-82CE-1E968243B59A}"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prstGeom prst="rect">
            <a:avLst/>
          </a:prstGeom>
        </p:spPr>
        <p:txBody>
          <a:bodyPr/>
          <a:lstStyle/>
          <a:p>
            <a:r>
              <a:t>标题文本</a:t>
            </a:r>
          </a:p>
        </p:txBody>
      </p:sp>
      <p:sp>
        <p:nvSpPr>
          <p:cNvPr id="57" name="正文级别 1…"/>
          <p:cNvSpPr txBox="1">
            <a:spLocks noGrp="1"/>
          </p:cNvSpPr>
          <p:nvPr>
            <p:ph type="body" idx="1" hasCustomPrompt="1"/>
          </p:nvPr>
        </p:nvSpPr>
        <p:spPr>
          <a:prstGeom prst="rect">
            <a:avLst/>
          </a:prstGeom>
        </p:spPr>
        <p:txBody>
          <a:bodyPr/>
          <a:lstStyle>
            <a:lvl1pPr>
              <a:defRPr sz="2400"/>
            </a:lvl1pPr>
            <a:lvl2pPr>
              <a:defRPr sz="2400"/>
            </a:lvl2pPr>
            <a:lvl3pPr>
              <a:defRPr sz="2400"/>
            </a:lvl3pPr>
            <a:lvl4pPr>
              <a:defRPr sz="2400"/>
            </a:lvl4pPr>
            <a:lvl5pPr>
              <a:defRPr sz="24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E00C8306-BE8F-E24C-B25D-A6E484FA7A8C}" type="datetime1">
              <a:rPr kumimoji="1" lang="zh-CN" altLang="en-US" smtClean="0"/>
              <a:t>2026-06-05</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customXml" Target="../ink/ink6.xml"/><Relationship Id="rId18" Type="http://schemas.openxmlformats.org/officeDocument/2006/relationships/image" Target="../media/image11.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8.png"/><Relationship Id="rId17" Type="http://schemas.openxmlformats.org/officeDocument/2006/relationships/customXml" Target="../ink/ink8.xml"/><Relationship Id="rId2" Type="http://schemas.openxmlformats.org/officeDocument/2006/relationships/image" Target="../media/image3.png"/><Relationship Id="rId16" Type="http://schemas.openxmlformats.org/officeDocument/2006/relationships/image" Target="../media/image10.png"/><Relationship Id="rId20"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7.png"/><Relationship Id="rId19" Type="http://schemas.openxmlformats.org/officeDocument/2006/relationships/customXml" Target="../ink/ink9.xml"/><Relationship Id="rId4" Type="http://schemas.openxmlformats.org/officeDocument/2006/relationships/image" Target="../media/image4.png"/><Relationship Id="rId9" Type="http://schemas.openxmlformats.org/officeDocument/2006/relationships/customXml" Target="../ink/ink4.xml"/><Relationship Id="rId14" Type="http://schemas.openxmlformats.org/officeDocument/2006/relationships/image" Target="../media/image9.png"/><Relationship Id="rId22" Type="http://schemas.openxmlformats.org/officeDocument/2006/relationships/image" Target="../media/image13.png"/></Relationships>
</file>

<file path=ppt/slides/_rels/slide1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8.png"/></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8.png"/></Relationships>
</file>

<file path=ppt/slides/_rels/slide7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customXml" Target="../ink/ink11.xml"/><Relationship Id="rId7" Type="http://schemas.openxmlformats.org/officeDocument/2006/relationships/customXml" Target="../ink/ink13.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customXml" Target="../ink/ink12.xml"/><Relationship Id="rId4" Type="http://schemas.openxmlformats.org/officeDocument/2006/relationships/image" Target="../media/image36.png"/></Relationships>
</file>

<file path=ppt/slides/_rels/slide8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18161" y="891254"/>
            <a:ext cx="9349839" cy="2002674"/>
          </a:xfrm>
        </p:spPr>
        <p:txBody>
          <a:bodyPr>
            <a:normAutofit/>
          </a:bodyPr>
          <a:lstStyle/>
          <a:p>
            <a:r>
              <a:rPr kumimoji="1" lang="zh-CN" altLang="en-US" sz="5400" dirty="0"/>
              <a:t>第七章 </a:t>
            </a:r>
            <a:r>
              <a:rPr lang="zh-CN" altLang="zh-CN" dirty="0"/>
              <a:t>密钥分配和用户认证</a:t>
            </a:r>
            <a:endParaRPr kumimoji="1" lang="zh-CN" alt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solidFill>
                  <a:srgbClr val="C00000"/>
                </a:solidFill>
              </a:rPr>
              <a:t>7.1 </a:t>
            </a:r>
            <a:r>
              <a:rPr kumimoji="1" lang="zh-CN" altLang="zh-CN" sz="3000" dirty="0">
                <a:solidFill>
                  <a:srgbClr val="C00000"/>
                </a:solidFill>
              </a:rPr>
              <a:t>远程用户认证原理</a:t>
            </a:r>
            <a:endParaRPr kumimoji="1" lang="en-US" altLang="zh-CN" sz="3000" dirty="0">
              <a:solidFill>
                <a:srgbClr val="C00000"/>
              </a:solidFill>
            </a:endParaRPr>
          </a:p>
          <a:p>
            <a:pPr>
              <a:lnSpc>
                <a:spcPct val="130000"/>
              </a:lnSpc>
              <a:buNone/>
            </a:pPr>
            <a:r>
              <a:rPr kumimoji="1" lang="en-US" altLang="zh-CN" sz="3000" dirty="0"/>
              <a:t>7.2 </a:t>
            </a:r>
            <a:r>
              <a:rPr kumimoji="1" lang="zh-CN" altLang="zh-CN" sz="3000" dirty="0"/>
              <a:t>基于对称加密的密钥分配</a:t>
            </a:r>
            <a:endParaRPr kumimoji="1" lang="en-US" altLang="zh-CN" sz="2400" dirty="0">
              <a:solidFill>
                <a:prstClr val="black"/>
              </a:solidFill>
            </a:endParaRPr>
          </a:p>
          <a:p>
            <a:pPr>
              <a:lnSpc>
                <a:spcPct val="130000"/>
              </a:lnSpc>
              <a:buNone/>
            </a:pPr>
            <a:r>
              <a:rPr kumimoji="1" lang="en-US" altLang="zh-CN" sz="3000" dirty="0"/>
              <a:t>7.3 Kerberos</a:t>
            </a:r>
          </a:p>
          <a:p>
            <a:pPr>
              <a:lnSpc>
                <a:spcPct val="150000"/>
              </a:lnSpc>
              <a:buNone/>
            </a:pPr>
            <a:r>
              <a:rPr kumimoji="1" lang="en-US" altLang="zh-CN" sz="3000" dirty="0"/>
              <a:t>7.4 </a:t>
            </a:r>
            <a:r>
              <a:rPr kumimoji="1" lang="zh-CN" altLang="zh-CN" sz="3000" dirty="0"/>
              <a:t>基于非对称加密的密钥分配</a:t>
            </a:r>
            <a:endParaRPr kumimoji="1" lang="en-US" altLang="zh-CN" sz="3000" dirty="0"/>
          </a:p>
          <a:p>
            <a:pPr>
              <a:lnSpc>
                <a:spcPct val="150000"/>
              </a:lnSpc>
              <a:buNone/>
            </a:pPr>
            <a:r>
              <a:rPr lang="en-US" altLang="zh-CN" sz="3000" dirty="0"/>
              <a:t>7.5 </a:t>
            </a:r>
            <a:r>
              <a:rPr kumimoji="1" lang="en-US" altLang="zh-CN" sz="3000" dirty="0"/>
              <a:t>X.509</a:t>
            </a:r>
            <a:r>
              <a:rPr kumimoji="1" lang="zh-CN" altLang="zh-CN" sz="3000" dirty="0"/>
              <a:t>证书</a:t>
            </a:r>
            <a:r>
              <a:rPr kumimoji="1" lang="en-US" altLang="zh-CN" sz="3000" dirty="0"/>
              <a:t>             </a:t>
            </a:r>
            <a:r>
              <a:rPr kumimoji="1" lang="zh-CN" altLang="en-US" sz="3000" dirty="0">
                <a:solidFill>
                  <a:srgbClr val="7030A0"/>
                </a:solidFill>
              </a:rPr>
              <a:t>证书定义与格式</a:t>
            </a:r>
            <a:endParaRPr kumimoji="1" lang="en-US" altLang="zh-CN" sz="3000" dirty="0">
              <a:solidFill>
                <a:srgbClr val="7030A0"/>
              </a:solidFill>
            </a:endParaRPr>
          </a:p>
          <a:p>
            <a:pPr>
              <a:lnSpc>
                <a:spcPct val="150000"/>
              </a:lnSpc>
              <a:buNone/>
            </a:pPr>
            <a:r>
              <a:rPr kumimoji="1" lang="en-US" altLang="zh-CN" sz="3000" dirty="0"/>
              <a:t>7.6 </a:t>
            </a:r>
            <a:r>
              <a:rPr kumimoji="1" lang="zh-CN" altLang="zh-CN" sz="3000" dirty="0"/>
              <a:t>公钥基础设施</a:t>
            </a:r>
            <a:r>
              <a:rPr kumimoji="1" lang="en-US" altLang="zh-CN" sz="3000" dirty="0"/>
              <a:t>            </a:t>
            </a:r>
            <a:r>
              <a:rPr kumimoji="1" lang="en-US" altLang="zh-CN" sz="3000" dirty="0">
                <a:solidFill>
                  <a:srgbClr val="7030A0"/>
                </a:solidFill>
              </a:rPr>
              <a:t>PKI:</a:t>
            </a:r>
            <a:r>
              <a:rPr kumimoji="1" lang="zh-CN" altLang="en-US" sz="3000" dirty="0">
                <a:solidFill>
                  <a:srgbClr val="7030A0"/>
                </a:solidFill>
              </a:rPr>
              <a:t>鉴别、完整、保密、不可否认</a:t>
            </a:r>
            <a:endParaRPr kumimoji="1" lang="en-US" altLang="zh-CN" sz="3000" dirty="0">
              <a:solidFill>
                <a:srgbClr val="7030A0"/>
              </a:solidFill>
            </a:endParaRPr>
          </a:p>
          <a:p>
            <a:pPr>
              <a:lnSpc>
                <a:spcPct val="150000"/>
              </a:lnSpc>
              <a:buNone/>
            </a:pPr>
            <a:r>
              <a:rPr kumimoji="1" lang="en-US" altLang="zh-CN" sz="3000" dirty="0"/>
              <a:t>7.7 </a:t>
            </a:r>
            <a:r>
              <a:rPr lang="zh-CN" altLang="zh-CN" dirty="0"/>
              <a:t>联合身份管理</a:t>
            </a:r>
            <a:r>
              <a:rPr lang="en-US" altLang="zh-CN" dirty="0"/>
              <a:t>              </a:t>
            </a:r>
            <a:r>
              <a:rPr lang="zh-CN" altLang="en-US" dirty="0">
                <a:solidFill>
                  <a:srgbClr val="7030A0"/>
                </a:solidFill>
              </a:rPr>
              <a:t>身份管理、身份联合管理</a:t>
            </a:r>
            <a:endParaRPr kumimoji="1" lang="en-US" altLang="zh-CN" sz="3000" dirty="0">
              <a:solidFill>
                <a:srgbClr val="7030A0"/>
              </a:solidFill>
            </a:endParaRPr>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6761776" y="529036"/>
            <a:ext cx="3928392" cy="1420146"/>
          </a:xfrm>
          <a:prstGeom prst="wedgeRectCallout">
            <a:avLst>
              <a:gd name="adj1" fmla="val -98636"/>
              <a:gd name="adj2" fmla="val 2652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NIST</a:t>
            </a:r>
            <a:r>
              <a:rPr kumimoji="1" lang="zh-CN" altLang="zh-CN" sz="2400" dirty="0">
                <a:solidFill>
                  <a:prstClr val="black"/>
                </a:solidFill>
                <a:latin typeface="微软雅黑" panose="020B0503020204020204" pitchFamily="34" charset="-122"/>
                <a:ea typeface="微软雅黑" panose="020B0503020204020204" pitchFamily="34" charset="-122"/>
              </a:rPr>
              <a:t>电子用户认证模型</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认证方法</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1FD70D5-0DDB-4DFB-80A5-7817F31E6268}"/>
              </a:ext>
            </a:extLst>
          </p:cNvPr>
          <p:cNvSpPr txBox="1"/>
          <p:nvPr/>
        </p:nvSpPr>
        <p:spPr>
          <a:xfrm>
            <a:off x="6434051" y="2050924"/>
            <a:ext cx="5187142" cy="369332"/>
          </a:xfrm>
          <a:prstGeom prst="rect">
            <a:avLst/>
          </a:prstGeom>
          <a:noFill/>
        </p:spPr>
        <p:txBody>
          <a:bodyPr wrap="square" rtlCol="0">
            <a:spAutoFit/>
          </a:bodyPr>
          <a:lstStyle/>
          <a:p>
            <a:r>
              <a:rPr lang="zh-CN" altLang="en-US" b="1" dirty="0">
                <a:solidFill>
                  <a:srgbClr val="7030A0"/>
                </a:solidFill>
              </a:rPr>
              <a:t>四种方式，第四种引入</a:t>
            </a:r>
            <a:r>
              <a:rPr lang="en-US" altLang="zh-CN" b="1" dirty="0">
                <a:solidFill>
                  <a:srgbClr val="7030A0"/>
                </a:solidFill>
              </a:rPr>
              <a:t>KDC</a:t>
            </a:r>
            <a:r>
              <a:rPr lang="zh-CN" altLang="en-US" b="1" dirty="0">
                <a:solidFill>
                  <a:srgbClr val="7030A0"/>
                </a:solidFill>
              </a:rPr>
              <a:t>和动态分配方案</a:t>
            </a:r>
          </a:p>
        </p:txBody>
      </p:sp>
      <p:sp>
        <p:nvSpPr>
          <p:cNvPr id="8" name="文本框 7">
            <a:extLst>
              <a:ext uri="{FF2B5EF4-FFF2-40B4-BE49-F238E27FC236}">
                <a16:creationId xmlns:a16="http://schemas.microsoft.com/office/drawing/2014/main" id="{4E014B89-B865-41AB-BEA0-DD72DFE20758}"/>
              </a:ext>
            </a:extLst>
          </p:cNvPr>
          <p:cNvSpPr txBox="1"/>
          <p:nvPr/>
        </p:nvSpPr>
        <p:spPr>
          <a:xfrm>
            <a:off x="4261658" y="2756740"/>
            <a:ext cx="5187142" cy="369332"/>
          </a:xfrm>
          <a:prstGeom prst="rect">
            <a:avLst/>
          </a:prstGeom>
          <a:noFill/>
        </p:spPr>
        <p:txBody>
          <a:bodyPr wrap="square" rtlCol="0">
            <a:spAutoFit/>
          </a:bodyPr>
          <a:lstStyle/>
          <a:p>
            <a:r>
              <a:rPr lang="zh-CN" altLang="en-US" b="1" dirty="0">
                <a:solidFill>
                  <a:srgbClr val="7030A0"/>
                </a:solidFill>
              </a:rPr>
              <a:t>设计改进、三个阶段、</a:t>
            </a:r>
            <a:r>
              <a:rPr lang="en-US" altLang="zh-CN" b="1" dirty="0">
                <a:solidFill>
                  <a:srgbClr val="7030A0"/>
                </a:solidFill>
              </a:rPr>
              <a:t>V5</a:t>
            </a:r>
            <a:r>
              <a:rPr lang="zh-CN" altLang="en-US" b="1" dirty="0">
                <a:solidFill>
                  <a:srgbClr val="7030A0"/>
                </a:solidFill>
              </a:rPr>
              <a:t>改进、领域互通</a:t>
            </a:r>
          </a:p>
        </p:txBody>
      </p:sp>
      <p:sp>
        <p:nvSpPr>
          <p:cNvPr id="9" name="文本框 8">
            <a:extLst>
              <a:ext uri="{FF2B5EF4-FFF2-40B4-BE49-F238E27FC236}">
                <a16:creationId xmlns:a16="http://schemas.microsoft.com/office/drawing/2014/main" id="{68B13781-9C40-40DE-8AEB-F85953235588}"/>
              </a:ext>
            </a:extLst>
          </p:cNvPr>
          <p:cNvSpPr txBox="1"/>
          <p:nvPr/>
        </p:nvSpPr>
        <p:spPr>
          <a:xfrm>
            <a:off x="6761776" y="3504171"/>
            <a:ext cx="5187142" cy="369332"/>
          </a:xfrm>
          <a:prstGeom prst="rect">
            <a:avLst/>
          </a:prstGeom>
          <a:noFill/>
        </p:spPr>
        <p:txBody>
          <a:bodyPr wrap="square" rtlCol="0">
            <a:spAutoFit/>
          </a:bodyPr>
          <a:lstStyle/>
          <a:p>
            <a:r>
              <a:rPr lang="zh-CN" altLang="en-US" b="1" dirty="0">
                <a:solidFill>
                  <a:srgbClr val="7030A0"/>
                </a:solidFill>
              </a:rPr>
              <a:t>公钥证书、简单的密钥分配（中间人攻击）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a:t>
            </a:r>
            <a:r>
              <a:rPr kumimoji="1" lang="zh-CN" altLang="en-US" dirty="0">
                <a:solidFill>
                  <a:prstClr val="black"/>
                </a:solidFill>
              </a:rPr>
              <a:t>远程</a:t>
            </a:r>
            <a:r>
              <a:rPr kumimoji="1" lang="zh-CN" altLang="zh-CN" dirty="0">
                <a:solidFill>
                  <a:prstClr val="black"/>
                </a:solidFill>
              </a:rPr>
              <a:t>用户认证</a:t>
            </a:r>
            <a:r>
              <a:rPr kumimoji="1" lang="zh-CN" altLang="en-US" dirty="0">
                <a:solidFill>
                  <a:prstClr val="black"/>
                </a:solidFill>
              </a:rPr>
              <a:t>原理</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随着我们对网络的依赖日益增加，远程用户认证成为了确保网络安全的关键，用户认证是基本的组件和</a:t>
            </a:r>
            <a:r>
              <a:rPr lang="zh-CN" altLang="en-US" dirty="0">
                <a:solidFill>
                  <a:srgbClr val="C00000"/>
                </a:solidFill>
              </a:rPr>
              <a:t>主要的防线</a:t>
            </a:r>
            <a:r>
              <a:rPr lang="zh-CN" altLang="en-US" dirty="0"/>
              <a:t>。</a:t>
            </a:r>
            <a:endParaRPr lang="en-US" altLang="zh-CN" dirty="0"/>
          </a:p>
          <a:p>
            <a:pPr>
              <a:lnSpc>
                <a:spcPct val="150000"/>
              </a:lnSpc>
            </a:pPr>
            <a:r>
              <a:rPr lang="zh-CN" altLang="en-US" dirty="0"/>
              <a:t>用户认证是大多数类型的访问控制和用户账号的</a:t>
            </a:r>
            <a:r>
              <a:rPr lang="zh-CN" altLang="en-US" dirty="0">
                <a:solidFill>
                  <a:srgbClr val="C00000"/>
                </a:solidFill>
              </a:rPr>
              <a:t>基础</a:t>
            </a:r>
            <a:r>
              <a:rPr lang="zh-CN" altLang="en-US" dirty="0"/>
              <a:t>。</a:t>
            </a:r>
            <a:endParaRPr lang="en-US" altLang="zh-CN" dirty="0"/>
          </a:p>
          <a:p>
            <a:pPr>
              <a:lnSpc>
                <a:spcPct val="150000"/>
              </a:lnSpc>
            </a:pPr>
            <a:r>
              <a:rPr lang="zh-CN" altLang="en-US" dirty="0"/>
              <a:t>远程用户认证是一种技术，用于</a:t>
            </a:r>
            <a:r>
              <a:rPr lang="zh-CN" altLang="en-US" dirty="0">
                <a:solidFill>
                  <a:srgbClr val="C00000"/>
                </a:solidFill>
              </a:rPr>
              <a:t>验证远程用户的身份</a:t>
            </a:r>
            <a:r>
              <a:rPr lang="zh-CN" altLang="en-US" dirty="0"/>
              <a:t>，确保只有授权的个人可以访问网络资源。简而言之，它就像是网络世界的门卫，检查每个试图进入的个人是否持有正确的“通行证”。</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a:t>
            </a:r>
            <a:r>
              <a:rPr kumimoji="1" lang="zh-CN" altLang="en-US" dirty="0">
                <a:solidFill>
                  <a:prstClr val="black"/>
                </a:solidFill>
              </a:rPr>
              <a:t>远程</a:t>
            </a:r>
            <a:r>
              <a:rPr kumimoji="1" lang="zh-CN" altLang="zh-CN" dirty="0">
                <a:solidFill>
                  <a:prstClr val="black"/>
                </a:solidFill>
              </a:rPr>
              <a:t>用户认证</a:t>
            </a:r>
            <a:r>
              <a:rPr kumimoji="1" lang="zh-CN" altLang="en-US" dirty="0">
                <a:solidFill>
                  <a:prstClr val="black"/>
                </a:solidFill>
              </a:rPr>
              <a:t>原理</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50000"/>
              </a:lnSpc>
            </a:pPr>
            <a:r>
              <a:rPr lang="zh-CN" altLang="en-US" dirty="0"/>
              <a:t>认证方法包括两个基本步骤：鉴定步骤和验证步骤。</a:t>
            </a:r>
            <a:endParaRPr lang="en-US" altLang="zh-CN" dirty="0"/>
          </a:p>
          <a:p>
            <a:pPr lvl="1">
              <a:lnSpc>
                <a:spcPct val="150000"/>
              </a:lnSpc>
            </a:pPr>
            <a:r>
              <a:rPr lang="zh-CN" altLang="en-US" sz="2600" dirty="0">
                <a:solidFill>
                  <a:srgbClr val="C00000"/>
                </a:solidFill>
              </a:rPr>
              <a:t>鉴定步骤</a:t>
            </a:r>
            <a:r>
              <a:rPr lang="zh-CN" altLang="en-US" sz="2600" dirty="0"/>
              <a:t>：向安全系统提供一个身份标识。身份标识的认证分配至关重要，因为身份认证是其他安全服务（如访问控制服务）的基础。</a:t>
            </a:r>
            <a:endParaRPr lang="en-US" altLang="zh-CN" sz="2600" dirty="0"/>
          </a:p>
          <a:p>
            <a:pPr lvl="1">
              <a:lnSpc>
                <a:spcPct val="150000"/>
              </a:lnSpc>
            </a:pPr>
            <a:r>
              <a:rPr lang="zh-CN" altLang="en-US" sz="2600" dirty="0">
                <a:solidFill>
                  <a:srgbClr val="C00000"/>
                </a:solidFill>
              </a:rPr>
              <a:t>验证步骤</a:t>
            </a:r>
            <a:r>
              <a:rPr lang="zh-CN" altLang="en-US" sz="2600" dirty="0"/>
              <a:t>：提供或产生可以证实实体和标识之间对应关系的认证信息。</a:t>
            </a:r>
            <a:endParaRPr lang="en-US" altLang="zh-CN" sz="2600" dirty="0"/>
          </a:p>
          <a:p>
            <a:pPr lvl="2">
              <a:lnSpc>
                <a:spcPct val="150000"/>
              </a:lnSpc>
            </a:pPr>
            <a:r>
              <a:rPr lang="zh-CN" altLang="en-US" dirty="0"/>
              <a:t>例如，用户</a:t>
            </a:r>
            <a:r>
              <a:rPr lang="en-US" altLang="zh-CN" dirty="0"/>
              <a:t>Alice Toklas</a:t>
            </a:r>
            <a:r>
              <a:rPr lang="zh-CN" altLang="en-US" dirty="0"/>
              <a:t>有用户标识</a:t>
            </a:r>
            <a:r>
              <a:rPr lang="en-US" altLang="zh-CN" dirty="0"/>
              <a:t>ABTOKLAS</a:t>
            </a:r>
            <a:r>
              <a:rPr lang="zh-CN" altLang="en-US" dirty="0"/>
              <a:t>，该信息存储在</a:t>
            </a:r>
            <a:r>
              <a:rPr lang="en-US" altLang="zh-CN" dirty="0"/>
              <a:t>Alice</a:t>
            </a:r>
            <a:r>
              <a:rPr lang="zh-CN" altLang="en-US" dirty="0"/>
              <a:t>想要访问的服务器或计算机系统中。与用户</a:t>
            </a:r>
            <a:r>
              <a:rPr lang="en-US" altLang="zh-CN" dirty="0"/>
              <a:t>ID</a:t>
            </a:r>
            <a:r>
              <a:rPr lang="zh-CN" altLang="en-US" dirty="0"/>
              <a:t>相连的认证信息项通常是口令，只有</a:t>
            </a:r>
            <a:r>
              <a:rPr lang="en-US" altLang="zh-CN" dirty="0"/>
              <a:t>Alice</a:t>
            </a:r>
            <a:r>
              <a:rPr lang="zh-CN" altLang="en-US" dirty="0"/>
              <a:t>和系统知道。这种</a:t>
            </a:r>
            <a:r>
              <a:rPr lang="en-US" altLang="zh-CN" dirty="0"/>
              <a:t>ID</a:t>
            </a:r>
            <a:r>
              <a:rPr lang="zh-CN" altLang="en-US" dirty="0"/>
              <a:t>和口令的结合使得管理员可以建立</a:t>
            </a:r>
            <a:r>
              <a:rPr lang="en-US" altLang="zh-CN" dirty="0"/>
              <a:t>Alice</a:t>
            </a:r>
            <a:r>
              <a:rPr lang="zh-CN" altLang="en-US" dirty="0"/>
              <a:t>的访问许可及审查她的活动。由于</a:t>
            </a:r>
            <a:r>
              <a:rPr lang="en-US" altLang="zh-CN" dirty="0"/>
              <a:t>ID</a:t>
            </a:r>
            <a:r>
              <a:rPr lang="zh-CN" altLang="en-US" dirty="0"/>
              <a:t>是不保密的，其他用户可以给她发送</a:t>
            </a:r>
            <a:r>
              <a:rPr lang="en-US" altLang="zh-CN" dirty="0"/>
              <a:t>e-mail</a:t>
            </a:r>
            <a:r>
              <a:rPr lang="zh-CN" altLang="en-US" dirty="0"/>
              <a:t>，但由于密码的保密性，他们不能冒充</a:t>
            </a:r>
            <a:r>
              <a:rPr lang="en-US" altLang="zh-CN" dirty="0"/>
              <a:t>Alice</a:t>
            </a:r>
            <a:r>
              <a:rPr lang="zh-CN" altLang="en-US" dirty="0"/>
              <a:t>。</a:t>
            </a:r>
            <a:endParaRPr lang="en-US" altLang="zh-CN" dirty="0"/>
          </a:p>
          <a:p>
            <a:pPr>
              <a:lnSpc>
                <a:spcPct val="150000"/>
              </a:lnSpc>
            </a:pPr>
            <a:r>
              <a:rPr lang="zh-CN" altLang="en-US" dirty="0">
                <a:solidFill>
                  <a:srgbClr val="C00000"/>
                </a:solidFill>
              </a:rPr>
              <a:t>用户认证和消息认证是不同的</a:t>
            </a:r>
            <a:r>
              <a:rPr lang="zh-CN" altLang="en-US" dirty="0"/>
              <a:t>，消息认证允许通信双方验证接收到的消息是否被更改以及资源是否可信。</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7.1.1 </a:t>
            </a:r>
            <a:r>
              <a:rPr kumimoji="1" lang="en-US" altLang="zh-CN" dirty="0">
                <a:solidFill>
                  <a:prstClr val="black"/>
                </a:solidFill>
              </a:rPr>
              <a:t>NIST</a:t>
            </a:r>
            <a:r>
              <a:rPr kumimoji="1" lang="zh-CN" altLang="zh-CN" dirty="0">
                <a:solidFill>
                  <a:prstClr val="black"/>
                </a:solidFill>
              </a:rPr>
              <a:t>电子用户认证模型</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en-US" altLang="zh-CN" dirty="0"/>
              <a:t>NIST SP800-63-2</a:t>
            </a:r>
            <a:r>
              <a:rPr lang="zh-CN" altLang="en-US" dirty="0"/>
              <a:t>文档（</a:t>
            </a:r>
            <a:r>
              <a:rPr lang="en-US" altLang="zh-CN" dirty="0"/>
              <a:t>Electronic Authentication Guideline, 2013.8</a:t>
            </a:r>
            <a:r>
              <a:rPr lang="zh-CN" altLang="en-US" dirty="0"/>
              <a:t>）定义了信息系统中为以电子形式存在的用户身份实现信任建立的过程</a:t>
            </a:r>
            <a:r>
              <a:rPr lang="en-US" altLang="zh-CN" dirty="0"/>
              <a:t>——</a:t>
            </a:r>
            <a:r>
              <a:rPr lang="zh-CN" altLang="en-US" dirty="0"/>
              <a:t>电子身份认证。</a:t>
            </a:r>
            <a:endParaRPr lang="en-US" altLang="zh-CN" dirty="0"/>
          </a:p>
          <a:p>
            <a:pPr>
              <a:lnSpc>
                <a:spcPct val="150000"/>
              </a:lnSpc>
            </a:pPr>
            <a:r>
              <a:rPr lang="zh-CN" altLang="en-US" dirty="0"/>
              <a:t>系统能通过已验证的身份判断授权个体能否执行特定功能，如数据库事务或系统资源访问。</a:t>
            </a:r>
            <a:endParaRPr lang="en-US" altLang="zh-CN" dirty="0"/>
          </a:p>
          <a:p>
            <a:pPr>
              <a:lnSpc>
                <a:spcPct val="150000"/>
              </a:lnSpc>
            </a:pPr>
            <a:r>
              <a:rPr lang="zh-CN" altLang="en-US" dirty="0"/>
              <a:t>在很多情况下，认证、事务处理和其他授权功能都在开放网络如</a:t>
            </a:r>
            <a:r>
              <a:rPr lang="en-US" altLang="zh-CN" dirty="0"/>
              <a:t>Internet</a:t>
            </a:r>
            <a:r>
              <a:rPr lang="zh-CN" altLang="en-US" dirty="0"/>
              <a:t>上进行；同样地，认证及授权也能在本地进行（如局域网中）。</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7.1.1 </a:t>
            </a:r>
            <a:r>
              <a:rPr kumimoji="1" lang="en-US" altLang="zh-CN" dirty="0">
                <a:solidFill>
                  <a:prstClr val="black"/>
                </a:solidFill>
              </a:rPr>
              <a:t>NIST</a:t>
            </a:r>
            <a:r>
              <a:rPr kumimoji="1" lang="zh-CN" altLang="zh-CN" dirty="0">
                <a:solidFill>
                  <a:prstClr val="black"/>
                </a:solidFill>
              </a:rPr>
              <a:t>电子用户认证模型</a:t>
            </a:r>
            <a:endParaRPr lang="zh-CN" altLang="en-US" dirty="0"/>
          </a:p>
        </p:txBody>
      </p:sp>
      <p:sp>
        <p:nvSpPr>
          <p:cNvPr id="3" name="内容占位符 2"/>
          <p:cNvSpPr>
            <a:spLocks noGrp="1"/>
          </p:cNvSpPr>
          <p:nvPr>
            <p:ph idx="1"/>
          </p:nvPr>
        </p:nvSpPr>
        <p:spPr>
          <a:xfrm>
            <a:off x="838200" y="1510758"/>
            <a:ext cx="10515600" cy="612332"/>
          </a:xfrm>
        </p:spPr>
        <p:txBody>
          <a:bodyPr/>
          <a:lstStyle/>
          <a:p>
            <a:r>
              <a:rPr lang="en-US" altLang="zh-CN" dirty="0"/>
              <a:t>NIST SP800-63-2 </a:t>
            </a:r>
            <a:r>
              <a:rPr lang="zh-CN" altLang="en-US" dirty="0"/>
              <a:t>电子认证架构模型。</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grpSp>
        <p:nvGrpSpPr>
          <p:cNvPr id="44" name="组合 43"/>
          <p:cNvGrpSpPr/>
          <p:nvPr/>
        </p:nvGrpSpPr>
        <p:grpSpPr>
          <a:xfrm>
            <a:off x="1710046" y="2196930"/>
            <a:ext cx="8796649" cy="4334493"/>
            <a:chOff x="1710046" y="2196930"/>
            <a:chExt cx="8796649" cy="4334493"/>
          </a:xfrm>
        </p:grpSpPr>
        <p:sp>
          <p:nvSpPr>
            <p:cNvPr id="34" name="矩形 33"/>
            <p:cNvSpPr/>
            <p:nvPr/>
          </p:nvSpPr>
          <p:spPr>
            <a:xfrm>
              <a:off x="5198425" y="2567760"/>
              <a:ext cx="5308270" cy="3963663"/>
            </a:xfrm>
            <a:prstGeom prst="rect">
              <a:avLst/>
            </a:prstGeom>
            <a:solidFill>
              <a:schemeClr val="bg1">
                <a:lumMod val="75000"/>
                <a:alpha val="5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1710046" y="2196930"/>
              <a:ext cx="5308270" cy="3681351"/>
            </a:xfrm>
            <a:prstGeom prst="rect">
              <a:avLst/>
            </a:prstGeom>
            <a:solidFill>
              <a:schemeClr val="bg1">
                <a:lumMod val="85000"/>
                <a:alpha val="5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2101933" y="2838198"/>
              <a:ext cx="1211284" cy="6768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注册机构（</a:t>
              </a:r>
              <a:r>
                <a:rPr lang="en-US" altLang="zh-CN" dirty="0"/>
                <a:t>RA</a:t>
              </a:r>
              <a:r>
                <a:rPr lang="zh-CN" altLang="en-US" dirty="0"/>
                <a:t>）</a:t>
              </a:r>
            </a:p>
          </p:txBody>
        </p:sp>
        <p:sp>
          <p:nvSpPr>
            <p:cNvPr id="6" name="矩形 5"/>
            <p:cNvSpPr/>
            <p:nvPr/>
          </p:nvSpPr>
          <p:spPr>
            <a:xfrm>
              <a:off x="2019559" y="4660024"/>
              <a:ext cx="1374374" cy="6768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凭据服务提供者（</a:t>
              </a:r>
              <a:r>
                <a:rPr lang="en-US" altLang="zh-CN" dirty="0"/>
                <a:t>CSP</a:t>
              </a:r>
              <a:r>
                <a:rPr lang="zh-CN" altLang="en-US" dirty="0"/>
                <a:t>）</a:t>
              </a:r>
            </a:p>
          </p:txBody>
        </p:sp>
        <p:sp>
          <p:nvSpPr>
            <p:cNvPr id="7" name="矩形 6"/>
            <p:cNvSpPr/>
            <p:nvPr/>
          </p:nvSpPr>
          <p:spPr>
            <a:xfrm>
              <a:off x="5484422" y="2838197"/>
              <a:ext cx="1211284" cy="6768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用户请求</a:t>
              </a:r>
            </a:p>
          </p:txBody>
        </p:sp>
        <p:sp>
          <p:nvSpPr>
            <p:cNvPr id="8" name="矩形 7"/>
            <p:cNvSpPr/>
            <p:nvPr/>
          </p:nvSpPr>
          <p:spPr>
            <a:xfrm>
              <a:off x="9009414" y="2838198"/>
              <a:ext cx="1211284" cy="6768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信赖方（</a:t>
              </a:r>
              <a:r>
                <a:rPr lang="en-US" altLang="zh-CN" dirty="0"/>
                <a:t>RP</a:t>
              </a:r>
              <a:r>
                <a:rPr lang="zh-CN" altLang="en-US" dirty="0"/>
                <a:t>）</a:t>
              </a:r>
            </a:p>
          </p:txBody>
        </p:sp>
        <p:sp>
          <p:nvSpPr>
            <p:cNvPr id="9" name="矩形 8"/>
            <p:cNvSpPr/>
            <p:nvPr/>
          </p:nvSpPr>
          <p:spPr>
            <a:xfrm>
              <a:off x="9009414" y="4664405"/>
              <a:ext cx="1211284" cy="6768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验证方</a:t>
              </a:r>
            </a:p>
          </p:txBody>
        </p:sp>
        <p:cxnSp>
          <p:nvCxnSpPr>
            <p:cNvPr id="11" name="直接箭头连接符 10"/>
            <p:cNvCxnSpPr>
              <a:stCxn id="5" idx="3"/>
              <a:endCxn id="7" idx="1"/>
            </p:cNvCxnSpPr>
            <p:nvPr/>
          </p:nvCxnSpPr>
          <p:spPr>
            <a:xfrm flipV="1">
              <a:off x="3313217" y="3176644"/>
              <a:ext cx="2171205" cy="1"/>
            </a:xfrm>
            <a:prstGeom prst="straightConnector1">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5" idx="2"/>
              <a:endCxn id="6" idx="0"/>
            </p:cNvCxnSpPr>
            <p:nvPr/>
          </p:nvCxnSpPr>
          <p:spPr>
            <a:xfrm flipH="1">
              <a:off x="2706746" y="3515091"/>
              <a:ext cx="829" cy="1144933"/>
            </a:xfrm>
            <a:prstGeom prst="straightConnector1">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7" idx="2"/>
              <a:endCxn id="6" idx="3"/>
            </p:cNvCxnSpPr>
            <p:nvPr/>
          </p:nvCxnSpPr>
          <p:spPr>
            <a:xfrm flipH="1">
              <a:off x="3393933" y="3515090"/>
              <a:ext cx="2696131" cy="1483381"/>
            </a:xfrm>
            <a:prstGeom prst="straightConnector1">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8" idx="1"/>
              <a:endCxn id="7" idx="3"/>
            </p:cNvCxnSpPr>
            <p:nvPr/>
          </p:nvCxnSpPr>
          <p:spPr>
            <a:xfrm flipH="1" flipV="1">
              <a:off x="6695706" y="3176644"/>
              <a:ext cx="2313708" cy="1"/>
            </a:xfrm>
            <a:prstGeom prst="straightConnector1">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8" idx="2"/>
              <a:endCxn id="9" idx="0"/>
            </p:cNvCxnSpPr>
            <p:nvPr/>
          </p:nvCxnSpPr>
          <p:spPr>
            <a:xfrm>
              <a:off x="9615056" y="3515091"/>
              <a:ext cx="0" cy="1149314"/>
            </a:xfrm>
            <a:prstGeom prst="straightConnector1">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9" idx="1"/>
              <a:endCxn id="7" idx="2"/>
            </p:cNvCxnSpPr>
            <p:nvPr/>
          </p:nvCxnSpPr>
          <p:spPr>
            <a:xfrm flipH="1" flipV="1">
              <a:off x="6090064" y="3515090"/>
              <a:ext cx="2919350" cy="1487762"/>
            </a:xfrm>
            <a:prstGeom prst="straightConnector1">
              <a:avLst/>
            </a:prstGeom>
            <a:ln w="222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9" idx="1"/>
              <a:endCxn id="6" idx="3"/>
            </p:cNvCxnSpPr>
            <p:nvPr/>
          </p:nvCxnSpPr>
          <p:spPr>
            <a:xfrm flipH="1" flipV="1">
              <a:off x="3393933" y="4998471"/>
              <a:ext cx="5615481" cy="4381"/>
            </a:xfrm>
            <a:prstGeom prst="straightConnector1">
              <a:avLst/>
            </a:prstGeom>
            <a:ln w="22225">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2363190" y="2303206"/>
              <a:ext cx="2492990" cy="369332"/>
            </a:xfrm>
            <a:prstGeom prst="rect">
              <a:avLst/>
            </a:prstGeom>
            <a:noFill/>
          </p:spPr>
          <p:txBody>
            <a:bodyPr wrap="none" rtlCol="0">
              <a:spAutoFit/>
            </a:bodyPr>
            <a:lstStyle/>
            <a:p>
              <a:r>
                <a:rPr lang="zh-CN" altLang="en-US" dirty="0"/>
                <a:t>注册、凭据颁发和维护</a:t>
              </a:r>
            </a:p>
          </p:txBody>
        </p:sp>
        <p:sp>
          <p:nvSpPr>
            <p:cNvPr id="36" name="文本框 35"/>
            <p:cNvSpPr txBox="1"/>
            <p:nvPr/>
          </p:nvSpPr>
          <p:spPr>
            <a:xfrm>
              <a:off x="7743632" y="5725215"/>
              <a:ext cx="2031325" cy="646331"/>
            </a:xfrm>
            <a:prstGeom prst="rect">
              <a:avLst/>
            </a:prstGeom>
            <a:noFill/>
          </p:spPr>
          <p:txBody>
            <a:bodyPr wrap="none" rtlCol="0">
              <a:spAutoFit/>
            </a:bodyPr>
            <a:lstStyle/>
            <a:p>
              <a:pPr algn="ctr"/>
              <a:r>
                <a:rPr lang="zh-CN" altLang="en-US" dirty="0"/>
                <a:t>使用令牌和凭证</a:t>
              </a:r>
              <a:endParaRPr lang="en-US" altLang="zh-CN" dirty="0"/>
            </a:p>
            <a:p>
              <a:pPr algn="ctr"/>
              <a:r>
                <a:rPr lang="zh-CN" altLang="en-US" dirty="0"/>
                <a:t>进行电子身份认证</a:t>
              </a:r>
            </a:p>
          </p:txBody>
        </p:sp>
        <p:sp>
          <p:nvSpPr>
            <p:cNvPr id="37" name="文本框 36"/>
            <p:cNvSpPr txBox="1"/>
            <p:nvPr/>
          </p:nvSpPr>
          <p:spPr>
            <a:xfrm>
              <a:off x="7068418" y="4675306"/>
              <a:ext cx="1194558" cy="646331"/>
            </a:xfrm>
            <a:prstGeom prst="rect">
              <a:avLst/>
            </a:prstGeom>
            <a:noFill/>
          </p:spPr>
          <p:txBody>
            <a:bodyPr wrap="none" rtlCol="0">
              <a:spAutoFit/>
            </a:bodyPr>
            <a:lstStyle/>
            <a:p>
              <a:pPr algn="ctr"/>
              <a:r>
                <a:rPr lang="zh-CN" altLang="en-US" dirty="0"/>
                <a:t>令牌</a:t>
              </a:r>
              <a:r>
                <a:rPr lang="en-US" altLang="zh-CN" dirty="0"/>
                <a:t>/</a:t>
              </a:r>
              <a:r>
                <a:rPr lang="zh-CN" altLang="en-US" dirty="0"/>
                <a:t>凭证</a:t>
              </a:r>
              <a:endParaRPr lang="en-US" altLang="zh-CN" dirty="0"/>
            </a:p>
            <a:p>
              <a:pPr algn="ctr"/>
              <a:r>
                <a:rPr lang="zh-CN" altLang="en-US" dirty="0"/>
                <a:t>验证</a:t>
              </a:r>
            </a:p>
          </p:txBody>
        </p:sp>
        <p:sp>
          <p:nvSpPr>
            <p:cNvPr id="38" name="文本框 37"/>
            <p:cNvSpPr txBox="1"/>
            <p:nvPr/>
          </p:nvSpPr>
          <p:spPr>
            <a:xfrm>
              <a:off x="3698282" y="2845010"/>
              <a:ext cx="1107996" cy="646331"/>
            </a:xfrm>
            <a:prstGeom prst="rect">
              <a:avLst/>
            </a:prstGeom>
            <a:noFill/>
          </p:spPr>
          <p:txBody>
            <a:bodyPr wrap="none" rtlCol="0">
              <a:spAutoFit/>
            </a:bodyPr>
            <a:lstStyle/>
            <a:p>
              <a:pPr algn="ctr"/>
              <a:r>
                <a:rPr lang="zh-CN" altLang="en-US" dirty="0"/>
                <a:t>身份证明</a:t>
              </a:r>
              <a:endParaRPr lang="en-US" altLang="zh-CN" dirty="0"/>
            </a:p>
            <a:p>
              <a:pPr algn="ctr"/>
              <a:r>
                <a:rPr lang="zh-CN" altLang="en-US" dirty="0"/>
                <a:t>用户注册</a:t>
              </a:r>
            </a:p>
          </p:txBody>
        </p:sp>
        <p:sp>
          <p:nvSpPr>
            <p:cNvPr id="39" name="文本框 38"/>
            <p:cNvSpPr txBox="1"/>
            <p:nvPr/>
          </p:nvSpPr>
          <p:spPr>
            <a:xfrm>
              <a:off x="2706746" y="3581885"/>
              <a:ext cx="1107996" cy="369332"/>
            </a:xfrm>
            <a:prstGeom prst="rect">
              <a:avLst/>
            </a:prstGeom>
            <a:noFill/>
          </p:spPr>
          <p:txBody>
            <a:bodyPr wrap="none" rtlCol="0">
              <a:spAutoFit/>
            </a:bodyPr>
            <a:lstStyle/>
            <a:p>
              <a:pPr algn="ctr"/>
              <a:r>
                <a:rPr lang="zh-CN" altLang="en-US" dirty="0"/>
                <a:t>注册确认</a:t>
              </a:r>
            </a:p>
          </p:txBody>
        </p:sp>
        <p:sp>
          <p:nvSpPr>
            <p:cNvPr id="40" name="文本框 39"/>
            <p:cNvSpPr txBox="1"/>
            <p:nvPr/>
          </p:nvSpPr>
          <p:spPr>
            <a:xfrm>
              <a:off x="8507060" y="3668871"/>
              <a:ext cx="1107996" cy="369332"/>
            </a:xfrm>
            <a:prstGeom prst="rect">
              <a:avLst/>
            </a:prstGeom>
            <a:noFill/>
          </p:spPr>
          <p:txBody>
            <a:bodyPr wrap="none" rtlCol="0">
              <a:spAutoFit/>
            </a:bodyPr>
            <a:lstStyle/>
            <a:p>
              <a:pPr algn="ctr"/>
              <a:r>
                <a:rPr lang="zh-CN" altLang="en-US" dirty="0"/>
                <a:t>身份确认</a:t>
              </a:r>
            </a:p>
          </p:txBody>
        </p:sp>
        <p:sp>
          <p:nvSpPr>
            <p:cNvPr id="41" name="文本框 40"/>
            <p:cNvSpPr txBox="1"/>
            <p:nvPr/>
          </p:nvSpPr>
          <p:spPr>
            <a:xfrm>
              <a:off x="6736612" y="2807313"/>
              <a:ext cx="2282997" cy="369332"/>
            </a:xfrm>
            <a:prstGeom prst="rect">
              <a:avLst/>
            </a:prstGeom>
            <a:noFill/>
          </p:spPr>
          <p:txBody>
            <a:bodyPr wrap="none" rtlCol="0">
              <a:spAutoFit/>
            </a:bodyPr>
            <a:lstStyle/>
            <a:p>
              <a:pPr algn="ctr"/>
              <a:r>
                <a:rPr lang="zh-CN" altLang="en-US" dirty="0"/>
                <a:t>经过身份验证的会话</a:t>
              </a:r>
            </a:p>
          </p:txBody>
        </p:sp>
        <p:sp>
          <p:nvSpPr>
            <p:cNvPr id="42" name="文本框 41"/>
            <p:cNvSpPr txBox="1"/>
            <p:nvPr/>
          </p:nvSpPr>
          <p:spPr>
            <a:xfrm rot="19855872">
              <a:off x="4093783" y="3898966"/>
              <a:ext cx="1338828" cy="646331"/>
            </a:xfrm>
            <a:prstGeom prst="rect">
              <a:avLst/>
            </a:prstGeom>
            <a:noFill/>
          </p:spPr>
          <p:txBody>
            <a:bodyPr wrap="none" rtlCol="0">
              <a:spAutoFit/>
            </a:bodyPr>
            <a:lstStyle/>
            <a:p>
              <a:pPr algn="ctr"/>
              <a:r>
                <a:rPr lang="zh-CN" altLang="en-US" dirty="0"/>
                <a:t>令牌、凭据</a:t>
              </a:r>
              <a:endParaRPr lang="en-US" altLang="zh-CN" dirty="0"/>
            </a:p>
            <a:p>
              <a:pPr algn="ctr"/>
              <a:r>
                <a:rPr lang="zh-CN" altLang="en-US" dirty="0"/>
                <a:t>注册</a:t>
              </a:r>
              <a:r>
                <a:rPr lang="en-US" altLang="zh-CN" dirty="0"/>
                <a:t>/</a:t>
              </a:r>
              <a:r>
                <a:rPr lang="zh-CN" altLang="en-US" dirty="0"/>
                <a:t>颁发</a:t>
              </a:r>
            </a:p>
          </p:txBody>
        </p:sp>
        <p:sp>
          <p:nvSpPr>
            <p:cNvPr id="43" name="文本框 42"/>
            <p:cNvSpPr txBox="1"/>
            <p:nvPr/>
          </p:nvSpPr>
          <p:spPr>
            <a:xfrm rot="1668064">
              <a:off x="6599197" y="3906110"/>
              <a:ext cx="1819730" cy="646331"/>
            </a:xfrm>
            <a:prstGeom prst="rect">
              <a:avLst/>
            </a:prstGeom>
            <a:noFill/>
          </p:spPr>
          <p:txBody>
            <a:bodyPr wrap="none" rtlCol="0">
              <a:spAutoFit/>
            </a:bodyPr>
            <a:lstStyle/>
            <a:p>
              <a:pPr algn="ctr"/>
              <a:r>
                <a:rPr lang="zh-CN" altLang="en-US" dirty="0"/>
                <a:t>已验证过的协议</a:t>
              </a:r>
              <a:endParaRPr lang="en-US" altLang="zh-CN" dirty="0"/>
            </a:p>
            <a:p>
              <a:pPr algn="ctr"/>
              <a:r>
                <a:rPr lang="zh-CN" altLang="en-US" dirty="0"/>
                <a:t>交换</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7.1.1 </a:t>
            </a:r>
            <a:r>
              <a:rPr kumimoji="1" lang="en-US" altLang="zh-CN" dirty="0">
                <a:solidFill>
                  <a:prstClr val="black"/>
                </a:solidFill>
              </a:rPr>
              <a:t>NIST</a:t>
            </a:r>
            <a:r>
              <a:rPr kumimoji="1" lang="zh-CN" altLang="zh-CN" dirty="0">
                <a:solidFill>
                  <a:prstClr val="black"/>
                </a:solidFill>
              </a:rPr>
              <a:t>电子用户认证模型</a:t>
            </a:r>
            <a:endParaRPr lang="zh-CN" altLang="en-US" dirty="0"/>
          </a:p>
        </p:txBody>
      </p:sp>
      <p:sp>
        <p:nvSpPr>
          <p:cNvPr id="3" name="内容占位符 2"/>
          <p:cNvSpPr>
            <a:spLocks noGrp="1"/>
          </p:cNvSpPr>
          <p:nvPr>
            <p:ph idx="1"/>
          </p:nvPr>
        </p:nvSpPr>
        <p:spPr>
          <a:xfrm>
            <a:off x="838200" y="1353787"/>
            <a:ext cx="10515600" cy="5139087"/>
          </a:xfrm>
        </p:spPr>
        <p:txBody>
          <a:bodyPr>
            <a:normAutofit fontScale="70000" lnSpcReduction="20000"/>
          </a:bodyPr>
          <a:lstStyle/>
          <a:p>
            <a:r>
              <a:rPr lang="zh-CN" altLang="en-US" sz="4000" dirty="0"/>
              <a:t>注册、证书发行和维护</a:t>
            </a:r>
            <a:endParaRPr lang="en-US" altLang="zh-CN" sz="4000" dirty="0"/>
          </a:p>
          <a:p>
            <a:pPr lvl="1">
              <a:lnSpc>
                <a:spcPct val="170000"/>
              </a:lnSpc>
            </a:pPr>
            <a:r>
              <a:rPr lang="zh-CN" altLang="en-US" dirty="0"/>
              <a:t>申请者</a:t>
            </a:r>
            <a:r>
              <a:rPr lang="zh-CN" altLang="en-US" dirty="0">
                <a:solidFill>
                  <a:srgbClr val="C00000"/>
                </a:solidFill>
              </a:rPr>
              <a:t>向注册机构（</a:t>
            </a:r>
            <a:r>
              <a:rPr lang="en-US" altLang="zh-CN" dirty="0">
                <a:solidFill>
                  <a:srgbClr val="C00000"/>
                </a:solidFill>
              </a:rPr>
              <a:t>RA</a:t>
            </a:r>
            <a:r>
              <a:rPr lang="zh-CN" altLang="en-US" dirty="0">
                <a:solidFill>
                  <a:srgbClr val="C00000"/>
                </a:solidFill>
              </a:rPr>
              <a:t>）申请成为证书服务提供商（</a:t>
            </a:r>
            <a:r>
              <a:rPr lang="en-US" altLang="zh-CN" dirty="0">
                <a:solidFill>
                  <a:srgbClr val="C00000"/>
                </a:solidFill>
              </a:rPr>
              <a:t>CSP</a:t>
            </a:r>
            <a:r>
              <a:rPr lang="zh-CN" altLang="en-US" dirty="0">
                <a:solidFill>
                  <a:srgbClr val="C00000"/>
                </a:solidFill>
              </a:rPr>
              <a:t>）的用户</a:t>
            </a:r>
            <a:r>
              <a:rPr lang="zh-CN" altLang="en-US" dirty="0"/>
              <a:t>。在本模型中，</a:t>
            </a:r>
            <a:r>
              <a:rPr lang="en-US" altLang="zh-CN" dirty="0"/>
              <a:t>RA</a:t>
            </a:r>
            <a:r>
              <a:rPr lang="zh-CN" altLang="en-US" dirty="0"/>
              <a:t>作为可信实体创建用户身份并向</a:t>
            </a:r>
            <a:r>
              <a:rPr lang="en-US" altLang="zh-CN" dirty="0"/>
              <a:t>CSP</a:t>
            </a:r>
            <a:r>
              <a:rPr lang="zh-CN" altLang="en-US" dirty="0"/>
              <a:t>为申请者提供担保。</a:t>
            </a:r>
            <a:endParaRPr lang="en-US" altLang="zh-CN" dirty="0"/>
          </a:p>
          <a:p>
            <a:pPr lvl="1">
              <a:lnSpc>
                <a:spcPct val="170000"/>
              </a:lnSpc>
            </a:pPr>
            <a:r>
              <a:rPr lang="zh-CN" altLang="en-US" dirty="0"/>
              <a:t>之后，</a:t>
            </a:r>
            <a:r>
              <a:rPr lang="en-US" altLang="zh-CN" dirty="0"/>
              <a:t>CSP</a:t>
            </a:r>
            <a:r>
              <a:rPr lang="zh-CN" altLang="en-US" dirty="0"/>
              <a:t>会与用户建立信息交换。基于认证系统的不同实施细节，</a:t>
            </a:r>
            <a:r>
              <a:rPr lang="en-US" altLang="zh-CN" dirty="0"/>
              <a:t>CSP</a:t>
            </a:r>
            <a:r>
              <a:rPr lang="zh-CN" altLang="en-US" dirty="0"/>
              <a:t>会给用户发行相应类型的</a:t>
            </a:r>
            <a:r>
              <a:rPr lang="zh-CN" altLang="en-US" dirty="0">
                <a:solidFill>
                  <a:srgbClr val="C00000"/>
                </a:solidFill>
              </a:rPr>
              <a:t>电子凭证</a:t>
            </a:r>
            <a:r>
              <a:rPr lang="zh-CN" altLang="en-US" dirty="0"/>
              <a:t>。凭证是一种将身份和附加属性与用户权标可信地绑定得到的数据结构，并在认证过程中可以被验证方所验证。</a:t>
            </a:r>
            <a:r>
              <a:rPr lang="zh-CN" altLang="en-US" dirty="0">
                <a:solidFill>
                  <a:srgbClr val="C00000"/>
                </a:solidFill>
              </a:rPr>
              <a:t>令牌</a:t>
            </a:r>
            <a:r>
              <a:rPr lang="zh-CN" altLang="en-US" dirty="0"/>
              <a:t>可以是能够唯一标识用户的密钥或者加密口令，可以由</a:t>
            </a:r>
            <a:r>
              <a:rPr lang="en-US" altLang="zh-CN" dirty="0"/>
              <a:t>CSP</a:t>
            </a:r>
            <a:r>
              <a:rPr lang="zh-CN" altLang="en-US" dirty="0"/>
              <a:t>发行，由用户生成，或者由第三方提供。凭证和令牌会在随后的认证过程中用到。</a:t>
            </a:r>
            <a:endParaRPr lang="en-US" altLang="zh-CN" dirty="0"/>
          </a:p>
          <a:p>
            <a:pPr lvl="1">
              <a:lnSpc>
                <a:spcPct val="170000"/>
              </a:lnSpc>
            </a:pPr>
            <a:r>
              <a:rPr lang="zh-CN" altLang="en-US" dirty="0"/>
              <a:t>申请者注册成为用户后，实际的认证过程会在用户和一个或多个执行认证、授权的系统之间进行。被认证的一方称为</a:t>
            </a:r>
            <a:r>
              <a:rPr lang="zh-CN" altLang="en-US" dirty="0">
                <a:solidFill>
                  <a:srgbClr val="C00000"/>
                </a:solidFill>
              </a:rPr>
              <a:t>申请人</a:t>
            </a:r>
            <a:r>
              <a:rPr lang="zh-CN" altLang="en-US" dirty="0"/>
              <a:t>，验证身份的一方称为</a:t>
            </a:r>
            <a:r>
              <a:rPr lang="zh-CN" altLang="en-US" dirty="0">
                <a:solidFill>
                  <a:srgbClr val="C00000"/>
                </a:solidFill>
              </a:rPr>
              <a:t>验证方</a:t>
            </a:r>
            <a:r>
              <a:rPr lang="zh-CN" altLang="en-US" dirty="0"/>
              <a:t>。当申请人在认证协议中向验证方成功证明了其对权标的所有权和控制权，后者将其鉴别为凭证中标明的用户，并向</a:t>
            </a:r>
            <a:r>
              <a:rPr lang="zh-CN" altLang="en-US" dirty="0">
                <a:solidFill>
                  <a:srgbClr val="C00000"/>
                </a:solidFill>
              </a:rPr>
              <a:t>可信赖方（</a:t>
            </a:r>
            <a:r>
              <a:rPr lang="en-US" altLang="zh-CN" dirty="0">
                <a:solidFill>
                  <a:srgbClr val="C00000"/>
                </a:solidFill>
              </a:rPr>
              <a:t>RP</a:t>
            </a:r>
            <a:r>
              <a:rPr lang="zh-CN" altLang="en-US" dirty="0">
                <a:solidFill>
                  <a:srgbClr val="C00000"/>
                </a:solidFill>
              </a:rPr>
              <a:t>）</a:t>
            </a:r>
            <a:r>
              <a:rPr lang="zh-CN" altLang="en-US" dirty="0"/>
              <a:t>传递关于用户身份的声明。声明包括用户的身份信息，如用户名，注册时分配的标识符，或者其他已被证实的用户属性。</a:t>
            </a:r>
            <a:r>
              <a:rPr lang="en-US" altLang="zh-CN" dirty="0"/>
              <a:t>RP</a:t>
            </a:r>
            <a:r>
              <a:rPr lang="zh-CN" altLang="en-US" dirty="0"/>
              <a:t>可以利用这些验证方提供的认证信息进行访问控制或授权决策。</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7.1.2 </a:t>
            </a:r>
            <a:r>
              <a:rPr kumimoji="1" lang="zh-CN" altLang="zh-CN" dirty="0">
                <a:solidFill>
                  <a:prstClr val="black"/>
                </a:solidFill>
              </a:rPr>
              <a:t>认证方法</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认证用户身份有四个常用工具，它们可以单独或组合使用以提高安全性。这些包括：</a:t>
            </a:r>
          </a:p>
          <a:p>
            <a:pPr lvl="1">
              <a:lnSpc>
                <a:spcPct val="150000"/>
              </a:lnSpc>
            </a:pPr>
            <a:r>
              <a:rPr lang="zh-CN" altLang="en-US" b="1" dirty="0"/>
              <a:t>知道什么</a:t>
            </a:r>
            <a:r>
              <a:rPr lang="zh-CN" altLang="en-US" dirty="0"/>
              <a:t> </a:t>
            </a:r>
            <a:r>
              <a:rPr lang="en-US" altLang="zh-CN" dirty="0"/>
              <a:t>(</a:t>
            </a:r>
            <a:r>
              <a:rPr lang="zh-CN" altLang="en-US" dirty="0"/>
              <a:t>知识因素</a:t>
            </a:r>
            <a:r>
              <a:rPr lang="en-US" altLang="zh-CN" dirty="0"/>
              <a:t>)</a:t>
            </a:r>
          </a:p>
          <a:p>
            <a:pPr lvl="1">
              <a:lnSpc>
                <a:spcPct val="150000"/>
              </a:lnSpc>
            </a:pPr>
            <a:r>
              <a:rPr lang="zh-CN" altLang="en-US" b="1" dirty="0"/>
              <a:t>拥有什么</a:t>
            </a:r>
            <a:r>
              <a:rPr lang="zh-CN" altLang="en-US" dirty="0"/>
              <a:t> </a:t>
            </a:r>
            <a:r>
              <a:rPr lang="en-US" altLang="zh-CN" dirty="0"/>
              <a:t>(</a:t>
            </a:r>
            <a:r>
              <a:rPr lang="zh-CN" altLang="en-US" dirty="0"/>
              <a:t>持有因素</a:t>
            </a:r>
            <a:r>
              <a:rPr lang="en-US" altLang="zh-CN" dirty="0"/>
              <a:t>)</a:t>
            </a:r>
          </a:p>
          <a:p>
            <a:pPr lvl="1">
              <a:lnSpc>
                <a:spcPct val="150000"/>
              </a:lnSpc>
            </a:pPr>
            <a:r>
              <a:rPr lang="zh-CN" altLang="en-US" b="1" dirty="0"/>
              <a:t>静态生物特征</a:t>
            </a:r>
            <a:endParaRPr lang="zh-CN" altLang="en-US" dirty="0"/>
          </a:p>
          <a:p>
            <a:pPr lvl="1">
              <a:lnSpc>
                <a:spcPct val="150000"/>
              </a:lnSpc>
            </a:pPr>
            <a:r>
              <a:rPr lang="zh-CN" altLang="en-US" b="1" dirty="0"/>
              <a:t>动态生物特征</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7.1.2 </a:t>
            </a:r>
            <a:r>
              <a:rPr kumimoji="1" lang="zh-CN" altLang="zh-CN" dirty="0">
                <a:solidFill>
                  <a:prstClr val="black"/>
                </a:solidFill>
              </a:rPr>
              <a:t>认证方法</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b="1" dirty="0"/>
              <a:t>知识因素 </a:t>
            </a:r>
            <a:r>
              <a:rPr lang="en-US" altLang="zh-CN" b="1" dirty="0"/>
              <a:t>(</a:t>
            </a:r>
            <a:r>
              <a:rPr lang="zh-CN" altLang="en-US" b="1" dirty="0"/>
              <a:t>知道什么</a:t>
            </a:r>
            <a:r>
              <a:rPr lang="en-US" altLang="zh-CN" b="1" dirty="0"/>
              <a:t>)</a:t>
            </a:r>
          </a:p>
          <a:p>
            <a:pPr lvl="1">
              <a:lnSpc>
                <a:spcPct val="150000"/>
              </a:lnSpc>
            </a:pPr>
            <a:r>
              <a:rPr lang="zh-CN" altLang="en-US" b="1" dirty="0"/>
              <a:t>定义</a:t>
            </a:r>
            <a:r>
              <a:rPr lang="en-US" altLang="zh-CN" dirty="0"/>
              <a:t>: </a:t>
            </a:r>
            <a:r>
              <a:rPr lang="zh-CN" altLang="en-US" dirty="0"/>
              <a:t>依赖用户知道的信息来进行认证。</a:t>
            </a:r>
          </a:p>
          <a:p>
            <a:pPr lvl="1">
              <a:lnSpc>
                <a:spcPct val="150000"/>
              </a:lnSpc>
            </a:pPr>
            <a:r>
              <a:rPr lang="zh-CN" altLang="en-US" b="1" dirty="0"/>
              <a:t>示例</a:t>
            </a:r>
            <a:r>
              <a:rPr lang="en-US" altLang="zh-CN" dirty="0"/>
              <a:t>: </a:t>
            </a:r>
            <a:r>
              <a:rPr lang="zh-CN" altLang="en-US" dirty="0"/>
              <a:t>口令、个人身份号</a:t>
            </a:r>
            <a:r>
              <a:rPr lang="en-US" altLang="zh-CN" dirty="0"/>
              <a:t>(PIN)</a:t>
            </a:r>
            <a:r>
              <a:rPr lang="zh-CN" altLang="en-US" dirty="0"/>
              <a:t>、安全问题答案。</a:t>
            </a:r>
          </a:p>
          <a:p>
            <a:pPr lvl="1">
              <a:lnSpc>
                <a:spcPct val="150000"/>
              </a:lnSpc>
            </a:pPr>
            <a:r>
              <a:rPr lang="zh-CN" altLang="en-US" b="1" dirty="0"/>
              <a:t>挑战</a:t>
            </a:r>
            <a:r>
              <a:rPr lang="en-US" altLang="zh-CN" dirty="0"/>
              <a:t>: </a:t>
            </a:r>
            <a:r>
              <a:rPr lang="zh-CN" altLang="en-US" dirty="0"/>
              <a:t>用户可能忘记信息，或信息可能被猜测或窃取。</a:t>
            </a:r>
            <a:endParaRPr lang="en-US" altLang="zh-CN" b="1" dirty="0"/>
          </a:p>
          <a:p>
            <a:pPr>
              <a:lnSpc>
                <a:spcPct val="150000"/>
              </a:lnSpc>
            </a:pPr>
            <a:r>
              <a:rPr lang="zh-CN" altLang="en-US" b="1" dirty="0"/>
              <a:t>持有因素 </a:t>
            </a:r>
            <a:r>
              <a:rPr lang="en-US" altLang="zh-CN" b="1" dirty="0"/>
              <a:t>(</a:t>
            </a:r>
            <a:r>
              <a:rPr lang="zh-CN" altLang="en-US" b="1" dirty="0"/>
              <a:t>拥有什么</a:t>
            </a:r>
            <a:r>
              <a:rPr lang="en-US" altLang="zh-CN" b="1" dirty="0"/>
              <a:t>)</a:t>
            </a:r>
          </a:p>
          <a:p>
            <a:pPr lvl="1">
              <a:lnSpc>
                <a:spcPct val="150000"/>
              </a:lnSpc>
            </a:pPr>
            <a:r>
              <a:rPr lang="zh-CN" altLang="en-US" b="1" dirty="0"/>
              <a:t>定义</a:t>
            </a:r>
            <a:r>
              <a:rPr lang="en-US" altLang="zh-CN" dirty="0"/>
              <a:t>: </a:t>
            </a:r>
            <a:r>
              <a:rPr lang="zh-CN" altLang="en-US" dirty="0"/>
              <a:t>依赖用户物理拥有的物品来进行认证。</a:t>
            </a:r>
          </a:p>
          <a:p>
            <a:pPr lvl="1">
              <a:lnSpc>
                <a:spcPct val="150000"/>
              </a:lnSpc>
            </a:pPr>
            <a:r>
              <a:rPr lang="zh-CN" altLang="en-US" b="1" dirty="0"/>
              <a:t>示例</a:t>
            </a:r>
            <a:r>
              <a:rPr lang="en-US" altLang="zh-CN" dirty="0"/>
              <a:t>: </a:t>
            </a:r>
            <a:r>
              <a:rPr lang="zh-CN" altLang="en-US" dirty="0"/>
              <a:t>加密密钥、电子密钥卡、智能卡、物理密钥。</a:t>
            </a:r>
          </a:p>
          <a:p>
            <a:pPr lvl="1">
              <a:lnSpc>
                <a:spcPct val="150000"/>
              </a:lnSpc>
            </a:pPr>
            <a:r>
              <a:rPr lang="zh-CN" altLang="en-US" b="1" dirty="0"/>
              <a:t>挑战</a:t>
            </a:r>
            <a:r>
              <a:rPr lang="en-US" altLang="zh-CN" dirty="0"/>
              <a:t>: </a:t>
            </a:r>
            <a:r>
              <a:rPr lang="zh-CN" altLang="en-US" dirty="0"/>
              <a:t>认证信息</a:t>
            </a:r>
            <a:r>
              <a:rPr lang="en-US" altLang="zh-CN" dirty="0"/>
              <a:t>(</a:t>
            </a:r>
            <a:r>
              <a:rPr lang="zh-CN" altLang="en-US" dirty="0"/>
              <a:t>令牌</a:t>
            </a:r>
            <a:r>
              <a:rPr lang="en-US" altLang="zh-CN" dirty="0"/>
              <a:t>)</a:t>
            </a:r>
            <a:r>
              <a:rPr lang="zh-CN" altLang="en-US" dirty="0"/>
              <a:t>可能被伪造或窃取，用户可能丢失令牌。</a:t>
            </a:r>
            <a:endParaRPr lang="en-US" altLang="zh-CN" b="1"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7.1.2 </a:t>
            </a:r>
            <a:r>
              <a:rPr kumimoji="1" lang="zh-CN" altLang="zh-CN" dirty="0">
                <a:solidFill>
                  <a:prstClr val="black"/>
                </a:solidFill>
              </a:rPr>
              <a:t>认证方法</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b="1" dirty="0"/>
              <a:t>静态生物特征</a:t>
            </a:r>
            <a:endParaRPr lang="en-US" altLang="zh-CN" b="1" dirty="0"/>
          </a:p>
          <a:p>
            <a:pPr lvl="1">
              <a:lnSpc>
                <a:spcPct val="150000"/>
              </a:lnSpc>
            </a:pPr>
            <a:r>
              <a:rPr lang="zh-CN" altLang="en-US" b="1" dirty="0"/>
              <a:t>定义</a:t>
            </a:r>
            <a:r>
              <a:rPr lang="en-US" altLang="zh-CN" dirty="0"/>
              <a:t>: </a:t>
            </a:r>
            <a:r>
              <a:rPr lang="zh-CN" altLang="en-US" dirty="0"/>
              <a:t>利用用户的生理特征进行认证。</a:t>
            </a:r>
          </a:p>
          <a:p>
            <a:pPr lvl="1">
              <a:lnSpc>
                <a:spcPct val="150000"/>
              </a:lnSpc>
            </a:pPr>
            <a:r>
              <a:rPr lang="zh-CN" altLang="en-US" b="1" dirty="0"/>
              <a:t>示例</a:t>
            </a:r>
            <a:r>
              <a:rPr lang="en-US" altLang="zh-CN" dirty="0"/>
              <a:t>: </a:t>
            </a:r>
            <a:r>
              <a:rPr lang="zh-CN" altLang="en-US" dirty="0"/>
              <a:t>指纹、视网膜扫描、面部识别。</a:t>
            </a:r>
          </a:p>
          <a:p>
            <a:pPr lvl="1">
              <a:lnSpc>
                <a:spcPct val="150000"/>
              </a:lnSpc>
            </a:pPr>
            <a:r>
              <a:rPr lang="zh-CN" altLang="en-US" b="1" dirty="0"/>
              <a:t>挑战</a:t>
            </a:r>
            <a:r>
              <a:rPr lang="en-US" altLang="zh-CN" dirty="0"/>
              <a:t>: </a:t>
            </a:r>
            <a:r>
              <a:rPr lang="zh-CN" altLang="en-US" dirty="0"/>
              <a:t>处理假阳性和假阴性问题，确保用户满意度，以及成本和便利性的考虑。</a:t>
            </a:r>
            <a:endParaRPr lang="zh-CN" altLang="en-US" b="1" dirty="0"/>
          </a:p>
          <a:p>
            <a:pPr>
              <a:lnSpc>
                <a:spcPct val="150000"/>
              </a:lnSpc>
            </a:pPr>
            <a:r>
              <a:rPr lang="zh-CN" altLang="en-US" b="1" dirty="0"/>
              <a:t>动态生物特征</a:t>
            </a:r>
            <a:endParaRPr lang="en-US" altLang="zh-CN" b="1" dirty="0"/>
          </a:p>
          <a:p>
            <a:pPr lvl="1">
              <a:lnSpc>
                <a:spcPct val="150000"/>
              </a:lnSpc>
            </a:pPr>
            <a:r>
              <a:rPr lang="zh-CN" altLang="en-US" b="1" dirty="0"/>
              <a:t>定义</a:t>
            </a:r>
            <a:r>
              <a:rPr lang="en-US" altLang="zh-CN" dirty="0"/>
              <a:t>: </a:t>
            </a:r>
            <a:r>
              <a:rPr lang="zh-CN" altLang="en-US" dirty="0"/>
              <a:t>利用用户的行为特征进行认证。</a:t>
            </a:r>
          </a:p>
          <a:p>
            <a:pPr lvl="1">
              <a:lnSpc>
                <a:spcPct val="150000"/>
              </a:lnSpc>
            </a:pPr>
            <a:r>
              <a:rPr lang="zh-CN" altLang="en-US" b="1" dirty="0"/>
              <a:t>示例</a:t>
            </a:r>
            <a:r>
              <a:rPr lang="en-US" altLang="zh-CN" dirty="0"/>
              <a:t>: </a:t>
            </a:r>
            <a:r>
              <a:rPr lang="zh-CN" altLang="en-US" dirty="0"/>
              <a:t>声音模式、手写特征、打字节奏。</a:t>
            </a:r>
          </a:p>
          <a:p>
            <a:pPr lvl="1">
              <a:lnSpc>
                <a:spcPct val="150000"/>
              </a:lnSpc>
            </a:pPr>
            <a:r>
              <a:rPr lang="zh-CN" altLang="en-US" b="1" dirty="0"/>
              <a:t>挑战</a:t>
            </a:r>
            <a:r>
              <a:rPr lang="en-US" altLang="zh-CN" dirty="0"/>
              <a:t>: </a:t>
            </a:r>
            <a:r>
              <a:rPr lang="zh-CN" altLang="en-US" dirty="0"/>
              <a:t>同样需要处理假阳性和假阴性问题，以及确保用户满意度和便利性。</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t>7.1 </a:t>
            </a:r>
            <a:r>
              <a:rPr kumimoji="1" lang="zh-CN" altLang="zh-CN" sz="3000" dirty="0"/>
              <a:t>远程用户认证原理</a:t>
            </a:r>
            <a:endParaRPr kumimoji="1" lang="en-US" altLang="zh-CN" sz="3000" dirty="0"/>
          </a:p>
          <a:p>
            <a:pPr>
              <a:lnSpc>
                <a:spcPct val="130000"/>
              </a:lnSpc>
              <a:buNone/>
            </a:pPr>
            <a:r>
              <a:rPr kumimoji="1" lang="en-US" altLang="zh-CN" sz="3000" dirty="0">
                <a:solidFill>
                  <a:srgbClr val="C00000"/>
                </a:solidFill>
              </a:rPr>
              <a:t>7.2 </a:t>
            </a:r>
            <a:r>
              <a:rPr kumimoji="1" lang="zh-CN" altLang="zh-CN" sz="3000" dirty="0">
                <a:solidFill>
                  <a:srgbClr val="C00000"/>
                </a:solidFill>
              </a:rPr>
              <a:t>基于对称加密的密钥分配</a:t>
            </a:r>
            <a:endParaRPr kumimoji="1" lang="en-US" altLang="zh-CN" sz="3000" dirty="0">
              <a:solidFill>
                <a:srgbClr val="C00000"/>
              </a:solidFill>
            </a:endParaRPr>
          </a:p>
          <a:p>
            <a:pPr>
              <a:lnSpc>
                <a:spcPct val="130000"/>
              </a:lnSpc>
              <a:buNone/>
            </a:pPr>
            <a:r>
              <a:rPr kumimoji="1" lang="en-US" altLang="zh-CN" sz="3000" dirty="0"/>
              <a:t>7.3 Kerberos</a:t>
            </a:r>
          </a:p>
          <a:p>
            <a:pPr>
              <a:lnSpc>
                <a:spcPct val="150000"/>
              </a:lnSpc>
              <a:buNone/>
            </a:pPr>
            <a:r>
              <a:rPr kumimoji="1" lang="en-US" altLang="zh-CN" sz="3000" dirty="0"/>
              <a:t>7.4 </a:t>
            </a:r>
            <a:r>
              <a:rPr kumimoji="1" lang="zh-CN" altLang="zh-CN" sz="3000" dirty="0"/>
              <a:t>基于非对称加密的密钥分配</a:t>
            </a:r>
            <a:endParaRPr kumimoji="1" lang="en-US" altLang="zh-CN" sz="3000" dirty="0"/>
          </a:p>
          <a:p>
            <a:pPr>
              <a:lnSpc>
                <a:spcPct val="150000"/>
              </a:lnSpc>
              <a:buNone/>
            </a:pPr>
            <a:r>
              <a:rPr lang="en-US" altLang="zh-CN" sz="3000" dirty="0"/>
              <a:t>7.5 </a:t>
            </a:r>
            <a:r>
              <a:rPr kumimoji="1" lang="en-US" altLang="zh-CN" sz="3000" dirty="0"/>
              <a:t>X.509</a:t>
            </a:r>
            <a:r>
              <a:rPr kumimoji="1" lang="zh-CN" altLang="zh-CN" sz="3000" dirty="0"/>
              <a:t>证书</a:t>
            </a:r>
            <a:endParaRPr kumimoji="1" lang="en-US" altLang="zh-CN" sz="3000" dirty="0"/>
          </a:p>
          <a:p>
            <a:pPr>
              <a:lnSpc>
                <a:spcPct val="150000"/>
              </a:lnSpc>
              <a:buNone/>
            </a:pPr>
            <a:r>
              <a:rPr kumimoji="1" lang="en-US" altLang="zh-CN" sz="3000" dirty="0"/>
              <a:t>7.6 </a:t>
            </a:r>
            <a:r>
              <a:rPr kumimoji="1" lang="zh-CN" altLang="zh-CN" sz="3000" dirty="0"/>
              <a:t>公钥基础设施</a:t>
            </a:r>
            <a:endParaRPr kumimoji="1" lang="en-US" altLang="zh-CN" sz="3000" dirty="0"/>
          </a:p>
          <a:p>
            <a:pPr>
              <a:lnSpc>
                <a:spcPct val="150000"/>
              </a:lnSpc>
              <a:buNone/>
            </a:pPr>
            <a:r>
              <a:rPr kumimoji="1" lang="en-US" altLang="zh-CN" sz="3000" dirty="0"/>
              <a:t>7.7 </a:t>
            </a:r>
            <a:r>
              <a:rPr lang="zh-CN" altLang="zh-CN" dirty="0"/>
              <a:t>联合身份管理</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11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5DAC9EB8-6A7E-475F-BDF0-452BF87827FF}"/>
              </a:ext>
            </a:extLst>
          </p:cNvPr>
          <p:cNvSpPr txBox="1"/>
          <p:nvPr/>
        </p:nvSpPr>
        <p:spPr>
          <a:xfrm>
            <a:off x="6434051" y="2046717"/>
            <a:ext cx="5187142" cy="369332"/>
          </a:xfrm>
          <a:prstGeom prst="rect">
            <a:avLst/>
          </a:prstGeom>
          <a:noFill/>
        </p:spPr>
        <p:txBody>
          <a:bodyPr wrap="square" rtlCol="0">
            <a:spAutoFit/>
          </a:bodyPr>
          <a:lstStyle/>
          <a:p>
            <a:r>
              <a:rPr lang="zh-CN" altLang="en-US" dirty="0"/>
              <a:t>四种方式，第四种引入</a:t>
            </a:r>
            <a:r>
              <a:rPr lang="en-US" altLang="zh-CN" dirty="0"/>
              <a:t>KDC</a:t>
            </a:r>
            <a:r>
              <a:rPr lang="zh-CN" altLang="en-US" dirty="0"/>
              <a:t>和动态分配方案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a:t>
            </a:r>
            <a:r>
              <a:rPr lang="zh-CN" altLang="zh-CN" dirty="0"/>
              <a:t>基于对称加密的密钥分配</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对于对称加密，加密双方必须共享同一密钥，且必须保护密钥不被他人窃取。</a:t>
            </a:r>
          </a:p>
          <a:p>
            <a:pPr>
              <a:lnSpc>
                <a:spcPct val="150000"/>
              </a:lnSpc>
            </a:pPr>
            <a:r>
              <a:rPr lang="zh-CN" altLang="en-US" dirty="0"/>
              <a:t>需要频繁地改变密钥，以减少攻击者可能知道密钥所带来的数据泄露。</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a:t>
            </a:r>
            <a:r>
              <a:rPr lang="zh-CN" altLang="zh-CN" dirty="0"/>
              <a:t>基于对称加密的密钥分配</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a:t>任何密码系统的强度取决于</a:t>
            </a:r>
            <a:r>
              <a:rPr lang="zh-CN" altLang="en-US" dirty="0">
                <a:highlight>
                  <a:srgbClr val="FFFF00"/>
                </a:highlight>
              </a:rPr>
              <a:t>密钥分配技术</a:t>
            </a:r>
            <a:r>
              <a:rPr lang="en-US" altLang="zh-CN" dirty="0">
                <a:highlight>
                  <a:srgbClr val="FFFF00"/>
                </a:highlight>
              </a:rPr>
              <a:t>(</a:t>
            </a:r>
            <a:r>
              <a:rPr lang="zh-CN" altLang="en-US" dirty="0">
                <a:highlight>
                  <a:srgbClr val="FFFF00"/>
                </a:highlight>
              </a:rPr>
              <a:t>密钥分发技术</a:t>
            </a:r>
            <a:r>
              <a:rPr lang="en-US" altLang="zh-CN" dirty="0">
                <a:highlight>
                  <a:srgbClr val="FFFF00"/>
                </a:highlight>
              </a:rPr>
              <a:t>:</a:t>
            </a:r>
            <a:r>
              <a:rPr lang="zh-CN" altLang="en-US" dirty="0">
                <a:highlight>
                  <a:srgbClr val="FFFF00"/>
                </a:highlight>
              </a:rPr>
              <a:t>传递密钥给希望交换数据的双方，且不允许其他人看见密钥的方法</a:t>
            </a:r>
            <a:r>
              <a:rPr lang="en-US" altLang="zh-CN" dirty="0">
                <a:highlight>
                  <a:srgbClr val="FFFF00"/>
                </a:highlight>
              </a:rPr>
              <a:t>)</a:t>
            </a:r>
            <a:r>
              <a:rPr lang="en-US" altLang="zh-CN" dirty="0"/>
              <a:t>:</a:t>
            </a:r>
          </a:p>
          <a:p>
            <a:pPr lvl="1">
              <a:lnSpc>
                <a:spcPct val="150000"/>
              </a:lnSpc>
            </a:pPr>
            <a:r>
              <a:rPr lang="zh-CN" altLang="en-US" dirty="0"/>
              <a:t>（</a:t>
            </a:r>
            <a:r>
              <a:rPr lang="en-US" altLang="zh-CN" dirty="0"/>
              <a:t>1</a:t>
            </a:r>
            <a:r>
              <a:rPr lang="zh-CN" altLang="en-US" dirty="0"/>
              <a:t>）</a:t>
            </a:r>
            <a:r>
              <a:rPr lang="en-US" altLang="zh-CN" dirty="0"/>
              <a:t>A</a:t>
            </a:r>
            <a:r>
              <a:rPr lang="zh-CN" altLang="en-US" dirty="0"/>
              <a:t>能够选定密钥，并通过物理方法传递给</a:t>
            </a:r>
            <a:r>
              <a:rPr lang="en-US" altLang="zh-CN" dirty="0"/>
              <a:t>B</a:t>
            </a:r>
          </a:p>
          <a:p>
            <a:pPr lvl="1">
              <a:lnSpc>
                <a:spcPct val="150000"/>
              </a:lnSpc>
            </a:pPr>
            <a:r>
              <a:rPr lang="zh-CN" altLang="en-US" dirty="0"/>
              <a:t>（</a:t>
            </a:r>
            <a:r>
              <a:rPr lang="en-US" altLang="zh-CN" dirty="0"/>
              <a:t>2</a:t>
            </a:r>
            <a:r>
              <a:rPr lang="zh-CN" altLang="en-US" dirty="0"/>
              <a:t>）第三方能够选定密钥，并通过物理方法传递给</a:t>
            </a:r>
            <a:r>
              <a:rPr lang="en-US" altLang="zh-CN" dirty="0"/>
              <a:t>A</a:t>
            </a:r>
            <a:r>
              <a:rPr lang="zh-CN" altLang="en-US" dirty="0"/>
              <a:t>和</a:t>
            </a:r>
            <a:r>
              <a:rPr lang="en-US" altLang="zh-CN" dirty="0"/>
              <a:t>B</a:t>
            </a:r>
          </a:p>
          <a:p>
            <a:pPr lvl="1">
              <a:lnSpc>
                <a:spcPct val="150000"/>
              </a:lnSpc>
            </a:pPr>
            <a:r>
              <a:rPr lang="zh-CN" altLang="en-US" dirty="0"/>
              <a:t>（</a:t>
            </a:r>
            <a:r>
              <a:rPr lang="en-US" altLang="zh-CN" dirty="0"/>
              <a:t>3</a:t>
            </a:r>
            <a:r>
              <a:rPr lang="zh-CN" altLang="en-US" dirty="0"/>
              <a:t>）如果</a:t>
            </a:r>
            <a:r>
              <a:rPr lang="en-US" altLang="zh-CN" dirty="0"/>
              <a:t>A</a:t>
            </a:r>
            <a:r>
              <a:rPr lang="zh-CN" altLang="en-US" dirty="0"/>
              <a:t>和</a:t>
            </a:r>
            <a:r>
              <a:rPr lang="en-US" altLang="zh-CN" dirty="0"/>
              <a:t>B</a:t>
            </a:r>
            <a:r>
              <a:rPr lang="zh-CN" altLang="en-US" dirty="0"/>
              <a:t>之前使用过一个密钥，一方可以把旧密钥加密新密钥，再将其传递给另一方</a:t>
            </a:r>
          </a:p>
          <a:p>
            <a:pPr lvl="1">
              <a:lnSpc>
                <a:spcPct val="150000"/>
              </a:lnSpc>
            </a:pPr>
            <a:r>
              <a:rPr lang="zh-CN" altLang="en-US" dirty="0"/>
              <a:t>（</a:t>
            </a:r>
            <a:r>
              <a:rPr lang="en-US" altLang="zh-CN" dirty="0"/>
              <a:t>4</a:t>
            </a:r>
            <a:r>
              <a:rPr lang="zh-CN" altLang="en-US" dirty="0"/>
              <a:t>）如果</a:t>
            </a:r>
            <a:r>
              <a:rPr lang="en-US" altLang="zh-CN" dirty="0"/>
              <a:t>A</a:t>
            </a:r>
            <a:r>
              <a:rPr lang="zh-CN" altLang="en-US" dirty="0"/>
              <a:t>和</a:t>
            </a:r>
            <a:r>
              <a:rPr lang="en-US" altLang="zh-CN" dirty="0"/>
              <a:t>B</a:t>
            </a:r>
            <a:r>
              <a:rPr lang="zh-CN" altLang="en-US" dirty="0"/>
              <a:t>各自有一个跟第三方</a:t>
            </a:r>
            <a:r>
              <a:rPr lang="en-US" altLang="zh-CN" dirty="0"/>
              <a:t>C</a:t>
            </a:r>
            <a:r>
              <a:rPr lang="zh-CN" altLang="en-US" dirty="0"/>
              <a:t>的加密链路，那么</a:t>
            </a:r>
            <a:r>
              <a:rPr lang="en-US" altLang="zh-CN" dirty="0"/>
              <a:t>C</a:t>
            </a:r>
            <a:r>
              <a:rPr lang="zh-CN" altLang="en-US" dirty="0"/>
              <a:t>可以通过加密链路传递密钥给</a:t>
            </a:r>
            <a:r>
              <a:rPr lang="en-US" altLang="zh-CN" dirty="0"/>
              <a:t>A</a:t>
            </a:r>
            <a:r>
              <a:rPr lang="zh-CN" altLang="en-US" dirty="0"/>
              <a:t>和</a:t>
            </a:r>
            <a:r>
              <a:rPr lang="en-US" altLang="zh-CN" dirty="0"/>
              <a:t>B</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a:t>
            </a:r>
            <a:r>
              <a:rPr lang="zh-CN" altLang="zh-CN" dirty="0"/>
              <a:t>基于对称加密的密钥分配</a:t>
            </a:r>
            <a:endParaRPr lang="zh-CN" altLang="en-US" dirty="0"/>
          </a:p>
        </p:txBody>
      </p:sp>
      <p:sp>
        <p:nvSpPr>
          <p:cNvPr id="3" name="内容占位符 2"/>
          <p:cNvSpPr>
            <a:spLocks noGrp="1"/>
          </p:cNvSpPr>
          <p:nvPr>
            <p:ph idx="1"/>
          </p:nvPr>
        </p:nvSpPr>
        <p:spPr/>
        <p:txBody>
          <a:bodyPr>
            <a:normAutofit fontScale="85000" lnSpcReduction="10000"/>
          </a:bodyPr>
          <a:lstStyle/>
          <a:p>
            <a:pPr>
              <a:lnSpc>
                <a:spcPct val="150000"/>
              </a:lnSpc>
            </a:pPr>
            <a:r>
              <a:rPr lang="zh-CN" altLang="en-US" dirty="0"/>
              <a:t>第（</a:t>
            </a:r>
            <a:r>
              <a:rPr lang="en-US" altLang="zh-CN" dirty="0"/>
              <a:t>1</a:t>
            </a:r>
            <a:r>
              <a:rPr lang="zh-CN" altLang="en-US" dirty="0"/>
              <a:t>）、（</a:t>
            </a:r>
            <a:r>
              <a:rPr lang="en-US" altLang="zh-CN" dirty="0"/>
              <a:t>2</a:t>
            </a:r>
            <a:r>
              <a:rPr lang="zh-CN" altLang="en-US" dirty="0"/>
              <a:t>）种选择需要手动传递密钥，可用于链路层加密，对端到端加密是笨拙的。</a:t>
            </a:r>
            <a:endParaRPr lang="en-US" altLang="zh-CN" dirty="0"/>
          </a:p>
          <a:p>
            <a:pPr>
              <a:lnSpc>
                <a:spcPct val="150000"/>
              </a:lnSpc>
            </a:pPr>
            <a:r>
              <a:rPr lang="zh-CN" altLang="en-US" dirty="0"/>
              <a:t>第（</a:t>
            </a:r>
            <a:r>
              <a:rPr lang="en-US" altLang="zh-CN" dirty="0"/>
              <a:t>3</a:t>
            </a:r>
            <a:r>
              <a:rPr lang="zh-CN" altLang="en-US" dirty="0"/>
              <a:t>）种选择对链路层加密和端到端加密是可能的，但如果攻击者成功地获得一个密钥，接下来所有的密钥都暴露了。</a:t>
            </a:r>
            <a:endParaRPr lang="en-US" altLang="zh-CN" dirty="0"/>
          </a:p>
          <a:p>
            <a:pPr>
              <a:lnSpc>
                <a:spcPct val="150000"/>
              </a:lnSpc>
            </a:pPr>
            <a:r>
              <a:rPr lang="zh-CN" altLang="en-US" dirty="0"/>
              <a:t>第（</a:t>
            </a:r>
            <a:r>
              <a:rPr lang="en-US" altLang="zh-CN" dirty="0"/>
              <a:t>4</a:t>
            </a:r>
            <a:r>
              <a:rPr lang="zh-CN" altLang="en-US" dirty="0"/>
              <a:t>）种选择，需要两种类型的密钥：</a:t>
            </a:r>
            <a:endParaRPr lang="en-US" altLang="zh-CN" dirty="0"/>
          </a:p>
          <a:p>
            <a:pPr lvl="1">
              <a:lnSpc>
                <a:spcPct val="150000"/>
              </a:lnSpc>
            </a:pPr>
            <a:r>
              <a:rPr lang="zh-CN" altLang="en-US" dirty="0">
                <a:solidFill>
                  <a:srgbClr val="C00000"/>
                </a:solidFill>
              </a:rPr>
              <a:t>会话密钥（</a:t>
            </a:r>
            <a:r>
              <a:rPr lang="en-US" altLang="zh-CN" dirty="0">
                <a:solidFill>
                  <a:srgbClr val="C00000"/>
                </a:solidFill>
              </a:rPr>
              <a:t>session key</a:t>
            </a:r>
            <a:r>
              <a:rPr lang="zh-CN" altLang="en-US" dirty="0">
                <a:solidFill>
                  <a:srgbClr val="C00000"/>
                </a:solidFill>
              </a:rPr>
              <a:t>）</a:t>
            </a:r>
            <a:r>
              <a:rPr lang="zh-CN" altLang="en-US" dirty="0"/>
              <a:t>：</a:t>
            </a:r>
            <a:r>
              <a:rPr lang="zh-CN" altLang="en-US" dirty="0">
                <a:highlight>
                  <a:srgbClr val="FFFF00"/>
                </a:highlight>
              </a:rPr>
              <a:t>逻辑连接</a:t>
            </a:r>
            <a:r>
              <a:rPr lang="zh-CN" altLang="en-US" dirty="0"/>
              <a:t>中所有用户数据都使用的</a:t>
            </a:r>
            <a:r>
              <a:rPr lang="zh-CN" altLang="en-US" dirty="0">
                <a:highlight>
                  <a:srgbClr val="FFFF00"/>
                </a:highlight>
              </a:rPr>
              <a:t>一次性</a:t>
            </a:r>
            <a:r>
              <a:rPr lang="zh-CN" altLang="en-US" dirty="0"/>
              <a:t>密钥。</a:t>
            </a:r>
            <a:endParaRPr lang="en-US" altLang="zh-CN" dirty="0"/>
          </a:p>
          <a:p>
            <a:pPr lvl="1">
              <a:lnSpc>
                <a:spcPct val="150000"/>
              </a:lnSpc>
            </a:pPr>
            <a:r>
              <a:rPr lang="zh-CN" altLang="en-US" dirty="0">
                <a:solidFill>
                  <a:srgbClr val="C00000"/>
                </a:solidFill>
              </a:rPr>
              <a:t>永久密钥（</a:t>
            </a:r>
            <a:r>
              <a:rPr lang="en-US" altLang="zh-CN" dirty="0">
                <a:solidFill>
                  <a:srgbClr val="C00000"/>
                </a:solidFill>
              </a:rPr>
              <a:t>permanent</a:t>
            </a:r>
            <a:r>
              <a:rPr lang="zh-CN" altLang="en-US" dirty="0">
                <a:solidFill>
                  <a:srgbClr val="C00000"/>
                </a:solidFill>
              </a:rPr>
              <a:t>）</a:t>
            </a:r>
            <a:r>
              <a:rPr lang="zh-CN" altLang="en-US" dirty="0"/>
              <a:t>：用于</a:t>
            </a:r>
            <a:r>
              <a:rPr lang="zh-CN" altLang="en-US" dirty="0">
                <a:highlight>
                  <a:srgbClr val="FFFF00"/>
                </a:highlight>
              </a:rPr>
              <a:t>分发会话密钥</a:t>
            </a:r>
            <a:r>
              <a:rPr lang="zh-CN" altLang="en-US" dirty="0"/>
              <a:t>。</a:t>
            </a:r>
            <a:endParaRPr lang="en-US" altLang="zh-CN" dirty="0"/>
          </a:p>
          <a:p>
            <a:pPr>
              <a:lnSpc>
                <a:spcPct val="150000"/>
              </a:lnSpc>
            </a:pPr>
            <a:r>
              <a:rPr lang="zh-CN" altLang="en-US" dirty="0"/>
              <a:t>第（</a:t>
            </a:r>
            <a:r>
              <a:rPr lang="en-US" altLang="zh-CN" dirty="0"/>
              <a:t>4</a:t>
            </a:r>
            <a:r>
              <a:rPr lang="zh-CN" altLang="en-US" dirty="0"/>
              <a:t>）种选择需要一个</a:t>
            </a:r>
            <a:r>
              <a:rPr lang="zh-CN" altLang="en-US" dirty="0">
                <a:solidFill>
                  <a:srgbClr val="C00000"/>
                </a:solidFill>
              </a:rPr>
              <a:t>密钥分发中心（</a:t>
            </a:r>
            <a:r>
              <a:rPr lang="en-US" altLang="zh-CN" dirty="0">
                <a:solidFill>
                  <a:srgbClr val="C00000"/>
                </a:solidFill>
              </a:rPr>
              <a:t>Key Distribution Center</a:t>
            </a:r>
            <a:r>
              <a:rPr lang="zh-CN" altLang="en-US" dirty="0">
                <a:solidFill>
                  <a:srgbClr val="C00000"/>
                </a:solidFill>
              </a:rPr>
              <a:t>，</a:t>
            </a:r>
            <a:r>
              <a:rPr lang="en-US" altLang="zh-CN" dirty="0">
                <a:solidFill>
                  <a:srgbClr val="C00000"/>
                </a:solidFill>
              </a:rPr>
              <a:t>KDC</a:t>
            </a:r>
            <a:r>
              <a:rPr lang="zh-CN" altLang="en-US" dirty="0">
                <a:solidFill>
                  <a:srgbClr val="C00000"/>
                </a:solidFill>
              </a:rPr>
              <a:t>）</a:t>
            </a:r>
            <a:r>
              <a:rPr lang="zh-CN" altLang="en-US" dirty="0"/>
              <a:t>。</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a:t>
            </a:r>
            <a:r>
              <a:rPr lang="zh-CN" altLang="zh-CN" dirty="0"/>
              <a:t>基于对称加密的密钥分配</a:t>
            </a:r>
            <a:endParaRPr lang="zh-CN" altLang="en-US" dirty="0"/>
          </a:p>
        </p:txBody>
      </p:sp>
      <p:sp>
        <p:nvSpPr>
          <p:cNvPr id="3" name="内容占位符 2"/>
          <p:cNvSpPr>
            <a:spLocks noGrp="1"/>
          </p:cNvSpPr>
          <p:nvPr>
            <p:ph idx="1"/>
          </p:nvPr>
        </p:nvSpPr>
        <p:spPr>
          <a:xfrm>
            <a:off x="838200" y="1365662"/>
            <a:ext cx="10515600" cy="4731790"/>
          </a:xfrm>
        </p:spPr>
        <p:txBody>
          <a:bodyPr>
            <a:normAutofit/>
          </a:bodyPr>
          <a:lstStyle/>
          <a:p>
            <a:pPr>
              <a:lnSpc>
                <a:spcPct val="150000"/>
              </a:lnSpc>
            </a:pPr>
            <a:r>
              <a:rPr lang="en-US" altLang="zh-CN" dirty="0"/>
              <a:t>KDC</a:t>
            </a:r>
            <a:r>
              <a:rPr lang="zh-CN" altLang="en-US" dirty="0"/>
              <a:t>的操作过程</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pic>
        <p:nvPicPr>
          <p:cNvPr id="5" name="图片 4"/>
          <p:cNvPicPr>
            <a:picLocks noChangeAspect="1"/>
          </p:cNvPicPr>
          <p:nvPr/>
        </p:nvPicPr>
        <p:blipFill>
          <a:blip r:embed="rId2"/>
          <a:stretch>
            <a:fillRect/>
          </a:stretch>
        </p:blipFill>
        <p:spPr>
          <a:xfrm>
            <a:off x="2114461" y="2152146"/>
            <a:ext cx="7773074" cy="4340728"/>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墨迹 5"/>
              <p14:cNvContentPartPr/>
              <p14:nvPr/>
            </p14:nvContentPartPr>
            <p14:xfrm>
              <a:off x="2196465" y="3343275"/>
              <a:ext cx="1207135" cy="583565"/>
            </p14:xfrm>
          </p:contentPart>
        </mc:Choice>
        <mc:Fallback xmlns="">
          <p:pic>
            <p:nvPicPr>
              <p:cNvPr id="6" name="墨迹 5"/>
            </p:nvPicPr>
            <p:blipFill>
              <a:blip r:embed="rId4"/>
            </p:blipFill>
            <p:spPr>
              <a:xfrm>
                <a:off x="2196465" y="3343275"/>
                <a:ext cx="1207135" cy="583565"/>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7" name="墨迹 6"/>
              <p14:cNvContentPartPr/>
              <p14:nvPr/>
            </p14:nvContentPartPr>
            <p14:xfrm>
              <a:off x="3517900" y="3320415"/>
              <a:ext cx="122555" cy="8255"/>
            </p14:xfrm>
          </p:contentPart>
        </mc:Choice>
        <mc:Fallback xmlns="">
          <p:pic>
            <p:nvPicPr>
              <p:cNvPr id="7" name="墨迹 6"/>
            </p:nvPicPr>
            <p:blipFill>
              <a:blip r:embed="rId6"/>
            </p:blipFill>
            <p:spPr>
              <a:xfrm>
                <a:off x="3517900" y="3320415"/>
                <a:ext cx="122555" cy="8255"/>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8" name="墨迹 7"/>
              <p14:cNvContentPartPr/>
              <p14:nvPr/>
            </p14:nvContentPartPr>
            <p14:xfrm>
              <a:off x="4302125" y="3727450"/>
              <a:ext cx="129540" cy="12700"/>
            </p14:xfrm>
          </p:contentPart>
        </mc:Choice>
        <mc:Fallback xmlns="">
          <p:pic>
            <p:nvPicPr>
              <p:cNvPr id="8" name="墨迹 7"/>
            </p:nvPicPr>
            <p:blipFill>
              <a:blip r:embed="rId8"/>
            </p:blipFill>
            <p:spPr>
              <a:xfrm>
                <a:off x="4302125" y="3727450"/>
                <a:ext cx="129540" cy="1270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9" name="墨迹 8"/>
              <p14:cNvContentPartPr/>
              <p14:nvPr/>
            </p14:nvContentPartPr>
            <p14:xfrm>
              <a:off x="5629910" y="4500880"/>
              <a:ext cx="153670" cy="8255"/>
            </p14:xfrm>
          </p:contentPart>
        </mc:Choice>
        <mc:Fallback xmlns="">
          <p:pic>
            <p:nvPicPr>
              <p:cNvPr id="9" name="墨迹 8"/>
            </p:nvPicPr>
            <p:blipFill>
              <a:blip r:embed="rId10"/>
            </p:blipFill>
            <p:spPr>
              <a:xfrm>
                <a:off x="5629910" y="4500880"/>
                <a:ext cx="153670" cy="8255"/>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10" name="墨迹 9"/>
              <p14:cNvContentPartPr/>
              <p14:nvPr/>
            </p14:nvContentPartPr>
            <p14:xfrm>
              <a:off x="4332605" y="3024505"/>
              <a:ext cx="389890" cy="373380"/>
            </p14:xfrm>
          </p:contentPart>
        </mc:Choice>
        <mc:Fallback xmlns="">
          <p:pic>
            <p:nvPicPr>
              <p:cNvPr id="10" name="墨迹 9"/>
            </p:nvPicPr>
            <p:blipFill>
              <a:blip r:embed="rId12"/>
            </p:blipFill>
            <p:spPr>
              <a:xfrm>
                <a:off x="4332605" y="3024505"/>
                <a:ext cx="389890" cy="373380"/>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11" name="墨迹 10"/>
              <p14:cNvContentPartPr/>
              <p14:nvPr/>
            </p14:nvContentPartPr>
            <p14:xfrm>
              <a:off x="4488815" y="2305050"/>
              <a:ext cx="339725" cy="650875"/>
            </p14:xfrm>
          </p:contentPart>
        </mc:Choice>
        <mc:Fallback xmlns="">
          <p:pic>
            <p:nvPicPr>
              <p:cNvPr id="11" name="墨迹 10"/>
            </p:nvPicPr>
            <p:blipFill>
              <a:blip r:embed="rId14"/>
            </p:blipFill>
            <p:spPr>
              <a:xfrm>
                <a:off x="4488815" y="2305050"/>
                <a:ext cx="339725" cy="650875"/>
              </a:xfrm>
              <a:prstGeom prst="rect"/>
            </p:spPr>
          </p:pic>
        </mc:Fallback>
      </mc:AlternateContent>
      <p:sp>
        <p:nvSpPr>
          <p:cNvPr id="12" name="文本框 11"/>
          <p:cNvSpPr txBox="1"/>
          <p:nvPr/>
        </p:nvSpPr>
        <p:spPr>
          <a:xfrm>
            <a:off x="4316730" y="1976120"/>
            <a:ext cx="5554345" cy="368300"/>
          </a:xfrm>
          <a:prstGeom prst="rect">
            <a:avLst/>
          </a:prstGeom>
          <a:noFill/>
        </p:spPr>
        <p:txBody>
          <a:bodyPr wrap="square" rtlCol="0">
            <a:spAutoFit/>
          </a:bodyPr>
          <a:lstStyle/>
          <a:p>
            <a:r>
              <a:rPr lang="zh-CN" altLang="en-US"/>
              <a:t>随机数，确保回复针对本次请求</a:t>
            </a:r>
          </a:p>
        </p:txBody>
      </p:sp>
      <p:sp>
        <p:nvSpPr>
          <p:cNvPr id="13" name="文本框 12"/>
          <p:cNvSpPr txBox="1"/>
          <p:nvPr/>
        </p:nvSpPr>
        <p:spPr>
          <a:xfrm>
            <a:off x="7013575" y="3320415"/>
            <a:ext cx="5554345" cy="368300"/>
          </a:xfrm>
          <a:prstGeom prst="rect">
            <a:avLst/>
          </a:prstGeom>
          <a:noFill/>
        </p:spPr>
        <p:txBody>
          <a:bodyPr wrap="square" rtlCol="0">
            <a:spAutoFit/>
          </a:bodyPr>
          <a:lstStyle/>
          <a:p>
            <a:r>
              <a:rPr lang="en-US" altLang="zh-CN"/>
              <a:t>KDC</a:t>
            </a:r>
            <a:r>
              <a:rPr lang="zh-CN" altLang="en-US"/>
              <a:t>加密回传</a:t>
            </a:r>
            <a:r>
              <a:rPr lang="en-US" altLang="zh-CN"/>
              <a:t>Ks</a:t>
            </a:r>
          </a:p>
        </p:txBody>
      </p:sp>
      <p:sp>
        <p:nvSpPr>
          <p:cNvPr id="14" name="文本框 13"/>
          <p:cNvSpPr txBox="1"/>
          <p:nvPr/>
        </p:nvSpPr>
        <p:spPr>
          <a:xfrm>
            <a:off x="7013575" y="4132580"/>
            <a:ext cx="5554345" cy="368300"/>
          </a:xfrm>
          <a:prstGeom prst="rect">
            <a:avLst/>
          </a:prstGeom>
          <a:noFill/>
        </p:spPr>
        <p:txBody>
          <a:bodyPr wrap="square" rtlCol="0">
            <a:spAutoFit/>
          </a:bodyPr>
          <a:lstStyle/>
          <a:p>
            <a:r>
              <a:rPr lang="en-US" altLang="zh-CN"/>
              <a:t>KDC</a:t>
            </a:r>
            <a:r>
              <a:rPr lang="zh-CN" altLang="en-US"/>
              <a:t>加密回传</a:t>
            </a:r>
            <a:r>
              <a:rPr lang="en-US" altLang="zh-CN"/>
              <a:t>Ks</a:t>
            </a:r>
          </a:p>
        </p:txBody>
      </p:sp>
      <mc:AlternateContent xmlns:mc="http://schemas.openxmlformats.org/markup-compatibility/2006" xmlns:p14="http://schemas.microsoft.com/office/powerpoint/2010/main">
        <mc:Choice Requires="p14">
          <p:contentPart p14:bwMode="auto" r:id="rId15">
            <p14:nvContentPartPr>
              <p14:cNvPr id="15" name="墨迹 14"/>
              <p14:cNvContentPartPr/>
              <p14:nvPr/>
            </p14:nvContentPartPr>
            <p14:xfrm>
              <a:off x="6170930" y="3653790"/>
              <a:ext cx="815340" cy="64135"/>
            </p14:xfrm>
          </p:contentPart>
        </mc:Choice>
        <mc:Fallback xmlns="">
          <p:pic>
            <p:nvPicPr>
              <p:cNvPr id="15" name="墨迹 14"/>
            </p:nvPicPr>
            <p:blipFill>
              <a:blip r:embed="rId16"/>
            </p:blipFill>
            <p:spPr>
              <a:xfrm>
                <a:off x="6170930" y="3653790"/>
                <a:ext cx="815340" cy="64135"/>
              </a:xfrm>
              <a:prstGeom prst="rect"/>
            </p:spPr>
          </p:pic>
        </mc:Fallback>
      </mc:AlternateContent>
      <mc:AlternateContent xmlns:mc="http://schemas.openxmlformats.org/markup-compatibility/2006" xmlns:p14="http://schemas.microsoft.com/office/powerpoint/2010/main">
        <mc:Choice Requires="p14">
          <p:contentPart p14:bwMode="auto" r:id="rId17">
            <p14:nvContentPartPr>
              <p14:cNvPr id="16" name="墨迹 15"/>
              <p14:cNvContentPartPr/>
              <p14:nvPr/>
            </p14:nvContentPartPr>
            <p14:xfrm>
              <a:off x="4915535" y="3755390"/>
              <a:ext cx="131445" cy="8255"/>
            </p14:xfrm>
          </p:contentPart>
        </mc:Choice>
        <mc:Fallback xmlns="">
          <p:pic>
            <p:nvPicPr>
              <p:cNvPr id="16" name="墨迹 15"/>
            </p:nvPicPr>
            <p:blipFill>
              <a:blip r:embed="rId18"/>
            </p:blipFill>
            <p:spPr>
              <a:xfrm>
                <a:off x="4915535" y="3755390"/>
                <a:ext cx="131445" cy="8255"/>
              </a:xfrm>
              <a:prstGeom prst="rect"/>
            </p:spPr>
          </p:pic>
        </mc:Fallback>
      </mc:AlternateContent>
      <mc:AlternateContent xmlns:mc="http://schemas.openxmlformats.org/markup-compatibility/2006" xmlns:p14="http://schemas.microsoft.com/office/powerpoint/2010/main">
        <mc:Choice Requires="p14">
          <p:contentPart p14:bwMode="auto" r:id="rId19">
            <p14:nvContentPartPr>
              <p14:cNvPr id="18" name="墨迹 17"/>
              <p14:cNvContentPartPr/>
              <p14:nvPr/>
            </p14:nvContentPartPr>
            <p14:xfrm>
              <a:off x="6483985" y="4524375"/>
              <a:ext cx="340995" cy="52705"/>
            </p14:xfrm>
          </p:contentPart>
        </mc:Choice>
        <mc:Fallback xmlns="">
          <p:pic>
            <p:nvPicPr>
              <p:cNvPr id="18" name="墨迹 17"/>
            </p:nvPicPr>
            <p:blipFill>
              <a:blip r:embed="rId20"/>
            </p:blipFill>
            <p:spPr>
              <a:xfrm>
                <a:off x="6483985" y="4524375"/>
                <a:ext cx="340995" cy="52705"/>
              </a:xfrm>
              <a:prstGeom prst="rect"/>
            </p:spPr>
          </p:pic>
        </mc:Fallback>
      </mc:AlternateContent>
      <mc:AlternateContent xmlns:mc="http://schemas.openxmlformats.org/markup-compatibility/2006" xmlns:p14="http://schemas.microsoft.com/office/powerpoint/2010/main">
        <mc:Choice Requires="p14">
          <p:contentPart p14:bwMode="auto" r:id="rId21">
            <p14:nvContentPartPr>
              <p14:cNvPr id="19" name="墨迹 18"/>
              <p14:cNvContentPartPr/>
              <p14:nvPr/>
            </p14:nvContentPartPr>
            <p14:xfrm>
              <a:off x="2351405" y="5875020"/>
              <a:ext cx="1488440" cy="652780"/>
            </p14:xfrm>
          </p:contentPart>
        </mc:Choice>
        <mc:Fallback xmlns="">
          <p:pic>
            <p:nvPicPr>
              <p:cNvPr id="19" name="墨迹 18"/>
            </p:nvPicPr>
            <p:blipFill>
              <a:blip r:embed="rId22"/>
            </p:blipFill>
            <p:spPr>
              <a:xfrm>
                <a:off x="2351405" y="5875020"/>
                <a:ext cx="1488440" cy="652780"/>
              </a:xfrm>
              <a:prstGeom prst="rect"/>
            </p:spPr>
          </p:pic>
        </mc:Fallback>
      </mc:AlternateContent>
      <p:sp>
        <p:nvSpPr>
          <p:cNvPr id="20" name="文本框 19"/>
          <p:cNvSpPr txBox="1"/>
          <p:nvPr/>
        </p:nvSpPr>
        <p:spPr>
          <a:xfrm>
            <a:off x="3223895" y="6455410"/>
            <a:ext cx="5554345" cy="368300"/>
          </a:xfrm>
          <a:prstGeom prst="rect">
            <a:avLst/>
          </a:prstGeom>
          <a:noFill/>
        </p:spPr>
        <p:txBody>
          <a:bodyPr wrap="square" rtlCol="0">
            <a:spAutoFit/>
          </a:bodyPr>
          <a:lstStyle/>
          <a:p>
            <a:r>
              <a:rPr lang="zh-CN"/>
              <a:t>双向认证，</a:t>
            </a:r>
            <a:r>
              <a:rPr lang="en-US" altLang="zh-CN"/>
              <a:t>b</a:t>
            </a:r>
            <a:r>
              <a:rPr lang="zh-CN" altLang="en-US"/>
              <a:t>要确认</a:t>
            </a:r>
            <a:r>
              <a:rPr lang="en-US" altLang="zh-CN"/>
              <a:t>a</a:t>
            </a:r>
            <a:r>
              <a:rPr lang="zh-CN" altLang="en-US"/>
              <a:t>是最新一轮</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7.2 </a:t>
            </a:r>
            <a:r>
              <a:rPr lang="zh-CN" altLang="zh-CN" dirty="0"/>
              <a:t>基于对称加密的密钥分配</a:t>
            </a:r>
            <a:endParaRPr lang="zh-CN" altLang="en-US" dirty="0"/>
          </a:p>
        </p:txBody>
      </p:sp>
      <p:sp>
        <p:nvSpPr>
          <p:cNvPr id="3" name="内容占位符 2"/>
          <p:cNvSpPr>
            <a:spLocks noGrp="1"/>
          </p:cNvSpPr>
          <p:nvPr>
            <p:ph idx="1"/>
          </p:nvPr>
        </p:nvSpPr>
        <p:spPr>
          <a:xfrm>
            <a:off x="838200" y="1365662"/>
            <a:ext cx="4607626" cy="4731790"/>
          </a:xfrm>
        </p:spPr>
        <p:txBody>
          <a:bodyPr>
            <a:normAutofit/>
          </a:bodyPr>
          <a:lstStyle/>
          <a:p>
            <a:pPr>
              <a:lnSpc>
                <a:spcPct val="150000"/>
              </a:lnSpc>
            </a:pPr>
            <a:r>
              <a:rPr lang="zh-CN" altLang="en-US" dirty="0"/>
              <a:t>动态分配方案</a:t>
            </a:r>
            <a:endParaRPr lang="en-US" altLang="zh-CN" dirty="0"/>
          </a:p>
          <a:p>
            <a:pPr lvl="1">
              <a:lnSpc>
                <a:spcPct val="150000"/>
              </a:lnSpc>
            </a:pPr>
            <a:r>
              <a:rPr lang="zh-CN" altLang="en-US" dirty="0"/>
              <a:t>由一个可信赖的</a:t>
            </a:r>
            <a:r>
              <a:rPr lang="zh-CN" altLang="en-US" dirty="0">
                <a:solidFill>
                  <a:schemeClr val="accent2"/>
                </a:solidFill>
              </a:rPr>
              <a:t>联机</a:t>
            </a:r>
            <a:r>
              <a:rPr lang="zh-CN" altLang="en-US" dirty="0"/>
              <a:t>服务器作为密钥分配中心（</a:t>
            </a:r>
            <a:r>
              <a:rPr lang="en-US" altLang="zh-CN" dirty="0"/>
              <a:t>KDC</a:t>
            </a:r>
            <a:r>
              <a:rPr lang="zh-CN" altLang="en-US" dirty="0"/>
              <a:t>）或密钥转递中心（</a:t>
            </a:r>
            <a:r>
              <a:rPr lang="en-US" altLang="zh-CN" dirty="0"/>
              <a:t>KTC</a:t>
            </a:r>
            <a:r>
              <a:rPr lang="zh-CN" altLang="en-US" dirty="0"/>
              <a:t>）</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graphicFrame>
        <p:nvGraphicFramePr>
          <p:cNvPr id="7" name="Object 6"/>
          <p:cNvGraphicFramePr>
            <a:graphicFrameLocks noChangeAspect="1"/>
          </p:cNvGraphicFramePr>
          <p:nvPr/>
        </p:nvGraphicFramePr>
        <p:xfrm>
          <a:off x="8570026" y="4066297"/>
          <a:ext cx="2514600" cy="2011363"/>
        </p:xfrm>
        <a:graphic>
          <a:graphicData uri="http://schemas.openxmlformats.org/presentationml/2006/ole">
            <mc:AlternateContent xmlns:mc="http://schemas.openxmlformats.org/markup-compatibility/2006">
              <mc:Choice xmlns:v="urn:schemas-microsoft-com:vml" Requires="v">
                <p:oleObj spid="_x0000_s1040" r:id="rId3" imgW="2282825" imgH="1828800" progId="Word.Picture.8">
                  <p:embed/>
                </p:oleObj>
              </mc:Choice>
              <mc:Fallback>
                <p:oleObj r:id="rId3" imgW="2282825" imgH="1828800" progId="Word.Picture.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0026" y="4066297"/>
                        <a:ext cx="25146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p:cNvGraphicFramePr>
            <a:graphicFrameLocks noChangeAspect="1"/>
          </p:cNvGraphicFramePr>
          <p:nvPr/>
        </p:nvGraphicFramePr>
        <p:xfrm>
          <a:off x="5445826" y="1978735"/>
          <a:ext cx="2514600" cy="2011362"/>
        </p:xfrm>
        <a:graphic>
          <a:graphicData uri="http://schemas.openxmlformats.org/presentationml/2006/ole">
            <mc:AlternateContent xmlns:mc="http://schemas.openxmlformats.org/markup-compatibility/2006">
              <mc:Choice xmlns:v="urn:schemas-microsoft-com:vml" Requires="v">
                <p:oleObj spid="_x0000_s1041" r:id="rId5" imgW="2282825" imgH="1828800" progId="Word.Picture.8">
                  <p:embed/>
                </p:oleObj>
              </mc:Choice>
              <mc:Fallback>
                <p:oleObj r:id="rId5" imgW="2282825" imgH="1828800" progId="Word.Picture.8">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5826" y="1978735"/>
                        <a:ext cx="251460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9"/>
          <p:cNvGraphicFramePr>
            <a:graphicFrameLocks noChangeAspect="1"/>
          </p:cNvGraphicFramePr>
          <p:nvPr/>
        </p:nvGraphicFramePr>
        <p:xfrm>
          <a:off x="8493125" y="1931988"/>
          <a:ext cx="2514600" cy="2011362"/>
        </p:xfrm>
        <a:graphic>
          <a:graphicData uri="http://schemas.openxmlformats.org/presentationml/2006/ole">
            <mc:AlternateContent xmlns:mc="http://schemas.openxmlformats.org/markup-compatibility/2006">
              <mc:Choice xmlns:v="urn:schemas-microsoft-com:vml" Requires="v">
                <p:oleObj spid="_x0000_s1042" name="Picture" r:id="rId7" imgW="14268450" imgH="11458575" progId="Word.Picture.8">
                  <p:embed/>
                </p:oleObj>
              </mc:Choice>
              <mc:Fallback>
                <p:oleObj name="Picture" r:id="rId7" imgW="14268450" imgH="11458575" progId="Word.Picture.8">
                  <p:embed/>
                  <p:pic>
                    <p:nvPicPr>
                      <p:cNvPr id="0" name="Object 9"/>
                      <p:cNvPicPr>
                        <a:picLocks noChangeAspect="1" noChangeArrowheads="1"/>
                      </p:cNvPicPr>
                      <p:nvPr/>
                    </p:nvPicPr>
                    <p:blipFill>
                      <a:blip r:embed="rId8"/>
                      <a:srcRect/>
                      <a:stretch>
                        <a:fillRect/>
                      </a:stretch>
                    </p:blipFill>
                    <p:spPr bwMode="auto">
                      <a:xfrm>
                        <a:off x="8493125" y="1931988"/>
                        <a:ext cx="251460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文本框 9"/>
          <p:cNvSpPr txBox="1"/>
          <p:nvPr/>
        </p:nvSpPr>
        <p:spPr>
          <a:xfrm>
            <a:off x="6833235" y="6155373"/>
            <a:ext cx="5080000" cy="337185"/>
          </a:xfrm>
          <a:prstGeom prst="rect">
            <a:avLst/>
          </a:prstGeom>
        </p:spPr>
        <p:txBody>
          <a:bodyPr>
            <a:spAutoFit/>
          </a:bodyPr>
          <a:lstStyle/>
          <a:p>
            <a:r>
              <a:rPr lang="zh-CN" altLang="en-US" sz="1600"/>
              <a:t>中心不生成密钥，由发起方 </a:t>
            </a:r>
            <a:r>
              <a:rPr lang="en-US" altLang="zh-CN" sz="1600"/>
              <a:t>A </a:t>
            </a:r>
            <a:r>
              <a:rPr lang="zh-CN" altLang="en-US" sz="1600"/>
              <a:t>自己生成密钥</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t>7.1 </a:t>
            </a:r>
            <a:r>
              <a:rPr kumimoji="1" lang="zh-CN" altLang="zh-CN" sz="3000" dirty="0"/>
              <a:t>远程用户认证原理</a:t>
            </a:r>
            <a:endParaRPr kumimoji="1" lang="en-US" altLang="zh-CN" sz="3000" dirty="0"/>
          </a:p>
          <a:p>
            <a:pPr>
              <a:lnSpc>
                <a:spcPct val="130000"/>
              </a:lnSpc>
              <a:buNone/>
            </a:pPr>
            <a:r>
              <a:rPr kumimoji="1" lang="en-US" altLang="zh-CN" sz="3000" dirty="0"/>
              <a:t>7.2 </a:t>
            </a:r>
            <a:r>
              <a:rPr kumimoji="1" lang="zh-CN" altLang="zh-CN" sz="3000" dirty="0"/>
              <a:t>基于对称加密的密钥分配</a:t>
            </a:r>
            <a:endParaRPr kumimoji="1" lang="en-US" altLang="zh-CN" sz="3000" dirty="0"/>
          </a:p>
          <a:p>
            <a:pPr>
              <a:lnSpc>
                <a:spcPct val="130000"/>
              </a:lnSpc>
              <a:buNone/>
            </a:pPr>
            <a:r>
              <a:rPr kumimoji="1" lang="en-US" altLang="zh-CN" sz="3000" dirty="0">
                <a:solidFill>
                  <a:srgbClr val="C00000"/>
                </a:solidFill>
              </a:rPr>
              <a:t>7.3 Kerberos</a:t>
            </a:r>
          </a:p>
          <a:p>
            <a:pPr>
              <a:lnSpc>
                <a:spcPct val="150000"/>
              </a:lnSpc>
              <a:buNone/>
            </a:pPr>
            <a:r>
              <a:rPr kumimoji="1" lang="en-US" altLang="zh-CN" sz="3000" dirty="0"/>
              <a:t>7.4 </a:t>
            </a:r>
            <a:r>
              <a:rPr kumimoji="1" lang="zh-CN" altLang="zh-CN" sz="3000" dirty="0"/>
              <a:t>基于非对称加密的密钥分配</a:t>
            </a:r>
            <a:endParaRPr kumimoji="1" lang="en-US" altLang="zh-CN" sz="3000" dirty="0"/>
          </a:p>
          <a:p>
            <a:pPr>
              <a:lnSpc>
                <a:spcPct val="150000"/>
              </a:lnSpc>
              <a:buNone/>
            </a:pPr>
            <a:r>
              <a:rPr lang="en-US" altLang="zh-CN" sz="3000" dirty="0"/>
              <a:t>7.5 </a:t>
            </a:r>
            <a:r>
              <a:rPr kumimoji="1" lang="en-US" altLang="zh-CN" sz="3000" dirty="0"/>
              <a:t>X.509</a:t>
            </a:r>
            <a:r>
              <a:rPr kumimoji="1" lang="zh-CN" altLang="zh-CN" sz="3000" dirty="0"/>
              <a:t>证书</a:t>
            </a:r>
            <a:endParaRPr kumimoji="1" lang="en-US" altLang="zh-CN" sz="3000" dirty="0"/>
          </a:p>
          <a:p>
            <a:pPr>
              <a:lnSpc>
                <a:spcPct val="150000"/>
              </a:lnSpc>
              <a:buNone/>
            </a:pPr>
            <a:r>
              <a:rPr kumimoji="1" lang="en-US" altLang="zh-CN" sz="3000" dirty="0"/>
              <a:t>7.6 </a:t>
            </a:r>
            <a:r>
              <a:rPr kumimoji="1" lang="zh-CN" altLang="zh-CN" sz="3000" dirty="0"/>
              <a:t>公钥基础设施</a:t>
            </a:r>
            <a:endParaRPr kumimoji="1" lang="en-US" altLang="zh-CN" sz="3000" dirty="0"/>
          </a:p>
          <a:p>
            <a:pPr>
              <a:lnSpc>
                <a:spcPct val="150000"/>
              </a:lnSpc>
              <a:buNone/>
            </a:pPr>
            <a:r>
              <a:rPr kumimoji="1" lang="en-US" altLang="zh-CN" sz="3000" dirty="0"/>
              <a:t>7.7 </a:t>
            </a:r>
            <a:r>
              <a:rPr lang="zh-CN" altLang="zh-CN" dirty="0"/>
              <a:t>联合身份管理</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17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矩形标注 4"/>
          <p:cNvSpPr/>
          <p:nvPr/>
        </p:nvSpPr>
        <p:spPr>
          <a:xfrm>
            <a:off x="6911439" y="2322210"/>
            <a:ext cx="4122717" cy="1632273"/>
          </a:xfrm>
          <a:prstGeom prst="wedgeRectCallout">
            <a:avLst>
              <a:gd name="adj1" fmla="val -126450"/>
              <a:gd name="adj2" fmla="val -571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Kerberos</a:t>
            </a:r>
            <a:r>
              <a:rPr kumimoji="1" lang="zh-CN" altLang="en-US" sz="2400" dirty="0">
                <a:solidFill>
                  <a:prstClr val="black"/>
                </a:solidFill>
                <a:latin typeface="微软雅黑" panose="020B0503020204020204" pitchFamily="34" charset="-122"/>
                <a:ea typeface="微软雅黑" panose="020B0503020204020204" pitchFamily="34" charset="-122"/>
              </a:rPr>
              <a:t>版本</a:t>
            </a:r>
            <a:r>
              <a:rPr kumimoji="1" lang="en-US" altLang="zh-CN" sz="2400" dirty="0">
                <a:solidFill>
                  <a:prstClr val="black"/>
                </a:solidFill>
                <a:latin typeface="微软雅黑" panose="020B0503020204020204" pitchFamily="34" charset="-122"/>
                <a:ea typeface="微软雅黑" panose="020B0503020204020204" pitchFamily="34" charset="-122"/>
              </a:rPr>
              <a:t>4</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Kerberos</a:t>
            </a:r>
            <a:r>
              <a:rPr kumimoji="1" lang="zh-CN" altLang="en-US" sz="2400" dirty="0">
                <a:solidFill>
                  <a:prstClr val="black"/>
                </a:solidFill>
                <a:latin typeface="微软雅黑" panose="020B0503020204020204" pitchFamily="34" charset="-122"/>
                <a:ea typeface="微软雅黑" panose="020B0503020204020204" pitchFamily="34" charset="-122"/>
              </a:rPr>
              <a:t>版本</a:t>
            </a:r>
            <a:r>
              <a:rPr kumimoji="1" lang="en-US" altLang="zh-CN" sz="2400" dirty="0">
                <a:solidFill>
                  <a:prstClr val="black"/>
                </a:solidFill>
                <a:latin typeface="微软雅黑" panose="020B0503020204020204" pitchFamily="34" charset="-122"/>
                <a:ea typeface="微软雅黑" panose="020B0503020204020204" pitchFamily="34" charset="-122"/>
              </a:rPr>
              <a:t>5</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a:t>
            </a:r>
            <a:r>
              <a:rPr lang="zh-CN" altLang="zh-CN" dirty="0"/>
              <a:t> </a:t>
            </a:r>
            <a:r>
              <a:rPr lang="en-US" altLang="zh-CN" dirty="0"/>
              <a:t>Kerberos</a:t>
            </a:r>
            <a:endParaRPr lang="zh-CN" altLang="en-US" dirty="0"/>
          </a:p>
        </p:txBody>
      </p:sp>
      <p:sp>
        <p:nvSpPr>
          <p:cNvPr id="3" name="内容占位符 2"/>
          <p:cNvSpPr>
            <a:spLocks noGrp="1"/>
          </p:cNvSpPr>
          <p:nvPr>
            <p:ph idx="1"/>
          </p:nvPr>
        </p:nvSpPr>
        <p:spPr/>
        <p:txBody>
          <a:bodyPr>
            <a:normAutofit fontScale="85000" lnSpcReduction="10000"/>
          </a:bodyPr>
          <a:lstStyle/>
          <a:p>
            <a:pPr>
              <a:lnSpc>
                <a:spcPct val="150000"/>
              </a:lnSpc>
            </a:pPr>
            <a:r>
              <a:rPr lang="en-US" altLang="zh-CN" dirty="0"/>
              <a:t>Kerberos </a:t>
            </a:r>
            <a:r>
              <a:rPr lang="zh-CN" altLang="en-US" dirty="0"/>
              <a:t>是一种</a:t>
            </a:r>
            <a:r>
              <a:rPr lang="zh-CN" altLang="en-US" dirty="0">
                <a:solidFill>
                  <a:srgbClr val="C00000"/>
                </a:solidFill>
                <a:highlight>
                  <a:srgbClr val="FFFF00"/>
                </a:highlight>
              </a:rPr>
              <a:t>网络认证协议</a:t>
            </a:r>
            <a:r>
              <a:rPr lang="zh-CN" altLang="en-US" dirty="0"/>
              <a:t>，基于</a:t>
            </a:r>
            <a:r>
              <a:rPr lang="zh-CN" altLang="en-US" dirty="0">
                <a:solidFill>
                  <a:srgbClr val="C00000"/>
                </a:solidFill>
              </a:rPr>
              <a:t>对称密钥加密</a:t>
            </a:r>
            <a:r>
              <a:rPr lang="zh-CN" altLang="en-US" dirty="0"/>
              <a:t>思想，其设计目标是通过密钥系统为客户机 </a:t>
            </a:r>
            <a:r>
              <a:rPr lang="en-US" altLang="zh-CN" dirty="0"/>
              <a:t>/ </a:t>
            </a:r>
            <a:r>
              <a:rPr lang="zh-CN" altLang="en-US" dirty="0"/>
              <a:t>服务器应用程序提供强大的</a:t>
            </a:r>
            <a:r>
              <a:rPr lang="zh-CN" altLang="en-US" dirty="0">
                <a:solidFill>
                  <a:srgbClr val="C00000"/>
                </a:solidFill>
              </a:rPr>
              <a:t>认证服务</a:t>
            </a:r>
            <a:r>
              <a:rPr lang="zh-CN" altLang="en-US" dirty="0"/>
              <a:t>。</a:t>
            </a:r>
            <a:endParaRPr lang="en-US" altLang="zh-CN" dirty="0"/>
          </a:p>
          <a:p>
            <a:pPr>
              <a:lnSpc>
                <a:spcPct val="150000"/>
              </a:lnSpc>
            </a:pPr>
            <a:r>
              <a:rPr lang="zh-CN" altLang="en-US" dirty="0"/>
              <a:t>该认证过程的实现不依赖于主机操作系统的认证，无需基于主机地址的信任，不要求网络上所有主机的物理安全，并</a:t>
            </a:r>
            <a:r>
              <a:rPr lang="zh-CN" altLang="en-US" dirty="0">
                <a:highlight>
                  <a:srgbClr val="FFFF00"/>
                </a:highlight>
              </a:rPr>
              <a:t>假定网络上传送的数据包可以被任意地读取、修改和插入数据</a:t>
            </a:r>
            <a:r>
              <a:rPr lang="zh-CN" altLang="en-US" dirty="0"/>
              <a:t>。在以上情况下， </a:t>
            </a:r>
            <a:r>
              <a:rPr lang="en-US" altLang="zh-CN" dirty="0">
                <a:solidFill>
                  <a:srgbClr val="C00000"/>
                </a:solidFill>
              </a:rPr>
              <a:t>Kerberos </a:t>
            </a:r>
            <a:r>
              <a:rPr lang="zh-CN" altLang="en-US" dirty="0">
                <a:solidFill>
                  <a:srgbClr val="C00000"/>
                </a:solidFill>
              </a:rPr>
              <a:t>作为一种可信任的第三方认证服务</a:t>
            </a:r>
            <a:r>
              <a:rPr lang="zh-CN" altLang="en-US" dirty="0"/>
              <a:t>，是通过传统的</a:t>
            </a:r>
            <a:r>
              <a:rPr lang="zh-CN" altLang="en-US" dirty="0">
                <a:solidFill>
                  <a:srgbClr val="C00000"/>
                </a:solidFill>
              </a:rPr>
              <a:t>密码技术（如：共享密钥）</a:t>
            </a:r>
            <a:r>
              <a:rPr lang="zh-CN" altLang="en-US" dirty="0"/>
              <a:t>执行认证服务的。</a:t>
            </a:r>
            <a:endParaRPr lang="en-US" altLang="zh-CN" dirty="0"/>
          </a:p>
          <a:p>
            <a:pPr>
              <a:lnSpc>
                <a:spcPct val="150000"/>
              </a:lnSpc>
            </a:pPr>
            <a:r>
              <a:rPr lang="en-US" altLang="zh-CN" dirty="0"/>
              <a:t>Kerberos </a:t>
            </a:r>
            <a:r>
              <a:rPr lang="zh-CN" altLang="en-US" dirty="0"/>
              <a:t>由麻省理工学院（</a:t>
            </a:r>
            <a:r>
              <a:rPr lang="en-US" altLang="zh-CN" dirty="0"/>
              <a:t>MIT</a:t>
            </a:r>
            <a:r>
              <a:rPr lang="zh-CN" altLang="en-US" dirty="0"/>
              <a:t>）发明，广泛用于企业局域网、云服务、大数据平台等多种场合。</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a:t>
            </a:r>
            <a:r>
              <a:rPr lang="zh-CN" altLang="zh-CN" dirty="0"/>
              <a:t> </a:t>
            </a:r>
            <a:r>
              <a:rPr lang="en-US" altLang="zh-CN" dirty="0"/>
              <a:t>Kerberos</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sz="2600" dirty="0"/>
              <a:t>Kerberos </a:t>
            </a:r>
            <a:r>
              <a:rPr lang="zh-CN" altLang="en-US" sz="2600" dirty="0"/>
              <a:t>原理解析</a:t>
            </a:r>
            <a:r>
              <a:rPr lang="zh-CN" altLang="en-US" dirty="0"/>
              <a:t>：</a:t>
            </a:r>
            <a:endParaRPr lang="en-US" altLang="zh-CN" dirty="0"/>
          </a:p>
          <a:p>
            <a:pPr lvl="1">
              <a:lnSpc>
                <a:spcPct val="150000"/>
              </a:lnSpc>
            </a:pPr>
            <a:r>
              <a:rPr lang="en-US" altLang="zh-CN" dirty="0"/>
              <a:t>Kerberos </a:t>
            </a:r>
            <a:r>
              <a:rPr lang="zh-CN" altLang="en-US" dirty="0"/>
              <a:t>通过 </a:t>
            </a:r>
            <a:r>
              <a:rPr lang="zh-CN" altLang="en-US" b="1" dirty="0">
                <a:highlight>
                  <a:srgbClr val="FFFF00"/>
                </a:highlight>
              </a:rPr>
              <a:t>可信第三方（</a:t>
            </a:r>
            <a:r>
              <a:rPr lang="en-US" altLang="zh-CN" b="1" dirty="0">
                <a:highlight>
                  <a:srgbClr val="FFFF00"/>
                </a:highlight>
              </a:rPr>
              <a:t>KDC</a:t>
            </a:r>
            <a:r>
              <a:rPr lang="zh-CN" altLang="en-US" b="1" dirty="0">
                <a:highlight>
                  <a:srgbClr val="FFFF00"/>
                </a:highlight>
              </a:rPr>
              <a:t>）</a:t>
            </a:r>
            <a:r>
              <a:rPr lang="zh-CN" altLang="en-US" dirty="0"/>
              <a:t> 实现身份认证，全程不会在网络上传输明文密码。其核心优势体现在：</a:t>
            </a:r>
          </a:p>
          <a:p>
            <a:pPr lvl="2">
              <a:lnSpc>
                <a:spcPct val="150000"/>
              </a:lnSpc>
            </a:pPr>
            <a:r>
              <a:rPr lang="zh-CN" altLang="en-US" sz="2200" dirty="0"/>
              <a:t>基于</a:t>
            </a:r>
            <a:r>
              <a:rPr lang="zh-CN" altLang="en-US" sz="2200" dirty="0">
                <a:highlight>
                  <a:srgbClr val="FFFF00"/>
                </a:highlight>
              </a:rPr>
              <a:t>对称密钥</a:t>
            </a:r>
            <a:r>
              <a:rPr lang="zh-CN" altLang="en-US" sz="2200" dirty="0"/>
              <a:t>加密（如 </a:t>
            </a:r>
            <a:r>
              <a:rPr lang="en-US" altLang="zh-CN" sz="2200" dirty="0"/>
              <a:t>AES</a:t>
            </a:r>
            <a:r>
              <a:rPr lang="zh-CN" altLang="en-US" sz="2200" dirty="0"/>
              <a:t>，</a:t>
            </a:r>
            <a:r>
              <a:rPr lang="en-US" altLang="zh-CN" sz="2200" dirty="0"/>
              <a:t>DES</a:t>
            </a:r>
            <a:r>
              <a:rPr lang="zh-CN" altLang="en-US" sz="2200" dirty="0"/>
              <a:t>）</a:t>
            </a:r>
          </a:p>
          <a:p>
            <a:pPr lvl="2">
              <a:lnSpc>
                <a:spcPct val="150000"/>
              </a:lnSpc>
            </a:pPr>
            <a:r>
              <a:rPr lang="zh-CN" altLang="en-US" sz="2200" dirty="0"/>
              <a:t>身份认证 </a:t>
            </a:r>
            <a:r>
              <a:rPr lang="en-US" altLang="zh-CN" sz="2200" dirty="0"/>
              <a:t>&amp; </a:t>
            </a:r>
            <a:r>
              <a:rPr lang="zh-CN" altLang="en-US" sz="2200" dirty="0"/>
              <a:t>授权凭据分离</a:t>
            </a:r>
          </a:p>
          <a:p>
            <a:pPr lvl="2">
              <a:lnSpc>
                <a:spcPct val="150000"/>
              </a:lnSpc>
            </a:pPr>
            <a:r>
              <a:rPr lang="zh-CN" altLang="en-US" sz="2200" dirty="0"/>
              <a:t>引入时间戳防止重放攻击</a:t>
            </a:r>
          </a:p>
          <a:p>
            <a:pPr lvl="2">
              <a:lnSpc>
                <a:spcPct val="150000"/>
              </a:lnSpc>
            </a:pPr>
            <a:r>
              <a:rPr lang="zh-CN" altLang="en-US" sz="2200" dirty="0"/>
              <a:t>支持单点登录（</a:t>
            </a:r>
            <a:r>
              <a:rPr lang="en-US" altLang="zh-CN" sz="2200" dirty="0"/>
              <a:t>SSO</a:t>
            </a:r>
            <a:r>
              <a:rPr lang="zh-CN" altLang="en-US" sz="2200"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a:t>
            </a:r>
          </a:p>
        </p:txBody>
      </p:sp>
      <p:sp>
        <p:nvSpPr>
          <p:cNvPr id="55299" name="Rectangle 2"/>
          <p:cNvSpPr>
            <a:spLocks noGrp="1" noChangeArrowheads="1"/>
          </p:cNvSpPr>
          <p:nvPr>
            <p:ph idx="1"/>
          </p:nvPr>
        </p:nvSpPr>
        <p:spPr>
          <a:xfrm>
            <a:off x="1116281" y="1412876"/>
            <a:ext cx="10046524" cy="4181475"/>
          </a:xfrm>
        </p:spPr>
        <p:txBody>
          <a:bodyPr/>
          <a:lstStyle/>
          <a:p>
            <a:pPr eaLnBrk="1" hangingPunct="1">
              <a:lnSpc>
                <a:spcPct val="80000"/>
              </a:lnSpc>
            </a:pPr>
            <a:r>
              <a:rPr lang="zh-CN" altLang="en-US" b="1" dirty="0">
                <a:latin typeface="Times New Roman" panose="02020603050405020304" pitchFamily="18" charset="0"/>
              </a:rPr>
              <a:t>基本思路：</a:t>
            </a:r>
          </a:p>
          <a:p>
            <a:pPr lvl="1" eaLnBrk="1" hangingPunct="1"/>
            <a:r>
              <a:rPr lang="zh-CN" altLang="en-US" dirty="0">
                <a:latin typeface="Times New Roman" panose="02020603050405020304" pitchFamily="18" charset="0"/>
              </a:rPr>
              <a:t>使用一个（或一组）独立的</a:t>
            </a:r>
            <a:r>
              <a:rPr lang="zh-CN" altLang="en-US" dirty="0">
                <a:solidFill>
                  <a:srgbClr val="FF0000"/>
                </a:solidFill>
                <a:latin typeface="Times New Roman" panose="02020603050405020304" pitchFamily="18" charset="0"/>
              </a:rPr>
              <a:t>认证服务器</a:t>
            </a:r>
            <a:r>
              <a:rPr lang="zh-CN" altLang="en-US" dirty="0">
                <a:latin typeface="Times New Roman" panose="02020603050405020304" pitchFamily="18" charset="0"/>
              </a:rPr>
              <a:t>（</a:t>
            </a:r>
            <a:r>
              <a:rPr lang="en-US" altLang="zh-CN" dirty="0">
                <a:solidFill>
                  <a:srgbClr val="FF0000"/>
                </a:solidFill>
                <a:latin typeface="Times New Roman" panose="02020603050405020304" pitchFamily="18" charset="0"/>
              </a:rPr>
              <a:t>AS</a:t>
            </a:r>
            <a:r>
              <a:rPr lang="en-US" altLang="zh-CN" dirty="0">
                <a:latin typeface="Times New Roman" panose="02020603050405020304" pitchFamily="18" charset="0"/>
              </a:rPr>
              <a:t> —Authentication Server</a:t>
            </a:r>
            <a:r>
              <a:rPr lang="zh-CN" altLang="en-US" dirty="0">
                <a:latin typeface="Times New Roman" panose="02020603050405020304" pitchFamily="18" charset="0"/>
              </a:rPr>
              <a:t>），来为网络中的</a:t>
            </a:r>
            <a:r>
              <a:rPr lang="zh-CN" altLang="en-US" dirty="0">
                <a:solidFill>
                  <a:srgbClr val="FF0000"/>
                </a:solidFill>
                <a:latin typeface="Times New Roman" panose="02020603050405020304" pitchFamily="18" charset="0"/>
              </a:rPr>
              <a:t>用户（</a:t>
            </a:r>
            <a:r>
              <a:rPr lang="en-US" altLang="zh-CN" dirty="0">
                <a:solidFill>
                  <a:srgbClr val="FF0000"/>
                </a:solidFill>
                <a:latin typeface="Times New Roman" panose="02020603050405020304" pitchFamily="18" charset="0"/>
              </a:rPr>
              <a:t>C</a:t>
            </a:r>
            <a:r>
              <a:rPr lang="zh-CN" altLang="en-US" dirty="0">
                <a:solidFill>
                  <a:srgbClr val="FF0000"/>
                </a:solidFill>
                <a:latin typeface="Times New Roman" panose="02020603050405020304" pitchFamily="18" charset="0"/>
              </a:rPr>
              <a:t>）</a:t>
            </a:r>
            <a:r>
              <a:rPr lang="zh-CN" altLang="en-US" dirty="0">
                <a:latin typeface="Times New Roman" panose="02020603050405020304" pitchFamily="18" charset="0"/>
              </a:rPr>
              <a:t>提供身份认证服务； </a:t>
            </a:r>
          </a:p>
          <a:p>
            <a:pPr lvl="1" eaLnBrk="1" hangingPunct="1"/>
            <a:r>
              <a:rPr lang="zh-CN" altLang="en-US" dirty="0">
                <a:latin typeface="Times New Roman" panose="02020603050405020304" pitchFamily="18" charset="0"/>
              </a:rPr>
              <a:t>认证服务器 </a:t>
            </a:r>
            <a:r>
              <a:rPr lang="en-US" altLang="zh-CN" dirty="0">
                <a:latin typeface="Times New Roman" panose="02020603050405020304" pitchFamily="18" charset="0"/>
              </a:rPr>
              <a:t>(AS)</a:t>
            </a:r>
            <a:r>
              <a:rPr lang="zh-CN" altLang="en-US" dirty="0">
                <a:latin typeface="Times New Roman" panose="02020603050405020304" pitchFamily="18" charset="0"/>
              </a:rPr>
              <a:t>，</a:t>
            </a:r>
            <a:r>
              <a:rPr lang="zh-CN" altLang="en-US" dirty="0">
                <a:highlight>
                  <a:srgbClr val="FFFF00"/>
                </a:highlight>
                <a:latin typeface="Times New Roman" panose="02020603050405020304" pitchFamily="18" charset="0"/>
              </a:rPr>
              <a:t>用户口令由 </a:t>
            </a:r>
            <a:r>
              <a:rPr lang="en-US" altLang="zh-CN" dirty="0">
                <a:highlight>
                  <a:srgbClr val="FFFF00"/>
                </a:highlight>
                <a:latin typeface="Times New Roman" panose="02020603050405020304" pitchFamily="18" charset="0"/>
              </a:rPr>
              <a:t>AS </a:t>
            </a:r>
            <a:r>
              <a:rPr lang="zh-CN" altLang="en-US" dirty="0">
                <a:highlight>
                  <a:srgbClr val="FFFF00"/>
                </a:highlight>
                <a:latin typeface="Times New Roman" panose="02020603050405020304" pitchFamily="18" charset="0"/>
              </a:rPr>
              <a:t>保存在数据库</a:t>
            </a:r>
            <a:r>
              <a:rPr lang="zh-CN" altLang="en-US" dirty="0">
                <a:latin typeface="Times New Roman" panose="02020603050405020304" pitchFamily="18" charset="0"/>
              </a:rPr>
              <a:t>中；</a:t>
            </a:r>
          </a:p>
          <a:p>
            <a:pPr lvl="1" eaLnBrk="1" hangingPunct="1"/>
            <a:r>
              <a:rPr lang="en-US" altLang="zh-CN" dirty="0">
                <a:latin typeface="Times New Roman" panose="02020603050405020304" pitchFamily="18" charset="0"/>
              </a:rPr>
              <a:t>AS </a:t>
            </a:r>
            <a:r>
              <a:rPr lang="zh-CN" altLang="en-US" dirty="0">
                <a:highlight>
                  <a:srgbClr val="FFFF00"/>
                </a:highlight>
                <a:latin typeface="Times New Roman" panose="02020603050405020304" pitchFamily="18" charset="0"/>
              </a:rPr>
              <a:t>与每个</a:t>
            </a:r>
            <a:r>
              <a:rPr lang="zh-CN" altLang="en-US" dirty="0">
                <a:solidFill>
                  <a:srgbClr val="FF0000"/>
                </a:solidFill>
                <a:highlight>
                  <a:srgbClr val="FFFF00"/>
                </a:highlight>
                <a:latin typeface="Times New Roman" panose="02020603050405020304" pitchFamily="18" charset="0"/>
              </a:rPr>
              <a:t>服务器（</a:t>
            </a:r>
            <a:r>
              <a:rPr lang="en-US" altLang="zh-CN" dirty="0">
                <a:solidFill>
                  <a:srgbClr val="FF0000"/>
                </a:solidFill>
                <a:highlight>
                  <a:srgbClr val="FFFF00"/>
                </a:highlight>
                <a:latin typeface="Times New Roman" panose="02020603050405020304" pitchFamily="18" charset="0"/>
              </a:rPr>
              <a:t>V</a:t>
            </a:r>
            <a:r>
              <a:rPr lang="zh-CN" altLang="en-US" dirty="0">
                <a:solidFill>
                  <a:srgbClr val="FF0000"/>
                </a:solidFill>
                <a:highlight>
                  <a:srgbClr val="FFFF00"/>
                </a:highlight>
                <a:latin typeface="Times New Roman" panose="02020603050405020304" pitchFamily="18" charset="0"/>
              </a:rPr>
              <a:t>）</a:t>
            </a:r>
            <a:r>
              <a:rPr lang="zh-CN" altLang="en-US" dirty="0">
                <a:highlight>
                  <a:srgbClr val="FFFF00"/>
                </a:highlight>
                <a:latin typeface="Times New Roman" panose="02020603050405020304" pitchFamily="18" charset="0"/>
              </a:rPr>
              <a:t>共享一个惟一</a:t>
            </a:r>
            <a:r>
              <a:rPr lang="zh-CN" altLang="en-US" dirty="0">
                <a:solidFill>
                  <a:srgbClr val="FF0000"/>
                </a:solidFill>
                <a:highlight>
                  <a:srgbClr val="FFFF00"/>
                </a:highlight>
                <a:latin typeface="Times New Roman" panose="02020603050405020304" pitchFamily="18" charset="0"/>
              </a:rPr>
              <a:t>保密密钥（</a:t>
            </a:r>
            <a:r>
              <a:rPr lang="en-US" altLang="zh-CN" dirty="0" err="1">
                <a:solidFill>
                  <a:srgbClr val="FF0000"/>
                </a:solidFill>
                <a:highlight>
                  <a:srgbClr val="FFFF00"/>
                </a:highlight>
                <a:latin typeface="Times New Roman" panose="02020603050405020304" pitchFamily="18" charset="0"/>
              </a:rPr>
              <a:t>K</a:t>
            </a:r>
            <a:r>
              <a:rPr lang="en-US" altLang="zh-CN" baseline="-25000" dirty="0" err="1">
                <a:solidFill>
                  <a:srgbClr val="FF0000"/>
                </a:solidFill>
                <a:highlight>
                  <a:srgbClr val="FFFF00"/>
                </a:highlight>
                <a:latin typeface="Times New Roman" panose="02020603050405020304" pitchFamily="18" charset="0"/>
              </a:rPr>
              <a:t>v</a:t>
            </a:r>
            <a:r>
              <a:rPr lang="zh-CN" altLang="en-US" dirty="0">
                <a:solidFill>
                  <a:srgbClr val="FF0000"/>
                </a:solidFill>
                <a:highlight>
                  <a:srgbClr val="FFFF00"/>
                </a:highlight>
                <a:latin typeface="Times New Roman" panose="02020603050405020304" pitchFamily="18" charset="0"/>
              </a:rPr>
              <a:t>）</a:t>
            </a:r>
            <a:r>
              <a:rPr lang="zh-CN" altLang="en-US" dirty="0">
                <a:latin typeface="Times New Roman" panose="02020603050405020304" pitchFamily="18" charset="0"/>
              </a:rPr>
              <a:t>（已被安全分发）。</a:t>
            </a:r>
          </a:p>
          <a:p>
            <a:pPr eaLnBrk="1" hangingPunct="1">
              <a:lnSpc>
                <a:spcPct val="80000"/>
              </a:lnSpc>
            </a:pPr>
            <a:r>
              <a:rPr lang="zh-CN" altLang="en-US" b="1" dirty="0">
                <a:latin typeface="Times New Roman" panose="02020603050405020304" pitchFamily="18" charset="0"/>
              </a:rPr>
              <a:t>会话过程</a:t>
            </a:r>
            <a:r>
              <a:rPr lang="zh-CN" altLang="en-US" sz="2600" b="1" dirty="0">
                <a:latin typeface="Times New Roman" panose="02020603050405020304" pitchFamily="18" charset="0"/>
              </a:rPr>
              <a:t>：</a:t>
            </a:r>
          </a:p>
        </p:txBody>
      </p:sp>
      <p:sp>
        <p:nvSpPr>
          <p:cNvPr id="55300" name="Rectangle 4" descr="轮廓式菱形"/>
          <p:cNvSpPr>
            <a:spLocks noRot="1" noChangeArrowheads="1"/>
          </p:cNvSpPr>
          <p:nvPr/>
        </p:nvSpPr>
        <p:spPr bwMode="auto">
          <a:xfrm>
            <a:off x="3476563" y="3962050"/>
            <a:ext cx="5937250" cy="2000250"/>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692150" indent="-34798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US" altLang="zh-CN" sz="1900" b="1">
              <a:solidFill>
                <a:schemeClr val="accent2"/>
              </a:solidFill>
              <a:latin typeface="Times New Roman" panose="02020603050405020304" pitchFamily="18" charset="0"/>
            </a:endParaRPr>
          </a:p>
          <a:p>
            <a:pPr lvl="1" eaLnBrk="1" hangingPunct="1">
              <a:lnSpc>
                <a:spcPct val="80000"/>
              </a:lnSpc>
              <a:spcBef>
                <a:spcPct val="20000"/>
              </a:spcBef>
              <a:buClr>
                <a:schemeClr val="accent2"/>
              </a:buClr>
              <a:buSzPct val="70000"/>
              <a:buFont typeface="Wingdings" panose="05000000000000000000" pitchFamily="2" charset="2"/>
              <a:buNone/>
            </a:pPr>
            <a:r>
              <a:rPr lang="en-US" altLang="zh-CN" sz="2000" b="1">
                <a:latin typeface="Times New Roman" panose="02020603050405020304" pitchFamily="18" charset="0"/>
              </a:rPr>
              <a:t>(1)  C </a:t>
            </a:r>
            <a:r>
              <a:rPr lang="en-US" altLang="zh-CN" sz="2000" b="1">
                <a:latin typeface="Times New Roman" panose="02020603050405020304" pitchFamily="18" charset="0"/>
                <a:sym typeface="Symbol" panose="05050102010706020507" pitchFamily="18" charset="2"/>
              </a:rPr>
              <a:t></a:t>
            </a:r>
            <a:r>
              <a:rPr lang="en-US" altLang="zh-CN" sz="2000" b="1">
                <a:latin typeface="Times New Roman" panose="02020603050405020304" pitchFamily="18" charset="0"/>
              </a:rPr>
              <a:t> AS:   ID</a:t>
            </a:r>
            <a:r>
              <a:rPr lang="en-US" altLang="zh-CN" sz="2000" b="1" baseline="-25000">
                <a:latin typeface="Times New Roman" panose="02020603050405020304" pitchFamily="18" charset="0"/>
              </a:rPr>
              <a:t>C</a:t>
            </a:r>
            <a:r>
              <a:rPr lang="en-US" altLang="zh-CN" sz="2000" b="1">
                <a:latin typeface="Times New Roman" panose="02020603050405020304" pitchFamily="18" charset="0"/>
              </a:rPr>
              <a:t> || P</a:t>
            </a:r>
            <a:r>
              <a:rPr lang="en-US" altLang="zh-CN" sz="2000" b="1" baseline="-25000">
                <a:latin typeface="Times New Roman" panose="02020603050405020304" pitchFamily="18" charset="0"/>
              </a:rPr>
              <a:t>C</a:t>
            </a:r>
            <a:r>
              <a:rPr lang="en-US" altLang="zh-CN" sz="2000" b="1">
                <a:latin typeface="Times New Roman" panose="02020603050405020304" pitchFamily="18" charset="0"/>
              </a:rPr>
              <a:t> || ID</a:t>
            </a:r>
            <a:r>
              <a:rPr lang="en-US" altLang="zh-CN" sz="2000" b="1" baseline="-25000">
                <a:latin typeface="Times New Roman" panose="02020603050405020304" pitchFamily="18" charset="0"/>
              </a:rPr>
              <a:t>v</a:t>
            </a:r>
          </a:p>
          <a:p>
            <a:pPr lvl="1" eaLnBrk="1" hangingPunct="1">
              <a:lnSpc>
                <a:spcPct val="80000"/>
              </a:lnSpc>
              <a:spcBef>
                <a:spcPct val="20000"/>
              </a:spcBef>
              <a:buClr>
                <a:schemeClr val="accent2"/>
              </a:buClr>
              <a:buSzPct val="70000"/>
              <a:buFont typeface="Wingdings" panose="05000000000000000000" pitchFamily="2" charset="2"/>
              <a:buNone/>
            </a:pPr>
            <a:r>
              <a:rPr lang="en-US" altLang="zh-CN" sz="2000" b="1">
                <a:latin typeface="Times New Roman" panose="02020603050405020304" pitchFamily="18" charset="0"/>
              </a:rPr>
              <a:t>(2)  AS </a:t>
            </a:r>
            <a:r>
              <a:rPr lang="en-US" altLang="zh-CN" sz="2000" b="1">
                <a:latin typeface="Times New Roman" panose="02020603050405020304" pitchFamily="18" charset="0"/>
                <a:sym typeface="Symbol" panose="05050102010706020507" pitchFamily="18" charset="2"/>
              </a:rPr>
              <a:t></a:t>
            </a:r>
            <a:r>
              <a:rPr lang="en-US" altLang="zh-CN" sz="2000" b="1">
                <a:latin typeface="Times New Roman" panose="02020603050405020304" pitchFamily="18" charset="0"/>
              </a:rPr>
              <a:t> C:   Ticket</a:t>
            </a:r>
          </a:p>
          <a:p>
            <a:pPr lvl="1" eaLnBrk="1" hangingPunct="1">
              <a:lnSpc>
                <a:spcPct val="80000"/>
              </a:lnSpc>
              <a:spcBef>
                <a:spcPct val="20000"/>
              </a:spcBef>
              <a:buClr>
                <a:schemeClr val="accent2"/>
              </a:buClr>
              <a:buSzPct val="70000"/>
              <a:buFont typeface="Wingdings" panose="05000000000000000000" pitchFamily="2" charset="2"/>
              <a:buNone/>
            </a:pPr>
            <a:r>
              <a:rPr lang="en-US" altLang="zh-CN" sz="2000" b="1">
                <a:latin typeface="Times New Roman" panose="02020603050405020304" pitchFamily="18" charset="0"/>
              </a:rPr>
              <a:t>(3)  C </a:t>
            </a:r>
            <a:r>
              <a:rPr lang="en-US" altLang="zh-CN" sz="2000" b="1">
                <a:latin typeface="Times New Roman" panose="02020603050405020304" pitchFamily="18" charset="0"/>
                <a:sym typeface="Symbol" panose="05050102010706020507" pitchFamily="18" charset="2"/>
              </a:rPr>
              <a:t></a:t>
            </a:r>
            <a:r>
              <a:rPr lang="en-US" altLang="zh-CN" sz="2000" b="1">
                <a:latin typeface="Times New Roman" panose="02020603050405020304" pitchFamily="18" charset="0"/>
              </a:rPr>
              <a:t> V  :   ID</a:t>
            </a:r>
            <a:r>
              <a:rPr lang="en-US" altLang="zh-CN" sz="2000" b="1" baseline="-25000">
                <a:latin typeface="Times New Roman" panose="02020603050405020304" pitchFamily="18" charset="0"/>
              </a:rPr>
              <a:t>C</a:t>
            </a:r>
            <a:r>
              <a:rPr lang="en-US" altLang="zh-CN" sz="2000" b="1">
                <a:latin typeface="Times New Roman" panose="02020603050405020304" pitchFamily="18" charset="0"/>
              </a:rPr>
              <a:t> || Ticket</a:t>
            </a:r>
          </a:p>
          <a:p>
            <a:pPr eaLnBrk="1" hangingPunct="1">
              <a:lnSpc>
                <a:spcPct val="80000"/>
              </a:lnSpc>
              <a:spcBef>
                <a:spcPct val="20000"/>
              </a:spcBef>
              <a:buClr>
                <a:schemeClr val="tx2"/>
              </a:buClr>
              <a:buSzPct val="70000"/>
              <a:buFont typeface="Wingdings" panose="05000000000000000000" pitchFamily="2" charset="2"/>
              <a:buChar char="l"/>
            </a:pPr>
            <a:r>
              <a:rPr lang="zh-CN" altLang="en-US" sz="1900" b="1">
                <a:solidFill>
                  <a:schemeClr val="accent2"/>
                </a:solidFill>
                <a:latin typeface="Times New Roman" panose="02020603050405020304" pitchFamily="18" charset="0"/>
              </a:rPr>
              <a:t>其中：       </a:t>
            </a:r>
          </a:p>
          <a:p>
            <a:pPr lvl="1" eaLnBrk="1" hangingPunct="1">
              <a:lnSpc>
                <a:spcPct val="80000"/>
              </a:lnSpc>
              <a:spcBef>
                <a:spcPct val="20000"/>
              </a:spcBef>
              <a:buClr>
                <a:schemeClr val="accent2"/>
              </a:buClr>
              <a:buSzPct val="70000"/>
              <a:buFont typeface="Wingdings" panose="05000000000000000000" pitchFamily="2" charset="2"/>
              <a:buNone/>
            </a:pPr>
            <a:r>
              <a:rPr lang="en-US" altLang="zh-CN" sz="2000" b="1">
                <a:latin typeface="Times New Roman" panose="02020603050405020304" pitchFamily="18" charset="0"/>
              </a:rPr>
              <a:t>Ticket  =  E</a:t>
            </a:r>
            <a:r>
              <a:rPr lang="en-US" altLang="zh-CN" sz="2000" b="1" baseline="-25000">
                <a:latin typeface="Times New Roman" panose="02020603050405020304" pitchFamily="18" charset="0"/>
              </a:rPr>
              <a:t>Kv</a:t>
            </a:r>
            <a:r>
              <a:rPr lang="en-US" altLang="zh-CN" sz="2000" b="1">
                <a:latin typeface="Times New Roman" panose="02020603050405020304" pitchFamily="18" charset="0"/>
              </a:rPr>
              <a:t>[ID</a:t>
            </a:r>
            <a:r>
              <a:rPr lang="en-US" altLang="zh-CN" sz="2000" b="1" baseline="-25000">
                <a:latin typeface="Times New Roman" panose="02020603050405020304" pitchFamily="18" charset="0"/>
              </a:rPr>
              <a:t>C</a:t>
            </a:r>
            <a:r>
              <a:rPr lang="en-US" altLang="zh-CN" sz="2000" b="1">
                <a:latin typeface="Times New Roman" panose="02020603050405020304" pitchFamily="18" charset="0"/>
              </a:rPr>
              <a:t> || AD</a:t>
            </a:r>
            <a:r>
              <a:rPr lang="en-US" altLang="zh-CN" sz="2000" b="1" baseline="-25000">
                <a:latin typeface="Times New Roman" panose="02020603050405020304" pitchFamily="18" charset="0"/>
              </a:rPr>
              <a:t>C</a:t>
            </a:r>
            <a:r>
              <a:rPr lang="en-US" altLang="zh-CN" sz="2000" b="1">
                <a:latin typeface="Times New Roman" panose="02020603050405020304" pitchFamily="18" charset="0"/>
              </a:rPr>
              <a:t> || ID</a:t>
            </a:r>
            <a:r>
              <a:rPr lang="en-US" altLang="zh-CN" sz="2000" b="1" baseline="-25000">
                <a:latin typeface="Times New Roman" panose="02020603050405020304" pitchFamily="18" charset="0"/>
              </a:rPr>
              <a:t>v</a:t>
            </a:r>
            <a:r>
              <a:rPr lang="en-US" altLang="zh-CN" sz="2000" b="1">
                <a:latin typeface="Times New Roman" panose="02020603050405020304" pitchFamily="18" charset="0"/>
              </a:rPr>
              <a:t>]</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type="title"/>
          </p:nvPr>
        </p:nvSpPr>
        <p:spPr>
          <a:xfrm>
            <a:off x="1304306" y="228600"/>
            <a:ext cx="7543800" cy="1003300"/>
          </a:xfrm>
        </p:spPr>
        <p:txBody>
          <a:bodyPr/>
          <a:lstStyle/>
          <a:p>
            <a:pPr eaLnBrk="1" hangingPunct="1"/>
            <a:r>
              <a:rPr lang="en-US" altLang="zh-CN" sz="4400" dirty="0">
                <a:latin typeface="Times New Roman" panose="02020603050405020304" pitchFamily="18" charset="0"/>
              </a:rPr>
              <a:t>Kerberos</a:t>
            </a:r>
            <a:r>
              <a:rPr lang="zh-CN" altLang="en-US" sz="4400" dirty="0">
                <a:latin typeface="Times New Roman" panose="02020603050405020304" pitchFamily="18" charset="0"/>
              </a:rPr>
              <a:t>设计思路（续）</a:t>
            </a:r>
          </a:p>
        </p:txBody>
      </p:sp>
      <p:sp>
        <p:nvSpPr>
          <p:cNvPr id="56323" name="Rectangle 2"/>
          <p:cNvSpPr>
            <a:spLocks noGrp="1" noChangeArrowheads="1"/>
          </p:cNvSpPr>
          <p:nvPr>
            <p:ph idx="1"/>
          </p:nvPr>
        </p:nvSpPr>
        <p:spPr>
          <a:xfrm>
            <a:off x="2135188" y="1484313"/>
            <a:ext cx="3116262" cy="406400"/>
          </a:xfrm>
        </p:spPr>
        <p:txBody>
          <a:bodyPr>
            <a:normAutofit lnSpcReduction="10000"/>
          </a:bodyPr>
          <a:lstStyle/>
          <a:p>
            <a:pPr eaLnBrk="1" hangingPunct="1">
              <a:lnSpc>
                <a:spcPct val="80000"/>
              </a:lnSpc>
            </a:pPr>
            <a:r>
              <a:rPr lang="zh-CN" altLang="en-US" b="1">
                <a:latin typeface="Times New Roman" panose="02020603050405020304" pitchFamily="18" charset="0"/>
              </a:rPr>
              <a:t>会话过程</a:t>
            </a:r>
            <a:r>
              <a:rPr lang="zh-CN" altLang="en-US" sz="2600" b="1">
                <a:latin typeface="Times New Roman" panose="02020603050405020304" pitchFamily="18" charset="0"/>
              </a:rPr>
              <a:t>：</a:t>
            </a:r>
          </a:p>
        </p:txBody>
      </p:sp>
      <p:sp>
        <p:nvSpPr>
          <p:cNvPr id="259076" name="Rectangle 4"/>
          <p:cNvSpPr>
            <a:spLocks noRot="1" noChangeArrowheads="1"/>
          </p:cNvSpPr>
          <p:nvPr/>
        </p:nvSpPr>
        <p:spPr bwMode="auto">
          <a:xfrm>
            <a:off x="2855914" y="4941888"/>
            <a:ext cx="3025775"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buClr>
                <a:schemeClr val="tx2"/>
              </a:buClr>
              <a:buSzPct val="70000"/>
              <a:buFont typeface="Wingdings" panose="05000000000000000000" pitchFamily="2" charset="2"/>
              <a:buNone/>
            </a:pPr>
            <a:r>
              <a:rPr lang="en-US" altLang="zh-CN" sz="1500" b="1">
                <a:solidFill>
                  <a:schemeClr val="accent2"/>
                </a:solidFill>
                <a:latin typeface="Times New Roman" panose="02020603050405020304" pitchFamily="18" charset="0"/>
              </a:rPr>
              <a:t>Ticket  =  E</a:t>
            </a:r>
            <a:r>
              <a:rPr lang="en-US" altLang="zh-CN" sz="1500" b="1" baseline="-25000">
                <a:solidFill>
                  <a:schemeClr val="accent2"/>
                </a:solidFill>
                <a:latin typeface="Times New Roman" panose="02020603050405020304" pitchFamily="18" charset="0"/>
              </a:rPr>
              <a:t>Kv</a:t>
            </a:r>
            <a:r>
              <a:rPr lang="en-US" altLang="zh-CN" sz="1500" b="1">
                <a:solidFill>
                  <a:schemeClr val="accent2"/>
                </a:solidFill>
                <a:latin typeface="Times New Roman" panose="02020603050405020304" pitchFamily="18" charset="0"/>
              </a:rPr>
              <a:t>[ID</a:t>
            </a:r>
            <a:r>
              <a:rPr lang="en-US" altLang="zh-CN" sz="1500" b="1" baseline="-25000">
                <a:solidFill>
                  <a:schemeClr val="accent2"/>
                </a:solidFill>
                <a:latin typeface="Times New Roman" panose="02020603050405020304" pitchFamily="18" charset="0"/>
              </a:rPr>
              <a:t>C</a:t>
            </a:r>
            <a:r>
              <a:rPr lang="en-US" altLang="zh-CN" sz="1500" b="1">
                <a:solidFill>
                  <a:schemeClr val="accent2"/>
                </a:solidFill>
                <a:latin typeface="Times New Roman" panose="02020603050405020304" pitchFamily="18" charset="0"/>
              </a:rPr>
              <a:t> , AD</a:t>
            </a:r>
            <a:r>
              <a:rPr lang="en-US" altLang="zh-CN" sz="1500" b="1" baseline="-25000">
                <a:solidFill>
                  <a:schemeClr val="accent2"/>
                </a:solidFill>
                <a:latin typeface="Times New Roman" panose="02020603050405020304" pitchFamily="18" charset="0"/>
              </a:rPr>
              <a:t>C</a:t>
            </a:r>
            <a:r>
              <a:rPr lang="en-US" altLang="zh-CN" sz="1500" b="1">
                <a:solidFill>
                  <a:schemeClr val="accent2"/>
                </a:solidFill>
                <a:latin typeface="Times New Roman" panose="02020603050405020304" pitchFamily="18" charset="0"/>
              </a:rPr>
              <a:t> , ID</a:t>
            </a:r>
            <a:r>
              <a:rPr lang="en-US" altLang="zh-CN" sz="1500" b="1" baseline="-25000">
                <a:solidFill>
                  <a:schemeClr val="accent2"/>
                </a:solidFill>
                <a:latin typeface="Times New Roman" panose="02020603050405020304" pitchFamily="18" charset="0"/>
              </a:rPr>
              <a:t>v</a:t>
            </a:r>
            <a:r>
              <a:rPr lang="en-US" altLang="zh-CN" sz="1500" b="1">
                <a:solidFill>
                  <a:schemeClr val="accent2"/>
                </a:solidFill>
                <a:latin typeface="Times New Roman" panose="02020603050405020304" pitchFamily="18" charset="0"/>
              </a:rPr>
              <a:t>]</a:t>
            </a:r>
          </a:p>
        </p:txBody>
      </p:sp>
      <p:sp>
        <p:nvSpPr>
          <p:cNvPr id="56325" name="Oval 5"/>
          <p:cNvSpPr>
            <a:spLocks noChangeArrowheads="1"/>
          </p:cNvSpPr>
          <p:nvPr/>
        </p:nvSpPr>
        <p:spPr bwMode="auto">
          <a:xfrm>
            <a:off x="3000376" y="3932239"/>
            <a:ext cx="792163" cy="504825"/>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rPr>
              <a:t>C</a:t>
            </a:r>
          </a:p>
        </p:txBody>
      </p:sp>
      <p:sp>
        <p:nvSpPr>
          <p:cNvPr id="56326" name="Oval 6"/>
          <p:cNvSpPr>
            <a:spLocks noChangeArrowheads="1"/>
          </p:cNvSpPr>
          <p:nvPr/>
        </p:nvSpPr>
        <p:spPr bwMode="auto">
          <a:xfrm>
            <a:off x="6672263" y="1123951"/>
            <a:ext cx="792162" cy="504825"/>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rPr>
              <a:t>AS</a:t>
            </a:r>
          </a:p>
        </p:txBody>
      </p:sp>
      <p:sp>
        <p:nvSpPr>
          <p:cNvPr id="56327" name="Oval 7"/>
          <p:cNvSpPr>
            <a:spLocks noChangeArrowheads="1"/>
          </p:cNvSpPr>
          <p:nvPr/>
        </p:nvSpPr>
        <p:spPr bwMode="auto">
          <a:xfrm>
            <a:off x="6888163" y="3932239"/>
            <a:ext cx="792162" cy="504825"/>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solidFill>
                  <a:srgbClr val="000000"/>
                </a:solidFill>
                <a:latin typeface="Times New Roman" panose="02020603050405020304" pitchFamily="18" charset="0"/>
              </a:rPr>
              <a:t>V</a:t>
            </a:r>
          </a:p>
        </p:txBody>
      </p:sp>
      <p:grpSp>
        <p:nvGrpSpPr>
          <p:cNvPr id="2" name="Group 8"/>
          <p:cNvGrpSpPr/>
          <p:nvPr/>
        </p:nvGrpSpPr>
        <p:grpSpPr bwMode="auto">
          <a:xfrm>
            <a:off x="3287714" y="1484313"/>
            <a:ext cx="3455987" cy="2520950"/>
            <a:chOff x="1111" y="935"/>
            <a:chExt cx="2177" cy="1588"/>
          </a:xfrm>
        </p:grpSpPr>
        <p:sp>
          <p:nvSpPr>
            <p:cNvPr id="56341" name="Line 9"/>
            <p:cNvSpPr>
              <a:spLocks noChangeShapeType="1"/>
            </p:cNvSpPr>
            <p:nvPr/>
          </p:nvSpPr>
          <p:spPr bwMode="auto">
            <a:xfrm flipV="1">
              <a:off x="1338" y="935"/>
              <a:ext cx="1950" cy="1588"/>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6342" name="Text Box 10"/>
            <p:cNvSpPr txBox="1">
              <a:spLocks noChangeArrowheads="1"/>
            </p:cNvSpPr>
            <p:nvPr/>
          </p:nvSpPr>
          <p:spPr bwMode="auto">
            <a:xfrm>
              <a:off x="1111" y="1253"/>
              <a:ext cx="14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solidFill>
                    <a:srgbClr val="000000"/>
                  </a:solidFill>
                  <a:latin typeface="Times New Roman" panose="02020603050405020304" pitchFamily="18" charset="0"/>
                </a:rPr>
                <a:t> (1) ID</a:t>
              </a:r>
              <a:r>
                <a:rPr lang="en-US" altLang="zh-CN" b="1" baseline="-25000">
                  <a:solidFill>
                    <a:srgbClr val="000000"/>
                  </a:solidFill>
                  <a:latin typeface="Times New Roman" panose="02020603050405020304" pitchFamily="18" charset="0"/>
                </a:rPr>
                <a:t>C</a:t>
              </a:r>
              <a:r>
                <a:rPr lang="en-US" altLang="zh-CN" b="1">
                  <a:solidFill>
                    <a:srgbClr val="000000"/>
                  </a:solidFill>
                  <a:latin typeface="Times New Roman" panose="02020603050405020304" pitchFamily="18" charset="0"/>
                </a:rPr>
                <a:t> , P</a:t>
              </a:r>
              <a:r>
                <a:rPr lang="en-US" altLang="zh-CN" b="1" baseline="-25000">
                  <a:solidFill>
                    <a:srgbClr val="000000"/>
                  </a:solidFill>
                  <a:latin typeface="Times New Roman" panose="02020603050405020304" pitchFamily="18" charset="0"/>
                </a:rPr>
                <a:t>C</a:t>
              </a:r>
              <a:r>
                <a:rPr lang="en-US" altLang="zh-CN" b="1">
                  <a:solidFill>
                    <a:srgbClr val="000000"/>
                  </a:solidFill>
                  <a:latin typeface="Times New Roman" panose="02020603050405020304" pitchFamily="18" charset="0"/>
                </a:rPr>
                <a:t> , ID</a:t>
              </a:r>
              <a:r>
                <a:rPr lang="en-US" altLang="zh-CN" b="1" baseline="-25000">
                  <a:solidFill>
                    <a:srgbClr val="000000"/>
                  </a:solidFill>
                  <a:latin typeface="Times New Roman" panose="02020603050405020304" pitchFamily="18" charset="0"/>
                </a:rPr>
                <a:t>v</a:t>
              </a:r>
            </a:p>
          </p:txBody>
        </p:sp>
      </p:grpSp>
      <p:grpSp>
        <p:nvGrpSpPr>
          <p:cNvPr id="3" name="Group 11"/>
          <p:cNvGrpSpPr/>
          <p:nvPr/>
        </p:nvGrpSpPr>
        <p:grpSpPr bwMode="auto">
          <a:xfrm>
            <a:off x="3935414" y="1700214"/>
            <a:ext cx="3240087" cy="2376487"/>
            <a:chOff x="1519" y="1071"/>
            <a:chExt cx="2041" cy="1497"/>
          </a:xfrm>
        </p:grpSpPr>
        <p:sp>
          <p:nvSpPr>
            <p:cNvPr id="56339" name="Line 12"/>
            <p:cNvSpPr>
              <a:spLocks noChangeShapeType="1"/>
            </p:cNvSpPr>
            <p:nvPr/>
          </p:nvSpPr>
          <p:spPr bwMode="auto">
            <a:xfrm flipH="1">
              <a:off x="1519" y="1071"/>
              <a:ext cx="1951" cy="1497"/>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6340" name="Text Box 13"/>
            <p:cNvSpPr txBox="1">
              <a:spLocks noChangeArrowheads="1"/>
            </p:cNvSpPr>
            <p:nvPr/>
          </p:nvSpPr>
          <p:spPr bwMode="auto">
            <a:xfrm>
              <a:off x="2517" y="1752"/>
              <a:ext cx="10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solidFill>
                    <a:srgbClr val="000000"/>
                  </a:solidFill>
                  <a:latin typeface="Times New Roman" panose="02020603050405020304" pitchFamily="18" charset="0"/>
                </a:rPr>
                <a:t>Ticket</a:t>
              </a:r>
            </a:p>
          </p:txBody>
        </p:sp>
      </p:grpSp>
      <p:grpSp>
        <p:nvGrpSpPr>
          <p:cNvPr id="4" name="Group 14"/>
          <p:cNvGrpSpPr/>
          <p:nvPr/>
        </p:nvGrpSpPr>
        <p:grpSpPr bwMode="auto">
          <a:xfrm>
            <a:off x="3863975" y="3860800"/>
            <a:ext cx="3240088" cy="431800"/>
            <a:chOff x="1474" y="2432"/>
            <a:chExt cx="2041" cy="272"/>
          </a:xfrm>
        </p:grpSpPr>
        <p:sp>
          <p:nvSpPr>
            <p:cNvPr id="56337" name="Line 15"/>
            <p:cNvSpPr>
              <a:spLocks noChangeShapeType="1"/>
            </p:cNvSpPr>
            <p:nvPr/>
          </p:nvSpPr>
          <p:spPr bwMode="auto">
            <a:xfrm>
              <a:off x="1474" y="2704"/>
              <a:ext cx="1905"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6338" name="Text Box 16"/>
            <p:cNvSpPr txBox="1">
              <a:spLocks noChangeArrowheads="1"/>
            </p:cNvSpPr>
            <p:nvPr/>
          </p:nvSpPr>
          <p:spPr bwMode="auto">
            <a:xfrm>
              <a:off x="1791" y="2432"/>
              <a:ext cx="17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b="1">
                  <a:solidFill>
                    <a:srgbClr val="000000"/>
                  </a:solidFill>
                  <a:latin typeface="Times New Roman" panose="02020603050405020304" pitchFamily="18" charset="0"/>
                </a:rPr>
                <a:t> ID</a:t>
              </a:r>
              <a:r>
                <a:rPr lang="en-US" altLang="zh-CN" sz="2000" b="1" baseline="-25000">
                  <a:solidFill>
                    <a:srgbClr val="000000"/>
                  </a:solidFill>
                  <a:latin typeface="Times New Roman" panose="02020603050405020304" pitchFamily="18" charset="0"/>
                </a:rPr>
                <a:t>C</a:t>
              </a:r>
              <a:r>
                <a:rPr lang="en-US" altLang="zh-CN" sz="2000" b="1">
                  <a:solidFill>
                    <a:srgbClr val="000000"/>
                  </a:solidFill>
                  <a:latin typeface="Times New Roman" panose="02020603050405020304" pitchFamily="18" charset="0"/>
                </a:rPr>
                <a:t> , Ticket</a:t>
              </a:r>
            </a:p>
          </p:txBody>
        </p:sp>
      </p:grpSp>
      <p:sp>
        <p:nvSpPr>
          <p:cNvPr id="56331" name="Text Box 17"/>
          <p:cNvSpPr txBox="1">
            <a:spLocks noChangeArrowheads="1"/>
          </p:cNvSpPr>
          <p:nvPr/>
        </p:nvSpPr>
        <p:spPr bwMode="auto">
          <a:xfrm>
            <a:off x="2855913" y="5308601"/>
            <a:ext cx="2303462"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的标识</a:t>
            </a:r>
          </a:p>
          <a:p>
            <a:pPr eaLnBrk="1" hangingPunct="1">
              <a:spcBef>
                <a:spcPct val="50000"/>
              </a:spcBef>
            </a:pPr>
            <a:r>
              <a:rPr lang="en-US" altLang="zh-CN" sz="1400" b="1">
                <a:solidFill>
                  <a:srgbClr val="000000"/>
                </a:solidFill>
                <a:latin typeface="Times New Roman" panose="02020603050405020304" pitchFamily="18" charset="0"/>
              </a:rPr>
              <a:t>P</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t>
            </a:r>
            <a:r>
              <a:rPr lang="zh-CN" altLang="en-US" sz="1400" b="1">
                <a:solidFill>
                  <a:srgbClr val="000000"/>
                </a:solidFill>
                <a:latin typeface="Times New Roman" panose="02020603050405020304" pitchFamily="18" charset="0"/>
              </a:rPr>
              <a:t>：用户口令</a:t>
            </a:r>
          </a:p>
          <a:p>
            <a:pPr eaLnBrk="1" hangingPunct="1">
              <a:spcBef>
                <a:spcPct val="50000"/>
              </a:spcBef>
            </a:pP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：服务器标识</a:t>
            </a:r>
          </a:p>
          <a:p>
            <a:pPr eaLnBrk="1" hangingPunct="1">
              <a:spcBef>
                <a:spcPct val="50000"/>
              </a:spcBef>
            </a:pPr>
            <a:r>
              <a:rPr lang="en-US" altLang="zh-CN" sz="1400" b="1">
                <a:solidFill>
                  <a:srgbClr val="000000"/>
                </a:solidFill>
                <a:highlight>
                  <a:srgbClr val="FFFF00"/>
                </a:highlight>
                <a:latin typeface="Times New Roman" panose="02020603050405020304" pitchFamily="18" charset="0"/>
              </a:rPr>
              <a:t>AD</a:t>
            </a:r>
            <a:r>
              <a:rPr lang="en-US" altLang="zh-CN" sz="1400" b="1" baseline="-25000">
                <a:solidFill>
                  <a:srgbClr val="000000"/>
                </a:solidFill>
                <a:highlight>
                  <a:srgbClr val="FFFF00"/>
                </a:highlight>
                <a:latin typeface="Times New Roman" panose="02020603050405020304" pitchFamily="18" charset="0"/>
              </a:rPr>
              <a:t>C</a:t>
            </a:r>
            <a:r>
              <a:rPr lang="zh-CN" altLang="en-US" sz="1400" b="1">
                <a:solidFill>
                  <a:srgbClr val="000000"/>
                </a:solidFill>
                <a:highlight>
                  <a:srgbClr val="FFFF00"/>
                </a:highlight>
                <a:latin typeface="Times New Roman" panose="02020603050405020304" pitchFamily="18" charset="0"/>
              </a:rPr>
              <a:t>：用户网络地址</a:t>
            </a:r>
          </a:p>
        </p:txBody>
      </p:sp>
      <p:sp>
        <p:nvSpPr>
          <p:cNvPr id="259090" name="Text Box 18" descr="轮廓式菱形"/>
          <p:cNvSpPr txBox="1">
            <a:spLocks noChangeArrowheads="1"/>
          </p:cNvSpPr>
          <p:nvPr/>
        </p:nvSpPr>
        <p:spPr bwMode="auto">
          <a:xfrm>
            <a:off x="7824788" y="1268414"/>
            <a:ext cx="2519362" cy="1384995"/>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00"/>
                </a:solidFill>
                <a:latin typeface="Times New Roman" panose="02020603050405020304" pitchFamily="18" charset="0"/>
              </a:rPr>
              <a:t>搜索数据库看用户是否合法</a:t>
            </a:r>
          </a:p>
          <a:p>
            <a:pPr eaLnBrk="1" hangingPunct="1">
              <a:spcBef>
                <a:spcPct val="50000"/>
              </a:spcBef>
            </a:pPr>
            <a:r>
              <a:rPr lang="zh-CN" altLang="en-US" sz="1400" b="1">
                <a:solidFill>
                  <a:srgbClr val="000000"/>
                </a:solidFill>
                <a:latin typeface="Times New Roman" panose="02020603050405020304" pitchFamily="18" charset="0"/>
              </a:rPr>
              <a:t>如果合法，验证用户口令是否正确</a:t>
            </a:r>
          </a:p>
          <a:p>
            <a:pPr eaLnBrk="1" hangingPunct="1">
              <a:spcBef>
                <a:spcPct val="50000"/>
              </a:spcBef>
            </a:pPr>
            <a:r>
              <a:rPr lang="zh-CN" altLang="en-US" sz="1400" b="1">
                <a:solidFill>
                  <a:srgbClr val="000000"/>
                </a:solidFill>
                <a:latin typeface="Times New Roman" panose="02020603050405020304" pitchFamily="18" charset="0"/>
              </a:rPr>
              <a:t>如果口令正确，检查是否有权限访问服务器</a:t>
            </a:r>
            <a:r>
              <a:rPr lang="en-US" altLang="zh-CN" sz="1400" b="1">
                <a:solidFill>
                  <a:srgbClr val="000000"/>
                </a:solidFill>
                <a:latin typeface="Times New Roman" panose="02020603050405020304" pitchFamily="18" charset="0"/>
              </a:rPr>
              <a:t>V</a:t>
            </a:r>
          </a:p>
        </p:txBody>
      </p:sp>
      <p:sp>
        <p:nvSpPr>
          <p:cNvPr id="259091" name="Text Box 19" descr="轮廓式菱形"/>
          <p:cNvSpPr txBox="1">
            <a:spLocks noChangeArrowheads="1"/>
          </p:cNvSpPr>
          <p:nvPr/>
        </p:nvSpPr>
        <p:spPr bwMode="auto">
          <a:xfrm>
            <a:off x="7751763" y="3716338"/>
            <a:ext cx="2519362" cy="1600438"/>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00"/>
                </a:solidFill>
                <a:latin typeface="Times New Roman" panose="02020603050405020304" pitchFamily="18" charset="0"/>
              </a:rPr>
              <a:t>用与</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共享密钥解密票据</a:t>
            </a:r>
          </a:p>
          <a:p>
            <a:pPr eaLnBrk="1" hangingPunct="1">
              <a:spcBef>
                <a:spcPct val="50000"/>
              </a:spcBef>
            </a:pPr>
            <a:r>
              <a:rPr lang="zh-CN" altLang="en-US" sz="1400" b="1">
                <a:solidFill>
                  <a:srgbClr val="000000"/>
                </a:solidFill>
                <a:latin typeface="Times New Roman" panose="02020603050405020304" pitchFamily="18" charset="0"/>
              </a:rPr>
              <a:t>检查票据中的用户标识与网络地址是否与用户发送的标识及其地址相同</a:t>
            </a:r>
          </a:p>
          <a:p>
            <a:pPr eaLnBrk="1" hangingPunct="1">
              <a:spcBef>
                <a:spcPct val="50000"/>
              </a:spcBef>
            </a:pPr>
            <a:r>
              <a:rPr lang="zh-CN" altLang="en-US" sz="1400" b="1">
                <a:solidFill>
                  <a:srgbClr val="000000"/>
                </a:solidFill>
                <a:latin typeface="Times New Roman" panose="02020603050405020304" pitchFamily="18" charset="0"/>
              </a:rPr>
              <a:t>如果相同，票据有效，认证通过</a:t>
            </a:r>
          </a:p>
        </p:txBody>
      </p:sp>
      <p:sp>
        <p:nvSpPr>
          <p:cNvPr id="56334" name="Text Box 20"/>
          <p:cNvSpPr txBox="1">
            <a:spLocks noChangeArrowheads="1"/>
          </p:cNvSpPr>
          <p:nvPr/>
        </p:nvSpPr>
        <p:spPr bwMode="auto">
          <a:xfrm>
            <a:off x="2711451" y="4437063"/>
            <a:ext cx="136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p>
        </p:txBody>
      </p:sp>
      <p:sp>
        <p:nvSpPr>
          <p:cNvPr id="56335" name="Text Box 21"/>
          <p:cNvSpPr txBox="1">
            <a:spLocks noChangeArrowheads="1"/>
          </p:cNvSpPr>
          <p:nvPr/>
        </p:nvSpPr>
        <p:spPr bwMode="auto">
          <a:xfrm>
            <a:off x="6456364" y="1773238"/>
            <a:ext cx="136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p>
        </p:txBody>
      </p:sp>
      <p:sp>
        <p:nvSpPr>
          <p:cNvPr id="56336" name="Text Box 22"/>
          <p:cNvSpPr txBox="1">
            <a:spLocks noChangeArrowheads="1"/>
          </p:cNvSpPr>
          <p:nvPr/>
        </p:nvSpPr>
        <p:spPr bwMode="auto">
          <a:xfrm>
            <a:off x="6456364" y="4508500"/>
            <a:ext cx="136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应用服务器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59090"/>
                                        </p:tgtEl>
                                        <p:attrNameLst>
                                          <p:attrName>style.visibility</p:attrName>
                                        </p:attrNameLst>
                                      </p:cBhvr>
                                      <p:to>
                                        <p:strVal val="visible"/>
                                      </p:to>
                                    </p:set>
                                    <p:anim calcmode="lin" valueType="num">
                                      <p:cBhvr additive="base">
                                        <p:cTn id="13" dur="500" fill="hold"/>
                                        <p:tgtEl>
                                          <p:spTgt spid="259090"/>
                                        </p:tgtEl>
                                        <p:attrNameLst>
                                          <p:attrName>ppt_x</p:attrName>
                                        </p:attrNameLst>
                                      </p:cBhvr>
                                      <p:tavLst>
                                        <p:tav tm="0">
                                          <p:val>
                                            <p:strVal val="1+#ppt_w/2"/>
                                          </p:val>
                                        </p:tav>
                                        <p:tav tm="100000">
                                          <p:val>
                                            <p:strVal val="#ppt_x"/>
                                          </p:val>
                                        </p:tav>
                                      </p:tavLst>
                                    </p:anim>
                                    <p:anim calcmode="lin" valueType="num">
                                      <p:cBhvr additive="base">
                                        <p:cTn id="14" dur="500" fill="hold"/>
                                        <p:tgtEl>
                                          <p:spTgt spid="25909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3"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0-#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259076"/>
                                        </p:tgtEl>
                                        <p:attrNameLst>
                                          <p:attrName>style.visibility</p:attrName>
                                        </p:attrNameLst>
                                      </p:cBhvr>
                                      <p:to>
                                        <p:strVal val="visible"/>
                                      </p:to>
                                    </p:set>
                                    <p:anim calcmode="lin" valueType="num">
                                      <p:cBhvr additive="base">
                                        <p:cTn id="24" dur="500" fill="hold"/>
                                        <p:tgtEl>
                                          <p:spTgt spid="259076"/>
                                        </p:tgtEl>
                                        <p:attrNameLst>
                                          <p:attrName>ppt_x</p:attrName>
                                        </p:attrNameLst>
                                      </p:cBhvr>
                                      <p:tavLst>
                                        <p:tav tm="0">
                                          <p:val>
                                            <p:strVal val="#ppt_x"/>
                                          </p:val>
                                        </p:tav>
                                        <p:tav tm="100000">
                                          <p:val>
                                            <p:strVal val="#ppt_x"/>
                                          </p:val>
                                        </p:tav>
                                      </p:tavLst>
                                    </p:anim>
                                    <p:anim calcmode="lin" valueType="num">
                                      <p:cBhvr additive="base">
                                        <p:cTn id="25" dur="500" fill="hold"/>
                                        <p:tgtEl>
                                          <p:spTgt spid="25907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0-#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259091"/>
                                        </p:tgtEl>
                                        <p:attrNameLst>
                                          <p:attrName>style.visibility</p:attrName>
                                        </p:attrNameLst>
                                      </p:cBhvr>
                                      <p:to>
                                        <p:strVal val="visible"/>
                                      </p:to>
                                    </p:set>
                                    <p:anim calcmode="lin" valueType="num">
                                      <p:cBhvr additive="base">
                                        <p:cTn id="36" dur="500" fill="hold"/>
                                        <p:tgtEl>
                                          <p:spTgt spid="259091"/>
                                        </p:tgtEl>
                                        <p:attrNameLst>
                                          <p:attrName>ppt_x</p:attrName>
                                        </p:attrNameLst>
                                      </p:cBhvr>
                                      <p:tavLst>
                                        <p:tav tm="0">
                                          <p:val>
                                            <p:strVal val="1+#ppt_w/2"/>
                                          </p:val>
                                        </p:tav>
                                        <p:tav tm="100000">
                                          <p:val>
                                            <p:strVal val="#ppt_x"/>
                                          </p:val>
                                        </p:tav>
                                      </p:tavLst>
                                    </p:anim>
                                    <p:anim calcmode="lin" valueType="num">
                                      <p:cBhvr additive="base">
                                        <p:cTn id="37" dur="500" fill="hold"/>
                                        <p:tgtEl>
                                          <p:spTgt spid="259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6" grpId="0"/>
      <p:bldP spid="259090" grpId="0" animBg="1"/>
      <p:bldP spid="25909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351808" y="313874"/>
            <a:ext cx="7543800" cy="930275"/>
          </a:xfrm>
        </p:spPr>
        <p:txBody>
          <a:bodyPr/>
          <a:lstStyle/>
          <a:p>
            <a:pPr eaLnBrk="1" hangingPunct="1"/>
            <a:r>
              <a:rPr lang="en-US" altLang="zh-CN" sz="4400" dirty="0">
                <a:latin typeface="Times New Roman" panose="02020603050405020304" pitchFamily="18" charset="0"/>
              </a:rPr>
              <a:t>Kerberos</a:t>
            </a:r>
            <a:r>
              <a:rPr lang="zh-CN" altLang="en-US" sz="4400" dirty="0">
                <a:latin typeface="Times New Roman" panose="02020603050405020304" pitchFamily="18" charset="0"/>
              </a:rPr>
              <a:t>设计思路（续）</a:t>
            </a:r>
          </a:p>
        </p:txBody>
      </p:sp>
      <p:grpSp>
        <p:nvGrpSpPr>
          <p:cNvPr id="57347" name="Group 3"/>
          <p:cNvGrpSpPr/>
          <p:nvPr/>
        </p:nvGrpSpPr>
        <p:grpSpPr bwMode="auto">
          <a:xfrm>
            <a:off x="7032625" y="4132264"/>
            <a:ext cx="1512888" cy="1081087"/>
            <a:chOff x="3515" y="2931"/>
            <a:chExt cx="953" cy="681"/>
          </a:xfrm>
        </p:grpSpPr>
        <p:sp>
          <p:nvSpPr>
            <p:cNvPr id="57381" name="Line 4"/>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2" name="Line 5"/>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3" name="Line 6"/>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4" name="Line 7"/>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5" name="Line 8"/>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6" name="Line 9"/>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7" name="Line 10"/>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8" name="Line 11"/>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9" name="Line 12"/>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90" name="Line 13"/>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91" name="Line 14"/>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92" name="Line 15"/>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93" name="Line 16"/>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94" name="Line 17"/>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57348" name="Text Box 18"/>
          <p:cNvSpPr txBox="1">
            <a:spLocks noChangeArrowheads="1"/>
          </p:cNvSpPr>
          <p:nvPr/>
        </p:nvSpPr>
        <p:spPr bwMode="auto">
          <a:xfrm>
            <a:off x="6816726" y="528478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电影院</a:t>
            </a:r>
          </a:p>
        </p:txBody>
      </p:sp>
      <p:grpSp>
        <p:nvGrpSpPr>
          <p:cNvPr id="57349" name="Group 19"/>
          <p:cNvGrpSpPr/>
          <p:nvPr/>
        </p:nvGrpSpPr>
        <p:grpSpPr bwMode="auto">
          <a:xfrm>
            <a:off x="3000375" y="4348163"/>
            <a:ext cx="863600" cy="1008062"/>
            <a:chOff x="930" y="1933"/>
            <a:chExt cx="499" cy="817"/>
          </a:xfrm>
        </p:grpSpPr>
        <p:sp>
          <p:nvSpPr>
            <p:cNvPr id="57376" name="Oval 20"/>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7377" name="Line 21"/>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78" name="Line 22"/>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79" name="Line 23"/>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80" name="Line 24"/>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4" name="Group 25"/>
          <p:cNvGrpSpPr/>
          <p:nvPr/>
        </p:nvGrpSpPr>
        <p:grpSpPr bwMode="auto">
          <a:xfrm>
            <a:off x="2495551" y="2619376"/>
            <a:ext cx="1152525" cy="1585913"/>
            <a:chOff x="612" y="1570"/>
            <a:chExt cx="726" cy="999"/>
          </a:xfrm>
        </p:grpSpPr>
        <p:sp>
          <p:nvSpPr>
            <p:cNvPr id="57374" name="Line 26"/>
            <p:cNvSpPr>
              <a:spLocks noChangeShapeType="1"/>
            </p:cNvSpPr>
            <p:nvPr/>
          </p:nvSpPr>
          <p:spPr bwMode="auto">
            <a:xfrm flipV="1">
              <a:off x="1247" y="1570"/>
              <a:ext cx="0" cy="999"/>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7375" name="Text Box 27"/>
            <p:cNvSpPr txBox="1">
              <a:spLocks noChangeArrowheads="1"/>
            </p:cNvSpPr>
            <p:nvPr/>
          </p:nvSpPr>
          <p:spPr bwMode="auto">
            <a:xfrm>
              <a:off x="612" y="1842"/>
              <a:ext cx="7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我要买票</a:t>
              </a:r>
            </a:p>
          </p:txBody>
        </p:sp>
      </p:grpSp>
      <p:grpSp>
        <p:nvGrpSpPr>
          <p:cNvPr id="57351" name="Group 28"/>
          <p:cNvGrpSpPr/>
          <p:nvPr/>
        </p:nvGrpSpPr>
        <p:grpSpPr bwMode="auto">
          <a:xfrm>
            <a:off x="3000375" y="1252539"/>
            <a:ext cx="1512888" cy="1081087"/>
            <a:chOff x="2064" y="618"/>
            <a:chExt cx="953" cy="681"/>
          </a:xfrm>
        </p:grpSpPr>
        <p:sp>
          <p:nvSpPr>
            <p:cNvPr id="57360" name="Line 29"/>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1" name="Line 30"/>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2" name="Line 31"/>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3" name="Line 32"/>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4" name="Line 33"/>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5" name="Line 34"/>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6" name="Line 35"/>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7" name="Line 36"/>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8" name="Line 37"/>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69" name="Line 38"/>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70" name="Line 39"/>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71" name="Line 40"/>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72" name="Line 41"/>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7373" name="Line 42"/>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 name="Group 43"/>
          <p:cNvGrpSpPr/>
          <p:nvPr/>
        </p:nvGrpSpPr>
        <p:grpSpPr bwMode="auto">
          <a:xfrm>
            <a:off x="3935414" y="2692400"/>
            <a:ext cx="1368425" cy="1511300"/>
            <a:chOff x="1519" y="1616"/>
            <a:chExt cx="862" cy="952"/>
          </a:xfrm>
        </p:grpSpPr>
        <p:sp>
          <p:nvSpPr>
            <p:cNvPr id="57358" name="Line 44"/>
            <p:cNvSpPr>
              <a:spLocks noChangeShapeType="1"/>
            </p:cNvSpPr>
            <p:nvPr/>
          </p:nvSpPr>
          <p:spPr bwMode="auto">
            <a:xfrm>
              <a:off x="1519"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7359" name="Text Box 45"/>
            <p:cNvSpPr txBox="1">
              <a:spLocks noChangeArrowheads="1"/>
            </p:cNvSpPr>
            <p:nvPr/>
          </p:nvSpPr>
          <p:spPr bwMode="auto">
            <a:xfrm>
              <a:off x="1519" y="1616"/>
              <a:ext cx="8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你的电影票</a:t>
              </a:r>
            </a:p>
          </p:txBody>
        </p:sp>
      </p:grpSp>
      <p:grpSp>
        <p:nvGrpSpPr>
          <p:cNvPr id="7" name="Group 46"/>
          <p:cNvGrpSpPr/>
          <p:nvPr/>
        </p:nvGrpSpPr>
        <p:grpSpPr bwMode="auto">
          <a:xfrm>
            <a:off x="4081464" y="4348163"/>
            <a:ext cx="2879725" cy="431800"/>
            <a:chOff x="1611" y="2659"/>
            <a:chExt cx="1814" cy="272"/>
          </a:xfrm>
        </p:grpSpPr>
        <p:sp>
          <p:nvSpPr>
            <p:cNvPr id="57356" name="Line 47"/>
            <p:cNvSpPr>
              <a:spLocks noChangeShapeType="1"/>
            </p:cNvSpPr>
            <p:nvPr/>
          </p:nvSpPr>
          <p:spPr bwMode="auto">
            <a:xfrm>
              <a:off x="1611" y="2931"/>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7357" name="Text Box 48"/>
            <p:cNvSpPr txBox="1">
              <a:spLocks noChangeArrowheads="1"/>
            </p:cNvSpPr>
            <p:nvPr/>
          </p:nvSpPr>
          <p:spPr bwMode="auto">
            <a:xfrm>
              <a:off x="2200" y="2659"/>
              <a:ext cx="10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这是我的电影票</a:t>
              </a:r>
            </a:p>
          </p:txBody>
        </p:sp>
      </p:grpSp>
      <p:sp>
        <p:nvSpPr>
          <p:cNvPr id="57354" name="Text Box 49"/>
          <p:cNvSpPr txBox="1">
            <a:spLocks noChangeArrowheads="1"/>
          </p:cNvSpPr>
          <p:nvPr/>
        </p:nvSpPr>
        <p:spPr bwMode="auto">
          <a:xfrm>
            <a:off x="2782889" y="23320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电影院售票处</a:t>
            </a:r>
          </a:p>
        </p:txBody>
      </p:sp>
      <p:sp>
        <p:nvSpPr>
          <p:cNvPr id="57355" name="Text Box 50"/>
          <p:cNvSpPr txBox="1">
            <a:spLocks noChangeArrowheads="1"/>
          </p:cNvSpPr>
          <p:nvPr/>
        </p:nvSpPr>
        <p:spPr bwMode="auto">
          <a:xfrm>
            <a:off x="2640014" y="53562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观众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58371" name="Group 3"/>
          <p:cNvGrpSpPr/>
          <p:nvPr/>
        </p:nvGrpSpPr>
        <p:grpSpPr bwMode="auto">
          <a:xfrm>
            <a:off x="7032625" y="4779964"/>
            <a:ext cx="1512888" cy="1081087"/>
            <a:chOff x="3515" y="2931"/>
            <a:chExt cx="953" cy="681"/>
          </a:xfrm>
        </p:grpSpPr>
        <p:sp>
          <p:nvSpPr>
            <p:cNvPr id="58407" name="Line 4"/>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08" name="Line 5"/>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09" name="Line 6"/>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0" name="Line 7"/>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1" name="Line 8"/>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2" name="Line 9"/>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3" name="Line 10"/>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4" name="Line 11"/>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5" name="Line 12"/>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6" name="Line 13"/>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7" name="Line 14"/>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8" name="Line 15"/>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19" name="Line 16"/>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20" name="Line 17"/>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58372" name="Text Box 18"/>
          <p:cNvSpPr txBox="1">
            <a:spLocks noChangeArrowheads="1"/>
          </p:cNvSpPr>
          <p:nvPr/>
        </p:nvSpPr>
        <p:spPr bwMode="auto">
          <a:xfrm>
            <a:off x="6816726" y="593248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a:t>
            </a:r>
          </a:p>
        </p:txBody>
      </p:sp>
      <p:grpSp>
        <p:nvGrpSpPr>
          <p:cNvPr id="58373" name="Group 19"/>
          <p:cNvGrpSpPr/>
          <p:nvPr/>
        </p:nvGrpSpPr>
        <p:grpSpPr bwMode="auto">
          <a:xfrm>
            <a:off x="3000375" y="4492626"/>
            <a:ext cx="863600" cy="1008063"/>
            <a:chOff x="930" y="1933"/>
            <a:chExt cx="499" cy="817"/>
          </a:xfrm>
        </p:grpSpPr>
        <p:sp>
          <p:nvSpPr>
            <p:cNvPr id="58402" name="Oval 20"/>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403" name="Line 21"/>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04" name="Line 22"/>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05" name="Line 23"/>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406" name="Line 24"/>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4" name="Group 25"/>
          <p:cNvGrpSpPr/>
          <p:nvPr/>
        </p:nvGrpSpPr>
        <p:grpSpPr bwMode="auto">
          <a:xfrm>
            <a:off x="2495551" y="2763838"/>
            <a:ext cx="1152525" cy="1585912"/>
            <a:chOff x="612" y="1570"/>
            <a:chExt cx="726" cy="999"/>
          </a:xfrm>
        </p:grpSpPr>
        <p:sp>
          <p:nvSpPr>
            <p:cNvPr id="58400" name="Line 26"/>
            <p:cNvSpPr>
              <a:spLocks noChangeShapeType="1"/>
            </p:cNvSpPr>
            <p:nvPr/>
          </p:nvSpPr>
          <p:spPr bwMode="auto">
            <a:xfrm flipV="1">
              <a:off x="1247" y="1570"/>
              <a:ext cx="0" cy="999"/>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8401" name="Text Box 27"/>
            <p:cNvSpPr txBox="1">
              <a:spLocks noChangeArrowheads="1"/>
            </p:cNvSpPr>
            <p:nvPr/>
          </p:nvSpPr>
          <p:spPr bwMode="auto">
            <a:xfrm>
              <a:off x="612" y="1842"/>
              <a:ext cx="726"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00"/>
                  </a:solidFill>
                </a:rPr>
                <a:t>我要买票，这是我的信用卡密码</a:t>
              </a:r>
            </a:p>
          </p:txBody>
        </p:sp>
      </p:grpSp>
      <p:grpSp>
        <p:nvGrpSpPr>
          <p:cNvPr id="58375" name="Group 28"/>
          <p:cNvGrpSpPr/>
          <p:nvPr/>
        </p:nvGrpSpPr>
        <p:grpSpPr bwMode="auto">
          <a:xfrm>
            <a:off x="3000375" y="1339850"/>
            <a:ext cx="1512888" cy="1081088"/>
            <a:chOff x="2064" y="618"/>
            <a:chExt cx="953" cy="681"/>
          </a:xfrm>
        </p:grpSpPr>
        <p:sp>
          <p:nvSpPr>
            <p:cNvPr id="58386" name="Line 29"/>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87" name="Line 30"/>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88" name="Line 31"/>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89" name="Line 32"/>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0" name="Line 33"/>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1" name="Line 34"/>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2" name="Line 35"/>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3" name="Line 36"/>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4" name="Line 37"/>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5" name="Line 38"/>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6" name="Line 39"/>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7" name="Line 40"/>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8" name="Line 41"/>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8399" name="Line 42"/>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 name="Group 43"/>
          <p:cNvGrpSpPr/>
          <p:nvPr/>
        </p:nvGrpSpPr>
        <p:grpSpPr bwMode="auto">
          <a:xfrm>
            <a:off x="3935414" y="2836863"/>
            <a:ext cx="1368425" cy="1511300"/>
            <a:chOff x="1519" y="1616"/>
            <a:chExt cx="862" cy="952"/>
          </a:xfrm>
        </p:grpSpPr>
        <p:sp>
          <p:nvSpPr>
            <p:cNvPr id="58384" name="Line 44"/>
            <p:cNvSpPr>
              <a:spLocks noChangeShapeType="1"/>
            </p:cNvSpPr>
            <p:nvPr/>
          </p:nvSpPr>
          <p:spPr bwMode="auto">
            <a:xfrm>
              <a:off x="1519"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8385" name="Text Box 45"/>
            <p:cNvSpPr txBox="1">
              <a:spLocks noChangeArrowheads="1"/>
            </p:cNvSpPr>
            <p:nvPr/>
          </p:nvSpPr>
          <p:spPr bwMode="auto">
            <a:xfrm>
              <a:off x="1519" y="1616"/>
              <a:ext cx="8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你的电影票</a:t>
              </a:r>
            </a:p>
          </p:txBody>
        </p:sp>
      </p:grpSp>
      <p:grpSp>
        <p:nvGrpSpPr>
          <p:cNvPr id="7" name="Group 46"/>
          <p:cNvGrpSpPr/>
          <p:nvPr/>
        </p:nvGrpSpPr>
        <p:grpSpPr bwMode="auto">
          <a:xfrm>
            <a:off x="4081464" y="4995863"/>
            <a:ext cx="2879725" cy="431800"/>
            <a:chOff x="1611" y="2976"/>
            <a:chExt cx="1814" cy="272"/>
          </a:xfrm>
        </p:grpSpPr>
        <p:sp>
          <p:nvSpPr>
            <p:cNvPr id="58382" name="Line 47"/>
            <p:cNvSpPr>
              <a:spLocks noChangeShapeType="1"/>
            </p:cNvSpPr>
            <p:nvPr/>
          </p:nvSpPr>
          <p:spPr bwMode="auto">
            <a:xfrm>
              <a:off x="1611" y="3248"/>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8383" name="Text Box 48"/>
            <p:cNvSpPr txBox="1">
              <a:spLocks noChangeArrowheads="1"/>
            </p:cNvSpPr>
            <p:nvPr/>
          </p:nvSpPr>
          <p:spPr bwMode="auto">
            <a:xfrm>
              <a:off x="2200" y="2976"/>
              <a:ext cx="10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这是我的电影票</a:t>
              </a:r>
            </a:p>
          </p:txBody>
        </p:sp>
      </p:grpSp>
      <p:sp>
        <p:nvSpPr>
          <p:cNvPr id="58378" name="Text Box 49"/>
          <p:cNvSpPr txBox="1">
            <a:spLocks noChangeArrowheads="1"/>
          </p:cNvSpPr>
          <p:nvPr/>
        </p:nvSpPr>
        <p:spPr bwMode="auto">
          <a:xfrm>
            <a:off x="2782889" y="247650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电影院售票处</a:t>
            </a:r>
          </a:p>
        </p:txBody>
      </p:sp>
      <p:sp>
        <p:nvSpPr>
          <p:cNvPr id="58379" name="Text Box 50"/>
          <p:cNvSpPr txBox="1">
            <a:spLocks noChangeArrowheads="1"/>
          </p:cNvSpPr>
          <p:nvPr/>
        </p:nvSpPr>
        <p:spPr bwMode="auto">
          <a:xfrm>
            <a:off x="2640014" y="550068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观众</a:t>
            </a:r>
          </a:p>
        </p:txBody>
      </p:sp>
      <p:sp>
        <p:nvSpPr>
          <p:cNvPr id="263219" name="Text Box 51" descr="轮廓式菱形"/>
          <p:cNvSpPr txBox="1">
            <a:spLocks noChangeArrowheads="1"/>
          </p:cNvSpPr>
          <p:nvPr/>
        </p:nvSpPr>
        <p:spPr bwMode="auto">
          <a:xfrm>
            <a:off x="5880100" y="2692401"/>
            <a:ext cx="4103688" cy="396875"/>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FF0000"/>
                </a:solidFill>
              </a:rPr>
              <a:t>问题之一：信用卡问题</a:t>
            </a:r>
          </a:p>
        </p:txBody>
      </p:sp>
      <p:sp>
        <p:nvSpPr>
          <p:cNvPr id="58381" name="Text Box 52" descr="轮廓式菱形"/>
          <p:cNvSpPr txBox="1">
            <a:spLocks noChangeArrowheads="1"/>
          </p:cNvSpPr>
          <p:nvPr/>
        </p:nvSpPr>
        <p:spPr bwMode="auto">
          <a:xfrm>
            <a:off x="5880100" y="1482726"/>
            <a:ext cx="4103688" cy="854075"/>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0000"/>
                </a:solidFill>
              </a:rPr>
              <a:t>问题：如何买票</a:t>
            </a:r>
          </a:p>
          <a:p>
            <a:pPr eaLnBrk="1" hangingPunct="1">
              <a:spcBef>
                <a:spcPct val="50000"/>
              </a:spcBef>
            </a:pPr>
            <a:r>
              <a:rPr lang="zh-CN" altLang="en-US" sz="2000" b="1">
                <a:solidFill>
                  <a:srgbClr val="000000"/>
                </a:solidFill>
              </a:rPr>
              <a:t>答案：出示信用卡卡号和密码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par>
                          <p:cTn id="32" fill="hold">
                            <p:stCondLst>
                              <p:cond delay="1000"/>
                            </p:stCondLst>
                            <p:childTnLst>
                              <p:par>
                                <p:cTn id="33" presetID="2" presetClass="entr" presetSubtype="4"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2" presetClass="entr" presetSubtype="4" fill="hold" nodeType="after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childTnLst>
                          </p:cTn>
                        </p:par>
                        <p:par>
                          <p:cTn id="42" fill="hold">
                            <p:stCondLst>
                              <p:cond delay="2000"/>
                            </p:stCondLst>
                            <p:childTnLst>
                              <p:par>
                                <p:cTn id="43" presetID="2" presetClass="entr" presetSubtype="4" fill="hold" nodeType="after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additive="base">
                                        <p:cTn id="45" dur="500" fill="hold"/>
                                        <p:tgtEl>
                                          <p:spTgt spid="4"/>
                                        </p:tgtEl>
                                        <p:attrNameLst>
                                          <p:attrName>ppt_x</p:attrName>
                                        </p:attrNameLst>
                                      </p:cBhvr>
                                      <p:tavLst>
                                        <p:tav tm="0">
                                          <p:val>
                                            <p:strVal val="#ppt_x"/>
                                          </p:val>
                                        </p:tav>
                                        <p:tav tm="100000">
                                          <p:val>
                                            <p:strVal val="#ppt_x"/>
                                          </p:val>
                                        </p:tav>
                                      </p:tavLst>
                                    </p:anim>
                                    <p:anim calcmode="lin" valueType="num">
                                      <p:cBhvr additive="base">
                                        <p:cTn id="46" dur="500" fill="hold"/>
                                        <p:tgtEl>
                                          <p:spTgt spid="4"/>
                                        </p:tgtEl>
                                        <p:attrNameLst>
                                          <p:attrName>ppt_y</p:attrName>
                                        </p:attrNameLst>
                                      </p:cBhvr>
                                      <p:tavLst>
                                        <p:tav tm="0">
                                          <p:val>
                                            <p:strVal val="1+#ppt_h/2"/>
                                          </p:val>
                                        </p:tav>
                                        <p:tav tm="100000">
                                          <p:val>
                                            <p:strVal val="#ppt_y"/>
                                          </p:val>
                                        </p:tav>
                                      </p:tavLst>
                                    </p:anim>
                                  </p:childTnLst>
                                </p:cTn>
                              </p:par>
                            </p:childTnLst>
                          </p:cTn>
                        </p:par>
                        <p:par>
                          <p:cTn id="47" fill="hold">
                            <p:stCondLst>
                              <p:cond delay="2500"/>
                            </p:stCondLst>
                            <p:childTnLst>
                              <p:par>
                                <p:cTn id="48" presetID="2" presetClass="entr" presetSubtype="4" fill="hold" nodeType="afterEffect">
                                  <p:stCondLst>
                                    <p:cond delay="0"/>
                                  </p:stCondLst>
                                  <p:childTnLst>
                                    <p:set>
                                      <p:cBhvr>
                                        <p:cTn id="49" dur="1" fill="hold">
                                          <p:stCondLst>
                                            <p:cond delay="0"/>
                                          </p:stCondLst>
                                        </p:cTn>
                                        <p:tgtEl>
                                          <p:spTgt spid="4"/>
                                        </p:tgtEl>
                                        <p:attrNameLst>
                                          <p:attrName>style.visibility</p:attrName>
                                        </p:attrNameLst>
                                      </p:cBhvr>
                                      <p:to>
                                        <p:strVal val="visible"/>
                                      </p:to>
                                    </p:set>
                                    <p:anim calcmode="lin" valueType="num">
                                      <p:cBhvr additive="base">
                                        <p:cTn id="50" dur="500" fill="hold"/>
                                        <p:tgtEl>
                                          <p:spTgt spid="4"/>
                                        </p:tgtEl>
                                        <p:attrNameLst>
                                          <p:attrName>ppt_x</p:attrName>
                                        </p:attrNameLst>
                                      </p:cBhvr>
                                      <p:tavLst>
                                        <p:tav tm="0">
                                          <p:val>
                                            <p:strVal val="#ppt_x"/>
                                          </p:val>
                                        </p:tav>
                                        <p:tav tm="100000">
                                          <p:val>
                                            <p:strVal val="#ppt_x"/>
                                          </p:val>
                                        </p:tav>
                                      </p:tavLst>
                                    </p:anim>
                                    <p:anim calcmode="lin" valueType="num">
                                      <p:cBhvr additive="base">
                                        <p:cTn id="5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263219"/>
                                        </p:tgtEl>
                                        <p:attrNameLst>
                                          <p:attrName>style.visibility</p:attrName>
                                        </p:attrNameLst>
                                      </p:cBhvr>
                                      <p:to>
                                        <p:strVal val="visible"/>
                                      </p:to>
                                    </p:set>
                                    <p:anim calcmode="lin" valueType="num">
                                      <p:cBhvr additive="base">
                                        <p:cTn id="56" dur="500" fill="hold"/>
                                        <p:tgtEl>
                                          <p:spTgt spid="263219"/>
                                        </p:tgtEl>
                                        <p:attrNameLst>
                                          <p:attrName>ppt_x</p:attrName>
                                        </p:attrNameLst>
                                      </p:cBhvr>
                                      <p:tavLst>
                                        <p:tav tm="0">
                                          <p:val>
                                            <p:strVal val="1+#ppt_w/2"/>
                                          </p:val>
                                        </p:tav>
                                        <p:tav tm="100000">
                                          <p:val>
                                            <p:strVal val="#ppt_x"/>
                                          </p:val>
                                        </p:tav>
                                      </p:tavLst>
                                    </p:anim>
                                    <p:anim calcmode="lin" valueType="num">
                                      <p:cBhvr additive="base">
                                        <p:cTn id="57" dur="500" fill="hold"/>
                                        <p:tgtEl>
                                          <p:spTgt spid="2632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21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59395" name="Group 3"/>
          <p:cNvGrpSpPr/>
          <p:nvPr/>
        </p:nvGrpSpPr>
        <p:grpSpPr bwMode="auto">
          <a:xfrm>
            <a:off x="7032625" y="4851400"/>
            <a:ext cx="1512888" cy="1081088"/>
            <a:chOff x="3515" y="2931"/>
            <a:chExt cx="953" cy="681"/>
          </a:xfrm>
        </p:grpSpPr>
        <p:sp>
          <p:nvSpPr>
            <p:cNvPr id="59435" name="Line 4"/>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36" name="Line 5"/>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37" name="Line 6"/>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38" name="Line 7"/>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39" name="Line 8"/>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0" name="Line 9"/>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1" name="Line 10"/>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2" name="Line 11"/>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3" name="Line 12"/>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4" name="Line 13"/>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5" name="Line 14"/>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6" name="Line 15"/>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7" name="Line 16"/>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48" name="Line 17"/>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59396" name="Text Box 18"/>
          <p:cNvSpPr txBox="1">
            <a:spLocks noChangeArrowheads="1"/>
          </p:cNvSpPr>
          <p:nvPr/>
        </p:nvSpPr>
        <p:spPr bwMode="auto">
          <a:xfrm>
            <a:off x="6816726" y="60039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a:t>
            </a:r>
          </a:p>
        </p:txBody>
      </p:sp>
      <p:grpSp>
        <p:nvGrpSpPr>
          <p:cNvPr id="59397" name="Group 19"/>
          <p:cNvGrpSpPr/>
          <p:nvPr/>
        </p:nvGrpSpPr>
        <p:grpSpPr bwMode="auto">
          <a:xfrm>
            <a:off x="3000375" y="4564063"/>
            <a:ext cx="863600" cy="1008062"/>
            <a:chOff x="930" y="1933"/>
            <a:chExt cx="499" cy="817"/>
          </a:xfrm>
        </p:grpSpPr>
        <p:sp>
          <p:nvSpPr>
            <p:cNvPr id="59430" name="Oval 20"/>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9431" name="Line 21"/>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32" name="Line 22"/>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33" name="Line 23"/>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34" name="Line 24"/>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265241" name="Line 25"/>
          <p:cNvSpPr>
            <a:spLocks noChangeShapeType="1"/>
          </p:cNvSpPr>
          <p:nvPr/>
        </p:nvSpPr>
        <p:spPr bwMode="auto">
          <a:xfrm flipV="1">
            <a:off x="3503613" y="2835276"/>
            <a:ext cx="0" cy="1585913"/>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nvGrpSpPr>
          <p:cNvPr id="59399" name="Group 26"/>
          <p:cNvGrpSpPr/>
          <p:nvPr/>
        </p:nvGrpSpPr>
        <p:grpSpPr bwMode="auto">
          <a:xfrm>
            <a:off x="3000375" y="1411289"/>
            <a:ext cx="1512888" cy="1081087"/>
            <a:chOff x="2064" y="618"/>
            <a:chExt cx="953" cy="681"/>
          </a:xfrm>
        </p:grpSpPr>
        <p:sp>
          <p:nvSpPr>
            <p:cNvPr id="59416" name="Line 27"/>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17" name="Line 28"/>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18" name="Line 29"/>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19" name="Line 30"/>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0" name="Line 31"/>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1" name="Line 32"/>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2" name="Line 33"/>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3" name="Line 34"/>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4" name="Line 35"/>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5" name="Line 36"/>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6" name="Line 37"/>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7" name="Line 38"/>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8" name="Line 39"/>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59429" name="Line 40"/>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5" name="Group 41"/>
          <p:cNvGrpSpPr/>
          <p:nvPr/>
        </p:nvGrpSpPr>
        <p:grpSpPr bwMode="auto">
          <a:xfrm>
            <a:off x="3935414" y="2908300"/>
            <a:ext cx="1368425" cy="1511300"/>
            <a:chOff x="1519" y="1616"/>
            <a:chExt cx="862" cy="952"/>
          </a:xfrm>
        </p:grpSpPr>
        <p:sp>
          <p:nvSpPr>
            <p:cNvPr id="59414" name="Line 42"/>
            <p:cNvSpPr>
              <a:spLocks noChangeShapeType="1"/>
            </p:cNvSpPr>
            <p:nvPr/>
          </p:nvSpPr>
          <p:spPr bwMode="auto">
            <a:xfrm>
              <a:off x="1519"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9415" name="Text Box 43"/>
            <p:cNvSpPr txBox="1">
              <a:spLocks noChangeArrowheads="1"/>
            </p:cNvSpPr>
            <p:nvPr/>
          </p:nvSpPr>
          <p:spPr bwMode="auto">
            <a:xfrm>
              <a:off x="1519" y="1616"/>
              <a:ext cx="8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你的电影票</a:t>
              </a:r>
            </a:p>
          </p:txBody>
        </p:sp>
      </p:grpSp>
      <p:grpSp>
        <p:nvGrpSpPr>
          <p:cNvPr id="6" name="Group 44"/>
          <p:cNvGrpSpPr/>
          <p:nvPr/>
        </p:nvGrpSpPr>
        <p:grpSpPr bwMode="auto">
          <a:xfrm>
            <a:off x="4081464" y="4564063"/>
            <a:ext cx="2879725" cy="431800"/>
            <a:chOff x="1611" y="2659"/>
            <a:chExt cx="1814" cy="272"/>
          </a:xfrm>
        </p:grpSpPr>
        <p:sp>
          <p:nvSpPr>
            <p:cNvPr id="59412" name="Line 45"/>
            <p:cNvSpPr>
              <a:spLocks noChangeShapeType="1"/>
            </p:cNvSpPr>
            <p:nvPr/>
          </p:nvSpPr>
          <p:spPr bwMode="auto">
            <a:xfrm>
              <a:off x="1611" y="2931"/>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9413" name="Text Box 46"/>
            <p:cNvSpPr txBox="1">
              <a:spLocks noChangeArrowheads="1"/>
            </p:cNvSpPr>
            <p:nvPr/>
          </p:nvSpPr>
          <p:spPr bwMode="auto">
            <a:xfrm>
              <a:off x="2200" y="2659"/>
              <a:ext cx="10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这是我的电影票</a:t>
              </a:r>
            </a:p>
          </p:txBody>
        </p:sp>
      </p:grpSp>
      <p:sp>
        <p:nvSpPr>
          <p:cNvPr id="59402" name="Text Box 47"/>
          <p:cNvSpPr txBox="1">
            <a:spLocks noChangeArrowheads="1"/>
          </p:cNvSpPr>
          <p:nvPr/>
        </p:nvSpPr>
        <p:spPr bwMode="auto">
          <a:xfrm>
            <a:off x="2782889" y="25479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电影院售票处</a:t>
            </a:r>
          </a:p>
        </p:txBody>
      </p:sp>
      <p:grpSp>
        <p:nvGrpSpPr>
          <p:cNvPr id="7" name="Group 48"/>
          <p:cNvGrpSpPr/>
          <p:nvPr/>
        </p:nvGrpSpPr>
        <p:grpSpPr bwMode="auto">
          <a:xfrm>
            <a:off x="4079876" y="5211763"/>
            <a:ext cx="2879725" cy="431800"/>
            <a:chOff x="1610" y="3067"/>
            <a:chExt cx="1814" cy="272"/>
          </a:xfrm>
        </p:grpSpPr>
        <p:sp>
          <p:nvSpPr>
            <p:cNvPr id="59410" name="Line 49"/>
            <p:cNvSpPr>
              <a:spLocks noChangeShapeType="1"/>
            </p:cNvSpPr>
            <p:nvPr/>
          </p:nvSpPr>
          <p:spPr bwMode="auto">
            <a:xfrm>
              <a:off x="1610" y="3339"/>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9411" name="Text Box 50"/>
            <p:cNvSpPr txBox="1">
              <a:spLocks noChangeArrowheads="1"/>
            </p:cNvSpPr>
            <p:nvPr/>
          </p:nvSpPr>
          <p:spPr bwMode="auto">
            <a:xfrm>
              <a:off x="2200" y="3067"/>
              <a:ext cx="10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这是我的电影票</a:t>
              </a:r>
            </a:p>
          </p:txBody>
        </p:sp>
      </p:grpSp>
      <p:grpSp>
        <p:nvGrpSpPr>
          <p:cNvPr id="8" name="Group 51"/>
          <p:cNvGrpSpPr/>
          <p:nvPr/>
        </p:nvGrpSpPr>
        <p:grpSpPr bwMode="auto">
          <a:xfrm>
            <a:off x="4079876" y="5788025"/>
            <a:ext cx="2879725" cy="431800"/>
            <a:chOff x="1610" y="3430"/>
            <a:chExt cx="1814" cy="272"/>
          </a:xfrm>
        </p:grpSpPr>
        <p:sp>
          <p:nvSpPr>
            <p:cNvPr id="59408" name="Line 52"/>
            <p:cNvSpPr>
              <a:spLocks noChangeShapeType="1"/>
            </p:cNvSpPr>
            <p:nvPr/>
          </p:nvSpPr>
          <p:spPr bwMode="auto">
            <a:xfrm>
              <a:off x="1610" y="3702"/>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59409" name="Text Box 53"/>
            <p:cNvSpPr txBox="1">
              <a:spLocks noChangeArrowheads="1"/>
            </p:cNvSpPr>
            <p:nvPr/>
          </p:nvSpPr>
          <p:spPr bwMode="auto">
            <a:xfrm>
              <a:off x="2200" y="3430"/>
              <a:ext cx="10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这是我的电影票</a:t>
              </a:r>
            </a:p>
          </p:txBody>
        </p:sp>
      </p:grpSp>
      <p:sp>
        <p:nvSpPr>
          <p:cNvPr id="59405" name="Text Box 54"/>
          <p:cNvSpPr txBox="1">
            <a:spLocks noChangeArrowheads="1"/>
          </p:cNvSpPr>
          <p:nvPr/>
        </p:nvSpPr>
        <p:spPr bwMode="auto">
          <a:xfrm>
            <a:off x="2640014" y="55721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观众</a:t>
            </a:r>
          </a:p>
        </p:txBody>
      </p:sp>
      <p:sp>
        <p:nvSpPr>
          <p:cNvPr id="265271" name="Text Box 55" descr="轮廓式菱形"/>
          <p:cNvSpPr txBox="1">
            <a:spLocks noChangeArrowheads="1"/>
          </p:cNvSpPr>
          <p:nvPr/>
        </p:nvSpPr>
        <p:spPr bwMode="auto">
          <a:xfrm>
            <a:off x="6527800" y="2043114"/>
            <a:ext cx="3671888" cy="396875"/>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FF0000"/>
                </a:solidFill>
              </a:rPr>
              <a:t>问题之二：票的有效期问题</a:t>
            </a:r>
          </a:p>
        </p:txBody>
      </p:sp>
      <p:sp>
        <p:nvSpPr>
          <p:cNvPr id="265272" name="Text Box 56"/>
          <p:cNvSpPr txBox="1">
            <a:spLocks noChangeArrowheads="1"/>
          </p:cNvSpPr>
          <p:nvPr/>
        </p:nvSpPr>
        <p:spPr bwMode="auto">
          <a:xfrm>
            <a:off x="2495551" y="3267075"/>
            <a:ext cx="115252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00"/>
                </a:solidFill>
              </a:rPr>
              <a:t>我要买票，这是我的信用卡密码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5272"/>
                                        </p:tgtEl>
                                        <p:attrNameLst>
                                          <p:attrName>style.visibility</p:attrName>
                                        </p:attrNameLst>
                                      </p:cBhvr>
                                      <p:to>
                                        <p:strVal val="visible"/>
                                      </p:to>
                                    </p:set>
                                    <p:anim calcmode="lin" valueType="num">
                                      <p:cBhvr additive="base">
                                        <p:cTn id="7" dur="500" fill="hold"/>
                                        <p:tgtEl>
                                          <p:spTgt spid="265272"/>
                                        </p:tgtEl>
                                        <p:attrNameLst>
                                          <p:attrName>ppt_x</p:attrName>
                                        </p:attrNameLst>
                                      </p:cBhvr>
                                      <p:tavLst>
                                        <p:tav tm="0">
                                          <p:val>
                                            <p:strVal val="#ppt_x"/>
                                          </p:val>
                                        </p:tav>
                                        <p:tav tm="100000">
                                          <p:val>
                                            <p:strVal val="#ppt_x"/>
                                          </p:val>
                                        </p:tav>
                                      </p:tavLst>
                                    </p:anim>
                                    <p:anim calcmode="lin" valueType="num">
                                      <p:cBhvr additive="base">
                                        <p:cTn id="8" dur="500" fill="hold"/>
                                        <p:tgtEl>
                                          <p:spTgt spid="26527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5241"/>
                                        </p:tgtEl>
                                        <p:attrNameLst>
                                          <p:attrName>style.visibility</p:attrName>
                                        </p:attrNameLst>
                                      </p:cBhvr>
                                      <p:to>
                                        <p:strVal val="visible"/>
                                      </p:to>
                                    </p:set>
                                    <p:anim calcmode="lin" valueType="num">
                                      <p:cBhvr additive="base">
                                        <p:cTn id="11" dur="500" fill="hold"/>
                                        <p:tgtEl>
                                          <p:spTgt spid="265241"/>
                                        </p:tgtEl>
                                        <p:attrNameLst>
                                          <p:attrName>ppt_x</p:attrName>
                                        </p:attrNameLst>
                                      </p:cBhvr>
                                      <p:tavLst>
                                        <p:tav tm="0">
                                          <p:val>
                                            <p:strVal val="#ppt_x"/>
                                          </p:val>
                                        </p:tav>
                                        <p:tav tm="100000">
                                          <p:val>
                                            <p:strVal val="#ppt_x"/>
                                          </p:val>
                                        </p:tav>
                                      </p:tavLst>
                                    </p:anim>
                                    <p:anim calcmode="lin" valueType="num">
                                      <p:cBhvr additive="base">
                                        <p:cTn id="12" dur="500" fill="hold"/>
                                        <p:tgtEl>
                                          <p:spTgt spid="26524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0-#ppt_w/2"/>
                                          </p:val>
                                        </p:tav>
                                        <p:tav tm="100000">
                                          <p:val>
                                            <p:strVal val="#ppt_x"/>
                                          </p:val>
                                        </p:tav>
                                      </p:tavLst>
                                    </p:anim>
                                    <p:anim calcmode="lin" valueType="num">
                                      <p:cBhvr additive="base">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0-#ppt_w/2"/>
                                          </p:val>
                                        </p:tav>
                                        <p:tav tm="100000">
                                          <p:val>
                                            <p:strVal val="#ppt_x"/>
                                          </p:val>
                                        </p:tav>
                                      </p:tavLst>
                                    </p:anim>
                                    <p:anim calcmode="lin" valueType="num">
                                      <p:cBhvr additive="base">
                                        <p:cTn id="3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265271"/>
                                        </p:tgtEl>
                                        <p:attrNameLst>
                                          <p:attrName>style.visibility</p:attrName>
                                        </p:attrNameLst>
                                      </p:cBhvr>
                                      <p:to>
                                        <p:strVal val="visible"/>
                                      </p:to>
                                    </p:set>
                                    <p:anim calcmode="lin" valueType="num">
                                      <p:cBhvr additive="base">
                                        <p:cTn id="41" dur="500" fill="hold"/>
                                        <p:tgtEl>
                                          <p:spTgt spid="265271"/>
                                        </p:tgtEl>
                                        <p:attrNameLst>
                                          <p:attrName>ppt_x</p:attrName>
                                        </p:attrNameLst>
                                      </p:cBhvr>
                                      <p:tavLst>
                                        <p:tav tm="0">
                                          <p:val>
                                            <p:strVal val="1+#ppt_w/2"/>
                                          </p:val>
                                        </p:tav>
                                        <p:tav tm="100000">
                                          <p:val>
                                            <p:strVal val="#ppt_x"/>
                                          </p:val>
                                        </p:tav>
                                      </p:tavLst>
                                    </p:anim>
                                    <p:anim calcmode="lin" valueType="num">
                                      <p:cBhvr additive="base">
                                        <p:cTn id="42" dur="500" fill="hold"/>
                                        <p:tgtEl>
                                          <p:spTgt spid="2652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71" grpId="0" animBg="1"/>
      <p:bldP spid="26527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60419" name="Group 3"/>
          <p:cNvGrpSpPr/>
          <p:nvPr/>
        </p:nvGrpSpPr>
        <p:grpSpPr bwMode="auto">
          <a:xfrm>
            <a:off x="7032625" y="4995864"/>
            <a:ext cx="1512888" cy="1081087"/>
            <a:chOff x="3515" y="2931"/>
            <a:chExt cx="953" cy="681"/>
          </a:xfrm>
        </p:grpSpPr>
        <p:sp>
          <p:nvSpPr>
            <p:cNvPr id="60474" name="Line 4"/>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75" name="Line 5"/>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76" name="Line 6"/>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77" name="Line 7"/>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78" name="Line 8"/>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79" name="Line 9"/>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80" name="Line 10"/>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81" name="Line 11"/>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82" name="Line 12"/>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83" name="Line 13"/>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84" name="Line 14"/>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85" name="Line 15"/>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86" name="Line 16"/>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87" name="Line 17"/>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0420" name="Text Box 18"/>
          <p:cNvSpPr txBox="1">
            <a:spLocks noChangeArrowheads="1"/>
          </p:cNvSpPr>
          <p:nvPr/>
        </p:nvSpPr>
        <p:spPr bwMode="auto">
          <a:xfrm>
            <a:off x="6816726" y="614838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电影院甲</a:t>
            </a:r>
          </a:p>
        </p:txBody>
      </p:sp>
      <p:grpSp>
        <p:nvGrpSpPr>
          <p:cNvPr id="60421" name="Group 19"/>
          <p:cNvGrpSpPr/>
          <p:nvPr/>
        </p:nvGrpSpPr>
        <p:grpSpPr bwMode="auto">
          <a:xfrm>
            <a:off x="3000375" y="4708526"/>
            <a:ext cx="863600" cy="1008063"/>
            <a:chOff x="930" y="1933"/>
            <a:chExt cx="499" cy="817"/>
          </a:xfrm>
        </p:grpSpPr>
        <p:sp>
          <p:nvSpPr>
            <p:cNvPr id="60469" name="Oval 20"/>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0470" name="Line 21"/>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71" name="Line 22"/>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72" name="Line 23"/>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73" name="Line 24"/>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0422" name="Group 25"/>
          <p:cNvGrpSpPr/>
          <p:nvPr/>
        </p:nvGrpSpPr>
        <p:grpSpPr bwMode="auto">
          <a:xfrm>
            <a:off x="3000375" y="1612900"/>
            <a:ext cx="1512888" cy="1081088"/>
            <a:chOff x="2064" y="618"/>
            <a:chExt cx="953" cy="681"/>
          </a:xfrm>
        </p:grpSpPr>
        <p:sp>
          <p:nvSpPr>
            <p:cNvPr id="60455" name="Line 26"/>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56" name="Line 27"/>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57" name="Line 28"/>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58" name="Line 29"/>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59" name="Line 30"/>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0" name="Line 31"/>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1" name="Line 32"/>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2" name="Line 33"/>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3" name="Line 34"/>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4" name="Line 35"/>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5" name="Line 36"/>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6" name="Line 37"/>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7" name="Line 38"/>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68" name="Line 39"/>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5" name="Group 40"/>
          <p:cNvGrpSpPr/>
          <p:nvPr/>
        </p:nvGrpSpPr>
        <p:grpSpPr bwMode="auto">
          <a:xfrm>
            <a:off x="3792539" y="3052763"/>
            <a:ext cx="1368425" cy="1511300"/>
            <a:chOff x="1429" y="1616"/>
            <a:chExt cx="862" cy="952"/>
          </a:xfrm>
        </p:grpSpPr>
        <p:sp>
          <p:nvSpPr>
            <p:cNvPr id="60453" name="Line 41"/>
            <p:cNvSpPr>
              <a:spLocks noChangeShapeType="1"/>
            </p:cNvSpPr>
            <p:nvPr/>
          </p:nvSpPr>
          <p:spPr bwMode="auto">
            <a:xfrm>
              <a:off x="1429"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0454" name="Text Box 42"/>
            <p:cNvSpPr txBox="1">
              <a:spLocks noChangeArrowheads="1"/>
            </p:cNvSpPr>
            <p:nvPr/>
          </p:nvSpPr>
          <p:spPr bwMode="auto">
            <a:xfrm>
              <a:off x="1429" y="1616"/>
              <a:ext cx="8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你的电影票</a:t>
              </a:r>
            </a:p>
          </p:txBody>
        </p:sp>
      </p:grpSp>
      <p:grpSp>
        <p:nvGrpSpPr>
          <p:cNvPr id="6" name="Group 43"/>
          <p:cNvGrpSpPr/>
          <p:nvPr/>
        </p:nvGrpSpPr>
        <p:grpSpPr bwMode="auto">
          <a:xfrm>
            <a:off x="4081464" y="4708525"/>
            <a:ext cx="2879725" cy="431800"/>
            <a:chOff x="1611" y="2659"/>
            <a:chExt cx="1814" cy="272"/>
          </a:xfrm>
        </p:grpSpPr>
        <p:sp>
          <p:nvSpPr>
            <p:cNvPr id="60451" name="Line 44"/>
            <p:cNvSpPr>
              <a:spLocks noChangeShapeType="1"/>
            </p:cNvSpPr>
            <p:nvPr/>
          </p:nvSpPr>
          <p:spPr bwMode="auto">
            <a:xfrm>
              <a:off x="1611" y="2931"/>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0452" name="Text Box 45"/>
            <p:cNvSpPr txBox="1">
              <a:spLocks noChangeArrowheads="1"/>
            </p:cNvSpPr>
            <p:nvPr/>
          </p:nvSpPr>
          <p:spPr bwMode="auto">
            <a:xfrm>
              <a:off x="2200" y="2659"/>
              <a:ext cx="10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这是我的电影票</a:t>
              </a:r>
            </a:p>
          </p:txBody>
        </p:sp>
      </p:grpSp>
      <p:sp>
        <p:nvSpPr>
          <p:cNvPr id="60425" name="Text Box 46"/>
          <p:cNvSpPr txBox="1">
            <a:spLocks noChangeArrowheads="1"/>
          </p:cNvSpPr>
          <p:nvPr/>
        </p:nvSpPr>
        <p:spPr bwMode="auto">
          <a:xfrm>
            <a:off x="2782889" y="269240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电影院售票处</a:t>
            </a:r>
          </a:p>
        </p:txBody>
      </p:sp>
      <p:grpSp>
        <p:nvGrpSpPr>
          <p:cNvPr id="7" name="Group 47"/>
          <p:cNvGrpSpPr/>
          <p:nvPr/>
        </p:nvGrpSpPr>
        <p:grpSpPr bwMode="auto">
          <a:xfrm>
            <a:off x="6672264" y="1828800"/>
            <a:ext cx="1800225" cy="1384300"/>
            <a:chOff x="3243" y="845"/>
            <a:chExt cx="1134" cy="872"/>
          </a:xfrm>
        </p:grpSpPr>
        <p:grpSp>
          <p:nvGrpSpPr>
            <p:cNvPr id="60435" name="Group 48"/>
            <p:cNvGrpSpPr/>
            <p:nvPr/>
          </p:nvGrpSpPr>
          <p:grpSpPr bwMode="auto">
            <a:xfrm>
              <a:off x="3243" y="845"/>
              <a:ext cx="953" cy="681"/>
              <a:chOff x="3515" y="1570"/>
              <a:chExt cx="953" cy="681"/>
            </a:xfrm>
          </p:grpSpPr>
          <p:sp>
            <p:nvSpPr>
              <p:cNvPr id="60437" name="Line 49"/>
              <p:cNvSpPr>
                <a:spLocks noChangeShapeType="1"/>
              </p:cNvSpPr>
              <p:nvPr/>
            </p:nvSpPr>
            <p:spPr bwMode="auto">
              <a:xfrm flipH="1">
                <a:off x="3515" y="1706"/>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38" name="Line 50"/>
              <p:cNvSpPr>
                <a:spLocks noChangeShapeType="1"/>
              </p:cNvSpPr>
              <p:nvPr/>
            </p:nvSpPr>
            <p:spPr bwMode="auto">
              <a:xfrm>
                <a:off x="3798" y="1706"/>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39" name="Line 51"/>
              <p:cNvSpPr>
                <a:spLocks noChangeShapeType="1"/>
              </p:cNvSpPr>
              <p:nvPr/>
            </p:nvSpPr>
            <p:spPr bwMode="auto">
              <a:xfrm>
                <a:off x="3515" y="1911"/>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0" name="Line 52"/>
              <p:cNvSpPr>
                <a:spLocks noChangeShapeType="1"/>
              </p:cNvSpPr>
              <p:nvPr/>
            </p:nvSpPr>
            <p:spPr bwMode="auto">
              <a:xfrm flipV="1">
                <a:off x="3798" y="1570"/>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1" name="Line 53"/>
              <p:cNvSpPr>
                <a:spLocks noChangeShapeType="1"/>
              </p:cNvSpPr>
              <p:nvPr/>
            </p:nvSpPr>
            <p:spPr bwMode="auto">
              <a:xfrm>
                <a:off x="4256" y="1570"/>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2" name="Line 54"/>
              <p:cNvSpPr>
                <a:spLocks noChangeShapeType="1"/>
              </p:cNvSpPr>
              <p:nvPr/>
            </p:nvSpPr>
            <p:spPr bwMode="auto">
              <a:xfrm flipV="1">
                <a:off x="3974" y="1774"/>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3" name="Line 55"/>
              <p:cNvSpPr>
                <a:spLocks noChangeShapeType="1"/>
              </p:cNvSpPr>
              <p:nvPr/>
            </p:nvSpPr>
            <p:spPr bwMode="auto">
              <a:xfrm>
                <a:off x="3515" y="1911"/>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4" name="Line 56"/>
              <p:cNvSpPr>
                <a:spLocks noChangeShapeType="1"/>
              </p:cNvSpPr>
              <p:nvPr/>
            </p:nvSpPr>
            <p:spPr bwMode="auto">
              <a:xfrm>
                <a:off x="3974" y="1911"/>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5" name="Line 57"/>
              <p:cNvSpPr>
                <a:spLocks noChangeShapeType="1"/>
              </p:cNvSpPr>
              <p:nvPr/>
            </p:nvSpPr>
            <p:spPr bwMode="auto">
              <a:xfrm>
                <a:off x="3515" y="2251"/>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6" name="Line 58"/>
              <p:cNvSpPr>
                <a:spLocks noChangeShapeType="1"/>
              </p:cNvSpPr>
              <p:nvPr/>
            </p:nvSpPr>
            <p:spPr bwMode="auto">
              <a:xfrm flipV="1">
                <a:off x="3974" y="2047"/>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7" name="Line 59"/>
              <p:cNvSpPr>
                <a:spLocks noChangeShapeType="1"/>
              </p:cNvSpPr>
              <p:nvPr/>
            </p:nvSpPr>
            <p:spPr bwMode="auto">
              <a:xfrm>
                <a:off x="4433" y="1774"/>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8" name="Line 60"/>
              <p:cNvSpPr>
                <a:spLocks noChangeShapeType="1"/>
              </p:cNvSpPr>
              <p:nvPr/>
            </p:nvSpPr>
            <p:spPr bwMode="auto">
              <a:xfrm>
                <a:off x="3621" y="2149"/>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49" name="Line 61"/>
              <p:cNvSpPr>
                <a:spLocks noChangeShapeType="1"/>
              </p:cNvSpPr>
              <p:nvPr/>
            </p:nvSpPr>
            <p:spPr bwMode="auto">
              <a:xfrm>
                <a:off x="3621" y="2149"/>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0450" name="Line 62"/>
              <p:cNvSpPr>
                <a:spLocks noChangeShapeType="1"/>
              </p:cNvSpPr>
              <p:nvPr/>
            </p:nvSpPr>
            <p:spPr bwMode="auto">
              <a:xfrm>
                <a:off x="3727" y="2149"/>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0436" name="Text Box 63"/>
            <p:cNvSpPr txBox="1">
              <a:spLocks noChangeArrowheads="1"/>
            </p:cNvSpPr>
            <p:nvPr/>
          </p:nvSpPr>
          <p:spPr bwMode="auto">
            <a:xfrm>
              <a:off x="3243" y="1525"/>
              <a:ext cx="113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电影院乙</a:t>
              </a:r>
            </a:p>
          </p:txBody>
        </p:sp>
      </p:grpSp>
      <p:grpSp>
        <p:nvGrpSpPr>
          <p:cNvPr id="9" name="Group 64"/>
          <p:cNvGrpSpPr/>
          <p:nvPr/>
        </p:nvGrpSpPr>
        <p:grpSpPr bwMode="auto">
          <a:xfrm>
            <a:off x="3935414" y="3124201"/>
            <a:ext cx="3457575" cy="1871663"/>
            <a:chOff x="1519" y="1661"/>
            <a:chExt cx="2178" cy="1179"/>
          </a:xfrm>
        </p:grpSpPr>
        <p:sp>
          <p:nvSpPr>
            <p:cNvPr id="60433" name="Line 65"/>
            <p:cNvSpPr>
              <a:spLocks noChangeShapeType="1"/>
            </p:cNvSpPr>
            <p:nvPr/>
          </p:nvSpPr>
          <p:spPr bwMode="auto">
            <a:xfrm flipV="1">
              <a:off x="1519" y="1661"/>
              <a:ext cx="1587" cy="1179"/>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0434" name="Text Box 66"/>
            <p:cNvSpPr txBox="1">
              <a:spLocks noChangeArrowheads="1"/>
            </p:cNvSpPr>
            <p:nvPr/>
          </p:nvSpPr>
          <p:spPr bwMode="auto">
            <a:xfrm>
              <a:off x="2608" y="1933"/>
              <a:ext cx="108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FF0000"/>
                  </a:solidFill>
                </a:rPr>
                <a:t>这是我的电影票？？？</a:t>
              </a:r>
            </a:p>
          </p:txBody>
        </p:sp>
      </p:grpSp>
      <p:sp>
        <p:nvSpPr>
          <p:cNvPr id="60428" name="Text Box 67"/>
          <p:cNvSpPr txBox="1">
            <a:spLocks noChangeArrowheads="1"/>
          </p:cNvSpPr>
          <p:nvPr/>
        </p:nvSpPr>
        <p:spPr bwMode="auto">
          <a:xfrm>
            <a:off x="2640014" y="571658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观众</a:t>
            </a:r>
          </a:p>
        </p:txBody>
      </p:sp>
      <p:sp>
        <p:nvSpPr>
          <p:cNvPr id="267332" name="Text Box 68" descr="轮廓式菱形"/>
          <p:cNvSpPr txBox="1">
            <a:spLocks noChangeArrowheads="1"/>
          </p:cNvSpPr>
          <p:nvPr/>
        </p:nvSpPr>
        <p:spPr bwMode="auto">
          <a:xfrm>
            <a:off x="7319963" y="3411539"/>
            <a:ext cx="3427206" cy="400110"/>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0000"/>
                </a:solidFill>
              </a:rPr>
              <a:t>问题之三：多个电影院问题</a:t>
            </a:r>
          </a:p>
        </p:txBody>
      </p:sp>
      <p:grpSp>
        <p:nvGrpSpPr>
          <p:cNvPr id="10" name="Group 69"/>
          <p:cNvGrpSpPr/>
          <p:nvPr/>
        </p:nvGrpSpPr>
        <p:grpSpPr bwMode="auto">
          <a:xfrm>
            <a:off x="2495551" y="2979738"/>
            <a:ext cx="1152525" cy="1585912"/>
            <a:chOff x="612" y="1570"/>
            <a:chExt cx="726" cy="999"/>
          </a:xfrm>
        </p:grpSpPr>
        <p:sp>
          <p:nvSpPr>
            <p:cNvPr id="60431" name="Line 70"/>
            <p:cNvSpPr>
              <a:spLocks noChangeShapeType="1"/>
            </p:cNvSpPr>
            <p:nvPr/>
          </p:nvSpPr>
          <p:spPr bwMode="auto">
            <a:xfrm flipV="1">
              <a:off x="1247" y="1570"/>
              <a:ext cx="0" cy="999"/>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0432" name="Text Box 71"/>
            <p:cNvSpPr txBox="1">
              <a:spLocks noChangeArrowheads="1"/>
            </p:cNvSpPr>
            <p:nvPr/>
          </p:nvSpPr>
          <p:spPr bwMode="auto">
            <a:xfrm>
              <a:off x="612" y="1842"/>
              <a:ext cx="726"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00"/>
                  </a:solidFill>
                </a:rPr>
                <a:t>我要买票，这是我的信用卡密码</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2"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67332"/>
                                        </p:tgtEl>
                                        <p:attrNameLst>
                                          <p:attrName>style.visibility</p:attrName>
                                        </p:attrNameLst>
                                      </p:cBhvr>
                                      <p:to>
                                        <p:strVal val="visible"/>
                                      </p:to>
                                    </p:set>
                                    <p:anim calcmode="lin" valueType="num">
                                      <p:cBhvr additive="base">
                                        <p:cTn id="37" dur="500" fill="hold"/>
                                        <p:tgtEl>
                                          <p:spTgt spid="267332"/>
                                        </p:tgtEl>
                                        <p:attrNameLst>
                                          <p:attrName>ppt_x</p:attrName>
                                        </p:attrNameLst>
                                      </p:cBhvr>
                                      <p:tavLst>
                                        <p:tav tm="0">
                                          <p:val>
                                            <p:strVal val="1+#ppt_w/2"/>
                                          </p:val>
                                        </p:tav>
                                        <p:tav tm="100000">
                                          <p:val>
                                            <p:strVal val="#ppt_x"/>
                                          </p:val>
                                        </p:tav>
                                      </p:tavLst>
                                    </p:anim>
                                    <p:anim calcmode="lin" valueType="num">
                                      <p:cBhvr additive="base">
                                        <p:cTn id="38" dur="500" fill="hold"/>
                                        <p:tgtEl>
                                          <p:spTgt spid="2673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33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sp>
        <p:nvSpPr>
          <p:cNvPr id="61443" name="Text Box 3" descr="轮廓式菱形"/>
          <p:cNvSpPr txBox="1">
            <a:spLocks noChangeArrowheads="1"/>
          </p:cNvSpPr>
          <p:nvPr/>
        </p:nvSpPr>
        <p:spPr bwMode="auto">
          <a:xfrm>
            <a:off x="2495551" y="2349500"/>
            <a:ext cx="5040313" cy="2492990"/>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latin typeface="Times New Roman" panose="02020603050405020304" pitchFamily="18" charset="0"/>
              </a:rPr>
              <a:t>上述协议的问题：</a:t>
            </a:r>
          </a:p>
          <a:p>
            <a:pPr eaLnBrk="1" hangingPunct="1">
              <a:spcBef>
                <a:spcPct val="50000"/>
              </a:spcBef>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）口令明文传送</a:t>
            </a:r>
          </a:p>
          <a:p>
            <a:pPr eaLnBrk="1" hangingPunct="1">
              <a:spcBef>
                <a:spcPct val="50000"/>
              </a:spcBef>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）票据的有效性（多次使用）</a:t>
            </a:r>
          </a:p>
          <a:p>
            <a:pPr eaLnBrk="1" hangingPunct="1">
              <a:spcBef>
                <a:spcPct val="50000"/>
              </a:spcBef>
            </a:pPr>
            <a:r>
              <a:rPr lang="zh-CN" altLang="en-US" sz="2400" b="1" dirty="0">
                <a:latin typeface="Times New Roman" panose="02020603050405020304" pitchFamily="18" charset="0"/>
              </a:rPr>
              <a:t>（</a:t>
            </a:r>
            <a:r>
              <a:rPr lang="en-US" altLang="zh-CN" sz="2400" b="1" dirty="0">
                <a:latin typeface="Times New Roman" panose="02020603050405020304" pitchFamily="18" charset="0"/>
              </a:rPr>
              <a:t>3</a:t>
            </a:r>
            <a:r>
              <a:rPr lang="zh-CN" altLang="en-US" sz="2400" b="1" dirty="0">
                <a:latin typeface="Times New Roman" panose="02020603050405020304" pitchFamily="18" charset="0"/>
              </a:rPr>
              <a:t>）访问多个服务器则需多次申请票据（即口令多次使用）</a:t>
            </a:r>
          </a:p>
        </p:txBody>
      </p:sp>
      <p:sp>
        <p:nvSpPr>
          <p:cNvPr id="61444" name="Text Box 4" descr="轮廓式菱形"/>
          <p:cNvSpPr txBox="1">
            <a:spLocks noChangeArrowheads="1"/>
          </p:cNvSpPr>
          <p:nvPr/>
        </p:nvSpPr>
        <p:spPr bwMode="auto">
          <a:xfrm>
            <a:off x="2497138" y="5445125"/>
            <a:ext cx="5040312" cy="579438"/>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latin typeface="Times New Roman" panose="02020603050405020304" pitchFamily="18" charset="0"/>
              </a:rPr>
              <a:t>如何解决</a:t>
            </a:r>
          </a:p>
        </p:txBody>
      </p:sp>
      <p:sp>
        <p:nvSpPr>
          <p:cNvPr id="61445" name="Text Box 5" descr="轮廓式菱形"/>
          <p:cNvSpPr txBox="1">
            <a:spLocks noChangeArrowheads="1"/>
          </p:cNvSpPr>
          <p:nvPr/>
        </p:nvSpPr>
        <p:spPr bwMode="auto">
          <a:xfrm>
            <a:off x="2424113" y="1412875"/>
            <a:ext cx="5040312" cy="579438"/>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3200" b="1">
                <a:solidFill>
                  <a:srgbClr val="FD0309"/>
                </a:solidFill>
                <a:latin typeface="Times New Roman" panose="02020603050405020304" pitchFamily="18" charset="0"/>
              </a:rPr>
              <a:t>上述协议问题？</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sp>
        <p:nvSpPr>
          <p:cNvPr id="62467" name="Rectangle 2"/>
          <p:cNvSpPr>
            <a:spLocks noGrp="1" noChangeArrowheads="1"/>
          </p:cNvSpPr>
          <p:nvPr>
            <p:ph idx="1"/>
          </p:nvPr>
        </p:nvSpPr>
        <p:spPr>
          <a:xfrm>
            <a:off x="1133559" y="1462707"/>
            <a:ext cx="9981745" cy="4439329"/>
          </a:xfrm>
        </p:spPr>
        <p:txBody>
          <a:bodyPr/>
          <a:lstStyle/>
          <a:p>
            <a:pPr eaLnBrk="1" hangingPunct="1">
              <a:lnSpc>
                <a:spcPct val="90000"/>
              </a:lnSpc>
            </a:pPr>
            <a:r>
              <a:rPr lang="zh-CN" altLang="en-US" b="1" dirty="0">
                <a:latin typeface="Times New Roman" panose="02020603050405020304" pitchFamily="18" charset="0"/>
              </a:rPr>
              <a:t>问题：</a:t>
            </a:r>
          </a:p>
          <a:p>
            <a:pPr lvl="1" eaLnBrk="1" hangingPunct="1">
              <a:lnSpc>
                <a:spcPct val="90000"/>
              </a:lnSpc>
            </a:pPr>
            <a:r>
              <a:rPr lang="zh-CN" altLang="en-US" dirty="0">
                <a:latin typeface="Times New Roman" panose="02020603050405020304" pitchFamily="18" charset="0"/>
              </a:rPr>
              <a:t>用户希望输入口令的次数最少。</a:t>
            </a:r>
          </a:p>
          <a:p>
            <a:pPr lvl="1" eaLnBrk="1" hangingPunct="1">
              <a:lnSpc>
                <a:spcPct val="90000"/>
              </a:lnSpc>
            </a:pPr>
            <a:r>
              <a:rPr lang="zh-CN" altLang="en-US" dirty="0">
                <a:latin typeface="Times New Roman" panose="02020603050405020304" pitchFamily="18" charset="0"/>
              </a:rPr>
              <a:t>口令以明文传送会被窃听。</a:t>
            </a:r>
          </a:p>
          <a:p>
            <a:pPr eaLnBrk="1" hangingPunct="1">
              <a:lnSpc>
                <a:spcPct val="90000"/>
              </a:lnSpc>
            </a:pPr>
            <a:r>
              <a:rPr lang="zh-CN" altLang="en-US" b="1" dirty="0">
                <a:latin typeface="Times New Roman" panose="02020603050405020304" pitchFamily="18" charset="0"/>
              </a:rPr>
              <a:t>解决办法</a:t>
            </a:r>
          </a:p>
          <a:p>
            <a:pPr lvl="1" eaLnBrk="1" hangingPunct="1"/>
            <a:r>
              <a:rPr lang="zh-CN" altLang="en-US" dirty="0">
                <a:latin typeface="Times New Roman" panose="02020603050405020304" pitchFamily="18" charset="0"/>
              </a:rPr>
              <a:t> </a:t>
            </a:r>
            <a:r>
              <a:rPr lang="zh-CN" altLang="en-US" dirty="0">
                <a:highlight>
                  <a:srgbClr val="FFFF00"/>
                </a:highlight>
                <a:latin typeface="Times New Roman" panose="02020603050405020304" pitchFamily="18" charset="0"/>
              </a:rPr>
              <a:t>票据重用</a:t>
            </a:r>
            <a:r>
              <a:rPr lang="zh-CN" altLang="en-US" dirty="0">
                <a:latin typeface="Times New Roman" panose="02020603050405020304" pitchFamily="18" charset="0"/>
              </a:rPr>
              <a:t>（</a:t>
            </a:r>
            <a:r>
              <a:rPr lang="en-US" altLang="zh-CN" dirty="0">
                <a:latin typeface="Times New Roman" panose="02020603050405020304" pitchFamily="18" charset="0"/>
              </a:rPr>
              <a:t>ticket reusable</a:t>
            </a:r>
            <a:r>
              <a:rPr lang="zh-CN" altLang="en-US" dirty="0">
                <a:latin typeface="Times New Roman" panose="02020603050405020304" pitchFamily="18" charset="0"/>
              </a:rPr>
              <a:t>）。</a:t>
            </a:r>
          </a:p>
          <a:p>
            <a:pPr lvl="1" eaLnBrk="1" hangingPunct="1"/>
            <a:r>
              <a:rPr lang="zh-CN" altLang="en-US" dirty="0">
                <a:latin typeface="Times New Roman" panose="02020603050405020304" pitchFamily="18" charset="0"/>
              </a:rPr>
              <a:t> 引入票据许可服务器（</a:t>
            </a:r>
            <a:r>
              <a:rPr lang="en-US" altLang="zh-CN" dirty="0">
                <a:latin typeface="Times New Roman" panose="02020603050405020304" pitchFamily="18" charset="0"/>
              </a:rPr>
              <a:t>TGS -  ticket-granting server</a:t>
            </a:r>
            <a:r>
              <a:rPr lang="zh-CN" altLang="en-US" dirty="0">
                <a:latin typeface="Times New Roman" panose="02020603050405020304" pitchFamily="18" charset="0"/>
              </a:rPr>
              <a:t>）</a:t>
            </a:r>
          </a:p>
          <a:p>
            <a:pPr lvl="2" eaLnBrk="1" hangingPunct="1"/>
            <a:r>
              <a:rPr lang="zh-CN" altLang="en-US" sz="2200" dirty="0">
                <a:latin typeface="Times New Roman" panose="02020603050405020304" pitchFamily="18" charset="0"/>
              </a:rPr>
              <a:t>用于向用户分发服务器的访问票据；</a:t>
            </a:r>
          </a:p>
          <a:p>
            <a:pPr lvl="2" eaLnBrk="1" hangingPunct="1"/>
            <a:r>
              <a:rPr lang="zh-CN" altLang="en-US" sz="2200" dirty="0">
                <a:latin typeface="Times New Roman" panose="02020603050405020304" pitchFamily="18" charset="0"/>
              </a:rPr>
              <a:t>认证服务器 </a:t>
            </a:r>
            <a:r>
              <a:rPr lang="en-US" altLang="zh-CN" sz="2200" dirty="0">
                <a:latin typeface="Times New Roman" panose="02020603050405020304" pitchFamily="18" charset="0"/>
              </a:rPr>
              <a:t>AS </a:t>
            </a:r>
            <a:r>
              <a:rPr lang="zh-CN" altLang="en-US" sz="2200" dirty="0">
                <a:latin typeface="Times New Roman" panose="02020603050405020304" pitchFamily="18" charset="0"/>
              </a:rPr>
              <a:t>并不直接向客户发放访问应用服务器的票据，而是由 </a:t>
            </a:r>
            <a:r>
              <a:rPr lang="en-US" altLang="zh-CN" sz="2200" dirty="0">
                <a:highlight>
                  <a:srgbClr val="FFFF00"/>
                </a:highlight>
                <a:latin typeface="Times New Roman" panose="02020603050405020304" pitchFamily="18" charset="0"/>
              </a:rPr>
              <a:t>TGS </a:t>
            </a:r>
            <a:r>
              <a:rPr lang="zh-CN" altLang="en-US" sz="2200" dirty="0">
                <a:highlight>
                  <a:srgbClr val="FFFF00"/>
                </a:highlight>
                <a:latin typeface="Times New Roman" panose="02020603050405020304" pitchFamily="18" charset="0"/>
              </a:rPr>
              <a:t>服务器来向客户发放</a:t>
            </a:r>
            <a:r>
              <a:rPr lang="zh-CN" altLang="en-US" sz="2200" dirty="0">
                <a:latin typeface="Times New Roman" panose="02020603050405020304" pitchFamily="18" charset="0"/>
              </a:rPr>
              <a:t>。</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63491" name="Group 3"/>
          <p:cNvGrpSpPr/>
          <p:nvPr/>
        </p:nvGrpSpPr>
        <p:grpSpPr bwMode="auto">
          <a:xfrm>
            <a:off x="6816725" y="1468439"/>
            <a:ext cx="1512888" cy="1081087"/>
            <a:chOff x="3107" y="709"/>
            <a:chExt cx="953" cy="681"/>
          </a:xfrm>
        </p:grpSpPr>
        <p:sp>
          <p:nvSpPr>
            <p:cNvPr id="63548"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9"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0"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1"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2"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3"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4"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5" name="Line 11"/>
            <p:cNvSpPr>
              <a:spLocks noChangeShapeType="1"/>
            </p:cNvSpPr>
            <p:nvPr/>
          </p:nvSpPr>
          <p:spPr bwMode="auto">
            <a:xfrm>
              <a:off x="3566"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6"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7"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8"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59"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60"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61"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3492" name="Text Box 18"/>
          <p:cNvSpPr txBox="1">
            <a:spLocks noChangeArrowheads="1"/>
          </p:cNvSpPr>
          <p:nvPr/>
        </p:nvSpPr>
        <p:spPr bwMode="auto">
          <a:xfrm>
            <a:off x="6743701" y="25479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电影院售票处</a:t>
            </a:r>
          </a:p>
        </p:txBody>
      </p:sp>
      <p:grpSp>
        <p:nvGrpSpPr>
          <p:cNvPr id="63493" name="Group 19"/>
          <p:cNvGrpSpPr/>
          <p:nvPr/>
        </p:nvGrpSpPr>
        <p:grpSpPr bwMode="auto">
          <a:xfrm>
            <a:off x="7175500" y="4708525"/>
            <a:ext cx="1512888" cy="1081088"/>
            <a:chOff x="3515" y="2931"/>
            <a:chExt cx="953" cy="681"/>
          </a:xfrm>
        </p:grpSpPr>
        <p:sp>
          <p:nvSpPr>
            <p:cNvPr id="63534"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35"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36"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37"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38"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39"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0"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1"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2"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3"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4"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5"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6"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47"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3494" name="Text Box 34"/>
          <p:cNvSpPr txBox="1">
            <a:spLocks noChangeArrowheads="1"/>
          </p:cNvSpPr>
          <p:nvPr/>
        </p:nvSpPr>
        <p:spPr bwMode="auto">
          <a:xfrm>
            <a:off x="6959601" y="58610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电影院乙</a:t>
            </a:r>
          </a:p>
        </p:txBody>
      </p:sp>
      <p:grpSp>
        <p:nvGrpSpPr>
          <p:cNvPr id="63495" name="Group 35"/>
          <p:cNvGrpSpPr/>
          <p:nvPr/>
        </p:nvGrpSpPr>
        <p:grpSpPr bwMode="auto">
          <a:xfrm>
            <a:off x="3000375" y="4564063"/>
            <a:ext cx="863600" cy="1008062"/>
            <a:chOff x="930" y="1933"/>
            <a:chExt cx="499" cy="817"/>
          </a:xfrm>
        </p:grpSpPr>
        <p:sp>
          <p:nvSpPr>
            <p:cNvPr id="63529"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3530"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31"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32"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33"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3496" name="Group 41"/>
          <p:cNvGrpSpPr/>
          <p:nvPr/>
        </p:nvGrpSpPr>
        <p:grpSpPr bwMode="auto">
          <a:xfrm>
            <a:off x="3000375" y="1468439"/>
            <a:ext cx="1512888" cy="1081087"/>
            <a:chOff x="2064" y="618"/>
            <a:chExt cx="953" cy="681"/>
          </a:xfrm>
        </p:grpSpPr>
        <p:sp>
          <p:nvSpPr>
            <p:cNvPr id="63515"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16"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17"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18"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19"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0"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1"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2"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3"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4"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5"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6"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7"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3528"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 name="Group 56"/>
          <p:cNvGrpSpPr/>
          <p:nvPr/>
        </p:nvGrpSpPr>
        <p:grpSpPr bwMode="auto">
          <a:xfrm>
            <a:off x="3935414" y="2692400"/>
            <a:ext cx="1368425" cy="1727200"/>
            <a:chOff x="1519" y="1480"/>
            <a:chExt cx="862" cy="1088"/>
          </a:xfrm>
        </p:grpSpPr>
        <p:sp>
          <p:nvSpPr>
            <p:cNvPr id="63513" name="Line 57"/>
            <p:cNvSpPr>
              <a:spLocks noChangeShapeType="1"/>
            </p:cNvSpPr>
            <p:nvPr/>
          </p:nvSpPr>
          <p:spPr bwMode="auto">
            <a:xfrm>
              <a:off x="1519" y="1525"/>
              <a:ext cx="0" cy="1043"/>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3514" name="Text Box 58"/>
            <p:cNvSpPr txBox="1">
              <a:spLocks noChangeArrowheads="1"/>
            </p:cNvSpPr>
            <p:nvPr/>
          </p:nvSpPr>
          <p:spPr bwMode="auto">
            <a:xfrm>
              <a:off x="1519" y="1480"/>
              <a:ext cx="8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购票许可证</a:t>
              </a:r>
            </a:p>
          </p:txBody>
        </p:sp>
      </p:grpSp>
      <p:grpSp>
        <p:nvGrpSpPr>
          <p:cNvPr id="7" name="Group 59"/>
          <p:cNvGrpSpPr/>
          <p:nvPr/>
        </p:nvGrpSpPr>
        <p:grpSpPr bwMode="auto">
          <a:xfrm>
            <a:off x="3863975" y="2619375"/>
            <a:ext cx="2952750" cy="2160588"/>
            <a:chOff x="1474" y="1434"/>
            <a:chExt cx="1860" cy="1361"/>
          </a:xfrm>
        </p:grpSpPr>
        <p:sp>
          <p:nvSpPr>
            <p:cNvPr id="63511" name="Line 60"/>
            <p:cNvSpPr>
              <a:spLocks noChangeShapeType="1"/>
            </p:cNvSpPr>
            <p:nvPr/>
          </p:nvSpPr>
          <p:spPr bwMode="auto">
            <a:xfrm flipV="1">
              <a:off x="1474" y="1434"/>
              <a:ext cx="1860" cy="1361"/>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3512" name="Text Box 61"/>
            <p:cNvSpPr txBox="1">
              <a:spLocks noChangeArrowheads="1"/>
            </p:cNvSpPr>
            <p:nvPr/>
          </p:nvSpPr>
          <p:spPr bwMode="auto">
            <a:xfrm>
              <a:off x="1655" y="1933"/>
              <a:ext cx="86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这是我的购票许可证</a:t>
              </a:r>
            </a:p>
          </p:txBody>
        </p:sp>
      </p:grpSp>
      <p:grpSp>
        <p:nvGrpSpPr>
          <p:cNvPr id="8" name="Group 62"/>
          <p:cNvGrpSpPr/>
          <p:nvPr/>
        </p:nvGrpSpPr>
        <p:grpSpPr bwMode="auto">
          <a:xfrm>
            <a:off x="4151313" y="2908301"/>
            <a:ext cx="3168650" cy="2303463"/>
            <a:chOff x="1655" y="1616"/>
            <a:chExt cx="1996" cy="1451"/>
          </a:xfrm>
        </p:grpSpPr>
        <p:sp>
          <p:nvSpPr>
            <p:cNvPr id="63509" name="Line 63"/>
            <p:cNvSpPr>
              <a:spLocks noChangeShapeType="1"/>
            </p:cNvSpPr>
            <p:nvPr/>
          </p:nvSpPr>
          <p:spPr bwMode="auto">
            <a:xfrm flipH="1">
              <a:off x="1655" y="1616"/>
              <a:ext cx="1905" cy="1451"/>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3510" name="Text Box 64"/>
            <p:cNvSpPr txBox="1">
              <a:spLocks noChangeArrowheads="1"/>
            </p:cNvSpPr>
            <p:nvPr/>
          </p:nvSpPr>
          <p:spPr bwMode="auto">
            <a:xfrm>
              <a:off x="2789" y="2115"/>
              <a:ext cx="86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你的电影票</a:t>
              </a:r>
            </a:p>
          </p:txBody>
        </p:sp>
      </p:grpSp>
      <p:grpSp>
        <p:nvGrpSpPr>
          <p:cNvPr id="9" name="Group 65"/>
          <p:cNvGrpSpPr/>
          <p:nvPr/>
        </p:nvGrpSpPr>
        <p:grpSpPr bwMode="auto">
          <a:xfrm>
            <a:off x="4224339" y="4924425"/>
            <a:ext cx="2879725" cy="431800"/>
            <a:chOff x="1701" y="2886"/>
            <a:chExt cx="1814" cy="272"/>
          </a:xfrm>
        </p:grpSpPr>
        <p:sp>
          <p:nvSpPr>
            <p:cNvPr id="63507" name="Line 66"/>
            <p:cNvSpPr>
              <a:spLocks noChangeShapeType="1"/>
            </p:cNvSpPr>
            <p:nvPr/>
          </p:nvSpPr>
          <p:spPr bwMode="auto">
            <a:xfrm>
              <a:off x="1701" y="3158"/>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3508" name="Text Box 67"/>
            <p:cNvSpPr txBox="1">
              <a:spLocks noChangeArrowheads="1"/>
            </p:cNvSpPr>
            <p:nvPr/>
          </p:nvSpPr>
          <p:spPr bwMode="auto">
            <a:xfrm>
              <a:off x="2290" y="2886"/>
              <a:ext cx="10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这是我的电影票</a:t>
              </a:r>
            </a:p>
          </p:txBody>
        </p:sp>
      </p:grpSp>
      <p:sp>
        <p:nvSpPr>
          <p:cNvPr id="63501" name="Text Box 68"/>
          <p:cNvSpPr txBox="1">
            <a:spLocks noChangeArrowheads="1"/>
          </p:cNvSpPr>
          <p:nvPr/>
        </p:nvSpPr>
        <p:spPr bwMode="auto">
          <a:xfrm>
            <a:off x="2640014" y="25479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许可证部门</a:t>
            </a:r>
          </a:p>
        </p:txBody>
      </p:sp>
      <p:sp>
        <p:nvSpPr>
          <p:cNvPr id="63502" name="Text Box 69"/>
          <p:cNvSpPr txBox="1">
            <a:spLocks noChangeArrowheads="1"/>
          </p:cNvSpPr>
          <p:nvPr/>
        </p:nvSpPr>
        <p:spPr bwMode="auto">
          <a:xfrm>
            <a:off x="2640014" y="55721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观众</a:t>
            </a:r>
          </a:p>
        </p:txBody>
      </p:sp>
      <p:grpSp>
        <p:nvGrpSpPr>
          <p:cNvPr id="10" name="Group 70"/>
          <p:cNvGrpSpPr/>
          <p:nvPr/>
        </p:nvGrpSpPr>
        <p:grpSpPr bwMode="auto">
          <a:xfrm>
            <a:off x="2495551" y="2763838"/>
            <a:ext cx="1152525" cy="1657350"/>
            <a:chOff x="612" y="1525"/>
            <a:chExt cx="726" cy="1044"/>
          </a:xfrm>
        </p:grpSpPr>
        <p:sp>
          <p:nvSpPr>
            <p:cNvPr id="63505" name="Line 71"/>
            <p:cNvSpPr>
              <a:spLocks noChangeShapeType="1"/>
            </p:cNvSpPr>
            <p:nvPr/>
          </p:nvSpPr>
          <p:spPr bwMode="auto">
            <a:xfrm flipV="1">
              <a:off x="1247" y="1525"/>
              <a:ext cx="0" cy="1044"/>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3506" name="Text Box 72"/>
            <p:cNvSpPr txBox="1">
              <a:spLocks noChangeArrowheads="1"/>
            </p:cNvSpPr>
            <p:nvPr/>
          </p:nvSpPr>
          <p:spPr bwMode="auto">
            <a:xfrm>
              <a:off x="612" y="1842"/>
              <a:ext cx="726"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00"/>
                  </a:solidFill>
                </a:rPr>
                <a:t>我要买票，这是我的信用卡密码</a:t>
              </a:r>
            </a:p>
          </p:txBody>
        </p:sp>
      </p:grpSp>
      <p:sp>
        <p:nvSpPr>
          <p:cNvPr id="273481" name="Text Box 73" descr="轮廓式菱形"/>
          <p:cNvSpPr txBox="1">
            <a:spLocks noChangeArrowheads="1"/>
          </p:cNvSpPr>
          <p:nvPr/>
        </p:nvSpPr>
        <p:spPr bwMode="auto">
          <a:xfrm>
            <a:off x="7391401" y="3141664"/>
            <a:ext cx="3025775" cy="1463675"/>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FF0000"/>
                </a:solidFill>
              </a:rPr>
              <a:t>问题：解决了重复使用信用卡问题，但是其他两个问题没有解决</a:t>
            </a:r>
          </a:p>
          <a:p>
            <a:pPr eaLnBrk="1" hangingPunct="1">
              <a:spcBef>
                <a:spcPct val="50000"/>
              </a:spcBef>
            </a:pPr>
            <a:r>
              <a:rPr lang="zh-CN" altLang="en-US" sz="2000" b="1">
                <a:solidFill>
                  <a:srgbClr val="FF0000"/>
                </a:solidFill>
              </a:rPr>
              <a:t>引入了许可证可信问题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3"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7"/>
                                        </p:tgtEl>
                                        <p:attrNameLst>
                                          <p:attrName>style.visibility</p:attrName>
                                        </p:attrNameLst>
                                      </p:cBhvr>
                                      <p:to>
                                        <p:strVal val="hidden"/>
                                      </p:to>
                                    </p:set>
                                  </p:childTnLst>
                                </p:cTn>
                              </p:par>
                            </p:childTnLst>
                          </p:cTn>
                        </p:par>
                        <p:par>
                          <p:cTn id="37" fill="hold">
                            <p:stCondLst>
                              <p:cond delay="0"/>
                            </p:stCondLst>
                            <p:childTnLst>
                              <p:par>
                                <p:cTn id="38" presetID="1" presetClass="exit" presetSubtype="0" fill="hold" nodeType="afterEffect">
                                  <p:stCondLst>
                                    <p:cond delay="0"/>
                                  </p:stCondLst>
                                  <p:childTnLst>
                                    <p:set>
                                      <p:cBhvr>
                                        <p:cTn id="39" dur="1" fill="hold">
                                          <p:stCondLst>
                                            <p:cond delay="0"/>
                                          </p:stCondLst>
                                        </p:cTn>
                                        <p:tgtEl>
                                          <p:spTgt spid="8"/>
                                        </p:tgtEl>
                                        <p:attrNameLst>
                                          <p:attrName>style.visibility</p:attrName>
                                        </p:attrNameLst>
                                      </p:cBhvr>
                                      <p:to>
                                        <p:strVal val="hidden"/>
                                      </p:to>
                                    </p:set>
                                  </p:childTnLst>
                                </p:cTn>
                              </p:par>
                            </p:childTnLst>
                          </p:cTn>
                        </p:par>
                        <p:par>
                          <p:cTn id="40" fill="hold">
                            <p:stCondLst>
                              <p:cond delay="0"/>
                            </p:stCondLst>
                            <p:childTnLst>
                              <p:par>
                                <p:cTn id="41" presetID="1" presetClass="exit" presetSubtype="0" fill="hold" nodeType="afterEffect">
                                  <p:stCondLst>
                                    <p:cond delay="0"/>
                                  </p:stCondLst>
                                  <p:childTnLst>
                                    <p:set>
                                      <p:cBhvr>
                                        <p:cTn id="42" dur="1" fill="hold">
                                          <p:stCondLst>
                                            <p:cond delay="0"/>
                                          </p:stCondLst>
                                        </p:cTn>
                                        <p:tgtEl>
                                          <p:spTgt spid="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12"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500" fill="hold"/>
                                        <p:tgtEl>
                                          <p:spTgt spid="7"/>
                                        </p:tgtEl>
                                        <p:attrNameLst>
                                          <p:attrName>ppt_x</p:attrName>
                                        </p:attrNameLst>
                                      </p:cBhvr>
                                      <p:tavLst>
                                        <p:tav tm="0">
                                          <p:val>
                                            <p:strVal val="0-#ppt_w/2"/>
                                          </p:val>
                                        </p:tav>
                                        <p:tav tm="100000">
                                          <p:val>
                                            <p:strVal val="#ppt_x"/>
                                          </p:val>
                                        </p:tav>
                                      </p:tavLst>
                                    </p:anim>
                                    <p:anim calcmode="lin" valueType="num">
                                      <p:cBhvr additive="base">
                                        <p:cTn id="4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3"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1+#ppt_w/2"/>
                                          </p:val>
                                        </p:tav>
                                        <p:tav tm="100000">
                                          <p:val>
                                            <p:strVal val="#ppt_x"/>
                                          </p:val>
                                        </p:tav>
                                      </p:tavLst>
                                    </p:anim>
                                    <p:anim calcmode="lin" valueType="num">
                                      <p:cBhvr additive="base">
                                        <p:cTn id="5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500" fill="hold"/>
                                        <p:tgtEl>
                                          <p:spTgt spid="9"/>
                                        </p:tgtEl>
                                        <p:attrNameLst>
                                          <p:attrName>ppt_x</p:attrName>
                                        </p:attrNameLst>
                                      </p:cBhvr>
                                      <p:tavLst>
                                        <p:tav tm="0">
                                          <p:val>
                                            <p:strVal val="0-#ppt_w/2"/>
                                          </p:val>
                                        </p:tav>
                                        <p:tav tm="100000">
                                          <p:val>
                                            <p:strVal val="#ppt_x"/>
                                          </p:val>
                                        </p:tav>
                                      </p:tavLst>
                                    </p:anim>
                                    <p:anim calcmode="lin" valueType="num">
                                      <p:cBhvr additive="base">
                                        <p:cTn id="6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273481"/>
                                        </p:tgtEl>
                                        <p:attrNameLst>
                                          <p:attrName>style.visibility</p:attrName>
                                        </p:attrNameLst>
                                      </p:cBhvr>
                                      <p:to>
                                        <p:strVal val="visible"/>
                                      </p:to>
                                    </p:set>
                                    <p:anim calcmode="lin" valueType="num">
                                      <p:cBhvr additive="base">
                                        <p:cTn id="65" dur="500" fill="hold"/>
                                        <p:tgtEl>
                                          <p:spTgt spid="273481"/>
                                        </p:tgtEl>
                                        <p:attrNameLst>
                                          <p:attrName>ppt_x</p:attrName>
                                        </p:attrNameLst>
                                      </p:cBhvr>
                                      <p:tavLst>
                                        <p:tav tm="0">
                                          <p:val>
                                            <p:strVal val="1+#ppt_w/2"/>
                                          </p:val>
                                        </p:tav>
                                        <p:tav tm="100000">
                                          <p:val>
                                            <p:strVal val="#ppt_x"/>
                                          </p:val>
                                        </p:tav>
                                      </p:tavLst>
                                    </p:anim>
                                    <p:anim calcmode="lin" valueType="num">
                                      <p:cBhvr additive="base">
                                        <p:cTn id="66" dur="500" fill="hold"/>
                                        <p:tgtEl>
                                          <p:spTgt spid="2734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8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title"/>
          </p:nvPr>
        </p:nvSpPr>
        <p:spPr>
          <a:xfrm>
            <a:off x="1333851" y="417658"/>
            <a:ext cx="7543800" cy="785813"/>
          </a:xfrm>
        </p:spPr>
        <p:txBody>
          <a:bodyPr/>
          <a:lstStyle/>
          <a:p>
            <a:pPr eaLnBrk="1" hangingPunct="1"/>
            <a:r>
              <a:rPr lang="en-US" altLang="zh-CN" sz="4400" dirty="0">
                <a:latin typeface="Times New Roman" panose="02020603050405020304" pitchFamily="18" charset="0"/>
              </a:rPr>
              <a:t>Kerberos</a:t>
            </a:r>
            <a:r>
              <a:rPr lang="zh-CN" altLang="en-US" sz="4400" dirty="0">
                <a:latin typeface="Times New Roman" panose="02020603050405020304" pitchFamily="18" charset="0"/>
              </a:rPr>
              <a:t>的票据</a:t>
            </a:r>
          </a:p>
        </p:txBody>
      </p:sp>
      <p:sp>
        <p:nvSpPr>
          <p:cNvPr id="64515" name="Rectangle 2"/>
          <p:cNvSpPr>
            <a:spLocks noGrp="1" noChangeArrowheads="1"/>
          </p:cNvSpPr>
          <p:nvPr>
            <p:ph idx="1"/>
          </p:nvPr>
        </p:nvSpPr>
        <p:spPr>
          <a:xfrm>
            <a:off x="1045029" y="1341439"/>
            <a:ext cx="10224654" cy="4608099"/>
          </a:xfrm>
        </p:spPr>
        <p:txBody>
          <a:bodyPr>
            <a:normAutofit/>
          </a:bodyPr>
          <a:lstStyle/>
          <a:p>
            <a:pPr eaLnBrk="1" hangingPunct="1"/>
            <a:r>
              <a:rPr lang="zh-CN" altLang="en-US" b="1" dirty="0">
                <a:latin typeface="Times New Roman" panose="02020603050405020304" pitchFamily="18" charset="0"/>
              </a:rPr>
              <a:t>两种票据</a:t>
            </a:r>
          </a:p>
          <a:p>
            <a:pPr lvl="1" eaLnBrk="1" hangingPunct="1"/>
            <a:r>
              <a:rPr lang="zh-CN" altLang="en-US" dirty="0">
                <a:solidFill>
                  <a:srgbClr val="C00000"/>
                </a:solidFill>
                <a:latin typeface="Times New Roman" panose="02020603050405020304" pitchFamily="18" charset="0"/>
              </a:rPr>
              <a:t>票据许可票据（</a:t>
            </a:r>
            <a:r>
              <a:rPr lang="en-US" altLang="zh-CN" dirty="0">
                <a:solidFill>
                  <a:srgbClr val="C00000"/>
                </a:solidFill>
                <a:latin typeface="Times New Roman" panose="02020603050405020304" pitchFamily="18" charset="0"/>
              </a:rPr>
              <a:t>Ticket granting ticket</a:t>
            </a:r>
            <a:r>
              <a:rPr lang="zh-CN" altLang="en-US" dirty="0">
                <a:solidFill>
                  <a:srgbClr val="C00000"/>
                </a:solidFill>
                <a:latin typeface="Times New Roman" panose="02020603050405020304" pitchFamily="18" charset="0"/>
              </a:rPr>
              <a:t>）</a:t>
            </a:r>
          </a:p>
          <a:p>
            <a:pPr lvl="2" eaLnBrk="1" hangingPunct="1"/>
            <a:r>
              <a:rPr lang="zh-CN" altLang="en-US" sz="2200" dirty="0">
                <a:latin typeface="Times New Roman" panose="02020603050405020304" pitchFamily="18" charset="0"/>
              </a:rPr>
              <a:t>客户访问 </a:t>
            </a:r>
            <a:r>
              <a:rPr lang="en-US" altLang="zh-CN" sz="2200" dirty="0">
                <a:latin typeface="Times New Roman" panose="02020603050405020304" pitchFamily="18" charset="0"/>
              </a:rPr>
              <a:t>TGS </a:t>
            </a:r>
            <a:r>
              <a:rPr lang="zh-CN" altLang="en-US" sz="2200" dirty="0">
                <a:latin typeface="Times New Roman" panose="02020603050405020304" pitchFamily="18" charset="0"/>
              </a:rPr>
              <a:t>服务器需要提供的票据，目的是为了申请某一个应用服务器的 “</a:t>
            </a:r>
            <a:r>
              <a:rPr lang="zh-CN" altLang="en-US" sz="2200" dirty="0">
                <a:highlight>
                  <a:srgbClr val="FFFF00"/>
                </a:highlight>
                <a:latin typeface="Times New Roman" panose="02020603050405020304" pitchFamily="18" charset="0"/>
              </a:rPr>
              <a:t>服务许可票据</a:t>
            </a:r>
            <a:r>
              <a:rPr lang="zh-CN" altLang="en-US" sz="2200" dirty="0">
                <a:latin typeface="Times New Roman" panose="02020603050405020304" pitchFamily="18" charset="0"/>
              </a:rPr>
              <a:t>”；</a:t>
            </a:r>
          </a:p>
          <a:p>
            <a:pPr lvl="2" eaLnBrk="1" hangingPunct="1"/>
            <a:r>
              <a:rPr lang="zh-CN" altLang="en-US" sz="2200" dirty="0">
                <a:highlight>
                  <a:srgbClr val="FFFF00"/>
                </a:highlight>
                <a:latin typeface="Times New Roman" panose="02020603050405020304" pitchFamily="18" charset="0"/>
              </a:rPr>
              <a:t>票据许可票据由 </a:t>
            </a:r>
            <a:r>
              <a:rPr lang="en-US" altLang="zh-CN" sz="2200" dirty="0">
                <a:highlight>
                  <a:srgbClr val="FFFF00"/>
                </a:highlight>
                <a:latin typeface="Times New Roman" panose="02020603050405020304" pitchFamily="18" charset="0"/>
              </a:rPr>
              <a:t>AS </a:t>
            </a:r>
            <a:r>
              <a:rPr lang="zh-CN" altLang="en-US" sz="2200" dirty="0">
                <a:highlight>
                  <a:srgbClr val="FFFF00"/>
                </a:highlight>
                <a:latin typeface="Times New Roman" panose="02020603050405020304" pitchFamily="18" charset="0"/>
              </a:rPr>
              <a:t>发放</a:t>
            </a:r>
            <a:r>
              <a:rPr lang="zh-CN" altLang="en-US" sz="2200" dirty="0">
                <a:latin typeface="Times New Roman" panose="02020603050405020304" pitchFamily="18" charset="0"/>
              </a:rPr>
              <a:t>；</a:t>
            </a:r>
          </a:p>
          <a:p>
            <a:pPr lvl="2" eaLnBrk="1" hangingPunct="1"/>
            <a:r>
              <a:rPr lang="zh-CN" altLang="en-US" sz="2200" dirty="0">
                <a:latin typeface="Times New Roman" panose="02020603050405020304" pitchFamily="18" charset="0"/>
              </a:rPr>
              <a:t>用 </a:t>
            </a:r>
            <a:r>
              <a:rPr lang="en-US" altLang="zh-CN" sz="2200" dirty="0" err="1">
                <a:latin typeface="Times New Roman" panose="02020603050405020304" pitchFamily="18" charset="0"/>
              </a:rPr>
              <a:t>Ticket</a:t>
            </a:r>
            <a:r>
              <a:rPr lang="en-US" altLang="zh-CN" sz="2200" baseline="-25000" dirty="0" err="1">
                <a:latin typeface="Times New Roman" panose="02020603050405020304" pitchFamily="18" charset="0"/>
              </a:rPr>
              <a:t>tgs</a:t>
            </a:r>
            <a:r>
              <a:rPr lang="en-US" altLang="zh-CN" sz="2200" baseline="-25000" dirty="0">
                <a:latin typeface="Times New Roman" panose="02020603050405020304" pitchFamily="18" charset="0"/>
              </a:rPr>
              <a:t> </a:t>
            </a:r>
            <a:r>
              <a:rPr lang="zh-CN" altLang="en-US" sz="2200" dirty="0">
                <a:latin typeface="Times New Roman" panose="02020603050405020304" pitchFamily="18" charset="0"/>
              </a:rPr>
              <a:t>表示访问 </a:t>
            </a:r>
            <a:r>
              <a:rPr lang="en-US" altLang="zh-CN" sz="2200" dirty="0">
                <a:latin typeface="Times New Roman" panose="02020603050405020304" pitchFamily="18" charset="0"/>
              </a:rPr>
              <a:t>TGS </a:t>
            </a:r>
            <a:r>
              <a:rPr lang="zh-CN" altLang="en-US" sz="2200" dirty="0">
                <a:latin typeface="Times New Roman" panose="02020603050405020304" pitchFamily="18" charset="0"/>
              </a:rPr>
              <a:t>服务器的票据；</a:t>
            </a:r>
            <a:endParaRPr lang="zh-CN" altLang="en-US" sz="2200" baseline="-25000" dirty="0">
              <a:latin typeface="Times New Roman" panose="02020603050405020304" pitchFamily="18" charset="0"/>
            </a:endParaRPr>
          </a:p>
          <a:p>
            <a:pPr lvl="2" eaLnBrk="1" hangingPunct="1"/>
            <a:r>
              <a:rPr lang="en-US" altLang="zh-CN" sz="2200" dirty="0" err="1">
                <a:latin typeface="Times New Roman" panose="02020603050405020304" pitchFamily="18" charset="0"/>
              </a:rPr>
              <a:t>Ticket</a:t>
            </a:r>
            <a:r>
              <a:rPr lang="en-US" altLang="zh-CN" sz="2200" baseline="-25000" dirty="0" err="1">
                <a:latin typeface="Times New Roman" panose="02020603050405020304" pitchFamily="18" charset="0"/>
              </a:rPr>
              <a:t>tgs</a:t>
            </a:r>
            <a:r>
              <a:rPr lang="en-US" altLang="zh-CN" sz="2200" baseline="-25000" dirty="0">
                <a:latin typeface="Times New Roman" panose="02020603050405020304" pitchFamily="18" charset="0"/>
              </a:rPr>
              <a:t> </a:t>
            </a:r>
            <a:r>
              <a:rPr lang="zh-CN" altLang="en-US" sz="2200" dirty="0">
                <a:latin typeface="Times New Roman" panose="02020603050405020304" pitchFamily="18" charset="0"/>
              </a:rPr>
              <a:t>在用户登录时向 </a:t>
            </a:r>
            <a:r>
              <a:rPr lang="en-US" altLang="zh-CN" sz="2200" dirty="0">
                <a:latin typeface="Times New Roman" panose="02020603050405020304" pitchFamily="18" charset="0"/>
              </a:rPr>
              <a:t>AS </a:t>
            </a:r>
            <a:r>
              <a:rPr lang="zh-CN" altLang="en-US" sz="2200" dirty="0">
                <a:latin typeface="Times New Roman" panose="02020603050405020304" pitchFamily="18" charset="0"/>
              </a:rPr>
              <a:t>申请一次，可多次重复使用；</a:t>
            </a:r>
          </a:p>
          <a:p>
            <a:pPr lvl="1" eaLnBrk="1" hangingPunct="1"/>
            <a:r>
              <a:rPr lang="zh-CN" altLang="en-US" dirty="0">
                <a:solidFill>
                  <a:srgbClr val="C00000"/>
                </a:solidFill>
                <a:latin typeface="Times New Roman" panose="02020603050405020304" pitchFamily="18" charset="0"/>
              </a:rPr>
              <a:t>服务许可票据（</a:t>
            </a:r>
            <a:r>
              <a:rPr lang="en-US" altLang="zh-CN" dirty="0">
                <a:solidFill>
                  <a:srgbClr val="C00000"/>
                </a:solidFill>
                <a:latin typeface="Times New Roman" panose="02020603050405020304" pitchFamily="18" charset="0"/>
              </a:rPr>
              <a:t>Service granting ticket</a:t>
            </a:r>
            <a:r>
              <a:rPr lang="zh-CN" altLang="en-US" dirty="0">
                <a:solidFill>
                  <a:srgbClr val="C00000"/>
                </a:solidFill>
                <a:latin typeface="Times New Roman" panose="02020603050405020304" pitchFamily="18" charset="0"/>
              </a:rPr>
              <a:t>）</a:t>
            </a:r>
          </a:p>
          <a:p>
            <a:pPr lvl="2" eaLnBrk="1" hangingPunct="1"/>
            <a:r>
              <a:rPr lang="zh-CN" altLang="en-US" sz="2200" dirty="0">
                <a:latin typeface="Times New Roman" panose="02020603050405020304" pitchFamily="18" charset="0"/>
              </a:rPr>
              <a:t>是客户时需要提供的票据；</a:t>
            </a:r>
          </a:p>
          <a:p>
            <a:pPr lvl="2" eaLnBrk="1" hangingPunct="1"/>
            <a:r>
              <a:rPr lang="zh-CN" altLang="en-US" sz="2200" dirty="0">
                <a:latin typeface="Times New Roman" panose="02020603050405020304" pitchFamily="18" charset="0"/>
              </a:rPr>
              <a:t>用 </a:t>
            </a:r>
            <a:r>
              <a:rPr lang="en-US" altLang="zh-CN" sz="2200" dirty="0" err="1">
                <a:latin typeface="Times New Roman" panose="02020603050405020304" pitchFamily="18" charset="0"/>
              </a:rPr>
              <a:t>TicketV</a:t>
            </a:r>
            <a:r>
              <a:rPr lang="en-US" altLang="zh-CN" sz="2200" dirty="0">
                <a:latin typeface="Times New Roman" panose="02020603050405020304" pitchFamily="18" charset="0"/>
              </a:rPr>
              <a:t> </a:t>
            </a:r>
            <a:r>
              <a:rPr lang="zh-CN" altLang="en-US" sz="2200" dirty="0">
                <a:latin typeface="Times New Roman" panose="02020603050405020304" pitchFamily="18" charset="0"/>
              </a:rPr>
              <a:t>表示访</a:t>
            </a:r>
            <a:r>
              <a:rPr lang="zh-CN" altLang="en-US" sz="2200" dirty="0">
                <a:highlight>
                  <a:srgbClr val="FFFF00"/>
                </a:highlight>
                <a:latin typeface="Times New Roman" panose="02020603050405020304" pitchFamily="18" charset="0"/>
              </a:rPr>
              <a:t>问应用服务器 </a:t>
            </a:r>
            <a:r>
              <a:rPr lang="en-US" altLang="zh-CN" sz="2200" dirty="0">
                <a:highlight>
                  <a:srgbClr val="FFFF00"/>
                </a:highlight>
                <a:latin typeface="Times New Roman" panose="02020603050405020304" pitchFamily="18" charset="0"/>
              </a:rPr>
              <a:t>V </a:t>
            </a:r>
            <a:r>
              <a:rPr lang="zh-CN" altLang="en-US" sz="2200" dirty="0">
                <a:highlight>
                  <a:srgbClr val="FFFF00"/>
                </a:highlight>
                <a:latin typeface="Times New Roman" panose="02020603050405020304" pitchFamily="18" charset="0"/>
              </a:rPr>
              <a:t>的票据</a:t>
            </a:r>
            <a:r>
              <a:rPr lang="zh-CN" altLang="en-US" sz="2200" dirty="0">
                <a:latin typeface="Times New Roman" panose="02020603050405020304" pitchFamily="18" charset="0"/>
              </a:rPr>
              <a: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65539" name="Group 3"/>
          <p:cNvGrpSpPr/>
          <p:nvPr/>
        </p:nvGrpSpPr>
        <p:grpSpPr bwMode="auto">
          <a:xfrm>
            <a:off x="7032625" y="1377951"/>
            <a:ext cx="1512888" cy="1114425"/>
            <a:chOff x="3107" y="709"/>
            <a:chExt cx="953" cy="702"/>
          </a:xfrm>
        </p:grpSpPr>
        <p:sp>
          <p:nvSpPr>
            <p:cNvPr id="65626"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7"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8"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9"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0"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1"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2"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3"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4"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5"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6"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7"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8"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39"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5540" name="Text Box 18"/>
          <p:cNvSpPr txBox="1">
            <a:spLocks noChangeArrowheads="1"/>
          </p:cNvSpPr>
          <p:nvPr/>
        </p:nvSpPr>
        <p:spPr bwMode="auto">
          <a:xfrm>
            <a:off x="6816726" y="249237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电影院售票处</a:t>
            </a:r>
          </a:p>
        </p:txBody>
      </p:sp>
      <p:grpSp>
        <p:nvGrpSpPr>
          <p:cNvPr id="65541" name="Group 19"/>
          <p:cNvGrpSpPr/>
          <p:nvPr/>
        </p:nvGrpSpPr>
        <p:grpSpPr bwMode="auto">
          <a:xfrm>
            <a:off x="8759825" y="5156200"/>
            <a:ext cx="1512888" cy="1081088"/>
            <a:chOff x="3515" y="2931"/>
            <a:chExt cx="953" cy="681"/>
          </a:xfrm>
        </p:grpSpPr>
        <p:sp>
          <p:nvSpPr>
            <p:cNvPr id="65612"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3"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4"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5"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6"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7"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8"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9"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0"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1"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2"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3"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4"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25"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5542" name="Text Box 34"/>
          <p:cNvSpPr txBox="1">
            <a:spLocks noChangeArrowheads="1"/>
          </p:cNvSpPr>
          <p:nvPr/>
        </p:nvSpPr>
        <p:spPr bwMode="auto">
          <a:xfrm>
            <a:off x="6959601" y="58769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a:t>
            </a:r>
          </a:p>
        </p:txBody>
      </p:sp>
      <p:grpSp>
        <p:nvGrpSpPr>
          <p:cNvPr id="65543" name="Group 35"/>
          <p:cNvGrpSpPr/>
          <p:nvPr/>
        </p:nvGrpSpPr>
        <p:grpSpPr bwMode="auto">
          <a:xfrm>
            <a:off x="3000375" y="4508501"/>
            <a:ext cx="863600" cy="1008063"/>
            <a:chOff x="930" y="1933"/>
            <a:chExt cx="499" cy="817"/>
          </a:xfrm>
        </p:grpSpPr>
        <p:sp>
          <p:nvSpPr>
            <p:cNvPr id="65607"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5608"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09"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0"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11"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5544" name="Line 41"/>
          <p:cNvSpPr>
            <a:spLocks noChangeShapeType="1"/>
          </p:cNvSpPr>
          <p:nvPr/>
        </p:nvSpPr>
        <p:spPr bwMode="auto">
          <a:xfrm flipV="1">
            <a:off x="3503613" y="2708275"/>
            <a:ext cx="0" cy="1657350"/>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45" name="Text Box 42"/>
          <p:cNvSpPr txBox="1">
            <a:spLocks noChangeArrowheads="1"/>
          </p:cNvSpPr>
          <p:nvPr/>
        </p:nvSpPr>
        <p:spPr bwMode="auto">
          <a:xfrm>
            <a:off x="3575050" y="3140076"/>
            <a:ext cx="1512888"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dirty="0">
                <a:solidFill>
                  <a:srgbClr val="000000"/>
                </a:solidFill>
              </a:rPr>
              <a:t>共享信用卡信息：</a:t>
            </a:r>
            <a:r>
              <a:rPr lang="zh-CN" altLang="en-US" sz="1400" b="1" dirty="0">
                <a:solidFill>
                  <a:srgbClr val="FF0000"/>
                </a:solidFill>
              </a:rPr>
              <a:t>不用向许可证部门初始信用卡密码</a:t>
            </a:r>
          </a:p>
          <a:p>
            <a:pPr eaLnBrk="1" hangingPunct="1">
              <a:spcBef>
                <a:spcPct val="50000"/>
              </a:spcBef>
            </a:pPr>
            <a:endParaRPr lang="en-US" altLang="zh-CN" sz="1400" b="1" dirty="0">
              <a:solidFill>
                <a:srgbClr val="000000"/>
              </a:solidFill>
            </a:endParaRPr>
          </a:p>
        </p:txBody>
      </p:sp>
      <p:grpSp>
        <p:nvGrpSpPr>
          <p:cNvPr id="65546" name="Group 43"/>
          <p:cNvGrpSpPr/>
          <p:nvPr/>
        </p:nvGrpSpPr>
        <p:grpSpPr bwMode="auto">
          <a:xfrm>
            <a:off x="3000375" y="1377950"/>
            <a:ext cx="1512888" cy="1081088"/>
            <a:chOff x="2064" y="618"/>
            <a:chExt cx="953" cy="681"/>
          </a:xfrm>
        </p:grpSpPr>
        <p:sp>
          <p:nvSpPr>
            <p:cNvPr id="65593" name="Line 44"/>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4" name="Line 45"/>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5" name="Line 46"/>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6" name="Line 47"/>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7" name="Line 48"/>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8" name="Line 49"/>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9" name="Line 50"/>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00" name="Line 51"/>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01" name="Line 52"/>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02" name="Line 53"/>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03" name="Line 54"/>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04" name="Line 55"/>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05" name="Line 56"/>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606" name="Line 57"/>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5547" name="Line 58"/>
          <p:cNvSpPr>
            <a:spLocks noChangeShapeType="1"/>
          </p:cNvSpPr>
          <p:nvPr/>
        </p:nvSpPr>
        <p:spPr bwMode="auto">
          <a:xfrm>
            <a:off x="4224339" y="5300663"/>
            <a:ext cx="2879725"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48" name="Text Box 59"/>
          <p:cNvSpPr txBox="1">
            <a:spLocks noChangeArrowheads="1"/>
          </p:cNvSpPr>
          <p:nvPr/>
        </p:nvSpPr>
        <p:spPr bwMode="auto">
          <a:xfrm>
            <a:off x="5159375" y="4868863"/>
            <a:ext cx="17287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初始电影票</a:t>
            </a:r>
          </a:p>
        </p:txBody>
      </p:sp>
      <p:sp>
        <p:nvSpPr>
          <p:cNvPr id="65549" name="Line 60"/>
          <p:cNvSpPr>
            <a:spLocks noChangeShapeType="1"/>
          </p:cNvSpPr>
          <p:nvPr/>
        </p:nvSpPr>
        <p:spPr bwMode="auto">
          <a:xfrm>
            <a:off x="4511675" y="2132013"/>
            <a:ext cx="2520950" cy="0"/>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50" name="Text Box 61"/>
          <p:cNvSpPr txBox="1">
            <a:spLocks noChangeArrowheads="1"/>
          </p:cNvSpPr>
          <p:nvPr/>
        </p:nvSpPr>
        <p:spPr bwMode="auto">
          <a:xfrm>
            <a:off x="4727575" y="1628775"/>
            <a:ext cx="23050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00"/>
                </a:solidFill>
              </a:rPr>
              <a:t>共享“购票许可证”信息：</a:t>
            </a:r>
            <a:r>
              <a:rPr lang="zh-CN" altLang="en-US" sz="1400" b="1">
                <a:solidFill>
                  <a:srgbClr val="FF0000"/>
                </a:solidFill>
              </a:rPr>
              <a:t>不用出示信用卡及密码</a:t>
            </a:r>
          </a:p>
        </p:txBody>
      </p:sp>
      <p:sp>
        <p:nvSpPr>
          <p:cNvPr id="65551" name="Line 62"/>
          <p:cNvSpPr>
            <a:spLocks noChangeShapeType="1"/>
          </p:cNvSpPr>
          <p:nvPr/>
        </p:nvSpPr>
        <p:spPr bwMode="auto">
          <a:xfrm>
            <a:off x="7824788" y="2779713"/>
            <a:ext cx="1008062" cy="2665412"/>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52" name="Text Box 63"/>
          <p:cNvSpPr txBox="1">
            <a:spLocks noChangeArrowheads="1"/>
          </p:cNvSpPr>
          <p:nvPr/>
        </p:nvSpPr>
        <p:spPr bwMode="auto">
          <a:xfrm>
            <a:off x="8651876" y="2492375"/>
            <a:ext cx="20161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00"/>
                </a:solidFill>
              </a:rPr>
              <a:t>共享“电影票” 信息：</a:t>
            </a:r>
            <a:r>
              <a:rPr lang="zh-CN" altLang="en-US" sz="1400" b="1">
                <a:solidFill>
                  <a:srgbClr val="FF0000"/>
                </a:solidFill>
              </a:rPr>
              <a:t>不用多次购买许可证</a:t>
            </a:r>
          </a:p>
        </p:txBody>
      </p:sp>
      <p:sp>
        <p:nvSpPr>
          <p:cNvPr id="65553" name="Text Box 64"/>
          <p:cNvSpPr txBox="1">
            <a:spLocks noChangeArrowheads="1"/>
          </p:cNvSpPr>
          <p:nvPr/>
        </p:nvSpPr>
        <p:spPr bwMode="auto">
          <a:xfrm>
            <a:off x="2640014" y="249237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许可证部门</a:t>
            </a:r>
          </a:p>
        </p:txBody>
      </p:sp>
      <p:sp>
        <p:nvSpPr>
          <p:cNvPr id="65554" name="Text Box 65"/>
          <p:cNvSpPr txBox="1">
            <a:spLocks noChangeArrowheads="1"/>
          </p:cNvSpPr>
          <p:nvPr/>
        </p:nvSpPr>
        <p:spPr bwMode="auto">
          <a:xfrm>
            <a:off x="2640014" y="5516563"/>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观众</a:t>
            </a:r>
          </a:p>
        </p:txBody>
      </p:sp>
      <p:grpSp>
        <p:nvGrpSpPr>
          <p:cNvPr id="65555" name="Group 66"/>
          <p:cNvGrpSpPr/>
          <p:nvPr/>
        </p:nvGrpSpPr>
        <p:grpSpPr bwMode="auto">
          <a:xfrm>
            <a:off x="7175500" y="4652964"/>
            <a:ext cx="1512888" cy="1081087"/>
            <a:chOff x="3515" y="2931"/>
            <a:chExt cx="953" cy="681"/>
          </a:xfrm>
        </p:grpSpPr>
        <p:sp>
          <p:nvSpPr>
            <p:cNvPr id="65579" name="Line 67"/>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0" name="Line 68"/>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1" name="Line 69"/>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2" name="Line 70"/>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3" name="Line 71"/>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4" name="Line 72"/>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5" name="Line 73"/>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6" name="Line 74"/>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7" name="Line 75"/>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8" name="Line 76"/>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89" name="Line 77"/>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0" name="Line 78"/>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1" name="Line 79"/>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92" name="Line 80"/>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5556" name="Group 81"/>
          <p:cNvGrpSpPr/>
          <p:nvPr/>
        </p:nvGrpSpPr>
        <p:grpSpPr bwMode="auto">
          <a:xfrm>
            <a:off x="8832850" y="4076700"/>
            <a:ext cx="1512888" cy="1081088"/>
            <a:chOff x="3515" y="2931"/>
            <a:chExt cx="953" cy="681"/>
          </a:xfrm>
        </p:grpSpPr>
        <p:sp>
          <p:nvSpPr>
            <p:cNvPr id="65565" name="Line 82"/>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66" name="Line 83"/>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67" name="Line 84"/>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68" name="Line 85"/>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69" name="Line 86"/>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0" name="Line 87"/>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1" name="Line 88"/>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2" name="Line 89"/>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3" name="Line 90"/>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4" name="Line 91"/>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5" name="Line 92"/>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6" name="Line 93"/>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7" name="Line 94"/>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5578" name="Line 95"/>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5557" name="Line 96"/>
          <p:cNvSpPr>
            <a:spLocks noChangeShapeType="1"/>
          </p:cNvSpPr>
          <p:nvPr/>
        </p:nvSpPr>
        <p:spPr bwMode="auto">
          <a:xfrm>
            <a:off x="8040688" y="2779714"/>
            <a:ext cx="1295400" cy="1368425"/>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58" name="Line 97"/>
          <p:cNvSpPr>
            <a:spLocks noChangeShapeType="1"/>
          </p:cNvSpPr>
          <p:nvPr/>
        </p:nvSpPr>
        <p:spPr bwMode="auto">
          <a:xfrm>
            <a:off x="7535863" y="2852739"/>
            <a:ext cx="0" cy="2016125"/>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59" name="Line 98"/>
          <p:cNvSpPr>
            <a:spLocks noChangeShapeType="1"/>
          </p:cNvSpPr>
          <p:nvPr/>
        </p:nvSpPr>
        <p:spPr bwMode="auto">
          <a:xfrm flipV="1">
            <a:off x="3863976" y="2563814"/>
            <a:ext cx="3095625" cy="2160587"/>
          </a:xfrm>
          <a:prstGeom prst="line">
            <a:avLst/>
          </a:prstGeom>
          <a:noFill/>
          <a:ln w="9525">
            <a:solidFill>
              <a:schemeClr val="tx2"/>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5560" name="Text Box 99"/>
          <p:cNvSpPr txBox="1">
            <a:spLocks noChangeArrowheads="1"/>
          </p:cNvSpPr>
          <p:nvPr/>
        </p:nvSpPr>
        <p:spPr bwMode="auto">
          <a:xfrm>
            <a:off x="5303839" y="3644900"/>
            <a:ext cx="17287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购买电影票</a:t>
            </a:r>
          </a:p>
        </p:txBody>
      </p:sp>
      <p:sp>
        <p:nvSpPr>
          <p:cNvPr id="277604" name="Text Box 100" descr="轮廓式菱形"/>
          <p:cNvSpPr txBox="1">
            <a:spLocks noChangeArrowheads="1"/>
          </p:cNvSpPr>
          <p:nvPr/>
        </p:nvSpPr>
        <p:spPr bwMode="auto">
          <a:xfrm>
            <a:off x="4151313" y="5661026"/>
            <a:ext cx="2736850" cy="701675"/>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solidFill>
                  <a:srgbClr val="FF0000"/>
                </a:solidFill>
              </a:rPr>
              <a:t>最后一个问题：票的有效期问题</a:t>
            </a:r>
          </a:p>
        </p:txBody>
      </p:sp>
      <p:sp>
        <p:nvSpPr>
          <p:cNvPr id="65562" name="Text Box 101"/>
          <p:cNvSpPr txBox="1">
            <a:spLocks noChangeArrowheads="1"/>
          </p:cNvSpPr>
          <p:nvPr/>
        </p:nvSpPr>
        <p:spPr bwMode="auto">
          <a:xfrm>
            <a:off x="8616951" y="623728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a:t>
            </a:r>
          </a:p>
        </p:txBody>
      </p:sp>
      <p:sp>
        <p:nvSpPr>
          <p:cNvPr id="65563" name="Text Box 102"/>
          <p:cNvSpPr txBox="1">
            <a:spLocks noChangeArrowheads="1"/>
          </p:cNvSpPr>
          <p:nvPr/>
        </p:nvSpPr>
        <p:spPr bwMode="auto">
          <a:xfrm>
            <a:off x="8867776" y="429260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rPr>
              <a:t>电影院</a:t>
            </a:r>
          </a:p>
        </p:txBody>
      </p:sp>
      <p:sp>
        <p:nvSpPr>
          <p:cNvPr id="277607" name="Text Box 103" descr="轮廓式菱形"/>
          <p:cNvSpPr txBox="1">
            <a:spLocks noChangeArrowheads="1"/>
          </p:cNvSpPr>
          <p:nvPr/>
        </p:nvSpPr>
        <p:spPr bwMode="auto">
          <a:xfrm>
            <a:off x="4151313" y="6443664"/>
            <a:ext cx="2736850" cy="396875"/>
          </a:xfrm>
          <a:prstGeom prst="rect">
            <a:avLst/>
          </a:prstGeom>
          <a:pattFill prst="openDmnd">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FF0000"/>
                </a:solidFill>
              </a:rPr>
              <a:t>解决方法：时间</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77604"/>
                                        </p:tgtEl>
                                        <p:attrNameLst>
                                          <p:attrName>style.visibility</p:attrName>
                                        </p:attrNameLst>
                                      </p:cBhvr>
                                      <p:to>
                                        <p:strVal val="visible"/>
                                      </p:to>
                                    </p:set>
                                    <p:anim calcmode="lin" valueType="num">
                                      <p:cBhvr additive="base">
                                        <p:cTn id="7" dur="500" fill="hold"/>
                                        <p:tgtEl>
                                          <p:spTgt spid="277604"/>
                                        </p:tgtEl>
                                        <p:attrNameLst>
                                          <p:attrName>ppt_x</p:attrName>
                                        </p:attrNameLst>
                                      </p:cBhvr>
                                      <p:tavLst>
                                        <p:tav tm="0">
                                          <p:val>
                                            <p:strVal val="1+#ppt_w/2"/>
                                          </p:val>
                                        </p:tav>
                                        <p:tav tm="100000">
                                          <p:val>
                                            <p:strVal val="#ppt_x"/>
                                          </p:val>
                                        </p:tav>
                                      </p:tavLst>
                                    </p:anim>
                                    <p:anim calcmode="lin" valueType="num">
                                      <p:cBhvr additive="base">
                                        <p:cTn id="8" dur="500" fill="hold"/>
                                        <p:tgtEl>
                                          <p:spTgt spid="27760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77607"/>
                                        </p:tgtEl>
                                        <p:attrNameLst>
                                          <p:attrName>style.visibility</p:attrName>
                                        </p:attrNameLst>
                                      </p:cBhvr>
                                      <p:to>
                                        <p:strVal val="visible"/>
                                      </p:to>
                                    </p:set>
                                    <p:anim calcmode="lin" valueType="num">
                                      <p:cBhvr additive="base">
                                        <p:cTn id="13" dur="500" fill="hold"/>
                                        <p:tgtEl>
                                          <p:spTgt spid="277607"/>
                                        </p:tgtEl>
                                        <p:attrNameLst>
                                          <p:attrName>ppt_x</p:attrName>
                                        </p:attrNameLst>
                                      </p:cBhvr>
                                      <p:tavLst>
                                        <p:tav tm="0">
                                          <p:val>
                                            <p:strVal val="1+#ppt_w/2"/>
                                          </p:val>
                                        </p:tav>
                                        <p:tav tm="100000">
                                          <p:val>
                                            <p:strVal val="#ppt_x"/>
                                          </p:val>
                                        </p:tav>
                                      </p:tavLst>
                                    </p:anim>
                                    <p:anim calcmode="lin" valueType="num">
                                      <p:cBhvr additive="base">
                                        <p:cTn id="14" dur="500" fill="hold"/>
                                        <p:tgtEl>
                                          <p:spTgt spid="2776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604" grpId="0" animBg="1"/>
      <p:bldP spid="27760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66563" name="Group 3"/>
          <p:cNvGrpSpPr/>
          <p:nvPr/>
        </p:nvGrpSpPr>
        <p:grpSpPr bwMode="auto">
          <a:xfrm>
            <a:off x="7032625" y="1450976"/>
            <a:ext cx="1512888" cy="1114425"/>
            <a:chOff x="3107" y="709"/>
            <a:chExt cx="953" cy="702"/>
          </a:xfrm>
        </p:grpSpPr>
        <p:sp>
          <p:nvSpPr>
            <p:cNvPr id="66619"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0"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1"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2"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3"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4"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5"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6"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7"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8"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29"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30"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31"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32"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6564" name="Text Box 18"/>
          <p:cNvSpPr txBox="1">
            <a:spLocks noChangeArrowheads="1"/>
          </p:cNvSpPr>
          <p:nvPr/>
        </p:nvSpPr>
        <p:spPr bwMode="auto">
          <a:xfrm>
            <a:off x="6816726" y="2619375"/>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66565" name="Group 19"/>
          <p:cNvGrpSpPr/>
          <p:nvPr/>
        </p:nvGrpSpPr>
        <p:grpSpPr bwMode="auto">
          <a:xfrm>
            <a:off x="7175500" y="4779964"/>
            <a:ext cx="1512888" cy="1081087"/>
            <a:chOff x="3515" y="2931"/>
            <a:chExt cx="953" cy="681"/>
          </a:xfrm>
        </p:grpSpPr>
        <p:sp>
          <p:nvSpPr>
            <p:cNvPr id="66605"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06"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07"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08"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09"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0"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1"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2"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3"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4"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5"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6"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7"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18"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6566" name="Text Box 34"/>
          <p:cNvSpPr txBox="1">
            <a:spLocks noChangeArrowheads="1"/>
          </p:cNvSpPr>
          <p:nvPr/>
        </p:nvSpPr>
        <p:spPr bwMode="auto">
          <a:xfrm>
            <a:off x="6959601" y="593248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66567" name="Group 35"/>
          <p:cNvGrpSpPr/>
          <p:nvPr/>
        </p:nvGrpSpPr>
        <p:grpSpPr bwMode="auto">
          <a:xfrm>
            <a:off x="3000375" y="4635501"/>
            <a:ext cx="863600" cy="1008063"/>
            <a:chOff x="930" y="1933"/>
            <a:chExt cx="499" cy="817"/>
          </a:xfrm>
        </p:grpSpPr>
        <p:sp>
          <p:nvSpPr>
            <p:cNvPr id="66600"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6601"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02"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03"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604"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6568" name="Group 41"/>
          <p:cNvGrpSpPr/>
          <p:nvPr/>
        </p:nvGrpSpPr>
        <p:grpSpPr bwMode="auto">
          <a:xfrm>
            <a:off x="3000375" y="1450975"/>
            <a:ext cx="1512888" cy="1081088"/>
            <a:chOff x="2064" y="618"/>
            <a:chExt cx="953" cy="681"/>
          </a:xfrm>
        </p:grpSpPr>
        <p:sp>
          <p:nvSpPr>
            <p:cNvPr id="66586"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87"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88"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89"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0"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1"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2"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3"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4"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5"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6"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7"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8"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6599"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 name="Group 56"/>
          <p:cNvGrpSpPr/>
          <p:nvPr/>
        </p:nvGrpSpPr>
        <p:grpSpPr bwMode="auto">
          <a:xfrm>
            <a:off x="4224339" y="4995863"/>
            <a:ext cx="2879725" cy="431800"/>
            <a:chOff x="1701" y="2886"/>
            <a:chExt cx="1814" cy="272"/>
          </a:xfrm>
        </p:grpSpPr>
        <p:sp>
          <p:nvSpPr>
            <p:cNvPr id="66584" name="Line 57"/>
            <p:cNvSpPr>
              <a:spLocks noChangeShapeType="1"/>
            </p:cNvSpPr>
            <p:nvPr/>
          </p:nvSpPr>
          <p:spPr bwMode="auto">
            <a:xfrm>
              <a:off x="1701" y="3158"/>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6585" name="Text Box 58"/>
            <p:cNvSpPr txBox="1">
              <a:spLocks noChangeArrowheads="1"/>
            </p:cNvSpPr>
            <p:nvPr/>
          </p:nvSpPr>
          <p:spPr bwMode="auto">
            <a:xfrm>
              <a:off x="1927" y="2886"/>
              <a:ext cx="14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具有有效期的</a:t>
              </a:r>
              <a:r>
                <a:rPr lang="en-US" altLang="zh-CN" sz="1400" b="1">
                  <a:solidFill>
                    <a:srgbClr val="000000"/>
                  </a:solidFill>
                  <a:latin typeface="Times New Roman" panose="02020603050405020304" pitchFamily="18" charset="0"/>
                </a:rPr>
                <a:t>Ticket</a:t>
              </a:r>
            </a:p>
          </p:txBody>
        </p:sp>
      </p:grpSp>
      <p:grpSp>
        <p:nvGrpSpPr>
          <p:cNvPr id="7" name="Group 59"/>
          <p:cNvGrpSpPr/>
          <p:nvPr/>
        </p:nvGrpSpPr>
        <p:grpSpPr bwMode="auto">
          <a:xfrm>
            <a:off x="4511675" y="1773239"/>
            <a:ext cx="2520950" cy="503237"/>
            <a:chOff x="1882" y="845"/>
            <a:chExt cx="1588" cy="317"/>
          </a:xfrm>
        </p:grpSpPr>
        <p:sp>
          <p:nvSpPr>
            <p:cNvPr id="66582" name="Line 60"/>
            <p:cNvSpPr>
              <a:spLocks noChangeShapeType="1"/>
            </p:cNvSpPr>
            <p:nvPr/>
          </p:nvSpPr>
          <p:spPr bwMode="auto">
            <a:xfrm>
              <a:off x="1882" y="1162"/>
              <a:ext cx="1588" cy="0"/>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6583" name="Text Box 61"/>
            <p:cNvSpPr txBox="1">
              <a:spLocks noChangeArrowheads="1"/>
            </p:cNvSpPr>
            <p:nvPr/>
          </p:nvSpPr>
          <p:spPr bwMode="auto">
            <a:xfrm>
              <a:off x="2018" y="845"/>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grpSp>
      <p:grpSp>
        <p:nvGrpSpPr>
          <p:cNvPr id="8" name="Group 62"/>
          <p:cNvGrpSpPr/>
          <p:nvPr/>
        </p:nvGrpSpPr>
        <p:grpSpPr bwMode="auto">
          <a:xfrm>
            <a:off x="7824789" y="3051176"/>
            <a:ext cx="2016125" cy="1655763"/>
            <a:chOff x="3969" y="1661"/>
            <a:chExt cx="1270" cy="1043"/>
          </a:xfrm>
        </p:grpSpPr>
        <p:sp>
          <p:nvSpPr>
            <p:cNvPr id="66580" name="Line 63"/>
            <p:cNvSpPr>
              <a:spLocks noChangeShapeType="1"/>
            </p:cNvSpPr>
            <p:nvPr/>
          </p:nvSpPr>
          <p:spPr bwMode="auto">
            <a:xfrm>
              <a:off x="3969" y="1661"/>
              <a:ext cx="0" cy="1043"/>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6581" name="Text Box 64"/>
            <p:cNvSpPr txBox="1">
              <a:spLocks noChangeArrowheads="1"/>
            </p:cNvSpPr>
            <p:nvPr/>
          </p:nvSpPr>
          <p:spPr bwMode="auto">
            <a:xfrm>
              <a:off x="3969" y="1933"/>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sp>
        <p:nvSpPr>
          <p:cNvPr id="66572" name="Text Box 65"/>
          <p:cNvSpPr txBox="1">
            <a:spLocks noChangeArrowheads="1"/>
          </p:cNvSpPr>
          <p:nvPr/>
        </p:nvSpPr>
        <p:spPr bwMode="auto">
          <a:xfrm>
            <a:off x="2640014" y="261937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66573" name="Text Box 66"/>
          <p:cNvSpPr txBox="1">
            <a:spLocks noChangeArrowheads="1"/>
          </p:cNvSpPr>
          <p:nvPr/>
        </p:nvSpPr>
        <p:spPr bwMode="auto">
          <a:xfrm>
            <a:off x="2640014" y="5643563"/>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9" name="Group 67"/>
          <p:cNvGrpSpPr/>
          <p:nvPr/>
        </p:nvGrpSpPr>
        <p:grpSpPr bwMode="auto">
          <a:xfrm>
            <a:off x="3503614" y="2835275"/>
            <a:ext cx="1584325" cy="1657350"/>
            <a:chOff x="1247" y="1525"/>
            <a:chExt cx="998" cy="1044"/>
          </a:xfrm>
        </p:grpSpPr>
        <p:sp>
          <p:nvSpPr>
            <p:cNvPr id="66578" name="Line 68"/>
            <p:cNvSpPr>
              <a:spLocks noChangeShapeType="1"/>
            </p:cNvSpPr>
            <p:nvPr/>
          </p:nvSpPr>
          <p:spPr bwMode="auto">
            <a:xfrm flipV="1">
              <a:off x="1247" y="1525"/>
              <a:ext cx="0" cy="1044"/>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6579" name="Text Box 69"/>
            <p:cNvSpPr txBox="1">
              <a:spLocks noChangeArrowheads="1"/>
            </p:cNvSpPr>
            <p:nvPr/>
          </p:nvSpPr>
          <p:spPr bwMode="auto">
            <a:xfrm>
              <a:off x="1292" y="1706"/>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共享用户口令</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grpSp>
      <p:grpSp>
        <p:nvGrpSpPr>
          <p:cNvPr id="10" name="Group 70"/>
          <p:cNvGrpSpPr/>
          <p:nvPr/>
        </p:nvGrpSpPr>
        <p:grpSpPr bwMode="auto">
          <a:xfrm>
            <a:off x="3863975" y="2690814"/>
            <a:ext cx="3671888" cy="2160587"/>
            <a:chOff x="1474" y="1434"/>
            <a:chExt cx="2313" cy="1361"/>
          </a:xfrm>
        </p:grpSpPr>
        <p:sp>
          <p:nvSpPr>
            <p:cNvPr id="66576" name="Line 71"/>
            <p:cNvSpPr>
              <a:spLocks noChangeShapeType="1"/>
            </p:cNvSpPr>
            <p:nvPr/>
          </p:nvSpPr>
          <p:spPr bwMode="auto">
            <a:xfrm flipV="1">
              <a:off x="1474" y="1434"/>
              <a:ext cx="1950" cy="1361"/>
            </a:xfrm>
            <a:prstGeom prst="line">
              <a:avLst/>
            </a:prstGeom>
            <a:noFill/>
            <a:ln w="9525">
              <a:solidFill>
                <a:schemeClr val="tx2"/>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6577" name="Text Box 72"/>
            <p:cNvSpPr txBox="1">
              <a:spLocks noChangeArrowheads="1"/>
            </p:cNvSpPr>
            <p:nvPr/>
          </p:nvSpPr>
          <p:spPr bwMode="auto">
            <a:xfrm>
              <a:off x="2381" y="2115"/>
              <a:ext cx="14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购买具有有效期的</a:t>
              </a:r>
              <a:r>
                <a:rPr lang="en-US" altLang="zh-CN" sz="1400" b="1">
                  <a:solidFill>
                    <a:srgbClr val="000000"/>
                  </a:solidFill>
                  <a:latin typeface="Times New Roman" panose="02020603050405020304" pitchFamily="18" charset="0"/>
                </a:rPr>
                <a:t>Ticket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67587" name="Group 3"/>
          <p:cNvGrpSpPr/>
          <p:nvPr/>
        </p:nvGrpSpPr>
        <p:grpSpPr bwMode="auto">
          <a:xfrm>
            <a:off x="7032625" y="1555751"/>
            <a:ext cx="1512888" cy="1114425"/>
            <a:chOff x="3107" y="709"/>
            <a:chExt cx="953" cy="702"/>
          </a:xfrm>
        </p:grpSpPr>
        <p:sp>
          <p:nvSpPr>
            <p:cNvPr id="67660"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1"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2"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3"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4"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5"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6"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7"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8"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69"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70"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71"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72"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73"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7588" name="Text Box 18"/>
          <p:cNvSpPr txBox="1">
            <a:spLocks noChangeArrowheads="1"/>
          </p:cNvSpPr>
          <p:nvPr/>
        </p:nvSpPr>
        <p:spPr bwMode="auto">
          <a:xfrm>
            <a:off x="6816726" y="2635250"/>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67589" name="Group 19"/>
          <p:cNvGrpSpPr/>
          <p:nvPr/>
        </p:nvGrpSpPr>
        <p:grpSpPr bwMode="auto">
          <a:xfrm>
            <a:off x="7175500" y="4795839"/>
            <a:ext cx="1512888" cy="1081087"/>
            <a:chOff x="3515" y="2931"/>
            <a:chExt cx="953" cy="681"/>
          </a:xfrm>
        </p:grpSpPr>
        <p:sp>
          <p:nvSpPr>
            <p:cNvPr id="67646"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47"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48"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49"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0"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1"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2"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3"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4"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5"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6"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7"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8"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59"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7590" name="Text Box 34"/>
          <p:cNvSpPr txBox="1">
            <a:spLocks noChangeArrowheads="1"/>
          </p:cNvSpPr>
          <p:nvPr/>
        </p:nvSpPr>
        <p:spPr bwMode="auto">
          <a:xfrm>
            <a:off x="6959601" y="5948363"/>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67591" name="Group 35"/>
          <p:cNvGrpSpPr/>
          <p:nvPr/>
        </p:nvGrpSpPr>
        <p:grpSpPr bwMode="auto">
          <a:xfrm>
            <a:off x="3000375" y="4651376"/>
            <a:ext cx="863600" cy="1008063"/>
            <a:chOff x="930" y="1933"/>
            <a:chExt cx="499" cy="817"/>
          </a:xfrm>
        </p:grpSpPr>
        <p:sp>
          <p:nvSpPr>
            <p:cNvPr id="67641"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7642"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43"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44"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45"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7592" name="Group 41"/>
          <p:cNvGrpSpPr/>
          <p:nvPr/>
        </p:nvGrpSpPr>
        <p:grpSpPr bwMode="auto">
          <a:xfrm>
            <a:off x="3000375" y="1555750"/>
            <a:ext cx="1512888" cy="1081088"/>
            <a:chOff x="2064" y="618"/>
            <a:chExt cx="953" cy="681"/>
          </a:xfrm>
        </p:grpSpPr>
        <p:sp>
          <p:nvSpPr>
            <p:cNvPr id="67627"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28"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29"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0"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1"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2"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3"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4"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5"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6"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7"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8"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39"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7640"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7593" name="Text Box 56"/>
          <p:cNvSpPr txBox="1">
            <a:spLocks noChangeArrowheads="1"/>
          </p:cNvSpPr>
          <p:nvPr/>
        </p:nvSpPr>
        <p:spPr bwMode="auto">
          <a:xfrm>
            <a:off x="2640014" y="26352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67594" name="Text Box 57"/>
          <p:cNvSpPr txBox="1">
            <a:spLocks noChangeArrowheads="1"/>
          </p:cNvSpPr>
          <p:nvPr/>
        </p:nvSpPr>
        <p:spPr bwMode="auto">
          <a:xfrm>
            <a:off x="2640014" y="56594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6" name="Group 58"/>
          <p:cNvGrpSpPr/>
          <p:nvPr/>
        </p:nvGrpSpPr>
        <p:grpSpPr bwMode="auto">
          <a:xfrm>
            <a:off x="2351089" y="2922588"/>
            <a:ext cx="1512887" cy="1657350"/>
            <a:chOff x="521" y="1570"/>
            <a:chExt cx="953" cy="1044"/>
          </a:xfrm>
        </p:grpSpPr>
        <p:sp>
          <p:nvSpPr>
            <p:cNvPr id="67625" name="Line 59"/>
            <p:cNvSpPr>
              <a:spLocks noChangeShapeType="1"/>
            </p:cNvSpPr>
            <p:nvPr/>
          </p:nvSpPr>
          <p:spPr bwMode="auto">
            <a:xfrm flipV="1">
              <a:off x="1292" y="1570"/>
              <a:ext cx="0" cy="1044"/>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7626" name="Text Box 60"/>
            <p:cNvSpPr txBox="1">
              <a:spLocks noChangeArrowheads="1"/>
            </p:cNvSpPr>
            <p:nvPr/>
          </p:nvSpPr>
          <p:spPr bwMode="auto">
            <a:xfrm>
              <a:off x="521" y="1979"/>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我想看电影</a:t>
              </a:r>
            </a:p>
          </p:txBody>
        </p:sp>
      </p:grpSp>
      <p:grpSp>
        <p:nvGrpSpPr>
          <p:cNvPr id="7" name="Group 61"/>
          <p:cNvGrpSpPr/>
          <p:nvPr/>
        </p:nvGrpSpPr>
        <p:grpSpPr bwMode="auto">
          <a:xfrm>
            <a:off x="3792539" y="2995613"/>
            <a:ext cx="2447925" cy="1511300"/>
            <a:chOff x="1429" y="1616"/>
            <a:chExt cx="1542" cy="952"/>
          </a:xfrm>
        </p:grpSpPr>
        <p:sp>
          <p:nvSpPr>
            <p:cNvPr id="67623" name="Text Box 62"/>
            <p:cNvSpPr txBox="1">
              <a:spLocks noChangeArrowheads="1"/>
            </p:cNvSpPr>
            <p:nvPr/>
          </p:nvSpPr>
          <p:spPr bwMode="auto">
            <a:xfrm>
              <a:off x="1474" y="1616"/>
              <a:ext cx="14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购票许可证</a:t>
              </a:r>
              <a:r>
                <a:rPr lang="en-US" altLang="zh-CN" sz="1400" b="1">
                  <a:solidFill>
                    <a:srgbClr val="000000"/>
                  </a:solidFill>
                  <a:latin typeface="Times New Roman" panose="02020603050405020304" pitchFamily="18" charset="0"/>
                </a:rPr>
                <a:t>}}</a:t>
              </a:r>
            </a:p>
          </p:txBody>
        </p:sp>
        <p:sp>
          <p:nvSpPr>
            <p:cNvPr id="67624" name="Line 63"/>
            <p:cNvSpPr>
              <a:spLocks noChangeShapeType="1"/>
            </p:cNvSpPr>
            <p:nvPr/>
          </p:nvSpPr>
          <p:spPr bwMode="auto">
            <a:xfrm>
              <a:off x="1429"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8" name="Group 64"/>
          <p:cNvGrpSpPr/>
          <p:nvPr/>
        </p:nvGrpSpPr>
        <p:grpSpPr bwMode="auto">
          <a:xfrm>
            <a:off x="3863975" y="2851151"/>
            <a:ext cx="3024188" cy="2087563"/>
            <a:chOff x="1474" y="1525"/>
            <a:chExt cx="1905" cy="1315"/>
          </a:xfrm>
        </p:grpSpPr>
        <p:sp>
          <p:nvSpPr>
            <p:cNvPr id="67621" name="Line 65"/>
            <p:cNvSpPr>
              <a:spLocks noChangeShapeType="1"/>
            </p:cNvSpPr>
            <p:nvPr/>
          </p:nvSpPr>
          <p:spPr bwMode="auto">
            <a:xfrm flipV="1">
              <a:off x="1565" y="1525"/>
              <a:ext cx="1814" cy="131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7622" name="Text Box 66"/>
            <p:cNvSpPr txBox="1">
              <a:spLocks noChangeArrowheads="1"/>
            </p:cNvSpPr>
            <p:nvPr/>
          </p:nvSpPr>
          <p:spPr bwMode="auto">
            <a:xfrm>
              <a:off x="1474" y="2024"/>
              <a:ext cx="11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购票许可证</a:t>
              </a:r>
              <a:r>
                <a:rPr lang="en-US" altLang="zh-CN" sz="1400" b="1">
                  <a:solidFill>
                    <a:srgbClr val="000000"/>
                  </a:solidFill>
                  <a:latin typeface="Times New Roman" panose="02020603050405020304" pitchFamily="18" charset="0"/>
                </a:rPr>
                <a:t>}</a:t>
              </a:r>
            </a:p>
          </p:txBody>
        </p:sp>
      </p:grpSp>
      <p:grpSp>
        <p:nvGrpSpPr>
          <p:cNvPr id="9" name="Group 67"/>
          <p:cNvGrpSpPr/>
          <p:nvPr/>
        </p:nvGrpSpPr>
        <p:grpSpPr bwMode="auto">
          <a:xfrm>
            <a:off x="4440238" y="3138488"/>
            <a:ext cx="3167062" cy="2089150"/>
            <a:chOff x="1837" y="1706"/>
            <a:chExt cx="1995" cy="1316"/>
          </a:xfrm>
        </p:grpSpPr>
        <p:sp>
          <p:nvSpPr>
            <p:cNvPr id="67619" name="Line 68"/>
            <p:cNvSpPr>
              <a:spLocks noChangeShapeType="1"/>
            </p:cNvSpPr>
            <p:nvPr/>
          </p:nvSpPr>
          <p:spPr bwMode="auto">
            <a:xfrm flipH="1">
              <a:off x="1837" y="1706"/>
              <a:ext cx="1678" cy="1316"/>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7620" name="Text Box 69"/>
            <p:cNvSpPr txBox="1">
              <a:spLocks noChangeArrowheads="1"/>
            </p:cNvSpPr>
            <p:nvPr/>
          </p:nvSpPr>
          <p:spPr bwMode="auto">
            <a:xfrm>
              <a:off x="2653" y="2115"/>
              <a:ext cx="11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票</a:t>
              </a:r>
              <a:r>
                <a:rPr lang="en-US" altLang="zh-CN" sz="1400" b="1">
                  <a:solidFill>
                    <a:srgbClr val="000000"/>
                  </a:solidFill>
                  <a:latin typeface="Times New Roman" panose="02020603050405020304" pitchFamily="18" charset="0"/>
                </a:rPr>
                <a:t>}</a:t>
              </a:r>
            </a:p>
          </p:txBody>
        </p:sp>
      </p:grpSp>
      <p:grpSp>
        <p:nvGrpSpPr>
          <p:cNvPr id="10" name="Group 70"/>
          <p:cNvGrpSpPr/>
          <p:nvPr/>
        </p:nvGrpSpPr>
        <p:grpSpPr bwMode="auto">
          <a:xfrm>
            <a:off x="4224339" y="5083176"/>
            <a:ext cx="2879725" cy="360363"/>
            <a:chOff x="1701" y="2931"/>
            <a:chExt cx="1814" cy="227"/>
          </a:xfrm>
        </p:grpSpPr>
        <p:sp>
          <p:nvSpPr>
            <p:cNvPr id="67617" name="Line 71"/>
            <p:cNvSpPr>
              <a:spLocks noChangeShapeType="1"/>
            </p:cNvSpPr>
            <p:nvPr/>
          </p:nvSpPr>
          <p:spPr bwMode="auto">
            <a:xfrm>
              <a:off x="1701" y="3158"/>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7618" name="Text Box 72"/>
            <p:cNvSpPr txBox="1">
              <a:spLocks noChangeArrowheads="1"/>
            </p:cNvSpPr>
            <p:nvPr/>
          </p:nvSpPr>
          <p:spPr bwMode="auto">
            <a:xfrm>
              <a:off x="2200" y="2931"/>
              <a:ext cx="11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票</a:t>
              </a:r>
              <a:r>
                <a:rPr lang="en-US" altLang="zh-CN" sz="1400" b="1">
                  <a:solidFill>
                    <a:srgbClr val="000000"/>
                  </a:solidFill>
                  <a:latin typeface="Times New Roman" panose="02020603050405020304" pitchFamily="18" charset="0"/>
                </a:rPr>
                <a:t>}</a:t>
              </a:r>
            </a:p>
          </p:txBody>
        </p:sp>
      </p:grpSp>
      <p:grpSp>
        <p:nvGrpSpPr>
          <p:cNvPr id="11" name="Group 73"/>
          <p:cNvGrpSpPr/>
          <p:nvPr/>
        </p:nvGrpSpPr>
        <p:grpSpPr bwMode="auto">
          <a:xfrm>
            <a:off x="2495551" y="1771651"/>
            <a:ext cx="7345363" cy="2951163"/>
            <a:chOff x="612" y="845"/>
            <a:chExt cx="4627" cy="1859"/>
          </a:xfrm>
        </p:grpSpPr>
        <p:grpSp>
          <p:nvGrpSpPr>
            <p:cNvPr id="67608" name="Group 74"/>
            <p:cNvGrpSpPr/>
            <p:nvPr/>
          </p:nvGrpSpPr>
          <p:grpSpPr bwMode="auto">
            <a:xfrm>
              <a:off x="1882" y="845"/>
              <a:ext cx="1588" cy="317"/>
              <a:chOff x="1882" y="845"/>
              <a:chExt cx="1588" cy="317"/>
            </a:xfrm>
          </p:grpSpPr>
          <p:sp>
            <p:nvSpPr>
              <p:cNvPr id="67615" name="Line 75"/>
              <p:cNvSpPr>
                <a:spLocks noChangeShapeType="1"/>
              </p:cNvSpPr>
              <p:nvPr/>
            </p:nvSpPr>
            <p:spPr bwMode="auto">
              <a:xfrm>
                <a:off x="1882" y="1162"/>
                <a:ext cx="1588" cy="0"/>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7616" name="Text Box 76"/>
              <p:cNvSpPr txBox="1">
                <a:spLocks noChangeArrowheads="1"/>
              </p:cNvSpPr>
              <p:nvPr/>
            </p:nvSpPr>
            <p:spPr bwMode="auto">
              <a:xfrm>
                <a:off x="2018" y="845"/>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grpSp>
        <p:grpSp>
          <p:nvGrpSpPr>
            <p:cNvPr id="67609" name="Group 77"/>
            <p:cNvGrpSpPr/>
            <p:nvPr/>
          </p:nvGrpSpPr>
          <p:grpSpPr bwMode="auto">
            <a:xfrm>
              <a:off x="3969" y="1661"/>
              <a:ext cx="1270" cy="1043"/>
              <a:chOff x="3969" y="1661"/>
              <a:chExt cx="1270" cy="1043"/>
            </a:xfrm>
          </p:grpSpPr>
          <p:sp>
            <p:nvSpPr>
              <p:cNvPr id="67613" name="Line 78"/>
              <p:cNvSpPr>
                <a:spLocks noChangeShapeType="1"/>
              </p:cNvSpPr>
              <p:nvPr/>
            </p:nvSpPr>
            <p:spPr bwMode="auto">
              <a:xfrm>
                <a:off x="3969" y="1661"/>
                <a:ext cx="0" cy="1043"/>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7614" name="Text Box 79"/>
              <p:cNvSpPr txBox="1">
                <a:spLocks noChangeArrowheads="1"/>
              </p:cNvSpPr>
              <p:nvPr/>
            </p:nvSpPr>
            <p:spPr bwMode="auto">
              <a:xfrm>
                <a:off x="3969" y="1933"/>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grpSp>
          <p:nvGrpSpPr>
            <p:cNvPr id="67610" name="Group 80"/>
            <p:cNvGrpSpPr/>
            <p:nvPr/>
          </p:nvGrpSpPr>
          <p:grpSpPr bwMode="auto">
            <a:xfrm>
              <a:off x="612" y="1525"/>
              <a:ext cx="953" cy="1044"/>
              <a:chOff x="612" y="1525"/>
              <a:chExt cx="953" cy="1044"/>
            </a:xfrm>
          </p:grpSpPr>
          <p:sp>
            <p:nvSpPr>
              <p:cNvPr id="67611" name="Line 81"/>
              <p:cNvSpPr>
                <a:spLocks noChangeShapeType="1"/>
              </p:cNvSpPr>
              <p:nvPr/>
            </p:nvSpPr>
            <p:spPr bwMode="auto">
              <a:xfrm flipV="1">
                <a:off x="1020" y="1525"/>
                <a:ext cx="0" cy="1044"/>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7612" name="Text Box 82"/>
              <p:cNvSpPr txBox="1">
                <a:spLocks noChangeArrowheads="1"/>
              </p:cNvSpPr>
              <p:nvPr/>
            </p:nvSpPr>
            <p:spPr bwMode="auto">
              <a:xfrm>
                <a:off x="612" y="1661"/>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共享用户口令</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grpSp>
      </p:grpSp>
      <p:grpSp>
        <p:nvGrpSpPr>
          <p:cNvPr id="15" name="Group 83"/>
          <p:cNvGrpSpPr/>
          <p:nvPr/>
        </p:nvGrpSpPr>
        <p:grpSpPr bwMode="auto">
          <a:xfrm>
            <a:off x="2566989" y="1555750"/>
            <a:ext cx="6554787" cy="4897438"/>
            <a:chOff x="657" y="709"/>
            <a:chExt cx="4129" cy="3085"/>
          </a:xfrm>
        </p:grpSpPr>
        <p:sp>
          <p:nvSpPr>
            <p:cNvPr id="67602" name="Oval 84"/>
            <p:cNvSpPr>
              <a:spLocks noChangeArrowheads="1"/>
            </p:cNvSpPr>
            <p:nvPr/>
          </p:nvSpPr>
          <p:spPr bwMode="auto">
            <a:xfrm>
              <a:off x="657" y="3521"/>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67603" name="Oval 85"/>
            <p:cNvSpPr>
              <a:spLocks noChangeArrowheads="1"/>
            </p:cNvSpPr>
            <p:nvPr/>
          </p:nvSpPr>
          <p:spPr bwMode="auto">
            <a:xfrm>
              <a:off x="703" y="75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67604" name="Oval 86"/>
            <p:cNvSpPr>
              <a:spLocks noChangeArrowheads="1"/>
            </p:cNvSpPr>
            <p:nvPr/>
          </p:nvSpPr>
          <p:spPr bwMode="auto">
            <a:xfrm>
              <a:off x="3243"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67605" name="Oval 87"/>
            <p:cNvSpPr>
              <a:spLocks noChangeArrowheads="1"/>
            </p:cNvSpPr>
            <p:nvPr/>
          </p:nvSpPr>
          <p:spPr bwMode="auto">
            <a:xfrm>
              <a:off x="4513" y="3158"/>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67606" name="Oval 88"/>
            <p:cNvSpPr>
              <a:spLocks noChangeArrowheads="1"/>
            </p:cNvSpPr>
            <p:nvPr/>
          </p:nvSpPr>
          <p:spPr bwMode="auto">
            <a:xfrm>
              <a:off x="1837"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67607" name="Oval 89"/>
            <p:cNvSpPr>
              <a:spLocks noChangeArrowheads="1"/>
            </p:cNvSpPr>
            <p:nvPr/>
          </p:nvSpPr>
          <p:spPr bwMode="auto">
            <a:xfrm>
              <a:off x="4468"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1"/>
                                        </p:tgtEl>
                                        <p:attrNameLst>
                                          <p:attrName>ppt_x</p:attrName>
                                        </p:attrNameLst>
                                      </p:cBhvr>
                                      <p:tavLst>
                                        <p:tav tm="0">
                                          <p:val>
                                            <p:strVal val="ppt_x"/>
                                          </p:val>
                                        </p:tav>
                                        <p:tav tm="100000">
                                          <p:val>
                                            <p:strVal val="ppt_x"/>
                                          </p:val>
                                        </p:tav>
                                      </p:tavLst>
                                    </p:anim>
                                    <p:anim calcmode="lin" valueType="num">
                                      <p:cBhvr additive="base">
                                        <p:cTn id="7" dur="500"/>
                                        <p:tgtEl>
                                          <p:spTgt spid="11"/>
                                        </p:tgtEl>
                                        <p:attrNameLst>
                                          <p:attrName>ppt_y</p:attrName>
                                        </p:attrNameLst>
                                      </p:cBhvr>
                                      <p:tavLst>
                                        <p:tav tm="0">
                                          <p:val>
                                            <p:strVal val="ppt_y"/>
                                          </p:val>
                                        </p:tav>
                                        <p:tav tm="100000">
                                          <p:val>
                                            <p:strVal val="1+ppt_h/2"/>
                                          </p:val>
                                        </p:tav>
                                      </p:tavLst>
                                    </p:anim>
                                    <p:set>
                                      <p:cBhvr>
                                        <p:cTn id="8" dur="1" fill="hold">
                                          <p:stCondLst>
                                            <p:cond delay="499"/>
                                          </p:stCondLst>
                                        </p:cTn>
                                        <p:tgtEl>
                                          <p:spTgt spid="11"/>
                                        </p:tgtEl>
                                        <p:attrNameLst>
                                          <p:attrName>style.visibility</p:attrName>
                                        </p:attrNameLst>
                                      </p:cBhvr>
                                      <p:to>
                                        <p:strVal val="hidden"/>
                                      </p:to>
                                    </p:set>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12"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0-#ppt_w/2"/>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3"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1+#ppt_w/2"/>
                                          </p:val>
                                        </p:tav>
                                        <p:tav tm="100000">
                                          <p:val>
                                            <p:strVal val="#ppt_x"/>
                                          </p:val>
                                        </p:tav>
                                      </p:tavLst>
                                    </p:anim>
                                    <p:anim calcmode="lin" valueType="num">
                                      <p:cBhvr additive="base">
                                        <p:cTn id="3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ppt_x</p:attrName>
                                        </p:attrNameLst>
                                      </p:cBhvr>
                                      <p:tavLst>
                                        <p:tav tm="0">
                                          <p:val>
                                            <p:strVal val="0-#ppt_w/2"/>
                                          </p:val>
                                        </p:tav>
                                        <p:tav tm="100000">
                                          <p:val>
                                            <p:strVal val="#ppt_x"/>
                                          </p:val>
                                        </p:tav>
                                      </p:tavLst>
                                    </p:anim>
                                    <p:anim calcmode="lin" valueType="num">
                                      <p:cBhvr additive="base">
                                        <p:cTn id="4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68611" name="Group 3"/>
          <p:cNvGrpSpPr/>
          <p:nvPr/>
        </p:nvGrpSpPr>
        <p:grpSpPr bwMode="auto">
          <a:xfrm>
            <a:off x="7032625" y="1414464"/>
            <a:ext cx="1512888" cy="1114425"/>
            <a:chOff x="3107" y="709"/>
            <a:chExt cx="953" cy="702"/>
          </a:xfrm>
        </p:grpSpPr>
        <p:sp>
          <p:nvSpPr>
            <p:cNvPr id="68685"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6"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7"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8"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9"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0"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1"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2"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3"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4"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5"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6"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7"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98"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8612" name="Text Box 18"/>
          <p:cNvSpPr txBox="1">
            <a:spLocks noChangeArrowheads="1"/>
          </p:cNvSpPr>
          <p:nvPr/>
        </p:nvSpPr>
        <p:spPr bwMode="auto">
          <a:xfrm>
            <a:off x="6816726" y="2493963"/>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68613" name="Group 19"/>
          <p:cNvGrpSpPr/>
          <p:nvPr/>
        </p:nvGrpSpPr>
        <p:grpSpPr bwMode="auto">
          <a:xfrm>
            <a:off x="7175500" y="4654550"/>
            <a:ext cx="1512888" cy="1081088"/>
            <a:chOff x="3515" y="2931"/>
            <a:chExt cx="953" cy="681"/>
          </a:xfrm>
        </p:grpSpPr>
        <p:sp>
          <p:nvSpPr>
            <p:cNvPr id="68671"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2"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3"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4"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5"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6"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7"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8"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9"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0"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1"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2"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3"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84"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8614" name="Text Box 34"/>
          <p:cNvSpPr txBox="1">
            <a:spLocks noChangeArrowheads="1"/>
          </p:cNvSpPr>
          <p:nvPr/>
        </p:nvSpPr>
        <p:spPr bwMode="auto">
          <a:xfrm>
            <a:off x="6959601" y="580707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68615" name="Group 35"/>
          <p:cNvGrpSpPr/>
          <p:nvPr/>
        </p:nvGrpSpPr>
        <p:grpSpPr bwMode="auto">
          <a:xfrm>
            <a:off x="3000375" y="4510088"/>
            <a:ext cx="863600" cy="1008062"/>
            <a:chOff x="930" y="1933"/>
            <a:chExt cx="499" cy="817"/>
          </a:xfrm>
        </p:grpSpPr>
        <p:sp>
          <p:nvSpPr>
            <p:cNvPr id="68666"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8667"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68"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69"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70"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8616" name="Group 41"/>
          <p:cNvGrpSpPr/>
          <p:nvPr/>
        </p:nvGrpSpPr>
        <p:grpSpPr bwMode="auto">
          <a:xfrm>
            <a:off x="3000375" y="1414464"/>
            <a:ext cx="1512888" cy="1081087"/>
            <a:chOff x="2064" y="618"/>
            <a:chExt cx="953" cy="681"/>
          </a:xfrm>
        </p:grpSpPr>
        <p:sp>
          <p:nvSpPr>
            <p:cNvPr id="68652"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53"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54"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55"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56"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57"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58"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59"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60"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61"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62"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63"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64"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8665"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8617" name="Text Box 56"/>
          <p:cNvSpPr txBox="1">
            <a:spLocks noChangeArrowheads="1"/>
          </p:cNvSpPr>
          <p:nvPr/>
        </p:nvSpPr>
        <p:spPr bwMode="auto">
          <a:xfrm>
            <a:off x="2640014" y="2493963"/>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68618" name="Text Box 57"/>
          <p:cNvSpPr txBox="1">
            <a:spLocks noChangeArrowheads="1"/>
          </p:cNvSpPr>
          <p:nvPr/>
        </p:nvSpPr>
        <p:spPr bwMode="auto">
          <a:xfrm>
            <a:off x="2640014" y="55181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6" name="Group 58"/>
          <p:cNvGrpSpPr/>
          <p:nvPr/>
        </p:nvGrpSpPr>
        <p:grpSpPr bwMode="auto">
          <a:xfrm>
            <a:off x="2351089" y="2781300"/>
            <a:ext cx="1512887" cy="1657350"/>
            <a:chOff x="521" y="1570"/>
            <a:chExt cx="953" cy="1044"/>
          </a:xfrm>
        </p:grpSpPr>
        <p:sp>
          <p:nvSpPr>
            <p:cNvPr id="68650" name="Line 59"/>
            <p:cNvSpPr>
              <a:spLocks noChangeShapeType="1"/>
            </p:cNvSpPr>
            <p:nvPr/>
          </p:nvSpPr>
          <p:spPr bwMode="auto">
            <a:xfrm flipV="1">
              <a:off x="1292" y="1570"/>
              <a:ext cx="0" cy="1044"/>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8651" name="Text Box 60"/>
            <p:cNvSpPr txBox="1">
              <a:spLocks noChangeArrowheads="1"/>
            </p:cNvSpPr>
            <p:nvPr/>
          </p:nvSpPr>
          <p:spPr bwMode="auto">
            <a:xfrm>
              <a:off x="521" y="1979"/>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我想看电影</a:t>
              </a:r>
            </a:p>
          </p:txBody>
        </p:sp>
      </p:grpSp>
      <p:grpSp>
        <p:nvGrpSpPr>
          <p:cNvPr id="7" name="Group 61"/>
          <p:cNvGrpSpPr/>
          <p:nvPr/>
        </p:nvGrpSpPr>
        <p:grpSpPr bwMode="auto">
          <a:xfrm>
            <a:off x="3792539" y="2854325"/>
            <a:ext cx="2447925" cy="1511300"/>
            <a:chOff x="1429" y="1616"/>
            <a:chExt cx="1542" cy="952"/>
          </a:xfrm>
        </p:grpSpPr>
        <p:sp>
          <p:nvSpPr>
            <p:cNvPr id="68648" name="Text Box 62"/>
            <p:cNvSpPr txBox="1">
              <a:spLocks noChangeArrowheads="1"/>
            </p:cNvSpPr>
            <p:nvPr/>
          </p:nvSpPr>
          <p:spPr bwMode="auto">
            <a:xfrm>
              <a:off x="1474" y="1616"/>
              <a:ext cx="149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购票许可证，时间限制</a:t>
              </a:r>
              <a:r>
                <a:rPr lang="en-US" altLang="zh-CN" sz="1400" b="1">
                  <a:solidFill>
                    <a:srgbClr val="000000"/>
                  </a:solidFill>
                  <a:latin typeface="Times New Roman" panose="02020603050405020304" pitchFamily="18" charset="0"/>
                </a:rPr>
                <a:t>}}</a:t>
              </a:r>
            </a:p>
          </p:txBody>
        </p:sp>
        <p:sp>
          <p:nvSpPr>
            <p:cNvPr id="68649" name="Line 63"/>
            <p:cNvSpPr>
              <a:spLocks noChangeShapeType="1"/>
            </p:cNvSpPr>
            <p:nvPr/>
          </p:nvSpPr>
          <p:spPr bwMode="auto">
            <a:xfrm>
              <a:off x="1429"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8" name="Group 64"/>
          <p:cNvGrpSpPr/>
          <p:nvPr/>
        </p:nvGrpSpPr>
        <p:grpSpPr bwMode="auto">
          <a:xfrm>
            <a:off x="3863975" y="2709863"/>
            <a:ext cx="3024188" cy="2087562"/>
            <a:chOff x="1474" y="1525"/>
            <a:chExt cx="1905" cy="1315"/>
          </a:xfrm>
        </p:grpSpPr>
        <p:sp>
          <p:nvSpPr>
            <p:cNvPr id="68646" name="Line 65"/>
            <p:cNvSpPr>
              <a:spLocks noChangeShapeType="1"/>
            </p:cNvSpPr>
            <p:nvPr/>
          </p:nvSpPr>
          <p:spPr bwMode="auto">
            <a:xfrm flipV="1">
              <a:off x="1565" y="1525"/>
              <a:ext cx="1814" cy="131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8647" name="Text Box 66"/>
            <p:cNvSpPr txBox="1">
              <a:spLocks noChangeArrowheads="1"/>
            </p:cNvSpPr>
            <p:nvPr/>
          </p:nvSpPr>
          <p:spPr bwMode="auto">
            <a:xfrm>
              <a:off x="1474" y="2024"/>
              <a:ext cx="11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购票许可证，时间限制</a:t>
              </a:r>
              <a:r>
                <a:rPr lang="en-US" altLang="zh-CN" sz="1400" b="1">
                  <a:solidFill>
                    <a:srgbClr val="000000"/>
                  </a:solidFill>
                  <a:latin typeface="Times New Roman" panose="02020603050405020304" pitchFamily="18" charset="0"/>
                </a:rPr>
                <a:t>}</a:t>
              </a:r>
            </a:p>
          </p:txBody>
        </p:sp>
      </p:grpSp>
      <p:grpSp>
        <p:nvGrpSpPr>
          <p:cNvPr id="9" name="Group 67"/>
          <p:cNvGrpSpPr/>
          <p:nvPr/>
        </p:nvGrpSpPr>
        <p:grpSpPr bwMode="auto">
          <a:xfrm>
            <a:off x="4440239" y="2997200"/>
            <a:ext cx="3455987" cy="2089150"/>
            <a:chOff x="1837" y="1706"/>
            <a:chExt cx="2177" cy="1316"/>
          </a:xfrm>
        </p:grpSpPr>
        <p:sp>
          <p:nvSpPr>
            <p:cNvPr id="68644" name="Line 68"/>
            <p:cNvSpPr>
              <a:spLocks noChangeShapeType="1"/>
            </p:cNvSpPr>
            <p:nvPr/>
          </p:nvSpPr>
          <p:spPr bwMode="auto">
            <a:xfrm flipH="1">
              <a:off x="1837" y="1706"/>
              <a:ext cx="1678" cy="1316"/>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8645" name="Text Box 69"/>
            <p:cNvSpPr txBox="1">
              <a:spLocks noChangeArrowheads="1"/>
            </p:cNvSpPr>
            <p:nvPr/>
          </p:nvSpPr>
          <p:spPr bwMode="auto">
            <a:xfrm>
              <a:off x="2835" y="2160"/>
              <a:ext cx="11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票</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时间限制</a:t>
              </a:r>
              <a:r>
                <a:rPr lang="en-US" altLang="zh-CN" sz="1400" b="1">
                  <a:solidFill>
                    <a:srgbClr val="000000"/>
                  </a:solidFill>
                  <a:latin typeface="Times New Roman" panose="02020603050405020304" pitchFamily="18" charset="0"/>
                </a:rPr>
                <a:t>}</a:t>
              </a:r>
            </a:p>
          </p:txBody>
        </p:sp>
      </p:grpSp>
      <p:grpSp>
        <p:nvGrpSpPr>
          <p:cNvPr id="10" name="Group 70"/>
          <p:cNvGrpSpPr/>
          <p:nvPr/>
        </p:nvGrpSpPr>
        <p:grpSpPr bwMode="auto">
          <a:xfrm>
            <a:off x="4224339" y="4941888"/>
            <a:ext cx="2879725" cy="360362"/>
            <a:chOff x="1701" y="2931"/>
            <a:chExt cx="1814" cy="227"/>
          </a:xfrm>
        </p:grpSpPr>
        <p:sp>
          <p:nvSpPr>
            <p:cNvPr id="68642" name="Line 71"/>
            <p:cNvSpPr>
              <a:spLocks noChangeShapeType="1"/>
            </p:cNvSpPr>
            <p:nvPr/>
          </p:nvSpPr>
          <p:spPr bwMode="auto">
            <a:xfrm>
              <a:off x="1701" y="3158"/>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8643" name="Text Box 72"/>
            <p:cNvSpPr txBox="1">
              <a:spLocks noChangeArrowheads="1"/>
            </p:cNvSpPr>
            <p:nvPr/>
          </p:nvSpPr>
          <p:spPr bwMode="auto">
            <a:xfrm>
              <a:off x="2200" y="2931"/>
              <a:ext cx="11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票，时间限制</a:t>
              </a:r>
              <a:r>
                <a:rPr lang="en-US" altLang="zh-CN" sz="1400" b="1">
                  <a:solidFill>
                    <a:srgbClr val="000000"/>
                  </a:solidFill>
                  <a:latin typeface="Times New Roman" panose="02020603050405020304" pitchFamily="18" charset="0"/>
                </a:rPr>
                <a:t>}</a:t>
              </a:r>
            </a:p>
          </p:txBody>
        </p:sp>
      </p:grpSp>
      <p:grpSp>
        <p:nvGrpSpPr>
          <p:cNvPr id="11" name="Group 73"/>
          <p:cNvGrpSpPr/>
          <p:nvPr/>
        </p:nvGrpSpPr>
        <p:grpSpPr bwMode="auto">
          <a:xfrm>
            <a:off x="2495551" y="1630363"/>
            <a:ext cx="7345363" cy="2951162"/>
            <a:chOff x="612" y="845"/>
            <a:chExt cx="4627" cy="1859"/>
          </a:xfrm>
        </p:grpSpPr>
        <p:grpSp>
          <p:nvGrpSpPr>
            <p:cNvPr id="68633" name="Group 74"/>
            <p:cNvGrpSpPr/>
            <p:nvPr/>
          </p:nvGrpSpPr>
          <p:grpSpPr bwMode="auto">
            <a:xfrm>
              <a:off x="1882" y="845"/>
              <a:ext cx="1588" cy="317"/>
              <a:chOff x="1882" y="845"/>
              <a:chExt cx="1588" cy="317"/>
            </a:xfrm>
          </p:grpSpPr>
          <p:sp>
            <p:nvSpPr>
              <p:cNvPr id="68640" name="Line 75"/>
              <p:cNvSpPr>
                <a:spLocks noChangeShapeType="1"/>
              </p:cNvSpPr>
              <p:nvPr/>
            </p:nvSpPr>
            <p:spPr bwMode="auto">
              <a:xfrm>
                <a:off x="1882" y="1162"/>
                <a:ext cx="1588" cy="0"/>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8641" name="Text Box 76"/>
              <p:cNvSpPr txBox="1">
                <a:spLocks noChangeArrowheads="1"/>
              </p:cNvSpPr>
              <p:nvPr/>
            </p:nvSpPr>
            <p:spPr bwMode="auto">
              <a:xfrm>
                <a:off x="2018" y="845"/>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grpSp>
        <p:grpSp>
          <p:nvGrpSpPr>
            <p:cNvPr id="68634" name="Group 77"/>
            <p:cNvGrpSpPr/>
            <p:nvPr/>
          </p:nvGrpSpPr>
          <p:grpSpPr bwMode="auto">
            <a:xfrm>
              <a:off x="3969" y="1661"/>
              <a:ext cx="1270" cy="1043"/>
              <a:chOff x="3969" y="1661"/>
              <a:chExt cx="1270" cy="1043"/>
            </a:xfrm>
          </p:grpSpPr>
          <p:sp>
            <p:nvSpPr>
              <p:cNvPr id="68638" name="Line 78"/>
              <p:cNvSpPr>
                <a:spLocks noChangeShapeType="1"/>
              </p:cNvSpPr>
              <p:nvPr/>
            </p:nvSpPr>
            <p:spPr bwMode="auto">
              <a:xfrm>
                <a:off x="3969" y="1661"/>
                <a:ext cx="0" cy="1043"/>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8639" name="Text Box 79"/>
              <p:cNvSpPr txBox="1">
                <a:spLocks noChangeArrowheads="1"/>
              </p:cNvSpPr>
              <p:nvPr/>
            </p:nvSpPr>
            <p:spPr bwMode="auto">
              <a:xfrm>
                <a:off x="3969" y="1933"/>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grpSp>
          <p:nvGrpSpPr>
            <p:cNvPr id="68635" name="Group 80"/>
            <p:cNvGrpSpPr/>
            <p:nvPr/>
          </p:nvGrpSpPr>
          <p:grpSpPr bwMode="auto">
            <a:xfrm>
              <a:off x="612" y="1525"/>
              <a:ext cx="953" cy="1044"/>
              <a:chOff x="612" y="1525"/>
              <a:chExt cx="953" cy="1044"/>
            </a:xfrm>
          </p:grpSpPr>
          <p:sp>
            <p:nvSpPr>
              <p:cNvPr id="68636" name="Line 81"/>
              <p:cNvSpPr>
                <a:spLocks noChangeShapeType="1"/>
              </p:cNvSpPr>
              <p:nvPr/>
            </p:nvSpPr>
            <p:spPr bwMode="auto">
              <a:xfrm flipV="1">
                <a:off x="1020" y="1525"/>
                <a:ext cx="0" cy="1044"/>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8637" name="Text Box 82"/>
              <p:cNvSpPr txBox="1">
                <a:spLocks noChangeArrowheads="1"/>
              </p:cNvSpPr>
              <p:nvPr/>
            </p:nvSpPr>
            <p:spPr bwMode="auto">
              <a:xfrm>
                <a:off x="612" y="1661"/>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共享用户口令</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grpSp>
      </p:grpSp>
      <p:sp>
        <p:nvSpPr>
          <p:cNvPr id="283731" name="AutoShape 83"/>
          <p:cNvSpPr>
            <a:spLocks noChangeArrowheads="1"/>
          </p:cNvSpPr>
          <p:nvPr/>
        </p:nvSpPr>
        <p:spPr bwMode="auto">
          <a:xfrm>
            <a:off x="4511676" y="5878514"/>
            <a:ext cx="2303463" cy="719137"/>
          </a:xfrm>
          <a:prstGeom prst="wedgeRectCallout">
            <a:avLst>
              <a:gd name="adj1" fmla="val 49519"/>
              <a:gd name="adj2" fmla="val -321083"/>
            </a:avLst>
          </a:prstGeom>
          <a:noFill/>
          <a:ln w="9525" algn="ctr">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rgbClr val="000000"/>
                </a:solidFill>
                <a:latin typeface="Times New Roman" panose="02020603050405020304" pitchFamily="18" charset="0"/>
              </a:rPr>
              <a:t>可能被盗用</a:t>
            </a:r>
          </a:p>
        </p:txBody>
      </p:sp>
      <p:grpSp>
        <p:nvGrpSpPr>
          <p:cNvPr id="15" name="Group 84"/>
          <p:cNvGrpSpPr/>
          <p:nvPr/>
        </p:nvGrpSpPr>
        <p:grpSpPr bwMode="auto">
          <a:xfrm>
            <a:off x="2566989" y="1414464"/>
            <a:ext cx="6554787" cy="4897437"/>
            <a:chOff x="657" y="709"/>
            <a:chExt cx="4129" cy="3085"/>
          </a:xfrm>
        </p:grpSpPr>
        <p:sp>
          <p:nvSpPr>
            <p:cNvPr id="68627" name="Oval 85"/>
            <p:cNvSpPr>
              <a:spLocks noChangeArrowheads="1"/>
            </p:cNvSpPr>
            <p:nvPr/>
          </p:nvSpPr>
          <p:spPr bwMode="auto">
            <a:xfrm>
              <a:off x="657" y="3521"/>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68628" name="Oval 86"/>
            <p:cNvSpPr>
              <a:spLocks noChangeArrowheads="1"/>
            </p:cNvSpPr>
            <p:nvPr/>
          </p:nvSpPr>
          <p:spPr bwMode="auto">
            <a:xfrm>
              <a:off x="703" y="75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68629" name="Oval 87"/>
            <p:cNvSpPr>
              <a:spLocks noChangeArrowheads="1"/>
            </p:cNvSpPr>
            <p:nvPr/>
          </p:nvSpPr>
          <p:spPr bwMode="auto">
            <a:xfrm>
              <a:off x="3243"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68630" name="Oval 88"/>
            <p:cNvSpPr>
              <a:spLocks noChangeArrowheads="1"/>
            </p:cNvSpPr>
            <p:nvPr/>
          </p:nvSpPr>
          <p:spPr bwMode="auto">
            <a:xfrm>
              <a:off x="4513" y="3158"/>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68631" name="Oval 89"/>
            <p:cNvSpPr>
              <a:spLocks noChangeArrowheads="1"/>
            </p:cNvSpPr>
            <p:nvPr/>
          </p:nvSpPr>
          <p:spPr bwMode="auto">
            <a:xfrm>
              <a:off x="1837"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68632" name="Oval 90"/>
            <p:cNvSpPr>
              <a:spLocks noChangeArrowheads="1"/>
            </p:cNvSpPr>
            <p:nvPr/>
          </p:nvSpPr>
          <p:spPr bwMode="auto">
            <a:xfrm>
              <a:off x="4468"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1"/>
                                        </p:tgtEl>
                                        <p:attrNameLst>
                                          <p:attrName>ppt_x</p:attrName>
                                        </p:attrNameLst>
                                      </p:cBhvr>
                                      <p:tavLst>
                                        <p:tav tm="0">
                                          <p:val>
                                            <p:strVal val="ppt_x"/>
                                          </p:val>
                                        </p:tav>
                                        <p:tav tm="100000">
                                          <p:val>
                                            <p:strVal val="ppt_x"/>
                                          </p:val>
                                        </p:tav>
                                      </p:tavLst>
                                    </p:anim>
                                    <p:anim calcmode="lin" valueType="num">
                                      <p:cBhvr additive="base">
                                        <p:cTn id="7" dur="500"/>
                                        <p:tgtEl>
                                          <p:spTgt spid="11"/>
                                        </p:tgtEl>
                                        <p:attrNameLst>
                                          <p:attrName>ppt_y</p:attrName>
                                        </p:attrNameLst>
                                      </p:cBhvr>
                                      <p:tavLst>
                                        <p:tav tm="0">
                                          <p:val>
                                            <p:strVal val="ppt_y"/>
                                          </p:val>
                                        </p:tav>
                                        <p:tav tm="100000">
                                          <p:val>
                                            <p:strVal val="1+ppt_h/2"/>
                                          </p:val>
                                        </p:tav>
                                      </p:tavLst>
                                    </p:anim>
                                    <p:set>
                                      <p:cBhvr>
                                        <p:cTn id="8" dur="1" fill="hold">
                                          <p:stCondLst>
                                            <p:cond delay="499"/>
                                          </p:stCondLst>
                                        </p:cTn>
                                        <p:tgtEl>
                                          <p:spTgt spid="11"/>
                                        </p:tgtEl>
                                        <p:attrNameLst>
                                          <p:attrName>style.visibility</p:attrName>
                                        </p:attrNameLst>
                                      </p:cBhvr>
                                      <p:to>
                                        <p:strVal val="hidden"/>
                                      </p:to>
                                    </p:set>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12"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0-#ppt_w/2"/>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3"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1+#ppt_w/2"/>
                                          </p:val>
                                        </p:tav>
                                        <p:tav tm="100000">
                                          <p:val>
                                            <p:strVal val="#ppt_x"/>
                                          </p:val>
                                        </p:tav>
                                      </p:tavLst>
                                    </p:anim>
                                    <p:anim calcmode="lin" valueType="num">
                                      <p:cBhvr additive="base">
                                        <p:cTn id="37"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ppt_x</p:attrName>
                                        </p:attrNameLst>
                                      </p:cBhvr>
                                      <p:tavLst>
                                        <p:tav tm="0">
                                          <p:val>
                                            <p:strVal val="0-#ppt_w/2"/>
                                          </p:val>
                                        </p:tav>
                                        <p:tav tm="100000">
                                          <p:val>
                                            <p:strVal val="#ppt_x"/>
                                          </p:val>
                                        </p:tav>
                                      </p:tavLst>
                                    </p:anim>
                                    <p:anim calcmode="lin" valueType="num">
                                      <p:cBhvr additive="base">
                                        <p:cTn id="43"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83731"/>
                                        </p:tgtEl>
                                        <p:attrNameLst>
                                          <p:attrName>style.visibility</p:attrName>
                                        </p:attrNameLst>
                                      </p:cBhvr>
                                      <p:to>
                                        <p:strVal val="visible"/>
                                      </p:to>
                                    </p:set>
                                    <p:anim calcmode="lin" valueType="num">
                                      <p:cBhvr additive="base">
                                        <p:cTn id="48" dur="500" fill="hold"/>
                                        <p:tgtEl>
                                          <p:spTgt spid="283731"/>
                                        </p:tgtEl>
                                        <p:attrNameLst>
                                          <p:attrName>ppt_x</p:attrName>
                                        </p:attrNameLst>
                                      </p:cBhvr>
                                      <p:tavLst>
                                        <p:tav tm="0">
                                          <p:val>
                                            <p:strVal val="#ppt_x"/>
                                          </p:val>
                                        </p:tav>
                                        <p:tav tm="100000">
                                          <p:val>
                                            <p:strVal val="#ppt_x"/>
                                          </p:val>
                                        </p:tav>
                                      </p:tavLst>
                                    </p:anim>
                                    <p:anim calcmode="lin" valueType="num">
                                      <p:cBhvr additive="base">
                                        <p:cTn id="49" dur="500" fill="hold"/>
                                        <p:tgtEl>
                                          <p:spTgt spid="2837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73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69635" name="Group 3"/>
          <p:cNvGrpSpPr/>
          <p:nvPr/>
        </p:nvGrpSpPr>
        <p:grpSpPr bwMode="auto">
          <a:xfrm>
            <a:off x="7032625" y="1414464"/>
            <a:ext cx="1512888" cy="1114425"/>
            <a:chOff x="3107" y="709"/>
            <a:chExt cx="953" cy="702"/>
          </a:xfrm>
        </p:grpSpPr>
        <p:sp>
          <p:nvSpPr>
            <p:cNvPr id="69709"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0"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1"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2"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3"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4"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5"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6"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7"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8"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19"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20"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21"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22"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9636" name="Text Box 18"/>
          <p:cNvSpPr txBox="1">
            <a:spLocks noChangeArrowheads="1"/>
          </p:cNvSpPr>
          <p:nvPr/>
        </p:nvSpPr>
        <p:spPr bwMode="auto">
          <a:xfrm>
            <a:off x="6816726" y="2493963"/>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69637" name="Group 19"/>
          <p:cNvGrpSpPr/>
          <p:nvPr/>
        </p:nvGrpSpPr>
        <p:grpSpPr bwMode="auto">
          <a:xfrm>
            <a:off x="7175500" y="4654550"/>
            <a:ext cx="1512888" cy="1081088"/>
            <a:chOff x="3515" y="2931"/>
            <a:chExt cx="953" cy="681"/>
          </a:xfrm>
        </p:grpSpPr>
        <p:sp>
          <p:nvSpPr>
            <p:cNvPr id="69695"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96"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97"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98"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99"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0"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1"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2"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3"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4"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5"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6"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7"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708"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9638" name="Text Box 34"/>
          <p:cNvSpPr txBox="1">
            <a:spLocks noChangeArrowheads="1"/>
          </p:cNvSpPr>
          <p:nvPr/>
        </p:nvSpPr>
        <p:spPr bwMode="auto">
          <a:xfrm>
            <a:off x="6959601" y="580707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69639" name="Group 35"/>
          <p:cNvGrpSpPr/>
          <p:nvPr/>
        </p:nvGrpSpPr>
        <p:grpSpPr bwMode="auto">
          <a:xfrm>
            <a:off x="3000375" y="4510088"/>
            <a:ext cx="863600" cy="1008062"/>
            <a:chOff x="930" y="1933"/>
            <a:chExt cx="499" cy="817"/>
          </a:xfrm>
        </p:grpSpPr>
        <p:sp>
          <p:nvSpPr>
            <p:cNvPr id="69690"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9691"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92"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93"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94"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69640" name="Group 41"/>
          <p:cNvGrpSpPr/>
          <p:nvPr/>
        </p:nvGrpSpPr>
        <p:grpSpPr bwMode="auto">
          <a:xfrm>
            <a:off x="3000375" y="1414464"/>
            <a:ext cx="1512888" cy="1081087"/>
            <a:chOff x="2064" y="618"/>
            <a:chExt cx="953" cy="681"/>
          </a:xfrm>
        </p:grpSpPr>
        <p:sp>
          <p:nvSpPr>
            <p:cNvPr id="69676"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77"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78"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79"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0"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1"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2"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3"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4"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5"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6"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7"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8"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69689"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69641" name="Text Box 56"/>
          <p:cNvSpPr txBox="1">
            <a:spLocks noChangeArrowheads="1"/>
          </p:cNvSpPr>
          <p:nvPr/>
        </p:nvSpPr>
        <p:spPr bwMode="auto">
          <a:xfrm>
            <a:off x="2640014" y="2493963"/>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69642" name="Text Box 57"/>
          <p:cNvSpPr txBox="1">
            <a:spLocks noChangeArrowheads="1"/>
          </p:cNvSpPr>
          <p:nvPr/>
        </p:nvSpPr>
        <p:spPr bwMode="auto">
          <a:xfrm>
            <a:off x="2640014" y="55181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6" name="Group 58"/>
          <p:cNvGrpSpPr/>
          <p:nvPr/>
        </p:nvGrpSpPr>
        <p:grpSpPr bwMode="auto">
          <a:xfrm>
            <a:off x="2351089" y="2781300"/>
            <a:ext cx="1512887" cy="1657350"/>
            <a:chOff x="521" y="1570"/>
            <a:chExt cx="953" cy="1044"/>
          </a:xfrm>
        </p:grpSpPr>
        <p:sp>
          <p:nvSpPr>
            <p:cNvPr id="69674" name="Line 59"/>
            <p:cNvSpPr>
              <a:spLocks noChangeShapeType="1"/>
            </p:cNvSpPr>
            <p:nvPr/>
          </p:nvSpPr>
          <p:spPr bwMode="auto">
            <a:xfrm flipV="1">
              <a:off x="1292" y="1570"/>
              <a:ext cx="0" cy="1044"/>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9675" name="Text Box 60"/>
            <p:cNvSpPr txBox="1">
              <a:spLocks noChangeArrowheads="1"/>
            </p:cNvSpPr>
            <p:nvPr/>
          </p:nvSpPr>
          <p:spPr bwMode="auto">
            <a:xfrm>
              <a:off x="521" y="1979"/>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我想看电影</a:t>
              </a:r>
            </a:p>
          </p:txBody>
        </p:sp>
      </p:grpSp>
      <p:grpSp>
        <p:nvGrpSpPr>
          <p:cNvPr id="7" name="Group 61"/>
          <p:cNvGrpSpPr/>
          <p:nvPr/>
        </p:nvGrpSpPr>
        <p:grpSpPr bwMode="auto">
          <a:xfrm>
            <a:off x="3792539" y="2854325"/>
            <a:ext cx="2447925" cy="1511300"/>
            <a:chOff x="1429" y="1616"/>
            <a:chExt cx="1542" cy="952"/>
          </a:xfrm>
        </p:grpSpPr>
        <p:sp>
          <p:nvSpPr>
            <p:cNvPr id="69672" name="Text Box 62"/>
            <p:cNvSpPr txBox="1">
              <a:spLocks noChangeArrowheads="1"/>
            </p:cNvSpPr>
            <p:nvPr/>
          </p:nvSpPr>
          <p:spPr bwMode="auto">
            <a:xfrm>
              <a:off x="1474" y="1616"/>
              <a:ext cx="149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en-US" altLang="zh-CN" sz="1400" b="1">
                  <a:solidFill>
                    <a:srgbClr val="000000"/>
                  </a:solidFill>
                  <a:latin typeface="Times New Roman" panose="02020603050405020304" pitchFamily="18" charset="0"/>
                </a:rPr>
                <a:t>, 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含</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zh-CN" altLang="en-US" sz="1400" b="1">
                  <a:solidFill>
                    <a:srgbClr val="000000"/>
                  </a:solidFill>
                  <a:latin typeface="Times New Roman" panose="02020603050405020304" pitchFamily="18" charset="0"/>
                </a:rPr>
                <a:t>的购票许可证，时间限制</a:t>
              </a:r>
              <a:r>
                <a:rPr lang="en-US" altLang="zh-CN" sz="1400" b="1">
                  <a:solidFill>
                    <a:srgbClr val="000000"/>
                  </a:solidFill>
                  <a:latin typeface="Times New Roman" panose="02020603050405020304" pitchFamily="18" charset="0"/>
                </a:rPr>
                <a:t>}}</a:t>
              </a:r>
            </a:p>
          </p:txBody>
        </p:sp>
        <p:sp>
          <p:nvSpPr>
            <p:cNvPr id="69673" name="Line 63"/>
            <p:cNvSpPr>
              <a:spLocks noChangeShapeType="1"/>
            </p:cNvSpPr>
            <p:nvPr/>
          </p:nvSpPr>
          <p:spPr bwMode="auto">
            <a:xfrm>
              <a:off x="1429"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8" name="Group 64"/>
          <p:cNvGrpSpPr/>
          <p:nvPr/>
        </p:nvGrpSpPr>
        <p:grpSpPr bwMode="auto">
          <a:xfrm>
            <a:off x="3863975" y="2709863"/>
            <a:ext cx="3024188" cy="2087562"/>
            <a:chOff x="1474" y="1525"/>
            <a:chExt cx="1905" cy="1315"/>
          </a:xfrm>
        </p:grpSpPr>
        <p:sp>
          <p:nvSpPr>
            <p:cNvPr id="69670" name="Line 65"/>
            <p:cNvSpPr>
              <a:spLocks noChangeShapeType="1"/>
            </p:cNvSpPr>
            <p:nvPr/>
          </p:nvSpPr>
          <p:spPr bwMode="auto">
            <a:xfrm flipV="1">
              <a:off x="1565" y="1525"/>
              <a:ext cx="1814" cy="131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9671" name="Text Box 66"/>
            <p:cNvSpPr txBox="1">
              <a:spLocks noChangeArrowheads="1"/>
            </p:cNvSpPr>
            <p:nvPr/>
          </p:nvSpPr>
          <p:spPr bwMode="auto">
            <a:xfrm>
              <a:off x="1474" y="2024"/>
              <a:ext cx="11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含</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zh-CN" altLang="en-US" sz="1400" b="1">
                  <a:solidFill>
                    <a:srgbClr val="000000"/>
                  </a:solidFill>
                  <a:latin typeface="Times New Roman" panose="02020603050405020304" pitchFamily="18" charset="0"/>
                </a:rPr>
                <a:t>的购票许可证，时间限制</a:t>
              </a:r>
              <a:r>
                <a:rPr lang="en-US" altLang="zh-CN" sz="1400" b="1">
                  <a:solidFill>
                    <a:srgbClr val="000000"/>
                  </a:solidFill>
                  <a:latin typeface="Times New Roman" panose="02020603050405020304" pitchFamily="18" charset="0"/>
                </a:rPr>
                <a:t>}</a:t>
              </a:r>
            </a:p>
          </p:txBody>
        </p:sp>
      </p:grpSp>
      <p:grpSp>
        <p:nvGrpSpPr>
          <p:cNvPr id="9" name="Group 67"/>
          <p:cNvGrpSpPr/>
          <p:nvPr/>
        </p:nvGrpSpPr>
        <p:grpSpPr bwMode="auto">
          <a:xfrm>
            <a:off x="4440239" y="2997200"/>
            <a:ext cx="3455987" cy="2089150"/>
            <a:chOff x="1837" y="1706"/>
            <a:chExt cx="2177" cy="1316"/>
          </a:xfrm>
        </p:grpSpPr>
        <p:sp>
          <p:nvSpPr>
            <p:cNvPr id="69668" name="Line 68"/>
            <p:cNvSpPr>
              <a:spLocks noChangeShapeType="1"/>
            </p:cNvSpPr>
            <p:nvPr/>
          </p:nvSpPr>
          <p:spPr bwMode="auto">
            <a:xfrm flipH="1">
              <a:off x="1837" y="1706"/>
              <a:ext cx="1678" cy="1316"/>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9669" name="Text Box 69"/>
            <p:cNvSpPr txBox="1">
              <a:spLocks noChangeArrowheads="1"/>
            </p:cNvSpPr>
            <p:nvPr/>
          </p:nvSpPr>
          <p:spPr bwMode="auto">
            <a:xfrm>
              <a:off x="2835" y="2160"/>
              <a:ext cx="11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Kc,tgs</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票</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时间限制</a:t>
              </a:r>
              <a:r>
                <a:rPr lang="en-US" altLang="zh-CN" sz="1400" b="1">
                  <a:solidFill>
                    <a:srgbClr val="000000"/>
                  </a:solidFill>
                  <a:latin typeface="Times New Roman" panose="02020603050405020304" pitchFamily="18" charset="0"/>
                </a:rPr>
                <a:t>}}</a:t>
              </a:r>
            </a:p>
          </p:txBody>
        </p:sp>
      </p:grpSp>
      <p:grpSp>
        <p:nvGrpSpPr>
          <p:cNvPr id="10" name="Group 70"/>
          <p:cNvGrpSpPr/>
          <p:nvPr/>
        </p:nvGrpSpPr>
        <p:grpSpPr bwMode="auto">
          <a:xfrm>
            <a:off x="4224339" y="4941888"/>
            <a:ext cx="2879725" cy="360362"/>
            <a:chOff x="1701" y="2931"/>
            <a:chExt cx="1814" cy="227"/>
          </a:xfrm>
        </p:grpSpPr>
        <p:sp>
          <p:nvSpPr>
            <p:cNvPr id="69666" name="Line 71"/>
            <p:cNvSpPr>
              <a:spLocks noChangeShapeType="1"/>
            </p:cNvSpPr>
            <p:nvPr/>
          </p:nvSpPr>
          <p:spPr bwMode="auto">
            <a:xfrm>
              <a:off x="1701" y="3158"/>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9667" name="Text Box 72"/>
            <p:cNvSpPr txBox="1">
              <a:spLocks noChangeArrowheads="1"/>
            </p:cNvSpPr>
            <p:nvPr/>
          </p:nvSpPr>
          <p:spPr bwMode="auto">
            <a:xfrm>
              <a:off x="1882" y="2931"/>
              <a:ext cx="14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票，时间限制</a:t>
              </a:r>
              <a:r>
                <a:rPr lang="en-US" altLang="zh-CN" sz="1400" b="1">
                  <a:solidFill>
                    <a:srgbClr val="000000"/>
                  </a:solidFill>
                  <a:latin typeface="Times New Roman" panose="02020603050405020304" pitchFamily="18" charset="0"/>
                </a:rPr>
                <a:t>}</a:t>
              </a:r>
            </a:p>
          </p:txBody>
        </p:sp>
      </p:grpSp>
      <p:grpSp>
        <p:nvGrpSpPr>
          <p:cNvPr id="11" name="Group 73"/>
          <p:cNvGrpSpPr/>
          <p:nvPr/>
        </p:nvGrpSpPr>
        <p:grpSpPr bwMode="auto">
          <a:xfrm>
            <a:off x="2495551" y="1630363"/>
            <a:ext cx="7345363" cy="2951162"/>
            <a:chOff x="612" y="845"/>
            <a:chExt cx="4627" cy="1859"/>
          </a:xfrm>
        </p:grpSpPr>
        <p:grpSp>
          <p:nvGrpSpPr>
            <p:cNvPr id="69657" name="Group 74"/>
            <p:cNvGrpSpPr/>
            <p:nvPr/>
          </p:nvGrpSpPr>
          <p:grpSpPr bwMode="auto">
            <a:xfrm>
              <a:off x="1882" y="845"/>
              <a:ext cx="1588" cy="317"/>
              <a:chOff x="1882" y="845"/>
              <a:chExt cx="1588" cy="317"/>
            </a:xfrm>
          </p:grpSpPr>
          <p:sp>
            <p:nvSpPr>
              <p:cNvPr id="69664" name="Line 75"/>
              <p:cNvSpPr>
                <a:spLocks noChangeShapeType="1"/>
              </p:cNvSpPr>
              <p:nvPr/>
            </p:nvSpPr>
            <p:spPr bwMode="auto">
              <a:xfrm>
                <a:off x="1882" y="1162"/>
                <a:ext cx="1588" cy="0"/>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9665" name="Text Box 76"/>
              <p:cNvSpPr txBox="1">
                <a:spLocks noChangeArrowheads="1"/>
              </p:cNvSpPr>
              <p:nvPr/>
            </p:nvSpPr>
            <p:spPr bwMode="auto">
              <a:xfrm>
                <a:off x="2018" y="845"/>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grpSp>
        <p:grpSp>
          <p:nvGrpSpPr>
            <p:cNvPr id="69658" name="Group 77"/>
            <p:cNvGrpSpPr/>
            <p:nvPr/>
          </p:nvGrpSpPr>
          <p:grpSpPr bwMode="auto">
            <a:xfrm>
              <a:off x="3969" y="1661"/>
              <a:ext cx="1270" cy="1043"/>
              <a:chOff x="3969" y="1661"/>
              <a:chExt cx="1270" cy="1043"/>
            </a:xfrm>
          </p:grpSpPr>
          <p:sp>
            <p:nvSpPr>
              <p:cNvPr id="69662" name="Line 78"/>
              <p:cNvSpPr>
                <a:spLocks noChangeShapeType="1"/>
              </p:cNvSpPr>
              <p:nvPr/>
            </p:nvSpPr>
            <p:spPr bwMode="auto">
              <a:xfrm>
                <a:off x="3969" y="1661"/>
                <a:ext cx="0" cy="1043"/>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9663" name="Text Box 79"/>
              <p:cNvSpPr txBox="1">
                <a:spLocks noChangeArrowheads="1"/>
              </p:cNvSpPr>
              <p:nvPr/>
            </p:nvSpPr>
            <p:spPr bwMode="auto">
              <a:xfrm>
                <a:off x="3969" y="1933"/>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grpSp>
          <p:nvGrpSpPr>
            <p:cNvPr id="69659" name="Group 80"/>
            <p:cNvGrpSpPr/>
            <p:nvPr/>
          </p:nvGrpSpPr>
          <p:grpSpPr bwMode="auto">
            <a:xfrm>
              <a:off x="612" y="1525"/>
              <a:ext cx="953" cy="1044"/>
              <a:chOff x="612" y="1525"/>
              <a:chExt cx="953" cy="1044"/>
            </a:xfrm>
          </p:grpSpPr>
          <p:sp>
            <p:nvSpPr>
              <p:cNvPr id="69660" name="Line 81"/>
              <p:cNvSpPr>
                <a:spLocks noChangeShapeType="1"/>
              </p:cNvSpPr>
              <p:nvPr/>
            </p:nvSpPr>
            <p:spPr bwMode="auto">
              <a:xfrm flipV="1">
                <a:off x="1020" y="1525"/>
                <a:ext cx="0" cy="1044"/>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69661" name="Text Box 82"/>
              <p:cNvSpPr txBox="1">
                <a:spLocks noChangeArrowheads="1"/>
              </p:cNvSpPr>
              <p:nvPr/>
            </p:nvSpPr>
            <p:spPr bwMode="auto">
              <a:xfrm>
                <a:off x="612" y="1661"/>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共享用户口令</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grpSp>
      </p:grpSp>
      <p:sp>
        <p:nvSpPr>
          <p:cNvPr id="285779" name="Oval 83"/>
          <p:cNvSpPr>
            <a:spLocks noChangeArrowheads="1"/>
          </p:cNvSpPr>
          <p:nvPr/>
        </p:nvSpPr>
        <p:spPr bwMode="auto">
          <a:xfrm>
            <a:off x="3071814" y="5878514"/>
            <a:ext cx="433387" cy="43338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p>
        </p:txBody>
      </p:sp>
      <p:sp>
        <p:nvSpPr>
          <p:cNvPr id="285780" name="AutoShape 84"/>
          <p:cNvSpPr>
            <a:spLocks noChangeArrowheads="1"/>
          </p:cNvSpPr>
          <p:nvPr/>
        </p:nvSpPr>
        <p:spPr bwMode="auto">
          <a:xfrm>
            <a:off x="4511676" y="5878514"/>
            <a:ext cx="2303463" cy="719137"/>
          </a:xfrm>
          <a:prstGeom prst="wedgeRectCallout">
            <a:avLst>
              <a:gd name="adj1" fmla="val 33528"/>
              <a:gd name="adj2" fmla="val -133884"/>
            </a:avLst>
          </a:prstGeom>
          <a:noFill/>
          <a:ln w="9525" algn="ctr">
            <a:solidFill>
              <a:srgbClr val="FF0000"/>
            </a:solidFill>
            <a:miter lim="800000"/>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Times New Roman" panose="02020603050405020304" pitchFamily="18" charset="0"/>
              </a:rPr>
              <a:t>问题：单向认证</a:t>
            </a:r>
          </a:p>
        </p:txBody>
      </p:sp>
      <p:sp>
        <p:nvSpPr>
          <p:cNvPr id="69651" name="Oval 85"/>
          <p:cNvSpPr>
            <a:spLocks noChangeArrowheads="1"/>
          </p:cNvSpPr>
          <p:nvPr/>
        </p:nvSpPr>
        <p:spPr bwMode="auto">
          <a:xfrm>
            <a:off x="2566989" y="5878514"/>
            <a:ext cx="433387" cy="43338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69652" name="Oval 86"/>
          <p:cNvSpPr>
            <a:spLocks noChangeArrowheads="1"/>
          </p:cNvSpPr>
          <p:nvPr/>
        </p:nvSpPr>
        <p:spPr bwMode="auto">
          <a:xfrm>
            <a:off x="2640014" y="1485900"/>
            <a:ext cx="433387"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69653" name="Oval 87"/>
          <p:cNvSpPr>
            <a:spLocks noChangeArrowheads="1"/>
          </p:cNvSpPr>
          <p:nvPr/>
        </p:nvSpPr>
        <p:spPr bwMode="auto">
          <a:xfrm>
            <a:off x="6672264" y="1414464"/>
            <a:ext cx="433387" cy="43338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69654" name="Oval 88"/>
          <p:cNvSpPr>
            <a:spLocks noChangeArrowheads="1"/>
          </p:cNvSpPr>
          <p:nvPr/>
        </p:nvSpPr>
        <p:spPr bwMode="auto">
          <a:xfrm>
            <a:off x="8688389" y="5302250"/>
            <a:ext cx="433387"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69655" name="Oval 89"/>
          <p:cNvSpPr>
            <a:spLocks noChangeArrowheads="1"/>
          </p:cNvSpPr>
          <p:nvPr/>
        </p:nvSpPr>
        <p:spPr bwMode="auto">
          <a:xfrm>
            <a:off x="4440239" y="1414464"/>
            <a:ext cx="433387" cy="43338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69656" name="Oval 90"/>
          <p:cNvSpPr>
            <a:spLocks noChangeArrowheads="1"/>
          </p:cNvSpPr>
          <p:nvPr/>
        </p:nvSpPr>
        <p:spPr bwMode="auto">
          <a:xfrm>
            <a:off x="8616950" y="1414464"/>
            <a:ext cx="433388" cy="43338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1"/>
                                        </p:tgtEl>
                                        <p:attrNameLst>
                                          <p:attrName>ppt_x</p:attrName>
                                        </p:attrNameLst>
                                      </p:cBhvr>
                                      <p:tavLst>
                                        <p:tav tm="0">
                                          <p:val>
                                            <p:strVal val="ppt_x"/>
                                          </p:val>
                                        </p:tav>
                                        <p:tav tm="100000">
                                          <p:val>
                                            <p:strVal val="ppt_x"/>
                                          </p:val>
                                        </p:tav>
                                      </p:tavLst>
                                    </p:anim>
                                    <p:anim calcmode="lin" valueType="num">
                                      <p:cBhvr additive="base">
                                        <p:cTn id="7" dur="500"/>
                                        <p:tgtEl>
                                          <p:spTgt spid="11"/>
                                        </p:tgtEl>
                                        <p:attrNameLst>
                                          <p:attrName>ppt_y</p:attrName>
                                        </p:attrNameLst>
                                      </p:cBhvr>
                                      <p:tavLst>
                                        <p:tav tm="0">
                                          <p:val>
                                            <p:strVal val="ppt_y"/>
                                          </p:val>
                                        </p:tav>
                                        <p:tav tm="100000">
                                          <p:val>
                                            <p:strVal val="1+ppt_h/2"/>
                                          </p:val>
                                        </p:tav>
                                      </p:tavLst>
                                    </p:anim>
                                    <p:set>
                                      <p:cBhvr>
                                        <p:cTn id="8" dur="1" fill="hold">
                                          <p:stCondLst>
                                            <p:cond delay="499"/>
                                          </p:stCondLst>
                                        </p:cTn>
                                        <p:tgtEl>
                                          <p:spTgt spid="1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5779"/>
                                        </p:tgtEl>
                                        <p:attrNameLst>
                                          <p:attrName>style.visibility</p:attrName>
                                        </p:attrNameLst>
                                      </p:cBhvr>
                                      <p:to>
                                        <p:strVal val="visible"/>
                                      </p:to>
                                    </p:set>
                                    <p:anim calcmode="lin" valueType="num">
                                      <p:cBhvr additive="base">
                                        <p:cTn id="25" dur="500" fill="hold"/>
                                        <p:tgtEl>
                                          <p:spTgt spid="285779"/>
                                        </p:tgtEl>
                                        <p:attrNameLst>
                                          <p:attrName>ppt_x</p:attrName>
                                        </p:attrNameLst>
                                      </p:cBhvr>
                                      <p:tavLst>
                                        <p:tav tm="0">
                                          <p:val>
                                            <p:strVal val="#ppt_x"/>
                                          </p:val>
                                        </p:tav>
                                        <p:tav tm="100000">
                                          <p:val>
                                            <p:strVal val="#ppt_x"/>
                                          </p:val>
                                        </p:tav>
                                      </p:tavLst>
                                    </p:anim>
                                    <p:anim calcmode="lin" valueType="num">
                                      <p:cBhvr additive="base">
                                        <p:cTn id="26" dur="500" fill="hold"/>
                                        <p:tgtEl>
                                          <p:spTgt spid="28577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2"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3"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1+#ppt_w/2"/>
                                          </p:val>
                                        </p:tav>
                                        <p:tav tm="100000">
                                          <p:val>
                                            <p:strVal val="#ppt_x"/>
                                          </p:val>
                                        </p:tav>
                                      </p:tavLst>
                                    </p:anim>
                                    <p:anim calcmode="lin" valueType="num">
                                      <p:cBhvr additive="base">
                                        <p:cTn id="3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0-#ppt_w/2"/>
                                          </p:val>
                                        </p:tav>
                                        <p:tav tm="100000">
                                          <p:val>
                                            <p:strVal val="#ppt_x"/>
                                          </p:val>
                                        </p:tav>
                                      </p:tavLst>
                                    </p:anim>
                                    <p:anim calcmode="lin" valueType="num">
                                      <p:cBhvr additive="base">
                                        <p:cTn id="4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85780"/>
                                        </p:tgtEl>
                                        <p:attrNameLst>
                                          <p:attrName>style.visibility</p:attrName>
                                        </p:attrNameLst>
                                      </p:cBhvr>
                                      <p:to>
                                        <p:strVal val="visible"/>
                                      </p:to>
                                    </p:set>
                                    <p:anim calcmode="lin" valueType="num">
                                      <p:cBhvr additive="base">
                                        <p:cTn id="49" dur="500" fill="hold"/>
                                        <p:tgtEl>
                                          <p:spTgt spid="285780"/>
                                        </p:tgtEl>
                                        <p:attrNameLst>
                                          <p:attrName>ppt_x</p:attrName>
                                        </p:attrNameLst>
                                      </p:cBhvr>
                                      <p:tavLst>
                                        <p:tav tm="0">
                                          <p:val>
                                            <p:strVal val="#ppt_x"/>
                                          </p:val>
                                        </p:tav>
                                        <p:tav tm="100000">
                                          <p:val>
                                            <p:strVal val="#ppt_x"/>
                                          </p:val>
                                        </p:tav>
                                      </p:tavLst>
                                    </p:anim>
                                    <p:anim calcmode="lin" valueType="num">
                                      <p:cBhvr additive="base">
                                        <p:cTn id="50" dur="500" fill="hold"/>
                                        <p:tgtEl>
                                          <p:spTgt spid="2857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79" grpId="0" animBg="1"/>
      <p:bldP spid="28578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zh-CN" sz="4400">
                <a:latin typeface="Times New Roman" panose="02020603050405020304" pitchFamily="18" charset="0"/>
              </a:rPr>
              <a:t>Kerberos</a:t>
            </a:r>
            <a:r>
              <a:rPr lang="zh-CN" altLang="en-US" sz="4400">
                <a:latin typeface="Times New Roman" panose="02020603050405020304" pitchFamily="18" charset="0"/>
              </a:rPr>
              <a:t>设计思路（续）</a:t>
            </a:r>
          </a:p>
        </p:txBody>
      </p:sp>
      <p:grpSp>
        <p:nvGrpSpPr>
          <p:cNvPr id="70659" name="Group 3"/>
          <p:cNvGrpSpPr/>
          <p:nvPr/>
        </p:nvGrpSpPr>
        <p:grpSpPr bwMode="auto">
          <a:xfrm>
            <a:off x="7032625" y="1555751"/>
            <a:ext cx="1512888" cy="1114425"/>
            <a:chOff x="3107" y="709"/>
            <a:chExt cx="953" cy="702"/>
          </a:xfrm>
        </p:grpSpPr>
        <p:sp>
          <p:nvSpPr>
            <p:cNvPr id="70736"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7"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8"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9"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0"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1"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2"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3"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4"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5"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6"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7"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8"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49"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0660" name="Text Box 18"/>
          <p:cNvSpPr txBox="1">
            <a:spLocks noChangeArrowheads="1"/>
          </p:cNvSpPr>
          <p:nvPr/>
        </p:nvSpPr>
        <p:spPr bwMode="auto">
          <a:xfrm>
            <a:off x="6816726" y="2635250"/>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70661" name="Group 19"/>
          <p:cNvGrpSpPr/>
          <p:nvPr/>
        </p:nvGrpSpPr>
        <p:grpSpPr bwMode="auto">
          <a:xfrm>
            <a:off x="7175500" y="4795839"/>
            <a:ext cx="1512888" cy="1081087"/>
            <a:chOff x="3515" y="2931"/>
            <a:chExt cx="953" cy="681"/>
          </a:xfrm>
        </p:grpSpPr>
        <p:sp>
          <p:nvSpPr>
            <p:cNvPr id="70722"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3"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4"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5"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6"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7"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8"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9"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0"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1"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2"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3"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4"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35"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0662" name="Text Box 34"/>
          <p:cNvSpPr txBox="1">
            <a:spLocks noChangeArrowheads="1"/>
          </p:cNvSpPr>
          <p:nvPr/>
        </p:nvSpPr>
        <p:spPr bwMode="auto">
          <a:xfrm>
            <a:off x="6959601" y="5948363"/>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70663" name="Group 35"/>
          <p:cNvGrpSpPr/>
          <p:nvPr/>
        </p:nvGrpSpPr>
        <p:grpSpPr bwMode="auto">
          <a:xfrm>
            <a:off x="3000375" y="4651376"/>
            <a:ext cx="863600" cy="1008063"/>
            <a:chOff x="930" y="1933"/>
            <a:chExt cx="499" cy="817"/>
          </a:xfrm>
        </p:grpSpPr>
        <p:sp>
          <p:nvSpPr>
            <p:cNvPr id="70717"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0718"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19"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0"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21"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70664" name="Group 41"/>
          <p:cNvGrpSpPr/>
          <p:nvPr/>
        </p:nvGrpSpPr>
        <p:grpSpPr bwMode="auto">
          <a:xfrm>
            <a:off x="3000375" y="1555750"/>
            <a:ext cx="1512888" cy="1081088"/>
            <a:chOff x="2064" y="618"/>
            <a:chExt cx="953" cy="681"/>
          </a:xfrm>
        </p:grpSpPr>
        <p:sp>
          <p:nvSpPr>
            <p:cNvPr id="70703"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04"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05"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06"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07"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08"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09"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10"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11"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12"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13"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14"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15"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0716"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0665" name="Text Box 56"/>
          <p:cNvSpPr txBox="1">
            <a:spLocks noChangeArrowheads="1"/>
          </p:cNvSpPr>
          <p:nvPr/>
        </p:nvSpPr>
        <p:spPr bwMode="auto">
          <a:xfrm>
            <a:off x="2640014" y="26352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70666" name="Text Box 57"/>
          <p:cNvSpPr txBox="1">
            <a:spLocks noChangeArrowheads="1"/>
          </p:cNvSpPr>
          <p:nvPr/>
        </p:nvSpPr>
        <p:spPr bwMode="auto">
          <a:xfrm>
            <a:off x="2640014" y="56594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6" name="Group 58"/>
          <p:cNvGrpSpPr/>
          <p:nvPr/>
        </p:nvGrpSpPr>
        <p:grpSpPr bwMode="auto">
          <a:xfrm>
            <a:off x="2351089" y="2922588"/>
            <a:ext cx="1512887" cy="1657350"/>
            <a:chOff x="521" y="1570"/>
            <a:chExt cx="953" cy="1044"/>
          </a:xfrm>
        </p:grpSpPr>
        <p:sp>
          <p:nvSpPr>
            <p:cNvPr id="70701" name="Line 59"/>
            <p:cNvSpPr>
              <a:spLocks noChangeShapeType="1"/>
            </p:cNvSpPr>
            <p:nvPr/>
          </p:nvSpPr>
          <p:spPr bwMode="auto">
            <a:xfrm flipV="1">
              <a:off x="1292" y="1570"/>
              <a:ext cx="0" cy="1044"/>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0702" name="Text Box 60"/>
            <p:cNvSpPr txBox="1">
              <a:spLocks noChangeArrowheads="1"/>
            </p:cNvSpPr>
            <p:nvPr/>
          </p:nvSpPr>
          <p:spPr bwMode="auto">
            <a:xfrm>
              <a:off x="521" y="1979"/>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我想看电影</a:t>
              </a:r>
            </a:p>
          </p:txBody>
        </p:sp>
      </p:grpSp>
      <p:grpSp>
        <p:nvGrpSpPr>
          <p:cNvPr id="7" name="Group 61"/>
          <p:cNvGrpSpPr/>
          <p:nvPr/>
        </p:nvGrpSpPr>
        <p:grpSpPr bwMode="auto">
          <a:xfrm>
            <a:off x="3792539" y="2995613"/>
            <a:ext cx="2447925" cy="1511300"/>
            <a:chOff x="1429" y="1616"/>
            <a:chExt cx="1542" cy="952"/>
          </a:xfrm>
        </p:grpSpPr>
        <p:sp>
          <p:nvSpPr>
            <p:cNvPr id="70699" name="Text Box 62"/>
            <p:cNvSpPr txBox="1">
              <a:spLocks noChangeArrowheads="1"/>
            </p:cNvSpPr>
            <p:nvPr/>
          </p:nvSpPr>
          <p:spPr bwMode="auto">
            <a:xfrm>
              <a:off x="1474" y="1616"/>
              <a:ext cx="149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en-US" altLang="zh-CN" sz="1400" b="1">
                  <a:solidFill>
                    <a:srgbClr val="000000"/>
                  </a:solidFill>
                  <a:latin typeface="Times New Roman" panose="02020603050405020304" pitchFamily="18" charset="0"/>
                </a:rPr>
                <a:t>, 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含</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zh-CN" altLang="en-US" sz="1400" b="1">
                  <a:solidFill>
                    <a:srgbClr val="000000"/>
                  </a:solidFill>
                  <a:latin typeface="Times New Roman" panose="02020603050405020304" pitchFamily="18" charset="0"/>
                </a:rPr>
                <a:t>的购票许可证，时间限制</a:t>
              </a:r>
              <a:r>
                <a:rPr lang="en-US" altLang="zh-CN" sz="1400" b="1">
                  <a:solidFill>
                    <a:srgbClr val="000000"/>
                  </a:solidFill>
                  <a:latin typeface="Times New Roman" panose="02020603050405020304" pitchFamily="18" charset="0"/>
                </a:rPr>
                <a:t>}}</a:t>
              </a:r>
            </a:p>
          </p:txBody>
        </p:sp>
        <p:sp>
          <p:nvSpPr>
            <p:cNvPr id="70700" name="Line 63"/>
            <p:cNvSpPr>
              <a:spLocks noChangeShapeType="1"/>
            </p:cNvSpPr>
            <p:nvPr/>
          </p:nvSpPr>
          <p:spPr bwMode="auto">
            <a:xfrm>
              <a:off x="1429"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8" name="Group 64"/>
          <p:cNvGrpSpPr/>
          <p:nvPr/>
        </p:nvGrpSpPr>
        <p:grpSpPr bwMode="auto">
          <a:xfrm>
            <a:off x="3863975" y="2851151"/>
            <a:ext cx="3024188" cy="2087563"/>
            <a:chOff x="1474" y="1525"/>
            <a:chExt cx="1905" cy="1315"/>
          </a:xfrm>
        </p:grpSpPr>
        <p:sp>
          <p:nvSpPr>
            <p:cNvPr id="70697" name="Line 65"/>
            <p:cNvSpPr>
              <a:spLocks noChangeShapeType="1"/>
            </p:cNvSpPr>
            <p:nvPr/>
          </p:nvSpPr>
          <p:spPr bwMode="auto">
            <a:xfrm flipV="1">
              <a:off x="1565" y="1525"/>
              <a:ext cx="1814" cy="131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0698" name="Text Box 66"/>
            <p:cNvSpPr txBox="1">
              <a:spLocks noChangeArrowheads="1"/>
            </p:cNvSpPr>
            <p:nvPr/>
          </p:nvSpPr>
          <p:spPr bwMode="auto">
            <a:xfrm>
              <a:off x="1474" y="2024"/>
              <a:ext cx="11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含</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zh-CN" altLang="en-US" sz="1400" b="1">
                  <a:solidFill>
                    <a:srgbClr val="000000"/>
                  </a:solidFill>
                  <a:latin typeface="Times New Roman" panose="02020603050405020304" pitchFamily="18" charset="0"/>
                </a:rPr>
                <a:t>的购票许可证，时间限制</a:t>
              </a:r>
              <a:r>
                <a:rPr lang="en-US" altLang="zh-CN" sz="1400" b="1">
                  <a:solidFill>
                    <a:srgbClr val="000000"/>
                  </a:solidFill>
                  <a:latin typeface="Times New Roman" panose="02020603050405020304" pitchFamily="18" charset="0"/>
                </a:rPr>
                <a:t>}</a:t>
              </a:r>
            </a:p>
          </p:txBody>
        </p:sp>
      </p:grpSp>
      <p:grpSp>
        <p:nvGrpSpPr>
          <p:cNvPr id="9" name="Group 67"/>
          <p:cNvGrpSpPr/>
          <p:nvPr/>
        </p:nvGrpSpPr>
        <p:grpSpPr bwMode="auto">
          <a:xfrm>
            <a:off x="4440239" y="3138488"/>
            <a:ext cx="3455987" cy="2089150"/>
            <a:chOff x="1837" y="1706"/>
            <a:chExt cx="2177" cy="1316"/>
          </a:xfrm>
        </p:grpSpPr>
        <p:sp>
          <p:nvSpPr>
            <p:cNvPr id="70695" name="Line 68"/>
            <p:cNvSpPr>
              <a:spLocks noChangeShapeType="1"/>
            </p:cNvSpPr>
            <p:nvPr/>
          </p:nvSpPr>
          <p:spPr bwMode="auto">
            <a:xfrm flipH="1">
              <a:off x="1837" y="1706"/>
              <a:ext cx="1678" cy="1316"/>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0696" name="Text Box 69"/>
            <p:cNvSpPr txBox="1">
              <a:spLocks noChangeArrowheads="1"/>
            </p:cNvSpPr>
            <p:nvPr/>
          </p:nvSpPr>
          <p:spPr bwMode="auto">
            <a:xfrm>
              <a:off x="2835" y="2160"/>
              <a:ext cx="117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Kc,tgs</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含</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r>
                <a:rPr lang="zh-CN" altLang="en-US" sz="1400" b="1">
                  <a:solidFill>
                    <a:srgbClr val="000000"/>
                  </a:solidFill>
                  <a:latin typeface="Times New Roman" panose="02020603050405020304" pitchFamily="18" charset="0"/>
                </a:rPr>
                <a:t>的票</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时间限制</a:t>
              </a:r>
              <a:r>
                <a:rPr lang="en-US" altLang="zh-CN" sz="1400" b="1">
                  <a:solidFill>
                    <a:srgbClr val="000000"/>
                  </a:solidFill>
                  <a:latin typeface="Times New Roman" panose="02020603050405020304" pitchFamily="18" charset="0"/>
                </a:rPr>
                <a:t>}}</a:t>
              </a:r>
            </a:p>
          </p:txBody>
        </p:sp>
      </p:grpSp>
      <p:grpSp>
        <p:nvGrpSpPr>
          <p:cNvPr id="10" name="Group 70"/>
          <p:cNvGrpSpPr/>
          <p:nvPr/>
        </p:nvGrpSpPr>
        <p:grpSpPr bwMode="auto">
          <a:xfrm>
            <a:off x="4224339" y="5083176"/>
            <a:ext cx="2879725" cy="360363"/>
            <a:chOff x="1701" y="2931"/>
            <a:chExt cx="1814" cy="227"/>
          </a:xfrm>
        </p:grpSpPr>
        <p:sp>
          <p:nvSpPr>
            <p:cNvPr id="70693" name="Line 71"/>
            <p:cNvSpPr>
              <a:spLocks noChangeShapeType="1"/>
            </p:cNvSpPr>
            <p:nvPr/>
          </p:nvSpPr>
          <p:spPr bwMode="auto">
            <a:xfrm>
              <a:off x="1701" y="3158"/>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0694" name="Text Box 72"/>
            <p:cNvSpPr txBox="1">
              <a:spLocks noChangeArrowheads="1"/>
            </p:cNvSpPr>
            <p:nvPr/>
          </p:nvSpPr>
          <p:spPr bwMode="auto">
            <a:xfrm>
              <a:off x="1882" y="2931"/>
              <a:ext cx="14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含</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r>
                <a:rPr lang="zh-CN" altLang="en-US" sz="1400" b="1">
                  <a:solidFill>
                    <a:srgbClr val="000000"/>
                  </a:solidFill>
                  <a:latin typeface="Times New Roman" panose="02020603050405020304" pitchFamily="18" charset="0"/>
                </a:rPr>
                <a:t>的票，时间限制</a:t>
              </a:r>
              <a:r>
                <a:rPr lang="en-US" altLang="zh-CN" sz="1400" b="1">
                  <a:solidFill>
                    <a:srgbClr val="000000"/>
                  </a:solidFill>
                  <a:latin typeface="Times New Roman" panose="02020603050405020304" pitchFamily="18" charset="0"/>
                </a:rPr>
                <a:t>}</a:t>
              </a:r>
            </a:p>
          </p:txBody>
        </p:sp>
      </p:grpSp>
      <p:grpSp>
        <p:nvGrpSpPr>
          <p:cNvPr id="11" name="Group 73"/>
          <p:cNvGrpSpPr/>
          <p:nvPr/>
        </p:nvGrpSpPr>
        <p:grpSpPr bwMode="auto">
          <a:xfrm>
            <a:off x="2495551" y="1771651"/>
            <a:ext cx="7345363" cy="2951163"/>
            <a:chOff x="612" y="845"/>
            <a:chExt cx="4627" cy="1859"/>
          </a:xfrm>
        </p:grpSpPr>
        <p:grpSp>
          <p:nvGrpSpPr>
            <p:cNvPr id="70684" name="Group 74"/>
            <p:cNvGrpSpPr/>
            <p:nvPr/>
          </p:nvGrpSpPr>
          <p:grpSpPr bwMode="auto">
            <a:xfrm>
              <a:off x="1882" y="845"/>
              <a:ext cx="1588" cy="317"/>
              <a:chOff x="1882" y="845"/>
              <a:chExt cx="1588" cy="317"/>
            </a:xfrm>
          </p:grpSpPr>
          <p:sp>
            <p:nvSpPr>
              <p:cNvPr id="70691" name="Line 75"/>
              <p:cNvSpPr>
                <a:spLocks noChangeShapeType="1"/>
              </p:cNvSpPr>
              <p:nvPr/>
            </p:nvSpPr>
            <p:spPr bwMode="auto">
              <a:xfrm>
                <a:off x="1882" y="1162"/>
                <a:ext cx="1588" cy="0"/>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0692" name="Text Box 76"/>
              <p:cNvSpPr txBox="1">
                <a:spLocks noChangeArrowheads="1"/>
              </p:cNvSpPr>
              <p:nvPr/>
            </p:nvSpPr>
            <p:spPr bwMode="auto">
              <a:xfrm>
                <a:off x="2018" y="845"/>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grpSp>
        <p:grpSp>
          <p:nvGrpSpPr>
            <p:cNvPr id="70685" name="Group 77"/>
            <p:cNvGrpSpPr/>
            <p:nvPr/>
          </p:nvGrpSpPr>
          <p:grpSpPr bwMode="auto">
            <a:xfrm>
              <a:off x="3969" y="1661"/>
              <a:ext cx="1270" cy="1043"/>
              <a:chOff x="3969" y="1661"/>
              <a:chExt cx="1270" cy="1043"/>
            </a:xfrm>
          </p:grpSpPr>
          <p:sp>
            <p:nvSpPr>
              <p:cNvPr id="70689" name="Line 78"/>
              <p:cNvSpPr>
                <a:spLocks noChangeShapeType="1"/>
              </p:cNvSpPr>
              <p:nvPr/>
            </p:nvSpPr>
            <p:spPr bwMode="auto">
              <a:xfrm>
                <a:off x="3969" y="1661"/>
                <a:ext cx="0" cy="1043"/>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0690" name="Text Box 79"/>
              <p:cNvSpPr txBox="1">
                <a:spLocks noChangeArrowheads="1"/>
              </p:cNvSpPr>
              <p:nvPr/>
            </p:nvSpPr>
            <p:spPr bwMode="auto">
              <a:xfrm>
                <a:off x="3969" y="1933"/>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共享对称密钥</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grpSp>
          <p:nvGrpSpPr>
            <p:cNvPr id="70686" name="Group 80"/>
            <p:cNvGrpSpPr/>
            <p:nvPr/>
          </p:nvGrpSpPr>
          <p:grpSpPr bwMode="auto">
            <a:xfrm>
              <a:off x="612" y="1525"/>
              <a:ext cx="953" cy="1044"/>
              <a:chOff x="612" y="1525"/>
              <a:chExt cx="953" cy="1044"/>
            </a:xfrm>
          </p:grpSpPr>
          <p:sp>
            <p:nvSpPr>
              <p:cNvPr id="70687" name="Line 81"/>
              <p:cNvSpPr>
                <a:spLocks noChangeShapeType="1"/>
              </p:cNvSpPr>
              <p:nvPr/>
            </p:nvSpPr>
            <p:spPr bwMode="auto">
              <a:xfrm flipV="1">
                <a:off x="1020" y="1525"/>
                <a:ext cx="0" cy="1044"/>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0688" name="Text Box 82"/>
              <p:cNvSpPr txBox="1">
                <a:spLocks noChangeArrowheads="1"/>
              </p:cNvSpPr>
              <p:nvPr/>
            </p:nvSpPr>
            <p:spPr bwMode="auto">
              <a:xfrm>
                <a:off x="612" y="1661"/>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共享用户口令</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grpSp>
      </p:grpSp>
      <p:sp>
        <p:nvSpPr>
          <p:cNvPr id="287827" name="Oval 83"/>
          <p:cNvSpPr>
            <a:spLocks noChangeArrowheads="1"/>
          </p:cNvSpPr>
          <p:nvPr/>
        </p:nvSpPr>
        <p:spPr bwMode="auto">
          <a:xfrm>
            <a:off x="3071814" y="6019800"/>
            <a:ext cx="433387"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p>
        </p:txBody>
      </p:sp>
      <p:sp>
        <p:nvSpPr>
          <p:cNvPr id="287828" name="Oval 84"/>
          <p:cNvSpPr>
            <a:spLocks noChangeArrowheads="1"/>
          </p:cNvSpPr>
          <p:nvPr/>
        </p:nvSpPr>
        <p:spPr bwMode="auto">
          <a:xfrm>
            <a:off x="3575050" y="6019800"/>
            <a:ext cx="433388"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p>
        </p:txBody>
      </p:sp>
      <p:grpSp>
        <p:nvGrpSpPr>
          <p:cNvPr id="15" name="Group 85"/>
          <p:cNvGrpSpPr/>
          <p:nvPr/>
        </p:nvGrpSpPr>
        <p:grpSpPr bwMode="auto">
          <a:xfrm>
            <a:off x="4152901" y="5443538"/>
            <a:ext cx="2879725" cy="360362"/>
            <a:chOff x="1656" y="3158"/>
            <a:chExt cx="1814" cy="227"/>
          </a:xfrm>
        </p:grpSpPr>
        <p:sp>
          <p:nvSpPr>
            <p:cNvPr id="70682" name="Line 86"/>
            <p:cNvSpPr>
              <a:spLocks noChangeShapeType="1"/>
            </p:cNvSpPr>
            <p:nvPr/>
          </p:nvSpPr>
          <p:spPr bwMode="auto">
            <a:xfrm>
              <a:off x="1656" y="3385"/>
              <a:ext cx="1814" cy="0"/>
            </a:xfrm>
            <a:prstGeom prst="line">
              <a:avLst/>
            </a:prstGeom>
            <a:noFill/>
            <a:ln w="9525">
              <a:solidFill>
                <a:srgbClr val="FF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0683" name="Text Box 87"/>
            <p:cNvSpPr txBox="1">
              <a:spLocks noChangeArrowheads="1"/>
            </p:cNvSpPr>
            <p:nvPr/>
          </p:nvSpPr>
          <p:spPr bwMode="auto">
            <a:xfrm>
              <a:off x="1837" y="3158"/>
              <a:ext cx="14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kc,v</a:t>
              </a: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时间限制</a:t>
              </a:r>
              <a:r>
                <a:rPr lang="en-US" altLang="zh-CN" sz="1400" b="1">
                  <a:solidFill>
                    <a:srgbClr val="000000"/>
                  </a:solidFill>
                  <a:latin typeface="Times New Roman" panose="02020603050405020304" pitchFamily="18" charset="0"/>
                </a:rPr>
                <a:t>}</a:t>
              </a:r>
            </a:p>
          </p:txBody>
        </p:sp>
      </p:grpSp>
      <p:sp>
        <p:nvSpPr>
          <p:cNvPr id="70676" name="Oval 88"/>
          <p:cNvSpPr>
            <a:spLocks noChangeArrowheads="1"/>
          </p:cNvSpPr>
          <p:nvPr/>
        </p:nvSpPr>
        <p:spPr bwMode="auto">
          <a:xfrm>
            <a:off x="2566989" y="6019800"/>
            <a:ext cx="433387"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0677" name="Oval 89"/>
          <p:cNvSpPr>
            <a:spLocks noChangeArrowheads="1"/>
          </p:cNvSpPr>
          <p:nvPr/>
        </p:nvSpPr>
        <p:spPr bwMode="auto">
          <a:xfrm>
            <a:off x="2640014" y="1627189"/>
            <a:ext cx="433387" cy="43338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0678" name="Oval 90"/>
          <p:cNvSpPr>
            <a:spLocks noChangeArrowheads="1"/>
          </p:cNvSpPr>
          <p:nvPr/>
        </p:nvSpPr>
        <p:spPr bwMode="auto">
          <a:xfrm>
            <a:off x="6672264" y="1555750"/>
            <a:ext cx="433387"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0679" name="Oval 91"/>
          <p:cNvSpPr>
            <a:spLocks noChangeArrowheads="1"/>
          </p:cNvSpPr>
          <p:nvPr/>
        </p:nvSpPr>
        <p:spPr bwMode="auto">
          <a:xfrm>
            <a:off x="8688389" y="5443539"/>
            <a:ext cx="433387" cy="43338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0680" name="Oval 92"/>
          <p:cNvSpPr>
            <a:spLocks noChangeArrowheads="1"/>
          </p:cNvSpPr>
          <p:nvPr/>
        </p:nvSpPr>
        <p:spPr bwMode="auto">
          <a:xfrm>
            <a:off x="4440239" y="1555750"/>
            <a:ext cx="433387"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0681" name="Oval 93"/>
          <p:cNvSpPr>
            <a:spLocks noChangeArrowheads="1"/>
          </p:cNvSpPr>
          <p:nvPr/>
        </p:nvSpPr>
        <p:spPr bwMode="auto">
          <a:xfrm>
            <a:off x="8616950" y="1555750"/>
            <a:ext cx="433388"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1"/>
                                        </p:tgtEl>
                                        <p:attrNameLst>
                                          <p:attrName>ppt_x</p:attrName>
                                        </p:attrNameLst>
                                      </p:cBhvr>
                                      <p:tavLst>
                                        <p:tav tm="0">
                                          <p:val>
                                            <p:strVal val="ppt_x"/>
                                          </p:val>
                                        </p:tav>
                                        <p:tav tm="100000">
                                          <p:val>
                                            <p:strVal val="ppt_x"/>
                                          </p:val>
                                        </p:tav>
                                      </p:tavLst>
                                    </p:anim>
                                    <p:anim calcmode="lin" valueType="num">
                                      <p:cBhvr additive="base">
                                        <p:cTn id="7" dur="500"/>
                                        <p:tgtEl>
                                          <p:spTgt spid="11"/>
                                        </p:tgtEl>
                                        <p:attrNameLst>
                                          <p:attrName>ppt_y</p:attrName>
                                        </p:attrNameLst>
                                      </p:cBhvr>
                                      <p:tavLst>
                                        <p:tav tm="0">
                                          <p:val>
                                            <p:strVal val="ppt_y"/>
                                          </p:val>
                                        </p:tav>
                                        <p:tav tm="100000">
                                          <p:val>
                                            <p:strVal val="1+ppt_h/2"/>
                                          </p:val>
                                        </p:tav>
                                      </p:tavLst>
                                    </p:anim>
                                    <p:set>
                                      <p:cBhvr>
                                        <p:cTn id="8" dur="1" fill="hold">
                                          <p:stCondLst>
                                            <p:cond delay="499"/>
                                          </p:stCondLst>
                                        </p:cTn>
                                        <p:tgtEl>
                                          <p:spTgt spid="1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7827"/>
                                        </p:tgtEl>
                                        <p:attrNameLst>
                                          <p:attrName>style.visibility</p:attrName>
                                        </p:attrNameLst>
                                      </p:cBhvr>
                                      <p:to>
                                        <p:strVal val="visible"/>
                                      </p:to>
                                    </p:set>
                                    <p:anim calcmode="lin" valueType="num">
                                      <p:cBhvr additive="base">
                                        <p:cTn id="25" dur="500" fill="hold"/>
                                        <p:tgtEl>
                                          <p:spTgt spid="287827"/>
                                        </p:tgtEl>
                                        <p:attrNameLst>
                                          <p:attrName>ppt_x</p:attrName>
                                        </p:attrNameLst>
                                      </p:cBhvr>
                                      <p:tavLst>
                                        <p:tav tm="0">
                                          <p:val>
                                            <p:strVal val="#ppt_x"/>
                                          </p:val>
                                        </p:tav>
                                        <p:tav tm="100000">
                                          <p:val>
                                            <p:strVal val="#ppt_x"/>
                                          </p:val>
                                        </p:tav>
                                      </p:tavLst>
                                    </p:anim>
                                    <p:anim calcmode="lin" valueType="num">
                                      <p:cBhvr additive="base">
                                        <p:cTn id="26" dur="500" fill="hold"/>
                                        <p:tgtEl>
                                          <p:spTgt spid="28782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2"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3"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1+#ppt_w/2"/>
                                          </p:val>
                                        </p:tav>
                                        <p:tav tm="100000">
                                          <p:val>
                                            <p:strVal val="#ppt_x"/>
                                          </p:val>
                                        </p:tav>
                                      </p:tavLst>
                                    </p:anim>
                                    <p:anim calcmode="lin" valueType="num">
                                      <p:cBhvr additive="base">
                                        <p:cTn id="3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87828"/>
                                        </p:tgtEl>
                                        <p:attrNameLst>
                                          <p:attrName>style.visibility</p:attrName>
                                        </p:attrNameLst>
                                      </p:cBhvr>
                                      <p:to>
                                        <p:strVal val="visible"/>
                                      </p:to>
                                    </p:set>
                                    <p:anim calcmode="lin" valueType="num">
                                      <p:cBhvr additive="base">
                                        <p:cTn id="43" dur="500" fill="hold"/>
                                        <p:tgtEl>
                                          <p:spTgt spid="287828"/>
                                        </p:tgtEl>
                                        <p:attrNameLst>
                                          <p:attrName>ppt_x</p:attrName>
                                        </p:attrNameLst>
                                      </p:cBhvr>
                                      <p:tavLst>
                                        <p:tav tm="0">
                                          <p:val>
                                            <p:strVal val="#ppt_x"/>
                                          </p:val>
                                        </p:tav>
                                        <p:tav tm="100000">
                                          <p:val>
                                            <p:strVal val="#ppt_x"/>
                                          </p:val>
                                        </p:tav>
                                      </p:tavLst>
                                    </p:anim>
                                    <p:anim calcmode="lin" valueType="num">
                                      <p:cBhvr additive="base">
                                        <p:cTn id="44" dur="500" fill="hold"/>
                                        <p:tgtEl>
                                          <p:spTgt spid="28782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0-#ppt_w/2"/>
                                          </p:val>
                                        </p:tav>
                                        <p:tav tm="100000">
                                          <p:val>
                                            <p:strVal val="#ppt_x"/>
                                          </p:val>
                                        </p:tav>
                                      </p:tavLst>
                                    </p:anim>
                                    <p:anim calcmode="lin" valueType="num">
                                      <p:cBhvr additive="base">
                                        <p:cTn id="5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1+#ppt_w/2"/>
                                          </p:val>
                                        </p:tav>
                                        <p:tav tm="100000">
                                          <p:val>
                                            <p:strVal val="#ppt_x"/>
                                          </p:val>
                                        </p:tav>
                                      </p:tavLst>
                                    </p:anim>
                                    <p:anim calcmode="lin" valueType="num">
                                      <p:cBhvr additive="base">
                                        <p:cTn id="5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827" grpId="0" animBg="1"/>
      <p:bldP spid="28782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zh-CN" sz="3600">
                <a:latin typeface="Times New Roman" panose="02020603050405020304" pitchFamily="18" charset="0"/>
              </a:rPr>
              <a:t>Kerberos V4</a:t>
            </a:r>
            <a:r>
              <a:rPr lang="zh-CN" altLang="en-US" sz="3600">
                <a:latin typeface="Times New Roman" panose="02020603050405020304" pitchFamily="18" charset="0"/>
              </a:rPr>
              <a:t>协议描述：第一阶段</a:t>
            </a:r>
          </a:p>
        </p:txBody>
      </p:sp>
      <p:grpSp>
        <p:nvGrpSpPr>
          <p:cNvPr id="71683" name="Group 3"/>
          <p:cNvGrpSpPr/>
          <p:nvPr/>
        </p:nvGrpSpPr>
        <p:grpSpPr bwMode="auto">
          <a:xfrm>
            <a:off x="7464425" y="1412876"/>
            <a:ext cx="1512888" cy="1114425"/>
            <a:chOff x="3107" y="709"/>
            <a:chExt cx="953" cy="702"/>
          </a:xfrm>
        </p:grpSpPr>
        <p:sp>
          <p:nvSpPr>
            <p:cNvPr id="71739"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0"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1"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2"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3"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4"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5"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6"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7"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8"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49"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50"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51"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52"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1684" name="Text Box 18"/>
          <p:cNvSpPr txBox="1">
            <a:spLocks noChangeArrowheads="1"/>
          </p:cNvSpPr>
          <p:nvPr/>
        </p:nvSpPr>
        <p:spPr bwMode="auto">
          <a:xfrm>
            <a:off x="7248526" y="2492375"/>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71685" name="Group 19"/>
          <p:cNvGrpSpPr/>
          <p:nvPr/>
        </p:nvGrpSpPr>
        <p:grpSpPr bwMode="auto">
          <a:xfrm>
            <a:off x="7607300" y="4652964"/>
            <a:ext cx="1512888" cy="1081087"/>
            <a:chOff x="3515" y="2931"/>
            <a:chExt cx="953" cy="681"/>
          </a:xfrm>
        </p:grpSpPr>
        <p:sp>
          <p:nvSpPr>
            <p:cNvPr id="71725"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26"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27"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28"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29"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0"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1"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2"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3"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4"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5"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6"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7"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38"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1686" name="Text Box 34"/>
          <p:cNvSpPr txBox="1">
            <a:spLocks noChangeArrowheads="1"/>
          </p:cNvSpPr>
          <p:nvPr/>
        </p:nvSpPr>
        <p:spPr bwMode="auto">
          <a:xfrm>
            <a:off x="7391401" y="580548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71687" name="Group 35"/>
          <p:cNvGrpSpPr/>
          <p:nvPr/>
        </p:nvGrpSpPr>
        <p:grpSpPr bwMode="auto">
          <a:xfrm>
            <a:off x="3432175" y="4508501"/>
            <a:ext cx="863600" cy="1008063"/>
            <a:chOff x="930" y="1933"/>
            <a:chExt cx="499" cy="817"/>
          </a:xfrm>
        </p:grpSpPr>
        <p:sp>
          <p:nvSpPr>
            <p:cNvPr id="71720"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21"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22"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23"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24"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71688" name="Group 41"/>
          <p:cNvGrpSpPr/>
          <p:nvPr/>
        </p:nvGrpSpPr>
        <p:grpSpPr bwMode="auto">
          <a:xfrm>
            <a:off x="3432175" y="1412875"/>
            <a:ext cx="1512888" cy="1081088"/>
            <a:chOff x="2064" y="618"/>
            <a:chExt cx="953" cy="681"/>
          </a:xfrm>
        </p:grpSpPr>
        <p:sp>
          <p:nvSpPr>
            <p:cNvPr id="71706"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07"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08"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09"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0"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1"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2"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3"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4"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5"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6"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7"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8"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1719"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1689" name="Text Box 56"/>
          <p:cNvSpPr txBox="1">
            <a:spLocks noChangeArrowheads="1"/>
          </p:cNvSpPr>
          <p:nvPr/>
        </p:nvSpPr>
        <p:spPr bwMode="auto">
          <a:xfrm>
            <a:off x="3071814" y="249237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71690" name="Text Box 57"/>
          <p:cNvSpPr txBox="1">
            <a:spLocks noChangeArrowheads="1"/>
          </p:cNvSpPr>
          <p:nvPr/>
        </p:nvSpPr>
        <p:spPr bwMode="auto">
          <a:xfrm>
            <a:off x="3071814" y="5516563"/>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6" name="Group 58"/>
          <p:cNvGrpSpPr/>
          <p:nvPr/>
        </p:nvGrpSpPr>
        <p:grpSpPr bwMode="auto">
          <a:xfrm>
            <a:off x="2782889" y="2779713"/>
            <a:ext cx="1512887" cy="1657350"/>
            <a:chOff x="521" y="1570"/>
            <a:chExt cx="953" cy="1044"/>
          </a:xfrm>
        </p:grpSpPr>
        <p:sp>
          <p:nvSpPr>
            <p:cNvPr id="71704" name="Line 59"/>
            <p:cNvSpPr>
              <a:spLocks noChangeShapeType="1"/>
            </p:cNvSpPr>
            <p:nvPr/>
          </p:nvSpPr>
          <p:spPr bwMode="auto">
            <a:xfrm flipV="1">
              <a:off x="1338" y="1570"/>
              <a:ext cx="0" cy="1044"/>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1705" name="Text Box 60"/>
            <p:cNvSpPr txBox="1">
              <a:spLocks noChangeArrowheads="1"/>
            </p:cNvSpPr>
            <p:nvPr/>
          </p:nvSpPr>
          <p:spPr bwMode="auto">
            <a:xfrm>
              <a:off x="521" y="1979"/>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,TS</a:t>
              </a:r>
              <a:r>
                <a:rPr lang="en-US" altLang="zh-CN" sz="1400" b="1" baseline="-25000">
                  <a:solidFill>
                    <a:srgbClr val="000000"/>
                  </a:solidFill>
                  <a:latin typeface="Times New Roman" panose="02020603050405020304" pitchFamily="18" charset="0"/>
                </a:rPr>
                <a:t>1</a:t>
              </a:r>
            </a:p>
          </p:txBody>
        </p:sp>
      </p:grpSp>
      <p:grpSp>
        <p:nvGrpSpPr>
          <p:cNvPr id="7" name="Group 61"/>
          <p:cNvGrpSpPr/>
          <p:nvPr/>
        </p:nvGrpSpPr>
        <p:grpSpPr bwMode="auto">
          <a:xfrm>
            <a:off x="4295775" y="2852738"/>
            <a:ext cx="3168650" cy="1511300"/>
            <a:chOff x="1474" y="1616"/>
            <a:chExt cx="1996" cy="952"/>
          </a:xfrm>
        </p:grpSpPr>
        <p:sp>
          <p:nvSpPr>
            <p:cNvPr id="71702" name="Text Box 62"/>
            <p:cNvSpPr txBox="1">
              <a:spLocks noChangeArrowheads="1"/>
            </p:cNvSpPr>
            <p:nvPr/>
          </p:nvSpPr>
          <p:spPr bwMode="auto">
            <a:xfrm>
              <a:off x="1519" y="1616"/>
              <a:ext cx="195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,TS</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 LT</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 Ticket</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a:t>
              </a:r>
            </a:p>
          </p:txBody>
        </p:sp>
        <p:sp>
          <p:nvSpPr>
            <p:cNvPr id="71703" name="Line 63"/>
            <p:cNvSpPr>
              <a:spLocks noChangeShapeType="1"/>
            </p:cNvSpPr>
            <p:nvPr/>
          </p:nvSpPr>
          <p:spPr bwMode="auto">
            <a:xfrm>
              <a:off x="1474"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sp>
        <p:nvSpPr>
          <p:cNvPr id="289856" name="Text Box 64"/>
          <p:cNvSpPr txBox="1">
            <a:spLocks noChangeArrowheads="1"/>
          </p:cNvSpPr>
          <p:nvPr/>
        </p:nvSpPr>
        <p:spPr bwMode="auto">
          <a:xfrm>
            <a:off x="3359151" y="5876925"/>
            <a:ext cx="4537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 TS</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 LT</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a:t>
            </a:r>
          </a:p>
        </p:txBody>
      </p:sp>
      <p:grpSp>
        <p:nvGrpSpPr>
          <p:cNvPr id="8" name="Group 65"/>
          <p:cNvGrpSpPr/>
          <p:nvPr/>
        </p:nvGrpSpPr>
        <p:grpSpPr bwMode="auto">
          <a:xfrm>
            <a:off x="2998789" y="1412875"/>
            <a:ext cx="6554787" cy="4897438"/>
            <a:chOff x="929" y="709"/>
            <a:chExt cx="4129" cy="3085"/>
          </a:xfrm>
        </p:grpSpPr>
        <p:sp>
          <p:nvSpPr>
            <p:cNvPr id="71696" name="Oval 66"/>
            <p:cNvSpPr>
              <a:spLocks noChangeArrowheads="1"/>
            </p:cNvSpPr>
            <p:nvPr/>
          </p:nvSpPr>
          <p:spPr bwMode="auto">
            <a:xfrm>
              <a:off x="929" y="3521"/>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1697" name="Oval 67"/>
            <p:cNvSpPr>
              <a:spLocks noChangeArrowheads="1"/>
            </p:cNvSpPr>
            <p:nvPr/>
          </p:nvSpPr>
          <p:spPr bwMode="auto">
            <a:xfrm>
              <a:off x="975" y="75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1698" name="Oval 68"/>
            <p:cNvSpPr>
              <a:spLocks noChangeArrowheads="1"/>
            </p:cNvSpPr>
            <p:nvPr/>
          </p:nvSpPr>
          <p:spPr bwMode="auto">
            <a:xfrm>
              <a:off x="3515"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1699" name="Oval 69"/>
            <p:cNvSpPr>
              <a:spLocks noChangeArrowheads="1"/>
            </p:cNvSpPr>
            <p:nvPr/>
          </p:nvSpPr>
          <p:spPr bwMode="auto">
            <a:xfrm>
              <a:off x="4785" y="3158"/>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1700" name="Oval 70"/>
            <p:cNvSpPr>
              <a:spLocks noChangeArrowheads="1"/>
            </p:cNvSpPr>
            <p:nvPr/>
          </p:nvSpPr>
          <p:spPr bwMode="auto">
            <a:xfrm>
              <a:off x="2109"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1701" name="Oval 71"/>
            <p:cNvSpPr>
              <a:spLocks noChangeArrowheads="1"/>
            </p:cNvSpPr>
            <p:nvPr/>
          </p:nvSpPr>
          <p:spPr bwMode="auto">
            <a:xfrm>
              <a:off x="4740"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sp>
        <p:nvSpPr>
          <p:cNvPr id="289864" name="Oval 72"/>
          <p:cNvSpPr>
            <a:spLocks noChangeArrowheads="1"/>
          </p:cNvSpPr>
          <p:nvPr/>
        </p:nvSpPr>
        <p:spPr bwMode="auto">
          <a:xfrm>
            <a:off x="3000375" y="6380164"/>
            <a:ext cx="433388" cy="43338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9856"/>
                                        </p:tgtEl>
                                        <p:attrNameLst>
                                          <p:attrName>style.visibility</p:attrName>
                                        </p:attrNameLst>
                                      </p:cBhvr>
                                      <p:to>
                                        <p:strVal val="visible"/>
                                      </p:to>
                                    </p:set>
                                    <p:anim calcmode="lin" valueType="num">
                                      <p:cBhvr additive="base">
                                        <p:cTn id="25" dur="500" fill="hold"/>
                                        <p:tgtEl>
                                          <p:spTgt spid="289856"/>
                                        </p:tgtEl>
                                        <p:attrNameLst>
                                          <p:attrName>ppt_x</p:attrName>
                                        </p:attrNameLst>
                                      </p:cBhvr>
                                      <p:tavLst>
                                        <p:tav tm="0">
                                          <p:val>
                                            <p:strVal val="#ppt_x"/>
                                          </p:val>
                                        </p:tav>
                                        <p:tav tm="100000">
                                          <p:val>
                                            <p:strVal val="#ppt_x"/>
                                          </p:val>
                                        </p:tav>
                                      </p:tavLst>
                                    </p:anim>
                                    <p:anim calcmode="lin" valueType="num">
                                      <p:cBhvr additive="base">
                                        <p:cTn id="26" dur="500" fill="hold"/>
                                        <p:tgtEl>
                                          <p:spTgt spid="28985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89864"/>
                                        </p:tgtEl>
                                        <p:attrNameLst>
                                          <p:attrName>style.visibility</p:attrName>
                                        </p:attrNameLst>
                                      </p:cBhvr>
                                      <p:to>
                                        <p:strVal val="visible"/>
                                      </p:to>
                                    </p:set>
                                    <p:anim calcmode="lin" valueType="num">
                                      <p:cBhvr additive="base">
                                        <p:cTn id="31" dur="500" fill="hold"/>
                                        <p:tgtEl>
                                          <p:spTgt spid="289864"/>
                                        </p:tgtEl>
                                        <p:attrNameLst>
                                          <p:attrName>ppt_x</p:attrName>
                                        </p:attrNameLst>
                                      </p:cBhvr>
                                      <p:tavLst>
                                        <p:tav tm="0">
                                          <p:val>
                                            <p:strVal val="#ppt_x"/>
                                          </p:val>
                                        </p:tav>
                                        <p:tav tm="100000">
                                          <p:val>
                                            <p:strVal val="#ppt_x"/>
                                          </p:val>
                                        </p:tav>
                                      </p:tavLst>
                                    </p:anim>
                                    <p:anim calcmode="lin" valueType="num">
                                      <p:cBhvr additive="base">
                                        <p:cTn id="32" dur="500" fill="hold"/>
                                        <p:tgtEl>
                                          <p:spTgt spid="2898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56" grpId="0"/>
      <p:bldP spid="28986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360488" y="323400"/>
            <a:ext cx="7543800" cy="858837"/>
          </a:xfrm>
        </p:spPr>
        <p:txBody>
          <a:bodyPr/>
          <a:lstStyle/>
          <a:p>
            <a:pPr eaLnBrk="1" hangingPunct="1"/>
            <a:r>
              <a:rPr lang="en-US" altLang="zh-CN" sz="3600" dirty="0">
                <a:latin typeface="Times New Roman" panose="02020603050405020304" pitchFamily="18" charset="0"/>
              </a:rPr>
              <a:t>Kerberos V4</a:t>
            </a:r>
            <a:r>
              <a:rPr lang="zh-CN" altLang="en-US" sz="3600" dirty="0">
                <a:latin typeface="Times New Roman" panose="02020603050405020304" pitchFamily="18" charset="0"/>
              </a:rPr>
              <a:t>协议描述：第二阶段</a:t>
            </a:r>
          </a:p>
        </p:txBody>
      </p:sp>
      <p:grpSp>
        <p:nvGrpSpPr>
          <p:cNvPr id="72707" name="Group 3"/>
          <p:cNvGrpSpPr/>
          <p:nvPr/>
        </p:nvGrpSpPr>
        <p:grpSpPr bwMode="auto">
          <a:xfrm>
            <a:off x="7391400" y="1125539"/>
            <a:ext cx="1512888" cy="1114425"/>
            <a:chOff x="3107" y="709"/>
            <a:chExt cx="953" cy="702"/>
          </a:xfrm>
        </p:grpSpPr>
        <p:sp>
          <p:nvSpPr>
            <p:cNvPr id="72766"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7"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8"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9"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0"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1"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2"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3"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4"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5"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6"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7"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8"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79"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2708" name="Text Box 18"/>
          <p:cNvSpPr txBox="1">
            <a:spLocks noChangeArrowheads="1"/>
          </p:cNvSpPr>
          <p:nvPr/>
        </p:nvSpPr>
        <p:spPr bwMode="auto">
          <a:xfrm>
            <a:off x="7175501" y="2205038"/>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72709" name="Group 19"/>
          <p:cNvGrpSpPr/>
          <p:nvPr/>
        </p:nvGrpSpPr>
        <p:grpSpPr bwMode="auto">
          <a:xfrm>
            <a:off x="7534275" y="4365625"/>
            <a:ext cx="1512888" cy="1081088"/>
            <a:chOff x="3515" y="2931"/>
            <a:chExt cx="953" cy="681"/>
          </a:xfrm>
        </p:grpSpPr>
        <p:sp>
          <p:nvSpPr>
            <p:cNvPr id="72752"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3"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4"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5"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6"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7"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8"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9"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0"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1"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2"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3"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4"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65"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2710" name="Text Box 34"/>
          <p:cNvSpPr txBox="1">
            <a:spLocks noChangeArrowheads="1"/>
          </p:cNvSpPr>
          <p:nvPr/>
        </p:nvSpPr>
        <p:spPr bwMode="auto">
          <a:xfrm>
            <a:off x="7318376" y="55181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72711" name="Group 35"/>
          <p:cNvGrpSpPr/>
          <p:nvPr/>
        </p:nvGrpSpPr>
        <p:grpSpPr bwMode="auto">
          <a:xfrm>
            <a:off x="3359150" y="4221163"/>
            <a:ext cx="863600" cy="1008062"/>
            <a:chOff x="930" y="1933"/>
            <a:chExt cx="499" cy="817"/>
          </a:xfrm>
        </p:grpSpPr>
        <p:sp>
          <p:nvSpPr>
            <p:cNvPr id="72747"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2748"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49"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0"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51"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72712" name="Group 41"/>
          <p:cNvGrpSpPr/>
          <p:nvPr/>
        </p:nvGrpSpPr>
        <p:grpSpPr bwMode="auto">
          <a:xfrm>
            <a:off x="3359150" y="1125539"/>
            <a:ext cx="1512888" cy="1081087"/>
            <a:chOff x="2064" y="618"/>
            <a:chExt cx="953" cy="681"/>
          </a:xfrm>
        </p:grpSpPr>
        <p:sp>
          <p:nvSpPr>
            <p:cNvPr id="72733"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34"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35"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36"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37"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38"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39"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40"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41"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42"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43"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44"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45"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2746"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2713" name="Text Box 56"/>
          <p:cNvSpPr txBox="1">
            <a:spLocks noChangeArrowheads="1"/>
          </p:cNvSpPr>
          <p:nvPr/>
        </p:nvSpPr>
        <p:spPr bwMode="auto">
          <a:xfrm>
            <a:off x="2998789" y="22050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72714" name="Text Box 57"/>
          <p:cNvSpPr txBox="1">
            <a:spLocks noChangeArrowheads="1"/>
          </p:cNvSpPr>
          <p:nvPr/>
        </p:nvSpPr>
        <p:spPr bwMode="auto">
          <a:xfrm>
            <a:off x="2998789" y="52292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6" name="Group 58"/>
          <p:cNvGrpSpPr/>
          <p:nvPr/>
        </p:nvGrpSpPr>
        <p:grpSpPr bwMode="auto">
          <a:xfrm>
            <a:off x="4222750" y="2420938"/>
            <a:ext cx="3024188" cy="2087562"/>
            <a:chOff x="1474" y="1525"/>
            <a:chExt cx="1905" cy="1315"/>
          </a:xfrm>
        </p:grpSpPr>
        <p:sp>
          <p:nvSpPr>
            <p:cNvPr id="72731" name="Line 59"/>
            <p:cNvSpPr>
              <a:spLocks noChangeShapeType="1"/>
            </p:cNvSpPr>
            <p:nvPr/>
          </p:nvSpPr>
          <p:spPr bwMode="auto">
            <a:xfrm flipV="1">
              <a:off x="1565" y="1525"/>
              <a:ext cx="1814" cy="131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2732" name="Text Box 60"/>
            <p:cNvSpPr txBox="1">
              <a:spLocks noChangeArrowheads="1"/>
            </p:cNvSpPr>
            <p:nvPr/>
          </p:nvSpPr>
          <p:spPr bwMode="auto">
            <a:xfrm>
              <a:off x="1474" y="1933"/>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 AU</a:t>
              </a:r>
              <a:r>
                <a:rPr lang="en-US" altLang="zh-CN" sz="1400" b="1" baseline="-25000">
                  <a:solidFill>
                    <a:srgbClr val="000000"/>
                  </a:solidFill>
                  <a:latin typeface="Times New Roman" panose="02020603050405020304" pitchFamily="18" charset="0"/>
                </a:rPr>
                <a:t>C</a:t>
              </a:r>
            </a:p>
          </p:txBody>
        </p:sp>
      </p:grpSp>
      <p:grpSp>
        <p:nvGrpSpPr>
          <p:cNvPr id="7" name="Group 61"/>
          <p:cNvGrpSpPr/>
          <p:nvPr/>
        </p:nvGrpSpPr>
        <p:grpSpPr bwMode="auto">
          <a:xfrm>
            <a:off x="4799014" y="2708275"/>
            <a:ext cx="5616575" cy="2089150"/>
            <a:chOff x="1837" y="1706"/>
            <a:chExt cx="3538" cy="1316"/>
          </a:xfrm>
        </p:grpSpPr>
        <p:sp>
          <p:nvSpPr>
            <p:cNvPr id="72729" name="Line 62"/>
            <p:cNvSpPr>
              <a:spLocks noChangeShapeType="1"/>
            </p:cNvSpPr>
            <p:nvPr/>
          </p:nvSpPr>
          <p:spPr bwMode="auto">
            <a:xfrm flipH="1">
              <a:off x="1837" y="1706"/>
              <a:ext cx="1678" cy="1316"/>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2730" name="Text Box 63"/>
            <p:cNvSpPr txBox="1">
              <a:spLocks noChangeArrowheads="1"/>
            </p:cNvSpPr>
            <p:nvPr/>
          </p:nvSpPr>
          <p:spPr bwMode="auto">
            <a:xfrm>
              <a:off x="3152" y="1979"/>
              <a:ext cx="2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KC,tgs</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,TS</a:t>
              </a:r>
              <a:r>
                <a:rPr lang="en-US" altLang="zh-CN" sz="1400" b="1" baseline="-25000">
                  <a:solidFill>
                    <a:srgbClr val="000000"/>
                  </a:solidFill>
                  <a:latin typeface="Times New Roman" panose="02020603050405020304" pitchFamily="18" charset="0"/>
                </a:rPr>
                <a:t>4</a:t>
              </a:r>
              <a:r>
                <a:rPr lang="en-US" altLang="zh-CN" sz="1400" b="1">
                  <a:solidFill>
                    <a:srgbClr val="000000"/>
                  </a:solidFill>
                  <a:latin typeface="Times New Roman" panose="02020603050405020304" pitchFamily="18" charset="0"/>
                </a:rPr>
                <a:t>, Ticket</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a:t>
              </a:r>
            </a:p>
          </p:txBody>
        </p:sp>
      </p:grpSp>
      <p:sp>
        <p:nvSpPr>
          <p:cNvPr id="291904" name="Text Box 64"/>
          <p:cNvSpPr txBox="1">
            <a:spLocks noChangeArrowheads="1"/>
          </p:cNvSpPr>
          <p:nvPr/>
        </p:nvSpPr>
        <p:spPr bwMode="auto">
          <a:xfrm>
            <a:off x="3648076" y="5734050"/>
            <a:ext cx="4537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dirty="0" err="1">
                <a:solidFill>
                  <a:srgbClr val="000000"/>
                </a:solidFill>
                <a:latin typeface="Times New Roman" panose="02020603050405020304" pitchFamily="18" charset="0"/>
              </a:rPr>
              <a:t>Ticket</a:t>
            </a:r>
            <a:r>
              <a:rPr lang="en-US" altLang="zh-CN" sz="1400" b="1" baseline="-25000" dirty="0" err="1">
                <a:solidFill>
                  <a:srgbClr val="000000"/>
                </a:solidFill>
                <a:latin typeface="Times New Roman" panose="02020603050405020304" pitchFamily="18" charset="0"/>
              </a:rPr>
              <a:t>tgs</a:t>
            </a:r>
            <a:r>
              <a:rPr lang="zh-CN" altLang="en-US" sz="1400" b="1" dirty="0">
                <a:solidFill>
                  <a:srgbClr val="000000"/>
                </a:solidFill>
                <a:latin typeface="Times New Roman" panose="02020603050405020304" pitchFamily="18" charset="0"/>
              </a:rPr>
              <a:t>＝</a:t>
            </a:r>
            <a:r>
              <a:rPr lang="en-US" altLang="zh-CN" sz="1400" b="1" dirty="0" err="1">
                <a:solidFill>
                  <a:srgbClr val="000000"/>
                </a:solidFill>
                <a:latin typeface="Times New Roman" panose="02020603050405020304" pitchFamily="18" charset="0"/>
              </a:rPr>
              <a:t>E</a:t>
            </a:r>
            <a:r>
              <a:rPr lang="en-US" altLang="zh-CN" sz="1400" b="1" baseline="-25000" dirty="0" err="1">
                <a:solidFill>
                  <a:srgbClr val="000000"/>
                </a:solidFill>
                <a:latin typeface="Times New Roman" panose="02020603050405020304" pitchFamily="18" charset="0"/>
              </a:rPr>
              <a:t>Ktgs</a:t>
            </a:r>
            <a:r>
              <a:rPr lang="en-US" altLang="zh-CN" sz="1400" b="1" dirty="0">
                <a:solidFill>
                  <a:srgbClr val="000000"/>
                </a:solidFill>
                <a:latin typeface="Times New Roman" panose="02020603050405020304" pitchFamily="18" charset="0"/>
              </a:rPr>
              <a:t>{</a:t>
            </a:r>
            <a:r>
              <a:rPr lang="en-US" altLang="zh-CN" sz="1400" b="1" dirty="0" err="1">
                <a:solidFill>
                  <a:srgbClr val="000000"/>
                </a:solidFill>
                <a:latin typeface="Times New Roman" panose="02020603050405020304" pitchFamily="18" charset="0"/>
              </a:rPr>
              <a:t>K</a:t>
            </a:r>
            <a:r>
              <a:rPr lang="en-US" altLang="zh-CN" sz="1400" b="1" baseline="-25000" dirty="0" err="1">
                <a:solidFill>
                  <a:srgbClr val="000000"/>
                </a:solidFill>
                <a:latin typeface="Times New Roman" panose="02020603050405020304" pitchFamily="18" charset="0"/>
              </a:rPr>
              <a:t>C,tgs</a:t>
            </a:r>
            <a:r>
              <a:rPr lang="en-US" altLang="zh-CN" sz="1400" b="1" dirty="0">
                <a:solidFill>
                  <a:srgbClr val="000000"/>
                </a:solidFill>
                <a:latin typeface="Times New Roman" panose="02020603050405020304" pitchFamily="18" charset="0"/>
              </a:rPr>
              <a:t>, ID</a:t>
            </a:r>
            <a:r>
              <a:rPr lang="en-US" altLang="zh-CN" sz="1400" b="1" baseline="-25000" dirty="0">
                <a:solidFill>
                  <a:srgbClr val="000000"/>
                </a:solidFill>
                <a:latin typeface="Times New Roman" panose="02020603050405020304" pitchFamily="18" charset="0"/>
              </a:rPr>
              <a:t>C</a:t>
            </a:r>
            <a:r>
              <a:rPr lang="en-US" altLang="zh-CN" sz="1400" b="1" dirty="0">
                <a:solidFill>
                  <a:srgbClr val="000000"/>
                </a:solidFill>
                <a:latin typeface="Times New Roman" panose="02020603050405020304" pitchFamily="18" charset="0"/>
              </a:rPr>
              <a:t>, AD</a:t>
            </a:r>
            <a:r>
              <a:rPr lang="en-US" altLang="zh-CN" sz="1400" b="1" baseline="-25000" dirty="0">
                <a:solidFill>
                  <a:srgbClr val="000000"/>
                </a:solidFill>
                <a:latin typeface="Times New Roman" panose="02020603050405020304" pitchFamily="18" charset="0"/>
              </a:rPr>
              <a:t>C</a:t>
            </a:r>
            <a:r>
              <a:rPr lang="en-US" altLang="zh-CN" sz="1400" b="1" dirty="0">
                <a:solidFill>
                  <a:srgbClr val="000000"/>
                </a:solidFill>
                <a:latin typeface="Times New Roman" panose="02020603050405020304" pitchFamily="18" charset="0"/>
              </a:rPr>
              <a:t>, </a:t>
            </a:r>
            <a:r>
              <a:rPr lang="en-US" altLang="zh-CN" sz="1400" b="1" dirty="0" err="1">
                <a:solidFill>
                  <a:srgbClr val="000000"/>
                </a:solidFill>
                <a:latin typeface="Times New Roman" panose="02020603050405020304" pitchFamily="18" charset="0"/>
              </a:rPr>
              <a:t>ID</a:t>
            </a:r>
            <a:r>
              <a:rPr lang="en-US" altLang="zh-CN" sz="1400" b="1" baseline="-25000" dirty="0" err="1">
                <a:solidFill>
                  <a:srgbClr val="000000"/>
                </a:solidFill>
                <a:latin typeface="Times New Roman" panose="02020603050405020304" pitchFamily="18" charset="0"/>
              </a:rPr>
              <a:t>tgs</a:t>
            </a:r>
            <a:r>
              <a:rPr lang="en-US" altLang="zh-CN" sz="1400" b="1" dirty="0">
                <a:solidFill>
                  <a:srgbClr val="000000"/>
                </a:solidFill>
                <a:latin typeface="Times New Roman" panose="02020603050405020304" pitchFamily="18" charset="0"/>
              </a:rPr>
              <a:t>, TS</a:t>
            </a:r>
            <a:r>
              <a:rPr lang="en-US" altLang="zh-CN" sz="1400" b="1" baseline="-25000" dirty="0">
                <a:solidFill>
                  <a:srgbClr val="000000"/>
                </a:solidFill>
                <a:latin typeface="Times New Roman" panose="02020603050405020304" pitchFamily="18" charset="0"/>
              </a:rPr>
              <a:t>2</a:t>
            </a:r>
            <a:r>
              <a:rPr lang="en-US" altLang="zh-CN" sz="1400" b="1" dirty="0">
                <a:solidFill>
                  <a:srgbClr val="000000"/>
                </a:solidFill>
                <a:latin typeface="Times New Roman" panose="02020603050405020304" pitchFamily="18" charset="0"/>
              </a:rPr>
              <a:t>, LT</a:t>
            </a:r>
            <a:r>
              <a:rPr lang="en-US" altLang="zh-CN" sz="1400" b="1" baseline="-25000" dirty="0">
                <a:solidFill>
                  <a:srgbClr val="000000"/>
                </a:solidFill>
                <a:latin typeface="Times New Roman" panose="02020603050405020304" pitchFamily="18" charset="0"/>
              </a:rPr>
              <a:t>2</a:t>
            </a:r>
            <a:r>
              <a:rPr lang="en-US" altLang="zh-CN" sz="1400" b="1" dirty="0">
                <a:solidFill>
                  <a:srgbClr val="000000"/>
                </a:solidFill>
                <a:latin typeface="Times New Roman" panose="02020603050405020304" pitchFamily="18" charset="0"/>
              </a:rPr>
              <a:t>}</a:t>
            </a:r>
          </a:p>
        </p:txBody>
      </p:sp>
      <p:sp>
        <p:nvSpPr>
          <p:cNvPr id="291905" name="Text Box 65"/>
          <p:cNvSpPr txBox="1">
            <a:spLocks noChangeArrowheads="1"/>
          </p:cNvSpPr>
          <p:nvPr/>
        </p:nvSpPr>
        <p:spPr bwMode="auto">
          <a:xfrm>
            <a:off x="3575051" y="6381750"/>
            <a:ext cx="39608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 TS</a:t>
            </a:r>
            <a:r>
              <a:rPr lang="en-US" altLang="zh-CN" sz="1400" b="1" baseline="-25000">
                <a:solidFill>
                  <a:srgbClr val="000000"/>
                </a:solidFill>
                <a:latin typeface="Times New Roman" panose="02020603050405020304" pitchFamily="18" charset="0"/>
              </a:rPr>
              <a:t>4</a:t>
            </a:r>
            <a:r>
              <a:rPr lang="en-US" altLang="zh-CN" sz="1400" b="1">
                <a:solidFill>
                  <a:srgbClr val="000000"/>
                </a:solidFill>
                <a:latin typeface="Times New Roman" panose="02020603050405020304" pitchFamily="18" charset="0"/>
              </a:rPr>
              <a:t>, LT</a:t>
            </a:r>
            <a:r>
              <a:rPr lang="en-US" altLang="zh-CN" sz="1400" b="1" baseline="-25000">
                <a:solidFill>
                  <a:srgbClr val="000000"/>
                </a:solidFill>
                <a:latin typeface="Times New Roman" panose="02020603050405020304" pitchFamily="18" charset="0"/>
              </a:rPr>
              <a:t>4</a:t>
            </a:r>
            <a:r>
              <a:rPr lang="en-US" altLang="zh-CN" sz="1400" b="1">
                <a:solidFill>
                  <a:srgbClr val="000000"/>
                </a:solidFill>
                <a:latin typeface="Times New Roman" panose="02020603050405020304" pitchFamily="18" charset="0"/>
              </a:rPr>
              <a:t>}</a:t>
            </a:r>
          </a:p>
        </p:txBody>
      </p:sp>
      <p:sp>
        <p:nvSpPr>
          <p:cNvPr id="291906" name="Text Box 66"/>
          <p:cNvSpPr txBox="1">
            <a:spLocks noChangeArrowheads="1"/>
          </p:cNvSpPr>
          <p:nvPr/>
        </p:nvSpPr>
        <p:spPr bwMode="auto">
          <a:xfrm>
            <a:off x="3648075" y="6094413"/>
            <a:ext cx="2808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AU</a:t>
            </a:r>
            <a:r>
              <a:rPr lang="en-US" altLang="zh-CN" sz="1400" b="1" baseline="-25000">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KC,tgs</a:t>
            </a: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TS</a:t>
            </a:r>
            <a:r>
              <a:rPr lang="en-US" altLang="zh-CN" sz="1400" b="1" baseline="-25000">
                <a:solidFill>
                  <a:srgbClr val="000000"/>
                </a:solidFill>
                <a:latin typeface="Times New Roman" panose="02020603050405020304" pitchFamily="18" charset="0"/>
              </a:rPr>
              <a:t>3</a:t>
            </a:r>
            <a:r>
              <a:rPr lang="en-US" altLang="zh-CN" sz="1400" b="1">
                <a:solidFill>
                  <a:srgbClr val="000000"/>
                </a:solidFill>
                <a:latin typeface="Times New Roman" panose="02020603050405020304" pitchFamily="18" charset="0"/>
              </a:rPr>
              <a:t>}</a:t>
            </a:r>
          </a:p>
        </p:txBody>
      </p:sp>
      <p:grpSp>
        <p:nvGrpSpPr>
          <p:cNvPr id="8" name="Group 67"/>
          <p:cNvGrpSpPr/>
          <p:nvPr/>
        </p:nvGrpSpPr>
        <p:grpSpPr bwMode="auto">
          <a:xfrm>
            <a:off x="2713038" y="1125538"/>
            <a:ext cx="6767512" cy="5473700"/>
            <a:chOff x="749" y="709"/>
            <a:chExt cx="4263" cy="3448"/>
          </a:xfrm>
        </p:grpSpPr>
        <p:sp>
          <p:nvSpPr>
            <p:cNvPr id="72722" name="Oval 68"/>
            <p:cNvSpPr>
              <a:spLocks noChangeArrowheads="1"/>
            </p:cNvSpPr>
            <p:nvPr/>
          </p:nvSpPr>
          <p:spPr bwMode="auto">
            <a:xfrm>
              <a:off x="883" y="3521"/>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2723" name="Oval 69"/>
            <p:cNvSpPr>
              <a:spLocks noChangeArrowheads="1"/>
            </p:cNvSpPr>
            <p:nvPr/>
          </p:nvSpPr>
          <p:spPr bwMode="auto">
            <a:xfrm>
              <a:off x="929" y="75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2724" name="Oval 70"/>
            <p:cNvSpPr>
              <a:spLocks noChangeArrowheads="1"/>
            </p:cNvSpPr>
            <p:nvPr/>
          </p:nvSpPr>
          <p:spPr bwMode="auto">
            <a:xfrm>
              <a:off x="3469"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2725" name="Oval 71"/>
            <p:cNvSpPr>
              <a:spLocks noChangeArrowheads="1"/>
            </p:cNvSpPr>
            <p:nvPr/>
          </p:nvSpPr>
          <p:spPr bwMode="auto">
            <a:xfrm>
              <a:off x="4739" y="3158"/>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2726" name="Oval 72"/>
            <p:cNvSpPr>
              <a:spLocks noChangeArrowheads="1"/>
            </p:cNvSpPr>
            <p:nvPr/>
          </p:nvSpPr>
          <p:spPr bwMode="auto">
            <a:xfrm>
              <a:off x="2063"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2727" name="Oval 73"/>
            <p:cNvSpPr>
              <a:spLocks noChangeArrowheads="1"/>
            </p:cNvSpPr>
            <p:nvPr/>
          </p:nvSpPr>
          <p:spPr bwMode="auto">
            <a:xfrm>
              <a:off x="4694"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2728" name="Oval 74"/>
            <p:cNvSpPr>
              <a:spLocks noChangeArrowheads="1"/>
            </p:cNvSpPr>
            <p:nvPr/>
          </p:nvSpPr>
          <p:spPr bwMode="auto">
            <a:xfrm>
              <a:off x="749" y="388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p>
          </p:txBody>
        </p:sp>
      </p:grpSp>
      <p:sp>
        <p:nvSpPr>
          <p:cNvPr id="291915" name="Oval 75"/>
          <p:cNvSpPr>
            <a:spLocks noChangeArrowheads="1"/>
          </p:cNvSpPr>
          <p:nvPr/>
        </p:nvSpPr>
        <p:spPr bwMode="auto">
          <a:xfrm>
            <a:off x="3216275" y="6165850"/>
            <a:ext cx="433388"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1904"/>
                                        </p:tgtEl>
                                        <p:attrNameLst>
                                          <p:attrName>style.visibility</p:attrName>
                                        </p:attrNameLst>
                                      </p:cBhvr>
                                      <p:to>
                                        <p:strVal val="visible"/>
                                      </p:to>
                                    </p:set>
                                    <p:anim calcmode="lin" valueType="num">
                                      <p:cBhvr additive="base">
                                        <p:cTn id="13" dur="500" fill="hold"/>
                                        <p:tgtEl>
                                          <p:spTgt spid="291904"/>
                                        </p:tgtEl>
                                        <p:attrNameLst>
                                          <p:attrName>ppt_x</p:attrName>
                                        </p:attrNameLst>
                                      </p:cBhvr>
                                      <p:tavLst>
                                        <p:tav tm="0">
                                          <p:val>
                                            <p:strVal val="#ppt_x"/>
                                          </p:val>
                                        </p:tav>
                                        <p:tav tm="100000">
                                          <p:val>
                                            <p:strVal val="#ppt_x"/>
                                          </p:val>
                                        </p:tav>
                                      </p:tavLst>
                                    </p:anim>
                                    <p:anim calcmode="lin" valueType="num">
                                      <p:cBhvr additive="base">
                                        <p:cTn id="14" dur="500" fill="hold"/>
                                        <p:tgtEl>
                                          <p:spTgt spid="29190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1906"/>
                                        </p:tgtEl>
                                        <p:attrNameLst>
                                          <p:attrName>style.visibility</p:attrName>
                                        </p:attrNameLst>
                                      </p:cBhvr>
                                      <p:to>
                                        <p:strVal val="visible"/>
                                      </p:to>
                                    </p:set>
                                    <p:anim calcmode="lin" valueType="num">
                                      <p:cBhvr additive="base">
                                        <p:cTn id="25" dur="500" fill="hold"/>
                                        <p:tgtEl>
                                          <p:spTgt spid="291906"/>
                                        </p:tgtEl>
                                        <p:attrNameLst>
                                          <p:attrName>ppt_x</p:attrName>
                                        </p:attrNameLst>
                                      </p:cBhvr>
                                      <p:tavLst>
                                        <p:tav tm="0">
                                          <p:val>
                                            <p:strVal val="#ppt_x"/>
                                          </p:val>
                                        </p:tav>
                                        <p:tav tm="100000">
                                          <p:val>
                                            <p:strVal val="#ppt_x"/>
                                          </p:val>
                                        </p:tav>
                                      </p:tavLst>
                                    </p:anim>
                                    <p:anim calcmode="lin" valueType="num">
                                      <p:cBhvr additive="base">
                                        <p:cTn id="26" dur="500" fill="hold"/>
                                        <p:tgtEl>
                                          <p:spTgt spid="29190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3"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1+#ppt_w/2"/>
                                          </p:val>
                                        </p:tav>
                                        <p:tav tm="100000">
                                          <p:val>
                                            <p:strVal val="#ppt_x"/>
                                          </p:val>
                                        </p:tav>
                                      </p:tavLst>
                                    </p:anim>
                                    <p:anim calcmode="lin" valueType="num">
                                      <p:cBhvr additive="base">
                                        <p:cTn id="3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91905"/>
                                        </p:tgtEl>
                                        <p:attrNameLst>
                                          <p:attrName>style.visibility</p:attrName>
                                        </p:attrNameLst>
                                      </p:cBhvr>
                                      <p:to>
                                        <p:strVal val="visible"/>
                                      </p:to>
                                    </p:set>
                                    <p:anim calcmode="lin" valueType="num">
                                      <p:cBhvr additive="base">
                                        <p:cTn id="37" dur="500" fill="hold"/>
                                        <p:tgtEl>
                                          <p:spTgt spid="291905"/>
                                        </p:tgtEl>
                                        <p:attrNameLst>
                                          <p:attrName>ppt_x</p:attrName>
                                        </p:attrNameLst>
                                      </p:cBhvr>
                                      <p:tavLst>
                                        <p:tav tm="0">
                                          <p:val>
                                            <p:strVal val="#ppt_x"/>
                                          </p:val>
                                        </p:tav>
                                        <p:tav tm="100000">
                                          <p:val>
                                            <p:strVal val="#ppt_x"/>
                                          </p:val>
                                        </p:tav>
                                      </p:tavLst>
                                    </p:anim>
                                    <p:anim calcmode="lin" valueType="num">
                                      <p:cBhvr additive="base">
                                        <p:cTn id="38" dur="500" fill="hold"/>
                                        <p:tgtEl>
                                          <p:spTgt spid="29190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1915"/>
                                        </p:tgtEl>
                                        <p:attrNameLst>
                                          <p:attrName>style.visibility</p:attrName>
                                        </p:attrNameLst>
                                      </p:cBhvr>
                                      <p:to>
                                        <p:strVal val="visible"/>
                                      </p:to>
                                    </p:set>
                                    <p:anim calcmode="lin" valueType="num">
                                      <p:cBhvr additive="base">
                                        <p:cTn id="43" dur="500" fill="hold"/>
                                        <p:tgtEl>
                                          <p:spTgt spid="291915"/>
                                        </p:tgtEl>
                                        <p:attrNameLst>
                                          <p:attrName>ppt_x</p:attrName>
                                        </p:attrNameLst>
                                      </p:cBhvr>
                                      <p:tavLst>
                                        <p:tav tm="0">
                                          <p:val>
                                            <p:strVal val="#ppt_x"/>
                                          </p:val>
                                        </p:tav>
                                        <p:tav tm="100000">
                                          <p:val>
                                            <p:strVal val="#ppt_x"/>
                                          </p:val>
                                        </p:tav>
                                      </p:tavLst>
                                    </p:anim>
                                    <p:anim calcmode="lin" valueType="num">
                                      <p:cBhvr additive="base">
                                        <p:cTn id="44" dur="500" fill="hold"/>
                                        <p:tgtEl>
                                          <p:spTgt spid="2919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904" grpId="0"/>
      <p:bldP spid="291905" grpId="0"/>
      <p:bldP spid="291906" grpId="0"/>
      <p:bldP spid="2919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380332" y="442912"/>
            <a:ext cx="7543800" cy="714375"/>
          </a:xfrm>
        </p:spPr>
        <p:txBody>
          <a:bodyPr/>
          <a:lstStyle/>
          <a:p>
            <a:pPr eaLnBrk="1" hangingPunct="1"/>
            <a:r>
              <a:rPr lang="en-US" altLang="zh-CN" sz="3600" dirty="0">
                <a:latin typeface="Times New Roman" panose="02020603050405020304" pitchFamily="18" charset="0"/>
              </a:rPr>
              <a:t>Kerberos V4</a:t>
            </a:r>
            <a:r>
              <a:rPr lang="zh-CN" altLang="en-US" sz="3600" dirty="0">
                <a:latin typeface="Times New Roman" panose="02020603050405020304" pitchFamily="18" charset="0"/>
              </a:rPr>
              <a:t>协议描述：第三阶段</a:t>
            </a:r>
          </a:p>
        </p:txBody>
      </p:sp>
      <p:grpSp>
        <p:nvGrpSpPr>
          <p:cNvPr id="73731" name="Group 3"/>
          <p:cNvGrpSpPr/>
          <p:nvPr/>
        </p:nvGrpSpPr>
        <p:grpSpPr bwMode="auto">
          <a:xfrm>
            <a:off x="7607300" y="1125539"/>
            <a:ext cx="1512888" cy="1114425"/>
            <a:chOff x="3107" y="709"/>
            <a:chExt cx="953" cy="702"/>
          </a:xfrm>
        </p:grpSpPr>
        <p:sp>
          <p:nvSpPr>
            <p:cNvPr id="73790"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1"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2"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3"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4"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5"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6"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7"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8"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99"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800"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801"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802"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803"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3732" name="Text Box 18"/>
          <p:cNvSpPr txBox="1">
            <a:spLocks noChangeArrowheads="1"/>
          </p:cNvSpPr>
          <p:nvPr/>
        </p:nvSpPr>
        <p:spPr bwMode="auto">
          <a:xfrm>
            <a:off x="7391401" y="2205038"/>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73733" name="Group 19"/>
          <p:cNvGrpSpPr/>
          <p:nvPr/>
        </p:nvGrpSpPr>
        <p:grpSpPr bwMode="auto">
          <a:xfrm>
            <a:off x="7750175" y="4365625"/>
            <a:ext cx="1512888" cy="1081088"/>
            <a:chOff x="3515" y="2931"/>
            <a:chExt cx="953" cy="681"/>
          </a:xfrm>
        </p:grpSpPr>
        <p:sp>
          <p:nvSpPr>
            <p:cNvPr id="73776"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77"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78"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79"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0"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1"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2"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3"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4"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5"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6"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7"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8"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89"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3734" name="Text Box 34"/>
          <p:cNvSpPr txBox="1">
            <a:spLocks noChangeArrowheads="1"/>
          </p:cNvSpPr>
          <p:nvPr/>
        </p:nvSpPr>
        <p:spPr bwMode="auto">
          <a:xfrm>
            <a:off x="7534276" y="55181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73735" name="Group 35"/>
          <p:cNvGrpSpPr/>
          <p:nvPr/>
        </p:nvGrpSpPr>
        <p:grpSpPr bwMode="auto">
          <a:xfrm>
            <a:off x="3575050" y="4221163"/>
            <a:ext cx="863600" cy="1008062"/>
            <a:chOff x="930" y="1933"/>
            <a:chExt cx="499" cy="817"/>
          </a:xfrm>
        </p:grpSpPr>
        <p:sp>
          <p:nvSpPr>
            <p:cNvPr id="73771"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3772"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73"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74"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75"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73736" name="Group 41"/>
          <p:cNvGrpSpPr/>
          <p:nvPr/>
        </p:nvGrpSpPr>
        <p:grpSpPr bwMode="auto">
          <a:xfrm>
            <a:off x="3575050" y="1125539"/>
            <a:ext cx="1512888" cy="1081087"/>
            <a:chOff x="2064" y="618"/>
            <a:chExt cx="953" cy="681"/>
          </a:xfrm>
        </p:grpSpPr>
        <p:sp>
          <p:nvSpPr>
            <p:cNvPr id="73757"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58"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59"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0"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1"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2"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3"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4"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5"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6"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7"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8"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69"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3770"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3737" name="Text Box 56"/>
          <p:cNvSpPr txBox="1">
            <a:spLocks noChangeArrowheads="1"/>
          </p:cNvSpPr>
          <p:nvPr/>
        </p:nvSpPr>
        <p:spPr bwMode="auto">
          <a:xfrm>
            <a:off x="3214689" y="22050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73738" name="Text Box 57"/>
          <p:cNvSpPr txBox="1">
            <a:spLocks noChangeArrowheads="1"/>
          </p:cNvSpPr>
          <p:nvPr/>
        </p:nvSpPr>
        <p:spPr bwMode="auto">
          <a:xfrm>
            <a:off x="3214689" y="52292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6" name="Group 58"/>
          <p:cNvGrpSpPr/>
          <p:nvPr/>
        </p:nvGrpSpPr>
        <p:grpSpPr bwMode="auto">
          <a:xfrm>
            <a:off x="4654551" y="4292601"/>
            <a:ext cx="2879725" cy="504825"/>
            <a:chOff x="1610" y="2704"/>
            <a:chExt cx="1814" cy="318"/>
          </a:xfrm>
        </p:grpSpPr>
        <p:sp>
          <p:nvSpPr>
            <p:cNvPr id="73755" name="Line 59"/>
            <p:cNvSpPr>
              <a:spLocks noChangeShapeType="1"/>
            </p:cNvSpPr>
            <p:nvPr/>
          </p:nvSpPr>
          <p:spPr bwMode="auto">
            <a:xfrm>
              <a:off x="1610" y="3022"/>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3756" name="Text Box 60"/>
            <p:cNvSpPr txBox="1">
              <a:spLocks noChangeArrowheads="1"/>
            </p:cNvSpPr>
            <p:nvPr/>
          </p:nvSpPr>
          <p:spPr bwMode="auto">
            <a:xfrm>
              <a:off x="1700" y="2704"/>
              <a:ext cx="17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 AU</a:t>
              </a:r>
              <a:r>
                <a:rPr lang="en-US" altLang="zh-CN" sz="1400" b="1" baseline="-25000">
                  <a:solidFill>
                    <a:srgbClr val="000000"/>
                  </a:solidFill>
                  <a:latin typeface="Times New Roman" panose="02020603050405020304" pitchFamily="18" charset="0"/>
                </a:rPr>
                <a:t>C</a:t>
              </a:r>
            </a:p>
          </p:txBody>
        </p:sp>
      </p:grpSp>
      <p:grpSp>
        <p:nvGrpSpPr>
          <p:cNvPr id="7" name="Group 61"/>
          <p:cNvGrpSpPr/>
          <p:nvPr/>
        </p:nvGrpSpPr>
        <p:grpSpPr bwMode="auto">
          <a:xfrm>
            <a:off x="4654551" y="4941888"/>
            <a:ext cx="2879725" cy="304800"/>
            <a:chOff x="1610" y="3113"/>
            <a:chExt cx="1814" cy="192"/>
          </a:xfrm>
        </p:grpSpPr>
        <p:sp>
          <p:nvSpPr>
            <p:cNvPr id="73753" name="Line 62"/>
            <p:cNvSpPr>
              <a:spLocks noChangeShapeType="1"/>
            </p:cNvSpPr>
            <p:nvPr/>
          </p:nvSpPr>
          <p:spPr bwMode="auto">
            <a:xfrm>
              <a:off x="1610" y="3294"/>
              <a:ext cx="1814" cy="0"/>
            </a:xfrm>
            <a:prstGeom prst="line">
              <a:avLst/>
            </a:prstGeom>
            <a:noFill/>
            <a:ln w="9525">
              <a:solidFill>
                <a:srgbClr val="FF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3754" name="Text Box 63"/>
            <p:cNvSpPr txBox="1">
              <a:spLocks noChangeArrowheads="1"/>
            </p:cNvSpPr>
            <p:nvPr/>
          </p:nvSpPr>
          <p:spPr bwMode="auto">
            <a:xfrm>
              <a:off x="1746" y="3113"/>
              <a:ext cx="163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KC,V</a:t>
              </a:r>
              <a:r>
                <a:rPr lang="en-US" altLang="zh-CN" sz="1400" b="1">
                  <a:solidFill>
                    <a:srgbClr val="000000"/>
                  </a:solidFill>
                  <a:latin typeface="Times New Roman" panose="02020603050405020304" pitchFamily="18" charset="0"/>
                </a:rPr>
                <a:t>{TS</a:t>
              </a:r>
              <a:r>
                <a:rPr lang="en-US" altLang="zh-CN" sz="1400" b="1" baseline="-25000">
                  <a:solidFill>
                    <a:srgbClr val="000000"/>
                  </a:solidFill>
                  <a:latin typeface="Times New Roman" panose="02020603050405020304" pitchFamily="18" charset="0"/>
                </a:rPr>
                <a:t>5</a:t>
              </a:r>
              <a:r>
                <a:rPr lang="en-US" altLang="zh-CN" sz="1400" b="1">
                  <a:solidFill>
                    <a:srgbClr val="000000"/>
                  </a:solidFill>
                  <a:latin typeface="Times New Roman" panose="02020603050405020304" pitchFamily="18" charset="0"/>
                </a:rPr>
                <a:t>+1}</a:t>
              </a:r>
              <a:endParaRPr lang="en-US" altLang="zh-CN" sz="1400" b="1" baseline="-25000">
                <a:solidFill>
                  <a:srgbClr val="000000"/>
                </a:solidFill>
                <a:latin typeface="Times New Roman" panose="02020603050405020304" pitchFamily="18" charset="0"/>
              </a:endParaRPr>
            </a:p>
          </p:txBody>
        </p:sp>
      </p:grpSp>
      <p:sp>
        <p:nvSpPr>
          <p:cNvPr id="73741" name="Text Box 64"/>
          <p:cNvSpPr txBox="1">
            <a:spLocks noChangeArrowheads="1"/>
          </p:cNvSpPr>
          <p:nvPr/>
        </p:nvSpPr>
        <p:spPr bwMode="auto">
          <a:xfrm>
            <a:off x="3575051" y="5589588"/>
            <a:ext cx="4537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 TS</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 LT</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a:t>
            </a:r>
          </a:p>
        </p:txBody>
      </p:sp>
      <p:sp>
        <p:nvSpPr>
          <p:cNvPr id="73742" name="Text Box 65"/>
          <p:cNvSpPr txBox="1">
            <a:spLocks noChangeArrowheads="1"/>
          </p:cNvSpPr>
          <p:nvPr/>
        </p:nvSpPr>
        <p:spPr bwMode="auto">
          <a:xfrm>
            <a:off x="3575051" y="5949950"/>
            <a:ext cx="39608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 TS</a:t>
            </a:r>
            <a:r>
              <a:rPr lang="en-US" altLang="zh-CN" sz="1400" b="1" baseline="-25000">
                <a:solidFill>
                  <a:srgbClr val="000000"/>
                </a:solidFill>
                <a:latin typeface="Times New Roman" panose="02020603050405020304" pitchFamily="18" charset="0"/>
              </a:rPr>
              <a:t>4</a:t>
            </a:r>
            <a:r>
              <a:rPr lang="en-US" altLang="zh-CN" sz="1400" b="1">
                <a:solidFill>
                  <a:srgbClr val="000000"/>
                </a:solidFill>
                <a:latin typeface="Times New Roman" panose="02020603050405020304" pitchFamily="18" charset="0"/>
              </a:rPr>
              <a:t>, LT</a:t>
            </a:r>
            <a:r>
              <a:rPr lang="en-US" altLang="zh-CN" sz="1400" b="1" baseline="-25000">
                <a:solidFill>
                  <a:srgbClr val="000000"/>
                </a:solidFill>
                <a:latin typeface="Times New Roman" panose="02020603050405020304" pitchFamily="18" charset="0"/>
              </a:rPr>
              <a:t>4</a:t>
            </a:r>
            <a:r>
              <a:rPr lang="en-US" altLang="zh-CN" sz="1400" b="1">
                <a:solidFill>
                  <a:srgbClr val="000000"/>
                </a:solidFill>
                <a:latin typeface="Times New Roman" panose="02020603050405020304" pitchFamily="18" charset="0"/>
              </a:rPr>
              <a:t>}</a:t>
            </a:r>
          </a:p>
        </p:txBody>
      </p:sp>
      <p:sp>
        <p:nvSpPr>
          <p:cNvPr id="293954" name="Text Box 66"/>
          <p:cNvSpPr txBox="1">
            <a:spLocks noChangeArrowheads="1"/>
          </p:cNvSpPr>
          <p:nvPr/>
        </p:nvSpPr>
        <p:spPr bwMode="auto">
          <a:xfrm>
            <a:off x="3575050" y="6308725"/>
            <a:ext cx="2808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AU</a:t>
            </a:r>
            <a:r>
              <a:rPr lang="en-US" altLang="zh-CN" sz="1400" b="1" baseline="-25000">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Kc,v</a:t>
            </a: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TS</a:t>
            </a:r>
            <a:r>
              <a:rPr lang="en-US" altLang="zh-CN" sz="1400" b="1" baseline="-25000">
                <a:solidFill>
                  <a:srgbClr val="000000"/>
                </a:solidFill>
                <a:latin typeface="Times New Roman" panose="02020603050405020304" pitchFamily="18" charset="0"/>
              </a:rPr>
              <a:t>5</a:t>
            </a:r>
            <a:r>
              <a:rPr lang="en-US" altLang="zh-CN" sz="1400" b="1">
                <a:solidFill>
                  <a:srgbClr val="000000"/>
                </a:solidFill>
                <a:latin typeface="Times New Roman" panose="02020603050405020304" pitchFamily="18" charset="0"/>
              </a:rPr>
              <a:t>}</a:t>
            </a:r>
          </a:p>
        </p:txBody>
      </p:sp>
      <p:grpSp>
        <p:nvGrpSpPr>
          <p:cNvPr id="8" name="Group 67"/>
          <p:cNvGrpSpPr/>
          <p:nvPr/>
        </p:nvGrpSpPr>
        <p:grpSpPr bwMode="auto">
          <a:xfrm>
            <a:off x="2713038" y="1125538"/>
            <a:ext cx="6767512" cy="5473700"/>
            <a:chOff x="749" y="709"/>
            <a:chExt cx="4263" cy="3448"/>
          </a:xfrm>
        </p:grpSpPr>
        <p:sp>
          <p:nvSpPr>
            <p:cNvPr id="73745" name="Oval 68"/>
            <p:cNvSpPr>
              <a:spLocks noChangeArrowheads="1"/>
            </p:cNvSpPr>
            <p:nvPr/>
          </p:nvSpPr>
          <p:spPr bwMode="auto">
            <a:xfrm>
              <a:off x="883" y="3521"/>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3746" name="Oval 69"/>
            <p:cNvSpPr>
              <a:spLocks noChangeArrowheads="1"/>
            </p:cNvSpPr>
            <p:nvPr/>
          </p:nvSpPr>
          <p:spPr bwMode="auto">
            <a:xfrm>
              <a:off x="929" y="75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3747" name="Oval 70"/>
            <p:cNvSpPr>
              <a:spLocks noChangeArrowheads="1"/>
            </p:cNvSpPr>
            <p:nvPr/>
          </p:nvSpPr>
          <p:spPr bwMode="auto">
            <a:xfrm>
              <a:off x="3469"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3748" name="Oval 71"/>
            <p:cNvSpPr>
              <a:spLocks noChangeArrowheads="1"/>
            </p:cNvSpPr>
            <p:nvPr/>
          </p:nvSpPr>
          <p:spPr bwMode="auto">
            <a:xfrm>
              <a:off x="4739" y="3158"/>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3749" name="Oval 72"/>
            <p:cNvSpPr>
              <a:spLocks noChangeArrowheads="1"/>
            </p:cNvSpPr>
            <p:nvPr/>
          </p:nvSpPr>
          <p:spPr bwMode="auto">
            <a:xfrm>
              <a:off x="2154"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3750" name="Oval 73"/>
            <p:cNvSpPr>
              <a:spLocks noChangeArrowheads="1"/>
            </p:cNvSpPr>
            <p:nvPr/>
          </p:nvSpPr>
          <p:spPr bwMode="auto">
            <a:xfrm>
              <a:off x="4694"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3751" name="Oval 74"/>
            <p:cNvSpPr>
              <a:spLocks noChangeArrowheads="1"/>
            </p:cNvSpPr>
            <p:nvPr/>
          </p:nvSpPr>
          <p:spPr bwMode="auto">
            <a:xfrm>
              <a:off x="749" y="388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p>
          </p:txBody>
        </p:sp>
        <p:sp>
          <p:nvSpPr>
            <p:cNvPr id="73752" name="Oval 75"/>
            <p:cNvSpPr>
              <a:spLocks noChangeArrowheads="1"/>
            </p:cNvSpPr>
            <p:nvPr/>
          </p:nvSpPr>
          <p:spPr bwMode="auto">
            <a:xfrm>
              <a:off x="1066" y="388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3954"/>
                                        </p:tgtEl>
                                        <p:attrNameLst>
                                          <p:attrName>style.visibility</p:attrName>
                                        </p:attrNameLst>
                                      </p:cBhvr>
                                      <p:to>
                                        <p:strVal val="visible"/>
                                      </p:to>
                                    </p:set>
                                    <p:anim calcmode="lin" valueType="num">
                                      <p:cBhvr additive="base">
                                        <p:cTn id="19" dur="500" fill="hold"/>
                                        <p:tgtEl>
                                          <p:spTgt spid="293954"/>
                                        </p:tgtEl>
                                        <p:attrNameLst>
                                          <p:attrName>ppt_x</p:attrName>
                                        </p:attrNameLst>
                                      </p:cBhvr>
                                      <p:tavLst>
                                        <p:tav tm="0">
                                          <p:val>
                                            <p:strVal val="#ppt_x"/>
                                          </p:val>
                                        </p:tav>
                                        <p:tav tm="100000">
                                          <p:val>
                                            <p:strVal val="#ppt_x"/>
                                          </p:val>
                                        </p:tav>
                                      </p:tavLst>
                                    </p:anim>
                                    <p:anim calcmode="lin" valueType="num">
                                      <p:cBhvr additive="base">
                                        <p:cTn id="20" dur="500" fill="hold"/>
                                        <p:tgtEl>
                                          <p:spTgt spid="29395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1+#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95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385888" y="489744"/>
            <a:ext cx="7543800" cy="642937"/>
          </a:xfrm>
        </p:spPr>
        <p:txBody>
          <a:bodyPr/>
          <a:lstStyle/>
          <a:p>
            <a:pPr eaLnBrk="1" hangingPunct="1"/>
            <a:r>
              <a:rPr lang="en-US" altLang="zh-CN" sz="2800" dirty="0">
                <a:latin typeface="Times New Roman" panose="02020603050405020304" pitchFamily="18" charset="0"/>
              </a:rPr>
              <a:t>Kerberos V4</a:t>
            </a:r>
            <a:r>
              <a:rPr lang="zh-CN" altLang="en-US" sz="2800" dirty="0">
                <a:latin typeface="Times New Roman" panose="02020603050405020304" pitchFamily="18" charset="0"/>
              </a:rPr>
              <a:t>协议描述：共享密钥及会话密钥</a:t>
            </a:r>
          </a:p>
        </p:txBody>
      </p:sp>
      <p:grpSp>
        <p:nvGrpSpPr>
          <p:cNvPr id="74755" name="Group 3"/>
          <p:cNvGrpSpPr/>
          <p:nvPr/>
        </p:nvGrpSpPr>
        <p:grpSpPr bwMode="auto">
          <a:xfrm>
            <a:off x="7535864" y="1125539"/>
            <a:ext cx="1512887" cy="1114425"/>
            <a:chOff x="3107" y="709"/>
            <a:chExt cx="953" cy="702"/>
          </a:xfrm>
        </p:grpSpPr>
        <p:sp>
          <p:nvSpPr>
            <p:cNvPr id="74811"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2"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3"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4"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5"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6"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7"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8"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9"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20"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21"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22"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23"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24"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4756" name="Text Box 18"/>
          <p:cNvSpPr txBox="1">
            <a:spLocks noChangeArrowheads="1"/>
          </p:cNvSpPr>
          <p:nvPr/>
        </p:nvSpPr>
        <p:spPr bwMode="auto">
          <a:xfrm>
            <a:off x="7319964" y="2205038"/>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74757" name="Group 19"/>
          <p:cNvGrpSpPr/>
          <p:nvPr/>
        </p:nvGrpSpPr>
        <p:grpSpPr bwMode="auto">
          <a:xfrm>
            <a:off x="7678739" y="4365625"/>
            <a:ext cx="1512887" cy="1081088"/>
            <a:chOff x="3515" y="2931"/>
            <a:chExt cx="953" cy="681"/>
          </a:xfrm>
        </p:grpSpPr>
        <p:sp>
          <p:nvSpPr>
            <p:cNvPr id="74797"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98"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99"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0"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1"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2"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3"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4"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5"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6"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7"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8"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09"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810"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4758" name="Text Box 34"/>
          <p:cNvSpPr txBox="1">
            <a:spLocks noChangeArrowheads="1"/>
          </p:cNvSpPr>
          <p:nvPr/>
        </p:nvSpPr>
        <p:spPr bwMode="auto">
          <a:xfrm>
            <a:off x="7462839" y="55181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74759" name="Group 35"/>
          <p:cNvGrpSpPr/>
          <p:nvPr/>
        </p:nvGrpSpPr>
        <p:grpSpPr bwMode="auto">
          <a:xfrm>
            <a:off x="3503613" y="4221163"/>
            <a:ext cx="863600" cy="1008062"/>
            <a:chOff x="930" y="1933"/>
            <a:chExt cx="499" cy="817"/>
          </a:xfrm>
        </p:grpSpPr>
        <p:sp>
          <p:nvSpPr>
            <p:cNvPr id="74792"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4793"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94"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95"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96"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4760" name="Line 41"/>
          <p:cNvSpPr>
            <a:spLocks noChangeShapeType="1"/>
          </p:cNvSpPr>
          <p:nvPr/>
        </p:nvSpPr>
        <p:spPr bwMode="auto">
          <a:xfrm flipV="1">
            <a:off x="4151313" y="2492375"/>
            <a:ext cx="0" cy="1657350"/>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4761" name="Text Box 42"/>
          <p:cNvSpPr txBox="1">
            <a:spLocks noChangeArrowheads="1"/>
          </p:cNvSpPr>
          <p:nvPr/>
        </p:nvSpPr>
        <p:spPr bwMode="auto">
          <a:xfrm>
            <a:off x="4078288" y="2852738"/>
            <a:ext cx="1079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endParaRPr lang="en-US" altLang="zh-CN" sz="1400" b="1">
              <a:solidFill>
                <a:srgbClr val="000000"/>
              </a:solidFill>
              <a:latin typeface="Times New Roman" panose="02020603050405020304" pitchFamily="18" charset="0"/>
            </a:endParaRPr>
          </a:p>
        </p:txBody>
      </p:sp>
      <p:grpSp>
        <p:nvGrpSpPr>
          <p:cNvPr id="74762" name="Group 43"/>
          <p:cNvGrpSpPr/>
          <p:nvPr/>
        </p:nvGrpSpPr>
        <p:grpSpPr bwMode="auto">
          <a:xfrm>
            <a:off x="3503614" y="1125539"/>
            <a:ext cx="1512887" cy="1081087"/>
            <a:chOff x="2064" y="618"/>
            <a:chExt cx="953" cy="681"/>
          </a:xfrm>
        </p:grpSpPr>
        <p:sp>
          <p:nvSpPr>
            <p:cNvPr id="74778" name="Line 44"/>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79" name="Line 45"/>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0" name="Line 46"/>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1" name="Line 47"/>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2" name="Line 48"/>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3" name="Line 49"/>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4" name="Line 50"/>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5" name="Line 51"/>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6" name="Line 52"/>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7" name="Line 53"/>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8" name="Line 54"/>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89" name="Line 55"/>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90" name="Line 56"/>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4791" name="Line 57"/>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4763" name="Line 58"/>
          <p:cNvSpPr>
            <a:spLocks noChangeShapeType="1"/>
          </p:cNvSpPr>
          <p:nvPr/>
        </p:nvSpPr>
        <p:spPr bwMode="auto">
          <a:xfrm>
            <a:off x="4727576" y="5013325"/>
            <a:ext cx="2879725" cy="0"/>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4764" name="Text Box 59"/>
          <p:cNvSpPr txBox="1">
            <a:spLocks noChangeArrowheads="1"/>
          </p:cNvSpPr>
          <p:nvPr/>
        </p:nvSpPr>
        <p:spPr bwMode="auto">
          <a:xfrm>
            <a:off x="3143251" y="22050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74765" name="Text Box 60"/>
          <p:cNvSpPr txBox="1">
            <a:spLocks noChangeArrowheads="1"/>
          </p:cNvSpPr>
          <p:nvPr/>
        </p:nvSpPr>
        <p:spPr bwMode="auto">
          <a:xfrm>
            <a:off x="3143251" y="52292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sp>
        <p:nvSpPr>
          <p:cNvPr id="74766" name="Line 61"/>
          <p:cNvSpPr>
            <a:spLocks noChangeShapeType="1"/>
          </p:cNvSpPr>
          <p:nvPr/>
        </p:nvSpPr>
        <p:spPr bwMode="auto">
          <a:xfrm flipH="1">
            <a:off x="4583114" y="2708276"/>
            <a:ext cx="3024187" cy="2016125"/>
          </a:xfrm>
          <a:prstGeom prst="line">
            <a:avLst/>
          </a:prstGeom>
          <a:noFill/>
          <a:ln w="9525">
            <a:solidFill>
              <a:srgbClr val="FF0000"/>
            </a:solidFill>
            <a:prstDash val="lgDash"/>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4767" name="Text Box 62"/>
          <p:cNvSpPr txBox="1">
            <a:spLocks noChangeArrowheads="1"/>
          </p:cNvSpPr>
          <p:nvPr/>
        </p:nvSpPr>
        <p:spPr bwMode="auto">
          <a:xfrm>
            <a:off x="5303839" y="3284538"/>
            <a:ext cx="136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endParaRPr lang="en-US" altLang="zh-CN" sz="1400" b="1">
              <a:solidFill>
                <a:srgbClr val="000000"/>
              </a:solidFill>
              <a:latin typeface="Times New Roman" panose="02020603050405020304" pitchFamily="18" charset="0"/>
            </a:endParaRPr>
          </a:p>
        </p:txBody>
      </p:sp>
      <p:sp>
        <p:nvSpPr>
          <p:cNvPr id="74768" name="Text Box 63"/>
          <p:cNvSpPr txBox="1">
            <a:spLocks noChangeArrowheads="1"/>
          </p:cNvSpPr>
          <p:nvPr/>
        </p:nvSpPr>
        <p:spPr bwMode="auto">
          <a:xfrm>
            <a:off x="5951539" y="4581525"/>
            <a:ext cx="936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endParaRPr lang="en-US" altLang="zh-CN" sz="1400" b="1">
              <a:solidFill>
                <a:srgbClr val="000000"/>
              </a:solidFill>
              <a:latin typeface="Times New Roman" panose="02020603050405020304" pitchFamily="18" charset="0"/>
            </a:endParaRPr>
          </a:p>
        </p:txBody>
      </p:sp>
      <p:grpSp>
        <p:nvGrpSpPr>
          <p:cNvPr id="6" name="Group 64"/>
          <p:cNvGrpSpPr/>
          <p:nvPr/>
        </p:nvGrpSpPr>
        <p:grpSpPr bwMode="auto">
          <a:xfrm>
            <a:off x="2998788" y="1052513"/>
            <a:ext cx="6767512" cy="5473700"/>
            <a:chOff x="749" y="709"/>
            <a:chExt cx="4263" cy="3448"/>
          </a:xfrm>
        </p:grpSpPr>
        <p:sp>
          <p:nvSpPr>
            <p:cNvPr id="74770" name="Oval 65"/>
            <p:cNvSpPr>
              <a:spLocks noChangeArrowheads="1"/>
            </p:cNvSpPr>
            <p:nvPr/>
          </p:nvSpPr>
          <p:spPr bwMode="auto">
            <a:xfrm>
              <a:off x="883" y="3521"/>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4771" name="Oval 66"/>
            <p:cNvSpPr>
              <a:spLocks noChangeArrowheads="1"/>
            </p:cNvSpPr>
            <p:nvPr/>
          </p:nvSpPr>
          <p:spPr bwMode="auto">
            <a:xfrm>
              <a:off x="929" y="75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4772" name="Oval 67"/>
            <p:cNvSpPr>
              <a:spLocks noChangeArrowheads="1"/>
            </p:cNvSpPr>
            <p:nvPr/>
          </p:nvSpPr>
          <p:spPr bwMode="auto">
            <a:xfrm>
              <a:off x="3469"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4773" name="Oval 68"/>
            <p:cNvSpPr>
              <a:spLocks noChangeArrowheads="1"/>
            </p:cNvSpPr>
            <p:nvPr/>
          </p:nvSpPr>
          <p:spPr bwMode="auto">
            <a:xfrm>
              <a:off x="4739" y="3158"/>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4774" name="Oval 69"/>
            <p:cNvSpPr>
              <a:spLocks noChangeArrowheads="1"/>
            </p:cNvSpPr>
            <p:nvPr/>
          </p:nvSpPr>
          <p:spPr bwMode="auto">
            <a:xfrm>
              <a:off x="2154"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4775" name="Oval 70"/>
            <p:cNvSpPr>
              <a:spLocks noChangeArrowheads="1"/>
            </p:cNvSpPr>
            <p:nvPr/>
          </p:nvSpPr>
          <p:spPr bwMode="auto">
            <a:xfrm>
              <a:off x="4694" y="709"/>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4776" name="Oval 71"/>
            <p:cNvSpPr>
              <a:spLocks noChangeArrowheads="1"/>
            </p:cNvSpPr>
            <p:nvPr/>
          </p:nvSpPr>
          <p:spPr bwMode="auto">
            <a:xfrm>
              <a:off x="749" y="388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p>
          </p:txBody>
        </p:sp>
        <p:sp>
          <p:nvSpPr>
            <p:cNvPr id="74777" name="Oval 72"/>
            <p:cNvSpPr>
              <a:spLocks noChangeArrowheads="1"/>
            </p:cNvSpPr>
            <p:nvPr/>
          </p:nvSpPr>
          <p:spPr bwMode="auto">
            <a:xfrm>
              <a:off x="1066" y="3884"/>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359820" y="466976"/>
            <a:ext cx="7543800" cy="714375"/>
          </a:xfrm>
        </p:spPr>
        <p:txBody>
          <a:bodyPr/>
          <a:lstStyle/>
          <a:p>
            <a:pPr eaLnBrk="1" hangingPunct="1"/>
            <a:r>
              <a:rPr lang="en-US" altLang="zh-CN" dirty="0">
                <a:latin typeface="Times New Roman" panose="02020603050405020304" pitchFamily="18" charset="0"/>
              </a:rPr>
              <a:t>Kerberos</a:t>
            </a:r>
            <a:r>
              <a:rPr lang="zh-CN" altLang="en-US" dirty="0">
                <a:latin typeface="Times New Roman" panose="02020603050405020304" pitchFamily="18" charset="0"/>
              </a:rPr>
              <a:t>设计思路</a:t>
            </a:r>
          </a:p>
        </p:txBody>
      </p:sp>
      <p:grpSp>
        <p:nvGrpSpPr>
          <p:cNvPr id="75779" name="Group 3"/>
          <p:cNvGrpSpPr/>
          <p:nvPr/>
        </p:nvGrpSpPr>
        <p:grpSpPr bwMode="auto">
          <a:xfrm>
            <a:off x="7643814" y="1125539"/>
            <a:ext cx="1512887" cy="1114425"/>
            <a:chOff x="3107" y="709"/>
            <a:chExt cx="953" cy="702"/>
          </a:xfrm>
        </p:grpSpPr>
        <p:sp>
          <p:nvSpPr>
            <p:cNvPr id="75851" name="Line 4"/>
            <p:cNvSpPr>
              <a:spLocks noChangeShapeType="1"/>
            </p:cNvSpPr>
            <p:nvPr/>
          </p:nvSpPr>
          <p:spPr bwMode="auto">
            <a:xfrm flipH="1">
              <a:off x="3107" y="845"/>
              <a:ext cx="283"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2" name="Line 5"/>
            <p:cNvSpPr>
              <a:spLocks noChangeShapeType="1"/>
            </p:cNvSpPr>
            <p:nvPr/>
          </p:nvSpPr>
          <p:spPr bwMode="auto">
            <a:xfrm>
              <a:off x="3390" y="845"/>
              <a:ext cx="176" cy="205"/>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3" name="Line 6"/>
            <p:cNvSpPr>
              <a:spLocks noChangeShapeType="1"/>
            </p:cNvSpPr>
            <p:nvPr/>
          </p:nvSpPr>
          <p:spPr bwMode="auto">
            <a:xfrm>
              <a:off x="3107" y="105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4" name="Line 7"/>
            <p:cNvSpPr>
              <a:spLocks noChangeShapeType="1"/>
            </p:cNvSpPr>
            <p:nvPr/>
          </p:nvSpPr>
          <p:spPr bwMode="auto">
            <a:xfrm flipV="1">
              <a:off x="3390" y="709"/>
              <a:ext cx="458" cy="1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5" name="Line 8"/>
            <p:cNvSpPr>
              <a:spLocks noChangeShapeType="1"/>
            </p:cNvSpPr>
            <p:nvPr/>
          </p:nvSpPr>
          <p:spPr bwMode="auto">
            <a:xfrm>
              <a:off x="3848" y="709"/>
              <a:ext cx="177"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6" name="Line 9"/>
            <p:cNvSpPr>
              <a:spLocks noChangeShapeType="1"/>
            </p:cNvSpPr>
            <p:nvPr/>
          </p:nvSpPr>
          <p:spPr bwMode="auto">
            <a:xfrm flipV="1">
              <a:off x="3566" y="913"/>
              <a:ext cx="459" cy="137"/>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7" name="Line 10"/>
            <p:cNvSpPr>
              <a:spLocks noChangeShapeType="1"/>
            </p:cNvSpPr>
            <p:nvPr/>
          </p:nvSpPr>
          <p:spPr bwMode="auto">
            <a:xfrm>
              <a:off x="3107" y="1050"/>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8" name="Line 11"/>
            <p:cNvSpPr>
              <a:spLocks noChangeShapeType="1"/>
            </p:cNvSpPr>
            <p:nvPr/>
          </p:nvSpPr>
          <p:spPr bwMode="auto">
            <a:xfrm>
              <a:off x="3560" y="1071"/>
              <a:ext cx="0" cy="34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9" name="Line 12"/>
            <p:cNvSpPr>
              <a:spLocks noChangeShapeType="1"/>
            </p:cNvSpPr>
            <p:nvPr/>
          </p:nvSpPr>
          <p:spPr bwMode="auto">
            <a:xfrm>
              <a:off x="3107" y="1390"/>
              <a:ext cx="459"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60" name="Line 13"/>
            <p:cNvSpPr>
              <a:spLocks noChangeShapeType="1"/>
            </p:cNvSpPr>
            <p:nvPr/>
          </p:nvSpPr>
          <p:spPr bwMode="auto">
            <a:xfrm flipV="1">
              <a:off x="3566" y="1186"/>
              <a:ext cx="494" cy="204"/>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61" name="Line 14"/>
            <p:cNvSpPr>
              <a:spLocks noChangeShapeType="1"/>
            </p:cNvSpPr>
            <p:nvPr/>
          </p:nvSpPr>
          <p:spPr bwMode="auto">
            <a:xfrm>
              <a:off x="4025" y="913"/>
              <a:ext cx="0" cy="273"/>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62" name="Line 15"/>
            <p:cNvSpPr>
              <a:spLocks noChangeShapeType="1"/>
            </p:cNvSpPr>
            <p:nvPr/>
          </p:nvSpPr>
          <p:spPr bwMode="auto">
            <a:xfrm>
              <a:off x="3213"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63" name="Line 16"/>
            <p:cNvSpPr>
              <a:spLocks noChangeShapeType="1"/>
            </p:cNvSpPr>
            <p:nvPr/>
          </p:nvSpPr>
          <p:spPr bwMode="auto">
            <a:xfrm>
              <a:off x="3213" y="1288"/>
              <a:ext cx="10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64" name="Line 17"/>
            <p:cNvSpPr>
              <a:spLocks noChangeShapeType="1"/>
            </p:cNvSpPr>
            <p:nvPr/>
          </p:nvSpPr>
          <p:spPr bwMode="auto">
            <a:xfrm>
              <a:off x="3319" y="1288"/>
              <a:ext cx="0" cy="10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5780" name="Text Box 18"/>
          <p:cNvSpPr txBox="1">
            <a:spLocks noChangeArrowheads="1"/>
          </p:cNvSpPr>
          <p:nvPr/>
        </p:nvSpPr>
        <p:spPr bwMode="auto">
          <a:xfrm>
            <a:off x="7427914" y="2205038"/>
            <a:ext cx="180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票据许可服务器（</a:t>
            </a:r>
            <a:r>
              <a:rPr lang="en-US" altLang="zh-CN" sz="1400" b="1">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p>
        </p:txBody>
      </p:sp>
      <p:grpSp>
        <p:nvGrpSpPr>
          <p:cNvPr id="75781" name="Group 19"/>
          <p:cNvGrpSpPr/>
          <p:nvPr/>
        </p:nvGrpSpPr>
        <p:grpSpPr bwMode="auto">
          <a:xfrm>
            <a:off x="7786689" y="4365625"/>
            <a:ext cx="1512887" cy="1081088"/>
            <a:chOff x="3515" y="2931"/>
            <a:chExt cx="953" cy="681"/>
          </a:xfrm>
        </p:grpSpPr>
        <p:sp>
          <p:nvSpPr>
            <p:cNvPr id="75837" name="Line 20"/>
            <p:cNvSpPr>
              <a:spLocks noChangeShapeType="1"/>
            </p:cNvSpPr>
            <p:nvPr/>
          </p:nvSpPr>
          <p:spPr bwMode="auto">
            <a:xfrm flipH="1">
              <a:off x="3515" y="3067"/>
              <a:ext cx="283"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8" name="Line 21"/>
            <p:cNvSpPr>
              <a:spLocks noChangeShapeType="1"/>
            </p:cNvSpPr>
            <p:nvPr/>
          </p:nvSpPr>
          <p:spPr bwMode="auto">
            <a:xfrm>
              <a:off x="3798" y="3067"/>
              <a:ext cx="176" cy="205"/>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9" name="Line 22"/>
            <p:cNvSpPr>
              <a:spLocks noChangeShapeType="1"/>
            </p:cNvSpPr>
            <p:nvPr/>
          </p:nvSpPr>
          <p:spPr bwMode="auto">
            <a:xfrm>
              <a:off x="3515" y="327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0" name="Line 23"/>
            <p:cNvSpPr>
              <a:spLocks noChangeShapeType="1"/>
            </p:cNvSpPr>
            <p:nvPr/>
          </p:nvSpPr>
          <p:spPr bwMode="auto">
            <a:xfrm flipV="1">
              <a:off x="3798" y="2931"/>
              <a:ext cx="458" cy="1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1" name="Line 24"/>
            <p:cNvSpPr>
              <a:spLocks noChangeShapeType="1"/>
            </p:cNvSpPr>
            <p:nvPr/>
          </p:nvSpPr>
          <p:spPr bwMode="auto">
            <a:xfrm>
              <a:off x="4256" y="2931"/>
              <a:ext cx="177"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2" name="Line 25"/>
            <p:cNvSpPr>
              <a:spLocks noChangeShapeType="1"/>
            </p:cNvSpPr>
            <p:nvPr/>
          </p:nvSpPr>
          <p:spPr bwMode="auto">
            <a:xfrm flipV="1">
              <a:off x="3974" y="3135"/>
              <a:ext cx="459" cy="137"/>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3" name="Line 26"/>
            <p:cNvSpPr>
              <a:spLocks noChangeShapeType="1"/>
            </p:cNvSpPr>
            <p:nvPr/>
          </p:nvSpPr>
          <p:spPr bwMode="auto">
            <a:xfrm>
              <a:off x="3515"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4" name="Line 27"/>
            <p:cNvSpPr>
              <a:spLocks noChangeShapeType="1"/>
            </p:cNvSpPr>
            <p:nvPr/>
          </p:nvSpPr>
          <p:spPr bwMode="auto">
            <a:xfrm>
              <a:off x="3974" y="3272"/>
              <a:ext cx="0" cy="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5" name="Line 28"/>
            <p:cNvSpPr>
              <a:spLocks noChangeShapeType="1"/>
            </p:cNvSpPr>
            <p:nvPr/>
          </p:nvSpPr>
          <p:spPr bwMode="auto">
            <a:xfrm>
              <a:off x="3515" y="3612"/>
              <a:ext cx="459"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6" name="Line 29"/>
            <p:cNvSpPr>
              <a:spLocks noChangeShapeType="1"/>
            </p:cNvSpPr>
            <p:nvPr/>
          </p:nvSpPr>
          <p:spPr bwMode="auto">
            <a:xfrm flipV="1">
              <a:off x="3974" y="3408"/>
              <a:ext cx="494" cy="204"/>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7" name="Line 30"/>
            <p:cNvSpPr>
              <a:spLocks noChangeShapeType="1"/>
            </p:cNvSpPr>
            <p:nvPr/>
          </p:nvSpPr>
          <p:spPr bwMode="auto">
            <a:xfrm>
              <a:off x="4433" y="3135"/>
              <a:ext cx="0" cy="2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8" name="Line 31"/>
            <p:cNvSpPr>
              <a:spLocks noChangeShapeType="1"/>
            </p:cNvSpPr>
            <p:nvPr/>
          </p:nvSpPr>
          <p:spPr bwMode="auto">
            <a:xfrm>
              <a:off x="3621"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9" name="Line 32"/>
            <p:cNvSpPr>
              <a:spLocks noChangeShapeType="1"/>
            </p:cNvSpPr>
            <p:nvPr/>
          </p:nvSpPr>
          <p:spPr bwMode="auto">
            <a:xfrm>
              <a:off x="3621" y="3510"/>
              <a:ext cx="10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0" name="Line 33"/>
            <p:cNvSpPr>
              <a:spLocks noChangeShapeType="1"/>
            </p:cNvSpPr>
            <p:nvPr/>
          </p:nvSpPr>
          <p:spPr bwMode="auto">
            <a:xfrm>
              <a:off x="3727" y="3510"/>
              <a:ext cx="0" cy="10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5782" name="Text Box 34"/>
          <p:cNvSpPr txBox="1">
            <a:spLocks noChangeArrowheads="1"/>
          </p:cNvSpPr>
          <p:nvPr/>
        </p:nvSpPr>
        <p:spPr bwMode="auto">
          <a:xfrm>
            <a:off x="7570789" y="5518150"/>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服务器（</a:t>
            </a:r>
            <a:r>
              <a:rPr lang="en-US" altLang="zh-CN" sz="1400" b="1">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p>
        </p:txBody>
      </p:sp>
      <p:grpSp>
        <p:nvGrpSpPr>
          <p:cNvPr id="75783" name="Group 35"/>
          <p:cNvGrpSpPr/>
          <p:nvPr/>
        </p:nvGrpSpPr>
        <p:grpSpPr bwMode="auto">
          <a:xfrm>
            <a:off x="3611563" y="4221163"/>
            <a:ext cx="863600" cy="1008062"/>
            <a:chOff x="930" y="1933"/>
            <a:chExt cx="499" cy="817"/>
          </a:xfrm>
        </p:grpSpPr>
        <p:sp>
          <p:nvSpPr>
            <p:cNvPr id="75832" name="Oval 36"/>
            <p:cNvSpPr>
              <a:spLocks noChangeArrowheads="1"/>
            </p:cNvSpPr>
            <p:nvPr/>
          </p:nvSpPr>
          <p:spPr bwMode="auto">
            <a:xfrm>
              <a:off x="1066" y="1933"/>
              <a:ext cx="272" cy="227"/>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5833" name="Line 37"/>
            <p:cNvSpPr>
              <a:spLocks noChangeShapeType="1"/>
            </p:cNvSpPr>
            <p:nvPr/>
          </p:nvSpPr>
          <p:spPr bwMode="auto">
            <a:xfrm>
              <a:off x="1202" y="2205"/>
              <a:ext cx="0" cy="22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4" name="Line 38"/>
            <p:cNvSpPr>
              <a:spLocks noChangeShapeType="1"/>
            </p:cNvSpPr>
            <p:nvPr/>
          </p:nvSpPr>
          <p:spPr bwMode="auto">
            <a:xfrm flipH="1">
              <a:off x="930" y="2432"/>
              <a:ext cx="272" cy="317"/>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5" name="Line 39"/>
            <p:cNvSpPr>
              <a:spLocks noChangeShapeType="1"/>
            </p:cNvSpPr>
            <p:nvPr/>
          </p:nvSpPr>
          <p:spPr bwMode="auto">
            <a:xfrm>
              <a:off x="1202" y="2432"/>
              <a:ext cx="227" cy="318"/>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6" name="Line 40"/>
            <p:cNvSpPr>
              <a:spLocks noChangeShapeType="1"/>
            </p:cNvSpPr>
            <p:nvPr/>
          </p:nvSpPr>
          <p:spPr bwMode="auto">
            <a:xfrm>
              <a:off x="975" y="2432"/>
              <a:ext cx="454"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75784" name="Group 41"/>
          <p:cNvGrpSpPr/>
          <p:nvPr/>
        </p:nvGrpSpPr>
        <p:grpSpPr bwMode="auto">
          <a:xfrm>
            <a:off x="3611564" y="1125539"/>
            <a:ext cx="1512887" cy="1081087"/>
            <a:chOff x="2064" y="618"/>
            <a:chExt cx="953" cy="681"/>
          </a:xfrm>
        </p:grpSpPr>
        <p:sp>
          <p:nvSpPr>
            <p:cNvPr id="75818" name="Line 42"/>
            <p:cNvSpPr>
              <a:spLocks noChangeShapeType="1"/>
            </p:cNvSpPr>
            <p:nvPr/>
          </p:nvSpPr>
          <p:spPr bwMode="auto">
            <a:xfrm flipH="1">
              <a:off x="2064" y="754"/>
              <a:ext cx="283"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19" name="Line 43"/>
            <p:cNvSpPr>
              <a:spLocks noChangeShapeType="1"/>
            </p:cNvSpPr>
            <p:nvPr/>
          </p:nvSpPr>
          <p:spPr bwMode="auto">
            <a:xfrm>
              <a:off x="2347" y="754"/>
              <a:ext cx="176" cy="205"/>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0" name="Line 44"/>
            <p:cNvSpPr>
              <a:spLocks noChangeShapeType="1"/>
            </p:cNvSpPr>
            <p:nvPr/>
          </p:nvSpPr>
          <p:spPr bwMode="auto">
            <a:xfrm>
              <a:off x="2064" y="95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1" name="Line 45"/>
            <p:cNvSpPr>
              <a:spLocks noChangeShapeType="1"/>
            </p:cNvSpPr>
            <p:nvPr/>
          </p:nvSpPr>
          <p:spPr bwMode="auto">
            <a:xfrm flipV="1">
              <a:off x="2347" y="618"/>
              <a:ext cx="458" cy="136"/>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2" name="Line 46"/>
            <p:cNvSpPr>
              <a:spLocks noChangeShapeType="1"/>
            </p:cNvSpPr>
            <p:nvPr/>
          </p:nvSpPr>
          <p:spPr bwMode="auto">
            <a:xfrm>
              <a:off x="2805" y="618"/>
              <a:ext cx="177"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3" name="Line 47"/>
            <p:cNvSpPr>
              <a:spLocks noChangeShapeType="1"/>
            </p:cNvSpPr>
            <p:nvPr/>
          </p:nvSpPr>
          <p:spPr bwMode="auto">
            <a:xfrm flipV="1">
              <a:off x="2523" y="822"/>
              <a:ext cx="459" cy="137"/>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4" name="Line 48"/>
            <p:cNvSpPr>
              <a:spLocks noChangeShapeType="1"/>
            </p:cNvSpPr>
            <p:nvPr/>
          </p:nvSpPr>
          <p:spPr bwMode="auto">
            <a:xfrm>
              <a:off x="2064"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5" name="Line 49"/>
            <p:cNvSpPr>
              <a:spLocks noChangeShapeType="1"/>
            </p:cNvSpPr>
            <p:nvPr/>
          </p:nvSpPr>
          <p:spPr bwMode="auto">
            <a:xfrm>
              <a:off x="2523" y="959"/>
              <a:ext cx="0" cy="34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6" name="Line 50"/>
            <p:cNvSpPr>
              <a:spLocks noChangeShapeType="1"/>
            </p:cNvSpPr>
            <p:nvPr/>
          </p:nvSpPr>
          <p:spPr bwMode="auto">
            <a:xfrm>
              <a:off x="2064" y="1299"/>
              <a:ext cx="459"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7" name="Line 51"/>
            <p:cNvSpPr>
              <a:spLocks noChangeShapeType="1"/>
            </p:cNvSpPr>
            <p:nvPr/>
          </p:nvSpPr>
          <p:spPr bwMode="auto">
            <a:xfrm flipV="1">
              <a:off x="2523" y="1095"/>
              <a:ext cx="494" cy="204"/>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8" name="Line 52"/>
            <p:cNvSpPr>
              <a:spLocks noChangeShapeType="1"/>
            </p:cNvSpPr>
            <p:nvPr/>
          </p:nvSpPr>
          <p:spPr bwMode="auto">
            <a:xfrm>
              <a:off x="2982" y="822"/>
              <a:ext cx="0" cy="273"/>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9" name="Line 53"/>
            <p:cNvSpPr>
              <a:spLocks noChangeShapeType="1"/>
            </p:cNvSpPr>
            <p:nvPr/>
          </p:nvSpPr>
          <p:spPr bwMode="auto">
            <a:xfrm>
              <a:off x="2170"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0" name="Line 54"/>
            <p:cNvSpPr>
              <a:spLocks noChangeShapeType="1"/>
            </p:cNvSpPr>
            <p:nvPr/>
          </p:nvSpPr>
          <p:spPr bwMode="auto">
            <a:xfrm>
              <a:off x="2170" y="1197"/>
              <a:ext cx="106"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1" name="Line 55"/>
            <p:cNvSpPr>
              <a:spLocks noChangeShapeType="1"/>
            </p:cNvSpPr>
            <p:nvPr/>
          </p:nvSpPr>
          <p:spPr bwMode="auto">
            <a:xfrm>
              <a:off x="2276" y="1197"/>
              <a:ext cx="0" cy="102"/>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anchor="ctr"/>
            <a:lstStyle/>
            <a:p>
              <a:endParaRPr lang="zh-CN" altLang="en-US"/>
            </a:p>
          </p:txBody>
        </p:sp>
      </p:grpSp>
      <p:sp>
        <p:nvSpPr>
          <p:cNvPr id="75785" name="Text Box 56"/>
          <p:cNvSpPr txBox="1">
            <a:spLocks noChangeArrowheads="1"/>
          </p:cNvSpPr>
          <p:nvPr/>
        </p:nvSpPr>
        <p:spPr bwMode="auto">
          <a:xfrm>
            <a:off x="3251201" y="2205038"/>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认证服务器（</a:t>
            </a:r>
            <a:r>
              <a:rPr lang="en-US" altLang="zh-CN" sz="1400" b="1">
                <a:solidFill>
                  <a:srgbClr val="000000"/>
                </a:solidFill>
                <a:latin typeface="Times New Roman" panose="02020603050405020304" pitchFamily="18" charset="0"/>
              </a:rPr>
              <a:t>AS</a:t>
            </a:r>
            <a:r>
              <a:rPr lang="zh-CN" altLang="en-US" sz="1400" b="1">
                <a:solidFill>
                  <a:srgbClr val="000000"/>
                </a:solidFill>
                <a:latin typeface="Times New Roman" panose="02020603050405020304" pitchFamily="18" charset="0"/>
              </a:rPr>
              <a:t>）</a:t>
            </a:r>
          </a:p>
        </p:txBody>
      </p:sp>
      <p:sp>
        <p:nvSpPr>
          <p:cNvPr id="75786" name="Text Box 57"/>
          <p:cNvSpPr txBox="1">
            <a:spLocks noChangeArrowheads="1"/>
          </p:cNvSpPr>
          <p:nvPr/>
        </p:nvSpPr>
        <p:spPr bwMode="auto">
          <a:xfrm>
            <a:off x="3251201" y="5229225"/>
            <a:ext cx="1800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solidFill>
                  <a:srgbClr val="000000"/>
                </a:solidFill>
                <a:latin typeface="Times New Roman" panose="02020603050405020304" pitchFamily="18" charset="0"/>
              </a:rPr>
              <a:t>用户（</a:t>
            </a:r>
            <a:r>
              <a:rPr lang="en-US" altLang="zh-CN" sz="1400" b="1">
                <a:solidFill>
                  <a:srgbClr val="000000"/>
                </a:solidFill>
                <a:latin typeface="Times New Roman" panose="02020603050405020304" pitchFamily="18" charset="0"/>
              </a:rPr>
              <a:t>C</a:t>
            </a:r>
            <a:r>
              <a:rPr lang="zh-CN" altLang="en-US" sz="1400" b="1">
                <a:solidFill>
                  <a:srgbClr val="000000"/>
                </a:solidFill>
                <a:latin typeface="Times New Roman" panose="02020603050405020304" pitchFamily="18" charset="0"/>
              </a:rPr>
              <a:t>）</a:t>
            </a:r>
          </a:p>
        </p:txBody>
      </p:sp>
      <p:grpSp>
        <p:nvGrpSpPr>
          <p:cNvPr id="6" name="Group 58"/>
          <p:cNvGrpSpPr/>
          <p:nvPr/>
        </p:nvGrpSpPr>
        <p:grpSpPr bwMode="auto">
          <a:xfrm>
            <a:off x="2962275" y="2492375"/>
            <a:ext cx="1512888" cy="1657350"/>
            <a:chOff x="521" y="1570"/>
            <a:chExt cx="953" cy="1044"/>
          </a:xfrm>
        </p:grpSpPr>
        <p:sp>
          <p:nvSpPr>
            <p:cNvPr id="75816" name="Line 59"/>
            <p:cNvSpPr>
              <a:spLocks noChangeShapeType="1"/>
            </p:cNvSpPr>
            <p:nvPr/>
          </p:nvSpPr>
          <p:spPr bwMode="auto">
            <a:xfrm flipV="1">
              <a:off x="1338" y="1570"/>
              <a:ext cx="0" cy="1044"/>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7" name="Text Box 60"/>
            <p:cNvSpPr txBox="1">
              <a:spLocks noChangeArrowheads="1"/>
            </p:cNvSpPr>
            <p:nvPr/>
          </p:nvSpPr>
          <p:spPr bwMode="auto">
            <a:xfrm>
              <a:off x="521" y="1979"/>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,TS</a:t>
              </a:r>
              <a:r>
                <a:rPr lang="en-US" altLang="zh-CN" sz="1400" b="1" baseline="-25000">
                  <a:solidFill>
                    <a:srgbClr val="000000"/>
                  </a:solidFill>
                  <a:latin typeface="Times New Roman" panose="02020603050405020304" pitchFamily="18" charset="0"/>
                </a:rPr>
                <a:t>1</a:t>
              </a:r>
            </a:p>
          </p:txBody>
        </p:sp>
      </p:grpSp>
      <p:grpSp>
        <p:nvGrpSpPr>
          <p:cNvPr id="7" name="Group 61"/>
          <p:cNvGrpSpPr/>
          <p:nvPr/>
        </p:nvGrpSpPr>
        <p:grpSpPr bwMode="auto">
          <a:xfrm>
            <a:off x="4114801" y="2420938"/>
            <a:ext cx="3529013" cy="1655762"/>
            <a:chOff x="1247" y="1525"/>
            <a:chExt cx="2223" cy="1043"/>
          </a:xfrm>
        </p:grpSpPr>
        <p:sp>
          <p:nvSpPr>
            <p:cNvPr id="75814" name="Text Box 62"/>
            <p:cNvSpPr txBox="1">
              <a:spLocks noChangeArrowheads="1"/>
            </p:cNvSpPr>
            <p:nvPr/>
          </p:nvSpPr>
          <p:spPr bwMode="auto">
            <a:xfrm>
              <a:off x="1247" y="1525"/>
              <a:ext cx="2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,TS</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 LT</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 Ticket</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a:t>
              </a:r>
            </a:p>
          </p:txBody>
        </p:sp>
        <p:sp>
          <p:nvSpPr>
            <p:cNvPr id="75815" name="Line 63"/>
            <p:cNvSpPr>
              <a:spLocks noChangeShapeType="1"/>
            </p:cNvSpPr>
            <p:nvPr/>
          </p:nvSpPr>
          <p:spPr bwMode="auto">
            <a:xfrm>
              <a:off x="1474" y="1616"/>
              <a:ext cx="0" cy="95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8" name="Group 64"/>
          <p:cNvGrpSpPr/>
          <p:nvPr/>
        </p:nvGrpSpPr>
        <p:grpSpPr bwMode="auto">
          <a:xfrm>
            <a:off x="4475164" y="2420938"/>
            <a:ext cx="3024187" cy="2087562"/>
            <a:chOff x="1474" y="1525"/>
            <a:chExt cx="1905" cy="1315"/>
          </a:xfrm>
        </p:grpSpPr>
        <p:sp>
          <p:nvSpPr>
            <p:cNvPr id="75812" name="Line 65"/>
            <p:cNvSpPr>
              <a:spLocks noChangeShapeType="1"/>
            </p:cNvSpPr>
            <p:nvPr/>
          </p:nvSpPr>
          <p:spPr bwMode="auto">
            <a:xfrm flipV="1">
              <a:off x="1565" y="1525"/>
              <a:ext cx="1814" cy="131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3" name="Text Box 66"/>
            <p:cNvSpPr txBox="1">
              <a:spLocks noChangeArrowheads="1"/>
            </p:cNvSpPr>
            <p:nvPr/>
          </p:nvSpPr>
          <p:spPr bwMode="auto">
            <a:xfrm>
              <a:off x="1474" y="1933"/>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 AU</a:t>
              </a:r>
              <a:r>
                <a:rPr lang="en-US" altLang="zh-CN" sz="1400" b="1" baseline="-25000">
                  <a:solidFill>
                    <a:srgbClr val="000000"/>
                  </a:solidFill>
                  <a:latin typeface="Times New Roman" panose="02020603050405020304" pitchFamily="18" charset="0"/>
                </a:rPr>
                <a:t>C</a:t>
              </a:r>
            </a:p>
          </p:txBody>
        </p:sp>
      </p:grpSp>
      <p:grpSp>
        <p:nvGrpSpPr>
          <p:cNvPr id="9" name="Group 67"/>
          <p:cNvGrpSpPr/>
          <p:nvPr/>
        </p:nvGrpSpPr>
        <p:grpSpPr bwMode="auto">
          <a:xfrm>
            <a:off x="5051426" y="2708275"/>
            <a:ext cx="5616575" cy="2089150"/>
            <a:chOff x="1837" y="1706"/>
            <a:chExt cx="3538" cy="1316"/>
          </a:xfrm>
        </p:grpSpPr>
        <p:sp>
          <p:nvSpPr>
            <p:cNvPr id="75810" name="Line 68"/>
            <p:cNvSpPr>
              <a:spLocks noChangeShapeType="1"/>
            </p:cNvSpPr>
            <p:nvPr/>
          </p:nvSpPr>
          <p:spPr bwMode="auto">
            <a:xfrm flipH="1">
              <a:off x="1837" y="1706"/>
              <a:ext cx="1678" cy="1316"/>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1" name="Text Box 69"/>
            <p:cNvSpPr txBox="1">
              <a:spLocks noChangeArrowheads="1"/>
            </p:cNvSpPr>
            <p:nvPr/>
          </p:nvSpPr>
          <p:spPr bwMode="auto">
            <a:xfrm>
              <a:off x="3152" y="1979"/>
              <a:ext cx="222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Kc,tgs</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r>
                <a:rPr lang="en-US" altLang="zh-CN" sz="1400" b="1">
                  <a:solidFill>
                    <a:srgbClr val="000000"/>
                  </a:solidFill>
                  <a:latin typeface="Times New Roman" panose="02020603050405020304" pitchFamily="18" charset="0"/>
                </a:rPr>
                <a:t>,ID</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,TS</a:t>
              </a:r>
              <a:r>
                <a:rPr lang="en-US" altLang="zh-CN" sz="1400" b="1" baseline="-25000">
                  <a:solidFill>
                    <a:srgbClr val="000000"/>
                  </a:solidFill>
                  <a:latin typeface="Times New Roman" panose="02020603050405020304" pitchFamily="18" charset="0"/>
                </a:rPr>
                <a:t>4</a:t>
              </a:r>
              <a:r>
                <a:rPr lang="en-US" altLang="zh-CN" sz="1400" b="1">
                  <a:solidFill>
                    <a:srgbClr val="000000"/>
                  </a:solidFill>
                  <a:latin typeface="Times New Roman" panose="02020603050405020304" pitchFamily="18" charset="0"/>
                </a:rPr>
                <a:t>, Ticket</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a:t>
              </a:r>
            </a:p>
          </p:txBody>
        </p:sp>
      </p:grpSp>
      <p:grpSp>
        <p:nvGrpSpPr>
          <p:cNvPr id="10" name="Group 70"/>
          <p:cNvGrpSpPr/>
          <p:nvPr/>
        </p:nvGrpSpPr>
        <p:grpSpPr bwMode="auto">
          <a:xfrm>
            <a:off x="4835526" y="4437064"/>
            <a:ext cx="2879725" cy="504825"/>
            <a:chOff x="1701" y="2795"/>
            <a:chExt cx="1814" cy="318"/>
          </a:xfrm>
        </p:grpSpPr>
        <p:sp>
          <p:nvSpPr>
            <p:cNvPr id="75808" name="Line 71"/>
            <p:cNvSpPr>
              <a:spLocks noChangeShapeType="1"/>
            </p:cNvSpPr>
            <p:nvPr/>
          </p:nvSpPr>
          <p:spPr bwMode="auto">
            <a:xfrm>
              <a:off x="1701" y="3113"/>
              <a:ext cx="181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9" name="Text Box 72"/>
            <p:cNvSpPr txBox="1">
              <a:spLocks noChangeArrowheads="1"/>
            </p:cNvSpPr>
            <p:nvPr/>
          </p:nvSpPr>
          <p:spPr bwMode="auto">
            <a:xfrm>
              <a:off x="1791" y="2795"/>
              <a:ext cx="17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 AU’</a:t>
              </a:r>
              <a:r>
                <a:rPr lang="en-US" altLang="zh-CN" sz="1400" b="1" baseline="-25000">
                  <a:solidFill>
                    <a:srgbClr val="000000"/>
                  </a:solidFill>
                  <a:latin typeface="Times New Roman" panose="02020603050405020304" pitchFamily="18" charset="0"/>
                </a:rPr>
                <a:t>C</a:t>
              </a:r>
            </a:p>
          </p:txBody>
        </p:sp>
      </p:grpSp>
      <p:grpSp>
        <p:nvGrpSpPr>
          <p:cNvPr id="11" name="Group 73"/>
          <p:cNvGrpSpPr/>
          <p:nvPr/>
        </p:nvGrpSpPr>
        <p:grpSpPr bwMode="auto">
          <a:xfrm>
            <a:off x="4762501" y="4941888"/>
            <a:ext cx="2879725" cy="431800"/>
            <a:chOff x="1655" y="3113"/>
            <a:chExt cx="1814" cy="272"/>
          </a:xfrm>
        </p:grpSpPr>
        <p:sp>
          <p:nvSpPr>
            <p:cNvPr id="75806" name="Line 74"/>
            <p:cNvSpPr>
              <a:spLocks noChangeShapeType="1"/>
            </p:cNvSpPr>
            <p:nvPr/>
          </p:nvSpPr>
          <p:spPr bwMode="auto">
            <a:xfrm>
              <a:off x="1655" y="3385"/>
              <a:ext cx="1814" cy="0"/>
            </a:xfrm>
            <a:prstGeom prst="line">
              <a:avLst/>
            </a:prstGeom>
            <a:noFill/>
            <a:ln w="9525">
              <a:solidFill>
                <a:srgbClr val="FF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7" name="Text Box 75"/>
            <p:cNvSpPr txBox="1">
              <a:spLocks noChangeArrowheads="1"/>
            </p:cNvSpPr>
            <p:nvPr/>
          </p:nvSpPr>
          <p:spPr bwMode="auto">
            <a:xfrm>
              <a:off x="1791" y="3113"/>
              <a:ext cx="163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KC,V</a:t>
              </a:r>
              <a:r>
                <a:rPr lang="en-US" altLang="zh-CN" sz="1400" b="1">
                  <a:solidFill>
                    <a:srgbClr val="000000"/>
                  </a:solidFill>
                  <a:latin typeface="Times New Roman" panose="02020603050405020304" pitchFamily="18" charset="0"/>
                </a:rPr>
                <a:t>{TS</a:t>
              </a:r>
              <a:r>
                <a:rPr lang="en-US" altLang="zh-CN" sz="1400" b="1" baseline="-25000">
                  <a:solidFill>
                    <a:srgbClr val="000000"/>
                  </a:solidFill>
                  <a:latin typeface="Times New Roman" panose="02020603050405020304" pitchFamily="18" charset="0"/>
                </a:rPr>
                <a:t>5</a:t>
              </a:r>
              <a:r>
                <a:rPr lang="en-US" altLang="zh-CN" sz="1400" b="1">
                  <a:solidFill>
                    <a:srgbClr val="000000"/>
                  </a:solidFill>
                  <a:latin typeface="Times New Roman" panose="02020603050405020304" pitchFamily="18" charset="0"/>
                </a:rPr>
                <a:t>+1}</a:t>
              </a:r>
              <a:endParaRPr lang="en-US" altLang="zh-CN" sz="1400" b="1" baseline="-25000">
                <a:solidFill>
                  <a:srgbClr val="000000"/>
                </a:solidFill>
                <a:latin typeface="Times New Roman" panose="02020603050405020304" pitchFamily="18" charset="0"/>
              </a:endParaRPr>
            </a:p>
          </p:txBody>
        </p:sp>
      </p:grpSp>
      <p:sp>
        <p:nvSpPr>
          <p:cNvPr id="298060" name="Text Box 76"/>
          <p:cNvSpPr txBox="1">
            <a:spLocks noChangeArrowheads="1"/>
          </p:cNvSpPr>
          <p:nvPr/>
        </p:nvSpPr>
        <p:spPr bwMode="auto">
          <a:xfrm>
            <a:off x="3648076" y="5589588"/>
            <a:ext cx="4537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tgs</a:t>
            </a:r>
            <a:r>
              <a:rPr lang="zh-CN" altLang="en-US" sz="1400" b="1">
                <a:solidFill>
                  <a:srgbClr val="000000"/>
                </a:solidFill>
                <a:latin typeface="Times New Roman" panose="02020603050405020304" pitchFamily="18" charset="0"/>
              </a:rPr>
              <a:t>＝</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Ktgs</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tgs</a:t>
            </a:r>
            <a:r>
              <a:rPr lang="en-US" altLang="zh-CN" sz="1400" b="1">
                <a:solidFill>
                  <a:srgbClr val="000000"/>
                </a:solidFill>
                <a:latin typeface="Times New Roman" panose="02020603050405020304" pitchFamily="18" charset="0"/>
              </a:rPr>
              <a:t>, TS</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 LT</a:t>
            </a:r>
            <a:r>
              <a:rPr lang="en-US" altLang="zh-CN" sz="1400" b="1" baseline="-25000">
                <a:solidFill>
                  <a:srgbClr val="000000"/>
                </a:solidFill>
                <a:latin typeface="Times New Roman" panose="02020603050405020304" pitchFamily="18" charset="0"/>
              </a:rPr>
              <a:t>2</a:t>
            </a:r>
            <a:r>
              <a:rPr lang="en-US" altLang="zh-CN" sz="1400" b="1">
                <a:solidFill>
                  <a:srgbClr val="000000"/>
                </a:solidFill>
                <a:latin typeface="Times New Roman" panose="02020603050405020304" pitchFamily="18" charset="0"/>
              </a:rPr>
              <a:t>}</a:t>
            </a:r>
          </a:p>
        </p:txBody>
      </p:sp>
      <p:sp>
        <p:nvSpPr>
          <p:cNvPr id="298061" name="Text Box 77"/>
          <p:cNvSpPr txBox="1">
            <a:spLocks noChangeArrowheads="1"/>
          </p:cNvSpPr>
          <p:nvPr/>
        </p:nvSpPr>
        <p:spPr bwMode="auto">
          <a:xfrm>
            <a:off x="3648076" y="6308725"/>
            <a:ext cx="39608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solidFill>
                  <a:srgbClr val="000000"/>
                </a:solidFill>
                <a:latin typeface="Times New Roman" panose="02020603050405020304" pitchFamily="18" charset="0"/>
              </a:rPr>
              <a:t>Ticket</a:t>
            </a:r>
            <a:r>
              <a:rPr lang="en-US" altLang="zh-CN" sz="1400" b="1" baseline="-25000">
                <a:solidFill>
                  <a:srgbClr val="000000"/>
                </a:solidFill>
                <a:latin typeface="Times New Roman" panose="02020603050405020304" pitchFamily="18" charset="0"/>
              </a:rPr>
              <a:t>V</a:t>
            </a:r>
            <a:r>
              <a:rPr lang="zh-CN" altLang="en-US" sz="1400" b="1">
                <a:solidFill>
                  <a:srgbClr val="000000"/>
                </a:solidFill>
                <a:latin typeface="Times New Roman" panose="02020603050405020304" pitchFamily="18" charset="0"/>
              </a:rPr>
              <a:t>＝</a:t>
            </a:r>
            <a:r>
              <a:rPr lang="en-US" altLang="zh-CN" sz="1400" b="1">
                <a:solidFill>
                  <a:srgbClr val="000000"/>
                </a:solidFill>
                <a:latin typeface="Times New Roman" panose="02020603050405020304" pitchFamily="18" charset="0"/>
              </a:rPr>
              <a:t>E</a:t>
            </a:r>
            <a:r>
              <a:rPr lang="en-US" altLang="zh-CN" sz="1400" b="1" baseline="-25000">
                <a:solidFill>
                  <a:srgbClr val="000000"/>
                </a:solidFill>
                <a:latin typeface="Times New Roman" panose="02020603050405020304" pitchFamily="18" charset="0"/>
              </a:rPr>
              <a:t>KV</a:t>
            </a:r>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AD</a:t>
            </a:r>
            <a:r>
              <a:rPr lang="en-US" altLang="zh-CN" sz="1400" b="1" baseline="-25000">
                <a:solidFill>
                  <a:srgbClr val="000000"/>
                </a:solidFill>
                <a:latin typeface="Times New Roman" panose="02020603050405020304" pitchFamily="18" charset="0"/>
              </a:rPr>
              <a:t>C</a:t>
            </a:r>
            <a:r>
              <a:rPr lang="en-US" altLang="zh-CN" sz="1400" b="1">
                <a:solidFill>
                  <a:srgbClr val="000000"/>
                </a:solidFill>
                <a:latin typeface="Times New Roman" panose="02020603050405020304" pitchFamily="18" charset="0"/>
              </a:rPr>
              <a:t>, ID</a:t>
            </a:r>
            <a:r>
              <a:rPr lang="en-US" altLang="zh-CN" sz="1400" b="1" baseline="-25000">
                <a:solidFill>
                  <a:srgbClr val="000000"/>
                </a:solidFill>
                <a:latin typeface="Times New Roman" panose="02020603050405020304" pitchFamily="18" charset="0"/>
              </a:rPr>
              <a:t>V</a:t>
            </a:r>
            <a:r>
              <a:rPr lang="en-US" altLang="zh-CN" sz="1400" b="1">
                <a:solidFill>
                  <a:srgbClr val="000000"/>
                </a:solidFill>
                <a:latin typeface="Times New Roman" panose="02020603050405020304" pitchFamily="18" charset="0"/>
              </a:rPr>
              <a:t>, TS</a:t>
            </a:r>
            <a:r>
              <a:rPr lang="en-US" altLang="zh-CN" sz="1400" b="1" baseline="-25000">
                <a:solidFill>
                  <a:srgbClr val="000000"/>
                </a:solidFill>
                <a:latin typeface="Times New Roman" panose="02020603050405020304" pitchFamily="18" charset="0"/>
              </a:rPr>
              <a:t>4</a:t>
            </a:r>
            <a:r>
              <a:rPr lang="en-US" altLang="zh-CN" sz="1400" b="1">
                <a:solidFill>
                  <a:srgbClr val="000000"/>
                </a:solidFill>
                <a:latin typeface="Times New Roman" panose="02020603050405020304" pitchFamily="18" charset="0"/>
              </a:rPr>
              <a:t>, LT</a:t>
            </a:r>
            <a:r>
              <a:rPr lang="en-US" altLang="zh-CN" sz="1400" b="1" baseline="-25000">
                <a:solidFill>
                  <a:srgbClr val="000000"/>
                </a:solidFill>
                <a:latin typeface="Times New Roman" panose="02020603050405020304" pitchFamily="18" charset="0"/>
              </a:rPr>
              <a:t>4</a:t>
            </a:r>
            <a:r>
              <a:rPr lang="en-US" altLang="zh-CN" sz="1400" b="1">
                <a:solidFill>
                  <a:srgbClr val="000000"/>
                </a:solidFill>
                <a:latin typeface="Times New Roman" panose="02020603050405020304" pitchFamily="18" charset="0"/>
              </a:rPr>
              <a:t>}</a:t>
            </a:r>
          </a:p>
        </p:txBody>
      </p:sp>
      <p:sp>
        <p:nvSpPr>
          <p:cNvPr id="298062" name="Text Box 78"/>
          <p:cNvSpPr txBox="1">
            <a:spLocks noChangeArrowheads="1"/>
          </p:cNvSpPr>
          <p:nvPr/>
        </p:nvSpPr>
        <p:spPr bwMode="auto">
          <a:xfrm>
            <a:off x="3719514" y="5949950"/>
            <a:ext cx="2808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dirty="0">
                <a:solidFill>
                  <a:srgbClr val="000000"/>
                </a:solidFill>
                <a:latin typeface="Times New Roman" panose="02020603050405020304" pitchFamily="18" charset="0"/>
              </a:rPr>
              <a:t>AU</a:t>
            </a:r>
            <a:r>
              <a:rPr lang="en-US" altLang="zh-CN" sz="1400" b="1" baseline="-25000" dirty="0">
                <a:solidFill>
                  <a:srgbClr val="000000"/>
                </a:solidFill>
                <a:latin typeface="Times New Roman" panose="02020603050405020304" pitchFamily="18" charset="0"/>
              </a:rPr>
              <a:t>C</a:t>
            </a:r>
            <a:r>
              <a:rPr lang="zh-CN" altLang="en-US" sz="1400" b="1" dirty="0">
                <a:solidFill>
                  <a:srgbClr val="000000"/>
                </a:solidFill>
                <a:latin typeface="Times New Roman" panose="02020603050405020304" pitchFamily="18" charset="0"/>
              </a:rPr>
              <a:t>＝</a:t>
            </a:r>
            <a:r>
              <a:rPr lang="en-US" altLang="zh-CN" sz="1400" b="1" dirty="0" err="1">
                <a:solidFill>
                  <a:srgbClr val="000000"/>
                </a:solidFill>
                <a:latin typeface="Times New Roman" panose="02020603050405020304" pitchFamily="18" charset="0"/>
              </a:rPr>
              <a:t>E</a:t>
            </a:r>
            <a:r>
              <a:rPr lang="en-US" altLang="zh-CN" sz="1400" b="1" baseline="-25000" dirty="0" err="1">
                <a:solidFill>
                  <a:srgbClr val="000000"/>
                </a:solidFill>
                <a:latin typeface="Times New Roman" panose="02020603050405020304" pitchFamily="18" charset="0"/>
              </a:rPr>
              <a:t>Kc,tgs</a:t>
            </a:r>
            <a:r>
              <a:rPr lang="en-US" altLang="zh-CN" sz="1400" b="1" dirty="0">
                <a:solidFill>
                  <a:srgbClr val="000000"/>
                </a:solidFill>
                <a:latin typeface="Times New Roman" panose="02020603050405020304" pitchFamily="18" charset="0"/>
              </a:rPr>
              <a:t>{ID</a:t>
            </a:r>
            <a:r>
              <a:rPr lang="en-US" altLang="zh-CN" sz="1400" b="1" baseline="-25000" dirty="0">
                <a:solidFill>
                  <a:srgbClr val="000000"/>
                </a:solidFill>
                <a:latin typeface="Times New Roman" panose="02020603050405020304" pitchFamily="18" charset="0"/>
              </a:rPr>
              <a:t>C</a:t>
            </a:r>
            <a:r>
              <a:rPr lang="en-US" altLang="zh-CN" sz="1400" b="1" dirty="0">
                <a:solidFill>
                  <a:srgbClr val="000000"/>
                </a:solidFill>
                <a:latin typeface="Times New Roman" panose="02020603050405020304" pitchFamily="18" charset="0"/>
              </a:rPr>
              <a:t>, AD</a:t>
            </a:r>
            <a:r>
              <a:rPr lang="en-US" altLang="zh-CN" sz="1400" b="1" baseline="-25000" dirty="0">
                <a:solidFill>
                  <a:srgbClr val="000000"/>
                </a:solidFill>
                <a:latin typeface="Times New Roman" panose="02020603050405020304" pitchFamily="18" charset="0"/>
              </a:rPr>
              <a:t>C</a:t>
            </a:r>
            <a:r>
              <a:rPr lang="en-US" altLang="zh-CN" sz="1400" b="1" dirty="0">
                <a:solidFill>
                  <a:srgbClr val="000000"/>
                </a:solidFill>
                <a:latin typeface="Times New Roman" panose="02020603050405020304" pitchFamily="18" charset="0"/>
              </a:rPr>
              <a:t>, TS</a:t>
            </a:r>
            <a:r>
              <a:rPr lang="en-US" altLang="zh-CN" sz="1400" b="1" baseline="-25000" dirty="0">
                <a:solidFill>
                  <a:srgbClr val="000000"/>
                </a:solidFill>
                <a:latin typeface="Times New Roman" panose="02020603050405020304" pitchFamily="18" charset="0"/>
              </a:rPr>
              <a:t>3</a:t>
            </a:r>
            <a:r>
              <a:rPr lang="en-US" altLang="zh-CN" sz="1400" b="1" dirty="0">
                <a:solidFill>
                  <a:srgbClr val="000000"/>
                </a:solidFill>
                <a:latin typeface="Times New Roman" panose="02020603050405020304" pitchFamily="18" charset="0"/>
              </a:rPr>
              <a:t>}</a:t>
            </a:r>
          </a:p>
        </p:txBody>
      </p:sp>
      <p:grpSp>
        <p:nvGrpSpPr>
          <p:cNvPr id="12" name="Group 79"/>
          <p:cNvGrpSpPr/>
          <p:nvPr/>
        </p:nvGrpSpPr>
        <p:grpSpPr bwMode="auto">
          <a:xfrm>
            <a:off x="2924176" y="1052514"/>
            <a:ext cx="6773863" cy="4897437"/>
            <a:chOff x="882" y="663"/>
            <a:chExt cx="4267" cy="3085"/>
          </a:xfrm>
        </p:grpSpPr>
        <p:sp>
          <p:nvSpPr>
            <p:cNvPr id="75800" name="Oval 80"/>
            <p:cNvSpPr>
              <a:spLocks noChangeArrowheads="1"/>
            </p:cNvSpPr>
            <p:nvPr/>
          </p:nvSpPr>
          <p:spPr bwMode="auto">
            <a:xfrm>
              <a:off x="882" y="3475"/>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5801" name="Oval 81"/>
            <p:cNvSpPr>
              <a:spLocks noChangeArrowheads="1"/>
            </p:cNvSpPr>
            <p:nvPr/>
          </p:nvSpPr>
          <p:spPr bwMode="auto">
            <a:xfrm>
              <a:off x="928" y="708"/>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a:t>
              </a:r>
            </a:p>
          </p:txBody>
        </p:sp>
        <p:sp>
          <p:nvSpPr>
            <p:cNvPr id="75802" name="Oval 82"/>
            <p:cNvSpPr>
              <a:spLocks noChangeArrowheads="1"/>
            </p:cNvSpPr>
            <p:nvPr/>
          </p:nvSpPr>
          <p:spPr bwMode="auto">
            <a:xfrm>
              <a:off x="3468" y="663"/>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5803" name="Oval 83"/>
            <p:cNvSpPr>
              <a:spLocks noChangeArrowheads="1"/>
            </p:cNvSpPr>
            <p:nvPr/>
          </p:nvSpPr>
          <p:spPr bwMode="auto">
            <a:xfrm>
              <a:off x="4876" y="3113"/>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sp>
          <p:nvSpPr>
            <p:cNvPr id="75804" name="Oval 84"/>
            <p:cNvSpPr>
              <a:spLocks noChangeArrowheads="1"/>
            </p:cNvSpPr>
            <p:nvPr/>
          </p:nvSpPr>
          <p:spPr bwMode="auto">
            <a:xfrm>
              <a:off x="2290" y="663"/>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tgs</a:t>
              </a:r>
            </a:p>
          </p:txBody>
        </p:sp>
        <p:sp>
          <p:nvSpPr>
            <p:cNvPr id="75805" name="Oval 85"/>
            <p:cNvSpPr>
              <a:spLocks noChangeArrowheads="1"/>
            </p:cNvSpPr>
            <p:nvPr/>
          </p:nvSpPr>
          <p:spPr bwMode="auto">
            <a:xfrm>
              <a:off x="4785" y="663"/>
              <a:ext cx="273" cy="273"/>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v</a:t>
              </a:r>
            </a:p>
          </p:txBody>
        </p:sp>
      </p:grpSp>
      <p:sp>
        <p:nvSpPr>
          <p:cNvPr id="298070" name="Oval 86"/>
          <p:cNvSpPr>
            <a:spLocks noChangeArrowheads="1"/>
          </p:cNvSpPr>
          <p:nvPr/>
        </p:nvSpPr>
        <p:spPr bwMode="auto">
          <a:xfrm>
            <a:off x="2711450" y="6092825"/>
            <a:ext cx="433388"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c,tgs</a:t>
            </a:r>
          </a:p>
        </p:txBody>
      </p:sp>
      <p:sp>
        <p:nvSpPr>
          <p:cNvPr id="298071" name="Oval 87"/>
          <p:cNvSpPr>
            <a:spLocks noChangeArrowheads="1"/>
          </p:cNvSpPr>
          <p:nvPr/>
        </p:nvSpPr>
        <p:spPr bwMode="auto">
          <a:xfrm>
            <a:off x="3214689" y="6092825"/>
            <a:ext cx="433387" cy="433388"/>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00"/>
                </a:solidFill>
                <a:latin typeface="Times New Roman" panose="02020603050405020304" pitchFamily="18" charset="0"/>
              </a:rPr>
              <a:t>K</a:t>
            </a:r>
            <a:r>
              <a:rPr lang="en-US" altLang="zh-CN" sz="1400" b="1" baseline="-25000">
                <a:solidFill>
                  <a:srgbClr val="000000"/>
                </a:solidFill>
                <a:latin typeface="Times New Roman" panose="02020603050405020304" pitchFamily="18" charset="0"/>
              </a:rPr>
              <a:t>c,v</a:t>
            </a:r>
          </a:p>
        </p:txBody>
      </p:sp>
      <p:sp>
        <p:nvSpPr>
          <p:cNvPr id="298072" name="Text Box 88"/>
          <p:cNvSpPr txBox="1">
            <a:spLocks noChangeArrowheads="1"/>
          </p:cNvSpPr>
          <p:nvPr/>
        </p:nvSpPr>
        <p:spPr bwMode="auto">
          <a:xfrm>
            <a:off x="6743700" y="5949950"/>
            <a:ext cx="2808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dirty="0">
                <a:solidFill>
                  <a:srgbClr val="000000"/>
                </a:solidFill>
                <a:latin typeface="Times New Roman" panose="02020603050405020304" pitchFamily="18" charset="0"/>
              </a:rPr>
              <a:t>AU’</a:t>
            </a:r>
            <a:r>
              <a:rPr lang="en-US" altLang="zh-CN" sz="1400" b="1" baseline="-25000" dirty="0">
                <a:solidFill>
                  <a:srgbClr val="000000"/>
                </a:solidFill>
                <a:latin typeface="Times New Roman" panose="02020603050405020304" pitchFamily="18" charset="0"/>
              </a:rPr>
              <a:t>C</a:t>
            </a:r>
            <a:r>
              <a:rPr lang="zh-CN" altLang="en-US" sz="1400" b="1" dirty="0">
                <a:solidFill>
                  <a:srgbClr val="000000"/>
                </a:solidFill>
                <a:latin typeface="Times New Roman" panose="02020603050405020304" pitchFamily="18" charset="0"/>
              </a:rPr>
              <a:t>＝</a:t>
            </a:r>
            <a:r>
              <a:rPr lang="en-US" altLang="zh-CN" sz="1400" b="1" dirty="0" err="1">
                <a:solidFill>
                  <a:srgbClr val="000000"/>
                </a:solidFill>
                <a:latin typeface="Times New Roman" panose="02020603050405020304" pitchFamily="18" charset="0"/>
              </a:rPr>
              <a:t>E</a:t>
            </a:r>
            <a:r>
              <a:rPr lang="en-US" altLang="zh-CN" sz="1400" b="1" baseline="-25000" dirty="0" err="1">
                <a:solidFill>
                  <a:srgbClr val="000000"/>
                </a:solidFill>
                <a:latin typeface="Times New Roman" panose="02020603050405020304" pitchFamily="18" charset="0"/>
              </a:rPr>
              <a:t>Kcv</a:t>
            </a:r>
            <a:r>
              <a:rPr lang="en-US" altLang="zh-CN" sz="1400" b="1" dirty="0">
                <a:solidFill>
                  <a:srgbClr val="000000"/>
                </a:solidFill>
                <a:latin typeface="Times New Roman" panose="02020603050405020304" pitchFamily="18" charset="0"/>
              </a:rPr>
              <a:t>{ID</a:t>
            </a:r>
            <a:r>
              <a:rPr lang="en-US" altLang="zh-CN" sz="1400" b="1" baseline="-25000" dirty="0">
                <a:solidFill>
                  <a:srgbClr val="000000"/>
                </a:solidFill>
                <a:latin typeface="Times New Roman" panose="02020603050405020304" pitchFamily="18" charset="0"/>
              </a:rPr>
              <a:t>C</a:t>
            </a:r>
            <a:r>
              <a:rPr lang="en-US" altLang="zh-CN" sz="1400" b="1" dirty="0">
                <a:solidFill>
                  <a:srgbClr val="000000"/>
                </a:solidFill>
                <a:latin typeface="Times New Roman" panose="02020603050405020304" pitchFamily="18" charset="0"/>
              </a:rPr>
              <a:t>, AD</a:t>
            </a:r>
            <a:r>
              <a:rPr lang="en-US" altLang="zh-CN" sz="1400" b="1" baseline="-25000" dirty="0">
                <a:solidFill>
                  <a:srgbClr val="000000"/>
                </a:solidFill>
                <a:latin typeface="Times New Roman" panose="02020603050405020304" pitchFamily="18" charset="0"/>
              </a:rPr>
              <a:t>C</a:t>
            </a:r>
            <a:r>
              <a:rPr lang="en-US" altLang="zh-CN" sz="1400" b="1" dirty="0">
                <a:solidFill>
                  <a:srgbClr val="000000"/>
                </a:solidFill>
                <a:latin typeface="Times New Roman" panose="02020603050405020304" pitchFamily="18" charset="0"/>
              </a:rPr>
              <a:t>, TS</a:t>
            </a:r>
            <a:r>
              <a:rPr lang="en-US" altLang="zh-CN" sz="1400" b="1" baseline="-25000" dirty="0">
                <a:solidFill>
                  <a:srgbClr val="000000"/>
                </a:solidFill>
                <a:latin typeface="Times New Roman" panose="02020603050405020304" pitchFamily="18" charset="0"/>
              </a:rPr>
              <a:t>5</a:t>
            </a:r>
            <a:r>
              <a:rPr lang="en-US" altLang="zh-CN" sz="1400" b="1" dirty="0">
                <a:solidFill>
                  <a:srgbClr val="000000"/>
                </a:solidFill>
                <a:latin typeface="Times New Roman" panose="02020603050405020304"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298060"/>
                                        </p:tgtEl>
                                        <p:attrNameLst>
                                          <p:attrName>style.visibility</p:attrName>
                                        </p:attrNameLst>
                                      </p:cBhvr>
                                      <p:to>
                                        <p:strVal val="visible"/>
                                      </p:to>
                                    </p:set>
                                    <p:anim calcmode="lin" valueType="num">
                                      <p:cBhvr additive="base">
                                        <p:cTn id="24" dur="500" fill="hold"/>
                                        <p:tgtEl>
                                          <p:spTgt spid="298060"/>
                                        </p:tgtEl>
                                        <p:attrNameLst>
                                          <p:attrName>ppt_x</p:attrName>
                                        </p:attrNameLst>
                                      </p:cBhvr>
                                      <p:tavLst>
                                        <p:tav tm="0">
                                          <p:val>
                                            <p:strVal val="#ppt_x"/>
                                          </p:val>
                                        </p:tav>
                                        <p:tav tm="100000">
                                          <p:val>
                                            <p:strVal val="#ppt_x"/>
                                          </p:val>
                                        </p:tav>
                                      </p:tavLst>
                                    </p:anim>
                                    <p:anim calcmode="lin" valueType="num">
                                      <p:cBhvr additive="base">
                                        <p:cTn id="25" dur="500" fill="hold"/>
                                        <p:tgtEl>
                                          <p:spTgt spid="298060"/>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298070"/>
                                        </p:tgtEl>
                                        <p:attrNameLst>
                                          <p:attrName>style.visibility</p:attrName>
                                        </p:attrNameLst>
                                      </p:cBhvr>
                                      <p:to>
                                        <p:strVal val="visible"/>
                                      </p:to>
                                    </p:set>
                                    <p:anim calcmode="lin" valueType="num">
                                      <p:cBhvr additive="base">
                                        <p:cTn id="29" dur="500" fill="hold"/>
                                        <p:tgtEl>
                                          <p:spTgt spid="298070"/>
                                        </p:tgtEl>
                                        <p:attrNameLst>
                                          <p:attrName>ppt_x</p:attrName>
                                        </p:attrNameLst>
                                      </p:cBhvr>
                                      <p:tavLst>
                                        <p:tav tm="0">
                                          <p:val>
                                            <p:strVal val="#ppt_x"/>
                                          </p:val>
                                        </p:tav>
                                        <p:tav tm="100000">
                                          <p:val>
                                            <p:strVal val="#ppt_x"/>
                                          </p:val>
                                        </p:tav>
                                      </p:tavLst>
                                    </p:anim>
                                    <p:anim calcmode="lin" valueType="num">
                                      <p:cBhvr additive="base">
                                        <p:cTn id="30" dur="500" fill="hold"/>
                                        <p:tgtEl>
                                          <p:spTgt spid="29807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12"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0-#ppt_w/2"/>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298062"/>
                                        </p:tgtEl>
                                        <p:attrNameLst>
                                          <p:attrName>style.visibility</p:attrName>
                                        </p:attrNameLst>
                                      </p:cBhvr>
                                      <p:to>
                                        <p:strVal val="visible"/>
                                      </p:to>
                                    </p:set>
                                    <p:anim calcmode="lin" valueType="num">
                                      <p:cBhvr additive="base">
                                        <p:cTn id="40" dur="500" fill="hold"/>
                                        <p:tgtEl>
                                          <p:spTgt spid="298062"/>
                                        </p:tgtEl>
                                        <p:attrNameLst>
                                          <p:attrName>ppt_x</p:attrName>
                                        </p:attrNameLst>
                                      </p:cBhvr>
                                      <p:tavLst>
                                        <p:tav tm="0">
                                          <p:val>
                                            <p:strVal val="#ppt_x"/>
                                          </p:val>
                                        </p:tav>
                                        <p:tav tm="100000">
                                          <p:val>
                                            <p:strVal val="#ppt_x"/>
                                          </p:val>
                                        </p:tav>
                                      </p:tavLst>
                                    </p:anim>
                                    <p:anim calcmode="lin" valueType="num">
                                      <p:cBhvr additive="base">
                                        <p:cTn id="41" dur="500" fill="hold"/>
                                        <p:tgtEl>
                                          <p:spTgt spid="298062"/>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9"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0-#ppt_w/2"/>
                                          </p:val>
                                        </p:tav>
                                        <p:tav tm="100000">
                                          <p:val>
                                            <p:strVal val="#ppt_x"/>
                                          </p:val>
                                        </p:tav>
                                      </p:tavLst>
                                    </p:anim>
                                    <p:anim calcmode="lin" valueType="num">
                                      <p:cBhvr additive="base">
                                        <p:cTn id="47" dur="500" fill="hold"/>
                                        <p:tgtEl>
                                          <p:spTgt spid="9"/>
                                        </p:tgtEl>
                                        <p:attrNameLst>
                                          <p:attrName>ppt_y</p:attrName>
                                        </p:attrNameLst>
                                      </p:cBhvr>
                                      <p:tavLst>
                                        <p:tav tm="0">
                                          <p:val>
                                            <p:strVal val="0-#ppt_h/2"/>
                                          </p:val>
                                        </p:tav>
                                        <p:tav tm="100000">
                                          <p:val>
                                            <p:strVal val="#ppt_y"/>
                                          </p:val>
                                        </p:tav>
                                      </p:tavLst>
                                    </p:anim>
                                  </p:childTnLst>
                                </p:cTn>
                              </p:par>
                            </p:childTnLst>
                          </p:cTn>
                        </p:par>
                        <p:par>
                          <p:cTn id="48" fill="hold">
                            <p:stCondLst>
                              <p:cond delay="500"/>
                            </p:stCondLst>
                            <p:childTnLst>
                              <p:par>
                                <p:cTn id="49" presetID="2" presetClass="entr" presetSubtype="4" fill="hold" grpId="0" nodeType="afterEffect">
                                  <p:stCondLst>
                                    <p:cond delay="0"/>
                                  </p:stCondLst>
                                  <p:childTnLst>
                                    <p:set>
                                      <p:cBhvr>
                                        <p:cTn id="50" dur="1" fill="hold">
                                          <p:stCondLst>
                                            <p:cond delay="0"/>
                                          </p:stCondLst>
                                        </p:cTn>
                                        <p:tgtEl>
                                          <p:spTgt spid="298061"/>
                                        </p:tgtEl>
                                        <p:attrNameLst>
                                          <p:attrName>style.visibility</p:attrName>
                                        </p:attrNameLst>
                                      </p:cBhvr>
                                      <p:to>
                                        <p:strVal val="visible"/>
                                      </p:to>
                                    </p:set>
                                    <p:anim calcmode="lin" valueType="num">
                                      <p:cBhvr additive="base">
                                        <p:cTn id="51" dur="500" fill="hold"/>
                                        <p:tgtEl>
                                          <p:spTgt spid="298061"/>
                                        </p:tgtEl>
                                        <p:attrNameLst>
                                          <p:attrName>ppt_x</p:attrName>
                                        </p:attrNameLst>
                                      </p:cBhvr>
                                      <p:tavLst>
                                        <p:tav tm="0">
                                          <p:val>
                                            <p:strVal val="#ppt_x"/>
                                          </p:val>
                                        </p:tav>
                                        <p:tav tm="100000">
                                          <p:val>
                                            <p:strVal val="#ppt_x"/>
                                          </p:val>
                                        </p:tav>
                                      </p:tavLst>
                                    </p:anim>
                                    <p:anim calcmode="lin" valueType="num">
                                      <p:cBhvr additive="base">
                                        <p:cTn id="52" dur="500" fill="hold"/>
                                        <p:tgtEl>
                                          <p:spTgt spid="298061"/>
                                        </p:tgtEl>
                                        <p:attrNameLst>
                                          <p:attrName>ppt_y</p:attrName>
                                        </p:attrNameLst>
                                      </p:cBhvr>
                                      <p:tavLst>
                                        <p:tav tm="0">
                                          <p:val>
                                            <p:strVal val="1+#ppt_h/2"/>
                                          </p:val>
                                        </p:tav>
                                        <p:tav tm="100000">
                                          <p:val>
                                            <p:strVal val="#ppt_y"/>
                                          </p:val>
                                        </p:tav>
                                      </p:tavLst>
                                    </p:anim>
                                  </p:childTnLst>
                                </p:cTn>
                              </p:par>
                            </p:childTnLst>
                          </p:cTn>
                        </p:par>
                        <p:par>
                          <p:cTn id="53" fill="hold">
                            <p:stCondLst>
                              <p:cond delay="1000"/>
                            </p:stCondLst>
                            <p:childTnLst>
                              <p:par>
                                <p:cTn id="54" presetID="2" presetClass="entr" presetSubtype="4" fill="hold" grpId="0" nodeType="afterEffect">
                                  <p:stCondLst>
                                    <p:cond delay="0"/>
                                  </p:stCondLst>
                                  <p:childTnLst>
                                    <p:set>
                                      <p:cBhvr>
                                        <p:cTn id="55" dur="1" fill="hold">
                                          <p:stCondLst>
                                            <p:cond delay="0"/>
                                          </p:stCondLst>
                                        </p:cTn>
                                        <p:tgtEl>
                                          <p:spTgt spid="298071"/>
                                        </p:tgtEl>
                                        <p:attrNameLst>
                                          <p:attrName>style.visibility</p:attrName>
                                        </p:attrNameLst>
                                      </p:cBhvr>
                                      <p:to>
                                        <p:strVal val="visible"/>
                                      </p:to>
                                    </p:set>
                                    <p:anim calcmode="lin" valueType="num">
                                      <p:cBhvr additive="base">
                                        <p:cTn id="56" dur="500" fill="hold"/>
                                        <p:tgtEl>
                                          <p:spTgt spid="298071"/>
                                        </p:tgtEl>
                                        <p:attrNameLst>
                                          <p:attrName>ppt_x</p:attrName>
                                        </p:attrNameLst>
                                      </p:cBhvr>
                                      <p:tavLst>
                                        <p:tav tm="0">
                                          <p:val>
                                            <p:strVal val="#ppt_x"/>
                                          </p:val>
                                        </p:tav>
                                        <p:tav tm="100000">
                                          <p:val>
                                            <p:strVal val="#ppt_x"/>
                                          </p:val>
                                        </p:tav>
                                      </p:tavLst>
                                    </p:anim>
                                    <p:anim calcmode="lin" valueType="num">
                                      <p:cBhvr additive="base">
                                        <p:cTn id="57" dur="500" fill="hold"/>
                                        <p:tgtEl>
                                          <p:spTgt spid="298071"/>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0"/>
                                        </p:tgtEl>
                                        <p:attrNameLst>
                                          <p:attrName>style.visibility</p:attrName>
                                        </p:attrNameLst>
                                      </p:cBhvr>
                                      <p:to>
                                        <p:strVal val="visible"/>
                                      </p:to>
                                    </p:set>
                                    <p:anim calcmode="lin" valueType="num">
                                      <p:cBhvr additive="base">
                                        <p:cTn id="62" dur="500" fill="hold"/>
                                        <p:tgtEl>
                                          <p:spTgt spid="10"/>
                                        </p:tgtEl>
                                        <p:attrNameLst>
                                          <p:attrName>ppt_x</p:attrName>
                                        </p:attrNameLst>
                                      </p:cBhvr>
                                      <p:tavLst>
                                        <p:tav tm="0">
                                          <p:val>
                                            <p:strVal val="0-#ppt_w/2"/>
                                          </p:val>
                                        </p:tav>
                                        <p:tav tm="100000">
                                          <p:val>
                                            <p:strVal val="#ppt_x"/>
                                          </p:val>
                                        </p:tav>
                                      </p:tavLst>
                                    </p:anim>
                                    <p:anim calcmode="lin" valueType="num">
                                      <p:cBhvr additive="base">
                                        <p:cTn id="63" dur="500" fill="hold"/>
                                        <p:tgtEl>
                                          <p:spTgt spid="10"/>
                                        </p:tgtEl>
                                        <p:attrNameLst>
                                          <p:attrName>ppt_y</p:attrName>
                                        </p:attrNameLst>
                                      </p:cBhvr>
                                      <p:tavLst>
                                        <p:tav tm="0">
                                          <p:val>
                                            <p:strVal val="#ppt_y"/>
                                          </p:val>
                                        </p:tav>
                                        <p:tav tm="100000">
                                          <p:val>
                                            <p:strVal val="#ppt_y"/>
                                          </p:val>
                                        </p:tav>
                                      </p:tavLst>
                                    </p:anim>
                                  </p:childTnLst>
                                </p:cTn>
                              </p:par>
                            </p:childTnLst>
                          </p:cTn>
                        </p:par>
                        <p:par>
                          <p:cTn id="64" fill="hold">
                            <p:stCondLst>
                              <p:cond delay="500"/>
                            </p:stCondLst>
                            <p:childTnLst>
                              <p:par>
                                <p:cTn id="65" presetID="2" presetClass="entr" presetSubtype="4" fill="hold" grpId="0" nodeType="afterEffect">
                                  <p:stCondLst>
                                    <p:cond delay="0"/>
                                  </p:stCondLst>
                                  <p:childTnLst>
                                    <p:set>
                                      <p:cBhvr>
                                        <p:cTn id="66" dur="1" fill="hold">
                                          <p:stCondLst>
                                            <p:cond delay="0"/>
                                          </p:stCondLst>
                                        </p:cTn>
                                        <p:tgtEl>
                                          <p:spTgt spid="298072"/>
                                        </p:tgtEl>
                                        <p:attrNameLst>
                                          <p:attrName>style.visibility</p:attrName>
                                        </p:attrNameLst>
                                      </p:cBhvr>
                                      <p:to>
                                        <p:strVal val="visible"/>
                                      </p:to>
                                    </p:set>
                                    <p:anim calcmode="lin" valueType="num">
                                      <p:cBhvr additive="base">
                                        <p:cTn id="67" dur="500" fill="hold"/>
                                        <p:tgtEl>
                                          <p:spTgt spid="298072"/>
                                        </p:tgtEl>
                                        <p:attrNameLst>
                                          <p:attrName>ppt_x</p:attrName>
                                        </p:attrNameLst>
                                      </p:cBhvr>
                                      <p:tavLst>
                                        <p:tav tm="0">
                                          <p:val>
                                            <p:strVal val="#ppt_x"/>
                                          </p:val>
                                        </p:tav>
                                        <p:tav tm="100000">
                                          <p:val>
                                            <p:strVal val="#ppt_x"/>
                                          </p:val>
                                        </p:tav>
                                      </p:tavLst>
                                    </p:anim>
                                    <p:anim calcmode="lin" valueType="num">
                                      <p:cBhvr additive="base">
                                        <p:cTn id="68" dur="500" fill="hold"/>
                                        <p:tgtEl>
                                          <p:spTgt spid="29807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1+#ppt_w/2"/>
                                          </p:val>
                                        </p:tav>
                                        <p:tav tm="100000">
                                          <p:val>
                                            <p:strVal val="#ppt_x"/>
                                          </p:val>
                                        </p:tav>
                                      </p:tavLst>
                                    </p:anim>
                                    <p:anim calcmode="lin" valueType="num">
                                      <p:cBhvr additive="base">
                                        <p:cTn id="74"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060" grpId="0"/>
      <p:bldP spid="298061" grpId="0"/>
      <p:bldP spid="298062" grpId="0"/>
      <p:bldP spid="298070" grpId="0" animBg="1"/>
      <p:bldP spid="298071" grpId="0" animBg="1"/>
      <p:bldP spid="29807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type="title"/>
          </p:nvPr>
        </p:nvSpPr>
        <p:spPr/>
        <p:txBody>
          <a:bodyPr/>
          <a:lstStyle/>
          <a:p>
            <a:pPr eaLnBrk="1" hangingPunct="1"/>
            <a:r>
              <a:rPr lang="en-US" altLang="zh-CN">
                <a:latin typeface="Times New Roman" panose="02020603050405020304" pitchFamily="18" charset="0"/>
              </a:rPr>
              <a:t>Kerberos</a:t>
            </a:r>
            <a:r>
              <a:rPr lang="zh-CN" altLang="en-US">
                <a:latin typeface="Times New Roman" panose="02020603050405020304" pitchFamily="18" charset="0"/>
              </a:rPr>
              <a:t>（</a:t>
            </a:r>
            <a:r>
              <a:rPr lang="en-US" altLang="zh-CN">
                <a:latin typeface="Times New Roman" panose="02020603050405020304" pitchFamily="18" charset="0"/>
              </a:rPr>
              <a:t>V4</a:t>
            </a:r>
            <a:r>
              <a:rPr lang="zh-CN" altLang="en-US">
                <a:latin typeface="Times New Roman" panose="02020603050405020304" pitchFamily="18" charset="0"/>
              </a:rPr>
              <a:t>）协议交互过程</a:t>
            </a:r>
          </a:p>
        </p:txBody>
      </p:sp>
      <p:pic>
        <p:nvPicPr>
          <p:cNvPr id="76803" name="Picture 2" descr="9t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07509" y="1615043"/>
            <a:ext cx="9368408" cy="4541637"/>
          </a:xfrm>
          <a:noFill/>
        </p:spPr>
      </p:pic>
      <p:sp>
        <p:nvSpPr>
          <p:cNvPr id="2" name="文本框 1"/>
          <p:cNvSpPr txBox="1"/>
          <p:nvPr/>
        </p:nvSpPr>
        <p:spPr>
          <a:xfrm>
            <a:off x="7158990" y="5149532"/>
            <a:ext cx="5080000" cy="829945"/>
          </a:xfrm>
          <a:prstGeom prst="rect">
            <a:avLst/>
          </a:prstGeom>
        </p:spPr>
        <p:txBody>
          <a:bodyPr>
            <a:spAutoFit/>
          </a:bodyPr>
          <a:lstStyle/>
          <a:p>
            <a:r>
              <a:rPr lang="en-US" altLang="zh-CN" sz="1600"/>
              <a:t>Kerberos</a:t>
            </a:r>
            <a:r>
              <a:rPr lang="zh-CN" altLang="en-US" sz="1600"/>
              <a:t>通过</a:t>
            </a:r>
            <a:r>
              <a:rPr lang="en-US" altLang="zh-CN" sz="1600"/>
              <a:t>AS</a:t>
            </a:r>
            <a:r>
              <a:rPr lang="zh-CN" altLang="en-US" sz="1600"/>
              <a:t>发登录证，</a:t>
            </a:r>
            <a:r>
              <a:rPr lang="en-US" altLang="zh-CN" sz="1600"/>
              <a:t>TGS</a:t>
            </a:r>
            <a:r>
              <a:rPr lang="zh-CN" altLang="en-US" sz="1600"/>
              <a:t>换门票。门票绑定</a:t>
            </a:r>
            <a:r>
              <a:rPr lang="en-US" altLang="zh-CN" sz="1600"/>
              <a:t>IP</a:t>
            </a:r>
            <a:r>
              <a:rPr lang="zh-CN" altLang="en-US" sz="1600"/>
              <a:t>与时间戳加密传输，不仅免去重复输密码，还能防截获与重放。</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a:t>
            </a:r>
            <a:r>
              <a:rPr lang="zh-CN" altLang="zh-CN" dirty="0"/>
              <a:t> </a:t>
            </a:r>
            <a:r>
              <a:rPr lang="en-US" altLang="zh-CN" dirty="0"/>
              <a:t>Kerberos</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主要组件说明：</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graphicFrame>
        <p:nvGraphicFramePr>
          <p:cNvPr id="5" name="表格 4"/>
          <p:cNvGraphicFramePr>
            <a:graphicFrameLocks noGrp="1"/>
          </p:cNvGraphicFramePr>
          <p:nvPr/>
        </p:nvGraphicFramePr>
        <p:xfrm>
          <a:off x="1141350" y="2477817"/>
          <a:ext cx="9308936" cy="2504440"/>
        </p:xfrm>
        <a:graphic>
          <a:graphicData uri="http://schemas.openxmlformats.org/drawingml/2006/table">
            <a:tbl>
              <a:tblPr firstRow="1" bandRow="1">
                <a:tableStyleId>{5C22544A-7EE6-4342-B048-85BDC9FD1C3A}</a:tableStyleId>
              </a:tblPr>
              <a:tblGrid>
                <a:gridCol w="3085851">
                  <a:extLst>
                    <a:ext uri="{9D8B030D-6E8A-4147-A177-3AD203B41FA5}">
                      <a16:colId xmlns:a16="http://schemas.microsoft.com/office/drawing/2014/main" val="20000"/>
                    </a:ext>
                  </a:extLst>
                </a:gridCol>
                <a:gridCol w="6223085">
                  <a:extLst>
                    <a:ext uri="{9D8B030D-6E8A-4147-A177-3AD203B41FA5}">
                      <a16:colId xmlns:a16="http://schemas.microsoft.com/office/drawing/2014/main" val="20001"/>
                    </a:ext>
                  </a:extLst>
                </a:gridCol>
              </a:tblGrid>
              <a:tr h="370840">
                <a:tc>
                  <a:txBody>
                    <a:bodyPr/>
                    <a:lstStyle/>
                    <a:p>
                      <a:pPr algn="ctr"/>
                      <a:r>
                        <a:rPr lang="zh-CN" altLang="en-US" dirty="0"/>
                        <a:t>角色	</a:t>
                      </a:r>
                    </a:p>
                  </a:txBody>
                  <a:tcPr/>
                </a:tc>
                <a:tc>
                  <a:txBody>
                    <a:bodyPr/>
                    <a:lstStyle/>
                    <a:p>
                      <a:pPr algn="ctr"/>
                      <a:r>
                        <a:rPr lang="zh-CN" altLang="en-US" dirty="0"/>
                        <a:t>说明</a:t>
                      </a:r>
                    </a:p>
                  </a:txBody>
                  <a:tcPr/>
                </a:tc>
                <a:extLst>
                  <a:ext uri="{0D108BD9-81ED-4DB2-BD59-A6C34878D82A}">
                    <a16:rowId xmlns:a16="http://schemas.microsoft.com/office/drawing/2014/main" val="10000"/>
                  </a:ext>
                </a:extLst>
              </a:tr>
              <a:tr h="370840">
                <a:tc>
                  <a:txBody>
                    <a:bodyPr/>
                    <a:lstStyle/>
                    <a:p>
                      <a:pPr fontAlgn="ctr" latinLnBrk="0"/>
                      <a:r>
                        <a:rPr lang="zh-CN" altLang="en-US" sz="1800" b="0" dirty="0">
                          <a:solidFill>
                            <a:srgbClr val="4F4F4F"/>
                          </a:solidFill>
                          <a:effectLst/>
                        </a:rPr>
                        <a:t>用户</a:t>
                      </a:r>
                      <a:r>
                        <a:rPr lang="en-US" altLang="zh-CN" sz="1800" b="0" dirty="0">
                          <a:solidFill>
                            <a:srgbClr val="4F4F4F"/>
                          </a:solidFill>
                          <a:effectLst/>
                        </a:rPr>
                        <a:t>/</a:t>
                      </a:r>
                      <a:r>
                        <a:rPr lang="zh-CN" altLang="en-US" sz="1800" b="0" dirty="0">
                          <a:solidFill>
                            <a:srgbClr val="4F4F4F"/>
                          </a:solidFill>
                          <a:effectLst/>
                        </a:rPr>
                        <a:t>客户端</a:t>
                      </a:r>
                    </a:p>
                  </a:txBody>
                  <a:tcPr marL="76200" marR="76200" marT="76200" marB="76200" anchor="ctr"/>
                </a:tc>
                <a:tc>
                  <a:txBody>
                    <a:bodyPr/>
                    <a:lstStyle/>
                    <a:p>
                      <a:pPr fontAlgn="ctr" latinLnBrk="0"/>
                      <a:r>
                        <a:rPr lang="zh-CN" altLang="en-US" sz="1800" b="0" dirty="0">
                          <a:solidFill>
                            <a:srgbClr val="4F4F4F"/>
                          </a:solidFill>
                          <a:effectLst/>
                        </a:rPr>
                        <a:t>需要登录和访问服务的用户</a:t>
                      </a:r>
                      <a:r>
                        <a:rPr lang="en-US" altLang="zh-CN" sz="1800" b="0" dirty="0">
                          <a:solidFill>
                            <a:srgbClr val="4F4F4F"/>
                          </a:solidFill>
                          <a:effectLst/>
                        </a:rPr>
                        <a:t>/</a:t>
                      </a:r>
                      <a:r>
                        <a:rPr lang="zh-CN" altLang="en-US" sz="1800" b="0" dirty="0">
                          <a:solidFill>
                            <a:srgbClr val="4F4F4F"/>
                          </a:solidFill>
                          <a:effectLst/>
                        </a:rPr>
                        <a:t>主机</a:t>
                      </a:r>
                    </a:p>
                  </a:txBody>
                  <a:tcPr marL="76200" marR="76200" marT="76200" marB="76200" anchor="ctr"/>
                </a:tc>
                <a:extLst>
                  <a:ext uri="{0D108BD9-81ED-4DB2-BD59-A6C34878D82A}">
                    <a16:rowId xmlns:a16="http://schemas.microsoft.com/office/drawing/2014/main" val="10001"/>
                  </a:ext>
                </a:extLst>
              </a:tr>
              <a:tr h="370840">
                <a:tc>
                  <a:txBody>
                    <a:bodyPr/>
                    <a:lstStyle/>
                    <a:p>
                      <a:pPr fontAlgn="ctr" latinLnBrk="0"/>
                      <a:r>
                        <a:rPr lang="zh-CN" altLang="en-US" sz="1800" b="0" dirty="0">
                          <a:solidFill>
                            <a:srgbClr val="4F4F4F"/>
                          </a:solidFill>
                          <a:effectLst/>
                        </a:rPr>
                        <a:t>服务端</a:t>
                      </a:r>
                    </a:p>
                  </a:txBody>
                  <a:tcPr marL="76200" marR="76200" marT="76200" marB="76200" anchor="ctr"/>
                </a:tc>
                <a:tc>
                  <a:txBody>
                    <a:bodyPr/>
                    <a:lstStyle/>
                    <a:p>
                      <a:pPr fontAlgn="ctr" latinLnBrk="0"/>
                      <a:r>
                        <a:rPr lang="zh-CN" altLang="en-US" sz="1800" b="0" dirty="0">
                          <a:solidFill>
                            <a:srgbClr val="4F4F4F"/>
                          </a:solidFill>
                          <a:effectLst/>
                        </a:rPr>
                        <a:t>提供资源的服务器，如 </a:t>
                      </a:r>
                      <a:r>
                        <a:rPr lang="en-US" altLang="zh-CN" sz="1800" b="0" dirty="0">
                          <a:solidFill>
                            <a:srgbClr val="4F4F4F"/>
                          </a:solidFill>
                          <a:effectLst/>
                        </a:rPr>
                        <a:t>HTTP</a:t>
                      </a:r>
                      <a:r>
                        <a:rPr lang="zh-CN" altLang="en-US" sz="1800" b="0" dirty="0">
                          <a:solidFill>
                            <a:srgbClr val="4F4F4F"/>
                          </a:solidFill>
                          <a:effectLst/>
                        </a:rPr>
                        <a:t>、</a:t>
                      </a:r>
                      <a:r>
                        <a:rPr lang="en-US" altLang="zh-CN" sz="1800" b="0" dirty="0">
                          <a:solidFill>
                            <a:srgbClr val="4F4F4F"/>
                          </a:solidFill>
                          <a:effectLst/>
                        </a:rPr>
                        <a:t>HDFS</a:t>
                      </a:r>
                      <a:r>
                        <a:rPr lang="zh-CN" altLang="en-US" sz="1800" b="0" dirty="0">
                          <a:solidFill>
                            <a:srgbClr val="4F4F4F"/>
                          </a:solidFill>
                          <a:effectLst/>
                        </a:rPr>
                        <a:t>、邮箱等</a:t>
                      </a:r>
                    </a:p>
                  </a:txBody>
                  <a:tcPr marL="76200" marR="76200" marT="76200" marB="76200" anchor="ctr"/>
                </a:tc>
                <a:extLst>
                  <a:ext uri="{0D108BD9-81ED-4DB2-BD59-A6C34878D82A}">
                    <a16:rowId xmlns:a16="http://schemas.microsoft.com/office/drawing/2014/main" val="10002"/>
                  </a:ext>
                </a:extLst>
              </a:tr>
              <a:tr h="370840">
                <a:tc>
                  <a:txBody>
                    <a:bodyPr/>
                    <a:lstStyle/>
                    <a:p>
                      <a:pPr fontAlgn="ctr" latinLnBrk="0"/>
                      <a:r>
                        <a:rPr lang="zh-CN" altLang="en-US" sz="1800" b="0">
                          <a:solidFill>
                            <a:srgbClr val="4F4F4F"/>
                          </a:solidFill>
                          <a:effectLst/>
                        </a:rPr>
                        <a:t>认证服务器（</a:t>
                      </a:r>
                      <a:r>
                        <a:rPr lang="en-US" altLang="zh-CN" sz="1800" b="0">
                          <a:solidFill>
                            <a:srgbClr val="4F4F4F"/>
                          </a:solidFill>
                          <a:effectLst/>
                        </a:rPr>
                        <a:t>AS</a:t>
                      </a:r>
                      <a:r>
                        <a:rPr lang="zh-CN" altLang="en-US" sz="1800" b="0">
                          <a:solidFill>
                            <a:srgbClr val="4F4F4F"/>
                          </a:solidFill>
                          <a:effectLst/>
                        </a:rPr>
                        <a:t>）</a:t>
                      </a:r>
                    </a:p>
                  </a:txBody>
                  <a:tcPr marL="76200" marR="76200" marT="76200" marB="76200" anchor="ctr"/>
                </a:tc>
                <a:tc>
                  <a:txBody>
                    <a:bodyPr/>
                    <a:lstStyle/>
                    <a:p>
                      <a:pPr fontAlgn="ctr" latinLnBrk="0"/>
                      <a:r>
                        <a:rPr lang="zh-CN" altLang="en-US" sz="1800" b="0" dirty="0">
                          <a:solidFill>
                            <a:srgbClr val="4F4F4F"/>
                          </a:solidFill>
                          <a:effectLst/>
                        </a:rPr>
                        <a:t>验证用户身份，分发初始票据 </a:t>
                      </a:r>
                      <a:r>
                        <a:rPr lang="en-US" sz="1800" b="0" dirty="0" err="1">
                          <a:solidFill>
                            <a:srgbClr val="4F4F4F"/>
                          </a:solidFill>
                          <a:effectLst/>
                        </a:rPr>
                        <a:t>TGT（Ticket</a:t>
                      </a:r>
                      <a:r>
                        <a:rPr lang="en-US" sz="1800" b="0" dirty="0">
                          <a:solidFill>
                            <a:srgbClr val="4F4F4F"/>
                          </a:solidFill>
                          <a:effectLst/>
                        </a:rPr>
                        <a:t> Granting Ticket）</a:t>
                      </a:r>
                    </a:p>
                  </a:txBody>
                  <a:tcPr marL="76200" marR="76200" marT="76200" marB="76200" anchor="ctr"/>
                </a:tc>
                <a:extLst>
                  <a:ext uri="{0D108BD9-81ED-4DB2-BD59-A6C34878D82A}">
                    <a16:rowId xmlns:a16="http://schemas.microsoft.com/office/drawing/2014/main" val="10003"/>
                  </a:ext>
                </a:extLst>
              </a:tr>
              <a:tr h="370840">
                <a:tc>
                  <a:txBody>
                    <a:bodyPr/>
                    <a:lstStyle/>
                    <a:p>
                      <a:pPr fontAlgn="ctr" latinLnBrk="0"/>
                      <a:r>
                        <a:rPr lang="zh-CN" altLang="en-US" sz="1800" b="0">
                          <a:solidFill>
                            <a:srgbClr val="4F4F4F"/>
                          </a:solidFill>
                          <a:effectLst/>
                        </a:rPr>
                        <a:t>票据授权服务器（</a:t>
                      </a:r>
                      <a:r>
                        <a:rPr lang="en-US" altLang="zh-CN" sz="1800" b="0">
                          <a:solidFill>
                            <a:srgbClr val="4F4F4F"/>
                          </a:solidFill>
                          <a:effectLst/>
                        </a:rPr>
                        <a:t>TGS</a:t>
                      </a:r>
                      <a:r>
                        <a:rPr lang="zh-CN" altLang="en-US" sz="1800" b="0">
                          <a:solidFill>
                            <a:srgbClr val="4F4F4F"/>
                          </a:solidFill>
                          <a:effectLst/>
                        </a:rPr>
                        <a:t>）</a:t>
                      </a:r>
                    </a:p>
                  </a:txBody>
                  <a:tcPr marL="76200" marR="76200" marT="76200" marB="76200" anchor="ctr"/>
                </a:tc>
                <a:tc>
                  <a:txBody>
                    <a:bodyPr/>
                    <a:lstStyle/>
                    <a:p>
                      <a:pPr fontAlgn="ctr" latinLnBrk="0"/>
                      <a:r>
                        <a:rPr lang="zh-CN" altLang="en-US" sz="1800" b="0" dirty="0">
                          <a:solidFill>
                            <a:srgbClr val="4F4F4F"/>
                          </a:solidFill>
                          <a:effectLst/>
                        </a:rPr>
                        <a:t>分发服务访问票据（</a:t>
                      </a:r>
                      <a:r>
                        <a:rPr lang="en-US" sz="1800" b="0" dirty="0">
                          <a:solidFill>
                            <a:srgbClr val="4F4F4F"/>
                          </a:solidFill>
                          <a:effectLst/>
                        </a:rPr>
                        <a:t>Service Ticket）</a:t>
                      </a:r>
                    </a:p>
                  </a:txBody>
                  <a:tcPr marL="76200" marR="76200" marT="76200" marB="76200" anchor="ctr"/>
                </a:tc>
                <a:extLst>
                  <a:ext uri="{0D108BD9-81ED-4DB2-BD59-A6C34878D82A}">
                    <a16:rowId xmlns:a16="http://schemas.microsoft.com/office/drawing/2014/main" val="10004"/>
                  </a:ext>
                </a:extLst>
              </a:tr>
              <a:tr h="370840">
                <a:tc>
                  <a:txBody>
                    <a:bodyPr/>
                    <a:lstStyle/>
                    <a:p>
                      <a:pPr fontAlgn="ctr" latinLnBrk="0"/>
                      <a:r>
                        <a:rPr lang="en-US" sz="1800" b="0">
                          <a:solidFill>
                            <a:srgbClr val="4F4F4F"/>
                          </a:solidFill>
                          <a:effectLst/>
                        </a:rPr>
                        <a:t>KDC</a:t>
                      </a:r>
                    </a:p>
                  </a:txBody>
                  <a:tcPr marL="76200" marR="76200" marT="76200" marB="76200" anchor="ctr"/>
                </a:tc>
                <a:tc>
                  <a:txBody>
                    <a:bodyPr/>
                    <a:lstStyle/>
                    <a:p>
                      <a:pPr fontAlgn="ctr" latinLnBrk="0"/>
                      <a:r>
                        <a:rPr lang="zh-CN" altLang="en-US" sz="1800" b="0" dirty="0">
                          <a:solidFill>
                            <a:srgbClr val="4F4F4F"/>
                          </a:solidFill>
                          <a:effectLst/>
                        </a:rPr>
                        <a:t>密钥发布中心，包括 </a:t>
                      </a:r>
                      <a:r>
                        <a:rPr lang="en-US" sz="1800" b="0" dirty="0">
                          <a:solidFill>
                            <a:srgbClr val="4F4F4F"/>
                          </a:solidFill>
                          <a:effectLst/>
                        </a:rPr>
                        <a:t>AS </a:t>
                      </a:r>
                      <a:r>
                        <a:rPr lang="zh-CN" altLang="en-US" sz="1800" b="0" dirty="0">
                          <a:solidFill>
                            <a:srgbClr val="4F4F4F"/>
                          </a:solidFill>
                          <a:effectLst/>
                        </a:rPr>
                        <a:t>和 </a:t>
                      </a:r>
                      <a:r>
                        <a:rPr lang="en-US" sz="1800" b="0" dirty="0">
                          <a:solidFill>
                            <a:srgbClr val="4F4F4F"/>
                          </a:solidFill>
                          <a:effectLst/>
                        </a:rPr>
                        <a:t>TGS</a:t>
                      </a:r>
                    </a:p>
                  </a:txBody>
                  <a:tcPr marL="76200" marR="76200" marT="76200" marB="7620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a:t>
            </a:r>
            <a:r>
              <a:rPr lang="zh-CN" altLang="zh-CN" dirty="0"/>
              <a:t> </a:t>
            </a:r>
            <a:r>
              <a:rPr lang="en-US" altLang="zh-CN" dirty="0"/>
              <a:t>Kerberos</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Kerberos </a:t>
            </a:r>
            <a:r>
              <a:rPr lang="zh-CN" altLang="en-US" dirty="0"/>
              <a:t>认证完整流程：</a:t>
            </a:r>
            <a:endParaRPr lang="en-US" altLang="zh-CN" dirty="0"/>
          </a:p>
          <a:p>
            <a:pPr lvl="1">
              <a:lnSpc>
                <a:spcPct val="150000"/>
              </a:lnSpc>
            </a:pPr>
            <a:r>
              <a:rPr lang="en-US" altLang="zh-CN" dirty="0">
                <a:solidFill>
                  <a:srgbClr val="C00000"/>
                </a:solidFill>
              </a:rPr>
              <a:t>1. </a:t>
            </a:r>
            <a:r>
              <a:rPr lang="zh-CN" altLang="en-US" dirty="0">
                <a:solidFill>
                  <a:srgbClr val="C00000"/>
                </a:solidFill>
              </a:rPr>
              <a:t>用户认证（</a:t>
            </a:r>
            <a:r>
              <a:rPr lang="en-US" altLang="zh-CN" dirty="0">
                <a:solidFill>
                  <a:srgbClr val="C00000"/>
                </a:solidFill>
              </a:rPr>
              <a:t>AS </a:t>
            </a:r>
            <a:r>
              <a:rPr lang="zh-CN" altLang="en-US" dirty="0">
                <a:solidFill>
                  <a:srgbClr val="C00000"/>
                </a:solidFill>
              </a:rPr>
              <a:t>阶段）</a:t>
            </a:r>
          </a:p>
          <a:p>
            <a:pPr lvl="2">
              <a:lnSpc>
                <a:spcPct val="150000"/>
              </a:lnSpc>
            </a:pPr>
            <a:r>
              <a:rPr lang="zh-CN" altLang="en-US" sz="2400" dirty="0"/>
              <a:t>客户端向 </a:t>
            </a:r>
            <a:r>
              <a:rPr lang="en-US" altLang="zh-CN" sz="2400" dirty="0"/>
              <a:t>AS </a:t>
            </a:r>
            <a:r>
              <a:rPr lang="zh-CN" altLang="en-US" sz="2400" dirty="0"/>
              <a:t>发送用户名</a:t>
            </a:r>
          </a:p>
          <a:p>
            <a:pPr lvl="2">
              <a:lnSpc>
                <a:spcPct val="150000"/>
              </a:lnSpc>
            </a:pPr>
            <a:r>
              <a:rPr lang="en-US" altLang="zh-CN" sz="2400" dirty="0"/>
              <a:t>AS </a:t>
            </a:r>
            <a:r>
              <a:rPr lang="zh-CN" altLang="en-US" sz="2400" dirty="0"/>
              <a:t>查询数据库，返回：</a:t>
            </a:r>
          </a:p>
          <a:p>
            <a:pPr lvl="3">
              <a:lnSpc>
                <a:spcPct val="150000"/>
              </a:lnSpc>
            </a:pPr>
            <a:r>
              <a:rPr lang="zh-CN" altLang="en-US" sz="2400" dirty="0"/>
              <a:t>票据授权票（</a:t>
            </a:r>
            <a:r>
              <a:rPr lang="en-US" altLang="zh-CN" sz="2400" dirty="0"/>
              <a:t>TGT</a:t>
            </a:r>
            <a:r>
              <a:rPr lang="zh-CN" altLang="en-US" sz="2400" dirty="0"/>
              <a:t>，</a:t>
            </a:r>
            <a:r>
              <a:rPr lang="en-US" altLang="zh-CN" sz="2400" dirty="0"/>
              <a:t>KDC </a:t>
            </a:r>
            <a:r>
              <a:rPr lang="zh-CN" altLang="en-US" sz="2400" dirty="0"/>
              <a:t>私钥加密，只有 </a:t>
            </a:r>
            <a:r>
              <a:rPr lang="en-US" altLang="zh-CN" sz="2400" dirty="0"/>
              <a:t>TGS </a:t>
            </a:r>
            <a:r>
              <a:rPr lang="zh-CN" altLang="en-US" sz="2400" dirty="0"/>
              <a:t>能解）</a:t>
            </a:r>
          </a:p>
          <a:p>
            <a:pPr lvl="3">
              <a:lnSpc>
                <a:spcPct val="150000"/>
              </a:lnSpc>
            </a:pPr>
            <a:r>
              <a:rPr lang="zh-CN" altLang="en-US" sz="2400" dirty="0"/>
              <a:t>会话密钥（用用户密码加密，只有用户能解开）</a:t>
            </a:r>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a:t>
            </a:r>
            <a:r>
              <a:rPr lang="zh-CN" altLang="zh-CN" dirty="0"/>
              <a:t> </a:t>
            </a:r>
            <a:r>
              <a:rPr lang="en-US" altLang="zh-CN" dirty="0"/>
              <a:t>Kerberos</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Kerberos </a:t>
            </a:r>
            <a:r>
              <a:rPr lang="zh-CN" altLang="en-US" dirty="0"/>
              <a:t>认证完整流程：</a:t>
            </a:r>
            <a:endParaRPr lang="en-US" altLang="zh-CN" dirty="0"/>
          </a:p>
          <a:p>
            <a:pPr lvl="1">
              <a:lnSpc>
                <a:spcPct val="150000"/>
              </a:lnSpc>
            </a:pPr>
            <a:r>
              <a:rPr lang="en-US" altLang="zh-CN" dirty="0">
                <a:solidFill>
                  <a:srgbClr val="C00000"/>
                </a:solidFill>
              </a:rPr>
              <a:t>2. </a:t>
            </a:r>
            <a:r>
              <a:rPr lang="zh-CN" altLang="en-US" dirty="0">
                <a:solidFill>
                  <a:srgbClr val="C00000"/>
                </a:solidFill>
              </a:rPr>
              <a:t>获取服务票据（</a:t>
            </a:r>
            <a:r>
              <a:rPr lang="en-US" altLang="zh-CN" dirty="0">
                <a:solidFill>
                  <a:srgbClr val="C00000"/>
                </a:solidFill>
              </a:rPr>
              <a:t>TGS </a:t>
            </a:r>
            <a:r>
              <a:rPr lang="zh-CN" altLang="en-US" dirty="0">
                <a:solidFill>
                  <a:srgbClr val="C00000"/>
                </a:solidFill>
              </a:rPr>
              <a:t>阶段）</a:t>
            </a:r>
            <a:endParaRPr lang="en-US" altLang="zh-CN" dirty="0">
              <a:solidFill>
                <a:srgbClr val="C00000"/>
              </a:solidFill>
            </a:endParaRPr>
          </a:p>
          <a:p>
            <a:pPr lvl="2">
              <a:lnSpc>
                <a:spcPct val="150000"/>
              </a:lnSpc>
            </a:pPr>
            <a:r>
              <a:rPr lang="zh-CN" altLang="en-US" sz="2400" dirty="0"/>
              <a:t>客户端用解开的 </a:t>
            </a:r>
            <a:r>
              <a:rPr lang="en-US" altLang="zh-CN" sz="2400" dirty="0"/>
              <a:t>Session Key </a:t>
            </a:r>
            <a:r>
              <a:rPr lang="zh-CN" altLang="en-US" sz="2400" dirty="0"/>
              <a:t>生成</a:t>
            </a:r>
            <a:r>
              <a:rPr lang="en-US" altLang="zh-CN" sz="2400" dirty="0"/>
              <a:t>Authenticator</a:t>
            </a:r>
            <a:r>
              <a:rPr lang="zh-CN" altLang="en-US" sz="2400" dirty="0"/>
              <a:t>（含时间戳）</a:t>
            </a:r>
            <a:endParaRPr lang="en-US" altLang="zh-CN" sz="2400" dirty="0"/>
          </a:p>
          <a:p>
            <a:pPr lvl="2">
              <a:lnSpc>
                <a:spcPct val="150000"/>
              </a:lnSpc>
            </a:pPr>
            <a:r>
              <a:rPr lang="zh-CN" altLang="en-US" sz="2400" dirty="0"/>
              <a:t>用 </a:t>
            </a:r>
            <a:r>
              <a:rPr lang="en-US" altLang="zh-CN" sz="2400" dirty="0"/>
              <a:t>TGT + Authenticator </a:t>
            </a:r>
            <a:r>
              <a:rPr lang="zh-CN" altLang="en-US" sz="2400" dirty="0"/>
              <a:t>申请服务票据</a:t>
            </a:r>
            <a:endParaRPr lang="en-US" altLang="zh-CN" sz="2400" dirty="0"/>
          </a:p>
          <a:p>
            <a:pPr lvl="2">
              <a:lnSpc>
                <a:spcPct val="150000"/>
              </a:lnSpc>
            </a:pPr>
            <a:r>
              <a:rPr lang="en-US" altLang="zh-CN" sz="2400" dirty="0"/>
              <a:t>TGS </a:t>
            </a:r>
            <a:r>
              <a:rPr lang="zh-CN" altLang="en-US" sz="2400" dirty="0"/>
              <a:t>校验，返回：</a:t>
            </a:r>
            <a:endParaRPr lang="en-US" altLang="zh-CN" sz="2400" dirty="0"/>
          </a:p>
          <a:p>
            <a:pPr lvl="3">
              <a:lnSpc>
                <a:spcPct val="150000"/>
              </a:lnSpc>
            </a:pPr>
            <a:r>
              <a:rPr lang="zh-CN" altLang="en-US" sz="2400" dirty="0"/>
              <a:t>服务票据（</a:t>
            </a:r>
            <a:r>
              <a:rPr lang="en-US" altLang="zh-CN" sz="2400" dirty="0"/>
              <a:t>Service Ticket</a:t>
            </a:r>
            <a:r>
              <a:rPr lang="zh-CN" altLang="en-US" sz="2400" dirty="0"/>
              <a:t>，服务端密钥加密，只能服务端解开）</a:t>
            </a:r>
            <a:endParaRPr lang="en-US" altLang="zh-CN" sz="2400" dirty="0"/>
          </a:p>
          <a:p>
            <a:pPr lvl="3">
              <a:lnSpc>
                <a:spcPct val="150000"/>
              </a:lnSpc>
            </a:pPr>
            <a:r>
              <a:rPr lang="zh-CN" altLang="en-US" sz="2400" dirty="0"/>
              <a:t>新会话密钥（用户和服务端通信用）</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a:t>
            </a:r>
            <a:r>
              <a:rPr lang="zh-CN" altLang="zh-CN" dirty="0"/>
              <a:t> </a:t>
            </a:r>
            <a:r>
              <a:rPr lang="en-US" altLang="zh-CN" dirty="0"/>
              <a:t>Kerberos</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Kerberos </a:t>
            </a:r>
            <a:r>
              <a:rPr lang="zh-CN" altLang="en-US" dirty="0"/>
              <a:t>认证完整流程：</a:t>
            </a:r>
            <a:endParaRPr lang="en-US" altLang="zh-CN" dirty="0"/>
          </a:p>
          <a:p>
            <a:pPr lvl="1">
              <a:lnSpc>
                <a:spcPct val="150000"/>
              </a:lnSpc>
            </a:pPr>
            <a:r>
              <a:rPr lang="en-US" altLang="zh-CN" dirty="0">
                <a:solidFill>
                  <a:srgbClr val="C00000"/>
                </a:solidFill>
              </a:rPr>
              <a:t>3. </a:t>
            </a:r>
            <a:r>
              <a:rPr lang="zh-CN" altLang="en-US" dirty="0">
                <a:solidFill>
                  <a:srgbClr val="C00000"/>
                </a:solidFill>
              </a:rPr>
              <a:t>服务访问（服务端阶段）</a:t>
            </a:r>
          </a:p>
          <a:p>
            <a:pPr lvl="2">
              <a:lnSpc>
                <a:spcPct val="150000"/>
              </a:lnSpc>
            </a:pPr>
            <a:r>
              <a:rPr lang="zh-CN" altLang="en-US" sz="2400" dirty="0"/>
              <a:t>客户端向服务端提交 </a:t>
            </a:r>
            <a:r>
              <a:rPr lang="en-US" altLang="zh-CN" sz="2400" dirty="0"/>
              <a:t>Service Ticket + Authenticator</a:t>
            </a:r>
          </a:p>
          <a:p>
            <a:pPr lvl="2">
              <a:lnSpc>
                <a:spcPct val="150000"/>
              </a:lnSpc>
            </a:pPr>
            <a:r>
              <a:rPr lang="zh-CN" altLang="en-US" sz="2400" dirty="0"/>
              <a:t>服务端用自己的密钥解开 </a:t>
            </a:r>
            <a:r>
              <a:rPr lang="en-US" altLang="zh-CN" sz="2400" dirty="0"/>
              <a:t>Service Ticket</a:t>
            </a:r>
            <a:r>
              <a:rPr lang="zh-CN" altLang="en-US" sz="2400" dirty="0"/>
              <a:t>，校验 </a:t>
            </a:r>
            <a:r>
              <a:rPr lang="en-US" altLang="zh-CN" sz="2400" dirty="0"/>
              <a:t>Authenticator</a:t>
            </a:r>
          </a:p>
          <a:p>
            <a:pPr lvl="2">
              <a:lnSpc>
                <a:spcPct val="150000"/>
              </a:lnSpc>
            </a:pPr>
            <a:r>
              <a:rPr lang="zh-CN" altLang="en-US" sz="2400" dirty="0"/>
              <a:t>双向认证可选：服务端用新的 </a:t>
            </a:r>
            <a:r>
              <a:rPr lang="en-US" altLang="zh-CN" sz="2400" dirty="0"/>
              <a:t>Session Key </a:t>
            </a:r>
            <a:r>
              <a:rPr lang="zh-CN" altLang="en-US" sz="2400" dirty="0"/>
              <a:t>返回带时间戳的数据，证明身份</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a:t>
            </a:r>
            <a:r>
              <a:rPr lang="zh-CN" altLang="zh-CN" dirty="0"/>
              <a:t> </a:t>
            </a:r>
            <a:r>
              <a:rPr lang="en-US" altLang="zh-CN" dirty="0"/>
              <a:t>Kerberos</a:t>
            </a:r>
            <a:endParaRPr lang="zh-CN" altLang="en-US" dirty="0"/>
          </a:p>
        </p:txBody>
      </p:sp>
      <p:sp>
        <p:nvSpPr>
          <p:cNvPr id="3" name="内容占位符 2"/>
          <p:cNvSpPr>
            <a:spLocks noGrp="1"/>
          </p:cNvSpPr>
          <p:nvPr>
            <p:ph idx="1"/>
          </p:nvPr>
        </p:nvSpPr>
        <p:spPr>
          <a:xfrm>
            <a:off x="838200" y="1244212"/>
            <a:ext cx="10515600" cy="4853240"/>
          </a:xfrm>
        </p:spPr>
        <p:txBody>
          <a:bodyPr>
            <a:normAutofit/>
          </a:bodyPr>
          <a:lstStyle/>
          <a:p>
            <a:pPr>
              <a:lnSpc>
                <a:spcPct val="150000"/>
              </a:lnSpc>
            </a:pPr>
            <a:r>
              <a:rPr lang="zh-CN" altLang="en-US" dirty="0"/>
              <a:t>时序交互图：</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pic>
        <p:nvPicPr>
          <p:cNvPr id="5" name="图片 4"/>
          <p:cNvPicPr>
            <a:picLocks noChangeAspect="1"/>
          </p:cNvPicPr>
          <p:nvPr/>
        </p:nvPicPr>
        <p:blipFill>
          <a:blip r:embed="rId2"/>
          <a:stretch>
            <a:fillRect/>
          </a:stretch>
        </p:blipFill>
        <p:spPr>
          <a:xfrm>
            <a:off x="1766887" y="1948651"/>
            <a:ext cx="8658225" cy="47244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 </a:t>
            </a:r>
            <a:r>
              <a:rPr lang="zh-CN" altLang="zh-CN" dirty="0"/>
              <a:t> </a:t>
            </a:r>
            <a:r>
              <a:rPr lang="en-US" altLang="zh-CN" dirty="0"/>
              <a:t>Kerberos</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上述认证交换过程需要只读方式访问 </a:t>
            </a:r>
            <a:r>
              <a:rPr lang="en-US" altLang="zh-CN" dirty="0"/>
              <a:t>Kerberos </a:t>
            </a:r>
            <a:r>
              <a:rPr lang="zh-CN" altLang="en-US" dirty="0"/>
              <a:t>数据库。但有时，数据库中的记录必须进行修改，如添加新的规则或改变规则密钥时。修改过程通过客户机和第三方 </a:t>
            </a:r>
            <a:r>
              <a:rPr lang="en-US" altLang="zh-CN" dirty="0"/>
              <a:t>Kerberos </a:t>
            </a:r>
            <a:r>
              <a:rPr lang="zh-CN" altLang="en-US" dirty="0"/>
              <a:t>服务器（</a:t>
            </a:r>
            <a:r>
              <a:rPr lang="en-US" altLang="zh-CN" dirty="0"/>
              <a:t>Kerberos </a:t>
            </a:r>
            <a:r>
              <a:rPr lang="zh-CN" altLang="en-US" dirty="0"/>
              <a:t>管理器 </a:t>
            </a:r>
            <a:r>
              <a:rPr lang="en-US" altLang="zh-CN" dirty="0"/>
              <a:t>KADM</a:t>
            </a:r>
            <a:r>
              <a:rPr lang="zh-CN" altLang="en-US" dirty="0"/>
              <a:t>）间的协议完成。有关管理协议在此不作介绍。</a:t>
            </a:r>
            <a:endParaRPr lang="en-US" altLang="zh-CN" dirty="0"/>
          </a:p>
          <a:p>
            <a:pPr>
              <a:lnSpc>
                <a:spcPct val="150000"/>
              </a:lnSpc>
            </a:pPr>
            <a:r>
              <a:rPr lang="zh-CN" altLang="en-US" dirty="0"/>
              <a:t>另外也有一种协议用于维护多份 </a:t>
            </a:r>
            <a:r>
              <a:rPr lang="en-US" altLang="zh-CN" dirty="0"/>
              <a:t>Kerberos </a:t>
            </a:r>
            <a:r>
              <a:rPr lang="zh-CN" altLang="en-US" dirty="0"/>
              <a:t>数据库的拷贝，这可以认为是执行过程中的细节问题，并且会不断改变以适应各种不同数据库技术。</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7.3.1 </a:t>
            </a:r>
            <a:r>
              <a:rPr lang="zh-CN" altLang="zh-CN" dirty="0"/>
              <a:t> </a:t>
            </a:r>
            <a:r>
              <a:rPr lang="en-US" altLang="zh-CN" dirty="0"/>
              <a:t>Kerberos</a:t>
            </a:r>
            <a:r>
              <a:rPr lang="zh-CN" altLang="en-US" dirty="0"/>
              <a:t>版本</a:t>
            </a:r>
            <a:r>
              <a:rPr lang="en-US" altLang="zh-CN" dirty="0"/>
              <a:t>4</a:t>
            </a:r>
            <a:endParaRPr lang="zh-CN" altLang="en-US" dirty="0"/>
          </a:p>
        </p:txBody>
      </p:sp>
      <p:sp>
        <p:nvSpPr>
          <p:cNvPr id="3" name="内容占位符 2"/>
          <p:cNvSpPr>
            <a:spLocks noGrp="1"/>
          </p:cNvSpPr>
          <p:nvPr>
            <p:ph idx="1"/>
          </p:nvPr>
        </p:nvSpPr>
        <p:spPr>
          <a:xfrm>
            <a:off x="838200" y="1244212"/>
            <a:ext cx="10515600" cy="4853240"/>
          </a:xfrm>
        </p:spPr>
        <p:txBody>
          <a:bodyPr>
            <a:normAutofit/>
          </a:bodyPr>
          <a:lstStyle/>
          <a:p>
            <a:pPr>
              <a:lnSpc>
                <a:spcPct val="150000"/>
              </a:lnSpc>
            </a:pPr>
            <a:r>
              <a:rPr lang="en-US" altLang="zh-CN" dirty="0"/>
              <a:t>Kerberos </a:t>
            </a:r>
            <a:r>
              <a:rPr lang="zh-CN" altLang="en-US" dirty="0"/>
              <a:t>版本 </a:t>
            </a:r>
            <a:r>
              <a:rPr lang="en-US" altLang="zh-CN" dirty="0"/>
              <a:t>4 </a:t>
            </a:r>
            <a:r>
              <a:rPr lang="zh-CN" altLang="en-US" dirty="0"/>
              <a:t>是一种身份验证系统，它使用 </a:t>
            </a:r>
            <a:r>
              <a:rPr lang="en-US" altLang="zh-CN" dirty="0"/>
              <a:t>DES </a:t>
            </a:r>
            <a:r>
              <a:rPr lang="zh-CN" altLang="en-US" dirty="0"/>
              <a:t>加密来验证用户登录时的身份。身份验证基于发送系统使用公共密钥加密当前时间的能力，接收系统可以将其解密并与其进行比较自己现在的时间。</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7.3.1 </a:t>
            </a:r>
            <a:r>
              <a:rPr lang="zh-CN" altLang="zh-CN" dirty="0"/>
              <a:t> </a:t>
            </a:r>
            <a:r>
              <a:rPr lang="en-US" altLang="zh-CN" dirty="0"/>
              <a:t>Kerberos</a:t>
            </a:r>
            <a:r>
              <a:rPr lang="zh-CN" altLang="en-US" dirty="0"/>
              <a:t>版本</a:t>
            </a:r>
            <a:r>
              <a:rPr lang="en-US" altLang="zh-CN" dirty="0"/>
              <a:t>4</a:t>
            </a:r>
            <a:endParaRPr lang="zh-CN" altLang="en-US" dirty="0"/>
          </a:p>
        </p:txBody>
      </p:sp>
      <p:sp>
        <p:nvSpPr>
          <p:cNvPr id="3" name="内容占位符 2"/>
          <p:cNvSpPr>
            <a:spLocks noGrp="1"/>
          </p:cNvSpPr>
          <p:nvPr>
            <p:ph idx="1"/>
          </p:nvPr>
        </p:nvSpPr>
        <p:spPr>
          <a:xfrm>
            <a:off x="838200" y="1244212"/>
            <a:ext cx="10515600" cy="4853240"/>
          </a:xfrm>
        </p:spPr>
        <p:txBody>
          <a:bodyPr>
            <a:normAutofit/>
          </a:bodyPr>
          <a:lstStyle/>
          <a:p>
            <a:r>
              <a:rPr lang="en-US" altLang="zh-CN" dirty="0"/>
              <a:t>Kerberos</a:t>
            </a:r>
            <a:r>
              <a:rPr lang="zh-CN" altLang="en-US" dirty="0"/>
              <a:t>版本</a:t>
            </a:r>
            <a:r>
              <a:rPr lang="en-US" altLang="zh-CN" dirty="0"/>
              <a:t>4</a:t>
            </a:r>
            <a:r>
              <a:rPr lang="zh-CN" altLang="en-US" dirty="0"/>
              <a:t>消息交换</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grpSp>
        <p:nvGrpSpPr>
          <p:cNvPr id="9" name="组合 8"/>
          <p:cNvGrpSpPr/>
          <p:nvPr/>
        </p:nvGrpSpPr>
        <p:grpSpPr>
          <a:xfrm>
            <a:off x="2181225" y="1777999"/>
            <a:ext cx="7829550" cy="4714875"/>
            <a:chOff x="1736870" y="1924299"/>
            <a:chExt cx="7829550" cy="4714875"/>
          </a:xfrm>
        </p:grpSpPr>
        <p:pic>
          <p:nvPicPr>
            <p:cNvPr id="6" name="图片 5"/>
            <p:cNvPicPr>
              <a:picLocks noChangeAspect="1"/>
            </p:cNvPicPr>
            <p:nvPr/>
          </p:nvPicPr>
          <p:blipFill>
            <a:blip r:embed="rId2"/>
            <a:stretch>
              <a:fillRect/>
            </a:stretch>
          </p:blipFill>
          <p:spPr>
            <a:xfrm>
              <a:off x="1736870" y="1924299"/>
              <a:ext cx="7820025" cy="1209675"/>
            </a:xfrm>
            <a:prstGeom prst="rect">
              <a:avLst/>
            </a:prstGeom>
          </p:spPr>
        </p:pic>
        <p:pic>
          <p:nvPicPr>
            <p:cNvPr id="7" name="图片 6"/>
            <p:cNvPicPr>
              <a:picLocks noChangeAspect="1"/>
            </p:cNvPicPr>
            <p:nvPr/>
          </p:nvPicPr>
          <p:blipFill>
            <a:blip r:embed="rId3"/>
            <a:stretch>
              <a:fillRect/>
            </a:stretch>
          </p:blipFill>
          <p:spPr>
            <a:xfrm>
              <a:off x="1765445" y="3133974"/>
              <a:ext cx="7791450" cy="1847850"/>
            </a:xfrm>
            <a:prstGeom prst="rect">
              <a:avLst/>
            </a:prstGeom>
          </p:spPr>
        </p:pic>
        <p:pic>
          <p:nvPicPr>
            <p:cNvPr id="8" name="图片 7"/>
            <p:cNvPicPr>
              <a:picLocks noChangeAspect="1"/>
            </p:cNvPicPr>
            <p:nvPr/>
          </p:nvPicPr>
          <p:blipFill>
            <a:blip r:embed="rId4"/>
            <a:stretch>
              <a:fillRect/>
            </a:stretch>
          </p:blipFill>
          <p:spPr>
            <a:xfrm>
              <a:off x="1765445" y="4981824"/>
              <a:ext cx="7800975" cy="1657350"/>
            </a:xfrm>
            <a:prstGeom prst="rect">
              <a:avLst/>
            </a:prstGeom>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7.3.1 </a:t>
            </a:r>
            <a:r>
              <a:rPr lang="zh-CN" altLang="zh-CN" dirty="0"/>
              <a:t> </a:t>
            </a:r>
            <a:r>
              <a:rPr lang="en-US" altLang="zh-CN" dirty="0"/>
              <a:t>Kerberos</a:t>
            </a:r>
            <a:r>
              <a:rPr lang="zh-CN" altLang="en-US" dirty="0"/>
              <a:t>版本</a:t>
            </a:r>
            <a:r>
              <a:rPr lang="en-US" altLang="zh-CN" dirty="0"/>
              <a:t>4</a:t>
            </a:r>
            <a:endParaRPr lang="zh-CN" altLang="en-US" dirty="0"/>
          </a:p>
        </p:txBody>
      </p:sp>
      <p:sp>
        <p:nvSpPr>
          <p:cNvPr id="3" name="内容占位符 2"/>
          <p:cNvSpPr>
            <a:spLocks noGrp="1"/>
          </p:cNvSpPr>
          <p:nvPr>
            <p:ph idx="1"/>
          </p:nvPr>
        </p:nvSpPr>
        <p:spPr>
          <a:xfrm>
            <a:off x="838200" y="1244211"/>
            <a:ext cx="10515600" cy="5382219"/>
          </a:xfrm>
        </p:spPr>
        <p:txBody>
          <a:bodyPr>
            <a:normAutofit fontScale="77500" lnSpcReduction="20000"/>
          </a:bodyPr>
          <a:lstStyle/>
          <a:p>
            <a:r>
              <a:rPr lang="en-US" altLang="zh-CN" dirty="0"/>
              <a:t>Kerberos</a:t>
            </a:r>
            <a:r>
              <a:rPr lang="zh-CN" altLang="en-US" dirty="0"/>
              <a:t>版本</a:t>
            </a:r>
            <a:r>
              <a:rPr lang="en-US" altLang="zh-CN" dirty="0"/>
              <a:t>4</a:t>
            </a:r>
            <a:r>
              <a:rPr lang="zh-CN" altLang="en-US" dirty="0"/>
              <a:t>消息交换</a:t>
            </a:r>
            <a:endParaRPr lang="en-US" altLang="zh-CN" dirty="0"/>
          </a:p>
          <a:p>
            <a:pPr lvl="1">
              <a:lnSpc>
                <a:spcPct val="140000"/>
              </a:lnSpc>
            </a:pPr>
            <a:r>
              <a:rPr lang="zh-CN" altLang="en-US" dirty="0"/>
              <a:t>用户明文方式向</a:t>
            </a:r>
            <a:r>
              <a:rPr lang="en-US" altLang="zh-CN" dirty="0"/>
              <a:t>AS</a:t>
            </a:r>
            <a:r>
              <a:rPr lang="zh-CN" altLang="en-US" dirty="0"/>
              <a:t>（认证服务器）发送请求，获得</a:t>
            </a:r>
            <a:r>
              <a:rPr lang="en-US" altLang="zh-CN" dirty="0"/>
              <a:t>TGS</a:t>
            </a:r>
            <a:r>
              <a:rPr lang="zh-CN" altLang="en-US" dirty="0"/>
              <a:t>许可证</a:t>
            </a:r>
          </a:p>
          <a:p>
            <a:pPr lvl="1">
              <a:lnSpc>
                <a:spcPct val="140000"/>
              </a:lnSpc>
            </a:pPr>
            <a:r>
              <a:rPr lang="en-US" altLang="zh-CN" dirty="0"/>
              <a:t>AS</a:t>
            </a:r>
            <a:r>
              <a:rPr lang="zh-CN" altLang="en-US" dirty="0"/>
              <a:t>返回证书，证书包含</a:t>
            </a:r>
            <a:r>
              <a:rPr lang="en-US" altLang="zh-CN" dirty="0"/>
              <a:t>TGS</a:t>
            </a:r>
            <a:r>
              <a:rPr lang="zh-CN" altLang="en-US" dirty="0"/>
              <a:t>的许可证和用户与</a:t>
            </a:r>
            <a:r>
              <a:rPr lang="en-US" altLang="zh-CN" dirty="0"/>
              <a:t>TGS</a:t>
            </a:r>
            <a:r>
              <a:rPr lang="zh-CN" altLang="en-US" dirty="0"/>
              <a:t>间的会话密钥，会话密钥以用户密钥加密传输</a:t>
            </a:r>
          </a:p>
          <a:p>
            <a:pPr lvl="1">
              <a:lnSpc>
                <a:spcPct val="140000"/>
              </a:lnSpc>
            </a:pPr>
            <a:r>
              <a:rPr lang="zh-CN" altLang="en-US" dirty="0"/>
              <a:t>用户通过解密得到</a:t>
            </a:r>
            <a:r>
              <a:rPr lang="en-US" altLang="zh-CN" dirty="0"/>
              <a:t>TGS</a:t>
            </a:r>
            <a:r>
              <a:rPr lang="zh-CN" altLang="en-US" dirty="0"/>
              <a:t>许可证与用户与</a:t>
            </a:r>
            <a:r>
              <a:rPr lang="en-US" altLang="zh-CN" dirty="0"/>
              <a:t>TGS</a:t>
            </a:r>
            <a:r>
              <a:rPr lang="zh-CN" altLang="en-US" dirty="0"/>
              <a:t>会话密钥，用户使用</a:t>
            </a:r>
            <a:r>
              <a:rPr lang="en-US" altLang="zh-CN" dirty="0"/>
              <a:t>TGS</a:t>
            </a:r>
            <a:r>
              <a:rPr lang="zh-CN" altLang="en-US" dirty="0"/>
              <a:t>许可证与带时间戳的认证符（</a:t>
            </a:r>
            <a:r>
              <a:rPr lang="en-US" altLang="zh-CN" dirty="0"/>
              <a:t>Authenticator</a:t>
            </a:r>
            <a:r>
              <a:rPr lang="zh-CN" altLang="en-US" dirty="0"/>
              <a:t>） </a:t>
            </a:r>
            <a:r>
              <a:rPr lang="en-US" altLang="zh-CN" dirty="0"/>
              <a:t>(</a:t>
            </a:r>
            <a:r>
              <a:rPr lang="zh-CN" altLang="en-US" dirty="0"/>
              <a:t>认证符使用用户与</a:t>
            </a:r>
            <a:r>
              <a:rPr lang="en-US" altLang="zh-CN" dirty="0"/>
              <a:t>TGS</a:t>
            </a:r>
            <a:r>
              <a:rPr lang="zh-CN" altLang="en-US" dirty="0"/>
              <a:t>会话密钥加密</a:t>
            </a:r>
            <a:r>
              <a:rPr lang="en-US" altLang="zh-CN" dirty="0"/>
              <a:t>)</a:t>
            </a:r>
            <a:r>
              <a:rPr lang="zh-CN" altLang="en-US" dirty="0"/>
              <a:t>，拿这两个去访问</a:t>
            </a:r>
            <a:r>
              <a:rPr lang="en-US" altLang="zh-CN" dirty="0"/>
              <a:t>TGS</a:t>
            </a:r>
            <a:r>
              <a:rPr lang="zh-CN" altLang="en-US" dirty="0"/>
              <a:t>服务器申请应用服务器访问许可证</a:t>
            </a:r>
          </a:p>
          <a:p>
            <a:pPr lvl="1">
              <a:lnSpc>
                <a:spcPct val="140000"/>
              </a:lnSpc>
            </a:pPr>
            <a:r>
              <a:rPr lang="en-US" altLang="zh-CN" dirty="0"/>
              <a:t>TGS</a:t>
            </a:r>
            <a:r>
              <a:rPr lang="zh-CN" altLang="en-US" dirty="0"/>
              <a:t>服务器从许可证中取出会话密钥，解密认证符，验证认证符中时间的有效性，如果合法，则生成所要求的应用服务器许可证</a:t>
            </a:r>
            <a:r>
              <a:rPr lang="en-US" altLang="zh-CN" dirty="0"/>
              <a:t>(Ticket)</a:t>
            </a:r>
            <a:r>
              <a:rPr lang="zh-CN" altLang="en-US" dirty="0"/>
              <a:t>，许可证包含新产生的用户与应用服务器之间的会话密钥，传回给用户</a:t>
            </a:r>
          </a:p>
          <a:p>
            <a:pPr lvl="1">
              <a:lnSpc>
                <a:spcPct val="140000"/>
              </a:lnSpc>
            </a:pPr>
            <a:r>
              <a:rPr lang="zh-CN" altLang="en-US" dirty="0"/>
              <a:t>用户向应用服务器提交应用服务器的许可证和用户新产生的带时间戳的认证符</a:t>
            </a:r>
            <a:r>
              <a:rPr lang="en-US" altLang="zh-CN" dirty="0"/>
              <a:t>(</a:t>
            </a:r>
            <a:r>
              <a:rPr lang="zh-CN" altLang="en-US" dirty="0"/>
              <a:t>使用用户与应用服务器之间的会话密钥加密</a:t>
            </a:r>
            <a:r>
              <a:rPr lang="en-US" altLang="zh-CN" dirty="0"/>
              <a:t>)</a:t>
            </a:r>
          </a:p>
          <a:p>
            <a:pPr lvl="1">
              <a:lnSpc>
                <a:spcPct val="140000"/>
              </a:lnSpc>
            </a:pPr>
            <a:r>
              <a:rPr lang="zh-CN" altLang="en-US" dirty="0"/>
              <a:t>应用服务器从许可证中取出会话密钥，解密认证符，取出时间戳并检验有效性，然后向用户返回一个带时间戳的认证符，改认证符使用用户与应用服务器之间的会话密钥加密</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7.3.2 </a:t>
            </a:r>
            <a:r>
              <a:rPr lang="zh-CN" altLang="zh-CN" dirty="0"/>
              <a:t> </a:t>
            </a:r>
            <a:r>
              <a:rPr lang="en-US" altLang="zh-CN" dirty="0"/>
              <a:t>Kerberos</a:t>
            </a:r>
            <a:r>
              <a:rPr lang="zh-CN" altLang="en-US" dirty="0"/>
              <a:t>版本</a:t>
            </a:r>
            <a:r>
              <a:rPr lang="en-US" altLang="zh-CN" dirty="0"/>
              <a:t>5</a:t>
            </a:r>
            <a:endParaRPr lang="zh-CN" altLang="en-US" dirty="0"/>
          </a:p>
        </p:txBody>
      </p:sp>
      <p:sp>
        <p:nvSpPr>
          <p:cNvPr id="3" name="内容占位符 2"/>
          <p:cNvSpPr>
            <a:spLocks noGrp="1"/>
          </p:cNvSpPr>
          <p:nvPr>
            <p:ph idx="1"/>
          </p:nvPr>
        </p:nvSpPr>
        <p:spPr>
          <a:xfrm>
            <a:off x="838200" y="1510757"/>
            <a:ext cx="10515600" cy="4878167"/>
          </a:xfrm>
        </p:spPr>
        <p:txBody>
          <a:bodyPr>
            <a:normAutofit fontScale="92500" lnSpcReduction="10000"/>
          </a:bodyPr>
          <a:lstStyle/>
          <a:p>
            <a:r>
              <a:rPr lang="zh-CN" altLang="en-US" dirty="0"/>
              <a:t>与版本</a:t>
            </a:r>
            <a:r>
              <a:rPr lang="en-US" altLang="zh-CN" dirty="0"/>
              <a:t>4</a:t>
            </a:r>
            <a:r>
              <a:rPr lang="zh-CN" altLang="en-US" dirty="0"/>
              <a:t>的不同：</a:t>
            </a:r>
            <a:endParaRPr lang="en-US" altLang="zh-CN" dirty="0"/>
          </a:p>
          <a:p>
            <a:pPr lvl="1">
              <a:lnSpc>
                <a:spcPct val="120000"/>
              </a:lnSpc>
            </a:pPr>
            <a:r>
              <a:rPr lang="zh-CN" altLang="en-US" dirty="0"/>
              <a:t>（</a:t>
            </a:r>
            <a:r>
              <a:rPr lang="en-US" altLang="zh-CN" dirty="0"/>
              <a:t>1</a:t>
            </a:r>
            <a:r>
              <a:rPr lang="zh-CN" altLang="en-US" dirty="0"/>
              <a:t>）</a:t>
            </a:r>
            <a:r>
              <a:rPr lang="zh-CN" altLang="en-US" dirty="0">
                <a:solidFill>
                  <a:srgbClr val="C00000"/>
                </a:solidFill>
              </a:rPr>
              <a:t>加密系统依赖性</a:t>
            </a:r>
            <a:r>
              <a:rPr lang="zh-CN" altLang="en-US" dirty="0"/>
              <a:t>：</a:t>
            </a:r>
            <a:r>
              <a:rPr lang="en-US" altLang="zh-CN" dirty="0"/>
              <a:t>V4</a:t>
            </a:r>
            <a:r>
              <a:rPr lang="zh-CN" altLang="en-US" dirty="0"/>
              <a:t>使用</a:t>
            </a:r>
            <a:r>
              <a:rPr lang="en-US" altLang="zh-CN" dirty="0"/>
              <a:t>DES</a:t>
            </a:r>
            <a:r>
              <a:rPr lang="zh-CN" altLang="en-US" dirty="0"/>
              <a:t>，</a:t>
            </a:r>
            <a:r>
              <a:rPr lang="en-US" altLang="zh-CN" dirty="0"/>
              <a:t>V5</a:t>
            </a:r>
            <a:r>
              <a:rPr lang="zh-CN" altLang="en-US" dirty="0"/>
              <a:t>可以使用任何加密技术。</a:t>
            </a:r>
            <a:endParaRPr lang="en-US" altLang="zh-CN" dirty="0"/>
          </a:p>
          <a:p>
            <a:pPr lvl="1">
              <a:lnSpc>
                <a:spcPct val="120000"/>
              </a:lnSpc>
            </a:pPr>
            <a:r>
              <a:rPr lang="zh-CN" altLang="en-US" dirty="0"/>
              <a:t>（</a:t>
            </a:r>
            <a:r>
              <a:rPr lang="en-US" altLang="zh-CN" dirty="0"/>
              <a:t>2</a:t>
            </a:r>
            <a:r>
              <a:rPr lang="zh-CN" altLang="en-US" dirty="0"/>
              <a:t>）互联网</a:t>
            </a:r>
            <a:r>
              <a:rPr lang="zh-CN" altLang="en-US" dirty="0">
                <a:solidFill>
                  <a:srgbClr val="C00000"/>
                </a:solidFill>
              </a:rPr>
              <a:t>协议依赖性</a:t>
            </a:r>
            <a:r>
              <a:rPr lang="zh-CN" altLang="en-US" dirty="0"/>
              <a:t>：</a:t>
            </a:r>
            <a:r>
              <a:rPr lang="en-US" altLang="zh-CN" dirty="0"/>
              <a:t>V4</a:t>
            </a:r>
            <a:r>
              <a:rPr lang="zh-CN" altLang="en-US" dirty="0"/>
              <a:t>使用</a:t>
            </a:r>
            <a:r>
              <a:rPr lang="en-US" altLang="zh-CN" dirty="0"/>
              <a:t>IP</a:t>
            </a:r>
            <a:r>
              <a:rPr lang="zh-CN" altLang="en-US" dirty="0"/>
              <a:t>地址，</a:t>
            </a:r>
            <a:r>
              <a:rPr lang="en-US" altLang="zh-CN" dirty="0"/>
              <a:t>V5</a:t>
            </a:r>
            <a:r>
              <a:rPr lang="zh-CN" altLang="en-US" dirty="0"/>
              <a:t>任何类型的网络地址都可使用</a:t>
            </a:r>
            <a:endParaRPr lang="en-US" altLang="zh-CN" dirty="0"/>
          </a:p>
          <a:p>
            <a:pPr lvl="1">
              <a:lnSpc>
                <a:spcPct val="120000"/>
              </a:lnSpc>
            </a:pPr>
            <a:r>
              <a:rPr lang="zh-CN" altLang="en-US" dirty="0"/>
              <a:t>（</a:t>
            </a:r>
            <a:r>
              <a:rPr lang="en-US" altLang="zh-CN" dirty="0"/>
              <a:t>3</a:t>
            </a:r>
            <a:r>
              <a:rPr lang="zh-CN" altLang="en-US" dirty="0"/>
              <a:t>）</a:t>
            </a:r>
            <a:r>
              <a:rPr lang="zh-CN" altLang="en-US" dirty="0">
                <a:solidFill>
                  <a:srgbClr val="C00000"/>
                </a:solidFill>
              </a:rPr>
              <a:t>消息字节排序</a:t>
            </a:r>
            <a:r>
              <a:rPr lang="zh-CN" altLang="en-US" dirty="0"/>
              <a:t>：</a:t>
            </a:r>
            <a:r>
              <a:rPr lang="en-US" altLang="zh-CN" dirty="0"/>
              <a:t>V4</a:t>
            </a:r>
            <a:r>
              <a:rPr lang="zh-CN" altLang="en-US" dirty="0"/>
              <a:t>采用自己的字节排序，</a:t>
            </a:r>
            <a:r>
              <a:rPr lang="en-US" altLang="zh-CN" dirty="0"/>
              <a:t>V5</a:t>
            </a:r>
            <a:r>
              <a:rPr lang="zh-CN" altLang="en-US" dirty="0"/>
              <a:t>使用抽象语法表示法</a:t>
            </a:r>
            <a:r>
              <a:rPr lang="en-US" altLang="zh-CN" dirty="0"/>
              <a:t>1</a:t>
            </a:r>
            <a:r>
              <a:rPr lang="zh-CN" altLang="en-US" dirty="0"/>
              <a:t>（</a:t>
            </a:r>
            <a:r>
              <a:rPr lang="en-US" altLang="zh-CN" dirty="0"/>
              <a:t>ASN.1</a:t>
            </a:r>
            <a:r>
              <a:rPr lang="zh-CN" altLang="en-US" dirty="0"/>
              <a:t>）和基本编码规则（</a:t>
            </a:r>
            <a:r>
              <a:rPr lang="en-US" altLang="zh-CN" dirty="0"/>
              <a:t>BER</a:t>
            </a:r>
            <a:r>
              <a:rPr lang="zh-CN" altLang="en-US" dirty="0"/>
              <a:t>），提供清晰的字节排序</a:t>
            </a:r>
            <a:endParaRPr lang="en-US" altLang="zh-CN" dirty="0"/>
          </a:p>
          <a:p>
            <a:pPr lvl="1">
              <a:lnSpc>
                <a:spcPct val="120000"/>
              </a:lnSpc>
            </a:pPr>
            <a:r>
              <a:rPr lang="zh-CN" altLang="en-US" dirty="0"/>
              <a:t>（</a:t>
            </a:r>
            <a:r>
              <a:rPr lang="en-US" altLang="zh-CN" dirty="0"/>
              <a:t>4</a:t>
            </a:r>
            <a:r>
              <a:rPr lang="zh-CN" altLang="en-US" dirty="0"/>
              <a:t>）</a:t>
            </a:r>
            <a:r>
              <a:rPr lang="zh-CN" altLang="en-US" dirty="0">
                <a:solidFill>
                  <a:srgbClr val="C00000"/>
                </a:solidFill>
              </a:rPr>
              <a:t>票据有效期</a:t>
            </a:r>
            <a:r>
              <a:rPr lang="zh-CN" altLang="en-US" dirty="0"/>
              <a:t>：</a:t>
            </a:r>
            <a:r>
              <a:rPr lang="en-US" altLang="zh-CN" dirty="0"/>
              <a:t>V4</a:t>
            </a:r>
            <a:r>
              <a:rPr lang="zh-CN" altLang="en-US" dirty="0"/>
              <a:t>有效期值由一个</a:t>
            </a:r>
            <a:r>
              <a:rPr lang="en-US" altLang="zh-CN" dirty="0"/>
              <a:t>8bit</a:t>
            </a:r>
            <a:r>
              <a:rPr lang="zh-CN" altLang="en-US" dirty="0"/>
              <a:t>的值编码，</a:t>
            </a:r>
            <a:r>
              <a:rPr lang="en-US" altLang="zh-CN" dirty="0"/>
              <a:t>5</a:t>
            </a:r>
            <a:r>
              <a:rPr lang="zh-CN" altLang="en-US" dirty="0"/>
              <a:t>分钟为一个基本单位。最长</a:t>
            </a:r>
            <a:r>
              <a:rPr lang="en-US" altLang="zh-CN" dirty="0"/>
              <a:t>2</a:t>
            </a:r>
            <a:r>
              <a:rPr lang="en-US" altLang="zh-CN" baseline="30000" dirty="0"/>
              <a:t>8</a:t>
            </a:r>
            <a:r>
              <a:rPr lang="zh-CN" altLang="en-US" dirty="0"/>
              <a:t>ⅹ</a:t>
            </a:r>
            <a:r>
              <a:rPr lang="en-US" altLang="zh-CN" dirty="0"/>
              <a:t>5=1280</a:t>
            </a:r>
            <a:r>
              <a:rPr lang="zh-CN" altLang="en-US" dirty="0"/>
              <a:t>分钟。</a:t>
            </a:r>
            <a:r>
              <a:rPr lang="en-US" altLang="zh-CN" dirty="0"/>
              <a:t>V5</a:t>
            </a:r>
            <a:r>
              <a:rPr lang="zh-CN" altLang="en-US" dirty="0"/>
              <a:t>有明确的开始时间和结束时间。</a:t>
            </a:r>
            <a:endParaRPr lang="en-US" altLang="zh-CN" dirty="0"/>
          </a:p>
          <a:p>
            <a:pPr lvl="1">
              <a:lnSpc>
                <a:spcPct val="120000"/>
              </a:lnSpc>
            </a:pPr>
            <a:r>
              <a:rPr lang="zh-CN" altLang="en-US" dirty="0"/>
              <a:t>（</a:t>
            </a:r>
            <a:r>
              <a:rPr lang="en-US" altLang="zh-CN" dirty="0"/>
              <a:t>5</a:t>
            </a:r>
            <a:r>
              <a:rPr lang="zh-CN" altLang="en-US" dirty="0"/>
              <a:t>）</a:t>
            </a:r>
            <a:r>
              <a:rPr lang="zh-CN" altLang="en-US" dirty="0">
                <a:solidFill>
                  <a:srgbClr val="C00000"/>
                </a:solidFill>
              </a:rPr>
              <a:t>认证转发</a:t>
            </a:r>
            <a:r>
              <a:rPr lang="zh-CN" altLang="en-US" dirty="0"/>
              <a:t>：</a:t>
            </a:r>
            <a:r>
              <a:rPr lang="en-US" altLang="zh-CN" dirty="0"/>
              <a:t>V4</a:t>
            </a:r>
            <a:r>
              <a:rPr lang="zh-CN" altLang="en-US" dirty="0"/>
              <a:t>不允许证书转发给其他主机，</a:t>
            </a:r>
            <a:r>
              <a:rPr lang="en-US" altLang="zh-CN" dirty="0"/>
              <a:t>V5</a:t>
            </a:r>
            <a:r>
              <a:rPr lang="zh-CN" altLang="en-US" dirty="0"/>
              <a:t>提供这种功能，使得一个客户端访问一台服务器，并让那个服务器以客户端的名义访问另一台服务器。</a:t>
            </a:r>
            <a:endParaRPr lang="en-US" altLang="zh-CN" dirty="0"/>
          </a:p>
          <a:p>
            <a:pPr lvl="1">
              <a:lnSpc>
                <a:spcPct val="120000"/>
              </a:lnSpc>
            </a:pPr>
            <a:r>
              <a:rPr lang="zh-CN" altLang="en-US" dirty="0"/>
              <a:t>（</a:t>
            </a:r>
            <a:r>
              <a:rPr lang="en-US" altLang="zh-CN" dirty="0"/>
              <a:t>6</a:t>
            </a:r>
            <a:r>
              <a:rPr lang="zh-CN" altLang="en-US" dirty="0"/>
              <a:t>）</a:t>
            </a:r>
            <a:r>
              <a:rPr lang="zh-CN" altLang="en-US" dirty="0">
                <a:solidFill>
                  <a:srgbClr val="C00000"/>
                </a:solidFill>
              </a:rPr>
              <a:t>域间认证</a:t>
            </a:r>
            <a:r>
              <a:rPr lang="zh-CN" altLang="en-US" dirty="0"/>
              <a:t>：</a:t>
            </a:r>
            <a:r>
              <a:rPr lang="en-US" altLang="zh-CN" dirty="0"/>
              <a:t>V4</a:t>
            </a:r>
            <a:r>
              <a:rPr lang="zh-CN" altLang="en-US" dirty="0"/>
              <a:t>中</a:t>
            </a:r>
            <a:r>
              <a:rPr lang="en-US" altLang="zh-CN" dirty="0"/>
              <a:t>N</a:t>
            </a:r>
            <a:r>
              <a:rPr lang="zh-CN" altLang="en-US" dirty="0"/>
              <a:t>个域的互操作需要</a:t>
            </a:r>
            <a:r>
              <a:rPr lang="en-US" altLang="zh-CN" dirty="0"/>
              <a:t>N2</a:t>
            </a:r>
            <a:r>
              <a:rPr lang="zh-CN" altLang="en-US" dirty="0"/>
              <a:t>阶的</a:t>
            </a:r>
            <a:r>
              <a:rPr lang="en-US" altLang="zh-CN" dirty="0"/>
              <a:t>Kerberos-Kerberos</a:t>
            </a:r>
            <a:r>
              <a:rPr lang="zh-CN" altLang="en-US" dirty="0"/>
              <a:t>关系，</a:t>
            </a:r>
            <a:r>
              <a:rPr lang="en-US" altLang="zh-CN" dirty="0"/>
              <a:t>V5</a:t>
            </a:r>
            <a:r>
              <a:rPr lang="zh-CN" altLang="en-US" dirty="0"/>
              <a:t>支持一种需要较少关系的方法。</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7.3.2 </a:t>
            </a:r>
            <a:r>
              <a:rPr lang="zh-CN" altLang="zh-CN" dirty="0"/>
              <a:t> </a:t>
            </a:r>
            <a:r>
              <a:rPr lang="en-US" altLang="zh-CN" dirty="0"/>
              <a:t>Kerberos</a:t>
            </a:r>
            <a:r>
              <a:rPr lang="zh-CN" altLang="en-US" dirty="0"/>
              <a:t>版本</a:t>
            </a:r>
            <a:r>
              <a:rPr lang="en-US" altLang="zh-CN" dirty="0"/>
              <a:t>5</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t>视图解决版本</a:t>
            </a:r>
            <a:r>
              <a:rPr lang="en-US" altLang="zh-CN" dirty="0"/>
              <a:t>4</a:t>
            </a:r>
            <a:r>
              <a:rPr lang="zh-CN" altLang="en-US" dirty="0"/>
              <a:t>的技术缺陷：</a:t>
            </a:r>
            <a:endParaRPr lang="en-US" altLang="zh-CN" dirty="0"/>
          </a:p>
          <a:p>
            <a:pPr lvl="1">
              <a:lnSpc>
                <a:spcPct val="130000"/>
              </a:lnSpc>
            </a:pPr>
            <a:r>
              <a:rPr lang="zh-CN" altLang="en-US" dirty="0"/>
              <a:t>（</a:t>
            </a:r>
            <a:r>
              <a:rPr lang="en-US" altLang="zh-CN" dirty="0"/>
              <a:t>1</a:t>
            </a:r>
            <a:r>
              <a:rPr lang="zh-CN" altLang="en-US" dirty="0"/>
              <a:t>）</a:t>
            </a:r>
            <a:r>
              <a:rPr lang="zh-CN" altLang="en-US" dirty="0">
                <a:solidFill>
                  <a:srgbClr val="C00000"/>
                </a:solidFill>
              </a:rPr>
              <a:t>双重加密</a:t>
            </a:r>
            <a:r>
              <a:rPr lang="zh-CN" altLang="en-US" dirty="0"/>
              <a:t>：</a:t>
            </a:r>
            <a:r>
              <a:rPr lang="en-US" altLang="zh-CN" dirty="0"/>
              <a:t>V4</a:t>
            </a:r>
            <a:r>
              <a:rPr lang="zh-CN" altLang="en-US" dirty="0"/>
              <a:t>中消息（</a:t>
            </a:r>
            <a:r>
              <a:rPr lang="en-US" altLang="zh-CN" dirty="0"/>
              <a:t>2</a:t>
            </a:r>
            <a:r>
              <a:rPr lang="zh-CN" altLang="en-US" dirty="0"/>
              <a:t>）和（</a:t>
            </a:r>
            <a:r>
              <a:rPr lang="en-US" altLang="zh-CN" dirty="0"/>
              <a:t>4</a:t>
            </a:r>
            <a:r>
              <a:rPr lang="zh-CN" altLang="en-US" dirty="0"/>
              <a:t>），凭据经过双重加密，一次被目标服务器的秘密密钥加密，另一次是被客户端所知道的秘密密钥加密，第二次加密是不需要的。</a:t>
            </a:r>
            <a:endParaRPr lang="en-US" altLang="zh-CN" dirty="0"/>
          </a:p>
          <a:p>
            <a:pPr lvl="1">
              <a:lnSpc>
                <a:spcPct val="130000"/>
              </a:lnSpc>
            </a:pPr>
            <a:r>
              <a:rPr lang="zh-CN" altLang="en-US" dirty="0"/>
              <a:t>（</a:t>
            </a:r>
            <a:r>
              <a:rPr lang="en-US" altLang="zh-CN" dirty="0"/>
              <a:t>2</a:t>
            </a:r>
            <a:r>
              <a:rPr lang="zh-CN" altLang="en-US" dirty="0"/>
              <a:t>）</a:t>
            </a:r>
            <a:r>
              <a:rPr lang="en-US" altLang="zh-CN" dirty="0">
                <a:solidFill>
                  <a:srgbClr val="C00000"/>
                </a:solidFill>
              </a:rPr>
              <a:t>PCBC</a:t>
            </a:r>
            <a:r>
              <a:rPr lang="zh-CN" altLang="en-US" dirty="0">
                <a:solidFill>
                  <a:srgbClr val="C00000"/>
                </a:solidFill>
              </a:rPr>
              <a:t>加密</a:t>
            </a:r>
            <a:r>
              <a:rPr lang="zh-CN" altLang="en-US" dirty="0"/>
              <a:t>：</a:t>
            </a:r>
            <a:r>
              <a:rPr lang="en-US" altLang="zh-CN" dirty="0"/>
              <a:t>V4</a:t>
            </a:r>
            <a:r>
              <a:rPr lang="zh-CN" altLang="en-US" dirty="0"/>
              <a:t>中使用一种非标准</a:t>
            </a:r>
            <a:r>
              <a:rPr lang="en-US" altLang="zh-CN" dirty="0"/>
              <a:t>DES</a:t>
            </a:r>
            <a:r>
              <a:rPr lang="zh-CN" altLang="en-US" dirty="0"/>
              <a:t>加密模式，称为传播密码分组链接（</a:t>
            </a:r>
            <a:r>
              <a:rPr lang="en-US" altLang="zh-CN" dirty="0"/>
              <a:t>PCBC</a:t>
            </a:r>
            <a:r>
              <a:rPr lang="zh-CN" altLang="en-US" dirty="0"/>
              <a:t>），易受包含交换密码块的攻击方法攻击，使用</a:t>
            </a:r>
            <a:r>
              <a:rPr lang="en-US" altLang="zh-CN" dirty="0"/>
              <a:t>PCBC</a:t>
            </a:r>
            <a:r>
              <a:rPr lang="zh-CN" altLang="en-US" dirty="0"/>
              <a:t>模式是想提供</a:t>
            </a:r>
            <a:r>
              <a:rPr lang="zh-CN" altLang="en-US" dirty="0">
                <a:solidFill>
                  <a:srgbClr val="C00000"/>
                </a:solidFill>
              </a:rPr>
              <a:t>完整性</a:t>
            </a:r>
            <a:r>
              <a:rPr lang="zh-CN" altLang="en-US" dirty="0"/>
              <a:t>检查作为加密操作的一部分。</a:t>
            </a:r>
            <a:r>
              <a:rPr lang="en-US" altLang="zh-CN" dirty="0">
                <a:solidFill>
                  <a:srgbClr val="C00000"/>
                </a:solidFill>
              </a:rPr>
              <a:t>V5</a:t>
            </a:r>
            <a:r>
              <a:rPr lang="zh-CN" altLang="en-US" dirty="0">
                <a:solidFill>
                  <a:srgbClr val="C00000"/>
                </a:solidFill>
              </a:rPr>
              <a:t>提供明确的完整性机制</a:t>
            </a:r>
            <a:r>
              <a:rPr lang="zh-CN" altLang="en-US" dirty="0"/>
              <a:t>，加密前将一个校验和或散列码附加在消息中，使用</a:t>
            </a:r>
            <a:r>
              <a:rPr lang="en-US" altLang="zh-CN" dirty="0">
                <a:solidFill>
                  <a:srgbClr val="C00000"/>
                </a:solidFill>
              </a:rPr>
              <a:t>CBC</a:t>
            </a:r>
            <a:r>
              <a:rPr lang="zh-CN" altLang="en-US" dirty="0">
                <a:solidFill>
                  <a:srgbClr val="C00000"/>
                </a:solidFill>
              </a:rPr>
              <a:t>模式</a:t>
            </a:r>
            <a:r>
              <a:rPr lang="zh-CN" altLang="en-US" dirty="0"/>
              <a:t>加密。</a:t>
            </a:r>
            <a:endParaRPr lang="en-US" altLang="zh-CN" dirty="0"/>
          </a:p>
          <a:p>
            <a:pPr lvl="1">
              <a:lnSpc>
                <a:spcPct val="130000"/>
              </a:lnSpc>
            </a:pPr>
            <a:r>
              <a:rPr lang="zh-CN" altLang="en-US" dirty="0"/>
              <a:t>（</a:t>
            </a:r>
            <a:r>
              <a:rPr lang="en-US" altLang="zh-CN" dirty="0"/>
              <a:t>3</a:t>
            </a:r>
            <a:r>
              <a:rPr lang="zh-CN" altLang="en-US" dirty="0"/>
              <a:t>）</a:t>
            </a:r>
            <a:r>
              <a:rPr lang="zh-CN" altLang="en-US" dirty="0">
                <a:solidFill>
                  <a:srgbClr val="C00000"/>
                </a:solidFill>
              </a:rPr>
              <a:t>会话密钥</a:t>
            </a:r>
            <a:r>
              <a:rPr lang="zh-CN" altLang="en-US" dirty="0"/>
              <a:t>：</a:t>
            </a:r>
            <a:r>
              <a:rPr lang="en-US" altLang="zh-CN" dirty="0"/>
              <a:t>V4</a:t>
            </a:r>
            <a:r>
              <a:rPr lang="zh-CN" altLang="en-US" dirty="0"/>
              <a:t>中用来加密送给票据相关联的服务的认证符，并保护会话中传送的消息，存在</a:t>
            </a:r>
            <a:r>
              <a:rPr lang="zh-CN" altLang="en-US" dirty="0">
                <a:solidFill>
                  <a:srgbClr val="C00000"/>
                </a:solidFill>
              </a:rPr>
              <a:t>重放攻击</a:t>
            </a:r>
            <a:r>
              <a:rPr lang="zh-CN" altLang="en-US" dirty="0"/>
              <a:t>的风险。</a:t>
            </a:r>
            <a:r>
              <a:rPr lang="en-US" altLang="zh-CN" dirty="0"/>
              <a:t>V5</a:t>
            </a:r>
            <a:r>
              <a:rPr lang="zh-CN" altLang="en-US" dirty="0"/>
              <a:t>中可以协商得到</a:t>
            </a:r>
            <a:r>
              <a:rPr lang="zh-CN" altLang="en-US" dirty="0">
                <a:solidFill>
                  <a:srgbClr val="C00000"/>
                </a:solidFill>
              </a:rPr>
              <a:t>子会话密钥</a:t>
            </a:r>
            <a:r>
              <a:rPr lang="zh-CN" altLang="en-US" dirty="0"/>
              <a:t>，只在当前连接中使用。</a:t>
            </a:r>
            <a:endParaRPr lang="en-US" altLang="zh-CN" dirty="0"/>
          </a:p>
          <a:p>
            <a:pPr lvl="1">
              <a:lnSpc>
                <a:spcPct val="130000"/>
              </a:lnSpc>
            </a:pPr>
            <a:r>
              <a:rPr lang="zh-CN" altLang="en-US" dirty="0"/>
              <a:t>（</a:t>
            </a:r>
            <a:r>
              <a:rPr lang="en-US" altLang="zh-CN" dirty="0"/>
              <a:t>4</a:t>
            </a:r>
            <a:r>
              <a:rPr lang="zh-CN" altLang="en-US" dirty="0"/>
              <a:t>）</a:t>
            </a:r>
            <a:r>
              <a:rPr lang="zh-CN" altLang="en-US" dirty="0">
                <a:solidFill>
                  <a:srgbClr val="C00000"/>
                </a:solidFill>
              </a:rPr>
              <a:t>口令攻击</a:t>
            </a:r>
            <a:r>
              <a:rPr lang="zh-CN" altLang="en-US" dirty="0"/>
              <a:t>：两个版本都容易受口令攻击。</a:t>
            </a:r>
            <a:r>
              <a:rPr lang="en-US" altLang="zh-CN" dirty="0"/>
              <a:t>V5</a:t>
            </a:r>
            <a:r>
              <a:rPr lang="zh-CN" altLang="en-US" dirty="0"/>
              <a:t>提供一种</a:t>
            </a:r>
            <a:r>
              <a:rPr lang="zh-CN" altLang="en-US" dirty="0">
                <a:solidFill>
                  <a:srgbClr val="C00000"/>
                </a:solidFill>
              </a:rPr>
              <a:t>预认证</a:t>
            </a:r>
            <a:r>
              <a:rPr lang="zh-CN" altLang="en-US" dirty="0"/>
              <a:t>的机制，使得口令攻击更加困难，但不能杜绝。</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7.3.2 </a:t>
            </a:r>
            <a:r>
              <a:rPr lang="zh-CN" altLang="zh-CN" dirty="0"/>
              <a:t> </a:t>
            </a:r>
            <a:r>
              <a:rPr lang="en-US" altLang="zh-CN" dirty="0"/>
              <a:t>Kerberos</a:t>
            </a:r>
            <a:r>
              <a:rPr lang="zh-CN" altLang="en-US" dirty="0"/>
              <a:t>版本</a:t>
            </a:r>
            <a:r>
              <a:rPr lang="en-US" altLang="zh-CN" dirty="0"/>
              <a:t>5</a:t>
            </a:r>
            <a:endParaRPr lang="zh-CN" altLang="en-US" dirty="0"/>
          </a:p>
        </p:txBody>
      </p:sp>
      <p:sp>
        <p:nvSpPr>
          <p:cNvPr id="3" name="内容占位符 2"/>
          <p:cNvSpPr>
            <a:spLocks noGrp="1"/>
          </p:cNvSpPr>
          <p:nvPr>
            <p:ph idx="1"/>
          </p:nvPr>
        </p:nvSpPr>
        <p:spPr>
          <a:xfrm>
            <a:off x="838200" y="1244212"/>
            <a:ext cx="10515600" cy="4853240"/>
          </a:xfrm>
        </p:spPr>
        <p:txBody>
          <a:bodyPr>
            <a:normAutofit/>
          </a:bodyPr>
          <a:lstStyle/>
          <a:p>
            <a:r>
              <a:rPr lang="zh-CN" altLang="en-US" dirty="0"/>
              <a:t>版本</a:t>
            </a:r>
            <a:r>
              <a:rPr lang="en-US" altLang="zh-CN" dirty="0"/>
              <a:t>5</a:t>
            </a:r>
            <a:r>
              <a:rPr lang="zh-CN" altLang="en-US" dirty="0"/>
              <a:t>的认证对话</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grpSp>
        <p:nvGrpSpPr>
          <p:cNvPr id="8" name="组合 7"/>
          <p:cNvGrpSpPr/>
          <p:nvPr/>
        </p:nvGrpSpPr>
        <p:grpSpPr>
          <a:xfrm>
            <a:off x="2214562" y="1828799"/>
            <a:ext cx="7762876" cy="4787259"/>
            <a:chOff x="2209799" y="2000250"/>
            <a:chExt cx="7762876" cy="5233976"/>
          </a:xfrm>
        </p:grpSpPr>
        <p:pic>
          <p:nvPicPr>
            <p:cNvPr id="5" name="图片 4"/>
            <p:cNvPicPr>
              <a:picLocks noChangeAspect="1"/>
            </p:cNvPicPr>
            <p:nvPr/>
          </p:nvPicPr>
          <p:blipFill>
            <a:blip r:embed="rId2"/>
            <a:stretch>
              <a:fillRect/>
            </a:stretch>
          </p:blipFill>
          <p:spPr>
            <a:xfrm>
              <a:off x="2219325" y="2000250"/>
              <a:ext cx="7753350" cy="1428750"/>
            </a:xfrm>
            <a:prstGeom prst="rect">
              <a:avLst/>
            </a:prstGeom>
          </p:spPr>
        </p:pic>
        <p:pic>
          <p:nvPicPr>
            <p:cNvPr id="6" name="图片 5"/>
            <p:cNvPicPr>
              <a:picLocks noChangeAspect="1"/>
            </p:cNvPicPr>
            <p:nvPr/>
          </p:nvPicPr>
          <p:blipFill>
            <a:blip r:embed="rId3"/>
            <a:stretch>
              <a:fillRect/>
            </a:stretch>
          </p:blipFill>
          <p:spPr>
            <a:xfrm>
              <a:off x="2209800" y="3429000"/>
              <a:ext cx="7762875" cy="2066925"/>
            </a:xfrm>
            <a:prstGeom prst="rect">
              <a:avLst/>
            </a:prstGeom>
          </p:spPr>
        </p:pic>
        <p:pic>
          <p:nvPicPr>
            <p:cNvPr id="7" name="图片 6"/>
            <p:cNvPicPr>
              <a:picLocks noChangeAspect="1"/>
            </p:cNvPicPr>
            <p:nvPr/>
          </p:nvPicPr>
          <p:blipFill>
            <a:blip r:embed="rId4"/>
            <a:stretch>
              <a:fillRect/>
            </a:stretch>
          </p:blipFill>
          <p:spPr>
            <a:xfrm>
              <a:off x="2209799" y="5500676"/>
              <a:ext cx="7762875" cy="1733550"/>
            </a:xfrm>
            <a:prstGeom prst="rect">
              <a:avLst/>
            </a:prstGeom>
          </p:spPr>
        </p:pic>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328057" y="371620"/>
            <a:ext cx="7543800" cy="858837"/>
          </a:xfrm>
        </p:spPr>
        <p:txBody>
          <a:bodyPr/>
          <a:lstStyle/>
          <a:p>
            <a:pPr eaLnBrk="1" hangingPunct="1"/>
            <a:r>
              <a:rPr lang="en-US" altLang="zh-CN" sz="4400" dirty="0">
                <a:latin typeface="Times New Roman" panose="02020603050405020304" pitchFamily="18" charset="0"/>
              </a:rPr>
              <a:t>Kerberos </a:t>
            </a:r>
            <a:r>
              <a:rPr lang="zh-CN" altLang="en-US" sz="4400" dirty="0">
                <a:latin typeface="Times New Roman" panose="02020603050405020304" pitchFamily="18" charset="0"/>
              </a:rPr>
              <a:t>领域</a:t>
            </a:r>
            <a:r>
              <a:rPr lang="en-US" altLang="zh-CN" sz="4400" dirty="0">
                <a:latin typeface="Times New Roman" panose="02020603050405020304" pitchFamily="18" charset="0"/>
              </a:rPr>
              <a:t>(realm)</a:t>
            </a:r>
          </a:p>
        </p:txBody>
      </p:sp>
      <p:sp>
        <p:nvSpPr>
          <p:cNvPr id="81923" name="Rectangle 3"/>
          <p:cNvSpPr>
            <a:spLocks noGrp="1" noChangeArrowheads="1"/>
          </p:cNvSpPr>
          <p:nvPr>
            <p:ph idx="1"/>
          </p:nvPr>
        </p:nvSpPr>
        <p:spPr>
          <a:xfrm>
            <a:off x="866900" y="1389412"/>
            <a:ext cx="10379032" cy="4750131"/>
          </a:xfrm>
        </p:spPr>
        <p:txBody>
          <a:bodyPr>
            <a:normAutofit fontScale="92500"/>
          </a:bodyPr>
          <a:lstStyle/>
          <a:p>
            <a:pPr eaLnBrk="1" hangingPunct="1">
              <a:lnSpc>
                <a:spcPct val="150000"/>
              </a:lnSpc>
            </a:pPr>
            <a:r>
              <a:rPr lang="zh-CN" altLang="en-US" dirty="0">
                <a:latin typeface="Times New Roman" panose="02020603050405020304" pitchFamily="18" charset="0"/>
              </a:rPr>
              <a:t>构成：一个完整的 </a:t>
            </a:r>
            <a:r>
              <a:rPr lang="en-US" altLang="zh-CN" dirty="0">
                <a:latin typeface="Times New Roman" panose="02020603050405020304" pitchFamily="18" charset="0"/>
              </a:rPr>
              <a:t>Kerberos </a:t>
            </a:r>
            <a:r>
              <a:rPr lang="zh-CN" altLang="en-US" dirty="0">
                <a:latin typeface="Times New Roman" panose="02020603050405020304" pitchFamily="18" charset="0"/>
              </a:rPr>
              <a:t>环境包括一个 </a:t>
            </a:r>
            <a:r>
              <a:rPr lang="en-US" altLang="zh-CN" dirty="0">
                <a:latin typeface="Times New Roman" panose="02020603050405020304" pitchFamily="18" charset="0"/>
              </a:rPr>
              <a:t>Kerberos </a:t>
            </a:r>
            <a:r>
              <a:rPr lang="zh-CN" altLang="en-US" dirty="0">
                <a:latin typeface="Times New Roman" panose="02020603050405020304" pitchFamily="18" charset="0"/>
              </a:rPr>
              <a:t>服务器，一组工作站和一组应用服务器。</a:t>
            </a:r>
          </a:p>
          <a:p>
            <a:pPr eaLnBrk="1" hangingPunct="1">
              <a:lnSpc>
                <a:spcPct val="150000"/>
              </a:lnSpc>
            </a:pPr>
            <a:r>
              <a:rPr lang="en-US" altLang="zh-CN" dirty="0">
                <a:latin typeface="Times New Roman" panose="02020603050405020304" pitchFamily="18" charset="0"/>
              </a:rPr>
              <a:t>Kerberos </a:t>
            </a:r>
            <a:r>
              <a:rPr lang="zh-CN" altLang="en-US" dirty="0">
                <a:latin typeface="Times New Roman" panose="02020603050405020304" pitchFamily="18" charset="0"/>
              </a:rPr>
              <a:t>服务器数据库中拥有所有参与用户的 </a:t>
            </a:r>
            <a:r>
              <a:rPr lang="en-US" altLang="zh-CN" dirty="0">
                <a:latin typeface="Times New Roman" panose="02020603050405020304" pitchFamily="18" charset="0"/>
              </a:rPr>
              <a:t>UID </a:t>
            </a:r>
            <a:r>
              <a:rPr lang="zh-CN" altLang="en-US" dirty="0">
                <a:latin typeface="Times New Roman" panose="02020603050405020304" pitchFamily="18" charset="0"/>
              </a:rPr>
              <a:t>和口令散列表。</a:t>
            </a:r>
          </a:p>
          <a:p>
            <a:pPr eaLnBrk="1" hangingPunct="1">
              <a:lnSpc>
                <a:spcPct val="150000"/>
              </a:lnSpc>
            </a:pPr>
            <a:r>
              <a:rPr lang="en-US" altLang="zh-CN" dirty="0">
                <a:latin typeface="Times New Roman" panose="02020603050405020304" pitchFamily="18" charset="0"/>
              </a:rPr>
              <a:t>Kerberos</a:t>
            </a:r>
            <a:r>
              <a:rPr lang="zh-CN" altLang="en-US" dirty="0">
                <a:latin typeface="Times New Roman" panose="02020603050405020304" pitchFamily="18" charset="0"/>
              </a:rPr>
              <a:t>服务器必须与每一个服务器之间共享一个保密密钥。</a:t>
            </a:r>
          </a:p>
          <a:p>
            <a:pPr eaLnBrk="1" hangingPunct="1">
              <a:lnSpc>
                <a:spcPct val="150000"/>
              </a:lnSpc>
            </a:pPr>
            <a:r>
              <a:rPr lang="zh-CN" altLang="en-US" dirty="0">
                <a:latin typeface="Times New Roman" panose="02020603050405020304" pitchFamily="18" charset="0"/>
              </a:rPr>
              <a:t>所有用户均在 </a:t>
            </a:r>
            <a:r>
              <a:rPr lang="en-US" altLang="zh-CN" dirty="0">
                <a:latin typeface="Times New Roman" panose="02020603050405020304" pitchFamily="18" charset="0"/>
              </a:rPr>
              <a:t>Kerberos </a:t>
            </a:r>
            <a:r>
              <a:rPr lang="zh-CN" altLang="en-US" dirty="0">
                <a:latin typeface="Times New Roman" panose="02020603050405020304" pitchFamily="18" charset="0"/>
              </a:rPr>
              <a:t>服务器上注册。</a:t>
            </a:r>
          </a:p>
          <a:p>
            <a:pPr eaLnBrk="1" hangingPunct="1">
              <a:lnSpc>
                <a:spcPct val="150000"/>
              </a:lnSpc>
            </a:pPr>
            <a:r>
              <a:rPr lang="zh-CN" altLang="en-US" dirty="0">
                <a:latin typeface="Times New Roman" panose="02020603050405020304" pitchFamily="18" charset="0"/>
              </a:rPr>
              <a:t>所有服务器均在 </a:t>
            </a:r>
            <a:r>
              <a:rPr lang="en-US" altLang="zh-CN" dirty="0">
                <a:latin typeface="Times New Roman" panose="02020603050405020304" pitchFamily="18" charset="0"/>
              </a:rPr>
              <a:t>Kerberos </a:t>
            </a:r>
            <a:r>
              <a:rPr lang="zh-CN" altLang="en-US" dirty="0">
                <a:latin typeface="Times New Roman" panose="02020603050405020304" pitchFamily="18" charset="0"/>
              </a:rPr>
              <a:t>服务器上注册。</a:t>
            </a:r>
          </a:p>
          <a:p>
            <a:pPr eaLnBrk="1" hangingPunct="1">
              <a:lnSpc>
                <a:spcPct val="150000"/>
              </a:lnSpc>
            </a:pPr>
            <a:r>
              <a:rPr lang="zh-CN" altLang="en-US" dirty="0">
                <a:latin typeface="Times New Roman" panose="02020603050405020304" pitchFamily="18" charset="0"/>
              </a:rPr>
              <a:t>领域的划分是根据网络的管理边界来划定的。</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339933" y="282062"/>
            <a:ext cx="7543800" cy="930275"/>
          </a:xfrm>
        </p:spPr>
        <p:txBody>
          <a:bodyPr/>
          <a:lstStyle/>
          <a:p>
            <a:pPr eaLnBrk="1" hangingPunct="1"/>
            <a:r>
              <a:rPr lang="en-US" altLang="zh-CN" sz="4400" dirty="0">
                <a:latin typeface="Times New Roman" panose="02020603050405020304" pitchFamily="18" charset="0"/>
              </a:rPr>
              <a:t>Kerberos </a:t>
            </a:r>
            <a:r>
              <a:rPr lang="zh-CN" altLang="en-US" sz="4400" dirty="0">
                <a:latin typeface="Times New Roman" panose="02020603050405020304" pitchFamily="18" charset="0"/>
              </a:rPr>
              <a:t>领域间的互通</a:t>
            </a:r>
          </a:p>
        </p:txBody>
      </p:sp>
      <p:sp>
        <p:nvSpPr>
          <p:cNvPr id="82947" name="Rectangle 3"/>
          <p:cNvSpPr>
            <a:spLocks noGrp="1" noChangeArrowheads="1"/>
          </p:cNvSpPr>
          <p:nvPr>
            <p:ph idx="1"/>
          </p:nvPr>
        </p:nvSpPr>
        <p:spPr>
          <a:xfrm>
            <a:off x="807521" y="1448789"/>
            <a:ext cx="10426535" cy="4678879"/>
          </a:xfrm>
        </p:spPr>
        <p:txBody>
          <a:bodyPr/>
          <a:lstStyle/>
          <a:p>
            <a:pPr eaLnBrk="1" hangingPunct="1">
              <a:lnSpc>
                <a:spcPct val="150000"/>
              </a:lnSpc>
            </a:pPr>
            <a:r>
              <a:rPr lang="zh-CN" altLang="en-US" dirty="0">
                <a:latin typeface="Times New Roman" panose="02020603050405020304" pitchFamily="18" charset="0"/>
              </a:rPr>
              <a:t>跨领域的服务访问</a:t>
            </a:r>
          </a:p>
          <a:p>
            <a:pPr lvl="1" eaLnBrk="1" hangingPunct="1">
              <a:lnSpc>
                <a:spcPct val="150000"/>
              </a:lnSpc>
            </a:pPr>
            <a:r>
              <a:rPr lang="zh-CN" altLang="en-US" dirty="0">
                <a:latin typeface="Times New Roman" panose="02020603050405020304" pitchFamily="18" charset="0"/>
              </a:rPr>
              <a:t>一个用户可能需要访问另一个 </a:t>
            </a:r>
            <a:r>
              <a:rPr lang="en-US" altLang="zh-CN" dirty="0">
                <a:latin typeface="Times New Roman" panose="02020603050405020304" pitchFamily="18" charset="0"/>
              </a:rPr>
              <a:t>Kerberos </a:t>
            </a:r>
            <a:r>
              <a:rPr lang="zh-CN" altLang="en-US" dirty="0">
                <a:latin typeface="Times New Roman" panose="02020603050405020304" pitchFamily="18" charset="0"/>
              </a:rPr>
              <a:t>领域中应用服务器；</a:t>
            </a:r>
          </a:p>
          <a:p>
            <a:pPr lvl="1" eaLnBrk="1" hangingPunct="1">
              <a:lnSpc>
                <a:spcPct val="150000"/>
              </a:lnSpc>
            </a:pPr>
            <a:r>
              <a:rPr lang="zh-CN" altLang="en-US" dirty="0">
                <a:latin typeface="Times New Roman" panose="02020603050405020304" pitchFamily="18" charset="0"/>
              </a:rPr>
              <a:t>一个应用服务器也可以向其他领域中的客户提供网络服务。</a:t>
            </a:r>
          </a:p>
          <a:p>
            <a:pPr eaLnBrk="1" hangingPunct="1">
              <a:lnSpc>
                <a:spcPct val="150000"/>
              </a:lnSpc>
            </a:pPr>
            <a:r>
              <a:rPr lang="zh-CN" altLang="en-US" dirty="0">
                <a:latin typeface="Times New Roman" panose="02020603050405020304" pitchFamily="18" charset="0"/>
              </a:rPr>
              <a:t>领域间互通的前提</a:t>
            </a:r>
          </a:p>
          <a:p>
            <a:pPr lvl="1" eaLnBrk="1" hangingPunct="1">
              <a:lnSpc>
                <a:spcPct val="150000"/>
              </a:lnSpc>
            </a:pPr>
            <a:r>
              <a:rPr lang="zh-CN" altLang="en-US" sz="2200" dirty="0">
                <a:latin typeface="Times New Roman" panose="02020603050405020304" pitchFamily="18" charset="0"/>
              </a:rPr>
              <a:t> </a:t>
            </a:r>
            <a:r>
              <a:rPr lang="zh-CN" altLang="en-US" dirty="0">
                <a:latin typeface="Times New Roman" panose="02020603050405020304" pitchFamily="18" charset="0"/>
              </a:rPr>
              <a:t>支持不同领域之间进行用户身份鉴别的机制；</a:t>
            </a:r>
          </a:p>
          <a:p>
            <a:pPr lvl="1" eaLnBrk="1" hangingPunct="1">
              <a:lnSpc>
                <a:spcPct val="150000"/>
              </a:lnSpc>
            </a:pPr>
            <a:r>
              <a:rPr lang="zh-CN" altLang="en-US" dirty="0">
                <a:latin typeface="Times New Roman" panose="02020603050405020304" pitchFamily="18" charset="0"/>
              </a:rPr>
              <a:t> 互通领域中的 </a:t>
            </a:r>
            <a:r>
              <a:rPr lang="en-US" altLang="zh-CN" dirty="0">
                <a:latin typeface="Times New Roman" panose="02020603050405020304" pitchFamily="18" charset="0"/>
              </a:rPr>
              <a:t>Kerberos </a:t>
            </a:r>
            <a:r>
              <a:rPr lang="zh-CN" altLang="en-US" dirty="0">
                <a:latin typeface="Times New Roman" panose="02020603050405020304" pitchFamily="18" charset="0"/>
              </a:rPr>
              <a:t>服务器之间必须共享一个密钥；</a:t>
            </a:r>
          </a:p>
          <a:p>
            <a:pPr lvl="1" eaLnBrk="1" hangingPunct="1">
              <a:lnSpc>
                <a:spcPct val="150000"/>
              </a:lnSpc>
            </a:pPr>
            <a:r>
              <a:rPr lang="zh-CN" altLang="en-US" dirty="0">
                <a:latin typeface="Times New Roman" panose="02020603050405020304" pitchFamily="18" charset="0"/>
              </a:rPr>
              <a:t> 同时两个 </a:t>
            </a:r>
            <a:r>
              <a:rPr lang="en-US" altLang="zh-CN" dirty="0">
                <a:latin typeface="Times New Roman" panose="02020603050405020304" pitchFamily="18" charset="0"/>
              </a:rPr>
              <a:t>Kerberos </a:t>
            </a:r>
            <a:r>
              <a:rPr lang="zh-CN" altLang="en-US" dirty="0">
                <a:latin typeface="Times New Roman" panose="02020603050405020304" pitchFamily="18" charset="0"/>
              </a:rPr>
              <a:t>服务器也必须进行相互注册。</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sz="4400" dirty="0">
                <a:latin typeface="Times New Roman" panose="02020603050405020304" pitchFamily="18" charset="0"/>
              </a:rPr>
              <a:t>远程服务访问的认证过程</a:t>
            </a:r>
          </a:p>
        </p:txBody>
      </p:sp>
      <p:pic>
        <p:nvPicPr>
          <p:cNvPr id="83971" name="Picture 3" descr="9t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03169" y="1416632"/>
            <a:ext cx="9167750" cy="4783175"/>
          </a:xfrm>
          <a:noFill/>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t>7.1 </a:t>
            </a:r>
            <a:r>
              <a:rPr kumimoji="1" lang="zh-CN" altLang="zh-CN" sz="3000" dirty="0"/>
              <a:t>远程用户认证原理</a:t>
            </a:r>
            <a:endParaRPr kumimoji="1" lang="en-US" altLang="zh-CN" sz="3000" dirty="0"/>
          </a:p>
          <a:p>
            <a:pPr>
              <a:lnSpc>
                <a:spcPct val="130000"/>
              </a:lnSpc>
              <a:buNone/>
            </a:pPr>
            <a:r>
              <a:rPr kumimoji="1" lang="en-US" altLang="zh-CN" sz="3000" dirty="0"/>
              <a:t>7.2 </a:t>
            </a:r>
            <a:r>
              <a:rPr kumimoji="1" lang="zh-CN" altLang="zh-CN" sz="3000" dirty="0"/>
              <a:t>基于对称加密的密钥分配</a:t>
            </a:r>
            <a:endParaRPr kumimoji="1" lang="en-US" altLang="zh-CN" sz="3000" dirty="0"/>
          </a:p>
          <a:p>
            <a:pPr>
              <a:lnSpc>
                <a:spcPct val="130000"/>
              </a:lnSpc>
              <a:buNone/>
            </a:pPr>
            <a:r>
              <a:rPr kumimoji="1" lang="en-US" altLang="zh-CN" sz="3000" dirty="0"/>
              <a:t>7.3 Kerberos</a:t>
            </a:r>
          </a:p>
          <a:p>
            <a:pPr>
              <a:lnSpc>
                <a:spcPct val="150000"/>
              </a:lnSpc>
              <a:buNone/>
            </a:pPr>
            <a:r>
              <a:rPr kumimoji="1" lang="en-US" altLang="zh-CN" sz="3000" dirty="0">
                <a:solidFill>
                  <a:srgbClr val="C00000"/>
                </a:solidFill>
              </a:rPr>
              <a:t>7.4 </a:t>
            </a:r>
            <a:r>
              <a:rPr kumimoji="1" lang="zh-CN" altLang="zh-CN" sz="3000" dirty="0">
                <a:solidFill>
                  <a:srgbClr val="C00000"/>
                </a:solidFill>
              </a:rPr>
              <a:t>基于非对称加密的密钥分配</a:t>
            </a:r>
            <a:endParaRPr kumimoji="1" lang="en-US" altLang="zh-CN" sz="3000" dirty="0">
              <a:solidFill>
                <a:srgbClr val="C00000"/>
              </a:solidFill>
            </a:endParaRPr>
          </a:p>
          <a:p>
            <a:pPr>
              <a:lnSpc>
                <a:spcPct val="150000"/>
              </a:lnSpc>
              <a:buNone/>
            </a:pPr>
            <a:r>
              <a:rPr lang="en-US" altLang="zh-CN" sz="3000" dirty="0"/>
              <a:t>7.5 </a:t>
            </a:r>
            <a:r>
              <a:rPr kumimoji="1" lang="en-US" altLang="zh-CN" sz="3000" dirty="0"/>
              <a:t>X.509</a:t>
            </a:r>
            <a:r>
              <a:rPr kumimoji="1" lang="zh-CN" altLang="zh-CN" sz="3000" dirty="0"/>
              <a:t>证书</a:t>
            </a:r>
            <a:endParaRPr kumimoji="1" lang="en-US" altLang="zh-CN" sz="3000" dirty="0"/>
          </a:p>
          <a:p>
            <a:pPr>
              <a:lnSpc>
                <a:spcPct val="150000"/>
              </a:lnSpc>
              <a:buNone/>
            </a:pPr>
            <a:r>
              <a:rPr kumimoji="1" lang="en-US" altLang="zh-CN" sz="3000" dirty="0"/>
              <a:t>7.6 </a:t>
            </a:r>
            <a:r>
              <a:rPr kumimoji="1" lang="zh-CN" altLang="zh-CN" sz="3000" dirty="0"/>
              <a:t>公钥基础设施</a:t>
            </a:r>
            <a:endParaRPr kumimoji="1" lang="en-US" altLang="zh-CN" sz="3000" dirty="0"/>
          </a:p>
          <a:p>
            <a:pPr>
              <a:lnSpc>
                <a:spcPct val="150000"/>
              </a:lnSpc>
              <a:buNone/>
            </a:pPr>
            <a:r>
              <a:rPr kumimoji="1" lang="en-US" altLang="zh-CN" sz="3000" dirty="0"/>
              <a:t>7.7 </a:t>
            </a:r>
            <a:r>
              <a:rPr lang="zh-CN" altLang="zh-CN" dirty="0"/>
              <a:t>联合身份管理</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57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7077693" y="2892226"/>
            <a:ext cx="4122717" cy="2454748"/>
          </a:xfrm>
          <a:prstGeom prst="wedgeRectCallout">
            <a:avLst>
              <a:gd name="adj1" fmla="val -63080"/>
              <a:gd name="adj2" fmla="val -1398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公钥证书</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基于公钥密码的秘密密钥分发</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7.4.1 </a:t>
            </a:r>
            <a:r>
              <a:rPr kumimoji="1" lang="zh-CN" altLang="zh-CN" dirty="0">
                <a:solidFill>
                  <a:prstClr val="black"/>
                </a:solidFill>
              </a:rPr>
              <a:t>公钥证书</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a:t>公钥密码体制的密钥分配要求与对称密码体制的密钥分配要求有着本质的差别：当分配一个公钥时，不需要机密性。然而，</a:t>
            </a:r>
            <a:r>
              <a:rPr lang="zh-CN" altLang="en-US" dirty="0">
                <a:solidFill>
                  <a:srgbClr val="C00000"/>
                </a:solidFill>
              </a:rPr>
              <a:t>公钥的完整性</a:t>
            </a:r>
            <a:r>
              <a:rPr lang="zh-CN" altLang="en-US" dirty="0"/>
              <a:t>是必需的。</a:t>
            </a:r>
            <a:endParaRPr lang="en-US" altLang="zh-CN" dirty="0"/>
          </a:p>
          <a:p>
            <a:pPr>
              <a:lnSpc>
                <a:spcPct val="150000"/>
              </a:lnSpc>
            </a:pPr>
            <a:r>
              <a:rPr lang="zh-CN" altLang="en-US" dirty="0">
                <a:latin typeface="Helvetica" panose="020B0604020202020204" pitchFamily="34" charset="0"/>
              </a:rPr>
              <a:t>公开密钥的分配：</a:t>
            </a:r>
            <a:endParaRPr lang="en-US" altLang="zh-CN" dirty="0">
              <a:latin typeface="Helvetica" panose="020B0604020202020204" pitchFamily="34" charset="0"/>
            </a:endParaRPr>
          </a:p>
          <a:p>
            <a:pPr lvl="1">
              <a:lnSpc>
                <a:spcPct val="150000"/>
              </a:lnSpc>
              <a:spcBef>
                <a:spcPct val="0"/>
              </a:spcBef>
              <a:buClr>
                <a:srgbClr val="000066"/>
              </a:buClr>
              <a:buSzPct val="80000"/>
            </a:pPr>
            <a:r>
              <a:rPr lang="zh-CN" altLang="en-US" sz="2600" dirty="0"/>
              <a:t>公开宣布 （</a:t>
            </a:r>
            <a:r>
              <a:rPr lang="en-US" altLang="zh-CN" sz="2600" dirty="0"/>
              <a:t>Public announcement</a:t>
            </a:r>
            <a:r>
              <a:rPr lang="zh-CN" altLang="en-US" sz="2600" dirty="0"/>
              <a:t>）</a:t>
            </a:r>
            <a:endParaRPr lang="en-US" altLang="zh-CN" sz="2600" dirty="0"/>
          </a:p>
          <a:p>
            <a:pPr lvl="1">
              <a:lnSpc>
                <a:spcPct val="150000"/>
              </a:lnSpc>
              <a:spcBef>
                <a:spcPct val="0"/>
              </a:spcBef>
              <a:buClr>
                <a:srgbClr val="000066"/>
              </a:buClr>
              <a:buSzPct val="80000"/>
            </a:pPr>
            <a:r>
              <a:rPr lang="zh-CN" altLang="en-US" sz="2600" dirty="0"/>
              <a:t>公开可以得到的目录（</a:t>
            </a:r>
            <a:r>
              <a:rPr lang="en-US" altLang="zh-CN" sz="2600" dirty="0"/>
              <a:t>Publicly available directory</a:t>
            </a:r>
            <a:r>
              <a:rPr lang="zh-CN" altLang="en-US" sz="2600" dirty="0"/>
              <a:t>）</a:t>
            </a:r>
            <a:r>
              <a:rPr lang="en-US" altLang="zh-CN" sz="2600" dirty="0"/>
              <a:t> </a:t>
            </a:r>
            <a:endParaRPr lang="en-US" altLang="zh-CN" sz="2600" dirty="0">
              <a:sym typeface="Wingdings" panose="05000000000000000000" pitchFamily="2" charset="2"/>
            </a:endParaRPr>
          </a:p>
          <a:p>
            <a:pPr lvl="1">
              <a:lnSpc>
                <a:spcPct val="150000"/>
              </a:lnSpc>
              <a:spcBef>
                <a:spcPct val="0"/>
              </a:spcBef>
              <a:buClr>
                <a:srgbClr val="000066"/>
              </a:buClr>
              <a:buSzPct val="80000"/>
            </a:pPr>
            <a:r>
              <a:rPr lang="zh-CN" altLang="en-US" sz="2600" dirty="0">
                <a:sym typeface="Wingdings" panose="05000000000000000000" pitchFamily="2" charset="2"/>
              </a:rPr>
              <a:t>公开密钥管理机构（</a:t>
            </a:r>
            <a:r>
              <a:rPr lang="en-US" altLang="zh-CN" sz="2600" dirty="0">
                <a:sym typeface="Wingdings" panose="05000000000000000000" pitchFamily="2" charset="2"/>
              </a:rPr>
              <a:t>Public-key authority </a:t>
            </a:r>
            <a:r>
              <a:rPr lang="zh-CN" altLang="en-US" sz="2600" dirty="0">
                <a:sym typeface="Wingdings" panose="05000000000000000000" pitchFamily="2" charset="2"/>
              </a:rPr>
              <a:t>）</a:t>
            </a:r>
            <a:endParaRPr lang="en-US" altLang="zh-CN" sz="2600" dirty="0">
              <a:sym typeface="Wingdings" panose="05000000000000000000" pitchFamily="2" charset="2"/>
            </a:endParaRPr>
          </a:p>
          <a:p>
            <a:pPr lvl="1">
              <a:lnSpc>
                <a:spcPct val="150000"/>
              </a:lnSpc>
              <a:spcBef>
                <a:spcPct val="0"/>
              </a:spcBef>
              <a:buClr>
                <a:srgbClr val="000066"/>
              </a:buClr>
              <a:buSzPct val="80000"/>
            </a:pPr>
            <a:r>
              <a:rPr lang="zh-CN" altLang="en-US" sz="2600" dirty="0">
                <a:solidFill>
                  <a:srgbClr val="C00000"/>
                </a:solidFill>
                <a:sym typeface="Wingdings" panose="05000000000000000000" pitchFamily="2" charset="2"/>
              </a:rPr>
              <a:t>公钥证书</a:t>
            </a:r>
            <a:r>
              <a:rPr lang="zh-CN" altLang="en-US" sz="2600" dirty="0">
                <a:sym typeface="Wingdings" panose="05000000000000000000" pitchFamily="2" charset="2"/>
              </a:rPr>
              <a:t>（</a:t>
            </a:r>
            <a:r>
              <a:rPr lang="en-US" altLang="zh-CN" sz="2600" dirty="0">
                <a:sym typeface="Wingdings" panose="05000000000000000000" pitchFamily="2" charset="2"/>
              </a:rPr>
              <a:t>Public key certificates</a:t>
            </a:r>
            <a:r>
              <a:rPr lang="zh-CN" altLang="en-US" sz="2600" dirty="0">
                <a:sym typeface="Wingdings" panose="05000000000000000000" pitchFamily="2" charset="2"/>
              </a:rPr>
              <a:t>）</a:t>
            </a: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7.4.1 </a:t>
            </a:r>
            <a:r>
              <a:rPr kumimoji="1" lang="zh-CN" altLang="zh-CN" dirty="0">
                <a:solidFill>
                  <a:prstClr val="black"/>
                </a:solidFill>
              </a:rPr>
              <a:t>公钥证书</a:t>
            </a:r>
            <a:endParaRPr lang="zh-CN" altLang="en-US" dirty="0"/>
          </a:p>
        </p:txBody>
      </p:sp>
      <p:sp>
        <p:nvSpPr>
          <p:cNvPr id="3" name="内容占位符 2"/>
          <p:cNvSpPr>
            <a:spLocks noGrp="1"/>
          </p:cNvSpPr>
          <p:nvPr>
            <p:ph idx="1"/>
          </p:nvPr>
        </p:nvSpPr>
        <p:spPr>
          <a:xfrm>
            <a:off x="838200" y="1341912"/>
            <a:ext cx="10515600" cy="4952010"/>
          </a:xfrm>
        </p:spPr>
        <p:txBody>
          <a:bodyPr>
            <a:normAutofit lnSpcReduction="10000"/>
          </a:bodyPr>
          <a:lstStyle/>
          <a:p>
            <a:pPr>
              <a:lnSpc>
                <a:spcPct val="110000"/>
              </a:lnSpc>
            </a:pPr>
            <a:r>
              <a:rPr lang="zh-CN" altLang="en-US" dirty="0">
                <a:latin typeface="宋体" panose="02010600030101010101" pitchFamily="2" charset="-122"/>
              </a:rPr>
              <a:t>公开宣布 （</a:t>
            </a:r>
            <a:r>
              <a:rPr lang="en-US" altLang="zh-CN" dirty="0">
                <a:latin typeface="微软雅黑" panose="020B0503020204020204" pitchFamily="34" charset="-122"/>
                <a:ea typeface="微软雅黑" panose="020B0503020204020204" pitchFamily="34" charset="-122"/>
              </a:rPr>
              <a:t>Public announcement</a:t>
            </a:r>
            <a:r>
              <a:rPr lang="zh-CN" altLang="en-US" dirty="0">
                <a:latin typeface="宋体" panose="02010600030101010101" pitchFamily="2" charset="-122"/>
              </a:rPr>
              <a:t>）</a:t>
            </a:r>
            <a:endParaRPr lang="en-US" altLang="zh-CN" dirty="0">
              <a:latin typeface="宋体" panose="02010600030101010101" pitchFamily="2" charset="-122"/>
            </a:endParaRPr>
          </a:p>
          <a:p>
            <a:pPr lvl="1">
              <a:lnSpc>
                <a:spcPct val="110000"/>
              </a:lnSpc>
              <a:spcBef>
                <a:spcPct val="0"/>
              </a:spcBef>
              <a:buClr>
                <a:srgbClr val="000066"/>
              </a:buClr>
              <a:buSzPct val="90000"/>
            </a:pPr>
            <a:r>
              <a:rPr lang="zh-CN" altLang="en-US" dirty="0"/>
              <a:t>直接把公钥散发出去</a:t>
            </a:r>
          </a:p>
          <a:p>
            <a:pPr lvl="1">
              <a:lnSpc>
                <a:spcPct val="110000"/>
              </a:lnSpc>
              <a:spcBef>
                <a:spcPct val="0"/>
              </a:spcBef>
              <a:buClr>
                <a:srgbClr val="000066"/>
              </a:buClr>
              <a:buSzPct val="90000"/>
            </a:pPr>
            <a:r>
              <a:rPr lang="zh-CN" altLang="en-US" dirty="0"/>
              <a:t>使用</a:t>
            </a:r>
            <a:r>
              <a:rPr lang="en-US" altLang="zh-CN" dirty="0"/>
              <a:t>PGP</a:t>
            </a:r>
            <a:r>
              <a:rPr lang="zh-CN" altLang="en-US" dirty="0"/>
              <a:t>并且把公钥附上</a:t>
            </a:r>
            <a:endParaRPr lang="en-US" altLang="zh-CN" dirty="0"/>
          </a:p>
          <a:p>
            <a:pPr lvl="2">
              <a:lnSpc>
                <a:spcPct val="110000"/>
              </a:lnSpc>
              <a:spcBef>
                <a:spcPct val="0"/>
              </a:spcBef>
              <a:buClr>
                <a:srgbClr val="000066"/>
              </a:buClr>
              <a:buSzPct val="90000"/>
              <a:buFontTx/>
              <a:buChar char="•"/>
            </a:pPr>
            <a:r>
              <a:rPr lang="en-US" altLang="zh-CN" sz="2200" dirty="0"/>
              <a:t>PGP</a:t>
            </a:r>
            <a:r>
              <a:rPr lang="zh-CN" altLang="en-US" sz="2200" dirty="0"/>
              <a:t>（</a:t>
            </a:r>
            <a:r>
              <a:rPr lang="en-US" altLang="zh-CN" sz="2200" dirty="0"/>
              <a:t>Pretty Good Privacy</a:t>
            </a:r>
            <a:r>
              <a:rPr lang="zh-CN" altLang="en-US" sz="2200" dirty="0"/>
              <a:t>， “优良保密协议”）是一套用于消息加密、验证的应用程序</a:t>
            </a:r>
            <a:endParaRPr lang="zh-CN" altLang="en-US" sz="2200" dirty="0">
              <a:sym typeface="Wingdings" panose="05000000000000000000" pitchFamily="2" charset="2"/>
            </a:endParaRPr>
          </a:p>
          <a:p>
            <a:pPr lvl="1">
              <a:lnSpc>
                <a:spcPct val="110000"/>
              </a:lnSpc>
              <a:spcBef>
                <a:spcPct val="0"/>
              </a:spcBef>
              <a:buClr>
                <a:srgbClr val="000066"/>
              </a:buClr>
              <a:buSzPct val="90000"/>
            </a:pPr>
            <a:r>
              <a:rPr lang="zh-CN" altLang="en-US" dirty="0">
                <a:sym typeface="Wingdings" panose="05000000000000000000" pitchFamily="2" charset="2"/>
              </a:rPr>
              <a:t>能被假冒</a:t>
            </a:r>
            <a:endParaRPr lang="en-US" altLang="zh-CN" dirty="0">
              <a:ea typeface="楷体_GB2312" pitchFamily="49" charset="-122"/>
            </a:endParaRPr>
          </a:p>
          <a:p>
            <a:pPr>
              <a:lnSpc>
                <a:spcPct val="110000"/>
              </a:lnSpc>
            </a:pPr>
            <a:r>
              <a:rPr lang="zh-CN" altLang="en-US" dirty="0"/>
              <a:t>公开可以得到的目录（</a:t>
            </a:r>
            <a:r>
              <a:rPr lang="en-US" altLang="zh-CN" dirty="0">
                <a:ea typeface="楷体_GB2312" pitchFamily="49" charset="-122"/>
              </a:rPr>
              <a:t>Publicly available directory</a:t>
            </a:r>
            <a:r>
              <a:rPr lang="zh-CN" altLang="en-US" dirty="0"/>
              <a:t>）</a:t>
            </a:r>
            <a:endParaRPr lang="en-US" altLang="zh-CN" dirty="0"/>
          </a:p>
          <a:p>
            <a:pPr lvl="1">
              <a:lnSpc>
                <a:spcPct val="110000"/>
              </a:lnSpc>
              <a:spcBef>
                <a:spcPct val="0"/>
              </a:spcBef>
              <a:buClr>
                <a:srgbClr val="000066"/>
              </a:buClr>
              <a:buSzPct val="95000"/>
            </a:pPr>
            <a:r>
              <a:rPr lang="zh-CN" altLang="en-US" dirty="0"/>
              <a:t>需要可信任的中央授权机构</a:t>
            </a:r>
          </a:p>
          <a:p>
            <a:pPr lvl="2">
              <a:lnSpc>
                <a:spcPct val="110000"/>
              </a:lnSpc>
              <a:spcBef>
                <a:spcPct val="0"/>
              </a:spcBef>
              <a:buClr>
                <a:schemeClr val="folHlink"/>
              </a:buClr>
              <a:buSzPct val="80000"/>
            </a:pPr>
            <a:r>
              <a:rPr lang="zh-CN" altLang="en-US" sz="2200" dirty="0"/>
              <a:t>授权机构维护着动态</a:t>
            </a:r>
            <a:r>
              <a:rPr lang="en-US" altLang="zh-CN" sz="2200" dirty="0"/>
              <a:t>{</a:t>
            </a:r>
            <a:r>
              <a:rPr lang="en-US" altLang="zh-CN" sz="2200" dirty="0" err="1"/>
              <a:t>name,public</a:t>
            </a:r>
            <a:r>
              <a:rPr lang="en-US" altLang="zh-CN" sz="2200" dirty="0"/>
              <a:t> key}</a:t>
            </a:r>
            <a:r>
              <a:rPr lang="zh-CN" altLang="en-US" sz="2200" dirty="0"/>
              <a:t>列表</a:t>
            </a:r>
          </a:p>
          <a:p>
            <a:pPr lvl="2">
              <a:lnSpc>
                <a:spcPct val="110000"/>
              </a:lnSpc>
              <a:spcBef>
                <a:spcPct val="0"/>
              </a:spcBef>
              <a:buClr>
                <a:schemeClr val="folHlink"/>
              </a:buClr>
              <a:buSzPct val="80000"/>
            </a:pPr>
            <a:r>
              <a:rPr lang="zh-CN" altLang="en-US" sz="2200" dirty="0"/>
              <a:t>用户在授权机构注册其</a:t>
            </a:r>
            <a:r>
              <a:rPr lang="en-US" altLang="zh-CN" sz="2200" dirty="0"/>
              <a:t>public key(</a:t>
            </a:r>
            <a:r>
              <a:rPr lang="zh-CN" altLang="en-US" sz="2200" dirty="0"/>
              <a:t>安全通道</a:t>
            </a:r>
            <a:r>
              <a:rPr lang="en-US" altLang="zh-CN" sz="2200" dirty="0"/>
              <a:t>)</a:t>
            </a:r>
          </a:p>
          <a:p>
            <a:pPr lvl="2">
              <a:lnSpc>
                <a:spcPct val="110000"/>
              </a:lnSpc>
              <a:spcBef>
                <a:spcPct val="0"/>
              </a:spcBef>
              <a:buClr>
                <a:schemeClr val="folHlink"/>
              </a:buClr>
              <a:buSzPct val="80000"/>
            </a:pPr>
            <a:r>
              <a:rPr lang="zh-CN" altLang="en-US" sz="2200" dirty="0"/>
              <a:t>用户可以替换其</a:t>
            </a:r>
            <a:r>
              <a:rPr lang="en-US" altLang="zh-CN" sz="2200" dirty="0"/>
              <a:t>public key</a:t>
            </a:r>
          </a:p>
          <a:p>
            <a:pPr lvl="2">
              <a:lnSpc>
                <a:spcPct val="110000"/>
              </a:lnSpc>
              <a:spcBef>
                <a:spcPct val="0"/>
              </a:spcBef>
              <a:buClr>
                <a:schemeClr val="folHlink"/>
              </a:buClr>
              <a:buSzPct val="80000"/>
            </a:pPr>
            <a:r>
              <a:rPr lang="zh-CN" altLang="en-US" sz="2200" dirty="0"/>
              <a:t>授权机构定期发布或更新整个目录</a:t>
            </a:r>
          </a:p>
          <a:p>
            <a:pPr lvl="2">
              <a:lnSpc>
                <a:spcPct val="110000"/>
              </a:lnSpc>
              <a:spcBef>
                <a:spcPct val="0"/>
              </a:spcBef>
              <a:buClr>
                <a:schemeClr val="folHlink"/>
              </a:buClr>
              <a:buSzPct val="80000"/>
            </a:pPr>
            <a:r>
              <a:rPr lang="zh-CN" altLang="en-US" sz="2200" dirty="0"/>
              <a:t>用户可在网络上直接访问公共目录</a:t>
            </a:r>
            <a:r>
              <a:rPr lang="en-US" altLang="zh-CN" sz="2200" dirty="0"/>
              <a:t>(</a:t>
            </a:r>
            <a:r>
              <a:rPr lang="zh-CN" altLang="en-US" sz="2200" dirty="0"/>
              <a:t>安全通道</a:t>
            </a:r>
            <a:r>
              <a:rPr lang="en-US" altLang="zh-CN" sz="2200" dirty="0"/>
              <a:t>)</a:t>
            </a:r>
            <a:endParaRPr lang="en-US" altLang="zh-CN" sz="2200" dirty="0">
              <a:sym typeface="Wingdings" panose="05000000000000000000" pitchFamily="2" charset="2"/>
            </a:endParaRPr>
          </a:p>
          <a:p>
            <a:pPr>
              <a:lnSpc>
                <a:spcPct val="150000"/>
              </a:lnSpc>
            </a:pPr>
            <a:endParaRPr lang="en-US" altLang="zh-CN" dirty="0">
              <a:ea typeface="楷体_GB2312" pitchFamily="49" charset="-122"/>
            </a:endParaRPr>
          </a:p>
          <a:p>
            <a:pPr>
              <a:lnSpc>
                <a:spcPct val="150000"/>
              </a:lnSpc>
            </a:pP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7.4.1 </a:t>
            </a:r>
            <a:r>
              <a:rPr kumimoji="1" lang="zh-CN" altLang="zh-CN" dirty="0">
                <a:solidFill>
                  <a:prstClr val="black"/>
                </a:solidFill>
              </a:rPr>
              <a:t>公钥证书</a:t>
            </a:r>
            <a:endParaRPr lang="zh-CN" altLang="en-US" dirty="0"/>
          </a:p>
        </p:txBody>
      </p:sp>
      <p:sp>
        <p:nvSpPr>
          <p:cNvPr id="3" name="内容占位符 2"/>
          <p:cNvSpPr>
            <a:spLocks noGrp="1"/>
          </p:cNvSpPr>
          <p:nvPr>
            <p:ph idx="1"/>
          </p:nvPr>
        </p:nvSpPr>
        <p:spPr>
          <a:xfrm>
            <a:off x="838200" y="1341912"/>
            <a:ext cx="10515600" cy="4952010"/>
          </a:xfrm>
        </p:spPr>
        <p:txBody>
          <a:bodyPr>
            <a:normAutofit/>
          </a:bodyPr>
          <a:lstStyle/>
          <a:p>
            <a:pPr>
              <a:lnSpc>
                <a:spcPct val="150000"/>
              </a:lnSpc>
            </a:pPr>
            <a:r>
              <a:rPr lang="zh-CN" altLang="en-US" sz="2600" dirty="0"/>
              <a:t>公钥管理机构</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60</a:t>
            </a:fld>
            <a:endParaRPr kumimoji="1" lang="zh-CN" altLang="en-US" dirty="0"/>
          </a:p>
        </p:txBody>
      </p:sp>
      <p:pic>
        <p:nvPicPr>
          <p:cNvPr id="5" name="Picture 4" descr="D:\YOUNG\Course\CryptoCourse\Figures\f6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8854" y="2048222"/>
            <a:ext cx="86868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5815330" y="1025207"/>
            <a:ext cx="5080000" cy="583565"/>
          </a:xfrm>
          <a:prstGeom prst="rect">
            <a:avLst/>
          </a:prstGeom>
        </p:spPr>
        <p:txBody>
          <a:bodyPr>
            <a:spAutoFit/>
          </a:bodyPr>
          <a:lstStyle/>
          <a:p>
            <a:r>
              <a:rPr lang="en-US" altLang="zh-CN" sz="1600"/>
              <a:t>A</a:t>
            </a:r>
            <a:r>
              <a:rPr lang="zh-CN" altLang="en-US" sz="1600"/>
              <a:t>、</a:t>
            </a:r>
            <a:r>
              <a:rPr lang="en-US" altLang="zh-CN" sz="1600"/>
              <a:t>B</a:t>
            </a:r>
            <a:r>
              <a:rPr lang="zh-CN" altLang="en-US" sz="1600"/>
              <a:t>互不知公钥，先向权威机构查找并用时间戳防伪；拿到对方公钥后，互发随机数对暗号完成双向认证。</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7.4.1 </a:t>
            </a:r>
            <a:r>
              <a:rPr kumimoji="1" lang="zh-CN" altLang="zh-CN" dirty="0">
                <a:solidFill>
                  <a:prstClr val="black"/>
                </a:solidFill>
              </a:rPr>
              <a:t>公钥证书</a:t>
            </a:r>
            <a:endParaRPr lang="zh-CN" altLang="en-US" dirty="0"/>
          </a:p>
        </p:txBody>
      </p:sp>
      <p:sp>
        <p:nvSpPr>
          <p:cNvPr id="3" name="内容占位符 2"/>
          <p:cNvSpPr>
            <a:spLocks noGrp="1"/>
          </p:cNvSpPr>
          <p:nvPr>
            <p:ph idx="1"/>
          </p:nvPr>
        </p:nvSpPr>
        <p:spPr>
          <a:xfrm>
            <a:off x="838200" y="1341912"/>
            <a:ext cx="10515600" cy="4952010"/>
          </a:xfrm>
        </p:spPr>
        <p:txBody>
          <a:bodyPr>
            <a:normAutofit/>
          </a:bodyPr>
          <a:lstStyle/>
          <a:p>
            <a:pPr>
              <a:lnSpc>
                <a:spcPct val="150000"/>
              </a:lnSpc>
            </a:pPr>
            <a:r>
              <a:rPr lang="zh-CN" altLang="en-US" dirty="0">
                <a:sym typeface="Wingdings" panose="05000000000000000000" pitchFamily="2" charset="2"/>
              </a:rPr>
              <a:t>公钥证书（</a:t>
            </a:r>
            <a:r>
              <a:rPr lang="en-US" altLang="zh-CN" dirty="0">
                <a:ea typeface="楷体_GB2312" pitchFamily="49" charset="-122"/>
                <a:sym typeface="Wingdings" panose="05000000000000000000" pitchFamily="2" charset="2"/>
              </a:rPr>
              <a:t>Public key certificates</a:t>
            </a:r>
            <a:r>
              <a:rPr lang="zh-CN" altLang="en-US" dirty="0">
                <a:ea typeface="楷体_GB2312" pitchFamily="49" charset="-122"/>
                <a:sym typeface="Wingdings" panose="05000000000000000000" pitchFamily="2" charset="2"/>
              </a:rPr>
              <a:t>）</a:t>
            </a:r>
            <a:endParaRPr lang="en-US" altLang="zh-CN" dirty="0">
              <a:ea typeface="楷体_GB2312" pitchFamily="49" charset="-122"/>
              <a:sym typeface="Wingdings" panose="05000000000000000000" pitchFamily="2" charset="2"/>
            </a:endParaRPr>
          </a:p>
          <a:p>
            <a:pPr lvl="1">
              <a:lnSpc>
                <a:spcPct val="150000"/>
              </a:lnSpc>
              <a:spcBef>
                <a:spcPct val="0"/>
              </a:spcBef>
              <a:buClr>
                <a:srgbClr val="000066"/>
              </a:buClr>
              <a:buSzPct val="90000"/>
            </a:pPr>
            <a:r>
              <a:rPr lang="zh-CN" altLang="en-US" dirty="0"/>
              <a:t>任何人可以阅读证书以确定证书拥有者的姓名和公钥</a:t>
            </a:r>
            <a:endParaRPr lang="en-US" altLang="zh-CN" dirty="0"/>
          </a:p>
          <a:p>
            <a:pPr lvl="1">
              <a:lnSpc>
                <a:spcPct val="150000"/>
              </a:lnSpc>
              <a:spcBef>
                <a:spcPct val="0"/>
              </a:spcBef>
              <a:buClr>
                <a:srgbClr val="000066"/>
              </a:buClr>
              <a:buSzPct val="90000"/>
            </a:pPr>
            <a:r>
              <a:rPr lang="en-US" altLang="zh-CN" dirty="0"/>
              <a:t> </a:t>
            </a:r>
            <a:r>
              <a:rPr lang="zh-CN" altLang="en-US" dirty="0"/>
              <a:t>任何人可以验证证书是由授权机构发出而非伪造的</a:t>
            </a:r>
          </a:p>
          <a:p>
            <a:pPr lvl="1">
              <a:lnSpc>
                <a:spcPct val="150000"/>
              </a:lnSpc>
              <a:spcBef>
                <a:spcPct val="0"/>
              </a:spcBef>
              <a:buClr>
                <a:srgbClr val="000066"/>
              </a:buClr>
              <a:buSzPct val="90000"/>
            </a:pPr>
            <a:r>
              <a:rPr lang="zh-CN" altLang="en-US" dirty="0"/>
              <a:t> 只有授权机构才可以发行和更新证书</a:t>
            </a:r>
          </a:p>
          <a:p>
            <a:pPr lvl="1">
              <a:lnSpc>
                <a:spcPct val="150000"/>
              </a:lnSpc>
              <a:spcBef>
                <a:spcPct val="0"/>
              </a:spcBef>
              <a:buClr>
                <a:srgbClr val="000066"/>
              </a:buClr>
              <a:buSzPct val="90000"/>
            </a:pPr>
            <a:r>
              <a:rPr lang="zh-CN" altLang="en-US" dirty="0"/>
              <a:t> 任何人可以验证证书的时效性 </a:t>
            </a:r>
            <a:endParaRPr lang="en-US" altLang="zh-CN" dirty="0"/>
          </a:p>
          <a:p>
            <a:pPr lvl="1">
              <a:lnSpc>
                <a:spcPct val="150000"/>
              </a:lnSpc>
              <a:spcBef>
                <a:spcPct val="0"/>
              </a:spcBef>
              <a:buClr>
                <a:srgbClr val="000066"/>
              </a:buClr>
              <a:buSzPct val="90000"/>
            </a:pPr>
            <a:r>
              <a:rPr lang="en-US" altLang="zh-CN" dirty="0">
                <a:sym typeface="Wingdings" panose="05000000000000000000" pitchFamily="2" charset="2"/>
              </a:rPr>
              <a:t>	C</a:t>
            </a:r>
            <a:r>
              <a:rPr lang="en-US" altLang="zh-CN" baseline="-25000" dirty="0">
                <a:sym typeface="Wingdings" panose="05000000000000000000" pitchFamily="2" charset="2"/>
              </a:rPr>
              <a:t>A</a:t>
            </a:r>
            <a:r>
              <a:rPr lang="en-US" altLang="zh-CN" dirty="0">
                <a:sym typeface="Wingdings" panose="05000000000000000000" pitchFamily="2" charset="2"/>
              </a:rPr>
              <a:t>=</a:t>
            </a:r>
            <a:r>
              <a:rPr lang="en-US" altLang="zh-CN" dirty="0" err="1">
                <a:sym typeface="Wingdings" panose="05000000000000000000" pitchFamily="2" charset="2"/>
              </a:rPr>
              <a:t>E</a:t>
            </a:r>
            <a:r>
              <a:rPr lang="en-US" altLang="zh-CN" baseline="-25000" dirty="0" err="1">
                <a:sym typeface="Wingdings" panose="05000000000000000000" pitchFamily="2" charset="2"/>
              </a:rPr>
              <a:t>KRauth</a:t>
            </a:r>
            <a:r>
              <a:rPr lang="en-US" altLang="zh-CN" dirty="0">
                <a:sym typeface="Wingdings" panose="05000000000000000000" pitchFamily="2" charset="2"/>
              </a:rPr>
              <a:t>(</a:t>
            </a:r>
            <a:r>
              <a:rPr lang="en-US" altLang="zh-CN" dirty="0" err="1">
                <a:sym typeface="Wingdings" panose="05000000000000000000" pitchFamily="2" charset="2"/>
              </a:rPr>
              <a:t>T,ID</a:t>
            </a:r>
            <a:r>
              <a:rPr lang="en-US" altLang="zh-CN" baseline="-25000" dirty="0" err="1">
                <a:sym typeface="Wingdings" panose="05000000000000000000" pitchFamily="2" charset="2"/>
              </a:rPr>
              <a:t>A</a:t>
            </a:r>
            <a:r>
              <a:rPr lang="en-US" altLang="zh-CN" dirty="0" err="1">
                <a:sym typeface="Wingdings" panose="05000000000000000000" pitchFamily="2" charset="2"/>
              </a:rPr>
              <a:t>,KUa</a:t>
            </a:r>
            <a:r>
              <a:rPr lang="en-US" altLang="zh-CN" dirty="0">
                <a:sym typeface="Wingdings" panose="05000000000000000000" pitchFamily="2" charset="2"/>
              </a:rPr>
              <a:t>)</a:t>
            </a:r>
          </a:p>
          <a:p>
            <a:pPr lvl="1">
              <a:lnSpc>
                <a:spcPct val="150000"/>
              </a:lnSpc>
              <a:spcBef>
                <a:spcPct val="0"/>
              </a:spcBef>
              <a:buClr>
                <a:srgbClr val="000066"/>
              </a:buClr>
              <a:buSzPct val="90000"/>
            </a:pPr>
            <a:r>
              <a:rPr lang="en-US" altLang="zh-CN" dirty="0">
                <a:sym typeface="Wingdings" panose="05000000000000000000" pitchFamily="2" charset="2"/>
              </a:rPr>
              <a:t>         </a:t>
            </a:r>
            <a:r>
              <a:rPr lang="en-US" altLang="zh-CN" dirty="0" err="1">
                <a:sym typeface="Wingdings" panose="05000000000000000000" pitchFamily="2" charset="2"/>
              </a:rPr>
              <a:t>D</a:t>
            </a:r>
            <a:r>
              <a:rPr lang="en-US" altLang="zh-CN" baseline="-25000" dirty="0" err="1">
                <a:sym typeface="Wingdings" panose="05000000000000000000" pitchFamily="2" charset="2"/>
              </a:rPr>
              <a:t>KUauth</a:t>
            </a:r>
            <a:r>
              <a:rPr lang="en-US" altLang="zh-CN" dirty="0">
                <a:sym typeface="Wingdings" panose="05000000000000000000" pitchFamily="2" charset="2"/>
              </a:rPr>
              <a:t>[C</a:t>
            </a:r>
            <a:r>
              <a:rPr lang="en-US" altLang="zh-CN" baseline="-25000" dirty="0">
                <a:sym typeface="Wingdings" panose="05000000000000000000" pitchFamily="2" charset="2"/>
              </a:rPr>
              <a:t>A</a:t>
            </a:r>
            <a:r>
              <a:rPr lang="en-US" altLang="zh-CN" dirty="0">
                <a:sym typeface="Wingdings" panose="05000000000000000000" pitchFamily="2" charset="2"/>
              </a:rPr>
              <a:t>]= </a:t>
            </a:r>
            <a:r>
              <a:rPr lang="en-US" altLang="zh-CN" dirty="0" err="1">
                <a:sym typeface="Wingdings" panose="05000000000000000000" pitchFamily="2" charset="2"/>
              </a:rPr>
              <a:t>D</a:t>
            </a:r>
            <a:r>
              <a:rPr lang="en-US" altLang="zh-CN" baseline="-25000" dirty="0" err="1">
                <a:sym typeface="Wingdings" panose="05000000000000000000" pitchFamily="2" charset="2"/>
              </a:rPr>
              <a:t>KUauth</a:t>
            </a:r>
            <a:r>
              <a:rPr lang="en-US" altLang="zh-CN" baseline="-25000" dirty="0">
                <a:sym typeface="Wingdings" panose="05000000000000000000" pitchFamily="2" charset="2"/>
              </a:rPr>
              <a:t>[</a:t>
            </a:r>
            <a:r>
              <a:rPr lang="en-US" altLang="zh-CN" dirty="0" err="1">
                <a:sym typeface="Wingdings" panose="05000000000000000000" pitchFamily="2" charset="2"/>
              </a:rPr>
              <a:t>E</a:t>
            </a:r>
            <a:r>
              <a:rPr lang="en-US" altLang="zh-CN" baseline="-25000" dirty="0" err="1">
                <a:sym typeface="Wingdings" panose="05000000000000000000" pitchFamily="2" charset="2"/>
              </a:rPr>
              <a:t>KRauth</a:t>
            </a:r>
            <a:r>
              <a:rPr lang="en-US" altLang="zh-CN" dirty="0">
                <a:sym typeface="Wingdings" panose="05000000000000000000" pitchFamily="2" charset="2"/>
              </a:rPr>
              <a:t>(</a:t>
            </a:r>
            <a:r>
              <a:rPr lang="en-US" altLang="zh-CN" dirty="0" err="1">
                <a:sym typeface="Wingdings" panose="05000000000000000000" pitchFamily="2" charset="2"/>
              </a:rPr>
              <a:t>T,ID</a:t>
            </a:r>
            <a:r>
              <a:rPr lang="en-US" altLang="zh-CN" baseline="-25000" dirty="0" err="1">
                <a:sym typeface="Wingdings" panose="05000000000000000000" pitchFamily="2" charset="2"/>
              </a:rPr>
              <a:t>A</a:t>
            </a:r>
            <a:r>
              <a:rPr lang="en-US" altLang="zh-CN" dirty="0" err="1">
                <a:sym typeface="Wingdings" panose="05000000000000000000" pitchFamily="2" charset="2"/>
              </a:rPr>
              <a:t>,KUa</a:t>
            </a:r>
            <a:r>
              <a:rPr lang="en-US" altLang="zh-CN" dirty="0">
                <a:sym typeface="Wingdings" panose="05000000000000000000" pitchFamily="2" charset="2"/>
              </a:rPr>
              <a:t>)]</a:t>
            </a:r>
          </a:p>
          <a:p>
            <a:pPr lvl="1">
              <a:lnSpc>
                <a:spcPct val="150000"/>
              </a:lnSpc>
              <a:spcBef>
                <a:spcPct val="0"/>
              </a:spcBef>
              <a:buClr>
                <a:srgbClr val="000066"/>
              </a:buClr>
              <a:buSzPct val="90000"/>
              <a:buNone/>
            </a:pPr>
            <a:r>
              <a:rPr lang="en-US" altLang="zh-CN" dirty="0">
                <a:sym typeface="Wingdings" panose="05000000000000000000" pitchFamily="2" charset="2"/>
              </a:rPr>
              <a:t>              		    = (</a:t>
            </a:r>
            <a:r>
              <a:rPr lang="en-US" altLang="zh-CN" dirty="0" err="1">
                <a:sym typeface="Wingdings" panose="05000000000000000000" pitchFamily="2" charset="2"/>
              </a:rPr>
              <a:t>T,ID</a:t>
            </a:r>
            <a:r>
              <a:rPr lang="en-US" altLang="zh-CN" baseline="-25000" dirty="0" err="1">
                <a:sym typeface="Wingdings" panose="05000000000000000000" pitchFamily="2" charset="2"/>
              </a:rPr>
              <a:t>A</a:t>
            </a:r>
            <a:r>
              <a:rPr lang="en-US" altLang="zh-CN" dirty="0" err="1">
                <a:sym typeface="Wingdings" panose="05000000000000000000" pitchFamily="2" charset="2"/>
              </a:rPr>
              <a:t>,KUa</a:t>
            </a:r>
            <a:r>
              <a:rPr lang="en-US" altLang="zh-CN" dirty="0">
                <a:sym typeface="Wingdings" panose="05000000000000000000" pitchFamily="2" charset="2"/>
              </a:rPr>
              <a:t>)</a:t>
            </a:r>
          </a:p>
          <a:p>
            <a:pPr>
              <a:lnSpc>
                <a:spcPct val="110000"/>
              </a:lnSpc>
            </a:pPr>
            <a:endParaRPr lang="en-US" altLang="zh-CN" dirty="0">
              <a:ea typeface="楷体_GB2312" pitchFamily="49" charset="-122"/>
            </a:endParaRPr>
          </a:p>
          <a:p>
            <a:pPr>
              <a:lnSpc>
                <a:spcPct val="110000"/>
              </a:lnSpc>
            </a:pPr>
            <a:endParaRPr lang="en-US" altLang="zh-CN" dirty="0">
              <a:ea typeface="楷体_GB2312" pitchFamily="49" charset="-122"/>
            </a:endParaRPr>
          </a:p>
          <a:p>
            <a:pPr>
              <a:lnSpc>
                <a:spcPct val="150000"/>
              </a:lnSpc>
            </a:pP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7.4.1 </a:t>
            </a:r>
            <a:r>
              <a:rPr kumimoji="1" lang="zh-CN" altLang="zh-CN" dirty="0">
                <a:solidFill>
                  <a:prstClr val="black"/>
                </a:solidFill>
              </a:rPr>
              <a:t>公钥证书</a:t>
            </a:r>
            <a:endParaRPr lang="zh-CN" altLang="en-US" dirty="0"/>
          </a:p>
        </p:txBody>
      </p:sp>
      <p:sp>
        <p:nvSpPr>
          <p:cNvPr id="3" name="内容占位符 2"/>
          <p:cNvSpPr>
            <a:spLocks noGrp="1"/>
          </p:cNvSpPr>
          <p:nvPr>
            <p:ph idx="1"/>
          </p:nvPr>
        </p:nvSpPr>
        <p:spPr>
          <a:xfrm>
            <a:off x="838200" y="1341912"/>
            <a:ext cx="10515600" cy="4952010"/>
          </a:xfrm>
        </p:spPr>
        <p:txBody>
          <a:bodyPr>
            <a:normAutofit/>
          </a:bodyPr>
          <a:lstStyle/>
          <a:p>
            <a:pPr lvl="1">
              <a:spcBef>
                <a:spcPct val="0"/>
              </a:spcBef>
              <a:buClr>
                <a:srgbClr val="000066"/>
              </a:buClr>
              <a:buSzPct val="90000"/>
            </a:pPr>
            <a:r>
              <a:rPr lang="zh-CN" altLang="en-US" dirty="0"/>
              <a:t>泄漏私钥等价于丢失证书</a:t>
            </a:r>
          </a:p>
          <a:p>
            <a:pPr lvl="1">
              <a:spcBef>
                <a:spcPct val="0"/>
              </a:spcBef>
              <a:buClr>
                <a:srgbClr val="000066"/>
              </a:buClr>
              <a:buSzPct val="90000"/>
            </a:pPr>
            <a:r>
              <a:rPr lang="zh-CN" altLang="en-US" dirty="0"/>
              <a:t>证书的时间作为有效期</a:t>
            </a:r>
          </a:p>
          <a:p>
            <a:pPr>
              <a:lnSpc>
                <a:spcPct val="110000"/>
              </a:lnSpc>
            </a:pPr>
            <a:endParaRPr lang="en-US" altLang="zh-CN" dirty="0">
              <a:ea typeface="楷体_GB2312" pitchFamily="49" charset="-122"/>
            </a:endParaRPr>
          </a:p>
          <a:p>
            <a:pPr>
              <a:lnSpc>
                <a:spcPct val="110000"/>
              </a:lnSpc>
            </a:pPr>
            <a:endParaRPr lang="en-US" altLang="zh-CN" dirty="0">
              <a:ea typeface="楷体_GB2312" pitchFamily="49" charset="-122"/>
            </a:endParaRPr>
          </a:p>
          <a:p>
            <a:pPr>
              <a:lnSpc>
                <a:spcPct val="150000"/>
              </a:lnSpc>
            </a:pP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grpSp>
        <p:nvGrpSpPr>
          <p:cNvPr id="6" name="组合 5"/>
          <p:cNvGrpSpPr/>
          <p:nvPr/>
        </p:nvGrpSpPr>
        <p:grpSpPr>
          <a:xfrm>
            <a:off x="799546" y="2351089"/>
            <a:ext cx="10792024" cy="4144001"/>
            <a:chOff x="838200" y="1979321"/>
            <a:chExt cx="10792024" cy="4727549"/>
          </a:xfrm>
        </p:grpSpPr>
        <p:pic>
          <p:nvPicPr>
            <p:cNvPr id="7" name="Picture 2"/>
            <p:cNvPicPr>
              <a:picLocks noChangeAspect="1" noChangeArrowheads="1"/>
            </p:cNvPicPr>
            <p:nvPr/>
          </p:nvPicPr>
          <p:blipFill>
            <a:blip r:embed="rId2" cstate="print"/>
            <a:srcRect/>
            <a:stretch>
              <a:fillRect/>
            </a:stretch>
          </p:blipFill>
          <p:spPr bwMode="auto">
            <a:xfrm>
              <a:off x="1521024" y="2023540"/>
              <a:ext cx="10109200" cy="3752850"/>
            </a:xfrm>
            <a:prstGeom prst="rect">
              <a:avLst/>
            </a:prstGeom>
            <a:noFill/>
            <a:ln w="9525">
              <a:noFill/>
              <a:miter lim="800000"/>
              <a:headEnd/>
              <a:tailEnd/>
            </a:ln>
            <a:effectLst/>
          </p:spPr>
        </p:pic>
        <p:grpSp>
          <p:nvGrpSpPr>
            <p:cNvPr id="8" name="组合 11"/>
            <p:cNvGrpSpPr/>
            <p:nvPr/>
          </p:nvGrpSpPr>
          <p:grpSpPr>
            <a:xfrm>
              <a:off x="2385120" y="1979321"/>
              <a:ext cx="2729381" cy="1762847"/>
              <a:chOff x="1331640" y="1628800"/>
              <a:chExt cx="2047036" cy="1762847"/>
            </a:xfrm>
          </p:grpSpPr>
          <p:sp>
            <p:nvSpPr>
              <p:cNvPr id="17" name="椭圆 16"/>
              <p:cNvSpPr/>
              <p:nvPr/>
            </p:nvSpPr>
            <p:spPr>
              <a:xfrm rot="19319004">
                <a:off x="2979046" y="1879479"/>
                <a:ext cx="399630" cy="1512168"/>
              </a:xfrm>
              <a:prstGeom prst="ellipse">
                <a:avLst/>
              </a:prstGeom>
              <a:noFill/>
              <a:ln w="38100">
                <a:solidFill>
                  <a:srgbClr val="7030A0"/>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1331640" y="1628800"/>
                <a:ext cx="167738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获取自己公钥证书</a:t>
                </a:r>
              </a:p>
            </p:txBody>
          </p:sp>
        </p:grpSp>
        <p:grpSp>
          <p:nvGrpSpPr>
            <p:cNvPr id="9" name="组合 14"/>
            <p:cNvGrpSpPr/>
            <p:nvPr/>
          </p:nvGrpSpPr>
          <p:grpSpPr>
            <a:xfrm>
              <a:off x="8145760" y="2195344"/>
              <a:ext cx="2467733" cy="1649474"/>
              <a:chOff x="1374247" y="1988840"/>
              <a:chExt cx="1850800" cy="1649474"/>
            </a:xfrm>
          </p:grpSpPr>
          <p:sp>
            <p:nvSpPr>
              <p:cNvPr id="15" name="椭圆 14"/>
              <p:cNvSpPr/>
              <p:nvPr/>
            </p:nvSpPr>
            <p:spPr>
              <a:xfrm rot="2687344">
                <a:off x="1374247" y="2126146"/>
                <a:ext cx="399630" cy="1512168"/>
              </a:xfrm>
              <a:prstGeom prst="ellipse">
                <a:avLst/>
              </a:prstGeom>
              <a:noFill/>
              <a:ln w="38100">
                <a:solidFill>
                  <a:srgbClr val="7030A0"/>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文本框 15"/>
              <p:cNvSpPr txBox="1"/>
              <p:nvPr/>
            </p:nvSpPr>
            <p:spPr>
              <a:xfrm>
                <a:off x="1547664" y="1988840"/>
                <a:ext cx="167738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获取自己公钥证书</a:t>
                </a:r>
              </a:p>
            </p:txBody>
          </p:sp>
        </p:grpSp>
        <p:grpSp>
          <p:nvGrpSpPr>
            <p:cNvPr id="10" name="组合 17"/>
            <p:cNvGrpSpPr/>
            <p:nvPr/>
          </p:nvGrpSpPr>
          <p:grpSpPr>
            <a:xfrm>
              <a:off x="4858071" y="4342800"/>
              <a:ext cx="3518912" cy="2364070"/>
              <a:chOff x="267233" y="2060848"/>
              <a:chExt cx="2639184" cy="2364070"/>
            </a:xfrm>
          </p:grpSpPr>
          <p:sp>
            <p:nvSpPr>
              <p:cNvPr id="13" name="椭圆 12"/>
              <p:cNvSpPr/>
              <p:nvPr/>
            </p:nvSpPr>
            <p:spPr>
              <a:xfrm>
                <a:off x="1662279" y="2060848"/>
                <a:ext cx="399630" cy="1656184"/>
              </a:xfrm>
              <a:prstGeom prst="ellipse">
                <a:avLst/>
              </a:prstGeom>
              <a:noFill/>
              <a:ln w="38100">
                <a:solidFill>
                  <a:srgbClr val="7030A0"/>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文本框 13"/>
              <p:cNvSpPr txBox="1"/>
              <p:nvPr/>
            </p:nvSpPr>
            <p:spPr>
              <a:xfrm>
                <a:off x="267233" y="3717032"/>
                <a:ext cx="2639184"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交换证书</a:t>
                </a:r>
                <a:endParaRPr kumimoji="0" lang="en-US" altLang="zh-CN"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注意，这里没有认证对方身份</a:t>
                </a:r>
              </a:p>
            </p:txBody>
          </p:sp>
        </p:grpSp>
        <p:sp>
          <p:nvSpPr>
            <p:cNvPr id="12" name="TextBox 23"/>
            <p:cNvSpPr txBox="1"/>
            <p:nvPr/>
          </p:nvSpPr>
          <p:spPr>
            <a:xfrm>
              <a:off x="838200" y="5956240"/>
              <a:ext cx="326243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简单的获取证书和通信过程</a:t>
              </a:r>
            </a:p>
          </p:txBody>
        </p:sp>
      </p:grpSp>
      <p:sp>
        <p:nvSpPr>
          <p:cNvPr id="5" name="文本框 4"/>
          <p:cNvSpPr txBox="1"/>
          <p:nvPr/>
        </p:nvSpPr>
        <p:spPr>
          <a:xfrm>
            <a:off x="5590540" y="1344612"/>
            <a:ext cx="5080000" cy="829945"/>
          </a:xfrm>
          <a:prstGeom prst="rect">
            <a:avLst/>
          </a:prstGeom>
        </p:spPr>
        <p:txBody>
          <a:bodyPr>
            <a:spAutoFit/>
          </a:bodyPr>
          <a:lstStyle/>
          <a:p>
            <a:r>
              <a:rPr lang="zh-CN" altLang="en-US" sz="1600"/>
              <a:t>用户提前从</a:t>
            </a:r>
            <a:r>
              <a:rPr lang="en-US" altLang="zh-CN" sz="1600"/>
              <a:t>CA</a:t>
            </a:r>
            <a:r>
              <a:rPr lang="zh-CN" altLang="en-US" sz="1600"/>
              <a:t>领好“加密身份证”（证书）。通信时直接互换证书，用</a:t>
            </a:r>
            <a:r>
              <a:rPr lang="en-US" altLang="zh-CN" sz="1600"/>
              <a:t>CA</a:t>
            </a:r>
            <a:r>
              <a:rPr lang="zh-CN" altLang="en-US" sz="1600"/>
              <a:t>公钥解密即得对方真公钥，无需机构实时在线。</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7.4.1 </a:t>
            </a:r>
            <a:r>
              <a:rPr kumimoji="1" lang="zh-CN" altLang="zh-CN" dirty="0">
                <a:solidFill>
                  <a:prstClr val="black"/>
                </a:solidFill>
              </a:rPr>
              <a:t>公钥证书</a:t>
            </a:r>
            <a:endParaRPr lang="zh-CN" altLang="en-US" dirty="0"/>
          </a:p>
        </p:txBody>
      </p:sp>
      <p:sp>
        <p:nvSpPr>
          <p:cNvPr id="3" name="内容占位符 2"/>
          <p:cNvSpPr>
            <a:spLocks noGrp="1"/>
          </p:cNvSpPr>
          <p:nvPr>
            <p:ph idx="1"/>
          </p:nvPr>
        </p:nvSpPr>
        <p:spPr>
          <a:xfrm>
            <a:off x="838200" y="1341912"/>
            <a:ext cx="10515600" cy="4952010"/>
          </a:xfrm>
        </p:spPr>
        <p:txBody>
          <a:bodyPr>
            <a:normAutofit/>
          </a:bodyPr>
          <a:lstStyle/>
          <a:p>
            <a:pPr lvl="1">
              <a:spcBef>
                <a:spcPct val="0"/>
              </a:spcBef>
              <a:buClr>
                <a:srgbClr val="000066"/>
              </a:buClr>
              <a:buSzPct val="90000"/>
            </a:pPr>
            <a:r>
              <a:rPr lang="zh-CN" altLang="en-US" dirty="0"/>
              <a:t>一个双向身份认证的证书系统</a:t>
            </a:r>
            <a:endParaRPr lang="en-US" altLang="zh-CN" dirty="0">
              <a:ea typeface="楷体_GB2312" pitchFamily="49" charset="-122"/>
            </a:endParaRPr>
          </a:p>
          <a:p>
            <a:pPr>
              <a:lnSpc>
                <a:spcPct val="110000"/>
              </a:lnSpc>
            </a:pPr>
            <a:endParaRPr lang="en-US" altLang="zh-CN" dirty="0">
              <a:ea typeface="楷体_GB2312" pitchFamily="49" charset="-122"/>
            </a:endParaRPr>
          </a:p>
          <a:p>
            <a:pPr>
              <a:lnSpc>
                <a:spcPct val="150000"/>
              </a:lnSpc>
            </a:pP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63</a:t>
            </a:fld>
            <a:endParaRPr kumimoji="1" lang="zh-CN" altLang="en-US" dirty="0"/>
          </a:p>
        </p:txBody>
      </p:sp>
      <p:grpSp>
        <p:nvGrpSpPr>
          <p:cNvPr id="19" name="组合 18"/>
          <p:cNvGrpSpPr/>
          <p:nvPr/>
        </p:nvGrpSpPr>
        <p:grpSpPr>
          <a:xfrm>
            <a:off x="838200" y="1988308"/>
            <a:ext cx="10873043" cy="4504566"/>
            <a:chOff x="838200" y="2166392"/>
            <a:chExt cx="10873043" cy="4504566"/>
          </a:xfrm>
        </p:grpSpPr>
        <p:pic>
          <p:nvPicPr>
            <p:cNvPr id="20" name="Picture 2"/>
            <p:cNvPicPr>
              <a:picLocks noChangeAspect="1" noChangeArrowheads="1"/>
            </p:cNvPicPr>
            <p:nvPr/>
          </p:nvPicPr>
          <p:blipFill>
            <a:blip r:embed="rId2" cstate="print"/>
            <a:srcRect/>
            <a:stretch>
              <a:fillRect/>
            </a:stretch>
          </p:blipFill>
          <p:spPr bwMode="auto">
            <a:xfrm>
              <a:off x="2680779" y="2166392"/>
              <a:ext cx="9030464" cy="3888432"/>
            </a:xfrm>
            <a:prstGeom prst="rect">
              <a:avLst/>
            </a:prstGeom>
            <a:noFill/>
            <a:ln w="9525">
              <a:noFill/>
              <a:miter lim="800000"/>
              <a:headEnd/>
              <a:tailEnd/>
            </a:ln>
            <a:effectLst/>
          </p:spPr>
        </p:pic>
        <p:grpSp>
          <p:nvGrpSpPr>
            <p:cNvPr id="21" name="组合 19"/>
            <p:cNvGrpSpPr/>
            <p:nvPr/>
          </p:nvGrpSpPr>
          <p:grpSpPr>
            <a:xfrm>
              <a:off x="3064821" y="2238401"/>
              <a:ext cx="2537360" cy="1762847"/>
              <a:chOff x="1475656" y="1628800"/>
              <a:chExt cx="1903020" cy="1762847"/>
            </a:xfrm>
          </p:grpSpPr>
          <p:sp>
            <p:nvSpPr>
              <p:cNvPr id="35" name="椭圆 34"/>
              <p:cNvSpPr/>
              <p:nvPr/>
            </p:nvSpPr>
            <p:spPr>
              <a:xfrm rot="19319004">
                <a:off x="2979046" y="1879479"/>
                <a:ext cx="399630" cy="1512168"/>
              </a:xfrm>
              <a:prstGeom prst="ellipse">
                <a:avLst/>
              </a:prstGeom>
              <a:noFill/>
              <a:ln w="38100">
                <a:solidFill>
                  <a:srgbClr val="7030A0"/>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文本框 35"/>
              <p:cNvSpPr txBox="1"/>
              <p:nvPr/>
            </p:nvSpPr>
            <p:spPr>
              <a:xfrm>
                <a:off x="1475656" y="1628800"/>
                <a:ext cx="127342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获取</a:t>
                </a:r>
                <a:r>
                  <a:rPr kumimoji="0" lang="en-US" altLang="zh-CN"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Bob</a:t>
                </a: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公钥</a:t>
                </a:r>
              </a:p>
            </p:txBody>
          </p:sp>
        </p:grpSp>
        <p:grpSp>
          <p:nvGrpSpPr>
            <p:cNvPr id="22" name="组合 17"/>
            <p:cNvGrpSpPr/>
            <p:nvPr/>
          </p:nvGrpSpPr>
          <p:grpSpPr>
            <a:xfrm>
              <a:off x="1097280" y="2814465"/>
              <a:ext cx="5327915" cy="974597"/>
              <a:chOff x="0" y="2204864"/>
              <a:chExt cx="3995936" cy="974597"/>
            </a:xfrm>
          </p:grpSpPr>
          <p:sp>
            <p:nvSpPr>
              <p:cNvPr id="33" name="矩形 32"/>
              <p:cNvSpPr/>
              <p:nvPr/>
            </p:nvSpPr>
            <p:spPr>
              <a:xfrm>
                <a:off x="0" y="2204864"/>
                <a:ext cx="2016224"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原始请求，确认原始请求未被篡改</a:t>
                </a:r>
              </a:p>
            </p:txBody>
          </p:sp>
          <p:sp>
            <p:nvSpPr>
              <p:cNvPr id="34" name="任意多边形 33"/>
              <p:cNvSpPr/>
              <p:nvPr/>
            </p:nvSpPr>
            <p:spPr>
              <a:xfrm>
                <a:off x="1115616" y="2852936"/>
                <a:ext cx="2880320" cy="326525"/>
              </a:xfrm>
              <a:custGeom>
                <a:avLst/>
                <a:gdLst>
                  <a:gd name="connsiteX0" fmla="*/ 2649071 w 2649071"/>
                  <a:gd name="connsiteY0" fmla="*/ 147918 h 326525"/>
                  <a:gd name="connsiteX1" fmla="*/ 1290918 w 2649071"/>
                  <a:gd name="connsiteY1" fmla="*/ 322730 h 326525"/>
                  <a:gd name="connsiteX2" fmla="*/ 0 w 2649071"/>
                  <a:gd name="connsiteY2" fmla="*/ 0 h 326525"/>
                </a:gdLst>
                <a:ahLst/>
                <a:cxnLst>
                  <a:cxn ang="0">
                    <a:pos x="connsiteX0" y="connsiteY0"/>
                  </a:cxn>
                  <a:cxn ang="0">
                    <a:pos x="connsiteX1" y="connsiteY1"/>
                  </a:cxn>
                  <a:cxn ang="0">
                    <a:pos x="connsiteX2" y="connsiteY2"/>
                  </a:cxn>
                </a:cxnLst>
                <a:rect l="l" t="t" r="r" b="b"/>
                <a:pathLst>
                  <a:path w="2649071" h="326525">
                    <a:moveTo>
                      <a:pt x="2649071" y="147918"/>
                    </a:moveTo>
                    <a:cubicBezTo>
                      <a:pt x="2190750" y="247650"/>
                      <a:pt x="1732430" y="347383"/>
                      <a:pt x="1290918" y="322730"/>
                    </a:cubicBezTo>
                    <a:cubicBezTo>
                      <a:pt x="849406" y="298077"/>
                      <a:pt x="424703" y="149038"/>
                      <a:pt x="0" y="0"/>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23" name="组合 18"/>
            <p:cNvGrpSpPr/>
            <p:nvPr/>
          </p:nvGrpSpPr>
          <p:grpSpPr>
            <a:xfrm>
              <a:off x="1240618" y="3567953"/>
              <a:ext cx="5916803" cy="818493"/>
              <a:chOff x="107504" y="2958353"/>
              <a:chExt cx="4437602" cy="818493"/>
            </a:xfrm>
          </p:grpSpPr>
          <p:sp>
            <p:nvSpPr>
              <p:cNvPr id="31" name="矩形 30"/>
              <p:cNvSpPr/>
              <p:nvPr/>
            </p:nvSpPr>
            <p:spPr>
              <a:xfrm>
                <a:off x="107504" y="3068960"/>
                <a:ext cx="1878687" cy="707886"/>
              </a:xfrm>
              <a:prstGeom prst="rect">
                <a:avLst/>
              </a:prstGeom>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原始时间戳，确认消息是即时的</a:t>
                </a:r>
              </a:p>
            </p:txBody>
          </p:sp>
          <p:sp>
            <p:nvSpPr>
              <p:cNvPr id="32" name="任意多边形 31"/>
              <p:cNvSpPr/>
              <p:nvPr/>
            </p:nvSpPr>
            <p:spPr>
              <a:xfrm>
                <a:off x="1304365" y="2958353"/>
                <a:ext cx="3240741" cy="802508"/>
              </a:xfrm>
              <a:custGeom>
                <a:avLst/>
                <a:gdLst>
                  <a:gd name="connsiteX0" fmla="*/ 3240741 w 3240741"/>
                  <a:gd name="connsiteY0" fmla="*/ 0 h 802508"/>
                  <a:gd name="connsiteX1" fmla="*/ 1600200 w 3240741"/>
                  <a:gd name="connsiteY1" fmla="*/ 739588 h 802508"/>
                  <a:gd name="connsiteX2" fmla="*/ 0 w 3240741"/>
                  <a:gd name="connsiteY2" fmla="*/ 712694 h 802508"/>
                </a:gdLst>
                <a:ahLst/>
                <a:cxnLst>
                  <a:cxn ang="0">
                    <a:pos x="connsiteX0" y="connsiteY0"/>
                  </a:cxn>
                  <a:cxn ang="0">
                    <a:pos x="connsiteX1" y="connsiteY1"/>
                  </a:cxn>
                  <a:cxn ang="0">
                    <a:pos x="connsiteX2" y="connsiteY2"/>
                  </a:cxn>
                </a:cxnLst>
                <a:rect l="l" t="t" r="r" b="b"/>
                <a:pathLst>
                  <a:path w="3240741" h="802508">
                    <a:moveTo>
                      <a:pt x="3240741" y="0"/>
                    </a:moveTo>
                    <a:cubicBezTo>
                      <a:pt x="2690532" y="310403"/>
                      <a:pt x="2140323" y="620806"/>
                      <a:pt x="1600200" y="739588"/>
                    </a:cubicBezTo>
                    <a:cubicBezTo>
                      <a:pt x="1060077" y="858370"/>
                      <a:pt x="530038" y="785532"/>
                      <a:pt x="0" y="712694"/>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24" name="组合 21"/>
            <p:cNvGrpSpPr/>
            <p:nvPr/>
          </p:nvGrpSpPr>
          <p:grpSpPr>
            <a:xfrm>
              <a:off x="8786261" y="2238400"/>
              <a:ext cx="2034921" cy="1649474"/>
              <a:chOff x="1374247" y="1988840"/>
              <a:chExt cx="1526191" cy="1649474"/>
            </a:xfrm>
          </p:grpSpPr>
          <p:sp>
            <p:nvSpPr>
              <p:cNvPr id="29" name="椭圆 28"/>
              <p:cNvSpPr/>
              <p:nvPr/>
            </p:nvSpPr>
            <p:spPr>
              <a:xfrm rot="2687344">
                <a:off x="1374247" y="2126146"/>
                <a:ext cx="399630" cy="1512168"/>
              </a:xfrm>
              <a:prstGeom prst="ellipse">
                <a:avLst/>
              </a:prstGeom>
              <a:noFill/>
              <a:ln w="38100">
                <a:solidFill>
                  <a:srgbClr val="7030A0"/>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0" name="文本框 29"/>
              <p:cNvSpPr txBox="1"/>
              <p:nvPr/>
            </p:nvSpPr>
            <p:spPr>
              <a:xfrm>
                <a:off x="1547664" y="1988840"/>
                <a:ext cx="135277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获取</a:t>
                </a:r>
                <a:r>
                  <a:rPr kumimoji="0" lang="en-US" altLang="zh-CN"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Alice</a:t>
                </a: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公钥</a:t>
                </a:r>
              </a:p>
            </p:txBody>
          </p:sp>
        </p:grpSp>
        <p:grpSp>
          <p:nvGrpSpPr>
            <p:cNvPr id="25" name="组合 24"/>
            <p:cNvGrpSpPr/>
            <p:nvPr/>
          </p:nvGrpSpPr>
          <p:grpSpPr>
            <a:xfrm>
              <a:off x="6521205" y="4110608"/>
              <a:ext cx="1723549" cy="2560350"/>
              <a:chOff x="1158223" y="1628800"/>
              <a:chExt cx="1292662" cy="2560350"/>
            </a:xfrm>
          </p:grpSpPr>
          <p:sp>
            <p:nvSpPr>
              <p:cNvPr id="27" name="椭圆 26"/>
              <p:cNvSpPr/>
              <p:nvPr/>
            </p:nvSpPr>
            <p:spPr>
              <a:xfrm>
                <a:off x="1662279" y="1628800"/>
                <a:ext cx="399630" cy="2088232"/>
              </a:xfrm>
              <a:prstGeom prst="ellipse">
                <a:avLst/>
              </a:prstGeom>
              <a:noFill/>
              <a:ln w="38100">
                <a:solidFill>
                  <a:srgbClr val="7030A0"/>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8" name="文本框 27"/>
              <p:cNvSpPr txBox="1"/>
              <p:nvPr/>
            </p:nvSpPr>
            <p:spPr>
              <a:xfrm>
                <a:off x="1158223" y="3789040"/>
                <a:ext cx="129266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双向身份认证</a:t>
                </a:r>
              </a:p>
            </p:txBody>
          </p:sp>
        </p:grpSp>
        <p:sp>
          <p:nvSpPr>
            <p:cNvPr id="26" name="TextBox 29"/>
            <p:cNvSpPr txBox="1"/>
            <p:nvPr/>
          </p:nvSpPr>
          <p:spPr>
            <a:xfrm>
              <a:off x="838200" y="5956240"/>
              <a:ext cx="300595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双向身份认证的证书系统</a:t>
              </a:r>
            </a:p>
          </p:txBody>
        </p:sp>
      </p:grpSp>
      <p:sp>
        <p:nvSpPr>
          <p:cNvPr id="5" name="文本框 4"/>
          <p:cNvSpPr txBox="1"/>
          <p:nvPr/>
        </p:nvSpPr>
        <p:spPr>
          <a:xfrm>
            <a:off x="6980555" y="1249997"/>
            <a:ext cx="5080000" cy="583565"/>
          </a:xfrm>
          <a:prstGeom prst="rect">
            <a:avLst/>
          </a:prstGeom>
        </p:spPr>
        <p:txBody>
          <a:bodyPr>
            <a:spAutoFit/>
          </a:bodyPr>
          <a:lstStyle/>
          <a:p>
            <a:r>
              <a:rPr lang="zh-CN" altLang="en-US" sz="1600"/>
              <a:t>两方先找权威机构查公钥，用请求副本和时间戳防伪；再用公钥互发随机数对暗号，完成双向身份认证。</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7.4.2 </a:t>
            </a:r>
            <a:r>
              <a:rPr kumimoji="1" lang="zh-CN" altLang="zh-CN" dirty="0">
                <a:solidFill>
                  <a:prstClr val="black"/>
                </a:solidFill>
              </a:rPr>
              <a:t>基于公钥密码的秘密密钥分发</a:t>
            </a:r>
            <a:endParaRPr lang="zh-CN" altLang="en-US" dirty="0"/>
          </a:p>
        </p:txBody>
      </p:sp>
      <p:sp>
        <p:nvSpPr>
          <p:cNvPr id="3" name="内容占位符 2"/>
          <p:cNvSpPr>
            <a:spLocks noGrp="1"/>
          </p:cNvSpPr>
          <p:nvPr>
            <p:ph idx="1"/>
          </p:nvPr>
        </p:nvSpPr>
        <p:spPr/>
        <p:txBody>
          <a:bodyPr>
            <a:normAutofit/>
          </a:bodyPr>
          <a:lstStyle/>
          <a:p>
            <a:r>
              <a:rPr lang="zh-CN" altLang="en-US" dirty="0"/>
              <a:t>简单的秘密密钥分配（</a:t>
            </a:r>
            <a:r>
              <a:rPr lang="en-US" altLang="zh-CN" dirty="0"/>
              <a:t>Simple secret key distribution</a:t>
            </a:r>
            <a:r>
              <a:rPr lang="zh-CN" altLang="en-US" dirty="0"/>
              <a:t>）</a:t>
            </a:r>
            <a:endParaRPr lang="en-US" altLang="zh-CN" dirty="0"/>
          </a:p>
          <a:p>
            <a:pPr lvl="1">
              <a:spcBef>
                <a:spcPct val="0"/>
              </a:spcBef>
              <a:buClr>
                <a:srgbClr val="000066"/>
              </a:buClr>
              <a:buSzPct val="95000"/>
              <a:buNone/>
            </a:pPr>
            <a:r>
              <a:rPr lang="en-US" altLang="zh-CN" dirty="0">
                <a:sym typeface="Wingdings" panose="05000000000000000000" pitchFamily="2" charset="2"/>
              </a:rPr>
              <a:t>A</a:t>
            </a:r>
            <a:r>
              <a:rPr lang="zh-CN" altLang="en-US" dirty="0">
                <a:sym typeface="Wingdings" panose="05000000000000000000" pitchFamily="2" charset="2"/>
              </a:rPr>
              <a:t>生成</a:t>
            </a:r>
            <a:r>
              <a:rPr lang="en-US" altLang="zh-CN" dirty="0">
                <a:sym typeface="Wingdings" panose="05000000000000000000" pitchFamily="2" charset="2"/>
              </a:rPr>
              <a:t>{</a:t>
            </a:r>
            <a:r>
              <a:rPr lang="en-US" altLang="zh-CN" dirty="0" err="1">
                <a:sym typeface="Wingdings" panose="05000000000000000000" pitchFamily="2" charset="2"/>
              </a:rPr>
              <a:t>KUa,KRa</a:t>
            </a:r>
            <a:r>
              <a:rPr lang="en-US" altLang="zh-CN" dirty="0">
                <a:sym typeface="Wingdings" panose="05000000000000000000" pitchFamily="2" charset="2"/>
              </a:rPr>
              <a:t>}, </a:t>
            </a:r>
            <a:r>
              <a:rPr lang="en-US" altLang="zh-CN" dirty="0"/>
              <a:t>A</a:t>
            </a:r>
            <a:r>
              <a:rPr lang="en-US" altLang="zh-CN" dirty="0">
                <a:sym typeface="Wingdings" panose="05000000000000000000" pitchFamily="2" charset="2"/>
              </a:rPr>
              <a:t></a:t>
            </a:r>
            <a:r>
              <a:rPr lang="en-US" altLang="zh-CN" dirty="0"/>
              <a:t>B: </a:t>
            </a:r>
            <a:r>
              <a:rPr lang="en-US" altLang="zh-CN" dirty="0">
                <a:sym typeface="Wingdings" panose="05000000000000000000" pitchFamily="2" charset="2"/>
              </a:rPr>
              <a:t>(</a:t>
            </a:r>
            <a:r>
              <a:rPr lang="en-US" altLang="zh-CN" dirty="0" err="1">
                <a:sym typeface="Wingdings" panose="05000000000000000000" pitchFamily="2" charset="2"/>
              </a:rPr>
              <a:t>ID</a:t>
            </a:r>
            <a:r>
              <a:rPr lang="en-US" altLang="zh-CN" baseline="-25000" dirty="0" err="1">
                <a:sym typeface="Wingdings" panose="05000000000000000000" pitchFamily="2" charset="2"/>
              </a:rPr>
              <a:t>A</a:t>
            </a:r>
            <a:r>
              <a:rPr lang="en-US" altLang="zh-CN" dirty="0" err="1">
                <a:sym typeface="Wingdings" panose="05000000000000000000" pitchFamily="2" charset="2"/>
              </a:rPr>
              <a:t>,KUa</a:t>
            </a:r>
            <a:r>
              <a:rPr lang="en-US" altLang="zh-CN" dirty="0">
                <a:sym typeface="Wingdings" panose="05000000000000000000" pitchFamily="2" charset="2"/>
              </a:rPr>
              <a:t>)</a:t>
            </a:r>
          </a:p>
          <a:p>
            <a:pPr lvl="1">
              <a:spcBef>
                <a:spcPct val="0"/>
              </a:spcBef>
              <a:buClr>
                <a:schemeClr val="folHlink"/>
              </a:buClr>
              <a:buSzPct val="80000"/>
              <a:buNone/>
            </a:pPr>
            <a:r>
              <a:rPr lang="en-US" altLang="zh-CN" dirty="0">
                <a:sym typeface="Wingdings" panose="05000000000000000000" pitchFamily="2" charset="2"/>
              </a:rPr>
              <a:t>B</a:t>
            </a:r>
            <a:r>
              <a:rPr lang="zh-CN" altLang="en-US" dirty="0">
                <a:sym typeface="Wingdings" panose="05000000000000000000" pitchFamily="2" charset="2"/>
              </a:rPr>
              <a:t>生成随机密钥</a:t>
            </a:r>
            <a:r>
              <a:rPr lang="en-US" altLang="zh-CN" dirty="0">
                <a:sym typeface="Wingdings" panose="05000000000000000000" pitchFamily="2" charset="2"/>
              </a:rPr>
              <a:t>Ks, </a:t>
            </a:r>
            <a:r>
              <a:rPr lang="en-US" altLang="zh-CN" dirty="0"/>
              <a:t>B</a:t>
            </a:r>
            <a:r>
              <a:rPr lang="en-US" altLang="zh-CN" dirty="0">
                <a:sym typeface="Wingdings" panose="05000000000000000000" pitchFamily="2" charset="2"/>
              </a:rPr>
              <a:t></a:t>
            </a:r>
            <a:r>
              <a:rPr lang="en-US" altLang="zh-CN" dirty="0"/>
              <a:t>A: </a:t>
            </a:r>
            <a:r>
              <a:rPr lang="en-US" altLang="zh-CN" dirty="0" err="1"/>
              <a:t>E</a:t>
            </a:r>
            <a:r>
              <a:rPr lang="en-US" altLang="zh-CN" baseline="-25000" dirty="0" err="1"/>
              <a:t>KUa</a:t>
            </a:r>
            <a:r>
              <a:rPr lang="en-US" altLang="zh-CN" dirty="0"/>
              <a:t>(Ks)</a:t>
            </a:r>
            <a:endParaRPr lang="en-US" altLang="zh-CN" dirty="0">
              <a:sym typeface="Wingdings" panose="05000000000000000000" pitchFamily="2" charset="2"/>
            </a:endParaRPr>
          </a:p>
          <a:p>
            <a:pPr lvl="1">
              <a:spcBef>
                <a:spcPct val="0"/>
              </a:spcBef>
              <a:buClr>
                <a:schemeClr val="folHlink"/>
              </a:buClr>
              <a:buSzPct val="80000"/>
              <a:buNone/>
            </a:pPr>
            <a:r>
              <a:rPr lang="en-US" altLang="zh-CN" dirty="0">
                <a:sym typeface="Wingdings" panose="05000000000000000000" pitchFamily="2" charset="2"/>
              </a:rPr>
              <a:t>A</a:t>
            </a:r>
            <a:r>
              <a:rPr lang="zh-CN" altLang="en-US" dirty="0">
                <a:sym typeface="Wingdings" panose="05000000000000000000" pitchFamily="2" charset="2"/>
              </a:rPr>
              <a:t>解密</a:t>
            </a:r>
            <a:r>
              <a:rPr lang="en-US" altLang="zh-CN" dirty="0" err="1"/>
              <a:t>E</a:t>
            </a:r>
            <a:r>
              <a:rPr lang="en-US" altLang="zh-CN" baseline="-25000" dirty="0" err="1"/>
              <a:t>KUa</a:t>
            </a:r>
            <a:r>
              <a:rPr lang="en-US" altLang="zh-CN" dirty="0"/>
              <a:t>(Ks)</a:t>
            </a:r>
            <a:r>
              <a:rPr lang="zh-CN" altLang="en-US" dirty="0">
                <a:sym typeface="Wingdings" panose="05000000000000000000" pitchFamily="2" charset="2"/>
              </a:rPr>
              <a:t>得到</a:t>
            </a:r>
            <a:r>
              <a:rPr lang="en-US" altLang="zh-CN" dirty="0">
                <a:sym typeface="Wingdings" panose="05000000000000000000" pitchFamily="2" charset="2"/>
              </a:rPr>
              <a:t>Ks: </a:t>
            </a:r>
            <a:r>
              <a:rPr lang="en-US" altLang="zh-CN" dirty="0" err="1">
                <a:sym typeface="Wingdings" panose="05000000000000000000" pitchFamily="2" charset="2"/>
              </a:rPr>
              <a:t>D</a:t>
            </a:r>
            <a:r>
              <a:rPr lang="en-US" altLang="zh-CN" baseline="-25000" dirty="0" err="1"/>
              <a:t>KRa</a:t>
            </a:r>
            <a:r>
              <a:rPr lang="en-US" altLang="zh-CN" dirty="0"/>
              <a:t>(</a:t>
            </a:r>
            <a:r>
              <a:rPr lang="en-US" altLang="zh-CN" dirty="0" err="1"/>
              <a:t>E</a:t>
            </a:r>
            <a:r>
              <a:rPr lang="en-US" altLang="zh-CN" baseline="-25000" dirty="0" err="1"/>
              <a:t>KUa</a:t>
            </a:r>
            <a:r>
              <a:rPr lang="en-US" altLang="zh-CN" dirty="0"/>
              <a:t>(Ks))</a:t>
            </a:r>
            <a:endParaRPr lang="en-US" altLang="zh-CN" dirty="0">
              <a:sym typeface="Wingdings" panose="05000000000000000000" pitchFamily="2" charset="2"/>
            </a:endParaRPr>
          </a:p>
          <a:p>
            <a:pPr lvl="1">
              <a:spcBef>
                <a:spcPct val="0"/>
              </a:spcBef>
              <a:buClr>
                <a:schemeClr val="folHlink"/>
              </a:buClr>
              <a:buSzPct val="80000"/>
              <a:buNone/>
            </a:pPr>
            <a:r>
              <a:rPr lang="en-US" altLang="zh-CN" dirty="0">
                <a:sym typeface="Wingdings" panose="05000000000000000000" pitchFamily="2" charset="2"/>
              </a:rPr>
              <a:t>A</a:t>
            </a:r>
            <a:r>
              <a:rPr lang="zh-CN" altLang="en-US" dirty="0">
                <a:sym typeface="Wingdings" panose="05000000000000000000" pitchFamily="2" charset="2"/>
              </a:rPr>
              <a:t>丢弃</a:t>
            </a:r>
            <a:r>
              <a:rPr lang="en-US" altLang="zh-CN" dirty="0">
                <a:sym typeface="Wingdings" panose="05000000000000000000" pitchFamily="2" charset="2"/>
              </a:rPr>
              <a:t>{</a:t>
            </a:r>
            <a:r>
              <a:rPr lang="en-US" altLang="zh-CN" dirty="0" err="1">
                <a:sym typeface="Wingdings" panose="05000000000000000000" pitchFamily="2" charset="2"/>
              </a:rPr>
              <a:t>KUa,KRa</a:t>
            </a:r>
            <a:r>
              <a:rPr lang="en-US" altLang="zh-CN" dirty="0">
                <a:sym typeface="Wingdings" panose="05000000000000000000" pitchFamily="2" charset="2"/>
              </a:rPr>
              <a:t>},B</a:t>
            </a:r>
            <a:r>
              <a:rPr lang="zh-CN" altLang="en-US" dirty="0">
                <a:sym typeface="Wingdings" panose="05000000000000000000" pitchFamily="2" charset="2"/>
              </a:rPr>
              <a:t>丢弃</a:t>
            </a:r>
            <a:r>
              <a:rPr lang="en-US" altLang="zh-CN" dirty="0" err="1">
                <a:sym typeface="Wingdings" panose="05000000000000000000" pitchFamily="2" charset="2"/>
              </a:rPr>
              <a:t>KUa</a:t>
            </a:r>
            <a:endParaRPr lang="en-US" altLang="zh-CN" dirty="0">
              <a:sym typeface="Wingdings" panose="05000000000000000000" pitchFamily="2" charset="2"/>
            </a:endParaRPr>
          </a:p>
          <a:p>
            <a:pPr lvl="1">
              <a:spcBef>
                <a:spcPct val="0"/>
              </a:spcBef>
              <a:buClr>
                <a:srgbClr val="000066"/>
              </a:buClr>
              <a:buSzPct val="90000"/>
            </a:pPr>
            <a:r>
              <a:rPr lang="zh-CN" altLang="en-US" dirty="0">
                <a:sym typeface="Wingdings" panose="05000000000000000000" pitchFamily="2" charset="2"/>
              </a:rPr>
              <a:t>通讯前不需存在密钥</a:t>
            </a:r>
            <a:r>
              <a:rPr lang="en-US" altLang="zh-CN" dirty="0">
                <a:sym typeface="Wingdings" panose="05000000000000000000" pitchFamily="2" charset="2"/>
              </a:rPr>
              <a:t>,</a:t>
            </a:r>
            <a:r>
              <a:rPr lang="zh-CN" altLang="en-US" dirty="0">
                <a:sym typeface="Wingdings" panose="05000000000000000000" pitchFamily="2" charset="2"/>
              </a:rPr>
              <a:t>通讯后也不存在密钥</a:t>
            </a:r>
          </a:p>
          <a:p>
            <a:pPr lvl="1">
              <a:spcBef>
                <a:spcPct val="0"/>
              </a:spcBef>
              <a:buClr>
                <a:srgbClr val="000066"/>
              </a:buClr>
              <a:buSzPct val="90000"/>
            </a:pPr>
            <a:r>
              <a:rPr lang="zh-CN" altLang="en-US" dirty="0">
                <a:sym typeface="Wingdings" panose="05000000000000000000" pitchFamily="2" charset="2"/>
              </a:rPr>
              <a:t>能抵抗偷听</a:t>
            </a:r>
            <a:r>
              <a:rPr lang="en-US" altLang="zh-CN" dirty="0">
                <a:sym typeface="Wingdings" panose="05000000000000000000" pitchFamily="2" charset="2"/>
              </a:rPr>
              <a:t>,</a:t>
            </a:r>
            <a:r>
              <a:rPr lang="zh-CN" altLang="en-US" dirty="0">
                <a:sym typeface="Wingdings" panose="05000000000000000000" pitchFamily="2" charset="2"/>
              </a:rPr>
              <a:t>不能抵抗主动攻击</a:t>
            </a:r>
            <a:r>
              <a:rPr lang="en-US" altLang="zh-CN" dirty="0">
                <a:sym typeface="Wingdings" panose="05000000000000000000" pitchFamily="2" charset="2"/>
              </a:rPr>
              <a:t>(</a:t>
            </a:r>
            <a:r>
              <a:rPr lang="zh-CN" altLang="en-US" dirty="0">
                <a:sym typeface="Wingdings" panose="05000000000000000000" pitchFamily="2" charset="2"/>
              </a:rPr>
              <a:t>中间人攻击</a:t>
            </a:r>
            <a:r>
              <a:rPr lang="en-US" altLang="zh-CN" dirty="0">
                <a:sym typeface="Wingdings" panose="05000000000000000000" pitchFamily="2" charset="2"/>
              </a:rPr>
              <a:t>)</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64</a:t>
            </a:fld>
            <a:endParaRPr kumimoji="1" lang="zh-CN" altLang="en-US" dirty="0"/>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1473" y="4278177"/>
            <a:ext cx="76390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7.4.2 </a:t>
            </a:r>
            <a:r>
              <a:rPr kumimoji="1" lang="zh-CN" altLang="zh-CN" dirty="0">
                <a:solidFill>
                  <a:prstClr val="black"/>
                </a:solidFill>
              </a:rPr>
              <a:t>基于公钥密码的秘密密钥分发</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中间人攻击</a:t>
            </a:r>
            <a:endParaRPr lang="en-US" altLang="zh-CN" dirty="0"/>
          </a:p>
          <a:p>
            <a:pPr lvl="1">
              <a:lnSpc>
                <a:spcPct val="150000"/>
              </a:lnSpc>
              <a:spcBef>
                <a:spcPct val="0"/>
              </a:spcBef>
              <a:buClr>
                <a:schemeClr val="folHlink"/>
              </a:buClr>
              <a:buSzPct val="80000"/>
              <a:buNone/>
            </a:pPr>
            <a:r>
              <a:rPr lang="en-US" altLang="zh-CN" dirty="0">
                <a:sym typeface="Wingdings" panose="05000000000000000000" pitchFamily="2" charset="2"/>
              </a:rPr>
              <a:t>A</a:t>
            </a:r>
            <a:r>
              <a:rPr lang="zh-CN" altLang="en-US" dirty="0">
                <a:sym typeface="Wingdings" panose="05000000000000000000" pitchFamily="2" charset="2"/>
              </a:rPr>
              <a:t>生成</a:t>
            </a:r>
            <a:r>
              <a:rPr lang="en-US" altLang="zh-CN" dirty="0">
                <a:sym typeface="Wingdings" panose="05000000000000000000" pitchFamily="2" charset="2"/>
              </a:rPr>
              <a:t>{</a:t>
            </a:r>
            <a:r>
              <a:rPr lang="en-US" altLang="zh-CN" dirty="0" err="1">
                <a:sym typeface="Wingdings" panose="05000000000000000000" pitchFamily="2" charset="2"/>
              </a:rPr>
              <a:t>KUa,KRa</a:t>
            </a:r>
            <a:r>
              <a:rPr lang="en-US" altLang="zh-CN" dirty="0">
                <a:sym typeface="Wingdings" panose="05000000000000000000" pitchFamily="2" charset="2"/>
              </a:rPr>
              <a:t>}, </a:t>
            </a:r>
            <a:r>
              <a:rPr lang="en-US" altLang="zh-CN" dirty="0"/>
              <a:t>A</a:t>
            </a:r>
            <a:r>
              <a:rPr lang="en-US" altLang="zh-CN" dirty="0">
                <a:sym typeface="Wingdings" panose="05000000000000000000" pitchFamily="2" charset="2"/>
              </a:rPr>
              <a:t></a:t>
            </a:r>
            <a:r>
              <a:rPr lang="en-US" altLang="zh-CN" dirty="0"/>
              <a:t>B: </a:t>
            </a:r>
            <a:r>
              <a:rPr lang="en-US" altLang="zh-CN" dirty="0">
                <a:sym typeface="Wingdings" panose="05000000000000000000" pitchFamily="2" charset="2"/>
              </a:rPr>
              <a:t>(</a:t>
            </a:r>
            <a:r>
              <a:rPr lang="en-US" altLang="zh-CN" dirty="0" err="1">
                <a:sym typeface="Wingdings" panose="05000000000000000000" pitchFamily="2" charset="2"/>
              </a:rPr>
              <a:t>ID</a:t>
            </a:r>
            <a:r>
              <a:rPr lang="en-US" altLang="zh-CN" baseline="-25000" dirty="0" err="1">
                <a:sym typeface="Wingdings" panose="05000000000000000000" pitchFamily="2" charset="2"/>
              </a:rPr>
              <a:t>A</a:t>
            </a:r>
            <a:r>
              <a:rPr lang="en-US" altLang="zh-CN" dirty="0" err="1">
                <a:sym typeface="Wingdings" panose="05000000000000000000" pitchFamily="2" charset="2"/>
              </a:rPr>
              <a:t>,KUa</a:t>
            </a:r>
            <a:r>
              <a:rPr lang="en-US" altLang="zh-CN" dirty="0">
                <a:sym typeface="Wingdings" panose="05000000000000000000" pitchFamily="2" charset="2"/>
              </a:rPr>
              <a:t>)</a:t>
            </a:r>
          </a:p>
          <a:p>
            <a:pPr lvl="1">
              <a:lnSpc>
                <a:spcPct val="150000"/>
              </a:lnSpc>
              <a:spcBef>
                <a:spcPct val="0"/>
              </a:spcBef>
              <a:buClr>
                <a:schemeClr val="folHlink"/>
              </a:buClr>
              <a:buSzPct val="80000"/>
              <a:buNone/>
            </a:pPr>
            <a:r>
              <a:rPr lang="en-US" altLang="zh-CN" dirty="0">
                <a:sym typeface="Wingdings" panose="05000000000000000000" pitchFamily="2" charset="2"/>
              </a:rPr>
              <a:t>E</a:t>
            </a:r>
            <a:r>
              <a:rPr lang="zh-CN" altLang="en-US" dirty="0">
                <a:sym typeface="Wingdings" panose="05000000000000000000" pitchFamily="2" charset="2"/>
              </a:rPr>
              <a:t>截获</a:t>
            </a:r>
            <a:r>
              <a:rPr lang="en-US" altLang="zh-CN" dirty="0">
                <a:sym typeface="Wingdings" panose="05000000000000000000" pitchFamily="2" charset="2"/>
              </a:rPr>
              <a:t>,</a:t>
            </a:r>
            <a:r>
              <a:rPr lang="zh-CN" altLang="en-US" dirty="0">
                <a:sym typeface="Wingdings" panose="05000000000000000000" pitchFamily="2" charset="2"/>
              </a:rPr>
              <a:t>生成</a:t>
            </a:r>
            <a:r>
              <a:rPr lang="en-US" altLang="zh-CN" dirty="0">
                <a:sym typeface="Wingdings" panose="05000000000000000000" pitchFamily="2" charset="2"/>
              </a:rPr>
              <a:t>{</a:t>
            </a:r>
            <a:r>
              <a:rPr lang="en-US" altLang="zh-CN" dirty="0" err="1">
                <a:sym typeface="Wingdings" panose="05000000000000000000" pitchFamily="2" charset="2"/>
              </a:rPr>
              <a:t>KUe,KRe</a:t>
            </a:r>
            <a:r>
              <a:rPr lang="en-US" altLang="zh-CN" dirty="0">
                <a:sym typeface="Wingdings" panose="05000000000000000000" pitchFamily="2" charset="2"/>
              </a:rPr>
              <a:t>}</a:t>
            </a:r>
            <a:r>
              <a:rPr lang="zh-CN" altLang="en-US" dirty="0">
                <a:sym typeface="Wingdings" panose="05000000000000000000" pitchFamily="2" charset="2"/>
              </a:rPr>
              <a:t>冒充</a:t>
            </a:r>
            <a:r>
              <a:rPr lang="en-US" altLang="zh-CN" dirty="0">
                <a:sym typeface="Wingdings" panose="05000000000000000000" pitchFamily="2" charset="2"/>
              </a:rPr>
              <a:t>AB: (</a:t>
            </a:r>
            <a:r>
              <a:rPr lang="en-US" altLang="zh-CN" dirty="0" err="1">
                <a:sym typeface="Wingdings" panose="05000000000000000000" pitchFamily="2" charset="2"/>
              </a:rPr>
              <a:t>ID</a:t>
            </a:r>
            <a:r>
              <a:rPr lang="en-US" altLang="zh-CN" baseline="-25000" dirty="0" err="1">
                <a:sym typeface="Wingdings" panose="05000000000000000000" pitchFamily="2" charset="2"/>
              </a:rPr>
              <a:t>A</a:t>
            </a:r>
            <a:r>
              <a:rPr lang="en-US" altLang="zh-CN" dirty="0" err="1">
                <a:sym typeface="Wingdings" panose="05000000000000000000" pitchFamily="2" charset="2"/>
              </a:rPr>
              <a:t>,KUe</a:t>
            </a:r>
            <a:r>
              <a:rPr lang="en-US" altLang="zh-CN" dirty="0">
                <a:sym typeface="Wingdings" panose="05000000000000000000" pitchFamily="2" charset="2"/>
              </a:rPr>
              <a:t>)</a:t>
            </a:r>
          </a:p>
          <a:p>
            <a:pPr lvl="1">
              <a:lnSpc>
                <a:spcPct val="150000"/>
              </a:lnSpc>
              <a:spcBef>
                <a:spcPct val="0"/>
              </a:spcBef>
              <a:buClr>
                <a:schemeClr val="folHlink"/>
              </a:buClr>
              <a:buSzPct val="80000"/>
              <a:buNone/>
            </a:pPr>
            <a:r>
              <a:rPr lang="en-US" altLang="zh-CN" dirty="0">
                <a:sym typeface="Wingdings" panose="05000000000000000000" pitchFamily="2" charset="2"/>
              </a:rPr>
              <a:t>B</a:t>
            </a:r>
            <a:r>
              <a:rPr lang="zh-CN" altLang="en-US" dirty="0">
                <a:sym typeface="Wingdings" panose="05000000000000000000" pitchFamily="2" charset="2"/>
              </a:rPr>
              <a:t>生成随机密钥</a:t>
            </a:r>
            <a:r>
              <a:rPr lang="en-US" altLang="zh-CN" dirty="0">
                <a:sym typeface="Wingdings" panose="05000000000000000000" pitchFamily="2" charset="2"/>
              </a:rPr>
              <a:t>Ks, </a:t>
            </a:r>
            <a:r>
              <a:rPr lang="en-US" altLang="zh-CN" dirty="0"/>
              <a:t>B</a:t>
            </a:r>
            <a:r>
              <a:rPr lang="en-US" altLang="zh-CN" dirty="0">
                <a:sym typeface="Wingdings" panose="05000000000000000000" pitchFamily="2" charset="2"/>
              </a:rPr>
              <a:t></a:t>
            </a:r>
            <a:r>
              <a:rPr lang="en-US" altLang="zh-CN" dirty="0"/>
              <a:t>A: </a:t>
            </a:r>
            <a:r>
              <a:rPr lang="en-US" altLang="zh-CN" dirty="0" err="1"/>
              <a:t>E</a:t>
            </a:r>
            <a:r>
              <a:rPr lang="en-US" altLang="zh-CN" baseline="-25000" dirty="0" err="1"/>
              <a:t>KUe</a:t>
            </a:r>
            <a:r>
              <a:rPr lang="en-US" altLang="zh-CN" dirty="0"/>
              <a:t>(Ks)</a:t>
            </a:r>
            <a:endParaRPr lang="en-US" altLang="zh-CN" dirty="0">
              <a:sym typeface="Wingdings" panose="05000000000000000000" pitchFamily="2" charset="2"/>
            </a:endParaRPr>
          </a:p>
          <a:p>
            <a:pPr lvl="1">
              <a:lnSpc>
                <a:spcPct val="150000"/>
              </a:lnSpc>
              <a:spcBef>
                <a:spcPct val="0"/>
              </a:spcBef>
              <a:buClr>
                <a:schemeClr val="folHlink"/>
              </a:buClr>
              <a:buSzPct val="80000"/>
              <a:buNone/>
            </a:pPr>
            <a:r>
              <a:rPr lang="en-US" altLang="zh-CN" dirty="0">
                <a:sym typeface="Wingdings" panose="05000000000000000000" pitchFamily="2" charset="2"/>
              </a:rPr>
              <a:t>E</a:t>
            </a:r>
            <a:r>
              <a:rPr lang="zh-CN" altLang="en-US" dirty="0">
                <a:sym typeface="Wingdings" panose="05000000000000000000" pitchFamily="2" charset="2"/>
              </a:rPr>
              <a:t>截获</a:t>
            </a:r>
            <a:r>
              <a:rPr lang="en-US" altLang="zh-CN" dirty="0">
                <a:sym typeface="Wingdings" panose="05000000000000000000" pitchFamily="2" charset="2"/>
              </a:rPr>
              <a:t>,</a:t>
            </a:r>
            <a:r>
              <a:rPr lang="zh-CN" altLang="en-US" dirty="0">
                <a:sym typeface="Wingdings" panose="05000000000000000000" pitchFamily="2" charset="2"/>
              </a:rPr>
              <a:t>解密后再用</a:t>
            </a:r>
            <a:r>
              <a:rPr lang="en-US" altLang="zh-CN" dirty="0" err="1"/>
              <a:t>E</a:t>
            </a:r>
            <a:r>
              <a:rPr lang="en-US" altLang="zh-CN" baseline="-25000" dirty="0" err="1"/>
              <a:t>KUa</a:t>
            </a:r>
            <a:r>
              <a:rPr lang="zh-CN" altLang="en-US" dirty="0">
                <a:sym typeface="Wingdings" panose="05000000000000000000" pitchFamily="2" charset="2"/>
              </a:rPr>
              <a:t>加密</a:t>
            </a:r>
            <a:r>
              <a:rPr lang="en-US" altLang="zh-CN" dirty="0" err="1"/>
              <a:t>Ks</a:t>
            </a:r>
            <a:r>
              <a:rPr lang="en-US" altLang="zh-CN" dirty="0" err="1">
                <a:sym typeface="Wingdings" panose="05000000000000000000" pitchFamily="2" charset="2"/>
              </a:rPr>
              <a:t></a:t>
            </a:r>
            <a:r>
              <a:rPr lang="en-US" altLang="zh-CN" dirty="0" err="1"/>
              <a:t>A</a:t>
            </a:r>
            <a:r>
              <a:rPr lang="en-US" altLang="zh-CN" dirty="0"/>
              <a:t>: </a:t>
            </a:r>
            <a:r>
              <a:rPr lang="en-US" altLang="zh-CN" dirty="0" err="1"/>
              <a:t>E</a:t>
            </a:r>
            <a:r>
              <a:rPr lang="en-US" altLang="zh-CN" baseline="-25000" dirty="0" err="1"/>
              <a:t>KUa</a:t>
            </a:r>
            <a:r>
              <a:rPr lang="en-US" altLang="zh-CN" dirty="0"/>
              <a:t>(Ks)</a:t>
            </a:r>
            <a:endParaRPr lang="en-US" altLang="zh-CN" dirty="0">
              <a:sym typeface="Wingdings" panose="05000000000000000000" pitchFamily="2" charset="2"/>
            </a:endParaRPr>
          </a:p>
          <a:p>
            <a:pPr lvl="1">
              <a:lnSpc>
                <a:spcPct val="150000"/>
              </a:lnSpc>
              <a:spcBef>
                <a:spcPct val="0"/>
              </a:spcBef>
              <a:buClr>
                <a:schemeClr val="folHlink"/>
              </a:buClr>
              <a:buSzPct val="80000"/>
              <a:buNone/>
            </a:pPr>
            <a:r>
              <a:rPr lang="en-US" altLang="zh-CN" dirty="0">
                <a:sym typeface="Wingdings" panose="05000000000000000000" pitchFamily="2" charset="2"/>
              </a:rPr>
              <a:t>A</a:t>
            </a:r>
            <a:r>
              <a:rPr lang="zh-CN" altLang="en-US" dirty="0">
                <a:sym typeface="Wingdings" panose="05000000000000000000" pitchFamily="2" charset="2"/>
              </a:rPr>
              <a:t>丢弃</a:t>
            </a:r>
            <a:r>
              <a:rPr lang="en-US" altLang="zh-CN" dirty="0">
                <a:sym typeface="Wingdings" panose="05000000000000000000" pitchFamily="2" charset="2"/>
              </a:rPr>
              <a:t>{</a:t>
            </a:r>
            <a:r>
              <a:rPr lang="en-US" altLang="zh-CN" dirty="0" err="1">
                <a:sym typeface="Wingdings" panose="05000000000000000000" pitchFamily="2" charset="2"/>
              </a:rPr>
              <a:t>KUa,KRa</a:t>
            </a:r>
            <a:r>
              <a:rPr lang="en-US" altLang="zh-CN" dirty="0">
                <a:sym typeface="Wingdings" panose="05000000000000000000" pitchFamily="2" charset="2"/>
              </a:rPr>
              <a:t>},B</a:t>
            </a:r>
            <a:r>
              <a:rPr lang="zh-CN" altLang="en-US" dirty="0">
                <a:sym typeface="Wingdings" panose="05000000000000000000" pitchFamily="2" charset="2"/>
              </a:rPr>
              <a:t>丢弃</a:t>
            </a:r>
            <a:r>
              <a:rPr lang="en-US" altLang="zh-CN" dirty="0" err="1">
                <a:sym typeface="Wingdings" panose="05000000000000000000" pitchFamily="2" charset="2"/>
              </a:rPr>
              <a:t>KUe</a:t>
            </a:r>
            <a:endParaRPr lang="en-US" altLang="zh-CN" dirty="0">
              <a:sym typeface="Wingdings" panose="05000000000000000000" pitchFamily="2" charset="2"/>
            </a:endParaRPr>
          </a:p>
          <a:p>
            <a:pPr lvl="1">
              <a:lnSpc>
                <a:spcPct val="150000"/>
              </a:lnSpc>
              <a:spcBef>
                <a:spcPct val="0"/>
              </a:spcBef>
              <a:buClr>
                <a:srgbClr val="000066"/>
              </a:buClr>
              <a:buSzPct val="90000"/>
            </a:pPr>
            <a:r>
              <a:rPr lang="en-US" altLang="zh-CN" dirty="0">
                <a:sym typeface="Wingdings" panose="05000000000000000000" pitchFamily="2" charset="2"/>
              </a:rPr>
              <a:t>E</a:t>
            </a:r>
            <a:r>
              <a:rPr lang="zh-CN" altLang="en-US" dirty="0">
                <a:sym typeface="Wingdings" panose="05000000000000000000" pitchFamily="2" charset="2"/>
              </a:rPr>
              <a:t>获得了</a:t>
            </a:r>
            <a:r>
              <a:rPr lang="en-US" altLang="zh-CN" dirty="0">
                <a:sym typeface="Wingdings" panose="05000000000000000000" pitchFamily="2" charset="2"/>
              </a:rPr>
              <a:t>Ks,</a:t>
            </a:r>
            <a:r>
              <a:rPr lang="zh-CN" altLang="en-US" dirty="0">
                <a:sym typeface="Wingdings" panose="05000000000000000000" pitchFamily="2" charset="2"/>
              </a:rPr>
              <a:t>故以后只需进行窃听</a:t>
            </a:r>
            <a:r>
              <a:rPr lang="en-US" altLang="zh-CN" dirty="0">
                <a:sym typeface="Wingdings" panose="05000000000000000000" pitchFamily="2" charset="2"/>
              </a:rPr>
              <a:t>.</a:t>
            </a:r>
          </a:p>
          <a:p>
            <a:pPr lvl="1">
              <a:lnSpc>
                <a:spcPct val="150000"/>
              </a:lnSpc>
              <a:spcBef>
                <a:spcPct val="0"/>
              </a:spcBef>
              <a:buClr>
                <a:srgbClr val="000066"/>
              </a:buClr>
              <a:buSzPct val="90000"/>
            </a:pPr>
            <a:r>
              <a:rPr lang="en-US" altLang="zh-CN" dirty="0">
                <a:sym typeface="Wingdings" panose="05000000000000000000" pitchFamily="2" charset="2"/>
              </a:rPr>
              <a:t>A,B</a:t>
            </a:r>
            <a:r>
              <a:rPr lang="zh-CN" altLang="en-US" dirty="0">
                <a:sym typeface="Wingdings" panose="05000000000000000000" pitchFamily="2" charset="2"/>
              </a:rPr>
              <a:t>并不知晓它们被攻击了</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65</a:t>
            </a:fld>
            <a:endParaRPr kumimoji="1" lang="zh-CN" altLang="en-US" dirty="0"/>
          </a:p>
        </p:txBody>
      </p:sp>
      <p:sp>
        <p:nvSpPr>
          <p:cNvPr id="5" name="文本框 4"/>
          <p:cNvSpPr txBox="1"/>
          <p:nvPr/>
        </p:nvSpPr>
        <p:spPr>
          <a:xfrm>
            <a:off x="6522085" y="5514022"/>
            <a:ext cx="5080000" cy="583565"/>
          </a:xfrm>
          <a:prstGeom prst="rect">
            <a:avLst/>
          </a:prstGeom>
        </p:spPr>
        <p:txBody>
          <a:bodyPr>
            <a:spAutoFit/>
          </a:bodyPr>
          <a:lstStyle/>
          <a:p>
            <a:r>
              <a:rPr lang="zh-CN" altLang="en-US" sz="1600" b="1">
                <a:solidFill>
                  <a:srgbClr val="C00000"/>
                </a:solidFill>
              </a:rPr>
              <a:t>中间人截获</a:t>
            </a:r>
            <a:r>
              <a:rPr lang="en-US" altLang="zh-CN" sz="1600" b="1">
                <a:solidFill>
                  <a:srgbClr val="C00000"/>
                </a:solidFill>
              </a:rPr>
              <a:t>A</a:t>
            </a:r>
            <a:r>
              <a:rPr lang="zh-CN" altLang="en-US" sz="1600" b="1">
                <a:solidFill>
                  <a:srgbClr val="C00000"/>
                </a:solidFill>
              </a:rPr>
              <a:t>的公钥并掉包成自己的发给</a:t>
            </a:r>
            <a:r>
              <a:rPr lang="en-US" altLang="zh-CN" sz="1600" b="1">
                <a:solidFill>
                  <a:srgbClr val="C00000"/>
                </a:solidFill>
              </a:rPr>
              <a:t>B</a:t>
            </a:r>
            <a:r>
              <a:rPr lang="zh-CN" altLang="en-US" sz="1600" b="1">
                <a:solidFill>
                  <a:srgbClr val="C00000"/>
                </a:solidFill>
              </a:rPr>
              <a:t>；</a:t>
            </a:r>
            <a:r>
              <a:rPr lang="en-US" altLang="zh-CN" sz="1600" b="1">
                <a:solidFill>
                  <a:srgbClr val="C00000"/>
                </a:solidFill>
              </a:rPr>
              <a:t>B</a:t>
            </a:r>
            <a:r>
              <a:rPr lang="zh-CN" altLang="en-US" sz="1600" b="1">
                <a:solidFill>
                  <a:srgbClr val="C00000"/>
                </a:solidFill>
              </a:rPr>
              <a:t>用假公钥加密密钥回传时，被中间人解密窃听后再伪造发给</a:t>
            </a:r>
            <a:r>
              <a:rPr lang="en-US" altLang="zh-CN" sz="1600" b="1">
                <a:solidFill>
                  <a:srgbClr val="C00000"/>
                </a:solidFill>
              </a:rPr>
              <a:t>A</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7.4.2 </a:t>
            </a:r>
            <a:r>
              <a:rPr kumimoji="1" lang="zh-CN" altLang="zh-CN" dirty="0">
                <a:solidFill>
                  <a:prstClr val="black"/>
                </a:solidFill>
              </a:rPr>
              <a:t>基于公钥密码的秘密密钥分发</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具有保密和鉴别能力的分配（</a:t>
            </a:r>
            <a:r>
              <a:rPr lang="en-US" altLang="zh-CN" dirty="0"/>
              <a:t>Secret key distribution with confidentiality  and </a:t>
            </a:r>
            <a:r>
              <a:rPr lang="en-US" altLang="zh-CN" dirty="0" err="1"/>
              <a:t>auhtentication</a:t>
            </a:r>
            <a:r>
              <a:rPr lang="zh-CN" altLang="en-US" dirty="0"/>
              <a:t>）</a:t>
            </a:r>
            <a:endParaRPr lang="en-US" altLang="zh-CN" dirty="0"/>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66</a:t>
            </a:fld>
            <a:endParaRPr kumimoji="1" lang="zh-CN" altLang="en-US" dirty="0"/>
          </a:p>
        </p:txBody>
      </p:sp>
      <p:pic>
        <p:nvPicPr>
          <p:cNvPr id="5" name="Picture 4" descr="D:\YOUNG\Course\CryptoCourse\Figures\f61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100" y="3039094"/>
            <a:ext cx="75438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1979295" y="5848350"/>
            <a:ext cx="5739765" cy="583565"/>
          </a:xfrm>
          <a:prstGeom prst="rect">
            <a:avLst/>
          </a:prstGeom>
        </p:spPr>
        <p:txBody>
          <a:bodyPr wrap="square">
            <a:spAutoFit/>
          </a:bodyPr>
          <a:lstStyle/>
          <a:p>
            <a:r>
              <a:rPr lang="zh-CN" altLang="en-US" sz="1600" b="1">
                <a:solidFill>
                  <a:srgbClr val="C00000"/>
                </a:solidFill>
              </a:rPr>
              <a:t>双方先用对方公钥互发随机数对暗号，完成双向认证；随后</a:t>
            </a:r>
            <a:r>
              <a:rPr lang="en-US" altLang="zh-CN" sz="1600" b="1">
                <a:solidFill>
                  <a:srgbClr val="C00000"/>
                </a:solidFill>
              </a:rPr>
              <a:t>A</a:t>
            </a:r>
            <a:r>
              <a:rPr lang="zh-CN" altLang="en-US" sz="1600" b="1">
                <a:solidFill>
                  <a:srgbClr val="C00000"/>
                </a:solidFill>
              </a:rPr>
              <a:t>用自己私钥签名、</a:t>
            </a:r>
            <a:r>
              <a:rPr lang="en-US" altLang="zh-CN" sz="1600" b="1">
                <a:solidFill>
                  <a:srgbClr val="C00000"/>
                </a:solidFill>
              </a:rPr>
              <a:t>B</a:t>
            </a:r>
            <a:r>
              <a:rPr lang="zh-CN" altLang="en-US" sz="1600" b="1">
                <a:solidFill>
                  <a:srgbClr val="C00000"/>
                </a:solidFill>
              </a:rPr>
              <a:t>公钥加密，安全送达会话密钥</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t>7.1 </a:t>
            </a:r>
            <a:r>
              <a:rPr kumimoji="1" lang="zh-CN" altLang="zh-CN" sz="3000" dirty="0"/>
              <a:t>远程用户认证原理</a:t>
            </a:r>
            <a:endParaRPr kumimoji="1" lang="en-US" altLang="zh-CN" sz="3000" dirty="0"/>
          </a:p>
          <a:p>
            <a:pPr>
              <a:lnSpc>
                <a:spcPct val="130000"/>
              </a:lnSpc>
              <a:buNone/>
            </a:pPr>
            <a:r>
              <a:rPr kumimoji="1" lang="en-US" altLang="zh-CN" sz="3000" dirty="0"/>
              <a:t>7.2 </a:t>
            </a:r>
            <a:r>
              <a:rPr kumimoji="1" lang="zh-CN" altLang="zh-CN" sz="3000" dirty="0"/>
              <a:t>基于对称加密的密钥分配</a:t>
            </a:r>
            <a:endParaRPr kumimoji="1" lang="en-US" altLang="zh-CN" sz="3000" dirty="0"/>
          </a:p>
          <a:p>
            <a:pPr>
              <a:lnSpc>
                <a:spcPct val="130000"/>
              </a:lnSpc>
              <a:buNone/>
            </a:pPr>
            <a:r>
              <a:rPr kumimoji="1" lang="en-US" altLang="zh-CN" sz="3000" dirty="0"/>
              <a:t>7.3 Kerberos</a:t>
            </a:r>
          </a:p>
          <a:p>
            <a:pPr>
              <a:lnSpc>
                <a:spcPct val="150000"/>
              </a:lnSpc>
              <a:buNone/>
            </a:pPr>
            <a:r>
              <a:rPr kumimoji="1" lang="en-US" altLang="zh-CN" sz="3000" dirty="0"/>
              <a:t>7.4 </a:t>
            </a:r>
            <a:r>
              <a:rPr kumimoji="1" lang="zh-CN" altLang="zh-CN" sz="3000" dirty="0"/>
              <a:t>基于非对称加密的密钥分配</a:t>
            </a:r>
            <a:endParaRPr kumimoji="1" lang="en-US" altLang="zh-CN" sz="3000" dirty="0"/>
          </a:p>
          <a:p>
            <a:pPr>
              <a:lnSpc>
                <a:spcPct val="150000"/>
              </a:lnSpc>
              <a:buNone/>
            </a:pPr>
            <a:r>
              <a:rPr kumimoji="1" lang="en-US" altLang="zh-CN" sz="3000" dirty="0">
                <a:solidFill>
                  <a:srgbClr val="C00000"/>
                </a:solidFill>
              </a:rPr>
              <a:t>7.5 X.509</a:t>
            </a:r>
            <a:r>
              <a:rPr kumimoji="1" lang="zh-CN" altLang="zh-CN" sz="3000" dirty="0">
                <a:solidFill>
                  <a:srgbClr val="C00000"/>
                </a:solidFill>
              </a:rPr>
              <a:t>证书</a:t>
            </a:r>
            <a:endParaRPr kumimoji="1" lang="en-US" altLang="zh-CN" sz="3000" dirty="0">
              <a:solidFill>
                <a:srgbClr val="C00000"/>
              </a:solidFill>
            </a:endParaRPr>
          </a:p>
          <a:p>
            <a:pPr>
              <a:lnSpc>
                <a:spcPct val="150000"/>
              </a:lnSpc>
              <a:buNone/>
            </a:pPr>
            <a:r>
              <a:rPr kumimoji="1" lang="en-US" altLang="zh-CN" sz="3000" dirty="0"/>
              <a:t>7.6 </a:t>
            </a:r>
            <a:r>
              <a:rPr kumimoji="1" lang="zh-CN" altLang="zh-CN" sz="3000" dirty="0"/>
              <a:t>公钥基础设施</a:t>
            </a:r>
            <a:endParaRPr kumimoji="1" lang="en-US" altLang="zh-CN" sz="3000" dirty="0"/>
          </a:p>
          <a:p>
            <a:pPr>
              <a:lnSpc>
                <a:spcPct val="150000"/>
              </a:lnSpc>
              <a:buNone/>
            </a:pPr>
            <a:r>
              <a:rPr kumimoji="1" lang="en-US" altLang="zh-CN" sz="3000" dirty="0"/>
              <a:t>7.7 </a:t>
            </a:r>
            <a:r>
              <a:rPr lang="zh-CN" altLang="zh-CN" dirty="0"/>
              <a:t>联合身份管理</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67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7077693" y="3752602"/>
            <a:ext cx="4122717" cy="1594371"/>
          </a:xfrm>
          <a:prstGeom prst="wedgeRectCallout">
            <a:avLst>
              <a:gd name="adj1" fmla="val -131635"/>
              <a:gd name="adj2" fmla="val -175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证书</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X.509</a:t>
            </a:r>
            <a:r>
              <a:rPr kumimoji="1" lang="zh-CN" altLang="zh-CN" sz="2400" dirty="0">
                <a:solidFill>
                  <a:prstClr val="black"/>
                </a:solidFill>
                <a:latin typeface="微软雅黑" panose="020B0503020204020204" pitchFamily="34" charset="-122"/>
                <a:ea typeface="微软雅黑" panose="020B0503020204020204" pitchFamily="34" charset="-122"/>
              </a:rPr>
              <a:t>版本</a:t>
            </a:r>
            <a:r>
              <a:rPr kumimoji="1" lang="en-US" altLang="zh-CN" sz="2400" dirty="0">
                <a:solidFill>
                  <a:prstClr val="black"/>
                </a:solidFill>
                <a:latin typeface="微软雅黑" panose="020B0503020204020204" pitchFamily="34" charset="-122"/>
                <a:ea typeface="微软雅黑" panose="020B0503020204020204" pitchFamily="34" charset="-122"/>
              </a:rPr>
              <a:t>3</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7.5.1 </a:t>
            </a:r>
            <a:r>
              <a:rPr kumimoji="1" lang="zh-CN" altLang="en-US" dirty="0">
                <a:solidFill>
                  <a:prstClr val="black"/>
                </a:solidFill>
              </a:rPr>
              <a:t>证书</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证书</a:t>
            </a:r>
            <a:r>
              <a:rPr lang="en-US" altLang="zh-CN" dirty="0"/>
              <a:t>(certificate)</a:t>
            </a:r>
            <a:r>
              <a:rPr lang="zh-CN" altLang="en-US" dirty="0"/>
              <a:t>，有时候简称为</a:t>
            </a:r>
            <a:r>
              <a:rPr lang="en-US" altLang="zh-CN" dirty="0"/>
              <a:t>cert</a:t>
            </a:r>
            <a:r>
              <a:rPr lang="zh-CN" altLang="en-US" dirty="0"/>
              <a:t>。</a:t>
            </a:r>
            <a:endParaRPr lang="en-US" altLang="zh-CN" dirty="0"/>
          </a:p>
          <a:p>
            <a:pPr>
              <a:lnSpc>
                <a:spcPct val="150000"/>
              </a:lnSpc>
            </a:pPr>
            <a:r>
              <a:rPr lang="zh-CN" altLang="en-US" dirty="0"/>
              <a:t>证书是一个机构颁发给一个安全个体的证明，所以证书的权威性取决于该机构的权威性。</a:t>
            </a:r>
          </a:p>
          <a:p>
            <a:pPr>
              <a:lnSpc>
                <a:spcPct val="150000"/>
              </a:lnSpc>
            </a:pPr>
            <a:r>
              <a:rPr lang="zh-CN" altLang="en-US" dirty="0"/>
              <a:t>一个证书中，最重要的信息是个体名字、个体的公钥、机构的签名、算法和用途。</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68</a:t>
            </a:fld>
            <a:endParaRPr kumimoji="1"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7.5.1 </a:t>
            </a:r>
            <a:r>
              <a:rPr kumimoji="1" lang="zh-CN" altLang="en-US" dirty="0">
                <a:solidFill>
                  <a:prstClr val="black"/>
                </a:solidFill>
              </a:rPr>
              <a:t>证书</a:t>
            </a:r>
            <a:endParaRPr lang="zh-CN" altLang="en-US" dirty="0"/>
          </a:p>
        </p:txBody>
      </p:sp>
      <p:sp>
        <p:nvSpPr>
          <p:cNvPr id="3" name="内容占位符 2"/>
          <p:cNvSpPr>
            <a:spLocks noGrp="1"/>
          </p:cNvSpPr>
          <p:nvPr>
            <p:ph idx="1"/>
          </p:nvPr>
        </p:nvSpPr>
        <p:spPr>
          <a:xfrm>
            <a:off x="838200" y="1307325"/>
            <a:ext cx="4921332" cy="4986597"/>
          </a:xfrm>
        </p:spPr>
        <p:txBody>
          <a:bodyPr>
            <a:normAutofit lnSpcReduction="10000"/>
          </a:bodyPr>
          <a:lstStyle/>
          <a:p>
            <a:pPr>
              <a:lnSpc>
                <a:spcPct val="150000"/>
              </a:lnSpc>
            </a:pPr>
            <a:r>
              <a:rPr lang="en-US" altLang="zh-CN" dirty="0"/>
              <a:t>X.509</a:t>
            </a:r>
            <a:r>
              <a:rPr lang="zh-CN" altLang="en-US" dirty="0"/>
              <a:t>证书格式</a:t>
            </a:r>
            <a:endParaRPr lang="en-US" altLang="zh-CN" dirty="0"/>
          </a:p>
          <a:p>
            <a:pPr lvl="1"/>
            <a:r>
              <a:rPr lang="zh-CN" altLang="en-US" dirty="0"/>
              <a:t>版本</a:t>
            </a:r>
            <a:r>
              <a:rPr lang="en-US" altLang="zh-CN" dirty="0"/>
              <a:t>1</a:t>
            </a:r>
            <a:r>
              <a:rPr lang="zh-CN" altLang="en-US" dirty="0"/>
              <a:t>、</a:t>
            </a:r>
            <a:r>
              <a:rPr lang="en-US" altLang="zh-CN" dirty="0"/>
              <a:t>2</a:t>
            </a:r>
            <a:r>
              <a:rPr lang="zh-CN" altLang="en-US" dirty="0"/>
              <a:t>、</a:t>
            </a:r>
            <a:r>
              <a:rPr lang="en-US" altLang="zh-CN" dirty="0"/>
              <a:t>3</a:t>
            </a:r>
          </a:p>
          <a:p>
            <a:pPr lvl="1"/>
            <a:r>
              <a:rPr lang="zh-CN" altLang="en-US" dirty="0"/>
              <a:t>序列号</a:t>
            </a:r>
          </a:p>
          <a:p>
            <a:pPr lvl="2"/>
            <a:r>
              <a:rPr lang="zh-CN" altLang="en-US" sz="2200" dirty="0"/>
              <a:t>在</a:t>
            </a:r>
            <a:r>
              <a:rPr lang="en-US" altLang="zh-CN" sz="2200" dirty="0"/>
              <a:t>CA</a:t>
            </a:r>
            <a:r>
              <a:rPr lang="zh-CN" altLang="en-US" sz="2200" dirty="0"/>
              <a:t>内部唯一</a:t>
            </a:r>
          </a:p>
          <a:p>
            <a:pPr lvl="1"/>
            <a:r>
              <a:rPr lang="zh-CN" altLang="en-US" dirty="0"/>
              <a:t>签名算法标识符</a:t>
            </a:r>
          </a:p>
          <a:p>
            <a:pPr lvl="2"/>
            <a:r>
              <a:rPr lang="zh-CN" altLang="en-US" sz="2200" dirty="0"/>
              <a:t>指该证书中的签名算法</a:t>
            </a:r>
          </a:p>
          <a:p>
            <a:pPr lvl="1"/>
            <a:r>
              <a:rPr lang="zh-CN" altLang="en-US" dirty="0"/>
              <a:t>签发人名字</a:t>
            </a:r>
          </a:p>
          <a:p>
            <a:pPr lvl="2"/>
            <a:r>
              <a:rPr lang="en-US" altLang="zh-CN" sz="2200" dirty="0"/>
              <a:t>CA</a:t>
            </a:r>
            <a:r>
              <a:rPr lang="zh-CN" altLang="en-US" sz="2200" dirty="0"/>
              <a:t>的名字</a:t>
            </a:r>
          </a:p>
          <a:p>
            <a:pPr lvl="1"/>
            <a:r>
              <a:rPr lang="zh-CN" altLang="en-US" dirty="0"/>
              <a:t>有效时间</a:t>
            </a:r>
          </a:p>
          <a:p>
            <a:pPr lvl="2"/>
            <a:r>
              <a:rPr lang="zh-CN" altLang="en-US" sz="2200" dirty="0"/>
              <a:t>起始和终止时间</a:t>
            </a:r>
          </a:p>
          <a:p>
            <a:pPr lvl="1"/>
            <a:r>
              <a:rPr lang="zh-CN" altLang="en-US" dirty="0"/>
              <a:t>个体名字</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69</a:t>
            </a:fld>
            <a:endParaRPr kumimoji="1" lang="zh-CN" altLang="en-US" dirty="0"/>
          </a:p>
        </p:txBody>
      </p:sp>
      <p:graphicFrame>
        <p:nvGraphicFramePr>
          <p:cNvPr id="5" name="Object 1024"/>
          <p:cNvGraphicFramePr>
            <a:graphicFrameLocks noChangeAspect="1"/>
          </p:cNvGraphicFramePr>
          <p:nvPr/>
        </p:nvGraphicFramePr>
        <p:xfrm>
          <a:off x="6540129" y="1307325"/>
          <a:ext cx="4765675" cy="5410200"/>
        </p:xfrm>
        <a:graphic>
          <a:graphicData uri="http://schemas.openxmlformats.org/presentationml/2006/ole">
            <mc:AlternateContent xmlns:mc="http://schemas.openxmlformats.org/markup-compatibility/2006">
              <mc:Choice xmlns:v="urn:schemas-microsoft-com:vml" Requires="v">
                <p:oleObj spid="_x0000_s2054" name="位图图像" r:id="rId3" imgW="4362450" imgH="4953000" progId="Paint.Picture">
                  <p:embed/>
                </p:oleObj>
              </mc:Choice>
              <mc:Fallback>
                <p:oleObj name="位图图像" r:id="rId3" imgW="4362450" imgH="4953000" progId="Paint.Picture">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0129" y="1307325"/>
                        <a:ext cx="4765675" cy="5410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1029"/>
          <p:cNvSpPr>
            <a:spLocks noChangeArrowheads="1"/>
          </p:cNvSpPr>
          <p:nvPr/>
        </p:nvSpPr>
        <p:spPr bwMode="auto">
          <a:xfrm>
            <a:off x="6304808" y="4222937"/>
            <a:ext cx="4953000" cy="2590800"/>
          </a:xfrm>
          <a:prstGeom prst="rect">
            <a:avLst/>
          </a:prstGeom>
          <a:solidFill>
            <a:srgbClr val="9999FF">
              <a:alpha val="50195"/>
            </a:srgbClr>
          </a:solidFill>
          <a:ln w="9525">
            <a:solidFill>
              <a:schemeClr val="tx1"/>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b="0">
              <a:solidFill>
                <a:schemeClr val="tx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7.5.1 </a:t>
            </a:r>
            <a:r>
              <a:rPr kumimoji="1" lang="zh-CN" altLang="en-US" dirty="0">
                <a:solidFill>
                  <a:prstClr val="black"/>
                </a:solidFill>
              </a:rPr>
              <a:t>证书</a:t>
            </a:r>
            <a:endParaRPr lang="zh-CN" altLang="en-US" dirty="0"/>
          </a:p>
        </p:txBody>
      </p:sp>
      <p:sp>
        <p:nvSpPr>
          <p:cNvPr id="3" name="内容占位符 2"/>
          <p:cNvSpPr>
            <a:spLocks noGrp="1"/>
          </p:cNvSpPr>
          <p:nvPr>
            <p:ph idx="1"/>
          </p:nvPr>
        </p:nvSpPr>
        <p:spPr>
          <a:xfrm>
            <a:off x="838200" y="1307325"/>
            <a:ext cx="4921332" cy="4986597"/>
          </a:xfrm>
        </p:spPr>
        <p:txBody>
          <a:bodyPr>
            <a:normAutofit/>
          </a:bodyPr>
          <a:lstStyle/>
          <a:p>
            <a:pPr>
              <a:lnSpc>
                <a:spcPct val="150000"/>
              </a:lnSpc>
            </a:pPr>
            <a:r>
              <a:rPr lang="en-US" altLang="zh-CN" dirty="0"/>
              <a:t>X.509</a:t>
            </a:r>
            <a:r>
              <a:rPr lang="zh-CN" altLang="en-US" dirty="0"/>
              <a:t>证书格式</a:t>
            </a:r>
            <a:endParaRPr lang="en-US" altLang="zh-CN" dirty="0"/>
          </a:p>
          <a:p>
            <a:pPr lvl="1"/>
            <a:r>
              <a:rPr lang="zh-CN" altLang="en-US" dirty="0"/>
              <a:t>个体的公钥信息</a:t>
            </a:r>
          </a:p>
          <a:p>
            <a:pPr lvl="2"/>
            <a:r>
              <a:rPr lang="zh-CN" altLang="en-US" sz="2400" dirty="0"/>
              <a:t>算法</a:t>
            </a:r>
          </a:p>
          <a:p>
            <a:pPr lvl="2"/>
            <a:r>
              <a:rPr lang="zh-CN" altLang="en-US" sz="2400" dirty="0"/>
              <a:t>参数</a:t>
            </a:r>
          </a:p>
          <a:p>
            <a:pPr lvl="2"/>
            <a:r>
              <a:rPr lang="zh-CN" altLang="en-US" sz="2400" dirty="0"/>
              <a:t>密钥</a:t>
            </a:r>
          </a:p>
          <a:p>
            <a:pPr lvl="1"/>
            <a:r>
              <a:rPr lang="zh-CN" altLang="en-US" dirty="0"/>
              <a:t>签发人唯一标识符</a:t>
            </a:r>
          </a:p>
          <a:p>
            <a:pPr lvl="1"/>
            <a:r>
              <a:rPr lang="zh-CN" altLang="en-US" dirty="0"/>
              <a:t>个体唯一标识符</a:t>
            </a:r>
          </a:p>
          <a:p>
            <a:pPr lvl="1"/>
            <a:r>
              <a:rPr lang="zh-CN" altLang="en-US" dirty="0"/>
              <a:t>扩展域</a:t>
            </a:r>
          </a:p>
          <a:p>
            <a:pPr lvl="1"/>
            <a:r>
              <a:rPr lang="zh-CN" altLang="en-US" dirty="0"/>
              <a:t>签名</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70</a:t>
            </a:fld>
            <a:endParaRPr kumimoji="1" lang="zh-CN" altLang="en-US" dirty="0"/>
          </a:p>
        </p:txBody>
      </p:sp>
      <p:graphicFrame>
        <p:nvGraphicFramePr>
          <p:cNvPr id="7" name="Object 1024"/>
          <p:cNvGraphicFramePr>
            <a:graphicFrameLocks noChangeAspect="1"/>
          </p:cNvGraphicFramePr>
          <p:nvPr/>
        </p:nvGraphicFramePr>
        <p:xfrm>
          <a:off x="6515883" y="1307325"/>
          <a:ext cx="4765675" cy="5410200"/>
        </p:xfrm>
        <a:graphic>
          <a:graphicData uri="http://schemas.openxmlformats.org/presentationml/2006/ole">
            <mc:AlternateContent xmlns:mc="http://schemas.openxmlformats.org/markup-compatibility/2006">
              <mc:Choice xmlns:v="urn:schemas-microsoft-com:vml" Requires="v">
                <p:oleObj spid="_x0000_s3078" name="位图图像" r:id="rId3" imgW="4362450" imgH="4953000" progId="Paint.Picture">
                  <p:embed/>
                </p:oleObj>
              </mc:Choice>
              <mc:Fallback>
                <p:oleObj name="位图图像" r:id="rId3" imgW="4362450" imgH="4953000" progId="Paint.Picture">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5883" y="1307325"/>
                        <a:ext cx="4765675" cy="5410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1029"/>
          <p:cNvSpPr>
            <a:spLocks noChangeArrowheads="1"/>
          </p:cNvSpPr>
          <p:nvPr/>
        </p:nvSpPr>
        <p:spPr bwMode="auto">
          <a:xfrm>
            <a:off x="6328558" y="1307325"/>
            <a:ext cx="4953000" cy="2895600"/>
          </a:xfrm>
          <a:prstGeom prst="rect">
            <a:avLst/>
          </a:prstGeom>
          <a:solidFill>
            <a:srgbClr val="9999FF">
              <a:alpha val="50195"/>
            </a:srgbClr>
          </a:solidFill>
          <a:ln w="9525">
            <a:solidFill>
              <a:schemeClr val="tx1"/>
            </a:solidFill>
            <a:miter lim="800000"/>
          </a:ln>
        </p:spPr>
        <p:txBody>
          <a:bodyPr wrap="none" anchor="ctr"/>
          <a:lstStyle>
            <a:lvl1pPr>
              <a:spcBef>
                <a:spcPct val="20000"/>
              </a:spcBef>
              <a:buChar char="•"/>
              <a:defRPr kumimoji="1" sz="3200" b="1">
                <a:solidFill>
                  <a:srgbClr val="000066"/>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rgbClr val="000066"/>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rgbClr val="000066"/>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b="1">
                <a:solidFill>
                  <a:srgbClr val="000066"/>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b="0">
              <a:solidFill>
                <a:schemeClr val="tx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7.5.1 </a:t>
            </a:r>
            <a:r>
              <a:rPr kumimoji="1" lang="zh-CN" altLang="en-US" dirty="0">
                <a:solidFill>
                  <a:prstClr val="black"/>
                </a:solidFill>
              </a:rPr>
              <a:t>证书</a:t>
            </a:r>
            <a:endParaRPr lang="zh-CN" altLang="en-US" dirty="0"/>
          </a:p>
        </p:txBody>
      </p:sp>
      <p:sp>
        <p:nvSpPr>
          <p:cNvPr id="3" name="内容占位符 2"/>
          <p:cNvSpPr>
            <a:spLocks noGrp="1"/>
          </p:cNvSpPr>
          <p:nvPr>
            <p:ph idx="1"/>
          </p:nvPr>
        </p:nvSpPr>
        <p:spPr>
          <a:xfrm>
            <a:off x="838200" y="1307325"/>
            <a:ext cx="4921332" cy="4986597"/>
          </a:xfrm>
        </p:spPr>
        <p:txBody>
          <a:bodyPr>
            <a:normAutofit/>
          </a:bodyPr>
          <a:lstStyle/>
          <a:p>
            <a:pPr>
              <a:lnSpc>
                <a:spcPct val="150000"/>
              </a:lnSpc>
            </a:pPr>
            <a:r>
              <a:rPr lang="en-US" altLang="zh-CN" dirty="0"/>
              <a:t>X.509</a:t>
            </a:r>
            <a:r>
              <a:rPr lang="zh-CN" altLang="en-US" dirty="0"/>
              <a:t>证书示意图</a:t>
            </a:r>
            <a:endParaRPr lang="en-US" altLang="zh-CN" dirty="0"/>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71</a:t>
            </a:fld>
            <a:endParaRPr kumimoji="1" lang="zh-CN" altLang="en-US" dirty="0"/>
          </a:p>
        </p:txBody>
      </p:sp>
      <p:pic>
        <p:nvPicPr>
          <p:cNvPr id="5" name="图片 4"/>
          <p:cNvPicPr>
            <a:picLocks noChangeAspect="1"/>
          </p:cNvPicPr>
          <p:nvPr/>
        </p:nvPicPr>
        <p:blipFill>
          <a:blip r:embed="rId2"/>
          <a:stretch>
            <a:fillRect/>
          </a:stretch>
        </p:blipFill>
        <p:spPr>
          <a:xfrm>
            <a:off x="4583770" y="1414132"/>
            <a:ext cx="4865030" cy="5261304"/>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t>7.1 </a:t>
            </a:r>
            <a:r>
              <a:rPr kumimoji="1" lang="zh-CN" altLang="zh-CN" sz="3000" dirty="0"/>
              <a:t>远程用户认证原理</a:t>
            </a:r>
            <a:endParaRPr kumimoji="1" lang="en-US" altLang="zh-CN" sz="3000" dirty="0"/>
          </a:p>
          <a:p>
            <a:pPr>
              <a:lnSpc>
                <a:spcPct val="130000"/>
              </a:lnSpc>
              <a:buNone/>
            </a:pPr>
            <a:r>
              <a:rPr kumimoji="1" lang="en-US" altLang="zh-CN" sz="3000" dirty="0"/>
              <a:t>7.2 </a:t>
            </a:r>
            <a:r>
              <a:rPr kumimoji="1" lang="zh-CN" altLang="zh-CN" sz="3000" dirty="0"/>
              <a:t>基于对称加密的密钥分配</a:t>
            </a:r>
            <a:endParaRPr kumimoji="1" lang="en-US" altLang="zh-CN" sz="3000" dirty="0"/>
          </a:p>
          <a:p>
            <a:pPr>
              <a:lnSpc>
                <a:spcPct val="130000"/>
              </a:lnSpc>
              <a:buNone/>
            </a:pPr>
            <a:r>
              <a:rPr kumimoji="1" lang="en-US" altLang="zh-CN" sz="3000" dirty="0"/>
              <a:t>7.3 Kerberos</a:t>
            </a:r>
          </a:p>
          <a:p>
            <a:pPr>
              <a:lnSpc>
                <a:spcPct val="150000"/>
              </a:lnSpc>
              <a:buNone/>
            </a:pPr>
            <a:r>
              <a:rPr kumimoji="1" lang="en-US" altLang="zh-CN" sz="3000" dirty="0"/>
              <a:t>7.4 </a:t>
            </a:r>
            <a:r>
              <a:rPr kumimoji="1" lang="zh-CN" altLang="zh-CN" sz="3000" dirty="0"/>
              <a:t>基于非对称加密的密钥分配</a:t>
            </a:r>
            <a:endParaRPr kumimoji="1" lang="en-US" altLang="zh-CN" sz="3000" dirty="0"/>
          </a:p>
          <a:p>
            <a:pPr>
              <a:lnSpc>
                <a:spcPct val="150000"/>
              </a:lnSpc>
              <a:buNone/>
            </a:pPr>
            <a:r>
              <a:rPr kumimoji="1" lang="en-US" altLang="zh-CN" sz="3000" dirty="0"/>
              <a:t>7.5 X.509</a:t>
            </a:r>
            <a:r>
              <a:rPr kumimoji="1" lang="zh-CN" altLang="zh-CN" sz="3000" dirty="0"/>
              <a:t>证书</a:t>
            </a:r>
            <a:endParaRPr kumimoji="1" lang="en-US" altLang="zh-CN" sz="3000" dirty="0"/>
          </a:p>
          <a:p>
            <a:pPr>
              <a:lnSpc>
                <a:spcPct val="150000"/>
              </a:lnSpc>
              <a:buNone/>
            </a:pPr>
            <a:r>
              <a:rPr kumimoji="1" lang="en-US" altLang="zh-CN" sz="3000" dirty="0">
                <a:solidFill>
                  <a:srgbClr val="C00000"/>
                </a:solidFill>
              </a:rPr>
              <a:t>7.6 </a:t>
            </a:r>
            <a:r>
              <a:rPr kumimoji="1" lang="zh-CN" altLang="zh-CN" sz="3000" dirty="0">
                <a:solidFill>
                  <a:srgbClr val="C00000"/>
                </a:solidFill>
              </a:rPr>
              <a:t>公钥基础设施</a:t>
            </a:r>
            <a:endParaRPr kumimoji="1" lang="en-US" altLang="zh-CN" sz="3000" dirty="0">
              <a:solidFill>
                <a:srgbClr val="C00000"/>
              </a:solidFill>
            </a:endParaRPr>
          </a:p>
          <a:p>
            <a:pPr>
              <a:lnSpc>
                <a:spcPct val="150000"/>
              </a:lnSpc>
              <a:buNone/>
            </a:pPr>
            <a:r>
              <a:rPr kumimoji="1" lang="en-US" altLang="zh-CN" sz="3000" dirty="0"/>
              <a:t>7.7 </a:t>
            </a:r>
            <a:r>
              <a:rPr lang="zh-CN" altLang="zh-CN" dirty="0"/>
              <a:t>联合身份管理</a:t>
            </a:r>
            <a:endParaRPr kumimoji="1" lang="en-US" altLang="zh-CN" sz="3000" dirty="0"/>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72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7077693" y="3752602"/>
            <a:ext cx="4122717" cy="1594371"/>
          </a:xfrm>
          <a:prstGeom prst="wedgeRectCallout">
            <a:avLst>
              <a:gd name="adj1" fmla="val -116657"/>
              <a:gd name="adj2" fmla="val 4293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PKIX</a:t>
            </a:r>
            <a:r>
              <a:rPr kumimoji="1" lang="zh-CN" altLang="zh-CN" sz="2400" dirty="0">
                <a:solidFill>
                  <a:prstClr val="black"/>
                </a:solidFill>
                <a:latin typeface="微软雅黑" panose="020B0503020204020204" pitchFamily="34" charset="-122"/>
                <a:ea typeface="微软雅黑" panose="020B0503020204020204" pitchFamily="34" charset="-122"/>
              </a:rPr>
              <a:t>管理功能</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微软雅黑" panose="020B0503020204020204" pitchFamily="34" charset="-122"/>
                <a:ea typeface="微软雅黑" panose="020B0503020204020204" pitchFamily="34" charset="-122"/>
              </a:rPr>
              <a:t>PKIX</a:t>
            </a:r>
            <a:r>
              <a:rPr kumimoji="1" lang="zh-CN" altLang="zh-CN" sz="2400" dirty="0">
                <a:solidFill>
                  <a:prstClr val="black"/>
                </a:solidFill>
                <a:latin typeface="微软雅黑" panose="020B0503020204020204" pitchFamily="34" charset="-122"/>
                <a:ea typeface="微软雅黑" panose="020B0503020204020204" pitchFamily="34" charset="-122"/>
              </a:rPr>
              <a:t>管理协议</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7.6 </a:t>
            </a:r>
            <a:r>
              <a:rPr kumimoji="1" lang="zh-CN" altLang="en-US" dirty="0">
                <a:solidFill>
                  <a:prstClr val="black"/>
                </a:solidFill>
              </a:rPr>
              <a:t>公钥基础设施</a:t>
            </a:r>
            <a:r>
              <a:rPr kumimoji="1" lang="en-US" altLang="zh-CN" dirty="0">
                <a:solidFill>
                  <a:prstClr val="black"/>
                </a:solidFill>
              </a:rPr>
              <a:t>PKI</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PKI</a:t>
            </a:r>
            <a:r>
              <a:rPr lang="zh-CN" altLang="en-US" dirty="0"/>
              <a:t>是一个用公钥概念与技术来实施和提供安全服务的普适性基础设施。</a:t>
            </a:r>
            <a:endParaRPr lang="en-US" altLang="zh-CN" dirty="0"/>
          </a:p>
          <a:p>
            <a:pPr>
              <a:lnSpc>
                <a:spcPct val="150000"/>
              </a:lnSpc>
            </a:pPr>
            <a:r>
              <a:rPr lang="en-US" altLang="zh-CN" dirty="0"/>
              <a:t>PKI</a:t>
            </a:r>
            <a:r>
              <a:rPr lang="zh-CN" altLang="en-US" dirty="0">
                <a:latin typeface="宋体" panose="02010600030101010101" pitchFamily="2" charset="-122"/>
              </a:rPr>
              <a:t>是一种标准的密钥管理平台，它能够为所有网络应用透明地提供采用加密和数据签名等密码服务所必须的密钥和证书管理。</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73</a:t>
            </a:fld>
            <a:endParaRPr kumimoji="1"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7.6 </a:t>
            </a:r>
            <a:r>
              <a:rPr kumimoji="1" lang="zh-CN" altLang="en-US" dirty="0">
                <a:solidFill>
                  <a:prstClr val="black"/>
                </a:solidFill>
              </a:rPr>
              <a:t>公钥基础设施</a:t>
            </a:r>
            <a:r>
              <a:rPr kumimoji="1" lang="en-US" altLang="zh-CN" dirty="0">
                <a:solidFill>
                  <a:prstClr val="black"/>
                </a:solidFill>
              </a:rPr>
              <a:t>PKI</a:t>
            </a:r>
            <a:endParaRPr lang="zh-CN" altLang="en-US" dirty="0"/>
          </a:p>
        </p:txBody>
      </p:sp>
      <p:sp>
        <p:nvSpPr>
          <p:cNvPr id="3" name="内容占位符 2"/>
          <p:cNvSpPr>
            <a:spLocks noGrp="1"/>
          </p:cNvSpPr>
          <p:nvPr>
            <p:ph idx="1"/>
          </p:nvPr>
        </p:nvSpPr>
        <p:spPr>
          <a:xfrm>
            <a:off x="838200" y="1244212"/>
            <a:ext cx="10515600" cy="5248661"/>
          </a:xfrm>
        </p:spPr>
        <p:txBody>
          <a:bodyPr>
            <a:normAutofit fontScale="92500" lnSpcReduction="10000"/>
          </a:bodyPr>
          <a:lstStyle/>
          <a:p>
            <a:pPr>
              <a:lnSpc>
                <a:spcPct val="150000"/>
              </a:lnSpc>
            </a:pPr>
            <a:r>
              <a:rPr lang="en-US" altLang="zh-CN" dirty="0"/>
              <a:t>PKI</a:t>
            </a:r>
            <a:r>
              <a:rPr lang="zh-CN" altLang="en-US" dirty="0"/>
              <a:t>提供的基本服务</a:t>
            </a:r>
            <a:endParaRPr lang="en-US" altLang="zh-CN" dirty="0"/>
          </a:p>
          <a:p>
            <a:pPr lvl="1">
              <a:lnSpc>
                <a:spcPct val="90000"/>
              </a:lnSpc>
            </a:pPr>
            <a:r>
              <a:rPr lang="zh-CN" altLang="en-US" dirty="0"/>
              <a:t>鉴别</a:t>
            </a:r>
          </a:p>
          <a:p>
            <a:pPr lvl="2">
              <a:lnSpc>
                <a:spcPct val="90000"/>
              </a:lnSpc>
            </a:pPr>
            <a:r>
              <a:rPr lang="zh-CN" altLang="en-US" sz="2200" dirty="0"/>
              <a:t>采用数字签名技术，签名作用于相应的数据之上</a:t>
            </a:r>
          </a:p>
          <a:p>
            <a:pPr lvl="3">
              <a:lnSpc>
                <a:spcPct val="90000"/>
              </a:lnSpc>
            </a:pPr>
            <a:r>
              <a:rPr lang="zh-CN" altLang="en-US" sz="2200" dirty="0"/>
              <a:t>被鉴别的数据 </a:t>
            </a:r>
            <a:r>
              <a:rPr lang="en-US" altLang="zh-CN" sz="2200" dirty="0"/>
              <a:t>—— </a:t>
            </a:r>
            <a:r>
              <a:rPr lang="zh-CN" altLang="en-US" sz="2200" dirty="0"/>
              <a:t>数据源鉴别服务</a:t>
            </a:r>
          </a:p>
          <a:p>
            <a:pPr lvl="3">
              <a:lnSpc>
                <a:spcPct val="90000"/>
              </a:lnSpc>
            </a:pPr>
            <a:r>
              <a:rPr lang="zh-CN" altLang="en-US" sz="2200" dirty="0"/>
              <a:t>用户发送的远程请求 </a:t>
            </a:r>
            <a:r>
              <a:rPr lang="en-US" altLang="zh-CN" sz="2200" dirty="0"/>
              <a:t>—— </a:t>
            </a:r>
            <a:r>
              <a:rPr lang="zh-CN" altLang="en-US" sz="2200" dirty="0"/>
              <a:t>身份鉴别服务</a:t>
            </a:r>
          </a:p>
          <a:p>
            <a:pPr lvl="3">
              <a:lnSpc>
                <a:spcPct val="90000"/>
              </a:lnSpc>
            </a:pPr>
            <a:r>
              <a:rPr lang="zh-CN" altLang="en-US" sz="2200" dirty="0"/>
              <a:t>远程设备生成的</a:t>
            </a:r>
            <a:r>
              <a:rPr lang="en-US" altLang="zh-CN" sz="2200" dirty="0"/>
              <a:t>challenge</a:t>
            </a:r>
            <a:r>
              <a:rPr lang="zh-CN" altLang="en-US" sz="2200" dirty="0"/>
              <a:t>信息 </a:t>
            </a:r>
            <a:r>
              <a:rPr lang="en-US" altLang="zh-CN" sz="2200" dirty="0"/>
              <a:t>—— </a:t>
            </a:r>
            <a:r>
              <a:rPr lang="zh-CN" altLang="en-US" sz="2200" dirty="0"/>
              <a:t>身份鉴别</a:t>
            </a:r>
          </a:p>
          <a:p>
            <a:pPr lvl="1">
              <a:lnSpc>
                <a:spcPct val="90000"/>
              </a:lnSpc>
            </a:pPr>
            <a:r>
              <a:rPr lang="zh-CN" altLang="en-US" dirty="0"/>
              <a:t>完整性</a:t>
            </a:r>
          </a:p>
          <a:p>
            <a:pPr lvl="2">
              <a:lnSpc>
                <a:spcPct val="90000"/>
              </a:lnSpc>
            </a:pPr>
            <a:r>
              <a:rPr lang="en-US" altLang="zh-CN" sz="2200" dirty="0"/>
              <a:t>PKI</a:t>
            </a:r>
            <a:r>
              <a:rPr lang="zh-CN" altLang="en-US" sz="2200" dirty="0"/>
              <a:t>采用了两种技术</a:t>
            </a:r>
          </a:p>
          <a:p>
            <a:pPr lvl="3">
              <a:lnSpc>
                <a:spcPct val="90000"/>
              </a:lnSpc>
            </a:pPr>
            <a:r>
              <a:rPr lang="zh-CN" altLang="en-US" sz="2200" dirty="0"/>
              <a:t>数字签名：既可以是实体认证，也可以是数据完整性</a:t>
            </a:r>
          </a:p>
          <a:p>
            <a:pPr lvl="3">
              <a:lnSpc>
                <a:spcPct val="90000"/>
              </a:lnSpc>
            </a:pPr>
            <a:r>
              <a:rPr lang="en-US" altLang="zh-CN" sz="2200" dirty="0"/>
              <a:t>MAC(</a:t>
            </a:r>
            <a:r>
              <a:rPr lang="zh-CN" altLang="en-US" sz="2200" dirty="0"/>
              <a:t>消息认证码</a:t>
            </a:r>
            <a:r>
              <a:rPr lang="en-US" altLang="zh-CN" sz="2200" dirty="0"/>
              <a:t>)</a:t>
            </a:r>
            <a:r>
              <a:rPr lang="zh-CN" altLang="en-US" sz="2200" dirty="0"/>
              <a:t>：如</a:t>
            </a:r>
            <a:r>
              <a:rPr lang="en-US" altLang="zh-CN" sz="2200" dirty="0"/>
              <a:t>DES-CBC-MAC</a:t>
            </a:r>
            <a:r>
              <a:rPr lang="zh-CN" altLang="en-US" sz="2200" dirty="0"/>
              <a:t>或者</a:t>
            </a:r>
            <a:r>
              <a:rPr lang="en-US" altLang="zh-CN" sz="2200" dirty="0"/>
              <a:t>HMAC-MD5</a:t>
            </a:r>
          </a:p>
          <a:p>
            <a:pPr lvl="1">
              <a:lnSpc>
                <a:spcPct val="90000"/>
              </a:lnSpc>
            </a:pPr>
            <a:r>
              <a:rPr lang="zh-CN" altLang="en-US" dirty="0"/>
              <a:t>保密性</a:t>
            </a:r>
          </a:p>
          <a:p>
            <a:pPr lvl="2">
              <a:lnSpc>
                <a:spcPct val="90000"/>
              </a:lnSpc>
            </a:pPr>
            <a:r>
              <a:rPr lang="zh-CN" altLang="en-US" sz="2200" dirty="0"/>
              <a:t>用公钥分发随机密钥，然后用随机密钥对数据加密</a:t>
            </a:r>
          </a:p>
          <a:p>
            <a:pPr lvl="1">
              <a:lnSpc>
                <a:spcPct val="90000"/>
              </a:lnSpc>
            </a:pPr>
            <a:r>
              <a:rPr lang="zh-CN" altLang="en-US" dirty="0"/>
              <a:t>不可否认</a:t>
            </a:r>
          </a:p>
          <a:p>
            <a:pPr lvl="2">
              <a:lnSpc>
                <a:spcPct val="90000"/>
              </a:lnSpc>
            </a:pPr>
            <a:r>
              <a:rPr lang="zh-CN" altLang="en-US" sz="2200" dirty="0"/>
              <a:t>发送方的不可否认 </a:t>
            </a:r>
            <a:r>
              <a:rPr lang="en-US" altLang="zh-CN" sz="2200" dirty="0"/>
              <a:t>—— </a:t>
            </a:r>
            <a:r>
              <a:rPr lang="zh-CN" altLang="en-US" sz="2200" dirty="0"/>
              <a:t>数字签名</a:t>
            </a:r>
          </a:p>
          <a:p>
            <a:pPr lvl="2">
              <a:lnSpc>
                <a:spcPct val="90000"/>
              </a:lnSpc>
            </a:pPr>
            <a:r>
              <a:rPr lang="zh-CN" altLang="en-US" sz="2200" dirty="0"/>
              <a:t>接受方的不可否认 </a:t>
            </a:r>
            <a:r>
              <a:rPr lang="en-US" altLang="zh-CN" sz="2200" dirty="0"/>
              <a:t>—— </a:t>
            </a:r>
            <a:r>
              <a:rPr lang="zh-CN" altLang="en-US" sz="2200" dirty="0"/>
              <a:t>收条 </a:t>
            </a:r>
            <a:r>
              <a:rPr lang="en-US" altLang="zh-CN" sz="2200" dirty="0"/>
              <a:t>+ </a:t>
            </a:r>
            <a:r>
              <a:rPr lang="zh-CN" altLang="en-US" sz="2200" dirty="0"/>
              <a:t>数字签名</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74</a:t>
            </a:fld>
            <a:endParaRPr kumimoji="1"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7.6 </a:t>
            </a:r>
            <a:r>
              <a:rPr kumimoji="1" lang="zh-CN" altLang="en-US" dirty="0">
                <a:solidFill>
                  <a:prstClr val="black"/>
                </a:solidFill>
              </a:rPr>
              <a:t>公钥基础设施</a:t>
            </a:r>
            <a:r>
              <a:rPr kumimoji="1" lang="en-US" altLang="zh-CN" dirty="0">
                <a:solidFill>
                  <a:prstClr val="black"/>
                </a:solidFill>
              </a:rPr>
              <a:t>PKI</a:t>
            </a:r>
            <a:endParaRPr lang="zh-CN" altLang="en-US" dirty="0"/>
          </a:p>
        </p:txBody>
      </p:sp>
      <p:sp>
        <p:nvSpPr>
          <p:cNvPr id="3" name="内容占位符 2"/>
          <p:cNvSpPr>
            <a:spLocks noGrp="1"/>
          </p:cNvSpPr>
          <p:nvPr>
            <p:ph idx="1"/>
          </p:nvPr>
        </p:nvSpPr>
        <p:spPr>
          <a:xfrm>
            <a:off x="838200" y="1244212"/>
            <a:ext cx="10515600" cy="5248661"/>
          </a:xfrm>
        </p:spPr>
        <p:txBody>
          <a:bodyPr>
            <a:normAutofit fontScale="77500" lnSpcReduction="20000"/>
          </a:bodyPr>
          <a:lstStyle/>
          <a:p>
            <a:pPr>
              <a:lnSpc>
                <a:spcPct val="150000"/>
              </a:lnSpc>
            </a:pPr>
            <a:r>
              <a:rPr lang="zh-CN" altLang="en-US" dirty="0"/>
              <a:t>联网工程任务组（</a:t>
            </a:r>
            <a:r>
              <a:rPr lang="en-US" altLang="zh-CN" dirty="0"/>
              <a:t>IETF</a:t>
            </a:r>
            <a:r>
              <a:rPr lang="zh-CN" altLang="en-US" dirty="0"/>
              <a:t>）公钥基础设施</a:t>
            </a:r>
            <a:r>
              <a:rPr lang="en-US" altLang="zh-CN" dirty="0"/>
              <a:t>X.509</a:t>
            </a:r>
            <a:r>
              <a:rPr lang="zh-CN" altLang="en-US" dirty="0"/>
              <a:t>（</a:t>
            </a:r>
            <a:r>
              <a:rPr lang="en-US" altLang="zh-CN" dirty="0"/>
              <a:t>PKIX</a:t>
            </a:r>
            <a:r>
              <a:rPr lang="zh-CN" altLang="en-US" dirty="0"/>
              <a:t>）工作组是建立一个基于</a:t>
            </a:r>
            <a:r>
              <a:rPr lang="en-US" altLang="zh-CN" dirty="0"/>
              <a:t>X.509</a:t>
            </a:r>
            <a:r>
              <a:rPr lang="zh-CN" altLang="en-US" dirty="0"/>
              <a:t>的、适用于在互联网上部署基于证书架构的正式（且一般）模型的背后推动力量。</a:t>
            </a:r>
            <a:endParaRPr lang="en-US" altLang="zh-CN" dirty="0"/>
          </a:p>
          <a:p>
            <a:pPr>
              <a:lnSpc>
                <a:spcPct val="150000"/>
              </a:lnSpc>
            </a:pPr>
            <a:r>
              <a:rPr lang="en-US" altLang="zh-CN" dirty="0"/>
              <a:t>PKIX</a:t>
            </a:r>
            <a:r>
              <a:rPr lang="zh-CN" altLang="en-US" dirty="0"/>
              <a:t>模型</a:t>
            </a:r>
            <a:endParaRPr lang="en-US" altLang="zh-CN" dirty="0"/>
          </a:p>
          <a:p>
            <a:pPr lvl="1">
              <a:lnSpc>
                <a:spcPct val="160000"/>
              </a:lnSpc>
            </a:pPr>
            <a:r>
              <a:rPr lang="zh-CN" altLang="en-US" dirty="0">
                <a:latin typeface="宋体" panose="02010600030101010101" pitchFamily="2" charset="-122"/>
              </a:rPr>
              <a:t>端实体：终端用户、设备（服务器和路由器）或者任何其他的可以在公钥证书的主体域被确定身份的实体。</a:t>
            </a:r>
            <a:endParaRPr lang="en-US" altLang="zh-CN" dirty="0">
              <a:latin typeface="宋体" panose="02010600030101010101" pitchFamily="2" charset="-122"/>
            </a:endParaRPr>
          </a:p>
          <a:p>
            <a:pPr lvl="1">
              <a:lnSpc>
                <a:spcPct val="160000"/>
              </a:lnSpc>
            </a:pPr>
            <a:r>
              <a:rPr lang="zh-CN" altLang="en-US" dirty="0">
                <a:latin typeface="宋体" panose="02010600030101010101" pitchFamily="2" charset="-122"/>
              </a:rPr>
              <a:t>注册机构</a:t>
            </a:r>
            <a:r>
              <a:rPr lang="en-US" altLang="zh-CN" dirty="0">
                <a:latin typeface="宋体" panose="02010600030101010101" pitchFamily="2" charset="-122"/>
              </a:rPr>
              <a:t>RA</a:t>
            </a:r>
            <a:r>
              <a:rPr lang="zh-CN" altLang="en-US" dirty="0">
                <a:latin typeface="宋体" panose="02010600030101010101" pitchFamily="2" charset="-122"/>
              </a:rPr>
              <a:t>：一个可选的部分，它承担很多从</a:t>
            </a:r>
            <a:r>
              <a:rPr lang="en-US" altLang="zh-CN" dirty="0">
                <a:latin typeface="宋体" panose="02010600030101010101" pitchFamily="2" charset="-122"/>
              </a:rPr>
              <a:t>CA</a:t>
            </a:r>
            <a:r>
              <a:rPr lang="zh-CN" altLang="en-US" dirty="0">
                <a:latin typeface="宋体" panose="02010600030101010101" pitchFamily="2" charset="-122"/>
              </a:rPr>
              <a:t>处继承的管理功能。</a:t>
            </a:r>
            <a:endParaRPr lang="en-US" altLang="zh-CN" dirty="0">
              <a:latin typeface="宋体" panose="02010600030101010101" pitchFamily="2" charset="-122"/>
            </a:endParaRPr>
          </a:p>
          <a:p>
            <a:pPr lvl="1">
              <a:lnSpc>
                <a:spcPct val="160000"/>
              </a:lnSpc>
            </a:pPr>
            <a:r>
              <a:rPr lang="zh-CN" altLang="en-US" dirty="0">
                <a:latin typeface="宋体" panose="02010600030101010101" pitchFamily="2" charset="-122"/>
              </a:rPr>
              <a:t>认证机构</a:t>
            </a:r>
            <a:r>
              <a:rPr lang="en-US" altLang="zh-CN" dirty="0">
                <a:latin typeface="宋体" panose="02010600030101010101" pitchFamily="2" charset="-122"/>
              </a:rPr>
              <a:t>CA</a:t>
            </a:r>
            <a:r>
              <a:rPr lang="zh-CN" altLang="en-US" dirty="0">
                <a:latin typeface="宋体" panose="02010600030101010101" pitchFamily="2" charset="-122"/>
              </a:rPr>
              <a:t>：证书的发放者，通常也是撤销证书列表（</a:t>
            </a:r>
            <a:r>
              <a:rPr lang="en-US" altLang="zh-CN" dirty="0">
                <a:latin typeface="宋体" panose="02010600030101010101" pitchFamily="2" charset="-122"/>
              </a:rPr>
              <a:t>CRL</a:t>
            </a:r>
            <a:r>
              <a:rPr lang="zh-CN" altLang="en-US" dirty="0">
                <a:latin typeface="宋体" panose="02010600030101010101" pitchFamily="2" charset="-122"/>
              </a:rPr>
              <a:t>）的发放者</a:t>
            </a:r>
            <a:endParaRPr lang="en-US" altLang="zh-CN" dirty="0">
              <a:latin typeface="宋体" panose="02010600030101010101" pitchFamily="2" charset="-122"/>
            </a:endParaRPr>
          </a:p>
          <a:p>
            <a:pPr lvl="1">
              <a:lnSpc>
                <a:spcPct val="160000"/>
              </a:lnSpc>
            </a:pPr>
            <a:r>
              <a:rPr lang="en-US" altLang="zh-CN" dirty="0"/>
              <a:t>CRL</a:t>
            </a:r>
            <a:r>
              <a:rPr lang="zh-CN" altLang="en-US" dirty="0"/>
              <a:t>发放者：一个可选的部分，它可以代理</a:t>
            </a:r>
            <a:r>
              <a:rPr lang="en-US" altLang="zh-CN" dirty="0"/>
              <a:t>CA</a:t>
            </a:r>
            <a:r>
              <a:rPr lang="zh-CN" altLang="en-US" dirty="0"/>
              <a:t>发布</a:t>
            </a:r>
            <a:r>
              <a:rPr lang="en-US" altLang="zh-CN" dirty="0"/>
              <a:t>CRL</a:t>
            </a:r>
            <a:r>
              <a:rPr lang="zh-CN" altLang="en-US" dirty="0"/>
              <a:t>。</a:t>
            </a:r>
            <a:endParaRPr lang="en-US" altLang="zh-CN" dirty="0"/>
          </a:p>
          <a:p>
            <a:pPr lvl="1">
              <a:lnSpc>
                <a:spcPct val="160000"/>
              </a:lnSpc>
            </a:pPr>
            <a:r>
              <a:rPr lang="zh-CN" altLang="en-US" dirty="0">
                <a:latin typeface="宋体" panose="02010600030101010101" pitchFamily="2" charset="-122"/>
              </a:rPr>
              <a:t>证书库：一个用来表示储存证书和</a:t>
            </a:r>
            <a:r>
              <a:rPr lang="en-US" altLang="zh-CN" dirty="0">
                <a:latin typeface="宋体" panose="02010600030101010101" pitchFamily="2" charset="-122"/>
              </a:rPr>
              <a:t>CRL</a:t>
            </a:r>
            <a:r>
              <a:rPr lang="zh-CN" altLang="en-US" dirty="0">
                <a:latin typeface="宋体" panose="02010600030101010101" pitchFamily="2" charset="-122"/>
              </a:rPr>
              <a:t>以使证书和</a:t>
            </a:r>
            <a:r>
              <a:rPr lang="en-US" altLang="zh-CN" dirty="0">
                <a:latin typeface="宋体" panose="02010600030101010101" pitchFamily="2" charset="-122"/>
              </a:rPr>
              <a:t>CRL</a:t>
            </a:r>
            <a:r>
              <a:rPr lang="zh-CN" altLang="en-US" dirty="0">
                <a:latin typeface="宋体" panose="02010600030101010101" pitchFamily="2" charset="-122"/>
              </a:rPr>
              <a:t>可以被端实体检索的任何方法的通用术语。</a:t>
            </a:r>
          </a:p>
          <a:p>
            <a:pPr>
              <a:lnSpc>
                <a:spcPct val="150000"/>
              </a:lnSpc>
            </a:pP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75</a:t>
            </a:fld>
            <a:endParaRPr kumimoji="1"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7.6 </a:t>
            </a:r>
            <a:r>
              <a:rPr kumimoji="1" lang="zh-CN" altLang="en-US" dirty="0">
                <a:solidFill>
                  <a:prstClr val="black"/>
                </a:solidFill>
              </a:rPr>
              <a:t>公钥基础设施</a:t>
            </a:r>
            <a:r>
              <a:rPr kumimoji="1" lang="en-US" altLang="zh-CN" dirty="0">
                <a:solidFill>
                  <a:prstClr val="black"/>
                </a:solidFill>
              </a:rPr>
              <a:t>PKI</a:t>
            </a:r>
            <a:endParaRPr lang="zh-CN" altLang="en-US" dirty="0"/>
          </a:p>
        </p:txBody>
      </p:sp>
      <p:sp>
        <p:nvSpPr>
          <p:cNvPr id="3" name="内容占位符 2"/>
          <p:cNvSpPr>
            <a:spLocks noGrp="1"/>
          </p:cNvSpPr>
          <p:nvPr>
            <p:ph idx="1"/>
          </p:nvPr>
        </p:nvSpPr>
        <p:spPr>
          <a:xfrm>
            <a:off x="838200" y="1244212"/>
            <a:ext cx="10515600" cy="5248661"/>
          </a:xfrm>
        </p:spPr>
        <p:txBody>
          <a:bodyPr>
            <a:normAutofit/>
          </a:bodyPr>
          <a:lstStyle/>
          <a:p>
            <a:pPr>
              <a:lnSpc>
                <a:spcPct val="150000"/>
              </a:lnSpc>
            </a:pPr>
            <a:r>
              <a:rPr lang="en-US" altLang="zh-CN" sz="2400" dirty="0"/>
              <a:t>PKIX</a:t>
            </a:r>
            <a:r>
              <a:rPr lang="zh-CN" altLang="en-US" sz="2400" dirty="0"/>
              <a:t>模型：</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76</a:t>
            </a:fld>
            <a:endParaRPr kumimoji="1" lang="zh-CN" altLang="en-US" dirty="0"/>
          </a:p>
        </p:txBody>
      </p:sp>
      <p:pic>
        <p:nvPicPr>
          <p:cNvPr id="5" name="图片 4"/>
          <p:cNvPicPr>
            <a:picLocks noChangeAspect="1"/>
          </p:cNvPicPr>
          <p:nvPr/>
        </p:nvPicPr>
        <p:blipFill>
          <a:blip r:embed="rId2"/>
          <a:stretch>
            <a:fillRect/>
          </a:stretch>
        </p:blipFill>
        <p:spPr>
          <a:xfrm>
            <a:off x="2782783" y="1768698"/>
            <a:ext cx="5957456" cy="472100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7.6.1 </a:t>
            </a:r>
            <a:r>
              <a:rPr kumimoji="1" lang="en-US" altLang="zh-CN" dirty="0">
                <a:solidFill>
                  <a:prstClr val="black"/>
                </a:solidFill>
              </a:rPr>
              <a:t>PKIX</a:t>
            </a:r>
            <a:r>
              <a:rPr kumimoji="1" lang="zh-CN" altLang="zh-CN" dirty="0">
                <a:solidFill>
                  <a:prstClr val="black"/>
                </a:solidFill>
              </a:rPr>
              <a:t>管理功能</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50000"/>
              </a:lnSpc>
            </a:pPr>
            <a:r>
              <a:rPr lang="zh-CN" altLang="en-US" dirty="0">
                <a:solidFill>
                  <a:srgbClr val="C00000"/>
                </a:solidFill>
              </a:rPr>
              <a:t>注册</a:t>
            </a:r>
            <a:r>
              <a:rPr lang="zh-CN" altLang="en-US" dirty="0"/>
              <a:t>：注册开始了一个</a:t>
            </a:r>
            <a:r>
              <a:rPr lang="en-US" altLang="zh-CN" dirty="0"/>
              <a:t>PKI</a:t>
            </a:r>
            <a:r>
              <a:rPr lang="zh-CN" altLang="en-US" dirty="0"/>
              <a:t>中的登记过程。注册通常包括一些离线或在线的步骤来互相认证。一般来说，为将来认证使用的一个和多个共享秘密密钥被发放给端实体。</a:t>
            </a:r>
            <a:endParaRPr lang="en-US" altLang="zh-CN" dirty="0"/>
          </a:p>
          <a:p>
            <a:pPr>
              <a:lnSpc>
                <a:spcPct val="150000"/>
              </a:lnSpc>
            </a:pPr>
            <a:r>
              <a:rPr lang="zh-CN" altLang="en-US" dirty="0">
                <a:solidFill>
                  <a:srgbClr val="C00000"/>
                </a:solidFill>
              </a:rPr>
              <a:t>初始化</a:t>
            </a:r>
            <a:r>
              <a:rPr lang="zh-CN" altLang="en-US" dirty="0"/>
              <a:t>：在客户端可以安全工作以前，需要安装密钥资料，这些密钥资料与存储在基础设施其他地方的密钥具有一定的关系。例如，客户端需要被安全地初始化，这需要使用公钥以及其他由可信</a:t>
            </a:r>
            <a:r>
              <a:rPr lang="en-US" altLang="zh-CN" dirty="0"/>
              <a:t>CA</a:t>
            </a:r>
            <a:r>
              <a:rPr lang="zh-CN" altLang="en-US" dirty="0"/>
              <a:t>（一个或多个）担保的、将被用于验证证书路径的信息。</a:t>
            </a:r>
            <a:endParaRPr lang="en-US" altLang="zh-CN" dirty="0"/>
          </a:p>
          <a:p>
            <a:pPr>
              <a:lnSpc>
                <a:spcPct val="150000"/>
              </a:lnSpc>
            </a:pPr>
            <a:r>
              <a:rPr lang="zh-CN" altLang="en-US" dirty="0">
                <a:solidFill>
                  <a:srgbClr val="C00000"/>
                </a:solidFill>
              </a:rPr>
              <a:t>认证</a:t>
            </a:r>
            <a:r>
              <a:rPr lang="zh-CN" altLang="en-US" dirty="0"/>
              <a:t>：</a:t>
            </a:r>
            <a:r>
              <a:rPr lang="en-US" altLang="zh-CN" dirty="0"/>
              <a:t>CA</a:t>
            </a:r>
            <a:r>
              <a:rPr lang="zh-CN" altLang="en-US" dirty="0"/>
              <a:t>为一个用户的公钥发放一个证书，并将该证书返回给用户的客户端系统和或将此证书存放在一个储存库中。</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77</a:t>
            </a:fld>
            <a:endParaRPr kumimoji="1"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7.6.1 </a:t>
            </a:r>
            <a:r>
              <a:rPr kumimoji="1" lang="en-US" altLang="zh-CN" dirty="0">
                <a:solidFill>
                  <a:prstClr val="black"/>
                </a:solidFill>
              </a:rPr>
              <a:t>PKIX</a:t>
            </a:r>
            <a:r>
              <a:rPr kumimoji="1" lang="zh-CN" altLang="zh-CN" dirty="0">
                <a:solidFill>
                  <a:prstClr val="black"/>
                </a:solidFill>
              </a:rPr>
              <a:t>管理功能</a:t>
            </a:r>
            <a:endParaRPr lang="zh-CN" altLang="en-US" dirty="0"/>
          </a:p>
        </p:txBody>
      </p:sp>
      <p:sp>
        <p:nvSpPr>
          <p:cNvPr id="3" name="内容占位符 2"/>
          <p:cNvSpPr>
            <a:spLocks noGrp="1"/>
          </p:cNvSpPr>
          <p:nvPr>
            <p:ph idx="1"/>
          </p:nvPr>
        </p:nvSpPr>
        <p:spPr/>
        <p:txBody>
          <a:bodyPr>
            <a:normAutofit fontScale="77500" lnSpcReduction="20000"/>
          </a:bodyPr>
          <a:lstStyle/>
          <a:p>
            <a:pPr algn="just">
              <a:lnSpc>
                <a:spcPct val="160000"/>
              </a:lnSpc>
            </a:pPr>
            <a:r>
              <a:rPr lang="zh-CN" altLang="en-US" dirty="0">
                <a:solidFill>
                  <a:srgbClr val="C00000"/>
                </a:solidFill>
              </a:rPr>
              <a:t>密钥对恢复</a:t>
            </a:r>
            <a:r>
              <a:rPr lang="zh-CN" altLang="en-US" dirty="0"/>
              <a:t>：</a:t>
            </a:r>
            <a:r>
              <a:rPr lang="zh-CN" altLang="en-US" dirty="0">
                <a:cs typeface="Times New Roman" panose="02020603050405020304" pitchFamily="18" charset="0"/>
              </a:rPr>
              <a:t>为了防止用户丢失用于脱密数据的密钥以后，密文数据无法被脱密，从而造成数据丢失，</a:t>
            </a:r>
            <a:r>
              <a:rPr lang="en-US" altLang="zh-CN" dirty="0">
                <a:cs typeface="Times New Roman" panose="02020603050405020304" pitchFamily="18" charset="0"/>
              </a:rPr>
              <a:t>PKI</a:t>
            </a:r>
            <a:r>
              <a:rPr lang="zh-CN" altLang="en-US" dirty="0">
                <a:cs typeface="Times New Roman" panose="02020603050405020304" pitchFamily="18" charset="0"/>
              </a:rPr>
              <a:t>应该提供脱密密钥的备份和恢复的机制。脱密密钥的备份和恢复应该由可信机构来完成，如</a:t>
            </a:r>
            <a:r>
              <a:rPr lang="en-US" altLang="zh-CN" dirty="0">
                <a:cs typeface="Times New Roman" panose="02020603050405020304" pitchFamily="18" charset="0"/>
              </a:rPr>
              <a:t>CA</a:t>
            </a:r>
            <a:r>
              <a:rPr lang="zh-CN" altLang="en-US" dirty="0">
                <a:cs typeface="Times New Roman" panose="02020603050405020304" pitchFamily="18" charset="0"/>
              </a:rPr>
              <a:t>。</a:t>
            </a:r>
            <a:endParaRPr lang="en-US" altLang="zh-CN" dirty="0">
              <a:cs typeface="Times New Roman" panose="02020603050405020304" pitchFamily="18" charset="0"/>
            </a:endParaRPr>
          </a:p>
          <a:p>
            <a:pPr algn="just">
              <a:lnSpc>
                <a:spcPct val="160000"/>
              </a:lnSpc>
            </a:pPr>
            <a:r>
              <a:rPr lang="zh-CN" altLang="en-US" dirty="0">
                <a:solidFill>
                  <a:srgbClr val="C00000"/>
                </a:solidFill>
                <a:latin typeface="宋体" panose="02010600030101010101" pitchFamily="2" charset="-122"/>
                <a:cs typeface="Times New Roman" panose="02020603050405020304" pitchFamily="18" charset="0"/>
              </a:rPr>
              <a:t>密钥对更新</a:t>
            </a:r>
            <a:r>
              <a:rPr lang="zh-CN" altLang="en-US" dirty="0">
                <a:latin typeface="宋体" panose="02010600030101010101" pitchFamily="2" charset="-122"/>
                <a:cs typeface="Times New Roman" panose="02020603050405020304" pitchFamily="18" charset="0"/>
              </a:rPr>
              <a:t>：所有密钥对都需要定期更新，并且发放新证书。当证书过期或证书被撤销时，就需要更新。</a:t>
            </a:r>
            <a:endParaRPr lang="en-US" altLang="zh-CN" dirty="0">
              <a:latin typeface="宋体" panose="02010600030101010101" pitchFamily="2" charset="-122"/>
              <a:cs typeface="Times New Roman" panose="02020603050405020304" pitchFamily="18" charset="0"/>
            </a:endParaRPr>
          </a:p>
          <a:p>
            <a:pPr>
              <a:lnSpc>
                <a:spcPct val="160000"/>
              </a:lnSpc>
            </a:pPr>
            <a:r>
              <a:rPr lang="zh-CN" altLang="en-US" dirty="0">
                <a:solidFill>
                  <a:srgbClr val="C00000"/>
                </a:solidFill>
                <a:latin typeface="宋体" panose="02010600030101010101" pitchFamily="2" charset="-122"/>
                <a:cs typeface="Times New Roman" panose="02020603050405020304" pitchFamily="18" charset="0"/>
              </a:rPr>
              <a:t>撤销申请</a:t>
            </a:r>
            <a:r>
              <a:rPr lang="zh-CN" altLang="en-US" dirty="0">
                <a:latin typeface="宋体" panose="02010600030101010101" pitchFamily="2" charset="-122"/>
                <a:cs typeface="Times New Roman" panose="02020603050405020304" pitchFamily="18" charset="0"/>
              </a:rPr>
              <a:t>：</a:t>
            </a:r>
            <a:r>
              <a:rPr lang="zh-CN" altLang="en-US" dirty="0"/>
              <a:t>由于各种原因，证书需要被注销。比如，私钥泄漏、密钥更换、用户变化。</a:t>
            </a:r>
            <a:endParaRPr lang="en-US" altLang="zh-CN" dirty="0"/>
          </a:p>
          <a:p>
            <a:pPr>
              <a:lnSpc>
                <a:spcPct val="160000"/>
              </a:lnSpc>
            </a:pPr>
            <a:r>
              <a:rPr lang="zh-CN" altLang="en-US" dirty="0">
                <a:solidFill>
                  <a:srgbClr val="C00000"/>
                </a:solidFill>
              </a:rPr>
              <a:t>交叉认证</a:t>
            </a:r>
            <a:r>
              <a:rPr lang="zh-CN" altLang="en-US" dirty="0"/>
              <a:t>：两个</a:t>
            </a:r>
            <a:r>
              <a:rPr lang="en-US" altLang="zh-CN" dirty="0"/>
              <a:t>CA</a:t>
            </a:r>
            <a:r>
              <a:rPr lang="zh-CN" altLang="en-US" dirty="0"/>
              <a:t>互相交换用于建立交叉证书的信息。一个交叉证书是一个</a:t>
            </a:r>
            <a:r>
              <a:rPr lang="en-US" altLang="zh-CN" dirty="0"/>
              <a:t>CA</a:t>
            </a:r>
            <a:r>
              <a:rPr lang="zh-CN" altLang="en-US" dirty="0"/>
              <a:t>给另一个</a:t>
            </a:r>
            <a:r>
              <a:rPr lang="en-US" altLang="zh-CN" dirty="0"/>
              <a:t>CA</a:t>
            </a:r>
            <a:r>
              <a:rPr lang="zh-CN" altLang="en-US" dirty="0"/>
              <a:t>发放的证书。</a:t>
            </a:r>
          </a:p>
          <a:p>
            <a:pPr algn="just"/>
            <a:endParaRPr lang="en-US" altLang="zh-CN" dirty="0">
              <a:latin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78</a:t>
            </a:fld>
            <a:endParaRPr kumimoji="1"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7.6.2 </a:t>
            </a:r>
            <a:r>
              <a:rPr kumimoji="1" lang="en-US" altLang="zh-CN" dirty="0">
                <a:solidFill>
                  <a:prstClr val="black"/>
                </a:solidFill>
              </a:rPr>
              <a:t>PKIX</a:t>
            </a:r>
            <a:r>
              <a:rPr kumimoji="1" lang="zh-CN" altLang="zh-CN" dirty="0">
                <a:solidFill>
                  <a:prstClr val="black"/>
                </a:solidFill>
              </a:rPr>
              <a:t>管理协议</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RFC2510</a:t>
            </a:r>
            <a:r>
              <a:rPr lang="zh-CN" altLang="en-US" dirty="0"/>
              <a:t>定义了</a:t>
            </a:r>
            <a:r>
              <a:rPr lang="zh-CN" altLang="en-US" dirty="0">
                <a:solidFill>
                  <a:srgbClr val="C00000"/>
                </a:solidFill>
              </a:rPr>
              <a:t>证书管理协议（</a:t>
            </a:r>
            <a:r>
              <a:rPr lang="en-US" altLang="zh-CN" dirty="0">
                <a:solidFill>
                  <a:srgbClr val="C00000"/>
                </a:solidFill>
              </a:rPr>
              <a:t>CMP</a:t>
            </a:r>
            <a:r>
              <a:rPr lang="zh-CN" altLang="en-US" dirty="0">
                <a:solidFill>
                  <a:srgbClr val="C00000"/>
                </a:solidFill>
              </a:rPr>
              <a:t>）</a:t>
            </a:r>
            <a:r>
              <a:rPr lang="zh-CN" altLang="en-US" dirty="0"/>
              <a:t>：每个管理功能都明确地被特定协议交换来识别。</a:t>
            </a:r>
            <a:r>
              <a:rPr lang="en-US" altLang="zh-CN" dirty="0"/>
              <a:t>CMP</a:t>
            </a:r>
            <a:r>
              <a:rPr lang="zh-CN" altLang="en-US" dirty="0"/>
              <a:t>可以容纳各种技术、操作和商业模型</a:t>
            </a:r>
            <a:endParaRPr lang="en-US" altLang="zh-CN" dirty="0"/>
          </a:p>
          <a:p>
            <a:pPr>
              <a:lnSpc>
                <a:spcPct val="150000"/>
              </a:lnSpc>
            </a:pPr>
            <a:r>
              <a:rPr lang="en-US" altLang="zh-CN" dirty="0"/>
              <a:t>RFC2797</a:t>
            </a:r>
            <a:r>
              <a:rPr lang="zh-CN" altLang="en-US" dirty="0"/>
              <a:t>在</a:t>
            </a:r>
            <a:r>
              <a:rPr lang="en-US" altLang="zh-CN" dirty="0"/>
              <a:t>CMS</a:t>
            </a:r>
            <a:r>
              <a:rPr lang="zh-CN" altLang="en-US" dirty="0"/>
              <a:t>上定义了</a:t>
            </a:r>
            <a:r>
              <a:rPr lang="zh-CN" altLang="en-US" dirty="0">
                <a:solidFill>
                  <a:srgbClr val="C00000"/>
                </a:solidFill>
              </a:rPr>
              <a:t>证书管理消息（</a:t>
            </a:r>
            <a:r>
              <a:rPr lang="en-US" altLang="zh-CN" dirty="0">
                <a:solidFill>
                  <a:srgbClr val="C00000"/>
                </a:solidFill>
              </a:rPr>
              <a:t>CMC</a:t>
            </a:r>
            <a:r>
              <a:rPr lang="zh-CN" altLang="en-US" dirty="0">
                <a:solidFill>
                  <a:srgbClr val="C00000"/>
                </a:solidFill>
              </a:rPr>
              <a:t>）</a:t>
            </a:r>
            <a:r>
              <a:rPr lang="zh-CN" altLang="en-US" dirty="0"/>
              <a:t>。其中</a:t>
            </a:r>
            <a:r>
              <a:rPr lang="en-US" altLang="zh-CN" dirty="0"/>
              <a:t>CMS</a:t>
            </a:r>
            <a:r>
              <a:rPr lang="zh-CN" altLang="en-US" dirty="0"/>
              <a:t>是指</a:t>
            </a:r>
            <a:r>
              <a:rPr lang="en-US" altLang="zh-CN" dirty="0"/>
              <a:t>RFC2630——</a:t>
            </a:r>
            <a:r>
              <a:rPr lang="zh-CN" altLang="en-US" dirty="0"/>
              <a:t>密码消息语法；</a:t>
            </a:r>
            <a:r>
              <a:rPr lang="en-US" altLang="zh-CN" dirty="0"/>
              <a:t>CMC</a:t>
            </a:r>
            <a:r>
              <a:rPr lang="zh-CN" altLang="en-US" dirty="0"/>
              <a:t>旨在利用和促进现有的实现。</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79</a:t>
            </a:fld>
            <a:endParaRPr kumimoji="1"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a:xfrm>
            <a:off x="1167384" y="1303493"/>
            <a:ext cx="10515600" cy="5456971"/>
          </a:xfrm>
        </p:spPr>
        <p:txBody>
          <a:bodyPr>
            <a:normAutofit/>
          </a:bodyPr>
          <a:lstStyle/>
          <a:p>
            <a:pPr>
              <a:lnSpc>
                <a:spcPct val="130000"/>
              </a:lnSpc>
              <a:buNone/>
            </a:pPr>
            <a:r>
              <a:rPr kumimoji="1" lang="en-US" altLang="zh-CN" sz="3000" dirty="0"/>
              <a:t>7.1 </a:t>
            </a:r>
            <a:r>
              <a:rPr kumimoji="1" lang="zh-CN" altLang="zh-CN" sz="3000" dirty="0"/>
              <a:t>远程用户认证原理</a:t>
            </a:r>
            <a:endParaRPr kumimoji="1" lang="en-US" altLang="zh-CN" sz="3000" dirty="0"/>
          </a:p>
          <a:p>
            <a:pPr>
              <a:lnSpc>
                <a:spcPct val="130000"/>
              </a:lnSpc>
              <a:buNone/>
            </a:pPr>
            <a:r>
              <a:rPr kumimoji="1" lang="en-US" altLang="zh-CN" sz="3000" dirty="0"/>
              <a:t>7.2 </a:t>
            </a:r>
            <a:r>
              <a:rPr kumimoji="1" lang="zh-CN" altLang="zh-CN" sz="3000" dirty="0"/>
              <a:t>基于对称加密的密钥分配</a:t>
            </a:r>
            <a:endParaRPr kumimoji="1" lang="en-US" altLang="zh-CN" sz="3000" dirty="0"/>
          </a:p>
          <a:p>
            <a:pPr>
              <a:lnSpc>
                <a:spcPct val="130000"/>
              </a:lnSpc>
              <a:buNone/>
            </a:pPr>
            <a:r>
              <a:rPr kumimoji="1" lang="en-US" altLang="zh-CN" sz="3000" dirty="0"/>
              <a:t>7.3 Kerberos</a:t>
            </a:r>
          </a:p>
          <a:p>
            <a:pPr>
              <a:lnSpc>
                <a:spcPct val="150000"/>
              </a:lnSpc>
              <a:buNone/>
            </a:pPr>
            <a:r>
              <a:rPr kumimoji="1" lang="en-US" altLang="zh-CN" sz="3000" dirty="0"/>
              <a:t>7.4 </a:t>
            </a:r>
            <a:r>
              <a:rPr kumimoji="1" lang="zh-CN" altLang="zh-CN" sz="3000" dirty="0"/>
              <a:t>基于非对称加密的密钥分配</a:t>
            </a:r>
            <a:endParaRPr kumimoji="1" lang="en-US" altLang="zh-CN" sz="3000" dirty="0"/>
          </a:p>
          <a:p>
            <a:pPr>
              <a:lnSpc>
                <a:spcPct val="150000"/>
              </a:lnSpc>
              <a:buNone/>
            </a:pPr>
            <a:r>
              <a:rPr kumimoji="1" lang="en-US" altLang="zh-CN" sz="3000" dirty="0"/>
              <a:t>7.5 X.509</a:t>
            </a:r>
            <a:r>
              <a:rPr kumimoji="1" lang="zh-CN" altLang="zh-CN" sz="3000" dirty="0"/>
              <a:t>证书</a:t>
            </a:r>
            <a:endParaRPr kumimoji="1" lang="en-US" altLang="zh-CN" sz="3000" dirty="0"/>
          </a:p>
          <a:p>
            <a:pPr>
              <a:lnSpc>
                <a:spcPct val="150000"/>
              </a:lnSpc>
              <a:buNone/>
            </a:pPr>
            <a:r>
              <a:rPr kumimoji="1" lang="en-US" altLang="zh-CN" sz="3000" dirty="0"/>
              <a:t>7.6 </a:t>
            </a:r>
            <a:r>
              <a:rPr kumimoji="1" lang="zh-CN" altLang="zh-CN" sz="3000" dirty="0"/>
              <a:t>公钥基础设施</a:t>
            </a:r>
            <a:endParaRPr kumimoji="1" lang="en-US" altLang="zh-CN" sz="2400" dirty="0">
              <a:solidFill>
                <a:prstClr val="black"/>
              </a:solidFill>
            </a:endParaRPr>
          </a:p>
          <a:p>
            <a:pPr>
              <a:lnSpc>
                <a:spcPct val="150000"/>
              </a:lnSpc>
              <a:buNone/>
            </a:pPr>
            <a:r>
              <a:rPr kumimoji="1" lang="en-US" altLang="zh-CN" sz="3000" dirty="0">
                <a:solidFill>
                  <a:srgbClr val="C00000"/>
                </a:solidFill>
              </a:rPr>
              <a:t>7.7 </a:t>
            </a:r>
            <a:r>
              <a:rPr kumimoji="1" lang="zh-CN" altLang="zh-CN" sz="3000" dirty="0">
                <a:solidFill>
                  <a:srgbClr val="C00000"/>
                </a:solidFill>
              </a:rPr>
              <a:t>联合身份管理</a:t>
            </a:r>
            <a:endParaRPr kumimoji="1" lang="en-US" altLang="zh-CN" sz="3000" dirty="0">
              <a:solidFill>
                <a:srgbClr val="C00000"/>
              </a:solidFill>
            </a:endParaRPr>
          </a:p>
          <a:p>
            <a:pPr>
              <a:lnSpc>
                <a:spcPct val="130000"/>
              </a:lnSpc>
              <a:buNone/>
            </a:pP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t>80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标注 6"/>
          <p:cNvSpPr/>
          <p:nvPr/>
        </p:nvSpPr>
        <p:spPr>
          <a:xfrm>
            <a:off x="7077693" y="4618234"/>
            <a:ext cx="4122717" cy="1460665"/>
          </a:xfrm>
          <a:prstGeom prst="wedgeRectCallout">
            <a:avLst>
              <a:gd name="adj1" fmla="val -115793"/>
              <a:gd name="adj2" fmla="val 4285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身份管理</a:t>
            </a:r>
            <a:endParaRPr kumimoji="1" lang="zh-CN" altLang="en-US" sz="2400" dirty="0">
              <a:solidFill>
                <a:prstClr val="black"/>
              </a:solidFill>
              <a:latin typeface="微软雅黑" panose="020B0503020204020204" pitchFamily="34" charset="-122"/>
              <a:ea typeface="微软雅黑"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微软雅黑" panose="020B0503020204020204" pitchFamily="34" charset="-122"/>
                <a:ea typeface="微软雅黑" panose="020B0503020204020204" pitchFamily="34" charset="-122"/>
              </a:rPr>
              <a:t>身份联合</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7.7.1 </a:t>
            </a:r>
            <a:r>
              <a:rPr kumimoji="1" lang="zh-CN" altLang="zh-CN" dirty="0">
                <a:solidFill>
                  <a:prstClr val="black"/>
                </a:solidFill>
              </a:rPr>
              <a:t>身份管理</a:t>
            </a:r>
            <a:endParaRPr lang="zh-CN" altLang="en-US" dirty="0"/>
          </a:p>
        </p:txBody>
      </p:sp>
      <p:sp>
        <p:nvSpPr>
          <p:cNvPr id="3" name="内容占位符 2"/>
          <p:cNvSpPr>
            <a:spLocks noGrp="1"/>
          </p:cNvSpPr>
          <p:nvPr>
            <p:ph idx="1"/>
          </p:nvPr>
        </p:nvSpPr>
        <p:spPr>
          <a:xfrm>
            <a:off x="838200" y="1244212"/>
            <a:ext cx="10515600" cy="5085336"/>
          </a:xfrm>
        </p:spPr>
        <p:txBody>
          <a:bodyPr>
            <a:normAutofit fontScale="92500" lnSpcReduction="10000"/>
          </a:bodyPr>
          <a:lstStyle/>
          <a:p>
            <a:pPr>
              <a:lnSpc>
                <a:spcPct val="150000"/>
              </a:lnSpc>
            </a:pPr>
            <a:r>
              <a:rPr lang="zh-CN" altLang="en-US" dirty="0"/>
              <a:t>身份管理是一种集中、自动的方法，能够为员工和授权个人提供资源的接口。</a:t>
            </a:r>
            <a:endParaRPr lang="en-US" altLang="zh-CN" dirty="0"/>
          </a:p>
          <a:p>
            <a:pPr>
              <a:lnSpc>
                <a:spcPct val="150000"/>
              </a:lnSpc>
            </a:pPr>
            <a:r>
              <a:rPr lang="zh-CN" altLang="en-US" dirty="0"/>
              <a:t>身份管理系统的基本要素：</a:t>
            </a:r>
            <a:endParaRPr lang="en-US" altLang="zh-CN" dirty="0"/>
          </a:p>
          <a:p>
            <a:pPr lvl="1">
              <a:lnSpc>
                <a:spcPct val="150000"/>
              </a:lnSpc>
            </a:pPr>
            <a:r>
              <a:rPr lang="zh-CN" altLang="en-US" dirty="0">
                <a:solidFill>
                  <a:srgbClr val="C00000"/>
                </a:solidFill>
              </a:rPr>
              <a:t>认证</a:t>
            </a:r>
            <a:r>
              <a:rPr lang="zh-CN" altLang="en-US" dirty="0"/>
              <a:t>：确认与提供的用户名相关联的用户。</a:t>
            </a:r>
            <a:endParaRPr lang="en-US" altLang="zh-CN" dirty="0"/>
          </a:p>
          <a:p>
            <a:pPr lvl="1">
              <a:lnSpc>
                <a:spcPct val="150000"/>
              </a:lnSpc>
            </a:pPr>
            <a:r>
              <a:rPr lang="zh-CN" altLang="en-US" dirty="0">
                <a:solidFill>
                  <a:srgbClr val="C00000"/>
                </a:solidFill>
              </a:rPr>
              <a:t>授权</a:t>
            </a:r>
            <a:r>
              <a:rPr lang="zh-CN" altLang="en-US" dirty="0"/>
              <a:t>：基于认证，授权到特殊服务和</a:t>
            </a:r>
            <a:r>
              <a:rPr lang="en-US" altLang="zh-CN" dirty="0"/>
              <a:t>/</a:t>
            </a:r>
            <a:r>
              <a:rPr lang="zh-CN" altLang="en-US" dirty="0"/>
              <a:t>或者资源的接口。</a:t>
            </a:r>
            <a:endParaRPr lang="en-US" altLang="zh-CN" dirty="0"/>
          </a:p>
          <a:p>
            <a:pPr lvl="1">
              <a:lnSpc>
                <a:spcPct val="150000"/>
              </a:lnSpc>
            </a:pPr>
            <a:r>
              <a:rPr lang="zh-CN" altLang="en-US" dirty="0">
                <a:solidFill>
                  <a:srgbClr val="C00000"/>
                </a:solidFill>
              </a:rPr>
              <a:t>审计</a:t>
            </a:r>
            <a:r>
              <a:rPr lang="zh-CN" altLang="en-US" dirty="0"/>
              <a:t>：进行登录和授权的进程。</a:t>
            </a:r>
            <a:endParaRPr lang="en-US" altLang="zh-CN" dirty="0"/>
          </a:p>
          <a:p>
            <a:pPr lvl="1">
              <a:lnSpc>
                <a:spcPct val="150000"/>
              </a:lnSpc>
            </a:pPr>
            <a:r>
              <a:rPr lang="zh-CN" altLang="en-US" dirty="0">
                <a:solidFill>
                  <a:srgbClr val="C00000"/>
                </a:solidFill>
              </a:rPr>
              <a:t>供给</a:t>
            </a:r>
            <a:r>
              <a:rPr lang="zh-CN" altLang="en-US" dirty="0"/>
              <a:t>：系统中用户的登记。</a:t>
            </a:r>
            <a:endParaRPr lang="en-US" altLang="zh-CN" dirty="0"/>
          </a:p>
          <a:p>
            <a:pPr lvl="1">
              <a:lnSpc>
                <a:spcPct val="150000"/>
              </a:lnSpc>
            </a:pPr>
            <a:r>
              <a:rPr lang="zh-CN" altLang="en-US" dirty="0">
                <a:solidFill>
                  <a:srgbClr val="C00000"/>
                </a:solidFill>
              </a:rPr>
              <a:t>工作流自动化</a:t>
            </a:r>
            <a:r>
              <a:rPr lang="zh-CN" altLang="en-US" dirty="0"/>
              <a:t>：事务处理中的数据移动。委派管理：使用基于角色的接入控制来授权许可。</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81</a:t>
            </a:fld>
            <a:endParaRPr kumimoji="1"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7.7.1 </a:t>
            </a:r>
            <a:r>
              <a:rPr kumimoji="1" lang="zh-CN" altLang="zh-CN" dirty="0">
                <a:solidFill>
                  <a:prstClr val="black"/>
                </a:solidFill>
              </a:rPr>
              <a:t>身份管理</a:t>
            </a:r>
            <a:endParaRPr lang="zh-CN" altLang="en-US" dirty="0"/>
          </a:p>
        </p:txBody>
      </p:sp>
      <p:sp>
        <p:nvSpPr>
          <p:cNvPr id="3" name="内容占位符 2"/>
          <p:cNvSpPr>
            <a:spLocks noGrp="1"/>
          </p:cNvSpPr>
          <p:nvPr>
            <p:ph idx="1"/>
          </p:nvPr>
        </p:nvSpPr>
        <p:spPr>
          <a:xfrm>
            <a:off x="838200" y="1353787"/>
            <a:ext cx="10515600" cy="4743665"/>
          </a:xfrm>
        </p:spPr>
        <p:txBody>
          <a:bodyPr>
            <a:normAutofit/>
          </a:bodyPr>
          <a:lstStyle/>
          <a:p>
            <a:pPr>
              <a:lnSpc>
                <a:spcPct val="150000"/>
              </a:lnSpc>
            </a:pPr>
            <a:r>
              <a:rPr lang="zh-CN" altLang="en-US" dirty="0"/>
              <a:t>身份管理系统的基本要素：</a:t>
            </a:r>
            <a:endParaRPr lang="en-US" altLang="zh-CN" dirty="0"/>
          </a:p>
          <a:p>
            <a:pPr lvl="1">
              <a:lnSpc>
                <a:spcPct val="150000"/>
              </a:lnSpc>
            </a:pPr>
            <a:r>
              <a:rPr lang="zh-CN" altLang="en-US" dirty="0">
                <a:solidFill>
                  <a:srgbClr val="C00000"/>
                </a:solidFill>
              </a:rPr>
              <a:t>口令同步</a:t>
            </a:r>
            <a:r>
              <a:rPr lang="zh-CN" altLang="en-US" dirty="0"/>
              <a:t>：为单点登录或者减少登录（</a:t>
            </a:r>
            <a:r>
              <a:rPr lang="en-US" altLang="zh-CN" dirty="0"/>
              <a:t>RSO</a:t>
            </a:r>
            <a:r>
              <a:rPr lang="zh-CN" altLang="en-US" dirty="0"/>
              <a:t>）建立进程。</a:t>
            </a:r>
            <a:r>
              <a:rPr lang="en-US" altLang="zh-CN" dirty="0"/>
              <a:t>SSO</a:t>
            </a:r>
            <a:r>
              <a:rPr lang="zh-CN" altLang="en-US" dirty="0"/>
              <a:t>使得用户在经过认证后能接入所有的网络资源。</a:t>
            </a:r>
            <a:endParaRPr lang="en-US" altLang="zh-CN" dirty="0"/>
          </a:p>
          <a:p>
            <a:pPr lvl="1">
              <a:lnSpc>
                <a:spcPct val="150000"/>
              </a:lnSpc>
            </a:pPr>
            <a:r>
              <a:rPr lang="zh-CN" altLang="en-US" dirty="0">
                <a:solidFill>
                  <a:srgbClr val="C00000"/>
                </a:solidFill>
              </a:rPr>
              <a:t>自助口令密码重置</a:t>
            </a:r>
            <a:r>
              <a:rPr lang="zh-CN" altLang="en-US" dirty="0"/>
              <a:t>：使得用户能够修改其口令。</a:t>
            </a:r>
            <a:endParaRPr lang="en-US" altLang="zh-CN" dirty="0"/>
          </a:p>
          <a:p>
            <a:pPr lvl="1">
              <a:lnSpc>
                <a:spcPct val="150000"/>
              </a:lnSpc>
            </a:pPr>
            <a:r>
              <a:rPr lang="zh-CN" altLang="en-US" dirty="0">
                <a:solidFill>
                  <a:srgbClr val="C00000"/>
                </a:solidFill>
              </a:rPr>
              <a:t>联合</a:t>
            </a:r>
            <a:r>
              <a:rPr lang="zh-CN" altLang="en-US" dirty="0"/>
              <a:t>：一个使认证和许可从一个系统转移到另一个系统的进程，通常是通过多个企业，能够减少用户需要进行认证的次数。</a:t>
            </a:r>
            <a:endParaRPr lang="en-US" altLang="zh-CN" dirty="0"/>
          </a:p>
          <a:p>
            <a:pPr>
              <a:lnSpc>
                <a:spcPct val="150000"/>
              </a:lnSpc>
            </a:pPr>
            <a:r>
              <a:rPr lang="en-US" altLang="zh-CN" dirty="0"/>
              <a:t>Kerberos</a:t>
            </a:r>
            <a:r>
              <a:rPr lang="zh-CN" altLang="en-US" dirty="0"/>
              <a:t>包含身份管理系统的许多要素。</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82</a:t>
            </a:fld>
            <a:endParaRPr kumimoji="1"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7.7.1 </a:t>
            </a:r>
            <a:r>
              <a:rPr kumimoji="1" lang="zh-CN" altLang="zh-CN" dirty="0">
                <a:solidFill>
                  <a:prstClr val="black"/>
                </a:solidFill>
              </a:rPr>
              <a:t>身份管理</a:t>
            </a:r>
            <a:endParaRPr lang="zh-CN" altLang="en-US" dirty="0"/>
          </a:p>
        </p:txBody>
      </p:sp>
      <p:sp>
        <p:nvSpPr>
          <p:cNvPr id="3" name="内容占位符 2"/>
          <p:cNvSpPr>
            <a:spLocks noGrp="1"/>
          </p:cNvSpPr>
          <p:nvPr>
            <p:ph idx="1"/>
          </p:nvPr>
        </p:nvSpPr>
        <p:spPr>
          <a:xfrm>
            <a:off x="838200" y="1377538"/>
            <a:ext cx="5811982" cy="5115336"/>
          </a:xfrm>
        </p:spPr>
        <p:txBody>
          <a:bodyPr>
            <a:normAutofit fontScale="85000" lnSpcReduction="20000"/>
          </a:bodyPr>
          <a:lstStyle/>
          <a:p>
            <a:r>
              <a:rPr lang="zh-CN" altLang="en-US" dirty="0"/>
              <a:t>通用身份管理结构</a:t>
            </a:r>
            <a:endParaRPr lang="en-US" altLang="zh-CN" dirty="0"/>
          </a:p>
          <a:p>
            <a:pPr lvl="1">
              <a:lnSpc>
                <a:spcPct val="150000"/>
              </a:lnSpc>
            </a:pPr>
            <a:r>
              <a:rPr lang="zh-CN" altLang="en-US" dirty="0">
                <a:solidFill>
                  <a:srgbClr val="C00000"/>
                </a:solidFill>
              </a:rPr>
              <a:t>委托人</a:t>
            </a:r>
            <a:r>
              <a:rPr lang="zh-CN" altLang="en-US" dirty="0"/>
              <a:t>：想要接入网络资源和服务的用户。用户设备、代理进程和服务器系统都可以作为委托人。</a:t>
            </a:r>
            <a:endParaRPr lang="en-US" altLang="zh-CN" dirty="0"/>
          </a:p>
          <a:p>
            <a:pPr lvl="1">
              <a:lnSpc>
                <a:spcPct val="150000"/>
              </a:lnSpc>
            </a:pPr>
            <a:r>
              <a:rPr lang="zh-CN" altLang="en-US" dirty="0"/>
              <a:t>委托人向身份提供者提供自我认证。</a:t>
            </a:r>
            <a:endParaRPr lang="en-US" altLang="zh-CN" dirty="0"/>
          </a:p>
          <a:p>
            <a:pPr lvl="1">
              <a:lnSpc>
                <a:spcPct val="150000"/>
              </a:lnSpc>
            </a:pPr>
            <a:r>
              <a:rPr lang="zh-CN" altLang="en-US" dirty="0">
                <a:solidFill>
                  <a:srgbClr val="C00000"/>
                </a:solidFill>
              </a:rPr>
              <a:t>身份提供者</a:t>
            </a:r>
            <a:r>
              <a:rPr lang="zh-CN" altLang="en-US" dirty="0"/>
              <a:t>将认证信息和委托人、属性以及一个或者多个身份相连接。</a:t>
            </a:r>
            <a:endParaRPr lang="en-US" altLang="zh-CN" dirty="0"/>
          </a:p>
          <a:p>
            <a:pPr lvl="1">
              <a:lnSpc>
                <a:spcPct val="150000"/>
              </a:lnSpc>
            </a:pPr>
            <a:r>
              <a:rPr lang="zh-CN" altLang="en-US" dirty="0"/>
              <a:t>数字身份连接的属性不仅仅包括身份和认证信息。</a:t>
            </a:r>
            <a:r>
              <a:rPr lang="zh-CN" altLang="en-US" dirty="0">
                <a:solidFill>
                  <a:srgbClr val="C00000"/>
                </a:solidFill>
              </a:rPr>
              <a:t>属性服务</a:t>
            </a:r>
            <a:r>
              <a:rPr lang="zh-CN" altLang="en-US" dirty="0"/>
              <a:t>管理这些属性的产生和保有。</a:t>
            </a:r>
            <a:endParaRPr lang="en-US" altLang="zh-CN" dirty="0"/>
          </a:p>
          <a:p>
            <a:pPr lvl="1">
              <a:lnSpc>
                <a:spcPct val="150000"/>
              </a:lnSpc>
            </a:pPr>
            <a:r>
              <a:rPr lang="zh-CN" altLang="en-US" dirty="0">
                <a:solidFill>
                  <a:srgbClr val="C00000"/>
                </a:solidFill>
              </a:rPr>
              <a:t>数据消费者</a:t>
            </a:r>
            <a:r>
              <a:rPr lang="zh-CN" altLang="en-US" dirty="0"/>
              <a:t>就是一个获得身份和属性提供者保有和提供的数据的实体，被用来支持授权数据应用服务。</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83</a:t>
            </a:fld>
            <a:endParaRPr kumimoji="1" lang="zh-CN" altLang="en-US" dirty="0"/>
          </a:p>
        </p:txBody>
      </p:sp>
      <p:pic>
        <p:nvPicPr>
          <p:cNvPr id="5" name="图片 4"/>
          <p:cNvPicPr>
            <a:picLocks noChangeAspect="1"/>
          </p:cNvPicPr>
          <p:nvPr/>
        </p:nvPicPr>
        <p:blipFill>
          <a:blip r:embed="rId2"/>
          <a:stretch>
            <a:fillRect/>
          </a:stretch>
        </p:blipFill>
        <p:spPr>
          <a:xfrm>
            <a:off x="6650182" y="1965305"/>
            <a:ext cx="4955338" cy="3806475"/>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7.7.2 </a:t>
            </a:r>
            <a:r>
              <a:rPr kumimoji="1" lang="zh-CN" altLang="zh-CN" dirty="0">
                <a:solidFill>
                  <a:prstClr val="black"/>
                </a:solidFill>
              </a:rPr>
              <a:t>身份联合</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dirty="0"/>
              <a:t>身份联合就是将</a:t>
            </a:r>
            <a:r>
              <a:rPr lang="zh-CN" altLang="en-US" dirty="0">
                <a:highlight>
                  <a:srgbClr val="FFFF00"/>
                </a:highlight>
              </a:rPr>
              <a:t>身份管理</a:t>
            </a:r>
            <a:r>
              <a:rPr lang="zh-CN" altLang="en-US" dirty="0">
                <a:solidFill>
                  <a:srgbClr val="C00000"/>
                </a:solidFill>
                <a:highlight>
                  <a:srgbClr val="FFFF00"/>
                </a:highlight>
              </a:rPr>
              <a:t>扩展到多个安全域</a:t>
            </a:r>
            <a:r>
              <a:rPr lang="zh-CN" altLang="en-US" dirty="0"/>
              <a:t>。</a:t>
            </a:r>
            <a:endParaRPr lang="en-US" altLang="zh-CN" dirty="0"/>
          </a:p>
          <a:p>
            <a:pPr>
              <a:lnSpc>
                <a:spcPct val="150000"/>
              </a:lnSpc>
            </a:pPr>
            <a:r>
              <a:rPr lang="zh-CN" altLang="en-US" dirty="0"/>
              <a:t>身份联合的目的就是</a:t>
            </a:r>
            <a:r>
              <a:rPr lang="zh-CN" altLang="en-US" dirty="0">
                <a:solidFill>
                  <a:srgbClr val="C00000"/>
                </a:solidFill>
                <a:highlight>
                  <a:srgbClr val="FFFF00"/>
                </a:highlight>
              </a:rPr>
              <a:t>共享数字身份</a:t>
            </a:r>
            <a:r>
              <a:rPr lang="zh-CN" altLang="en-US" dirty="0"/>
              <a:t>，使得用户只需要认证一次就可以接入多个域的应用及其资源。</a:t>
            </a:r>
            <a:endParaRPr lang="en-US" altLang="zh-CN" dirty="0"/>
          </a:p>
          <a:p>
            <a:pPr>
              <a:lnSpc>
                <a:spcPct val="150000"/>
              </a:lnSpc>
            </a:pPr>
            <a:r>
              <a:rPr lang="zh-CN" altLang="en-US" dirty="0"/>
              <a:t>当多个组织执行联合身份方案时，因为与身份相关联的信任关系，一个组织的员工使用</a:t>
            </a:r>
            <a:r>
              <a:rPr lang="zh-CN" altLang="en-US" dirty="0">
                <a:solidFill>
                  <a:srgbClr val="C00000"/>
                </a:solidFill>
              </a:rPr>
              <a:t>单点登录</a:t>
            </a:r>
            <a:r>
              <a:rPr lang="zh-CN" altLang="en-US" dirty="0"/>
              <a:t>就可以接入联合服务。例如，单点登录（</a:t>
            </a:r>
            <a:r>
              <a:rPr lang="en-US" altLang="zh-CN" dirty="0"/>
              <a:t>SSO</a:t>
            </a:r>
            <a:r>
              <a:rPr lang="zh-CN" altLang="en-US" dirty="0"/>
              <a:t>）。</a:t>
            </a:r>
            <a:endParaRPr lang="en-US" altLang="zh-CN" dirty="0"/>
          </a:p>
          <a:p>
            <a:pPr>
              <a:lnSpc>
                <a:spcPct val="150000"/>
              </a:lnSpc>
            </a:pPr>
            <a:r>
              <a:rPr lang="zh-CN" altLang="en-US" dirty="0"/>
              <a:t>联合身份管理的另外一个主要功能是</a:t>
            </a:r>
            <a:r>
              <a:rPr lang="zh-CN" altLang="en-US" dirty="0">
                <a:solidFill>
                  <a:srgbClr val="C00000"/>
                </a:solidFill>
              </a:rPr>
              <a:t>身份映射</a:t>
            </a:r>
            <a:r>
              <a:rPr lang="zh-CN" altLang="en-US" dirty="0"/>
              <a:t>。联合身份管理协议将用户在一个域中的身份和属性映射到另外一个域的要求。</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7.7.2 </a:t>
            </a:r>
            <a:r>
              <a:rPr kumimoji="1" lang="zh-CN" altLang="zh-CN" dirty="0">
                <a:solidFill>
                  <a:prstClr val="black"/>
                </a:solidFill>
              </a:rPr>
              <a:t>身份联合</a:t>
            </a:r>
            <a:endParaRPr lang="zh-CN" altLang="en-US" dirty="0"/>
          </a:p>
        </p:txBody>
      </p:sp>
      <p:sp>
        <p:nvSpPr>
          <p:cNvPr id="3" name="内容占位符 2"/>
          <p:cNvSpPr>
            <a:spLocks noGrp="1"/>
          </p:cNvSpPr>
          <p:nvPr>
            <p:ph idx="1"/>
          </p:nvPr>
        </p:nvSpPr>
        <p:spPr/>
        <p:txBody>
          <a:bodyPr>
            <a:normAutofit/>
          </a:bodyPr>
          <a:lstStyle/>
          <a:p>
            <a:r>
              <a:rPr lang="zh-CN" altLang="en-US" dirty="0"/>
              <a:t>联合身份操作</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85</a:t>
            </a:fld>
            <a:endParaRPr kumimoji="1" lang="zh-CN" altLang="en-US" dirty="0"/>
          </a:p>
        </p:txBody>
      </p:sp>
      <p:pic>
        <p:nvPicPr>
          <p:cNvPr id="5" name="图片 4"/>
          <p:cNvPicPr>
            <a:picLocks noChangeAspect="1"/>
          </p:cNvPicPr>
          <p:nvPr/>
        </p:nvPicPr>
        <p:blipFill>
          <a:blip r:embed="rId2"/>
          <a:stretch>
            <a:fillRect/>
          </a:stretch>
        </p:blipFill>
        <p:spPr>
          <a:xfrm>
            <a:off x="3952875" y="1444624"/>
            <a:ext cx="5495925" cy="504825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墨迹 5"/>
              <p14:cNvContentPartPr/>
              <p14:nvPr/>
            </p14:nvContentPartPr>
            <p14:xfrm>
              <a:off x="6422390" y="5090795"/>
              <a:ext cx="1457960" cy="47625"/>
            </p14:xfrm>
          </p:contentPart>
        </mc:Choice>
        <mc:Fallback xmlns="">
          <p:pic>
            <p:nvPicPr>
              <p:cNvPr id="6" name="墨迹 5"/>
            </p:nvPicPr>
            <p:blipFill>
              <a:blip r:embed="rId4"/>
            </p:blipFill>
            <p:spPr>
              <a:xfrm>
                <a:off x="6422390" y="5090795"/>
                <a:ext cx="1457960" cy="47625"/>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7" name="墨迹 6"/>
              <p14:cNvContentPartPr/>
              <p14:nvPr/>
            </p14:nvContentPartPr>
            <p14:xfrm>
              <a:off x="6483985" y="6170295"/>
              <a:ext cx="688975" cy="43180"/>
            </p14:xfrm>
          </p:contentPart>
        </mc:Choice>
        <mc:Fallback xmlns="">
          <p:pic>
            <p:nvPicPr>
              <p:cNvPr id="7" name="墨迹 6"/>
            </p:nvPicPr>
            <p:blipFill>
              <a:blip r:embed="rId6"/>
            </p:blipFill>
            <p:spPr>
              <a:xfrm>
                <a:off x="6483985" y="6170295"/>
                <a:ext cx="688975" cy="4318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8" name="墨迹 7"/>
              <p14:cNvContentPartPr/>
              <p14:nvPr/>
            </p14:nvContentPartPr>
            <p14:xfrm>
              <a:off x="7882255" y="6332220"/>
              <a:ext cx="1038860" cy="87630"/>
            </p14:xfrm>
          </p:contentPart>
        </mc:Choice>
        <mc:Fallback xmlns="">
          <p:pic>
            <p:nvPicPr>
              <p:cNvPr id="8" name="墨迹 7"/>
            </p:nvPicPr>
            <p:blipFill>
              <a:blip r:embed="rId8"/>
            </p:blipFill>
            <p:spPr>
              <a:xfrm>
                <a:off x="7882255" y="6332220"/>
                <a:ext cx="1038860" cy="87630"/>
              </a:xfrm>
              <a:prstGeom prst="rect"/>
            </p:spPr>
          </p:pic>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7.7.2 </a:t>
            </a:r>
            <a:r>
              <a:rPr kumimoji="1" lang="zh-CN" altLang="zh-CN" dirty="0">
                <a:solidFill>
                  <a:prstClr val="black"/>
                </a:solidFill>
              </a:rPr>
              <a:t>身份联合</a:t>
            </a:r>
            <a:endParaRPr lang="zh-CN" altLang="en-US" dirty="0"/>
          </a:p>
        </p:txBody>
      </p:sp>
      <p:sp>
        <p:nvSpPr>
          <p:cNvPr id="3" name="内容占位符 2"/>
          <p:cNvSpPr>
            <a:spLocks noGrp="1"/>
          </p:cNvSpPr>
          <p:nvPr>
            <p:ph idx="1"/>
          </p:nvPr>
        </p:nvSpPr>
        <p:spPr>
          <a:xfrm>
            <a:off x="838200" y="1341912"/>
            <a:ext cx="10515600" cy="4755540"/>
          </a:xfrm>
        </p:spPr>
        <p:txBody>
          <a:bodyPr>
            <a:normAutofit/>
          </a:bodyPr>
          <a:lstStyle/>
          <a:p>
            <a:pPr>
              <a:lnSpc>
                <a:spcPct val="150000"/>
              </a:lnSpc>
            </a:pPr>
            <a:r>
              <a:rPr lang="zh-CN" altLang="en-US" dirty="0"/>
              <a:t>基于账号链接的联合</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pic>
        <p:nvPicPr>
          <p:cNvPr id="6" name="图片 5"/>
          <p:cNvPicPr>
            <a:picLocks noChangeAspect="1"/>
          </p:cNvPicPr>
          <p:nvPr/>
        </p:nvPicPr>
        <p:blipFill>
          <a:blip r:embed="rId2"/>
          <a:stretch>
            <a:fillRect/>
          </a:stretch>
        </p:blipFill>
        <p:spPr>
          <a:xfrm>
            <a:off x="1971751" y="2050357"/>
            <a:ext cx="6892325" cy="4047095"/>
          </a:xfrm>
          <a:prstGeom prst="rect">
            <a:avLst/>
          </a:prstGeom>
        </p:spPr>
      </p:pic>
      <p:sp>
        <p:nvSpPr>
          <p:cNvPr id="5" name="文本框 4"/>
          <p:cNvSpPr txBox="1"/>
          <p:nvPr/>
        </p:nvSpPr>
        <p:spPr>
          <a:xfrm>
            <a:off x="6677660" y="1342072"/>
            <a:ext cx="5080000" cy="829945"/>
          </a:xfrm>
          <a:prstGeom prst="rect">
            <a:avLst/>
          </a:prstGeom>
        </p:spPr>
        <p:txBody>
          <a:bodyPr>
            <a:spAutoFit/>
          </a:bodyPr>
          <a:lstStyle/>
          <a:p>
            <a:r>
              <a:rPr lang="en-US" altLang="zh-CN" sz="1600" b="1">
                <a:solidFill>
                  <a:srgbClr val="C00000"/>
                </a:solidFill>
              </a:rPr>
              <a:t>A</a:t>
            </a:r>
            <a:r>
              <a:rPr lang="zh-CN" altLang="en-US" sz="1600" b="1">
                <a:solidFill>
                  <a:srgbClr val="C00000"/>
                </a:solidFill>
              </a:rPr>
              <a:t>公司员工登录后访问</a:t>
            </a:r>
            <a:r>
              <a:rPr lang="en-US" altLang="zh-CN" sz="1600" b="1">
                <a:solidFill>
                  <a:srgbClr val="C00000"/>
                </a:solidFill>
              </a:rPr>
              <a:t>B</a:t>
            </a:r>
            <a:r>
              <a:rPr lang="zh-CN" altLang="en-US" sz="1600" b="1">
                <a:solidFill>
                  <a:srgbClr val="C00000"/>
                </a:solidFill>
              </a:rPr>
              <a:t>系统，</a:t>
            </a:r>
            <a:r>
              <a:rPr lang="en-US" altLang="zh-CN" sz="1600" b="1">
                <a:solidFill>
                  <a:srgbClr val="C00000"/>
                </a:solidFill>
              </a:rPr>
              <a:t>A</a:t>
            </a:r>
            <a:r>
              <a:rPr lang="zh-CN" altLang="en-US" sz="1600" b="1">
                <a:solidFill>
                  <a:srgbClr val="C00000"/>
                </a:solidFill>
              </a:rPr>
              <a:t>将其唯一用户</a:t>
            </a:r>
            <a:r>
              <a:rPr lang="en-US" altLang="zh-CN" sz="1600" b="1">
                <a:solidFill>
                  <a:srgbClr val="C00000"/>
                </a:solidFill>
              </a:rPr>
              <a:t>ID</a:t>
            </a:r>
            <a:r>
              <a:rPr lang="zh-CN" altLang="en-US" sz="1600" b="1">
                <a:solidFill>
                  <a:srgbClr val="C00000"/>
                </a:solidFill>
              </a:rPr>
              <a:t>发给</a:t>
            </a:r>
            <a:r>
              <a:rPr lang="en-US" altLang="zh-CN" sz="1600" b="1">
                <a:solidFill>
                  <a:srgbClr val="C00000"/>
                </a:solidFill>
              </a:rPr>
              <a:t>B</a:t>
            </a:r>
            <a:r>
              <a:rPr lang="zh-CN" altLang="en-US" sz="1600" b="1">
                <a:solidFill>
                  <a:srgbClr val="C00000"/>
                </a:solidFill>
              </a:rPr>
              <a:t>；</a:t>
            </a:r>
            <a:r>
              <a:rPr lang="en-US" altLang="zh-CN" sz="1600" b="1">
                <a:solidFill>
                  <a:srgbClr val="C00000"/>
                </a:solidFill>
              </a:rPr>
              <a:t>B</a:t>
            </a:r>
            <a:r>
              <a:rPr lang="zh-CN" altLang="en-US" sz="1600" b="1">
                <a:solidFill>
                  <a:srgbClr val="C00000"/>
                </a:solidFill>
              </a:rPr>
              <a:t>在本地数据库直接匹配相同</a:t>
            </a:r>
            <a:r>
              <a:rPr lang="en-US" altLang="zh-CN" sz="1600" b="1">
                <a:solidFill>
                  <a:srgbClr val="C00000"/>
                </a:solidFill>
              </a:rPr>
              <a:t>ID</a:t>
            </a:r>
            <a:r>
              <a:rPr lang="zh-CN" altLang="en-US" sz="1600" b="1">
                <a:solidFill>
                  <a:srgbClr val="C00000"/>
                </a:solidFill>
              </a:rPr>
              <a:t>的账号，实现一对一登录。</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7.7.2 </a:t>
            </a:r>
            <a:r>
              <a:rPr kumimoji="1" lang="zh-CN" altLang="zh-CN" dirty="0">
                <a:solidFill>
                  <a:prstClr val="black"/>
                </a:solidFill>
              </a:rPr>
              <a:t>身份联合</a:t>
            </a:r>
            <a:endParaRPr lang="zh-CN" altLang="en-US" dirty="0"/>
          </a:p>
        </p:txBody>
      </p:sp>
      <p:sp>
        <p:nvSpPr>
          <p:cNvPr id="3" name="内容占位符 2"/>
          <p:cNvSpPr>
            <a:spLocks noGrp="1"/>
          </p:cNvSpPr>
          <p:nvPr>
            <p:ph idx="1"/>
          </p:nvPr>
        </p:nvSpPr>
        <p:spPr>
          <a:xfrm>
            <a:off x="838200" y="1341912"/>
            <a:ext cx="10515600" cy="4755540"/>
          </a:xfrm>
        </p:spPr>
        <p:txBody>
          <a:bodyPr>
            <a:normAutofit/>
          </a:bodyPr>
          <a:lstStyle/>
          <a:p>
            <a:pPr>
              <a:lnSpc>
                <a:spcPct val="150000"/>
              </a:lnSpc>
            </a:pPr>
            <a:r>
              <a:rPr lang="zh-CN" altLang="en-US" dirty="0"/>
              <a:t>基于角色的联合</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87</a:t>
            </a:fld>
            <a:endParaRPr kumimoji="1" lang="zh-CN" altLang="en-US" dirty="0"/>
          </a:p>
        </p:txBody>
      </p:sp>
      <p:pic>
        <p:nvPicPr>
          <p:cNvPr id="5" name="图片 4"/>
          <p:cNvPicPr>
            <a:picLocks noChangeAspect="1"/>
          </p:cNvPicPr>
          <p:nvPr/>
        </p:nvPicPr>
        <p:blipFill>
          <a:blip r:embed="rId2"/>
          <a:stretch>
            <a:fillRect/>
          </a:stretch>
        </p:blipFill>
        <p:spPr>
          <a:xfrm>
            <a:off x="2078367" y="2129006"/>
            <a:ext cx="8110662" cy="3931729"/>
          </a:xfrm>
          <a:prstGeom prst="rect">
            <a:avLst/>
          </a:prstGeom>
        </p:spPr>
      </p:pic>
      <p:sp>
        <p:nvSpPr>
          <p:cNvPr id="6" name="文本框 5"/>
          <p:cNvSpPr txBox="1"/>
          <p:nvPr/>
        </p:nvSpPr>
        <p:spPr>
          <a:xfrm>
            <a:off x="5675630" y="1244282"/>
            <a:ext cx="5080000" cy="829945"/>
          </a:xfrm>
          <a:prstGeom prst="rect">
            <a:avLst/>
          </a:prstGeom>
        </p:spPr>
        <p:txBody>
          <a:bodyPr>
            <a:spAutoFit/>
          </a:bodyPr>
          <a:lstStyle/>
          <a:p>
            <a:r>
              <a:rPr lang="en-US" altLang="zh-CN" sz="1600" b="1">
                <a:solidFill>
                  <a:srgbClr val="C00000"/>
                </a:solidFill>
              </a:rPr>
              <a:t>A</a:t>
            </a:r>
            <a:r>
              <a:rPr lang="zh-CN" altLang="en-US" sz="1600" b="1">
                <a:solidFill>
                  <a:srgbClr val="C00000"/>
                </a:solidFill>
              </a:rPr>
              <a:t>公司员工登录自家系统后访问</a:t>
            </a:r>
            <a:r>
              <a:rPr lang="en-US" altLang="zh-CN" sz="1600" b="1">
                <a:solidFill>
                  <a:srgbClr val="C00000"/>
                </a:solidFill>
              </a:rPr>
              <a:t>B</a:t>
            </a:r>
            <a:r>
              <a:rPr lang="zh-CN" altLang="en-US" sz="1600" b="1">
                <a:solidFill>
                  <a:srgbClr val="C00000"/>
                </a:solidFill>
              </a:rPr>
              <a:t>公司，</a:t>
            </a:r>
            <a:r>
              <a:rPr lang="en-US" altLang="zh-CN" sz="1600" b="1">
                <a:solidFill>
                  <a:srgbClr val="C00000"/>
                </a:solidFill>
              </a:rPr>
              <a:t>A</a:t>
            </a:r>
            <a:r>
              <a:rPr lang="zh-CN" altLang="en-US" sz="1600" b="1">
                <a:solidFill>
                  <a:srgbClr val="C00000"/>
                </a:solidFill>
              </a:rPr>
              <a:t>将员工的部门属性发给</a:t>
            </a:r>
            <a:r>
              <a:rPr lang="en-US" altLang="zh-CN" sz="1600" b="1">
                <a:solidFill>
                  <a:srgbClr val="C00000"/>
                </a:solidFill>
              </a:rPr>
              <a:t>B</a:t>
            </a:r>
            <a:r>
              <a:rPr lang="zh-CN" altLang="en-US" sz="1600" b="1">
                <a:solidFill>
                  <a:srgbClr val="C00000"/>
                </a:solidFill>
              </a:rPr>
              <a:t>；</a:t>
            </a:r>
            <a:r>
              <a:rPr lang="en-US" altLang="zh-CN" sz="1600" b="1">
                <a:solidFill>
                  <a:srgbClr val="C00000"/>
                </a:solidFill>
              </a:rPr>
              <a:t>B</a:t>
            </a:r>
            <a:r>
              <a:rPr lang="zh-CN" altLang="en-US" sz="1600" b="1">
                <a:solidFill>
                  <a:srgbClr val="C00000"/>
                </a:solidFill>
              </a:rPr>
              <a:t>根据属性将其映射为对应角色并开放相应权限。</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7.7.2 </a:t>
            </a:r>
            <a:r>
              <a:rPr kumimoji="1" lang="zh-CN" altLang="zh-CN" dirty="0">
                <a:solidFill>
                  <a:prstClr val="black"/>
                </a:solidFill>
              </a:rPr>
              <a:t>身份联合</a:t>
            </a:r>
            <a:endParaRPr lang="zh-CN" altLang="en-US" dirty="0"/>
          </a:p>
        </p:txBody>
      </p:sp>
      <p:sp>
        <p:nvSpPr>
          <p:cNvPr id="3" name="内容占位符 2"/>
          <p:cNvSpPr>
            <a:spLocks noGrp="1"/>
          </p:cNvSpPr>
          <p:nvPr>
            <p:ph idx="1"/>
          </p:nvPr>
        </p:nvSpPr>
        <p:spPr>
          <a:xfrm>
            <a:off x="838200" y="1341912"/>
            <a:ext cx="10515600" cy="4755540"/>
          </a:xfrm>
        </p:spPr>
        <p:txBody>
          <a:bodyPr>
            <a:normAutofit/>
          </a:bodyPr>
          <a:lstStyle/>
          <a:p>
            <a:pPr>
              <a:lnSpc>
                <a:spcPct val="150000"/>
              </a:lnSpc>
            </a:pPr>
            <a:r>
              <a:rPr lang="zh-CN" altLang="en-US" dirty="0"/>
              <a:t>连串</a:t>
            </a:r>
            <a:r>
              <a:rPr lang="en-US" altLang="zh-CN" dirty="0"/>
              <a:t>Web</a:t>
            </a:r>
            <a:r>
              <a:rPr lang="zh-CN" altLang="en-US" dirty="0"/>
              <a:t>服务</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88</a:t>
            </a:fld>
            <a:endParaRPr kumimoji="1" lang="zh-CN" altLang="en-US" dirty="0"/>
          </a:p>
        </p:txBody>
      </p:sp>
      <p:pic>
        <p:nvPicPr>
          <p:cNvPr id="6" name="图片 5"/>
          <p:cNvPicPr>
            <a:picLocks noChangeAspect="1"/>
          </p:cNvPicPr>
          <p:nvPr/>
        </p:nvPicPr>
        <p:blipFill>
          <a:blip r:embed="rId2"/>
          <a:stretch>
            <a:fillRect/>
          </a:stretch>
        </p:blipFill>
        <p:spPr>
          <a:xfrm>
            <a:off x="2013406" y="2126841"/>
            <a:ext cx="8116245" cy="3898257"/>
          </a:xfrm>
          <a:prstGeom prst="rect">
            <a:avLst/>
          </a:prstGeom>
        </p:spPr>
      </p:pic>
      <p:sp>
        <p:nvSpPr>
          <p:cNvPr id="5" name="文本框 4"/>
          <p:cNvSpPr txBox="1"/>
          <p:nvPr/>
        </p:nvSpPr>
        <p:spPr>
          <a:xfrm>
            <a:off x="838200" y="4698365"/>
            <a:ext cx="5654040" cy="583565"/>
          </a:xfrm>
          <a:prstGeom prst="rect">
            <a:avLst/>
          </a:prstGeom>
        </p:spPr>
        <p:txBody>
          <a:bodyPr wrap="square">
            <a:spAutoFit/>
          </a:bodyPr>
          <a:lstStyle/>
          <a:p>
            <a:r>
              <a:rPr lang="zh-CN" altLang="en-US" sz="1600" b="1">
                <a:solidFill>
                  <a:srgbClr val="C00000"/>
                </a:solidFill>
              </a:rPr>
              <a:t>用户登录</a:t>
            </a:r>
            <a:r>
              <a:rPr lang="en-US" altLang="zh-CN" sz="1600" b="1">
                <a:solidFill>
                  <a:srgbClr val="C00000"/>
                </a:solidFill>
              </a:rPr>
              <a:t>A</a:t>
            </a:r>
            <a:r>
              <a:rPr lang="zh-CN" altLang="en-US" sz="1600" b="1">
                <a:solidFill>
                  <a:srgbClr val="C00000"/>
                </a:solidFill>
              </a:rPr>
              <a:t>系统发起采购，</a:t>
            </a:r>
            <a:r>
              <a:rPr lang="en-US" altLang="zh-CN" sz="1600" b="1">
                <a:solidFill>
                  <a:srgbClr val="C00000"/>
                </a:solidFill>
              </a:rPr>
              <a:t>A</a:t>
            </a:r>
            <a:r>
              <a:rPr lang="zh-CN" altLang="en-US" sz="1600" b="1">
                <a:solidFill>
                  <a:srgbClr val="C00000"/>
                </a:solidFill>
              </a:rPr>
              <a:t>将认证令牌嵌入</a:t>
            </a:r>
            <a:r>
              <a:rPr lang="en-US" altLang="zh-CN" sz="1600" b="1">
                <a:solidFill>
                  <a:srgbClr val="C00000"/>
                </a:solidFill>
              </a:rPr>
              <a:t>Soap</a:t>
            </a:r>
            <a:r>
              <a:rPr lang="zh-CN" altLang="en-US" sz="1600" b="1">
                <a:solidFill>
                  <a:srgbClr val="C00000"/>
                </a:solidFill>
              </a:rPr>
              <a:t>消息传给</a:t>
            </a:r>
            <a:r>
              <a:rPr lang="en-US" altLang="zh-CN" sz="1600" b="1">
                <a:solidFill>
                  <a:srgbClr val="C00000"/>
                </a:solidFill>
              </a:rPr>
              <a:t>D</a:t>
            </a:r>
            <a:r>
              <a:rPr lang="zh-CN" altLang="en-US" sz="1600" b="1">
                <a:solidFill>
                  <a:srgbClr val="C00000"/>
                </a:solidFill>
              </a:rPr>
              <a:t>，</a:t>
            </a:r>
            <a:r>
              <a:rPr lang="en-US" altLang="zh-CN" sz="1600" b="1">
                <a:solidFill>
                  <a:srgbClr val="C00000"/>
                </a:solidFill>
              </a:rPr>
              <a:t>D</a:t>
            </a:r>
            <a:r>
              <a:rPr lang="zh-CN" altLang="en-US" sz="1600" b="1">
                <a:solidFill>
                  <a:srgbClr val="C00000"/>
                </a:solidFill>
              </a:rPr>
              <a:t>处理后继续连串透传给</a:t>
            </a:r>
            <a:r>
              <a:rPr lang="en-US" altLang="zh-CN" sz="1600" b="1">
                <a:solidFill>
                  <a:srgbClr val="C00000"/>
                </a:solidFill>
              </a:rPr>
              <a:t>E</a:t>
            </a:r>
            <a:r>
              <a:rPr lang="zh-CN" altLang="en-US" sz="1600" b="1">
                <a:solidFill>
                  <a:srgbClr val="C00000"/>
                </a:solidFill>
              </a:rPr>
              <a:t>，实现跨系统的信任传递。</a:t>
            </a:r>
          </a:p>
        </p:txBody>
      </p:sp>
      <p:sp>
        <p:nvSpPr>
          <p:cNvPr id="7" name="文本框 6"/>
          <p:cNvSpPr txBox="1"/>
          <p:nvPr/>
        </p:nvSpPr>
        <p:spPr>
          <a:xfrm>
            <a:off x="4368800" y="2802573"/>
            <a:ext cx="5080000" cy="337185"/>
          </a:xfrm>
          <a:prstGeom prst="rect">
            <a:avLst/>
          </a:prstGeom>
        </p:spPr>
        <p:txBody>
          <a:bodyPr>
            <a:spAutoFit/>
          </a:bodyPr>
          <a:lstStyle/>
          <a:p>
            <a:r>
              <a:rPr lang="zh-CN" altLang="en-US" sz="1600"/>
              <a:t>简单对象访问协议</a:t>
            </a:r>
            <a:r>
              <a:rPr lang="en-US" altLang="zh-CN" sz="1600"/>
              <a:t>,</a:t>
            </a:r>
            <a:r>
              <a:rPr lang="zh-CN" altLang="en-US" sz="1600"/>
              <a:t>打包协议</a:t>
            </a:r>
          </a:p>
        </p:txBody>
      </p:sp>
    </p:spTree>
  </p:cSld>
  <p:clrMapOvr>
    <a:masterClrMapping/>
  </p:clrMapOvr>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7877</Words>
  <Application>Microsoft Office PowerPoint</Application>
  <PresentationFormat>宽屏</PresentationFormat>
  <Paragraphs>888</Paragraphs>
  <Slides>88</Slides>
  <Notes>32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3</vt:i4>
      </vt:variant>
      <vt:variant>
        <vt:lpstr>幻灯片标题</vt:lpstr>
      </vt:variant>
      <vt:variant>
        <vt:i4>88</vt:i4>
      </vt:variant>
    </vt:vector>
  </HeadingPairs>
  <TitlesOfParts>
    <vt:vector size="99" baseType="lpstr">
      <vt:lpstr>等线</vt:lpstr>
      <vt:lpstr>宋体</vt:lpstr>
      <vt:lpstr>微软雅黑</vt:lpstr>
      <vt:lpstr>Arial</vt:lpstr>
      <vt:lpstr>Helvetica</vt:lpstr>
      <vt:lpstr>Times New Roman</vt:lpstr>
      <vt:lpstr>Wingdings</vt:lpstr>
      <vt:lpstr>Office 主题​​</vt:lpstr>
      <vt:lpstr>Microsoft Word Picture</vt:lpstr>
      <vt:lpstr>Picture</vt:lpstr>
      <vt:lpstr>位图图像</vt:lpstr>
      <vt:lpstr>第七章 密钥分配和用户认证</vt:lpstr>
      <vt:lpstr>本章内容</vt:lpstr>
      <vt:lpstr>7.1 远程用户认证原理</vt:lpstr>
      <vt:lpstr>7.1 远程用户认证原理</vt:lpstr>
      <vt:lpstr>7.1.1 NIST电子用户认证模型</vt:lpstr>
      <vt:lpstr>7.1.1 NIST电子用户认证模型</vt:lpstr>
      <vt:lpstr>7.1.1 NIST电子用户认证模型</vt:lpstr>
      <vt:lpstr>7.1.2 认证方法</vt:lpstr>
      <vt:lpstr>7.1.2 认证方法</vt:lpstr>
      <vt:lpstr>7.1.2 认证方法</vt:lpstr>
      <vt:lpstr>本章内容</vt:lpstr>
      <vt:lpstr>7.2 基于对称加密的密钥分配</vt:lpstr>
      <vt:lpstr>7.2 基于对称加密的密钥分配</vt:lpstr>
      <vt:lpstr>7.2 基于对称加密的密钥分配</vt:lpstr>
      <vt:lpstr>7.2 基于对称加密的密钥分配</vt:lpstr>
      <vt:lpstr>7.2 基于对称加密的密钥分配</vt:lpstr>
      <vt:lpstr>本章内容</vt:lpstr>
      <vt:lpstr>7.3  Kerberos</vt:lpstr>
      <vt:lpstr>7.3  Kerberos</vt:lpstr>
      <vt:lpstr>Kerberos设计思路</vt:lpstr>
      <vt:lpstr>Kerberos设计思路（续）</vt:lpstr>
      <vt:lpstr>Kerberos设计思路（续）</vt:lpstr>
      <vt:lpstr>Kerberos设计思路（续）</vt:lpstr>
      <vt:lpstr>Kerberos设计思路（续）</vt:lpstr>
      <vt:lpstr>Kerberos设计思路（续）</vt:lpstr>
      <vt:lpstr>Kerberos设计思路（续）</vt:lpstr>
      <vt:lpstr>Kerberos设计思路（续）</vt:lpstr>
      <vt:lpstr>Kerberos设计思路（续）</vt:lpstr>
      <vt:lpstr>Kerberos的票据</vt:lpstr>
      <vt:lpstr>Kerberos设计思路（续）</vt:lpstr>
      <vt:lpstr>Kerberos设计思路（续）</vt:lpstr>
      <vt:lpstr>Kerberos设计思路（续）</vt:lpstr>
      <vt:lpstr>Kerberos设计思路（续）</vt:lpstr>
      <vt:lpstr>Kerberos设计思路（续）</vt:lpstr>
      <vt:lpstr>Kerberos设计思路（续）</vt:lpstr>
      <vt:lpstr>Kerberos V4协议描述：第一阶段</vt:lpstr>
      <vt:lpstr>Kerberos V4协议描述：第二阶段</vt:lpstr>
      <vt:lpstr>Kerberos V4协议描述：第三阶段</vt:lpstr>
      <vt:lpstr>Kerberos V4协议描述：共享密钥及会话密钥</vt:lpstr>
      <vt:lpstr>Kerberos设计思路</vt:lpstr>
      <vt:lpstr>Kerberos（V4）协议交互过程</vt:lpstr>
      <vt:lpstr>7.3  Kerberos</vt:lpstr>
      <vt:lpstr>7.3  Kerberos</vt:lpstr>
      <vt:lpstr>7.3  Kerberos</vt:lpstr>
      <vt:lpstr>7.3  Kerberos</vt:lpstr>
      <vt:lpstr>7.3  Kerberos</vt:lpstr>
      <vt:lpstr>7.3  Kerberos</vt:lpstr>
      <vt:lpstr>7.3.1  Kerberos版本4</vt:lpstr>
      <vt:lpstr>7.3.1  Kerberos版本4</vt:lpstr>
      <vt:lpstr>7.3.1  Kerberos版本4</vt:lpstr>
      <vt:lpstr>7.3.2  Kerberos版本5</vt:lpstr>
      <vt:lpstr>7.3.2  Kerberos版本5</vt:lpstr>
      <vt:lpstr>7.3.2  Kerberos版本5</vt:lpstr>
      <vt:lpstr>Kerberos 领域(realm)</vt:lpstr>
      <vt:lpstr>Kerberos 领域间的互通</vt:lpstr>
      <vt:lpstr>远程服务访问的认证过程</vt:lpstr>
      <vt:lpstr>本章内容</vt:lpstr>
      <vt:lpstr>7.4.1 公钥证书</vt:lpstr>
      <vt:lpstr>7.4.1 公钥证书</vt:lpstr>
      <vt:lpstr>7.4.1 公钥证书</vt:lpstr>
      <vt:lpstr>7.4.1 公钥证书</vt:lpstr>
      <vt:lpstr>7.4.1 公钥证书</vt:lpstr>
      <vt:lpstr>7.4.1 公钥证书</vt:lpstr>
      <vt:lpstr>7.4.2 基于公钥密码的秘密密钥分发</vt:lpstr>
      <vt:lpstr>7.4.2 基于公钥密码的秘密密钥分发</vt:lpstr>
      <vt:lpstr>7.4.2 基于公钥密码的秘密密钥分发</vt:lpstr>
      <vt:lpstr>本章内容</vt:lpstr>
      <vt:lpstr>7.5.1 证书</vt:lpstr>
      <vt:lpstr>7.5.1 证书</vt:lpstr>
      <vt:lpstr>7.5.1 证书</vt:lpstr>
      <vt:lpstr>7.5.1 证书</vt:lpstr>
      <vt:lpstr>本章内容</vt:lpstr>
      <vt:lpstr>7.6 公钥基础设施PKI</vt:lpstr>
      <vt:lpstr>7.6 公钥基础设施PKI</vt:lpstr>
      <vt:lpstr>7.6 公钥基础设施PKI</vt:lpstr>
      <vt:lpstr>7.6 公钥基础设施PKI</vt:lpstr>
      <vt:lpstr>7.6.1 PKIX管理功能</vt:lpstr>
      <vt:lpstr>7.6.1 PKIX管理功能</vt:lpstr>
      <vt:lpstr>7.6.2 PKIX管理协议</vt:lpstr>
      <vt:lpstr>本章内容</vt:lpstr>
      <vt:lpstr>7.7.1 身份管理</vt:lpstr>
      <vt:lpstr>7.7.1 身份管理</vt:lpstr>
      <vt:lpstr>7.7.1 身份管理</vt:lpstr>
      <vt:lpstr>7.7.2 身份联合</vt:lpstr>
      <vt:lpstr>7.7.2 身份联合</vt:lpstr>
      <vt:lpstr>7.7.2 身份联合</vt:lpstr>
      <vt:lpstr>7.7.2 身份联合</vt:lpstr>
      <vt:lpstr>7.7.2 身份联合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围岩 李</cp:lastModifiedBy>
  <cp:revision>494</cp:revision>
  <dcterms:created xsi:type="dcterms:W3CDTF">2021-01-06T05:35:00Z</dcterms:created>
  <dcterms:modified xsi:type="dcterms:W3CDTF">2026-06-05T09:42:16Z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8A02788FBFC245B283B8068A8798D691_12</vt:lpwstr>
  </property>
  <property fmtid="{D5CDD505-2E9C-101B-9397-08002B2CF9AE}" pid="3" name="KSOProductBuildVer">
    <vt:lpwstr>2052-12.1.0.23542</vt:lpwstr>
  </property>
</Properties>
</file>