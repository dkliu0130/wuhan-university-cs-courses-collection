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6"/>
  </p:notesMasterIdLst>
  <p:sldIdLst>
    <p:sldId id="256" r:id="rId2"/>
    <p:sldId id="1988" r:id="rId3"/>
    <p:sldId id="1874" r:id="rId4"/>
    <p:sldId id="1864" r:id="rId5"/>
    <p:sldId id="1881" r:id="rId6"/>
    <p:sldId id="1882" r:id="rId7"/>
    <p:sldId id="1883" r:id="rId8"/>
    <p:sldId id="1884" r:id="rId9"/>
    <p:sldId id="1885" r:id="rId10"/>
    <p:sldId id="1863" r:id="rId11"/>
    <p:sldId id="1875" r:id="rId12"/>
    <p:sldId id="1886" r:id="rId13"/>
    <p:sldId id="1887" r:id="rId14"/>
    <p:sldId id="1876" r:id="rId15"/>
    <p:sldId id="1888" r:id="rId16"/>
    <p:sldId id="1893" r:id="rId17"/>
    <p:sldId id="1894" r:id="rId18"/>
    <p:sldId id="1895" r:id="rId19"/>
    <p:sldId id="1896" r:id="rId20"/>
    <p:sldId id="1897" r:id="rId21"/>
    <p:sldId id="1898" r:id="rId22"/>
    <p:sldId id="1899" r:id="rId23"/>
    <p:sldId id="1900" r:id="rId24"/>
    <p:sldId id="1865" r:id="rId25"/>
    <p:sldId id="1901" r:id="rId26"/>
    <p:sldId id="1966" r:id="rId27"/>
    <p:sldId id="1967" r:id="rId28"/>
    <p:sldId id="1969" r:id="rId29"/>
    <p:sldId id="799" r:id="rId30"/>
    <p:sldId id="801" r:id="rId31"/>
    <p:sldId id="800" r:id="rId32"/>
    <p:sldId id="1968" r:id="rId33"/>
    <p:sldId id="803" r:id="rId34"/>
    <p:sldId id="804" r:id="rId35"/>
    <p:sldId id="805" r:id="rId36"/>
    <p:sldId id="806" r:id="rId37"/>
    <p:sldId id="1970" r:id="rId38"/>
    <p:sldId id="808" r:id="rId39"/>
    <p:sldId id="1971" r:id="rId40"/>
    <p:sldId id="1972" r:id="rId41"/>
    <p:sldId id="1902" r:id="rId42"/>
    <p:sldId id="1903" r:id="rId43"/>
    <p:sldId id="1973" r:id="rId44"/>
    <p:sldId id="1904" r:id="rId45"/>
    <p:sldId id="1906" r:id="rId46"/>
    <p:sldId id="1905" r:id="rId47"/>
    <p:sldId id="1907" r:id="rId48"/>
    <p:sldId id="1974" r:id="rId49"/>
    <p:sldId id="1908" r:id="rId50"/>
    <p:sldId id="1909" r:id="rId51"/>
    <p:sldId id="1910" r:id="rId52"/>
    <p:sldId id="1911" r:id="rId53"/>
    <p:sldId id="1889" r:id="rId54"/>
    <p:sldId id="1912" r:id="rId55"/>
    <p:sldId id="1913" r:id="rId56"/>
    <p:sldId id="674" r:id="rId57"/>
    <p:sldId id="1975" r:id="rId58"/>
    <p:sldId id="836" r:id="rId59"/>
    <p:sldId id="675" r:id="rId60"/>
    <p:sldId id="1976" r:id="rId61"/>
    <p:sldId id="1890" r:id="rId62"/>
    <p:sldId id="1919" r:id="rId63"/>
    <p:sldId id="1977" r:id="rId64"/>
    <p:sldId id="1918" r:id="rId65"/>
    <p:sldId id="1978" r:id="rId66"/>
    <p:sldId id="1891" r:id="rId67"/>
    <p:sldId id="1927" r:id="rId68"/>
    <p:sldId id="1930" r:id="rId69"/>
    <p:sldId id="1931" r:id="rId70"/>
    <p:sldId id="1937" r:id="rId71"/>
    <p:sldId id="1938" r:id="rId72"/>
    <p:sldId id="1936" r:id="rId73"/>
    <p:sldId id="1934" r:id="rId74"/>
    <p:sldId id="1939" r:id="rId75"/>
    <p:sldId id="1965" r:id="rId76"/>
    <p:sldId id="1929" r:id="rId77"/>
    <p:sldId id="1979" r:id="rId78"/>
    <p:sldId id="1989" r:id="rId79"/>
    <p:sldId id="1990" r:id="rId80"/>
    <p:sldId id="1923" r:id="rId81"/>
    <p:sldId id="1924" r:id="rId82"/>
    <p:sldId id="1925" r:id="rId83"/>
    <p:sldId id="1980" r:id="rId84"/>
    <p:sldId id="1981" r:id="rId85"/>
    <p:sldId id="1982" r:id="rId86"/>
    <p:sldId id="1986" r:id="rId87"/>
    <p:sldId id="1983" r:id="rId88"/>
    <p:sldId id="1984" r:id="rId89"/>
    <p:sldId id="1987" r:id="rId90"/>
    <p:sldId id="1866" r:id="rId91"/>
    <p:sldId id="1941" r:id="rId92"/>
    <p:sldId id="1942" r:id="rId93"/>
    <p:sldId id="1867" r:id="rId94"/>
    <p:sldId id="1892" r:id="rId95"/>
    <p:sldId id="1877" r:id="rId96"/>
    <p:sldId id="1944" r:id="rId97"/>
    <p:sldId id="1945" r:id="rId98"/>
    <p:sldId id="1878" r:id="rId99"/>
    <p:sldId id="1946" r:id="rId100"/>
    <p:sldId id="1947" r:id="rId101"/>
    <p:sldId id="1948" r:id="rId102"/>
    <p:sldId id="1949" r:id="rId103"/>
    <p:sldId id="1950" r:id="rId104"/>
    <p:sldId id="1951" r:id="rId105"/>
    <p:sldId id="1952" r:id="rId106"/>
    <p:sldId id="1954" r:id="rId107"/>
    <p:sldId id="1955" r:id="rId108"/>
    <p:sldId id="1956" r:id="rId109"/>
    <p:sldId id="1957" r:id="rId110"/>
    <p:sldId id="1879" r:id="rId111"/>
    <p:sldId id="1958" r:id="rId112"/>
    <p:sldId id="1960" r:id="rId113"/>
    <p:sldId id="1963" r:id="rId114"/>
    <p:sldId id="1964" r:id="rId1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428EDA"/>
    <a:srgbClr val="01B1FD"/>
    <a:srgbClr val="EBEBEB"/>
    <a:srgbClr val="0000FF"/>
    <a:srgbClr val="5B307E"/>
    <a:srgbClr val="BDBCBC"/>
    <a:srgbClr val="BE5108"/>
    <a:srgbClr val="FEFF00"/>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180" autoAdjust="0"/>
    <p:restoredTop sz="95847" autoAdjust="0"/>
  </p:normalViewPr>
  <p:slideViewPr>
    <p:cSldViewPr snapToGrid="0" snapToObjects="1">
      <p:cViewPr varScale="1">
        <p:scale>
          <a:sx n="91" d="100"/>
          <a:sy n="91" d="100"/>
        </p:scale>
        <p:origin x="54" y="28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ommentAuthors" Target="commentAuthor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pPr/>
              <a:t>2026/6/4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pPr/>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3</a:t>
            </a:fld>
            <a:endParaRPr lang="zh-CN" altLang="en-US"/>
          </a:p>
        </p:txBody>
      </p:sp>
    </p:spTree>
    <p:extLst>
      <p:ext uri="{BB962C8B-B14F-4D97-AF65-F5344CB8AC3E}">
        <p14:creationId xmlns:p14="http://schemas.microsoft.com/office/powerpoint/2010/main" val="545091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r>
              <a:rPr lang="zh-CN" altLang="en-US" dirty="0"/>
              <a:t>本章的主要内容包括以下</a:t>
            </a:r>
            <a:r>
              <a:rPr lang="en-US" altLang="zh-CN" dirty="0"/>
              <a:t>9</a:t>
            </a:r>
            <a:r>
              <a:rPr lang="zh-CN" altLang="en-US" dirty="0"/>
              <a:t>个小节，其中第</a:t>
            </a:r>
            <a:r>
              <a:rPr lang="en-US" altLang="zh-CN" dirty="0"/>
              <a:t>8</a:t>
            </a:r>
            <a:r>
              <a:rPr lang="zh-CN" altLang="en-US" dirty="0"/>
              <a:t>小节隐私保护与审计是选讲内容。第一节，网络安全基础，包括网络安全基本属性、基本原则、网络攻击基本原则、网络安全威胁基本解决方案</a:t>
            </a:r>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14</a:t>
            </a:fld>
            <a:endParaRPr lang="zh-CN" altLang="en-US"/>
          </a:p>
        </p:txBody>
      </p:sp>
    </p:spTree>
    <p:extLst>
      <p:ext uri="{BB962C8B-B14F-4D97-AF65-F5344CB8AC3E}">
        <p14:creationId xmlns:p14="http://schemas.microsoft.com/office/powerpoint/2010/main" val="1446590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56</a:t>
            </a:fld>
            <a:endParaRPr kumimoji="1" lang="zh-CN" altLang="en-US"/>
          </a:p>
        </p:txBody>
      </p:sp>
    </p:spTree>
    <p:extLst>
      <p:ext uri="{BB962C8B-B14F-4D97-AF65-F5344CB8AC3E}">
        <p14:creationId xmlns:p14="http://schemas.microsoft.com/office/powerpoint/2010/main" val="1906639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74</a:t>
            </a:fld>
            <a:endParaRPr kumimoji="1" lang="zh-CN" altLang="en-US"/>
          </a:p>
        </p:txBody>
      </p:sp>
    </p:spTree>
    <p:extLst>
      <p:ext uri="{BB962C8B-B14F-4D97-AF65-F5344CB8AC3E}">
        <p14:creationId xmlns:p14="http://schemas.microsoft.com/office/powerpoint/2010/main" val="1343192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r>
              <a:rPr lang="zh-CN" altLang="en-US" dirty="0"/>
              <a:t>本章的主要内容包括以下</a:t>
            </a:r>
            <a:r>
              <a:rPr lang="en-US" altLang="zh-CN" dirty="0"/>
              <a:t>9</a:t>
            </a:r>
            <a:r>
              <a:rPr lang="zh-CN" altLang="en-US" dirty="0"/>
              <a:t>个小节，其中第</a:t>
            </a:r>
            <a:r>
              <a:rPr lang="en-US" altLang="zh-CN" dirty="0"/>
              <a:t>8</a:t>
            </a:r>
            <a:r>
              <a:rPr lang="zh-CN" altLang="en-US" dirty="0"/>
              <a:t>小节隐私保护与审计是选讲内容。第一节，网络安全基础，包括网络安全基本属性、基本原则、网络攻击基本原则、网络安全威胁基本解决方案</a:t>
            </a:r>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95</a:t>
            </a:fld>
            <a:endParaRPr lang="zh-CN" altLang="en-US"/>
          </a:p>
        </p:txBody>
      </p:sp>
    </p:spTree>
    <p:extLst>
      <p:ext uri="{BB962C8B-B14F-4D97-AF65-F5344CB8AC3E}">
        <p14:creationId xmlns:p14="http://schemas.microsoft.com/office/powerpoint/2010/main" val="2861319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a:t>
            </a:r>
            <a:r>
              <a:rPr lang="zh-CN" altLang="en-US" dirty="0"/>
              <a:t>讲解脚本</a:t>
            </a:r>
            <a:r>
              <a:rPr lang="en-US" altLang="zh-CN" dirty="0"/>
              <a:t>】</a:t>
            </a:r>
          </a:p>
          <a:p>
            <a:endParaRPr lang="en-US" altLang="zh-CN" dirty="0"/>
          </a:p>
          <a:p>
            <a:r>
              <a:rPr lang="zh-CN" altLang="en-US" dirty="0"/>
              <a:t>国密系列算法</a:t>
            </a:r>
            <a:endParaRPr lang="en-US" altLang="zh-CN" dirty="0"/>
          </a:p>
          <a:p>
            <a:pPr marL="228600" lvl="1">
              <a:buFont typeface="Wingdings" pitchFamily="2" charset="2"/>
              <a:buChar char="Ø"/>
            </a:pPr>
            <a:r>
              <a:rPr lang="en-US" altLang="zh-CN" dirty="0"/>
              <a:t>SM2/SM9-----</a:t>
            </a:r>
            <a:r>
              <a:rPr lang="zh-CN" altLang="en-US" dirty="0"/>
              <a:t>非对称密码（公钥算法）</a:t>
            </a:r>
            <a:endParaRPr lang="en-US" altLang="zh-CN" dirty="0"/>
          </a:p>
          <a:p>
            <a:pPr marL="685800" lvl="2">
              <a:buFont typeface="Wingdings" pitchFamily="2" charset="2"/>
              <a:buChar char="Ø"/>
            </a:pPr>
            <a:r>
              <a:rPr lang="en-US" altLang="zh-CN" dirty="0"/>
              <a:t>SM2</a:t>
            </a:r>
            <a:r>
              <a:rPr lang="zh-CN" altLang="en-US" dirty="0"/>
              <a:t>：是一种基于椭圆曲线算法的非对称密码算法，基于</a:t>
            </a:r>
            <a:r>
              <a:rPr lang="en-US" altLang="zh-CN" dirty="0"/>
              <a:t>256bit</a:t>
            </a:r>
            <a:r>
              <a:rPr lang="zh-CN" altLang="en-US" dirty="0"/>
              <a:t>模运算的素数域。可以实现：</a:t>
            </a:r>
            <a:r>
              <a:rPr lang="en-US" altLang="zh-CN" dirty="0">
                <a:solidFill>
                  <a:srgbClr val="7030A0"/>
                </a:solidFill>
              </a:rPr>
              <a:t> SM2-1</a:t>
            </a:r>
            <a:r>
              <a:rPr lang="zh-CN" altLang="en-US" dirty="0">
                <a:solidFill>
                  <a:srgbClr val="7030A0"/>
                </a:solidFill>
              </a:rPr>
              <a:t>数字签名、</a:t>
            </a:r>
            <a:r>
              <a:rPr lang="en-US" altLang="zh-CN" dirty="0">
                <a:solidFill>
                  <a:srgbClr val="7030A0"/>
                </a:solidFill>
              </a:rPr>
              <a:t> SM2-1</a:t>
            </a:r>
            <a:r>
              <a:rPr lang="zh-CN" altLang="en-US" dirty="0">
                <a:solidFill>
                  <a:srgbClr val="7030A0"/>
                </a:solidFill>
              </a:rPr>
              <a:t>密钥协商、</a:t>
            </a:r>
            <a:r>
              <a:rPr lang="en-US" altLang="zh-CN" dirty="0">
                <a:solidFill>
                  <a:srgbClr val="7030A0"/>
                </a:solidFill>
              </a:rPr>
              <a:t> SM2-1</a:t>
            </a:r>
            <a:r>
              <a:rPr lang="zh-CN" altLang="en-US" dirty="0">
                <a:solidFill>
                  <a:srgbClr val="7030A0"/>
                </a:solidFill>
              </a:rPr>
              <a:t>加解密算法</a:t>
            </a:r>
            <a:endParaRPr lang="en-US" altLang="zh-CN" dirty="0">
              <a:solidFill>
                <a:srgbClr val="7030A0"/>
              </a:solidFill>
            </a:endParaRPr>
          </a:p>
          <a:p>
            <a:pPr marL="685800" lvl="2">
              <a:buFont typeface="Wingdings" pitchFamily="2" charset="2"/>
              <a:buChar char="Ø"/>
            </a:pPr>
            <a:r>
              <a:rPr lang="en-US" altLang="zh-CN" dirty="0"/>
              <a:t>SM9</a:t>
            </a:r>
            <a:r>
              <a:rPr lang="zh-CN" altLang="en-US" dirty="0"/>
              <a:t>基于双线性对的椭圆曲线算法的非对称密码。可以实现基于身份的密码体制。</a:t>
            </a:r>
            <a:r>
              <a:rPr lang="en-US" altLang="zh-CN" dirty="0"/>
              <a:t> </a:t>
            </a:r>
            <a:r>
              <a:rPr lang="en-US" altLang="zh-CN" dirty="0">
                <a:solidFill>
                  <a:srgbClr val="7030A0"/>
                </a:solidFill>
              </a:rPr>
              <a:t>SM9-1</a:t>
            </a:r>
            <a:r>
              <a:rPr lang="zh-CN" altLang="en-US" dirty="0">
                <a:solidFill>
                  <a:srgbClr val="7030A0"/>
                </a:solidFill>
              </a:rPr>
              <a:t>数字签名算法；</a:t>
            </a:r>
            <a:r>
              <a:rPr lang="en-US" altLang="zh-CN" dirty="0">
                <a:solidFill>
                  <a:srgbClr val="7030A0"/>
                </a:solidFill>
              </a:rPr>
              <a:t>SM9-2</a:t>
            </a:r>
            <a:r>
              <a:rPr lang="zh-CN" altLang="en-US" dirty="0">
                <a:solidFill>
                  <a:srgbClr val="7030A0"/>
                </a:solidFill>
              </a:rPr>
              <a:t>密钥交换协议；</a:t>
            </a:r>
            <a:r>
              <a:rPr lang="en-US" altLang="zh-CN" dirty="0">
                <a:solidFill>
                  <a:srgbClr val="7030A0"/>
                </a:solidFill>
              </a:rPr>
              <a:t>SM9-3</a:t>
            </a:r>
            <a:r>
              <a:rPr lang="zh-CN" altLang="en-US" dirty="0">
                <a:solidFill>
                  <a:srgbClr val="7030A0"/>
                </a:solidFill>
              </a:rPr>
              <a:t>密钥封装机制和公钥密码算法</a:t>
            </a:r>
            <a:endParaRPr lang="en-US" altLang="zh-CN" dirty="0">
              <a:solidFill>
                <a:srgbClr val="7030A0"/>
              </a:solidFill>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2044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a:t>
            </a:r>
            <a:r>
              <a:rPr lang="zh-CN" altLang="en-US" dirty="0"/>
              <a:t>讲解脚本</a:t>
            </a:r>
            <a:r>
              <a:rPr lang="en-US" altLang="zh-CN" dirty="0"/>
              <a:t>】</a:t>
            </a:r>
          </a:p>
          <a:p>
            <a:endParaRPr lang="en-US" altLang="zh-CN" dirty="0"/>
          </a:p>
          <a:p>
            <a:r>
              <a:rPr lang="zh-CN" altLang="en-US" dirty="0"/>
              <a:t>国密与国际算法对标</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657624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0E59C439-FD35-4547-BEF5-304266CA27AE}" type="datetime1">
              <a:rPr kumimoji="1" lang="zh-CN" altLang="en-US" smtClean="0"/>
              <a:pPr/>
              <a:t>2026/6/4</a:t>
            </a:fld>
            <a:endParaRPr kumimoji="1" lang="zh-CN" altLang="en-US"/>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8772939"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网络安全</a:t>
            </a:r>
          </a:p>
        </p:txBody>
      </p:sp>
      <p:pic>
        <p:nvPicPr>
          <p:cNvPr id="27" name="图片 26"/>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55195"/>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a:xfrm>
            <a:off x="1307508" y="365126"/>
            <a:ext cx="8220812" cy="879086"/>
          </a:xfrm>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a:lnSpc>
                <a:spcPct val="100000"/>
              </a:lnSpc>
              <a:spcBef>
                <a:spcPts val="600"/>
              </a:spcBef>
              <a:buFont typeface="Wingdings"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742A9FFD-B852-1440-BFA7-3771E624B655}" type="datetime1">
              <a:rPr kumimoji="1" lang="zh-CN" altLang="en-US" smtClean="0"/>
              <a:pPr/>
              <a:t>2026/6/4</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a:xfrm>
            <a:off x="9448800" y="6492874"/>
            <a:ext cx="2743200" cy="365125"/>
          </a:xfrm>
        </p:spPr>
        <p:txBody>
          <a:bodyPr/>
          <a:lstStyle/>
          <a:p>
            <a:fld id="{8D4D1E41-7A09-AB4A-A4E1-09765ADA2698}" type="slidenum">
              <a:rPr kumimoji="1" lang="zh-CN" altLang="en-US" smtClean="0"/>
              <a:pPr/>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27644" y="644181"/>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83"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82D0-572E-624F-BEDB-F00CBE6A218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A87903-353F-4B4A-B3FB-4066EDD98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04B3FA-B4F5-5C42-B890-F4076B7A4FD0}"/>
              </a:ext>
            </a:extLst>
          </p:cNvPr>
          <p:cNvSpPr>
            <a:spLocks noGrp="1"/>
          </p:cNvSpPr>
          <p:nvPr>
            <p:ph type="dt" sz="half" idx="10"/>
          </p:nvPr>
        </p:nvSpPr>
        <p:spPr/>
        <p:txBody>
          <a:bodyPr/>
          <a:lstStyle/>
          <a:p>
            <a:fld id="{8FB9FD2C-6821-D14F-9B68-59272353C12E}" type="datetime1">
              <a:rPr kumimoji="1" lang="zh-CN" altLang="en-US" smtClean="0"/>
              <a:pPr/>
              <a:t>2026/6/4</a:t>
            </a:fld>
            <a:endParaRPr kumimoji="1" lang="zh-CN" altLang="en-US"/>
          </a:p>
        </p:txBody>
      </p:sp>
      <p:sp>
        <p:nvSpPr>
          <p:cNvPr id="5" name="页脚占位符 4">
            <a:extLst>
              <a:ext uri="{FF2B5EF4-FFF2-40B4-BE49-F238E27FC236}">
                <a16:creationId xmlns:a16="http://schemas.microsoft.com/office/drawing/2014/main" id="{0C101AF8-66A2-9540-852A-299D3631665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EE700E-C900-6342-B705-37A4EAE2A741}"/>
              </a:ext>
            </a:extLst>
          </p:cNvPr>
          <p:cNvSpPr>
            <a:spLocks noGrp="1"/>
          </p:cNvSpPr>
          <p:nvPr>
            <p:ph type="sldNum" sz="quarter" idx="12"/>
          </p:nvPr>
        </p:nvSpPr>
        <p:spPr/>
        <p:txBody>
          <a:body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1592629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3B2C8BEE-C117-B242-AE80-6684D8ECFAC3}" type="datetime1">
              <a:rPr kumimoji="1" lang="zh-CN" altLang="en-US" smtClean="0"/>
              <a:pPr/>
              <a:t>2026/6/4</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a:xfrm>
            <a:off x="9428202" y="6492874"/>
            <a:ext cx="2743200" cy="365125"/>
          </a:xfrm>
        </p:spPr>
        <p:txBody>
          <a:bodyPr/>
          <a:lstStyle/>
          <a:p>
            <a:fld id="{8D4D1E41-7A09-AB4A-A4E1-09765ADA2698}" type="slidenum">
              <a:rPr kumimoji="1" lang="zh-CN" altLang="en-US" smtClean="0"/>
              <a:pPr/>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729525"/>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27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13DFC-2B9E-1046-8B5B-5FDA89B52346}"/>
              </a:ext>
            </a:extLst>
          </p:cNvPr>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664D48E2-7007-2C43-9E31-DD2985676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a:extLst>
              <a:ext uri="{FF2B5EF4-FFF2-40B4-BE49-F238E27FC236}">
                <a16:creationId xmlns:a16="http://schemas.microsoft.com/office/drawing/2014/main" id="{A1ED6729-C3F3-7049-A57C-58FE3C205582}"/>
              </a:ext>
            </a:extLst>
          </p:cNvPr>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a:extLst>
              <a:ext uri="{FF2B5EF4-FFF2-40B4-BE49-F238E27FC236}">
                <a16:creationId xmlns:a16="http://schemas.microsoft.com/office/drawing/2014/main" id="{762B1297-DB16-374F-BBBD-21C64C292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9E6E70B-400A-F546-AF7B-C36FDD0858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BADACC0-37EC-9149-9D6D-CB966DF55A46}"/>
              </a:ext>
            </a:extLst>
          </p:cNvPr>
          <p:cNvSpPr>
            <a:spLocks noGrp="1"/>
          </p:cNvSpPr>
          <p:nvPr>
            <p:ph type="dt" sz="half" idx="10"/>
          </p:nvPr>
        </p:nvSpPr>
        <p:spPr/>
        <p:txBody>
          <a:bodyPr/>
          <a:lstStyle/>
          <a:p>
            <a:fld id="{242C34E1-A7B1-194A-A03F-68AF0754181E}" type="datetime1">
              <a:rPr kumimoji="1" lang="zh-CN" altLang="en-US" smtClean="0"/>
              <a:pPr/>
              <a:t>2026/6/4</a:t>
            </a:fld>
            <a:endParaRPr kumimoji="1" lang="zh-CN" altLang="en-US"/>
          </a:p>
        </p:txBody>
      </p:sp>
      <p:sp>
        <p:nvSpPr>
          <p:cNvPr id="8" name="页脚占位符 7">
            <a:extLst>
              <a:ext uri="{FF2B5EF4-FFF2-40B4-BE49-F238E27FC236}">
                <a16:creationId xmlns:a16="http://schemas.microsoft.com/office/drawing/2014/main" id="{C1F2C5F8-DD20-7E4C-9FB0-CD51C54A1C6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8D7EE40-2B94-6D4D-928E-DECF5D80840F}"/>
              </a:ext>
            </a:extLst>
          </p:cNvPr>
          <p:cNvSpPr>
            <a:spLocks noGrp="1"/>
          </p:cNvSpPr>
          <p:nvPr>
            <p:ph type="sldNum" sz="quarter" idx="12"/>
          </p:nvPr>
        </p:nvSpPr>
        <p:spPr>
          <a:xfrm>
            <a:off x="9448800" y="6492875"/>
            <a:ext cx="2743200" cy="365125"/>
          </a:xfrm>
        </p:spPr>
        <p:txBody>
          <a:bodyPr/>
          <a:lstStyle/>
          <a:p>
            <a:fld id="{8D4D1E41-7A09-AB4A-A4E1-09765ADA2698}" type="slidenum">
              <a:rPr kumimoji="1" lang="zh-CN" altLang="en-US" smtClean="0"/>
              <a:pPr/>
              <a:t>‹#›</a:t>
            </a:fld>
            <a:endParaRPr kumimoji="1" lang="zh-CN" altLang="en-US"/>
          </a:p>
        </p:txBody>
      </p:sp>
      <p:sp>
        <p:nvSpPr>
          <p:cNvPr id="10" name="矩形 9">
            <a:extLst>
              <a:ext uri="{FF2B5EF4-FFF2-40B4-BE49-F238E27FC236}">
                <a16:creationId xmlns:a16="http://schemas.microsoft.com/office/drawing/2014/main" id="{ABC5A3E3-16BE-4348-82D2-7C344E6E1F54}"/>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a:extLst>
              <a:ext uri="{FF2B5EF4-FFF2-40B4-BE49-F238E27FC236}">
                <a16:creationId xmlns:a16="http://schemas.microsoft.com/office/drawing/2014/main" id="{EE152040-1510-FD47-8927-D0B20C5D7C27}"/>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CDBA8066-7719-6E44-BBFA-1BD16F8D020F}"/>
              </a:ext>
            </a:extLst>
          </p:cNvPr>
          <p:cNvGrpSpPr/>
          <p:nvPr userDrawn="1"/>
        </p:nvGrpSpPr>
        <p:grpSpPr>
          <a:xfrm>
            <a:off x="715452" y="729525"/>
            <a:ext cx="403039" cy="321898"/>
            <a:chOff x="1368170" y="664579"/>
            <a:chExt cx="550582" cy="439737"/>
          </a:xfrm>
          <a:solidFill>
            <a:schemeClr val="bg1"/>
          </a:solidFill>
        </p:grpSpPr>
        <p:sp>
          <p:nvSpPr>
            <p:cNvPr id="43" name="Freeform 1">
              <a:extLst>
                <a:ext uri="{FF2B5EF4-FFF2-40B4-BE49-F238E27FC236}">
                  <a16:creationId xmlns:a16="http://schemas.microsoft.com/office/drawing/2014/main" id="{212F6771-1D3A-7341-902D-DA18419FA11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a:extLst>
                <a:ext uri="{FF2B5EF4-FFF2-40B4-BE49-F238E27FC236}">
                  <a16:creationId xmlns:a16="http://schemas.microsoft.com/office/drawing/2014/main" id="{34F083C1-A1BA-0E4E-8E89-BB4E5F340664}"/>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a:extLst>
                <a:ext uri="{FF2B5EF4-FFF2-40B4-BE49-F238E27FC236}">
                  <a16:creationId xmlns:a16="http://schemas.microsoft.com/office/drawing/2014/main" id="{809B51FD-2ED5-BC4E-B2F3-2008069DDE46}"/>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a:extLst>
                <a:ext uri="{FF2B5EF4-FFF2-40B4-BE49-F238E27FC236}">
                  <a16:creationId xmlns:a16="http://schemas.microsoft.com/office/drawing/2014/main" id="{6A84B375-DC03-B642-9B1F-09A720046E5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a:extLst>
                <a:ext uri="{FF2B5EF4-FFF2-40B4-BE49-F238E27FC236}">
                  <a16:creationId xmlns:a16="http://schemas.microsoft.com/office/drawing/2014/main" id="{7D23448C-7F6F-DE48-AC3F-39BBE47F8B2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a:extLst>
                <a:ext uri="{FF2B5EF4-FFF2-40B4-BE49-F238E27FC236}">
                  <a16:creationId xmlns:a16="http://schemas.microsoft.com/office/drawing/2014/main" id="{10E8DE67-4EF3-CC43-BF30-665F02B2710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a:extLst>
                <a:ext uri="{FF2B5EF4-FFF2-40B4-BE49-F238E27FC236}">
                  <a16:creationId xmlns:a16="http://schemas.microsoft.com/office/drawing/2014/main" id="{0E842195-989D-0F4A-AEAD-8665C2E713F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a:extLst>
                <a:ext uri="{FF2B5EF4-FFF2-40B4-BE49-F238E27FC236}">
                  <a16:creationId xmlns:a16="http://schemas.microsoft.com/office/drawing/2014/main" id="{2CCE1E61-E678-A04A-9F48-AD28EE1592DD}"/>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a:extLst>
                <a:ext uri="{FF2B5EF4-FFF2-40B4-BE49-F238E27FC236}">
                  <a16:creationId xmlns:a16="http://schemas.microsoft.com/office/drawing/2014/main" id="{5A553C8E-044C-554F-8CA4-756B8A1F3521}"/>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a:extLst>
                <a:ext uri="{FF2B5EF4-FFF2-40B4-BE49-F238E27FC236}">
                  <a16:creationId xmlns:a16="http://schemas.microsoft.com/office/drawing/2014/main" id="{B864F7F5-8239-2843-8E2F-F5D0C9E76A02}"/>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a:extLst>
                <a:ext uri="{FF2B5EF4-FFF2-40B4-BE49-F238E27FC236}">
                  <a16:creationId xmlns:a16="http://schemas.microsoft.com/office/drawing/2014/main" id="{2B6C79DB-0F26-A549-AD80-3197BB3F2B4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946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8CEEC-A71C-6B45-9639-E6D2E93DD69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F9C15C2-A82D-BD4C-BAD3-5F2059019642}"/>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7A8D863A-9922-6145-9D8F-6EEBB82FFFEC}"/>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FA258540-FE69-0049-9DB3-4C6C4DC60AC7}"/>
              </a:ext>
            </a:extLst>
          </p:cNvPr>
          <p:cNvSpPr>
            <a:spLocks noGrp="1"/>
          </p:cNvSpPr>
          <p:nvPr>
            <p:ph type="sldNum" sz="quarter" idx="12"/>
          </p:nvPr>
        </p:nvSpPr>
        <p:spPr/>
        <p:txBody>
          <a:bodyPr/>
          <a:lstStyle>
            <a:lvl1pPr>
              <a:defRPr/>
            </a:lvl1pPr>
          </a:lstStyle>
          <a:p>
            <a:fld id="{831E9399-7559-704E-82CE-1E968243B59A}" type="slidenum">
              <a:rPr lang="en-US" altLang="zh-CN"/>
              <a:pPr/>
              <a:t>‹#›</a:t>
            </a:fld>
            <a:endParaRPr lang="en-US" altLang="zh-CN"/>
          </a:p>
        </p:txBody>
      </p:sp>
    </p:spTree>
    <p:extLst>
      <p:ext uri="{BB962C8B-B14F-4D97-AF65-F5344CB8AC3E}">
        <p14:creationId xmlns:p14="http://schemas.microsoft.com/office/powerpoint/2010/main" val="1770455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标题文本"/>
          <p:cNvSpPr txBox="1">
            <a:spLocks noGrp="1"/>
          </p:cNvSpPr>
          <p:nvPr>
            <p:ph type="title"/>
          </p:nvPr>
        </p:nvSpPr>
        <p:spPr>
          <a:prstGeom prst="rect">
            <a:avLst/>
          </a:prstGeom>
        </p:spPr>
        <p:txBody>
          <a:bodyPr/>
          <a:lstStyle/>
          <a:p>
            <a:r>
              <a:t>标题文本</a:t>
            </a:r>
          </a:p>
        </p:txBody>
      </p:sp>
      <p:sp>
        <p:nvSpPr>
          <p:cNvPr id="57" name="正文级别 1…"/>
          <p:cNvSpPr txBox="1">
            <a:spLocks noGrp="1"/>
          </p:cNvSpPr>
          <p:nvPr>
            <p:ph type="body" idx="1"/>
          </p:nvPr>
        </p:nvSpPr>
        <p:spPr>
          <a:prstGeom prst="rect">
            <a:avLst/>
          </a:prstGeom>
        </p:spPr>
        <p:txBody>
          <a:bodyPr/>
          <a:lstStyle>
            <a:lvl1pPr>
              <a:defRPr sz="2400"/>
            </a:lvl1pPr>
            <a:lvl2pPr>
              <a:defRPr sz="2400"/>
            </a:lvl2pPr>
            <a:lvl3pPr>
              <a:defRPr sz="2400"/>
            </a:lvl3pPr>
            <a:lvl4pPr>
              <a:defRPr sz="2400"/>
            </a:lvl4pPr>
            <a:lvl5pPr>
              <a:defRPr sz="2400"/>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pPr/>
              <a:t>‹#›</a:t>
            </a:fld>
            <a:endParaRPr/>
          </a:p>
        </p:txBody>
      </p:sp>
    </p:spTree>
    <p:extLst>
      <p:ext uri="{BB962C8B-B14F-4D97-AF65-F5344CB8AC3E}">
        <p14:creationId xmlns:p14="http://schemas.microsoft.com/office/powerpoint/2010/main" val="40419959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E00C8306-BE8F-E24C-B25D-A6E484FA7A8C}" type="datetime1">
              <a:rPr kumimoji="1" lang="zh-CN" altLang="en-US" smtClean="0"/>
              <a:pPr/>
              <a:t>2026/6/4</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410.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10.png"/></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36.wmf"/></Relationships>
</file>

<file path=ppt/slides/_rels/slide7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7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7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60.png"/><Relationship Id="rId3" Type="http://schemas.openxmlformats.org/officeDocument/2006/relationships/image" Target="../media/image58.png"/><Relationship Id="rId7" Type="http://schemas.openxmlformats.org/officeDocument/2006/relationships/image" Target="../media/image350.png"/><Relationship Id="rId12" Type="http://schemas.openxmlformats.org/officeDocument/2006/relationships/image" Target="../media/image55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40.png"/><Relationship Id="rId11" Type="http://schemas.openxmlformats.org/officeDocument/2006/relationships/image" Target="../media/image45.png"/><Relationship Id="rId5" Type="http://schemas.openxmlformats.org/officeDocument/2006/relationships/image" Target="../media/image300.png"/><Relationship Id="rId10" Type="http://schemas.openxmlformats.org/officeDocument/2006/relationships/image" Target="../media/image44.png"/><Relationship Id="rId4" Type="http://schemas.openxmlformats.org/officeDocument/2006/relationships/image" Target="../media/image59.png"/><Relationship Id="rId9" Type="http://schemas.openxmlformats.org/officeDocument/2006/relationships/image" Target="../media/image3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9" Type="http://schemas.openxmlformats.org/officeDocument/2006/relationships/image" Target="../media/image86.png"/></Relationships>
</file>

<file path=ppt/slides/_rels/slide88.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8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318161" y="891254"/>
            <a:ext cx="9349839" cy="2002674"/>
          </a:xfrm>
        </p:spPr>
        <p:txBody>
          <a:bodyPr>
            <a:normAutofit/>
          </a:bodyPr>
          <a:lstStyle/>
          <a:p>
            <a:r>
              <a:rPr kumimoji="1" lang="zh-CN" altLang="en-US" sz="5400" dirty="0"/>
              <a:t>第五章 </a:t>
            </a:r>
            <a:r>
              <a:rPr lang="zh-CN" altLang="zh-CN" dirty="0"/>
              <a:t>公钥密码</a:t>
            </a:r>
            <a:r>
              <a:rPr lang="zh-CN" altLang="en-US" dirty="0"/>
              <a:t>与数字签名</a:t>
            </a:r>
            <a:endParaRPr kumimoji="1" lang="zh-CN" altLang="en-US" sz="5400" dirty="0"/>
          </a:p>
        </p:txBody>
      </p:sp>
    </p:spTree>
    <p:extLst>
      <p:ext uri="{BB962C8B-B14F-4D97-AF65-F5344CB8AC3E}">
        <p14:creationId xmlns:p14="http://schemas.microsoft.com/office/powerpoint/2010/main" val="73605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61C6E8-A1C9-8A1E-393A-023979A9C882}"/>
              </a:ext>
            </a:extLst>
          </p:cNvPr>
          <p:cNvSpPr>
            <a:spLocks noGrp="1"/>
          </p:cNvSpPr>
          <p:nvPr>
            <p:ph type="title"/>
          </p:nvPr>
        </p:nvSpPr>
        <p:spPr/>
        <p:txBody>
          <a:bodyPr/>
          <a:lstStyle/>
          <a:p>
            <a:r>
              <a:rPr lang="zh-CN" altLang="en-US" dirty="0"/>
              <a:t>本章思路</a:t>
            </a:r>
          </a:p>
        </p:txBody>
      </p:sp>
      <p:sp>
        <p:nvSpPr>
          <p:cNvPr id="4" name="灯片编号占位符 3">
            <a:extLst>
              <a:ext uri="{FF2B5EF4-FFF2-40B4-BE49-F238E27FC236}">
                <a16:creationId xmlns:a16="http://schemas.microsoft.com/office/drawing/2014/main" id="{5727F59E-1EE2-691D-2629-C32D6F77285D}"/>
              </a:ext>
            </a:extLst>
          </p:cNvPr>
          <p:cNvSpPr>
            <a:spLocks noGrp="1"/>
          </p:cNvSpPr>
          <p:nvPr>
            <p:ph type="sldNum" sz="quarter" idx="12"/>
          </p:nvPr>
        </p:nvSpPr>
        <p:spPr/>
        <p:txBody>
          <a:bodyPr/>
          <a:lstStyle/>
          <a:p>
            <a:fld id="{8D4D1E41-7A09-AB4A-A4E1-09765ADA2698}" type="slidenum">
              <a:rPr kumimoji="1" lang="zh-CN" altLang="en-US" smtClean="0"/>
              <a:pPr/>
              <a:t>2</a:t>
            </a:fld>
            <a:endParaRPr kumimoji="1" lang="zh-CN" altLang="en-US" dirty="0"/>
          </a:p>
        </p:txBody>
      </p:sp>
      <p:pic>
        <p:nvPicPr>
          <p:cNvPr id="6" name="图片 5">
            <a:extLst>
              <a:ext uri="{FF2B5EF4-FFF2-40B4-BE49-F238E27FC236}">
                <a16:creationId xmlns:a16="http://schemas.microsoft.com/office/drawing/2014/main" id="{1FA4F5C4-F4ED-293B-CFD4-366B54B77FF9}"/>
              </a:ext>
            </a:extLst>
          </p:cNvPr>
          <p:cNvPicPr>
            <a:picLocks noChangeAspect="1"/>
          </p:cNvPicPr>
          <p:nvPr/>
        </p:nvPicPr>
        <p:blipFill>
          <a:blip r:embed="rId2"/>
          <a:stretch>
            <a:fillRect/>
          </a:stretch>
        </p:blipFill>
        <p:spPr>
          <a:xfrm>
            <a:off x="665017" y="1860192"/>
            <a:ext cx="11100955" cy="3779216"/>
          </a:xfrm>
          <a:prstGeom prst="rect">
            <a:avLst/>
          </a:prstGeom>
        </p:spPr>
      </p:pic>
    </p:spTree>
    <p:extLst>
      <p:ext uri="{BB962C8B-B14F-4D97-AF65-F5344CB8AC3E}">
        <p14:creationId xmlns:p14="http://schemas.microsoft.com/office/powerpoint/2010/main" val="874228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6971"/>
          </a:xfrm>
        </p:spPr>
        <p:txBody>
          <a:bodyPr>
            <a:normAutofit/>
          </a:bodyPr>
          <a:lstStyle/>
          <a:p>
            <a:pPr>
              <a:lnSpc>
                <a:spcPct val="150000"/>
              </a:lnSpc>
              <a:buNone/>
            </a:pPr>
            <a:r>
              <a:rPr kumimoji="1" lang="en-US" altLang="zh-CN" sz="3000" dirty="0">
                <a:solidFill>
                  <a:srgbClr val="C00000"/>
                </a:solidFill>
              </a:rPr>
              <a:t>5.1 </a:t>
            </a:r>
            <a:r>
              <a:rPr kumimoji="1" lang="zh-CN" altLang="zh-CN" sz="3000" dirty="0">
                <a:solidFill>
                  <a:srgbClr val="C00000"/>
                </a:solidFill>
              </a:rPr>
              <a:t>公钥密码原理</a:t>
            </a:r>
            <a:endParaRPr kumimoji="1" lang="en-US" altLang="zh-CN" sz="3000" dirty="0">
              <a:solidFill>
                <a:srgbClr val="C00000"/>
              </a:solidFill>
            </a:endParaRPr>
          </a:p>
          <a:p>
            <a:pPr>
              <a:lnSpc>
                <a:spcPct val="150000"/>
              </a:lnSpc>
              <a:buNone/>
            </a:pPr>
            <a:r>
              <a:rPr lang="en-US" altLang="zh-CN" sz="3000" dirty="0"/>
              <a:t>5.2 </a:t>
            </a:r>
            <a:r>
              <a:rPr kumimoji="1" lang="zh-CN" altLang="zh-CN" sz="3000" dirty="0"/>
              <a:t>公钥密码算法</a:t>
            </a:r>
            <a:endParaRPr kumimoji="1" lang="en-US" altLang="zh-CN" sz="2400" dirty="0">
              <a:solidFill>
                <a:prstClr val="black"/>
              </a:solidFill>
            </a:endParaRPr>
          </a:p>
          <a:p>
            <a:pPr>
              <a:lnSpc>
                <a:spcPct val="150000"/>
              </a:lnSpc>
              <a:buNone/>
            </a:pPr>
            <a:r>
              <a:rPr kumimoji="1" lang="en-US" altLang="zh-CN" sz="3000" dirty="0"/>
              <a:t>5.3 </a:t>
            </a:r>
            <a:r>
              <a:rPr kumimoji="1" lang="zh-CN" altLang="zh-CN" sz="3000" dirty="0"/>
              <a:t>数字签名</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矩形标注 6">
            <a:extLst>
              <a:ext uri="{FF2B5EF4-FFF2-40B4-BE49-F238E27FC236}">
                <a16:creationId xmlns:a16="http://schemas.microsoft.com/office/drawing/2014/main" id="{981187B3-3584-BA4E-A14C-4B26773516C6}"/>
              </a:ext>
            </a:extLst>
          </p:cNvPr>
          <p:cNvSpPr/>
          <p:nvPr/>
        </p:nvSpPr>
        <p:spPr>
          <a:xfrm>
            <a:off x="6316392" y="1621664"/>
            <a:ext cx="4504008" cy="2454748"/>
          </a:xfrm>
          <a:prstGeom prst="wedgeRectCallout">
            <a:avLst>
              <a:gd name="adj1" fmla="val -95778"/>
              <a:gd name="adj2" fmla="val -4494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公钥密码思想</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公钥密码系统的应用</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公钥密码的要求</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6016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5.1.1 </a:t>
            </a:r>
            <a:r>
              <a:rPr kumimoji="1" lang="zh-CN" altLang="zh-CN" dirty="0">
                <a:solidFill>
                  <a:prstClr val="black"/>
                </a:solidFill>
              </a:rPr>
              <a:t>公钥密码思想</a:t>
            </a:r>
            <a:endParaRPr lang="zh-CN" altLang="en-US" dirty="0"/>
          </a:p>
        </p:txBody>
      </p:sp>
      <p:sp>
        <p:nvSpPr>
          <p:cNvPr id="3" name="内容占位符 2"/>
          <p:cNvSpPr>
            <a:spLocks noGrp="1"/>
          </p:cNvSpPr>
          <p:nvPr>
            <p:ph idx="1"/>
          </p:nvPr>
        </p:nvSpPr>
        <p:spPr/>
        <p:txBody>
          <a:bodyPr>
            <a:normAutofit/>
          </a:bodyPr>
          <a:lstStyle/>
          <a:p>
            <a:r>
              <a:rPr lang="zh-CN" altLang="en-US" dirty="0"/>
              <a:t>问题的提出</a:t>
            </a:r>
            <a:endParaRPr lang="en-US" altLang="zh-CN" dirty="0"/>
          </a:p>
          <a:p>
            <a:pPr lvl="1">
              <a:spcBef>
                <a:spcPct val="50000"/>
              </a:spcBef>
            </a:pP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1</a:t>
            </a:r>
            <a:r>
              <a:rPr lang="zh-CN" altLang="en-US" dirty="0">
                <a:solidFill>
                  <a:srgbClr val="000066"/>
                </a:solidFill>
                <a:latin typeface="Times New Roman" panose="02020603050405020304" pitchFamily="18" charset="0"/>
              </a:rPr>
              <a:t>）密钥管理量的困难</a:t>
            </a:r>
          </a:p>
          <a:p>
            <a:pPr lvl="2">
              <a:spcBef>
                <a:spcPct val="50000"/>
              </a:spcBef>
            </a:pPr>
            <a:r>
              <a:rPr lang="zh-CN" altLang="en-US" dirty="0">
                <a:solidFill>
                  <a:srgbClr val="000066"/>
                </a:solidFill>
                <a:latin typeface="Times New Roman" panose="02020603050405020304" pitchFamily="18" charset="0"/>
              </a:rPr>
              <a:t>     </a:t>
            </a:r>
            <a:r>
              <a:rPr lang="zh-CN" altLang="en-US" sz="2200" dirty="0">
                <a:solidFill>
                  <a:srgbClr val="000066"/>
                </a:solidFill>
                <a:latin typeface="Times New Roman" panose="02020603050405020304" pitchFamily="18" charset="0"/>
              </a:rPr>
              <a:t>传统密钥管理：两两分别用一对密钥时，则</a:t>
            </a:r>
            <a:r>
              <a:rPr lang="en-US" altLang="zh-CN" sz="2200" dirty="0">
                <a:solidFill>
                  <a:srgbClr val="000066"/>
                </a:solidFill>
                <a:latin typeface="Times New Roman" panose="02020603050405020304" pitchFamily="18" charset="0"/>
              </a:rPr>
              <a:t>n</a:t>
            </a:r>
            <a:r>
              <a:rPr lang="zh-CN" altLang="en-US" sz="2200" dirty="0">
                <a:solidFill>
                  <a:srgbClr val="000066"/>
                </a:solidFill>
                <a:latin typeface="Times New Roman" panose="02020603050405020304" pitchFamily="18" charset="0"/>
              </a:rPr>
              <a:t>个用户需要</a:t>
            </a:r>
            <a:r>
              <a:rPr lang="en-US" altLang="zh-CN" sz="2200" dirty="0">
                <a:solidFill>
                  <a:srgbClr val="000066"/>
                </a:solidFill>
                <a:latin typeface="Times New Roman" panose="02020603050405020304" pitchFamily="18" charset="0"/>
              </a:rPr>
              <a:t>C(n,2)=n(n-1)/2</a:t>
            </a:r>
            <a:r>
              <a:rPr lang="zh-CN" altLang="en-US" sz="2200" dirty="0">
                <a:solidFill>
                  <a:srgbClr val="000066"/>
                </a:solidFill>
                <a:latin typeface="Times New Roman" panose="02020603050405020304" pitchFamily="18" charset="0"/>
              </a:rPr>
              <a:t>个密钥，当用户量增大时，密钥空间急剧增大。如</a:t>
            </a:r>
            <a:r>
              <a:rPr lang="en-US" altLang="zh-CN" sz="2200" dirty="0">
                <a:solidFill>
                  <a:srgbClr val="000066"/>
                </a:solidFill>
                <a:latin typeface="Times New Roman" panose="02020603050405020304" pitchFamily="18" charset="0"/>
              </a:rPr>
              <a:t>:</a:t>
            </a:r>
          </a:p>
          <a:p>
            <a:pPr lvl="2">
              <a:spcBef>
                <a:spcPct val="50000"/>
              </a:spcBef>
            </a:pPr>
            <a:r>
              <a:rPr lang="en-US" altLang="zh-CN" sz="2200" dirty="0">
                <a:solidFill>
                  <a:srgbClr val="000066"/>
                </a:solidFill>
                <a:latin typeface="Times New Roman" panose="02020603050405020304" pitchFamily="18" charset="0"/>
              </a:rPr>
              <a:t>    n=100 </a:t>
            </a:r>
            <a:r>
              <a:rPr lang="zh-CN" altLang="en-US" sz="2200" dirty="0">
                <a:solidFill>
                  <a:srgbClr val="000066"/>
                </a:solidFill>
                <a:latin typeface="Times New Roman" panose="02020603050405020304" pitchFamily="18" charset="0"/>
              </a:rPr>
              <a:t>时，  </a:t>
            </a:r>
            <a:r>
              <a:rPr lang="en-US" altLang="zh-CN" sz="2200" dirty="0">
                <a:solidFill>
                  <a:srgbClr val="000066"/>
                </a:solidFill>
                <a:latin typeface="Times New Roman" panose="02020603050405020304" pitchFamily="18" charset="0"/>
              </a:rPr>
              <a:t>C(100,2)=4,995</a:t>
            </a:r>
          </a:p>
          <a:p>
            <a:pPr lvl="2">
              <a:spcBef>
                <a:spcPct val="50000"/>
              </a:spcBef>
            </a:pPr>
            <a:r>
              <a:rPr lang="en-US" altLang="zh-CN" sz="2200" dirty="0">
                <a:solidFill>
                  <a:srgbClr val="000066"/>
                </a:solidFill>
                <a:latin typeface="Times New Roman" panose="02020603050405020304" pitchFamily="18" charset="0"/>
              </a:rPr>
              <a:t>    n=5000</a:t>
            </a:r>
            <a:r>
              <a:rPr lang="zh-CN" altLang="en-US" sz="2200" dirty="0">
                <a:solidFill>
                  <a:srgbClr val="000066"/>
                </a:solidFill>
                <a:latin typeface="Times New Roman" panose="02020603050405020304" pitchFamily="18" charset="0"/>
              </a:rPr>
              <a:t>时， </a:t>
            </a:r>
            <a:r>
              <a:rPr lang="en-US" altLang="zh-CN" sz="2200" dirty="0">
                <a:solidFill>
                  <a:srgbClr val="000066"/>
                </a:solidFill>
                <a:latin typeface="Times New Roman" panose="02020603050405020304" pitchFamily="18" charset="0"/>
              </a:rPr>
              <a:t>C(5000,2)=12,497,500 </a:t>
            </a:r>
          </a:p>
          <a:p>
            <a:pPr lvl="1">
              <a:spcBef>
                <a:spcPct val="50000"/>
              </a:spcBef>
            </a:pPr>
            <a:r>
              <a:rPr lang="zh-CN" altLang="en-US" dirty="0">
                <a:solidFill>
                  <a:srgbClr val="000066"/>
                </a:solidFill>
                <a:latin typeface="Times New Roman" panose="02020603050405020304" pitchFamily="18" charset="0"/>
              </a:rPr>
              <a:t>（</a:t>
            </a:r>
            <a:r>
              <a:rPr lang="en-US" altLang="zh-CN" dirty="0">
                <a:solidFill>
                  <a:srgbClr val="000066"/>
                </a:solidFill>
                <a:latin typeface="Times New Roman" panose="02020603050405020304" pitchFamily="18" charset="0"/>
              </a:rPr>
              <a:t>2</a:t>
            </a:r>
            <a:r>
              <a:rPr lang="zh-CN" altLang="en-US" dirty="0">
                <a:solidFill>
                  <a:srgbClr val="000066"/>
                </a:solidFill>
                <a:latin typeface="Times New Roman" panose="02020603050405020304" pitchFamily="18" charset="0"/>
              </a:rPr>
              <a:t>）数字签名的问题</a:t>
            </a:r>
          </a:p>
          <a:p>
            <a:pPr lvl="2">
              <a:spcBef>
                <a:spcPct val="50000"/>
              </a:spcBef>
            </a:pPr>
            <a:r>
              <a:rPr lang="zh-CN" altLang="en-US" sz="2200" dirty="0">
                <a:solidFill>
                  <a:srgbClr val="000066"/>
                </a:solidFill>
                <a:latin typeface="Times New Roman" panose="02020603050405020304" pitchFamily="18" charset="0"/>
              </a:rPr>
              <a:t>传统加密算法无法实现抗抵赖的需求。</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a:t>
            </a:fld>
            <a:endParaRPr kumimoji="1" lang="zh-CN" altLang="en-US" dirty="0"/>
          </a:p>
        </p:txBody>
      </p:sp>
    </p:spTree>
    <p:extLst>
      <p:ext uri="{BB962C8B-B14F-4D97-AF65-F5344CB8AC3E}">
        <p14:creationId xmlns:p14="http://schemas.microsoft.com/office/powerpoint/2010/main" val="3220989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5.1.1 </a:t>
            </a:r>
            <a:r>
              <a:rPr kumimoji="1" lang="zh-CN" altLang="zh-CN" dirty="0">
                <a:solidFill>
                  <a:prstClr val="black"/>
                </a:solidFill>
              </a:rPr>
              <a:t>公钥密码思想</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pPr>
            <a:r>
              <a:rPr lang="zh-CN" altLang="en-US" dirty="0"/>
              <a:t>起源</a:t>
            </a:r>
            <a:endParaRPr lang="en-US" altLang="zh-CN" dirty="0"/>
          </a:p>
          <a:p>
            <a:pPr lvl="1">
              <a:lnSpc>
                <a:spcPct val="150000"/>
              </a:lnSpc>
            </a:pPr>
            <a:r>
              <a:rPr lang="zh-CN" altLang="en-US" dirty="0"/>
              <a:t>公钥密码又称为双钥密码和非对称密码，是</a:t>
            </a:r>
            <a:r>
              <a:rPr lang="en-US" altLang="zh-CN" dirty="0"/>
              <a:t>1976</a:t>
            </a:r>
            <a:r>
              <a:rPr lang="zh-CN" altLang="en-US" dirty="0"/>
              <a:t>年由</a:t>
            </a:r>
            <a:r>
              <a:rPr lang="en-US" altLang="zh-CN" dirty="0">
                <a:solidFill>
                  <a:srgbClr val="C00000"/>
                </a:solidFill>
              </a:rPr>
              <a:t>Diffie</a:t>
            </a:r>
            <a:r>
              <a:rPr lang="zh-CN" altLang="en-US" dirty="0">
                <a:solidFill>
                  <a:srgbClr val="C00000"/>
                </a:solidFill>
              </a:rPr>
              <a:t>和</a:t>
            </a:r>
            <a:r>
              <a:rPr lang="en-US" altLang="zh-CN" dirty="0">
                <a:solidFill>
                  <a:srgbClr val="C00000"/>
                </a:solidFill>
              </a:rPr>
              <a:t>Hellman</a:t>
            </a:r>
            <a:r>
              <a:rPr lang="zh-CN" altLang="en-US" dirty="0"/>
              <a:t>在其“密码学新方向”一文中提出的，见划时代的文献：</a:t>
            </a:r>
            <a:endParaRPr lang="zh-CN" altLang="en-US" dirty="0">
              <a:latin typeface="宋体" panose="02010600030101010101" pitchFamily="2" charset="-122"/>
            </a:endParaRPr>
          </a:p>
          <a:p>
            <a:pPr lvl="1">
              <a:lnSpc>
                <a:spcPct val="150000"/>
              </a:lnSpc>
              <a:buNone/>
            </a:pPr>
            <a:r>
              <a:rPr lang="zh-CN" altLang="en-US" dirty="0">
                <a:latin typeface="宋体" panose="02010600030101010101" pitchFamily="2" charset="-122"/>
              </a:rPr>
              <a:t>  </a:t>
            </a:r>
            <a:r>
              <a:rPr lang="en-US" altLang="zh-CN" dirty="0" err="1"/>
              <a:t>W.Diffie</a:t>
            </a:r>
            <a:r>
              <a:rPr lang="en-US" altLang="zh-CN" dirty="0"/>
              <a:t> and </a:t>
            </a:r>
            <a:r>
              <a:rPr lang="en-US" altLang="zh-CN" dirty="0" err="1"/>
              <a:t>M.E.Hellman</a:t>
            </a:r>
            <a:r>
              <a:rPr lang="en-US" altLang="zh-CN" dirty="0"/>
              <a:t>, New Directrions in Cryptography, IEEE Transaction on Information Theory,  V.IT-22.No.6,  Nov 1976,  PP.644-654     </a:t>
            </a:r>
            <a:r>
              <a:rPr lang="zh-CN" altLang="en-US" dirty="0">
                <a:solidFill>
                  <a:srgbClr val="FF0000"/>
                </a:solidFill>
              </a:rPr>
              <a:t>只是提出思想</a:t>
            </a:r>
            <a:endParaRPr lang="en-US" altLang="zh-CN" dirty="0">
              <a:solidFill>
                <a:srgbClr val="FF0000"/>
              </a:solidFill>
              <a:latin typeface="宋体" panose="02010600030101010101" pitchFamily="2" charset="-122"/>
            </a:endParaRPr>
          </a:p>
          <a:p>
            <a:pPr lvl="1">
              <a:lnSpc>
                <a:spcPct val="150000"/>
              </a:lnSpc>
              <a:spcBef>
                <a:spcPct val="0"/>
              </a:spcBef>
            </a:pPr>
            <a:r>
              <a:rPr lang="en-US" altLang="zh-CN" dirty="0">
                <a:solidFill>
                  <a:srgbClr val="C00000"/>
                </a:solidFill>
              </a:rPr>
              <a:t>RSA</a:t>
            </a:r>
            <a:r>
              <a:rPr lang="zh-CN" altLang="en-US" dirty="0">
                <a:solidFill>
                  <a:srgbClr val="C00000"/>
                </a:solidFill>
              </a:rPr>
              <a:t>公钥算法</a:t>
            </a:r>
            <a:r>
              <a:rPr lang="zh-CN" altLang="en-US" dirty="0"/>
              <a:t>是由</a:t>
            </a:r>
            <a:r>
              <a:rPr lang="en-US" altLang="zh-CN" dirty="0" err="1"/>
              <a:t>Rivest,Shamir</a:t>
            </a:r>
            <a:r>
              <a:rPr lang="zh-CN" altLang="en-US" dirty="0"/>
              <a:t>和</a:t>
            </a:r>
            <a:r>
              <a:rPr lang="en-US" altLang="zh-CN" dirty="0" err="1"/>
              <a:t>Adleman</a:t>
            </a:r>
            <a:r>
              <a:rPr lang="zh-CN" altLang="en-US" dirty="0"/>
              <a:t>在</a:t>
            </a:r>
            <a:r>
              <a:rPr lang="en-US" altLang="zh-CN" dirty="0"/>
              <a:t>1978</a:t>
            </a:r>
            <a:r>
              <a:rPr lang="zh-CN" altLang="en-US" dirty="0"/>
              <a:t>年提出来的</a:t>
            </a:r>
            <a:r>
              <a:rPr lang="en-US" altLang="zh-CN" dirty="0"/>
              <a:t>, </a:t>
            </a:r>
            <a:r>
              <a:rPr lang="zh-CN" altLang="en-US" dirty="0"/>
              <a:t>见</a:t>
            </a:r>
          </a:p>
          <a:p>
            <a:pPr lvl="1">
              <a:lnSpc>
                <a:spcPct val="150000"/>
              </a:lnSpc>
              <a:spcBef>
                <a:spcPct val="0"/>
              </a:spcBef>
              <a:buNone/>
            </a:pPr>
            <a:r>
              <a:rPr lang="zh-CN" altLang="en-US" dirty="0"/>
              <a:t>        </a:t>
            </a:r>
            <a:r>
              <a:rPr lang="en-US" altLang="zh-CN" dirty="0" err="1"/>
              <a:t>Communitions</a:t>
            </a:r>
            <a:r>
              <a:rPr lang="en-US" altLang="zh-CN" dirty="0"/>
              <a:t> of the ACM. Vol.21.No.2. Feb. 1978, PP.120-126</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a:t>
            </a:fld>
            <a:endParaRPr kumimoji="1" lang="zh-CN" altLang="en-US" dirty="0"/>
          </a:p>
        </p:txBody>
      </p:sp>
    </p:spTree>
    <p:extLst>
      <p:ext uri="{BB962C8B-B14F-4D97-AF65-F5344CB8AC3E}">
        <p14:creationId xmlns:p14="http://schemas.microsoft.com/office/powerpoint/2010/main" val="154110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5.1.1 </a:t>
            </a:r>
            <a:r>
              <a:rPr kumimoji="1" lang="zh-CN" altLang="zh-CN" dirty="0">
                <a:solidFill>
                  <a:prstClr val="black"/>
                </a:solidFill>
              </a:rPr>
              <a:t>公钥密码思想</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pPr>
            <a:r>
              <a:rPr lang="zh-CN" altLang="en-US" dirty="0"/>
              <a:t>公开密钥密码的重要特性</a:t>
            </a:r>
            <a:endParaRPr lang="en-US" altLang="zh-CN" dirty="0"/>
          </a:p>
          <a:p>
            <a:pPr lvl="1">
              <a:lnSpc>
                <a:spcPct val="150000"/>
              </a:lnSpc>
              <a:spcBef>
                <a:spcPct val="0"/>
              </a:spcBef>
              <a:buClr>
                <a:srgbClr val="000066"/>
              </a:buClr>
              <a:buFont typeface="Wingdings" panose="05000000000000000000" pitchFamily="2" charset="2"/>
              <a:buChar char=""/>
            </a:pPr>
            <a:r>
              <a:rPr lang="zh-CN" altLang="en-US" dirty="0"/>
              <a:t>加密与解密由不同的密钥完成                      </a:t>
            </a:r>
            <a:r>
              <a:rPr lang="en-US" altLang="zh-CN" dirty="0">
                <a:solidFill>
                  <a:srgbClr val="FF0000"/>
                </a:solidFill>
              </a:rPr>
              <a:t>public           private</a:t>
            </a:r>
            <a:endParaRPr lang="zh-CN" altLang="en-US" dirty="0">
              <a:solidFill>
                <a:srgbClr val="FF0000"/>
              </a:solidFill>
            </a:endParaRPr>
          </a:p>
          <a:p>
            <a:pPr lvl="1">
              <a:lnSpc>
                <a:spcPct val="150000"/>
              </a:lnSpc>
              <a:spcBef>
                <a:spcPct val="0"/>
              </a:spcBef>
              <a:buClr>
                <a:srgbClr val="000066"/>
              </a:buClr>
              <a:buNone/>
            </a:pPr>
            <a:r>
              <a:rPr lang="zh-CN" altLang="en-US" dirty="0"/>
              <a:t>	加密</a:t>
            </a:r>
            <a:r>
              <a:rPr lang="en-US" altLang="zh-CN" dirty="0"/>
              <a:t>: X</a:t>
            </a:r>
            <a:r>
              <a:rPr lang="en-US" altLang="zh-CN" dirty="0">
                <a:sym typeface="Wingdings" panose="05000000000000000000" pitchFamily="2" charset="2"/>
              </a:rPr>
              <a:t></a:t>
            </a:r>
            <a:r>
              <a:rPr lang="en-US" altLang="zh-CN" dirty="0"/>
              <a:t>Y: Y = E</a:t>
            </a:r>
            <a:r>
              <a:rPr lang="en-US" altLang="zh-CN" baseline="-25000" dirty="0"/>
              <a:t>KU</a:t>
            </a:r>
            <a:r>
              <a:rPr lang="en-US" altLang="zh-CN" dirty="0"/>
              <a:t>(X)    </a:t>
            </a:r>
            <a:r>
              <a:rPr lang="en-US" altLang="zh-CN" dirty="0">
                <a:solidFill>
                  <a:srgbClr val="FF0000"/>
                </a:solidFill>
              </a:rPr>
              <a:t>E</a:t>
            </a:r>
            <a:r>
              <a:rPr lang="zh-CN" altLang="en-US" dirty="0">
                <a:solidFill>
                  <a:srgbClr val="FF0000"/>
                </a:solidFill>
              </a:rPr>
              <a:t>代表加密过程，</a:t>
            </a:r>
            <a:r>
              <a:rPr lang="en-US" altLang="zh-CN" dirty="0">
                <a:solidFill>
                  <a:srgbClr val="FF0000"/>
                </a:solidFill>
              </a:rPr>
              <a:t>KU</a:t>
            </a:r>
            <a:r>
              <a:rPr lang="zh-CN" altLang="en-US" dirty="0">
                <a:solidFill>
                  <a:srgbClr val="FF0000"/>
                </a:solidFill>
              </a:rPr>
              <a:t>代表公钥，</a:t>
            </a:r>
            <a:r>
              <a:rPr lang="en-US" altLang="zh-CN" dirty="0">
                <a:solidFill>
                  <a:srgbClr val="FF0000"/>
                </a:solidFill>
              </a:rPr>
              <a:t>KR</a:t>
            </a:r>
            <a:r>
              <a:rPr lang="zh-CN" altLang="en-US" dirty="0">
                <a:solidFill>
                  <a:srgbClr val="FF0000"/>
                </a:solidFill>
              </a:rPr>
              <a:t>代表私钥</a:t>
            </a:r>
            <a:endParaRPr lang="en-US" altLang="zh-CN" dirty="0">
              <a:solidFill>
                <a:srgbClr val="FF0000"/>
              </a:solidFill>
            </a:endParaRPr>
          </a:p>
          <a:p>
            <a:pPr lvl="1">
              <a:lnSpc>
                <a:spcPct val="150000"/>
              </a:lnSpc>
              <a:spcBef>
                <a:spcPct val="0"/>
              </a:spcBef>
              <a:buClr>
                <a:srgbClr val="000066"/>
              </a:buClr>
              <a:buNone/>
            </a:pPr>
            <a:r>
              <a:rPr lang="en-US" altLang="zh-CN" dirty="0"/>
              <a:t>	</a:t>
            </a:r>
            <a:r>
              <a:rPr lang="zh-CN" altLang="en-US" dirty="0"/>
              <a:t>解密</a:t>
            </a:r>
            <a:r>
              <a:rPr lang="en-US" altLang="zh-CN" dirty="0"/>
              <a:t>: Y</a:t>
            </a:r>
            <a:r>
              <a:rPr lang="en-US" altLang="zh-CN" dirty="0">
                <a:sym typeface="Wingdings" panose="05000000000000000000" pitchFamily="2" charset="2"/>
              </a:rPr>
              <a:t></a:t>
            </a:r>
            <a:r>
              <a:rPr lang="en-US" altLang="zh-CN" dirty="0"/>
              <a:t>X: X = D</a:t>
            </a:r>
            <a:r>
              <a:rPr lang="en-US" altLang="zh-CN" baseline="-25000" dirty="0"/>
              <a:t>KR</a:t>
            </a:r>
            <a:r>
              <a:rPr lang="en-US" altLang="zh-CN" dirty="0"/>
              <a:t>(Y) = D</a:t>
            </a:r>
            <a:r>
              <a:rPr lang="en-US" altLang="zh-CN" baseline="-25000" dirty="0"/>
              <a:t>KR</a:t>
            </a:r>
            <a:r>
              <a:rPr lang="en-US" altLang="zh-CN" dirty="0"/>
              <a:t>(E</a:t>
            </a:r>
            <a:r>
              <a:rPr lang="en-US" altLang="zh-CN" baseline="-25000" dirty="0"/>
              <a:t>KU</a:t>
            </a:r>
            <a:r>
              <a:rPr lang="en-US" altLang="zh-CN" dirty="0"/>
              <a:t>(X))</a:t>
            </a:r>
          </a:p>
          <a:p>
            <a:pPr lvl="1">
              <a:lnSpc>
                <a:spcPct val="150000"/>
              </a:lnSpc>
              <a:spcBef>
                <a:spcPct val="0"/>
              </a:spcBef>
              <a:buClr>
                <a:srgbClr val="000066"/>
              </a:buClr>
              <a:buFont typeface="Wingdings" panose="05000000000000000000" pitchFamily="2" charset="2"/>
              <a:buChar char=""/>
            </a:pPr>
            <a:r>
              <a:rPr lang="zh-CN" altLang="en-US" dirty="0"/>
              <a:t>知道加密算法</a:t>
            </a:r>
            <a:r>
              <a:rPr lang="en-US" altLang="zh-CN" dirty="0"/>
              <a:t>,</a:t>
            </a:r>
            <a:r>
              <a:rPr lang="zh-CN" altLang="en-US" dirty="0">
                <a:solidFill>
                  <a:srgbClr val="FF0000"/>
                </a:solidFill>
              </a:rPr>
              <a:t>从加密密钥得到解密密钥在计算上是不可行的</a:t>
            </a:r>
          </a:p>
          <a:p>
            <a:pPr lvl="1">
              <a:lnSpc>
                <a:spcPct val="150000"/>
              </a:lnSpc>
              <a:spcBef>
                <a:spcPct val="0"/>
              </a:spcBef>
              <a:buClr>
                <a:srgbClr val="000066"/>
              </a:buClr>
              <a:buFont typeface="Wingdings" panose="05000000000000000000" pitchFamily="2" charset="2"/>
              <a:buChar char=""/>
            </a:pPr>
            <a:r>
              <a:rPr lang="zh-CN" altLang="en-US" dirty="0"/>
              <a:t>两个密钥中任何一个都可以用作加密而另一个用作解密 </a:t>
            </a:r>
            <a:r>
              <a:rPr lang="en-US" altLang="zh-CN" dirty="0"/>
              <a:t>(</a:t>
            </a:r>
            <a:r>
              <a:rPr lang="zh-CN" altLang="en-US" dirty="0"/>
              <a:t>选修特性</a:t>
            </a:r>
            <a:r>
              <a:rPr lang="en-US" altLang="zh-CN" dirty="0"/>
              <a:t>)</a:t>
            </a:r>
          </a:p>
          <a:p>
            <a:pPr lvl="1">
              <a:lnSpc>
                <a:spcPct val="150000"/>
              </a:lnSpc>
              <a:spcBef>
                <a:spcPct val="0"/>
              </a:spcBef>
              <a:buClr>
                <a:srgbClr val="000066"/>
              </a:buClr>
              <a:buNone/>
            </a:pPr>
            <a:r>
              <a:rPr lang="en-US" altLang="zh-CN" dirty="0"/>
              <a:t>		X = D</a:t>
            </a:r>
            <a:r>
              <a:rPr lang="en-US" altLang="zh-CN" baseline="-25000" dirty="0"/>
              <a:t>KR</a:t>
            </a:r>
            <a:r>
              <a:rPr lang="en-US" altLang="zh-CN" dirty="0"/>
              <a:t>(E</a:t>
            </a:r>
            <a:r>
              <a:rPr lang="en-US" altLang="zh-CN" baseline="-25000" dirty="0"/>
              <a:t>KU</a:t>
            </a:r>
            <a:r>
              <a:rPr lang="en-US" altLang="zh-CN" dirty="0"/>
              <a:t>(X)) = E</a:t>
            </a:r>
            <a:r>
              <a:rPr lang="en-US" altLang="zh-CN" baseline="-25000" dirty="0"/>
              <a:t>KU</a:t>
            </a:r>
            <a:r>
              <a:rPr lang="en-US" altLang="zh-CN" dirty="0"/>
              <a:t>(D</a:t>
            </a:r>
            <a:r>
              <a:rPr lang="en-US" altLang="zh-CN" baseline="-25000" dirty="0"/>
              <a:t>KR</a:t>
            </a:r>
            <a:r>
              <a:rPr lang="en-US" altLang="zh-CN" dirty="0"/>
              <a:t>(X))</a:t>
            </a:r>
          </a:p>
          <a:p>
            <a:pPr lvl="1">
              <a:lnSpc>
                <a:spcPct val="150000"/>
              </a:lnSpc>
              <a:spcBef>
                <a:spcPct val="0"/>
              </a:spcBef>
              <a:buClr>
                <a:srgbClr val="000066"/>
              </a:buClr>
              <a:buNone/>
            </a:pPr>
            <a:r>
              <a:rPr lang="en-US" altLang="zh-CN" sz="1900" dirty="0"/>
              <a:t>		</a:t>
            </a:r>
            <a:r>
              <a:rPr lang="zh-CN" altLang="en-US" sz="1900" dirty="0"/>
              <a:t>如果想要用</a:t>
            </a:r>
            <a:r>
              <a:rPr lang="zh-CN" altLang="en-US" sz="1900" b="1" dirty="0"/>
              <a:t>同一对密钥</a:t>
            </a:r>
            <a:r>
              <a:rPr lang="zh-CN" altLang="en-US" sz="1900" dirty="0"/>
              <a:t>（即同一个人的公钥和私钥）同时实现</a:t>
            </a:r>
            <a:r>
              <a:rPr lang="zh-CN" altLang="en-US" sz="1900" b="1" dirty="0"/>
              <a:t>鉴别（数字签名）和保密（加密）</a:t>
            </a:r>
            <a:r>
              <a:rPr lang="zh-CN" altLang="en-US" sz="1900" dirty="0"/>
              <a:t>，算法就</a:t>
            </a:r>
            <a:r>
              <a:rPr lang="zh-CN" altLang="en-US" sz="1900" b="1" dirty="0"/>
              <a:t>必须满足这一条件</a:t>
            </a:r>
            <a:endParaRPr lang="en-US" altLang="zh-CN" sz="1900"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a:t>
            </a:fld>
            <a:endParaRPr kumimoji="1" lang="zh-CN" altLang="en-US" dirty="0"/>
          </a:p>
        </p:txBody>
      </p:sp>
    </p:spTree>
    <p:extLst>
      <p:ext uri="{BB962C8B-B14F-4D97-AF65-F5344CB8AC3E}">
        <p14:creationId xmlns:p14="http://schemas.microsoft.com/office/powerpoint/2010/main" val="3978916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5.1.1 </a:t>
            </a:r>
            <a:r>
              <a:rPr kumimoji="1" lang="zh-CN" altLang="zh-CN" dirty="0">
                <a:solidFill>
                  <a:prstClr val="black"/>
                </a:solidFill>
              </a:rPr>
              <a:t>公钥密码思想</a:t>
            </a:r>
            <a:endParaRPr lang="zh-CN" altLang="en-US" dirty="0"/>
          </a:p>
        </p:txBody>
      </p:sp>
      <p:sp>
        <p:nvSpPr>
          <p:cNvPr id="3" name="内容占位符 2"/>
          <p:cNvSpPr>
            <a:spLocks noGrp="1"/>
          </p:cNvSpPr>
          <p:nvPr>
            <p:ph idx="1"/>
          </p:nvPr>
        </p:nvSpPr>
        <p:spPr>
          <a:xfrm>
            <a:off x="854001" y="1504447"/>
            <a:ext cx="10515600" cy="4586694"/>
          </a:xfrm>
        </p:spPr>
        <p:txBody>
          <a:bodyPr>
            <a:normAutofit/>
          </a:bodyPr>
          <a:lstStyle/>
          <a:p>
            <a:pPr>
              <a:lnSpc>
                <a:spcPct val="150000"/>
              </a:lnSpc>
            </a:pPr>
            <a:r>
              <a:rPr lang="zh-CN" altLang="en-US" dirty="0"/>
              <a:t>公开密钥体制</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a:t>
            </a:fld>
            <a:endParaRPr kumimoji="1" lang="zh-CN" altLang="en-US" dirty="0"/>
          </a:p>
        </p:txBody>
      </p:sp>
      <p:grpSp>
        <p:nvGrpSpPr>
          <p:cNvPr id="5" name="Group 158"/>
          <p:cNvGrpSpPr>
            <a:grpSpLocks/>
          </p:cNvGrpSpPr>
          <p:nvPr/>
        </p:nvGrpSpPr>
        <p:grpSpPr bwMode="auto">
          <a:xfrm>
            <a:off x="2124517" y="1521153"/>
            <a:ext cx="8266391" cy="5336847"/>
            <a:chOff x="714" y="3630"/>
            <a:chExt cx="8583" cy="8856"/>
          </a:xfrm>
        </p:grpSpPr>
        <p:sp>
          <p:nvSpPr>
            <p:cNvPr id="6" name="Rectangle 159"/>
            <p:cNvSpPr>
              <a:spLocks noChangeArrowheads="1"/>
            </p:cNvSpPr>
            <p:nvPr/>
          </p:nvSpPr>
          <p:spPr bwMode="auto">
            <a:xfrm>
              <a:off x="3722" y="5873"/>
              <a:ext cx="945" cy="938"/>
            </a:xfrm>
            <a:prstGeom prst="rect">
              <a:avLst/>
            </a:prstGeom>
            <a:solidFill>
              <a:srgbClr val="EAEAEA"/>
            </a:solidFill>
            <a:ln w="9525">
              <a:miter lim="800000"/>
              <a:headEnd/>
              <a:tailEnd/>
            </a:ln>
            <a:effectLst/>
            <a:scene3d>
              <a:camera prst="legacyObliqueTopRight"/>
              <a:lightRig rig="legacyFlat3" dir="b"/>
            </a:scene3d>
            <a:sp3d extrusionH="125400" prstMaterial="legacyMetal">
              <a:bevelT w="13500" h="13500" prst="angle"/>
              <a:bevelB w="13500" h="13500" prst="angle"/>
              <a:extrusionClr>
                <a:srgbClr val="FFFFFF"/>
              </a:extrusionClr>
            </a:sp3d>
          </p:spPr>
          <p:txBody>
            <a:bodyPr>
              <a:flatTx/>
            </a:bodyPr>
            <a:lstStyle/>
            <a:p>
              <a:pPr>
                <a:defRPr/>
              </a:pPr>
              <a:endParaRPr lang="zh-CN" altLang="en-US">
                <a:effectLst>
                  <a:outerShdw blurRad="38100" dist="38100" dir="2700000" algn="tl">
                    <a:srgbClr val="000000">
                      <a:alpha val="43137"/>
                    </a:srgbClr>
                  </a:outerShdw>
                </a:effectLst>
              </a:endParaRPr>
            </a:p>
          </p:txBody>
        </p:sp>
        <p:sp>
          <p:nvSpPr>
            <p:cNvPr id="7" name="Line 160"/>
            <p:cNvSpPr>
              <a:spLocks noChangeShapeType="1"/>
            </p:cNvSpPr>
            <p:nvPr/>
          </p:nvSpPr>
          <p:spPr bwMode="auto">
            <a:xfrm>
              <a:off x="4257" y="6572"/>
              <a:ext cx="210" cy="0"/>
            </a:xfrm>
            <a:prstGeom prst="line">
              <a:avLst/>
            </a:prstGeom>
            <a:noFill/>
            <a:ln w="2857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 name="Line 161"/>
            <p:cNvSpPr>
              <a:spLocks noChangeShapeType="1"/>
            </p:cNvSpPr>
            <p:nvPr/>
          </p:nvSpPr>
          <p:spPr bwMode="auto">
            <a:xfrm>
              <a:off x="4260" y="6105"/>
              <a:ext cx="210" cy="0"/>
            </a:xfrm>
            <a:prstGeom prst="line">
              <a:avLst/>
            </a:prstGeom>
            <a:noFill/>
            <a:ln w="2857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9" name="Oval 162"/>
            <p:cNvSpPr>
              <a:spLocks noChangeArrowheads="1"/>
            </p:cNvSpPr>
            <p:nvPr/>
          </p:nvSpPr>
          <p:spPr bwMode="auto">
            <a:xfrm>
              <a:off x="4283" y="6032"/>
              <a:ext cx="154" cy="626"/>
            </a:xfrm>
            <a:prstGeom prst="ellipse">
              <a:avLst/>
            </a:prstGeom>
            <a:solidFill>
              <a:srgbClr val="C0C0C0"/>
            </a:solid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 name="Rectangle 163"/>
            <p:cNvSpPr>
              <a:spLocks noChangeArrowheads="1"/>
            </p:cNvSpPr>
            <p:nvPr/>
          </p:nvSpPr>
          <p:spPr bwMode="auto">
            <a:xfrm>
              <a:off x="4260" y="6105"/>
              <a:ext cx="210" cy="467"/>
            </a:xfrm>
            <a:prstGeom prst="rect">
              <a:avLst/>
            </a:prstGeom>
            <a:solidFill>
              <a:srgbClr val="C0C0C0"/>
            </a:solidFill>
            <a:ln w="9525">
              <a:noFill/>
              <a:miter lim="800000"/>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1" name="AutoShape 164"/>
            <p:cNvSpPr>
              <a:spLocks noChangeArrowheads="1"/>
            </p:cNvSpPr>
            <p:nvPr/>
          </p:nvSpPr>
          <p:spPr bwMode="auto">
            <a:xfrm>
              <a:off x="4308" y="6129"/>
              <a:ext cx="105" cy="157"/>
            </a:xfrm>
            <a:prstGeom prst="flowChartConnector">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2" name="AutoShape 165"/>
            <p:cNvSpPr>
              <a:spLocks noChangeArrowheads="1"/>
            </p:cNvSpPr>
            <p:nvPr/>
          </p:nvSpPr>
          <p:spPr bwMode="auto">
            <a:xfrm rot="-10800000">
              <a:off x="4308" y="6333"/>
              <a:ext cx="105" cy="168"/>
            </a:xfrm>
            <a:custGeom>
              <a:avLst/>
              <a:gdLst>
                <a:gd name="G0" fmla="+- 5966 0 0"/>
                <a:gd name="G1" fmla="+- 21600 0 5966"/>
                <a:gd name="G2" fmla="*/ 5966 1 2"/>
                <a:gd name="G3" fmla="+- 21600 0 G2"/>
                <a:gd name="G4" fmla="+/ 5966 21600 2"/>
                <a:gd name="G5" fmla="+/ G1 0 2"/>
                <a:gd name="G6" fmla="*/ 21600 21600 5966"/>
                <a:gd name="G7" fmla="*/ G6 1 2"/>
                <a:gd name="G8" fmla="+- 21600 0 G7"/>
                <a:gd name="G9" fmla="*/ 21600 1 2"/>
                <a:gd name="G10" fmla="+- 5966 0 G9"/>
                <a:gd name="G11" fmla="?: G10 G8 0"/>
                <a:gd name="G12" fmla="?: G10 G7 21600"/>
                <a:gd name="T0" fmla="*/ 18617 w 21600"/>
                <a:gd name="T1" fmla="*/ 10800 h 21600"/>
                <a:gd name="T2" fmla="*/ 10800 w 21600"/>
                <a:gd name="T3" fmla="*/ 21600 h 21600"/>
                <a:gd name="T4" fmla="*/ 2983 w 21600"/>
                <a:gd name="T5" fmla="*/ 10800 h 21600"/>
                <a:gd name="T6" fmla="*/ 10800 w 21600"/>
                <a:gd name="T7" fmla="*/ 0 h 21600"/>
                <a:gd name="T8" fmla="*/ 4783 w 21600"/>
                <a:gd name="T9" fmla="*/ 4783 h 21600"/>
                <a:gd name="T10" fmla="*/ 16817 w 21600"/>
                <a:gd name="T11" fmla="*/ 16817 h 21600"/>
              </a:gdLst>
              <a:ahLst/>
              <a:cxnLst>
                <a:cxn ang="0">
                  <a:pos x="T0" y="T1"/>
                </a:cxn>
                <a:cxn ang="0">
                  <a:pos x="T2" y="T3"/>
                </a:cxn>
                <a:cxn ang="0">
                  <a:pos x="T4" y="T5"/>
                </a:cxn>
                <a:cxn ang="0">
                  <a:pos x="T6" y="T7"/>
                </a:cxn>
              </a:cxnLst>
              <a:rect l="T8" t="T9" r="T10" b="T11"/>
              <a:pathLst>
                <a:path w="21600" h="21600">
                  <a:moveTo>
                    <a:pt x="0" y="0"/>
                  </a:moveTo>
                  <a:lnTo>
                    <a:pt x="5966" y="21600"/>
                  </a:lnTo>
                  <a:lnTo>
                    <a:pt x="15634" y="21600"/>
                  </a:lnTo>
                  <a:lnTo>
                    <a:pt x="21600" y="0"/>
                  </a:lnTo>
                  <a:close/>
                </a:path>
              </a:pathLst>
            </a:custGeom>
            <a:solidFill>
              <a:srgbClr val="000000"/>
            </a:solidFill>
            <a:ln w="9525">
              <a:solidFill>
                <a:srgbClr val="000000"/>
              </a:solidFill>
              <a:miter lim="800000"/>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3" name="Line 166"/>
            <p:cNvSpPr>
              <a:spLocks noChangeShapeType="1"/>
            </p:cNvSpPr>
            <p:nvPr/>
          </p:nvSpPr>
          <p:spPr bwMode="auto">
            <a:xfrm>
              <a:off x="4459" y="6105"/>
              <a:ext cx="0" cy="467"/>
            </a:xfrm>
            <a:prstGeom prst="line">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4" name="Line 167"/>
            <p:cNvSpPr>
              <a:spLocks noChangeShapeType="1"/>
            </p:cNvSpPr>
            <p:nvPr/>
          </p:nvSpPr>
          <p:spPr bwMode="auto">
            <a:xfrm>
              <a:off x="4248" y="6105"/>
              <a:ext cx="0" cy="467"/>
            </a:xfrm>
            <a:prstGeom prst="line">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5" name="Text Box 168"/>
            <p:cNvSpPr txBox="1">
              <a:spLocks noChangeArrowheads="1"/>
            </p:cNvSpPr>
            <p:nvPr/>
          </p:nvSpPr>
          <p:spPr bwMode="auto">
            <a:xfrm>
              <a:off x="2569" y="5959"/>
              <a:ext cx="629" cy="779"/>
            </a:xfrm>
            <a:prstGeom prst="rect">
              <a:avLst/>
            </a:prstGeom>
            <a:solidFill>
              <a:srgbClr val="F8F8F8"/>
            </a:solidFill>
            <a:ln w="9525">
              <a:solidFill>
                <a:srgbClr val="000000"/>
              </a:solidFill>
              <a:miter lim="800000"/>
              <a:headEnd/>
              <a:tailEnd/>
            </a:ln>
            <a:effectLst>
              <a:outerShdw dist="35921" dir="2700000" algn="ctr" rotWithShape="0">
                <a:srgbClr val="808080"/>
              </a:outerShdw>
            </a:effectLst>
          </p:spPr>
          <p:txBody>
            <a:bodyPr/>
            <a:lstStyle/>
            <a:p>
              <a:pPr algn="just">
                <a:lnSpc>
                  <a:spcPct val="16000"/>
                </a:lnSpc>
                <a:defRPr/>
              </a:pPr>
              <a:r>
                <a:rPr lang="zh-CN" altLang="en-US" sz="100" b="0">
                  <a:solidFill>
                    <a:schemeClr val="tx1"/>
                  </a:solidFill>
                  <a:latin typeface="Times New Roman" pitchFamily="18" charset="0"/>
                </a:rPr>
                <a:t>三人持</a:t>
              </a:r>
              <a:r>
                <a:rPr lang="en-US" altLang="zh-CN" sz="100" b="0">
                  <a:solidFill>
                    <a:schemeClr val="tx1"/>
                  </a:solidFill>
                  <a:latin typeface="Times New Roman" pitchFamily="18" charset="0"/>
                </a:rPr>
                <a:t>dfbgfdgdfgdfgdfgdfgdfgdfg</a:t>
              </a:r>
            </a:p>
            <a:p>
              <a:pPr algn="just">
                <a:lnSpc>
                  <a:spcPct val="16000"/>
                </a:lnSpc>
                <a:defRPr/>
              </a:pPr>
              <a:r>
                <a:rPr lang="en-US" altLang="zh-CN" sz="100" b="0">
                  <a:solidFill>
                    <a:schemeClr val="tx1"/>
                  </a:solidFill>
                  <a:latin typeface="Times New Roman" pitchFamily="18" charset="0"/>
                </a:rPr>
                <a:t>dfgdfgggggggggggggggggggggggggggggsfdsgggggggggggggl</a:t>
              </a:r>
            </a:p>
            <a:p>
              <a:pPr algn="just">
                <a:lnSpc>
                  <a:spcPct val="16000"/>
                </a:lnSpc>
                <a:defRPr/>
              </a:pPr>
              <a:r>
                <a:rPr lang="en-US" altLang="zh-CN" sz="100" b="0">
                  <a:solidFill>
                    <a:schemeClr val="tx1"/>
                  </a:solidFill>
                  <a:latin typeface="Times New Roman" pitchFamily="18" charset="0"/>
                </a:rPr>
                <a:t>fdgkjdfkljglkdjfgkjsdfkljgkjfdgkjdklsfg</a:t>
              </a:r>
            </a:p>
            <a:p>
              <a:pPr algn="just">
                <a:lnSpc>
                  <a:spcPct val="16000"/>
                </a:lnSpc>
                <a:defRPr/>
              </a:pPr>
              <a:r>
                <a:rPr lang="en-US" altLang="zh-CN" sz="100" b="0">
                  <a:solidFill>
                    <a:schemeClr val="tx1"/>
                  </a:solidFill>
                  <a:latin typeface="Times New Roman" pitchFamily="18" charset="0"/>
                </a:rPr>
                <a:t>fdgkjdfkgljdfklgjldkfjfsgjdfkgjdfklgjfdklgjdlfkgjfdklgjdkfgjfkgjfkgfkkfgjf</a:t>
              </a:r>
            </a:p>
            <a:p>
              <a:pPr algn="just">
                <a:lnSpc>
                  <a:spcPct val="16000"/>
                </a:lnSpc>
                <a:defRPr/>
              </a:pPr>
              <a:endParaRPr lang="en-US" altLang="zh-CN" sz="100" b="0">
                <a:solidFill>
                  <a:schemeClr val="tx1"/>
                </a:solidFill>
                <a:latin typeface="Times New Roman" pitchFamily="18" charset="0"/>
              </a:endParaRPr>
            </a:p>
            <a:p>
              <a:pPr algn="just">
                <a:lnSpc>
                  <a:spcPct val="16000"/>
                </a:lnSpc>
                <a:defRPr/>
              </a:pPr>
              <a:r>
                <a:rPr lang="en-US" altLang="zh-CN" sz="100" b="0">
                  <a:solidFill>
                    <a:schemeClr val="tx1"/>
                  </a:solidFill>
                  <a:latin typeface="Times New Roman" pitchFamily="18" charset="0"/>
                </a:rPr>
                <a:t>kldfgkdfgkfgkfg</a:t>
              </a:r>
            </a:p>
            <a:p>
              <a:pPr algn="just">
                <a:lnSpc>
                  <a:spcPct val="16000"/>
                </a:lnSpc>
                <a:defRPr/>
              </a:pPr>
              <a:r>
                <a:rPr lang="en-US" altLang="zh-CN" sz="100" b="0">
                  <a:solidFill>
                    <a:schemeClr val="tx1"/>
                  </a:solidFill>
                  <a:latin typeface="Times New Roman" pitchFamily="18" charset="0"/>
                </a:rPr>
                <a:t>fdgkfgdslfkgjsdklfjggggggsdfkg</a:t>
              </a:r>
            </a:p>
            <a:p>
              <a:pPr algn="just">
                <a:lnSpc>
                  <a:spcPct val="16000"/>
                </a:lnSpc>
                <a:defRPr/>
              </a:pPr>
              <a:r>
                <a:rPr lang="en-US" altLang="zh-CN" sz="100" b="0">
                  <a:solidFill>
                    <a:schemeClr val="tx1"/>
                  </a:solidFill>
                  <a:latin typeface="Times New Roman" pitchFamily="18" charset="0"/>
                </a:rPr>
                <a:t>fdgfsdgggggggggggggg</a:t>
              </a:r>
            </a:p>
            <a:p>
              <a:pPr algn="just">
                <a:lnSpc>
                  <a:spcPct val="16000"/>
                </a:lnSpc>
                <a:defRPr/>
              </a:pPr>
              <a:r>
                <a:rPr lang="en-US" altLang="zh-CN" sz="100" b="0">
                  <a:solidFill>
                    <a:schemeClr val="tx1"/>
                  </a:solidFill>
                  <a:latin typeface="Times New Roman" pitchFamily="18" charset="0"/>
                </a:rPr>
                <a:t>fdgggggggggggggggggggggggggggg</a:t>
              </a:r>
            </a:p>
            <a:p>
              <a:pPr algn="just">
                <a:lnSpc>
                  <a:spcPct val="16000"/>
                </a:lnSpc>
                <a:defRPr/>
              </a:pPr>
              <a:r>
                <a:rPr lang="en-US" altLang="zh-CN" sz="100" b="0">
                  <a:solidFill>
                    <a:schemeClr val="tx1"/>
                  </a:solidFill>
                  <a:latin typeface="Times New Roman" pitchFamily="18" charset="0"/>
                </a:rPr>
                <a:t>dsfggggggggggggggggggggggggggggggg</a:t>
              </a:r>
            </a:p>
            <a:p>
              <a:pPr algn="just">
                <a:lnSpc>
                  <a:spcPct val="16000"/>
                </a:lnSpc>
                <a:defRPr/>
              </a:pPr>
              <a:r>
                <a:rPr lang="en-US" altLang="zh-CN" sz="100" b="0">
                  <a:solidFill>
                    <a:schemeClr val="tx1"/>
                  </a:solidFill>
                  <a:latin typeface="Times New Roman" pitchFamily="18" charset="0"/>
                </a:rPr>
                <a:t>ggggggggggggggggggggggg</a:t>
              </a:r>
            </a:p>
            <a:p>
              <a:pPr algn="just">
                <a:lnSpc>
                  <a:spcPct val="16000"/>
                </a:lnSpc>
                <a:defRPr/>
              </a:pPr>
              <a:r>
                <a:rPr lang="en-US" altLang="zh-CN" sz="100" b="0">
                  <a:solidFill>
                    <a:schemeClr val="tx1"/>
                  </a:solidFill>
                  <a:latin typeface="Times New Roman" pitchFamily="18" charset="0"/>
                </a:rPr>
                <a:t>gggggggggggggggggggggggggggg</a:t>
              </a:r>
              <a:endParaRPr lang="en-US" altLang="zh-CN" sz="500" b="0">
                <a:solidFill>
                  <a:schemeClr val="tx1"/>
                </a:solidFill>
                <a:latin typeface="Times New Roman" pitchFamily="18" charset="0"/>
              </a:endParaRPr>
            </a:p>
          </p:txBody>
        </p:sp>
        <p:sp>
          <p:nvSpPr>
            <p:cNvPr id="16" name="Line 169"/>
            <p:cNvSpPr>
              <a:spLocks noChangeShapeType="1"/>
            </p:cNvSpPr>
            <p:nvPr/>
          </p:nvSpPr>
          <p:spPr bwMode="auto">
            <a:xfrm>
              <a:off x="3198" y="6344"/>
              <a:ext cx="524" cy="0"/>
            </a:xfrm>
            <a:prstGeom prst="line">
              <a:avLst/>
            </a:prstGeom>
            <a:noFill/>
            <a:ln w="9525">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7" name="Line 170"/>
            <p:cNvSpPr>
              <a:spLocks noChangeShapeType="1"/>
            </p:cNvSpPr>
            <p:nvPr/>
          </p:nvSpPr>
          <p:spPr bwMode="auto">
            <a:xfrm>
              <a:off x="4772" y="6344"/>
              <a:ext cx="1890" cy="0"/>
            </a:xfrm>
            <a:prstGeom prst="line">
              <a:avLst/>
            </a:prstGeom>
            <a:noFill/>
            <a:ln w="9525">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8" name="Rectangle 171"/>
            <p:cNvSpPr>
              <a:spLocks noChangeArrowheads="1"/>
            </p:cNvSpPr>
            <p:nvPr/>
          </p:nvSpPr>
          <p:spPr bwMode="auto">
            <a:xfrm>
              <a:off x="6662" y="5873"/>
              <a:ext cx="947" cy="938"/>
            </a:xfrm>
            <a:prstGeom prst="rect">
              <a:avLst/>
            </a:prstGeom>
            <a:solidFill>
              <a:srgbClr val="EAEAEA"/>
            </a:solidFill>
            <a:ln w="9525">
              <a:miter lim="800000"/>
              <a:headEnd/>
              <a:tailEnd/>
            </a:ln>
            <a:effectLst/>
            <a:scene3d>
              <a:camera prst="legacyObliqueTopRight"/>
              <a:lightRig rig="legacyFlat3" dir="b"/>
            </a:scene3d>
            <a:sp3d extrusionH="125400" prstMaterial="legacyMetal">
              <a:bevelT w="13500" h="13500" prst="angle"/>
              <a:bevelB w="13500" h="13500" prst="angle"/>
              <a:extrusionClr>
                <a:srgbClr val="FFFFFF"/>
              </a:extrusionClr>
            </a:sp3d>
          </p:spPr>
          <p:txBody>
            <a:bodyPr>
              <a:flatTx/>
            </a:bodyPr>
            <a:lstStyle/>
            <a:p>
              <a:pPr>
                <a:defRPr/>
              </a:pPr>
              <a:endParaRPr lang="zh-CN" altLang="en-US">
                <a:effectLst>
                  <a:outerShdw blurRad="38100" dist="38100" dir="2700000" algn="tl">
                    <a:srgbClr val="000000">
                      <a:alpha val="43137"/>
                    </a:srgbClr>
                  </a:outerShdw>
                </a:effectLst>
              </a:endParaRPr>
            </a:p>
          </p:txBody>
        </p:sp>
        <p:sp>
          <p:nvSpPr>
            <p:cNvPr id="19" name="Line 172"/>
            <p:cNvSpPr>
              <a:spLocks noChangeShapeType="1"/>
            </p:cNvSpPr>
            <p:nvPr/>
          </p:nvSpPr>
          <p:spPr bwMode="auto">
            <a:xfrm>
              <a:off x="7197" y="6572"/>
              <a:ext cx="210" cy="0"/>
            </a:xfrm>
            <a:prstGeom prst="line">
              <a:avLst/>
            </a:prstGeom>
            <a:noFill/>
            <a:ln w="2857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20" name="Line 173"/>
            <p:cNvSpPr>
              <a:spLocks noChangeShapeType="1"/>
            </p:cNvSpPr>
            <p:nvPr/>
          </p:nvSpPr>
          <p:spPr bwMode="auto">
            <a:xfrm>
              <a:off x="7200" y="6105"/>
              <a:ext cx="210" cy="0"/>
            </a:xfrm>
            <a:prstGeom prst="line">
              <a:avLst/>
            </a:prstGeom>
            <a:noFill/>
            <a:ln w="2857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21" name="Oval 174"/>
            <p:cNvSpPr>
              <a:spLocks noChangeArrowheads="1"/>
            </p:cNvSpPr>
            <p:nvPr/>
          </p:nvSpPr>
          <p:spPr bwMode="auto">
            <a:xfrm>
              <a:off x="7223" y="6032"/>
              <a:ext cx="154" cy="626"/>
            </a:xfrm>
            <a:prstGeom prst="ellipse">
              <a:avLst/>
            </a:prstGeom>
            <a:solidFill>
              <a:srgbClr val="C0C0C0"/>
            </a:solid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22" name="Rectangle 175"/>
            <p:cNvSpPr>
              <a:spLocks noChangeArrowheads="1"/>
            </p:cNvSpPr>
            <p:nvPr/>
          </p:nvSpPr>
          <p:spPr bwMode="auto">
            <a:xfrm>
              <a:off x="7200" y="6105"/>
              <a:ext cx="210" cy="467"/>
            </a:xfrm>
            <a:prstGeom prst="rect">
              <a:avLst/>
            </a:prstGeom>
            <a:solidFill>
              <a:srgbClr val="C0C0C0"/>
            </a:solidFill>
            <a:ln w="9525">
              <a:noFill/>
              <a:miter lim="800000"/>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23" name="AutoShape 176"/>
            <p:cNvSpPr>
              <a:spLocks noChangeArrowheads="1"/>
            </p:cNvSpPr>
            <p:nvPr/>
          </p:nvSpPr>
          <p:spPr bwMode="auto">
            <a:xfrm>
              <a:off x="7248" y="6129"/>
              <a:ext cx="105" cy="157"/>
            </a:xfrm>
            <a:prstGeom prst="flowChartConnector">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24" name="AutoShape 177"/>
            <p:cNvSpPr>
              <a:spLocks noChangeArrowheads="1"/>
            </p:cNvSpPr>
            <p:nvPr/>
          </p:nvSpPr>
          <p:spPr bwMode="auto">
            <a:xfrm rot="-10800000">
              <a:off x="7248" y="6333"/>
              <a:ext cx="105" cy="168"/>
            </a:xfrm>
            <a:custGeom>
              <a:avLst/>
              <a:gdLst>
                <a:gd name="G0" fmla="+- 5966 0 0"/>
                <a:gd name="G1" fmla="+- 21600 0 5966"/>
                <a:gd name="G2" fmla="*/ 5966 1 2"/>
                <a:gd name="G3" fmla="+- 21600 0 G2"/>
                <a:gd name="G4" fmla="+/ 5966 21600 2"/>
                <a:gd name="G5" fmla="+/ G1 0 2"/>
                <a:gd name="G6" fmla="*/ 21600 21600 5966"/>
                <a:gd name="G7" fmla="*/ G6 1 2"/>
                <a:gd name="G8" fmla="+- 21600 0 G7"/>
                <a:gd name="G9" fmla="*/ 21600 1 2"/>
                <a:gd name="G10" fmla="+- 5966 0 G9"/>
                <a:gd name="G11" fmla="?: G10 G8 0"/>
                <a:gd name="G12" fmla="?: G10 G7 21600"/>
                <a:gd name="T0" fmla="*/ 18617 w 21600"/>
                <a:gd name="T1" fmla="*/ 10800 h 21600"/>
                <a:gd name="T2" fmla="*/ 10800 w 21600"/>
                <a:gd name="T3" fmla="*/ 21600 h 21600"/>
                <a:gd name="T4" fmla="*/ 2983 w 21600"/>
                <a:gd name="T5" fmla="*/ 10800 h 21600"/>
                <a:gd name="T6" fmla="*/ 10800 w 21600"/>
                <a:gd name="T7" fmla="*/ 0 h 21600"/>
                <a:gd name="T8" fmla="*/ 4783 w 21600"/>
                <a:gd name="T9" fmla="*/ 4783 h 21600"/>
                <a:gd name="T10" fmla="*/ 16817 w 21600"/>
                <a:gd name="T11" fmla="*/ 16817 h 21600"/>
              </a:gdLst>
              <a:ahLst/>
              <a:cxnLst>
                <a:cxn ang="0">
                  <a:pos x="T0" y="T1"/>
                </a:cxn>
                <a:cxn ang="0">
                  <a:pos x="T2" y="T3"/>
                </a:cxn>
                <a:cxn ang="0">
                  <a:pos x="T4" y="T5"/>
                </a:cxn>
                <a:cxn ang="0">
                  <a:pos x="T6" y="T7"/>
                </a:cxn>
              </a:cxnLst>
              <a:rect l="T8" t="T9" r="T10" b="T11"/>
              <a:pathLst>
                <a:path w="21600" h="21600">
                  <a:moveTo>
                    <a:pt x="0" y="0"/>
                  </a:moveTo>
                  <a:lnTo>
                    <a:pt x="5966" y="21600"/>
                  </a:lnTo>
                  <a:lnTo>
                    <a:pt x="15634" y="21600"/>
                  </a:lnTo>
                  <a:lnTo>
                    <a:pt x="21600" y="0"/>
                  </a:lnTo>
                  <a:close/>
                </a:path>
              </a:pathLst>
            </a:custGeom>
            <a:solidFill>
              <a:srgbClr val="000000"/>
            </a:solidFill>
            <a:ln w="9525">
              <a:solidFill>
                <a:srgbClr val="000000"/>
              </a:solidFill>
              <a:miter lim="800000"/>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25" name="Line 178"/>
            <p:cNvSpPr>
              <a:spLocks noChangeShapeType="1"/>
            </p:cNvSpPr>
            <p:nvPr/>
          </p:nvSpPr>
          <p:spPr bwMode="auto">
            <a:xfrm>
              <a:off x="7398" y="6105"/>
              <a:ext cx="0" cy="467"/>
            </a:xfrm>
            <a:prstGeom prst="line">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26" name="Line 179"/>
            <p:cNvSpPr>
              <a:spLocks noChangeShapeType="1"/>
            </p:cNvSpPr>
            <p:nvPr/>
          </p:nvSpPr>
          <p:spPr bwMode="auto">
            <a:xfrm>
              <a:off x="7188" y="6105"/>
              <a:ext cx="0" cy="467"/>
            </a:xfrm>
            <a:prstGeom prst="line">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27" name="Text Box 180"/>
            <p:cNvSpPr txBox="1">
              <a:spLocks noChangeArrowheads="1"/>
            </p:cNvSpPr>
            <p:nvPr/>
          </p:nvSpPr>
          <p:spPr bwMode="auto">
            <a:xfrm>
              <a:off x="8238" y="5959"/>
              <a:ext cx="629" cy="779"/>
            </a:xfrm>
            <a:prstGeom prst="rect">
              <a:avLst/>
            </a:prstGeom>
            <a:solidFill>
              <a:srgbClr val="F8F8F8"/>
            </a:solidFill>
            <a:ln w="9525">
              <a:solidFill>
                <a:srgbClr val="000000"/>
              </a:solidFill>
              <a:miter lim="800000"/>
              <a:headEnd/>
              <a:tailEnd/>
            </a:ln>
            <a:effectLst>
              <a:outerShdw dist="35921" dir="2700000" algn="ctr" rotWithShape="0">
                <a:srgbClr val="808080"/>
              </a:outerShdw>
            </a:effectLst>
          </p:spPr>
          <p:txBody>
            <a:bodyPr/>
            <a:lstStyle/>
            <a:p>
              <a:pPr algn="just">
                <a:lnSpc>
                  <a:spcPct val="16000"/>
                </a:lnSpc>
                <a:defRPr/>
              </a:pPr>
              <a:r>
                <a:rPr lang="zh-CN" altLang="en-US" sz="100" b="0">
                  <a:solidFill>
                    <a:schemeClr val="tx1"/>
                  </a:solidFill>
                  <a:latin typeface="Times New Roman" pitchFamily="18" charset="0"/>
                </a:rPr>
                <a:t>三人持</a:t>
              </a:r>
              <a:r>
                <a:rPr lang="en-US" altLang="zh-CN" sz="100" b="0">
                  <a:solidFill>
                    <a:schemeClr val="tx1"/>
                  </a:solidFill>
                  <a:latin typeface="Times New Roman" pitchFamily="18" charset="0"/>
                </a:rPr>
                <a:t>dfbgfdgdfgdfgdfgdfgdfgdfg</a:t>
              </a:r>
            </a:p>
            <a:p>
              <a:pPr algn="just">
                <a:lnSpc>
                  <a:spcPct val="16000"/>
                </a:lnSpc>
                <a:defRPr/>
              </a:pPr>
              <a:r>
                <a:rPr lang="en-US" altLang="zh-CN" sz="100" b="0">
                  <a:solidFill>
                    <a:schemeClr val="tx1"/>
                  </a:solidFill>
                  <a:latin typeface="Times New Roman" pitchFamily="18" charset="0"/>
                </a:rPr>
                <a:t>dfgdfgggggggggggggggggggggggggggggsfdsgggggggggggggl</a:t>
              </a:r>
            </a:p>
            <a:p>
              <a:pPr algn="just">
                <a:lnSpc>
                  <a:spcPct val="16000"/>
                </a:lnSpc>
                <a:defRPr/>
              </a:pPr>
              <a:r>
                <a:rPr lang="en-US" altLang="zh-CN" sz="100" b="0">
                  <a:solidFill>
                    <a:schemeClr val="tx1"/>
                  </a:solidFill>
                  <a:latin typeface="Times New Roman" pitchFamily="18" charset="0"/>
                </a:rPr>
                <a:t>fdgkjdfkljglkdjfgkjsdfkljgkjfdgkjdklsfg</a:t>
              </a:r>
            </a:p>
            <a:p>
              <a:pPr algn="just">
                <a:lnSpc>
                  <a:spcPct val="16000"/>
                </a:lnSpc>
                <a:defRPr/>
              </a:pPr>
              <a:r>
                <a:rPr lang="en-US" altLang="zh-CN" sz="100" b="0">
                  <a:solidFill>
                    <a:schemeClr val="tx1"/>
                  </a:solidFill>
                  <a:latin typeface="Times New Roman" pitchFamily="18" charset="0"/>
                </a:rPr>
                <a:t>fdgkjdfkgljdfklgjldkfjfsgjdfkgjdfklgjfdklgjdlfkgjfdklgjdkfgjfkgjfkgfkkfgjf</a:t>
              </a:r>
            </a:p>
            <a:p>
              <a:pPr algn="just">
                <a:lnSpc>
                  <a:spcPct val="16000"/>
                </a:lnSpc>
                <a:defRPr/>
              </a:pPr>
              <a:endParaRPr lang="en-US" altLang="zh-CN" sz="100" b="0">
                <a:solidFill>
                  <a:schemeClr val="tx1"/>
                </a:solidFill>
                <a:latin typeface="Times New Roman" pitchFamily="18" charset="0"/>
              </a:endParaRPr>
            </a:p>
            <a:p>
              <a:pPr algn="just">
                <a:lnSpc>
                  <a:spcPct val="16000"/>
                </a:lnSpc>
                <a:defRPr/>
              </a:pPr>
              <a:r>
                <a:rPr lang="en-US" altLang="zh-CN" sz="100" b="0">
                  <a:solidFill>
                    <a:schemeClr val="tx1"/>
                  </a:solidFill>
                  <a:latin typeface="Times New Roman" pitchFamily="18" charset="0"/>
                </a:rPr>
                <a:t>kldfgkdfgkfgkfg</a:t>
              </a:r>
            </a:p>
            <a:p>
              <a:pPr algn="just">
                <a:lnSpc>
                  <a:spcPct val="16000"/>
                </a:lnSpc>
                <a:defRPr/>
              </a:pPr>
              <a:r>
                <a:rPr lang="en-US" altLang="zh-CN" sz="100" b="0">
                  <a:solidFill>
                    <a:schemeClr val="tx1"/>
                  </a:solidFill>
                  <a:latin typeface="Times New Roman" pitchFamily="18" charset="0"/>
                </a:rPr>
                <a:t>fdgkfgdslfkgjsdklfjggggggsdfkg</a:t>
              </a:r>
            </a:p>
            <a:p>
              <a:pPr algn="just">
                <a:lnSpc>
                  <a:spcPct val="16000"/>
                </a:lnSpc>
                <a:defRPr/>
              </a:pPr>
              <a:r>
                <a:rPr lang="en-US" altLang="zh-CN" sz="100" b="0">
                  <a:solidFill>
                    <a:schemeClr val="tx1"/>
                  </a:solidFill>
                  <a:latin typeface="Times New Roman" pitchFamily="18" charset="0"/>
                </a:rPr>
                <a:t>fdgfsdgggggggggggggg</a:t>
              </a:r>
            </a:p>
            <a:p>
              <a:pPr algn="just">
                <a:lnSpc>
                  <a:spcPct val="16000"/>
                </a:lnSpc>
                <a:defRPr/>
              </a:pPr>
              <a:r>
                <a:rPr lang="en-US" altLang="zh-CN" sz="100" b="0">
                  <a:solidFill>
                    <a:schemeClr val="tx1"/>
                  </a:solidFill>
                  <a:latin typeface="Times New Roman" pitchFamily="18" charset="0"/>
                </a:rPr>
                <a:t>fdgggggggggggggggggggggggggggg</a:t>
              </a:r>
            </a:p>
            <a:p>
              <a:pPr algn="just">
                <a:lnSpc>
                  <a:spcPct val="16000"/>
                </a:lnSpc>
                <a:defRPr/>
              </a:pPr>
              <a:r>
                <a:rPr lang="en-US" altLang="zh-CN" sz="100" b="0">
                  <a:solidFill>
                    <a:schemeClr val="tx1"/>
                  </a:solidFill>
                  <a:latin typeface="Times New Roman" pitchFamily="18" charset="0"/>
                </a:rPr>
                <a:t>dsfggggggggggggggggggggggggggggggg</a:t>
              </a:r>
            </a:p>
            <a:p>
              <a:pPr algn="just">
                <a:lnSpc>
                  <a:spcPct val="16000"/>
                </a:lnSpc>
                <a:defRPr/>
              </a:pPr>
              <a:r>
                <a:rPr lang="en-US" altLang="zh-CN" sz="100" b="0">
                  <a:solidFill>
                    <a:schemeClr val="tx1"/>
                  </a:solidFill>
                  <a:latin typeface="Times New Roman" pitchFamily="18" charset="0"/>
                </a:rPr>
                <a:t>ggggggggggggggggggggggg</a:t>
              </a:r>
            </a:p>
            <a:p>
              <a:pPr algn="just">
                <a:lnSpc>
                  <a:spcPct val="16000"/>
                </a:lnSpc>
                <a:defRPr/>
              </a:pPr>
              <a:r>
                <a:rPr lang="en-US" altLang="zh-CN" sz="100" b="0">
                  <a:solidFill>
                    <a:schemeClr val="tx1"/>
                  </a:solidFill>
                  <a:latin typeface="Times New Roman" pitchFamily="18" charset="0"/>
                </a:rPr>
                <a:t>gggggggggggggggggggggggggggg</a:t>
              </a:r>
              <a:endParaRPr lang="en-US" altLang="zh-CN" sz="500" b="0">
                <a:solidFill>
                  <a:schemeClr val="tx1"/>
                </a:solidFill>
                <a:latin typeface="Times New Roman" pitchFamily="18" charset="0"/>
              </a:endParaRPr>
            </a:p>
          </p:txBody>
        </p:sp>
        <p:sp>
          <p:nvSpPr>
            <p:cNvPr id="28" name="Line 181"/>
            <p:cNvSpPr>
              <a:spLocks noChangeShapeType="1"/>
            </p:cNvSpPr>
            <p:nvPr/>
          </p:nvSpPr>
          <p:spPr bwMode="auto">
            <a:xfrm>
              <a:off x="7712" y="6344"/>
              <a:ext cx="526" cy="0"/>
            </a:xfrm>
            <a:prstGeom prst="line">
              <a:avLst/>
            </a:prstGeom>
            <a:noFill/>
            <a:ln w="9525">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29" name="Text Box 182"/>
            <p:cNvSpPr txBox="1">
              <a:spLocks noChangeArrowheads="1"/>
            </p:cNvSpPr>
            <p:nvPr/>
          </p:nvSpPr>
          <p:spPr bwMode="auto">
            <a:xfrm>
              <a:off x="2367" y="6765"/>
              <a:ext cx="12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zh-CN" altLang="en-US" sz="900" b="0">
                  <a:solidFill>
                    <a:schemeClr val="tx1"/>
                  </a:solidFill>
                  <a:latin typeface="Times New Roman" panose="02020603050405020304" pitchFamily="18" charset="0"/>
                </a:rPr>
                <a:t>明文输入</a:t>
              </a:r>
            </a:p>
          </p:txBody>
        </p:sp>
        <p:sp>
          <p:nvSpPr>
            <p:cNvPr id="30" name="Text Box 183"/>
            <p:cNvSpPr txBox="1">
              <a:spLocks noChangeArrowheads="1"/>
            </p:cNvSpPr>
            <p:nvPr/>
          </p:nvSpPr>
          <p:spPr bwMode="auto">
            <a:xfrm>
              <a:off x="8037" y="6765"/>
              <a:ext cx="12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zh-CN" altLang="en-US" sz="900" b="0">
                  <a:solidFill>
                    <a:schemeClr val="tx1"/>
                  </a:solidFill>
                  <a:latin typeface="Times New Roman" panose="02020603050405020304" pitchFamily="18" charset="0"/>
                </a:rPr>
                <a:t>明文输出</a:t>
              </a:r>
            </a:p>
          </p:txBody>
        </p:sp>
        <p:sp>
          <p:nvSpPr>
            <p:cNvPr id="31" name="Text Box 184"/>
            <p:cNvSpPr txBox="1">
              <a:spLocks noChangeArrowheads="1"/>
            </p:cNvSpPr>
            <p:nvPr/>
          </p:nvSpPr>
          <p:spPr bwMode="auto">
            <a:xfrm>
              <a:off x="3384" y="6765"/>
              <a:ext cx="203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zh-CN" altLang="en-US" sz="900" b="0">
                  <a:solidFill>
                    <a:schemeClr val="tx1"/>
                  </a:solidFill>
                  <a:latin typeface="宋体" panose="02010600030101010101" pitchFamily="2" charset="-122"/>
                </a:rPr>
                <a:t>加密算法（如</a:t>
              </a:r>
              <a:r>
                <a:rPr lang="en-US" altLang="zh-CN" sz="900" b="0">
                  <a:solidFill>
                    <a:schemeClr val="tx1"/>
                  </a:solidFill>
                  <a:latin typeface="宋体" panose="02010600030101010101" pitchFamily="2" charset="-122"/>
                </a:rPr>
                <a:t>RSA</a:t>
              </a:r>
              <a:r>
                <a:rPr lang="zh-CN" altLang="en-US" sz="900" b="0">
                  <a:solidFill>
                    <a:schemeClr val="tx1"/>
                  </a:solidFill>
                  <a:latin typeface="宋体" panose="02010600030101010101" pitchFamily="2" charset="-122"/>
                </a:rPr>
                <a:t>）</a:t>
              </a:r>
            </a:p>
          </p:txBody>
        </p:sp>
        <p:sp>
          <p:nvSpPr>
            <p:cNvPr id="32" name="Text Box 185"/>
            <p:cNvSpPr txBox="1">
              <a:spLocks noChangeArrowheads="1"/>
            </p:cNvSpPr>
            <p:nvPr/>
          </p:nvSpPr>
          <p:spPr bwMode="auto">
            <a:xfrm>
              <a:off x="6219" y="6752"/>
              <a:ext cx="1890" cy="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lang="zh-CN" altLang="en-US" sz="900" b="0">
                  <a:solidFill>
                    <a:schemeClr val="tx1"/>
                  </a:solidFill>
                  <a:latin typeface="Times New Roman" panose="02020603050405020304" pitchFamily="18" charset="0"/>
                </a:rPr>
                <a:t>解密算法</a:t>
              </a:r>
            </a:p>
            <a:p>
              <a:r>
                <a:rPr lang="zh-CN" altLang="en-US" sz="900" b="0">
                  <a:solidFill>
                    <a:schemeClr val="tx1"/>
                  </a:solidFill>
                  <a:latin typeface="Times New Roman" panose="02020603050405020304" pitchFamily="18" charset="0"/>
                </a:rPr>
                <a:t>（加密算法的逆）</a:t>
              </a:r>
            </a:p>
          </p:txBody>
        </p:sp>
        <p:sp>
          <p:nvSpPr>
            <p:cNvPr id="33" name="Text Box 186"/>
            <p:cNvSpPr txBox="1">
              <a:spLocks noChangeArrowheads="1"/>
            </p:cNvSpPr>
            <p:nvPr/>
          </p:nvSpPr>
          <p:spPr bwMode="auto">
            <a:xfrm>
              <a:off x="3552" y="12018"/>
              <a:ext cx="29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endParaRPr lang="zh-CN" altLang="zh-CN" sz="1000" b="0">
                <a:solidFill>
                  <a:schemeClr val="tx1"/>
                </a:solidFill>
                <a:latin typeface="Times New Roman" panose="02020603050405020304" pitchFamily="18" charset="0"/>
              </a:endParaRPr>
            </a:p>
          </p:txBody>
        </p:sp>
        <p:sp>
          <p:nvSpPr>
            <p:cNvPr id="34" name="Text Box 187"/>
            <p:cNvSpPr txBox="1">
              <a:spLocks noChangeArrowheads="1"/>
            </p:cNvSpPr>
            <p:nvPr/>
          </p:nvSpPr>
          <p:spPr bwMode="auto">
            <a:xfrm>
              <a:off x="4134" y="5190"/>
              <a:ext cx="136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Alice</a:t>
              </a:r>
              <a:r>
                <a:rPr lang="zh-CN" altLang="en-US" sz="900" b="0">
                  <a:solidFill>
                    <a:schemeClr val="tx1"/>
                  </a:solidFill>
                  <a:latin typeface="Times New Roman" panose="02020603050405020304" pitchFamily="18" charset="0"/>
                </a:rPr>
                <a:t>的公钥</a:t>
              </a:r>
            </a:p>
          </p:txBody>
        </p:sp>
        <p:sp>
          <p:nvSpPr>
            <p:cNvPr id="35" name="Oval 188"/>
            <p:cNvSpPr>
              <a:spLocks noChangeArrowheads="1"/>
            </p:cNvSpPr>
            <p:nvPr/>
          </p:nvSpPr>
          <p:spPr bwMode="auto">
            <a:xfrm>
              <a:off x="3743" y="3630"/>
              <a:ext cx="945" cy="938"/>
            </a:xfrm>
            <a:prstGeom prst="ellipse">
              <a:avLst/>
            </a:prstGeom>
            <a:solidFill>
              <a:srgbClr val="FFFFFF"/>
            </a:solid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36" name="Text Box 189"/>
            <p:cNvSpPr txBox="1">
              <a:spLocks noChangeArrowheads="1"/>
            </p:cNvSpPr>
            <p:nvPr/>
          </p:nvSpPr>
          <p:spPr bwMode="auto">
            <a:xfrm>
              <a:off x="3804" y="3705"/>
              <a:ext cx="1050" cy="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Bob</a:t>
              </a:r>
              <a:r>
                <a:rPr lang="zh-CN" altLang="en-US" sz="900" b="0">
                  <a:solidFill>
                    <a:schemeClr val="tx1"/>
                  </a:solidFill>
                  <a:latin typeface="Times New Roman" panose="02020603050405020304" pitchFamily="18" charset="0"/>
                </a:rPr>
                <a:t>的</a:t>
              </a:r>
            </a:p>
            <a:p>
              <a:pPr algn="just"/>
              <a:r>
                <a:rPr lang="zh-CN" altLang="en-US" sz="900" b="0">
                  <a:solidFill>
                    <a:schemeClr val="tx1"/>
                  </a:solidFill>
                  <a:latin typeface="Times New Roman" panose="02020603050405020304" pitchFamily="18" charset="0"/>
                </a:rPr>
                <a:t>公钥环</a:t>
              </a:r>
              <a:endParaRPr lang="zh-CN" altLang="en-US" sz="1000" b="0">
                <a:solidFill>
                  <a:schemeClr val="tx1"/>
                </a:solidFill>
                <a:latin typeface="Times New Roman" panose="02020603050405020304" pitchFamily="18" charset="0"/>
              </a:endParaRPr>
            </a:p>
          </p:txBody>
        </p:sp>
        <p:sp>
          <p:nvSpPr>
            <p:cNvPr id="37" name="Line 190"/>
            <p:cNvSpPr>
              <a:spLocks noChangeShapeType="1"/>
            </p:cNvSpPr>
            <p:nvPr/>
          </p:nvSpPr>
          <p:spPr bwMode="auto">
            <a:xfrm>
              <a:off x="4224" y="5189"/>
              <a:ext cx="0" cy="626"/>
            </a:xfrm>
            <a:prstGeom prst="line">
              <a:avLst/>
            </a:prstGeom>
            <a:noFill/>
            <a:ln w="9525">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38" name="Text Box 191"/>
            <p:cNvSpPr txBox="1">
              <a:spLocks noChangeArrowheads="1"/>
            </p:cNvSpPr>
            <p:nvPr/>
          </p:nvSpPr>
          <p:spPr bwMode="auto">
            <a:xfrm>
              <a:off x="5064" y="5972"/>
              <a:ext cx="12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zh-CN" altLang="en-US" sz="900" b="0">
                  <a:solidFill>
                    <a:schemeClr val="tx1"/>
                  </a:solidFill>
                  <a:latin typeface="Times New Roman" panose="02020603050405020304" pitchFamily="18" charset="0"/>
                </a:rPr>
                <a:t>传输的密文 </a:t>
              </a:r>
            </a:p>
          </p:txBody>
        </p:sp>
        <p:sp>
          <p:nvSpPr>
            <p:cNvPr id="39" name="Text Box 192"/>
            <p:cNvSpPr txBox="1">
              <a:spLocks noChangeArrowheads="1"/>
            </p:cNvSpPr>
            <p:nvPr/>
          </p:nvSpPr>
          <p:spPr bwMode="auto">
            <a:xfrm>
              <a:off x="7059" y="4879"/>
              <a:ext cx="136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Alice</a:t>
              </a:r>
              <a:r>
                <a:rPr lang="zh-CN" altLang="en-US" sz="900" b="0">
                  <a:solidFill>
                    <a:schemeClr val="tx1"/>
                  </a:solidFill>
                  <a:latin typeface="Times New Roman" panose="02020603050405020304" pitchFamily="18" charset="0"/>
                </a:rPr>
                <a:t>的私钥</a:t>
              </a:r>
            </a:p>
          </p:txBody>
        </p:sp>
        <p:sp>
          <p:nvSpPr>
            <p:cNvPr id="40" name="Line 193"/>
            <p:cNvSpPr>
              <a:spLocks noChangeShapeType="1"/>
            </p:cNvSpPr>
            <p:nvPr/>
          </p:nvSpPr>
          <p:spPr bwMode="auto">
            <a:xfrm>
              <a:off x="7164" y="4722"/>
              <a:ext cx="0" cy="1092"/>
            </a:xfrm>
            <a:prstGeom prst="line">
              <a:avLst/>
            </a:prstGeom>
            <a:noFill/>
            <a:ln w="9525">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41" name="Text Box 194"/>
            <p:cNvSpPr txBox="1">
              <a:spLocks noChangeArrowheads="1"/>
            </p:cNvSpPr>
            <p:nvPr/>
          </p:nvSpPr>
          <p:spPr bwMode="auto">
            <a:xfrm>
              <a:off x="4749" y="7220"/>
              <a:ext cx="1050"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1000" b="0">
                  <a:solidFill>
                    <a:schemeClr val="tx1"/>
                  </a:solidFill>
                  <a:latin typeface="Times New Roman" panose="02020603050405020304" pitchFamily="18" charset="0"/>
                </a:rPr>
                <a:t>(a) </a:t>
              </a:r>
              <a:r>
                <a:rPr lang="zh-CN" altLang="en-US" sz="1000" b="0">
                  <a:solidFill>
                    <a:schemeClr val="tx1"/>
                  </a:solidFill>
                  <a:latin typeface="Times New Roman" panose="02020603050405020304" pitchFamily="18" charset="0"/>
                </a:rPr>
                <a:t>加密</a:t>
              </a:r>
            </a:p>
          </p:txBody>
        </p:sp>
        <p:sp>
          <p:nvSpPr>
            <p:cNvPr id="42" name="Rectangle 195"/>
            <p:cNvSpPr>
              <a:spLocks noChangeArrowheads="1"/>
            </p:cNvSpPr>
            <p:nvPr/>
          </p:nvSpPr>
          <p:spPr bwMode="auto">
            <a:xfrm>
              <a:off x="3691" y="10088"/>
              <a:ext cx="945" cy="938"/>
            </a:xfrm>
            <a:prstGeom prst="rect">
              <a:avLst/>
            </a:prstGeom>
            <a:solidFill>
              <a:srgbClr val="EAEAEA"/>
            </a:solidFill>
            <a:ln w="9525">
              <a:miter lim="800000"/>
              <a:headEnd/>
              <a:tailEnd/>
            </a:ln>
            <a:effectLst/>
            <a:scene3d>
              <a:camera prst="legacyObliqueTopRight"/>
              <a:lightRig rig="legacyFlat3" dir="b"/>
            </a:scene3d>
            <a:sp3d extrusionH="125400" prstMaterial="legacyMetal">
              <a:bevelT w="13500" h="13500" prst="angle"/>
              <a:bevelB w="13500" h="13500" prst="angle"/>
              <a:extrusionClr>
                <a:srgbClr val="FFFFFF"/>
              </a:extrusionClr>
            </a:sp3d>
          </p:spPr>
          <p:txBody>
            <a:bodyPr>
              <a:flatTx/>
            </a:bodyPr>
            <a:lstStyle/>
            <a:p>
              <a:pPr>
                <a:defRPr/>
              </a:pPr>
              <a:endParaRPr lang="zh-CN" altLang="en-US">
                <a:effectLst>
                  <a:outerShdw blurRad="38100" dist="38100" dir="2700000" algn="tl">
                    <a:srgbClr val="000000">
                      <a:alpha val="43137"/>
                    </a:srgbClr>
                  </a:outerShdw>
                </a:effectLst>
              </a:endParaRPr>
            </a:p>
          </p:txBody>
        </p:sp>
        <p:sp>
          <p:nvSpPr>
            <p:cNvPr id="43" name="Line 196"/>
            <p:cNvSpPr>
              <a:spLocks noChangeShapeType="1"/>
            </p:cNvSpPr>
            <p:nvPr/>
          </p:nvSpPr>
          <p:spPr bwMode="auto">
            <a:xfrm>
              <a:off x="4224" y="10787"/>
              <a:ext cx="210" cy="0"/>
            </a:xfrm>
            <a:prstGeom prst="line">
              <a:avLst/>
            </a:prstGeom>
            <a:noFill/>
            <a:ln w="2857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44" name="Line 197"/>
            <p:cNvSpPr>
              <a:spLocks noChangeShapeType="1"/>
            </p:cNvSpPr>
            <p:nvPr/>
          </p:nvSpPr>
          <p:spPr bwMode="auto">
            <a:xfrm>
              <a:off x="4227" y="10320"/>
              <a:ext cx="210" cy="0"/>
            </a:xfrm>
            <a:prstGeom prst="line">
              <a:avLst/>
            </a:prstGeom>
            <a:noFill/>
            <a:ln w="2857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45" name="Oval 198"/>
            <p:cNvSpPr>
              <a:spLocks noChangeArrowheads="1"/>
            </p:cNvSpPr>
            <p:nvPr/>
          </p:nvSpPr>
          <p:spPr bwMode="auto">
            <a:xfrm>
              <a:off x="4252" y="10247"/>
              <a:ext cx="153" cy="624"/>
            </a:xfrm>
            <a:prstGeom prst="ellipse">
              <a:avLst/>
            </a:prstGeom>
            <a:solidFill>
              <a:srgbClr val="C0C0C0"/>
            </a:solid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46" name="Rectangle 199"/>
            <p:cNvSpPr>
              <a:spLocks noChangeArrowheads="1"/>
            </p:cNvSpPr>
            <p:nvPr/>
          </p:nvSpPr>
          <p:spPr bwMode="auto">
            <a:xfrm>
              <a:off x="4227" y="10320"/>
              <a:ext cx="210" cy="467"/>
            </a:xfrm>
            <a:prstGeom prst="rect">
              <a:avLst/>
            </a:prstGeom>
            <a:solidFill>
              <a:srgbClr val="C0C0C0"/>
            </a:solidFill>
            <a:ln w="9525">
              <a:noFill/>
              <a:miter lim="800000"/>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47" name="AutoShape 200"/>
            <p:cNvSpPr>
              <a:spLocks noChangeArrowheads="1"/>
            </p:cNvSpPr>
            <p:nvPr/>
          </p:nvSpPr>
          <p:spPr bwMode="auto">
            <a:xfrm>
              <a:off x="4274" y="10344"/>
              <a:ext cx="105" cy="157"/>
            </a:xfrm>
            <a:prstGeom prst="flowChartConnector">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48" name="AutoShape 201"/>
            <p:cNvSpPr>
              <a:spLocks noChangeArrowheads="1"/>
            </p:cNvSpPr>
            <p:nvPr/>
          </p:nvSpPr>
          <p:spPr bwMode="auto">
            <a:xfrm rot="-10800000">
              <a:off x="4274" y="10548"/>
              <a:ext cx="105" cy="168"/>
            </a:xfrm>
            <a:custGeom>
              <a:avLst/>
              <a:gdLst>
                <a:gd name="G0" fmla="+- 5966 0 0"/>
                <a:gd name="G1" fmla="+- 21600 0 5966"/>
                <a:gd name="G2" fmla="*/ 5966 1 2"/>
                <a:gd name="G3" fmla="+- 21600 0 G2"/>
                <a:gd name="G4" fmla="+/ 5966 21600 2"/>
                <a:gd name="G5" fmla="+/ G1 0 2"/>
                <a:gd name="G6" fmla="*/ 21600 21600 5966"/>
                <a:gd name="G7" fmla="*/ G6 1 2"/>
                <a:gd name="G8" fmla="+- 21600 0 G7"/>
                <a:gd name="G9" fmla="*/ 21600 1 2"/>
                <a:gd name="G10" fmla="+- 5966 0 G9"/>
                <a:gd name="G11" fmla="?: G10 G8 0"/>
                <a:gd name="G12" fmla="?: G10 G7 21600"/>
                <a:gd name="T0" fmla="*/ 18617 w 21600"/>
                <a:gd name="T1" fmla="*/ 10800 h 21600"/>
                <a:gd name="T2" fmla="*/ 10800 w 21600"/>
                <a:gd name="T3" fmla="*/ 21600 h 21600"/>
                <a:gd name="T4" fmla="*/ 2983 w 21600"/>
                <a:gd name="T5" fmla="*/ 10800 h 21600"/>
                <a:gd name="T6" fmla="*/ 10800 w 21600"/>
                <a:gd name="T7" fmla="*/ 0 h 21600"/>
                <a:gd name="T8" fmla="*/ 4783 w 21600"/>
                <a:gd name="T9" fmla="*/ 4783 h 21600"/>
                <a:gd name="T10" fmla="*/ 16817 w 21600"/>
                <a:gd name="T11" fmla="*/ 16817 h 21600"/>
              </a:gdLst>
              <a:ahLst/>
              <a:cxnLst>
                <a:cxn ang="0">
                  <a:pos x="T0" y="T1"/>
                </a:cxn>
                <a:cxn ang="0">
                  <a:pos x="T2" y="T3"/>
                </a:cxn>
                <a:cxn ang="0">
                  <a:pos x="T4" y="T5"/>
                </a:cxn>
                <a:cxn ang="0">
                  <a:pos x="T6" y="T7"/>
                </a:cxn>
              </a:cxnLst>
              <a:rect l="T8" t="T9" r="T10" b="T11"/>
              <a:pathLst>
                <a:path w="21600" h="21600">
                  <a:moveTo>
                    <a:pt x="0" y="0"/>
                  </a:moveTo>
                  <a:lnTo>
                    <a:pt x="5966" y="21600"/>
                  </a:lnTo>
                  <a:lnTo>
                    <a:pt x="15634" y="21600"/>
                  </a:lnTo>
                  <a:lnTo>
                    <a:pt x="21600" y="0"/>
                  </a:lnTo>
                  <a:close/>
                </a:path>
              </a:pathLst>
            </a:custGeom>
            <a:solidFill>
              <a:srgbClr val="000000"/>
            </a:solidFill>
            <a:ln w="9525">
              <a:solidFill>
                <a:srgbClr val="000000"/>
              </a:solidFill>
              <a:miter lim="800000"/>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49" name="Line 202"/>
            <p:cNvSpPr>
              <a:spLocks noChangeShapeType="1"/>
            </p:cNvSpPr>
            <p:nvPr/>
          </p:nvSpPr>
          <p:spPr bwMode="auto">
            <a:xfrm>
              <a:off x="4425" y="10320"/>
              <a:ext cx="0" cy="467"/>
            </a:xfrm>
            <a:prstGeom prst="line">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50" name="Line 203"/>
            <p:cNvSpPr>
              <a:spLocks noChangeShapeType="1"/>
            </p:cNvSpPr>
            <p:nvPr/>
          </p:nvSpPr>
          <p:spPr bwMode="auto">
            <a:xfrm>
              <a:off x="4215" y="10320"/>
              <a:ext cx="0" cy="467"/>
            </a:xfrm>
            <a:prstGeom prst="line">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51" name="Text Box 204"/>
            <p:cNvSpPr txBox="1">
              <a:spLocks noChangeArrowheads="1"/>
            </p:cNvSpPr>
            <p:nvPr/>
          </p:nvSpPr>
          <p:spPr bwMode="auto">
            <a:xfrm>
              <a:off x="2535" y="10172"/>
              <a:ext cx="629" cy="781"/>
            </a:xfrm>
            <a:prstGeom prst="rect">
              <a:avLst/>
            </a:prstGeom>
            <a:solidFill>
              <a:srgbClr val="F8F8F8"/>
            </a:solidFill>
            <a:ln w="9525">
              <a:solidFill>
                <a:srgbClr val="000000"/>
              </a:solidFill>
              <a:miter lim="800000"/>
              <a:headEnd/>
              <a:tailEnd/>
            </a:ln>
            <a:effectLst>
              <a:outerShdw dist="35921" dir="2700000" algn="ctr" rotWithShape="0">
                <a:srgbClr val="808080"/>
              </a:outerShdw>
            </a:effectLst>
          </p:spPr>
          <p:txBody>
            <a:bodyPr/>
            <a:lstStyle/>
            <a:p>
              <a:pPr algn="just">
                <a:lnSpc>
                  <a:spcPct val="16000"/>
                </a:lnSpc>
                <a:defRPr/>
              </a:pPr>
              <a:r>
                <a:rPr lang="zh-CN" altLang="en-US" sz="100" b="0">
                  <a:solidFill>
                    <a:schemeClr val="tx1"/>
                  </a:solidFill>
                  <a:latin typeface="Times New Roman" pitchFamily="18" charset="0"/>
                </a:rPr>
                <a:t>三人持</a:t>
              </a:r>
              <a:r>
                <a:rPr lang="en-US" altLang="zh-CN" sz="100" b="0">
                  <a:solidFill>
                    <a:schemeClr val="tx1"/>
                  </a:solidFill>
                  <a:latin typeface="Times New Roman" pitchFamily="18" charset="0"/>
                </a:rPr>
                <a:t>dfbgfdgdfgdfgdfgdfgdfgdfg</a:t>
              </a:r>
            </a:p>
            <a:p>
              <a:pPr algn="just">
                <a:lnSpc>
                  <a:spcPct val="16000"/>
                </a:lnSpc>
                <a:defRPr/>
              </a:pPr>
              <a:r>
                <a:rPr lang="en-US" altLang="zh-CN" sz="100" b="0">
                  <a:solidFill>
                    <a:schemeClr val="tx1"/>
                  </a:solidFill>
                  <a:latin typeface="Times New Roman" pitchFamily="18" charset="0"/>
                </a:rPr>
                <a:t>dfgdfgggggggggggggggggggggggggggggsfdsgggggggggggggl</a:t>
              </a:r>
            </a:p>
            <a:p>
              <a:pPr algn="just">
                <a:lnSpc>
                  <a:spcPct val="16000"/>
                </a:lnSpc>
                <a:defRPr/>
              </a:pPr>
              <a:r>
                <a:rPr lang="en-US" altLang="zh-CN" sz="100" b="0">
                  <a:solidFill>
                    <a:schemeClr val="tx1"/>
                  </a:solidFill>
                  <a:latin typeface="Times New Roman" pitchFamily="18" charset="0"/>
                </a:rPr>
                <a:t>fdgkjdfkljglkdjfgkjsdfkljgkjfdgkjdklsfg</a:t>
              </a:r>
            </a:p>
            <a:p>
              <a:pPr algn="just">
                <a:lnSpc>
                  <a:spcPct val="16000"/>
                </a:lnSpc>
                <a:defRPr/>
              </a:pPr>
              <a:r>
                <a:rPr lang="en-US" altLang="zh-CN" sz="100" b="0">
                  <a:solidFill>
                    <a:schemeClr val="tx1"/>
                  </a:solidFill>
                  <a:latin typeface="Times New Roman" pitchFamily="18" charset="0"/>
                </a:rPr>
                <a:t>fdgkjdfkgljdfklgjldkfjfsgjdfkgjdfklgjfdklgjdlfkgjfdklgjdkfgjfkgjfkgfkkfgjf</a:t>
              </a:r>
            </a:p>
            <a:p>
              <a:pPr algn="just">
                <a:lnSpc>
                  <a:spcPct val="16000"/>
                </a:lnSpc>
                <a:defRPr/>
              </a:pPr>
              <a:endParaRPr lang="en-US" altLang="zh-CN" sz="100" b="0">
                <a:solidFill>
                  <a:schemeClr val="tx1"/>
                </a:solidFill>
                <a:latin typeface="Times New Roman" pitchFamily="18" charset="0"/>
              </a:endParaRPr>
            </a:p>
            <a:p>
              <a:pPr algn="just">
                <a:lnSpc>
                  <a:spcPct val="16000"/>
                </a:lnSpc>
                <a:defRPr/>
              </a:pPr>
              <a:r>
                <a:rPr lang="en-US" altLang="zh-CN" sz="100" b="0">
                  <a:solidFill>
                    <a:schemeClr val="tx1"/>
                  </a:solidFill>
                  <a:latin typeface="Times New Roman" pitchFamily="18" charset="0"/>
                </a:rPr>
                <a:t>kldfgkdfgkfgkfg</a:t>
              </a:r>
            </a:p>
            <a:p>
              <a:pPr algn="just">
                <a:lnSpc>
                  <a:spcPct val="16000"/>
                </a:lnSpc>
                <a:defRPr/>
              </a:pPr>
              <a:r>
                <a:rPr lang="en-US" altLang="zh-CN" sz="100" b="0">
                  <a:solidFill>
                    <a:schemeClr val="tx1"/>
                  </a:solidFill>
                  <a:latin typeface="Times New Roman" pitchFamily="18" charset="0"/>
                </a:rPr>
                <a:t>fdgkfgdslfkgjsdklfjggggggsdfkg</a:t>
              </a:r>
            </a:p>
            <a:p>
              <a:pPr algn="just">
                <a:lnSpc>
                  <a:spcPct val="16000"/>
                </a:lnSpc>
                <a:defRPr/>
              </a:pPr>
              <a:r>
                <a:rPr lang="en-US" altLang="zh-CN" sz="100" b="0">
                  <a:solidFill>
                    <a:schemeClr val="tx1"/>
                  </a:solidFill>
                  <a:latin typeface="Times New Roman" pitchFamily="18" charset="0"/>
                </a:rPr>
                <a:t>fdgfsdgggggggggggggg</a:t>
              </a:r>
            </a:p>
            <a:p>
              <a:pPr algn="just">
                <a:lnSpc>
                  <a:spcPct val="16000"/>
                </a:lnSpc>
                <a:defRPr/>
              </a:pPr>
              <a:r>
                <a:rPr lang="en-US" altLang="zh-CN" sz="100" b="0">
                  <a:solidFill>
                    <a:schemeClr val="tx1"/>
                  </a:solidFill>
                  <a:latin typeface="Times New Roman" pitchFamily="18" charset="0"/>
                </a:rPr>
                <a:t>fdgggggggggggggggggggggggggggg</a:t>
              </a:r>
            </a:p>
            <a:p>
              <a:pPr algn="just">
                <a:lnSpc>
                  <a:spcPct val="16000"/>
                </a:lnSpc>
                <a:defRPr/>
              </a:pPr>
              <a:r>
                <a:rPr lang="en-US" altLang="zh-CN" sz="100" b="0">
                  <a:solidFill>
                    <a:schemeClr val="tx1"/>
                  </a:solidFill>
                  <a:latin typeface="Times New Roman" pitchFamily="18" charset="0"/>
                </a:rPr>
                <a:t>dsfggggggggggggggggggggggggggggggg</a:t>
              </a:r>
            </a:p>
            <a:p>
              <a:pPr algn="just">
                <a:lnSpc>
                  <a:spcPct val="16000"/>
                </a:lnSpc>
                <a:defRPr/>
              </a:pPr>
              <a:r>
                <a:rPr lang="en-US" altLang="zh-CN" sz="100" b="0">
                  <a:solidFill>
                    <a:schemeClr val="tx1"/>
                  </a:solidFill>
                  <a:latin typeface="Times New Roman" pitchFamily="18" charset="0"/>
                </a:rPr>
                <a:t>ggggggggggggggggggggggg</a:t>
              </a:r>
            </a:p>
            <a:p>
              <a:pPr algn="just">
                <a:lnSpc>
                  <a:spcPct val="16000"/>
                </a:lnSpc>
                <a:defRPr/>
              </a:pPr>
              <a:r>
                <a:rPr lang="en-US" altLang="zh-CN" sz="100" b="0">
                  <a:solidFill>
                    <a:schemeClr val="tx1"/>
                  </a:solidFill>
                  <a:latin typeface="Times New Roman" pitchFamily="18" charset="0"/>
                </a:rPr>
                <a:t>gggggggggggggggggggggggggggg</a:t>
              </a:r>
              <a:endParaRPr lang="en-US" altLang="zh-CN" sz="500" b="0">
                <a:solidFill>
                  <a:schemeClr val="tx1"/>
                </a:solidFill>
                <a:latin typeface="Times New Roman" pitchFamily="18" charset="0"/>
              </a:endParaRPr>
            </a:p>
          </p:txBody>
        </p:sp>
        <p:sp>
          <p:nvSpPr>
            <p:cNvPr id="52" name="Line 205"/>
            <p:cNvSpPr>
              <a:spLocks noChangeShapeType="1"/>
            </p:cNvSpPr>
            <p:nvPr/>
          </p:nvSpPr>
          <p:spPr bwMode="auto">
            <a:xfrm>
              <a:off x="3165" y="10559"/>
              <a:ext cx="526" cy="0"/>
            </a:xfrm>
            <a:prstGeom prst="line">
              <a:avLst/>
            </a:prstGeom>
            <a:noFill/>
            <a:ln w="9525">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53" name="Line 206"/>
            <p:cNvSpPr>
              <a:spLocks noChangeShapeType="1"/>
            </p:cNvSpPr>
            <p:nvPr/>
          </p:nvSpPr>
          <p:spPr bwMode="auto">
            <a:xfrm>
              <a:off x="4741" y="10559"/>
              <a:ext cx="1890" cy="0"/>
            </a:xfrm>
            <a:prstGeom prst="line">
              <a:avLst/>
            </a:prstGeom>
            <a:noFill/>
            <a:ln w="9525">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54" name="Rectangle 207"/>
            <p:cNvSpPr>
              <a:spLocks noChangeArrowheads="1"/>
            </p:cNvSpPr>
            <p:nvPr/>
          </p:nvSpPr>
          <p:spPr bwMode="auto">
            <a:xfrm>
              <a:off x="6631" y="10088"/>
              <a:ext cx="945" cy="938"/>
            </a:xfrm>
            <a:prstGeom prst="rect">
              <a:avLst/>
            </a:prstGeom>
            <a:solidFill>
              <a:srgbClr val="EAEAEA"/>
            </a:solidFill>
            <a:ln w="9525">
              <a:miter lim="800000"/>
              <a:headEnd/>
              <a:tailEnd/>
            </a:ln>
            <a:effectLst/>
            <a:scene3d>
              <a:camera prst="legacyObliqueTopRight"/>
              <a:lightRig rig="legacyFlat3" dir="b"/>
            </a:scene3d>
            <a:sp3d extrusionH="125400" prstMaterial="legacyMetal">
              <a:bevelT w="13500" h="13500" prst="angle"/>
              <a:bevelB w="13500" h="13500" prst="angle"/>
              <a:extrusionClr>
                <a:srgbClr val="FFFFFF"/>
              </a:extrusionClr>
            </a:sp3d>
          </p:spPr>
          <p:txBody>
            <a:bodyPr>
              <a:flatTx/>
            </a:bodyPr>
            <a:lstStyle/>
            <a:p>
              <a:pPr>
                <a:defRPr/>
              </a:pPr>
              <a:endParaRPr lang="zh-CN" altLang="en-US">
                <a:effectLst>
                  <a:outerShdw blurRad="38100" dist="38100" dir="2700000" algn="tl">
                    <a:srgbClr val="000000">
                      <a:alpha val="43137"/>
                    </a:srgbClr>
                  </a:outerShdw>
                </a:effectLst>
              </a:endParaRPr>
            </a:p>
          </p:txBody>
        </p:sp>
        <p:sp>
          <p:nvSpPr>
            <p:cNvPr id="55" name="Line 208"/>
            <p:cNvSpPr>
              <a:spLocks noChangeShapeType="1"/>
            </p:cNvSpPr>
            <p:nvPr/>
          </p:nvSpPr>
          <p:spPr bwMode="auto">
            <a:xfrm>
              <a:off x="7164" y="10787"/>
              <a:ext cx="210" cy="0"/>
            </a:xfrm>
            <a:prstGeom prst="line">
              <a:avLst/>
            </a:prstGeom>
            <a:noFill/>
            <a:ln w="2857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56" name="Line 209"/>
            <p:cNvSpPr>
              <a:spLocks noChangeShapeType="1"/>
            </p:cNvSpPr>
            <p:nvPr/>
          </p:nvSpPr>
          <p:spPr bwMode="auto">
            <a:xfrm>
              <a:off x="7167" y="10320"/>
              <a:ext cx="210" cy="0"/>
            </a:xfrm>
            <a:prstGeom prst="line">
              <a:avLst/>
            </a:prstGeom>
            <a:noFill/>
            <a:ln w="2857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57" name="Oval 210"/>
            <p:cNvSpPr>
              <a:spLocks noChangeArrowheads="1"/>
            </p:cNvSpPr>
            <p:nvPr/>
          </p:nvSpPr>
          <p:spPr bwMode="auto">
            <a:xfrm>
              <a:off x="7192" y="10247"/>
              <a:ext cx="154" cy="624"/>
            </a:xfrm>
            <a:prstGeom prst="ellipse">
              <a:avLst/>
            </a:prstGeom>
            <a:solidFill>
              <a:srgbClr val="C0C0C0"/>
            </a:solid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58" name="Rectangle 211"/>
            <p:cNvSpPr>
              <a:spLocks noChangeArrowheads="1"/>
            </p:cNvSpPr>
            <p:nvPr/>
          </p:nvSpPr>
          <p:spPr bwMode="auto">
            <a:xfrm>
              <a:off x="7167" y="10320"/>
              <a:ext cx="210" cy="467"/>
            </a:xfrm>
            <a:prstGeom prst="rect">
              <a:avLst/>
            </a:prstGeom>
            <a:solidFill>
              <a:srgbClr val="C0C0C0"/>
            </a:solidFill>
            <a:ln w="9525">
              <a:noFill/>
              <a:miter lim="800000"/>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59" name="AutoShape 212"/>
            <p:cNvSpPr>
              <a:spLocks noChangeArrowheads="1"/>
            </p:cNvSpPr>
            <p:nvPr/>
          </p:nvSpPr>
          <p:spPr bwMode="auto">
            <a:xfrm>
              <a:off x="7214" y="10344"/>
              <a:ext cx="105" cy="157"/>
            </a:xfrm>
            <a:prstGeom prst="flowChartConnector">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0" name="AutoShape 213"/>
            <p:cNvSpPr>
              <a:spLocks noChangeArrowheads="1"/>
            </p:cNvSpPr>
            <p:nvPr/>
          </p:nvSpPr>
          <p:spPr bwMode="auto">
            <a:xfrm rot="-10800000">
              <a:off x="7214" y="10548"/>
              <a:ext cx="105" cy="168"/>
            </a:xfrm>
            <a:custGeom>
              <a:avLst/>
              <a:gdLst>
                <a:gd name="G0" fmla="+- 5966 0 0"/>
                <a:gd name="G1" fmla="+- 21600 0 5966"/>
                <a:gd name="G2" fmla="*/ 5966 1 2"/>
                <a:gd name="G3" fmla="+- 21600 0 G2"/>
                <a:gd name="G4" fmla="+/ 5966 21600 2"/>
                <a:gd name="G5" fmla="+/ G1 0 2"/>
                <a:gd name="G6" fmla="*/ 21600 21600 5966"/>
                <a:gd name="G7" fmla="*/ G6 1 2"/>
                <a:gd name="G8" fmla="+- 21600 0 G7"/>
                <a:gd name="G9" fmla="*/ 21600 1 2"/>
                <a:gd name="G10" fmla="+- 5966 0 G9"/>
                <a:gd name="G11" fmla="?: G10 G8 0"/>
                <a:gd name="G12" fmla="?: G10 G7 21600"/>
                <a:gd name="T0" fmla="*/ 18617 w 21600"/>
                <a:gd name="T1" fmla="*/ 10800 h 21600"/>
                <a:gd name="T2" fmla="*/ 10800 w 21600"/>
                <a:gd name="T3" fmla="*/ 21600 h 21600"/>
                <a:gd name="T4" fmla="*/ 2983 w 21600"/>
                <a:gd name="T5" fmla="*/ 10800 h 21600"/>
                <a:gd name="T6" fmla="*/ 10800 w 21600"/>
                <a:gd name="T7" fmla="*/ 0 h 21600"/>
                <a:gd name="T8" fmla="*/ 4783 w 21600"/>
                <a:gd name="T9" fmla="*/ 4783 h 21600"/>
                <a:gd name="T10" fmla="*/ 16817 w 21600"/>
                <a:gd name="T11" fmla="*/ 16817 h 21600"/>
              </a:gdLst>
              <a:ahLst/>
              <a:cxnLst>
                <a:cxn ang="0">
                  <a:pos x="T0" y="T1"/>
                </a:cxn>
                <a:cxn ang="0">
                  <a:pos x="T2" y="T3"/>
                </a:cxn>
                <a:cxn ang="0">
                  <a:pos x="T4" y="T5"/>
                </a:cxn>
                <a:cxn ang="0">
                  <a:pos x="T6" y="T7"/>
                </a:cxn>
              </a:cxnLst>
              <a:rect l="T8" t="T9" r="T10" b="T11"/>
              <a:pathLst>
                <a:path w="21600" h="21600">
                  <a:moveTo>
                    <a:pt x="0" y="0"/>
                  </a:moveTo>
                  <a:lnTo>
                    <a:pt x="5966" y="21600"/>
                  </a:lnTo>
                  <a:lnTo>
                    <a:pt x="15634" y="21600"/>
                  </a:lnTo>
                  <a:lnTo>
                    <a:pt x="21600" y="0"/>
                  </a:lnTo>
                  <a:close/>
                </a:path>
              </a:pathLst>
            </a:custGeom>
            <a:solidFill>
              <a:srgbClr val="000000"/>
            </a:solidFill>
            <a:ln w="9525">
              <a:solidFill>
                <a:srgbClr val="000000"/>
              </a:solidFill>
              <a:miter lim="800000"/>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1" name="Line 214"/>
            <p:cNvSpPr>
              <a:spLocks noChangeShapeType="1"/>
            </p:cNvSpPr>
            <p:nvPr/>
          </p:nvSpPr>
          <p:spPr bwMode="auto">
            <a:xfrm>
              <a:off x="7365" y="10320"/>
              <a:ext cx="0" cy="467"/>
            </a:xfrm>
            <a:prstGeom prst="line">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 name="Line 215"/>
            <p:cNvSpPr>
              <a:spLocks noChangeShapeType="1"/>
            </p:cNvSpPr>
            <p:nvPr/>
          </p:nvSpPr>
          <p:spPr bwMode="auto">
            <a:xfrm>
              <a:off x="7155" y="10320"/>
              <a:ext cx="0" cy="467"/>
            </a:xfrm>
            <a:prstGeom prst="line">
              <a:avLst/>
            </a:prstGeom>
            <a:noFill/>
            <a:ln w="9525">
              <a:solidFill>
                <a:srgbClr val="0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3" name="Text Box 216"/>
            <p:cNvSpPr txBox="1">
              <a:spLocks noChangeArrowheads="1"/>
            </p:cNvSpPr>
            <p:nvPr/>
          </p:nvSpPr>
          <p:spPr bwMode="auto">
            <a:xfrm>
              <a:off x="8205" y="10172"/>
              <a:ext cx="629" cy="781"/>
            </a:xfrm>
            <a:prstGeom prst="rect">
              <a:avLst/>
            </a:prstGeom>
            <a:solidFill>
              <a:srgbClr val="F8F8F8"/>
            </a:solidFill>
            <a:ln w="9525">
              <a:solidFill>
                <a:srgbClr val="000000"/>
              </a:solidFill>
              <a:miter lim="800000"/>
              <a:headEnd/>
              <a:tailEnd/>
            </a:ln>
            <a:effectLst>
              <a:outerShdw dist="35921" dir="2700000" algn="ctr" rotWithShape="0">
                <a:srgbClr val="808080"/>
              </a:outerShdw>
            </a:effectLst>
          </p:spPr>
          <p:txBody>
            <a:bodyPr/>
            <a:lstStyle/>
            <a:p>
              <a:pPr algn="just">
                <a:lnSpc>
                  <a:spcPct val="16000"/>
                </a:lnSpc>
                <a:defRPr/>
              </a:pPr>
              <a:r>
                <a:rPr lang="zh-CN" altLang="en-US" sz="100" b="0">
                  <a:solidFill>
                    <a:schemeClr val="tx1"/>
                  </a:solidFill>
                  <a:latin typeface="Times New Roman" pitchFamily="18" charset="0"/>
                </a:rPr>
                <a:t>三人持</a:t>
              </a:r>
              <a:r>
                <a:rPr lang="en-US" altLang="zh-CN" sz="100" b="0">
                  <a:solidFill>
                    <a:schemeClr val="tx1"/>
                  </a:solidFill>
                  <a:latin typeface="Times New Roman" pitchFamily="18" charset="0"/>
                </a:rPr>
                <a:t>dfbgfdgdfgdfgdfgdfgdfgdfg</a:t>
              </a:r>
            </a:p>
            <a:p>
              <a:pPr algn="just">
                <a:lnSpc>
                  <a:spcPct val="16000"/>
                </a:lnSpc>
                <a:defRPr/>
              </a:pPr>
              <a:r>
                <a:rPr lang="en-US" altLang="zh-CN" sz="100" b="0">
                  <a:solidFill>
                    <a:schemeClr val="tx1"/>
                  </a:solidFill>
                  <a:latin typeface="Times New Roman" pitchFamily="18" charset="0"/>
                </a:rPr>
                <a:t>dfgdfgggggggggggggggggggggggggggggsfdsgggggggggggggl</a:t>
              </a:r>
            </a:p>
            <a:p>
              <a:pPr algn="just">
                <a:lnSpc>
                  <a:spcPct val="16000"/>
                </a:lnSpc>
                <a:defRPr/>
              </a:pPr>
              <a:r>
                <a:rPr lang="en-US" altLang="zh-CN" sz="100" b="0">
                  <a:solidFill>
                    <a:schemeClr val="tx1"/>
                  </a:solidFill>
                  <a:latin typeface="Times New Roman" pitchFamily="18" charset="0"/>
                </a:rPr>
                <a:t>fdgkjdfkljglkdjfgkjsdfkljgkjfdgkjdklsfg</a:t>
              </a:r>
            </a:p>
            <a:p>
              <a:pPr algn="just">
                <a:lnSpc>
                  <a:spcPct val="16000"/>
                </a:lnSpc>
                <a:defRPr/>
              </a:pPr>
              <a:r>
                <a:rPr lang="en-US" altLang="zh-CN" sz="100" b="0">
                  <a:solidFill>
                    <a:schemeClr val="tx1"/>
                  </a:solidFill>
                  <a:latin typeface="Times New Roman" pitchFamily="18" charset="0"/>
                </a:rPr>
                <a:t>fdgkjdfkgljdfklgjldkfjfsgjdfkgjdfklgjfdklgjdlfkgjfdklgjdkfgjfkgjfkgfkkfgjf</a:t>
              </a:r>
            </a:p>
            <a:p>
              <a:pPr algn="just">
                <a:lnSpc>
                  <a:spcPct val="16000"/>
                </a:lnSpc>
                <a:defRPr/>
              </a:pPr>
              <a:endParaRPr lang="en-US" altLang="zh-CN" sz="100" b="0">
                <a:solidFill>
                  <a:schemeClr val="tx1"/>
                </a:solidFill>
                <a:latin typeface="Times New Roman" pitchFamily="18" charset="0"/>
              </a:endParaRPr>
            </a:p>
            <a:p>
              <a:pPr algn="just">
                <a:lnSpc>
                  <a:spcPct val="16000"/>
                </a:lnSpc>
                <a:defRPr/>
              </a:pPr>
              <a:r>
                <a:rPr lang="en-US" altLang="zh-CN" sz="100" b="0">
                  <a:solidFill>
                    <a:schemeClr val="tx1"/>
                  </a:solidFill>
                  <a:latin typeface="Times New Roman" pitchFamily="18" charset="0"/>
                </a:rPr>
                <a:t>kldfgkdfgkfgkfg</a:t>
              </a:r>
            </a:p>
            <a:p>
              <a:pPr algn="just">
                <a:lnSpc>
                  <a:spcPct val="16000"/>
                </a:lnSpc>
                <a:defRPr/>
              </a:pPr>
              <a:r>
                <a:rPr lang="en-US" altLang="zh-CN" sz="100" b="0">
                  <a:solidFill>
                    <a:schemeClr val="tx1"/>
                  </a:solidFill>
                  <a:latin typeface="Times New Roman" pitchFamily="18" charset="0"/>
                </a:rPr>
                <a:t>fdgkfgdslfkgjsdklfjggggggsdfkg</a:t>
              </a:r>
            </a:p>
            <a:p>
              <a:pPr algn="just">
                <a:lnSpc>
                  <a:spcPct val="16000"/>
                </a:lnSpc>
                <a:defRPr/>
              </a:pPr>
              <a:r>
                <a:rPr lang="en-US" altLang="zh-CN" sz="100" b="0">
                  <a:solidFill>
                    <a:schemeClr val="tx1"/>
                  </a:solidFill>
                  <a:latin typeface="Times New Roman" pitchFamily="18" charset="0"/>
                </a:rPr>
                <a:t>fdgfsdgggggggggggggg</a:t>
              </a:r>
            </a:p>
            <a:p>
              <a:pPr algn="just">
                <a:lnSpc>
                  <a:spcPct val="16000"/>
                </a:lnSpc>
                <a:defRPr/>
              </a:pPr>
              <a:r>
                <a:rPr lang="en-US" altLang="zh-CN" sz="100" b="0">
                  <a:solidFill>
                    <a:schemeClr val="tx1"/>
                  </a:solidFill>
                  <a:latin typeface="Times New Roman" pitchFamily="18" charset="0"/>
                </a:rPr>
                <a:t>fdgggggggggggggggggggggggggggg</a:t>
              </a:r>
            </a:p>
            <a:p>
              <a:pPr algn="just">
                <a:lnSpc>
                  <a:spcPct val="16000"/>
                </a:lnSpc>
                <a:defRPr/>
              </a:pPr>
              <a:r>
                <a:rPr lang="en-US" altLang="zh-CN" sz="100" b="0">
                  <a:solidFill>
                    <a:schemeClr val="tx1"/>
                  </a:solidFill>
                  <a:latin typeface="Times New Roman" pitchFamily="18" charset="0"/>
                </a:rPr>
                <a:t>dsfggggggggggggggggggggggggggggggg</a:t>
              </a:r>
            </a:p>
            <a:p>
              <a:pPr algn="just">
                <a:lnSpc>
                  <a:spcPct val="16000"/>
                </a:lnSpc>
                <a:defRPr/>
              </a:pPr>
              <a:r>
                <a:rPr lang="en-US" altLang="zh-CN" sz="100" b="0">
                  <a:solidFill>
                    <a:schemeClr val="tx1"/>
                  </a:solidFill>
                  <a:latin typeface="Times New Roman" pitchFamily="18" charset="0"/>
                </a:rPr>
                <a:t>ggggggggggggggggggggggg</a:t>
              </a:r>
            </a:p>
            <a:p>
              <a:pPr algn="just">
                <a:lnSpc>
                  <a:spcPct val="16000"/>
                </a:lnSpc>
                <a:defRPr/>
              </a:pPr>
              <a:r>
                <a:rPr lang="en-US" altLang="zh-CN" sz="100" b="0">
                  <a:solidFill>
                    <a:schemeClr val="tx1"/>
                  </a:solidFill>
                  <a:latin typeface="Times New Roman" pitchFamily="18" charset="0"/>
                </a:rPr>
                <a:t>gggggggggggggggggggggggggggg</a:t>
              </a:r>
              <a:endParaRPr lang="en-US" altLang="zh-CN" sz="500" b="0">
                <a:solidFill>
                  <a:schemeClr val="tx1"/>
                </a:solidFill>
                <a:latin typeface="Times New Roman" pitchFamily="18" charset="0"/>
              </a:endParaRPr>
            </a:p>
          </p:txBody>
        </p:sp>
        <p:sp>
          <p:nvSpPr>
            <p:cNvPr id="64" name="Line 217"/>
            <p:cNvSpPr>
              <a:spLocks noChangeShapeType="1"/>
            </p:cNvSpPr>
            <p:nvPr/>
          </p:nvSpPr>
          <p:spPr bwMode="auto">
            <a:xfrm>
              <a:off x="7681" y="10559"/>
              <a:ext cx="524" cy="0"/>
            </a:xfrm>
            <a:prstGeom prst="line">
              <a:avLst/>
            </a:prstGeom>
            <a:noFill/>
            <a:ln w="9525">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5" name="Text Box 218"/>
            <p:cNvSpPr txBox="1">
              <a:spLocks noChangeArrowheads="1"/>
            </p:cNvSpPr>
            <p:nvPr/>
          </p:nvSpPr>
          <p:spPr bwMode="auto">
            <a:xfrm>
              <a:off x="2334" y="10980"/>
              <a:ext cx="12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zh-CN" altLang="en-US" sz="900" b="0">
                  <a:solidFill>
                    <a:schemeClr val="tx1"/>
                  </a:solidFill>
                  <a:latin typeface="Times New Roman" panose="02020603050405020304" pitchFamily="18" charset="0"/>
                </a:rPr>
                <a:t>明文输入</a:t>
              </a:r>
            </a:p>
          </p:txBody>
        </p:sp>
        <p:sp>
          <p:nvSpPr>
            <p:cNvPr id="66" name="Text Box 219"/>
            <p:cNvSpPr txBox="1">
              <a:spLocks noChangeArrowheads="1"/>
            </p:cNvSpPr>
            <p:nvPr/>
          </p:nvSpPr>
          <p:spPr bwMode="auto">
            <a:xfrm>
              <a:off x="8004" y="10980"/>
              <a:ext cx="12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zh-CN" altLang="en-US" sz="900" b="0">
                  <a:solidFill>
                    <a:schemeClr val="tx1"/>
                  </a:solidFill>
                  <a:latin typeface="Times New Roman" panose="02020603050405020304" pitchFamily="18" charset="0"/>
                </a:rPr>
                <a:t>明文输出</a:t>
              </a:r>
            </a:p>
          </p:txBody>
        </p:sp>
        <p:sp>
          <p:nvSpPr>
            <p:cNvPr id="67" name="Text Box 220"/>
            <p:cNvSpPr txBox="1">
              <a:spLocks noChangeArrowheads="1"/>
            </p:cNvSpPr>
            <p:nvPr/>
          </p:nvSpPr>
          <p:spPr bwMode="auto">
            <a:xfrm>
              <a:off x="3351" y="10980"/>
              <a:ext cx="203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zh-CN" altLang="en-US" sz="900" b="0">
                  <a:solidFill>
                    <a:schemeClr val="tx1"/>
                  </a:solidFill>
                  <a:latin typeface="宋体" panose="02010600030101010101" pitchFamily="2" charset="-122"/>
                </a:rPr>
                <a:t>加密算法（如</a:t>
              </a:r>
              <a:r>
                <a:rPr lang="en-US" altLang="zh-CN" sz="900" b="0">
                  <a:solidFill>
                    <a:schemeClr val="tx1"/>
                  </a:solidFill>
                  <a:latin typeface="宋体" panose="02010600030101010101" pitchFamily="2" charset="-122"/>
                </a:rPr>
                <a:t>RSA</a:t>
              </a:r>
              <a:r>
                <a:rPr lang="zh-CN" altLang="en-US" sz="900" b="0">
                  <a:solidFill>
                    <a:schemeClr val="tx1"/>
                  </a:solidFill>
                  <a:latin typeface="宋体" panose="02010600030101010101" pitchFamily="2" charset="-122"/>
                </a:rPr>
                <a:t>）</a:t>
              </a:r>
            </a:p>
          </p:txBody>
        </p:sp>
        <p:sp>
          <p:nvSpPr>
            <p:cNvPr id="68" name="Text Box 221"/>
            <p:cNvSpPr txBox="1">
              <a:spLocks noChangeArrowheads="1"/>
            </p:cNvSpPr>
            <p:nvPr/>
          </p:nvSpPr>
          <p:spPr bwMode="auto">
            <a:xfrm>
              <a:off x="6186" y="10967"/>
              <a:ext cx="1890" cy="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lang="zh-CN" altLang="en-US" sz="900" b="0">
                  <a:solidFill>
                    <a:schemeClr val="tx1"/>
                  </a:solidFill>
                  <a:latin typeface="Times New Roman" panose="02020603050405020304" pitchFamily="18" charset="0"/>
                </a:rPr>
                <a:t>解密算法</a:t>
              </a:r>
            </a:p>
            <a:p>
              <a:r>
                <a:rPr lang="zh-CN" altLang="en-US" sz="900" b="0">
                  <a:solidFill>
                    <a:schemeClr val="tx1"/>
                  </a:solidFill>
                  <a:latin typeface="Times New Roman" panose="02020603050405020304" pitchFamily="18" charset="0"/>
                </a:rPr>
                <a:t>（加密算法的逆）</a:t>
              </a:r>
            </a:p>
          </p:txBody>
        </p:sp>
        <p:sp>
          <p:nvSpPr>
            <p:cNvPr id="69" name="Text Box 222"/>
            <p:cNvSpPr txBox="1">
              <a:spLocks noChangeArrowheads="1"/>
            </p:cNvSpPr>
            <p:nvPr/>
          </p:nvSpPr>
          <p:spPr bwMode="auto">
            <a:xfrm>
              <a:off x="4086" y="9094"/>
              <a:ext cx="136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Bob</a:t>
              </a:r>
              <a:r>
                <a:rPr lang="zh-CN" altLang="en-US" sz="900" b="0">
                  <a:solidFill>
                    <a:schemeClr val="tx1"/>
                  </a:solidFill>
                  <a:latin typeface="Times New Roman" panose="02020603050405020304" pitchFamily="18" charset="0"/>
                </a:rPr>
                <a:t>的私钥</a:t>
              </a:r>
            </a:p>
          </p:txBody>
        </p:sp>
        <p:grpSp>
          <p:nvGrpSpPr>
            <p:cNvPr id="70" name="Group 223"/>
            <p:cNvGrpSpPr>
              <a:grpSpLocks/>
            </p:cNvGrpSpPr>
            <p:nvPr/>
          </p:nvGrpSpPr>
          <p:grpSpPr bwMode="auto">
            <a:xfrm>
              <a:off x="6714" y="7686"/>
              <a:ext cx="1080" cy="936"/>
              <a:chOff x="6900" y="5496"/>
              <a:chExt cx="1080" cy="936"/>
            </a:xfrm>
          </p:grpSpPr>
          <p:sp>
            <p:nvSpPr>
              <p:cNvPr id="125" name="Oval 224"/>
              <p:cNvSpPr>
                <a:spLocks noChangeArrowheads="1"/>
              </p:cNvSpPr>
              <p:nvPr/>
            </p:nvSpPr>
            <p:spPr bwMode="auto">
              <a:xfrm>
                <a:off x="6902" y="5496"/>
                <a:ext cx="945" cy="935"/>
              </a:xfrm>
              <a:prstGeom prst="ellipse">
                <a:avLst/>
              </a:prstGeom>
              <a:solidFill>
                <a:srgbClr val="FFFFFF"/>
              </a:solid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26" name="Text Box 225"/>
              <p:cNvSpPr txBox="1">
                <a:spLocks noChangeArrowheads="1"/>
              </p:cNvSpPr>
              <p:nvPr/>
            </p:nvSpPr>
            <p:spPr bwMode="auto">
              <a:xfrm>
                <a:off x="6930" y="5571"/>
                <a:ext cx="1050"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Alice</a:t>
                </a:r>
                <a:r>
                  <a:rPr lang="zh-CN" altLang="en-US" sz="900" b="0">
                    <a:solidFill>
                      <a:schemeClr val="tx1"/>
                    </a:solidFill>
                    <a:latin typeface="Times New Roman" panose="02020603050405020304" pitchFamily="18" charset="0"/>
                  </a:rPr>
                  <a:t>的</a:t>
                </a:r>
              </a:p>
              <a:p>
                <a:pPr algn="just"/>
                <a:r>
                  <a:rPr lang="zh-CN" altLang="en-US" sz="900" b="0">
                    <a:solidFill>
                      <a:schemeClr val="tx1"/>
                    </a:solidFill>
                    <a:latin typeface="Times New Roman" panose="02020603050405020304" pitchFamily="18" charset="0"/>
                  </a:rPr>
                  <a:t>公钥环</a:t>
                </a:r>
                <a:endParaRPr lang="zh-CN" altLang="en-US" sz="1000" b="0">
                  <a:solidFill>
                    <a:schemeClr val="tx1"/>
                  </a:solidFill>
                  <a:latin typeface="Times New Roman" panose="02020603050405020304" pitchFamily="18" charset="0"/>
                </a:endParaRPr>
              </a:p>
            </p:txBody>
          </p:sp>
        </p:grpSp>
        <p:sp>
          <p:nvSpPr>
            <p:cNvPr id="71" name="Line 226"/>
            <p:cNvSpPr>
              <a:spLocks noChangeShapeType="1"/>
            </p:cNvSpPr>
            <p:nvPr/>
          </p:nvSpPr>
          <p:spPr bwMode="auto">
            <a:xfrm>
              <a:off x="4190" y="8938"/>
              <a:ext cx="0" cy="1092"/>
            </a:xfrm>
            <a:prstGeom prst="line">
              <a:avLst/>
            </a:prstGeom>
            <a:noFill/>
            <a:ln w="9525">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2" name="Text Box 227"/>
            <p:cNvSpPr txBox="1">
              <a:spLocks noChangeArrowheads="1"/>
            </p:cNvSpPr>
            <p:nvPr/>
          </p:nvSpPr>
          <p:spPr bwMode="auto">
            <a:xfrm>
              <a:off x="5031" y="10187"/>
              <a:ext cx="12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zh-CN" altLang="en-US" sz="900" b="0">
                  <a:solidFill>
                    <a:schemeClr val="tx1"/>
                  </a:solidFill>
                  <a:latin typeface="Times New Roman" panose="02020603050405020304" pitchFamily="18" charset="0"/>
                </a:rPr>
                <a:t>传输的密文 </a:t>
              </a:r>
            </a:p>
          </p:txBody>
        </p:sp>
        <p:sp>
          <p:nvSpPr>
            <p:cNvPr id="73" name="Text Box 228"/>
            <p:cNvSpPr txBox="1">
              <a:spLocks noChangeArrowheads="1"/>
            </p:cNvSpPr>
            <p:nvPr/>
          </p:nvSpPr>
          <p:spPr bwMode="auto">
            <a:xfrm>
              <a:off x="7041" y="9402"/>
              <a:ext cx="136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Bob</a:t>
              </a:r>
              <a:r>
                <a:rPr lang="zh-CN" altLang="en-US" sz="900" b="0">
                  <a:solidFill>
                    <a:schemeClr val="tx1"/>
                  </a:solidFill>
                  <a:latin typeface="Times New Roman" panose="02020603050405020304" pitchFamily="18" charset="0"/>
                </a:rPr>
                <a:t>的公钥</a:t>
              </a:r>
            </a:p>
          </p:txBody>
        </p:sp>
        <p:sp>
          <p:nvSpPr>
            <p:cNvPr id="74" name="Line 229"/>
            <p:cNvSpPr>
              <a:spLocks noChangeShapeType="1"/>
            </p:cNvSpPr>
            <p:nvPr/>
          </p:nvSpPr>
          <p:spPr bwMode="auto">
            <a:xfrm>
              <a:off x="7149" y="9245"/>
              <a:ext cx="0" cy="785"/>
            </a:xfrm>
            <a:prstGeom prst="line">
              <a:avLst/>
            </a:prstGeom>
            <a:noFill/>
            <a:ln w="9525">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5" name="Text Box 230"/>
            <p:cNvSpPr txBox="1">
              <a:spLocks noChangeArrowheads="1"/>
            </p:cNvSpPr>
            <p:nvPr/>
          </p:nvSpPr>
          <p:spPr bwMode="auto">
            <a:xfrm>
              <a:off x="4497" y="11550"/>
              <a:ext cx="1695"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1000" b="0">
                  <a:solidFill>
                    <a:schemeClr val="tx1"/>
                  </a:solidFill>
                  <a:latin typeface="Times New Roman" panose="02020603050405020304" pitchFamily="18" charset="0"/>
                </a:rPr>
                <a:t>(b) </a:t>
              </a:r>
              <a:r>
                <a:rPr lang="zh-CN" altLang="en-US" sz="1000" b="0">
                  <a:solidFill>
                    <a:schemeClr val="tx1"/>
                  </a:solidFill>
                  <a:latin typeface="Times New Roman" panose="02020603050405020304" pitchFamily="18" charset="0"/>
                </a:rPr>
                <a:t>认证</a:t>
              </a:r>
            </a:p>
          </p:txBody>
        </p:sp>
        <p:sp>
          <p:nvSpPr>
            <p:cNvPr id="76" name="Oval 231"/>
            <p:cNvSpPr>
              <a:spLocks noChangeArrowheads="1"/>
            </p:cNvSpPr>
            <p:nvPr/>
          </p:nvSpPr>
          <p:spPr bwMode="auto">
            <a:xfrm rot="2102963">
              <a:off x="3905" y="4419"/>
              <a:ext cx="179" cy="157"/>
            </a:xfrm>
            <a:prstGeom prst="ellips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77" name="Line 232"/>
            <p:cNvSpPr>
              <a:spLocks noChangeShapeType="1"/>
            </p:cNvSpPr>
            <p:nvPr/>
          </p:nvSpPr>
          <p:spPr bwMode="auto">
            <a:xfrm rot="2110719">
              <a:off x="3864" y="4546"/>
              <a:ext cx="0" cy="31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78" name="Line 233"/>
            <p:cNvSpPr>
              <a:spLocks noChangeShapeType="1"/>
            </p:cNvSpPr>
            <p:nvPr/>
          </p:nvSpPr>
          <p:spPr bwMode="auto">
            <a:xfrm rot="2120645">
              <a:off x="3635" y="4753"/>
              <a:ext cx="179"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79" name="Line 234"/>
            <p:cNvSpPr>
              <a:spLocks noChangeShapeType="1"/>
            </p:cNvSpPr>
            <p:nvPr/>
          </p:nvSpPr>
          <p:spPr bwMode="auto">
            <a:xfrm rot="2120645">
              <a:off x="3713" y="4652"/>
              <a:ext cx="181" cy="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80" name="Text Box 235"/>
            <p:cNvSpPr txBox="1">
              <a:spLocks noChangeArrowheads="1"/>
            </p:cNvSpPr>
            <p:nvPr/>
          </p:nvSpPr>
          <p:spPr bwMode="auto">
            <a:xfrm>
              <a:off x="714" y="6438"/>
              <a:ext cx="255"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endParaRPr lang="zh-CN" altLang="zh-CN" sz="1000" b="0">
                <a:solidFill>
                  <a:schemeClr val="tx1"/>
                </a:solidFill>
                <a:latin typeface="Times New Roman" panose="02020603050405020304" pitchFamily="18" charset="0"/>
              </a:endParaRPr>
            </a:p>
          </p:txBody>
        </p:sp>
        <p:sp>
          <p:nvSpPr>
            <p:cNvPr id="81" name="Oval 236"/>
            <p:cNvSpPr>
              <a:spLocks noChangeArrowheads="1"/>
            </p:cNvSpPr>
            <p:nvPr/>
          </p:nvSpPr>
          <p:spPr bwMode="auto">
            <a:xfrm>
              <a:off x="4131" y="4475"/>
              <a:ext cx="181" cy="157"/>
            </a:xfrm>
            <a:prstGeom prst="ellips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82" name="Line 237"/>
            <p:cNvSpPr>
              <a:spLocks noChangeShapeType="1"/>
            </p:cNvSpPr>
            <p:nvPr/>
          </p:nvSpPr>
          <p:spPr bwMode="auto">
            <a:xfrm>
              <a:off x="4224" y="4632"/>
              <a:ext cx="0" cy="31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83" name="Line 238"/>
            <p:cNvSpPr>
              <a:spLocks noChangeShapeType="1"/>
            </p:cNvSpPr>
            <p:nvPr/>
          </p:nvSpPr>
          <p:spPr bwMode="auto">
            <a:xfrm>
              <a:off x="4045" y="4914"/>
              <a:ext cx="179"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84" name="Line 239"/>
            <p:cNvSpPr>
              <a:spLocks noChangeShapeType="1"/>
            </p:cNvSpPr>
            <p:nvPr/>
          </p:nvSpPr>
          <p:spPr bwMode="auto">
            <a:xfrm>
              <a:off x="4045" y="4759"/>
              <a:ext cx="179"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85" name="Oval 240"/>
            <p:cNvSpPr>
              <a:spLocks noChangeArrowheads="1"/>
            </p:cNvSpPr>
            <p:nvPr/>
          </p:nvSpPr>
          <p:spPr bwMode="auto">
            <a:xfrm rot="3089496">
              <a:off x="3722" y="4247"/>
              <a:ext cx="181" cy="156"/>
            </a:xfrm>
            <a:prstGeom prst="ellips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86" name="Line 241"/>
            <p:cNvSpPr>
              <a:spLocks noChangeShapeType="1"/>
            </p:cNvSpPr>
            <p:nvPr/>
          </p:nvSpPr>
          <p:spPr bwMode="auto">
            <a:xfrm rot="3081760">
              <a:off x="3649" y="4328"/>
              <a:ext cx="0" cy="31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87" name="Line 242"/>
            <p:cNvSpPr>
              <a:spLocks noChangeShapeType="1"/>
            </p:cNvSpPr>
            <p:nvPr/>
          </p:nvSpPr>
          <p:spPr bwMode="auto">
            <a:xfrm rot="3089305">
              <a:off x="3416" y="4501"/>
              <a:ext cx="181"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88" name="Line 243"/>
            <p:cNvSpPr>
              <a:spLocks noChangeShapeType="1"/>
            </p:cNvSpPr>
            <p:nvPr/>
          </p:nvSpPr>
          <p:spPr bwMode="auto">
            <a:xfrm rot="3089305">
              <a:off x="3496" y="4414"/>
              <a:ext cx="181" cy="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89" name="Oval 244"/>
            <p:cNvSpPr>
              <a:spLocks noChangeArrowheads="1"/>
            </p:cNvSpPr>
            <p:nvPr/>
          </p:nvSpPr>
          <p:spPr bwMode="auto">
            <a:xfrm rot="-2869613">
              <a:off x="4372" y="4422"/>
              <a:ext cx="178" cy="156"/>
            </a:xfrm>
            <a:prstGeom prst="ellips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90" name="Line 245"/>
            <p:cNvSpPr>
              <a:spLocks noChangeShapeType="1"/>
            </p:cNvSpPr>
            <p:nvPr/>
          </p:nvSpPr>
          <p:spPr bwMode="auto">
            <a:xfrm rot="-2891398">
              <a:off x="4636" y="4507"/>
              <a:ext cx="2" cy="31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91" name="Line 246"/>
            <p:cNvSpPr>
              <a:spLocks noChangeShapeType="1"/>
            </p:cNvSpPr>
            <p:nvPr/>
          </p:nvSpPr>
          <p:spPr bwMode="auto">
            <a:xfrm rot="40375042">
              <a:off x="4474" y="4715"/>
              <a:ext cx="181" cy="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92" name="Line 247"/>
            <p:cNvSpPr>
              <a:spLocks noChangeShapeType="1"/>
            </p:cNvSpPr>
            <p:nvPr/>
          </p:nvSpPr>
          <p:spPr bwMode="auto">
            <a:xfrm rot="40375042">
              <a:off x="4583" y="4795"/>
              <a:ext cx="181" cy="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93" name="Text Box 248"/>
            <p:cNvSpPr txBox="1">
              <a:spLocks noChangeArrowheads="1"/>
            </p:cNvSpPr>
            <p:nvPr/>
          </p:nvSpPr>
          <p:spPr bwMode="auto">
            <a:xfrm>
              <a:off x="4704" y="4722"/>
              <a:ext cx="3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Ted</a:t>
              </a:r>
            </a:p>
          </p:txBody>
        </p:sp>
        <p:sp>
          <p:nvSpPr>
            <p:cNvPr id="94" name="Text Box 249"/>
            <p:cNvSpPr txBox="1">
              <a:spLocks noChangeArrowheads="1"/>
            </p:cNvSpPr>
            <p:nvPr/>
          </p:nvSpPr>
          <p:spPr bwMode="auto">
            <a:xfrm>
              <a:off x="3954" y="4872"/>
              <a:ext cx="72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Alice</a:t>
              </a:r>
            </a:p>
          </p:txBody>
        </p:sp>
        <p:sp>
          <p:nvSpPr>
            <p:cNvPr id="95" name="Text Box 250"/>
            <p:cNvSpPr txBox="1">
              <a:spLocks noChangeArrowheads="1"/>
            </p:cNvSpPr>
            <p:nvPr/>
          </p:nvSpPr>
          <p:spPr bwMode="auto">
            <a:xfrm>
              <a:off x="3414" y="4722"/>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Mike</a:t>
              </a:r>
            </a:p>
          </p:txBody>
        </p:sp>
        <p:sp>
          <p:nvSpPr>
            <p:cNvPr id="96" name="Text Box 251"/>
            <p:cNvSpPr txBox="1">
              <a:spLocks noChangeArrowheads="1"/>
            </p:cNvSpPr>
            <p:nvPr/>
          </p:nvSpPr>
          <p:spPr bwMode="auto">
            <a:xfrm>
              <a:off x="3234" y="4410"/>
              <a:ext cx="3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Joy</a:t>
              </a:r>
            </a:p>
          </p:txBody>
        </p:sp>
        <p:sp>
          <p:nvSpPr>
            <p:cNvPr id="97" name="Oval 252"/>
            <p:cNvSpPr>
              <a:spLocks noChangeArrowheads="1"/>
            </p:cNvSpPr>
            <p:nvPr/>
          </p:nvSpPr>
          <p:spPr bwMode="auto">
            <a:xfrm rot="2102963">
              <a:off x="6874" y="8490"/>
              <a:ext cx="181" cy="157"/>
            </a:xfrm>
            <a:prstGeom prst="ellips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98" name="Line 253"/>
            <p:cNvSpPr>
              <a:spLocks noChangeShapeType="1"/>
            </p:cNvSpPr>
            <p:nvPr/>
          </p:nvSpPr>
          <p:spPr bwMode="auto">
            <a:xfrm rot="2110719">
              <a:off x="6834" y="8617"/>
              <a:ext cx="2" cy="31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99" name="Line 254"/>
            <p:cNvSpPr>
              <a:spLocks noChangeShapeType="1"/>
            </p:cNvSpPr>
            <p:nvPr/>
          </p:nvSpPr>
          <p:spPr bwMode="auto">
            <a:xfrm rot="2120645">
              <a:off x="6604" y="8824"/>
              <a:ext cx="181"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00" name="Line 255"/>
            <p:cNvSpPr>
              <a:spLocks noChangeShapeType="1"/>
            </p:cNvSpPr>
            <p:nvPr/>
          </p:nvSpPr>
          <p:spPr bwMode="auto">
            <a:xfrm rot="2120645">
              <a:off x="6683" y="8723"/>
              <a:ext cx="181" cy="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01" name="Oval 256"/>
            <p:cNvSpPr>
              <a:spLocks noChangeArrowheads="1"/>
            </p:cNvSpPr>
            <p:nvPr/>
          </p:nvSpPr>
          <p:spPr bwMode="auto">
            <a:xfrm>
              <a:off x="7100" y="8546"/>
              <a:ext cx="181" cy="157"/>
            </a:xfrm>
            <a:prstGeom prst="ellips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02" name="Line 257"/>
            <p:cNvSpPr>
              <a:spLocks noChangeShapeType="1"/>
            </p:cNvSpPr>
            <p:nvPr/>
          </p:nvSpPr>
          <p:spPr bwMode="auto">
            <a:xfrm>
              <a:off x="7193" y="8703"/>
              <a:ext cx="0" cy="31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03" name="Line 258"/>
            <p:cNvSpPr>
              <a:spLocks noChangeShapeType="1"/>
            </p:cNvSpPr>
            <p:nvPr/>
          </p:nvSpPr>
          <p:spPr bwMode="auto">
            <a:xfrm>
              <a:off x="7015" y="8985"/>
              <a:ext cx="179"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04" name="Line 259"/>
            <p:cNvSpPr>
              <a:spLocks noChangeShapeType="1"/>
            </p:cNvSpPr>
            <p:nvPr/>
          </p:nvSpPr>
          <p:spPr bwMode="auto">
            <a:xfrm>
              <a:off x="7015" y="8830"/>
              <a:ext cx="179"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05" name="Oval 260"/>
            <p:cNvSpPr>
              <a:spLocks noChangeArrowheads="1"/>
            </p:cNvSpPr>
            <p:nvPr/>
          </p:nvSpPr>
          <p:spPr bwMode="auto">
            <a:xfrm rot="3089496">
              <a:off x="6692" y="8318"/>
              <a:ext cx="181" cy="156"/>
            </a:xfrm>
            <a:prstGeom prst="ellips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06" name="Line 261"/>
            <p:cNvSpPr>
              <a:spLocks noChangeShapeType="1"/>
            </p:cNvSpPr>
            <p:nvPr/>
          </p:nvSpPr>
          <p:spPr bwMode="auto">
            <a:xfrm rot="3081760">
              <a:off x="6618" y="8399"/>
              <a:ext cx="0" cy="31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07" name="Line 262"/>
            <p:cNvSpPr>
              <a:spLocks noChangeShapeType="1"/>
            </p:cNvSpPr>
            <p:nvPr/>
          </p:nvSpPr>
          <p:spPr bwMode="auto">
            <a:xfrm rot="3089305">
              <a:off x="6386" y="8572"/>
              <a:ext cx="181"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08" name="Line 263"/>
            <p:cNvSpPr>
              <a:spLocks noChangeShapeType="1"/>
            </p:cNvSpPr>
            <p:nvPr/>
          </p:nvSpPr>
          <p:spPr bwMode="auto">
            <a:xfrm rot="3089305">
              <a:off x="6468" y="8483"/>
              <a:ext cx="181" cy="5"/>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09" name="Oval 264"/>
            <p:cNvSpPr>
              <a:spLocks noChangeArrowheads="1"/>
            </p:cNvSpPr>
            <p:nvPr/>
          </p:nvSpPr>
          <p:spPr bwMode="auto">
            <a:xfrm rot="-2869613">
              <a:off x="7342" y="8493"/>
              <a:ext cx="178" cy="156"/>
            </a:xfrm>
            <a:prstGeom prst="ellips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10" name="Line 265"/>
            <p:cNvSpPr>
              <a:spLocks noChangeShapeType="1"/>
            </p:cNvSpPr>
            <p:nvPr/>
          </p:nvSpPr>
          <p:spPr bwMode="auto">
            <a:xfrm rot="-2891398">
              <a:off x="7608" y="8578"/>
              <a:ext cx="2" cy="31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11" name="Line 266"/>
            <p:cNvSpPr>
              <a:spLocks noChangeShapeType="1"/>
            </p:cNvSpPr>
            <p:nvPr/>
          </p:nvSpPr>
          <p:spPr bwMode="auto">
            <a:xfrm rot="40375042">
              <a:off x="7444" y="8786"/>
              <a:ext cx="181" cy="2"/>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12" name="Line 267"/>
            <p:cNvSpPr>
              <a:spLocks noChangeShapeType="1"/>
            </p:cNvSpPr>
            <p:nvPr/>
          </p:nvSpPr>
          <p:spPr bwMode="auto">
            <a:xfrm rot="40375042">
              <a:off x="7555" y="8867"/>
              <a:ext cx="181"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13" name="Text Box 268"/>
            <p:cNvSpPr txBox="1">
              <a:spLocks noChangeArrowheads="1"/>
            </p:cNvSpPr>
            <p:nvPr/>
          </p:nvSpPr>
          <p:spPr bwMode="auto">
            <a:xfrm>
              <a:off x="7674" y="8793"/>
              <a:ext cx="3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Ted</a:t>
              </a:r>
            </a:p>
          </p:txBody>
        </p:sp>
        <p:sp>
          <p:nvSpPr>
            <p:cNvPr id="114" name="Text Box 269"/>
            <p:cNvSpPr txBox="1">
              <a:spLocks noChangeArrowheads="1"/>
            </p:cNvSpPr>
            <p:nvPr/>
          </p:nvSpPr>
          <p:spPr bwMode="auto">
            <a:xfrm>
              <a:off x="6924" y="8949"/>
              <a:ext cx="45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Bob</a:t>
              </a:r>
            </a:p>
          </p:txBody>
        </p:sp>
        <p:sp>
          <p:nvSpPr>
            <p:cNvPr id="115" name="Text Box 270"/>
            <p:cNvSpPr txBox="1">
              <a:spLocks noChangeArrowheads="1"/>
            </p:cNvSpPr>
            <p:nvPr/>
          </p:nvSpPr>
          <p:spPr bwMode="auto">
            <a:xfrm>
              <a:off x="6384" y="8793"/>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r>
                <a:rPr lang="en-US" altLang="zh-CN" sz="900" b="0">
                  <a:solidFill>
                    <a:schemeClr val="tx1"/>
                  </a:solidFill>
                  <a:latin typeface="Times New Roman" panose="02020603050405020304" pitchFamily="18" charset="0"/>
                </a:rPr>
                <a:t>Mike</a:t>
              </a:r>
            </a:p>
          </p:txBody>
        </p:sp>
        <p:sp>
          <p:nvSpPr>
            <p:cNvPr id="116" name="Text Box 271"/>
            <p:cNvSpPr txBox="1">
              <a:spLocks noChangeArrowheads="1"/>
            </p:cNvSpPr>
            <p:nvPr/>
          </p:nvSpPr>
          <p:spPr bwMode="auto">
            <a:xfrm>
              <a:off x="6204" y="8481"/>
              <a:ext cx="3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a:endParaRPr lang="zh-CN" altLang="zh-CN" sz="1000" b="0">
                <a:solidFill>
                  <a:schemeClr val="tx1"/>
                </a:solidFill>
                <a:latin typeface="Times New Roman" panose="02020603050405020304" pitchFamily="18" charset="0"/>
              </a:endParaRPr>
            </a:p>
          </p:txBody>
        </p:sp>
        <p:sp>
          <p:nvSpPr>
            <p:cNvPr id="117" name="Oval 272"/>
            <p:cNvSpPr>
              <a:spLocks noChangeArrowheads="1"/>
            </p:cNvSpPr>
            <p:nvPr/>
          </p:nvSpPr>
          <p:spPr bwMode="auto">
            <a:xfrm>
              <a:off x="4118" y="7976"/>
              <a:ext cx="361" cy="312"/>
            </a:xfrm>
            <a:prstGeom prst="ellipse">
              <a:avLst/>
            </a:prstGeom>
            <a:solidFill>
              <a:srgbClr val="FFFFFF"/>
            </a:solid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18" name="Line 273"/>
            <p:cNvSpPr>
              <a:spLocks noChangeShapeType="1"/>
            </p:cNvSpPr>
            <p:nvPr/>
          </p:nvSpPr>
          <p:spPr bwMode="auto">
            <a:xfrm>
              <a:off x="4299" y="8288"/>
              <a:ext cx="0" cy="626"/>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19" name="Line 274"/>
            <p:cNvSpPr>
              <a:spLocks noChangeShapeType="1"/>
            </p:cNvSpPr>
            <p:nvPr/>
          </p:nvSpPr>
          <p:spPr bwMode="auto">
            <a:xfrm flipH="1">
              <a:off x="4118" y="8847"/>
              <a:ext cx="181"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20" name="Line 275"/>
            <p:cNvSpPr>
              <a:spLocks noChangeShapeType="1"/>
            </p:cNvSpPr>
            <p:nvPr/>
          </p:nvSpPr>
          <p:spPr bwMode="auto">
            <a:xfrm flipH="1">
              <a:off x="4118" y="8645"/>
              <a:ext cx="181"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21" name="Oval 276"/>
            <p:cNvSpPr>
              <a:spLocks noChangeArrowheads="1"/>
            </p:cNvSpPr>
            <p:nvPr/>
          </p:nvSpPr>
          <p:spPr bwMode="auto">
            <a:xfrm>
              <a:off x="7074" y="3802"/>
              <a:ext cx="359" cy="312"/>
            </a:xfrm>
            <a:prstGeom prst="ellipse">
              <a:avLst/>
            </a:prstGeom>
            <a:solidFill>
              <a:srgbClr val="FFFFFF"/>
            </a:solid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22" name="Line 277"/>
            <p:cNvSpPr>
              <a:spLocks noChangeShapeType="1"/>
            </p:cNvSpPr>
            <p:nvPr/>
          </p:nvSpPr>
          <p:spPr bwMode="auto">
            <a:xfrm>
              <a:off x="7255" y="4114"/>
              <a:ext cx="0" cy="624"/>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23" name="Line 278"/>
            <p:cNvSpPr>
              <a:spLocks noChangeShapeType="1"/>
            </p:cNvSpPr>
            <p:nvPr/>
          </p:nvSpPr>
          <p:spPr bwMode="auto">
            <a:xfrm flipH="1">
              <a:off x="7074" y="4671"/>
              <a:ext cx="181"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124" name="Line 279"/>
            <p:cNvSpPr>
              <a:spLocks noChangeShapeType="1"/>
            </p:cNvSpPr>
            <p:nvPr/>
          </p:nvSpPr>
          <p:spPr bwMode="auto">
            <a:xfrm flipH="1">
              <a:off x="7074" y="4471"/>
              <a:ext cx="181" cy="0"/>
            </a:xfrm>
            <a:prstGeom prst="line">
              <a:avLst/>
            </a:prstGeom>
            <a:noFill/>
            <a:ln w="9525">
              <a:solidFill>
                <a:srgbClr val="0000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705798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5.1.1 </a:t>
            </a:r>
            <a:r>
              <a:rPr kumimoji="1" lang="zh-CN" altLang="zh-CN" dirty="0">
                <a:solidFill>
                  <a:prstClr val="black"/>
                </a:solidFill>
              </a:rPr>
              <a:t>公钥密码思想</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用公钥密码实现保密</a:t>
            </a:r>
            <a:endParaRPr lang="en-US" altLang="zh-CN" dirty="0"/>
          </a:p>
          <a:p>
            <a:pPr lvl="1">
              <a:lnSpc>
                <a:spcPct val="150000"/>
              </a:lnSpc>
              <a:buClr>
                <a:srgbClr val="000066"/>
              </a:buClr>
              <a:buSzPct val="80000"/>
              <a:buFontTx/>
              <a:buChar char="•"/>
            </a:pPr>
            <a:r>
              <a:rPr kumimoji="1" lang="zh-CN" altLang="en-US" dirty="0">
                <a:solidFill>
                  <a:srgbClr val="000066"/>
                </a:solidFill>
                <a:latin typeface="Times New Roman" panose="02020603050405020304" pitchFamily="18" charset="0"/>
              </a:rPr>
              <a:t>用户拥有自己的密钥对</a:t>
            </a:r>
            <a:r>
              <a:rPr kumimoji="1" lang="en-US" altLang="zh-CN" dirty="0">
                <a:solidFill>
                  <a:srgbClr val="000066"/>
                </a:solidFill>
                <a:latin typeface="Times New Roman" panose="02020603050405020304" pitchFamily="18" charset="0"/>
              </a:rPr>
              <a:t>(K</a:t>
            </a:r>
            <a:r>
              <a:rPr kumimoji="1" lang="en-US" altLang="zh-CN" baseline="-25000" dirty="0">
                <a:solidFill>
                  <a:srgbClr val="000066"/>
                </a:solidFill>
                <a:latin typeface="Times New Roman" panose="02020603050405020304" pitchFamily="18" charset="0"/>
              </a:rPr>
              <a:t>U</a:t>
            </a:r>
            <a:r>
              <a:rPr kumimoji="1" lang="en-US" altLang="zh-CN" dirty="0">
                <a:solidFill>
                  <a:srgbClr val="000066"/>
                </a:solidFill>
                <a:latin typeface="Times New Roman" panose="02020603050405020304" pitchFamily="18" charset="0"/>
              </a:rPr>
              <a:t>,K</a:t>
            </a:r>
            <a:r>
              <a:rPr kumimoji="1" lang="en-US" altLang="zh-CN" baseline="-25000" dirty="0">
                <a:solidFill>
                  <a:srgbClr val="000066"/>
                </a:solidFill>
                <a:latin typeface="Times New Roman" panose="02020603050405020304" pitchFamily="18" charset="0"/>
              </a:rPr>
              <a:t>R</a:t>
            </a:r>
            <a:r>
              <a:rPr kumimoji="1" lang="en-US" altLang="zh-CN" dirty="0">
                <a:solidFill>
                  <a:srgbClr val="000066"/>
                </a:solidFill>
                <a:latin typeface="Times New Roman" panose="02020603050405020304" pitchFamily="18" charset="0"/>
              </a:rPr>
              <a:t>)</a:t>
            </a:r>
          </a:p>
          <a:p>
            <a:pPr lvl="1">
              <a:lnSpc>
                <a:spcPct val="150000"/>
              </a:lnSpc>
              <a:buClr>
                <a:srgbClr val="000066"/>
              </a:buClr>
              <a:buSzPct val="80000"/>
              <a:buFontTx/>
              <a:buChar char="•"/>
            </a:pPr>
            <a:r>
              <a:rPr kumimoji="1" lang="zh-CN" altLang="en-US" dirty="0">
                <a:solidFill>
                  <a:srgbClr val="000066"/>
                </a:solidFill>
                <a:latin typeface="Times New Roman" panose="02020603050405020304" pitchFamily="18" charset="0"/>
              </a:rPr>
              <a:t>公钥</a:t>
            </a:r>
            <a:r>
              <a:rPr kumimoji="1" lang="en-US" altLang="zh-CN" dirty="0">
                <a:solidFill>
                  <a:srgbClr val="000066"/>
                </a:solidFill>
                <a:latin typeface="Times New Roman" panose="02020603050405020304" pitchFamily="18" charset="0"/>
              </a:rPr>
              <a:t>K</a:t>
            </a:r>
            <a:r>
              <a:rPr kumimoji="1" lang="en-US" altLang="zh-CN" baseline="-25000" dirty="0">
                <a:solidFill>
                  <a:srgbClr val="000066"/>
                </a:solidFill>
                <a:latin typeface="Times New Roman" panose="02020603050405020304" pitchFamily="18" charset="0"/>
              </a:rPr>
              <a:t>U</a:t>
            </a:r>
            <a:r>
              <a:rPr kumimoji="1" lang="zh-CN" altLang="en-US" dirty="0">
                <a:solidFill>
                  <a:srgbClr val="000066"/>
                </a:solidFill>
                <a:latin typeface="Times New Roman" panose="02020603050405020304" pitchFamily="18" charset="0"/>
              </a:rPr>
              <a:t>公开</a:t>
            </a:r>
            <a:r>
              <a:rPr kumimoji="1" lang="en-US" altLang="zh-CN" dirty="0">
                <a:solidFill>
                  <a:srgbClr val="000066"/>
                </a:solidFill>
                <a:latin typeface="Times New Roman" panose="02020603050405020304" pitchFamily="18" charset="0"/>
              </a:rPr>
              <a:t>,</a:t>
            </a:r>
            <a:r>
              <a:rPr kumimoji="1" lang="zh-CN" altLang="en-US" dirty="0">
                <a:solidFill>
                  <a:srgbClr val="000066"/>
                </a:solidFill>
                <a:latin typeface="Times New Roman" panose="02020603050405020304" pitchFamily="18" charset="0"/>
              </a:rPr>
              <a:t>私钥</a:t>
            </a:r>
            <a:r>
              <a:rPr kumimoji="1" lang="en-US" altLang="zh-CN" dirty="0">
                <a:solidFill>
                  <a:srgbClr val="000066"/>
                </a:solidFill>
                <a:latin typeface="Times New Roman" panose="02020603050405020304" pitchFamily="18" charset="0"/>
              </a:rPr>
              <a:t>K</a:t>
            </a:r>
            <a:r>
              <a:rPr kumimoji="1" lang="en-US" altLang="zh-CN" baseline="-25000" dirty="0">
                <a:solidFill>
                  <a:srgbClr val="000066"/>
                </a:solidFill>
                <a:latin typeface="Times New Roman" panose="02020603050405020304" pitchFamily="18" charset="0"/>
              </a:rPr>
              <a:t>R</a:t>
            </a:r>
            <a:r>
              <a:rPr kumimoji="1" lang="zh-CN" altLang="en-US" dirty="0">
                <a:solidFill>
                  <a:srgbClr val="000066"/>
                </a:solidFill>
                <a:latin typeface="Times New Roman" panose="02020603050405020304" pitchFamily="18" charset="0"/>
              </a:rPr>
              <a:t>保密</a:t>
            </a:r>
          </a:p>
          <a:p>
            <a:pPr lvl="1">
              <a:lnSpc>
                <a:spcPct val="150000"/>
              </a:lnSpc>
              <a:buClr>
                <a:srgbClr val="000066"/>
              </a:buClr>
              <a:buSzPct val="80000"/>
              <a:buFontTx/>
              <a:buChar char="•"/>
            </a:pPr>
            <a:r>
              <a:rPr kumimoji="1" lang="en-US" altLang="zh-CN" dirty="0">
                <a:solidFill>
                  <a:srgbClr val="000066"/>
                </a:solidFill>
                <a:latin typeface="Times New Roman" panose="02020603050405020304" pitchFamily="18" charset="0"/>
              </a:rPr>
              <a:t>A</a:t>
            </a:r>
            <a:r>
              <a:rPr kumimoji="1" lang="en-US" altLang="zh-CN" dirty="0">
                <a:solidFill>
                  <a:srgbClr val="000066"/>
                </a:solidFill>
                <a:latin typeface="Times New Roman" panose="02020603050405020304" pitchFamily="18" charset="0"/>
                <a:sym typeface="Wingdings" panose="05000000000000000000" pitchFamily="2" charset="2"/>
              </a:rPr>
              <a:t></a:t>
            </a:r>
            <a:r>
              <a:rPr kumimoji="1" lang="en-US" altLang="zh-CN" dirty="0">
                <a:solidFill>
                  <a:srgbClr val="000066"/>
                </a:solidFill>
                <a:latin typeface="Times New Roman" panose="02020603050405020304" pitchFamily="18" charset="0"/>
              </a:rPr>
              <a:t>B: Y=</a:t>
            </a:r>
            <a:r>
              <a:rPr kumimoji="1" lang="en-US" altLang="zh-CN" dirty="0" err="1">
                <a:solidFill>
                  <a:srgbClr val="000066"/>
                </a:solidFill>
                <a:latin typeface="Times New Roman" panose="02020603050405020304" pitchFamily="18" charset="0"/>
              </a:rPr>
              <a:t>E</a:t>
            </a:r>
            <a:r>
              <a:rPr kumimoji="1" lang="en-US" altLang="zh-CN" baseline="-25000" dirty="0" err="1">
                <a:solidFill>
                  <a:srgbClr val="000066"/>
                </a:solidFill>
                <a:latin typeface="Times New Roman" panose="02020603050405020304" pitchFamily="18" charset="0"/>
              </a:rPr>
              <a:t>KUb</a:t>
            </a:r>
            <a:r>
              <a:rPr kumimoji="1" lang="en-US" altLang="zh-CN" dirty="0">
                <a:solidFill>
                  <a:srgbClr val="000066"/>
                </a:solidFill>
                <a:latin typeface="Times New Roman" panose="02020603050405020304" pitchFamily="18" charset="0"/>
              </a:rPr>
              <a:t>(X)</a:t>
            </a:r>
          </a:p>
          <a:p>
            <a:pPr lvl="1">
              <a:lnSpc>
                <a:spcPct val="150000"/>
              </a:lnSpc>
              <a:buClr>
                <a:srgbClr val="000066"/>
              </a:buClr>
              <a:buSzPct val="80000"/>
              <a:buFontTx/>
              <a:buChar char="•"/>
            </a:pPr>
            <a:r>
              <a:rPr kumimoji="1" lang="en-US" altLang="zh-CN" dirty="0">
                <a:solidFill>
                  <a:srgbClr val="000066"/>
                </a:solidFill>
                <a:latin typeface="Times New Roman" panose="02020603050405020304" pitchFamily="18" charset="0"/>
              </a:rPr>
              <a:t>B: </a:t>
            </a:r>
            <a:r>
              <a:rPr kumimoji="1" lang="en-US" altLang="zh-CN" dirty="0" err="1">
                <a:solidFill>
                  <a:srgbClr val="000066"/>
                </a:solidFill>
                <a:latin typeface="Times New Roman" panose="02020603050405020304" pitchFamily="18" charset="0"/>
              </a:rPr>
              <a:t>D</a:t>
            </a:r>
            <a:r>
              <a:rPr kumimoji="1" lang="en-US" altLang="zh-CN" baseline="-25000" dirty="0" err="1">
                <a:solidFill>
                  <a:srgbClr val="000066"/>
                </a:solidFill>
                <a:latin typeface="Times New Roman" panose="02020603050405020304" pitchFamily="18" charset="0"/>
              </a:rPr>
              <a:t>KRb</a:t>
            </a:r>
            <a:r>
              <a:rPr kumimoji="1" lang="en-US" altLang="zh-CN" dirty="0">
                <a:solidFill>
                  <a:srgbClr val="000066"/>
                </a:solidFill>
                <a:latin typeface="Times New Roman" panose="02020603050405020304" pitchFamily="18" charset="0"/>
              </a:rPr>
              <a:t>(Y)= </a:t>
            </a:r>
            <a:r>
              <a:rPr kumimoji="1" lang="en-US" altLang="zh-CN" dirty="0" err="1">
                <a:solidFill>
                  <a:srgbClr val="000066"/>
                </a:solidFill>
                <a:latin typeface="Times New Roman" panose="02020603050405020304" pitchFamily="18" charset="0"/>
              </a:rPr>
              <a:t>D</a:t>
            </a:r>
            <a:r>
              <a:rPr kumimoji="1" lang="en-US" altLang="zh-CN" baseline="-25000" dirty="0" err="1">
                <a:solidFill>
                  <a:srgbClr val="000066"/>
                </a:solidFill>
                <a:latin typeface="Times New Roman" panose="02020603050405020304" pitchFamily="18" charset="0"/>
              </a:rPr>
              <a:t>KRb</a:t>
            </a:r>
            <a:r>
              <a:rPr kumimoji="1" lang="en-US" altLang="zh-CN" dirty="0">
                <a:solidFill>
                  <a:srgbClr val="000066"/>
                </a:solidFill>
                <a:latin typeface="Times New Roman" panose="02020603050405020304" pitchFamily="18" charset="0"/>
              </a:rPr>
              <a:t>(</a:t>
            </a:r>
            <a:r>
              <a:rPr kumimoji="1" lang="en-US" altLang="zh-CN" dirty="0" err="1">
                <a:solidFill>
                  <a:srgbClr val="000066"/>
                </a:solidFill>
                <a:latin typeface="Times New Roman" panose="02020603050405020304" pitchFamily="18" charset="0"/>
              </a:rPr>
              <a:t>E</a:t>
            </a:r>
            <a:r>
              <a:rPr kumimoji="1" lang="en-US" altLang="zh-CN" baseline="-25000" dirty="0" err="1">
                <a:solidFill>
                  <a:srgbClr val="000066"/>
                </a:solidFill>
                <a:latin typeface="Times New Roman" panose="02020603050405020304" pitchFamily="18" charset="0"/>
              </a:rPr>
              <a:t>KUb</a:t>
            </a:r>
            <a:r>
              <a:rPr kumimoji="1" lang="en-US" altLang="zh-CN" dirty="0">
                <a:solidFill>
                  <a:srgbClr val="000066"/>
                </a:solidFill>
                <a:latin typeface="Times New Roman" panose="02020603050405020304" pitchFamily="18" charset="0"/>
              </a:rPr>
              <a:t>(X))=X</a:t>
            </a:r>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a:t>
            </a:fld>
            <a:endParaRPr kumimoji="1" lang="zh-CN" altLang="en-US" dirty="0"/>
          </a:p>
        </p:txBody>
      </p:sp>
    </p:spTree>
    <p:extLst>
      <p:ext uri="{BB962C8B-B14F-4D97-AF65-F5344CB8AC3E}">
        <p14:creationId xmlns:p14="http://schemas.microsoft.com/office/powerpoint/2010/main" val="3732810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5.1.1 </a:t>
            </a:r>
            <a:r>
              <a:rPr kumimoji="1" lang="zh-CN" altLang="zh-CN" dirty="0">
                <a:solidFill>
                  <a:prstClr val="black"/>
                </a:solidFill>
              </a:rPr>
              <a:t>公钥密码思想</a:t>
            </a:r>
            <a:endParaRPr lang="zh-CN" altLang="en-US" dirty="0"/>
          </a:p>
        </p:txBody>
      </p:sp>
      <p:sp>
        <p:nvSpPr>
          <p:cNvPr id="3" name="内容占位符 2"/>
          <p:cNvSpPr>
            <a:spLocks noGrp="1"/>
          </p:cNvSpPr>
          <p:nvPr>
            <p:ph idx="1"/>
          </p:nvPr>
        </p:nvSpPr>
        <p:spPr>
          <a:xfrm>
            <a:off x="838200" y="1365661"/>
            <a:ext cx="10515600" cy="4880759"/>
          </a:xfrm>
        </p:spPr>
        <p:txBody>
          <a:bodyPr>
            <a:normAutofit lnSpcReduction="10000"/>
          </a:bodyPr>
          <a:lstStyle/>
          <a:p>
            <a:pPr>
              <a:lnSpc>
                <a:spcPct val="150000"/>
              </a:lnSpc>
            </a:pPr>
            <a:r>
              <a:rPr lang="zh-CN" altLang="en-US" dirty="0"/>
              <a:t>用公钥密码实现鉴别</a:t>
            </a:r>
            <a:endParaRPr lang="en-US" altLang="zh-CN" dirty="0"/>
          </a:p>
          <a:p>
            <a:pPr lvl="1">
              <a:lnSpc>
                <a:spcPct val="150000"/>
              </a:lnSpc>
              <a:buClr>
                <a:srgbClr val="000066"/>
              </a:buClr>
              <a:buSzPct val="80000"/>
              <a:buFontTx/>
              <a:buChar char="•"/>
            </a:pPr>
            <a:r>
              <a:rPr kumimoji="1" lang="zh-CN" altLang="en-US" dirty="0">
                <a:solidFill>
                  <a:srgbClr val="000066"/>
                </a:solidFill>
                <a:latin typeface="Times New Roman" panose="02020603050405020304" pitchFamily="18" charset="0"/>
              </a:rPr>
              <a:t>条件</a:t>
            </a:r>
            <a:r>
              <a:rPr kumimoji="1" lang="en-US" altLang="zh-CN" dirty="0">
                <a:solidFill>
                  <a:srgbClr val="000066"/>
                </a:solidFill>
                <a:latin typeface="Times New Roman" panose="02020603050405020304" pitchFamily="18" charset="0"/>
              </a:rPr>
              <a:t>: </a:t>
            </a:r>
            <a:r>
              <a:rPr kumimoji="1" lang="zh-CN" altLang="en-US" dirty="0">
                <a:solidFill>
                  <a:srgbClr val="000066"/>
                </a:solidFill>
                <a:latin typeface="Times New Roman" panose="02020603050405020304" pitchFamily="18" charset="0"/>
              </a:rPr>
              <a:t>两个密钥中任何一个都可以用作加密而另一个用作解密</a:t>
            </a:r>
          </a:p>
          <a:p>
            <a:pPr lvl="1">
              <a:lnSpc>
                <a:spcPct val="150000"/>
              </a:lnSpc>
              <a:buClr>
                <a:srgbClr val="000066"/>
              </a:buClr>
              <a:buSzPct val="80000"/>
              <a:buFontTx/>
              <a:buChar char="•"/>
            </a:pPr>
            <a:r>
              <a:rPr kumimoji="1" lang="zh-CN" altLang="en-US" dirty="0">
                <a:solidFill>
                  <a:srgbClr val="000066"/>
                </a:solidFill>
                <a:latin typeface="Times New Roman" panose="02020603050405020304" pitchFamily="18" charset="0"/>
              </a:rPr>
              <a:t>鉴别</a:t>
            </a:r>
            <a:r>
              <a:rPr kumimoji="1" lang="en-US" altLang="zh-CN" dirty="0">
                <a:solidFill>
                  <a:srgbClr val="000066"/>
                </a:solidFill>
                <a:latin typeface="Times New Roman" panose="02020603050405020304" pitchFamily="18" charset="0"/>
              </a:rPr>
              <a:t>: </a:t>
            </a:r>
          </a:p>
          <a:p>
            <a:pPr lvl="2">
              <a:lnSpc>
                <a:spcPct val="150000"/>
              </a:lnSpc>
              <a:buClr>
                <a:srgbClr val="000066"/>
              </a:buClr>
              <a:buSzPct val="80000"/>
            </a:pPr>
            <a:r>
              <a:rPr kumimoji="1" lang="en-US" altLang="zh-CN" sz="2200" dirty="0">
                <a:solidFill>
                  <a:srgbClr val="000066"/>
                </a:solidFill>
                <a:latin typeface="Times New Roman" panose="02020603050405020304" pitchFamily="18" charset="0"/>
              </a:rPr>
              <a:t>A</a:t>
            </a:r>
            <a:r>
              <a:rPr kumimoji="1" lang="en-US" altLang="zh-CN" sz="2200" dirty="0">
                <a:solidFill>
                  <a:srgbClr val="000066"/>
                </a:solidFill>
                <a:latin typeface="Times New Roman" panose="02020603050405020304" pitchFamily="18" charset="0"/>
                <a:sym typeface="Wingdings" panose="05000000000000000000" pitchFamily="2" charset="2"/>
              </a:rPr>
              <a:t></a:t>
            </a:r>
            <a:r>
              <a:rPr kumimoji="1" lang="en-US" altLang="zh-CN" sz="2200" dirty="0">
                <a:solidFill>
                  <a:srgbClr val="000066"/>
                </a:solidFill>
                <a:latin typeface="Times New Roman" panose="02020603050405020304" pitchFamily="18" charset="0"/>
              </a:rPr>
              <a:t>ALL: Y=</a:t>
            </a:r>
            <a:r>
              <a:rPr kumimoji="1" lang="en-US" altLang="zh-CN" sz="2200" dirty="0" err="1">
                <a:solidFill>
                  <a:srgbClr val="000066"/>
                </a:solidFill>
                <a:latin typeface="Times New Roman" panose="02020603050405020304" pitchFamily="18" charset="0"/>
              </a:rPr>
              <a:t>D</a:t>
            </a:r>
            <a:r>
              <a:rPr kumimoji="1" lang="en-US" altLang="zh-CN" sz="2200" baseline="-25000" dirty="0" err="1">
                <a:solidFill>
                  <a:srgbClr val="000066"/>
                </a:solidFill>
                <a:latin typeface="Times New Roman" panose="02020603050405020304" pitchFamily="18" charset="0"/>
              </a:rPr>
              <a:t>KRa</a:t>
            </a:r>
            <a:r>
              <a:rPr kumimoji="1" lang="en-US" altLang="zh-CN" sz="2200" dirty="0">
                <a:solidFill>
                  <a:srgbClr val="000066"/>
                </a:solidFill>
                <a:latin typeface="Times New Roman" panose="02020603050405020304" pitchFamily="18" charset="0"/>
              </a:rPr>
              <a:t>(X)</a:t>
            </a:r>
          </a:p>
          <a:p>
            <a:pPr lvl="2">
              <a:lnSpc>
                <a:spcPct val="150000"/>
              </a:lnSpc>
              <a:buClr>
                <a:srgbClr val="000066"/>
              </a:buClr>
              <a:buSzPct val="80000"/>
            </a:pPr>
            <a:r>
              <a:rPr kumimoji="1" lang="en-US" altLang="zh-CN" sz="2200" dirty="0">
                <a:solidFill>
                  <a:srgbClr val="000066"/>
                </a:solidFill>
                <a:latin typeface="Times New Roman" panose="02020603050405020304" pitchFamily="18" charset="0"/>
              </a:rPr>
              <a:t>ALL: </a:t>
            </a:r>
            <a:r>
              <a:rPr kumimoji="1" lang="en-US" altLang="zh-CN" sz="2200" dirty="0" err="1">
                <a:solidFill>
                  <a:srgbClr val="000066"/>
                </a:solidFill>
                <a:latin typeface="Times New Roman" panose="02020603050405020304" pitchFamily="18" charset="0"/>
              </a:rPr>
              <a:t>E</a:t>
            </a:r>
            <a:r>
              <a:rPr kumimoji="1" lang="en-US" altLang="zh-CN" sz="2200" baseline="-25000" dirty="0" err="1">
                <a:solidFill>
                  <a:srgbClr val="000066"/>
                </a:solidFill>
                <a:latin typeface="Times New Roman" panose="02020603050405020304" pitchFamily="18" charset="0"/>
              </a:rPr>
              <a:t>KUa</a:t>
            </a:r>
            <a:r>
              <a:rPr kumimoji="1" lang="en-US" altLang="zh-CN" sz="2200" dirty="0">
                <a:solidFill>
                  <a:srgbClr val="000066"/>
                </a:solidFill>
                <a:latin typeface="Times New Roman" panose="02020603050405020304" pitchFamily="18" charset="0"/>
              </a:rPr>
              <a:t>(Y)=</a:t>
            </a:r>
            <a:r>
              <a:rPr kumimoji="1" lang="en-US" altLang="zh-CN" sz="2200" dirty="0" err="1">
                <a:solidFill>
                  <a:srgbClr val="000066"/>
                </a:solidFill>
                <a:latin typeface="Times New Roman" panose="02020603050405020304" pitchFamily="18" charset="0"/>
              </a:rPr>
              <a:t>E</a:t>
            </a:r>
            <a:r>
              <a:rPr kumimoji="1" lang="en-US" altLang="zh-CN" sz="2200" baseline="-25000" dirty="0" err="1">
                <a:solidFill>
                  <a:srgbClr val="000066"/>
                </a:solidFill>
                <a:latin typeface="Times New Roman" panose="02020603050405020304" pitchFamily="18" charset="0"/>
              </a:rPr>
              <a:t>KUa</a:t>
            </a:r>
            <a:r>
              <a:rPr kumimoji="1" lang="en-US" altLang="zh-CN" sz="2200" dirty="0">
                <a:solidFill>
                  <a:srgbClr val="000066"/>
                </a:solidFill>
                <a:latin typeface="Times New Roman" panose="02020603050405020304" pitchFamily="18" charset="0"/>
              </a:rPr>
              <a:t>(</a:t>
            </a:r>
            <a:r>
              <a:rPr kumimoji="1" lang="en-US" altLang="zh-CN" sz="2200" dirty="0" err="1">
                <a:solidFill>
                  <a:srgbClr val="000066"/>
                </a:solidFill>
                <a:latin typeface="Times New Roman" panose="02020603050405020304" pitchFamily="18" charset="0"/>
              </a:rPr>
              <a:t>D</a:t>
            </a:r>
            <a:r>
              <a:rPr kumimoji="1" lang="en-US" altLang="zh-CN" sz="2200" baseline="-25000" dirty="0" err="1">
                <a:solidFill>
                  <a:srgbClr val="000066"/>
                </a:solidFill>
                <a:latin typeface="Times New Roman" panose="02020603050405020304" pitchFamily="18" charset="0"/>
              </a:rPr>
              <a:t>KRa</a:t>
            </a:r>
            <a:r>
              <a:rPr kumimoji="1" lang="en-US" altLang="zh-CN" sz="2200" dirty="0">
                <a:solidFill>
                  <a:srgbClr val="000066"/>
                </a:solidFill>
                <a:latin typeface="Times New Roman" panose="02020603050405020304" pitchFamily="18" charset="0"/>
              </a:rPr>
              <a:t>(X))=X</a:t>
            </a:r>
          </a:p>
          <a:p>
            <a:pPr lvl="1">
              <a:lnSpc>
                <a:spcPct val="150000"/>
              </a:lnSpc>
              <a:buClr>
                <a:srgbClr val="000066"/>
              </a:buClr>
              <a:buSzPct val="80000"/>
              <a:buFontTx/>
              <a:buChar char="•"/>
            </a:pPr>
            <a:r>
              <a:rPr kumimoji="1" lang="zh-CN" altLang="en-US" dirty="0">
                <a:solidFill>
                  <a:srgbClr val="000066"/>
                </a:solidFill>
                <a:latin typeface="Times New Roman" panose="02020603050405020304" pitchFamily="18" charset="0"/>
              </a:rPr>
              <a:t>鉴别</a:t>
            </a:r>
            <a:r>
              <a:rPr kumimoji="1" lang="en-US" altLang="zh-CN" dirty="0">
                <a:solidFill>
                  <a:srgbClr val="000066"/>
                </a:solidFill>
                <a:latin typeface="Times New Roman" panose="02020603050405020304" pitchFamily="18" charset="0"/>
              </a:rPr>
              <a:t>+</a:t>
            </a:r>
            <a:r>
              <a:rPr kumimoji="1" lang="zh-CN" altLang="en-US" dirty="0">
                <a:solidFill>
                  <a:srgbClr val="000066"/>
                </a:solidFill>
                <a:latin typeface="Times New Roman" panose="02020603050405020304" pitchFamily="18" charset="0"/>
              </a:rPr>
              <a:t>保密</a:t>
            </a:r>
            <a:r>
              <a:rPr kumimoji="1" lang="en-US" altLang="zh-CN" dirty="0">
                <a:solidFill>
                  <a:srgbClr val="000066"/>
                </a:solidFill>
                <a:latin typeface="Times New Roman" panose="02020603050405020304" pitchFamily="18" charset="0"/>
              </a:rPr>
              <a:t>:</a:t>
            </a:r>
          </a:p>
          <a:p>
            <a:pPr lvl="2">
              <a:lnSpc>
                <a:spcPct val="150000"/>
              </a:lnSpc>
              <a:buClr>
                <a:srgbClr val="000066"/>
              </a:buClr>
              <a:buSzPct val="80000"/>
            </a:pPr>
            <a:r>
              <a:rPr kumimoji="1" lang="en-US" altLang="zh-CN" sz="2200" dirty="0">
                <a:solidFill>
                  <a:srgbClr val="000066"/>
                </a:solidFill>
                <a:latin typeface="Times New Roman" panose="02020603050405020304" pitchFamily="18" charset="0"/>
              </a:rPr>
              <a:t>A</a:t>
            </a:r>
            <a:r>
              <a:rPr kumimoji="1" lang="en-US" altLang="zh-CN" sz="2200" dirty="0">
                <a:solidFill>
                  <a:srgbClr val="000066"/>
                </a:solidFill>
                <a:latin typeface="Times New Roman" panose="02020603050405020304" pitchFamily="18" charset="0"/>
                <a:sym typeface="Wingdings" panose="05000000000000000000" pitchFamily="2" charset="2"/>
              </a:rPr>
              <a:t></a:t>
            </a:r>
            <a:r>
              <a:rPr kumimoji="1" lang="en-US" altLang="zh-CN" sz="2200" dirty="0">
                <a:solidFill>
                  <a:srgbClr val="000066"/>
                </a:solidFill>
                <a:latin typeface="Times New Roman" panose="02020603050405020304" pitchFamily="18" charset="0"/>
              </a:rPr>
              <a:t>B: Z= </a:t>
            </a:r>
            <a:r>
              <a:rPr kumimoji="1" lang="en-US" altLang="zh-CN" sz="2200" dirty="0" err="1">
                <a:solidFill>
                  <a:srgbClr val="000066"/>
                </a:solidFill>
                <a:latin typeface="Times New Roman" panose="02020603050405020304" pitchFamily="18" charset="0"/>
              </a:rPr>
              <a:t>E</a:t>
            </a:r>
            <a:r>
              <a:rPr kumimoji="1" lang="en-US" altLang="zh-CN" sz="2200" baseline="-25000" dirty="0" err="1">
                <a:solidFill>
                  <a:srgbClr val="000066"/>
                </a:solidFill>
                <a:latin typeface="Times New Roman" panose="02020603050405020304" pitchFamily="18" charset="0"/>
              </a:rPr>
              <a:t>KUb</a:t>
            </a:r>
            <a:r>
              <a:rPr kumimoji="1" lang="en-US" altLang="zh-CN" sz="2200" dirty="0">
                <a:solidFill>
                  <a:srgbClr val="000066"/>
                </a:solidFill>
                <a:latin typeface="Times New Roman" panose="02020603050405020304" pitchFamily="18" charset="0"/>
              </a:rPr>
              <a:t>(</a:t>
            </a:r>
            <a:r>
              <a:rPr kumimoji="1" lang="en-US" altLang="zh-CN" sz="2200" dirty="0" err="1">
                <a:solidFill>
                  <a:srgbClr val="000066"/>
                </a:solidFill>
                <a:latin typeface="Times New Roman" panose="02020603050405020304" pitchFamily="18" charset="0"/>
              </a:rPr>
              <a:t>D</a:t>
            </a:r>
            <a:r>
              <a:rPr kumimoji="1" lang="en-US" altLang="zh-CN" sz="2200" baseline="-25000" dirty="0" err="1">
                <a:solidFill>
                  <a:srgbClr val="000066"/>
                </a:solidFill>
                <a:latin typeface="Times New Roman" panose="02020603050405020304" pitchFamily="18" charset="0"/>
              </a:rPr>
              <a:t>KRa</a:t>
            </a:r>
            <a:r>
              <a:rPr kumimoji="1" lang="en-US" altLang="zh-CN" sz="2200" dirty="0">
                <a:solidFill>
                  <a:srgbClr val="000066"/>
                </a:solidFill>
                <a:latin typeface="Times New Roman" panose="02020603050405020304" pitchFamily="18" charset="0"/>
              </a:rPr>
              <a:t>(X))</a:t>
            </a:r>
          </a:p>
          <a:p>
            <a:pPr lvl="2">
              <a:lnSpc>
                <a:spcPct val="150000"/>
              </a:lnSpc>
              <a:buClr>
                <a:srgbClr val="000066"/>
              </a:buClr>
              <a:buSzPct val="80000"/>
            </a:pPr>
            <a:r>
              <a:rPr kumimoji="1" lang="en-US" altLang="zh-CN" sz="2200" dirty="0">
                <a:solidFill>
                  <a:srgbClr val="000066"/>
                </a:solidFill>
                <a:latin typeface="Times New Roman" panose="02020603050405020304" pitchFamily="18" charset="0"/>
              </a:rPr>
              <a:t>B: </a:t>
            </a:r>
            <a:r>
              <a:rPr kumimoji="1" lang="en-US" altLang="zh-CN" sz="2200" dirty="0" err="1">
                <a:solidFill>
                  <a:srgbClr val="000066"/>
                </a:solidFill>
                <a:latin typeface="Times New Roman" panose="02020603050405020304" pitchFamily="18" charset="0"/>
              </a:rPr>
              <a:t>E</a:t>
            </a:r>
            <a:r>
              <a:rPr kumimoji="1" lang="en-US" altLang="zh-CN" sz="2200" baseline="-25000" dirty="0" err="1">
                <a:solidFill>
                  <a:srgbClr val="000066"/>
                </a:solidFill>
                <a:latin typeface="Times New Roman" panose="02020603050405020304" pitchFamily="18" charset="0"/>
              </a:rPr>
              <a:t>KUa</a:t>
            </a:r>
            <a:r>
              <a:rPr kumimoji="1" lang="en-US" altLang="zh-CN" sz="2200" dirty="0">
                <a:solidFill>
                  <a:srgbClr val="000066"/>
                </a:solidFill>
                <a:latin typeface="Times New Roman" panose="02020603050405020304" pitchFamily="18" charset="0"/>
              </a:rPr>
              <a:t>(</a:t>
            </a:r>
            <a:r>
              <a:rPr kumimoji="1" lang="en-US" altLang="zh-CN" sz="2200" dirty="0" err="1">
                <a:solidFill>
                  <a:srgbClr val="000066"/>
                </a:solidFill>
                <a:latin typeface="Times New Roman" panose="02020603050405020304" pitchFamily="18" charset="0"/>
              </a:rPr>
              <a:t>D</a:t>
            </a:r>
            <a:r>
              <a:rPr kumimoji="1" lang="en-US" altLang="zh-CN" sz="2200" baseline="-25000" dirty="0" err="1">
                <a:solidFill>
                  <a:srgbClr val="000066"/>
                </a:solidFill>
                <a:latin typeface="Times New Roman" panose="02020603050405020304" pitchFamily="18" charset="0"/>
              </a:rPr>
              <a:t>KRb</a:t>
            </a:r>
            <a:r>
              <a:rPr kumimoji="1" lang="en-US" altLang="zh-CN" sz="2200" dirty="0">
                <a:solidFill>
                  <a:srgbClr val="000066"/>
                </a:solidFill>
                <a:latin typeface="Times New Roman" panose="02020603050405020304" pitchFamily="18" charset="0"/>
              </a:rPr>
              <a:t>(Z))=X</a:t>
            </a:r>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a:t>
            </a:fld>
            <a:endParaRPr kumimoji="1" lang="zh-CN" altLang="en-US" dirty="0"/>
          </a:p>
        </p:txBody>
      </p:sp>
    </p:spTree>
    <p:extLst>
      <p:ext uri="{BB962C8B-B14F-4D97-AF65-F5344CB8AC3E}">
        <p14:creationId xmlns:p14="http://schemas.microsoft.com/office/powerpoint/2010/main" val="3981128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5.1.2 </a:t>
            </a:r>
            <a:r>
              <a:rPr kumimoji="1" lang="zh-CN" altLang="zh-CN" dirty="0">
                <a:solidFill>
                  <a:prstClr val="black"/>
                </a:solidFill>
              </a:rPr>
              <a:t>公钥密码系统的应用</a:t>
            </a:r>
            <a:endParaRPr lang="zh-CN" altLang="en-US" dirty="0"/>
          </a:p>
        </p:txBody>
      </p:sp>
      <p:sp>
        <p:nvSpPr>
          <p:cNvPr id="3" name="内容占位符 2"/>
          <p:cNvSpPr>
            <a:spLocks noGrp="1"/>
          </p:cNvSpPr>
          <p:nvPr>
            <p:ph idx="1"/>
          </p:nvPr>
        </p:nvSpPr>
        <p:spPr/>
        <p:txBody>
          <a:bodyPr>
            <a:normAutofit/>
          </a:bodyPr>
          <a:lstStyle/>
          <a:p>
            <a:r>
              <a:rPr lang="zh-CN" altLang="en-US" dirty="0"/>
              <a:t>加密</a:t>
            </a:r>
            <a:r>
              <a:rPr lang="en-US" altLang="zh-CN" dirty="0"/>
              <a:t>/</a:t>
            </a:r>
            <a:r>
              <a:rPr lang="zh-CN" altLang="en-US" dirty="0"/>
              <a:t>解密</a:t>
            </a:r>
          </a:p>
          <a:p>
            <a:r>
              <a:rPr lang="zh-CN" altLang="en-US" dirty="0"/>
              <a:t>数字签名</a:t>
            </a:r>
            <a:r>
              <a:rPr lang="en-US" altLang="zh-CN" dirty="0"/>
              <a:t>(</a:t>
            </a:r>
            <a:r>
              <a:rPr lang="zh-CN" altLang="en-US" dirty="0"/>
              <a:t>身份鉴别</a:t>
            </a:r>
            <a:r>
              <a:rPr lang="en-US" altLang="zh-CN" dirty="0"/>
              <a:t>)</a:t>
            </a:r>
          </a:p>
          <a:p>
            <a:r>
              <a:rPr lang="zh-CN" altLang="en-US" dirty="0"/>
              <a:t>密钥交换：</a:t>
            </a:r>
            <a:r>
              <a:rPr lang="zh-CN" altLang="en-US" sz="2400" dirty="0"/>
              <a:t>服务于对称密钥，相当于只利用非对称算法传递对称密钥</a:t>
            </a:r>
            <a:endParaRPr lang="zh-CN" altLang="en-US"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a:t>
            </a:fld>
            <a:endParaRPr kumimoji="1" lang="zh-CN" altLang="en-US" dirty="0"/>
          </a:p>
        </p:txBody>
      </p:sp>
      <p:graphicFrame>
        <p:nvGraphicFramePr>
          <p:cNvPr id="6" name="表格 5">
            <a:extLst>
              <a:ext uri="{FF2B5EF4-FFF2-40B4-BE49-F238E27FC236}">
                <a16:creationId xmlns:a16="http://schemas.microsoft.com/office/drawing/2014/main" id="{0710ECFE-900B-4A45-276C-B7EA174E4136}"/>
              </a:ext>
            </a:extLst>
          </p:cNvPr>
          <p:cNvGraphicFramePr>
            <a:graphicFrameLocks noGrp="1"/>
          </p:cNvGraphicFramePr>
          <p:nvPr>
            <p:extLst>
              <p:ext uri="{D42A27DB-BD31-4B8C-83A1-F6EECF244321}">
                <p14:modId xmlns:p14="http://schemas.microsoft.com/office/powerpoint/2010/main" val="803243308"/>
              </p:ext>
            </p:extLst>
          </p:nvPr>
        </p:nvGraphicFramePr>
        <p:xfrm>
          <a:off x="3162300" y="3370254"/>
          <a:ext cx="6286500" cy="3122620"/>
        </p:xfrm>
        <a:graphic>
          <a:graphicData uri="http://schemas.openxmlformats.org/drawingml/2006/table">
            <a:tbl>
              <a:tblPr/>
              <a:tblGrid>
                <a:gridCol w="2144511">
                  <a:extLst>
                    <a:ext uri="{9D8B030D-6E8A-4147-A177-3AD203B41FA5}">
                      <a16:colId xmlns:a16="http://schemas.microsoft.com/office/drawing/2014/main" val="275248346"/>
                    </a:ext>
                  </a:extLst>
                </a:gridCol>
                <a:gridCol w="1380663">
                  <a:extLst>
                    <a:ext uri="{9D8B030D-6E8A-4147-A177-3AD203B41FA5}">
                      <a16:colId xmlns:a16="http://schemas.microsoft.com/office/drawing/2014/main" val="790844007"/>
                    </a:ext>
                  </a:extLst>
                </a:gridCol>
                <a:gridCol w="1380663">
                  <a:extLst>
                    <a:ext uri="{9D8B030D-6E8A-4147-A177-3AD203B41FA5}">
                      <a16:colId xmlns:a16="http://schemas.microsoft.com/office/drawing/2014/main" val="4222070398"/>
                    </a:ext>
                  </a:extLst>
                </a:gridCol>
                <a:gridCol w="1380663">
                  <a:extLst>
                    <a:ext uri="{9D8B030D-6E8A-4147-A177-3AD203B41FA5}">
                      <a16:colId xmlns:a16="http://schemas.microsoft.com/office/drawing/2014/main" val="3910207432"/>
                    </a:ext>
                  </a:extLst>
                </a:gridCol>
              </a:tblGrid>
              <a:tr h="269407">
                <a:tc>
                  <a:txBody>
                    <a:bodyPr/>
                    <a:lstStyle/>
                    <a:p>
                      <a:pPr algn="ctr" rtl="0">
                        <a:buNone/>
                      </a:pPr>
                      <a:r>
                        <a:rPr lang="zh-CN" altLang="en-US" sz="1800" b="1" dirty="0">
                          <a:solidFill>
                            <a:srgbClr val="1F1F1F"/>
                          </a:solidFill>
                          <a:effectLst/>
                          <a:latin typeface="Google Sans Text"/>
                        </a:rPr>
                        <a:t>算法</a:t>
                      </a:r>
                      <a:endParaRPr lang="zh-CN" altLang="en-US" sz="1800" dirty="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dirty="0">
                          <a:solidFill>
                            <a:srgbClr val="1F1F1F"/>
                          </a:solidFill>
                          <a:effectLst/>
                          <a:latin typeface="Google Sans Text"/>
                        </a:rPr>
                        <a:t>加密</a:t>
                      </a:r>
                      <a:r>
                        <a:rPr lang="en-US" altLang="zh-CN" sz="1800" b="1" dirty="0">
                          <a:solidFill>
                            <a:srgbClr val="1F1F1F"/>
                          </a:solidFill>
                          <a:effectLst/>
                          <a:latin typeface="Google Sans Text"/>
                        </a:rPr>
                        <a:t>/</a:t>
                      </a:r>
                      <a:r>
                        <a:rPr lang="zh-CN" altLang="en-US" sz="1800" b="1" dirty="0">
                          <a:solidFill>
                            <a:srgbClr val="1F1F1F"/>
                          </a:solidFill>
                          <a:effectLst/>
                          <a:latin typeface="Google Sans Text"/>
                        </a:rPr>
                        <a:t>解密</a:t>
                      </a:r>
                      <a:endParaRPr lang="zh-CN" altLang="en-US" sz="1800" dirty="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dirty="0">
                          <a:solidFill>
                            <a:srgbClr val="1F1F1F"/>
                          </a:solidFill>
                          <a:effectLst/>
                          <a:latin typeface="Google Sans Text"/>
                        </a:rPr>
                        <a:t>数字签名</a:t>
                      </a:r>
                      <a:endParaRPr lang="zh-CN" altLang="en-US" sz="1800" dirty="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a:solidFill>
                            <a:srgbClr val="1F1F1F"/>
                          </a:solidFill>
                          <a:effectLst/>
                          <a:latin typeface="Google Sans Text"/>
                        </a:rPr>
                        <a:t>密钥交换</a:t>
                      </a:r>
                      <a:endParaRPr lang="zh-CN" alt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1289701"/>
                  </a:ext>
                </a:extLst>
              </a:tr>
              <a:tr h="387682">
                <a:tc>
                  <a:txBody>
                    <a:bodyPr/>
                    <a:lstStyle/>
                    <a:p>
                      <a:pPr algn="ctr" rtl="0">
                        <a:buNone/>
                      </a:pPr>
                      <a:r>
                        <a:rPr lang="en-US" sz="1800" b="1" dirty="0">
                          <a:solidFill>
                            <a:srgbClr val="1F1F1F"/>
                          </a:solidFill>
                          <a:effectLst/>
                          <a:latin typeface="Google Sans Text"/>
                        </a:rPr>
                        <a:t>RSA</a:t>
                      </a:r>
                      <a:endParaRPr lang="en-US" sz="1800" dirty="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dirty="0">
                          <a:solidFill>
                            <a:srgbClr val="1F1F1F"/>
                          </a:solidFill>
                          <a:effectLst/>
                          <a:latin typeface="Google Sans Text"/>
                        </a:rPr>
                        <a:t>是</a:t>
                      </a:r>
                      <a:endParaRPr lang="zh-CN" altLang="en-US" sz="1800" dirty="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a:solidFill>
                            <a:srgbClr val="1F1F1F"/>
                          </a:solidFill>
                          <a:effectLst/>
                          <a:latin typeface="Google Sans Text"/>
                        </a:rPr>
                        <a:t>是</a:t>
                      </a:r>
                      <a:endParaRPr lang="zh-CN" alt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a:solidFill>
                            <a:srgbClr val="1F1F1F"/>
                          </a:solidFill>
                          <a:effectLst/>
                          <a:latin typeface="Google Sans Text"/>
                        </a:rPr>
                        <a:t>是</a:t>
                      </a:r>
                      <a:endParaRPr lang="zh-CN" alt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1332444"/>
                  </a:ext>
                </a:extLst>
              </a:tr>
              <a:tr h="505958">
                <a:tc>
                  <a:txBody>
                    <a:bodyPr/>
                    <a:lstStyle/>
                    <a:p>
                      <a:pPr algn="ctr" rtl="0">
                        <a:buNone/>
                      </a:pPr>
                      <a:r>
                        <a:rPr lang="en-US" sz="1800" b="1">
                          <a:solidFill>
                            <a:srgbClr val="1F1F1F"/>
                          </a:solidFill>
                          <a:effectLst/>
                          <a:latin typeface="Google Sans Text"/>
                        </a:rPr>
                        <a:t>Diffie-Hellman</a:t>
                      </a:r>
                      <a:endParaRPr 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dirty="0">
                          <a:solidFill>
                            <a:srgbClr val="1F1F1F"/>
                          </a:solidFill>
                          <a:effectLst/>
                          <a:latin typeface="Google Sans Text"/>
                        </a:rPr>
                        <a:t>否</a:t>
                      </a: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dirty="0">
                          <a:solidFill>
                            <a:srgbClr val="1F1F1F"/>
                          </a:solidFill>
                          <a:effectLst/>
                          <a:latin typeface="Google Sans Text"/>
                        </a:rPr>
                        <a:t>否</a:t>
                      </a: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a:solidFill>
                            <a:srgbClr val="1F1F1F"/>
                          </a:solidFill>
                          <a:effectLst/>
                          <a:latin typeface="Google Sans Text"/>
                        </a:rPr>
                        <a:t>是</a:t>
                      </a:r>
                      <a:endParaRPr lang="zh-CN" alt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5872008"/>
                  </a:ext>
                </a:extLst>
              </a:tr>
              <a:tr h="505958">
                <a:tc>
                  <a:txBody>
                    <a:bodyPr/>
                    <a:lstStyle/>
                    <a:p>
                      <a:pPr algn="ctr" rtl="0">
                        <a:buNone/>
                      </a:pPr>
                      <a:r>
                        <a:rPr lang="en-US" sz="1800" b="1" dirty="0">
                          <a:solidFill>
                            <a:srgbClr val="1F1F1F"/>
                          </a:solidFill>
                          <a:effectLst/>
                          <a:latin typeface="Google Sans Text"/>
                        </a:rPr>
                        <a:t>DSS (DSA)</a:t>
                      </a:r>
                      <a:endParaRPr lang="en-US" sz="1800" dirty="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dirty="0">
                          <a:solidFill>
                            <a:srgbClr val="1F1F1F"/>
                          </a:solidFill>
                          <a:effectLst/>
                          <a:latin typeface="Google Sans Text"/>
                        </a:rPr>
                        <a:t>否</a:t>
                      </a: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dirty="0">
                          <a:solidFill>
                            <a:srgbClr val="1F1F1F"/>
                          </a:solidFill>
                          <a:effectLst/>
                          <a:latin typeface="Google Sans Text"/>
                        </a:rPr>
                        <a:t>是</a:t>
                      </a:r>
                      <a:endParaRPr lang="zh-CN" altLang="en-US" sz="1800" dirty="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dirty="0">
                          <a:solidFill>
                            <a:srgbClr val="1F1F1F"/>
                          </a:solidFill>
                          <a:effectLst/>
                          <a:latin typeface="Google Sans Text"/>
                        </a:rPr>
                        <a:t>否</a:t>
                      </a: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9492106"/>
                  </a:ext>
                </a:extLst>
              </a:tr>
              <a:tr h="505958">
                <a:tc>
                  <a:txBody>
                    <a:bodyPr/>
                    <a:lstStyle/>
                    <a:p>
                      <a:pPr algn="ctr" rtl="0">
                        <a:buNone/>
                      </a:pPr>
                      <a:r>
                        <a:rPr lang="en-US" sz="1800" b="1">
                          <a:solidFill>
                            <a:srgbClr val="1F1F1F"/>
                          </a:solidFill>
                          <a:effectLst/>
                          <a:latin typeface="Google Sans Text"/>
                        </a:rPr>
                        <a:t>Rabin</a:t>
                      </a:r>
                      <a:endParaRPr 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a:solidFill>
                            <a:srgbClr val="1F1F1F"/>
                          </a:solidFill>
                          <a:effectLst/>
                          <a:latin typeface="Google Sans Text"/>
                        </a:rPr>
                        <a:t>是</a:t>
                      </a:r>
                      <a:endParaRPr lang="zh-CN" alt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a:solidFill>
                            <a:srgbClr val="1F1F1F"/>
                          </a:solidFill>
                          <a:effectLst/>
                          <a:latin typeface="Google Sans Text"/>
                        </a:rPr>
                        <a:t>是</a:t>
                      </a:r>
                      <a:endParaRPr lang="zh-CN" alt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dirty="0">
                          <a:solidFill>
                            <a:srgbClr val="1F1F1F"/>
                          </a:solidFill>
                          <a:effectLst/>
                          <a:latin typeface="Google Sans Text"/>
                        </a:rPr>
                        <a:t>否</a:t>
                      </a: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3989179"/>
                  </a:ext>
                </a:extLst>
              </a:tr>
              <a:tr h="387682">
                <a:tc>
                  <a:txBody>
                    <a:bodyPr/>
                    <a:lstStyle/>
                    <a:p>
                      <a:pPr algn="ctr" rtl="0">
                        <a:buNone/>
                      </a:pPr>
                      <a:r>
                        <a:rPr lang="en-US" sz="1800" b="1">
                          <a:solidFill>
                            <a:srgbClr val="1F1F1F"/>
                          </a:solidFill>
                          <a:effectLst/>
                          <a:latin typeface="Google Sans Text"/>
                        </a:rPr>
                        <a:t>ElGamal</a:t>
                      </a:r>
                      <a:endParaRPr 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a:solidFill>
                            <a:srgbClr val="1F1F1F"/>
                          </a:solidFill>
                          <a:effectLst/>
                          <a:latin typeface="Google Sans Text"/>
                        </a:rPr>
                        <a:t>是</a:t>
                      </a:r>
                      <a:endParaRPr lang="zh-CN" alt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a:solidFill>
                            <a:srgbClr val="1F1F1F"/>
                          </a:solidFill>
                          <a:effectLst/>
                          <a:latin typeface="Google Sans Text"/>
                        </a:rPr>
                        <a:t>是</a:t>
                      </a:r>
                      <a:endParaRPr lang="zh-CN" alt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dirty="0">
                          <a:solidFill>
                            <a:srgbClr val="1F1F1F"/>
                          </a:solidFill>
                          <a:effectLst/>
                          <a:latin typeface="Google Sans Text"/>
                        </a:rPr>
                        <a:t>是</a:t>
                      </a: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8957689"/>
                  </a:ext>
                </a:extLst>
              </a:tr>
              <a:tr h="505958">
                <a:tc>
                  <a:txBody>
                    <a:bodyPr/>
                    <a:lstStyle/>
                    <a:p>
                      <a:pPr algn="ctr" rtl="0">
                        <a:buNone/>
                      </a:pPr>
                      <a:r>
                        <a:rPr lang="en-US" sz="1800" b="1">
                          <a:solidFill>
                            <a:srgbClr val="1F1F1F"/>
                          </a:solidFill>
                          <a:effectLst/>
                          <a:latin typeface="Google Sans Text"/>
                        </a:rPr>
                        <a:t>ECC (</a:t>
                      </a:r>
                      <a:r>
                        <a:rPr lang="zh-CN" altLang="en-US" sz="1800" b="1">
                          <a:solidFill>
                            <a:srgbClr val="1F1F1F"/>
                          </a:solidFill>
                          <a:effectLst/>
                          <a:latin typeface="Google Sans Text"/>
                        </a:rPr>
                        <a:t>椭圆曲线</a:t>
                      </a:r>
                      <a:r>
                        <a:rPr lang="en-US" altLang="zh-CN" sz="1800" b="1">
                          <a:solidFill>
                            <a:srgbClr val="1F1F1F"/>
                          </a:solidFill>
                          <a:effectLst/>
                          <a:latin typeface="Google Sans Text"/>
                        </a:rPr>
                        <a:t>)</a:t>
                      </a:r>
                      <a:endParaRPr lang="zh-CN" alt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a:solidFill>
                            <a:srgbClr val="1F1F1F"/>
                          </a:solidFill>
                          <a:effectLst/>
                          <a:latin typeface="Google Sans Text"/>
                        </a:rPr>
                        <a:t>是</a:t>
                      </a:r>
                      <a:endParaRPr lang="zh-CN" alt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a:solidFill>
                            <a:srgbClr val="1F1F1F"/>
                          </a:solidFill>
                          <a:effectLst/>
                          <a:latin typeface="Google Sans Text"/>
                        </a:rPr>
                        <a:t>是</a:t>
                      </a:r>
                      <a:endParaRPr lang="zh-CN" altLang="en-US" sz="180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zh-CN" altLang="en-US" sz="1800" b="1" dirty="0">
                          <a:solidFill>
                            <a:srgbClr val="1F1F1F"/>
                          </a:solidFill>
                          <a:effectLst/>
                          <a:latin typeface="Google Sans Text"/>
                        </a:rPr>
                        <a:t>是</a:t>
                      </a:r>
                      <a:endParaRPr lang="zh-CN" altLang="en-US" sz="1800" dirty="0">
                        <a:solidFill>
                          <a:srgbClr val="1F1F1F"/>
                        </a:solidFill>
                        <a:effectLst/>
                        <a:latin typeface="Google Sans Text"/>
                      </a:endParaRPr>
                    </a:p>
                  </a:txBody>
                  <a:tcPr marL="36828" marR="36828" marT="24552" marB="245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0614235"/>
                  </a:ext>
                </a:extLst>
              </a:tr>
            </a:tbl>
          </a:graphicData>
        </a:graphic>
      </p:graphicFrame>
    </p:spTree>
    <p:extLst>
      <p:ext uri="{BB962C8B-B14F-4D97-AF65-F5344CB8AC3E}">
        <p14:creationId xmlns:p14="http://schemas.microsoft.com/office/powerpoint/2010/main" val="606111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5.1.3 </a:t>
            </a:r>
            <a:r>
              <a:rPr kumimoji="1" lang="zh-CN" altLang="zh-CN" dirty="0">
                <a:solidFill>
                  <a:prstClr val="black"/>
                </a:solidFill>
              </a:rPr>
              <a:t>公钥密码的</a:t>
            </a:r>
            <a:r>
              <a:rPr kumimoji="1" lang="zh-CN" altLang="en-US" dirty="0">
                <a:solidFill>
                  <a:prstClr val="black"/>
                </a:solidFill>
              </a:rPr>
              <a:t>要求</a:t>
            </a:r>
            <a:endParaRPr lang="zh-CN" altLang="en-US" dirty="0"/>
          </a:p>
        </p:txBody>
      </p:sp>
      <p:sp>
        <p:nvSpPr>
          <p:cNvPr id="3" name="内容占位符 2"/>
          <p:cNvSpPr>
            <a:spLocks noGrp="1"/>
          </p:cNvSpPr>
          <p:nvPr>
            <p:ph idx="1"/>
          </p:nvPr>
        </p:nvSpPr>
        <p:spPr>
          <a:xfrm>
            <a:off x="838200" y="1510757"/>
            <a:ext cx="10515600" cy="4878167"/>
          </a:xfrm>
        </p:spPr>
        <p:txBody>
          <a:bodyPr>
            <a:normAutofit fontScale="85000" lnSpcReduction="20000"/>
          </a:bodyPr>
          <a:lstStyle/>
          <a:p>
            <a:pPr>
              <a:lnSpc>
                <a:spcPct val="150000"/>
              </a:lnSpc>
            </a:pPr>
            <a:r>
              <a:rPr lang="zh-CN" altLang="en-US" dirty="0"/>
              <a:t>涉及到各方：发送方、接收方、攻击者</a:t>
            </a:r>
          </a:p>
          <a:p>
            <a:pPr>
              <a:lnSpc>
                <a:spcPct val="150000"/>
              </a:lnSpc>
            </a:pPr>
            <a:r>
              <a:rPr lang="zh-CN" altLang="en-US" dirty="0"/>
              <a:t>涉及到数据：公钥、私钥、明文、密文</a:t>
            </a:r>
          </a:p>
          <a:p>
            <a:pPr>
              <a:lnSpc>
                <a:spcPct val="150000"/>
              </a:lnSpc>
            </a:pPr>
            <a:r>
              <a:rPr lang="zh-CN" altLang="en-US" dirty="0"/>
              <a:t>公钥算法的条件：（本质是借助</a:t>
            </a:r>
            <a:r>
              <a:rPr lang="zh-CN" altLang="en-US" b="1" dirty="0">
                <a:highlight>
                  <a:srgbClr val="FFFF00"/>
                </a:highlight>
              </a:rPr>
              <a:t>算力不对称性</a:t>
            </a:r>
            <a:r>
              <a:rPr lang="zh-CN" altLang="en-US" dirty="0"/>
              <a:t>）</a:t>
            </a:r>
          </a:p>
          <a:p>
            <a:pPr lvl="1">
              <a:lnSpc>
                <a:spcPct val="150000"/>
              </a:lnSpc>
            </a:pPr>
            <a:r>
              <a:rPr lang="zh-CN" altLang="en-US" sz="2600" dirty="0"/>
              <a:t>产生一对密钥是计算可行的</a:t>
            </a:r>
          </a:p>
          <a:p>
            <a:pPr lvl="1">
              <a:lnSpc>
                <a:spcPct val="150000"/>
              </a:lnSpc>
            </a:pPr>
            <a:r>
              <a:rPr lang="zh-CN" altLang="en-US" sz="2600" dirty="0"/>
              <a:t>已知公钥和明文，产生密文是计算可行的</a:t>
            </a:r>
          </a:p>
          <a:p>
            <a:pPr lvl="1">
              <a:lnSpc>
                <a:spcPct val="150000"/>
              </a:lnSpc>
            </a:pPr>
            <a:r>
              <a:rPr lang="zh-CN" altLang="en-US" sz="2600" dirty="0"/>
              <a:t>接收方利用私钥来解密密文是计算可行的</a:t>
            </a:r>
          </a:p>
          <a:p>
            <a:pPr lvl="1">
              <a:lnSpc>
                <a:spcPct val="150000"/>
              </a:lnSpc>
            </a:pPr>
            <a:r>
              <a:rPr lang="zh-CN" altLang="en-US" sz="2600" dirty="0"/>
              <a:t>对于攻击者，利用公钥来推断私钥是计算不可行的</a:t>
            </a:r>
          </a:p>
          <a:p>
            <a:pPr lvl="1">
              <a:lnSpc>
                <a:spcPct val="150000"/>
              </a:lnSpc>
            </a:pPr>
            <a:r>
              <a:rPr lang="zh-CN" altLang="en-US" sz="2600" dirty="0"/>
              <a:t>已知公钥和密文，恢复明文是计算不可行的</a:t>
            </a:r>
          </a:p>
          <a:p>
            <a:pPr lvl="1">
              <a:lnSpc>
                <a:spcPct val="150000"/>
              </a:lnSpc>
            </a:pPr>
            <a:r>
              <a:rPr lang="en-US" altLang="zh-CN" sz="2600" dirty="0"/>
              <a:t>(</a:t>
            </a:r>
            <a:r>
              <a:rPr lang="zh-CN" altLang="en-US" sz="2600" dirty="0"/>
              <a:t>可选</a:t>
            </a:r>
            <a:r>
              <a:rPr lang="en-US" altLang="zh-CN" sz="2600" dirty="0"/>
              <a:t>)</a:t>
            </a:r>
            <a:r>
              <a:rPr lang="zh-CN" altLang="en-US" sz="2600" dirty="0"/>
              <a:t>加密和解密的顺序可交换</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a:t>
            </a:fld>
            <a:endParaRPr kumimoji="1" lang="zh-CN" altLang="en-US" dirty="0"/>
          </a:p>
        </p:txBody>
      </p:sp>
      <p:sp>
        <p:nvSpPr>
          <p:cNvPr id="6" name="文本框 5">
            <a:extLst>
              <a:ext uri="{FF2B5EF4-FFF2-40B4-BE49-F238E27FC236}">
                <a16:creationId xmlns:a16="http://schemas.microsoft.com/office/drawing/2014/main" id="{6C4271FF-CC31-F34A-6F76-904AF5544AB0}"/>
              </a:ext>
            </a:extLst>
          </p:cNvPr>
          <p:cNvSpPr txBox="1"/>
          <p:nvPr/>
        </p:nvSpPr>
        <p:spPr>
          <a:xfrm>
            <a:off x="7869383" y="3725747"/>
            <a:ext cx="4047259" cy="461665"/>
          </a:xfrm>
          <a:prstGeom prst="rect">
            <a:avLst/>
          </a:prstGeom>
          <a:noFill/>
        </p:spPr>
        <p:txBody>
          <a:bodyPr wrap="square">
            <a:spAutoFit/>
          </a:bodyPr>
          <a:lstStyle/>
          <a:p>
            <a:r>
              <a:rPr lang="zh-CN" altLang="en-US" sz="2400" dirty="0"/>
              <a:t>合法用户要极其简单、快速</a:t>
            </a:r>
          </a:p>
        </p:txBody>
      </p:sp>
      <p:sp>
        <p:nvSpPr>
          <p:cNvPr id="8" name="文本框 7">
            <a:extLst>
              <a:ext uri="{FF2B5EF4-FFF2-40B4-BE49-F238E27FC236}">
                <a16:creationId xmlns:a16="http://schemas.microsoft.com/office/drawing/2014/main" id="{CF93BECA-5B3E-E10A-B6B5-1CD4363AD5C3}"/>
              </a:ext>
            </a:extLst>
          </p:cNvPr>
          <p:cNvSpPr txBox="1"/>
          <p:nvPr/>
        </p:nvSpPr>
        <p:spPr>
          <a:xfrm>
            <a:off x="8285019" y="4976059"/>
            <a:ext cx="2956213" cy="461665"/>
          </a:xfrm>
          <a:prstGeom prst="rect">
            <a:avLst/>
          </a:prstGeom>
          <a:noFill/>
        </p:spPr>
        <p:txBody>
          <a:bodyPr wrap="square">
            <a:spAutoFit/>
          </a:bodyPr>
          <a:lstStyle/>
          <a:p>
            <a:r>
              <a:rPr lang="zh-CN" altLang="en-US" sz="2400" dirty="0"/>
              <a:t>攻击者要难如登天</a:t>
            </a:r>
          </a:p>
        </p:txBody>
      </p:sp>
      <p:sp>
        <p:nvSpPr>
          <p:cNvPr id="9" name="右大括号 8">
            <a:extLst>
              <a:ext uri="{FF2B5EF4-FFF2-40B4-BE49-F238E27FC236}">
                <a16:creationId xmlns:a16="http://schemas.microsoft.com/office/drawing/2014/main" id="{EFC09255-ADDD-E1FF-A03D-7249554CBA3A}"/>
              </a:ext>
            </a:extLst>
          </p:cNvPr>
          <p:cNvSpPr/>
          <p:nvPr/>
        </p:nvSpPr>
        <p:spPr>
          <a:xfrm>
            <a:off x="7481455" y="3293918"/>
            <a:ext cx="264969" cy="1319646"/>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右大括号 9">
            <a:extLst>
              <a:ext uri="{FF2B5EF4-FFF2-40B4-BE49-F238E27FC236}">
                <a16:creationId xmlns:a16="http://schemas.microsoft.com/office/drawing/2014/main" id="{269EC53C-9840-C095-BD1B-1FB16D075B31}"/>
              </a:ext>
            </a:extLst>
          </p:cNvPr>
          <p:cNvSpPr/>
          <p:nvPr/>
        </p:nvSpPr>
        <p:spPr>
          <a:xfrm>
            <a:off x="7942119" y="4839715"/>
            <a:ext cx="230332" cy="734354"/>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590441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5.1.3 </a:t>
            </a:r>
            <a:r>
              <a:rPr kumimoji="1" lang="zh-CN" altLang="zh-CN" dirty="0">
                <a:solidFill>
                  <a:prstClr val="black"/>
                </a:solidFill>
              </a:rPr>
              <a:t>公钥密码的</a:t>
            </a:r>
            <a:r>
              <a:rPr kumimoji="1" lang="zh-CN" altLang="en-US" dirty="0">
                <a:solidFill>
                  <a:prstClr val="black"/>
                </a:solidFill>
              </a:rPr>
              <a:t>要求</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510757"/>
                <a:ext cx="10515600" cy="4878167"/>
              </a:xfrm>
            </p:spPr>
            <p:txBody>
              <a:bodyPr>
                <a:normAutofit/>
              </a:bodyPr>
              <a:lstStyle/>
              <a:p>
                <a:pPr>
                  <a:lnSpc>
                    <a:spcPct val="150000"/>
                  </a:lnSpc>
                </a:pPr>
                <a:r>
                  <a:rPr lang="zh-CN" altLang="en-US" b="1" dirty="0">
                    <a:solidFill>
                      <a:srgbClr val="FF0000"/>
                    </a:solidFill>
                  </a:rPr>
                  <a:t>单向陷门函数</a:t>
                </a:r>
                <a:r>
                  <a:rPr lang="zh-CN" altLang="en-US" dirty="0"/>
                  <a:t>是满足下列条件的函数</a:t>
                </a:r>
                <a14:m>
                  <m:oMath xmlns:m="http://schemas.openxmlformats.org/officeDocument/2006/math">
                    <m:r>
                      <a:rPr lang="en-US" altLang="zh-CN" i="1" dirty="0" smtClean="0">
                        <a:latin typeface="Cambria Math" panose="02040503050406030204" pitchFamily="18" charset="0"/>
                      </a:rPr>
                      <m:t>𝑓</m:t>
                    </m:r>
                  </m:oMath>
                </a14:m>
                <a:r>
                  <a:rPr lang="zh-CN" altLang="en-US" dirty="0"/>
                  <a:t>：</a:t>
                </a:r>
              </a:p>
              <a:p>
                <a:pPr lvl="1">
                  <a:lnSpc>
                    <a:spcPct val="150000"/>
                  </a:lnSpc>
                </a:pPr>
                <a:r>
                  <a:rPr lang="en-US" altLang="zh-CN" dirty="0"/>
                  <a:t>(1)</a:t>
                </a:r>
                <a:r>
                  <a:rPr lang="zh-CN" altLang="en-US" dirty="0"/>
                  <a:t>给定</a:t>
                </a:r>
                <a14:m>
                  <m:oMath xmlns:m="http://schemas.openxmlformats.org/officeDocument/2006/math">
                    <m:r>
                      <a:rPr lang="en-US" altLang="zh-CN" i="1" dirty="0" smtClean="0">
                        <a:latin typeface="Cambria Math" panose="02040503050406030204" pitchFamily="18" charset="0"/>
                      </a:rPr>
                      <m:t>𝑥</m:t>
                    </m:r>
                  </m:oMath>
                </a14:m>
                <a:r>
                  <a:rPr lang="zh-CN" altLang="en-US" dirty="0"/>
                  <a:t>，计算</a:t>
                </a:r>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oMath>
                </a14:m>
                <a:r>
                  <a:rPr lang="en-US" altLang="zh-CN" dirty="0"/>
                  <a:t> </a:t>
                </a:r>
                <a:r>
                  <a:rPr lang="zh-CN" altLang="en-US" dirty="0"/>
                  <a:t>是容易的；</a:t>
                </a:r>
              </a:p>
              <a:p>
                <a:pPr lvl="1">
                  <a:lnSpc>
                    <a:spcPct val="150000"/>
                  </a:lnSpc>
                </a:pPr>
                <a:r>
                  <a:rPr lang="en-US" altLang="zh-CN" dirty="0"/>
                  <a:t>(2)</a:t>
                </a:r>
                <a:r>
                  <a:rPr lang="zh-CN" altLang="en-US" dirty="0"/>
                  <a:t>给定</a:t>
                </a:r>
                <a14:m>
                  <m:oMath xmlns:m="http://schemas.openxmlformats.org/officeDocument/2006/math">
                    <m:r>
                      <a:rPr lang="en-US" altLang="zh-CN" i="1" dirty="0" smtClean="0">
                        <a:latin typeface="Cambria Math" panose="02040503050406030204" pitchFamily="18" charset="0"/>
                      </a:rPr>
                      <m:t>𝑦</m:t>
                    </m:r>
                  </m:oMath>
                </a14:m>
                <a:r>
                  <a:rPr lang="en-US" altLang="zh-CN" dirty="0"/>
                  <a:t>,  </a:t>
                </a:r>
                <a:r>
                  <a:rPr lang="zh-CN" altLang="en-US" dirty="0"/>
                  <a:t>计算</a:t>
                </a:r>
                <a14:m>
                  <m:oMath xmlns:m="http://schemas.openxmlformats.org/officeDocument/2006/math">
                    <m:r>
                      <a:rPr lang="en-US" altLang="zh-CN" i="1" dirty="0" smtClean="0">
                        <a:latin typeface="Cambria Math" panose="02040503050406030204" pitchFamily="18" charset="0"/>
                      </a:rPr>
                      <m:t>𝑥</m:t>
                    </m:r>
                  </m:oMath>
                </a14:m>
                <a:r>
                  <a:rPr lang="zh-CN" altLang="en-US" dirty="0"/>
                  <a:t>使</a:t>
                </a:r>
                <a14:m>
                  <m:oMath xmlns:m="http://schemas.openxmlformats.org/officeDocument/2006/math">
                    <m:r>
                      <a:rPr lang="en-US" altLang="zh-CN" b="0" i="1" dirty="0" smtClean="0">
                        <a:latin typeface="Cambria Math" panose="02040503050406030204" pitchFamily="18" charset="0"/>
                      </a:rPr>
                      <m:t>𝑥</m:t>
                    </m:r>
                    <m:r>
                      <a:rPr lang="en-US" altLang="zh-CN" b="0" i="1" dirty="0" smtClean="0">
                        <a:latin typeface="Cambria Math" panose="02040503050406030204" pitchFamily="18" charset="0"/>
                      </a:rPr>
                      <m:t>=</m:t>
                    </m:r>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𝑓</m:t>
                        </m:r>
                      </m:e>
                      <m:sub>
                        <m:r>
                          <a:rPr lang="en-US" altLang="zh-CN" b="0" i="1" dirty="0" smtClean="0">
                            <a:latin typeface="Cambria Math" panose="02040503050406030204" pitchFamily="18" charset="0"/>
                          </a:rPr>
                          <m:t>𝑘</m:t>
                        </m:r>
                      </m:sub>
                      <m:sup>
                        <m:r>
                          <a:rPr lang="en-US" altLang="zh-CN" b="0" i="1" dirty="0" smtClean="0">
                            <a:latin typeface="Cambria Math" panose="02040503050406030204" pitchFamily="18" charset="0"/>
                          </a:rPr>
                          <m:t>−1</m:t>
                        </m:r>
                      </m:sup>
                    </m:sSub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𝑦</m:t>
                    </m:r>
                    <m:r>
                      <a:rPr lang="en-US" altLang="zh-CN" b="0" i="1" dirty="0" smtClean="0">
                        <a:latin typeface="Cambria Math" panose="02040503050406030204" pitchFamily="18" charset="0"/>
                      </a:rPr>
                      <m:t>)</m:t>
                    </m:r>
                  </m:oMath>
                </a14:m>
                <a:r>
                  <a:rPr lang="en-US" altLang="zh-CN" dirty="0"/>
                  <a:t> </a:t>
                </a:r>
                <a:r>
                  <a:rPr lang="zh-CN" altLang="en-US" dirty="0"/>
                  <a:t>是不可行的。</a:t>
                </a:r>
              </a:p>
              <a:p>
                <a:pPr lvl="1">
                  <a:lnSpc>
                    <a:spcPct val="150000"/>
                  </a:lnSpc>
                </a:pPr>
                <a:r>
                  <a:rPr lang="en-US" altLang="zh-CN" dirty="0"/>
                  <a:t>(3)</a:t>
                </a:r>
                <a:r>
                  <a:rPr lang="zh-CN" altLang="en-US" dirty="0"/>
                  <a:t>存在</a:t>
                </a:r>
                <a14:m>
                  <m:oMath xmlns:m="http://schemas.openxmlformats.org/officeDocument/2006/math">
                    <m:r>
                      <a:rPr lang="en-US" altLang="zh-CN" i="1" dirty="0" smtClean="0">
                        <a:latin typeface="Cambria Math" panose="02040503050406030204" pitchFamily="18" charset="0"/>
                      </a:rPr>
                      <m:t>𝑘</m:t>
                    </m:r>
                  </m:oMath>
                </a14:m>
                <a:r>
                  <a:rPr lang="zh-CN" altLang="en-US" dirty="0"/>
                  <a:t>，已知</a:t>
                </a:r>
                <a14:m>
                  <m:oMath xmlns:m="http://schemas.openxmlformats.org/officeDocument/2006/math">
                    <m:r>
                      <a:rPr lang="en-US" altLang="zh-CN" i="1" dirty="0" smtClean="0">
                        <a:latin typeface="Cambria Math" panose="02040503050406030204" pitchFamily="18" charset="0"/>
                      </a:rPr>
                      <m:t>𝑘</m:t>
                    </m:r>
                  </m:oMath>
                </a14:m>
                <a:r>
                  <a:rPr lang="en-US" altLang="zh-CN" dirty="0"/>
                  <a:t> </a:t>
                </a:r>
                <a:r>
                  <a:rPr lang="zh-CN" altLang="en-US" dirty="0"/>
                  <a:t>时</a:t>
                </a:r>
                <a:r>
                  <a:rPr lang="en-US" altLang="zh-CN" dirty="0"/>
                  <a:t>,</a:t>
                </a:r>
                <a:r>
                  <a:rPr lang="zh-CN" altLang="en-US" dirty="0"/>
                  <a:t>对给定的任何</a:t>
                </a:r>
                <a14:m>
                  <m:oMath xmlns:m="http://schemas.openxmlformats.org/officeDocument/2006/math">
                    <m:r>
                      <a:rPr lang="en-US" altLang="zh-CN" i="1" dirty="0" smtClean="0">
                        <a:latin typeface="Cambria Math" panose="02040503050406030204" pitchFamily="18" charset="0"/>
                      </a:rPr>
                      <m:t>𝑦</m:t>
                    </m:r>
                  </m:oMath>
                </a14:m>
                <a:r>
                  <a:rPr lang="zh-CN" altLang="en-US" dirty="0"/>
                  <a:t>，若相应的</a:t>
                </a:r>
                <a14:m>
                  <m:oMath xmlns:m="http://schemas.openxmlformats.org/officeDocument/2006/math">
                    <m:r>
                      <a:rPr lang="en-US" altLang="zh-CN" i="1" dirty="0" smtClean="0">
                        <a:latin typeface="Cambria Math" panose="02040503050406030204" pitchFamily="18" charset="0"/>
                      </a:rPr>
                      <m:t>𝑥</m:t>
                    </m:r>
                  </m:oMath>
                </a14:m>
                <a:r>
                  <a:rPr lang="zh-CN" altLang="en-US" dirty="0"/>
                  <a:t>存在，则计算</a:t>
                </a:r>
                <a14:m>
                  <m:oMath xmlns:m="http://schemas.openxmlformats.org/officeDocument/2006/math">
                    <m:r>
                      <a:rPr lang="en-US" altLang="zh-CN" i="1" dirty="0" smtClean="0">
                        <a:latin typeface="Cambria Math" panose="02040503050406030204" pitchFamily="18" charset="0"/>
                      </a:rPr>
                      <m:t>𝑥</m:t>
                    </m:r>
                  </m:oMath>
                </a14:m>
                <a:r>
                  <a:rPr lang="zh-CN" altLang="en-US" dirty="0"/>
                  <a:t>使</a:t>
                </a:r>
                <a:r>
                  <a:rPr lang="en-US" altLang="zh-CN" dirty="0"/>
                  <a:t> </a:t>
                </a:r>
                <a14:m>
                  <m:oMath xmlns:m="http://schemas.openxmlformats.org/officeDocument/2006/math">
                    <m:r>
                      <a:rPr lang="en-US" altLang="zh-CN" i="1" dirty="0">
                        <a:latin typeface="Cambria Math" panose="02040503050406030204" pitchFamily="18" charset="0"/>
                      </a:rPr>
                      <m:t>𝑥</m:t>
                    </m:r>
                    <m:r>
                      <a:rPr lang="en-US" altLang="zh-CN"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𝑓</m:t>
                        </m:r>
                      </m:e>
                      <m:sub>
                        <m:r>
                          <a:rPr lang="en-US" altLang="zh-CN" i="1" dirty="0">
                            <a:latin typeface="Cambria Math" panose="02040503050406030204" pitchFamily="18" charset="0"/>
                          </a:rPr>
                          <m:t>𝑘</m:t>
                        </m:r>
                      </m:sub>
                      <m:sup>
                        <m:r>
                          <a:rPr lang="en-US" altLang="zh-CN" i="1" dirty="0">
                            <a:latin typeface="Cambria Math" panose="02040503050406030204" pitchFamily="18" charset="0"/>
                          </a:rPr>
                          <m:t>−1</m:t>
                        </m:r>
                      </m:sup>
                    </m:sSubSup>
                    <m:r>
                      <a:rPr lang="en-US" altLang="zh-CN" i="1" dirty="0">
                        <a:latin typeface="Cambria Math" panose="02040503050406030204" pitchFamily="18" charset="0"/>
                      </a:rPr>
                      <m:t>(</m:t>
                    </m:r>
                    <m:r>
                      <a:rPr lang="en-US" altLang="zh-CN" i="1" dirty="0">
                        <a:latin typeface="Cambria Math" panose="02040503050406030204" pitchFamily="18" charset="0"/>
                      </a:rPr>
                      <m:t>𝑦</m:t>
                    </m:r>
                    <m:r>
                      <a:rPr lang="en-US" altLang="zh-CN" i="1" dirty="0">
                        <a:latin typeface="Cambria Math" panose="02040503050406030204" pitchFamily="18" charset="0"/>
                      </a:rPr>
                      <m:t>)</m:t>
                    </m:r>
                  </m:oMath>
                </a14:m>
                <a:r>
                  <a:rPr lang="zh-CN" altLang="en-US" dirty="0"/>
                  <a:t>是容易的。</a:t>
                </a:r>
              </a:p>
              <a:p>
                <a:pPr lvl="1"/>
                <a:r>
                  <a:rPr lang="zh-CN" altLang="en-US" sz="2000" dirty="0">
                    <a:highlight>
                      <a:srgbClr val="FFFF00"/>
                    </a:highlight>
                  </a:rPr>
                  <a:t>单向函数：正着容易反着难，如素数分解</a:t>
                </a:r>
                <a:endParaRPr lang="en-US" altLang="zh-CN" sz="2000" dirty="0">
                  <a:highlight>
                    <a:srgbClr val="FFFF00"/>
                  </a:highlight>
                </a:endParaRPr>
              </a:p>
              <a:p>
                <a:pPr lvl="1"/>
                <a:r>
                  <a:rPr lang="zh-CN" altLang="en-US" sz="2000" dirty="0">
                    <a:highlight>
                      <a:srgbClr val="FFFF00"/>
                    </a:highlight>
                  </a:rPr>
                  <a:t>陷门：捷径的意思，私钥可抄近路得到答案</a:t>
                </a:r>
                <a:endParaRPr lang="en-US" altLang="zh-CN" dirty="0">
                  <a:solidFill>
                    <a:srgbClr val="7030A0"/>
                  </a:solidFill>
                </a:endParaRPr>
              </a:p>
              <a:p>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510757"/>
                <a:ext cx="10515600" cy="4878167"/>
              </a:xfrm>
              <a:blipFill>
                <a:blip r:embed="rId2"/>
                <a:stretch>
                  <a:fillRect l="-1043"/>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8D4D1E41-7A09-AB4A-A4E1-09765ADA2698}" type="slidenum">
              <a:rPr kumimoji="1" lang="zh-CN" altLang="en-US" smtClean="0"/>
              <a:pPr/>
              <a:t>12</a:t>
            </a:fld>
            <a:endParaRPr kumimoji="1" lang="zh-CN" altLang="en-US" dirty="0"/>
          </a:p>
        </p:txBody>
      </p:sp>
    </p:spTree>
    <p:extLst>
      <p:ext uri="{BB962C8B-B14F-4D97-AF65-F5344CB8AC3E}">
        <p14:creationId xmlns:p14="http://schemas.microsoft.com/office/powerpoint/2010/main" val="2040144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5.1.3 </a:t>
            </a:r>
            <a:r>
              <a:rPr kumimoji="1" lang="zh-CN" altLang="zh-CN" dirty="0">
                <a:solidFill>
                  <a:prstClr val="black"/>
                </a:solidFill>
              </a:rPr>
              <a:t>公钥密码的</a:t>
            </a:r>
            <a:r>
              <a:rPr kumimoji="1" lang="zh-CN" altLang="en-US" dirty="0">
                <a:solidFill>
                  <a:prstClr val="black"/>
                </a:solidFill>
              </a:rPr>
              <a:t>要求</a:t>
            </a:r>
            <a:endParaRPr lang="zh-CN" altLang="en-US" dirty="0"/>
          </a:p>
        </p:txBody>
      </p:sp>
      <p:sp>
        <p:nvSpPr>
          <p:cNvPr id="3" name="内容占位符 2"/>
          <p:cNvSpPr>
            <a:spLocks noGrp="1"/>
          </p:cNvSpPr>
          <p:nvPr>
            <p:ph idx="1"/>
          </p:nvPr>
        </p:nvSpPr>
        <p:spPr>
          <a:xfrm>
            <a:off x="838200" y="1498057"/>
            <a:ext cx="10515600" cy="5220243"/>
          </a:xfrm>
        </p:spPr>
        <p:txBody>
          <a:bodyPr>
            <a:normAutofit/>
          </a:bodyPr>
          <a:lstStyle/>
          <a:p>
            <a:pPr>
              <a:lnSpc>
                <a:spcPct val="150000"/>
              </a:lnSpc>
            </a:pPr>
            <a:r>
              <a:rPr lang="zh-CN" altLang="en-US" dirty="0"/>
              <a:t>公钥密码</a:t>
            </a:r>
            <a:r>
              <a:rPr lang="zh-CN" altLang="en-US" dirty="0">
                <a:highlight>
                  <a:srgbClr val="FFFF00"/>
                </a:highlight>
              </a:rPr>
              <a:t>基于的数学难题</a:t>
            </a:r>
            <a:endParaRPr lang="en-US" altLang="zh-CN" dirty="0">
              <a:highlight>
                <a:srgbClr val="FFFF00"/>
              </a:highlight>
            </a:endParaRPr>
          </a:p>
          <a:p>
            <a:pPr lvl="1">
              <a:lnSpc>
                <a:spcPct val="150000"/>
              </a:lnSpc>
            </a:pPr>
            <a:r>
              <a:rPr lang="zh-CN" altLang="en-US" dirty="0"/>
              <a:t>背包问题（早期公钥体制，如</a:t>
            </a:r>
            <a:r>
              <a:rPr lang="en-US" altLang="zh-CN" dirty="0"/>
              <a:t>MH</a:t>
            </a:r>
            <a:r>
              <a:rPr lang="zh-CN" altLang="en-US" dirty="0"/>
              <a:t>背包密码尝试过）</a:t>
            </a:r>
          </a:p>
          <a:p>
            <a:pPr lvl="1">
              <a:lnSpc>
                <a:spcPct val="150000"/>
              </a:lnSpc>
            </a:pPr>
            <a:r>
              <a:rPr lang="zh-CN" altLang="en-US" dirty="0"/>
              <a:t>大整数分解问题（</a:t>
            </a:r>
            <a:r>
              <a:rPr lang="en-US" altLang="zh-CN" dirty="0"/>
              <a:t>The Integer Factorization Problem, RSA</a:t>
            </a:r>
            <a:r>
              <a:rPr lang="zh-CN" altLang="en-US" dirty="0"/>
              <a:t>体制，</a:t>
            </a:r>
            <a:r>
              <a:rPr lang="en-US" altLang="zh-CN" dirty="0"/>
              <a:t>Rabin </a:t>
            </a:r>
            <a:r>
              <a:rPr lang="zh-CN" altLang="en-US" dirty="0"/>
              <a:t>密码）</a:t>
            </a:r>
          </a:p>
          <a:p>
            <a:pPr lvl="1">
              <a:lnSpc>
                <a:spcPct val="150000"/>
              </a:lnSpc>
            </a:pPr>
            <a:r>
              <a:rPr lang="zh-CN" altLang="en-US" dirty="0"/>
              <a:t>有限域的乘法群上的离散对数问题 </a:t>
            </a:r>
            <a:r>
              <a:rPr lang="en-US" altLang="zh-CN" dirty="0"/>
              <a:t>(The Discrete Logarithm Problem</a:t>
            </a:r>
            <a:r>
              <a:rPr lang="zh-CN" altLang="en-US" dirty="0"/>
              <a:t>，</a:t>
            </a:r>
            <a:r>
              <a:rPr lang="en-US" altLang="zh-CN" dirty="0" err="1"/>
              <a:t>ElGamal</a:t>
            </a:r>
            <a:r>
              <a:rPr lang="zh-CN" altLang="en-US" dirty="0"/>
              <a:t>体制、</a:t>
            </a:r>
            <a:r>
              <a:rPr lang="en-US" altLang="zh-CN" dirty="0"/>
              <a:t>Diffie-Hellman </a:t>
            </a:r>
            <a:r>
              <a:rPr lang="zh-CN" altLang="en-US" dirty="0"/>
              <a:t>密钥交换，</a:t>
            </a:r>
            <a:r>
              <a:rPr lang="en-US" altLang="zh-CN" dirty="0"/>
              <a:t>DSS(DSA)</a:t>
            </a:r>
            <a:r>
              <a:rPr lang="zh-CN" altLang="en-US" dirty="0"/>
              <a:t>算法）</a:t>
            </a:r>
          </a:p>
          <a:p>
            <a:pPr lvl="1">
              <a:lnSpc>
                <a:spcPct val="150000"/>
              </a:lnSpc>
            </a:pPr>
            <a:r>
              <a:rPr lang="zh-CN" altLang="en-US" dirty="0"/>
              <a:t>椭圆曲线上的离散对数问题（</a:t>
            </a:r>
            <a:r>
              <a:rPr lang="en-US" altLang="zh-CN" dirty="0"/>
              <a:t>The Elliptic Curve Discrete Logarithm Problem</a:t>
            </a:r>
            <a:r>
              <a:rPr lang="zh-CN" altLang="en-US" dirty="0"/>
              <a:t>，类比的</a:t>
            </a:r>
            <a:r>
              <a:rPr lang="en-US" altLang="zh-CN" dirty="0" err="1"/>
              <a:t>ElGamal</a:t>
            </a:r>
            <a:r>
              <a:rPr lang="zh-CN" altLang="en-US" dirty="0"/>
              <a:t>体制，</a:t>
            </a:r>
            <a:r>
              <a:rPr lang="en-US" altLang="zh-CN" dirty="0"/>
              <a:t>ECC</a:t>
            </a:r>
            <a:r>
              <a:rPr lang="zh-CN" altLang="en-US" dirty="0"/>
              <a:t>）</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13</a:t>
            </a:fld>
            <a:endParaRPr kumimoji="1" lang="zh-CN" altLang="en-US" dirty="0"/>
          </a:p>
        </p:txBody>
      </p:sp>
    </p:spTree>
    <p:extLst>
      <p:ext uri="{BB962C8B-B14F-4D97-AF65-F5344CB8AC3E}">
        <p14:creationId xmlns:p14="http://schemas.microsoft.com/office/powerpoint/2010/main" val="1470751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6971"/>
          </a:xfrm>
        </p:spPr>
        <p:txBody>
          <a:bodyPr>
            <a:normAutofit/>
          </a:bodyPr>
          <a:lstStyle/>
          <a:p>
            <a:pPr>
              <a:lnSpc>
                <a:spcPct val="150000"/>
              </a:lnSpc>
              <a:buNone/>
            </a:pPr>
            <a:r>
              <a:rPr kumimoji="1" lang="en-US" altLang="zh-CN" sz="3000" dirty="0"/>
              <a:t>5.1 </a:t>
            </a:r>
            <a:r>
              <a:rPr kumimoji="1" lang="zh-CN" altLang="zh-CN" sz="3000" dirty="0"/>
              <a:t>公钥密码原理</a:t>
            </a:r>
            <a:endParaRPr kumimoji="1" lang="en-US" altLang="zh-CN" sz="3000" dirty="0"/>
          </a:p>
          <a:p>
            <a:pPr>
              <a:lnSpc>
                <a:spcPct val="150000"/>
              </a:lnSpc>
              <a:buNone/>
            </a:pPr>
            <a:r>
              <a:rPr kumimoji="1" lang="en-US" altLang="zh-CN" sz="3000" dirty="0">
                <a:solidFill>
                  <a:srgbClr val="C00000"/>
                </a:solidFill>
              </a:rPr>
              <a:t>5.2 </a:t>
            </a:r>
            <a:r>
              <a:rPr kumimoji="1" lang="zh-CN" altLang="zh-CN" sz="3000" dirty="0">
                <a:solidFill>
                  <a:srgbClr val="C00000"/>
                </a:solidFill>
              </a:rPr>
              <a:t>公钥密码算法</a:t>
            </a:r>
            <a:endParaRPr kumimoji="1" lang="en-US" altLang="zh-CN" sz="3000" dirty="0">
              <a:solidFill>
                <a:srgbClr val="C00000"/>
              </a:solidFill>
            </a:endParaRPr>
          </a:p>
          <a:p>
            <a:pPr>
              <a:lnSpc>
                <a:spcPct val="150000"/>
              </a:lnSpc>
              <a:buNone/>
            </a:pPr>
            <a:r>
              <a:rPr kumimoji="1" lang="en-US" altLang="zh-CN" sz="3000" dirty="0"/>
              <a:t>5.3 </a:t>
            </a:r>
            <a:r>
              <a:rPr kumimoji="1" lang="zh-CN" altLang="zh-CN" sz="3000" dirty="0"/>
              <a:t>数字签名</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矩形标注 6">
            <a:extLst>
              <a:ext uri="{FF2B5EF4-FFF2-40B4-BE49-F238E27FC236}">
                <a16:creationId xmlns:a16="http://schemas.microsoft.com/office/drawing/2014/main" id="{981187B3-3584-BA4E-A14C-4B26773516C6}"/>
              </a:ext>
            </a:extLst>
          </p:cNvPr>
          <p:cNvSpPr/>
          <p:nvPr/>
        </p:nvSpPr>
        <p:spPr>
          <a:xfrm>
            <a:off x="6316392" y="1840675"/>
            <a:ext cx="4504008" cy="4429495"/>
          </a:xfrm>
          <a:prstGeom prst="wedgeRectCallout">
            <a:avLst>
              <a:gd name="adj1" fmla="val -95777"/>
              <a:gd name="adj2" fmla="val -3768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背包算法</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RSA</a:t>
            </a:r>
            <a:r>
              <a:rPr kumimoji="1" lang="zh-CN" altLang="zh-CN" sz="2400" dirty="0">
                <a:solidFill>
                  <a:prstClr val="black"/>
                </a:solidFill>
                <a:latin typeface="Microsoft YaHei" panose="020B0503020204020204" pitchFamily="34" charset="-122"/>
                <a:ea typeface="Microsoft YaHei" panose="020B0503020204020204" pitchFamily="34" charset="-122"/>
              </a:rPr>
              <a:t>公钥算法</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Rabin</a:t>
            </a:r>
            <a:r>
              <a:rPr kumimoji="1" lang="zh-CN" altLang="en-US" sz="2400" dirty="0">
                <a:solidFill>
                  <a:prstClr val="black"/>
                </a:solidFill>
                <a:latin typeface="Microsoft YaHei" panose="020B0503020204020204" pitchFamily="34" charset="-122"/>
                <a:ea typeface="Microsoft YaHei" panose="020B0503020204020204" pitchFamily="34" charset="-122"/>
              </a:rPr>
              <a:t>密码体制</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ElGamal</a:t>
            </a:r>
            <a:r>
              <a:rPr kumimoji="1" lang="zh-CN" altLang="en-US" sz="2400" dirty="0">
                <a:solidFill>
                  <a:prstClr val="black"/>
                </a:solidFill>
                <a:latin typeface="Microsoft YaHei" panose="020B0503020204020204" pitchFamily="34" charset="-122"/>
                <a:ea typeface="Microsoft YaHei" panose="020B0503020204020204" pitchFamily="34" charset="-122"/>
              </a:rPr>
              <a:t>密码体制</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椭圆曲线公钥密码</a:t>
            </a:r>
            <a:r>
              <a:rPr kumimoji="1" lang="en-US" altLang="zh-CN" sz="2400" dirty="0">
                <a:solidFill>
                  <a:prstClr val="black"/>
                </a:solidFill>
                <a:latin typeface="Microsoft YaHei" panose="020B0503020204020204" pitchFamily="34" charset="-122"/>
                <a:ea typeface="Microsoft YaHei" panose="020B0503020204020204" pitchFamily="34" charset="-122"/>
              </a:rPr>
              <a:t>ECC</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Diffie-Hellman</a:t>
            </a:r>
            <a:r>
              <a:rPr kumimoji="1" lang="zh-CN" altLang="zh-CN" sz="2400" dirty="0">
                <a:solidFill>
                  <a:prstClr val="black"/>
                </a:solidFill>
                <a:latin typeface="Microsoft YaHei" panose="020B0503020204020204" pitchFamily="34" charset="-122"/>
                <a:ea typeface="Microsoft YaHei" panose="020B0503020204020204" pitchFamily="34" charset="-122"/>
              </a:rPr>
              <a:t>密钥交换</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公开密钥密码总结</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5623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5.2.1 </a:t>
            </a:r>
            <a:r>
              <a:rPr kumimoji="1" lang="zh-CN" altLang="en-US" dirty="0">
                <a:solidFill>
                  <a:prstClr val="black"/>
                </a:solidFill>
              </a:rPr>
              <a:t>背包</a:t>
            </a:r>
            <a:r>
              <a:rPr kumimoji="1" lang="zh-CN" altLang="zh-CN" dirty="0">
                <a:solidFill>
                  <a:prstClr val="black"/>
                </a:solidFill>
              </a:rPr>
              <a:t>算法</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pPr>
            <a:r>
              <a:rPr lang="zh-CN" altLang="en-US" dirty="0">
                <a:solidFill>
                  <a:srgbClr val="C00000"/>
                </a:solidFill>
              </a:rPr>
              <a:t>背包问题</a:t>
            </a:r>
            <a:r>
              <a:rPr lang="zh-CN" altLang="en-US" dirty="0"/>
              <a:t>描述：给定重量分别为</a:t>
            </a:r>
            <a:r>
              <a:rPr lang="en-US" altLang="zh-CN" dirty="0"/>
              <a:t>a</a:t>
            </a:r>
            <a:r>
              <a:rPr lang="en-US" altLang="zh-CN" baseline="-25000" dirty="0"/>
              <a:t>1</a:t>
            </a:r>
            <a:r>
              <a:rPr lang="en-US" altLang="zh-CN" dirty="0"/>
              <a:t>,a</a:t>
            </a:r>
            <a:r>
              <a:rPr lang="en-US" altLang="zh-CN" baseline="-25000" dirty="0"/>
              <a:t>2</a:t>
            </a:r>
            <a:r>
              <a:rPr lang="en-US" altLang="zh-CN" dirty="0"/>
              <a:t>,…a</a:t>
            </a:r>
            <a:r>
              <a:rPr lang="en-US" altLang="zh-CN" baseline="-25000" dirty="0"/>
              <a:t>n</a:t>
            </a:r>
            <a:r>
              <a:rPr lang="zh-CN" altLang="en-US" dirty="0"/>
              <a:t>的</a:t>
            </a:r>
            <a:r>
              <a:rPr lang="en-US" altLang="zh-CN" dirty="0"/>
              <a:t>n</a:t>
            </a:r>
            <a:r>
              <a:rPr lang="zh-CN" altLang="en-US" dirty="0"/>
              <a:t>个物品</a:t>
            </a:r>
            <a:r>
              <a:rPr lang="en-US" altLang="zh-CN" dirty="0"/>
              <a:t>,</a:t>
            </a:r>
            <a:r>
              <a:rPr lang="zh-CN" altLang="en-US" dirty="0"/>
              <a:t>装入一个背包中</a:t>
            </a:r>
            <a:r>
              <a:rPr lang="en-US" altLang="zh-CN" dirty="0"/>
              <a:t>,</a:t>
            </a:r>
            <a:r>
              <a:rPr lang="zh-CN" altLang="en-US" dirty="0"/>
              <a:t>要求重量等于一个给定值。那么，究竟是那些物品？</a:t>
            </a:r>
          </a:p>
          <a:p>
            <a:pPr>
              <a:lnSpc>
                <a:spcPct val="150000"/>
              </a:lnSpc>
            </a:pPr>
            <a:r>
              <a:rPr lang="en-US" altLang="zh-CN" dirty="0"/>
              <a:t>0-1</a:t>
            </a:r>
            <a:r>
              <a:rPr lang="zh-CN" altLang="en-US" dirty="0"/>
              <a:t>背包问题：</a:t>
            </a:r>
          </a:p>
          <a:p>
            <a:pPr lvl="1">
              <a:lnSpc>
                <a:spcPct val="150000"/>
              </a:lnSpc>
            </a:pPr>
            <a:r>
              <a:rPr lang="zh-CN" altLang="en-US" sz="2800" dirty="0"/>
              <a:t>给定一个正整数</a:t>
            </a:r>
            <a:r>
              <a:rPr lang="en-US" altLang="zh-CN" sz="2800" dirty="0"/>
              <a:t>S</a:t>
            </a:r>
            <a:r>
              <a:rPr lang="zh-CN" altLang="en-US" sz="2800" dirty="0"/>
              <a:t>和一个背包向量</a:t>
            </a:r>
            <a:r>
              <a:rPr lang="en-US" altLang="zh-CN" sz="2800" dirty="0"/>
              <a:t>A=(a</a:t>
            </a:r>
            <a:r>
              <a:rPr lang="en-US" altLang="zh-CN" sz="2800" baseline="-25000" dirty="0"/>
              <a:t>1</a:t>
            </a:r>
            <a:r>
              <a:rPr lang="en-US" altLang="zh-CN" sz="2800" dirty="0"/>
              <a:t>,…,a</a:t>
            </a:r>
            <a:r>
              <a:rPr lang="en-US" altLang="zh-CN" sz="2800" baseline="-25000" dirty="0"/>
              <a:t>n</a:t>
            </a:r>
            <a:r>
              <a:rPr lang="en-US" altLang="zh-CN" sz="2800" dirty="0"/>
              <a:t>)</a:t>
            </a:r>
            <a:r>
              <a:rPr lang="zh-CN" altLang="en-US" sz="2800" dirty="0"/>
              <a:t>，其中</a:t>
            </a:r>
            <a:r>
              <a:rPr lang="en-US" altLang="zh-CN" sz="2800" dirty="0"/>
              <a:t>a</a:t>
            </a:r>
            <a:r>
              <a:rPr lang="en-US" altLang="zh-CN" sz="2800" baseline="-25000" dirty="0"/>
              <a:t>i</a:t>
            </a:r>
            <a:r>
              <a:rPr lang="zh-CN" altLang="en-US" sz="2800" dirty="0"/>
              <a:t>是正整数，求满足方程：</a:t>
            </a:r>
            <a:r>
              <a:rPr lang="en-US" altLang="zh-CN" sz="2800" dirty="0"/>
              <a:t>S = ∑</a:t>
            </a:r>
            <a:r>
              <a:rPr lang="en-US" altLang="zh-CN" sz="2800" dirty="0" err="1"/>
              <a:t>a</a:t>
            </a:r>
            <a:r>
              <a:rPr lang="en-US" altLang="zh-CN" sz="2800" baseline="-25000" dirty="0" err="1"/>
              <a:t>i</a:t>
            </a:r>
            <a:r>
              <a:rPr lang="en-US" altLang="zh-CN" sz="2800" dirty="0" err="1"/>
              <a:t>x</a:t>
            </a:r>
            <a:r>
              <a:rPr lang="en-US" altLang="zh-CN" sz="2800" baseline="-25000" dirty="0" err="1"/>
              <a:t>i</a:t>
            </a:r>
            <a:r>
              <a:rPr lang="en-US" altLang="zh-CN" sz="2800" baseline="-25000" dirty="0"/>
              <a:t> </a:t>
            </a:r>
            <a:r>
              <a:rPr lang="en-US" altLang="zh-CN" sz="2800" dirty="0"/>
              <a:t> </a:t>
            </a:r>
            <a:r>
              <a:rPr lang="zh-CN" altLang="en-US" sz="2800" dirty="0"/>
              <a:t>的二进制向量</a:t>
            </a:r>
            <a:r>
              <a:rPr lang="en-US" altLang="zh-CN" sz="2800" dirty="0"/>
              <a:t>X=(x</a:t>
            </a:r>
            <a:r>
              <a:rPr lang="en-US" altLang="zh-CN" sz="2800" baseline="-25000" dirty="0"/>
              <a:t>1</a:t>
            </a:r>
            <a:r>
              <a:rPr lang="en-US" altLang="zh-CN" sz="2800" dirty="0"/>
              <a:t>,…,</a:t>
            </a:r>
            <a:r>
              <a:rPr lang="en-US" altLang="zh-CN" sz="2800" dirty="0" err="1"/>
              <a:t>x</a:t>
            </a:r>
            <a:r>
              <a:rPr lang="en-US" altLang="zh-CN" sz="2800" baseline="-25000" dirty="0" err="1"/>
              <a:t>n</a:t>
            </a:r>
            <a:r>
              <a:rPr lang="en-US" altLang="zh-CN" sz="2800" dirty="0"/>
              <a:t>)</a:t>
            </a:r>
            <a:r>
              <a:rPr lang="zh-CN" altLang="en-US" sz="2800" dirty="0"/>
              <a:t>。</a:t>
            </a:r>
            <a:endParaRPr lang="zh-CN" altLang="en-US" sz="2800" baseline="-25000" dirty="0"/>
          </a:p>
          <a:p>
            <a:pPr lvl="1">
              <a:lnSpc>
                <a:spcPct val="150000"/>
              </a:lnSpc>
            </a:pPr>
            <a:r>
              <a:rPr lang="zh-CN" altLang="en-US" sz="2800" dirty="0"/>
              <a:t>这是一个</a:t>
            </a:r>
            <a:r>
              <a:rPr lang="en-US" altLang="zh-CN" sz="2800" dirty="0"/>
              <a:t>NP</a:t>
            </a:r>
            <a:r>
              <a:rPr lang="zh-CN" altLang="en-US" sz="2800" dirty="0"/>
              <a:t>完全问题，解决这个问题所需要的时间与</a:t>
            </a:r>
            <a:r>
              <a:rPr lang="en-US" altLang="zh-CN" sz="2800" dirty="0"/>
              <a:t>n</a:t>
            </a:r>
            <a:r>
              <a:rPr lang="zh-CN" altLang="en-US" sz="2800" dirty="0"/>
              <a:t>呈指数增长</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15</a:t>
            </a:fld>
            <a:endParaRPr kumimoji="1" lang="zh-CN" altLang="en-US" dirty="0"/>
          </a:p>
        </p:txBody>
      </p:sp>
    </p:spTree>
    <p:extLst>
      <p:ext uri="{BB962C8B-B14F-4D97-AF65-F5344CB8AC3E}">
        <p14:creationId xmlns:p14="http://schemas.microsoft.com/office/powerpoint/2010/main" val="2105574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5.2.1 </a:t>
            </a:r>
            <a:r>
              <a:rPr kumimoji="1" lang="zh-CN" altLang="en-US" dirty="0">
                <a:solidFill>
                  <a:prstClr val="black"/>
                </a:solidFill>
              </a:rPr>
              <a:t>背包</a:t>
            </a:r>
            <a:r>
              <a:rPr kumimoji="1" lang="zh-CN" altLang="zh-CN" dirty="0">
                <a:solidFill>
                  <a:prstClr val="black"/>
                </a:solidFill>
              </a:rPr>
              <a:t>算法</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pPr>
              <a:lnSpc>
                <a:spcPct val="150000"/>
              </a:lnSpc>
            </a:pPr>
            <a:r>
              <a:rPr lang="zh-CN" altLang="en-US" dirty="0"/>
              <a:t>背包问题用于公钥密码学</a:t>
            </a:r>
            <a:endParaRPr lang="en-US" altLang="zh-CN" dirty="0"/>
          </a:p>
          <a:p>
            <a:pPr lvl="1">
              <a:lnSpc>
                <a:spcPct val="150000"/>
              </a:lnSpc>
              <a:buClr>
                <a:srgbClr val="000066"/>
              </a:buClr>
              <a:buFontTx/>
              <a:buChar char="•"/>
            </a:pPr>
            <a:r>
              <a:rPr lang="zh-CN" altLang="en-US" dirty="0"/>
              <a:t>做法：</a:t>
            </a:r>
            <a:r>
              <a:rPr lang="zh-CN" altLang="en-US" dirty="0">
                <a:solidFill>
                  <a:srgbClr val="FF0000"/>
                </a:solidFill>
              </a:rPr>
              <a:t>明文为</a:t>
            </a:r>
            <a:r>
              <a:rPr lang="en-US" altLang="zh-CN" dirty="0">
                <a:solidFill>
                  <a:srgbClr val="FF0000"/>
                </a:solidFill>
              </a:rPr>
              <a:t>X</a:t>
            </a:r>
            <a:r>
              <a:rPr lang="zh-CN" altLang="en-US" dirty="0">
                <a:solidFill>
                  <a:srgbClr val="FF0000"/>
                </a:solidFill>
              </a:rPr>
              <a:t>（我们要传递的二进制 </a:t>
            </a:r>
            <a:r>
              <a:rPr lang="en-US" altLang="zh-CN" dirty="0">
                <a:solidFill>
                  <a:srgbClr val="FF0000"/>
                </a:solidFill>
              </a:rPr>
              <a:t>01 </a:t>
            </a:r>
            <a:r>
              <a:rPr lang="zh-CN" altLang="en-US" dirty="0">
                <a:solidFill>
                  <a:srgbClr val="FF0000"/>
                </a:solidFill>
              </a:rPr>
              <a:t>信号），</a:t>
            </a:r>
            <a:r>
              <a:rPr lang="en-US" altLang="zh-CN" dirty="0">
                <a:solidFill>
                  <a:srgbClr val="FF0000"/>
                </a:solidFill>
              </a:rPr>
              <a:t>S</a:t>
            </a:r>
            <a:r>
              <a:rPr lang="zh-CN" altLang="en-US" dirty="0">
                <a:solidFill>
                  <a:srgbClr val="FF0000"/>
                </a:solidFill>
              </a:rPr>
              <a:t>为密文（计算出来的总重量）</a:t>
            </a:r>
          </a:p>
          <a:p>
            <a:pPr lvl="1">
              <a:lnSpc>
                <a:spcPct val="150000"/>
              </a:lnSpc>
              <a:buClr>
                <a:srgbClr val="000066"/>
              </a:buClr>
              <a:buFontTx/>
              <a:buChar char="•"/>
            </a:pPr>
            <a:r>
              <a:rPr lang="zh-CN" altLang="en-US" dirty="0"/>
              <a:t>奥妙在于有两类背包，一类可以在线性时间内求解，另一类则不能</a:t>
            </a:r>
          </a:p>
          <a:p>
            <a:pPr lvl="1">
              <a:lnSpc>
                <a:spcPct val="150000"/>
              </a:lnSpc>
              <a:buClr>
                <a:srgbClr val="000066"/>
              </a:buClr>
              <a:buFontTx/>
              <a:buChar char="•"/>
            </a:pPr>
            <a:r>
              <a:rPr lang="zh-CN" altLang="en-US" dirty="0"/>
              <a:t>把易解的背包问题修改成难解的背包问题</a:t>
            </a:r>
          </a:p>
          <a:p>
            <a:pPr lvl="2">
              <a:lnSpc>
                <a:spcPct val="150000"/>
              </a:lnSpc>
              <a:buClr>
                <a:srgbClr val="000066"/>
              </a:buClr>
              <a:buFontTx/>
              <a:buChar char="–"/>
            </a:pPr>
            <a:r>
              <a:rPr lang="zh-CN" altLang="en-US" sz="2200" dirty="0"/>
              <a:t>公开密钥使用难解的背包问题</a:t>
            </a:r>
          </a:p>
          <a:p>
            <a:pPr lvl="2">
              <a:lnSpc>
                <a:spcPct val="150000"/>
              </a:lnSpc>
              <a:buClr>
                <a:srgbClr val="000066"/>
              </a:buClr>
              <a:buFontTx/>
              <a:buChar char="–"/>
            </a:pPr>
            <a:r>
              <a:rPr lang="zh-CN" altLang="en-US" sz="2200" dirty="0"/>
              <a:t>私钥使用易解的背包问题：有一类特殊的背包（超递增背包）在线性时间内就能轻易破解</a:t>
            </a:r>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16</a:t>
            </a:fld>
            <a:endParaRPr kumimoji="1" lang="zh-CN" altLang="en-US" dirty="0"/>
          </a:p>
        </p:txBody>
      </p:sp>
    </p:spTree>
    <p:extLst>
      <p:ext uri="{BB962C8B-B14F-4D97-AF65-F5344CB8AC3E}">
        <p14:creationId xmlns:p14="http://schemas.microsoft.com/office/powerpoint/2010/main" val="1489667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5.2.1 </a:t>
            </a:r>
            <a:r>
              <a:rPr kumimoji="1" lang="zh-CN" altLang="en-US" dirty="0">
                <a:solidFill>
                  <a:prstClr val="black"/>
                </a:solidFill>
              </a:rPr>
              <a:t>背包</a:t>
            </a:r>
            <a:r>
              <a:rPr kumimoji="1" lang="zh-CN" altLang="zh-CN" dirty="0">
                <a:solidFill>
                  <a:prstClr val="black"/>
                </a:solidFill>
              </a:rPr>
              <a:t>算法</a:t>
            </a:r>
            <a:endParaRPr lang="zh-CN" altLang="en-US" dirty="0"/>
          </a:p>
        </p:txBody>
      </p:sp>
      <p:sp>
        <p:nvSpPr>
          <p:cNvPr id="3" name="内容占位符 2"/>
          <p:cNvSpPr>
            <a:spLocks noGrp="1"/>
          </p:cNvSpPr>
          <p:nvPr>
            <p:ph idx="1"/>
          </p:nvPr>
        </p:nvSpPr>
        <p:spPr/>
        <p:txBody>
          <a:bodyPr>
            <a:normAutofit fontScale="70000" lnSpcReduction="20000"/>
          </a:bodyPr>
          <a:lstStyle/>
          <a:p>
            <a:pPr>
              <a:lnSpc>
                <a:spcPct val="150000"/>
              </a:lnSpc>
            </a:pPr>
            <a:r>
              <a:rPr lang="zh-CN" altLang="en-US" sz="3800" dirty="0"/>
              <a:t>易解的背包问题</a:t>
            </a:r>
            <a:r>
              <a:rPr lang="en-US" altLang="zh-CN" sz="3800" dirty="0"/>
              <a:t>——</a:t>
            </a:r>
            <a:r>
              <a:rPr lang="zh-CN" altLang="en-US" sz="3800" dirty="0">
                <a:solidFill>
                  <a:srgbClr val="FF0000"/>
                </a:solidFill>
              </a:rPr>
              <a:t>超递增背包</a:t>
            </a:r>
            <a:endParaRPr lang="en-US" altLang="zh-CN" sz="3800" dirty="0">
              <a:solidFill>
                <a:srgbClr val="FF0000"/>
              </a:solidFill>
            </a:endParaRPr>
          </a:p>
          <a:p>
            <a:pPr lvl="1">
              <a:lnSpc>
                <a:spcPct val="150000"/>
              </a:lnSpc>
              <a:buClr>
                <a:srgbClr val="000066"/>
              </a:buClr>
              <a:buFontTx/>
              <a:buChar char="•"/>
            </a:pPr>
            <a:r>
              <a:rPr lang="zh-CN" altLang="en-US" sz="3200" dirty="0"/>
              <a:t>满足下列条件的背包：</a:t>
            </a:r>
            <a:r>
              <a:rPr kumimoji="1" lang="en-US" altLang="zh-CN" sz="3200" dirty="0">
                <a:latin typeface="Times New Roman" panose="02020603050405020304" pitchFamily="18" charset="0"/>
              </a:rPr>
              <a:t> a</a:t>
            </a:r>
            <a:r>
              <a:rPr kumimoji="1" lang="en-US" altLang="zh-CN" sz="3200" baseline="-25000" dirty="0">
                <a:latin typeface="Times New Roman" panose="02020603050405020304" pitchFamily="18" charset="0"/>
              </a:rPr>
              <a:t>i</a:t>
            </a:r>
            <a:r>
              <a:rPr kumimoji="1" lang="en-US" altLang="zh-CN" sz="3200" dirty="0">
                <a:latin typeface="Times New Roman" panose="02020603050405020304" pitchFamily="18" charset="0"/>
              </a:rPr>
              <a:t> &gt; ∑</a:t>
            </a:r>
            <a:r>
              <a:rPr kumimoji="1" lang="en-US" altLang="zh-CN" sz="3200" dirty="0" err="1">
                <a:latin typeface="Times New Roman" panose="02020603050405020304" pitchFamily="18" charset="0"/>
              </a:rPr>
              <a:t>a</a:t>
            </a:r>
            <a:r>
              <a:rPr kumimoji="1" lang="en-US" altLang="zh-CN" sz="3200" baseline="-25000" dirty="0" err="1">
                <a:latin typeface="Times New Roman" panose="02020603050405020304" pitchFamily="18" charset="0"/>
              </a:rPr>
              <a:t>j</a:t>
            </a:r>
            <a:r>
              <a:rPr kumimoji="1" lang="en-US" altLang="zh-CN" sz="3200" baseline="-25000" dirty="0">
                <a:latin typeface="Times New Roman" panose="02020603050405020304" pitchFamily="18" charset="0"/>
              </a:rPr>
              <a:t> </a:t>
            </a:r>
            <a:r>
              <a:rPr kumimoji="1" lang="en-US" altLang="zh-CN" sz="3200" dirty="0">
                <a:latin typeface="Times New Roman" panose="02020603050405020304" pitchFamily="18" charset="0"/>
              </a:rPr>
              <a:t>(j = 1,…,i-1)</a:t>
            </a:r>
            <a:r>
              <a:rPr kumimoji="1" lang="zh-CN" altLang="en-US" sz="3200" dirty="0">
                <a:latin typeface="Times New Roman" panose="02020603050405020304" pitchFamily="18" charset="0"/>
              </a:rPr>
              <a:t>，</a:t>
            </a:r>
            <a:r>
              <a:rPr lang="zh-CN" altLang="en-US" sz="3200" dirty="0"/>
              <a:t>这样的背包也被称为</a:t>
            </a:r>
            <a:r>
              <a:rPr lang="zh-CN" altLang="en-US" sz="3200" dirty="0">
                <a:solidFill>
                  <a:srgbClr val="C00000"/>
                </a:solidFill>
              </a:rPr>
              <a:t>简单背包</a:t>
            </a:r>
          </a:p>
          <a:p>
            <a:pPr lvl="1">
              <a:lnSpc>
                <a:spcPct val="150000"/>
              </a:lnSpc>
              <a:buClr>
                <a:srgbClr val="000066"/>
              </a:buClr>
              <a:buFontTx/>
              <a:buChar char="•"/>
            </a:pPr>
            <a:r>
              <a:rPr lang="zh-CN" altLang="en-US" sz="3200" dirty="0"/>
              <a:t>求解</a:t>
            </a:r>
          </a:p>
          <a:p>
            <a:pPr lvl="2">
              <a:lnSpc>
                <a:spcPct val="150000"/>
              </a:lnSpc>
              <a:buClr>
                <a:srgbClr val="000066"/>
              </a:buClr>
              <a:buFontTx/>
              <a:buChar char="•"/>
            </a:pPr>
            <a:r>
              <a:rPr lang="zh-CN" altLang="en-US" sz="3100" dirty="0">
                <a:solidFill>
                  <a:srgbClr val="FF0000"/>
                </a:solidFill>
              </a:rPr>
              <a:t>从最大的</a:t>
            </a:r>
            <a:r>
              <a:rPr lang="en-US" altLang="zh-CN" sz="3100" dirty="0">
                <a:solidFill>
                  <a:srgbClr val="FF0000"/>
                </a:solidFill>
              </a:rPr>
              <a:t>ai</a:t>
            </a:r>
            <a:r>
              <a:rPr lang="zh-CN" altLang="en-US" sz="3100" dirty="0">
                <a:solidFill>
                  <a:srgbClr val="FF0000"/>
                </a:solidFill>
              </a:rPr>
              <a:t>开始</a:t>
            </a:r>
            <a:r>
              <a:rPr lang="zh-CN" altLang="en-US" sz="3100" dirty="0"/>
              <a:t>，如果</a:t>
            </a:r>
            <a:r>
              <a:rPr lang="en-US" altLang="zh-CN" sz="3100" dirty="0"/>
              <a:t>S</a:t>
            </a:r>
            <a:r>
              <a:rPr lang="zh-CN" altLang="en-US" sz="3100" dirty="0"/>
              <a:t>大于这个数，则减去</a:t>
            </a:r>
            <a:r>
              <a:rPr lang="en-US" altLang="zh-CN" sz="3100" dirty="0"/>
              <a:t>a</a:t>
            </a:r>
            <a:r>
              <a:rPr lang="en-US" altLang="zh-CN" sz="3100" baseline="-25000" dirty="0"/>
              <a:t>i</a:t>
            </a:r>
            <a:r>
              <a:rPr lang="en-US" altLang="zh-CN" sz="3100" dirty="0"/>
              <a:t>, </a:t>
            </a:r>
            <a:r>
              <a:rPr lang="zh-CN" altLang="en-US" sz="3100" dirty="0"/>
              <a:t>记</a:t>
            </a:r>
            <a:r>
              <a:rPr lang="en-US" altLang="zh-CN" sz="3100" dirty="0"/>
              <a:t>x</a:t>
            </a:r>
            <a:r>
              <a:rPr lang="en-US" altLang="zh-CN" sz="3100" baseline="-25000" dirty="0"/>
              <a:t>i</a:t>
            </a:r>
            <a:r>
              <a:rPr lang="zh-CN" altLang="en-US" sz="3100" dirty="0"/>
              <a:t>为</a:t>
            </a:r>
            <a:r>
              <a:rPr lang="en-US" altLang="zh-CN" sz="3100" dirty="0"/>
              <a:t>1</a:t>
            </a:r>
            <a:r>
              <a:rPr lang="zh-CN" altLang="en-US" sz="3100" dirty="0"/>
              <a:t>，否则记</a:t>
            </a:r>
            <a:r>
              <a:rPr lang="en-US" altLang="zh-CN" sz="3100" dirty="0"/>
              <a:t>xi</a:t>
            </a:r>
            <a:r>
              <a:rPr lang="zh-CN" altLang="en-US" sz="3100" dirty="0"/>
              <a:t>为</a:t>
            </a:r>
            <a:r>
              <a:rPr lang="en-US" altLang="zh-CN" sz="3100" dirty="0"/>
              <a:t>0</a:t>
            </a:r>
          </a:p>
          <a:p>
            <a:pPr lvl="2">
              <a:lnSpc>
                <a:spcPct val="150000"/>
              </a:lnSpc>
              <a:buClr>
                <a:srgbClr val="000066"/>
              </a:buClr>
              <a:buFontTx/>
              <a:buChar char="•"/>
            </a:pPr>
            <a:r>
              <a:rPr lang="zh-CN" altLang="en-US" sz="3100" dirty="0"/>
              <a:t>如此下去，直到最小的</a:t>
            </a:r>
            <a:r>
              <a:rPr lang="en-US" altLang="zh-CN" sz="3100" dirty="0"/>
              <a:t>a</a:t>
            </a:r>
            <a:r>
              <a:rPr lang="en-US" altLang="zh-CN" sz="3100" baseline="-25000" dirty="0"/>
              <a:t>i</a:t>
            </a:r>
          </a:p>
          <a:p>
            <a:pPr lvl="1">
              <a:lnSpc>
                <a:spcPct val="150000"/>
              </a:lnSpc>
              <a:buClr>
                <a:srgbClr val="000066"/>
              </a:buClr>
              <a:buFontTx/>
              <a:buChar char="•"/>
            </a:pPr>
            <a:r>
              <a:rPr lang="zh-CN" altLang="en-US" sz="3200" dirty="0"/>
              <a:t>例如背包序列</a:t>
            </a:r>
            <a:r>
              <a:rPr lang="en-US" altLang="zh-CN" sz="3200" dirty="0"/>
              <a:t>{2, 3, 6, 13, 27, 52}</a:t>
            </a:r>
            <a:r>
              <a:rPr lang="zh-CN" altLang="en-US" sz="3200" dirty="0"/>
              <a:t>，求解</a:t>
            </a:r>
            <a:r>
              <a:rPr lang="en-US" altLang="zh-CN" sz="3200" dirty="0"/>
              <a:t>70</a:t>
            </a:r>
            <a:r>
              <a:rPr lang="zh-CN" altLang="en-US" sz="3200" dirty="0"/>
              <a:t>的背包</a:t>
            </a:r>
          </a:p>
          <a:p>
            <a:pPr lvl="2">
              <a:lnSpc>
                <a:spcPct val="150000"/>
              </a:lnSpc>
              <a:buClr>
                <a:srgbClr val="000066"/>
              </a:buClr>
              <a:buFontTx/>
              <a:buChar char="•"/>
            </a:pPr>
            <a:r>
              <a:rPr lang="zh-CN" altLang="en-US" sz="3100" dirty="0"/>
              <a:t>结果为</a:t>
            </a:r>
            <a:r>
              <a:rPr lang="en-US" altLang="zh-CN" sz="3100" dirty="0"/>
              <a:t>{2, 3, 13, 52}</a:t>
            </a:r>
          </a:p>
          <a:p>
            <a:pPr lvl="2">
              <a:lnSpc>
                <a:spcPct val="150000"/>
              </a:lnSpc>
              <a:buClr>
                <a:srgbClr val="000066"/>
              </a:buClr>
              <a:buFontTx/>
              <a:buChar char="•"/>
            </a:pPr>
            <a:r>
              <a:rPr lang="zh-CN" altLang="en-US" sz="3100" dirty="0"/>
              <a:t>所以，密文</a:t>
            </a:r>
            <a:r>
              <a:rPr lang="en-US" altLang="zh-CN" sz="3100" dirty="0"/>
              <a:t>70</a:t>
            </a:r>
            <a:r>
              <a:rPr lang="zh-CN" altLang="en-US" sz="3100" dirty="0"/>
              <a:t>对应的明文为</a:t>
            </a:r>
            <a:r>
              <a:rPr lang="en-US" altLang="zh-CN" sz="3100" dirty="0"/>
              <a:t>110101</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17</a:t>
            </a:fld>
            <a:endParaRPr kumimoji="1" lang="zh-CN" altLang="en-US" dirty="0"/>
          </a:p>
        </p:txBody>
      </p:sp>
    </p:spTree>
    <p:extLst>
      <p:ext uri="{BB962C8B-B14F-4D97-AF65-F5344CB8AC3E}">
        <p14:creationId xmlns:p14="http://schemas.microsoft.com/office/powerpoint/2010/main" val="3633926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5.2.1 </a:t>
            </a:r>
            <a:r>
              <a:rPr kumimoji="1" lang="zh-CN" altLang="en-US" dirty="0">
                <a:solidFill>
                  <a:prstClr val="black"/>
                </a:solidFill>
              </a:rPr>
              <a:t>背包</a:t>
            </a:r>
            <a:r>
              <a:rPr kumimoji="1" lang="zh-CN" altLang="zh-CN" dirty="0">
                <a:solidFill>
                  <a:prstClr val="black"/>
                </a:solidFill>
              </a:rPr>
              <a:t>算法</a:t>
            </a:r>
            <a:endParaRPr lang="zh-CN" altLang="en-US" dirty="0"/>
          </a:p>
        </p:txBody>
      </p:sp>
      <p:sp>
        <p:nvSpPr>
          <p:cNvPr id="3" name="内容占位符 2"/>
          <p:cNvSpPr>
            <a:spLocks noGrp="1"/>
          </p:cNvSpPr>
          <p:nvPr>
            <p:ph idx="1"/>
          </p:nvPr>
        </p:nvSpPr>
        <p:spPr>
          <a:xfrm>
            <a:off x="419100" y="1534613"/>
            <a:ext cx="11353800" cy="4696164"/>
          </a:xfrm>
        </p:spPr>
        <p:txBody>
          <a:bodyPr>
            <a:normAutofit fontScale="62500" lnSpcReduction="20000"/>
          </a:bodyPr>
          <a:lstStyle/>
          <a:p>
            <a:pPr>
              <a:lnSpc>
                <a:spcPct val="150000"/>
              </a:lnSpc>
            </a:pPr>
            <a:r>
              <a:rPr lang="zh-CN" altLang="en-US" sz="3800" dirty="0"/>
              <a:t>转换背包（把容易求解的转换为不容易求解的）</a:t>
            </a:r>
            <a:endParaRPr lang="en-US" altLang="zh-CN" sz="3800" dirty="0"/>
          </a:p>
          <a:p>
            <a:pPr lvl="1">
              <a:lnSpc>
                <a:spcPct val="150000"/>
              </a:lnSpc>
            </a:pPr>
            <a:r>
              <a:rPr lang="zh-CN" altLang="en-US" sz="3800" dirty="0"/>
              <a:t>简单背包用作私钥</a:t>
            </a:r>
          </a:p>
          <a:p>
            <a:pPr lvl="1">
              <a:lnSpc>
                <a:spcPct val="150000"/>
              </a:lnSpc>
            </a:pPr>
            <a:r>
              <a:rPr lang="zh-CN" altLang="en-US" sz="3800" dirty="0"/>
              <a:t>如何产生相应的公钥</a:t>
            </a:r>
            <a:r>
              <a:rPr lang="en-US" altLang="zh-CN" sz="3800" dirty="0"/>
              <a:t>——</a:t>
            </a:r>
            <a:r>
              <a:rPr lang="zh-CN" altLang="en-US" sz="3800" dirty="0">
                <a:solidFill>
                  <a:srgbClr val="FF0000"/>
                </a:solidFill>
              </a:rPr>
              <a:t>转换</a:t>
            </a:r>
            <a:r>
              <a:rPr lang="zh-CN" altLang="en-US" sz="3800" dirty="0"/>
              <a:t>，做法：</a:t>
            </a:r>
          </a:p>
          <a:p>
            <a:pPr lvl="2">
              <a:lnSpc>
                <a:spcPct val="150000"/>
              </a:lnSpc>
            </a:pPr>
            <a:r>
              <a:rPr lang="zh-CN" altLang="en-US" sz="3800" dirty="0"/>
              <a:t>（</a:t>
            </a:r>
            <a:r>
              <a:rPr lang="en-US" altLang="zh-CN" sz="3800" dirty="0"/>
              <a:t>1</a:t>
            </a:r>
            <a:r>
              <a:rPr lang="zh-CN" altLang="en-US" sz="3800" dirty="0"/>
              <a:t>）选择一个整数大于原超递增背包所有元素的总和</a:t>
            </a:r>
            <a:r>
              <a:rPr lang="en-US" altLang="zh-CN" sz="3800" dirty="0"/>
              <a:t>m &gt; ∑a</a:t>
            </a:r>
            <a:r>
              <a:rPr lang="en-US" altLang="zh-CN" sz="3800" baseline="-25000" dirty="0"/>
              <a:t>i</a:t>
            </a:r>
            <a:r>
              <a:rPr lang="en-US" altLang="zh-CN" sz="3800" dirty="0"/>
              <a:t> (</a:t>
            </a:r>
            <a:r>
              <a:rPr lang="en-US" altLang="zh-CN" sz="3800" dirty="0" err="1"/>
              <a:t>i</a:t>
            </a:r>
            <a:r>
              <a:rPr lang="en-US" altLang="zh-CN" sz="3800" dirty="0"/>
              <a:t> = 1,…,n)</a:t>
            </a:r>
          </a:p>
          <a:p>
            <a:pPr lvl="2">
              <a:lnSpc>
                <a:spcPct val="150000"/>
              </a:lnSpc>
            </a:pPr>
            <a:r>
              <a:rPr lang="zh-CN" altLang="en-US" sz="3800" dirty="0"/>
              <a:t>（</a:t>
            </a:r>
            <a:r>
              <a:rPr lang="en-US" altLang="zh-CN" sz="3800" dirty="0"/>
              <a:t>2</a:t>
            </a:r>
            <a:r>
              <a:rPr lang="zh-CN" altLang="en-US" sz="3800" dirty="0"/>
              <a:t>）然后选择一个与</a:t>
            </a:r>
            <a:r>
              <a:rPr lang="en-US" altLang="zh-CN" sz="3800" dirty="0"/>
              <a:t>m</a:t>
            </a:r>
            <a:r>
              <a:rPr lang="zh-CN" altLang="en-US" sz="3800" dirty="0"/>
              <a:t>互素的整数</a:t>
            </a:r>
            <a:r>
              <a:rPr lang="en-US" altLang="zh-CN" sz="3800" dirty="0"/>
              <a:t>w</a:t>
            </a:r>
          </a:p>
          <a:p>
            <a:pPr lvl="2">
              <a:lnSpc>
                <a:spcPct val="150000"/>
              </a:lnSpc>
            </a:pPr>
            <a:r>
              <a:rPr lang="zh-CN" altLang="en-US" sz="3800" dirty="0"/>
              <a:t>（</a:t>
            </a:r>
            <a:r>
              <a:rPr lang="en-US" altLang="zh-CN" sz="3800" dirty="0"/>
              <a:t>3</a:t>
            </a:r>
            <a:r>
              <a:rPr lang="zh-CN" altLang="en-US" sz="3800" dirty="0"/>
              <a:t>）然后重新计算新背包的每一项： </a:t>
            </a:r>
            <a:r>
              <a:rPr lang="en-US" altLang="zh-CN" sz="3800" dirty="0"/>
              <a:t>a</a:t>
            </a:r>
            <a:r>
              <a:rPr lang="en-US" altLang="zh-CN" sz="3800" baseline="-25000" dirty="0"/>
              <a:t>i</a:t>
            </a:r>
            <a:r>
              <a:rPr lang="en-US" altLang="zh-CN" sz="3800" dirty="0"/>
              <a:t>' = wa</a:t>
            </a:r>
            <a:r>
              <a:rPr lang="en-US" altLang="zh-CN" sz="3800" baseline="-25000" dirty="0"/>
              <a:t>i</a:t>
            </a:r>
            <a:r>
              <a:rPr lang="en-US" altLang="zh-CN" sz="3800" dirty="0"/>
              <a:t> (mod m) (</a:t>
            </a:r>
            <a:r>
              <a:rPr lang="en-US" altLang="zh-CN" sz="3800" dirty="0" err="1"/>
              <a:t>i</a:t>
            </a:r>
            <a:r>
              <a:rPr lang="en-US" altLang="zh-CN" sz="3800" dirty="0"/>
              <a:t> = 1,…,n)</a:t>
            </a:r>
          </a:p>
          <a:p>
            <a:pPr lvl="3">
              <a:lnSpc>
                <a:spcPct val="150000"/>
              </a:lnSpc>
            </a:pPr>
            <a:r>
              <a:rPr lang="zh-CN" altLang="en-US" sz="3600" dirty="0"/>
              <a:t>这里的</a:t>
            </a:r>
            <a:r>
              <a:rPr lang="en-US" altLang="zh-CN" sz="3600" dirty="0"/>
              <a:t>a</a:t>
            </a:r>
            <a:r>
              <a:rPr lang="en-US" altLang="zh-CN" sz="3600" baseline="-25000" dirty="0"/>
              <a:t>i</a:t>
            </a:r>
            <a:r>
              <a:rPr lang="en-US" altLang="zh-CN" sz="3600" dirty="0"/>
              <a:t> '</a:t>
            </a:r>
            <a:r>
              <a:rPr lang="zh-CN" altLang="en-US" sz="3600" dirty="0"/>
              <a:t>是伪随机分布的</a:t>
            </a:r>
          </a:p>
          <a:p>
            <a:pPr lvl="3">
              <a:lnSpc>
                <a:spcPct val="150000"/>
              </a:lnSpc>
            </a:pPr>
            <a:r>
              <a:rPr lang="zh-CN" altLang="en-US" sz="3600" dirty="0"/>
              <a:t>这样得到的背包是非超递增背包</a:t>
            </a:r>
          </a:p>
          <a:p>
            <a:pPr marL="0" indent="0">
              <a:lnSpc>
                <a:spcPct val="150000"/>
              </a:lnSpc>
              <a:buNone/>
            </a:pPr>
            <a:endParaRPr lang="en-US" altLang="zh-CN" sz="38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18</a:t>
            </a:fld>
            <a:endParaRPr kumimoji="1" lang="zh-CN" altLang="en-US" dirty="0"/>
          </a:p>
        </p:txBody>
      </p:sp>
    </p:spTree>
    <p:extLst>
      <p:ext uri="{BB962C8B-B14F-4D97-AF65-F5344CB8AC3E}">
        <p14:creationId xmlns:p14="http://schemas.microsoft.com/office/powerpoint/2010/main" val="1636025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5.2.1 </a:t>
            </a:r>
            <a:r>
              <a:rPr kumimoji="1" lang="zh-CN" altLang="en-US" dirty="0">
                <a:solidFill>
                  <a:prstClr val="black"/>
                </a:solidFill>
              </a:rPr>
              <a:t>背包</a:t>
            </a:r>
            <a:r>
              <a:rPr kumimoji="1" lang="zh-CN" altLang="zh-CN" dirty="0">
                <a:solidFill>
                  <a:prstClr val="black"/>
                </a:solidFill>
              </a:rPr>
              <a:t>算法</a:t>
            </a:r>
            <a:endParaRPr lang="zh-CN" altLang="en-US" dirty="0"/>
          </a:p>
        </p:txBody>
      </p:sp>
      <p:sp>
        <p:nvSpPr>
          <p:cNvPr id="3" name="内容占位符 2"/>
          <p:cNvSpPr>
            <a:spLocks noGrp="1"/>
          </p:cNvSpPr>
          <p:nvPr>
            <p:ph idx="1"/>
          </p:nvPr>
        </p:nvSpPr>
        <p:spPr>
          <a:xfrm>
            <a:off x="838200" y="1401288"/>
            <a:ext cx="10515600" cy="4696164"/>
          </a:xfrm>
        </p:spPr>
        <p:txBody>
          <a:bodyPr>
            <a:normAutofit fontScale="92500"/>
          </a:bodyPr>
          <a:lstStyle/>
          <a:p>
            <a:pPr>
              <a:lnSpc>
                <a:spcPct val="150000"/>
              </a:lnSpc>
            </a:pPr>
            <a:r>
              <a:rPr lang="zh-CN" altLang="en-US" sz="3800" dirty="0"/>
              <a:t>基于背包问题的公钥密码系统</a:t>
            </a:r>
            <a:r>
              <a:rPr lang="en-US" altLang="zh-CN" sz="3800" dirty="0"/>
              <a:t>——</a:t>
            </a:r>
            <a:r>
              <a:rPr lang="en-US" altLang="zh-CN" sz="3800" dirty="0">
                <a:solidFill>
                  <a:srgbClr val="FF0000"/>
                </a:solidFill>
              </a:rPr>
              <a:t>MH</a:t>
            </a:r>
            <a:r>
              <a:rPr lang="zh-CN" altLang="en-US" sz="3800" dirty="0">
                <a:solidFill>
                  <a:srgbClr val="FF0000"/>
                </a:solidFill>
              </a:rPr>
              <a:t>公钥算法</a:t>
            </a:r>
            <a:endParaRPr lang="en-US" altLang="zh-CN" sz="3800" dirty="0">
              <a:solidFill>
                <a:srgbClr val="FF0000"/>
              </a:solidFill>
            </a:endParaRPr>
          </a:p>
          <a:p>
            <a:pPr>
              <a:spcBef>
                <a:spcPct val="20000"/>
              </a:spcBef>
              <a:buFontTx/>
              <a:buChar char="•"/>
            </a:pPr>
            <a:r>
              <a:rPr kumimoji="1" lang="zh-CN" altLang="en-US" dirty="0">
                <a:solidFill>
                  <a:srgbClr val="000066"/>
                </a:solidFill>
                <a:latin typeface="Times New Roman" panose="02020603050405020304" pitchFamily="18" charset="0"/>
              </a:rPr>
              <a:t>加密</a:t>
            </a:r>
          </a:p>
          <a:p>
            <a:pPr lvl="1">
              <a:spcBef>
                <a:spcPct val="20000"/>
              </a:spcBef>
              <a:buFontTx/>
              <a:buChar char="–"/>
            </a:pPr>
            <a:r>
              <a:rPr kumimoji="1" lang="zh-CN" altLang="en-US" sz="2800" dirty="0">
                <a:solidFill>
                  <a:srgbClr val="000066"/>
                </a:solidFill>
                <a:latin typeface="Times New Roman" panose="02020603050405020304" pitchFamily="18" charset="0"/>
              </a:rPr>
              <a:t>将明文分为长度为</a:t>
            </a:r>
            <a:r>
              <a:rPr kumimoji="1" lang="en-US" altLang="zh-CN" sz="2800" dirty="0">
                <a:solidFill>
                  <a:srgbClr val="000066"/>
                </a:solidFill>
                <a:latin typeface="Times New Roman" panose="02020603050405020304" pitchFamily="18" charset="0"/>
              </a:rPr>
              <a:t>n</a:t>
            </a:r>
            <a:r>
              <a:rPr kumimoji="1" lang="zh-CN" altLang="en-US" sz="2800" dirty="0">
                <a:solidFill>
                  <a:srgbClr val="000066"/>
                </a:solidFill>
                <a:latin typeface="Times New Roman" panose="02020603050405020304" pitchFamily="18" charset="0"/>
              </a:rPr>
              <a:t>的块</a:t>
            </a:r>
            <a:r>
              <a:rPr kumimoji="1" lang="en-US" altLang="zh-CN" sz="2800" dirty="0">
                <a:solidFill>
                  <a:srgbClr val="000066"/>
                </a:solidFill>
                <a:latin typeface="Times New Roman" panose="02020603050405020304" pitchFamily="18" charset="0"/>
              </a:rPr>
              <a:t>X=(x</a:t>
            </a:r>
            <a:r>
              <a:rPr kumimoji="1" lang="en-US" altLang="zh-CN" sz="2800" baseline="-25000" dirty="0">
                <a:solidFill>
                  <a:srgbClr val="000066"/>
                </a:solidFill>
                <a:latin typeface="Times New Roman" panose="02020603050405020304" pitchFamily="18" charset="0"/>
              </a:rPr>
              <a:t>1</a:t>
            </a:r>
            <a:r>
              <a:rPr kumimoji="1" lang="en-US" altLang="zh-CN" sz="2800" dirty="0">
                <a:solidFill>
                  <a:srgbClr val="000066"/>
                </a:solidFill>
                <a:latin typeface="Times New Roman" panose="02020603050405020304" pitchFamily="18" charset="0"/>
              </a:rPr>
              <a:t>,…,</a:t>
            </a:r>
            <a:r>
              <a:rPr kumimoji="1" lang="en-US" altLang="zh-CN" sz="2800" dirty="0" err="1">
                <a:solidFill>
                  <a:srgbClr val="000066"/>
                </a:solidFill>
                <a:latin typeface="Times New Roman" panose="02020603050405020304" pitchFamily="18" charset="0"/>
              </a:rPr>
              <a:t>x</a:t>
            </a:r>
            <a:r>
              <a:rPr kumimoji="1" lang="en-US" altLang="zh-CN" sz="2800" baseline="-25000" dirty="0" err="1">
                <a:solidFill>
                  <a:srgbClr val="000066"/>
                </a:solidFill>
                <a:latin typeface="Times New Roman" panose="02020603050405020304" pitchFamily="18" charset="0"/>
              </a:rPr>
              <a:t>n</a:t>
            </a:r>
            <a:r>
              <a:rPr kumimoji="1" lang="en-US" altLang="zh-CN" sz="2800" dirty="0">
                <a:solidFill>
                  <a:srgbClr val="000066"/>
                </a:solidFill>
                <a:latin typeface="Times New Roman" panose="02020603050405020304" pitchFamily="18" charset="0"/>
              </a:rPr>
              <a:t>)</a:t>
            </a:r>
          </a:p>
          <a:p>
            <a:pPr lvl="1">
              <a:spcBef>
                <a:spcPct val="20000"/>
              </a:spcBef>
              <a:buFontTx/>
              <a:buChar char="–"/>
            </a:pPr>
            <a:r>
              <a:rPr kumimoji="1" lang="zh-CN" altLang="en-US" sz="2800" dirty="0">
                <a:solidFill>
                  <a:srgbClr val="000066"/>
                </a:solidFill>
                <a:latin typeface="Times New Roman" panose="02020603050405020304" pitchFamily="18" charset="0"/>
              </a:rPr>
              <a:t>然后用公钥</a:t>
            </a:r>
            <a:r>
              <a:rPr kumimoji="1" lang="en-US" altLang="zh-CN" sz="2800" dirty="0">
                <a:solidFill>
                  <a:srgbClr val="000066"/>
                </a:solidFill>
                <a:latin typeface="Times New Roman" panose="02020603050405020304" pitchFamily="18" charset="0"/>
              </a:rPr>
              <a:t>A </a:t>
            </a:r>
            <a:r>
              <a:rPr kumimoji="1" lang="en-US" altLang="zh-CN" sz="2800" baseline="30000" dirty="0">
                <a:solidFill>
                  <a:srgbClr val="000066"/>
                </a:solidFill>
                <a:latin typeface="Times New Roman" panose="02020603050405020304" pitchFamily="18" charset="0"/>
                <a:cs typeface="Times New Roman" panose="02020603050405020304" pitchFamily="18" charset="0"/>
              </a:rPr>
              <a:t>'</a:t>
            </a:r>
            <a:r>
              <a:rPr kumimoji="1" lang="en-US" altLang="zh-CN" sz="2800" dirty="0">
                <a:solidFill>
                  <a:srgbClr val="000066"/>
                </a:solidFill>
                <a:latin typeface="Times New Roman" panose="02020603050405020304" pitchFamily="18" charset="0"/>
              </a:rPr>
              <a:t> = (a</a:t>
            </a:r>
            <a:r>
              <a:rPr kumimoji="1" lang="en-US" altLang="zh-CN" sz="2800" baseline="-25000" dirty="0">
                <a:solidFill>
                  <a:srgbClr val="000066"/>
                </a:solidFill>
                <a:latin typeface="Times New Roman" panose="02020603050405020304" pitchFamily="18" charset="0"/>
              </a:rPr>
              <a:t>1 </a:t>
            </a:r>
            <a:r>
              <a:rPr kumimoji="1" lang="en-US" altLang="zh-CN" sz="2800" baseline="30000" dirty="0">
                <a:solidFill>
                  <a:srgbClr val="000066"/>
                </a:solidFill>
                <a:latin typeface="Times New Roman" panose="02020603050405020304" pitchFamily="18" charset="0"/>
                <a:cs typeface="Times New Roman" panose="02020603050405020304" pitchFamily="18" charset="0"/>
              </a:rPr>
              <a:t>'</a:t>
            </a:r>
            <a:r>
              <a:rPr kumimoji="1" lang="en-US" altLang="zh-CN" sz="2800" dirty="0">
                <a:solidFill>
                  <a:srgbClr val="000066"/>
                </a:solidFill>
                <a:latin typeface="Times New Roman" panose="02020603050405020304" pitchFamily="18" charset="0"/>
              </a:rPr>
              <a:t>, …, a</a:t>
            </a:r>
            <a:r>
              <a:rPr kumimoji="1" lang="en-US" altLang="zh-CN" sz="2800" baseline="-25000" dirty="0">
                <a:solidFill>
                  <a:srgbClr val="000066"/>
                </a:solidFill>
                <a:latin typeface="Times New Roman" panose="02020603050405020304" pitchFamily="18" charset="0"/>
              </a:rPr>
              <a:t>n </a:t>
            </a:r>
            <a:r>
              <a:rPr kumimoji="1" lang="en-US" altLang="zh-CN" sz="2800" baseline="30000" dirty="0">
                <a:solidFill>
                  <a:srgbClr val="000066"/>
                </a:solidFill>
                <a:latin typeface="Times New Roman" panose="02020603050405020304" pitchFamily="18" charset="0"/>
                <a:cs typeface="Times New Roman" panose="02020603050405020304" pitchFamily="18" charset="0"/>
              </a:rPr>
              <a:t>'</a:t>
            </a:r>
            <a:r>
              <a:rPr kumimoji="1" lang="en-US" altLang="zh-CN" sz="2800" dirty="0">
                <a:solidFill>
                  <a:srgbClr val="000066"/>
                </a:solidFill>
                <a:latin typeface="Times New Roman" panose="02020603050405020304" pitchFamily="18" charset="0"/>
              </a:rPr>
              <a:t>)</a:t>
            </a:r>
            <a:r>
              <a:rPr kumimoji="1" lang="zh-CN" altLang="en-US" sz="2800" dirty="0">
                <a:solidFill>
                  <a:srgbClr val="000066"/>
                </a:solidFill>
                <a:latin typeface="Times New Roman" panose="02020603050405020304" pitchFamily="18" charset="0"/>
              </a:rPr>
              <a:t>，将明文变为密文</a:t>
            </a:r>
            <a:r>
              <a:rPr kumimoji="1" lang="en-US" altLang="zh-CN" sz="2800" dirty="0">
                <a:solidFill>
                  <a:srgbClr val="000066"/>
                </a:solidFill>
                <a:latin typeface="Times New Roman" panose="02020603050405020304" pitchFamily="18" charset="0"/>
              </a:rPr>
              <a:t>S = E(X) = ∑a</a:t>
            </a:r>
            <a:r>
              <a:rPr kumimoji="1" lang="en-US" altLang="zh-CN" sz="2800" baseline="-25000" dirty="0">
                <a:solidFill>
                  <a:srgbClr val="000066"/>
                </a:solidFill>
                <a:latin typeface="Times New Roman" panose="02020603050405020304" pitchFamily="18" charset="0"/>
              </a:rPr>
              <a:t>i </a:t>
            </a:r>
            <a:r>
              <a:rPr kumimoji="1" lang="en-US" altLang="zh-CN" sz="2800" baseline="30000" dirty="0">
                <a:solidFill>
                  <a:srgbClr val="000066"/>
                </a:solidFill>
                <a:latin typeface="Times New Roman" panose="02020603050405020304" pitchFamily="18" charset="0"/>
                <a:cs typeface="Times New Roman" panose="02020603050405020304" pitchFamily="18" charset="0"/>
              </a:rPr>
              <a:t>'</a:t>
            </a:r>
            <a:r>
              <a:rPr kumimoji="1" lang="en-US" altLang="zh-CN" sz="2800" baseline="30000" dirty="0">
                <a:solidFill>
                  <a:srgbClr val="000066"/>
                </a:solidFill>
                <a:latin typeface="Times New Roman" panose="02020603050405020304" pitchFamily="18" charset="0"/>
              </a:rPr>
              <a:t> </a:t>
            </a:r>
            <a:r>
              <a:rPr kumimoji="1" lang="en-US" altLang="zh-CN" sz="2800" dirty="0">
                <a:solidFill>
                  <a:srgbClr val="000066"/>
                </a:solidFill>
                <a:latin typeface="Times New Roman" panose="02020603050405020304" pitchFamily="18" charset="0"/>
              </a:rPr>
              <a:t>x</a:t>
            </a:r>
            <a:r>
              <a:rPr kumimoji="1" lang="en-US" altLang="zh-CN" sz="2800" baseline="-25000" dirty="0">
                <a:solidFill>
                  <a:srgbClr val="000066"/>
                </a:solidFill>
                <a:latin typeface="Times New Roman" panose="02020603050405020304" pitchFamily="18" charset="0"/>
              </a:rPr>
              <a:t>i</a:t>
            </a:r>
          </a:p>
          <a:p>
            <a:pPr lvl="1">
              <a:spcBef>
                <a:spcPct val="20000"/>
              </a:spcBef>
              <a:buFontTx/>
              <a:buChar char="–"/>
            </a:pPr>
            <a:endParaRPr kumimoji="1" lang="en-US" altLang="zh-CN" sz="2800" baseline="-25000" dirty="0">
              <a:solidFill>
                <a:srgbClr val="000066"/>
              </a:solidFill>
              <a:latin typeface="Times New Roman" panose="02020603050405020304" pitchFamily="18" charset="0"/>
            </a:endParaRPr>
          </a:p>
          <a:p>
            <a:pPr>
              <a:spcBef>
                <a:spcPct val="20000"/>
              </a:spcBef>
              <a:buFontTx/>
              <a:buChar char="•"/>
            </a:pPr>
            <a:r>
              <a:rPr kumimoji="1" lang="zh-CN" altLang="en-US" dirty="0">
                <a:solidFill>
                  <a:srgbClr val="000066"/>
                </a:solidFill>
                <a:latin typeface="Times New Roman" panose="02020603050405020304" pitchFamily="18" charset="0"/>
              </a:rPr>
              <a:t>解密</a:t>
            </a:r>
          </a:p>
          <a:p>
            <a:pPr lvl="1">
              <a:spcBef>
                <a:spcPct val="20000"/>
              </a:spcBef>
              <a:buFontTx/>
              <a:buChar char="–"/>
            </a:pPr>
            <a:r>
              <a:rPr kumimoji="1" lang="zh-CN" altLang="en-US" dirty="0">
                <a:solidFill>
                  <a:srgbClr val="000066"/>
                </a:solidFill>
                <a:latin typeface="Times New Roman" panose="02020603050405020304" pitchFamily="18" charset="0"/>
              </a:rPr>
              <a:t>先计算</a:t>
            </a:r>
            <a:r>
              <a:rPr kumimoji="1" lang="en-US" altLang="zh-CN" dirty="0">
                <a:solidFill>
                  <a:srgbClr val="000066"/>
                </a:solidFill>
                <a:latin typeface="Times New Roman" panose="02020603050405020304" pitchFamily="18" charset="0"/>
              </a:rPr>
              <a:t>S </a:t>
            </a:r>
            <a:r>
              <a:rPr kumimoji="1" lang="en-US" altLang="zh-CN" baseline="30000" dirty="0">
                <a:solidFill>
                  <a:srgbClr val="000066"/>
                </a:solidFill>
                <a:latin typeface="Times New Roman" panose="02020603050405020304" pitchFamily="18" charset="0"/>
                <a:cs typeface="Times New Roman" panose="02020603050405020304" pitchFamily="18" charset="0"/>
              </a:rPr>
              <a:t>'</a:t>
            </a:r>
            <a:r>
              <a:rPr kumimoji="1" lang="en-US" altLang="zh-CN" dirty="0">
                <a:solidFill>
                  <a:srgbClr val="000066"/>
                </a:solidFill>
                <a:latin typeface="Times New Roman" panose="02020603050405020304" pitchFamily="18" charset="0"/>
              </a:rPr>
              <a:t> = w</a:t>
            </a:r>
            <a:r>
              <a:rPr kumimoji="1" lang="en-US" altLang="zh-CN" baseline="30000" dirty="0">
                <a:solidFill>
                  <a:srgbClr val="000066"/>
                </a:solidFill>
                <a:latin typeface="Times New Roman" panose="02020603050405020304" pitchFamily="18" charset="0"/>
              </a:rPr>
              <a:t>-1</a:t>
            </a:r>
            <a:r>
              <a:rPr kumimoji="1" lang="en-US" altLang="zh-CN" dirty="0">
                <a:solidFill>
                  <a:srgbClr val="000066"/>
                </a:solidFill>
                <a:latin typeface="Times New Roman" panose="02020603050405020304" pitchFamily="18" charset="0"/>
              </a:rPr>
              <a:t>S mod m</a:t>
            </a:r>
          </a:p>
          <a:p>
            <a:pPr lvl="1">
              <a:spcBef>
                <a:spcPct val="20000"/>
              </a:spcBef>
              <a:buFontTx/>
              <a:buChar char="–"/>
            </a:pPr>
            <a:r>
              <a:rPr kumimoji="1" lang="zh-CN" altLang="en-US" sz="2800" dirty="0">
                <a:solidFill>
                  <a:srgbClr val="000066"/>
                </a:solidFill>
                <a:latin typeface="Times New Roman" panose="02020603050405020304" pitchFamily="18" charset="0"/>
              </a:rPr>
              <a:t>再求解简单背包问题</a:t>
            </a:r>
          </a:p>
          <a:p>
            <a:pPr lvl="2">
              <a:spcBef>
                <a:spcPct val="20000"/>
              </a:spcBef>
            </a:pPr>
            <a:r>
              <a:rPr kumimoji="1" lang="en-US" altLang="zh-CN" sz="2800" dirty="0">
                <a:solidFill>
                  <a:srgbClr val="000066"/>
                </a:solidFill>
                <a:latin typeface="Times New Roman" panose="02020603050405020304" pitchFamily="18" charset="0"/>
              </a:rPr>
              <a:t>S </a:t>
            </a:r>
            <a:r>
              <a:rPr kumimoji="1" lang="en-US" altLang="zh-CN" sz="2800" baseline="30000" dirty="0">
                <a:solidFill>
                  <a:srgbClr val="000066"/>
                </a:solidFill>
                <a:latin typeface="Times New Roman" panose="02020603050405020304" pitchFamily="18" charset="0"/>
                <a:cs typeface="Times New Roman" panose="02020603050405020304" pitchFamily="18" charset="0"/>
              </a:rPr>
              <a:t>'</a:t>
            </a:r>
            <a:r>
              <a:rPr kumimoji="1" lang="en-US" altLang="zh-CN" sz="2800" dirty="0">
                <a:solidFill>
                  <a:srgbClr val="000066"/>
                </a:solidFill>
                <a:latin typeface="Times New Roman" panose="02020603050405020304" pitchFamily="18" charset="0"/>
              </a:rPr>
              <a:t> = ∑</a:t>
            </a:r>
            <a:r>
              <a:rPr kumimoji="1" lang="en-US" altLang="zh-CN" sz="2800" dirty="0" err="1">
                <a:solidFill>
                  <a:srgbClr val="000066"/>
                </a:solidFill>
                <a:latin typeface="Times New Roman" panose="02020603050405020304" pitchFamily="18" charset="0"/>
              </a:rPr>
              <a:t>a</a:t>
            </a:r>
            <a:r>
              <a:rPr kumimoji="1" lang="en-US" altLang="zh-CN" sz="2800" baseline="-25000" dirty="0" err="1">
                <a:solidFill>
                  <a:srgbClr val="000066"/>
                </a:solidFill>
                <a:latin typeface="Times New Roman" panose="02020603050405020304" pitchFamily="18" charset="0"/>
              </a:rPr>
              <a:t>i</a:t>
            </a:r>
            <a:r>
              <a:rPr kumimoji="1" lang="en-US" altLang="zh-CN" sz="2800" dirty="0" err="1">
                <a:solidFill>
                  <a:srgbClr val="000066"/>
                </a:solidFill>
                <a:latin typeface="Times New Roman" panose="02020603050405020304" pitchFamily="18" charset="0"/>
              </a:rPr>
              <a:t>x</a:t>
            </a:r>
            <a:r>
              <a:rPr kumimoji="1" lang="en-US" altLang="zh-CN" sz="2800" baseline="-25000" dirty="0" err="1">
                <a:solidFill>
                  <a:srgbClr val="000066"/>
                </a:solidFill>
                <a:latin typeface="Times New Roman" panose="02020603050405020304" pitchFamily="18" charset="0"/>
              </a:rPr>
              <a:t>i</a:t>
            </a:r>
            <a:endParaRPr kumimoji="1" lang="en-US" altLang="zh-CN" sz="2800" baseline="-25000" dirty="0">
              <a:solidFill>
                <a:srgbClr val="000066"/>
              </a:solidFill>
              <a:latin typeface="Times New Roman" panose="02020603050405020304" pitchFamily="18" charset="0"/>
            </a:endParaRPr>
          </a:p>
          <a:p>
            <a:pPr>
              <a:lnSpc>
                <a:spcPct val="150000"/>
              </a:lnSpc>
            </a:pPr>
            <a:endParaRPr lang="en-US" altLang="zh-CN" sz="38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19</a:t>
            </a:fld>
            <a:endParaRPr kumimoji="1" lang="zh-CN" altLang="en-US" dirty="0"/>
          </a:p>
        </p:txBody>
      </p:sp>
    </p:spTree>
    <p:extLst>
      <p:ext uri="{BB962C8B-B14F-4D97-AF65-F5344CB8AC3E}">
        <p14:creationId xmlns:p14="http://schemas.microsoft.com/office/powerpoint/2010/main" val="3699925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5.2.1 </a:t>
            </a:r>
            <a:r>
              <a:rPr kumimoji="1" lang="zh-CN" altLang="en-US" dirty="0">
                <a:solidFill>
                  <a:prstClr val="black"/>
                </a:solidFill>
              </a:rPr>
              <a:t>背包</a:t>
            </a:r>
            <a:r>
              <a:rPr kumimoji="1" lang="zh-CN" altLang="zh-CN" dirty="0">
                <a:solidFill>
                  <a:prstClr val="black"/>
                </a:solidFill>
              </a:rPr>
              <a:t>算法</a:t>
            </a:r>
            <a:endParaRPr lang="zh-CN" altLang="en-US" dirty="0"/>
          </a:p>
        </p:txBody>
      </p:sp>
      <p:sp>
        <p:nvSpPr>
          <p:cNvPr id="3" name="内容占位符 2"/>
          <p:cNvSpPr>
            <a:spLocks noGrp="1"/>
          </p:cNvSpPr>
          <p:nvPr>
            <p:ph idx="1"/>
          </p:nvPr>
        </p:nvSpPr>
        <p:spPr>
          <a:xfrm>
            <a:off x="838200" y="1401288"/>
            <a:ext cx="10515600" cy="4696164"/>
          </a:xfrm>
        </p:spPr>
        <p:txBody>
          <a:bodyPr>
            <a:normAutofit fontScale="77500" lnSpcReduction="20000"/>
          </a:bodyPr>
          <a:lstStyle/>
          <a:p>
            <a:pPr>
              <a:lnSpc>
                <a:spcPct val="150000"/>
              </a:lnSpc>
            </a:pPr>
            <a:r>
              <a:rPr lang="en-US" altLang="zh-CN" dirty="0"/>
              <a:t>Eaxmple-</a:t>
            </a:r>
            <a:r>
              <a:rPr lang="zh-CN" altLang="en-US" dirty="0"/>
              <a:t>从私钥计算公钥</a:t>
            </a:r>
            <a:endParaRPr lang="en-US" altLang="zh-CN" dirty="0"/>
          </a:p>
          <a:p>
            <a:pPr lvl="1">
              <a:lnSpc>
                <a:spcPct val="140000"/>
              </a:lnSpc>
            </a:pPr>
            <a:r>
              <a:rPr lang="zh-CN" altLang="en-US" sz="2600" dirty="0"/>
              <a:t>私钥</a:t>
            </a:r>
            <a:r>
              <a:rPr lang="en-US" altLang="zh-CN" sz="2600" dirty="0"/>
              <a:t>{2,3,6,13,27,52}</a:t>
            </a:r>
          </a:p>
          <a:p>
            <a:pPr lvl="1">
              <a:lnSpc>
                <a:spcPct val="140000"/>
              </a:lnSpc>
            </a:pPr>
            <a:r>
              <a:rPr lang="en-US" altLang="zh-CN" sz="2600" dirty="0"/>
              <a:t>w=31,  m=105</a:t>
            </a:r>
          </a:p>
          <a:p>
            <a:pPr lvl="2">
              <a:lnSpc>
                <a:spcPct val="140000"/>
              </a:lnSpc>
              <a:buNone/>
            </a:pPr>
            <a:r>
              <a:rPr lang="en-US" altLang="zh-CN" sz="2600" dirty="0"/>
              <a:t>2*31 mod 105= 62</a:t>
            </a:r>
          </a:p>
          <a:p>
            <a:pPr lvl="2">
              <a:lnSpc>
                <a:spcPct val="140000"/>
              </a:lnSpc>
              <a:buNone/>
            </a:pPr>
            <a:r>
              <a:rPr lang="en-US" altLang="zh-CN" sz="2600" dirty="0"/>
              <a:t>3*31 mod 105=93</a:t>
            </a:r>
          </a:p>
          <a:p>
            <a:pPr lvl="2">
              <a:lnSpc>
                <a:spcPct val="140000"/>
              </a:lnSpc>
              <a:buNone/>
            </a:pPr>
            <a:r>
              <a:rPr lang="en-US" altLang="zh-CN" sz="2600" dirty="0"/>
              <a:t>6*31 mod 105=81</a:t>
            </a:r>
          </a:p>
          <a:p>
            <a:pPr lvl="2">
              <a:lnSpc>
                <a:spcPct val="140000"/>
              </a:lnSpc>
              <a:buNone/>
            </a:pPr>
            <a:r>
              <a:rPr lang="en-US" altLang="zh-CN" sz="2600" dirty="0"/>
              <a:t>13*31 mod 105= 88</a:t>
            </a:r>
          </a:p>
          <a:p>
            <a:pPr lvl="2">
              <a:lnSpc>
                <a:spcPct val="140000"/>
              </a:lnSpc>
              <a:buNone/>
            </a:pPr>
            <a:r>
              <a:rPr lang="en-US" altLang="zh-CN" sz="2600" dirty="0"/>
              <a:t>27*31 mod 105=102</a:t>
            </a:r>
          </a:p>
          <a:p>
            <a:pPr lvl="2">
              <a:lnSpc>
                <a:spcPct val="140000"/>
              </a:lnSpc>
              <a:buNone/>
            </a:pPr>
            <a:r>
              <a:rPr lang="en-US" altLang="zh-CN" sz="2600" dirty="0"/>
              <a:t>52*31 mod 105= 37</a:t>
            </a:r>
          </a:p>
          <a:p>
            <a:pPr lvl="1">
              <a:lnSpc>
                <a:spcPct val="140000"/>
              </a:lnSpc>
            </a:pPr>
            <a:r>
              <a:rPr lang="zh-CN" altLang="en-US" sz="2600" dirty="0"/>
              <a:t>公钥</a:t>
            </a:r>
            <a:r>
              <a:rPr lang="en-US" altLang="zh-CN" sz="2600" dirty="0"/>
              <a:t>{62,93,81,88,102,37}</a:t>
            </a:r>
          </a:p>
          <a:p>
            <a:pPr>
              <a:lnSpc>
                <a:spcPct val="150000"/>
              </a:lnSpc>
            </a:pPr>
            <a:endParaRPr lang="en-US" altLang="zh-CN" sz="38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20</a:t>
            </a:fld>
            <a:endParaRPr kumimoji="1" lang="zh-CN" altLang="en-US" dirty="0"/>
          </a:p>
        </p:txBody>
      </p:sp>
    </p:spTree>
    <p:extLst>
      <p:ext uri="{BB962C8B-B14F-4D97-AF65-F5344CB8AC3E}">
        <p14:creationId xmlns:p14="http://schemas.microsoft.com/office/powerpoint/2010/main" val="330833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5.2.1 </a:t>
            </a:r>
            <a:r>
              <a:rPr kumimoji="1" lang="zh-CN" altLang="en-US" dirty="0">
                <a:solidFill>
                  <a:prstClr val="black"/>
                </a:solidFill>
              </a:rPr>
              <a:t>背包</a:t>
            </a:r>
            <a:r>
              <a:rPr kumimoji="1" lang="zh-CN" altLang="zh-CN" dirty="0">
                <a:solidFill>
                  <a:prstClr val="black"/>
                </a:solidFill>
              </a:rPr>
              <a:t>算法</a:t>
            </a:r>
            <a:endParaRPr lang="zh-CN" altLang="en-US" dirty="0"/>
          </a:p>
        </p:txBody>
      </p:sp>
      <p:sp>
        <p:nvSpPr>
          <p:cNvPr id="3" name="内容占位符 2"/>
          <p:cNvSpPr>
            <a:spLocks noGrp="1"/>
          </p:cNvSpPr>
          <p:nvPr>
            <p:ph idx="1"/>
          </p:nvPr>
        </p:nvSpPr>
        <p:spPr>
          <a:xfrm>
            <a:off x="838200" y="1401288"/>
            <a:ext cx="10515600" cy="4696164"/>
          </a:xfrm>
        </p:spPr>
        <p:txBody>
          <a:bodyPr>
            <a:normAutofit fontScale="92500" lnSpcReduction="10000"/>
          </a:bodyPr>
          <a:lstStyle/>
          <a:p>
            <a:pPr>
              <a:lnSpc>
                <a:spcPct val="150000"/>
              </a:lnSpc>
            </a:pPr>
            <a:r>
              <a:rPr lang="en-US" altLang="zh-CN" dirty="0"/>
              <a:t>Eaxmple-</a:t>
            </a:r>
            <a:r>
              <a:rPr lang="zh-CN" altLang="en-US" dirty="0"/>
              <a:t>加密</a:t>
            </a:r>
            <a:endParaRPr lang="en-US" altLang="zh-CN" dirty="0"/>
          </a:p>
          <a:p>
            <a:pPr lvl="1">
              <a:lnSpc>
                <a:spcPct val="150000"/>
              </a:lnSpc>
            </a:pPr>
            <a:r>
              <a:rPr lang="zh-CN" altLang="en-US" dirty="0"/>
              <a:t>消息</a:t>
            </a:r>
            <a:r>
              <a:rPr lang="en-US" altLang="zh-CN" dirty="0"/>
              <a:t>=</a:t>
            </a:r>
            <a:r>
              <a:rPr lang="en-US" altLang="zh-CN" dirty="0">
                <a:solidFill>
                  <a:srgbClr val="FF0000"/>
                </a:solidFill>
              </a:rPr>
              <a:t>011000</a:t>
            </a:r>
            <a:r>
              <a:rPr lang="en-US" altLang="zh-CN" dirty="0"/>
              <a:t> 110101 101110</a:t>
            </a:r>
          </a:p>
          <a:p>
            <a:pPr lvl="1">
              <a:lnSpc>
                <a:spcPct val="150000"/>
              </a:lnSpc>
            </a:pPr>
            <a:r>
              <a:rPr lang="zh-CN" altLang="en-US" dirty="0"/>
              <a:t>明文</a:t>
            </a:r>
            <a:r>
              <a:rPr lang="en-US" altLang="zh-CN" dirty="0"/>
              <a:t>:   0  1   1   0    0    0 </a:t>
            </a:r>
          </a:p>
          <a:p>
            <a:pPr lvl="1">
              <a:lnSpc>
                <a:spcPct val="150000"/>
              </a:lnSpc>
            </a:pPr>
            <a:r>
              <a:rPr lang="zh-CN" altLang="en-US" dirty="0"/>
              <a:t>背包</a:t>
            </a:r>
            <a:r>
              <a:rPr lang="en-US" altLang="zh-CN" dirty="0"/>
              <a:t>: 62 93 81 88 102 37</a:t>
            </a:r>
          </a:p>
          <a:p>
            <a:pPr lvl="1">
              <a:lnSpc>
                <a:spcPct val="150000"/>
              </a:lnSpc>
            </a:pPr>
            <a:r>
              <a:rPr lang="zh-CN" altLang="en-US" dirty="0"/>
              <a:t>密文</a:t>
            </a:r>
            <a:r>
              <a:rPr lang="en-US" altLang="zh-CN" dirty="0"/>
              <a:t>:93+81=174</a:t>
            </a:r>
          </a:p>
          <a:p>
            <a:pPr lvl="1">
              <a:lnSpc>
                <a:spcPct val="150000"/>
              </a:lnSpc>
            </a:pPr>
            <a:r>
              <a:rPr lang="en-US" altLang="zh-CN" dirty="0"/>
              <a:t>011000 </a:t>
            </a:r>
            <a:r>
              <a:rPr lang="zh-CN" altLang="en-US" dirty="0"/>
              <a:t>对应于</a:t>
            </a:r>
            <a:r>
              <a:rPr lang="en-US" altLang="zh-CN" dirty="0"/>
              <a:t>93+81=174</a:t>
            </a:r>
          </a:p>
          <a:p>
            <a:pPr lvl="1">
              <a:lnSpc>
                <a:spcPct val="150000"/>
              </a:lnSpc>
            </a:pPr>
            <a:r>
              <a:rPr lang="en-US" altLang="zh-CN" dirty="0"/>
              <a:t>110101</a:t>
            </a:r>
            <a:r>
              <a:rPr lang="zh-CN" altLang="en-US" dirty="0"/>
              <a:t>对应于</a:t>
            </a:r>
            <a:r>
              <a:rPr lang="en-US" altLang="zh-CN" dirty="0"/>
              <a:t>62+93+88+37=280</a:t>
            </a:r>
          </a:p>
          <a:p>
            <a:pPr lvl="1">
              <a:lnSpc>
                <a:spcPct val="150000"/>
              </a:lnSpc>
            </a:pPr>
            <a:r>
              <a:rPr lang="en-US" altLang="zh-CN" dirty="0"/>
              <a:t>101110</a:t>
            </a:r>
            <a:r>
              <a:rPr lang="zh-CN" altLang="en-US" dirty="0"/>
              <a:t>对应于</a:t>
            </a:r>
            <a:r>
              <a:rPr lang="en-US" altLang="zh-CN" dirty="0"/>
              <a:t>62+81+88+102=333</a:t>
            </a:r>
          </a:p>
          <a:p>
            <a:pPr>
              <a:lnSpc>
                <a:spcPct val="150000"/>
              </a:lnSpc>
            </a:pPr>
            <a:endParaRPr lang="en-US" altLang="zh-CN" sz="38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21</a:t>
            </a:fld>
            <a:endParaRPr kumimoji="1" lang="zh-CN" altLang="en-US" dirty="0"/>
          </a:p>
        </p:txBody>
      </p:sp>
    </p:spTree>
    <p:extLst>
      <p:ext uri="{BB962C8B-B14F-4D97-AF65-F5344CB8AC3E}">
        <p14:creationId xmlns:p14="http://schemas.microsoft.com/office/powerpoint/2010/main" val="1528898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5.2.1 </a:t>
            </a:r>
            <a:r>
              <a:rPr kumimoji="1" lang="zh-CN" altLang="en-US" dirty="0">
                <a:solidFill>
                  <a:prstClr val="black"/>
                </a:solidFill>
              </a:rPr>
              <a:t>背包</a:t>
            </a:r>
            <a:r>
              <a:rPr kumimoji="1" lang="zh-CN" altLang="zh-CN" dirty="0">
                <a:solidFill>
                  <a:prstClr val="black"/>
                </a:solidFill>
              </a:rPr>
              <a:t>算法</a:t>
            </a:r>
            <a:endParaRPr lang="zh-CN" altLang="en-US" dirty="0"/>
          </a:p>
        </p:txBody>
      </p:sp>
      <p:sp>
        <p:nvSpPr>
          <p:cNvPr id="3" name="内容占位符 2"/>
          <p:cNvSpPr>
            <a:spLocks noGrp="1"/>
          </p:cNvSpPr>
          <p:nvPr>
            <p:ph idx="1"/>
          </p:nvPr>
        </p:nvSpPr>
        <p:spPr>
          <a:xfrm>
            <a:off x="838200" y="1401288"/>
            <a:ext cx="10515600" cy="4696164"/>
          </a:xfrm>
        </p:spPr>
        <p:txBody>
          <a:bodyPr>
            <a:normAutofit fontScale="92500" lnSpcReduction="10000"/>
          </a:bodyPr>
          <a:lstStyle/>
          <a:p>
            <a:pPr>
              <a:lnSpc>
                <a:spcPct val="150000"/>
              </a:lnSpc>
            </a:pPr>
            <a:r>
              <a:rPr lang="en-US" altLang="zh-CN" dirty="0"/>
              <a:t>Eaxmple-</a:t>
            </a:r>
            <a:r>
              <a:rPr lang="zh-CN" altLang="en-US" dirty="0"/>
              <a:t>解密</a:t>
            </a:r>
            <a:endParaRPr lang="en-US" altLang="zh-CN" dirty="0"/>
          </a:p>
          <a:p>
            <a:pPr lvl="1">
              <a:lnSpc>
                <a:spcPct val="150000"/>
              </a:lnSpc>
            </a:pPr>
            <a:r>
              <a:rPr lang="zh-CN" altLang="en-US" dirty="0"/>
              <a:t>解密者知道</a:t>
            </a:r>
            <a:r>
              <a:rPr lang="en-US" altLang="zh-CN" dirty="0"/>
              <a:t>{2,3,6,13,27,52}, w = 31, m = 105</a:t>
            </a:r>
          </a:p>
          <a:p>
            <a:pPr lvl="1">
              <a:lnSpc>
                <a:spcPct val="150000"/>
              </a:lnSpc>
            </a:pPr>
            <a:r>
              <a:rPr lang="zh-CN" altLang="en-US" dirty="0"/>
              <a:t>计算</a:t>
            </a:r>
            <a:r>
              <a:rPr lang="en-US" altLang="zh-CN" dirty="0"/>
              <a:t>w(w</a:t>
            </a:r>
            <a:r>
              <a:rPr lang="en-US" altLang="zh-CN" baseline="30000" dirty="0"/>
              <a:t>-1</a:t>
            </a:r>
            <a:r>
              <a:rPr lang="en-US" altLang="zh-CN" dirty="0"/>
              <a:t>)=1 mod(m)</a:t>
            </a:r>
          </a:p>
          <a:p>
            <a:pPr lvl="1">
              <a:lnSpc>
                <a:spcPct val="150000"/>
              </a:lnSpc>
            </a:pPr>
            <a:r>
              <a:rPr lang="en-US" altLang="zh-CN" dirty="0">
                <a:highlight>
                  <a:srgbClr val="FFFF00"/>
                </a:highlight>
              </a:rPr>
              <a:t>w</a:t>
            </a:r>
            <a:r>
              <a:rPr lang="en-US" altLang="zh-CN" baseline="30000" dirty="0">
                <a:highlight>
                  <a:srgbClr val="FFFF00"/>
                </a:highlight>
              </a:rPr>
              <a:t>-1</a:t>
            </a:r>
            <a:r>
              <a:rPr lang="en-US" altLang="zh-CN" dirty="0">
                <a:highlight>
                  <a:srgbClr val="FFFF00"/>
                </a:highlight>
              </a:rPr>
              <a:t>=61  </a:t>
            </a:r>
            <a:r>
              <a:rPr lang="zh-CN" altLang="en-US" dirty="0">
                <a:highlight>
                  <a:srgbClr val="FFFF00"/>
                </a:highlight>
              </a:rPr>
              <a:t>（用辗转相除法）</a:t>
            </a:r>
            <a:endParaRPr lang="en-US" altLang="zh-CN" dirty="0">
              <a:highlight>
                <a:srgbClr val="FFFF00"/>
              </a:highlight>
            </a:endParaRPr>
          </a:p>
          <a:p>
            <a:pPr lvl="1">
              <a:lnSpc>
                <a:spcPct val="150000"/>
              </a:lnSpc>
            </a:pPr>
            <a:r>
              <a:rPr lang="en-US" altLang="zh-CN" dirty="0"/>
              <a:t>174*61 mod 105=9=3+6, </a:t>
            </a:r>
            <a:r>
              <a:rPr lang="zh-CN" altLang="en-US" dirty="0"/>
              <a:t>对应于 </a:t>
            </a:r>
            <a:r>
              <a:rPr lang="en-US" altLang="zh-CN" dirty="0"/>
              <a:t>011000</a:t>
            </a:r>
          </a:p>
          <a:p>
            <a:pPr lvl="1">
              <a:lnSpc>
                <a:spcPct val="150000"/>
              </a:lnSpc>
            </a:pPr>
            <a:r>
              <a:rPr lang="en-US" altLang="zh-CN" dirty="0"/>
              <a:t>280*61 mod 105=70=2+3=13+52,</a:t>
            </a:r>
            <a:r>
              <a:rPr lang="zh-CN" altLang="en-US" dirty="0"/>
              <a:t>对应于</a:t>
            </a:r>
            <a:r>
              <a:rPr lang="en-US" altLang="zh-CN" dirty="0"/>
              <a:t>110101</a:t>
            </a:r>
          </a:p>
          <a:p>
            <a:pPr lvl="1">
              <a:lnSpc>
                <a:spcPct val="150000"/>
              </a:lnSpc>
            </a:pPr>
            <a:r>
              <a:rPr lang="en-US" altLang="zh-CN" dirty="0"/>
              <a:t>333*61 mod 105=48=2+6+13+27, </a:t>
            </a:r>
            <a:r>
              <a:rPr lang="zh-CN" altLang="en-US" dirty="0"/>
              <a:t>对应于</a:t>
            </a:r>
            <a:r>
              <a:rPr lang="en-US" altLang="zh-CN" dirty="0"/>
              <a:t>101110</a:t>
            </a:r>
          </a:p>
          <a:p>
            <a:pPr lvl="1">
              <a:lnSpc>
                <a:spcPct val="150000"/>
              </a:lnSpc>
            </a:pPr>
            <a:r>
              <a:rPr lang="zh-CN" altLang="en-US" dirty="0"/>
              <a:t>因此</a:t>
            </a:r>
            <a:r>
              <a:rPr lang="en-US" altLang="zh-CN" dirty="0"/>
              <a:t>, </a:t>
            </a:r>
            <a:r>
              <a:rPr lang="zh-CN" altLang="en-US" dirty="0"/>
              <a:t>消息</a:t>
            </a:r>
            <a:r>
              <a:rPr lang="en-US" altLang="zh-CN" dirty="0"/>
              <a:t>=011000 110101 101110</a:t>
            </a:r>
          </a:p>
          <a:p>
            <a:pPr>
              <a:lnSpc>
                <a:spcPct val="150000"/>
              </a:lnSpc>
            </a:pPr>
            <a:endParaRPr lang="en-US" altLang="zh-CN" sz="38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22</a:t>
            </a:fld>
            <a:endParaRPr kumimoji="1" lang="zh-CN" altLang="en-US" dirty="0"/>
          </a:p>
        </p:txBody>
      </p:sp>
      <p:pic>
        <p:nvPicPr>
          <p:cNvPr id="8" name="图片 7">
            <a:extLst>
              <a:ext uri="{FF2B5EF4-FFF2-40B4-BE49-F238E27FC236}">
                <a16:creationId xmlns:a16="http://schemas.microsoft.com/office/drawing/2014/main" id="{B428A5FF-0C93-8818-03C8-9F6AC1C42C7F}"/>
              </a:ext>
            </a:extLst>
          </p:cNvPr>
          <p:cNvPicPr>
            <a:picLocks noChangeAspect="1"/>
          </p:cNvPicPr>
          <p:nvPr/>
        </p:nvPicPr>
        <p:blipFill>
          <a:blip r:embed="rId2"/>
          <a:stretch>
            <a:fillRect/>
          </a:stretch>
        </p:blipFill>
        <p:spPr>
          <a:xfrm>
            <a:off x="7951549" y="2261934"/>
            <a:ext cx="4035902" cy="2054530"/>
          </a:xfrm>
          <a:prstGeom prst="rect">
            <a:avLst/>
          </a:prstGeom>
        </p:spPr>
      </p:pic>
      <p:sp>
        <p:nvSpPr>
          <p:cNvPr id="9" name="文本框 8">
            <a:extLst>
              <a:ext uri="{FF2B5EF4-FFF2-40B4-BE49-F238E27FC236}">
                <a16:creationId xmlns:a16="http://schemas.microsoft.com/office/drawing/2014/main" id="{0E30002B-94A0-B518-8B61-D5F9651F8251}"/>
              </a:ext>
            </a:extLst>
          </p:cNvPr>
          <p:cNvSpPr txBox="1"/>
          <p:nvPr/>
        </p:nvSpPr>
        <p:spPr>
          <a:xfrm>
            <a:off x="8321146" y="1783286"/>
            <a:ext cx="3349480" cy="400110"/>
          </a:xfrm>
          <a:prstGeom prst="rect">
            <a:avLst/>
          </a:prstGeom>
          <a:noFill/>
        </p:spPr>
        <p:txBody>
          <a:bodyPr wrap="square" rtlCol="0">
            <a:spAutoFit/>
          </a:bodyPr>
          <a:lstStyle/>
          <a:p>
            <a:r>
              <a:rPr lang="zh-CN" altLang="en-US" sz="2000" b="1" dirty="0">
                <a:highlight>
                  <a:srgbClr val="FFFF00"/>
                </a:highlight>
              </a:rPr>
              <a:t>密文处理之后才能用简单包</a:t>
            </a:r>
          </a:p>
        </p:txBody>
      </p:sp>
    </p:spTree>
    <p:extLst>
      <p:ext uri="{BB962C8B-B14F-4D97-AF65-F5344CB8AC3E}">
        <p14:creationId xmlns:p14="http://schemas.microsoft.com/office/powerpoint/2010/main" val="2159048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5.2.1 </a:t>
            </a:r>
            <a:r>
              <a:rPr kumimoji="1" lang="zh-CN" altLang="en-US" dirty="0">
                <a:solidFill>
                  <a:prstClr val="black"/>
                </a:solidFill>
              </a:rPr>
              <a:t>背包</a:t>
            </a:r>
            <a:r>
              <a:rPr kumimoji="1" lang="zh-CN" altLang="zh-CN" dirty="0">
                <a:solidFill>
                  <a:prstClr val="black"/>
                </a:solidFill>
              </a:rPr>
              <a:t>算法</a:t>
            </a:r>
            <a:endParaRPr lang="zh-CN" altLang="en-US" dirty="0"/>
          </a:p>
        </p:txBody>
      </p:sp>
      <p:sp>
        <p:nvSpPr>
          <p:cNvPr id="3" name="内容占位符 2"/>
          <p:cNvSpPr>
            <a:spLocks noGrp="1"/>
          </p:cNvSpPr>
          <p:nvPr>
            <p:ph idx="1"/>
          </p:nvPr>
        </p:nvSpPr>
        <p:spPr>
          <a:xfrm>
            <a:off x="838200" y="1401288"/>
            <a:ext cx="10515600" cy="4696164"/>
          </a:xfrm>
        </p:spPr>
        <p:txBody>
          <a:bodyPr>
            <a:normAutofit/>
          </a:bodyPr>
          <a:lstStyle/>
          <a:p>
            <a:pPr>
              <a:lnSpc>
                <a:spcPct val="150000"/>
              </a:lnSpc>
            </a:pPr>
            <a:r>
              <a:rPr lang="zh-CN" altLang="en-US" dirty="0"/>
              <a:t>背包密码系统的意义</a:t>
            </a:r>
            <a:endParaRPr lang="en-US" altLang="zh-CN" dirty="0"/>
          </a:p>
          <a:p>
            <a:pPr lvl="1">
              <a:lnSpc>
                <a:spcPct val="150000"/>
              </a:lnSpc>
              <a:spcBef>
                <a:spcPct val="20000"/>
              </a:spcBef>
              <a:buFontTx/>
              <a:buChar char="•"/>
            </a:pPr>
            <a:r>
              <a:rPr kumimoji="1" lang="zh-CN" altLang="en-US" dirty="0">
                <a:solidFill>
                  <a:srgbClr val="000066"/>
                </a:solidFill>
                <a:latin typeface="Times New Roman" panose="02020603050405020304" pitchFamily="18" charset="0"/>
              </a:rPr>
              <a:t>是第一个公钥密码系统</a:t>
            </a:r>
          </a:p>
          <a:p>
            <a:pPr lvl="1">
              <a:lnSpc>
                <a:spcPct val="150000"/>
              </a:lnSpc>
              <a:spcBef>
                <a:spcPct val="20000"/>
              </a:spcBef>
              <a:buFontTx/>
              <a:buChar char="•"/>
            </a:pPr>
            <a:r>
              <a:rPr kumimoji="1" lang="zh-CN" altLang="en-US" dirty="0">
                <a:solidFill>
                  <a:srgbClr val="000066"/>
                </a:solidFill>
                <a:latin typeface="Times New Roman" panose="02020603050405020304" pitchFamily="18" charset="0"/>
              </a:rPr>
              <a:t>有较好的理论价值</a:t>
            </a:r>
          </a:p>
          <a:p>
            <a:pPr lvl="1">
              <a:lnSpc>
                <a:spcPct val="150000"/>
              </a:lnSpc>
              <a:spcBef>
                <a:spcPct val="20000"/>
              </a:spcBef>
              <a:buFontTx/>
              <a:buChar char="•"/>
            </a:pPr>
            <a:r>
              <a:rPr kumimoji="1" lang="zh-CN" altLang="en-US" dirty="0">
                <a:solidFill>
                  <a:srgbClr val="000066"/>
                </a:solidFill>
                <a:latin typeface="Times New Roman" panose="02020603050405020304" pitchFamily="18" charset="0"/>
              </a:rPr>
              <a:t>在实践过程中，大多数的背包方案都已被破解，或者证明存在缺陷</a:t>
            </a:r>
          </a:p>
          <a:p>
            <a:pPr>
              <a:lnSpc>
                <a:spcPct val="150000"/>
              </a:lnSpc>
            </a:pPr>
            <a:endParaRPr lang="en-US" altLang="zh-CN" sz="38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23</a:t>
            </a:fld>
            <a:endParaRPr kumimoji="1" lang="zh-CN" altLang="en-US" dirty="0"/>
          </a:p>
        </p:txBody>
      </p:sp>
    </p:spTree>
    <p:extLst>
      <p:ext uri="{BB962C8B-B14F-4D97-AF65-F5344CB8AC3E}">
        <p14:creationId xmlns:p14="http://schemas.microsoft.com/office/powerpoint/2010/main" val="726404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365662"/>
                <a:ext cx="10515600" cy="5492337"/>
              </a:xfrm>
            </p:spPr>
            <p:txBody>
              <a:bodyPr>
                <a:normAutofit/>
              </a:bodyPr>
              <a:lstStyle/>
              <a:p>
                <a:r>
                  <a:rPr lang="zh-CN" altLang="en-US" dirty="0"/>
                  <a:t>第一个成熟的公开密钥算法，可以用作加密和数字签名</a:t>
                </a:r>
              </a:p>
              <a:p>
                <a:r>
                  <a:rPr lang="zh-CN" altLang="en-US" dirty="0">
                    <a:highlight>
                      <a:srgbClr val="FFFF00"/>
                    </a:highlight>
                  </a:rPr>
                  <a:t>算法描述</a:t>
                </a:r>
                <a:endParaRPr lang="en-US" altLang="zh-CN" dirty="0">
                  <a:highlight>
                    <a:srgbClr val="FFFF00"/>
                  </a:highlight>
                </a:endParaRPr>
              </a:p>
              <a:p>
                <a:pPr marL="742950" lvl="1">
                  <a:defRPr/>
                </a:pPr>
                <a:r>
                  <a:rPr lang="en-US" altLang="zh-CN" dirty="0"/>
                  <a:t>RSA</a:t>
                </a:r>
                <a:r>
                  <a:rPr lang="zh-CN" altLang="en-US" dirty="0"/>
                  <a:t>的安全性基于大整数的因数分解的困难性</a:t>
                </a:r>
              </a:p>
              <a:p>
                <a:pPr marL="742950" lvl="1">
                  <a:defRPr/>
                </a:pPr>
                <a:r>
                  <a:rPr lang="zh-CN" altLang="en-US" dirty="0"/>
                  <a:t>（</a:t>
                </a:r>
                <a:r>
                  <a:rPr lang="en-US" altLang="zh-CN" dirty="0"/>
                  <a:t>1</a:t>
                </a:r>
                <a:r>
                  <a:rPr lang="zh-CN" altLang="en-US" dirty="0"/>
                  <a:t>）随机选择两个大素数</a:t>
                </a:r>
                <a:r>
                  <a:rPr lang="en-US" altLang="zh-CN" dirty="0"/>
                  <a:t>p</a:t>
                </a:r>
                <a:r>
                  <a:rPr lang="zh-CN" altLang="en-US" dirty="0"/>
                  <a:t>和</a:t>
                </a:r>
                <a:r>
                  <a:rPr lang="en-US" altLang="zh-CN" dirty="0"/>
                  <a:t>q</a:t>
                </a:r>
                <a:r>
                  <a:rPr lang="zh-CN" altLang="en-US" dirty="0"/>
                  <a:t>，计算</a:t>
                </a:r>
                <a:r>
                  <a:rPr lang="en-US" altLang="zh-CN" dirty="0"/>
                  <a:t>n = </a:t>
                </a:r>
                <a:r>
                  <a:rPr lang="en-US" altLang="zh-CN" dirty="0" err="1"/>
                  <a:t>pq</a:t>
                </a:r>
                <a:endParaRPr lang="en-US" altLang="zh-CN" dirty="0"/>
              </a:p>
              <a:p>
                <a:pPr marL="742950" lvl="1">
                  <a:defRPr/>
                </a:pPr>
                <a:r>
                  <a:rPr lang="zh-CN" altLang="en-US" dirty="0"/>
                  <a:t>（</a:t>
                </a:r>
                <a:r>
                  <a:rPr lang="en-US" altLang="zh-CN" dirty="0"/>
                  <a:t>2</a:t>
                </a:r>
                <a:r>
                  <a:rPr lang="zh-CN" altLang="en-US" dirty="0"/>
                  <a:t>）随机选择加密密钥</a:t>
                </a:r>
                <a:r>
                  <a:rPr lang="en-US" altLang="zh-CN" dirty="0"/>
                  <a:t>e</a:t>
                </a:r>
                <a:r>
                  <a:rPr lang="zh-CN" altLang="en-US" dirty="0"/>
                  <a:t>，满足</a:t>
                </a:r>
                <a:r>
                  <a:rPr lang="en-US" altLang="zh-CN" dirty="0"/>
                  <a:t>e</a:t>
                </a:r>
                <a:r>
                  <a:rPr lang="zh-CN" altLang="en-US" dirty="0"/>
                  <a:t>与</a:t>
                </a:r>
                <a:r>
                  <a:rPr lang="en-US" altLang="zh-CN" dirty="0"/>
                  <a:t>(p-1)(q-1)</a:t>
                </a:r>
                <a:r>
                  <a:rPr lang="zh-CN" altLang="en-US" dirty="0"/>
                  <a:t>互素。用扩展的</a:t>
                </a:r>
                <a:r>
                  <a:rPr lang="en-US" altLang="zh-CN" dirty="0"/>
                  <a:t>Euclid</a:t>
                </a:r>
                <a:r>
                  <a:rPr lang="zh-CN" altLang="en-US" dirty="0"/>
                  <a:t>算法计算解密密钥</a:t>
                </a:r>
                <a:r>
                  <a:rPr lang="en-US" altLang="zh-CN" dirty="0"/>
                  <a:t>d</a:t>
                </a:r>
                <a:r>
                  <a:rPr lang="zh-CN" altLang="en-US" dirty="0"/>
                  <a:t>，使得</a:t>
                </a:r>
                <a:r>
                  <a:rPr lang="en-US" altLang="zh-CN" dirty="0"/>
                  <a:t>ed </a:t>
                </a:r>
                <a:r>
                  <a:rPr lang="en-US" altLang="zh-CN" dirty="0">
                    <a:sym typeface="Symbol" pitchFamily="18" charset="2"/>
                  </a:rPr>
                  <a:t> 1 mod (p-1)(q-1)</a:t>
                </a:r>
              </a:p>
              <a:p>
                <a:pPr marL="1200150" lvl="2">
                  <a:defRPr/>
                </a:pPr>
                <a:r>
                  <a:rPr lang="zh-CN" altLang="en-US" dirty="0">
                    <a:solidFill>
                      <a:srgbClr val="FF0000"/>
                    </a:solidFill>
                  </a:rPr>
                  <a:t>公开密钥：</a:t>
                </a:r>
                <a:r>
                  <a:rPr lang="en-US" altLang="zh-CN" dirty="0">
                    <a:solidFill>
                      <a:srgbClr val="FF0000"/>
                    </a:solidFill>
                  </a:rPr>
                  <a:t>e</a:t>
                </a:r>
                <a:r>
                  <a:rPr lang="zh-CN" altLang="en-US" dirty="0">
                    <a:solidFill>
                      <a:srgbClr val="FF0000"/>
                    </a:solidFill>
                  </a:rPr>
                  <a:t>和</a:t>
                </a:r>
                <a:r>
                  <a:rPr lang="en-US" altLang="zh-CN" dirty="0">
                    <a:solidFill>
                      <a:srgbClr val="FF0000"/>
                    </a:solidFill>
                  </a:rPr>
                  <a:t>n</a:t>
                </a:r>
              </a:p>
              <a:p>
                <a:pPr marL="1200150" lvl="2">
                  <a:defRPr/>
                </a:pPr>
                <a:r>
                  <a:rPr lang="zh-CN" altLang="en-US" dirty="0">
                    <a:solidFill>
                      <a:srgbClr val="FF0000"/>
                    </a:solidFill>
                  </a:rPr>
                  <a:t>秘密密钥：</a:t>
                </a:r>
                <a:r>
                  <a:rPr lang="en-US" altLang="zh-CN" dirty="0">
                    <a:solidFill>
                      <a:srgbClr val="FF0000"/>
                    </a:solidFill>
                  </a:rPr>
                  <a:t>d</a:t>
                </a:r>
              </a:p>
              <a:p>
                <a:pPr marL="1200150" lvl="2">
                  <a:defRPr/>
                </a:pPr>
                <a14:m>
                  <m:oMath xmlns:m="http://schemas.openxmlformats.org/officeDocument/2006/math">
                    <m:r>
                      <a:rPr lang="zh-CN" altLang="en-US" i="1">
                        <a:latin typeface="Cambria Math" panose="02040503050406030204" pitchFamily="18" charset="0"/>
                      </a:rPr>
                      <m:t>𝜙</m:t>
                    </m:r>
                    <m:d>
                      <m:dPr>
                        <m:ctrlPr>
                          <a:rPr lang="zh-CN" altLang="en-US" i="1">
                            <a:latin typeface="Cambria Math" panose="02040503050406030204" pitchFamily="18" charset="0"/>
                          </a:rPr>
                        </m:ctrlPr>
                      </m:dPr>
                      <m:e>
                        <m:r>
                          <a:rPr lang="zh-CN" altLang="en-US" i="1">
                            <a:latin typeface="Cambria Math" panose="02040503050406030204" pitchFamily="18" charset="0"/>
                          </a:rPr>
                          <m:t>𝑛</m:t>
                        </m:r>
                      </m:e>
                    </m:d>
                    <m:r>
                      <a:rPr lang="zh-CN" altLang="en-US" i="1">
                        <a:latin typeface="Cambria Math" panose="02040503050406030204" pitchFamily="18" charset="0"/>
                      </a:rPr>
                      <m:t>=</m:t>
                    </m:r>
                    <m:d>
                      <m:dPr>
                        <m:ctrlPr>
                          <a:rPr lang="zh-CN" altLang="en-US" i="1">
                            <a:latin typeface="Cambria Math" panose="02040503050406030204" pitchFamily="18" charset="0"/>
                          </a:rPr>
                        </m:ctrlPr>
                      </m:dPr>
                      <m:e>
                        <m:r>
                          <a:rPr lang="zh-CN" altLang="en-US" i="1">
                            <a:latin typeface="Cambria Math" panose="02040503050406030204" pitchFamily="18" charset="0"/>
                          </a:rPr>
                          <m:t>𝑝</m:t>
                        </m:r>
                        <m:r>
                          <a:rPr lang="zh-CN" altLang="en-US" i="1">
                            <a:latin typeface="Cambria Math" panose="02040503050406030204" pitchFamily="18" charset="0"/>
                          </a:rPr>
                          <m:t>−1</m:t>
                        </m:r>
                      </m:e>
                    </m:d>
                    <m:d>
                      <m:dPr>
                        <m:ctrlPr>
                          <a:rPr lang="zh-CN" altLang="en-US" i="1">
                            <a:latin typeface="Cambria Math" panose="02040503050406030204" pitchFamily="18" charset="0"/>
                          </a:rPr>
                        </m:ctrlPr>
                      </m:dPr>
                      <m:e>
                        <m:r>
                          <a:rPr lang="zh-CN" altLang="en-US" i="1">
                            <a:latin typeface="Cambria Math" panose="02040503050406030204" pitchFamily="18" charset="0"/>
                          </a:rPr>
                          <m:t>𝑞</m:t>
                        </m:r>
                        <m:r>
                          <a:rPr lang="zh-CN" altLang="en-US" i="1">
                            <a:latin typeface="Cambria Math" panose="02040503050406030204" pitchFamily="18" charset="0"/>
                          </a:rPr>
                          <m:t>−1</m:t>
                        </m:r>
                      </m:e>
                    </m:d>
                  </m:oMath>
                </a14:m>
                <a:r>
                  <a:rPr lang="zh-CN" altLang="en-US" dirty="0"/>
                  <a:t>：小于</a:t>
                </a:r>
                <a:r>
                  <a:rPr lang="en-US" altLang="zh-CN" dirty="0"/>
                  <a:t>n</a:t>
                </a:r>
                <a:r>
                  <a:rPr lang="zh-CN" altLang="en-US" dirty="0"/>
                  <a:t>且与</a:t>
                </a:r>
                <a:r>
                  <a:rPr lang="en-US" altLang="zh-CN" dirty="0"/>
                  <a:t>n</a:t>
                </a:r>
                <a:r>
                  <a:rPr lang="zh-CN" altLang="en-US" dirty="0"/>
                  <a:t>互质的数的个数</a:t>
                </a:r>
                <a:endParaRPr lang="en-US" altLang="zh-CN" dirty="0"/>
              </a:p>
              <a:p>
                <a:pPr marL="742950" lvl="1">
                  <a:defRPr/>
                </a:pPr>
                <a:r>
                  <a:rPr lang="zh-CN" altLang="en-US" dirty="0"/>
                  <a:t>（</a:t>
                </a:r>
                <a:r>
                  <a:rPr lang="en-US" altLang="zh-CN" dirty="0"/>
                  <a:t>3</a:t>
                </a:r>
                <a:r>
                  <a:rPr lang="zh-CN" altLang="en-US" dirty="0"/>
                  <a:t>）加密：</a:t>
                </a:r>
                <a:r>
                  <a:rPr lang="en-US" altLang="zh-CN" dirty="0"/>
                  <a:t>c = m </a:t>
                </a:r>
                <a:r>
                  <a:rPr lang="en-US" altLang="zh-CN" baseline="30000" dirty="0"/>
                  <a:t>e</a:t>
                </a:r>
                <a:r>
                  <a:rPr lang="en-US" altLang="zh-CN" dirty="0"/>
                  <a:t> mod n</a:t>
                </a:r>
              </a:p>
              <a:p>
                <a:pPr marL="742950" lvl="1">
                  <a:defRPr/>
                </a:pPr>
                <a:r>
                  <a:rPr lang="zh-CN" altLang="en-US" dirty="0"/>
                  <a:t>（</a:t>
                </a:r>
                <a:r>
                  <a:rPr lang="en-US" altLang="zh-CN" dirty="0"/>
                  <a:t>4</a:t>
                </a:r>
                <a:r>
                  <a:rPr lang="zh-CN" altLang="en-US" dirty="0"/>
                  <a:t>）解密：</a:t>
                </a:r>
                <a:r>
                  <a:rPr lang="en-US" altLang="zh-CN" dirty="0"/>
                  <a:t>m = c </a:t>
                </a:r>
                <a:r>
                  <a:rPr lang="en-US" altLang="zh-CN" baseline="30000" dirty="0"/>
                  <a:t>d</a:t>
                </a:r>
                <a:r>
                  <a:rPr lang="en-US" altLang="zh-CN" dirty="0"/>
                  <a:t> mod n</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365662"/>
                <a:ext cx="10515600" cy="5492337"/>
              </a:xfrm>
              <a:blipFill>
                <a:blip r:embed="rId2"/>
                <a:stretch>
                  <a:fillRect l="-1043" t="-1110" r="-11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8D4D1E41-7A09-AB4A-A4E1-09765ADA2698}" type="slidenum">
              <a:rPr kumimoji="1" lang="zh-CN" altLang="en-US" smtClean="0"/>
              <a:pPr/>
              <a:t>24</a:t>
            </a:fld>
            <a:endParaRPr kumimoji="1" lang="zh-CN" altLang="en-US" dirty="0"/>
          </a:p>
        </p:txBody>
      </p:sp>
    </p:spTree>
    <p:extLst>
      <p:ext uri="{BB962C8B-B14F-4D97-AF65-F5344CB8AC3E}">
        <p14:creationId xmlns:p14="http://schemas.microsoft.com/office/powerpoint/2010/main" val="2126968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endParaRPr lang="zh-CN" altLang="en-US" dirty="0"/>
          </a:p>
        </p:txBody>
      </p:sp>
      <p:sp>
        <p:nvSpPr>
          <p:cNvPr id="3" name="内容占位符 2"/>
          <p:cNvSpPr>
            <a:spLocks noGrp="1"/>
          </p:cNvSpPr>
          <p:nvPr>
            <p:ph idx="1"/>
          </p:nvPr>
        </p:nvSpPr>
        <p:spPr>
          <a:xfrm>
            <a:off x="838200" y="1365663"/>
            <a:ext cx="10515600" cy="4904508"/>
          </a:xfrm>
        </p:spPr>
        <p:txBody>
          <a:bodyPr>
            <a:normAutofit/>
          </a:bodyPr>
          <a:lstStyle/>
          <a:p>
            <a:pPr>
              <a:lnSpc>
                <a:spcPct val="90000"/>
              </a:lnSpc>
            </a:pPr>
            <a:r>
              <a:rPr lang="en-US" altLang="zh-CN" sz="2400" dirty="0"/>
              <a:t>RSA</a:t>
            </a:r>
            <a:r>
              <a:rPr lang="zh-CN" altLang="en-US" sz="2400" dirty="0"/>
              <a:t>算法用于数字签名：</a:t>
            </a:r>
            <a:endParaRPr lang="en-US" altLang="zh-CN" sz="2400" dirty="0"/>
          </a:p>
          <a:p>
            <a:pPr lvl="1">
              <a:lnSpc>
                <a:spcPct val="90000"/>
              </a:lnSpc>
            </a:pPr>
            <a:r>
              <a:rPr lang="zh-CN" altLang="en-US" dirty="0"/>
              <a:t>签名： </a:t>
            </a:r>
            <a:r>
              <a:rPr lang="en-US" altLang="zh-CN" dirty="0"/>
              <a:t>S = M </a:t>
            </a:r>
            <a:r>
              <a:rPr lang="en-US" altLang="zh-CN" baseline="30000" dirty="0"/>
              <a:t>d</a:t>
            </a:r>
            <a:r>
              <a:rPr lang="en-US" altLang="zh-CN" dirty="0"/>
              <a:t> mod n</a:t>
            </a:r>
          </a:p>
          <a:p>
            <a:pPr lvl="1">
              <a:lnSpc>
                <a:spcPct val="90000"/>
              </a:lnSpc>
            </a:pPr>
            <a:r>
              <a:rPr lang="zh-CN" altLang="en-US" dirty="0"/>
              <a:t>验证签名： </a:t>
            </a:r>
            <a:r>
              <a:rPr lang="en-US" altLang="zh-CN" dirty="0"/>
              <a:t>M = S </a:t>
            </a:r>
            <a:r>
              <a:rPr lang="en-US" altLang="zh-CN" baseline="30000" dirty="0"/>
              <a:t>e</a:t>
            </a:r>
            <a:r>
              <a:rPr lang="en-US" altLang="zh-CN" dirty="0"/>
              <a:t> mod n</a:t>
            </a:r>
          </a:p>
          <a:p>
            <a:r>
              <a:rPr lang="zh-CN" altLang="en-US" dirty="0">
                <a:latin typeface="宋体" pitchFamily="2" charset="-122"/>
              </a:rPr>
              <a:t>欧拉函数与欧拉定理</a:t>
            </a:r>
            <a:endParaRPr lang="en-US" altLang="zh-CN" dirty="0">
              <a:latin typeface="宋体" pitchFamily="2" charset="-122"/>
            </a:endParaRPr>
          </a:p>
          <a:p>
            <a:pPr lvl="1"/>
            <a:r>
              <a:rPr lang="zh-CN" altLang="en-US" dirty="0"/>
              <a:t>欧拉函数</a:t>
            </a:r>
          </a:p>
          <a:p>
            <a:pPr lvl="2"/>
            <a:r>
              <a:rPr lang="zh-CN" altLang="en-US" dirty="0"/>
              <a:t>自变量为正整数</a:t>
            </a:r>
            <a:r>
              <a:rPr lang="en-US" altLang="zh-CN" dirty="0"/>
              <a:t>n</a:t>
            </a:r>
            <a:r>
              <a:rPr lang="zh-CN" altLang="en-US" dirty="0"/>
              <a:t>的函数 称为欧拉函数</a:t>
            </a:r>
            <a:r>
              <a:rPr lang="pt-BR" altLang="zh-CN" dirty="0"/>
              <a:t>φ</a:t>
            </a:r>
            <a:r>
              <a:rPr lang="el-GR" altLang="zh-CN" dirty="0"/>
              <a:t> </a:t>
            </a:r>
            <a:r>
              <a:rPr lang="en-US" altLang="zh-CN" dirty="0"/>
              <a:t>(n)</a:t>
            </a:r>
            <a:r>
              <a:rPr lang="zh-CN" altLang="en-US" dirty="0"/>
              <a:t>， </a:t>
            </a:r>
            <a:r>
              <a:rPr lang="pt-BR" altLang="zh-CN" dirty="0"/>
              <a:t>φ</a:t>
            </a:r>
            <a:r>
              <a:rPr lang="en-US" altLang="zh-CN" dirty="0"/>
              <a:t>(n)</a:t>
            </a:r>
            <a:r>
              <a:rPr lang="zh-CN" altLang="en-US" dirty="0"/>
              <a:t>表示小于</a:t>
            </a:r>
            <a:r>
              <a:rPr lang="en-US" altLang="zh-CN" dirty="0"/>
              <a:t>n</a:t>
            </a:r>
            <a:r>
              <a:rPr lang="zh-CN" altLang="en-US" dirty="0"/>
              <a:t>且与</a:t>
            </a:r>
            <a:r>
              <a:rPr lang="en-US" altLang="zh-CN" dirty="0"/>
              <a:t>n</a:t>
            </a:r>
            <a:r>
              <a:rPr lang="zh-CN" altLang="en-US" dirty="0"/>
              <a:t>互素的正整数的个数。</a:t>
            </a:r>
          </a:p>
          <a:p>
            <a:pPr lvl="2"/>
            <a:r>
              <a:rPr lang="zh-CN" altLang="en-US" dirty="0"/>
              <a:t>当</a:t>
            </a:r>
            <a:r>
              <a:rPr lang="en-US" altLang="zh-CN" dirty="0"/>
              <a:t>n</a:t>
            </a:r>
            <a:r>
              <a:rPr lang="zh-CN" altLang="en-US" dirty="0"/>
              <a:t>为素数时，</a:t>
            </a:r>
            <a:r>
              <a:rPr lang="en-US" altLang="zh-CN" dirty="0"/>
              <a:t> </a:t>
            </a:r>
            <a:r>
              <a:rPr lang="pt-BR" altLang="zh-CN" dirty="0"/>
              <a:t>φ</a:t>
            </a:r>
            <a:r>
              <a:rPr lang="en-US" altLang="zh-CN" dirty="0"/>
              <a:t>(n)=n-1.</a:t>
            </a:r>
          </a:p>
          <a:p>
            <a:pPr lvl="1"/>
            <a:r>
              <a:rPr lang="zh-CN" altLang="en-US" dirty="0"/>
              <a:t>欧拉函数的计算</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25</a:t>
            </a:fld>
            <a:endParaRPr kumimoji="1" lang="zh-CN" altLang="en-US" dirty="0"/>
          </a:p>
        </p:txBody>
      </p:sp>
      <p:grpSp>
        <p:nvGrpSpPr>
          <p:cNvPr id="5" name="组合 4"/>
          <p:cNvGrpSpPr/>
          <p:nvPr/>
        </p:nvGrpSpPr>
        <p:grpSpPr>
          <a:xfrm>
            <a:off x="3571875" y="4857750"/>
            <a:ext cx="6691312" cy="1300162"/>
            <a:chOff x="1357313" y="3786188"/>
            <a:chExt cx="6691312" cy="1300162"/>
          </a:xfrm>
        </p:grpSpPr>
        <mc:AlternateContent xmlns:mc="http://schemas.openxmlformats.org/markup-compatibility/2006" xmlns:a14="http://schemas.microsoft.com/office/drawing/2010/main">
          <mc:Choice Requires="a14">
            <p:sp>
              <p:nvSpPr>
                <p:cNvPr id="6" name="Object 4"/>
                <p:cNvSpPr txBox="1"/>
                <p:nvPr/>
              </p:nvSpPr>
              <p:spPr bwMode="auto">
                <a:xfrm>
                  <a:off x="2643188" y="3857625"/>
                  <a:ext cx="1182687" cy="323850"/>
                </a:xfrm>
                <a:prstGeom prst="rect">
                  <a:avLst/>
                </a:prstGeom>
                <a:noFill/>
              </p:spPr>
              <p:txBody>
                <a:bodyPr>
                  <a:normAutofit fontScale="70000" lnSpcReduction="20000"/>
                </a:bodyPr>
                <a:lstStyle/>
                <a:p>
                  <a:pPr/>
                  <a14:m>
                    <m:oMathPara xmlns:m="http://schemas.openxmlformats.org/officeDocument/2006/math">
                      <m:oMathParaPr>
                        <m:jc m:val="left"/>
                      </m:oMathParaPr>
                      <m:oMath xmlns:m="http://schemas.openxmlformats.org/officeDocument/2006/math">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gcd</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m:t>
                        </m:r>
                        <m:r>
                          <a:rPr lang="zh-CN" altLang="en-US" i="1">
                            <a:solidFill>
                              <a:srgbClr val="000000"/>
                            </a:solidFill>
                            <a:latin typeface="Cambria Math" panose="02040503050406030204" pitchFamily="18" charset="0"/>
                          </a:rPr>
                          <m:t>)=1</m:t>
                        </m:r>
                      </m:oMath>
                    </m:oMathPara>
                  </a14:m>
                  <a:endParaRPr lang="zh-CN" altLang="en-US"/>
                </a:p>
              </p:txBody>
            </p:sp>
          </mc:Choice>
          <mc:Fallback xmlns="">
            <p:sp>
              <p:nvSpPr>
                <p:cNvPr id="6" name="Object 4"/>
                <p:cNvSpPr txBox="1">
                  <a:spLocks noRot="1" noChangeAspect="1" noMove="1" noResize="1" noEditPoints="1" noAdjustHandles="1" noChangeArrowheads="1" noChangeShapeType="1" noTextEdit="1"/>
                </p:cNvSpPr>
                <p:nvPr/>
              </p:nvSpPr>
              <p:spPr bwMode="auto">
                <a:xfrm>
                  <a:off x="2643188" y="3857625"/>
                  <a:ext cx="1182687" cy="32385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5"/>
                <p:cNvSpPr txBox="1"/>
                <p:nvPr/>
              </p:nvSpPr>
              <p:spPr bwMode="auto">
                <a:xfrm>
                  <a:off x="4572000" y="3786188"/>
                  <a:ext cx="1684338" cy="323850"/>
                </a:xfrm>
                <a:prstGeom prst="rect">
                  <a:avLst/>
                </a:prstGeom>
                <a:noFill/>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𝜙</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𝜙</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𝜙</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7" name="Object 5"/>
                <p:cNvSpPr txBox="1">
                  <a:spLocks noRot="1" noChangeAspect="1" noMove="1" noResize="1" noEditPoints="1" noAdjustHandles="1" noChangeArrowheads="1" noChangeShapeType="1" noTextEdit="1"/>
                </p:cNvSpPr>
                <p:nvPr/>
              </p:nvSpPr>
              <p:spPr bwMode="auto">
                <a:xfrm>
                  <a:off x="4572000" y="3786188"/>
                  <a:ext cx="1684338" cy="323850"/>
                </a:xfrm>
                <a:prstGeom prst="rect">
                  <a:avLst/>
                </a:prstGeom>
                <a:blipFill>
                  <a:blip r:embed="rId3"/>
                  <a:stretch>
                    <a:fillRect b="-18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8"/>
                <p:cNvSpPr txBox="1"/>
                <p:nvPr/>
              </p:nvSpPr>
              <p:spPr bwMode="auto">
                <a:xfrm>
                  <a:off x="1357313" y="4500563"/>
                  <a:ext cx="2044700" cy="411162"/>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1</m:t>
                            </m:r>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m:t>
                                </m:r>
                              </m:sub>
                            </m:sSub>
                          </m:sup>
                        </m:sSubSup>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2</m:t>
                            </m:r>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m:t>
                                </m:r>
                              </m:sub>
                            </m:sSub>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𝑚</m:t>
                            </m:r>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𝑚</m:t>
                                </m:r>
                              </m:sub>
                            </m:sSub>
                          </m:sup>
                        </m:sSubSup>
                      </m:oMath>
                    </m:oMathPara>
                  </a14:m>
                  <a:endParaRPr lang="zh-CN" altLang="en-US"/>
                </a:p>
              </p:txBody>
            </p:sp>
          </mc:Choice>
          <mc:Fallback xmlns="">
            <p:sp>
              <p:nvSpPr>
                <p:cNvPr id="8" name="Object 8"/>
                <p:cNvSpPr txBox="1">
                  <a:spLocks noRot="1" noChangeAspect="1" noMove="1" noResize="1" noEditPoints="1" noAdjustHandles="1" noChangeArrowheads="1" noChangeShapeType="1" noTextEdit="1"/>
                </p:cNvSpPr>
                <p:nvPr/>
              </p:nvSpPr>
              <p:spPr bwMode="auto">
                <a:xfrm>
                  <a:off x="1357313" y="4500563"/>
                  <a:ext cx="2044700" cy="41116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10"/>
                <p:cNvSpPr txBox="1"/>
                <p:nvPr/>
              </p:nvSpPr>
              <p:spPr bwMode="auto">
                <a:xfrm>
                  <a:off x="4168775" y="4357688"/>
                  <a:ext cx="3879850" cy="728662"/>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𝜙</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𝑚</m:t>
                                </m:r>
                              </m:sub>
                            </m:sSub>
                          </m:den>
                        </m:f>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9" name="Object 10"/>
                <p:cNvSpPr txBox="1">
                  <a:spLocks noRot="1" noChangeAspect="1" noMove="1" noResize="1" noEditPoints="1" noAdjustHandles="1" noChangeArrowheads="1" noChangeShapeType="1" noTextEdit="1"/>
                </p:cNvSpPr>
                <p:nvPr/>
              </p:nvSpPr>
              <p:spPr bwMode="auto">
                <a:xfrm>
                  <a:off x="4168775" y="4357688"/>
                  <a:ext cx="3879850" cy="728662"/>
                </a:xfrm>
                <a:prstGeom prst="rect">
                  <a:avLst/>
                </a:prstGeom>
                <a:blipFill>
                  <a:blip r:embed="rId5"/>
                  <a:stretch>
                    <a:fillRect/>
                  </a:stretch>
                </a:blipFill>
              </p:spPr>
              <p:txBody>
                <a:bodyPr/>
                <a:lstStyle/>
                <a:p>
                  <a:r>
                    <a:rPr lang="zh-CN" altLang="en-US">
                      <a:noFill/>
                    </a:rPr>
                    <a:t> </a:t>
                  </a:r>
                </a:p>
              </p:txBody>
            </p:sp>
          </mc:Fallback>
        </mc:AlternateContent>
        <p:sp>
          <p:nvSpPr>
            <p:cNvPr id="10" name="右箭头 9"/>
            <p:cNvSpPr/>
            <p:nvPr/>
          </p:nvSpPr>
          <p:spPr>
            <a:xfrm>
              <a:off x="4000500" y="3857625"/>
              <a:ext cx="428625" cy="214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zh-CN" altLang="en-US" b="0"/>
            </a:p>
          </p:txBody>
        </p:sp>
        <p:sp>
          <p:nvSpPr>
            <p:cNvPr id="11" name="右箭头 10"/>
            <p:cNvSpPr/>
            <p:nvPr/>
          </p:nvSpPr>
          <p:spPr>
            <a:xfrm>
              <a:off x="3571875" y="4643438"/>
              <a:ext cx="428625" cy="2143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zh-CN" altLang="en-US" b="0"/>
            </a:p>
          </p:txBody>
        </p:sp>
      </p:grpSp>
    </p:spTree>
    <p:extLst>
      <p:ext uri="{BB962C8B-B14F-4D97-AF65-F5344CB8AC3E}">
        <p14:creationId xmlns:p14="http://schemas.microsoft.com/office/powerpoint/2010/main" val="1016083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CA4EF-4099-F9BC-E8EA-5FA21AEC038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6AD13C4-D8E6-88E9-4364-A4E488F23487}"/>
              </a:ext>
            </a:extLst>
          </p:cNvPr>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（案例）</a:t>
            </a:r>
            <a:endParaRPr lang="zh-CN" altLang="en-US" dirty="0"/>
          </a:p>
        </p:txBody>
      </p:sp>
      <p:sp>
        <p:nvSpPr>
          <p:cNvPr id="4" name="灯片编号占位符 3">
            <a:extLst>
              <a:ext uri="{FF2B5EF4-FFF2-40B4-BE49-F238E27FC236}">
                <a16:creationId xmlns:a16="http://schemas.microsoft.com/office/drawing/2014/main" id="{35FEE8B0-AA67-F6D5-55C8-68C51FB324E9}"/>
              </a:ext>
            </a:extLst>
          </p:cNvPr>
          <p:cNvSpPr>
            <a:spLocks noGrp="1"/>
          </p:cNvSpPr>
          <p:nvPr>
            <p:ph type="sldNum" sz="quarter" idx="12"/>
          </p:nvPr>
        </p:nvSpPr>
        <p:spPr/>
        <p:txBody>
          <a:bodyPr/>
          <a:lstStyle/>
          <a:p>
            <a:fld id="{8D4D1E41-7A09-AB4A-A4E1-09765ADA2698}" type="slidenum">
              <a:rPr kumimoji="1" lang="zh-CN" altLang="en-US" smtClean="0"/>
              <a:pPr/>
              <a:t>26</a:t>
            </a:fld>
            <a:endParaRPr kumimoji="1" lang="zh-CN" altLang="en-US" dirty="0"/>
          </a:p>
        </p:txBody>
      </p:sp>
      <mc:AlternateContent xmlns:mc="http://schemas.openxmlformats.org/markup-compatibility/2006" xmlns:a14="http://schemas.microsoft.com/office/drawing/2010/main">
        <mc:Choice Requires="a14">
          <p:sp>
            <p:nvSpPr>
              <p:cNvPr id="13" name="内容占位符 12">
                <a:extLst>
                  <a:ext uri="{FF2B5EF4-FFF2-40B4-BE49-F238E27FC236}">
                    <a16:creationId xmlns:a16="http://schemas.microsoft.com/office/drawing/2014/main" id="{9E51D1E2-F01E-4BBF-B378-729FE7C7B44F}"/>
                  </a:ext>
                </a:extLst>
              </p:cNvPr>
              <p:cNvSpPr>
                <a:spLocks noGrp="1"/>
              </p:cNvSpPr>
              <p:nvPr>
                <p:ph idx="1"/>
              </p:nvPr>
            </p:nvSpPr>
            <p:spPr/>
            <p:txBody>
              <a:bodyPr/>
              <a:lstStyle/>
              <a:p>
                <a:r>
                  <a:rPr lang="zh-CN" altLang="en-US" dirty="0"/>
                  <a:t>挑选两个素数</a:t>
                </a:r>
                <a14:m>
                  <m:oMath xmlns:m="http://schemas.openxmlformats.org/officeDocument/2006/math">
                    <m:r>
                      <a:rPr lang="en-US" altLang="zh-CN" i="1" dirty="0" smtClean="0">
                        <a:latin typeface="Cambria Math" panose="02040503050406030204" pitchFamily="18" charset="0"/>
                      </a:rPr>
                      <m:t>𝑝</m:t>
                    </m:r>
                    <m:r>
                      <a:rPr lang="en-US" altLang="zh-CN" i="1" dirty="0" smtClean="0">
                        <a:latin typeface="Cambria Math" panose="02040503050406030204" pitchFamily="18" charset="0"/>
                      </a:rPr>
                      <m:t> = 11</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𝑞</m:t>
                    </m:r>
                    <m:r>
                      <a:rPr lang="en-US" altLang="zh-CN" i="1" dirty="0" smtClean="0">
                        <a:latin typeface="Cambria Math" panose="02040503050406030204" pitchFamily="18" charset="0"/>
                      </a:rPr>
                      <m:t> = 13</m:t>
                    </m:r>
                  </m:oMath>
                </a14:m>
                <a:r>
                  <a:rPr lang="zh-CN" altLang="en-US" dirty="0"/>
                  <a:t>。公钥（加密密钥）选择 </a:t>
                </a:r>
                <a14:m>
                  <m:oMath xmlns:m="http://schemas.openxmlformats.org/officeDocument/2006/math">
                    <m:r>
                      <a:rPr lang="en-US" altLang="zh-CN" i="1" dirty="0" smtClean="0">
                        <a:latin typeface="Cambria Math" panose="02040503050406030204" pitchFamily="18" charset="0"/>
                      </a:rPr>
                      <m:t>𝑒</m:t>
                    </m:r>
                    <m:r>
                      <a:rPr lang="en-US" altLang="zh-CN" i="1" dirty="0" smtClean="0">
                        <a:latin typeface="Cambria Math" panose="02040503050406030204" pitchFamily="18" charset="0"/>
                      </a:rPr>
                      <m:t> = 7</m:t>
                    </m:r>
                  </m:oMath>
                </a14:m>
                <a:r>
                  <a:rPr lang="zh-CN" altLang="en-US" dirty="0"/>
                  <a:t>。明文为</a:t>
                </a:r>
                <a14:m>
                  <m:oMath xmlns:m="http://schemas.openxmlformats.org/officeDocument/2006/math">
                    <m:r>
                      <a:rPr lang="en-US" altLang="zh-CN" i="1" dirty="0" smtClean="0">
                        <a:latin typeface="Cambria Math" panose="02040503050406030204" pitchFamily="18" charset="0"/>
                      </a:rPr>
                      <m:t>𝑚</m:t>
                    </m:r>
                    <m:r>
                      <a:rPr lang="en-US" altLang="zh-CN" i="1" dirty="0" smtClean="0">
                        <a:latin typeface="Cambria Math" panose="02040503050406030204" pitchFamily="18" charset="0"/>
                      </a:rPr>
                      <m:t> = 9</m:t>
                    </m:r>
                  </m:oMath>
                </a14:m>
                <a:r>
                  <a:rPr lang="zh-CN" altLang="en-US" dirty="0"/>
                  <a:t>，完成整个流程的推导。</a:t>
                </a:r>
                <a:endParaRPr lang="en-US" altLang="zh-CN" dirty="0"/>
              </a:p>
              <a:p>
                <a:pPr lvl="1"/>
                <a:r>
                  <a:rPr lang="en-US" altLang="zh-CN" dirty="0"/>
                  <a:t>(1) n = 11 * 13 = 143</a:t>
                </a:r>
              </a:p>
              <a:p>
                <a:pPr lvl="1"/>
                <a:r>
                  <a:rPr lang="en-US" altLang="zh-CN" dirty="0"/>
                  <a:t>(2) </a:t>
                </a:r>
                <a:r>
                  <a:rPr lang="zh-CN" altLang="en-US" dirty="0"/>
                  <a:t>验证</a:t>
                </a:r>
                <a:r>
                  <a:rPr lang="en-US" altLang="zh-CN" dirty="0"/>
                  <a:t>(p-1)(q-1) = 120</a:t>
                </a:r>
                <a:r>
                  <a:rPr lang="zh-CN" altLang="en-US" dirty="0"/>
                  <a:t>，与</a:t>
                </a:r>
                <a:r>
                  <a:rPr lang="en-US" altLang="zh-CN" dirty="0"/>
                  <a:t>e = 7</a:t>
                </a:r>
                <a:r>
                  <a:rPr lang="zh-CN" altLang="en-US" dirty="0"/>
                  <a:t>互质；进一步得到</a:t>
                </a:r>
                <a:r>
                  <a:rPr lang="en-US" altLang="zh-CN" dirty="0"/>
                  <a:t>d =7</a:t>
                </a:r>
                <a:r>
                  <a:rPr lang="en-US" altLang="zh-CN" baseline="30000" dirty="0"/>
                  <a:t>-1</a:t>
                </a:r>
                <a:r>
                  <a:rPr lang="en-US" altLang="zh-CN" dirty="0"/>
                  <a:t> = 103</a:t>
                </a:r>
                <a:r>
                  <a:rPr lang="zh-CN" altLang="en-US" dirty="0"/>
                  <a:t>（辗转相除法求得）</a:t>
                </a:r>
                <a:endParaRPr lang="en-US" altLang="zh-CN" dirty="0"/>
              </a:p>
              <a:p>
                <a:pPr lvl="1"/>
                <a:r>
                  <a:rPr lang="en-US" altLang="zh-CN" dirty="0"/>
                  <a:t>(3) c = 9</a:t>
                </a:r>
                <a:r>
                  <a:rPr lang="en-US" altLang="zh-CN" baseline="30000" dirty="0"/>
                  <a:t>7</a:t>
                </a:r>
                <a:r>
                  <a:rPr lang="en-US" altLang="zh-CN" dirty="0"/>
                  <a:t> mod 143 = 48 mod 143  </a:t>
                </a:r>
                <a:r>
                  <a:rPr lang="zh-CN" altLang="en-US" dirty="0"/>
                  <a:t>（平方</a:t>
                </a:r>
                <a:r>
                  <a:rPr lang="en-US" altLang="zh-CN" dirty="0"/>
                  <a:t>-</a:t>
                </a:r>
                <a:r>
                  <a:rPr lang="zh-CN" altLang="en-US" dirty="0"/>
                  <a:t>求模法 </a:t>
                </a:r>
                <a:r>
                  <a:rPr lang="en-US" altLang="zh-CN" dirty="0"/>
                  <a:t>/ </a:t>
                </a:r>
                <a:r>
                  <a:rPr lang="zh-CN" altLang="en-US" dirty="0"/>
                  <a:t>快速幂见下页）</a:t>
                </a:r>
                <a:endParaRPr lang="en-US" altLang="zh-CN" dirty="0"/>
              </a:p>
              <a:p>
                <a:pPr lvl="1"/>
                <a:r>
                  <a:rPr lang="en-US" altLang="zh-CN" dirty="0"/>
                  <a:t>(4)</a:t>
                </a:r>
                <a:r>
                  <a:rPr lang="zh-CN" altLang="en-US" dirty="0"/>
                  <a:t> </a:t>
                </a:r>
                <a:r>
                  <a:rPr lang="en-US" altLang="zh-CN" dirty="0"/>
                  <a:t>m = 48</a:t>
                </a:r>
                <a:r>
                  <a:rPr lang="en-US" altLang="zh-CN" baseline="30000" dirty="0"/>
                  <a:t>103</a:t>
                </a:r>
                <a:r>
                  <a:rPr lang="en-US" altLang="zh-CN" dirty="0"/>
                  <a:t> mod 143 = 9 mod 143 </a:t>
                </a:r>
              </a:p>
            </p:txBody>
          </p:sp>
        </mc:Choice>
        <mc:Fallback xmlns="">
          <p:sp>
            <p:nvSpPr>
              <p:cNvPr id="13" name="内容占位符 12">
                <a:extLst>
                  <a:ext uri="{FF2B5EF4-FFF2-40B4-BE49-F238E27FC236}">
                    <a16:creationId xmlns:a16="http://schemas.microsoft.com/office/drawing/2014/main" id="{9E51D1E2-F01E-4BBF-B378-729FE7C7B44F}"/>
                  </a:ext>
                </a:extLst>
              </p:cNvPr>
              <p:cNvSpPr>
                <a:spLocks noGrp="1" noRot="1" noChangeAspect="1" noMove="1" noResize="1" noEditPoints="1" noAdjustHandles="1" noChangeArrowheads="1" noChangeShapeType="1" noTextEdit="1"/>
              </p:cNvSpPr>
              <p:nvPr>
                <p:ph idx="1"/>
              </p:nvPr>
            </p:nvSpPr>
            <p:spPr>
              <a:blipFill>
                <a:blip r:embed="rId2"/>
                <a:stretch>
                  <a:fillRect l="-1043" t="-1463" r="-45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50665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14E8B5-0A83-4F3D-219A-6B9A6302C2B1}"/>
              </a:ext>
            </a:extLst>
          </p:cNvPr>
          <p:cNvSpPr>
            <a:spLocks noGrp="1"/>
          </p:cNvSpPr>
          <p:nvPr>
            <p:ph type="title"/>
          </p:nvPr>
        </p:nvSpPr>
        <p:spPr/>
        <p:txBody>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（案例）</a:t>
            </a:r>
            <a:endParaRPr lang="zh-CN" altLang="en-US" dirty="0"/>
          </a:p>
        </p:txBody>
      </p:sp>
      <p:sp>
        <p:nvSpPr>
          <p:cNvPr id="4" name="灯片编号占位符 3">
            <a:extLst>
              <a:ext uri="{FF2B5EF4-FFF2-40B4-BE49-F238E27FC236}">
                <a16:creationId xmlns:a16="http://schemas.microsoft.com/office/drawing/2014/main" id="{462CCE1B-B0BB-5EB6-254D-7C5230CE1874}"/>
              </a:ext>
            </a:extLst>
          </p:cNvPr>
          <p:cNvSpPr>
            <a:spLocks noGrp="1"/>
          </p:cNvSpPr>
          <p:nvPr>
            <p:ph type="sldNum" sz="quarter" idx="12"/>
          </p:nvPr>
        </p:nvSpPr>
        <p:spPr/>
        <p:txBody>
          <a:bodyPr/>
          <a:lstStyle/>
          <a:p>
            <a:fld id="{8D4D1E41-7A09-AB4A-A4E1-09765ADA2698}" type="slidenum">
              <a:rPr kumimoji="1" lang="zh-CN" altLang="en-US" smtClean="0"/>
              <a:pPr/>
              <a:t>27</a:t>
            </a:fld>
            <a:endParaRPr kumimoji="1" lang="zh-CN" altLang="en-US" dirty="0"/>
          </a:p>
        </p:txBody>
      </p:sp>
      <p:pic>
        <p:nvPicPr>
          <p:cNvPr id="6" name="图片 5">
            <a:extLst>
              <a:ext uri="{FF2B5EF4-FFF2-40B4-BE49-F238E27FC236}">
                <a16:creationId xmlns:a16="http://schemas.microsoft.com/office/drawing/2014/main" id="{013023EF-D977-3AF4-EDD5-A7CC72C636ED}"/>
              </a:ext>
            </a:extLst>
          </p:cNvPr>
          <p:cNvPicPr>
            <a:picLocks noChangeAspect="1"/>
          </p:cNvPicPr>
          <p:nvPr/>
        </p:nvPicPr>
        <p:blipFill>
          <a:blip r:embed="rId2"/>
          <a:stretch>
            <a:fillRect/>
          </a:stretch>
        </p:blipFill>
        <p:spPr>
          <a:xfrm>
            <a:off x="1908155" y="1388254"/>
            <a:ext cx="8375690" cy="5012546"/>
          </a:xfrm>
          <a:prstGeom prst="rect">
            <a:avLst/>
          </a:prstGeom>
        </p:spPr>
      </p:pic>
    </p:spTree>
    <p:extLst>
      <p:ext uri="{BB962C8B-B14F-4D97-AF65-F5344CB8AC3E}">
        <p14:creationId xmlns:p14="http://schemas.microsoft.com/office/powerpoint/2010/main" val="2198973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3019D-F24F-7AE8-84BD-9BDDF573015F}"/>
              </a:ext>
            </a:extLst>
          </p:cNvPr>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4" name="灯片编号占位符 3">
            <a:extLst>
              <a:ext uri="{FF2B5EF4-FFF2-40B4-BE49-F238E27FC236}">
                <a16:creationId xmlns:a16="http://schemas.microsoft.com/office/drawing/2014/main" id="{CCFE8FFD-0377-9C4E-6832-AE2C6B2B1679}"/>
              </a:ext>
            </a:extLst>
          </p:cNvPr>
          <p:cNvSpPr>
            <a:spLocks noGrp="1"/>
          </p:cNvSpPr>
          <p:nvPr>
            <p:ph type="sldNum" sz="quarter" idx="12"/>
          </p:nvPr>
        </p:nvSpPr>
        <p:spPr/>
        <p:txBody>
          <a:bodyPr/>
          <a:lstStyle/>
          <a:p>
            <a:fld id="{8D4D1E41-7A09-AB4A-A4E1-09765ADA2698}" type="slidenum">
              <a:rPr kumimoji="1" lang="zh-CN" altLang="en-US" smtClean="0"/>
              <a:pPr/>
              <a:t>28</a:t>
            </a:fld>
            <a:endParaRPr kumimoji="1" lang="zh-CN" altLang="en-US" dirty="0"/>
          </a:p>
        </p:txBody>
      </p:sp>
      <p:pic>
        <p:nvPicPr>
          <p:cNvPr id="9" name="图片 8">
            <a:extLst>
              <a:ext uri="{FF2B5EF4-FFF2-40B4-BE49-F238E27FC236}">
                <a16:creationId xmlns:a16="http://schemas.microsoft.com/office/drawing/2014/main" id="{E0564D80-EEF6-6702-046C-EE92CE33664B}"/>
              </a:ext>
            </a:extLst>
          </p:cNvPr>
          <p:cNvPicPr>
            <a:picLocks noChangeAspect="1"/>
          </p:cNvPicPr>
          <p:nvPr/>
        </p:nvPicPr>
        <p:blipFill>
          <a:blip r:embed="rId2"/>
          <a:stretch>
            <a:fillRect/>
          </a:stretch>
        </p:blipFill>
        <p:spPr>
          <a:xfrm>
            <a:off x="337914" y="2544397"/>
            <a:ext cx="12192000" cy="4131039"/>
          </a:xfrm>
          <a:prstGeom prst="rect">
            <a:avLst/>
          </a:prstGeom>
        </p:spPr>
      </p:pic>
    </p:spTree>
    <p:extLst>
      <p:ext uri="{BB962C8B-B14F-4D97-AF65-F5344CB8AC3E}">
        <p14:creationId xmlns:p14="http://schemas.microsoft.com/office/powerpoint/2010/main" val="8751287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A9A86896-8B4C-ACF9-BDCC-414A67996928}"/>
              </a:ext>
            </a:extLst>
          </p:cNvPr>
          <p:cNvSpPr>
            <a:spLocks noGrp="1" noChangeArrowheads="1"/>
          </p:cNvSpPr>
          <p:nvPr>
            <p:ph type="title"/>
          </p:nvPr>
        </p:nvSpPr>
        <p:spPr>
          <a:xfrm>
            <a:off x="469308" y="1339462"/>
            <a:ext cx="8220812" cy="879086"/>
          </a:xfrm>
        </p:spPr>
        <p:txBody>
          <a:bodyPr/>
          <a:lstStyle/>
          <a:p>
            <a:pPr marL="228600" indent="-228600">
              <a:lnSpc>
                <a:spcPct val="100000"/>
              </a:lnSpc>
              <a:spcBef>
                <a:spcPts val="600"/>
              </a:spcBef>
              <a:buFont typeface="Wingdings" pitchFamily="2" charset="2"/>
              <a:buChar char="Ø"/>
            </a:pPr>
            <a:r>
              <a:rPr lang="zh-CN" altLang="en-US" sz="2800" dirty="0">
                <a:cs typeface="+mn-cs"/>
              </a:rPr>
              <a:t>强素数约束</a:t>
            </a:r>
          </a:p>
        </p:txBody>
      </p:sp>
      <p:pic>
        <p:nvPicPr>
          <p:cNvPr id="33795" name="Picture 6">
            <a:extLst>
              <a:ext uri="{FF2B5EF4-FFF2-40B4-BE49-F238E27FC236}">
                <a16:creationId xmlns:a16="http://schemas.microsoft.com/office/drawing/2014/main" id="{1F996D9F-02F9-354D-CD2E-4F0C4B006AC0}"/>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69308" y="2516998"/>
            <a:ext cx="5908415" cy="2664602"/>
          </a:xfrm>
          <a:noFill/>
        </p:spPr>
      </p:pic>
      <p:sp>
        <p:nvSpPr>
          <p:cNvPr id="2" name="标题 1">
            <a:extLst>
              <a:ext uri="{FF2B5EF4-FFF2-40B4-BE49-F238E27FC236}">
                <a16:creationId xmlns:a16="http://schemas.microsoft.com/office/drawing/2014/main" id="{B29B2662-F116-BAF2-9132-3F1C9EC19BE2}"/>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pic>
        <p:nvPicPr>
          <p:cNvPr id="7" name="图片 6">
            <a:extLst>
              <a:ext uri="{FF2B5EF4-FFF2-40B4-BE49-F238E27FC236}">
                <a16:creationId xmlns:a16="http://schemas.microsoft.com/office/drawing/2014/main" id="{51E2CE7B-FB30-DC7C-A3F4-DD58D269C41E}"/>
              </a:ext>
            </a:extLst>
          </p:cNvPr>
          <p:cNvPicPr>
            <a:picLocks noChangeAspect="1"/>
          </p:cNvPicPr>
          <p:nvPr/>
        </p:nvPicPr>
        <p:blipFill>
          <a:blip r:embed="rId3"/>
          <a:stretch>
            <a:fillRect/>
          </a:stretch>
        </p:blipFill>
        <p:spPr>
          <a:xfrm>
            <a:off x="6937781" y="2268343"/>
            <a:ext cx="4784911" cy="325019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a:extLst>
              <a:ext uri="{FF2B5EF4-FFF2-40B4-BE49-F238E27FC236}">
                <a16:creationId xmlns:a16="http://schemas.microsoft.com/office/drawing/2014/main" id="{916330A2-D074-1D99-5986-08FC2543500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506860" y="2008270"/>
            <a:ext cx="6194280" cy="4595730"/>
          </a:xfrm>
          <a:noFill/>
        </p:spPr>
      </p:pic>
      <p:sp>
        <p:nvSpPr>
          <p:cNvPr id="2" name="标题 1">
            <a:extLst>
              <a:ext uri="{FF2B5EF4-FFF2-40B4-BE49-F238E27FC236}">
                <a16:creationId xmlns:a16="http://schemas.microsoft.com/office/drawing/2014/main" id="{1EE8FEBB-F94C-2EB7-4076-893963838910}"/>
              </a:ext>
            </a:extLst>
          </p:cNvPr>
          <p:cNvSpPr>
            <a:spLocks noGrp="1"/>
          </p:cNvSpPr>
          <p:nvPr>
            <p:ph type="title"/>
          </p:nvPr>
        </p:nvSpPr>
        <p:spPr>
          <a:xfrm>
            <a:off x="1307508" y="365126"/>
            <a:ext cx="8220812" cy="879086"/>
          </a:xfrm>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3" name="Rectangle 2">
            <a:extLst>
              <a:ext uri="{FF2B5EF4-FFF2-40B4-BE49-F238E27FC236}">
                <a16:creationId xmlns:a16="http://schemas.microsoft.com/office/drawing/2014/main" id="{6B19FD66-2F0E-FEDA-3011-ECB1777FF7EF}"/>
              </a:ext>
            </a:extLst>
          </p:cNvPr>
          <p:cNvSpPr txBox="1">
            <a:spLocks noChangeArrowheads="1"/>
          </p:cNvSpPr>
          <p:nvPr/>
        </p:nvSpPr>
        <p:spPr>
          <a:xfrm>
            <a:off x="469308" y="1339462"/>
            <a:ext cx="1047809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marL="228600" indent="-228600">
              <a:lnSpc>
                <a:spcPct val="100000"/>
              </a:lnSpc>
              <a:spcBef>
                <a:spcPts val="600"/>
              </a:spcBef>
              <a:buFont typeface="Wingdings" pitchFamily="2" charset="2"/>
              <a:buChar char="Ø"/>
            </a:pPr>
            <a:r>
              <a:rPr lang="zh-CN" altLang="en-US" sz="2800" dirty="0">
                <a:cs typeface="+mn-cs"/>
              </a:rPr>
              <a:t>不满足强素数约束，可以通过</a:t>
            </a:r>
            <a:r>
              <a:rPr lang="en-US" altLang="zh-CN" sz="2800" dirty="0">
                <a:cs typeface="+mn-cs"/>
              </a:rPr>
              <a:t>p-1</a:t>
            </a:r>
            <a:r>
              <a:rPr lang="zh-CN" altLang="en-US" sz="2800" dirty="0">
                <a:cs typeface="+mn-cs"/>
              </a:rPr>
              <a:t>因子分解轻易攻击</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8CD437E-CE3D-B6B1-EC06-470BDA835891}"/>
                  </a:ext>
                </a:extLst>
              </p:cNvPr>
              <p:cNvSpPr txBox="1"/>
              <p:nvPr/>
            </p:nvSpPr>
            <p:spPr>
              <a:xfrm>
                <a:off x="5417914" y="4786080"/>
                <a:ext cx="6096000" cy="5130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000" b="1" i="1" smtClean="0">
                              <a:solidFill>
                                <a:srgbClr val="FF0000"/>
                              </a:solidFill>
                              <a:latin typeface="Cambria Math" panose="02040503050406030204" pitchFamily="18" charset="0"/>
                            </a:rPr>
                          </m:ctrlPr>
                        </m:sSupPr>
                        <m:e>
                          <m:r>
                            <a:rPr lang="zh-CN" altLang="en-US" sz="2000" b="1" i="1">
                              <a:solidFill>
                                <a:srgbClr val="FF0000"/>
                              </a:solidFill>
                              <a:latin typeface="Cambria Math" panose="02040503050406030204" pitchFamily="18" charset="0"/>
                            </a:rPr>
                            <m:t>𝟐</m:t>
                          </m:r>
                        </m:e>
                        <m:sup>
                          <m:r>
                            <a:rPr lang="zh-CN" altLang="en-US" sz="2000" b="1" i="1">
                              <a:solidFill>
                                <a:srgbClr val="FF0000"/>
                              </a:solidFill>
                              <a:latin typeface="Cambria Math" panose="02040503050406030204" pitchFamily="18" charset="0"/>
                            </a:rPr>
                            <m:t>𝒓</m:t>
                          </m:r>
                        </m:sup>
                      </m:sSup>
                      <m:r>
                        <a:rPr lang="zh-CN" altLang="en-US" sz="2000" b="1" i="1">
                          <a:solidFill>
                            <a:srgbClr val="FF0000"/>
                          </a:solidFill>
                          <a:latin typeface="Cambria Math" panose="02040503050406030204" pitchFamily="18" charset="0"/>
                        </a:rPr>
                        <m:t>=</m:t>
                      </m:r>
                      <m:sSup>
                        <m:sSupPr>
                          <m:ctrlPr>
                            <a:rPr lang="zh-CN" altLang="en-US" sz="2000" b="1" i="1">
                              <a:solidFill>
                                <a:srgbClr val="FF0000"/>
                              </a:solidFill>
                              <a:latin typeface="Cambria Math" panose="02040503050406030204" pitchFamily="18" charset="0"/>
                            </a:rPr>
                          </m:ctrlPr>
                        </m:sSupPr>
                        <m:e>
                          <m:r>
                            <a:rPr lang="zh-CN" altLang="en-US" sz="2000" b="1" i="1">
                              <a:solidFill>
                                <a:srgbClr val="FF0000"/>
                              </a:solidFill>
                              <a:latin typeface="Cambria Math" panose="02040503050406030204" pitchFamily="18" charset="0"/>
                            </a:rPr>
                            <m:t>𝟐</m:t>
                          </m:r>
                        </m:e>
                        <m:sup>
                          <m:r>
                            <a:rPr lang="zh-CN" altLang="en-US" sz="2000" b="1" i="1">
                              <a:solidFill>
                                <a:srgbClr val="FF0000"/>
                              </a:solidFill>
                              <a:latin typeface="Cambria Math" panose="02040503050406030204" pitchFamily="18" charset="0"/>
                            </a:rPr>
                            <m:t>𝒌</m:t>
                          </m:r>
                          <m:d>
                            <m:dPr>
                              <m:ctrlPr>
                                <a:rPr lang="zh-CN" altLang="en-US" sz="2000" b="1" i="1">
                                  <a:solidFill>
                                    <a:srgbClr val="FF0000"/>
                                  </a:solidFill>
                                  <a:latin typeface="Cambria Math" panose="02040503050406030204" pitchFamily="18" charset="0"/>
                                </a:rPr>
                              </m:ctrlPr>
                            </m:dPr>
                            <m:e>
                              <m:r>
                                <a:rPr lang="zh-CN" altLang="en-US" sz="2000" b="1" i="1">
                                  <a:solidFill>
                                    <a:srgbClr val="FF0000"/>
                                  </a:solidFill>
                                  <a:latin typeface="Cambria Math" panose="02040503050406030204" pitchFamily="18" charset="0"/>
                                </a:rPr>
                                <m:t>𝒑</m:t>
                              </m:r>
                              <m:r>
                                <a:rPr lang="zh-CN" altLang="en-US" sz="2000" b="1" i="1">
                                  <a:solidFill>
                                    <a:srgbClr val="FF0000"/>
                                  </a:solidFill>
                                  <a:latin typeface="Cambria Math" panose="02040503050406030204" pitchFamily="18" charset="0"/>
                                </a:rPr>
                                <m:t>−</m:t>
                              </m:r>
                              <m:r>
                                <a:rPr lang="zh-CN" altLang="en-US" sz="2000" b="1" i="1">
                                  <a:solidFill>
                                    <a:srgbClr val="FF0000"/>
                                  </a:solidFill>
                                  <a:latin typeface="Cambria Math" panose="02040503050406030204" pitchFamily="18" charset="0"/>
                                </a:rPr>
                                <m:t>𝟏</m:t>
                              </m:r>
                            </m:e>
                          </m:d>
                        </m:sup>
                      </m:sSup>
                      <m:r>
                        <a:rPr lang="zh-CN" altLang="en-US" sz="2000" b="1" i="1">
                          <a:solidFill>
                            <a:srgbClr val="FF0000"/>
                          </a:solidFill>
                          <a:latin typeface="Cambria Math" panose="02040503050406030204" pitchFamily="18" charset="0"/>
                        </a:rPr>
                        <m:t>=</m:t>
                      </m:r>
                      <m:sSup>
                        <m:sSupPr>
                          <m:ctrlPr>
                            <a:rPr lang="zh-CN" altLang="en-US" sz="2000" b="1" i="1">
                              <a:solidFill>
                                <a:srgbClr val="FF0000"/>
                              </a:solidFill>
                              <a:latin typeface="Cambria Math" panose="02040503050406030204" pitchFamily="18" charset="0"/>
                            </a:rPr>
                          </m:ctrlPr>
                        </m:sSupPr>
                        <m:e>
                          <m:d>
                            <m:dPr>
                              <m:ctrlPr>
                                <a:rPr lang="zh-CN" altLang="en-US" sz="2000" b="1" i="1">
                                  <a:solidFill>
                                    <a:srgbClr val="FF0000"/>
                                  </a:solidFill>
                                  <a:latin typeface="Cambria Math" panose="02040503050406030204" pitchFamily="18" charset="0"/>
                                </a:rPr>
                              </m:ctrlPr>
                            </m:dPr>
                            <m:e>
                              <m:sSup>
                                <m:sSupPr>
                                  <m:ctrlPr>
                                    <a:rPr lang="zh-CN" altLang="en-US" sz="2000" b="1" i="1">
                                      <a:solidFill>
                                        <a:srgbClr val="FF0000"/>
                                      </a:solidFill>
                                      <a:latin typeface="Cambria Math" panose="02040503050406030204" pitchFamily="18" charset="0"/>
                                    </a:rPr>
                                  </m:ctrlPr>
                                </m:sSupPr>
                                <m:e>
                                  <m:r>
                                    <a:rPr lang="zh-CN" altLang="en-US" sz="2000" b="1" i="1">
                                      <a:solidFill>
                                        <a:srgbClr val="FF0000"/>
                                      </a:solidFill>
                                      <a:latin typeface="Cambria Math" panose="02040503050406030204" pitchFamily="18" charset="0"/>
                                    </a:rPr>
                                    <m:t>𝟐</m:t>
                                  </m:r>
                                </m:e>
                                <m:sup>
                                  <m:r>
                                    <a:rPr lang="zh-CN" altLang="en-US" sz="2000" b="1" i="1">
                                      <a:solidFill>
                                        <a:srgbClr val="FF0000"/>
                                      </a:solidFill>
                                      <a:latin typeface="Cambria Math" panose="02040503050406030204" pitchFamily="18" charset="0"/>
                                    </a:rPr>
                                    <m:t>𝒑</m:t>
                                  </m:r>
                                  <m:r>
                                    <a:rPr lang="zh-CN" altLang="en-US" sz="2000" b="1" i="1">
                                      <a:solidFill>
                                        <a:srgbClr val="FF0000"/>
                                      </a:solidFill>
                                      <a:latin typeface="Cambria Math" panose="02040503050406030204" pitchFamily="18" charset="0"/>
                                    </a:rPr>
                                    <m:t>−</m:t>
                                  </m:r>
                                  <m:r>
                                    <a:rPr lang="zh-CN" altLang="en-US" sz="2000" b="1" i="1">
                                      <a:solidFill>
                                        <a:srgbClr val="FF0000"/>
                                      </a:solidFill>
                                      <a:latin typeface="Cambria Math" panose="02040503050406030204" pitchFamily="18" charset="0"/>
                                    </a:rPr>
                                    <m:t>𝟏</m:t>
                                  </m:r>
                                </m:sup>
                              </m:sSup>
                            </m:e>
                          </m:d>
                        </m:e>
                        <m:sup>
                          <m:r>
                            <a:rPr lang="zh-CN" altLang="en-US" sz="2000" b="1" i="1">
                              <a:solidFill>
                                <a:srgbClr val="FF0000"/>
                              </a:solidFill>
                              <a:latin typeface="Cambria Math" panose="02040503050406030204" pitchFamily="18" charset="0"/>
                            </a:rPr>
                            <m:t>𝒌</m:t>
                          </m:r>
                        </m:sup>
                      </m:sSup>
                      <m:r>
                        <a:rPr lang="zh-CN" altLang="en-US" sz="2000" b="1" i="1">
                          <a:solidFill>
                            <a:srgbClr val="FF0000"/>
                          </a:solidFill>
                          <a:latin typeface="Cambria Math" panose="02040503050406030204" pitchFamily="18" charset="0"/>
                        </a:rPr>
                        <m:t>≡</m:t>
                      </m:r>
                      <m:sSup>
                        <m:sSupPr>
                          <m:ctrlPr>
                            <a:rPr lang="zh-CN" altLang="en-US" sz="2000" b="1" i="1">
                              <a:solidFill>
                                <a:srgbClr val="FF0000"/>
                              </a:solidFill>
                              <a:latin typeface="Cambria Math" panose="02040503050406030204" pitchFamily="18" charset="0"/>
                            </a:rPr>
                          </m:ctrlPr>
                        </m:sSupPr>
                        <m:e>
                          <m:r>
                            <a:rPr lang="zh-CN" altLang="en-US" sz="2000" b="1" i="1">
                              <a:solidFill>
                                <a:srgbClr val="FF0000"/>
                              </a:solidFill>
                              <a:latin typeface="Cambria Math" panose="02040503050406030204" pitchFamily="18" charset="0"/>
                            </a:rPr>
                            <m:t>𝟏</m:t>
                          </m:r>
                        </m:e>
                        <m:sup>
                          <m:r>
                            <a:rPr lang="zh-CN" altLang="en-US" sz="2000" b="1" i="1">
                              <a:solidFill>
                                <a:srgbClr val="FF0000"/>
                              </a:solidFill>
                              <a:latin typeface="Cambria Math" panose="02040503050406030204" pitchFamily="18" charset="0"/>
                            </a:rPr>
                            <m:t>𝒌</m:t>
                          </m:r>
                        </m:sup>
                      </m:sSup>
                      <m:r>
                        <a:rPr lang="zh-CN" altLang="en-US" sz="2000" b="1" i="1">
                          <a:solidFill>
                            <a:srgbClr val="FF0000"/>
                          </a:solidFill>
                          <a:latin typeface="Cambria Math" panose="02040503050406030204" pitchFamily="18" charset="0"/>
                        </a:rPr>
                        <m:t>≡</m:t>
                      </m:r>
                      <m:r>
                        <a:rPr lang="zh-CN" altLang="en-US" sz="2000" b="1" i="1">
                          <a:solidFill>
                            <a:srgbClr val="FF0000"/>
                          </a:solidFill>
                          <a:latin typeface="Cambria Math" panose="02040503050406030204" pitchFamily="18" charset="0"/>
                        </a:rPr>
                        <m:t>𝟏</m:t>
                      </m:r>
                      <m:r>
                        <a:rPr lang="en-US" altLang="zh-CN" sz="2000" b="1" i="1" smtClean="0">
                          <a:solidFill>
                            <a:srgbClr val="FF0000"/>
                          </a:solidFill>
                          <a:latin typeface="Cambria Math" panose="02040503050406030204" pitchFamily="18" charset="0"/>
                        </a:rPr>
                        <m:t>  </m:t>
                      </m:r>
                      <m:r>
                        <a:rPr lang="zh-CN" altLang="en-US" sz="2000" b="1" i="1">
                          <a:solidFill>
                            <a:srgbClr val="FF0000"/>
                          </a:solidFill>
                          <a:latin typeface="Cambria Math" panose="02040503050406030204" pitchFamily="18" charset="0"/>
                        </a:rPr>
                        <m:t>𝒎𝒐𝒅</m:t>
                      </m:r>
                      <m:r>
                        <a:rPr lang="en-US" altLang="zh-CN" sz="2000" b="1" i="1" smtClean="0">
                          <a:solidFill>
                            <a:srgbClr val="FF0000"/>
                          </a:solidFill>
                          <a:latin typeface="Cambria Math" panose="02040503050406030204" pitchFamily="18" charset="0"/>
                        </a:rPr>
                        <m:t> </m:t>
                      </m:r>
                      <m:r>
                        <a:rPr lang="zh-CN" altLang="en-US" sz="2000" b="1" i="1">
                          <a:solidFill>
                            <a:srgbClr val="FF0000"/>
                          </a:solidFill>
                          <a:latin typeface="Cambria Math" panose="02040503050406030204" pitchFamily="18" charset="0"/>
                        </a:rPr>
                        <m:t>𝒑</m:t>
                      </m:r>
                    </m:oMath>
                  </m:oMathPara>
                </a14:m>
                <a:endParaRPr lang="zh-CN" altLang="en-US" sz="2000" b="1" dirty="0">
                  <a:solidFill>
                    <a:srgbClr val="FF0000"/>
                  </a:solidFill>
                </a:endParaRPr>
              </a:p>
            </p:txBody>
          </p:sp>
        </mc:Choice>
        <mc:Fallback xmlns="">
          <p:sp>
            <p:nvSpPr>
              <p:cNvPr id="5" name="文本框 4">
                <a:extLst>
                  <a:ext uri="{FF2B5EF4-FFF2-40B4-BE49-F238E27FC236}">
                    <a16:creationId xmlns:a16="http://schemas.microsoft.com/office/drawing/2014/main" id="{08CD437E-CE3D-B6B1-EC06-470BDA835891}"/>
                  </a:ext>
                </a:extLst>
              </p:cNvPr>
              <p:cNvSpPr txBox="1">
                <a:spLocks noRot="1" noChangeAspect="1" noMove="1" noResize="1" noEditPoints="1" noAdjustHandles="1" noChangeArrowheads="1" noChangeShapeType="1" noTextEdit="1"/>
              </p:cNvSpPr>
              <p:nvPr/>
            </p:nvSpPr>
            <p:spPr>
              <a:xfrm>
                <a:off x="5417914" y="4786080"/>
                <a:ext cx="6096000" cy="513089"/>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A83D02A5-C996-F2E5-CABB-AEB36A9B88C4}"/>
              </a:ext>
            </a:extLst>
          </p:cNvPr>
          <p:cNvSpPr>
            <a:spLocks noGrp="1"/>
          </p:cNvSpPr>
          <p:nvPr>
            <p:ph type="title"/>
          </p:nvPr>
        </p:nvSpPr>
        <p:spPr>
          <a:xfrm>
            <a:off x="1307508" y="365126"/>
            <a:ext cx="8220812" cy="879086"/>
          </a:xfrm>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pic>
        <p:nvPicPr>
          <p:cNvPr id="36866" name="Picture 4">
            <a:extLst>
              <a:ext uri="{FF2B5EF4-FFF2-40B4-BE49-F238E27FC236}">
                <a16:creationId xmlns:a16="http://schemas.microsoft.com/office/drawing/2014/main" id="{D6BB6989-E864-600C-A619-91E8BF7AF7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106612" y="1760537"/>
            <a:ext cx="7978775" cy="5097463"/>
          </a:xfrm>
          <a:prstGeom prst="rect">
            <a:avLst/>
          </a:prstGeom>
          <a:noFill/>
        </p:spPr>
      </p:pic>
      <p:sp>
        <p:nvSpPr>
          <p:cNvPr id="9" name="文本框 8">
            <a:extLst>
              <a:ext uri="{FF2B5EF4-FFF2-40B4-BE49-F238E27FC236}">
                <a16:creationId xmlns:a16="http://schemas.microsoft.com/office/drawing/2014/main" id="{35EDD977-AE78-4C77-A4E3-90C58590C6D6}"/>
              </a:ext>
            </a:extLst>
          </p:cNvPr>
          <p:cNvSpPr txBox="1"/>
          <p:nvPr/>
        </p:nvSpPr>
        <p:spPr>
          <a:xfrm>
            <a:off x="279399" y="1244212"/>
            <a:ext cx="3340100" cy="523220"/>
          </a:xfrm>
          <a:prstGeom prst="rect">
            <a:avLst/>
          </a:prstGeom>
          <a:noFill/>
        </p:spPr>
        <p:txBody>
          <a:bodyPr wrap="square" rtlCol="0">
            <a:spAutoFit/>
          </a:bodyPr>
          <a:lstStyle/>
          <a:p>
            <a:r>
              <a:rPr lang="en-US" altLang="zh-CN" sz="2800" dirty="0">
                <a:solidFill>
                  <a:srgbClr val="FF0000"/>
                </a:solidFill>
              </a:rPr>
              <a:t>330 = 2*3*5*11</a:t>
            </a:r>
            <a:r>
              <a:rPr lang="zh-CN" altLang="en-US" sz="2800" dirty="0">
                <a:solidFill>
                  <a:srgbClr val="FF0000"/>
                </a:solidFill>
              </a:rPr>
              <a:t>！</a:t>
            </a:r>
          </a:p>
        </p:txBody>
      </p:sp>
      <p:cxnSp>
        <p:nvCxnSpPr>
          <p:cNvPr id="11" name="直接箭头连接符 10">
            <a:extLst>
              <a:ext uri="{FF2B5EF4-FFF2-40B4-BE49-F238E27FC236}">
                <a16:creationId xmlns:a16="http://schemas.microsoft.com/office/drawing/2014/main" id="{D67A94B1-E653-5B9A-E8DE-5876B43E3822}"/>
              </a:ext>
            </a:extLst>
          </p:cNvPr>
          <p:cNvCxnSpPr>
            <a:cxnSpLocks/>
          </p:cNvCxnSpPr>
          <p:nvPr/>
        </p:nvCxnSpPr>
        <p:spPr>
          <a:xfrm flipH="1" flipV="1">
            <a:off x="7721600" y="2290029"/>
            <a:ext cx="1714500" cy="8255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F0D11E11-856C-9864-E863-B0B20AA48D0D}"/>
              </a:ext>
            </a:extLst>
          </p:cNvPr>
          <p:cNvSpPr txBox="1"/>
          <p:nvPr/>
        </p:nvSpPr>
        <p:spPr>
          <a:xfrm>
            <a:off x="7721600" y="3161804"/>
            <a:ext cx="4191000" cy="400110"/>
          </a:xfrm>
          <a:prstGeom prst="rect">
            <a:avLst/>
          </a:prstGeom>
          <a:noFill/>
        </p:spPr>
        <p:txBody>
          <a:bodyPr wrap="square" rtlCol="0">
            <a:spAutoFit/>
          </a:bodyPr>
          <a:lstStyle/>
          <a:p>
            <a:r>
              <a:rPr lang="zh-CN" altLang="en-US" sz="2000" dirty="0">
                <a:solidFill>
                  <a:srgbClr val="FF0000"/>
                </a:solidFill>
              </a:rPr>
              <a:t>原则上没有必要，这里简化运算</a:t>
            </a:r>
          </a:p>
        </p:txBody>
      </p:sp>
      <p:sp>
        <p:nvSpPr>
          <p:cNvPr id="14" name="文本框 13">
            <a:extLst>
              <a:ext uri="{FF2B5EF4-FFF2-40B4-BE49-F238E27FC236}">
                <a16:creationId xmlns:a16="http://schemas.microsoft.com/office/drawing/2014/main" id="{7D43F72A-593F-2FD8-93AD-4664559EF258}"/>
              </a:ext>
            </a:extLst>
          </p:cNvPr>
          <p:cNvSpPr txBox="1"/>
          <p:nvPr/>
        </p:nvSpPr>
        <p:spPr>
          <a:xfrm>
            <a:off x="6902450" y="3915966"/>
            <a:ext cx="2603500" cy="461665"/>
          </a:xfrm>
          <a:prstGeom prst="rect">
            <a:avLst/>
          </a:prstGeom>
          <a:noFill/>
        </p:spPr>
        <p:txBody>
          <a:bodyPr wrap="square" rtlCol="0">
            <a:spAutoFit/>
          </a:bodyPr>
          <a:lstStyle/>
          <a:p>
            <a:r>
              <a:rPr lang="en-US" altLang="zh-CN" sz="2400" dirty="0">
                <a:solidFill>
                  <a:srgbClr val="FF0000"/>
                </a:solidFill>
              </a:rPr>
              <a:t>—— </a:t>
            </a:r>
            <a:r>
              <a:rPr lang="zh-CN" altLang="en-US" sz="2400" dirty="0">
                <a:solidFill>
                  <a:srgbClr val="FF0000"/>
                </a:solidFill>
              </a:rPr>
              <a:t>辗转相除法</a:t>
            </a:r>
          </a:p>
        </p:txBody>
      </p:sp>
      <p:sp>
        <p:nvSpPr>
          <p:cNvPr id="15" name="文本框 14">
            <a:extLst>
              <a:ext uri="{FF2B5EF4-FFF2-40B4-BE49-F238E27FC236}">
                <a16:creationId xmlns:a16="http://schemas.microsoft.com/office/drawing/2014/main" id="{0BA3FD39-1EC9-456E-18F9-BE332665305D}"/>
              </a:ext>
            </a:extLst>
          </p:cNvPr>
          <p:cNvSpPr txBox="1"/>
          <p:nvPr/>
        </p:nvSpPr>
        <p:spPr>
          <a:xfrm>
            <a:off x="5417914" y="3280807"/>
            <a:ext cx="2603500" cy="461665"/>
          </a:xfrm>
          <a:prstGeom prst="rect">
            <a:avLst/>
          </a:prstGeom>
          <a:noFill/>
        </p:spPr>
        <p:txBody>
          <a:bodyPr wrap="square" rtlCol="0">
            <a:spAutoFit/>
          </a:bodyPr>
          <a:lstStyle/>
          <a:p>
            <a:r>
              <a:rPr lang="en-US" altLang="zh-CN" sz="2400" dirty="0">
                <a:solidFill>
                  <a:srgbClr val="FF0000"/>
                </a:solidFill>
              </a:rPr>
              <a:t>—— </a:t>
            </a:r>
            <a:r>
              <a:rPr lang="zh-CN" altLang="en-US" sz="2400" dirty="0">
                <a:solidFill>
                  <a:srgbClr val="FF0000"/>
                </a:solidFill>
              </a:rPr>
              <a:t>快速幂</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95949-E25E-3759-FDAE-76263F152B1E}"/>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FEA089E4-C886-CE12-92B3-D0F3ACAE5AE9}"/>
              </a:ext>
            </a:extLst>
          </p:cNvPr>
          <p:cNvSpPr>
            <a:spLocks noGrp="1"/>
          </p:cNvSpPr>
          <p:nvPr>
            <p:ph type="title"/>
          </p:nvPr>
        </p:nvSpPr>
        <p:spPr>
          <a:xfrm>
            <a:off x="1307508" y="365126"/>
            <a:ext cx="8220812" cy="879086"/>
          </a:xfrm>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37891" name="矩形 2">
            <a:extLst>
              <a:ext uri="{FF2B5EF4-FFF2-40B4-BE49-F238E27FC236}">
                <a16:creationId xmlns:a16="http://schemas.microsoft.com/office/drawing/2014/main" id="{16B4FA0D-C577-167E-D902-EB46D90E6050}"/>
              </a:ext>
            </a:extLst>
          </p:cNvPr>
          <p:cNvSpPr>
            <a:spLocks noChangeArrowheads="1"/>
          </p:cNvSpPr>
          <p:nvPr/>
        </p:nvSpPr>
        <p:spPr bwMode="auto">
          <a:xfrm>
            <a:off x="945356" y="1679575"/>
            <a:ext cx="10301287"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zh-CN" altLang="en-US" sz="2400" b="0" dirty="0">
                <a:solidFill>
                  <a:schemeClr val="tx1"/>
                </a:solidFill>
              </a:rPr>
              <a:t>设</a:t>
            </a:r>
            <a:r>
              <a:rPr lang="en-US" altLang="zh-CN" sz="2400" b="0" dirty="0">
                <a:solidFill>
                  <a:schemeClr val="tx1"/>
                </a:solidFill>
              </a:rPr>
              <a:t>n=29389613454601</a:t>
            </a:r>
            <a:r>
              <a:rPr lang="zh-CN" altLang="en-US" sz="2400" b="0" dirty="0">
                <a:solidFill>
                  <a:schemeClr val="tx1"/>
                </a:solidFill>
              </a:rPr>
              <a:t>，取</a:t>
            </a:r>
            <a:r>
              <a:rPr lang="en-US" altLang="zh-CN" sz="2400" b="0" dirty="0">
                <a:solidFill>
                  <a:schemeClr val="tx1"/>
                </a:solidFill>
              </a:rPr>
              <a:t>A=600</a:t>
            </a:r>
            <a:r>
              <a:rPr lang="zh-CN" altLang="en-US" sz="2400" b="0" dirty="0">
                <a:solidFill>
                  <a:schemeClr val="tx1"/>
                </a:solidFill>
              </a:rPr>
              <a:t>，运用</a:t>
            </a:r>
            <a:r>
              <a:rPr lang="en-US" altLang="zh-CN" sz="2400" b="0" dirty="0">
                <a:solidFill>
                  <a:schemeClr val="tx1"/>
                </a:solidFill>
              </a:rPr>
              <a:t>p-1</a:t>
            </a:r>
            <a:r>
              <a:rPr lang="zh-CN" altLang="en-US" sz="2400" b="0" dirty="0">
                <a:solidFill>
                  <a:schemeClr val="tx1"/>
                </a:solidFill>
              </a:rPr>
              <a:t>算法进行因式分解：</a:t>
            </a:r>
          </a:p>
          <a:p>
            <a:pPr eaLnBrk="1" hangingPunct="1"/>
            <a:r>
              <a:rPr lang="zh-CN" altLang="en-US" sz="2400" b="0" dirty="0">
                <a:solidFill>
                  <a:schemeClr val="tx1"/>
                </a:solidFill>
              </a:rPr>
              <a:t>在循环结束时，得到：</a:t>
            </a:r>
          </a:p>
          <a:p>
            <a:pPr algn="ctr" eaLnBrk="1" hangingPunct="1"/>
            <a:r>
              <a:rPr lang="en-US" altLang="zh-CN" sz="2400" b="0" dirty="0">
                <a:solidFill>
                  <a:schemeClr val="tx1"/>
                </a:solidFill>
              </a:rPr>
              <a:t>a=22058222139834</a:t>
            </a:r>
          </a:p>
          <a:p>
            <a:pPr eaLnBrk="1" hangingPunct="1"/>
            <a:r>
              <a:rPr lang="zh-CN" altLang="en-US" sz="2400" b="0" dirty="0">
                <a:solidFill>
                  <a:schemeClr val="tx1"/>
                </a:solidFill>
              </a:rPr>
              <a:t>于是：</a:t>
            </a:r>
          </a:p>
          <a:p>
            <a:pPr algn="ctr" eaLnBrk="1" hangingPunct="1"/>
            <a:r>
              <a:rPr lang="en-US" altLang="zh-CN" sz="2400" b="0" dirty="0">
                <a:solidFill>
                  <a:schemeClr val="tx1"/>
                </a:solidFill>
              </a:rPr>
              <a:t>d=</a:t>
            </a:r>
            <a:r>
              <a:rPr lang="en-US" altLang="zh-CN" sz="2400" b="0" dirty="0" err="1">
                <a:solidFill>
                  <a:schemeClr val="tx1"/>
                </a:solidFill>
              </a:rPr>
              <a:t>gcd</a:t>
            </a:r>
            <a:r>
              <a:rPr lang="en-US" altLang="zh-CN" sz="2400" b="0" dirty="0">
                <a:solidFill>
                  <a:schemeClr val="tx1"/>
                </a:solidFill>
              </a:rPr>
              <a:t>(22058222139833, 29389613454601)=6210433</a:t>
            </a:r>
          </a:p>
          <a:p>
            <a:pPr eaLnBrk="1" hangingPunct="1"/>
            <a:r>
              <a:rPr lang="zh-CN" altLang="en-US" sz="2400" b="0" dirty="0">
                <a:solidFill>
                  <a:schemeClr val="tx1"/>
                </a:solidFill>
              </a:rPr>
              <a:t>进一步检测：</a:t>
            </a:r>
          </a:p>
          <a:p>
            <a:pPr algn="ctr" eaLnBrk="1" hangingPunct="1"/>
            <a:r>
              <a:rPr lang="en-US" altLang="zh-CN" sz="2400" b="0" dirty="0">
                <a:solidFill>
                  <a:schemeClr val="tx1"/>
                </a:solidFill>
              </a:rPr>
              <a:t>29389613454601=6210433×4732297</a:t>
            </a:r>
          </a:p>
          <a:p>
            <a:pPr eaLnBrk="1" hangingPunct="1"/>
            <a:r>
              <a:rPr lang="zh-CN" altLang="en-US" sz="2400" b="0" dirty="0">
                <a:solidFill>
                  <a:schemeClr val="tx1"/>
                </a:solidFill>
              </a:rPr>
              <a:t>说明因式分解成功。</a:t>
            </a:r>
          </a:p>
        </p:txBody>
      </p:sp>
    </p:spTree>
    <p:extLst>
      <p:ext uri="{BB962C8B-B14F-4D97-AF65-F5344CB8AC3E}">
        <p14:creationId xmlns:p14="http://schemas.microsoft.com/office/powerpoint/2010/main" val="1841597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FAEC2EDF-6A4B-ABC2-8F36-D6C70C83B78D}"/>
              </a:ext>
            </a:extLst>
          </p:cNvPr>
          <p:cNvSpPr>
            <a:spLocks noGrp="1" noChangeArrowheads="1"/>
          </p:cNvSpPr>
          <p:nvPr>
            <p:ph type="title"/>
          </p:nvPr>
        </p:nvSpPr>
        <p:spPr>
          <a:xfrm>
            <a:off x="570908" y="1244212"/>
            <a:ext cx="8220812" cy="879086"/>
          </a:xfrm>
        </p:spPr>
        <p:txBody>
          <a:bodyPr/>
          <a:lstStyle/>
          <a:p>
            <a:pPr marL="228600" indent="-228600">
              <a:lnSpc>
                <a:spcPct val="100000"/>
              </a:lnSpc>
              <a:spcBef>
                <a:spcPts val="600"/>
              </a:spcBef>
              <a:buFont typeface="Wingdings" pitchFamily="2" charset="2"/>
              <a:buChar char="Ø"/>
            </a:pPr>
            <a:r>
              <a:rPr lang="en-US" altLang="zh-CN" sz="2800" dirty="0">
                <a:cs typeface="+mn-cs"/>
              </a:rPr>
              <a:t>Lucas</a:t>
            </a:r>
            <a:r>
              <a:rPr lang="zh-CN" altLang="en-US" sz="2800" dirty="0">
                <a:cs typeface="+mn-cs"/>
              </a:rPr>
              <a:t>序列</a:t>
            </a:r>
          </a:p>
        </p:txBody>
      </p:sp>
      <p:pic>
        <p:nvPicPr>
          <p:cNvPr id="38915" name="Picture 2">
            <a:extLst>
              <a:ext uri="{FF2B5EF4-FFF2-40B4-BE49-F238E27FC236}">
                <a16:creationId xmlns:a16="http://schemas.microsoft.com/office/drawing/2014/main" id="{E06480A4-F69D-8E37-8F29-F9E7CE5B033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251200" y="1920874"/>
            <a:ext cx="8229600" cy="4572000"/>
          </a:xfrm>
          <a:noFill/>
        </p:spPr>
      </p:pic>
      <p:sp>
        <p:nvSpPr>
          <p:cNvPr id="4" name="标题 1">
            <a:extLst>
              <a:ext uri="{FF2B5EF4-FFF2-40B4-BE49-F238E27FC236}">
                <a16:creationId xmlns:a16="http://schemas.microsoft.com/office/drawing/2014/main" id="{86C4EF2C-F247-2B1D-5A67-2857216E97CC}"/>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E11A38D8-0B26-38C0-B0FE-DB8997F17697}"/>
              </a:ext>
            </a:extLst>
          </p:cNvPr>
          <p:cNvSpPr>
            <a:spLocks noGrp="1" noChangeArrowheads="1"/>
          </p:cNvSpPr>
          <p:nvPr>
            <p:ph type="title"/>
          </p:nvPr>
        </p:nvSpPr>
        <p:spPr>
          <a:xfrm>
            <a:off x="583608" y="1418838"/>
            <a:ext cx="8220812" cy="879086"/>
          </a:xfrm>
        </p:spPr>
        <p:txBody>
          <a:bodyPr/>
          <a:lstStyle/>
          <a:p>
            <a:pPr marL="228600" indent="-228600">
              <a:lnSpc>
                <a:spcPct val="100000"/>
              </a:lnSpc>
              <a:spcBef>
                <a:spcPts val="600"/>
              </a:spcBef>
              <a:buFont typeface="Wingdings" pitchFamily="2" charset="2"/>
              <a:buChar char="Ø"/>
            </a:pPr>
            <a:r>
              <a:rPr lang="en-US" altLang="zh-CN" sz="2800" dirty="0">
                <a:cs typeface="+mn-cs"/>
              </a:rPr>
              <a:t>P+1</a:t>
            </a:r>
            <a:r>
              <a:rPr lang="zh-CN" altLang="en-US" sz="2800" dirty="0">
                <a:cs typeface="+mn-cs"/>
              </a:rPr>
              <a:t>因子分解</a:t>
            </a:r>
          </a:p>
        </p:txBody>
      </p:sp>
      <p:pic>
        <p:nvPicPr>
          <p:cNvPr id="39939" name="Picture 3">
            <a:extLst>
              <a:ext uri="{FF2B5EF4-FFF2-40B4-BE49-F238E27FC236}">
                <a16:creationId xmlns:a16="http://schemas.microsoft.com/office/drawing/2014/main" id="{5BCA9732-85CC-3494-9CC9-1610CA8FCF0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98700" y="2297924"/>
            <a:ext cx="8812314" cy="4331476"/>
          </a:xfrm>
          <a:noFill/>
        </p:spPr>
      </p:pic>
      <p:sp>
        <p:nvSpPr>
          <p:cNvPr id="2" name="标题 1">
            <a:extLst>
              <a:ext uri="{FF2B5EF4-FFF2-40B4-BE49-F238E27FC236}">
                <a16:creationId xmlns:a16="http://schemas.microsoft.com/office/drawing/2014/main" id="{9B54CAA2-DF94-5580-7AF6-5AFE078BDEBD}"/>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BB7C521C-0134-70C3-2266-684D4EE9AA0A}"/>
              </a:ext>
            </a:extLst>
          </p:cNvPr>
          <p:cNvSpPr>
            <a:spLocks noGrp="1" noChangeArrowheads="1"/>
          </p:cNvSpPr>
          <p:nvPr>
            <p:ph type="title"/>
          </p:nvPr>
        </p:nvSpPr>
        <p:spPr>
          <a:xfrm>
            <a:off x="671879" y="1368038"/>
            <a:ext cx="8220812" cy="879086"/>
          </a:xfrm>
        </p:spPr>
        <p:txBody>
          <a:bodyPr/>
          <a:lstStyle/>
          <a:p>
            <a:pPr marL="228600" indent="-228600">
              <a:lnSpc>
                <a:spcPct val="100000"/>
              </a:lnSpc>
              <a:spcBef>
                <a:spcPts val="600"/>
              </a:spcBef>
              <a:buFont typeface="Wingdings" pitchFamily="2" charset="2"/>
              <a:buChar char="Ø"/>
            </a:pPr>
            <a:r>
              <a:rPr lang="en-US" altLang="zh-CN" sz="2800" dirty="0">
                <a:cs typeface="+mn-cs"/>
              </a:rPr>
              <a:t>p</a:t>
            </a:r>
            <a:r>
              <a:rPr lang="zh-CN" altLang="en-US" sz="2800" dirty="0">
                <a:cs typeface="+mn-cs"/>
              </a:rPr>
              <a:t>和</a:t>
            </a:r>
            <a:r>
              <a:rPr lang="en-US" altLang="zh-CN" sz="2800" dirty="0">
                <a:cs typeface="+mn-cs"/>
              </a:rPr>
              <a:t>q</a:t>
            </a:r>
            <a:r>
              <a:rPr lang="zh-CN" altLang="en-US" sz="2800" dirty="0">
                <a:cs typeface="+mn-cs"/>
              </a:rPr>
              <a:t>的差必须很大</a:t>
            </a:r>
          </a:p>
        </p:txBody>
      </p:sp>
      <p:pic>
        <p:nvPicPr>
          <p:cNvPr id="40963" name="Picture 4">
            <a:extLst>
              <a:ext uri="{FF2B5EF4-FFF2-40B4-BE49-F238E27FC236}">
                <a16:creationId xmlns:a16="http://schemas.microsoft.com/office/drawing/2014/main" id="{C4B4BA55-6F07-3170-F9F7-C43727E4AD0F}"/>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487736" y="2080580"/>
            <a:ext cx="5592764" cy="4412294"/>
          </a:xfrm>
          <a:noFill/>
        </p:spPr>
      </p:pic>
      <p:sp>
        <p:nvSpPr>
          <p:cNvPr id="2" name="标题 1">
            <a:extLst>
              <a:ext uri="{FF2B5EF4-FFF2-40B4-BE49-F238E27FC236}">
                <a16:creationId xmlns:a16="http://schemas.microsoft.com/office/drawing/2014/main" id="{9A022C5C-8A94-70F6-E85E-775E73D0A4B6}"/>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A45A51E-3AC5-C9FF-4367-B2D008FE5EA4}"/>
              </a:ext>
            </a:extLst>
          </p:cNvPr>
          <p:cNvPicPr>
            <a:picLocks noChangeAspect="1"/>
          </p:cNvPicPr>
          <p:nvPr/>
        </p:nvPicPr>
        <p:blipFill>
          <a:blip r:embed="rId2"/>
          <a:stretch>
            <a:fillRect/>
          </a:stretch>
        </p:blipFill>
        <p:spPr>
          <a:xfrm>
            <a:off x="3289999" y="3283527"/>
            <a:ext cx="4877256" cy="2962615"/>
          </a:xfrm>
          <a:prstGeom prst="rect">
            <a:avLst/>
          </a:prstGeom>
        </p:spPr>
      </p:pic>
      <p:pic>
        <p:nvPicPr>
          <p:cNvPr id="16" name="图片 15">
            <a:extLst>
              <a:ext uri="{FF2B5EF4-FFF2-40B4-BE49-F238E27FC236}">
                <a16:creationId xmlns:a16="http://schemas.microsoft.com/office/drawing/2014/main" id="{DB904466-5D0E-EC4E-19B2-9FC0BBFC4414}"/>
              </a:ext>
            </a:extLst>
          </p:cNvPr>
          <p:cNvPicPr>
            <a:picLocks noChangeAspect="1"/>
          </p:cNvPicPr>
          <p:nvPr/>
        </p:nvPicPr>
        <p:blipFill>
          <a:blip r:embed="rId3"/>
          <a:stretch>
            <a:fillRect/>
          </a:stretch>
        </p:blipFill>
        <p:spPr>
          <a:xfrm>
            <a:off x="2240200" y="2615277"/>
            <a:ext cx="3672977" cy="544425"/>
          </a:xfrm>
          <a:prstGeom prst="rect">
            <a:avLst/>
          </a:prstGeom>
        </p:spPr>
      </p:pic>
      <p:sp>
        <p:nvSpPr>
          <p:cNvPr id="18" name="标题 17">
            <a:extLst>
              <a:ext uri="{FF2B5EF4-FFF2-40B4-BE49-F238E27FC236}">
                <a16:creationId xmlns:a16="http://schemas.microsoft.com/office/drawing/2014/main" id="{8B0F8172-4315-E3AB-9ACC-0DEBE195F3F3}"/>
              </a:ext>
            </a:extLst>
          </p:cNvPr>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20" name="Rectangle 2">
            <a:extLst>
              <a:ext uri="{FF2B5EF4-FFF2-40B4-BE49-F238E27FC236}">
                <a16:creationId xmlns:a16="http://schemas.microsoft.com/office/drawing/2014/main" id="{332E7024-779B-B7D1-4E5C-2A266F258CFB}"/>
              </a:ext>
            </a:extLst>
          </p:cNvPr>
          <p:cNvSpPr txBox="1">
            <a:spLocks noChangeArrowheads="1"/>
          </p:cNvSpPr>
          <p:nvPr/>
        </p:nvSpPr>
        <p:spPr>
          <a:xfrm>
            <a:off x="671879" y="1368037"/>
            <a:ext cx="8220812" cy="15102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marL="228600" indent="-228600">
              <a:lnSpc>
                <a:spcPct val="100000"/>
              </a:lnSpc>
              <a:spcBef>
                <a:spcPts val="600"/>
              </a:spcBef>
              <a:buFont typeface="Wingdings" pitchFamily="2" charset="2"/>
              <a:buChar char="Ø"/>
            </a:pPr>
            <a:r>
              <a:rPr lang="en-US" altLang="zh-CN" sz="2800" dirty="0">
                <a:cs typeface="+mn-cs"/>
              </a:rPr>
              <a:t>p</a:t>
            </a:r>
            <a:r>
              <a:rPr lang="zh-CN" altLang="en-US" sz="2800" dirty="0">
                <a:cs typeface="+mn-cs"/>
              </a:rPr>
              <a:t>和</a:t>
            </a:r>
            <a:r>
              <a:rPr lang="en-US" altLang="zh-CN" sz="2800" dirty="0">
                <a:cs typeface="+mn-cs"/>
              </a:rPr>
              <a:t>q</a:t>
            </a:r>
            <a:r>
              <a:rPr lang="zh-CN" altLang="en-US" sz="2800" dirty="0">
                <a:cs typeface="+mn-cs"/>
              </a:rPr>
              <a:t>的差必须很大</a:t>
            </a:r>
            <a:endParaRPr lang="en-US" altLang="zh-CN" sz="2800" dirty="0">
              <a:cs typeface="+mn-cs"/>
            </a:endParaRPr>
          </a:p>
          <a:p>
            <a:pPr marL="800100" lvl="1" indent="-342900">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一个反例：</a:t>
            </a: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BE81036-464A-9B6C-1680-2086FEEE980E}"/>
                  </a:ext>
                </a:extLst>
              </p:cNvPr>
              <p:cNvSpPr txBox="1"/>
              <p:nvPr/>
            </p:nvSpPr>
            <p:spPr>
              <a:xfrm>
                <a:off x="1305581" y="5045813"/>
                <a:ext cx="9816812" cy="1381019"/>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当</a:t>
                </a:r>
                <a:r>
                  <a:rPr lang="en-US" altLang="zh-CN" sz="2400" dirty="0">
                    <a:effectLst/>
                    <a:latin typeface="微软雅黑" panose="020B0503020204020204" pitchFamily="34" charset="-122"/>
                    <a:ea typeface="微软雅黑" panose="020B0503020204020204" pitchFamily="34" charset="-122"/>
                  </a:rPr>
                  <a:t>p</a:t>
                </a:r>
                <a:r>
                  <a:rPr lang="zh-CN" altLang="en-US" sz="2400" dirty="0">
                    <a:latin typeface="微软雅黑" panose="020B0503020204020204" pitchFamily="34" charset="-122"/>
                    <a:ea typeface="微软雅黑" panose="020B0503020204020204" pitchFamily="34" charset="-122"/>
                  </a:rPr>
                  <a:t>和</a:t>
                </a:r>
                <a:r>
                  <a:rPr lang="en-US" altLang="zh-CN" sz="2400" dirty="0">
                    <a:effectLst/>
                    <a:latin typeface="微软雅黑" panose="020B0503020204020204" pitchFamily="34" charset="-122"/>
                    <a:ea typeface="微软雅黑" panose="020B0503020204020204" pitchFamily="34" charset="-122"/>
                  </a:rPr>
                  <a:t>q</a:t>
                </a:r>
                <a:r>
                  <a:rPr lang="zh-CN" altLang="en-US" sz="2400" dirty="0">
                    <a:latin typeface="微软雅黑" panose="020B0503020204020204" pitchFamily="34" charset="-122"/>
                    <a:ea typeface="微软雅黑" panose="020B0503020204020204" pitchFamily="34" charset="-122"/>
                  </a:rPr>
                  <a:t>过于接近时，费马因式分解法的搜索起点</a:t>
                </a:r>
                <a14:m>
                  <m:oMath xmlns:m="http://schemas.openxmlformats.org/officeDocument/2006/math">
                    <m:r>
                      <a:rPr lang="en-US" altLang="zh-CN" sz="2400" i="1" dirty="0" smtClean="0">
                        <a:effectLst/>
                        <a:latin typeface="Cambria Math" panose="02040503050406030204" pitchFamily="18" charset="0"/>
                      </a:rPr>
                      <m:t>𝑡</m:t>
                    </m:r>
                    <m:r>
                      <a:rPr lang="en-US" altLang="zh-CN" sz="2400" i="1" dirty="0" smtClean="0">
                        <a:effectLst/>
                        <a:latin typeface="Cambria Math" panose="02040503050406030204" pitchFamily="18" charset="0"/>
                      </a:rPr>
                      <m:t> = </m:t>
                    </m:r>
                    <m:d>
                      <m:dPr>
                        <m:begChr m:val="⌊"/>
                        <m:endChr m:val="⌋"/>
                        <m:ctrlPr>
                          <a:rPr lang="en-US" altLang="zh-CN" sz="2400" i="1" dirty="0">
                            <a:effectLst/>
                            <a:latin typeface="Cambria Math" panose="02040503050406030204" pitchFamily="18" charset="0"/>
                          </a:rPr>
                        </m:ctrlPr>
                      </m:dPr>
                      <m:e>
                        <m:rad>
                          <m:radPr>
                            <m:degHide m:val="on"/>
                            <m:ctrlPr>
                              <a:rPr lang="en-US" altLang="zh-CN" sz="2400" i="1" dirty="0">
                                <a:effectLst/>
                                <a:latin typeface="Cambria Math" panose="02040503050406030204" pitchFamily="18" charset="0"/>
                              </a:rPr>
                            </m:ctrlPr>
                          </m:radPr>
                          <m:deg/>
                          <m:e>
                            <m:d>
                              <m:dPr>
                                <m:begChr m:val="{"/>
                                <m:endChr m:val="}"/>
                                <m:ctrlPr>
                                  <a:rPr lang="en-US" altLang="zh-CN" sz="2400" i="1" dirty="0">
                                    <a:effectLst/>
                                    <a:latin typeface="Cambria Math" panose="02040503050406030204" pitchFamily="18" charset="0"/>
                                  </a:rPr>
                                </m:ctrlPr>
                              </m:dPr>
                              <m:e>
                                <m:r>
                                  <a:rPr lang="en-US" altLang="zh-CN" sz="2400" i="1" dirty="0">
                                    <a:effectLst/>
                                    <a:latin typeface="Cambria Math" panose="02040503050406030204" pitchFamily="18" charset="0"/>
                                  </a:rPr>
                                  <m:t>𝑛</m:t>
                                </m:r>
                              </m:e>
                            </m:d>
                          </m:e>
                        </m:rad>
                      </m:e>
                    </m:d>
                    <m:r>
                      <a:rPr lang="en-US" altLang="zh-CN" sz="2400" i="1" dirty="0">
                        <a:effectLst/>
                        <a:latin typeface="Cambria Math" panose="02040503050406030204" pitchFamily="18" charset="0"/>
                      </a:rPr>
                      <m:t>+ </m:t>
                    </m:r>
                    <m:r>
                      <a:rPr lang="en-US" altLang="zh-CN" sz="2400" i="1" dirty="0" smtClean="0">
                        <a:effectLst/>
                        <a:latin typeface="Cambria Math" panose="02040503050406030204" pitchFamily="18" charset="0"/>
                      </a:rPr>
                      <m:t>1</m:t>
                    </m:r>
                  </m:oMath>
                </a14:m>
                <a:r>
                  <a:rPr lang="zh-CN" altLang="en-US" sz="2400" dirty="0">
                    <a:latin typeface="微软雅黑" panose="020B0503020204020204" pitchFamily="34" charset="-122"/>
                    <a:ea typeface="微软雅黑" panose="020B0503020204020204" pitchFamily="34" charset="-122"/>
                  </a:rPr>
                  <a:t>在第一步就会直接“跨过”正确答案。黑客沿着这条路往下盲目搜索，只会离答案越来越远，从而导致整个费马分解算法彻底失灵。</a:t>
                </a:r>
              </a:p>
            </p:txBody>
          </p:sp>
        </mc:Choice>
        <mc:Fallback xmlns="">
          <p:sp>
            <p:nvSpPr>
              <p:cNvPr id="22" name="文本框 21">
                <a:extLst>
                  <a:ext uri="{FF2B5EF4-FFF2-40B4-BE49-F238E27FC236}">
                    <a16:creationId xmlns:a16="http://schemas.microsoft.com/office/drawing/2014/main" id="{DBE81036-464A-9B6C-1680-2086FEEE980E}"/>
                  </a:ext>
                </a:extLst>
              </p:cNvPr>
              <p:cNvSpPr txBox="1">
                <a:spLocks noRot="1" noChangeAspect="1" noMove="1" noResize="1" noEditPoints="1" noAdjustHandles="1" noChangeArrowheads="1" noChangeShapeType="1" noTextEdit="1"/>
              </p:cNvSpPr>
              <p:nvPr/>
            </p:nvSpPr>
            <p:spPr>
              <a:xfrm>
                <a:off x="1305581" y="5045813"/>
                <a:ext cx="9816812" cy="1381019"/>
              </a:xfrm>
              <a:prstGeom prst="rect">
                <a:avLst/>
              </a:prstGeom>
              <a:blipFill>
                <a:blip r:embed="rId4"/>
                <a:stretch>
                  <a:fillRect l="-931" b="-9292"/>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6209E-2E9B-917F-B11F-264BEB55E757}"/>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94852AE0-33D3-798A-AF40-2096EE000231}"/>
              </a:ext>
            </a:extLst>
          </p:cNvPr>
          <p:cNvSpPr>
            <a:spLocks noGrp="1" noChangeArrowheads="1"/>
          </p:cNvSpPr>
          <p:nvPr>
            <p:ph type="title"/>
          </p:nvPr>
        </p:nvSpPr>
        <p:spPr>
          <a:xfrm>
            <a:off x="671879" y="1368038"/>
            <a:ext cx="8220812" cy="879086"/>
          </a:xfrm>
        </p:spPr>
        <p:txBody>
          <a:bodyPr/>
          <a:lstStyle/>
          <a:p>
            <a:pPr marL="228600" indent="-228600">
              <a:lnSpc>
                <a:spcPct val="100000"/>
              </a:lnSpc>
              <a:spcBef>
                <a:spcPts val="600"/>
              </a:spcBef>
              <a:buFont typeface="Wingdings" pitchFamily="2" charset="2"/>
              <a:buChar char="Ø"/>
            </a:pPr>
            <a:r>
              <a:rPr lang="en-US" altLang="zh-CN" sz="2800" dirty="0">
                <a:cs typeface="+mn-cs"/>
              </a:rPr>
              <a:t>p</a:t>
            </a:r>
            <a:r>
              <a:rPr lang="zh-CN" altLang="en-US" sz="2800" dirty="0">
                <a:cs typeface="+mn-cs"/>
              </a:rPr>
              <a:t>和</a:t>
            </a:r>
            <a:r>
              <a:rPr lang="en-US" altLang="zh-CN" sz="2800" dirty="0">
                <a:cs typeface="+mn-cs"/>
              </a:rPr>
              <a:t>q</a:t>
            </a:r>
            <a:r>
              <a:rPr lang="zh-CN" altLang="en-US" sz="2800" dirty="0">
                <a:cs typeface="+mn-cs"/>
              </a:rPr>
              <a:t>的差必须很大</a:t>
            </a:r>
          </a:p>
        </p:txBody>
      </p:sp>
      <p:sp>
        <p:nvSpPr>
          <p:cNvPr id="2" name="标题 1">
            <a:extLst>
              <a:ext uri="{FF2B5EF4-FFF2-40B4-BE49-F238E27FC236}">
                <a16:creationId xmlns:a16="http://schemas.microsoft.com/office/drawing/2014/main" id="{C2E9A842-CEAA-64C2-A4FE-8E31C6E15C88}"/>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pic>
        <p:nvPicPr>
          <p:cNvPr id="43010" name="Picture 4">
            <a:extLst>
              <a:ext uri="{FF2B5EF4-FFF2-40B4-BE49-F238E27FC236}">
                <a16:creationId xmlns:a16="http://schemas.microsoft.com/office/drawing/2014/main" id="{880E9B7D-8BB6-344F-CA11-EC9D470803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244437" y="2370950"/>
            <a:ext cx="8069263" cy="3638550"/>
          </a:xfrm>
          <a:prstGeom prst="rect">
            <a:avLst/>
          </a:prstGeom>
          <a:noFill/>
        </p:spPr>
      </p:pic>
    </p:spTree>
    <p:extLst>
      <p:ext uri="{BB962C8B-B14F-4D97-AF65-F5344CB8AC3E}">
        <p14:creationId xmlns:p14="http://schemas.microsoft.com/office/powerpoint/2010/main" val="28275655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6D9AFBF-8E6C-0A51-F57E-0D95F9C44978}"/>
              </a:ext>
            </a:extLst>
          </p:cNvPr>
          <p:cNvSpPr>
            <a:spLocks noGrp="1" noChangeArrowheads="1"/>
          </p:cNvSpPr>
          <p:nvPr>
            <p:ph type="title"/>
          </p:nvPr>
        </p:nvSpPr>
        <p:spPr>
          <a:xfrm>
            <a:off x="704835" y="1338141"/>
            <a:ext cx="8220812" cy="879086"/>
          </a:xfrm>
        </p:spPr>
        <p:txBody>
          <a:bodyPr/>
          <a:lstStyle/>
          <a:p>
            <a:pPr marL="228600" indent="-228600">
              <a:lnSpc>
                <a:spcPct val="100000"/>
              </a:lnSpc>
              <a:spcBef>
                <a:spcPts val="600"/>
              </a:spcBef>
              <a:buFont typeface="Wingdings" pitchFamily="2" charset="2"/>
              <a:buChar char="Ø"/>
            </a:pPr>
            <a:r>
              <a:rPr lang="en-US" altLang="zh-CN" sz="2800" dirty="0">
                <a:cs typeface="+mn-cs"/>
              </a:rPr>
              <a:t>p-1</a:t>
            </a:r>
            <a:r>
              <a:rPr lang="zh-CN" altLang="en-US" sz="2800" dirty="0">
                <a:cs typeface="+mn-cs"/>
              </a:rPr>
              <a:t>和</a:t>
            </a:r>
            <a:r>
              <a:rPr lang="en-US" altLang="zh-CN" sz="2800" dirty="0">
                <a:cs typeface="+mn-cs"/>
              </a:rPr>
              <a:t>q-1</a:t>
            </a:r>
            <a:r>
              <a:rPr lang="zh-CN" altLang="en-US" sz="2800" dirty="0">
                <a:cs typeface="+mn-cs"/>
              </a:rPr>
              <a:t>的最大公因子应该很小</a:t>
            </a:r>
          </a:p>
        </p:txBody>
      </p:sp>
      <p:pic>
        <p:nvPicPr>
          <p:cNvPr id="44035" name="Picture 6">
            <a:extLst>
              <a:ext uri="{FF2B5EF4-FFF2-40B4-BE49-F238E27FC236}">
                <a16:creationId xmlns:a16="http://schemas.microsoft.com/office/drawing/2014/main" id="{D818936C-C2C4-8D5C-215D-23CC4749B526}"/>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101056" y="2311156"/>
            <a:ext cx="7989888" cy="3602038"/>
          </a:xfrm>
          <a:noFill/>
        </p:spPr>
      </p:pic>
      <p:sp>
        <p:nvSpPr>
          <p:cNvPr id="2" name="标题 17">
            <a:extLst>
              <a:ext uri="{FF2B5EF4-FFF2-40B4-BE49-F238E27FC236}">
                <a16:creationId xmlns:a16="http://schemas.microsoft.com/office/drawing/2014/main" id="{E9F53DBE-D97E-EEF6-39CC-EAD7B9A6A9CE}"/>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cxnSp>
        <p:nvCxnSpPr>
          <p:cNvPr id="4" name="直接箭头连接符 3">
            <a:extLst>
              <a:ext uri="{FF2B5EF4-FFF2-40B4-BE49-F238E27FC236}">
                <a16:creationId xmlns:a16="http://schemas.microsoft.com/office/drawing/2014/main" id="{ECCF52BA-7860-D531-577C-3838076CBDAE}"/>
              </a:ext>
            </a:extLst>
          </p:cNvPr>
          <p:cNvCxnSpPr/>
          <p:nvPr/>
        </p:nvCxnSpPr>
        <p:spPr>
          <a:xfrm flipH="1" flipV="1">
            <a:off x="5715000" y="5808518"/>
            <a:ext cx="758536" cy="5611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FD75D5C3-5E1E-0081-46F3-881C211E3DE4}"/>
              </a:ext>
            </a:extLst>
          </p:cNvPr>
          <p:cNvSpPr txBox="1"/>
          <p:nvPr/>
        </p:nvSpPr>
        <p:spPr>
          <a:xfrm>
            <a:off x="6598228" y="6262041"/>
            <a:ext cx="3231572" cy="461665"/>
          </a:xfrm>
          <a:prstGeom prst="rect">
            <a:avLst/>
          </a:prstGeom>
          <a:noFill/>
        </p:spPr>
        <p:txBody>
          <a:bodyPr wrap="square" rtlCol="0">
            <a:spAutoFit/>
          </a:bodyPr>
          <a:lstStyle/>
          <a:p>
            <a:r>
              <a:rPr lang="zh-CN" altLang="en-US" sz="2400" dirty="0">
                <a:solidFill>
                  <a:srgbClr val="FF0000"/>
                </a:solidFill>
              </a:rPr>
              <a:t>目标，最理想为</a:t>
            </a:r>
            <a:r>
              <a:rPr lang="en-US" altLang="zh-CN" sz="2400" dirty="0">
                <a:solidFill>
                  <a:srgbClr val="FF0000"/>
                </a:solidFill>
              </a:rPr>
              <a:t>2</a:t>
            </a:r>
            <a:endParaRPr lang="zh-CN" altLang="en-US" sz="2400"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47AD4-B58C-9672-7592-33CD18B3F0C0}"/>
            </a:ext>
          </a:extLst>
        </p:cNvPr>
        <p:cNvGrpSpPr/>
        <p:nvPr/>
      </p:nvGrpSpPr>
      <p:grpSpPr>
        <a:xfrm>
          <a:off x="0" y="0"/>
          <a:ext cx="0" cy="0"/>
          <a:chOff x="0" y="0"/>
          <a:chExt cx="0" cy="0"/>
        </a:xfrm>
      </p:grpSpPr>
      <p:sp>
        <p:nvSpPr>
          <p:cNvPr id="44034" name="Rectangle 2">
            <a:extLst>
              <a:ext uri="{FF2B5EF4-FFF2-40B4-BE49-F238E27FC236}">
                <a16:creationId xmlns:a16="http://schemas.microsoft.com/office/drawing/2014/main" id="{C09D8201-0552-FBAA-4883-000767C88ADD}"/>
              </a:ext>
            </a:extLst>
          </p:cNvPr>
          <p:cNvSpPr>
            <a:spLocks noGrp="1" noChangeArrowheads="1"/>
          </p:cNvSpPr>
          <p:nvPr>
            <p:ph type="title"/>
          </p:nvPr>
        </p:nvSpPr>
        <p:spPr>
          <a:xfrm>
            <a:off x="704835" y="1338141"/>
            <a:ext cx="8220812" cy="879086"/>
          </a:xfrm>
        </p:spPr>
        <p:txBody>
          <a:bodyPr/>
          <a:lstStyle/>
          <a:p>
            <a:pPr marL="228600" indent="-228600">
              <a:lnSpc>
                <a:spcPct val="100000"/>
              </a:lnSpc>
              <a:spcBef>
                <a:spcPts val="600"/>
              </a:spcBef>
              <a:buFont typeface="Wingdings" pitchFamily="2" charset="2"/>
              <a:buChar char="Ø"/>
            </a:pPr>
            <a:r>
              <a:rPr lang="en-US" altLang="zh-CN" sz="2800" dirty="0">
                <a:cs typeface="+mn-cs"/>
              </a:rPr>
              <a:t>p-1</a:t>
            </a:r>
            <a:r>
              <a:rPr lang="zh-CN" altLang="en-US" sz="2800" dirty="0">
                <a:cs typeface="+mn-cs"/>
              </a:rPr>
              <a:t>和</a:t>
            </a:r>
            <a:r>
              <a:rPr lang="en-US" altLang="zh-CN" sz="2800" dirty="0">
                <a:cs typeface="+mn-cs"/>
              </a:rPr>
              <a:t>q-1</a:t>
            </a:r>
            <a:r>
              <a:rPr lang="zh-CN" altLang="en-US" sz="2800" dirty="0">
                <a:cs typeface="+mn-cs"/>
              </a:rPr>
              <a:t>的最大公因子应该很小</a:t>
            </a:r>
          </a:p>
        </p:txBody>
      </p:sp>
      <p:sp>
        <p:nvSpPr>
          <p:cNvPr id="2" name="标题 17">
            <a:extLst>
              <a:ext uri="{FF2B5EF4-FFF2-40B4-BE49-F238E27FC236}">
                <a16:creationId xmlns:a16="http://schemas.microsoft.com/office/drawing/2014/main" id="{939916A3-7E94-FE5C-C181-6758F2BEF45F}"/>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pic>
        <p:nvPicPr>
          <p:cNvPr id="45058" name="Picture 5">
            <a:extLst>
              <a:ext uri="{FF2B5EF4-FFF2-40B4-BE49-F238E27FC236}">
                <a16:creationId xmlns:a16="http://schemas.microsoft.com/office/drawing/2014/main" id="{FE72A8D3-75FB-EEAA-8A74-EA58E746E0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2475" y="2311156"/>
            <a:ext cx="8147050" cy="367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24748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8C65F-36C7-9EB2-6EBD-2F038C2F85D5}"/>
            </a:ext>
          </a:extLst>
        </p:cNvPr>
        <p:cNvGrpSpPr/>
        <p:nvPr/>
      </p:nvGrpSpPr>
      <p:grpSpPr>
        <a:xfrm>
          <a:off x="0" y="0"/>
          <a:ext cx="0" cy="0"/>
          <a:chOff x="0" y="0"/>
          <a:chExt cx="0" cy="0"/>
        </a:xfrm>
      </p:grpSpPr>
      <p:sp>
        <p:nvSpPr>
          <p:cNvPr id="44034" name="Rectangle 2">
            <a:extLst>
              <a:ext uri="{FF2B5EF4-FFF2-40B4-BE49-F238E27FC236}">
                <a16:creationId xmlns:a16="http://schemas.microsoft.com/office/drawing/2014/main" id="{B88DAF7E-4635-D9D1-0A96-4A31BC51AA74}"/>
              </a:ext>
            </a:extLst>
          </p:cNvPr>
          <p:cNvSpPr>
            <a:spLocks noGrp="1" noChangeArrowheads="1"/>
          </p:cNvSpPr>
          <p:nvPr>
            <p:ph type="title"/>
          </p:nvPr>
        </p:nvSpPr>
        <p:spPr>
          <a:xfrm>
            <a:off x="704835" y="1338141"/>
            <a:ext cx="8220812" cy="879086"/>
          </a:xfrm>
        </p:spPr>
        <p:txBody>
          <a:bodyPr/>
          <a:lstStyle/>
          <a:p>
            <a:pPr marL="228600" indent="-228600">
              <a:lnSpc>
                <a:spcPct val="100000"/>
              </a:lnSpc>
              <a:spcBef>
                <a:spcPts val="600"/>
              </a:spcBef>
              <a:buFont typeface="Wingdings" pitchFamily="2" charset="2"/>
              <a:buChar char="Ø"/>
            </a:pPr>
            <a:r>
              <a:rPr lang="en-US" altLang="zh-CN" sz="2800" dirty="0">
                <a:cs typeface="+mn-cs"/>
              </a:rPr>
              <a:t>p-1</a:t>
            </a:r>
            <a:r>
              <a:rPr lang="zh-CN" altLang="en-US" sz="2800" dirty="0">
                <a:cs typeface="+mn-cs"/>
              </a:rPr>
              <a:t>和</a:t>
            </a:r>
            <a:r>
              <a:rPr lang="en-US" altLang="zh-CN" sz="2800" dirty="0">
                <a:cs typeface="+mn-cs"/>
              </a:rPr>
              <a:t>q-1</a:t>
            </a:r>
            <a:r>
              <a:rPr lang="zh-CN" altLang="en-US" sz="2800" dirty="0">
                <a:cs typeface="+mn-cs"/>
              </a:rPr>
              <a:t>的最大公因子应该很小</a:t>
            </a:r>
          </a:p>
        </p:txBody>
      </p:sp>
      <p:sp>
        <p:nvSpPr>
          <p:cNvPr id="2" name="标题 17">
            <a:extLst>
              <a:ext uri="{FF2B5EF4-FFF2-40B4-BE49-F238E27FC236}">
                <a16:creationId xmlns:a16="http://schemas.microsoft.com/office/drawing/2014/main" id="{05470940-1992-BBD1-A7AD-AFFE2A103DEB}"/>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pic>
        <p:nvPicPr>
          <p:cNvPr id="46082" name="Picture 5">
            <a:extLst>
              <a:ext uri="{FF2B5EF4-FFF2-40B4-BE49-F238E27FC236}">
                <a16:creationId xmlns:a16="http://schemas.microsoft.com/office/drawing/2014/main" id="{90ED5396-E642-CE68-EA7F-D737FE384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278061"/>
            <a:ext cx="8015288" cy="421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64022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3" name="内容占位符 2"/>
          <p:cNvSpPr>
            <a:spLocks noGrp="1"/>
          </p:cNvSpPr>
          <p:nvPr>
            <p:ph idx="1"/>
          </p:nvPr>
        </p:nvSpPr>
        <p:spPr>
          <a:xfrm>
            <a:off x="838200" y="1365663"/>
            <a:ext cx="10515600" cy="4904508"/>
          </a:xfrm>
        </p:spPr>
        <p:txBody>
          <a:bodyPr>
            <a:normAutofit/>
          </a:bodyPr>
          <a:lstStyle/>
          <a:p>
            <a:pPr>
              <a:lnSpc>
                <a:spcPct val="90000"/>
              </a:lnSpc>
            </a:pPr>
            <a:r>
              <a:rPr lang="zh-CN" altLang="en-US" sz="2400" dirty="0"/>
              <a:t>对</a:t>
            </a:r>
            <a:r>
              <a:rPr lang="en-US" altLang="zh-CN" sz="2400" dirty="0"/>
              <a:t>RSA</a:t>
            </a:r>
            <a:r>
              <a:rPr lang="zh-CN" altLang="en-US" sz="2400" dirty="0"/>
              <a:t>的攻击</a:t>
            </a:r>
            <a:endParaRPr lang="en-US" altLang="zh-CN" sz="2400" dirty="0"/>
          </a:p>
          <a:p>
            <a:pPr lvl="1">
              <a:lnSpc>
                <a:spcPct val="120000"/>
              </a:lnSpc>
            </a:pPr>
            <a:r>
              <a:rPr lang="zh-CN" altLang="en-US" dirty="0"/>
              <a:t>对</a:t>
            </a:r>
            <a:r>
              <a:rPr lang="en-US" altLang="zh-CN" dirty="0"/>
              <a:t>RSA</a:t>
            </a:r>
            <a:r>
              <a:rPr lang="zh-CN" altLang="en-US" dirty="0"/>
              <a:t>的具体实现存在一些攻击方法，但不是针对基本算法的，而是针对协议的。</a:t>
            </a:r>
          </a:p>
          <a:p>
            <a:pPr lvl="1">
              <a:lnSpc>
                <a:spcPct val="120000"/>
              </a:lnSpc>
            </a:pPr>
            <a:r>
              <a:rPr lang="zh-CN" altLang="en-US" dirty="0"/>
              <a:t>对</a:t>
            </a:r>
            <a:r>
              <a:rPr lang="en-US" altLang="zh-CN" dirty="0"/>
              <a:t>RSA</a:t>
            </a:r>
            <a:r>
              <a:rPr lang="zh-CN" altLang="en-US" dirty="0"/>
              <a:t>的选择密文攻击</a:t>
            </a:r>
          </a:p>
          <a:p>
            <a:pPr lvl="1">
              <a:lnSpc>
                <a:spcPct val="120000"/>
              </a:lnSpc>
            </a:pPr>
            <a:r>
              <a:rPr lang="zh-CN" altLang="en-US" dirty="0"/>
              <a:t>对</a:t>
            </a:r>
            <a:r>
              <a:rPr lang="en-US" altLang="zh-CN" dirty="0"/>
              <a:t>RSA</a:t>
            </a:r>
            <a:r>
              <a:rPr lang="zh-CN" altLang="en-US" dirty="0"/>
              <a:t>的公共模攻击</a:t>
            </a:r>
          </a:p>
          <a:p>
            <a:pPr lvl="1">
              <a:lnSpc>
                <a:spcPct val="120000"/>
              </a:lnSpc>
            </a:pPr>
            <a:r>
              <a:rPr lang="zh-CN" altLang="en-US" dirty="0"/>
              <a:t>对</a:t>
            </a:r>
            <a:r>
              <a:rPr lang="en-US" altLang="zh-CN" dirty="0"/>
              <a:t>RSA</a:t>
            </a:r>
            <a:r>
              <a:rPr lang="zh-CN" altLang="en-US" dirty="0"/>
              <a:t>的小加密指数攻击</a:t>
            </a:r>
          </a:p>
          <a:p>
            <a:pPr lvl="1">
              <a:lnSpc>
                <a:spcPct val="120000"/>
              </a:lnSpc>
            </a:pPr>
            <a:r>
              <a:rPr lang="zh-CN" altLang="en-US" dirty="0"/>
              <a:t>对</a:t>
            </a:r>
            <a:r>
              <a:rPr lang="en-US" altLang="zh-CN" dirty="0"/>
              <a:t>RSA</a:t>
            </a:r>
            <a:r>
              <a:rPr lang="zh-CN" altLang="en-US" dirty="0"/>
              <a:t>的小解密指数攻击</a:t>
            </a:r>
            <a:endParaRPr lang="en-US" altLang="zh-CN" dirty="0"/>
          </a:p>
          <a:p>
            <a:pPr lvl="1">
              <a:lnSpc>
                <a:spcPct val="120000"/>
              </a:lnSpc>
            </a:pPr>
            <a:r>
              <a:rPr lang="zh-CN" altLang="en-US" dirty="0"/>
              <a:t>对</a:t>
            </a:r>
            <a:r>
              <a:rPr lang="en-US" altLang="zh-CN" dirty="0"/>
              <a:t>RSA</a:t>
            </a:r>
            <a:r>
              <a:rPr lang="zh-CN" altLang="en-US" dirty="0"/>
              <a:t>的循环攻击</a:t>
            </a:r>
          </a:p>
          <a:p>
            <a:pPr lvl="1">
              <a:lnSpc>
                <a:spcPct val="120000"/>
              </a:lnSpc>
            </a:pPr>
            <a:r>
              <a:rPr lang="zh-CN" altLang="en-US" dirty="0">
                <a:latin typeface="宋体" panose="02010600030101010101" pitchFamily="2" charset="-122"/>
              </a:rPr>
              <a:t>时间性攻击：取决于解密算法的运算时间</a:t>
            </a:r>
          </a:p>
          <a:p>
            <a:pPr>
              <a:lnSpc>
                <a:spcPct val="9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41</a:t>
            </a:fld>
            <a:endParaRPr kumimoji="1" lang="zh-CN" altLang="en-US" dirty="0"/>
          </a:p>
        </p:txBody>
      </p:sp>
    </p:spTree>
    <p:extLst>
      <p:ext uri="{BB962C8B-B14F-4D97-AF65-F5344CB8AC3E}">
        <p14:creationId xmlns:p14="http://schemas.microsoft.com/office/powerpoint/2010/main" val="34044206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3" name="内容占位符 2"/>
          <p:cNvSpPr>
            <a:spLocks noGrp="1"/>
          </p:cNvSpPr>
          <p:nvPr>
            <p:ph idx="1"/>
          </p:nvPr>
        </p:nvSpPr>
        <p:spPr>
          <a:xfrm>
            <a:off x="838200" y="1365663"/>
            <a:ext cx="5847608" cy="4904508"/>
          </a:xfrm>
        </p:spPr>
        <p:txBody>
          <a:bodyPr>
            <a:normAutofit fontScale="92500" lnSpcReduction="20000"/>
          </a:bodyPr>
          <a:lstStyle/>
          <a:p>
            <a:pPr>
              <a:lnSpc>
                <a:spcPct val="90000"/>
              </a:lnSpc>
            </a:pPr>
            <a:r>
              <a:rPr lang="zh-CN" altLang="en-US" sz="2400" dirty="0"/>
              <a:t>对</a:t>
            </a:r>
            <a:r>
              <a:rPr lang="en-US" altLang="zh-CN" sz="2400" dirty="0"/>
              <a:t>RSA</a:t>
            </a:r>
            <a:r>
              <a:rPr lang="zh-CN" altLang="en-US" sz="2400" dirty="0"/>
              <a:t>的选择密文攻击</a:t>
            </a:r>
            <a:endParaRPr lang="en-US" altLang="zh-CN" sz="2400" dirty="0"/>
          </a:p>
          <a:p>
            <a:pPr lvl="1">
              <a:lnSpc>
                <a:spcPct val="120000"/>
              </a:lnSpc>
            </a:pPr>
            <a:r>
              <a:rPr lang="zh-CN" altLang="en-US" dirty="0"/>
              <a:t>例</a:t>
            </a:r>
            <a:r>
              <a:rPr lang="en-US" altLang="zh-CN" dirty="0"/>
              <a:t>1</a:t>
            </a:r>
            <a:r>
              <a:rPr lang="zh-CN" altLang="en-US" dirty="0"/>
              <a:t>：</a:t>
            </a:r>
            <a:r>
              <a:rPr lang="en-US" altLang="zh-CN" dirty="0"/>
              <a:t>E</a:t>
            </a:r>
            <a:r>
              <a:rPr lang="zh-CN" altLang="en-US" dirty="0"/>
              <a:t>监听</a:t>
            </a:r>
            <a:r>
              <a:rPr lang="en-US" altLang="zh-CN" dirty="0"/>
              <a:t>A</a:t>
            </a:r>
            <a:r>
              <a:rPr lang="zh-CN" altLang="en-US" dirty="0"/>
              <a:t>的通信，收集由</a:t>
            </a:r>
            <a:r>
              <a:rPr lang="en-US" altLang="zh-CN" dirty="0"/>
              <a:t>A</a:t>
            </a:r>
            <a:r>
              <a:rPr lang="zh-CN" altLang="en-US" dirty="0"/>
              <a:t>的公开密钥加密的密文</a:t>
            </a:r>
            <a:r>
              <a:rPr lang="en-US" altLang="zh-CN" dirty="0"/>
              <a:t>c</a:t>
            </a:r>
            <a:r>
              <a:rPr lang="zh-CN" altLang="en-US" dirty="0"/>
              <a:t>，</a:t>
            </a:r>
            <a:r>
              <a:rPr lang="en-US" altLang="zh-CN" dirty="0"/>
              <a:t>E</a:t>
            </a:r>
            <a:r>
              <a:rPr lang="zh-CN" altLang="en-US" dirty="0"/>
              <a:t>想知道消息的明文</a:t>
            </a:r>
            <a:r>
              <a:rPr lang="en-US" altLang="zh-CN" dirty="0"/>
              <a:t>m,</a:t>
            </a:r>
            <a:r>
              <a:rPr lang="zh-CN" altLang="en-US" dirty="0"/>
              <a:t> 使得</a:t>
            </a:r>
          </a:p>
          <a:p>
            <a:pPr lvl="1">
              <a:lnSpc>
                <a:spcPct val="120000"/>
              </a:lnSpc>
              <a:buNone/>
            </a:pPr>
            <a:r>
              <a:rPr lang="zh-CN" altLang="en-US" dirty="0"/>
              <a:t>            </a:t>
            </a:r>
            <a:r>
              <a:rPr lang="en-US" altLang="zh-CN" dirty="0"/>
              <a:t>m=c</a:t>
            </a:r>
            <a:r>
              <a:rPr lang="en-US" altLang="zh-CN" baseline="30000" dirty="0"/>
              <a:t>d</a:t>
            </a:r>
            <a:r>
              <a:rPr lang="en-US" altLang="zh-CN" dirty="0"/>
              <a:t> mod n</a:t>
            </a:r>
          </a:p>
          <a:p>
            <a:pPr lvl="1">
              <a:lnSpc>
                <a:spcPct val="120000"/>
              </a:lnSpc>
            </a:pPr>
            <a:r>
              <a:rPr lang="zh-CN" altLang="en-US" dirty="0"/>
              <a:t>他首先选择随机数</a:t>
            </a:r>
            <a:r>
              <a:rPr lang="en-US" altLang="zh-CN" dirty="0"/>
              <a:t>r</a:t>
            </a:r>
            <a:r>
              <a:rPr lang="zh-CN" altLang="en-US" dirty="0"/>
              <a:t>，使</a:t>
            </a:r>
            <a:r>
              <a:rPr lang="en-US" altLang="zh-CN" dirty="0"/>
              <a:t>r&lt;n</a:t>
            </a:r>
            <a:r>
              <a:rPr lang="zh-CN" altLang="en-US" dirty="0"/>
              <a:t>。</a:t>
            </a:r>
            <a:r>
              <a:rPr lang="en-US" altLang="zh-CN" dirty="0"/>
              <a:t> </a:t>
            </a:r>
            <a:r>
              <a:rPr lang="zh-CN" altLang="en-US" dirty="0"/>
              <a:t>然后用</a:t>
            </a:r>
            <a:r>
              <a:rPr lang="en-US" altLang="zh-CN" dirty="0"/>
              <a:t>A</a:t>
            </a:r>
            <a:r>
              <a:rPr lang="zh-CN" altLang="en-US" dirty="0"/>
              <a:t>的公开密钥</a:t>
            </a:r>
            <a:r>
              <a:rPr lang="en-US" altLang="zh-CN" dirty="0"/>
              <a:t>e</a:t>
            </a:r>
            <a:r>
              <a:rPr lang="zh-CN" altLang="en-US" dirty="0"/>
              <a:t>计算</a:t>
            </a:r>
          </a:p>
          <a:p>
            <a:pPr lvl="1">
              <a:lnSpc>
                <a:spcPct val="120000"/>
              </a:lnSpc>
              <a:buNone/>
            </a:pPr>
            <a:r>
              <a:rPr lang="zh-CN" altLang="en-US" dirty="0"/>
              <a:t>           </a:t>
            </a:r>
            <a:r>
              <a:rPr lang="en-US" altLang="zh-CN" dirty="0"/>
              <a:t>x=r</a:t>
            </a:r>
            <a:r>
              <a:rPr lang="en-US" altLang="zh-CN" baseline="30000" dirty="0"/>
              <a:t>e</a:t>
            </a:r>
            <a:r>
              <a:rPr lang="en-US" altLang="zh-CN" dirty="0"/>
              <a:t> mod n</a:t>
            </a:r>
          </a:p>
          <a:p>
            <a:pPr lvl="1">
              <a:lnSpc>
                <a:spcPct val="120000"/>
              </a:lnSpc>
              <a:buNone/>
            </a:pPr>
            <a:r>
              <a:rPr lang="en-US" altLang="zh-CN" dirty="0">
                <a:solidFill>
                  <a:srgbClr val="FF0000"/>
                </a:solidFill>
              </a:rPr>
              <a:t>           y=x c mod n</a:t>
            </a:r>
          </a:p>
          <a:p>
            <a:pPr lvl="1">
              <a:lnSpc>
                <a:spcPct val="120000"/>
              </a:lnSpc>
              <a:buNone/>
            </a:pPr>
            <a:r>
              <a:rPr lang="en-US" altLang="zh-CN" dirty="0"/>
              <a:t>           t=r </a:t>
            </a:r>
            <a:r>
              <a:rPr lang="en-US" altLang="zh-CN" baseline="30000" dirty="0"/>
              <a:t>-1 </a:t>
            </a:r>
            <a:r>
              <a:rPr lang="en-US" altLang="zh-CN" dirty="0"/>
              <a:t>mod n</a:t>
            </a:r>
          </a:p>
          <a:p>
            <a:pPr lvl="1">
              <a:lnSpc>
                <a:spcPct val="120000"/>
              </a:lnSpc>
            </a:pPr>
            <a:r>
              <a:rPr lang="zh-CN" altLang="en-US" dirty="0"/>
              <a:t>如果</a:t>
            </a:r>
            <a:r>
              <a:rPr lang="en-US" altLang="zh-CN" dirty="0"/>
              <a:t>x=r</a:t>
            </a:r>
            <a:r>
              <a:rPr lang="en-US" altLang="zh-CN" baseline="30000" dirty="0"/>
              <a:t>e</a:t>
            </a:r>
            <a:r>
              <a:rPr lang="en-US" altLang="zh-CN" dirty="0"/>
              <a:t> mod n</a:t>
            </a:r>
            <a:r>
              <a:rPr lang="zh-CN" altLang="en-US" dirty="0"/>
              <a:t>，则</a:t>
            </a:r>
          </a:p>
          <a:p>
            <a:pPr lvl="1">
              <a:lnSpc>
                <a:spcPct val="120000"/>
              </a:lnSpc>
              <a:buNone/>
            </a:pPr>
            <a:r>
              <a:rPr lang="zh-CN" altLang="en-US" dirty="0"/>
              <a:t>           </a:t>
            </a:r>
            <a:r>
              <a:rPr lang="en-US" altLang="zh-CN" dirty="0"/>
              <a:t>r=</a:t>
            </a:r>
            <a:r>
              <a:rPr lang="en-US" altLang="zh-CN" dirty="0" err="1"/>
              <a:t>x</a:t>
            </a:r>
            <a:r>
              <a:rPr lang="en-US" altLang="zh-CN" baseline="30000" dirty="0" err="1"/>
              <a:t>d</a:t>
            </a:r>
            <a:r>
              <a:rPr lang="en-US" altLang="zh-CN" dirty="0"/>
              <a:t> mod n</a:t>
            </a:r>
          </a:p>
          <a:p>
            <a:pPr>
              <a:lnSpc>
                <a:spcPct val="9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42</a:t>
            </a:fld>
            <a:endParaRPr kumimoji="1" lang="zh-CN" altLang="en-US" dirty="0"/>
          </a:p>
        </p:txBody>
      </p:sp>
      <p:sp>
        <p:nvSpPr>
          <p:cNvPr id="5" name="Text Box 4"/>
          <p:cNvSpPr txBox="1">
            <a:spLocks noChangeArrowheads="1"/>
          </p:cNvSpPr>
          <p:nvPr/>
        </p:nvSpPr>
        <p:spPr bwMode="auto">
          <a:xfrm>
            <a:off x="6796006" y="1767443"/>
            <a:ext cx="4419600" cy="356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spcBef>
                <a:spcPct val="50000"/>
              </a:spcBef>
            </a:pPr>
            <a:r>
              <a:rPr kumimoji="1" lang="zh-CN" altLang="en-US" sz="2400" dirty="0">
                <a:solidFill>
                  <a:srgbClr val="000066"/>
                </a:solidFill>
                <a:latin typeface="Times New Roman" panose="02020603050405020304" pitchFamily="18" charset="0"/>
              </a:rPr>
              <a:t>现在</a:t>
            </a:r>
            <a:r>
              <a:rPr kumimoji="1" lang="en-US" altLang="zh-CN" sz="2400" dirty="0">
                <a:solidFill>
                  <a:srgbClr val="000066"/>
                </a:solidFill>
                <a:latin typeface="Times New Roman" panose="02020603050405020304" pitchFamily="18" charset="0"/>
              </a:rPr>
              <a:t>E</a:t>
            </a:r>
            <a:r>
              <a:rPr kumimoji="1" lang="zh-CN" altLang="en-US" sz="2400" dirty="0">
                <a:solidFill>
                  <a:srgbClr val="000066"/>
                </a:solidFill>
                <a:latin typeface="Times New Roman" panose="02020603050405020304" pitchFamily="18" charset="0"/>
              </a:rPr>
              <a:t>让</a:t>
            </a:r>
            <a:r>
              <a:rPr kumimoji="1" lang="en-US" altLang="zh-CN" sz="2400" dirty="0">
                <a:solidFill>
                  <a:srgbClr val="000066"/>
                </a:solidFill>
                <a:latin typeface="Times New Roman" panose="02020603050405020304" pitchFamily="18" charset="0"/>
              </a:rPr>
              <a:t>A</a:t>
            </a:r>
            <a:r>
              <a:rPr kumimoji="1" lang="zh-CN" altLang="en-US" sz="2400" dirty="0">
                <a:solidFill>
                  <a:srgbClr val="000066"/>
                </a:solidFill>
                <a:latin typeface="Times New Roman" panose="02020603050405020304" pitchFamily="18" charset="0"/>
              </a:rPr>
              <a:t>对</a:t>
            </a:r>
            <a:r>
              <a:rPr kumimoji="1" lang="en-US" altLang="zh-CN" sz="2400" dirty="0">
                <a:solidFill>
                  <a:srgbClr val="000066"/>
                </a:solidFill>
                <a:latin typeface="Times New Roman" panose="02020603050405020304" pitchFamily="18" charset="0"/>
              </a:rPr>
              <a:t>y</a:t>
            </a:r>
            <a:r>
              <a:rPr kumimoji="1" lang="zh-CN" altLang="en-US" sz="2400" dirty="0">
                <a:solidFill>
                  <a:srgbClr val="000066"/>
                </a:solidFill>
                <a:latin typeface="Times New Roman" panose="02020603050405020304" pitchFamily="18" charset="0"/>
              </a:rPr>
              <a:t>签名，即解密</a:t>
            </a:r>
            <a:r>
              <a:rPr kumimoji="1" lang="en-US" altLang="zh-CN" sz="2400" dirty="0">
                <a:solidFill>
                  <a:srgbClr val="000066"/>
                </a:solidFill>
                <a:latin typeface="Times New Roman" panose="02020603050405020304" pitchFamily="18" charset="0"/>
              </a:rPr>
              <a:t>y, A</a:t>
            </a:r>
            <a:r>
              <a:rPr kumimoji="1" lang="zh-CN" altLang="en-US" sz="2400" dirty="0">
                <a:solidFill>
                  <a:srgbClr val="000066"/>
                </a:solidFill>
                <a:latin typeface="Times New Roman" panose="02020603050405020304" pitchFamily="18" charset="0"/>
              </a:rPr>
              <a:t>向</a:t>
            </a:r>
            <a:r>
              <a:rPr kumimoji="1" lang="en-US" altLang="zh-CN" sz="2400" dirty="0">
                <a:solidFill>
                  <a:srgbClr val="000066"/>
                </a:solidFill>
                <a:latin typeface="Times New Roman" panose="02020603050405020304" pitchFamily="18" charset="0"/>
              </a:rPr>
              <a:t>E</a:t>
            </a:r>
            <a:r>
              <a:rPr kumimoji="1" lang="zh-CN" altLang="en-US" sz="2400" dirty="0">
                <a:solidFill>
                  <a:srgbClr val="000066"/>
                </a:solidFill>
                <a:latin typeface="Times New Roman" panose="02020603050405020304" pitchFamily="18" charset="0"/>
              </a:rPr>
              <a:t>发送</a:t>
            </a:r>
            <a:r>
              <a:rPr kumimoji="1" lang="en-US" altLang="zh-CN" sz="2400" dirty="0">
                <a:solidFill>
                  <a:srgbClr val="000066"/>
                </a:solidFill>
                <a:latin typeface="Times New Roman" panose="02020603050405020304" pitchFamily="18" charset="0"/>
              </a:rPr>
              <a:t>u=</a:t>
            </a:r>
            <a:r>
              <a:rPr kumimoji="1" lang="en-US" altLang="zh-CN" sz="2400" dirty="0" err="1">
                <a:solidFill>
                  <a:srgbClr val="000066"/>
                </a:solidFill>
                <a:latin typeface="Times New Roman" panose="02020603050405020304" pitchFamily="18" charset="0"/>
              </a:rPr>
              <a:t>y</a:t>
            </a:r>
            <a:r>
              <a:rPr kumimoji="1" lang="en-US" altLang="zh-CN" sz="2400" baseline="30000" dirty="0" err="1">
                <a:solidFill>
                  <a:srgbClr val="000066"/>
                </a:solidFill>
                <a:latin typeface="Times New Roman" panose="02020603050405020304" pitchFamily="18" charset="0"/>
              </a:rPr>
              <a:t>d</a:t>
            </a:r>
            <a:r>
              <a:rPr kumimoji="1" lang="en-US" altLang="zh-CN" sz="2400" dirty="0">
                <a:solidFill>
                  <a:srgbClr val="000066"/>
                </a:solidFill>
                <a:latin typeface="Times New Roman" panose="02020603050405020304" pitchFamily="18" charset="0"/>
              </a:rPr>
              <a:t> mod n</a:t>
            </a:r>
          </a:p>
          <a:p>
            <a:pPr algn="l" eaLnBrk="1" hangingPunct="1">
              <a:spcBef>
                <a:spcPct val="50000"/>
              </a:spcBef>
            </a:pPr>
            <a:r>
              <a:rPr kumimoji="1" lang="zh-CN" altLang="en-US" sz="2400" dirty="0">
                <a:solidFill>
                  <a:srgbClr val="000066"/>
                </a:solidFill>
                <a:latin typeface="Times New Roman" panose="02020603050405020304" pitchFamily="18" charset="0"/>
              </a:rPr>
              <a:t>而</a:t>
            </a:r>
            <a:r>
              <a:rPr kumimoji="1" lang="en-US" altLang="zh-CN" sz="2400" dirty="0">
                <a:solidFill>
                  <a:srgbClr val="000066"/>
                </a:solidFill>
                <a:latin typeface="Times New Roman" panose="02020603050405020304" pitchFamily="18" charset="0"/>
              </a:rPr>
              <a:t>E</a:t>
            </a:r>
            <a:r>
              <a:rPr kumimoji="1" lang="zh-CN" altLang="en-US" sz="2400" dirty="0">
                <a:solidFill>
                  <a:srgbClr val="000066"/>
                </a:solidFill>
                <a:latin typeface="Times New Roman" panose="02020603050405020304" pitchFamily="18" charset="0"/>
              </a:rPr>
              <a:t>计算</a:t>
            </a:r>
          </a:p>
          <a:p>
            <a:pPr algn="l" eaLnBrk="1" hangingPunct="1">
              <a:spcBef>
                <a:spcPct val="50000"/>
              </a:spcBef>
            </a:pPr>
            <a:r>
              <a:rPr kumimoji="1" lang="zh-CN" altLang="en-US" sz="2400" dirty="0">
                <a:solidFill>
                  <a:srgbClr val="000066"/>
                </a:solidFill>
                <a:latin typeface="Times New Roman" panose="02020603050405020304" pitchFamily="18" charset="0"/>
              </a:rPr>
              <a:t> </a:t>
            </a:r>
            <a:r>
              <a:rPr kumimoji="1" lang="en-US" altLang="zh-CN" sz="2400" dirty="0" err="1">
                <a:solidFill>
                  <a:srgbClr val="000066"/>
                </a:solidFill>
                <a:latin typeface="Times New Roman" panose="02020603050405020304" pitchFamily="18" charset="0"/>
              </a:rPr>
              <a:t>tu</a:t>
            </a:r>
            <a:r>
              <a:rPr kumimoji="1" lang="en-US" altLang="zh-CN" sz="2400" dirty="0">
                <a:solidFill>
                  <a:srgbClr val="000066"/>
                </a:solidFill>
                <a:latin typeface="Times New Roman" panose="02020603050405020304" pitchFamily="18" charset="0"/>
              </a:rPr>
              <a:t> mod n=r</a:t>
            </a:r>
            <a:r>
              <a:rPr kumimoji="1" lang="en-US" altLang="zh-CN" sz="2400" baseline="30000" dirty="0">
                <a:solidFill>
                  <a:srgbClr val="000066"/>
                </a:solidFill>
                <a:latin typeface="Times New Roman" panose="02020603050405020304" pitchFamily="18" charset="0"/>
              </a:rPr>
              <a:t>-1</a:t>
            </a:r>
            <a:r>
              <a:rPr kumimoji="1" lang="en-US" altLang="zh-CN" sz="2400" dirty="0">
                <a:solidFill>
                  <a:srgbClr val="000066"/>
                </a:solidFill>
                <a:latin typeface="Times New Roman" panose="02020603050405020304" pitchFamily="18" charset="0"/>
              </a:rPr>
              <a:t>y</a:t>
            </a:r>
            <a:r>
              <a:rPr kumimoji="1" lang="en-US" altLang="zh-CN" sz="2400" baseline="30000" dirty="0">
                <a:solidFill>
                  <a:srgbClr val="000066"/>
                </a:solidFill>
                <a:latin typeface="Times New Roman" panose="02020603050405020304" pitchFamily="18" charset="0"/>
              </a:rPr>
              <a:t>d </a:t>
            </a:r>
            <a:r>
              <a:rPr kumimoji="1" lang="en-US" altLang="zh-CN" sz="2400" dirty="0">
                <a:solidFill>
                  <a:srgbClr val="000066"/>
                </a:solidFill>
                <a:latin typeface="Times New Roman" panose="02020603050405020304" pitchFamily="18" charset="0"/>
              </a:rPr>
              <a:t>mod n</a:t>
            </a:r>
          </a:p>
          <a:p>
            <a:pPr algn="l" eaLnBrk="1" hangingPunct="1">
              <a:spcBef>
                <a:spcPct val="50000"/>
              </a:spcBef>
            </a:pPr>
            <a:r>
              <a:rPr kumimoji="1" lang="en-US" altLang="zh-CN" sz="2400" dirty="0">
                <a:solidFill>
                  <a:srgbClr val="000066"/>
                </a:solidFill>
                <a:latin typeface="Times New Roman" panose="02020603050405020304" pitchFamily="18" charset="0"/>
              </a:rPr>
              <a:t>=r</a:t>
            </a:r>
            <a:r>
              <a:rPr kumimoji="1" lang="en-US" altLang="zh-CN" sz="2400" baseline="30000" dirty="0">
                <a:solidFill>
                  <a:srgbClr val="000066"/>
                </a:solidFill>
                <a:latin typeface="Times New Roman" panose="02020603050405020304" pitchFamily="18" charset="0"/>
              </a:rPr>
              <a:t>-1</a:t>
            </a:r>
            <a:r>
              <a:rPr kumimoji="1" lang="en-US" altLang="zh-CN" sz="2400" dirty="0">
                <a:solidFill>
                  <a:srgbClr val="000066"/>
                </a:solidFill>
                <a:latin typeface="Times New Roman" panose="02020603050405020304" pitchFamily="18" charset="0"/>
              </a:rPr>
              <a:t>x</a:t>
            </a:r>
            <a:r>
              <a:rPr kumimoji="1" lang="en-US" altLang="zh-CN" sz="2400" baseline="30000" dirty="0">
                <a:solidFill>
                  <a:srgbClr val="000066"/>
                </a:solidFill>
                <a:latin typeface="Times New Roman" panose="02020603050405020304" pitchFamily="18" charset="0"/>
              </a:rPr>
              <a:t>d</a:t>
            </a:r>
            <a:r>
              <a:rPr kumimoji="1" lang="en-US" altLang="zh-CN" sz="2400" dirty="0">
                <a:solidFill>
                  <a:srgbClr val="000066"/>
                </a:solidFill>
                <a:latin typeface="Times New Roman" panose="02020603050405020304" pitchFamily="18" charset="0"/>
              </a:rPr>
              <a:t>c</a:t>
            </a:r>
            <a:r>
              <a:rPr kumimoji="1" lang="en-US" altLang="zh-CN" sz="2400" baseline="30000" dirty="0">
                <a:solidFill>
                  <a:srgbClr val="000066"/>
                </a:solidFill>
                <a:latin typeface="Times New Roman" panose="02020603050405020304" pitchFamily="18" charset="0"/>
              </a:rPr>
              <a:t>d </a:t>
            </a:r>
            <a:r>
              <a:rPr kumimoji="1" lang="en-US" altLang="zh-CN" sz="2400" dirty="0">
                <a:solidFill>
                  <a:srgbClr val="000066"/>
                </a:solidFill>
                <a:latin typeface="Times New Roman" panose="02020603050405020304" pitchFamily="18" charset="0"/>
              </a:rPr>
              <a:t>mod n</a:t>
            </a:r>
          </a:p>
          <a:p>
            <a:pPr algn="l" eaLnBrk="1" hangingPunct="1">
              <a:spcBef>
                <a:spcPct val="50000"/>
              </a:spcBef>
            </a:pPr>
            <a:r>
              <a:rPr kumimoji="1" lang="en-US" altLang="zh-CN" sz="2400" dirty="0">
                <a:solidFill>
                  <a:srgbClr val="000066"/>
                </a:solidFill>
                <a:latin typeface="Times New Roman" panose="02020603050405020304" pitchFamily="18" charset="0"/>
              </a:rPr>
              <a:t>=c</a:t>
            </a:r>
            <a:r>
              <a:rPr kumimoji="1" lang="en-US" altLang="zh-CN" sz="2400" baseline="30000" dirty="0">
                <a:solidFill>
                  <a:srgbClr val="000066"/>
                </a:solidFill>
                <a:latin typeface="Times New Roman" panose="02020603050405020304" pitchFamily="18" charset="0"/>
              </a:rPr>
              <a:t>d </a:t>
            </a:r>
            <a:r>
              <a:rPr kumimoji="1" lang="en-US" altLang="zh-CN" sz="2400" dirty="0">
                <a:solidFill>
                  <a:srgbClr val="000066"/>
                </a:solidFill>
                <a:latin typeface="Times New Roman" panose="02020603050405020304" pitchFamily="18" charset="0"/>
              </a:rPr>
              <a:t>mod n</a:t>
            </a:r>
          </a:p>
          <a:p>
            <a:pPr algn="l" eaLnBrk="1" hangingPunct="1">
              <a:spcBef>
                <a:spcPct val="50000"/>
              </a:spcBef>
            </a:pPr>
            <a:r>
              <a:rPr kumimoji="1" lang="en-US" altLang="zh-CN" sz="2400" dirty="0">
                <a:solidFill>
                  <a:srgbClr val="000066"/>
                </a:solidFill>
                <a:latin typeface="Times New Roman" panose="02020603050405020304" pitchFamily="18" charset="0"/>
              </a:rPr>
              <a:t>=m</a:t>
            </a:r>
          </a:p>
        </p:txBody>
      </p:sp>
    </p:spTree>
    <p:extLst>
      <p:ext uri="{BB962C8B-B14F-4D97-AF65-F5344CB8AC3E}">
        <p14:creationId xmlns:p14="http://schemas.microsoft.com/office/powerpoint/2010/main" val="19204909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FFC7FF-087F-FE37-9FEF-AA82F16FD5CA}"/>
              </a:ext>
            </a:extLst>
          </p:cNvPr>
          <p:cNvSpPr>
            <a:spLocks noGrp="1"/>
          </p:cNvSpPr>
          <p:nvPr>
            <p:ph type="title"/>
          </p:nvPr>
        </p:nvSpPr>
        <p:spPr/>
        <p:txBody>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3" name="内容占位符 2">
            <a:extLst>
              <a:ext uri="{FF2B5EF4-FFF2-40B4-BE49-F238E27FC236}">
                <a16:creationId xmlns:a16="http://schemas.microsoft.com/office/drawing/2014/main" id="{5A054490-4211-DAD3-8F10-82BDBE242070}"/>
              </a:ext>
            </a:extLst>
          </p:cNvPr>
          <p:cNvSpPr>
            <a:spLocks noGrp="1"/>
          </p:cNvSpPr>
          <p:nvPr>
            <p:ph idx="1"/>
          </p:nvPr>
        </p:nvSpPr>
        <p:spPr/>
        <p:txBody>
          <a:bodyPr/>
          <a:lstStyle/>
          <a:p>
            <a:r>
              <a:rPr lang="zh-CN" altLang="en-US" dirty="0"/>
              <a:t>案例：模数</a:t>
            </a:r>
            <a:r>
              <a:rPr lang="en-US" altLang="zh-CN" dirty="0"/>
              <a:t>n = 35</a:t>
            </a:r>
            <a:r>
              <a:rPr lang="zh-CN" altLang="en-US" dirty="0"/>
              <a:t>，公钥</a:t>
            </a:r>
            <a:r>
              <a:rPr lang="en-US" altLang="zh-CN" dirty="0"/>
              <a:t>e = 5</a:t>
            </a:r>
            <a:r>
              <a:rPr lang="zh-CN" altLang="en-US" dirty="0"/>
              <a:t>，私钥</a:t>
            </a:r>
            <a:r>
              <a:rPr lang="en-US" altLang="zh-CN" dirty="0"/>
              <a:t>d = 5</a:t>
            </a:r>
            <a:r>
              <a:rPr lang="zh-CN" altLang="en-US" dirty="0"/>
              <a:t>，</a:t>
            </a:r>
            <a:r>
              <a:rPr lang="en-US" altLang="zh-CN" dirty="0"/>
              <a:t>B</a:t>
            </a:r>
            <a:r>
              <a:rPr lang="zh-CN" altLang="en-US" dirty="0"/>
              <a:t>给</a:t>
            </a:r>
            <a:r>
              <a:rPr lang="en-US" altLang="zh-CN" dirty="0"/>
              <a:t>A</a:t>
            </a:r>
            <a:r>
              <a:rPr lang="zh-CN" altLang="en-US" dirty="0"/>
              <a:t>发送加密信息，希望破译这个信息。</a:t>
            </a:r>
            <a:endParaRPr lang="en-US" altLang="zh-CN" dirty="0"/>
          </a:p>
          <a:p>
            <a:pPr lvl="1"/>
            <a:r>
              <a:rPr lang="en-US" altLang="zh-CN" dirty="0"/>
              <a:t>B</a:t>
            </a:r>
            <a:r>
              <a:rPr lang="zh-CN" altLang="en-US" dirty="0"/>
              <a:t>发送</a:t>
            </a:r>
            <a:r>
              <a:rPr lang="en-US" altLang="zh-CN" dirty="0">
                <a:solidFill>
                  <a:srgbClr val="FF0000"/>
                </a:solidFill>
              </a:rPr>
              <a:t>m = 23</a:t>
            </a:r>
            <a:r>
              <a:rPr lang="zh-CN" altLang="en-US" dirty="0"/>
              <a:t>，加密用</a:t>
            </a:r>
            <a:r>
              <a:rPr lang="en-US" altLang="zh-CN" dirty="0"/>
              <a:t>A</a:t>
            </a:r>
            <a:r>
              <a:rPr lang="zh-CN" altLang="en-US" dirty="0"/>
              <a:t>的公钥，</a:t>
            </a:r>
            <a:r>
              <a:rPr lang="en-US" altLang="zh-CN" dirty="0"/>
              <a:t>c = 23</a:t>
            </a:r>
            <a:r>
              <a:rPr lang="en-US" altLang="zh-CN" baseline="30000" dirty="0"/>
              <a:t>5</a:t>
            </a:r>
            <a:r>
              <a:rPr lang="en-US" altLang="zh-CN" dirty="0"/>
              <a:t> mod 35 = 18 mod 35 </a:t>
            </a:r>
          </a:p>
          <a:p>
            <a:pPr lvl="1"/>
            <a:r>
              <a:rPr lang="zh-CN" altLang="en-US" dirty="0"/>
              <a:t>黑客截获了别人发给 </a:t>
            </a:r>
            <a:r>
              <a:rPr lang="en-US" altLang="zh-CN" dirty="0"/>
              <a:t>A </a:t>
            </a:r>
            <a:r>
              <a:rPr lang="zh-CN" altLang="en-US" dirty="0"/>
              <a:t>的密文</a:t>
            </a:r>
            <a:r>
              <a:rPr lang="en-US" altLang="zh-CN" dirty="0"/>
              <a:t>c = 18</a:t>
            </a:r>
          </a:p>
          <a:p>
            <a:pPr lvl="1"/>
            <a:r>
              <a:rPr lang="zh-CN" altLang="en-US" dirty="0"/>
              <a:t>选择随机数</a:t>
            </a:r>
            <a:r>
              <a:rPr lang="en-US" altLang="zh-CN" dirty="0"/>
              <a:t>r = 2</a:t>
            </a:r>
            <a:r>
              <a:rPr lang="zh-CN" altLang="en-US" dirty="0"/>
              <a:t>，利用公钥</a:t>
            </a:r>
            <a:r>
              <a:rPr lang="en-US" altLang="zh-CN" dirty="0"/>
              <a:t>e = 5</a:t>
            </a:r>
            <a:r>
              <a:rPr lang="zh-CN" altLang="en-US" dirty="0"/>
              <a:t>加密得到：</a:t>
            </a:r>
            <a:r>
              <a:rPr lang="en-US" altLang="zh-CN" dirty="0"/>
              <a:t>x = 32 mod 35</a:t>
            </a:r>
          </a:p>
          <a:p>
            <a:pPr lvl="1"/>
            <a:r>
              <a:rPr lang="en-US" altLang="zh-CN" dirty="0"/>
              <a:t>t = r </a:t>
            </a:r>
            <a:r>
              <a:rPr lang="en-US" altLang="zh-CN" baseline="30000" dirty="0"/>
              <a:t>-1</a:t>
            </a:r>
            <a:r>
              <a:rPr lang="en-US" altLang="zh-CN" dirty="0"/>
              <a:t> = 18 mod 35</a:t>
            </a:r>
          </a:p>
          <a:p>
            <a:pPr lvl="1"/>
            <a:r>
              <a:rPr lang="en-US" altLang="zh-CN" dirty="0"/>
              <a:t>y = xc mod 35 = 16 mod 35 </a:t>
            </a:r>
          </a:p>
          <a:p>
            <a:pPr lvl="1"/>
            <a:r>
              <a:rPr lang="en-US" altLang="zh-CN" dirty="0"/>
              <a:t>A</a:t>
            </a:r>
            <a:r>
              <a:rPr lang="zh-CN" altLang="en-US" dirty="0"/>
              <a:t>给出相应的签名：</a:t>
            </a:r>
            <a:r>
              <a:rPr lang="en-US" altLang="zh-CN" dirty="0"/>
              <a:t>u = 16</a:t>
            </a:r>
            <a:r>
              <a:rPr lang="en-US" altLang="zh-CN" baseline="30000" dirty="0"/>
              <a:t>5</a:t>
            </a:r>
            <a:r>
              <a:rPr lang="en-US" altLang="zh-CN" dirty="0"/>
              <a:t> mod 35 = 11 mod 35</a:t>
            </a:r>
          </a:p>
          <a:p>
            <a:pPr lvl="1"/>
            <a:r>
              <a:rPr lang="zh-CN" altLang="en-US" dirty="0"/>
              <a:t>继续拿回来处理：</a:t>
            </a:r>
            <a:r>
              <a:rPr lang="en-US" altLang="zh-CN" dirty="0" err="1"/>
              <a:t>tu</a:t>
            </a:r>
            <a:r>
              <a:rPr lang="en-US" altLang="zh-CN" dirty="0"/>
              <a:t> mod 35 = 18 *11 mod 35 = </a:t>
            </a:r>
            <a:r>
              <a:rPr lang="en-US" altLang="zh-CN" dirty="0">
                <a:solidFill>
                  <a:srgbClr val="FF0000"/>
                </a:solidFill>
              </a:rPr>
              <a:t>23</a:t>
            </a:r>
            <a:r>
              <a:rPr lang="en-US" altLang="zh-CN" dirty="0"/>
              <a:t> mod 35</a:t>
            </a:r>
          </a:p>
        </p:txBody>
      </p:sp>
      <p:sp>
        <p:nvSpPr>
          <p:cNvPr id="4" name="灯片编号占位符 3">
            <a:extLst>
              <a:ext uri="{FF2B5EF4-FFF2-40B4-BE49-F238E27FC236}">
                <a16:creationId xmlns:a16="http://schemas.microsoft.com/office/drawing/2014/main" id="{846CC80D-EDE9-8208-AAAA-FF13178BC1F0}"/>
              </a:ext>
            </a:extLst>
          </p:cNvPr>
          <p:cNvSpPr>
            <a:spLocks noGrp="1"/>
          </p:cNvSpPr>
          <p:nvPr>
            <p:ph type="sldNum" sz="quarter" idx="12"/>
          </p:nvPr>
        </p:nvSpPr>
        <p:spPr/>
        <p:txBody>
          <a:bodyPr/>
          <a:lstStyle/>
          <a:p>
            <a:fld id="{8D4D1E41-7A09-AB4A-A4E1-09765ADA2698}" type="slidenum">
              <a:rPr kumimoji="1" lang="zh-CN" altLang="en-US" smtClean="0"/>
              <a:pPr/>
              <a:t>43</a:t>
            </a:fld>
            <a:endParaRPr kumimoji="1" lang="zh-CN" altLang="en-US" dirty="0"/>
          </a:p>
        </p:txBody>
      </p:sp>
    </p:spTree>
    <p:extLst>
      <p:ext uri="{BB962C8B-B14F-4D97-AF65-F5344CB8AC3E}">
        <p14:creationId xmlns:p14="http://schemas.microsoft.com/office/powerpoint/2010/main" val="6294075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3" name="内容占位符 2"/>
          <p:cNvSpPr>
            <a:spLocks noGrp="1"/>
          </p:cNvSpPr>
          <p:nvPr>
            <p:ph idx="1"/>
          </p:nvPr>
        </p:nvSpPr>
        <p:spPr>
          <a:xfrm>
            <a:off x="838199" y="1365663"/>
            <a:ext cx="10431483" cy="4904508"/>
          </a:xfrm>
        </p:spPr>
        <p:txBody>
          <a:bodyPr>
            <a:normAutofit/>
          </a:bodyPr>
          <a:lstStyle/>
          <a:p>
            <a:pPr>
              <a:lnSpc>
                <a:spcPct val="150000"/>
              </a:lnSpc>
            </a:pPr>
            <a:r>
              <a:rPr lang="zh-CN" altLang="en-US" dirty="0"/>
              <a:t>对</a:t>
            </a:r>
            <a:r>
              <a:rPr lang="en-US" altLang="zh-CN" dirty="0"/>
              <a:t>RSA</a:t>
            </a:r>
            <a:r>
              <a:rPr lang="zh-CN" altLang="en-US" dirty="0"/>
              <a:t>的选择密文攻击（原理）</a:t>
            </a:r>
            <a:endParaRPr lang="en-US" altLang="zh-CN" dirty="0"/>
          </a:p>
          <a:p>
            <a:pPr lvl="1">
              <a:lnSpc>
                <a:spcPct val="150000"/>
              </a:lnSpc>
            </a:pPr>
            <a:r>
              <a:rPr lang="zh-CN" altLang="en-US" dirty="0"/>
              <a:t>例</a:t>
            </a:r>
            <a:r>
              <a:rPr lang="en-US" altLang="zh-CN" dirty="0"/>
              <a:t>2</a:t>
            </a:r>
            <a:r>
              <a:rPr lang="zh-CN" altLang="en-US" dirty="0"/>
              <a:t>： </a:t>
            </a:r>
            <a:r>
              <a:rPr lang="en-US" altLang="zh-CN" dirty="0"/>
              <a:t>E </a:t>
            </a:r>
            <a:r>
              <a:rPr lang="zh-CN" altLang="en-US" dirty="0"/>
              <a:t>让</a:t>
            </a:r>
            <a:r>
              <a:rPr lang="en-US" altLang="zh-CN" dirty="0"/>
              <a:t>A</a:t>
            </a:r>
            <a:r>
              <a:rPr lang="zh-CN" altLang="en-US" dirty="0"/>
              <a:t>对</a:t>
            </a:r>
            <a:r>
              <a:rPr lang="en-US" altLang="zh-CN" dirty="0"/>
              <a:t>m</a:t>
            </a:r>
            <a:r>
              <a:rPr lang="en-US" altLang="zh-CN" baseline="-25000" dirty="0"/>
              <a:t>3</a:t>
            </a:r>
            <a:r>
              <a:rPr lang="zh-CN" altLang="en-US" dirty="0"/>
              <a:t>签名。他产生两个消息</a:t>
            </a:r>
            <a:r>
              <a:rPr lang="en-US" altLang="zh-CN" dirty="0"/>
              <a:t>m</a:t>
            </a:r>
            <a:r>
              <a:rPr lang="en-US" altLang="zh-CN" baseline="-25000" dirty="0"/>
              <a:t>1</a:t>
            </a:r>
            <a:r>
              <a:rPr lang="zh-CN" altLang="en-US" dirty="0"/>
              <a:t>和</a:t>
            </a:r>
            <a:r>
              <a:rPr lang="en-US" altLang="zh-CN" dirty="0"/>
              <a:t>m</a:t>
            </a:r>
            <a:r>
              <a:rPr lang="en-US" altLang="zh-CN" baseline="-25000" dirty="0"/>
              <a:t>2</a:t>
            </a:r>
            <a:r>
              <a:rPr lang="zh-CN" altLang="en-US" dirty="0"/>
              <a:t>，满足</a:t>
            </a:r>
          </a:p>
          <a:p>
            <a:pPr lvl="1">
              <a:lnSpc>
                <a:spcPct val="150000"/>
              </a:lnSpc>
              <a:buNone/>
            </a:pPr>
            <a:r>
              <a:rPr lang="zh-CN" altLang="en-US" dirty="0"/>
              <a:t>                    </a:t>
            </a:r>
            <a:r>
              <a:rPr lang="en-US" altLang="zh-CN" dirty="0"/>
              <a:t>m</a:t>
            </a:r>
            <a:r>
              <a:rPr lang="en-US" altLang="zh-CN" baseline="-25000" dirty="0"/>
              <a:t>3</a:t>
            </a:r>
            <a:r>
              <a:rPr lang="en-US" altLang="zh-CN" dirty="0"/>
              <a:t>=m</a:t>
            </a:r>
            <a:r>
              <a:rPr lang="en-US" altLang="zh-CN" baseline="-25000" dirty="0"/>
              <a:t>1</a:t>
            </a:r>
            <a:r>
              <a:rPr lang="en-US" altLang="zh-CN" dirty="0"/>
              <a:t>m</a:t>
            </a:r>
            <a:r>
              <a:rPr lang="en-US" altLang="zh-CN" baseline="-25000" dirty="0"/>
              <a:t>2</a:t>
            </a:r>
            <a:r>
              <a:rPr lang="en-US" altLang="zh-CN" dirty="0"/>
              <a:t>(mod n)</a:t>
            </a:r>
          </a:p>
          <a:p>
            <a:pPr lvl="1">
              <a:lnSpc>
                <a:spcPct val="150000"/>
              </a:lnSpc>
            </a:pPr>
            <a:r>
              <a:rPr lang="zh-CN" altLang="en-US" dirty="0"/>
              <a:t>如果</a:t>
            </a:r>
            <a:r>
              <a:rPr lang="en-US" altLang="zh-CN" dirty="0"/>
              <a:t>E</a:t>
            </a:r>
            <a:r>
              <a:rPr lang="zh-CN" altLang="en-US" dirty="0"/>
              <a:t>能让</a:t>
            </a:r>
            <a:r>
              <a:rPr lang="en-US" altLang="zh-CN" dirty="0"/>
              <a:t>A</a:t>
            </a:r>
            <a:r>
              <a:rPr lang="zh-CN" altLang="en-US" dirty="0"/>
              <a:t>分别对</a:t>
            </a:r>
            <a:r>
              <a:rPr lang="en-US" altLang="zh-CN" dirty="0"/>
              <a:t>m</a:t>
            </a:r>
            <a:r>
              <a:rPr lang="en-US" altLang="zh-CN" baseline="-25000" dirty="0"/>
              <a:t>1</a:t>
            </a:r>
            <a:r>
              <a:rPr lang="zh-CN" altLang="en-US" dirty="0"/>
              <a:t>和</a:t>
            </a:r>
            <a:r>
              <a:rPr lang="en-US" altLang="zh-CN" dirty="0"/>
              <a:t>m</a:t>
            </a:r>
            <a:r>
              <a:rPr lang="en-US" altLang="zh-CN" baseline="-25000" dirty="0"/>
              <a:t>2</a:t>
            </a:r>
            <a:r>
              <a:rPr lang="zh-CN" altLang="en-US" dirty="0"/>
              <a:t>签名，则可以计算</a:t>
            </a:r>
            <a:r>
              <a:rPr lang="en-US" altLang="zh-CN" dirty="0"/>
              <a:t>m</a:t>
            </a:r>
            <a:r>
              <a:rPr lang="en-US" altLang="zh-CN" baseline="-25000" dirty="0"/>
              <a:t>3</a:t>
            </a:r>
            <a:r>
              <a:rPr lang="zh-CN" altLang="en-US" dirty="0"/>
              <a:t>：</a:t>
            </a:r>
          </a:p>
          <a:p>
            <a:pPr lvl="1">
              <a:lnSpc>
                <a:spcPct val="150000"/>
              </a:lnSpc>
              <a:buNone/>
            </a:pPr>
            <a:r>
              <a:rPr lang="zh-CN" altLang="en-US" dirty="0"/>
              <a:t>                 </a:t>
            </a:r>
            <a:r>
              <a:rPr lang="en-US" altLang="zh-CN" dirty="0"/>
              <a:t>m</a:t>
            </a:r>
            <a:r>
              <a:rPr lang="en-US" altLang="zh-CN" baseline="-25000" dirty="0"/>
              <a:t>3</a:t>
            </a:r>
            <a:r>
              <a:rPr lang="en-US" altLang="zh-CN" baseline="30000" dirty="0"/>
              <a:t>d</a:t>
            </a:r>
            <a:r>
              <a:rPr lang="en-US" altLang="zh-CN" dirty="0"/>
              <a:t>=(m</a:t>
            </a:r>
            <a:r>
              <a:rPr lang="en-US" altLang="zh-CN" baseline="-25000" dirty="0"/>
              <a:t>1</a:t>
            </a:r>
            <a:r>
              <a:rPr lang="en-US" altLang="zh-CN" baseline="30000" dirty="0"/>
              <a:t>d</a:t>
            </a:r>
            <a:r>
              <a:rPr lang="en-US" altLang="zh-CN" dirty="0"/>
              <a:t> mod n)( m</a:t>
            </a:r>
            <a:r>
              <a:rPr lang="en-US" altLang="zh-CN" baseline="-25000" dirty="0"/>
              <a:t>2</a:t>
            </a:r>
            <a:r>
              <a:rPr lang="en-US" altLang="zh-CN" baseline="30000" dirty="0"/>
              <a:t>d</a:t>
            </a:r>
            <a:r>
              <a:rPr lang="en-US" altLang="zh-CN" dirty="0"/>
              <a:t> mod n)</a:t>
            </a:r>
          </a:p>
          <a:p>
            <a:pPr>
              <a:lnSpc>
                <a:spcPct val="150000"/>
              </a:lnSpc>
            </a:pPr>
            <a:r>
              <a:rPr kumimoji="1" lang="zh-CN" altLang="en-US" dirty="0">
                <a:solidFill>
                  <a:srgbClr val="FF0000"/>
                </a:solidFill>
                <a:latin typeface="Times New Roman" panose="02020603050405020304" pitchFamily="18" charset="0"/>
              </a:rPr>
              <a:t>注意：不要用</a:t>
            </a:r>
            <a:r>
              <a:rPr kumimoji="1" lang="en-US" altLang="zh-CN" dirty="0">
                <a:solidFill>
                  <a:srgbClr val="FF0000"/>
                </a:solidFill>
                <a:latin typeface="Times New Roman" panose="02020603050405020304" pitchFamily="18" charset="0"/>
              </a:rPr>
              <a:t>RSA</a:t>
            </a:r>
            <a:r>
              <a:rPr kumimoji="1" lang="zh-CN" altLang="en-US" dirty="0">
                <a:solidFill>
                  <a:srgbClr val="FF0000"/>
                </a:solidFill>
                <a:latin typeface="Times New Roman" panose="02020603050405020304" pitchFamily="18" charset="0"/>
              </a:rPr>
              <a:t>对陌生人的随机文件签名，签名前先使用一个散列函数</a:t>
            </a:r>
          </a:p>
          <a:p>
            <a:pPr>
              <a:lnSpc>
                <a:spcPct val="9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44</a:t>
            </a:fld>
            <a:endParaRPr kumimoji="1" lang="zh-CN" altLang="en-US" dirty="0"/>
          </a:p>
        </p:txBody>
      </p:sp>
    </p:spTree>
    <p:extLst>
      <p:ext uri="{BB962C8B-B14F-4D97-AF65-F5344CB8AC3E}">
        <p14:creationId xmlns:p14="http://schemas.microsoft.com/office/powerpoint/2010/main" val="13408098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199" y="1365663"/>
                <a:ext cx="10431483" cy="4904508"/>
              </a:xfrm>
            </p:spPr>
            <p:txBody>
              <a:bodyPr>
                <a:normAutofit fontScale="92500" lnSpcReduction="20000"/>
              </a:bodyPr>
              <a:lstStyle/>
              <a:p>
                <a:pPr>
                  <a:lnSpc>
                    <a:spcPct val="150000"/>
                  </a:lnSpc>
                </a:pPr>
                <a:r>
                  <a:rPr lang="zh-CN" altLang="en-US" dirty="0"/>
                  <a:t>对</a:t>
                </a:r>
                <a:r>
                  <a:rPr lang="en-US" altLang="zh-CN" dirty="0"/>
                  <a:t>RSA</a:t>
                </a:r>
                <a:r>
                  <a:rPr lang="zh-CN" altLang="en-US" dirty="0"/>
                  <a:t>的</a:t>
                </a:r>
                <a:r>
                  <a:rPr lang="zh-CN" altLang="en-US" dirty="0">
                    <a:highlight>
                      <a:srgbClr val="FFFF00"/>
                    </a:highlight>
                  </a:rPr>
                  <a:t>公共模</a:t>
                </a:r>
                <a:r>
                  <a:rPr lang="zh-CN" altLang="en-US" dirty="0"/>
                  <a:t>攻击</a:t>
                </a:r>
                <a:endParaRPr lang="en-US" altLang="zh-CN" dirty="0"/>
              </a:p>
              <a:p>
                <a:pPr lvl="1">
                  <a:lnSpc>
                    <a:spcPct val="130000"/>
                  </a:lnSpc>
                </a:pPr>
                <a:r>
                  <a:rPr lang="zh-CN" altLang="en-US" dirty="0"/>
                  <a:t>一种可能的</a:t>
                </a:r>
                <a:r>
                  <a:rPr lang="en-US" altLang="zh-CN" dirty="0"/>
                  <a:t>RSA</a:t>
                </a:r>
                <a:r>
                  <a:rPr lang="zh-CN" altLang="en-US" dirty="0"/>
                  <a:t>实现方法是</a:t>
                </a:r>
                <a:r>
                  <a:rPr lang="zh-CN" altLang="en-US" dirty="0">
                    <a:solidFill>
                      <a:srgbClr val="FF0000"/>
                    </a:solidFill>
                  </a:rPr>
                  <a:t>给每个人相同的</a:t>
                </a:r>
                <a14:m>
                  <m:oMath xmlns:m="http://schemas.openxmlformats.org/officeDocument/2006/math">
                    <m:r>
                      <a:rPr lang="en-US" altLang="zh-CN" i="1" dirty="0" smtClean="0">
                        <a:solidFill>
                          <a:srgbClr val="FF0000"/>
                        </a:solidFill>
                        <a:latin typeface="Cambria Math" panose="02040503050406030204" pitchFamily="18" charset="0"/>
                      </a:rPr>
                      <m:t>𝑛</m:t>
                    </m:r>
                  </m:oMath>
                </a14:m>
                <a:r>
                  <a:rPr lang="en-US" altLang="zh-CN" dirty="0">
                    <a:solidFill>
                      <a:srgbClr val="FF0000"/>
                    </a:solidFill>
                  </a:rPr>
                  <a:t>,</a:t>
                </a:r>
                <a:r>
                  <a:rPr lang="zh-CN" altLang="en-US" dirty="0">
                    <a:solidFill>
                      <a:srgbClr val="FF0000"/>
                    </a:solidFill>
                  </a:rPr>
                  <a:t>但指数</a:t>
                </a:r>
                <a14:m>
                  <m:oMath xmlns:m="http://schemas.openxmlformats.org/officeDocument/2006/math">
                    <m:r>
                      <a:rPr lang="en-US" altLang="zh-CN" i="1" dirty="0" smtClean="0">
                        <a:solidFill>
                          <a:srgbClr val="FF0000"/>
                        </a:solidFill>
                        <a:latin typeface="Cambria Math" panose="02040503050406030204" pitchFamily="18" charset="0"/>
                      </a:rPr>
                      <m:t>𝑒</m:t>
                    </m:r>
                  </m:oMath>
                </a14:m>
                <a:r>
                  <a:rPr lang="zh-CN" altLang="en-US" dirty="0">
                    <a:solidFill>
                      <a:srgbClr val="FF0000"/>
                    </a:solidFill>
                  </a:rPr>
                  <a:t>和</a:t>
                </a:r>
                <a14:m>
                  <m:oMath xmlns:m="http://schemas.openxmlformats.org/officeDocument/2006/math">
                    <m:r>
                      <a:rPr lang="en-US" altLang="zh-CN" i="1" dirty="0" smtClean="0">
                        <a:solidFill>
                          <a:srgbClr val="FF0000"/>
                        </a:solidFill>
                        <a:latin typeface="Cambria Math" panose="02040503050406030204" pitchFamily="18" charset="0"/>
                      </a:rPr>
                      <m:t>𝑑</m:t>
                    </m:r>
                  </m:oMath>
                </a14:m>
                <a:r>
                  <a:rPr lang="zh-CN" altLang="en-US" dirty="0">
                    <a:solidFill>
                      <a:srgbClr val="FF0000"/>
                    </a:solidFill>
                  </a:rPr>
                  <a:t>不同</a:t>
                </a:r>
                <a:r>
                  <a:rPr lang="zh-CN" altLang="en-US" dirty="0"/>
                  <a:t>。</a:t>
                </a:r>
              </a:p>
              <a:p>
                <a:pPr lvl="1">
                  <a:lnSpc>
                    <a:spcPct val="130000"/>
                  </a:lnSpc>
                </a:pPr>
                <a:r>
                  <a:rPr lang="zh-CN" altLang="en-US" dirty="0"/>
                  <a:t>问题：如果相同的消息曾用两个不同的指数加密，而</a:t>
                </a:r>
                <a:r>
                  <a:rPr lang="zh-CN" altLang="en-US" dirty="0">
                    <a:solidFill>
                      <a:srgbClr val="FF0000"/>
                    </a:solidFill>
                  </a:rPr>
                  <a:t>这两个指数是互素的</a:t>
                </a:r>
                <a:r>
                  <a:rPr lang="zh-CN" altLang="en-US" dirty="0"/>
                  <a:t>，则明文可以不用任何一个解密密钥来恢复。</a:t>
                </a:r>
              </a:p>
              <a:p>
                <a:pPr lvl="1">
                  <a:lnSpc>
                    <a:spcPct val="130000"/>
                  </a:lnSpc>
                </a:pPr>
                <a:r>
                  <a:rPr lang="zh-CN" altLang="en-US" dirty="0"/>
                  <a:t>令</a:t>
                </a:r>
                <a:r>
                  <a:rPr lang="en-US" altLang="zh-CN" dirty="0"/>
                  <a:t>m</a:t>
                </a:r>
                <a:r>
                  <a:rPr lang="zh-CN" altLang="en-US" dirty="0"/>
                  <a:t>为明文消息，两个加密密钥为</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oMath>
                </a14:m>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b="0" i="1" smtClean="0">
                            <a:latin typeface="Cambria Math" panose="02040503050406030204" pitchFamily="18" charset="0"/>
                          </a:rPr>
                          <m:t>2</m:t>
                        </m:r>
                      </m:sub>
                    </m:sSub>
                  </m:oMath>
                </a14:m>
                <a:r>
                  <a:rPr lang="en-US" altLang="zh-CN" dirty="0"/>
                  <a:t>,</a:t>
                </a:r>
                <a:r>
                  <a:rPr lang="zh-CN" altLang="en-US" dirty="0"/>
                  <a:t>两个密文消息为</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2</m:t>
                        </m:r>
                      </m:sub>
                    </m:sSub>
                    <m:r>
                      <a:rPr lang="en-US" altLang="zh-CN" i="1">
                        <a:latin typeface="Cambria Math" panose="02040503050406030204" pitchFamily="18" charset="0"/>
                      </a:rPr>
                      <m:t> </m:t>
                    </m:r>
                  </m:oMath>
                </a14:m>
                <a:r>
                  <a:rPr lang="zh-CN" altLang="en-US" dirty="0"/>
                  <a:t>：</a:t>
                </a:r>
                <a:endParaRPr lang="en-US" altLang="zh-CN" dirty="0"/>
              </a:p>
              <a:p>
                <a:pPr lvl="1">
                  <a:lnSpc>
                    <a:spcPct val="130000"/>
                  </a:lnSpc>
                </a:pPr>
                <a14:m>
                  <m:oMath xmlns:m="http://schemas.openxmlformats.org/officeDocument/2006/math">
                    <m:sSub>
                      <m:sSubPr>
                        <m:ctrlPr>
                          <a:rPr kumimoji="1" lang="en-US" altLang="zh-CN" i="1" dirty="0" smtClean="0">
                            <a:latin typeface="Cambria Math" panose="02040503050406030204" pitchFamily="18" charset="0"/>
                          </a:rPr>
                        </m:ctrlPr>
                      </m:sSubPr>
                      <m:e>
                        <m:r>
                          <a:rPr kumimoji="1" lang="en-US" altLang="zh-CN" b="0" i="1" dirty="0" smtClean="0">
                            <a:latin typeface="Cambria Math" panose="02040503050406030204" pitchFamily="18" charset="0"/>
                          </a:rPr>
                          <m:t>𝑐</m:t>
                        </m:r>
                      </m:e>
                      <m:sub>
                        <m:r>
                          <a:rPr kumimoji="1" lang="en-US" altLang="zh-CN" b="0" i="1" dirty="0" smtClean="0">
                            <a:latin typeface="Cambria Math" panose="02040503050406030204" pitchFamily="18" charset="0"/>
                          </a:rPr>
                          <m:t>1</m:t>
                        </m:r>
                      </m:sub>
                    </m:sSub>
                    <m:r>
                      <a:rPr kumimoji="1" lang="en-US" altLang="zh-CN" i="1" dirty="0">
                        <a:latin typeface="Cambria Math" panose="02040503050406030204" pitchFamily="18" charset="0"/>
                      </a:rPr>
                      <m:t>=</m:t>
                    </m:r>
                    <m:sSup>
                      <m:sSupPr>
                        <m:ctrlPr>
                          <a:rPr kumimoji="1" lang="en-US" altLang="zh-CN" i="1" dirty="0" smtClean="0">
                            <a:latin typeface="Cambria Math" panose="02040503050406030204" pitchFamily="18" charset="0"/>
                          </a:rPr>
                        </m:ctrlPr>
                      </m:sSupPr>
                      <m:e>
                        <m:r>
                          <a:rPr kumimoji="1" lang="en-US" altLang="zh-CN" b="0" i="1" dirty="0" smtClean="0">
                            <a:latin typeface="Cambria Math" panose="02040503050406030204" pitchFamily="18" charset="0"/>
                          </a:rPr>
                          <m:t>𝑚</m:t>
                        </m:r>
                      </m:e>
                      <m:sup>
                        <m:sSub>
                          <m:sSubPr>
                            <m:ctrlPr>
                              <a:rPr kumimoji="1" lang="en-US" altLang="zh-CN" i="1" dirty="0" smtClean="0">
                                <a:latin typeface="Cambria Math" panose="02040503050406030204" pitchFamily="18" charset="0"/>
                              </a:rPr>
                            </m:ctrlPr>
                          </m:sSubPr>
                          <m:e>
                            <m:r>
                              <a:rPr kumimoji="1" lang="en-US" altLang="zh-CN" b="0" i="1" dirty="0" smtClean="0">
                                <a:latin typeface="Cambria Math" panose="02040503050406030204" pitchFamily="18" charset="0"/>
                              </a:rPr>
                              <m:t>𝑒</m:t>
                            </m:r>
                          </m:e>
                          <m:sub>
                            <m:r>
                              <a:rPr kumimoji="1" lang="en-US" altLang="zh-CN" b="0" i="1" dirty="0" smtClean="0">
                                <a:latin typeface="Cambria Math" panose="02040503050406030204" pitchFamily="18" charset="0"/>
                              </a:rPr>
                              <m:t>1</m:t>
                            </m:r>
                          </m:sub>
                        </m:sSub>
                      </m:sup>
                    </m:sSup>
                    <m:r>
                      <a:rPr kumimoji="1" lang="en-US" altLang="zh-CN" i="1" dirty="0">
                        <a:latin typeface="Cambria Math" panose="02040503050406030204" pitchFamily="18" charset="0"/>
                      </a:rPr>
                      <m:t> </m:t>
                    </m:r>
                    <m:r>
                      <a:rPr kumimoji="1" lang="en-US" altLang="zh-CN" i="1" dirty="0">
                        <a:latin typeface="Cambria Math" panose="02040503050406030204" pitchFamily="18" charset="0"/>
                      </a:rPr>
                      <m:t>𝑚𝑜𝑑</m:t>
                    </m:r>
                    <m:r>
                      <a:rPr kumimoji="1" lang="en-US" altLang="zh-CN" i="1" dirty="0">
                        <a:latin typeface="Cambria Math" panose="02040503050406030204" pitchFamily="18" charset="0"/>
                      </a:rPr>
                      <m:t> </m:t>
                    </m:r>
                    <m:r>
                      <a:rPr kumimoji="1" lang="en-US" altLang="zh-CN" i="1" dirty="0">
                        <a:latin typeface="Cambria Math" panose="02040503050406030204" pitchFamily="18" charset="0"/>
                      </a:rPr>
                      <m:t>𝑛</m:t>
                    </m:r>
                  </m:oMath>
                </a14:m>
                <a:r>
                  <a:rPr kumimoji="1" lang="zh-CN" altLang="en-US" dirty="0">
                    <a:latin typeface="Times New Roman" panose="02020603050405020304" pitchFamily="18" charset="0"/>
                  </a:rPr>
                  <a:t>，</a:t>
                </a:r>
                <a14:m>
                  <m:oMath xmlns:m="http://schemas.openxmlformats.org/officeDocument/2006/math">
                    <m:sSub>
                      <m:sSubPr>
                        <m:ctrlPr>
                          <a:rPr kumimoji="1" lang="en-US" altLang="zh-CN" i="1" dirty="0">
                            <a:latin typeface="Cambria Math" panose="02040503050406030204" pitchFamily="18" charset="0"/>
                          </a:rPr>
                        </m:ctrlPr>
                      </m:sSubPr>
                      <m:e>
                        <m:r>
                          <a:rPr kumimoji="1" lang="en-US" altLang="zh-CN" i="1" dirty="0">
                            <a:latin typeface="Cambria Math" panose="02040503050406030204" pitchFamily="18" charset="0"/>
                          </a:rPr>
                          <m:t>𝑐</m:t>
                        </m:r>
                      </m:e>
                      <m:sub>
                        <m:r>
                          <a:rPr kumimoji="1" lang="en-US" altLang="zh-CN" b="0" i="1" dirty="0" smtClean="0">
                            <a:latin typeface="Cambria Math" panose="02040503050406030204" pitchFamily="18" charset="0"/>
                          </a:rPr>
                          <m:t>2</m:t>
                        </m:r>
                      </m:sub>
                    </m:sSub>
                    <m:r>
                      <a:rPr kumimoji="1" lang="en-US" altLang="zh-CN" i="1" dirty="0">
                        <a:latin typeface="Cambria Math" panose="02040503050406030204" pitchFamily="18" charset="0"/>
                      </a:rPr>
                      <m:t>=</m:t>
                    </m:r>
                    <m:sSup>
                      <m:sSupPr>
                        <m:ctrlPr>
                          <a:rPr kumimoji="1" lang="en-US" altLang="zh-CN" i="1" dirty="0">
                            <a:latin typeface="Cambria Math" panose="02040503050406030204" pitchFamily="18" charset="0"/>
                          </a:rPr>
                        </m:ctrlPr>
                      </m:sSupPr>
                      <m:e>
                        <m:r>
                          <a:rPr kumimoji="1" lang="en-US" altLang="zh-CN" i="1" dirty="0">
                            <a:latin typeface="Cambria Math" panose="02040503050406030204" pitchFamily="18" charset="0"/>
                          </a:rPr>
                          <m:t>𝑚</m:t>
                        </m:r>
                      </m:e>
                      <m:sup>
                        <m:sSub>
                          <m:sSubPr>
                            <m:ctrlPr>
                              <a:rPr kumimoji="1" lang="en-US" altLang="zh-CN" i="1" dirty="0">
                                <a:latin typeface="Cambria Math" panose="02040503050406030204" pitchFamily="18" charset="0"/>
                              </a:rPr>
                            </m:ctrlPr>
                          </m:sSubPr>
                          <m:e>
                            <m:r>
                              <a:rPr kumimoji="1" lang="en-US" altLang="zh-CN" i="1" dirty="0">
                                <a:latin typeface="Cambria Math" panose="02040503050406030204" pitchFamily="18" charset="0"/>
                              </a:rPr>
                              <m:t>𝑒</m:t>
                            </m:r>
                          </m:e>
                          <m:sub>
                            <m:r>
                              <a:rPr kumimoji="1" lang="en-US" altLang="zh-CN" b="0" i="1" dirty="0" smtClean="0">
                                <a:latin typeface="Cambria Math" panose="02040503050406030204" pitchFamily="18" charset="0"/>
                              </a:rPr>
                              <m:t>2</m:t>
                            </m:r>
                          </m:sub>
                        </m:sSub>
                      </m:sup>
                    </m:sSup>
                    <m:r>
                      <a:rPr kumimoji="1" lang="en-US" altLang="zh-CN" i="1" dirty="0">
                        <a:latin typeface="Cambria Math" panose="02040503050406030204" pitchFamily="18" charset="0"/>
                      </a:rPr>
                      <m:t> </m:t>
                    </m:r>
                    <m:r>
                      <a:rPr kumimoji="1" lang="en-US" altLang="zh-CN" i="1" dirty="0">
                        <a:latin typeface="Cambria Math" panose="02040503050406030204" pitchFamily="18" charset="0"/>
                      </a:rPr>
                      <m:t>𝑚𝑜𝑑</m:t>
                    </m:r>
                    <m:r>
                      <a:rPr kumimoji="1" lang="en-US" altLang="zh-CN" i="1" dirty="0">
                        <a:latin typeface="Cambria Math" panose="02040503050406030204" pitchFamily="18" charset="0"/>
                      </a:rPr>
                      <m:t> </m:t>
                    </m:r>
                    <m:r>
                      <a:rPr kumimoji="1" lang="en-US" altLang="zh-CN" i="1" dirty="0">
                        <a:latin typeface="Cambria Math" panose="02040503050406030204" pitchFamily="18" charset="0"/>
                      </a:rPr>
                      <m:t>𝑛</m:t>
                    </m:r>
                  </m:oMath>
                </a14:m>
                <a:endParaRPr kumimoji="1" lang="en-US" altLang="zh-CN" dirty="0">
                  <a:latin typeface="Times New Roman" panose="02020603050405020304" pitchFamily="18" charset="0"/>
                </a:endParaRPr>
              </a:p>
              <a:p>
                <a:pPr lvl="1">
                  <a:lnSpc>
                    <a:spcPct val="130000"/>
                  </a:lnSpc>
                </a:pPr>
                <a:r>
                  <a:rPr kumimoji="1" lang="zh-CN" altLang="en-US" dirty="0">
                    <a:latin typeface="Times New Roman" panose="02020603050405020304" pitchFamily="18" charset="0"/>
                  </a:rPr>
                  <a:t>由于</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oMath>
                </a14:m>
                <a:r>
                  <a:rPr kumimoji="1" lang="zh-CN" altLang="en-US" dirty="0">
                    <a:latin typeface="Times New Roman" panose="02020603050405020304" pitchFamily="18" charset="0"/>
                  </a:rPr>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b="0" i="1" smtClean="0">
                            <a:latin typeface="Cambria Math" panose="02040503050406030204" pitchFamily="18" charset="0"/>
                          </a:rPr>
                          <m:t>2</m:t>
                        </m:r>
                      </m:sub>
                    </m:sSub>
                  </m:oMath>
                </a14:m>
                <a:r>
                  <a:rPr kumimoji="1" lang="zh-CN" altLang="en-US" dirty="0">
                    <a:latin typeface="Times New Roman" panose="02020603050405020304" pitchFamily="18" charset="0"/>
                  </a:rPr>
                  <a:t>互素，所以可以用扩展的</a:t>
                </a:r>
                <a:r>
                  <a:rPr kumimoji="1" lang="en-US" altLang="zh-CN" dirty="0">
                    <a:latin typeface="Times New Roman" panose="02020603050405020304" pitchFamily="18" charset="0"/>
                  </a:rPr>
                  <a:t>Euclid</a:t>
                </a:r>
                <a:r>
                  <a:rPr kumimoji="1" lang="zh-CN" altLang="en-US" dirty="0">
                    <a:latin typeface="Times New Roman" panose="02020603050405020304" pitchFamily="18" charset="0"/>
                  </a:rPr>
                  <a:t>算法找到</a:t>
                </a:r>
                <a14:m>
                  <m:oMath xmlns:m="http://schemas.openxmlformats.org/officeDocument/2006/math">
                    <m:r>
                      <a:rPr kumimoji="1" lang="en-US" altLang="zh-CN" i="1" dirty="0" smtClean="0">
                        <a:latin typeface="Cambria Math" panose="02040503050406030204" pitchFamily="18" charset="0"/>
                      </a:rPr>
                      <m:t>𝑟</m:t>
                    </m:r>
                    <m:r>
                      <a:rPr kumimoji="1" lang="zh-CN" altLang="en-US" i="1" dirty="0">
                        <a:latin typeface="Cambria Math" panose="02040503050406030204" pitchFamily="18" charset="0"/>
                      </a:rPr>
                      <m:t>、</m:t>
                    </m:r>
                    <m:r>
                      <a:rPr kumimoji="1" lang="en-US" altLang="zh-CN" i="1" dirty="0">
                        <a:latin typeface="Cambria Math" panose="02040503050406030204" pitchFamily="18" charset="0"/>
                      </a:rPr>
                      <m:t>𝑠</m:t>
                    </m:r>
                  </m:oMath>
                </a14:m>
                <a:r>
                  <a:rPr kumimoji="1" lang="zh-CN" altLang="en-US" dirty="0">
                    <a:latin typeface="Times New Roman" panose="02020603050405020304" pitchFamily="18" charset="0"/>
                  </a:rPr>
                  <a:t>使</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𝑟</m:t>
                        </m:r>
                        <m:r>
                          <a:rPr lang="en-US" altLang="zh-CN" i="1">
                            <a:latin typeface="Cambria Math" panose="02040503050406030204" pitchFamily="18" charset="0"/>
                          </a:rPr>
                          <m:t>𝑒</m:t>
                        </m:r>
                      </m:e>
                      <m:sub>
                        <m:r>
                          <a:rPr lang="en-US" altLang="zh-CN" i="1">
                            <a:latin typeface="Cambria Math" panose="02040503050406030204" pitchFamily="18" charset="0"/>
                          </a:rPr>
                          <m:t>1</m:t>
                        </m:r>
                      </m:sub>
                    </m:sSub>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s</m:t>
                    </m:r>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2</m:t>
                        </m:r>
                      </m:sub>
                    </m:sSub>
                    <m:r>
                      <a:rPr lang="en-US" altLang="zh-CN" b="0" i="1" smtClean="0">
                        <a:latin typeface="Cambria Math" panose="02040503050406030204" pitchFamily="18" charset="0"/>
                      </a:rPr>
                      <m:t>=1</m:t>
                    </m:r>
                  </m:oMath>
                </a14:m>
                <a:r>
                  <a:rPr kumimoji="1" lang="en-US" altLang="zh-CN" dirty="0">
                    <a:latin typeface="Times New Roman" panose="02020603050405020304" pitchFamily="18" charset="0"/>
                  </a:rPr>
                  <a:t>,</a:t>
                </a:r>
              </a:p>
              <a:p>
                <a:pPr lvl="1">
                  <a:lnSpc>
                    <a:spcPct val="130000"/>
                  </a:lnSpc>
                  <a:spcBef>
                    <a:spcPct val="50000"/>
                  </a:spcBef>
                </a:pPr>
                <a:r>
                  <a:rPr lang="zh-CN" altLang="en-US" dirty="0"/>
                  <a:t>如果</a:t>
                </a:r>
                <a:r>
                  <a:rPr lang="en-US" altLang="zh-CN" dirty="0"/>
                  <a:t>r,s</a:t>
                </a:r>
                <a:r>
                  <a:rPr lang="zh-CN" altLang="en-US" dirty="0"/>
                  <a:t>为正数</a:t>
                </a:r>
                <a14:m>
                  <m:oMath xmlns:m="http://schemas.openxmlformats.org/officeDocument/2006/math">
                    <m:r>
                      <a:rPr lang="zh-CN" altLang="en-US" i="1" dirty="0" smtClean="0">
                        <a:latin typeface="Cambria Math" panose="02040503050406030204" pitchFamily="18" charset="0"/>
                      </a:rPr>
                      <m:t>，</m:t>
                    </m:r>
                    <m:r>
                      <a:rPr lang="zh-CN" altLang="en-US" i="1" dirty="0">
                        <a:latin typeface="Cambria Math" panose="02040503050406030204" pitchFamily="18" charset="0"/>
                      </a:rPr>
                      <m:t>则</m:t>
                    </m:r>
                    <m:r>
                      <a:rPr lang="zh-CN" altLang="en-US" i="1" dirty="0" smtClean="0">
                        <a:latin typeface="Cambria Math" panose="02040503050406030204" pitchFamily="18" charset="0"/>
                      </a:rPr>
                      <m:t>：</m:t>
                    </m:r>
                    <m:r>
                      <a:rPr lang="zh-CN" altLang="en-US" i="1">
                        <a:latin typeface="Cambria Math" panose="02040503050406030204" pitchFamily="18" charset="0"/>
                      </a:rPr>
                      <m:t>𝑚</m:t>
                    </m:r>
                    <m:r>
                      <a:rPr lang="zh-CN" altLang="en-US" i="1">
                        <a:latin typeface="Cambria Math" panose="02040503050406030204" pitchFamily="18" charset="0"/>
                      </a:rPr>
                      <m:t>≡</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𝑐</m:t>
                        </m:r>
                      </m:e>
                      <m:sub>
                        <m:r>
                          <a:rPr lang="zh-CN" altLang="en-US" i="1">
                            <a:latin typeface="Cambria Math" panose="02040503050406030204" pitchFamily="18" charset="0"/>
                          </a:rPr>
                          <m:t>1</m:t>
                        </m:r>
                      </m:sub>
                      <m:sup>
                        <m:r>
                          <a:rPr lang="zh-CN" altLang="en-US" i="1">
                            <a:latin typeface="Cambria Math" panose="02040503050406030204" pitchFamily="18" charset="0"/>
                          </a:rPr>
                          <m:t>𝑟</m:t>
                        </m:r>
                      </m:sup>
                    </m:sSubSup>
                    <m:r>
                      <a:rPr lang="zh-CN" altLang="en-US" i="1">
                        <a:latin typeface="Cambria Math" panose="02040503050406030204" pitchFamily="18" charset="0"/>
                      </a:rPr>
                      <m:t>×</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𝑐</m:t>
                        </m:r>
                      </m:e>
                      <m:sub>
                        <m:r>
                          <a:rPr lang="zh-CN" altLang="en-US" i="1">
                            <a:latin typeface="Cambria Math" panose="02040503050406030204" pitchFamily="18" charset="0"/>
                          </a:rPr>
                          <m:t>2</m:t>
                        </m:r>
                      </m:sub>
                      <m:sup>
                        <m:r>
                          <a:rPr lang="zh-CN" altLang="en-US" i="1">
                            <a:latin typeface="Cambria Math" panose="02040503050406030204" pitchFamily="18" charset="0"/>
                          </a:rPr>
                          <m:t>𝑠</m:t>
                        </m:r>
                      </m:sup>
                    </m:sSubSup>
                    <m:r>
                      <a:rPr lang="en-US" altLang="zh-CN" b="0" i="1" smtClean="0">
                        <a:latin typeface="Cambria Math" panose="02040503050406030204" pitchFamily="18" charset="0"/>
                      </a:rPr>
                      <m:t>    </m:t>
                    </m:r>
                    <m:r>
                      <m:rPr>
                        <m:sty m:val="p"/>
                      </m:rPr>
                      <a:rPr lang="zh-CN" altLang="en-US" i="1">
                        <a:latin typeface="Cambria Math" panose="02040503050406030204" pitchFamily="18" charset="0"/>
                      </a:rPr>
                      <m:t>mod</m:t>
                    </m:r>
                    <m:r>
                      <a:rPr lang="zh-CN" altLang="en-US" i="1">
                        <a:latin typeface="Cambria Math" panose="02040503050406030204" pitchFamily="18" charset="0"/>
                      </a:rPr>
                      <m:t>𝑛</m:t>
                    </m:r>
                  </m:oMath>
                </a14:m>
                <a:endParaRPr kumimoji="1" lang="en-US" altLang="zh-CN" dirty="0">
                  <a:latin typeface="Times New Roman" panose="02020603050405020304" pitchFamily="18" charset="0"/>
                </a:endParaRPr>
              </a:p>
              <a:p>
                <a:pPr lvl="1">
                  <a:lnSpc>
                    <a:spcPct val="130000"/>
                  </a:lnSpc>
                  <a:spcBef>
                    <a:spcPct val="50000"/>
                  </a:spcBef>
                </a:pPr>
                <a:r>
                  <a:rPr kumimoji="1" lang="zh-CN" altLang="en-US" dirty="0">
                    <a:latin typeface="Times New Roman" panose="02020603050405020304" pitchFamily="18" charset="0"/>
                  </a:rPr>
                  <a:t>假设</a:t>
                </a:r>
                <a14:m>
                  <m:oMath xmlns:m="http://schemas.openxmlformats.org/officeDocument/2006/math">
                    <m:r>
                      <a:rPr kumimoji="1" lang="en-US" altLang="zh-CN" i="1" dirty="0" smtClean="0">
                        <a:latin typeface="Cambria Math" panose="02040503050406030204" pitchFamily="18" charset="0"/>
                      </a:rPr>
                      <m:t>𝑟</m:t>
                    </m:r>
                  </m:oMath>
                </a14:m>
                <a:r>
                  <a:rPr kumimoji="1" lang="zh-CN" altLang="en-US" dirty="0">
                    <a:latin typeface="Times New Roman" panose="02020603050405020304" pitchFamily="18" charset="0"/>
                  </a:rPr>
                  <a:t>是负数，可以用扩展的</a:t>
                </a:r>
                <a:r>
                  <a:rPr kumimoji="1" lang="en-US" altLang="zh-CN" dirty="0">
                    <a:latin typeface="Times New Roman" panose="02020603050405020304" pitchFamily="18" charset="0"/>
                  </a:rPr>
                  <a:t>Euclid</a:t>
                </a:r>
                <a:r>
                  <a:rPr kumimoji="1" lang="zh-CN" altLang="en-US" dirty="0">
                    <a:latin typeface="Times New Roman" panose="02020603050405020304" pitchFamily="18" charset="0"/>
                  </a:rPr>
                  <a:t>算法计算</a:t>
                </a:r>
                <a14:m>
                  <m:oMath xmlns:m="http://schemas.openxmlformats.org/officeDocument/2006/math">
                    <m:sSubSup>
                      <m:sSubSupPr>
                        <m:ctrlPr>
                          <a:rPr kumimoji="1" lang="en-US" altLang="zh-CN" i="1" smtClean="0">
                            <a:latin typeface="Cambria Math" panose="02040503050406030204" pitchFamily="18" charset="0"/>
                          </a:rPr>
                        </m:ctrlPr>
                      </m:sSubSupPr>
                      <m:e>
                        <m:r>
                          <a:rPr kumimoji="1" lang="en-US" altLang="zh-CN" b="0" i="1" smtClean="0">
                            <a:latin typeface="Cambria Math" panose="02040503050406030204" pitchFamily="18" charset="0"/>
                          </a:rPr>
                          <m:t>𝑐</m:t>
                        </m:r>
                      </m:e>
                      <m:sub>
                        <m:r>
                          <a:rPr kumimoji="1" lang="en-US" altLang="zh-CN" b="0" i="1" smtClean="0">
                            <a:latin typeface="Cambria Math" panose="02040503050406030204" pitchFamily="18" charset="0"/>
                          </a:rPr>
                          <m:t>1</m:t>
                        </m:r>
                      </m:sub>
                      <m:sup>
                        <m:r>
                          <a:rPr kumimoji="1" lang="en-US" altLang="zh-CN" b="0" i="1" smtClean="0">
                            <a:latin typeface="Cambria Math" panose="02040503050406030204" pitchFamily="18" charset="0"/>
                          </a:rPr>
                          <m:t>−1</m:t>
                        </m:r>
                      </m:sup>
                    </m:sSubSup>
                  </m:oMath>
                </a14:m>
                <a:r>
                  <a:rPr kumimoji="1" lang="en-US" altLang="zh-CN" dirty="0">
                    <a:latin typeface="Times New Roman" panose="02020603050405020304" pitchFamily="18" charset="0"/>
                  </a:rPr>
                  <a:t>,</a:t>
                </a:r>
                <a:r>
                  <a:rPr kumimoji="1" lang="zh-CN" altLang="en-US" dirty="0">
                    <a:latin typeface="Times New Roman" panose="02020603050405020304" pitchFamily="18" charset="0"/>
                  </a:rPr>
                  <a:t>而</a:t>
                </a:r>
                <a14:m>
                  <m:oMath xmlns:m="http://schemas.openxmlformats.org/officeDocument/2006/math">
                    <m:sSup>
                      <m:sSupPr>
                        <m:ctrlPr>
                          <a:rPr kumimoji="1" lang="en-US" altLang="zh-CN" i="1" smtClean="0">
                            <a:latin typeface="Cambria Math" panose="02040503050406030204" pitchFamily="18" charset="0"/>
                          </a:rPr>
                        </m:ctrlPr>
                      </m:sSupPr>
                      <m:e>
                        <m:sSubSup>
                          <m:sSubSupPr>
                            <m:ctrlPr>
                              <a:rPr kumimoji="1" lang="en-US" altLang="zh-CN" i="1">
                                <a:latin typeface="Cambria Math" panose="02040503050406030204" pitchFamily="18" charset="0"/>
                              </a:rPr>
                            </m:ctrlPr>
                          </m:sSubSupPr>
                          <m:e>
                            <m:r>
                              <a:rPr kumimoji="1" lang="en-US" altLang="zh-CN" i="1">
                                <a:latin typeface="Cambria Math" panose="02040503050406030204" pitchFamily="18" charset="0"/>
                              </a:rPr>
                              <m:t>(</m:t>
                            </m:r>
                            <m:r>
                              <a:rPr kumimoji="1" lang="en-US" altLang="zh-CN" i="1">
                                <a:latin typeface="Cambria Math" panose="02040503050406030204" pitchFamily="18" charset="0"/>
                              </a:rPr>
                              <m:t>𝑐</m:t>
                            </m:r>
                          </m:e>
                          <m:sub>
                            <m:r>
                              <a:rPr kumimoji="1" lang="en-US" altLang="zh-CN" i="1">
                                <a:latin typeface="Cambria Math" panose="02040503050406030204" pitchFamily="18" charset="0"/>
                              </a:rPr>
                              <m:t>1</m:t>
                            </m:r>
                          </m:sub>
                          <m:sup>
                            <m:r>
                              <a:rPr kumimoji="1" lang="en-US" altLang="zh-CN" i="1">
                                <a:latin typeface="Cambria Math" panose="02040503050406030204" pitchFamily="18" charset="0"/>
                              </a:rPr>
                              <m:t>−1</m:t>
                            </m:r>
                          </m:sup>
                        </m:sSubSup>
                        <m:r>
                          <a:rPr kumimoji="1" lang="en-US" altLang="zh-CN" b="0" i="1" smtClean="0">
                            <a:latin typeface="Cambria Math" panose="02040503050406030204" pitchFamily="18" charset="0"/>
                          </a:rPr>
                          <m:t>)</m:t>
                        </m:r>
                      </m:e>
                      <m:sup>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𝑟</m:t>
                        </m:r>
                      </m:sup>
                    </m:sSup>
                    <m:r>
                      <a:rPr kumimoji="1" lang="en-US" altLang="zh-CN" i="1" smtClean="0">
                        <a:latin typeface="Cambria Math" panose="02040503050406030204" pitchFamily="18" charset="0"/>
                        <a:ea typeface="Cambria Math" panose="02040503050406030204" pitchFamily="18" charset="0"/>
                      </a:rPr>
                      <m:t>×</m:t>
                    </m:r>
                    <m:sSup>
                      <m:sSupPr>
                        <m:ctrlPr>
                          <a:rPr kumimoji="1" lang="en-US" altLang="zh-CN" i="1" smtClean="0">
                            <a:latin typeface="Cambria Math" panose="02040503050406030204" pitchFamily="18" charset="0"/>
                            <a:ea typeface="Cambria Math" panose="02040503050406030204" pitchFamily="18" charset="0"/>
                          </a:rPr>
                        </m:ctrlPr>
                      </m:sSupPr>
                      <m:e>
                        <m:sSub>
                          <m:sSubPr>
                            <m:ctrlPr>
                              <a:rPr kumimoji="1" lang="en-US" altLang="zh-CN"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𝑐</m:t>
                            </m:r>
                          </m:e>
                          <m:sub>
                            <m:r>
                              <a:rPr kumimoji="1" lang="en-US" altLang="zh-CN" b="0" i="1" smtClean="0">
                                <a:latin typeface="Cambria Math" panose="02040503050406030204" pitchFamily="18" charset="0"/>
                                <a:ea typeface="Cambria Math" panose="02040503050406030204" pitchFamily="18" charset="0"/>
                              </a:rPr>
                              <m:t>2</m:t>
                            </m:r>
                          </m:sub>
                        </m:sSub>
                      </m:e>
                      <m:sup>
                        <m:r>
                          <a:rPr kumimoji="1" lang="en-US" altLang="zh-CN" b="0" i="1" smtClean="0">
                            <a:latin typeface="Cambria Math" panose="02040503050406030204" pitchFamily="18" charset="0"/>
                            <a:ea typeface="Cambria Math" panose="02040503050406030204" pitchFamily="18" charset="0"/>
                          </a:rPr>
                          <m:t>𝑠</m:t>
                        </m:r>
                      </m:sup>
                    </m:sSup>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𝑚</m:t>
                    </m:r>
                    <m:r>
                      <a:rPr kumimoji="1" lang="en-US" altLang="zh-CN" b="0" i="1" smtClean="0">
                        <a:latin typeface="Cambria Math" panose="02040503050406030204" pitchFamily="18" charset="0"/>
                        <a:ea typeface="Cambria Math" panose="02040503050406030204" pitchFamily="18" charset="0"/>
                      </a:rPr>
                      <m:t> </m:t>
                    </m:r>
                    <m:r>
                      <a:rPr kumimoji="1" lang="en-US" altLang="zh-CN" b="0" i="1" smtClean="0">
                        <a:latin typeface="Cambria Math" panose="02040503050406030204" pitchFamily="18" charset="0"/>
                        <a:ea typeface="Cambria Math" panose="02040503050406030204" pitchFamily="18" charset="0"/>
                      </a:rPr>
                      <m:t>𝑚𝑜𝑑𝑛</m:t>
                    </m:r>
                  </m:oMath>
                </a14:m>
                <a:endParaRPr kumimoji="1" lang="en-US" altLang="zh-CN" dirty="0">
                  <a:latin typeface="Times New Roman" panose="02020603050405020304" pitchFamily="18" charset="0"/>
                </a:endParaRPr>
              </a:p>
              <a:p>
                <a:pPr>
                  <a:lnSpc>
                    <a:spcPct val="150000"/>
                  </a:lnSpc>
                </a:pPr>
                <a:r>
                  <a:rPr kumimoji="1" lang="zh-CN" altLang="en-US" sz="2400" dirty="0">
                    <a:solidFill>
                      <a:srgbClr val="FF0000"/>
                    </a:solidFill>
                    <a:latin typeface="Times New Roman" panose="02020603050405020304" pitchFamily="18" charset="0"/>
                  </a:rPr>
                  <a:t>注意</a:t>
                </a:r>
                <a:r>
                  <a:rPr kumimoji="1" lang="en-US" altLang="zh-CN" sz="2400" dirty="0">
                    <a:solidFill>
                      <a:srgbClr val="FF0000"/>
                    </a:solidFill>
                    <a:latin typeface="Times New Roman" panose="02020603050405020304" pitchFamily="18" charset="0"/>
                  </a:rPr>
                  <a:t>:</a:t>
                </a:r>
                <a:r>
                  <a:rPr kumimoji="1" lang="zh-CN" altLang="en-US" sz="2400" dirty="0">
                    <a:solidFill>
                      <a:srgbClr val="FF0000"/>
                    </a:solidFill>
                    <a:latin typeface="Times New Roman" panose="02020603050405020304" pitchFamily="18" charset="0"/>
                  </a:rPr>
                  <a:t>不要让一群用户共享一个模</a:t>
                </a:r>
                <a14:m>
                  <m:oMath xmlns:m="http://schemas.openxmlformats.org/officeDocument/2006/math">
                    <m:r>
                      <a:rPr kumimoji="1" lang="en-US" altLang="zh-CN" sz="2400" i="1" dirty="0" smtClean="0">
                        <a:solidFill>
                          <a:srgbClr val="FF0000"/>
                        </a:solidFill>
                        <a:latin typeface="Cambria Math" panose="02040503050406030204" pitchFamily="18" charset="0"/>
                      </a:rPr>
                      <m:t>𝑛</m:t>
                    </m:r>
                  </m:oMath>
                </a14:m>
                <a:endParaRPr lang="en-US" altLang="zh-CN" sz="2400" dirty="0"/>
              </a:p>
              <a:p>
                <a:pPr>
                  <a:lnSpc>
                    <a:spcPct val="90000"/>
                  </a:lnSpc>
                </a:pP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199" y="1365663"/>
                <a:ext cx="10431483" cy="4904508"/>
              </a:xfrm>
              <a:blipFill>
                <a:blip r:embed="rId2"/>
                <a:stretch>
                  <a:fillRect l="-876" r="-29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8D4D1E41-7A09-AB4A-A4E1-09765ADA2698}" type="slidenum">
              <a:rPr kumimoji="1" lang="zh-CN" altLang="en-US" smtClean="0"/>
              <a:pPr/>
              <a:t>45</a:t>
            </a:fld>
            <a:endParaRPr kumimoji="1" lang="zh-CN" altLang="en-US" dirty="0"/>
          </a:p>
        </p:txBody>
      </p:sp>
    </p:spTree>
    <p:extLst>
      <p:ext uri="{BB962C8B-B14F-4D97-AF65-F5344CB8AC3E}">
        <p14:creationId xmlns:p14="http://schemas.microsoft.com/office/powerpoint/2010/main" val="32242726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199" y="1365663"/>
                <a:ext cx="10431483" cy="4904508"/>
              </a:xfrm>
            </p:spPr>
            <p:txBody>
              <a:bodyPr>
                <a:normAutofit/>
              </a:bodyPr>
              <a:lstStyle/>
              <a:p>
                <a:pPr>
                  <a:lnSpc>
                    <a:spcPct val="150000"/>
                  </a:lnSpc>
                </a:pPr>
                <a:r>
                  <a:rPr lang="zh-CN" altLang="en-US" sz="2400" dirty="0"/>
                  <a:t>案例：假设某公司图省事，给全公司共用一个模数</a:t>
                </a:r>
                <a14:m>
                  <m:oMath xmlns:m="http://schemas.openxmlformats.org/officeDocument/2006/math">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 = 33</m:t>
                    </m:r>
                  </m:oMath>
                </a14:m>
                <a:r>
                  <a:rPr lang="zh-CN" altLang="en-US" sz="2400" dirty="0"/>
                  <a:t>。</a:t>
                </a:r>
                <a:endParaRPr lang="en-US" altLang="zh-CN" sz="2400" dirty="0"/>
              </a:p>
              <a:p>
                <a:pPr lvl="1">
                  <a:lnSpc>
                    <a:spcPct val="150000"/>
                  </a:lnSpc>
                </a:pPr>
                <a:r>
                  <a:rPr lang="zh-CN" altLang="en-US" dirty="0"/>
                  <a:t>员工 </a:t>
                </a:r>
                <a:r>
                  <a:rPr lang="en-US" altLang="zh-CN" dirty="0"/>
                  <a:t>A </a:t>
                </a:r>
                <a:r>
                  <a:rPr lang="zh-CN" altLang="en-US" dirty="0"/>
                  <a:t>的公开加密指数：</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𝑒</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 3</m:t>
                    </m:r>
                  </m:oMath>
                </a14:m>
                <a:r>
                  <a:rPr lang="zh-CN" altLang="en-US" dirty="0"/>
                  <a:t>，员工 </a:t>
                </a:r>
                <a:r>
                  <a:rPr lang="en-US" altLang="zh-CN" dirty="0"/>
                  <a:t>B </a:t>
                </a:r>
                <a:r>
                  <a:rPr lang="zh-CN" altLang="en-US" dirty="0"/>
                  <a:t>的公开加密指数：</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𝑒</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 7</m:t>
                    </m:r>
                  </m:oMath>
                </a14:m>
                <a:endParaRPr lang="zh-CN" altLang="en-US" dirty="0"/>
              </a:p>
              <a:p>
                <a:pPr lvl="1">
                  <a:lnSpc>
                    <a:spcPct val="90000"/>
                  </a:lnSpc>
                </a:pPr>
                <a:r>
                  <a:rPr lang="zh-CN" altLang="en-US" dirty="0"/>
                  <a:t>主管用这两个公钥，把同一份机密数字明文</a:t>
                </a:r>
                <a:r>
                  <a:rPr lang="en-US" altLang="zh-CN" dirty="0"/>
                  <a:t>m</a:t>
                </a:r>
                <a:r>
                  <a:rPr lang="zh-CN" altLang="en-US" dirty="0"/>
                  <a:t> </a:t>
                </a:r>
                <a:r>
                  <a:rPr lang="en-US" altLang="zh-CN" dirty="0"/>
                  <a:t>= 5</a:t>
                </a:r>
                <a:r>
                  <a:rPr lang="zh-CN" altLang="en-US" dirty="0"/>
                  <a:t>发给</a:t>
                </a:r>
                <a:r>
                  <a:rPr lang="en-US" altLang="zh-CN" dirty="0"/>
                  <a:t>A</a:t>
                </a:r>
                <a:r>
                  <a:rPr lang="zh-CN" altLang="en-US" dirty="0"/>
                  <a:t>和</a:t>
                </a:r>
                <a:r>
                  <a:rPr lang="en-US" altLang="zh-CN" dirty="0"/>
                  <a:t>B</a:t>
                </a:r>
                <a:r>
                  <a:rPr lang="zh-CN" altLang="en-US" dirty="0"/>
                  <a:t>。</a:t>
                </a:r>
                <a:endParaRPr lang="en-US" altLang="zh-CN" dirty="0"/>
              </a:p>
              <a:p>
                <a:pPr lvl="1">
                  <a:lnSpc>
                    <a:spcPct val="90000"/>
                  </a:lnSpc>
                </a:pPr>
                <a:r>
                  <a:rPr lang="en-US" altLang="zh-CN" dirty="0"/>
                  <a:t>A</a:t>
                </a:r>
                <a:r>
                  <a:rPr lang="zh-CN" altLang="en-US" dirty="0"/>
                  <a:t>得到的</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𝑐</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 26, </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𝑐</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m:t>
                    </m:r>
                    <m:r>
                      <a:rPr lang="en-US" altLang="zh-CN" b="0" i="1" dirty="0" smtClean="0">
                        <a:latin typeface="Cambria Math" panose="02040503050406030204" pitchFamily="18" charset="0"/>
                      </a:rPr>
                      <m:t>14</m:t>
                    </m:r>
                  </m:oMath>
                </a14:m>
                <a:r>
                  <a:rPr lang="zh-CN" altLang="en-US" dirty="0"/>
                  <a:t>。</a:t>
                </a:r>
                <a:r>
                  <a:rPr lang="en-US" altLang="zh-CN" dirty="0"/>
                  <a:t> </a:t>
                </a:r>
              </a:p>
              <a:p>
                <a:pPr lvl="1">
                  <a:lnSpc>
                    <a:spcPct val="90000"/>
                  </a:lnSpc>
                </a:pPr>
                <a:r>
                  <a:rPr lang="zh-CN" altLang="en-US" dirty="0"/>
                  <a:t>两个公钥互质，计算</a:t>
                </a:r>
                <a:r>
                  <a:rPr lang="en-US" altLang="zh-CN" dirty="0"/>
                  <a:t>3r + 7s = 1</a:t>
                </a:r>
                <a:r>
                  <a:rPr lang="zh-CN" altLang="en-US" dirty="0"/>
                  <a:t>，辗转相除解得：</a:t>
                </a:r>
                <a:r>
                  <a:rPr lang="en-US" altLang="zh-CN" dirty="0"/>
                  <a:t>r = -2, s = 1</a:t>
                </a:r>
              </a:p>
              <a:p>
                <a:pPr lvl="1">
                  <a:lnSpc>
                    <a:spcPct val="90000"/>
                  </a:lnSpc>
                </a:pPr>
                <a:r>
                  <a:rPr lang="en-US" altLang="zh-CN" dirty="0"/>
                  <a:t>R </a:t>
                </a:r>
                <a:r>
                  <a:rPr lang="zh-CN" altLang="en-US" dirty="0"/>
                  <a:t>为负数，因此</a:t>
                </a:r>
                <a14:m>
                  <m:oMath xmlns:m="http://schemas.openxmlformats.org/officeDocument/2006/math">
                    <m:sSubSup>
                      <m:sSubSupPr>
                        <m:ctrlPr>
                          <a:rPr lang="en-US" altLang="zh-CN" i="1" dirty="0" smtClean="0">
                            <a:latin typeface="Cambria Math" panose="02040503050406030204" pitchFamily="18" charset="0"/>
                          </a:rPr>
                        </m:ctrlPr>
                      </m:sSubSupPr>
                      <m:e>
                        <m:r>
                          <a:rPr lang="en-US" altLang="zh-CN" i="1" dirty="0" smtClean="0">
                            <a:latin typeface="Cambria Math" panose="02040503050406030204" pitchFamily="18" charset="0"/>
                          </a:rPr>
                          <m:t>𝑐</m:t>
                        </m:r>
                      </m:e>
                      <m:sub>
                        <m:r>
                          <a:rPr lang="en-US" altLang="zh-CN" i="1" dirty="0" smtClean="0">
                            <a:latin typeface="Cambria Math" panose="02040503050406030204" pitchFamily="18" charset="0"/>
                          </a:rPr>
                          <m:t>1</m:t>
                        </m:r>
                      </m:sub>
                      <m:sup>
                        <m:r>
                          <a:rPr lang="en-US" altLang="zh-CN" i="1" dirty="0" smtClean="0">
                            <a:latin typeface="Cambria Math" panose="02040503050406030204" pitchFamily="18" charset="0"/>
                          </a:rPr>
                          <m:t>−1</m:t>
                        </m:r>
                      </m:sup>
                    </m:sSubSup>
                    <m:r>
                      <a:rPr lang="en-US" altLang="zh-CN" i="1" dirty="0" smtClean="0">
                        <a:latin typeface="Cambria Math" panose="02040503050406030204" pitchFamily="18" charset="0"/>
                      </a:rPr>
                      <m:t>= 14</m:t>
                    </m:r>
                  </m:oMath>
                </a14:m>
                <a:r>
                  <a:rPr lang="zh-CN" altLang="en-US" dirty="0"/>
                  <a:t>（辗转相除法）</a:t>
                </a:r>
                <a:endParaRPr lang="en-US" altLang="zh-CN" dirty="0"/>
              </a:p>
              <a:p>
                <a:pPr lvl="1">
                  <a:lnSpc>
                    <a:spcPct val="90000"/>
                  </a:lnSpc>
                </a:pPr>
                <a14:m>
                  <m:oMath xmlns:m="http://schemas.openxmlformats.org/officeDocument/2006/math">
                    <m:sSup>
                      <m:sSupPr>
                        <m:ctrlPr>
                          <a:rPr kumimoji="1" lang="en-US" altLang="zh-CN" i="1">
                            <a:latin typeface="Cambria Math" panose="02040503050406030204" pitchFamily="18" charset="0"/>
                          </a:rPr>
                        </m:ctrlPr>
                      </m:sSupPr>
                      <m:e>
                        <m:sSubSup>
                          <m:sSubSupPr>
                            <m:ctrlPr>
                              <a:rPr kumimoji="1" lang="en-US" altLang="zh-CN" i="1">
                                <a:latin typeface="Cambria Math" panose="02040503050406030204" pitchFamily="18" charset="0"/>
                              </a:rPr>
                            </m:ctrlPr>
                          </m:sSubSupPr>
                          <m:e>
                            <m:r>
                              <a:rPr kumimoji="1" lang="en-US" altLang="zh-CN" i="1">
                                <a:latin typeface="Cambria Math" panose="02040503050406030204" pitchFamily="18" charset="0"/>
                              </a:rPr>
                              <m:t>(</m:t>
                            </m:r>
                            <m:r>
                              <a:rPr kumimoji="1" lang="en-US" altLang="zh-CN" i="1">
                                <a:latin typeface="Cambria Math" panose="02040503050406030204" pitchFamily="18" charset="0"/>
                              </a:rPr>
                              <m:t>𝑐</m:t>
                            </m:r>
                          </m:e>
                          <m:sub>
                            <m:r>
                              <a:rPr kumimoji="1" lang="en-US" altLang="zh-CN" i="1">
                                <a:latin typeface="Cambria Math" panose="02040503050406030204" pitchFamily="18" charset="0"/>
                              </a:rPr>
                              <m:t>1</m:t>
                            </m:r>
                          </m:sub>
                          <m:sup>
                            <m:r>
                              <a:rPr kumimoji="1" lang="en-US" altLang="zh-CN" i="1">
                                <a:latin typeface="Cambria Math" panose="02040503050406030204" pitchFamily="18" charset="0"/>
                              </a:rPr>
                              <m:t>−1</m:t>
                            </m:r>
                          </m:sup>
                        </m:sSubSup>
                        <m:r>
                          <a:rPr kumimoji="1" lang="en-US" altLang="zh-CN" i="1">
                            <a:latin typeface="Cambria Math" panose="02040503050406030204" pitchFamily="18" charset="0"/>
                          </a:rPr>
                          <m:t>)</m:t>
                        </m:r>
                      </m:e>
                      <m:sup>
                        <m:r>
                          <a:rPr kumimoji="1" lang="en-US" altLang="zh-CN" i="1">
                            <a:latin typeface="Cambria Math" panose="02040503050406030204" pitchFamily="18" charset="0"/>
                          </a:rPr>
                          <m:t>−</m:t>
                        </m:r>
                        <m:r>
                          <a:rPr kumimoji="1" lang="en-US" altLang="zh-CN" i="1">
                            <a:latin typeface="Cambria Math" panose="02040503050406030204" pitchFamily="18" charset="0"/>
                          </a:rPr>
                          <m:t>𝑟</m:t>
                        </m:r>
                      </m:sup>
                    </m:sSup>
                    <m:r>
                      <a:rPr kumimoji="1" lang="en-US" altLang="zh-CN" i="1">
                        <a:latin typeface="Cambria Math" panose="02040503050406030204" pitchFamily="18" charset="0"/>
                        <a:ea typeface="Cambria Math" panose="02040503050406030204" pitchFamily="18" charset="0"/>
                      </a:rPr>
                      <m:t>×</m:t>
                    </m:r>
                    <m:sSup>
                      <m:sSupPr>
                        <m:ctrlPr>
                          <a:rPr kumimoji="1" lang="en-US" altLang="zh-CN" i="1">
                            <a:latin typeface="Cambria Math" panose="02040503050406030204" pitchFamily="18" charset="0"/>
                            <a:ea typeface="Cambria Math" panose="02040503050406030204" pitchFamily="18" charset="0"/>
                          </a:rPr>
                        </m:ctrlPr>
                      </m:sSupPr>
                      <m:e>
                        <m:sSub>
                          <m:sSubPr>
                            <m:ctrlPr>
                              <a:rPr kumimoji="1" lang="en-US" altLang="zh-CN" i="1">
                                <a:latin typeface="Cambria Math" panose="02040503050406030204" pitchFamily="18" charset="0"/>
                                <a:ea typeface="Cambria Math" panose="02040503050406030204" pitchFamily="18" charset="0"/>
                              </a:rPr>
                            </m:ctrlPr>
                          </m:sSubPr>
                          <m:e>
                            <m:r>
                              <a:rPr kumimoji="1" lang="en-US" altLang="zh-CN" i="1">
                                <a:latin typeface="Cambria Math" panose="02040503050406030204" pitchFamily="18" charset="0"/>
                                <a:ea typeface="Cambria Math" panose="02040503050406030204" pitchFamily="18" charset="0"/>
                              </a:rPr>
                              <m:t>𝑐</m:t>
                            </m:r>
                          </m:e>
                          <m:sub>
                            <m:r>
                              <a:rPr kumimoji="1" lang="en-US" altLang="zh-CN" i="1">
                                <a:latin typeface="Cambria Math" panose="02040503050406030204" pitchFamily="18" charset="0"/>
                                <a:ea typeface="Cambria Math" panose="02040503050406030204" pitchFamily="18" charset="0"/>
                              </a:rPr>
                              <m:t>2</m:t>
                            </m:r>
                          </m:sub>
                        </m:sSub>
                      </m:e>
                      <m:sup>
                        <m:r>
                          <a:rPr kumimoji="1" lang="en-US" altLang="zh-CN" i="1">
                            <a:latin typeface="Cambria Math" panose="02040503050406030204" pitchFamily="18" charset="0"/>
                            <a:ea typeface="Cambria Math" panose="02040503050406030204" pitchFamily="18" charset="0"/>
                          </a:rPr>
                          <m:t>𝑠</m:t>
                        </m:r>
                      </m:sup>
                    </m:sSup>
                    <m:r>
                      <a:rPr kumimoji="1" lang="en-US" altLang="zh-CN" i="1">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5</m:t>
                    </m:r>
                    <m:r>
                      <a:rPr kumimoji="1" lang="en-US" altLang="zh-CN" i="1">
                        <a:latin typeface="Cambria Math" panose="02040503050406030204" pitchFamily="18" charset="0"/>
                        <a:ea typeface="Cambria Math" panose="02040503050406030204" pitchFamily="18" charset="0"/>
                      </a:rPr>
                      <m:t> </m:t>
                    </m:r>
                    <m:r>
                      <m:rPr>
                        <m:sty m:val="p"/>
                      </m:rPr>
                      <a:rPr kumimoji="1" lang="en-US" altLang="zh-CN" i="0">
                        <a:latin typeface="Cambria Math" panose="02040503050406030204" pitchFamily="18" charset="0"/>
                        <a:ea typeface="Cambria Math" panose="02040503050406030204" pitchFamily="18" charset="0"/>
                      </a:rPr>
                      <m:t>mod</m:t>
                    </m:r>
                    <m:r>
                      <a:rPr kumimoji="1" lang="en-US" altLang="zh-CN" b="0" i="1" smtClean="0">
                        <a:latin typeface="Cambria Math" panose="02040503050406030204" pitchFamily="18" charset="0"/>
                        <a:ea typeface="Cambria Math" panose="02040503050406030204" pitchFamily="18" charset="0"/>
                      </a:rPr>
                      <m:t> 33</m:t>
                    </m:r>
                  </m:oMath>
                </a14:m>
                <a:endParaRPr lang="en-US" altLang="zh-CN" dirty="0"/>
              </a:p>
              <a:p>
                <a:pPr lvl="1">
                  <a:lnSpc>
                    <a:spcPct val="90000"/>
                  </a:lnSpc>
                </a:pPr>
                <a:endParaRPr lang="en-US" altLang="zh-CN" sz="2000" dirty="0"/>
              </a:p>
              <a:p>
                <a:pPr lvl="1">
                  <a:lnSpc>
                    <a:spcPct val="90000"/>
                  </a:lnSpc>
                </a:pPr>
                <a:endParaRPr lang="en-US" altLang="zh-CN"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199" y="1365663"/>
                <a:ext cx="10431483" cy="4904508"/>
              </a:xfrm>
              <a:blipFill>
                <a:blip r:embed="rId2"/>
                <a:stretch>
                  <a:fillRect l="-75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8D4D1E41-7A09-AB4A-A4E1-09765ADA2698}" type="slidenum">
              <a:rPr kumimoji="1" lang="zh-CN" altLang="en-US" smtClean="0"/>
              <a:pPr/>
              <a:t>46</a:t>
            </a:fld>
            <a:endParaRPr kumimoji="1" lang="zh-CN" altLang="en-US" dirty="0"/>
          </a:p>
        </p:txBody>
      </p:sp>
    </p:spTree>
    <p:extLst>
      <p:ext uri="{BB962C8B-B14F-4D97-AF65-F5344CB8AC3E}">
        <p14:creationId xmlns:p14="http://schemas.microsoft.com/office/powerpoint/2010/main" val="26193536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3" name="内容占位符 2"/>
          <p:cNvSpPr>
            <a:spLocks noGrp="1"/>
          </p:cNvSpPr>
          <p:nvPr>
            <p:ph idx="1"/>
          </p:nvPr>
        </p:nvSpPr>
        <p:spPr>
          <a:xfrm>
            <a:off x="838199" y="1365663"/>
            <a:ext cx="10431483" cy="4904508"/>
          </a:xfrm>
        </p:spPr>
        <p:txBody>
          <a:bodyPr>
            <a:normAutofit fontScale="92500" lnSpcReduction="10000"/>
          </a:bodyPr>
          <a:lstStyle/>
          <a:p>
            <a:pPr>
              <a:lnSpc>
                <a:spcPct val="150000"/>
              </a:lnSpc>
            </a:pPr>
            <a:r>
              <a:rPr lang="zh-CN" altLang="en-US" sz="2400" dirty="0"/>
              <a:t>对</a:t>
            </a:r>
            <a:r>
              <a:rPr lang="en-US" altLang="zh-CN" sz="2400" dirty="0"/>
              <a:t>RSA</a:t>
            </a:r>
            <a:r>
              <a:rPr lang="zh-CN" altLang="en-US" sz="2400" dirty="0"/>
              <a:t>的</a:t>
            </a:r>
            <a:r>
              <a:rPr lang="zh-CN" altLang="en-US" sz="2400" dirty="0">
                <a:solidFill>
                  <a:srgbClr val="C00000"/>
                </a:solidFill>
              </a:rPr>
              <a:t>小加密指数</a:t>
            </a:r>
            <a:r>
              <a:rPr lang="zh-CN" altLang="en-US" sz="2400" dirty="0"/>
              <a:t>攻击</a:t>
            </a:r>
            <a:endParaRPr lang="en-US" altLang="zh-CN" sz="2400" dirty="0"/>
          </a:p>
          <a:p>
            <a:pPr lvl="1">
              <a:lnSpc>
                <a:spcPct val="150000"/>
              </a:lnSpc>
              <a:spcBef>
                <a:spcPct val="20000"/>
              </a:spcBef>
              <a:buFontTx/>
              <a:buChar char="•"/>
            </a:pPr>
            <a:r>
              <a:rPr kumimoji="1" lang="zh-CN" altLang="en-US" dirty="0">
                <a:latin typeface="Times New Roman" panose="02020603050405020304" pitchFamily="18" charset="0"/>
              </a:rPr>
              <a:t>如果使用一个较小的</a:t>
            </a:r>
            <a:r>
              <a:rPr kumimoji="1" lang="en-US" altLang="zh-CN" dirty="0">
                <a:latin typeface="Times New Roman" panose="02020603050405020304" pitchFamily="18" charset="0"/>
              </a:rPr>
              <a:t>e</a:t>
            </a:r>
            <a:r>
              <a:rPr kumimoji="1" lang="zh-CN" altLang="en-US" dirty="0">
                <a:latin typeface="Times New Roman" panose="02020603050405020304" pitchFamily="18" charset="0"/>
              </a:rPr>
              <a:t>值，则进行</a:t>
            </a:r>
            <a:r>
              <a:rPr kumimoji="1" lang="en-US" altLang="zh-CN" dirty="0">
                <a:latin typeface="Times New Roman" panose="02020603050405020304" pitchFamily="18" charset="0"/>
              </a:rPr>
              <a:t>RSA</a:t>
            </a:r>
            <a:r>
              <a:rPr kumimoji="1" lang="zh-CN" altLang="en-US" dirty="0">
                <a:latin typeface="Times New Roman" panose="02020603050405020304" pitchFamily="18" charset="0"/>
              </a:rPr>
              <a:t>签名和加密会很快，但也不安全。</a:t>
            </a:r>
            <a:endParaRPr kumimoji="1" lang="en-US" altLang="zh-CN" dirty="0">
              <a:latin typeface="Times New Roman" panose="02020603050405020304" pitchFamily="18" charset="0"/>
            </a:endParaRPr>
          </a:p>
          <a:p>
            <a:pPr lvl="1">
              <a:lnSpc>
                <a:spcPct val="150000"/>
              </a:lnSpc>
              <a:spcBef>
                <a:spcPct val="20000"/>
              </a:spcBef>
              <a:buFontTx/>
              <a:buChar char="•"/>
            </a:pPr>
            <a:r>
              <a:rPr kumimoji="1" lang="zh-CN" altLang="en-US" dirty="0">
                <a:latin typeface="Times New Roman" panose="02020603050405020304" pitchFamily="18" charset="0"/>
              </a:rPr>
              <a:t>实例：</a:t>
            </a:r>
            <a:r>
              <a:rPr kumimoji="1" lang="en-US" altLang="zh-CN" dirty="0">
                <a:solidFill>
                  <a:srgbClr val="FF0000"/>
                </a:solidFill>
                <a:latin typeface="Times New Roman" panose="02020603050405020304" pitchFamily="18" charset="0"/>
              </a:rPr>
              <a:t>e=3</a:t>
            </a:r>
            <a:endParaRPr kumimoji="1" lang="zh-CN" altLang="en-US" dirty="0">
              <a:solidFill>
                <a:srgbClr val="FF0000"/>
              </a:solidFill>
              <a:latin typeface="Times New Roman" panose="02020603050405020304" pitchFamily="18" charset="0"/>
            </a:endParaRPr>
          </a:p>
          <a:p>
            <a:pPr lvl="1">
              <a:lnSpc>
                <a:spcPct val="150000"/>
              </a:lnSpc>
              <a:spcBef>
                <a:spcPct val="20000"/>
              </a:spcBef>
              <a:buFontTx/>
              <a:buChar char="•"/>
            </a:pPr>
            <a:r>
              <a:rPr kumimoji="1" lang="zh-CN" altLang="en-US" dirty="0">
                <a:latin typeface="Times New Roman" panose="02020603050405020304" pitchFamily="18" charset="0"/>
              </a:rPr>
              <a:t>如果用相同</a:t>
            </a:r>
            <a:r>
              <a:rPr kumimoji="1" lang="en-US" altLang="zh-CN" dirty="0">
                <a:latin typeface="Times New Roman" panose="02020603050405020304" pitchFamily="18" charset="0"/>
              </a:rPr>
              <a:t>e</a:t>
            </a:r>
            <a:r>
              <a:rPr kumimoji="1" lang="zh-CN" altLang="en-US" dirty="0">
                <a:latin typeface="Times New Roman" panose="02020603050405020304" pitchFamily="18" charset="0"/>
              </a:rPr>
              <a:t>值的不同公开密钥加密</a:t>
            </a:r>
            <a:r>
              <a:rPr kumimoji="1" lang="en-US" altLang="zh-CN" dirty="0">
                <a:latin typeface="Times New Roman" panose="02020603050405020304" pitchFamily="18" charset="0"/>
              </a:rPr>
              <a:t>e(e+1)/2</a:t>
            </a:r>
            <a:r>
              <a:rPr kumimoji="1" lang="zh-CN" altLang="en-US" dirty="0">
                <a:latin typeface="Times New Roman" panose="02020603050405020304" pitchFamily="18" charset="0"/>
              </a:rPr>
              <a:t>个线性相关的消息，则系统是可破的。如果有少于这些的消息或消息不相关，则无问题。</a:t>
            </a:r>
          </a:p>
          <a:p>
            <a:pPr lvl="1">
              <a:lnSpc>
                <a:spcPct val="150000"/>
              </a:lnSpc>
              <a:spcBef>
                <a:spcPct val="20000"/>
              </a:spcBef>
              <a:buFontTx/>
              <a:buChar char="•"/>
            </a:pPr>
            <a:r>
              <a:rPr kumimoji="1" lang="zh-CN" altLang="en-US" dirty="0">
                <a:latin typeface="Times New Roman" panose="02020603050405020304" pitchFamily="18" charset="0"/>
              </a:rPr>
              <a:t>比如：消息为</a:t>
            </a:r>
            <a:r>
              <a:rPr kumimoji="1" lang="en-US" altLang="zh-CN" dirty="0" err="1">
                <a:latin typeface="Times New Roman" panose="02020603050405020304" pitchFamily="18" charset="0"/>
              </a:rPr>
              <a:t>m</a:t>
            </a:r>
            <a:r>
              <a:rPr kumimoji="1" lang="en-US" altLang="zh-CN" baseline="-25000" dirty="0" err="1">
                <a:latin typeface="Times New Roman" panose="02020603050405020304" pitchFamily="18" charset="0"/>
              </a:rPr>
              <a:t>j</a:t>
            </a:r>
            <a:r>
              <a:rPr kumimoji="1" lang="en-US" altLang="zh-CN" dirty="0">
                <a:latin typeface="Times New Roman" panose="02020603050405020304" pitchFamily="18" charset="0"/>
              </a:rPr>
              <a:t>,</a:t>
            </a:r>
            <a:r>
              <a:rPr kumimoji="1" lang="zh-CN" altLang="en-US" dirty="0">
                <a:latin typeface="Times New Roman" panose="02020603050405020304" pitchFamily="18" charset="0"/>
              </a:rPr>
              <a:t>使用同样的指数</a:t>
            </a:r>
            <a:r>
              <a:rPr kumimoji="1" lang="en-US" altLang="zh-CN" dirty="0">
                <a:latin typeface="Times New Roman" panose="02020603050405020304" pitchFamily="18" charset="0"/>
              </a:rPr>
              <a:t>e, </a:t>
            </a:r>
            <a:r>
              <a:rPr kumimoji="1" lang="zh-CN" altLang="en-US" dirty="0">
                <a:latin typeface="Times New Roman" panose="02020603050405020304" pitchFamily="18" charset="0"/>
              </a:rPr>
              <a:t>模数分别为</a:t>
            </a:r>
            <a:r>
              <a:rPr kumimoji="1" lang="en-US" altLang="zh-CN" dirty="0">
                <a:latin typeface="Times New Roman" panose="02020603050405020304" pitchFamily="18" charset="0"/>
              </a:rPr>
              <a:t>q</a:t>
            </a:r>
            <a:r>
              <a:rPr kumimoji="1" lang="en-US" altLang="zh-CN" baseline="-25000" dirty="0">
                <a:latin typeface="Times New Roman" panose="02020603050405020304" pitchFamily="18" charset="0"/>
              </a:rPr>
              <a:t>1</a:t>
            </a:r>
            <a:r>
              <a:rPr kumimoji="1" lang="en-US" altLang="zh-CN" dirty="0">
                <a:latin typeface="Times New Roman" panose="02020603050405020304" pitchFamily="18" charset="0"/>
              </a:rPr>
              <a:t>,q</a:t>
            </a:r>
            <a:r>
              <a:rPr kumimoji="1" lang="en-US" altLang="zh-CN" baseline="-25000" dirty="0">
                <a:latin typeface="Times New Roman" panose="02020603050405020304" pitchFamily="18" charset="0"/>
              </a:rPr>
              <a:t>2</a:t>
            </a:r>
            <a:r>
              <a:rPr kumimoji="1" lang="en-US" altLang="zh-CN" dirty="0">
                <a:latin typeface="Times New Roman" panose="02020603050405020304" pitchFamily="18" charset="0"/>
              </a:rPr>
              <a:t>,…</a:t>
            </a:r>
            <a:r>
              <a:rPr kumimoji="1" lang="en-US" altLang="zh-CN" dirty="0" err="1">
                <a:latin typeface="Times New Roman" panose="02020603050405020304" pitchFamily="18" charset="0"/>
              </a:rPr>
              <a:t>q</a:t>
            </a:r>
            <a:r>
              <a:rPr kumimoji="1" lang="en-US" altLang="zh-CN" baseline="-25000" dirty="0" err="1">
                <a:latin typeface="Times New Roman" panose="02020603050405020304" pitchFamily="18" charset="0"/>
              </a:rPr>
              <a:t>s</a:t>
            </a:r>
            <a:r>
              <a:rPr kumimoji="1" lang="zh-CN" altLang="en-US" dirty="0">
                <a:latin typeface="Times New Roman" panose="02020603050405020304" pitchFamily="18" charset="0"/>
              </a:rPr>
              <a:t>（两两互素）</a:t>
            </a:r>
            <a:r>
              <a:rPr kumimoji="1" lang="en-US" altLang="zh-CN" dirty="0">
                <a:latin typeface="Times New Roman" panose="02020603050405020304" pitchFamily="18" charset="0"/>
              </a:rPr>
              <a:t>,</a:t>
            </a:r>
            <a:r>
              <a:rPr kumimoji="1" lang="zh-CN" altLang="en-US" dirty="0">
                <a:latin typeface="Times New Roman" panose="02020603050405020304" pitchFamily="18" charset="0"/>
              </a:rPr>
              <a:t>则密文为</a:t>
            </a:r>
            <a:r>
              <a:rPr kumimoji="1" lang="en-US" altLang="zh-CN" dirty="0" err="1">
                <a:latin typeface="Times New Roman" panose="02020603050405020304" pitchFamily="18" charset="0"/>
              </a:rPr>
              <a:t>m</a:t>
            </a:r>
            <a:r>
              <a:rPr kumimoji="1" lang="en-US" altLang="zh-CN" baseline="-25000" dirty="0" err="1">
                <a:latin typeface="Times New Roman" panose="02020603050405020304" pitchFamily="18" charset="0"/>
              </a:rPr>
              <a:t>j</a:t>
            </a:r>
            <a:r>
              <a:rPr kumimoji="1" lang="en-US" altLang="zh-CN" baseline="30000" dirty="0" err="1">
                <a:latin typeface="Times New Roman" panose="02020603050405020304" pitchFamily="18" charset="0"/>
              </a:rPr>
              <a:t>e</a:t>
            </a:r>
            <a:r>
              <a:rPr kumimoji="1" lang="en-US" altLang="zh-CN" dirty="0" err="1">
                <a:latin typeface="Times New Roman" panose="02020603050405020304" pitchFamily="18" charset="0"/>
              </a:rPr>
              <a:t>mod</a:t>
            </a:r>
            <a:r>
              <a:rPr kumimoji="1" lang="en-US" altLang="zh-CN" dirty="0">
                <a:latin typeface="Times New Roman" panose="02020603050405020304" pitchFamily="18" charset="0"/>
              </a:rPr>
              <a:t> q</a:t>
            </a:r>
            <a:r>
              <a:rPr kumimoji="1" lang="en-US" altLang="zh-CN" baseline="-25000" dirty="0">
                <a:latin typeface="Times New Roman" panose="02020603050405020304" pitchFamily="18" charset="0"/>
              </a:rPr>
              <a:t>1</a:t>
            </a:r>
            <a:r>
              <a:rPr kumimoji="1" lang="zh-CN" altLang="en-US" dirty="0">
                <a:latin typeface="Times New Roman" panose="02020603050405020304" pitchFamily="18" charset="0"/>
              </a:rPr>
              <a:t>， </a:t>
            </a:r>
            <a:r>
              <a:rPr kumimoji="1" lang="en-US" altLang="zh-CN" dirty="0" err="1">
                <a:latin typeface="Times New Roman" panose="02020603050405020304" pitchFamily="18" charset="0"/>
              </a:rPr>
              <a:t>m</a:t>
            </a:r>
            <a:r>
              <a:rPr kumimoji="1" lang="en-US" altLang="zh-CN" baseline="-25000" dirty="0" err="1">
                <a:latin typeface="Times New Roman" panose="02020603050405020304" pitchFamily="18" charset="0"/>
              </a:rPr>
              <a:t>j</a:t>
            </a:r>
            <a:r>
              <a:rPr kumimoji="1" lang="en-US" altLang="zh-CN" baseline="30000" dirty="0" err="1">
                <a:latin typeface="Times New Roman" panose="02020603050405020304" pitchFamily="18" charset="0"/>
              </a:rPr>
              <a:t>e</a:t>
            </a:r>
            <a:r>
              <a:rPr kumimoji="1" lang="en-US" altLang="zh-CN" dirty="0" err="1">
                <a:latin typeface="Times New Roman" panose="02020603050405020304" pitchFamily="18" charset="0"/>
              </a:rPr>
              <a:t>mod</a:t>
            </a:r>
            <a:r>
              <a:rPr kumimoji="1" lang="en-US" altLang="zh-CN" dirty="0">
                <a:latin typeface="Times New Roman" panose="02020603050405020304" pitchFamily="18" charset="0"/>
              </a:rPr>
              <a:t> q</a:t>
            </a:r>
            <a:r>
              <a:rPr kumimoji="1" lang="en-US" altLang="zh-CN" baseline="-25000" dirty="0">
                <a:latin typeface="Times New Roman" panose="02020603050405020304" pitchFamily="18" charset="0"/>
              </a:rPr>
              <a:t>2</a:t>
            </a:r>
            <a:r>
              <a:rPr kumimoji="1" lang="zh-CN" altLang="en-US" dirty="0">
                <a:latin typeface="Times New Roman" panose="02020603050405020304" pitchFamily="18" charset="0"/>
              </a:rPr>
              <a:t>，</a:t>
            </a:r>
            <a:r>
              <a:rPr kumimoji="1" lang="en-US" altLang="zh-CN" dirty="0">
                <a:latin typeface="Times New Roman" panose="02020603050405020304" pitchFamily="18" charset="0"/>
              </a:rPr>
              <a:t>… </a:t>
            </a:r>
            <a:r>
              <a:rPr kumimoji="1" lang="en-US" altLang="zh-CN" dirty="0" err="1">
                <a:latin typeface="Times New Roman" panose="02020603050405020304" pitchFamily="18" charset="0"/>
              </a:rPr>
              <a:t>m</a:t>
            </a:r>
            <a:r>
              <a:rPr kumimoji="1" lang="en-US" altLang="zh-CN" baseline="-25000" dirty="0" err="1">
                <a:latin typeface="Times New Roman" panose="02020603050405020304" pitchFamily="18" charset="0"/>
              </a:rPr>
              <a:t>j</a:t>
            </a:r>
            <a:r>
              <a:rPr kumimoji="1" lang="en-US" altLang="zh-CN" baseline="30000" dirty="0" err="1">
                <a:latin typeface="Times New Roman" panose="02020603050405020304" pitchFamily="18" charset="0"/>
              </a:rPr>
              <a:t>e</a:t>
            </a:r>
            <a:r>
              <a:rPr kumimoji="1" lang="en-US" altLang="zh-CN" dirty="0" err="1">
                <a:latin typeface="Times New Roman" panose="02020603050405020304" pitchFamily="18" charset="0"/>
              </a:rPr>
              <a:t>mod</a:t>
            </a:r>
            <a:r>
              <a:rPr kumimoji="1" lang="en-US" altLang="zh-CN" dirty="0">
                <a:latin typeface="Times New Roman" panose="02020603050405020304" pitchFamily="18" charset="0"/>
              </a:rPr>
              <a:t> </a:t>
            </a:r>
            <a:r>
              <a:rPr kumimoji="1" lang="en-US" altLang="zh-CN" dirty="0" err="1">
                <a:latin typeface="Times New Roman" panose="02020603050405020304" pitchFamily="18" charset="0"/>
              </a:rPr>
              <a:t>q</a:t>
            </a:r>
            <a:r>
              <a:rPr kumimoji="1" lang="en-US" altLang="zh-CN" baseline="-25000" dirty="0" err="1">
                <a:latin typeface="Times New Roman" panose="02020603050405020304" pitchFamily="18" charset="0"/>
              </a:rPr>
              <a:t>s</a:t>
            </a:r>
            <a:r>
              <a:rPr kumimoji="1" lang="zh-CN" altLang="en-US" dirty="0">
                <a:latin typeface="Times New Roman" panose="02020603050405020304" pitchFamily="18" charset="0"/>
              </a:rPr>
              <a:t>，根据中国剩余定理，</a:t>
            </a:r>
            <a:r>
              <a:rPr kumimoji="1" lang="en-US" altLang="zh-CN" dirty="0">
                <a:latin typeface="Times New Roman" panose="02020603050405020304" pitchFamily="18" charset="0"/>
              </a:rPr>
              <a:t>m</a:t>
            </a:r>
            <a:r>
              <a:rPr kumimoji="1" lang="en-US" altLang="zh-CN"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rPr>
              <a:t>= </a:t>
            </a:r>
            <a:r>
              <a:rPr kumimoji="1" lang="en-US" altLang="zh-CN" dirty="0" err="1">
                <a:latin typeface="Times New Roman" panose="02020603050405020304" pitchFamily="18" charset="0"/>
              </a:rPr>
              <a:t>m</a:t>
            </a:r>
            <a:r>
              <a:rPr kumimoji="1" lang="en-US" altLang="zh-CN" baseline="-25000" dirty="0" err="1">
                <a:latin typeface="Times New Roman" panose="02020603050405020304" pitchFamily="18" charset="0"/>
              </a:rPr>
              <a:t>j</a:t>
            </a:r>
            <a:r>
              <a:rPr kumimoji="1" lang="en-US" altLang="zh-CN" baseline="30000" dirty="0" err="1">
                <a:latin typeface="Times New Roman" panose="02020603050405020304" pitchFamily="18" charset="0"/>
              </a:rPr>
              <a:t>e</a:t>
            </a:r>
            <a:r>
              <a:rPr kumimoji="1" lang="en-US" altLang="zh-CN" dirty="0" err="1">
                <a:latin typeface="Times New Roman" panose="02020603050405020304" pitchFamily="18" charset="0"/>
              </a:rPr>
              <a:t>mod</a:t>
            </a:r>
            <a:r>
              <a:rPr kumimoji="1" lang="en-US" altLang="zh-CN" dirty="0">
                <a:latin typeface="Times New Roman" panose="02020603050405020304" pitchFamily="18" charset="0"/>
              </a:rPr>
              <a:t> q</a:t>
            </a:r>
            <a:r>
              <a:rPr kumimoji="1" lang="en-US" altLang="zh-CN" baseline="-25000" dirty="0">
                <a:latin typeface="Times New Roman" panose="02020603050405020304" pitchFamily="18" charset="0"/>
              </a:rPr>
              <a:t>1 </a:t>
            </a:r>
            <a:r>
              <a:rPr kumimoji="1" lang="en-US" altLang="zh-CN" dirty="0">
                <a:latin typeface="Times New Roman" panose="02020603050405020304" pitchFamily="18" charset="0"/>
              </a:rPr>
              <a:t>q</a:t>
            </a:r>
            <a:r>
              <a:rPr kumimoji="1" lang="en-US" altLang="zh-CN" baseline="-25000" dirty="0">
                <a:latin typeface="Times New Roman" panose="02020603050405020304" pitchFamily="18" charset="0"/>
              </a:rPr>
              <a:t>2</a:t>
            </a:r>
            <a:r>
              <a:rPr kumimoji="1" lang="en-US" altLang="zh-CN" dirty="0">
                <a:latin typeface="Times New Roman" panose="02020603050405020304" pitchFamily="18" charset="0"/>
              </a:rPr>
              <a:t>… </a:t>
            </a:r>
            <a:r>
              <a:rPr kumimoji="1" lang="en-US" altLang="zh-CN" dirty="0" err="1">
                <a:latin typeface="Times New Roman" panose="02020603050405020304" pitchFamily="18" charset="0"/>
              </a:rPr>
              <a:t>q</a:t>
            </a:r>
            <a:r>
              <a:rPr kumimoji="1" lang="en-US" altLang="zh-CN" baseline="-25000" dirty="0" err="1">
                <a:latin typeface="Times New Roman" panose="02020603050405020304" pitchFamily="18" charset="0"/>
              </a:rPr>
              <a:t>s</a:t>
            </a:r>
            <a:r>
              <a:rPr kumimoji="1" lang="en-US" altLang="zh-CN" baseline="-25000" dirty="0">
                <a:latin typeface="Times New Roman" panose="02020603050405020304" pitchFamily="18" charset="0"/>
              </a:rPr>
              <a:t>.</a:t>
            </a:r>
            <a:r>
              <a:rPr kumimoji="1" lang="zh-CN" altLang="en-US" dirty="0">
                <a:latin typeface="Times New Roman" panose="02020603050405020304" pitchFamily="18" charset="0"/>
              </a:rPr>
              <a:t>可以计算出来，对于较小的</a:t>
            </a:r>
            <a:r>
              <a:rPr kumimoji="1" lang="en-US" altLang="zh-CN" dirty="0">
                <a:latin typeface="Times New Roman" panose="02020603050405020304" pitchFamily="18" charset="0"/>
              </a:rPr>
              <a:t>e</a:t>
            </a:r>
            <a:r>
              <a:rPr kumimoji="1" lang="zh-CN" altLang="en-US" dirty="0">
                <a:latin typeface="Times New Roman" panose="02020603050405020304" pitchFamily="18" charset="0"/>
              </a:rPr>
              <a:t>，可以解出</a:t>
            </a:r>
            <a:r>
              <a:rPr kumimoji="1" lang="en-US" altLang="zh-CN" dirty="0" err="1">
                <a:latin typeface="Times New Roman" panose="02020603050405020304" pitchFamily="18" charset="0"/>
              </a:rPr>
              <a:t>m</a:t>
            </a:r>
            <a:r>
              <a:rPr kumimoji="1" lang="en-US" altLang="zh-CN" baseline="-25000" dirty="0" err="1">
                <a:latin typeface="Times New Roman" panose="02020603050405020304" pitchFamily="18" charset="0"/>
              </a:rPr>
              <a:t>j</a:t>
            </a:r>
            <a:r>
              <a:rPr kumimoji="1" lang="zh-CN" altLang="en-US" baseline="-25000" dirty="0">
                <a:latin typeface="Times New Roman" panose="02020603050405020304" pitchFamily="18" charset="0"/>
              </a:rPr>
              <a:t>。</a:t>
            </a:r>
            <a:endParaRPr kumimoji="1" lang="zh-CN" altLang="en-US" dirty="0">
              <a:latin typeface="Times New Roman" panose="02020603050405020304" pitchFamily="18" charset="0"/>
            </a:endParaRPr>
          </a:p>
          <a:p>
            <a:pPr lvl="1">
              <a:lnSpc>
                <a:spcPct val="150000"/>
              </a:lnSpc>
              <a:spcBef>
                <a:spcPct val="20000"/>
              </a:spcBef>
              <a:buFontTx/>
              <a:buChar char="•"/>
            </a:pPr>
            <a:r>
              <a:rPr kumimoji="1" lang="zh-CN" altLang="en-US" dirty="0">
                <a:latin typeface="Times New Roman" panose="02020603050405020304" pitchFamily="18" charset="0"/>
              </a:rPr>
              <a:t>解决办法：加密前将消息与随机值混合，并保证</a:t>
            </a:r>
            <a:r>
              <a:rPr kumimoji="1" lang="en-US" altLang="zh-CN" dirty="0">
                <a:latin typeface="Times New Roman" panose="02020603050405020304" pitchFamily="18" charset="0"/>
              </a:rPr>
              <a:t>m</a:t>
            </a:r>
            <a:r>
              <a:rPr kumimoji="1" lang="zh-CN" altLang="en-US" dirty="0">
                <a:latin typeface="Times New Roman" panose="02020603050405020304" pitchFamily="18" charset="0"/>
              </a:rPr>
              <a:t>与</a:t>
            </a:r>
            <a:r>
              <a:rPr kumimoji="1" lang="en-US" altLang="zh-CN" dirty="0">
                <a:latin typeface="Times New Roman" panose="02020603050405020304" pitchFamily="18" charset="0"/>
              </a:rPr>
              <a:t>n</a:t>
            </a:r>
            <a:r>
              <a:rPr kumimoji="1" lang="zh-CN" altLang="en-US" dirty="0">
                <a:latin typeface="Times New Roman" panose="02020603050405020304" pitchFamily="18" charset="0"/>
              </a:rPr>
              <a:t>有相同的长度。</a:t>
            </a:r>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47</a:t>
            </a:fld>
            <a:endParaRPr kumimoji="1" lang="zh-CN" altLang="en-US" dirty="0"/>
          </a:p>
        </p:txBody>
      </p:sp>
    </p:spTree>
    <p:extLst>
      <p:ext uri="{BB962C8B-B14F-4D97-AF65-F5344CB8AC3E}">
        <p14:creationId xmlns:p14="http://schemas.microsoft.com/office/powerpoint/2010/main" val="21059707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14E44B-805B-3F58-5171-9F2DE4A25B80}"/>
              </a:ext>
            </a:extLst>
          </p:cNvPr>
          <p:cNvSpPr>
            <a:spLocks noGrp="1"/>
          </p:cNvSpPr>
          <p:nvPr>
            <p:ph type="title"/>
          </p:nvPr>
        </p:nvSpPr>
        <p:spPr/>
        <p:txBody>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A566BAA-630D-B8A0-D964-BD669FC52DDA}"/>
                  </a:ext>
                </a:extLst>
              </p:cNvPr>
              <p:cNvSpPr>
                <a:spLocks noGrp="1"/>
              </p:cNvSpPr>
              <p:nvPr>
                <p:ph idx="1"/>
              </p:nvPr>
            </p:nvSpPr>
            <p:spPr/>
            <p:txBody>
              <a:bodyPr/>
              <a:lstStyle/>
              <a:p>
                <a:r>
                  <a:rPr lang="zh-CN" altLang="en-US" dirty="0"/>
                  <a:t>案例：假设主管要把同一个开会通知数字明文</a:t>
                </a:r>
                <a14:m>
                  <m:oMath xmlns:m="http://schemas.openxmlformats.org/officeDocument/2006/math">
                    <m:r>
                      <a:rPr lang="en-US" altLang="zh-CN" i="1" dirty="0" smtClean="0">
                        <a:latin typeface="Cambria Math" panose="02040503050406030204" pitchFamily="18" charset="0"/>
                      </a:rPr>
                      <m:t>𝑚</m:t>
                    </m:r>
                    <m:r>
                      <a:rPr lang="en-US" altLang="zh-CN" i="1" dirty="0" smtClean="0">
                        <a:latin typeface="Cambria Math" panose="02040503050406030204" pitchFamily="18" charset="0"/>
                      </a:rPr>
                      <m:t> = 5</m:t>
                    </m:r>
                  </m:oMath>
                </a14:m>
                <a:r>
                  <a:rPr lang="zh-CN" altLang="en-US" dirty="0"/>
                  <a:t>，发给 </a:t>
                </a:r>
                <a:r>
                  <a:rPr lang="en-US" altLang="zh-CN" dirty="0"/>
                  <a:t>3 </a:t>
                </a:r>
                <a:r>
                  <a:rPr lang="zh-CN" altLang="en-US" dirty="0"/>
                  <a:t>个不同的部门。为了追求加密速度，所有部门都共用公钥</a:t>
                </a:r>
                <a14:m>
                  <m:oMath xmlns:m="http://schemas.openxmlformats.org/officeDocument/2006/math">
                    <m:r>
                      <a:rPr lang="en-US" altLang="zh-CN" i="1" dirty="0" smtClean="0">
                        <a:latin typeface="Cambria Math" panose="02040503050406030204" pitchFamily="18" charset="0"/>
                      </a:rPr>
                      <m:t>𝑒</m:t>
                    </m:r>
                    <m:r>
                      <a:rPr lang="en-US" altLang="zh-CN" i="1" dirty="0" smtClean="0">
                        <a:latin typeface="Cambria Math" panose="02040503050406030204" pitchFamily="18" charset="0"/>
                      </a:rPr>
                      <m:t> = 3</m:t>
                    </m:r>
                  </m:oMath>
                </a14:m>
                <a:r>
                  <a:rPr lang="zh-CN" altLang="en-US" dirty="0"/>
                  <a:t>。但这 </a:t>
                </a:r>
                <a:r>
                  <a:rPr lang="en-US" altLang="zh-CN" dirty="0"/>
                  <a:t>3 </a:t>
                </a:r>
                <a:r>
                  <a:rPr lang="zh-CN" altLang="en-US" dirty="0"/>
                  <a:t>个部门的模数</a:t>
                </a:r>
                <a:r>
                  <a:rPr lang="en-US" altLang="zh-CN" dirty="0"/>
                  <a:t>n</a:t>
                </a:r>
                <a:r>
                  <a:rPr lang="zh-CN" altLang="en-US" dirty="0"/>
                  <a:t>各不相同（且两两互质）：</a:t>
                </a:r>
                <a:endParaRPr lang="en-US" altLang="zh-CN" dirty="0"/>
              </a:p>
              <a:p>
                <a:pPr lvl="1"/>
                <a:r>
                  <a:rPr lang="zh-CN" altLang="en-US" dirty="0"/>
                  <a:t>部门 </a:t>
                </a:r>
                <a:r>
                  <a:rPr lang="en-US" altLang="zh-CN" dirty="0"/>
                  <a:t>1</a:t>
                </a:r>
                <a:r>
                  <a:rPr lang="zh-CN" altLang="en-US" dirty="0"/>
                  <a:t>：</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𝑛</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 7</m:t>
                    </m:r>
                  </m:oMath>
                </a14:m>
                <a:r>
                  <a:rPr lang="zh-CN" altLang="en-US" dirty="0"/>
                  <a:t>，部门 </a:t>
                </a:r>
                <a:r>
                  <a:rPr lang="en-US" altLang="zh-CN" dirty="0"/>
                  <a:t>2</a:t>
                </a:r>
                <a:r>
                  <a:rPr lang="zh-CN" altLang="en-US" dirty="0"/>
                  <a:t>：</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𝑛</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 11</m:t>
                    </m:r>
                  </m:oMath>
                </a14:m>
                <a:r>
                  <a:rPr lang="zh-CN" altLang="en-US" dirty="0"/>
                  <a:t>，部门 </a:t>
                </a:r>
                <a:r>
                  <a:rPr lang="en-US" altLang="zh-CN" dirty="0"/>
                  <a:t>3</a:t>
                </a:r>
                <a:r>
                  <a:rPr lang="zh-CN" altLang="en-US" dirty="0"/>
                  <a:t>：</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𝑛</m:t>
                        </m:r>
                      </m:e>
                      <m:sub>
                        <m:r>
                          <a:rPr lang="en-US" altLang="zh-CN" i="1" dirty="0" smtClean="0">
                            <a:latin typeface="Cambria Math" panose="02040503050406030204" pitchFamily="18" charset="0"/>
                          </a:rPr>
                          <m:t>3</m:t>
                        </m:r>
                      </m:sub>
                    </m:sSub>
                    <m:r>
                      <a:rPr lang="en-US" altLang="zh-CN" i="1" dirty="0" smtClean="0">
                        <a:latin typeface="Cambria Math" panose="02040503050406030204" pitchFamily="18" charset="0"/>
                      </a:rPr>
                      <m:t>= 13</m:t>
                    </m:r>
                  </m:oMath>
                </a14:m>
                <a:endParaRPr lang="en-US" altLang="zh-CN" dirty="0"/>
              </a:p>
              <a:p>
                <a:pPr lvl="1"/>
                <a:endParaRPr lang="en-US" altLang="zh-CN" dirty="0"/>
              </a:p>
              <a:p>
                <a:pPr lvl="1"/>
                <a:endParaRPr lang="en-US" altLang="zh-CN" dirty="0"/>
              </a:p>
              <a:p>
                <a:pPr lvl="1"/>
                <a:endParaRPr lang="en-US" altLang="zh-CN" dirty="0"/>
              </a:p>
              <a:p>
                <a:pPr lvl="1"/>
                <a:r>
                  <a:rPr lang="zh-CN" altLang="en-US" dirty="0"/>
                  <a:t>中国剩余定理：</a:t>
                </a:r>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𝑚</m:t>
                        </m:r>
                      </m:e>
                      <m:sup>
                        <m:r>
                          <a:rPr lang="zh-CN" altLang="en-US" i="1">
                            <a:latin typeface="Cambria Math" panose="02040503050406030204" pitchFamily="18" charset="0"/>
                          </a:rPr>
                          <m:t>3</m:t>
                        </m:r>
                      </m:sup>
                    </m:sSup>
                    <m:r>
                      <a:rPr lang="zh-CN" altLang="en-US" i="1">
                        <a:latin typeface="Cambria Math" panose="02040503050406030204" pitchFamily="18" charset="0"/>
                      </a:rPr>
                      <m:t>≡</m:t>
                    </m:r>
                    <m:r>
                      <a:rPr lang="zh-CN" altLang="en-US" i="1">
                        <a:latin typeface="Cambria Math" panose="02040503050406030204" pitchFamily="18" charset="0"/>
                      </a:rPr>
                      <m:t>𝑋</m:t>
                    </m:r>
                    <m:r>
                      <a:rPr lang="en-US" altLang="zh-CN" b="0" i="1" smtClean="0">
                        <a:latin typeface="Cambria Math" panose="02040503050406030204" pitchFamily="18" charset="0"/>
                      </a:rPr>
                      <m:t>   </m:t>
                    </m:r>
                    <m:r>
                      <m:rPr>
                        <m:sty m:val="p"/>
                      </m:rPr>
                      <a:rPr lang="zh-CN" altLang="en-US" i="1">
                        <a:latin typeface="Cambria Math" panose="02040503050406030204" pitchFamily="18" charset="0"/>
                      </a:rPr>
                      <m:t>mod</m:t>
                    </m:r>
                    <m:r>
                      <a:rPr lang="en-US" altLang="zh-CN" b="0" i="1" smtClean="0">
                        <a:latin typeface="Cambria Math" panose="02040503050406030204" pitchFamily="18" charset="0"/>
                      </a:rPr>
                      <m:t>  </m:t>
                    </m:r>
                    <m:r>
                      <a:rPr lang="zh-CN" altLang="en-US" i="1">
                        <a:latin typeface="Cambria Math" panose="02040503050406030204" pitchFamily="18" charset="0"/>
                      </a:rPr>
                      <m:t>7×11×13⇒</m:t>
                    </m:r>
                    <m:sSup>
                      <m:sSupPr>
                        <m:ctrlPr>
                          <a:rPr lang="zh-CN" altLang="en-US" i="1">
                            <a:latin typeface="Cambria Math" panose="02040503050406030204" pitchFamily="18" charset="0"/>
                          </a:rPr>
                        </m:ctrlPr>
                      </m:sSupPr>
                      <m:e>
                        <m:r>
                          <a:rPr lang="zh-CN" altLang="en-US" i="1">
                            <a:latin typeface="Cambria Math" panose="02040503050406030204" pitchFamily="18" charset="0"/>
                          </a:rPr>
                          <m:t>𝑚</m:t>
                        </m:r>
                      </m:e>
                      <m:sup>
                        <m:r>
                          <a:rPr lang="zh-CN" altLang="en-US" i="1">
                            <a:latin typeface="Cambria Math" panose="02040503050406030204" pitchFamily="18" charset="0"/>
                          </a:rPr>
                          <m:t>3</m:t>
                        </m:r>
                      </m:sup>
                    </m:sSup>
                    <m:r>
                      <a:rPr lang="zh-CN" altLang="en-US" i="1">
                        <a:latin typeface="Cambria Math" panose="02040503050406030204" pitchFamily="18" charset="0"/>
                      </a:rPr>
                      <m:t>≡</m:t>
                    </m:r>
                    <m:r>
                      <a:rPr lang="en-US" altLang="zh-CN" b="0" i="1" smtClean="0">
                        <a:latin typeface="Cambria Math" panose="02040503050406030204" pitchFamily="18" charset="0"/>
                      </a:rPr>
                      <m:t>125   </m:t>
                    </m:r>
                    <m:r>
                      <m:rPr>
                        <m:sty m:val="p"/>
                      </m:rPr>
                      <a:rPr lang="zh-CN" altLang="en-US" i="1">
                        <a:latin typeface="Cambria Math" panose="02040503050406030204" pitchFamily="18" charset="0"/>
                      </a:rPr>
                      <m:t>mod</m:t>
                    </m:r>
                    <m:r>
                      <a:rPr lang="en-US" altLang="zh-CN" b="0" i="1" smtClean="0">
                        <a:latin typeface="Cambria Math" panose="02040503050406030204" pitchFamily="18" charset="0"/>
                      </a:rPr>
                      <m:t> </m:t>
                    </m:r>
                    <m:r>
                      <a:rPr lang="zh-CN" altLang="en-US" i="1">
                        <a:latin typeface="Cambria Math" panose="02040503050406030204" pitchFamily="18" charset="0"/>
                      </a:rPr>
                      <m:t>100</m:t>
                    </m:r>
                    <m:r>
                      <a:rPr lang="zh-CN" altLang="en-US" i="1" smtClean="0">
                        <a:latin typeface="Cambria Math" panose="02040503050406030204" pitchFamily="18" charset="0"/>
                      </a:rPr>
                      <m:t>1</m:t>
                    </m:r>
                  </m:oMath>
                </a14:m>
                <a:endParaRPr lang="en-US" altLang="zh-CN" dirty="0"/>
              </a:p>
              <a:p>
                <a:pPr lvl="1"/>
                <a:r>
                  <a:rPr lang="zh-CN" altLang="en-US" dirty="0"/>
                  <a:t>因为原始明文</a:t>
                </a:r>
                <a14:m>
                  <m:oMath xmlns:m="http://schemas.openxmlformats.org/officeDocument/2006/math">
                    <m:r>
                      <a:rPr lang="en-US" altLang="zh-CN" i="1" dirty="0" smtClean="0">
                        <a:latin typeface="Cambria Math" panose="02040503050406030204" pitchFamily="18" charset="0"/>
                      </a:rPr>
                      <m:t>𝑚</m:t>
                    </m:r>
                    <m:r>
                      <a:rPr lang="en-US" altLang="zh-CN" i="1" dirty="0" smtClean="0">
                        <a:latin typeface="Cambria Math" panose="02040503050406030204" pitchFamily="18" charset="0"/>
                      </a:rPr>
                      <m:t>=5</m:t>
                    </m:r>
                  </m:oMath>
                </a14:m>
                <a:r>
                  <a:rPr lang="zh-CN" altLang="en-US" dirty="0"/>
                  <a:t>必然小于任何一个模数，所以</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rPr>
                          <m:t>𝑚</m:t>
                        </m:r>
                      </m:e>
                      <m:sup>
                        <m:r>
                          <a:rPr lang="en-US" altLang="zh-CN" i="1" dirty="0" smtClean="0">
                            <a:latin typeface="Cambria Math" panose="02040503050406030204" pitchFamily="18" charset="0"/>
                          </a:rPr>
                          <m:t>3</m:t>
                        </m:r>
                      </m:sup>
                    </m:sSup>
                    <m:r>
                      <a:rPr lang="en-US" altLang="zh-CN" i="1" dirty="0" smtClean="0">
                        <a:latin typeface="Cambria Math" panose="02040503050406030204" pitchFamily="18" charset="0"/>
                      </a:rPr>
                      <m:t>= 125</m:t>
                    </m:r>
                  </m:oMath>
                </a14:m>
                <a:r>
                  <a:rPr lang="zh-CN" altLang="en-US" dirty="0"/>
                  <a:t>必然也远远小于三个模数的总乘积 </a:t>
                </a:r>
                <a:r>
                  <a:rPr lang="en-US" altLang="zh-CN" dirty="0"/>
                  <a:t>1001</a:t>
                </a:r>
                <a:r>
                  <a:rPr lang="zh-CN" altLang="en-US" dirty="0"/>
                  <a:t>。 </a:t>
                </a:r>
                <a:r>
                  <a:rPr lang="en-US" altLang="zh-CN" dirty="0"/>
                  <a:t>m = 5</a:t>
                </a:r>
                <a:r>
                  <a:rPr lang="zh-CN" altLang="en-US" dirty="0"/>
                  <a:t>可以得到！</a:t>
                </a:r>
              </a:p>
            </p:txBody>
          </p:sp>
        </mc:Choice>
        <mc:Fallback xmlns="">
          <p:sp>
            <p:nvSpPr>
              <p:cNvPr id="3" name="内容占位符 2">
                <a:extLst>
                  <a:ext uri="{FF2B5EF4-FFF2-40B4-BE49-F238E27FC236}">
                    <a16:creationId xmlns:a16="http://schemas.microsoft.com/office/drawing/2014/main" id="{6A566BAA-630D-B8A0-D964-BD669FC52DDA}"/>
                  </a:ext>
                </a:extLst>
              </p:cNvPr>
              <p:cNvSpPr>
                <a:spLocks noGrp="1" noRot="1" noChangeAspect="1" noMove="1" noResize="1" noEditPoints="1" noAdjustHandles="1" noChangeArrowheads="1" noChangeShapeType="1" noTextEdit="1"/>
              </p:cNvSpPr>
              <p:nvPr>
                <p:ph idx="1"/>
              </p:nvPr>
            </p:nvSpPr>
            <p:spPr>
              <a:blipFill>
                <a:blip r:embed="rId2"/>
                <a:stretch>
                  <a:fillRect l="-1043" t="-1463" r="-4580"/>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076092BC-8404-C686-8B66-D7599E90A4D2}"/>
              </a:ext>
            </a:extLst>
          </p:cNvPr>
          <p:cNvSpPr>
            <a:spLocks noGrp="1"/>
          </p:cNvSpPr>
          <p:nvPr>
            <p:ph type="sldNum" sz="quarter" idx="12"/>
          </p:nvPr>
        </p:nvSpPr>
        <p:spPr/>
        <p:txBody>
          <a:bodyPr/>
          <a:lstStyle/>
          <a:p>
            <a:fld id="{8D4D1E41-7A09-AB4A-A4E1-09765ADA2698}" type="slidenum">
              <a:rPr kumimoji="1" lang="zh-CN" altLang="en-US" smtClean="0"/>
              <a:pPr/>
              <a:t>48</a:t>
            </a:fld>
            <a:endParaRPr kumimoji="1" lang="zh-CN" altLang="en-US" dirty="0"/>
          </a:p>
        </p:txBody>
      </p:sp>
      <p:pic>
        <p:nvPicPr>
          <p:cNvPr id="6" name="图片 5">
            <a:extLst>
              <a:ext uri="{FF2B5EF4-FFF2-40B4-BE49-F238E27FC236}">
                <a16:creationId xmlns:a16="http://schemas.microsoft.com/office/drawing/2014/main" id="{AED8178E-B21F-4FDC-B63E-16138BA8CD2E}"/>
              </a:ext>
            </a:extLst>
          </p:cNvPr>
          <p:cNvPicPr>
            <a:picLocks noChangeAspect="1"/>
          </p:cNvPicPr>
          <p:nvPr/>
        </p:nvPicPr>
        <p:blipFill>
          <a:blip r:embed="rId3"/>
          <a:stretch>
            <a:fillRect/>
          </a:stretch>
        </p:blipFill>
        <p:spPr>
          <a:xfrm>
            <a:off x="1192843" y="3365500"/>
            <a:ext cx="4903157" cy="1339399"/>
          </a:xfrm>
          <a:prstGeom prst="rect">
            <a:avLst/>
          </a:prstGeom>
        </p:spPr>
      </p:pic>
      <p:sp>
        <p:nvSpPr>
          <p:cNvPr id="9" name="文本框 8">
            <a:extLst>
              <a:ext uri="{FF2B5EF4-FFF2-40B4-BE49-F238E27FC236}">
                <a16:creationId xmlns:a16="http://schemas.microsoft.com/office/drawing/2014/main" id="{ECBCC8E6-1DED-6877-CC01-BB2F06B78458}"/>
              </a:ext>
            </a:extLst>
          </p:cNvPr>
          <p:cNvSpPr txBox="1"/>
          <p:nvPr/>
        </p:nvSpPr>
        <p:spPr>
          <a:xfrm>
            <a:off x="6934200" y="3437930"/>
            <a:ext cx="4508500" cy="923330"/>
          </a:xfrm>
          <a:prstGeom prst="rect">
            <a:avLst/>
          </a:prstGeom>
          <a:noFill/>
        </p:spPr>
        <p:txBody>
          <a:bodyPr wrap="square" rtlCol="0">
            <a:spAutoFit/>
          </a:bodyPr>
          <a:lstStyle/>
          <a:p>
            <a:r>
              <a:rPr lang="en-US" altLang="zh-CN" dirty="0">
                <a:solidFill>
                  <a:srgbClr val="FF0000"/>
                </a:solidFill>
              </a:rPr>
              <a:t>M1 = 715   -&gt; 6*715 = 4290</a:t>
            </a:r>
          </a:p>
          <a:p>
            <a:r>
              <a:rPr lang="en-US" altLang="zh-CN" dirty="0">
                <a:solidFill>
                  <a:srgbClr val="FF0000"/>
                </a:solidFill>
              </a:rPr>
              <a:t>M2 = 364   -&gt; 4*364 = 1456,   </a:t>
            </a:r>
            <a:r>
              <a:rPr lang="zh-CN" altLang="en-US" dirty="0">
                <a:solidFill>
                  <a:srgbClr val="FF0000"/>
                </a:solidFill>
              </a:rPr>
              <a:t>相加</a:t>
            </a:r>
            <a:r>
              <a:rPr lang="en-US" altLang="zh-CN" dirty="0">
                <a:solidFill>
                  <a:srgbClr val="FF0000"/>
                </a:solidFill>
              </a:rPr>
              <a:t>13138</a:t>
            </a:r>
          </a:p>
          <a:p>
            <a:r>
              <a:rPr lang="en-US" altLang="zh-CN" dirty="0">
                <a:solidFill>
                  <a:srgbClr val="FF0000"/>
                </a:solidFill>
              </a:rPr>
              <a:t>M3 = 924   -&gt; 8*924 = 7392</a:t>
            </a:r>
            <a:endParaRPr lang="zh-CN" altLang="en-US" dirty="0">
              <a:solidFill>
                <a:srgbClr val="FF0000"/>
              </a:solidFill>
            </a:endParaRPr>
          </a:p>
        </p:txBody>
      </p:sp>
      <p:cxnSp>
        <p:nvCxnSpPr>
          <p:cNvPr id="11" name="直接箭头连接符 10">
            <a:extLst>
              <a:ext uri="{FF2B5EF4-FFF2-40B4-BE49-F238E27FC236}">
                <a16:creationId xmlns:a16="http://schemas.microsoft.com/office/drawing/2014/main" id="{59993A6B-12C3-4FA5-EF69-1FB99EE316BA}"/>
              </a:ext>
            </a:extLst>
          </p:cNvPr>
          <p:cNvCxnSpPr/>
          <p:nvPr/>
        </p:nvCxnSpPr>
        <p:spPr>
          <a:xfrm flipH="1">
            <a:off x="8724900" y="4035199"/>
            <a:ext cx="1790700" cy="6697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5845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3" name="内容占位符 2"/>
          <p:cNvSpPr>
            <a:spLocks noGrp="1"/>
          </p:cNvSpPr>
          <p:nvPr>
            <p:ph idx="1"/>
          </p:nvPr>
        </p:nvSpPr>
        <p:spPr>
          <a:xfrm>
            <a:off x="838199" y="1365663"/>
            <a:ext cx="10431483" cy="4904508"/>
          </a:xfrm>
        </p:spPr>
        <p:txBody>
          <a:bodyPr>
            <a:normAutofit/>
          </a:bodyPr>
          <a:lstStyle/>
          <a:p>
            <a:pPr>
              <a:lnSpc>
                <a:spcPct val="150000"/>
              </a:lnSpc>
            </a:pPr>
            <a:r>
              <a:rPr lang="zh-CN" altLang="en-US" sz="2400" dirty="0"/>
              <a:t>对</a:t>
            </a:r>
            <a:r>
              <a:rPr lang="en-US" altLang="zh-CN" sz="2400" dirty="0"/>
              <a:t>RSA</a:t>
            </a:r>
            <a:r>
              <a:rPr lang="zh-CN" altLang="en-US" sz="2400" dirty="0"/>
              <a:t>的</a:t>
            </a:r>
            <a:r>
              <a:rPr lang="zh-CN" altLang="en-US" sz="2400" dirty="0">
                <a:solidFill>
                  <a:srgbClr val="C00000"/>
                </a:solidFill>
              </a:rPr>
              <a:t>小解密指数</a:t>
            </a:r>
            <a:r>
              <a:rPr lang="zh-CN" altLang="en-US" sz="2400" dirty="0"/>
              <a:t>攻击</a:t>
            </a:r>
            <a:endParaRPr lang="en-US" altLang="zh-CN" sz="2400" dirty="0"/>
          </a:p>
          <a:p>
            <a:pPr lvl="1">
              <a:lnSpc>
                <a:spcPct val="150000"/>
              </a:lnSpc>
            </a:pPr>
            <a:r>
              <a:rPr lang="zh-CN" altLang="en-US" dirty="0"/>
              <a:t>使用较小的私钥</a:t>
            </a:r>
            <a:r>
              <a:rPr lang="en-US" altLang="zh-CN" dirty="0"/>
              <a:t>d</a:t>
            </a:r>
            <a:r>
              <a:rPr lang="zh-CN" altLang="en-US" dirty="0"/>
              <a:t>会产生穷尽解密攻击的可能</a:t>
            </a:r>
          </a:p>
          <a:p>
            <a:pPr lvl="1">
              <a:lnSpc>
                <a:spcPct val="150000"/>
              </a:lnSpc>
            </a:pPr>
            <a:r>
              <a:rPr lang="zh-CN" altLang="en-US" dirty="0"/>
              <a:t>当</a:t>
            </a:r>
            <a:r>
              <a:rPr lang="en-US" altLang="zh-CN" dirty="0"/>
              <a:t>d</a:t>
            </a:r>
            <a:r>
              <a:rPr lang="zh-CN" altLang="en-US" dirty="0"/>
              <a:t>为</a:t>
            </a:r>
            <a:r>
              <a:rPr lang="en-US" altLang="zh-CN" dirty="0"/>
              <a:t>n</a:t>
            </a:r>
            <a:r>
              <a:rPr lang="zh-CN" altLang="en-US" dirty="0"/>
              <a:t>的</a:t>
            </a:r>
            <a:r>
              <a:rPr lang="en-US" altLang="zh-CN" dirty="0"/>
              <a:t>1/4</a:t>
            </a:r>
            <a:r>
              <a:rPr lang="zh-CN" altLang="en-US" dirty="0"/>
              <a:t>长度时，而</a:t>
            </a:r>
            <a:r>
              <a:rPr lang="en-US" altLang="zh-CN" dirty="0"/>
              <a:t>e</a:t>
            </a:r>
            <a:r>
              <a:rPr lang="zh-CN" altLang="en-US" dirty="0"/>
              <a:t>小于</a:t>
            </a:r>
            <a:r>
              <a:rPr lang="en-US" altLang="zh-CN" dirty="0"/>
              <a:t>n</a:t>
            </a:r>
            <a:r>
              <a:rPr lang="zh-CN" altLang="en-US" dirty="0"/>
              <a:t>时，可以恢复</a:t>
            </a:r>
            <a:r>
              <a:rPr lang="en-US" altLang="zh-CN" dirty="0"/>
              <a:t>d</a:t>
            </a:r>
            <a:r>
              <a:rPr lang="zh-CN" altLang="en-US" dirty="0"/>
              <a:t>，当</a:t>
            </a:r>
            <a:r>
              <a:rPr lang="en-US" altLang="zh-CN" dirty="0" err="1"/>
              <a:t>e,d</a:t>
            </a:r>
            <a:r>
              <a:rPr lang="zh-CN" altLang="en-US" dirty="0"/>
              <a:t>是随机选择的时，这种情况很少发生，当</a:t>
            </a:r>
            <a:r>
              <a:rPr lang="en-US" altLang="zh-CN" dirty="0"/>
              <a:t>e</a:t>
            </a:r>
            <a:r>
              <a:rPr lang="zh-CN" altLang="en-US" dirty="0"/>
              <a:t>很小时不会发生。</a:t>
            </a:r>
          </a:p>
          <a:p>
            <a:pPr lvl="1">
              <a:lnSpc>
                <a:spcPct val="150000"/>
              </a:lnSpc>
            </a:pPr>
            <a:r>
              <a:rPr lang="zh-CN" altLang="en-US" dirty="0">
                <a:solidFill>
                  <a:srgbClr val="FF0000"/>
                </a:solidFill>
              </a:rPr>
              <a:t>注意：应选择一个大的</a:t>
            </a:r>
            <a:r>
              <a:rPr lang="en-US" altLang="zh-CN" dirty="0">
                <a:solidFill>
                  <a:srgbClr val="FF0000"/>
                </a:solidFill>
              </a:rPr>
              <a:t>d</a:t>
            </a:r>
            <a:r>
              <a:rPr lang="zh-CN" altLang="en-US" dirty="0">
                <a:solidFill>
                  <a:srgbClr val="FF0000"/>
                </a:solidFill>
              </a:rPr>
              <a:t>值</a:t>
            </a:r>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49</a:t>
            </a:fld>
            <a:endParaRPr kumimoji="1" lang="zh-CN" altLang="en-US" dirty="0"/>
          </a:p>
        </p:txBody>
      </p:sp>
    </p:spTree>
    <p:extLst>
      <p:ext uri="{BB962C8B-B14F-4D97-AF65-F5344CB8AC3E}">
        <p14:creationId xmlns:p14="http://schemas.microsoft.com/office/powerpoint/2010/main" val="609638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3" name="内容占位符 2"/>
          <p:cNvSpPr>
            <a:spLocks noGrp="1"/>
          </p:cNvSpPr>
          <p:nvPr>
            <p:ph idx="1"/>
          </p:nvPr>
        </p:nvSpPr>
        <p:spPr>
          <a:xfrm>
            <a:off x="838199" y="1365663"/>
            <a:ext cx="10431483" cy="4904508"/>
          </a:xfrm>
        </p:spPr>
        <p:txBody>
          <a:bodyPr>
            <a:normAutofit/>
          </a:bodyPr>
          <a:lstStyle/>
          <a:p>
            <a:pPr>
              <a:lnSpc>
                <a:spcPct val="150000"/>
              </a:lnSpc>
            </a:pPr>
            <a:r>
              <a:rPr lang="zh-CN" altLang="en-US" sz="2400" dirty="0"/>
              <a:t>循环攻击</a:t>
            </a:r>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50</a:t>
            </a:fld>
            <a:endParaRPr kumimoji="1" lang="zh-CN" altLang="en-US" dirty="0"/>
          </a:p>
        </p:txBody>
      </p:sp>
      <p:grpSp>
        <p:nvGrpSpPr>
          <p:cNvPr id="5" name="组合 4"/>
          <p:cNvGrpSpPr/>
          <p:nvPr/>
        </p:nvGrpSpPr>
        <p:grpSpPr>
          <a:xfrm>
            <a:off x="1954358" y="2202656"/>
            <a:ext cx="8042072" cy="3727342"/>
            <a:chOff x="1570038" y="2416175"/>
            <a:chExt cx="8042072" cy="3727342"/>
          </a:xfrm>
        </p:grpSpPr>
        <p:sp>
          <p:nvSpPr>
            <p:cNvPr id="6" name="矩形 3"/>
            <p:cNvSpPr>
              <a:spLocks noChangeArrowheads="1"/>
            </p:cNvSpPr>
            <p:nvPr/>
          </p:nvSpPr>
          <p:spPr bwMode="auto">
            <a:xfrm>
              <a:off x="2141538" y="2416175"/>
              <a:ext cx="53277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r>
                <a:rPr lang="en-US" altLang="zh-CN" b="0" dirty="0">
                  <a:solidFill>
                    <a:schemeClr val="tx1"/>
                  </a:solidFill>
                </a:rPr>
                <a:t>p=23</a:t>
              </a:r>
              <a:r>
                <a:rPr lang="zh-CN" altLang="en-US" b="0" dirty="0">
                  <a:solidFill>
                    <a:schemeClr val="tx1"/>
                  </a:solidFill>
                </a:rPr>
                <a:t>，</a:t>
              </a:r>
              <a:r>
                <a:rPr lang="en-US" altLang="zh-CN" b="0" dirty="0">
                  <a:solidFill>
                    <a:schemeClr val="tx1"/>
                  </a:solidFill>
                </a:rPr>
                <a:t>q=31, </a:t>
              </a:r>
              <a:r>
                <a:rPr lang="en-US" altLang="zh-CN" b="0" dirty="0" err="1">
                  <a:solidFill>
                    <a:schemeClr val="tx1"/>
                  </a:solidFill>
                </a:rPr>
                <a:t>gcd</a:t>
              </a:r>
              <a:r>
                <a:rPr lang="en-US" altLang="zh-CN" b="0" dirty="0">
                  <a:solidFill>
                    <a:schemeClr val="tx1"/>
                  </a:solidFill>
                </a:rPr>
                <a:t>(p-1,q-1) = 2</a:t>
              </a:r>
              <a:r>
                <a:rPr lang="zh-CN" altLang="en-US" b="0" dirty="0">
                  <a:solidFill>
                    <a:schemeClr val="tx1"/>
                  </a:solidFill>
                </a:rPr>
                <a:t>，但是只是必要条件</a:t>
              </a:r>
              <a:endParaRPr lang="en-US" altLang="zh-CN" b="0" dirty="0">
                <a:solidFill>
                  <a:schemeClr val="tx1"/>
                </a:solidFill>
              </a:endParaRPr>
            </a:p>
          </p:txBody>
        </p:sp>
        <p:sp>
          <p:nvSpPr>
            <p:cNvPr id="7" name="矩形 4"/>
            <p:cNvSpPr>
              <a:spLocks noChangeArrowheads="1"/>
            </p:cNvSpPr>
            <p:nvPr/>
          </p:nvSpPr>
          <p:spPr bwMode="auto">
            <a:xfrm>
              <a:off x="1998663" y="2987675"/>
              <a:ext cx="1709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r>
                <a:rPr lang="en-US" altLang="zh-CN" b="0">
                  <a:solidFill>
                    <a:schemeClr val="tx1"/>
                  </a:solidFill>
                </a:rPr>
                <a:t>n=23×31=713</a:t>
              </a:r>
            </a:p>
          </p:txBody>
        </p:sp>
        <p:sp>
          <p:nvSpPr>
            <p:cNvPr id="8" name="矩形 5"/>
            <p:cNvSpPr>
              <a:spLocks noChangeArrowheads="1"/>
            </p:cNvSpPr>
            <p:nvPr/>
          </p:nvSpPr>
          <p:spPr bwMode="auto">
            <a:xfrm>
              <a:off x="2070100" y="4059238"/>
              <a:ext cx="14157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lang="en-US" altLang="zh-CN" b="0" dirty="0">
                  <a:solidFill>
                    <a:schemeClr val="tx1"/>
                  </a:solidFill>
                </a:rPr>
                <a:t>e=29,d=569</a:t>
              </a:r>
            </a:p>
          </p:txBody>
        </p:sp>
        <p:sp>
          <p:nvSpPr>
            <p:cNvPr id="9" name="矩形 6"/>
            <p:cNvSpPr>
              <a:spLocks noChangeArrowheads="1"/>
            </p:cNvSpPr>
            <p:nvPr/>
          </p:nvSpPr>
          <p:spPr bwMode="auto">
            <a:xfrm>
              <a:off x="1570038" y="3487738"/>
              <a:ext cx="2686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r>
                <a:rPr lang="en-US" altLang="zh-CN" b="0" dirty="0">
                  <a:solidFill>
                    <a:schemeClr val="tx1"/>
                  </a:solidFill>
                  <a:highlight>
                    <a:srgbClr val="FFFF00"/>
                  </a:highlight>
                </a:rPr>
                <a:t> </a:t>
              </a:r>
              <a:r>
                <a:rPr lang="pt-BR" altLang="zh-CN" b="0" dirty="0">
                  <a:solidFill>
                    <a:schemeClr val="tx1"/>
                  </a:solidFill>
                  <a:highlight>
                    <a:srgbClr val="FFFF00"/>
                  </a:highlight>
                </a:rPr>
                <a:t>φ</a:t>
              </a:r>
              <a:r>
                <a:rPr lang="el-GR" altLang="zh-CN" b="0" dirty="0">
                  <a:solidFill>
                    <a:schemeClr val="tx1"/>
                  </a:solidFill>
                  <a:highlight>
                    <a:srgbClr val="FFFF00"/>
                  </a:highlight>
                </a:rPr>
                <a:t> </a:t>
              </a:r>
              <a:r>
                <a:rPr lang="en-US" altLang="zh-CN" b="0" dirty="0">
                  <a:solidFill>
                    <a:schemeClr val="tx1"/>
                  </a:solidFill>
                  <a:highlight>
                    <a:srgbClr val="FFFF00"/>
                  </a:highlight>
                </a:rPr>
                <a:t>(n)=(23-1)(31-1)=660</a:t>
              </a:r>
            </a:p>
          </p:txBody>
        </p:sp>
        <p:sp>
          <p:nvSpPr>
            <p:cNvPr id="10" name="矩形 7"/>
            <p:cNvSpPr>
              <a:spLocks noChangeArrowheads="1"/>
            </p:cNvSpPr>
            <p:nvPr/>
          </p:nvSpPr>
          <p:spPr bwMode="auto">
            <a:xfrm>
              <a:off x="2224088" y="4660900"/>
              <a:ext cx="7681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r>
                <a:rPr lang="en-US" altLang="zh-CN" b="0" i="1" dirty="0">
                  <a:solidFill>
                    <a:schemeClr val="tx1"/>
                  </a:solidFill>
                </a:rPr>
                <a:t>m</a:t>
              </a:r>
              <a:r>
                <a:rPr lang="en-US" altLang="zh-CN" b="0" dirty="0">
                  <a:solidFill>
                    <a:schemeClr val="tx1"/>
                  </a:solidFill>
                </a:rPr>
                <a:t>=25</a:t>
              </a:r>
            </a:p>
          </p:txBody>
        </p:sp>
        <p:sp>
          <p:nvSpPr>
            <p:cNvPr id="11" name="矩形 8"/>
            <p:cNvSpPr>
              <a:spLocks noChangeArrowheads="1"/>
            </p:cNvSpPr>
            <p:nvPr/>
          </p:nvSpPr>
          <p:spPr bwMode="auto">
            <a:xfrm>
              <a:off x="1641475" y="5130800"/>
              <a:ext cx="2162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r>
                <a:rPr lang="en-US" altLang="zh-CN" b="0" i="1" dirty="0">
                  <a:solidFill>
                    <a:schemeClr val="tx1"/>
                  </a:solidFill>
                </a:rPr>
                <a:t>c</a:t>
              </a:r>
              <a:r>
                <a:rPr lang="en-US" altLang="zh-CN" b="0" dirty="0">
                  <a:solidFill>
                    <a:schemeClr val="tx1"/>
                  </a:solidFill>
                </a:rPr>
                <a:t>=25</a:t>
              </a:r>
              <a:r>
                <a:rPr lang="en-US" altLang="zh-CN" b="0" baseline="30000" dirty="0">
                  <a:solidFill>
                    <a:schemeClr val="tx1"/>
                  </a:solidFill>
                </a:rPr>
                <a:t>29</a:t>
              </a:r>
              <a:r>
                <a:rPr lang="en-US" altLang="zh-CN" b="0" dirty="0">
                  <a:solidFill>
                    <a:schemeClr val="tx1"/>
                  </a:solidFill>
                </a:rPr>
                <a:t>mod713=36</a:t>
              </a:r>
            </a:p>
          </p:txBody>
        </p:sp>
        <p:sp>
          <p:nvSpPr>
            <p:cNvPr id="12" name="矩形 9"/>
            <p:cNvSpPr>
              <a:spLocks noChangeArrowheads="1"/>
            </p:cNvSpPr>
            <p:nvPr/>
          </p:nvSpPr>
          <p:spPr bwMode="auto">
            <a:xfrm>
              <a:off x="5963538" y="2941081"/>
              <a:ext cx="2367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r>
                <a:rPr lang="en-US" altLang="zh-CN" b="0" i="1" dirty="0">
                  <a:solidFill>
                    <a:schemeClr val="tx1"/>
                  </a:solidFill>
                </a:rPr>
                <a:t>c</a:t>
              </a:r>
              <a:r>
                <a:rPr lang="en-US" altLang="zh-CN" b="0" dirty="0">
                  <a:solidFill>
                    <a:schemeClr val="tx1"/>
                  </a:solidFill>
                </a:rPr>
                <a:t>(0)=25</a:t>
              </a:r>
              <a:r>
                <a:rPr lang="en-US" altLang="zh-CN" b="0" baseline="30000" dirty="0">
                  <a:solidFill>
                    <a:schemeClr val="tx1"/>
                  </a:solidFill>
                </a:rPr>
                <a:t>29</a:t>
              </a:r>
              <a:r>
                <a:rPr lang="en-US" altLang="zh-CN" b="0" dirty="0">
                  <a:solidFill>
                    <a:schemeClr val="tx1"/>
                  </a:solidFill>
                </a:rPr>
                <a:t>mod713=36</a:t>
              </a:r>
            </a:p>
          </p:txBody>
        </p:sp>
        <p:sp>
          <p:nvSpPr>
            <p:cNvPr id="13" name="Rectangle 1"/>
            <p:cNvSpPr>
              <a:spLocks noChangeArrowheads="1"/>
            </p:cNvSpPr>
            <p:nvPr/>
          </p:nvSpPr>
          <p:spPr bwMode="auto">
            <a:xfrm>
              <a:off x="4682923" y="3281254"/>
              <a:ext cx="4929187"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1333500">
                <a:tabLst>
                  <a:tab pos="457200" algn="l"/>
                </a:tabLst>
                <a:defRPr b="1">
                  <a:solidFill>
                    <a:srgbClr val="000000"/>
                  </a:solidFill>
                  <a:latin typeface="Arial" panose="020B0604020202020204" pitchFamily="34" charset="0"/>
                  <a:ea typeface="宋体" panose="02010600030101010101" pitchFamily="2" charset="-122"/>
                </a:defRPr>
              </a:lvl1pPr>
              <a:lvl2pPr marL="742950" indent="-285750">
                <a:tabLst>
                  <a:tab pos="457200" algn="l"/>
                </a:tabLst>
                <a:defRPr b="1">
                  <a:solidFill>
                    <a:srgbClr val="000000"/>
                  </a:solidFill>
                  <a:latin typeface="Arial" panose="020B0604020202020204" pitchFamily="34" charset="0"/>
                  <a:ea typeface="宋体" panose="02010600030101010101" pitchFamily="2" charset="-122"/>
                </a:defRPr>
              </a:lvl2pPr>
              <a:lvl3pPr marL="1143000" indent="-228600">
                <a:tabLst>
                  <a:tab pos="457200" algn="l"/>
                </a:tabLst>
                <a:defRPr b="1">
                  <a:solidFill>
                    <a:srgbClr val="000000"/>
                  </a:solidFill>
                  <a:latin typeface="Arial" panose="020B0604020202020204" pitchFamily="34" charset="0"/>
                  <a:ea typeface="宋体" panose="02010600030101010101" pitchFamily="2" charset="-122"/>
                </a:defRPr>
              </a:lvl3pPr>
              <a:lvl4pPr marL="1600200" indent="-228600">
                <a:tabLst>
                  <a:tab pos="457200" algn="l"/>
                </a:tabLst>
                <a:defRPr b="1">
                  <a:solidFill>
                    <a:srgbClr val="000000"/>
                  </a:solidFill>
                  <a:latin typeface="Arial" panose="020B0604020202020204" pitchFamily="34" charset="0"/>
                  <a:ea typeface="宋体" panose="02010600030101010101" pitchFamily="2" charset="-122"/>
                </a:defRPr>
              </a:lvl4pPr>
              <a:lvl5pPr marL="2057400" indent="-228600">
                <a:tabLst>
                  <a:tab pos="457200" algn="l"/>
                </a:tabLst>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tabLst>
                  <a:tab pos="457200" algn="l"/>
                </a:tabLs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tabLst>
                  <a:tab pos="457200" algn="l"/>
                </a:tabLs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tabLst>
                  <a:tab pos="457200" algn="l"/>
                </a:tabLs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tabLst>
                  <a:tab pos="457200" algn="l"/>
                </a:tabLst>
                <a:defRPr b="1">
                  <a:solidFill>
                    <a:srgbClr val="000000"/>
                  </a:solidFill>
                  <a:latin typeface="Arial" panose="020B0604020202020204" pitchFamily="34" charset="0"/>
                  <a:ea typeface="宋体" panose="02010600030101010101" pitchFamily="2" charset="-122"/>
                </a:defRPr>
              </a:lvl9pPr>
            </a:lstStyle>
            <a:p>
              <a:pPr algn="l" eaLnBrk="1" hangingPunct="1"/>
              <a:r>
                <a:rPr lang="es-ES" altLang="zh-CN" b="0" i="1" dirty="0">
                  <a:solidFill>
                    <a:schemeClr val="tx1"/>
                  </a:solidFill>
                  <a:latin typeface="Times New Roman" panose="02020603050405020304" pitchFamily="18" charset="0"/>
                  <a:cs typeface="Times New Roman" panose="02020603050405020304" pitchFamily="18" charset="0"/>
                </a:rPr>
                <a:t>c</a:t>
              </a:r>
              <a:r>
                <a:rPr lang="es-ES" altLang="zh-CN" b="0" dirty="0">
                  <a:solidFill>
                    <a:schemeClr val="tx1"/>
                  </a:solidFill>
                  <a:latin typeface="Times New Roman" panose="02020603050405020304" pitchFamily="18" charset="0"/>
                  <a:cs typeface="Times New Roman" panose="02020603050405020304" pitchFamily="18" charset="0"/>
                </a:rPr>
                <a:t>(1)=36</a:t>
              </a:r>
              <a:r>
                <a:rPr lang="es-ES" altLang="zh-CN" b="0" baseline="30000" dirty="0">
                  <a:solidFill>
                    <a:schemeClr val="tx1"/>
                  </a:solidFill>
                  <a:latin typeface="Times New Roman" panose="02020603050405020304" pitchFamily="18" charset="0"/>
                  <a:cs typeface="Times New Roman" panose="02020603050405020304" pitchFamily="18" charset="0"/>
                </a:rPr>
                <a:t>29</a:t>
              </a:r>
              <a:r>
                <a:rPr lang="es-ES" altLang="zh-CN" b="0" dirty="0">
                  <a:solidFill>
                    <a:schemeClr val="tx1"/>
                  </a:solidFill>
                  <a:latin typeface="Times New Roman" panose="02020603050405020304" pitchFamily="18" charset="0"/>
                  <a:cs typeface="Times New Roman" panose="02020603050405020304" pitchFamily="18" charset="0"/>
                </a:rPr>
                <a:t>mod713=676</a:t>
              </a:r>
              <a:endParaRPr lang="es-ES" altLang="zh-CN" sz="1600" b="0" dirty="0">
                <a:solidFill>
                  <a:schemeClr val="tx1"/>
                </a:solidFill>
              </a:endParaRPr>
            </a:p>
            <a:p>
              <a:pPr algn="l"/>
              <a:r>
                <a:rPr lang="es-ES" altLang="zh-CN" b="0" i="1" dirty="0">
                  <a:solidFill>
                    <a:schemeClr val="tx1"/>
                  </a:solidFill>
                  <a:latin typeface="Times New Roman" panose="02020603050405020304" pitchFamily="18" charset="0"/>
                  <a:cs typeface="Times New Roman" panose="02020603050405020304" pitchFamily="18" charset="0"/>
                </a:rPr>
                <a:t>c</a:t>
              </a:r>
              <a:r>
                <a:rPr lang="es-ES" altLang="zh-CN" b="0" dirty="0">
                  <a:solidFill>
                    <a:schemeClr val="tx1"/>
                  </a:solidFill>
                  <a:latin typeface="Times New Roman" panose="02020603050405020304" pitchFamily="18" charset="0"/>
                  <a:cs typeface="Times New Roman" panose="02020603050405020304" pitchFamily="18" charset="0"/>
                </a:rPr>
                <a:t>(2)=676</a:t>
              </a:r>
              <a:r>
                <a:rPr lang="es-ES" altLang="zh-CN" b="0" baseline="30000" dirty="0">
                  <a:solidFill>
                    <a:schemeClr val="tx1"/>
                  </a:solidFill>
                  <a:latin typeface="Times New Roman" panose="02020603050405020304" pitchFamily="18" charset="0"/>
                  <a:cs typeface="Times New Roman" panose="02020603050405020304" pitchFamily="18" charset="0"/>
                </a:rPr>
                <a:t>29</a:t>
              </a:r>
              <a:r>
                <a:rPr lang="es-ES" altLang="zh-CN" b="0" dirty="0">
                  <a:solidFill>
                    <a:schemeClr val="tx1"/>
                  </a:solidFill>
                  <a:latin typeface="Times New Roman" panose="02020603050405020304" pitchFamily="18" charset="0"/>
                  <a:cs typeface="Times New Roman" panose="02020603050405020304" pitchFamily="18" charset="0"/>
                </a:rPr>
                <a:t>mod713=625</a:t>
              </a:r>
              <a:endParaRPr lang="es-ES" altLang="zh-CN" sz="1600" b="0" dirty="0">
                <a:solidFill>
                  <a:schemeClr val="tx1"/>
                </a:solidFill>
              </a:endParaRPr>
            </a:p>
            <a:p>
              <a:pPr algn="l"/>
              <a:r>
                <a:rPr lang="es-ES" altLang="zh-CN" b="0" i="1" dirty="0">
                  <a:solidFill>
                    <a:schemeClr val="tx1"/>
                  </a:solidFill>
                  <a:latin typeface="Times New Roman" panose="02020603050405020304" pitchFamily="18" charset="0"/>
                  <a:cs typeface="Times New Roman" panose="02020603050405020304" pitchFamily="18" charset="0"/>
                </a:rPr>
                <a:t>c</a:t>
              </a:r>
              <a:r>
                <a:rPr lang="es-ES" altLang="zh-CN" b="0" dirty="0">
                  <a:solidFill>
                    <a:schemeClr val="tx1"/>
                  </a:solidFill>
                  <a:latin typeface="Times New Roman" panose="02020603050405020304" pitchFamily="18" charset="0"/>
                  <a:cs typeface="Times New Roman" panose="02020603050405020304" pitchFamily="18" charset="0"/>
                </a:rPr>
                <a:t>(3)=625</a:t>
              </a:r>
              <a:r>
                <a:rPr lang="es-ES" altLang="zh-CN" b="0" baseline="30000" dirty="0">
                  <a:solidFill>
                    <a:schemeClr val="tx1"/>
                  </a:solidFill>
                  <a:latin typeface="Times New Roman" panose="02020603050405020304" pitchFamily="18" charset="0"/>
                  <a:cs typeface="Times New Roman" panose="02020603050405020304" pitchFamily="18" charset="0"/>
                </a:rPr>
                <a:t>29</a:t>
              </a:r>
              <a:r>
                <a:rPr lang="es-ES" altLang="zh-CN" b="0" dirty="0">
                  <a:solidFill>
                    <a:schemeClr val="tx1"/>
                  </a:solidFill>
                  <a:latin typeface="Times New Roman" panose="02020603050405020304" pitchFamily="18" charset="0"/>
                  <a:cs typeface="Times New Roman" panose="02020603050405020304" pitchFamily="18" charset="0"/>
                </a:rPr>
                <a:t>mod713=583</a:t>
              </a:r>
              <a:endParaRPr lang="es-ES" altLang="zh-CN" sz="1600" b="0" dirty="0">
                <a:solidFill>
                  <a:schemeClr val="tx1"/>
                </a:solidFill>
              </a:endParaRPr>
            </a:p>
            <a:p>
              <a:pPr algn="l"/>
              <a:r>
                <a:rPr lang="es-ES" altLang="zh-CN" b="0" i="1" dirty="0">
                  <a:solidFill>
                    <a:schemeClr val="tx1"/>
                  </a:solidFill>
                  <a:latin typeface="Times New Roman" panose="02020603050405020304" pitchFamily="18" charset="0"/>
                  <a:cs typeface="Times New Roman" panose="02020603050405020304" pitchFamily="18" charset="0"/>
                </a:rPr>
                <a:t>c</a:t>
              </a:r>
              <a:r>
                <a:rPr lang="es-ES" altLang="zh-CN" b="0" dirty="0">
                  <a:solidFill>
                    <a:schemeClr val="tx1"/>
                  </a:solidFill>
                  <a:latin typeface="Times New Roman" panose="02020603050405020304" pitchFamily="18" charset="0"/>
                  <a:cs typeface="Times New Roman" panose="02020603050405020304" pitchFamily="18" charset="0"/>
                </a:rPr>
                <a:t>(4)=583</a:t>
              </a:r>
              <a:r>
                <a:rPr lang="es-ES" altLang="zh-CN" b="0" baseline="30000" dirty="0">
                  <a:solidFill>
                    <a:schemeClr val="tx1"/>
                  </a:solidFill>
                  <a:latin typeface="Times New Roman" panose="02020603050405020304" pitchFamily="18" charset="0"/>
                  <a:cs typeface="Times New Roman" panose="02020603050405020304" pitchFamily="18" charset="0"/>
                </a:rPr>
                <a:t>29</a:t>
              </a:r>
              <a:r>
                <a:rPr lang="es-ES" altLang="zh-CN" b="0" dirty="0">
                  <a:solidFill>
                    <a:schemeClr val="tx1"/>
                  </a:solidFill>
                  <a:latin typeface="Times New Roman" panose="02020603050405020304" pitchFamily="18" charset="0"/>
                  <a:cs typeface="Times New Roman" panose="02020603050405020304" pitchFamily="18" charset="0"/>
                </a:rPr>
                <a:t>mod713=656</a:t>
              </a:r>
              <a:endParaRPr lang="es-ES" altLang="zh-CN" sz="1600" b="0" dirty="0">
                <a:solidFill>
                  <a:schemeClr val="tx1"/>
                </a:solidFill>
              </a:endParaRPr>
            </a:p>
            <a:p>
              <a:pPr algn="l"/>
              <a:r>
                <a:rPr lang="es-ES" altLang="zh-CN" b="0" i="1" dirty="0">
                  <a:solidFill>
                    <a:schemeClr val="tx1"/>
                  </a:solidFill>
                  <a:latin typeface="Times New Roman" panose="02020603050405020304" pitchFamily="18" charset="0"/>
                  <a:cs typeface="Times New Roman" panose="02020603050405020304" pitchFamily="18" charset="0"/>
                </a:rPr>
                <a:t>c</a:t>
              </a:r>
              <a:r>
                <a:rPr lang="es-ES" altLang="zh-CN" b="0" dirty="0">
                  <a:solidFill>
                    <a:schemeClr val="tx1"/>
                  </a:solidFill>
                  <a:latin typeface="Times New Roman" panose="02020603050405020304" pitchFamily="18" charset="0"/>
                  <a:cs typeface="Times New Roman" panose="02020603050405020304" pitchFamily="18" charset="0"/>
                </a:rPr>
                <a:t>(5)=656</a:t>
              </a:r>
              <a:r>
                <a:rPr lang="es-ES" altLang="zh-CN" b="0" baseline="30000" dirty="0">
                  <a:solidFill>
                    <a:schemeClr val="tx1"/>
                  </a:solidFill>
                  <a:latin typeface="Times New Roman" panose="02020603050405020304" pitchFamily="18" charset="0"/>
                  <a:cs typeface="Times New Roman" panose="02020603050405020304" pitchFamily="18" charset="0"/>
                </a:rPr>
                <a:t>29</a:t>
              </a:r>
              <a:r>
                <a:rPr lang="es-ES" altLang="zh-CN" b="0" dirty="0">
                  <a:solidFill>
                    <a:schemeClr val="tx1"/>
                  </a:solidFill>
                  <a:latin typeface="Times New Roman" panose="02020603050405020304" pitchFamily="18" charset="0"/>
                  <a:cs typeface="Times New Roman" panose="02020603050405020304" pitchFamily="18" charset="0"/>
                </a:rPr>
                <a:t>mod713=614</a:t>
              </a:r>
              <a:endParaRPr lang="es-ES" altLang="zh-CN" sz="1600" b="0" dirty="0">
                <a:solidFill>
                  <a:schemeClr val="tx1"/>
                </a:solidFill>
              </a:endParaRPr>
            </a:p>
            <a:p>
              <a:pPr algn="l"/>
              <a:r>
                <a:rPr lang="es-ES" altLang="zh-CN" b="0" i="1" dirty="0">
                  <a:solidFill>
                    <a:schemeClr val="tx1"/>
                  </a:solidFill>
                  <a:latin typeface="Times New Roman" panose="02020603050405020304" pitchFamily="18" charset="0"/>
                  <a:cs typeface="Times New Roman" panose="02020603050405020304" pitchFamily="18" charset="0"/>
                </a:rPr>
                <a:t>c</a:t>
              </a:r>
              <a:r>
                <a:rPr lang="es-ES" altLang="zh-CN" b="0" dirty="0">
                  <a:solidFill>
                    <a:schemeClr val="tx1"/>
                  </a:solidFill>
                  <a:latin typeface="Times New Roman" panose="02020603050405020304" pitchFamily="18" charset="0"/>
                  <a:cs typeface="Times New Roman" panose="02020603050405020304" pitchFamily="18" charset="0"/>
                </a:rPr>
                <a:t>(6)=614</a:t>
              </a:r>
              <a:r>
                <a:rPr lang="es-ES" altLang="zh-CN" b="0" baseline="30000" dirty="0">
                  <a:solidFill>
                    <a:schemeClr val="tx1"/>
                  </a:solidFill>
                  <a:latin typeface="Times New Roman" panose="02020603050405020304" pitchFamily="18" charset="0"/>
                  <a:cs typeface="Times New Roman" panose="02020603050405020304" pitchFamily="18" charset="0"/>
                </a:rPr>
                <a:t>29</a:t>
              </a:r>
              <a:r>
                <a:rPr lang="es-ES" altLang="zh-CN" b="0" dirty="0">
                  <a:solidFill>
                    <a:schemeClr val="tx1"/>
                  </a:solidFill>
                  <a:latin typeface="Times New Roman" panose="02020603050405020304" pitchFamily="18" charset="0"/>
                  <a:cs typeface="Times New Roman" panose="02020603050405020304" pitchFamily="18" charset="0"/>
                </a:rPr>
                <a:t>mod713=501</a:t>
              </a:r>
              <a:endParaRPr lang="es-ES" altLang="zh-CN" sz="1600" b="0" dirty="0">
                <a:solidFill>
                  <a:schemeClr val="tx1"/>
                </a:solidFill>
              </a:endParaRPr>
            </a:p>
            <a:p>
              <a:pPr algn="l"/>
              <a:r>
                <a:rPr lang="es-ES" altLang="zh-CN" b="0" i="1" dirty="0">
                  <a:solidFill>
                    <a:schemeClr val="tx1"/>
                  </a:solidFill>
                  <a:latin typeface="Times New Roman" panose="02020603050405020304" pitchFamily="18" charset="0"/>
                  <a:cs typeface="Times New Roman" panose="02020603050405020304" pitchFamily="18" charset="0"/>
                </a:rPr>
                <a:t>c</a:t>
              </a:r>
              <a:r>
                <a:rPr lang="es-ES" altLang="zh-CN" b="0" dirty="0">
                  <a:solidFill>
                    <a:schemeClr val="tx1"/>
                  </a:solidFill>
                  <a:latin typeface="Times New Roman" panose="02020603050405020304" pitchFamily="18" charset="0"/>
                  <a:cs typeface="Times New Roman" panose="02020603050405020304" pitchFamily="18" charset="0"/>
                </a:rPr>
                <a:t>(7)=501</a:t>
              </a:r>
              <a:r>
                <a:rPr lang="es-ES" altLang="zh-CN" b="0" baseline="30000" dirty="0">
                  <a:solidFill>
                    <a:schemeClr val="tx1"/>
                  </a:solidFill>
                  <a:latin typeface="Times New Roman" panose="02020603050405020304" pitchFamily="18" charset="0"/>
                  <a:cs typeface="Times New Roman" panose="02020603050405020304" pitchFamily="18" charset="0"/>
                </a:rPr>
                <a:t>29</a:t>
              </a:r>
              <a:r>
                <a:rPr lang="es-ES" altLang="zh-CN" b="0" dirty="0">
                  <a:solidFill>
                    <a:schemeClr val="tx1"/>
                  </a:solidFill>
                  <a:latin typeface="Times New Roman" panose="02020603050405020304" pitchFamily="18" charset="0"/>
                  <a:cs typeface="Times New Roman" panose="02020603050405020304" pitchFamily="18" charset="0"/>
                </a:rPr>
                <a:t>mod713=397</a:t>
              </a:r>
              <a:endParaRPr lang="es-ES" altLang="zh-CN" sz="1600" b="0" dirty="0">
                <a:solidFill>
                  <a:schemeClr val="tx1"/>
                </a:solidFill>
              </a:endParaRPr>
            </a:p>
            <a:p>
              <a:pPr algn="l"/>
              <a:r>
                <a:rPr lang="es-ES" altLang="zh-CN" b="0" i="1" dirty="0">
                  <a:solidFill>
                    <a:schemeClr val="tx1"/>
                  </a:solidFill>
                  <a:latin typeface="Times New Roman" panose="02020603050405020304" pitchFamily="18" charset="0"/>
                  <a:cs typeface="Times New Roman" panose="02020603050405020304" pitchFamily="18" charset="0"/>
                </a:rPr>
                <a:t>c</a:t>
              </a:r>
              <a:r>
                <a:rPr lang="es-ES" altLang="zh-CN" b="0" dirty="0">
                  <a:solidFill>
                    <a:schemeClr val="tx1"/>
                  </a:solidFill>
                  <a:latin typeface="Times New Roman" panose="02020603050405020304" pitchFamily="18" charset="0"/>
                  <a:cs typeface="Times New Roman" panose="02020603050405020304" pitchFamily="18" charset="0"/>
                </a:rPr>
                <a:t>(8)=397</a:t>
              </a:r>
              <a:r>
                <a:rPr lang="es-ES" altLang="zh-CN" b="0" baseline="30000" dirty="0">
                  <a:solidFill>
                    <a:schemeClr val="tx1"/>
                  </a:solidFill>
                  <a:latin typeface="Times New Roman" panose="02020603050405020304" pitchFamily="18" charset="0"/>
                  <a:cs typeface="Times New Roman" panose="02020603050405020304" pitchFamily="18" charset="0"/>
                </a:rPr>
                <a:t>29</a:t>
              </a:r>
              <a:r>
                <a:rPr lang="es-ES" altLang="zh-CN" b="0" dirty="0">
                  <a:solidFill>
                    <a:schemeClr val="tx1"/>
                  </a:solidFill>
                  <a:latin typeface="Times New Roman" panose="02020603050405020304" pitchFamily="18" charset="0"/>
                  <a:cs typeface="Times New Roman" panose="02020603050405020304" pitchFamily="18" charset="0"/>
                </a:rPr>
                <a:t>mod713=532</a:t>
              </a:r>
              <a:endParaRPr lang="es-ES" altLang="zh-CN" sz="1600" b="0" dirty="0">
                <a:solidFill>
                  <a:schemeClr val="tx1"/>
                </a:solidFill>
              </a:endParaRPr>
            </a:p>
            <a:p>
              <a:pPr algn="l"/>
              <a:r>
                <a:rPr lang="es-ES" altLang="zh-CN" b="0" i="1" dirty="0">
                  <a:solidFill>
                    <a:schemeClr val="tx1"/>
                  </a:solidFill>
                  <a:latin typeface="Times New Roman" panose="02020603050405020304" pitchFamily="18" charset="0"/>
                  <a:cs typeface="Times New Roman" panose="02020603050405020304" pitchFamily="18" charset="0"/>
                </a:rPr>
                <a:t>c</a:t>
              </a:r>
              <a:r>
                <a:rPr lang="es-ES" altLang="zh-CN" b="0" dirty="0">
                  <a:solidFill>
                    <a:schemeClr val="tx1"/>
                  </a:solidFill>
                  <a:latin typeface="Times New Roman" panose="02020603050405020304" pitchFamily="18" charset="0"/>
                  <a:cs typeface="Times New Roman" panose="02020603050405020304" pitchFamily="18" charset="0"/>
                </a:rPr>
                <a:t>(9)=532</a:t>
              </a:r>
              <a:r>
                <a:rPr lang="es-ES" altLang="zh-CN" b="0" baseline="30000" dirty="0">
                  <a:solidFill>
                    <a:schemeClr val="tx1"/>
                  </a:solidFill>
                  <a:latin typeface="Times New Roman" panose="02020603050405020304" pitchFamily="18" charset="0"/>
                  <a:cs typeface="Times New Roman" panose="02020603050405020304" pitchFamily="18" charset="0"/>
                </a:rPr>
                <a:t>29</a:t>
              </a:r>
              <a:r>
                <a:rPr lang="es-ES" altLang="zh-CN" b="0" dirty="0">
                  <a:solidFill>
                    <a:schemeClr val="tx1"/>
                  </a:solidFill>
                  <a:latin typeface="Times New Roman" panose="02020603050405020304" pitchFamily="18" charset="0"/>
                  <a:cs typeface="Times New Roman" panose="02020603050405020304" pitchFamily="18" charset="0"/>
                </a:rPr>
                <a:t>mod713=</a:t>
              </a:r>
              <a:r>
                <a:rPr lang="es-ES" altLang="zh-CN" b="0" u="sng" dirty="0">
                  <a:solidFill>
                    <a:schemeClr val="tx1"/>
                  </a:solidFill>
                  <a:latin typeface="Times New Roman" panose="02020603050405020304" pitchFamily="18" charset="0"/>
                  <a:cs typeface="Times New Roman" panose="02020603050405020304" pitchFamily="18" charset="0"/>
                </a:rPr>
                <a:t>25</a:t>
              </a:r>
              <a:endParaRPr lang="es-ES" altLang="zh-CN" b="0" i="1" u="sng" dirty="0">
                <a:solidFill>
                  <a:schemeClr val="tx1"/>
                </a:solidFill>
                <a:latin typeface="Times New Roman" panose="02020603050405020304" pitchFamily="18" charset="0"/>
                <a:cs typeface="Times New Roman" panose="02020603050405020304" pitchFamily="18" charset="0"/>
              </a:endParaRPr>
            </a:p>
            <a:p>
              <a:pPr algn="l"/>
              <a:r>
                <a:rPr lang="es-ES" altLang="zh-CN" b="0" i="1" dirty="0">
                  <a:solidFill>
                    <a:schemeClr val="tx1"/>
                  </a:solidFill>
                  <a:latin typeface="Times New Roman" panose="02020603050405020304" pitchFamily="18" charset="0"/>
                  <a:cs typeface="Times New Roman" panose="02020603050405020304" pitchFamily="18" charset="0"/>
                </a:rPr>
                <a:t>c</a:t>
              </a:r>
              <a:r>
                <a:rPr lang="es-ES" altLang="zh-CN" b="0" dirty="0">
                  <a:solidFill>
                    <a:schemeClr val="tx1"/>
                  </a:solidFill>
                  <a:latin typeface="Times New Roman" panose="02020603050405020304" pitchFamily="18" charset="0"/>
                  <a:cs typeface="Times New Roman" panose="02020603050405020304" pitchFamily="18" charset="0"/>
                </a:rPr>
                <a:t>(10)=25</a:t>
              </a:r>
              <a:r>
                <a:rPr lang="es-ES" altLang="zh-CN" b="0" baseline="30000" dirty="0">
                  <a:solidFill>
                    <a:schemeClr val="tx1"/>
                  </a:solidFill>
                  <a:latin typeface="Times New Roman" panose="02020603050405020304" pitchFamily="18" charset="0"/>
                  <a:cs typeface="Times New Roman" panose="02020603050405020304" pitchFamily="18" charset="0"/>
                </a:rPr>
                <a:t>29</a:t>
              </a:r>
              <a:r>
                <a:rPr lang="es-ES" altLang="zh-CN" b="0" dirty="0">
                  <a:solidFill>
                    <a:schemeClr val="tx1"/>
                  </a:solidFill>
                  <a:latin typeface="Times New Roman" panose="02020603050405020304" pitchFamily="18" charset="0"/>
                  <a:cs typeface="Times New Roman" panose="02020603050405020304" pitchFamily="18" charset="0"/>
                </a:rPr>
                <a:t>mod713=36</a:t>
              </a:r>
              <a:r>
                <a:rPr lang="es-ES" altLang="zh-CN" sz="1600" b="0" dirty="0">
                  <a:solidFill>
                    <a:schemeClr val="tx1"/>
                  </a:solidFill>
                </a:rPr>
                <a:t> </a:t>
              </a:r>
              <a:endParaRPr lang="es-ES" altLang="zh-CN" sz="4000" b="0" dirty="0">
                <a:solidFill>
                  <a:schemeClr val="tx1"/>
                </a:solidFill>
              </a:endParaRPr>
            </a:p>
          </p:txBody>
        </p:sp>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0F755D5-73E8-5B60-BC51-C27EB3917436}"/>
                  </a:ext>
                </a:extLst>
              </p:cNvPr>
              <p:cNvSpPr txBox="1"/>
              <p:nvPr/>
            </p:nvSpPr>
            <p:spPr>
              <a:xfrm>
                <a:off x="1307508" y="6100277"/>
                <a:ext cx="10431483" cy="400110"/>
              </a:xfrm>
              <a:prstGeom prst="rect">
                <a:avLst/>
              </a:prstGeom>
              <a:noFill/>
            </p:spPr>
            <p:txBody>
              <a:bodyPr wrap="square">
                <a:spAutoFit/>
              </a:bodyPr>
              <a:lstStyle/>
              <a:p>
                <a:r>
                  <a:rPr lang="zh-CN" altLang="en-US" sz="2000" dirty="0"/>
                  <a:t>欧拉函数 </a:t>
                </a:r>
                <a14:m>
                  <m:oMath xmlns:m="http://schemas.openxmlformats.org/officeDocument/2006/math">
                    <m:r>
                      <a:rPr lang="en-US" altLang="zh-CN" sz="2000" i="1" dirty="0" smtClean="0">
                        <a:effectLst/>
                        <a:latin typeface="Cambria Math" panose="02040503050406030204" pitchFamily="18" charset="0"/>
                      </a:rPr>
                      <m:t>𝜙</m:t>
                    </m:r>
                    <m:d>
                      <m:dPr>
                        <m:ctrlPr>
                          <a:rPr lang="en-US" altLang="zh-CN" sz="2000" i="1" dirty="0" smtClean="0">
                            <a:effectLst/>
                            <a:latin typeface="Cambria Math" panose="02040503050406030204" pitchFamily="18" charset="0"/>
                          </a:rPr>
                        </m:ctrlPr>
                      </m:dPr>
                      <m:e>
                        <m:r>
                          <a:rPr lang="en-US" altLang="zh-CN" sz="2000" i="1" dirty="0" smtClean="0">
                            <a:effectLst/>
                            <a:latin typeface="Cambria Math" panose="02040503050406030204" pitchFamily="18" charset="0"/>
                          </a:rPr>
                          <m:t>𝑛</m:t>
                        </m:r>
                      </m:e>
                    </m:d>
                  </m:oMath>
                </a14:m>
                <a:r>
                  <a:rPr lang="zh-CN" altLang="en-US" sz="2000" dirty="0"/>
                  <a:t>的数学定义是：</a:t>
                </a:r>
                <a:r>
                  <a:rPr lang="zh-CN" altLang="en-US" sz="2000" b="1" dirty="0">
                    <a:effectLst/>
                    <a:latin typeface="Google Sans Text"/>
                  </a:rPr>
                  <a:t>在</a:t>
                </a:r>
                <a:r>
                  <a:rPr lang="en-US" altLang="zh-CN" sz="2000" b="1" dirty="0">
                    <a:effectLst/>
                    <a:latin typeface="Google Sans Text"/>
                  </a:rPr>
                  <a:t>1</a:t>
                </a:r>
                <a:r>
                  <a:rPr lang="zh-CN" altLang="en-US" sz="2000" b="1" dirty="0">
                    <a:effectLst/>
                    <a:latin typeface="Google Sans Text"/>
                  </a:rPr>
                  <a:t>到</a:t>
                </a:r>
                <a:r>
                  <a:rPr lang="en-US" altLang="zh-CN" sz="2000" b="1" dirty="0">
                    <a:effectLst/>
                    <a:latin typeface="Google Sans Text"/>
                  </a:rPr>
                  <a:t>n</a:t>
                </a:r>
                <a:r>
                  <a:rPr lang="zh-CN" altLang="en-US" sz="2000" b="1" dirty="0">
                    <a:effectLst/>
                    <a:latin typeface="Google Sans Text"/>
                  </a:rPr>
                  <a:t>之间，有多少个整数是和</a:t>
                </a:r>
                <a:r>
                  <a:rPr lang="en-US" altLang="zh-CN" sz="2000" b="1" dirty="0">
                    <a:effectLst/>
                    <a:latin typeface="Google Sans Text"/>
                  </a:rPr>
                  <a:t>n“</a:t>
                </a:r>
                <a:r>
                  <a:rPr lang="zh-CN" altLang="en-US" sz="2000" b="1" dirty="0">
                    <a:effectLst/>
                    <a:latin typeface="Google Sans Text"/>
                  </a:rPr>
                  <a:t>互质”的</a:t>
                </a:r>
                <a:endParaRPr lang="zh-CN" altLang="en-US" sz="2000" dirty="0"/>
              </a:p>
            </p:txBody>
          </p:sp>
        </mc:Choice>
        <mc:Fallback xmlns="">
          <p:sp>
            <p:nvSpPr>
              <p:cNvPr id="15" name="文本框 14">
                <a:extLst>
                  <a:ext uri="{FF2B5EF4-FFF2-40B4-BE49-F238E27FC236}">
                    <a16:creationId xmlns:a16="http://schemas.microsoft.com/office/drawing/2014/main" id="{00F755D5-73E8-5B60-BC51-C27EB3917436}"/>
                  </a:ext>
                </a:extLst>
              </p:cNvPr>
              <p:cNvSpPr txBox="1">
                <a:spLocks noRot="1" noChangeAspect="1" noMove="1" noResize="1" noEditPoints="1" noAdjustHandles="1" noChangeArrowheads="1" noChangeShapeType="1" noTextEdit="1"/>
              </p:cNvSpPr>
              <p:nvPr/>
            </p:nvSpPr>
            <p:spPr>
              <a:xfrm>
                <a:off x="1307508" y="6100277"/>
                <a:ext cx="10431483" cy="400110"/>
              </a:xfrm>
              <a:prstGeom prst="rect">
                <a:avLst/>
              </a:prstGeom>
              <a:blipFill>
                <a:blip r:embed="rId2"/>
                <a:stretch>
                  <a:fillRect l="-584" t="-9231" b="-276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826106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r>
              <a:rPr kumimoji="1" lang="zh-CN" altLang="en-US" dirty="0">
                <a:solidFill>
                  <a:prstClr val="black"/>
                </a:solidFill>
              </a:rPr>
              <a:t>（安全）</a:t>
            </a:r>
            <a:endParaRPr lang="zh-CN" altLang="en-US" dirty="0"/>
          </a:p>
        </p:txBody>
      </p:sp>
      <p:sp>
        <p:nvSpPr>
          <p:cNvPr id="3" name="内容占位符 2"/>
          <p:cNvSpPr>
            <a:spLocks noGrp="1"/>
          </p:cNvSpPr>
          <p:nvPr>
            <p:ph idx="1"/>
          </p:nvPr>
        </p:nvSpPr>
        <p:spPr>
          <a:xfrm>
            <a:off x="838199" y="1365663"/>
            <a:ext cx="10431483" cy="4904508"/>
          </a:xfrm>
        </p:spPr>
        <p:txBody>
          <a:bodyPr>
            <a:normAutofit/>
          </a:bodyPr>
          <a:lstStyle/>
          <a:p>
            <a:pPr>
              <a:lnSpc>
                <a:spcPct val="150000"/>
              </a:lnSpc>
            </a:pPr>
            <a:r>
              <a:rPr lang="zh-CN" altLang="en-US" sz="2400" dirty="0"/>
              <a:t>循环攻击产生的条件</a:t>
            </a:r>
            <a:endParaRPr lang="en-US" altLang="zh-CN" sz="2400" dirty="0"/>
          </a:p>
          <a:p>
            <a:pPr lvl="1">
              <a:lnSpc>
                <a:spcPct val="150000"/>
              </a:lnSpc>
              <a:buNone/>
            </a:pPr>
            <a:r>
              <a:rPr lang="pt-BR" altLang="zh-CN" dirty="0"/>
              <a:t>φ</a:t>
            </a:r>
            <a:r>
              <a:rPr lang="en-US" altLang="zh-CN" dirty="0"/>
              <a:t> (p)|(b</a:t>
            </a:r>
            <a:r>
              <a:rPr lang="en-US" altLang="zh-CN" baseline="30000" dirty="0"/>
              <a:t>k</a:t>
            </a:r>
            <a:r>
              <a:rPr lang="en-US" altLang="zh-CN" dirty="0"/>
              <a:t>-1)</a:t>
            </a:r>
          </a:p>
          <a:p>
            <a:pPr lvl="1">
              <a:lnSpc>
                <a:spcPct val="150000"/>
              </a:lnSpc>
              <a:buNone/>
            </a:pPr>
            <a:r>
              <a:rPr lang="pt-BR" altLang="zh-CN" dirty="0"/>
              <a:t>Φ (q)|(b</a:t>
            </a:r>
            <a:r>
              <a:rPr lang="pt-BR" altLang="zh-CN" baseline="30000" dirty="0"/>
              <a:t>k</a:t>
            </a:r>
            <a:r>
              <a:rPr lang="pt-BR" altLang="zh-CN" dirty="0"/>
              <a:t>-1)</a:t>
            </a:r>
          </a:p>
          <a:p>
            <a:pPr lvl="1">
              <a:lnSpc>
                <a:spcPct val="150000"/>
              </a:lnSpc>
              <a:buNone/>
            </a:pPr>
            <a:r>
              <a:rPr lang="pt-BR" altLang="zh-CN" dirty="0"/>
              <a:t>Φ(23)=22, φ(30)=8</a:t>
            </a:r>
          </a:p>
          <a:p>
            <a:pPr lvl="1">
              <a:lnSpc>
                <a:spcPct val="150000"/>
              </a:lnSpc>
              <a:buNone/>
            </a:pPr>
            <a:r>
              <a:rPr lang="pt-BR" altLang="zh-CN" dirty="0"/>
              <a:t>29</a:t>
            </a:r>
            <a:r>
              <a:rPr lang="pt-BR" altLang="zh-CN" baseline="30000" dirty="0"/>
              <a:t>10</a:t>
            </a:r>
            <a:r>
              <a:rPr lang="pt-BR" altLang="zh-CN" dirty="0"/>
              <a:t>=420707233300201</a:t>
            </a:r>
          </a:p>
          <a:p>
            <a:pPr lvl="1">
              <a:lnSpc>
                <a:spcPct val="150000"/>
              </a:lnSpc>
              <a:buNone/>
            </a:pPr>
            <a:r>
              <a:rPr lang="pt-BR" altLang="zh-CN" dirty="0"/>
              <a:t>22|(420707233300201-1)</a:t>
            </a:r>
          </a:p>
          <a:p>
            <a:pPr lvl="1">
              <a:lnSpc>
                <a:spcPct val="150000"/>
              </a:lnSpc>
              <a:buNone/>
            </a:pPr>
            <a:r>
              <a:rPr lang="pt-BR" altLang="zh-CN" dirty="0"/>
              <a:t>8|(420707233300201-1)</a:t>
            </a:r>
            <a:endParaRPr lang="en-US" altLang="zh-CN" dirty="0"/>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51</a:t>
            </a:fld>
            <a:endParaRPr kumimoji="1"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BDABC09-4373-7D15-2A86-CC8656AFABCF}"/>
                  </a:ext>
                </a:extLst>
              </p:cNvPr>
              <p:cNvSpPr txBox="1"/>
              <p:nvPr/>
            </p:nvSpPr>
            <p:spPr>
              <a:xfrm>
                <a:off x="3873500" y="2471848"/>
                <a:ext cx="7396182" cy="822469"/>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公钥</m:t>
                    </m:r>
                    <m:r>
                      <a:rPr lang="zh-CN" altLang="en-US" sz="2400" i="1">
                        <a:latin typeface="Cambria Math" panose="02040503050406030204" pitchFamily="18" charset="0"/>
                      </a:rPr>
                      <m:t>的约束：一般为</m:t>
                    </m:r>
                    <m:r>
                      <a:rPr lang="zh-CN" altLang="en-US" sz="2400" i="1" smtClean="0">
                        <a:latin typeface="Cambria Math" panose="02040503050406030204" pitchFamily="18" charset="0"/>
                      </a:rPr>
                      <m:t>𝑒</m:t>
                    </m:r>
                    <m:r>
                      <a:rPr lang="zh-CN" altLang="en-US" sz="2400" i="1" smtClean="0">
                        <a:latin typeface="Cambria Math" panose="02040503050406030204" pitchFamily="18" charset="0"/>
                      </a:rPr>
                      <m:t>=65537</m:t>
                    </m:r>
                    <m:r>
                      <a:rPr lang="zh-CN" altLang="en-US" sz="2400" i="1">
                        <a:latin typeface="Cambria Math" panose="02040503050406030204" pitchFamily="18" charset="0"/>
                      </a:rPr>
                      <m:t>，</m:t>
                    </m:r>
                    <m:r>
                      <a:rPr lang="zh-CN" altLang="en-US" sz="2400" i="1" smtClean="0">
                        <a:latin typeface="Cambria Math" panose="02040503050406030204" pitchFamily="18" charset="0"/>
                      </a:rPr>
                      <m:t>否则</m:t>
                    </m:r>
                    <m:r>
                      <a:rPr lang="zh-CN" altLang="en-US" sz="2400" i="1">
                        <a:latin typeface="Cambria Math" panose="02040503050406030204" pitchFamily="18" charset="0"/>
                      </a:rPr>
                      <m:t>就算</m:t>
                    </m:r>
                    <m:r>
                      <m:rPr>
                        <m:nor/>
                      </m:rPr>
                      <a:rPr lang="zh-CN" altLang="en-US" sz="2400" i="0">
                        <a:latin typeface="Cambria Math" panose="02040503050406030204" pitchFamily="18" charset="0"/>
                      </a:rPr>
                      <m:t>lcm</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𝑝</m:t>
                        </m:r>
                        <m:r>
                          <a:rPr lang="zh-CN" altLang="en-US" sz="2400" i="1">
                            <a:latin typeface="Cambria Math" panose="02040503050406030204" pitchFamily="18" charset="0"/>
                          </a:rPr>
                          <m:t>−1,</m:t>
                        </m:r>
                        <m:r>
                          <a:rPr lang="zh-CN" altLang="en-US" sz="2400" i="1">
                            <a:latin typeface="Cambria Math" panose="02040503050406030204" pitchFamily="18" charset="0"/>
                          </a:rPr>
                          <m:t>𝑞</m:t>
                        </m:r>
                        <m:r>
                          <a:rPr lang="zh-CN" altLang="en-US" sz="2400" i="1">
                            <a:latin typeface="Cambria Math" panose="02040503050406030204" pitchFamily="18" charset="0"/>
                          </a:rPr>
                          <m:t>−1</m:t>
                        </m:r>
                      </m:e>
                    </m:d>
                    <m:r>
                      <a:rPr lang="en-US" altLang="zh-CN" sz="2400" b="0" i="0" smtClean="0">
                        <a:latin typeface="Cambria Math" panose="02040503050406030204" pitchFamily="18" charset="0"/>
                      </a:rPr>
                      <m:t>=330</m:t>
                    </m:r>
                    <m:r>
                      <a:rPr lang="zh-CN" altLang="en-US" sz="2400" i="1">
                        <a:latin typeface="Cambria Math" panose="02040503050406030204" pitchFamily="18" charset="0"/>
                      </a:rPr>
                      <m:t>次</m:t>
                    </m:r>
                    <m:r>
                      <a:rPr lang="zh-CN" altLang="en-US" sz="2400" i="1" smtClean="0">
                        <a:latin typeface="Cambria Math" panose="02040503050406030204" pitchFamily="18" charset="0"/>
                      </a:rPr>
                      <m:t>，</m:t>
                    </m:r>
                    <m:r>
                      <a:rPr lang="zh-CN" altLang="en-US" sz="2400" i="1">
                        <a:latin typeface="Cambria Math" panose="02040503050406030204" pitchFamily="18" charset="0"/>
                      </a:rPr>
                      <m:t>还是</m:t>
                    </m:r>
                  </m:oMath>
                </a14:m>
                <a:r>
                  <a:rPr lang="zh-CN" altLang="en-US" sz="2400" dirty="0"/>
                  <a:t>可能出问题</a:t>
                </a:r>
              </a:p>
            </p:txBody>
          </p:sp>
        </mc:Choice>
        <mc:Fallback xmlns="">
          <p:sp>
            <p:nvSpPr>
              <p:cNvPr id="6" name="文本框 5">
                <a:extLst>
                  <a:ext uri="{FF2B5EF4-FFF2-40B4-BE49-F238E27FC236}">
                    <a16:creationId xmlns:a16="http://schemas.microsoft.com/office/drawing/2014/main" id="{1BDABC09-4373-7D15-2A86-CC8656AFABCF}"/>
                  </a:ext>
                </a:extLst>
              </p:cNvPr>
              <p:cNvSpPr txBox="1">
                <a:spLocks noRot="1" noChangeAspect="1" noMove="1" noResize="1" noEditPoints="1" noAdjustHandles="1" noChangeArrowheads="1" noChangeShapeType="1" noTextEdit="1"/>
              </p:cNvSpPr>
              <p:nvPr/>
            </p:nvSpPr>
            <p:spPr>
              <a:xfrm>
                <a:off x="3873500" y="2471848"/>
                <a:ext cx="7396182" cy="822469"/>
              </a:xfrm>
              <a:prstGeom prst="rect">
                <a:avLst/>
              </a:prstGeom>
              <a:blipFill>
                <a:blip r:embed="rId2"/>
                <a:stretch>
                  <a:fillRect l="-659" t="-72593" b="-10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89EB0CD-E67F-587B-0D67-7C231EBCC96D}"/>
                  </a:ext>
                </a:extLst>
              </p:cNvPr>
              <p:cNvSpPr txBox="1"/>
              <p:nvPr/>
            </p:nvSpPr>
            <p:spPr>
              <a:xfrm>
                <a:off x="5417914" y="3429000"/>
                <a:ext cx="6350000" cy="461665"/>
              </a:xfrm>
              <a:prstGeom prst="rect">
                <a:avLst/>
              </a:prstGeom>
              <a:noFill/>
            </p:spPr>
            <p:txBody>
              <a:bodyPr wrap="square">
                <a:spAutoFit/>
              </a:bodyPr>
              <a:lstStyle/>
              <a:p>
                <a:r>
                  <a:rPr lang="zh-CN" altLang="en-US" sz="2400" dirty="0"/>
                  <a:t>前面模数的基础条件：</a:t>
                </a:r>
                <a14:m>
                  <m:oMath xmlns:m="http://schemas.openxmlformats.org/officeDocument/2006/math">
                    <m:func>
                      <m:funcPr>
                        <m:ctrlPr>
                          <a:rPr lang="en-US" altLang="zh-CN" sz="2400" b="0" i="1" dirty="0" smtClean="0">
                            <a:solidFill>
                              <a:schemeClr val="tx1"/>
                            </a:solidFill>
                            <a:latin typeface="Cambria Math" panose="02040503050406030204" pitchFamily="18" charset="0"/>
                          </a:rPr>
                        </m:ctrlPr>
                      </m:funcPr>
                      <m:fName>
                        <m:r>
                          <m:rPr>
                            <m:sty m:val="p"/>
                          </m:rPr>
                          <a:rPr lang="en-US" altLang="zh-CN" sz="2400" b="0" i="0" dirty="0" smtClean="0">
                            <a:solidFill>
                              <a:schemeClr val="tx1"/>
                            </a:solidFill>
                            <a:latin typeface="Cambria Math" panose="02040503050406030204" pitchFamily="18" charset="0"/>
                          </a:rPr>
                          <m:t>gcd</m:t>
                        </m:r>
                      </m:fName>
                      <m:e>
                        <m:d>
                          <m:dPr>
                            <m:ctrlPr>
                              <a:rPr lang="en-US" altLang="zh-CN" sz="2400" b="0" i="1" dirty="0">
                                <a:solidFill>
                                  <a:schemeClr val="tx1"/>
                                </a:solidFill>
                                <a:latin typeface="Cambria Math" panose="02040503050406030204" pitchFamily="18" charset="0"/>
                              </a:rPr>
                            </m:ctrlPr>
                          </m:dPr>
                          <m:e>
                            <m:r>
                              <a:rPr lang="en-US" altLang="zh-CN" sz="2400" b="0" i="1" dirty="0">
                                <a:solidFill>
                                  <a:schemeClr val="tx1"/>
                                </a:solidFill>
                                <a:latin typeface="Cambria Math" panose="02040503050406030204" pitchFamily="18" charset="0"/>
                              </a:rPr>
                              <m:t>𝑝</m:t>
                            </m:r>
                            <m:r>
                              <a:rPr lang="en-US" altLang="zh-CN" sz="2400" b="0" i="1" dirty="0">
                                <a:solidFill>
                                  <a:schemeClr val="tx1"/>
                                </a:solidFill>
                                <a:latin typeface="Cambria Math" panose="02040503050406030204" pitchFamily="18" charset="0"/>
                              </a:rPr>
                              <m:t>−1,</m:t>
                            </m:r>
                            <m:r>
                              <a:rPr lang="en-US" altLang="zh-CN" sz="2400" b="0" i="1" dirty="0">
                                <a:solidFill>
                                  <a:schemeClr val="tx1"/>
                                </a:solidFill>
                                <a:latin typeface="Cambria Math" panose="02040503050406030204" pitchFamily="18" charset="0"/>
                              </a:rPr>
                              <m:t>𝑞</m:t>
                            </m:r>
                            <m:r>
                              <a:rPr lang="en-US" altLang="zh-CN" sz="2400" b="0" i="1" dirty="0">
                                <a:solidFill>
                                  <a:schemeClr val="tx1"/>
                                </a:solidFill>
                                <a:latin typeface="Cambria Math" panose="02040503050406030204" pitchFamily="18" charset="0"/>
                              </a:rPr>
                              <m:t>−1</m:t>
                            </m:r>
                          </m:e>
                        </m:d>
                      </m:e>
                    </m:func>
                    <m:r>
                      <a:rPr lang="en-US" altLang="zh-CN" sz="2400" b="0" i="1" dirty="0">
                        <a:solidFill>
                          <a:schemeClr val="tx1"/>
                        </a:solidFill>
                        <a:latin typeface="Cambria Math" panose="02040503050406030204" pitchFamily="18" charset="0"/>
                      </a:rPr>
                      <m:t>= 2</m:t>
                    </m:r>
                  </m:oMath>
                </a14:m>
                <a:endParaRPr lang="zh-CN" altLang="en-US" sz="2400" dirty="0"/>
              </a:p>
            </p:txBody>
          </p:sp>
        </mc:Choice>
        <mc:Fallback xmlns="">
          <p:sp>
            <p:nvSpPr>
              <p:cNvPr id="8" name="文本框 7">
                <a:extLst>
                  <a:ext uri="{FF2B5EF4-FFF2-40B4-BE49-F238E27FC236}">
                    <a16:creationId xmlns:a16="http://schemas.microsoft.com/office/drawing/2014/main" id="{E89EB0CD-E67F-587B-0D67-7C231EBCC96D}"/>
                  </a:ext>
                </a:extLst>
              </p:cNvPr>
              <p:cNvSpPr txBox="1">
                <a:spLocks noRot="1" noChangeAspect="1" noMove="1" noResize="1" noEditPoints="1" noAdjustHandles="1" noChangeArrowheads="1" noChangeShapeType="1" noTextEdit="1"/>
              </p:cNvSpPr>
              <p:nvPr/>
            </p:nvSpPr>
            <p:spPr>
              <a:xfrm>
                <a:off x="5417914" y="3429000"/>
                <a:ext cx="6350000" cy="461665"/>
              </a:xfrm>
              <a:prstGeom prst="rect">
                <a:avLst/>
              </a:prstGeom>
              <a:blipFill>
                <a:blip r:embed="rId3"/>
                <a:stretch>
                  <a:fillRect l="-1537" t="-13333" b="-30667"/>
                </a:stretch>
              </a:blipFill>
            </p:spPr>
            <p:txBody>
              <a:bodyPr/>
              <a:lstStyle/>
              <a:p>
                <a:r>
                  <a:rPr lang="zh-CN" altLang="en-US">
                    <a:noFill/>
                  </a:rPr>
                  <a:t> </a:t>
                </a:r>
              </a:p>
            </p:txBody>
          </p:sp>
        </mc:Fallback>
      </mc:AlternateContent>
      <p:sp>
        <p:nvSpPr>
          <p:cNvPr id="9" name="箭头: 右 8">
            <a:extLst>
              <a:ext uri="{FF2B5EF4-FFF2-40B4-BE49-F238E27FC236}">
                <a16:creationId xmlns:a16="http://schemas.microsoft.com/office/drawing/2014/main" id="{F37C4B6B-77C5-E55D-1961-6F682DD44FBB}"/>
              </a:ext>
            </a:extLst>
          </p:cNvPr>
          <p:cNvSpPr/>
          <p:nvPr/>
        </p:nvSpPr>
        <p:spPr>
          <a:xfrm>
            <a:off x="3251200" y="2471849"/>
            <a:ext cx="393700"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098376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5.2.2 </a:t>
            </a:r>
            <a:r>
              <a:rPr kumimoji="1" lang="en-US" altLang="zh-CN" dirty="0">
                <a:solidFill>
                  <a:prstClr val="black"/>
                </a:solidFill>
              </a:rPr>
              <a:t>RSA</a:t>
            </a:r>
            <a:r>
              <a:rPr kumimoji="1" lang="zh-CN" altLang="zh-CN" dirty="0">
                <a:solidFill>
                  <a:prstClr val="black"/>
                </a:solidFill>
              </a:rPr>
              <a:t>公钥密码算法</a:t>
            </a:r>
            <a:endParaRPr lang="zh-CN" altLang="en-US" dirty="0"/>
          </a:p>
        </p:txBody>
      </p:sp>
      <p:sp>
        <p:nvSpPr>
          <p:cNvPr id="3" name="内容占位符 2"/>
          <p:cNvSpPr>
            <a:spLocks noGrp="1"/>
          </p:cNvSpPr>
          <p:nvPr>
            <p:ph idx="1"/>
          </p:nvPr>
        </p:nvSpPr>
        <p:spPr>
          <a:xfrm>
            <a:off x="838199" y="1365663"/>
            <a:ext cx="10431483" cy="4904508"/>
          </a:xfrm>
        </p:spPr>
        <p:txBody>
          <a:bodyPr>
            <a:normAutofit/>
          </a:bodyPr>
          <a:lstStyle/>
          <a:p>
            <a:pPr>
              <a:lnSpc>
                <a:spcPct val="150000"/>
              </a:lnSpc>
            </a:pPr>
            <a:r>
              <a:rPr lang="zh-CN" altLang="en-US" sz="2400" dirty="0"/>
              <a:t>结论</a:t>
            </a:r>
            <a:endParaRPr lang="en-US" altLang="zh-CN" sz="2400" dirty="0"/>
          </a:p>
          <a:p>
            <a:pPr lvl="1">
              <a:lnSpc>
                <a:spcPct val="150000"/>
              </a:lnSpc>
            </a:pPr>
            <a:r>
              <a:rPr lang="zh-CN" altLang="zh-CN" dirty="0"/>
              <a:t>其安全性完全依赖于大整数的因数分解问题。</a:t>
            </a:r>
          </a:p>
          <a:p>
            <a:pPr lvl="1">
              <a:lnSpc>
                <a:spcPct val="150000"/>
              </a:lnSpc>
            </a:pPr>
            <a:r>
              <a:rPr lang="zh-CN" altLang="zh-CN" dirty="0"/>
              <a:t>分解</a:t>
            </a:r>
            <a:r>
              <a:rPr lang="en-US" altLang="zh-CN" dirty="0"/>
              <a:t>n</a:t>
            </a:r>
            <a:r>
              <a:rPr lang="zh-CN" altLang="zh-CN" dirty="0"/>
              <a:t>是最明显的攻击方法。拥有公开密钥</a:t>
            </a:r>
            <a:r>
              <a:rPr lang="en-US" altLang="zh-CN" dirty="0"/>
              <a:t>e</a:t>
            </a:r>
            <a:r>
              <a:rPr lang="zh-CN" altLang="zh-CN" dirty="0"/>
              <a:t>和</a:t>
            </a:r>
            <a:r>
              <a:rPr lang="en-US" altLang="zh-CN" dirty="0"/>
              <a:t>n</a:t>
            </a:r>
            <a:r>
              <a:rPr lang="zh-CN" altLang="zh-CN" dirty="0"/>
              <a:t>，要找到解秘密钥</a:t>
            </a:r>
            <a:r>
              <a:rPr lang="en-US" altLang="zh-CN" dirty="0"/>
              <a:t>d</a:t>
            </a:r>
            <a:r>
              <a:rPr lang="zh-CN" altLang="zh-CN" dirty="0"/>
              <a:t>，只能对</a:t>
            </a:r>
            <a:r>
              <a:rPr lang="en-US" altLang="zh-CN" dirty="0"/>
              <a:t>n</a:t>
            </a:r>
            <a:r>
              <a:rPr lang="zh-CN" altLang="zh-CN" dirty="0"/>
              <a:t>进行因数分解。目前可以分解</a:t>
            </a:r>
            <a:r>
              <a:rPr lang="en-US" altLang="zh-CN" dirty="0"/>
              <a:t>129</a:t>
            </a:r>
            <a:r>
              <a:rPr lang="zh-CN" altLang="zh-CN" dirty="0"/>
              <a:t>位十进制整数，因此</a:t>
            </a:r>
            <a:r>
              <a:rPr lang="en-US" altLang="zh-CN" dirty="0"/>
              <a:t>n</a:t>
            </a:r>
            <a:r>
              <a:rPr lang="zh-CN" altLang="zh-CN" dirty="0"/>
              <a:t>应该比</a:t>
            </a:r>
            <a:r>
              <a:rPr lang="en-US" altLang="zh-CN" dirty="0"/>
              <a:t>129</a:t>
            </a:r>
            <a:r>
              <a:rPr lang="zh-CN" altLang="zh-CN" dirty="0"/>
              <a:t>位数大。</a:t>
            </a:r>
          </a:p>
          <a:p>
            <a:pPr>
              <a:lnSpc>
                <a:spcPct val="8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52</a:t>
            </a:fld>
            <a:endParaRPr kumimoji="1" lang="zh-CN" altLang="en-US" dirty="0"/>
          </a:p>
        </p:txBody>
      </p:sp>
    </p:spTree>
    <p:extLst>
      <p:ext uri="{BB962C8B-B14F-4D97-AF65-F5344CB8AC3E}">
        <p14:creationId xmlns:p14="http://schemas.microsoft.com/office/powerpoint/2010/main" val="41851031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5.2.3 </a:t>
            </a:r>
            <a:r>
              <a:rPr kumimoji="1" lang="en-US" altLang="zh-CN" dirty="0">
                <a:solidFill>
                  <a:prstClr val="black"/>
                </a:solidFill>
              </a:rPr>
              <a:t>Rabin</a:t>
            </a:r>
            <a:r>
              <a:rPr kumimoji="1" lang="zh-CN" altLang="en-US" dirty="0">
                <a:solidFill>
                  <a:prstClr val="black"/>
                </a:solidFill>
              </a:rPr>
              <a:t>密码体制</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对</a:t>
            </a:r>
            <a:r>
              <a:rPr lang="en-US" altLang="zh-CN" dirty="0"/>
              <a:t>RSA</a:t>
            </a:r>
            <a:r>
              <a:rPr lang="zh-CN" altLang="en-US" dirty="0"/>
              <a:t>密码体制，</a:t>
            </a:r>
            <a:r>
              <a:rPr lang="en-US" altLang="zh-CN" dirty="0"/>
              <a:t>n</a:t>
            </a:r>
            <a:r>
              <a:rPr lang="zh-CN" altLang="en-US" dirty="0"/>
              <a:t>被分解成功，该体制便被破译，即破译</a:t>
            </a:r>
            <a:r>
              <a:rPr lang="en-US" altLang="zh-CN" dirty="0"/>
              <a:t>RSA</a:t>
            </a:r>
            <a:r>
              <a:rPr lang="zh-CN" altLang="en-US" dirty="0"/>
              <a:t>的难度不超过大整数的分解。但还不能证明破译</a:t>
            </a:r>
            <a:r>
              <a:rPr lang="en-US" altLang="zh-CN" dirty="0"/>
              <a:t>RSA</a:t>
            </a:r>
            <a:r>
              <a:rPr lang="zh-CN" altLang="en-US" dirty="0"/>
              <a:t>和分解大整数是等价的，虽然这一结论已得到普遍共识。</a:t>
            </a:r>
            <a:r>
              <a:rPr lang="en-US" altLang="zh-CN" dirty="0"/>
              <a:t>Rabin</a:t>
            </a:r>
            <a:r>
              <a:rPr lang="zh-CN" altLang="en-US" dirty="0"/>
              <a:t>密码体制已</a:t>
            </a:r>
            <a:r>
              <a:rPr lang="zh-CN" altLang="en-US" dirty="0">
                <a:solidFill>
                  <a:srgbClr val="FF0000"/>
                </a:solidFill>
              </a:rPr>
              <a:t>被证明对该体制的破译与分解大整数一样困难。</a:t>
            </a:r>
            <a:endParaRPr lang="en-US" altLang="zh-CN" dirty="0">
              <a:solidFill>
                <a:srgbClr val="FF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53</a:t>
            </a:fld>
            <a:endParaRPr kumimoji="1" lang="zh-CN" altLang="en-US" dirty="0"/>
          </a:p>
        </p:txBody>
      </p:sp>
    </p:spTree>
    <p:extLst>
      <p:ext uri="{BB962C8B-B14F-4D97-AF65-F5344CB8AC3E}">
        <p14:creationId xmlns:p14="http://schemas.microsoft.com/office/powerpoint/2010/main" val="38227012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5.2.3 </a:t>
            </a:r>
            <a:r>
              <a:rPr kumimoji="1" lang="en-US" altLang="zh-CN" dirty="0">
                <a:solidFill>
                  <a:prstClr val="black"/>
                </a:solidFill>
              </a:rPr>
              <a:t>Rabin</a:t>
            </a:r>
            <a:r>
              <a:rPr kumimoji="1" lang="zh-CN" altLang="en-US" dirty="0">
                <a:solidFill>
                  <a:prstClr val="black"/>
                </a:solidFill>
              </a:rPr>
              <a:t>密码体制</a:t>
            </a:r>
            <a:endParaRPr lang="zh-CN" altLang="en-US" dirty="0"/>
          </a:p>
        </p:txBody>
      </p:sp>
      <p:sp>
        <p:nvSpPr>
          <p:cNvPr id="3" name="内容占位符 2"/>
          <p:cNvSpPr>
            <a:spLocks noGrp="1"/>
          </p:cNvSpPr>
          <p:nvPr>
            <p:ph idx="1"/>
          </p:nvPr>
        </p:nvSpPr>
        <p:spPr/>
        <p:txBody>
          <a:bodyPr>
            <a:normAutofit/>
          </a:bodyPr>
          <a:lstStyle/>
          <a:p>
            <a:pPr marL="287338" indent="-6350">
              <a:lnSpc>
                <a:spcPct val="150000"/>
              </a:lnSpc>
            </a:pPr>
            <a:r>
              <a:rPr lang="en-US" altLang="zh-CN" dirty="0"/>
              <a:t>Rabin</a:t>
            </a:r>
            <a:r>
              <a:rPr lang="zh-CN" altLang="en-US" dirty="0"/>
              <a:t>密码体制是对</a:t>
            </a:r>
            <a:r>
              <a:rPr lang="en-US" altLang="zh-CN" dirty="0"/>
              <a:t>RSA</a:t>
            </a:r>
            <a:r>
              <a:rPr lang="zh-CN" altLang="en-US" dirty="0"/>
              <a:t>的一种修正，它有以下两个特点： </a:t>
            </a:r>
          </a:p>
          <a:p>
            <a:pPr marL="744538" lvl="1" indent="-6350">
              <a:lnSpc>
                <a:spcPct val="150000"/>
              </a:lnSpc>
            </a:pPr>
            <a:r>
              <a:rPr lang="zh-CN" altLang="en-US" dirty="0"/>
              <a:t>它不是以一一对应的单向陷门函数为基础，对同一密文，可能有两个以上对应的明文</a:t>
            </a:r>
            <a:r>
              <a:rPr lang="en-US" altLang="zh-CN" dirty="0"/>
              <a:t>;</a:t>
            </a:r>
          </a:p>
          <a:p>
            <a:pPr marL="744538" lvl="1" indent="-6350">
              <a:lnSpc>
                <a:spcPct val="150000"/>
              </a:lnSpc>
            </a:pPr>
            <a:r>
              <a:rPr lang="zh-CN" altLang="en-US" dirty="0"/>
              <a:t>破译该体制等价于对大整数的分解。</a:t>
            </a:r>
          </a:p>
          <a:p>
            <a:pPr marL="287338" indent="-6350">
              <a:lnSpc>
                <a:spcPct val="150000"/>
              </a:lnSpc>
            </a:pPr>
            <a:r>
              <a:rPr lang="en-US" altLang="zh-CN" dirty="0"/>
              <a:t>RSA</a:t>
            </a:r>
            <a:r>
              <a:rPr lang="zh-CN" altLang="en-US" dirty="0"/>
              <a:t>中选取的公开钥</a:t>
            </a:r>
            <a:r>
              <a:rPr lang="en-US" altLang="zh-CN" dirty="0"/>
              <a:t>e</a:t>
            </a:r>
            <a:r>
              <a:rPr lang="zh-CN" altLang="en-US" dirty="0"/>
              <a:t>满足</a:t>
            </a:r>
            <a:r>
              <a:rPr lang="en-US" altLang="zh-CN" dirty="0"/>
              <a:t>1&lt;e&lt;φ(n)</a:t>
            </a:r>
            <a:r>
              <a:rPr lang="zh-CN" altLang="en-US" dirty="0"/>
              <a:t>，且</a:t>
            </a:r>
            <a:r>
              <a:rPr lang="en-US" altLang="zh-CN" dirty="0" err="1"/>
              <a:t>gcd</a:t>
            </a:r>
            <a:r>
              <a:rPr lang="en-US" altLang="zh-CN" dirty="0"/>
              <a:t>(</a:t>
            </a:r>
            <a:r>
              <a:rPr lang="en-US" altLang="zh-CN" dirty="0" err="1"/>
              <a:t>e,φ</a:t>
            </a:r>
            <a:r>
              <a:rPr lang="en-US" altLang="zh-CN" dirty="0"/>
              <a:t>(n))=1</a:t>
            </a:r>
            <a:r>
              <a:rPr lang="zh-CN" altLang="en-US" dirty="0"/>
              <a:t>。</a:t>
            </a:r>
            <a:r>
              <a:rPr lang="en-US" altLang="zh-CN" dirty="0"/>
              <a:t>Rabin</a:t>
            </a:r>
            <a:r>
              <a:rPr lang="zh-CN" altLang="en-US" dirty="0"/>
              <a:t>密码体制则</a:t>
            </a:r>
            <a:r>
              <a:rPr lang="zh-CN" altLang="en-US" dirty="0">
                <a:solidFill>
                  <a:srgbClr val="FF0000"/>
                </a:solidFill>
              </a:rPr>
              <a:t>取</a:t>
            </a:r>
            <a:r>
              <a:rPr lang="en-US" altLang="zh-CN" dirty="0">
                <a:solidFill>
                  <a:srgbClr val="FF0000"/>
                </a:solidFill>
              </a:rPr>
              <a:t>e=2</a:t>
            </a:r>
            <a:r>
              <a:rPr lang="zh-CN" altLang="en-US" dirty="0"/>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54</a:t>
            </a:fld>
            <a:endParaRPr kumimoji="1" lang="zh-CN" altLang="en-US" dirty="0"/>
          </a:p>
        </p:txBody>
      </p:sp>
    </p:spTree>
    <p:extLst>
      <p:ext uri="{BB962C8B-B14F-4D97-AF65-F5344CB8AC3E}">
        <p14:creationId xmlns:p14="http://schemas.microsoft.com/office/powerpoint/2010/main" val="20992023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5.2.3 </a:t>
            </a:r>
            <a:r>
              <a:rPr kumimoji="1" lang="en-US" altLang="zh-CN" dirty="0">
                <a:solidFill>
                  <a:prstClr val="black"/>
                </a:solidFill>
              </a:rPr>
              <a:t>Rabin</a:t>
            </a:r>
            <a:r>
              <a:rPr kumimoji="1" lang="zh-CN" altLang="en-US" dirty="0">
                <a:solidFill>
                  <a:prstClr val="black"/>
                </a:solidFill>
              </a:rPr>
              <a:t>密码体制</a:t>
            </a:r>
            <a:endParaRPr lang="zh-CN" altLang="en-US" dirty="0"/>
          </a:p>
        </p:txBody>
      </p:sp>
      <p:sp>
        <p:nvSpPr>
          <p:cNvPr id="3" name="内容占位符 2"/>
          <p:cNvSpPr>
            <a:spLocks noGrp="1"/>
          </p:cNvSpPr>
          <p:nvPr>
            <p:ph idx="1"/>
          </p:nvPr>
        </p:nvSpPr>
        <p:spPr/>
        <p:txBody>
          <a:bodyPr>
            <a:normAutofit/>
          </a:bodyPr>
          <a:lstStyle/>
          <a:p>
            <a:pPr marL="6350" indent="-6350">
              <a:lnSpc>
                <a:spcPct val="150000"/>
              </a:lnSpc>
            </a:pPr>
            <a:r>
              <a:rPr lang="en-US" altLang="zh-CN" dirty="0"/>
              <a:t>Rabin</a:t>
            </a:r>
            <a:r>
              <a:rPr lang="zh-CN" altLang="en-US" dirty="0"/>
              <a:t>密钥的产生与加密描述</a:t>
            </a:r>
            <a:endParaRPr lang="en-US" altLang="zh-CN" dirty="0"/>
          </a:p>
          <a:p>
            <a:pPr marL="463550" lvl="1" indent="-6350">
              <a:lnSpc>
                <a:spcPct val="150000"/>
              </a:lnSpc>
            </a:pPr>
            <a:r>
              <a:rPr lang="en-US" altLang="zh-CN" dirty="0">
                <a:solidFill>
                  <a:srgbClr val="800000"/>
                </a:solidFill>
              </a:rPr>
              <a:t>1. </a:t>
            </a:r>
            <a:r>
              <a:rPr lang="zh-CN" altLang="en-US" dirty="0">
                <a:solidFill>
                  <a:srgbClr val="800000"/>
                </a:solidFill>
              </a:rPr>
              <a:t>密钥的产生</a:t>
            </a:r>
          </a:p>
          <a:p>
            <a:pPr marL="920750" lvl="2" indent="-6350">
              <a:lnSpc>
                <a:spcPct val="150000"/>
              </a:lnSpc>
            </a:pPr>
            <a:r>
              <a:rPr lang="zh-CN" altLang="en-US" dirty="0"/>
              <a:t> </a:t>
            </a:r>
            <a:r>
              <a:rPr lang="zh-CN" altLang="en-US" sz="2400" dirty="0"/>
              <a:t>随机选择两个大素数</a:t>
            </a:r>
            <a:r>
              <a:rPr lang="en-US" altLang="zh-CN" sz="2400" dirty="0"/>
              <a:t>p</a:t>
            </a:r>
            <a:r>
              <a:rPr lang="zh-CN" altLang="en-US" sz="2400" dirty="0"/>
              <a:t>、</a:t>
            </a:r>
            <a:r>
              <a:rPr lang="en-US" altLang="zh-CN" sz="2400" dirty="0"/>
              <a:t>q</a:t>
            </a:r>
            <a:r>
              <a:rPr lang="zh-CN" altLang="en-US" sz="2400" dirty="0"/>
              <a:t>，满足</a:t>
            </a:r>
            <a:r>
              <a:rPr lang="en-US" altLang="zh-CN" sz="2400" dirty="0"/>
              <a:t>p ≡ q ≡ 3 mod 4</a:t>
            </a:r>
            <a:r>
              <a:rPr lang="zh-CN" altLang="en-US" sz="2400" dirty="0"/>
              <a:t>，即这两个素数形式为</a:t>
            </a:r>
            <a:r>
              <a:rPr lang="en-US" altLang="zh-CN" sz="2400" dirty="0"/>
              <a:t>4k+3</a:t>
            </a:r>
            <a:r>
              <a:rPr lang="zh-CN" altLang="en-US" sz="2400" dirty="0"/>
              <a:t>；计算</a:t>
            </a:r>
            <a:r>
              <a:rPr lang="en-US" altLang="zh-CN" sz="2400" dirty="0"/>
              <a:t>n=</a:t>
            </a:r>
            <a:r>
              <a:rPr lang="en-US" altLang="zh-CN" sz="2400" dirty="0" err="1"/>
              <a:t>p×q</a:t>
            </a:r>
            <a:r>
              <a:rPr lang="zh-CN" altLang="en-US" sz="2400" dirty="0"/>
              <a:t>。</a:t>
            </a:r>
            <a:r>
              <a:rPr lang="zh-CN" altLang="en-US" sz="2400" dirty="0">
                <a:solidFill>
                  <a:srgbClr val="FF0000"/>
                </a:solidFill>
              </a:rPr>
              <a:t>以</a:t>
            </a:r>
            <a:r>
              <a:rPr lang="en-US" altLang="zh-CN" sz="2400" dirty="0">
                <a:solidFill>
                  <a:srgbClr val="FF0000"/>
                </a:solidFill>
              </a:rPr>
              <a:t>n</a:t>
            </a:r>
            <a:r>
              <a:rPr lang="zh-CN" altLang="en-US" sz="2400" dirty="0">
                <a:solidFill>
                  <a:srgbClr val="FF0000"/>
                </a:solidFill>
              </a:rPr>
              <a:t>作为公开钥，</a:t>
            </a:r>
            <a:r>
              <a:rPr lang="en-US" altLang="zh-CN" sz="2400" dirty="0">
                <a:solidFill>
                  <a:srgbClr val="FF0000"/>
                </a:solidFill>
              </a:rPr>
              <a:t>p</a:t>
            </a:r>
            <a:r>
              <a:rPr lang="zh-CN" altLang="en-US" sz="2400" dirty="0">
                <a:solidFill>
                  <a:srgbClr val="FF0000"/>
                </a:solidFill>
              </a:rPr>
              <a:t>、</a:t>
            </a:r>
            <a:r>
              <a:rPr lang="en-US" altLang="zh-CN" sz="2400" dirty="0">
                <a:solidFill>
                  <a:srgbClr val="FF0000"/>
                </a:solidFill>
              </a:rPr>
              <a:t>q</a:t>
            </a:r>
            <a:r>
              <a:rPr lang="zh-CN" altLang="en-US" sz="2400" dirty="0">
                <a:solidFill>
                  <a:srgbClr val="FF0000"/>
                </a:solidFill>
              </a:rPr>
              <a:t>作为秘密钥。</a:t>
            </a:r>
          </a:p>
          <a:p>
            <a:pPr marL="463550" lvl="1" indent="-6350">
              <a:lnSpc>
                <a:spcPct val="150000"/>
              </a:lnSpc>
            </a:pPr>
            <a:r>
              <a:rPr lang="en-US" altLang="zh-CN" sz="2800" dirty="0">
                <a:solidFill>
                  <a:srgbClr val="800000"/>
                </a:solidFill>
              </a:rPr>
              <a:t>2. </a:t>
            </a:r>
            <a:r>
              <a:rPr lang="zh-CN" altLang="en-US" sz="2800" dirty="0">
                <a:solidFill>
                  <a:srgbClr val="800000"/>
                </a:solidFill>
              </a:rPr>
              <a:t>加密</a:t>
            </a:r>
          </a:p>
          <a:p>
            <a:pPr marL="920750" lvl="2" indent="-6350">
              <a:lnSpc>
                <a:spcPct val="150000"/>
              </a:lnSpc>
            </a:pPr>
            <a:r>
              <a:rPr lang="zh-CN" altLang="en-US" sz="2400" dirty="0"/>
              <a:t> </a:t>
            </a:r>
            <a:r>
              <a:rPr lang="en-US" altLang="zh-CN" sz="2400" dirty="0"/>
              <a:t>c ≡ m</a:t>
            </a:r>
            <a:r>
              <a:rPr lang="en-US" altLang="zh-CN" sz="2400" baseline="30000" dirty="0"/>
              <a:t>2</a:t>
            </a:r>
            <a:r>
              <a:rPr lang="en-US" altLang="zh-CN" sz="2400" dirty="0"/>
              <a:t> mod n</a:t>
            </a:r>
          </a:p>
          <a:p>
            <a:pPr marL="920750" lvl="2" indent="-6350">
              <a:lnSpc>
                <a:spcPct val="150000"/>
              </a:lnSpc>
            </a:pPr>
            <a:r>
              <a:rPr lang="en-US" altLang="zh-CN" sz="2400" dirty="0"/>
              <a:t> </a:t>
            </a:r>
            <a:r>
              <a:rPr lang="zh-CN" altLang="en-US" sz="2400" dirty="0"/>
              <a:t>其中</a:t>
            </a:r>
            <a:r>
              <a:rPr lang="en-US" altLang="zh-CN" sz="2400" dirty="0"/>
              <a:t>m</a:t>
            </a:r>
            <a:r>
              <a:rPr lang="zh-CN" altLang="en-US" sz="2400" dirty="0"/>
              <a:t>是明文分组，</a:t>
            </a:r>
            <a:r>
              <a:rPr lang="en-US" altLang="zh-CN" sz="2400" dirty="0"/>
              <a:t>c</a:t>
            </a:r>
            <a:r>
              <a:rPr lang="zh-CN" altLang="en-US" sz="2400" dirty="0"/>
              <a:t>是对应的密文分组。</a:t>
            </a:r>
          </a:p>
          <a:p>
            <a:pPr marL="463550" lvl="1" indent="-6350">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55</a:t>
            </a:fld>
            <a:endParaRPr kumimoji="1" lang="zh-CN" altLang="en-US" dirty="0"/>
          </a:p>
        </p:txBody>
      </p:sp>
    </p:spTree>
    <p:extLst>
      <p:ext uri="{BB962C8B-B14F-4D97-AF65-F5344CB8AC3E}">
        <p14:creationId xmlns:p14="http://schemas.microsoft.com/office/powerpoint/2010/main" val="41302380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3A075A6-FDEB-BC72-4CE5-6EE6B3508816}"/>
              </a:ext>
            </a:extLst>
          </p:cNvPr>
          <p:cNvSpPr>
            <a:spLocks noGrp="1" noChangeArrowheads="1"/>
          </p:cNvSpPr>
          <p:nvPr>
            <p:ph type="title"/>
          </p:nvPr>
        </p:nvSpPr>
        <p:spPr/>
        <p:txBody>
          <a:bodyPr/>
          <a:lstStyle/>
          <a:p>
            <a:r>
              <a:rPr lang="en-US" altLang="zh-CN" dirty="0"/>
              <a:t>5.2.3 </a:t>
            </a:r>
            <a:r>
              <a:rPr kumimoji="1" lang="en-US" altLang="zh-CN" dirty="0">
                <a:solidFill>
                  <a:prstClr val="black"/>
                </a:solidFill>
              </a:rPr>
              <a:t>Rabin</a:t>
            </a:r>
            <a:r>
              <a:rPr kumimoji="1" lang="zh-CN" altLang="en-US" dirty="0">
                <a:solidFill>
                  <a:prstClr val="black"/>
                </a:solidFill>
              </a:rPr>
              <a:t>密码体制</a:t>
            </a:r>
            <a:endParaRPr lang="zh-CN" altLang="en-US" dirty="0"/>
          </a:p>
        </p:txBody>
      </p:sp>
      <p:sp>
        <p:nvSpPr>
          <p:cNvPr id="70659" name="Rectangle 3">
            <a:extLst>
              <a:ext uri="{FF2B5EF4-FFF2-40B4-BE49-F238E27FC236}">
                <a16:creationId xmlns:a16="http://schemas.microsoft.com/office/drawing/2014/main" id="{79C0B2DA-FA7D-A155-164D-321AD4BD50CA}"/>
              </a:ext>
            </a:extLst>
          </p:cNvPr>
          <p:cNvSpPr>
            <a:spLocks noGrp="1" noChangeArrowheads="1"/>
          </p:cNvSpPr>
          <p:nvPr>
            <p:ph type="body" idx="1"/>
          </p:nvPr>
        </p:nvSpPr>
        <p:spPr>
          <a:xfrm>
            <a:off x="803420" y="1411170"/>
            <a:ext cx="9102580" cy="5332530"/>
          </a:xfrm>
        </p:spPr>
        <p:txBody>
          <a:bodyPr>
            <a:normAutofit fontScale="92500" lnSpcReduction="10000"/>
          </a:bodyPr>
          <a:lstStyle/>
          <a:p>
            <a:pPr marL="463550" lvl="1" indent="-6350">
              <a:lnSpc>
                <a:spcPct val="160000"/>
              </a:lnSpc>
            </a:pPr>
            <a:r>
              <a:rPr lang="en-US" altLang="zh-CN" sz="2800" dirty="0">
                <a:solidFill>
                  <a:srgbClr val="800000"/>
                </a:solidFill>
              </a:rPr>
              <a:t>3. </a:t>
            </a:r>
            <a:r>
              <a:rPr lang="zh-CN" altLang="en-US" sz="2800" dirty="0">
                <a:solidFill>
                  <a:srgbClr val="800000"/>
                </a:solidFill>
              </a:rPr>
              <a:t>解密：</a:t>
            </a:r>
          </a:p>
          <a:p>
            <a:pPr lvl="2" eaLnBrk="1" hangingPunct="1"/>
            <a:r>
              <a:rPr lang="en-US" altLang="zh-CN" sz="2400" dirty="0"/>
              <a:t>m</a:t>
            </a:r>
            <a:r>
              <a:rPr lang="en-US" altLang="zh-CN" sz="2400" baseline="-25000" dirty="0"/>
              <a:t>1</a:t>
            </a:r>
            <a:r>
              <a:rPr lang="en-US" altLang="zh-CN" sz="2400" dirty="0"/>
              <a:t>=C</a:t>
            </a:r>
            <a:r>
              <a:rPr lang="en-US" altLang="zh-CN" sz="2400" baseline="30000" dirty="0"/>
              <a:t>(p+1)/4</a:t>
            </a:r>
            <a:r>
              <a:rPr lang="en-US" altLang="zh-CN" sz="2400" dirty="0"/>
              <a:t> mod p, </a:t>
            </a:r>
          </a:p>
          <a:p>
            <a:pPr lvl="2" eaLnBrk="1" hangingPunct="1"/>
            <a:r>
              <a:rPr lang="en-US" altLang="zh-CN" sz="2400" dirty="0"/>
              <a:t>m</a:t>
            </a:r>
            <a:r>
              <a:rPr lang="en-US" altLang="zh-CN" sz="2400" baseline="-25000" dirty="0"/>
              <a:t>2</a:t>
            </a:r>
            <a:r>
              <a:rPr lang="en-US" altLang="zh-CN" sz="2400" dirty="0"/>
              <a:t>=(p-C</a:t>
            </a:r>
            <a:r>
              <a:rPr lang="en-US" altLang="zh-CN" sz="2400" baseline="30000" dirty="0"/>
              <a:t>(p+1)/4</a:t>
            </a:r>
            <a:r>
              <a:rPr lang="en-US" altLang="zh-CN" sz="2400" dirty="0"/>
              <a:t>) mod p, </a:t>
            </a:r>
          </a:p>
          <a:p>
            <a:pPr lvl="2" eaLnBrk="1" hangingPunct="1"/>
            <a:r>
              <a:rPr lang="en-US" altLang="zh-CN" sz="2400" dirty="0"/>
              <a:t>m</a:t>
            </a:r>
            <a:r>
              <a:rPr lang="en-US" altLang="zh-CN" sz="2400" baseline="-25000" dirty="0"/>
              <a:t>3</a:t>
            </a:r>
            <a:r>
              <a:rPr lang="en-US" altLang="zh-CN" sz="2400" dirty="0"/>
              <a:t>= C</a:t>
            </a:r>
            <a:r>
              <a:rPr lang="en-US" altLang="zh-CN" sz="2400" baseline="30000" dirty="0"/>
              <a:t>(q+1)/4</a:t>
            </a:r>
            <a:r>
              <a:rPr lang="en-US" altLang="zh-CN" sz="2400" dirty="0"/>
              <a:t> mod q, </a:t>
            </a:r>
          </a:p>
          <a:p>
            <a:pPr lvl="2" eaLnBrk="1" hangingPunct="1"/>
            <a:r>
              <a:rPr lang="en-US" altLang="zh-CN" sz="2400" dirty="0"/>
              <a:t>m</a:t>
            </a:r>
            <a:r>
              <a:rPr lang="en-US" altLang="zh-CN" sz="2400" baseline="-25000" dirty="0"/>
              <a:t>4</a:t>
            </a:r>
            <a:r>
              <a:rPr lang="en-US" altLang="zh-CN" sz="2400" dirty="0"/>
              <a:t>=(q- C</a:t>
            </a:r>
            <a:r>
              <a:rPr lang="en-US" altLang="zh-CN" sz="2400" baseline="30000" dirty="0"/>
              <a:t>(q+1)/4</a:t>
            </a:r>
            <a:r>
              <a:rPr lang="en-US" altLang="zh-CN" sz="2400" dirty="0"/>
              <a:t>) mod q</a:t>
            </a:r>
          </a:p>
          <a:p>
            <a:pPr lvl="2" eaLnBrk="1" hangingPunct="1"/>
            <a:endParaRPr lang="en-US" altLang="zh-CN" sz="2400" dirty="0"/>
          </a:p>
          <a:p>
            <a:pPr lvl="2" eaLnBrk="1" hangingPunct="1"/>
            <a:r>
              <a:rPr lang="en-US" altLang="zh-CN" sz="2400" dirty="0"/>
              <a:t>a=q(q</a:t>
            </a:r>
            <a:r>
              <a:rPr lang="en-US" altLang="zh-CN" sz="2400" baseline="30000" dirty="0"/>
              <a:t>-1</a:t>
            </a:r>
            <a:r>
              <a:rPr lang="en-US" altLang="zh-CN" sz="2400" dirty="0"/>
              <a:t> mod p), b=p(p</a:t>
            </a:r>
            <a:r>
              <a:rPr lang="en-US" altLang="zh-CN" sz="2400" baseline="30000" dirty="0"/>
              <a:t>-1</a:t>
            </a:r>
            <a:r>
              <a:rPr lang="en-US" altLang="zh-CN" sz="2400" dirty="0"/>
              <a:t> mod q)</a:t>
            </a:r>
          </a:p>
          <a:p>
            <a:pPr marL="914400" lvl="2" indent="0" eaLnBrk="1" hangingPunct="1">
              <a:buNone/>
            </a:pPr>
            <a:endParaRPr lang="en-US" altLang="zh-CN" sz="2400" dirty="0"/>
          </a:p>
          <a:p>
            <a:pPr marL="914400" lvl="2" indent="0" eaLnBrk="1" hangingPunct="1">
              <a:buNone/>
            </a:pPr>
            <a:r>
              <a:rPr lang="en-US" altLang="zh-CN" sz="2800" dirty="0"/>
              <a:t>M</a:t>
            </a:r>
            <a:r>
              <a:rPr lang="en-US" altLang="zh-CN" sz="2800" baseline="-25000" dirty="0"/>
              <a:t>1</a:t>
            </a:r>
            <a:r>
              <a:rPr lang="en-US" altLang="zh-CN" sz="2800" dirty="0"/>
              <a:t>=(am</a:t>
            </a:r>
            <a:r>
              <a:rPr lang="en-US" altLang="zh-CN" sz="2800" baseline="-25000" dirty="0"/>
              <a:t>1</a:t>
            </a:r>
            <a:r>
              <a:rPr lang="en-US" altLang="zh-CN" sz="2800" dirty="0"/>
              <a:t>+bm</a:t>
            </a:r>
            <a:r>
              <a:rPr lang="en-US" altLang="zh-CN" sz="2800" baseline="-25000" dirty="0"/>
              <a:t>3</a:t>
            </a:r>
            <a:r>
              <a:rPr lang="en-US" altLang="zh-CN" sz="2800" dirty="0"/>
              <a:t>) mod n, </a:t>
            </a:r>
          </a:p>
          <a:p>
            <a:pPr marL="914400" lvl="2" indent="0" eaLnBrk="1" hangingPunct="1">
              <a:buNone/>
            </a:pPr>
            <a:r>
              <a:rPr lang="en-US" altLang="zh-CN" sz="2800" dirty="0"/>
              <a:t>M</a:t>
            </a:r>
            <a:r>
              <a:rPr lang="en-US" altLang="zh-CN" sz="2800" baseline="-25000" dirty="0"/>
              <a:t>2</a:t>
            </a:r>
            <a:r>
              <a:rPr lang="en-US" altLang="zh-CN" sz="2800" dirty="0"/>
              <a:t>=(am</a:t>
            </a:r>
            <a:r>
              <a:rPr lang="en-US" altLang="zh-CN" sz="2800" baseline="-25000" dirty="0"/>
              <a:t>1</a:t>
            </a:r>
            <a:r>
              <a:rPr lang="en-US" altLang="zh-CN" sz="2800" dirty="0"/>
              <a:t>+bm</a:t>
            </a:r>
            <a:r>
              <a:rPr lang="en-US" altLang="zh-CN" sz="2800" baseline="-25000" dirty="0"/>
              <a:t>4</a:t>
            </a:r>
            <a:r>
              <a:rPr lang="en-US" altLang="zh-CN" sz="2800" dirty="0"/>
              <a:t>) mod n, </a:t>
            </a:r>
          </a:p>
          <a:p>
            <a:pPr marL="914400" lvl="2" indent="0" eaLnBrk="1" hangingPunct="1">
              <a:buNone/>
            </a:pPr>
            <a:r>
              <a:rPr lang="en-US" altLang="zh-CN" sz="2800" dirty="0"/>
              <a:t>M</a:t>
            </a:r>
            <a:r>
              <a:rPr lang="en-US" altLang="zh-CN" sz="2800" baseline="-25000" dirty="0"/>
              <a:t>3</a:t>
            </a:r>
            <a:r>
              <a:rPr lang="en-US" altLang="zh-CN" sz="2800" dirty="0"/>
              <a:t>=(am</a:t>
            </a:r>
            <a:r>
              <a:rPr lang="en-US" altLang="zh-CN" sz="2800" baseline="-25000" dirty="0"/>
              <a:t>2</a:t>
            </a:r>
            <a:r>
              <a:rPr lang="en-US" altLang="zh-CN" sz="2800" dirty="0"/>
              <a:t>+bm</a:t>
            </a:r>
            <a:r>
              <a:rPr lang="en-US" altLang="zh-CN" sz="2800" baseline="-25000" dirty="0"/>
              <a:t>3</a:t>
            </a:r>
            <a:r>
              <a:rPr lang="en-US" altLang="zh-CN" sz="2800" dirty="0"/>
              <a:t>) mod n, </a:t>
            </a:r>
          </a:p>
          <a:p>
            <a:pPr marL="914400" lvl="2" indent="0" eaLnBrk="1" hangingPunct="1">
              <a:buNone/>
            </a:pPr>
            <a:r>
              <a:rPr lang="en-US" altLang="zh-CN" sz="2800" dirty="0"/>
              <a:t>M</a:t>
            </a:r>
            <a:r>
              <a:rPr lang="en-US" altLang="zh-CN" sz="2800" baseline="-25000" dirty="0"/>
              <a:t>4</a:t>
            </a:r>
            <a:r>
              <a:rPr lang="en-US" altLang="zh-CN" sz="2800" dirty="0"/>
              <a:t>=(am</a:t>
            </a:r>
            <a:r>
              <a:rPr lang="en-US" altLang="zh-CN" sz="2800" baseline="-25000" dirty="0"/>
              <a:t>2</a:t>
            </a:r>
            <a:r>
              <a:rPr lang="en-US" altLang="zh-CN" sz="2800" dirty="0"/>
              <a:t>+bm</a:t>
            </a:r>
            <a:r>
              <a:rPr lang="en-US" altLang="zh-CN" sz="2800" baseline="-25000" dirty="0"/>
              <a:t>4</a:t>
            </a:r>
            <a:r>
              <a:rPr lang="en-US" altLang="zh-CN" sz="2800" dirty="0"/>
              <a:t>) mod n</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712CC4-09D0-1298-CDAA-BE4F76613241}"/>
              </a:ext>
            </a:extLst>
          </p:cNvPr>
          <p:cNvSpPr>
            <a:spLocks noGrp="1"/>
          </p:cNvSpPr>
          <p:nvPr>
            <p:ph type="title"/>
          </p:nvPr>
        </p:nvSpPr>
        <p:spPr/>
        <p:txBody>
          <a:bodyPr/>
          <a:lstStyle/>
          <a:p>
            <a:r>
              <a:rPr lang="en-US" altLang="zh-CN" dirty="0"/>
              <a:t>5.2.3 </a:t>
            </a:r>
            <a:r>
              <a:rPr kumimoji="1" lang="en-US" altLang="zh-CN" dirty="0">
                <a:solidFill>
                  <a:prstClr val="black"/>
                </a:solidFill>
              </a:rPr>
              <a:t>Rabin</a:t>
            </a:r>
            <a:r>
              <a:rPr kumimoji="1" lang="zh-CN" altLang="en-US" dirty="0">
                <a:solidFill>
                  <a:prstClr val="black"/>
                </a:solidFill>
              </a:rPr>
              <a:t>密码体制</a:t>
            </a:r>
            <a:endParaRPr lang="zh-CN" altLang="en-US" dirty="0"/>
          </a:p>
        </p:txBody>
      </p:sp>
      <p:sp>
        <p:nvSpPr>
          <p:cNvPr id="3" name="内容占位符 2">
            <a:extLst>
              <a:ext uri="{FF2B5EF4-FFF2-40B4-BE49-F238E27FC236}">
                <a16:creationId xmlns:a16="http://schemas.microsoft.com/office/drawing/2014/main" id="{E633FDF1-F855-4E11-07AB-16B9B88BEAF6}"/>
              </a:ext>
            </a:extLst>
          </p:cNvPr>
          <p:cNvSpPr>
            <a:spLocks noGrp="1"/>
          </p:cNvSpPr>
          <p:nvPr>
            <p:ph idx="1"/>
          </p:nvPr>
        </p:nvSpPr>
        <p:spPr/>
        <p:txBody>
          <a:bodyPr/>
          <a:lstStyle/>
          <a:p>
            <a:r>
              <a:rPr lang="zh-CN" altLang="en-US" dirty="0"/>
              <a:t>案例：</a:t>
            </a:r>
            <a:r>
              <a:rPr lang="en-US" altLang="zh-CN" dirty="0"/>
              <a:t>p = 7, q = 11</a:t>
            </a:r>
          </a:p>
          <a:p>
            <a:pPr lvl="1"/>
            <a:r>
              <a:rPr lang="en-US" altLang="zh-CN" dirty="0"/>
              <a:t>n = 77, </a:t>
            </a:r>
            <a:r>
              <a:rPr lang="zh-CN" altLang="en-US" dirty="0"/>
              <a:t>希望发送的明文是</a:t>
            </a:r>
            <a:r>
              <a:rPr lang="en-US" altLang="zh-CN" dirty="0"/>
              <a:t>m = 5</a:t>
            </a:r>
          </a:p>
          <a:p>
            <a:pPr lvl="1"/>
            <a:r>
              <a:rPr lang="zh-CN" altLang="en-US" dirty="0"/>
              <a:t>加密： </a:t>
            </a:r>
            <a:r>
              <a:rPr lang="en-US" altLang="zh-CN" dirty="0"/>
              <a:t>c = 5</a:t>
            </a:r>
            <a:r>
              <a:rPr lang="en-US" altLang="zh-CN" baseline="30000" dirty="0"/>
              <a:t>2</a:t>
            </a:r>
            <a:r>
              <a:rPr lang="en-US" altLang="zh-CN" dirty="0"/>
              <a:t> mod 77 = 25 mod 77</a:t>
            </a:r>
          </a:p>
          <a:p>
            <a:pPr lvl="1"/>
            <a:r>
              <a:rPr lang="zh-CN" altLang="en-US" dirty="0"/>
              <a:t>解密：</a:t>
            </a:r>
            <a:r>
              <a:rPr lang="en-US" altLang="zh-CN" dirty="0"/>
              <a:t>m</a:t>
            </a:r>
            <a:r>
              <a:rPr lang="en-US" altLang="zh-CN" baseline="-25000" dirty="0"/>
              <a:t>1</a:t>
            </a:r>
            <a:r>
              <a:rPr lang="en-US" altLang="zh-CN" dirty="0"/>
              <a:t> = 2,  m</a:t>
            </a:r>
            <a:r>
              <a:rPr lang="en-US" altLang="zh-CN" baseline="-25000" dirty="0"/>
              <a:t>2</a:t>
            </a:r>
            <a:r>
              <a:rPr lang="en-US" altLang="zh-CN" dirty="0"/>
              <a:t> = 5,  m</a:t>
            </a:r>
            <a:r>
              <a:rPr lang="en-US" altLang="zh-CN" baseline="-25000" dirty="0"/>
              <a:t>3</a:t>
            </a:r>
            <a:r>
              <a:rPr lang="en-US" altLang="zh-CN" dirty="0"/>
              <a:t> = 5, m</a:t>
            </a:r>
            <a:r>
              <a:rPr lang="en-US" altLang="zh-CN" baseline="-25000" dirty="0"/>
              <a:t>4</a:t>
            </a:r>
            <a:r>
              <a:rPr lang="en-US" altLang="zh-CN" dirty="0"/>
              <a:t> = 6</a:t>
            </a:r>
          </a:p>
          <a:p>
            <a:pPr lvl="2"/>
            <a:r>
              <a:rPr lang="en-US" altLang="zh-CN" sz="2400" dirty="0"/>
              <a:t>a = 22, b = 56</a:t>
            </a:r>
          </a:p>
          <a:p>
            <a:pPr lvl="2"/>
            <a:r>
              <a:rPr lang="en-US" altLang="zh-CN" sz="2400" dirty="0"/>
              <a:t>M</a:t>
            </a:r>
            <a:r>
              <a:rPr lang="en-US" altLang="zh-CN" sz="2400" baseline="-25000" dirty="0"/>
              <a:t>1</a:t>
            </a:r>
            <a:r>
              <a:rPr lang="en-US" altLang="zh-CN" sz="2400" dirty="0"/>
              <a:t>= 16, M</a:t>
            </a:r>
            <a:r>
              <a:rPr lang="en-US" altLang="zh-CN" sz="2400" baseline="-25000" dirty="0"/>
              <a:t>2</a:t>
            </a:r>
            <a:r>
              <a:rPr lang="en-US" altLang="zh-CN" sz="2400" dirty="0"/>
              <a:t> = 72, M</a:t>
            </a:r>
            <a:r>
              <a:rPr lang="en-US" altLang="zh-CN" sz="2400" baseline="-25000" dirty="0"/>
              <a:t>3</a:t>
            </a:r>
            <a:r>
              <a:rPr lang="en-US" altLang="zh-CN" sz="2400" dirty="0"/>
              <a:t> = 5, M</a:t>
            </a:r>
            <a:r>
              <a:rPr lang="en-US" altLang="zh-CN" sz="2400" baseline="-25000" dirty="0"/>
              <a:t>4</a:t>
            </a:r>
            <a:r>
              <a:rPr lang="en-US" altLang="zh-CN" sz="2400" dirty="0"/>
              <a:t> = 61</a:t>
            </a:r>
            <a:endParaRPr lang="zh-CN" altLang="en-US" sz="2400" dirty="0"/>
          </a:p>
        </p:txBody>
      </p:sp>
      <p:sp>
        <p:nvSpPr>
          <p:cNvPr id="4" name="灯片编号占位符 3">
            <a:extLst>
              <a:ext uri="{FF2B5EF4-FFF2-40B4-BE49-F238E27FC236}">
                <a16:creationId xmlns:a16="http://schemas.microsoft.com/office/drawing/2014/main" id="{ABC97E0D-6C60-BB9A-1AC7-F2247DB32961}"/>
              </a:ext>
            </a:extLst>
          </p:cNvPr>
          <p:cNvSpPr>
            <a:spLocks noGrp="1"/>
          </p:cNvSpPr>
          <p:nvPr>
            <p:ph type="sldNum" sz="quarter" idx="12"/>
          </p:nvPr>
        </p:nvSpPr>
        <p:spPr/>
        <p:txBody>
          <a:bodyPr/>
          <a:lstStyle/>
          <a:p>
            <a:fld id="{8D4D1E41-7A09-AB4A-A4E1-09765ADA2698}" type="slidenum">
              <a:rPr kumimoji="1" lang="zh-CN" altLang="en-US" smtClean="0"/>
              <a:pPr/>
              <a:t>57</a:t>
            </a:fld>
            <a:endParaRPr kumimoji="1" lang="zh-CN" altLang="en-US" dirty="0"/>
          </a:p>
        </p:txBody>
      </p:sp>
    </p:spTree>
    <p:extLst>
      <p:ext uri="{BB962C8B-B14F-4D97-AF65-F5344CB8AC3E}">
        <p14:creationId xmlns:p14="http://schemas.microsoft.com/office/powerpoint/2010/main" val="30128219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F577DB7C-A089-C2BD-FD17-C3CBECE004F3}"/>
              </a:ext>
            </a:extLst>
          </p:cNvPr>
          <p:cNvSpPr>
            <a:spLocks noGrp="1" noChangeArrowheads="1"/>
          </p:cNvSpPr>
          <p:nvPr>
            <p:ph type="title"/>
          </p:nvPr>
        </p:nvSpPr>
        <p:spPr/>
        <p:txBody>
          <a:bodyPr/>
          <a:lstStyle/>
          <a:p>
            <a:r>
              <a:rPr lang="en-US" altLang="zh-CN" dirty="0"/>
              <a:t>5.2.3 </a:t>
            </a:r>
            <a:r>
              <a:rPr kumimoji="1" lang="en-US" altLang="zh-CN" dirty="0">
                <a:solidFill>
                  <a:prstClr val="black"/>
                </a:solidFill>
              </a:rPr>
              <a:t>Rabin</a:t>
            </a:r>
            <a:r>
              <a:rPr kumimoji="1" lang="zh-CN" altLang="en-US" dirty="0">
                <a:solidFill>
                  <a:prstClr val="black"/>
                </a:solidFill>
              </a:rPr>
              <a:t>密码体制</a:t>
            </a:r>
            <a:endParaRPr lang="zh-CN" altLang="en-US" dirty="0"/>
          </a:p>
        </p:txBody>
      </p:sp>
      <p:sp>
        <p:nvSpPr>
          <p:cNvPr id="3" name="内容占位符 2">
            <a:extLst>
              <a:ext uri="{FF2B5EF4-FFF2-40B4-BE49-F238E27FC236}">
                <a16:creationId xmlns:a16="http://schemas.microsoft.com/office/drawing/2014/main" id="{D2FBF6CF-3FF9-C168-2303-B2727CB1099C}"/>
              </a:ext>
            </a:extLst>
          </p:cNvPr>
          <p:cNvSpPr>
            <a:spLocks noGrp="1" noRot="1" noChangeAspect="1" noMove="1" noResize="1" noEditPoints="1" noAdjustHandles="1" noChangeArrowheads="1" noChangeShapeType="1" noTextEdit="1"/>
          </p:cNvSpPr>
          <p:nvPr>
            <p:ph idx="1"/>
          </p:nvPr>
        </p:nvSpPr>
        <p:spPr>
          <a:xfrm>
            <a:off x="2286000" y="1447800"/>
            <a:ext cx="7772400" cy="4117602"/>
          </a:xfrm>
          <a:blipFill>
            <a:blip r:embed="rId2"/>
            <a:stretch>
              <a:fillRect/>
            </a:stretch>
          </a:blipFill>
        </p:spPr>
        <p:txBody>
          <a:bodyPr/>
          <a:lstStyle/>
          <a:p>
            <a:pPr>
              <a:defRPr/>
            </a:pPr>
            <a:r>
              <a:rPr lang="zh-CN" altLang="en-US" dirty="0">
                <a:noFill/>
              </a:rPr>
              <a:t> </a:t>
            </a:r>
          </a:p>
        </p:txBody>
      </p:sp>
      <p:sp>
        <p:nvSpPr>
          <p:cNvPr id="2" name="文本框 1">
            <a:extLst>
              <a:ext uri="{FF2B5EF4-FFF2-40B4-BE49-F238E27FC236}">
                <a16:creationId xmlns:a16="http://schemas.microsoft.com/office/drawing/2014/main" id="{1A6D6642-1946-E905-F3D0-E915A8FAD2A9}"/>
              </a:ext>
            </a:extLst>
          </p:cNvPr>
          <p:cNvSpPr txBox="1"/>
          <p:nvPr/>
        </p:nvSpPr>
        <p:spPr>
          <a:xfrm>
            <a:off x="1988457" y="4886980"/>
            <a:ext cx="7228114"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证明了可行性</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34AA4DFA-4B26-F986-481B-5631764D1A46}"/>
              </a:ext>
            </a:extLst>
          </p:cNvPr>
          <p:cNvPicPr>
            <a:picLocks noChangeAspect="1"/>
          </p:cNvPicPr>
          <p:nvPr/>
        </p:nvPicPr>
        <p:blipFill>
          <a:blip r:embed="rId2"/>
          <a:srcRect t="7082"/>
          <a:stretch>
            <a:fillRect/>
          </a:stretch>
        </p:blipFill>
        <p:spPr>
          <a:xfrm>
            <a:off x="688835" y="2090763"/>
            <a:ext cx="6443121" cy="4747192"/>
          </a:xfrm>
          <a:prstGeom prst="rect">
            <a:avLst/>
          </a:prstGeom>
        </p:spPr>
      </p:pic>
      <p:sp>
        <p:nvSpPr>
          <p:cNvPr id="9" name="标题 1">
            <a:extLst>
              <a:ext uri="{FF2B5EF4-FFF2-40B4-BE49-F238E27FC236}">
                <a16:creationId xmlns:a16="http://schemas.microsoft.com/office/drawing/2014/main" id="{C1E0D64D-3F81-ECA8-064C-4C447202B963}"/>
              </a:ext>
            </a:extLst>
          </p:cNvPr>
          <p:cNvSpPr>
            <a:spLocks noGrp="1" noChangeArrowheads="1"/>
          </p:cNvSpPr>
          <p:nvPr>
            <p:ph type="title"/>
          </p:nvPr>
        </p:nvSpPr>
        <p:spPr>
          <a:xfrm>
            <a:off x="1307508" y="365126"/>
            <a:ext cx="8220812" cy="879086"/>
          </a:xfrm>
        </p:spPr>
        <p:txBody>
          <a:bodyPr/>
          <a:lstStyle/>
          <a:p>
            <a:r>
              <a:rPr lang="en-US" altLang="zh-CN" dirty="0"/>
              <a:t>5.2.3 </a:t>
            </a:r>
            <a:r>
              <a:rPr kumimoji="1" lang="en-US" altLang="zh-CN" dirty="0">
                <a:solidFill>
                  <a:prstClr val="black"/>
                </a:solidFill>
              </a:rPr>
              <a:t>Rabin</a:t>
            </a:r>
            <a:r>
              <a:rPr kumimoji="1" lang="zh-CN" altLang="en-US" dirty="0">
                <a:solidFill>
                  <a:prstClr val="black"/>
                </a:solidFill>
              </a:rPr>
              <a:t>密码体制</a:t>
            </a:r>
            <a:endParaRPr lang="zh-CN" altLang="en-US" dirty="0"/>
          </a:p>
        </p:txBody>
      </p:sp>
      <p:sp>
        <p:nvSpPr>
          <p:cNvPr id="10" name="文本框 9">
            <a:extLst>
              <a:ext uri="{FF2B5EF4-FFF2-40B4-BE49-F238E27FC236}">
                <a16:creationId xmlns:a16="http://schemas.microsoft.com/office/drawing/2014/main" id="{47E1D18A-8338-2196-3C00-B4E7D01417CB}"/>
              </a:ext>
            </a:extLst>
          </p:cNvPr>
          <p:cNvSpPr txBox="1"/>
          <p:nvPr/>
        </p:nvSpPr>
        <p:spPr>
          <a:xfrm>
            <a:off x="688835" y="1567543"/>
            <a:ext cx="4049486" cy="523220"/>
          </a:xfrm>
          <a:prstGeom prst="rect">
            <a:avLst/>
          </a:prstGeom>
          <a:noFill/>
        </p:spPr>
        <p:txBody>
          <a:bodyPr wrap="square" rtlCol="0">
            <a:spAutoFit/>
          </a:bodyPr>
          <a:lstStyle/>
          <a:p>
            <a:pPr marL="228600" indent="-228600">
              <a:spcBef>
                <a:spcPts val="600"/>
              </a:spcBef>
              <a:buFont typeface="Wingdings" pitchFamily="2" charset="2"/>
              <a:buChar char="Ø"/>
            </a:pPr>
            <a:r>
              <a:rPr lang="zh-CN" altLang="en-US" sz="2800" dirty="0">
                <a:latin typeface="Microsoft YaHei" panose="020B0503020204020204" pitchFamily="34" charset="-122"/>
                <a:ea typeface="Microsoft YaHei" panose="020B0503020204020204" pitchFamily="34" charset="-122"/>
              </a:rPr>
              <a:t>确定唯一真解的算法</a:t>
            </a:r>
          </a:p>
        </p:txBody>
      </p:sp>
      <p:pic>
        <p:nvPicPr>
          <p:cNvPr id="12" name="图片 11">
            <a:extLst>
              <a:ext uri="{FF2B5EF4-FFF2-40B4-BE49-F238E27FC236}">
                <a16:creationId xmlns:a16="http://schemas.microsoft.com/office/drawing/2014/main" id="{36F1EAE0-3329-1FAC-97ED-D85F8CA9B882}"/>
              </a:ext>
            </a:extLst>
          </p:cNvPr>
          <p:cNvPicPr>
            <a:picLocks noChangeAspect="1"/>
          </p:cNvPicPr>
          <p:nvPr/>
        </p:nvPicPr>
        <p:blipFill>
          <a:blip r:embed="rId3"/>
          <a:stretch>
            <a:fillRect/>
          </a:stretch>
        </p:blipFill>
        <p:spPr>
          <a:xfrm>
            <a:off x="5417914" y="2989738"/>
            <a:ext cx="6774086" cy="1121762"/>
          </a:xfrm>
          <a:prstGeom prst="rect">
            <a:avLst/>
          </a:prstGeom>
        </p:spPr>
      </p:pic>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5D536E-351D-0977-9F47-830B0740ECB5}"/>
              </a:ext>
            </a:extLst>
          </p:cNvPr>
          <p:cNvSpPr>
            <a:spLocks noGrp="1"/>
          </p:cNvSpPr>
          <p:nvPr>
            <p:ph type="title"/>
          </p:nvPr>
        </p:nvSpPr>
        <p:spPr/>
        <p:txBody>
          <a:bodyPr/>
          <a:lstStyle/>
          <a:p>
            <a:r>
              <a:rPr lang="en-US" altLang="zh-CN" dirty="0"/>
              <a:t>5.2.3 </a:t>
            </a:r>
            <a:r>
              <a:rPr kumimoji="1" lang="en-US" altLang="zh-CN" dirty="0">
                <a:solidFill>
                  <a:prstClr val="black"/>
                </a:solidFill>
              </a:rPr>
              <a:t>Rabin</a:t>
            </a:r>
            <a:r>
              <a:rPr kumimoji="1" lang="zh-CN" altLang="en-US" dirty="0">
                <a:solidFill>
                  <a:prstClr val="black"/>
                </a:solidFill>
              </a:rPr>
              <a:t>密码体制</a:t>
            </a:r>
            <a:endParaRPr lang="zh-CN" altLang="en-US" dirty="0"/>
          </a:p>
        </p:txBody>
      </p:sp>
      <p:sp>
        <p:nvSpPr>
          <p:cNvPr id="3" name="内容占位符 2">
            <a:extLst>
              <a:ext uri="{FF2B5EF4-FFF2-40B4-BE49-F238E27FC236}">
                <a16:creationId xmlns:a16="http://schemas.microsoft.com/office/drawing/2014/main" id="{5C4F74D2-FDE7-D3B4-8034-A68E4C17A9B2}"/>
              </a:ext>
            </a:extLst>
          </p:cNvPr>
          <p:cNvSpPr>
            <a:spLocks noGrp="1"/>
          </p:cNvSpPr>
          <p:nvPr>
            <p:ph idx="1"/>
          </p:nvPr>
        </p:nvSpPr>
        <p:spPr/>
        <p:txBody>
          <a:bodyPr/>
          <a:lstStyle/>
          <a:p>
            <a:r>
              <a:rPr lang="zh-CN" altLang="en-US" dirty="0"/>
              <a:t>案例：</a:t>
            </a:r>
            <a:r>
              <a:rPr lang="en-US" altLang="zh-CN" dirty="0"/>
              <a:t>p = 3, q = 7</a:t>
            </a:r>
          </a:p>
          <a:p>
            <a:pPr lvl="1"/>
            <a:r>
              <a:rPr lang="en-US" altLang="zh-CN" dirty="0"/>
              <a:t>n = 21, </a:t>
            </a:r>
            <a:r>
              <a:rPr lang="zh-CN" altLang="en-US" dirty="0"/>
              <a:t>希望发送的明文是</a:t>
            </a:r>
            <a:r>
              <a:rPr lang="en-US" altLang="zh-CN" dirty="0"/>
              <a:t>m = 5</a:t>
            </a:r>
          </a:p>
          <a:p>
            <a:pPr lvl="1"/>
            <a:r>
              <a:rPr lang="zh-CN" altLang="en-US" dirty="0"/>
              <a:t>选择</a:t>
            </a:r>
            <a:r>
              <a:rPr lang="en-US" altLang="zh-CN" dirty="0"/>
              <a:t>s = 2</a:t>
            </a:r>
            <a:r>
              <a:rPr lang="zh-CN" altLang="en-US" dirty="0"/>
              <a:t>，验证：</a:t>
            </a:r>
            <a:r>
              <a:rPr lang="en-US" altLang="zh-CN" dirty="0"/>
              <a:t>J(2,21) = -1</a:t>
            </a:r>
            <a:r>
              <a:rPr lang="zh-CN" altLang="en-US" dirty="0"/>
              <a:t>，计算得</a:t>
            </a:r>
            <a:r>
              <a:rPr lang="en-US" altLang="zh-CN" dirty="0"/>
              <a:t>k = 2</a:t>
            </a:r>
          </a:p>
          <a:p>
            <a:pPr lvl="1"/>
            <a:r>
              <a:rPr lang="zh-CN" altLang="en-US" dirty="0"/>
              <a:t>加密： </a:t>
            </a:r>
            <a:r>
              <a:rPr lang="en-US" altLang="zh-CN" dirty="0"/>
              <a:t>J(5,21) = J(5,3) * J(5,7) = (-1) * (-1) = 1</a:t>
            </a:r>
            <a:r>
              <a:rPr lang="zh-CN" altLang="en-US" dirty="0"/>
              <a:t>，因此</a:t>
            </a:r>
            <a:r>
              <a:rPr lang="en-US" altLang="zh-CN" dirty="0"/>
              <a:t>c1 = 0</a:t>
            </a:r>
          </a:p>
          <a:p>
            <a:pPr lvl="2"/>
            <a:r>
              <a:rPr lang="en-US" altLang="zh-CN" sz="2400" dirty="0"/>
              <a:t>M’ = 5,  C = 4, c2 = 1, </a:t>
            </a:r>
            <a:r>
              <a:rPr lang="zh-CN" altLang="en-US" sz="2400" dirty="0"/>
              <a:t>密文为（</a:t>
            </a:r>
            <a:r>
              <a:rPr lang="en-US" altLang="zh-CN" sz="2400" dirty="0"/>
              <a:t>4, 0, 1</a:t>
            </a:r>
            <a:r>
              <a:rPr lang="zh-CN" altLang="en-US" sz="2400" dirty="0"/>
              <a:t>）</a:t>
            </a:r>
            <a:endParaRPr lang="en-US" altLang="zh-CN" sz="2400" dirty="0"/>
          </a:p>
          <a:p>
            <a:pPr lvl="1"/>
            <a:r>
              <a:rPr lang="zh-CN" altLang="en-US" dirty="0"/>
              <a:t>解密：</a:t>
            </a:r>
            <a:r>
              <a:rPr lang="en-US" altLang="zh-CN" dirty="0"/>
              <a:t>M”= 16</a:t>
            </a:r>
            <a:r>
              <a:rPr lang="zh-CN" altLang="en-US" dirty="0"/>
              <a:t>， </a:t>
            </a:r>
            <a:r>
              <a:rPr lang="en-US" altLang="zh-CN" dirty="0"/>
              <a:t>M = 16</a:t>
            </a:r>
          </a:p>
        </p:txBody>
      </p:sp>
      <p:sp>
        <p:nvSpPr>
          <p:cNvPr id="4" name="灯片编号占位符 3">
            <a:extLst>
              <a:ext uri="{FF2B5EF4-FFF2-40B4-BE49-F238E27FC236}">
                <a16:creationId xmlns:a16="http://schemas.microsoft.com/office/drawing/2014/main" id="{70BCCDD2-2680-B274-C8D1-5F0D6F6FB7CB}"/>
              </a:ext>
            </a:extLst>
          </p:cNvPr>
          <p:cNvSpPr>
            <a:spLocks noGrp="1"/>
          </p:cNvSpPr>
          <p:nvPr>
            <p:ph type="sldNum" sz="quarter" idx="12"/>
          </p:nvPr>
        </p:nvSpPr>
        <p:spPr/>
        <p:txBody>
          <a:bodyPr/>
          <a:lstStyle/>
          <a:p>
            <a:fld id="{8D4D1E41-7A09-AB4A-A4E1-09765ADA2698}" type="slidenum">
              <a:rPr kumimoji="1" lang="zh-CN" altLang="en-US" smtClean="0"/>
              <a:pPr/>
              <a:t>60</a:t>
            </a:fld>
            <a:endParaRPr kumimoji="1" lang="zh-CN" altLang="en-US" dirty="0"/>
          </a:p>
        </p:txBody>
      </p:sp>
    </p:spTree>
    <p:extLst>
      <p:ext uri="{BB962C8B-B14F-4D97-AF65-F5344CB8AC3E}">
        <p14:creationId xmlns:p14="http://schemas.microsoft.com/office/powerpoint/2010/main" val="8627777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5.2.4 </a:t>
            </a:r>
            <a:r>
              <a:rPr kumimoji="1" lang="en-US" altLang="zh-CN" dirty="0">
                <a:solidFill>
                  <a:prstClr val="black"/>
                </a:solidFill>
              </a:rPr>
              <a:t>ElGamal</a:t>
            </a:r>
            <a:r>
              <a:rPr kumimoji="1" lang="zh-CN" altLang="en-US" dirty="0">
                <a:solidFill>
                  <a:prstClr val="black"/>
                </a:solidFill>
              </a:rPr>
              <a:t>密码体制</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产生密钥：</a:t>
            </a:r>
          </a:p>
          <a:p>
            <a:pPr lvl="1">
              <a:lnSpc>
                <a:spcPct val="150000"/>
              </a:lnSpc>
            </a:pPr>
            <a:r>
              <a:rPr lang="zh-CN" altLang="en-US" sz="2800" dirty="0"/>
              <a:t>一个</a:t>
            </a:r>
            <a:r>
              <a:rPr lang="zh-CN" altLang="en-US" sz="2800" dirty="0">
                <a:solidFill>
                  <a:srgbClr val="FF0000"/>
                </a:solidFill>
              </a:rPr>
              <a:t>素数</a:t>
            </a:r>
            <a:r>
              <a:rPr lang="en-US" altLang="zh-CN" sz="2800" dirty="0">
                <a:solidFill>
                  <a:srgbClr val="FF0000"/>
                </a:solidFill>
              </a:rPr>
              <a:t>p</a:t>
            </a:r>
            <a:r>
              <a:rPr lang="zh-CN" altLang="en-US" sz="2800" dirty="0"/>
              <a:t>和两个</a:t>
            </a:r>
            <a:r>
              <a:rPr lang="zh-CN" altLang="en-US" sz="2800" dirty="0">
                <a:solidFill>
                  <a:srgbClr val="FF0000"/>
                </a:solidFill>
              </a:rPr>
              <a:t>随机数</a:t>
            </a:r>
            <a:r>
              <a:rPr lang="en-US" altLang="zh-CN" sz="2800" dirty="0">
                <a:solidFill>
                  <a:srgbClr val="FF0000"/>
                </a:solidFill>
              </a:rPr>
              <a:t>g</a:t>
            </a:r>
            <a:r>
              <a:rPr lang="zh-CN" altLang="en-US" sz="2800" dirty="0">
                <a:solidFill>
                  <a:srgbClr val="FF0000"/>
                </a:solidFill>
              </a:rPr>
              <a:t>，</a:t>
            </a:r>
            <a:r>
              <a:rPr lang="en-US" altLang="zh-CN" sz="2800" dirty="0">
                <a:solidFill>
                  <a:srgbClr val="FF0000"/>
                </a:solidFill>
              </a:rPr>
              <a:t>x</a:t>
            </a:r>
            <a:r>
              <a:rPr lang="zh-CN" altLang="en-US" sz="2800" dirty="0"/>
              <a:t>，使</a:t>
            </a:r>
            <a:r>
              <a:rPr lang="en-US" altLang="zh-CN" sz="2800" dirty="0"/>
              <a:t>g</a:t>
            </a:r>
            <a:r>
              <a:rPr lang="zh-CN" altLang="en-US" sz="2800" dirty="0"/>
              <a:t>和</a:t>
            </a:r>
            <a:r>
              <a:rPr lang="en-US" altLang="zh-CN" sz="2800" dirty="0"/>
              <a:t>x</a:t>
            </a:r>
            <a:r>
              <a:rPr lang="zh-CN" altLang="en-US" sz="2800" dirty="0"/>
              <a:t>都小于</a:t>
            </a:r>
            <a:r>
              <a:rPr lang="en-US" altLang="zh-CN" sz="2800" dirty="0"/>
              <a:t>p</a:t>
            </a:r>
            <a:r>
              <a:rPr lang="zh-CN" altLang="en-US" sz="2800" dirty="0"/>
              <a:t>。</a:t>
            </a:r>
          </a:p>
          <a:p>
            <a:pPr lvl="1">
              <a:lnSpc>
                <a:spcPct val="150000"/>
              </a:lnSpc>
            </a:pPr>
            <a:r>
              <a:rPr lang="zh-CN" altLang="en-US" sz="2800" dirty="0"/>
              <a:t>计算</a:t>
            </a:r>
            <a:r>
              <a:rPr lang="en-US" altLang="zh-CN" sz="2800" dirty="0"/>
              <a:t>y = g</a:t>
            </a:r>
            <a:r>
              <a:rPr lang="en-US" altLang="zh-CN" sz="2800" baseline="30000" dirty="0"/>
              <a:t>x</a:t>
            </a:r>
            <a:r>
              <a:rPr lang="en-US" altLang="zh-CN" sz="2800" dirty="0"/>
              <a:t> mod p</a:t>
            </a:r>
          </a:p>
          <a:p>
            <a:pPr lvl="1">
              <a:lnSpc>
                <a:spcPct val="150000"/>
              </a:lnSpc>
            </a:pPr>
            <a:r>
              <a:rPr lang="zh-CN" altLang="en-US" sz="2800" dirty="0"/>
              <a:t>公开密钥：</a:t>
            </a:r>
            <a:r>
              <a:rPr lang="en-US" altLang="zh-CN" sz="2800" dirty="0"/>
              <a:t>y, g</a:t>
            </a:r>
            <a:r>
              <a:rPr lang="zh-CN" altLang="en-US" sz="2800" dirty="0"/>
              <a:t>和</a:t>
            </a:r>
            <a:r>
              <a:rPr lang="en-US" altLang="zh-CN" sz="2800" dirty="0"/>
              <a:t>p</a:t>
            </a:r>
            <a:r>
              <a:rPr lang="zh-CN" altLang="en-US" sz="2800" dirty="0"/>
              <a:t>，</a:t>
            </a:r>
            <a:r>
              <a:rPr lang="en-US" altLang="zh-CN" sz="2800" dirty="0"/>
              <a:t>g</a:t>
            </a:r>
            <a:r>
              <a:rPr lang="zh-CN" altLang="en-US" sz="2800" dirty="0"/>
              <a:t>和</a:t>
            </a:r>
            <a:r>
              <a:rPr lang="en-US" altLang="zh-CN" sz="2800" dirty="0"/>
              <a:t>p</a:t>
            </a:r>
            <a:r>
              <a:rPr lang="zh-CN" altLang="en-US" sz="2800" dirty="0"/>
              <a:t>由一群用户共享</a:t>
            </a:r>
          </a:p>
          <a:p>
            <a:pPr lvl="1">
              <a:lnSpc>
                <a:spcPct val="150000"/>
              </a:lnSpc>
            </a:pPr>
            <a:r>
              <a:rPr lang="zh-CN" altLang="en-US" sz="2800" dirty="0"/>
              <a:t>秘密密钥：</a:t>
            </a:r>
            <a:r>
              <a:rPr lang="en-US" altLang="zh-CN" sz="2800" dirty="0"/>
              <a:t>x</a:t>
            </a:r>
            <a:r>
              <a:rPr lang="zh-CN" altLang="en-US" sz="2800" dirty="0"/>
              <a:t>，反推这个密钥非常困难</a:t>
            </a:r>
            <a:endParaRPr lang="en-US" altLang="zh-CN" sz="2800"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61</a:t>
            </a:fld>
            <a:endParaRPr kumimoji="1" lang="zh-CN" altLang="en-US" dirty="0"/>
          </a:p>
        </p:txBody>
      </p:sp>
    </p:spTree>
    <p:extLst>
      <p:ext uri="{BB962C8B-B14F-4D97-AF65-F5344CB8AC3E}">
        <p14:creationId xmlns:p14="http://schemas.microsoft.com/office/powerpoint/2010/main" val="25935694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5.2.4 </a:t>
            </a:r>
            <a:r>
              <a:rPr kumimoji="1" lang="en-US" altLang="zh-CN" dirty="0">
                <a:solidFill>
                  <a:prstClr val="black"/>
                </a:solidFill>
              </a:rPr>
              <a:t>ElGamal</a:t>
            </a:r>
            <a:r>
              <a:rPr kumimoji="1" lang="zh-CN" altLang="en-US" dirty="0">
                <a:solidFill>
                  <a:prstClr val="black"/>
                </a:solidFill>
              </a:rPr>
              <a:t>密码体制</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err="1"/>
              <a:t>ElGamal</a:t>
            </a:r>
            <a:r>
              <a:rPr lang="zh-CN" altLang="en-US" dirty="0"/>
              <a:t>加密与解密</a:t>
            </a:r>
          </a:p>
          <a:p>
            <a:pPr lvl="1">
              <a:lnSpc>
                <a:spcPct val="150000"/>
              </a:lnSpc>
            </a:pPr>
            <a:r>
              <a:rPr lang="zh-CN" altLang="en-US" sz="2800" dirty="0"/>
              <a:t>加密</a:t>
            </a:r>
            <a:r>
              <a:rPr lang="en-US" altLang="zh-CN" sz="2800" dirty="0"/>
              <a:t>M</a:t>
            </a:r>
            <a:r>
              <a:rPr lang="zh-CN" altLang="en-US" sz="2800" dirty="0"/>
              <a:t>：</a:t>
            </a:r>
          </a:p>
          <a:p>
            <a:pPr lvl="2">
              <a:lnSpc>
                <a:spcPct val="150000"/>
              </a:lnSpc>
            </a:pPr>
            <a:r>
              <a:rPr lang="zh-CN" altLang="en-US" sz="2800" dirty="0"/>
              <a:t>选择随机数</a:t>
            </a:r>
            <a:r>
              <a:rPr lang="en-US" altLang="zh-CN" sz="2800" dirty="0"/>
              <a:t>k</a:t>
            </a:r>
            <a:r>
              <a:rPr lang="zh-CN" altLang="en-US" sz="2800" dirty="0"/>
              <a:t>，使</a:t>
            </a:r>
            <a:r>
              <a:rPr lang="en-US" altLang="zh-CN" sz="2800" dirty="0"/>
              <a:t>k</a:t>
            </a:r>
            <a:r>
              <a:rPr lang="zh-CN" altLang="en-US" sz="2800" dirty="0"/>
              <a:t>与</a:t>
            </a:r>
            <a:r>
              <a:rPr lang="en-US" altLang="zh-CN" sz="2800" dirty="0"/>
              <a:t>p-1</a:t>
            </a:r>
            <a:r>
              <a:rPr lang="zh-CN" altLang="en-US" sz="2800" dirty="0"/>
              <a:t>互素</a:t>
            </a:r>
          </a:p>
          <a:p>
            <a:pPr lvl="2">
              <a:lnSpc>
                <a:spcPct val="150000"/>
              </a:lnSpc>
            </a:pPr>
            <a:r>
              <a:rPr lang="zh-CN" altLang="en-US" sz="2800" dirty="0"/>
              <a:t>计算</a:t>
            </a:r>
            <a:r>
              <a:rPr lang="en-US" altLang="zh-CN" sz="2800" dirty="0"/>
              <a:t>a = </a:t>
            </a:r>
            <a:r>
              <a:rPr lang="en-US" altLang="zh-CN" sz="2800" dirty="0" err="1"/>
              <a:t>g</a:t>
            </a:r>
            <a:r>
              <a:rPr lang="en-US" altLang="zh-CN" sz="2800" baseline="30000" dirty="0" err="1"/>
              <a:t>k</a:t>
            </a:r>
            <a:r>
              <a:rPr lang="en-US" altLang="zh-CN" sz="2800" dirty="0"/>
              <a:t> mod p, b = </a:t>
            </a:r>
            <a:r>
              <a:rPr lang="en-US" altLang="zh-CN" sz="2800" dirty="0" err="1"/>
              <a:t>y</a:t>
            </a:r>
            <a:r>
              <a:rPr lang="en-US" altLang="zh-CN" sz="2800" baseline="30000" dirty="0" err="1"/>
              <a:t>k</a:t>
            </a:r>
            <a:r>
              <a:rPr lang="en-US" altLang="zh-CN" sz="2800" dirty="0" err="1"/>
              <a:t>M</a:t>
            </a:r>
            <a:r>
              <a:rPr lang="en-US" altLang="zh-CN" sz="2800" dirty="0"/>
              <a:t> mod p, a</a:t>
            </a:r>
            <a:r>
              <a:rPr lang="zh-CN" altLang="en-US" sz="2800" dirty="0"/>
              <a:t>和</a:t>
            </a:r>
            <a:r>
              <a:rPr lang="en-US" altLang="zh-CN" sz="2800" dirty="0"/>
              <a:t>b</a:t>
            </a:r>
            <a:r>
              <a:rPr lang="zh-CN" altLang="en-US" sz="2800" dirty="0"/>
              <a:t>为密文</a:t>
            </a:r>
          </a:p>
          <a:p>
            <a:pPr lvl="1">
              <a:lnSpc>
                <a:spcPct val="150000"/>
              </a:lnSpc>
            </a:pPr>
            <a:r>
              <a:rPr lang="zh-CN" altLang="en-US" sz="2800" dirty="0"/>
              <a:t>解密：计算</a:t>
            </a:r>
            <a:r>
              <a:rPr lang="en-US" altLang="zh-CN" sz="2800" dirty="0"/>
              <a:t>M = b(a</a:t>
            </a:r>
            <a:r>
              <a:rPr lang="en-US" altLang="zh-CN" sz="2800" baseline="30000" dirty="0"/>
              <a:t>x</a:t>
            </a:r>
            <a:r>
              <a:rPr lang="en-US" altLang="zh-CN" sz="2800" dirty="0"/>
              <a:t>)</a:t>
            </a:r>
            <a:r>
              <a:rPr lang="en-US" altLang="zh-CN" sz="2800" baseline="30000" dirty="0"/>
              <a:t>-1</a:t>
            </a:r>
            <a:r>
              <a:rPr lang="en-US" altLang="zh-CN" sz="2800" dirty="0"/>
              <a:t>  mod p</a:t>
            </a:r>
          </a:p>
          <a:p>
            <a:pPr lvl="2">
              <a:lnSpc>
                <a:spcPct val="150000"/>
              </a:lnSpc>
            </a:pPr>
            <a:r>
              <a:rPr lang="zh-CN" altLang="en-US" sz="2400" dirty="0"/>
              <a:t>证明：</a:t>
            </a:r>
            <a:r>
              <a:rPr lang="en-US" altLang="zh-CN" sz="2400" dirty="0"/>
              <a:t>b/a</a:t>
            </a:r>
            <a:r>
              <a:rPr lang="en-US" altLang="zh-CN" sz="2400" baseline="30000" dirty="0"/>
              <a:t>x</a:t>
            </a:r>
            <a:r>
              <a:rPr lang="en-US" altLang="zh-CN" sz="2400" dirty="0"/>
              <a:t> mod p = </a:t>
            </a:r>
            <a:r>
              <a:rPr lang="en-US" altLang="zh-CN" sz="2400" dirty="0" err="1"/>
              <a:t>y</a:t>
            </a:r>
            <a:r>
              <a:rPr lang="en-US" altLang="zh-CN" sz="2400" baseline="30000" dirty="0" err="1"/>
              <a:t>k</a:t>
            </a:r>
            <a:r>
              <a:rPr lang="en-US" altLang="zh-CN" sz="2400" dirty="0" err="1"/>
              <a:t>M</a:t>
            </a:r>
            <a:r>
              <a:rPr lang="en-US" altLang="zh-CN" sz="2400" dirty="0"/>
              <a:t>/a</a:t>
            </a:r>
            <a:r>
              <a:rPr lang="en-US" altLang="zh-CN" sz="2400" baseline="30000" dirty="0"/>
              <a:t>x</a:t>
            </a:r>
            <a:r>
              <a:rPr lang="en-US" altLang="zh-CN" sz="2400" dirty="0"/>
              <a:t> mod p = </a:t>
            </a:r>
            <a:r>
              <a:rPr lang="en-US" altLang="zh-CN" sz="2400" dirty="0" err="1"/>
              <a:t>g</a:t>
            </a:r>
            <a:r>
              <a:rPr lang="en-US" altLang="zh-CN" sz="2400" baseline="30000" dirty="0" err="1"/>
              <a:t>kx</a:t>
            </a:r>
            <a:r>
              <a:rPr lang="en-US" altLang="zh-CN" sz="2400" dirty="0" err="1"/>
              <a:t>M</a:t>
            </a:r>
            <a:r>
              <a:rPr lang="en-US" altLang="zh-CN" sz="2400" dirty="0"/>
              <a:t>/</a:t>
            </a:r>
            <a:r>
              <a:rPr lang="en-US" altLang="zh-CN" sz="2400" dirty="0" err="1"/>
              <a:t>g</a:t>
            </a:r>
            <a:r>
              <a:rPr lang="en-US" altLang="zh-CN" sz="2400" baseline="30000" dirty="0" err="1"/>
              <a:t>kx</a:t>
            </a:r>
            <a:r>
              <a:rPr lang="en-US" altLang="zh-CN" sz="2400" dirty="0"/>
              <a:t> mod p = M</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62</a:t>
            </a:fld>
            <a:endParaRPr kumimoji="1" lang="zh-CN" altLang="en-US" dirty="0"/>
          </a:p>
        </p:txBody>
      </p:sp>
    </p:spTree>
    <p:extLst>
      <p:ext uri="{BB962C8B-B14F-4D97-AF65-F5344CB8AC3E}">
        <p14:creationId xmlns:p14="http://schemas.microsoft.com/office/powerpoint/2010/main" val="19667455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A1AD99-F6E5-68C9-CF13-4F6B06946806}"/>
              </a:ext>
            </a:extLst>
          </p:cNvPr>
          <p:cNvSpPr>
            <a:spLocks noGrp="1"/>
          </p:cNvSpPr>
          <p:nvPr>
            <p:ph type="title"/>
          </p:nvPr>
        </p:nvSpPr>
        <p:spPr/>
        <p:txBody>
          <a:bodyPr/>
          <a:lstStyle/>
          <a:p>
            <a:r>
              <a:rPr lang="en-US" altLang="zh-CN" dirty="0"/>
              <a:t>5.2.4 </a:t>
            </a:r>
            <a:r>
              <a:rPr kumimoji="1" lang="en-US" altLang="zh-CN" dirty="0" err="1">
                <a:solidFill>
                  <a:prstClr val="black"/>
                </a:solidFill>
              </a:rPr>
              <a:t>ElGamal</a:t>
            </a:r>
            <a:r>
              <a:rPr kumimoji="1" lang="zh-CN" altLang="en-US" dirty="0">
                <a:solidFill>
                  <a:prstClr val="black"/>
                </a:solidFill>
              </a:rPr>
              <a:t>密码体制</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D32C7FD-1892-6318-785D-75AB671FDDD2}"/>
                  </a:ext>
                </a:extLst>
              </p:cNvPr>
              <p:cNvSpPr>
                <a:spLocks noGrp="1"/>
              </p:cNvSpPr>
              <p:nvPr>
                <p:ph idx="1"/>
              </p:nvPr>
            </p:nvSpPr>
            <p:spPr/>
            <p:txBody>
              <a:bodyPr/>
              <a:lstStyle/>
              <a:p>
                <a:r>
                  <a:rPr lang="zh-CN" altLang="en-US" dirty="0"/>
                  <a:t>案例：</a:t>
                </a:r>
                <a14:m>
                  <m:oMath xmlns:m="http://schemas.openxmlformats.org/officeDocument/2006/math">
                    <m:r>
                      <a:rPr lang="es-ES" altLang="zh-CN" i="1" dirty="0" smtClean="0">
                        <a:latin typeface="Cambria Math" panose="02040503050406030204" pitchFamily="18" charset="0"/>
                      </a:rPr>
                      <m:t>𝑦</m:t>
                    </m:r>
                    <m:r>
                      <a:rPr lang="es-ES" altLang="zh-CN" i="1" dirty="0">
                        <a:latin typeface="Cambria Math" panose="02040503050406030204" pitchFamily="18" charset="0"/>
                      </a:rPr>
                      <m:t>=5, </m:t>
                    </m:r>
                    <m:r>
                      <a:rPr lang="es-ES" altLang="zh-CN" i="1" dirty="0" smtClean="0">
                        <a:latin typeface="Cambria Math" panose="02040503050406030204" pitchFamily="18" charset="0"/>
                      </a:rPr>
                      <m:t>𝑔</m:t>
                    </m:r>
                    <m:r>
                      <a:rPr lang="es-ES" altLang="zh-CN" i="1" dirty="0">
                        <a:latin typeface="Cambria Math" panose="02040503050406030204" pitchFamily="18" charset="0"/>
                      </a:rPr>
                      <m:t>=2, </m:t>
                    </m:r>
                    <m:r>
                      <a:rPr lang="es-ES" altLang="zh-CN" i="1" dirty="0" smtClean="0">
                        <a:latin typeface="Cambria Math" panose="02040503050406030204" pitchFamily="18" charset="0"/>
                      </a:rPr>
                      <m:t>𝑝</m:t>
                    </m:r>
                    <m:r>
                      <a:rPr lang="es-ES" altLang="zh-CN" i="1" dirty="0">
                        <a:latin typeface="Cambria Math" panose="02040503050406030204" pitchFamily="18" charset="0"/>
                      </a:rPr>
                      <m:t>=</m:t>
                    </m:r>
                    <m:r>
                      <a:rPr lang="es-ES" altLang="zh-CN" i="1" dirty="0" smtClean="0">
                        <a:latin typeface="Cambria Math" panose="02040503050406030204" pitchFamily="18" charset="0"/>
                      </a:rPr>
                      <m:t>11</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=4, </m:t>
                    </m:r>
                    <m:r>
                      <a:rPr lang="en-US" altLang="zh-CN" i="1" dirty="0" smtClean="0">
                        <a:latin typeface="Cambria Math" panose="02040503050406030204" pitchFamily="18" charset="0"/>
                      </a:rPr>
                      <m:t>𝑚</m:t>
                    </m:r>
                    <m:r>
                      <a:rPr lang="en-US" altLang="zh-CN" i="1" dirty="0" smtClean="0">
                        <a:latin typeface="Cambria Math" panose="02040503050406030204" pitchFamily="18" charset="0"/>
                      </a:rPr>
                      <m:t>=7</m:t>
                    </m:r>
                  </m:oMath>
                </a14:m>
                <a:endParaRPr lang="zh-CN" altLang="en-US" dirty="0"/>
              </a:p>
              <a:p>
                <a:pPr lvl="1"/>
                <a:r>
                  <a:rPr lang="zh-CN" altLang="en-US" dirty="0"/>
                  <a:t>选择</a:t>
                </a:r>
                <a:r>
                  <a:rPr lang="en-US" altLang="zh-CN" dirty="0"/>
                  <a:t>k = 3</a:t>
                </a:r>
                <a:r>
                  <a:rPr lang="zh-CN" altLang="en-US" dirty="0"/>
                  <a:t>，进而</a:t>
                </a:r>
                <a:r>
                  <a:rPr lang="en-US" altLang="zh-CN" dirty="0"/>
                  <a:t>a = 8,  b = 6</a:t>
                </a:r>
                <a:r>
                  <a:rPr lang="zh-CN" altLang="en-US" dirty="0"/>
                  <a:t>， 密文为</a:t>
                </a:r>
                <a:r>
                  <a:rPr lang="en-US" altLang="zh-CN" dirty="0"/>
                  <a:t>(8, 6)</a:t>
                </a:r>
              </a:p>
              <a:p>
                <a:pPr lvl="1"/>
                <a:r>
                  <a:rPr lang="en-US" altLang="zh-CN" dirty="0"/>
                  <a:t>(a</a:t>
                </a:r>
                <a:r>
                  <a:rPr lang="en-US" altLang="zh-CN" baseline="30000" dirty="0"/>
                  <a:t>x</a:t>
                </a:r>
                <a:r>
                  <a:rPr lang="en-US" altLang="zh-CN" dirty="0"/>
                  <a:t>)</a:t>
                </a:r>
                <a:r>
                  <a:rPr lang="en-US" altLang="zh-CN" baseline="30000" dirty="0"/>
                  <a:t>-1</a:t>
                </a:r>
                <a:r>
                  <a:rPr lang="zh-CN" altLang="en-US" dirty="0"/>
                  <a:t>为</a:t>
                </a:r>
                <a:r>
                  <a:rPr lang="en-US" altLang="zh-CN" dirty="0"/>
                  <a:t>3</a:t>
                </a:r>
                <a:r>
                  <a:rPr lang="zh-CN" altLang="en-US" dirty="0"/>
                  <a:t>，进而</a:t>
                </a:r>
                <a:r>
                  <a:rPr lang="en-US" altLang="zh-CN" dirty="0"/>
                  <a:t>m = 7</a:t>
                </a:r>
              </a:p>
            </p:txBody>
          </p:sp>
        </mc:Choice>
        <mc:Fallback xmlns="">
          <p:sp>
            <p:nvSpPr>
              <p:cNvPr id="3" name="内容占位符 2">
                <a:extLst>
                  <a:ext uri="{FF2B5EF4-FFF2-40B4-BE49-F238E27FC236}">
                    <a16:creationId xmlns:a16="http://schemas.microsoft.com/office/drawing/2014/main" id="{4D32C7FD-1892-6318-785D-75AB671FDDD2}"/>
                  </a:ext>
                </a:extLst>
              </p:cNvPr>
              <p:cNvSpPr>
                <a:spLocks noGrp="1" noRot="1" noChangeAspect="1" noMove="1" noResize="1" noEditPoints="1" noAdjustHandles="1" noChangeArrowheads="1" noChangeShapeType="1" noTextEdit="1"/>
              </p:cNvSpPr>
              <p:nvPr>
                <p:ph idx="1"/>
              </p:nvPr>
            </p:nvSpPr>
            <p:spPr>
              <a:blipFill>
                <a:blip r:embed="rId2"/>
                <a:stretch>
                  <a:fillRect l="-1043" t="-1463"/>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DB09BB7F-BE9E-F401-95A2-3A8B8303919F}"/>
              </a:ext>
            </a:extLst>
          </p:cNvPr>
          <p:cNvSpPr>
            <a:spLocks noGrp="1"/>
          </p:cNvSpPr>
          <p:nvPr>
            <p:ph type="sldNum" sz="quarter" idx="12"/>
          </p:nvPr>
        </p:nvSpPr>
        <p:spPr/>
        <p:txBody>
          <a:bodyPr/>
          <a:lstStyle/>
          <a:p>
            <a:fld id="{8D4D1E41-7A09-AB4A-A4E1-09765ADA2698}" type="slidenum">
              <a:rPr kumimoji="1" lang="zh-CN" altLang="en-US" smtClean="0"/>
              <a:pPr/>
              <a:t>63</a:t>
            </a:fld>
            <a:endParaRPr kumimoji="1" lang="zh-CN" altLang="en-US" dirty="0"/>
          </a:p>
        </p:txBody>
      </p:sp>
    </p:spTree>
    <p:extLst>
      <p:ext uri="{BB962C8B-B14F-4D97-AF65-F5344CB8AC3E}">
        <p14:creationId xmlns:p14="http://schemas.microsoft.com/office/powerpoint/2010/main" val="39759026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5.2.4 </a:t>
            </a:r>
            <a:r>
              <a:rPr kumimoji="1" lang="en-US" altLang="zh-CN" dirty="0">
                <a:solidFill>
                  <a:prstClr val="black"/>
                </a:solidFill>
              </a:rPr>
              <a:t>ElGamal</a:t>
            </a:r>
            <a:r>
              <a:rPr kumimoji="1" lang="zh-CN" altLang="en-US" dirty="0">
                <a:solidFill>
                  <a:prstClr val="black"/>
                </a:solidFill>
              </a:rPr>
              <a:t>密码体制</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50000"/>
              </a:lnSpc>
            </a:pPr>
            <a:r>
              <a:rPr lang="en-US" altLang="zh-CN" dirty="0"/>
              <a:t>ElGamal</a:t>
            </a:r>
            <a:r>
              <a:rPr lang="zh-CN" altLang="en-US" dirty="0"/>
              <a:t>签名</a:t>
            </a:r>
          </a:p>
          <a:p>
            <a:pPr lvl="1">
              <a:lnSpc>
                <a:spcPct val="150000"/>
              </a:lnSpc>
            </a:pPr>
            <a:r>
              <a:rPr lang="zh-CN" altLang="en-US" sz="2800" dirty="0"/>
              <a:t>产生签名：</a:t>
            </a:r>
          </a:p>
          <a:p>
            <a:pPr lvl="2">
              <a:lnSpc>
                <a:spcPct val="150000"/>
              </a:lnSpc>
            </a:pPr>
            <a:r>
              <a:rPr lang="zh-CN" altLang="en-US" sz="2800" dirty="0"/>
              <a:t>选择一个随机数</a:t>
            </a:r>
            <a:r>
              <a:rPr lang="en-US" altLang="zh-CN" sz="2800" dirty="0"/>
              <a:t>k</a:t>
            </a:r>
            <a:r>
              <a:rPr lang="zh-CN" altLang="en-US" sz="2800" dirty="0"/>
              <a:t>，使</a:t>
            </a:r>
            <a:r>
              <a:rPr lang="en-US" altLang="zh-CN" sz="2800" dirty="0"/>
              <a:t>k</a:t>
            </a:r>
            <a:r>
              <a:rPr lang="zh-CN" altLang="en-US" sz="2800" dirty="0"/>
              <a:t>与</a:t>
            </a:r>
            <a:r>
              <a:rPr lang="en-US" altLang="zh-CN" sz="2800" dirty="0"/>
              <a:t>p-1</a:t>
            </a:r>
            <a:r>
              <a:rPr lang="zh-CN" altLang="en-US" sz="2800" dirty="0"/>
              <a:t>互素。</a:t>
            </a:r>
          </a:p>
          <a:p>
            <a:pPr lvl="2">
              <a:lnSpc>
                <a:spcPct val="150000"/>
              </a:lnSpc>
            </a:pPr>
            <a:r>
              <a:rPr lang="zh-CN" altLang="en-US" sz="2800" dirty="0"/>
              <a:t>计算</a:t>
            </a:r>
            <a:r>
              <a:rPr lang="en-US" altLang="zh-CN" sz="2800" dirty="0"/>
              <a:t>a = </a:t>
            </a:r>
            <a:r>
              <a:rPr lang="en-US" altLang="zh-CN" sz="2800" dirty="0" err="1"/>
              <a:t>g</a:t>
            </a:r>
            <a:r>
              <a:rPr lang="en-US" altLang="zh-CN" sz="2800" baseline="30000" dirty="0" err="1"/>
              <a:t>k</a:t>
            </a:r>
            <a:r>
              <a:rPr lang="en-US" altLang="zh-CN" sz="2800" dirty="0"/>
              <a:t> mod p</a:t>
            </a:r>
          </a:p>
          <a:p>
            <a:pPr lvl="2">
              <a:lnSpc>
                <a:spcPct val="150000"/>
              </a:lnSpc>
            </a:pPr>
            <a:r>
              <a:rPr lang="zh-CN" altLang="en-US" sz="2800" dirty="0"/>
              <a:t>用扩展的</a:t>
            </a:r>
            <a:r>
              <a:rPr lang="en-US" altLang="zh-CN" sz="2800" dirty="0"/>
              <a:t>Euclid</a:t>
            </a:r>
            <a:r>
              <a:rPr lang="zh-CN" altLang="en-US" sz="2800" dirty="0"/>
              <a:t>算法求</a:t>
            </a:r>
            <a:r>
              <a:rPr lang="en-US" altLang="zh-CN" sz="2800" dirty="0"/>
              <a:t>b</a:t>
            </a:r>
            <a:r>
              <a:rPr lang="zh-CN" altLang="en-US" sz="2800" dirty="0"/>
              <a:t>，使</a:t>
            </a:r>
            <a:r>
              <a:rPr lang="en-US" altLang="zh-CN" sz="2800" dirty="0"/>
              <a:t>M = (</a:t>
            </a:r>
            <a:r>
              <a:rPr lang="en-US" altLang="zh-CN" sz="2800" dirty="0" err="1"/>
              <a:t>xa+kb</a:t>
            </a:r>
            <a:r>
              <a:rPr lang="en-US" altLang="zh-CN" sz="2800" dirty="0"/>
              <a:t>) mod (p-1)</a:t>
            </a:r>
          </a:p>
          <a:p>
            <a:pPr lvl="2">
              <a:lnSpc>
                <a:spcPct val="150000"/>
              </a:lnSpc>
            </a:pPr>
            <a:r>
              <a:rPr lang="zh-CN" altLang="en-US" sz="2800" dirty="0"/>
              <a:t>数字签名为</a:t>
            </a:r>
            <a:r>
              <a:rPr lang="en-US" altLang="zh-CN" sz="2800" dirty="0"/>
              <a:t>a</a:t>
            </a:r>
            <a:r>
              <a:rPr lang="zh-CN" altLang="en-US" sz="2800" dirty="0"/>
              <a:t>和</a:t>
            </a:r>
            <a:r>
              <a:rPr lang="en-US" altLang="zh-CN" sz="2800" dirty="0"/>
              <a:t>b</a:t>
            </a:r>
            <a:r>
              <a:rPr lang="zh-CN" altLang="en-US" sz="2800" dirty="0"/>
              <a:t>，</a:t>
            </a:r>
            <a:r>
              <a:rPr lang="en-US" altLang="zh-CN" sz="2800" dirty="0"/>
              <a:t>k</a:t>
            </a:r>
            <a:r>
              <a:rPr lang="zh-CN" altLang="en-US" sz="2800" dirty="0"/>
              <a:t>要保密。</a:t>
            </a:r>
          </a:p>
          <a:p>
            <a:pPr lvl="1">
              <a:lnSpc>
                <a:spcPct val="150000"/>
              </a:lnSpc>
            </a:pPr>
            <a:r>
              <a:rPr lang="zh-CN" altLang="en-US" sz="2800" dirty="0"/>
              <a:t>验证签名：确认是否有</a:t>
            </a:r>
            <a:r>
              <a:rPr lang="en-US" altLang="zh-CN" sz="2800" dirty="0" err="1"/>
              <a:t>y</a:t>
            </a:r>
            <a:r>
              <a:rPr lang="en-US" altLang="zh-CN" sz="2800" baseline="30000" dirty="0" err="1"/>
              <a:t>a</a:t>
            </a:r>
            <a:r>
              <a:rPr lang="en-US" altLang="zh-CN" sz="2800" dirty="0" err="1"/>
              <a:t>a</a:t>
            </a:r>
            <a:r>
              <a:rPr lang="en-US" altLang="zh-CN" sz="2800" baseline="30000" dirty="0" err="1"/>
              <a:t>b</a:t>
            </a:r>
            <a:r>
              <a:rPr lang="en-US" altLang="zh-CN" sz="2800" dirty="0"/>
              <a:t> mod p = </a:t>
            </a:r>
            <a:r>
              <a:rPr lang="en-US" altLang="zh-CN" sz="2800" dirty="0" err="1"/>
              <a:t>g</a:t>
            </a:r>
            <a:r>
              <a:rPr lang="en-US" altLang="zh-CN" sz="2800" baseline="30000" dirty="0" err="1"/>
              <a:t>M</a:t>
            </a:r>
            <a:r>
              <a:rPr lang="en-US" altLang="zh-CN" sz="2800" dirty="0"/>
              <a:t> mod p</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64</a:t>
            </a:fld>
            <a:endParaRPr kumimoji="1" lang="zh-CN" altLang="en-US" dirty="0"/>
          </a:p>
        </p:txBody>
      </p:sp>
    </p:spTree>
    <p:extLst>
      <p:ext uri="{BB962C8B-B14F-4D97-AF65-F5344CB8AC3E}">
        <p14:creationId xmlns:p14="http://schemas.microsoft.com/office/powerpoint/2010/main" val="27252850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E6A3D-C5E6-BA8F-80CC-41E63F1FB604}"/>
              </a:ext>
            </a:extLst>
          </p:cNvPr>
          <p:cNvSpPr>
            <a:spLocks noGrp="1"/>
          </p:cNvSpPr>
          <p:nvPr>
            <p:ph type="title"/>
          </p:nvPr>
        </p:nvSpPr>
        <p:spPr/>
        <p:txBody>
          <a:bodyPr/>
          <a:lstStyle/>
          <a:p>
            <a:r>
              <a:rPr lang="en-US" altLang="zh-CN" dirty="0"/>
              <a:t>5.2.4 </a:t>
            </a:r>
            <a:r>
              <a:rPr kumimoji="1" lang="en-US" altLang="zh-CN" dirty="0" err="1">
                <a:solidFill>
                  <a:prstClr val="black"/>
                </a:solidFill>
              </a:rPr>
              <a:t>ElGamal</a:t>
            </a:r>
            <a:r>
              <a:rPr kumimoji="1" lang="zh-CN" altLang="en-US" dirty="0">
                <a:solidFill>
                  <a:prstClr val="black"/>
                </a:solidFill>
              </a:rPr>
              <a:t>密码体制</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37CEC54-D722-0F76-4C23-56F147805BEB}"/>
                  </a:ext>
                </a:extLst>
              </p:cNvPr>
              <p:cNvSpPr>
                <a:spLocks noGrp="1"/>
              </p:cNvSpPr>
              <p:nvPr>
                <p:ph idx="1"/>
              </p:nvPr>
            </p:nvSpPr>
            <p:spPr/>
            <p:txBody>
              <a:bodyPr/>
              <a:lstStyle/>
              <a:p>
                <a:r>
                  <a:rPr lang="zh-CN" altLang="en-US" dirty="0"/>
                  <a:t>案例：</a:t>
                </a:r>
                <a14:m>
                  <m:oMath xmlns:m="http://schemas.openxmlformats.org/officeDocument/2006/math">
                    <m:r>
                      <a:rPr lang="en-US" altLang="zh-CN" i="1" dirty="0" smtClean="0">
                        <a:latin typeface="Cambria Math" panose="02040503050406030204" pitchFamily="18" charset="0"/>
                      </a:rPr>
                      <m:t>𝑝</m:t>
                    </m:r>
                    <m:r>
                      <a:rPr lang="en-US" altLang="zh-CN" i="1" dirty="0" smtClean="0">
                        <a:latin typeface="Cambria Math" panose="02040503050406030204" pitchFamily="18" charset="0"/>
                      </a:rPr>
                      <m:t> = 11</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𝑔</m:t>
                    </m:r>
                    <m:r>
                      <a:rPr lang="en-US" altLang="zh-CN" i="1" dirty="0" smtClean="0">
                        <a:latin typeface="Cambria Math" panose="02040503050406030204" pitchFamily="18" charset="0"/>
                      </a:rPr>
                      <m:t> = 2</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 = 8</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𝑦</m:t>
                    </m:r>
                    <m:r>
                      <a:rPr lang="en-US" altLang="zh-CN" i="1" dirty="0" smtClean="0">
                        <a:latin typeface="Cambria Math" panose="02040503050406030204" pitchFamily="18" charset="0"/>
                      </a:rPr>
                      <m:t> = 3</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𝑀</m:t>
                    </m:r>
                    <m:r>
                      <a:rPr lang="en-US" altLang="zh-CN" i="1" dirty="0">
                        <a:latin typeface="Cambria Math" panose="02040503050406030204" pitchFamily="18" charset="0"/>
                      </a:rPr>
                      <m:t> </m:t>
                    </m:r>
                    <m:r>
                      <a:rPr lang="en-US" altLang="zh-CN" i="1" dirty="0" smtClean="0">
                        <a:latin typeface="Cambria Math" panose="02040503050406030204" pitchFamily="18" charset="0"/>
                      </a:rPr>
                      <m:t>=</m:t>
                    </m:r>
                    <m:r>
                      <a:rPr lang="en-US" altLang="zh-CN" i="1" dirty="0">
                        <a:latin typeface="Cambria Math" panose="02040503050406030204" pitchFamily="18" charset="0"/>
                      </a:rPr>
                      <m:t> </m:t>
                    </m:r>
                    <m:r>
                      <a:rPr lang="en-US" altLang="zh-CN" i="1" dirty="0" smtClean="0">
                        <a:latin typeface="Cambria Math" panose="02040503050406030204" pitchFamily="18" charset="0"/>
                      </a:rPr>
                      <m:t>5</m:t>
                    </m:r>
                  </m:oMath>
                </a14:m>
                <a:endParaRPr lang="en-US" altLang="zh-CN" dirty="0"/>
              </a:p>
              <a:p>
                <a:pPr lvl="1"/>
                <a:r>
                  <a:rPr lang="zh-CN" altLang="en-US" dirty="0"/>
                  <a:t>选择</a:t>
                </a:r>
                <a:r>
                  <a:rPr lang="en-US" altLang="zh-CN" dirty="0"/>
                  <a:t>k = 3</a:t>
                </a:r>
                <a:r>
                  <a:rPr lang="zh-CN" altLang="en-US" dirty="0"/>
                  <a:t>，进而</a:t>
                </a:r>
                <a:r>
                  <a:rPr lang="en-US" altLang="zh-CN" dirty="0"/>
                  <a:t>a = 8</a:t>
                </a:r>
              </a:p>
              <a:p>
                <a:pPr lvl="1"/>
                <a:r>
                  <a:rPr lang="en-US" altLang="zh-CN" dirty="0"/>
                  <a:t>5 = (64 + 3b) mod 10</a:t>
                </a:r>
                <a:r>
                  <a:rPr lang="zh-CN" altLang="en-US" dirty="0"/>
                  <a:t>，即</a:t>
                </a:r>
                <a:r>
                  <a:rPr lang="en-US" altLang="zh-CN" dirty="0"/>
                  <a:t>3b = 1 mod 10</a:t>
                </a:r>
                <a:r>
                  <a:rPr lang="zh-CN" altLang="en-US" dirty="0"/>
                  <a:t>，得</a:t>
                </a:r>
                <a:r>
                  <a:rPr lang="en-US" altLang="zh-CN" dirty="0"/>
                  <a:t>b = 7</a:t>
                </a:r>
              </a:p>
              <a:p>
                <a:pPr lvl="1"/>
                <a:r>
                  <a:rPr lang="zh-CN" altLang="en-US" dirty="0"/>
                  <a:t>签名为（</a:t>
                </a:r>
                <a:r>
                  <a:rPr lang="en-US" altLang="zh-CN" dirty="0"/>
                  <a:t>8,7</a:t>
                </a:r>
                <a:r>
                  <a:rPr lang="zh-CN" altLang="en-US" dirty="0"/>
                  <a:t>）</a:t>
                </a:r>
                <a:endParaRPr lang="en-US" altLang="zh-CN" dirty="0"/>
              </a:p>
              <a:p>
                <a:pPr lvl="1"/>
                <a:r>
                  <a:rPr lang="zh-CN" altLang="en-US" dirty="0"/>
                  <a:t>验证成功：</a:t>
                </a:r>
                <a:r>
                  <a:rPr lang="en-US" altLang="zh-CN" dirty="0"/>
                  <a:t>10 = 10</a:t>
                </a:r>
              </a:p>
              <a:p>
                <a:pPr lvl="1"/>
                <a:endParaRPr lang="en-US" altLang="zh-CN" dirty="0"/>
              </a:p>
            </p:txBody>
          </p:sp>
        </mc:Choice>
        <mc:Fallback xmlns="">
          <p:sp>
            <p:nvSpPr>
              <p:cNvPr id="3" name="内容占位符 2">
                <a:extLst>
                  <a:ext uri="{FF2B5EF4-FFF2-40B4-BE49-F238E27FC236}">
                    <a16:creationId xmlns:a16="http://schemas.microsoft.com/office/drawing/2014/main" id="{C37CEC54-D722-0F76-4C23-56F147805BEB}"/>
                  </a:ext>
                </a:extLst>
              </p:cNvPr>
              <p:cNvSpPr>
                <a:spLocks noGrp="1" noRot="1" noChangeAspect="1" noMove="1" noResize="1" noEditPoints="1" noAdjustHandles="1" noChangeArrowheads="1" noChangeShapeType="1" noTextEdit="1"/>
              </p:cNvSpPr>
              <p:nvPr>
                <p:ph idx="1"/>
              </p:nvPr>
            </p:nvSpPr>
            <p:spPr>
              <a:blipFill>
                <a:blip r:embed="rId2"/>
                <a:stretch>
                  <a:fillRect l="-1043" t="-1463"/>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4A632EA9-8915-A663-D671-9297B2CC9F1D}"/>
              </a:ext>
            </a:extLst>
          </p:cNvPr>
          <p:cNvSpPr>
            <a:spLocks noGrp="1"/>
          </p:cNvSpPr>
          <p:nvPr>
            <p:ph type="sldNum" sz="quarter" idx="12"/>
          </p:nvPr>
        </p:nvSpPr>
        <p:spPr/>
        <p:txBody>
          <a:bodyPr/>
          <a:lstStyle/>
          <a:p>
            <a:fld id="{8D4D1E41-7A09-AB4A-A4E1-09765ADA2698}" type="slidenum">
              <a:rPr kumimoji="1" lang="zh-CN" altLang="en-US" smtClean="0"/>
              <a:pPr/>
              <a:t>65</a:t>
            </a:fld>
            <a:endParaRPr kumimoji="1" lang="zh-CN" altLang="en-US" dirty="0"/>
          </a:p>
        </p:txBody>
      </p:sp>
    </p:spTree>
    <p:extLst>
      <p:ext uri="{BB962C8B-B14F-4D97-AF65-F5344CB8AC3E}">
        <p14:creationId xmlns:p14="http://schemas.microsoft.com/office/powerpoint/2010/main" val="13832469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endParaRPr lang="zh-CN" altLang="en-US" dirty="0"/>
          </a:p>
        </p:txBody>
      </p:sp>
      <p:sp>
        <p:nvSpPr>
          <p:cNvPr id="3" name="内容占位符 2"/>
          <p:cNvSpPr>
            <a:spLocks noGrp="1"/>
          </p:cNvSpPr>
          <p:nvPr>
            <p:ph idx="1"/>
          </p:nvPr>
        </p:nvSpPr>
        <p:spPr/>
        <p:txBody>
          <a:bodyPr>
            <a:normAutofit fontScale="92500"/>
          </a:bodyPr>
          <a:lstStyle/>
          <a:p>
            <a:r>
              <a:rPr lang="zh-CN" altLang="en-US" dirty="0"/>
              <a:t>简要历史</a:t>
            </a:r>
            <a:endParaRPr lang="en-US" altLang="zh-CN" dirty="0"/>
          </a:p>
          <a:p>
            <a:pPr lvl="1">
              <a:lnSpc>
                <a:spcPct val="130000"/>
              </a:lnSpc>
              <a:spcAft>
                <a:spcPts val="600"/>
              </a:spcAft>
            </a:pPr>
            <a:r>
              <a:rPr lang="zh-CN" altLang="en-US" b="1" dirty="0">
                <a:solidFill>
                  <a:srgbClr val="C00000"/>
                </a:solidFill>
              </a:rPr>
              <a:t>椭圆曲线</a:t>
            </a:r>
            <a:r>
              <a:rPr lang="en-US" altLang="zh-CN" dirty="0"/>
              <a:t>(Elliptic curve)</a:t>
            </a:r>
            <a:r>
              <a:rPr lang="zh-CN" altLang="en-US" dirty="0"/>
              <a:t>作为代数几何中的重要问题已有</a:t>
            </a:r>
            <a:r>
              <a:rPr lang="en-US" altLang="zh-CN" dirty="0"/>
              <a:t>100</a:t>
            </a:r>
            <a:r>
              <a:rPr lang="zh-CN" altLang="en-US" dirty="0"/>
              <a:t>多年的研究历史</a:t>
            </a:r>
          </a:p>
          <a:p>
            <a:pPr lvl="1">
              <a:lnSpc>
                <a:spcPct val="130000"/>
              </a:lnSpc>
              <a:spcAft>
                <a:spcPts val="600"/>
              </a:spcAft>
            </a:pPr>
            <a:r>
              <a:rPr lang="en-US" altLang="zh-CN" dirty="0"/>
              <a:t>1985</a:t>
            </a:r>
            <a:r>
              <a:rPr lang="zh-CN" altLang="en-US" dirty="0"/>
              <a:t>年，</a:t>
            </a:r>
            <a:r>
              <a:rPr lang="en-US" altLang="zh-CN" dirty="0"/>
              <a:t>N. </a:t>
            </a:r>
            <a:r>
              <a:rPr lang="en-US" altLang="zh-CN" dirty="0" err="1"/>
              <a:t>Koblitz</a:t>
            </a:r>
            <a:r>
              <a:rPr lang="zh-CN" altLang="en-US" dirty="0"/>
              <a:t>和</a:t>
            </a:r>
            <a:r>
              <a:rPr lang="en-US" altLang="zh-CN" dirty="0"/>
              <a:t>V. Miller</a:t>
            </a:r>
            <a:r>
              <a:rPr lang="zh-CN" altLang="en-US" dirty="0"/>
              <a:t>独立将其引入密码学中，成为构造双钥密码体制的一个有力工具</a:t>
            </a:r>
            <a:r>
              <a:rPr lang="zh-CN" altLang="zh-CN" dirty="0"/>
              <a:t>。</a:t>
            </a:r>
            <a:endParaRPr lang="zh-CN" altLang="en-US" dirty="0"/>
          </a:p>
          <a:p>
            <a:pPr lvl="1">
              <a:lnSpc>
                <a:spcPct val="130000"/>
              </a:lnSpc>
              <a:spcAft>
                <a:spcPts val="600"/>
              </a:spcAft>
            </a:pPr>
            <a:r>
              <a:rPr lang="zh-CN" altLang="en-US" dirty="0"/>
              <a:t>利用有限域</a:t>
            </a:r>
            <a:r>
              <a:rPr lang="en-US" altLang="zh-CN" dirty="0"/>
              <a:t>GF(2</a:t>
            </a:r>
            <a:r>
              <a:rPr lang="en-US" altLang="zh-CN" baseline="30000" dirty="0"/>
              <a:t>n</a:t>
            </a:r>
            <a:r>
              <a:rPr lang="en-US" altLang="zh-CN" i="1" baseline="30000" dirty="0"/>
              <a:t> </a:t>
            </a:r>
            <a:r>
              <a:rPr lang="en-US" altLang="zh-CN" dirty="0"/>
              <a:t>)</a:t>
            </a:r>
            <a:r>
              <a:rPr lang="zh-CN" altLang="en-US" dirty="0"/>
              <a:t>上的椭圆曲线上点集所构成的群上定义的离散对数系统，可以构造出基于有限域上离散对数的一些双钥体制</a:t>
            </a:r>
            <a:r>
              <a:rPr lang="en-US" altLang="zh-CN" dirty="0"/>
              <a:t>--</a:t>
            </a:r>
            <a:r>
              <a:rPr lang="zh-CN" altLang="en-US" b="1" dirty="0">
                <a:solidFill>
                  <a:srgbClr val="C00000"/>
                </a:solidFill>
              </a:rPr>
              <a:t>椭圆曲线离散对数密码体制</a:t>
            </a:r>
            <a:r>
              <a:rPr lang="en-US" altLang="zh-CN" dirty="0"/>
              <a:t>(ECDLC</a:t>
            </a:r>
            <a:r>
              <a:rPr lang="en-US" altLang="zh-CN" i="1" baseline="30000" dirty="0"/>
              <a:t> </a:t>
            </a:r>
            <a:r>
              <a:rPr lang="en-US" altLang="zh-CN" dirty="0"/>
              <a:t>)</a:t>
            </a:r>
            <a:r>
              <a:rPr lang="zh-CN" altLang="en-US" dirty="0"/>
              <a:t>，如</a:t>
            </a:r>
            <a:r>
              <a:rPr lang="en-US" altLang="zh-CN" dirty="0"/>
              <a:t>Diffie-Hellman</a:t>
            </a:r>
            <a:r>
              <a:rPr lang="zh-CN" altLang="en-US" dirty="0"/>
              <a:t>，</a:t>
            </a:r>
            <a:r>
              <a:rPr lang="en-US" altLang="zh-CN" dirty="0"/>
              <a:t>ElGamal</a:t>
            </a:r>
            <a:r>
              <a:rPr lang="zh-CN" altLang="en-US" dirty="0"/>
              <a:t>，</a:t>
            </a:r>
            <a:r>
              <a:rPr lang="en-US" altLang="zh-CN" dirty="0" err="1"/>
              <a:t>Schnorr</a:t>
            </a:r>
            <a:r>
              <a:rPr lang="zh-CN" altLang="en-US" dirty="0"/>
              <a:t>，</a:t>
            </a:r>
            <a:r>
              <a:rPr lang="en-US" altLang="zh-CN" dirty="0"/>
              <a:t>DSA</a:t>
            </a:r>
            <a:r>
              <a:rPr lang="zh-CN" altLang="en-US" dirty="0"/>
              <a:t>等。</a:t>
            </a:r>
          </a:p>
          <a:p>
            <a:pPr lvl="1">
              <a:lnSpc>
                <a:spcPct val="130000"/>
              </a:lnSpc>
              <a:spcAft>
                <a:spcPts val="600"/>
              </a:spcAft>
            </a:pPr>
            <a:r>
              <a:rPr lang="en-US" altLang="zh-CN" dirty="0"/>
              <a:t>10</a:t>
            </a:r>
            <a:r>
              <a:rPr lang="zh-CN" altLang="en-US" dirty="0"/>
              <a:t>余年的研究，尚未发现明显的弱点。</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66</a:t>
            </a:fld>
            <a:endParaRPr kumimoji="1" lang="zh-CN" altLang="en-US" dirty="0"/>
          </a:p>
        </p:txBody>
      </p:sp>
    </p:spTree>
    <p:extLst>
      <p:ext uri="{BB962C8B-B14F-4D97-AF65-F5344CB8AC3E}">
        <p14:creationId xmlns:p14="http://schemas.microsoft.com/office/powerpoint/2010/main" val="34685986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r>
              <a:rPr lang="zh-CN" altLang="en-US" dirty="0"/>
              <a:t>（数学）</a:t>
            </a:r>
          </a:p>
        </p:txBody>
      </p:sp>
      <p:sp>
        <p:nvSpPr>
          <p:cNvPr id="3" name="内容占位符 2"/>
          <p:cNvSpPr>
            <a:spLocks noGrp="1"/>
          </p:cNvSpPr>
          <p:nvPr>
            <p:ph idx="1"/>
          </p:nvPr>
        </p:nvSpPr>
        <p:spPr>
          <a:xfrm>
            <a:off x="700644" y="1510758"/>
            <a:ext cx="10759044" cy="4586694"/>
          </a:xfrm>
        </p:spPr>
        <p:txBody>
          <a:bodyPr>
            <a:normAutofit/>
          </a:bodyPr>
          <a:lstStyle/>
          <a:p>
            <a:r>
              <a:rPr lang="zh-CN" altLang="en-US" dirty="0"/>
              <a:t>椭圆曲线密码数学知识</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67</a:t>
            </a:fld>
            <a:endParaRPr kumimoji="1" lang="zh-CN" altLang="en-US" dirty="0"/>
          </a:p>
        </p:txBody>
      </p:sp>
      <p:pic>
        <p:nvPicPr>
          <p:cNvPr id="5" name="Picture 5" descr="f618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722" y="2036618"/>
            <a:ext cx="5500914"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descr="f618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3714" y="2036618"/>
            <a:ext cx="5763986"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51108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r>
              <a:rPr lang="zh-CN" altLang="en-US" dirty="0"/>
              <a:t>（数学）</a:t>
            </a:r>
          </a:p>
        </p:txBody>
      </p:sp>
      <p:sp>
        <p:nvSpPr>
          <p:cNvPr id="3" name="内容占位符 2"/>
          <p:cNvSpPr>
            <a:spLocks noGrp="1"/>
          </p:cNvSpPr>
          <p:nvPr>
            <p:ph idx="1"/>
          </p:nvPr>
        </p:nvSpPr>
        <p:spPr>
          <a:xfrm>
            <a:off x="700644" y="1353787"/>
            <a:ext cx="10759044" cy="5139087"/>
          </a:xfrm>
        </p:spPr>
        <p:txBody>
          <a:bodyPr>
            <a:normAutofit/>
          </a:bodyPr>
          <a:lstStyle/>
          <a:p>
            <a:r>
              <a:rPr lang="zh-CN" altLang="en-US" dirty="0"/>
              <a:t>椭圆曲线的简化形式：</a:t>
            </a:r>
            <a:endParaRPr lang="en-US" altLang="zh-CN" dirty="0"/>
          </a:p>
          <a:p>
            <a:endParaRPr lang="en-US" altLang="zh-CN" dirty="0"/>
          </a:p>
          <a:p>
            <a:endParaRPr lang="en-US" altLang="zh-CN" dirty="0"/>
          </a:p>
          <a:p>
            <a:endParaRPr lang="en-US" altLang="zh-CN" dirty="0"/>
          </a:p>
          <a:p>
            <a:r>
              <a:rPr lang="zh-CN" altLang="en-US" dirty="0"/>
              <a:t>有限域 </a:t>
            </a:r>
            <a:r>
              <a:rPr lang="en-US" altLang="zh-CN" dirty="0"/>
              <a:t>GF(p)</a:t>
            </a:r>
            <a:r>
              <a:rPr lang="zh-CN" altLang="en-US" dirty="0"/>
              <a:t>上的椭圆曲线</a:t>
            </a:r>
            <a:endParaRPr lang="en-US" altLang="zh-CN" dirty="0"/>
          </a:p>
          <a:p>
            <a:pPr lvl="1"/>
            <a:r>
              <a:rPr lang="zh-CN" altLang="en-US" dirty="0">
                <a:solidFill>
                  <a:srgbClr val="FF0000"/>
                </a:solidFill>
              </a:rPr>
              <a:t>设</a:t>
            </a:r>
            <a:r>
              <a:rPr lang="en-US" altLang="zh-CN" dirty="0">
                <a:solidFill>
                  <a:srgbClr val="FF0000"/>
                </a:solidFill>
              </a:rPr>
              <a:t>p</a:t>
            </a:r>
            <a:r>
              <a:rPr lang="zh-CN" altLang="en-US" dirty="0">
                <a:solidFill>
                  <a:srgbClr val="FF0000"/>
                </a:solidFill>
              </a:rPr>
              <a:t>是素数，且</a:t>
            </a:r>
            <a:r>
              <a:rPr lang="en-US" altLang="zh-CN" dirty="0">
                <a:solidFill>
                  <a:srgbClr val="FF0000"/>
                </a:solidFill>
              </a:rPr>
              <a:t>p&gt;3</a:t>
            </a:r>
            <a:r>
              <a:rPr lang="zh-CN" altLang="en-US" dirty="0"/>
              <a:t>，在有限域 上的椭圆曲线由满足：</a:t>
            </a:r>
            <a:endParaRPr lang="en-US" altLang="zh-CN" dirty="0"/>
          </a:p>
          <a:p>
            <a:pPr lvl="1"/>
            <a:endParaRPr lang="en-US" altLang="zh-CN" dirty="0"/>
          </a:p>
          <a:p>
            <a:pPr lvl="1"/>
            <a:endParaRPr lang="en-US" altLang="zh-CN" dirty="0"/>
          </a:p>
          <a:p>
            <a:pPr lvl="1"/>
            <a:r>
              <a:rPr lang="zh-CN" altLang="en-US" dirty="0"/>
              <a:t>的点</a:t>
            </a:r>
            <a:r>
              <a:rPr lang="en-US" altLang="zh-CN" dirty="0"/>
              <a:t>(</a:t>
            </a:r>
            <a:r>
              <a:rPr lang="en-US" altLang="zh-CN" dirty="0" err="1"/>
              <a:t>x,y</a:t>
            </a:r>
            <a:r>
              <a:rPr lang="en-US" altLang="zh-CN" dirty="0"/>
              <a:t>)</a:t>
            </a:r>
            <a:r>
              <a:rPr lang="zh-CN" altLang="en-US" dirty="0"/>
              <a:t>和一个特殊的无穷远点</a:t>
            </a:r>
            <a:r>
              <a:rPr lang="en-US" altLang="zh-CN" dirty="0"/>
              <a:t>O</a:t>
            </a:r>
            <a:r>
              <a:rPr lang="zh-CN" altLang="en-US" dirty="0"/>
              <a:t>构成，记作</a:t>
            </a:r>
            <a:r>
              <a:rPr lang="en-US" altLang="zh-CN" dirty="0"/>
              <a:t>Ep</a:t>
            </a:r>
            <a:r>
              <a:rPr lang="zh-CN" altLang="en-US" dirty="0"/>
              <a:t>（</a:t>
            </a:r>
            <a:r>
              <a:rPr lang="en-US" altLang="zh-CN" dirty="0" err="1"/>
              <a:t>a,b</a:t>
            </a:r>
            <a:r>
              <a:rPr lang="zh-CN" altLang="en-US" dirty="0"/>
              <a:t>）</a:t>
            </a:r>
          </a:p>
          <a:p>
            <a:pPr lvl="1"/>
            <a:endParaRPr lang="zh-CN" altLang="en-US" dirty="0"/>
          </a:p>
          <a:p>
            <a:endParaRPr lang="zh-CN" altLang="en-US" dirty="0"/>
          </a:p>
          <a:p>
            <a:endParaRPr lang="zh-CN" altLang="en-US"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68</a:t>
            </a:fld>
            <a:endParaRPr kumimoji="1" lang="zh-CN" altLang="en-US" dirty="0"/>
          </a:p>
        </p:txBody>
      </p:sp>
      <mc:AlternateContent xmlns:mc="http://schemas.openxmlformats.org/markup-compatibility/2006" xmlns:a14="http://schemas.microsoft.com/office/drawing/2010/main">
        <mc:Choice Requires="a14">
          <p:sp>
            <p:nvSpPr>
              <p:cNvPr id="5" name="Object 12"/>
              <p:cNvSpPr txBox="1"/>
              <p:nvPr/>
            </p:nvSpPr>
            <p:spPr bwMode="auto">
              <a:xfrm>
                <a:off x="3423807" y="2030251"/>
                <a:ext cx="5110547" cy="532348"/>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𝑦</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𝑥𝑦</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1">
                              <a:solidFill>
                                <a:srgbClr val="000000"/>
                              </a:solidFill>
                              <a:latin typeface="Cambria Math" panose="02040503050406030204" pitchFamily="18" charset="0"/>
                            </a:rPr>
                            <m:t>3</m:t>
                          </m:r>
                        </m:sub>
                      </m:sSub>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3</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1">
                              <a:solidFill>
                                <a:srgbClr val="000000"/>
                              </a:solidFill>
                              <a:latin typeface="Cambria Math" panose="02040503050406030204" pitchFamily="18" charset="0"/>
                            </a:rPr>
                            <m:t>2</m:t>
                          </m:r>
                        </m:sub>
                      </m:sSub>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1">
                              <a:solidFill>
                                <a:srgbClr val="000000"/>
                              </a:solidFill>
                              <a:latin typeface="Cambria Math" panose="02040503050406030204" pitchFamily="18" charset="0"/>
                            </a:rPr>
                            <m:t>4</m:t>
                          </m:r>
                        </m:sub>
                      </m:sSub>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1">
                              <a:solidFill>
                                <a:srgbClr val="000000"/>
                              </a:solidFill>
                              <a:latin typeface="Cambria Math" panose="02040503050406030204" pitchFamily="18" charset="0"/>
                            </a:rPr>
                            <m:t>6</m:t>
                          </m:r>
                        </m:sub>
                      </m:sSub>
                    </m:oMath>
                  </m:oMathPara>
                </a14:m>
                <a:endParaRPr lang="zh-CN" altLang="en-US" sz="2400" dirty="0"/>
              </a:p>
            </p:txBody>
          </p:sp>
        </mc:Choice>
        <mc:Fallback xmlns="">
          <p:sp>
            <p:nvSpPr>
              <p:cNvPr id="5" name="Object 12"/>
              <p:cNvSpPr txBox="1">
                <a:spLocks noRot="1" noChangeAspect="1" noMove="1" noResize="1" noEditPoints="1" noAdjustHandles="1" noChangeArrowheads="1" noChangeShapeType="1" noTextEdit="1"/>
              </p:cNvSpPr>
              <p:nvPr/>
            </p:nvSpPr>
            <p:spPr bwMode="auto">
              <a:xfrm>
                <a:off x="3423807" y="2030251"/>
                <a:ext cx="5110547" cy="53234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14"/>
              <p:cNvSpPr txBox="1"/>
              <p:nvPr/>
            </p:nvSpPr>
            <p:spPr bwMode="auto">
              <a:xfrm>
                <a:off x="4484666" y="2562599"/>
                <a:ext cx="2300326" cy="550265"/>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𝑦</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3</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𝑎𝑥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𝑏</m:t>
                      </m:r>
                    </m:oMath>
                  </m:oMathPara>
                </a14:m>
                <a:endParaRPr lang="zh-CN" altLang="en-US" sz="2400" dirty="0"/>
              </a:p>
            </p:txBody>
          </p:sp>
        </mc:Choice>
        <mc:Fallback xmlns="">
          <p:sp>
            <p:nvSpPr>
              <p:cNvPr id="6" name="Object 14"/>
              <p:cNvSpPr txBox="1">
                <a:spLocks noRot="1" noChangeAspect="1" noMove="1" noResize="1" noEditPoints="1" noAdjustHandles="1" noChangeArrowheads="1" noChangeShapeType="1" noTextEdit="1"/>
              </p:cNvSpPr>
              <p:nvPr/>
            </p:nvSpPr>
            <p:spPr bwMode="auto">
              <a:xfrm>
                <a:off x="4484666" y="2562599"/>
                <a:ext cx="2300326" cy="550265"/>
              </a:xfrm>
              <a:prstGeom prst="rect">
                <a:avLst/>
              </a:prstGeom>
              <a:blipFill>
                <a:blip r:embed="rId3"/>
                <a:stretch>
                  <a:fillRect l="-5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7"/>
              <p:cNvSpPr txBox="1"/>
              <p:nvPr/>
            </p:nvSpPr>
            <p:spPr bwMode="auto">
              <a:xfrm>
                <a:off x="4509283" y="4433722"/>
                <a:ext cx="4025071" cy="63704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𝑦</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3</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𝑎𝑥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mod</m:t>
                          </m:r>
                        </m:fName>
                        <m:e>
                          <m:r>
                            <a:rPr lang="zh-CN" altLang="en-US" sz="2400" i="1">
                              <a:solidFill>
                                <a:srgbClr val="000000"/>
                              </a:solidFill>
                              <a:latin typeface="Cambria Math" panose="02040503050406030204" pitchFamily="18" charset="0"/>
                            </a:rPr>
                            <m:t>𝑝</m:t>
                          </m:r>
                        </m:e>
                      </m:func>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7" name="Object 7"/>
              <p:cNvSpPr txBox="1">
                <a:spLocks noRot="1" noChangeAspect="1" noMove="1" noResize="1" noEditPoints="1" noAdjustHandles="1" noChangeArrowheads="1" noChangeShapeType="1" noTextEdit="1"/>
              </p:cNvSpPr>
              <p:nvPr/>
            </p:nvSpPr>
            <p:spPr bwMode="auto">
              <a:xfrm>
                <a:off x="4509283" y="4433722"/>
                <a:ext cx="4025071" cy="637042"/>
              </a:xfrm>
              <a:prstGeom prst="rect">
                <a:avLst/>
              </a:prstGeom>
              <a:blipFill>
                <a:blip r:embed="rId4"/>
                <a:stretch>
                  <a:fillRect l="-4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663176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r>
              <a:rPr lang="zh-CN" altLang="en-US" dirty="0"/>
              <a:t>（数学）</a:t>
            </a:r>
          </a:p>
        </p:txBody>
      </p:sp>
      <p:sp>
        <p:nvSpPr>
          <p:cNvPr id="3" name="内容占位符 2"/>
          <p:cNvSpPr>
            <a:spLocks noGrp="1"/>
          </p:cNvSpPr>
          <p:nvPr>
            <p:ph idx="1"/>
          </p:nvPr>
        </p:nvSpPr>
        <p:spPr>
          <a:xfrm>
            <a:off x="700644" y="1353787"/>
            <a:ext cx="10759044" cy="5139087"/>
          </a:xfrm>
        </p:spPr>
        <p:txBody>
          <a:bodyPr>
            <a:normAutofit/>
          </a:bodyPr>
          <a:lstStyle/>
          <a:p>
            <a:r>
              <a:rPr lang="zh-CN" altLang="en-US" dirty="0"/>
              <a:t>散点例：</a:t>
            </a:r>
          </a:p>
          <a:p>
            <a:endParaRPr lang="zh-CN" altLang="en-US"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69</a:t>
            </a:fld>
            <a:endParaRPr kumimoji="1"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2769238181"/>
              </p:ext>
            </p:extLst>
          </p:nvPr>
        </p:nvGraphicFramePr>
        <p:xfrm>
          <a:off x="7849960" y="1447257"/>
          <a:ext cx="3068638" cy="5021647"/>
        </p:xfrm>
        <a:graphic>
          <a:graphicData uri="http://schemas.openxmlformats.org/drawingml/2006/table">
            <a:tbl>
              <a:tblPr/>
              <a:tblGrid>
                <a:gridCol w="422275">
                  <a:extLst>
                    <a:ext uri="{9D8B030D-6E8A-4147-A177-3AD203B41FA5}">
                      <a16:colId xmlns:a16="http://schemas.microsoft.com/office/drawing/2014/main" val="20000"/>
                    </a:ext>
                  </a:extLst>
                </a:gridCol>
                <a:gridCol w="423863">
                  <a:extLst>
                    <a:ext uri="{9D8B030D-6E8A-4147-A177-3AD203B41FA5}">
                      <a16:colId xmlns:a16="http://schemas.microsoft.com/office/drawing/2014/main" val="20001"/>
                    </a:ext>
                  </a:extLst>
                </a:gridCol>
                <a:gridCol w="1508125">
                  <a:extLst>
                    <a:ext uri="{9D8B030D-6E8A-4147-A177-3AD203B41FA5}">
                      <a16:colId xmlns:a16="http://schemas.microsoft.com/office/drawing/2014/main" val="20002"/>
                    </a:ext>
                  </a:extLst>
                </a:gridCol>
                <a:gridCol w="714375">
                  <a:extLst>
                    <a:ext uri="{9D8B030D-6E8A-4147-A177-3AD203B41FA5}">
                      <a16:colId xmlns:a16="http://schemas.microsoft.com/office/drawing/2014/main" val="20003"/>
                    </a:ext>
                  </a:extLst>
                </a:gridCol>
              </a:tblGrid>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z</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是否是平方剩余</a:t>
                      </a:r>
                    </a:p>
                  </a:txBody>
                  <a:tcPr marL="9525" marR="9525" marT="9526"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y</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否</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559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559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否</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是</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17,2</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是</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7,12</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是</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17,2</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559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否</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559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否</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是</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rPr>
                        <a:t>4,15</a:t>
                      </a: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559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否</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是</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rPr>
                        <a:t>11,8</a:t>
                      </a: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是</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rPr>
                        <a:t>17,2</a:t>
                      </a: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6559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否</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6559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否</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是</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rPr>
                        <a:t>4,15</a:t>
                      </a: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是</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rPr>
                        <a:t>16,3</a:t>
                      </a:r>
                      <a:endParaRPr kumimoji="1" lang="zh-CN" altLang="zh-CN" sz="14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是</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4,15</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是</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9,10</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r h="192430">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18</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1"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zh-CN" altLang="en-US"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是</a:t>
                      </a: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1,18</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9"/>
                  </a:ext>
                </a:extLst>
              </a:tr>
            </a:tbl>
          </a:graphicData>
        </a:graphic>
      </p:graphicFrame>
      <p:sp>
        <p:nvSpPr>
          <p:cNvPr id="9" name="矩形 3"/>
          <p:cNvSpPr>
            <a:spLocks noChangeArrowheads="1"/>
          </p:cNvSpPr>
          <p:nvPr/>
        </p:nvSpPr>
        <p:spPr bwMode="auto">
          <a:xfrm>
            <a:off x="852364" y="2358201"/>
            <a:ext cx="6341794"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r>
              <a:rPr lang="en-US" altLang="zh-CN" sz="2000" b="0" dirty="0">
                <a:solidFill>
                  <a:schemeClr val="tx1"/>
                </a:solidFill>
              </a:rPr>
              <a:t>{1,0}</a:t>
            </a:r>
            <a:r>
              <a:rPr lang="zh-CN" altLang="en-US" sz="2000" b="0" dirty="0">
                <a:solidFill>
                  <a:schemeClr val="tx1"/>
                </a:solidFill>
              </a:rPr>
              <a:t>，</a:t>
            </a:r>
            <a:r>
              <a:rPr lang="en-US" altLang="zh-CN" sz="2000" b="0" dirty="0">
                <a:solidFill>
                  <a:schemeClr val="tx1"/>
                </a:solidFill>
              </a:rPr>
              <a:t>{3,2}</a:t>
            </a:r>
            <a:r>
              <a:rPr lang="zh-CN" altLang="en-US" sz="2000" b="0" dirty="0">
                <a:solidFill>
                  <a:schemeClr val="tx1"/>
                </a:solidFill>
              </a:rPr>
              <a:t>，</a:t>
            </a:r>
            <a:r>
              <a:rPr lang="en-US" altLang="zh-CN" sz="2000" b="0" dirty="0">
                <a:solidFill>
                  <a:schemeClr val="tx1"/>
                </a:solidFill>
              </a:rPr>
              <a:t>{3,17}</a:t>
            </a:r>
            <a:r>
              <a:rPr lang="zh-CN" altLang="en-US" sz="2000" b="0" dirty="0">
                <a:solidFill>
                  <a:schemeClr val="tx1"/>
                </a:solidFill>
              </a:rPr>
              <a:t>，</a:t>
            </a:r>
            <a:r>
              <a:rPr lang="en-US" altLang="zh-CN" sz="2000" b="0" dirty="0">
                <a:solidFill>
                  <a:schemeClr val="tx1"/>
                </a:solidFill>
              </a:rPr>
              <a:t>{4,7}</a:t>
            </a:r>
            <a:r>
              <a:rPr lang="zh-CN" altLang="en-US" sz="2000" b="0" dirty="0">
                <a:solidFill>
                  <a:schemeClr val="tx1"/>
                </a:solidFill>
              </a:rPr>
              <a:t>，</a:t>
            </a:r>
            <a:r>
              <a:rPr lang="en-US" altLang="zh-CN" sz="2000" b="0" dirty="0">
                <a:solidFill>
                  <a:schemeClr val="tx1"/>
                </a:solidFill>
              </a:rPr>
              <a:t>{4,12}</a:t>
            </a:r>
          </a:p>
          <a:p>
            <a:pPr algn="l" eaLnBrk="1" hangingPunct="1"/>
            <a:r>
              <a:rPr lang="en-US" altLang="zh-CN" sz="2000" b="0" dirty="0">
                <a:solidFill>
                  <a:schemeClr val="tx1"/>
                </a:solidFill>
              </a:rPr>
              <a:t>{5,2}</a:t>
            </a:r>
            <a:r>
              <a:rPr lang="zh-CN" altLang="en-US" sz="2000" b="0" dirty="0">
                <a:solidFill>
                  <a:schemeClr val="tx1"/>
                </a:solidFill>
              </a:rPr>
              <a:t>，</a:t>
            </a:r>
            <a:r>
              <a:rPr lang="en-US" altLang="zh-CN" sz="2000" b="0" dirty="0">
                <a:solidFill>
                  <a:schemeClr val="tx1"/>
                </a:solidFill>
              </a:rPr>
              <a:t>{5,17}</a:t>
            </a:r>
            <a:r>
              <a:rPr lang="zh-CN" altLang="en-US" sz="2000" b="0" dirty="0">
                <a:solidFill>
                  <a:schemeClr val="tx1"/>
                </a:solidFill>
              </a:rPr>
              <a:t>，</a:t>
            </a:r>
            <a:r>
              <a:rPr lang="en-US" altLang="zh-CN" sz="2000" b="0" dirty="0">
                <a:solidFill>
                  <a:schemeClr val="tx1"/>
                </a:solidFill>
              </a:rPr>
              <a:t>{8,4}</a:t>
            </a:r>
            <a:r>
              <a:rPr lang="zh-CN" altLang="en-US" sz="2000" b="0" dirty="0">
                <a:solidFill>
                  <a:schemeClr val="tx1"/>
                </a:solidFill>
              </a:rPr>
              <a:t>，</a:t>
            </a:r>
            <a:r>
              <a:rPr lang="en-US" altLang="zh-CN" sz="2000" b="0" dirty="0">
                <a:solidFill>
                  <a:schemeClr val="tx1"/>
                </a:solidFill>
              </a:rPr>
              <a:t>{8,15}</a:t>
            </a:r>
            <a:r>
              <a:rPr lang="zh-CN" altLang="en-US" sz="2000" b="0" dirty="0">
                <a:solidFill>
                  <a:schemeClr val="tx1"/>
                </a:solidFill>
              </a:rPr>
              <a:t>，</a:t>
            </a:r>
            <a:r>
              <a:rPr lang="en-US" altLang="zh-CN" sz="2000" b="0" dirty="0">
                <a:solidFill>
                  <a:schemeClr val="tx1"/>
                </a:solidFill>
              </a:rPr>
              <a:t>{10,8}</a:t>
            </a:r>
          </a:p>
          <a:p>
            <a:pPr algn="l" eaLnBrk="1" hangingPunct="1"/>
            <a:r>
              <a:rPr lang="en-US" altLang="zh-CN" sz="2000" b="0" dirty="0">
                <a:solidFill>
                  <a:schemeClr val="tx1"/>
                </a:solidFill>
              </a:rPr>
              <a:t>{10,11}</a:t>
            </a:r>
            <a:r>
              <a:rPr lang="zh-CN" altLang="en-US" sz="2000" b="0" dirty="0">
                <a:solidFill>
                  <a:schemeClr val="tx1"/>
                </a:solidFill>
              </a:rPr>
              <a:t>，</a:t>
            </a:r>
            <a:r>
              <a:rPr lang="en-US" altLang="zh-CN" sz="2000" b="0" dirty="0">
                <a:solidFill>
                  <a:schemeClr val="tx1"/>
                </a:solidFill>
              </a:rPr>
              <a:t>{11,2}</a:t>
            </a:r>
            <a:r>
              <a:rPr lang="zh-CN" altLang="en-US" sz="2000" b="0" dirty="0">
                <a:solidFill>
                  <a:schemeClr val="tx1"/>
                </a:solidFill>
              </a:rPr>
              <a:t>，</a:t>
            </a:r>
            <a:r>
              <a:rPr lang="en-US" altLang="zh-CN" sz="2000" b="0" dirty="0">
                <a:solidFill>
                  <a:schemeClr val="tx1"/>
                </a:solidFill>
              </a:rPr>
              <a:t>{11,17}</a:t>
            </a:r>
            <a:r>
              <a:rPr lang="zh-CN" altLang="en-US" sz="2000" b="0" dirty="0">
                <a:solidFill>
                  <a:schemeClr val="tx1"/>
                </a:solidFill>
              </a:rPr>
              <a:t>，</a:t>
            </a:r>
            <a:r>
              <a:rPr lang="en-US" altLang="zh-CN" sz="2000" b="0" dirty="0">
                <a:solidFill>
                  <a:schemeClr val="tx1"/>
                </a:solidFill>
              </a:rPr>
              <a:t>{14,4}</a:t>
            </a:r>
            <a:r>
              <a:rPr lang="zh-CN" altLang="en-US" sz="2000" b="0" dirty="0">
                <a:solidFill>
                  <a:schemeClr val="tx1"/>
                </a:solidFill>
              </a:rPr>
              <a:t>，</a:t>
            </a:r>
            <a:r>
              <a:rPr lang="en-US" altLang="zh-CN" sz="2000" b="0" dirty="0">
                <a:solidFill>
                  <a:schemeClr val="tx1"/>
                </a:solidFill>
              </a:rPr>
              <a:t>{14,15}</a:t>
            </a:r>
          </a:p>
          <a:p>
            <a:pPr algn="l" eaLnBrk="1" hangingPunct="1"/>
            <a:r>
              <a:rPr lang="en-US" altLang="zh-CN" sz="2000" b="0" dirty="0">
                <a:solidFill>
                  <a:schemeClr val="tx1"/>
                </a:solidFill>
              </a:rPr>
              <a:t>{15,3}</a:t>
            </a:r>
            <a:r>
              <a:rPr lang="zh-CN" altLang="en-US" sz="2000" b="0" dirty="0">
                <a:solidFill>
                  <a:schemeClr val="tx1"/>
                </a:solidFill>
              </a:rPr>
              <a:t>，</a:t>
            </a:r>
            <a:r>
              <a:rPr lang="en-US" altLang="zh-CN" sz="2000" b="0" dirty="0">
                <a:solidFill>
                  <a:schemeClr val="tx1"/>
                </a:solidFill>
              </a:rPr>
              <a:t>{15,16}</a:t>
            </a:r>
            <a:r>
              <a:rPr lang="zh-CN" altLang="en-US" sz="2000" b="0" dirty="0">
                <a:solidFill>
                  <a:schemeClr val="tx1"/>
                </a:solidFill>
              </a:rPr>
              <a:t>，</a:t>
            </a:r>
            <a:r>
              <a:rPr lang="en-US" altLang="zh-CN" sz="2000" b="0" dirty="0">
                <a:solidFill>
                  <a:schemeClr val="tx1"/>
                </a:solidFill>
              </a:rPr>
              <a:t>{16,4}</a:t>
            </a:r>
            <a:r>
              <a:rPr lang="zh-CN" altLang="en-US" sz="2000" b="0" dirty="0">
                <a:solidFill>
                  <a:schemeClr val="tx1"/>
                </a:solidFill>
              </a:rPr>
              <a:t>，</a:t>
            </a:r>
            <a:r>
              <a:rPr lang="en-US" altLang="zh-CN" sz="2000" b="0" dirty="0">
                <a:solidFill>
                  <a:schemeClr val="tx1"/>
                </a:solidFill>
              </a:rPr>
              <a:t>{16,15}</a:t>
            </a:r>
            <a:r>
              <a:rPr lang="zh-CN" altLang="en-US" sz="2000" b="0" dirty="0">
                <a:solidFill>
                  <a:schemeClr val="tx1"/>
                </a:solidFill>
              </a:rPr>
              <a:t>，</a:t>
            </a:r>
            <a:r>
              <a:rPr lang="en-US" altLang="zh-CN" sz="2000" b="0" dirty="0">
                <a:solidFill>
                  <a:schemeClr val="tx1"/>
                </a:solidFill>
              </a:rPr>
              <a:t>{17,9}</a:t>
            </a:r>
          </a:p>
          <a:p>
            <a:pPr algn="l" eaLnBrk="1" hangingPunct="1"/>
            <a:r>
              <a:rPr lang="en-US" altLang="zh-CN" sz="2000" b="0" dirty="0">
                <a:solidFill>
                  <a:schemeClr val="tx1"/>
                </a:solidFill>
              </a:rPr>
              <a:t>{17,10}</a:t>
            </a:r>
            <a:r>
              <a:rPr lang="zh-CN" altLang="en-US" sz="2000" b="0" dirty="0">
                <a:solidFill>
                  <a:schemeClr val="tx1"/>
                </a:solidFill>
              </a:rPr>
              <a:t>，</a:t>
            </a:r>
            <a:r>
              <a:rPr lang="en-US" altLang="zh-CN" sz="2000" b="0" dirty="0">
                <a:solidFill>
                  <a:schemeClr val="tx1"/>
                </a:solidFill>
              </a:rPr>
              <a:t>{18,1}</a:t>
            </a:r>
            <a:r>
              <a:rPr lang="zh-CN" altLang="en-US" sz="2000" b="0" dirty="0">
                <a:solidFill>
                  <a:schemeClr val="tx1"/>
                </a:solidFill>
              </a:rPr>
              <a:t>， </a:t>
            </a:r>
            <a:r>
              <a:rPr lang="en-US" altLang="zh-CN" sz="2000" b="0" dirty="0">
                <a:solidFill>
                  <a:schemeClr val="tx1"/>
                </a:solidFill>
              </a:rPr>
              <a:t>{18,18}</a:t>
            </a:r>
          </a:p>
        </p:txBody>
      </p:sp>
      <mc:AlternateContent xmlns:mc="http://schemas.openxmlformats.org/markup-compatibility/2006" xmlns:a14="http://schemas.microsoft.com/office/drawing/2010/main">
        <mc:Choice Requires="a14">
          <p:sp>
            <p:nvSpPr>
              <p:cNvPr id="10" name="Object 112"/>
              <p:cNvSpPr txBox="1"/>
              <p:nvPr/>
            </p:nvSpPr>
            <p:spPr bwMode="auto">
              <a:xfrm>
                <a:off x="2252105" y="1706387"/>
                <a:ext cx="4286250" cy="388938"/>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𝑦</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3</m:t>
                          </m:r>
                        </m:sup>
                      </m:sSup>
                      <m:r>
                        <a:rPr lang="zh-CN" altLang="en-US" sz="2400" i="1">
                          <a:solidFill>
                            <a:srgbClr val="000000"/>
                          </a:solidFill>
                          <a:latin typeface="Cambria Math" panose="02040503050406030204" pitchFamily="18" charset="0"/>
                        </a:rPr>
                        <m:t>+8</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+10(</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mod</m:t>
                          </m:r>
                        </m:fName>
                        <m:e>
                          <m:r>
                            <a:rPr lang="zh-CN" altLang="en-US" sz="2400" i="1">
                              <a:solidFill>
                                <a:srgbClr val="000000"/>
                              </a:solidFill>
                              <a:latin typeface="Cambria Math" panose="02040503050406030204" pitchFamily="18" charset="0"/>
                            </a:rPr>
                            <m:t>1</m:t>
                          </m:r>
                        </m:e>
                      </m:func>
                      <m:r>
                        <a:rPr lang="zh-CN" altLang="en-US" sz="2400" i="1">
                          <a:solidFill>
                            <a:srgbClr val="000000"/>
                          </a:solidFill>
                          <a:latin typeface="Cambria Math" panose="02040503050406030204" pitchFamily="18" charset="0"/>
                        </a:rPr>
                        <m:t>9)</m:t>
                      </m:r>
                    </m:oMath>
                  </m:oMathPara>
                </a14:m>
                <a:endParaRPr lang="zh-CN" altLang="en-US" sz="2400" dirty="0"/>
              </a:p>
            </p:txBody>
          </p:sp>
        </mc:Choice>
        <mc:Fallback xmlns="">
          <p:sp>
            <p:nvSpPr>
              <p:cNvPr id="10" name="Object 112"/>
              <p:cNvSpPr txBox="1">
                <a:spLocks noRot="1" noChangeAspect="1" noMove="1" noResize="1" noEditPoints="1" noAdjustHandles="1" noChangeArrowheads="1" noChangeShapeType="1" noTextEdit="1"/>
              </p:cNvSpPr>
              <p:nvPr/>
            </p:nvSpPr>
            <p:spPr bwMode="auto">
              <a:xfrm>
                <a:off x="2252105" y="1706387"/>
                <a:ext cx="4286250" cy="388938"/>
              </a:xfrm>
              <a:prstGeom prst="rect">
                <a:avLst/>
              </a:prstGeom>
              <a:blipFill>
                <a:blip r:embed="rId2"/>
                <a:stretch>
                  <a:fillRect l="-426" b="-39063"/>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68C8D0F4-CEBE-167E-3593-F5118795AB56}"/>
              </a:ext>
            </a:extLst>
          </p:cNvPr>
          <p:cNvSpPr txBox="1"/>
          <p:nvPr/>
        </p:nvSpPr>
        <p:spPr>
          <a:xfrm>
            <a:off x="6290962" y="1725993"/>
            <a:ext cx="1158586" cy="369332"/>
          </a:xfrm>
          <a:prstGeom prst="rect">
            <a:avLst/>
          </a:prstGeom>
          <a:noFill/>
        </p:spPr>
        <p:txBody>
          <a:bodyPr wrap="square">
            <a:spAutoFit/>
          </a:bodyPr>
          <a:lstStyle/>
          <a:p>
            <a:r>
              <a:rPr kumimoji="0" lang="en-US" altLang="zh-CN" sz="1800" b="0" i="0" u="none" strike="noStrike" kern="1200" cap="none" spc="0" normalizeH="0" baseline="0" noProof="0" dirty="0">
                <a:ln>
                  <a:noFill/>
                </a:ln>
                <a:solidFill>
                  <a:srgbClr val="FF0000"/>
                </a:solidFill>
                <a:effectLst/>
                <a:uLnTx/>
                <a:uFillTx/>
                <a:latin typeface="等线"/>
                <a:ea typeface="等线" panose="02010600030101010101" pitchFamily="2" charset="-122"/>
                <a:cs typeface="+mn-cs"/>
              </a:rPr>
              <a:t>E</a:t>
            </a:r>
            <a:r>
              <a:rPr kumimoji="0" lang="en-US" altLang="zh-CN" sz="1800" b="0" i="0" u="none" strike="noStrike" kern="1200" cap="none" spc="0" normalizeH="0" baseline="-25000" noProof="0" dirty="0">
                <a:ln>
                  <a:noFill/>
                </a:ln>
                <a:solidFill>
                  <a:srgbClr val="FF0000"/>
                </a:solidFill>
                <a:effectLst/>
                <a:uLnTx/>
                <a:uFillTx/>
                <a:latin typeface="等线"/>
                <a:ea typeface="等线" panose="02010600030101010101" pitchFamily="2" charset="-122"/>
                <a:cs typeface="+mn-cs"/>
              </a:rPr>
              <a:t>19</a:t>
            </a:r>
            <a:r>
              <a:rPr kumimoji="0" lang="zh-CN" altLang="en-US" sz="1800" b="0" i="0" u="none" strike="noStrike" kern="1200" cap="none" spc="0" normalizeH="0" baseline="0" noProof="0" dirty="0">
                <a:ln>
                  <a:noFill/>
                </a:ln>
                <a:solidFill>
                  <a:srgbClr val="FF0000"/>
                </a:solidFill>
                <a:effectLst/>
                <a:uLnTx/>
                <a:uFillTx/>
                <a:latin typeface="等线"/>
                <a:ea typeface="等线" panose="02010600030101010101" pitchFamily="2" charset="-122"/>
                <a:cs typeface="+mn-cs"/>
              </a:rPr>
              <a:t>（</a:t>
            </a:r>
            <a:r>
              <a:rPr kumimoji="0" lang="en-US" altLang="zh-CN" sz="1800" b="0" i="0" u="none" strike="noStrike" kern="1200" cap="none" spc="0" normalizeH="0" baseline="0" noProof="0" dirty="0">
                <a:ln>
                  <a:noFill/>
                </a:ln>
                <a:solidFill>
                  <a:srgbClr val="FF0000"/>
                </a:solidFill>
                <a:effectLst/>
                <a:uLnTx/>
                <a:uFillTx/>
                <a:latin typeface="等线"/>
                <a:ea typeface="等线" panose="02010600030101010101" pitchFamily="2" charset="-122"/>
                <a:cs typeface="+mn-cs"/>
              </a:rPr>
              <a:t>8,10</a:t>
            </a:r>
            <a:r>
              <a:rPr kumimoji="0" lang="zh-CN" altLang="en-US" sz="1800" b="0" i="0" u="none" strike="noStrike" kern="1200" cap="none" spc="0" normalizeH="0" baseline="0" noProof="0" dirty="0">
                <a:ln>
                  <a:noFill/>
                </a:ln>
                <a:solidFill>
                  <a:srgbClr val="FF0000"/>
                </a:solidFill>
                <a:effectLst/>
                <a:uLnTx/>
                <a:uFillTx/>
                <a:latin typeface="等线"/>
                <a:ea typeface="等线" panose="02010600030101010101" pitchFamily="2" charset="-122"/>
                <a:cs typeface="+mn-cs"/>
              </a:rPr>
              <a:t>）</a:t>
            </a:r>
            <a:endParaRPr lang="zh-CN" altLang="en-US" dirty="0"/>
          </a:p>
        </p:txBody>
      </p:sp>
      <p:sp>
        <p:nvSpPr>
          <p:cNvPr id="13" name="文本框 12">
            <a:extLst>
              <a:ext uri="{FF2B5EF4-FFF2-40B4-BE49-F238E27FC236}">
                <a16:creationId xmlns:a16="http://schemas.microsoft.com/office/drawing/2014/main" id="{8AE59FD1-C0ED-91AB-16C3-AF1E17204FCA}"/>
              </a:ext>
            </a:extLst>
          </p:cNvPr>
          <p:cNvSpPr txBox="1"/>
          <p:nvPr/>
        </p:nvSpPr>
        <p:spPr>
          <a:xfrm>
            <a:off x="10974984" y="1910659"/>
            <a:ext cx="1435100" cy="369332"/>
          </a:xfrm>
          <a:prstGeom prst="rect">
            <a:avLst/>
          </a:prstGeom>
          <a:noFill/>
        </p:spPr>
        <p:txBody>
          <a:bodyPr wrap="square">
            <a:spAutoFit/>
          </a:bodyPr>
          <a:lstStyle/>
          <a:p>
            <a:r>
              <a:rPr lang="zh-CN" altLang="en-US" dirty="0">
                <a:solidFill>
                  <a:srgbClr val="FF0000"/>
                </a:solidFill>
              </a:rPr>
              <a:t>对账合体</a:t>
            </a:r>
          </a:p>
        </p:txBody>
      </p:sp>
      <p:graphicFrame>
        <p:nvGraphicFramePr>
          <p:cNvPr id="14" name="Object 3"/>
          <p:cNvGraphicFramePr>
            <a:graphicFrameLocks noChangeAspect="1"/>
          </p:cNvGraphicFramePr>
          <p:nvPr>
            <p:extLst>
              <p:ext uri="{D42A27DB-BD31-4B8C-83A1-F6EECF244321}">
                <p14:modId xmlns:p14="http://schemas.microsoft.com/office/powerpoint/2010/main" val="3093472794"/>
              </p:ext>
            </p:extLst>
          </p:nvPr>
        </p:nvGraphicFramePr>
        <p:xfrm>
          <a:off x="1393763" y="3885014"/>
          <a:ext cx="3244726" cy="2960460"/>
        </p:xfrm>
        <a:graphic>
          <a:graphicData uri="http://schemas.openxmlformats.org/presentationml/2006/ole">
            <mc:AlternateContent xmlns:mc="http://schemas.openxmlformats.org/markup-compatibility/2006">
              <mc:Choice xmlns:v="urn:schemas-microsoft-com:vml" Requires="v">
                <p:oleObj name="Picture" r:id="rId3" imgW="5029200" imgH="4588560" progId="Word.Picture.8">
                  <p:embed/>
                </p:oleObj>
              </mc:Choice>
              <mc:Fallback>
                <p:oleObj name="Picture" r:id="rId3" imgW="5029200" imgH="4588560" progId="Word.Picture.8">
                  <p:embed/>
                  <p:pic>
                    <p:nvPicPr>
                      <p:cNvPr id="1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3763" y="3885014"/>
                        <a:ext cx="3244726" cy="2960460"/>
                      </a:xfrm>
                      <a:prstGeom prst="rect">
                        <a:avLst/>
                      </a:prstGeom>
                      <a:noFill/>
                    </p:spPr>
                  </p:pic>
                </p:oleObj>
              </mc:Fallback>
            </mc:AlternateContent>
          </a:graphicData>
        </a:graphic>
      </p:graphicFrame>
      <p:sp>
        <p:nvSpPr>
          <p:cNvPr id="15" name="矩形 3"/>
          <p:cNvSpPr>
            <a:spLocks noChangeArrowheads="1"/>
          </p:cNvSpPr>
          <p:nvPr/>
        </p:nvSpPr>
        <p:spPr bwMode="auto">
          <a:xfrm>
            <a:off x="4802329" y="5167701"/>
            <a:ext cx="144189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r>
              <a:rPr lang="zh-CN" altLang="en-US" b="0" dirty="0">
                <a:solidFill>
                  <a:schemeClr val="tx1"/>
                </a:solidFill>
              </a:rPr>
              <a:t>椭圆曲线</a:t>
            </a:r>
            <a:r>
              <a:rPr lang="en-US" altLang="zh-CN" b="0" dirty="0">
                <a:solidFill>
                  <a:srgbClr val="FF0000"/>
                </a:solidFill>
              </a:rPr>
              <a:t>E</a:t>
            </a:r>
            <a:r>
              <a:rPr lang="en-US" altLang="zh-CN" b="0" baseline="-25000" dirty="0">
                <a:solidFill>
                  <a:srgbClr val="FF0000"/>
                </a:solidFill>
              </a:rPr>
              <a:t>19</a:t>
            </a:r>
            <a:r>
              <a:rPr lang="zh-CN" altLang="en-US" b="0" dirty="0">
                <a:solidFill>
                  <a:srgbClr val="FF0000"/>
                </a:solidFill>
              </a:rPr>
              <a:t>（</a:t>
            </a:r>
            <a:r>
              <a:rPr lang="en-US" altLang="zh-CN" b="0" dirty="0">
                <a:solidFill>
                  <a:srgbClr val="FF0000"/>
                </a:solidFill>
              </a:rPr>
              <a:t>8,10</a:t>
            </a:r>
            <a:r>
              <a:rPr lang="zh-CN" altLang="en-US" b="0" dirty="0">
                <a:solidFill>
                  <a:srgbClr val="FF0000"/>
                </a:solidFill>
              </a:rPr>
              <a:t>）</a:t>
            </a:r>
            <a:r>
              <a:rPr lang="zh-CN" altLang="en-US" b="0" dirty="0">
                <a:solidFill>
                  <a:schemeClr val="tx1"/>
                </a:solidFill>
              </a:rPr>
              <a:t>点的分布图</a:t>
            </a:r>
          </a:p>
        </p:txBody>
      </p:sp>
    </p:spTree>
    <p:extLst>
      <p:ext uri="{BB962C8B-B14F-4D97-AF65-F5344CB8AC3E}">
        <p14:creationId xmlns:p14="http://schemas.microsoft.com/office/powerpoint/2010/main" val="11954101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r>
              <a:rPr lang="zh-CN" altLang="en-US" dirty="0"/>
              <a:t>（数学）</a:t>
            </a:r>
          </a:p>
        </p:txBody>
      </p:sp>
      <p:sp>
        <p:nvSpPr>
          <p:cNvPr id="3" name="内容占位符 2"/>
          <p:cNvSpPr>
            <a:spLocks noGrp="1"/>
          </p:cNvSpPr>
          <p:nvPr>
            <p:ph idx="1"/>
          </p:nvPr>
        </p:nvSpPr>
        <p:spPr>
          <a:xfrm>
            <a:off x="700644" y="1353787"/>
            <a:ext cx="10759044" cy="5139087"/>
          </a:xfrm>
        </p:spPr>
        <p:txBody>
          <a:bodyPr>
            <a:normAutofit/>
          </a:bodyPr>
          <a:lstStyle/>
          <a:p>
            <a:r>
              <a:rPr lang="zh-CN" altLang="en-US" dirty="0"/>
              <a:t>加法计算公式</a:t>
            </a:r>
          </a:p>
          <a:p>
            <a:endParaRPr lang="zh-CN" altLang="en-US"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70</a:t>
            </a:fld>
            <a:endParaRPr kumimoji="1" lang="zh-CN" altLang="en-US" dirty="0"/>
          </a:p>
        </p:txBody>
      </p:sp>
      <p:grpSp>
        <p:nvGrpSpPr>
          <p:cNvPr id="32" name="Group 4"/>
          <p:cNvGrpSpPr>
            <a:grpSpLocks/>
          </p:cNvGrpSpPr>
          <p:nvPr/>
        </p:nvGrpSpPr>
        <p:grpSpPr bwMode="auto">
          <a:xfrm>
            <a:off x="4589813" y="1706890"/>
            <a:ext cx="5410200" cy="4343400"/>
            <a:chOff x="2016" y="768"/>
            <a:chExt cx="3401" cy="3061"/>
          </a:xfrm>
        </p:grpSpPr>
        <p:pic>
          <p:nvPicPr>
            <p:cNvPr id="33" name="Picture 5"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6" y="768"/>
              <a:ext cx="3401" cy="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Line 6"/>
            <p:cNvSpPr>
              <a:spLocks noChangeShapeType="1"/>
            </p:cNvSpPr>
            <p:nvPr/>
          </p:nvSpPr>
          <p:spPr bwMode="auto">
            <a:xfrm>
              <a:off x="2400" y="1296"/>
              <a:ext cx="2976" cy="1920"/>
            </a:xfrm>
            <a:prstGeom prst="line">
              <a:avLst/>
            </a:prstGeom>
            <a:noFill/>
            <a:ln w="28575">
              <a:solidFill>
                <a:srgbClr val="339933"/>
              </a:solidFill>
              <a:round/>
              <a:headEnd/>
              <a:tailEnd/>
            </a:ln>
          </p:spPr>
          <p:txBody>
            <a:bodyPr tIns="108000" bIns="108000"/>
            <a:lstStyle/>
            <a:p>
              <a:pPr>
                <a:defRPr/>
              </a:pPr>
              <a:endParaRPr lang="zh-CN" altLang="en-US">
                <a:effectLst>
                  <a:outerShdw blurRad="38100" dist="38100" dir="2700000" algn="tl">
                    <a:srgbClr val="000000">
                      <a:alpha val="43137"/>
                    </a:srgbClr>
                  </a:outerShdw>
                </a:effectLst>
              </a:endParaRPr>
            </a:p>
          </p:txBody>
        </p:sp>
        <p:sp>
          <p:nvSpPr>
            <p:cNvPr id="35" name="Oval 7"/>
            <p:cNvSpPr>
              <a:spLocks noChangeArrowheads="1"/>
            </p:cNvSpPr>
            <p:nvPr/>
          </p:nvSpPr>
          <p:spPr bwMode="auto">
            <a:xfrm>
              <a:off x="4992" y="2944"/>
              <a:ext cx="96" cy="96"/>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tIns="108000" bIns="108000"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30000"/>
                </a:spcBef>
              </a:pPr>
              <a:endParaRPr lang="de-CH" altLang="zh-CN" sz="4000" b="0">
                <a:solidFill>
                  <a:schemeClr val="tx1"/>
                </a:solidFill>
                <a:latin typeface="Tahoma" panose="020B0604030504040204" pitchFamily="34" charset="0"/>
              </a:endParaRPr>
            </a:p>
          </p:txBody>
        </p:sp>
        <p:sp>
          <p:nvSpPr>
            <p:cNvPr id="36" name="Line 8"/>
            <p:cNvSpPr>
              <a:spLocks noChangeShapeType="1"/>
            </p:cNvSpPr>
            <p:nvPr/>
          </p:nvSpPr>
          <p:spPr bwMode="auto">
            <a:xfrm>
              <a:off x="5040" y="1104"/>
              <a:ext cx="0" cy="2401"/>
            </a:xfrm>
            <a:prstGeom prst="line">
              <a:avLst/>
            </a:prstGeom>
            <a:noFill/>
            <a:ln w="28575">
              <a:solidFill>
                <a:srgbClr val="339933"/>
              </a:solidFill>
              <a:round/>
              <a:headEnd/>
              <a:tailEnd/>
            </a:ln>
          </p:spPr>
          <p:txBody>
            <a:bodyPr tIns="108000" bIns="108000"/>
            <a:lstStyle/>
            <a:p>
              <a:pPr>
                <a:defRPr/>
              </a:pPr>
              <a:endParaRPr lang="zh-CN" altLang="en-US">
                <a:effectLst>
                  <a:outerShdw blurRad="38100" dist="38100" dir="2700000" algn="tl">
                    <a:srgbClr val="000000">
                      <a:alpha val="43137"/>
                    </a:srgbClr>
                  </a:outerShdw>
                </a:effectLst>
              </a:endParaRPr>
            </a:p>
          </p:txBody>
        </p:sp>
        <p:sp>
          <p:nvSpPr>
            <p:cNvPr id="37" name="Oval 9"/>
            <p:cNvSpPr>
              <a:spLocks noChangeArrowheads="1"/>
            </p:cNvSpPr>
            <p:nvPr/>
          </p:nvSpPr>
          <p:spPr bwMode="auto">
            <a:xfrm>
              <a:off x="4992" y="1552"/>
              <a:ext cx="96" cy="96"/>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tIns="108000" bIns="108000"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a:spcBef>
                  <a:spcPct val="30000"/>
                </a:spcBef>
              </a:pPr>
              <a:endParaRPr lang="de-CH" altLang="zh-CN" sz="4000" b="0">
                <a:solidFill>
                  <a:schemeClr val="tx1"/>
                </a:solidFill>
                <a:latin typeface="Tahoma" panose="020B0604030504040204" pitchFamily="34" charset="0"/>
              </a:endParaRPr>
            </a:p>
          </p:txBody>
        </p:sp>
        <p:sp>
          <p:nvSpPr>
            <p:cNvPr id="38" name="Oval 10"/>
            <p:cNvSpPr>
              <a:spLocks noChangeArrowheads="1"/>
            </p:cNvSpPr>
            <p:nvPr/>
          </p:nvSpPr>
          <p:spPr bwMode="auto">
            <a:xfrm>
              <a:off x="2992" y="1656"/>
              <a:ext cx="96" cy="96"/>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tIns="108000" bIns="108000"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endParaRPr lang="zh-CN" altLang="zh-CN" b="0">
                <a:solidFill>
                  <a:schemeClr val="tx1"/>
                </a:solidFill>
              </a:endParaRPr>
            </a:p>
          </p:txBody>
        </p:sp>
        <p:sp>
          <p:nvSpPr>
            <p:cNvPr id="39" name="Oval 11"/>
            <p:cNvSpPr>
              <a:spLocks noChangeArrowheads="1"/>
            </p:cNvSpPr>
            <p:nvPr/>
          </p:nvSpPr>
          <p:spPr bwMode="auto">
            <a:xfrm>
              <a:off x="3720" y="2128"/>
              <a:ext cx="96" cy="96"/>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tIns="108000" bIns="108000"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endParaRPr lang="zh-CN" altLang="zh-CN" b="0">
                <a:solidFill>
                  <a:schemeClr val="tx1"/>
                </a:solidFill>
              </a:endParaRPr>
            </a:p>
          </p:txBody>
        </p:sp>
        <p:sp>
          <p:nvSpPr>
            <p:cNvPr id="40" name="Text Box 12"/>
            <p:cNvSpPr txBox="1">
              <a:spLocks noChangeArrowheads="1"/>
            </p:cNvSpPr>
            <p:nvPr/>
          </p:nvSpPr>
          <p:spPr bwMode="auto">
            <a:xfrm>
              <a:off x="2256" y="1248"/>
              <a:ext cx="192"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108000" bIns="10800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a:spcBef>
                  <a:spcPct val="30000"/>
                </a:spcBef>
              </a:pPr>
              <a:r>
                <a:rPr lang="de-CH" altLang="zh-CN" b="0" i="1">
                  <a:solidFill>
                    <a:schemeClr val="tx1"/>
                  </a:solidFill>
                </a:rPr>
                <a:t>g</a:t>
              </a:r>
              <a:endParaRPr lang="de-CH" altLang="zh-CN" b="0">
                <a:solidFill>
                  <a:schemeClr val="tx1"/>
                </a:solidFill>
              </a:endParaRPr>
            </a:p>
          </p:txBody>
        </p:sp>
        <p:sp>
          <p:nvSpPr>
            <p:cNvPr id="41" name="Text Box 13"/>
            <p:cNvSpPr txBox="1">
              <a:spLocks noChangeArrowheads="1"/>
            </p:cNvSpPr>
            <p:nvPr/>
          </p:nvSpPr>
          <p:spPr bwMode="auto">
            <a:xfrm>
              <a:off x="3024" y="1440"/>
              <a:ext cx="3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spcBef>
                  <a:spcPct val="50000"/>
                </a:spcBef>
                <a:buClr>
                  <a:schemeClr val="accent2"/>
                </a:buClr>
                <a:buSzPct val="110000"/>
              </a:pPr>
              <a:r>
                <a:rPr lang="en-US" altLang="zh-CN" b="0" i="1">
                  <a:solidFill>
                    <a:schemeClr val="tx1"/>
                  </a:solidFill>
                </a:rPr>
                <a:t>P</a:t>
              </a:r>
            </a:p>
          </p:txBody>
        </p:sp>
        <p:sp>
          <p:nvSpPr>
            <p:cNvPr id="42" name="Text Box 14"/>
            <p:cNvSpPr txBox="1">
              <a:spLocks noChangeArrowheads="1"/>
            </p:cNvSpPr>
            <p:nvPr/>
          </p:nvSpPr>
          <p:spPr bwMode="auto">
            <a:xfrm>
              <a:off x="3792" y="1920"/>
              <a:ext cx="3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spcBef>
                  <a:spcPct val="50000"/>
                </a:spcBef>
                <a:buClr>
                  <a:schemeClr val="accent2"/>
                </a:buClr>
                <a:buSzPct val="110000"/>
              </a:pPr>
              <a:r>
                <a:rPr lang="en-US" altLang="zh-CN" b="0" i="1">
                  <a:solidFill>
                    <a:schemeClr val="tx1"/>
                  </a:solidFill>
                </a:rPr>
                <a:t>Q</a:t>
              </a:r>
            </a:p>
          </p:txBody>
        </p:sp>
        <p:sp>
          <p:nvSpPr>
            <p:cNvPr id="43" name="Text Box 15"/>
            <p:cNvSpPr txBox="1">
              <a:spLocks noChangeArrowheads="1"/>
            </p:cNvSpPr>
            <p:nvPr/>
          </p:nvSpPr>
          <p:spPr bwMode="auto">
            <a:xfrm>
              <a:off x="4800" y="1440"/>
              <a:ext cx="3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spcBef>
                  <a:spcPct val="50000"/>
                </a:spcBef>
                <a:buClr>
                  <a:schemeClr val="accent2"/>
                </a:buClr>
                <a:buSzPct val="110000"/>
              </a:pPr>
              <a:r>
                <a:rPr lang="en-US" altLang="zh-CN" b="0" i="1">
                  <a:solidFill>
                    <a:schemeClr val="tx1"/>
                  </a:solidFill>
                </a:rPr>
                <a:t>R</a:t>
              </a:r>
            </a:p>
          </p:txBody>
        </p:sp>
      </p:grpSp>
      <mc:AlternateContent xmlns:mc="http://schemas.openxmlformats.org/markup-compatibility/2006" xmlns:a14="http://schemas.microsoft.com/office/drawing/2010/main">
        <mc:Choice Requires="a14">
          <p:sp>
            <p:nvSpPr>
              <p:cNvPr id="44" name="Object 16"/>
              <p:cNvSpPr txBox="1"/>
              <p:nvPr/>
            </p:nvSpPr>
            <p:spPr bwMode="auto">
              <a:xfrm>
                <a:off x="1465249" y="1889071"/>
                <a:ext cx="2474857" cy="84613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FF0000"/>
                          </a:solidFill>
                          <a:latin typeface="Cambria Math" panose="02040503050406030204" pitchFamily="18" charset="0"/>
                        </a:rPr>
                        <m:t>𝜆</m:t>
                      </m:r>
                      <m:r>
                        <a:rPr lang="zh-CN" altLang="en-US" sz="2800" i="1" smtClean="0">
                          <a:solidFill>
                            <a:srgbClr val="FF0000"/>
                          </a:solidFill>
                          <a:latin typeface="Cambria Math" panose="02040503050406030204" pitchFamily="18" charset="0"/>
                        </a:rPr>
                        <m:t>=</m:t>
                      </m:r>
                      <m:f>
                        <m:fPr>
                          <m:ctrlPr>
                            <a:rPr lang="zh-CN" altLang="en-US" sz="2800" i="1">
                              <a:solidFill>
                                <a:srgbClr val="FF0000"/>
                              </a:solidFill>
                              <a:latin typeface="Cambria Math" panose="02040503050406030204" pitchFamily="18" charset="0"/>
                            </a:rPr>
                          </m:ctrlPr>
                        </m:fPr>
                        <m:num>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𝑄</m:t>
                              </m:r>
                            </m:sub>
                          </m:sSub>
                          <m:r>
                            <a:rPr lang="zh-CN" altLang="en-US" sz="2800" i="1">
                              <a:solidFill>
                                <a:srgbClr val="FF0000"/>
                              </a:solidFill>
                              <a:latin typeface="Cambria Math" panose="02040503050406030204" pitchFamily="18" charset="0"/>
                            </a:rPr>
                            <m:t>−</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𝑃</m:t>
                              </m:r>
                            </m:sub>
                          </m:sSub>
                        </m:num>
                        <m:den>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𝑥</m:t>
                              </m:r>
                            </m:e>
                            <m:sub>
                              <m:r>
                                <a:rPr lang="zh-CN" altLang="en-US" sz="2800" i="1">
                                  <a:solidFill>
                                    <a:srgbClr val="FF0000"/>
                                  </a:solidFill>
                                  <a:latin typeface="Cambria Math" panose="02040503050406030204" pitchFamily="18" charset="0"/>
                                </a:rPr>
                                <m:t>𝑄</m:t>
                              </m:r>
                            </m:sub>
                          </m:sSub>
                          <m:r>
                            <a:rPr lang="zh-CN" altLang="en-US" sz="2800" i="1">
                              <a:solidFill>
                                <a:srgbClr val="FF0000"/>
                              </a:solidFill>
                              <a:latin typeface="Cambria Math" panose="02040503050406030204" pitchFamily="18" charset="0"/>
                            </a:rPr>
                            <m:t>−</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𝑥</m:t>
                              </m:r>
                            </m:e>
                            <m:sub>
                              <m:r>
                                <a:rPr lang="zh-CN" altLang="en-US" sz="2800" i="1">
                                  <a:solidFill>
                                    <a:srgbClr val="FF0000"/>
                                  </a:solidFill>
                                  <a:latin typeface="Cambria Math" panose="02040503050406030204" pitchFamily="18" charset="0"/>
                                </a:rPr>
                                <m:t>𝑃</m:t>
                              </m:r>
                            </m:sub>
                          </m:sSub>
                        </m:den>
                      </m:f>
                    </m:oMath>
                  </m:oMathPara>
                </a14:m>
                <a:endParaRPr lang="zh-CN" altLang="en-US" sz="2800" dirty="0">
                  <a:solidFill>
                    <a:srgbClr val="FF0000"/>
                  </a:solidFill>
                </a:endParaRPr>
              </a:p>
            </p:txBody>
          </p:sp>
        </mc:Choice>
        <mc:Fallback xmlns="">
          <p:sp>
            <p:nvSpPr>
              <p:cNvPr id="44" name="Object 16"/>
              <p:cNvSpPr txBox="1">
                <a:spLocks noRot="1" noChangeAspect="1" noMove="1" noResize="1" noEditPoints="1" noAdjustHandles="1" noChangeArrowheads="1" noChangeShapeType="1" noTextEdit="1"/>
              </p:cNvSpPr>
              <p:nvPr/>
            </p:nvSpPr>
            <p:spPr bwMode="auto">
              <a:xfrm>
                <a:off x="1465249" y="1889071"/>
                <a:ext cx="2474857" cy="846137"/>
              </a:xfrm>
              <a:prstGeom prst="rect">
                <a:avLst/>
              </a:prstGeom>
              <a:blipFill>
                <a:blip r:embed="rId3"/>
                <a:stretch>
                  <a:fillRect b="-71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Object 17"/>
              <p:cNvSpPr txBox="1"/>
              <p:nvPr/>
            </p:nvSpPr>
            <p:spPr bwMode="auto">
              <a:xfrm>
                <a:off x="1910515" y="2911087"/>
                <a:ext cx="1258887" cy="84772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𝑝</m:t>
                              </m:r>
                            </m:sub>
                          </m:sSub>
                        </m:num>
                        <m:den>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𝑝</m:t>
                              </m:r>
                            </m:sub>
                          </m:sSub>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𝜆</m:t>
                      </m:r>
                    </m:oMath>
                  </m:oMathPara>
                </a14:m>
                <a:endParaRPr lang="zh-CN" altLang="en-US" dirty="0"/>
              </a:p>
            </p:txBody>
          </p:sp>
        </mc:Choice>
        <mc:Fallback xmlns="">
          <p:sp>
            <p:nvSpPr>
              <p:cNvPr id="45" name="Object 17"/>
              <p:cNvSpPr txBox="1">
                <a:spLocks noRot="1" noChangeAspect="1" noMove="1" noResize="1" noEditPoints="1" noAdjustHandles="1" noChangeArrowheads="1" noChangeShapeType="1" noTextEdit="1"/>
              </p:cNvSpPr>
              <p:nvPr/>
            </p:nvSpPr>
            <p:spPr bwMode="auto">
              <a:xfrm>
                <a:off x="1910515" y="2911087"/>
                <a:ext cx="1258887" cy="84772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Object 18"/>
              <p:cNvSpPr txBox="1"/>
              <p:nvPr/>
            </p:nvSpPr>
            <p:spPr bwMode="auto">
              <a:xfrm>
                <a:off x="5508141" y="5553507"/>
                <a:ext cx="1741487" cy="436562"/>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smtClean="0">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𝑦</m:t>
                          </m:r>
                        </m:e>
                        <m:sub>
                          <m:r>
                            <a:rPr lang="zh-CN" altLang="en-US" i="1">
                              <a:solidFill>
                                <a:srgbClr val="FF0000"/>
                              </a:solidFill>
                              <a:latin typeface="Cambria Math" panose="02040503050406030204" pitchFamily="18" charset="0"/>
                            </a:rPr>
                            <m:t>0</m:t>
                          </m:r>
                        </m:sub>
                      </m:sSub>
                      <m:r>
                        <a:rPr lang="zh-CN" altLang="en-US" i="1">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𝑦</m:t>
                          </m:r>
                        </m:e>
                        <m:sub>
                          <m:r>
                            <a:rPr lang="zh-CN" altLang="en-US" i="1">
                              <a:solidFill>
                                <a:srgbClr val="FF0000"/>
                              </a:solidFill>
                              <a:latin typeface="Cambria Math" panose="02040503050406030204" pitchFamily="18" charset="0"/>
                            </a:rPr>
                            <m:t>𝑝</m:t>
                          </m:r>
                        </m:sub>
                      </m:sSub>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𝜆</m:t>
                      </m:r>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𝑥</m:t>
                          </m:r>
                        </m:e>
                        <m:sub>
                          <m:r>
                            <a:rPr lang="zh-CN" altLang="en-US" i="1">
                              <a:solidFill>
                                <a:srgbClr val="FF0000"/>
                              </a:solidFill>
                              <a:latin typeface="Cambria Math" panose="02040503050406030204" pitchFamily="18" charset="0"/>
                            </a:rPr>
                            <m:t>𝑝</m:t>
                          </m:r>
                        </m:sub>
                      </m:sSub>
                      <m:r>
                        <a:rPr lang="zh-CN" altLang="en-US" i="1">
                          <a:solidFill>
                            <a:srgbClr val="FF0000"/>
                          </a:solidFill>
                          <a:latin typeface="Cambria Math" panose="02040503050406030204" pitchFamily="18" charset="0"/>
                        </a:rPr>
                        <m:t>)</m:t>
                      </m:r>
                    </m:oMath>
                  </m:oMathPara>
                </a14:m>
                <a:endParaRPr lang="zh-CN" altLang="en-US" dirty="0">
                  <a:solidFill>
                    <a:srgbClr val="FF0000"/>
                  </a:solidFill>
                </a:endParaRPr>
              </a:p>
            </p:txBody>
          </p:sp>
        </mc:Choice>
        <mc:Fallback xmlns="">
          <p:sp>
            <p:nvSpPr>
              <p:cNvPr id="46" name="Object 18"/>
              <p:cNvSpPr txBox="1">
                <a:spLocks noRot="1" noChangeAspect="1" noMove="1" noResize="1" noEditPoints="1" noAdjustHandles="1" noChangeArrowheads="1" noChangeShapeType="1" noTextEdit="1"/>
              </p:cNvSpPr>
              <p:nvPr/>
            </p:nvSpPr>
            <p:spPr bwMode="auto">
              <a:xfrm>
                <a:off x="5508141" y="5553507"/>
                <a:ext cx="1741487" cy="436562"/>
              </a:xfrm>
              <a:prstGeom prst="rect">
                <a:avLst/>
              </a:prstGeom>
              <a:blipFill>
                <a:blip r:embed="rId5"/>
                <a:stretch>
                  <a:fillRect l="-7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Object 19"/>
              <p:cNvSpPr txBox="1"/>
              <p:nvPr/>
            </p:nvSpPr>
            <p:spPr bwMode="auto">
              <a:xfrm>
                <a:off x="1668422" y="3554597"/>
                <a:ext cx="2068512" cy="43656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𝜆</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47" name="Object 19"/>
              <p:cNvSpPr txBox="1">
                <a:spLocks noRot="1" noChangeAspect="1" noMove="1" noResize="1" noEditPoints="1" noAdjustHandles="1" noChangeArrowheads="1" noChangeShapeType="1" noTextEdit="1"/>
              </p:cNvSpPr>
              <p:nvPr/>
            </p:nvSpPr>
            <p:spPr bwMode="auto">
              <a:xfrm>
                <a:off x="1668422" y="3554597"/>
                <a:ext cx="2068512" cy="436562"/>
              </a:xfrm>
              <a:prstGeom prst="rect">
                <a:avLst/>
              </a:prstGeom>
              <a:blipFill>
                <a:blip r:embed="rId6"/>
                <a:stretch>
                  <a:fillRect r="-8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Object 20"/>
              <p:cNvSpPr txBox="1"/>
              <p:nvPr/>
            </p:nvSpPr>
            <p:spPr bwMode="auto">
              <a:xfrm>
                <a:off x="1897022" y="3957028"/>
                <a:ext cx="1285875" cy="414337"/>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𝜆</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0</m:t>
                          </m:r>
                        </m:sub>
                      </m:sSub>
                    </m:oMath>
                  </m:oMathPara>
                </a14:m>
                <a:endParaRPr lang="zh-CN" altLang="en-US"/>
              </a:p>
            </p:txBody>
          </p:sp>
        </mc:Choice>
        <mc:Fallback xmlns="">
          <p:sp>
            <p:nvSpPr>
              <p:cNvPr id="48" name="Object 20"/>
              <p:cNvSpPr txBox="1">
                <a:spLocks noRot="1" noChangeAspect="1" noMove="1" noResize="1" noEditPoints="1" noAdjustHandles="1" noChangeArrowheads="1" noChangeShapeType="1" noTextEdit="1"/>
              </p:cNvSpPr>
              <p:nvPr/>
            </p:nvSpPr>
            <p:spPr bwMode="auto">
              <a:xfrm>
                <a:off x="1897022" y="3957028"/>
                <a:ext cx="1285875" cy="41433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Object 21"/>
              <p:cNvSpPr txBox="1"/>
              <p:nvPr/>
            </p:nvSpPr>
            <p:spPr bwMode="auto">
              <a:xfrm>
                <a:off x="1279933" y="4855111"/>
                <a:ext cx="2212975" cy="86677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800" i="1" smtClean="0">
                              <a:solidFill>
                                <a:srgbClr val="FF0000"/>
                              </a:solidFill>
                              <a:latin typeface="Cambria Math" panose="02040503050406030204" pitchFamily="18" charset="0"/>
                            </a:rPr>
                          </m:ctrlPr>
                        </m:dPr>
                        <m:e>
                          <m:m>
                            <m:mPr>
                              <m:plcHide m:val="on"/>
                              <m:mcs>
                                <m:mc>
                                  <m:mcPr>
                                    <m:count m:val="1"/>
                                    <m:mcJc m:val="center"/>
                                  </m:mcPr>
                                </m:mc>
                              </m:mcs>
                              <m:ctrlPr>
                                <a:rPr lang="zh-CN" altLang="en-US" sz="2800" i="1">
                                  <a:solidFill>
                                    <a:srgbClr val="FF0000"/>
                                  </a:solidFill>
                                  <a:latin typeface="Cambria Math" panose="02040503050406030204" pitchFamily="18" charset="0"/>
                                </a:rPr>
                              </m:ctrlPr>
                            </m:mPr>
                            <m:mr>
                              <m:e>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𝑥</m:t>
                                    </m:r>
                                  </m:e>
                                  <m:sub>
                                    <m:r>
                                      <a:rPr lang="zh-CN" altLang="en-US" sz="2800" i="1">
                                        <a:solidFill>
                                          <a:srgbClr val="FF0000"/>
                                        </a:solidFill>
                                        <a:latin typeface="Cambria Math" panose="02040503050406030204" pitchFamily="18" charset="0"/>
                                      </a:rPr>
                                      <m:t>𝑅</m:t>
                                    </m:r>
                                  </m:sub>
                                </m:sSub>
                                <m:r>
                                  <a:rPr lang="zh-CN" altLang="en-US" sz="2800" i="1">
                                    <a:solidFill>
                                      <a:srgbClr val="FF0000"/>
                                    </a:solidFill>
                                    <a:latin typeface="Cambria Math" panose="02040503050406030204" pitchFamily="18" charset="0"/>
                                  </a:rPr>
                                  <m:t>=</m:t>
                                </m:r>
                                <m:sSup>
                                  <m:sSupPr>
                                    <m:ctrlPr>
                                      <a:rPr lang="zh-CN" altLang="en-US" sz="2800" i="1">
                                        <a:solidFill>
                                          <a:srgbClr val="FF0000"/>
                                        </a:solidFill>
                                        <a:latin typeface="Cambria Math" panose="02040503050406030204" pitchFamily="18" charset="0"/>
                                      </a:rPr>
                                    </m:ctrlPr>
                                  </m:sSupPr>
                                  <m:e>
                                    <m:r>
                                      <a:rPr lang="zh-CN" altLang="en-US" sz="2800" i="1">
                                        <a:solidFill>
                                          <a:srgbClr val="FF0000"/>
                                        </a:solidFill>
                                        <a:latin typeface="Cambria Math" panose="02040503050406030204" pitchFamily="18" charset="0"/>
                                      </a:rPr>
                                      <m:t>𝜆</m:t>
                                    </m:r>
                                  </m:e>
                                  <m:sup>
                                    <m:r>
                                      <a:rPr lang="zh-CN" altLang="en-US" sz="2800" i="1">
                                        <a:solidFill>
                                          <a:srgbClr val="FF0000"/>
                                        </a:solidFill>
                                        <a:latin typeface="Cambria Math" panose="02040503050406030204" pitchFamily="18" charset="0"/>
                                      </a:rPr>
                                      <m:t>2</m:t>
                                    </m:r>
                                  </m:sup>
                                </m:sSup>
                                <m:r>
                                  <a:rPr lang="zh-CN" altLang="en-US" sz="2800" i="1">
                                    <a:solidFill>
                                      <a:srgbClr val="FF0000"/>
                                    </a:solidFill>
                                    <a:latin typeface="Cambria Math" panose="02040503050406030204" pitchFamily="18" charset="0"/>
                                  </a:rPr>
                                  <m:t>−</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𝑥</m:t>
                                    </m:r>
                                  </m:e>
                                  <m:sub>
                                    <m:r>
                                      <a:rPr lang="zh-CN" altLang="en-US" sz="2800" i="1">
                                        <a:solidFill>
                                          <a:srgbClr val="FF0000"/>
                                        </a:solidFill>
                                        <a:latin typeface="Cambria Math" panose="02040503050406030204" pitchFamily="18" charset="0"/>
                                      </a:rPr>
                                      <m:t>𝑃</m:t>
                                    </m:r>
                                  </m:sub>
                                </m:sSub>
                                <m:r>
                                  <a:rPr lang="zh-CN" altLang="en-US" sz="2800" i="1">
                                    <a:solidFill>
                                      <a:srgbClr val="FF0000"/>
                                    </a:solidFill>
                                    <a:latin typeface="Cambria Math" panose="02040503050406030204" pitchFamily="18" charset="0"/>
                                  </a:rPr>
                                  <m:t>−</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𝑥</m:t>
                                    </m:r>
                                  </m:e>
                                  <m:sub>
                                    <m:r>
                                      <a:rPr lang="zh-CN" altLang="en-US" sz="2800" i="1">
                                        <a:solidFill>
                                          <a:srgbClr val="FF0000"/>
                                        </a:solidFill>
                                        <a:latin typeface="Cambria Math" panose="02040503050406030204" pitchFamily="18" charset="0"/>
                                      </a:rPr>
                                      <m:t>𝑄</m:t>
                                    </m:r>
                                  </m:sub>
                                </m:sSub>
                              </m:e>
                            </m:mr>
                            <m:mr>
                              <m:e>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𝑅</m:t>
                                    </m:r>
                                  </m:sub>
                                </m:sSub>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𝜆</m:t>
                                </m:r>
                                <m:r>
                                  <a:rPr lang="zh-CN" altLang="en-US" sz="2800" i="1">
                                    <a:solidFill>
                                      <a:srgbClr val="FF0000"/>
                                    </a:solidFill>
                                    <a:latin typeface="Cambria Math" panose="02040503050406030204" pitchFamily="18" charset="0"/>
                                  </a:rPr>
                                  <m:t>⋅</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𝑥</m:t>
                                    </m:r>
                                  </m:e>
                                  <m:sub>
                                    <m:r>
                                      <a:rPr lang="zh-CN" altLang="en-US" sz="2800" i="1">
                                        <a:solidFill>
                                          <a:srgbClr val="FF0000"/>
                                        </a:solidFill>
                                        <a:latin typeface="Cambria Math" panose="02040503050406030204" pitchFamily="18" charset="0"/>
                                      </a:rPr>
                                      <m:t>𝑅</m:t>
                                    </m:r>
                                  </m:sub>
                                </m:sSub>
                                <m:r>
                                  <a:rPr lang="zh-CN" altLang="en-US" sz="2800" i="1">
                                    <a:solidFill>
                                      <a:srgbClr val="FF0000"/>
                                    </a:solidFill>
                                    <a:latin typeface="Cambria Math" panose="02040503050406030204" pitchFamily="18" charset="0"/>
                                  </a:rPr>
                                  <m:t>+</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0</m:t>
                                    </m:r>
                                  </m:sub>
                                </m:sSub>
                                <m:r>
                                  <a:rPr lang="zh-CN" altLang="en-US" sz="2800" i="1">
                                    <a:solidFill>
                                      <a:srgbClr val="FF0000"/>
                                    </a:solidFill>
                                    <a:latin typeface="Cambria Math" panose="02040503050406030204" pitchFamily="18" charset="0"/>
                                  </a:rPr>
                                  <m:t>)</m:t>
                                </m:r>
                              </m:e>
                            </m:mr>
                          </m:m>
                        </m:e>
                      </m:d>
                    </m:oMath>
                  </m:oMathPara>
                </a14:m>
                <a:endParaRPr lang="zh-CN" altLang="en-US" sz="2800" dirty="0">
                  <a:solidFill>
                    <a:srgbClr val="FF0000"/>
                  </a:solidFill>
                </a:endParaRPr>
              </a:p>
            </p:txBody>
          </p:sp>
        </mc:Choice>
        <mc:Fallback xmlns="">
          <p:sp>
            <p:nvSpPr>
              <p:cNvPr id="49" name="Object 21"/>
              <p:cNvSpPr txBox="1">
                <a:spLocks noRot="1" noChangeAspect="1" noMove="1" noResize="1" noEditPoints="1" noAdjustHandles="1" noChangeArrowheads="1" noChangeShapeType="1" noTextEdit="1"/>
              </p:cNvSpPr>
              <p:nvPr/>
            </p:nvSpPr>
            <p:spPr bwMode="auto">
              <a:xfrm>
                <a:off x="1279933" y="4855111"/>
                <a:ext cx="2212975" cy="866775"/>
              </a:xfrm>
              <a:prstGeom prst="rect">
                <a:avLst/>
              </a:prstGeom>
              <a:blipFill>
                <a:blip r:embed="rId8"/>
                <a:stretch>
                  <a:fillRect r="-44904" b="-328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2CF7787-7C96-55EF-21F9-C600DE124F44}"/>
                  </a:ext>
                </a:extLst>
              </p:cNvPr>
              <p:cNvSpPr txBox="1"/>
              <p:nvPr/>
            </p:nvSpPr>
            <p:spPr>
              <a:xfrm>
                <a:off x="2114901" y="6210061"/>
                <a:ext cx="6096000" cy="461665"/>
              </a:xfrm>
              <a:prstGeom prst="rect">
                <a:avLst/>
              </a:prstGeom>
              <a:noFill/>
            </p:spPr>
            <p:txBody>
              <a:bodyPr wrap="square">
                <a:spAutoFit/>
              </a:bodyPr>
              <a:lstStyle/>
              <a:p>
                <a:r>
                  <a:rPr lang="zh-CN" altLang="en-US" sz="2400" dirty="0">
                    <a:solidFill>
                      <a:srgbClr val="FF0000"/>
                    </a:solidFill>
                  </a:rPr>
                  <a:t>也可以写作：</a:t>
                </a:r>
                <a14:m>
                  <m:oMath xmlns:m="http://schemas.openxmlformats.org/officeDocument/2006/math">
                    <m:sSub>
                      <m:sSubPr>
                        <m:ctrlPr>
                          <a:rPr lang="zh-CN" altLang="en-US" sz="2400" i="1" smtClean="0">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𝑦</m:t>
                        </m:r>
                      </m:e>
                      <m:sub>
                        <m:r>
                          <a:rPr lang="zh-CN" altLang="en-US" sz="2400" i="1">
                            <a:solidFill>
                              <a:srgbClr val="FF0000"/>
                            </a:solidFill>
                            <a:latin typeface="Cambria Math" panose="02040503050406030204" pitchFamily="18" charset="0"/>
                          </a:rPr>
                          <m:t>𝑅</m:t>
                        </m:r>
                      </m:sub>
                    </m:sSub>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𝜆</m:t>
                    </m:r>
                    <m:d>
                      <m:dPr>
                        <m:ctrlPr>
                          <a:rPr lang="zh-CN" altLang="en-US" sz="2400" i="1">
                            <a:solidFill>
                              <a:srgbClr val="FF0000"/>
                            </a:solidFill>
                            <a:latin typeface="Cambria Math" panose="02040503050406030204" pitchFamily="18" charset="0"/>
                          </a:rPr>
                        </m:ctrlPr>
                      </m:dPr>
                      <m:e>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𝑥</m:t>
                            </m:r>
                          </m:e>
                          <m:sub>
                            <m:r>
                              <a:rPr lang="zh-CN" altLang="en-US" sz="2400" i="1">
                                <a:solidFill>
                                  <a:srgbClr val="FF0000"/>
                                </a:solidFill>
                                <a:latin typeface="Cambria Math" panose="02040503050406030204" pitchFamily="18" charset="0"/>
                              </a:rPr>
                              <m:t>𝑃</m:t>
                            </m:r>
                          </m:sub>
                        </m:sSub>
                        <m:r>
                          <a:rPr lang="zh-CN" altLang="en-US" sz="2400" i="1">
                            <a:solidFill>
                              <a:srgbClr val="FF0000"/>
                            </a:solidFill>
                            <a:latin typeface="Cambria Math" panose="02040503050406030204" pitchFamily="18" charset="0"/>
                          </a:rPr>
                          <m:t>−</m:t>
                        </m:r>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𝑥</m:t>
                            </m:r>
                          </m:e>
                          <m:sub>
                            <m:r>
                              <a:rPr lang="zh-CN" altLang="en-US" sz="2400" i="1">
                                <a:solidFill>
                                  <a:srgbClr val="FF0000"/>
                                </a:solidFill>
                                <a:latin typeface="Cambria Math" panose="02040503050406030204" pitchFamily="18" charset="0"/>
                              </a:rPr>
                              <m:t>𝑅</m:t>
                            </m:r>
                          </m:sub>
                        </m:sSub>
                      </m:e>
                    </m:d>
                    <m:r>
                      <a:rPr lang="zh-CN" altLang="en-US" sz="2400" i="1">
                        <a:solidFill>
                          <a:srgbClr val="FF0000"/>
                        </a:solidFill>
                        <a:latin typeface="Cambria Math" panose="02040503050406030204" pitchFamily="18" charset="0"/>
                      </a:rPr>
                      <m:t>−</m:t>
                    </m:r>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𝑦</m:t>
                        </m:r>
                      </m:e>
                      <m:sub>
                        <m:r>
                          <a:rPr lang="zh-CN" altLang="en-US" sz="2400" i="1">
                            <a:solidFill>
                              <a:srgbClr val="FF0000"/>
                            </a:solidFill>
                            <a:latin typeface="Cambria Math" panose="02040503050406030204" pitchFamily="18" charset="0"/>
                          </a:rPr>
                          <m:t>𝑃</m:t>
                        </m:r>
                      </m:sub>
                    </m:sSub>
                    <m:r>
                      <a:rPr lang="en-US" altLang="zh-CN" sz="2400" b="0" i="1" smtClean="0">
                        <a:solidFill>
                          <a:srgbClr val="FF0000"/>
                        </a:solidFill>
                        <a:latin typeface="Cambria Math" panose="02040503050406030204" pitchFamily="18" charset="0"/>
                      </a:rPr>
                      <m:t>   </m:t>
                    </m:r>
                    <m:r>
                      <m:rPr>
                        <m:sty m:val="p"/>
                      </m:rPr>
                      <a:rPr lang="zh-CN" altLang="en-US" sz="2400" i="1">
                        <a:solidFill>
                          <a:srgbClr val="FF0000"/>
                        </a:solidFill>
                        <a:latin typeface="Cambria Math" panose="02040503050406030204" pitchFamily="18" charset="0"/>
                      </a:rPr>
                      <m:t>mod</m:t>
                    </m:r>
                    <m:r>
                      <a:rPr lang="zh-CN" altLang="en-US" sz="2400" i="1">
                        <a:solidFill>
                          <a:srgbClr val="FF0000"/>
                        </a:solidFill>
                        <a:latin typeface="Cambria Math" panose="02040503050406030204" pitchFamily="18" charset="0"/>
                      </a:rPr>
                      <m:t>𝑝</m:t>
                    </m:r>
                  </m:oMath>
                </a14:m>
                <a:endParaRPr lang="zh-CN" altLang="en-US" sz="2400" dirty="0">
                  <a:solidFill>
                    <a:srgbClr val="FF0000"/>
                  </a:solidFill>
                </a:endParaRPr>
              </a:p>
            </p:txBody>
          </p:sp>
        </mc:Choice>
        <mc:Fallback xmlns="">
          <p:sp>
            <p:nvSpPr>
              <p:cNvPr id="11" name="文本框 10">
                <a:extLst>
                  <a:ext uri="{FF2B5EF4-FFF2-40B4-BE49-F238E27FC236}">
                    <a16:creationId xmlns:a16="http://schemas.microsoft.com/office/drawing/2014/main" id="{02CF7787-7C96-55EF-21F9-C600DE124F44}"/>
                  </a:ext>
                </a:extLst>
              </p:cNvPr>
              <p:cNvSpPr txBox="1">
                <a:spLocks noRot="1" noChangeAspect="1" noMove="1" noResize="1" noEditPoints="1" noAdjustHandles="1" noChangeArrowheads="1" noChangeShapeType="1" noTextEdit="1"/>
              </p:cNvSpPr>
              <p:nvPr/>
            </p:nvSpPr>
            <p:spPr>
              <a:xfrm>
                <a:off x="2114901" y="6210061"/>
                <a:ext cx="6096000" cy="461665"/>
              </a:xfrm>
              <a:prstGeom prst="rect">
                <a:avLst/>
              </a:prstGeom>
              <a:blipFill>
                <a:blip r:embed="rId9"/>
                <a:stretch>
                  <a:fillRect l="-1600" t="-9333" b="-32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610985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r>
              <a:rPr lang="zh-CN" altLang="en-US" dirty="0"/>
              <a:t>（数学）</a:t>
            </a:r>
          </a:p>
        </p:txBody>
      </p:sp>
      <p:sp>
        <p:nvSpPr>
          <p:cNvPr id="3" name="内容占位符 2"/>
          <p:cNvSpPr>
            <a:spLocks noGrp="1"/>
          </p:cNvSpPr>
          <p:nvPr>
            <p:ph idx="1"/>
          </p:nvPr>
        </p:nvSpPr>
        <p:spPr>
          <a:xfrm>
            <a:off x="700644" y="1353787"/>
            <a:ext cx="10759044" cy="5139087"/>
          </a:xfrm>
        </p:spPr>
        <p:txBody>
          <a:bodyPr>
            <a:normAutofit/>
          </a:bodyPr>
          <a:lstStyle/>
          <a:p>
            <a:r>
              <a:rPr lang="zh-CN" altLang="en-US" dirty="0"/>
              <a:t>倍点计算公式</a:t>
            </a:r>
            <a:r>
              <a:rPr lang="en-US" altLang="zh-CN" dirty="0"/>
              <a:t>2P</a:t>
            </a:r>
            <a:endParaRPr lang="zh-CN" altLang="en-US" dirty="0"/>
          </a:p>
          <a:p>
            <a:endParaRPr lang="zh-CN" altLang="en-US"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71</a:t>
            </a:fld>
            <a:endParaRPr kumimoji="1" lang="zh-CN" altLang="en-US" dirty="0"/>
          </a:p>
        </p:txBody>
      </p:sp>
      <p:grpSp>
        <p:nvGrpSpPr>
          <p:cNvPr id="23" name="Group 4"/>
          <p:cNvGrpSpPr>
            <a:grpSpLocks/>
          </p:cNvGrpSpPr>
          <p:nvPr/>
        </p:nvGrpSpPr>
        <p:grpSpPr bwMode="auto">
          <a:xfrm>
            <a:off x="4193039" y="1849375"/>
            <a:ext cx="5410200" cy="4173538"/>
            <a:chOff x="2016" y="768"/>
            <a:chExt cx="3401" cy="3061"/>
          </a:xfrm>
        </p:grpSpPr>
        <p:pic>
          <p:nvPicPr>
            <p:cNvPr id="24" name="Picture 5"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6" y="768"/>
              <a:ext cx="3401" cy="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Line 6"/>
            <p:cNvSpPr>
              <a:spLocks noChangeShapeType="1"/>
            </p:cNvSpPr>
            <p:nvPr/>
          </p:nvSpPr>
          <p:spPr bwMode="auto">
            <a:xfrm>
              <a:off x="2496" y="1152"/>
              <a:ext cx="2880" cy="1872"/>
            </a:xfrm>
            <a:prstGeom prst="line">
              <a:avLst/>
            </a:prstGeom>
            <a:noFill/>
            <a:ln w="28575">
              <a:solidFill>
                <a:srgbClr val="339933"/>
              </a:solidFill>
              <a:round/>
              <a:headEnd/>
              <a:tailEnd/>
            </a:ln>
          </p:spPr>
          <p:txBody>
            <a:bodyPr tIns="108000" bIns="108000"/>
            <a:lstStyle/>
            <a:p>
              <a:pPr>
                <a:defRPr/>
              </a:pPr>
              <a:endParaRPr lang="zh-CN" altLang="en-US">
                <a:effectLst>
                  <a:outerShdw blurRad="38100" dist="38100" dir="2700000" algn="tl">
                    <a:srgbClr val="000000">
                      <a:alpha val="43137"/>
                    </a:srgbClr>
                  </a:outerShdw>
                </a:effectLst>
              </a:endParaRPr>
            </a:p>
          </p:txBody>
        </p:sp>
        <p:sp>
          <p:nvSpPr>
            <p:cNvPr id="26" name="Oval 7"/>
            <p:cNvSpPr>
              <a:spLocks noChangeArrowheads="1"/>
            </p:cNvSpPr>
            <p:nvPr/>
          </p:nvSpPr>
          <p:spPr bwMode="auto">
            <a:xfrm>
              <a:off x="4881" y="2680"/>
              <a:ext cx="96" cy="96"/>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tIns="108000" bIns="108000"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30000"/>
                </a:spcBef>
              </a:pPr>
              <a:endParaRPr lang="de-CH" altLang="zh-CN" sz="4000" b="0">
                <a:solidFill>
                  <a:schemeClr val="tx1"/>
                </a:solidFill>
                <a:latin typeface="Tahoma" panose="020B0604030504040204" pitchFamily="34" charset="0"/>
              </a:endParaRPr>
            </a:p>
          </p:txBody>
        </p:sp>
        <p:sp>
          <p:nvSpPr>
            <p:cNvPr id="27" name="Line 8"/>
            <p:cNvSpPr>
              <a:spLocks noChangeShapeType="1"/>
            </p:cNvSpPr>
            <p:nvPr/>
          </p:nvSpPr>
          <p:spPr bwMode="auto">
            <a:xfrm>
              <a:off x="4924" y="1096"/>
              <a:ext cx="0" cy="2400"/>
            </a:xfrm>
            <a:prstGeom prst="line">
              <a:avLst/>
            </a:prstGeom>
            <a:noFill/>
            <a:ln w="28575">
              <a:solidFill>
                <a:srgbClr val="339933"/>
              </a:solidFill>
              <a:round/>
              <a:headEnd/>
              <a:tailEnd/>
            </a:ln>
          </p:spPr>
          <p:txBody>
            <a:bodyPr tIns="108000" bIns="108000"/>
            <a:lstStyle/>
            <a:p>
              <a:pPr>
                <a:defRPr/>
              </a:pPr>
              <a:endParaRPr lang="zh-CN" altLang="en-US">
                <a:effectLst>
                  <a:outerShdw blurRad="38100" dist="38100" dir="2700000" algn="tl">
                    <a:srgbClr val="000000">
                      <a:alpha val="43137"/>
                    </a:srgbClr>
                  </a:outerShdw>
                </a:effectLst>
              </a:endParaRPr>
            </a:p>
          </p:txBody>
        </p:sp>
        <p:sp>
          <p:nvSpPr>
            <p:cNvPr id="28" name="Oval 9"/>
            <p:cNvSpPr>
              <a:spLocks noChangeArrowheads="1"/>
            </p:cNvSpPr>
            <p:nvPr/>
          </p:nvSpPr>
          <p:spPr bwMode="auto">
            <a:xfrm>
              <a:off x="4876" y="1816"/>
              <a:ext cx="96" cy="96"/>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tIns="108000" bIns="108000"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30000"/>
                </a:spcBef>
              </a:pPr>
              <a:endParaRPr lang="de-CH" altLang="zh-CN" sz="4000" b="0">
                <a:solidFill>
                  <a:schemeClr val="tx1"/>
                </a:solidFill>
                <a:latin typeface="Tahoma" panose="020B0604030504040204" pitchFamily="34" charset="0"/>
              </a:endParaRPr>
            </a:p>
          </p:txBody>
        </p:sp>
        <p:sp>
          <p:nvSpPr>
            <p:cNvPr id="29" name="Oval 10"/>
            <p:cNvSpPr>
              <a:spLocks noChangeArrowheads="1"/>
            </p:cNvSpPr>
            <p:nvPr/>
          </p:nvSpPr>
          <p:spPr bwMode="auto">
            <a:xfrm>
              <a:off x="3440" y="1744"/>
              <a:ext cx="96" cy="96"/>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tIns="108000" bIns="108000"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endParaRPr lang="zh-CN" altLang="zh-CN" b="0">
                <a:solidFill>
                  <a:schemeClr val="tx1"/>
                </a:solidFill>
              </a:endParaRPr>
            </a:p>
          </p:txBody>
        </p:sp>
        <p:sp>
          <p:nvSpPr>
            <p:cNvPr id="30" name="Text Box 11"/>
            <p:cNvSpPr txBox="1">
              <a:spLocks noChangeArrowheads="1"/>
            </p:cNvSpPr>
            <p:nvPr/>
          </p:nvSpPr>
          <p:spPr bwMode="auto">
            <a:xfrm>
              <a:off x="2448" y="1152"/>
              <a:ext cx="192"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108000" bIns="10800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a:spcBef>
                  <a:spcPct val="30000"/>
                </a:spcBef>
              </a:pPr>
              <a:r>
                <a:rPr lang="de-CH" altLang="zh-CN" b="0" i="1">
                  <a:solidFill>
                    <a:schemeClr val="tx1"/>
                  </a:solidFill>
                </a:rPr>
                <a:t>g</a:t>
              </a:r>
              <a:endParaRPr lang="de-CH" altLang="zh-CN" b="0">
                <a:solidFill>
                  <a:schemeClr val="tx1"/>
                </a:solidFill>
              </a:endParaRPr>
            </a:p>
          </p:txBody>
        </p:sp>
        <p:sp>
          <p:nvSpPr>
            <p:cNvPr id="31" name="Text Box 12"/>
            <p:cNvSpPr txBox="1">
              <a:spLocks noChangeArrowheads="1"/>
            </p:cNvSpPr>
            <p:nvPr/>
          </p:nvSpPr>
          <p:spPr bwMode="auto">
            <a:xfrm>
              <a:off x="3408" y="1488"/>
              <a:ext cx="336"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spcBef>
                  <a:spcPct val="50000"/>
                </a:spcBef>
                <a:buClr>
                  <a:schemeClr val="accent2"/>
                </a:buClr>
                <a:buSzPct val="110000"/>
              </a:pPr>
              <a:r>
                <a:rPr lang="en-US" altLang="zh-CN" b="0" i="1">
                  <a:solidFill>
                    <a:schemeClr val="tx1"/>
                  </a:solidFill>
                </a:rPr>
                <a:t>P</a:t>
              </a:r>
            </a:p>
          </p:txBody>
        </p:sp>
        <p:sp>
          <p:nvSpPr>
            <p:cNvPr id="50" name="Text Box 13"/>
            <p:cNvSpPr txBox="1">
              <a:spLocks noChangeArrowheads="1"/>
            </p:cNvSpPr>
            <p:nvPr/>
          </p:nvSpPr>
          <p:spPr bwMode="auto">
            <a:xfrm>
              <a:off x="4656" y="1632"/>
              <a:ext cx="336"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spcBef>
                  <a:spcPct val="50000"/>
                </a:spcBef>
                <a:buClr>
                  <a:schemeClr val="accent2"/>
                </a:buClr>
                <a:buSzPct val="110000"/>
              </a:pPr>
              <a:r>
                <a:rPr lang="en-US" altLang="zh-CN" b="0" i="1">
                  <a:solidFill>
                    <a:schemeClr val="tx1"/>
                  </a:solidFill>
                </a:rPr>
                <a:t>R</a:t>
              </a:r>
            </a:p>
          </p:txBody>
        </p:sp>
      </p:grpSp>
      <mc:AlternateContent xmlns:mc="http://schemas.openxmlformats.org/markup-compatibility/2006" xmlns:a14="http://schemas.microsoft.com/office/drawing/2010/main">
        <mc:Choice Requires="a14">
          <p:sp>
            <p:nvSpPr>
              <p:cNvPr id="51" name="Object 14"/>
              <p:cNvSpPr txBox="1"/>
              <p:nvPr/>
            </p:nvSpPr>
            <p:spPr bwMode="auto">
              <a:xfrm>
                <a:off x="1119188" y="2314575"/>
                <a:ext cx="3053172" cy="82391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smtClean="0">
                          <a:solidFill>
                            <a:srgbClr val="FF0000"/>
                          </a:solidFill>
                          <a:latin typeface="Cambria Math" panose="02040503050406030204" pitchFamily="18" charset="0"/>
                        </a:rPr>
                        <m:t>𝜆</m:t>
                      </m:r>
                      <m:r>
                        <a:rPr lang="zh-CN" altLang="en-US" sz="2400" i="1" smtClean="0">
                          <a:solidFill>
                            <a:srgbClr val="FF0000"/>
                          </a:solidFill>
                          <a:latin typeface="Cambria Math" panose="02040503050406030204" pitchFamily="18" charset="0"/>
                        </a:rPr>
                        <m:t>=</m:t>
                      </m:r>
                      <m:f>
                        <m:fPr>
                          <m:ctrlPr>
                            <a:rPr lang="zh-CN" altLang="en-US" sz="2400" i="1">
                              <a:solidFill>
                                <a:srgbClr val="FF0000"/>
                              </a:solidFill>
                              <a:latin typeface="Cambria Math" panose="02040503050406030204" pitchFamily="18" charset="0"/>
                            </a:rPr>
                          </m:ctrlPr>
                        </m:fPr>
                        <m:num>
                          <m:r>
                            <a:rPr lang="zh-CN" altLang="en-US" sz="2400" i="1">
                              <a:solidFill>
                                <a:srgbClr val="FF0000"/>
                              </a:solidFill>
                              <a:latin typeface="Cambria Math" panose="02040503050406030204" pitchFamily="18" charset="0"/>
                            </a:rPr>
                            <m:t>𝑑𝑦</m:t>
                          </m:r>
                        </m:num>
                        <m:den>
                          <m:r>
                            <a:rPr lang="zh-CN" altLang="en-US" sz="2400" i="1">
                              <a:solidFill>
                                <a:srgbClr val="FF0000"/>
                              </a:solidFill>
                              <a:latin typeface="Cambria Math" panose="02040503050406030204" pitchFamily="18" charset="0"/>
                            </a:rPr>
                            <m:t>𝑑𝑥</m:t>
                          </m:r>
                        </m:den>
                      </m:f>
                      <m:r>
                        <a:rPr lang="zh-CN" altLang="en-US" sz="2400" i="1">
                          <a:solidFill>
                            <a:srgbClr val="FF0000"/>
                          </a:solidFill>
                          <a:latin typeface="Cambria Math" panose="02040503050406030204" pitchFamily="18" charset="0"/>
                        </a:rPr>
                        <m:t>=</m:t>
                      </m:r>
                      <m:f>
                        <m:fPr>
                          <m:ctrlPr>
                            <a:rPr lang="zh-CN" altLang="en-US" sz="2400" i="1">
                              <a:solidFill>
                                <a:srgbClr val="FF0000"/>
                              </a:solidFill>
                              <a:latin typeface="Cambria Math" panose="02040503050406030204" pitchFamily="18" charset="0"/>
                            </a:rPr>
                          </m:ctrlPr>
                        </m:fPr>
                        <m:num>
                          <m:r>
                            <a:rPr lang="zh-CN" altLang="en-US" sz="2400" i="1">
                              <a:solidFill>
                                <a:srgbClr val="FF0000"/>
                              </a:solidFill>
                              <a:latin typeface="Cambria Math" panose="02040503050406030204" pitchFamily="18" charset="0"/>
                            </a:rPr>
                            <m:t>3</m:t>
                          </m:r>
                          <m:sSubSup>
                            <m:sSubSupPr>
                              <m:ctrlPr>
                                <a:rPr lang="zh-CN" altLang="en-US" sz="2400" i="1">
                                  <a:solidFill>
                                    <a:srgbClr val="FF0000"/>
                                  </a:solidFill>
                                  <a:latin typeface="Cambria Math" panose="02040503050406030204" pitchFamily="18" charset="0"/>
                                </a:rPr>
                              </m:ctrlPr>
                            </m:sSubSupPr>
                            <m:e>
                              <m:r>
                                <a:rPr lang="zh-CN" altLang="en-US" sz="2400" i="1">
                                  <a:solidFill>
                                    <a:srgbClr val="FF0000"/>
                                  </a:solidFill>
                                  <a:latin typeface="Cambria Math" panose="02040503050406030204" pitchFamily="18" charset="0"/>
                                </a:rPr>
                                <m:t>𝑥</m:t>
                              </m:r>
                            </m:e>
                            <m:sub>
                              <m:r>
                                <a:rPr lang="zh-CN" altLang="en-US" sz="2400" i="1">
                                  <a:solidFill>
                                    <a:srgbClr val="FF0000"/>
                                  </a:solidFill>
                                  <a:latin typeface="Cambria Math" panose="02040503050406030204" pitchFamily="18" charset="0"/>
                                </a:rPr>
                                <m:t>𝑃</m:t>
                              </m:r>
                            </m:sub>
                            <m:sup>
                              <m:r>
                                <a:rPr lang="zh-CN" altLang="en-US" sz="2400" i="1">
                                  <a:solidFill>
                                    <a:srgbClr val="FF0000"/>
                                  </a:solidFill>
                                  <a:latin typeface="Cambria Math" panose="02040503050406030204" pitchFamily="18" charset="0"/>
                                </a:rPr>
                                <m:t>2</m:t>
                              </m:r>
                            </m:sup>
                          </m:sSubSup>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𝑎</m:t>
                          </m:r>
                        </m:num>
                        <m:den>
                          <m:r>
                            <a:rPr lang="zh-CN" altLang="en-US" sz="2400" i="1">
                              <a:solidFill>
                                <a:srgbClr val="FF0000"/>
                              </a:solidFill>
                              <a:latin typeface="Cambria Math" panose="02040503050406030204" pitchFamily="18" charset="0"/>
                            </a:rPr>
                            <m:t>2</m:t>
                          </m:r>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𝑦</m:t>
                              </m:r>
                            </m:e>
                            <m:sub>
                              <m:r>
                                <a:rPr lang="zh-CN" altLang="en-US" sz="2400" i="1">
                                  <a:solidFill>
                                    <a:srgbClr val="FF0000"/>
                                  </a:solidFill>
                                  <a:latin typeface="Cambria Math" panose="02040503050406030204" pitchFamily="18" charset="0"/>
                                </a:rPr>
                                <m:t>𝑃</m:t>
                              </m:r>
                            </m:sub>
                          </m:sSub>
                        </m:den>
                      </m:f>
                    </m:oMath>
                  </m:oMathPara>
                </a14:m>
                <a:endParaRPr lang="zh-CN" altLang="en-US" sz="2400">
                  <a:solidFill>
                    <a:srgbClr val="FF0000"/>
                  </a:solidFill>
                </a:endParaRPr>
              </a:p>
            </p:txBody>
          </p:sp>
        </mc:Choice>
        <mc:Fallback xmlns="">
          <p:sp>
            <p:nvSpPr>
              <p:cNvPr id="51" name="Object 14"/>
              <p:cNvSpPr txBox="1">
                <a:spLocks noRot="1" noChangeAspect="1" noMove="1" noResize="1" noEditPoints="1" noAdjustHandles="1" noChangeArrowheads="1" noChangeShapeType="1" noTextEdit="1"/>
              </p:cNvSpPr>
              <p:nvPr/>
            </p:nvSpPr>
            <p:spPr bwMode="auto">
              <a:xfrm>
                <a:off x="1119188" y="2314575"/>
                <a:ext cx="3053172" cy="823913"/>
              </a:xfrm>
              <a:prstGeom prst="rect">
                <a:avLst/>
              </a:prstGeom>
              <a:blipFill>
                <a:blip r:embed="rId3"/>
                <a:stretch>
                  <a:fillRect b="-29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Object 15"/>
              <p:cNvSpPr txBox="1"/>
              <p:nvPr/>
            </p:nvSpPr>
            <p:spPr bwMode="auto">
              <a:xfrm>
                <a:off x="5237339" y="4929925"/>
                <a:ext cx="2797405" cy="43656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smtClean="0">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𝑦</m:t>
                          </m:r>
                        </m:e>
                        <m:sub>
                          <m:r>
                            <a:rPr lang="zh-CN" altLang="en-US" sz="2400" i="1">
                              <a:solidFill>
                                <a:srgbClr val="FF0000"/>
                              </a:solidFill>
                              <a:latin typeface="Cambria Math" panose="02040503050406030204" pitchFamily="18" charset="0"/>
                            </a:rPr>
                            <m:t>0</m:t>
                          </m:r>
                        </m:sub>
                      </m:sSub>
                      <m:r>
                        <a:rPr lang="zh-CN" altLang="en-US" sz="2400" i="1">
                          <a:solidFill>
                            <a:srgbClr val="FF0000"/>
                          </a:solidFill>
                          <a:latin typeface="Cambria Math" panose="02040503050406030204" pitchFamily="18" charset="0"/>
                        </a:rPr>
                        <m:t>=</m:t>
                      </m:r>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𝑦</m:t>
                          </m:r>
                        </m:e>
                        <m:sub>
                          <m:r>
                            <a:rPr lang="zh-CN" altLang="en-US" sz="2400" i="1">
                              <a:solidFill>
                                <a:srgbClr val="FF0000"/>
                              </a:solidFill>
                              <a:latin typeface="Cambria Math" panose="02040503050406030204" pitchFamily="18" charset="0"/>
                            </a:rPr>
                            <m:t>𝑝</m:t>
                          </m:r>
                        </m:sub>
                      </m:sSub>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𝜆</m:t>
                      </m:r>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𝑥</m:t>
                          </m:r>
                        </m:e>
                        <m:sub>
                          <m:r>
                            <a:rPr lang="zh-CN" altLang="en-US" sz="2400" i="1">
                              <a:solidFill>
                                <a:srgbClr val="FF0000"/>
                              </a:solidFill>
                              <a:latin typeface="Cambria Math" panose="02040503050406030204" pitchFamily="18" charset="0"/>
                            </a:rPr>
                            <m:t>𝑝</m:t>
                          </m:r>
                        </m:sub>
                      </m:sSub>
                    </m:oMath>
                  </m:oMathPara>
                </a14:m>
                <a:endParaRPr lang="zh-CN" altLang="en-US" sz="2400" dirty="0">
                  <a:solidFill>
                    <a:srgbClr val="FF0000"/>
                  </a:solidFill>
                </a:endParaRPr>
              </a:p>
            </p:txBody>
          </p:sp>
        </mc:Choice>
        <mc:Fallback xmlns="">
          <p:sp>
            <p:nvSpPr>
              <p:cNvPr id="52" name="Object 15"/>
              <p:cNvSpPr txBox="1">
                <a:spLocks noRot="1" noChangeAspect="1" noMove="1" noResize="1" noEditPoints="1" noAdjustHandles="1" noChangeArrowheads="1" noChangeShapeType="1" noTextEdit="1"/>
              </p:cNvSpPr>
              <p:nvPr/>
            </p:nvSpPr>
            <p:spPr bwMode="auto">
              <a:xfrm>
                <a:off x="5237339" y="4929925"/>
                <a:ext cx="2797405" cy="436562"/>
              </a:xfrm>
              <a:prstGeom prst="rect">
                <a:avLst/>
              </a:prstGeom>
              <a:blipFill>
                <a:blip r:embed="rId4"/>
                <a:stretch>
                  <a:fillRect l="-654" b="-197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Object 16"/>
              <p:cNvSpPr txBox="1"/>
              <p:nvPr/>
            </p:nvSpPr>
            <p:spPr bwMode="auto">
              <a:xfrm>
                <a:off x="1171686" y="4456302"/>
                <a:ext cx="2082800" cy="82391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m>
                        <m:mPr>
                          <m:plcHide m:val="on"/>
                          <m:mcs>
                            <m:mc>
                              <m:mcPr>
                                <m:count m:val="1"/>
                                <m:mcJc m:val="center"/>
                              </m:mcPr>
                            </m:mc>
                          </m:mcs>
                          <m:ctrlPr>
                            <a:rPr lang="zh-CN" altLang="en-US" sz="2800" i="1" smtClean="0">
                              <a:solidFill>
                                <a:srgbClr val="FF0000"/>
                              </a:solidFill>
                              <a:latin typeface="Cambria Math" panose="02040503050406030204" pitchFamily="18" charset="0"/>
                            </a:rPr>
                          </m:ctrlPr>
                        </m:mPr>
                        <m:mr>
                          <m:e>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𝑥</m:t>
                                </m:r>
                              </m:e>
                              <m:sub>
                                <m:r>
                                  <a:rPr lang="zh-CN" altLang="en-US" sz="2800" i="1">
                                    <a:solidFill>
                                      <a:srgbClr val="FF0000"/>
                                    </a:solidFill>
                                    <a:latin typeface="Cambria Math" panose="02040503050406030204" pitchFamily="18" charset="0"/>
                                  </a:rPr>
                                  <m:t>𝑅</m:t>
                                </m:r>
                              </m:sub>
                            </m:sSub>
                            <m:r>
                              <a:rPr lang="zh-CN" altLang="en-US" sz="2800" i="1">
                                <a:solidFill>
                                  <a:srgbClr val="FF0000"/>
                                </a:solidFill>
                                <a:latin typeface="Cambria Math" panose="02040503050406030204" pitchFamily="18" charset="0"/>
                              </a:rPr>
                              <m:t>=</m:t>
                            </m:r>
                            <m:sSup>
                              <m:sSupPr>
                                <m:ctrlPr>
                                  <a:rPr lang="zh-CN" altLang="en-US" sz="2800" i="1">
                                    <a:solidFill>
                                      <a:srgbClr val="FF0000"/>
                                    </a:solidFill>
                                    <a:latin typeface="Cambria Math" panose="02040503050406030204" pitchFamily="18" charset="0"/>
                                  </a:rPr>
                                </m:ctrlPr>
                              </m:sSupPr>
                              <m:e>
                                <m:r>
                                  <a:rPr lang="zh-CN" altLang="en-US" sz="2800" i="1">
                                    <a:solidFill>
                                      <a:srgbClr val="FF0000"/>
                                    </a:solidFill>
                                    <a:latin typeface="Cambria Math" panose="02040503050406030204" pitchFamily="18" charset="0"/>
                                  </a:rPr>
                                  <m:t>𝜆</m:t>
                                </m:r>
                              </m:e>
                              <m:sup>
                                <m:r>
                                  <a:rPr lang="zh-CN" altLang="en-US" sz="2800" i="1">
                                    <a:solidFill>
                                      <a:srgbClr val="FF0000"/>
                                    </a:solidFill>
                                    <a:latin typeface="Cambria Math" panose="02040503050406030204" pitchFamily="18" charset="0"/>
                                  </a:rPr>
                                  <m:t>2</m:t>
                                </m:r>
                              </m:sup>
                            </m:sSup>
                            <m:r>
                              <a:rPr lang="zh-CN" altLang="en-US" sz="2800" i="1">
                                <a:solidFill>
                                  <a:srgbClr val="FF0000"/>
                                </a:solidFill>
                                <a:latin typeface="Cambria Math" panose="02040503050406030204" pitchFamily="18" charset="0"/>
                              </a:rPr>
                              <m:t>−2</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𝑥</m:t>
                                </m:r>
                              </m:e>
                              <m:sub>
                                <m:r>
                                  <a:rPr lang="zh-CN" altLang="en-US" sz="2800" i="1">
                                    <a:solidFill>
                                      <a:srgbClr val="FF0000"/>
                                    </a:solidFill>
                                    <a:latin typeface="Cambria Math" panose="02040503050406030204" pitchFamily="18" charset="0"/>
                                  </a:rPr>
                                  <m:t>𝑃</m:t>
                                </m:r>
                              </m:sub>
                            </m:sSub>
                          </m:e>
                        </m:mr>
                        <m:mr>
                          <m:e>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𝑅</m:t>
                                </m:r>
                              </m:sub>
                            </m:sSub>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𝜆</m:t>
                            </m:r>
                            <m:r>
                              <a:rPr lang="zh-CN" altLang="en-US" sz="2800" i="1">
                                <a:solidFill>
                                  <a:srgbClr val="FF0000"/>
                                </a:solidFill>
                                <a:latin typeface="Cambria Math" panose="02040503050406030204" pitchFamily="18" charset="0"/>
                              </a:rPr>
                              <m:t>⋅</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𝑥</m:t>
                                </m:r>
                              </m:e>
                              <m:sub>
                                <m:r>
                                  <a:rPr lang="zh-CN" altLang="en-US" sz="2800" i="1">
                                    <a:solidFill>
                                      <a:srgbClr val="FF0000"/>
                                    </a:solidFill>
                                    <a:latin typeface="Cambria Math" panose="02040503050406030204" pitchFamily="18" charset="0"/>
                                  </a:rPr>
                                  <m:t>𝑅</m:t>
                                </m:r>
                              </m:sub>
                            </m:sSub>
                            <m:r>
                              <a:rPr lang="zh-CN" altLang="en-US" sz="2800" i="1">
                                <a:solidFill>
                                  <a:srgbClr val="FF0000"/>
                                </a:solidFill>
                                <a:latin typeface="Cambria Math" panose="02040503050406030204" pitchFamily="18" charset="0"/>
                              </a:rPr>
                              <m:t>+</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0</m:t>
                                </m:r>
                              </m:sub>
                            </m:sSub>
                            <m:r>
                              <a:rPr lang="zh-CN" altLang="en-US" sz="2800" i="1">
                                <a:solidFill>
                                  <a:srgbClr val="FF0000"/>
                                </a:solidFill>
                                <a:latin typeface="Cambria Math" panose="02040503050406030204" pitchFamily="18" charset="0"/>
                              </a:rPr>
                              <m:t>)</m:t>
                            </m:r>
                          </m:e>
                        </m:mr>
                      </m:m>
                    </m:oMath>
                  </m:oMathPara>
                </a14:m>
                <a:endParaRPr lang="zh-CN" altLang="en-US" sz="2800" dirty="0">
                  <a:solidFill>
                    <a:srgbClr val="FF0000"/>
                  </a:solidFill>
                </a:endParaRPr>
              </a:p>
            </p:txBody>
          </p:sp>
        </mc:Choice>
        <mc:Fallback xmlns="">
          <p:sp>
            <p:nvSpPr>
              <p:cNvPr id="53" name="Object 16"/>
              <p:cNvSpPr txBox="1">
                <a:spLocks noRot="1" noChangeAspect="1" noMove="1" noResize="1" noEditPoints="1" noAdjustHandles="1" noChangeArrowheads="1" noChangeShapeType="1" noTextEdit="1"/>
              </p:cNvSpPr>
              <p:nvPr/>
            </p:nvSpPr>
            <p:spPr bwMode="auto">
              <a:xfrm>
                <a:off x="1171686" y="4456302"/>
                <a:ext cx="2082800" cy="823912"/>
              </a:xfrm>
              <a:prstGeom prst="rect">
                <a:avLst/>
              </a:prstGeom>
              <a:blipFill>
                <a:blip r:embed="rId5"/>
                <a:stretch>
                  <a:fillRect r="-47368" b="-1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B050CEB-19BE-4742-4C52-5D94D87CD25D}"/>
                  </a:ext>
                </a:extLst>
              </p:cNvPr>
              <p:cNvSpPr txBox="1"/>
              <p:nvPr/>
            </p:nvSpPr>
            <p:spPr>
              <a:xfrm>
                <a:off x="1307508" y="5631242"/>
                <a:ext cx="6096000" cy="461665"/>
              </a:xfrm>
              <a:prstGeom prst="rect">
                <a:avLst/>
              </a:prstGeom>
              <a:noFill/>
            </p:spPr>
            <p:txBody>
              <a:bodyPr wrap="square">
                <a:spAutoFit/>
              </a:bodyPr>
              <a:lstStyle/>
              <a:p>
                <a:r>
                  <a:rPr lang="zh-CN" altLang="en-US" sz="2400" dirty="0">
                    <a:solidFill>
                      <a:srgbClr val="FF0000"/>
                    </a:solidFill>
                  </a:rPr>
                  <a:t>也可以写作： </a:t>
                </a:r>
                <a14:m>
                  <m:oMath xmlns:m="http://schemas.openxmlformats.org/officeDocument/2006/math">
                    <m:sSub>
                      <m:sSubPr>
                        <m:ctrlPr>
                          <a:rPr lang="zh-CN" altLang="en-US" sz="2400" i="1" smtClean="0">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𝑦</m:t>
                        </m:r>
                      </m:e>
                      <m:sub>
                        <m:r>
                          <a:rPr lang="zh-CN" altLang="en-US" sz="2400" i="1">
                            <a:solidFill>
                              <a:srgbClr val="FF0000"/>
                            </a:solidFill>
                            <a:latin typeface="Cambria Math" panose="02040503050406030204" pitchFamily="18" charset="0"/>
                          </a:rPr>
                          <m:t>𝑅</m:t>
                        </m:r>
                      </m:sub>
                    </m:sSub>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𝜆</m:t>
                    </m:r>
                    <m:d>
                      <m:dPr>
                        <m:ctrlPr>
                          <a:rPr lang="zh-CN" altLang="en-US" sz="2400" i="1">
                            <a:solidFill>
                              <a:srgbClr val="FF0000"/>
                            </a:solidFill>
                            <a:latin typeface="Cambria Math" panose="02040503050406030204" pitchFamily="18" charset="0"/>
                          </a:rPr>
                        </m:ctrlPr>
                      </m:dPr>
                      <m:e>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𝑥</m:t>
                            </m:r>
                          </m:e>
                          <m:sub>
                            <m:r>
                              <a:rPr lang="zh-CN" altLang="en-US" sz="2400" i="1">
                                <a:solidFill>
                                  <a:srgbClr val="FF0000"/>
                                </a:solidFill>
                                <a:latin typeface="Cambria Math" panose="02040503050406030204" pitchFamily="18" charset="0"/>
                              </a:rPr>
                              <m:t>𝑃</m:t>
                            </m:r>
                          </m:sub>
                        </m:sSub>
                        <m:r>
                          <a:rPr lang="zh-CN" altLang="en-US" sz="2400" i="1">
                            <a:solidFill>
                              <a:srgbClr val="FF0000"/>
                            </a:solidFill>
                            <a:latin typeface="Cambria Math" panose="02040503050406030204" pitchFamily="18" charset="0"/>
                          </a:rPr>
                          <m:t>−</m:t>
                        </m:r>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𝑥</m:t>
                            </m:r>
                          </m:e>
                          <m:sub>
                            <m:r>
                              <a:rPr lang="zh-CN" altLang="en-US" sz="2400" i="1">
                                <a:solidFill>
                                  <a:srgbClr val="FF0000"/>
                                </a:solidFill>
                                <a:latin typeface="Cambria Math" panose="02040503050406030204" pitchFamily="18" charset="0"/>
                              </a:rPr>
                              <m:t>𝑅</m:t>
                            </m:r>
                          </m:sub>
                        </m:sSub>
                      </m:e>
                    </m:d>
                    <m:r>
                      <a:rPr lang="zh-CN" altLang="en-US" sz="2400" i="1">
                        <a:solidFill>
                          <a:srgbClr val="FF0000"/>
                        </a:solidFill>
                        <a:latin typeface="Cambria Math" panose="02040503050406030204" pitchFamily="18" charset="0"/>
                      </a:rPr>
                      <m:t>−</m:t>
                    </m:r>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𝑦</m:t>
                        </m:r>
                      </m:e>
                      <m:sub>
                        <m:r>
                          <a:rPr lang="zh-CN" altLang="en-US" sz="2400" i="1">
                            <a:solidFill>
                              <a:srgbClr val="FF0000"/>
                            </a:solidFill>
                            <a:latin typeface="Cambria Math" panose="02040503050406030204" pitchFamily="18" charset="0"/>
                          </a:rPr>
                          <m:t>𝑃</m:t>
                        </m:r>
                      </m:sub>
                    </m:sSub>
                    <m:r>
                      <a:rPr lang="en-US" altLang="zh-CN" sz="2400" b="0" i="1" smtClean="0">
                        <a:solidFill>
                          <a:srgbClr val="FF0000"/>
                        </a:solidFill>
                        <a:latin typeface="Cambria Math" panose="02040503050406030204" pitchFamily="18" charset="0"/>
                      </a:rPr>
                      <m:t>  </m:t>
                    </m:r>
                    <m:r>
                      <m:rPr>
                        <m:sty m:val="p"/>
                      </m:rPr>
                      <a:rPr lang="zh-CN" altLang="en-US" sz="2400" i="1">
                        <a:solidFill>
                          <a:srgbClr val="FF0000"/>
                        </a:solidFill>
                        <a:latin typeface="Cambria Math" panose="02040503050406030204" pitchFamily="18" charset="0"/>
                      </a:rPr>
                      <m:t>mod</m:t>
                    </m:r>
                    <m:r>
                      <a:rPr lang="zh-CN" altLang="en-US" sz="2400" i="1">
                        <a:solidFill>
                          <a:srgbClr val="FF0000"/>
                        </a:solidFill>
                        <a:latin typeface="Cambria Math" panose="02040503050406030204" pitchFamily="18" charset="0"/>
                      </a:rPr>
                      <m:t>𝑝</m:t>
                    </m:r>
                  </m:oMath>
                </a14:m>
                <a:endParaRPr lang="zh-CN" altLang="en-US" sz="2400" dirty="0">
                  <a:solidFill>
                    <a:srgbClr val="FF0000"/>
                  </a:solidFill>
                </a:endParaRPr>
              </a:p>
            </p:txBody>
          </p:sp>
        </mc:Choice>
        <mc:Fallback xmlns="">
          <p:sp>
            <p:nvSpPr>
              <p:cNvPr id="6" name="文本框 5">
                <a:extLst>
                  <a:ext uri="{FF2B5EF4-FFF2-40B4-BE49-F238E27FC236}">
                    <a16:creationId xmlns:a16="http://schemas.microsoft.com/office/drawing/2014/main" id="{1B050CEB-19BE-4742-4C52-5D94D87CD25D}"/>
                  </a:ext>
                </a:extLst>
              </p:cNvPr>
              <p:cNvSpPr txBox="1">
                <a:spLocks noRot="1" noChangeAspect="1" noMove="1" noResize="1" noEditPoints="1" noAdjustHandles="1" noChangeArrowheads="1" noChangeShapeType="1" noTextEdit="1"/>
              </p:cNvSpPr>
              <p:nvPr/>
            </p:nvSpPr>
            <p:spPr>
              <a:xfrm>
                <a:off x="1307508" y="5631242"/>
                <a:ext cx="6096000" cy="461665"/>
              </a:xfrm>
              <a:prstGeom prst="rect">
                <a:avLst/>
              </a:prstGeom>
              <a:blipFill>
                <a:blip r:embed="rId6"/>
                <a:stretch>
                  <a:fillRect l="-1500" t="-9333" b="-32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282824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r>
              <a:rPr lang="zh-CN" altLang="en-US" dirty="0"/>
              <a:t>（数学）</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00644" y="1353787"/>
                <a:ext cx="10759044" cy="5139087"/>
              </a:xfrm>
            </p:spPr>
            <p:txBody>
              <a:bodyPr>
                <a:normAutofit/>
              </a:bodyPr>
              <a:lstStyle/>
              <a:p>
                <a:r>
                  <a:rPr lang="zh-CN" altLang="en-US" dirty="0"/>
                  <a:t>标量乘运算</a:t>
                </a:r>
              </a:p>
              <a:p>
                <a:pPr lvl="1"/>
                <a:r>
                  <a:rPr lang="en-US" altLang="zh-CN" dirty="0"/>
                  <a:t>P</a:t>
                </a:r>
                <a:r>
                  <a:rPr lang="en-US" altLang="zh-CN" baseline="30000" dirty="0"/>
                  <a:t>4</a:t>
                </a:r>
                <a:r>
                  <a:rPr lang="en-US" altLang="zh-CN" dirty="0"/>
                  <a:t> = 4P = 2(2P)</a:t>
                </a:r>
                <a:r>
                  <a:rPr lang="zh-CN" altLang="en-US" dirty="0"/>
                  <a:t>运算</a:t>
                </a:r>
              </a:p>
              <a:p>
                <a:pPr lvl="1"/>
                <a14:m>
                  <m:oMath xmlns:m="http://schemas.openxmlformats.org/officeDocument/2006/math">
                    <m:r>
                      <a:rPr lang="zh-CN" altLang="en-US" i="1">
                        <a:latin typeface="Cambria Math" panose="02040503050406030204" pitchFamily="18" charset="0"/>
                      </a:rPr>
                      <m:t>26</m:t>
                    </m:r>
                    <m:r>
                      <a:rPr lang="zh-CN" altLang="en-US" i="1">
                        <a:latin typeface="Cambria Math" panose="02040503050406030204" pitchFamily="18" charset="0"/>
                      </a:rPr>
                      <m:t>𝑃</m:t>
                    </m:r>
                    <m:r>
                      <a:rPr lang="zh-CN" altLang="en-US" i="1">
                        <a:latin typeface="Cambria Math" panose="02040503050406030204" pitchFamily="18" charset="0"/>
                      </a:rPr>
                      <m:t> = 16</m:t>
                    </m:r>
                    <m:r>
                      <a:rPr lang="zh-CN" altLang="en-US" i="1">
                        <a:latin typeface="Cambria Math" panose="02040503050406030204" pitchFamily="18" charset="0"/>
                      </a:rPr>
                      <m:t>𝑃</m:t>
                    </m:r>
                    <m:r>
                      <a:rPr lang="zh-CN" altLang="en-US" i="1">
                        <a:latin typeface="Cambria Math" panose="02040503050406030204" pitchFamily="18" charset="0"/>
                      </a:rPr>
                      <m:t> + 8</m:t>
                    </m:r>
                    <m:r>
                      <a:rPr lang="zh-CN" altLang="en-US" i="1">
                        <a:latin typeface="Cambria Math" panose="02040503050406030204" pitchFamily="18" charset="0"/>
                      </a:rPr>
                      <m:t>𝑃</m:t>
                    </m:r>
                    <m:r>
                      <a:rPr lang="zh-CN" altLang="en-US" i="1">
                        <a:latin typeface="Cambria Math" panose="02040503050406030204" pitchFamily="18" charset="0"/>
                      </a:rPr>
                      <m:t> + 2</m:t>
                    </m:r>
                    <m:r>
                      <a:rPr lang="zh-CN" altLang="en-US" i="1">
                        <a:latin typeface="Cambria Math" panose="02040503050406030204" pitchFamily="18" charset="0"/>
                      </a:rPr>
                      <m:t>𝑃</m:t>
                    </m:r>
                  </m:oMath>
                </a14:m>
                <a:endParaRPr lang="zh-CN" altLang="en-US" dirty="0"/>
              </a:p>
              <a:p>
                <a:endParaRPr lang="en-US" altLang="zh-CN" dirty="0"/>
              </a:p>
              <a:p>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00644" y="1353787"/>
                <a:ext cx="10759044" cy="5139087"/>
              </a:xfrm>
              <a:blipFill>
                <a:blip r:embed="rId2"/>
                <a:stretch>
                  <a:fillRect l="-1020" t="-118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8D4D1E41-7A09-AB4A-A4E1-09765ADA2698}" type="slidenum">
              <a:rPr kumimoji="1" lang="zh-CN" altLang="en-US" smtClean="0"/>
              <a:pPr/>
              <a:t>72</a:t>
            </a:fld>
            <a:endParaRPr kumimoji="1" lang="zh-CN" altLang="en-US" dirty="0"/>
          </a:p>
        </p:txBody>
      </p:sp>
      <p:grpSp>
        <p:nvGrpSpPr>
          <p:cNvPr id="18" name="Group 19"/>
          <p:cNvGrpSpPr>
            <a:grpSpLocks/>
          </p:cNvGrpSpPr>
          <p:nvPr/>
        </p:nvGrpSpPr>
        <p:grpSpPr bwMode="auto">
          <a:xfrm>
            <a:off x="4832113" y="1684162"/>
            <a:ext cx="5105400" cy="4478338"/>
            <a:chOff x="1920" y="912"/>
            <a:chExt cx="3401" cy="3061"/>
          </a:xfrm>
        </p:grpSpPr>
        <p:pic>
          <p:nvPicPr>
            <p:cNvPr id="19" name="Picture 5"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0" y="912"/>
              <a:ext cx="3401" cy="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Line 6"/>
            <p:cNvSpPr>
              <a:spLocks noChangeShapeType="1"/>
            </p:cNvSpPr>
            <p:nvPr/>
          </p:nvSpPr>
          <p:spPr bwMode="auto">
            <a:xfrm>
              <a:off x="2304" y="1872"/>
              <a:ext cx="2880" cy="143"/>
            </a:xfrm>
            <a:prstGeom prst="line">
              <a:avLst/>
            </a:prstGeom>
            <a:noFill/>
            <a:ln w="28575">
              <a:solidFill>
                <a:srgbClr val="0000FF"/>
              </a:solidFill>
              <a:round/>
              <a:headEnd/>
              <a:tailEnd/>
            </a:ln>
          </p:spPr>
          <p:txBody>
            <a:bodyPr tIns="108000" bIns="108000"/>
            <a:lstStyle/>
            <a:p>
              <a:pPr>
                <a:defRPr/>
              </a:pPr>
              <a:endParaRPr lang="zh-CN" altLang="en-US">
                <a:effectLst>
                  <a:outerShdw blurRad="38100" dist="38100" dir="2700000" algn="tl">
                    <a:srgbClr val="000000">
                      <a:alpha val="43137"/>
                    </a:srgbClr>
                  </a:outerShdw>
                </a:effectLst>
              </a:endParaRPr>
            </a:p>
          </p:txBody>
        </p:sp>
        <p:sp>
          <p:nvSpPr>
            <p:cNvPr id="21" name="Oval 7"/>
            <p:cNvSpPr>
              <a:spLocks noChangeArrowheads="1"/>
            </p:cNvSpPr>
            <p:nvPr/>
          </p:nvSpPr>
          <p:spPr bwMode="auto">
            <a:xfrm>
              <a:off x="2817" y="1856"/>
              <a:ext cx="96" cy="96"/>
            </a:xfrm>
            <a:prstGeom prst="ellipse">
              <a:avLst/>
            </a:prstGeom>
            <a:solidFill>
              <a:srgbClr val="0000FF"/>
            </a:solidFill>
            <a:ln>
              <a:noFill/>
            </a:ln>
            <a:extLst>
              <a:ext uri="{91240B29-F687-4F45-9708-019B960494DF}">
                <a14:hiddenLine xmlns:a14="http://schemas.microsoft.com/office/drawing/2010/main" w="12700">
                  <a:solidFill>
                    <a:srgbClr val="000000"/>
                  </a:solidFill>
                  <a:round/>
                  <a:headEnd/>
                  <a:tailEnd/>
                </a14:hiddenLine>
              </a:ext>
            </a:extLst>
          </p:spPr>
          <p:txBody>
            <a:bodyPr wrap="none" tIns="108000" bIns="108000"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30000"/>
                </a:spcBef>
              </a:pPr>
              <a:endParaRPr lang="de-CH" altLang="zh-CN" sz="4000" b="0">
                <a:solidFill>
                  <a:srgbClr val="FF0000"/>
                </a:solidFill>
                <a:latin typeface="Tahoma" panose="020B0604030504040204" pitchFamily="34" charset="0"/>
              </a:endParaRPr>
            </a:p>
          </p:txBody>
        </p:sp>
        <p:sp>
          <p:nvSpPr>
            <p:cNvPr id="22" name="Line 8"/>
            <p:cNvSpPr>
              <a:spLocks noChangeShapeType="1"/>
            </p:cNvSpPr>
            <p:nvPr/>
          </p:nvSpPr>
          <p:spPr bwMode="auto">
            <a:xfrm>
              <a:off x="2872" y="1264"/>
              <a:ext cx="0" cy="2400"/>
            </a:xfrm>
            <a:prstGeom prst="line">
              <a:avLst/>
            </a:prstGeom>
            <a:noFill/>
            <a:ln w="28575">
              <a:solidFill>
                <a:srgbClr val="0000FF"/>
              </a:solidFill>
              <a:round/>
              <a:headEnd/>
              <a:tailEnd/>
            </a:ln>
          </p:spPr>
          <p:txBody>
            <a:bodyPr tIns="108000" bIns="108000"/>
            <a:lstStyle/>
            <a:p>
              <a:pPr>
                <a:defRPr/>
              </a:pPr>
              <a:endParaRPr lang="zh-CN" altLang="en-US">
                <a:effectLst>
                  <a:outerShdw blurRad="38100" dist="38100" dir="2700000" algn="tl">
                    <a:srgbClr val="000000">
                      <a:alpha val="43137"/>
                    </a:srgbClr>
                  </a:outerShdw>
                </a:effectLst>
              </a:endParaRPr>
            </a:p>
          </p:txBody>
        </p:sp>
        <p:sp>
          <p:nvSpPr>
            <p:cNvPr id="23" name="Oval 9"/>
            <p:cNvSpPr>
              <a:spLocks noChangeArrowheads="1"/>
            </p:cNvSpPr>
            <p:nvPr/>
          </p:nvSpPr>
          <p:spPr bwMode="auto">
            <a:xfrm>
              <a:off x="2820" y="2928"/>
              <a:ext cx="96" cy="96"/>
            </a:xfrm>
            <a:prstGeom prst="ellipse">
              <a:avLst/>
            </a:prstGeom>
            <a:solidFill>
              <a:srgbClr val="FF0000"/>
            </a:solidFill>
            <a:ln>
              <a:noFill/>
            </a:ln>
            <a:extLst>
              <a:ext uri="{91240B29-F687-4F45-9708-019B960494DF}">
                <a14:hiddenLine xmlns:a14="http://schemas.microsoft.com/office/drawing/2010/main" w="12700">
                  <a:solidFill>
                    <a:srgbClr val="000000"/>
                  </a:solidFill>
                  <a:round/>
                  <a:headEnd/>
                  <a:tailEnd/>
                </a14:hiddenLine>
              </a:ext>
            </a:extLst>
          </p:spPr>
          <p:txBody>
            <a:bodyPr wrap="none" tIns="108000" bIns="108000"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30000"/>
                </a:spcBef>
              </a:pPr>
              <a:endParaRPr lang="de-CH" altLang="zh-CN" sz="4000" b="0">
                <a:solidFill>
                  <a:srgbClr val="FF0000"/>
                </a:solidFill>
                <a:latin typeface="Tahoma" panose="020B0604030504040204" pitchFamily="34" charset="0"/>
              </a:endParaRPr>
            </a:p>
          </p:txBody>
        </p:sp>
        <p:sp>
          <p:nvSpPr>
            <p:cNvPr id="24" name="Line 10"/>
            <p:cNvSpPr>
              <a:spLocks noChangeShapeType="1"/>
            </p:cNvSpPr>
            <p:nvPr/>
          </p:nvSpPr>
          <p:spPr bwMode="auto">
            <a:xfrm>
              <a:off x="4828" y="1240"/>
              <a:ext cx="0" cy="2400"/>
            </a:xfrm>
            <a:prstGeom prst="line">
              <a:avLst/>
            </a:prstGeom>
            <a:noFill/>
            <a:ln w="28575">
              <a:solidFill>
                <a:srgbClr val="339933"/>
              </a:solidFill>
              <a:round/>
              <a:headEnd/>
              <a:tailEnd/>
            </a:ln>
          </p:spPr>
          <p:txBody>
            <a:bodyPr tIns="108000" bIns="108000"/>
            <a:lstStyle/>
            <a:p>
              <a:pPr>
                <a:defRPr/>
              </a:pPr>
              <a:endParaRPr lang="zh-CN" altLang="en-US">
                <a:effectLst>
                  <a:outerShdw blurRad="38100" dist="38100" dir="2700000" algn="tl">
                    <a:srgbClr val="000000">
                      <a:alpha val="43137"/>
                    </a:srgbClr>
                  </a:outerShdw>
                </a:effectLst>
              </a:endParaRPr>
            </a:p>
          </p:txBody>
        </p:sp>
        <p:sp>
          <p:nvSpPr>
            <p:cNvPr id="25" name="Text Box 11"/>
            <p:cNvSpPr txBox="1">
              <a:spLocks noChangeArrowheads="1"/>
            </p:cNvSpPr>
            <p:nvPr/>
          </p:nvSpPr>
          <p:spPr bwMode="auto">
            <a:xfrm>
              <a:off x="4528" y="1704"/>
              <a:ext cx="385"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spcBef>
                  <a:spcPct val="50000"/>
                </a:spcBef>
                <a:buClr>
                  <a:schemeClr val="accent2"/>
                </a:buClr>
                <a:buSzPct val="110000"/>
              </a:pPr>
              <a:r>
                <a:rPr lang="de-CH" altLang="zh-CN" b="0" i="1">
                  <a:solidFill>
                    <a:schemeClr val="tx1"/>
                  </a:solidFill>
                </a:rPr>
                <a:t>P</a:t>
              </a:r>
              <a:r>
                <a:rPr lang="de-CH" altLang="zh-CN" b="0" i="1" baseline="30000">
                  <a:solidFill>
                    <a:schemeClr val="tx1"/>
                  </a:solidFill>
                </a:rPr>
                <a:t>2</a:t>
              </a:r>
            </a:p>
          </p:txBody>
        </p:sp>
        <p:sp>
          <p:nvSpPr>
            <p:cNvPr id="26" name="Line 12"/>
            <p:cNvSpPr>
              <a:spLocks noChangeShapeType="1"/>
            </p:cNvSpPr>
            <p:nvPr/>
          </p:nvSpPr>
          <p:spPr bwMode="auto">
            <a:xfrm>
              <a:off x="2400" y="1296"/>
              <a:ext cx="2832" cy="1824"/>
            </a:xfrm>
            <a:prstGeom prst="line">
              <a:avLst/>
            </a:prstGeom>
            <a:noFill/>
            <a:ln w="28575">
              <a:solidFill>
                <a:srgbClr val="339933"/>
              </a:solidFill>
              <a:round/>
              <a:headEnd/>
              <a:tailEnd/>
            </a:ln>
          </p:spPr>
          <p:txBody>
            <a:bodyPr tIns="108000" bIns="108000"/>
            <a:lstStyle/>
            <a:p>
              <a:pPr>
                <a:defRPr/>
              </a:pPr>
              <a:endParaRPr lang="zh-CN" altLang="en-US">
                <a:effectLst>
                  <a:outerShdw blurRad="38100" dist="38100" dir="2700000" algn="tl">
                    <a:srgbClr val="000000">
                      <a:alpha val="43137"/>
                    </a:srgbClr>
                  </a:outerShdw>
                </a:effectLst>
              </a:endParaRPr>
            </a:p>
          </p:txBody>
        </p:sp>
        <p:sp>
          <p:nvSpPr>
            <p:cNvPr id="27" name="Oval 13"/>
            <p:cNvSpPr>
              <a:spLocks noChangeArrowheads="1"/>
            </p:cNvSpPr>
            <p:nvPr/>
          </p:nvSpPr>
          <p:spPr bwMode="auto">
            <a:xfrm>
              <a:off x="4785" y="2824"/>
              <a:ext cx="96" cy="96"/>
            </a:xfrm>
            <a:prstGeom prst="ellipse">
              <a:avLst/>
            </a:prstGeom>
            <a:solidFill>
              <a:srgbClr val="339933"/>
            </a:solidFill>
            <a:ln>
              <a:noFill/>
            </a:ln>
            <a:extLst>
              <a:ext uri="{91240B29-F687-4F45-9708-019B960494DF}">
                <a14:hiddenLine xmlns:a14="http://schemas.microsoft.com/office/drawing/2010/main" w="12700">
                  <a:solidFill>
                    <a:srgbClr val="000000"/>
                  </a:solidFill>
                  <a:round/>
                  <a:headEnd/>
                  <a:tailEnd/>
                </a14:hiddenLine>
              </a:ext>
            </a:extLst>
          </p:spPr>
          <p:txBody>
            <a:bodyPr wrap="none" tIns="108000" bIns="108000"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30000"/>
                </a:spcBef>
              </a:pPr>
              <a:endParaRPr lang="de-CH" altLang="zh-CN" sz="4000" b="0">
                <a:solidFill>
                  <a:srgbClr val="FF0000"/>
                </a:solidFill>
                <a:latin typeface="Tahoma" panose="020B0604030504040204" pitchFamily="34" charset="0"/>
              </a:endParaRPr>
            </a:p>
          </p:txBody>
        </p:sp>
        <p:sp>
          <p:nvSpPr>
            <p:cNvPr id="28" name="Text Box 14"/>
            <p:cNvSpPr txBox="1">
              <a:spLocks noChangeArrowheads="1"/>
            </p:cNvSpPr>
            <p:nvPr/>
          </p:nvSpPr>
          <p:spPr bwMode="auto">
            <a:xfrm>
              <a:off x="4659" y="2856"/>
              <a:ext cx="123"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108000" bIns="10800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30000"/>
                </a:spcBef>
              </a:pPr>
              <a:endParaRPr lang="de-CH" altLang="zh-CN" b="0" i="1">
                <a:solidFill>
                  <a:schemeClr val="tx1"/>
                </a:solidFill>
              </a:endParaRPr>
            </a:p>
          </p:txBody>
        </p:sp>
        <p:sp>
          <p:nvSpPr>
            <p:cNvPr id="29" name="Oval 15"/>
            <p:cNvSpPr>
              <a:spLocks noChangeArrowheads="1"/>
            </p:cNvSpPr>
            <p:nvPr/>
          </p:nvSpPr>
          <p:spPr bwMode="auto">
            <a:xfrm>
              <a:off x="3344" y="1888"/>
              <a:ext cx="96" cy="96"/>
            </a:xfrm>
            <a:prstGeom prst="ellipse">
              <a:avLst/>
            </a:prstGeom>
            <a:solidFill>
              <a:srgbClr val="FF0000"/>
            </a:solidFill>
            <a:ln>
              <a:noFill/>
            </a:ln>
            <a:extLst>
              <a:ext uri="{91240B29-F687-4F45-9708-019B960494DF}">
                <a14:hiddenLine xmlns:a14="http://schemas.microsoft.com/office/drawing/2010/main" w="12700">
                  <a:solidFill>
                    <a:srgbClr val="000000"/>
                  </a:solidFill>
                  <a:round/>
                  <a:headEnd/>
                  <a:tailEnd/>
                </a14:hiddenLine>
              </a:ext>
            </a:extLst>
          </p:spPr>
          <p:txBody>
            <a:bodyPr wrap="none" tIns="108000" bIns="108000"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endParaRPr lang="zh-CN" altLang="zh-CN" b="0">
                <a:solidFill>
                  <a:schemeClr val="tx1"/>
                </a:solidFill>
              </a:endParaRPr>
            </a:p>
          </p:txBody>
        </p:sp>
        <p:sp>
          <p:nvSpPr>
            <p:cNvPr id="30" name="Text Box 16"/>
            <p:cNvSpPr txBox="1">
              <a:spLocks noChangeArrowheads="1"/>
            </p:cNvSpPr>
            <p:nvPr/>
          </p:nvSpPr>
          <p:spPr bwMode="auto">
            <a:xfrm>
              <a:off x="3289" y="1568"/>
              <a:ext cx="247"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tIns="108000" bIns="10800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30000"/>
                </a:spcBef>
              </a:pPr>
              <a:r>
                <a:rPr lang="de-CH" altLang="zh-CN" b="0" i="1">
                  <a:solidFill>
                    <a:schemeClr val="tx1"/>
                  </a:solidFill>
                </a:rPr>
                <a:t>P</a:t>
              </a:r>
            </a:p>
          </p:txBody>
        </p:sp>
        <p:sp>
          <p:nvSpPr>
            <p:cNvPr id="31" name="Text Box 18"/>
            <p:cNvSpPr txBox="1">
              <a:spLocks noChangeArrowheads="1"/>
            </p:cNvSpPr>
            <p:nvPr/>
          </p:nvSpPr>
          <p:spPr bwMode="auto">
            <a:xfrm>
              <a:off x="2544" y="2928"/>
              <a:ext cx="385"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l" eaLnBrk="1" hangingPunct="1">
                <a:spcBef>
                  <a:spcPct val="50000"/>
                </a:spcBef>
                <a:buClr>
                  <a:schemeClr val="accent2"/>
                </a:buClr>
                <a:buSzPct val="110000"/>
              </a:pPr>
              <a:r>
                <a:rPr lang="de-CH" altLang="zh-CN" b="0" i="1">
                  <a:solidFill>
                    <a:schemeClr val="tx1"/>
                  </a:solidFill>
                </a:rPr>
                <a:t>P</a:t>
              </a:r>
              <a:r>
                <a:rPr lang="de-CH" altLang="zh-CN" b="0" i="1" baseline="30000">
                  <a:solidFill>
                    <a:schemeClr val="tx1"/>
                  </a:solidFill>
                </a:rPr>
                <a:t>3</a:t>
              </a:r>
            </a:p>
          </p:txBody>
        </p:sp>
      </p:grpSp>
    </p:spTree>
    <p:extLst>
      <p:ext uri="{BB962C8B-B14F-4D97-AF65-F5344CB8AC3E}">
        <p14:creationId xmlns:p14="http://schemas.microsoft.com/office/powerpoint/2010/main" val="7690310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r>
              <a:rPr lang="zh-CN" altLang="en-US" dirty="0"/>
              <a:t>（数学）</a:t>
            </a:r>
          </a:p>
        </p:txBody>
      </p:sp>
      <p:sp>
        <p:nvSpPr>
          <p:cNvPr id="3" name="内容占位符 2"/>
          <p:cNvSpPr>
            <a:spLocks noGrp="1"/>
          </p:cNvSpPr>
          <p:nvPr>
            <p:ph idx="1"/>
          </p:nvPr>
        </p:nvSpPr>
        <p:spPr>
          <a:xfrm>
            <a:off x="700644" y="1353787"/>
            <a:ext cx="10759044" cy="5139087"/>
          </a:xfrm>
        </p:spPr>
        <p:txBody>
          <a:bodyPr>
            <a:normAutofit/>
          </a:bodyPr>
          <a:lstStyle/>
          <a:p>
            <a:r>
              <a:rPr lang="zh-CN" altLang="en-US" dirty="0"/>
              <a:t>定义幺元和逆元</a:t>
            </a:r>
            <a:endParaRPr lang="en-US" altLang="zh-CN" dirty="0"/>
          </a:p>
          <a:p>
            <a:pPr lvl="1"/>
            <a:r>
              <a:rPr lang="zh-CN" altLang="en-US" dirty="0"/>
              <a:t>幺元：理解为无穷远点</a:t>
            </a:r>
          </a:p>
          <a:p>
            <a:pPr lvl="2"/>
            <a:r>
              <a:rPr lang="zh-CN" altLang="en-US" dirty="0"/>
              <a:t> </a:t>
            </a:r>
            <a:r>
              <a:rPr lang="en-US" altLang="zh-CN" dirty="0"/>
              <a:t>P + O = P</a:t>
            </a:r>
          </a:p>
          <a:p>
            <a:pPr lvl="1"/>
            <a:r>
              <a:rPr lang="zh-CN" altLang="es-ES" dirty="0"/>
              <a:t>逆元：</a:t>
            </a:r>
            <a:r>
              <a:rPr lang="en-US" altLang="zh-CN" dirty="0"/>
              <a:t>x</a:t>
            </a:r>
            <a:r>
              <a:rPr lang="zh-CN" altLang="en-US" dirty="0"/>
              <a:t>轴对称点</a:t>
            </a:r>
            <a:endParaRPr lang="zh-CN" altLang="es-ES" dirty="0"/>
          </a:p>
          <a:p>
            <a:pPr lvl="2"/>
            <a:r>
              <a:rPr lang="zh-CN" altLang="es-ES" dirty="0"/>
              <a:t> </a:t>
            </a:r>
            <a:r>
              <a:rPr lang="es-ES" altLang="zh-CN" dirty="0"/>
              <a:t>P + (-P) = O</a:t>
            </a:r>
          </a:p>
          <a:p>
            <a:pPr lvl="2"/>
            <a:r>
              <a:rPr lang="es-ES" altLang="zh-CN" dirty="0"/>
              <a:t> -P (x, y) = P(x,-y)</a:t>
            </a:r>
          </a:p>
          <a:p>
            <a:endParaRPr lang="zh-CN" altLang="en-US" dirty="0"/>
          </a:p>
          <a:p>
            <a:endParaRPr lang="zh-CN" altLang="en-US"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73</a:t>
            </a:fld>
            <a:endParaRPr kumimoji="1" lang="zh-CN" altLang="en-US" dirty="0"/>
          </a:p>
        </p:txBody>
      </p:sp>
      <p:pic>
        <p:nvPicPr>
          <p:cNvPr id="22" name="Picture 7"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6432" y="1752600"/>
            <a:ext cx="494188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0744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r>
              <a:rPr lang="zh-CN" altLang="en-US" dirty="0"/>
              <a:t>（数学）</a:t>
            </a:r>
          </a:p>
        </p:txBody>
      </p:sp>
      <p:sp>
        <p:nvSpPr>
          <p:cNvPr id="3" name="内容占位符 2"/>
          <p:cNvSpPr>
            <a:spLocks noGrp="1"/>
          </p:cNvSpPr>
          <p:nvPr>
            <p:ph idx="1"/>
          </p:nvPr>
        </p:nvSpPr>
        <p:spPr>
          <a:xfrm>
            <a:off x="700644" y="1353787"/>
            <a:ext cx="10759044" cy="5139087"/>
          </a:xfrm>
        </p:spPr>
        <p:txBody>
          <a:bodyPr>
            <a:normAutofit/>
          </a:bodyPr>
          <a:lstStyle/>
          <a:p>
            <a:r>
              <a:rPr lang="zh-CN" altLang="en-US" dirty="0"/>
              <a:t>实例</a:t>
            </a:r>
          </a:p>
          <a:p>
            <a:endParaRPr lang="zh-CN" altLang="en-US"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74</a:t>
            </a:fld>
            <a:endParaRPr kumimoji="1" lang="zh-CN" altLang="en-US" dirty="0"/>
          </a:p>
        </p:txBody>
      </p:sp>
      <p:grpSp>
        <p:nvGrpSpPr>
          <p:cNvPr id="18" name="组合 17"/>
          <p:cNvGrpSpPr/>
          <p:nvPr/>
        </p:nvGrpSpPr>
        <p:grpSpPr>
          <a:xfrm>
            <a:off x="2095607" y="2312178"/>
            <a:ext cx="5568413" cy="3634463"/>
            <a:chOff x="2122171" y="2301959"/>
            <a:chExt cx="4816599" cy="2975148"/>
          </a:xfrm>
        </p:grpSpPr>
        <mc:AlternateContent xmlns:mc="http://schemas.openxmlformats.org/markup-compatibility/2006" xmlns:a14="http://schemas.microsoft.com/office/drawing/2010/main">
          <mc:Choice Requires="a14">
            <p:sp>
              <p:nvSpPr>
                <p:cNvPr id="19" name="Object 4"/>
                <p:cNvSpPr txBox="1"/>
                <p:nvPr/>
              </p:nvSpPr>
              <p:spPr bwMode="auto">
                <a:xfrm>
                  <a:off x="2122171" y="2317281"/>
                  <a:ext cx="2239963" cy="41116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𝑦</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3</m:t>
                            </m:r>
                          </m:sup>
                        </m:sSup>
                        <m:r>
                          <a:rPr lang="zh-CN" altLang="en-US" i="1">
                            <a:solidFill>
                              <a:srgbClr val="000000"/>
                            </a:solidFill>
                            <a:latin typeface="Cambria Math" panose="02040503050406030204" pitchFamily="18" charset="0"/>
                          </a:rPr>
                          <m:t>+8</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+10</m:t>
                        </m:r>
                      </m:oMath>
                    </m:oMathPara>
                  </a14:m>
                  <a:endParaRPr lang="zh-CN" altLang="en-US" dirty="0"/>
                </a:p>
              </p:txBody>
            </p:sp>
          </mc:Choice>
          <mc:Fallback xmlns="">
            <p:sp>
              <p:nvSpPr>
                <p:cNvPr id="19" name="Object 4"/>
                <p:cNvSpPr txBox="1">
                  <a:spLocks noRot="1" noChangeAspect="1" noMove="1" noResize="1" noEditPoints="1" noAdjustHandles="1" noChangeArrowheads="1" noChangeShapeType="1" noTextEdit="1"/>
                </p:cNvSpPr>
                <p:nvPr/>
              </p:nvSpPr>
              <p:spPr bwMode="auto">
                <a:xfrm>
                  <a:off x="2122171" y="2317281"/>
                  <a:ext cx="2239963" cy="41116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Object 5"/>
                <p:cNvSpPr txBox="1"/>
                <p:nvPr/>
              </p:nvSpPr>
              <p:spPr bwMode="auto">
                <a:xfrm>
                  <a:off x="4258946" y="2301959"/>
                  <a:ext cx="800100" cy="36512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smtClean="0">
                            <a:solidFill>
                              <a:srgbClr val="FF0000"/>
                            </a:solidFill>
                            <a:latin typeface="Cambria Math" panose="02040503050406030204" pitchFamily="18" charset="0"/>
                          </a:rPr>
                          <m:t>𝑝</m:t>
                        </m:r>
                        <m:r>
                          <a:rPr lang="zh-CN" altLang="en-US" i="1" smtClean="0">
                            <a:solidFill>
                              <a:srgbClr val="FF0000"/>
                            </a:solidFill>
                            <a:latin typeface="Cambria Math" panose="02040503050406030204" pitchFamily="18" charset="0"/>
                          </a:rPr>
                          <m:t>=23</m:t>
                        </m:r>
                      </m:oMath>
                    </m:oMathPara>
                  </a14:m>
                  <a:endParaRPr lang="zh-CN" altLang="en-US" dirty="0">
                    <a:solidFill>
                      <a:srgbClr val="FF0000"/>
                    </a:solidFill>
                  </a:endParaRPr>
                </a:p>
              </p:txBody>
            </p:sp>
          </mc:Choice>
          <mc:Fallback xmlns="">
            <p:sp>
              <p:nvSpPr>
                <p:cNvPr id="20" name="Object 5"/>
                <p:cNvSpPr txBox="1">
                  <a:spLocks noRot="1" noChangeAspect="1" noMove="1" noResize="1" noEditPoints="1" noAdjustHandles="1" noChangeArrowheads="1" noChangeShapeType="1" noTextEdit="1"/>
                </p:cNvSpPr>
                <p:nvPr/>
              </p:nvSpPr>
              <p:spPr bwMode="auto">
                <a:xfrm>
                  <a:off x="4258946" y="2301959"/>
                  <a:ext cx="800100" cy="36512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Object 6"/>
                <p:cNvSpPr txBox="1"/>
                <p:nvPr/>
              </p:nvSpPr>
              <p:spPr bwMode="auto">
                <a:xfrm>
                  <a:off x="2292350" y="3098006"/>
                  <a:ext cx="1325563" cy="36512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=(10,20)</m:t>
                        </m:r>
                      </m:oMath>
                    </m:oMathPara>
                  </a14:m>
                  <a:endParaRPr lang="zh-CN" altLang="en-US" dirty="0"/>
                </a:p>
              </p:txBody>
            </p:sp>
          </mc:Choice>
          <mc:Fallback xmlns="">
            <p:sp>
              <p:nvSpPr>
                <p:cNvPr id="21" name="Object 6"/>
                <p:cNvSpPr txBox="1">
                  <a:spLocks noRot="1" noChangeAspect="1" noMove="1" noResize="1" noEditPoints="1" noAdjustHandles="1" noChangeArrowheads="1" noChangeShapeType="1" noTextEdit="1"/>
                </p:cNvSpPr>
                <p:nvPr/>
              </p:nvSpPr>
              <p:spPr bwMode="auto">
                <a:xfrm>
                  <a:off x="2292350" y="3098006"/>
                  <a:ext cx="1325563" cy="36512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7"/>
                <p:cNvSpPr txBox="1"/>
                <p:nvPr/>
              </p:nvSpPr>
              <p:spPr bwMode="auto">
                <a:xfrm>
                  <a:off x="2289300" y="3747763"/>
                  <a:ext cx="1325563" cy="36512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𝑄</m:t>
                        </m:r>
                        <m:r>
                          <a:rPr lang="zh-CN" altLang="en-US" i="1">
                            <a:solidFill>
                              <a:srgbClr val="000000"/>
                            </a:solidFill>
                            <a:latin typeface="Cambria Math" panose="02040503050406030204" pitchFamily="18" charset="0"/>
                          </a:rPr>
                          <m:t>=(15,20)</m:t>
                        </m:r>
                      </m:oMath>
                    </m:oMathPara>
                  </a14:m>
                  <a:endParaRPr lang="zh-CN" altLang="en-US" dirty="0"/>
                </a:p>
              </p:txBody>
            </p:sp>
          </mc:Choice>
          <mc:Fallback xmlns="">
            <p:sp>
              <p:nvSpPr>
                <p:cNvPr id="22" name="Object 7"/>
                <p:cNvSpPr txBox="1">
                  <a:spLocks noRot="1" noChangeAspect="1" noMove="1" noResize="1" noEditPoints="1" noAdjustHandles="1" noChangeArrowheads="1" noChangeShapeType="1" noTextEdit="1"/>
                </p:cNvSpPr>
                <p:nvPr/>
              </p:nvSpPr>
              <p:spPr bwMode="auto">
                <a:xfrm>
                  <a:off x="2289300" y="3747763"/>
                  <a:ext cx="1325563" cy="365125"/>
                </a:xfrm>
                <a:prstGeom prst="rect">
                  <a:avLst/>
                </a:prstGeom>
                <a:blipFill>
                  <a:blip r:embed="rId6"/>
                  <a:stretch>
                    <a:fillRect l="-7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Object 8"/>
                <p:cNvSpPr txBox="1"/>
                <p:nvPr/>
              </p:nvSpPr>
              <p:spPr bwMode="auto">
                <a:xfrm>
                  <a:off x="2225359" y="4532212"/>
                  <a:ext cx="2033587" cy="36512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𝑄</m:t>
                        </m:r>
                        <m:r>
                          <a:rPr lang="zh-CN" altLang="en-US" i="1">
                            <a:solidFill>
                              <a:srgbClr val="000000"/>
                            </a:solidFill>
                            <a:latin typeface="Cambria Math" panose="02040503050406030204" pitchFamily="18" charset="0"/>
                          </a:rPr>
                          <m:t>=(21,3)</m:t>
                        </m:r>
                      </m:oMath>
                    </m:oMathPara>
                  </a14:m>
                  <a:endParaRPr lang="zh-CN" altLang="en-US" dirty="0"/>
                </a:p>
              </p:txBody>
            </p:sp>
          </mc:Choice>
          <mc:Fallback xmlns="">
            <p:sp>
              <p:nvSpPr>
                <p:cNvPr id="32" name="Object 8"/>
                <p:cNvSpPr txBox="1">
                  <a:spLocks noRot="1" noChangeAspect="1" noMove="1" noResize="1" noEditPoints="1" noAdjustHandles="1" noChangeArrowheads="1" noChangeShapeType="1" noTextEdit="1"/>
                </p:cNvSpPr>
                <p:nvPr/>
              </p:nvSpPr>
              <p:spPr bwMode="auto">
                <a:xfrm>
                  <a:off x="2225359" y="4532212"/>
                  <a:ext cx="2033587" cy="36512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Object 9"/>
                <p:cNvSpPr txBox="1"/>
                <p:nvPr/>
              </p:nvSpPr>
              <p:spPr bwMode="auto">
                <a:xfrm>
                  <a:off x="5552579" y="3074526"/>
                  <a:ext cx="1165225" cy="36512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=(21,3)</m:t>
                        </m:r>
                      </m:oMath>
                    </m:oMathPara>
                  </a14:m>
                  <a:endParaRPr lang="zh-CN" altLang="en-US" dirty="0"/>
                </a:p>
              </p:txBody>
            </p:sp>
          </mc:Choice>
          <mc:Fallback xmlns="">
            <p:sp>
              <p:nvSpPr>
                <p:cNvPr id="33" name="Object 9"/>
                <p:cNvSpPr txBox="1">
                  <a:spLocks noRot="1" noChangeAspect="1" noMove="1" noResize="1" noEditPoints="1" noAdjustHandles="1" noChangeArrowheads="1" noChangeShapeType="1" noTextEdit="1"/>
                </p:cNvSpPr>
                <p:nvPr/>
              </p:nvSpPr>
              <p:spPr bwMode="auto">
                <a:xfrm>
                  <a:off x="5552579" y="3074526"/>
                  <a:ext cx="1165225" cy="36512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Object 10"/>
                <p:cNvSpPr txBox="1"/>
                <p:nvPr/>
              </p:nvSpPr>
              <p:spPr bwMode="auto">
                <a:xfrm>
                  <a:off x="5568757" y="4480486"/>
                  <a:ext cx="1370013" cy="411162"/>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d>
                          <m:dPr>
                            <m:begChr m:val="["/>
                            <m:endChr m:val="]"/>
                            <m:ctrlPr>
                              <a:rPr lang="en-US" altLang="zh-CN" b="0" i="1" smtClean="0">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6</m:t>
                            </m:r>
                          </m:e>
                        </m:d>
                        <m:r>
                          <a:rPr lang="en-US" altLang="zh-CN" b="0" i="1" smtClean="0">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=(18,11)</m:t>
                        </m:r>
                      </m:oMath>
                    </m:oMathPara>
                  </a14:m>
                  <a:endParaRPr lang="zh-CN" altLang="en-US" dirty="0"/>
                </a:p>
              </p:txBody>
            </p:sp>
          </mc:Choice>
          <mc:Fallback xmlns="">
            <p:sp>
              <p:nvSpPr>
                <p:cNvPr id="34" name="Object 10"/>
                <p:cNvSpPr txBox="1">
                  <a:spLocks noRot="1" noChangeAspect="1" noMove="1" noResize="1" noEditPoints="1" noAdjustHandles="1" noChangeArrowheads="1" noChangeShapeType="1" noTextEdit="1"/>
                </p:cNvSpPr>
                <p:nvPr/>
              </p:nvSpPr>
              <p:spPr bwMode="auto">
                <a:xfrm>
                  <a:off x="5568757" y="4480486"/>
                  <a:ext cx="1370013" cy="41116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Object 11"/>
                <p:cNvSpPr txBox="1"/>
                <p:nvPr/>
              </p:nvSpPr>
              <p:spPr bwMode="auto">
                <a:xfrm>
                  <a:off x="5589615" y="4911982"/>
                  <a:ext cx="936625" cy="365125"/>
                </a:xfrm>
                <a:prstGeom prst="rect">
                  <a:avLst/>
                </a:prstGeom>
                <a:noFill/>
              </p:spPr>
              <p:txBody>
                <a:bodyPr>
                  <a:normAutofit/>
                </a:bodyPr>
                <a:lstStyle/>
                <a:p>
                  <a:r>
                    <a:rPr lang="en-US" altLang="zh-CN" dirty="0">
                      <a:solidFill>
                        <a:srgbClr val="000000"/>
                      </a:solidFill>
                    </a:rPr>
                    <a:t>[21]P</a:t>
                  </a:r>
                  <a14:m>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𝑂</m:t>
                      </m:r>
                    </m:oMath>
                  </a14:m>
                  <a:endParaRPr lang="zh-CN" altLang="en-US" dirty="0"/>
                </a:p>
              </p:txBody>
            </p:sp>
          </mc:Choice>
          <mc:Fallback xmlns="">
            <p:sp>
              <p:nvSpPr>
                <p:cNvPr id="35" name="Object 11"/>
                <p:cNvSpPr txBox="1">
                  <a:spLocks noRot="1" noChangeAspect="1" noMove="1" noResize="1" noEditPoints="1" noAdjustHandles="1" noChangeArrowheads="1" noChangeShapeType="1" noTextEdit="1"/>
                </p:cNvSpPr>
                <p:nvPr/>
              </p:nvSpPr>
              <p:spPr bwMode="auto">
                <a:xfrm>
                  <a:off x="5589615" y="4911982"/>
                  <a:ext cx="936625" cy="365125"/>
                </a:xfrm>
                <a:prstGeom prst="rect">
                  <a:avLst/>
                </a:prstGeom>
                <a:blipFill>
                  <a:blip r:embed="rId10"/>
                  <a:stretch>
                    <a:fillRect l="-4494" t="-6849" b="-4110"/>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 name="Object 9">
                <a:extLst>
                  <a:ext uri="{FF2B5EF4-FFF2-40B4-BE49-F238E27FC236}">
                    <a16:creationId xmlns:a16="http://schemas.microsoft.com/office/drawing/2014/main" id="{F9CC109B-8EA7-E094-9878-C736D91C5F37}"/>
                  </a:ext>
                </a:extLst>
              </p:cNvPr>
              <p:cNvSpPr txBox="1"/>
              <p:nvPr/>
            </p:nvSpPr>
            <p:spPr bwMode="auto">
              <a:xfrm>
                <a:off x="6104279" y="3855364"/>
                <a:ext cx="1261469" cy="446043"/>
              </a:xfrm>
              <a:prstGeom prst="rect">
                <a:avLst/>
              </a:prstGeom>
              <a:noFill/>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=(10,3)</m:t>
                      </m:r>
                    </m:oMath>
                  </m:oMathPara>
                </a14:m>
                <a:endParaRPr lang="zh-CN" altLang="en-US" i="1" dirty="0">
                  <a:solidFill>
                    <a:srgbClr val="000000"/>
                  </a:solidFill>
                  <a:latin typeface="Cambria Math" panose="02040503050406030204" pitchFamily="18" charset="0"/>
                </a:endParaRPr>
              </a:p>
            </p:txBody>
          </p:sp>
        </mc:Choice>
        <mc:Fallback xmlns="">
          <p:sp>
            <p:nvSpPr>
              <p:cNvPr id="6" name="Object 9">
                <a:extLst>
                  <a:ext uri="{FF2B5EF4-FFF2-40B4-BE49-F238E27FC236}">
                    <a16:creationId xmlns:a16="http://schemas.microsoft.com/office/drawing/2014/main" id="{F9CC109B-8EA7-E094-9878-C736D91C5F37}"/>
                  </a:ext>
                </a:extLst>
              </p:cNvPr>
              <p:cNvSpPr txBox="1">
                <a:spLocks noRot="1" noChangeAspect="1" noMove="1" noResize="1" noEditPoints="1" noAdjustHandles="1" noChangeArrowheads="1" noChangeShapeType="1" noTextEdit="1"/>
              </p:cNvSpPr>
              <p:nvPr/>
            </p:nvSpPr>
            <p:spPr bwMode="auto">
              <a:xfrm>
                <a:off x="6104279" y="3855364"/>
                <a:ext cx="1261469" cy="446043"/>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9">
                <a:extLst>
                  <a:ext uri="{FF2B5EF4-FFF2-40B4-BE49-F238E27FC236}">
                    <a16:creationId xmlns:a16="http://schemas.microsoft.com/office/drawing/2014/main" id="{56032C04-3BDD-EB7B-0AA1-6321F2CB2FCA}"/>
                  </a:ext>
                </a:extLst>
              </p:cNvPr>
              <p:cNvSpPr txBox="1"/>
              <p:nvPr/>
            </p:nvSpPr>
            <p:spPr bwMode="auto">
              <a:xfrm>
                <a:off x="6104279" y="4454966"/>
                <a:ext cx="1347103" cy="496544"/>
              </a:xfrm>
              <a:prstGeom prst="rect">
                <a:avLst/>
              </a:prstGeom>
              <a:noFill/>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=(15,20)</m:t>
                      </m:r>
                    </m:oMath>
                  </m:oMathPara>
                </a14:m>
                <a:endParaRPr lang="zh-CN" altLang="en-US" dirty="0"/>
              </a:p>
            </p:txBody>
          </p:sp>
        </mc:Choice>
        <mc:Fallback xmlns="">
          <p:sp>
            <p:nvSpPr>
              <p:cNvPr id="7" name="Object 9">
                <a:extLst>
                  <a:ext uri="{FF2B5EF4-FFF2-40B4-BE49-F238E27FC236}">
                    <a16:creationId xmlns:a16="http://schemas.microsoft.com/office/drawing/2014/main" id="{56032C04-3BDD-EB7B-0AA1-6321F2CB2FCA}"/>
                  </a:ext>
                </a:extLst>
              </p:cNvPr>
              <p:cNvSpPr txBox="1">
                <a:spLocks noRot="1" noChangeAspect="1" noMove="1" noResize="1" noEditPoints="1" noAdjustHandles="1" noChangeArrowheads="1" noChangeShapeType="1" noTextEdit="1"/>
              </p:cNvSpPr>
              <p:nvPr/>
            </p:nvSpPr>
            <p:spPr bwMode="auto">
              <a:xfrm>
                <a:off x="6104279" y="4454966"/>
                <a:ext cx="1347103" cy="496544"/>
              </a:xfrm>
              <a:prstGeom prst="rect">
                <a:avLst/>
              </a:prstGeom>
              <a:blipFill>
                <a:blip r:embed="rId12"/>
                <a:stretch>
                  <a:fillRect/>
                </a:stretch>
              </a:blipFill>
            </p:spPr>
            <p:txBody>
              <a:bodyPr/>
              <a:lstStyle/>
              <a:p>
                <a:r>
                  <a:rPr lang="zh-CN" altLang="en-US">
                    <a:noFill/>
                  </a:rPr>
                  <a:t> </a:t>
                </a:r>
              </a:p>
            </p:txBody>
          </p:sp>
        </mc:Fallback>
      </mc:AlternateContent>
      <p:cxnSp>
        <p:nvCxnSpPr>
          <p:cNvPr id="8" name="直接连接符 7">
            <a:extLst>
              <a:ext uri="{FF2B5EF4-FFF2-40B4-BE49-F238E27FC236}">
                <a16:creationId xmlns:a16="http://schemas.microsoft.com/office/drawing/2014/main" id="{48BFFF72-EA0F-5BDD-A271-03EA7BBFE660}"/>
              </a:ext>
            </a:extLst>
          </p:cNvPr>
          <p:cNvCxnSpPr/>
          <p:nvPr/>
        </p:nvCxnSpPr>
        <p:spPr>
          <a:xfrm>
            <a:off x="5028400" y="3162300"/>
            <a:ext cx="0" cy="27843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196A41E-4931-4D5A-F113-F88D2B3E89D8}"/>
                  </a:ext>
                </a:extLst>
              </p:cNvPr>
              <p:cNvSpPr txBox="1"/>
              <p:nvPr/>
            </p:nvSpPr>
            <p:spPr>
              <a:xfrm>
                <a:off x="7727520" y="3392685"/>
                <a:ext cx="2334742"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𝜆</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1331</m:t>
                          </m:r>
                        </m:num>
                        <m:den>
                          <m:r>
                            <a:rPr lang="zh-CN" altLang="en-US" i="0">
                              <a:latin typeface="Cambria Math" panose="02040503050406030204" pitchFamily="18" charset="0"/>
                            </a:rPr>
                            <m:t>6</m:t>
                          </m:r>
                        </m:den>
                      </m:f>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mod</m:t>
                          </m:r>
                        </m:fName>
                        <m:e>
                          <m:r>
                            <a:rPr lang="zh-CN" altLang="en-US" i="0">
                              <a:latin typeface="Cambria Math" panose="02040503050406030204" pitchFamily="18" charset="0"/>
                            </a:rPr>
                            <m:t>23</m:t>
                          </m:r>
                        </m:e>
                      </m:func>
                      <m:r>
                        <a:rPr lang="en-US" altLang="zh-CN" b="0" i="1" smtClean="0">
                          <a:latin typeface="Cambria Math" panose="02040503050406030204" pitchFamily="18" charset="0"/>
                        </a:rPr>
                        <m:t>=</m:t>
                      </m:r>
                      <m:r>
                        <a:rPr lang="en-US" altLang="zh-CN" b="0" i="0" smtClean="0">
                          <a:latin typeface="Cambria Math" panose="02040503050406030204" pitchFamily="18" charset="0"/>
                        </a:rPr>
                        <m:t>11</m:t>
                      </m:r>
                    </m:oMath>
                  </m:oMathPara>
                </a14:m>
                <a:endParaRPr lang="zh-CN" altLang="en-US" dirty="0"/>
              </a:p>
            </p:txBody>
          </p:sp>
        </mc:Choice>
        <mc:Fallback xmlns="">
          <p:sp>
            <p:nvSpPr>
              <p:cNvPr id="9" name="文本框 8">
                <a:extLst>
                  <a:ext uri="{FF2B5EF4-FFF2-40B4-BE49-F238E27FC236}">
                    <a16:creationId xmlns:a16="http://schemas.microsoft.com/office/drawing/2014/main" id="{5196A41E-4931-4D5A-F113-F88D2B3E89D8}"/>
                  </a:ext>
                </a:extLst>
              </p:cNvPr>
              <p:cNvSpPr txBox="1">
                <a:spLocks noRot="1" noChangeAspect="1" noMove="1" noResize="1" noEditPoints="1" noAdjustHandles="1" noChangeArrowheads="1" noChangeShapeType="1" noTextEdit="1"/>
              </p:cNvSpPr>
              <p:nvPr/>
            </p:nvSpPr>
            <p:spPr>
              <a:xfrm>
                <a:off x="7727520" y="3392685"/>
                <a:ext cx="2334742" cy="520399"/>
              </a:xfrm>
              <a:prstGeom prst="rect">
                <a:avLst/>
              </a:prstGeom>
              <a:blipFill>
                <a:blip r:embed="rId13"/>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6311B60C-1476-5DC2-B5BF-71027FA0BCF1}"/>
              </a:ext>
            </a:extLst>
          </p:cNvPr>
          <p:cNvSpPr txBox="1"/>
          <p:nvPr/>
        </p:nvSpPr>
        <p:spPr>
          <a:xfrm>
            <a:off x="8373588" y="2330895"/>
            <a:ext cx="3086100" cy="646331"/>
          </a:xfrm>
          <a:prstGeom prst="rect">
            <a:avLst/>
          </a:prstGeom>
          <a:noFill/>
        </p:spPr>
        <p:txBody>
          <a:bodyPr wrap="square" rtlCol="0">
            <a:spAutoFit/>
          </a:bodyPr>
          <a:lstStyle/>
          <a:p>
            <a:r>
              <a:rPr lang="zh-CN" altLang="en-US" dirty="0">
                <a:solidFill>
                  <a:srgbClr val="FF0000"/>
                </a:solidFill>
              </a:rPr>
              <a:t>这个计算过程涉及到逆元求解、“分数”取模等</a:t>
            </a:r>
          </a:p>
        </p:txBody>
      </p:sp>
      <p:cxnSp>
        <p:nvCxnSpPr>
          <p:cNvPr id="12" name="直接箭头连接符 11">
            <a:extLst>
              <a:ext uri="{FF2B5EF4-FFF2-40B4-BE49-F238E27FC236}">
                <a16:creationId xmlns:a16="http://schemas.microsoft.com/office/drawing/2014/main" id="{AA632FFD-915D-0334-1FB7-1435077CCDB0}"/>
              </a:ext>
            </a:extLst>
          </p:cNvPr>
          <p:cNvCxnSpPr>
            <a:stCxn id="10" idx="2"/>
          </p:cNvCxnSpPr>
          <p:nvPr/>
        </p:nvCxnSpPr>
        <p:spPr>
          <a:xfrm flipH="1">
            <a:off x="9639300" y="2977226"/>
            <a:ext cx="277338" cy="5304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004D0B0C-6947-5601-BF42-E0193DB41EB6}"/>
              </a:ext>
            </a:extLst>
          </p:cNvPr>
          <p:cNvSpPr txBox="1"/>
          <p:nvPr/>
        </p:nvSpPr>
        <p:spPr>
          <a:xfrm>
            <a:off x="5196044" y="5842661"/>
            <a:ext cx="6096000" cy="923330"/>
          </a:xfrm>
          <a:prstGeom prst="rect">
            <a:avLst/>
          </a:prstGeom>
          <a:noFill/>
        </p:spPr>
        <p:txBody>
          <a:bodyPr wrap="square">
            <a:spAutoFit/>
          </a:bodyPr>
          <a:lstStyle/>
          <a:p>
            <a:r>
              <a:rPr lang="zh-CN" altLang="en-US" dirty="0"/>
              <a:t>任何一个点连续乘以或加到群的阶数时，由于在离散空间里把所有的格子全部踩了一遍，指针会不可避免地触发终极大轮回，强行归位到数论的原点</a:t>
            </a:r>
            <a:r>
              <a:rPr lang="en-US" altLang="zh-CN" dirty="0"/>
              <a:t>——</a:t>
            </a:r>
            <a:r>
              <a:rPr lang="zh-CN" altLang="en-US" dirty="0"/>
              <a:t>无穷远点</a:t>
            </a:r>
            <a:r>
              <a:rPr lang="en-US" altLang="zh-CN" dirty="0">
                <a:effectLst/>
                <a:latin typeface="Google Sans Text"/>
              </a:rPr>
              <a:t>O</a:t>
            </a:r>
            <a:r>
              <a:rPr lang="zh-CN" altLang="en-US" dirty="0"/>
              <a:t>。</a:t>
            </a:r>
          </a:p>
        </p:txBody>
      </p:sp>
    </p:spTree>
    <p:extLst>
      <p:ext uri="{BB962C8B-B14F-4D97-AF65-F5344CB8AC3E}">
        <p14:creationId xmlns:p14="http://schemas.microsoft.com/office/powerpoint/2010/main" val="25725418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r>
              <a:rPr lang="zh-CN" altLang="en-US" dirty="0"/>
              <a:t>（加密）</a:t>
            </a:r>
          </a:p>
        </p:txBody>
      </p:sp>
      <p:sp>
        <p:nvSpPr>
          <p:cNvPr id="3" name="内容占位符 2"/>
          <p:cNvSpPr>
            <a:spLocks noGrp="1"/>
          </p:cNvSpPr>
          <p:nvPr>
            <p:ph idx="1"/>
          </p:nvPr>
        </p:nvSpPr>
        <p:spPr>
          <a:xfrm>
            <a:off x="700644" y="1353787"/>
            <a:ext cx="10759044" cy="5139087"/>
          </a:xfrm>
        </p:spPr>
        <p:txBody>
          <a:bodyPr>
            <a:normAutofit/>
          </a:bodyPr>
          <a:lstStyle/>
          <a:p>
            <a:r>
              <a:rPr lang="zh-CN" altLang="en-US" sz="3200" dirty="0"/>
              <a:t>椭圆曲线用于加密</a:t>
            </a:r>
            <a:endParaRPr lang="en-US" altLang="zh-CN" sz="3200" dirty="0"/>
          </a:p>
          <a:p>
            <a:pPr lvl="1">
              <a:lnSpc>
                <a:spcPct val="120000"/>
              </a:lnSpc>
              <a:spcBef>
                <a:spcPct val="20000"/>
              </a:spcBef>
              <a:buFontTx/>
              <a:buChar char="•"/>
            </a:pPr>
            <a:r>
              <a:rPr kumimoji="1" lang="zh-CN" altLang="en-US" dirty="0">
                <a:solidFill>
                  <a:srgbClr val="000066"/>
                </a:solidFill>
                <a:latin typeface="Times New Roman" panose="02020603050405020304" pitchFamily="18" charset="0"/>
              </a:rPr>
              <a:t>找到一个难题：</a:t>
            </a:r>
          </a:p>
          <a:p>
            <a:pPr lvl="2">
              <a:lnSpc>
                <a:spcPct val="120000"/>
              </a:lnSpc>
              <a:spcBef>
                <a:spcPct val="20000"/>
              </a:spcBef>
              <a:buFontTx/>
              <a:buChar char="–"/>
            </a:pPr>
            <a:r>
              <a:rPr kumimoji="1" lang="zh-CN" altLang="en-US" sz="2400" dirty="0">
                <a:solidFill>
                  <a:srgbClr val="000066"/>
                </a:solidFill>
                <a:latin typeface="Times New Roman" panose="02020603050405020304" pitchFamily="18" charset="0"/>
              </a:rPr>
              <a:t>考虑等式</a:t>
            </a:r>
            <a:r>
              <a:rPr kumimoji="1" lang="en-US" altLang="zh-CN" sz="2400" dirty="0">
                <a:solidFill>
                  <a:srgbClr val="F61302"/>
                </a:solidFill>
                <a:latin typeface="Times New Roman" panose="02020603050405020304" pitchFamily="18" charset="0"/>
              </a:rPr>
              <a:t>Q=[k]P</a:t>
            </a:r>
            <a:r>
              <a:rPr kumimoji="1" lang="zh-CN" altLang="en-US" sz="2400" dirty="0">
                <a:solidFill>
                  <a:srgbClr val="000066"/>
                </a:solidFill>
                <a:latin typeface="Times New Roman" panose="02020603050405020304" pitchFamily="18" charset="0"/>
              </a:rPr>
              <a:t>，其中</a:t>
            </a:r>
            <a:r>
              <a:rPr kumimoji="1" lang="en-US" altLang="zh-CN" sz="2400" dirty="0">
                <a:solidFill>
                  <a:srgbClr val="000066"/>
                </a:solidFill>
                <a:latin typeface="Times New Roman" panose="02020603050405020304" pitchFamily="18" charset="0"/>
              </a:rPr>
              <a:t>Q</a:t>
            </a:r>
            <a:r>
              <a:rPr kumimoji="1" lang="zh-CN" altLang="en-US" sz="2400" dirty="0">
                <a:solidFill>
                  <a:srgbClr val="000066"/>
                </a:solidFill>
                <a:latin typeface="Times New Roman" panose="02020603050405020304" pitchFamily="18" charset="0"/>
              </a:rPr>
              <a:t>、</a:t>
            </a:r>
            <a:r>
              <a:rPr kumimoji="1" lang="en-US" altLang="zh-CN" sz="2400" dirty="0">
                <a:solidFill>
                  <a:srgbClr val="000066"/>
                </a:solidFill>
                <a:latin typeface="Times New Roman" panose="02020603050405020304" pitchFamily="18" charset="0"/>
              </a:rPr>
              <a:t>P</a:t>
            </a:r>
            <a:r>
              <a:rPr kumimoji="1" lang="zh-CN" altLang="en-US" sz="2400" dirty="0">
                <a:solidFill>
                  <a:srgbClr val="000066"/>
                </a:solidFill>
                <a:latin typeface="Times New Roman" panose="02020603050405020304" pitchFamily="18" charset="0"/>
              </a:rPr>
              <a:t>属于</a:t>
            </a:r>
            <a:r>
              <a:rPr kumimoji="1" lang="en-US" altLang="zh-CN" sz="2400" dirty="0">
                <a:solidFill>
                  <a:srgbClr val="000066"/>
                </a:solidFill>
                <a:latin typeface="Times New Roman" panose="02020603050405020304" pitchFamily="18" charset="0"/>
              </a:rPr>
              <a:t>E</a:t>
            </a:r>
            <a:r>
              <a:rPr kumimoji="1" lang="en-US" altLang="zh-CN" sz="2400" baseline="-25000" dirty="0">
                <a:solidFill>
                  <a:srgbClr val="000066"/>
                </a:solidFill>
                <a:latin typeface="Times New Roman" panose="02020603050405020304" pitchFamily="18" charset="0"/>
              </a:rPr>
              <a:t>p</a:t>
            </a:r>
            <a:r>
              <a:rPr kumimoji="1" lang="en-US" altLang="zh-CN" sz="2400" dirty="0">
                <a:solidFill>
                  <a:srgbClr val="000066"/>
                </a:solidFill>
                <a:latin typeface="Times New Roman" panose="02020603050405020304" pitchFamily="18" charset="0"/>
              </a:rPr>
              <a:t>(</a:t>
            </a:r>
            <a:r>
              <a:rPr kumimoji="1" lang="en-US" altLang="zh-CN" sz="2400" dirty="0" err="1">
                <a:solidFill>
                  <a:srgbClr val="000066"/>
                </a:solidFill>
                <a:latin typeface="Times New Roman" panose="02020603050405020304" pitchFamily="18" charset="0"/>
              </a:rPr>
              <a:t>a,b</a:t>
            </a:r>
            <a:r>
              <a:rPr kumimoji="1" lang="en-US" altLang="zh-CN" sz="2400" dirty="0">
                <a:solidFill>
                  <a:srgbClr val="000066"/>
                </a:solidFill>
                <a:latin typeface="Times New Roman" panose="02020603050405020304" pitchFamily="18" charset="0"/>
              </a:rPr>
              <a:t>)</a:t>
            </a:r>
            <a:r>
              <a:rPr kumimoji="1" lang="zh-CN" altLang="en-US" sz="2400" dirty="0">
                <a:solidFill>
                  <a:srgbClr val="000066"/>
                </a:solidFill>
                <a:latin typeface="Times New Roman" panose="02020603050405020304" pitchFamily="18" charset="0"/>
              </a:rPr>
              <a:t>，</a:t>
            </a:r>
            <a:r>
              <a:rPr kumimoji="1" lang="en-US" altLang="zh-CN" sz="2400" dirty="0">
                <a:solidFill>
                  <a:srgbClr val="000066"/>
                </a:solidFill>
                <a:latin typeface="Times New Roman" panose="02020603050405020304" pitchFamily="18" charset="0"/>
              </a:rPr>
              <a:t>k&lt;p</a:t>
            </a:r>
          </a:p>
          <a:p>
            <a:pPr lvl="2">
              <a:lnSpc>
                <a:spcPct val="120000"/>
              </a:lnSpc>
              <a:spcBef>
                <a:spcPct val="20000"/>
              </a:spcBef>
              <a:buFontTx/>
              <a:buChar char="–"/>
            </a:pPr>
            <a:r>
              <a:rPr kumimoji="1" lang="zh-CN" altLang="en-US" sz="2400" dirty="0">
                <a:solidFill>
                  <a:srgbClr val="000066"/>
                </a:solidFill>
                <a:latin typeface="Times New Roman" panose="02020603050405020304" pitchFamily="18" charset="0"/>
              </a:rPr>
              <a:t>已知</a:t>
            </a:r>
            <a:r>
              <a:rPr kumimoji="1" lang="en-US" altLang="zh-CN" sz="2400" dirty="0">
                <a:solidFill>
                  <a:srgbClr val="000066"/>
                </a:solidFill>
                <a:latin typeface="Times New Roman" panose="02020603050405020304" pitchFamily="18" charset="0"/>
              </a:rPr>
              <a:t>k</a:t>
            </a:r>
            <a:r>
              <a:rPr kumimoji="1" lang="zh-CN" altLang="en-US" sz="2400" dirty="0">
                <a:solidFill>
                  <a:srgbClr val="000066"/>
                </a:solidFill>
                <a:latin typeface="Times New Roman" panose="02020603050405020304" pitchFamily="18" charset="0"/>
              </a:rPr>
              <a:t>和</a:t>
            </a:r>
            <a:r>
              <a:rPr kumimoji="1" lang="en-US" altLang="zh-CN" sz="2400" dirty="0">
                <a:solidFill>
                  <a:srgbClr val="000066"/>
                </a:solidFill>
                <a:latin typeface="Times New Roman" panose="02020603050405020304" pitchFamily="18" charset="0"/>
              </a:rPr>
              <a:t>P</a:t>
            </a:r>
            <a:r>
              <a:rPr kumimoji="1" lang="zh-CN" altLang="en-US" sz="2400" dirty="0">
                <a:solidFill>
                  <a:srgbClr val="000066"/>
                </a:solidFill>
                <a:latin typeface="Times New Roman" panose="02020603050405020304" pitchFamily="18" charset="0"/>
              </a:rPr>
              <a:t>，计算</a:t>
            </a:r>
            <a:r>
              <a:rPr kumimoji="1" lang="en-US" altLang="zh-CN" sz="2400" dirty="0">
                <a:solidFill>
                  <a:srgbClr val="000066"/>
                </a:solidFill>
                <a:latin typeface="Times New Roman" panose="02020603050405020304" pitchFamily="18" charset="0"/>
              </a:rPr>
              <a:t>Q</a:t>
            </a:r>
            <a:r>
              <a:rPr kumimoji="1" lang="zh-CN" altLang="en-US" sz="2400" dirty="0">
                <a:solidFill>
                  <a:srgbClr val="000066"/>
                </a:solidFill>
                <a:latin typeface="Times New Roman" panose="02020603050405020304" pitchFamily="18" charset="0"/>
              </a:rPr>
              <a:t>，是容易的</a:t>
            </a:r>
          </a:p>
          <a:p>
            <a:pPr lvl="2">
              <a:lnSpc>
                <a:spcPct val="120000"/>
              </a:lnSpc>
              <a:spcBef>
                <a:spcPct val="20000"/>
              </a:spcBef>
              <a:buFontTx/>
              <a:buChar char="–"/>
            </a:pPr>
            <a:r>
              <a:rPr kumimoji="1" lang="zh-CN" altLang="en-US" sz="2400" dirty="0">
                <a:solidFill>
                  <a:srgbClr val="000066"/>
                </a:solidFill>
                <a:latin typeface="Times New Roman" panose="02020603050405020304" pitchFamily="18" charset="0"/>
              </a:rPr>
              <a:t>已知</a:t>
            </a:r>
            <a:r>
              <a:rPr kumimoji="1" lang="en-US" altLang="zh-CN" sz="2400" dirty="0">
                <a:solidFill>
                  <a:srgbClr val="000066"/>
                </a:solidFill>
                <a:latin typeface="Times New Roman" panose="02020603050405020304" pitchFamily="18" charset="0"/>
              </a:rPr>
              <a:t>Q</a:t>
            </a:r>
            <a:r>
              <a:rPr kumimoji="1" lang="zh-CN" altLang="en-US" sz="2400" dirty="0">
                <a:solidFill>
                  <a:srgbClr val="000066"/>
                </a:solidFill>
                <a:latin typeface="Times New Roman" panose="02020603050405020304" pitchFamily="18" charset="0"/>
              </a:rPr>
              <a:t>和</a:t>
            </a:r>
            <a:r>
              <a:rPr kumimoji="1" lang="en-US" altLang="zh-CN" sz="2400" dirty="0">
                <a:solidFill>
                  <a:srgbClr val="000066"/>
                </a:solidFill>
                <a:latin typeface="Times New Roman" panose="02020603050405020304" pitchFamily="18" charset="0"/>
              </a:rPr>
              <a:t>P</a:t>
            </a:r>
            <a:r>
              <a:rPr kumimoji="1" lang="zh-CN" altLang="en-US" sz="2400" dirty="0">
                <a:solidFill>
                  <a:srgbClr val="000066"/>
                </a:solidFill>
                <a:latin typeface="Times New Roman" panose="02020603050405020304" pitchFamily="18" charset="0"/>
              </a:rPr>
              <a:t>，</a:t>
            </a:r>
            <a:r>
              <a:rPr kumimoji="1" lang="zh-CN" altLang="en-US" sz="2400" dirty="0">
                <a:solidFill>
                  <a:srgbClr val="F61302"/>
                </a:solidFill>
                <a:latin typeface="Times New Roman" panose="02020603050405020304" pitchFamily="18" charset="0"/>
              </a:rPr>
              <a:t>计算</a:t>
            </a:r>
            <a:r>
              <a:rPr kumimoji="1" lang="en-US" altLang="zh-CN" sz="2400" dirty="0">
                <a:solidFill>
                  <a:srgbClr val="F61302"/>
                </a:solidFill>
                <a:latin typeface="Times New Roman" panose="02020603050405020304" pitchFamily="18" charset="0"/>
              </a:rPr>
              <a:t>k</a:t>
            </a:r>
            <a:r>
              <a:rPr kumimoji="1" lang="zh-CN" altLang="en-US" sz="2400" dirty="0">
                <a:solidFill>
                  <a:srgbClr val="F61302"/>
                </a:solidFill>
                <a:latin typeface="Times New Roman" panose="02020603050405020304" pitchFamily="18" charset="0"/>
              </a:rPr>
              <a:t>，是困难的</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75</a:t>
            </a:fld>
            <a:endParaRPr kumimoji="1" lang="zh-CN" altLang="en-US" dirty="0"/>
          </a:p>
        </p:txBody>
      </p:sp>
    </p:spTree>
    <p:extLst>
      <p:ext uri="{BB962C8B-B14F-4D97-AF65-F5344CB8AC3E}">
        <p14:creationId xmlns:p14="http://schemas.microsoft.com/office/powerpoint/2010/main" val="40820730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r>
              <a:rPr lang="zh-CN" altLang="en-US" dirty="0"/>
              <a:t>（加密）</a:t>
            </a:r>
          </a:p>
        </p:txBody>
      </p:sp>
      <p:sp>
        <p:nvSpPr>
          <p:cNvPr id="3" name="内容占位符 2"/>
          <p:cNvSpPr>
            <a:spLocks noGrp="1"/>
          </p:cNvSpPr>
          <p:nvPr>
            <p:ph idx="1"/>
          </p:nvPr>
        </p:nvSpPr>
        <p:spPr>
          <a:xfrm>
            <a:off x="700644" y="1353787"/>
            <a:ext cx="10759044" cy="5139087"/>
          </a:xfrm>
        </p:spPr>
        <p:txBody>
          <a:bodyPr>
            <a:normAutofit fontScale="85000" lnSpcReduction="20000"/>
          </a:bodyPr>
          <a:lstStyle/>
          <a:p>
            <a:r>
              <a:rPr lang="zh-CN" altLang="en-US" sz="3800" dirty="0"/>
              <a:t>椭圆曲线用于加密</a:t>
            </a:r>
            <a:endParaRPr lang="en-US" altLang="zh-CN" sz="3800" dirty="0"/>
          </a:p>
          <a:p>
            <a:pPr lvl="1">
              <a:lnSpc>
                <a:spcPct val="120000"/>
              </a:lnSpc>
              <a:spcBef>
                <a:spcPct val="20000"/>
              </a:spcBef>
              <a:buFontTx/>
              <a:buChar char="•"/>
            </a:pPr>
            <a:r>
              <a:rPr kumimoji="1" lang="zh-CN" altLang="en-US" sz="2900" dirty="0">
                <a:solidFill>
                  <a:srgbClr val="000066"/>
                </a:solidFill>
                <a:latin typeface="Times New Roman" panose="02020603050405020304" pitchFamily="18" charset="0"/>
              </a:rPr>
              <a:t>选择</a:t>
            </a:r>
            <a:r>
              <a:rPr kumimoji="1" lang="en-US" altLang="zh-CN" sz="2900" dirty="0">
                <a:solidFill>
                  <a:srgbClr val="000066"/>
                </a:solidFill>
                <a:latin typeface="Times New Roman" panose="02020603050405020304" pitchFamily="18" charset="0"/>
              </a:rPr>
              <a:t>E</a:t>
            </a:r>
            <a:r>
              <a:rPr kumimoji="1" lang="en-US" altLang="zh-CN" sz="2900" baseline="-25000" dirty="0">
                <a:solidFill>
                  <a:srgbClr val="000066"/>
                </a:solidFill>
                <a:latin typeface="Times New Roman" panose="02020603050405020304" pitchFamily="18" charset="0"/>
              </a:rPr>
              <a:t>p</a:t>
            </a:r>
            <a:r>
              <a:rPr kumimoji="1" lang="en-US" altLang="zh-CN" sz="2900" dirty="0">
                <a:solidFill>
                  <a:srgbClr val="000066"/>
                </a:solidFill>
                <a:latin typeface="Times New Roman" panose="02020603050405020304" pitchFamily="18" charset="0"/>
              </a:rPr>
              <a:t>(</a:t>
            </a:r>
            <a:r>
              <a:rPr kumimoji="1" lang="en-US" altLang="zh-CN" sz="2900" dirty="0" err="1">
                <a:solidFill>
                  <a:srgbClr val="000066"/>
                </a:solidFill>
                <a:latin typeface="Times New Roman" panose="02020603050405020304" pitchFamily="18" charset="0"/>
              </a:rPr>
              <a:t>a,b</a:t>
            </a:r>
            <a:r>
              <a:rPr kumimoji="1" lang="en-US" altLang="zh-CN" sz="2900" dirty="0">
                <a:solidFill>
                  <a:srgbClr val="000066"/>
                </a:solidFill>
                <a:latin typeface="Times New Roman" panose="02020603050405020304" pitchFamily="18" charset="0"/>
              </a:rPr>
              <a:t>)</a:t>
            </a:r>
            <a:r>
              <a:rPr kumimoji="1" lang="zh-CN" altLang="en-US" sz="2900" dirty="0">
                <a:solidFill>
                  <a:srgbClr val="000066"/>
                </a:solidFill>
                <a:latin typeface="Times New Roman" panose="02020603050405020304" pitchFamily="18" charset="0"/>
              </a:rPr>
              <a:t>的元素</a:t>
            </a:r>
            <a:r>
              <a:rPr kumimoji="1" lang="en-US" altLang="zh-CN" sz="2900" dirty="0">
                <a:solidFill>
                  <a:srgbClr val="000066"/>
                </a:solidFill>
                <a:latin typeface="Times New Roman" panose="02020603050405020304" pitchFamily="18" charset="0"/>
                <a:sym typeface="Symbol" panose="05050102010706020507" pitchFamily="18" charset="2"/>
              </a:rPr>
              <a:t>G,</a:t>
            </a:r>
            <a:r>
              <a:rPr kumimoji="1" lang="zh-CN" altLang="en-US" sz="2900" dirty="0">
                <a:solidFill>
                  <a:srgbClr val="000066"/>
                </a:solidFill>
                <a:latin typeface="Times New Roman" panose="02020603050405020304" pitchFamily="18" charset="0"/>
              </a:rPr>
              <a:t>使得</a:t>
            </a:r>
            <a:r>
              <a:rPr kumimoji="1" lang="en-US" altLang="zh-CN" sz="2900" dirty="0">
                <a:solidFill>
                  <a:srgbClr val="000066"/>
                </a:solidFill>
                <a:latin typeface="Times New Roman" panose="02020603050405020304" pitchFamily="18" charset="0"/>
              </a:rPr>
              <a:t>G</a:t>
            </a:r>
            <a:r>
              <a:rPr kumimoji="1" lang="zh-CN" altLang="en-US" sz="2900" dirty="0">
                <a:solidFill>
                  <a:srgbClr val="000066"/>
                </a:solidFill>
                <a:latin typeface="Times New Roman" panose="02020603050405020304" pitchFamily="18" charset="0"/>
              </a:rPr>
              <a:t>的阶</a:t>
            </a:r>
            <a:r>
              <a:rPr kumimoji="1" lang="en-US" altLang="zh-CN" sz="2900" dirty="0">
                <a:solidFill>
                  <a:srgbClr val="000066"/>
                </a:solidFill>
                <a:latin typeface="Times New Roman" panose="02020603050405020304" pitchFamily="18" charset="0"/>
              </a:rPr>
              <a:t>n</a:t>
            </a:r>
            <a:r>
              <a:rPr kumimoji="1" lang="zh-CN" altLang="en-US" sz="2900" dirty="0">
                <a:solidFill>
                  <a:srgbClr val="000066"/>
                </a:solidFill>
                <a:latin typeface="Times New Roman" panose="02020603050405020304" pitchFamily="18" charset="0"/>
              </a:rPr>
              <a:t>是一个大素数（</a:t>
            </a:r>
            <a:r>
              <a:rPr kumimoji="1" lang="en-US" altLang="zh-CN" sz="2900" dirty="0">
                <a:solidFill>
                  <a:srgbClr val="000066"/>
                </a:solidFill>
                <a:latin typeface="Times New Roman" panose="02020603050405020304" pitchFamily="18" charset="0"/>
              </a:rPr>
              <a:t>G</a:t>
            </a:r>
            <a:r>
              <a:rPr kumimoji="1" lang="zh-CN" altLang="en-US" sz="2900" dirty="0">
                <a:solidFill>
                  <a:srgbClr val="000066"/>
                </a:solidFill>
                <a:latin typeface="Times New Roman" panose="02020603050405020304" pitchFamily="18" charset="0"/>
              </a:rPr>
              <a:t>称为生成元或基点）</a:t>
            </a:r>
          </a:p>
          <a:p>
            <a:pPr lvl="2">
              <a:lnSpc>
                <a:spcPct val="120000"/>
              </a:lnSpc>
              <a:spcBef>
                <a:spcPct val="20000"/>
              </a:spcBef>
              <a:buFontTx/>
              <a:buChar char="–"/>
            </a:pPr>
            <a:r>
              <a:rPr kumimoji="1" lang="en-US" altLang="zh-CN" sz="2900" dirty="0">
                <a:solidFill>
                  <a:srgbClr val="000066"/>
                </a:solidFill>
                <a:latin typeface="Times New Roman" panose="02020603050405020304" pitchFamily="18" charset="0"/>
                <a:sym typeface="Symbol" panose="05050102010706020507" pitchFamily="18" charset="2"/>
              </a:rPr>
              <a:t>G</a:t>
            </a:r>
            <a:r>
              <a:rPr kumimoji="1" lang="zh-CN" altLang="en-US" sz="2900" dirty="0">
                <a:solidFill>
                  <a:srgbClr val="000066"/>
                </a:solidFill>
                <a:latin typeface="Times New Roman" panose="02020603050405020304" pitchFamily="18" charset="0"/>
                <a:sym typeface="Symbol" panose="05050102010706020507" pitchFamily="18" charset="2"/>
              </a:rPr>
              <a:t>的阶是指满足</a:t>
            </a:r>
            <a:r>
              <a:rPr kumimoji="1" lang="en-US" altLang="zh-CN" sz="2900" dirty="0">
                <a:solidFill>
                  <a:srgbClr val="000066"/>
                </a:solidFill>
                <a:latin typeface="Times New Roman" panose="02020603050405020304" pitchFamily="18" charset="0"/>
                <a:sym typeface="Symbol" panose="05050102010706020507" pitchFamily="18" charset="2"/>
              </a:rPr>
              <a:t>[n]G=O</a:t>
            </a:r>
            <a:r>
              <a:rPr kumimoji="1" lang="zh-CN" altLang="en-US" sz="2900" dirty="0">
                <a:solidFill>
                  <a:srgbClr val="000066"/>
                </a:solidFill>
                <a:latin typeface="Times New Roman" panose="02020603050405020304" pitchFamily="18" charset="0"/>
                <a:sym typeface="Symbol" panose="05050102010706020507" pitchFamily="18" charset="2"/>
              </a:rPr>
              <a:t>的最小</a:t>
            </a:r>
            <a:r>
              <a:rPr kumimoji="1" lang="en-US" altLang="zh-CN" sz="2900" dirty="0">
                <a:solidFill>
                  <a:srgbClr val="000066"/>
                </a:solidFill>
                <a:latin typeface="Times New Roman" panose="02020603050405020304" pitchFamily="18" charset="0"/>
                <a:sym typeface="Symbol" panose="05050102010706020507" pitchFamily="18" charset="2"/>
              </a:rPr>
              <a:t>n</a:t>
            </a:r>
            <a:r>
              <a:rPr kumimoji="1" lang="zh-CN" altLang="en-US" sz="2900" dirty="0">
                <a:solidFill>
                  <a:srgbClr val="000066"/>
                </a:solidFill>
                <a:latin typeface="Times New Roman" panose="02020603050405020304" pitchFamily="18" charset="0"/>
                <a:sym typeface="Symbol" panose="05050102010706020507" pitchFamily="18" charset="2"/>
              </a:rPr>
              <a:t>值</a:t>
            </a:r>
          </a:p>
          <a:p>
            <a:pPr lvl="1">
              <a:lnSpc>
                <a:spcPct val="120000"/>
              </a:lnSpc>
              <a:spcBef>
                <a:spcPct val="20000"/>
              </a:spcBef>
              <a:buFontTx/>
              <a:buChar char="•"/>
            </a:pPr>
            <a:r>
              <a:rPr kumimoji="1" lang="zh-CN" altLang="en-US" sz="2900" dirty="0">
                <a:solidFill>
                  <a:srgbClr val="000066"/>
                </a:solidFill>
                <a:latin typeface="Times New Roman" panose="02020603050405020304" pitchFamily="18" charset="0"/>
                <a:sym typeface="Symbol" panose="05050102010706020507" pitchFamily="18" charset="2"/>
              </a:rPr>
              <a:t>秘密选择整数</a:t>
            </a:r>
            <a:r>
              <a:rPr kumimoji="1" lang="en-US" altLang="zh-CN" sz="2900" dirty="0">
                <a:solidFill>
                  <a:srgbClr val="000066"/>
                </a:solidFill>
                <a:latin typeface="Times New Roman" panose="02020603050405020304" pitchFamily="18" charset="0"/>
                <a:sym typeface="Symbol" panose="05050102010706020507" pitchFamily="18" charset="2"/>
              </a:rPr>
              <a:t>r</a:t>
            </a:r>
            <a:r>
              <a:rPr kumimoji="1" lang="zh-CN" altLang="en-US" sz="2900" dirty="0">
                <a:solidFill>
                  <a:srgbClr val="000066"/>
                </a:solidFill>
                <a:latin typeface="Times New Roman" panose="02020603050405020304" pitchFamily="18" charset="0"/>
                <a:sym typeface="Symbol" panose="05050102010706020507" pitchFamily="18" charset="2"/>
              </a:rPr>
              <a:t>，计算</a:t>
            </a:r>
            <a:r>
              <a:rPr kumimoji="1" lang="en-US" altLang="zh-CN" sz="2900" dirty="0">
                <a:solidFill>
                  <a:srgbClr val="000066"/>
                </a:solidFill>
                <a:latin typeface="Times New Roman" panose="02020603050405020304" pitchFamily="18" charset="0"/>
                <a:sym typeface="Symbol" panose="05050102010706020507" pitchFamily="18" charset="2"/>
              </a:rPr>
              <a:t>P=[r]</a:t>
            </a:r>
            <a:r>
              <a:rPr kumimoji="1" lang="en-US" altLang="zh-CN" sz="2900" dirty="0">
                <a:solidFill>
                  <a:srgbClr val="000066"/>
                </a:solidFill>
                <a:latin typeface="Times New Roman" panose="02020603050405020304" pitchFamily="18" charset="0"/>
                <a:sym typeface="Wingdings" panose="05000000000000000000" pitchFamily="2" charset="2"/>
              </a:rPr>
              <a:t>G</a:t>
            </a:r>
            <a:r>
              <a:rPr kumimoji="1" lang="zh-CN" altLang="en-US" sz="2900" dirty="0">
                <a:solidFill>
                  <a:srgbClr val="000066"/>
                </a:solidFill>
                <a:latin typeface="Times New Roman" panose="02020603050405020304" pitchFamily="18" charset="0"/>
                <a:sym typeface="Wingdings" panose="05000000000000000000" pitchFamily="2" charset="2"/>
              </a:rPr>
              <a:t>，然后</a:t>
            </a:r>
          </a:p>
          <a:p>
            <a:pPr lvl="2">
              <a:lnSpc>
                <a:spcPct val="120000"/>
              </a:lnSpc>
              <a:spcBef>
                <a:spcPct val="20000"/>
              </a:spcBef>
              <a:buFontTx/>
              <a:buChar char="–"/>
            </a:pPr>
            <a:r>
              <a:rPr kumimoji="1" lang="zh-CN" altLang="en-US" sz="2900" dirty="0">
                <a:solidFill>
                  <a:srgbClr val="000066"/>
                </a:solidFill>
                <a:latin typeface="Times New Roman" panose="02020603050405020304" pitchFamily="18" charset="0"/>
                <a:sym typeface="Wingdings" panose="05000000000000000000" pitchFamily="2" charset="2"/>
              </a:rPr>
              <a:t>公开</a:t>
            </a:r>
            <a:r>
              <a:rPr kumimoji="1" lang="en-US" altLang="zh-CN" sz="2900" dirty="0">
                <a:solidFill>
                  <a:srgbClr val="000066"/>
                </a:solidFill>
                <a:latin typeface="Times New Roman" panose="02020603050405020304" pitchFamily="18" charset="0"/>
                <a:sym typeface="Wingdings" panose="05000000000000000000" pitchFamily="2" charset="2"/>
              </a:rPr>
              <a:t>(</a:t>
            </a:r>
            <a:r>
              <a:rPr kumimoji="1" lang="en-US" altLang="zh-CN" sz="2900" dirty="0" err="1">
                <a:solidFill>
                  <a:srgbClr val="000066"/>
                </a:solidFill>
                <a:latin typeface="Times New Roman" panose="02020603050405020304" pitchFamily="18" charset="0"/>
                <a:sym typeface="Wingdings" panose="05000000000000000000" pitchFamily="2" charset="2"/>
              </a:rPr>
              <a:t>p,a,b,G,P</a:t>
            </a:r>
            <a:r>
              <a:rPr kumimoji="1" lang="en-US" altLang="zh-CN" sz="2900" dirty="0">
                <a:solidFill>
                  <a:srgbClr val="000066"/>
                </a:solidFill>
                <a:latin typeface="Times New Roman" panose="02020603050405020304" pitchFamily="18" charset="0"/>
                <a:sym typeface="Wingdings" panose="05000000000000000000" pitchFamily="2" charset="2"/>
              </a:rPr>
              <a:t>)</a:t>
            </a:r>
            <a:r>
              <a:rPr kumimoji="1" lang="zh-CN" altLang="en-US" sz="2900" dirty="0">
                <a:solidFill>
                  <a:srgbClr val="000066"/>
                </a:solidFill>
                <a:latin typeface="Times New Roman" panose="02020603050405020304" pitchFamily="18" charset="0"/>
                <a:sym typeface="Wingdings" panose="05000000000000000000" pitchFamily="2" charset="2"/>
              </a:rPr>
              <a:t>，</a:t>
            </a:r>
            <a:r>
              <a:rPr kumimoji="1" lang="en-US" altLang="zh-CN" sz="2900" dirty="0">
                <a:solidFill>
                  <a:srgbClr val="000066"/>
                </a:solidFill>
                <a:latin typeface="Times New Roman" panose="02020603050405020304" pitchFamily="18" charset="0"/>
                <a:sym typeface="Wingdings" panose="05000000000000000000" pitchFamily="2" charset="2"/>
              </a:rPr>
              <a:t>P</a:t>
            </a:r>
            <a:r>
              <a:rPr kumimoji="1" lang="zh-CN" altLang="en-US" sz="2900" dirty="0">
                <a:solidFill>
                  <a:srgbClr val="000066"/>
                </a:solidFill>
                <a:latin typeface="Times New Roman" panose="02020603050405020304" pitchFamily="18" charset="0"/>
                <a:sym typeface="Wingdings" panose="05000000000000000000" pitchFamily="2" charset="2"/>
              </a:rPr>
              <a:t>为公钥</a:t>
            </a:r>
          </a:p>
          <a:p>
            <a:pPr lvl="2">
              <a:lnSpc>
                <a:spcPct val="120000"/>
              </a:lnSpc>
              <a:spcBef>
                <a:spcPct val="20000"/>
              </a:spcBef>
              <a:buFontTx/>
              <a:buChar char="–"/>
            </a:pPr>
            <a:r>
              <a:rPr kumimoji="1" lang="zh-CN" altLang="en-US" sz="2900" dirty="0">
                <a:solidFill>
                  <a:srgbClr val="000066"/>
                </a:solidFill>
                <a:latin typeface="Times New Roman" panose="02020603050405020304" pitchFamily="18" charset="0"/>
                <a:sym typeface="Wingdings" panose="05000000000000000000" pitchFamily="2" charset="2"/>
              </a:rPr>
              <a:t>保密私钥</a:t>
            </a:r>
            <a:r>
              <a:rPr kumimoji="1" lang="en-US" altLang="zh-CN" sz="2900" dirty="0">
                <a:solidFill>
                  <a:srgbClr val="000066"/>
                </a:solidFill>
                <a:latin typeface="Times New Roman" panose="02020603050405020304" pitchFamily="18" charset="0"/>
                <a:sym typeface="Wingdings" panose="05000000000000000000" pitchFamily="2" charset="2"/>
              </a:rPr>
              <a:t>r</a:t>
            </a:r>
          </a:p>
          <a:p>
            <a:pPr lvl="1">
              <a:lnSpc>
                <a:spcPct val="120000"/>
              </a:lnSpc>
              <a:spcBef>
                <a:spcPct val="20000"/>
              </a:spcBef>
              <a:buFontTx/>
              <a:buChar char="•"/>
            </a:pPr>
            <a:r>
              <a:rPr kumimoji="1" lang="zh-CN" altLang="en-US" sz="2900" dirty="0">
                <a:solidFill>
                  <a:srgbClr val="000066"/>
                </a:solidFill>
                <a:latin typeface="Times New Roman" panose="02020603050405020304" pitchFamily="18" charset="0"/>
                <a:sym typeface="Wingdings" panose="05000000000000000000" pitchFamily="2" charset="2"/>
              </a:rPr>
              <a:t>加密</a:t>
            </a:r>
            <a:r>
              <a:rPr kumimoji="1" lang="en-US" altLang="zh-CN" sz="2900" dirty="0">
                <a:solidFill>
                  <a:srgbClr val="000066"/>
                </a:solidFill>
                <a:latin typeface="Times New Roman" panose="02020603050405020304" pitchFamily="18" charset="0"/>
                <a:sym typeface="Wingdings" panose="05000000000000000000" pitchFamily="2" charset="2"/>
              </a:rPr>
              <a:t>M</a:t>
            </a:r>
            <a:r>
              <a:rPr kumimoji="1" lang="zh-CN" altLang="en-US" sz="2900" dirty="0">
                <a:solidFill>
                  <a:srgbClr val="000066"/>
                </a:solidFill>
                <a:latin typeface="Times New Roman" panose="02020603050405020304" pitchFamily="18" charset="0"/>
                <a:sym typeface="Wingdings" panose="05000000000000000000" pitchFamily="2" charset="2"/>
              </a:rPr>
              <a:t>：先把消息</a:t>
            </a:r>
            <a:r>
              <a:rPr kumimoji="1" lang="en-US" altLang="zh-CN" sz="2900" dirty="0">
                <a:solidFill>
                  <a:srgbClr val="000066"/>
                </a:solidFill>
                <a:latin typeface="Times New Roman" panose="02020603050405020304" pitchFamily="18" charset="0"/>
                <a:sym typeface="Wingdings" panose="05000000000000000000" pitchFamily="2" charset="2"/>
              </a:rPr>
              <a:t>M</a:t>
            </a:r>
            <a:r>
              <a:rPr kumimoji="1" lang="zh-CN" altLang="en-US" sz="2900" dirty="0">
                <a:solidFill>
                  <a:srgbClr val="000066"/>
                </a:solidFill>
                <a:latin typeface="Times New Roman" panose="02020603050405020304" pitchFamily="18" charset="0"/>
                <a:sym typeface="Wingdings" panose="05000000000000000000" pitchFamily="2" charset="2"/>
              </a:rPr>
              <a:t>变换成为</a:t>
            </a:r>
            <a:r>
              <a:rPr kumimoji="1" lang="en-US" altLang="zh-CN" sz="2900" dirty="0">
                <a:solidFill>
                  <a:srgbClr val="000066"/>
                </a:solidFill>
                <a:latin typeface="Times New Roman" panose="02020603050405020304" pitchFamily="18" charset="0"/>
                <a:sym typeface="Wingdings" panose="05000000000000000000" pitchFamily="2" charset="2"/>
              </a:rPr>
              <a:t>E</a:t>
            </a:r>
            <a:r>
              <a:rPr kumimoji="1" lang="en-US" altLang="zh-CN" sz="2900" baseline="-25000" dirty="0">
                <a:solidFill>
                  <a:srgbClr val="000066"/>
                </a:solidFill>
                <a:latin typeface="Times New Roman" panose="02020603050405020304" pitchFamily="18" charset="0"/>
                <a:sym typeface="Wingdings" panose="05000000000000000000" pitchFamily="2" charset="2"/>
              </a:rPr>
              <a:t>p</a:t>
            </a:r>
            <a:r>
              <a:rPr kumimoji="1" lang="en-US" altLang="zh-CN" sz="2900" dirty="0">
                <a:solidFill>
                  <a:srgbClr val="000066"/>
                </a:solidFill>
                <a:latin typeface="Times New Roman" panose="02020603050405020304" pitchFamily="18" charset="0"/>
                <a:sym typeface="Wingdings" panose="05000000000000000000" pitchFamily="2" charset="2"/>
              </a:rPr>
              <a:t>(</a:t>
            </a:r>
            <a:r>
              <a:rPr kumimoji="1" lang="en-US" altLang="zh-CN" sz="2900" dirty="0" err="1">
                <a:solidFill>
                  <a:srgbClr val="000066"/>
                </a:solidFill>
                <a:latin typeface="Times New Roman" panose="02020603050405020304" pitchFamily="18" charset="0"/>
                <a:sym typeface="Wingdings" panose="05000000000000000000" pitchFamily="2" charset="2"/>
              </a:rPr>
              <a:t>a,b</a:t>
            </a:r>
            <a:r>
              <a:rPr kumimoji="1" lang="en-US" altLang="zh-CN" sz="2900" dirty="0">
                <a:solidFill>
                  <a:srgbClr val="000066"/>
                </a:solidFill>
                <a:latin typeface="Times New Roman" panose="02020603050405020304" pitchFamily="18" charset="0"/>
                <a:sym typeface="Wingdings" panose="05000000000000000000" pitchFamily="2" charset="2"/>
              </a:rPr>
              <a:t>)</a:t>
            </a:r>
            <a:r>
              <a:rPr kumimoji="1" lang="zh-CN" altLang="en-US" sz="2900" dirty="0">
                <a:solidFill>
                  <a:srgbClr val="000066"/>
                </a:solidFill>
                <a:latin typeface="Times New Roman" panose="02020603050405020304" pitchFamily="18" charset="0"/>
                <a:sym typeface="Wingdings" panose="05000000000000000000" pitchFamily="2" charset="2"/>
              </a:rPr>
              <a:t>中一个点</a:t>
            </a:r>
            <a:r>
              <a:rPr kumimoji="1" lang="en-US" altLang="zh-CN" sz="2900" dirty="0">
                <a:solidFill>
                  <a:srgbClr val="000066"/>
                </a:solidFill>
                <a:latin typeface="Times New Roman" panose="02020603050405020304" pitchFamily="18" charset="0"/>
                <a:sym typeface="Wingdings" panose="05000000000000000000" pitchFamily="2" charset="2"/>
              </a:rPr>
              <a:t>P</a:t>
            </a:r>
            <a:r>
              <a:rPr kumimoji="1" lang="en-US" altLang="zh-CN" sz="2900" baseline="-25000" dirty="0">
                <a:solidFill>
                  <a:srgbClr val="000066"/>
                </a:solidFill>
                <a:latin typeface="Times New Roman" panose="02020603050405020304" pitchFamily="18" charset="0"/>
                <a:sym typeface="Wingdings" panose="05000000000000000000" pitchFamily="2" charset="2"/>
              </a:rPr>
              <a:t>m</a:t>
            </a:r>
          </a:p>
          <a:p>
            <a:pPr lvl="2">
              <a:lnSpc>
                <a:spcPct val="120000"/>
              </a:lnSpc>
              <a:spcBef>
                <a:spcPct val="20000"/>
              </a:spcBef>
              <a:buFontTx/>
              <a:buChar char="–"/>
            </a:pPr>
            <a:r>
              <a:rPr kumimoji="1" lang="zh-CN" altLang="en-US" sz="2900" dirty="0">
                <a:solidFill>
                  <a:srgbClr val="000066"/>
                </a:solidFill>
                <a:latin typeface="Times New Roman" panose="02020603050405020304" pitchFamily="18" charset="0"/>
                <a:sym typeface="Wingdings" panose="05000000000000000000" pitchFamily="2" charset="2"/>
              </a:rPr>
              <a:t>然后，选择随机数</a:t>
            </a:r>
            <a:r>
              <a:rPr kumimoji="1" lang="en-US" altLang="zh-CN" sz="2900" dirty="0">
                <a:solidFill>
                  <a:srgbClr val="000066"/>
                </a:solidFill>
                <a:latin typeface="Times New Roman" panose="02020603050405020304" pitchFamily="18" charset="0"/>
                <a:sym typeface="Wingdings" panose="05000000000000000000" pitchFamily="2" charset="2"/>
              </a:rPr>
              <a:t>k</a:t>
            </a:r>
            <a:r>
              <a:rPr kumimoji="1" lang="zh-CN" altLang="en-US" sz="2900" dirty="0">
                <a:solidFill>
                  <a:srgbClr val="000066"/>
                </a:solidFill>
                <a:latin typeface="Times New Roman" panose="02020603050405020304" pitchFamily="18" charset="0"/>
                <a:sym typeface="Wingdings" panose="05000000000000000000" pitchFamily="2" charset="2"/>
              </a:rPr>
              <a:t>，计算密文</a:t>
            </a:r>
            <a:r>
              <a:rPr kumimoji="1" lang="en-US" altLang="zh-CN" sz="2900" dirty="0">
                <a:solidFill>
                  <a:srgbClr val="000066"/>
                </a:solidFill>
                <a:latin typeface="Times New Roman" panose="02020603050405020304" pitchFamily="18" charset="0"/>
                <a:sym typeface="Wingdings" panose="05000000000000000000" pitchFamily="2" charset="2"/>
              </a:rPr>
              <a:t>C</a:t>
            </a:r>
            <a:r>
              <a:rPr kumimoji="1" lang="en-US" altLang="zh-CN" sz="2900" baseline="-25000" dirty="0">
                <a:solidFill>
                  <a:srgbClr val="000066"/>
                </a:solidFill>
                <a:latin typeface="Times New Roman" panose="02020603050405020304" pitchFamily="18" charset="0"/>
                <a:sym typeface="Wingdings" panose="05000000000000000000" pitchFamily="2" charset="2"/>
              </a:rPr>
              <a:t>m</a:t>
            </a:r>
            <a:r>
              <a:rPr kumimoji="1" lang="en-US" altLang="zh-CN" sz="2900" dirty="0">
                <a:solidFill>
                  <a:srgbClr val="000066"/>
                </a:solidFill>
                <a:latin typeface="Times New Roman" panose="02020603050405020304" pitchFamily="18" charset="0"/>
                <a:sym typeface="Wingdings" panose="05000000000000000000" pitchFamily="2" charset="2"/>
              </a:rPr>
              <a:t>={[k]</a:t>
            </a:r>
            <a:r>
              <a:rPr kumimoji="1" lang="en-US" altLang="zh-CN" sz="2900" dirty="0" err="1">
                <a:solidFill>
                  <a:srgbClr val="000066"/>
                </a:solidFill>
                <a:latin typeface="Times New Roman" panose="02020603050405020304" pitchFamily="18" charset="0"/>
                <a:sym typeface="Wingdings" panose="05000000000000000000" pitchFamily="2" charset="2"/>
              </a:rPr>
              <a:t>G,P</a:t>
            </a:r>
            <a:r>
              <a:rPr kumimoji="1" lang="en-US" altLang="zh-CN" sz="2900" baseline="-25000" dirty="0" err="1">
                <a:solidFill>
                  <a:srgbClr val="000066"/>
                </a:solidFill>
                <a:latin typeface="Times New Roman" panose="02020603050405020304" pitchFamily="18" charset="0"/>
                <a:sym typeface="Wingdings" panose="05000000000000000000" pitchFamily="2" charset="2"/>
              </a:rPr>
              <a:t>m</a:t>
            </a:r>
            <a:r>
              <a:rPr kumimoji="1" lang="en-US" altLang="zh-CN" sz="2900" dirty="0">
                <a:solidFill>
                  <a:srgbClr val="000066"/>
                </a:solidFill>
                <a:latin typeface="Times New Roman" panose="02020603050405020304" pitchFamily="18" charset="0"/>
                <a:sym typeface="Wingdings" panose="05000000000000000000" pitchFamily="2" charset="2"/>
              </a:rPr>
              <a:t>+[k]P}</a:t>
            </a:r>
          </a:p>
          <a:p>
            <a:pPr lvl="2">
              <a:lnSpc>
                <a:spcPct val="120000"/>
              </a:lnSpc>
              <a:spcBef>
                <a:spcPct val="20000"/>
              </a:spcBef>
              <a:buFontTx/>
              <a:buChar char="–"/>
            </a:pPr>
            <a:r>
              <a:rPr kumimoji="1" lang="zh-CN" altLang="en-US" sz="2900" dirty="0">
                <a:solidFill>
                  <a:srgbClr val="000066"/>
                </a:solidFill>
                <a:latin typeface="Times New Roman" panose="02020603050405020304" pitchFamily="18" charset="0"/>
                <a:sym typeface="Wingdings" panose="05000000000000000000" pitchFamily="2" charset="2"/>
              </a:rPr>
              <a:t>如果</a:t>
            </a:r>
            <a:r>
              <a:rPr kumimoji="1" lang="en-US" altLang="zh-CN" sz="2900" dirty="0">
                <a:solidFill>
                  <a:srgbClr val="000066"/>
                </a:solidFill>
                <a:latin typeface="Times New Roman" panose="02020603050405020304" pitchFamily="18" charset="0"/>
                <a:sym typeface="Wingdings" panose="05000000000000000000" pitchFamily="2" charset="2"/>
              </a:rPr>
              <a:t>k</a:t>
            </a:r>
            <a:r>
              <a:rPr kumimoji="1" lang="zh-CN" altLang="en-US" sz="2900" dirty="0">
                <a:solidFill>
                  <a:srgbClr val="000066"/>
                </a:solidFill>
                <a:latin typeface="Times New Roman" panose="02020603050405020304" pitchFamily="18" charset="0"/>
                <a:sym typeface="Wingdings" panose="05000000000000000000" pitchFamily="2" charset="2"/>
              </a:rPr>
              <a:t>使得</a:t>
            </a:r>
            <a:r>
              <a:rPr kumimoji="1" lang="en-US" altLang="zh-CN" sz="2900" dirty="0">
                <a:solidFill>
                  <a:srgbClr val="000066"/>
                </a:solidFill>
                <a:latin typeface="Times New Roman" panose="02020603050405020304" pitchFamily="18" charset="0"/>
                <a:sym typeface="Wingdings" panose="05000000000000000000" pitchFamily="2" charset="2"/>
              </a:rPr>
              <a:t>[k]G</a:t>
            </a:r>
            <a:r>
              <a:rPr kumimoji="1" lang="zh-CN" altLang="en-US" sz="2900" dirty="0">
                <a:solidFill>
                  <a:srgbClr val="000066"/>
                </a:solidFill>
                <a:latin typeface="Times New Roman" panose="02020603050405020304" pitchFamily="18" charset="0"/>
                <a:sym typeface="Wingdings" panose="05000000000000000000" pitchFamily="2" charset="2"/>
              </a:rPr>
              <a:t>或者</a:t>
            </a:r>
            <a:r>
              <a:rPr kumimoji="1" lang="en-US" altLang="zh-CN" sz="2900" dirty="0">
                <a:solidFill>
                  <a:srgbClr val="000066"/>
                </a:solidFill>
                <a:latin typeface="Times New Roman" panose="02020603050405020304" pitchFamily="18" charset="0"/>
                <a:sym typeface="Wingdings" panose="05000000000000000000" pitchFamily="2" charset="2"/>
              </a:rPr>
              <a:t>[k]P</a:t>
            </a:r>
            <a:r>
              <a:rPr kumimoji="1" lang="zh-CN" altLang="en-US" sz="2900" dirty="0">
                <a:solidFill>
                  <a:srgbClr val="000066"/>
                </a:solidFill>
                <a:latin typeface="Times New Roman" panose="02020603050405020304" pitchFamily="18" charset="0"/>
                <a:sym typeface="Wingdings" panose="05000000000000000000" pitchFamily="2" charset="2"/>
              </a:rPr>
              <a:t>为</a:t>
            </a:r>
            <a:r>
              <a:rPr kumimoji="1" lang="en-US" altLang="zh-CN" sz="2900" dirty="0">
                <a:solidFill>
                  <a:srgbClr val="000066"/>
                </a:solidFill>
                <a:latin typeface="Times New Roman" panose="02020603050405020304" pitchFamily="18" charset="0"/>
                <a:sym typeface="Wingdings" panose="05000000000000000000" pitchFamily="2" charset="2"/>
              </a:rPr>
              <a:t>O</a:t>
            </a:r>
            <a:r>
              <a:rPr kumimoji="1" lang="zh-CN" altLang="en-US" sz="2900" dirty="0">
                <a:solidFill>
                  <a:srgbClr val="000066"/>
                </a:solidFill>
                <a:latin typeface="Times New Roman" panose="02020603050405020304" pitchFamily="18" charset="0"/>
                <a:sym typeface="Wingdings" panose="05000000000000000000" pitchFamily="2" charset="2"/>
              </a:rPr>
              <a:t>，则要重新选择</a:t>
            </a:r>
            <a:r>
              <a:rPr kumimoji="1" lang="en-US" altLang="zh-CN" sz="2900" dirty="0">
                <a:solidFill>
                  <a:srgbClr val="000066"/>
                </a:solidFill>
                <a:latin typeface="Times New Roman" panose="02020603050405020304" pitchFamily="18" charset="0"/>
                <a:sym typeface="Wingdings" panose="05000000000000000000" pitchFamily="2" charset="2"/>
              </a:rPr>
              <a:t>k.</a:t>
            </a:r>
          </a:p>
          <a:p>
            <a:pPr lvl="1">
              <a:lnSpc>
                <a:spcPct val="120000"/>
              </a:lnSpc>
              <a:spcBef>
                <a:spcPct val="20000"/>
              </a:spcBef>
              <a:buFontTx/>
              <a:buChar char="•"/>
            </a:pPr>
            <a:r>
              <a:rPr kumimoji="1" lang="zh-CN" altLang="en-US" sz="2900" dirty="0">
                <a:solidFill>
                  <a:srgbClr val="000066"/>
                </a:solidFill>
                <a:latin typeface="Times New Roman" panose="02020603050405020304" pitchFamily="18" charset="0"/>
                <a:sym typeface="Wingdings" panose="05000000000000000000" pitchFamily="2" charset="2"/>
              </a:rPr>
              <a:t>解密</a:t>
            </a:r>
            <a:r>
              <a:rPr kumimoji="1" lang="en-US" altLang="zh-CN" sz="2900" dirty="0">
                <a:solidFill>
                  <a:srgbClr val="000066"/>
                </a:solidFill>
                <a:latin typeface="Times New Roman" panose="02020603050405020304" pitchFamily="18" charset="0"/>
                <a:sym typeface="Wingdings" panose="05000000000000000000" pitchFamily="2" charset="2"/>
              </a:rPr>
              <a:t>C</a:t>
            </a:r>
            <a:r>
              <a:rPr kumimoji="1" lang="en-US" altLang="zh-CN" sz="2900" baseline="-25000" dirty="0">
                <a:solidFill>
                  <a:srgbClr val="000066"/>
                </a:solidFill>
                <a:latin typeface="Times New Roman" panose="02020603050405020304" pitchFamily="18" charset="0"/>
                <a:sym typeface="Wingdings" panose="05000000000000000000" pitchFamily="2" charset="2"/>
              </a:rPr>
              <a:t>m</a:t>
            </a:r>
            <a:r>
              <a:rPr kumimoji="1" lang="en-US" altLang="zh-CN" sz="2900" dirty="0">
                <a:solidFill>
                  <a:srgbClr val="000066"/>
                </a:solidFill>
                <a:latin typeface="Times New Roman" panose="02020603050405020304" pitchFamily="18" charset="0"/>
                <a:sym typeface="Wingdings" panose="05000000000000000000" pitchFamily="2" charset="2"/>
              </a:rPr>
              <a:t>:   </a:t>
            </a:r>
            <a:r>
              <a:rPr kumimoji="1" lang="en-US" altLang="zh-CN" sz="2900" dirty="0">
                <a:solidFill>
                  <a:srgbClr val="000066"/>
                </a:solidFill>
                <a:latin typeface="Times New Roman" panose="02020603050405020304" pitchFamily="18" charset="0"/>
              </a:rPr>
              <a:t>P</a:t>
            </a:r>
            <a:r>
              <a:rPr kumimoji="1" lang="en-US" altLang="zh-CN" sz="2900" baseline="-25000" dirty="0">
                <a:solidFill>
                  <a:srgbClr val="000066"/>
                </a:solidFill>
                <a:latin typeface="Times New Roman" panose="02020603050405020304" pitchFamily="18" charset="0"/>
              </a:rPr>
              <a:t>m</a:t>
            </a:r>
            <a:r>
              <a:rPr kumimoji="1" lang="en-US" altLang="zh-CN" sz="2900" dirty="0">
                <a:solidFill>
                  <a:srgbClr val="000066"/>
                </a:solidFill>
                <a:latin typeface="Times New Roman" panose="02020603050405020304" pitchFamily="18" charset="0"/>
              </a:rPr>
              <a:t>​=C</a:t>
            </a:r>
            <a:r>
              <a:rPr kumimoji="1" lang="en-US" altLang="zh-CN" sz="2900" baseline="-25000" dirty="0">
                <a:solidFill>
                  <a:srgbClr val="000066"/>
                </a:solidFill>
                <a:latin typeface="Times New Roman" panose="02020603050405020304" pitchFamily="18" charset="0"/>
              </a:rPr>
              <a:t>2</a:t>
            </a:r>
            <a:r>
              <a:rPr kumimoji="1" lang="en-US" altLang="zh-CN" sz="2900" dirty="0">
                <a:solidFill>
                  <a:srgbClr val="000066"/>
                </a:solidFill>
                <a:latin typeface="Times New Roman" panose="02020603050405020304" pitchFamily="18" charset="0"/>
              </a:rPr>
              <a:t>​−rC</a:t>
            </a:r>
            <a:r>
              <a:rPr kumimoji="1" lang="en-US" altLang="zh-CN" sz="2900" baseline="-25000" dirty="0">
                <a:solidFill>
                  <a:srgbClr val="000066"/>
                </a:solidFill>
                <a:latin typeface="Times New Roman" panose="02020603050405020304" pitchFamily="18" charset="0"/>
              </a:rPr>
              <a:t>1​</a:t>
            </a:r>
            <a:endParaRPr kumimoji="1" lang="en-US" altLang="zh-CN" sz="2900" baseline="-25000" dirty="0">
              <a:solidFill>
                <a:srgbClr val="000066"/>
              </a:solidFill>
              <a:latin typeface="Times New Roman" panose="02020603050405020304" pitchFamily="18" charset="0"/>
              <a:sym typeface="Wingdings" panose="05000000000000000000" pitchFamily="2" charset="2"/>
            </a:endParaRPr>
          </a:p>
          <a:p>
            <a:pPr lvl="2">
              <a:lnSpc>
                <a:spcPct val="120000"/>
              </a:lnSpc>
              <a:spcBef>
                <a:spcPct val="20000"/>
              </a:spcBef>
              <a:buFontTx/>
              <a:buChar char="•"/>
            </a:pPr>
            <a:r>
              <a:rPr kumimoji="1" lang="en-US" altLang="zh-CN" sz="2500" dirty="0">
                <a:solidFill>
                  <a:srgbClr val="000066"/>
                </a:solidFill>
                <a:latin typeface="Times New Roman" panose="02020603050405020304" pitchFamily="18" charset="0"/>
                <a:sym typeface="Wingdings" panose="05000000000000000000" pitchFamily="2" charset="2"/>
              </a:rPr>
              <a:t> </a:t>
            </a:r>
            <a:r>
              <a:rPr kumimoji="1" lang="zh-CN" altLang="en-US" sz="2500" dirty="0">
                <a:solidFill>
                  <a:srgbClr val="000066"/>
                </a:solidFill>
                <a:latin typeface="Times New Roman" panose="02020603050405020304" pitchFamily="18" charset="0"/>
                <a:sym typeface="Wingdings" panose="05000000000000000000" pitchFamily="2" charset="2"/>
              </a:rPr>
              <a:t>证明：</a:t>
            </a:r>
            <a:r>
              <a:rPr kumimoji="1" lang="en-US" altLang="zh-CN" sz="2500" dirty="0">
                <a:solidFill>
                  <a:srgbClr val="000066"/>
                </a:solidFill>
                <a:latin typeface="Times New Roman" panose="02020603050405020304" pitchFamily="18" charset="0"/>
                <a:sym typeface="Wingdings" panose="05000000000000000000" pitchFamily="2" charset="2"/>
              </a:rPr>
              <a:t>(P</a:t>
            </a:r>
            <a:r>
              <a:rPr kumimoji="1" lang="en-US" altLang="zh-CN" sz="2500" baseline="-25000" dirty="0">
                <a:solidFill>
                  <a:srgbClr val="000066"/>
                </a:solidFill>
                <a:latin typeface="Times New Roman" panose="02020603050405020304" pitchFamily="18" charset="0"/>
                <a:sym typeface="Wingdings" panose="05000000000000000000" pitchFamily="2" charset="2"/>
              </a:rPr>
              <a:t>m</a:t>
            </a:r>
            <a:r>
              <a:rPr kumimoji="1" lang="en-US" altLang="zh-CN" sz="2500" dirty="0">
                <a:solidFill>
                  <a:srgbClr val="000066"/>
                </a:solidFill>
                <a:latin typeface="Times New Roman" panose="02020603050405020304" pitchFamily="18" charset="0"/>
                <a:sym typeface="Wingdings" panose="05000000000000000000" pitchFamily="2" charset="2"/>
              </a:rPr>
              <a:t>+[k]P)-[r]([k]G)=P</a:t>
            </a:r>
            <a:r>
              <a:rPr kumimoji="1" lang="en-US" altLang="zh-CN" sz="2500" baseline="-25000" dirty="0">
                <a:solidFill>
                  <a:srgbClr val="000066"/>
                </a:solidFill>
                <a:latin typeface="Times New Roman" panose="02020603050405020304" pitchFamily="18" charset="0"/>
                <a:sym typeface="Wingdings" panose="05000000000000000000" pitchFamily="2" charset="2"/>
              </a:rPr>
              <a:t>m</a:t>
            </a:r>
            <a:r>
              <a:rPr kumimoji="1" lang="en-US" altLang="zh-CN" sz="2500" dirty="0">
                <a:solidFill>
                  <a:srgbClr val="000066"/>
                </a:solidFill>
                <a:latin typeface="Times New Roman" panose="02020603050405020304" pitchFamily="18" charset="0"/>
                <a:sym typeface="Wingdings" panose="05000000000000000000" pitchFamily="2" charset="2"/>
              </a:rPr>
              <a:t>+[</a:t>
            </a:r>
            <a:r>
              <a:rPr kumimoji="1" lang="en-US" altLang="zh-CN" sz="2500" dirty="0" err="1">
                <a:solidFill>
                  <a:srgbClr val="000066"/>
                </a:solidFill>
                <a:latin typeface="Times New Roman" panose="02020603050405020304" pitchFamily="18" charset="0"/>
                <a:sym typeface="Wingdings" panose="05000000000000000000" pitchFamily="2" charset="2"/>
              </a:rPr>
              <a:t>kr</a:t>
            </a:r>
            <a:r>
              <a:rPr kumimoji="1" lang="en-US" altLang="zh-CN" sz="2500" dirty="0">
                <a:solidFill>
                  <a:srgbClr val="000066"/>
                </a:solidFill>
                <a:latin typeface="Times New Roman" panose="02020603050405020304" pitchFamily="18" charset="0"/>
                <a:sym typeface="Wingdings" panose="05000000000000000000" pitchFamily="2" charset="2"/>
              </a:rPr>
              <a:t>]G-[</a:t>
            </a:r>
            <a:r>
              <a:rPr kumimoji="1" lang="en-US" altLang="zh-CN" sz="2500" dirty="0" err="1">
                <a:solidFill>
                  <a:srgbClr val="000066"/>
                </a:solidFill>
                <a:latin typeface="Times New Roman" panose="02020603050405020304" pitchFamily="18" charset="0"/>
                <a:sym typeface="Wingdings" panose="05000000000000000000" pitchFamily="2" charset="2"/>
              </a:rPr>
              <a:t>rk</a:t>
            </a:r>
            <a:r>
              <a:rPr kumimoji="1" lang="en-US" altLang="zh-CN" sz="2500" dirty="0">
                <a:solidFill>
                  <a:srgbClr val="000066"/>
                </a:solidFill>
                <a:latin typeface="Times New Roman" panose="02020603050405020304" pitchFamily="18" charset="0"/>
                <a:sym typeface="Wingdings" panose="05000000000000000000" pitchFamily="2" charset="2"/>
              </a:rPr>
              <a:t>]G=P</a:t>
            </a:r>
            <a:r>
              <a:rPr kumimoji="1" lang="en-US" altLang="zh-CN" sz="2500" baseline="-25000" dirty="0">
                <a:solidFill>
                  <a:srgbClr val="000066"/>
                </a:solidFill>
                <a:latin typeface="Times New Roman" panose="02020603050405020304" pitchFamily="18" charset="0"/>
                <a:sym typeface="Wingdings" panose="05000000000000000000" pitchFamily="2" charset="2"/>
              </a:rPr>
              <a:t>m</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76</a:t>
            </a:fld>
            <a:endParaRPr kumimoji="1" lang="zh-CN" altLang="en-US" dirty="0"/>
          </a:p>
        </p:txBody>
      </p:sp>
    </p:spTree>
    <p:extLst>
      <p:ext uri="{BB962C8B-B14F-4D97-AF65-F5344CB8AC3E}">
        <p14:creationId xmlns:p14="http://schemas.microsoft.com/office/powerpoint/2010/main" val="10766518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DE513E-FF6D-8FF1-7EBF-D90B2E8890A1}"/>
              </a:ext>
            </a:extLst>
          </p:cNvPr>
          <p:cNvSpPr>
            <a:spLocks noGrp="1"/>
          </p:cNvSpPr>
          <p:nvPr>
            <p:ph type="title"/>
          </p:nvPr>
        </p:nvSpPr>
        <p:spPr/>
        <p:txBody>
          <a:bodyPr/>
          <a:lstStyle/>
          <a:p>
            <a:r>
              <a:rPr lang="en-US" altLang="zh-CN" dirty="0"/>
              <a:t>5.2.5 </a:t>
            </a:r>
            <a:r>
              <a:rPr lang="zh-CN" altLang="en-US" dirty="0"/>
              <a:t>椭圆曲线公钥密码</a:t>
            </a:r>
            <a:r>
              <a:rPr lang="en-US" altLang="zh-CN" dirty="0"/>
              <a:t>ECC</a:t>
            </a:r>
            <a:r>
              <a:rPr lang="zh-CN" altLang="en-US" dirty="0"/>
              <a:t>（加密）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3C4ECB5-A4D8-9AC5-06A2-6DBF94B6E2BE}"/>
                  </a:ext>
                </a:extLst>
              </p:cNvPr>
              <p:cNvSpPr>
                <a:spLocks noGrp="1"/>
              </p:cNvSpPr>
              <p:nvPr>
                <p:ph idx="1"/>
              </p:nvPr>
            </p:nvSpPr>
            <p:spPr>
              <a:xfrm>
                <a:off x="533400" y="1510758"/>
                <a:ext cx="11125200" cy="4586694"/>
              </a:xfrm>
            </p:spPr>
            <p:txBody>
              <a:bodyPr/>
              <a:lstStyle/>
              <a:p>
                <a:r>
                  <a:rPr lang="zh-CN" altLang="en-US" dirty="0"/>
                  <a:t>案例：</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𝐸</m:t>
                        </m:r>
                      </m:e>
                      <m:sub>
                        <m:r>
                          <a:rPr lang="zh-CN" altLang="en-US" i="1">
                            <a:latin typeface="Cambria Math" panose="02040503050406030204" pitchFamily="18" charset="0"/>
                          </a:rPr>
                          <m:t>23</m:t>
                        </m:r>
                      </m:sub>
                    </m:sSub>
                    <m:d>
                      <m:dPr>
                        <m:ctrlPr>
                          <a:rPr lang="zh-CN" altLang="en-US" i="1">
                            <a:latin typeface="Cambria Math" panose="02040503050406030204" pitchFamily="18" charset="0"/>
                          </a:rPr>
                        </m:ctrlPr>
                      </m:dPr>
                      <m:e>
                        <m:r>
                          <a:rPr lang="zh-CN" altLang="en-US" i="1">
                            <a:latin typeface="Cambria Math" panose="02040503050406030204" pitchFamily="18" charset="0"/>
                          </a:rPr>
                          <m:t>1,1</m:t>
                        </m:r>
                      </m:e>
                    </m:d>
                    <m:r>
                      <a:rPr lang="zh-CN" altLang="en-US" i="1">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𝑦</m:t>
                        </m:r>
                      </m:e>
                      <m:sup>
                        <m:r>
                          <a:rPr lang="zh-CN" altLang="en-US" i="1">
                            <a:latin typeface="Cambria Math" panose="02040503050406030204" pitchFamily="18" charset="0"/>
                          </a:rPr>
                          <m:t>2</m:t>
                        </m:r>
                      </m:sup>
                    </m:sSup>
                    <m:r>
                      <a:rPr lang="zh-CN" altLang="en-US" i="1">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r>
                          <a:rPr lang="zh-CN" altLang="en-US" i="1">
                            <a:latin typeface="Cambria Math" panose="02040503050406030204" pitchFamily="18" charset="0"/>
                          </a:rPr>
                          <m:t>3</m:t>
                        </m:r>
                      </m:sup>
                    </m:sSup>
                    <m:r>
                      <a:rPr lang="zh-CN" altLang="en-US" i="1">
                        <a:latin typeface="Cambria Math" panose="02040503050406030204" pitchFamily="18" charset="0"/>
                      </a:rPr>
                      <m:t>+</m:t>
                    </m:r>
                    <m:r>
                      <a:rPr lang="zh-CN" altLang="en-US" i="1">
                        <a:latin typeface="Cambria Math" panose="02040503050406030204" pitchFamily="18" charset="0"/>
                      </a:rPr>
                      <m:t>𝑥</m:t>
                    </m:r>
                    <m:r>
                      <a:rPr lang="zh-CN" altLang="en-US" i="1">
                        <a:latin typeface="Cambria Math" panose="02040503050406030204" pitchFamily="18" charset="0"/>
                      </a:rPr>
                      <m:t>+1  </m:t>
                    </m:r>
                    <m:r>
                      <m:rPr>
                        <m:sty m:val="p"/>
                      </m:rPr>
                      <a:rPr lang="zh-CN" altLang="en-US" i="1">
                        <a:latin typeface="Cambria Math" panose="02040503050406030204" pitchFamily="18" charset="0"/>
                      </a:rPr>
                      <m:t>mod</m:t>
                    </m:r>
                    <m:r>
                      <a:rPr lang="en-US" altLang="zh-CN" b="0" i="1" smtClean="0">
                        <a:latin typeface="Cambria Math" panose="02040503050406030204" pitchFamily="18" charset="0"/>
                      </a:rPr>
                      <m:t> </m:t>
                    </m:r>
                    <m:r>
                      <a:rPr lang="zh-CN" altLang="en-US" i="1">
                        <a:latin typeface="Cambria Math" panose="02040503050406030204" pitchFamily="18" charset="0"/>
                      </a:rPr>
                      <m:t>23</m:t>
                    </m:r>
                  </m:oMath>
                </a14:m>
                <a:r>
                  <a:rPr lang="zh-CN" altLang="en-US" dirty="0"/>
                  <a:t>，</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 = (1, 7)</m:t>
                    </m:r>
                  </m:oMath>
                </a14:m>
                <a:r>
                  <a:rPr lang="zh-CN" altLang="en-US" dirty="0"/>
                  <a:t>，明文为</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𝑚</m:t>
                        </m:r>
                      </m:sub>
                    </m:sSub>
                    <m:r>
                      <a:rPr lang="zh-CN" altLang="en-US" i="1">
                        <a:latin typeface="Cambria Math" panose="02040503050406030204" pitchFamily="18" charset="0"/>
                      </a:rPr>
                      <m:t>=</m:t>
                    </m:r>
                    <m:d>
                      <m:dPr>
                        <m:ctrlPr>
                          <a:rPr lang="zh-CN" altLang="en-US" i="1">
                            <a:latin typeface="Cambria Math" panose="02040503050406030204" pitchFamily="18" charset="0"/>
                          </a:rPr>
                        </m:ctrlPr>
                      </m:dPr>
                      <m:e>
                        <m:r>
                          <a:rPr lang="zh-CN" altLang="en-US" i="1">
                            <a:latin typeface="Cambria Math" panose="02040503050406030204" pitchFamily="18" charset="0"/>
                          </a:rPr>
                          <m:t>4,5</m:t>
                        </m:r>
                      </m:e>
                    </m:d>
                  </m:oMath>
                </a14:m>
                <a:endParaRPr lang="zh-CN" altLang="en-US" dirty="0"/>
              </a:p>
              <a:p>
                <a:pPr lvl="1"/>
                <a:r>
                  <a:rPr lang="zh-CN" altLang="en-US" dirty="0"/>
                  <a:t>接收方秘密选择私钥</a:t>
                </a:r>
                <a:r>
                  <a:rPr lang="en-US" altLang="zh-CN" dirty="0"/>
                  <a:t>d = 3</a:t>
                </a:r>
                <a:r>
                  <a:rPr lang="zh-CN" altLang="en-US" dirty="0"/>
                  <a:t>，计算公钥：</a:t>
                </a:r>
                <a:r>
                  <a:rPr lang="en-US" altLang="zh-CN" dirty="0"/>
                  <a:t>P = 3G = (7,11) + (1,7) = (18,20)</a:t>
                </a:r>
              </a:p>
              <a:p>
                <a:pPr lvl="1"/>
                <a:r>
                  <a:rPr lang="zh-CN" altLang="en-US" dirty="0"/>
                  <a:t>发送方加密：选择</a:t>
                </a:r>
                <a:r>
                  <a:rPr lang="en-US" altLang="zh-CN" dirty="0"/>
                  <a:t>k = 2</a:t>
                </a:r>
                <a:r>
                  <a:rPr lang="zh-CN" altLang="en-US" dirty="0"/>
                  <a:t>，</a:t>
                </a:r>
                <a:r>
                  <a:rPr lang="en-US" altLang="zh-CN" dirty="0"/>
                  <a:t>C</a:t>
                </a:r>
                <a:r>
                  <a:rPr lang="en-US" altLang="zh-CN" baseline="-25000" dirty="0"/>
                  <a:t>m</a:t>
                </a:r>
                <a:r>
                  <a:rPr lang="en-US" altLang="zh-CN" dirty="0"/>
                  <a:t>={[k]</a:t>
                </a:r>
                <a:r>
                  <a:rPr lang="en-US" altLang="zh-CN" dirty="0" err="1"/>
                  <a:t>G,P</a:t>
                </a:r>
                <a:r>
                  <a:rPr lang="en-US" altLang="zh-CN" baseline="-25000" dirty="0" err="1"/>
                  <a:t>m</a:t>
                </a:r>
                <a:r>
                  <a:rPr lang="en-US" altLang="zh-CN" dirty="0"/>
                  <a:t>+[k]P} = {2(1,7), (4,5)+2(18,20)} = {(7,11), (0,2)}</a:t>
                </a:r>
              </a:p>
              <a:p>
                <a:pPr lvl="1"/>
                <a:r>
                  <a:rPr lang="zh-CN" altLang="en-US" dirty="0"/>
                  <a:t>接收方解密：</a:t>
                </a:r>
                <a:r>
                  <a:rPr lang="en-US" altLang="zh-CN" dirty="0"/>
                  <a:t>P</a:t>
                </a:r>
                <a:r>
                  <a:rPr lang="en-US" altLang="zh-CN" baseline="-25000" dirty="0"/>
                  <a:t>m</a:t>
                </a:r>
                <a:r>
                  <a:rPr lang="en-US" altLang="zh-CN" dirty="0"/>
                  <a:t> = (0,2)−3×(7,11)= (4,5)</a:t>
                </a:r>
              </a:p>
            </p:txBody>
          </p:sp>
        </mc:Choice>
        <mc:Fallback xmlns="">
          <p:sp>
            <p:nvSpPr>
              <p:cNvPr id="3" name="内容占位符 2">
                <a:extLst>
                  <a:ext uri="{FF2B5EF4-FFF2-40B4-BE49-F238E27FC236}">
                    <a16:creationId xmlns:a16="http://schemas.microsoft.com/office/drawing/2014/main" id="{13C4ECB5-A4D8-9AC5-06A2-6DBF94B6E2BE}"/>
                  </a:ext>
                </a:extLst>
              </p:cNvPr>
              <p:cNvSpPr>
                <a:spLocks noGrp="1" noRot="1" noChangeAspect="1" noMove="1" noResize="1" noEditPoints="1" noAdjustHandles="1" noChangeArrowheads="1" noChangeShapeType="1" noTextEdit="1"/>
              </p:cNvSpPr>
              <p:nvPr>
                <p:ph idx="1"/>
              </p:nvPr>
            </p:nvSpPr>
            <p:spPr>
              <a:xfrm>
                <a:off x="533400" y="1510758"/>
                <a:ext cx="11125200" cy="4586694"/>
              </a:xfrm>
              <a:blipFill>
                <a:blip r:embed="rId2"/>
                <a:stretch>
                  <a:fillRect l="-986" t="-1463" r="-110"/>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74026D73-E263-BA11-CEB1-9E93A9FDAEC2}"/>
              </a:ext>
            </a:extLst>
          </p:cNvPr>
          <p:cNvSpPr>
            <a:spLocks noGrp="1"/>
          </p:cNvSpPr>
          <p:nvPr>
            <p:ph type="sldNum" sz="quarter" idx="12"/>
          </p:nvPr>
        </p:nvSpPr>
        <p:spPr/>
        <p:txBody>
          <a:bodyPr/>
          <a:lstStyle/>
          <a:p>
            <a:fld id="{8D4D1E41-7A09-AB4A-A4E1-09765ADA2698}" type="slidenum">
              <a:rPr kumimoji="1" lang="zh-CN" altLang="en-US" smtClean="0"/>
              <a:pPr/>
              <a:t>77</a:t>
            </a:fld>
            <a:endParaRPr kumimoji="1" lang="zh-CN" altLang="en-US" dirty="0"/>
          </a:p>
        </p:txBody>
      </p:sp>
    </p:spTree>
    <p:extLst>
      <p:ext uri="{BB962C8B-B14F-4D97-AF65-F5344CB8AC3E}">
        <p14:creationId xmlns:p14="http://schemas.microsoft.com/office/powerpoint/2010/main" val="42846277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273CE1-68C9-B93D-62D1-F512106411A9}"/>
              </a:ext>
            </a:extLst>
          </p:cNvPr>
          <p:cNvSpPr>
            <a:spLocks noGrp="1"/>
          </p:cNvSpPr>
          <p:nvPr>
            <p:ph type="title"/>
          </p:nvPr>
        </p:nvSpPr>
        <p:spPr/>
        <p:txBody>
          <a:bodyPr/>
          <a:lstStyle/>
          <a:p>
            <a:r>
              <a:rPr lang="en-US" altLang="zh-CN" dirty="0"/>
              <a:t>5.2.5 </a:t>
            </a:r>
            <a:r>
              <a:rPr lang="zh-CN" altLang="en-US" dirty="0"/>
              <a:t>椭圆曲线公钥密码</a:t>
            </a:r>
            <a:r>
              <a:rPr lang="en-US" altLang="zh-CN" dirty="0"/>
              <a:t>ECC</a:t>
            </a:r>
            <a:r>
              <a:rPr lang="zh-CN" altLang="en-US" dirty="0"/>
              <a:t>（签名）</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9A596B5-E427-E8A0-B7D8-035A8B3A0A1C}"/>
                  </a:ext>
                </a:extLst>
              </p:cNvPr>
              <p:cNvSpPr>
                <a:spLocks noGrp="1"/>
              </p:cNvSpPr>
              <p:nvPr>
                <p:ph idx="1"/>
              </p:nvPr>
            </p:nvSpPr>
            <p:spPr>
              <a:xfrm>
                <a:off x="838200" y="1538336"/>
                <a:ext cx="10515600" cy="4586694"/>
              </a:xfrm>
            </p:spPr>
            <p:txBody>
              <a:bodyPr/>
              <a:lstStyle/>
              <a:p>
                <a:r>
                  <a:rPr lang="zh-CN" altLang="en-US" dirty="0"/>
                  <a:t>签名流程</a:t>
                </a:r>
                <a:endParaRPr lang="en-US" altLang="zh-CN" dirty="0"/>
              </a:p>
              <a:p>
                <a:pPr lvl="1"/>
                <a:r>
                  <a:rPr lang="zh-CN" altLang="en-US" dirty="0"/>
                  <a:t>初始化与密钥：签名者秘密选择一个整数</a:t>
                </a:r>
                <a:r>
                  <a:rPr lang="en-US" altLang="zh-CN" dirty="0"/>
                  <a:t>d</a:t>
                </a:r>
                <a:r>
                  <a:rPr lang="zh-CN" altLang="en-US" dirty="0"/>
                  <a:t>。公钥为</a:t>
                </a:r>
                <a:r>
                  <a:rPr lang="en-US" altLang="zh-CN" dirty="0"/>
                  <a:t>Q = [d]G</a:t>
                </a:r>
              </a:p>
              <a:p>
                <a:pPr lvl="1"/>
                <a:r>
                  <a:rPr lang="zh-CN" altLang="en-US" dirty="0"/>
                  <a:t>签名过程：</a:t>
                </a:r>
                <a:endParaRPr lang="en-US" altLang="zh-CN" dirty="0"/>
              </a:p>
              <a:p>
                <a:pPr lvl="2"/>
                <a:r>
                  <a:rPr lang="zh-CN" altLang="en-US" dirty="0"/>
                  <a:t>计算消息的哈希值</a:t>
                </a:r>
                <a:r>
                  <a:rPr lang="en-US" altLang="zh-CN" dirty="0"/>
                  <a:t>e = H(M)</a:t>
                </a:r>
                <a:r>
                  <a:rPr lang="zh-CN" altLang="en-US" dirty="0"/>
                  <a:t>，选择一个随机整数</a:t>
                </a:r>
                <a:r>
                  <a:rPr lang="en-US" altLang="zh-CN" dirty="0"/>
                  <a:t>k</a:t>
                </a:r>
                <a:r>
                  <a:rPr lang="zh-CN" altLang="en-US" dirty="0"/>
                  <a:t>。</a:t>
                </a:r>
                <a:endParaRPr lang="en-US" altLang="zh-CN" dirty="0"/>
              </a:p>
              <a:p>
                <a:pPr lvl="2"/>
                <a:r>
                  <a:rPr lang="zh-CN" altLang="en-US" dirty="0"/>
                  <a:t>计算</a:t>
                </a:r>
                <a:r>
                  <a:rPr lang="en-US" altLang="zh-CN" dirty="0"/>
                  <a:t>R = [k]G</a:t>
                </a:r>
                <a:r>
                  <a:rPr lang="zh-CN" altLang="en-US" dirty="0"/>
                  <a:t>，取其横坐标得到签名的第一部分：</a:t>
                </a:r>
                <a:r>
                  <a:rPr lang="pt-BR" altLang="zh-CN" dirty="0"/>
                  <a:t>r = x</a:t>
                </a:r>
                <a:r>
                  <a:rPr lang="pt-BR" altLang="zh-CN" baseline="-25000" dirty="0"/>
                  <a:t>R</a:t>
                </a:r>
                <a:r>
                  <a:rPr lang="pt-BR" altLang="zh-CN" dirty="0"/>
                  <a:t> mod n</a:t>
                </a:r>
              </a:p>
              <a:p>
                <a:pPr lvl="2"/>
                <a:r>
                  <a:rPr lang="zh-CN" altLang="en-US" dirty="0"/>
                  <a:t>计算签名的第二部分：</a:t>
                </a:r>
                <a14:m>
                  <m:oMath xmlns:m="http://schemas.openxmlformats.org/officeDocument/2006/math">
                    <m:r>
                      <a:rPr lang="pt-BR" altLang="zh-CN" i="1" dirty="0" smtClean="0">
                        <a:latin typeface="Cambria Math" panose="02040503050406030204" pitchFamily="18" charset="0"/>
                      </a:rPr>
                      <m:t>𝑠</m:t>
                    </m:r>
                    <m:r>
                      <a:rPr lang="pt-BR" altLang="zh-CN" i="1" dirty="0" smtClean="0">
                        <a:latin typeface="Cambria Math" panose="02040503050406030204" pitchFamily="18" charset="0"/>
                      </a:rPr>
                      <m:t> = </m:t>
                    </m:r>
                    <m:sSup>
                      <m:sSupPr>
                        <m:ctrlPr>
                          <a:rPr lang="pt-BR" altLang="zh-CN" i="1" dirty="0" smtClean="0">
                            <a:latin typeface="Cambria Math" panose="02040503050406030204" pitchFamily="18" charset="0"/>
                          </a:rPr>
                        </m:ctrlPr>
                      </m:sSupPr>
                      <m:e>
                        <m:r>
                          <a:rPr lang="pt-BR" altLang="zh-CN" i="1" dirty="0" smtClean="0">
                            <a:latin typeface="Cambria Math" panose="02040503050406030204" pitchFamily="18" charset="0"/>
                          </a:rPr>
                          <m:t>𝑘</m:t>
                        </m:r>
                      </m:e>
                      <m:sup>
                        <m:r>
                          <a:rPr lang="en-US" altLang="zh-CN" b="0" i="1" dirty="0" smtClean="0">
                            <a:latin typeface="Cambria Math" panose="02040503050406030204" pitchFamily="18" charset="0"/>
                          </a:rPr>
                          <m:t>−1</m:t>
                        </m:r>
                      </m:sup>
                    </m:sSup>
                    <m:d>
                      <m:dPr>
                        <m:ctrlPr>
                          <a:rPr lang="pt-BR" altLang="zh-CN" i="1" dirty="0">
                            <a:latin typeface="Cambria Math" panose="02040503050406030204" pitchFamily="18" charset="0"/>
                          </a:rPr>
                        </m:ctrlPr>
                      </m:dPr>
                      <m:e>
                        <m:r>
                          <a:rPr lang="pt-BR" altLang="zh-CN" i="1" dirty="0">
                            <a:latin typeface="Cambria Math" panose="02040503050406030204" pitchFamily="18" charset="0"/>
                          </a:rPr>
                          <m:t>𝑒</m:t>
                        </m:r>
                        <m:r>
                          <a:rPr lang="pt-BR" altLang="zh-CN" i="1" dirty="0">
                            <a:latin typeface="Cambria Math" panose="02040503050406030204" pitchFamily="18" charset="0"/>
                          </a:rPr>
                          <m:t> + </m:t>
                        </m:r>
                        <m:r>
                          <a:rPr lang="pt-BR" altLang="zh-CN" i="1" dirty="0">
                            <a:latin typeface="Cambria Math" panose="02040503050406030204" pitchFamily="18" charset="0"/>
                          </a:rPr>
                          <m:t>𝑑</m:t>
                        </m:r>
                        <m:r>
                          <a:rPr lang="pt-BR" altLang="zh-CN" i="1" dirty="0">
                            <a:latin typeface="Cambria Math" panose="02040503050406030204" pitchFamily="18" charset="0"/>
                          </a:rPr>
                          <m:t> ⋅</m:t>
                        </m:r>
                        <m:r>
                          <a:rPr lang="pt-BR" altLang="zh-CN" i="1" dirty="0">
                            <a:latin typeface="Cambria Math" panose="02040503050406030204" pitchFamily="18" charset="0"/>
                          </a:rPr>
                          <m:t>𝑟</m:t>
                        </m:r>
                      </m:e>
                    </m:d>
                    <m:r>
                      <a:rPr lang="en-US" altLang="zh-CN" b="0" i="1" dirty="0" smtClean="0">
                        <a:latin typeface="Cambria Math" panose="02040503050406030204" pitchFamily="18" charset="0"/>
                      </a:rPr>
                      <m:t>    </m:t>
                    </m:r>
                    <m:r>
                      <m:rPr>
                        <m:sty m:val="p"/>
                      </m:rPr>
                      <a:rPr lang="pt-BR" altLang="zh-CN" i="1" dirty="0" smtClean="0">
                        <a:latin typeface="Cambria Math" panose="02040503050406030204" pitchFamily="18" charset="0"/>
                      </a:rPr>
                      <m:t>mod</m:t>
                    </m:r>
                    <m:r>
                      <a:rPr lang="pt-BR" altLang="zh-CN" i="1" dirty="0" smtClean="0">
                        <a:latin typeface="Cambria Math" panose="02040503050406030204" pitchFamily="18" charset="0"/>
                      </a:rPr>
                      <m:t> </m:t>
                    </m:r>
                    <m:r>
                      <a:rPr lang="pt-BR" altLang="zh-CN" i="1" dirty="0" smtClean="0">
                        <a:latin typeface="Cambria Math" panose="02040503050406030204" pitchFamily="18" charset="0"/>
                      </a:rPr>
                      <m:t>𝑛</m:t>
                    </m:r>
                  </m:oMath>
                </a14:m>
                <a:endParaRPr lang="en-US" altLang="zh-CN" dirty="0"/>
              </a:p>
              <a:p>
                <a:pPr lvl="1"/>
                <a:r>
                  <a:rPr lang="zh-CN" altLang="en-US" dirty="0"/>
                  <a:t>验签过程：</a:t>
                </a:r>
                <a:endParaRPr lang="en-US" altLang="zh-CN" dirty="0"/>
              </a:p>
              <a:p>
                <a:pPr lvl="2"/>
                <a:r>
                  <a:rPr lang="en-US" altLang="zh-CN" dirty="0"/>
                  <a:t>e = H(M)</a:t>
                </a:r>
              </a:p>
              <a:p>
                <a:pPr lvl="2"/>
                <a14:m>
                  <m:oMath xmlns:m="http://schemas.openxmlformats.org/officeDocument/2006/math">
                    <m:r>
                      <a:rPr lang="pl-PL" altLang="zh-CN" i="1" dirty="0" smtClean="0">
                        <a:latin typeface="Cambria Math" panose="02040503050406030204" pitchFamily="18" charset="0"/>
                      </a:rPr>
                      <m:t>𝑤</m:t>
                    </m:r>
                    <m:r>
                      <a:rPr lang="pl-PL" altLang="zh-CN" i="1" dirty="0" smtClean="0">
                        <a:latin typeface="Cambria Math" panose="02040503050406030204" pitchFamily="18" charset="0"/>
                      </a:rPr>
                      <m:t> = </m:t>
                    </m:r>
                    <m:sSup>
                      <m:sSupPr>
                        <m:ctrlPr>
                          <a:rPr lang="pl-PL" altLang="zh-CN" i="1" dirty="0">
                            <a:latin typeface="Cambria Math" panose="02040503050406030204" pitchFamily="18" charset="0"/>
                          </a:rPr>
                        </m:ctrlPr>
                      </m:sSupPr>
                      <m:e>
                        <m:r>
                          <a:rPr lang="pl-PL" altLang="zh-CN" i="1" dirty="0">
                            <a:latin typeface="Cambria Math" panose="02040503050406030204" pitchFamily="18" charset="0"/>
                          </a:rPr>
                          <m:t>𝑠</m:t>
                        </m:r>
                      </m:e>
                      <m:sup>
                        <m:r>
                          <a:rPr lang="en-US" altLang="zh-CN" b="0" i="1" dirty="0" smtClean="0">
                            <a:latin typeface="Cambria Math" panose="02040503050406030204" pitchFamily="18" charset="0"/>
                          </a:rPr>
                          <m:t>−1</m:t>
                        </m:r>
                      </m:sup>
                    </m:sSup>
                    <m:r>
                      <a:rPr lang="en-US" altLang="zh-CN" b="0" i="1" dirty="0" smtClean="0">
                        <a:latin typeface="Cambria Math" panose="02040503050406030204" pitchFamily="18" charset="0"/>
                      </a:rPr>
                      <m:t>   </m:t>
                    </m:r>
                    <m:r>
                      <m:rPr>
                        <m:sty m:val="p"/>
                      </m:rPr>
                      <a:rPr lang="pl-PL" altLang="zh-CN" i="1" dirty="0">
                        <a:latin typeface="Cambria Math" panose="02040503050406030204" pitchFamily="18" charset="0"/>
                      </a:rPr>
                      <m:t>mod</m:t>
                    </m:r>
                    <m:r>
                      <a:rPr lang="pl-PL" altLang="zh-CN" i="1" dirty="0">
                        <a:latin typeface="Cambria Math" panose="02040503050406030204" pitchFamily="18" charset="0"/>
                      </a:rPr>
                      <m:t> </m:t>
                    </m:r>
                    <m:r>
                      <a:rPr lang="pl-PL" altLang="zh-CN" i="1" dirty="0">
                        <a:latin typeface="Cambria Math" panose="02040503050406030204" pitchFamily="18" charset="0"/>
                      </a:rPr>
                      <m:t>𝑛</m:t>
                    </m:r>
                  </m:oMath>
                </a14:m>
                <a:endParaRPr lang="en-US" altLang="zh-CN" dirty="0"/>
              </a:p>
              <a:p>
                <a:pPr lvl="2"/>
                <a:endParaRPr lang="en-US" altLang="zh-CN" dirty="0"/>
              </a:p>
              <a:p>
                <a:pPr lvl="2"/>
                <a:r>
                  <a:rPr lang="zh-CN" altLang="en-US" dirty="0"/>
                  <a:t>，检查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err="1">
                            <a:latin typeface="Cambria Math" panose="02040503050406030204" pitchFamily="18" charset="0"/>
                          </a:rPr>
                          <m:t>𝑃</m:t>
                        </m:r>
                      </m:sub>
                    </m:sSub>
                    <m:r>
                      <a:rPr lang="en-US" altLang="zh-CN" b="0" i="1" dirty="0" smtClean="0">
                        <a:latin typeface="Cambria Math" panose="02040503050406030204" pitchFamily="18" charset="0"/>
                      </a:rPr>
                      <m:t>   </m:t>
                    </m:r>
                    <m:r>
                      <m:rPr>
                        <m:sty m:val="p"/>
                      </m:rPr>
                      <a:rPr lang="en-US" altLang="zh-CN" i="1" dirty="0" err="1">
                        <a:latin typeface="Cambria Math" panose="02040503050406030204" pitchFamily="18" charset="0"/>
                      </a:rPr>
                      <m:t>mod</m:t>
                    </m:r>
                    <m:r>
                      <a:rPr lang="en-US" altLang="zh-CN" i="1" dirty="0">
                        <a:latin typeface="Cambria Math" panose="02040503050406030204" pitchFamily="18" charset="0"/>
                      </a:rPr>
                      <m:t> </m:t>
                    </m:r>
                    <m:r>
                      <a:rPr lang="en-US" altLang="zh-CN" i="1" dirty="0">
                        <a:latin typeface="Cambria Math" panose="02040503050406030204" pitchFamily="18" charset="0"/>
                      </a:rPr>
                      <m:t>𝑛</m:t>
                    </m:r>
                    <m:r>
                      <a:rPr lang="en-US" altLang="zh-CN" i="1" dirty="0">
                        <a:latin typeface="Cambria Math" panose="02040503050406030204" pitchFamily="18" charset="0"/>
                      </a:rPr>
                      <m:t> == </m:t>
                    </m:r>
                    <m:r>
                      <a:rPr lang="en-US" altLang="zh-CN" i="1" dirty="0" smtClean="0">
                        <a:latin typeface="Cambria Math" panose="02040503050406030204" pitchFamily="18" charset="0"/>
                      </a:rPr>
                      <m:t>𝑟</m:t>
                    </m:r>
                    <m:r>
                      <a:rPr lang="en-US" altLang="zh-CN" i="1" dirty="0" smtClean="0">
                        <a:latin typeface="Cambria Math" panose="02040503050406030204" pitchFamily="18" charset="0"/>
                      </a:rPr>
                      <m:t> </m:t>
                    </m:r>
                  </m:oMath>
                </a14:m>
                <a:r>
                  <a:rPr lang="zh-CN" altLang="en-US" dirty="0"/>
                  <a:t>是否成立。</a:t>
                </a:r>
                <a:endParaRPr lang="en-US" altLang="zh-CN" dirty="0"/>
              </a:p>
            </p:txBody>
          </p:sp>
        </mc:Choice>
        <mc:Fallback xmlns="">
          <p:sp>
            <p:nvSpPr>
              <p:cNvPr id="3" name="内容占位符 2">
                <a:extLst>
                  <a:ext uri="{FF2B5EF4-FFF2-40B4-BE49-F238E27FC236}">
                    <a16:creationId xmlns:a16="http://schemas.microsoft.com/office/drawing/2014/main" id="{69A596B5-E427-E8A0-B7D8-035A8B3A0A1C}"/>
                  </a:ext>
                </a:extLst>
              </p:cNvPr>
              <p:cNvSpPr>
                <a:spLocks noGrp="1" noRot="1" noChangeAspect="1" noMove="1" noResize="1" noEditPoints="1" noAdjustHandles="1" noChangeArrowheads="1" noChangeShapeType="1" noTextEdit="1"/>
              </p:cNvSpPr>
              <p:nvPr>
                <p:ph idx="1"/>
              </p:nvPr>
            </p:nvSpPr>
            <p:spPr>
              <a:xfrm>
                <a:off x="838200" y="1538336"/>
                <a:ext cx="10515600" cy="4586694"/>
              </a:xfrm>
              <a:blipFill>
                <a:blip r:embed="rId2"/>
                <a:stretch>
                  <a:fillRect l="-1043" t="-1328" b="-664"/>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6BD88459-FA31-4281-D5DE-3655522B800C}"/>
              </a:ext>
            </a:extLst>
          </p:cNvPr>
          <p:cNvSpPr>
            <a:spLocks noGrp="1"/>
          </p:cNvSpPr>
          <p:nvPr>
            <p:ph type="sldNum" sz="quarter" idx="12"/>
          </p:nvPr>
        </p:nvSpPr>
        <p:spPr/>
        <p:txBody>
          <a:bodyPr/>
          <a:lstStyle/>
          <a:p>
            <a:fld id="{8D4D1E41-7A09-AB4A-A4E1-09765ADA2698}" type="slidenum">
              <a:rPr kumimoji="1" lang="zh-CN" altLang="en-US" smtClean="0"/>
              <a:pPr/>
              <a:t>78</a:t>
            </a:fld>
            <a:endParaRPr kumimoji="1" lang="zh-CN" altLang="en-US" dirty="0"/>
          </a:p>
        </p:txBody>
      </p:sp>
    </p:spTree>
    <p:extLst>
      <p:ext uri="{BB962C8B-B14F-4D97-AF65-F5344CB8AC3E}">
        <p14:creationId xmlns:p14="http://schemas.microsoft.com/office/powerpoint/2010/main" val="41695675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331C8-FD8C-7EB9-4482-EFAD4D5081C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901240-7049-F755-5962-1906E5929B60}"/>
              </a:ext>
            </a:extLst>
          </p:cNvPr>
          <p:cNvSpPr>
            <a:spLocks noGrp="1"/>
          </p:cNvSpPr>
          <p:nvPr>
            <p:ph type="title"/>
          </p:nvPr>
        </p:nvSpPr>
        <p:spPr/>
        <p:txBody>
          <a:bodyPr/>
          <a:lstStyle/>
          <a:p>
            <a:r>
              <a:rPr lang="en-US" altLang="zh-CN" dirty="0"/>
              <a:t>5.2.5 </a:t>
            </a:r>
            <a:r>
              <a:rPr lang="zh-CN" altLang="en-US" dirty="0"/>
              <a:t>椭圆曲线公钥密码</a:t>
            </a:r>
            <a:r>
              <a:rPr lang="en-US" altLang="zh-CN" dirty="0"/>
              <a:t>ECC</a:t>
            </a:r>
            <a:r>
              <a:rPr lang="zh-CN" altLang="en-US" dirty="0"/>
              <a:t>（签名）</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A09B407-4408-7DED-661C-0E94789BE12D}"/>
                  </a:ext>
                </a:extLst>
              </p:cNvPr>
              <p:cNvSpPr>
                <a:spLocks noGrp="1"/>
              </p:cNvSpPr>
              <p:nvPr>
                <p:ph idx="1"/>
              </p:nvPr>
            </p:nvSpPr>
            <p:spPr/>
            <p:txBody>
              <a:bodyPr/>
              <a:lstStyle/>
              <a:p>
                <a:r>
                  <a:rPr lang="zh-CN" altLang="en-US" dirty="0"/>
                  <a:t>案例：</a:t>
                </a:r>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𝑦</m:t>
                        </m:r>
                      </m:e>
                      <m:sup>
                        <m:r>
                          <a:rPr lang="zh-CN" altLang="en-US" i="1">
                            <a:latin typeface="Cambria Math" panose="02040503050406030204" pitchFamily="18" charset="0"/>
                          </a:rPr>
                          <m:t>2</m:t>
                        </m:r>
                      </m:sup>
                    </m:sSup>
                    <m:r>
                      <a:rPr lang="zh-CN" altLang="en-US" i="1">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r>
                          <a:rPr lang="zh-CN" altLang="en-US" i="1">
                            <a:latin typeface="Cambria Math" panose="02040503050406030204" pitchFamily="18" charset="0"/>
                          </a:rPr>
                          <m:t>3</m:t>
                        </m:r>
                      </m:sup>
                    </m:sSup>
                    <m:r>
                      <a:rPr lang="zh-CN" altLang="en-US" i="1">
                        <a:latin typeface="Cambria Math" panose="02040503050406030204" pitchFamily="18" charset="0"/>
                      </a:rPr>
                      <m:t>+</m:t>
                    </m:r>
                    <m:r>
                      <a:rPr lang="zh-CN" altLang="en-US" i="1">
                        <a:latin typeface="Cambria Math" panose="02040503050406030204" pitchFamily="18" charset="0"/>
                      </a:rPr>
                      <m:t>𝑥</m:t>
                    </m:r>
                    <m:r>
                      <a:rPr lang="zh-CN" altLang="en-US" i="1">
                        <a:latin typeface="Cambria Math" panose="02040503050406030204" pitchFamily="18" charset="0"/>
                      </a:rPr>
                      <m:t>+1  </m:t>
                    </m:r>
                    <m:r>
                      <m:rPr>
                        <m:sty m:val="p"/>
                      </m:rPr>
                      <a:rPr lang="zh-CN" altLang="en-US" i="1">
                        <a:latin typeface="Cambria Math" panose="02040503050406030204" pitchFamily="18" charset="0"/>
                      </a:rPr>
                      <m:t>mod</m:t>
                    </m:r>
                    <m:r>
                      <a:rPr lang="en-US" altLang="zh-CN" b="0" i="1" smtClean="0">
                        <a:latin typeface="Cambria Math" panose="02040503050406030204" pitchFamily="18" charset="0"/>
                      </a:rPr>
                      <m:t> </m:t>
                    </m:r>
                    <m:r>
                      <a:rPr lang="zh-CN" altLang="en-US" i="1">
                        <a:latin typeface="Cambria Math" panose="02040503050406030204" pitchFamily="18" charset="0"/>
                      </a:rPr>
                      <m:t>23</m:t>
                    </m:r>
                  </m:oMath>
                </a14:m>
                <a:r>
                  <a:rPr lang="zh-CN" altLang="en-US" dirty="0"/>
                  <a:t>，基点</a:t>
                </a:r>
                <a:r>
                  <a:rPr lang="en-US" altLang="zh-CN" dirty="0"/>
                  <a:t>G = (1, 7)</a:t>
                </a:r>
                <a:r>
                  <a:rPr lang="zh-CN" altLang="en-US" dirty="0"/>
                  <a:t>，基点的阶</a:t>
                </a:r>
                <a:r>
                  <a:rPr lang="en-US" altLang="zh-CN" dirty="0"/>
                  <a:t>n = 28</a:t>
                </a:r>
              </a:p>
              <a:p>
                <a:pPr lvl="1"/>
                <a:r>
                  <a:rPr lang="zh-CN" altLang="en-US" dirty="0"/>
                  <a:t>产生密钥：选择私钥</a:t>
                </a:r>
                <a:r>
                  <a:rPr lang="en-US" altLang="zh-CN" dirty="0"/>
                  <a:t>d=3</a:t>
                </a:r>
                <a:r>
                  <a:rPr lang="zh-CN" altLang="en-US" dirty="0"/>
                  <a:t>，计算公钥：</a:t>
                </a:r>
                <a:r>
                  <a:rPr lang="en-US" altLang="zh-CN" dirty="0"/>
                  <a:t>Q = 3G = (10,11)</a:t>
                </a:r>
              </a:p>
              <a:p>
                <a:pPr lvl="1"/>
                <a:r>
                  <a:rPr lang="zh-CN" altLang="en-US" dirty="0"/>
                  <a:t>生成签名：</a:t>
                </a:r>
                <a:endParaRPr lang="en-US" altLang="zh-CN" dirty="0"/>
              </a:p>
              <a:p>
                <a:pPr lvl="2"/>
                <a:r>
                  <a:rPr lang="zh-CN" altLang="en-US" dirty="0"/>
                  <a:t>假设 </a:t>
                </a:r>
                <a:r>
                  <a:rPr lang="en-US" altLang="zh-CN" dirty="0"/>
                  <a:t>Alice </a:t>
                </a:r>
                <a:r>
                  <a:rPr lang="zh-CN" altLang="en-US" dirty="0"/>
                  <a:t>要签名的消息哈希值算出为 </a:t>
                </a:r>
                <a:r>
                  <a:rPr lang="en-US" altLang="zh-CN" dirty="0"/>
                  <a:t>e = 11</a:t>
                </a:r>
                <a:r>
                  <a:rPr lang="zh-CN" altLang="en-US" dirty="0"/>
                  <a:t>，选择随机数</a:t>
                </a:r>
                <a:r>
                  <a:rPr lang="en-US" altLang="zh-CN" dirty="0"/>
                  <a:t>k  = 5</a:t>
                </a:r>
              </a:p>
              <a:p>
                <a:pPr lvl="2"/>
                <a:r>
                  <a:rPr lang="zh-CN" altLang="en-US" dirty="0"/>
                  <a:t>计算</a:t>
                </a:r>
                <a:r>
                  <a:rPr lang="en-US" altLang="zh-CN" dirty="0"/>
                  <a:t>R = 5G = </a:t>
                </a:r>
                <a:r>
                  <a:rPr lang="zh-CN" altLang="en-US" dirty="0"/>
                  <a:t>（</a:t>
                </a:r>
                <a:r>
                  <a:rPr lang="en-US" altLang="zh-CN" dirty="0"/>
                  <a:t>4, 5</a:t>
                </a:r>
                <a:r>
                  <a:rPr lang="zh-CN" altLang="en-US" dirty="0"/>
                  <a:t>），选取横坐标为</a:t>
                </a:r>
                <a:r>
                  <a:rPr lang="en-US" altLang="zh-CN" dirty="0"/>
                  <a:t>r = 4</a:t>
                </a:r>
              </a:p>
              <a:p>
                <a:pPr lvl="2"/>
                <a:r>
                  <a:rPr lang="en-US" altLang="zh-CN" dirty="0"/>
                  <a:t>S = 5</a:t>
                </a:r>
                <a:r>
                  <a:rPr lang="en-US" altLang="zh-CN" baseline="30000" dirty="0"/>
                  <a:t>-1</a:t>
                </a:r>
                <a:r>
                  <a:rPr lang="en-US" altLang="zh-CN" dirty="0"/>
                  <a:t>(11 + 3 * 4) = 27</a:t>
                </a:r>
              </a:p>
              <a:p>
                <a:pPr lvl="1"/>
                <a:r>
                  <a:rPr lang="zh-CN" altLang="en-US" dirty="0"/>
                  <a:t>验签：</a:t>
                </a:r>
                <a:endParaRPr lang="en-US" altLang="zh-CN" dirty="0"/>
              </a:p>
              <a:p>
                <a:pPr lvl="2"/>
                <a:r>
                  <a:rPr lang="en-US" altLang="zh-CN" dirty="0"/>
                  <a:t>W</a:t>
                </a:r>
                <a:r>
                  <a:rPr lang="zh-CN" altLang="en-US" dirty="0"/>
                  <a:t> </a:t>
                </a:r>
                <a:r>
                  <a:rPr lang="en-US" altLang="zh-CN" dirty="0"/>
                  <a:t>=</a:t>
                </a:r>
                <a:r>
                  <a:rPr lang="zh-CN" altLang="en-US" dirty="0"/>
                  <a:t> </a:t>
                </a:r>
                <a:r>
                  <a:rPr lang="en-US" altLang="zh-CN" dirty="0"/>
                  <a:t>27</a:t>
                </a:r>
              </a:p>
              <a:p>
                <a:pPr lvl="2"/>
                <a:r>
                  <a:rPr lang="en-US" altLang="zh-CN" dirty="0"/>
                  <a:t>u1 = 11 * 27 = 17, u2 =4 * 27 = 24</a:t>
                </a:r>
              </a:p>
              <a:p>
                <a:pPr lvl="2"/>
                <a:r>
                  <a:rPr lang="en-US" altLang="zh-CN" dirty="0"/>
                  <a:t>P = 17G + 24Q = 5G = (</a:t>
                </a:r>
                <a:r>
                  <a:rPr lang="en-US" altLang="zh-CN"/>
                  <a:t>4,5)    -&gt; 4 == 4</a:t>
                </a:r>
                <a:endParaRPr lang="zh-CN" altLang="en-US" dirty="0"/>
              </a:p>
              <a:p>
                <a:endParaRPr lang="en-US" altLang="zh-CN" dirty="0"/>
              </a:p>
            </p:txBody>
          </p:sp>
        </mc:Choice>
        <mc:Fallback xmlns="">
          <p:sp>
            <p:nvSpPr>
              <p:cNvPr id="3" name="内容占位符 2">
                <a:extLst>
                  <a:ext uri="{FF2B5EF4-FFF2-40B4-BE49-F238E27FC236}">
                    <a16:creationId xmlns:a16="http://schemas.microsoft.com/office/drawing/2014/main" id="{FA09B407-4408-7DED-661C-0E94789BE12D}"/>
                  </a:ext>
                </a:extLst>
              </p:cNvPr>
              <p:cNvSpPr>
                <a:spLocks noGrp="1" noRot="1" noChangeAspect="1" noMove="1" noResize="1" noEditPoints="1" noAdjustHandles="1" noChangeArrowheads="1" noChangeShapeType="1" noTextEdit="1"/>
              </p:cNvSpPr>
              <p:nvPr>
                <p:ph idx="1"/>
              </p:nvPr>
            </p:nvSpPr>
            <p:spPr>
              <a:blipFill>
                <a:blip r:embed="rId2"/>
                <a:stretch>
                  <a:fillRect l="-1043" t="-1463" r="-232" b="-186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A5FCEB2E-9257-B1A6-81FF-F897E98FEEBC}"/>
              </a:ext>
            </a:extLst>
          </p:cNvPr>
          <p:cNvSpPr>
            <a:spLocks noGrp="1"/>
          </p:cNvSpPr>
          <p:nvPr>
            <p:ph type="sldNum" sz="quarter" idx="12"/>
          </p:nvPr>
        </p:nvSpPr>
        <p:spPr/>
        <p:txBody>
          <a:bodyPr/>
          <a:lstStyle/>
          <a:p>
            <a:fld id="{8D4D1E41-7A09-AB4A-A4E1-09765ADA2698}" type="slidenum">
              <a:rPr kumimoji="1" lang="zh-CN" altLang="en-US" smtClean="0"/>
              <a:pPr/>
              <a:t>79</a:t>
            </a:fld>
            <a:endParaRPr kumimoji="1" lang="zh-CN" altLang="en-US" dirty="0"/>
          </a:p>
        </p:txBody>
      </p:sp>
    </p:spTree>
    <p:extLst>
      <p:ext uri="{BB962C8B-B14F-4D97-AF65-F5344CB8AC3E}">
        <p14:creationId xmlns:p14="http://schemas.microsoft.com/office/powerpoint/2010/main" val="21263692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endParaRPr lang="zh-CN" altLang="en-US" dirty="0"/>
          </a:p>
        </p:txBody>
      </p:sp>
      <p:sp>
        <p:nvSpPr>
          <p:cNvPr id="3" name="内容占位符 2"/>
          <p:cNvSpPr>
            <a:spLocks noGrp="1"/>
          </p:cNvSpPr>
          <p:nvPr>
            <p:ph idx="1"/>
          </p:nvPr>
        </p:nvSpPr>
        <p:spPr>
          <a:xfrm>
            <a:off x="700644" y="1510758"/>
            <a:ext cx="10759044" cy="4586694"/>
          </a:xfrm>
        </p:spPr>
        <p:txBody>
          <a:bodyPr>
            <a:normAutofit/>
          </a:bodyPr>
          <a:lstStyle/>
          <a:p>
            <a:r>
              <a:rPr lang="zh-CN" altLang="en-US" dirty="0"/>
              <a:t>椭圆曲线</a:t>
            </a:r>
          </a:p>
          <a:p>
            <a:pPr marL="450850" lvl="1" indent="6350">
              <a:lnSpc>
                <a:spcPct val="150000"/>
              </a:lnSpc>
              <a:buNone/>
            </a:pPr>
            <a:r>
              <a:rPr lang="zh-CN" altLang="en-US" dirty="0"/>
              <a:t>根据这个数学难题，可以构造丰富的公钥密码体制，称为</a:t>
            </a:r>
            <a:r>
              <a:rPr lang="zh-CN" altLang="en-US" dirty="0">
                <a:solidFill>
                  <a:srgbClr val="C00000"/>
                </a:solidFill>
              </a:rPr>
              <a:t>椭圆曲线公钥密码（</a:t>
            </a:r>
            <a:r>
              <a:rPr lang="en-US" altLang="zh-CN" dirty="0">
                <a:solidFill>
                  <a:srgbClr val="C00000"/>
                </a:solidFill>
              </a:rPr>
              <a:t>ECC</a:t>
            </a:r>
            <a:r>
              <a:rPr lang="zh-CN" altLang="en-US" dirty="0">
                <a:solidFill>
                  <a:srgbClr val="C00000"/>
                </a:solidFill>
              </a:rPr>
              <a:t>）</a:t>
            </a:r>
            <a:r>
              <a:rPr lang="zh-CN" altLang="en-US" dirty="0"/>
              <a:t>。 </a:t>
            </a:r>
          </a:p>
          <a:p>
            <a:pPr marL="450850" lvl="1" indent="6350">
              <a:lnSpc>
                <a:spcPct val="150000"/>
              </a:lnSpc>
              <a:buNone/>
            </a:pPr>
            <a:r>
              <a:rPr lang="en-US" altLang="zh-CN" dirty="0" err="1"/>
              <a:t>Certicom</a:t>
            </a:r>
            <a:r>
              <a:rPr lang="en-US" altLang="zh-CN" dirty="0"/>
              <a:t> </a:t>
            </a:r>
            <a:r>
              <a:rPr lang="zh-CN" altLang="en-US" dirty="0"/>
              <a:t>公司对</a:t>
            </a:r>
            <a:r>
              <a:rPr lang="en-US" altLang="zh-CN" dirty="0"/>
              <a:t>ECC</a:t>
            </a:r>
            <a:r>
              <a:rPr lang="zh-CN" altLang="en-US" dirty="0"/>
              <a:t>和</a:t>
            </a:r>
            <a:r>
              <a:rPr lang="en-US" altLang="zh-CN" dirty="0"/>
              <a:t>RSA</a:t>
            </a:r>
            <a:r>
              <a:rPr lang="zh-CN" altLang="en-US" dirty="0"/>
              <a:t>进行了对比，在实现相同的安全性下，</a:t>
            </a:r>
            <a:r>
              <a:rPr lang="en-US" altLang="zh-CN" dirty="0">
                <a:solidFill>
                  <a:srgbClr val="C00000"/>
                </a:solidFill>
              </a:rPr>
              <a:t>ECC </a:t>
            </a:r>
            <a:r>
              <a:rPr lang="zh-CN" altLang="en-US" dirty="0">
                <a:solidFill>
                  <a:srgbClr val="C00000"/>
                </a:solidFill>
              </a:rPr>
              <a:t>所需的密钥量比</a:t>
            </a:r>
            <a:r>
              <a:rPr lang="en-US" altLang="zh-CN" dirty="0">
                <a:solidFill>
                  <a:srgbClr val="C00000"/>
                </a:solidFill>
              </a:rPr>
              <a:t>RSA</a:t>
            </a:r>
            <a:r>
              <a:rPr lang="zh-CN" altLang="en-US" dirty="0">
                <a:solidFill>
                  <a:srgbClr val="C00000"/>
                </a:solidFill>
              </a:rPr>
              <a:t>少得多</a:t>
            </a:r>
            <a:r>
              <a:rPr lang="zh-CN" altLang="en-US" dirty="0"/>
              <a:t>，如下表所示。其中</a:t>
            </a:r>
            <a:r>
              <a:rPr lang="en-US" altLang="zh-CN" dirty="0"/>
              <a:t>MIPS</a:t>
            </a:r>
            <a:r>
              <a:rPr lang="zh-CN" altLang="en-US" dirty="0"/>
              <a:t>表示用每秒完成</a:t>
            </a:r>
            <a:r>
              <a:rPr lang="en-US" altLang="zh-CN" dirty="0"/>
              <a:t>100</a:t>
            </a:r>
            <a:r>
              <a:rPr lang="zh-CN" altLang="en-US" dirty="0"/>
              <a:t>万条指令的计算机所需工作的年数。</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80</a:t>
            </a:fld>
            <a:endParaRPr kumimoji="1" lang="zh-CN" altLang="en-US" dirty="0"/>
          </a:p>
        </p:txBody>
      </p:sp>
    </p:spTree>
    <p:extLst>
      <p:ext uri="{BB962C8B-B14F-4D97-AF65-F5344CB8AC3E}">
        <p14:creationId xmlns:p14="http://schemas.microsoft.com/office/powerpoint/2010/main" val="8296135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endParaRPr lang="zh-CN" altLang="en-US" dirty="0"/>
          </a:p>
        </p:txBody>
      </p:sp>
      <p:sp>
        <p:nvSpPr>
          <p:cNvPr id="3" name="内容占位符 2"/>
          <p:cNvSpPr>
            <a:spLocks noGrp="1"/>
          </p:cNvSpPr>
          <p:nvPr>
            <p:ph idx="1"/>
          </p:nvPr>
        </p:nvSpPr>
        <p:spPr>
          <a:xfrm>
            <a:off x="700644" y="1510758"/>
            <a:ext cx="10759044" cy="4586694"/>
          </a:xfrm>
        </p:spPr>
        <p:txBody>
          <a:bodyPr>
            <a:normAutofit/>
          </a:bodyPr>
          <a:lstStyle/>
          <a:p>
            <a:r>
              <a:rPr lang="zh-CN" altLang="en-US" dirty="0"/>
              <a:t>椭圆曲线</a:t>
            </a:r>
          </a:p>
          <a:p>
            <a:pPr marL="450850" lvl="1" indent="6350">
              <a:lnSpc>
                <a:spcPct val="150000"/>
              </a:lnSpc>
              <a:buNone/>
            </a:pPr>
            <a:r>
              <a:rPr lang="zh-CN" altLang="en-US" dirty="0"/>
              <a:t>因此</a:t>
            </a:r>
            <a:r>
              <a:rPr lang="en-US" altLang="zh-CN" dirty="0"/>
              <a:t>ECC</a:t>
            </a:r>
            <a:r>
              <a:rPr lang="zh-CN" altLang="en-US" dirty="0"/>
              <a:t>与</a:t>
            </a:r>
            <a:r>
              <a:rPr lang="en-US" altLang="zh-CN" dirty="0"/>
              <a:t>RSA</a:t>
            </a:r>
            <a:r>
              <a:rPr lang="zh-CN" altLang="en-US" dirty="0"/>
              <a:t>相比，更加简洁快速。具体地说，实现具有相同安全性的同类体制， </a:t>
            </a:r>
            <a:r>
              <a:rPr lang="en-US" altLang="zh-CN" dirty="0"/>
              <a:t>ECC</a:t>
            </a:r>
            <a:r>
              <a:rPr lang="zh-CN" altLang="en-US" dirty="0"/>
              <a:t>具有更小规模的软、硬件。</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81</a:t>
            </a:fld>
            <a:endParaRPr kumimoji="1" lang="zh-CN" altLang="en-US" dirty="0"/>
          </a:p>
        </p:txBody>
      </p:sp>
      <p:graphicFrame>
        <p:nvGraphicFramePr>
          <p:cNvPr id="10" name="表格 9"/>
          <p:cNvGraphicFramePr>
            <a:graphicFrameLocks noGrp="1"/>
          </p:cNvGraphicFramePr>
          <p:nvPr/>
        </p:nvGraphicFramePr>
        <p:xfrm>
          <a:off x="1877621" y="3260985"/>
          <a:ext cx="8584539" cy="2237290"/>
        </p:xfrm>
        <a:graphic>
          <a:graphicData uri="http://schemas.openxmlformats.org/drawingml/2006/table">
            <a:tbl>
              <a:tblPr firstRow="1" bandRow="1">
                <a:tableStyleId>{5C22544A-7EE6-4342-B048-85BDC9FD1C3A}</a:tableStyleId>
              </a:tblPr>
              <a:tblGrid>
                <a:gridCol w="2861513">
                  <a:extLst>
                    <a:ext uri="{9D8B030D-6E8A-4147-A177-3AD203B41FA5}">
                      <a16:colId xmlns:a16="http://schemas.microsoft.com/office/drawing/2014/main" val="863645429"/>
                    </a:ext>
                  </a:extLst>
                </a:gridCol>
                <a:gridCol w="2861513">
                  <a:extLst>
                    <a:ext uri="{9D8B030D-6E8A-4147-A177-3AD203B41FA5}">
                      <a16:colId xmlns:a16="http://schemas.microsoft.com/office/drawing/2014/main" val="3032235482"/>
                    </a:ext>
                  </a:extLst>
                </a:gridCol>
                <a:gridCol w="2861513">
                  <a:extLst>
                    <a:ext uri="{9D8B030D-6E8A-4147-A177-3AD203B41FA5}">
                      <a16:colId xmlns:a16="http://schemas.microsoft.com/office/drawing/2014/main" val="2860759998"/>
                    </a:ext>
                  </a:extLst>
                </a:gridCol>
              </a:tblGrid>
              <a:tr h="447458">
                <a:tc>
                  <a:txBody>
                    <a:bodyPr/>
                    <a:lstStyle/>
                    <a:p>
                      <a:pPr algn="ctr"/>
                      <a:r>
                        <a:rPr kumimoji="1" lang="en-US" altLang="zh-CN" dirty="0"/>
                        <a:t>ECC</a:t>
                      </a:r>
                      <a:r>
                        <a:rPr kumimoji="1" lang="zh-CN" altLang="en-US" dirty="0"/>
                        <a:t>的密钥长度</a:t>
                      </a:r>
                      <a:r>
                        <a:rPr kumimoji="1" lang="en-US" altLang="zh-CN" i="1" dirty="0"/>
                        <a:t>m</a:t>
                      </a:r>
                      <a:endParaRPr lang="zh-CN" altLang="en-US" dirty="0"/>
                    </a:p>
                  </a:txBody>
                  <a:tcPr/>
                </a:tc>
                <a:tc>
                  <a:txBody>
                    <a:bodyPr/>
                    <a:lstStyle/>
                    <a:p>
                      <a:pPr algn="ctr"/>
                      <a:r>
                        <a:rPr kumimoji="1" lang="en-US" altLang="zh-CN" dirty="0"/>
                        <a:t>RSA</a:t>
                      </a:r>
                      <a:r>
                        <a:rPr kumimoji="1" lang="zh-CN" altLang="en-US" dirty="0"/>
                        <a:t>的密钥长度</a:t>
                      </a:r>
                      <a:endParaRPr lang="zh-CN" altLang="en-US" dirty="0"/>
                    </a:p>
                  </a:txBody>
                  <a:tcPr/>
                </a:tc>
                <a:tc>
                  <a:txBody>
                    <a:bodyPr/>
                    <a:lstStyle/>
                    <a:p>
                      <a:pPr algn="ctr"/>
                      <a:r>
                        <a:rPr kumimoji="1" lang="en-US" altLang="zh-CN" dirty="0"/>
                        <a:t>MIPS-</a:t>
                      </a:r>
                      <a:r>
                        <a:rPr kumimoji="1" lang="zh-CN" altLang="en-US" dirty="0"/>
                        <a:t>年</a:t>
                      </a:r>
                      <a:endParaRPr lang="zh-CN" altLang="en-US" dirty="0"/>
                    </a:p>
                  </a:txBody>
                  <a:tcPr/>
                </a:tc>
                <a:extLst>
                  <a:ext uri="{0D108BD9-81ED-4DB2-BD59-A6C34878D82A}">
                    <a16:rowId xmlns:a16="http://schemas.microsoft.com/office/drawing/2014/main" val="2552444530"/>
                  </a:ext>
                </a:extLst>
              </a:tr>
              <a:tr h="447458">
                <a:tc>
                  <a:txBody>
                    <a:bodyPr/>
                    <a:lstStyle/>
                    <a:p>
                      <a:pPr algn="ctr"/>
                      <a:r>
                        <a:rPr lang="en-US" altLang="zh-CN" b="1" dirty="0"/>
                        <a:t>160</a:t>
                      </a:r>
                      <a:endParaRPr lang="zh-CN" altLang="en-US" b="1" dirty="0"/>
                    </a:p>
                  </a:txBody>
                  <a:tcPr/>
                </a:tc>
                <a:tc>
                  <a:txBody>
                    <a:bodyPr/>
                    <a:lstStyle/>
                    <a:p>
                      <a:pPr algn="ctr"/>
                      <a:r>
                        <a:rPr lang="en-US" altLang="zh-CN" b="1" dirty="0"/>
                        <a:t>1024</a:t>
                      </a:r>
                      <a:endParaRPr lang="zh-CN" altLang="en-US" b="1" dirty="0"/>
                    </a:p>
                  </a:txBody>
                  <a:tcPr/>
                </a:tc>
                <a:tc>
                  <a:txBody>
                    <a:bodyPr/>
                    <a:lstStyle/>
                    <a:p>
                      <a:pPr algn="ctr"/>
                      <a:r>
                        <a:rPr lang="en-US" altLang="zh-CN" b="1" dirty="0"/>
                        <a:t>1012</a:t>
                      </a:r>
                      <a:endParaRPr lang="zh-CN" altLang="en-US" b="1" dirty="0"/>
                    </a:p>
                  </a:txBody>
                  <a:tcPr/>
                </a:tc>
                <a:extLst>
                  <a:ext uri="{0D108BD9-81ED-4DB2-BD59-A6C34878D82A}">
                    <a16:rowId xmlns:a16="http://schemas.microsoft.com/office/drawing/2014/main" val="73317729"/>
                  </a:ext>
                </a:extLst>
              </a:tr>
              <a:tr h="447458">
                <a:tc>
                  <a:txBody>
                    <a:bodyPr/>
                    <a:lstStyle/>
                    <a:p>
                      <a:pPr algn="ctr"/>
                      <a:r>
                        <a:rPr lang="en-US" altLang="zh-CN" b="1" dirty="0"/>
                        <a:t>320</a:t>
                      </a:r>
                      <a:endParaRPr lang="zh-CN" altLang="en-US" b="1" dirty="0"/>
                    </a:p>
                  </a:txBody>
                  <a:tcPr/>
                </a:tc>
                <a:tc>
                  <a:txBody>
                    <a:bodyPr/>
                    <a:lstStyle/>
                    <a:p>
                      <a:pPr algn="ctr"/>
                      <a:r>
                        <a:rPr lang="en-US" altLang="zh-CN" b="1" dirty="0"/>
                        <a:t>5120</a:t>
                      </a:r>
                      <a:endParaRPr lang="zh-CN" altLang="en-US" b="1" dirty="0"/>
                    </a:p>
                  </a:txBody>
                  <a:tcPr/>
                </a:tc>
                <a:tc>
                  <a:txBody>
                    <a:bodyPr/>
                    <a:lstStyle/>
                    <a:p>
                      <a:pPr algn="ctr"/>
                      <a:r>
                        <a:rPr lang="en-US" altLang="zh-CN" b="1" dirty="0"/>
                        <a:t>1036</a:t>
                      </a:r>
                      <a:endParaRPr lang="zh-CN" altLang="en-US" b="1" dirty="0"/>
                    </a:p>
                  </a:txBody>
                  <a:tcPr/>
                </a:tc>
                <a:extLst>
                  <a:ext uri="{0D108BD9-81ED-4DB2-BD59-A6C34878D82A}">
                    <a16:rowId xmlns:a16="http://schemas.microsoft.com/office/drawing/2014/main" val="3426680729"/>
                  </a:ext>
                </a:extLst>
              </a:tr>
              <a:tr h="447458">
                <a:tc>
                  <a:txBody>
                    <a:bodyPr/>
                    <a:lstStyle/>
                    <a:p>
                      <a:pPr algn="ctr"/>
                      <a:r>
                        <a:rPr lang="en-US" altLang="zh-CN" b="1" dirty="0"/>
                        <a:t>600</a:t>
                      </a:r>
                      <a:endParaRPr lang="zh-CN" altLang="en-US" b="1" dirty="0"/>
                    </a:p>
                  </a:txBody>
                  <a:tcPr/>
                </a:tc>
                <a:tc>
                  <a:txBody>
                    <a:bodyPr/>
                    <a:lstStyle/>
                    <a:p>
                      <a:pPr algn="ctr"/>
                      <a:r>
                        <a:rPr lang="en-US" altLang="zh-CN" b="1" dirty="0"/>
                        <a:t>21000</a:t>
                      </a:r>
                      <a:endParaRPr lang="zh-CN" altLang="en-US" b="1" dirty="0"/>
                    </a:p>
                  </a:txBody>
                  <a:tcPr/>
                </a:tc>
                <a:tc>
                  <a:txBody>
                    <a:bodyPr/>
                    <a:lstStyle/>
                    <a:p>
                      <a:pPr algn="ctr"/>
                      <a:r>
                        <a:rPr lang="en-US" altLang="zh-CN" b="1" dirty="0"/>
                        <a:t>1078</a:t>
                      </a:r>
                      <a:endParaRPr lang="zh-CN" altLang="en-US" b="1" dirty="0"/>
                    </a:p>
                  </a:txBody>
                  <a:tcPr/>
                </a:tc>
                <a:extLst>
                  <a:ext uri="{0D108BD9-81ED-4DB2-BD59-A6C34878D82A}">
                    <a16:rowId xmlns:a16="http://schemas.microsoft.com/office/drawing/2014/main" val="3738657335"/>
                  </a:ext>
                </a:extLst>
              </a:tr>
              <a:tr h="447458">
                <a:tc>
                  <a:txBody>
                    <a:bodyPr/>
                    <a:lstStyle/>
                    <a:p>
                      <a:pPr algn="ctr"/>
                      <a:r>
                        <a:rPr lang="en-US" altLang="zh-CN" b="1" dirty="0"/>
                        <a:t>1200</a:t>
                      </a:r>
                      <a:endParaRPr lang="zh-CN" altLang="en-US" b="1" dirty="0"/>
                    </a:p>
                  </a:txBody>
                  <a:tcPr/>
                </a:tc>
                <a:tc>
                  <a:txBody>
                    <a:bodyPr/>
                    <a:lstStyle/>
                    <a:p>
                      <a:pPr algn="ctr"/>
                      <a:r>
                        <a:rPr lang="en-US" altLang="zh-CN" b="1" dirty="0"/>
                        <a:t>120000</a:t>
                      </a:r>
                      <a:endParaRPr lang="zh-CN" altLang="en-US" b="1" dirty="0"/>
                    </a:p>
                  </a:txBody>
                  <a:tcPr/>
                </a:tc>
                <a:tc>
                  <a:txBody>
                    <a:bodyPr/>
                    <a:lstStyle/>
                    <a:p>
                      <a:pPr algn="ctr"/>
                      <a:r>
                        <a:rPr lang="en-US" altLang="zh-CN" b="1" dirty="0"/>
                        <a:t>10168</a:t>
                      </a:r>
                      <a:endParaRPr lang="zh-CN" altLang="en-US" b="1" dirty="0"/>
                    </a:p>
                  </a:txBody>
                  <a:tcPr/>
                </a:tc>
                <a:extLst>
                  <a:ext uri="{0D108BD9-81ED-4DB2-BD59-A6C34878D82A}">
                    <a16:rowId xmlns:a16="http://schemas.microsoft.com/office/drawing/2014/main" val="2376968197"/>
                  </a:ext>
                </a:extLst>
              </a:tr>
            </a:tbl>
          </a:graphicData>
        </a:graphic>
      </p:graphicFrame>
    </p:spTree>
    <p:extLst>
      <p:ext uri="{BB962C8B-B14F-4D97-AF65-F5344CB8AC3E}">
        <p14:creationId xmlns:p14="http://schemas.microsoft.com/office/powerpoint/2010/main" val="21925273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endParaRPr lang="zh-CN" altLang="en-US" dirty="0"/>
          </a:p>
        </p:txBody>
      </p:sp>
      <p:sp>
        <p:nvSpPr>
          <p:cNvPr id="3" name="内容占位符 2"/>
          <p:cNvSpPr>
            <a:spLocks noGrp="1"/>
          </p:cNvSpPr>
          <p:nvPr>
            <p:ph idx="1"/>
          </p:nvPr>
        </p:nvSpPr>
        <p:spPr>
          <a:xfrm>
            <a:off x="700644" y="1510758"/>
            <a:ext cx="10759044" cy="4586694"/>
          </a:xfrm>
        </p:spPr>
        <p:txBody>
          <a:bodyPr>
            <a:normAutofit/>
          </a:bodyPr>
          <a:lstStyle/>
          <a:p>
            <a:r>
              <a:rPr lang="en-US" altLang="zh-CN" dirty="0"/>
              <a:t>DES</a:t>
            </a:r>
            <a:r>
              <a:rPr lang="zh-CN" altLang="en-US" dirty="0"/>
              <a:t>和</a:t>
            </a:r>
            <a:r>
              <a:rPr lang="en-US" altLang="zh-CN" dirty="0"/>
              <a:t>RSA</a:t>
            </a:r>
            <a:r>
              <a:rPr lang="zh-CN" altLang="en-US" dirty="0"/>
              <a:t>性能比较</a:t>
            </a:r>
            <a:r>
              <a:rPr lang="en-US" altLang="zh-CN" dirty="0"/>
              <a:t>(</a:t>
            </a:r>
            <a:r>
              <a:rPr lang="zh-CN" altLang="en-US" dirty="0"/>
              <a:t>同等强度）</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82</a:t>
            </a:fld>
            <a:endParaRPr kumimoji="1" lang="zh-CN" altLang="en-US" dirty="0"/>
          </a:p>
        </p:txBody>
      </p:sp>
      <p:graphicFrame>
        <p:nvGraphicFramePr>
          <p:cNvPr id="6" name="Group 3"/>
          <p:cNvGraphicFramePr>
            <a:graphicFrameLocks noGrp="1"/>
          </p:cNvGraphicFramePr>
          <p:nvPr/>
        </p:nvGraphicFramePr>
        <p:xfrm>
          <a:off x="3022271" y="2473037"/>
          <a:ext cx="6109854" cy="3048989"/>
        </p:xfrm>
        <a:graphic>
          <a:graphicData uri="http://schemas.openxmlformats.org/drawingml/2006/table">
            <a:tbl>
              <a:tblPr/>
              <a:tblGrid>
                <a:gridCol w="3054927">
                  <a:extLst>
                    <a:ext uri="{9D8B030D-6E8A-4147-A177-3AD203B41FA5}">
                      <a16:colId xmlns:a16="http://schemas.microsoft.com/office/drawing/2014/main" val="20000"/>
                    </a:ext>
                  </a:extLst>
                </a:gridCol>
                <a:gridCol w="3054927">
                  <a:extLst>
                    <a:ext uri="{9D8B030D-6E8A-4147-A177-3AD203B41FA5}">
                      <a16:colId xmlns:a16="http://schemas.microsoft.com/office/drawing/2014/main" val="20001"/>
                    </a:ext>
                  </a:extLst>
                </a:gridCol>
              </a:tblGrid>
              <a:tr h="724613">
                <a:tc>
                  <a:txBody>
                    <a:body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itchFamily="2" charset="2"/>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DES</a:t>
                      </a:r>
                      <a:r>
                        <a:rPr kumimoji="1" lang="zh-CN" altLang="en-US" sz="2400" b="0" i="0" u="none" strike="noStrike" cap="none" normalizeH="0" baseline="0">
                          <a:ln>
                            <a:noFill/>
                          </a:ln>
                          <a:solidFill>
                            <a:schemeClr val="tx1"/>
                          </a:solidFill>
                          <a:effectLst/>
                          <a:latin typeface="Times New Roman" pitchFamily="18" charset="0"/>
                          <a:ea typeface="宋体" pitchFamily="2" charset="-122"/>
                        </a:rPr>
                        <a:t>密钥长度</a:t>
                      </a:r>
                      <a:r>
                        <a:rPr kumimoji="1" lang="en-US" altLang="zh-CN" sz="2400" b="0" i="0" u="none" strike="noStrike" cap="none" normalizeH="0" baseline="0">
                          <a:ln>
                            <a:noFill/>
                          </a:ln>
                          <a:solidFill>
                            <a:schemeClr val="tx1"/>
                          </a:solidFill>
                          <a:effectLst/>
                          <a:latin typeface="Times New Roman" pitchFamily="18" charset="0"/>
                          <a:ea typeface="宋体" pitchFamily="2" charset="-122"/>
                        </a:rPr>
                        <a:t>(bit)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itchFamily="2" charset="2"/>
                        <a:buNone/>
                        <a:tabLst/>
                      </a:pPr>
                      <a:r>
                        <a:rPr kumimoji="1" lang="en-US" altLang="zh-CN" sz="2400" b="0" i="0" u="none" strike="noStrike" cap="none" normalizeH="0" baseline="0" dirty="0">
                          <a:ln>
                            <a:noFill/>
                          </a:ln>
                          <a:solidFill>
                            <a:schemeClr val="tx1"/>
                          </a:solidFill>
                          <a:effectLst/>
                          <a:latin typeface="Times New Roman" pitchFamily="18" charset="0"/>
                          <a:ea typeface="宋体" pitchFamily="2" charset="-122"/>
                        </a:rPr>
                        <a:t>RSA</a:t>
                      </a:r>
                      <a:r>
                        <a:rPr kumimoji="1" lang="zh-CN" altLang="en-US" sz="2400" b="0" i="0" u="none" strike="noStrike" cap="none" normalizeH="0" baseline="0" dirty="0">
                          <a:ln>
                            <a:noFill/>
                          </a:ln>
                          <a:solidFill>
                            <a:schemeClr val="tx1"/>
                          </a:solidFill>
                          <a:effectLst/>
                          <a:latin typeface="Times New Roman" pitchFamily="18" charset="0"/>
                          <a:ea typeface="宋体" pitchFamily="2" charset="-122"/>
                        </a:rPr>
                        <a:t>密钥长度</a:t>
                      </a:r>
                      <a:r>
                        <a:rPr kumimoji="1" lang="en-US" altLang="zh-CN" sz="2400" b="0" i="0" u="none" strike="noStrike" cap="none" normalizeH="0" baseline="0" dirty="0">
                          <a:ln>
                            <a:noFill/>
                          </a:ln>
                          <a:solidFill>
                            <a:schemeClr val="tx1"/>
                          </a:solidFill>
                          <a:effectLst/>
                          <a:latin typeface="Times New Roman" pitchFamily="18" charset="0"/>
                          <a:ea typeface="宋体" pitchFamily="2" charset="-122"/>
                        </a:rPr>
                        <a:t>(bit)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094">
                <a:tc>
                  <a:txBody>
                    <a:body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itchFamily="2" charset="2"/>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56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itchFamily="2" charset="2"/>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 384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94">
                <a:tc>
                  <a:txBody>
                    <a:body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itchFamily="2" charset="2"/>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itchFamily="2" charset="2"/>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 512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1094">
                <a:tc>
                  <a:txBody>
                    <a:body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itchFamily="2" charset="2"/>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  112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itchFamily="2" charset="2"/>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1792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94">
                <a:tc>
                  <a:txBody>
                    <a:body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itchFamily="2" charset="2"/>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 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itchFamily="2" charset="2"/>
                        <a:buNone/>
                        <a:tabLst/>
                      </a:pPr>
                      <a:r>
                        <a:rPr kumimoji="1" lang="en-US" altLang="zh-CN" sz="2400" b="0" i="0" u="none" strike="noStrike" cap="none" normalizeH="0" baseline="0" dirty="0">
                          <a:ln>
                            <a:noFill/>
                          </a:ln>
                          <a:solidFill>
                            <a:schemeClr val="tx1"/>
                          </a:solidFill>
                          <a:effectLst/>
                          <a:latin typeface="Times New Roman" pitchFamily="18" charset="0"/>
                          <a:ea typeface="宋体" pitchFamily="2" charset="-122"/>
                        </a:rPr>
                        <a:t>2304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015252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824DC-7D98-1159-5BD1-997BFE90A01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740A7C7-22A6-AE64-3A44-3C73D0CF2970}"/>
              </a:ext>
            </a:extLst>
          </p:cNvPr>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endParaRPr lang="zh-CN" altLang="en-US" dirty="0"/>
          </a:p>
        </p:txBody>
      </p:sp>
      <p:sp>
        <p:nvSpPr>
          <p:cNvPr id="4" name="灯片编号占位符 3">
            <a:extLst>
              <a:ext uri="{FF2B5EF4-FFF2-40B4-BE49-F238E27FC236}">
                <a16:creationId xmlns:a16="http://schemas.microsoft.com/office/drawing/2014/main" id="{364734CA-DA87-ADAE-B3F5-793C05F78A8C}"/>
              </a:ext>
            </a:extLst>
          </p:cNvPr>
          <p:cNvSpPr>
            <a:spLocks noGrp="1"/>
          </p:cNvSpPr>
          <p:nvPr>
            <p:ph type="sldNum" sz="quarter" idx="12"/>
          </p:nvPr>
        </p:nvSpPr>
        <p:spPr/>
        <p:txBody>
          <a:bodyPr/>
          <a:lstStyle/>
          <a:p>
            <a:fld id="{8D4D1E41-7A09-AB4A-A4E1-09765ADA2698}" type="slidenum">
              <a:rPr kumimoji="1" lang="zh-CN" altLang="en-US" smtClean="0"/>
              <a:pPr/>
              <a:t>83</a:t>
            </a:fld>
            <a:endParaRPr kumimoji="1" lang="zh-CN" altLang="en-US" dirty="0"/>
          </a:p>
        </p:txBody>
      </p:sp>
      <p:sp>
        <p:nvSpPr>
          <p:cNvPr id="9" name="文本框 8">
            <a:extLst>
              <a:ext uri="{FF2B5EF4-FFF2-40B4-BE49-F238E27FC236}">
                <a16:creationId xmlns:a16="http://schemas.microsoft.com/office/drawing/2014/main" id="{4742A9FD-30B0-3695-CDC7-26688C283B59}"/>
              </a:ext>
            </a:extLst>
          </p:cNvPr>
          <p:cNvSpPr txBox="1"/>
          <p:nvPr/>
        </p:nvSpPr>
        <p:spPr>
          <a:xfrm>
            <a:off x="825499" y="1675884"/>
            <a:ext cx="7122695" cy="523220"/>
          </a:xfrm>
          <a:prstGeom prst="rect">
            <a:avLst/>
          </a:prstGeom>
          <a:noFill/>
        </p:spPr>
        <p:txBody>
          <a:bodyPr wrap="square">
            <a:spAutoFit/>
          </a:bodyPr>
          <a:lstStyle/>
          <a:p>
            <a:pPr marL="228600" indent="-228600">
              <a:spcBef>
                <a:spcPts val="600"/>
              </a:spcBef>
              <a:buFont typeface="Wingdings" pitchFamily="2" charset="2"/>
              <a:buChar char="Ø"/>
            </a:pPr>
            <a:r>
              <a:rPr lang="en-US" altLang="zh-CN" sz="2800" dirty="0">
                <a:latin typeface="Microsoft YaHei" panose="020B0503020204020204" pitchFamily="34" charset="-122"/>
                <a:ea typeface="Microsoft YaHei" panose="020B0503020204020204" pitchFamily="34" charset="-122"/>
              </a:rPr>
              <a:t>MV-</a:t>
            </a:r>
            <a:r>
              <a:rPr lang="zh-CN" altLang="en-US" sz="2800" dirty="0">
                <a:latin typeface="Microsoft YaHei" panose="020B0503020204020204" pitchFamily="34" charset="-122"/>
                <a:ea typeface="Microsoft YaHei" panose="020B0503020204020204" pitchFamily="34" charset="-122"/>
              </a:rPr>
              <a:t>椭圆曲线公钥密码系统（简化版本）</a:t>
            </a:r>
          </a:p>
        </p:txBody>
      </p:sp>
      <mc:AlternateContent xmlns:mc="http://schemas.openxmlformats.org/markup-compatibility/2006" xmlns:a14="http://schemas.microsoft.com/office/drawing/2010/main">
        <mc:Choice Requires="a14">
          <p:sp>
            <p:nvSpPr>
              <p:cNvPr id="95236" name="Object 4">
                <a:extLst>
                  <a:ext uri="{FF2B5EF4-FFF2-40B4-BE49-F238E27FC236}">
                    <a16:creationId xmlns:a16="http://schemas.microsoft.com/office/drawing/2014/main" id="{DD3062DE-58E0-593C-F56F-C13A83D8F6CD}"/>
                  </a:ext>
                </a:extLst>
              </p:cNvPr>
              <p:cNvSpPr txBox="1"/>
              <p:nvPr/>
            </p:nvSpPr>
            <p:spPr bwMode="auto">
              <a:xfrm>
                <a:off x="3360152" y="2292350"/>
                <a:ext cx="7122695" cy="4383086"/>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椭圆曲线</m:t>
                      </m:r>
                      <m:r>
                        <m:rPr>
                          <m:sty m:val="p"/>
                        </m:rPr>
                        <a:rPr lang="zh-CN" altLang="en-US" i="0">
                          <a:solidFill>
                            <a:srgbClr val="000000"/>
                          </a:solidFill>
                          <a:latin typeface="Cambria Math" panose="02040503050406030204" pitchFamily="18" charset="0"/>
                        </a:rPr>
                        <m:t>E</m:t>
                      </m:r>
                      <m:r>
                        <a:rPr lang="zh-CN" altLang="en-US" i="1">
                          <a:solidFill>
                            <a:srgbClr val="000000"/>
                          </a:solidFill>
                          <a:latin typeface="Cambria Math" panose="02040503050406030204" pitchFamily="18" charset="0"/>
                        </a:rPr>
                        <m:t>定义在</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𝑍</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&gt;3)</m:t>
                      </m:r>
                      <m:r>
                        <a:rPr lang="zh-CN" altLang="en-US" i="1">
                          <a:solidFill>
                            <a:srgbClr val="000000"/>
                          </a:solidFill>
                          <a:latin typeface="Cambria Math" panose="02040503050406030204" pitchFamily="18" charset="0"/>
                        </a:rPr>
                        <m:t>上，</m:t>
                      </m:r>
                    </m:oMath>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密钥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𝐾</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𝐺</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d>
                        <m:dPr>
                          <m:begChr m:val="["/>
                          <m:endChr m:val="]"/>
                          <m:ctrlPr>
                            <a:rPr lang="en-US" altLang="zh-CN" b="0" i="1" smtClean="0">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𝑟</m:t>
                          </m:r>
                        </m:e>
                      </m:d>
                      <m:r>
                        <a:rPr lang="en-US" altLang="zh-CN" b="0" i="1" smtClean="0">
                          <a:solidFill>
                            <a:srgbClr val="000000"/>
                          </a:solidFill>
                          <a:latin typeface="Cambria Math" panose="02040503050406030204" pitchFamily="18" charset="0"/>
                        </a:rPr>
                        <m:t>𝐺</m:t>
                      </m:r>
                      <m:r>
                        <a:rPr lang="en-US" altLang="zh-CN" b="0" i="1" smtClean="0">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其中：</m:t>
                      </m:r>
                      <m:r>
                        <a:rPr lang="en-US" altLang="zh-CN" b="0" i="1" smtClean="0">
                          <a:solidFill>
                            <a:srgbClr val="000000"/>
                          </a:solidFill>
                          <a:latin typeface="Cambria Math" panose="02040503050406030204" pitchFamily="18" charset="0"/>
                        </a:rPr>
                        <m:t>𝐺</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𝐺</m:t>
                      </m:r>
                      <m:r>
                        <a:rPr lang="zh-CN" altLang="en-US" i="1">
                          <a:solidFill>
                            <a:srgbClr val="000000"/>
                          </a:solidFill>
                          <a:latin typeface="Cambria Math" panose="02040503050406030204" pitchFamily="18" charset="0"/>
                        </a:rPr>
                        <m:t>和</m:t>
                      </m:r>
                      <m:r>
                        <a:rPr lang="en-US" altLang="zh-CN" b="0" i="1" smtClean="0">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是公钥</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是私钥</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br>
                  <a:rPr lang="zh-CN" altLang="en-US" i="1" dirty="0">
                    <a:solidFill>
                      <a:srgbClr val="000000"/>
                    </a:solidFill>
                    <a:latin typeface="Cambria Math" panose="02040503050406030204" pitchFamily="18" charset="0"/>
                  </a:rPr>
                </a:br>
                <a14:m>
                  <m:oMath xmlns:m="http://schemas.openxmlformats.org/officeDocument/2006/math">
                    <m:r>
                      <a:rPr lang="zh-CN" altLang="en-US" sz="2400" i="1" smtClean="0">
                        <a:solidFill>
                          <a:srgbClr val="FF0000"/>
                        </a:solidFill>
                        <a:latin typeface="Cambria Math" panose="02040503050406030204" pitchFamily="18" charset="0"/>
                      </a:rPr>
                      <m:t>加密</m:t>
                    </m:r>
                    <m:r>
                      <a:rPr lang="zh-CN" altLang="en-US" sz="2400" i="1" dirty="0" smtClean="0">
                        <a:solidFill>
                          <a:srgbClr val="FF0000"/>
                        </a:solidFill>
                        <a:latin typeface="Cambria Math" panose="02040503050406030204" pitchFamily="18" charset="0"/>
                      </a:rPr>
                      <m:t>明文</m:t>
                    </m:r>
                    <m:sSub>
                      <m:sSubPr>
                        <m:ctrlPr>
                          <a:rPr lang="zh-CN" altLang="en-US" sz="2400" i="1">
                            <a:solidFill>
                              <a:srgbClr val="FF0000"/>
                            </a:solidFill>
                            <a:latin typeface="Cambria Math" panose="02040503050406030204" pitchFamily="18" charset="0"/>
                          </a:rPr>
                        </m:ctrlPr>
                      </m:sSubPr>
                      <m:e>
                        <m:r>
                          <a:rPr lang="en-US" altLang="zh-CN" sz="2400" b="0" i="1" smtClean="0">
                            <a:solidFill>
                              <a:srgbClr val="FF0000"/>
                            </a:solidFill>
                            <a:latin typeface="Cambria Math" panose="02040503050406030204" pitchFamily="18" charset="0"/>
                          </a:rPr>
                          <m:t>𝑥</m:t>
                        </m:r>
                        <m:r>
                          <a:rPr lang="en-US" altLang="zh-CN" sz="2400" b="0" i="1" smtClean="0">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𝑥</m:t>
                        </m:r>
                      </m:e>
                      <m:sub>
                        <m:r>
                          <a:rPr lang="zh-CN" altLang="en-US" sz="2400" i="1">
                            <a:solidFill>
                              <a:srgbClr val="FF0000"/>
                            </a:solidFill>
                            <a:latin typeface="Cambria Math" panose="02040503050406030204" pitchFamily="18" charset="0"/>
                          </a:rPr>
                          <m:t>1</m:t>
                        </m:r>
                      </m:sub>
                    </m:sSub>
                    <m:r>
                      <a:rPr lang="zh-CN" altLang="en-US" sz="2400" i="1">
                        <a:solidFill>
                          <a:srgbClr val="FF0000"/>
                        </a:solidFill>
                        <a:latin typeface="Cambria Math" panose="02040503050406030204" pitchFamily="18" charset="0"/>
                      </a:rPr>
                      <m:t>,</m:t>
                    </m:r>
                    <m:sSub>
                      <m:sSubPr>
                        <m:ctrlPr>
                          <a:rPr lang="zh-CN" altLang="en-US" sz="2400" i="1">
                            <a:solidFill>
                              <a:srgbClr val="FF0000"/>
                            </a:solidFill>
                            <a:latin typeface="Cambria Math" panose="02040503050406030204" pitchFamily="18" charset="0"/>
                          </a:rPr>
                        </m:ctrlPr>
                      </m:sSubPr>
                      <m:e>
                        <m:r>
                          <a:rPr lang="en-US" altLang="zh-CN" sz="2400" b="0" i="1" smtClean="0">
                            <a:solidFill>
                              <a:srgbClr val="FF0000"/>
                            </a:solidFill>
                            <a:latin typeface="Cambria Math" panose="02040503050406030204" pitchFamily="18" charset="0"/>
                          </a:rPr>
                          <m:t>𝑥</m:t>
                        </m:r>
                      </m:e>
                      <m:sub>
                        <m:r>
                          <a:rPr lang="zh-CN" altLang="en-US" sz="2400" i="1">
                            <a:solidFill>
                              <a:srgbClr val="FF0000"/>
                            </a:solidFill>
                            <a:latin typeface="Cambria Math" panose="02040503050406030204" pitchFamily="18" charset="0"/>
                          </a:rPr>
                          <m:t>2</m:t>
                        </m:r>
                      </m:sub>
                    </m:sSub>
                    <m:r>
                      <a:rPr lang="en-US" altLang="zh-CN" sz="2400" i="1" dirty="0" smtClean="0">
                        <a:solidFill>
                          <a:srgbClr val="FF0000"/>
                        </a:solidFill>
                        <a:latin typeface="Cambria Math" panose="02040503050406030204" pitchFamily="18" charset="0"/>
                      </a:rPr>
                      <m:t>)</m:t>
                    </m:r>
                  </m:oMath>
                </a14:m>
                <a:r>
                  <a:rPr lang="en-US" altLang="zh-CN" sz="2400" i="1" dirty="0">
                    <a:solidFill>
                      <a:srgbClr val="FF0000"/>
                    </a:solidFill>
                    <a:latin typeface="Cambria Math" panose="02040503050406030204" pitchFamily="18" charset="0"/>
                  </a:rPr>
                  <a:t>:</a:t>
                </a:r>
              </a:p>
              <a:p>
                <a:pPr/>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为任选的随机数</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计算</m:t>
                      </m:r>
                    </m:oMath>
                  </m:oMathPara>
                </a14:m>
                <a:endParaRPr lang="en-US" altLang="zh-CN"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d>
                        <m:dPr>
                          <m:begChr m:val="["/>
                          <m:endChr m:val="]"/>
                          <m:ctrlPr>
                            <a:rPr lang="en-US" altLang="zh-CN" b="0" i="1" smtClean="0">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𝑘</m:t>
                          </m:r>
                        </m:e>
                      </m:d>
                      <m:r>
                        <a:rPr lang="en-US" altLang="zh-CN" b="0" i="1" smtClean="0">
                          <a:solidFill>
                            <a:srgbClr val="000000"/>
                          </a:solidFill>
                          <a:latin typeface="Cambria Math" panose="02040503050406030204" pitchFamily="18" charset="0"/>
                        </a:rPr>
                        <m:t>𝐺</m:t>
                      </m:r>
                      <m:r>
                        <a:rPr lang="zh-CN" altLang="en-US" i="1">
                          <a:solidFill>
                            <a:srgbClr val="000000"/>
                          </a:solidFill>
                          <a:latin typeface="Cambria Math" panose="02040503050406030204" pitchFamily="18" charset="0"/>
                        </a:rPr>
                        <m:t>,</m:t>
                      </m:r>
                      <m:d>
                        <m:dPr>
                          <m:begChr m:val="["/>
                          <m:endChr m:val="]"/>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𝑘</m:t>
                          </m:r>
                        </m:e>
                      </m:d>
                      <m:r>
                        <a:rPr lang="en-US" altLang="zh-CN" i="1">
                          <a:solidFill>
                            <a:srgbClr val="000000"/>
                          </a:solidFill>
                          <a:latin typeface="Cambria Math" panose="02040503050406030204" pitchFamily="18" charset="0"/>
                        </a:rPr>
                        <m:t>𝑃</m:t>
                      </m:r>
                      <m:r>
                        <a:rPr lang="en-US" altLang="zh-CN" b="0" i="1" smtClean="0">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sub>
                          </m:sSub>
                        </m:e>
                      </m:d>
                      <m:r>
                        <a:rPr lang="zh-CN" altLang="en-US" i="1">
                          <a:solidFill>
                            <a:srgbClr val="000000"/>
                          </a:solidFill>
                          <a:latin typeface="Cambria Math" panose="02040503050406030204" pitchFamily="18" charset="0"/>
                        </a:rPr>
                        <m:t>,</m:t>
                      </m:r>
                    </m:oMath>
                  </m:oMathPara>
                </a14:m>
                <a:br>
                  <a:rPr lang="zh-CN" altLang="en-US" i="1" dirty="0">
                    <a:solidFill>
                      <a:srgbClr val="000000"/>
                    </a:solidFill>
                    <a:latin typeface="Cambria Math" panose="02040503050406030204" pitchFamily="18" charset="0"/>
                  </a:rPr>
                </a:br>
                <a14:m>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mod</m:t>
                        </m:r>
                      </m:fName>
                      <m:e>
                        <m:r>
                          <a:rPr lang="zh-CN" altLang="en-US" i="1">
                            <a:solidFill>
                              <a:srgbClr val="000000"/>
                            </a:solidFill>
                            <a:latin typeface="Cambria Math" panose="02040503050406030204" pitchFamily="18" charset="0"/>
                          </a:rPr>
                          <m:t>𝑝</m:t>
                        </m:r>
                      </m:e>
                    </m:fun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mod</m:t>
                        </m:r>
                      </m:fName>
                      <m:e>
                        <m:r>
                          <a:rPr lang="zh-CN" altLang="en-US" i="1">
                            <a:solidFill>
                              <a:srgbClr val="000000"/>
                            </a:solidFill>
                            <a:latin typeface="Cambria Math" panose="02040503050406030204" pitchFamily="18" charset="0"/>
                          </a:rPr>
                          <m:t>𝑝</m:t>
                        </m:r>
                      </m:e>
                    </m:func>
                    <m:r>
                      <a:rPr lang="en-US" altLang="zh-CN" b="0" i="1" smtClean="0">
                        <a:solidFill>
                          <a:srgbClr val="000000"/>
                        </a:solidFill>
                        <a:latin typeface="Cambria Math" panose="02040503050406030204" pitchFamily="18" charset="0"/>
                      </a:rPr>
                      <m:t>.</m:t>
                    </m:r>
                  </m:oMath>
                </a14:m>
                <a:r>
                  <a:rPr lang="zh-CN" altLang="en-US" dirty="0">
                    <a:solidFill>
                      <a:srgbClr val="000000"/>
                    </a:solidFill>
                  </a:rPr>
                  <a:t> </a:t>
                </a:r>
                <a:endParaRPr lang="en-US" altLang="zh-CN" dirty="0">
                  <a:solidFill>
                    <a:srgbClr val="000000"/>
                  </a:solidFill>
                </a:endParaRPr>
              </a:p>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𝑒</m:t>
                          </m:r>
                        </m:e>
                        <m:sub>
                          <m:r>
                            <a:rPr lang="zh-CN" altLang="en-US" i="1">
                              <a:solidFill>
                                <a:srgbClr val="000000"/>
                              </a:solidFill>
                              <a:latin typeface="Cambria Math" panose="02040503050406030204" pitchFamily="18" charset="0"/>
                            </a:rPr>
                            <m:t>𝐾</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oMath>
                  </m:oMathPara>
                </a14:m>
                <a:br>
                  <a:rPr lang="zh-CN" altLang="en-US" i="1" dirty="0">
                    <a:solidFill>
                      <a:srgbClr val="000000"/>
                    </a:solidFill>
                    <a:latin typeface="Cambria Math" panose="02040503050406030204" pitchFamily="18" charset="0"/>
                  </a:rPr>
                </a:br>
                <a:endParaRPr lang="en-US" altLang="zh-CN" i="1" dirty="0">
                  <a:solidFill>
                    <a:srgbClr val="000000"/>
                  </a:solidFill>
                  <a:latin typeface="Cambria Math" panose="02040503050406030204" pitchFamily="18" charset="0"/>
                </a:endParaRPr>
              </a:p>
              <a:p>
                <a:br>
                  <a:rPr lang="zh-CN" altLang="en-US" i="1" dirty="0">
                    <a:solidFill>
                      <a:srgbClr val="000000"/>
                    </a:solidFill>
                    <a:latin typeface="Cambria Math" panose="02040503050406030204" pitchFamily="18" charset="0"/>
                  </a:rPr>
                </a:br>
                <a14:m>
                  <m:oMath xmlns:m="http://schemas.openxmlformats.org/officeDocument/2006/math">
                    <m:r>
                      <a:rPr lang="zh-CN" altLang="en-US" sz="2400" i="1">
                        <a:solidFill>
                          <a:srgbClr val="FF0000"/>
                        </a:solidFill>
                        <a:latin typeface="Cambria Math" panose="02040503050406030204" pitchFamily="18" charset="0"/>
                      </a:rPr>
                      <m:t>解密</m:t>
                    </m:r>
                  </m:oMath>
                </a14:m>
                <a:r>
                  <a:rPr lang="en-US" altLang="zh-CN" sz="2400" i="1" dirty="0">
                    <a:solidFill>
                      <a:srgbClr val="FF0000"/>
                    </a:solidFill>
                    <a:latin typeface="Cambria Math" panose="02040503050406030204" pitchFamily="18" charset="0"/>
                  </a:rPr>
                  <a:t>,</a:t>
                </a:r>
                <a:r>
                  <a:rPr lang="zh-CN" altLang="en-US" sz="2400" i="1" dirty="0">
                    <a:solidFill>
                      <a:srgbClr val="FF0000"/>
                    </a:solidFill>
                    <a:latin typeface="Cambria Math" panose="02040503050406030204" pitchFamily="18" charset="0"/>
                  </a:rPr>
                  <a:t>收到密文</a:t>
                </a:r>
                <a14:m>
                  <m:oMath xmlns:m="http://schemas.openxmlformats.org/officeDocument/2006/math">
                    <m:sSub>
                      <m:sSubPr>
                        <m:ctrlPr>
                          <a:rPr lang="zh-CN" altLang="en-US" sz="2400" i="1" smtClean="0">
                            <a:solidFill>
                              <a:srgbClr val="FF0000"/>
                            </a:solidFill>
                            <a:latin typeface="Cambria Math" panose="02040503050406030204" pitchFamily="18" charset="0"/>
                          </a:rPr>
                        </m:ctrlPr>
                      </m:sSubPr>
                      <m:e>
                        <m:r>
                          <a:rPr lang="en-US" altLang="zh-CN" sz="2400" b="0" i="1" smtClean="0">
                            <a:solidFill>
                              <a:srgbClr val="FF0000"/>
                            </a:solidFill>
                            <a:latin typeface="Cambria Math" panose="02040503050406030204" pitchFamily="18" charset="0"/>
                          </a:rPr>
                          <m:t>𝑦</m:t>
                        </m:r>
                        <m:r>
                          <a:rPr lang="en-US" altLang="zh-CN" sz="2400" b="0" i="1" smtClean="0">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𝑦</m:t>
                        </m:r>
                      </m:e>
                      <m:sub>
                        <m:r>
                          <a:rPr lang="zh-CN" altLang="en-US" sz="2400" i="1">
                            <a:solidFill>
                              <a:srgbClr val="FF0000"/>
                            </a:solidFill>
                            <a:latin typeface="Cambria Math" panose="02040503050406030204" pitchFamily="18" charset="0"/>
                          </a:rPr>
                          <m:t>0</m:t>
                        </m:r>
                      </m:sub>
                    </m:sSub>
                    <m:r>
                      <a:rPr lang="zh-CN" altLang="en-US" sz="2400" i="1">
                        <a:solidFill>
                          <a:srgbClr val="FF0000"/>
                        </a:solidFill>
                        <a:latin typeface="Cambria Math" panose="02040503050406030204" pitchFamily="18" charset="0"/>
                      </a:rPr>
                      <m:t>,</m:t>
                    </m:r>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𝑦</m:t>
                        </m:r>
                      </m:e>
                      <m:sub>
                        <m:r>
                          <a:rPr lang="zh-CN" altLang="en-US" sz="2400" i="1">
                            <a:solidFill>
                              <a:srgbClr val="FF0000"/>
                            </a:solidFill>
                            <a:latin typeface="Cambria Math" panose="02040503050406030204" pitchFamily="18" charset="0"/>
                          </a:rPr>
                          <m:t>1</m:t>
                        </m:r>
                      </m:sub>
                    </m:sSub>
                    <m:r>
                      <a:rPr lang="zh-CN" altLang="en-US" sz="2400" i="1">
                        <a:solidFill>
                          <a:srgbClr val="FF0000"/>
                        </a:solidFill>
                        <a:latin typeface="Cambria Math" panose="02040503050406030204" pitchFamily="18" charset="0"/>
                      </a:rPr>
                      <m:t>,</m:t>
                    </m:r>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𝑦</m:t>
                        </m:r>
                      </m:e>
                      <m:sub>
                        <m:r>
                          <a:rPr lang="zh-CN" altLang="en-US" sz="2400" i="1">
                            <a:solidFill>
                              <a:srgbClr val="FF0000"/>
                            </a:solidFill>
                            <a:latin typeface="Cambria Math" panose="02040503050406030204" pitchFamily="18" charset="0"/>
                          </a:rPr>
                          <m:t>2</m:t>
                        </m:r>
                      </m:sub>
                    </m:sSub>
                    <m:r>
                      <a:rPr lang="zh-CN" altLang="en-US" sz="2400" i="1">
                        <a:solidFill>
                          <a:srgbClr val="FF0000"/>
                        </a:solidFill>
                        <a:latin typeface="Cambria Math" panose="02040503050406030204" pitchFamily="18" charset="0"/>
                      </a:rPr>
                      <m:t>), </m:t>
                    </m:r>
                  </m:oMath>
                </a14:m>
                <a:r>
                  <a:rPr lang="en-US" altLang="zh-CN" sz="2400" i="1" dirty="0">
                    <a:solidFill>
                      <a:srgbClr val="FF0000"/>
                    </a:solidFill>
                    <a:latin typeface="Cambria Math" panose="02040503050406030204" pitchFamily="18" charset="0"/>
                  </a:rPr>
                  <a:t>:</a:t>
                </a:r>
              </a:p>
              <a:p>
                <a:pPr/>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𝑟</m:t>
                      </m:r>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𝑦</m:t>
                          </m:r>
                        </m:e>
                        <m:sub>
                          <m:r>
                            <a:rPr lang="en-US" altLang="zh-CN" b="0" i="1" smtClean="0">
                              <a:solidFill>
                                <a:srgbClr val="000000"/>
                              </a:solidFill>
                              <a:latin typeface="Cambria Math" panose="02040503050406030204" pitchFamily="18" charset="0"/>
                            </a:rPr>
                            <m:t>0</m:t>
                          </m:r>
                        </m:sub>
                      </m:sSub>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𝐾</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1</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−1</m:t>
                          </m:r>
                        </m:sup>
                      </m:sSubSup>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mod</m:t>
                          </m:r>
                        </m:fName>
                        <m:e>
                          <m:r>
                            <a:rPr lang="zh-CN" altLang="en-US" i="1">
                              <a:solidFill>
                                <a:srgbClr val="000000"/>
                              </a:solidFill>
                              <a:latin typeface="Cambria Math" panose="02040503050406030204" pitchFamily="18" charset="0"/>
                            </a:rPr>
                            <m:t>𝑝</m:t>
                          </m:r>
                        </m:e>
                      </m:fun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2</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−1</m:t>
                          </m:r>
                        </m:sup>
                      </m:sSubSup>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mod</m:t>
                          </m:r>
                        </m:fName>
                        <m:e>
                          <m:r>
                            <a:rPr lang="zh-CN" altLang="en-US" i="1">
                              <a:solidFill>
                                <a:srgbClr val="000000"/>
                              </a:solidFill>
                              <a:latin typeface="Cambria Math" panose="02040503050406030204" pitchFamily="18" charset="0"/>
                            </a:rPr>
                            <m:t>𝑝</m:t>
                          </m:r>
                        </m:e>
                      </m:func>
                      <m:r>
                        <a:rPr lang="zh-CN" altLang="en-US" i="1">
                          <a:solidFill>
                            <a:srgbClr val="000000"/>
                          </a:solidFill>
                          <a:latin typeface="Cambria Math" panose="02040503050406030204" pitchFamily="18" charset="0"/>
                        </a:rPr>
                        <m:t>),</m:t>
                      </m:r>
                    </m:oMath>
                  </m:oMathPara>
                </a14:m>
                <a:br>
                  <a:rPr lang="zh-CN" altLang="en-US" i="1" dirty="0">
                    <a:solidFill>
                      <a:srgbClr val="000000"/>
                    </a:solidFill>
                    <a:latin typeface="Cambria Math" panose="02040503050406030204" pitchFamily="18" charset="0"/>
                  </a:rPr>
                </a:br>
                <a:endParaRPr lang="zh-CN" altLang="en-US" dirty="0"/>
              </a:p>
            </p:txBody>
          </p:sp>
        </mc:Choice>
        <mc:Fallback xmlns="">
          <p:sp>
            <p:nvSpPr>
              <p:cNvPr id="95236" name="Object 4">
                <a:extLst>
                  <a:ext uri="{FF2B5EF4-FFF2-40B4-BE49-F238E27FC236}">
                    <a16:creationId xmlns:a16="http://schemas.microsoft.com/office/drawing/2014/main" id="{DD3062DE-58E0-593C-F56F-C13A83D8F6CD}"/>
                  </a:ext>
                </a:extLst>
              </p:cNvPr>
              <p:cNvSpPr txBox="1">
                <a:spLocks noRot="1" noChangeAspect="1" noMove="1" noResize="1" noEditPoints="1" noAdjustHandles="1" noChangeArrowheads="1" noChangeShapeType="1" noTextEdit="1"/>
              </p:cNvSpPr>
              <p:nvPr/>
            </p:nvSpPr>
            <p:spPr bwMode="auto">
              <a:xfrm>
                <a:off x="3360152" y="2292350"/>
                <a:ext cx="7122695" cy="4383086"/>
              </a:xfrm>
              <a:prstGeom prst="rect">
                <a:avLst/>
              </a:prstGeom>
              <a:blipFill>
                <a:blip r:embed="rId2"/>
                <a:stretch>
                  <a:fillRect l="-770"/>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7640908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F24F7-C330-031E-5CDF-3E1E3D51E88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13A49B2-E269-3345-B009-622168446D2F}"/>
              </a:ext>
            </a:extLst>
          </p:cNvPr>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endParaRPr lang="zh-CN" altLang="en-US" dirty="0"/>
          </a:p>
        </p:txBody>
      </p:sp>
      <p:sp>
        <p:nvSpPr>
          <p:cNvPr id="4" name="灯片编号占位符 3">
            <a:extLst>
              <a:ext uri="{FF2B5EF4-FFF2-40B4-BE49-F238E27FC236}">
                <a16:creationId xmlns:a16="http://schemas.microsoft.com/office/drawing/2014/main" id="{4086FE0B-2850-ADBD-E22D-A49676F4CA7B}"/>
              </a:ext>
            </a:extLst>
          </p:cNvPr>
          <p:cNvSpPr>
            <a:spLocks noGrp="1"/>
          </p:cNvSpPr>
          <p:nvPr>
            <p:ph type="sldNum" sz="quarter" idx="12"/>
          </p:nvPr>
        </p:nvSpPr>
        <p:spPr/>
        <p:txBody>
          <a:bodyPr/>
          <a:lstStyle/>
          <a:p>
            <a:fld id="{8D4D1E41-7A09-AB4A-A4E1-09765ADA2698}" type="slidenum">
              <a:rPr kumimoji="1" lang="zh-CN" altLang="en-US" smtClean="0"/>
              <a:pPr/>
              <a:t>84</a:t>
            </a:fld>
            <a:endParaRPr kumimoji="1" lang="zh-CN" altLang="en-US" dirty="0"/>
          </a:p>
        </p:txBody>
      </p:sp>
      <p:sp>
        <p:nvSpPr>
          <p:cNvPr id="96259" name="文本占位符 2">
            <a:extLst>
              <a:ext uri="{FF2B5EF4-FFF2-40B4-BE49-F238E27FC236}">
                <a16:creationId xmlns:a16="http://schemas.microsoft.com/office/drawing/2014/main" id="{6880096D-5CE6-0070-35E4-F96274127635}"/>
              </a:ext>
            </a:extLst>
          </p:cNvPr>
          <p:cNvSpPr txBox="1">
            <a:spLocks noChangeArrowheads="1"/>
          </p:cNvSpPr>
          <p:nvPr/>
        </p:nvSpPr>
        <p:spPr>
          <a:xfrm>
            <a:off x="838200" y="1590270"/>
            <a:ext cx="10515600" cy="45866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实例</a:t>
            </a:r>
          </a:p>
        </p:txBody>
      </p:sp>
      <mc:AlternateContent xmlns:mc="http://schemas.openxmlformats.org/markup-compatibility/2006" xmlns:a14="http://schemas.microsoft.com/office/drawing/2010/main">
        <mc:Choice Requires="a14">
          <p:sp>
            <p:nvSpPr>
              <p:cNvPr id="96260" name="Object 4">
                <a:extLst>
                  <a:ext uri="{FF2B5EF4-FFF2-40B4-BE49-F238E27FC236}">
                    <a16:creationId xmlns:a16="http://schemas.microsoft.com/office/drawing/2014/main" id="{BE343DC8-D894-6651-26DC-2C915E52484F}"/>
                  </a:ext>
                </a:extLst>
              </p:cNvPr>
              <p:cNvSpPr txBox="1"/>
              <p:nvPr/>
            </p:nvSpPr>
            <p:spPr bwMode="auto">
              <a:xfrm>
                <a:off x="3270250" y="3054350"/>
                <a:ext cx="1050925" cy="365125"/>
              </a:xfrm>
              <a:prstGeom prst="rect">
                <a:avLst/>
              </a:prstGeom>
              <a:noFill/>
              <a:ln>
                <a:noFill/>
              </a:ln>
            </p:spPr>
            <p:txBody>
              <a:bodyPr>
                <a:normAutofit fontScale="92500"/>
              </a:bodyPr>
              <a:lstStyle/>
              <a:p>
                <a:r>
                  <a:rPr lang="en-US" altLang="zh-CN" dirty="0">
                    <a:solidFill>
                      <a:srgbClr val="000000"/>
                    </a:solidFill>
                  </a:rPr>
                  <a:t>G</a:t>
                </a:r>
                <a14:m>
                  <m:oMath xmlns:m="http://schemas.openxmlformats.org/officeDocument/2006/math">
                    <m:r>
                      <a:rPr lang="zh-CN" altLang="en-US" i="1">
                        <a:solidFill>
                          <a:srgbClr val="000000"/>
                        </a:solidFill>
                        <a:latin typeface="Cambria Math" panose="02040503050406030204" pitchFamily="18" charset="0"/>
                      </a:rPr>
                      <m:t>=(7,8)</m:t>
                    </m:r>
                  </m:oMath>
                </a14:m>
                <a:endParaRPr lang="zh-CN" altLang="en-US" dirty="0"/>
              </a:p>
            </p:txBody>
          </p:sp>
        </mc:Choice>
        <mc:Fallback xmlns="">
          <p:sp>
            <p:nvSpPr>
              <p:cNvPr id="96260" name="Object 4">
                <a:extLst>
                  <a:ext uri="{FF2B5EF4-FFF2-40B4-BE49-F238E27FC236}">
                    <a16:creationId xmlns:a16="http://schemas.microsoft.com/office/drawing/2014/main" id="{BE343DC8-D894-6651-26DC-2C915E52484F}"/>
                  </a:ext>
                </a:extLst>
              </p:cNvPr>
              <p:cNvSpPr txBox="1">
                <a:spLocks noRot="1" noChangeAspect="1" noMove="1" noResize="1" noEditPoints="1" noAdjustHandles="1" noChangeArrowheads="1" noChangeShapeType="1" noTextEdit="1"/>
              </p:cNvSpPr>
              <p:nvPr/>
            </p:nvSpPr>
            <p:spPr bwMode="auto">
              <a:xfrm>
                <a:off x="3270250" y="3054350"/>
                <a:ext cx="1050925" cy="365125"/>
              </a:xfrm>
              <a:prstGeom prst="rect">
                <a:avLst/>
              </a:prstGeom>
              <a:blipFill>
                <a:blip r:embed="rId2"/>
                <a:stretch>
                  <a:fillRect l="-3468" t="-5000" b="-1833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61" name="Object 5">
                <a:extLst>
                  <a:ext uri="{FF2B5EF4-FFF2-40B4-BE49-F238E27FC236}">
                    <a16:creationId xmlns:a16="http://schemas.microsoft.com/office/drawing/2014/main" id="{6646483B-C2B4-1FC8-B839-7ABFCCC6C044}"/>
                  </a:ext>
                </a:extLst>
              </p:cNvPr>
              <p:cNvSpPr txBox="1"/>
              <p:nvPr/>
            </p:nvSpPr>
            <p:spPr bwMode="auto">
              <a:xfrm>
                <a:off x="4618038" y="3054351"/>
                <a:ext cx="1325562" cy="365125"/>
              </a:xfrm>
              <a:prstGeom prst="rect">
                <a:avLst/>
              </a:prstGeom>
              <a:noFill/>
              <a:ln>
                <a:noFill/>
              </a:ln>
            </p:spPr>
            <p:txBody>
              <a:bodyPr>
                <a:normAutofit fontScale="92500"/>
              </a:bodyPr>
              <a:lstStyle/>
              <a:p>
                <a:pPr/>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=(10,20)</m:t>
                      </m:r>
                    </m:oMath>
                  </m:oMathPara>
                </a14:m>
                <a:endParaRPr lang="zh-CN" altLang="en-US" dirty="0"/>
              </a:p>
            </p:txBody>
          </p:sp>
        </mc:Choice>
        <mc:Fallback xmlns="">
          <p:sp>
            <p:nvSpPr>
              <p:cNvPr id="96261" name="Object 5">
                <a:extLst>
                  <a:ext uri="{FF2B5EF4-FFF2-40B4-BE49-F238E27FC236}">
                    <a16:creationId xmlns:a16="http://schemas.microsoft.com/office/drawing/2014/main" id="{6646483B-C2B4-1FC8-B839-7ABFCCC6C044}"/>
                  </a:ext>
                </a:extLst>
              </p:cNvPr>
              <p:cNvSpPr txBox="1">
                <a:spLocks noRot="1" noChangeAspect="1" noMove="1" noResize="1" noEditPoints="1" noAdjustHandles="1" noChangeArrowheads="1" noChangeShapeType="1" noTextEdit="1"/>
              </p:cNvSpPr>
              <p:nvPr/>
            </p:nvSpPr>
            <p:spPr bwMode="auto">
              <a:xfrm>
                <a:off x="4618038" y="3054351"/>
                <a:ext cx="1325562" cy="365125"/>
              </a:xfrm>
              <a:prstGeom prst="rect">
                <a:avLst/>
              </a:prstGeom>
              <a:blipFill>
                <a:blip r:embed="rId3"/>
                <a:stretch>
                  <a:fillRect b="-1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62" name="Object 6">
                <a:extLst>
                  <a:ext uri="{FF2B5EF4-FFF2-40B4-BE49-F238E27FC236}">
                    <a16:creationId xmlns:a16="http://schemas.microsoft.com/office/drawing/2014/main" id="{DF1B4A78-F1A1-9A63-8EFB-47B332DE716A}"/>
                  </a:ext>
                </a:extLst>
              </p:cNvPr>
              <p:cNvSpPr txBox="1"/>
              <p:nvPr/>
            </p:nvSpPr>
            <p:spPr bwMode="auto">
              <a:xfrm>
                <a:off x="7346950" y="3043625"/>
                <a:ext cx="754063" cy="319088"/>
              </a:xfrm>
              <a:prstGeom prst="rect">
                <a:avLst/>
              </a:prstGeom>
              <a:noFill/>
              <a:ln>
                <a:noFill/>
              </a:ln>
            </p:spPr>
            <p:txBody>
              <a:bodyPr>
                <a:normAutofit fontScale="92500" lnSpcReduction="20000"/>
              </a:bodyPr>
              <a:lstStyle/>
              <a:p>
                <a:r>
                  <a:rPr lang="en-US" altLang="zh-CN" dirty="0">
                    <a:solidFill>
                      <a:srgbClr val="000000"/>
                    </a:solidFill>
                  </a:rPr>
                  <a:t>r</a:t>
                </a:r>
                <a14:m>
                  <m:oMath xmlns:m="http://schemas.openxmlformats.org/officeDocument/2006/math">
                    <m:r>
                      <a:rPr lang="zh-CN" altLang="en-US" i="1">
                        <a:solidFill>
                          <a:srgbClr val="000000"/>
                        </a:solidFill>
                        <a:latin typeface="Cambria Math" panose="02040503050406030204" pitchFamily="18" charset="0"/>
                      </a:rPr>
                      <m:t>=17</m:t>
                    </m:r>
                  </m:oMath>
                </a14:m>
                <a:endParaRPr lang="zh-CN" altLang="en-US" dirty="0"/>
              </a:p>
            </p:txBody>
          </p:sp>
        </mc:Choice>
        <mc:Fallback xmlns="">
          <p:sp>
            <p:nvSpPr>
              <p:cNvPr id="96262" name="Object 6">
                <a:extLst>
                  <a:ext uri="{FF2B5EF4-FFF2-40B4-BE49-F238E27FC236}">
                    <a16:creationId xmlns:a16="http://schemas.microsoft.com/office/drawing/2014/main" id="{DF1B4A78-F1A1-9A63-8EFB-47B332DE716A}"/>
                  </a:ext>
                </a:extLst>
              </p:cNvPr>
              <p:cNvSpPr txBox="1">
                <a:spLocks noRot="1" noChangeAspect="1" noMove="1" noResize="1" noEditPoints="1" noAdjustHandles="1" noChangeArrowheads="1" noChangeShapeType="1" noTextEdit="1"/>
              </p:cNvSpPr>
              <p:nvPr/>
            </p:nvSpPr>
            <p:spPr bwMode="auto">
              <a:xfrm>
                <a:off x="7346950" y="3043625"/>
                <a:ext cx="754063" cy="319088"/>
              </a:xfrm>
              <a:prstGeom prst="rect">
                <a:avLst/>
              </a:prstGeom>
              <a:blipFill>
                <a:blip r:embed="rId4"/>
                <a:stretch>
                  <a:fillRect l="-4839" t="-18868" b="-20755"/>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63" name="Object 7">
                <a:extLst>
                  <a:ext uri="{FF2B5EF4-FFF2-40B4-BE49-F238E27FC236}">
                    <a16:creationId xmlns:a16="http://schemas.microsoft.com/office/drawing/2014/main" id="{A060EF34-293A-8CC5-52AC-E4D01ECD1906}"/>
                  </a:ext>
                </a:extLst>
              </p:cNvPr>
              <p:cNvSpPr txBox="1"/>
              <p:nvPr/>
            </p:nvSpPr>
            <p:spPr bwMode="auto">
              <a:xfrm>
                <a:off x="6242050" y="3076575"/>
                <a:ext cx="615950" cy="319088"/>
              </a:xfrm>
              <a:prstGeom prst="rect">
                <a:avLst/>
              </a:prstGeom>
              <a:noFill/>
              <a:ln>
                <a:noFill/>
              </a:ln>
            </p:spPr>
            <p:txBody>
              <a:bodyPr>
                <a:normAutofit fontScale="85000" lnSpcReduction="10000"/>
              </a:bodyPr>
              <a:lstStyle/>
              <a:p>
                <a:r>
                  <a:rPr lang="en-US" altLang="zh-CN" dirty="0">
                    <a:solidFill>
                      <a:srgbClr val="000000"/>
                    </a:solidFill>
                  </a:rPr>
                  <a:t>k</a:t>
                </a:r>
                <a14:m>
                  <m:oMath xmlns:m="http://schemas.openxmlformats.org/officeDocument/2006/math">
                    <m:r>
                      <a:rPr lang="zh-CN" altLang="en-US" i="1">
                        <a:solidFill>
                          <a:srgbClr val="000000"/>
                        </a:solidFill>
                        <a:latin typeface="Cambria Math" panose="02040503050406030204" pitchFamily="18" charset="0"/>
                      </a:rPr>
                      <m:t>=3</m:t>
                    </m:r>
                  </m:oMath>
                </a14:m>
                <a:endParaRPr lang="zh-CN" altLang="en-US" dirty="0"/>
              </a:p>
            </p:txBody>
          </p:sp>
        </mc:Choice>
        <mc:Fallback xmlns="">
          <p:sp>
            <p:nvSpPr>
              <p:cNvPr id="96263" name="Object 7">
                <a:extLst>
                  <a:ext uri="{FF2B5EF4-FFF2-40B4-BE49-F238E27FC236}">
                    <a16:creationId xmlns:a16="http://schemas.microsoft.com/office/drawing/2014/main" id="{A060EF34-293A-8CC5-52AC-E4D01ECD1906}"/>
                  </a:ext>
                </a:extLst>
              </p:cNvPr>
              <p:cNvSpPr txBox="1">
                <a:spLocks noRot="1" noChangeAspect="1" noMove="1" noResize="1" noEditPoints="1" noAdjustHandles="1" noChangeArrowheads="1" noChangeShapeType="1" noTextEdit="1"/>
              </p:cNvSpPr>
              <p:nvPr/>
            </p:nvSpPr>
            <p:spPr bwMode="auto">
              <a:xfrm>
                <a:off x="6242050" y="3076575"/>
                <a:ext cx="615950" cy="319088"/>
              </a:xfrm>
              <a:prstGeom prst="rect">
                <a:avLst/>
              </a:prstGeom>
              <a:blipFill>
                <a:blip r:embed="rId5"/>
                <a:stretch>
                  <a:fillRect l="-3960" t="-11538" b="-15385"/>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64" name="Object 8">
                <a:extLst>
                  <a:ext uri="{FF2B5EF4-FFF2-40B4-BE49-F238E27FC236}">
                    <a16:creationId xmlns:a16="http://schemas.microsoft.com/office/drawing/2014/main" id="{31FC4366-14E7-910D-8591-29598CB355A6}"/>
                  </a:ext>
                </a:extLst>
              </p:cNvPr>
              <p:cNvSpPr txBox="1"/>
              <p:nvPr/>
            </p:nvSpPr>
            <p:spPr bwMode="auto">
              <a:xfrm>
                <a:off x="2351892" y="4040391"/>
                <a:ext cx="2328863" cy="434975"/>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[3](7,8)</m:t>
                      </m:r>
                      <m:r>
                        <a:rPr lang="zh-CN" altLang="en-US" i="1">
                          <a:solidFill>
                            <a:srgbClr val="000000"/>
                          </a:solidFill>
                          <a:latin typeface="Cambria Math" panose="02040503050406030204" pitchFamily="18" charset="0"/>
                        </a:rPr>
                        <m:t>=(22,22)</m:t>
                      </m:r>
                    </m:oMath>
                  </m:oMathPara>
                </a14:m>
                <a:endParaRPr lang="zh-CN" altLang="en-US" dirty="0"/>
              </a:p>
            </p:txBody>
          </p:sp>
        </mc:Choice>
        <mc:Fallback xmlns="">
          <p:sp>
            <p:nvSpPr>
              <p:cNvPr id="96264" name="Object 8">
                <a:extLst>
                  <a:ext uri="{FF2B5EF4-FFF2-40B4-BE49-F238E27FC236}">
                    <a16:creationId xmlns:a16="http://schemas.microsoft.com/office/drawing/2014/main" id="{31FC4366-14E7-910D-8591-29598CB355A6}"/>
                  </a:ext>
                </a:extLst>
              </p:cNvPr>
              <p:cNvSpPr txBox="1">
                <a:spLocks noRot="1" noChangeAspect="1" noMove="1" noResize="1" noEditPoints="1" noAdjustHandles="1" noChangeArrowheads="1" noChangeShapeType="1" noTextEdit="1"/>
              </p:cNvSpPr>
              <p:nvPr/>
            </p:nvSpPr>
            <p:spPr bwMode="auto">
              <a:xfrm>
                <a:off x="2351892" y="4040391"/>
                <a:ext cx="2328863" cy="434975"/>
              </a:xfrm>
              <a:prstGeom prst="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65" name="Object 9">
                <a:extLst>
                  <a:ext uri="{FF2B5EF4-FFF2-40B4-BE49-F238E27FC236}">
                    <a16:creationId xmlns:a16="http://schemas.microsoft.com/office/drawing/2014/main" id="{4C74DA78-F1F7-D933-AD86-BBF519A7B06F}"/>
                  </a:ext>
                </a:extLst>
              </p:cNvPr>
              <p:cNvSpPr txBox="1"/>
              <p:nvPr/>
            </p:nvSpPr>
            <p:spPr bwMode="auto">
              <a:xfrm>
                <a:off x="8001001" y="2209800"/>
                <a:ext cx="2009775" cy="387350"/>
              </a:xfrm>
              <a:prstGeom prst="rect">
                <a:avLst/>
              </a:prstGeom>
              <a:noFill/>
              <a:ln>
                <a:noFill/>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明文：</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=(19,13)</m:t>
                      </m:r>
                    </m:oMath>
                  </m:oMathPara>
                </a14:m>
                <a:endParaRPr lang="zh-CN" altLang="en-US" dirty="0"/>
              </a:p>
            </p:txBody>
          </p:sp>
        </mc:Choice>
        <mc:Fallback xmlns="">
          <p:sp>
            <p:nvSpPr>
              <p:cNvPr id="96265" name="Object 9">
                <a:extLst>
                  <a:ext uri="{FF2B5EF4-FFF2-40B4-BE49-F238E27FC236}">
                    <a16:creationId xmlns:a16="http://schemas.microsoft.com/office/drawing/2014/main" id="{4C74DA78-F1F7-D933-AD86-BBF519A7B06F}"/>
                  </a:ext>
                </a:extLst>
              </p:cNvPr>
              <p:cNvSpPr txBox="1">
                <a:spLocks noRot="1" noChangeAspect="1" noMove="1" noResize="1" noEditPoints="1" noAdjustHandles="1" noChangeArrowheads="1" noChangeShapeType="1" noTextEdit="1"/>
              </p:cNvSpPr>
              <p:nvPr/>
            </p:nvSpPr>
            <p:spPr bwMode="auto">
              <a:xfrm>
                <a:off x="8001001" y="2209800"/>
                <a:ext cx="2009775" cy="387350"/>
              </a:xfrm>
              <a:prstGeom prst="rect">
                <a:avLst/>
              </a:prstGeom>
              <a:blipFill>
                <a:blip r:embed="rId7"/>
                <a:stretch>
                  <a:fillRect l="-608" b="-3175"/>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66" name="Object 10">
                <a:extLst>
                  <a:ext uri="{FF2B5EF4-FFF2-40B4-BE49-F238E27FC236}">
                    <a16:creationId xmlns:a16="http://schemas.microsoft.com/office/drawing/2014/main" id="{85FB9260-AFEF-6D6E-018F-DD596ED57723}"/>
                  </a:ext>
                </a:extLst>
              </p:cNvPr>
              <p:cNvSpPr txBox="1"/>
              <p:nvPr/>
            </p:nvSpPr>
            <p:spPr bwMode="auto">
              <a:xfrm>
                <a:off x="3333751" y="2071688"/>
                <a:ext cx="2239963" cy="411162"/>
              </a:xfrm>
              <a:prstGeom prst="rect">
                <a:avLst/>
              </a:prstGeom>
              <a:noFill/>
              <a:ln>
                <a:noFill/>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𝑦</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3</m:t>
                          </m:r>
                        </m:sup>
                      </m:sSup>
                      <m:r>
                        <a:rPr lang="zh-CN" altLang="en-US" i="1">
                          <a:solidFill>
                            <a:srgbClr val="000000"/>
                          </a:solidFill>
                          <a:latin typeface="Cambria Math" panose="02040503050406030204" pitchFamily="18" charset="0"/>
                        </a:rPr>
                        <m:t>+8</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+10</m:t>
                      </m:r>
                    </m:oMath>
                  </m:oMathPara>
                </a14:m>
                <a:endParaRPr lang="zh-CN" altLang="en-US" dirty="0"/>
              </a:p>
            </p:txBody>
          </p:sp>
        </mc:Choice>
        <mc:Fallback xmlns="">
          <p:sp>
            <p:nvSpPr>
              <p:cNvPr id="96266" name="Object 10">
                <a:extLst>
                  <a:ext uri="{FF2B5EF4-FFF2-40B4-BE49-F238E27FC236}">
                    <a16:creationId xmlns:a16="http://schemas.microsoft.com/office/drawing/2014/main" id="{85FB9260-AFEF-6D6E-018F-DD596ED57723}"/>
                  </a:ext>
                </a:extLst>
              </p:cNvPr>
              <p:cNvSpPr txBox="1">
                <a:spLocks noRot="1" noChangeAspect="1" noMove="1" noResize="1" noEditPoints="1" noAdjustHandles="1" noChangeArrowheads="1" noChangeShapeType="1" noTextEdit="1"/>
              </p:cNvSpPr>
              <p:nvPr/>
            </p:nvSpPr>
            <p:spPr bwMode="auto">
              <a:xfrm>
                <a:off x="3333751" y="2071688"/>
                <a:ext cx="2239963" cy="411162"/>
              </a:xfrm>
              <a:prstGeom prst="rect">
                <a:avLst/>
              </a:prstGeom>
              <a:blipFill>
                <a:blip r:embed="rId8"/>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67" name="Object 11">
                <a:extLst>
                  <a:ext uri="{FF2B5EF4-FFF2-40B4-BE49-F238E27FC236}">
                    <a16:creationId xmlns:a16="http://schemas.microsoft.com/office/drawing/2014/main" id="{24F58521-90F3-6E3B-8093-AD72D7D21941}"/>
                  </a:ext>
                </a:extLst>
              </p:cNvPr>
              <p:cNvSpPr txBox="1"/>
              <p:nvPr/>
            </p:nvSpPr>
            <p:spPr bwMode="auto">
              <a:xfrm>
                <a:off x="6096000" y="2095501"/>
                <a:ext cx="800100" cy="365125"/>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=23</m:t>
                      </m:r>
                    </m:oMath>
                  </m:oMathPara>
                </a14:m>
                <a:endParaRPr lang="zh-CN" altLang="en-US" dirty="0"/>
              </a:p>
            </p:txBody>
          </p:sp>
        </mc:Choice>
        <mc:Fallback xmlns="">
          <p:sp>
            <p:nvSpPr>
              <p:cNvPr id="96267" name="Object 11">
                <a:extLst>
                  <a:ext uri="{FF2B5EF4-FFF2-40B4-BE49-F238E27FC236}">
                    <a16:creationId xmlns:a16="http://schemas.microsoft.com/office/drawing/2014/main" id="{24F58521-90F3-6E3B-8093-AD72D7D21941}"/>
                  </a:ext>
                </a:extLst>
              </p:cNvPr>
              <p:cNvSpPr txBox="1">
                <a:spLocks noRot="1" noChangeAspect="1" noMove="1" noResize="1" noEditPoints="1" noAdjustHandles="1" noChangeArrowheads="1" noChangeShapeType="1" noTextEdit="1"/>
              </p:cNvSpPr>
              <p:nvPr/>
            </p:nvSpPr>
            <p:spPr bwMode="auto">
              <a:xfrm>
                <a:off x="6096000" y="2095501"/>
                <a:ext cx="800100" cy="365125"/>
              </a:xfrm>
              <a:prstGeom prst="rect">
                <a:avLst/>
              </a:prstGeom>
              <a:blipFill>
                <a:blip r:embed="rId9"/>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68" name="Object 12">
                <a:extLst>
                  <a:ext uri="{FF2B5EF4-FFF2-40B4-BE49-F238E27FC236}">
                    <a16:creationId xmlns:a16="http://schemas.microsoft.com/office/drawing/2014/main" id="{148D661B-5863-E2F0-6C6D-C3657AED7EF0}"/>
                  </a:ext>
                </a:extLst>
              </p:cNvPr>
              <p:cNvSpPr txBox="1"/>
              <p:nvPr/>
            </p:nvSpPr>
            <p:spPr bwMode="auto">
              <a:xfrm>
                <a:off x="2289175" y="4481513"/>
                <a:ext cx="3556000" cy="409575"/>
              </a:xfrm>
              <a:prstGeom prst="rect">
                <a:avLst/>
              </a:prstGeom>
              <a:noFill/>
              <a:ln>
                <a:noFill/>
              </a:ln>
            </p:spPr>
            <p:txBody>
              <a:bodyPr>
                <a:normAutofit fontScale="85000" lnSpcReduction="10000"/>
              </a:bodyPr>
              <a:lstStyle/>
              <a:p>
                <a:r>
                  <a:rPr lang="en-US" altLang="zh-CN" dirty="0">
                    <a:solidFill>
                      <a:srgbClr val="000000"/>
                    </a:solidFill>
                  </a:rPr>
                  <a:t>[k]P</a:t>
                </a:r>
                <a14:m>
                  <m:oMath xmlns:m="http://schemas.openxmlformats.org/officeDocument/2006/math">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[3](10,20)</m:t>
                    </m:r>
                    <m:r>
                      <a:rPr lang="zh-CN" altLang="en-US" i="1">
                        <a:solidFill>
                          <a:srgbClr val="000000"/>
                        </a:solidFill>
                        <a:latin typeface="Cambria Math" panose="02040503050406030204" pitchFamily="18" charset="0"/>
                      </a:rPr>
                      <m:t>=(18,12)</m:t>
                    </m:r>
                  </m:oMath>
                </a14:m>
                <a:r>
                  <a:rPr lang="zh-CN" altLang="en-US" dirty="0">
                    <a:solidFill>
                      <a:srgbClr val="000000"/>
                    </a:solidFill>
                  </a:rPr>
                  <a:t> </a:t>
                </a:r>
                <a14:m>
                  <m:oMath xmlns:m="http://schemas.openxmlformats.org/officeDocument/2006/math">
                    <m:r>
                      <a:rPr lang="en-US" altLang="zh-CN" b="0"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oMath>
                </a14:m>
                <a:endParaRPr lang="zh-CN" altLang="en-US" dirty="0"/>
              </a:p>
            </p:txBody>
          </p:sp>
        </mc:Choice>
        <mc:Fallback xmlns="">
          <p:sp>
            <p:nvSpPr>
              <p:cNvPr id="96268" name="Object 12">
                <a:extLst>
                  <a:ext uri="{FF2B5EF4-FFF2-40B4-BE49-F238E27FC236}">
                    <a16:creationId xmlns:a16="http://schemas.microsoft.com/office/drawing/2014/main" id="{148D661B-5863-E2F0-6C6D-C3657AED7EF0}"/>
                  </a:ext>
                </a:extLst>
              </p:cNvPr>
              <p:cNvSpPr txBox="1">
                <a:spLocks noRot="1" noChangeAspect="1" noMove="1" noResize="1" noEditPoints="1" noAdjustHandles="1" noChangeArrowheads="1" noChangeShapeType="1" noTextEdit="1"/>
              </p:cNvSpPr>
              <p:nvPr/>
            </p:nvSpPr>
            <p:spPr bwMode="auto">
              <a:xfrm>
                <a:off x="2289175" y="4481513"/>
                <a:ext cx="3556000" cy="409575"/>
              </a:xfrm>
              <a:prstGeom prst="rect">
                <a:avLst/>
              </a:prstGeom>
              <a:blipFill>
                <a:blip r:embed="rId10"/>
                <a:stretch>
                  <a:fillRect l="-686" t="-746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69" name="Object 13">
                <a:extLst>
                  <a:ext uri="{FF2B5EF4-FFF2-40B4-BE49-F238E27FC236}">
                    <a16:creationId xmlns:a16="http://schemas.microsoft.com/office/drawing/2014/main" id="{C87FAE44-D56D-8A95-EAE3-17FCBB4D0D13}"/>
                  </a:ext>
                </a:extLst>
              </p:cNvPr>
              <p:cNvSpPr txBox="1"/>
              <p:nvPr/>
            </p:nvSpPr>
            <p:spPr bwMode="auto">
              <a:xfrm>
                <a:off x="2434876" y="5043487"/>
                <a:ext cx="2673350" cy="388938"/>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=19×18</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mod</m:t>
                          </m:r>
                        </m:fName>
                        <m:e>
                          <m:r>
                            <a:rPr lang="zh-CN" altLang="en-US" i="1">
                              <a:solidFill>
                                <a:srgbClr val="000000"/>
                              </a:solidFill>
                              <a:latin typeface="Cambria Math" panose="02040503050406030204" pitchFamily="18" charset="0"/>
                            </a:rPr>
                            <m:t>2</m:t>
                          </m:r>
                        </m:e>
                      </m:func>
                      <m:r>
                        <a:rPr lang="zh-CN" altLang="en-US" i="1">
                          <a:solidFill>
                            <a:srgbClr val="000000"/>
                          </a:solidFill>
                          <a:latin typeface="Cambria Math" panose="02040503050406030204" pitchFamily="18" charset="0"/>
                        </a:rPr>
                        <m:t>3=20</m:t>
                      </m:r>
                    </m:oMath>
                  </m:oMathPara>
                </a14:m>
                <a:endParaRPr lang="zh-CN" altLang="en-US" dirty="0"/>
              </a:p>
            </p:txBody>
          </p:sp>
        </mc:Choice>
        <mc:Fallback xmlns="">
          <p:sp>
            <p:nvSpPr>
              <p:cNvPr id="96269" name="Object 13">
                <a:extLst>
                  <a:ext uri="{FF2B5EF4-FFF2-40B4-BE49-F238E27FC236}">
                    <a16:creationId xmlns:a16="http://schemas.microsoft.com/office/drawing/2014/main" id="{C87FAE44-D56D-8A95-EAE3-17FCBB4D0D13}"/>
                  </a:ext>
                </a:extLst>
              </p:cNvPr>
              <p:cNvSpPr txBox="1">
                <a:spLocks noRot="1" noChangeAspect="1" noMove="1" noResize="1" noEditPoints="1" noAdjustHandles="1" noChangeArrowheads="1" noChangeShapeType="1" noTextEdit="1"/>
              </p:cNvSpPr>
              <p:nvPr/>
            </p:nvSpPr>
            <p:spPr bwMode="auto">
              <a:xfrm>
                <a:off x="2434876" y="5043487"/>
                <a:ext cx="2673350" cy="388938"/>
              </a:xfrm>
              <a:prstGeom prst="rect">
                <a:avLst/>
              </a:prstGeom>
              <a:blipFill>
                <a:blip r:embed="rId11"/>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70" name="Object 14">
                <a:extLst>
                  <a:ext uri="{FF2B5EF4-FFF2-40B4-BE49-F238E27FC236}">
                    <a16:creationId xmlns:a16="http://schemas.microsoft.com/office/drawing/2014/main" id="{4992153A-F36E-292D-7DE2-B67FE194BE0D}"/>
                  </a:ext>
                </a:extLst>
              </p:cNvPr>
              <p:cNvSpPr txBox="1"/>
              <p:nvPr/>
            </p:nvSpPr>
            <p:spPr bwMode="auto">
              <a:xfrm>
                <a:off x="2403661" y="5592356"/>
                <a:ext cx="2651125" cy="388938"/>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=13×12</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mod</m:t>
                          </m:r>
                        </m:fName>
                        <m:e>
                          <m:r>
                            <a:rPr lang="zh-CN" altLang="en-US" i="1">
                              <a:solidFill>
                                <a:srgbClr val="000000"/>
                              </a:solidFill>
                              <a:latin typeface="Cambria Math" panose="02040503050406030204" pitchFamily="18" charset="0"/>
                            </a:rPr>
                            <m:t>2</m:t>
                          </m:r>
                        </m:e>
                      </m:func>
                      <m:r>
                        <a:rPr lang="zh-CN" altLang="en-US" i="1">
                          <a:solidFill>
                            <a:srgbClr val="000000"/>
                          </a:solidFill>
                          <a:latin typeface="Cambria Math" panose="02040503050406030204" pitchFamily="18" charset="0"/>
                        </a:rPr>
                        <m:t>3=18</m:t>
                      </m:r>
                    </m:oMath>
                  </m:oMathPara>
                </a14:m>
                <a:endParaRPr lang="zh-CN" altLang="en-US" dirty="0"/>
              </a:p>
            </p:txBody>
          </p:sp>
        </mc:Choice>
        <mc:Fallback xmlns="">
          <p:sp>
            <p:nvSpPr>
              <p:cNvPr id="96270" name="Object 14">
                <a:extLst>
                  <a:ext uri="{FF2B5EF4-FFF2-40B4-BE49-F238E27FC236}">
                    <a16:creationId xmlns:a16="http://schemas.microsoft.com/office/drawing/2014/main" id="{4992153A-F36E-292D-7DE2-B67FE194BE0D}"/>
                  </a:ext>
                </a:extLst>
              </p:cNvPr>
              <p:cNvSpPr txBox="1">
                <a:spLocks noRot="1" noChangeAspect="1" noMove="1" noResize="1" noEditPoints="1" noAdjustHandles="1" noChangeArrowheads="1" noChangeShapeType="1" noTextEdit="1"/>
              </p:cNvSpPr>
              <p:nvPr/>
            </p:nvSpPr>
            <p:spPr bwMode="auto">
              <a:xfrm>
                <a:off x="2403661" y="5592356"/>
                <a:ext cx="2651125" cy="388938"/>
              </a:xfrm>
              <a:prstGeom prst="rect">
                <a:avLst/>
              </a:prstGeom>
              <a:blipFill>
                <a:blip r:embed="rId12"/>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71" name="Object 15">
                <a:extLst>
                  <a:ext uri="{FF2B5EF4-FFF2-40B4-BE49-F238E27FC236}">
                    <a16:creationId xmlns:a16="http://schemas.microsoft.com/office/drawing/2014/main" id="{09FCC8BC-0759-FAF8-1150-A993F316BDAB}"/>
                  </a:ext>
                </a:extLst>
              </p:cNvPr>
              <p:cNvSpPr txBox="1"/>
              <p:nvPr/>
            </p:nvSpPr>
            <p:spPr bwMode="auto">
              <a:xfrm>
                <a:off x="7079331" y="4422369"/>
                <a:ext cx="3624262" cy="43180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d>
                        <m:dPr>
                          <m:ctrlPr>
                            <a:rPr lang="zh-CN" altLang="en-US" i="1" smtClean="0">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sub>
                          </m:sSub>
                        </m:e>
                      </m:d>
                      <m:r>
                        <a:rPr lang="zh-CN" altLang="en-US" i="1">
                          <a:solidFill>
                            <a:srgbClr val="000000"/>
                          </a:solidFill>
                          <a:latin typeface="Cambria Math" panose="02040503050406030204" pitchFamily="18" charset="0"/>
                        </a:rPr>
                        <m:t>=</m:t>
                      </m:r>
                      <m:d>
                        <m:dPr>
                          <m:begChr m:val="["/>
                          <m:endChr m:val="]"/>
                          <m:ctrlPr>
                            <a:rPr lang="en-US" altLang="zh-CN" b="0" i="1" smtClean="0">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17</m:t>
                          </m:r>
                        </m:e>
                      </m:d>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𝑦</m:t>
                          </m:r>
                        </m:e>
                        <m:sub>
                          <m:r>
                            <a:rPr lang="en-US" altLang="zh-CN" b="0" i="1" smtClean="0">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[17](22,22)</m:t>
                      </m:r>
                      <m:r>
                        <a:rPr lang="zh-CN" altLang="en-US" i="1">
                          <a:solidFill>
                            <a:srgbClr val="000000"/>
                          </a:solidFill>
                          <a:latin typeface="Cambria Math" panose="02040503050406030204" pitchFamily="18" charset="0"/>
                        </a:rPr>
                        <m:t>=(18,12)</m:t>
                      </m:r>
                    </m:oMath>
                  </m:oMathPara>
                </a14:m>
                <a:endParaRPr lang="zh-CN" altLang="en-US" dirty="0"/>
              </a:p>
            </p:txBody>
          </p:sp>
        </mc:Choice>
        <mc:Fallback xmlns="">
          <p:sp>
            <p:nvSpPr>
              <p:cNvPr id="96271" name="Object 15">
                <a:extLst>
                  <a:ext uri="{FF2B5EF4-FFF2-40B4-BE49-F238E27FC236}">
                    <a16:creationId xmlns:a16="http://schemas.microsoft.com/office/drawing/2014/main" id="{09FCC8BC-0759-FAF8-1150-A993F316BDAB}"/>
                  </a:ext>
                </a:extLst>
              </p:cNvPr>
              <p:cNvSpPr txBox="1">
                <a:spLocks noRot="1" noChangeAspect="1" noMove="1" noResize="1" noEditPoints="1" noAdjustHandles="1" noChangeArrowheads="1" noChangeShapeType="1" noTextEdit="1"/>
              </p:cNvSpPr>
              <p:nvPr/>
            </p:nvSpPr>
            <p:spPr bwMode="auto">
              <a:xfrm>
                <a:off x="7079331" y="4422369"/>
                <a:ext cx="3624262" cy="431800"/>
              </a:xfrm>
              <a:prstGeom prst="rect">
                <a:avLst/>
              </a:prstGeom>
              <a:blipFill>
                <a:blip r:embed="rId1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72" name="Object 16">
                <a:extLst>
                  <a:ext uri="{FF2B5EF4-FFF2-40B4-BE49-F238E27FC236}">
                    <a16:creationId xmlns:a16="http://schemas.microsoft.com/office/drawing/2014/main" id="{7F9366B3-BD8D-CAED-6E0A-D3B4E56BD53E}"/>
                  </a:ext>
                </a:extLst>
              </p:cNvPr>
              <p:cNvSpPr txBox="1"/>
              <p:nvPr/>
            </p:nvSpPr>
            <p:spPr bwMode="auto">
              <a:xfrm>
                <a:off x="7045325" y="4879975"/>
                <a:ext cx="2857500" cy="41275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=20×1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8</m:t>
                          </m:r>
                        </m:e>
                        <m:sup>
                          <m:r>
                            <a:rPr lang="zh-CN" altLang="en-US" i="1">
                              <a:solidFill>
                                <a:srgbClr val="000000"/>
                              </a:solidFill>
                              <a:latin typeface="Cambria Math" panose="02040503050406030204" pitchFamily="18" charset="0"/>
                            </a:rPr>
                            <m:t>−1</m:t>
                          </m:r>
                        </m:sup>
                      </m:sSup>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mod</m:t>
                          </m:r>
                        </m:fName>
                        <m:e>
                          <m:r>
                            <a:rPr lang="zh-CN" altLang="en-US" i="1">
                              <a:solidFill>
                                <a:srgbClr val="000000"/>
                              </a:solidFill>
                              <a:latin typeface="Cambria Math" panose="02040503050406030204" pitchFamily="18" charset="0"/>
                            </a:rPr>
                            <m:t>2</m:t>
                          </m:r>
                        </m:e>
                      </m:func>
                      <m:r>
                        <a:rPr lang="zh-CN" altLang="en-US" i="1">
                          <a:solidFill>
                            <a:srgbClr val="000000"/>
                          </a:solidFill>
                          <a:latin typeface="Cambria Math" panose="02040503050406030204" pitchFamily="18" charset="0"/>
                        </a:rPr>
                        <m:t>3=19</m:t>
                      </m:r>
                    </m:oMath>
                  </m:oMathPara>
                </a14:m>
                <a:endParaRPr lang="zh-CN" altLang="en-US" dirty="0"/>
              </a:p>
            </p:txBody>
          </p:sp>
        </mc:Choice>
        <mc:Fallback xmlns="">
          <p:sp>
            <p:nvSpPr>
              <p:cNvPr id="96272" name="Object 16">
                <a:extLst>
                  <a:ext uri="{FF2B5EF4-FFF2-40B4-BE49-F238E27FC236}">
                    <a16:creationId xmlns:a16="http://schemas.microsoft.com/office/drawing/2014/main" id="{7F9366B3-BD8D-CAED-6E0A-D3B4E56BD53E}"/>
                  </a:ext>
                </a:extLst>
              </p:cNvPr>
              <p:cNvSpPr txBox="1">
                <a:spLocks noRot="1" noChangeAspect="1" noMove="1" noResize="1" noEditPoints="1" noAdjustHandles="1" noChangeArrowheads="1" noChangeShapeType="1" noTextEdit="1"/>
              </p:cNvSpPr>
              <p:nvPr/>
            </p:nvSpPr>
            <p:spPr bwMode="auto">
              <a:xfrm>
                <a:off x="7045325" y="4879975"/>
                <a:ext cx="2857500" cy="412750"/>
              </a:xfrm>
              <a:prstGeom prst="rect">
                <a:avLst/>
              </a:prstGeom>
              <a:blipFill>
                <a:blip r:embed="rId1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273" name="Object 17">
                <a:extLst>
                  <a:ext uri="{FF2B5EF4-FFF2-40B4-BE49-F238E27FC236}">
                    <a16:creationId xmlns:a16="http://schemas.microsoft.com/office/drawing/2014/main" id="{A20034C7-E051-E806-7E9E-57889BFBC9A2}"/>
                  </a:ext>
                </a:extLst>
              </p:cNvPr>
              <p:cNvSpPr txBox="1"/>
              <p:nvPr/>
            </p:nvSpPr>
            <p:spPr bwMode="auto">
              <a:xfrm>
                <a:off x="7058025" y="5467350"/>
                <a:ext cx="2833688" cy="41275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=18×1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−1</m:t>
                          </m:r>
                        </m:sup>
                      </m:sSup>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mod</m:t>
                          </m:r>
                        </m:fName>
                        <m:e>
                          <m:r>
                            <a:rPr lang="zh-CN" altLang="en-US" i="1">
                              <a:solidFill>
                                <a:srgbClr val="000000"/>
                              </a:solidFill>
                              <a:latin typeface="Cambria Math" panose="02040503050406030204" pitchFamily="18" charset="0"/>
                            </a:rPr>
                            <m:t>2</m:t>
                          </m:r>
                        </m:e>
                      </m:func>
                      <m:r>
                        <a:rPr lang="zh-CN" altLang="en-US" i="1">
                          <a:solidFill>
                            <a:srgbClr val="000000"/>
                          </a:solidFill>
                          <a:latin typeface="Cambria Math" panose="02040503050406030204" pitchFamily="18" charset="0"/>
                        </a:rPr>
                        <m:t>3=13</m:t>
                      </m:r>
                    </m:oMath>
                  </m:oMathPara>
                </a14:m>
                <a:endParaRPr lang="zh-CN" altLang="en-US" dirty="0"/>
              </a:p>
            </p:txBody>
          </p:sp>
        </mc:Choice>
        <mc:Fallback xmlns="">
          <p:sp>
            <p:nvSpPr>
              <p:cNvPr id="96273" name="Object 17">
                <a:extLst>
                  <a:ext uri="{FF2B5EF4-FFF2-40B4-BE49-F238E27FC236}">
                    <a16:creationId xmlns:a16="http://schemas.microsoft.com/office/drawing/2014/main" id="{A20034C7-E051-E806-7E9E-57889BFBC9A2}"/>
                  </a:ext>
                </a:extLst>
              </p:cNvPr>
              <p:cNvSpPr txBox="1">
                <a:spLocks noRot="1" noChangeAspect="1" noMove="1" noResize="1" noEditPoints="1" noAdjustHandles="1" noChangeArrowheads="1" noChangeShapeType="1" noTextEdit="1"/>
              </p:cNvSpPr>
              <p:nvPr/>
            </p:nvSpPr>
            <p:spPr bwMode="auto">
              <a:xfrm>
                <a:off x="7058025" y="5467350"/>
                <a:ext cx="2833688" cy="412750"/>
              </a:xfrm>
              <a:prstGeom prst="rect">
                <a:avLst/>
              </a:prstGeom>
              <a:blipFill>
                <a:blip r:embed="rId15"/>
                <a:stretch>
                  <a:fillRect/>
                </a:stretch>
              </a:blipFill>
              <a:ln>
                <a:noFill/>
              </a:ln>
            </p:spPr>
            <p:txBody>
              <a:bodyPr/>
              <a:lstStyle/>
              <a:p>
                <a:r>
                  <a:rPr lang="zh-CN" altLang="en-US">
                    <a:noFill/>
                  </a:rPr>
                  <a:t> </a:t>
                </a:r>
              </a:p>
            </p:txBody>
          </p:sp>
        </mc:Fallback>
      </mc:AlternateContent>
      <p:sp>
        <p:nvSpPr>
          <p:cNvPr id="30" name="文本框 29">
            <a:extLst>
              <a:ext uri="{FF2B5EF4-FFF2-40B4-BE49-F238E27FC236}">
                <a16:creationId xmlns:a16="http://schemas.microsoft.com/office/drawing/2014/main" id="{181CDB10-A677-0954-9F39-68DAFD20A16B}"/>
              </a:ext>
            </a:extLst>
          </p:cNvPr>
          <p:cNvSpPr txBox="1"/>
          <p:nvPr/>
        </p:nvSpPr>
        <p:spPr>
          <a:xfrm>
            <a:off x="1472883" y="3588305"/>
            <a:ext cx="1645920" cy="369332"/>
          </a:xfrm>
          <a:prstGeom prst="rect">
            <a:avLst/>
          </a:prstGeom>
          <a:noFill/>
        </p:spPr>
        <p:txBody>
          <a:bodyPr wrap="square" rtlCol="0">
            <a:spAutoFit/>
          </a:bodyPr>
          <a:lstStyle/>
          <a:p>
            <a:r>
              <a:rPr lang="zh-CN" altLang="en-US" dirty="0">
                <a:solidFill>
                  <a:srgbClr val="FF0000"/>
                </a:solidFill>
              </a:rPr>
              <a:t>加密</a:t>
            </a:r>
          </a:p>
        </p:txBody>
      </p:sp>
      <p:sp>
        <p:nvSpPr>
          <p:cNvPr id="31" name="文本框 30">
            <a:extLst>
              <a:ext uri="{FF2B5EF4-FFF2-40B4-BE49-F238E27FC236}">
                <a16:creationId xmlns:a16="http://schemas.microsoft.com/office/drawing/2014/main" id="{DADDDAB0-3496-9F37-8C02-3E3EBCC47EB2}"/>
              </a:ext>
            </a:extLst>
          </p:cNvPr>
          <p:cNvSpPr txBox="1"/>
          <p:nvPr/>
        </p:nvSpPr>
        <p:spPr>
          <a:xfrm>
            <a:off x="6896100" y="3588305"/>
            <a:ext cx="1752602" cy="369332"/>
          </a:xfrm>
          <a:prstGeom prst="rect">
            <a:avLst/>
          </a:prstGeom>
          <a:noFill/>
        </p:spPr>
        <p:txBody>
          <a:bodyPr wrap="square" rtlCol="0">
            <a:spAutoFit/>
          </a:bodyPr>
          <a:lstStyle/>
          <a:p>
            <a:r>
              <a:rPr lang="zh-CN" altLang="en-US" dirty="0">
                <a:solidFill>
                  <a:srgbClr val="FF0000"/>
                </a:solidFill>
              </a:rPr>
              <a:t>解密</a:t>
            </a:r>
          </a:p>
        </p:txBody>
      </p:sp>
    </p:spTree>
    <p:extLst>
      <p:ext uri="{BB962C8B-B14F-4D97-AF65-F5344CB8AC3E}">
        <p14:creationId xmlns:p14="http://schemas.microsoft.com/office/powerpoint/2010/main" val="10191871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A871D-5FEB-779E-8FD8-F8A8C13ADC8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09685D5-E732-8404-3E46-C2D50A102D5E}"/>
              </a:ext>
            </a:extLst>
          </p:cNvPr>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endParaRPr lang="zh-CN" altLang="en-US" dirty="0"/>
          </a:p>
        </p:txBody>
      </p:sp>
      <p:sp>
        <p:nvSpPr>
          <p:cNvPr id="4" name="灯片编号占位符 3">
            <a:extLst>
              <a:ext uri="{FF2B5EF4-FFF2-40B4-BE49-F238E27FC236}">
                <a16:creationId xmlns:a16="http://schemas.microsoft.com/office/drawing/2014/main" id="{2C62E031-1B22-AB95-7ADF-83C463CD9BEA}"/>
              </a:ext>
            </a:extLst>
          </p:cNvPr>
          <p:cNvSpPr>
            <a:spLocks noGrp="1"/>
          </p:cNvSpPr>
          <p:nvPr>
            <p:ph type="sldNum" sz="quarter" idx="12"/>
          </p:nvPr>
        </p:nvSpPr>
        <p:spPr/>
        <p:txBody>
          <a:bodyPr/>
          <a:lstStyle/>
          <a:p>
            <a:fld id="{8D4D1E41-7A09-AB4A-A4E1-09765ADA2698}" type="slidenum">
              <a:rPr kumimoji="1" lang="zh-CN" altLang="en-US" smtClean="0"/>
              <a:pPr/>
              <a:t>85</a:t>
            </a:fld>
            <a:endParaRPr kumimoji="1" lang="zh-CN" altLang="en-US" dirty="0"/>
          </a:p>
        </p:txBody>
      </p:sp>
      <p:sp>
        <p:nvSpPr>
          <p:cNvPr id="3" name="文本框 2">
            <a:extLst>
              <a:ext uri="{FF2B5EF4-FFF2-40B4-BE49-F238E27FC236}">
                <a16:creationId xmlns:a16="http://schemas.microsoft.com/office/drawing/2014/main" id="{96A5A041-9C65-9634-A53D-DDB88E623437}"/>
              </a:ext>
            </a:extLst>
          </p:cNvPr>
          <p:cNvSpPr txBox="1"/>
          <p:nvPr/>
        </p:nvSpPr>
        <p:spPr>
          <a:xfrm>
            <a:off x="825499" y="1675884"/>
            <a:ext cx="7122695" cy="969496"/>
          </a:xfrm>
          <a:prstGeom prst="rect">
            <a:avLst/>
          </a:prstGeom>
          <a:noFill/>
        </p:spPr>
        <p:txBody>
          <a:bodyPr wrap="square">
            <a:spAutoFit/>
          </a:bodyPr>
          <a:lstStyle/>
          <a:p>
            <a:pPr marL="228600" indent="-228600">
              <a:spcBef>
                <a:spcPts val="600"/>
              </a:spcBef>
              <a:buFont typeface="Wingdings" pitchFamily="2" charset="2"/>
              <a:buChar char="Ø"/>
            </a:pPr>
            <a:r>
              <a:rPr lang="zh-CN" altLang="en-US" sz="2800" dirty="0">
                <a:latin typeface="Microsoft YaHei" panose="020B0503020204020204" pitchFamily="34" charset="-122"/>
                <a:ea typeface="Microsoft YaHei" panose="020B0503020204020204" pitchFamily="34" charset="-122"/>
              </a:rPr>
              <a:t>如何高效计算椭圆曲线标量乘法</a:t>
            </a:r>
            <a:r>
              <a:rPr lang="en-US" altLang="zh-CN" sz="2800" dirty="0">
                <a:latin typeface="Microsoft YaHei" panose="020B0503020204020204" pitchFamily="34" charset="-122"/>
                <a:ea typeface="Microsoft YaHei" panose="020B0503020204020204" pitchFamily="34" charset="-122"/>
              </a:rPr>
              <a:t>KP</a:t>
            </a:r>
          </a:p>
          <a:p>
            <a:pPr marL="800100" lvl="1" indent="-342900">
              <a:spcBef>
                <a:spcPts val="6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二进制法</a:t>
            </a:r>
          </a:p>
        </p:txBody>
      </p:sp>
      <p:sp>
        <p:nvSpPr>
          <p:cNvPr id="97284" name="矩形 3">
            <a:extLst>
              <a:ext uri="{FF2B5EF4-FFF2-40B4-BE49-F238E27FC236}">
                <a16:creationId xmlns:a16="http://schemas.microsoft.com/office/drawing/2014/main" id="{4D89953F-4D8E-BBBA-8A03-5F0DD635B7B7}"/>
              </a:ext>
            </a:extLst>
          </p:cNvPr>
          <p:cNvSpPr>
            <a:spLocks noChangeArrowheads="1"/>
          </p:cNvSpPr>
          <p:nvPr/>
        </p:nvSpPr>
        <p:spPr bwMode="auto">
          <a:xfrm>
            <a:off x="1093195" y="3017045"/>
            <a:ext cx="3094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a:solidFill>
                  <a:schemeClr val="tx1"/>
                </a:solidFill>
              </a:rPr>
              <a:t>E</a:t>
            </a:r>
            <a:r>
              <a:rPr lang="en-US" altLang="zh-CN" b="0" baseline="-25000" dirty="0">
                <a:solidFill>
                  <a:schemeClr val="tx1"/>
                </a:solidFill>
              </a:rPr>
              <a:t>211</a:t>
            </a:r>
            <a:r>
              <a:rPr lang="en-US" altLang="zh-CN" b="0" dirty="0">
                <a:solidFill>
                  <a:schemeClr val="tx1"/>
                </a:solidFill>
              </a:rPr>
              <a:t>(1,1)</a:t>
            </a:r>
            <a:r>
              <a:rPr lang="zh-CN" altLang="en-US" b="0" dirty="0">
                <a:solidFill>
                  <a:schemeClr val="tx1"/>
                </a:solidFill>
              </a:rPr>
              <a:t>：</a:t>
            </a:r>
            <a:r>
              <a:rPr lang="en-US" altLang="zh-CN" b="0" dirty="0">
                <a:solidFill>
                  <a:schemeClr val="tx1"/>
                </a:solidFill>
              </a:rPr>
              <a:t>y</a:t>
            </a:r>
            <a:r>
              <a:rPr lang="en-US" altLang="zh-CN" b="0" baseline="30000" dirty="0">
                <a:solidFill>
                  <a:schemeClr val="tx1"/>
                </a:solidFill>
              </a:rPr>
              <a:t>2</a:t>
            </a:r>
            <a:r>
              <a:rPr lang="en-US" altLang="zh-CN" b="0" dirty="0">
                <a:solidFill>
                  <a:schemeClr val="tx1"/>
                </a:solidFill>
              </a:rPr>
              <a:t> =x</a:t>
            </a:r>
            <a:r>
              <a:rPr lang="en-US" altLang="zh-CN" b="0" baseline="30000" dirty="0">
                <a:solidFill>
                  <a:schemeClr val="tx1"/>
                </a:solidFill>
              </a:rPr>
              <a:t>3</a:t>
            </a:r>
            <a:r>
              <a:rPr lang="en-US" altLang="zh-CN" b="0" dirty="0">
                <a:solidFill>
                  <a:schemeClr val="tx1"/>
                </a:solidFill>
              </a:rPr>
              <a:t>+x+1,p=211</a:t>
            </a:r>
          </a:p>
        </p:txBody>
      </p:sp>
      <p:sp>
        <p:nvSpPr>
          <p:cNvPr id="97285" name="矩形 4">
            <a:extLst>
              <a:ext uri="{FF2B5EF4-FFF2-40B4-BE49-F238E27FC236}">
                <a16:creationId xmlns:a16="http://schemas.microsoft.com/office/drawing/2014/main" id="{FCDBB42B-F0BA-9268-1313-B2BF5F0C7128}"/>
              </a:ext>
            </a:extLst>
          </p:cNvPr>
          <p:cNvSpPr>
            <a:spLocks noChangeArrowheads="1"/>
          </p:cNvSpPr>
          <p:nvPr/>
        </p:nvSpPr>
        <p:spPr bwMode="auto">
          <a:xfrm>
            <a:off x="1236071" y="3659981"/>
            <a:ext cx="1789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a:solidFill>
                  <a:schemeClr val="tx1"/>
                </a:solidFill>
              </a:rPr>
              <a:t>P(2,86)</a:t>
            </a:r>
            <a:r>
              <a:rPr lang="zh-CN" altLang="en-US" b="0" dirty="0">
                <a:solidFill>
                  <a:schemeClr val="tx1"/>
                </a:solidFill>
              </a:rPr>
              <a:t>，</a:t>
            </a:r>
            <a:r>
              <a:rPr lang="en-US" altLang="zh-CN" b="0" dirty="0">
                <a:solidFill>
                  <a:schemeClr val="tx1"/>
                </a:solidFill>
              </a:rPr>
              <a:t>k=112</a:t>
            </a:r>
          </a:p>
        </p:txBody>
      </p:sp>
      <p:sp>
        <p:nvSpPr>
          <p:cNvPr id="97286" name="矩形 5">
            <a:extLst>
              <a:ext uri="{FF2B5EF4-FFF2-40B4-BE49-F238E27FC236}">
                <a16:creationId xmlns:a16="http://schemas.microsoft.com/office/drawing/2014/main" id="{C3BEF671-C8EE-089C-550F-6B81E5C3A7A9}"/>
              </a:ext>
            </a:extLst>
          </p:cNvPr>
          <p:cNvSpPr>
            <a:spLocks noChangeArrowheads="1"/>
          </p:cNvSpPr>
          <p:nvPr/>
        </p:nvSpPr>
        <p:spPr bwMode="auto">
          <a:xfrm>
            <a:off x="1478959" y="4190206"/>
            <a:ext cx="1228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zh-CN" altLang="en-US" b="0">
                <a:solidFill>
                  <a:schemeClr val="tx1"/>
                </a:solidFill>
              </a:rPr>
              <a:t>求：</a:t>
            </a:r>
            <a:r>
              <a:rPr lang="en-US" altLang="zh-CN" b="0">
                <a:solidFill>
                  <a:schemeClr val="tx1"/>
                </a:solidFill>
              </a:rPr>
              <a:t>Q=kP</a:t>
            </a:r>
          </a:p>
        </p:txBody>
      </p:sp>
      <p:sp>
        <p:nvSpPr>
          <p:cNvPr id="97287" name="矩形 6">
            <a:extLst>
              <a:ext uri="{FF2B5EF4-FFF2-40B4-BE49-F238E27FC236}">
                <a16:creationId xmlns:a16="http://schemas.microsoft.com/office/drawing/2014/main" id="{0089ADB4-8F6E-B79D-3F67-A530720DF956}"/>
              </a:ext>
            </a:extLst>
          </p:cNvPr>
          <p:cNvSpPr>
            <a:spLocks noChangeArrowheads="1"/>
          </p:cNvSpPr>
          <p:nvPr/>
        </p:nvSpPr>
        <p:spPr bwMode="auto">
          <a:xfrm>
            <a:off x="1307508" y="4660106"/>
            <a:ext cx="1536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a:solidFill>
                  <a:schemeClr val="tx1"/>
                </a:solidFill>
              </a:rPr>
              <a:t>k=(1110000)</a:t>
            </a:r>
            <a:r>
              <a:rPr lang="en-US" altLang="zh-CN" b="0" baseline="-25000" dirty="0">
                <a:solidFill>
                  <a:schemeClr val="tx1"/>
                </a:solidFill>
              </a:rPr>
              <a:t>2</a:t>
            </a:r>
            <a:endParaRPr lang="en-US" altLang="zh-CN" b="0" dirty="0">
              <a:solidFill>
                <a:schemeClr val="tx1"/>
              </a:solidFill>
            </a:endParaRPr>
          </a:p>
        </p:txBody>
      </p:sp>
      <p:sp>
        <p:nvSpPr>
          <p:cNvPr id="97288" name="矩形 7">
            <a:extLst>
              <a:ext uri="{FF2B5EF4-FFF2-40B4-BE49-F238E27FC236}">
                <a16:creationId xmlns:a16="http://schemas.microsoft.com/office/drawing/2014/main" id="{48A66CD1-CFA0-43CB-0D15-355679D517BD}"/>
              </a:ext>
            </a:extLst>
          </p:cNvPr>
          <p:cNvSpPr>
            <a:spLocks noChangeArrowheads="1"/>
          </p:cNvSpPr>
          <p:nvPr/>
        </p:nvSpPr>
        <p:spPr bwMode="auto">
          <a:xfrm>
            <a:off x="5894386" y="2814606"/>
            <a:ext cx="627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a:solidFill>
                  <a:schemeClr val="tx1"/>
                </a:solidFill>
              </a:rPr>
              <a:t>Q=0</a:t>
            </a:r>
          </a:p>
        </p:txBody>
      </p:sp>
      <p:sp>
        <p:nvSpPr>
          <p:cNvPr id="97289" name="矩形 9">
            <a:extLst>
              <a:ext uri="{FF2B5EF4-FFF2-40B4-BE49-F238E27FC236}">
                <a16:creationId xmlns:a16="http://schemas.microsoft.com/office/drawing/2014/main" id="{A061A0C9-175D-4060-1EE5-AA12283FFD75}"/>
              </a:ext>
            </a:extLst>
          </p:cNvPr>
          <p:cNvSpPr>
            <a:spLocks noChangeArrowheads="1"/>
          </p:cNvSpPr>
          <p:nvPr/>
        </p:nvSpPr>
        <p:spPr bwMode="auto">
          <a:xfrm>
            <a:off x="5108574" y="3228945"/>
            <a:ext cx="3786187"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a:solidFill>
                  <a:schemeClr val="tx1"/>
                </a:solidFill>
              </a:rPr>
              <a:t>0</a:t>
            </a:r>
            <a:r>
              <a:rPr lang="zh-CN" altLang="en-US" b="0">
                <a:solidFill>
                  <a:schemeClr val="tx1"/>
                </a:solidFill>
              </a:rPr>
              <a:t>：</a:t>
            </a:r>
            <a:r>
              <a:rPr lang="en-US" altLang="zh-CN" b="0">
                <a:solidFill>
                  <a:schemeClr val="tx1"/>
                </a:solidFill>
              </a:rPr>
              <a:t>P=2P=(43,209)</a:t>
            </a:r>
          </a:p>
          <a:p>
            <a:pPr eaLnBrk="1" hangingPunct="1"/>
            <a:r>
              <a:rPr lang="en-US" altLang="zh-CN" b="0">
                <a:solidFill>
                  <a:schemeClr val="tx1"/>
                </a:solidFill>
              </a:rPr>
              <a:t>0</a:t>
            </a:r>
            <a:r>
              <a:rPr lang="zh-CN" altLang="en-US" b="0">
                <a:solidFill>
                  <a:schemeClr val="tx1"/>
                </a:solidFill>
              </a:rPr>
              <a:t>：</a:t>
            </a:r>
            <a:r>
              <a:rPr lang="en-US" altLang="zh-CN" b="0">
                <a:solidFill>
                  <a:schemeClr val="tx1"/>
                </a:solidFill>
              </a:rPr>
              <a:t>P=2P=(207,12)</a:t>
            </a:r>
          </a:p>
          <a:p>
            <a:pPr eaLnBrk="1" hangingPunct="1"/>
            <a:r>
              <a:rPr lang="en-US" altLang="zh-CN" b="0">
                <a:solidFill>
                  <a:schemeClr val="tx1"/>
                </a:solidFill>
              </a:rPr>
              <a:t>0</a:t>
            </a:r>
            <a:r>
              <a:rPr lang="zh-CN" altLang="en-US" b="0">
                <a:solidFill>
                  <a:schemeClr val="tx1"/>
                </a:solidFill>
              </a:rPr>
              <a:t>：</a:t>
            </a:r>
            <a:r>
              <a:rPr lang="en-US" altLang="zh-CN" b="0">
                <a:solidFill>
                  <a:schemeClr val="tx1"/>
                </a:solidFill>
              </a:rPr>
              <a:t>P=2P=(14,4)</a:t>
            </a:r>
          </a:p>
          <a:p>
            <a:pPr eaLnBrk="1" hangingPunct="1"/>
            <a:r>
              <a:rPr lang="en-US" altLang="zh-CN" b="0">
                <a:solidFill>
                  <a:schemeClr val="tx1"/>
                </a:solidFill>
              </a:rPr>
              <a:t>0</a:t>
            </a:r>
            <a:r>
              <a:rPr lang="zh-CN" altLang="en-US" b="0">
                <a:solidFill>
                  <a:schemeClr val="tx1"/>
                </a:solidFill>
              </a:rPr>
              <a:t>：</a:t>
            </a:r>
            <a:r>
              <a:rPr lang="en-US" altLang="zh-CN" b="0">
                <a:solidFill>
                  <a:schemeClr val="tx1"/>
                </a:solidFill>
              </a:rPr>
              <a:t>P=2P=(55,116)</a:t>
            </a:r>
          </a:p>
          <a:p>
            <a:pPr eaLnBrk="1" hangingPunct="1"/>
            <a:r>
              <a:rPr lang="en-US" altLang="zh-CN" b="0">
                <a:solidFill>
                  <a:schemeClr val="tx1"/>
                </a:solidFill>
              </a:rPr>
              <a:t>1</a:t>
            </a:r>
            <a:r>
              <a:rPr lang="zh-CN" altLang="en-US" b="0">
                <a:solidFill>
                  <a:schemeClr val="tx1"/>
                </a:solidFill>
              </a:rPr>
              <a:t>：</a:t>
            </a:r>
            <a:r>
              <a:rPr lang="en-US" altLang="zh-CN" b="0">
                <a:solidFill>
                  <a:schemeClr val="tx1"/>
                </a:solidFill>
              </a:rPr>
              <a:t>Q=Q+P=(55,116);</a:t>
            </a:r>
          </a:p>
          <a:p>
            <a:pPr eaLnBrk="1" hangingPunct="1"/>
            <a:r>
              <a:rPr lang="en-US" altLang="zh-CN" b="0">
                <a:solidFill>
                  <a:schemeClr val="tx1"/>
                </a:solidFill>
              </a:rPr>
              <a:t>      P=2P=(157,201)</a:t>
            </a:r>
          </a:p>
          <a:p>
            <a:pPr eaLnBrk="1" hangingPunct="1"/>
            <a:r>
              <a:rPr lang="en-US" altLang="zh-CN" b="0">
                <a:solidFill>
                  <a:schemeClr val="tx1"/>
                </a:solidFill>
              </a:rPr>
              <a:t>1</a:t>
            </a:r>
            <a:r>
              <a:rPr lang="zh-CN" altLang="en-US" b="0">
                <a:solidFill>
                  <a:schemeClr val="tx1"/>
                </a:solidFill>
              </a:rPr>
              <a:t>：</a:t>
            </a:r>
            <a:r>
              <a:rPr lang="en-US" altLang="zh-CN" b="0">
                <a:solidFill>
                  <a:schemeClr val="tx1"/>
                </a:solidFill>
              </a:rPr>
              <a:t>Q=Q+P=(29,187);</a:t>
            </a:r>
          </a:p>
          <a:p>
            <a:pPr eaLnBrk="1" hangingPunct="1"/>
            <a:r>
              <a:rPr lang="en-US" altLang="zh-CN" b="0">
                <a:solidFill>
                  <a:schemeClr val="tx1"/>
                </a:solidFill>
              </a:rPr>
              <a:t>       P=2P=(151,65)</a:t>
            </a:r>
          </a:p>
          <a:p>
            <a:pPr eaLnBrk="1" hangingPunct="1"/>
            <a:r>
              <a:rPr lang="en-US" altLang="zh-CN" b="0">
                <a:solidFill>
                  <a:schemeClr val="tx1"/>
                </a:solidFill>
              </a:rPr>
              <a:t>1</a:t>
            </a:r>
            <a:r>
              <a:rPr lang="zh-CN" altLang="en-US" b="0">
                <a:solidFill>
                  <a:schemeClr val="tx1"/>
                </a:solidFill>
              </a:rPr>
              <a:t>：</a:t>
            </a:r>
            <a:r>
              <a:rPr lang="en-US" altLang="zh-CN" b="0">
                <a:solidFill>
                  <a:schemeClr val="tx1"/>
                </a:solidFill>
              </a:rPr>
              <a:t>Q=Q+P=(32,27)</a:t>
            </a:r>
          </a:p>
        </p:txBody>
      </p:sp>
      <p:sp>
        <p:nvSpPr>
          <p:cNvPr id="97290" name="矩形 10">
            <a:extLst>
              <a:ext uri="{FF2B5EF4-FFF2-40B4-BE49-F238E27FC236}">
                <a16:creationId xmlns:a16="http://schemas.microsoft.com/office/drawing/2014/main" id="{E8695457-4EAA-85BF-CFE7-A2CBB3378776}"/>
              </a:ext>
            </a:extLst>
          </p:cNvPr>
          <p:cNvSpPr>
            <a:spLocks noChangeArrowheads="1"/>
          </p:cNvSpPr>
          <p:nvPr/>
        </p:nvSpPr>
        <p:spPr bwMode="auto">
          <a:xfrm>
            <a:off x="5894386" y="5957856"/>
            <a:ext cx="1230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a:solidFill>
                  <a:schemeClr val="tx1"/>
                </a:solidFill>
              </a:rPr>
              <a:t>Q=(32,27)</a:t>
            </a:r>
          </a:p>
        </p:txBody>
      </p:sp>
      <p:sp>
        <p:nvSpPr>
          <p:cNvPr id="97291" name="矩形 11">
            <a:extLst>
              <a:ext uri="{FF2B5EF4-FFF2-40B4-BE49-F238E27FC236}">
                <a16:creationId xmlns:a16="http://schemas.microsoft.com/office/drawing/2014/main" id="{7EC6C9FE-C2DE-2E43-4424-212DC7545F6B}"/>
              </a:ext>
            </a:extLst>
          </p:cNvPr>
          <p:cNvSpPr>
            <a:spLocks noChangeArrowheads="1"/>
          </p:cNvSpPr>
          <p:nvPr/>
        </p:nvSpPr>
        <p:spPr bwMode="auto">
          <a:xfrm>
            <a:off x="5537199" y="2243106"/>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zh-CN" altLang="en-US" b="0">
                <a:solidFill>
                  <a:schemeClr val="tx1"/>
                </a:solidFill>
              </a:rPr>
              <a:t>从右向左</a:t>
            </a:r>
          </a:p>
        </p:txBody>
      </p:sp>
      <p:sp>
        <p:nvSpPr>
          <p:cNvPr id="98308" name="矩形 3">
            <a:extLst>
              <a:ext uri="{FF2B5EF4-FFF2-40B4-BE49-F238E27FC236}">
                <a16:creationId xmlns:a16="http://schemas.microsoft.com/office/drawing/2014/main" id="{2BAF9EDB-FD5C-24DE-DF06-4C438E0F940E}"/>
              </a:ext>
            </a:extLst>
          </p:cNvPr>
          <p:cNvSpPr>
            <a:spLocks noChangeArrowheads="1"/>
          </p:cNvSpPr>
          <p:nvPr/>
        </p:nvSpPr>
        <p:spPr bwMode="auto">
          <a:xfrm>
            <a:off x="7810501" y="3228945"/>
            <a:ext cx="2616199"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a:solidFill>
                  <a:schemeClr val="tx1"/>
                </a:solidFill>
              </a:rPr>
              <a:t>1</a:t>
            </a:r>
            <a:r>
              <a:rPr lang="zh-CN" altLang="en-US" b="0" dirty="0">
                <a:solidFill>
                  <a:schemeClr val="tx1"/>
                </a:solidFill>
              </a:rPr>
              <a:t>：</a:t>
            </a:r>
            <a:r>
              <a:rPr lang="en-US" altLang="zh-CN" b="0" dirty="0">
                <a:solidFill>
                  <a:schemeClr val="tx1"/>
                </a:solidFill>
              </a:rPr>
              <a:t>Q=2Q=0; </a:t>
            </a:r>
          </a:p>
          <a:p>
            <a:pPr eaLnBrk="1" hangingPunct="1"/>
            <a:r>
              <a:rPr lang="en-US" altLang="zh-CN" b="0" dirty="0">
                <a:solidFill>
                  <a:schemeClr val="tx1"/>
                </a:solidFill>
              </a:rPr>
              <a:t>      Q=Q+P=(2,86)</a:t>
            </a:r>
          </a:p>
          <a:p>
            <a:pPr eaLnBrk="1" hangingPunct="1"/>
            <a:r>
              <a:rPr lang="en-US" altLang="zh-CN" b="0" dirty="0">
                <a:solidFill>
                  <a:schemeClr val="tx1"/>
                </a:solidFill>
              </a:rPr>
              <a:t>1</a:t>
            </a:r>
            <a:r>
              <a:rPr lang="zh-CN" altLang="en-US" b="0" dirty="0">
                <a:solidFill>
                  <a:schemeClr val="tx1"/>
                </a:solidFill>
              </a:rPr>
              <a:t>：</a:t>
            </a:r>
            <a:r>
              <a:rPr lang="en-US" altLang="zh-CN" b="0" dirty="0">
                <a:solidFill>
                  <a:schemeClr val="tx1"/>
                </a:solidFill>
              </a:rPr>
              <a:t>Q=2Q=(43,209); </a:t>
            </a:r>
          </a:p>
          <a:p>
            <a:pPr eaLnBrk="1" hangingPunct="1"/>
            <a:r>
              <a:rPr lang="en-US" altLang="zh-CN" b="0" dirty="0">
                <a:solidFill>
                  <a:schemeClr val="tx1"/>
                </a:solidFill>
              </a:rPr>
              <a:t>      Q=Q+P=(175,28)</a:t>
            </a:r>
          </a:p>
          <a:p>
            <a:pPr eaLnBrk="1" hangingPunct="1"/>
            <a:r>
              <a:rPr lang="en-US" altLang="zh-CN" b="0" dirty="0">
                <a:solidFill>
                  <a:schemeClr val="tx1"/>
                </a:solidFill>
              </a:rPr>
              <a:t>1</a:t>
            </a:r>
            <a:r>
              <a:rPr lang="zh-CN" altLang="en-US" b="0" dirty="0">
                <a:solidFill>
                  <a:schemeClr val="tx1"/>
                </a:solidFill>
              </a:rPr>
              <a:t>：</a:t>
            </a:r>
            <a:r>
              <a:rPr lang="en-US" altLang="zh-CN" b="0" dirty="0">
                <a:solidFill>
                  <a:schemeClr val="tx1"/>
                </a:solidFill>
              </a:rPr>
              <a:t>Q=2Q=(12,105); </a:t>
            </a:r>
          </a:p>
          <a:p>
            <a:pPr eaLnBrk="1" hangingPunct="1"/>
            <a:r>
              <a:rPr lang="en-US" altLang="zh-CN" b="0" dirty="0">
                <a:solidFill>
                  <a:schemeClr val="tx1"/>
                </a:solidFill>
              </a:rPr>
              <a:t>      Q=Q+P=(93,142)</a:t>
            </a:r>
          </a:p>
          <a:p>
            <a:pPr eaLnBrk="1" hangingPunct="1"/>
            <a:r>
              <a:rPr lang="en-US" altLang="zh-CN" b="0" dirty="0">
                <a:solidFill>
                  <a:schemeClr val="tx1"/>
                </a:solidFill>
              </a:rPr>
              <a:t>0</a:t>
            </a:r>
            <a:r>
              <a:rPr lang="zh-CN" altLang="en-US" b="0" dirty="0">
                <a:solidFill>
                  <a:schemeClr val="tx1"/>
                </a:solidFill>
              </a:rPr>
              <a:t>：</a:t>
            </a:r>
            <a:r>
              <a:rPr lang="en-US" altLang="zh-CN" b="0" dirty="0">
                <a:solidFill>
                  <a:schemeClr val="tx1"/>
                </a:solidFill>
              </a:rPr>
              <a:t>Q=2Q=(45,190) </a:t>
            </a:r>
          </a:p>
          <a:p>
            <a:pPr eaLnBrk="1" hangingPunct="1"/>
            <a:r>
              <a:rPr lang="en-US" altLang="zh-CN" b="0" dirty="0">
                <a:solidFill>
                  <a:schemeClr val="tx1"/>
                </a:solidFill>
              </a:rPr>
              <a:t>0</a:t>
            </a:r>
            <a:r>
              <a:rPr lang="zh-CN" altLang="en-US" b="0" dirty="0">
                <a:solidFill>
                  <a:schemeClr val="tx1"/>
                </a:solidFill>
              </a:rPr>
              <a:t>：</a:t>
            </a:r>
            <a:r>
              <a:rPr lang="en-US" altLang="zh-CN" b="0" dirty="0">
                <a:solidFill>
                  <a:schemeClr val="tx1"/>
                </a:solidFill>
              </a:rPr>
              <a:t>Q=2Q=(137,178)</a:t>
            </a:r>
          </a:p>
          <a:p>
            <a:pPr eaLnBrk="1" hangingPunct="1"/>
            <a:r>
              <a:rPr lang="en-US" altLang="zh-CN" b="0" dirty="0">
                <a:solidFill>
                  <a:schemeClr val="tx1"/>
                </a:solidFill>
              </a:rPr>
              <a:t>0</a:t>
            </a:r>
            <a:r>
              <a:rPr lang="zh-CN" altLang="en-US" b="0" dirty="0">
                <a:solidFill>
                  <a:schemeClr val="tx1"/>
                </a:solidFill>
              </a:rPr>
              <a:t>：</a:t>
            </a:r>
            <a:r>
              <a:rPr lang="en-US" altLang="zh-CN" b="0" dirty="0">
                <a:solidFill>
                  <a:schemeClr val="tx1"/>
                </a:solidFill>
              </a:rPr>
              <a:t>Q=2Q=(13,177)</a:t>
            </a:r>
          </a:p>
          <a:p>
            <a:pPr eaLnBrk="1" hangingPunct="1"/>
            <a:r>
              <a:rPr lang="en-US" altLang="zh-CN" b="0" dirty="0">
                <a:solidFill>
                  <a:schemeClr val="tx1"/>
                </a:solidFill>
              </a:rPr>
              <a:t>0</a:t>
            </a:r>
            <a:r>
              <a:rPr lang="zh-CN" altLang="en-US" b="0" dirty="0">
                <a:solidFill>
                  <a:schemeClr val="tx1"/>
                </a:solidFill>
              </a:rPr>
              <a:t>：</a:t>
            </a:r>
            <a:r>
              <a:rPr lang="en-US" altLang="zh-CN" b="0" dirty="0">
                <a:solidFill>
                  <a:schemeClr val="tx1"/>
                </a:solidFill>
              </a:rPr>
              <a:t>Q=2Q=(32,27)</a:t>
            </a:r>
          </a:p>
        </p:txBody>
      </p:sp>
      <p:sp>
        <p:nvSpPr>
          <p:cNvPr id="98309" name="矩形 5">
            <a:extLst>
              <a:ext uri="{FF2B5EF4-FFF2-40B4-BE49-F238E27FC236}">
                <a16:creationId xmlns:a16="http://schemas.microsoft.com/office/drawing/2014/main" id="{5791126C-294E-8E1F-08BB-825130DC2746}"/>
              </a:ext>
            </a:extLst>
          </p:cNvPr>
          <p:cNvSpPr>
            <a:spLocks noChangeArrowheads="1"/>
          </p:cNvSpPr>
          <p:nvPr/>
        </p:nvSpPr>
        <p:spPr bwMode="auto">
          <a:xfrm>
            <a:off x="8274049" y="2237550"/>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zh-CN" altLang="en-US" b="0" dirty="0">
                <a:solidFill>
                  <a:schemeClr val="tx1"/>
                </a:solidFill>
              </a:rPr>
              <a:t>从左向右</a:t>
            </a:r>
          </a:p>
        </p:txBody>
      </p:sp>
      <p:sp>
        <p:nvSpPr>
          <p:cNvPr id="98310" name="矩形 7">
            <a:extLst>
              <a:ext uri="{FF2B5EF4-FFF2-40B4-BE49-F238E27FC236}">
                <a16:creationId xmlns:a16="http://schemas.microsoft.com/office/drawing/2014/main" id="{D1D4DF6A-D750-4D77-1608-0C6B482DB827}"/>
              </a:ext>
            </a:extLst>
          </p:cNvPr>
          <p:cNvSpPr>
            <a:spLocks noChangeArrowheads="1"/>
          </p:cNvSpPr>
          <p:nvPr/>
        </p:nvSpPr>
        <p:spPr bwMode="auto">
          <a:xfrm>
            <a:off x="8453439" y="6228554"/>
            <a:ext cx="12303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a:solidFill>
                  <a:schemeClr val="tx1"/>
                </a:solidFill>
              </a:rPr>
              <a:t>Q=(32,27)</a:t>
            </a:r>
          </a:p>
        </p:txBody>
      </p:sp>
      <p:sp>
        <p:nvSpPr>
          <p:cNvPr id="5" name="矩形 7">
            <a:extLst>
              <a:ext uri="{FF2B5EF4-FFF2-40B4-BE49-F238E27FC236}">
                <a16:creationId xmlns:a16="http://schemas.microsoft.com/office/drawing/2014/main" id="{EA122077-BEE8-B403-42A7-969B492D9E37}"/>
              </a:ext>
            </a:extLst>
          </p:cNvPr>
          <p:cNvSpPr>
            <a:spLocks noChangeArrowheads="1"/>
          </p:cNvSpPr>
          <p:nvPr/>
        </p:nvSpPr>
        <p:spPr bwMode="auto">
          <a:xfrm>
            <a:off x="8590753" y="2814606"/>
            <a:ext cx="627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a:solidFill>
                  <a:schemeClr val="tx1"/>
                </a:solidFill>
              </a:rPr>
              <a:t>Q=0</a:t>
            </a:r>
          </a:p>
        </p:txBody>
      </p:sp>
    </p:spTree>
    <p:extLst>
      <p:ext uri="{BB962C8B-B14F-4D97-AF65-F5344CB8AC3E}">
        <p14:creationId xmlns:p14="http://schemas.microsoft.com/office/powerpoint/2010/main" val="20391466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7B32A-B245-1CDB-E72C-0295380FDC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83B76F2-5373-EA59-A165-4B8F11AA8993}"/>
              </a:ext>
            </a:extLst>
          </p:cNvPr>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endParaRPr lang="zh-CN" altLang="en-US" dirty="0"/>
          </a:p>
        </p:txBody>
      </p:sp>
      <p:sp>
        <p:nvSpPr>
          <p:cNvPr id="4" name="灯片编号占位符 3">
            <a:extLst>
              <a:ext uri="{FF2B5EF4-FFF2-40B4-BE49-F238E27FC236}">
                <a16:creationId xmlns:a16="http://schemas.microsoft.com/office/drawing/2014/main" id="{AACD71F6-D300-982A-1ED2-DC5A57BBDFA5}"/>
              </a:ext>
            </a:extLst>
          </p:cNvPr>
          <p:cNvSpPr>
            <a:spLocks noGrp="1"/>
          </p:cNvSpPr>
          <p:nvPr>
            <p:ph type="sldNum" sz="quarter" idx="12"/>
          </p:nvPr>
        </p:nvSpPr>
        <p:spPr/>
        <p:txBody>
          <a:bodyPr/>
          <a:lstStyle/>
          <a:p>
            <a:fld id="{8D4D1E41-7A09-AB4A-A4E1-09765ADA2698}" type="slidenum">
              <a:rPr kumimoji="1" lang="zh-CN" altLang="en-US" smtClean="0"/>
              <a:pPr/>
              <a:t>86</a:t>
            </a:fld>
            <a:endParaRPr kumimoji="1" lang="zh-CN" altLang="en-US" dirty="0"/>
          </a:p>
        </p:txBody>
      </p:sp>
      <p:sp>
        <p:nvSpPr>
          <p:cNvPr id="3" name="文本框 2">
            <a:extLst>
              <a:ext uri="{FF2B5EF4-FFF2-40B4-BE49-F238E27FC236}">
                <a16:creationId xmlns:a16="http://schemas.microsoft.com/office/drawing/2014/main" id="{63CB1FFE-ED91-1423-15A8-20BE37A61CCE}"/>
              </a:ext>
            </a:extLst>
          </p:cNvPr>
          <p:cNvSpPr txBox="1"/>
          <p:nvPr/>
        </p:nvSpPr>
        <p:spPr>
          <a:xfrm>
            <a:off x="825499" y="1675884"/>
            <a:ext cx="7122695" cy="969496"/>
          </a:xfrm>
          <a:prstGeom prst="rect">
            <a:avLst/>
          </a:prstGeom>
          <a:noFill/>
        </p:spPr>
        <p:txBody>
          <a:bodyPr wrap="square">
            <a:spAutoFit/>
          </a:bodyPr>
          <a:lstStyle/>
          <a:p>
            <a:pPr marL="228600" indent="-228600">
              <a:spcBef>
                <a:spcPts val="600"/>
              </a:spcBef>
              <a:buFont typeface="Wingdings" pitchFamily="2" charset="2"/>
              <a:buChar char="Ø"/>
            </a:pPr>
            <a:r>
              <a:rPr lang="zh-CN" altLang="en-US" sz="2800" dirty="0">
                <a:latin typeface="Microsoft YaHei" panose="020B0503020204020204" pitchFamily="34" charset="-122"/>
                <a:ea typeface="Microsoft YaHei" panose="020B0503020204020204" pitchFamily="34" charset="-122"/>
              </a:rPr>
              <a:t>如何高效计算椭圆曲线标量乘法</a:t>
            </a:r>
            <a:r>
              <a:rPr lang="en-US" altLang="zh-CN" sz="2800" dirty="0">
                <a:latin typeface="Microsoft YaHei" panose="020B0503020204020204" pitchFamily="34" charset="-122"/>
                <a:ea typeface="Microsoft YaHei" panose="020B0503020204020204" pitchFamily="34" charset="-122"/>
              </a:rPr>
              <a:t>KP</a:t>
            </a:r>
          </a:p>
          <a:p>
            <a:pPr marL="800100" lvl="1" indent="-342900">
              <a:spcBef>
                <a:spcPts val="6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有符号的二进制法</a:t>
            </a:r>
          </a:p>
        </p:txBody>
      </p:sp>
      <p:sp>
        <p:nvSpPr>
          <p:cNvPr id="97284" name="矩形 3">
            <a:extLst>
              <a:ext uri="{FF2B5EF4-FFF2-40B4-BE49-F238E27FC236}">
                <a16:creationId xmlns:a16="http://schemas.microsoft.com/office/drawing/2014/main" id="{42905399-2866-FA39-0561-3BCBD5B3724E}"/>
              </a:ext>
            </a:extLst>
          </p:cNvPr>
          <p:cNvSpPr>
            <a:spLocks noChangeArrowheads="1"/>
          </p:cNvSpPr>
          <p:nvPr/>
        </p:nvSpPr>
        <p:spPr bwMode="auto">
          <a:xfrm>
            <a:off x="1093195" y="3017045"/>
            <a:ext cx="3094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a:solidFill>
                  <a:schemeClr val="tx1"/>
                </a:solidFill>
              </a:rPr>
              <a:t>E</a:t>
            </a:r>
            <a:r>
              <a:rPr lang="en-US" altLang="zh-CN" b="0" baseline="-25000" dirty="0">
                <a:solidFill>
                  <a:schemeClr val="tx1"/>
                </a:solidFill>
              </a:rPr>
              <a:t>211</a:t>
            </a:r>
            <a:r>
              <a:rPr lang="en-US" altLang="zh-CN" b="0" dirty="0">
                <a:solidFill>
                  <a:schemeClr val="tx1"/>
                </a:solidFill>
              </a:rPr>
              <a:t>(1,1)</a:t>
            </a:r>
            <a:r>
              <a:rPr lang="zh-CN" altLang="en-US" b="0" dirty="0">
                <a:solidFill>
                  <a:schemeClr val="tx1"/>
                </a:solidFill>
              </a:rPr>
              <a:t>：</a:t>
            </a:r>
            <a:r>
              <a:rPr lang="en-US" altLang="zh-CN" b="0" dirty="0">
                <a:solidFill>
                  <a:schemeClr val="tx1"/>
                </a:solidFill>
              </a:rPr>
              <a:t>y</a:t>
            </a:r>
            <a:r>
              <a:rPr lang="en-US" altLang="zh-CN" b="0" baseline="30000" dirty="0">
                <a:solidFill>
                  <a:schemeClr val="tx1"/>
                </a:solidFill>
              </a:rPr>
              <a:t>2</a:t>
            </a:r>
            <a:r>
              <a:rPr lang="en-US" altLang="zh-CN" b="0" dirty="0">
                <a:solidFill>
                  <a:schemeClr val="tx1"/>
                </a:solidFill>
              </a:rPr>
              <a:t> =x</a:t>
            </a:r>
            <a:r>
              <a:rPr lang="en-US" altLang="zh-CN" b="0" baseline="30000" dirty="0">
                <a:solidFill>
                  <a:schemeClr val="tx1"/>
                </a:solidFill>
              </a:rPr>
              <a:t>3</a:t>
            </a:r>
            <a:r>
              <a:rPr lang="en-US" altLang="zh-CN" b="0" dirty="0">
                <a:solidFill>
                  <a:schemeClr val="tx1"/>
                </a:solidFill>
              </a:rPr>
              <a:t>+x+1,p=211</a:t>
            </a:r>
          </a:p>
        </p:txBody>
      </p:sp>
      <p:sp>
        <p:nvSpPr>
          <p:cNvPr id="97285" name="矩形 4">
            <a:extLst>
              <a:ext uri="{FF2B5EF4-FFF2-40B4-BE49-F238E27FC236}">
                <a16:creationId xmlns:a16="http://schemas.microsoft.com/office/drawing/2014/main" id="{B3174D21-5AD2-A278-2E72-9CFF179C301C}"/>
              </a:ext>
            </a:extLst>
          </p:cNvPr>
          <p:cNvSpPr>
            <a:spLocks noChangeArrowheads="1"/>
          </p:cNvSpPr>
          <p:nvPr/>
        </p:nvSpPr>
        <p:spPr bwMode="auto">
          <a:xfrm>
            <a:off x="1236071" y="3659981"/>
            <a:ext cx="1789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a:solidFill>
                  <a:schemeClr val="tx1"/>
                </a:solidFill>
              </a:rPr>
              <a:t>P(2,86)</a:t>
            </a:r>
            <a:r>
              <a:rPr lang="zh-CN" altLang="en-US" b="0" dirty="0">
                <a:solidFill>
                  <a:schemeClr val="tx1"/>
                </a:solidFill>
              </a:rPr>
              <a:t>，</a:t>
            </a:r>
            <a:r>
              <a:rPr lang="en-US" altLang="zh-CN" b="0" dirty="0">
                <a:solidFill>
                  <a:schemeClr val="tx1"/>
                </a:solidFill>
              </a:rPr>
              <a:t>k=112</a:t>
            </a:r>
          </a:p>
        </p:txBody>
      </p:sp>
      <p:sp>
        <p:nvSpPr>
          <p:cNvPr id="97286" name="矩形 5">
            <a:extLst>
              <a:ext uri="{FF2B5EF4-FFF2-40B4-BE49-F238E27FC236}">
                <a16:creationId xmlns:a16="http://schemas.microsoft.com/office/drawing/2014/main" id="{4B4B2C9E-97F3-F276-0483-D72A8CDB7BBB}"/>
              </a:ext>
            </a:extLst>
          </p:cNvPr>
          <p:cNvSpPr>
            <a:spLocks noChangeArrowheads="1"/>
          </p:cNvSpPr>
          <p:nvPr/>
        </p:nvSpPr>
        <p:spPr bwMode="auto">
          <a:xfrm>
            <a:off x="1478959" y="4190206"/>
            <a:ext cx="1228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zh-CN" altLang="en-US" b="0">
                <a:solidFill>
                  <a:schemeClr val="tx1"/>
                </a:solidFill>
              </a:rPr>
              <a:t>求：</a:t>
            </a:r>
            <a:r>
              <a:rPr lang="en-US" altLang="zh-CN" b="0">
                <a:solidFill>
                  <a:schemeClr val="tx1"/>
                </a:solidFill>
              </a:rPr>
              <a:t>Q=kP</a:t>
            </a:r>
          </a:p>
        </p:txBody>
      </p:sp>
      <p:sp>
        <p:nvSpPr>
          <p:cNvPr id="97287" name="矩形 6">
            <a:extLst>
              <a:ext uri="{FF2B5EF4-FFF2-40B4-BE49-F238E27FC236}">
                <a16:creationId xmlns:a16="http://schemas.microsoft.com/office/drawing/2014/main" id="{DCE32877-D897-AAF6-B3E7-B4D1E3D1D59C}"/>
              </a:ext>
            </a:extLst>
          </p:cNvPr>
          <p:cNvSpPr>
            <a:spLocks noChangeArrowheads="1"/>
          </p:cNvSpPr>
          <p:nvPr/>
        </p:nvSpPr>
        <p:spPr bwMode="auto">
          <a:xfrm>
            <a:off x="1307508" y="4660106"/>
            <a:ext cx="1536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a:solidFill>
                  <a:schemeClr val="tx1"/>
                </a:solidFill>
              </a:rPr>
              <a:t>k=(1110000)</a:t>
            </a:r>
            <a:r>
              <a:rPr lang="en-US" altLang="zh-CN" b="0" baseline="-25000" dirty="0">
                <a:solidFill>
                  <a:schemeClr val="tx1"/>
                </a:solidFill>
              </a:rPr>
              <a:t>2</a:t>
            </a:r>
            <a:endParaRPr lang="en-US" altLang="zh-CN" b="0" dirty="0">
              <a:solidFill>
                <a:schemeClr val="tx1"/>
              </a:solidFill>
            </a:endParaRPr>
          </a:p>
        </p:txBody>
      </p:sp>
      <p:sp>
        <p:nvSpPr>
          <p:cNvPr id="6" name="矩形 5">
            <a:extLst>
              <a:ext uri="{FF2B5EF4-FFF2-40B4-BE49-F238E27FC236}">
                <a16:creationId xmlns:a16="http://schemas.microsoft.com/office/drawing/2014/main" id="{C0EAF94E-F2F4-176D-E934-87B723A0E009}"/>
              </a:ext>
            </a:extLst>
          </p:cNvPr>
          <p:cNvSpPr>
            <a:spLocks noChangeArrowheads="1"/>
          </p:cNvSpPr>
          <p:nvPr/>
        </p:nvSpPr>
        <p:spPr bwMode="auto">
          <a:xfrm>
            <a:off x="4508500" y="2773364"/>
            <a:ext cx="4572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err="1">
                <a:solidFill>
                  <a:schemeClr val="tx1"/>
                </a:solidFill>
              </a:rPr>
              <a:t>i</a:t>
            </a:r>
            <a:r>
              <a:rPr lang="en-US" altLang="zh-CN" b="0" dirty="0">
                <a:solidFill>
                  <a:schemeClr val="tx1"/>
                </a:solidFill>
              </a:rPr>
              <a:t>=0</a:t>
            </a:r>
          </a:p>
          <a:p>
            <a:pPr eaLnBrk="1" hangingPunct="1"/>
            <a:r>
              <a:rPr lang="en-US" altLang="zh-CN" b="0" dirty="0">
                <a:solidFill>
                  <a:schemeClr val="tx1"/>
                </a:solidFill>
              </a:rPr>
              <a:t>k=112</a:t>
            </a:r>
            <a:r>
              <a:rPr lang="zh-CN" altLang="en-US" b="0" dirty="0">
                <a:solidFill>
                  <a:schemeClr val="tx1"/>
                </a:solidFill>
              </a:rPr>
              <a:t>是偶数，</a:t>
            </a:r>
            <a:r>
              <a:rPr lang="en-US" altLang="zh-CN" b="0" dirty="0">
                <a:solidFill>
                  <a:schemeClr val="tx1"/>
                </a:solidFill>
              </a:rPr>
              <a:t>k0=0</a:t>
            </a:r>
            <a:r>
              <a:rPr lang="zh-CN" altLang="en-US" b="0" dirty="0">
                <a:solidFill>
                  <a:schemeClr val="tx1"/>
                </a:solidFill>
              </a:rPr>
              <a:t>；</a:t>
            </a:r>
            <a:r>
              <a:rPr lang="en-US" altLang="zh-CN" b="0" dirty="0">
                <a:solidFill>
                  <a:schemeClr val="tx1"/>
                </a:solidFill>
              </a:rPr>
              <a:t>k=56,i=1</a:t>
            </a:r>
          </a:p>
          <a:p>
            <a:pPr eaLnBrk="1" hangingPunct="1"/>
            <a:r>
              <a:rPr lang="en-US" altLang="zh-CN" b="0" dirty="0">
                <a:solidFill>
                  <a:schemeClr val="tx1"/>
                </a:solidFill>
              </a:rPr>
              <a:t>k=56</a:t>
            </a:r>
            <a:r>
              <a:rPr lang="zh-CN" altLang="en-US" b="0" dirty="0">
                <a:solidFill>
                  <a:schemeClr val="tx1"/>
                </a:solidFill>
              </a:rPr>
              <a:t>是偶数，</a:t>
            </a:r>
            <a:r>
              <a:rPr lang="en-US" altLang="zh-CN" b="0" dirty="0">
                <a:solidFill>
                  <a:schemeClr val="tx1"/>
                </a:solidFill>
              </a:rPr>
              <a:t>k1=0</a:t>
            </a:r>
            <a:r>
              <a:rPr lang="zh-CN" altLang="en-US" b="0" dirty="0">
                <a:solidFill>
                  <a:schemeClr val="tx1"/>
                </a:solidFill>
              </a:rPr>
              <a:t>；</a:t>
            </a:r>
            <a:r>
              <a:rPr lang="en-US" altLang="zh-CN" b="0" dirty="0">
                <a:solidFill>
                  <a:schemeClr val="tx1"/>
                </a:solidFill>
              </a:rPr>
              <a:t>k=28,i=2</a:t>
            </a:r>
          </a:p>
          <a:p>
            <a:pPr eaLnBrk="1" hangingPunct="1"/>
            <a:r>
              <a:rPr lang="en-US" altLang="zh-CN" b="0" dirty="0">
                <a:solidFill>
                  <a:schemeClr val="tx1"/>
                </a:solidFill>
              </a:rPr>
              <a:t>k=28</a:t>
            </a:r>
            <a:r>
              <a:rPr lang="zh-CN" altLang="en-US" b="0" dirty="0">
                <a:solidFill>
                  <a:schemeClr val="tx1"/>
                </a:solidFill>
              </a:rPr>
              <a:t>是偶数，</a:t>
            </a:r>
            <a:r>
              <a:rPr lang="en-US" altLang="zh-CN" b="0" dirty="0">
                <a:solidFill>
                  <a:schemeClr val="tx1"/>
                </a:solidFill>
              </a:rPr>
              <a:t>k2=0</a:t>
            </a:r>
            <a:r>
              <a:rPr lang="zh-CN" altLang="en-US" b="0" dirty="0">
                <a:solidFill>
                  <a:schemeClr val="tx1"/>
                </a:solidFill>
              </a:rPr>
              <a:t>；</a:t>
            </a:r>
            <a:r>
              <a:rPr lang="en-US" altLang="zh-CN" b="0" dirty="0">
                <a:solidFill>
                  <a:schemeClr val="tx1"/>
                </a:solidFill>
              </a:rPr>
              <a:t>k=14,i=3</a:t>
            </a:r>
          </a:p>
          <a:p>
            <a:pPr eaLnBrk="1" hangingPunct="1"/>
            <a:r>
              <a:rPr lang="en-US" altLang="zh-CN" b="0" dirty="0">
                <a:solidFill>
                  <a:schemeClr val="tx1"/>
                </a:solidFill>
              </a:rPr>
              <a:t>k=14</a:t>
            </a:r>
            <a:r>
              <a:rPr lang="zh-CN" altLang="en-US" b="0" dirty="0">
                <a:solidFill>
                  <a:schemeClr val="tx1"/>
                </a:solidFill>
              </a:rPr>
              <a:t>是偶数，</a:t>
            </a:r>
            <a:r>
              <a:rPr lang="en-US" altLang="zh-CN" b="0" dirty="0">
                <a:solidFill>
                  <a:schemeClr val="tx1"/>
                </a:solidFill>
              </a:rPr>
              <a:t>k3=0</a:t>
            </a:r>
            <a:r>
              <a:rPr lang="zh-CN" altLang="en-US" b="0" dirty="0">
                <a:solidFill>
                  <a:schemeClr val="tx1"/>
                </a:solidFill>
              </a:rPr>
              <a:t>；</a:t>
            </a:r>
            <a:r>
              <a:rPr lang="en-US" altLang="zh-CN" b="0" dirty="0">
                <a:solidFill>
                  <a:schemeClr val="tx1"/>
                </a:solidFill>
              </a:rPr>
              <a:t>k=7,i=4</a:t>
            </a:r>
          </a:p>
          <a:p>
            <a:pPr eaLnBrk="1" hangingPunct="1"/>
            <a:r>
              <a:rPr lang="en-US" altLang="zh-CN" b="0" dirty="0">
                <a:solidFill>
                  <a:schemeClr val="tx1"/>
                </a:solidFill>
              </a:rPr>
              <a:t>k=7</a:t>
            </a:r>
            <a:r>
              <a:rPr lang="zh-CN" altLang="en-US" b="0" dirty="0">
                <a:solidFill>
                  <a:schemeClr val="tx1"/>
                </a:solidFill>
              </a:rPr>
              <a:t>是奇数，</a:t>
            </a:r>
            <a:r>
              <a:rPr lang="en-US" altLang="zh-CN" b="0" dirty="0">
                <a:solidFill>
                  <a:schemeClr val="tx1"/>
                </a:solidFill>
              </a:rPr>
              <a:t>k4=-1</a:t>
            </a:r>
            <a:r>
              <a:rPr lang="zh-CN" altLang="en-US" b="0" dirty="0">
                <a:solidFill>
                  <a:schemeClr val="tx1"/>
                </a:solidFill>
              </a:rPr>
              <a:t>，</a:t>
            </a:r>
            <a:r>
              <a:rPr lang="en-US" altLang="zh-CN" b="0" dirty="0">
                <a:solidFill>
                  <a:schemeClr val="tx1"/>
                </a:solidFill>
              </a:rPr>
              <a:t>k=8</a:t>
            </a:r>
            <a:r>
              <a:rPr lang="zh-CN" altLang="en-US" b="0" dirty="0">
                <a:solidFill>
                  <a:schemeClr val="tx1"/>
                </a:solidFill>
              </a:rPr>
              <a:t>；</a:t>
            </a:r>
            <a:r>
              <a:rPr lang="en-US" altLang="zh-CN" b="0" dirty="0">
                <a:solidFill>
                  <a:schemeClr val="tx1"/>
                </a:solidFill>
              </a:rPr>
              <a:t>k=4,i=5</a:t>
            </a:r>
          </a:p>
          <a:p>
            <a:pPr eaLnBrk="1" hangingPunct="1"/>
            <a:r>
              <a:rPr lang="en-US" altLang="zh-CN" b="0" dirty="0">
                <a:solidFill>
                  <a:schemeClr val="tx1"/>
                </a:solidFill>
              </a:rPr>
              <a:t>k=4</a:t>
            </a:r>
            <a:r>
              <a:rPr lang="zh-CN" altLang="en-US" b="0" dirty="0">
                <a:solidFill>
                  <a:schemeClr val="tx1"/>
                </a:solidFill>
              </a:rPr>
              <a:t>是偶数，</a:t>
            </a:r>
            <a:r>
              <a:rPr lang="en-US" altLang="zh-CN" b="0" dirty="0">
                <a:solidFill>
                  <a:schemeClr val="tx1"/>
                </a:solidFill>
              </a:rPr>
              <a:t>k5=0</a:t>
            </a:r>
            <a:r>
              <a:rPr lang="zh-CN" altLang="en-US" b="0" dirty="0">
                <a:solidFill>
                  <a:schemeClr val="tx1"/>
                </a:solidFill>
              </a:rPr>
              <a:t>；</a:t>
            </a:r>
            <a:r>
              <a:rPr lang="en-US" altLang="zh-CN" b="0" dirty="0">
                <a:solidFill>
                  <a:schemeClr val="tx1"/>
                </a:solidFill>
              </a:rPr>
              <a:t>k=2,i=6</a:t>
            </a:r>
          </a:p>
          <a:p>
            <a:pPr eaLnBrk="1" hangingPunct="1"/>
            <a:r>
              <a:rPr lang="en-US" altLang="zh-CN" b="0" dirty="0">
                <a:solidFill>
                  <a:schemeClr val="tx1"/>
                </a:solidFill>
              </a:rPr>
              <a:t>k=2</a:t>
            </a:r>
            <a:r>
              <a:rPr lang="zh-CN" altLang="en-US" b="0" dirty="0">
                <a:solidFill>
                  <a:schemeClr val="tx1"/>
                </a:solidFill>
              </a:rPr>
              <a:t>是偶数，</a:t>
            </a:r>
            <a:r>
              <a:rPr lang="en-US" altLang="zh-CN" b="0" dirty="0">
                <a:solidFill>
                  <a:schemeClr val="tx1"/>
                </a:solidFill>
              </a:rPr>
              <a:t>k6=0</a:t>
            </a:r>
            <a:r>
              <a:rPr lang="zh-CN" altLang="en-US" b="0" dirty="0">
                <a:solidFill>
                  <a:schemeClr val="tx1"/>
                </a:solidFill>
              </a:rPr>
              <a:t>；</a:t>
            </a:r>
            <a:r>
              <a:rPr lang="en-US" altLang="zh-CN" b="0" dirty="0">
                <a:solidFill>
                  <a:schemeClr val="tx1"/>
                </a:solidFill>
              </a:rPr>
              <a:t>k=1,i=7</a:t>
            </a:r>
          </a:p>
          <a:p>
            <a:pPr eaLnBrk="1" hangingPunct="1"/>
            <a:r>
              <a:rPr lang="en-US" altLang="zh-CN" b="0" dirty="0">
                <a:solidFill>
                  <a:schemeClr val="tx1"/>
                </a:solidFill>
              </a:rPr>
              <a:t>k=1</a:t>
            </a:r>
            <a:r>
              <a:rPr lang="zh-CN" altLang="en-US" b="0" dirty="0">
                <a:solidFill>
                  <a:schemeClr val="tx1"/>
                </a:solidFill>
              </a:rPr>
              <a:t>是奇数，</a:t>
            </a:r>
            <a:r>
              <a:rPr lang="en-US" altLang="zh-CN" b="0" dirty="0">
                <a:solidFill>
                  <a:schemeClr val="tx1"/>
                </a:solidFill>
              </a:rPr>
              <a:t>k7=1</a:t>
            </a:r>
            <a:r>
              <a:rPr lang="zh-CN" altLang="en-US" b="0" dirty="0">
                <a:solidFill>
                  <a:schemeClr val="tx1"/>
                </a:solidFill>
              </a:rPr>
              <a:t>，</a:t>
            </a:r>
            <a:r>
              <a:rPr lang="en-US" altLang="zh-CN" b="0" dirty="0">
                <a:solidFill>
                  <a:schemeClr val="tx1"/>
                </a:solidFill>
              </a:rPr>
              <a:t>k=0</a:t>
            </a:r>
            <a:r>
              <a:rPr lang="zh-CN" altLang="en-US" b="0" dirty="0">
                <a:solidFill>
                  <a:schemeClr val="tx1"/>
                </a:solidFill>
              </a:rPr>
              <a:t>；</a:t>
            </a:r>
            <a:r>
              <a:rPr lang="en-US" altLang="zh-CN" b="0" dirty="0">
                <a:solidFill>
                  <a:schemeClr val="tx1"/>
                </a:solidFill>
              </a:rPr>
              <a:t>k=0,i=8</a:t>
            </a:r>
          </a:p>
        </p:txBody>
      </p:sp>
      <p:sp>
        <p:nvSpPr>
          <p:cNvPr id="8" name="矩形 7">
            <a:extLst>
              <a:ext uri="{FF2B5EF4-FFF2-40B4-BE49-F238E27FC236}">
                <a16:creationId xmlns:a16="http://schemas.microsoft.com/office/drawing/2014/main" id="{41A834CD-94E6-6C94-7AB3-A19667A705CD}"/>
              </a:ext>
            </a:extLst>
          </p:cNvPr>
          <p:cNvSpPr>
            <a:spLocks noChangeArrowheads="1"/>
          </p:cNvSpPr>
          <p:nvPr/>
        </p:nvSpPr>
        <p:spPr bwMode="auto">
          <a:xfrm>
            <a:off x="5151438" y="5430236"/>
            <a:ext cx="2373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a:solidFill>
                  <a:schemeClr val="tx1"/>
                </a:solidFill>
              </a:rPr>
              <a:t>K</a:t>
            </a:r>
            <a:r>
              <a:rPr lang="zh-CN" altLang="en-US" b="0" dirty="0">
                <a:solidFill>
                  <a:schemeClr val="tx1"/>
                </a:solidFill>
              </a:rPr>
              <a:t>表示成</a:t>
            </a:r>
            <a:r>
              <a:rPr lang="en-US" altLang="zh-CN" b="0" dirty="0">
                <a:solidFill>
                  <a:schemeClr val="tx1"/>
                </a:solidFill>
              </a:rPr>
              <a:t>(100-10000)</a:t>
            </a:r>
            <a:r>
              <a:rPr lang="en-US" altLang="zh-CN" b="0" baseline="-25000" dirty="0">
                <a:solidFill>
                  <a:schemeClr val="tx1"/>
                </a:solidFill>
              </a:rPr>
              <a:t>2</a:t>
            </a:r>
            <a:endParaRPr lang="en-US" altLang="zh-CN" b="0" dirty="0">
              <a:solidFill>
                <a:schemeClr val="tx1"/>
              </a:solidFill>
            </a:endParaRPr>
          </a:p>
        </p:txBody>
      </p:sp>
      <p:sp>
        <p:nvSpPr>
          <p:cNvPr id="9" name="矩形 3">
            <a:extLst>
              <a:ext uri="{FF2B5EF4-FFF2-40B4-BE49-F238E27FC236}">
                <a16:creationId xmlns:a16="http://schemas.microsoft.com/office/drawing/2014/main" id="{6DA7BE92-EA25-D648-1A77-2EC1E358870A}"/>
              </a:ext>
            </a:extLst>
          </p:cNvPr>
          <p:cNvSpPr>
            <a:spLocks noChangeArrowheads="1"/>
          </p:cNvSpPr>
          <p:nvPr/>
        </p:nvSpPr>
        <p:spPr bwMode="auto">
          <a:xfrm>
            <a:off x="8413750" y="2782889"/>
            <a:ext cx="377825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a:solidFill>
                  <a:schemeClr val="tx1"/>
                </a:solidFill>
              </a:rPr>
              <a:t>Q=0</a:t>
            </a:r>
          </a:p>
          <a:p>
            <a:pPr eaLnBrk="1" hangingPunct="1"/>
            <a:r>
              <a:rPr lang="en-US" altLang="zh-CN" b="0" dirty="0">
                <a:solidFill>
                  <a:schemeClr val="tx1"/>
                </a:solidFill>
              </a:rPr>
              <a:t>1</a:t>
            </a:r>
            <a:r>
              <a:rPr lang="zh-CN" altLang="en-US" b="0" dirty="0">
                <a:solidFill>
                  <a:schemeClr val="tx1"/>
                </a:solidFill>
              </a:rPr>
              <a:t>：</a:t>
            </a:r>
            <a:r>
              <a:rPr lang="en-US" altLang="zh-CN" b="0" dirty="0">
                <a:solidFill>
                  <a:schemeClr val="tx1"/>
                </a:solidFill>
              </a:rPr>
              <a:t>Q=2Q=0;Q=Q+P=(2,86)</a:t>
            </a:r>
          </a:p>
          <a:p>
            <a:pPr eaLnBrk="1" hangingPunct="1"/>
            <a:r>
              <a:rPr lang="en-US" altLang="zh-CN" b="0" dirty="0">
                <a:solidFill>
                  <a:schemeClr val="tx1"/>
                </a:solidFill>
              </a:rPr>
              <a:t>0</a:t>
            </a:r>
            <a:r>
              <a:rPr lang="zh-CN" altLang="en-US" b="0" dirty="0">
                <a:solidFill>
                  <a:schemeClr val="tx1"/>
                </a:solidFill>
              </a:rPr>
              <a:t>：</a:t>
            </a:r>
            <a:r>
              <a:rPr lang="en-US" altLang="zh-CN" b="0" dirty="0">
                <a:solidFill>
                  <a:schemeClr val="tx1"/>
                </a:solidFill>
              </a:rPr>
              <a:t>Q=2Q=(43,209)</a:t>
            </a:r>
          </a:p>
          <a:p>
            <a:pPr eaLnBrk="1" hangingPunct="1"/>
            <a:r>
              <a:rPr lang="en-US" altLang="zh-CN" b="0" dirty="0">
                <a:solidFill>
                  <a:schemeClr val="tx1"/>
                </a:solidFill>
              </a:rPr>
              <a:t>0</a:t>
            </a:r>
            <a:r>
              <a:rPr lang="zh-CN" altLang="en-US" b="0" dirty="0">
                <a:solidFill>
                  <a:schemeClr val="tx1"/>
                </a:solidFill>
              </a:rPr>
              <a:t>：</a:t>
            </a:r>
            <a:r>
              <a:rPr lang="en-US" altLang="zh-CN" b="0" dirty="0">
                <a:solidFill>
                  <a:schemeClr val="tx1"/>
                </a:solidFill>
              </a:rPr>
              <a:t>Q=2Q=(207,12)</a:t>
            </a:r>
          </a:p>
          <a:p>
            <a:pPr eaLnBrk="1" hangingPunct="1"/>
            <a:r>
              <a:rPr lang="en-US" altLang="zh-CN" b="0" dirty="0">
                <a:solidFill>
                  <a:schemeClr val="tx1"/>
                </a:solidFill>
              </a:rPr>
              <a:t>-1</a:t>
            </a:r>
            <a:r>
              <a:rPr lang="zh-CN" altLang="en-US" b="0" dirty="0">
                <a:solidFill>
                  <a:schemeClr val="tx1"/>
                </a:solidFill>
              </a:rPr>
              <a:t>：</a:t>
            </a:r>
            <a:r>
              <a:rPr lang="en-US" altLang="zh-CN" b="0" dirty="0">
                <a:solidFill>
                  <a:schemeClr val="tx1"/>
                </a:solidFill>
              </a:rPr>
              <a:t>Q=2Q=(14,4);Q=Q-P=(93,142) </a:t>
            </a:r>
          </a:p>
          <a:p>
            <a:pPr eaLnBrk="1" hangingPunct="1"/>
            <a:r>
              <a:rPr lang="en-US" altLang="zh-CN" b="0" dirty="0">
                <a:solidFill>
                  <a:schemeClr val="tx1"/>
                </a:solidFill>
              </a:rPr>
              <a:t>0</a:t>
            </a:r>
            <a:r>
              <a:rPr lang="zh-CN" altLang="en-US" b="0" dirty="0">
                <a:solidFill>
                  <a:schemeClr val="tx1"/>
                </a:solidFill>
              </a:rPr>
              <a:t>：</a:t>
            </a:r>
            <a:r>
              <a:rPr lang="en-US" altLang="zh-CN" b="0" dirty="0">
                <a:solidFill>
                  <a:schemeClr val="tx1"/>
                </a:solidFill>
              </a:rPr>
              <a:t>Q=2Q=(45,190)</a:t>
            </a:r>
          </a:p>
          <a:p>
            <a:pPr eaLnBrk="1" hangingPunct="1"/>
            <a:r>
              <a:rPr lang="en-US" altLang="zh-CN" b="0" dirty="0">
                <a:solidFill>
                  <a:schemeClr val="tx1"/>
                </a:solidFill>
              </a:rPr>
              <a:t>0</a:t>
            </a:r>
            <a:r>
              <a:rPr lang="zh-CN" altLang="en-US" b="0" dirty="0">
                <a:solidFill>
                  <a:schemeClr val="tx1"/>
                </a:solidFill>
              </a:rPr>
              <a:t>：</a:t>
            </a:r>
            <a:r>
              <a:rPr lang="en-US" altLang="zh-CN" b="0" dirty="0">
                <a:solidFill>
                  <a:schemeClr val="tx1"/>
                </a:solidFill>
              </a:rPr>
              <a:t>Q=2Q=(137,178)</a:t>
            </a:r>
          </a:p>
          <a:p>
            <a:pPr eaLnBrk="1" hangingPunct="1"/>
            <a:r>
              <a:rPr lang="en-US" altLang="zh-CN" b="0" dirty="0">
                <a:solidFill>
                  <a:schemeClr val="tx1"/>
                </a:solidFill>
              </a:rPr>
              <a:t>0</a:t>
            </a:r>
            <a:r>
              <a:rPr lang="zh-CN" altLang="en-US" b="0" dirty="0">
                <a:solidFill>
                  <a:schemeClr val="tx1"/>
                </a:solidFill>
              </a:rPr>
              <a:t>：</a:t>
            </a:r>
            <a:r>
              <a:rPr lang="en-US" altLang="zh-CN" b="0" dirty="0">
                <a:solidFill>
                  <a:schemeClr val="tx1"/>
                </a:solidFill>
              </a:rPr>
              <a:t>Q=2Q=(13,177)</a:t>
            </a:r>
          </a:p>
          <a:p>
            <a:pPr eaLnBrk="1" hangingPunct="1"/>
            <a:r>
              <a:rPr lang="en-US" altLang="zh-CN" b="0" dirty="0">
                <a:solidFill>
                  <a:schemeClr val="tx1"/>
                </a:solidFill>
              </a:rPr>
              <a:t>0</a:t>
            </a:r>
            <a:r>
              <a:rPr lang="zh-CN" altLang="en-US" b="0" dirty="0">
                <a:solidFill>
                  <a:schemeClr val="tx1"/>
                </a:solidFill>
              </a:rPr>
              <a:t>：</a:t>
            </a:r>
            <a:r>
              <a:rPr lang="en-US" altLang="zh-CN" b="0" dirty="0">
                <a:solidFill>
                  <a:schemeClr val="tx1"/>
                </a:solidFill>
              </a:rPr>
              <a:t>Q=2Q=(32,27)</a:t>
            </a:r>
          </a:p>
        </p:txBody>
      </p:sp>
    </p:spTree>
    <p:extLst>
      <p:ext uri="{BB962C8B-B14F-4D97-AF65-F5344CB8AC3E}">
        <p14:creationId xmlns:p14="http://schemas.microsoft.com/office/powerpoint/2010/main" val="10267898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1909E-9EED-2DBC-CAF3-94D5DA5DFB7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245D894-050E-967B-9A93-85102FAC542D}"/>
                  </a:ext>
                </a:extLst>
              </p:cNvPr>
              <p:cNvSpPr txBox="1"/>
              <p:nvPr/>
            </p:nvSpPr>
            <p:spPr>
              <a:xfrm>
                <a:off x="825499" y="1675884"/>
                <a:ext cx="7122695" cy="1909562"/>
              </a:xfrm>
              <a:prstGeom prst="rect">
                <a:avLst/>
              </a:prstGeom>
              <a:noFill/>
            </p:spPr>
            <p:txBody>
              <a:bodyPr wrap="square">
                <a:spAutoFit/>
              </a:bodyPr>
              <a:lstStyle/>
              <a:p>
                <a:pPr marL="228600" indent="-228600">
                  <a:spcBef>
                    <a:spcPts val="600"/>
                  </a:spcBef>
                  <a:buFont typeface="Wingdings" pitchFamily="2" charset="2"/>
                  <a:buChar char="Ø"/>
                </a:pPr>
                <a:r>
                  <a:rPr lang="zh-CN" altLang="en-US" sz="2800" dirty="0">
                    <a:latin typeface="Microsoft YaHei" panose="020B0503020204020204" pitchFamily="34" charset="-122"/>
                    <a:ea typeface="Microsoft YaHei" panose="020B0503020204020204" pitchFamily="34" charset="-122"/>
                  </a:rPr>
                  <a:t>离散对数问题（</a:t>
                </a:r>
                <a:r>
                  <a:rPr lang="en-US" altLang="zh-CN" sz="2800" dirty="0">
                    <a:latin typeface="Microsoft YaHei" panose="020B0503020204020204" pitchFamily="34" charset="-122"/>
                    <a:ea typeface="Microsoft YaHei" panose="020B0503020204020204" pitchFamily="34" charset="-122"/>
                  </a:rPr>
                  <a:t>DLP</a:t>
                </a:r>
                <a:r>
                  <a:rPr lang="zh-CN" altLang="en-US" sz="2800" dirty="0">
                    <a:latin typeface="Microsoft YaHei" panose="020B0503020204020204" pitchFamily="34" charset="-122"/>
                    <a:ea typeface="Microsoft YaHei" panose="020B0503020204020204" pitchFamily="34" charset="-122"/>
                  </a:rPr>
                  <a:t>）的攻击</a:t>
                </a:r>
                <a:endParaRPr lang="en-US" altLang="zh-CN" sz="2800" dirty="0">
                  <a:latin typeface="Microsoft YaHei" panose="020B0503020204020204" pitchFamily="34" charset="-122"/>
                  <a:ea typeface="Microsoft YaHei" panose="020B0503020204020204" pitchFamily="34" charset="-122"/>
                </a:endParaRPr>
              </a:p>
              <a:p>
                <a:pPr marL="800100" lvl="1" indent="-342900">
                  <a:spcBef>
                    <a:spcPts val="6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这些内容适用于</a:t>
                </a:r>
                <a:r>
                  <a:rPr lang="en-US" altLang="zh-CN" sz="2400" dirty="0">
                    <a:latin typeface="Microsoft YaHei" panose="020B0503020204020204" pitchFamily="34" charset="-122"/>
                    <a:ea typeface="Microsoft YaHei" panose="020B0503020204020204" pitchFamily="34" charset="-122"/>
                  </a:rPr>
                  <a:t>ECC</a:t>
                </a:r>
                <a:r>
                  <a:rPr lang="zh-CN" altLang="en-US" sz="2400" dirty="0">
                    <a:latin typeface="Microsoft YaHei" panose="020B0503020204020204" pitchFamily="34" charset="-122"/>
                    <a:ea typeface="Microsoft YaHei" panose="020B0503020204020204" pitchFamily="34" charset="-122"/>
                  </a:rPr>
                  <a:t>和</a:t>
                </a:r>
                <a:r>
                  <a:rPr lang="en-US" altLang="zh-CN" sz="2400" dirty="0" err="1">
                    <a:latin typeface="Microsoft YaHei" panose="020B0503020204020204" pitchFamily="34" charset="-122"/>
                    <a:ea typeface="Microsoft YaHei" panose="020B0503020204020204" pitchFamily="34" charset="-122"/>
                  </a:rPr>
                  <a:t>ElGamal</a:t>
                </a:r>
                <a:endParaRPr lang="en-US" altLang="zh-CN" sz="2400" dirty="0">
                  <a:latin typeface="Microsoft YaHei" panose="020B0503020204020204" pitchFamily="34" charset="-122"/>
                  <a:ea typeface="Microsoft YaHei" panose="020B0503020204020204" pitchFamily="34" charset="-122"/>
                </a:endParaRPr>
              </a:p>
              <a:p>
                <a:pPr marL="800100" lvl="1" indent="-342900">
                  <a:spcBef>
                    <a:spcPts val="6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穷举搜索</a:t>
                </a:r>
                <a:endParaRPr lang="en-US" altLang="zh-CN" sz="2400" dirty="0">
                  <a:latin typeface="Microsoft YaHei" panose="020B0503020204020204" pitchFamily="34" charset="-122"/>
                  <a:ea typeface="Microsoft YaHei" panose="020B0503020204020204" pitchFamily="34" charset="-122"/>
                </a:endParaRPr>
              </a:p>
              <a:p>
                <a:pPr marL="800100" lvl="1" indent="-342900">
                  <a:spcBef>
                    <a:spcPts val="6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大步小步法</a:t>
                </a:r>
                <a14:m>
                  <m:oMath xmlns:m="http://schemas.openxmlformats.org/officeDocument/2006/math">
                    <m:r>
                      <a:rPr lang="en-US" altLang="zh-CN" sz="2400" i="1" dirty="0" smtClean="0">
                        <a:latin typeface="Cambria Math" panose="02040503050406030204" pitchFamily="18" charset="0"/>
                      </a:rPr>
                      <m:t>𝑂</m:t>
                    </m:r>
                    <m:d>
                      <m:dPr>
                        <m:ctrlPr>
                          <a:rPr lang="en-US" altLang="zh-CN" sz="2400" i="1" dirty="0" smtClean="0">
                            <a:latin typeface="Cambria Math" panose="02040503050406030204" pitchFamily="18" charset="0"/>
                          </a:rPr>
                        </m:ctrlPr>
                      </m:dPr>
                      <m:e>
                        <m:rad>
                          <m:radPr>
                            <m:degHide m:val="on"/>
                            <m:ctrlPr>
                              <a:rPr lang="en-US" altLang="zh-CN" sz="2400" i="1" dirty="0" smtClean="0">
                                <a:latin typeface="Cambria Math" panose="02040503050406030204" pitchFamily="18" charset="0"/>
                              </a:rPr>
                            </m:ctrlPr>
                          </m:radPr>
                          <m:deg/>
                          <m:e>
                            <m:r>
                              <a:rPr lang="en-US" altLang="zh-CN" sz="2400" i="1" dirty="0" smtClean="0">
                                <a:latin typeface="Cambria Math" panose="02040503050406030204" pitchFamily="18" charset="0"/>
                              </a:rPr>
                              <m:t>𝑛</m:t>
                            </m:r>
                          </m:e>
                        </m:rad>
                      </m:e>
                    </m:d>
                  </m:oMath>
                </a14:m>
                <a:endParaRPr lang="en-US" altLang="zh-CN" sz="2400" dirty="0">
                  <a:latin typeface="Microsoft YaHei" panose="020B0503020204020204" pitchFamily="34" charset="-122"/>
                </a:endParaRPr>
              </a:p>
            </p:txBody>
          </p:sp>
        </mc:Choice>
        <mc:Fallback xmlns="">
          <p:sp>
            <p:nvSpPr>
              <p:cNvPr id="22" name="文本框 21">
                <a:extLst>
                  <a:ext uri="{FF2B5EF4-FFF2-40B4-BE49-F238E27FC236}">
                    <a16:creationId xmlns:a16="http://schemas.microsoft.com/office/drawing/2014/main" id="{7245D894-050E-967B-9A93-85102FAC542D}"/>
                  </a:ext>
                </a:extLst>
              </p:cNvPr>
              <p:cNvSpPr txBox="1">
                <a:spLocks noRot="1" noChangeAspect="1" noMove="1" noResize="1" noEditPoints="1" noAdjustHandles="1" noChangeArrowheads="1" noChangeShapeType="1" noTextEdit="1"/>
              </p:cNvSpPr>
              <p:nvPr/>
            </p:nvSpPr>
            <p:spPr>
              <a:xfrm>
                <a:off x="825499" y="1675884"/>
                <a:ext cx="7122695" cy="1909562"/>
              </a:xfrm>
              <a:prstGeom prst="rect">
                <a:avLst/>
              </a:prstGeom>
              <a:blipFill>
                <a:blip r:embed="rId2"/>
                <a:stretch>
                  <a:fillRect l="-1454" t="-3514" b="-5112"/>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2A0BED5A-E2F2-1BB5-0CC2-99ABA2760FA2}"/>
              </a:ext>
            </a:extLst>
          </p:cNvPr>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endParaRPr lang="zh-CN" altLang="en-US" dirty="0"/>
          </a:p>
        </p:txBody>
      </p:sp>
      <p:sp>
        <p:nvSpPr>
          <p:cNvPr id="4" name="灯片编号占位符 3">
            <a:extLst>
              <a:ext uri="{FF2B5EF4-FFF2-40B4-BE49-F238E27FC236}">
                <a16:creationId xmlns:a16="http://schemas.microsoft.com/office/drawing/2014/main" id="{FA157D66-4C29-867A-11D2-DC863356C56B}"/>
              </a:ext>
            </a:extLst>
          </p:cNvPr>
          <p:cNvSpPr>
            <a:spLocks noGrp="1"/>
          </p:cNvSpPr>
          <p:nvPr>
            <p:ph type="sldNum" sz="quarter" idx="12"/>
          </p:nvPr>
        </p:nvSpPr>
        <p:spPr/>
        <p:txBody>
          <a:bodyPr/>
          <a:lstStyle/>
          <a:p>
            <a:fld id="{8D4D1E41-7A09-AB4A-A4E1-09765ADA2698}" type="slidenum">
              <a:rPr kumimoji="1" lang="zh-CN" altLang="en-US" smtClean="0"/>
              <a:pPr/>
              <a:t>87</a:t>
            </a:fld>
            <a:endParaRPr kumimoji="1" lang="zh-CN" altLang="en-US" dirty="0"/>
          </a:p>
        </p:txBody>
      </p:sp>
      <p:pic>
        <p:nvPicPr>
          <p:cNvPr id="14" name="图片 13">
            <a:extLst>
              <a:ext uri="{FF2B5EF4-FFF2-40B4-BE49-F238E27FC236}">
                <a16:creationId xmlns:a16="http://schemas.microsoft.com/office/drawing/2014/main" id="{958E69D3-75F5-F577-7F58-910AAF02439A}"/>
              </a:ext>
            </a:extLst>
          </p:cNvPr>
          <p:cNvPicPr>
            <a:picLocks noChangeAspect="1"/>
          </p:cNvPicPr>
          <p:nvPr/>
        </p:nvPicPr>
        <p:blipFill>
          <a:blip r:embed="rId3"/>
          <a:stretch>
            <a:fillRect/>
          </a:stretch>
        </p:blipFill>
        <p:spPr>
          <a:xfrm>
            <a:off x="6685268" y="1701925"/>
            <a:ext cx="2708764" cy="321039"/>
          </a:xfrm>
          <a:prstGeom prst="rect">
            <a:avLst/>
          </a:prstGeom>
        </p:spPr>
      </p:pic>
      <p:pic>
        <p:nvPicPr>
          <p:cNvPr id="16" name="图片 15">
            <a:extLst>
              <a:ext uri="{FF2B5EF4-FFF2-40B4-BE49-F238E27FC236}">
                <a16:creationId xmlns:a16="http://schemas.microsoft.com/office/drawing/2014/main" id="{B2D557AA-A498-CAF5-EACC-8DFBB615C459}"/>
              </a:ext>
            </a:extLst>
          </p:cNvPr>
          <p:cNvPicPr>
            <a:picLocks noChangeAspect="1"/>
          </p:cNvPicPr>
          <p:nvPr/>
        </p:nvPicPr>
        <p:blipFill>
          <a:blip r:embed="rId4"/>
          <a:stretch>
            <a:fillRect/>
          </a:stretch>
        </p:blipFill>
        <p:spPr>
          <a:xfrm>
            <a:off x="7768432" y="2073327"/>
            <a:ext cx="1286919" cy="381309"/>
          </a:xfrm>
          <a:prstGeom prst="rect">
            <a:avLst/>
          </a:prstGeom>
        </p:spPr>
      </p:pic>
      <p:pic>
        <p:nvPicPr>
          <p:cNvPr id="18" name="图片 17">
            <a:extLst>
              <a:ext uri="{FF2B5EF4-FFF2-40B4-BE49-F238E27FC236}">
                <a16:creationId xmlns:a16="http://schemas.microsoft.com/office/drawing/2014/main" id="{6F892495-DF8E-70EB-73A6-3D131B0E7B88}"/>
              </a:ext>
            </a:extLst>
          </p:cNvPr>
          <p:cNvPicPr>
            <a:picLocks noChangeAspect="1"/>
          </p:cNvPicPr>
          <p:nvPr/>
        </p:nvPicPr>
        <p:blipFill>
          <a:blip r:embed="rId5"/>
          <a:stretch>
            <a:fillRect/>
          </a:stretch>
        </p:blipFill>
        <p:spPr>
          <a:xfrm>
            <a:off x="6685268" y="2454636"/>
            <a:ext cx="2128532" cy="464775"/>
          </a:xfrm>
          <a:prstGeom prst="rect">
            <a:avLst/>
          </a:prstGeom>
        </p:spPr>
      </p:pic>
      <mc:AlternateContent xmlns:mc="http://schemas.openxmlformats.org/markup-compatibility/2006" xmlns:a14="http://schemas.microsoft.com/office/drawing/2010/main">
        <mc:Choice Requires="a14">
          <p:sp>
            <p:nvSpPr>
              <p:cNvPr id="107527" name="Object 7">
                <a:extLst>
                  <a:ext uri="{FF2B5EF4-FFF2-40B4-BE49-F238E27FC236}">
                    <a16:creationId xmlns:a16="http://schemas.microsoft.com/office/drawing/2014/main" id="{05FC577D-68C8-EB9C-C4AA-6CA933F231A8}"/>
                  </a:ext>
                </a:extLst>
              </p:cNvPr>
              <p:cNvSpPr txBox="1"/>
              <p:nvPr/>
            </p:nvSpPr>
            <p:spPr bwMode="auto">
              <a:xfrm>
                <a:off x="9084470" y="2528564"/>
                <a:ext cx="1684337" cy="436563"/>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𝐿</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180</m:t>
                              </m:r>
                            </m:e>
                          </m:rad>
                        </m:e>
                      </m:d>
                      <m:r>
                        <a:rPr lang="zh-CN" altLang="en-US" i="1">
                          <a:solidFill>
                            <a:srgbClr val="000000"/>
                          </a:solidFill>
                          <a:latin typeface="Cambria Math" panose="02040503050406030204" pitchFamily="18" charset="0"/>
                        </a:rPr>
                        <m:t>=14</m:t>
                      </m:r>
                    </m:oMath>
                  </m:oMathPara>
                </a14:m>
                <a:endParaRPr lang="zh-CN" altLang="en-US" dirty="0"/>
              </a:p>
            </p:txBody>
          </p:sp>
        </mc:Choice>
        <mc:Fallback xmlns="">
          <p:sp>
            <p:nvSpPr>
              <p:cNvPr id="107527" name="Object 7">
                <a:extLst>
                  <a:ext uri="{FF2B5EF4-FFF2-40B4-BE49-F238E27FC236}">
                    <a16:creationId xmlns:a16="http://schemas.microsoft.com/office/drawing/2014/main" id="{05FC577D-68C8-EB9C-C4AA-6CA933F231A8}"/>
                  </a:ext>
                </a:extLst>
              </p:cNvPr>
              <p:cNvSpPr txBox="1">
                <a:spLocks noRot="1" noChangeAspect="1" noMove="1" noResize="1" noEditPoints="1" noAdjustHandles="1" noChangeArrowheads="1" noChangeShapeType="1" noTextEdit="1"/>
              </p:cNvSpPr>
              <p:nvPr/>
            </p:nvSpPr>
            <p:spPr bwMode="auto">
              <a:xfrm>
                <a:off x="9084470" y="2528564"/>
                <a:ext cx="1684337" cy="436563"/>
              </a:xfrm>
              <a:prstGeom prst="rect">
                <a:avLst/>
              </a:prstGeom>
              <a:blipFill>
                <a:blip r:embed="rId6"/>
                <a:stretch>
                  <a:fillRect/>
                </a:stretch>
              </a:blipFill>
              <a:ln>
                <a:noFill/>
              </a:ln>
            </p:spPr>
            <p:txBody>
              <a:bodyPr/>
              <a:lstStyle/>
              <a:p>
                <a:r>
                  <a:rPr lang="zh-CN" altLang="en-US">
                    <a:noFill/>
                  </a:rPr>
                  <a:t> </a:t>
                </a:r>
              </a:p>
            </p:txBody>
          </p:sp>
        </mc:Fallback>
      </mc:AlternateContent>
      <p:graphicFrame>
        <p:nvGraphicFramePr>
          <p:cNvPr id="19" name="表格 18">
            <a:extLst>
              <a:ext uri="{FF2B5EF4-FFF2-40B4-BE49-F238E27FC236}">
                <a16:creationId xmlns:a16="http://schemas.microsoft.com/office/drawing/2014/main" id="{C965E682-5C51-FE0E-C7F9-AC8D4037C90B}"/>
              </a:ext>
            </a:extLst>
          </p:cNvPr>
          <p:cNvGraphicFramePr>
            <a:graphicFrameLocks noGrp="1"/>
          </p:cNvGraphicFramePr>
          <p:nvPr>
            <p:extLst>
              <p:ext uri="{D42A27DB-BD31-4B8C-83A1-F6EECF244321}">
                <p14:modId xmlns:p14="http://schemas.microsoft.com/office/powerpoint/2010/main" val="2538176799"/>
              </p:ext>
            </p:extLst>
          </p:nvPr>
        </p:nvGraphicFramePr>
        <p:xfrm>
          <a:off x="4606381" y="3447406"/>
          <a:ext cx="7286625" cy="1000125"/>
        </p:xfrm>
        <a:graphic>
          <a:graphicData uri="http://schemas.openxmlformats.org/drawingml/2006/table">
            <a:tbl>
              <a:tblPr/>
              <a:tblGrid>
                <a:gridCol w="1195388">
                  <a:extLst>
                    <a:ext uri="{9D8B030D-6E8A-4147-A177-3AD203B41FA5}">
                      <a16:colId xmlns:a16="http://schemas.microsoft.com/office/drawing/2014/main" val="20000"/>
                    </a:ext>
                  </a:extLst>
                </a:gridCol>
                <a:gridCol w="292100">
                  <a:extLst>
                    <a:ext uri="{9D8B030D-6E8A-4147-A177-3AD203B41FA5}">
                      <a16:colId xmlns:a16="http://schemas.microsoft.com/office/drawing/2014/main" val="20001"/>
                    </a:ext>
                  </a:extLst>
                </a:gridCol>
                <a:gridCol w="387350">
                  <a:extLst>
                    <a:ext uri="{9D8B030D-6E8A-4147-A177-3AD203B41FA5}">
                      <a16:colId xmlns:a16="http://schemas.microsoft.com/office/drawing/2014/main" val="20002"/>
                    </a:ext>
                  </a:extLst>
                </a:gridCol>
                <a:gridCol w="387350">
                  <a:extLst>
                    <a:ext uri="{9D8B030D-6E8A-4147-A177-3AD203B41FA5}">
                      <a16:colId xmlns:a16="http://schemas.microsoft.com/office/drawing/2014/main" val="20003"/>
                    </a:ext>
                  </a:extLst>
                </a:gridCol>
                <a:gridCol w="388937">
                  <a:extLst>
                    <a:ext uri="{9D8B030D-6E8A-4147-A177-3AD203B41FA5}">
                      <a16:colId xmlns:a16="http://schemas.microsoft.com/office/drawing/2014/main" val="20004"/>
                    </a:ext>
                  </a:extLst>
                </a:gridCol>
                <a:gridCol w="387350">
                  <a:extLst>
                    <a:ext uri="{9D8B030D-6E8A-4147-A177-3AD203B41FA5}">
                      <a16:colId xmlns:a16="http://schemas.microsoft.com/office/drawing/2014/main" val="20005"/>
                    </a:ext>
                  </a:extLst>
                </a:gridCol>
                <a:gridCol w="387350">
                  <a:extLst>
                    <a:ext uri="{9D8B030D-6E8A-4147-A177-3AD203B41FA5}">
                      <a16:colId xmlns:a16="http://schemas.microsoft.com/office/drawing/2014/main" val="20006"/>
                    </a:ext>
                  </a:extLst>
                </a:gridCol>
                <a:gridCol w="484188">
                  <a:extLst>
                    <a:ext uri="{9D8B030D-6E8A-4147-A177-3AD203B41FA5}">
                      <a16:colId xmlns:a16="http://schemas.microsoft.com/office/drawing/2014/main" val="20007"/>
                    </a:ext>
                  </a:extLst>
                </a:gridCol>
                <a:gridCol w="482600">
                  <a:extLst>
                    <a:ext uri="{9D8B030D-6E8A-4147-A177-3AD203B41FA5}">
                      <a16:colId xmlns:a16="http://schemas.microsoft.com/office/drawing/2014/main" val="20008"/>
                    </a:ext>
                  </a:extLst>
                </a:gridCol>
                <a:gridCol w="477837">
                  <a:extLst>
                    <a:ext uri="{9D8B030D-6E8A-4147-A177-3AD203B41FA5}">
                      <a16:colId xmlns:a16="http://schemas.microsoft.com/office/drawing/2014/main" val="20009"/>
                    </a:ext>
                  </a:extLst>
                </a:gridCol>
                <a:gridCol w="482600">
                  <a:extLst>
                    <a:ext uri="{9D8B030D-6E8A-4147-A177-3AD203B41FA5}">
                      <a16:colId xmlns:a16="http://schemas.microsoft.com/office/drawing/2014/main" val="20010"/>
                    </a:ext>
                  </a:extLst>
                </a:gridCol>
                <a:gridCol w="484188">
                  <a:extLst>
                    <a:ext uri="{9D8B030D-6E8A-4147-A177-3AD203B41FA5}">
                      <a16:colId xmlns:a16="http://schemas.microsoft.com/office/drawing/2014/main" val="20011"/>
                    </a:ext>
                  </a:extLst>
                </a:gridCol>
                <a:gridCol w="482600">
                  <a:extLst>
                    <a:ext uri="{9D8B030D-6E8A-4147-A177-3AD203B41FA5}">
                      <a16:colId xmlns:a16="http://schemas.microsoft.com/office/drawing/2014/main" val="20012"/>
                    </a:ext>
                  </a:extLst>
                </a:gridCol>
                <a:gridCol w="484187">
                  <a:extLst>
                    <a:ext uri="{9D8B030D-6E8A-4147-A177-3AD203B41FA5}">
                      <a16:colId xmlns:a16="http://schemas.microsoft.com/office/drawing/2014/main" val="20013"/>
                    </a:ext>
                  </a:extLst>
                </a:gridCol>
                <a:gridCol w="482600">
                  <a:extLst>
                    <a:ext uri="{9D8B030D-6E8A-4147-A177-3AD203B41FA5}">
                      <a16:colId xmlns:a16="http://schemas.microsoft.com/office/drawing/2014/main" val="20014"/>
                    </a:ext>
                  </a:extLst>
                </a:gridCol>
              </a:tblGrid>
              <a:tr h="423863">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rPr>
                        <a:t>j</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0</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4</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3</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rPr>
                        <a:t>8</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rPr>
                        <a:t>7</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9</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10</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12</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1" i="0" u="none" strike="noStrike" cap="none" normalizeH="0" baseline="0">
                          <a:ln>
                            <a:noFill/>
                          </a:ln>
                          <a:solidFill>
                            <a:srgbClr val="FF0000"/>
                          </a:solidFill>
                          <a:effectLst/>
                          <a:latin typeface="Times New Roman" pitchFamily="18" charset="0"/>
                          <a:ea typeface="宋体" pitchFamily="2" charset="-122"/>
                        </a:rPr>
                        <a:t>11</a:t>
                      </a:r>
                      <a:endParaRPr kumimoji="1" lang="zh-CN" altLang="zh-CN" sz="1400" b="1" i="0" u="none" strike="noStrike" cap="none" normalizeH="0" baseline="0">
                        <a:ln>
                          <a:noFill/>
                        </a:ln>
                        <a:solidFill>
                          <a:srgbClr val="FF0000"/>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6</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13</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5</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2</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6262">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rPr>
                        <a:t>23</a:t>
                      </a:r>
                      <a:r>
                        <a:rPr kumimoji="1" lang="en-US" altLang="zh-CN" sz="1400" b="0" i="0" u="none" strike="noStrike" cap="none" normalizeH="0" baseline="30000" dirty="0">
                          <a:ln>
                            <a:noFill/>
                          </a:ln>
                          <a:solidFill>
                            <a:schemeClr val="tx1"/>
                          </a:solidFill>
                          <a:effectLst/>
                          <a:latin typeface="Times New Roman" pitchFamily="18" charset="0"/>
                          <a:ea typeface="宋体" pitchFamily="2" charset="-122"/>
                        </a:rPr>
                        <a:t>j</a:t>
                      </a:r>
                      <a:r>
                        <a:rPr kumimoji="1" lang="en-US" altLang="zh-CN" sz="1400" b="0" i="0" u="none" strike="noStrike" cap="none" normalizeH="0" baseline="0" dirty="0">
                          <a:ln>
                            <a:noFill/>
                          </a:ln>
                          <a:solidFill>
                            <a:schemeClr val="tx1"/>
                          </a:solidFill>
                          <a:effectLst/>
                          <a:latin typeface="Times New Roman" pitchFamily="18" charset="0"/>
                          <a:ea typeface="宋体" pitchFamily="2" charset="-122"/>
                        </a:rPr>
                        <a:t>(mod181)</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15</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23</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40</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44</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57</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107</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108</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117</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1" i="0" u="none" strike="noStrike" cap="none" normalizeH="0" baseline="0">
                          <a:ln>
                            <a:noFill/>
                          </a:ln>
                          <a:solidFill>
                            <a:srgbClr val="FF0000"/>
                          </a:solidFill>
                          <a:effectLst/>
                          <a:latin typeface="Times New Roman" pitchFamily="18" charset="0"/>
                          <a:ea typeface="宋体" pitchFamily="2" charset="-122"/>
                        </a:rPr>
                        <a:t>131</a:t>
                      </a:r>
                      <a:endParaRPr kumimoji="1" lang="zh-CN" altLang="zh-CN" sz="1400" b="1" i="0" u="none" strike="noStrike" cap="none" normalizeH="0" baseline="0">
                        <a:ln>
                          <a:noFill/>
                        </a:ln>
                        <a:solidFill>
                          <a:srgbClr val="FF0000"/>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152</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157</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164</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rPr>
                        <a:t>167</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0" name="表格 19">
            <a:extLst>
              <a:ext uri="{FF2B5EF4-FFF2-40B4-BE49-F238E27FC236}">
                <a16:creationId xmlns:a16="http://schemas.microsoft.com/office/drawing/2014/main" id="{492718F6-6451-0921-06BE-49F1DE81312A}"/>
              </a:ext>
            </a:extLst>
          </p:cNvPr>
          <p:cNvGraphicFramePr>
            <a:graphicFrameLocks noGrp="1"/>
          </p:cNvGraphicFramePr>
          <p:nvPr>
            <p:extLst>
              <p:ext uri="{D42A27DB-BD31-4B8C-83A1-F6EECF244321}">
                <p14:modId xmlns:p14="http://schemas.microsoft.com/office/powerpoint/2010/main" val="3869648448"/>
              </p:ext>
            </p:extLst>
          </p:nvPr>
        </p:nvGraphicFramePr>
        <p:xfrm>
          <a:off x="4606381" y="4590359"/>
          <a:ext cx="4357687" cy="928688"/>
        </p:xfrm>
        <a:graphic>
          <a:graphicData uri="http://schemas.openxmlformats.org/drawingml/2006/table">
            <a:tbl>
              <a:tblPr/>
              <a:tblGrid>
                <a:gridCol w="2233612">
                  <a:extLst>
                    <a:ext uri="{9D8B030D-6E8A-4147-A177-3AD203B41FA5}">
                      <a16:colId xmlns:a16="http://schemas.microsoft.com/office/drawing/2014/main" val="20000"/>
                    </a:ext>
                  </a:extLst>
                </a:gridCol>
                <a:gridCol w="530225">
                  <a:extLst>
                    <a:ext uri="{9D8B030D-6E8A-4147-A177-3AD203B41FA5}">
                      <a16:colId xmlns:a16="http://schemas.microsoft.com/office/drawing/2014/main" val="20001"/>
                    </a:ext>
                  </a:extLst>
                </a:gridCol>
                <a:gridCol w="531813">
                  <a:extLst>
                    <a:ext uri="{9D8B030D-6E8A-4147-A177-3AD203B41FA5}">
                      <a16:colId xmlns:a16="http://schemas.microsoft.com/office/drawing/2014/main" val="20002"/>
                    </a:ext>
                  </a:extLst>
                </a:gridCol>
                <a:gridCol w="530225">
                  <a:extLst>
                    <a:ext uri="{9D8B030D-6E8A-4147-A177-3AD203B41FA5}">
                      <a16:colId xmlns:a16="http://schemas.microsoft.com/office/drawing/2014/main" val="20003"/>
                    </a:ext>
                  </a:extLst>
                </a:gridCol>
                <a:gridCol w="531812">
                  <a:extLst>
                    <a:ext uri="{9D8B030D-6E8A-4147-A177-3AD203B41FA5}">
                      <a16:colId xmlns:a16="http://schemas.microsoft.com/office/drawing/2014/main" val="20004"/>
                    </a:ext>
                  </a:extLst>
                </a:gridCol>
              </a:tblGrid>
              <a:tr h="412750">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i</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0</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2</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3</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5938">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rPr>
                        <a:t>113*23</a:t>
                      </a:r>
                      <a:r>
                        <a:rPr kumimoji="1" lang="en-US" altLang="zh-CN" sz="1400" b="0" i="0" u="none" strike="noStrike" cap="none" normalizeH="0" baseline="30000" dirty="0">
                          <a:ln>
                            <a:noFill/>
                          </a:ln>
                          <a:solidFill>
                            <a:schemeClr val="tx1"/>
                          </a:solidFill>
                          <a:effectLst/>
                          <a:latin typeface="Times New Roman" pitchFamily="18" charset="0"/>
                          <a:ea typeface="宋体" pitchFamily="2" charset="-122"/>
                        </a:rPr>
                        <a:t>-14*</a:t>
                      </a:r>
                      <a:r>
                        <a:rPr kumimoji="1" lang="en-US" altLang="zh-CN" sz="1400" b="0" i="0" u="none" strike="noStrike" cap="none" normalizeH="0" baseline="30000" dirty="0" err="1">
                          <a:ln>
                            <a:noFill/>
                          </a:ln>
                          <a:solidFill>
                            <a:schemeClr val="tx1"/>
                          </a:solidFill>
                          <a:effectLst/>
                          <a:latin typeface="Times New Roman" pitchFamily="18" charset="0"/>
                          <a:ea typeface="宋体" pitchFamily="2" charset="-122"/>
                        </a:rPr>
                        <a:t>i</a:t>
                      </a:r>
                      <a:r>
                        <a:rPr kumimoji="1" lang="en-US" altLang="zh-CN" sz="1400" b="0" i="0" u="none" strike="noStrike" cap="none" normalizeH="0" baseline="0" dirty="0">
                          <a:ln>
                            <a:noFill/>
                          </a:ln>
                          <a:solidFill>
                            <a:schemeClr val="tx1"/>
                          </a:solidFill>
                          <a:effectLst/>
                          <a:latin typeface="Times New Roman" pitchFamily="18" charset="0"/>
                          <a:ea typeface="宋体" pitchFamily="2" charset="-122"/>
                        </a:rPr>
                        <a:t> (mod 181)</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113</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88</a:t>
                      </a:r>
                      <a:endParaRPr kumimoji="1" lang="zh-CN" altLang="zh-CN" sz="14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1" i="0" u="none" strike="noStrike" cap="none" normalizeH="0" baseline="0">
                          <a:ln>
                            <a:noFill/>
                          </a:ln>
                          <a:solidFill>
                            <a:srgbClr val="FF0000"/>
                          </a:solidFill>
                          <a:effectLst/>
                          <a:latin typeface="Times New Roman" pitchFamily="18" charset="0"/>
                          <a:ea typeface="宋体" pitchFamily="2" charset="-122"/>
                        </a:rPr>
                        <a:t>131</a:t>
                      </a:r>
                      <a:endParaRPr kumimoji="1" lang="zh-CN" altLang="zh-CN" sz="1400" b="1" i="0" u="none" strike="noStrike" cap="none" normalizeH="0" baseline="0">
                        <a:ln>
                          <a:noFill/>
                        </a:ln>
                        <a:solidFill>
                          <a:srgbClr val="FF0000"/>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
                          <a:schemeClr val="accent2"/>
                        </a:buClr>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rPr>
                        <a:t>40</a:t>
                      </a:r>
                      <a:endParaRPr kumimoji="1" lang="zh-CN"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107599" name="矩形 11">
                <a:extLst>
                  <a:ext uri="{FF2B5EF4-FFF2-40B4-BE49-F238E27FC236}">
                    <a16:creationId xmlns:a16="http://schemas.microsoft.com/office/drawing/2014/main" id="{AE7040E1-FBE7-F175-A74C-761C24D5F2BE}"/>
                  </a:ext>
                </a:extLst>
              </p:cNvPr>
              <p:cNvSpPr>
                <a:spLocks noChangeArrowheads="1"/>
              </p:cNvSpPr>
              <p:nvPr/>
            </p:nvSpPr>
            <p:spPr bwMode="auto">
              <a:xfrm>
                <a:off x="5989365" y="5943740"/>
                <a:ext cx="3445751"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rPr>
                        <m:t>𝑥</m:t>
                      </m:r>
                      <m:r>
                        <a:rPr lang="en-US" altLang="zh-CN" b="0" i="1" dirty="0" smtClean="0">
                          <a:solidFill>
                            <a:schemeClr val="tx1"/>
                          </a:solidFill>
                          <a:latin typeface="Cambria Math" panose="02040503050406030204" pitchFamily="18" charset="0"/>
                        </a:rPr>
                        <m:t>=</m:t>
                      </m:r>
                      <m:r>
                        <a:rPr lang="en-US" altLang="zh-CN" b="0" i="1" dirty="0" err="1">
                          <a:solidFill>
                            <a:schemeClr val="tx1"/>
                          </a:solidFill>
                          <a:latin typeface="Cambria Math" panose="02040503050406030204" pitchFamily="18" charset="0"/>
                        </a:rPr>
                        <m:t>𝑖</m:t>
                      </m:r>
                      <m:r>
                        <a:rPr lang="en-US" altLang="zh-CN" b="0" i="1" dirty="0">
                          <a:solidFill>
                            <a:schemeClr val="tx1"/>
                          </a:solidFill>
                          <a:latin typeface="Cambria Math" panose="02040503050406030204" pitchFamily="18" charset="0"/>
                        </a:rPr>
                        <m:t>∗</m:t>
                      </m:r>
                      <m:r>
                        <a:rPr lang="en-US" altLang="zh-CN" b="0" i="1" dirty="0" err="1">
                          <a:solidFill>
                            <a:schemeClr val="tx1"/>
                          </a:solidFill>
                          <a:latin typeface="Cambria Math" panose="02040503050406030204" pitchFamily="18" charset="0"/>
                        </a:rPr>
                        <m:t>𝐿</m:t>
                      </m:r>
                      <m:r>
                        <a:rPr lang="en-US" altLang="zh-CN" b="0" i="1" dirty="0" err="1">
                          <a:solidFill>
                            <a:schemeClr val="tx1"/>
                          </a:solidFill>
                          <a:latin typeface="Cambria Math" panose="02040503050406030204" pitchFamily="18" charset="0"/>
                        </a:rPr>
                        <m:t>+</m:t>
                      </m:r>
                      <m:r>
                        <a:rPr lang="en-US" altLang="zh-CN" b="0" i="1" dirty="0" err="1">
                          <a:solidFill>
                            <a:schemeClr val="tx1"/>
                          </a:solidFill>
                          <a:latin typeface="Cambria Math" panose="02040503050406030204" pitchFamily="18" charset="0"/>
                        </a:rPr>
                        <m:t>𝑗</m:t>
                      </m:r>
                      <m:r>
                        <a:rPr lang="en-US" altLang="zh-CN" b="0" i="1" dirty="0">
                          <a:solidFill>
                            <a:schemeClr val="tx1"/>
                          </a:solidFill>
                          <a:latin typeface="Cambria Math" panose="02040503050406030204" pitchFamily="18" charset="0"/>
                        </a:rPr>
                        <m:t>=2∗14+11=</m:t>
                      </m:r>
                      <m:r>
                        <a:rPr lang="en-US" altLang="zh-CN" b="0" i="1" dirty="0">
                          <a:solidFill>
                            <a:srgbClr val="FF0000"/>
                          </a:solidFill>
                          <a:latin typeface="Cambria Math" panose="02040503050406030204" pitchFamily="18" charset="0"/>
                        </a:rPr>
                        <m:t>39</m:t>
                      </m:r>
                    </m:oMath>
                  </m:oMathPara>
                </a14:m>
                <a:endParaRPr/>
              </a:p>
            </p:txBody>
          </p:sp>
        </mc:Choice>
        <mc:Fallback xmlns="">
          <p:sp>
            <p:nvSpPr>
              <p:cNvPr id="107599" name="矩形 11">
                <a:extLst>
                  <a:ext uri="{FF2B5EF4-FFF2-40B4-BE49-F238E27FC236}">
                    <a16:creationId xmlns:a16="http://schemas.microsoft.com/office/drawing/2014/main" id="{AE7040E1-FBE7-F175-A74C-761C24D5F2BE}"/>
                  </a:ext>
                </a:extLst>
              </p:cNvPr>
              <p:cNvSpPr>
                <a:spLocks noRot="1" noChangeAspect="1" noMove="1" noResize="1" noEditPoints="1" noAdjustHandles="1" noChangeArrowheads="1" noChangeShapeType="1" noTextEdit="1"/>
              </p:cNvSpPr>
              <p:nvPr/>
            </p:nvSpPr>
            <p:spPr bwMode="auto">
              <a:xfrm>
                <a:off x="5989365" y="5943740"/>
                <a:ext cx="3445751" cy="369332"/>
              </a:xfrm>
              <a:prstGeom prst="rect">
                <a:avLst/>
              </a:prstGeom>
              <a:blipFill>
                <a:blip r:embed="rId7"/>
                <a:stretch>
                  <a:fillRect t="-9836" r="-1593" b="-229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601" name="Object 82">
                <a:extLst>
                  <a:ext uri="{FF2B5EF4-FFF2-40B4-BE49-F238E27FC236}">
                    <a16:creationId xmlns:a16="http://schemas.microsoft.com/office/drawing/2014/main" id="{ADA50F0A-024C-7E24-5869-298EAB8C6D8D}"/>
                  </a:ext>
                </a:extLst>
              </p:cNvPr>
              <p:cNvSpPr txBox="1"/>
              <p:nvPr/>
            </p:nvSpPr>
            <p:spPr bwMode="auto">
              <a:xfrm>
                <a:off x="6096000" y="6350655"/>
                <a:ext cx="2895600" cy="40957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func>
                        <m:funcPr>
                          <m:ctrlPr>
                            <a:rPr lang="zh-CN" altLang="en-US" i="1">
                              <a:solidFill>
                                <a:srgbClr val="000000"/>
                              </a:solidFill>
                              <a:latin typeface="Cambria Math" panose="02040503050406030204" pitchFamily="18" charset="0"/>
                            </a:rPr>
                          </m:ctrlPr>
                        </m:funcPr>
                        <m:fName>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log</m:t>
                              </m:r>
                            </m:e>
                            <m:sub>
                              <m:r>
                                <a:rPr lang="zh-CN" altLang="en-US" i="1">
                                  <a:solidFill>
                                    <a:srgbClr val="000000"/>
                                  </a:solidFill>
                                  <a:latin typeface="Cambria Math" panose="02040503050406030204" pitchFamily="18" charset="0"/>
                                </a:rPr>
                                <m:t>23</m:t>
                              </m:r>
                            </m:sub>
                          </m:sSub>
                        </m:fName>
                        <m:e>
                          <m:r>
                            <a:rPr lang="zh-CN" altLang="en-US" i="1">
                              <a:solidFill>
                                <a:srgbClr val="000000"/>
                              </a:solidFill>
                              <a:latin typeface="Cambria Math" panose="02040503050406030204" pitchFamily="18" charset="0"/>
                            </a:rPr>
                            <m:t>1</m:t>
                          </m:r>
                        </m:e>
                      </m:func>
                      <m:r>
                        <a:rPr lang="zh-CN" altLang="en-US" i="1">
                          <a:solidFill>
                            <a:srgbClr val="000000"/>
                          </a:solidFill>
                          <a:latin typeface="Cambria Math" panose="02040503050406030204" pitchFamily="18" charset="0"/>
                        </a:rPr>
                        <m:t>13=39(</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mod</m:t>
                          </m:r>
                        </m:fName>
                        <m:e>
                          <m:r>
                            <a:rPr lang="zh-CN" altLang="en-US" i="1">
                              <a:solidFill>
                                <a:srgbClr val="000000"/>
                              </a:solidFill>
                              <a:latin typeface="Cambria Math" panose="02040503050406030204" pitchFamily="18" charset="0"/>
                            </a:rPr>
                            <m:t>1</m:t>
                          </m:r>
                        </m:e>
                      </m:func>
                      <m:r>
                        <a:rPr lang="zh-CN" altLang="en-US" i="1">
                          <a:solidFill>
                            <a:srgbClr val="000000"/>
                          </a:solidFill>
                          <a:latin typeface="Cambria Math" panose="02040503050406030204" pitchFamily="18" charset="0"/>
                        </a:rPr>
                        <m:t>81)</m:t>
                      </m:r>
                    </m:oMath>
                  </m:oMathPara>
                </a14:m>
                <a:endParaRPr lang="zh-CN" altLang="en-US" dirty="0"/>
              </a:p>
            </p:txBody>
          </p:sp>
        </mc:Choice>
        <mc:Fallback xmlns="">
          <p:sp>
            <p:nvSpPr>
              <p:cNvPr id="107601" name="Object 82">
                <a:extLst>
                  <a:ext uri="{FF2B5EF4-FFF2-40B4-BE49-F238E27FC236}">
                    <a16:creationId xmlns:a16="http://schemas.microsoft.com/office/drawing/2014/main" id="{ADA50F0A-024C-7E24-5869-298EAB8C6D8D}"/>
                  </a:ext>
                </a:extLst>
              </p:cNvPr>
              <p:cNvSpPr txBox="1">
                <a:spLocks noRot="1" noChangeAspect="1" noMove="1" noResize="1" noEditPoints="1" noAdjustHandles="1" noChangeArrowheads="1" noChangeShapeType="1" noTextEdit="1"/>
              </p:cNvSpPr>
              <p:nvPr/>
            </p:nvSpPr>
            <p:spPr bwMode="auto">
              <a:xfrm>
                <a:off x="6096000" y="6350655"/>
                <a:ext cx="2895600" cy="409575"/>
              </a:xfrm>
              <a:prstGeom prst="rect">
                <a:avLst/>
              </a:prstGeom>
              <a:blipFill>
                <a:blip r:embed="rId8"/>
                <a:stretch>
                  <a:fillRect l="-632" b="-1493"/>
                </a:stretch>
              </a:blipFill>
              <a:ln>
                <a:noFill/>
              </a:ln>
            </p:spPr>
            <p:txBody>
              <a:bodyPr/>
              <a:lstStyle/>
              <a:p>
                <a:r>
                  <a:rPr lang="zh-CN" altLang="en-US">
                    <a:noFill/>
                  </a:rPr>
                  <a:t> </a:t>
                </a:r>
              </a:p>
            </p:txBody>
          </p:sp>
        </mc:Fallback>
      </mc:AlternateContent>
      <p:pic>
        <p:nvPicPr>
          <p:cNvPr id="25" name="图片 24">
            <a:extLst>
              <a:ext uri="{FF2B5EF4-FFF2-40B4-BE49-F238E27FC236}">
                <a16:creationId xmlns:a16="http://schemas.microsoft.com/office/drawing/2014/main" id="{2CE9178F-BD38-7053-9098-6C2053F1386B}"/>
              </a:ext>
            </a:extLst>
          </p:cNvPr>
          <p:cNvPicPr>
            <a:picLocks noChangeAspect="1"/>
          </p:cNvPicPr>
          <p:nvPr/>
        </p:nvPicPr>
        <p:blipFill>
          <a:blip r:embed="rId9"/>
          <a:srcRect l="15233" t="13673"/>
          <a:stretch>
            <a:fillRect/>
          </a:stretch>
        </p:blipFill>
        <p:spPr>
          <a:xfrm>
            <a:off x="9216232" y="4715617"/>
            <a:ext cx="3788049" cy="321039"/>
          </a:xfrm>
          <a:prstGeom prst="rect">
            <a:avLst/>
          </a:prstGeom>
        </p:spPr>
      </p:pic>
      <p:cxnSp>
        <p:nvCxnSpPr>
          <p:cNvPr id="27" name="直接箭头连接符 26">
            <a:extLst>
              <a:ext uri="{FF2B5EF4-FFF2-40B4-BE49-F238E27FC236}">
                <a16:creationId xmlns:a16="http://schemas.microsoft.com/office/drawing/2014/main" id="{FA02DDCC-14EC-F4B9-2D39-F5346007AB4F}"/>
              </a:ext>
            </a:extLst>
          </p:cNvPr>
          <p:cNvCxnSpPr/>
          <p:nvPr/>
        </p:nvCxnSpPr>
        <p:spPr>
          <a:xfrm>
            <a:off x="7391400" y="2022964"/>
            <a:ext cx="0" cy="4316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1C9E86F0-881A-38AA-1B6E-F828B7BB205E}"/>
              </a:ext>
            </a:extLst>
          </p:cNvPr>
          <p:cNvCxnSpPr>
            <a:cxnSpLocks/>
            <a:stCxn id="25" idx="1"/>
          </p:cNvCxnSpPr>
          <p:nvPr/>
        </p:nvCxnSpPr>
        <p:spPr>
          <a:xfrm flipH="1">
            <a:off x="7774141" y="4876137"/>
            <a:ext cx="1442091" cy="2621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4CA0A3A4-33C0-197E-887E-649A66EFEB67}"/>
              </a:ext>
            </a:extLst>
          </p:cNvPr>
          <p:cNvCxnSpPr/>
          <p:nvPr/>
        </p:nvCxnSpPr>
        <p:spPr>
          <a:xfrm>
            <a:off x="7391400" y="2919411"/>
            <a:ext cx="0" cy="4316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427DDB0E-9209-CA89-8313-FF9E3B70533A}"/>
              </a:ext>
            </a:extLst>
          </p:cNvPr>
          <p:cNvCxnSpPr>
            <a:cxnSpLocks/>
          </p:cNvCxnSpPr>
          <p:nvPr/>
        </p:nvCxnSpPr>
        <p:spPr>
          <a:xfrm>
            <a:off x="7391400" y="5628612"/>
            <a:ext cx="0" cy="3284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85691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6F7B8-08EA-E4F7-8E12-03BA24067B6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0AB8363-9265-5F32-65FE-CDE0EA0F3807}"/>
              </a:ext>
            </a:extLst>
          </p:cNvPr>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endParaRPr lang="zh-CN" altLang="en-US" dirty="0"/>
          </a:p>
        </p:txBody>
      </p:sp>
      <p:sp>
        <p:nvSpPr>
          <p:cNvPr id="4" name="灯片编号占位符 3">
            <a:extLst>
              <a:ext uri="{FF2B5EF4-FFF2-40B4-BE49-F238E27FC236}">
                <a16:creationId xmlns:a16="http://schemas.microsoft.com/office/drawing/2014/main" id="{B62FB2C4-7BE0-F56B-7C0D-7C76A9F65E23}"/>
              </a:ext>
            </a:extLst>
          </p:cNvPr>
          <p:cNvSpPr>
            <a:spLocks noGrp="1"/>
          </p:cNvSpPr>
          <p:nvPr>
            <p:ph type="sldNum" sz="quarter" idx="12"/>
          </p:nvPr>
        </p:nvSpPr>
        <p:spPr/>
        <p:txBody>
          <a:bodyPr/>
          <a:lstStyle/>
          <a:p>
            <a:fld id="{8D4D1E41-7A09-AB4A-A4E1-09765ADA2698}" type="slidenum">
              <a:rPr kumimoji="1" lang="zh-CN" altLang="en-US" smtClean="0"/>
              <a:pPr/>
              <a:t>88</a:t>
            </a:fld>
            <a:endParaRPr kumimoji="1" lang="zh-CN" altLang="en-US" dirty="0"/>
          </a:p>
        </p:txBody>
      </p:sp>
      <p:sp>
        <p:nvSpPr>
          <p:cNvPr id="6" name="文本框 5">
            <a:extLst>
              <a:ext uri="{FF2B5EF4-FFF2-40B4-BE49-F238E27FC236}">
                <a16:creationId xmlns:a16="http://schemas.microsoft.com/office/drawing/2014/main" id="{3E5174AD-73FD-1F8C-250E-0A15EA291EFE}"/>
              </a:ext>
            </a:extLst>
          </p:cNvPr>
          <p:cNvSpPr txBox="1"/>
          <p:nvPr/>
        </p:nvSpPr>
        <p:spPr>
          <a:xfrm>
            <a:off x="825499" y="1675884"/>
            <a:ext cx="7122695" cy="969496"/>
          </a:xfrm>
          <a:prstGeom prst="rect">
            <a:avLst/>
          </a:prstGeom>
          <a:noFill/>
        </p:spPr>
        <p:txBody>
          <a:bodyPr wrap="square">
            <a:spAutoFit/>
          </a:bodyPr>
          <a:lstStyle/>
          <a:p>
            <a:pPr marL="228600" indent="-228600">
              <a:spcBef>
                <a:spcPts val="600"/>
              </a:spcBef>
              <a:buFont typeface="Wingdings" pitchFamily="2" charset="2"/>
              <a:buChar char="Ø"/>
            </a:pPr>
            <a:r>
              <a:rPr lang="zh-CN" altLang="en-US" sz="2800" dirty="0">
                <a:latin typeface="Microsoft YaHei" panose="020B0503020204020204" pitchFamily="34" charset="-122"/>
                <a:ea typeface="Microsoft YaHei" panose="020B0503020204020204" pitchFamily="34" charset="-122"/>
              </a:rPr>
              <a:t>离散对数问题（</a:t>
            </a:r>
            <a:r>
              <a:rPr lang="en-US" altLang="zh-CN" sz="2800" dirty="0">
                <a:latin typeface="Microsoft YaHei" panose="020B0503020204020204" pitchFamily="34" charset="-122"/>
                <a:ea typeface="Microsoft YaHei" panose="020B0503020204020204" pitchFamily="34" charset="-122"/>
              </a:rPr>
              <a:t>DLP</a:t>
            </a:r>
            <a:r>
              <a:rPr lang="zh-CN" altLang="en-US" sz="2800" dirty="0">
                <a:latin typeface="Microsoft YaHei" panose="020B0503020204020204" pitchFamily="34" charset="-122"/>
                <a:ea typeface="Microsoft YaHei" panose="020B0503020204020204" pitchFamily="34" charset="-122"/>
              </a:rPr>
              <a:t>）的攻击</a:t>
            </a:r>
            <a:endParaRPr lang="en-US" altLang="zh-CN" sz="2400" dirty="0">
              <a:latin typeface="Microsoft YaHei" panose="020B0503020204020204" pitchFamily="34" charset="-122"/>
            </a:endParaRPr>
          </a:p>
          <a:p>
            <a:pPr marL="800100" lvl="1" indent="-342900">
              <a:spcBef>
                <a:spcPts val="600"/>
              </a:spcBef>
              <a:buFont typeface="Arial" panose="020B0604020202020204" pitchFamily="34" charset="0"/>
              <a:buChar char="•"/>
            </a:pPr>
            <a:r>
              <a:rPr lang="en-US" altLang="zh-CN" sz="2400" dirty="0">
                <a:latin typeface="Microsoft YaHei" panose="020B0503020204020204" pitchFamily="34" charset="-122"/>
                <a:ea typeface="Microsoft YaHei" panose="020B0503020204020204" pitchFamily="34" charset="-122"/>
              </a:rPr>
              <a:t>Pollard-</a:t>
            </a:r>
            <a:r>
              <a:rPr lang="el-GR" altLang="zh-CN" sz="2400" dirty="0">
                <a:latin typeface="Microsoft YaHei" panose="020B0503020204020204" pitchFamily="34" charset="-122"/>
                <a:ea typeface="Microsoft YaHei" panose="020B0503020204020204" pitchFamily="34" charset="-122"/>
              </a:rPr>
              <a:t>ρ </a:t>
            </a:r>
            <a:r>
              <a:rPr lang="zh-CN" altLang="en-US" sz="2400" dirty="0">
                <a:latin typeface="Microsoft YaHei" panose="020B0503020204020204" pitchFamily="34" charset="-122"/>
                <a:ea typeface="Microsoft YaHei" panose="020B0503020204020204" pitchFamily="34" charset="-122"/>
              </a:rPr>
              <a:t>方法</a:t>
            </a:r>
            <a:endParaRPr lang="en-US" altLang="zh-CN" sz="2400" dirty="0">
              <a:latin typeface="Microsoft YaHei" panose="020B0503020204020204" pitchFamily="34" charset="-122"/>
              <a:ea typeface="Microsoft YaHei" panose="020B0503020204020204" pitchFamily="34" charset="-122"/>
            </a:endParaRPr>
          </a:p>
        </p:txBody>
      </p:sp>
      <p:sp>
        <p:nvSpPr>
          <p:cNvPr id="108551" name="矩形 6">
            <a:extLst>
              <a:ext uri="{FF2B5EF4-FFF2-40B4-BE49-F238E27FC236}">
                <a16:creationId xmlns:a16="http://schemas.microsoft.com/office/drawing/2014/main" id="{717884C5-863A-37B6-7B1B-3DE64637A18D}"/>
              </a:ext>
            </a:extLst>
          </p:cNvPr>
          <p:cNvSpPr>
            <a:spLocks noChangeArrowheads="1"/>
          </p:cNvSpPr>
          <p:nvPr/>
        </p:nvSpPr>
        <p:spPr bwMode="auto">
          <a:xfrm>
            <a:off x="4038713" y="3547467"/>
            <a:ext cx="50720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zh-CN" altLang="en-US" b="0" dirty="0">
                <a:solidFill>
                  <a:schemeClr val="tx1"/>
                </a:solidFill>
              </a:rPr>
              <a:t>将群</a:t>
            </a:r>
            <a:r>
              <a:rPr lang="en-US" altLang="zh-CN" b="0" dirty="0">
                <a:solidFill>
                  <a:schemeClr val="tx1"/>
                </a:solidFill>
              </a:rPr>
              <a:t>G</a:t>
            </a:r>
            <a:r>
              <a:rPr lang="zh-CN" altLang="en-US" b="0" dirty="0">
                <a:solidFill>
                  <a:schemeClr val="tx1"/>
                </a:solidFill>
              </a:rPr>
              <a:t>分为规模相当的三个集合</a:t>
            </a:r>
            <a:r>
              <a:rPr lang="en-US" altLang="zh-CN" b="0" dirty="0">
                <a:solidFill>
                  <a:schemeClr val="tx1"/>
                </a:solidFill>
              </a:rPr>
              <a:t>S1</a:t>
            </a:r>
            <a:r>
              <a:rPr lang="zh-CN" altLang="en-US" b="0" dirty="0">
                <a:solidFill>
                  <a:schemeClr val="tx1"/>
                </a:solidFill>
              </a:rPr>
              <a:t>，</a:t>
            </a:r>
            <a:r>
              <a:rPr lang="en-US" altLang="zh-CN" b="0" dirty="0">
                <a:solidFill>
                  <a:schemeClr val="tx1"/>
                </a:solidFill>
              </a:rPr>
              <a:t>S2</a:t>
            </a:r>
            <a:r>
              <a:rPr lang="zh-CN" altLang="en-US" b="0" dirty="0">
                <a:solidFill>
                  <a:schemeClr val="tx1"/>
                </a:solidFill>
              </a:rPr>
              <a:t>，</a:t>
            </a:r>
            <a:r>
              <a:rPr lang="en-US" altLang="zh-CN" b="0" dirty="0">
                <a:solidFill>
                  <a:schemeClr val="tx1"/>
                </a:solidFill>
              </a:rPr>
              <a:t>S3</a:t>
            </a:r>
          </a:p>
        </p:txBody>
      </p:sp>
      <p:sp>
        <p:nvSpPr>
          <p:cNvPr id="108552" name="矩形 7">
            <a:extLst>
              <a:ext uri="{FF2B5EF4-FFF2-40B4-BE49-F238E27FC236}">
                <a16:creationId xmlns:a16="http://schemas.microsoft.com/office/drawing/2014/main" id="{BCA39DA8-0FBF-8BD9-09AD-F5BC611DB453}"/>
              </a:ext>
            </a:extLst>
          </p:cNvPr>
          <p:cNvSpPr>
            <a:spLocks noChangeArrowheads="1"/>
          </p:cNvSpPr>
          <p:nvPr/>
        </p:nvSpPr>
        <p:spPr bwMode="auto">
          <a:xfrm>
            <a:off x="1313155" y="4052709"/>
            <a:ext cx="4235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a:solidFill>
                  <a:schemeClr val="tx1"/>
                </a:solidFill>
              </a:rPr>
              <a:t>S1=[1,59]</a:t>
            </a:r>
            <a:r>
              <a:rPr lang="zh-CN" altLang="en-US" b="0" dirty="0">
                <a:solidFill>
                  <a:schemeClr val="tx1"/>
                </a:solidFill>
              </a:rPr>
              <a:t>，</a:t>
            </a:r>
            <a:r>
              <a:rPr lang="en-US" altLang="zh-CN" b="0" dirty="0">
                <a:solidFill>
                  <a:schemeClr val="tx1"/>
                </a:solidFill>
              </a:rPr>
              <a:t>S2=[60,118]</a:t>
            </a:r>
            <a:r>
              <a:rPr lang="zh-CN" altLang="en-US" b="0" dirty="0">
                <a:solidFill>
                  <a:schemeClr val="tx1"/>
                </a:solidFill>
              </a:rPr>
              <a:t>，</a:t>
            </a:r>
            <a:r>
              <a:rPr lang="en-US" altLang="zh-CN" b="0" dirty="0">
                <a:solidFill>
                  <a:schemeClr val="tx1"/>
                </a:solidFill>
              </a:rPr>
              <a:t>S3=[119,178]</a:t>
            </a:r>
          </a:p>
        </p:txBody>
      </p:sp>
      <p:sp>
        <p:nvSpPr>
          <p:cNvPr id="108553" name="矩形 8">
            <a:extLst>
              <a:ext uri="{FF2B5EF4-FFF2-40B4-BE49-F238E27FC236}">
                <a16:creationId xmlns:a16="http://schemas.microsoft.com/office/drawing/2014/main" id="{150851F8-BC09-1902-9DAB-1C5CA225086B}"/>
              </a:ext>
            </a:extLst>
          </p:cNvPr>
          <p:cNvSpPr>
            <a:spLocks noChangeArrowheads="1"/>
          </p:cNvSpPr>
          <p:nvPr/>
        </p:nvSpPr>
        <p:spPr bwMode="auto">
          <a:xfrm>
            <a:off x="3317524" y="5601671"/>
            <a:ext cx="26597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zh-CN" altLang="en-US" b="0" dirty="0">
                <a:solidFill>
                  <a:schemeClr val="tx1"/>
                </a:solidFill>
              </a:rPr>
              <a:t>定义：</a:t>
            </a:r>
            <a:r>
              <a:rPr lang="en-US" altLang="zh-CN" b="0" dirty="0">
                <a:solidFill>
                  <a:schemeClr val="tx1"/>
                </a:solidFill>
              </a:rPr>
              <a:t>a0=133</a:t>
            </a:r>
            <a:r>
              <a:rPr lang="zh-CN" altLang="en-US" b="0" dirty="0">
                <a:solidFill>
                  <a:schemeClr val="tx1"/>
                </a:solidFill>
              </a:rPr>
              <a:t>，</a:t>
            </a:r>
            <a:r>
              <a:rPr lang="en-US" altLang="zh-CN" b="0" dirty="0">
                <a:solidFill>
                  <a:schemeClr val="tx1"/>
                </a:solidFill>
              </a:rPr>
              <a:t>b0=158</a:t>
            </a:r>
          </a:p>
        </p:txBody>
      </p:sp>
      <p:sp>
        <p:nvSpPr>
          <p:cNvPr id="108554" name="矩形 9">
            <a:extLst>
              <a:ext uri="{FF2B5EF4-FFF2-40B4-BE49-F238E27FC236}">
                <a16:creationId xmlns:a16="http://schemas.microsoft.com/office/drawing/2014/main" id="{BD533F36-6D8F-A844-DBAB-13BF4A5EBA85}"/>
              </a:ext>
            </a:extLst>
          </p:cNvPr>
          <p:cNvSpPr>
            <a:spLocks noChangeArrowheads="1"/>
          </p:cNvSpPr>
          <p:nvPr/>
        </p:nvSpPr>
        <p:spPr bwMode="auto">
          <a:xfrm>
            <a:off x="6143159" y="5600592"/>
            <a:ext cx="2492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lang="en-US" altLang="zh-CN" b="0" dirty="0">
                <a:solidFill>
                  <a:schemeClr val="tx1"/>
                </a:solidFill>
              </a:rPr>
              <a:t>x0=</a:t>
            </a:r>
            <a:r>
              <a:rPr lang="el-GR" altLang="zh-CN" b="0" dirty="0">
                <a:solidFill>
                  <a:schemeClr val="tx1"/>
                </a:solidFill>
                <a:latin typeface="Times New Roman" panose="02020603050405020304" pitchFamily="18" charset="0"/>
                <a:cs typeface="Times New Roman" panose="02020603050405020304" pitchFamily="18" charset="0"/>
              </a:rPr>
              <a:t>α</a:t>
            </a:r>
            <a:r>
              <a:rPr lang="en-US" altLang="zh-CN" b="0" baseline="30000" dirty="0">
                <a:solidFill>
                  <a:schemeClr val="tx1"/>
                </a:solidFill>
              </a:rPr>
              <a:t>a0</a:t>
            </a:r>
            <a:r>
              <a:rPr lang="el-GR" altLang="zh-CN" b="0" dirty="0">
                <a:solidFill>
                  <a:schemeClr val="tx1"/>
                </a:solidFill>
                <a:latin typeface="Times New Roman" panose="02020603050405020304" pitchFamily="18" charset="0"/>
                <a:cs typeface="Times New Roman" panose="02020603050405020304" pitchFamily="18" charset="0"/>
              </a:rPr>
              <a:t>β</a:t>
            </a:r>
            <a:r>
              <a:rPr lang="en-US" altLang="zh-CN" b="0" baseline="30000" dirty="0">
                <a:solidFill>
                  <a:schemeClr val="tx1"/>
                </a:solidFill>
              </a:rPr>
              <a:t>b0</a:t>
            </a:r>
            <a:r>
              <a:rPr lang="en-US" altLang="zh-CN" b="0" dirty="0">
                <a:solidFill>
                  <a:schemeClr val="tx1"/>
                </a:solidFill>
              </a:rPr>
              <a:t>=25 mod 179</a:t>
            </a:r>
          </a:p>
        </p:txBody>
      </p:sp>
      <p:pic>
        <p:nvPicPr>
          <p:cNvPr id="11" name="图片 10">
            <a:extLst>
              <a:ext uri="{FF2B5EF4-FFF2-40B4-BE49-F238E27FC236}">
                <a16:creationId xmlns:a16="http://schemas.microsoft.com/office/drawing/2014/main" id="{C2B084C6-B23B-696C-21A2-F1D7A79AAFA8}"/>
              </a:ext>
            </a:extLst>
          </p:cNvPr>
          <p:cNvPicPr>
            <a:picLocks noChangeAspect="1"/>
          </p:cNvPicPr>
          <p:nvPr/>
        </p:nvPicPr>
        <p:blipFill>
          <a:blip r:embed="rId2"/>
          <a:stretch>
            <a:fillRect/>
          </a:stretch>
        </p:blipFill>
        <p:spPr>
          <a:xfrm>
            <a:off x="628404" y="4393478"/>
            <a:ext cx="5761219" cy="1115665"/>
          </a:xfrm>
          <a:prstGeom prst="rect">
            <a:avLst/>
          </a:prstGeom>
        </p:spPr>
      </p:pic>
      <p:pic>
        <p:nvPicPr>
          <p:cNvPr id="14" name="图片 13">
            <a:extLst>
              <a:ext uri="{FF2B5EF4-FFF2-40B4-BE49-F238E27FC236}">
                <a16:creationId xmlns:a16="http://schemas.microsoft.com/office/drawing/2014/main" id="{6D977AB1-59E5-8065-C71B-82E64C783089}"/>
              </a:ext>
            </a:extLst>
          </p:cNvPr>
          <p:cNvPicPr>
            <a:picLocks noChangeAspect="1"/>
          </p:cNvPicPr>
          <p:nvPr/>
        </p:nvPicPr>
        <p:blipFill>
          <a:blip r:embed="rId3"/>
          <a:stretch>
            <a:fillRect/>
          </a:stretch>
        </p:blipFill>
        <p:spPr>
          <a:xfrm>
            <a:off x="738391" y="6037046"/>
            <a:ext cx="4968671" cy="396274"/>
          </a:xfrm>
          <a:prstGeom prst="rect">
            <a:avLst/>
          </a:prstGeom>
        </p:spPr>
      </p:pic>
      <p:pic>
        <p:nvPicPr>
          <p:cNvPr id="16" name="图片 15">
            <a:extLst>
              <a:ext uri="{FF2B5EF4-FFF2-40B4-BE49-F238E27FC236}">
                <a16:creationId xmlns:a16="http://schemas.microsoft.com/office/drawing/2014/main" id="{8614DE2D-DB71-6BCE-D7E7-3DBF0CBAAA0D}"/>
              </a:ext>
            </a:extLst>
          </p:cNvPr>
          <p:cNvPicPr>
            <a:picLocks noChangeAspect="1"/>
          </p:cNvPicPr>
          <p:nvPr/>
        </p:nvPicPr>
        <p:blipFill>
          <a:blip r:embed="rId4"/>
          <a:stretch>
            <a:fillRect/>
          </a:stretch>
        </p:blipFill>
        <p:spPr>
          <a:xfrm>
            <a:off x="3890445" y="2248616"/>
            <a:ext cx="2499178" cy="368300"/>
          </a:xfrm>
          <a:prstGeom prst="rect">
            <a:avLst/>
          </a:prstGeom>
        </p:spPr>
      </p:pic>
      <p:sp>
        <p:nvSpPr>
          <p:cNvPr id="22" name="文本框 21">
            <a:extLst>
              <a:ext uri="{FF2B5EF4-FFF2-40B4-BE49-F238E27FC236}">
                <a16:creationId xmlns:a16="http://schemas.microsoft.com/office/drawing/2014/main" id="{8E531554-237A-FA40-90C8-D0A58FF69B19}"/>
              </a:ext>
            </a:extLst>
          </p:cNvPr>
          <p:cNvSpPr txBox="1"/>
          <p:nvPr/>
        </p:nvSpPr>
        <p:spPr>
          <a:xfrm>
            <a:off x="880568" y="2729389"/>
            <a:ext cx="6103256" cy="369332"/>
          </a:xfrm>
          <a:prstGeom prst="rect">
            <a:avLst/>
          </a:prstGeom>
          <a:noFill/>
        </p:spPr>
        <p:txBody>
          <a:bodyPr wrap="square">
            <a:spAutoFit/>
          </a:bodyPr>
          <a:lstStyle/>
          <a:p>
            <a:r>
              <a:rPr lang="en-US" altLang="zh-CN" dirty="0"/>
              <a:t>Step 1</a:t>
            </a:r>
            <a:r>
              <a:rPr lang="zh-CN" altLang="en-US" dirty="0"/>
              <a:t>：构造一个“可追踪的随机数”</a:t>
            </a:r>
          </a:p>
        </p:txBody>
      </p:sp>
      <p:pic>
        <p:nvPicPr>
          <p:cNvPr id="24" name="图片 23">
            <a:extLst>
              <a:ext uri="{FF2B5EF4-FFF2-40B4-BE49-F238E27FC236}">
                <a16:creationId xmlns:a16="http://schemas.microsoft.com/office/drawing/2014/main" id="{79A394A8-DACF-4CA6-4C1D-586C5749F80A}"/>
              </a:ext>
            </a:extLst>
          </p:cNvPr>
          <p:cNvPicPr>
            <a:picLocks noChangeAspect="1"/>
          </p:cNvPicPr>
          <p:nvPr/>
        </p:nvPicPr>
        <p:blipFill>
          <a:blip r:embed="rId5"/>
          <a:stretch>
            <a:fillRect/>
          </a:stretch>
        </p:blipFill>
        <p:spPr>
          <a:xfrm>
            <a:off x="2274581" y="3125132"/>
            <a:ext cx="3091844" cy="438885"/>
          </a:xfrm>
          <a:prstGeom prst="rect">
            <a:avLst/>
          </a:prstGeom>
        </p:spPr>
      </p:pic>
      <p:sp>
        <p:nvSpPr>
          <p:cNvPr id="26" name="文本框 25">
            <a:extLst>
              <a:ext uri="{FF2B5EF4-FFF2-40B4-BE49-F238E27FC236}">
                <a16:creationId xmlns:a16="http://schemas.microsoft.com/office/drawing/2014/main" id="{08F5A6CA-CFFA-8A3D-0EBB-E691D00E0399}"/>
              </a:ext>
            </a:extLst>
          </p:cNvPr>
          <p:cNvSpPr txBox="1"/>
          <p:nvPr/>
        </p:nvSpPr>
        <p:spPr>
          <a:xfrm>
            <a:off x="888972" y="3560857"/>
            <a:ext cx="6103256" cy="369332"/>
          </a:xfrm>
          <a:prstGeom prst="rect">
            <a:avLst/>
          </a:prstGeom>
          <a:noFill/>
        </p:spPr>
        <p:txBody>
          <a:bodyPr wrap="square">
            <a:spAutoFit/>
          </a:bodyPr>
          <a:lstStyle/>
          <a:p>
            <a:r>
              <a:rPr lang="en-US" altLang="zh-CN" dirty="0"/>
              <a:t>Step 2</a:t>
            </a:r>
            <a:r>
              <a:rPr lang="zh-CN" altLang="en-US" dirty="0"/>
              <a:t>：定义“乱走规则”</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A9F99E2D-081D-D3FC-085B-3E892E43CD4C}"/>
                  </a:ext>
                </a:extLst>
              </p:cNvPr>
              <p:cNvSpPr txBox="1"/>
              <p:nvPr/>
            </p:nvSpPr>
            <p:spPr>
              <a:xfrm>
                <a:off x="5548605" y="5139617"/>
                <a:ext cx="63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𝛼</m:t>
                      </m:r>
                      <m:r>
                        <a:rPr lang="zh-CN" altLang="en-US" i="0">
                          <a:latin typeface="Cambria Math" panose="02040503050406030204" pitchFamily="18" charset="0"/>
                        </a:rPr>
                        <m:t>=</m:t>
                      </m:r>
                      <m:r>
                        <a:rPr lang="en-US" altLang="zh-CN" b="0" i="0" smtClean="0">
                          <a:latin typeface="Cambria Math" panose="02040503050406030204" pitchFamily="18" charset="0"/>
                        </a:rPr>
                        <m:t>3</m:t>
                      </m:r>
                    </m:oMath>
                  </m:oMathPara>
                </a14:m>
                <a:endParaRPr lang="zh-CN" altLang="en-US" dirty="0"/>
              </a:p>
            </p:txBody>
          </p:sp>
        </mc:Choice>
        <mc:Fallback xmlns="">
          <p:sp>
            <p:nvSpPr>
              <p:cNvPr id="27" name="文本框 26">
                <a:extLst>
                  <a:ext uri="{FF2B5EF4-FFF2-40B4-BE49-F238E27FC236}">
                    <a16:creationId xmlns:a16="http://schemas.microsoft.com/office/drawing/2014/main" id="{A9F99E2D-081D-D3FC-085B-3E892E43CD4C}"/>
                  </a:ext>
                </a:extLst>
              </p:cNvPr>
              <p:cNvSpPr txBox="1">
                <a:spLocks noRot="1" noChangeAspect="1" noMove="1" noResize="1" noEditPoints="1" noAdjustHandles="1" noChangeArrowheads="1" noChangeShapeType="1" noTextEdit="1"/>
              </p:cNvSpPr>
              <p:nvPr/>
            </p:nvSpPr>
            <p:spPr>
              <a:xfrm>
                <a:off x="5548605" y="5139617"/>
                <a:ext cx="636969" cy="276999"/>
              </a:xfrm>
              <a:prstGeom prst="rect">
                <a:avLst/>
              </a:prstGeom>
              <a:blipFill>
                <a:blip r:embed="rId6"/>
                <a:stretch>
                  <a:fillRect l="-3810" r="-7619" b="-65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C76F2085-9E7A-1848-9791-9C0482358C34}"/>
                  </a:ext>
                </a:extLst>
              </p:cNvPr>
              <p:cNvSpPr txBox="1"/>
              <p:nvPr/>
            </p:nvSpPr>
            <p:spPr>
              <a:xfrm>
                <a:off x="5548604" y="4533097"/>
                <a:ext cx="7668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𝛽</m:t>
                      </m:r>
                      <m:r>
                        <a:rPr lang="zh-CN" altLang="en-US" i="0">
                          <a:latin typeface="Cambria Math" panose="02040503050406030204" pitchFamily="18" charset="0"/>
                        </a:rPr>
                        <m:t>=</m:t>
                      </m:r>
                      <m:r>
                        <a:rPr lang="en-US" altLang="zh-CN" b="0" i="0" smtClean="0">
                          <a:latin typeface="Cambria Math" panose="02040503050406030204" pitchFamily="18" charset="0"/>
                        </a:rPr>
                        <m:t>75</m:t>
                      </m:r>
                    </m:oMath>
                  </m:oMathPara>
                </a14:m>
                <a:endParaRPr lang="zh-CN" altLang="en-US" dirty="0"/>
              </a:p>
            </p:txBody>
          </p:sp>
        </mc:Choice>
        <mc:Fallback xmlns="">
          <p:sp>
            <p:nvSpPr>
              <p:cNvPr id="28" name="文本框 27">
                <a:extLst>
                  <a:ext uri="{FF2B5EF4-FFF2-40B4-BE49-F238E27FC236}">
                    <a16:creationId xmlns:a16="http://schemas.microsoft.com/office/drawing/2014/main" id="{C76F2085-9E7A-1848-9791-9C0482358C34}"/>
                  </a:ext>
                </a:extLst>
              </p:cNvPr>
              <p:cNvSpPr txBox="1">
                <a:spLocks noRot="1" noChangeAspect="1" noMove="1" noResize="1" noEditPoints="1" noAdjustHandles="1" noChangeArrowheads="1" noChangeShapeType="1" noTextEdit="1"/>
              </p:cNvSpPr>
              <p:nvPr/>
            </p:nvSpPr>
            <p:spPr>
              <a:xfrm>
                <a:off x="5548604" y="4533097"/>
                <a:ext cx="766813" cy="276999"/>
              </a:xfrm>
              <a:prstGeom prst="rect">
                <a:avLst/>
              </a:prstGeom>
              <a:blipFill>
                <a:blip r:embed="rId7"/>
                <a:stretch>
                  <a:fillRect l="-9524" t="-4444" r="-6349" b="-35556"/>
                </a:stretch>
              </a:blipFill>
            </p:spPr>
            <p:txBody>
              <a:bodyPr/>
              <a:lstStyle/>
              <a:p>
                <a:r>
                  <a:rPr lang="zh-CN" altLang="en-US">
                    <a:noFill/>
                  </a:rPr>
                  <a:t> </a:t>
                </a:r>
              </a:p>
            </p:txBody>
          </p:sp>
        </mc:Fallback>
      </mc:AlternateContent>
      <p:sp>
        <p:nvSpPr>
          <p:cNvPr id="31" name="文本框 30">
            <a:extLst>
              <a:ext uri="{FF2B5EF4-FFF2-40B4-BE49-F238E27FC236}">
                <a16:creationId xmlns:a16="http://schemas.microsoft.com/office/drawing/2014/main" id="{01109C96-EB46-A90D-8639-046B58533F42}"/>
              </a:ext>
            </a:extLst>
          </p:cNvPr>
          <p:cNvSpPr txBox="1"/>
          <p:nvPr/>
        </p:nvSpPr>
        <p:spPr>
          <a:xfrm>
            <a:off x="988982" y="5615014"/>
            <a:ext cx="6099462" cy="369332"/>
          </a:xfrm>
          <a:prstGeom prst="rect">
            <a:avLst/>
          </a:prstGeom>
          <a:noFill/>
        </p:spPr>
        <p:txBody>
          <a:bodyPr wrap="square">
            <a:spAutoFit/>
          </a:bodyPr>
          <a:lstStyle/>
          <a:p>
            <a:r>
              <a:rPr lang="en-US" altLang="zh-CN" dirty="0"/>
              <a:t>Step 3</a:t>
            </a:r>
            <a:r>
              <a:rPr lang="zh-CN" altLang="en-US" dirty="0"/>
              <a:t>：迭代与撞车</a:t>
            </a:r>
          </a:p>
        </p:txBody>
      </p:sp>
      <mc:AlternateContent xmlns:mc="http://schemas.openxmlformats.org/markup-compatibility/2006" xmlns:a14="http://schemas.microsoft.com/office/drawing/2010/main">
        <mc:Choice Requires="a14">
          <p:sp>
            <p:nvSpPr>
              <p:cNvPr id="109729" name="Object 161">
                <a:extLst>
                  <a:ext uri="{FF2B5EF4-FFF2-40B4-BE49-F238E27FC236}">
                    <a16:creationId xmlns:a16="http://schemas.microsoft.com/office/drawing/2014/main" id="{73F5033B-87EF-3A38-54FD-0B62152390BE}"/>
                  </a:ext>
                </a:extLst>
              </p:cNvPr>
              <p:cNvSpPr txBox="1"/>
              <p:nvPr/>
            </p:nvSpPr>
            <p:spPr bwMode="auto">
              <a:xfrm>
                <a:off x="5025714" y="6050549"/>
                <a:ext cx="1363909" cy="44232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28</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109729" name="Object 161">
                <a:extLst>
                  <a:ext uri="{FF2B5EF4-FFF2-40B4-BE49-F238E27FC236}">
                    <a16:creationId xmlns:a16="http://schemas.microsoft.com/office/drawing/2014/main" id="{73F5033B-87EF-3A38-54FD-0B62152390BE}"/>
                  </a:ext>
                </a:extLst>
              </p:cNvPr>
              <p:cNvSpPr txBox="1">
                <a:spLocks noRot="1" noChangeAspect="1" noMove="1" noResize="1" noEditPoints="1" noAdjustHandles="1" noChangeArrowheads="1" noChangeShapeType="1" noTextEdit="1"/>
              </p:cNvSpPr>
              <p:nvPr/>
            </p:nvSpPr>
            <p:spPr bwMode="auto">
              <a:xfrm>
                <a:off x="5025714" y="6050549"/>
                <a:ext cx="1363909" cy="442325"/>
              </a:xfrm>
              <a:prstGeom prst="rect">
                <a:avLst/>
              </a:prstGeom>
              <a:blipFill>
                <a:blip r:embed="rId8"/>
                <a:stretch>
                  <a:fillRect/>
                </a:stretch>
              </a:blipFill>
              <a:ln>
                <a:noFill/>
              </a:ln>
            </p:spPr>
            <p:txBody>
              <a:bodyPr/>
              <a:lstStyle/>
              <a:p>
                <a:r>
                  <a:rPr lang="zh-CN" altLang="en-US">
                    <a:noFill/>
                  </a:rPr>
                  <a:t> </a:t>
                </a:r>
              </a:p>
            </p:txBody>
          </p:sp>
        </mc:Fallback>
      </mc:AlternateContent>
      <p:graphicFrame>
        <p:nvGraphicFramePr>
          <p:cNvPr id="32" name="表格 31">
            <a:extLst>
              <a:ext uri="{FF2B5EF4-FFF2-40B4-BE49-F238E27FC236}">
                <a16:creationId xmlns:a16="http://schemas.microsoft.com/office/drawing/2014/main" id="{685FF1A8-5352-4D3F-41C7-512651457EAA}"/>
              </a:ext>
            </a:extLst>
          </p:cNvPr>
          <p:cNvGraphicFramePr>
            <a:graphicFrameLocks noGrp="1"/>
          </p:cNvGraphicFramePr>
          <p:nvPr>
            <p:extLst>
              <p:ext uri="{D42A27DB-BD31-4B8C-83A1-F6EECF244321}">
                <p14:modId xmlns:p14="http://schemas.microsoft.com/office/powerpoint/2010/main" val="3444569479"/>
              </p:ext>
            </p:extLst>
          </p:nvPr>
        </p:nvGraphicFramePr>
        <p:xfrm>
          <a:off x="8715464" y="1066689"/>
          <a:ext cx="3379787" cy="5509260"/>
        </p:xfrm>
        <a:graphic>
          <a:graphicData uri="http://schemas.openxmlformats.org/drawingml/2006/table">
            <a:tbl>
              <a:tblPr/>
              <a:tblGrid>
                <a:gridCol w="844550">
                  <a:extLst>
                    <a:ext uri="{9D8B030D-6E8A-4147-A177-3AD203B41FA5}">
                      <a16:colId xmlns:a16="http://schemas.microsoft.com/office/drawing/2014/main" val="20000"/>
                    </a:ext>
                  </a:extLst>
                </a:gridCol>
                <a:gridCol w="846137">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844550">
                  <a:extLst>
                    <a:ext uri="{9D8B030D-6E8A-4147-A177-3AD203B41FA5}">
                      <a16:colId xmlns:a16="http://schemas.microsoft.com/office/drawing/2014/main" val="20003"/>
                    </a:ext>
                  </a:extLst>
                </a:gridCol>
              </a:tblGrid>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1" lang="en-US" altLang="zh-CN" sz="1100" b="0"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i</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1" lang="en-US" altLang="zh-CN" sz="1100" b="0"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i</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1" lang="en-US" altLang="zh-CN" sz="1100" b="0"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i</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25</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133</a:t>
                      </a:r>
                      <a:endParaRPr kumimoji="1" lang="zh-CN"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158</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85</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133</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159</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2</a:t>
                      </a:r>
                      <a:endParaRPr kumimoji="1" lang="zh-CN"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rgbClr val="FF0000"/>
                          </a:solidFill>
                          <a:effectLst/>
                          <a:latin typeface="Times New Roman" pitchFamily="18" charset="0"/>
                          <a:ea typeface="宋体" pitchFamily="2" charset="-122"/>
                          <a:cs typeface="Times New Roman" pitchFamily="18" charset="0"/>
                        </a:rPr>
                        <a:t>65</a:t>
                      </a:r>
                      <a:endParaRPr kumimoji="1" lang="zh-CN" altLang="zh-CN" sz="11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rgbClr val="FF0000"/>
                          </a:solidFill>
                          <a:effectLst/>
                          <a:latin typeface="Times New Roman" pitchFamily="18" charset="0"/>
                          <a:ea typeface="宋体" pitchFamily="2" charset="-122"/>
                          <a:cs typeface="Times New Roman" pitchFamily="18" charset="0"/>
                        </a:rPr>
                        <a:t>266</a:t>
                      </a:r>
                      <a:endParaRPr kumimoji="1" lang="zh-CN" altLang="zh-CN" sz="11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318</a:t>
                      </a:r>
                      <a:endParaRPr kumimoji="1" lang="zh-CN"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endParaRPr kumimoji="1" lang="zh-CN"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108</a:t>
                      </a:r>
                      <a:endParaRPr kumimoji="1" lang="zh-CN"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532</a:t>
                      </a:r>
                      <a:endParaRPr kumimoji="1" lang="zh-CN"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636</a:t>
                      </a:r>
                      <a:endParaRPr kumimoji="1" lang="zh-CN"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29</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1064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1272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27</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1064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1273</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56</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1064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1274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83</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1064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1275</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87</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2128</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2550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4256</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5100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66</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4256</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5101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8512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10202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17024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20404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68</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17024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20405</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149</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34048</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40810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89</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34049</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40810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45</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68098</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81620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153</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68098</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81621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18</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68099</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81621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9"/>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19</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177</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136198</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163242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0"/>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173</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136199</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163242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1"/>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136200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163242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2"/>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125</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136201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163242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3"/>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23</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136202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163242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4"/>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136202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163243</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5"/>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25</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39</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136202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163244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6"/>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26</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136202</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163245</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7"/>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27</a:t>
                      </a:r>
                      <a:endParaRPr kumimoji="1" lang="zh-CN"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141</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272404</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326490</a:t>
                      </a:r>
                      <a:endParaRPr kumimoji="1"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8"/>
                  </a:ext>
                </a:extLst>
              </a:tr>
              <a:tr h="183621">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28</a:t>
                      </a:r>
                      <a:endParaRPr kumimoji="1" lang="zh-CN"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65</a:t>
                      </a:r>
                      <a:endParaRPr kumimoji="1" lang="zh-CN"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272405</a:t>
                      </a:r>
                      <a:endParaRPr kumimoji="1" lang="zh-CN"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
                          <a:schemeClr val="accent2"/>
                        </a:buClr>
                        <a:buSzPct val="55000"/>
                        <a:buFontTx/>
                        <a:buNone/>
                        <a:tabLst/>
                      </a:pPr>
                      <a:r>
                        <a:rPr kumimoji="1" lang="en-US"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326490</a:t>
                      </a:r>
                      <a:endParaRPr kumimoji="1" lang="zh-CN" altLang="zh-CN" sz="11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txBody>
                  <a:tcPr marL="58057" marR="5805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9"/>
                  </a:ext>
                </a:extLst>
              </a:tr>
            </a:tbl>
          </a:graphicData>
        </a:graphic>
      </p:graphicFrame>
    </p:spTree>
    <p:extLst>
      <p:ext uri="{BB962C8B-B14F-4D97-AF65-F5344CB8AC3E}">
        <p14:creationId xmlns:p14="http://schemas.microsoft.com/office/powerpoint/2010/main" val="37233429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154DB-93B2-231F-29AB-4A93EC0C8E3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CA5E181-FBB5-C357-B8F9-9705E6B415C8}"/>
              </a:ext>
            </a:extLst>
          </p:cNvPr>
          <p:cNvSpPr>
            <a:spLocks noGrp="1"/>
          </p:cNvSpPr>
          <p:nvPr>
            <p:ph type="title"/>
          </p:nvPr>
        </p:nvSpPr>
        <p:spPr/>
        <p:txBody>
          <a:bodyPr>
            <a:normAutofit/>
          </a:bodyPr>
          <a:lstStyle/>
          <a:p>
            <a:r>
              <a:rPr lang="en-US" altLang="zh-CN" dirty="0"/>
              <a:t>5.2.5 </a:t>
            </a:r>
            <a:r>
              <a:rPr lang="zh-CN" altLang="en-US" dirty="0"/>
              <a:t>椭圆曲线公钥密码</a:t>
            </a:r>
            <a:r>
              <a:rPr lang="en-US" altLang="zh-CN" dirty="0"/>
              <a:t>ECC</a:t>
            </a:r>
            <a:endParaRPr lang="zh-CN" altLang="en-US" dirty="0"/>
          </a:p>
        </p:txBody>
      </p:sp>
      <p:sp>
        <p:nvSpPr>
          <p:cNvPr id="4" name="灯片编号占位符 3">
            <a:extLst>
              <a:ext uri="{FF2B5EF4-FFF2-40B4-BE49-F238E27FC236}">
                <a16:creationId xmlns:a16="http://schemas.microsoft.com/office/drawing/2014/main" id="{296EBE85-A469-6607-74BA-102837E8090C}"/>
              </a:ext>
            </a:extLst>
          </p:cNvPr>
          <p:cNvSpPr>
            <a:spLocks noGrp="1"/>
          </p:cNvSpPr>
          <p:nvPr>
            <p:ph type="sldNum" sz="quarter" idx="12"/>
          </p:nvPr>
        </p:nvSpPr>
        <p:spPr/>
        <p:txBody>
          <a:bodyPr/>
          <a:lstStyle/>
          <a:p>
            <a:fld id="{8D4D1E41-7A09-AB4A-A4E1-09765ADA2698}" type="slidenum">
              <a:rPr kumimoji="1" lang="zh-CN" altLang="en-US" smtClean="0"/>
              <a:pPr/>
              <a:t>89</a:t>
            </a:fld>
            <a:endParaRPr kumimoji="1" lang="zh-CN" altLang="en-US" dirty="0"/>
          </a:p>
        </p:txBody>
      </p:sp>
      <p:sp>
        <p:nvSpPr>
          <p:cNvPr id="6" name="文本框 5">
            <a:extLst>
              <a:ext uri="{FF2B5EF4-FFF2-40B4-BE49-F238E27FC236}">
                <a16:creationId xmlns:a16="http://schemas.microsoft.com/office/drawing/2014/main" id="{1F38A41A-EB6A-374E-B47F-DD25DE9B064A}"/>
              </a:ext>
            </a:extLst>
          </p:cNvPr>
          <p:cNvSpPr txBox="1"/>
          <p:nvPr/>
        </p:nvSpPr>
        <p:spPr>
          <a:xfrm>
            <a:off x="825499" y="1675884"/>
            <a:ext cx="7122695" cy="969496"/>
          </a:xfrm>
          <a:prstGeom prst="rect">
            <a:avLst/>
          </a:prstGeom>
          <a:noFill/>
        </p:spPr>
        <p:txBody>
          <a:bodyPr wrap="square">
            <a:spAutoFit/>
          </a:bodyPr>
          <a:lstStyle/>
          <a:p>
            <a:pPr marL="228600" indent="-228600">
              <a:spcBef>
                <a:spcPts val="600"/>
              </a:spcBef>
              <a:buFont typeface="Wingdings" pitchFamily="2" charset="2"/>
              <a:buChar char="Ø"/>
            </a:pPr>
            <a:r>
              <a:rPr lang="zh-CN" altLang="en-US" sz="2800" dirty="0">
                <a:latin typeface="Microsoft YaHei" panose="020B0503020204020204" pitchFamily="34" charset="-122"/>
                <a:ea typeface="Microsoft YaHei" panose="020B0503020204020204" pitchFamily="34" charset="-122"/>
              </a:rPr>
              <a:t>离散对数问题（</a:t>
            </a:r>
            <a:r>
              <a:rPr lang="en-US" altLang="zh-CN" sz="2800" dirty="0">
                <a:latin typeface="Microsoft YaHei" panose="020B0503020204020204" pitchFamily="34" charset="-122"/>
                <a:ea typeface="Microsoft YaHei" panose="020B0503020204020204" pitchFamily="34" charset="-122"/>
              </a:rPr>
              <a:t>DLP</a:t>
            </a:r>
            <a:r>
              <a:rPr lang="zh-CN" altLang="en-US" sz="2800" dirty="0">
                <a:latin typeface="Microsoft YaHei" panose="020B0503020204020204" pitchFamily="34" charset="-122"/>
                <a:ea typeface="Microsoft YaHei" panose="020B0503020204020204" pitchFamily="34" charset="-122"/>
              </a:rPr>
              <a:t>）的攻击</a:t>
            </a:r>
            <a:endParaRPr lang="en-US" altLang="zh-CN" sz="2400" dirty="0">
              <a:latin typeface="Microsoft YaHei" panose="020B0503020204020204" pitchFamily="34" charset="-122"/>
            </a:endParaRPr>
          </a:p>
          <a:p>
            <a:pPr marL="800100" lvl="1" indent="-342900">
              <a:spcBef>
                <a:spcPts val="600"/>
              </a:spcBef>
              <a:buFont typeface="Arial" panose="020B0604020202020204" pitchFamily="34" charset="0"/>
              <a:buChar char="•"/>
            </a:pPr>
            <a:r>
              <a:rPr lang="en-US" altLang="zh-CN" sz="2400" dirty="0">
                <a:latin typeface="Microsoft YaHei" panose="020B0503020204020204" pitchFamily="34" charset="-122"/>
                <a:ea typeface="Microsoft YaHei" panose="020B0503020204020204" pitchFamily="34" charset="-122"/>
              </a:rPr>
              <a:t>Pollard-</a:t>
            </a:r>
            <a:r>
              <a:rPr lang="el-GR" altLang="zh-CN" sz="2400" dirty="0">
                <a:latin typeface="Microsoft YaHei" panose="020B0503020204020204" pitchFamily="34" charset="-122"/>
                <a:ea typeface="Microsoft YaHei" panose="020B0503020204020204" pitchFamily="34" charset="-122"/>
              </a:rPr>
              <a:t>ρ </a:t>
            </a:r>
            <a:r>
              <a:rPr lang="zh-CN" altLang="en-US" sz="2400" dirty="0">
                <a:latin typeface="Microsoft YaHei" panose="020B0503020204020204" pitchFamily="34" charset="-122"/>
                <a:ea typeface="Microsoft YaHei" panose="020B0503020204020204" pitchFamily="34" charset="-122"/>
              </a:rPr>
              <a:t>方法</a:t>
            </a:r>
            <a:endParaRPr lang="en-US" altLang="zh-CN" sz="2400" dirty="0">
              <a:latin typeface="Microsoft YaHei" panose="020B0503020204020204" pitchFamily="34" charset="-122"/>
              <a:ea typeface="Microsoft YaHei" panose="020B0503020204020204" pitchFamily="34" charset="-122"/>
            </a:endParaRPr>
          </a:p>
        </p:txBody>
      </p:sp>
      <p:sp>
        <p:nvSpPr>
          <p:cNvPr id="3" name="文本框 2">
            <a:extLst>
              <a:ext uri="{FF2B5EF4-FFF2-40B4-BE49-F238E27FC236}">
                <a16:creationId xmlns:a16="http://schemas.microsoft.com/office/drawing/2014/main" id="{86DE50C0-5A6C-23D1-BDF0-A120935801AC}"/>
              </a:ext>
            </a:extLst>
          </p:cNvPr>
          <p:cNvSpPr txBox="1"/>
          <p:nvPr/>
        </p:nvSpPr>
        <p:spPr>
          <a:xfrm>
            <a:off x="1569028" y="2671807"/>
            <a:ext cx="3325091" cy="400110"/>
          </a:xfrm>
          <a:prstGeom prst="rect">
            <a:avLst/>
          </a:prstGeom>
          <a:noFill/>
        </p:spPr>
        <p:txBody>
          <a:bodyPr wrap="square" rtlCol="0">
            <a:spAutoFit/>
          </a:bodyPr>
          <a:lstStyle/>
          <a:p>
            <a:r>
              <a:rPr lang="en-US" altLang="zh-CN" sz="2000" dirty="0"/>
              <a:t>- </a:t>
            </a:r>
            <a:r>
              <a:rPr lang="zh-CN" altLang="en-US" sz="2000" dirty="0"/>
              <a:t>碰撞为什么有用？</a:t>
            </a:r>
          </a:p>
        </p:txBody>
      </p:sp>
      <p:pic>
        <p:nvPicPr>
          <p:cNvPr id="7" name="图片 6">
            <a:extLst>
              <a:ext uri="{FF2B5EF4-FFF2-40B4-BE49-F238E27FC236}">
                <a16:creationId xmlns:a16="http://schemas.microsoft.com/office/drawing/2014/main" id="{A2D015B9-01FF-2864-AB13-3940C93A552E}"/>
              </a:ext>
            </a:extLst>
          </p:cNvPr>
          <p:cNvPicPr>
            <a:picLocks noChangeAspect="1"/>
          </p:cNvPicPr>
          <p:nvPr/>
        </p:nvPicPr>
        <p:blipFill>
          <a:blip r:embed="rId2"/>
          <a:stretch>
            <a:fillRect/>
          </a:stretch>
        </p:blipFill>
        <p:spPr>
          <a:xfrm>
            <a:off x="4270661" y="2671807"/>
            <a:ext cx="2514603" cy="369332"/>
          </a:xfrm>
          <a:prstGeom prst="rect">
            <a:avLst/>
          </a:prstGeom>
        </p:spPr>
      </p:pic>
      <p:pic>
        <p:nvPicPr>
          <p:cNvPr id="9" name="图片 8">
            <a:extLst>
              <a:ext uri="{FF2B5EF4-FFF2-40B4-BE49-F238E27FC236}">
                <a16:creationId xmlns:a16="http://schemas.microsoft.com/office/drawing/2014/main" id="{F14C00DB-FD31-95BA-14F3-2C0A565F95CB}"/>
              </a:ext>
            </a:extLst>
          </p:cNvPr>
          <p:cNvPicPr>
            <a:picLocks noChangeAspect="1"/>
          </p:cNvPicPr>
          <p:nvPr/>
        </p:nvPicPr>
        <p:blipFill>
          <a:blip r:embed="rId3"/>
          <a:stretch>
            <a:fillRect/>
          </a:stretch>
        </p:blipFill>
        <p:spPr>
          <a:xfrm>
            <a:off x="7039756" y="2302475"/>
            <a:ext cx="1816876" cy="369332"/>
          </a:xfrm>
          <a:prstGeom prst="rect">
            <a:avLst/>
          </a:prstGeom>
        </p:spPr>
      </p:pic>
      <p:pic>
        <p:nvPicPr>
          <p:cNvPr id="12" name="图片 11">
            <a:extLst>
              <a:ext uri="{FF2B5EF4-FFF2-40B4-BE49-F238E27FC236}">
                <a16:creationId xmlns:a16="http://schemas.microsoft.com/office/drawing/2014/main" id="{202A9344-6D30-7577-4057-75B346D982E4}"/>
              </a:ext>
            </a:extLst>
          </p:cNvPr>
          <p:cNvPicPr>
            <a:picLocks noChangeAspect="1"/>
          </p:cNvPicPr>
          <p:nvPr/>
        </p:nvPicPr>
        <p:blipFill>
          <a:blip r:embed="rId4"/>
          <a:stretch>
            <a:fillRect/>
          </a:stretch>
        </p:blipFill>
        <p:spPr>
          <a:xfrm>
            <a:off x="8920585" y="2645380"/>
            <a:ext cx="2346491" cy="393707"/>
          </a:xfrm>
          <a:prstGeom prst="rect">
            <a:avLst/>
          </a:prstGeom>
        </p:spPr>
      </p:pic>
      <p:pic>
        <p:nvPicPr>
          <p:cNvPr id="15" name="图片 14">
            <a:extLst>
              <a:ext uri="{FF2B5EF4-FFF2-40B4-BE49-F238E27FC236}">
                <a16:creationId xmlns:a16="http://schemas.microsoft.com/office/drawing/2014/main" id="{4983FC30-6434-6ED3-1185-10FADBD30287}"/>
              </a:ext>
            </a:extLst>
          </p:cNvPr>
          <p:cNvPicPr>
            <a:picLocks noChangeAspect="1"/>
          </p:cNvPicPr>
          <p:nvPr/>
        </p:nvPicPr>
        <p:blipFill>
          <a:blip r:embed="rId5"/>
          <a:stretch>
            <a:fillRect/>
          </a:stretch>
        </p:blipFill>
        <p:spPr>
          <a:xfrm>
            <a:off x="7597909" y="3556654"/>
            <a:ext cx="4293630" cy="393706"/>
          </a:xfrm>
          <a:prstGeom prst="rect">
            <a:avLst/>
          </a:prstGeom>
        </p:spPr>
      </p:pic>
      <p:sp>
        <p:nvSpPr>
          <p:cNvPr id="20" name="文本框 19">
            <a:extLst>
              <a:ext uri="{FF2B5EF4-FFF2-40B4-BE49-F238E27FC236}">
                <a16:creationId xmlns:a16="http://schemas.microsoft.com/office/drawing/2014/main" id="{E52142A7-214D-B011-EB22-1CECF12411C2}"/>
              </a:ext>
            </a:extLst>
          </p:cNvPr>
          <p:cNvSpPr txBox="1"/>
          <p:nvPr/>
        </p:nvSpPr>
        <p:spPr>
          <a:xfrm>
            <a:off x="940294" y="3262701"/>
            <a:ext cx="6099462" cy="369332"/>
          </a:xfrm>
          <a:prstGeom prst="rect">
            <a:avLst/>
          </a:prstGeom>
          <a:noFill/>
        </p:spPr>
        <p:txBody>
          <a:bodyPr wrap="square">
            <a:spAutoFit/>
          </a:bodyPr>
          <a:lstStyle/>
          <a:p>
            <a:r>
              <a:rPr lang="en-US" altLang="zh-CN" dirty="0"/>
              <a:t>Step 4</a:t>
            </a:r>
            <a:r>
              <a:rPr lang="zh-CN" altLang="en-US" dirty="0"/>
              <a:t>：解方程</a:t>
            </a:r>
          </a:p>
        </p:txBody>
      </p:sp>
      <p:pic>
        <p:nvPicPr>
          <p:cNvPr id="23" name="图片 22">
            <a:extLst>
              <a:ext uri="{FF2B5EF4-FFF2-40B4-BE49-F238E27FC236}">
                <a16:creationId xmlns:a16="http://schemas.microsoft.com/office/drawing/2014/main" id="{1C40C859-3ACB-80EE-382C-B2D79C46C584}"/>
              </a:ext>
            </a:extLst>
          </p:cNvPr>
          <p:cNvPicPr>
            <a:picLocks noChangeAspect="1"/>
          </p:cNvPicPr>
          <p:nvPr/>
        </p:nvPicPr>
        <p:blipFill>
          <a:blip r:embed="rId6"/>
          <a:stretch>
            <a:fillRect/>
          </a:stretch>
        </p:blipFill>
        <p:spPr>
          <a:xfrm>
            <a:off x="2240763" y="3642454"/>
            <a:ext cx="3177151" cy="448709"/>
          </a:xfrm>
          <a:prstGeom prst="rect">
            <a:avLst/>
          </a:prstGeom>
        </p:spPr>
      </p:pic>
      <p:cxnSp>
        <p:nvCxnSpPr>
          <p:cNvPr id="29" name="直接箭头连接符 28">
            <a:extLst>
              <a:ext uri="{FF2B5EF4-FFF2-40B4-BE49-F238E27FC236}">
                <a16:creationId xmlns:a16="http://schemas.microsoft.com/office/drawing/2014/main" id="{2F6C1F62-A393-62EB-2594-FDD6F74F30F4}"/>
              </a:ext>
            </a:extLst>
          </p:cNvPr>
          <p:cNvCxnSpPr>
            <a:stCxn id="7" idx="3"/>
            <a:endCxn id="12" idx="1"/>
          </p:cNvCxnSpPr>
          <p:nvPr/>
        </p:nvCxnSpPr>
        <p:spPr>
          <a:xfrm flipV="1">
            <a:off x="6785264" y="2842234"/>
            <a:ext cx="2135321" cy="142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5C44FFB8-468E-B412-06DA-0F65D0068DA2}"/>
              </a:ext>
            </a:extLst>
          </p:cNvPr>
          <p:cNvCxnSpPr>
            <a:cxnSpLocks/>
          </p:cNvCxnSpPr>
          <p:nvPr/>
        </p:nvCxnSpPr>
        <p:spPr>
          <a:xfrm>
            <a:off x="9951028" y="3071917"/>
            <a:ext cx="0" cy="4201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075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5.2.6 </a:t>
            </a:r>
            <a:r>
              <a:rPr kumimoji="1" lang="en-US" altLang="zh-CN" dirty="0">
                <a:solidFill>
                  <a:prstClr val="black"/>
                </a:solidFill>
              </a:rPr>
              <a:t>Diffie-Hellman</a:t>
            </a:r>
            <a:r>
              <a:rPr kumimoji="1" lang="zh-CN" altLang="zh-CN" dirty="0">
                <a:solidFill>
                  <a:prstClr val="black"/>
                </a:solidFill>
              </a:rPr>
              <a:t>密钥交换</a:t>
            </a:r>
            <a:endParaRPr lang="zh-CN" altLang="en-US" dirty="0"/>
          </a:p>
        </p:txBody>
      </p:sp>
      <p:sp>
        <p:nvSpPr>
          <p:cNvPr id="3" name="内容占位符 2"/>
          <p:cNvSpPr>
            <a:spLocks noGrp="1"/>
          </p:cNvSpPr>
          <p:nvPr>
            <p:ph idx="1"/>
          </p:nvPr>
        </p:nvSpPr>
        <p:spPr/>
        <p:txBody>
          <a:bodyPr>
            <a:normAutofit fontScale="77500" lnSpcReduction="20000"/>
          </a:bodyPr>
          <a:lstStyle/>
          <a:p>
            <a:pPr>
              <a:lnSpc>
                <a:spcPct val="140000"/>
              </a:lnSpc>
            </a:pPr>
            <a:r>
              <a:rPr lang="zh-CN" altLang="en-US" dirty="0"/>
              <a:t>用于分配密钥，但不能用于加密和解密</a:t>
            </a:r>
          </a:p>
          <a:p>
            <a:pPr>
              <a:lnSpc>
                <a:spcPct val="140000"/>
              </a:lnSpc>
            </a:pPr>
            <a:r>
              <a:rPr lang="zh-CN" altLang="en-US" dirty="0"/>
              <a:t>甲乙约定一个大素数</a:t>
            </a:r>
            <a:r>
              <a:rPr lang="en-US" altLang="zh-CN" dirty="0"/>
              <a:t>n</a:t>
            </a:r>
            <a:r>
              <a:rPr lang="zh-CN" altLang="en-US" dirty="0"/>
              <a:t>和一个数</a:t>
            </a:r>
            <a:r>
              <a:rPr lang="en-US" altLang="zh-CN" dirty="0"/>
              <a:t>g</a:t>
            </a:r>
            <a:r>
              <a:rPr lang="zh-CN" altLang="en-US" dirty="0"/>
              <a:t>，</a:t>
            </a:r>
            <a:r>
              <a:rPr lang="en-US" altLang="zh-CN" dirty="0"/>
              <a:t>g</a:t>
            </a:r>
            <a:r>
              <a:rPr lang="zh-CN" altLang="en-US" dirty="0"/>
              <a:t>为模</a:t>
            </a:r>
            <a:r>
              <a:rPr lang="en-US" altLang="zh-CN" dirty="0"/>
              <a:t>n</a:t>
            </a:r>
            <a:r>
              <a:rPr lang="zh-CN" altLang="en-US" dirty="0"/>
              <a:t>的生成元。</a:t>
            </a:r>
            <a:r>
              <a:rPr lang="en-US" altLang="zh-CN" dirty="0">
                <a:solidFill>
                  <a:srgbClr val="FF0000"/>
                </a:solidFill>
              </a:rPr>
              <a:t>g</a:t>
            </a:r>
            <a:r>
              <a:rPr lang="zh-CN" altLang="en-US" dirty="0">
                <a:solidFill>
                  <a:srgbClr val="FF0000"/>
                </a:solidFill>
              </a:rPr>
              <a:t>，</a:t>
            </a:r>
            <a:r>
              <a:rPr lang="en-US" altLang="zh-CN" dirty="0">
                <a:solidFill>
                  <a:srgbClr val="FF0000"/>
                </a:solidFill>
              </a:rPr>
              <a:t>n</a:t>
            </a:r>
            <a:r>
              <a:rPr lang="zh-CN" altLang="en-US" dirty="0">
                <a:solidFill>
                  <a:srgbClr val="FF0000"/>
                </a:solidFill>
              </a:rPr>
              <a:t>公开</a:t>
            </a:r>
            <a:r>
              <a:rPr lang="zh-CN" altLang="en-US" dirty="0"/>
              <a:t>，可以共享。</a:t>
            </a:r>
          </a:p>
          <a:p>
            <a:pPr>
              <a:lnSpc>
                <a:spcPct val="140000"/>
              </a:lnSpc>
            </a:pPr>
            <a:r>
              <a:rPr lang="zh-CN" altLang="en-US" dirty="0"/>
              <a:t>协议：</a:t>
            </a:r>
          </a:p>
          <a:p>
            <a:pPr lvl="1">
              <a:lnSpc>
                <a:spcPct val="140000"/>
              </a:lnSpc>
            </a:pPr>
            <a:r>
              <a:rPr lang="en-US" altLang="zh-CN" sz="2800" dirty="0"/>
              <a:t>1)</a:t>
            </a:r>
            <a:r>
              <a:rPr lang="zh-CN" altLang="en-US" sz="2800" dirty="0"/>
              <a:t>甲选择一个随机大整数</a:t>
            </a:r>
            <a:r>
              <a:rPr lang="en-US" altLang="zh-CN" sz="2800" dirty="0">
                <a:solidFill>
                  <a:srgbClr val="FF0000"/>
                </a:solidFill>
              </a:rPr>
              <a:t>x</a:t>
            </a:r>
            <a:r>
              <a:rPr lang="zh-CN" altLang="en-US" sz="2800" dirty="0">
                <a:solidFill>
                  <a:srgbClr val="FF0000"/>
                </a:solidFill>
              </a:rPr>
              <a:t>（私钥）</a:t>
            </a:r>
            <a:r>
              <a:rPr lang="zh-CN" altLang="en-US" sz="2800" dirty="0"/>
              <a:t>，并向乙发送：</a:t>
            </a:r>
            <a:r>
              <a:rPr lang="en-US" altLang="zh-CN" sz="2800" dirty="0"/>
              <a:t>X = g</a:t>
            </a:r>
            <a:r>
              <a:rPr lang="en-US" altLang="zh-CN" sz="2800" baseline="30000" dirty="0"/>
              <a:t>x</a:t>
            </a:r>
            <a:r>
              <a:rPr lang="en-US" altLang="zh-CN" sz="2800" dirty="0"/>
              <a:t> mod n</a:t>
            </a:r>
          </a:p>
          <a:p>
            <a:pPr lvl="1">
              <a:lnSpc>
                <a:spcPct val="140000"/>
              </a:lnSpc>
            </a:pPr>
            <a:r>
              <a:rPr lang="en-US" altLang="zh-CN" sz="2800" dirty="0"/>
              <a:t>2)</a:t>
            </a:r>
            <a:r>
              <a:rPr lang="zh-CN" altLang="en-US" sz="2800" dirty="0"/>
              <a:t>乙选择一个随机大整数</a:t>
            </a:r>
            <a:r>
              <a:rPr lang="en-US" altLang="zh-CN" sz="2800" dirty="0">
                <a:solidFill>
                  <a:srgbClr val="FF0000"/>
                </a:solidFill>
              </a:rPr>
              <a:t>y</a:t>
            </a:r>
            <a:r>
              <a:rPr lang="zh-CN" altLang="en-US" sz="2800" dirty="0">
                <a:solidFill>
                  <a:srgbClr val="FF0000"/>
                </a:solidFill>
              </a:rPr>
              <a:t>（私钥）</a:t>
            </a:r>
            <a:r>
              <a:rPr lang="zh-CN" altLang="en-US" sz="2800" dirty="0"/>
              <a:t>，并向甲发送：</a:t>
            </a:r>
            <a:r>
              <a:rPr lang="en-US" altLang="zh-CN" sz="2800" dirty="0"/>
              <a:t>Y = </a:t>
            </a:r>
            <a:r>
              <a:rPr lang="en-US" altLang="zh-CN" sz="2800" dirty="0" err="1"/>
              <a:t>g</a:t>
            </a:r>
            <a:r>
              <a:rPr lang="en-US" altLang="zh-CN" sz="2800" baseline="30000" dirty="0" err="1"/>
              <a:t>y</a:t>
            </a:r>
            <a:r>
              <a:rPr lang="en-US" altLang="zh-CN" sz="2800" dirty="0"/>
              <a:t> mod n</a:t>
            </a:r>
          </a:p>
          <a:p>
            <a:pPr lvl="1">
              <a:lnSpc>
                <a:spcPct val="140000"/>
              </a:lnSpc>
            </a:pPr>
            <a:r>
              <a:rPr lang="en-US" altLang="zh-CN" sz="2800" dirty="0"/>
              <a:t>3)</a:t>
            </a:r>
            <a:r>
              <a:rPr lang="zh-CN" altLang="en-US" sz="2800" dirty="0"/>
              <a:t>甲计算：</a:t>
            </a:r>
            <a:r>
              <a:rPr lang="en-US" altLang="zh-CN" sz="2800" dirty="0"/>
              <a:t>k = </a:t>
            </a:r>
            <a:r>
              <a:rPr lang="en-US" altLang="zh-CN" sz="2800" dirty="0" err="1"/>
              <a:t>Y</a:t>
            </a:r>
            <a:r>
              <a:rPr lang="en-US" altLang="zh-CN" sz="2800" baseline="30000" dirty="0" err="1"/>
              <a:t>x</a:t>
            </a:r>
            <a:r>
              <a:rPr lang="en-US" altLang="zh-CN" sz="2800" dirty="0"/>
              <a:t> mod n</a:t>
            </a:r>
          </a:p>
          <a:p>
            <a:pPr lvl="1">
              <a:lnSpc>
                <a:spcPct val="140000"/>
              </a:lnSpc>
            </a:pPr>
            <a:r>
              <a:rPr lang="en-US" altLang="zh-CN" sz="2800" dirty="0"/>
              <a:t>4)</a:t>
            </a:r>
            <a:r>
              <a:rPr lang="zh-CN" altLang="en-US" sz="2800" dirty="0"/>
              <a:t>乙计算：</a:t>
            </a:r>
            <a:r>
              <a:rPr lang="en-US" altLang="zh-CN" sz="2800" dirty="0"/>
              <a:t>k’ = </a:t>
            </a:r>
            <a:r>
              <a:rPr lang="en-US" altLang="zh-CN" sz="2800" dirty="0" err="1"/>
              <a:t>X</a:t>
            </a:r>
            <a:r>
              <a:rPr lang="en-US" altLang="zh-CN" sz="2800" baseline="30000" dirty="0" err="1"/>
              <a:t>y</a:t>
            </a:r>
            <a:r>
              <a:rPr lang="en-US" altLang="zh-CN" sz="2800" dirty="0"/>
              <a:t> mod n</a:t>
            </a:r>
          </a:p>
          <a:p>
            <a:pPr lvl="1">
              <a:lnSpc>
                <a:spcPct val="140000"/>
              </a:lnSpc>
            </a:pPr>
            <a:r>
              <a:rPr lang="en-US" altLang="zh-CN" sz="2800" dirty="0"/>
              <a:t>k = k’ = g</a:t>
            </a:r>
            <a:r>
              <a:rPr lang="en-US" altLang="zh-CN" sz="2800" baseline="30000" dirty="0"/>
              <a:t>xy</a:t>
            </a:r>
            <a:r>
              <a:rPr lang="en-US" altLang="zh-CN" sz="2800" dirty="0"/>
              <a:t> mod n</a:t>
            </a:r>
            <a:r>
              <a:rPr lang="zh-CN" altLang="en-US" sz="2800" dirty="0"/>
              <a:t>，为秘密的密钥</a:t>
            </a:r>
          </a:p>
          <a:p>
            <a:pPr marL="609600" indent="-609600">
              <a:lnSpc>
                <a:spcPct val="140000"/>
              </a:lnSpc>
            </a:pPr>
            <a:r>
              <a:rPr lang="zh-CN" altLang="en-US" dirty="0"/>
              <a:t>三方或多方的</a:t>
            </a:r>
            <a:r>
              <a:rPr lang="en-US" altLang="zh-CN" dirty="0"/>
              <a:t>Diffie-Hellman</a:t>
            </a:r>
            <a:r>
              <a:rPr lang="zh-CN" altLang="en-US" dirty="0"/>
              <a:t>体制</a:t>
            </a:r>
          </a:p>
          <a:p>
            <a:pPr lvl="1">
              <a:lnSpc>
                <a:spcPct val="150000"/>
              </a:lnSpc>
            </a:pPr>
            <a:endParaRPr lang="en-US" altLang="zh-CN" sz="2800"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90</a:t>
            </a:fld>
            <a:endParaRPr kumimoji="1" lang="zh-CN" altLang="en-US" dirty="0"/>
          </a:p>
        </p:txBody>
      </p:sp>
    </p:spTree>
    <p:extLst>
      <p:ext uri="{BB962C8B-B14F-4D97-AF65-F5344CB8AC3E}">
        <p14:creationId xmlns:p14="http://schemas.microsoft.com/office/powerpoint/2010/main" val="36371783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5.2.6 </a:t>
            </a:r>
            <a:r>
              <a:rPr kumimoji="1" lang="en-US" altLang="zh-CN" dirty="0">
                <a:solidFill>
                  <a:prstClr val="black"/>
                </a:solidFill>
              </a:rPr>
              <a:t>Diffie-Hellman</a:t>
            </a:r>
            <a:r>
              <a:rPr kumimoji="1" lang="zh-CN" altLang="zh-CN" dirty="0">
                <a:solidFill>
                  <a:prstClr val="black"/>
                </a:solidFill>
              </a:rPr>
              <a:t>密钥交换</a:t>
            </a:r>
            <a:endParaRPr lang="zh-CN" altLang="en-US" dirty="0"/>
          </a:p>
        </p:txBody>
      </p:sp>
      <p:sp>
        <p:nvSpPr>
          <p:cNvPr id="3" name="内容占位符 2"/>
          <p:cNvSpPr>
            <a:spLocks noGrp="1"/>
          </p:cNvSpPr>
          <p:nvPr>
            <p:ph idx="1"/>
          </p:nvPr>
        </p:nvSpPr>
        <p:spPr>
          <a:xfrm>
            <a:off x="838200" y="1389413"/>
            <a:ext cx="10515600" cy="4904509"/>
          </a:xfrm>
        </p:spPr>
        <p:txBody>
          <a:bodyPr>
            <a:normAutofit fontScale="92500" lnSpcReduction="20000"/>
          </a:bodyPr>
          <a:lstStyle/>
          <a:p>
            <a:r>
              <a:rPr lang="en-US" altLang="zh-CN" dirty="0"/>
              <a:t>Diffie-Hellman</a:t>
            </a:r>
            <a:r>
              <a:rPr lang="zh-CN" altLang="en-US" dirty="0"/>
              <a:t>协议攻击</a:t>
            </a:r>
            <a:endParaRPr lang="en-US" altLang="zh-CN" dirty="0"/>
          </a:p>
          <a:p>
            <a:pPr lvl="1" fontAlgn="ctr">
              <a:lnSpc>
                <a:spcPct val="150000"/>
              </a:lnSpc>
              <a:spcBef>
                <a:spcPct val="0"/>
              </a:spcBef>
              <a:buClr>
                <a:srgbClr val="000066"/>
              </a:buClr>
            </a:pPr>
            <a:r>
              <a:rPr lang="en-US" altLang="zh-CN" dirty="0">
                <a:latin typeface="宋体" panose="02010600030101010101" pitchFamily="2" charset="-122"/>
                <a:sym typeface="Symbol" panose="05050102010706020507" pitchFamily="18" charset="2"/>
              </a:rPr>
              <a:t>Diffie-Hellman</a:t>
            </a:r>
            <a:r>
              <a:rPr lang="zh-CN" altLang="en-US" dirty="0">
                <a:latin typeface="宋体" panose="02010600030101010101" pitchFamily="2" charset="-122"/>
                <a:sym typeface="Symbol" panose="05050102010706020507" pitchFamily="18" charset="2"/>
              </a:rPr>
              <a:t>密钥交换协议的中间人攻击</a:t>
            </a:r>
            <a:r>
              <a:rPr lang="en-US" altLang="zh-CN" dirty="0">
                <a:highlight>
                  <a:srgbClr val="FFFF00"/>
                </a:highlight>
              </a:rPr>
              <a:t>MITM</a:t>
            </a:r>
            <a:endParaRPr lang="zh-CN" altLang="en-US" dirty="0">
              <a:highlight>
                <a:srgbClr val="FFFF00"/>
              </a:highlight>
              <a:latin typeface="宋体" panose="02010600030101010101" pitchFamily="2" charset="-122"/>
              <a:sym typeface="Symbol" panose="05050102010706020507" pitchFamily="18" charset="2"/>
            </a:endParaRPr>
          </a:p>
          <a:p>
            <a:pPr lvl="2" fontAlgn="ctr">
              <a:lnSpc>
                <a:spcPct val="150000"/>
              </a:lnSpc>
              <a:spcBef>
                <a:spcPct val="0"/>
              </a:spcBef>
              <a:buClr>
                <a:srgbClr val="000066"/>
              </a:buClr>
              <a:buNone/>
            </a:pPr>
            <a:r>
              <a:rPr lang="zh-CN" altLang="en-US" sz="2400" dirty="0">
                <a:latin typeface="宋体" panose="02010600030101010101" pitchFamily="2" charset="-122"/>
                <a:sym typeface="Wingdings" panose="05000000000000000000" pitchFamily="2" charset="2"/>
              </a:rPr>
              <a:t></a:t>
            </a:r>
            <a:r>
              <a:rPr lang="en-US" altLang="zh-CN" sz="2400" dirty="0">
                <a:latin typeface="宋体" panose="02010600030101010101" pitchFamily="2" charset="-122"/>
                <a:sym typeface="Symbol" panose="05050102010706020507" pitchFamily="18" charset="2"/>
              </a:rPr>
              <a:t>U</a:t>
            </a:r>
            <a:r>
              <a:rPr lang="zh-CN" altLang="en-US" sz="2400" dirty="0">
                <a:latin typeface="宋体" panose="02010600030101010101" pitchFamily="2" charset="-122"/>
                <a:sym typeface="Symbol" panose="05050102010706020507" pitchFamily="18" charset="2"/>
              </a:rPr>
              <a:t>随机选择</a:t>
            </a:r>
            <a:r>
              <a:rPr lang="en-US" altLang="zh-CN" sz="2400" dirty="0" err="1">
                <a:latin typeface="宋体" panose="02010600030101010101" pitchFamily="2" charset="-122"/>
                <a:sym typeface="Symbol" panose="05050102010706020507" pitchFamily="18" charset="2"/>
              </a:rPr>
              <a:t>a</a:t>
            </a:r>
            <a:r>
              <a:rPr lang="en-US" altLang="zh-CN" sz="2400" baseline="-25000" dirty="0" err="1">
                <a:latin typeface="宋体" panose="02010600030101010101" pitchFamily="2" charset="-122"/>
                <a:sym typeface="Symbol" panose="05050102010706020507" pitchFamily="18" charset="2"/>
              </a:rPr>
              <a:t>U</a:t>
            </a:r>
            <a:r>
              <a:rPr lang="en-US" altLang="zh-CN" sz="2400" dirty="0" err="1">
                <a:latin typeface="宋体" panose="02010600030101010101" pitchFamily="2" charset="-122"/>
                <a:sym typeface="Symbol" panose="05050102010706020507" pitchFamily="18" charset="2"/>
              </a:rPr>
              <a:t></a:t>
            </a:r>
            <a:r>
              <a:rPr lang="en-US" altLang="zh-CN" sz="2400" dirty="0" err="1">
                <a:latin typeface="宋体" panose="02010600030101010101" pitchFamily="2" charset="-122"/>
              </a:rPr>
              <a:t>Z</a:t>
            </a:r>
            <a:r>
              <a:rPr lang="en-US" altLang="zh-CN" sz="2400" baseline="-25000" dirty="0" err="1">
                <a:latin typeface="宋体" panose="02010600030101010101" pitchFamily="2" charset="-122"/>
              </a:rPr>
              <a:t>p</a:t>
            </a:r>
            <a:r>
              <a:rPr lang="en-US" altLang="zh-CN" sz="2400" dirty="0">
                <a:latin typeface="宋体" panose="02010600030101010101" pitchFamily="2" charset="-122"/>
                <a:sym typeface="Symbol" panose="05050102010706020507" pitchFamily="18" charset="2"/>
              </a:rPr>
              <a:t>,</a:t>
            </a:r>
            <a:r>
              <a:rPr lang="zh-CN" altLang="en-US" sz="2400" dirty="0">
                <a:latin typeface="宋体" panose="02010600030101010101" pitchFamily="2" charset="-122"/>
                <a:sym typeface="Symbol" panose="05050102010706020507" pitchFamily="18" charset="2"/>
              </a:rPr>
              <a:t>计算</a:t>
            </a:r>
            <a:r>
              <a:rPr lang="en-US" altLang="zh-CN" sz="2400" baseline="30000" dirty="0" err="1">
                <a:latin typeface="宋体" panose="02010600030101010101" pitchFamily="2" charset="-122"/>
                <a:sym typeface="Symbol" panose="05050102010706020507" pitchFamily="18" charset="2"/>
              </a:rPr>
              <a:t>a</a:t>
            </a:r>
            <a:r>
              <a:rPr lang="en-US" altLang="zh-CN" sz="2400" baseline="20000" dirty="0" err="1">
                <a:latin typeface="宋体" panose="02010600030101010101" pitchFamily="2" charset="-122"/>
                <a:sym typeface="Symbol" panose="05050102010706020507" pitchFamily="18" charset="2"/>
              </a:rPr>
              <a:t>U</a:t>
            </a:r>
            <a:r>
              <a:rPr lang="en-US" altLang="zh-CN" sz="2400" dirty="0">
                <a:latin typeface="宋体" panose="02010600030101010101" pitchFamily="2" charset="-122"/>
                <a:sym typeface="Symbol" panose="05050102010706020507" pitchFamily="18" charset="2"/>
              </a:rPr>
              <a:t> mod p</a:t>
            </a:r>
            <a:r>
              <a:rPr lang="zh-CN" altLang="en-US" sz="2400" dirty="0">
                <a:latin typeface="宋体" panose="02010600030101010101" pitchFamily="2" charset="-122"/>
                <a:sym typeface="Symbol" panose="05050102010706020507" pitchFamily="18" charset="2"/>
              </a:rPr>
              <a:t>并发给</a:t>
            </a:r>
            <a:r>
              <a:rPr lang="en-US" altLang="zh-CN" sz="2400" dirty="0">
                <a:latin typeface="宋体" panose="02010600030101010101" pitchFamily="2" charset="-122"/>
                <a:sym typeface="Symbol" panose="05050102010706020507" pitchFamily="18" charset="2"/>
              </a:rPr>
              <a:t>V</a:t>
            </a:r>
          </a:p>
          <a:p>
            <a:pPr lvl="2" fontAlgn="ctr">
              <a:lnSpc>
                <a:spcPct val="150000"/>
              </a:lnSpc>
              <a:spcBef>
                <a:spcPct val="0"/>
              </a:spcBef>
              <a:buClr>
                <a:srgbClr val="CCFF99"/>
              </a:buClr>
              <a:buNone/>
            </a:pPr>
            <a:r>
              <a:rPr lang="en-US" altLang="zh-CN" sz="2400" dirty="0">
                <a:solidFill>
                  <a:srgbClr val="C00000"/>
                </a:solidFill>
                <a:latin typeface="宋体" panose="02010600030101010101" pitchFamily="2" charset="-122"/>
                <a:sym typeface="Wingdings" panose="05000000000000000000" pitchFamily="2" charset="2"/>
              </a:rPr>
              <a:t></a:t>
            </a:r>
            <a:r>
              <a:rPr lang="en-US" altLang="zh-CN" sz="2400" dirty="0">
                <a:solidFill>
                  <a:srgbClr val="C00000"/>
                </a:solidFill>
                <a:latin typeface="宋体" panose="02010600030101010101" pitchFamily="2" charset="-122"/>
                <a:sym typeface="Symbol" panose="05050102010706020507" pitchFamily="18" charset="2"/>
              </a:rPr>
              <a:t>W</a:t>
            </a:r>
            <a:r>
              <a:rPr lang="zh-CN" altLang="en-US" sz="2400" dirty="0">
                <a:solidFill>
                  <a:srgbClr val="C00000"/>
                </a:solidFill>
                <a:latin typeface="宋体" panose="02010600030101010101" pitchFamily="2" charset="-122"/>
                <a:sym typeface="Symbol" panose="05050102010706020507" pitchFamily="18" charset="2"/>
              </a:rPr>
              <a:t>截获</a:t>
            </a:r>
            <a:r>
              <a:rPr lang="en-US" altLang="zh-CN" sz="2400" dirty="0">
                <a:solidFill>
                  <a:srgbClr val="C00000"/>
                </a:solidFill>
                <a:latin typeface="宋体" panose="02010600030101010101" pitchFamily="2" charset="-122"/>
                <a:sym typeface="Symbol" panose="05050102010706020507" pitchFamily="18" charset="2"/>
              </a:rPr>
              <a:t>,</a:t>
            </a:r>
            <a:r>
              <a:rPr lang="zh-CN" altLang="en-US" sz="2400" dirty="0">
                <a:solidFill>
                  <a:srgbClr val="C00000"/>
                </a:solidFill>
                <a:latin typeface="宋体" panose="02010600030101010101" pitchFamily="2" charset="-122"/>
                <a:sym typeface="Symbol" panose="05050102010706020507" pitchFamily="18" charset="2"/>
              </a:rPr>
              <a:t>选择</a:t>
            </a:r>
            <a:r>
              <a:rPr lang="en-US" altLang="zh-CN" sz="2400" dirty="0">
                <a:solidFill>
                  <a:srgbClr val="C00000"/>
                </a:solidFill>
                <a:latin typeface="宋体" panose="02010600030101010101" pitchFamily="2" charset="-122"/>
                <a:sym typeface="Symbol" panose="05050102010706020507" pitchFamily="18" charset="2"/>
              </a:rPr>
              <a:t>a</a:t>
            </a:r>
            <a:r>
              <a:rPr lang="en-US" altLang="zh-CN" sz="2400" baseline="-25000" dirty="0">
                <a:solidFill>
                  <a:srgbClr val="C00000"/>
                </a:solidFill>
                <a:latin typeface="宋体" panose="02010600030101010101" pitchFamily="2" charset="-122"/>
                <a:sym typeface="Symbol" panose="05050102010706020507" pitchFamily="18" charset="2"/>
              </a:rPr>
              <a:t>1</a:t>
            </a:r>
            <a:r>
              <a:rPr lang="en-US" altLang="zh-CN" sz="2400" dirty="0">
                <a:solidFill>
                  <a:srgbClr val="C00000"/>
                </a:solidFill>
                <a:latin typeface="宋体" panose="02010600030101010101" pitchFamily="2" charset="-122"/>
                <a:sym typeface="Symbol" panose="05050102010706020507" pitchFamily="18" charset="2"/>
              </a:rPr>
              <a:t></a:t>
            </a:r>
            <a:r>
              <a:rPr lang="en-US" altLang="zh-CN" sz="2400" dirty="0">
                <a:solidFill>
                  <a:srgbClr val="C00000"/>
                </a:solidFill>
                <a:latin typeface="宋体" panose="02010600030101010101" pitchFamily="2" charset="-122"/>
              </a:rPr>
              <a:t>Z</a:t>
            </a:r>
            <a:r>
              <a:rPr lang="en-US" altLang="zh-CN" sz="2400" baseline="-25000" dirty="0">
                <a:solidFill>
                  <a:srgbClr val="C00000"/>
                </a:solidFill>
                <a:latin typeface="宋体" panose="02010600030101010101" pitchFamily="2" charset="-122"/>
              </a:rPr>
              <a:t>p</a:t>
            </a:r>
            <a:r>
              <a:rPr lang="en-US" altLang="zh-CN" sz="2400" dirty="0">
                <a:solidFill>
                  <a:srgbClr val="C00000"/>
                </a:solidFill>
                <a:latin typeface="宋体" panose="02010600030101010101" pitchFamily="2" charset="-122"/>
                <a:sym typeface="Symbol" panose="05050102010706020507" pitchFamily="18" charset="2"/>
              </a:rPr>
              <a:t>,</a:t>
            </a:r>
            <a:r>
              <a:rPr lang="zh-CN" altLang="en-US" sz="2400" dirty="0">
                <a:solidFill>
                  <a:srgbClr val="C00000"/>
                </a:solidFill>
                <a:latin typeface="宋体" panose="02010600030101010101" pitchFamily="2" charset="-122"/>
                <a:sym typeface="Symbol" panose="05050102010706020507" pitchFamily="18" charset="2"/>
              </a:rPr>
              <a:t>计算</a:t>
            </a:r>
            <a:r>
              <a:rPr lang="en-US" altLang="zh-CN" sz="2400" baseline="30000" dirty="0">
                <a:solidFill>
                  <a:srgbClr val="C00000"/>
                </a:solidFill>
                <a:latin typeface="宋体" panose="02010600030101010101" pitchFamily="2" charset="-122"/>
                <a:sym typeface="Symbol" panose="05050102010706020507" pitchFamily="18" charset="2"/>
              </a:rPr>
              <a:t>a</a:t>
            </a:r>
            <a:r>
              <a:rPr lang="en-US" altLang="zh-CN" sz="2400" baseline="20000" dirty="0">
                <a:solidFill>
                  <a:srgbClr val="C00000"/>
                </a:solidFill>
                <a:latin typeface="宋体" panose="02010600030101010101" pitchFamily="2" charset="-122"/>
                <a:sym typeface="Symbol" panose="05050102010706020507" pitchFamily="18" charset="2"/>
              </a:rPr>
              <a:t>1</a:t>
            </a:r>
            <a:r>
              <a:rPr lang="en-US" altLang="zh-CN" sz="2400" dirty="0">
                <a:solidFill>
                  <a:srgbClr val="C00000"/>
                </a:solidFill>
                <a:latin typeface="宋体" panose="02010600030101010101" pitchFamily="2" charset="-122"/>
                <a:sym typeface="Symbol" panose="05050102010706020507" pitchFamily="18" charset="2"/>
              </a:rPr>
              <a:t> mod p</a:t>
            </a:r>
            <a:r>
              <a:rPr lang="zh-CN" altLang="en-US" sz="2400" dirty="0">
                <a:solidFill>
                  <a:srgbClr val="C00000"/>
                </a:solidFill>
                <a:latin typeface="宋体" panose="02010600030101010101" pitchFamily="2" charset="-122"/>
                <a:sym typeface="Symbol" panose="05050102010706020507" pitchFamily="18" charset="2"/>
              </a:rPr>
              <a:t>并发给</a:t>
            </a:r>
            <a:r>
              <a:rPr lang="en-US" altLang="zh-CN" sz="2400" dirty="0">
                <a:solidFill>
                  <a:srgbClr val="C00000"/>
                </a:solidFill>
                <a:latin typeface="宋体" panose="02010600030101010101" pitchFamily="2" charset="-122"/>
                <a:sym typeface="Symbol" panose="05050102010706020507" pitchFamily="18" charset="2"/>
              </a:rPr>
              <a:t>V</a:t>
            </a:r>
            <a:endParaRPr lang="en-US" altLang="zh-CN" sz="2400" dirty="0">
              <a:solidFill>
                <a:srgbClr val="C00000"/>
              </a:solidFill>
              <a:latin typeface="宋体" panose="02010600030101010101" pitchFamily="2" charset="-122"/>
              <a:sym typeface="Wingdings" panose="05000000000000000000" pitchFamily="2" charset="2"/>
            </a:endParaRPr>
          </a:p>
          <a:p>
            <a:pPr lvl="2" fontAlgn="ctr">
              <a:lnSpc>
                <a:spcPct val="150000"/>
              </a:lnSpc>
              <a:spcBef>
                <a:spcPct val="0"/>
              </a:spcBef>
              <a:buClr>
                <a:srgbClr val="CCFF99"/>
              </a:buClr>
              <a:buNone/>
            </a:pPr>
            <a:r>
              <a:rPr lang="en-US" altLang="zh-CN" sz="2400" dirty="0">
                <a:latin typeface="宋体" panose="02010600030101010101" pitchFamily="2" charset="-122"/>
                <a:sym typeface="Wingdings" panose="05000000000000000000" pitchFamily="2" charset="2"/>
              </a:rPr>
              <a:t></a:t>
            </a:r>
            <a:r>
              <a:rPr lang="en-US" altLang="zh-CN" sz="2400" dirty="0">
                <a:latin typeface="宋体" panose="02010600030101010101" pitchFamily="2" charset="-122"/>
                <a:sym typeface="Symbol" panose="05050102010706020507" pitchFamily="18" charset="2"/>
              </a:rPr>
              <a:t>V</a:t>
            </a:r>
            <a:r>
              <a:rPr lang="zh-CN" altLang="en-US" sz="2400" dirty="0">
                <a:latin typeface="宋体" panose="02010600030101010101" pitchFamily="2" charset="-122"/>
                <a:sym typeface="Symbol" panose="05050102010706020507" pitchFamily="18" charset="2"/>
              </a:rPr>
              <a:t>随机选择</a:t>
            </a:r>
            <a:r>
              <a:rPr lang="en-US" altLang="zh-CN" sz="2400" dirty="0" err="1">
                <a:latin typeface="宋体" panose="02010600030101010101" pitchFamily="2" charset="-122"/>
                <a:sym typeface="Symbol" panose="05050102010706020507" pitchFamily="18" charset="2"/>
              </a:rPr>
              <a:t>a</a:t>
            </a:r>
            <a:r>
              <a:rPr lang="en-US" altLang="zh-CN" sz="2400" baseline="-25000" dirty="0" err="1">
                <a:latin typeface="宋体" panose="02010600030101010101" pitchFamily="2" charset="-122"/>
                <a:sym typeface="Symbol" panose="05050102010706020507" pitchFamily="18" charset="2"/>
              </a:rPr>
              <a:t>V</a:t>
            </a:r>
            <a:r>
              <a:rPr lang="en-US" altLang="zh-CN" sz="2400" dirty="0" err="1">
                <a:latin typeface="宋体" panose="02010600030101010101" pitchFamily="2" charset="-122"/>
                <a:sym typeface="Symbol" panose="05050102010706020507" pitchFamily="18" charset="2"/>
              </a:rPr>
              <a:t></a:t>
            </a:r>
            <a:r>
              <a:rPr lang="en-US" altLang="zh-CN" sz="2400" dirty="0" err="1">
                <a:latin typeface="宋体" panose="02010600030101010101" pitchFamily="2" charset="-122"/>
              </a:rPr>
              <a:t>Z</a:t>
            </a:r>
            <a:r>
              <a:rPr lang="en-US" altLang="zh-CN" sz="2400" baseline="-25000" dirty="0" err="1">
                <a:latin typeface="宋体" panose="02010600030101010101" pitchFamily="2" charset="-122"/>
              </a:rPr>
              <a:t>p</a:t>
            </a:r>
            <a:r>
              <a:rPr lang="en-US" altLang="zh-CN" sz="2400" dirty="0">
                <a:latin typeface="宋体" panose="02010600030101010101" pitchFamily="2" charset="-122"/>
                <a:sym typeface="Symbol" panose="05050102010706020507" pitchFamily="18" charset="2"/>
              </a:rPr>
              <a:t>,</a:t>
            </a:r>
            <a:r>
              <a:rPr lang="zh-CN" altLang="en-US" sz="2400" dirty="0">
                <a:latin typeface="宋体" panose="02010600030101010101" pitchFamily="2" charset="-122"/>
                <a:sym typeface="Symbol" panose="05050102010706020507" pitchFamily="18" charset="2"/>
              </a:rPr>
              <a:t>计算</a:t>
            </a:r>
            <a:r>
              <a:rPr lang="en-US" altLang="zh-CN" sz="2400" baseline="30000" dirty="0" err="1">
                <a:latin typeface="宋体" panose="02010600030101010101" pitchFamily="2" charset="-122"/>
                <a:sym typeface="Symbol" panose="05050102010706020507" pitchFamily="18" charset="2"/>
              </a:rPr>
              <a:t>a</a:t>
            </a:r>
            <a:r>
              <a:rPr lang="en-US" altLang="zh-CN" sz="2400" baseline="20000" dirty="0" err="1">
                <a:latin typeface="宋体" panose="02010600030101010101" pitchFamily="2" charset="-122"/>
                <a:sym typeface="Symbol" panose="05050102010706020507" pitchFamily="18" charset="2"/>
              </a:rPr>
              <a:t>V</a:t>
            </a:r>
            <a:r>
              <a:rPr lang="en-US" altLang="zh-CN" sz="2400" dirty="0">
                <a:latin typeface="宋体" panose="02010600030101010101" pitchFamily="2" charset="-122"/>
                <a:sym typeface="Symbol" panose="05050102010706020507" pitchFamily="18" charset="2"/>
              </a:rPr>
              <a:t> mod p</a:t>
            </a:r>
            <a:r>
              <a:rPr lang="zh-CN" altLang="en-US" sz="2400" dirty="0">
                <a:latin typeface="宋体" panose="02010600030101010101" pitchFamily="2" charset="-122"/>
                <a:sym typeface="Symbol" panose="05050102010706020507" pitchFamily="18" charset="2"/>
              </a:rPr>
              <a:t>并发给</a:t>
            </a:r>
            <a:r>
              <a:rPr lang="en-US" altLang="zh-CN" sz="2400" dirty="0">
                <a:latin typeface="宋体" panose="02010600030101010101" pitchFamily="2" charset="-122"/>
                <a:sym typeface="Symbol" panose="05050102010706020507" pitchFamily="18" charset="2"/>
              </a:rPr>
              <a:t>U</a:t>
            </a:r>
            <a:endParaRPr lang="en-US" altLang="zh-CN" sz="2400" dirty="0">
              <a:latin typeface="宋体" panose="02010600030101010101" pitchFamily="2" charset="-122"/>
              <a:sym typeface="Wingdings" panose="05000000000000000000" pitchFamily="2" charset="2"/>
            </a:endParaRPr>
          </a:p>
          <a:p>
            <a:pPr lvl="2" fontAlgn="ctr">
              <a:lnSpc>
                <a:spcPct val="150000"/>
              </a:lnSpc>
              <a:spcBef>
                <a:spcPct val="0"/>
              </a:spcBef>
              <a:buClr>
                <a:srgbClr val="CCFF99"/>
              </a:buClr>
              <a:buNone/>
            </a:pPr>
            <a:r>
              <a:rPr lang="en-US" altLang="zh-CN" sz="2400" dirty="0">
                <a:solidFill>
                  <a:srgbClr val="C00000"/>
                </a:solidFill>
                <a:latin typeface="宋体" panose="02010600030101010101" pitchFamily="2" charset="-122"/>
                <a:sym typeface="Wingdings" panose="05000000000000000000" pitchFamily="2" charset="2"/>
              </a:rPr>
              <a:t></a:t>
            </a:r>
            <a:r>
              <a:rPr lang="en-US" altLang="zh-CN" sz="2400" dirty="0">
                <a:solidFill>
                  <a:srgbClr val="C00000"/>
                </a:solidFill>
                <a:latin typeface="宋体" panose="02010600030101010101" pitchFamily="2" charset="-122"/>
                <a:sym typeface="Symbol" panose="05050102010706020507" pitchFamily="18" charset="2"/>
              </a:rPr>
              <a:t>W</a:t>
            </a:r>
            <a:r>
              <a:rPr lang="zh-CN" altLang="en-US" sz="2400" dirty="0">
                <a:solidFill>
                  <a:srgbClr val="C00000"/>
                </a:solidFill>
                <a:latin typeface="宋体" panose="02010600030101010101" pitchFamily="2" charset="-122"/>
                <a:sym typeface="Symbol" panose="05050102010706020507" pitchFamily="18" charset="2"/>
              </a:rPr>
              <a:t>截获</a:t>
            </a:r>
            <a:r>
              <a:rPr lang="en-US" altLang="zh-CN" sz="2400" dirty="0">
                <a:solidFill>
                  <a:srgbClr val="C00000"/>
                </a:solidFill>
                <a:latin typeface="宋体" panose="02010600030101010101" pitchFamily="2" charset="-122"/>
                <a:sym typeface="Symbol" panose="05050102010706020507" pitchFamily="18" charset="2"/>
              </a:rPr>
              <a:t>,</a:t>
            </a:r>
            <a:r>
              <a:rPr lang="zh-CN" altLang="en-US" sz="2400" dirty="0">
                <a:solidFill>
                  <a:srgbClr val="C00000"/>
                </a:solidFill>
                <a:latin typeface="宋体" panose="02010600030101010101" pitchFamily="2" charset="-122"/>
                <a:sym typeface="Symbol" panose="05050102010706020507" pitchFamily="18" charset="2"/>
              </a:rPr>
              <a:t>选择</a:t>
            </a:r>
            <a:r>
              <a:rPr lang="en-US" altLang="zh-CN" sz="2400" dirty="0">
                <a:solidFill>
                  <a:srgbClr val="C00000"/>
                </a:solidFill>
                <a:latin typeface="宋体" panose="02010600030101010101" pitchFamily="2" charset="-122"/>
                <a:sym typeface="Symbol" panose="05050102010706020507" pitchFamily="18" charset="2"/>
              </a:rPr>
              <a:t>a</a:t>
            </a:r>
            <a:r>
              <a:rPr lang="en-US" altLang="zh-CN" sz="2400" baseline="-25000" dirty="0">
                <a:solidFill>
                  <a:srgbClr val="C00000"/>
                </a:solidFill>
                <a:latin typeface="宋体" panose="02010600030101010101" pitchFamily="2" charset="-122"/>
                <a:sym typeface="Symbol" panose="05050102010706020507" pitchFamily="18" charset="2"/>
              </a:rPr>
              <a:t>2</a:t>
            </a:r>
            <a:r>
              <a:rPr lang="en-US" altLang="zh-CN" sz="2400" dirty="0">
                <a:solidFill>
                  <a:srgbClr val="C00000"/>
                </a:solidFill>
                <a:latin typeface="宋体" panose="02010600030101010101" pitchFamily="2" charset="-122"/>
                <a:sym typeface="Symbol" panose="05050102010706020507" pitchFamily="18" charset="2"/>
              </a:rPr>
              <a:t></a:t>
            </a:r>
            <a:r>
              <a:rPr lang="en-US" altLang="zh-CN" sz="2400" dirty="0">
                <a:solidFill>
                  <a:srgbClr val="C00000"/>
                </a:solidFill>
                <a:latin typeface="宋体" panose="02010600030101010101" pitchFamily="2" charset="-122"/>
              </a:rPr>
              <a:t>Z</a:t>
            </a:r>
            <a:r>
              <a:rPr lang="en-US" altLang="zh-CN" sz="2400" baseline="-25000" dirty="0">
                <a:solidFill>
                  <a:srgbClr val="C00000"/>
                </a:solidFill>
                <a:latin typeface="宋体" panose="02010600030101010101" pitchFamily="2" charset="-122"/>
              </a:rPr>
              <a:t>p</a:t>
            </a:r>
            <a:r>
              <a:rPr lang="en-US" altLang="zh-CN" sz="2400" dirty="0">
                <a:solidFill>
                  <a:srgbClr val="C00000"/>
                </a:solidFill>
                <a:latin typeface="宋体" panose="02010600030101010101" pitchFamily="2" charset="-122"/>
                <a:sym typeface="Symbol" panose="05050102010706020507" pitchFamily="18" charset="2"/>
              </a:rPr>
              <a:t>,</a:t>
            </a:r>
            <a:r>
              <a:rPr lang="zh-CN" altLang="en-US" sz="2400" dirty="0">
                <a:solidFill>
                  <a:srgbClr val="C00000"/>
                </a:solidFill>
                <a:latin typeface="宋体" panose="02010600030101010101" pitchFamily="2" charset="-122"/>
                <a:sym typeface="Symbol" panose="05050102010706020507" pitchFamily="18" charset="2"/>
              </a:rPr>
              <a:t>计算</a:t>
            </a:r>
            <a:r>
              <a:rPr lang="en-US" altLang="zh-CN" sz="2400" baseline="30000" dirty="0">
                <a:solidFill>
                  <a:srgbClr val="C00000"/>
                </a:solidFill>
                <a:latin typeface="宋体" panose="02010600030101010101" pitchFamily="2" charset="-122"/>
                <a:sym typeface="Symbol" panose="05050102010706020507" pitchFamily="18" charset="2"/>
              </a:rPr>
              <a:t>a</a:t>
            </a:r>
            <a:r>
              <a:rPr lang="en-US" altLang="zh-CN" sz="2400" baseline="20000" dirty="0">
                <a:solidFill>
                  <a:srgbClr val="C00000"/>
                </a:solidFill>
                <a:latin typeface="宋体" panose="02010600030101010101" pitchFamily="2" charset="-122"/>
                <a:sym typeface="Symbol" panose="05050102010706020507" pitchFamily="18" charset="2"/>
              </a:rPr>
              <a:t>2</a:t>
            </a:r>
            <a:r>
              <a:rPr lang="en-US" altLang="zh-CN" sz="2400" dirty="0">
                <a:solidFill>
                  <a:srgbClr val="C00000"/>
                </a:solidFill>
                <a:latin typeface="宋体" panose="02010600030101010101" pitchFamily="2" charset="-122"/>
                <a:sym typeface="Symbol" panose="05050102010706020507" pitchFamily="18" charset="2"/>
              </a:rPr>
              <a:t> mod p</a:t>
            </a:r>
            <a:r>
              <a:rPr lang="zh-CN" altLang="en-US" sz="2400" dirty="0">
                <a:solidFill>
                  <a:srgbClr val="C00000"/>
                </a:solidFill>
                <a:latin typeface="宋体" panose="02010600030101010101" pitchFamily="2" charset="-122"/>
                <a:sym typeface="Symbol" panose="05050102010706020507" pitchFamily="18" charset="2"/>
              </a:rPr>
              <a:t>并发给</a:t>
            </a:r>
            <a:r>
              <a:rPr lang="en-US" altLang="zh-CN" sz="2400" dirty="0">
                <a:solidFill>
                  <a:srgbClr val="C00000"/>
                </a:solidFill>
                <a:latin typeface="宋体" panose="02010600030101010101" pitchFamily="2" charset="-122"/>
                <a:sym typeface="Symbol" panose="05050102010706020507" pitchFamily="18" charset="2"/>
              </a:rPr>
              <a:t>U</a:t>
            </a:r>
            <a:endParaRPr lang="en-US" altLang="zh-CN" sz="2400" dirty="0">
              <a:solidFill>
                <a:srgbClr val="C00000"/>
              </a:solidFill>
              <a:latin typeface="宋体" panose="02010600030101010101" pitchFamily="2" charset="-122"/>
              <a:sym typeface="Wingdings" panose="05000000000000000000" pitchFamily="2" charset="2"/>
            </a:endParaRPr>
          </a:p>
          <a:p>
            <a:pPr lvl="2" fontAlgn="ctr">
              <a:lnSpc>
                <a:spcPct val="150000"/>
              </a:lnSpc>
              <a:spcBef>
                <a:spcPct val="0"/>
              </a:spcBef>
              <a:buClr>
                <a:srgbClr val="CCFF99"/>
              </a:buClr>
              <a:buNone/>
            </a:pPr>
            <a:r>
              <a:rPr lang="en-US" altLang="zh-CN" sz="2400" dirty="0">
                <a:latin typeface="宋体" panose="02010600030101010101" pitchFamily="2" charset="-122"/>
                <a:sym typeface="Wingdings" panose="05000000000000000000" pitchFamily="2" charset="2"/>
              </a:rPr>
              <a:t></a:t>
            </a:r>
            <a:r>
              <a:rPr lang="en-US" altLang="zh-CN" sz="2400" dirty="0">
                <a:latin typeface="宋体" panose="02010600030101010101" pitchFamily="2" charset="-122"/>
                <a:sym typeface="Symbol" panose="05050102010706020507" pitchFamily="18" charset="2"/>
              </a:rPr>
              <a:t>U</a:t>
            </a:r>
            <a:r>
              <a:rPr lang="zh-CN" altLang="en-US" sz="2400" dirty="0">
                <a:latin typeface="宋体" panose="02010600030101010101" pitchFamily="2" charset="-122"/>
                <a:sym typeface="Symbol" panose="05050102010706020507" pitchFamily="18" charset="2"/>
              </a:rPr>
              <a:t>计算</a:t>
            </a:r>
            <a:r>
              <a:rPr lang="en-US" altLang="zh-CN" sz="2400" dirty="0">
                <a:latin typeface="宋体" panose="02010600030101010101" pitchFamily="2" charset="-122"/>
                <a:sym typeface="Symbol" panose="05050102010706020507" pitchFamily="18" charset="2"/>
              </a:rPr>
              <a:t>(</a:t>
            </a:r>
            <a:r>
              <a:rPr lang="en-US" altLang="zh-CN" sz="2400" baseline="30000" dirty="0">
                <a:latin typeface="宋体" panose="02010600030101010101" pitchFamily="2" charset="-122"/>
                <a:sym typeface="Symbol" panose="05050102010706020507" pitchFamily="18" charset="2"/>
              </a:rPr>
              <a:t>a</a:t>
            </a:r>
            <a:r>
              <a:rPr lang="en-US" altLang="zh-CN" sz="2400" baseline="20000" dirty="0">
                <a:latin typeface="宋体" panose="02010600030101010101" pitchFamily="2" charset="-122"/>
                <a:sym typeface="Symbol" panose="05050102010706020507" pitchFamily="18" charset="2"/>
              </a:rPr>
              <a:t>1</a:t>
            </a:r>
            <a:r>
              <a:rPr lang="en-US" altLang="zh-CN" sz="2400" dirty="0">
                <a:latin typeface="宋体" panose="02010600030101010101" pitchFamily="2" charset="-122"/>
                <a:sym typeface="Symbol" panose="05050102010706020507" pitchFamily="18" charset="2"/>
              </a:rPr>
              <a:t> mod p)</a:t>
            </a:r>
            <a:r>
              <a:rPr lang="en-US" altLang="zh-CN" sz="2400" baseline="30000" dirty="0" err="1">
                <a:latin typeface="宋体" panose="02010600030101010101" pitchFamily="2" charset="-122"/>
                <a:sym typeface="Symbol" panose="05050102010706020507" pitchFamily="18" charset="2"/>
              </a:rPr>
              <a:t>a</a:t>
            </a:r>
            <a:r>
              <a:rPr lang="en-US" altLang="zh-CN" sz="2400" baseline="20000" dirty="0" err="1">
                <a:latin typeface="宋体" panose="02010600030101010101" pitchFamily="2" charset="-122"/>
                <a:sym typeface="Symbol" panose="05050102010706020507" pitchFamily="18" charset="2"/>
              </a:rPr>
              <a:t>U</a:t>
            </a:r>
            <a:r>
              <a:rPr lang="en-US" altLang="zh-CN" sz="2400" dirty="0">
                <a:latin typeface="宋体" panose="02010600030101010101" pitchFamily="2" charset="-122"/>
                <a:sym typeface="Symbol" panose="05050102010706020507" pitchFamily="18" charset="2"/>
              </a:rPr>
              <a:t> mod p = </a:t>
            </a:r>
            <a:r>
              <a:rPr lang="en-US" altLang="zh-CN" sz="2400" baseline="30000" dirty="0">
                <a:latin typeface="宋体" panose="02010600030101010101" pitchFamily="2" charset="-122"/>
                <a:sym typeface="Symbol" panose="05050102010706020507" pitchFamily="18" charset="2"/>
              </a:rPr>
              <a:t>a</a:t>
            </a:r>
            <a:r>
              <a:rPr lang="en-US" altLang="zh-CN" sz="2400" baseline="20000" dirty="0">
                <a:latin typeface="宋体" panose="02010600030101010101" pitchFamily="2" charset="-122"/>
                <a:sym typeface="Symbol" panose="05050102010706020507" pitchFamily="18" charset="2"/>
              </a:rPr>
              <a:t>U</a:t>
            </a:r>
            <a:r>
              <a:rPr lang="en-US" altLang="zh-CN" sz="2400" baseline="30000" dirty="0">
                <a:latin typeface="宋体" panose="02010600030101010101" pitchFamily="2" charset="-122"/>
                <a:sym typeface="Symbol" panose="05050102010706020507" pitchFamily="18" charset="2"/>
              </a:rPr>
              <a:t>a</a:t>
            </a:r>
            <a:r>
              <a:rPr lang="en-US" altLang="zh-CN" sz="2400" baseline="20000" dirty="0">
                <a:latin typeface="宋体" panose="02010600030101010101" pitchFamily="2" charset="-122"/>
                <a:sym typeface="Symbol" panose="05050102010706020507" pitchFamily="18" charset="2"/>
              </a:rPr>
              <a:t>1</a:t>
            </a:r>
            <a:r>
              <a:rPr lang="en-US" altLang="zh-CN" sz="2400" dirty="0">
                <a:latin typeface="宋体" panose="02010600030101010101" pitchFamily="2" charset="-122"/>
                <a:sym typeface="Symbol" panose="05050102010706020507" pitchFamily="18" charset="2"/>
              </a:rPr>
              <a:t> mod p</a:t>
            </a:r>
            <a:endParaRPr lang="en-US" altLang="zh-CN" sz="2400" dirty="0">
              <a:latin typeface="宋体" panose="02010600030101010101" pitchFamily="2" charset="-122"/>
              <a:sym typeface="Wingdings" panose="05000000000000000000" pitchFamily="2" charset="2"/>
            </a:endParaRPr>
          </a:p>
          <a:p>
            <a:pPr lvl="2" fontAlgn="ctr">
              <a:lnSpc>
                <a:spcPct val="150000"/>
              </a:lnSpc>
              <a:spcBef>
                <a:spcPct val="0"/>
              </a:spcBef>
              <a:buClr>
                <a:srgbClr val="CCFF99"/>
              </a:buClr>
              <a:buNone/>
            </a:pPr>
            <a:r>
              <a:rPr lang="en-US" altLang="zh-CN" sz="2400" dirty="0">
                <a:latin typeface="宋体" panose="02010600030101010101" pitchFamily="2" charset="-122"/>
                <a:sym typeface="Wingdings" panose="05000000000000000000" pitchFamily="2" charset="2"/>
              </a:rPr>
              <a:t></a:t>
            </a:r>
            <a:r>
              <a:rPr lang="en-US" altLang="zh-CN" sz="2400" dirty="0">
                <a:latin typeface="宋体" panose="02010600030101010101" pitchFamily="2" charset="-122"/>
                <a:sym typeface="Symbol" panose="05050102010706020507" pitchFamily="18" charset="2"/>
              </a:rPr>
              <a:t>V</a:t>
            </a:r>
            <a:r>
              <a:rPr lang="zh-CN" altLang="en-US" sz="2400" dirty="0">
                <a:latin typeface="宋体" panose="02010600030101010101" pitchFamily="2" charset="-122"/>
                <a:sym typeface="Symbol" panose="05050102010706020507" pitchFamily="18" charset="2"/>
              </a:rPr>
              <a:t>计算</a:t>
            </a:r>
            <a:r>
              <a:rPr lang="en-US" altLang="zh-CN" sz="2400" dirty="0">
                <a:latin typeface="宋体" panose="02010600030101010101" pitchFamily="2" charset="-122"/>
                <a:sym typeface="Symbol" panose="05050102010706020507" pitchFamily="18" charset="2"/>
              </a:rPr>
              <a:t>(</a:t>
            </a:r>
            <a:r>
              <a:rPr lang="en-US" altLang="zh-CN" sz="2400" baseline="30000" dirty="0">
                <a:latin typeface="宋体" panose="02010600030101010101" pitchFamily="2" charset="-122"/>
                <a:sym typeface="Symbol" panose="05050102010706020507" pitchFamily="18" charset="2"/>
              </a:rPr>
              <a:t>a</a:t>
            </a:r>
            <a:r>
              <a:rPr lang="en-US" altLang="zh-CN" sz="2400" baseline="20000" dirty="0">
                <a:latin typeface="宋体" panose="02010600030101010101" pitchFamily="2" charset="-122"/>
                <a:sym typeface="Symbol" panose="05050102010706020507" pitchFamily="18" charset="2"/>
              </a:rPr>
              <a:t>2</a:t>
            </a:r>
            <a:r>
              <a:rPr lang="en-US" altLang="zh-CN" sz="2400" dirty="0">
                <a:latin typeface="宋体" panose="02010600030101010101" pitchFamily="2" charset="-122"/>
                <a:sym typeface="Symbol" panose="05050102010706020507" pitchFamily="18" charset="2"/>
              </a:rPr>
              <a:t> mod p)</a:t>
            </a:r>
            <a:r>
              <a:rPr lang="en-US" altLang="zh-CN" sz="2400" baseline="30000" dirty="0" err="1">
                <a:latin typeface="宋体" panose="02010600030101010101" pitchFamily="2" charset="-122"/>
                <a:sym typeface="Symbol" panose="05050102010706020507" pitchFamily="18" charset="2"/>
              </a:rPr>
              <a:t>a</a:t>
            </a:r>
            <a:r>
              <a:rPr lang="en-US" altLang="zh-CN" sz="2400" baseline="20000" dirty="0" err="1">
                <a:latin typeface="宋体" panose="02010600030101010101" pitchFamily="2" charset="-122"/>
                <a:sym typeface="Symbol" panose="05050102010706020507" pitchFamily="18" charset="2"/>
              </a:rPr>
              <a:t>V</a:t>
            </a:r>
            <a:r>
              <a:rPr lang="en-US" altLang="zh-CN" sz="2400" dirty="0">
                <a:latin typeface="宋体" panose="02010600030101010101" pitchFamily="2" charset="-122"/>
                <a:sym typeface="Symbol" panose="05050102010706020507" pitchFamily="18" charset="2"/>
              </a:rPr>
              <a:t> mod p = </a:t>
            </a:r>
            <a:r>
              <a:rPr lang="en-US" altLang="zh-CN" sz="2400" baseline="30000" dirty="0">
                <a:latin typeface="宋体" panose="02010600030101010101" pitchFamily="2" charset="-122"/>
                <a:sym typeface="Symbol" panose="05050102010706020507" pitchFamily="18" charset="2"/>
              </a:rPr>
              <a:t>a</a:t>
            </a:r>
            <a:r>
              <a:rPr lang="en-US" altLang="zh-CN" sz="2400" baseline="20000" dirty="0">
                <a:latin typeface="宋体" panose="02010600030101010101" pitchFamily="2" charset="-122"/>
                <a:sym typeface="Symbol" panose="05050102010706020507" pitchFamily="18" charset="2"/>
              </a:rPr>
              <a:t>V</a:t>
            </a:r>
            <a:r>
              <a:rPr lang="en-US" altLang="zh-CN" sz="2400" baseline="30000" dirty="0">
                <a:latin typeface="宋体" panose="02010600030101010101" pitchFamily="2" charset="-122"/>
                <a:sym typeface="Symbol" panose="05050102010706020507" pitchFamily="18" charset="2"/>
              </a:rPr>
              <a:t>a</a:t>
            </a:r>
            <a:r>
              <a:rPr lang="en-US" altLang="zh-CN" sz="2400" baseline="20000" dirty="0">
                <a:latin typeface="宋体" panose="02010600030101010101" pitchFamily="2" charset="-122"/>
                <a:sym typeface="Symbol" panose="05050102010706020507" pitchFamily="18" charset="2"/>
              </a:rPr>
              <a:t>2</a:t>
            </a:r>
            <a:r>
              <a:rPr lang="en-US" altLang="zh-CN" sz="2400" dirty="0">
                <a:latin typeface="宋体" panose="02010600030101010101" pitchFamily="2" charset="-122"/>
                <a:sym typeface="Symbol" panose="05050102010706020507" pitchFamily="18" charset="2"/>
              </a:rPr>
              <a:t> mod p</a:t>
            </a:r>
            <a:endParaRPr lang="en-US" altLang="zh-CN" sz="2400" dirty="0">
              <a:latin typeface="宋体" panose="02010600030101010101" pitchFamily="2" charset="-122"/>
              <a:sym typeface="Wingdings" panose="05000000000000000000" pitchFamily="2" charset="2"/>
            </a:endParaRPr>
          </a:p>
          <a:p>
            <a:pPr lvl="2" fontAlgn="ctr">
              <a:lnSpc>
                <a:spcPct val="150000"/>
              </a:lnSpc>
              <a:spcBef>
                <a:spcPct val="0"/>
              </a:spcBef>
              <a:buClr>
                <a:srgbClr val="CCFF99"/>
              </a:buClr>
              <a:buNone/>
            </a:pPr>
            <a:r>
              <a:rPr lang="en-US" altLang="zh-CN" sz="2400" dirty="0">
                <a:solidFill>
                  <a:srgbClr val="C00000"/>
                </a:solidFill>
                <a:latin typeface="宋体" panose="02010600030101010101" pitchFamily="2" charset="-122"/>
                <a:sym typeface="Wingdings" panose="05000000000000000000" pitchFamily="2" charset="2"/>
              </a:rPr>
              <a:t></a:t>
            </a:r>
            <a:r>
              <a:rPr lang="en-US" altLang="zh-CN" sz="2400" dirty="0">
                <a:solidFill>
                  <a:srgbClr val="C00000"/>
                </a:solidFill>
                <a:latin typeface="宋体" panose="02010600030101010101" pitchFamily="2" charset="-122"/>
                <a:sym typeface="Symbol" panose="05050102010706020507" pitchFamily="18" charset="2"/>
              </a:rPr>
              <a:t>W</a:t>
            </a:r>
            <a:r>
              <a:rPr lang="zh-CN" altLang="en-US" sz="2400" dirty="0">
                <a:solidFill>
                  <a:srgbClr val="C00000"/>
                </a:solidFill>
                <a:latin typeface="宋体" panose="02010600030101010101" pitchFamily="2" charset="-122"/>
                <a:sym typeface="Symbol" panose="05050102010706020507" pitchFamily="18" charset="2"/>
              </a:rPr>
              <a:t>计算</a:t>
            </a:r>
            <a:r>
              <a:rPr lang="en-US" altLang="zh-CN" sz="2400" dirty="0">
                <a:solidFill>
                  <a:srgbClr val="C00000"/>
                </a:solidFill>
                <a:latin typeface="宋体" panose="02010600030101010101" pitchFamily="2" charset="-122"/>
                <a:sym typeface="Symbol" panose="05050102010706020507" pitchFamily="18" charset="2"/>
              </a:rPr>
              <a:t>(</a:t>
            </a:r>
            <a:r>
              <a:rPr lang="en-US" altLang="zh-CN" sz="2400" baseline="30000" dirty="0" err="1">
                <a:solidFill>
                  <a:srgbClr val="C00000"/>
                </a:solidFill>
                <a:latin typeface="宋体" panose="02010600030101010101" pitchFamily="2" charset="-122"/>
                <a:sym typeface="Symbol" panose="05050102010706020507" pitchFamily="18" charset="2"/>
              </a:rPr>
              <a:t>a</a:t>
            </a:r>
            <a:r>
              <a:rPr lang="en-US" altLang="zh-CN" sz="2400" baseline="20000" dirty="0" err="1">
                <a:solidFill>
                  <a:srgbClr val="C00000"/>
                </a:solidFill>
                <a:latin typeface="宋体" panose="02010600030101010101" pitchFamily="2" charset="-122"/>
                <a:sym typeface="Symbol" panose="05050102010706020507" pitchFamily="18" charset="2"/>
              </a:rPr>
              <a:t>U</a:t>
            </a:r>
            <a:r>
              <a:rPr lang="en-US" altLang="zh-CN" sz="2400" dirty="0">
                <a:solidFill>
                  <a:srgbClr val="C00000"/>
                </a:solidFill>
                <a:latin typeface="宋体" panose="02010600030101010101" pitchFamily="2" charset="-122"/>
                <a:sym typeface="Symbol" panose="05050102010706020507" pitchFamily="18" charset="2"/>
              </a:rPr>
              <a:t> mod p)</a:t>
            </a:r>
            <a:r>
              <a:rPr lang="en-US" altLang="zh-CN" sz="2400" baseline="30000" dirty="0">
                <a:solidFill>
                  <a:srgbClr val="C00000"/>
                </a:solidFill>
                <a:latin typeface="宋体" panose="02010600030101010101" pitchFamily="2" charset="-122"/>
                <a:sym typeface="Symbol" panose="05050102010706020507" pitchFamily="18" charset="2"/>
              </a:rPr>
              <a:t>a</a:t>
            </a:r>
            <a:r>
              <a:rPr lang="en-US" altLang="zh-CN" sz="2400" baseline="20000" dirty="0">
                <a:solidFill>
                  <a:srgbClr val="C00000"/>
                </a:solidFill>
                <a:latin typeface="宋体" panose="02010600030101010101" pitchFamily="2" charset="-122"/>
                <a:sym typeface="Symbol" panose="05050102010706020507" pitchFamily="18" charset="2"/>
              </a:rPr>
              <a:t>1</a:t>
            </a:r>
            <a:r>
              <a:rPr lang="en-US" altLang="zh-CN" sz="2400" dirty="0">
                <a:solidFill>
                  <a:srgbClr val="C00000"/>
                </a:solidFill>
                <a:latin typeface="宋体" panose="02010600030101010101" pitchFamily="2" charset="-122"/>
                <a:sym typeface="Symbol" panose="05050102010706020507" pitchFamily="18" charset="2"/>
              </a:rPr>
              <a:t> mod p = </a:t>
            </a:r>
            <a:r>
              <a:rPr lang="en-US" altLang="zh-CN" sz="2400" baseline="30000" dirty="0">
                <a:solidFill>
                  <a:srgbClr val="C00000"/>
                </a:solidFill>
                <a:latin typeface="宋体" panose="02010600030101010101" pitchFamily="2" charset="-122"/>
                <a:sym typeface="Symbol" panose="05050102010706020507" pitchFamily="18" charset="2"/>
              </a:rPr>
              <a:t>a</a:t>
            </a:r>
            <a:r>
              <a:rPr lang="en-US" altLang="zh-CN" sz="2400" baseline="20000" dirty="0">
                <a:solidFill>
                  <a:srgbClr val="C00000"/>
                </a:solidFill>
                <a:latin typeface="宋体" panose="02010600030101010101" pitchFamily="2" charset="-122"/>
                <a:sym typeface="Symbol" panose="05050102010706020507" pitchFamily="18" charset="2"/>
              </a:rPr>
              <a:t>U</a:t>
            </a:r>
            <a:r>
              <a:rPr lang="en-US" altLang="zh-CN" sz="2400" baseline="30000" dirty="0">
                <a:solidFill>
                  <a:srgbClr val="C00000"/>
                </a:solidFill>
                <a:latin typeface="宋体" panose="02010600030101010101" pitchFamily="2" charset="-122"/>
                <a:sym typeface="Symbol" panose="05050102010706020507" pitchFamily="18" charset="2"/>
              </a:rPr>
              <a:t>a</a:t>
            </a:r>
            <a:r>
              <a:rPr lang="en-US" altLang="zh-CN" sz="2400" baseline="20000" dirty="0">
                <a:solidFill>
                  <a:srgbClr val="C00000"/>
                </a:solidFill>
                <a:latin typeface="宋体" panose="02010600030101010101" pitchFamily="2" charset="-122"/>
                <a:sym typeface="Symbol" panose="05050102010706020507" pitchFamily="18" charset="2"/>
              </a:rPr>
              <a:t>1</a:t>
            </a:r>
            <a:r>
              <a:rPr lang="en-US" altLang="zh-CN" sz="2400" dirty="0">
                <a:solidFill>
                  <a:srgbClr val="C00000"/>
                </a:solidFill>
                <a:latin typeface="宋体" panose="02010600030101010101" pitchFamily="2" charset="-122"/>
                <a:sym typeface="Symbol" panose="05050102010706020507" pitchFamily="18" charset="2"/>
              </a:rPr>
              <a:t> mod p,</a:t>
            </a:r>
          </a:p>
          <a:p>
            <a:pPr lvl="2" fontAlgn="ctr">
              <a:lnSpc>
                <a:spcPct val="150000"/>
              </a:lnSpc>
              <a:spcBef>
                <a:spcPct val="0"/>
              </a:spcBef>
              <a:buClr>
                <a:srgbClr val="CCFF99"/>
              </a:buClr>
              <a:buNone/>
            </a:pPr>
            <a:r>
              <a:rPr lang="en-US" altLang="zh-CN" sz="2400" dirty="0">
                <a:solidFill>
                  <a:srgbClr val="C00000"/>
                </a:solidFill>
                <a:latin typeface="宋体" panose="02010600030101010101" pitchFamily="2" charset="-122"/>
                <a:sym typeface="Symbol" panose="05050102010706020507" pitchFamily="18" charset="2"/>
              </a:rPr>
              <a:t>	  (</a:t>
            </a:r>
            <a:r>
              <a:rPr lang="en-US" altLang="zh-CN" sz="2400" baseline="30000" dirty="0" err="1">
                <a:solidFill>
                  <a:srgbClr val="C00000"/>
                </a:solidFill>
                <a:latin typeface="宋体" panose="02010600030101010101" pitchFamily="2" charset="-122"/>
                <a:sym typeface="Symbol" panose="05050102010706020507" pitchFamily="18" charset="2"/>
              </a:rPr>
              <a:t>a</a:t>
            </a:r>
            <a:r>
              <a:rPr lang="en-US" altLang="zh-CN" sz="2400" baseline="20000" dirty="0" err="1">
                <a:solidFill>
                  <a:srgbClr val="C00000"/>
                </a:solidFill>
                <a:latin typeface="宋体" panose="02010600030101010101" pitchFamily="2" charset="-122"/>
                <a:sym typeface="Symbol" panose="05050102010706020507" pitchFamily="18" charset="2"/>
              </a:rPr>
              <a:t>V</a:t>
            </a:r>
            <a:r>
              <a:rPr lang="en-US" altLang="zh-CN" sz="2400" dirty="0">
                <a:solidFill>
                  <a:srgbClr val="C00000"/>
                </a:solidFill>
                <a:latin typeface="宋体" panose="02010600030101010101" pitchFamily="2" charset="-122"/>
                <a:sym typeface="Symbol" panose="05050102010706020507" pitchFamily="18" charset="2"/>
              </a:rPr>
              <a:t> mod p)</a:t>
            </a:r>
            <a:r>
              <a:rPr lang="en-US" altLang="zh-CN" sz="2400" baseline="30000" dirty="0">
                <a:solidFill>
                  <a:srgbClr val="C00000"/>
                </a:solidFill>
                <a:latin typeface="宋体" panose="02010600030101010101" pitchFamily="2" charset="-122"/>
                <a:sym typeface="Symbol" panose="05050102010706020507" pitchFamily="18" charset="2"/>
              </a:rPr>
              <a:t>a</a:t>
            </a:r>
            <a:r>
              <a:rPr lang="en-US" altLang="zh-CN" sz="2400" baseline="20000" dirty="0">
                <a:solidFill>
                  <a:srgbClr val="C00000"/>
                </a:solidFill>
                <a:latin typeface="宋体" panose="02010600030101010101" pitchFamily="2" charset="-122"/>
                <a:sym typeface="Symbol" panose="05050102010706020507" pitchFamily="18" charset="2"/>
              </a:rPr>
              <a:t>2</a:t>
            </a:r>
            <a:r>
              <a:rPr lang="en-US" altLang="zh-CN" sz="2400" dirty="0">
                <a:solidFill>
                  <a:srgbClr val="C00000"/>
                </a:solidFill>
                <a:latin typeface="宋体" panose="02010600030101010101" pitchFamily="2" charset="-122"/>
                <a:sym typeface="Symbol" panose="05050102010706020507" pitchFamily="18" charset="2"/>
              </a:rPr>
              <a:t> mod p = </a:t>
            </a:r>
            <a:r>
              <a:rPr lang="en-US" altLang="zh-CN" sz="2400" baseline="30000" dirty="0">
                <a:solidFill>
                  <a:srgbClr val="C00000"/>
                </a:solidFill>
                <a:latin typeface="宋体" panose="02010600030101010101" pitchFamily="2" charset="-122"/>
                <a:sym typeface="Symbol" panose="05050102010706020507" pitchFamily="18" charset="2"/>
              </a:rPr>
              <a:t>a</a:t>
            </a:r>
            <a:r>
              <a:rPr lang="en-US" altLang="zh-CN" sz="2400" baseline="20000" dirty="0">
                <a:solidFill>
                  <a:srgbClr val="C00000"/>
                </a:solidFill>
                <a:latin typeface="宋体" panose="02010600030101010101" pitchFamily="2" charset="-122"/>
                <a:sym typeface="Symbol" panose="05050102010706020507" pitchFamily="18" charset="2"/>
              </a:rPr>
              <a:t>V</a:t>
            </a:r>
            <a:r>
              <a:rPr lang="en-US" altLang="zh-CN" sz="2400" baseline="30000" dirty="0">
                <a:solidFill>
                  <a:srgbClr val="C00000"/>
                </a:solidFill>
                <a:latin typeface="宋体" panose="02010600030101010101" pitchFamily="2" charset="-122"/>
                <a:sym typeface="Symbol" panose="05050102010706020507" pitchFamily="18" charset="2"/>
              </a:rPr>
              <a:t>a</a:t>
            </a:r>
            <a:r>
              <a:rPr lang="en-US" altLang="zh-CN" sz="2400" baseline="20000" dirty="0">
                <a:solidFill>
                  <a:srgbClr val="C00000"/>
                </a:solidFill>
                <a:latin typeface="宋体" panose="02010600030101010101" pitchFamily="2" charset="-122"/>
                <a:sym typeface="Symbol" panose="05050102010706020507" pitchFamily="18" charset="2"/>
              </a:rPr>
              <a:t>2</a:t>
            </a:r>
            <a:r>
              <a:rPr lang="en-US" altLang="zh-CN" sz="2400" dirty="0">
                <a:solidFill>
                  <a:srgbClr val="C00000"/>
                </a:solidFill>
                <a:latin typeface="宋体" panose="02010600030101010101" pitchFamily="2" charset="-122"/>
                <a:sym typeface="Symbol" panose="05050102010706020507" pitchFamily="18" charset="2"/>
              </a:rPr>
              <a:t> mod p</a:t>
            </a:r>
          </a:p>
          <a:p>
            <a:pPr lvl="1" fontAlgn="ctr">
              <a:lnSpc>
                <a:spcPct val="150000"/>
              </a:lnSpc>
              <a:spcBef>
                <a:spcPct val="0"/>
              </a:spcBef>
              <a:buClr>
                <a:srgbClr val="000066"/>
              </a:buClr>
            </a:pPr>
            <a:r>
              <a:rPr lang="zh-CN" altLang="en-US" dirty="0">
                <a:latin typeface="宋体" panose="02010600030101010101" pitchFamily="2" charset="-122"/>
                <a:sym typeface="Symbol" panose="05050102010706020507" pitchFamily="18" charset="2"/>
              </a:rPr>
              <a:t>数字签名可抵抗中间人攻击的方法</a:t>
            </a:r>
            <a:r>
              <a:rPr lang="zh-CN" altLang="en-US" dirty="0">
                <a:latin typeface="宋体" panose="02010600030101010101" pitchFamily="2" charset="-122"/>
                <a:sym typeface="Wingdings 3" panose="05040102010807070707" pitchFamily="18" charset="2"/>
              </a:rPr>
              <a:t></a:t>
            </a:r>
            <a:r>
              <a:rPr lang="zh-CN" altLang="en-US" dirty="0">
                <a:latin typeface="宋体" panose="02010600030101010101" pitchFamily="2" charset="-122"/>
                <a:sym typeface="Symbol" panose="05050102010706020507" pitchFamily="18" charset="2"/>
              </a:rPr>
              <a:t> </a:t>
            </a:r>
            <a:r>
              <a:rPr lang="en-US" altLang="zh-CN" dirty="0">
                <a:latin typeface="宋体" panose="02010600030101010101" pitchFamily="2" charset="-122"/>
                <a:sym typeface="Symbol" panose="05050102010706020507" pitchFamily="18" charset="2"/>
              </a:rPr>
              <a:t>STS</a:t>
            </a:r>
            <a:r>
              <a:rPr lang="zh-CN" altLang="en-US" dirty="0">
                <a:latin typeface="宋体" panose="02010600030101010101" pitchFamily="2" charset="-122"/>
                <a:sym typeface="Symbol" panose="05050102010706020507" pitchFamily="18" charset="2"/>
              </a:rPr>
              <a:t>协议</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91</a:t>
            </a:fld>
            <a:endParaRPr kumimoji="1" lang="zh-CN" altLang="en-US" dirty="0"/>
          </a:p>
        </p:txBody>
      </p:sp>
    </p:spTree>
    <p:extLst>
      <p:ext uri="{BB962C8B-B14F-4D97-AF65-F5344CB8AC3E}">
        <p14:creationId xmlns:p14="http://schemas.microsoft.com/office/powerpoint/2010/main" val="48979768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5.2.6 </a:t>
            </a:r>
            <a:r>
              <a:rPr kumimoji="1" lang="en-US" altLang="zh-CN" dirty="0">
                <a:solidFill>
                  <a:prstClr val="black"/>
                </a:solidFill>
              </a:rPr>
              <a:t>Diffie-Hellman</a:t>
            </a:r>
            <a:r>
              <a:rPr kumimoji="1" lang="zh-CN" altLang="zh-CN" dirty="0">
                <a:solidFill>
                  <a:prstClr val="black"/>
                </a:solidFill>
              </a:rPr>
              <a:t>密钥交换</a:t>
            </a:r>
            <a:endParaRPr lang="zh-CN" altLang="en-US" dirty="0"/>
          </a:p>
        </p:txBody>
      </p:sp>
      <p:sp>
        <p:nvSpPr>
          <p:cNvPr id="3" name="内容占位符 2"/>
          <p:cNvSpPr>
            <a:spLocks noGrp="1"/>
          </p:cNvSpPr>
          <p:nvPr>
            <p:ph idx="1"/>
          </p:nvPr>
        </p:nvSpPr>
        <p:spPr>
          <a:xfrm>
            <a:off x="838200" y="1389413"/>
            <a:ext cx="10515600" cy="4904509"/>
          </a:xfrm>
        </p:spPr>
        <p:txBody>
          <a:bodyPr>
            <a:normAutofit/>
          </a:bodyPr>
          <a:lstStyle/>
          <a:p>
            <a:r>
              <a:rPr lang="zh-CN" altLang="en-US" dirty="0"/>
              <a:t>中间攻击基本模式</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92</a:t>
            </a:fld>
            <a:endParaRPr kumimoji="1" lang="zh-CN" altLang="en-US" dirty="0"/>
          </a:p>
        </p:txBody>
      </p:sp>
      <p:grpSp>
        <p:nvGrpSpPr>
          <p:cNvPr id="6" name="组合 5"/>
          <p:cNvGrpSpPr/>
          <p:nvPr/>
        </p:nvGrpSpPr>
        <p:grpSpPr>
          <a:xfrm>
            <a:off x="2691740" y="2119313"/>
            <a:ext cx="6553200" cy="2362200"/>
            <a:chOff x="1219200" y="2057400"/>
            <a:chExt cx="6553200" cy="2362200"/>
          </a:xfrm>
        </p:grpSpPr>
        <p:sp>
          <p:nvSpPr>
            <p:cNvPr id="7" name="Text Box 4"/>
            <p:cNvSpPr txBox="1">
              <a:spLocks noChangeArrowheads="1"/>
            </p:cNvSpPr>
            <p:nvPr/>
          </p:nvSpPr>
          <p:spPr bwMode="auto">
            <a:xfrm>
              <a:off x="1219200" y="33528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U</a:t>
              </a:r>
            </a:p>
          </p:txBody>
        </p:sp>
        <p:sp>
          <p:nvSpPr>
            <p:cNvPr id="8" name="Text Box 5"/>
            <p:cNvSpPr txBox="1">
              <a:spLocks noChangeArrowheads="1"/>
            </p:cNvSpPr>
            <p:nvPr/>
          </p:nvSpPr>
          <p:spPr bwMode="auto">
            <a:xfrm>
              <a:off x="7162800" y="3352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V</a:t>
              </a:r>
            </a:p>
          </p:txBody>
        </p:sp>
        <p:sp>
          <p:nvSpPr>
            <p:cNvPr id="9" name="Line 6"/>
            <p:cNvSpPr>
              <a:spLocks noChangeShapeType="1"/>
            </p:cNvSpPr>
            <p:nvPr/>
          </p:nvSpPr>
          <p:spPr bwMode="auto">
            <a:xfrm>
              <a:off x="1905000" y="2971800"/>
              <a:ext cx="1752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7"/>
            <p:cNvSpPr>
              <a:spLocks noChangeShapeType="1"/>
            </p:cNvSpPr>
            <p:nvPr/>
          </p:nvSpPr>
          <p:spPr bwMode="auto">
            <a:xfrm flipH="1">
              <a:off x="1905000" y="4419600"/>
              <a:ext cx="1752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9"/>
            <p:cNvSpPr txBox="1">
              <a:spLocks noChangeArrowheads="1"/>
            </p:cNvSpPr>
            <p:nvPr/>
          </p:nvSpPr>
          <p:spPr bwMode="auto">
            <a:xfrm>
              <a:off x="2286000" y="2133600"/>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dirty="0">
                  <a:sym typeface="Symbol" panose="05050102010706020507" pitchFamily="18" charset="2"/>
                </a:rPr>
                <a:t></a:t>
              </a:r>
              <a:r>
                <a:rPr kumimoji="0" lang="en-US" altLang="zh-CN" sz="2800" baseline="30000" dirty="0" err="1">
                  <a:sym typeface="Symbol" panose="05050102010706020507" pitchFamily="18" charset="2"/>
                </a:rPr>
                <a:t>a</a:t>
              </a:r>
              <a:r>
                <a:rPr kumimoji="0" lang="en-US" altLang="zh-CN" sz="2800" baseline="20000" dirty="0" err="1">
                  <a:sym typeface="Symbol" panose="05050102010706020507" pitchFamily="18" charset="2"/>
                </a:rPr>
                <a:t>U</a:t>
              </a:r>
              <a:endParaRPr kumimoji="0" lang="en-US" altLang="zh-CN" sz="2800" baseline="20000" dirty="0">
                <a:sym typeface="Symbol" panose="05050102010706020507" pitchFamily="18" charset="2"/>
              </a:endParaRPr>
            </a:p>
          </p:txBody>
        </p:sp>
        <p:sp>
          <p:nvSpPr>
            <p:cNvPr id="12" name="Text Box 10"/>
            <p:cNvSpPr txBox="1">
              <a:spLocks noChangeArrowheads="1"/>
            </p:cNvSpPr>
            <p:nvPr/>
          </p:nvSpPr>
          <p:spPr bwMode="auto">
            <a:xfrm>
              <a:off x="2362200" y="3581400"/>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ym typeface="Symbol" panose="05050102010706020507" pitchFamily="18" charset="2"/>
                </a:rPr>
                <a:t></a:t>
              </a:r>
              <a:r>
                <a:rPr kumimoji="0" lang="en-US" altLang="zh-CN" sz="2800" baseline="30000">
                  <a:sym typeface="Symbol" panose="05050102010706020507" pitchFamily="18" charset="2"/>
                </a:rPr>
                <a:t>a</a:t>
              </a:r>
              <a:r>
                <a:rPr kumimoji="0" lang="en-US" altLang="zh-CN" sz="2800" baseline="20000">
                  <a:sym typeface="Symbol" panose="05050102010706020507" pitchFamily="18" charset="2"/>
                </a:rPr>
                <a:t>2</a:t>
              </a:r>
            </a:p>
          </p:txBody>
        </p:sp>
        <p:sp>
          <p:nvSpPr>
            <p:cNvPr id="13" name="Line 11"/>
            <p:cNvSpPr>
              <a:spLocks noChangeShapeType="1"/>
            </p:cNvSpPr>
            <p:nvPr/>
          </p:nvSpPr>
          <p:spPr bwMode="auto">
            <a:xfrm>
              <a:off x="4953000" y="2971800"/>
              <a:ext cx="1752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12"/>
            <p:cNvSpPr txBox="1">
              <a:spLocks noChangeArrowheads="1"/>
            </p:cNvSpPr>
            <p:nvPr/>
          </p:nvSpPr>
          <p:spPr bwMode="auto">
            <a:xfrm>
              <a:off x="3962400" y="35052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W</a:t>
              </a:r>
            </a:p>
          </p:txBody>
        </p:sp>
        <p:sp>
          <p:nvSpPr>
            <p:cNvPr id="15" name="Line 13"/>
            <p:cNvSpPr>
              <a:spLocks noChangeShapeType="1"/>
            </p:cNvSpPr>
            <p:nvPr/>
          </p:nvSpPr>
          <p:spPr bwMode="auto">
            <a:xfrm flipH="1">
              <a:off x="4953000" y="4343400"/>
              <a:ext cx="1752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14"/>
            <p:cNvSpPr txBox="1">
              <a:spLocks noChangeArrowheads="1"/>
            </p:cNvSpPr>
            <p:nvPr/>
          </p:nvSpPr>
          <p:spPr bwMode="auto">
            <a:xfrm>
              <a:off x="5334000" y="2057400"/>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ym typeface="Symbol" panose="05050102010706020507" pitchFamily="18" charset="2"/>
                </a:rPr>
                <a:t></a:t>
              </a:r>
              <a:r>
                <a:rPr kumimoji="0" lang="en-US" altLang="zh-CN" sz="2800" baseline="30000">
                  <a:sym typeface="Symbol" panose="05050102010706020507" pitchFamily="18" charset="2"/>
                </a:rPr>
                <a:t>a</a:t>
              </a:r>
              <a:r>
                <a:rPr kumimoji="0" lang="en-US" altLang="zh-CN" sz="2800" baseline="20000">
                  <a:sym typeface="Symbol" panose="05050102010706020507" pitchFamily="18" charset="2"/>
                </a:rPr>
                <a:t>1</a:t>
              </a:r>
            </a:p>
          </p:txBody>
        </p:sp>
        <p:sp>
          <p:nvSpPr>
            <p:cNvPr id="17" name="Text Box 15"/>
            <p:cNvSpPr txBox="1">
              <a:spLocks noChangeArrowheads="1"/>
            </p:cNvSpPr>
            <p:nvPr/>
          </p:nvSpPr>
          <p:spPr bwMode="auto">
            <a:xfrm>
              <a:off x="5257800" y="3581400"/>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ym typeface="Symbol" panose="05050102010706020507" pitchFamily="18" charset="2"/>
                </a:rPr>
                <a:t></a:t>
              </a:r>
              <a:r>
                <a:rPr kumimoji="0" lang="en-US" altLang="zh-CN" sz="2800" baseline="30000">
                  <a:sym typeface="Symbol" panose="05050102010706020507" pitchFamily="18" charset="2"/>
                </a:rPr>
                <a:t>aV</a:t>
              </a:r>
              <a:endParaRPr kumimoji="0" lang="en-US" altLang="zh-CN" sz="2800" baseline="20000">
                <a:sym typeface="Symbol" panose="05050102010706020507" pitchFamily="18" charset="2"/>
              </a:endParaRPr>
            </a:p>
          </p:txBody>
        </p:sp>
      </p:grpSp>
      <p:sp>
        <p:nvSpPr>
          <p:cNvPr id="5" name="文本框 4">
            <a:extLst>
              <a:ext uri="{FF2B5EF4-FFF2-40B4-BE49-F238E27FC236}">
                <a16:creationId xmlns:a16="http://schemas.microsoft.com/office/drawing/2014/main" id="{1E708B0A-6C0E-1690-4A52-9BB13F9816CF}"/>
              </a:ext>
            </a:extLst>
          </p:cNvPr>
          <p:cNvSpPr txBox="1"/>
          <p:nvPr/>
        </p:nvSpPr>
        <p:spPr>
          <a:xfrm>
            <a:off x="1797627" y="4998027"/>
            <a:ext cx="9310255" cy="1107996"/>
          </a:xfrm>
          <a:prstGeom prst="rect">
            <a:avLst/>
          </a:prstGeom>
          <a:noFill/>
        </p:spPr>
        <p:txBody>
          <a:bodyPr wrap="square" rtlCol="0">
            <a:spAutoFit/>
          </a:bodyPr>
          <a:lstStyle/>
          <a:p>
            <a:r>
              <a:rPr lang="en-US" altLang="zh-CN" sz="2400" dirty="0">
                <a:highlight>
                  <a:srgbClr val="FFFF00"/>
                </a:highlight>
              </a:rPr>
              <a:t>DH</a:t>
            </a:r>
            <a:r>
              <a:rPr lang="zh-CN" altLang="en-US" sz="2400" dirty="0">
                <a:highlight>
                  <a:srgbClr val="FFFF00"/>
                </a:highlight>
              </a:rPr>
              <a:t>协议的问题是：只做了数学上的密钥生成、</a:t>
            </a:r>
            <a:r>
              <a:rPr lang="zh-CN" altLang="en-US" sz="2400" b="1" dirty="0">
                <a:highlight>
                  <a:srgbClr val="FFFF00"/>
                </a:highlight>
              </a:rPr>
              <a:t>没有验证对方身份</a:t>
            </a:r>
            <a:endParaRPr lang="en-US" altLang="zh-CN" sz="2400" b="1" dirty="0">
              <a:highlight>
                <a:srgbClr val="FFFF00"/>
              </a:highlight>
            </a:endParaRPr>
          </a:p>
          <a:p>
            <a:r>
              <a:rPr lang="zh-CN" altLang="en-US" sz="2400" b="1" dirty="0">
                <a:highlight>
                  <a:srgbClr val="FFFF00"/>
                </a:highlight>
              </a:rPr>
              <a:t>想象</a:t>
            </a:r>
            <a:r>
              <a:rPr lang="en-US" altLang="zh-CN" sz="2400" b="1" dirty="0">
                <a:highlight>
                  <a:srgbClr val="FFFF00"/>
                </a:highlight>
              </a:rPr>
              <a:t>U</a:t>
            </a:r>
            <a:r>
              <a:rPr lang="zh-CN" altLang="en-US" sz="2400" b="1" dirty="0">
                <a:highlight>
                  <a:srgbClr val="FFFF00"/>
                </a:highlight>
              </a:rPr>
              <a:t>为用户，</a:t>
            </a:r>
            <a:r>
              <a:rPr lang="en-US" altLang="zh-CN" sz="2400" b="1" dirty="0">
                <a:highlight>
                  <a:srgbClr val="FFFF00"/>
                </a:highlight>
              </a:rPr>
              <a:t>V</a:t>
            </a:r>
            <a:r>
              <a:rPr lang="zh-CN" altLang="en-US" sz="2400" b="1" dirty="0">
                <a:highlight>
                  <a:srgbClr val="FFFF00"/>
                </a:highlight>
              </a:rPr>
              <a:t>为银行，</a:t>
            </a:r>
            <a:r>
              <a:rPr lang="en-US" altLang="zh-CN" sz="2400" b="1" dirty="0">
                <a:highlight>
                  <a:srgbClr val="FFFF00"/>
                </a:highlight>
              </a:rPr>
              <a:t>W</a:t>
            </a:r>
            <a:r>
              <a:rPr lang="zh-CN" altLang="en-US" sz="2400" b="1" dirty="0">
                <a:highlight>
                  <a:srgbClr val="FFFF00"/>
                </a:highlight>
              </a:rPr>
              <a:t>为黑客！</a:t>
            </a:r>
            <a:endParaRPr lang="zh-CN" altLang="en-US" sz="2400" dirty="0">
              <a:highlight>
                <a:srgbClr val="FFFF00"/>
              </a:highlight>
            </a:endParaRPr>
          </a:p>
          <a:p>
            <a:endParaRPr lang="zh-CN" altLang="en-US" dirty="0"/>
          </a:p>
        </p:txBody>
      </p:sp>
    </p:spTree>
    <p:extLst>
      <p:ext uri="{BB962C8B-B14F-4D97-AF65-F5344CB8AC3E}">
        <p14:creationId xmlns:p14="http://schemas.microsoft.com/office/powerpoint/2010/main" val="14304287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5.2.7 </a:t>
            </a:r>
            <a:r>
              <a:rPr kumimoji="1" lang="zh-CN" altLang="en-US" dirty="0">
                <a:solidFill>
                  <a:prstClr val="black"/>
                </a:solidFill>
              </a:rPr>
              <a:t>公开密钥密码总结</a:t>
            </a:r>
            <a:endParaRPr lang="zh-CN" altLang="en-US" dirty="0"/>
          </a:p>
        </p:txBody>
      </p:sp>
      <p:sp>
        <p:nvSpPr>
          <p:cNvPr id="3" name="内容占位符 2"/>
          <p:cNvSpPr>
            <a:spLocks noGrp="1"/>
          </p:cNvSpPr>
          <p:nvPr>
            <p:ph idx="1"/>
          </p:nvPr>
        </p:nvSpPr>
        <p:spPr/>
        <p:txBody>
          <a:bodyPr>
            <a:normAutofit/>
          </a:bodyPr>
          <a:lstStyle/>
          <a:p>
            <a:r>
              <a:rPr lang="zh-CN" altLang="en-US" dirty="0"/>
              <a:t>三类算法</a:t>
            </a:r>
            <a:r>
              <a:rPr lang="en-US" altLang="zh-CN" dirty="0"/>
              <a:t>: RSA, ElGamal, ECC</a:t>
            </a:r>
          </a:p>
          <a:p>
            <a:pPr lvl="1"/>
            <a:r>
              <a:rPr lang="en-US" altLang="zh-CN" dirty="0">
                <a:solidFill>
                  <a:srgbClr val="C00000"/>
                </a:solidFill>
              </a:rPr>
              <a:t>RSA</a:t>
            </a:r>
          </a:p>
          <a:p>
            <a:pPr lvl="2"/>
            <a:r>
              <a:rPr lang="zh-CN" altLang="en-US" sz="2400" dirty="0"/>
              <a:t>基础</a:t>
            </a:r>
            <a:r>
              <a:rPr lang="en-US" altLang="zh-CN" sz="2400" dirty="0"/>
              <a:t>: IFP(Integer Factorization Problem) </a:t>
            </a:r>
          </a:p>
          <a:p>
            <a:pPr lvl="2"/>
            <a:r>
              <a:rPr lang="zh-CN" altLang="en-US" sz="2400" dirty="0"/>
              <a:t>加</a:t>
            </a:r>
            <a:r>
              <a:rPr lang="en-US" altLang="zh-CN" sz="2400" dirty="0"/>
              <a:t>/</a:t>
            </a:r>
            <a:r>
              <a:rPr lang="zh-CN" altLang="en-US" sz="2400" dirty="0"/>
              <a:t>解密、密钥交换、数字签名</a:t>
            </a:r>
          </a:p>
          <a:p>
            <a:pPr lvl="2"/>
            <a:r>
              <a:rPr lang="zh-CN" altLang="en-US" sz="2400" dirty="0"/>
              <a:t>使用最广泛</a:t>
            </a:r>
          </a:p>
          <a:p>
            <a:pPr lvl="1"/>
            <a:r>
              <a:rPr lang="en-US" altLang="zh-CN" dirty="0">
                <a:solidFill>
                  <a:srgbClr val="C00000"/>
                </a:solidFill>
              </a:rPr>
              <a:t>ElGamal</a:t>
            </a:r>
          </a:p>
          <a:p>
            <a:pPr lvl="2"/>
            <a:r>
              <a:rPr lang="zh-CN" altLang="en-US" sz="2400" dirty="0"/>
              <a:t>基础</a:t>
            </a:r>
            <a:r>
              <a:rPr lang="en-US" altLang="zh-CN" sz="2400" dirty="0"/>
              <a:t>: DLP(Discrete Logarithm Problem)</a:t>
            </a:r>
          </a:p>
          <a:p>
            <a:pPr lvl="2"/>
            <a:r>
              <a:rPr lang="zh-CN" altLang="en-US" sz="2400" dirty="0"/>
              <a:t>加</a:t>
            </a:r>
            <a:r>
              <a:rPr lang="en-US" altLang="zh-CN" sz="2400" dirty="0"/>
              <a:t>/</a:t>
            </a:r>
            <a:r>
              <a:rPr lang="zh-CN" altLang="en-US" sz="2400" dirty="0"/>
              <a:t>解密、密钥交换、数字签名</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93</a:t>
            </a:fld>
            <a:endParaRPr kumimoji="1" lang="zh-CN" altLang="en-US" dirty="0"/>
          </a:p>
        </p:txBody>
      </p:sp>
    </p:spTree>
    <p:extLst>
      <p:ext uri="{BB962C8B-B14F-4D97-AF65-F5344CB8AC3E}">
        <p14:creationId xmlns:p14="http://schemas.microsoft.com/office/powerpoint/2010/main" val="33615213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5.2.7 </a:t>
            </a:r>
            <a:r>
              <a:rPr kumimoji="1" lang="zh-CN" altLang="en-US" dirty="0">
                <a:solidFill>
                  <a:prstClr val="black"/>
                </a:solidFill>
              </a:rPr>
              <a:t>公开密钥密码总结</a:t>
            </a:r>
            <a:endParaRPr lang="zh-CN" altLang="en-US" dirty="0"/>
          </a:p>
        </p:txBody>
      </p:sp>
      <p:sp>
        <p:nvSpPr>
          <p:cNvPr id="3" name="内容占位符 2"/>
          <p:cNvSpPr>
            <a:spLocks noGrp="1"/>
          </p:cNvSpPr>
          <p:nvPr>
            <p:ph idx="1"/>
          </p:nvPr>
        </p:nvSpPr>
        <p:spPr>
          <a:xfrm>
            <a:off x="838200" y="1510758"/>
            <a:ext cx="10515600" cy="4818790"/>
          </a:xfrm>
        </p:spPr>
        <p:txBody>
          <a:bodyPr>
            <a:normAutofit/>
          </a:bodyPr>
          <a:lstStyle/>
          <a:p>
            <a:pPr lvl="1"/>
            <a:r>
              <a:rPr lang="en-US" altLang="zh-CN" dirty="0">
                <a:solidFill>
                  <a:srgbClr val="C00000"/>
                </a:solidFill>
              </a:rPr>
              <a:t>ECC</a:t>
            </a:r>
          </a:p>
          <a:p>
            <a:pPr lvl="2"/>
            <a:r>
              <a:rPr lang="zh-CN" altLang="en-US" sz="2400" dirty="0"/>
              <a:t>基础</a:t>
            </a:r>
            <a:r>
              <a:rPr lang="en-US" altLang="zh-CN" sz="2400" dirty="0"/>
              <a:t>: ECDLP(Elliptic Curve Discrete Logarithm Problem)</a:t>
            </a:r>
          </a:p>
          <a:p>
            <a:pPr lvl="2"/>
            <a:r>
              <a:rPr lang="zh-CN" altLang="en-US" sz="2400" dirty="0"/>
              <a:t>加</a:t>
            </a:r>
            <a:r>
              <a:rPr lang="en-US" altLang="zh-CN" sz="2400" dirty="0"/>
              <a:t>/</a:t>
            </a:r>
            <a:r>
              <a:rPr lang="zh-CN" altLang="en-US" sz="2400" dirty="0"/>
              <a:t>解密、密钥交换、数字签名</a:t>
            </a:r>
          </a:p>
          <a:p>
            <a:pPr lvl="2"/>
            <a:r>
              <a:rPr lang="zh-CN" altLang="en-US" sz="2400" dirty="0"/>
              <a:t>密钥短</a:t>
            </a:r>
            <a:r>
              <a:rPr lang="en-US" altLang="zh-CN" sz="2400" dirty="0"/>
              <a:t>,</a:t>
            </a:r>
            <a:r>
              <a:rPr lang="zh-CN" altLang="en-US" sz="2400" dirty="0"/>
              <a:t>速度快</a:t>
            </a:r>
          </a:p>
          <a:p>
            <a:pPr lvl="2"/>
            <a:r>
              <a:rPr lang="zh-CN" altLang="en-US" sz="2400" dirty="0"/>
              <a:t>正在开始广泛应用</a:t>
            </a:r>
          </a:p>
          <a:p>
            <a:r>
              <a:rPr lang="zh-CN" altLang="en-US" dirty="0"/>
              <a:t>公钥算法加密解密速度慢</a:t>
            </a:r>
          </a:p>
          <a:p>
            <a:r>
              <a:rPr lang="zh-CN" altLang="en-US" dirty="0"/>
              <a:t>误区</a:t>
            </a:r>
            <a:r>
              <a:rPr lang="en-US" altLang="zh-CN" dirty="0"/>
              <a:t>:</a:t>
            </a:r>
          </a:p>
          <a:p>
            <a:pPr lvl="1"/>
            <a:r>
              <a:rPr lang="zh-CN" altLang="en-US" dirty="0"/>
              <a:t>公开密钥密码算法更安全</a:t>
            </a:r>
          </a:p>
          <a:p>
            <a:pPr lvl="1"/>
            <a:r>
              <a:rPr lang="zh-CN" altLang="en-US" dirty="0"/>
              <a:t>公开密钥密码使对称密钥密码过时了</a:t>
            </a:r>
          </a:p>
          <a:p>
            <a:pPr lvl="1"/>
            <a:r>
              <a:rPr lang="zh-CN" altLang="en-US" dirty="0"/>
              <a:t>公钥的分发是简单和一目了然的</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94</a:t>
            </a:fld>
            <a:endParaRPr kumimoji="1" lang="zh-CN" altLang="en-US" dirty="0"/>
          </a:p>
        </p:txBody>
      </p:sp>
    </p:spTree>
    <p:extLst>
      <p:ext uri="{BB962C8B-B14F-4D97-AF65-F5344CB8AC3E}">
        <p14:creationId xmlns:p14="http://schemas.microsoft.com/office/powerpoint/2010/main" val="17893900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6971"/>
          </a:xfrm>
        </p:spPr>
        <p:txBody>
          <a:bodyPr>
            <a:normAutofit/>
          </a:bodyPr>
          <a:lstStyle/>
          <a:p>
            <a:pPr>
              <a:lnSpc>
                <a:spcPct val="150000"/>
              </a:lnSpc>
              <a:buNone/>
            </a:pPr>
            <a:r>
              <a:rPr kumimoji="1" lang="en-US" altLang="zh-CN" sz="3000" dirty="0"/>
              <a:t>5.1 </a:t>
            </a:r>
            <a:r>
              <a:rPr kumimoji="1" lang="zh-CN" altLang="zh-CN" sz="3000" dirty="0"/>
              <a:t>公钥密码原理</a:t>
            </a:r>
            <a:endParaRPr kumimoji="1" lang="en-US" altLang="zh-CN" sz="3000" dirty="0"/>
          </a:p>
          <a:p>
            <a:pPr>
              <a:lnSpc>
                <a:spcPct val="150000"/>
              </a:lnSpc>
              <a:buNone/>
            </a:pPr>
            <a:r>
              <a:rPr kumimoji="1" lang="en-US" altLang="zh-CN" sz="3000" dirty="0"/>
              <a:t>5.2 </a:t>
            </a:r>
            <a:r>
              <a:rPr kumimoji="1" lang="zh-CN" altLang="zh-CN" sz="3000" dirty="0"/>
              <a:t>公钥密码算法</a:t>
            </a:r>
            <a:endParaRPr kumimoji="1" lang="en-US" altLang="zh-CN" sz="3000" dirty="0"/>
          </a:p>
          <a:p>
            <a:pPr>
              <a:lnSpc>
                <a:spcPct val="150000"/>
              </a:lnSpc>
              <a:buNone/>
            </a:pPr>
            <a:r>
              <a:rPr kumimoji="1" lang="en-US" altLang="zh-CN" sz="3000" dirty="0">
                <a:solidFill>
                  <a:srgbClr val="C00000"/>
                </a:solidFill>
              </a:rPr>
              <a:t>5.3 </a:t>
            </a:r>
            <a:r>
              <a:rPr kumimoji="1" lang="zh-CN" altLang="zh-CN" sz="3000" dirty="0">
                <a:solidFill>
                  <a:srgbClr val="C00000"/>
                </a:solidFill>
              </a:rPr>
              <a:t>数字签名</a:t>
            </a:r>
            <a:endParaRPr kumimoji="1" lang="en-US" altLang="zh-CN" sz="3000" dirty="0">
              <a:solidFill>
                <a:srgbClr val="C00000"/>
              </a:solidFill>
            </a:endParaRPr>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矩形标注 6">
            <a:extLst>
              <a:ext uri="{FF2B5EF4-FFF2-40B4-BE49-F238E27FC236}">
                <a16:creationId xmlns:a16="http://schemas.microsoft.com/office/drawing/2014/main" id="{981187B3-3584-BA4E-A14C-4B26773516C6}"/>
              </a:ext>
            </a:extLst>
          </p:cNvPr>
          <p:cNvSpPr/>
          <p:nvPr/>
        </p:nvSpPr>
        <p:spPr>
          <a:xfrm>
            <a:off x="5698875" y="2667743"/>
            <a:ext cx="4504008" cy="2454748"/>
          </a:xfrm>
          <a:prstGeom prst="wedgeRectCallout">
            <a:avLst>
              <a:gd name="adj1" fmla="val -97623"/>
              <a:gd name="adj2" fmla="val -2462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数字签名的产生和验证</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RSA</a:t>
            </a:r>
            <a:r>
              <a:rPr kumimoji="1" lang="zh-CN" altLang="zh-CN" sz="2400" dirty="0">
                <a:solidFill>
                  <a:prstClr val="black"/>
                </a:solidFill>
                <a:latin typeface="Microsoft YaHei" panose="020B0503020204020204" pitchFamily="34" charset="-122"/>
                <a:ea typeface="Microsoft YaHei" panose="020B0503020204020204" pitchFamily="34" charset="-122"/>
              </a:rPr>
              <a:t>数字签名算法</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DSS</a:t>
            </a:r>
            <a:r>
              <a:rPr kumimoji="1" lang="zh-CN" altLang="zh-CN" sz="2400" dirty="0">
                <a:solidFill>
                  <a:prstClr val="black"/>
                </a:solidFill>
                <a:latin typeface="Microsoft YaHei" panose="020B0503020204020204" pitchFamily="34" charset="-122"/>
                <a:ea typeface="Microsoft YaHei" panose="020B0503020204020204" pitchFamily="34" charset="-122"/>
              </a:rPr>
              <a:t>数字签名算法</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6731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 </a:t>
            </a:r>
            <a:r>
              <a:rPr kumimoji="1" lang="zh-CN" altLang="zh-CN" dirty="0">
                <a:solidFill>
                  <a:prstClr val="black"/>
                </a:solidFill>
              </a:rPr>
              <a:t>数字签名</a:t>
            </a:r>
            <a:endParaRPr lang="zh-CN" altLang="en-US" dirty="0"/>
          </a:p>
        </p:txBody>
      </p:sp>
      <p:sp>
        <p:nvSpPr>
          <p:cNvPr id="3" name="内容占位符 2"/>
          <p:cNvSpPr>
            <a:spLocks noGrp="1"/>
          </p:cNvSpPr>
          <p:nvPr>
            <p:ph idx="1"/>
          </p:nvPr>
        </p:nvSpPr>
        <p:spPr/>
        <p:txBody>
          <a:bodyPr>
            <a:normAutofit fontScale="85000" lnSpcReduction="20000"/>
          </a:bodyPr>
          <a:lstStyle/>
          <a:p>
            <a:pPr>
              <a:lnSpc>
                <a:spcPct val="150000"/>
              </a:lnSpc>
              <a:spcBef>
                <a:spcPct val="0"/>
              </a:spcBef>
              <a:buClr>
                <a:srgbClr val="000066"/>
              </a:buClr>
              <a:buSzPct val="80000"/>
            </a:pPr>
            <a:r>
              <a:rPr lang="zh-CN" altLang="en-US" dirty="0">
                <a:latin typeface="宋体" panose="02010600030101010101" pitchFamily="2" charset="-122"/>
                <a:sym typeface="Wingdings" panose="05000000000000000000" pitchFamily="2" charset="2"/>
              </a:rPr>
              <a:t>传统签名的基本特点</a:t>
            </a:r>
            <a:r>
              <a:rPr lang="en-US" altLang="zh-CN" dirty="0">
                <a:latin typeface="宋体" panose="02010600030101010101" pitchFamily="2" charset="-122"/>
                <a:sym typeface="Wingdings" panose="05000000000000000000" pitchFamily="2" charset="2"/>
              </a:rPr>
              <a:t>:</a:t>
            </a:r>
          </a:p>
          <a:p>
            <a:pPr lvl="1">
              <a:lnSpc>
                <a:spcPct val="150000"/>
              </a:lnSpc>
              <a:spcBef>
                <a:spcPct val="0"/>
              </a:spcBef>
              <a:buClr>
                <a:schemeClr val="folHlink"/>
              </a:buClr>
              <a:buSzPct val="80000"/>
              <a:buNone/>
            </a:pPr>
            <a:r>
              <a:rPr lang="en-US" altLang="zh-CN" sz="2600" dirty="0">
                <a:latin typeface="宋体" panose="02010600030101010101" pitchFamily="2" charset="-122"/>
                <a:sym typeface="Wingdings" panose="05000000000000000000" pitchFamily="2" charset="2"/>
              </a:rPr>
              <a:t></a:t>
            </a:r>
            <a:r>
              <a:rPr lang="zh-CN" altLang="en-US" sz="2600" dirty="0">
                <a:latin typeface="宋体" panose="02010600030101010101" pitchFamily="2" charset="-122"/>
                <a:sym typeface="Wingdings" panose="05000000000000000000" pitchFamily="2" charset="2"/>
              </a:rPr>
              <a:t>能与被签的文件在物理上不可分割</a:t>
            </a:r>
          </a:p>
          <a:p>
            <a:pPr lvl="1">
              <a:lnSpc>
                <a:spcPct val="150000"/>
              </a:lnSpc>
              <a:spcBef>
                <a:spcPct val="0"/>
              </a:spcBef>
              <a:buClr>
                <a:schemeClr val="folHlink"/>
              </a:buClr>
              <a:buSzPct val="80000"/>
              <a:buNone/>
            </a:pPr>
            <a:r>
              <a:rPr lang="zh-CN" altLang="en-US" sz="2600" dirty="0">
                <a:latin typeface="宋体" panose="02010600030101010101" pitchFamily="2" charset="-122"/>
                <a:sym typeface="Wingdings" panose="05000000000000000000" pitchFamily="2" charset="2"/>
              </a:rPr>
              <a:t>签名者不能否认自己的签名</a:t>
            </a:r>
          </a:p>
          <a:p>
            <a:pPr lvl="1">
              <a:lnSpc>
                <a:spcPct val="150000"/>
              </a:lnSpc>
              <a:spcBef>
                <a:spcPct val="0"/>
              </a:spcBef>
              <a:buClr>
                <a:schemeClr val="folHlink"/>
              </a:buClr>
              <a:buSzPct val="80000"/>
              <a:buNone/>
            </a:pPr>
            <a:r>
              <a:rPr lang="zh-CN" altLang="en-US" sz="2600" dirty="0">
                <a:latin typeface="宋体" panose="02010600030101010101" pitchFamily="2" charset="-122"/>
                <a:sym typeface="Wingdings" panose="05000000000000000000" pitchFamily="2" charset="2"/>
              </a:rPr>
              <a:t>签名不能被伪造</a:t>
            </a:r>
          </a:p>
          <a:p>
            <a:pPr lvl="1">
              <a:lnSpc>
                <a:spcPct val="150000"/>
              </a:lnSpc>
              <a:spcBef>
                <a:spcPct val="0"/>
              </a:spcBef>
              <a:buClr>
                <a:schemeClr val="folHlink"/>
              </a:buClr>
              <a:buSzPct val="80000"/>
              <a:buNone/>
            </a:pPr>
            <a:r>
              <a:rPr lang="zh-CN" altLang="en-US" sz="2600" dirty="0">
                <a:latin typeface="宋体" panose="02010600030101010101" pitchFamily="2" charset="-122"/>
                <a:sym typeface="Wingdings" panose="05000000000000000000" pitchFamily="2" charset="2"/>
              </a:rPr>
              <a:t>容易被验证</a:t>
            </a:r>
          </a:p>
          <a:p>
            <a:pPr>
              <a:lnSpc>
                <a:spcPct val="150000"/>
              </a:lnSpc>
              <a:spcBef>
                <a:spcPct val="0"/>
              </a:spcBef>
              <a:buClr>
                <a:srgbClr val="000066"/>
              </a:buClr>
              <a:buSzPct val="80000"/>
            </a:pPr>
            <a:r>
              <a:rPr lang="zh-CN" altLang="en-US" dirty="0">
                <a:latin typeface="宋体" panose="02010600030101010101" pitchFamily="2" charset="-122"/>
                <a:sym typeface="Wingdings" panose="05000000000000000000" pitchFamily="2" charset="2"/>
              </a:rPr>
              <a:t>数字签名是传统签名的数字化</a:t>
            </a:r>
            <a:r>
              <a:rPr lang="en-US" altLang="zh-CN" dirty="0">
                <a:latin typeface="宋体" panose="02010600030101010101" pitchFamily="2" charset="-122"/>
                <a:sym typeface="Wingdings" panose="05000000000000000000" pitchFamily="2" charset="2"/>
              </a:rPr>
              <a:t>,</a:t>
            </a:r>
            <a:r>
              <a:rPr lang="zh-CN" altLang="en-US" dirty="0">
                <a:latin typeface="宋体" panose="02010600030101010101" pitchFamily="2" charset="-122"/>
                <a:sym typeface="Wingdings" panose="05000000000000000000" pitchFamily="2" charset="2"/>
              </a:rPr>
              <a:t>基本要求</a:t>
            </a:r>
            <a:r>
              <a:rPr lang="en-US" altLang="zh-CN" dirty="0">
                <a:latin typeface="宋体" panose="02010600030101010101" pitchFamily="2" charset="-122"/>
                <a:sym typeface="Wingdings" panose="05000000000000000000" pitchFamily="2" charset="2"/>
              </a:rPr>
              <a:t>:</a:t>
            </a:r>
          </a:p>
          <a:p>
            <a:pPr lvl="1">
              <a:lnSpc>
                <a:spcPct val="150000"/>
              </a:lnSpc>
              <a:spcBef>
                <a:spcPct val="0"/>
              </a:spcBef>
              <a:buClr>
                <a:schemeClr val="folHlink"/>
              </a:buClr>
              <a:buSzPct val="80000"/>
              <a:buNone/>
            </a:pPr>
            <a:r>
              <a:rPr lang="en-US" altLang="zh-CN" sz="2600" dirty="0">
                <a:latin typeface="宋体" panose="02010600030101010101" pitchFamily="2" charset="-122"/>
                <a:sym typeface="Wingdings" panose="05000000000000000000" pitchFamily="2" charset="2"/>
              </a:rPr>
              <a:t></a:t>
            </a:r>
            <a:r>
              <a:rPr lang="zh-CN" altLang="en-US" sz="2600" dirty="0">
                <a:latin typeface="宋体" panose="02010600030101010101" pitchFamily="2" charset="-122"/>
                <a:sym typeface="Wingdings" panose="05000000000000000000" pitchFamily="2" charset="2"/>
              </a:rPr>
              <a:t>能与所签文件“绑定”</a:t>
            </a:r>
          </a:p>
          <a:p>
            <a:pPr lvl="1">
              <a:lnSpc>
                <a:spcPct val="150000"/>
              </a:lnSpc>
              <a:spcBef>
                <a:spcPct val="0"/>
              </a:spcBef>
              <a:buClr>
                <a:schemeClr val="folHlink"/>
              </a:buClr>
              <a:buSzPct val="80000"/>
              <a:buNone/>
            </a:pPr>
            <a:r>
              <a:rPr lang="zh-CN" altLang="en-US" sz="2600" dirty="0">
                <a:latin typeface="宋体" panose="02010600030101010101" pitchFamily="2" charset="-122"/>
                <a:sym typeface="Wingdings" panose="05000000000000000000" pitchFamily="2" charset="2"/>
              </a:rPr>
              <a:t>签名者不能否认自己的签名</a:t>
            </a:r>
          </a:p>
          <a:p>
            <a:pPr lvl="1">
              <a:lnSpc>
                <a:spcPct val="150000"/>
              </a:lnSpc>
              <a:spcBef>
                <a:spcPct val="0"/>
              </a:spcBef>
              <a:buClr>
                <a:schemeClr val="folHlink"/>
              </a:buClr>
              <a:buSzPct val="80000"/>
              <a:buNone/>
            </a:pPr>
            <a:r>
              <a:rPr lang="zh-CN" altLang="en-US" sz="2600" dirty="0">
                <a:latin typeface="宋体" panose="02010600030101010101" pitchFamily="2" charset="-122"/>
                <a:sym typeface="Wingdings" panose="05000000000000000000" pitchFamily="2" charset="2"/>
              </a:rPr>
              <a:t>签名不能被伪造</a:t>
            </a:r>
          </a:p>
          <a:p>
            <a:pPr lvl="1">
              <a:lnSpc>
                <a:spcPct val="150000"/>
              </a:lnSpc>
              <a:spcBef>
                <a:spcPct val="0"/>
              </a:spcBef>
              <a:buClr>
                <a:schemeClr val="folHlink"/>
              </a:buClr>
              <a:buSzPct val="80000"/>
              <a:buNone/>
            </a:pPr>
            <a:r>
              <a:rPr lang="zh-CN" altLang="en-US" sz="2600" dirty="0">
                <a:latin typeface="宋体" panose="02010600030101010101" pitchFamily="2" charset="-122"/>
                <a:sym typeface="Wingdings" panose="05000000000000000000" pitchFamily="2" charset="2"/>
              </a:rPr>
              <a:t>容易被自动验证</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96</a:t>
            </a:fld>
            <a:endParaRPr kumimoji="1" lang="zh-CN" altLang="en-US" dirty="0"/>
          </a:p>
        </p:txBody>
      </p:sp>
    </p:spTree>
    <p:extLst>
      <p:ext uri="{BB962C8B-B14F-4D97-AF65-F5344CB8AC3E}">
        <p14:creationId xmlns:p14="http://schemas.microsoft.com/office/powerpoint/2010/main" val="3912520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 </a:t>
            </a:r>
            <a:r>
              <a:rPr kumimoji="1" lang="zh-CN" altLang="zh-CN" dirty="0">
                <a:solidFill>
                  <a:prstClr val="black"/>
                </a:solidFill>
              </a:rPr>
              <a:t>数字签名</a:t>
            </a:r>
            <a:endParaRPr lang="zh-CN" altLang="en-US" dirty="0"/>
          </a:p>
        </p:txBody>
      </p:sp>
      <p:sp>
        <p:nvSpPr>
          <p:cNvPr id="3" name="内容占位符 2"/>
          <p:cNvSpPr>
            <a:spLocks noGrp="1"/>
          </p:cNvSpPr>
          <p:nvPr>
            <p:ph idx="1"/>
          </p:nvPr>
        </p:nvSpPr>
        <p:spPr/>
        <p:txBody>
          <a:bodyPr>
            <a:normAutofit/>
          </a:bodyPr>
          <a:lstStyle/>
          <a:p>
            <a:pPr>
              <a:lnSpc>
                <a:spcPct val="150000"/>
              </a:lnSpc>
              <a:spcBef>
                <a:spcPct val="0"/>
              </a:spcBef>
              <a:buClr>
                <a:srgbClr val="000066"/>
              </a:buClr>
              <a:buSzPct val="80000"/>
            </a:pPr>
            <a:r>
              <a:rPr lang="zh-CN" altLang="en-US" dirty="0"/>
              <a:t>数字签名应具有的性质</a:t>
            </a:r>
            <a:endParaRPr lang="en-US" altLang="zh-CN" dirty="0"/>
          </a:p>
          <a:p>
            <a:pPr lvl="1">
              <a:lnSpc>
                <a:spcPct val="150000"/>
              </a:lnSpc>
            </a:pPr>
            <a:r>
              <a:rPr lang="zh-CN" altLang="en-US" dirty="0"/>
              <a:t>必须能够验证作者及其签名的日期时间；</a:t>
            </a:r>
          </a:p>
          <a:p>
            <a:pPr lvl="1">
              <a:lnSpc>
                <a:spcPct val="150000"/>
              </a:lnSpc>
            </a:pPr>
            <a:r>
              <a:rPr lang="zh-CN" altLang="en-US" dirty="0"/>
              <a:t>必须能够认证签名时刻的内容；</a:t>
            </a:r>
          </a:p>
          <a:p>
            <a:pPr lvl="1">
              <a:lnSpc>
                <a:spcPct val="150000"/>
              </a:lnSpc>
            </a:pPr>
            <a:r>
              <a:rPr lang="zh-CN" altLang="en-US" dirty="0"/>
              <a:t>签名必须能够由第三方验证，以解决争议；</a:t>
            </a:r>
            <a:endParaRPr lang="en-US" altLang="zh-CN" dirty="0"/>
          </a:p>
          <a:p>
            <a:pPr>
              <a:lnSpc>
                <a:spcPct val="150000"/>
              </a:lnSpc>
              <a:spcBef>
                <a:spcPct val="0"/>
              </a:spcBef>
              <a:buClr>
                <a:srgbClr val="000066"/>
              </a:buClr>
              <a:buSzPct val="80000"/>
            </a:pPr>
            <a:r>
              <a:rPr lang="zh-CN" altLang="en-US" dirty="0"/>
              <a:t>因此，数字签名功能</a:t>
            </a:r>
            <a:r>
              <a:rPr lang="zh-CN" altLang="en-US" dirty="0">
                <a:solidFill>
                  <a:srgbClr val="C00000"/>
                </a:solidFill>
              </a:rPr>
              <a:t>包含了鉴别的功能</a:t>
            </a:r>
            <a:endParaRPr lang="en-US" altLang="zh-CN" dirty="0">
              <a:solidFill>
                <a:srgbClr val="C00000"/>
              </a:solidFill>
            </a:endParaRPr>
          </a:p>
          <a:p>
            <a:pPr>
              <a:lnSpc>
                <a:spcPct val="150000"/>
              </a:lnSpc>
              <a:spcBef>
                <a:spcPct val="0"/>
              </a:spcBef>
              <a:buClr>
                <a:srgbClr val="000066"/>
              </a:buClr>
              <a:buSzPct val="80000"/>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97</a:t>
            </a:fld>
            <a:endParaRPr kumimoji="1" lang="zh-CN" altLang="en-US" dirty="0"/>
          </a:p>
        </p:txBody>
      </p:sp>
    </p:spTree>
    <p:extLst>
      <p:ext uri="{BB962C8B-B14F-4D97-AF65-F5344CB8AC3E}">
        <p14:creationId xmlns:p14="http://schemas.microsoft.com/office/powerpoint/2010/main" val="15593277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65018" y="1510758"/>
            <a:ext cx="10806546" cy="4586694"/>
          </a:xfrm>
        </p:spPr>
        <p:txBody>
          <a:bodyPr>
            <a:normAutofit fontScale="92500"/>
          </a:bodyPr>
          <a:lstStyle/>
          <a:p>
            <a:pPr>
              <a:lnSpc>
                <a:spcPct val="150000"/>
              </a:lnSpc>
            </a:pPr>
            <a:r>
              <a:rPr lang="zh-CN" altLang="en-US" dirty="0"/>
              <a:t>签名必须是依赖于被签名信息的一个位串模式；</a:t>
            </a:r>
          </a:p>
          <a:p>
            <a:pPr>
              <a:lnSpc>
                <a:spcPct val="150000"/>
              </a:lnSpc>
            </a:pPr>
            <a:r>
              <a:rPr lang="zh-CN" altLang="en-US" dirty="0"/>
              <a:t>签名必须使用某些对发送者是唯一的信息，以防止双方的伪造与否认；</a:t>
            </a:r>
          </a:p>
          <a:p>
            <a:pPr>
              <a:lnSpc>
                <a:spcPct val="150000"/>
              </a:lnSpc>
            </a:pPr>
            <a:r>
              <a:rPr lang="zh-CN" altLang="en-US" dirty="0"/>
              <a:t>必须相对容易生成该数字签名；</a:t>
            </a:r>
          </a:p>
          <a:p>
            <a:pPr>
              <a:lnSpc>
                <a:spcPct val="150000"/>
              </a:lnSpc>
            </a:pPr>
            <a:r>
              <a:rPr lang="zh-CN" altLang="en-US" dirty="0"/>
              <a:t>必须相对容易识别和验证该数字签名；</a:t>
            </a:r>
          </a:p>
          <a:p>
            <a:pPr>
              <a:lnSpc>
                <a:spcPct val="150000"/>
              </a:lnSpc>
            </a:pPr>
            <a:r>
              <a:rPr lang="zh-CN" altLang="en-US" dirty="0"/>
              <a:t>伪造该数字签名在计算复杂性意义上具有不可行性，既包括对一个已有的数字签名构造新的消息，也包括对一个给定消息伪造一个数字签名；</a:t>
            </a:r>
          </a:p>
          <a:p>
            <a:pPr>
              <a:lnSpc>
                <a:spcPct val="150000"/>
              </a:lnSpc>
            </a:pPr>
            <a:r>
              <a:rPr lang="zh-CN" altLang="en-US" dirty="0"/>
              <a:t>在存储器中保存一个数字签名副本是现实可行的。</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98</a:t>
            </a:fld>
            <a:endParaRPr kumimoji="1" lang="zh-CN" altLang="en-US" dirty="0"/>
          </a:p>
        </p:txBody>
      </p:sp>
    </p:spTree>
    <p:extLst>
      <p:ext uri="{BB962C8B-B14F-4D97-AF65-F5344CB8AC3E}">
        <p14:creationId xmlns:p14="http://schemas.microsoft.com/office/powerpoint/2010/main" val="27667701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92726" y="1560701"/>
            <a:ext cx="11173691" cy="4586694"/>
          </a:xfrm>
        </p:spPr>
        <p:txBody>
          <a:bodyPr>
            <a:normAutofit fontScale="92500" lnSpcReduction="10000"/>
          </a:bodyPr>
          <a:lstStyle/>
          <a:p>
            <a:pPr>
              <a:lnSpc>
                <a:spcPct val="150000"/>
              </a:lnSpc>
              <a:spcBef>
                <a:spcPct val="0"/>
              </a:spcBef>
              <a:buClr>
                <a:srgbClr val="000066"/>
              </a:buClr>
              <a:buSzPct val="80000"/>
            </a:pPr>
            <a:r>
              <a:rPr lang="zh-CN" altLang="en-US" dirty="0">
                <a:sym typeface="Wingdings" panose="05000000000000000000" pitchFamily="2" charset="2"/>
              </a:rPr>
              <a:t>以方式分</a:t>
            </a:r>
          </a:p>
          <a:p>
            <a:pPr lvl="1">
              <a:lnSpc>
                <a:spcPct val="150000"/>
              </a:lnSpc>
              <a:spcBef>
                <a:spcPct val="0"/>
              </a:spcBef>
              <a:buClr>
                <a:schemeClr val="folHlink"/>
              </a:buClr>
              <a:buSzPct val="80000"/>
              <a:buNone/>
            </a:pPr>
            <a:r>
              <a:rPr lang="zh-CN" altLang="en-US" dirty="0">
                <a:sym typeface="Wingdings" panose="05000000000000000000" pitchFamily="2" charset="2"/>
              </a:rPr>
              <a:t></a:t>
            </a:r>
            <a:r>
              <a:rPr lang="zh-CN" altLang="en-US" dirty="0"/>
              <a:t>直接数字签名</a:t>
            </a:r>
            <a:r>
              <a:rPr lang="en-US" altLang="zh-CN" dirty="0">
                <a:sym typeface="Wingdings" panose="05000000000000000000" pitchFamily="2" charset="2"/>
              </a:rPr>
              <a:t>direct digital signature —— </a:t>
            </a:r>
            <a:r>
              <a:rPr lang="zh-CN" altLang="en-US" dirty="0">
                <a:sym typeface="Wingdings" panose="05000000000000000000" pitchFamily="2" charset="2"/>
              </a:rPr>
              <a:t>没有第三方</a:t>
            </a:r>
            <a:endParaRPr lang="en-US" altLang="zh-CN" dirty="0">
              <a:sym typeface="Wingdings" panose="05000000000000000000" pitchFamily="2" charset="2"/>
            </a:endParaRPr>
          </a:p>
          <a:p>
            <a:pPr lvl="1">
              <a:lnSpc>
                <a:spcPct val="150000"/>
              </a:lnSpc>
              <a:spcBef>
                <a:spcPct val="0"/>
              </a:spcBef>
              <a:buClr>
                <a:schemeClr val="folHlink"/>
              </a:buClr>
              <a:buSzPct val="80000"/>
              <a:buNone/>
            </a:pPr>
            <a:r>
              <a:rPr lang="en-US" altLang="zh-CN" dirty="0">
                <a:sym typeface="Wingdings" panose="05000000000000000000" pitchFamily="2" charset="2"/>
              </a:rPr>
              <a:t></a:t>
            </a:r>
            <a:r>
              <a:rPr lang="zh-CN" altLang="en-US" dirty="0"/>
              <a:t>仲裁数字签名</a:t>
            </a:r>
            <a:r>
              <a:rPr lang="en-US" altLang="zh-CN" dirty="0">
                <a:sym typeface="Wingdings" panose="05000000000000000000" pitchFamily="2" charset="2"/>
              </a:rPr>
              <a:t>arbitrated digital signature</a:t>
            </a:r>
          </a:p>
          <a:p>
            <a:pPr>
              <a:lnSpc>
                <a:spcPct val="150000"/>
              </a:lnSpc>
              <a:spcBef>
                <a:spcPct val="0"/>
              </a:spcBef>
              <a:buClr>
                <a:srgbClr val="000066"/>
              </a:buClr>
              <a:buSzPct val="80000"/>
            </a:pPr>
            <a:r>
              <a:rPr lang="zh-CN" altLang="en-US" dirty="0">
                <a:sym typeface="Wingdings" panose="05000000000000000000" pitchFamily="2" charset="2"/>
              </a:rPr>
              <a:t>以安全性分</a:t>
            </a:r>
          </a:p>
          <a:p>
            <a:pPr lvl="1">
              <a:lnSpc>
                <a:spcPct val="150000"/>
              </a:lnSpc>
              <a:spcBef>
                <a:spcPct val="0"/>
              </a:spcBef>
              <a:buClr>
                <a:schemeClr val="folHlink"/>
              </a:buClr>
              <a:buSzPct val="80000"/>
              <a:buNone/>
            </a:pPr>
            <a:r>
              <a:rPr lang="zh-CN" altLang="en-US" dirty="0">
                <a:sym typeface="Wingdings" panose="05000000000000000000" pitchFamily="2" charset="2"/>
              </a:rPr>
              <a:t>无条件安全的数字签名：基本不存在，主要是理论</a:t>
            </a:r>
          </a:p>
          <a:p>
            <a:pPr lvl="1">
              <a:lnSpc>
                <a:spcPct val="150000"/>
              </a:lnSpc>
              <a:spcBef>
                <a:spcPct val="0"/>
              </a:spcBef>
              <a:buClr>
                <a:schemeClr val="folHlink"/>
              </a:buClr>
              <a:buSzPct val="80000"/>
              <a:buNone/>
            </a:pPr>
            <a:r>
              <a:rPr lang="zh-CN" altLang="en-US" dirty="0">
                <a:sym typeface="Wingdings" panose="05000000000000000000" pitchFamily="2" charset="2"/>
              </a:rPr>
              <a:t>计算上安全的数字签名：理论能被求解，但是不能实际计算出来</a:t>
            </a:r>
          </a:p>
          <a:p>
            <a:pPr>
              <a:lnSpc>
                <a:spcPct val="150000"/>
              </a:lnSpc>
              <a:spcBef>
                <a:spcPct val="0"/>
              </a:spcBef>
              <a:buClr>
                <a:srgbClr val="000066"/>
              </a:buClr>
              <a:buSzPct val="80000"/>
            </a:pPr>
            <a:r>
              <a:rPr lang="zh-CN" altLang="en-US" dirty="0">
                <a:sym typeface="Wingdings" panose="05000000000000000000" pitchFamily="2" charset="2"/>
              </a:rPr>
              <a:t>以可签名次数分</a:t>
            </a:r>
          </a:p>
          <a:p>
            <a:pPr lvl="1">
              <a:lnSpc>
                <a:spcPct val="150000"/>
              </a:lnSpc>
              <a:spcBef>
                <a:spcPct val="0"/>
              </a:spcBef>
              <a:buClr>
                <a:schemeClr val="folHlink"/>
              </a:buClr>
              <a:buSzPct val="80000"/>
              <a:buNone/>
            </a:pPr>
            <a:r>
              <a:rPr lang="zh-CN" altLang="en-US" dirty="0">
                <a:sym typeface="Wingdings" panose="05000000000000000000" pitchFamily="2" charset="2"/>
              </a:rPr>
              <a:t>一次性的数字签名：</a:t>
            </a:r>
            <a:r>
              <a:rPr lang="zh-CN" altLang="en-US" dirty="0"/>
              <a:t>一个私钥</a:t>
            </a:r>
            <a:r>
              <a:rPr lang="zh-CN" altLang="en-US" b="1" dirty="0"/>
              <a:t>只能用来对一条消息进行签名</a:t>
            </a:r>
            <a:r>
              <a:rPr lang="zh-CN" altLang="en-US" dirty="0"/>
              <a:t>。如</a:t>
            </a:r>
            <a:r>
              <a:rPr lang="en-US" altLang="zh-CN" dirty="0"/>
              <a:t>Lamport </a:t>
            </a:r>
            <a:endParaRPr lang="zh-CN" altLang="en-US" dirty="0">
              <a:sym typeface="Wingdings" panose="05000000000000000000" pitchFamily="2" charset="2"/>
            </a:endParaRPr>
          </a:p>
          <a:p>
            <a:pPr lvl="1">
              <a:lnSpc>
                <a:spcPct val="150000"/>
              </a:lnSpc>
              <a:spcBef>
                <a:spcPct val="0"/>
              </a:spcBef>
              <a:buClr>
                <a:schemeClr val="folHlink"/>
              </a:buClr>
              <a:buSzPct val="80000"/>
              <a:buNone/>
            </a:pPr>
            <a:r>
              <a:rPr lang="zh-CN" altLang="en-US" dirty="0">
                <a:sym typeface="Wingdings" panose="05000000000000000000" pitchFamily="2" charset="2"/>
              </a:rPr>
              <a:t>多次性的数字签名：</a:t>
            </a:r>
            <a:r>
              <a:rPr lang="zh-CN" altLang="en-US" dirty="0"/>
              <a:t>一个私钥</a:t>
            </a:r>
            <a:r>
              <a:rPr lang="zh-CN" altLang="en-US" b="1" dirty="0"/>
              <a:t>能用来对多条消息进行签名</a:t>
            </a:r>
            <a:r>
              <a:rPr lang="zh-CN" altLang="en-US" dirty="0"/>
              <a:t>。如</a:t>
            </a:r>
            <a:r>
              <a:rPr lang="en-US" altLang="zh-CN" dirty="0"/>
              <a:t>RSA</a:t>
            </a:r>
            <a:r>
              <a:rPr lang="zh-CN" altLang="en-US" dirty="0"/>
              <a:t>、</a:t>
            </a:r>
            <a:r>
              <a:rPr lang="en-US" altLang="zh-CN" dirty="0"/>
              <a:t>DSA</a:t>
            </a:r>
            <a:r>
              <a:rPr lang="zh-CN" altLang="en-US" dirty="0"/>
              <a:t>、</a:t>
            </a:r>
            <a:r>
              <a:rPr lang="en-US" altLang="zh-CN" dirty="0"/>
              <a:t>ECC</a:t>
            </a:r>
            <a:r>
              <a:rPr lang="zh-CN" altLang="en-US" dirty="0"/>
              <a:t>等</a:t>
            </a:r>
            <a:endParaRPr lang="zh-CN" altLang="en-US" dirty="0">
              <a:sym typeface="Wingdings" panose="05000000000000000000" pitchFamily="2" charset="2"/>
            </a:endParaRPr>
          </a:p>
        </p:txBody>
      </p:sp>
      <p:sp>
        <p:nvSpPr>
          <p:cNvPr id="4" name="灯片编号占位符 3"/>
          <p:cNvSpPr>
            <a:spLocks noGrp="1"/>
          </p:cNvSpPr>
          <p:nvPr>
            <p:ph type="sldNum" sz="quarter" idx="12"/>
          </p:nvPr>
        </p:nvSpPr>
        <p:spPr>
          <a:xfrm>
            <a:off x="9448800" y="6492875"/>
            <a:ext cx="2743200" cy="365125"/>
          </a:xfrm>
        </p:spPr>
        <p:txBody>
          <a:bodyPr/>
          <a:lstStyle/>
          <a:p>
            <a:fld id="{8D4D1E41-7A09-AB4A-A4E1-09765ADA2698}" type="slidenum">
              <a:rPr kumimoji="1" lang="zh-CN" altLang="en-US" smtClean="0"/>
              <a:pPr/>
              <a:t>99</a:t>
            </a:fld>
            <a:endParaRPr kumimoji="1" lang="zh-CN" altLang="en-US" dirty="0"/>
          </a:p>
        </p:txBody>
      </p:sp>
    </p:spTree>
    <p:extLst>
      <p:ext uri="{BB962C8B-B14F-4D97-AF65-F5344CB8AC3E}">
        <p14:creationId xmlns:p14="http://schemas.microsoft.com/office/powerpoint/2010/main" val="36609363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65018" y="1510758"/>
            <a:ext cx="10806546" cy="4586694"/>
          </a:xfrm>
        </p:spPr>
        <p:txBody>
          <a:bodyPr>
            <a:normAutofit fontScale="92500" lnSpcReduction="10000"/>
          </a:bodyPr>
          <a:lstStyle/>
          <a:p>
            <a:pPr>
              <a:lnSpc>
                <a:spcPct val="150000"/>
              </a:lnSpc>
              <a:spcBef>
                <a:spcPct val="0"/>
              </a:spcBef>
              <a:buClr>
                <a:srgbClr val="000066"/>
              </a:buClr>
              <a:buSzPct val="80000"/>
            </a:pPr>
            <a:r>
              <a:rPr lang="zh-CN" altLang="en-US" dirty="0"/>
              <a:t>直接数字签名（</a:t>
            </a:r>
            <a:r>
              <a:rPr lang="en-US" altLang="zh-CN" dirty="0"/>
              <a:t>DDS</a:t>
            </a:r>
            <a:r>
              <a:rPr lang="zh-CN" altLang="en-US" dirty="0"/>
              <a:t>）</a:t>
            </a:r>
            <a:endParaRPr lang="en-US" altLang="zh-CN" dirty="0"/>
          </a:p>
          <a:p>
            <a:pPr lvl="1">
              <a:lnSpc>
                <a:spcPct val="150000"/>
              </a:lnSpc>
              <a:spcBef>
                <a:spcPct val="0"/>
              </a:spcBef>
              <a:buFontTx/>
              <a:buNone/>
            </a:pPr>
            <a:r>
              <a:rPr lang="en-US" altLang="zh-CN" dirty="0"/>
              <a:t>(1)</a:t>
            </a:r>
            <a:r>
              <a:rPr lang="zh-CN" altLang="en-US" dirty="0"/>
              <a:t>全文签名方案：</a:t>
            </a:r>
            <a:r>
              <a:rPr lang="en-US" altLang="zh-CN" dirty="0"/>
              <a:t>A</a:t>
            </a:r>
            <a:r>
              <a:rPr lang="en-US" altLang="zh-CN" dirty="0">
                <a:sym typeface="Symbol" panose="05050102010706020507" pitchFamily="18" charset="2"/>
              </a:rPr>
              <a:t></a:t>
            </a:r>
            <a:r>
              <a:rPr lang="en-US" altLang="zh-CN" dirty="0"/>
              <a:t>B: E</a:t>
            </a:r>
            <a:r>
              <a:rPr lang="en-US" altLang="zh-CN" sz="1300" dirty="0"/>
              <a:t>KRa</a:t>
            </a:r>
            <a:r>
              <a:rPr lang="en-US" altLang="zh-CN" dirty="0"/>
              <a:t>[M]</a:t>
            </a:r>
          </a:p>
          <a:p>
            <a:pPr lvl="1">
              <a:lnSpc>
                <a:spcPct val="150000"/>
              </a:lnSpc>
              <a:spcBef>
                <a:spcPct val="0"/>
              </a:spcBef>
              <a:buFontTx/>
              <a:buNone/>
            </a:pPr>
            <a:r>
              <a:rPr lang="en-US" altLang="zh-CN" sz="2000" dirty="0"/>
              <a:t>	</a:t>
            </a:r>
            <a:r>
              <a:rPr lang="zh-CN" altLang="zh-CN" dirty="0"/>
              <a:t>提供了鉴别与签名：</a:t>
            </a:r>
          </a:p>
          <a:p>
            <a:pPr lvl="4">
              <a:lnSpc>
                <a:spcPct val="150000"/>
              </a:lnSpc>
              <a:spcBef>
                <a:spcPct val="0"/>
              </a:spcBef>
              <a:buFontTx/>
              <a:buChar char="•"/>
            </a:pPr>
            <a:r>
              <a:rPr lang="zh-CN" altLang="zh-CN" sz="2400" dirty="0"/>
              <a:t> 只有</a:t>
            </a:r>
            <a:r>
              <a:rPr lang="en-US" altLang="zh-CN" sz="2400" dirty="0"/>
              <a:t>A</a:t>
            </a:r>
            <a:r>
              <a:rPr lang="zh-CN" altLang="zh-CN" sz="2400" dirty="0"/>
              <a:t>具有</a:t>
            </a:r>
            <a:r>
              <a:rPr lang="en-US" altLang="zh-CN" sz="2400" dirty="0" err="1"/>
              <a:t>KRa</a:t>
            </a:r>
            <a:r>
              <a:rPr lang="zh-CN" altLang="zh-CN" sz="2400" dirty="0"/>
              <a:t>进行加密;</a:t>
            </a:r>
          </a:p>
          <a:p>
            <a:pPr lvl="4">
              <a:lnSpc>
                <a:spcPct val="150000"/>
              </a:lnSpc>
              <a:spcBef>
                <a:spcPct val="0"/>
              </a:spcBef>
              <a:buFontTx/>
              <a:buChar char="•"/>
            </a:pPr>
            <a:r>
              <a:rPr lang="zh-CN" altLang="zh-CN" sz="2400" dirty="0"/>
              <a:t> 传输中没有被篡改；</a:t>
            </a:r>
          </a:p>
          <a:p>
            <a:pPr lvl="4">
              <a:lnSpc>
                <a:spcPct val="150000"/>
              </a:lnSpc>
              <a:spcBef>
                <a:spcPct val="0"/>
              </a:spcBef>
              <a:buFontTx/>
              <a:buChar char="•"/>
            </a:pPr>
            <a:r>
              <a:rPr lang="zh-CN" altLang="zh-CN" sz="2400" dirty="0"/>
              <a:t> 需要某些格式信息/冗余度；</a:t>
            </a:r>
          </a:p>
          <a:p>
            <a:pPr lvl="4">
              <a:lnSpc>
                <a:spcPct val="150000"/>
              </a:lnSpc>
              <a:spcBef>
                <a:spcPct val="0"/>
              </a:spcBef>
              <a:buFontTx/>
              <a:buChar char="•"/>
            </a:pPr>
            <a:r>
              <a:rPr lang="zh-CN" altLang="zh-CN" sz="2400" dirty="0"/>
              <a:t> 任何第三方可以用</a:t>
            </a:r>
            <a:r>
              <a:rPr lang="en-US" altLang="zh-CN" sz="2400" dirty="0" err="1"/>
              <a:t>KUa</a:t>
            </a:r>
            <a:r>
              <a:rPr lang="en-US" altLang="zh-CN" sz="2400" dirty="0"/>
              <a:t> </a:t>
            </a:r>
            <a:r>
              <a:rPr lang="zh-CN" altLang="en-US" sz="2400" dirty="0"/>
              <a:t>验证签名</a:t>
            </a:r>
          </a:p>
          <a:p>
            <a:pPr lvl="1">
              <a:lnSpc>
                <a:spcPct val="150000"/>
              </a:lnSpc>
              <a:spcBef>
                <a:spcPct val="0"/>
              </a:spcBef>
              <a:buFontTx/>
              <a:buNone/>
            </a:pPr>
            <a:r>
              <a:rPr lang="en-US" altLang="zh-CN" dirty="0"/>
              <a:t>(1’) </a:t>
            </a:r>
            <a:r>
              <a:rPr lang="zh-CN" altLang="en-US" dirty="0"/>
              <a:t>增强方案：</a:t>
            </a:r>
            <a:r>
              <a:rPr lang="en-US" altLang="zh-CN" dirty="0"/>
              <a:t>A</a:t>
            </a:r>
            <a:r>
              <a:rPr lang="en-US" altLang="zh-CN" dirty="0">
                <a:sym typeface="Symbol" panose="05050102010706020507" pitchFamily="18" charset="2"/>
              </a:rPr>
              <a:t></a:t>
            </a:r>
            <a:r>
              <a:rPr lang="en-US" altLang="zh-CN" dirty="0"/>
              <a:t>B: </a:t>
            </a:r>
            <a:r>
              <a:rPr lang="en-US" altLang="zh-CN" dirty="0" err="1"/>
              <a:t>E</a:t>
            </a:r>
            <a:r>
              <a:rPr lang="en-US" altLang="zh-CN" baseline="-25000" dirty="0" err="1"/>
              <a:t>KUb</a:t>
            </a:r>
            <a:r>
              <a:rPr lang="en-US" altLang="zh-CN" dirty="0"/>
              <a:t> [E</a:t>
            </a:r>
            <a:r>
              <a:rPr lang="en-US" altLang="zh-CN" baseline="-25000" dirty="0"/>
              <a:t>KRa</a:t>
            </a:r>
            <a:r>
              <a:rPr lang="en-US" altLang="zh-CN" dirty="0"/>
              <a:t>(M)]</a:t>
            </a:r>
          </a:p>
          <a:p>
            <a:pPr lvl="1">
              <a:lnSpc>
                <a:spcPct val="150000"/>
              </a:lnSpc>
              <a:spcBef>
                <a:spcPct val="0"/>
              </a:spcBef>
              <a:buFontTx/>
              <a:buNone/>
            </a:pPr>
            <a:r>
              <a:rPr lang="en-US" altLang="zh-CN" dirty="0"/>
              <a:t>	</a:t>
            </a:r>
            <a:r>
              <a:rPr lang="zh-CN" altLang="zh-CN" dirty="0"/>
              <a:t>提供了保密</a:t>
            </a:r>
            <a:r>
              <a:rPr lang="en-US" altLang="zh-CN" dirty="0"/>
              <a:t>(</a:t>
            </a:r>
            <a:r>
              <a:rPr lang="en-US" altLang="zh-CN" dirty="0" err="1"/>
              <a:t>KUb</a:t>
            </a:r>
            <a:r>
              <a:rPr lang="en-US" altLang="zh-CN" dirty="0"/>
              <a:t>)</a:t>
            </a:r>
            <a:r>
              <a:rPr lang="zh-CN" altLang="en-US" dirty="0"/>
              <a:t>、</a:t>
            </a:r>
            <a:r>
              <a:rPr lang="zh-CN" altLang="zh-CN" dirty="0"/>
              <a:t>鉴别与签名(</a:t>
            </a:r>
            <a:r>
              <a:rPr lang="en-US" altLang="zh-CN" dirty="0" err="1"/>
              <a:t>KRa</a:t>
            </a:r>
            <a:r>
              <a:rPr lang="en-US" altLang="zh-CN" dirty="0"/>
              <a:t>)</a:t>
            </a:r>
            <a:r>
              <a:rPr lang="zh-CN" altLang="en-US" dirty="0"/>
              <a:t>：</a:t>
            </a:r>
          </a:p>
          <a:p>
            <a:pPr>
              <a:lnSpc>
                <a:spcPct val="150000"/>
              </a:lnSpc>
              <a:spcBef>
                <a:spcPct val="0"/>
              </a:spcBef>
              <a:buClr>
                <a:srgbClr val="000066"/>
              </a:buClr>
              <a:buSzPct val="80000"/>
            </a:pPr>
            <a:endParaRPr lang="zh-CN" altLang="en-US" dirty="0">
              <a:sym typeface="Wingdings" panose="05000000000000000000" pitchFamily="2"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100</a:t>
            </a:fld>
            <a:endParaRPr kumimoji="1" lang="zh-CN" altLang="en-US" dirty="0"/>
          </a:p>
        </p:txBody>
      </p:sp>
    </p:spTree>
    <p:extLst>
      <p:ext uri="{BB962C8B-B14F-4D97-AF65-F5344CB8AC3E}">
        <p14:creationId xmlns:p14="http://schemas.microsoft.com/office/powerpoint/2010/main" val="127916839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65018" y="1510758"/>
            <a:ext cx="10806546" cy="4586694"/>
          </a:xfrm>
        </p:spPr>
        <p:txBody>
          <a:bodyPr>
            <a:normAutofit/>
          </a:bodyPr>
          <a:lstStyle/>
          <a:p>
            <a:pPr>
              <a:lnSpc>
                <a:spcPct val="150000"/>
              </a:lnSpc>
              <a:spcBef>
                <a:spcPct val="0"/>
              </a:spcBef>
              <a:buClr>
                <a:srgbClr val="000066"/>
              </a:buClr>
              <a:buSzPct val="80000"/>
            </a:pPr>
            <a:r>
              <a:rPr lang="zh-CN" altLang="en-US" dirty="0"/>
              <a:t>直接数字签名（</a:t>
            </a:r>
            <a:r>
              <a:rPr lang="en-US" altLang="zh-CN" dirty="0"/>
              <a:t>DDS</a:t>
            </a:r>
            <a:r>
              <a:rPr lang="zh-CN" altLang="en-US" dirty="0"/>
              <a:t>）</a:t>
            </a:r>
            <a:endParaRPr lang="en-US" altLang="zh-CN" dirty="0"/>
          </a:p>
          <a:p>
            <a:pPr lvl="1">
              <a:lnSpc>
                <a:spcPct val="150000"/>
              </a:lnSpc>
              <a:spcBef>
                <a:spcPct val="0"/>
              </a:spcBef>
              <a:buFontTx/>
              <a:buNone/>
            </a:pPr>
            <a:r>
              <a:rPr lang="en-US" altLang="zh-CN" dirty="0"/>
              <a:t>(2)</a:t>
            </a:r>
            <a:r>
              <a:rPr lang="zh-CN" altLang="en-US" dirty="0"/>
              <a:t>哈希摘要签名方案：</a:t>
            </a:r>
            <a:r>
              <a:rPr lang="en-US" altLang="zh-CN" dirty="0"/>
              <a:t>A</a:t>
            </a:r>
            <a:r>
              <a:rPr lang="en-US" altLang="zh-CN" dirty="0">
                <a:sym typeface="Symbol" panose="05050102010706020507" pitchFamily="18" charset="2"/>
              </a:rPr>
              <a:t></a:t>
            </a:r>
            <a:r>
              <a:rPr lang="en-US" altLang="zh-CN" dirty="0"/>
              <a:t>B: M||E</a:t>
            </a:r>
            <a:r>
              <a:rPr lang="en-US" altLang="zh-CN" baseline="-25000" dirty="0"/>
              <a:t>KRa</a:t>
            </a:r>
            <a:r>
              <a:rPr lang="en-US" altLang="zh-CN" dirty="0"/>
              <a:t>[H(M)]</a:t>
            </a:r>
          </a:p>
          <a:p>
            <a:pPr lvl="1">
              <a:lnSpc>
                <a:spcPct val="150000"/>
              </a:lnSpc>
              <a:spcBef>
                <a:spcPct val="0"/>
              </a:spcBef>
              <a:buFontTx/>
              <a:buNone/>
            </a:pPr>
            <a:r>
              <a:rPr lang="en-US" altLang="zh-CN" dirty="0"/>
              <a:t>	</a:t>
            </a:r>
            <a:r>
              <a:rPr lang="zh-CN" altLang="en-US" dirty="0"/>
              <a:t>提供鉴别及数字签名</a:t>
            </a:r>
          </a:p>
          <a:p>
            <a:pPr lvl="1">
              <a:lnSpc>
                <a:spcPct val="150000"/>
              </a:lnSpc>
              <a:spcBef>
                <a:spcPct val="0"/>
              </a:spcBef>
              <a:buFontTx/>
              <a:buNone/>
            </a:pPr>
            <a:r>
              <a:rPr lang="zh-CN" altLang="en-US" dirty="0"/>
              <a:t>        </a:t>
            </a:r>
            <a:r>
              <a:rPr lang="en-US" altLang="zh-CN" dirty="0"/>
              <a:t>-- H(M) </a:t>
            </a:r>
            <a:r>
              <a:rPr lang="zh-CN" altLang="en-US" dirty="0"/>
              <a:t>受到密码算法的保护；</a:t>
            </a:r>
          </a:p>
          <a:p>
            <a:pPr lvl="1">
              <a:lnSpc>
                <a:spcPct val="150000"/>
              </a:lnSpc>
              <a:spcBef>
                <a:spcPct val="0"/>
              </a:spcBef>
              <a:buFontTx/>
              <a:buNone/>
            </a:pPr>
            <a:r>
              <a:rPr lang="zh-CN" altLang="en-US" dirty="0"/>
              <a:t>        </a:t>
            </a:r>
            <a:r>
              <a:rPr lang="en-US" altLang="zh-CN" dirty="0"/>
              <a:t>-- </a:t>
            </a:r>
            <a:r>
              <a:rPr lang="zh-CN" altLang="en-US" dirty="0"/>
              <a:t>只有 </a:t>
            </a:r>
            <a:r>
              <a:rPr lang="en-US" altLang="zh-CN" dirty="0"/>
              <a:t>A </a:t>
            </a:r>
            <a:r>
              <a:rPr lang="zh-CN" altLang="en-US" dirty="0"/>
              <a:t>能够生成 </a:t>
            </a:r>
            <a:r>
              <a:rPr lang="en-US" altLang="zh-CN" dirty="0" err="1"/>
              <a:t>E</a:t>
            </a:r>
            <a:r>
              <a:rPr lang="en-US" altLang="zh-CN" baseline="-25000" dirty="0" err="1"/>
              <a:t>KRa</a:t>
            </a:r>
            <a:r>
              <a:rPr lang="en-US" altLang="zh-CN" dirty="0"/>
              <a:t>[H(M)]</a:t>
            </a:r>
          </a:p>
          <a:p>
            <a:pPr lvl="1">
              <a:lnSpc>
                <a:spcPct val="150000"/>
              </a:lnSpc>
              <a:spcBef>
                <a:spcPct val="0"/>
              </a:spcBef>
              <a:buFontTx/>
              <a:buNone/>
            </a:pPr>
            <a:r>
              <a:rPr lang="en-US" altLang="zh-CN" dirty="0"/>
              <a:t>(2’) A</a:t>
            </a:r>
            <a:r>
              <a:rPr lang="en-US" altLang="zh-CN" dirty="0">
                <a:sym typeface="Symbol" panose="05050102010706020507" pitchFamily="18" charset="2"/>
              </a:rPr>
              <a:t></a:t>
            </a:r>
            <a:r>
              <a:rPr lang="en-US" altLang="zh-CN" dirty="0"/>
              <a:t>B: E</a:t>
            </a:r>
            <a:r>
              <a:rPr lang="en-US" altLang="zh-CN" baseline="-25000" dirty="0"/>
              <a:t>K</a:t>
            </a:r>
            <a:r>
              <a:rPr lang="en-US" altLang="zh-CN" dirty="0"/>
              <a:t>[M||</a:t>
            </a:r>
            <a:r>
              <a:rPr lang="en-US" altLang="zh-CN" dirty="0" err="1"/>
              <a:t>E</a:t>
            </a:r>
            <a:r>
              <a:rPr lang="en-US" altLang="zh-CN" baseline="-25000" dirty="0" err="1"/>
              <a:t>KRa</a:t>
            </a:r>
            <a:r>
              <a:rPr lang="en-US" altLang="zh-CN" dirty="0"/>
              <a:t>[H(M)]]</a:t>
            </a:r>
          </a:p>
          <a:p>
            <a:pPr lvl="2">
              <a:lnSpc>
                <a:spcPct val="150000"/>
              </a:lnSpc>
              <a:spcBef>
                <a:spcPct val="0"/>
              </a:spcBef>
              <a:buNone/>
            </a:pPr>
            <a:r>
              <a:rPr lang="en-US" altLang="zh-CN" sz="2400" dirty="0"/>
              <a:t>	</a:t>
            </a:r>
            <a:r>
              <a:rPr lang="zh-CN" altLang="en-US" sz="2400" dirty="0"/>
              <a:t>提供保密性、鉴别和数字签名。</a:t>
            </a:r>
          </a:p>
          <a:p>
            <a:pPr lvl="1">
              <a:lnSpc>
                <a:spcPct val="150000"/>
              </a:lnSpc>
              <a:spcBef>
                <a:spcPct val="0"/>
              </a:spcBef>
              <a:buFontTx/>
              <a:buNone/>
            </a:pPr>
            <a:endParaRPr lang="zh-CN" altLang="en-US" dirty="0"/>
          </a:p>
          <a:p>
            <a:pPr>
              <a:lnSpc>
                <a:spcPct val="150000"/>
              </a:lnSpc>
              <a:spcBef>
                <a:spcPct val="0"/>
              </a:spcBef>
              <a:buClr>
                <a:srgbClr val="000066"/>
              </a:buClr>
              <a:buSzPct val="80000"/>
            </a:pPr>
            <a:endParaRPr lang="zh-CN" altLang="en-US" dirty="0">
              <a:sym typeface="Wingdings" panose="05000000000000000000" pitchFamily="2"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101</a:t>
            </a:fld>
            <a:endParaRPr kumimoji="1" lang="zh-CN" altLang="en-US" dirty="0"/>
          </a:p>
        </p:txBody>
      </p:sp>
    </p:spTree>
    <p:extLst>
      <p:ext uri="{BB962C8B-B14F-4D97-AF65-F5344CB8AC3E}">
        <p14:creationId xmlns:p14="http://schemas.microsoft.com/office/powerpoint/2010/main" val="100794283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65018" y="1377538"/>
            <a:ext cx="10806546" cy="4987636"/>
          </a:xfrm>
        </p:spPr>
        <p:txBody>
          <a:bodyPr>
            <a:normAutofit fontScale="92500" lnSpcReduction="20000"/>
          </a:bodyPr>
          <a:lstStyle/>
          <a:p>
            <a:pPr>
              <a:lnSpc>
                <a:spcPct val="150000"/>
              </a:lnSpc>
              <a:spcBef>
                <a:spcPct val="0"/>
              </a:spcBef>
              <a:buClr>
                <a:srgbClr val="000066"/>
              </a:buClr>
              <a:buSzPct val="80000"/>
            </a:pPr>
            <a:r>
              <a:rPr lang="zh-CN" altLang="en-US" dirty="0"/>
              <a:t>直接数字签名的缺点</a:t>
            </a:r>
            <a:endParaRPr lang="en-US" altLang="zh-CN" dirty="0"/>
          </a:p>
          <a:p>
            <a:pPr lvl="1">
              <a:lnSpc>
                <a:spcPct val="150000"/>
              </a:lnSpc>
              <a:spcBef>
                <a:spcPct val="0"/>
              </a:spcBef>
              <a:buClr>
                <a:srgbClr val="000066"/>
              </a:buClr>
              <a:buSzPct val="80000"/>
            </a:pPr>
            <a:r>
              <a:rPr lang="zh-CN" altLang="en-US" dirty="0"/>
              <a:t>验证模式依赖于发送方的保密密钥；</a:t>
            </a:r>
          </a:p>
          <a:p>
            <a:pPr lvl="2">
              <a:lnSpc>
                <a:spcPct val="150000"/>
              </a:lnSpc>
            </a:pPr>
            <a:r>
              <a:rPr lang="zh-CN" altLang="en-US" sz="2400" dirty="0"/>
              <a:t>发送方要抵赖发送某一消息时，可能会声称其私有密钥丢失或被窃，从而他人伪造了他的签名。</a:t>
            </a:r>
          </a:p>
          <a:p>
            <a:pPr lvl="2">
              <a:lnSpc>
                <a:spcPct val="150000"/>
              </a:lnSpc>
            </a:pPr>
            <a:r>
              <a:rPr lang="zh-CN" altLang="en-US" sz="2400" dirty="0"/>
              <a:t>通常需要采用与私有密钥安全性相关的行政管理控制手段来制止或至少是削弱这种情况，但威胁在某种程度上依然存在。</a:t>
            </a:r>
          </a:p>
          <a:p>
            <a:pPr lvl="2">
              <a:lnSpc>
                <a:spcPct val="150000"/>
              </a:lnSpc>
            </a:pPr>
            <a:r>
              <a:rPr lang="zh-CN" altLang="en-US" sz="2400" dirty="0"/>
              <a:t>改进的方式例如可以要求被签名的信息包含一个时间戳（日期与时间），并要求将已暴露的密钥报告给一个授权中心。</a:t>
            </a:r>
          </a:p>
          <a:p>
            <a:pPr lvl="1">
              <a:lnSpc>
                <a:spcPct val="150000"/>
              </a:lnSpc>
            </a:pPr>
            <a:r>
              <a:rPr lang="en-US" altLang="zh-CN" dirty="0"/>
              <a:t>X</a:t>
            </a:r>
            <a:r>
              <a:rPr lang="zh-CN" altLang="en-US" dirty="0"/>
              <a:t>的某些私有密钥确实在时间</a:t>
            </a:r>
            <a:r>
              <a:rPr lang="en-US" altLang="zh-CN" dirty="0"/>
              <a:t>T</a:t>
            </a:r>
            <a:r>
              <a:rPr lang="zh-CN" altLang="en-US" dirty="0"/>
              <a:t>被窃取，敌方可以伪造</a:t>
            </a:r>
            <a:r>
              <a:rPr lang="en-US" altLang="zh-CN" dirty="0"/>
              <a:t>X</a:t>
            </a:r>
            <a:r>
              <a:rPr lang="zh-CN" altLang="en-US" dirty="0"/>
              <a:t>的签名及早于或等于时间</a:t>
            </a:r>
            <a:r>
              <a:rPr lang="en-US" altLang="zh-CN" dirty="0"/>
              <a:t>T</a:t>
            </a:r>
            <a:r>
              <a:rPr lang="zh-CN" altLang="en-US" dirty="0"/>
              <a:t>的时间戳。</a:t>
            </a:r>
          </a:p>
          <a:p>
            <a:pPr lvl="1">
              <a:lnSpc>
                <a:spcPct val="150000"/>
              </a:lnSpc>
              <a:spcBef>
                <a:spcPct val="0"/>
              </a:spcBef>
              <a:buFontTx/>
              <a:buNone/>
            </a:pPr>
            <a:endParaRPr lang="zh-CN" altLang="en-US" dirty="0"/>
          </a:p>
          <a:p>
            <a:pPr>
              <a:lnSpc>
                <a:spcPct val="150000"/>
              </a:lnSpc>
              <a:spcBef>
                <a:spcPct val="0"/>
              </a:spcBef>
              <a:buClr>
                <a:srgbClr val="000066"/>
              </a:buClr>
              <a:buSzPct val="80000"/>
            </a:pPr>
            <a:endParaRPr lang="zh-CN" altLang="en-US" dirty="0">
              <a:sym typeface="Wingdings" panose="05000000000000000000" pitchFamily="2"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102</a:t>
            </a:fld>
            <a:endParaRPr kumimoji="1" lang="zh-CN" altLang="en-US" dirty="0"/>
          </a:p>
        </p:txBody>
      </p:sp>
    </p:spTree>
    <p:extLst>
      <p:ext uri="{BB962C8B-B14F-4D97-AF65-F5344CB8AC3E}">
        <p14:creationId xmlns:p14="http://schemas.microsoft.com/office/powerpoint/2010/main" val="2913657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65018" y="1377538"/>
            <a:ext cx="10806546" cy="4987636"/>
          </a:xfrm>
        </p:spPr>
        <p:txBody>
          <a:bodyPr>
            <a:normAutofit/>
          </a:bodyPr>
          <a:lstStyle/>
          <a:p>
            <a:pPr>
              <a:lnSpc>
                <a:spcPct val="150000"/>
              </a:lnSpc>
              <a:spcBef>
                <a:spcPct val="0"/>
              </a:spcBef>
              <a:buClr>
                <a:srgbClr val="000066"/>
              </a:buClr>
              <a:buSzPct val="80000"/>
            </a:pPr>
            <a:r>
              <a:rPr lang="zh-CN" altLang="en-US" dirty="0"/>
              <a:t>仲裁数字签名</a:t>
            </a:r>
            <a:endParaRPr lang="en-US" altLang="zh-CN" dirty="0"/>
          </a:p>
          <a:p>
            <a:pPr lvl="1">
              <a:lnSpc>
                <a:spcPct val="150000"/>
              </a:lnSpc>
            </a:pPr>
            <a:r>
              <a:rPr lang="zh-CN" altLang="en-US" dirty="0"/>
              <a:t>引入仲裁者。</a:t>
            </a:r>
          </a:p>
          <a:p>
            <a:pPr lvl="2">
              <a:lnSpc>
                <a:spcPct val="150000"/>
              </a:lnSpc>
            </a:pPr>
            <a:r>
              <a:rPr lang="zh-CN" altLang="en-US" sz="2400" dirty="0"/>
              <a:t>通常的做法是所有从发送方</a:t>
            </a:r>
            <a:r>
              <a:rPr lang="en-US" altLang="zh-CN" sz="2400" dirty="0"/>
              <a:t>X</a:t>
            </a:r>
            <a:r>
              <a:rPr lang="zh-CN" altLang="en-US" sz="2400" dirty="0"/>
              <a:t>到接收方</a:t>
            </a:r>
            <a:r>
              <a:rPr lang="en-US" altLang="zh-CN" sz="2400" dirty="0"/>
              <a:t>Y</a:t>
            </a:r>
            <a:r>
              <a:rPr lang="zh-CN" altLang="en-US" sz="2400" dirty="0"/>
              <a:t>的签名消息首先送到仲裁者</a:t>
            </a:r>
            <a:r>
              <a:rPr lang="en-US" altLang="zh-CN" sz="2400" dirty="0"/>
              <a:t>A</a:t>
            </a:r>
            <a:r>
              <a:rPr lang="zh-CN" altLang="en-US" sz="2400" dirty="0"/>
              <a:t>，</a:t>
            </a:r>
            <a:r>
              <a:rPr lang="en-US" altLang="zh-CN" sz="2400" dirty="0"/>
              <a:t>A</a:t>
            </a:r>
            <a:r>
              <a:rPr lang="zh-CN" altLang="zh-CN" sz="2400" dirty="0"/>
              <a:t>将消息及其签名进行一系列测试，以检查其来源和内容，然后将消息</a:t>
            </a:r>
            <a:r>
              <a:rPr lang="zh-CN" altLang="zh-CN" sz="2400" dirty="0">
                <a:solidFill>
                  <a:srgbClr val="FF0000"/>
                </a:solidFill>
              </a:rPr>
              <a:t>加上日期</a:t>
            </a:r>
            <a:r>
              <a:rPr lang="zh-CN" altLang="zh-CN" sz="2400" dirty="0"/>
              <a:t>并与已被仲裁者验证通过的指示一起发给</a:t>
            </a:r>
            <a:r>
              <a:rPr lang="en-US" altLang="zh-CN" sz="2400" dirty="0"/>
              <a:t>Y</a:t>
            </a:r>
            <a:r>
              <a:rPr lang="zh-CN" altLang="en-US" sz="2400" dirty="0"/>
              <a:t>。</a:t>
            </a:r>
          </a:p>
          <a:p>
            <a:pPr lvl="1">
              <a:lnSpc>
                <a:spcPct val="150000"/>
              </a:lnSpc>
            </a:pPr>
            <a:r>
              <a:rPr lang="zh-CN" altLang="zh-CN" dirty="0"/>
              <a:t>仲裁者在这一类签名模式中扮演敏感和关键的角色。</a:t>
            </a:r>
          </a:p>
          <a:p>
            <a:pPr lvl="2">
              <a:lnSpc>
                <a:spcPct val="150000"/>
              </a:lnSpc>
            </a:pPr>
            <a:r>
              <a:rPr lang="zh-CN" altLang="zh-CN" sz="2400" dirty="0"/>
              <a:t>所有的参与者必须极大地相信这一仲裁机制工作正常。（</a:t>
            </a:r>
            <a:r>
              <a:rPr lang="en-US" altLang="zh-CN" sz="2400" dirty="0"/>
              <a:t>trusted system</a:t>
            </a:r>
            <a:r>
              <a:rPr lang="zh-CN" altLang="en-US" sz="2400" dirty="0"/>
              <a:t>）</a:t>
            </a:r>
          </a:p>
          <a:p>
            <a:pPr lvl="2">
              <a:lnSpc>
                <a:spcPct val="150000"/>
              </a:lnSpc>
              <a:spcBef>
                <a:spcPct val="0"/>
              </a:spcBef>
              <a:buFontTx/>
              <a:buNone/>
            </a:pPr>
            <a:endParaRPr lang="zh-CN" altLang="en-US" sz="2400" dirty="0"/>
          </a:p>
          <a:p>
            <a:pPr>
              <a:lnSpc>
                <a:spcPct val="150000"/>
              </a:lnSpc>
              <a:spcBef>
                <a:spcPct val="0"/>
              </a:spcBef>
              <a:buClr>
                <a:srgbClr val="000066"/>
              </a:buClr>
              <a:buSzPct val="80000"/>
            </a:pPr>
            <a:endParaRPr lang="zh-CN" altLang="en-US" dirty="0">
              <a:sym typeface="Wingdings" panose="05000000000000000000" pitchFamily="2"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103</a:t>
            </a:fld>
            <a:endParaRPr kumimoji="1" lang="zh-CN" altLang="en-US" dirty="0"/>
          </a:p>
        </p:txBody>
      </p:sp>
    </p:spTree>
    <p:extLst>
      <p:ext uri="{BB962C8B-B14F-4D97-AF65-F5344CB8AC3E}">
        <p14:creationId xmlns:p14="http://schemas.microsoft.com/office/powerpoint/2010/main" val="163223454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65018" y="1377538"/>
            <a:ext cx="10806546" cy="5480462"/>
          </a:xfrm>
        </p:spPr>
        <p:txBody>
          <a:bodyPr>
            <a:normAutofit/>
          </a:bodyPr>
          <a:lstStyle/>
          <a:p>
            <a:pPr>
              <a:lnSpc>
                <a:spcPct val="150000"/>
              </a:lnSpc>
              <a:spcBef>
                <a:spcPct val="0"/>
              </a:spcBef>
              <a:buClr>
                <a:srgbClr val="000066"/>
              </a:buClr>
              <a:buSzPct val="80000"/>
            </a:pPr>
            <a:r>
              <a:rPr lang="zh-CN" altLang="en-US" dirty="0"/>
              <a:t>仲裁数字签名</a:t>
            </a:r>
            <a:endParaRPr lang="en-US" altLang="zh-CN" dirty="0"/>
          </a:p>
          <a:p>
            <a:pPr lvl="1">
              <a:lnSpc>
                <a:spcPct val="150000"/>
              </a:lnSpc>
              <a:spcBef>
                <a:spcPct val="0"/>
              </a:spcBef>
              <a:buFontTx/>
              <a:buNone/>
            </a:pPr>
            <a:r>
              <a:rPr lang="en-US" altLang="zh-CN" dirty="0"/>
              <a:t>(a) </a:t>
            </a:r>
            <a:r>
              <a:rPr lang="zh-CN" altLang="en-US" dirty="0">
                <a:solidFill>
                  <a:srgbClr val="C00000"/>
                </a:solidFill>
              </a:rPr>
              <a:t>单密钥加密方式</a:t>
            </a:r>
            <a:r>
              <a:rPr lang="zh-CN" altLang="en-US" dirty="0"/>
              <a:t>，仲裁者可以看见消息</a:t>
            </a:r>
          </a:p>
          <a:p>
            <a:pPr lvl="1">
              <a:lnSpc>
                <a:spcPct val="150000"/>
              </a:lnSpc>
              <a:spcBef>
                <a:spcPct val="0"/>
              </a:spcBef>
              <a:buFontTx/>
              <a:buNone/>
            </a:pPr>
            <a:r>
              <a:rPr lang="zh-CN" altLang="en-US" dirty="0"/>
              <a:t>	</a:t>
            </a:r>
            <a:r>
              <a:rPr lang="en-US" altLang="zh-CN" dirty="0"/>
              <a:t>(1) X</a:t>
            </a:r>
            <a:r>
              <a:rPr lang="en-US" altLang="zh-CN" dirty="0">
                <a:sym typeface="Symbol" panose="05050102010706020507" pitchFamily="18" charset="2"/>
              </a:rPr>
              <a:t>A</a:t>
            </a:r>
            <a:r>
              <a:rPr lang="zh-CN" altLang="en-US" dirty="0">
                <a:sym typeface="Symbol" panose="05050102010706020507" pitchFamily="18" charset="2"/>
              </a:rPr>
              <a:t>：</a:t>
            </a:r>
            <a:r>
              <a:rPr lang="en-US" altLang="zh-CN" dirty="0">
                <a:solidFill>
                  <a:srgbClr val="FF0000"/>
                </a:solidFill>
                <a:sym typeface="Symbol" panose="05050102010706020507" pitchFamily="18" charset="2"/>
              </a:rPr>
              <a:t>M||</a:t>
            </a:r>
            <a:r>
              <a:rPr lang="en-US" altLang="zh-CN" dirty="0" err="1">
                <a:solidFill>
                  <a:srgbClr val="FF0000"/>
                </a:solidFill>
                <a:sym typeface="Symbol" panose="05050102010706020507" pitchFamily="18" charset="2"/>
              </a:rPr>
              <a:t>E</a:t>
            </a:r>
            <a:r>
              <a:rPr lang="en-US" altLang="zh-CN" baseline="-10000" dirty="0" err="1">
                <a:solidFill>
                  <a:srgbClr val="FF0000"/>
                </a:solidFill>
                <a:sym typeface="Symbol" panose="05050102010706020507" pitchFamily="18" charset="2"/>
              </a:rPr>
              <a:t>K</a:t>
            </a:r>
            <a:r>
              <a:rPr lang="en-US" altLang="zh-CN" baseline="-25000" dirty="0" err="1">
                <a:solidFill>
                  <a:srgbClr val="FF0000"/>
                </a:solidFill>
                <a:sym typeface="Symbol" panose="05050102010706020507" pitchFamily="18" charset="2"/>
              </a:rPr>
              <a:t>xa</a:t>
            </a:r>
            <a:r>
              <a:rPr lang="en-US" altLang="zh-CN" dirty="0">
                <a:solidFill>
                  <a:srgbClr val="FF0000"/>
                </a:solidFill>
                <a:sym typeface="Symbol" panose="05050102010706020507" pitchFamily="18" charset="2"/>
              </a:rPr>
              <a:t>[</a:t>
            </a:r>
            <a:r>
              <a:rPr lang="en-US" altLang="zh-CN" dirty="0" err="1">
                <a:solidFill>
                  <a:srgbClr val="FF0000"/>
                </a:solidFill>
                <a:sym typeface="Symbol" panose="05050102010706020507" pitchFamily="18" charset="2"/>
              </a:rPr>
              <a:t>ID</a:t>
            </a:r>
            <a:r>
              <a:rPr lang="en-US" altLang="zh-CN" baseline="-25000" dirty="0" err="1">
                <a:solidFill>
                  <a:srgbClr val="FF0000"/>
                </a:solidFill>
                <a:sym typeface="Symbol" panose="05050102010706020507" pitchFamily="18" charset="2"/>
              </a:rPr>
              <a:t>x</a:t>
            </a:r>
            <a:r>
              <a:rPr lang="en-US" altLang="zh-CN" dirty="0">
                <a:solidFill>
                  <a:srgbClr val="FF0000"/>
                </a:solidFill>
                <a:sym typeface="Symbol" panose="05050102010706020507" pitchFamily="18" charset="2"/>
              </a:rPr>
              <a:t>|| H(M)]</a:t>
            </a:r>
            <a:endParaRPr lang="en-US" altLang="zh-CN" dirty="0">
              <a:sym typeface="Symbol" panose="05050102010706020507" pitchFamily="18" charset="2"/>
            </a:endParaRPr>
          </a:p>
          <a:p>
            <a:pPr lvl="1">
              <a:lnSpc>
                <a:spcPct val="150000"/>
              </a:lnSpc>
              <a:spcBef>
                <a:spcPct val="0"/>
              </a:spcBef>
              <a:buFontTx/>
              <a:buNone/>
            </a:pPr>
            <a:r>
              <a:rPr lang="en-US" altLang="zh-CN" dirty="0">
                <a:sym typeface="Symbol" panose="05050102010706020507" pitchFamily="18" charset="2"/>
              </a:rPr>
              <a:t>	(2)</a:t>
            </a:r>
            <a:r>
              <a:rPr lang="en-US" altLang="zh-CN" dirty="0"/>
              <a:t> A</a:t>
            </a:r>
            <a:r>
              <a:rPr lang="en-US" altLang="zh-CN" dirty="0">
                <a:sym typeface="Symbol" panose="05050102010706020507" pitchFamily="18" charset="2"/>
              </a:rPr>
              <a:t>Y</a:t>
            </a:r>
            <a:r>
              <a:rPr lang="zh-CN" altLang="en-US" dirty="0">
                <a:sym typeface="Symbol" panose="05050102010706020507" pitchFamily="18" charset="2"/>
              </a:rPr>
              <a:t>：</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ay</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a:t>
            </a:r>
            <a:r>
              <a:rPr lang="en-US" altLang="zh-CN" dirty="0">
                <a:solidFill>
                  <a:srgbClr val="FF0000"/>
                </a:solidFill>
                <a:sym typeface="Symbol" panose="05050102010706020507" pitchFamily="18" charset="2"/>
              </a:rPr>
              <a:t>M || </a:t>
            </a:r>
            <a:r>
              <a:rPr lang="en-US" altLang="zh-CN" dirty="0" err="1">
                <a:solidFill>
                  <a:srgbClr val="FF0000"/>
                </a:solidFill>
                <a:sym typeface="Symbol" panose="05050102010706020507" pitchFamily="18" charset="2"/>
              </a:rPr>
              <a:t>E</a:t>
            </a:r>
            <a:r>
              <a:rPr lang="en-US" altLang="zh-CN" baseline="-10000" dirty="0" err="1">
                <a:solidFill>
                  <a:srgbClr val="FF0000"/>
                </a:solidFill>
                <a:sym typeface="Symbol" panose="05050102010706020507" pitchFamily="18" charset="2"/>
              </a:rPr>
              <a:t>K</a:t>
            </a:r>
            <a:r>
              <a:rPr lang="en-US" altLang="zh-CN" baseline="-25000" dirty="0" err="1">
                <a:solidFill>
                  <a:srgbClr val="FF0000"/>
                </a:solidFill>
                <a:sym typeface="Symbol" panose="05050102010706020507" pitchFamily="18" charset="2"/>
              </a:rPr>
              <a:t>xa</a:t>
            </a:r>
            <a:r>
              <a:rPr lang="en-US" altLang="zh-CN" dirty="0">
                <a:solidFill>
                  <a:srgbClr val="FF0000"/>
                </a:solidFill>
                <a:sym typeface="Symbol" panose="05050102010706020507" pitchFamily="18" charset="2"/>
              </a:rPr>
              <a:t>[</a:t>
            </a:r>
            <a:r>
              <a:rPr lang="en-US" altLang="zh-CN" dirty="0" err="1">
                <a:solidFill>
                  <a:srgbClr val="FF0000"/>
                </a:solidFill>
                <a:sym typeface="Symbol" panose="05050102010706020507" pitchFamily="18" charset="2"/>
              </a:rPr>
              <a:t>ID</a:t>
            </a:r>
            <a:r>
              <a:rPr lang="en-US" altLang="zh-CN" baseline="-25000" dirty="0" err="1">
                <a:solidFill>
                  <a:srgbClr val="FF0000"/>
                </a:solidFill>
                <a:sym typeface="Symbol" panose="05050102010706020507" pitchFamily="18" charset="2"/>
              </a:rPr>
              <a:t>x</a:t>
            </a:r>
            <a:r>
              <a:rPr lang="en-US" altLang="zh-CN" dirty="0">
                <a:solidFill>
                  <a:srgbClr val="FF0000"/>
                </a:solidFill>
                <a:sym typeface="Symbol" panose="05050102010706020507" pitchFamily="18" charset="2"/>
              </a:rPr>
              <a:t>|| H(M)] </a:t>
            </a:r>
            <a:r>
              <a:rPr lang="en-US" altLang="zh-CN" dirty="0">
                <a:sym typeface="Symbol" panose="05050102010706020507" pitchFamily="18" charset="2"/>
              </a:rPr>
              <a:t>|| T]</a:t>
            </a:r>
            <a:endParaRPr lang="zh-CN" altLang="en-US" sz="2400" dirty="0"/>
          </a:p>
          <a:p>
            <a:pPr lvl="1">
              <a:lnSpc>
                <a:spcPct val="120000"/>
              </a:lnSpc>
              <a:spcBef>
                <a:spcPct val="0"/>
              </a:spcBef>
              <a:buFontTx/>
              <a:buNone/>
            </a:pPr>
            <a:r>
              <a:rPr lang="en-US" altLang="zh-CN" sz="2200" dirty="0">
                <a:highlight>
                  <a:srgbClr val="FFFF00"/>
                </a:highlight>
              </a:rPr>
              <a:t>X</a:t>
            </a:r>
            <a:r>
              <a:rPr lang="zh-CN" altLang="en-US" sz="2200" dirty="0">
                <a:highlight>
                  <a:srgbClr val="FFFF00"/>
                </a:highlight>
              </a:rPr>
              <a:t>与</a:t>
            </a:r>
            <a:r>
              <a:rPr lang="en-US" altLang="zh-CN" sz="2200" dirty="0">
                <a:highlight>
                  <a:srgbClr val="FFFF00"/>
                </a:highlight>
              </a:rPr>
              <a:t>A</a:t>
            </a:r>
            <a:r>
              <a:rPr lang="zh-CN" altLang="en-US" sz="2200" dirty="0">
                <a:highlight>
                  <a:srgbClr val="FFFF00"/>
                </a:highlight>
              </a:rPr>
              <a:t>之间共享密钥</a:t>
            </a:r>
            <a:r>
              <a:rPr lang="en-US" altLang="zh-CN" sz="2200" dirty="0" err="1">
                <a:highlight>
                  <a:srgbClr val="FFFF00"/>
                </a:highlight>
              </a:rPr>
              <a:t>K</a:t>
            </a:r>
            <a:r>
              <a:rPr lang="en-US" altLang="zh-CN" sz="2200" baseline="-25000" dirty="0" err="1">
                <a:highlight>
                  <a:srgbClr val="FFFF00"/>
                </a:highlight>
                <a:sym typeface="Symbol" panose="05050102010706020507" pitchFamily="18" charset="2"/>
              </a:rPr>
              <a:t>xa</a:t>
            </a:r>
            <a:r>
              <a:rPr lang="zh-CN" altLang="en-US" sz="2200" dirty="0">
                <a:highlight>
                  <a:srgbClr val="FFFF00"/>
                </a:highlight>
              </a:rPr>
              <a:t>，</a:t>
            </a:r>
            <a:r>
              <a:rPr lang="en-US" altLang="zh-CN" sz="2200" dirty="0">
                <a:highlight>
                  <a:srgbClr val="FFFF00"/>
                </a:highlight>
              </a:rPr>
              <a:t>Y</a:t>
            </a:r>
            <a:r>
              <a:rPr lang="zh-CN" altLang="zh-CN" sz="2200" dirty="0">
                <a:highlight>
                  <a:srgbClr val="FFFF00"/>
                </a:highlight>
              </a:rPr>
              <a:t>与</a:t>
            </a:r>
            <a:r>
              <a:rPr lang="en-US" altLang="zh-CN" sz="2200" dirty="0">
                <a:highlight>
                  <a:srgbClr val="FFFF00"/>
                </a:highlight>
              </a:rPr>
              <a:t>A</a:t>
            </a:r>
            <a:r>
              <a:rPr lang="zh-CN" altLang="zh-CN" sz="2200" dirty="0">
                <a:highlight>
                  <a:srgbClr val="FFFF00"/>
                </a:highlight>
              </a:rPr>
              <a:t>之间共享密钥</a:t>
            </a:r>
            <a:r>
              <a:rPr lang="en-US" altLang="zh-CN" sz="2200" dirty="0">
                <a:highlight>
                  <a:srgbClr val="FFFF00"/>
                </a:highlight>
              </a:rPr>
              <a:t>K</a:t>
            </a:r>
            <a:r>
              <a:rPr lang="en-US" altLang="zh-CN" sz="2200" baseline="-25000" dirty="0">
                <a:highlight>
                  <a:srgbClr val="FFFF00"/>
                </a:highlight>
                <a:sym typeface="Symbol" panose="05050102010706020507" pitchFamily="18" charset="2"/>
              </a:rPr>
              <a:t>ay</a:t>
            </a:r>
            <a:r>
              <a:rPr lang="zh-CN" altLang="en-US" sz="2200" dirty="0">
                <a:highlight>
                  <a:srgbClr val="FFFF00"/>
                </a:highlight>
              </a:rPr>
              <a:t>；</a:t>
            </a:r>
          </a:p>
          <a:p>
            <a:pPr lvl="1">
              <a:lnSpc>
                <a:spcPct val="120000"/>
              </a:lnSpc>
              <a:spcBef>
                <a:spcPct val="0"/>
              </a:spcBef>
              <a:buFontTx/>
              <a:buNone/>
            </a:pPr>
            <a:r>
              <a:rPr lang="en-US" altLang="zh-CN" sz="2200" dirty="0"/>
              <a:t>X</a:t>
            </a:r>
            <a:r>
              <a:rPr lang="zh-CN" altLang="en-US" sz="2200" dirty="0"/>
              <a:t>：</a:t>
            </a:r>
            <a:r>
              <a:rPr lang="zh-CN" altLang="zh-CN" sz="2200" dirty="0"/>
              <a:t>准备消息</a:t>
            </a:r>
            <a:r>
              <a:rPr lang="en-US" altLang="zh-CN" sz="2200" dirty="0"/>
              <a:t>M</a:t>
            </a:r>
            <a:r>
              <a:rPr lang="zh-CN" altLang="en-US" sz="2200" dirty="0"/>
              <a:t>，计算其散列码</a:t>
            </a:r>
            <a:r>
              <a:rPr lang="en-US" altLang="zh-CN" sz="2200" dirty="0"/>
              <a:t>H(M)</a:t>
            </a:r>
            <a:r>
              <a:rPr lang="zh-CN" altLang="en-US" sz="2200" dirty="0"/>
              <a:t>，用</a:t>
            </a:r>
            <a:r>
              <a:rPr lang="en-US" altLang="zh-CN" sz="2200" dirty="0"/>
              <a:t>X</a:t>
            </a:r>
            <a:r>
              <a:rPr lang="zh-CN" altLang="en-US" sz="2200" dirty="0"/>
              <a:t>的</a:t>
            </a:r>
            <a:r>
              <a:rPr lang="zh-CN" altLang="en-US" sz="2200" dirty="0">
                <a:highlight>
                  <a:srgbClr val="FFFF00"/>
                </a:highlight>
              </a:rPr>
              <a:t>标识符</a:t>
            </a:r>
            <a:r>
              <a:rPr lang="en-US" altLang="zh-CN" sz="2200" dirty="0" err="1">
                <a:highlight>
                  <a:srgbClr val="FFFF00"/>
                </a:highlight>
                <a:sym typeface="Symbol" panose="05050102010706020507" pitchFamily="18" charset="2"/>
              </a:rPr>
              <a:t>ID</a:t>
            </a:r>
            <a:r>
              <a:rPr lang="en-US" altLang="zh-CN" sz="2200" baseline="-25000" dirty="0" err="1">
                <a:highlight>
                  <a:srgbClr val="FFFF00"/>
                </a:highlight>
                <a:sym typeface="Symbol" panose="05050102010706020507" pitchFamily="18" charset="2"/>
              </a:rPr>
              <a:t>x</a:t>
            </a:r>
            <a:r>
              <a:rPr lang="en-US" altLang="zh-CN" sz="2200" dirty="0">
                <a:highlight>
                  <a:srgbClr val="FFFF00"/>
                </a:highlight>
              </a:rPr>
              <a:t> </a:t>
            </a:r>
            <a:r>
              <a:rPr lang="zh-CN" altLang="en-US" sz="2200" dirty="0"/>
              <a:t>和散列值构成</a:t>
            </a:r>
          </a:p>
          <a:p>
            <a:pPr lvl="1">
              <a:lnSpc>
                <a:spcPct val="120000"/>
              </a:lnSpc>
              <a:spcBef>
                <a:spcPct val="0"/>
              </a:spcBef>
              <a:buFontTx/>
              <a:buNone/>
            </a:pPr>
            <a:r>
              <a:rPr lang="zh-CN" altLang="en-US" sz="2200" dirty="0"/>
              <a:t>       签名，并将消息及签名经</a:t>
            </a:r>
            <a:r>
              <a:rPr lang="en-US" altLang="zh-CN" sz="2200" dirty="0" err="1"/>
              <a:t>K</a:t>
            </a:r>
            <a:r>
              <a:rPr lang="en-US" altLang="zh-CN" sz="2200" baseline="-25000" dirty="0" err="1">
                <a:sym typeface="Symbol" panose="05050102010706020507" pitchFamily="18" charset="2"/>
              </a:rPr>
              <a:t>xa</a:t>
            </a:r>
            <a:r>
              <a:rPr lang="zh-CN" altLang="en-US" sz="2200" dirty="0"/>
              <a:t>加密后发送给</a:t>
            </a:r>
            <a:r>
              <a:rPr lang="en-US" altLang="zh-CN" sz="2200" dirty="0"/>
              <a:t>A</a:t>
            </a:r>
            <a:r>
              <a:rPr lang="zh-CN" altLang="en-US" sz="2200" dirty="0"/>
              <a:t>；</a:t>
            </a:r>
          </a:p>
          <a:p>
            <a:pPr lvl="1">
              <a:lnSpc>
                <a:spcPct val="120000"/>
              </a:lnSpc>
              <a:spcBef>
                <a:spcPct val="0"/>
              </a:spcBef>
              <a:buFontTx/>
              <a:buNone/>
            </a:pPr>
            <a:r>
              <a:rPr lang="en-US" altLang="zh-CN" sz="2200" dirty="0"/>
              <a:t>A</a:t>
            </a:r>
            <a:r>
              <a:rPr lang="zh-CN" altLang="en-US" sz="2200" dirty="0"/>
              <a:t>：解密签名，</a:t>
            </a:r>
            <a:r>
              <a:rPr lang="zh-CN" altLang="en-US" sz="2200" dirty="0">
                <a:solidFill>
                  <a:srgbClr val="FF0000"/>
                </a:solidFill>
              </a:rPr>
              <a:t>用</a:t>
            </a:r>
            <a:r>
              <a:rPr lang="en-US" altLang="zh-CN" sz="2200" dirty="0">
                <a:solidFill>
                  <a:srgbClr val="FF0000"/>
                </a:solidFill>
              </a:rPr>
              <a:t>H(M)</a:t>
            </a:r>
            <a:r>
              <a:rPr lang="zh-CN" altLang="en-US" sz="2200" dirty="0">
                <a:solidFill>
                  <a:srgbClr val="FF0000"/>
                </a:solidFill>
              </a:rPr>
              <a:t>验证消息</a:t>
            </a:r>
            <a:r>
              <a:rPr lang="en-US" altLang="zh-CN" sz="2200" dirty="0">
                <a:solidFill>
                  <a:srgbClr val="FF0000"/>
                </a:solidFill>
              </a:rPr>
              <a:t>M</a:t>
            </a:r>
            <a:r>
              <a:rPr lang="zh-CN" altLang="en-US" sz="2200" dirty="0">
                <a:solidFill>
                  <a:srgbClr val="FF0000"/>
                </a:solidFill>
              </a:rPr>
              <a:t>（这个没有在公式中表示）</a:t>
            </a:r>
            <a:r>
              <a:rPr lang="zh-CN" altLang="en-US" sz="2200" dirty="0"/>
              <a:t>，然后将</a:t>
            </a:r>
            <a:r>
              <a:rPr lang="en-US" altLang="zh-CN" sz="2200" dirty="0" err="1"/>
              <a:t>ID</a:t>
            </a:r>
            <a:r>
              <a:rPr lang="en-US" altLang="zh-CN" sz="2200" baseline="-25000" dirty="0" err="1">
                <a:sym typeface="Symbol" panose="05050102010706020507" pitchFamily="18" charset="2"/>
              </a:rPr>
              <a:t>x</a:t>
            </a:r>
            <a:r>
              <a:rPr lang="zh-CN" altLang="en-US" sz="2200" dirty="0"/>
              <a:t>，</a:t>
            </a:r>
            <a:r>
              <a:rPr lang="en-US" altLang="zh-CN" sz="2200" dirty="0"/>
              <a:t>M</a:t>
            </a:r>
            <a:r>
              <a:rPr lang="zh-CN" altLang="en-US" sz="2200" dirty="0"/>
              <a:t>，签名，和时间戳一起经</a:t>
            </a:r>
            <a:r>
              <a:rPr lang="en-US" altLang="zh-CN" sz="2200" dirty="0"/>
              <a:t>K</a:t>
            </a:r>
            <a:r>
              <a:rPr lang="en-US" altLang="zh-CN" sz="2200" baseline="-25000" dirty="0">
                <a:sym typeface="Symbol" panose="05050102010706020507" pitchFamily="18" charset="2"/>
              </a:rPr>
              <a:t>ay</a:t>
            </a:r>
            <a:r>
              <a:rPr lang="zh-CN" altLang="zh-CN" sz="2200" dirty="0"/>
              <a:t>加密后发送给</a:t>
            </a:r>
            <a:r>
              <a:rPr lang="en-US" altLang="zh-CN" sz="2200" dirty="0"/>
              <a:t>Y</a:t>
            </a:r>
            <a:r>
              <a:rPr lang="zh-CN" altLang="en-US" sz="2200" dirty="0"/>
              <a:t>；</a:t>
            </a:r>
          </a:p>
          <a:p>
            <a:pPr lvl="1">
              <a:lnSpc>
                <a:spcPct val="120000"/>
              </a:lnSpc>
              <a:spcBef>
                <a:spcPct val="0"/>
              </a:spcBef>
              <a:buFontTx/>
              <a:buNone/>
            </a:pPr>
            <a:r>
              <a:rPr lang="en-US" altLang="zh-CN" sz="2200" dirty="0"/>
              <a:t>Y</a:t>
            </a:r>
            <a:r>
              <a:rPr lang="zh-CN" altLang="en-US" sz="2200" dirty="0"/>
              <a:t>：解密</a:t>
            </a:r>
            <a:r>
              <a:rPr lang="en-US" altLang="zh-CN" sz="2200" dirty="0"/>
              <a:t>A</a:t>
            </a:r>
            <a:r>
              <a:rPr lang="zh-CN" altLang="en-US" sz="2200" dirty="0"/>
              <a:t>发来的信息，并可将</a:t>
            </a:r>
            <a:r>
              <a:rPr lang="en-US" altLang="zh-CN" sz="2200" dirty="0">
                <a:solidFill>
                  <a:srgbClr val="FF0000"/>
                </a:solidFill>
              </a:rPr>
              <a:t>M</a:t>
            </a:r>
            <a:r>
              <a:rPr lang="zh-CN" altLang="en-US" sz="2200" dirty="0">
                <a:solidFill>
                  <a:srgbClr val="FF0000"/>
                </a:solidFill>
              </a:rPr>
              <a:t>和签名保存起来</a:t>
            </a:r>
            <a:r>
              <a:rPr lang="zh-CN" altLang="en-US" sz="2200" dirty="0"/>
              <a:t>。</a:t>
            </a:r>
          </a:p>
          <a:p>
            <a:pPr>
              <a:lnSpc>
                <a:spcPct val="150000"/>
              </a:lnSpc>
              <a:spcBef>
                <a:spcPct val="0"/>
              </a:spcBef>
              <a:buClr>
                <a:srgbClr val="000066"/>
              </a:buClr>
              <a:buSzPct val="80000"/>
            </a:pPr>
            <a:endParaRPr lang="zh-CN" altLang="en-US" dirty="0">
              <a:sym typeface="Wingdings" panose="05000000000000000000" pitchFamily="2"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104</a:t>
            </a:fld>
            <a:endParaRPr kumimoji="1" lang="zh-CN" altLang="en-US" dirty="0"/>
          </a:p>
        </p:txBody>
      </p:sp>
    </p:spTree>
    <p:extLst>
      <p:ext uri="{BB962C8B-B14F-4D97-AF65-F5344CB8AC3E}">
        <p14:creationId xmlns:p14="http://schemas.microsoft.com/office/powerpoint/2010/main" val="48616643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65018" y="1377538"/>
            <a:ext cx="10806546" cy="5115336"/>
          </a:xfrm>
        </p:spPr>
        <p:txBody>
          <a:bodyPr>
            <a:normAutofit/>
          </a:bodyPr>
          <a:lstStyle/>
          <a:p>
            <a:pPr>
              <a:lnSpc>
                <a:spcPct val="150000"/>
              </a:lnSpc>
              <a:spcBef>
                <a:spcPct val="0"/>
              </a:spcBef>
              <a:buClr>
                <a:srgbClr val="000066"/>
              </a:buClr>
              <a:buSzPct val="80000"/>
            </a:pPr>
            <a:r>
              <a:rPr lang="zh-CN" altLang="en-US" dirty="0"/>
              <a:t>仲裁数字签名</a:t>
            </a:r>
            <a:endParaRPr lang="en-US" altLang="zh-CN" dirty="0"/>
          </a:p>
          <a:p>
            <a:pPr lvl="1">
              <a:lnSpc>
                <a:spcPct val="150000"/>
              </a:lnSpc>
              <a:spcBef>
                <a:spcPct val="0"/>
              </a:spcBef>
              <a:buFontTx/>
              <a:buNone/>
            </a:pPr>
            <a:r>
              <a:rPr lang="en-US" altLang="zh-CN" dirty="0"/>
              <a:t>(a) </a:t>
            </a:r>
            <a:r>
              <a:rPr lang="zh-CN" altLang="en-US" dirty="0"/>
              <a:t>单密钥加密方式，仲裁者可以看见消息</a:t>
            </a:r>
          </a:p>
          <a:p>
            <a:pPr lvl="1">
              <a:lnSpc>
                <a:spcPct val="150000"/>
              </a:lnSpc>
              <a:spcBef>
                <a:spcPct val="0"/>
              </a:spcBef>
              <a:buFontTx/>
              <a:buNone/>
            </a:pPr>
            <a:r>
              <a:rPr lang="zh-CN" altLang="en-US" dirty="0"/>
              <a:t>	</a:t>
            </a:r>
            <a:r>
              <a:rPr lang="en-US" altLang="zh-CN" dirty="0"/>
              <a:t>(1) X</a:t>
            </a:r>
            <a:r>
              <a:rPr lang="en-US" altLang="zh-CN" dirty="0">
                <a:sym typeface="Symbol" panose="05050102010706020507" pitchFamily="18" charset="2"/>
              </a:rPr>
              <a:t>A</a:t>
            </a:r>
            <a:r>
              <a:rPr lang="zh-CN" altLang="en-US" dirty="0">
                <a:sym typeface="Symbol" panose="05050102010706020507" pitchFamily="18" charset="2"/>
              </a:rPr>
              <a:t>：</a:t>
            </a:r>
            <a:r>
              <a:rPr lang="en-US" altLang="zh-CN" dirty="0">
                <a:sym typeface="Symbol" panose="05050102010706020507" pitchFamily="18" charset="2"/>
              </a:rPr>
              <a:t>M||</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xa</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H(M)]</a:t>
            </a:r>
          </a:p>
          <a:p>
            <a:pPr lvl="1">
              <a:lnSpc>
                <a:spcPct val="150000"/>
              </a:lnSpc>
              <a:spcBef>
                <a:spcPct val="0"/>
              </a:spcBef>
              <a:buFontTx/>
              <a:buNone/>
            </a:pPr>
            <a:r>
              <a:rPr lang="en-US" altLang="zh-CN" dirty="0">
                <a:sym typeface="Symbol" panose="05050102010706020507" pitchFamily="18" charset="2"/>
              </a:rPr>
              <a:t>	(2)</a:t>
            </a:r>
            <a:r>
              <a:rPr lang="en-US" altLang="zh-CN" dirty="0"/>
              <a:t> A</a:t>
            </a:r>
            <a:r>
              <a:rPr lang="en-US" altLang="zh-CN" dirty="0">
                <a:sym typeface="Symbol" panose="05050102010706020507" pitchFamily="18" charset="2"/>
              </a:rPr>
              <a:t>Y</a:t>
            </a:r>
            <a:r>
              <a:rPr lang="zh-CN" altLang="en-US" dirty="0">
                <a:sym typeface="Symbol" panose="05050102010706020507" pitchFamily="18" charset="2"/>
              </a:rPr>
              <a:t>：</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ay</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M || </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xa</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H(M)] || T]</a:t>
            </a:r>
            <a:endParaRPr lang="zh-CN" altLang="en-US" sz="2400" dirty="0"/>
          </a:p>
          <a:p>
            <a:pPr lvl="1">
              <a:lnSpc>
                <a:spcPct val="150000"/>
              </a:lnSpc>
              <a:spcBef>
                <a:spcPct val="0"/>
              </a:spcBef>
              <a:buFontTx/>
              <a:buNone/>
            </a:pPr>
            <a:r>
              <a:rPr lang="zh-CN" altLang="en-US" dirty="0">
                <a:solidFill>
                  <a:srgbClr val="C00000"/>
                </a:solidFill>
              </a:rPr>
              <a:t>解决纠纷</a:t>
            </a:r>
            <a:r>
              <a:rPr lang="zh-CN" altLang="en-US" dirty="0"/>
              <a:t>：</a:t>
            </a:r>
          </a:p>
          <a:p>
            <a:pPr lvl="1">
              <a:lnSpc>
                <a:spcPct val="150000"/>
              </a:lnSpc>
              <a:spcBef>
                <a:spcPct val="0"/>
              </a:spcBef>
              <a:buFontTx/>
              <a:buNone/>
            </a:pPr>
            <a:r>
              <a:rPr lang="en-US" altLang="zh-CN" dirty="0"/>
              <a:t>Y</a:t>
            </a:r>
            <a:r>
              <a:rPr lang="zh-CN" altLang="en-US" dirty="0"/>
              <a:t>：向</a:t>
            </a:r>
            <a:r>
              <a:rPr lang="en-US" altLang="zh-CN" dirty="0"/>
              <a:t>A</a:t>
            </a:r>
            <a:r>
              <a:rPr lang="zh-CN" altLang="en-US" dirty="0"/>
              <a:t>发送 </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ay</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M || </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xa</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H(M)]]</a:t>
            </a:r>
            <a:r>
              <a:rPr lang="en-US" altLang="zh-CN" dirty="0"/>
              <a:t> </a:t>
            </a:r>
          </a:p>
          <a:p>
            <a:pPr lvl="1">
              <a:lnSpc>
                <a:spcPct val="150000"/>
              </a:lnSpc>
              <a:spcBef>
                <a:spcPct val="0"/>
              </a:spcBef>
              <a:buFontTx/>
              <a:buNone/>
            </a:pPr>
            <a:r>
              <a:rPr lang="en-US" altLang="zh-CN" dirty="0"/>
              <a:t>A</a:t>
            </a:r>
            <a:r>
              <a:rPr lang="zh-CN" altLang="en-US" dirty="0"/>
              <a:t>：用</a:t>
            </a:r>
            <a:r>
              <a:rPr lang="en-US" altLang="zh-CN" baseline="-10000" dirty="0">
                <a:sym typeface="Symbol" panose="05050102010706020507" pitchFamily="18" charset="2"/>
              </a:rPr>
              <a:t>K</a:t>
            </a:r>
            <a:r>
              <a:rPr lang="en-US" altLang="zh-CN" baseline="-25000" dirty="0">
                <a:sym typeface="Symbol" panose="05050102010706020507" pitchFamily="18" charset="2"/>
              </a:rPr>
              <a:t>ay</a:t>
            </a:r>
            <a:r>
              <a:rPr lang="zh-CN" altLang="en-US" dirty="0">
                <a:sym typeface="Symbol" panose="05050102010706020507" pitchFamily="18" charset="2"/>
              </a:rPr>
              <a:t>恢复</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zh-CN" altLang="en-US" dirty="0">
                <a:sym typeface="Symbol" panose="05050102010706020507" pitchFamily="18" charset="2"/>
              </a:rPr>
              <a:t>，</a:t>
            </a:r>
            <a:r>
              <a:rPr lang="en-US" altLang="zh-CN" dirty="0">
                <a:sym typeface="Symbol" panose="05050102010706020507" pitchFamily="18" charset="2"/>
              </a:rPr>
              <a:t>M</a:t>
            </a:r>
            <a:r>
              <a:rPr lang="zh-CN" altLang="en-US" dirty="0">
                <a:sym typeface="Symbol" panose="05050102010706020507" pitchFamily="18" charset="2"/>
              </a:rPr>
              <a:t>，和签名（ </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xa</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H(M)]</a:t>
            </a:r>
            <a:r>
              <a:rPr lang="zh-CN" altLang="en-US" dirty="0">
                <a:sym typeface="Symbol" panose="05050102010706020507" pitchFamily="18" charset="2"/>
              </a:rPr>
              <a:t>），然后用</a:t>
            </a:r>
            <a:r>
              <a:rPr lang="en-US" altLang="zh-CN" dirty="0" err="1"/>
              <a:t>K</a:t>
            </a:r>
            <a:r>
              <a:rPr lang="en-US" altLang="zh-CN" baseline="-25000" dirty="0" err="1">
                <a:sym typeface="Symbol" panose="05050102010706020507" pitchFamily="18" charset="2"/>
              </a:rPr>
              <a:t>xa</a:t>
            </a:r>
            <a:r>
              <a:rPr lang="zh-CN" altLang="en-US" dirty="0"/>
              <a:t>解密签</a:t>
            </a:r>
          </a:p>
          <a:p>
            <a:pPr lvl="1">
              <a:lnSpc>
                <a:spcPct val="150000"/>
              </a:lnSpc>
              <a:spcBef>
                <a:spcPct val="0"/>
              </a:spcBef>
              <a:buFontTx/>
              <a:buNone/>
            </a:pPr>
            <a:r>
              <a:rPr lang="zh-CN" altLang="en-US" dirty="0"/>
              <a:t>       名并验证散列码</a:t>
            </a:r>
          </a:p>
          <a:p>
            <a:pPr>
              <a:lnSpc>
                <a:spcPct val="150000"/>
              </a:lnSpc>
              <a:spcBef>
                <a:spcPct val="0"/>
              </a:spcBef>
              <a:buClr>
                <a:srgbClr val="000066"/>
              </a:buClr>
              <a:buSzPct val="80000"/>
            </a:pPr>
            <a:endParaRPr lang="zh-CN" altLang="en-US" dirty="0">
              <a:sym typeface="Wingdings" panose="05000000000000000000" pitchFamily="2"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105</a:t>
            </a:fld>
            <a:endParaRPr kumimoji="1" lang="zh-CN" altLang="en-US" dirty="0"/>
          </a:p>
        </p:txBody>
      </p:sp>
    </p:spTree>
    <p:extLst>
      <p:ext uri="{BB962C8B-B14F-4D97-AF65-F5344CB8AC3E}">
        <p14:creationId xmlns:p14="http://schemas.microsoft.com/office/powerpoint/2010/main" val="249403894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65018" y="1377538"/>
            <a:ext cx="10806546" cy="5115336"/>
          </a:xfrm>
        </p:spPr>
        <p:txBody>
          <a:bodyPr>
            <a:normAutofit lnSpcReduction="10000"/>
          </a:bodyPr>
          <a:lstStyle/>
          <a:p>
            <a:pPr>
              <a:lnSpc>
                <a:spcPct val="150000"/>
              </a:lnSpc>
              <a:spcBef>
                <a:spcPct val="0"/>
              </a:spcBef>
              <a:buClr>
                <a:srgbClr val="000066"/>
              </a:buClr>
              <a:buSzPct val="80000"/>
            </a:pPr>
            <a:r>
              <a:rPr lang="zh-CN" altLang="en-US" dirty="0"/>
              <a:t>仲裁数字签名</a:t>
            </a:r>
            <a:endParaRPr lang="en-US" altLang="zh-CN" dirty="0"/>
          </a:p>
          <a:p>
            <a:pPr lvl="1">
              <a:lnSpc>
                <a:spcPct val="150000"/>
              </a:lnSpc>
              <a:spcBef>
                <a:spcPct val="0"/>
              </a:spcBef>
              <a:buFontTx/>
              <a:buNone/>
            </a:pPr>
            <a:r>
              <a:rPr lang="en-US" altLang="zh-CN" dirty="0"/>
              <a:t>(b) </a:t>
            </a:r>
            <a:r>
              <a:rPr lang="zh-CN" altLang="en-US" dirty="0"/>
              <a:t>单密钥加密方式，仲裁者不可以看见消息</a:t>
            </a:r>
          </a:p>
          <a:p>
            <a:pPr lvl="1">
              <a:lnSpc>
                <a:spcPct val="150000"/>
              </a:lnSpc>
              <a:spcBef>
                <a:spcPct val="0"/>
              </a:spcBef>
              <a:buFontTx/>
              <a:buNone/>
            </a:pPr>
            <a:r>
              <a:rPr lang="zh-CN" altLang="en-US" dirty="0"/>
              <a:t>	</a:t>
            </a:r>
            <a:r>
              <a:rPr lang="en-US" altLang="zh-CN" dirty="0"/>
              <a:t>(1) X</a:t>
            </a:r>
            <a:r>
              <a:rPr lang="en-US" altLang="zh-CN" dirty="0">
                <a:sym typeface="Symbol" panose="05050102010706020507" pitchFamily="18" charset="2"/>
              </a:rPr>
              <a:t>A</a:t>
            </a:r>
            <a:r>
              <a:rPr lang="zh-CN" altLang="en-US" dirty="0">
                <a:sym typeface="Symbol" panose="05050102010706020507" pitchFamily="18" charset="2"/>
              </a:rPr>
              <a:t>： </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 </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xy</a:t>
            </a:r>
            <a:r>
              <a:rPr lang="en-US" altLang="zh-CN" dirty="0">
                <a:sym typeface="Symbol" panose="05050102010706020507" pitchFamily="18" charset="2"/>
              </a:rPr>
              <a:t>[M]||</a:t>
            </a:r>
            <a:r>
              <a:rPr lang="en-US" altLang="zh-CN" dirty="0" err="1">
                <a:solidFill>
                  <a:srgbClr val="FF0000"/>
                </a:solidFill>
                <a:sym typeface="Symbol" panose="05050102010706020507" pitchFamily="18" charset="2"/>
              </a:rPr>
              <a:t>E</a:t>
            </a:r>
            <a:r>
              <a:rPr lang="en-US" altLang="zh-CN" baseline="-10000" dirty="0" err="1">
                <a:solidFill>
                  <a:srgbClr val="FF0000"/>
                </a:solidFill>
                <a:sym typeface="Symbol" panose="05050102010706020507" pitchFamily="18" charset="2"/>
              </a:rPr>
              <a:t>K</a:t>
            </a:r>
            <a:r>
              <a:rPr lang="en-US" altLang="zh-CN" baseline="-25000" dirty="0" err="1">
                <a:solidFill>
                  <a:srgbClr val="FF0000"/>
                </a:solidFill>
                <a:sym typeface="Symbol" panose="05050102010706020507" pitchFamily="18" charset="2"/>
              </a:rPr>
              <a:t>xa</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H(</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xy</a:t>
            </a:r>
            <a:r>
              <a:rPr lang="en-US" altLang="zh-CN" dirty="0">
                <a:sym typeface="Symbol" panose="05050102010706020507" pitchFamily="18" charset="2"/>
              </a:rPr>
              <a:t>[M])]</a:t>
            </a:r>
          </a:p>
          <a:p>
            <a:pPr lvl="1">
              <a:lnSpc>
                <a:spcPct val="150000"/>
              </a:lnSpc>
              <a:spcBef>
                <a:spcPct val="0"/>
              </a:spcBef>
              <a:buFontTx/>
              <a:buNone/>
            </a:pPr>
            <a:r>
              <a:rPr lang="en-US" altLang="zh-CN" dirty="0">
                <a:sym typeface="Symbol" panose="05050102010706020507" pitchFamily="18" charset="2"/>
              </a:rPr>
              <a:t>	(2)</a:t>
            </a:r>
            <a:r>
              <a:rPr lang="en-US" altLang="zh-CN" dirty="0"/>
              <a:t> A</a:t>
            </a:r>
            <a:r>
              <a:rPr lang="en-US" altLang="zh-CN" dirty="0">
                <a:sym typeface="Symbol" panose="05050102010706020507" pitchFamily="18" charset="2"/>
              </a:rPr>
              <a:t>Y</a:t>
            </a:r>
            <a:r>
              <a:rPr lang="zh-CN" altLang="en-US" dirty="0">
                <a:sym typeface="Symbol" panose="05050102010706020507" pitchFamily="18" charset="2"/>
              </a:rPr>
              <a:t>：</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ay</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xy</a:t>
            </a:r>
            <a:r>
              <a:rPr lang="en-US" altLang="zh-CN" dirty="0">
                <a:sym typeface="Symbol" panose="05050102010706020507" pitchFamily="18" charset="2"/>
              </a:rPr>
              <a:t>[M] || </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xa</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H(</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xy</a:t>
            </a:r>
            <a:r>
              <a:rPr lang="en-US" altLang="zh-CN" dirty="0">
                <a:sym typeface="Symbol" panose="05050102010706020507" pitchFamily="18" charset="2"/>
              </a:rPr>
              <a:t>[M])] || T]</a:t>
            </a:r>
          </a:p>
          <a:p>
            <a:pPr lvl="1">
              <a:lnSpc>
                <a:spcPct val="150000"/>
              </a:lnSpc>
              <a:spcBef>
                <a:spcPct val="0"/>
              </a:spcBef>
              <a:buFontTx/>
              <a:buNone/>
            </a:pPr>
            <a:r>
              <a:rPr lang="zh-CN" altLang="en-US" dirty="0"/>
              <a:t>在这种情况下，</a:t>
            </a:r>
            <a:r>
              <a:rPr lang="en-US" altLang="zh-CN" dirty="0">
                <a:highlight>
                  <a:srgbClr val="FFFF00"/>
                </a:highlight>
              </a:rPr>
              <a:t>X</a:t>
            </a:r>
            <a:r>
              <a:rPr lang="zh-CN" altLang="en-US" dirty="0">
                <a:highlight>
                  <a:srgbClr val="FFFF00"/>
                </a:highlight>
              </a:rPr>
              <a:t>与</a:t>
            </a:r>
            <a:r>
              <a:rPr lang="en-US" altLang="zh-CN" dirty="0">
                <a:highlight>
                  <a:srgbClr val="FFFF00"/>
                </a:highlight>
              </a:rPr>
              <a:t>Y</a:t>
            </a:r>
            <a:r>
              <a:rPr lang="zh-CN" altLang="en-US" dirty="0">
                <a:highlight>
                  <a:srgbClr val="FFFF00"/>
                </a:highlight>
              </a:rPr>
              <a:t>之间共享密钥</a:t>
            </a:r>
            <a:r>
              <a:rPr lang="en-US" altLang="zh-CN" dirty="0" err="1">
                <a:highlight>
                  <a:srgbClr val="FFFF00"/>
                </a:highlight>
              </a:rPr>
              <a:t>K</a:t>
            </a:r>
            <a:r>
              <a:rPr lang="en-US" altLang="zh-CN" baseline="-25000" dirty="0" err="1">
                <a:highlight>
                  <a:srgbClr val="FFFF00"/>
                </a:highlight>
              </a:rPr>
              <a:t>xy</a:t>
            </a:r>
            <a:r>
              <a:rPr lang="zh-CN" altLang="en-US" dirty="0"/>
              <a:t>，</a:t>
            </a:r>
          </a:p>
          <a:p>
            <a:pPr lvl="1">
              <a:lnSpc>
                <a:spcPct val="150000"/>
              </a:lnSpc>
              <a:spcBef>
                <a:spcPct val="0"/>
              </a:spcBef>
              <a:buFontTx/>
              <a:buNone/>
            </a:pPr>
            <a:r>
              <a:rPr lang="en-US" altLang="zh-CN" dirty="0"/>
              <a:t>X</a:t>
            </a:r>
            <a:r>
              <a:rPr lang="zh-CN" altLang="en-US" dirty="0"/>
              <a:t>：将标识符</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a:t>
            </a:r>
            <a:r>
              <a:rPr lang="zh-CN" altLang="zh-CN" dirty="0">
                <a:sym typeface="Symbol" panose="05050102010706020507" pitchFamily="18" charset="2"/>
              </a:rPr>
              <a:t>密文</a:t>
            </a:r>
            <a:r>
              <a:rPr lang="zh-CN" altLang="en-US" dirty="0">
                <a:sym typeface="Symbol" panose="05050102010706020507" pitchFamily="18" charset="2"/>
              </a:rPr>
              <a:t>  </a:t>
            </a:r>
            <a:r>
              <a:rPr lang="en-US" altLang="zh-CN" dirty="0" err="1">
                <a:sym typeface="Symbol" panose="05050102010706020507" pitchFamily="18" charset="2"/>
              </a:rPr>
              <a:t>E</a:t>
            </a:r>
            <a:r>
              <a:rPr lang="en-US" altLang="zh-CN" baseline="-10000" dirty="0" err="1">
                <a:sym typeface="Symbol" panose="05050102010706020507" pitchFamily="18" charset="2"/>
              </a:rPr>
              <a:t>K</a:t>
            </a:r>
            <a:r>
              <a:rPr lang="en-US" altLang="zh-CN" baseline="-25000" dirty="0" err="1">
                <a:sym typeface="Symbol" panose="05050102010706020507" pitchFamily="18" charset="2"/>
              </a:rPr>
              <a:t>xy</a:t>
            </a:r>
            <a:r>
              <a:rPr lang="en-US" altLang="zh-CN" dirty="0">
                <a:sym typeface="Symbol" panose="05050102010706020507" pitchFamily="18" charset="2"/>
              </a:rPr>
              <a:t>[M]</a:t>
            </a:r>
            <a:r>
              <a:rPr lang="zh-CN" altLang="en-US" dirty="0">
                <a:sym typeface="Symbol" panose="05050102010706020507" pitchFamily="18" charset="2"/>
              </a:rPr>
              <a:t>，以及对</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zh-CN" altLang="en-US" dirty="0">
                <a:sym typeface="Symbol" panose="05050102010706020507" pitchFamily="18" charset="2"/>
              </a:rPr>
              <a:t>和密文消息的散列码用 </a:t>
            </a:r>
            <a:r>
              <a:rPr lang="en-US" altLang="zh-CN" dirty="0" err="1">
                <a:sym typeface="Symbol" panose="05050102010706020507" pitchFamily="18" charset="2"/>
              </a:rPr>
              <a:t>K</a:t>
            </a:r>
            <a:r>
              <a:rPr lang="en-US" altLang="zh-CN" baseline="-25000" dirty="0" err="1"/>
              <a:t>xa</a:t>
            </a:r>
            <a:r>
              <a:rPr lang="zh-CN" altLang="en-US" dirty="0"/>
              <a:t>加密后形成签名</a:t>
            </a:r>
            <a:r>
              <a:rPr lang="zh-CN" altLang="en-US" dirty="0">
                <a:sym typeface="Symbol" panose="05050102010706020507" pitchFamily="18" charset="2"/>
              </a:rPr>
              <a:t>发送给</a:t>
            </a:r>
            <a:r>
              <a:rPr lang="en-US" altLang="zh-CN" dirty="0">
                <a:sym typeface="Symbol" panose="05050102010706020507" pitchFamily="18" charset="2"/>
              </a:rPr>
              <a:t>A</a:t>
            </a:r>
            <a:r>
              <a:rPr lang="zh-CN" altLang="en-US" dirty="0">
                <a:sym typeface="Symbol" panose="05050102010706020507" pitchFamily="18" charset="2"/>
              </a:rPr>
              <a:t>。</a:t>
            </a:r>
          </a:p>
          <a:p>
            <a:pPr lvl="1">
              <a:lnSpc>
                <a:spcPct val="150000"/>
              </a:lnSpc>
              <a:spcBef>
                <a:spcPct val="0"/>
              </a:spcBef>
              <a:buFontTx/>
              <a:buNone/>
            </a:pPr>
            <a:r>
              <a:rPr lang="en-US" altLang="zh-CN" dirty="0">
                <a:sym typeface="Symbol" panose="05050102010706020507" pitchFamily="18" charset="2"/>
              </a:rPr>
              <a:t>A</a:t>
            </a:r>
            <a:r>
              <a:rPr lang="zh-CN" altLang="en-US" dirty="0">
                <a:sym typeface="Symbol" panose="05050102010706020507" pitchFamily="18" charset="2"/>
              </a:rPr>
              <a:t>：解密签名，用散列码验证消息，这时</a:t>
            </a:r>
            <a:r>
              <a:rPr lang="en-US" altLang="zh-CN" dirty="0">
                <a:sym typeface="Symbol" panose="05050102010706020507" pitchFamily="18" charset="2"/>
              </a:rPr>
              <a:t>A</a:t>
            </a:r>
            <a:r>
              <a:rPr lang="zh-CN" altLang="en-US" dirty="0">
                <a:sym typeface="Symbol" panose="05050102010706020507" pitchFamily="18" charset="2"/>
              </a:rPr>
              <a:t>只能验证消息的密文而不能读取其内容。然后</a:t>
            </a:r>
            <a:r>
              <a:rPr lang="en-US" altLang="zh-CN" dirty="0">
                <a:sym typeface="Symbol" panose="05050102010706020507" pitchFamily="18" charset="2"/>
              </a:rPr>
              <a:t>A</a:t>
            </a:r>
            <a:r>
              <a:rPr lang="zh-CN" altLang="en-US" dirty="0">
                <a:sym typeface="Symbol" panose="05050102010706020507" pitchFamily="18" charset="2"/>
              </a:rPr>
              <a:t>将来自</a:t>
            </a:r>
            <a:r>
              <a:rPr lang="en-US" altLang="zh-CN" dirty="0">
                <a:sym typeface="Symbol" panose="05050102010706020507" pitchFamily="18" charset="2"/>
              </a:rPr>
              <a:t>X</a:t>
            </a:r>
            <a:r>
              <a:rPr lang="zh-CN" altLang="en-US" dirty="0">
                <a:sym typeface="Symbol" panose="05050102010706020507" pitchFamily="18" charset="2"/>
              </a:rPr>
              <a:t>的所有信息加上时间戳并用</a:t>
            </a:r>
            <a:r>
              <a:rPr lang="en-US" altLang="zh-CN" dirty="0">
                <a:sym typeface="Symbol" panose="05050102010706020507" pitchFamily="18" charset="2"/>
              </a:rPr>
              <a:t>K</a:t>
            </a:r>
            <a:r>
              <a:rPr lang="en-US" altLang="zh-CN" baseline="-25000" dirty="0"/>
              <a:t>ay</a:t>
            </a:r>
            <a:r>
              <a:rPr lang="zh-CN" altLang="en-US" dirty="0"/>
              <a:t>加密后发送给</a:t>
            </a:r>
            <a:r>
              <a:rPr lang="en-US" altLang="zh-CN" dirty="0"/>
              <a:t>Y</a:t>
            </a:r>
            <a:r>
              <a:rPr lang="zh-CN" altLang="en-US" dirty="0"/>
              <a:t>。</a:t>
            </a:r>
            <a:endParaRPr lang="zh-CN" altLang="en-US" baseline="-25000" dirty="0"/>
          </a:p>
          <a:p>
            <a:pPr>
              <a:lnSpc>
                <a:spcPct val="150000"/>
              </a:lnSpc>
              <a:spcBef>
                <a:spcPct val="0"/>
              </a:spcBef>
              <a:buClr>
                <a:srgbClr val="000066"/>
              </a:buClr>
              <a:buSzPct val="80000"/>
            </a:pPr>
            <a:endParaRPr lang="zh-CN" altLang="en-US" dirty="0">
              <a:sym typeface="Wingdings" panose="05000000000000000000" pitchFamily="2"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106</a:t>
            </a:fld>
            <a:endParaRPr kumimoji="1" lang="zh-CN" altLang="en-US" dirty="0"/>
          </a:p>
        </p:txBody>
      </p:sp>
    </p:spTree>
    <p:extLst>
      <p:ext uri="{BB962C8B-B14F-4D97-AF65-F5344CB8AC3E}">
        <p14:creationId xmlns:p14="http://schemas.microsoft.com/office/powerpoint/2010/main" val="10453672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65018" y="1377538"/>
            <a:ext cx="10806546" cy="5115336"/>
          </a:xfrm>
        </p:spPr>
        <p:txBody>
          <a:bodyPr>
            <a:normAutofit/>
          </a:bodyPr>
          <a:lstStyle/>
          <a:p>
            <a:pPr>
              <a:lnSpc>
                <a:spcPct val="150000"/>
              </a:lnSpc>
              <a:spcBef>
                <a:spcPct val="0"/>
              </a:spcBef>
              <a:buClr>
                <a:srgbClr val="000066"/>
              </a:buClr>
              <a:buSzPct val="80000"/>
            </a:pPr>
            <a:r>
              <a:rPr lang="zh-CN" altLang="en-US" dirty="0"/>
              <a:t>仲裁数字签名</a:t>
            </a:r>
            <a:endParaRPr lang="en-US" altLang="zh-CN" dirty="0"/>
          </a:p>
          <a:p>
            <a:pPr lvl="1">
              <a:lnSpc>
                <a:spcPct val="150000"/>
              </a:lnSpc>
              <a:spcBef>
                <a:spcPct val="0"/>
              </a:spcBef>
              <a:buFontTx/>
              <a:buNone/>
            </a:pPr>
            <a:r>
              <a:rPr lang="en-US" altLang="zh-CN" dirty="0"/>
              <a:t>(a)</a:t>
            </a:r>
            <a:r>
              <a:rPr lang="zh-CN" altLang="zh-CN" dirty="0"/>
              <a:t>和</a:t>
            </a:r>
            <a:r>
              <a:rPr lang="en-US" altLang="zh-CN" dirty="0"/>
              <a:t>(b)</a:t>
            </a:r>
            <a:r>
              <a:rPr lang="zh-CN" altLang="zh-CN" dirty="0"/>
              <a:t>共同存在一个共性问题：</a:t>
            </a:r>
          </a:p>
          <a:p>
            <a:pPr lvl="1">
              <a:lnSpc>
                <a:spcPct val="150000"/>
              </a:lnSpc>
              <a:spcBef>
                <a:spcPct val="0"/>
              </a:spcBef>
              <a:buFontTx/>
              <a:buNone/>
            </a:pPr>
            <a:r>
              <a:rPr lang="zh-CN" altLang="zh-CN" dirty="0"/>
              <a:t>	</a:t>
            </a:r>
            <a:r>
              <a:rPr lang="en-US" altLang="zh-CN" dirty="0"/>
              <a:t>A</a:t>
            </a:r>
            <a:r>
              <a:rPr lang="zh-CN" altLang="zh-CN" dirty="0"/>
              <a:t>和发送方联手可以否认签名的信息；</a:t>
            </a:r>
          </a:p>
          <a:p>
            <a:pPr lvl="1">
              <a:lnSpc>
                <a:spcPct val="150000"/>
              </a:lnSpc>
              <a:spcBef>
                <a:spcPct val="0"/>
              </a:spcBef>
              <a:buFontTx/>
              <a:buNone/>
            </a:pPr>
            <a:r>
              <a:rPr lang="zh-CN" altLang="zh-CN" dirty="0"/>
              <a:t>	</a:t>
            </a:r>
            <a:r>
              <a:rPr lang="en-US" altLang="zh-CN" dirty="0"/>
              <a:t>A</a:t>
            </a:r>
            <a:r>
              <a:rPr lang="zh-CN" altLang="zh-CN" dirty="0"/>
              <a:t>和接收方联手可以伪造发送方的签名；</a:t>
            </a:r>
            <a:endParaRPr lang="en-US" altLang="zh-CN" dirty="0"/>
          </a:p>
          <a:p>
            <a:pPr lvl="1">
              <a:lnSpc>
                <a:spcPct val="150000"/>
              </a:lnSpc>
              <a:spcBef>
                <a:spcPct val="0"/>
              </a:spcBef>
              <a:buFontTx/>
              <a:buNone/>
            </a:pPr>
            <a:r>
              <a:rPr lang="en-US" altLang="zh-CN" dirty="0"/>
              <a:t>  </a:t>
            </a:r>
            <a:r>
              <a:rPr lang="zh-CN" altLang="en-US" dirty="0"/>
              <a:t>原则上说，这两种方案都只用到了对称加密的方法，是不能保证安全的，但是用流程和信任强行弥补了缺陷，因此换言之，需要信任这个机构</a:t>
            </a:r>
            <a:r>
              <a:rPr lang="en-US" altLang="zh-CN" dirty="0"/>
              <a:t>A</a:t>
            </a:r>
            <a:endParaRPr lang="zh-CN" altLang="en-US" dirty="0"/>
          </a:p>
          <a:p>
            <a:pPr>
              <a:lnSpc>
                <a:spcPct val="150000"/>
              </a:lnSpc>
              <a:spcBef>
                <a:spcPct val="0"/>
              </a:spcBef>
              <a:buClr>
                <a:srgbClr val="000066"/>
              </a:buClr>
              <a:buSzPct val="80000"/>
            </a:pPr>
            <a:endParaRPr lang="zh-CN" altLang="en-US" dirty="0">
              <a:sym typeface="Wingdings" panose="05000000000000000000" pitchFamily="2"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107</a:t>
            </a:fld>
            <a:endParaRPr kumimoji="1" lang="zh-CN" altLang="en-US" dirty="0"/>
          </a:p>
        </p:txBody>
      </p:sp>
    </p:spTree>
    <p:extLst>
      <p:ext uri="{BB962C8B-B14F-4D97-AF65-F5344CB8AC3E}">
        <p14:creationId xmlns:p14="http://schemas.microsoft.com/office/powerpoint/2010/main" val="359467011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65018" y="1377538"/>
            <a:ext cx="10806546" cy="5115336"/>
          </a:xfrm>
        </p:spPr>
        <p:txBody>
          <a:bodyPr>
            <a:normAutofit/>
          </a:bodyPr>
          <a:lstStyle/>
          <a:p>
            <a:pPr>
              <a:lnSpc>
                <a:spcPct val="150000"/>
              </a:lnSpc>
              <a:spcBef>
                <a:spcPct val="0"/>
              </a:spcBef>
              <a:buClr>
                <a:srgbClr val="000066"/>
              </a:buClr>
              <a:buSzPct val="80000"/>
            </a:pPr>
            <a:r>
              <a:rPr lang="zh-CN" altLang="en-US" dirty="0"/>
              <a:t>仲裁数字签名</a:t>
            </a:r>
            <a:endParaRPr lang="en-US" altLang="zh-CN" dirty="0"/>
          </a:p>
          <a:p>
            <a:pPr lvl="1">
              <a:lnSpc>
                <a:spcPct val="150000"/>
              </a:lnSpc>
              <a:spcBef>
                <a:spcPct val="0"/>
              </a:spcBef>
              <a:buFontTx/>
              <a:buNone/>
            </a:pPr>
            <a:r>
              <a:rPr lang="en-US" altLang="zh-CN" dirty="0"/>
              <a:t>(c) </a:t>
            </a:r>
            <a:r>
              <a:rPr lang="zh-CN" altLang="en-US" dirty="0"/>
              <a:t>双密钥加密方式，仲裁者不可以看见消息</a:t>
            </a:r>
          </a:p>
          <a:p>
            <a:pPr lvl="1">
              <a:lnSpc>
                <a:spcPct val="150000"/>
              </a:lnSpc>
              <a:spcBef>
                <a:spcPct val="0"/>
              </a:spcBef>
              <a:buFontTx/>
              <a:buNone/>
            </a:pPr>
            <a:r>
              <a:rPr lang="zh-CN" altLang="en-US" dirty="0"/>
              <a:t>	</a:t>
            </a:r>
            <a:r>
              <a:rPr lang="en-US" altLang="zh-CN" dirty="0"/>
              <a:t>(1) X</a:t>
            </a:r>
            <a:r>
              <a:rPr lang="en-US" altLang="zh-CN" dirty="0">
                <a:sym typeface="Symbol" panose="05050102010706020507" pitchFamily="18" charset="2"/>
              </a:rPr>
              <a:t>A</a:t>
            </a:r>
            <a:r>
              <a:rPr lang="zh-CN" altLang="en-US" dirty="0">
                <a:sym typeface="Symbol" panose="05050102010706020507" pitchFamily="18" charset="2"/>
              </a:rPr>
              <a:t>： </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 </a:t>
            </a:r>
            <a:r>
              <a:rPr lang="en-US" altLang="zh-CN" dirty="0" err="1">
                <a:sym typeface="Symbol" panose="05050102010706020507" pitchFamily="18" charset="2"/>
              </a:rPr>
              <a:t>E</a:t>
            </a:r>
            <a:r>
              <a:rPr lang="en-US" altLang="zh-CN" baseline="-10000" dirty="0" err="1">
                <a:sym typeface="Symbol" panose="05050102010706020507" pitchFamily="18" charset="2"/>
              </a:rPr>
              <a:t>KR</a:t>
            </a:r>
            <a:r>
              <a:rPr lang="en-US" altLang="zh-CN" baseline="-25000" dirty="0" err="1">
                <a:sym typeface="Symbol" panose="05050102010706020507" pitchFamily="18" charset="2"/>
              </a:rPr>
              <a:t>x</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 </a:t>
            </a:r>
            <a:r>
              <a:rPr lang="en-US" altLang="zh-CN" dirty="0" err="1">
                <a:solidFill>
                  <a:srgbClr val="FF0000"/>
                </a:solidFill>
                <a:sym typeface="Symbol" panose="05050102010706020507" pitchFamily="18" charset="2"/>
              </a:rPr>
              <a:t>E</a:t>
            </a:r>
            <a:r>
              <a:rPr lang="en-US" altLang="zh-CN" baseline="-10000" dirty="0" err="1">
                <a:solidFill>
                  <a:srgbClr val="FF0000"/>
                </a:solidFill>
                <a:sym typeface="Symbol" panose="05050102010706020507" pitchFamily="18" charset="2"/>
              </a:rPr>
              <a:t>KU</a:t>
            </a:r>
            <a:r>
              <a:rPr lang="en-US" altLang="zh-CN" baseline="-25000" dirty="0" err="1">
                <a:solidFill>
                  <a:srgbClr val="FF0000"/>
                </a:solidFill>
                <a:sym typeface="Symbol" panose="05050102010706020507" pitchFamily="18" charset="2"/>
              </a:rPr>
              <a:t>y</a:t>
            </a:r>
            <a:r>
              <a:rPr lang="en-US" altLang="zh-CN" dirty="0">
                <a:solidFill>
                  <a:srgbClr val="FF0000"/>
                </a:solidFill>
                <a:sym typeface="Symbol" panose="05050102010706020507" pitchFamily="18" charset="2"/>
              </a:rPr>
              <a:t> (</a:t>
            </a:r>
            <a:r>
              <a:rPr lang="en-US" altLang="zh-CN" dirty="0" err="1">
                <a:solidFill>
                  <a:srgbClr val="FF0000"/>
                </a:solidFill>
                <a:sym typeface="Symbol" panose="05050102010706020507" pitchFamily="18" charset="2"/>
              </a:rPr>
              <a:t>E</a:t>
            </a:r>
            <a:r>
              <a:rPr lang="en-US" altLang="zh-CN" baseline="-10000" dirty="0" err="1">
                <a:solidFill>
                  <a:srgbClr val="FF0000"/>
                </a:solidFill>
                <a:sym typeface="Symbol" panose="05050102010706020507" pitchFamily="18" charset="2"/>
              </a:rPr>
              <a:t>KR</a:t>
            </a:r>
            <a:r>
              <a:rPr lang="en-US" altLang="zh-CN" baseline="-25000" dirty="0" err="1">
                <a:solidFill>
                  <a:srgbClr val="FF0000"/>
                </a:solidFill>
                <a:sym typeface="Symbol" panose="05050102010706020507" pitchFamily="18" charset="2"/>
              </a:rPr>
              <a:t>x</a:t>
            </a:r>
            <a:r>
              <a:rPr lang="en-US" altLang="zh-CN" dirty="0">
                <a:solidFill>
                  <a:srgbClr val="FF0000"/>
                </a:solidFill>
                <a:sym typeface="Symbol" panose="05050102010706020507" pitchFamily="18" charset="2"/>
              </a:rPr>
              <a:t>[M]) </a:t>
            </a:r>
            <a:r>
              <a:rPr lang="en-US" altLang="zh-CN" dirty="0">
                <a:sym typeface="Symbol" panose="05050102010706020507" pitchFamily="18" charset="2"/>
              </a:rPr>
              <a:t>]</a:t>
            </a:r>
          </a:p>
          <a:p>
            <a:pPr lvl="1">
              <a:lnSpc>
                <a:spcPct val="150000"/>
              </a:lnSpc>
              <a:spcBef>
                <a:spcPct val="0"/>
              </a:spcBef>
              <a:buFontTx/>
              <a:buNone/>
            </a:pPr>
            <a:r>
              <a:rPr lang="en-US" altLang="zh-CN" dirty="0">
                <a:sym typeface="Symbol" panose="05050102010706020507" pitchFamily="18" charset="2"/>
              </a:rPr>
              <a:t>	(2)</a:t>
            </a:r>
            <a:r>
              <a:rPr lang="en-US" altLang="zh-CN" dirty="0"/>
              <a:t> A</a:t>
            </a:r>
            <a:r>
              <a:rPr lang="en-US" altLang="zh-CN" dirty="0">
                <a:sym typeface="Symbol" panose="05050102010706020507" pitchFamily="18" charset="2"/>
              </a:rPr>
              <a:t>Y</a:t>
            </a:r>
            <a:r>
              <a:rPr lang="zh-CN" altLang="en-US" dirty="0">
                <a:sym typeface="Symbol" panose="05050102010706020507" pitchFamily="18" charset="2"/>
              </a:rPr>
              <a:t>： </a:t>
            </a:r>
            <a:r>
              <a:rPr lang="en-US" altLang="zh-CN" dirty="0" err="1">
                <a:sym typeface="Symbol" panose="05050102010706020507" pitchFamily="18" charset="2"/>
              </a:rPr>
              <a:t>E</a:t>
            </a:r>
            <a:r>
              <a:rPr lang="en-US" altLang="zh-CN" baseline="-10000" dirty="0" err="1">
                <a:sym typeface="Symbol" panose="05050102010706020507" pitchFamily="18" charset="2"/>
              </a:rPr>
              <a:t>KR</a:t>
            </a:r>
            <a:r>
              <a:rPr lang="en-US" altLang="zh-CN" baseline="-25000" dirty="0" err="1">
                <a:sym typeface="Symbol" panose="05050102010706020507" pitchFamily="18" charset="2"/>
              </a:rPr>
              <a:t>a</a:t>
            </a:r>
            <a:r>
              <a:rPr lang="en-US" altLang="zh-CN" dirty="0">
                <a:sym typeface="Symbol" panose="05050102010706020507" pitchFamily="18" charset="2"/>
              </a:rPr>
              <a:t>[</a:t>
            </a:r>
            <a:r>
              <a:rPr lang="en-US" altLang="zh-CN" dirty="0" err="1">
                <a:sym typeface="Symbol" panose="05050102010706020507" pitchFamily="18" charset="2"/>
              </a:rPr>
              <a:t>ID</a:t>
            </a:r>
            <a:r>
              <a:rPr lang="en-US" altLang="zh-CN" baseline="-25000" dirty="0" err="1">
                <a:sym typeface="Symbol" panose="05050102010706020507" pitchFamily="18" charset="2"/>
              </a:rPr>
              <a:t>x</a:t>
            </a:r>
            <a:r>
              <a:rPr lang="en-US" altLang="zh-CN" dirty="0">
                <a:sym typeface="Symbol" panose="05050102010706020507" pitchFamily="18" charset="2"/>
              </a:rPr>
              <a:t>|| </a:t>
            </a:r>
            <a:r>
              <a:rPr lang="en-US" altLang="zh-CN" dirty="0" err="1">
                <a:solidFill>
                  <a:srgbClr val="FF0000"/>
                </a:solidFill>
                <a:sym typeface="Symbol" panose="05050102010706020507" pitchFamily="18" charset="2"/>
              </a:rPr>
              <a:t>E</a:t>
            </a:r>
            <a:r>
              <a:rPr lang="en-US" altLang="zh-CN" baseline="-10000" dirty="0" err="1">
                <a:solidFill>
                  <a:srgbClr val="FF0000"/>
                </a:solidFill>
                <a:sym typeface="Symbol" panose="05050102010706020507" pitchFamily="18" charset="2"/>
              </a:rPr>
              <a:t>KU</a:t>
            </a:r>
            <a:r>
              <a:rPr lang="en-US" altLang="zh-CN" baseline="-25000" dirty="0" err="1">
                <a:solidFill>
                  <a:srgbClr val="FF0000"/>
                </a:solidFill>
                <a:sym typeface="Symbol" panose="05050102010706020507" pitchFamily="18" charset="2"/>
              </a:rPr>
              <a:t>y</a:t>
            </a:r>
            <a:r>
              <a:rPr lang="en-US" altLang="zh-CN" dirty="0">
                <a:solidFill>
                  <a:srgbClr val="FF0000"/>
                </a:solidFill>
                <a:sym typeface="Symbol" panose="05050102010706020507" pitchFamily="18" charset="2"/>
              </a:rPr>
              <a:t>[</a:t>
            </a:r>
            <a:r>
              <a:rPr lang="en-US" altLang="zh-CN" dirty="0" err="1">
                <a:solidFill>
                  <a:srgbClr val="FF0000"/>
                </a:solidFill>
                <a:sym typeface="Symbol" panose="05050102010706020507" pitchFamily="18" charset="2"/>
              </a:rPr>
              <a:t>E</a:t>
            </a:r>
            <a:r>
              <a:rPr lang="en-US" altLang="zh-CN" baseline="-10000" dirty="0" err="1">
                <a:solidFill>
                  <a:srgbClr val="FF0000"/>
                </a:solidFill>
                <a:sym typeface="Symbol" panose="05050102010706020507" pitchFamily="18" charset="2"/>
              </a:rPr>
              <a:t>KR</a:t>
            </a:r>
            <a:r>
              <a:rPr lang="en-US" altLang="zh-CN" baseline="-25000" dirty="0" err="1">
                <a:solidFill>
                  <a:srgbClr val="FF0000"/>
                </a:solidFill>
                <a:sym typeface="Symbol" panose="05050102010706020507" pitchFamily="18" charset="2"/>
              </a:rPr>
              <a:t>x</a:t>
            </a:r>
            <a:r>
              <a:rPr lang="en-US" altLang="zh-CN" dirty="0">
                <a:solidFill>
                  <a:srgbClr val="FF0000"/>
                </a:solidFill>
                <a:sym typeface="Symbol" panose="05050102010706020507" pitchFamily="18" charset="2"/>
              </a:rPr>
              <a:t>[M]</a:t>
            </a:r>
            <a:r>
              <a:rPr lang="en-US" altLang="zh-CN" dirty="0">
                <a:sym typeface="Symbol" panose="05050102010706020507" pitchFamily="18" charset="2"/>
              </a:rPr>
              <a:t>] || T]</a:t>
            </a:r>
          </a:p>
          <a:p>
            <a:pPr lvl="1">
              <a:lnSpc>
                <a:spcPct val="150000"/>
              </a:lnSpc>
              <a:spcBef>
                <a:spcPct val="0"/>
              </a:spcBef>
              <a:buFontTx/>
              <a:buNone/>
            </a:pPr>
            <a:r>
              <a:rPr lang="en-US" altLang="zh-CN" sz="2000" dirty="0"/>
              <a:t>X</a:t>
            </a:r>
            <a:r>
              <a:rPr lang="zh-CN" altLang="en-US" sz="2000" dirty="0"/>
              <a:t>：</a:t>
            </a:r>
            <a:r>
              <a:rPr lang="zh-CN" altLang="zh-CN" sz="2000" dirty="0"/>
              <a:t>对消息</a:t>
            </a:r>
            <a:r>
              <a:rPr lang="en-US" altLang="zh-CN" sz="2000" dirty="0"/>
              <a:t>M</a:t>
            </a:r>
            <a:r>
              <a:rPr lang="zh-CN" altLang="zh-CN" sz="2000" dirty="0"/>
              <a:t>双重加密：首先用</a:t>
            </a:r>
            <a:r>
              <a:rPr lang="en-US" altLang="zh-CN" sz="2000" dirty="0">
                <a:highlight>
                  <a:srgbClr val="FFFF00"/>
                </a:highlight>
              </a:rPr>
              <a:t>X</a:t>
            </a:r>
            <a:r>
              <a:rPr lang="zh-CN" altLang="zh-CN" sz="2000" dirty="0">
                <a:highlight>
                  <a:srgbClr val="FFFF00"/>
                </a:highlight>
              </a:rPr>
              <a:t>的私有密钥</a:t>
            </a:r>
            <a:r>
              <a:rPr lang="en-US" altLang="zh-CN" sz="2000" dirty="0" err="1">
                <a:highlight>
                  <a:srgbClr val="FFFF00"/>
                </a:highlight>
              </a:rPr>
              <a:t>KRx</a:t>
            </a:r>
            <a:r>
              <a:rPr lang="zh-CN" altLang="en-US" sz="2000" dirty="0"/>
              <a:t>，然后用</a:t>
            </a:r>
            <a:r>
              <a:rPr lang="en-US" altLang="zh-CN" sz="2000" dirty="0">
                <a:highlight>
                  <a:srgbClr val="FFFF00"/>
                </a:highlight>
              </a:rPr>
              <a:t>Y</a:t>
            </a:r>
            <a:r>
              <a:rPr lang="zh-CN" altLang="en-US" sz="2000" dirty="0">
                <a:highlight>
                  <a:srgbClr val="FFFF00"/>
                </a:highlight>
              </a:rPr>
              <a:t>的公开密钥</a:t>
            </a:r>
            <a:r>
              <a:rPr lang="en-US" altLang="zh-CN" sz="2000" dirty="0" err="1">
                <a:highlight>
                  <a:srgbClr val="FFFF00"/>
                </a:highlight>
              </a:rPr>
              <a:t>KUy</a:t>
            </a:r>
            <a:r>
              <a:rPr lang="zh-CN" altLang="en-US" sz="2000" dirty="0"/>
              <a:t>。形成一个签名的、保密的消息。然后将该信息以及</a:t>
            </a:r>
            <a:r>
              <a:rPr lang="en-US" altLang="zh-CN" sz="2000" dirty="0"/>
              <a:t>X</a:t>
            </a:r>
            <a:r>
              <a:rPr lang="zh-CN" altLang="en-US" sz="2000" dirty="0"/>
              <a:t>的标识符一起用</a:t>
            </a:r>
            <a:r>
              <a:rPr lang="en-US" altLang="zh-CN" sz="2000" dirty="0" err="1"/>
              <a:t>KRx</a:t>
            </a:r>
            <a:r>
              <a:rPr lang="zh-CN" altLang="en-US" sz="2000" dirty="0"/>
              <a:t>签名后与</a:t>
            </a:r>
            <a:r>
              <a:rPr lang="en-US" altLang="zh-CN" sz="2000" dirty="0" err="1"/>
              <a:t>IDx</a:t>
            </a:r>
            <a:r>
              <a:rPr lang="en-US" altLang="zh-CN" sz="2000" dirty="0"/>
              <a:t> </a:t>
            </a:r>
            <a:r>
              <a:rPr lang="zh-CN" altLang="en-US" sz="2000" dirty="0"/>
              <a:t>一起发送给</a:t>
            </a:r>
            <a:r>
              <a:rPr lang="en-US" altLang="zh-CN" sz="2000" dirty="0"/>
              <a:t>A</a:t>
            </a:r>
            <a:r>
              <a:rPr lang="zh-CN" altLang="en-US" sz="2000" dirty="0"/>
              <a:t>。这种内部、双重加密的消息对</a:t>
            </a:r>
            <a:r>
              <a:rPr lang="en-US" altLang="zh-CN" sz="2000" dirty="0"/>
              <a:t>A</a:t>
            </a:r>
            <a:r>
              <a:rPr lang="zh-CN" altLang="en-US" sz="2000" dirty="0"/>
              <a:t>以及对除</a:t>
            </a:r>
            <a:r>
              <a:rPr lang="en-US" altLang="zh-CN" sz="2000" dirty="0"/>
              <a:t>Y</a:t>
            </a:r>
            <a:r>
              <a:rPr lang="zh-CN" altLang="en-US" sz="2000" dirty="0"/>
              <a:t>以外的其它人都是安全的。</a:t>
            </a:r>
          </a:p>
          <a:p>
            <a:pPr lvl="1">
              <a:lnSpc>
                <a:spcPct val="150000"/>
              </a:lnSpc>
              <a:spcBef>
                <a:spcPct val="0"/>
              </a:spcBef>
              <a:buFontTx/>
              <a:buNone/>
            </a:pPr>
            <a:r>
              <a:rPr lang="en-US" altLang="zh-CN" sz="2000" dirty="0"/>
              <a:t>A</a:t>
            </a:r>
            <a:r>
              <a:rPr lang="zh-CN" altLang="en-US" sz="2000" dirty="0"/>
              <a:t>：检查</a:t>
            </a:r>
            <a:r>
              <a:rPr lang="en-US" altLang="zh-CN" sz="2000" dirty="0"/>
              <a:t>X</a:t>
            </a:r>
            <a:r>
              <a:rPr lang="zh-CN" altLang="en-US" sz="2000" dirty="0"/>
              <a:t>的公开</a:t>
            </a:r>
            <a:r>
              <a:rPr lang="en-US" altLang="zh-CN" sz="2000" dirty="0"/>
              <a:t>/</a:t>
            </a:r>
            <a:r>
              <a:rPr lang="zh-CN" altLang="en-US" sz="2000" dirty="0"/>
              <a:t>私有密钥对是否仍然有效，是，则确认消息。并将包含</a:t>
            </a:r>
            <a:r>
              <a:rPr lang="en-US" altLang="zh-CN" sz="2000" dirty="0" err="1"/>
              <a:t>IDx</a:t>
            </a:r>
            <a:r>
              <a:rPr lang="zh-CN" altLang="en-US" sz="2000" dirty="0"/>
              <a:t>、双重加密的消息和时间戳构成的</a:t>
            </a:r>
            <a:r>
              <a:rPr lang="en-US" altLang="en-US" sz="2000" dirty="0"/>
              <a:t> </a:t>
            </a:r>
            <a:r>
              <a:rPr lang="zh-CN" altLang="en-US" sz="2000" dirty="0"/>
              <a:t>消息用</a:t>
            </a:r>
            <a:r>
              <a:rPr lang="en-US" altLang="zh-CN" sz="2000" dirty="0" err="1"/>
              <a:t>KRa</a:t>
            </a:r>
            <a:r>
              <a:rPr lang="zh-CN" altLang="en-US" sz="2000" dirty="0"/>
              <a:t>签名后发送给</a:t>
            </a:r>
            <a:r>
              <a:rPr lang="en-US" altLang="zh-CN" sz="2000" dirty="0"/>
              <a:t>Y</a:t>
            </a:r>
            <a:r>
              <a:rPr lang="zh-CN" altLang="en-US" sz="2000" dirty="0"/>
              <a:t>。</a:t>
            </a:r>
          </a:p>
          <a:p>
            <a:pPr lvl="1">
              <a:lnSpc>
                <a:spcPct val="150000"/>
              </a:lnSpc>
              <a:spcBef>
                <a:spcPct val="0"/>
              </a:spcBef>
              <a:buClr>
                <a:srgbClr val="000066"/>
              </a:buClr>
              <a:buSzPct val="80000"/>
            </a:pPr>
            <a:endParaRPr lang="zh-CN" altLang="en-US" dirty="0">
              <a:sym typeface="Wingdings" panose="05000000000000000000" pitchFamily="2"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108</a:t>
            </a:fld>
            <a:endParaRPr kumimoji="1" lang="zh-CN" altLang="en-US" dirty="0"/>
          </a:p>
        </p:txBody>
      </p:sp>
    </p:spTree>
    <p:extLst>
      <p:ext uri="{BB962C8B-B14F-4D97-AF65-F5344CB8AC3E}">
        <p14:creationId xmlns:p14="http://schemas.microsoft.com/office/powerpoint/2010/main" val="63129594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a:t>
            </a:r>
            <a:r>
              <a:rPr kumimoji="1" lang="zh-CN" altLang="zh-CN" dirty="0">
                <a:solidFill>
                  <a:prstClr val="black"/>
                </a:solidFill>
              </a:rPr>
              <a:t>数字签名的产生和验证</a:t>
            </a:r>
            <a:endParaRPr lang="zh-CN" altLang="en-US" dirty="0"/>
          </a:p>
        </p:txBody>
      </p:sp>
      <p:sp>
        <p:nvSpPr>
          <p:cNvPr id="3" name="内容占位符 2"/>
          <p:cNvSpPr>
            <a:spLocks noGrp="1"/>
          </p:cNvSpPr>
          <p:nvPr>
            <p:ph idx="1"/>
          </p:nvPr>
        </p:nvSpPr>
        <p:spPr>
          <a:xfrm>
            <a:off x="665018" y="1377538"/>
            <a:ext cx="10806546" cy="5115336"/>
          </a:xfrm>
        </p:spPr>
        <p:txBody>
          <a:bodyPr>
            <a:normAutofit/>
          </a:bodyPr>
          <a:lstStyle/>
          <a:p>
            <a:pPr>
              <a:lnSpc>
                <a:spcPct val="150000"/>
              </a:lnSpc>
              <a:spcBef>
                <a:spcPct val="0"/>
              </a:spcBef>
              <a:buClr>
                <a:srgbClr val="000066"/>
              </a:buClr>
              <a:buSzPct val="80000"/>
            </a:pPr>
            <a:r>
              <a:rPr lang="zh-CN" altLang="en-US" dirty="0"/>
              <a:t>仲裁数字签名</a:t>
            </a:r>
            <a:endParaRPr lang="en-US" altLang="zh-CN" dirty="0"/>
          </a:p>
          <a:p>
            <a:pPr lvl="1">
              <a:lnSpc>
                <a:spcPct val="150000"/>
              </a:lnSpc>
              <a:spcBef>
                <a:spcPct val="0"/>
              </a:spcBef>
              <a:buFontTx/>
              <a:buNone/>
            </a:pPr>
            <a:r>
              <a:rPr lang="en-US" altLang="zh-CN" dirty="0"/>
              <a:t>(c) </a:t>
            </a:r>
            <a:r>
              <a:rPr lang="zh-CN" altLang="en-US" dirty="0"/>
              <a:t>双密钥加密方式，仲裁者不可以看见消息</a:t>
            </a:r>
          </a:p>
          <a:p>
            <a:pPr lvl="1">
              <a:lnSpc>
                <a:spcPct val="150000"/>
              </a:lnSpc>
              <a:spcBef>
                <a:spcPct val="0"/>
              </a:spcBef>
              <a:buFontTx/>
              <a:buNone/>
            </a:pPr>
            <a:r>
              <a:rPr lang="zh-CN" altLang="en-US" dirty="0"/>
              <a:t>	本模式比上述两个模式具有以下好处：</a:t>
            </a:r>
          </a:p>
          <a:p>
            <a:pPr lvl="1">
              <a:lnSpc>
                <a:spcPct val="150000"/>
              </a:lnSpc>
              <a:spcBef>
                <a:spcPct val="0"/>
              </a:spcBef>
              <a:buFontTx/>
              <a:buNone/>
            </a:pPr>
            <a:r>
              <a:rPr lang="en-US" altLang="zh-CN" dirty="0"/>
              <a:t>1</a:t>
            </a:r>
            <a:r>
              <a:rPr lang="zh-CN" altLang="en-US" dirty="0"/>
              <a:t>、在通信之前各方之间无须共享任何信息，从而避免了联手作弊；</a:t>
            </a:r>
          </a:p>
          <a:p>
            <a:pPr lvl="1">
              <a:lnSpc>
                <a:spcPct val="150000"/>
              </a:lnSpc>
              <a:spcBef>
                <a:spcPct val="0"/>
              </a:spcBef>
              <a:buFontTx/>
              <a:buNone/>
            </a:pPr>
            <a:r>
              <a:rPr lang="en-US" altLang="zh-CN" dirty="0"/>
              <a:t>2</a:t>
            </a:r>
            <a:r>
              <a:rPr lang="zh-CN" altLang="en-US" dirty="0"/>
              <a:t>、即使</a:t>
            </a:r>
            <a:r>
              <a:rPr lang="en-US" altLang="zh-CN" dirty="0" err="1"/>
              <a:t>KRx</a:t>
            </a:r>
            <a:r>
              <a:rPr lang="en-US" altLang="zh-CN" dirty="0"/>
              <a:t> </a:t>
            </a:r>
            <a:r>
              <a:rPr lang="zh-CN" altLang="en-US" dirty="0"/>
              <a:t>暴露，只要</a:t>
            </a:r>
            <a:r>
              <a:rPr lang="en-US" altLang="zh-CN" dirty="0" err="1"/>
              <a:t>KRa</a:t>
            </a:r>
            <a:r>
              <a:rPr lang="en-US" altLang="zh-CN" dirty="0"/>
              <a:t> </a:t>
            </a:r>
            <a:r>
              <a:rPr lang="zh-CN" altLang="en-US" dirty="0"/>
              <a:t>未暴露，不会有错误标定日期的消息</a:t>
            </a:r>
          </a:p>
          <a:p>
            <a:pPr lvl="1">
              <a:lnSpc>
                <a:spcPct val="150000"/>
              </a:lnSpc>
              <a:spcBef>
                <a:spcPct val="0"/>
              </a:spcBef>
              <a:buFontTx/>
              <a:buNone/>
            </a:pPr>
            <a:r>
              <a:rPr lang="zh-CN" altLang="en-US" dirty="0"/>
              <a:t>      被发送；</a:t>
            </a:r>
          </a:p>
          <a:p>
            <a:pPr lvl="1">
              <a:lnSpc>
                <a:spcPct val="150000"/>
              </a:lnSpc>
              <a:spcBef>
                <a:spcPct val="0"/>
              </a:spcBef>
              <a:buFontTx/>
              <a:buNone/>
            </a:pPr>
            <a:r>
              <a:rPr lang="en-US" altLang="zh-CN" dirty="0"/>
              <a:t>3</a:t>
            </a:r>
            <a:r>
              <a:rPr lang="zh-CN" altLang="en-US" dirty="0"/>
              <a:t>、从</a:t>
            </a:r>
            <a:r>
              <a:rPr lang="en-US" altLang="zh-CN" dirty="0"/>
              <a:t>X</a:t>
            </a:r>
            <a:r>
              <a:rPr lang="zh-CN" altLang="en-US" dirty="0"/>
              <a:t>发送给</a:t>
            </a:r>
            <a:r>
              <a:rPr lang="en-US" altLang="zh-CN" dirty="0"/>
              <a:t>Y</a:t>
            </a:r>
            <a:r>
              <a:rPr lang="zh-CN" altLang="en-US" dirty="0"/>
              <a:t>的消息的内容对</a:t>
            </a:r>
            <a:r>
              <a:rPr lang="en-US" altLang="zh-CN" dirty="0"/>
              <a:t>A</a:t>
            </a:r>
            <a:r>
              <a:rPr lang="zh-CN" altLang="en-US" dirty="0"/>
              <a:t>和任何其他人是保密的。</a:t>
            </a:r>
          </a:p>
          <a:p>
            <a:pPr lvl="1">
              <a:lnSpc>
                <a:spcPct val="150000"/>
              </a:lnSpc>
              <a:spcBef>
                <a:spcPct val="0"/>
              </a:spcBef>
              <a:buClr>
                <a:srgbClr val="000066"/>
              </a:buClr>
              <a:buSzPct val="80000"/>
            </a:pPr>
            <a:endParaRPr lang="zh-CN" altLang="en-US" dirty="0">
              <a:sym typeface="Wingdings" panose="05000000000000000000" pitchFamily="2" charset="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109</a:t>
            </a:fld>
            <a:endParaRPr kumimoji="1" lang="zh-CN" altLang="en-US" dirty="0"/>
          </a:p>
        </p:txBody>
      </p:sp>
    </p:spTree>
    <p:extLst>
      <p:ext uri="{BB962C8B-B14F-4D97-AF65-F5344CB8AC3E}">
        <p14:creationId xmlns:p14="http://schemas.microsoft.com/office/powerpoint/2010/main" val="174858125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5.3.2 </a:t>
            </a:r>
            <a:r>
              <a:rPr kumimoji="1" lang="en-US" altLang="zh-CN" dirty="0">
                <a:solidFill>
                  <a:prstClr val="black"/>
                </a:solidFill>
              </a:rPr>
              <a:t>RSA</a:t>
            </a:r>
            <a:r>
              <a:rPr kumimoji="1" lang="zh-CN" altLang="zh-CN" dirty="0">
                <a:solidFill>
                  <a:prstClr val="black"/>
                </a:solidFill>
              </a:rPr>
              <a:t>数字签名算法</a:t>
            </a:r>
            <a:endParaRPr lang="zh-CN" altLang="en-US" dirty="0"/>
          </a:p>
        </p:txBody>
      </p:sp>
      <p:sp>
        <p:nvSpPr>
          <p:cNvPr id="3" name="内容占位符 2"/>
          <p:cNvSpPr>
            <a:spLocks noGrp="1"/>
          </p:cNvSpPr>
          <p:nvPr>
            <p:ph idx="1"/>
          </p:nvPr>
        </p:nvSpPr>
        <p:spPr>
          <a:xfrm>
            <a:off x="838200" y="1365661"/>
            <a:ext cx="10515600" cy="4975761"/>
          </a:xfrm>
        </p:spPr>
        <p:txBody>
          <a:bodyPr>
            <a:normAutofit fontScale="85000" lnSpcReduction="10000"/>
          </a:bodyPr>
          <a:lstStyle/>
          <a:p>
            <a:pPr>
              <a:lnSpc>
                <a:spcPct val="150000"/>
              </a:lnSpc>
              <a:spcBef>
                <a:spcPct val="0"/>
              </a:spcBef>
              <a:buClr>
                <a:srgbClr val="000066"/>
              </a:buClr>
              <a:buSzPct val="90000"/>
            </a:pPr>
            <a:r>
              <a:rPr lang="en-US" altLang="zh-CN" dirty="0">
                <a:sym typeface="Wingdings" panose="05000000000000000000" pitchFamily="2" charset="2"/>
              </a:rPr>
              <a:t>A</a:t>
            </a:r>
            <a:r>
              <a:rPr lang="zh-CN" altLang="en-US" dirty="0">
                <a:sym typeface="Wingdings" panose="05000000000000000000" pitchFamily="2" charset="2"/>
              </a:rPr>
              <a:t>的公钥私钥对</a:t>
            </a:r>
            <a:r>
              <a:rPr lang="en-US" altLang="zh-CN" dirty="0">
                <a:sym typeface="Wingdings" panose="05000000000000000000" pitchFamily="2" charset="2"/>
              </a:rPr>
              <a:t>{</a:t>
            </a:r>
            <a:r>
              <a:rPr lang="en-US" altLang="zh-CN" dirty="0" err="1">
                <a:sym typeface="Wingdings" panose="05000000000000000000" pitchFamily="2" charset="2"/>
              </a:rPr>
              <a:t>KU</a:t>
            </a:r>
            <a:r>
              <a:rPr lang="en-US" altLang="zh-CN" baseline="-25000" dirty="0" err="1">
                <a:sym typeface="Wingdings" panose="05000000000000000000" pitchFamily="2" charset="2"/>
              </a:rPr>
              <a:t>a</a:t>
            </a:r>
            <a:r>
              <a:rPr lang="en-US" altLang="zh-CN" dirty="0">
                <a:sym typeface="Wingdings" panose="05000000000000000000" pitchFamily="2" charset="2"/>
              </a:rPr>
              <a:t>||</a:t>
            </a:r>
            <a:r>
              <a:rPr lang="en-US" altLang="zh-CN" dirty="0" err="1">
                <a:sym typeface="Wingdings" panose="05000000000000000000" pitchFamily="2" charset="2"/>
              </a:rPr>
              <a:t>KR</a:t>
            </a:r>
            <a:r>
              <a:rPr lang="en-US" altLang="zh-CN" baseline="-25000" dirty="0" err="1">
                <a:sym typeface="Wingdings" panose="05000000000000000000" pitchFamily="2" charset="2"/>
              </a:rPr>
              <a:t>a</a:t>
            </a:r>
            <a:r>
              <a:rPr lang="en-US" altLang="zh-CN" dirty="0">
                <a:sym typeface="Wingdings" panose="05000000000000000000" pitchFamily="2" charset="2"/>
              </a:rPr>
              <a:t>}</a:t>
            </a:r>
          </a:p>
          <a:p>
            <a:pPr>
              <a:lnSpc>
                <a:spcPct val="150000"/>
              </a:lnSpc>
              <a:spcBef>
                <a:spcPct val="0"/>
              </a:spcBef>
              <a:buClr>
                <a:srgbClr val="000066"/>
              </a:buClr>
              <a:buSzPct val="90000"/>
            </a:pPr>
            <a:r>
              <a:rPr lang="en-US" altLang="zh-CN" dirty="0">
                <a:sym typeface="Wingdings" panose="05000000000000000000" pitchFamily="2" charset="2"/>
              </a:rPr>
              <a:t>A</a:t>
            </a:r>
            <a:r>
              <a:rPr lang="zh-CN" altLang="en-US" dirty="0">
                <a:sym typeface="Wingdings" panose="05000000000000000000" pitchFamily="2" charset="2"/>
              </a:rPr>
              <a:t>对消息</a:t>
            </a:r>
            <a:r>
              <a:rPr lang="en-US" altLang="zh-CN" dirty="0">
                <a:sym typeface="Wingdings" panose="05000000000000000000" pitchFamily="2" charset="2"/>
              </a:rPr>
              <a:t>M</a:t>
            </a:r>
            <a:r>
              <a:rPr lang="zh-CN" altLang="en-US" dirty="0">
                <a:sym typeface="Wingdings" panose="05000000000000000000" pitchFamily="2" charset="2"/>
              </a:rPr>
              <a:t>签名</a:t>
            </a:r>
            <a:r>
              <a:rPr lang="en-US" altLang="zh-CN" dirty="0">
                <a:sym typeface="Wingdings" panose="05000000000000000000" pitchFamily="2" charset="2"/>
              </a:rPr>
              <a:t>: S</a:t>
            </a:r>
            <a:r>
              <a:rPr lang="en-US" altLang="zh-CN" baseline="-25000" dirty="0">
                <a:sym typeface="Wingdings" panose="05000000000000000000" pitchFamily="2" charset="2"/>
              </a:rPr>
              <a:t>A</a:t>
            </a:r>
            <a:r>
              <a:rPr lang="en-US" altLang="zh-CN" dirty="0">
                <a:sym typeface="Wingdings" panose="05000000000000000000" pitchFamily="2" charset="2"/>
              </a:rPr>
              <a:t>=</a:t>
            </a:r>
            <a:r>
              <a:rPr lang="en-US" altLang="zh-CN" dirty="0" err="1">
                <a:sym typeface="Wingdings" panose="05000000000000000000" pitchFamily="2" charset="2"/>
              </a:rPr>
              <a:t>E</a:t>
            </a:r>
            <a:r>
              <a:rPr lang="en-US" altLang="zh-CN" baseline="-25000" dirty="0" err="1">
                <a:sym typeface="Wingdings" panose="05000000000000000000" pitchFamily="2" charset="2"/>
              </a:rPr>
              <a:t>KRa</a:t>
            </a:r>
            <a:r>
              <a:rPr lang="en-US" altLang="zh-CN" dirty="0">
                <a:sym typeface="Wingdings" panose="05000000000000000000" pitchFamily="2" charset="2"/>
              </a:rPr>
              <a:t>(M)</a:t>
            </a:r>
          </a:p>
          <a:p>
            <a:pPr>
              <a:lnSpc>
                <a:spcPct val="150000"/>
              </a:lnSpc>
              <a:spcBef>
                <a:spcPct val="0"/>
              </a:spcBef>
              <a:buClr>
                <a:srgbClr val="000066"/>
              </a:buClr>
              <a:buSzPct val="90000"/>
            </a:pPr>
            <a:r>
              <a:rPr lang="zh-CN" altLang="en-US" dirty="0">
                <a:sym typeface="Wingdings" panose="05000000000000000000" pitchFamily="2" charset="2"/>
              </a:rPr>
              <a:t>问题</a:t>
            </a:r>
            <a:r>
              <a:rPr lang="en-US" altLang="zh-CN" dirty="0">
                <a:sym typeface="Wingdings" panose="05000000000000000000" pitchFamily="2" charset="2"/>
              </a:rPr>
              <a:t>:</a:t>
            </a:r>
          </a:p>
          <a:p>
            <a:pPr lvl="1">
              <a:lnSpc>
                <a:spcPct val="150000"/>
              </a:lnSpc>
              <a:spcBef>
                <a:spcPct val="0"/>
              </a:spcBef>
              <a:buClr>
                <a:schemeClr val="folHlink"/>
              </a:buClr>
              <a:buSzPct val="80000"/>
            </a:pPr>
            <a:r>
              <a:rPr lang="zh-CN" altLang="en-US" sz="2600" dirty="0">
                <a:sym typeface="Wingdings" panose="05000000000000000000" pitchFamily="2" charset="2"/>
              </a:rPr>
              <a:t>速度慢</a:t>
            </a:r>
          </a:p>
          <a:p>
            <a:pPr lvl="1">
              <a:lnSpc>
                <a:spcPct val="150000"/>
              </a:lnSpc>
              <a:spcBef>
                <a:spcPct val="0"/>
              </a:spcBef>
              <a:buClr>
                <a:schemeClr val="folHlink"/>
              </a:buClr>
              <a:buSzPct val="80000"/>
            </a:pPr>
            <a:r>
              <a:rPr lang="zh-CN" altLang="en-US" sz="2600" dirty="0">
                <a:sym typeface="Wingdings" panose="05000000000000000000" pitchFamily="2" charset="2"/>
              </a:rPr>
              <a:t>信息量大</a:t>
            </a:r>
          </a:p>
          <a:p>
            <a:pPr lvl="1">
              <a:lnSpc>
                <a:spcPct val="150000"/>
              </a:lnSpc>
              <a:spcBef>
                <a:spcPct val="0"/>
              </a:spcBef>
              <a:buClr>
                <a:schemeClr val="folHlink"/>
              </a:buClr>
              <a:buSzPct val="80000"/>
            </a:pPr>
            <a:r>
              <a:rPr lang="zh-CN" altLang="en-US" sz="2600" dirty="0">
                <a:sym typeface="Wingdings" panose="05000000000000000000" pitchFamily="2" charset="2"/>
              </a:rPr>
              <a:t>第三方仲裁时必须暴露明文信息</a:t>
            </a:r>
          </a:p>
          <a:p>
            <a:pPr lvl="1">
              <a:lnSpc>
                <a:spcPct val="150000"/>
              </a:lnSpc>
              <a:spcBef>
                <a:spcPct val="0"/>
              </a:spcBef>
              <a:buClr>
                <a:schemeClr val="folHlink"/>
              </a:buClr>
              <a:buSzPct val="80000"/>
            </a:pPr>
            <a:r>
              <a:rPr lang="zh-CN" altLang="en-US" sz="2600" dirty="0">
                <a:sym typeface="Wingdings" panose="05000000000000000000" pitchFamily="2" charset="2"/>
              </a:rPr>
              <a:t>漏洞</a:t>
            </a:r>
            <a:r>
              <a:rPr lang="en-US" altLang="zh-CN" sz="2600" dirty="0">
                <a:sym typeface="Wingdings" panose="05000000000000000000" pitchFamily="2" charset="2"/>
              </a:rPr>
              <a:t>: </a:t>
            </a:r>
            <a:r>
              <a:rPr lang="en-US" altLang="zh-CN" sz="2600" dirty="0" err="1">
                <a:sym typeface="Wingdings" panose="05000000000000000000" pitchFamily="2" charset="2"/>
              </a:rPr>
              <a:t>E</a:t>
            </a:r>
            <a:r>
              <a:rPr lang="en-US" altLang="zh-CN" sz="2600" baseline="-25000" dirty="0" err="1">
                <a:sym typeface="Wingdings" panose="05000000000000000000" pitchFamily="2" charset="2"/>
              </a:rPr>
              <a:t>KRa</a:t>
            </a:r>
            <a:r>
              <a:rPr lang="en-US" altLang="zh-CN" sz="2600" dirty="0">
                <a:sym typeface="Wingdings" panose="05000000000000000000" pitchFamily="2" charset="2"/>
              </a:rPr>
              <a:t>(</a:t>
            </a:r>
            <a:r>
              <a:rPr lang="en-US" altLang="zh-CN" sz="2600" dirty="0" err="1">
                <a:sym typeface="Wingdings" panose="05000000000000000000" pitchFamily="2" charset="2"/>
              </a:rPr>
              <a:t>x</a:t>
            </a:r>
            <a:r>
              <a:rPr lang="en-US" altLang="zh-CN" sz="2600" dirty="0" err="1">
                <a:sym typeface="Symbol" panose="05050102010706020507" pitchFamily="18" charset="2"/>
              </a:rPr>
              <a:t></a:t>
            </a:r>
            <a:r>
              <a:rPr lang="en-US" altLang="zh-CN" sz="2600" dirty="0" err="1">
                <a:sym typeface="Wingdings" panose="05000000000000000000" pitchFamily="2" charset="2"/>
              </a:rPr>
              <a:t>y</a:t>
            </a:r>
            <a:r>
              <a:rPr lang="en-US" altLang="zh-CN" sz="2600" dirty="0">
                <a:sym typeface="Wingdings" panose="05000000000000000000" pitchFamily="2" charset="2"/>
              </a:rPr>
              <a:t>)</a:t>
            </a:r>
            <a:r>
              <a:rPr lang="en-US" altLang="zh-CN" sz="2600" dirty="0">
                <a:sym typeface="Symbol" panose="05050102010706020507" pitchFamily="18" charset="2"/>
              </a:rPr>
              <a:t></a:t>
            </a:r>
            <a:r>
              <a:rPr lang="en-US" altLang="zh-CN" sz="2600" dirty="0" err="1">
                <a:sym typeface="Wingdings" panose="05000000000000000000" pitchFamily="2" charset="2"/>
              </a:rPr>
              <a:t>E</a:t>
            </a:r>
            <a:r>
              <a:rPr lang="en-US" altLang="zh-CN" sz="2600" baseline="-25000" dirty="0" err="1">
                <a:sym typeface="Wingdings" panose="05000000000000000000" pitchFamily="2" charset="2"/>
              </a:rPr>
              <a:t>KRa</a:t>
            </a:r>
            <a:r>
              <a:rPr lang="en-US" altLang="zh-CN" sz="2600" dirty="0">
                <a:sym typeface="Wingdings" panose="05000000000000000000" pitchFamily="2" charset="2"/>
              </a:rPr>
              <a:t>(x)</a:t>
            </a:r>
            <a:r>
              <a:rPr lang="en-US" altLang="zh-CN" sz="2600" dirty="0">
                <a:sym typeface="Symbol" panose="05050102010706020507" pitchFamily="18" charset="2"/>
              </a:rPr>
              <a:t></a:t>
            </a:r>
            <a:r>
              <a:rPr lang="en-US" altLang="zh-CN" sz="2600" dirty="0" err="1">
                <a:sym typeface="Wingdings" panose="05000000000000000000" pitchFamily="2" charset="2"/>
              </a:rPr>
              <a:t>E</a:t>
            </a:r>
            <a:r>
              <a:rPr lang="en-US" altLang="zh-CN" sz="2600" baseline="-25000" dirty="0" err="1">
                <a:sym typeface="Wingdings" panose="05000000000000000000" pitchFamily="2" charset="2"/>
              </a:rPr>
              <a:t>KRa</a:t>
            </a:r>
            <a:r>
              <a:rPr lang="en-US" altLang="zh-CN" sz="2600" dirty="0">
                <a:sym typeface="Wingdings" panose="05000000000000000000" pitchFamily="2" charset="2"/>
              </a:rPr>
              <a:t>(y) mod n</a:t>
            </a:r>
          </a:p>
          <a:p>
            <a:pPr lvl="1">
              <a:lnSpc>
                <a:spcPct val="150000"/>
              </a:lnSpc>
              <a:spcBef>
                <a:spcPct val="0"/>
              </a:spcBef>
              <a:buClr>
                <a:srgbClr val="000066"/>
              </a:buClr>
              <a:buSzPct val="80000"/>
              <a:buFontTx/>
              <a:buChar char="o"/>
            </a:pPr>
            <a:r>
              <a:rPr lang="zh-CN" altLang="en-US" sz="2600" dirty="0">
                <a:sym typeface="Wingdings" panose="05000000000000000000" pitchFamily="2" charset="2"/>
              </a:rPr>
              <a:t>先做摘要</a:t>
            </a:r>
            <a:r>
              <a:rPr lang="en-US" altLang="zh-CN" sz="2600" dirty="0">
                <a:sym typeface="Wingdings" panose="05000000000000000000" pitchFamily="2" charset="2"/>
              </a:rPr>
              <a:t>: H</a:t>
            </a:r>
            <a:r>
              <a:rPr lang="en-US" altLang="zh-CN" sz="2600" baseline="-25000" dirty="0">
                <a:sym typeface="Wingdings" panose="05000000000000000000" pitchFamily="2" charset="2"/>
              </a:rPr>
              <a:t>M</a:t>
            </a:r>
            <a:r>
              <a:rPr lang="en-US" altLang="zh-CN" sz="2600" dirty="0">
                <a:sym typeface="Wingdings" panose="05000000000000000000" pitchFamily="2" charset="2"/>
              </a:rPr>
              <a:t> = hash(M)</a:t>
            </a:r>
          </a:p>
          <a:p>
            <a:pPr lvl="1">
              <a:lnSpc>
                <a:spcPct val="150000"/>
              </a:lnSpc>
              <a:spcBef>
                <a:spcPct val="0"/>
              </a:spcBef>
              <a:buClr>
                <a:srgbClr val="000066"/>
              </a:buClr>
              <a:buSzPct val="80000"/>
              <a:buFontTx/>
              <a:buChar char="o"/>
            </a:pPr>
            <a:r>
              <a:rPr lang="zh-CN" altLang="en-US" sz="2600" dirty="0">
                <a:sym typeface="Wingdings" panose="05000000000000000000" pitchFamily="2" charset="2"/>
              </a:rPr>
              <a:t>再对</a:t>
            </a:r>
            <a:r>
              <a:rPr lang="en-US" altLang="zh-CN" sz="2600" dirty="0">
                <a:sym typeface="Wingdings" panose="05000000000000000000" pitchFamily="2" charset="2"/>
              </a:rPr>
              <a:t>H</a:t>
            </a:r>
            <a:r>
              <a:rPr lang="en-US" altLang="zh-CN" sz="2600" baseline="-25000" dirty="0">
                <a:sym typeface="Wingdings" panose="05000000000000000000" pitchFamily="2" charset="2"/>
              </a:rPr>
              <a:t>M</a:t>
            </a:r>
            <a:r>
              <a:rPr lang="zh-CN" altLang="en-US" sz="2600" dirty="0">
                <a:sym typeface="Wingdings" panose="05000000000000000000" pitchFamily="2" charset="2"/>
              </a:rPr>
              <a:t>签名</a:t>
            </a:r>
            <a:r>
              <a:rPr lang="en-US" altLang="zh-CN" sz="2600" dirty="0">
                <a:sym typeface="Wingdings" panose="05000000000000000000" pitchFamily="2" charset="2"/>
              </a:rPr>
              <a:t>S</a:t>
            </a:r>
            <a:r>
              <a:rPr lang="en-US" altLang="zh-CN" sz="2600" baseline="-25000" dirty="0">
                <a:sym typeface="Wingdings" panose="05000000000000000000" pitchFamily="2" charset="2"/>
              </a:rPr>
              <a:t>A</a:t>
            </a:r>
            <a:r>
              <a:rPr lang="en-US" altLang="zh-CN" sz="2600" dirty="0">
                <a:sym typeface="Wingdings" panose="05000000000000000000" pitchFamily="2" charset="2"/>
              </a:rPr>
              <a:t>=</a:t>
            </a:r>
            <a:r>
              <a:rPr lang="en-US" altLang="zh-CN" sz="2600" dirty="0" err="1">
                <a:sym typeface="Wingdings" panose="05000000000000000000" pitchFamily="2" charset="2"/>
              </a:rPr>
              <a:t>E</a:t>
            </a:r>
            <a:r>
              <a:rPr lang="en-US" altLang="zh-CN" sz="2600" baseline="-25000" dirty="0" err="1">
                <a:sym typeface="Wingdings" panose="05000000000000000000" pitchFamily="2" charset="2"/>
              </a:rPr>
              <a:t>KRa</a:t>
            </a:r>
            <a:r>
              <a:rPr lang="en-US" altLang="zh-CN" sz="2600" dirty="0">
                <a:sym typeface="Wingdings" panose="05000000000000000000" pitchFamily="2" charset="2"/>
              </a:rPr>
              <a:t>(H</a:t>
            </a:r>
            <a:r>
              <a:rPr lang="en-US" altLang="zh-CN" sz="2600" baseline="-25000" dirty="0">
                <a:sym typeface="Wingdings" panose="05000000000000000000" pitchFamily="2" charset="2"/>
              </a:rPr>
              <a:t>M</a:t>
            </a:r>
            <a:r>
              <a:rPr lang="en-US" altLang="zh-CN" sz="2600" dirty="0">
                <a:sym typeface="Wingdings" panose="05000000000000000000" pitchFamily="2" charset="2"/>
              </a:rPr>
              <a:t>)</a:t>
            </a:r>
          </a:p>
          <a:p>
            <a:pPr>
              <a:lnSpc>
                <a:spcPct val="150000"/>
              </a:lnSpc>
              <a:spcBef>
                <a:spcPct val="0"/>
              </a:spcBef>
              <a:buClr>
                <a:srgbClr val="000066"/>
              </a:buClr>
              <a:buSzPct val="80000"/>
            </a:pPr>
            <a:r>
              <a:rPr lang="en-US" altLang="zh-CN" dirty="0">
                <a:sym typeface="Wingdings" panose="05000000000000000000" pitchFamily="2" charset="2"/>
              </a:rPr>
              <a:t>hash</a:t>
            </a:r>
            <a:r>
              <a:rPr lang="zh-CN" altLang="en-US" dirty="0">
                <a:sym typeface="Wingdings" panose="05000000000000000000" pitchFamily="2" charset="2"/>
              </a:rPr>
              <a:t>函数的无碰撞性保证了签名的有效性</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110</a:t>
            </a:fld>
            <a:endParaRPr kumimoji="1" lang="zh-CN" altLang="en-US" dirty="0"/>
          </a:p>
        </p:txBody>
      </p:sp>
    </p:spTree>
    <p:extLst>
      <p:ext uri="{BB962C8B-B14F-4D97-AF65-F5344CB8AC3E}">
        <p14:creationId xmlns:p14="http://schemas.microsoft.com/office/powerpoint/2010/main" val="204720483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5.3.2 </a:t>
            </a:r>
            <a:r>
              <a:rPr kumimoji="1" lang="en-US" altLang="zh-CN" dirty="0">
                <a:solidFill>
                  <a:prstClr val="black"/>
                </a:solidFill>
              </a:rPr>
              <a:t>RSA</a:t>
            </a:r>
            <a:r>
              <a:rPr kumimoji="1" lang="zh-CN" altLang="zh-CN" dirty="0">
                <a:solidFill>
                  <a:prstClr val="black"/>
                </a:solidFill>
              </a:rPr>
              <a:t>数字签名算法</a:t>
            </a:r>
            <a:endParaRPr lang="zh-CN" altLang="en-US" dirty="0"/>
          </a:p>
        </p:txBody>
      </p:sp>
      <p:sp>
        <p:nvSpPr>
          <p:cNvPr id="3" name="内容占位符 2"/>
          <p:cNvSpPr>
            <a:spLocks noGrp="1"/>
          </p:cNvSpPr>
          <p:nvPr>
            <p:ph idx="1"/>
          </p:nvPr>
        </p:nvSpPr>
        <p:spPr>
          <a:xfrm>
            <a:off x="838200" y="1365661"/>
            <a:ext cx="10515600" cy="4975761"/>
          </a:xfrm>
        </p:spPr>
        <p:txBody>
          <a:bodyPr>
            <a:normAutofit/>
          </a:bodyPr>
          <a:lstStyle/>
          <a:p>
            <a:r>
              <a:rPr lang="en-US" altLang="zh-CN" dirty="0"/>
              <a:t>RSA</a:t>
            </a:r>
            <a:r>
              <a:rPr lang="zh-CN" altLang="en-US" dirty="0"/>
              <a:t>的流程图：</a:t>
            </a:r>
            <a:endParaRPr lang="en-US" altLang="zh-CN" dirty="0"/>
          </a:p>
          <a:p>
            <a:pPr lvl="1"/>
            <a:r>
              <a:rPr lang="zh-CN" altLang="en-US" dirty="0"/>
              <a:t>需要说明：这是直接模式下的简单应用，原则上也可以运用于仲裁模式</a:t>
            </a:r>
            <a:r>
              <a:rPr lang="en-US" altLang="zh-CN" dirty="0"/>
              <a:t>©</a:t>
            </a:r>
            <a:r>
              <a:rPr lang="zh-CN" altLang="en-US" dirty="0"/>
              <a:t>中的加密解密部分。</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111</a:t>
            </a:fld>
            <a:endParaRPr kumimoji="1" lang="zh-CN" altLang="en-US"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709291" y="2909700"/>
            <a:ext cx="9190278" cy="2661559"/>
          </a:xfrm>
          <a:prstGeom prst="rect">
            <a:avLst/>
          </a:prstGeom>
        </p:spPr>
      </p:pic>
    </p:spTree>
    <p:extLst>
      <p:ext uri="{BB962C8B-B14F-4D97-AF65-F5344CB8AC3E}">
        <p14:creationId xmlns:p14="http://schemas.microsoft.com/office/powerpoint/2010/main" val="407870643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5.3.3 </a:t>
            </a:r>
            <a:r>
              <a:rPr kumimoji="1" lang="en-US" altLang="zh-CN" dirty="0">
                <a:solidFill>
                  <a:prstClr val="black"/>
                </a:solidFill>
              </a:rPr>
              <a:t>DSS</a:t>
            </a:r>
            <a:r>
              <a:rPr kumimoji="1" lang="zh-CN" altLang="zh-CN" dirty="0">
                <a:solidFill>
                  <a:prstClr val="black"/>
                </a:solidFill>
              </a:rPr>
              <a:t>数字签名算法</a:t>
            </a:r>
            <a:endParaRPr lang="zh-CN" altLang="en-US" dirty="0"/>
          </a:p>
        </p:txBody>
      </p:sp>
      <p:sp>
        <p:nvSpPr>
          <p:cNvPr id="3" name="内容占位符 2"/>
          <p:cNvSpPr>
            <a:spLocks noGrp="1"/>
          </p:cNvSpPr>
          <p:nvPr>
            <p:ph idx="1"/>
          </p:nvPr>
        </p:nvSpPr>
        <p:spPr>
          <a:xfrm>
            <a:off x="838200" y="1365662"/>
            <a:ext cx="10515600" cy="5127212"/>
          </a:xfrm>
        </p:spPr>
        <p:txBody>
          <a:bodyPr>
            <a:normAutofit/>
          </a:bodyPr>
          <a:lstStyle/>
          <a:p>
            <a:r>
              <a:rPr lang="en-US" altLang="zh-CN" dirty="0"/>
              <a:t>DSS</a:t>
            </a:r>
            <a:r>
              <a:rPr lang="zh-CN" altLang="en-US" dirty="0"/>
              <a:t>算法的签名与验证过程</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112</a:t>
            </a:fld>
            <a:endParaRPr kumimoji="1" lang="zh-CN" altLang="en-US"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307508" y="2565400"/>
            <a:ext cx="9938424" cy="3312224"/>
          </a:xfrm>
          <a:prstGeom prst="rect">
            <a:avLst/>
          </a:prstGeom>
        </p:spPr>
      </p:pic>
    </p:spTree>
    <p:extLst>
      <p:ext uri="{BB962C8B-B14F-4D97-AF65-F5344CB8AC3E}">
        <p14:creationId xmlns:p14="http://schemas.microsoft.com/office/powerpoint/2010/main" val="321910642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延伸阅读</a:t>
            </a:r>
            <a:r>
              <a:rPr lang="en-US" altLang="zh-CN" dirty="0"/>
              <a:t>——</a:t>
            </a:r>
            <a:r>
              <a:rPr lang="zh-CN" altLang="en-US" dirty="0"/>
              <a:t>国密系列算法</a:t>
            </a:r>
          </a:p>
        </p:txBody>
      </p:sp>
      <p:sp>
        <p:nvSpPr>
          <p:cNvPr id="3" name="内容占位符 2"/>
          <p:cNvSpPr>
            <a:spLocks noGrp="1"/>
          </p:cNvSpPr>
          <p:nvPr>
            <p:ph idx="1"/>
          </p:nvPr>
        </p:nvSpPr>
        <p:spPr>
          <a:xfrm>
            <a:off x="838200" y="1510758"/>
            <a:ext cx="10957560" cy="4586694"/>
          </a:xfrm>
        </p:spPr>
        <p:txBody>
          <a:bodyPr>
            <a:normAutofit/>
          </a:bodyPr>
          <a:lstStyle/>
          <a:p>
            <a:pPr marL="228600" lvl="1">
              <a:buFont typeface="Wingdings" pitchFamily="2" charset="2"/>
              <a:buChar char="Ø"/>
            </a:pPr>
            <a:r>
              <a:rPr lang="en-US" altLang="zh-CN" sz="2800" dirty="0"/>
              <a:t>SM2/SM9-----</a:t>
            </a:r>
            <a:r>
              <a:rPr lang="zh-CN" altLang="en-US" sz="2800" dirty="0"/>
              <a:t>非对称密码（公钥算法）</a:t>
            </a:r>
            <a:endParaRPr lang="en-US" altLang="zh-CN" sz="2800" dirty="0"/>
          </a:p>
          <a:p>
            <a:pPr marL="685800" lvl="2">
              <a:buFont typeface="Wingdings" pitchFamily="2" charset="2"/>
              <a:buChar char="Ø"/>
            </a:pPr>
            <a:r>
              <a:rPr lang="en-US" altLang="zh-CN" sz="2400" dirty="0"/>
              <a:t>SM2</a:t>
            </a:r>
            <a:r>
              <a:rPr lang="zh-CN" altLang="en-US" sz="2400" dirty="0"/>
              <a:t>：是一种基于椭圆曲线算法的非对称密码算法，基于</a:t>
            </a:r>
            <a:r>
              <a:rPr lang="en-US" altLang="zh-CN" sz="2400" dirty="0"/>
              <a:t>256bit</a:t>
            </a:r>
            <a:r>
              <a:rPr lang="zh-CN" altLang="en-US" sz="2400" dirty="0"/>
              <a:t>模运算的素数域。可以实现：</a:t>
            </a:r>
            <a:r>
              <a:rPr lang="en-US" altLang="zh-CN" sz="2400" dirty="0">
                <a:solidFill>
                  <a:srgbClr val="7030A0"/>
                </a:solidFill>
              </a:rPr>
              <a:t> SM2-1</a:t>
            </a:r>
            <a:r>
              <a:rPr lang="zh-CN" altLang="en-US" sz="2400" dirty="0">
                <a:solidFill>
                  <a:srgbClr val="7030A0"/>
                </a:solidFill>
              </a:rPr>
              <a:t>数字签名、</a:t>
            </a:r>
            <a:r>
              <a:rPr lang="en-US" altLang="zh-CN" sz="2400" dirty="0">
                <a:solidFill>
                  <a:srgbClr val="7030A0"/>
                </a:solidFill>
              </a:rPr>
              <a:t> SM2-1</a:t>
            </a:r>
            <a:r>
              <a:rPr lang="zh-CN" altLang="en-US" sz="2400" dirty="0">
                <a:solidFill>
                  <a:srgbClr val="7030A0"/>
                </a:solidFill>
              </a:rPr>
              <a:t>密钥协商、</a:t>
            </a:r>
            <a:r>
              <a:rPr lang="en-US" altLang="zh-CN" sz="2400" dirty="0">
                <a:solidFill>
                  <a:srgbClr val="7030A0"/>
                </a:solidFill>
              </a:rPr>
              <a:t> SM2-1</a:t>
            </a:r>
            <a:r>
              <a:rPr lang="zh-CN" altLang="en-US" sz="2400" dirty="0">
                <a:solidFill>
                  <a:srgbClr val="7030A0"/>
                </a:solidFill>
              </a:rPr>
              <a:t>加解密算法</a:t>
            </a:r>
            <a:endParaRPr lang="en-US" altLang="zh-CN" sz="2400" dirty="0">
              <a:solidFill>
                <a:srgbClr val="7030A0"/>
              </a:solidFill>
            </a:endParaRPr>
          </a:p>
          <a:p>
            <a:pPr marL="685800" lvl="2">
              <a:buFont typeface="Wingdings" pitchFamily="2" charset="2"/>
              <a:buChar char="Ø"/>
            </a:pPr>
            <a:r>
              <a:rPr lang="en-US" altLang="zh-CN" sz="2400" dirty="0"/>
              <a:t>SM9</a:t>
            </a:r>
            <a:r>
              <a:rPr lang="zh-CN" altLang="en-US" sz="2400" dirty="0"/>
              <a:t>基于双线性对的椭圆曲线算法的非对称密码。可以实现基于身份的密码体制。</a:t>
            </a:r>
            <a:r>
              <a:rPr lang="en-US" altLang="zh-CN" sz="2400" dirty="0"/>
              <a:t> </a:t>
            </a:r>
            <a:r>
              <a:rPr lang="en-US" altLang="zh-CN" sz="2400" dirty="0">
                <a:solidFill>
                  <a:srgbClr val="7030A0"/>
                </a:solidFill>
              </a:rPr>
              <a:t>SM9-1</a:t>
            </a:r>
            <a:r>
              <a:rPr lang="zh-CN" altLang="en-US" sz="2400" dirty="0">
                <a:solidFill>
                  <a:srgbClr val="7030A0"/>
                </a:solidFill>
              </a:rPr>
              <a:t>数字签名算法；</a:t>
            </a:r>
            <a:r>
              <a:rPr lang="en-US" altLang="zh-CN" sz="2400" dirty="0">
                <a:solidFill>
                  <a:srgbClr val="7030A0"/>
                </a:solidFill>
              </a:rPr>
              <a:t>SM9-2</a:t>
            </a:r>
            <a:r>
              <a:rPr lang="zh-CN" altLang="en-US" sz="2400" dirty="0">
                <a:solidFill>
                  <a:srgbClr val="7030A0"/>
                </a:solidFill>
              </a:rPr>
              <a:t>密钥交换协议；</a:t>
            </a:r>
            <a:r>
              <a:rPr lang="en-US" altLang="zh-CN" sz="2400" dirty="0">
                <a:solidFill>
                  <a:srgbClr val="7030A0"/>
                </a:solidFill>
              </a:rPr>
              <a:t>SM9-3</a:t>
            </a:r>
            <a:r>
              <a:rPr lang="zh-CN" altLang="en-US" sz="2400" dirty="0">
                <a:solidFill>
                  <a:srgbClr val="7030A0"/>
                </a:solidFill>
              </a:rPr>
              <a:t>密钥封装机制和公钥密码算法</a:t>
            </a:r>
            <a:endParaRPr lang="en-US" altLang="zh-CN" sz="2400" dirty="0">
              <a:solidFill>
                <a:srgbClr val="7030A0"/>
              </a:solidFill>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457">
            <a:extLst>
              <a:ext uri="{FF2B5EF4-FFF2-40B4-BE49-F238E27FC236}">
                <a16:creationId xmlns:a16="http://schemas.microsoft.com/office/drawing/2014/main" id="{81F652EB-2A7B-48D4-B7B5-7C84BEB5DD42}"/>
              </a:ext>
            </a:extLst>
          </p:cNvPr>
          <p:cNvSpPr txBox="1"/>
          <p:nvPr/>
        </p:nvSpPr>
        <p:spPr>
          <a:xfrm>
            <a:off x="194088" y="6574644"/>
            <a:ext cx="2873639" cy="276999"/>
          </a:xfrm>
          <a:prstGeom prst="rect">
            <a:avLst/>
          </a:prstGeom>
          <a:noFill/>
        </p:spPr>
        <p:txBody>
          <a:bodyPr wrap="square" rtlCol="0">
            <a:spAutoFit/>
          </a:bodyPr>
          <a:lstStyle/>
          <a:p>
            <a:pPr>
              <a:defRPr/>
            </a:pPr>
            <a:r>
              <a:rPr kumimoji="0" lang="en-US" altLang="zh-CN" sz="1200" b="0" i="0" u="none" strike="noStrike" kern="1200" cap="none" spc="0" normalizeH="0" baseline="0" noProof="0" dirty="0">
                <a:ln>
                  <a:noFill/>
                </a:ln>
                <a:solidFill>
                  <a:prstClr val="white">
                    <a:lumMod val="65000"/>
                  </a:prstClr>
                </a:solidFill>
                <a:effectLst/>
                <a:uLnTx/>
                <a:uFillTx/>
                <a:latin typeface="等线"/>
                <a:ea typeface="等线" panose="02010600030101010101" pitchFamily="2" charset="-122"/>
                <a:cs typeface="+mn-cs"/>
              </a:rPr>
              <a:t>8.3 </a:t>
            </a:r>
            <a:r>
              <a:rPr lang="zh-CN" altLang="en-US" sz="1200" dirty="0">
                <a:solidFill>
                  <a:prstClr val="white">
                    <a:lumMod val="65000"/>
                  </a:prstClr>
                </a:solidFill>
                <a:ea typeface="等线" panose="02010600030101010101" pitchFamily="2" charset="-122"/>
              </a:rPr>
              <a:t>安全机制与手段</a:t>
            </a:r>
            <a:r>
              <a:rPr kumimoji="0" lang="en-US" altLang="zh-CN" sz="1200" b="0" i="0" u="none" strike="noStrike" kern="1200" cap="none" spc="0" normalizeH="0" noProof="0" dirty="0">
                <a:ln>
                  <a:noFill/>
                </a:ln>
                <a:solidFill>
                  <a:prstClr val="white">
                    <a:lumMod val="65000"/>
                  </a:prstClr>
                </a:solidFill>
                <a:effectLst/>
                <a:uLnTx/>
                <a:uFillTx/>
                <a:latin typeface="等线"/>
                <a:ea typeface="等线" panose="02010600030101010101" pitchFamily="2" charset="-122"/>
                <a:cs typeface="+mn-cs"/>
              </a:rPr>
              <a:t> </a:t>
            </a:r>
            <a:endParaRPr kumimoji="0" lang="zh-CN" altLang="en-US" sz="12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24502270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延伸阅读</a:t>
            </a:r>
            <a:r>
              <a:rPr lang="en-US" altLang="zh-CN" dirty="0"/>
              <a:t>——</a:t>
            </a:r>
            <a:r>
              <a:rPr lang="zh-CN" altLang="en-US" dirty="0"/>
              <a:t>国密与国际算法对标</a:t>
            </a:r>
          </a:p>
        </p:txBody>
      </p:sp>
      <p:graphicFrame>
        <p:nvGraphicFramePr>
          <p:cNvPr id="5" name="内容占位符 4"/>
          <p:cNvGraphicFramePr>
            <a:graphicFrameLocks noGrp="1"/>
          </p:cNvGraphicFramePr>
          <p:nvPr>
            <p:ph idx="1"/>
          </p:nvPr>
        </p:nvGraphicFramePr>
        <p:xfrm>
          <a:off x="723582" y="1521472"/>
          <a:ext cx="11133138" cy="4279222"/>
        </p:xfrm>
        <a:graphic>
          <a:graphicData uri="http://schemas.openxmlformats.org/drawingml/2006/table">
            <a:tbl>
              <a:tblPr/>
              <a:tblGrid>
                <a:gridCol w="1425258">
                  <a:extLst>
                    <a:ext uri="{9D8B030D-6E8A-4147-A177-3AD203B41FA5}">
                      <a16:colId xmlns:a16="http://schemas.microsoft.com/office/drawing/2014/main" val="20000"/>
                    </a:ext>
                  </a:extLst>
                </a:gridCol>
                <a:gridCol w="71018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450234">
                <a:tc>
                  <a:txBody>
                    <a:bodyPr/>
                    <a:lstStyle/>
                    <a:p>
                      <a:pPr algn="just">
                        <a:spcAft>
                          <a:spcPts val="0"/>
                        </a:spcAft>
                      </a:pPr>
                      <a:r>
                        <a:rPr lang="zh-CN" sz="2400" kern="100" dirty="0">
                          <a:solidFill>
                            <a:srgbClr val="7030A0"/>
                          </a:solidFill>
                          <a:latin typeface="Calibri"/>
                          <a:ea typeface="宋体"/>
                          <a:cs typeface="Times New Roman"/>
                        </a:rPr>
                        <a:t>算法名称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a:solidFill>
                            <a:srgbClr val="7030A0"/>
                          </a:solidFill>
                          <a:latin typeface="Calibri"/>
                          <a:ea typeface="宋体"/>
                          <a:cs typeface="Times New Roman"/>
                        </a:rPr>
                        <a:t>特色</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dirty="0">
                          <a:solidFill>
                            <a:srgbClr val="7030A0"/>
                          </a:solidFill>
                          <a:latin typeface="Calibri"/>
                          <a:ea typeface="宋体"/>
                          <a:cs typeface="Times New Roman"/>
                        </a:rPr>
                        <a:t>对标的国际算法</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56254">
                <a:tc>
                  <a:txBody>
                    <a:bodyPr/>
                    <a:lstStyle/>
                    <a:p>
                      <a:pPr algn="just">
                        <a:spcAft>
                          <a:spcPts val="0"/>
                        </a:spcAft>
                      </a:pPr>
                      <a:r>
                        <a:rPr lang="en-US" sz="2400" kern="100">
                          <a:latin typeface="Calibri"/>
                          <a:ea typeface="宋体"/>
                          <a:cs typeface="Times New Roman"/>
                        </a:rPr>
                        <a:t>SM1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dirty="0">
                          <a:solidFill>
                            <a:srgbClr val="191919"/>
                          </a:solidFill>
                          <a:latin typeface="Arial"/>
                          <a:ea typeface="宋体"/>
                          <a:cs typeface="Arial"/>
                        </a:rPr>
                        <a:t>算法不公开，仅以</a:t>
                      </a:r>
                      <a:r>
                        <a:rPr lang="en-US" sz="2400" kern="100" dirty="0">
                          <a:solidFill>
                            <a:srgbClr val="191919"/>
                          </a:solidFill>
                          <a:latin typeface="Arial"/>
                          <a:ea typeface="宋体"/>
                          <a:cs typeface="Times New Roman"/>
                        </a:rPr>
                        <a:t>IP</a:t>
                      </a:r>
                      <a:r>
                        <a:rPr lang="zh-CN" sz="2400" kern="100" dirty="0">
                          <a:solidFill>
                            <a:srgbClr val="191919"/>
                          </a:solidFill>
                          <a:latin typeface="Arial"/>
                          <a:ea typeface="宋体"/>
                          <a:cs typeface="Arial"/>
                        </a:rPr>
                        <a:t>核的形式存在于芯片中</a:t>
                      </a:r>
                      <a:r>
                        <a:rPr lang="zh-CN" sz="2400" kern="100" dirty="0">
                          <a:latin typeface="Calibri"/>
                          <a:ea typeface="宋体"/>
                          <a:cs typeface="Times New Roman"/>
                        </a:rPr>
                        <a:t>。目前使用范围逐渐萎缩，目前主要在存量市场有所使用</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91919"/>
                          </a:solidFill>
                          <a:latin typeface="Arial"/>
                          <a:ea typeface="宋体"/>
                          <a:cs typeface="Times New Roman"/>
                        </a:rPr>
                        <a:t> AES</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0234">
                <a:tc>
                  <a:txBody>
                    <a:bodyPr/>
                    <a:lstStyle/>
                    <a:p>
                      <a:pPr algn="just">
                        <a:spcAft>
                          <a:spcPts val="0"/>
                        </a:spcAft>
                      </a:pPr>
                      <a:r>
                        <a:rPr lang="en-US" sz="2400" kern="100">
                          <a:solidFill>
                            <a:srgbClr val="121212"/>
                          </a:solidFill>
                          <a:latin typeface="PingFang SC"/>
                          <a:ea typeface="宋体"/>
                          <a:cs typeface="Times New Roman"/>
                        </a:rPr>
                        <a:t>SM2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a:latin typeface="Calibri"/>
                          <a:ea typeface="宋体"/>
                          <a:cs typeface="Times New Roman"/>
                        </a:rPr>
                        <a:t>算法已公开</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21212"/>
                          </a:solidFill>
                          <a:latin typeface="PingFang SC"/>
                          <a:ea typeface="宋体"/>
                          <a:cs typeface="Times New Roman"/>
                        </a:rPr>
                        <a:t>RSA</a:t>
                      </a:r>
                      <a:r>
                        <a:rPr lang="zh-CN" sz="2400" kern="100">
                          <a:solidFill>
                            <a:srgbClr val="121212"/>
                          </a:solidFill>
                          <a:latin typeface="PingFang SC"/>
                          <a:ea typeface="宋体"/>
                          <a:cs typeface="Times New Roman"/>
                        </a:rPr>
                        <a:t>、</a:t>
                      </a:r>
                      <a:r>
                        <a:rPr lang="en-US" sz="2400" kern="100">
                          <a:solidFill>
                            <a:srgbClr val="121212"/>
                          </a:solidFill>
                          <a:latin typeface="PingFang SC"/>
                          <a:ea typeface="宋体"/>
                          <a:cs typeface="Times New Roman"/>
                        </a:rPr>
                        <a:t>ECC</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72745">
                <a:tc>
                  <a:txBody>
                    <a:bodyPr/>
                    <a:lstStyle/>
                    <a:p>
                      <a:pPr algn="just">
                        <a:spcAft>
                          <a:spcPts val="0"/>
                        </a:spcAft>
                      </a:pPr>
                      <a:r>
                        <a:rPr lang="en-US" sz="2400" kern="100">
                          <a:latin typeface="Calibri"/>
                          <a:ea typeface="宋体"/>
                          <a:cs typeface="Times New Roman"/>
                        </a:rPr>
                        <a:t>SM3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a:latin typeface="Calibri"/>
                          <a:ea typeface="宋体"/>
                          <a:cs typeface="Times New Roman"/>
                        </a:rPr>
                        <a:t>算法已公开</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21212"/>
                          </a:solidFill>
                          <a:latin typeface="PingFang SC"/>
                          <a:ea typeface="宋体"/>
                          <a:cs typeface="Times New Roman"/>
                        </a:rPr>
                        <a:t>MD5</a:t>
                      </a:r>
                      <a:r>
                        <a:rPr lang="zh-CN" sz="2400" kern="100">
                          <a:solidFill>
                            <a:srgbClr val="121212"/>
                          </a:solidFill>
                          <a:latin typeface="PingFang SC"/>
                          <a:ea typeface="宋体"/>
                          <a:cs typeface="Times New Roman"/>
                        </a:rPr>
                        <a:t>、</a:t>
                      </a:r>
                      <a:r>
                        <a:rPr lang="en-US" sz="2400" kern="100">
                          <a:solidFill>
                            <a:srgbClr val="121212"/>
                          </a:solidFill>
                          <a:latin typeface="PingFang SC"/>
                          <a:ea typeface="宋体"/>
                          <a:cs typeface="Times New Roman"/>
                        </a:rPr>
                        <a:t>SHA-256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2745">
                <a:tc>
                  <a:txBody>
                    <a:bodyPr/>
                    <a:lstStyle/>
                    <a:p>
                      <a:pPr algn="just">
                        <a:spcAft>
                          <a:spcPts val="0"/>
                        </a:spcAft>
                      </a:pPr>
                      <a:r>
                        <a:rPr lang="en-US" sz="2400" kern="100">
                          <a:solidFill>
                            <a:srgbClr val="121212"/>
                          </a:solidFill>
                          <a:latin typeface="PingFang SC"/>
                          <a:ea typeface="宋体"/>
                          <a:cs typeface="Times New Roman"/>
                        </a:rPr>
                        <a:t>SM4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a:latin typeface="Calibri"/>
                          <a:ea typeface="宋体"/>
                          <a:cs typeface="Times New Roman"/>
                        </a:rPr>
                        <a:t>算法已公开</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21212"/>
                          </a:solidFill>
                          <a:latin typeface="PingFang SC"/>
                          <a:ea typeface="宋体"/>
                          <a:cs typeface="Times New Roman"/>
                        </a:rPr>
                        <a:t>AES</a:t>
                      </a:r>
                      <a:r>
                        <a:rPr lang="zh-CN" sz="2400" kern="100">
                          <a:solidFill>
                            <a:srgbClr val="121212"/>
                          </a:solidFill>
                          <a:latin typeface="PingFang SC"/>
                          <a:ea typeface="宋体"/>
                          <a:cs typeface="Times New Roman"/>
                        </a:rPr>
                        <a:t>，</a:t>
                      </a:r>
                      <a:r>
                        <a:rPr lang="en-US" sz="2400" kern="100">
                          <a:solidFill>
                            <a:srgbClr val="121212"/>
                          </a:solidFill>
                          <a:latin typeface="PingFang SC"/>
                          <a:ea typeface="宋体"/>
                          <a:cs typeface="Times New Roman"/>
                        </a:rPr>
                        <a:t>3DES</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72745">
                <a:tc>
                  <a:txBody>
                    <a:bodyPr/>
                    <a:lstStyle/>
                    <a:p>
                      <a:pPr algn="just">
                        <a:spcAft>
                          <a:spcPts val="0"/>
                        </a:spcAft>
                      </a:pPr>
                      <a:r>
                        <a:rPr lang="en-US" sz="2400" kern="100">
                          <a:solidFill>
                            <a:srgbClr val="121212"/>
                          </a:solidFill>
                          <a:latin typeface="PingFang SC"/>
                          <a:ea typeface="宋体"/>
                          <a:cs typeface="Times New Roman"/>
                        </a:rPr>
                        <a:t>SM9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21212"/>
                          </a:solidFill>
                          <a:latin typeface="PingFang SC"/>
                          <a:ea typeface="宋体"/>
                          <a:cs typeface="Times New Roman"/>
                        </a:rPr>
                        <a:t>2016</a:t>
                      </a:r>
                      <a:r>
                        <a:rPr lang="zh-CN" sz="2400" kern="100">
                          <a:solidFill>
                            <a:srgbClr val="121212"/>
                          </a:solidFill>
                          <a:latin typeface="PingFang SC"/>
                          <a:ea typeface="宋体"/>
                          <a:cs typeface="Times New Roman"/>
                        </a:rPr>
                        <a:t>年正式发布，还不是很成熟，需改善</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dirty="0">
                          <a:solidFill>
                            <a:srgbClr val="121212"/>
                          </a:solidFill>
                          <a:latin typeface="PingFang SC"/>
                          <a:ea typeface="宋体"/>
                          <a:cs typeface="Times New Roman"/>
                        </a:rPr>
                        <a:t>国际</a:t>
                      </a:r>
                      <a:r>
                        <a:rPr lang="en-US" sz="2400" kern="100" dirty="0">
                          <a:solidFill>
                            <a:srgbClr val="121212"/>
                          </a:solidFill>
                          <a:latin typeface="PingFang SC"/>
                          <a:ea typeface="宋体"/>
                          <a:cs typeface="Times New Roman"/>
                        </a:rPr>
                        <a:t>IBC</a:t>
                      </a:r>
                      <a:r>
                        <a:rPr lang="zh-CN" sz="2400" kern="100" dirty="0">
                          <a:solidFill>
                            <a:srgbClr val="121212"/>
                          </a:solidFill>
                          <a:latin typeface="PingFang SC"/>
                          <a:ea typeface="宋体"/>
                          <a:cs typeface="Times New Roman"/>
                        </a:rPr>
                        <a:t>算法</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72745">
                <a:tc>
                  <a:txBody>
                    <a:bodyPr/>
                    <a:lstStyle/>
                    <a:p>
                      <a:pPr algn="just">
                        <a:spcAft>
                          <a:spcPts val="0"/>
                        </a:spcAft>
                      </a:pPr>
                      <a:r>
                        <a:rPr lang="en-US" sz="2400" kern="100">
                          <a:solidFill>
                            <a:srgbClr val="121212"/>
                          </a:solidFill>
                          <a:latin typeface="PingFang SC"/>
                          <a:ea typeface="宋体"/>
                          <a:cs typeface="Times New Roman"/>
                        </a:rPr>
                        <a:t>ZUC</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kern="100">
                          <a:solidFill>
                            <a:srgbClr val="121212"/>
                          </a:solidFill>
                          <a:latin typeface="PingFang SC"/>
                          <a:ea typeface="宋体"/>
                          <a:cs typeface="Times New Roman"/>
                        </a:rPr>
                        <a:t>第一个走向国际的国密算法，</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solidFill>
                            <a:srgbClr val="121212"/>
                          </a:solidFill>
                          <a:latin typeface="PingFang SC"/>
                          <a:ea typeface="宋体"/>
                          <a:cs typeface="Times New Roman"/>
                        </a:rPr>
                        <a:t>RC4</a:t>
                      </a:r>
                      <a:r>
                        <a:rPr lang="zh-CN" sz="2400" kern="100">
                          <a:solidFill>
                            <a:srgbClr val="121212"/>
                          </a:solidFill>
                          <a:latin typeface="PingFang SC"/>
                          <a:ea typeface="宋体"/>
                          <a:cs typeface="Times New Roman"/>
                        </a:rPr>
                        <a:t>算法</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71988">
                <a:tc>
                  <a:txBody>
                    <a:bodyPr/>
                    <a:lstStyle/>
                    <a:p>
                      <a:pPr algn="just">
                        <a:spcAft>
                          <a:spcPts val="0"/>
                        </a:spcAft>
                      </a:pPr>
                      <a:r>
                        <a:rPr lang="en-US" sz="2400" kern="100">
                          <a:solidFill>
                            <a:srgbClr val="121212"/>
                          </a:solidFill>
                          <a:latin typeface="PingFang SC"/>
                          <a:ea typeface="宋体"/>
                          <a:cs typeface="Times New Roman"/>
                        </a:rPr>
                        <a:t>SM7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sz="2400" kern="100" dirty="0">
                          <a:solidFill>
                            <a:srgbClr val="121212"/>
                          </a:solidFill>
                          <a:latin typeface="PingFang SC"/>
                          <a:ea typeface="宋体"/>
                          <a:cs typeface="Times New Roman"/>
                        </a:rPr>
                        <a:t>算法已公开</a:t>
                      </a:r>
                      <a:r>
                        <a:rPr lang="zh-CN" altLang="en-US" sz="2400" kern="100" dirty="0">
                          <a:solidFill>
                            <a:srgbClr val="121212"/>
                          </a:solidFill>
                          <a:latin typeface="PingFang SC"/>
                          <a:ea typeface="宋体"/>
                          <a:cs typeface="Times New Roman"/>
                        </a:rPr>
                        <a:t>，</a:t>
                      </a:r>
                      <a:r>
                        <a:rPr lang="zh-CN" altLang="en-US" sz="2400" kern="100" dirty="0">
                          <a:solidFill>
                            <a:srgbClr val="191919"/>
                          </a:solidFill>
                          <a:latin typeface="PingFang SC"/>
                          <a:ea typeface="宋体"/>
                          <a:cs typeface="Times New Roman"/>
                        </a:rPr>
                        <a:t>适用于非接触式</a:t>
                      </a:r>
                      <a:r>
                        <a:rPr lang="en-US" sz="2400" kern="100" dirty="0">
                          <a:solidFill>
                            <a:srgbClr val="191919"/>
                          </a:solidFill>
                          <a:latin typeface="PingFang SC"/>
                          <a:ea typeface="宋体"/>
                          <a:cs typeface="Times New Roman"/>
                        </a:rPr>
                        <a:t>IC</a:t>
                      </a:r>
                      <a:r>
                        <a:rPr lang="zh-CN" altLang="en-US" sz="2400" kern="100" dirty="0">
                          <a:solidFill>
                            <a:srgbClr val="191919"/>
                          </a:solidFill>
                          <a:latin typeface="PingFang SC"/>
                          <a:ea typeface="宋体"/>
                          <a:cs typeface="Times New Roman"/>
                        </a:rPr>
                        <a:t>卡</a:t>
                      </a:r>
                      <a:endParaRPr lang="zh-CN" altLang="en-US" sz="2400" kern="100" dirty="0">
                        <a:latin typeface="Calibri"/>
                        <a:ea typeface="宋体"/>
                        <a:cs typeface="Times New Roman"/>
                      </a:endParaRPr>
                    </a:p>
                    <a:p>
                      <a:pPr algn="just">
                        <a:spcAft>
                          <a:spcPts val="0"/>
                        </a:spcAft>
                      </a:pP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457">
            <a:extLst>
              <a:ext uri="{FF2B5EF4-FFF2-40B4-BE49-F238E27FC236}">
                <a16:creationId xmlns:a16="http://schemas.microsoft.com/office/drawing/2014/main" id="{7E4CBC20-CC68-43B6-9F86-071EFA55A345}"/>
              </a:ext>
            </a:extLst>
          </p:cNvPr>
          <p:cNvSpPr txBox="1"/>
          <p:nvPr/>
        </p:nvSpPr>
        <p:spPr>
          <a:xfrm>
            <a:off x="194088" y="6574644"/>
            <a:ext cx="2873639" cy="276999"/>
          </a:xfrm>
          <a:prstGeom prst="rect">
            <a:avLst/>
          </a:prstGeom>
          <a:noFill/>
        </p:spPr>
        <p:txBody>
          <a:bodyPr wrap="square" rtlCol="0">
            <a:spAutoFit/>
          </a:bodyPr>
          <a:lstStyle/>
          <a:p>
            <a:pPr>
              <a:defRPr/>
            </a:pPr>
            <a:r>
              <a:rPr kumimoji="0" lang="en-US" altLang="zh-CN" sz="1200" b="0" i="0" u="none" strike="noStrike" kern="1200" cap="none" spc="0" normalizeH="0" baseline="0" noProof="0" dirty="0">
                <a:ln>
                  <a:noFill/>
                </a:ln>
                <a:solidFill>
                  <a:prstClr val="white">
                    <a:lumMod val="65000"/>
                  </a:prstClr>
                </a:solidFill>
                <a:effectLst/>
                <a:uLnTx/>
                <a:uFillTx/>
                <a:latin typeface="等线"/>
                <a:ea typeface="等线" panose="02010600030101010101" pitchFamily="2" charset="-122"/>
                <a:cs typeface="+mn-cs"/>
              </a:rPr>
              <a:t>8.3 </a:t>
            </a:r>
            <a:r>
              <a:rPr lang="zh-CN" altLang="en-US" sz="1200" dirty="0">
                <a:solidFill>
                  <a:prstClr val="white">
                    <a:lumMod val="65000"/>
                  </a:prstClr>
                </a:solidFill>
                <a:ea typeface="等线" panose="02010600030101010101" pitchFamily="2" charset="-122"/>
              </a:rPr>
              <a:t>安全机制与手段</a:t>
            </a:r>
            <a:r>
              <a:rPr kumimoji="0" lang="en-US" altLang="zh-CN" sz="1200" b="0" i="0" u="none" strike="noStrike" kern="1200" cap="none" spc="0" normalizeH="0" noProof="0" dirty="0">
                <a:ln>
                  <a:noFill/>
                </a:ln>
                <a:solidFill>
                  <a:prstClr val="white">
                    <a:lumMod val="65000"/>
                  </a:prstClr>
                </a:solidFill>
                <a:effectLst/>
                <a:uLnTx/>
                <a:uFillTx/>
                <a:latin typeface="等线"/>
                <a:ea typeface="等线" panose="02010600030101010101" pitchFamily="2" charset="-122"/>
                <a:cs typeface="+mn-cs"/>
              </a:rPr>
              <a:t> </a:t>
            </a:r>
            <a:endParaRPr kumimoji="0" lang="zh-CN" altLang="en-US" sz="12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133916658"/>
      </p:ext>
    </p:extLst>
  </p:cSld>
  <p:clrMapOvr>
    <a:masterClrMapping/>
  </p:clrMapOvr>
</p:sld>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18113</TotalTime>
  <Words>10312</Words>
  <Application>Microsoft Office PowerPoint</Application>
  <PresentationFormat>宽屏</PresentationFormat>
  <Paragraphs>1386</Paragraphs>
  <Slides>114</Slides>
  <Notes>7</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114</vt:i4>
      </vt:variant>
    </vt:vector>
  </HeadingPairs>
  <TitlesOfParts>
    <vt:vector size="129" baseType="lpstr">
      <vt:lpstr>Google Sans Text</vt:lpstr>
      <vt:lpstr>PingFang SC</vt:lpstr>
      <vt:lpstr>等线</vt:lpstr>
      <vt:lpstr>宋体</vt:lpstr>
      <vt:lpstr>微软雅黑</vt:lpstr>
      <vt:lpstr>微软雅黑</vt:lpstr>
      <vt:lpstr>Arial</vt:lpstr>
      <vt:lpstr>Calibri</vt:lpstr>
      <vt:lpstr>Cambria Math</vt:lpstr>
      <vt:lpstr>Symbol</vt:lpstr>
      <vt:lpstr>Tahoma</vt:lpstr>
      <vt:lpstr>Times New Roman</vt:lpstr>
      <vt:lpstr>Wingdings</vt:lpstr>
      <vt:lpstr>Office 主题​​</vt:lpstr>
      <vt:lpstr>Picture</vt:lpstr>
      <vt:lpstr>第五章 公钥密码与数字签名</vt:lpstr>
      <vt:lpstr>本章思路</vt:lpstr>
      <vt:lpstr>本章内容</vt:lpstr>
      <vt:lpstr>5.1.1 公钥密码思想</vt:lpstr>
      <vt:lpstr>5.1.1 公钥密码思想</vt:lpstr>
      <vt:lpstr>5.1.1 公钥密码思想</vt:lpstr>
      <vt:lpstr>5.1.1 公钥密码思想</vt:lpstr>
      <vt:lpstr>5.1.1 公钥密码思想</vt:lpstr>
      <vt:lpstr>5.1.1 公钥密码思想</vt:lpstr>
      <vt:lpstr>5.1.2 公钥密码系统的应用</vt:lpstr>
      <vt:lpstr>5.1.3 公钥密码的要求</vt:lpstr>
      <vt:lpstr>5.1.3 公钥密码的要求</vt:lpstr>
      <vt:lpstr>5.1.3 公钥密码的要求</vt:lpstr>
      <vt:lpstr>本章内容</vt:lpstr>
      <vt:lpstr>5.2.1 背包算法</vt:lpstr>
      <vt:lpstr>5.2.1 背包算法</vt:lpstr>
      <vt:lpstr>5.2.1 背包算法</vt:lpstr>
      <vt:lpstr>5.2.1 背包算法</vt:lpstr>
      <vt:lpstr>5.2.1 背包算法</vt:lpstr>
      <vt:lpstr>5.2.1 背包算法</vt:lpstr>
      <vt:lpstr>5.2.1 背包算法</vt:lpstr>
      <vt:lpstr>5.2.1 背包算法</vt:lpstr>
      <vt:lpstr>5.2.1 背包算法</vt:lpstr>
      <vt:lpstr>5.2.2 RSA公钥密码算法</vt:lpstr>
      <vt:lpstr>5.2.2 RSA公钥密码算法</vt:lpstr>
      <vt:lpstr>5.2.2 RSA公钥密码算法（案例）</vt:lpstr>
      <vt:lpstr>5.2.2 RSA公钥密码算法（案例）</vt:lpstr>
      <vt:lpstr>5.2.2 RSA公钥密码算法（安全）</vt:lpstr>
      <vt:lpstr>强素数约束</vt:lpstr>
      <vt:lpstr>5.2.2 RSA公钥密码算法（安全）</vt:lpstr>
      <vt:lpstr>5.2.2 RSA公钥密码算法（安全）</vt:lpstr>
      <vt:lpstr>5.2.2 RSA公钥密码算法（安全）</vt:lpstr>
      <vt:lpstr>Lucas序列</vt:lpstr>
      <vt:lpstr>P+1因子分解</vt:lpstr>
      <vt:lpstr>p和q的差必须很大</vt:lpstr>
      <vt:lpstr>5.2.2 RSA公钥密码算法（安全）</vt:lpstr>
      <vt:lpstr>p和q的差必须很大</vt:lpstr>
      <vt:lpstr>p-1和q-1的最大公因子应该很小</vt:lpstr>
      <vt:lpstr>p-1和q-1的最大公因子应该很小</vt:lpstr>
      <vt:lpstr>p-1和q-1的最大公因子应该很小</vt:lpstr>
      <vt:lpstr>5.2.2 RSA公钥密码算法（安全）</vt:lpstr>
      <vt:lpstr>5.2.2 RSA公钥密码算法（安全）</vt:lpstr>
      <vt:lpstr>5.2.2 RSA公钥密码算法（安全）</vt:lpstr>
      <vt:lpstr>5.2.2 RSA公钥密码算法（安全）</vt:lpstr>
      <vt:lpstr>5.2.2 RSA公钥密码算法</vt:lpstr>
      <vt:lpstr>5.2.2 RSA公钥密码算法（安全）</vt:lpstr>
      <vt:lpstr>5.2.2 RSA公钥密码算法（安全）</vt:lpstr>
      <vt:lpstr>5.2.2 RSA公钥密码算法（安全）</vt:lpstr>
      <vt:lpstr>5.2.2 RSA公钥密码算法（安全）</vt:lpstr>
      <vt:lpstr>5.2.2 RSA公钥密码算法（安全）</vt:lpstr>
      <vt:lpstr>5.2.2 RSA公钥密码算法（安全）</vt:lpstr>
      <vt:lpstr>5.2.2 RSA公钥密码算法</vt:lpstr>
      <vt:lpstr>5.2.3 Rabin密码体制</vt:lpstr>
      <vt:lpstr>5.2.3 Rabin密码体制</vt:lpstr>
      <vt:lpstr>5.2.3 Rabin密码体制</vt:lpstr>
      <vt:lpstr>5.2.3 Rabin密码体制</vt:lpstr>
      <vt:lpstr>5.2.3 Rabin密码体制</vt:lpstr>
      <vt:lpstr>5.2.3 Rabin密码体制</vt:lpstr>
      <vt:lpstr>5.2.3 Rabin密码体制</vt:lpstr>
      <vt:lpstr>5.2.3 Rabin密码体制</vt:lpstr>
      <vt:lpstr>5.2.4 ElGamal密码体制</vt:lpstr>
      <vt:lpstr>5.2.4 ElGamal密码体制</vt:lpstr>
      <vt:lpstr>5.2.4 ElGamal密码体制</vt:lpstr>
      <vt:lpstr>5.2.4 ElGamal密码体制</vt:lpstr>
      <vt:lpstr>5.2.4 ElGamal密码体制</vt:lpstr>
      <vt:lpstr>5.2.5 椭圆曲线公钥密码ECC</vt:lpstr>
      <vt:lpstr>5.2.5 椭圆曲线公钥密码ECC（数学）</vt:lpstr>
      <vt:lpstr>5.2.5 椭圆曲线公钥密码ECC（数学）</vt:lpstr>
      <vt:lpstr>5.2.5 椭圆曲线公钥密码ECC（数学）</vt:lpstr>
      <vt:lpstr>5.2.5 椭圆曲线公钥密码ECC（数学）</vt:lpstr>
      <vt:lpstr>5.2.5 椭圆曲线公钥密码ECC（数学）</vt:lpstr>
      <vt:lpstr>5.2.5 椭圆曲线公钥密码ECC（数学）</vt:lpstr>
      <vt:lpstr>5.2.5 椭圆曲线公钥密码ECC（数学）</vt:lpstr>
      <vt:lpstr>5.2.5 椭圆曲线公钥密码ECC（数学）</vt:lpstr>
      <vt:lpstr>5.2.5 椭圆曲线公钥密码ECC（加密）</vt:lpstr>
      <vt:lpstr>5.2.5 椭圆曲线公钥密码ECC（加密）</vt:lpstr>
      <vt:lpstr>5.2.5 椭圆曲线公钥密码ECC（加密）</vt:lpstr>
      <vt:lpstr>5.2.5 椭圆曲线公钥密码ECC（签名）</vt:lpstr>
      <vt:lpstr>5.2.5 椭圆曲线公钥密码ECC（签名）</vt:lpstr>
      <vt:lpstr>5.2.5 椭圆曲线公钥密码ECC</vt:lpstr>
      <vt:lpstr>5.2.5 椭圆曲线公钥密码ECC</vt:lpstr>
      <vt:lpstr>5.2.5 椭圆曲线公钥密码ECC</vt:lpstr>
      <vt:lpstr>5.2.5 椭圆曲线公钥密码ECC</vt:lpstr>
      <vt:lpstr>5.2.5 椭圆曲线公钥密码ECC</vt:lpstr>
      <vt:lpstr>5.2.5 椭圆曲线公钥密码ECC</vt:lpstr>
      <vt:lpstr>5.2.5 椭圆曲线公钥密码ECC</vt:lpstr>
      <vt:lpstr>5.2.5 椭圆曲线公钥密码ECC</vt:lpstr>
      <vt:lpstr>5.2.5 椭圆曲线公钥密码ECC</vt:lpstr>
      <vt:lpstr>5.2.5 椭圆曲线公钥密码ECC</vt:lpstr>
      <vt:lpstr>5.2.6 Diffie-Hellman密钥交换</vt:lpstr>
      <vt:lpstr>5.2.6 Diffie-Hellman密钥交换</vt:lpstr>
      <vt:lpstr>5.2.6 Diffie-Hellman密钥交换</vt:lpstr>
      <vt:lpstr>5.2.7 公开密钥密码总结</vt:lpstr>
      <vt:lpstr>5.2.7 公开密钥密码总结</vt:lpstr>
      <vt:lpstr>本章内容</vt:lpstr>
      <vt:lpstr>5.3 数字签名</vt:lpstr>
      <vt:lpstr>5.3 数字签名</vt:lpstr>
      <vt:lpstr>5.3.1 数字签名的产生和验证</vt:lpstr>
      <vt:lpstr>5.3.1 数字签名的产生和验证</vt:lpstr>
      <vt:lpstr>5.3.1 数字签名的产生和验证</vt:lpstr>
      <vt:lpstr>5.3.1 数字签名的产生和验证</vt:lpstr>
      <vt:lpstr>5.3.1 数字签名的产生和验证</vt:lpstr>
      <vt:lpstr>5.3.1 数字签名的产生和验证</vt:lpstr>
      <vt:lpstr>5.3.1 数字签名的产生和验证</vt:lpstr>
      <vt:lpstr>5.3.1 数字签名的产生和验证</vt:lpstr>
      <vt:lpstr>5.3.1 数字签名的产生和验证</vt:lpstr>
      <vt:lpstr>5.3.1 数字签名的产生和验证</vt:lpstr>
      <vt:lpstr>5.3.1 数字签名的产生和验证</vt:lpstr>
      <vt:lpstr>5.3.1 数字签名的产生和验证</vt:lpstr>
      <vt:lpstr>5.3.2 RSA数字签名算法</vt:lpstr>
      <vt:lpstr>5.3.2 RSA数字签名算法</vt:lpstr>
      <vt:lpstr>5.3.3 DSS数字签名算法</vt:lpstr>
      <vt:lpstr>延伸阅读——国密系列算法</vt:lpstr>
      <vt:lpstr>延伸阅读——国密与国际算法对标</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dk liu</cp:lastModifiedBy>
  <cp:revision>577</cp:revision>
  <dcterms:created xsi:type="dcterms:W3CDTF">2021-01-06T05:35:51Z</dcterms:created>
  <dcterms:modified xsi:type="dcterms:W3CDTF">2026-06-05T18:31:28Z</dcterms:modified>
</cp:coreProperties>
</file>