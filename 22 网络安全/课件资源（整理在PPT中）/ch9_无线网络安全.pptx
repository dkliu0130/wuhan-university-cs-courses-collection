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5"/>
  </p:notesMasterIdLst>
  <p:sldIdLst>
    <p:sldId id="256" r:id="rId2"/>
    <p:sldId id="258" r:id="rId3"/>
    <p:sldId id="1918" r:id="rId4"/>
    <p:sldId id="1870" r:id="rId5"/>
    <p:sldId id="1946" r:id="rId6"/>
    <p:sldId id="1927" r:id="rId7"/>
    <p:sldId id="1928" r:id="rId8"/>
    <p:sldId id="1929" r:id="rId9"/>
    <p:sldId id="1896" r:id="rId10"/>
    <p:sldId id="1930" r:id="rId11"/>
    <p:sldId id="1931" r:id="rId12"/>
    <p:sldId id="1932" r:id="rId13"/>
    <p:sldId id="1933" r:id="rId14"/>
    <p:sldId id="1934" r:id="rId15"/>
    <p:sldId id="1935" r:id="rId16"/>
    <p:sldId id="1909" r:id="rId17"/>
    <p:sldId id="1792" r:id="rId18"/>
    <p:sldId id="1936" r:id="rId19"/>
    <p:sldId id="1937" r:id="rId20"/>
    <p:sldId id="1938" r:id="rId21"/>
    <p:sldId id="1939" r:id="rId22"/>
    <p:sldId id="1889" r:id="rId23"/>
    <p:sldId id="1940" r:id="rId24"/>
    <p:sldId id="1941" r:id="rId25"/>
    <p:sldId id="1913" r:id="rId26"/>
    <p:sldId id="1919" r:id="rId27"/>
    <p:sldId id="1872" r:id="rId28"/>
    <p:sldId id="1891" r:id="rId29"/>
    <p:sldId id="1920" r:id="rId30"/>
    <p:sldId id="1908" r:id="rId31"/>
    <p:sldId id="1921" r:id="rId32"/>
    <p:sldId id="1922" r:id="rId33"/>
    <p:sldId id="1914" r:id="rId34"/>
    <p:sldId id="1915" r:id="rId35"/>
    <p:sldId id="1923" r:id="rId36"/>
    <p:sldId id="1924" r:id="rId37"/>
    <p:sldId id="1926" r:id="rId38"/>
    <p:sldId id="1943" r:id="rId39"/>
    <p:sldId id="1942" r:id="rId40"/>
    <p:sldId id="1916" r:id="rId41"/>
    <p:sldId id="1917" r:id="rId42"/>
    <p:sldId id="1944" r:id="rId43"/>
    <p:sldId id="1945"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77" autoAdjust="0"/>
    <p:restoredTop sz="74251" autoAdjust="0"/>
  </p:normalViewPr>
  <p:slideViewPr>
    <p:cSldViewPr snapToGrid="0" snapToObjects="1">
      <p:cViewPr varScale="1">
        <p:scale>
          <a:sx n="66" d="100"/>
          <a:sy n="66" d="100"/>
        </p:scale>
        <p:origin x="11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pPr/>
              <a:t>2026/5/5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pPr/>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SSH</a:t>
            </a:r>
            <a:r>
              <a:rPr lang="zh-CN" altLang="en-US" sz="1200" b="0" i="0" kern="1200" dirty="0">
                <a:solidFill>
                  <a:schemeClr val="tx1"/>
                </a:solidFill>
                <a:effectLst/>
                <a:latin typeface="+mn-lt"/>
                <a:ea typeface="+mn-ea"/>
                <a:cs typeface="+mn-cs"/>
              </a:rPr>
              <a:t> 是一个</a:t>
            </a:r>
            <a:r>
              <a:rPr lang="zh-CN" altLang="en-US" sz="1200" b="1" i="0" kern="1200" dirty="0">
                <a:solidFill>
                  <a:schemeClr val="tx1"/>
                </a:solidFill>
                <a:effectLst/>
                <a:latin typeface="+mn-lt"/>
                <a:ea typeface="+mn-ea"/>
                <a:cs typeface="+mn-cs"/>
              </a:rPr>
              <a:t>安全远程登录协议</a:t>
            </a:r>
            <a:r>
              <a:rPr lang="zh-CN" altLang="en-US" sz="1200" b="0" i="0" kern="1200" dirty="0">
                <a:solidFill>
                  <a:schemeClr val="tx1"/>
                </a:solidFill>
                <a:effectLst/>
                <a:latin typeface="+mn-lt"/>
                <a:ea typeface="+mn-ea"/>
                <a:cs typeface="+mn-cs"/>
              </a:rPr>
              <a:t>，而 </a:t>
            </a:r>
            <a:r>
              <a:rPr lang="en-US" altLang="zh-CN" sz="1200" b="1" i="0" kern="1200" dirty="0">
                <a:solidFill>
                  <a:schemeClr val="tx1"/>
                </a:solidFill>
                <a:effectLst/>
                <a:latin typeface="+mn-lt"/>
                <a:ea typeface="+mn-ea"/>
                <a:cs typeface="+mn-cs"/>
              </a:rPr>
              <a:t>SFTP</a:t>
            </a:r>
            <a:r>
              <a:rPr lang="zh-CN" altLang="en-US" sz="1200" b="0" i="0" kern="1200" dirty="0">
                <a:solidFill>
                  <a:schemeClr val="tx1"/>
                </a:solidFill>
                <a:effectLst/>
                <a:latin typeface="+mn-lt"/>
                <a:ea typeface="+mn-ea"/>
                <a:cs typeface="+mn-cs"/>
              </a:rPr>
              <a:t> 是基于 </a:t>
            </a:r>
            <a:r>
              <a:rPr lang="en-US" altLang="zh-CN" sz="1200" b="0" i="0" kern="1200" dirty="0">
                <a:solidFill>
                  <a:schemeClr val="tx1"/>
                </a:solidFill>
                <a:effectLst/>
                <a:latin typeface="+mn-lt"/>
                <a:ea typeface="+mn-ea"/>
                <a:cs typeface="+mn-cs"/>
              </a:rPr>
              <a:t>SSH </a:t>
            </a:r>
            <a:r>
              <a:rPr lang="zh-CN" altLang="en-US" sz="1200" b="0" i="0" kern="1200" dirty="0">
                <a:solidFill>
                  <a:schemeClr val="tx1"/>
                </a:solidFill>
                <a:effectLst/>
                <a:latin typeface="+mn-lt"/>
                <a:ea typeface="+mn-ea"/>
                <a:cs typeface="+mn-cs"/>
              </a:rPr>
              <a:t>的文件传输协议，可以看作是 </a:t>
            </a:r>
            <a:r>
              <a:rPr lang="en-US" altLang="zh-CN" sz="1200" b="0" i="0" kern="1200" dirty="0">
                <a:solidFill>
                  <a:schemeClr val="tx1"/>
                </a:solidFill>
                <a:effectLst/>
                <a:latin typeface="+mn-lt"/>
                <a:ea typeface="+mn-ea"/>
                <a:cs typeface="+mn-cs"/>
              </a:rPr>
              <a:t>SSH </a:t>
            </a:r>
            <a:r>
              <a:rPr lang="zh-CN" altLang="en-US" sz="1200" b="0" i="0" kern="1200" dirty="0">
                <a:solidFill>
                  <a:schemeClr val="tx1"/>
                </a:solidFill>
                <a:effectLst/>
                <a:latin typeface="+mn-lt"/>
                <a:ea typeface="+mn-ea"/>
                <a:cs typeface="+mn-cs"/>
              </a:rPr>
              <a:t>的“文件传输子系统”</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SSH </a:t>
            </a:r>
            <a:r>
              <a:rPr lang="zh-CN" altLang="en-US" sz="1200" b="0" i="0" kern="1200" dirty="0">
                <a:solidFill>
                  <a:schemeClr val="tx1"/>
                </a:solidFill>
                <a:effectLst/>
                <a:latin typeface="+mn-lt"/>
                <a:ea typeface="+mn-ea"/>
                <a:cs typeface="+mn-cs"/>
              </a:rPr>
              <a:t>是 </a:t>
            </a:r>
            <a:r>
              <a:rPr lang="en-US" altLang="zh-CN" sz="1200" b="1" i="0" kern="1200" dirty="0">
                <a:solidFill>
                  <a:schemeClr val="tx1"/>
                </a:solidFill>
                <a:effectLst/>
                <a:latin typeface="+mn-lt"/>
                <a:ea typeface="+mn-ea"/>
                <a:cs typeface="+mn-cs"/>
              </a:rPr>
              <a:t>Secure Shell</a:t>
            </a:r>
            <a:r>
              <a:rPr lang="zh-CN" altLang="en-US" sz="1200" b="0" i="0" kern="1200" dirty="0">
                <a:solidFill>
                  <a:schemeClr val="tx1"/>
                </a:solidFill>
                <a:effectLst/>
                <a:latin typeface="+mn-lt"/>
                <a:ea typeface="+mn-ea"/>
                <a:cs typeface="+mn-cs"/>
              </a:rPr>
              <a:t> 的缩写，是最常用的</a:t>
            </a:r>
            <a:r>
              <a:rPr lang="zh-CN" altLang="en-US" sz="1200" b="1" i="0" kern="1200" dirty="0">
                <a:solidFill>
                  <a:schemeClr val="tx1"/>
                </a:solidFill>
                <a:effectLst/>
                <a:latin typeface="+mn-lt"/>
                <a:ea typeface="+mn-ea"/>
                <a:cs typeface="+mn-cs"/>
              </a:rPr>
              <a:t>安全远程登录协议</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核心功能</a:t>
            </a:r>
            <a:r>
              <a:rPr lang="zh-CN" altLang="en-US" sz="1200" b="0" i="0" kern="1200" dirty="0">
                <a:solidFill>
                  <a:schemeClr val="tx1"/>
                </a:solidFill>
                <a:effectLst/>
                <a:latin typeface="+mn-lt"/>
                <a:ea typeface="+mn-ea"/>
                <a:cs typeface="+mn-cs"/>
              </a:rPr>
              <a:t>：加密地在客户端和服务器之间建立一条</a:t>
            </a:r>
            <a:r>
              <a:rPr lang="zh-CN" altLang="en-US" sz="1200" b="1" i="0" kern="1200" dirty="0">
                <a:solidFill>
                  <a:schemeClr val="tx1"/>
                </a:solidFill>
                <a:effectLst/>
                <a:latin typeface="+mn-lt"/>
                <a:ea typeface="+mn-ea"/>
                <a:cs typeface="+mn-cs"/>
              </a:rPr>
              <a:t>安全通道</a:t>
            </a:r>
            <a:r>
              <a:rPr lang="zh-CN" altLang="en-US" sz="1200" b="0" i="0" kern="1200" dirty="0">
                <a:solidFill>
                  <a:schemeClr val="tx1"/>
                </a:solidFill>
                <a:effectLst/>
                <a:latin typeface="+mn-lt"/>
                <a:ea typeface="+mn-ea"/>
                <a:cs typeface="+mn-cs"/>
              </a:rPr>
              <a:t>，让你可以像坐在服务器前一样，通过命令行远程执行命令、管理服务器。</a:t>
            </a:r>
          </a:p>
          <a:p>
            <a:r>
              <a:rPr lang="zh-CN" altLang="en-US" sz="1200" b="1" i="0" kern="1200" dirty="0">
                <a:solidFill>
                  <a:schemeClr val="tx1"/>
                </a:solidFill>
                <a:effectLst/>
                <a:latin typeface="+mn-lt"/>
                <a:ea typeface="+mn-ea"/>
                <a:cs typeface="+mn-cs"/>
              </a:rPr>
              <a:t>解决的问题</a:t>
            </a:r>
            <a:r>
              <a:rPr lang="zh-CN" altLang="en-US" sz="1200" b="0" i="0" kern="1200" dirty="0">
                <a:solidFill>
                  <a:schemeClr val="tx1"/>
                </a:solidFill>
                <a:effectLst/>
                <a:latin typeface="+mn-lt"/>
                <a:ea typeface="+mn-ea"/>
                <a:cs typeface="+mn-cs"/>
              </a:rPr>
              <a:t>：替代了完全不加密的 </a:t>
            </a:r>
            <a:r>
              <a:rPr lang="en-US" altLang="zh-CN" sz="1200" b="0" i="0" kern="1200" dirty="0">
                <a:solidFill>
                  <a:schemeClr val="tx1"/>
                </a:solidFill>
                <a:effectLst/>
                <a:latin typeface="+mn-lt"/>
                <a:ea typeface="+mn-ea"/>
                <a:cs typeface="+mn-cs"/>
              </a:rPr>
              <a:t>Telnet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rlogin </a:t>
            </a:r>
            <a:r>
              <a:rPr lang="zh-CN" altLang="en-US" sz="1200" b="0" i="0" kern="1200" dirty="0">
                <a:solidFill>
                  <a:schemeClr val="tx1"/>
                </a:solidFill>
                <a:effectLst/>
                <a:latin typeface="+mn-lt"/>
                <a:ea typeface="+mn-ea"/>
                <a:cs typeface="+mn-cs"/>
              </a:rPr>
              <a:t>等旧协议，防止密码、命令、数据在传输过程中被窃听或篡改。</a:t>
            </a:r>
          </a:p>
          <a:p>
            <a:r>
              <a:rPr lang="en-US" altLang="zh-CN" sz="1200" b="0" i="0" kern="1200" dirty="0">
                <a:solidFill>
                  <a:schemeClr val="tx1"/>
                </a:solidFill>
                <a:effectLst/>
                <a:latin typeface="+mn-lt"/>
                <a:ea typeface="+mn-ea"/>
                <a:cs typeface="+mn-cs"/>
              </a:rPr>
              <a:t>SFTP </a:t>
            </a:r>
            <a:r>
              <a:rPr lang="zh-CN" altLang="en-US" sz="1200" b="0" i="0" kern="1200" dirty="0">
                <a:solidFill>
                  <a:schemeClr val="tx1"/>
                </a:solidFill>
                <a:effectLst/>
                <a:latin typeface="+mn-lt"/>
                <a:ea typeface="+mn-ea"/>
                <a:cs typeface="+mn-cs"/>
              </a:rPr>
              <a:t>是 </a:t>
            </a:r>
            <a:r>
              <a:rPr lang="en-US" altLang="zh-CN" sz="1200" b="1" i="0" kern="1200" dirty="0">
                <a:solidFill>
                  <a:schemeClr val="tx1"/>
                </a:solidFill>
                <a:effectLst/>
                <a:latin typeface="+mn-lt"/>
                <a:ea typeface="+mn-ea"/>
                <a:cs typeface="+mn-cs"/>
              </a:rPr>
              <a:t>SSH File Transfer Protocol</a:t>
            </a:r>
            <a:r>
              <a:rPr lang="zh-CN" altLang="en-US" sz="1200" b="0" i="0" kern="1200" dirty="0">
                <a:solidFill>
                  <a:schemeClr val="tx1"/>
                </a:solidFill>
                <a:effectLst/>
                <a:latin typeface="+mn-lt"/>
                <a:ea typeface="+mn-ea"/>
                <a:cs typeface="+mn-cs"/>
              </a:rPr>
              <a:t> 的缩写，注意</a:t>
            </a:r>
            <a:r>
              <a:rPr lang="zh-CN" altLang="en-US" sz="1200" b="1" i="0" kern="1200" dirty="0">
                <a:solidFill>
                  <a:schemeClr val="tx1"/>
                </a:solidFill>
                <a:effectLst/>
                <a:latin typeface="+mn-lt"/>
                <a:ea typeface="+mn-ea"/>
                <a:cs typeface="+mn-cs"/>
              </a:rPr>
              <a:t>它不是</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FTP over SSH</a:t>
            </a:r>
            <a:r>
              <a:rPr lang="zh-CN" altLang="en-US" sz="1200" b="0" i="0" kern="1200" dirty="0">
                <a:solidFill>
                  <a:schemeClr val="tx1"/>
                </a:solidFill>
                <a:effectLst/>
                <a:latin typeface="+mn-lt"/>
                <a:ea typeface="+mn-ea"/>
                <a:cs typeface="+mn-cs"/>
              </a:rPr>
              <a:t>（那通常叫 </a:t>
            </a:r>
            <a:r>
              <a:rPr lang="en-US" altLang="zh-CN" sz="1200" b="0" i="0" kern="1200" dirty="0">
                <a:solidFill>
                  <a:schemeClr val="tx1"/>
                </a:solidFill>
                <a:effectLst/>
                <a:latin typeface="+mn-lt"/>
                <a:ea typeface="+mn-ea"/>
                <a:cs typeface="+mn-cs"/>
              </a:rPr>
              <a:t>FTPS </a:t>
            </a:r>
            <a:r>
              <a:rPr lang="zh-CN" altLang="en-US" sz="1200" b="0" i="0" kern="1200" dirty="0">
                <a:solidFill>
                  <a:schemeClr val="tx1"/>
                </a:solidFill>
                <a:effectLst/>
                <a:latin typeface="+mn-lt"/>
                <a:ea typeface="+mn-ea"/>
                <a:cs typeface="+mn-cs"/>
              </a:rPr>
              <a:t>或 </a:t>
            </a:r>
            <a:r>
              <a:rPr lang="en-US" altLang="zh-CN" sz="1200" b="0" i="0" kern="1200" dirty="0">
                <a:solidFill>
                  <a:schemeClr val="tx1"/>
                </a:solidFill>
                <a:effectLst/>
                <a:latin typeface="+mn-lt"/>
                <a:ea typeface="+mn-ea"/>
                <a:cs typeface="+mn-cs"/>
              </a:rPr>
              <a:t>FTP over TLS</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核心功能</a:t>
            </a:r>
            <a:r>
              <a:rPr lang="zh-CN" altLang="en-US" sz="1200" b="0" i="0" kern="1200" dirty="0">
                <a:solidFill>
                  <a:schemeClr val="tx1"/>
                </a:solidFill>
                <a:effectLst/>
                <a:latin typeface="+mn-lt"/>
                <a:ea typeface="+mn-ea"/>
                <a:cs typeface="+mn-cs"/>
              </a:rPr>
              <a:t>：基于 </a:t>
            </a:r>
            <a:r>
              <a:rPr lang="en-US" altLang="zh-CN" sz="1200" b="0" i="0" kern="1200" dirty="0">
                <a:solidFill>
                  <a:schemeClr val="tx1"/>
                </a:solidFill>
                <a:effectLst/>
                <a:latin typeface="+mn-lt"/>
                <a:ea typeface="+mn-ea"/>
                <a:cs typeface="+mn-cs"/>
              </a:rPr>
              <a:t>SSH </a:t>
            </a:r>
            <a:r>
              <a:rPr lang="zh-CN" altLang="en-US" sz="1200" b="0" i="0" kern="1200" dirty="0">
                <a:solidFill>
                  <a:schemeClr val="tx1"/>
                </a:solidFill>
                <a:effectLst/>
                <a:latin typeface="+mn-lt"/>
                <a:ea typeface="+mn-ea"/>
                <a:cs typeface="+mn-cs"/>
              </a:rPr>
              <a:t>的安全通道，提供</a:t>
            </a:r>
            <a:r>
              <a:rPr lang="zh-CN" altLang="en-US" sz="1200" b="1" i="0" kern="1200" dirty="0">
                <a:solidFill>
                  <a:schemeClr val="tx1"/>
                </a:solidFill>
                <a:effectLst/>
                <a:latin typeface="+mn-lt"/>
                <a:ea typeface="+mn-ea"/>
                <a:cs typeface="+mn-cs"/>
              </a:rPr>
              <a:t>交互式文件访问、传输和管理</a:t>
            </a:r>
            <a:r>
              <a:rPr lang="zh-CN" altLang="en-US" sz="1200" b="0" i="0" kern="1200" dirty="0">
                <a:solidFill>
                  <a:schemeClr val="tx1"/>
                </a:solidFill>
                <a:effectLst/>
                <a:latin typeface="+mn-lt"/>
                <a:ea typeface="+mn-ea"/>
                <a:cs typeface="+mn-cs"/>
              </a:rPr>
              <a:t>功能。你可以上传、下载、删除、重命名、查看文件列表、甚至恢复中断的传输。</a:t>
            </a:r>
          </a:p>
          <a:p>
            <a:r>
              <a:rPr lang="zh-CN" altLang="en-US" sz="1200" b="1" i="0" kern="1200" dirty="0">
                <a:solidFill>
                  <a:schemeClr val="tx1"/>
                </a:solidFill>
                <a:effectLst/>
                <a:latin typeface="+mn-lt"/>
                <a:ea typeface="+mn-ea"/>
                <a:cs typeface="+mn-cs"/>
              </a:rPr>
              <a:t>解决的问题</a:t>
            </a:r>
            <a:r>
              <a:rPr lang="zh-CN" altLang="en-US" sz="1200" b="0" i="0" kern="1200" dirty="0">
                <a:solidFill>
                  <a:schemeClr val="tx1"/>
                </a:solidFill>
                <a:effectLst/>
                <a:latin typeface="+mn-lt"/>
                <a:ea typeface="+mn-ea"/>
                <a:cs typeface="+mn-cs"/>
              </a:rPr>
              <a:t>：替代了明文传输的 </a:t>
            </a:r>
            <a:r>
              <a:rPr lang="en-US" altLang="zh-CN" sz="1200" b="0" i="0" kern="1200" dirty="0">
                <a:solidFill>
                  <a:schemeClr val="tx1"/>
                </a:solidFill>
                <a:effectLst/>
                <a:latin typeface="+mn-lt"/>
                <a:ea typeface="+mn-ea"/>
                <a:cs typeface="+mn-cs"/>
              </a:rPr>
              <a:t>FTP</a:t>
            </a:r>
            <a:r>
              <a:rPr lang="zh-CN" altLang="en-US" sz="1200" b="0" i="0" kern="1200" dirty="0">
                <a:solidFill>
                  <a:schemeClr val="tx1"/>
                </a:solidFill>
                <a:effectLst/>
                <a:latin typeface="+mn-lt"/>
                <a:ea typeface="+mn-ea"/>
                <a:cs typeface="+mn-cs"/>
              </a:rPr>
              <a:t>（文件传输协议），提供安全的文件传输。同时比 </a:t>
            </a:r>
            <a:r>
              <a:rPr lang="en-US" altLang="zh-CN" sz="1200" b="0" i="0" kern="1200" dirty="0">
                <a:solidFill>
                  <a:schemeClr val="tx1"/>
                </a:solidFill>
                <a:effectLst/>
                <a:latin typeface="+mn-lt"/>
                <a:ea typeface="+mn-ea"/>
                <a:cs typeface="+mn-cs"/>
              </a:rPr>
              <a:t>FTP </a:t>
            </a:r>
            <a:r>
              <a:rPr lang="zh-CN" altLang="en-US" sz="1200" b="0" i="0" kern="1200" dirty="0">
                <a:solidFill>
                  <a:schemeClr val="tx1"/>
                </a:solidFill>
                <a:effectLst/>
                <a:latin typeface="+mn-lt"/>
                <a:ea typeface="+mn-ea"/>
                <a:cs typeface="+mn-cs"/>
              </a:rPr>
              <a:t>功能更强大（支持断点续传、远程文件操作）。</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10</a:t>
            </a:fld>
            <a:endParaRPr kumimoji="1" lang="zh-CN" altLang="en-US"/>
          </a:p>
        </p:txBody>
      </p:sp>
    </p:spTree>
    <p:extLst>
      <p:ext uri="{BB962C8B-B14F-4D97-AF65-F5344CB8AC3E}">
        <p14:creationId xmlns:p14="http://schemas.microsoft.com/office/powerpoint/2010/main" val="1057827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16</a:t>
            </a:fld>
            <a:endParaRPr lang="zh-CN" altLang="en-US"/>
          </a:p>
        </p:txBody>
      </p:sp>
    </p:spTree>
    <p:extLst>
      <p:ext uri="{BB962C8B-B14F-4D97-AF65-F5344CB8AC3E}">
        <p14:creationId xmlns:p14="http://schemas.microsoft.com/office/powerpoint/2010/main" val="1321466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25</a:t>
            </a:fld>
            <a:endParaRPr lang="zh-CN" altLang="en-US"/>
          </a:p>
        </p:txBody>
      </p:sp>
    </p:spTree>
    <p:extLst>
      <p:ext uri="{BB962C8B-B14F-4D97-AF65-F5344CB8AC3E}">
        <p14:creationId xmlns:p14="http://schemas.microsoft.com/office/powerpoint/2010/main" val="909602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KRACK</a:t>
            </a:r>
            <a:r>
              <a:rPr lang="zh-CN" altLang="en-US" sz="1200" b="1" i="0" kern="1200" dirty="0">
                <a:solidFill>
                  <a:schemeClr val="tx1"/>
                </a:solidFill>
                <a:effectLst/>
                <a:latin typeface="+mn-lt"/>
                <a:ea typeface="+mn-ea"/>
                <a:cs typeface="+mn-cs"/>
              </a:rPr>
              <a:t>（密钥重装攻击）</a:t>
            </a:r>
            <a:r>
              <a:rPr lang="zh-CN" altLang="en-US" sz="1200" b="0" i="0" kern="1200" dirty="0">
                <a:solidFill>
                  <a:schemeClr val="tx1"/>
                </a:solidFill>
                <a:effectLst/>
                <a:latin typeface="+mn-lt"/>
                <a:ea typeface="+mn-ea"/>
                <a:cs typeface="+mn-cs"/>
              </a:rPr>
              <a:t> 是一种利用</a:t>
            </a:r>
            <a:r>
              <a:rPr lang="en-US" altLang="zh-CN" sz="1200" b="0" i="0" kern="1200" dirty="0">
                <a:solidFill>
                  <a:schemeClr val="tx1"/>
                </a:solidFill>
                <a:effectLst/>
                <a:latin typeface="+mn-lt"/>
                <a:ea typeface="+mn-ea"/>
                <a:cs typeface="+mn-cs"/>
              </a:rPr>
              <a:t>WPA2</a:t>
            </a:r>
            <a:r>
              <a:rPr lang="zh-CN" altLang="en-US" sz="1200" b="0" i="0" kern="1200" dirty="0">
                <a:solidFill>
                  <a:schemeClr val="tx1"/>
                </a:solidFill>
                <a:effectLst/>
                <a:latin typeface="+mn-lt"/>
                <a:ea typeface="+mn-ea"/>
                <a:cs typeface="+mn-cs"/>
              </a:rPr>
              <a:t>协议四次握手机制设计缺陷进行的攻击方法。</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要理解</a:t>
            </a:r>
            <a:r>
              <a:rPr lang="en-US" altLang="zh-CN" sz="1200" b="0" i="0" kern="1200" dirty="0">
                <a:solidFill>
                  <a:schemeClr val="tx1"/>
                </a:solidFill>
                <a:effectLst/>
                <a:latin typeface="+mn-lt"/>
                <a:ea typeface="+mn-ea"/>
                <a:cs typeface="+mn-cs"/>
              </a:rPr>
              <a:t>KRACK</a:t>
            </a:r>
            <a:r>
              <a:rPr lang="zh-CN" altLang="en-US" sz="1200" b="0" i="0" kern="1200" dirty="0">
                <a:solidFill>
                  <a:schemeClr val="tx1"/>
                </a:solidFill>
                <a:effectLst/>
                <a:latin typeface="+mn-lt"/>
                <a:ea typeface="+mn-ea"/>
                <a:cs typeface="+mn-cs"/>
              </a:rPr>
              <a:t>，可以把它想象成这样一个过程：当你和</a:t>
            </a:r>
            <a:r>
              <a:rPr lang="en-US" altLang="zh-CN" sz="1200" b="0" i="0" kern="1200" dirty="0">
                <a:solidFill>
                  <a:schemeClr val="tx1"/>
                </a:solidFill>
                <a:effectLst/>
                <a:latin typeface="+mn-lt"/>
                <a:ea typeface="+mn-ea"/>
                <a:cs typeface="+mn-cs"/>
              </a:rPr>
              <a:t>Wi-Fi</a:t>
            </a:r>
            <a:r>
              <a:rPr lang="zh-CN" altLang="en-US" sz="1200" b="0" i="0" kern="1200" dirty="0">
                <a:solidFill>
                  <a:schemeClr val="tx1"/>
                </a:solidFill>
                <a:effectLst/>
                <a:latin typeface="+mn-lt"/>
                <a:ea typeface="+mn-ea"/>
                <a:cs typeface="+mn-cs"/>
              </a:rPr>
              <a:t>路由器建立连接时，双方会通过一个叫</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四次握手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的流程来协商一个用于加密数据的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会话密钥</a:t>
            </a:r>
            <a:r>
              <a:rPr lang="en-US" altLang="zh-CN" sz="1200" b="0" i="0" kern="1200" dirty="0">
                <a:solidFill>
                  <a:schemeClr val="tx1"/>
                </a:solidFill>
                <a:effectLst/>
                <a:latin typeface="+mn-lt"/>
                <a:ea typeface="+mn-ea"/>
                <a:cs typeface="+mn-cs"/>
              </a:rPr>
              <a:t>"</a:t>
            </a:r>
            <a:r>
              <a:rPr lang="en-US" altLang="zh-CN" sz="1200" b="0" i="0" u="none" strike="noStrike"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。这个密钥每会话只应安装和使用一次。</a:t>
            </a:r>
          </a:p>
          <a:p>
            <a:r>
              <a:rPr lang="en-US" altLang="zh-CN" sz="1200" b="0" i="0" kern="1200" dirty="0">
                <a:solidFill>
                  <a:schemeClr val="tx1"/>
                </a:solidFill>
                <a:effectLst/>
                <a:latin typeface="+mn-lt"/>
                <a:ea typeface="+mn-ea"/>
                <a:cs typeface="+mn-cs"/>
              </a:rPr>
              <a:t>KRACK</a:t>
            </a:r>
            <a:r>
              <a:rPr lang="zh-CN" altLang="en-US" sz="1200" b="0" i="0" kern="1200" dirty="0">
                <a:solidFill>
                  <a:schemeClr val="tx1"/>
                </a:solidFill>
                <a:effectLst/>
                <a:latin typeface="+mn-lt"/>
                <a:ea typeface="+mn-ea"/>
                <a:cs typeface="+mn-cs"/>
              </a:rPr>
              <a:t>攻击的核心在于，攻击者利用协议允许重传握手消息的机制，在中间反复</a:t>
            </a:r>
            <a:r>
              <a:rPr lang="zh-CN" altLang="en-US" sz="1200" b="1" i="0" kern="1200" dirty="0">
                <a:solidFill>
                  <a:schemeClr val="tx1"/>
                </a:solidFill>
                <a:effectLst/>
                <a:latin typeface="+mn-lt"/>
                <a:ea typeface="+mn-ea"/>
                <a:cs typeface="+mn-cs"/>
              </a:rPr>
              <a:t>重放</a:t>
            </a:r>
            <a:r>
              <a:rPr lang="zh-CN" altLang="en-US" sz="1200" b="0" i="0" kern="1200" dirty="0">
                <a:solidFill>
                  <a:schemeClr val="tx1"/>
                </a:solidFill>
                <a:effectLst/>
                <a:latin typeface="+mn-lt"/>
                <a:ea typeface="+mn-ea"/>
                <a:cs typeface="+mn-cs"/>
              </a:rPr>
              <a:t>并</a:t>
            </a:r>
            <a:r>
              <a:rPr lang="zh-CN" altLang="en-US" sz="1200" b="1" i="0" kern="1200" dirty="0">
                <a:solidFill>
                  <a:schemeClr val="tx1"/>
                </a:solidFill>
                <a:effectLst/>
                <a:latin typeface="+mn-lt"/>
                <a:ea typeface="+mn-ea"/>
                <a:cs typeface="+mn-cs"/>
              </a:rPr>
              <a:t>篡改</a:t>
            </a:r>
            <a:r>
              <a:rPr lang="zh-CN" altLang="en-US" sz="1200" b="0" i="0" kern="1200" dirty="0">
                <a:solidFill>
                  <a:schemeClr val="tx1"/>
                </a:solidFill>
                <a:effectLst/>
                <a:latin typeface="+mn-lt"/>
                <a:ea typeface="+mn-ea"/>
                <a:cs typeface="+mn-cs"/>
              </a:rPr>
              <a:t>第三次握手消息，诱使客户端反复</a:t>
            </a:r>
            <a:r>
              <a:rPr lang="zh-CN" altLang="en-US" sz="1200" b="1" i="0" kern="1200" dirty="0">
                <a:solidFill>
                  <a:schemeClr val="tx1"/>
                </a:solidFill>
                <a:effectLst/>
                <a:latin typeface="+mn-lt"/>
                <a:ea typeface="+mn-ea"/>
                <a:cs typeface="+mn-cs"/>
              </a:rPr>
              <a:t>重新安装</a:t>
            </a:r>
            <a:r>
              <a:rPr lang="zh-CN" altLang="en-US" sz="1200" b="0" i="0" kern="1200" dirty="0">
                <a:solidFill>
                  <a:schemeClr val="tx1"/>
                </a:solidFill>
                <a:effectLst/>
                <a:latin typeface="+mn-lt"/>
                <a:ea typeface="+mn-ea"/>
                <a:cs typeface="+mn-cs"/>
              </a:rPr>
              <a:t>一个已经使用过的旧密钥。</a:t>
            </a: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整个攻击流程大致如下，攻击者需要</a:t>
            </a:r>
            <a:r>
              <a:rPr lang="zh-CN" altLang="en-US" sz="1200" b="1" i="0" kern="1200" dirty="0">
                <a:solidFill>
                  <a:schemeClr val="tx1"/>
                </a:solidFill>
                <a:effectLst/>
                <a:latin typeface="+mn-lt"/>
                <a:ea typeface="+mn-ea"/>
                <a:cs typeface="+mn-cs"/>
              </a:rPr>
              <a:t>在物理上靠近目标</a:t>
            </a:r>
            <a:r>
              <a:rPr lang="en-US" altLang="zh-CN" sz="1200" b="1" i="0" kern="1200" dirty="0">
                <a:solidFill>
                  <a:schemeClr val="tx1"/>
                </a:solidFill>
                <a:effectLst/>
                <a:latin typeface="+mn-lt"/>
                <a:ea typeface="+mn-ea"/>
                <a:cs typeface="+mn-cs"/>
              </a:rPr>
              <a:t>Wi-Fi</a:t>
            </a:r>
            <a:r>
              <a:rPr lang="zh-CN" altLang="en-US" sz="1200" b="1" i="0" kern="1200" dirty="0">
                <a:solidFill>
                  <a:schemeClr val="tx1"/>
                </a:solidFill>
                <a:effectLst/>
                <a:latin typeface="+mn-lt"/>
                <a:ea typeface="+mn-ea"/>
                <a:cs typeface="+mn-cs"/>
              </a:rPr>
              <a:t>网络</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设置</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克隆接入点</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AP</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：攻击者创建一个与你想要连接的真实</a:t>
            </a:r>
            <a:r>
              <a:rPr lang="en-US" altLang="zh-CN" sz="1200" b="0" i="0" kern="1200" dirty="0">
                <a:solidFill>
                  <a:schemeClr val="tx1"/>
                </a:solidFill>
                <a:effectLst/>
                <a:latin typeface="+mn-lt"/>
                <a:ea typeface="+mn-ea"/>
                <a:cs typeface="+mn-cs"/>
              </a:rPr>
              <a:t>Wi-Fi</a:t>
            </a:r>
            <a:r>
              <a:rPr lang="zh-CN" altLang="en-US" sz="1200" b="1" i="0" kern="1200" dirty="0">
                <a:solidFill>
                  <a:schemeClr val="tx1"/>
                </a:solidFill>
                <a:effectLst/>
                <a:latin typeface="+mn-lt"/>
                <a:ea typeface="+mn-ea"/>
                <a:cs typeface="+mn-cs"/>
              </a:rPr>
              <a:t>名称（</a:t>
            </a:r>
            <a:r>
              <a:rPr lang="en-US" altLang="zh-CN" sz="1200" b="1" i="0" kern="1200" dirty="0">
                <a:solidFill>
                  <a:schemeClr val="tx1"/>
                </a:solidFill>
                <a:effectLst/>
                <a:latin typeface="+mn-lt"/>
                <a:ea typeface="+mn-ea"/>
                <a:cs typeface="+mn-cs"/>
              </a:rPr>
              <a:t>SSID</a:t>
            </a:r>
            <a:r>
              <a:rPr lang="zh-CN" altLang="en-US" sz="1200" b="1" i="0" kern="1200" dirty="0">
                <a:solidFill>
                  <a:schemeClr val="tx1"/>
                </a:solidFill>
                <a:effectLst/>
                <a:latin typeface="+mn-lt"/>
                <a:ea typeface="+mn-ea"/>
                <a:cs typeface="+mn-cs"/>
              </a:rPr>
              <a:t>）和</a:t>
            </a:r>
            <a:r>
              <a:rPr lang="en-US" altLang="zh-CN" sz="1200" b="1" i="0" kern="1200" dirty="0">
                <a:solidFill>
                  <a:schemeClr val="tx1"/>
                </a:solidFill>
                <a:effectLst/>
                <a:latin typeface="+mn-lt"/>
                <a:ea typeface="+mn-ea"/>
                <a:cs typeface="+mn-cs"/>
              </a:rPr>
              <a:t>MAC</a:t>
            </a:r>
            <a:r>
              <a:rPr lang="zh-CN" altLang="en-US" sz="1200" b="1" i="0" kern="1200" dirty="0">
                <a:solidFill>
                  <a:schemeClr val="tx1"/>
                </a:solidFill>
                <a:effectLst/>
                <a:latin typeface="+mn-lt"/>
                <a:ea typeface="+mn-ea"/>
                <a:cs typeface="+mn-cs"/>
              </a:rPr>
              <a:t>地址完全相同</a:t>
            </a:r>
            <a:r>
              <a:rPr lang="zh-CN" altLang="en-US" sz="1200" b="0" i="0" kern="1200" dirty="0">
                <a:solidFill>
                  <a:schemeClr val="tx1"/>
                </a:solidFill>
                <a:effectLst/>
                <a:latin typeface="+mn-lt"/>
                <a:ea typeface="+mn-ea"/>
                <a:cs typeface="+mn-cs"/>
              </a:rPr>
              <a:t>的伪造</a:t>
            </a:r>
            <a:r>
              <a:rPr lang="en-US" altLang="zh-CN" sz="1200" b="0" i="0" kern="1200" dirty="0">
                <a:solidFill>
                  <a:schemeClr val="tx1"/>
                </a:solidFill>
                <a:effectLst/>
                <a:latin typeface="+mn-lt"/>
                <a:ea typeface="+mn-ea"/>
                <a:cs typeface="+mn-cs"/>
              </a:rPr>
              <a:t>Wi-Fi</a:t>
            </a:r>
            <a:r>
              <a:rPr lang="zh-CN" altLang="en-US" sz="1200" b="0" i="0" kern="1200" dirty="0">
                <a:solidFill>
                  <a:schemeClr val="tx1"/>
                </a:solidFill>
                <a:effectLst/>
                <a:latin typeface="+mn-lt"/>
                <a:ea typeface="+mn-ea"/>
                <a:cs typeface="+mn-cs"/>
              </a:rPr>
              <a:t>热点。</a:t>
            </a:r>
          </a:p>
          <a:p>
            <a:r>
              <a:rPr lang="zh-CN" altLang="en-US" sz="1200" b="1" i="0" kern="1200" dirty="0">
                <a:solidFill>
                  <a:schemeClr val="tx1"/>
                </a:solidFill>
                <a:effectLst/>
                <a:latin typeface="+mn-lt"/>
                <a:ea typeface="+mn-ea"/>
                <a:cs typeface="+mn-cs"/>
              </a:rPr>
              <a:t>强制</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降级</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连接</a:t>
            </a:r>
            <a:r>
              <a:rPr lang="zh-CN" altLang="en-US" sz="1200" b="0" i="0" kern="1200" dirty="0">
                <a:solidFill>
                  <a:schemeClr val="tx1"/>
                </a:solidFill>
                <a:effectLst/>
                <a:latin typeface="+mn-lt"/>
                <a:ea typeface="+mn-ea"/>
                <a:cs typeface="+mn-cs"/>
              </a:rPr>
              <a:t>：利用特殊技术手段，攻击者干扰你的设备与真实</a:t>
            </a:r>
            <a:r>
              <a:rPr lang="en-US" altLang="zh-CN" sz="1200" b="0" i="0" kern="1200" dirty="0">
                <a:solidFill>
                  <a:schemeClr val="tx1"/>
                </a:solidFill>
                <a:effectLst/>
                <a:latin typeface="+mn-lt"/>
                <a:ea typeface="+mn-ea"/>
                <a:cs typeface="+mn-cs"/>
              </a:rPr>
              <a:t>AP</a:t>
            </a:r>
            <a:r>
              <a:rPr lang="zh-CN" altLang="en-US" sz="1200" b="0" i="0" kern="1200" dirty="0">
                <a:solidFill>
                  <a:schemeClr val="tx1"/>
                </a:solidFill>
                <a:effectLst/>
                <a:latin typeface="+mn-lt"/>
                <a:ea typeface="+mn-ea"/>
                <a:cs typeface="+mn-cs"/>
              </a:rPr>
              <a:t>的连接，</a:t>
            </a:r>
            <a:r>
              <a:rPr lang="zh-CN" altLang="en-US" sz="1200" b="1" i="0" kern="1200" dirty="0">
                <a:solidFill>
                  <a:schemeClr val="tx1"/>
                </a:solidFill>
                <a:effectLst/>
                <a:latin typeface="+mn-lt"/>
                <a:ea typeface="+mn-ea"/>
                <a:cs typeface="+mn-cs"/>
              </a:rPr>
              <a:t>诱骗你的设备连接到他的伪造</a:t>
            </a:r>
            <a:r>
              <a:rPr lang="en-US" altLang="zh-CN" sz="1200" b="1" i="0" kern="1200" dirty="0">
                <a:solidFill>
                  <a:schemeClr val="tx1"/>
                </a:solidFill>
                <a:effectLst/>
                <a:latin typeface="+mn-lt"/>
                <a:ea typeface="+mn-ea"/>
                <a:cs typeface="+mn-cs"/>
              </a:rPr>
              <a:t>AP</a:t>
            </a:r>
            <a:r>
              <a:rPr lang="zh-CN" altLang="en-US" sz="1200" b="1" i="0" kern="1200" dirty="0">
                <a:solidFill>
                  <a:schemeClr val="tx1"/>
                </a:solidFill>
                <a:effectLst/>
                <a:latin typeface="+mn-lt"/>
                <a:ea typeface="+mn-ea"/>
                <a:cs typeface="+mn-cs"/>
              </a:rPr>
              <a:t>上</a:t>
            </a:r>
            <a:r>
              <a:rPr lang="zh-CN" altLang="en-US" sz="1200" b="0" i="0" kern="1200" dirty="0">
                <a:solidFill>
                  <a:schemeClr val="tx1"/>
                </a:solidFill>
                <a:effectLst/>
                <a:latin typeface="+mn-lt"/>
                <a:ea typeface="+mn-ea"/>
                <a:cs typeface="+mn-cs"/>
              </a:rPr>
              <a:t>，从而实现中间人攻击。</a:t>
            </a:r>
          </a:p>
          <a:p>
            <a:r>
              <a:rPr lang="zh-CN" altLang="en-US" sz="1200" b="1" i="0" kern="1200" dirty="0">
                <a:solidFill>
                  <a:schemeClr val="tx1"/>
                </a:solidFill>
                <a:effectLst/>
                <a:latin typeface="+mn-lt"/>
                <a:ea typeface="+mn-ea"/>
                <a:cs typeface="+mn-cs"/>
              </a:rPr>
              <a:t>启动</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密钥重装</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循环</a:t>
            </a:r>
            <a:r>
              <a:rPr lang="zh-CN" altLang="en-US" sz="1200" b="0" i="0" kern="1200" dirty="0">
                <a:solidFill>
                  <a:schemeClr val="tx1"/>
                </a:solidFill>
                <a:effectLst/>
                <a:latin typeface="+mn-lt"/>
                <a:ea typeface="+mn-ea"/>
                <a:cs typeface="+mn-cs"/>
              </a:rPr>
              <a:t>：一旦你的设备连接上伪造</a:t>
            </a:r>
            <a:r>
              <a:rPr lang="en-US" altLang="zh-CN" sz="1200" b="0" i="0" kern="1200" dirty="0">
                <a:solidFill>
                  <a:schemeClr val="tx1"/>
                </a:solidFill>
                <a:effectLst/>
                <a:latin typeface="+mn-lt"/>
                <a:ea typeface="+mn-ea"/>
                <a:cs typeface="+mn-cs"/>
              </a:rPr>
              <a:t>AP</a:t>
            </a:r>
            <a:r>
              <a:rPr lang="zh-CN" altLang="en-US" sz="1200" b="0" i="0" kern="1200" dirty="0">
                <a:solidFill>
                  <a:schemeClr val="tx1"/>
                </a:solidFill>
                <a:effectLst/>
                <a:latin typeface="+mn-lt"/>
                <a:ea typeface="+mn-ea"/>
                <a:cs typeface="+mn-cs"/>
              </a:rPr>
              <a:t>，攻击者便开始不断地、有选择性地重放握手过程中的特定消息，强迫你的设备反复重装密钥。</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收割</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你的数据</a:t>
            </a:r>
            <a:r>
              <a:rPr lang="zh-CN" altLang="en-US" sz="1200" b="0" i="0" kern="1200" dirty="0">
                <a:solidFill>
                  <a:schemeClr val="tx1"/>
                </a:solidFill>
                <a:effectLst/>
                <a:latin typeface="+mn-lt"/>
                <a:ea typeface="+mn-ea"/>
                <a:cs typeface="+mn-cs"/>
              </a:rPr>
              <a:t>：密钥重装后，攻击者就可以利用之前拦截的加密数据包，结合重置的参数进行解密。对于受影响严重的</a:t>
            </a:r>
            <a:r>
              <a:rPr lang="en-US" altLang="zh-CN" sz="1200" b="0" i="0" kern="1200" dirty="0">
                <a:solidFill>
                  <a:schemeClr val="tx1"/>
                </a:solidFill>
                <a:effectLst/>
                <a:latin typeface="+mn-lt"/>
                <a:ea typeface="+mn-ea"/>
                <a:cs typeface="+mn-cs"/>
              </a:rPr>
              <a:t>Android</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Linux</a:t>
            </a:r>
            <a:r>
              <a:rPr lang="zh-CN" altLang="en-US" sz="1200" b="0" i="0" kern="1200" dirty="0">
                <a:solidFill>
                  <a:schemeClr val="tx1"/>
                </a:solidFill>
                <a:effectLst/>
                <a:latin typeface="+mn-lt"/>
                <a:ea typeface="+mn-ea"/>
                <a:cs typeface="+mn-cs"/>
              </a:rPr>
              <a:t>设备，攻击者甚至可以直接看到你的所有网络通信内容，包括</a:t>
            </a:r>
            <a:r>
              <a:rPr lang="zh-CN" altLang="en-US" sz="1200" b="1" i="0" kern="1200" dirty="0">
                <a:solidFill>
                  <a:schemeClr val="tx1"/>
                </a:solidFill>
                <a:effectLst/>
                <a:latin typeface="+mn-lt"/>
                <a:ea typeface="+mn-ea"/>
                <a:cs typeface="+mn-cs"/>
              </a:rPr>
              <a:t>聊天记录、密码、照片等敏感信息</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蜻蜓 </a:t>
            </a:r>
            <a:r>
              <a:rPr lang="en-US" altLang="zh-CN" sz="1200" b="1" i="0" kern="1200" dirty="0">
                <a:solidFill>
                  <a:schemeClr val="tx1"/>
                </a:solidFill>
                <a:effectLst/>
                <a:latin typeface="+mn-lt"/>
                <a:ea typeface="+mn-ea"/>
                <a:cs typeface="+mn-cs"/>
              </a:rPr>
              <a:t>(Dragonfly) </a:t>
            </a:r>
            <a:r>
              <a:rPr lang="zh-CN" altLang="en-US" sz="1200" b="1" i="0" kern="1200" dirty="0">
                <a:solidFill>
                  <a:schemeClr val="tx1"/>
                </a:solidFill>
                <a:effectLst/>
                <a:latin typeface="+mn-lt"/>
                <a:ea typeface="+mn-ea"/>
                <a:cs typeface="+mn-cs"/>
              </a:rPr>
              <a:t>密钥交换是一种密码认证密钥交换协议，</a:t>
            </a:r>
            <a:r>
              <a:rPr lang="zh-CN" altLang="en-US" sz="1200" b="0" i="0" kern="1200" dirty="0">
                <a:solidFill>
                  <a:schemeClr val="tx1"/>
                </a:solidFill>
                <a:effectLst/>
                <a:latin typeface="+mn-lt"/>
                <a:ea typeface="+mn-ea"/>
                <a:cs typeface="+mn-cs"/>
              </a:rPr>
              <a:t>它旨在解决传统 </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认证的两大痛点：</a:t>
            </a:r>
          </a:p>
          <a:p>
            <a:r>
              <a:rPr lang="zh-CN" altLang="en-US" sz="1200" b="1" i="0" kern="1200" dirty="0">
                <a:solidFill>
                  <a:schemeClr val="tx1"/>
                </a:solidFill>
                <a:effectLst/>
                <a:latin typeface="+mn-lt"/>
                <a:ea typeface="+mn-ea"/>
                <a:cs typeface="+mn-cs"/>
              </a:rPr>
              <a:t>防止离线字典攻击</a:t>
            </a:r>
            <a:r>
              <a:rPr lang="zh-CN" altLang="en-US" sz="1200" b="0" i="0" kern="1200" dirty="0">
                <a:solidFill>
                  <a:schemeClr val="tx1"/>
                </a:solidFill>
                <a:effectLst/>
                <a:latin typeface="+mn-lt"/>
                <a:ea typeface="+mn-ea"/>
                <a:cs typeface="+mn-cs"/>
              </a:rPr>
              <a:t>：即使攻击者抓取了你的 </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握手包，也无法通过暴力破解你的密码。</a:t>
            </a:r>
          </a:p>
          <a:p>
            <a:r>
              <a:rPr lang="zh-CN" altLang="en-US" sz="1200" b="1" i="0" kern="1200" dirty="0">
                <a:solidFill>
                  <a:schemeClr val="tx1"/>
                </a:solidFill>
                <a:effectLst/>
                <a:latin typeface="+mn-lt"/>
                <a:ea typeface="+mn-ea"/>
                <a:cs typeface="+mn-cs"/>
              </a:rPr>
              <a:t>提供前向保密</a:t>
            </a:r>
            <a:r>
              <a:rPr lang="zh-CN" altLang="en-US" sz="1200" b="0" i="0" kern="1200" dirty="0">
                <a:solidFill>
                  <a:schemeClr val="tx1"/>
                </a:solidFill>
                <a:effectLst/>
                <a:latin typeface="+mn-lt"/>
                <a:ea typeface="+mn-ea"/>
                <a:cs typeface="+mn-cs"/>
              </a:rPr>
              <a:t>：即使未来密码泄露，过去的通信内容也无法被解密</a:t>
            </a:r>
          </a:p>
          <a:p>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与 </a:t>
            </a:r>
            <a:r>
              <a:rPr lang="en-US" altLang="zh-CN" sz="1200" b="0" i="0" kern="1200" dirty="0">
                <a:solidFill>
                  <a:schemeClr val="tx1"/>
                </a:solidFill>
                <a:effectLst/>
                <a:latin typeface="+mn-lt"/>
                <a:ea typeface="+mn-ea"/>
                <a:cs typeface="+mn-cs"/>
              </a:rPr>
              <a:t>WPA2 </a:t>
            </a:r>
            <a:r>
              <a:rPr lang="zh-CN" altLang="en-US" sz="1200" b="0" i="0" kern="1200" dirty="0">
                <a:solidFill>
                  <a:schemeClr val="tx1"/>
                </a:solidFill>
                <a:effectLst/>
                <a:latin typeface="+mn-lt"/>
                <a:ea typeface="+mn-ea"/>
                <a:cs typeface="+mn-cs"/>
              </a:rPr>
              <a:t>先验证密码是否正确（若正确则生成固定密钥）的逻辑不同，蜻蜓协议的核心创新在于将</a:t>
            </a:r>
            <a:r>
              <a:rPr lang="zh-CN" altLang="en-US" sz="1200" b="1" i="0" kern="1200" dirty="0">
                <a:solidFill>
                  <a:schemeClr val="tx1"/>
                </a:solidFill>
                <a:effectLst/>
                <a:latin typeface="+mn-lt"/>
                <a:ea typeface="+mn-ea"/>
                <a:cs typeface="+mn-cs"/>
              </a:rPr>
              <a:t>密码本身作为数学参数参与到密钥计算过程中</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具体流程分为三步：</a:t>
            </a:r>
          </a:p>
          <a:p>
            <a:r>
              <a:rPr lang="zh-CN" altLang="en-US" sz="1200" b="1" i="0" kern="1200" dirty="0">
                <a:solidFill>
                  <a:schemeClr val="tx1"/>
                </a:solidFill>
                <a:effectLst/>
                <a:latin typeface="+mn-lt"/>
                <a:ea typeface="+mn-ea"/>
                <a:cs typeface="+mn-cs"/>
              </a:rPr>
              <a:t>第一步：密码变“魔法数字”</a:t>
            </a:r>
            <a:r>
              <a:rPr lang="zh-CN" altLang="en-US" sz="1200" b="0" i="0" kern="1200" dirty="0">
                <a:solidFill>
                  <a:schemeClr val="tx1"/>
                </a:solidFill>
                <a:effectLst/>
                <a:latin typeface="+mn-lt"/>
                <a:ea typeface="+mn-ea"/>
                <a:cs typeface="+mn-cs"/>
              </a:rPr>
              <a:t>：双方使用“** </a:t>
            </a:r>
            <a:r>
              <a:rPr lang="en-US" altLang="zh-CN" sz="1200" b="0" i="0" kern="1200" dirty="0">
                <a:solidFill>
                  <a:schemeClr val="tx1"/>
                </a:solidFill>
                <a:effectLst/>
                <a:latin typeface="+mn-lt"/>
                <a:ea typeface="+mn-ea"/>
                <a:cs typeface="+mn-cs"/>
              </a:rPr>
              <a:t>Hunting-and-Pecking</a:t>
            </a:r>
            <a:r>
              <a:rPr lang="zh-CN" altLang="en-US" sz="1200" b="0" i="0" kern="1200" dirty="0">
                <a:solidFill>
                  <a:schemeClr val="tx1"/>
                </a:solidFill>
                <a:effectLst/>
                <a:latin typeface="+mn-lt"/>
                <a:ea typeface="+mn-ea"/>
                <a:cs typeface="+mn-cs"/>
              </a:rPr>
              <a:t>（狩猎与啄食）**”算法，将共享的 </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密码转换成椭圆曲线上的一个有效点（</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）。这个过程确保了不同的密码对应完全随机且不相关的数学点。</a:t>
            </a:r>
          </a:p>
          <a:p>
            <a:r>
              <a:rPr lang="zh-CN" altLang="en-US" sz="1200" b="1" i="0" kern="1200" dirty="0">
                <a:solidFill>
                  <a:schemeClr val="tx1"/>
                </a:solidFill>
                <a:effectLst/>
                <a:latin typeface="+mn-lt"/>
                <a:ea typeface="+mn-ea"/>
                <a:cs typeface="+mn-cs"/>
              </a:rPr>
              <a:t>第二步：交换与计算（</a:t>
            </a:r>
            <a:r>
              <a:rPr lang="en-US" altLang="zh-CN" sz="1200" b="1" i="0" kern="1200" dirty="0">
                <a:solidFill>
                  <a:schemeClr val="tx1"/>
                </a:solidFill>
                <a:effectLst/>
                <a:latin typeface="+mn-lt"/>
                <a:ea typeface="+mn-ea"/>
                <a:cs typeface="+mn-cs"/>
              </a:rPr>
              <a:t>Commit</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：双方各自生成随机数，像 </a:t>
            </a:r>
            <a:r>
              <a:rPr lang="en-US" altLang="zh-CN" sz="1200" b="0" i="0" kern="1200" dirty="0" err="1">
                <a:solidFill>
                  <a:schemeClr val="tx1"/>
                </a:solidFill>
                <a:effectLst/>
                <a:latin typeface="+mn-lt"/>
                <a:ea typeface="+mn-ea"/>
                <a:cs typeface="+mn-cs"/>
              </a:rPr>
              <a:t>Diffie</a:t>
            </a:r>
            <a:r>
              <a:rPr lang="en-US" altLang="zh-CN" sz="1200" b="0" i="0" kern="1200" dirty="0">
                <a:solidFill>
                  <a:schemeClr val="tx1"/>
                </a:solidFill>
                <a:effectLst/>
                <a:latin typeface="+mn-lt"/>
                <a:ea typeface="+mn-ea"/>
                <a:cs typeface="+mn-cs"/>
              </a:rPr>
              <a:t>-Hellman</a:t>
            </a:r>
            <a:r>
              <a:rPr lang="zh-CN" altLang="en-US" sz="1200" b="0" i="0" kern="1200" dirty="0">
                <a:solidFill>
                  <a:schemeClr val="tx1"/>
                </a:solidFill>
                <a:effectLst/>
                <a:latin typeface="+mn-lt"/>
                <a:ea typeface="+mn-ea"/>
                <a:cs typeface="+mn-cs"/>
              </a:rPr>
              <a:t>（迪菲</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赫尔曼）密钥交换那样交换公开信息。关键在于，</a:t>
            </a:r>
            <a:r>
              <a:rPr lang="zh-CN" altLang="en-US" sz="1200" b="1" i="0" kern="1200" dirty="0">
                <a:solidFill>
                  <a:schemeClr val="tx1"/>
                </a:solidFill>
                <a:effectLst/>
                <a:latin typeface="+mn-lt"/>
                <a:ea typeface="+mn-ea"/>
                <a:cs typeface="+mn-cs"/>
              </a:rPr>
              <a:t>验证密码是否正确与生成最终会话密钥是同时完成的</a:t>
            </a:r>
            <a:r>
              <a:rPr lang="zh-CN" altLang="en-US" sz="1200" b="0" i="0" kern="1200" dirty="0">
                <a:solidFill>
                  <a:schemeClr val="tx1"/>
                </a:solidFill>
                <a:effectLst/>
                <a:latin typeface="+mn-lt"/>
                <a:ea typeface="+mn-ea"/>
                <a:cs typeface="+mn-cs"/>
              </a:rPr>
              <a:t>。如果输入的密码错误，最终双方算出的密钥必然不匹配。</a:t>
            </a:r>
          </a:p>
          <a:p>
            <a:r>
              <a:rPr lang="zh-CN" altLang="en-US" sz="1200" b="1" i="0" kern="1200" dirty="0">
                <a:solidFill>
                  <a:schemeClr val="tx1"/>
                </a:solidFill>
                <a:effectLst/>
                <a:latin typeface="+mn-lt"/>
                <a:ea typeface="+mn-ea"/>
                <a:cs typeface="+mn-cs"/>
              </a:rPr>
              <a:t>第三步：确认（</a:t>
            </a:r>
            <a:r>
              <a:rPr lang="en-US" altLang="zh-CN" sz="1200" b="1" i="0" kern="1200" dirty="0">
                <a:solidFill>
                  <a:schemeClr val="tx1"/>
                </a:solidFill>
                <a:effectLst/>
                <a:latin typeface="+mn-lt"/>
                <a:ea typeface="+mn-ea"/>
                <a:cs typeface="+mn-cs"/>
              </a:rPr>
              <a:t>Confirm</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：双方使用算出的密钥对本次握手的摘要进行哈希计算并交换验证，确认“钥匙”打对了。</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抵御离线暴力破解</a:t>
            </a:r>
            <a:r>
              <a:rPr lang="zh-CN" altLang="en-US" sz="1200" b="0" i="0" kern="1200" dirty="0">
                <a:solidFill>
                  <a:schemeClr val="tx1"/>
                </a:solidFill>
                <a:effectLst/>
                <a:latin typeface="+mn-lt"/>
                <a:ea typeface="+mn-ea"/>
                <a:cs typeface="+mn-cs"/>
              </a:rPr>
              <a:t>：在 </a:t>
            </a:r>
            <a:r>
              <a:rPr lang="en-US" altLang="zh-CN" sz="1200" b="0" i="0" kern="1200" dirty="0">
                <a:solidFill>
                  <a:schemeClr val="tx1"/>
                </a:solidFill>
                <a:effectLst/>
                <a:latin typeface="+mn-lt"/>
                <a:ea typeface="+mn-ea"/>
                <a:cs typeface="+mn-cs"/>
              </a:rPr>
              <a:t>WPA2 </a:t>
            </a:r>
            <a:r>
              <a:rPr lang="zh-CN" altLang="en-US" sz="1200" b="0" i="0" kern="1200" dirty="0">
                <a:solidFill>
                  <a:schemeClr val="tx1"/>
                </a:solidFill>
                <a:effectLst/>
                <a:latin typeface="+mn-lt"/>
                <a:ea typeface="+mn-ea"/>
                <a:cs typeface="+mn-cs"/>
              </a:rPr>
              <a:t>中，只要抓取了握手包，攻击者就可以在不接触网络的情况下用字典跑包测试密码。但在蜻蜓协议中，攻击者仅凭监听无法验证密码正确性，因为密码已经通过“</a:t>
            </a:r>
            <a:r>
              <a:rPr lang="en-US" altLang="zh-CN" sz="1200" b="0" i="0" kern="1200" dirty="0">
                <a:solidFill>
                  <a:schemeClr val="tx1"/>
                </a:solidFill>
                <a:effectLst/>
                <a:latin typeface="+mn-lt"/>
                <a:ea typeface="+mn-ea"/>
                <a:cs typeface="+mn-cs"/>
              </a:rPr>
              <a:t>Hunting-and-Pecking”</a:t>
            </a:r>
            <a:r>
              <a:rPr lang="zh-CN" altLang="en-US" sz="1200" b="0" i="0" kern="1200" dirty="0">
                <a:solidFill>
                  <a:schemeClr val="tx1"/>
                </a:solidFill>
                <a:effectLst/>
                <a:latin typeface="+mn-lt"/>
                <a:ea typeface="+mn-ea"/>
                <a:cs typeface="+mn-cs"/>
              </a:rPr>
              <a:t>函数隐藏进数学计算中。攻击者必须</a:t>
            </a:r>
            <a:r>
              <a:rPr lang="zh-CN" altLang="en-US" sz="1200" b="1" i="0" kern="1200" dirty="0">
                <a:solidFill>
                  <a:schemeClr val="tx1"/>
                </a:solidFill>
                <a:effectLst/>
                <a:latin typeface="+mn-lt"/>
                <a:ea typeface="+mn-ea"/>
                <a:cs typeface="+mn-cs"/>
              </a:rPr>
              <a:t>实时与真正的 </a:t>
            </a:r>
            <a:r>
              <a:rPr lang="en-US" altLang="zh-CN" sz="1200" b="1" i="0" kern="1200" dirty="0">
                <a:solidFill>
                  <a:schemeClr val="tx1"/>
                </a:solidFill>
                <a:effectLst/>
                <a:latin typeface="+mn-lt"/>
                <a:ea typeface="+mn-ea"/>
                <a:cs typeface="+mn-cs"/>
              </a:rPr>
              <a:t>AP </a:t>
            </a:r>
            <a:r>
              <a:rPr lang="zh-CN" altLang="en-US" sz="1200" b="1" i="0" kern="1200" dirty="0">
                <a:solidFill>
                  <a:schemeClr val="tx1"/>
                </a:solidFill>
                <a:effectLst/>
                <a:latin typeface="+mn-lt"/>
                <a:ea typeface="+mn-ea"/>
                <a:cs typeface="+mn-cs"/>
              </a:rPr>
              <a:t>或客户端进行一次完整握手</a:t>
            </a:r>
            <a:r>
              <a:rPr lang="zh-CN" altLang="en-US" sz="1200" b="0" i="0" kern="1200" dirty="0">
                <a:solidFill>
                  <a:schemeClr val="tx1"/>
                </a:solidFill>
                <a:effectLst/>
                <a:latin typeface="+mn-lt"/>
                <a:ea typeface="+mn-ea"/>
                <a:cs typeface="+mn-cs"/>
              </a:rPr>
              <a:t>才能验证一个密码，这大大增加了攻击成本。</a:t>
            </a:r>
          </a:p>
          <a:p>
            <a:r>
              <a:rPr lang="zh-CN" altLang="en-US" sz="1200" b="1" i="0" kern="1200" dirty="0">
                <a:solidFill>
                  <a:schemeClr val="tx1"/>
                </a:solidFill>
                <a:effectLst/>
                <a:latin typeface="+mn-lt"/>
                <a:ea typeface="+mn-ea"/>
                <a:cs typeface="+mn-cs"/>
              </a:rPr>
              <a:t>前向保密</a:t>
            </a:r>
            <a:r>
              <a:rPr lang="zh-CN" altLang="en-US" sz="1200" b="0" i="0" kern="1200" dirty="0">
                <a:solidFill>
                  <a:schemeClr val="tx1"/>
                </a:solidFill>
                <a:effectLst/>
                <a:latin typeface="+mn-lt"/>
                <a:ea typeface="+mn-ea"/>
                <a:cs typeface="+mn-cs"/>
              </a:rPr>
              <a:t>：握手过程中生成的会话密钥是双方随机数交互产生的。即使后期攻击者获取了 </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密码，也无法反推出之前用于加密数据的临时会话密钥</a:t>
            </a:r>
          </a:p>
          <a:p>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26</a:t>
            </a:fld>
            <a:endParaRPr kumimoji="1" lang="zh-CN" altLang="en-US"/>
          </a:p>
        </p:txBody>
      </p:sp>
    </p:spTree>
    <p:extLst>
      <p:ext uri="{BB962C8B-B14F-4D97-AF65-F5344CB8AC3E}">
        <p14:creationId xmlns:p14="http://schemas.microsoft.com/office/powerpoint/2010/main" val="2481372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CCMP</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是 </a:t>
            </a:r>
            <a:r>
              <a:rPr lang="en-US" altLang="zh-CN" sz="1200" b="1" i="0" kern="1200" dirty="0">
                <a:solidFill>
                  <a:schemeClr val="tx1"/>
                </a:solidFill>
                <a:effectLst/>
                <a:latin typeface="+mn-lt"/>
                <a:ea typeface="+mn-ea"/>
                <a:cs typeface="+mn-cs"/>
              </a:rPr>
              <a:t>Counter Mode CBC-MAC Protocol</a:t>
            </a:r>
            <a:r>
              <a:rPr lang="zh-CN" altLang="en-US" sz="1200" b="0" i="0" kern="1200" dirty="0">
                <a:solidFill>
                  <a:schemeClr val="tx1"/>
                </a:solidFill>
                <a:effectLst/>
                <a:latin typeface="+mn-lt"/>
                <a:ea typeface="+mn-ea"/>
                <a:cs typeface="+mn-cs"/>
              </a:rPr>
              <a:t>（计数器模式配合</a:t>
            </a:r>
            <a:r>
              <a:rPr lang="en-US" altLang="zh-CN" sz="1200" b="0" i="0" kern="1200" dirty="0">
                <a:solidFill>
                  <a:schemeClr val="tx1"/>
                </a:solidFill>
                <a:effectLst/>
                <a:latin typeface="+mn-lt"/>
                <a:ea typeface="+mn-ea"/>
                <a:cs typeface="+mn-cs"/>
              </a:rPr>
              <a:t>CBC-MAC</a:t>
            </a:r>
            <a:r>
              <a:rPr lang="zh-CN" altLang="en-US" sz="1200" b="0" i="0" kern="1200" dirty="0">
                <a:solidFill>
                  <a:schemeClr val="tx1"/>
                </a:solidFill>
                <a:effectLst/>
                <a:latin typeface="+mn-lt"/>
                <a:ea typeface="+mn-ea"/>
                <a:cs typeface="+mn-cs"/>
              </a:rPr>
              <a:t>协议）的缩写</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简单来说：</a:t>
            </a:r>
            <a:r>
              <a:rPr lang="en-US" altLang="zh-CN" sz="1200" b="1" i="0" kern="1200" dirty="0">
                <a:solidFill>
                  <a:schemeClr val="tx1"/>
                </a:solidFill>
                <a:effectLst/>
                <a:latin typeface="+mn-lt"/>
                <a:ea typeface="+mn-ea"/>
                <a:cs typeface="+mn-cs"/>
              </a:rPr>
              <a:t>CCMP </a:t>
            </a:r>
            <a:r>
              <a:rPr lang="zh-CN" altLang="en-US" sz="1200" b="1" i="0" kern="1200" dirty="0">
                <a:solidFill>
                  <a:schemeClr val="tx1"/>
                </a:solidFill>
                <a:effectLst/>
                <a:latin typeface="+mn-lt"/>
                <a:ea typeface="+mn-ea"/>
                <a:cs typeface="+mn-cs"/>
              </a:rPr>
              <a:t>是基于 </a:t>
            </a:r>
            <a:r>
              <a:rPr lang="en-US" altLang="zh-CN" sz="1200" b="1" i="0" kern="1200" dirty="0">
                <a:solidFill>
                  <a:schemeClr val="tx1"/>
                </a:solidFill>
                <a:effectLst/>
                <a:latin typeface="+mn-lt"/>
                <a:ea typeface="+mn-ea"/>
                <a:cs typeface="+mn-cs"/>
              </a:rPr>
              <a:t>AES </a:t>
            </a:r>
            <a:r>
              <a:rPr lang="zh-CN" altLang="en-US" sz="1200" b="1" i="0" kern="1200" dirty="0">
                <a:solidFill>
                  <a:schemeClr val="tx1"/>
                </a:solidFill>
                <a:effectLst/>
                <a:latin typeface="+mn-lt"/>
                <a:ea typeface="+mn-ea"/>
                <a:cs typeface="+mn-cs"/>
              </a:rPr>
              <a:t>的、为 </a:t>
            </a:r>
            <a:r>
              <a:rPr lang="en-US" altLang="zh-CN" sz="1200" b="1" i="0" kern="1200" dirty="0">
                <a:solidFill>
                  <a:schemeClr val="tx1"/>
                </a:solidFill>
                <a:effectLst/>
                <a:latin typeface="+mn-lt"/>
                <a:ea typeface="+mn-ea"/>
                <a:cs typeface="+mn-cs"/>
              </a:rPr>
              <a:t>Wi-Fi </a:t>
            </a:r>
            <a:r>
              <a:rPr lang="zh-CN" altLang="en-US" sz="1200" b="1" i="0" kern="1200" dirty="0">
                <a:solidFill>
                  <a:schemeClr val="tx1"/>
                </a:solidFill>
                <a:effectLst/>
                <a:latin typeface="+mn-lt"/>
                <a:ea typeface="+mn-ea"/>
                <a:cs typeface="+mn-cs"/>
              </a:rPr>
              <a:t>设计的、提供加密和认证的完整安全协议</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CCMP </a:t>
            </a:r>
            <a:r>
              <a:rPr lang="zh-CN" altLang="en-US" sz="1200" b="0" i="0" kern="1200" dirty="0">
                <a:solidFill>
                  <a:schemeClr val="tx1"/>
                </a:solidFill>
                <a:effectLst/>
                <a:latin typeface="+mn-lt"/>
                <a:ea typeface="+mn-ea"/>
                <a:cs typeface="+mn-cs"/>
              </a:rPr>
              <a:t>的名字本身就包含了它使用的两种密码学技术：</a:t>
            </a:r>
          </a:p>
          <a:p>
            <a:r>
              <a:rPr lang="en-US" altLang="zh-CN" sz="1200" b="1" i="0" kern="1200" dirty="0">
                <a:solidFill>
                  <a:schemeClr val="tx1"/>
                </a:solidFill>
                <a:effectLst/>
                <a:latin typeface="+mn-lt"/>
                <a:ea typeface="+mn-ea"/>
                <a:cs typeface="+mn-cs"/>
              </a:rPr>
              <a:t>AES (Advanced Encryption Standard)</a:t>
            </a:r>
            <a:r>
              <a:rPr lang="zh-CN" altLang="en-US" sz="1200" b="0" i="0" kern="1200" dirty="0">
                <a:solidFill>
                  <a:schemeClr val="tx1"/>
                </a:solidFill>
                <a:effectLst/>
                <a:latin typeface="+mn-lt"/>
                <a:ea typeface="+mn-ea"/>
                <a:cs typeface="+mn-cs"/>
              </a:rPr>
              <a:t>：这是</a:t>
            </a:r>
            <a:r>
              <a:rPr lang="zh-CN" altLang="en-US" sz="1200" b="1" i="0" kern="1200" dirty="0">
                <a:solidFill>
                  <a:schemeClr val="tx1"/>
                </a:solidFill>
                <a:effectLst/>
                <a:latin typeface="+mn-lt"/>
                <a:ea typeface="+mn-ea"/>
                <a:cs typeface="+mn-cs"/>
              </a:rPr>
              <a:t>底层的加密算法</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CCMP </a:t>
            </a:r>
            <a:r>
              <a:rPr lang="zh-CN" altLang="en-US" sz="1200" b="0" i="0" kern="1200" dirty="0">
                <a:solidFill>
                  <a:schemeClr val="tx1"/>
                </a:solidFill>
                <a:effectLst/>
                <a:latin typeface="+mn-lt"/>
                <a:ea typeface="+mn-ea"/>
                <a:cs typeface="+mn-cs"/>
              </a:rPr>
              <a:t>使用 </a:t>
            </a:r>
            <a:r>
              <a:rPr lang="en-US" altLang="zh-CN" sz="1200" b="0" i="0" kern="1200" dirty="0">
                <a:solidFill>
                  <a:schemeClr val="tx1"/>
                </a:solidFill>
                <a:effectLst/>
                <a:latin typeface="+mn-lt"/>
                <a:ea typeface="+mn-ea"/>
                <a:cs typeface="+mn-cs"/>
              </a:rPr>
              <a:t>AES </a:t>
            </a:r>
            <a:r>
              <a:rPr lang="zh-CN" altLang="en-US" sz="1200" b="0" i="0" kern="1200" dirty="0">
                <a:solidFill>
                  <a:schemeClr val="tx1"/>
                </a:solidFill>
                <a:effectLst/>
                <a:latin typeface="+mn-lt"/>
                <a:ea typeface="+mn-ea"/>
                <a:cs typeface="+mn-cs"/>
              </a:rPr>
              <a:t>的一个特定变体</a:t>
            </a:r>
            <a:r>
              <a:rPr lang="en-US" altLang="zh-CN" sz="1200" b="0"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AES-128</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128</a:t>
            </a:r>
            <a:r>
              <a:rPr lang="zh-CN" altLang="en-US" sz="1200" b="0" i="0" kern="1200" dirty="0">
                <a:solidFill>
                  <a:schemeClr val="tx1"/>
                </a:solidFill>
                <a:effectLst/>
                <a:latin typeface="+mn-lt"/>
                <a:ea typeface="+mn-ea"/>
                <a:cs typeface="+mn-cs"/>
              </a:rPr>
              <a:t>位密钥）。</a:t>
            </a:r>
            <a:r>
              <a:rPr lang="en-US" altLang="zh-CN" sz="1200" b="0" i="0" kern="1200" dirty="0">
                <a:solidFill>
                  <a:schemeClr val="tx1"/>
                </a:solidFill>
                <a:effectLst/>
                <a:latin typeface="+mn-lt"/>
                <a:ea typeface="+mn-ea"/>
                <a:cs typeface="+mn-cs"/>
              </a:rPr>
              <a:t>AES </a:t>
            </a:r>
            <a:r>
              <a:rPr lang="zh-CN" altLang="en-US" sz="1200" b="0" i="0" kern="1200" dirty="0">
                <a:solidFill>
                  <a:schemeClr val="tx1"/>
                </a:solidFill>
                <a:effectLst/>
                <a:latin typeface="+mn-lt"/>
                <a:ea typeface="+mn-ea"/>
                <a:cs typeface="+mn-cs"/>
              </a:rPr>
              <a:t>是目前全球最广泛使用且被公认为安全的对称加密算法。</a:t>
            </a:r>
          </a:p>
          <a:p>
            <a:r>
              <a:rPr lang="en-US" altLang="zh-CN" sz="1200" b="1" i="0" kern="1200" dirty="0">
                <a:solidFill>
                  <a:schemeClr val="tx1"/>
                </a:solidFill>
                <a:effectLst/>
                <a:latin typeface="+mn-lt"/>
                <a:ea typeface="+mn-ea"/>
                <a:cs typeface="+mn-cs"/>
              </a:rPr>
              <a:t>CTR (Counter Mode)</a:t>
            </a:r>
            <a:r>
              <a:rPr lang="zh-CN" altLang="en-US" sz="1200" b="0" i="0" kern="1200" dirty="0">
                <a:solidFill>
                  <a:schemeClr val="tx1"/>
                </a:solidFill>
                <a:effectLst/>
                <a:latin typeface="+mn-lt"/>
                <a:ea typeface="+mn-ea"/>
                <a:cs typeface="+mn-cs"/>
              </a:rPr>
              <a:t>：这是</a:t>
            </a:r>
            <a:r>
              <a:rPr lang="en-US" altLang="zh-CN" sz="1200" b="0" i="0" kern="1200" dirty="0">
                <a:solidFill>
                  <a:schemeClr val="tx1"/>
                </a:solidFill>
                <a:effectLst/>
                <a:latin typeface="+mn-lt"/>
                <a:ea typeface="+mn-ea"/>
                <a:cs typeface="+mn-cs"/>
              </a:rPr>
              <a:t>AES</a:t>
            </a:r>
            <a:r>
              <a:rPr lang="zh-CN" altLang="en-US" sz="1200" b="0" i="0" kern="1200" dirty="0">
                <a:solidFill>
                  <a:schemeClr val="tx1"/>
                </a:solidFill>
                <a:effectLst/>
                <a:latin typeface="+mn-lt"/>
                <a:ea typeface="+mn-ea"/>
                <a:cs typeface="+mn-cs"/>
              </a:rPr>
              <a:t>的</a:t>
            </a:r>
            <a:r>
              <a:rPr lang="zh-CN" altLang="en-US" sz="1200" b="1" i="0" kern="1200" dirty="0">
                <a:solidFill>
                  <a:schemeClr val="tx1"/>
                </a:solidFill>
                <a:effectLst/>
                <a:latin typeface="+mn-lt"/>
                <a:ea typeface="+mn-ea"/>
                <a:cs typeface="+mn-cs"/>
              </a:rPr>
              <a:t>工作模式</a:t>
            </a:r>
            <a:r>
              <a:rPr lang="zh-CN" altLang="en-US" sz="1200" b="0" i="0" kern="1200" dirty="0">
                <a:solidFill>
                  <a:schemeClr val="tx1"/>
                </a:solidFill>
                <a:effectLst/>
                <a:latin typeface="+mn-lt"/>
                <a:ea typeface="+mn-ea"/>
                <a:cs typeface="+mn-cs"/>
              </a:rPr>
              <a:t>之一。它将</a:t>
            </a:r>
            <a:r>
              <a:rPr lang="en-US" altLang="zh-CN" sz="1200" b="0" i="0" kern="1200" dirty="0">
                <a:solidFill>
                  <a:schemeClr val="tx1"/>
                </a:solidFill>
                <a:effectLst/>
                <a:latin typeface="+mn-lt"/>
                <a:ea typeface="+mn-ea"/>
                <a:cs typeface="+mn-cs"/>
              </a:rPr>
              <a:t>AES</a:t>
            </a:r>
            <a:r>
              <a:rPr lang="zh-CN" altLang="en-US" sz="1200" b="0" i="0" kern="1200" dirty="0">
                <a:solidFill>
                  <a:schemeClr val="tx1"/>
                </a:solidFill>
                <a:effectLst/>
                <a:latin typeface="+mn-lt"/>
                <a:ea typeface="+mn-ea"/>
                <a:cs typeface="+mn-cs"/>
              </a:rPr>
              <a:t>从分组密码（一次加密</a:t>
            </a:r>
            <a:r>
              <a:rPr lang="en-US" altLang="zh-CN" sz="1200" b="0" i="0" kern="1200" dirty="0">
                <a:solidFill>
                  <a:schemeClr val="tx1"/>
                </a:solidFill>
                <a:effectLst/>
                <a:latin typeface="+mn-lt"/>
                <a:ea typeface="+mn-ea"/>
                <a:cs typeface="+mn-cs"/>
              </a:rPr>
              <a:t>128</a:t>
            </a:r>
            <a:r>
              <a:rPr lang="zh-CN" altLang="en-US" sz="1200" b="0" i="0" kern="1200" dirty="0">
                <a:solidFill>
                  <a:schemeClr val="tx1"/>
                </a:solidFill>
                <a:effectLst/>
                <a:latin typeface="+mn-lt"/>
                <a:ea typeface="+mn-ea"/>
                <a:cs typeface="+mn-cs"/>
              </a:rPr>
              <a:t>位数据）变成一个</a:t>
            </a:r>
            <a:r>
              <a:rPr lang="zh-CN" altLang="en-US" sz="1200" b="1" i="0" kern="1200" dirty="0">
                <a:solidFill>
                  <a:schemeClr val="tx1"/>
                </a:solidFill>
                <a:effectLst/>
                <a:latin typeface="+mn-lt"/>
                <a:ea typeface="+mn-ea"/>
                <a:cs typeface="+mn-cs"/>
              </a:rPr>
              <a:t>流密码</a:t>
            </a:r>
            <a:r>
              <a:rPr lang="zh-CN" altLang="en-US" sz="1200" b="0" i="0" kern="1200" dirty="0">
                <a:solidFill>
                  <a:schemeClr val="tx1"/>
                </a:solidFill>
                <a:effectLst/>
                <a:latin typeface="+mn-lt"/>
                <a:ea typeface="+mn-ea"/>
                <a:cs typeface="+mn-cs"/>
              </a:rPr>
              <a:t>（可以逐字节加密数据）。</a:t>
            </a:r>
            <a:r>
              <a:rPr lang="en-US" altLang="zh-CN" sz="1200" b="0" i="0" kern="1200" dirty="0">
                <a:solidFill>
                  <a:schemeClr val="tx1"/>
                </a:solidFill>
                <a:effectLst/>
                <a:latin typeface="+mn-lt"/>
                <a:ea typeface="+mn-ea"/>
                <a:cs typeface="+mn-cs"/>
              </a:rPr>
              <a:t>CTR</a:t>
            </a:r>
            <a:r>
              <a:rPr lang="zh-CN" altLang="en-US" sz="1200" b="0" i="0" kern="1200" dirty="0">
                <a:solidFill>
                  <a:schemeClr val="tx1"/>
                </a:solidFill>
                <a:effectLst/>
                <a:latin typeface="+mn-lt"/>
                <a:ea typeface="+mn-ea"/>
                <a:cs typeface="+mn-cs"/>
              </a:rPr>
              <a:t>模式支持并行处理、随机访问，且错误不会传播。</a:t>
            </a:r>
          </a:p>
          <a:p>
            <a:r>
              <a:rPr lang="en-US" altLang="zh-CN" sz="1200" b="1" i="0" kern="1200" dirty="0">
                <a:solidFill>
                  <a:schemeClr val="tx1"/>
                </a:solidFill>
                <a:effectLst/>
                <a:latin typeface="+mn-lt"/>
                <a:ea typeface="+mn-ea"/>
                <a:cs typeface="+mn-cs"/>
              </a:rPr>
              <a:t>CBC-MAC (Cipher Block Chaining Message Authentication Code)</a:t>
            </a:r>
            <a:r>
              <a:rPr lang="zh-CN" altLang="en-US" sz="1200" b="0" i="0" kern="1200" dirty="0">
                <a:solidFill>
                  <a:schemeClr val="tx1"/>
                </a:solidFill>
                <a:effectLst/>
                <a:latin typeface="+mn-lt"/>
                <a:ea typeface="+mn-ea"/>
                <a:cs typeface="+mn-cs"/>
              </a:rPr>
              <a:t>：这是用于</a:t>
            </a:r>
            <a:r>
              <a:rPr lang="zh-CN" altLang="en-US" sz="1200" b="1" i="0" kern="1200" dirty="0">
                <a:solidFill>
                  <a:schemeClr val="tx1"/>
                </a:solidFill>
                <a:effectLst/>
                <a:latin typeface="+mn-lt"/>
                <a:ea typeface="+mn-ea"/>
                <a:cs typeface="+mn-cs"/>
              </a:rPr>
              <a:t>消息认证</a:t>
            </a:r>
            <a:r>
              <a:rPr lang="zh-CN" altLang="en-US" sz="1200" b="0" i="0" kern="1200" dirty="0">
                <a:solidFill>
                  <a:schemeClr val="tx1"/>
                </a:solidFill>
                <a:effectLst/>
                <a:latin typeface="+mn-lt"/>
                <a:ea typeface="+mn-ea"/>
                <a:cs typeface="+mn-cs"/>
              </a:rPr>
              <a:t>的机制。它确保数据在传输过程中没有被篡改，并且确实来自声称的发送方。</a:t>
            </a:r>
          </a:p>
          <a:p>
            <a:r>
              <a:rPr lang="zh-CN" altLang="en-US" sz="1200" b="1" i="0" kern="1200" dirty="0">
                <a:solidFill>
                  <a:schemeClr val="tx1"/>
                </a:solidFill>
                <a:effectLst/>
                <a:latin typeface="+mn-lt"/>
                <a:ea typeface="+mn-ea"/>
                <a:cs typeface="+mn-cs"/>
              </a:rPr>
              <a:t>总结</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CCMP = </a:t>
            </a:r>
            <a:r>
              <a:rPr lang="en-US" altLang="zh-CN" sz="1200" b="1" i="0" kern="1200" dirty="0">
                <a:solidFill>
                  <a:schemeClr val="tx1"/>
                </a:solidFill>
                <a:effectLst/>
                <a:latin typeface="+mn-lt"/>
                <a:ea typeface="+mn-ea"/>
                <a:cs typeface="+mn-cs"/>
              </a:rPr>
              <a:t>AES-128</a:t>
            </a:r>
            <a:r>
              <a:rPr lang="zh-CN" altLang="en-US" sz="1200" b="0" i="0" kern="1200" dirty="0">
                <a:solidFill>
                  <a:schemeClr val="tx1"/>
                </a:solidFill>
                <a:effectLst/>
                <a:latin typeface="+mn-lt"/>
                <a:ea typeface="+mn-ea"/>
                <a:cs typeface="+mn-cs"/>
              </a:rPr>
              <a:t>（算法） </a:t>
            </a:r>
            <a:r>
              <a:rPr lang="en-US" altLang="zh-CN" sz="1200" b="0"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CTR</a:t>
            </a:r>
            <a:r>
              <a:rPr lang="zh-CN" altLang="en-US" sz="1200" b="1" i="0" kern="1200" dirty="0">
                <a:solidFill>
                  <a:schemeClr val="tx1"/>
                </a:solidFill>
                <a:effectLst/>
                <a:latin typeface="+mn-lt"/>
                <a:ea typeface="+mn-ea"/>
                <a:cs typeface="+mn-cs"/>
              </a:rPr>
              <a:t>模式</a:t>
            </a:r>
            <a:r>
              <a:rPr lang="zh-CN" altLang="en-US" sz="1200" b="0" i="0" kern="1200" dirty="0">
                <a:solidFill>
                  <a:schemeClr val="tx1"/>
                </a:solidFill>
                <a:effectLst/>
                <a:latin typeface="+mn-lt"/>
                <a:ea typeface="+mn-ea"/>
                <a:cs typeface="+mn-cs"/>
              </a:rPr>
              <a:t>（加密） </a:t>
            </a:r>
            <a:r>
              <a:rPr lang="en-US" altLang="zh-CN" sz="1200" b="0"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CBC-MAC</a:t>
            </a:r>
            <a:r>
              <a:rPr lang="zh-CN" altLang="en-US" sz="1200" b="0" i="0" kern="1200" dirty="0">
                <a:solidFill>
                  <a:schemeClr val="tx1"/>
                </a:solidFill>
                <a:effectLst/>
                <a:latin typeface="+mn-lt"/>
                <a:ea typeface="+mn-ea"/>
                <a:cs typeface="+mn-cs"/>
              </a:rPr>
              <a:t>（认证）。</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29</a:t>
            </a:fld>
            <a:endParaRPr kumimoji="1" lang="zh-CN" altLang="en-US"/>
          </a:p>
        </p:txBody>
      </p:sp>
    </p:spTree>
    <p:extLst>
      <p:ext uri="{BB962C8B-B14F-4D97-AF65-F5344CB8AC3E}">
        <p14:creationId xmlns:p14="http://schemas.microsoft.com/office/powerpoint/2010/main" val="228919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33</a:t>
            </a:fld>
            <a:endParaRPr kumimoji="1" lang="zh-CN" altLang="en-US"/>
          </a:p>
        </p:txBody>
      </p:sp>
    </p:spTree>
    <p:extLst>
      <p:ext uri="{BB962C8B-B14F-4D97-AF65-F5344CB8AC3E}">
        <p14:creationId xmlns:p14="http://schemas.microsoft.com/office/powerpoint/2010/main" val="4063036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Michael</a:t>
            </a:r>
            <a:r>
              <a:rPr lang="zh-CN" altLang="en-US" sz="1200" b="0" i="0" kern="1200" dirty="0">
                <a:solidFill>
                  <a:schemeClr val="tx1"/>
                </a:solidFill>
                <a:effectLst/>
                <a:latin typeface="+mn-lt"/>
                <a:ea typeface="+mn-ea"/>
                <a:cs typeface="+mn-cs"/>
              </a:rPr>
              <a:t> 是 </a:t>
            </a:r>
            <a:r>
              <a:rPr lang="en-US" altLang="zh-CN" sz="1200" b="0" i="0" kern="1200" dirty="0">
                <a:solidFill>
                  <a:schemeClr val="tx1"/>
                </a:solidFill>
                <a:effectLst/>
                <a:latin typeface="+mn-lt"/>
                <a:ea typeface="+mn-ea"/>
                <a:cs typeface="+mn-cs"/>
              </a:rPr>
              <a:t>WPA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保护访问）协议中使用的</a:t>
            </a:r>
            <a:r>
              <a:rPr lang="zh-CN" altLang="en-US" sz="1200" b="1" i="0" kern="1200" dirty="0">
                <a:solidFill>
                  <a:schemeClr val="tx1"/>
                </a:solidFill>
                <a:effectLst/>
                <a:latin typeface="+mn-lt"/>
                <a:ea typeface="+mn-ea"/>
                <a:cs typeface="+mn-cs"/>
              </a:rPr>
              <a:t>消息完整性校验（</a:t>
            </a:r>
            <a:r>
              <a:rPr lang="en-US" altLang="zh-CN" sz="1200" b="1" i="0" kern="1200" dirty="0">
                <a:solidFill>
                  <a:schemeClr val="tx1"/>
                </a:solidFill>
                <a:effectLst/>
                <a:latin typeface="+mn-lt"/>
                <a:ea typeface="+mn-ea"/>
                <a:cs typeface="+mn-cs"/>
              </a:rPr>
              <a:t>MIC</a:t>
            </a:r>
            <a:r>
              <a:rPr lang="zh-CN" altLang="en-US" sz="1200" b="1" i="0" kern="1200" dirty="0">
                <a:solidFill>
                  <a:schemeClr val="tx1"/>
                </a:solidFill>
                <a:effectLst/>
                <a:latin typeface="+mn-lt"/>
                <a:ea typeface="+mn-ea"/>
                <a:cs typeface="+mn-cs"/>
              </a:rPr>
              <a:t>）算法</a:t>
            </a:r>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简单来说，</a:t>
            </a:r>
            <a:r>
              <a:rPr lang="en-US" altLang="zh-CN" sz="1200" b="0" i="0" kern="1200" dirty="0">
                <a:solidFill>
                  <a:schemeClr val="tx1"/>
                </a:solidFill>
                <a:effectLst/>
                <a:latin typeface="+mn-lt"/>
                <a:ea typeface="+mn-ea"/>
                <a:cs typeface="+mn-cs"/>
              </a:rPr>
              <a:t>Michael </a:t>
            </a:r>
            <a:r>
              <a:rPr lang="zh-CN" altLang="en-US" sz="1200" b="0" i="0" kern="1200" dirty="0">
                <a:solidFill>
                  <a:schemeClr val="tx1"/>
                </a:solidFill>
                <a:effectLst/>
                <a:latin typeface="+mn-lt"/>
                <a:ea typeface="+mn-ea"/>
                <a:cs typeface="+mn-cs"/>
              </a:rPr>
              <a:t>的作用是</a:t>
            </a:r>
            <a:r>
              <a:rPr lang="zh-CN" altLang="en-US" sz="1200" b="1" i="0" kern="1200" dirty="0">
                <a:solidFill>
                  <a:schemeClr val="tx1"/>
                </a:solidFill>
                <a:effectLst/>
                <a:latin typeface="+mn-lt"/>
                <a:ea typeface="+mn-ea"/>
                <a:cs typeface="+mn-cs"/>
              </a:rPr>
              <a:t>确保 </a:t>
            </a:r>
            <a:r>
              <a:rPr lang="en-US" altLang="zh-CN" sz="1200" b="1" i="0" kern="1200" dirty="0">
                <a:solidFill>
                  <a:schemeClr val="tx1"/>
                </a:solidFill>
                <a:effectLst/>
                <a:latin typeface="+mn-lt"/>
                <a:ea typeface="+mn-ea"/>
                <a:cs typeface="+mn-cs"/>
              </a:rPr>
              <a:t>Wi-Fi </a:t>
            </a:r>
            <a:r>
              <a:rPr lang="zh-CN" altLang="en-US" sz="1200" b="1" i="0" kern="1200" dirty="0">
                <a:solidFill>
                  <a:schemeClr val="tx1"/>
                </a:solidFill>
                <a:effectLst/>
                <a:latin typeface="+mn-lt"/>
                <a:ea typeface="+mn-ea"/>
                <a:cs typeface="+mn-cs"/>
              </a:rPr>
              <a:t>传输的数据包没有被篡改</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如果攻击者试图修改网络传输中的数据，</a:t>
            </a:r>
            <a:r>
              <a:rPr lang="en-US" altLang="zh-CN" sz="1200" b="0" i="0" kern="1200" dirty="0">
                <a:solidFill>
                  <a:schemeClr val="tx1"/>
                </a:solidFill>
                <a:effectLst/>
                <a:latin typeface="+mn-lt"/>
                <a:ea typeface="+mn-ea"/>
                <a:cs typeface="+mn-cs"/>
              </a:rPr>
              <a:t>Michael </a:t>
            </a:r>
            <a:r>
              <a:rPr lang="zh-CN" altLang="en-US" sz="1200" b="0" i="0" kern="1200" dirty="0">
                <a:solidFill>
                  <a:schemeClr val="tx1"/>
                </a:solidFill>
                <a:effectLst/>
                <a:latin typeface="+mn-lt"/>
                <a:ea typeface="+mn-ea"/>
                <a:cs typeface="+mn-cs"/>
              </a:rPr>
              <a:t>算法可以检测到这种篡改行为</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38</a:t>
            </a:fld>
            <a:endParaRPr kumimoji="1" lang="zh-CN" altLang="en-US"/>
          </a:p>
        </p:txBody>
      </p:sp>
    </p:spTree>
    <p:extLst>
      <p:ext uri="{BB962C8B-B14F-4D97-AF65-F5344CB8AC3E}">
        <p14:creationId xmlns:p14="http://schemas.microsoft.com/office/powerpoint/2010/main" val="389277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pPr/>
              <a:t>2026/5/5</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pPr/>
              <a:t>2026/5/5</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pPr/>
              <a:t>2026/5/5</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pPr/>
              <a:t>2026/5/5</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pPr/>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pPr/>
              <a:t>2026/5/5</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pPr/>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8CEEC-A71C-6B45-9639-E6D2E93DD6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9C15C2-A82D-BD4C-BAD3-5F2059019642}"/>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7A8D863A-9922-6145-9D8F-6EEBB82FFFEC}"/>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A258540-FE69-0049-9DB3-4C6C4DC60AC7}"/>
              </a:ext>
            </a:extLst>
          </p:cNvPr>
          <p:cNvSpPr>
            <a:spLocks noGrp="1"/>
          </p:cNvSpPr>
          <p:nvPr>
            <p:ph type="sldNum" sz="quarter" idx="12"/>
          </p:nvPr>
        </p:nvSpPr>
        <p:spPr/>
        <p:txBody>
          <a:bodyPr/>
          <a:lstStyle>
            <a:lvl1pPr>
              <a:defRPr/>
            </a:lvl1pPr>
          </a:lstStyle>
          <a:p>
            <a:fld id="{831E9399-7559-704E-82CE-1E968243B59A}" type="slidenum">
              <a:rPr lang="en-US" altLang="zh-CN"/>
              <a:pPr/>
              <a:t>‹#›</a:t>
            </a:fld>
            <a:endParaRPr lang="en-US" altLang="zh-CN"/>
          </a:p>
        </p:txBody>
      </p:sp>
    </p:spTree>
    <p:extLst>
      <p:ext uri="{BB962C8B-B14F-4D97-AF65-F5344CB8AC3E}">
        <p14:creationId xmlns:p14="http://schemas.microsoft.com/office/powerpoint/2010/main" val="177045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40419959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pPr/>
              <a:t>2026/5/5</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318161" y="1888176"/>
            <a:ext cx="9595262" cy="1005751"/>
          </a:xfrm>
        </p:spPr>
        <p:txBody>
          <a:bodyPr>
            <a:normAutofit/>
          </a:bodyPr>
          <a:lstStyle/>
          <a:p>
            <a:r>
              <a:rPr lang="zh-CN" altLang="en-US" dirty="0"/>
              <a:t>第九章 </a:t>
            </a:r>
            <a:r>
              <a:rPr lang="zh-CN" altLang="zh-CN" dirty="0"/>
              <a:t>无线网络安全</a:t>
            </a:r>
            <a:endParaRPr kumimoji="1" lang="zh-CN" altLang="en-US" sz="4800" b="1"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lnSpc>
                <a:spcPct val="130000"/>
              </a:lnSpc>
              <a:buNone/>
            </a:pPr>
            <a:r>
              <a:rPr kumimoji="1" lang="en-US" altLang="zh-CN" sz="3000" dirty="0">
                <a:solidFill>
                  <a:srgbClr val="C00000"/>
                </a:solidFill>
              </a:rPr>
              <a:t>9.1 </a:t>
            </a:r>
            <a:r>
              <a:rPr kumimoji="1" lang="zh-CN" altLang="zh-CN" sz="3000" dirty="0">
                <a:solidFill>
                  <a:srgbClr val="C00000"/>
                </a:solidFill>
              </a:rPr>
              <a:t>无线安全</a:t>
            </a:r>
            <a:endParaRPr kumimoji="1" lang="en-US" altLang="zh-CN" sz="3000" dirty="0">
              <a:solidFill>
                <a:srgbClr val="C00000"/>
              </a:solidFill>
            </a:endParaRPr>
          </a:p>
          <a:p>
            <a:pPr>
              <a:lnSpc>
                <a:spcPct val="130000"/>
              </a:lnSpc>
              <a:buNone/>
            </a:pPr>
            <a:r>
              <a:rPr kumimoji="1" lang="en-US" altLang="zh-CN" sz="3000" dirty="0"/>
              <a:t>9.2 </a:t>
            </a:r>
            <a:r>
              <a:rPr kumimoji="1" lang="zh-CN" altLang="zh-CN" sz="3000" dirty="0"/>
              <a:t>移动设备安全</a:t>
            </a:r>
            <a:endParaRPr kumimoji="1" lang="en-US" altLang="zh-CN" sz="3000" dirty="0"/>
          </a:p>
          <a:p>
            <a:pPr>
              <a:lnSpc>
                <a:spcPct val="150000"/>
              </a:lnSpc>
              <a:buNone/>
            </a:pPr>
            <a:r>
              <a:rPr kumimoji="1" lang="en-US" altLang="zh-CN" sz="3000" dirty="0"/>
              <a:t>9.3 </a:t>
            </a:r>
            <a:r>
              <a:rPr lang="en-US" altLang="zh-CN" dirty="0"/>
              <a:t>IEEE 802.11i </a:t>
            </a:r>
            <a:r>
              <a:rPr lang="zh-CN" altLang="zh-CN" dirty="0"/>
              <a:t>无线局域网安全</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697682" y="1443436"/>
            <a:ext cx="4122717" cy="1703525"/>
          </a:xfrm>
          <a:prstGeom prst="wedgeRectCallout">
            <a:avLst>
              <a:gd name="adj1" fmla="val -105999"/>
              <a:gd name="adj2" fmla="val -3506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无线网络安全威胁</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无线安全措施</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4518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 </a:t>
            </a:r>
            <a:r>
              <a:rPr kumimoji="1" lang="zh-CN" altLang="zh-CN" dirty="0">
                <a:solidFill>
                  <a:prstClr val="black"/>
                </a:solidFill>
              </a:rPr>
              <a:t>无线安全</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威胁无线网络安全的关键因素：</a:t>
            </a:r>
            <a:endParaRPr lang="en-US" altLang="zh-CN" dirty="0"/>
          </a:p>
          <a:p>
            <a:pPr lvl="1">
              <a:lnSpc>
                <a:spcPct val="150000"/>
              </a:lnSpc>
            </a:pPr>
            <a:r>
              <a:rPr lang="zh-CN" altLang="en-US" dirty="0">
                <a:solidFill>
                  <a:srgbClr val="C00000"/>
                </a:solidFill>
              </a:rPr>
              <a:t>信道</a:t>
            </a:r>
            <a:r>
              <a:rPr lang="zh-CN" altLang="en-US" dirty="0"/>
              <a:t>：典型无线网络采用广播信道，更易受监听和干扰的影响。</a:t>
            </a:r>
            <a:endParaRPr lang="en-US" altLang="zh-CN" dirty="0"/>
          </a:p>
          <a:p>
            <a:pPr lvl="1">
              <a:lnSpc>
                <a:spcPct val="150000"/>
              </a:lnSpc>
            </a:pPr>
            <a:r>
              <a:rPr lang="zh-CN" altLang="en-US" dirty="0">
                <a:solidFill>
                  <a:srgbClr val="C00000"/>
                </a:solidFill>
              </a:rPr>
              <a:t>移动性</a:t>
            </a:r>
            <a:r>
              <a:rPr lang="zh-CN" altLang="en-US" dirty="0"/>
              <a:t>：造成很多安全隐患。</a:t>
            </a:r>
            <a:endParaRPr lang="en-US" altLang="zh-CN" dirty="0"/>
          </a:p>
          <a:p>
            <a:pPr lvl="1">
              <a:lnSpc>
                <a:spcPct val="150000"/>
              </a:lnSpc>
            </a:pPr>
            <a:r>
              <a:rPr lang="zh-CN" altLang="en-US" dirty="0">
                <a:solidFill>
                  <a:srgbClr val="C00000"/>
                </a:solidFill>
              </a:rPr>
              <a:t>资源</a:t>
            </a:r>
            <a:r>
              <a:rPr lang="zh-CN" altLang="en-US" dirty="0"/>
              <a:t>：无线设备，具有复杂的操作系统，但只有有限的存储空间和资源供抵抗如拒绝服务和恶意软件的攻击。</a:t>
            </a:r>
            <a:endParaRPr lang="en-US" altLang="zh-CN" dirty="0"/>
          </a:p>
          <a:p>
            <a:pPr lvl="1">
              <a:lnSpc>
                <a:spcPct val="150000"/>
              </a:lnSpc>
            </a:pPr>
            <a:r>
              <a:rPr lang="zh-CN" altLang="en-US" dirty="0">
                <a:solidFill>
                  <a:srgbClr val="C00000"/>
                </a:solidFill>
              </a:rPr>
              <a:t>可访问性</a:t>
            </a:r>
            <a:r>
              <a:rPr lang="zh-CN" altLang="en-US" dirty="0"/>
              <a:t>：一些无线设备，如传感器和机器人，经常会被单独放置在遥远的、或敌方环境中，大大增加了它们受物理攻击的可能性。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a:t>
            </a:fld>
            <a:endParaRPr kumimoji="1" lang="zh-CN" altLang="en-US" dirty="0"/>
          </a:p>
        </p:txBody>
      </p:sp>
    </p:spTree>
    <p:extLst>
      <p:ext uri="{BB962C8B-B14F-4D97-AF65-F5344CB8AC3E}">
        <p14:creationId xmlns:p14="http://schemas.microsoft.com/office/powerpoint/2010/main" val="1174942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9.1.1 </a:t>
            </a:r>
            <a:r>
              <a:rPr kumimoji="1" lang="zh-CN" altLang="zh-CN" dirty="0">
                <a:solidFill>
                  <a:prstClr val="black"/>
                </a:solidFill>
              </a:rPr>
              <a:t>无线网络安全威胁</a:t>
            </a:r>
            <a:endParaRPr lang="zh-CN" altLang="en-US" dirty="0"/>
          </a:p>
        </p:txBody>
      </p:sp>
      <p:sp>
        <p:nvSpPr>
          <p:cNvPr id="3" name="内容占位符 2"/>
          <p:cNvSpPr>
            <a:spLocks noGrp="1"/>
          </p:cNvSpPr>
          <p:nvPr>
            <p:ph idx="1"/>
          </p:nvPr>
        </p:nvSpPr>
        <p:spPr/>
        <p:txBody>
          <a:bodyPr/>
          <a:lstStyle/>
          <a:p>
            <a:r>
              <a:rPr lang="en-US" altLang="zh-CN" b="1" dirty="0">
                <a:solidFill>
                  <a:srgbClr val="C00000"/>
                </a:solidFill>
              </a:rPr>
              <a:t>1. </a:t>
            </a:r>
            <a:r>
              <a:rPr lang="zh-CN" altLang="en-US" b="1" dirty="0">
                <a:solidFill>
                  <a:srgbClr val="C00000"/>
                </a:solidFill>
              </a:rPr>
              <a:t>窃听与数据拦截</a:t>
            </a:r>
          </a:p>
          <a:p>
            <a:pPr lvl="1"/>
            <a:r>
              <a:rPr lang="zh-CN" altLang="en-US" b="1" dirty="0"/>
              <a:t>威胁</a:t>
            </a:r>
            <a:r>
              <a:rPr lang="zh-CN" altLang="en-US" dirty="0"/>
              <a:t>：攻击者通过监听无线信号（如</a:t>
            </a:r>
            <a:r>
              <a:rPr lang="en-US" altLang="zh-CN" dirty="0"/>
              <a:t>Wi-Fi</a:t>
            </a:r>
            <a:r>
              <a:rPr lang="zh-CN" altLang="en-US" dirty="0"/>
              <a:t>、蓝牙）获取敏感数据（密码、聊天记录等）。</a:t>
            </a:r>
          </a:p>
          <a:p>
            <a:pPr lvl="1"/>
            <a:r>
              <a:rPr lang="zh-CN" altLang="en-US" b="1" dirty="0"/>
              <a:t>技术手段</a:t>
            </a:r>
            <a:r>
              <a:rPr lang="zh-CN" altLang="en-US" dirty="0"/>
              <a:t>：使用工具（如</a:t>
            </a:r>
            <a:r>
              <a:rPr lang="en-US" altLang="zh-CN" dirty="0"/>
              <a:t>Wireshark</a:t>
            </a:r>
            <a:r>
              <a:rPr lang="zh-CN" altLang="en-US" dirty="0"/>
              <a:t>、</a:t>
            </a:r>
            <a:r>
              <a:rPr lang="en-US" altLang="zh-CN" dirty="0" err="1"/>
              <a:t>Aircrack</a:t>
            </a:r>
            <a:r>
              <a:rPr lang="en-US" altLang="zh-CN" dirty="0"/>
              <a:t>-ng</a:t>
            </a:r>
            <a:r>
              <a:rPr lang="zh-CN" altLang="en-US" dirty="0"/>
              <a:t>）捕获未加密的流量。</a:t>
            </a:r>
          </a:p>
          <a:p>
            <a:pPr lvl="1"/>
            <a:r>
              <a:rPr lang="zh-CN" altLang="en-US" b="1" dirty="0"/>
              <a:t>风险场景</a:t>
            </a:r>
            <a:r>
              <a:rPr lang="zh-CN" altLang="en-US" dirty="0"/>
              <a:t>：公共</a:t>
            </a:r>
            <a:r>
              <a:rPr lang="en-US" altLang="zh-CN" dirty="0"/>
              <a:t>Wi-Fi</a:t>
            </a:r>
            <a:r>
              <a:rPr lang="zh-CN" altLang="en-US" dirty="0"/>
              <a:t>、弱加密（如</a:t>
            </a:r>
            <a:r>
              <a:rPr lang="en-US" altLang="zh-CN" dirty="0"/>
              <a:t>WEP</a:t>
            </a:r>
            <a:r>
              <a:rPr lang="zh-CN" altLang="en-US" dirty="0"/>
              <a:t>）的网络。</a:t>
            </a:r>
          </a:p>
          <a:p>
            <a:r>
              <a:rPr lang="en-US" altLang="zh-CN" b="1" dirty="0">
                <a:solidFill>
                  <a:srgbClr val="C00000"/>
                </a:solidFill>
              </a:rPr>
              <a:t>2. </a:t>
            </a:r>
            <a:r>
              <a:rPr lang="zh-CN" altLang="en-US" b="1" dirty="0">
                <a:solidFill>
                  <a:srgbClr val="C00000"/>
                </a:solidFill>
              </a:rPr>
              <a:t>中间人攻击（</a:t>
            </a:r>
            <a:r>
              <a:rPr lang="en-US" altLang="zh-CN" b="1" dirty="0">
                <a:solidFill>
                  <a:srgbClr val="C00000"/>
                </a:solidFill>
              </a:rPr>
              <a:t>MITM</a:t>
            </a:r>
            <a:r>
              <a:rPr lang="zh-CN" altLang="en-US" b="1" dirty="0">
                <a:solidFill>
                  <a:srgbClr val="C00000"/>
                </a:solidFill>
              </a:rPr>
              <a:t>）</a:t>
            </a:r>
          </a:p>
          <a:p>
            <a:pPr lvl="1"/>
            <a:r>
              <a:rPr lang="zh-CN" altLang="en-US" b="1" dirty="0"/>
              <a:t>威胁</a:t>
            </a:r>
            <a:r>
              <a:rPr lang="zh-CN" altLang="en-US" dirty="0"/>
              <a:t>：攻击者在用户与接入点之间插入自身，篡改或窃取数据。</a:t>
            </a:r>
          </a:p>
          <a:p>
            <a:pPr lvl="1"/>
            <a:r>
              <a:rPr lang="zh-CN" altLang="en-US" b="1" dirty="0"/>
              <a:t>常见手法</a:t>
            </a:r>
            <a:r>
              <a:rPr lang="zh-CN" altLang="en-US" dirty="0"/>
              <a:t>：伪造热点（</a:t>
            </a:r>
            <a:r>
              <a:rPr lang="en-US" altLang="zh-CN" dirty="0"/>
              <a:t>Evil Twin</a:t>
            </a:r>
            <a:r>
              <a:rPr lang="zh-CN" altLang="en-US" dirty="0"/>
              <a:t>）、</a:t>
            </a:r>
            <a:r>
              <a:rPr lang="en-US" altLang="zh-CN" dirty="0"/>
              <a:t>ARP</a:t>
            </a:r>
            <a:r>
              <a:rPr lang="zh-CN" altLang="en-US" dirty="0"/>
              <a:t>欺骗、</a:t>
            </a:r>
            <a:r>
              <a:rPr lang="en-US" altLang="zh-CN" dirty="0"/>
              <a:t>DNS</a:t>
            </a:r>
            <a:r>
              <a:rPr lang="zh-CN" altLang="en-US" dirty="0"/>
              <a:t>劫持。</a:t>
            </a:r>
          </a:p>
          <a:p>
            <a:pPr lvl="1"/>
            <a:r>
              <a:rPr lang="zh-CN" altLang="en-US" b="1" dirty="0"/>
              <a:t>示例</a:t>
            </a:r>
            <a:r>
              <a:rPr lang="zh-CN" altLang="en-US" dirty="0"/>
              <a:t>：假冒“</a:t>
            </a:r>
            <a:r>
              <a:rPr lang="en-US" altLang="zh-CN" dirty="0"/>
              <a:t>Free Airport Wi-Fi”</a:t>
            </a:r>
            <a:r>
              <a:rPr lang="zh-CN" altLang="en-US" dirty="0"/>
              <a:t>诱导用户连接。</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spTree>
    <p:extLst>
      <p:ext uri="{BB962C8B-B14F-4D97-AF65-F5344CB8AC3E}">
        <p14:creationId xmlns:p14="http://schemas.microsoft.com/office/powerpoint/2010/main" val="7414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3B474-1699-77DA-14C4-DBF0B2CE23E4}"/>
              </a:ext>
            </a:extLst>
          </p:cNvPr>
          <p:cNvSpPr>
            <a:spLocks noGrp="1"/>
          </p:cNvSpPr>
          <p:nvPr>
            <p:ph type="title"/>
          </p:nvPr>
        </p:nvSpPr>
        <p:spPr/>
        <p:txBody>
          <a:bodyPr/>
          <a:lstStyle/>
          <a:p>
            <a:r>
              <a:rPr lang="en-US" altLang="zh-CN" dirty="0"/>
              <a:t>ARP</a:t>
            </a:r>
            <a:r>
              <a:rPr lang="zh-CN" altLang="en-US" dirty="0"/>
              <a:t>欺骗</a:t>
            </a:r>
          </a:p>
        </p:txBody>
      </p:sp>
      <p:sp>
        <p:nvSpPr>
          <p:cNvPr id="3" name="内容占位符 2">
            <a:extLst>
              <a:ext uri="{FF2B5EF4-FFF2-40B4-BE49-F238E27FC236}">
                <a16:creationId xmlns:a16="http://schemas.microsoft.com/office/drawing/2014/main" id="{3B8A24FD-E54B-0024-1499-338270CB7892}"/>
              </a:ext>
            </a:extLst>
          </p:cNvPr>
          <p:cNvSpPr>
            <a:spLocks noGrp="1"/>
          </p:cNvSpPr>
          <p:nvPr>
            <p:ph idx="1"/>
          </p:nvPr>
        </p:nvSpPr>
        <p:spPr/>
        <p:txBody>
          <a:bodyPr>
            <a:normAutofit fontScale="92500" lnSpcReduction="10000"/>
          </a:bodyPr>
          <a:lstStyle/>
          <a:p>
            <a:pPr marL="0" indent="0">
              <a:buNone/>
            </a:pPr>
            <a:r>
              <a:rPr lang="zh-CN" altLang="en-US" b="0" i="0" dirty="0">
                <a:solidFill>
                  <a:srgbClr val="333333"/>
                </a:solidFill>
                <a:effectLst/>
                <a:latin typeface="Helvetica Neue"/>
              </a:rPr>
              <a:t>假设在一个</a:t>
            </a:r>
            <a:r>
              <a:rPr lang="en-US" altLang="zh-CN" b="0" i="0" dirty="0">
                <a:solidFill>
                  <a:srgbClr val="333333"/>
                </a:solidFill>
                <a:effectLst/>
                <a:latin typeface="Helvetica Neue"/>
              </a:rPr>
              <a:t>LAN</a:t>
            </a:r>
            <a:r>
              <a:rPr lang="zh-CN" altLang="en-US" b="0" i="0" dirty="0">
                <a:solidFill>
                  <a:srgbClr val="333333"/>
                </a:solidFill>
                <a:effectLst/>
                <a:latin typeface="Helvetica Neue"/>
              </a:rPr>
              <a:t>里，只有三台主机</a:t>
            </a:r>
            <a:r>
              <a:rPr lang="en-US" altLang="zh-CN" b="0" i="0" dirty="0">
                <a:solidFill>
                  <a:srgbClr val="333333"/>
                </a:solidFill>
                <a:effectLst/>
                <a:latin typeface="Helvetica Neue"/>
              </a:rPr>
              <a:t>A</a:t>
            </a:r>
            <a:r>
              <a:rPr lang="zh-CN" altLang="en-US" b="0" i="0" dirty="0">
                <a:solidFill>
                  <a:srgbClr val="333333"/>
                </a:solidFill>
                <a:effectLst/>
                <a:latin typeface="Helvetica Neue"/>
              </a:rPr>
              <a:t>、</a:t>
            </a:r>
            <a:r>
              <a:rPr lang="en-US" altLang="zh-CN" b="0" i="0" dirty="0">
                <a:solidFill>
                  <a:srgbClr val="333333"/>
                </a:solidFill>
                <a:effectLst/>
                <a:latin typeface="Helvetica Neue"/>
              </a:rPr>
              <a:t>B</a:t>
            </a:r>
            <a:r>
              <a:rPr lang="zh-CN" altLang="en-US" b="0" i="0" dirty="0">
                <a:solidFill>
                  <a:srgbClr val="333333"/>
                </a:solidFill>
                <a:effectLst/>
                <a:latin typeface="Helvetica Neue"/>
              </a:rPr>
              <a:t>、</a:t>
            </a:r>
            <a:r>
              <a:rPr lang="en-US" altLang="zh-CN" b="0" i="0" dirty="0">
                <a:solidFill>
                  <a:srgbClr val="333333"/>
                </a:solidFill>
                <a:effectLst/>
                <a:latin typeface="Helvetica Neue"/>
              </a:rPr>
              <a:t>C</a:t>
            </a:r>
            <a:r>
              <a:rPr lang="zh-CN" altLang="en-US" b="0" i="0" dirty="0">
                <a:solidFill>
                  <a:srgbClr val="333333"/>
                </a:solidFill>
                <a:effectLst/>
                <a:latin typeface="Helvetica Neue"/>
              </a:rPr>
              <a:t>，且</a:t>
            </a:r>
            <a:r>
              <a:rPr lang="en-US" altLang="zh-CN" b="0" i="0" dirty="0">
                <a:solidFill>
                  <a:srgbClr val="333333"/>
                </a:solidFill>
                <a:effectLst/>
                <a:latin typeface="Helvetica Neue"/>
              </a:rPr>
              <a:t>C</a:t>
            </a:r>
            <a:r>
              <a:rPr lang="zh-CN" altLang="en-US" b="0" i="0" dirty="0">
                <a:solidFill>
                  <a:srgbClr val="333333"/>
                </a:solidFill>
                <a:effectLst/>
                <a:latin typeface="Helvetica Neue"/>
              </a:rPr>
              <a:t>是攻击者。</a:t>
            </a:r>
            <a:endParaRPr lang="en-US" altLang="zh-CN"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1.</a:t>
            </a:r>
            <a:r>
              <a:rPr lang="zh-CN" altLang="en-US" sz="2200" b="0" i="0" dirty="0">
                <a:solidFill>
                  <a:srgbClr val="333333"/>
                </a:solidFill>
                <a:effectLst/>
                <a:latin typeface="Helvetica Neue"/>
              </a:rPr>
              <a:t>攻击者聆听局域网上的</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地址。它只要收到两台主机洪泛的</a:t>
            </a:r>
            <a:r>
              <a:rPr lang="en-US" altLang="zh-CN" sz="2200" b="0" i="0" dirty="0">
                <a:solidFill>
                  <a:srgbClr val="333333"/>
                </a:solidFill>
                <a:effectLst/>
                <a:latin typeface="Helvetica Neue"/>
              </a:rPr>
              <a:t>ARP Request</a:t>
            </a:r>
            <a:r>
              <a:rPr lang="zh-CN" altLang="en-US" sz="2200" b="0" i="0" dirty="0">
                <a:solidFill>
                  <a:srgbClr val="333333"/>
                </a:solidFill>
                <a:effectLst/>
                <a:latin typeface="Helvetica Neue"/>
              </a:rPr>
              <a:t>，就可以进行欺骗活动。</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2.</a:t>
            </a:r>
            <a:r>
              <a:rPr lang="zh-CN" altLang="en-US" sz="2200" b="0" i="0" dirty="0">
                <a:solidFill>
                  <a:srgbClr val="333333"/>
                </a:solidFill>
                <a:effectLst/>
                <a:latin typeface="Helvetica Neue"/>
              </a:rPr>
              <a:t>主机</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a:t>
            </a:r>
            <a:r>
              <a:rPr lang="en-US" altLang="zh-CN" sz="2200" b="0" i="0" dirty="0">
                <a:solidFill>
                  <a:srgbClr val="333333"/>
                </a:solidFill>
                <a:effectLst/>
                <a:latin typeface="Helvetica Neue"/>
              </a:rPr>
              <a:t>B</a:t>
            </a:r>
            <a:r>
              <a:rPr lang="zh-CN" altLang="en-US" sz="2200" b="0" i="0" dirty="0">
                <a:solidFill>
                  <a:srgbClr val="333333"/>
                </a:solidFill>
                <a:effectLst/>
                <a:latin typeface="Helvetica Neue"/>
              </a:rPr>
              <a:t>都洪泛了</a:t>
            </a:r>
            <a:r>
              <a:rPr lang="en-US" altLang="zh-CN" sz="2200" b="0" i="0" dirty="0">
                <a:solidFill>
                  <a:srgbClr val="333333"/>
                </a:solidFill>
                <a:effectLst/>
                <a:latin typeface="Helvetica Neue"/>
              </a:rPr>
              <a:t>ARP Request.</a:t>
            </a:r>
            <a:r>
              <a:rPr lang="zh-CN" altLang="en-US" sz="2200" b="0" i="0" dirty="0">
                <a:solidFill>
                  <a:srgbClr val="333333"/>
                </a:solidFill>
                <a:effectLst/>
                <a:latin typeface="Helvetica Neue"/>
              </a:rPr>
              <a:t>攻击者现在有了两台主机的</a:t>
            </a:r>
            <a:r>
              <a:rPr lang="en-US" altLang="zh-CN" sz="2200" b="0" i="0" dirty="0">
                <a:solidFill>
                  <a:srgbClr val="333333"/>
                </a:solidFill>
                <a:effectLst/>
                <a:latin typeface="Helvetica Neue"/>
              </a:rPr>
              <a:t>IP</a:t>
            </a:r>
            <a:r>
              <a:rPr lang="zh-CN" altLang="en-US" sz="2200" b="0" i="0" dirty="0">
                <a:solidFill>
                  <a:srgbClr val="333333"/>
                </a:solidFill>
                <a:effectLst/>
                <a:latin typeface="Helvetica Neue"/>
              </a:rPr>
              <a:t>、</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地址，开始攻击。</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3.</a:t>
            </a:r>
            <a:r>
              <a:rPr lang="zh-CN" altLang="en-US" sz="2200" b="0" i="0" dirty="0">
                <a:solidFill>
                  <a:srgbClr val="333333"/>
                </a:solidFill>
                <a:effectLst/>
                <a:latin typeface="Helvetica Neue"/>
              </a:rPr>
              <a:t>攻击者发送一个</a:t>
            </a:r>
            <a:r>
              <a:rPr lang="en-US" altLang="zh-CN" sz="2200" b="0" i="0" dirty="0">
                <a:solidFill>
                  <a:srgbClr val="333333"/>
                </a:solidFill>
                <a:effectLst/>
                <a:latin typeface="Helvetica Neue"/>
              </a:rPr>
              <a:t>ARP Reply</a:t>
            </a:r>
            <a:r>
              <a:rPr lang="zh-CN" altLang="en-US" sz="2200" b="0" i="0" dirty="0">
                <a:solidFill>
                  <a:srgbClr val="333333"/>
                </a:solidFill>
                <a:effectLst/>
                <a:latin typeface="Helvetica Neue"/>
              </a:rPr>
              <a:t>给主机</a:t>
            </a:r>
            <a:r>
              <a:rPr lang="en-US" altLang="zh-CN" sz="2200" b="0" i="0" dirty="0">
                <a:solidFill>
                  <a:srgbClr val="333333"/>
                </a:solidFill>
                <a:effectLst/>
                <a:latin typeface="Helvetica Neue"/>
              </a:rPr>
              <a:t>B</a:t>
            </a:r>
            <a:r>
              <a:rPr lang="zh-CN" altLang="en-US" sz="2200" b="0" i="0" dirty="0">
                <a:solidFill>
                  <a:srgbClr val="333333"/>
                </a:solidFill>
                <a:effectLst/>
                <a:latin typeface="Helvetica Neue"/>
              </a:rPr>
              <a:t>，把此包</a:t>
            </a:r>
            <a:r>
              <a:rPr lang="en-US" altLang="zh-CN" sz="2200" b="0" i="0" dirty="0">
                <a:solidFill>
                  <a:srgbClr val="333333"/>
                </a:solidFill>
                <a:effectLst/>
                <a:latin typeface="Helvetica Neue"/>
              </a:rPr>
              <a:t>protocol header</a:t>
            </a:r>
            <a:r>
              <a:rPr lang="zh-CN" altLang="en-US" sz="2200" b="0" i="0" dirty="0">
                <a:solidFill>
                  <a:srgbClr val="333333"/>
                </a:solidFill>
                <a:effectLst/>
                <a:latin typeface="Helvetica Neue"/>
              </a:rPr>
              <a:t>里的</a:t>
            </a:r>
            <a:r>
              <a:rPr lang="en-US" altLang="zh-CN" sz="2200" b="0" i="0" dirty="0">
                <a:solidFill>
                  <a:srgbClr val="333333"/>
                </a:solidFill>
                <a:effectLst/>
                <a:latin typeface="Helvetica Neue"/>
              </a:rPr>
              <a:t>sender IP</a:t>
            </a:r>
            <a:r>
              <a:rPr lang="zh-CN" altLang="en-US" sz="2200" b="0" i="0" dirty="0">
                <a:solidFill>
                  <a:srgbClr val="333333"/>
                </a:solidFill>
                <a:effectLst/>
                <a:latin typeface="Helvetica Neue"/>
              </a:rPr>
              <a:t>设为</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的</a:t>
            </a:r>
            <a:r>
              <a:rPr lang="en-US" altLang="zh-CN" sz="2200" b="0" i="0" dirty="0">
                <a:solidFill>
                  <a:srgbClr val="333333"/>
                </a:solidFill>
                <a:effectLst/>
                <a:latin typeface="Helvetica Neue"/>
              </a:rPr>
              <a:t>IP</a:t>
            </a:r>
            <a:r>
              <a:rPr lang="zh-CN" altLang="en-US" sz="2200" b="0" i="0" dirty="0">
                <a:solidFill>
                  <a:srgbClr val="333333"/>
                </a:solidFill>
                <a:effectLst/>
                <a:latin typeface="Helvetica Neue"/>
              </a:rPr>
              <a:t>地址，</a:t>
            </a:r>
            <a:r>
              <a:rPr lang="en-US" altLang="zh-CN" sz="2200" b="0" i="0" dirty="0">
                <a:solidFill>
                  <a:srgbClr val="333333"/>
                </a:solidFill>
                <a:effectLst/>
                <a:latin typeface="Helvetica Neue"/>
              </a:rPr>
              <a:t>sender mac</a:t>
            </a:r>
            <a:r>
              <a:rPr lang="zh-CN" altLang="en-US" sz="2200" b="0" i="0" dirty="0">
                <a:solidFill>
                  <a:srgbClr val="333333"/>
                </a:solidFill>
                <a:effectLst/>
                <a:latin typeface="Helvetica Neue"/>
              </a:rPr>
              <a:t>设为攻击者自己的</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4.</a:t>
            </a:r>
            <a:r>
              <a:rPr lang="zh-CN" altLang="en-US" sz="2200" b="0" i="0" dirty="0">
                <a:solidFill>
                  <a:srgbClr val="333333"/>
                </a:solidFill>
                <a:effectLst/>
                <a:latin typeface="Helvetica Neue"/>
              </a:rPr>
              <a:t>主机</a:t>
            </a:r>
            <a:r>
              <a:rPr lang="en-US" altLang="zh-CN" sz="2200" b="0" i="0" dirty="0">
                <a:solidFill>
                  <a:srgbClr val="333333"/>
                </a:solidFill>
                <a:effectLst/>
                <a:latin typeface="Helvetica Neue"/>
              </a:rPr>
              <a:t>B</a:t>
            </a:r>
            <a:r>
              <a:rPr lang="zh-CN" altLang="en-US" sz="2200" b="0" i="0" dirty="0">
                <a:solidFill>
                  <a:srgbClr val="333333"/>
                </a:solidFill>
                <a:effectLst/>
                <a:latin typeface="Helvetica Neue"/>
              </a:rPr>
              <a:t>收到</a:t>
            </a:r>
            <a:r>
              <a:rPr lang="en-US" altLang="zh-CN" sz="2200" b="0" i="0" dirty="0">
                <a:solidFill>
                  <a:srgbClr val="333333"/>
                </a:solidFill>
                <a:effectLst/>
                <a:latin typeface="Helvetica Neue"/>
              </a:rPr>
              <a:t>ARP Reply</a:t>
            </a:r>
            <a:r>
              <a:rPr lang="zh-CN" altLang="en-US" sz="2200" b="0" i="0" dirty="0">
                <a:solidFill>
                  <a:srgbClr val="333333"/>
                </a:solidFill>
                <a:effectLst/>
                <a:latin typeface="Helvetica Neue"/>
              </a:rPr>
              <a:t>后，更新它的</a:t>
            </a:r>
            <a:r>
              <a:rPr lang="en-US" altLang="zh-CN" sz="2200" b="0" i="0" dirty="0">
                <a:solidFill>
                  <a:srgbClr val="333333"/>
                </a:solidFill>
                <a:effectLst/>
                <a:latin typeface="Helvetica Neue"/>
              </a:rPr>
              <a:t>ARP</a:t>
            </a:r>
            <a:r>
              <a:rPr lang="zh-CN" altLang="en-US" sz="2200" b="0" i="0" dirty="0">
                <a:solidFill>
                  <a:srgbClr val="333333"/>
                </a:solidFill>
                <a:effectLst/>
                <a:latin typeface="Helvetica Neue"/>
              </a:rPr>
              <a:t>表，把主机</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的</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a:t>
            </a:r>
            <a:r>
              <a:rPr lang="en-US" altLang="zh-CN" sz="2200" b="0" i="0" dirty="0">
                <a:solidFill>
                  <a:srgbClr val="333333"/>
                </a:solidFill>
                <a:effectLst/>
                <a:latin typeface="Helvetica Neue"/>
              </a:rPr>
              <a:t>IP_A, MAC_A</a:t>
            </a:r>
            <a:r>
              <a:rPr lang="zh-CN" altLang="en-US" sz="2200" b="0" i="0" dirty="0">
                <a:solidFill>
                  <a:srgbClr val="333333"/>
                </a:solidFill>
                <a:effectLst/>
                <a:latin typeface="Helvetica Neue"/>
              </a:rPr>
              <a:t>）改为（</a:t>
            </a:r>
            <a:r>
              <a:rPr lang="en-US" altLang="zh-CN" sz="2200" b="0" i="0" dirty="0">
                <a:solidFill>
                  <a:srgbClr val="333333"/>
                </a:solidFill>
                <a:effectLst/>
                <a:latin typeface="Helvetica Neue"/>
              </a:rPr>
              <a:t>IP_A, MAC_C</a:t>
            </a:r>
            <a:r>
              <a:rPr lang="zh-CN" altLang="en-US" sz="2200" b="0" i="0" dirty="0">
                <a:solidFill>
                  <a:srgbClr val="333333"/>
                </a:solidFill>
                <a:effectLst/>
                <a:latin typeface="Helvetica Neue"/>
              </a:rPr>
              <a:t>）。</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5.</a:t>
            </a:r>
            <a:r>
              <a:rPr lang="zh-CN" altLang="en-US" sz="2200" b="0" i="0" dirty="0">
                <a:solidFill>
                  <a:srgbClr val="333333"/>
                </a:solidFill>
                <a:effectLst/>
                <a:latin typeface="Helvetica Neue"/>
              </a:rPr>
              <a:t>当主机</a:t>
            </a:r>
            <a:r>
              <a:rPr lang="en-US" altLang="zh-CN" sz="2200" b="0" i="0" dirty="0">
                <a:solidFill>
                  <a:srgbClr val="333333"/>
                </a:solidFill>
                <a:effectLst/>
                <a:latin typeface="Helvetica Neue"/>
              </a:rPr>
              <a:t>B</a:t>
            </a:r>
            <a:r>
              <a:rPr lang="zh-CN" altLang="en-US" sz="2200" b="0" i="0" dirty="0">
                <a:solidFill>
                  <a:srgbClr val="333333"/>
                </a:solidFill>
                <a:effectLst/>
                <a:latin typeface="Helvetica Neue"/>
              </a:rPr>
              <a:t>要发送数据包给主机</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时，它根据</a:t>
            </a:r>
            <a:r>
              <a:rPr lang="en-US" altLang="zh-CN" sz="2200" b="0" i="0" dirty="0">
                <a:solidFill>
                  <a:srgbClr val="333333"/>
                </a:solidFill>
                <a:effectLst/>
                <a:latin typeface="Helvetica Neue"/>
              </a:rPr>
              <a:t>ARP</a:t>
            </a:r>
            <a:r>
              <a:rPr lang="zh-CN" altLang="en-US" sz="2200" b="0" i="0" dirty="0">
                <a:solidFill>
                  <a:srgbClr val="333333"/>
                </a:solidFill>
                <a:effectLst/>
                <a:latin typeface="Helvetica Neue"/>
              </a:rPr>
              <a:t>表来封装数据包的</a:t>
            </a:r>
            <a:r>
              <a:rPr lang="en-US" altLang="zh-CN" sz="2200" b="0" i="0" dirty="0">
                <a:solidFill>
                  <a:srgbClr val="333333"/>
                </a:solidFill>
                <a:effectLst/>
                <a:latin typeface="Helvetica Neue"/>
              </a:rPr>
              <a:t>Link</a:t>
            </a:r>
            <a:r>
              <a:rPr lang="zh-CN" altLang="en-US" sz="2200" b="0" i="0" dirty="0">
                <a:solidFill>
                  <a:srgbClr val="333333"/>
                </a:solidFill>
                <a:effectLst/>
                <a:latin typeface="Helvetica Neue"/>
              </a:rPr>
              <a:t>报头，把目的</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地址设为</a:t>
            </a:r>
            <a:r>
              <a:rPr lang="en-US" altLang="zh-CN" sz="2200" b="0" i="0" dirty="0">
                <a:solidFill>
                  <a:srgbClr val="333333"/>
                </a:solidFill>
                <a:effectLst/>
                <a:latin typeface="Helvetica Neue"/>
              </a:rPr>
              <a:t>MAC_C</a:t>
            </a:r>
            <a:r>
              <a:rPr lang="zh-CN" altLang="en-US" sz="2200" b="0" i="0" dirty="0">
                <a:solidFill>
                  <a:srgbClr val="333333"/>
                </a:solidFill>
                <a:effectLst/>
                <a:latin typeface="Helvetica Neue"/>
              </a:rPr>
              <a:t>，而非</a:t>
            </a:r>
            <a:r>
              <a:rPr lang="en-US" altLang="zh-CN" sz="2200" b="0" i="0" dirty="0">
                <a:solidFill>
                  <a:srgbClr val="333333"/>
                </a:solidFill>
                <a:effectLst/>
                <a:latin typeface="Helvetica Neue"/>
              </a:rPr>
              <a:t>MAC_A</a:t>
            </a:r>
            <a:r>
              <a:rPr lang="zh-CN" altLang="en-US" sz="2200" b="0" i="0" dirty="0">
                <a:solidFill>
                  <a:srgbClr val="333333"/>
                </a:solidFill>
                <a:effectLst/>
                <a:latin typeface="Helvetica Neue"/>
              </a:rPr>
              <a:t>。</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6.</a:t>
            </a:r>
            <a:r>
              <a:rPr lang="zh-CN" altLang="en-US" sz="2200" b="0" i="0" dirty="0">
                <a:solidFill>
                  <a:srgbClr val="333333"/>
                </a:solidFill>
                <a:effectLst/>
                <a:latin typeface="Helvetica Neue"/>
              </a:rPr>
              <a:t>当交换机收到</a:t>
            </a:r>
            <a:r>
              <a:rPr lang="en-US" altLang="zh-CN" sz="2200" b="0" i="0" dirty="0">
                <a:solidFill>
                  <a:srgbClr val="333333"/>
                </a:solidFill>
                <a:effectLst/>
                <a:latin typeface="Helvetica Neue"/>
              </a:rPr>
              <a:t>B</a:t>
            </a:r>
            <a:r>
              <a:rPr lang="zh-CN" altLang="en-US" sz="2200" b="0" i="0" dirty="0">
                <a:solidFill>
                  <a:srgbClr val="333333"/>
                </a:solidFill>
                <a:effectLst/>
                <a:latin typeface="Helvetica Neue"/>
              </a:rPr>
              <a:t>发送给</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的数据包时，根据此包的目的</a:t>
            </a:r>
            <a:r>
              <a:rPr lang="en-US" altLang="zh-CN" sz="2200" b="0" i="0" dirty="0">
                <a:solidFill>
                  <a:srgbClr val="333333"/>
                </a:solidFill>
                <a:effectLst/>
                <a:latin typeface="Helvetica Neue"/>
              </a:rPr>
              <a:t>MAC</a:t>
            </a:r>
            <a:r>
              <a:rPr lang="zh-CN" altLang="en-US" sz="2200" b="0" i="0" dirty="0">
                <a:solidFill>
                  <a:srgbClr val="333333"/>
                </a:solidFill>
                <a:effectLst/>
                <a:latin typeface="Helvetica Neue"/>
              </a:rPr>
              <a:t>地址（</a:t>
            </a:r>
            <a:r>
              <a:rPr lang="en-US" altLang="zh-CN" sz="2200" b="0" i="0" dirty="0">
                <a:solidFill>
                  <a:srgbClr val="333333"/>
                </a:solidFill>
                <a:effectLst/>
                <a:latin typeface="Helvetica Neue"/>
              </a:rPr>
              <a:t>MAC_C</a:t>
            </a:r>
            <a:r>
              <a:rPr lang="zh-CN" altLang="en-US" sz="2200" b="0" i="0" dirty="0">
                <a:solidFill>
                  <a:srgbClr val="333333"/>
                </a:solidFill>
                <a:effectLst/>
                <a:latin typeface="Helvetica Neue"/>
              </a:rPr>
              <a:t>）而把数据包转发给攻击者</a:t>
            </a:r>
            <a:r>
              <a:rPr lang="en-US" altLang="zh-CN" sz="2200" b="0" i="0" dirty="0">
                <a:solidFill>
                  <a:srgbClr val="333333"/>
                </a:solidFill>
                <a:effectLst/>
                <a:latin typeface="Helvetica Neue"/>
              </a:rPr>
              <a:t>C</a:t>
            </a:r>
            <a:r>
              <a:rPr lang="zh-CN" altLang="en-US" sz="2200" b="0" i="0" dirty="0">
                <a:solidFill>
                  <a:srgbClr val="333333"/>
                </a:solidFill>
                <a:effectLst/>
                <a:latin typeface="Helvetica Neue"/>
              </a:rPr>
              <a:t>。</a:t>
            </a:r>
            <a:endParaRPr lang="en-US" altLang="zh-CN" sz="2200" b="0" i="0" dirty="0">
              <a:solidFill>
                <a:srgbClr val="333333"/>
              </a:solidFill>
              <a:effectLst/>
              <a:latin typeface="Helvetica Neue"/>
            </a:endParaRPr>
          </a:p>
          <a:p>
            <a:pPr marL="0" indent="0">
              <a:buNone/>
            </a:pPr>
            <a:r>
              <a:rPr lang="en-US" altLang="zh-CN" sz="2200" b="0" i="0" dirty="0">
                <a:solidFill>
                  <a:srgbClr val="333333"/>
                </a:solidFill>
                <a:effectLst/>
                <a:latin typeface="Helvetica Neue"/>
              </a:rPr>
              <a:t>7.</a:t>
            </a:r>
            <a:r>
              <a:rPr lang="zh-CN" altLang="en-US" sz="2200" b="0" i="0" dirty="0">
                <a:solidFill>
                  <a:srgbClr val="333333"/>
                </a:solidFill>
                <a:effectLst/>
                <a:latin typeface="Helvetica Neue"/>
              </a:rPr>
              <a:t>攻击者收到数据包后，可以把它存起来后再发送给</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，达到偷听效果。攻击者也可以篡改数据后才发送数据包给</a:t>
            </a:r>
            <a:r>
              <a:rPr lang="en-US" altLang="zh-CN" sz="2200" b="0" i="0" dirty="0">
                <a:solidFill>
                  <a:srgbClr val="333333"/>
                </a:solidFill>
                <a:effectLst/>
                <a:latin typeface="Helvetica Neue"/>
              </a:rPr>
              <a:t>A</a:t>
            </a:r>
            <a:r>
              <a:rPr lang="zh-CN" altLang="en-US" sz="2200" b="0" i="0" dirty="0">
                <a:solidFill>
                  <a:srgbClr val="333333"/>
                </a:solidFill>
                <a:effectLst/>
                <a:latin typeface="Helvetica Neue"/>
              </a:rPr>
              <a:t>，造成伤害。</a:t>
            </a:r>
            <a:endParaRPr lang="zh-CN" altLang="en-US" sz="2200" dirty="0"/>
          </a:p>
        </p:txBody>
      </p:sp>
      <p:sp>
        <p:nvSpPr>
          <p:cNvPr id="4" name="灯片编号占位符 3">
            <a:extLst>
              <a:ext uri="{FF2B5EF4-FFF2-40B4-BE49-F238E27FC236}">
                <a16:creationId xmlns:a16="http://schemas.microsoft.com/office/drawing/2014/main" id="{7C84F525-8604-4132-52FC-F108A38A4EFC}"/>
              </a:ext>
            </a:extLst>
          </p:cNvPr>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spTree>
    <p:extLst>
      <p:ext uri="{BB962C8B-B14F-4D97-AF65-F5344CB8AC3E}">
        <p14:creationId xmlns:p14="http://schemas.microsoft.com/office/powerpoint/2010/main" val="690946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9.1.1 </a:t>
            </a:r>
            <a:r>
              <a:rPr kumimoji="1" lang="zh-CN" altLang="zh-CN" dirty="0">
                <a:solidFill>
                  <a:prstClr val="black"/>
                </a:solidFill>
              </a:rPr>
              <a:t>无线网络安全威胁</a:t>
            </a:r>
            <a:endParaRPr lang="zh-CN" altLang="en-US" dirty="0"/>
          </a:p>
        </p:txBody>
      </p:sp>
      <p:sp>
        <p:nvSpPr>
          <p:cNvPr id="3" name="内容占位符 2"/>
          <p:cNvSpPr>
            <a:spLocks noGrp="1"/>
          </p:cNvSpPr>
          <p:nvPr>
            <p:ph idx="1"/>
          </p:nvPr>
        </p:nvSpPr>
        <p:spPr/>
        <p:txBody>
          <a:bodyPr/>
          <a:lstStyle/>
          <a:p>
            <a:r>
              <a:rPr lang="en-US" altLang="zh-CN" b="1" dirty="0">
                <a:solidFill>
                  <a:srgbClr val="C00000"/>
                </a:solidFill>
              </a:rPr>
              <a:t>3. </a:t>
            </a:r>
            <a:r>
              <a:rPr lang="zh-CN" altLang="en-US" b="1" dirty="0">
                <a:solidFill>
                  <a:srgbClr val="C00000"/>
                </a:solidFill>
              </a:rPr>
              <a:t>无线网络破解</a:t>
            </a:r>
          </a:p>
          <a:p>
            <a:pPr lvl="1"/>
            <a:r>
              <a:rPr lang="zh-CN" altLang="en-US" b="1" dirty="0"/>
              <a:t>威胁</a:t>
            </a:r>
            <a:r>
              <a:rPr lang="zh-CN" altLang="en-US" dirty="0"/>
              <a:t>：破解</a:t>
            </a:r>
            <a:r>
              <a:rPr lang="en-US" altLang="zh-CN" dirty="0"/>
              <a:t>Wi-Fi</a:t>
            </a:r>
            <a:r>
              <a:rPr lang="zh-CN" altLang="en-US" dirty="0"/>
              <a:t>密码，非法接入网络。</a:t>
            </a:r>
          </a:p>
          <a:p>
            <a:pPr lvl="2"/>
            <a:r>
              <a:rPr lang="en-US" altLang="zh-CN" b="1" dirty="0"/>
              <a:t>WEP/WPA-PSK</a:t>
            </a:r>
            <a:r>
              <a:rPr lang="zh-CN" altLang="en-US" b="1" dirty="0"/>
              <a:t>破解</a:t>
            </a:r>
            <a:r>
              <a:rPr lang="zh-CN" altLang="en-US" dirty="0"/>
              <a:t>：利用加密漏洞（如</a:t>
            </a:r>
            <a:r>
              <a:rPr lang="en-US" altLang="zh-CN" dirty="0"/>
              <a:t>WEP</a:t>
            </a:r>
            <a:r>
              <a:rPr lang="zh-CN" altLang="en-US" dirty="0"/>
              <a:t>的</a:t>
            </a:r>
            <a:r>
              <a:rPr lang="en-US" altLang="zh-CN" dirty="0"/>
              <a:t>RC4</a:t>
            </a:r>
            <a:r>
              <a:rPr lang="zh-CN" altLang="en-US" dirty="0"/>
              <a:t>缺陷）或暴力破解。</a:t>
            </a:r>
          </a:p>
          <a:p>
            <a:pPr lvl="2"/>
            <a:r>
              <a:rPr lang="en-US" altLang="zh-CN" b="1" dirty="0"/>
              <a:t>WPA3</a:t>
            </a:r>
            <a:r>
              <a:rPr lang="zh-CN" altLang="en-US" b="1" dirty="0"/>
              <a:t>攻击</a:t>
            </a:r>
            <a:r>
              <a:rPr lang="zh-CN" altLang="en-US" dirty="0"/>
              <a:t>：尽管更安全，但 </a:t>
            </a:r>
            <a:r>
              <a:rPr lang="en-US" altLang="zh-CN" dirty="0" err="1"/>
              <a:t>Dragonblood</a:t>
            </a:r>
            <a:r>
              <a:rPr lang="en-US" altLang="zh-CN" dirty="0"/>
              <a:t> </a:t>
            </a:r>
            <a:r>
              <a:rPr lang="zh-CN" altLang="en-US" dirty="0"/>
              <a:t>漏洞仍可能被利用。</a:t>
            </a:r>
          </a:p>
          <a:p>
            <a:r>
              <a:rPr lang="en-US" altLang="zh-CN" b="1" dirty="0">
                <a:solidFill>
                  <a:srgbClr val="C00000"/>
                </a:solidFill>
              </a:rPr>
              <a:t>4. </a:t>
            </a:r>
            <a:r>
              <a:rPr lang="zh-CN" altLang="en-US" b="1" dirty="0">
                <a:solidFill>
                  <a:srgbClr val="C00000"/>
                </a:solidFill>
              </a:rPr>
              <a:t>拒绝服务攻击（</a:t>
            </a:r>
            <a:r>
              <a:rPr lang="en-US" altLang="zh-CN" b="1" dirty="0" err="1">
                <a:solidFill>
                  <a:srgbClr val="C00000"/>
                </a:solidFill>
              </a:rPr>
              <a:t>DoS</a:t>
            </a:r>
            <a:r>
              <a:rPr lang="en-US" altLang="zh-CN" b="1" dirty="0">
                <a:solidFill>
                  <a:srgbClr val="C00000"/>
                </a:solidFill>
              </a:rPr>
              <a:t>/</a:t>
            </a:r>
            <a:r>
              <a:rPr lang="en-US" altLang="zh-CN" b="1" dirty="0" err="1">
                <a:solidFill>
                  <a:srgbClr val="C00000"/>
                </a:solidFill>
              </a:rPr>
              <a:t>DDoS</a:t>
            </a:r>
            <a:r>
              <a:rPr lang="zh-CN" altLang="en-US" b="1" dirty="0">
                <a:solidFill>
                  <a:srgbClr val="C00000"/>
                </a:solidFill>
              </a:rPr>
              <a:t>）</a:t>
            </a:r>
          </a:p>
          <a:p>
            <a:pPr lvl="1"/>
            <a:r>
              <a:rPr lang="zh-CN" altLang="en-US" b="1" dirty="0"/>
              <a:t>威胁</a:t>
            </a:r>
            <a:r>
              <a:rPr lang="zh-CN" altLang="en-US" dirty="0"/>
              <a:t>：通过干扰信号使网络不可用。</a:t>
            </a:r>
          </a:p>
          <a:p>
            <a:pPr lvl="1"/>
            <a:r>
              <a:rPr lang="zh-CN" altLang="en-US" b="1" dirty="0"/>
              <a:t>手段</a:t>
            </a:r>
            <a:r>
              <a:rPr lang="zh-CN" altLang="en-US" dirty="0"/>
              <a:t>：</a:t>
            </a:r>
          </a:p>
          <a:p>
            <a:pPr lvl="2"/>
            <a:r>
              <a:rPr lang="zh-CN" altLang="en-US" b="1" dirty="0"/>
              <a:t>信号干扰</a:t>
            </a:r>
            <a:r>
              <a:rPr lang="zh-CN" altLang="en-US" dirty="0"/>
              <a:t>：发送高频噪声（</a:t>
            </a:r>
            <a:r>
              <a:rPr lang="en-US" altLang="zh-CN" dirty="0"/>
              <a:t>2.4GHz/5GHz</a:t>
            </a:r>
            <a:r>
              <a:rPr lang="zh-CN" altLang="en-US" dirty="0"/>
              <a:t>频段）。</a:t>
            </a:r>
          </a:p>
          <a:p>
            <a:pPr lvl="2"/>
            <a:r>
              <a:rPr lang="zh-CN" altLang="en-US" b="1" dirty="0"/>
              <a:t>协议攻击</a:t>
            </a:r>
            <a:r>
              <a:rPr lang="zh-CN" altLang="en-US" dirty="0"/>
              <a:t>：发送大量解除认证帧（</a:t>
            </a:r>
            <a:r>
              <a:rPr lang="en-US" altLang="zh-CN" dirty="0" err="1"/>
              <a:t>Deauth</a:t>
            </a:r>
            <a:r>
              <a:rPr lang="zh-CN" altLang="en-US" dirty="0"/>
              <a:t>攻击），踢掉合法用户。</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a:t>
            </a:fld>
            <a:endParaRPr kumimoji="1" lang="zh-CN" altLang="en-US" dirty="0"/>
          </a:p>
        </p:txBody>
      </p:sp>
    </p:spTree>
    <p:extLst>
      <p:ext uri="{BB962C8B-B14F-4D97-AF65-F5344CB8AC3E}">
        <p14:creationId xmlns:p14="http://schemas.microsoft.com/office/powerpoint/2010/main" val="386232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9.1.1 </a:t>
            </a:r>
            <a:r>
              <a:rPr kumimoji="1" lang="zh-CN" altLang="zh-CN" dirty="0">
                <a:solidFill>
                  <a:prstClr val="black"/>
                </a:solidFill>
              </a:rPr>
              <a:t>无线网络安全威胁</a:t>
            </a:r>
            <a:endParaRPr lang="zh-CN" altLang="en-US" dirty="0"/>
          </a:p>
        </p:txBody>
      </p:sp>
      <p:sp>
        <p:nvSpPr>
          <p:cNvPr id="3" name="内容占位符 2"/>
          <p:cNvSpPr>
            <a:spLocks noGrp="1"/>
          </p:cNvSpPr>
          <p:nvPr>
            <p:ph idx="1"/>
          </p:nvPr>
        </p:nvSpPr>
        <p:spPr>
          <a:xfrm>
            <a:off x="838200" y="1377538"/>
            <a:ext cx="10515600" cy="4916384"/>
          </a:xfrm>
        </p:spPr>
        <p:txBody>
          <a:bodyPr>
            <a:normAutofit/>
          </a:bodyPr>
          <a:lstStyle/>
          <a:p>
            <a:r>
              <a:rPr lang="en-US" altLang="zh-CN" b="1" dirty="0">
                <a:solidFill>
                  <a:srgbClr val="C00000"/>
                </a:solidFill>
              </a:rPr>
              <a:t>5. </a:t>
            </a:r>
            <a:r>
              <a:rPr lang="zh-CN" altLang="en-US" b="1" dirty="0">
                <a:solidFill>
                  <a:srgbClr val="C00000"/>
                </a:solidFill>
              </a:rPr>
              <a:t>恶意接入点（</a:t>
            </a:r>
            <a:r>
              <a:rPr lang="en-US" altLang="zh-CN" b="1" dirty="0">
                <a:solidFill>
                  <a:srgbClr val="C00000"/>
                </a:solidFill>
              </a:rPr>
              <a:t>Rogue AP</a:t>
            </a:r>
            <a:r>
              <a:rPr lang="zh-CN" altLang="en-US" b="1" dirty="0">
                <a:solidFill>
                  <a:srgbClr val="C00000"/>
                </a:solidFill>
              </a:rPr>
              <a:t>）</a:t>
            </a:r>
          </a:p>
          <a:p>
            <a:pPr lvl="1"/>
            <a:r>
              <a:rPr lang="zh-CN" altLang="en-US" b="1" dirty="0"/>
              <a:t>威胁</a:t>
            </a:r>
            <a:r>
              <a:rPr lang="zh-CN" altLang="en-US" dirty="0"/>
              <a:t>：攻击者架设虚假接入点，诱导用户连接。</a:t>
            </a:r>
          </a:p>
          <a:p>
            <a:pPr lvl="1"/>
            <a:r>
              <a:rPr lang="zh-CN" altLang="en-US" b="1" dirty="0"/>
              <a:t>特点</a:t>
            </a:r>
            <a:r>
              <a:rPr lang="zh-CN" altLang="en-US" dirty="0"/>
              <a:t>：名称与合法网络相似（如“</a:t>
            </a:r>
            <a:r>
              <a:rPr lang="en-US" altLang="zh-CN" dirty="0" err="1"/>
              <a:t>Starbucks_WiFi_Free</a:t>
            </a:r>
            <a:r>
              <a:rPr lang="en-US" altLang="zh-CN" dirty="0"/>
              <a:t>”</a:t>
            </a:r>
            <a:r>
              <a:rPr lang="zh-CN" altLang="en-US" dirty="0"/>
              <a:t>）。</a:t>
            </a:r>
          </a:p>
          <a:p>
            <a:pPr lvl="1"/>
            <a:r>
              <a:rPr lang="zh-CN" altLang="en-US" b="1" dirty="0"/>
              <a:t>风险</a:t>
            </a:r>
            <a:r>
              <a:rPr lang="zh-CN" altLang="en-US" dirty="0"/>
              <a:t>：窃取数据或植入恶意软件。</a:t>
            </a:r>
          </a:p>
          <a:p>
            <a:r>
              <a:rPr lang="en-US" altLang="zh-CN" b="1" dirty="0">
                <a:solidFill>
                  <a:srgbClr val="C00000"/>
                </a:solidFill>
              </a:rPr>
              <a:t>6. </a:t>
            </a:r>
            <a:r>
              <a:rPr lang="zh-CN" altLang="en-US" b="1" dirty="0">
                <a:solidFill>
                  <a:srgbClr val="C00000"/>
                </a:solidFill>
              </a:rPr>
              <a:t>客户端攻击</a:t>
            </a:r>
          </a:p>
          <a:p>
            <a:pPr lvl="1"/>
            <a:r>
              <a:rPr lang="zh-CN" altLang="en-US" b="1" dirty="0"/>
              <a:t>威胁</a:t>
            </a:r>
            <a:r>
              <a:rPr lang="zh-CN" altLang="en-US" dirty="0"/>
              <a:t>：攻击已连接的设备。</a:t>
            </a:r>
          </a:p>
          <a:p>
            <a:pPr lvl="2"/>
            <a:r>
              <a:rPr lang="zh-CN" altLang="en-US" b="1" dirty="0"/>
              <a:t>漏洞利用</a:t>
            </a:r>
            <a:r>
              <a:rPr lang="zh-CN" altLang="en-US" dirty="0"/>
              <a:t>：利用设备驱动或协议栈漏洞（如</a:t>
            </a:r>
            <a:r>
              <a:rPr lang="en-US" altLang="zh-CN" dirty="0"/>
              <a:t>KRACK</a:t>
            </a:r>
            <a:r>
              <a:rPr lang="zh-CN" altLang="en-US" dirty="0"/>
              <a:t>攻击针对</a:t>
            </a:r>
            <a:r>
              <a:rPr lang="en-US" altLang="zh-CN" dirty="0"/>
              <a:t>WPA2</a:t>
            </a:r>
            <a:r>
              <a:rPr lang="zh-CN" altLang="en-US" dirty="0"/>
              <a:t>）。</a:t>
            </a:r>
          </a:p>
          <a:p>
            <a:pPr lvl="2"/>
            <a:r>
              <a:rPr lang="zh-CN" altLang="en-US" b="1" dirty="0"/>
              <a:t>恶意文件</a:t>
            </a:r>
            <a:r>
              <a:rPr lang="zh-CN" altLang="en-US" dirty="0"/>
              <a:t>：通过网络共享传播病毒。</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spTree>
    <p:extLst>
      <p:ext uri="{BB962C8B-B14F-4D97-AF65-F5344CB8AC3E}">
        <p14:creationId xmlns:p14="http://schemas.microsoft.com/office/powerpoint/2010/main" val="14699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9.1.1 </a:t>
            </a:r>
            <a:r>
              <a:rPr kumimoji="1" lang="zh-CN" altLang="zh-CN" dirty="0">
                <a:solidFill>
                  <a:prstClr val="black"/>
                </a:solidFill>
              </a:rPr>
              <a:t>无线网络安全威胁</a:t>
            </a:r>
            <a:endParaRPr lang="zh-CN" altLang="en-US" dirty="0"/>
          </a:p>
        </p:txBody>
      </p:sp>
      <p:sp>
        <p:nvSpPr>
          <p:cNvPr id="3" name="内容占位符 2"/>
          <p:cNvSpPr>
            <a:spLocks noGrp="1"/>
          </p:cNvSpPr>
          <p:nvPr>
            <p:ph idx="1"/>
          </p:nvPr>
        </p:nvSpPr>
        <p:spPr>
          <a:xfrm>
            <a:off x="838200" y="1377538"/>
            <a:ext cx="10515600" cy="4916384"/>
          </a:xfrm>
        </p:spPr>
        <p:txBody>
          <a:bodyPr>
            <a:normAutofit/>
          </a:bodyPr>
          <a:lstStyle/>
          <a:p>
            <a:r>
              <a:rPr lang="en-US" altLang="zh-CN" b="1" dirty="0">
                <a:solidFill>
                  <a:srgbClr val="C00000"/>
                </a:solidFill>
              </a:rPr>
              <a:t>7. </a:t>
            </a:r>
            <a:r>
              <a:rPr lang="zh-CN" altLang="en-US" b="1" dirty="0">
                <a:solidFill>
                  <a:srgbClr val="C00000"/>
                </a:solidFill>
              </a:rPr>
              <a:t>蓝牙安全威胁</a:t>
            </a:r>
          </a:p>
          <a:p>
            <a:pPr lvl="1"/>
            <a:r>
              <a:rPr lang="en-US" altLang="zh-CN" b="1" dirty="0" err="1"/>
              <a:t>Bluejacking</a:t>
            </a:r>
            <a:r>
              <a:rPr lang="zh-CN" altLang="en-US" dirty="0"/>
              <a:t>：发送垃圾信息至蓝牙设备。</a:t>
            </a:r>
          </a:p>
          <a:p>
            <a:pPr lvl="1"/>
            <a:r>
              <a:rPr lang="en-US" altLang="zh-CN" b="1" dirty="0" err="1"/>
              <a:t>Bluesnarfing</a:t>
            </a:r>
            <a:r>
              <a:rPr lang="zh-CN" altLang="en-US" dirty="0"/>
              <a:t>：窃取设备数据（通讯录、短信）。</a:t>
            </a:r>
          </a:p>
          <a:p>
            <a:pPr lvl="1"/>
            <a:r>
              <a:rPr lang="en-US" altLang="zh-CN" b="1" dirty="0"/>
              <a:t>BLE</a:t>
            </a:r>
            <a:r>
              <a:rPr lang="zh-CN" altLang="en-US" b="1" dirty="0"/>
              <a:t>（低功耗蓝牙）攻击</a:t>
            </a:r>
            <a:r>
              <a:rPr lang="zh-CN" altLang="en-US" dirty="0"/>
              <a:t>：如监听智能家居设备。</a:t>
            </a:r>
          </a:p>
          <a:p>
            <a:r>
              <a:rPr lang="en-US" altLang="zh-CN" b="1" dirty="0">
                <a:solidFill>
                  <a:srgbClr val="C00000"/>
                </a:solidFill>
              </a:rPr>
              <a:t>8. </a:t>
            </a:r>
            <a:r>
              <a:rPr lang="zh-CN" altLang="en-US" b="1" dirty="0">
                <a:solidFill>
                  <a:srgbClr val="C00000"/>
                </a:solidFill>
              </a:rPr>
              <a:t>物理设备威胁</a:t>
            </a:r>
          </a:p>
          <a:p>
            <a:pPr lvl="1"/>
            <a:r>
              <a:rPr lang="zh-CN" altLang="en-US" b="1" dirty="0"/>
              <a:t>未经授权的接入点</a:t>
            </a:r>
            <a:r>
              <a:rPr lang="zh-CN" altLang="en-US" dirty="0"/>
              <a:t>：员工私自安装路由器，形成安全盲区。</a:t>
            </a:r>
          </a:p>
          <a:p>
            <a:pPr lvl="1"/>
            <a:r>
              <a:rPr lang="zh-CN" altLang="en-US" b="1" dirty="0"/>
              <a:t>默认配置漏洞</a:t>
            </a:r>
            <a:r>
              <a:rPr lang="zh-CN" altLang="en-US" dirty="0"/>
              <a:t>：使用厂商默认密码（如</a:t>
            </a:r>
            <a:r>
              <a:rPr lang="en-US" altLang="zh-CN" dirty="0"/>
              <a:t>admin/admin</a:t>
            </a:r>
            <a:r>
              <a:rPr lang="zh-CN" altLang="en-US" dirty="0"/>
              <a:t>）。</a:t>
            </a:r>
          </a:p>
          <a:p>
            <a:r>
              <a:rPr lang="en-US" altLang="zh-CN" b="1" dirty="0">
                <a:solidFill>
                  <a:srgbClr val="C00000"/>
                </a:solidFill>
              </a:rPr>
              <a:t>9. </a:t>
            </a:r>
            <a:r>
              <a:rPr lang="zh-CN" altLang="en-US" b="1" dirty="0">
                <a:solidFill>
                  <a:srgbClr val="C00000"/>
                </a:solidFill>
              </a:rPr>
              <a:t>高级持续性威胁（</a:t>
            </a:r>
            <a:r>
              <a:rPr lang="en-US" altLang="zh-CN" b="1" dirty="0">
                <a:solidFill>
                  <a:srgbClr val="C00000"/>
                </a:solidFill>
              </a:rPr>
              <a:t>APT</a:t>
            </a:r>
            <a:r>
              <a:rPr lang="zh-CN" altLang="en-US" b="1" dirty="0">
                <a:solidFill>
                  <a:srgbClr val="C00000"/>
                </a:solidFill>
              </a:rPr>
              <a:t>）</a:t>
            </a:r>
          </a:p>
          <a:p>
            <a:pPr lvl="1"/>
            <a:r>
              <a:rPr lang="zh-CN" altLang="en-US" b="1" dirty="0"/>
              <a:t>目标攻击</a:t>
            </a:r>
            <a:r>
              <a:rPr lang="zh-CN" altLang="en-US" dirty="0"/>
              <a:t>：针对企业或政府无线网络，长期潜伏窃密。</a:t>
            </a:r>
          </a:p>
          <a:p>
            <a:pPr lvl="1"/>
            <a:r>
              <a:rPr lang="zh-CN" altLang="en-US" b="1" dirty="0"/>
              <a:t>结合社会工程学</a:t>
            </a:r>
            <a:r>
              <a:rPr lang="zh-CN" altLang="en-US" dirty="0"/>
              <a:t>：如伪装成</a:t>
            </a:r>
            <a:r>
              <a:rPr lang="en-US" altLang="zh-CN" dirty="0"/>
              <a:t>IT</a:t>
            </a:r>
            <a:r>
              <a:rPr lang="zh-CN" altLang="en-US" dirty="0"/>
              <a:t>人员索要</a:t>
            </a:r>
            <a:r>
              <a:rPr lang="en-US" altLang="zh-CN" dirty="0"/>
              <a:t>Wi-Fi</a:t>
            </a:r>
            <a:r>
              <a:rPr lang="zh-CN" altLang="en-US" dirty="0"/>
              <a:t>密码。</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spTree>
    <p:extLst>
      <p:ext uri="{BB962C8B-B14F-4D97-AF65-F5344CB8AC3E}">
        <p14:creationId xmlns:p14="http://schemas.microsoft.com/office/powerpoint/2010/main" val="1871355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139087"/>
          </a:xfrm>
        </p:spPr>
        <p:txBody>
          <a:bodyPr>
            <a:normAutofit lnSpcReduction="10000"/>
          </a:bodyPr>
          <a:lstStyle/>
          <a:p>
            <a:r>
              <a:rPr lang="zh-CN" altLang="en-US" dirty="0">
                <a:solidFill>
                  <a:srgbClr val="C00000"/>
                </a:solidFill>
              </a:rPr>
              <a:t>安全无线传输</a:t>
            </a:r>
            <a:endParaRPr lang="en-US" altLang="zh-CN" dirty="0">
              <a:solidFill>
                <a:srgbClr val="C00000"/>
              </a:solidFill>
            </a:endParaRPr>
          </a:p>
          <a:p>
            <a:pPr lvl="1"/>
            <a:r>
              <a:rPr lang="zh-CN" altLang="en-US" b="1" dirty="0">
                <a:solidFill>
                  <a:srgbClr val="C00000"/>
                </a:solidFill>
              </a:rPr>
              <a:t>加密技术</a:t>
            </a:r>
          </a:p>
          <a:p>
            <a:pPr lvl="2"/>
            <a:r>
              <a:rPr lang="en-US" altLang="zh-CN" b="1" dirty="0">
                <a:solidFill>
                  <a:srgbClr val="C00000"/>
                </a:solidFill>
              </a:rPr>
              <a:t>Wi-Fi </a:t>
            </a:r>
            <a:r>
              <a:rPr lang="zh-CN" altLang="en-US" b="1" dirty="0">
                <a:solidFill>
                  <a:srgbClr val="C00000"/>
                </a:solidFill>
              </a:rPr>
              <a:t>加密协议</a:t>
            </a:r>
          </a:p>
          <a:p>
            <a:pPr lvl="3"/>
            <a:r>
              <a:rPr lang="en-US" altLang="zh-CN" b="1" dirty="0"/>
              <a:t>WPA3 (Wi-Fi Protected Access 3)</a:t>
            </a:r>
            <a:endParaRPr lang="en-US" altLang="zh-CN" dirty="0"/>
          </a:p>
          <a:p>
            <a:pPr lvl="4"/>
            <a:r>
              <a:rPr lang="zh-CN" altLang="en-US" b="1" dirty="0"/>
              <a:t>增强加密</a:t>
            </a:r>
            <a:r>
              <a:rPr lang="zh-CN" altLang="en-US" dirty="0"/>
              <a:t>：使用更强大的 </a:t>
            </a:r>
            <a:r>
              <a:rPr lang="en-US" altLang="zh-CN" b="1" dirty="0"/>
              <a:t>AES-256</a:t>
            </a:r>
            <a:r>
              <a:rPr lang="en-US" altLang="zh-CN" dirty="0"/>
              <a:t> </a:t>
            </a:r>
            <a:r>
              <a:rPr lang="zh-CN" altLang="en-US" dirty="0"/>
              <a:t>和 </a:t>
            </a:r>
            <a:r>
              <a:rPr lang="en-US" altLang="zh-CN" b="1" dirty="0"/>
              <a:t>SAE</a:t>
            </a:r>
            <a:r>
              <a:rPr lang="zh-CN" altLang="en-US" b="1" dirty="0"/>
              <a:t>（</a:t>
            </a:r>
            <a:r>
              <a:rPr lang="en-US" altLang="zh-CN" b="1" dirty="0"/>
              <a:t>Simultaneous Authentication of Equals</a:t>
            </a:r>
            <a:r>
              <a:rPr lang="zh-CN" altLang="en-US" b="1" dirty="0"/>
              <a:t>）</a:t>
            </a:r>
            <a:r>
              <a:rPr lang="en-US" altLang="zh-CN" dirty="0"/>
              <a:t> </a:t>
            </a:r>
            <a:r>
              <a:rPr lang="zh-CN" altLang="en-US" dirty="0"/>
              <a:t>替代 </a:t>
            </a:r>
            <a:r>
              <a:rPr lang="en-US" altLang="zh-CN" dirty="0"/>
              <a:t>WPA2 </a:t>
            </a:r>
            <a:r>
              <a:rPr lang="zh-CN" altLang="en-US" dirty="0"/>
              <a:t>的 </a:t>
            </a:r>
            <a:r>
              <a:rPr lang="en-US" altLang="zh-CN" dirty="0"/>
              <a:t>PSK</a:t>
            </a:r>
            <a:r>
              <a:rPr lang="zh-CN" altLang="en-US" dirty="0"/>
              <a:t>（预共享密钥），防止离线字典攻击。</a:t>
            </a:r>
          </a:p>
          <a:p>
            <a:pPr lvl="4"/>
            <a:r>
              <a:rPr lang="zh-CN" altLang="en-US" b="1" dirty="0"/>
              <a:t>前向保密（</a:t>
            </a:r>
            <a:r>
              <a:rPr lang="en-US" altLang="zh-CN" b="1" dirty="0"/>
              <a:t>Forward Secrecy</a:t>
            </a:r>
            <a:r>
              <a:rPr lang="zh-CN" altLang="en-US" b="1" dirty="0"/>
              <a:t>）</a:t>
            </a:r>
            <a:r>
              <a:rPr lang="zh-CN" altLang="en-US" dirty="0"/>
              <a:t>：即使密钥泄露，历史会话仍安全。</a:t>
            </a:r>
          </a:p>
          <a:p>
            <a:pPr lvl="3"/>
            <a:r>
              <a:rPr lang="en-US" altLang="zh-CN" b="1" dirty="0"/>
              <a:t>WPA2-Enterprise</a:t>
            </a:r>
            <a:endParaRPr lang="en-US" altLang="zh-CN" dirty="0"/>
          </a:p>
          <a:p>
            <a:pPr lvl="4"/>
            <a:r>
              <a:rPr lang="zh-CN" altLang="en-US" b="1" dirty="0"/>
              <a:t>基于 </a:t>
            </a:r>
            <a:r>
              <a:rPr lang="en-US" altLang="zh-CN" b="1" dirty="0"/>
              <a:t>802.1X </a:t>
            </a:r>
            <a:r>
              <a:rPr lang="zh-CN" altLang="en-US" b="1" dirty="0"/>
              <a:t>认证</a:t>
            </a:r>
            <a:r>
              <a:rPr lang="zh-CN" altLang="en-US" dirty="0"/>
              <a:t>：结合 </a:t>
            </a:r>
            <a:r>
              <a:rPr lang="en-US" altLang="zh-CN" dirty="0"/>
              <a:t>RADIUS </a:t>
            </a:r>
            <a:r>
              <a:rPr lang="zh-CN" altLang="en-US" dirty="0"/>
              <a:t>服务器，使用 </a:t>
            </a:r>
            <a:r>
              <a:rPr lang="en-US" altLang="zh-CN" dirty="0"/>
              <a:t>EAP</a:t>
            </a:r>
            <a:r>
              <a:rPr lang="zh-CN" altLang="en-US" dirty="0"/>
              <a:t>（如 </a:t>
            </a:r>
            <a:r>
              <a:rPr lang="en-US" altLang="zh-CN" dirty="0"/>
              <a:t>EAP-TLS</a:t>
            </a:r>
            <a:r>
              <a:rPr lang="zh-CN" altLang="en-US" dirty="0"/>
              <a:t>、</a:t>
            </a:r>
            <a:r>
              <a:rPr lang="en-US" altLang="zh-CN" dirty="0"/>
              <a:t>PEAP</a:t>
            </a:r>
            <a:r>
              <a:rPr lang="zh-CN" altLang="en-US" dirty="0"/>
              <a:t>）进行身份验证。</a:t>
            </a:r>
          </a:p>
          <a:p>
            <a:pPr lvl="4"/>
            <a:r>
              <a:rPr lang="zh-CN" altLang="en-US" b="1" dirty="0"/>
              <a:t>动态密钥分配</a:t>
            </a:r>
            <a:r>
              <a:rPr lang="zh-CN" altLang="en-US" dirty="0"/>
              <a:t>：每个用户</a:t>
            </a:r>
            <a:r>
              <a:rPr lang="en-US" altLang="zh-CN" dirty="0"/>
              <a:t>/</a:t>
            </a:r>
            <a:r>
              <a:rPr lang="zh-CN" altLang="en-US" dirty="0"/>
              <a:t>设备拥有独立密钥。</a:t>
            </a:r>
          </a:p>
          <a:p>
            <a:pPr lvl="3"/>
            <a:r>
              <a:rPr lang="zh-CN" altLang="en-US" b="1" dirty="0"/>
              <a:t>避免使用</a:t>
            </a:r>
            <a:r>
              <a:rPr lang="zh-CN" altLang="en-US" dirty="0"/>
              <a:t>：</a:t>
            </a:r>
          </a:p>
          <a:p>
            <a:pPr lvl="4"/>
            <a:r>
              <a:rPr lang="en-US" altLang="zh-CN" b="1" dirty="0"/>
              <a:t>WEP</a:t>
            </a:r>
            <a:r>
              <a:rPr lang="zh-CN" altLang="en-US" b="1" dirty="0"/>
              <a:t>（</a:t>
            </a:r>
            <a:r>
              <a:rPr lang="en-US" altLang="zh-CN" b="1" dirty="0"/>
              <a:t>Wired Equivalent Privacy</a:t>
            </a:r>
            <a:r>
              <a:rPr lang="zh-CN" altLang="en-US" b="1" dirty="0"/>
              <a:t>）</a:t>
            </a:r>
            <a:r>
              <a:rPr lang="zh-CN" altLang="en-US" dirty="0"/>
              <a:t>：已完全破解，可被工具（如 </a:t>
            </a:r>
            <a:r>
              <a:rPr lang="en-US" altLang="zh-CN" dirty="0" err="1"/>
              <a:t>Aircrack</a:t>
            </a:r>
            <a:r>
              <a:rPr lang="en-US" altLang="zh-CN" dirty="0"/>
              <a:t>-ng</a:t>
            </a:r>
            <a:r>
              <a:rPr lang="zh-CN" altLang="en-US" dirty="0"/>
              <a:t>）轻松攻破。</a:t>
            </a:r>
          </a:p>
          <a:p>
            <a:pPr lvl="4"/>
            <a:r>
              <a:rPr lang="en-US" altLang="zh-CN" b="1" dirty="0"/>
              <a:t>WPA-PSK</a:t>
            </a:r>
            <a:r>
              <a:rPr lang="zh-CN" altLang="en-US" b="1" dirty="0"/>
              <a:t>（</a:t>
            </a:r>
            <a:r>
              <a:rPr lang="en-US" altLang="zh-CN" b="1" dirty="0"/>
              <a:t>TKIP</a:t>
            </a:r>
            <a:r>
              <a:rPr lang="zh-CN" altLang="en-US" b="1" dirty="0"/>
              <a:t>）</a:t>
            </a:r>
            <a:r>
              <a:rPr lang="zh-CN" altLang="en-US" dirty="0"/>
              <a:t>：存在 </a:t>
            </a:r>
            <a:r>
              <a:rPr lang="en-US" altLang="zh-CN" dirty="0"/>
              <a:t>KRACK </a:t>
            </a:r>
            <a:r>
              <a:rPr lang="zh-CN" altLang="en-US" dirty="0"/>
              <a:t>攻击漏洞，建议升级到 </a:t>
            </a:r>
            <a:r>
              <a:rPr lang="en-US" altLang="zh-CN" dirty="0"/>
              <a:t>WPA3</a:t>
            </a:r>
            <a:r>
              <a:rPr lang="zh-CN" altLang="en-US" dirty="0"/>
              <a:t>。</a:t>
            </a:r>
          </a:p>
          <a:p>
            <a:endParaRPr lang="zh-CN" altLang="en-US"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a:t>
            </a:fld>
            <a:endParaRPr kumimoji="1" lang="zh-CN" altLang="en-US" dirty="0"/>
          </a:p>
        </p:txBody>
      </p:sp>
    </p:spTree>
    <p:extLst>
      <p:ext uri="{BB962C8B-B14F-4D97-AF65-F5344CB8AC3E}">
        <p14:creationId xmlns:p14="http://schemas.microsoft.com/office/powerpoint/2010/main" val="406718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139087"/>
          </a:xfrm>
        </p:spPr>
        <p:txBody>
          <a:bodyPr>
            <a:normAutofit/>
          </a:bodyPr>
          <a:lstStyle/>
          <a:p>
            <a:r>
              <a:rPr lang="zh-CN" altLang="en-US" dirty="0">
                <a:solidFill>
                  <a:srgbClr val="C00000"/>
                </a:solidFill>
              </a:rPr>
              <a:t>安全无线传输</a:t>
            </a:r>
            <a:endParaRPr lang="en-US" altLang="zh-CN" dirty="0">
              <a:solidFill>
                <a:srgbClr val="C00000"/>
              </a:solidFill>
            </a:endParaRPr>
          </a:p>
          <a:p>
            <a:pPr lvl="1"/>
            <a:r>
              <a:rPr lang="zh-CN" altLang="en-US" b="1" dirty="0">
                <a:solidFill>
                  <a:srgbClr val="C00000"/>
                </a:solidFill>
              </a:rPr>
              <a:t>加密技术</a:t>
            </a:r>
            <a:endParaRPr lang="en-US" altLang="zh-CN" b="1" dirty="0">
              <a:solidFill>
                <a:srgbClr val="C00000"/>
              </a:solidFill>
            </a:endParaRPr>
          </a:p>
          <a:p>
            <a:pPr lvl="2"/>
            <a:r>
              <a:rPr lang="zh-CN" altLang="en-US" b="1" dirty="0">
                <a:solidFill>
                  <a:srgbClr val="C00000"/>
                </a:solidFill>
              </a:rPr>
              <a:t>其他无线加密技术</a:t>
            </a:r>
          </a:p>
          <a:p>
            <a:pPr lvl="2"/>
            <a:r>
              <a:rPr lang="en-US" altLang="zh-CN" b="1" dirty="0"/>
              <a:t>VPN</a:t>
            </a:r>
            <a:r>
              <a:rPr lang="zh-CN" altLang="en-US" b="1" dirty="0"/>
              <a:t>（虚拟专用网络）</a:t>
            </a:r>
            <a:endParaRPr lang="zh-CN" altLang="en-US" dirty="0"/>
          </a:p>
          <a:p>
            <a:pPr lvl="3"/>
            <a:r>
              <a:rPr lang="zh-CN" altLang="en-US" dirty="0"/>
              <a:t>在公共 </a:t>
            </a:r>
            <a:r>
              <a:rPr lang="en-US" altLang="zh-CN" dirty="0"/>
              <a:t>Wi-Fi </a:t>
            </a:r>
            <a:r>
              <a:rPr lang="zh-CN" altLang="en-US" dirty="0"/>
              <a:t>上通过 </a:t>
            </a:r>
            <a:r>
              <a:rPr lang="en-US" altLang="zh-CN" b="1" dirty="0" err="1"/>
              <a:t>IPSec</a:t>
            </a:r>
            <a:r>
              <a:rPr lang="zh-CN" altLang="en-US" dirty="0"/>
              <a:t> 或 </a:t>
            </a:r>
            <a:r>
              <a:rPr lang="en-US" altLang="zh-CN" b="1" dirty="0" err="1"/>
              <a:t>OpenVPN</a:t>
            </a:r>
            <a:r>
              <a:rPr lang="zh-CN" altLang="en-US" dirty="0"/>
              <a:t> 建立加密隧道，隐藏真实流量。</a:t>
            </a:r>
          </a:p>
          <a:p>
            <a:pPr lvl="2"/>
            <a:r>
              <a:rPr lang="en-US" altLang="zh-CN" b="1" dirty="0"/>
              <a:t>SSH/SFTP</a:t>
            </a:r>
            <a:endParaRPr lang="zh-CN" altLang="en-US" dirty="0"/>
          </a:p>
          <a:p>
            <a:pPr lvl="3"/>
            <a:r>
              <a:rPr lang="zh-CN" altLang="en-US" dirty="0"/>
              <a:t>用于安全远程登录和文件传输（替代 </a:t>
            </a:r>
            <a:r>
              <a:rPr lang="en-US" altLang="zh-CN" dirty="0"/>
              <a:t>Telnet/FTP</a:t>
            </a:r>
            <a:r>
              <a:rPr lang="zh-CN" altLang="en-US" dirty="0"/>
              <a:t>）。</a:t>
            </a:r>
            <a:endParaRPr lang="en-US" altLang="zh-CN" b="1"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a:t>
            </a:fld>
            <a:endParaRPr kumimoji="1" lang="zh-CN" altLang="en-US" dirty="0"/>
          </a:p>
        </p:txBody>
      </p:sp>
    </p:spTree>
    <p:extLst>
      <p:ext uri="{BB962C8B-B14F-4D97-AF65-F5344CB8AC3E}">
        <p14:creationId xmlns:p14="http://schemas.microsoft.com/office/powerpoint/2010/main" val="1431329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391397"/>
          </a:xfrm>
        </p:spPr>
        <p:txBody>
          <a:bodyPr>
            <a:normAutofit/>
          </a:bodyPr>
          <a:lstStyle/>
          <a:p>
            <a:r>
              <a:rPr lang="zh-CN" altLang="en-US" dirty="0">
                <a:solidFill>
                  <a:srgbClr val="C00000"/>
                </a:solidFill>
              </a:rPr>
              <a:t>安全无线传输</a:t>
            </a:r>
            <a:endParaRPr lang="en-US" altLang="zh-CN" dirty="0">
              <a:solidFill>
                <a:srgbClr val="C00000"/>
              </a:solidFill>
            </a:endParaRPr>
          </a:p>
          <a:p>
            <a:pPr lvl="1"/>
            <a:r>
              <a:rPr lang="zh-CN" altLang="en-US" b="1" dirty="0">
                <a:solidFill>
                  <a:srgbClr val="C00000"/>
                </a:solidFill>
              </a:rPr>
              <a:t>信息隐藏技术</a:t>
            </a:r>
          </a:p>
          <a:p>
            <a:pPr lvl="2"/>
            <a:r>
              <a:rPr lang="en-US" altLang="zh-CN" sz="2400" dirty="0"/>
              <a:t>1. </a:t>
            </a:r>
            <a:r>
              <a:rPr lang="zh-CN" altLang="en-US" sz="2400" dirty="0"/>
              <a:t>基于协议层的信息隐藏</a:t>
            </a:r>
          </a:p>
          <a:p>
            <a:pPr lvl="3"/>
            <a:r>
              <a:rPr lang="en-US" altLang="zh-CN" sz="2000" dirty="0"/>
              <a:t>Wi-Fi </a:t>
            </a:r>
            <a:r>
              <a:rPr lang="zh-CN" altLang="en-US" sz="2000" dirty="0"/>
              <a:t>协议隐藏</a:t>
            </a:r>
          </a:p>
          <a:p>
            <a:pPr lvl="4"/>
            <a:r>
              <a:rPr lang="en-US" altLang="zh-CN" sz="2000" dirty="0"/>
              <a:t>SSID </a:t>
            </a:r>
            <a:r>
              <a:rPr lang="zh-CN" altLang="en-US" sz="2000" dirty="0"/>
              <a:t>隐藏</a:t>
            </a:r>
          </a:p>
          <a:p>
            <a:pPr lvl="5"/>
            <a:r>
              <a:rPr lang="zh-CN" altLang="en-US" sz="2000" dirty="0"/>
              <a:t>路由器不广播 </a:t>
            </a:r>
            <a:r>
              <a:rPr lang="en-US" altLang="zh-CN" sz="2000" dirty="0"/>
              <a:t>SSID</a:t>
            </a:r>
            <a:r>
              <a:rPr lang="zh-CN" altLang="en-US" sz="2000" dirty="0"/>
              <a:t>（网络名称），用户需手动输入才能连接。</a:t>
            </a:r>
          </a:p>
          <a:p>
            <a:pPr lvl="5"/>
            <a:r>
              <a:rPr lang="zh-CN" altLang="en-US" sz="2000" dirty="0"/>
              <a:t>局限性：专业工具（如 </a:t>
            </a:r>
            <a:r>
              <a:rPr lang="en-US" altLang="zh-CN" sz="2000" dirty="0" err="1"/>
              <a:t>airodump</a:t>
            </a:r>
            <a:r>
              <a:rPr lang="en-US" altLang="zh-CN" sz="2000" dirty="0"/>
              <a:t>-ng</a:t>
            </a:r>
            <a:r>
              <a:rPr lang="zh-CN" altLang="en-US" sz="2000" dirty="0"/>
              <a:t>）仍可探测到隐藏的 </a:t>
            </a:r>
            <a:r>
              <a:rPr lang="en-US" altLang="zh-CN" sz="2000" dirty="0"/>
              <a:t>SSID</a:t>
            </a:r>
            <a:r>
              <a:rPr lang="zh-CN" altLang="en-US" sz="2000" dirty="0"/>
              <a:t>。</a:t>
            </a:r>
          </a:p>
          <a:p>
            <a:pPr lvl="4"/>
            <a:r>
              <a:rPr lang="en-US" altLang="zh-CN" sz="2000" dirty="0"/>
              <a:t>MAC </a:t>
            </a:r>
            <a:r>
              <a:rPr lang="zh-CN" altLang="en-US" sz="2000" dirty="0"/>
              <a:t>地址随机化</a:t>
            </a:r>
          </a:p>
          <a:p>
            <a:pPr lvl="5"/>
            <a:r>
              <a:rPr lang="zh-CN" altLang="en-US" sz="2000" dirty="0"/>
              <a:t>设备（如智能手机）在探测网络时使用随机 </a:t>
            </a:r>
            <a:r>
              <a:rPr lang="en-US" altLang="zh-CN" sz="2000" dirty="0"/>
              <a:t>MAC </a:t>
            </a:r>
            <a:r>
              <a:rPr lang="zh-CN" altLang="en-US" sz="2000" dirty="0"/>
              <a:t>地址，防止跟踪。</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a:t>
            </a:fld>
            <a:endParaRPr kumimoji="1" lang="zh-CN" altLang="en-US" dirty="0"/>
          </a:p>
        </p:txBody>
      </p:sp>
    </p:spTree>
    <p:extLst>
      <p:ext uri="{BB962C8B-B14F-4D97-AF65-F5344CB8AC3E}">
        <p14:creationId xmlns:p14="http://schemas.microsoft.com/office/powerpoint/2010/main" val="2942136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391397"/>
          </a:xfrm>
        </p:spPr>
        <p:txBody>
          <a:bodyPr>
            <a:normAutofit/>
          </a:bodyPr>
          <a:lstStyle/>
          <a:p>
            <a:r>
              <a:rPr lang="zh-CN" altLang="en-US" dirty="0">
                <a:solidFill>
                  <a:srgbClr val="C00000"/>
                </a:solidFill>
              </a:rPr>
              <a:t>安全无线传输</a:t>
            </a:r>
            <a:endParaRPr lang="en-US" altLang="zh-CN" dirty="0">
              <a:solidFill>
                <a:srgbClr val="C00000"/>
              </a:solidFill>
            </a:endParaRPr>
          </a:p>
          <a:p>
            <a:pPr lvl="1"/>
            <a:r>
              <a:rPr lang="zh-CN" altLang="en-US" b="1" dirty="0">
                <a:solidFill>
                  <a:srgbClr val="C00000"/>
                </a:solidFill>
              </a:rPr>
              <a:t>信息隐藏技术</a:t>
            </a:r>
          </a:p>
          <a:p>
            <a:pPr lvl="2"/>
            <a:r>
              <a:rPr lang="en-US" altLang="zh-CN" sz="2400" b="1" dirty="0"/>
              <a:t>2. </a:t>
            </a:r>
            <a:r>
              <a:rPr lang="zh-CN" altLang="en-US" sz="2400" b="1" dirty="0"/>
              <a:t>基于信号调制的信息隐藏</a:t>
            </a:r>
          </a:p>
          <a:p>
            <a:pPr lvl="3"/>
            <a:r>
              <a:rPr lang="en-US" altLang="zh-CN" sz="2000" b="1" dirty="0"/>
              <a:t> </a:t>
            </a:r>
            <a:r>
              <a:rPr lang="zh-CN" altLang="en-US" sz="2000" b="1" dirty="0"/>
              <a:t>扩频技术（</a:t>
            </a:r>
            <a:r>
              <a:rPr lang="en-US" altLang="zh-CN" sz="2000" b="1" dirty="0"/>
              <a:t>DSSS/FHSS</a:t>
            </a:r>
            <a:r>
              <a:rPr lang="zh-CN" altLang="en-US" sz="2000" b="1" dirty="0"/>
              <a:t>）</a:t>
            </a:r>
          </a:p>
          <a:p>
            <a:pPr lvl="4"/>
            <a:r>
              <a:rPr lang="zh-CN" altLang="en-US" sz="2000" b="1" dirty="0"/>
              <a:t>直接序列扩频（</a:t>
            </a:r>
            <a:r>
              <a:rPr lang="en-US" altLang="zh-CN" sz="2000" b="1" dirty="0"/>
              <a:t>DSSS</a:t>
            </a:r>
            <a:r>
              <a:rPr lang="zh-CN" altLang="en-US" sz="2000" b="1" dirty="0"/>
              <a:t>）</a:t>
            </a:r>
            <a:endParaRPr lang="zh-CN" altLang="en-US" sz="2000" dirty="0"/>
          </a:p>
          <a:p>
            <a:pPr lvl="5"/>
            <a:r>
              <a:rPr lang="zh-CN" altLang="en-US" sz="2000" dirty="0"/>
              <a:t>将数据隐藏在宽频信号中，如早期 </a:t>
            </a:r>
            <a:r>
              <a:rPr lang="en-US" altLang="zh-CN" sz="2000" dirty="0"/>
              <a:t>Wi-Fi</a:t>
            </a:r>
            <a:r>
              <a:rPr lang="zh-CN" altLang="en-US" sz="2000" dirty="0"/>
              <a:t>（</a:t>
            </a:r>
            <a:r>
              <a:rPr lang="en-US" altLang="zh-CN" sz="2000" dirty="0"/>
              <a:t>802.11b</a:t>
            </a:r>
            <a:r>
              <a:rPr lang="zh-CN" altLang="en-US" sz="2000" dirty="0"/>
              <a:t>）使用该技术抗干扰，也可用于隐蔽通信。</a:t>
            </a:r>
          </a:p>
          <a:p>
            <a:pPr lvl="4"/>
            <a:r>
              <a:rPr lang="zh-CN" altLang="en-US" sz="2000" b="1" dirty="0"/>
              <a:t>跳频扩频（</a:t>
            </a:r>
            <a:r>
              <a:rPr lang="en-US" altLang="zh-CN" sz="2000" b="1" dirty="0"/>
              <a:t>FHSS</a:t>
            </a:r>
            <a:r>
              <a:rPr lang="zh-CN" altLang="en-US" sz="2000" b="1" dirty="0"/>
              <a:t>）</a:t>
            </a:r>
            <a:endParaRPr lang="zh-CN" altLang="en-US" sz="2000" dirty="0"/>
          </a:p>
          <a:p>
            <a:pPr lvl="5"/>
            <a:r>
              <a:rPr lang="zh-CN" altLang="en-US" sz="2000" dirty="0"/>
              <a:t>信号在多个频点间快速切换，隐蔽性强（军用通信常用）。</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a:t>
            </a:fld>
            <a:endParaRPr kumimoji="1" lang="zh-CN" altLang="en-US" dirty="0"/>
          </a:p>
        </p:txBody>
      </p:sp>
    </p:spTree>
    <p:extLst>
      <p:ext uri="{BB962C8B-B14F-4D97-AF65-F5344CB8AC3E}">
        <p14:creationId xmlns:p14="http://schemas.microsoft.com/office/powerpoint/2010/main" val="2254161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391397"/>
          </a:xfrm>
        </p:spPr>
        <p:txBody>
          <a:bodyPr>
            <a:normAutofit/>
          </a:bodyPr>
          <a:lstStyle/>
          <a:p>
            <a:r>
              <a:rPr lang="zh-CN" altLang="en-US" dirty="0">
                <a:solidFill>
                  <a:srgbClr val="C00000"/>
                </a:solidFill>
              </a:rPr>
              <a:t>安全无线传输</a:t>
            </a:r>
            <a:endParaRPr lang="en-US" altLang="zh-CN" dirty="0">
              <a:solidFill>
                <a:srgbClr val="C00000"/>
              </a:solidFill>
            </a:endParaRPr>
          </a:p>
          <a:p>
            <a:pPr lvl="1"/>
            <a:r>
              <a:rPr lang="zh-CN" altLang="en-US" b="1" dirty="0">
                <a:solidFill>
                  <a:srgbClr val="C00000"/>
                </a:solidFill>
              </a:rPr>
              <a:t>信息隐藏技术</a:t>
            </a:r>
          </a:p>
          <a:p>
            <a:pPr lvl="2"/>
            <a:r>
              <a:rPr lang="en-US" altLang="zh-CN" sz="2400" b="1" dirty="0"/>
              <a:t>3. </a:t>
            </a:r>
            <a:r>
              <a:rPr lang="zh-CN" altLang="en-US" sz="2400" b="1" dirty="0"/>
              <a:t>基于物理层（</a:t>
            </a:r>
            <a:r>
              <a:rPr lang="en-US" altLang="zh-CN" sz="2400" b="1" dirty="0"/>
              <a:t>RF</a:t>
            </a:r>
            <a:r>
              <a:rPr lang="zh-CN" altLang="en-US" sz="2400" b="1" dirty="0"/>
              <a:t>）的信息隐藏</a:t>
            </a:r>
          </a:p>
          <a:p>
            <a:pPr lvl="3"/>
            <a:r>
              <a:rPr lang="zh-CN" altLang="en-US" sz="2000" b="1" dirty="0"/>
              <a:t>无线能量隐藏（</a:t>
            </a:r>
            <a:r>
              <a:rPr lang="en-US" altLang="zh-CN" sz="2000" b="1" dirty="0"/>
              <a:t>RF </a:t>
            </a:r>
            <a:r>
              <a:rPr lang="zh-CN" altLang="en-US" sz="2000" b="1" dirty="0"/>
              <a:t>隐写术）</a:t>
            </a:r>
          </a:p>
          <a:p>
            <a:pPr lvl="4"/>
            <a:r>
              <a:rPr lang="zh-CN" altLang="en-US" sz="2000" b="1" dirty="0"/>
              <a:t>利用 </a:t>
            </a:r>
            <a:r>
              <a:rPr lang="en-US" altLang="zh-CN" sz="2000" b="1" dirty="0"/>
              <a:t>Wi-Fi/</a:t>
            </a:r>
            <a:r>
              <a:rPr lang="zh-CN" altLang="en-US" sz="2000" b="1" dirty="0"/>
              <a:t>蓝牙</a:t>
            </a:r>
            <a:r>
              <a:rPr lang="en-US" altLang="zh-CN" sz="2000" b="1" dirty="0"/>
              <a:t>/</a:t>
            </a:r>
            <a:r>
              <a:rPr lang="en-US" altLang="zh-CN" sz="2000" b="1" dirty="0" err="1"/>
              <a:t>Zigbee</a:t>
            </a:r>
            <a:r>
              <a:rPr lang="en-US" altLang="zh-CN" sz="2000" b="1" dirty="0"/>
              <a:t> </a:t>
            </a:r>
            <a:r>
              <a:rPr lang="zh-CN" altLang="en-US" sz="2000" b="1" dirty="0"/>
              <a:t>的 </a:t>
            </a:r>
            <a:r>
              <a:rPr lang="en-US" altLang="zh-CN" sz="2000" b="1" dirty="0"/>
              <a:t>RF </a:t>
            </a:r>
            <a:r>
              <a:rPr lang="zh-CN" altLang="en-US" sz="2000" b="1" dirty="0"/>
              <a:t>噪声</a:t>
            </a:r>
            <a:endParaRPr lang="zh-CN" altLang="en-US" sz="2000" dirty="0"/>
          </a:p>
          <a:p>
            <a:pPr lvl="5"/>
            <a:r>
              <a:rPr lang="zh-CN" altLang="en-US" sz="2000" dirty="0"/>
              <a:t>在正常通信的电磁辐射中嵌入信息（需专用接收端解调）。</a:t>
            </a:r>
          </a:p>
          <a:p>
            <a:pPr lvl="4"/>
            <a:r>
              <a:rPr lang="zh-CN" altLang="en-US" sz="2000" b="1" dirty="0"/>
              <a:t>超宽带（</a:t>
            </a:r>
            <a:r>
              <a:rPr lang="en-US" altLang="zh-CN" sz="2000" b="1" dirty="0"/>
              <a:t>UWB</a:t>
            </a:r>
            <a:r>
              <a:rPr lang="zh-CN" altLang="en-US" sz="2000" b="1" dirty="0"/>
              <a:t>）隐蔽通信</a:t>
            </a:r>
            <a:endParaRPr lang="zh-CN" altLang="en-US" sz="2000" dirty="0"/>
          </a:p>
          <a:p>
            <a:pPr lvl="5"/>
            <a:r>
              <a:rPr lang="en-US" altLang="zh-CN" sz="2000" dirty="0"/>
              <a:t>UWB </a:t>
            </a:r>
            <a:r>
              <a:rPr lang="zh-CN" altLang="en-US" sz="2000" dirty="0"/>
              <a:t>脉冲信号极难检测，适合短距离隐蔽传输。</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a:t>
            </a:fld>
            <a:endParaRPr kumimoji="1" lang="zh-CN" altLang="en-US" dirty="0"/>
          </a:p>
        </p:txBody>
      </p:sp>
    </p:spTree>
    <p:extLst>
      <p:ext uri="{BB962C8B-B14F-4D97-AF65-F5344CB8AC3E}">
        <p14:creationId xmlns:p14="http://schemas.microsoft.com/office/powerpoint/2010/main" val="59326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391397"/>
          </a:xfrm>
        </p:spPr>
        <p:txBody>
          <a:bodyPr>
            <a:normAutofit/>
          </a:bodyPr>
          <a:lstStyle/>
          <a:p>
            <a:r>
              <a:rPr lang="zh-CN" altLang="en-US" dirty="0">
                <a:solidFill>
                  <a:srgbClr val="C00000"/>
                </a:solidFill>
              </a:rPr>
              <a:t>安全的无线接入点</a:t>
            </a:r>
            <a:endParaRPr lang="en-US" altLang="zh-CN" dirty="0">
              <a:solidFill>
                <a:srgbClr val="C00000"/>
              </a:solidFill>
            </a:endParaRPr>
          </a:p>
          <a:p>
            <a:pPr lvl="1">
              <a:lnSpc>
                <a:spcPct val="150000"/>
              </a:lnSpc>
            </a:pPr>
            <a:r>
              <a:rPr lang="zh-CN" altLang="en-US" dirty="0"/>
              <a:t>主要安全威胁包括网络的</a:t>
            </a:r>
            <a:r>
              <a:rPr lang="zh-CN" altLang="en-US" dirty="0">
                <a:solidFill>
                  <a:srgbClr val="C00000"/>
                </a:solidFill>
              </a:rPr>
              <a:t>未认证入侵</a:t>
            </a:r>
            <a:r>
              <a:rPr lang="zh-CN" altLang="en-US" dirty="0"/>
              <a:t>。</a:t>
            </a:r>
            <a:endParaRPr lang="en-US" altLang="zh-CN" dirty="0"/>
          </a:p>
          <a:p>
            <a:pPr lvl="1">
              <a:lnSpc>
                <a:spcPct val="150000"/>
              </a:lnSpc>
            </a:pPr>
            <a:r>
              <a:rPr lang="zh-CN" altLang="en-US" dirty="0"/>
              <a:t>防止此类入侵的</a:t>
            </a:r>
            <a:r>
              <a:rPr lang="zh-CN" altLang="en-US" dirty="0">
                <a:solidFill>
                  <a:srgbClr val="C00000"/>
                </a:solidFill>
              </a:rPr>
              <a:t>主要方法是</a:t>
            </a:r>
            <a:r>
              <a:rPr lang="en-US" altLang="zh-CN" dirty="0">
                <a:solidFill>
                  <a:srgbClr val="C00000"/>
                </a:solidFill>
              </a:rPr>
              <a:t>IEEE802.1X</a:t>
            </a:r>
            <a:r>
              <a:rPr lang="zh-CN" altLang="en-US" dirty="0">
                <a:solidFill>
                  <a:srgbClr val="C00000"/>
                </a:solidFill>
              </a:rPr>
              <a:t>标准</a:t>
            </a:r>
            <a:r>
              <a:rPr lang="zh-CN" altLang="en-US" dirty="0"/>
              <a:t>（参见</a:t>
            </a:r>
            <a:r>
              <a:rPr lang="en-US" altLang="zh-CN" dirty="0"/>
              <a:t>8.3</a:t>
            </a:r>
            <a:r>
              <a:rPr lang="zh-CN" altLang="en-US" dirty="0"/>
              <a:t>节），对基于端口的网络访问进行控制。</a:t>
            </a:r>
            <a:endParaRPr lang="en-US" altLang="zh-CN" dirty="0"/>
          </a:p>
          <a:p>
            <a:pPr lvl="1">
              <a:lnSpc>
                <a:spcPct val="150000"/>
              </a:lnSpc>
            </a:pPr>
            <a:r>
              <a:rPr lang="zh-CN" altLang="en-US" dirty="0"/>
              <a:t>该标准为想要连接到无线局域网或无线网络的设备提供了一套认证机制。该标准的使用可以阻止不好的接入点和其他未经认证的设备成为不安全后门。</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a:t>
            </a:fld>
            <a:endParaRPr kumimoji="1" lang="zh-CN" altLang="en-US" dirty="0"/>
          </a:p>
        </p:txBody>
      </p:sp>
    </p:spTree>
    <p:extLst>
      <p:ext uri="{BB962C8B-B14F-4D97-AF65-F5344CB8AC3E}">
        <p14:creationId xmlns:p14="http://schemas.microsoft.com/office/powerpoint/2010/main" val="1541715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9.1.2 </a:t>
            </a:r>
            <a:r>
              <a:rPr kumimoji="1" lang="zh-CN" altLang="zh-CN" dirty="0">
                <a:solidFill>
                  <a:prstClr val="black"/>
                </a:solidFill>
              </a:rPr>
              <a:t>无线安全措施</a:t>
            </a:r>
            <a:endParaRPr lang="zh-CN" altLang="en-US" dirty="0"/>
          </a:p>
        </p:txBody>
      </p:sp>
      <p:sp>
        <p:nvSpPr>
          <p:cNvPr id="3" name="内容占位符 2"/>
          <p:cNvSpPr>
            <a:spLocks noGrp="1"/>
          </p:cNvSpPr>
          <p:nvPr>
            <p:ph idx="1"/>
          </p:nvPr>
        </p:nvSpPr>
        <p:spPr>
          <a:xfrm>
            <a:off x="838200" y="1353787"/>
            <a:ext cx="10515600" cy="5391397"/>
          </a:xfrm>
        </p:spPr>
        <p:txBody>
          <a:bodyPr>
            <a:normAutofit fontScale="92500" lnSpcReduction="20000"/>
          </a:bodyPr>
          <a:lstStyle/>
          <a:p>
            <a:r>
              <a:rPr lang="zh-CN" altLang="en-US" dirty="0">
                <a:solidFill>
                  <a:srgbClr val="C00000"/>
                </a:solidFill>
              </a:rPr>
              <a:t>安全的无线网络</a:t>
            </a:r>
            <a:endParaRPr lang="en-US" altLang="zh-CN" dirty="0">
              <a:solidFill>
                <a:srgbClr val="C00000"/>
              </a:solidFill>
            </a:endParaRPr>
          </a:p>
          <a:p>
            <a:pPr lvl="1">
              <a:lnSpc>
                <a:spcPct val="150000"/>
              </a:lnSpc>
            </a:pPr>
            <a:r>
              <a:rPr lang="zh-CN" altLang="en-US" dirty="0"/>
              <a:t>推荐使用下列技术以保证无线网络安全：</a:t>
            </a:r>
            <a:endParaRPr lang="en-US" altLang="zh-CN" dirty="0"/>
          </a:p>
          <a:p>
            <a:pPr lvl="2">
              <a:lnSpc>
                <a:spcPct val="150000"/>
              </a:lnSpc>
            </a:pPr>
            <a:r>
              <a:rPr lang="zh-CN" altLang="en-US" dirty="0"/>
              <a:t>（</a:t>
            </a:r>
            <a:r>
              <a:rPr lang="en-US" altLang="zh-CN" dirty="0"/>
              <a:t>1</a:t>
            </a:r>
            <a:r>
              <a:rPr lang="zh-CN" altLang="en-US" dirty="0"/>
              <a:t>）使用</a:t>
            </a:r>
            <a:r>
              <a:rPr lang="zh-CN" altLang="en-US" dirty="0">
                <a:solidFill>
                  <a:srgbClr val="C00000"/>
                </a:solidFill>
              </a:rPr>
              <a:t>加密</a:t>
            </a:r>
            <a:r>
              <a:rPr lang="zh-CN" altLang="en-US" dirty="0"/>
              <a:t>手段：无线路由器具有典型的内置加密机制，以完成路由器到路由器之间的信息流通。</a:t>
            </a:r>
            <a:endParaRPr lang="en-US" altLang="zh-CN" dirty="0"/>
          </a:p>
          <a:p>
            <a:pPr lvl="2">
              <a:lnSpc>
                <a:spcPct val="150000"/>
              </a:lnSpc>
            </a:pPr>
            <a:r>
              <a:rPr lang="zh-CN" altLang="en-US" dirty="0"/>
              <a:t>（</a:t>
            </a:r>
            <a:r>
              <a:rPr lang="en-US" altLang="zh-CN" dirty="0"/>
              <a:t>2</a:t>
            </a:r>
            <a:r>
              <a:rPr lang="zh-CN" altLang="en-US" dirty="0"/>
              <a:t>）使用</a:t>
            </a:r>
            <a:r>
              <a:rPr lang="zh-CN" altLang="en-US" dirty="0">
                <a:solidFill>
                  <a:srgbClr val="C00000"/>
                </a:solidFill>
              </a:rPr>
              <a:t>杀毒软件、反间谍软件和防火墙</a:t>
            </a:r>
            <a:r>
              <a:rPr lang="zh-CN" altLang="en-US" dirty="0"/>
              <a:t>：这些软件可以在所有无线网络终端上应用。</a:t>
            </a:r>
            <a:endParaRPr lang="en-US" altLang="zh-CN" dirty="0"/>
          </a:p>
          <a:p>
            <a:pPr lvl="2">
              <a:lnSpc>
                <a:spcPct val="150000"/>
              </a:lnSpc>
            </a:pPr>
            <a:r>
              <a:rPr lang="zh-CN" altLang="en-US" dirty="0"/>
              <a:t>（</a:t>
            </a:r>
            <a:r>
              <a:rPr lang="en-US" altLang="zh-CN" dirty="0"/>
              <a:t>3</a:t>
            </a:r>
            <a:r>
              <a:rPr lang="zh-CN" altLang="en-US" dirty="0"/>
              <a:t>）</a:t>
            </a:r>
            <a:r>
              <a:rPr lang="zh-CN" altLang="en-US" dirty="0">
                <a:solidFill>
                  <a:srgbClr val="C00000"/>
                </a:solidFill>
              </a:rPr>
              <a:t>关闭标识符广播</a:t>
            </a:r>
            <a:r>
              <a:rPr lang="zh-CN" altLang="en-US" dirty="0"/>
              <a:t>：如果网络被配置成标识符广播模式，认证设备就会知道路由器的身份，这种功能可以被关闭，从而防御攻击者。</a:t>
            </a:r>
            <a:endParaRPr lang="en-US" altLang="zh-CN" dirty="0"/>
          </a:p>
          <a:p>
            <a:pPr lvl="2">
              <a:lnSpc>
                <a:spcPct val="150000"/>
              </a:lnSpc>
            </a:pPr>
            <a:r>
              <a:rPr lang="zh-CN" altLang="en-US" dirty="0"/>
              <a:t>（</a:t>
            </a:r>
            <a:r>
              <a:rPr lang="en-US" altLang="zh-CN" dirty="0"/>
              <a:t>4</a:t>
            </a:r>
            <a:r>
              <a:rPr lang="zh-CN" altLang="en-US" dirty="0"/>
              <a:t>）</a:t>
            </a:r>
            <a:r>
              <a:rPr lang="zh-CN" altLang="en-US" dirty="0">
                <a:solidFill>
                  <a:srgbClr val="C00000"/>
                </a:solidFill>
              </a:rPr>
              <a:t>改变路由器的标识符，不使用默认值</a:t>
            </a:r>
            <a:r>
              <a:rPr lang="zh-CN" altLang="en-US" dirty="0"/>
              <a:t>：这种手段可以抵御那些想要使用路由器默认标识符来访问无线网的攻击者。</a:t>
            </a:r>
            <a:endParaRPr lang="en-US" altLang="zh-CN" dirty="0"/>
          </a:p>
          <a:p>
            <a:pPr lvl="2">
              <a:lnSpc>
                <a:spcPct val="150000"/>
              </a:lnSpc>
            </a:pPr>
            <a:r>
              <a:rPr lang="zh-CN" altLang="en-US" dirty="0"/>
              <a:t>（</a:t>
            </a:r>
            <a:r>
              <a:rPr lang="en-US" altLang="zh-CN" dirty="0"/>
              <a:t>5</a:t>
            </a:r>
            <a:r>
              <a:rPr lang="zh-CN" altLang="en-US" dirty="0"/>
              <a:t>）</a:t>
            </a:r>
            <a:r>
              <a:rPr lang="zh-CN" altLang="en-US" dirty="0">
                <a:solidFill>
                  <a:srgbClr val="C00000"/>
                </a:solidFill>
              </a:rPr>
              <a:t>改变路由器的预设置密码</a:t>
            </a:r>
            <a:r>
              <a:rPr lang="zh-CN" altLang="en-US" dirty="0"/>
              <a:t>：这是另一个需要慎重使用的步骤。</a:t>
            </a:r>
            <a:endParaRPr lang="en-US" altLang="zh-CN" dirty="0"/>
          </a:p>
          <a:p>
            <a:pPr lvl="2">
              <a:lnSpc>
                <a:spcPct val="150000"/>
              </a:lnSpc>
            </a:pPr>
            <a:r>
              <a:rPr lang="zh-CN" altLang="en-US" dirty="0"/>
              <a:t>（</a:t>
            </a:r>
            <a:r>
              <a:rPr lang="en-US" altLang="zh-CN" dirty="0"/>
              <a:t>6</a:t>
            </a:r>
            <a:r>
              <a:rPr lang="zh-CN" altLang="en-US" dirty="0"/>
              <a:t>）只允许专用的计算机访问无线网络：一个路由器可以被配置成</a:t>
            </a:r>
            <a:r>
              <a:rPr lang="zh-CN" altLang="en-US" dirty="0">
                <a:solidFill>
                  <a:srgbClr val="C00000"/>
                </a:solidFill>
              </a:rPr>
              <a:t>只与允许的</a:t>
            </a:r>
            <a:r>
              <a:rPr lang="en-US" altLang="zh-CN" dirty="0">
                <a:solidFill>
                  <a:srgbClr val="C00000"/>
                </a:solidFill>
              </a:rPr>
              <a:t>MAC</a:t>
            </a:r>
            <a:r>
              <a:rPr lang="zh-CN" altLang="en-US" dirty="0">
                <a:solidFill>
                  <a:srgbClr val="C00000"/>
                </a:solidFill>
              </a:rPr>
              <a:t>地址通信</a:t>
            </a:r>
            <a:r>
              <a:rPr lang="zh-CN" altLang="en-US" dirty="0"/>
              <a:t>。当然，地址可以被伪造，所以这仅仅是安全措施中的一步。</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a:t>
            </a:fld>
            <a:endParaRPr kumimoji="1" lang="zh-CN" altLang="en-US" dirty="0"/>
          </a:p>
        </p:txBody>
      </p:sp>
    </p:spTree>
    <p:extLst>
      <p:ext uri="{BB962C8B-B14F-4D97-AF65-F5344CB8AC3E}">
        <p14:creationId xmlns:p14="http://schemas.microsoft.com/office/powerpoint/2010/main" val="3671559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lnSpc>
                <a:spcPct val="130000"/>
              </a:lnSpc>
              <a:buNone/>
            </a:pPr>
            <a:r>
              <a:rPr lang="en-US" altLang="zh-CN" dirty="0"/>
              <a:t>9.1 </a:t>
            </a:r>
            <a:r>
              <a:rPr lang="zh-CN" altLang="zh-CN" dirty="0"/>
              <a:t>无线安全</a:t>
            </a:r>
            <a:endParaRPr lang="en-US" altLang="zh-CN" dirty="0"/>
          </a:p>
          <a:p>
            <a:pPr>
              <a:lnSpc>
                <a:spcPct val="130000"/>
              </a:lnSpc>
              <a:buNone/>
            </a:pPr>
            <a:r>
              <a:rPr kumimoji="1" lang="en-US" altLang="zh-CN" sz="3000" dirty="0">
                <a:solidFill>
                  <a:srgbClr val="C00000"/>
                </a:solidFill>
              </a:rPr>
              <a:t>9.2 </a:t>
            </a:r>
            <a:r>
              <a:rPr kumimoji="1" lang="zh-CN" altLang="zh-CN" sz="3000" dirty="0">
                <a:solidFill>
                  <a:srgbClr val="C00000"/>
                </a:solidFill>
              </a:rPr>
              <a:t>移动设备安全</a:t>
            </a:r>
            <a:endParaRPr kumimoji="1" lang="en-US" altLang="zh-CN" sz="3000" dirty="0">
              <a:solidFill>
                <a:srgbClr val="C00000"/>
              </a:solidFill>
            </a:endParaRPr>
          </a:p>
          <a:p>
            <a:pPr>
              <a:lnSpc>
                <a:spcPct val="150000"/>
              </a:lnSpc>
              <a:buNone/>
            </a:pPr>
            <a:r>
              <a:rPr kumimoji="1" lang="en-US" altLang="zh-CN" sz="3000" dirty="0"/>
              <a:t>9.3 </a:t>
            </a:r>
            <a:r>
              <a:rPr lang="en-US" altLang="zh-CN" dirty="0"/>
              <a:t>IEEE 802.11i </a:t>
            </a:r>
            <a:r>
              <a:rPr lang="zh-CN" altLang="zh-CN" dirty="0"/>
              <a:t>无线局域网安全</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697683" y="2001577"/>
            <a:ext cx="4122717" cy="1703525"/>
          </a:xfrm>
          <a:prstGeom prst="wedgeRectCallout">
            <a:avLst>
              <a:gd name="adj1" fmla="val -105999"/>
              <a:gd name="adj2" fmla="val -3506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移动设备</a:t>
            </a:r>
            <a:r>
              <a:rPr kumimoji="1" lang="zh-CN" altLang="zh-CN" sz="2400" dirty="0">
                <a:solidFill>
                  <a:prstClr val="black"/>
                </a:solidFill>
                <a:latin typeface="Microsoft YaHei" panose="020B0503020204020204" pitchFamily="34" charset="-122"/>
                <a:ea typeface="Microsoft YaHei" panose="020B0503020204020204" pitchFamily="34" charset="-122"/>
              </a:rPr>
              <a:t>安全威胁</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移动设备安全策略</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8419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 </a:t>
            </a:r>
            <a:r>
              <a:rPr kumimoji="1" lang="zh-CN" altLang="en-US" dirty="0">
                <a:solidFill>
                  <a:prstClr val="black"/>
                </a:solidFill>
              </a:rPr>
              <a:t>移动设备</a:t>
            </a:r>
            <a:r>
              <a:rPr kumimoji="1" lang="zh-CN" altLang="zh-CN" dirty="0">
                <a:solidFill>
                  <a:prstClr val="black"/>
                </a:solidFill>
              </a:rPr>
              <a:t>安全</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solidFill>
                  <a:srgbClr val="C00000"/>
                </a:solidFill>
              </a:rPr>
              <a:t>移动设备安全（</a:t>
            </a:r>
            <a:r>
              <a:rPr lang="en-US" altLang="zh-CN" dirty="0">
                <a:solidFill>
                  <a:srgbClr val="C00000"/>
                </a:solidFill>
              </a:rPr>
              <a:t>Mobile Device Security</a:t>
            </a:r>
            <a:r>
              <a:rPr lang="zh-CN" altLang="en-US" dirty="0">
                <a:solidFill>
                  <a:srgbClr val="C00000"/>
                </a:solidFill>
              </a:rPr>
              <a:t>）</a:t>
            </a:r>
            <a:r>
              <a:rPr lang="zh-CN" altLang="en-US" dirty="0"/>
              <a:t>是指保护智能手机、平板电脑、可穿戴设备等移动终端免受恶意攻击、数据泄露或未授权访问的一系列技术和策略。随着移动设备的普及和业务场景的扩展（如移动办公、移动支付），其安全性已成为个人和企业关注的重点。</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17</a:t>
            </a:fld>
            <a:endParaRPr kumimoji="1" lang="zh-CN" altLang="en-US" dirty="0"/>
          </a:p>
        </p:txBody>
      </p:sp>
    </p:spTree>
    <p:extLst>
      <p:ext uri="{BB962C8B-B14F-4D97-AF65-F5344CB8AC3E}">
        <p14:creationId xmlns:p14="http://schemas.microsoft.com/office/powerpoint/2010/main" val="2790361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9.2.1 </a:t>
            </a:r>
            <a:r>
              <a:rPr kumimoji="1" lang="zh-CN" altLang="en-US" dirty="0">
                <a:solidFill>
                  <a:prstClr val="black"/>
                </a:solidFill>
              </a:rPr>
              <a:t>移动设备</a:t>
            </a:r>
            <a:r>
              <a:rPr kumimoji="1" lang="zh-CN" altLang="zh-CN" dirty="0">
                <a:solidFill>
                  <a:prstClr val="black"/>
                </a:solidFill>
              </a:rPr>
              <a:t>安全威胁</a:t>
            </a:r>
            <a:endParaRPr lang="zh-CN" altLang="en-US" dirty="0"/>
          </a:p>
        </p:txBody>
      </p:sp>
      <p:sp>
        <p:nvSpPr>
          <p:cNvPr id="3" name="内容占位符 2"/>
          <p:cNvSpPr>
            <a:spLocks noGrp="1"/>
          </p:cNvSpPr>
          <p:nvPr>
            <p:ph idx="1"/>
          </p:nvPr>
        </p:nvSpPr>
        <p:spPr/>
        <p:txBody>
          <a:bodyPr>
            <a:normAutofit fontScale="92500"/>
          </a:bodyPr>
          <a:lstStyle/>
          <a:p>
            <a:pPr>
              <a:lnSpc>
                <a:spcPct val="150000"/>
              </a:lnSpc>
            </a:pPr>
            <a:r>
              <a:rPr lang="zh-CN" altLang="en-US" dirty="0">
                <a:solidFill>
                  <a:srgbClr val="C00000"/>
                </a:solidFill>
              </a:rPr>
              <a:t>缺乏物理安全控制</a:t>
            </a:r>
            <a:r>
              <a:rPr lang="zh-CN" altLang="en-US" dirty="0"/>
              <a:t>：移动设备经常在脱离组织控制的情况下在各种各样的地点被携带和使用，包括在工作地点之外。因此，</a:t>
            </a:r>
            <a:r>
              <a:rPr lang="zh-CN" altLang="en-US" dirty="0">
                <a:solidFill>
                  <a:srgbClr val="C00000"/>
                </a:solidFill>
              </a:rPr>
              <a:t>盗窃和篡改</a:t>
            </a:r>
            <a:r>
              <a:rPr lang="zh-CN" altLang="en-US" dirty="0"/>
              <a:t>成了比较现实的威胁。威胁是两个方面的：恶意方也许会尝试恢复设备之中的机密信息，或者用这个设备去访问组织的网络获取资源。</a:t>
            </a:r>
            <a:endParaRPr lang="en-US" altLang="zh-CN" dirty="0"/>
          </a:p>
          <a:p>
            <a:pPr>
              <a:lnSpc>
                <a:spcPct val="150000"/>
              </a:lnSpc>
            </a:pPr>
            <a:r>
              <a:rPr lang="zh-CN" altLang="en-US" dirty="0">
                <a:solidFill>
                  <a:srgbClr val="C00000"/>
                </a:solidFill>
              </a:rPr>
              <a:t>不可信移动设备的使用</a:t>
            </a:r>
            <a:r>
              <a:rPr lang="zh-CN" altLang="en-US" dirty="0"/>
              <a:t>：移动设备被使用者完全控制，可以受控场所之外被使用和保管，即使置于受控场所，也可能在安全和不安全的地点之间移动，从而使偷窃和篡改成为可能。</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18</a:t>
            </a:fld>
            <a:endParaRPr kumimoji="1" lang="zh-CN" altLang="en-US" dirty="0"/>
          </a:p>
        </p:txBody>
      </p:sp>
    </p:spTree>
    <p:extLst>
      <p:ext uri="{BB962C8B-B14F-4D97-AF65-F5344CB8AC3E}">
        <p14:creationId xmlns:p14="http://schemas.microsoft.com/office/powerpoint/2010/main" val="625190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9.2.1 </a:t>
            </a:r>
            <a:r>
              <a:rPr kumimoji="1" lang="zh-CN" altLang="en-US" dirty="0">
                <a:solidFill>
                  <a:prstClr val="black"/>
                </a:solidFill>
              </a:rPr>
              <a:t>移动设备</a:t>
            </a:r>
            <a:r>
              <a:rPr kumimoji="1" lang="zh-CN" altLang="zh-CN" dirty="0">
                <a:solidFill>
                  <a:prstClr val="black"/>
                </a:solidFill>
              </a:rPr>
              <a:t>安全威胁</a:t>
            </a:r>
            <a:endParaRPr lang="zh-CN" altLang="en-US" dirty="0"/>
          </a:p>
        </p:txBody>
      </p:sp>
      <p:sp>
        <p:nvSpPr>
          <p:cNvPr id="3" name="内容占位符 2"/>
          <p:cNvSpPr>
            <a:spLocks noGrp="1"/>
          </p:cNvSpPr>
          <p:nvPr>
            <p:ph idx="1"/>
          </p:nvPr>
        </p:nvSpPr>
        <p:spPr>
          <a:xfrm>
            <a:off x="838200" y="1413164"/>
            <a:ext cx="10515600" cy="4684288"/>
          </a:xfrm>
        </p:spPr>
        <p:txBody>
          <a:bodyPr>
            <a:normAutofit fontScale="77500" lnSpcReduction="20000"/>
          </a:bodyPr>
          <a:lstStyle/>
          <a:p>
            <a:pPr>
              <a:lnSpc>
                <a:spcPct val="150000"/>
              </a:lnSpc>
            </a:pPr>
            <a:r>
              <a:rPr lang="zh-CN" altLang="en-US" dirty="0">
                <a:solidFill>
                  <a:srgbClr val="C00000"/>
                </a:solidFill>
              </a:rPr>
              <a:t>不可信网络的使用</a:t>
            </a:r>
            <a:r>
              <a:rPr lang="zh-CN" altLang="en-US" dirty="0"/>
              <a:t>：当在非工作场所使用时，用户一般先通过</a:t>
            </a:r>
            <a:r>
              <a:rPr lang="en-US" altLang="zh-CN" dirty="0"/>
              <a:t>Wi-Fi</a:t>
            </a:r>
            <a:r>
              <a:rPr lang="zh-CN" altLang="en-US" dirty="0"/>
              <a:t>或蜂窝连接到互联网，再从互联网连接到组织网络。因此，包括非工作场所部分的数据流具有潜在的被</a:t>
            </a:r>
            <a:r>
              <a:rPr lang="zh-CN" altLang="en-US" dirty="0">
                <a:solidFill>
                  <a:srgbClr val="C00000"/>
                </a:solidFill>
              </a:rPr>
              <a:t>监听和中间人攻击</a:t>
            </a:r>
            <a:r>
              <a:rPr lang="zh-CN" altLang="en-US" dirty="0"/>
              <a:t>的风险。安全政策必须假设移动设备和组织之间的网络是不可信的。</a:t>
            </a:r>
            <a:endParaRPr lang="en-US" altLang="zh-CN" dirty="0"/>
          </a:p>
          <a:p>
            <a:pPr>
              <a:lnSpc>
                <a:spcPct val="150000"/>
              </a:lnSpc>
            </a:pPr>
            <a:r>
              <a:rPr lang="zh-CN" altLang="en-US" dirty="0">
                <a:solidFill>
                  <a:srgbClr val="C00000"/>
                </a:solidFill>
              </a:rPr>
              <a:t>未知来源的应用程序的使用</a:t>
            </a:r>
            <a:r>
              <a:rPr lang="zh-CN" altLang="en-US" dirty="0"/>
              <a:t>：在移动设备上安装第三方应用是简单的，而这将面临安装恶意应用的风险。</a:t>
            </a:r>
            <a:endParaRPr lang="en-US" altLang="zh-CN" dirty="0"/>
          </a:p>
          <a:p>
            <a:pPr>
              <a:lnSpc>
                <a:spcPct val="150000"/>
              </a:lnSpc>
            </a:pPr>
            <a:r>
              <a:rPr lang="zh-CN" altLang="en-US" dirty="0">
                <a:solidFill>
                  <a:srgbClr val="C00000"/>
                </a:solidFill>
              </a:rPr>
              <a:t>与其他系统的相互作用：</a:t>
            </a:r>
            <a:r>
              <a:rPr lang="zh-CN" altLang="en-US" dirty="0"/>
              <a:t>智能手机和平板电脑都能同其他计算设备和基于云的存储器自动的同步数据、应用程序、照片、联系等。除非组织可以控制所有进行同步的设备，否则组织的数据被储存在不安全的地点会带来相当大的风险，而且有可能引恶意软件。</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19</a:t>
            </a:fld>
            <a:endParaRPr kumimoji="1" lang="zh-CN" altLang="en-US" dirty="0"/>
          </a:p>
        </p:txBody>
      </p:sp>
    </p:spTree>
    <p:extLst>
      <p:ext uri="{BB962C8B-B14F-4D97-AF65-F5344CB8AC3E}">
        <p14:creationId xmlns:p14="http://schemas.microsoft.com/office/powerpoint/2010/main" val="1182530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9.2.1 </a:t>
            </a:r>
            <a:r>
              <a:rPr kumimoji="1" lang="zh-CN" altLang="en-US" dirty="0">
                <a:solidFill>
                  <a:prstClr val="black"/>
                </a:solidFill>
              </a:rPr>
              <a:t>移动设备</a:t>
            </a:r>
            <a:r>
              <a:rPr kumimoji="1" lang="zh-CN" altLang="zh-CN" dirty="0">
                <a:solidFill>
                  <a:prstClr val="black"/>
                </a:solidFill>
              </a:rPr>
              <a:t>安全威胁</a:t>
            </a:r>
            <a:endParaRPr lang="zh-CN" altLang="en-US" dirty="0"/>
          </a:p>
        </p:txBody>
      </p:sp>
      <p:sp>
        <p:nvSpPr>
          <p:cNvPr id="3" name="内容占位符 2"/>
          <p:cNvSpPr>
            <a:spLocks noGrp="1"/>
          </p:cNvSpPr>
          <p:nvPr>
            <p:ph idx="1"/>
          </p:nvPr>
        </p:nvSpPr>
        <p:spPr/>
        <p:txBody>
          <a:bodyPr>
            <a:normAutofit fontScale="92500"/>
          </a:bodyPr>
          <a:lstStyle/>
          <a:p>
            <a:pPr>
              <a:lnSpc>
                <a:spcPct val="150000"/>
              </a:lnSpc>
            </a:pPr>
            <a:r>
              <a:rPr lang="zh-CN" altLang="en-US" dirty="0">
                <a:solidFill>
                  <a:srgbClr val="C00000"/>
                </a:solidFill>
              </a:rPr>
              <a:t>不安全内容的使用</a:t>
            </a:r>
            <a:r>
              <a:rPr lang="zh-CN" altLang="en-US" dirty="0"/>
              <a:t>：移动设备可能会访问和使用别的计算设备不会遇到的内容。一个例子就是</a:t>
            </a:r>
            <a:r>
              <a:rPr lang="zh-CN" altLang="en-US" dirty="0">
                <a:solidFill>
                  <a:srgbClr val="C00000"/>
                </a:solidFill>
              </a:rPr>
              <a:t>快速回复码（</a:t>
            </a:r>
            <a:r>
              <a:rPr lang="en-US" altLang="zh-CN" dirty="0">
                <a:solidFill>
                  <a:srgbClr val="C00000"/>
                </a:solidFill>
              </a:rPr>
              <a:t>QR</a:t>
            </a:r>
            <a:r>
              <a:rPr lang="zh-CN" altLang="en-US" dirty="0">
                <a:solidFill>
                  <a:srgbClr val="C00000"/>
                </a:solidFill>
              </a:rPr>
              <a:t>）</a:t>
            </a:r>
            <a:r>
              <a:rPr lang="zh-CN" altLang="en-US" dirty="0"/>
              <a:t>，它是一个二维条形码。</a:t>
            </a:r>
            <a:r>
              <a:rPr lang="en-US" altLang="zh-CN" dirty="0"/>
              <a:t>QR</a:t>
            </a:r>
            <a:r>
              <a:rPr lang="zh-CN" altLang="en-US" dirty="0"/>
              <a:t>码被移动设备的相机捕获，然后被移动设备使用。</a:t>
            </a:r>
            <a:r>
              <a:rPr lang="en-US" altLang="zh-CN" dirty="0"/>
              <a:t>QR</a:t>
            </a:r>
            <a:r>
              <a:rPr lang="zh-CN" altLang="en-US" dirty="0"/>
              <a:t>码可以被翻译成一个</a:t>
            </a:r>
            <a:r>
              <a:rPr lang="en-US" altLang="zh-CN" dirty="0"/>
              <a:t>URL</a:t>
            </a:r>
            <a:r>
              <a:rPr lang="zh-CN" altLang="en-US" dirty="0"/>
              <a:t>地址，恶意的</a:t>
            </a:r>
            <a:r>
              <a:rPr lang="en-US" altLang="zh-CN" dirty="0"/>
              <a:t>QR</a:t>
            </a:r>
            <a:r>
              <a:rPr lang="zh-CN" altLang="en-US" dirty="0"/>
              <a:t>码会将移动设备带到恶意网站中。</a:t>
            </a:r>
            <a:endParaRPr lang="en-US" altLang="zh-CN" dirty="0"/>
          </a:p>
          <a:p>
            <a:pPr>
              <a:lnSpc>
                <a:spcPct val="150000"/>
              </a:lnSpc>
            </a:pPr>
            <a:r>
              <a:rPr lang="zh-CN" altLang="en-US" dirty="0">
                <a:solidFill>
                  <a:srgbClr val="C00000"/>
                </a:solidFill>
              </a:rPr>
              <a:t>定位服务的使用</a:t>
            </a:r>
            <a:r>
              <a:rPr lang="zh-CN" altLang="en-US" dirty="0"/>
              <a:t>：移动设备上的</a:t>
            </a:r>
            <a:r>
              <a:rPr lang="en-US" altLang="zh-CN" dirty="0"/>
              <a:t>GPS</a:t>
            </a:r>
            <a:r>
              <a:rPr lang="zh-CN" altLang="en-US" dirty="0"/>
              <a:t>定位功能作为显示服务的一部分对组织很有用，但它会产生安全威胁。攻击者可以通过定位信息来确定设备和使用者的位置，对攻击者也许有用。</a:t>
            </a:r>
            <a:endParaRPr lang="en-US" altLang="zh-CN"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Tree>
    <p:extLst>
      <p:ext uri="{BB962C8B-B14F-4D97-AF65-F5344CB8AC3E}">
        <p14:creationId xmlns:p14="http://schemas.microsoft.com/office/powerpoint/2010/main" val="985253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9.2.2 </a:t>
            </a:r>
            <a:r>
              <a:rPr kumimoji="1" lang="zh-CN" altLang="zh-CN" dirty="0">
                <a:solidFill>
                  <a:prstClr val="black"/>
                </a:solidFill>
              </a:rPr>
              <a:t>移动设备安全策略</a:t>
            </a:r>
            <a:endParaRPr lang="zh-CN" altLang="en-US" dirty="0"/>
          </a:p>
        </p:txBody>
      </p:sp>
      <p:sp>
        <p:nvSpPr>
          <p:cNvPr id="3" name="内容占位符 2"/>
          <p:cNvSpPr>
            <a:spLocks noGrp="1"/>
          </p:cNvSpPr>
          <p:nvPr>
            <p:ph idx="1"/>
          </p:nvPr>
        </p:nvSpPr>
        <p:spPr>
          <a:xfrm>
            <a:off x="838200" y="1377537"/>
            <a:ext cx="10515600" cy="4999511"/>
          </a:xfrm>
        </p:spPr>
        <p:txBody>
          <a:bodyPr>
            <a:normAutofit fontScale="92500" lnSpcReduction="20000"/>
          </a:bodyPr>
          <a:lstStyle/>
          <a:p>
            <a:r>
              <a:rPr lang="zh-CN" altLang="en-US" dirty="0">
                <a:solidFill>
                  <a:srgbClr val="C00000"/>
                </a:solidFill>
              </a:rPr>
              <a:t>设备安全</a:t>
            </a:r>
            <a:endParaRPr lang="en-US" altLang="zh-CN" dirty="0">
              <a:solidFill>
                <a:srgbClr val="C00000"/>
              </a:solidFill>
            </a:endParaRPr>
          </a:p>
          <a:p>
            <a:pPr lvl="1">
              <a:lnSpc>
                <a:spcPct val="130000"/>
              </a:lnSpc>
            </a:pPr>
            <a:r>
              <a:rPr lang="zh-CN" altLang="en-US" b="1" dirty="0"/>
              <a:t>开启自动锁定</a:t>
            </a:r>
            <a:r>
              <a:rPr lang="zh-CN" altLang="en-US" dirty="0"/>
              <a:t>：一段时间未使用自动上锁。</a:t>
            </a:r>
            <a:endParaRPr lang="en-US" altLang="zh-CN" dirty="0"/>
          </a:p>
          <a:p>
            <a:pPr lvl="1">
              <a:lnSpc>
                <a:spcPct val="130000"/>
              </a:lnSpc>
            </a:pPr>
            <a:r>
              <a:rPr lang="zh-CN" altLang="en-US" b="1" dirty="0"/>
              <a:t>开启</a:t>
            </a:r>
            <a:r>
              <a:rPr lang="zh-CN" altLang="en-US" dirty="0">
                <a:solidFill>
                  <a:srgbClr val="C00000"/>
                </a:solidFill>
              </a:rPr>
              <a:t>密码或</a:t>
            </a:r>
            <a:r>
              <a:rPr lang="en-US" altLang="zh-CN" dirty="0">
                <a:solidFill>
                  <a:srgbClr val="C00000"/>
                </a:solidFill>
              </a:rPr>
              <a:t>PIN</a:t>
            </a:r>
            <a:r>
              <a:rPr lang="zh-CN" altLang="en-US" dirty="0">
                <a:solidFill>
                  <a:srgbClr val="C00000"/>
                </a:solidFill>
              </a:rPr>
              <a:t>码保护</a:t>
            </a:r>
            <a:r>
              <a:rPr lang="zh-CN" altLang="en-US" dirty="0"/>
              <a:t>：</a:t>
            </a:r>
            <a:r>
              <a:rPr lang="en-US" altLang="zh-CN" dirty="0"/>
              <a:t>PIN</a:t>
            </a:r>
            <a:r>
              <a:rPr lang="zh-CN" altLang="en-US" dirty="0"/>
              <a:t>码或密码是用来解锁设备的。另外，可以将设备配置成</a:t>
            </a:r>
            <a:r>
              <a:rPr lang="en-US" altLang="zh-CN" dirty="0"/>
              <a:t>E-mail</a:t>
            </a:r>
            <a:r>
              <a:rPr lang="zh-CN" altLang="en-US" dirty="0"/>
              <a:t>以及设备上的其他数据都使用密码或</a:t>
            </a:r>
            <a:r>
              <a:rPr lang="en-US" altLang="zh-CN" dirty="0"/>
              <a:t>PIN</a:t>
            </a:r>
            <a:r>
              <a:rPr lang="zh-CN" altLang="en-US" dirty="0"/>
              <a:t>码加密并且只能采用密码或</a:t>
            </a:r>
            <a:r>
              <a:rPr lang="en-US" altLang="zh-CN" dirty="0"/>
              <a:t>PIN</a:t>
            </a:r>
            <a:r>
              <a:rPr lang="zh-CN" altLang="en-US" dirty="0"/>
              <a:t>码恢复出来。</a:t>
            </a:r>
            <a:endParaRPr lang="en-US" altLang="zh-CN" dirty="0"/>
          </a:p>
          <a:p>
            <a:pPr lvl="1">
              <a:lnSpc>
                <a:spcPct val="130000"/>
              </a:lnSpc>
            </a:pPr>
            <a:r>
              <a:rPr lang="zh-CN" altLang="en-US" b="1" dirty="0"/>
              <a:t>避免</a:t>
            </a:r>
            <a:r>
              <a:rPr lang="zh-CN" altLang="en-US" dirty="0"/>
              <a:t>使用用户名和密码的</a:t>
            </a:r>
            <a:r>
              <a:rPr lang="zh-CN" altLang="en-US" b="1" dirty="0"/>
              <a:t>自动保存</a:t>
            </a:r>
            <a:r>
              <a:rPr lang="zh-CN" altLang="en-US" dirty="0"/>
              <a:t>。</a:t>
            </a:r>
            <a:endParaRPr lang="en-US" altLang="zh-CN" dirty="0"/>
          </a:p>
          <a:p>
            <a:pPr lvl="1">
              <a:lnSpc>
                <a:spcPct val="130000"/>
              </a:lnSpc>
            </a:pPr>
            <a:r>
              <a:rPr lang="zh-CN" altLang="en-US" b="1" dirty="0"/>
              <a:t>开启远程擦除</a:t>
            </a:r>
            <a:r>
              <a:rPr lang="zh-CN" altLang="en-US" dirty="0"/>
              <a:t>。</a:t>
            </a:r>
            <a:endParaRPr lang="en-US" altLang="zh-CN" dirty="0"/>
          </a:p>
          <a:p>
            <a:pPr lvl="1">
              <a:lnSpc>
                <a:spcPct val="130000"/>
              </a:lnSpc>
            </a:pPr>
            <a:r>
              <a:rPr lang="zh-CN" altLang="en-US" dirty="0"/>
              <a:t>如果</a:t>
            </a:r>
            <a:r>
              <a:rPr lang="en-US" altLang="zh-CN" dirty="0"/>
              <a:t>SSL</a:t>
            </a:r>
            <a:r>
              <a:rPr lang="zh-CN" altLang="en-US" dirty="0"/>
              <a:t>可以使用，</a:t>
            </a:r>
            <a:r>
              <a:rPr lang="zh-CN" altLang="en-US" b="1" dirty="0"/>
              <a:t>保证</a:t>
            </a:r>
            <a:r>
              <a:rPr lang="en-US" altLang="zh-CN" b="1" dirty="0"/>
              <a:t>SSL</a:t>
            </a:r>
            <a:r>
              <a:rPr lang="zh-CN" altLang="en-US" b="1" dirty="0"/>
              <a:t>保护被启用</a:t>
            </a:r>
            <a:r>
              <a:rPr lang="zh-CN" altLang="en-US" dirty="0"/>
              <a:t>。</a:t>
            </a:r>
            <a:endParaRPr lang="en-US" altLang="zh-CN" dirty="0"/>
          </a:p>
          <a:p>
            <a:pPr lvl="1">
              <a:lnSpc>
                <a:spcPct val="130000"/>
              </a:lnSpc>
            </a:pPr>
            <a:r>
              <a:rPr lang="zh-CN" altLang="en-US" dirty="0"/>
              <a:t>保证软件，包括操作系统和应用程序是</a:t>
            </a:r>
            <a:r>
              <a:rPr lang="zh-CN" altLang="en-US" b="1" dirty="0"/>
              <a:t>实时更新</a:t>
            </a:r>
            <a:r>
              <a:rPr lang="zh-CN" altLang="en-US" dirty="0"/>
              <a:t>的。</a:t>
            </a:r>
            <a:endParaRPr lang="en-US" altLang="zh-CN" dirty="0"/>
          </a:p>
          <a:p>
            <a:pPr lvl="1">
              <a:lnSpc>
                <a:spcPct val="130000"/>
              </a:lnSpc>
            </a:pPr>
            <a:r>
              <a:rPr lang="zh-CN" altLang="en-US" b="1" dirty="0"/>
              <a:t>安装杀毒软件</a:t>
            </a:r>
            <a:r>
              <a:rPr lang="zh-CN" altLang="en-US" dirty="0"/>
              <a:t>。</a:t>
            </a:r>
            <a:endParaRPr lang="en-US" altLang="zh-CN" dirty="0"/>
          </a:p>
          <a:p>
            <a:pPr lvl="1">
              <a:lnSpc>
                <a:spcPct val="130000"/>
              </a:lnSpc>
            </a:pPr>
            <a:r>
              <a:rPr lang="zh-CN" altLang="en-US" dirty="0"/>
              <a:t>敏感信息或者</a:t>
            </a:r>
            <a:r>
              <a:rPr lang="zh-CN" altLang="en-US" b="1" dirty="0"/>
              <a:t>禁止储存</a:t>
            </a:r>
            <a:r>
              <a:rPr lang="zh-CN" altLang="en-US" dirty="0"/>
              <a:t>在移动设备上，或者加密。</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21</a:t>
            </a:fld>
            <a:endParaRPr kumimoji="1" lang="zh-CN" altLang="en-US" dirty="0"/>
          </a:p>
        </p:txBody>
      </p:sp>
    </p:spTree>
    <p:extLst>
      <p:ext uri="{BB962C8B-B14F-4D97-AF65-F5344CB8AC3E}">
        <p14:creationId xmlns:p14="http://schemas.microsoft.com/office/powerpoint/2010/main" val="415956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9.2.2 </a:t>
            </a:r>
            <a:r>
              <a:rPr kumimoji="1" lang="zh-CN" altLang="zh-CN" dirty="0">
                <a:solidFill>
                  <a:prstClr val="black"/>
                </a:solidFill>
              </a:rPr>
              <a:t>移动设备安全策略</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solidFill>
                  <a:srgbClr val="C00000"/>
                </a:solidFill>
              </a:rPr>
              <a:t>设备安全</a:t>
            </a:r>
            <a:endParaRPr lang="en-US" altLang="zh-CN" dirty="0">
              <a:solidFill>
                <a:srgbClr val="C00000"/>
              </a:solidFill>
            </a:endParaRPr>
          </a:p>
          <a:p>
            <a:pPr lvl="1">
              <a:lnSpc>
                <a:spcPct val="130000"/>
              </a:lnSpc>
            </a:pPr>
            <a:r>
              <a:rPr lang="en-US" altLang="zh-CN" dirty="0"/>
              <a:t>IT</a:t>
            </a:r>
            <a:r>
              <a:rPr lang="zh-CN" altLang="en-US" dirty="0"/>
              <a:t>员工要</a:t>
            </a:r>
            <a:r>
              <a:rPr lang="zh-CN" altLang="en-US" b="1" dirty="0"/>
              <a:t>能远程访问设备、擦除设备</a:t>
            </a:r>
            <a:r>
              <a:rPr lang="zh-CN" altLang="en-US" dirty="0"/>
              <a:t>上的所有数据以及当设备丢失或被盗窃时，</a:t>
            </a:r>
            <a:r>
              <a:rPr lang="zh-CN" altLang="en-US" b="1" dirty="0"/>
              <a:t>禁用</a:t>
            </a:r>
            <a:r>
              <a:rPr lang="zh-CN" altLang="en-US" dirty="0"/>
              <a:t>设备的能力。</a:t>
            </a:r>
            <a:endParaRPr lang="en-US" altLang="zh-CN" dirty="0"/>
          </a:p>
          <a:p>
            <a:pPr lvl="1">
              <a:lnSpc>
                <a:spcPct val="130000"/>
              </a:lnSpc>
            </a:pPr>
            <a:r>
              <a:rPr lang="zh-CN" altLang="en-US" dirty="0"/>
              <a:t>组织可以</a:t>
            </a:r>
            <a:r>
              <a:rPr lang="zh-CN" altLang="en-US" b="1" dirty="0"/>
              <a:t>禁止所有的第三方软件的安装</a:t>
            </a:r>
            <a:r>
              <a:rPr lang="zh-CN" altLang="en-US" dirty="0"/>
              <a:t>，列出白名单以禁止不被允许的应用程序的安装，或者实现一个</a:t>
            </a:r>
            <a:r>
              <a:rPr lang="zh-CN" altLang="en-US" b="1" dirty="0"/>
              <a:t>安全沙箱</a:t>
            </a:r>
            <a:r>
              <a:rPr lang="zh-CN" altLang="en-US" dirty="0"/>
              <a:t>来将组织的数据和应用程序跟移动设备上的数据和应用程序</a:t>
            </a:r>
            <a:r>
              <a:rPr lang="zh-CN" altLang="en-US" b="1" dirty="0"/>
              <a:t>隔离</a:t>
            </a:r>
            <a:r>
              <a:rPr lang="zh-CN" altLang="en-US" dirty="0"/>
              <a:t>开来。任何被允许的应用程序都</a:t>
            </a:r>
            <a:r>
              <a:rPr lang="zh-CN" altLang="en-US" b="1" dirty="0"/>
              <a:t>必须具有合法机构的数字签名和公钥证书</a:t>
            </a:r>
            <a:r>
              <a:rPr lang="zh-CN" altLang="en-US" dirty="0"/>
              <a:t>。</a:t>
            </a:r>
            <a:endParaRPr lang="en-US" altLang="zh-CN" dirty="0"/>
          </a:p>
          <a:p>
            <a:pPr lvl="1">
              <a:lnSpc>
                <a:spcPct val="130000"/>
              </a:lnSpc>
            </a:pPr>
            <a:r>
              <a:rPr lang="zh-CN" altLang="en-US" dirty="0"/>
              <a:t>组织应该对哪些设备可以</a:t>
            </a:r>
            <a:r>
              <a:rPr lang="zh-CN" altLang="en-US" b="1" dirty="0"/>
              <a:t>同步以及对云端存储的使用实施限制</a:t>
            </a:r>
            <a:r>
              <a:rPr lang="zh-CN" altLang="en-US" dirty="0"/>
              <a:t>。</a:t>
            </a:r>
            <a:endParaRPr lang="en-US" altLang="zh-CN" dirty="0"/>
          </a:p>
          <a:p>
            <a:pPr lvl="1">
              <a:lnSpc>
                <a:spcPct val="130000"/>
              </a:lnSpc>
            </a:pPr>
            <a:r>
              <a:rPr lang="zh-CN" altLang="en-US" dirty="0"/>
              <a:t>为了解决不可信内容带来的威胁，对全体员工就不可信内容固有的风险进行安全培训，并且</a:t>
            </a:r>
            <a:r>
              <a:rPr lang="zh-CN" altLang="en-US" b="1" dirty="0"/>
              <a:t>禁止企业移动设备使用照相机功能</a:t>
            </a:r>
            <a:r>
              <a:rPr lang="zh-CN" altLang="en-US" dirty="0"/>
              <a:t>。</a:t>
            </a:r>
            <a:endParaRPr lang="en-US" altLang="zh-CN" dirty="0"/>
          </a:p>
          <a:p>
            <a:pPr lvl="1">
              <a:lnSpc>
                <a:spcPct val="130000"/>
              </a:lnSpc>
            </a:pPr>
            <a:r>
              <a:rPr lang="zh-CN" altLang="en-US" dirty="0"/>
              <a:t>为了对抗定位服务被恶意使用而造成的威胁，安全政策中可以</a:t>
            </a:r>
            <a:r>
              <a:rPr lang="zh-CN" altLang="en-US" b="1" dirty="0"/>
              <a:t>禁止所有移动设备</a:t>
            </a:r>
            <a:r>
              <a:rPr lang="zh-CN" altLang="en-US" dirty="0"/>
              <a:t>使用此类服务。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22</a:t>
            </a:fld>
            <a:endParaRPr kumimoji="1" lang="zh-CN" altLang="en-US" dirty="0"/>
          </a:p>
        </p:txBody>
      </p:sp>
    </p:spTree>
    <p:extLst>
      <p:ext uri="{BB962C8B-B14F-4D97-AF65-F5344CB8AC3E}">
        <p14:creationId xmlns:p14="http://schemas.microsoft.com/office/powerpoint/2010/main" val="4046586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9.2.2 </a:t>
            </a:r>
            <a:r>
              <a:rPr kumimoji="1" lang="zh-CN" altLang="zh-CN" dirty="0">
                <a:solidFill>
                  <a:prstClr val="black"/>
                </a:solidFill>
              </a:rPr>
              <a:t>移动设备安全策略</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数据流安全</a:t>
            </a:r>
            <a:endParaRPr lang="en-US" altLang="zh-CN" dirty="0">
              <a:solidFill>
                <a:srgbClr val="C00000"/>
              </a:solidFill>
            </a:endParaRPr>
          </a:p>
          <a:p>
            <a:pPr lvl="1">
              <a:lnSpc>
                <a:spcPct val="150000"/>
              </a:lnSpc>
            </a:pPr>
            <a:r>
              <a:rPr lang="zh-CN" altLang="en-US" dirty="0"/>
              <a:t>基于常规的</a:t>
            </a:r>
            <a:r>
              <a:rPr lang="zh-CN" altLang="en-US" b="1" dirty="0"/>
              <a:t>加密</a:t>
            </a:r>
            <a:r>
              <a:rPr lang="zh-CN" altLang="en-US" dirty="0"/>
              <a:t>和</a:t>
            </a:r>
            <a:r>
              <a:rPr lang="zh-CN" altLang="en-US" b="1" dirty="0"/>
              <a:t>认证</a:t>
            </a:r>
            <a:r>
              <a:rPr lang="zh-CN" altLang="en-US" dirty="0"/>
              <a:t>机制，所有数据流必须加密而且使用安全方式传输，如</a:t>
            </a:r>
            <a:r>
              <a:rPr lang="en-US" altLang="zh-CN" dirty="0"/>
              <a:t>SSL/TLS</a:t>
            </a:r>
            <a:r>
              <a:rPr lang="zh-CN" altLang="en-US" dirty="0"/>
              <a:t>或者</a:t>
            </a:r>
            <a:r>
              <a:rPr lang="en-US" altLang="zh-CN" dirty="0"/>
              <a:t>IPv6</a:t>
            </a:r>
            <a:r>
              <a:rPr lang="zh-CN" altLang="en-US" dirty="0"/>
              <a:t>。配置</a:t>
            </a:r>
            <a:r>
              <a:rPr lang="en-US" altLang="zh-CN" dirty="0"/>
              <a:t>VPN</a:t>
            </a:r>
            <a:r>
              <a:rPr lang="zh-CN" altLang="en-US" dirty="0"/>
              <a:t>以便在移动设备和组织间所有数据流都通过</a:t>
            </a:r>
            <a:r>
              <a:rPr lang="en-US" altLang="zh-CN" dirty="0"/>
              <a:t>VPN</a:t>
            </a:r>
            <a:r>
              <a:rPr lang="zh-CN" altLang="en-US" dirty="0"/>
              <a:t>。</a:t>
            </a:r>
            <a:endParaRPr lang="en-US" altLang="zh-CN" dirty="0"/>
          </a:p>
          <a:p>
            <a:pPr lvl="1">
              <a:lnSpc>
                <a:spcPct val="150000"/>
              </a:lnSpc>
            </a:pPr>
            <a:r>
              <a:rPr lang="zh-CN" altLang="en-US" dirty="0"/>
              <a:t>一个强大的认证协议可以用来限制设备获取组织资源。通常一个移动设备都只有一个专用设备认证者，一个更好的策略是采用</a:t>
            </a:r>
            <a:r>
              <a:rPr lang="zh-CN" altLang="en-US" b="1" dirty="0"/>
              <a:t>两层认证机制</a:t>
            </a:r>
            <a:r>
              <a:rPr lang="zh-CN" altLang="en-US" dirty="0"/>
              <a:t>，包括先认证设备和再认证使用设备的用户。</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23</a:t>
            </a:fld>
            <a:endParaRPr kumimoji="1" lang="zh-CN" altLang="en-US" dirty="0"/>
          </a:p>
        </p:txBody>
      </p:sp>
    </p:spTree>
    <p:extLst>
      <p:ext uri="{BB962C8B-B14F-4D97-AF65-F5344CB8AC3E}">
        <p14:creationId xmlns:p14="http://schemas.microsoft.com/office/powerpoint/2010/main" val="490420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9.2.2 </a:t>
            </a:r>
            <a:r>
              <a:rPr kumimoji="1" lang="zh-CN" altLang="zh-CN" dirty="0">
                <a:solidFill>
                  <a:prstClr val="black"/>
                </a:solidFill>
              </a:rPr>
              <a:t>移动设备安全策略</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屏障安全</a:t>
            </a:r>
            <a:endParaRPr lang="en-US" altLang="zh-CN" dirty="0">
              <a:solidFill>
                <a:srgbClr val="C00000"/>
              </a:solidFill>
            </a:endParaRPr>
          </a:p>
          <a:p>
            <a:pPr lvl="1">
              <a:lnSpc>
                <a:spcPct val="150000"/>
              </a:lnSpc>
            </a:pPr>
            <a:r>
              <a:rPr lang="zh-CN" altLang="en-US" dirty="0"/>
              <a:t>组织需要有安全机制保证不合法的访问会被阻拦。这种安全策略也包括专门针对移动数据流的</a:t>
            </a:r>
            <a:r>
              <a:rPr lang="zh-CN" altLang="en-US" b="1" dirty="0"/>
              <a:t>防火墙</a:t>
            </a:r>
            <a:r>
              <a:rPr lang="zh-CN" altLang="en-US" dirty="0"/>
              <a:t>。防火墙政策可以限制所有移动设备的数据和应用程序的访问范围。</a:t>
            </a:r>
            <a:endParaRPr lang="en-US" altLang="zh-CN" dirty="0"/>
          </a:p>
          <a:p>
            <a:pPr lvl="1">
              <a:lnSpc>
                <a:spcPct val="150000"/>
              </a:lnSpc>
            </a:pPr>
            <a:r>
              <a:rPr lang="zh-CN" altLang="en-US" dirty="0"/>
              <a:t>同样的，可以对</a:t>
            </a:r>
            <a:r>
              <a:rPr lang="zh-CN" altLang="en-US" b="1" dirty="0"/>
              <a:t>入侵检测</a:t>
            </a:r>
            <a:r>
              <a:rPr lang="zh-CN" altLang="en-US" dirty="0"/>
              <a:t>和</a:t>
            </a:r>
            <a:r>
              <a:rPr lang="zh-CN" altLang="en-US" b="1" dirty="0"/>
              <a:t>入侵预防系统</a:t>
            </a:r>
            <a:r>
              <a:rPr lang="zh-CN" altLang="en-US" dirty="0"/>
              <a:t>进行配置，以便对移动设备的数据流有更加严格的规则。</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24</a:t>
            </a:fld>
            <a:endParaRPr kumimoji="1" lang="zh-CN" altLang="en-US" dirty="0"/>
          </a:p>
        </p:txBody>
      </p:sp>
    </p:spTree>
    <p:extLst>
      <p:ext uri="{BB962C8B-B14F-4D97-AF65-F5344CB8AC3E}">
        <p14:creationId xmlns:p14="http://schemas.microsoft.com/office/powerpoint/2010/main" val="1597609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lnSpc>
                <a:spcPct val="130000"/>
              </a:lnSpc>
              <a:buNone/>
            </a:pPr>
            <a:r>
              <a:rPr lang="en-US" altLang="zh-CN" dirty="0"/>
              <a:t>9.1 </a:t>
            </a:r>
            <a:r>
              <a:rPr lang="zh-CN" altLang="zh-CN" dirty="0"/>
              <a:t>无线安全</a:t>
            </a:r>
            <a:endParaRPr lang="en-US" altLang="zh-CN" dirty="0"/>
          </a:p>
          <a:p>
            <a:pPr>
              <a:lnSpc>
                <a:spcPct val="130000"/>
              </a:lnSpc>
              <a:buNone/>
            </a:pPr>
            <a:r>
              <a:rPr lang="en-US" altLang="zh-CN" dirty="0"/>
              <a:t>9.2 </a:t>
            </a:r>
            <a:r>
              <a:rPr lang="zh-CN" altLang="zh-CN" dirty="0"/>
              <a:t>移动设备安全</a:t>
            </a:r>
            <a:endParaRPr lang="en-US" altLang="zh-CN" dirty="0"/>
          </a:p>
          <a:p>
            <a:pPr>
              <a:lnSpc>
                <a:spcPct val="150000"/>
              </a:lnSpc>
              <a:buNone/>
            </a:pPr>
            <a:r>
              <a:rPr kumimoji="1" lang="en-US" altLang="zh-CN" sz="3000" dirty="0">
                <a:solidFill>
                  <a:srgbClr val="C00000"/>
                </a:solidFill>
              </a:rPr>
              <a:t>9.3 IEEE 802.11i </a:t>
            </a:r>
            <a:r>
              <a:rPr kumimoji="1" lang="zh-CN" altLang="zh-CN" sz="3000" dirty="0">
                <a:solidFill>
                  <a:srgbClr val="C00000"/>
                </a:solidFill>
              </a:rPr>
              <a:t>无线局域网安全</a:t>
            </a:r>
            <a:endParaRPr kumimoji="1" lang="en-US" altLang="zh-CN" sz="3000" dirty="0">
              <a:solidFill>
                <a:srgbClr val="C0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466961" y="1436914"/>
            <a:ext cx="4122717" cy="4560125"/>
          </a:xfrm>
          <a:prstGeom prst="wedgeRectCallout">
            <a:avLst>
              <a:gd name="adj1" fmla="val -66826"/>
              <a:gd name="adj2" fmla="val -1541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IEEE 802.11i </a:t>
            </a:r>
            <a:r>
              <a:rPr kumimoji="1" lang="zh-CN" altLang="zh-CN" sz="2400" dirty="0">
                <a:solidFill>
                  <a:prstClr val="black"/>
                </a:solidFill>
                <a:latin typeface="Microsoft YaHei" panose="020B0503020204020204" pitchFamily="34" charset="-122"/>
                <a:ea typeface="Microsoft YaHei" panose="020B0503020204020204" pitchFamily="34" charset="-122"/>
              </a:rPr>
              <a:t>服务</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IEEE 802.11i </a:t>
            </a:r>
            <a:r>
              <a:rPr kumimoji="1" lang="zh-CN" altLang="zh-CN" sz="2400" dirty="0">
                <a:solidFill>
                  <a:prstClr val="black"/>
                </a:solidFill>
                <a:latin typeface="Microsoft YaHei" panose="020B0503020204020204" pitchFamily="34" charset="-122"/>
                <a:ea typeface="Microsoft YaHei" panose="020B0503020204020204" pitchFamily="34" charset="-122"/>
              </a:rPr>
              <a:t>操作阶段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发现阶段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认证阶段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密钥管理阶段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保密数据传输阶段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IEEE 80211i </a:t>
            </a:r>
            <a:r>
              <a:rPr kumimoji="1" lang="zh-CN" altLang="zh-CN" sz="2400" dirty="0">
                <a:solidFill>
                  <a:prstClr val="black"/>
                </a:solidFill>
                <a:latin typeface="Microsoft YaHei" panose="020B0503020204020204" pitchFamily="34" charset="-122"/>
                <a:ea typeface="Microsoft YaHei" panose="020B0503020204020204" pitchFamily="34" charset="-122"/>
              </a:rPr>
              <a:t>伪随机数函数</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9875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9.3 </a:t>
            </a:r>
            <a:r>
              <a:rPr kumimoji="1" lang="en-US" altLang="zh-CN" dirty="0"/>
              <a:t>IEEE 802.11i </a:t>
            </a:r>
            <a:r>
              <a:rPr kumimoji="1" lang="zh-CN" altLang="zh-CN" dirty="0"/>
              <a:t>无线局域网安全</a:t>
            </a:r>
            <a:endParaRPr lang="zh-CN" altLang="en-US" dirty="0"/>
          </a:p>
        </p:txBody>
      </p:sp>
      <p:sp>
        <p:nvSpPr>
          <p:cNvPr id="3" name="内容占位符 2"/>
          <p:cNvSpPr>
            <a:spLocks noGrp="1"/>
          </p:cNvSpPr>
          <p:nvPr>
            <p:ph idx="1"/>
          </p:nvPr>
        </p:nvSpPr>
        <p:spPr/>
        <p:txBody>
          <a:bodyPr>
            <a:normAutofit/>
          </a:bodyPr>
          <a:lstStyle/>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26</a:t>
            </a:fld>
            <a:endParaRPr kumimoji="1" lang="zh-CN" altLang="en-US" dirty="0"/>
          </a:p>
        </p:txBody>
      </p:sp>
      <p:graphicFrame>
        <p:nvGraphicFramePr>
          <p:cNvPr id="5" name="表格 11">
            <a:extLst>
              <a:ext uri="{FF2B5EF4-FFF2-40B4-BE49-F238E27FC236}">
                <a16:creationId xmlns:a16="http://schemas.microsoft.com/office/drawing/2014/main" id="{5BC683BB-3C8F-4415-9BAC-883DDEF08913}"/>
              </a:ext>
            </a:extLst>
          </p:cNvPr>
          <p:cNvGraphicFramePr>
            <a:graphicFrameLocks noGrp="1"/>
          </p:cNvGraphicFramePr>
          <p:nvPr>
            <p:extLst>
              <p:ext uri="{D42A27DB-BD31-4B8C-83A1-F6EECF244321}">
                <p14:modId xmlns:p14="http://schemas.microsoft.com/office/powerpoint/2010/main" val="2790698427"/>
              </p:ext>
            </p:extLst>
          </p:nvPr>
        </p:nvGraphicFramePr>
        <p:xfrm>
          <a:off x="285010" y="1299593"/>
          <a:ext cx="11649690" cy="4939663"/>
        </p:xfrm>
        <a:graphic>
          <a:graphicData uri="http://schemas.openxmlformats.org/drawingml/2006/table">
            <a:tbl>
              <a:tblPr firstRow="1" bandRow="1">
                <a:tableStyleId>{5C22544A-7EE6-4342-B048-85BDC9FD1C3A}</a:tableStyleId>
              </a:tblPr>
              <a:tblGrid>
                <a:gridCol w="1569371">
                  <a:extLst>
                    <a:ext uri="{9D8B030D-6E8A-4147-A177-3AD203B41FA5}">
                      <a16:colId xmlns:a16="http://schemas.microsoft.com/office/drawing/2014/main" val="407706952"/>
                    </a:ext>
                  </a:extLst>
                </a:gridCol>
                <a:gridCol w="2183229">
                  <a:extLst>
                    <a:ext uri="{9D8B030D-6E8A-4147-A177-3AD203B41FA5}">
                      <a16:colId xmlns:a16="http://schemas.microsoft.com/office/drawing/2014/main" val="1318810713"/>
                    </a:ext>
                  </a:extLst>
                </a:gridCol>
                <a:gridCol w="7897090">
                  <a:extLst>
                    <a:ext uri="{9D8B030D-6E8A-4147-A177-3AD203B41FA5}">
                      <a16:colId xmlns:a16="http://schemas.microsoft.com/office/drawing/2014/main" val="2336882069"/>
                    </a:ext>
                  </a:extLst>
                </a:gridCol>
              </a:tblGrid>
              <a:tr h="674495">
                <a:tc>
                  <a:txBody>
                    <a:bodyPr/>
                    <a:lstStyle/>
                    <a:p>
                      <a:pPr algn="ctr">
                        <a:lnSpc>
                          <a:spcPct val="150000"/>
                        </a:lnSpc>
                      </a:pPr>
                      <a:r>
                        <a:rPr lang="zh-CN" altLang="en-US" sz="2400" b="0" dirty="0">
                          <a:latin typeface="微软雅黑" panose="020B0503020204020204" pitchFamily="34" charset="-122"/>
                          <a:ea typeface="微软雅黑" panose="020B0503020204020204" pitchFamily="34" charset="-122"/>
                        </a:rPr>
                        <a:t>年份</a:t>
                      </a:r>
                    </a:p>
                  </a:txBody>
                  <a:tcPr anchor="ctr">
                    <a:solidFill>
                      <a:srgbClr val="7030A0"/>
                    </a:solidFill>
                  </a:tcPr>
                </a:tc>
                <a:tc>
                  <a:txBody>
                    <a:bodyPr/>
                    <a:lstStyle/>
                    <a:p>
                      <a:pPr algn="ctr">
                        <a:lnSpc>
                          <a:spcPct val="150000"/>
                        </a:lnSpc>
                      </a:pPr>
                      <a:r>
                        <a:rPr lang="zh-CN" altLang="en-US" sz="2400" b="0" dirty="0">
                          <a:latin typeface="微软雅黑" panose="020B0503020204020204" pitchFamily="34" charset="-122"/>
                          <a:ea typeface="微软雅黑" panose="020B0503020204020204" pitchFamily="34" charset="-122"/>
                        </a:rPr>
                        <a:t>无线加密协议</a:t>
                      </a:r>
                    </a:p>
                  </a:txBody>
                  <a:tcPr anchor="ctr">
                    <a:solidFill>
                      <a:srgbClr val="7030A0"/>
                    </a:solidFill>
                  </a:tcPr>
                </a:tc>
                <a:tc>
                  <a:txBody>
                    <a:bodyPr/>
                    <a:lstStyle/>
                    <a:p>
                      <a:pPr algn="ctr">
                        <a:lnSpc>
                          <a:spcPct val="150000"/>
                        </a:lnSpc>
                      </a:pPr>
                      <a:r>
                        <a:rPr lang="zh-CN" altLang="en-US" sz="2400" b="0" dirty="0">
                          <a:latin typeface="微软雅黑" panose="020B0503020204020204" pitchFamily="34" charset="-122"/>
                          <a:ea typeface="微软雅黑" panose="020B0503020204020204" pitchFamily="34" charset="-122"/>
                        </a:rPr>
                        <a:t>基本情况</a:t>
                      </a:r>
                    </a:p>
                  </a:txBody>
                  <a:tcPr anchor="ctr">
                    <a:solidFill>
                      <a:srgbClr val="7030A0"/>
                    </a:solidFill>
                  </a:tcPr>
                </a:tc>
                <a:extLst>
                  <a:ext uri="{0D108BD9-81ED-4DB2-BD59-A6C34878D82A}">
                    <a16:rowId xmlns:a16="http://schemas.microsoft.com/office/drawing/2014/main" val="692779051"/>
                  </a:ext>
                </a:extLst>
              </a:tr>
              <a:tr h="458087">
                <a:tc>
                  <a:txBody>
                    <a:bodyPr/>
                    <a:lstStyle/>
                    <a:p>
                      <a:pPr algn="ctr">
                        <a:lnSpc>
                          <a:spcPct val="150000"/>
                        </a:lnSpc>
                      </a:pPr>
                      <a:r>
                        <a:rPr lang="en-US" altLang="zh-CN" sz="2000" dirty="0">
                          <a:latin typeface="微软雅黑" panose="020B0503020204020204" pitchFamily="34" charset="-122"/>
                          <a:ea typeface="微软雅黑" panose="020B0503020204020204" pitchFamily="34" charset="-122"/>
                        </a:rPr>
                        <a:t>1999</a:t>
                      </a:r>
                      <a:r>
                        <a:rPr lang="zh-CN" altLang="en-US" sz="2000" dirty="0">
                          <a:latin typeface="微软雅黑" panose="020B0503020204020204" pitchFamily="34" charset="-122"/>
                          <a:ea typeface="微软雅黑" panose="020B0503020204020204" pitchFamily="34" charset="-122"/>
                        </a:rPr>
                        <a:t>年</a:t>
                      </a:r>
                      <a:endParaRPr lang="en-US" altLang="zh-CN" sz="2000" dirty="0">
                        <a:latin typeface="微软雅黑" panose="020B0503020204020204" pitchFamily="34" charset="-122"/>
                        <a:ea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rPr>
                        <a:t>（第一代）</a:t>
                      </a:r>
                    </a:p>
                  </a:txBody>
                  <a:tcPr anchor="ctr"/>
                </a:tc>
                <a:tc>
                  <a:txBody>
                    <a:bodyPr/>
                    <a:lstStyle/>
                    <a:p>
                      <a:pPr algn="ctr">
                        <a:lnSpc>
                          <a:spcPct val="150000"/>
                        </a:lnSpc>
                      </a:pP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有线等效保密协议</a:t>
                      </a:r>
                      <a:r>
                        <a:rPr lang="en-US" altLang="zh-CN" sz="2000" b="0" dirty="0">
                          <a:latin typeface="微软雅黑" panose="020B0503020204020204" pitchFamily="34" charset="-122"/>
                          <a:ea typeface="微软雅黑" panose="020B0503020204020204" pitchFamily="34" charset="-122"/>
                        </a:rPr>
                        <a:t>WEP</a:t>
                      </a:r>
                      <a:endParaRPr lang="zh-CN" altLang="en-US" sz="2000" b="0" dirty="0">
                        <a:latin typeface="微软雅黑" panose="020B0503020204020204" pitchFamily="34" charset="-122"/>
                        <a:ea typeface="微软雅黑" panose="020B0503020204020204" pitchFamily="34" charset="-122"/>
                      </a:endParaRPr>
                    </a:p>
                  </a:txBody>
                  <a:tcPr anchor="ctr"/>
                </a:tc>
                <a:tc>
                  <a:txBody>
                    <a:bodyPr/>
                    <a:lstStyle/>
                    <a:p>
                      <a:pPr algn="ctr">
                        <a:lnSpc>
                          <a:spcPct val="150000"/>
                        </a:lnSpc>
                      </a:pP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使用的是</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RC4</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数据加密技术，加密密钥很容易被破解</a:t>
                      </a:r>
                      <a:endParaRPr lang="zh-CN" altLang="en-US" sz="2000" b="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3437244"/>
                  </a:ext>
                </a:extLst>
              </a:tr>
              <a:tr h="648586">
                <a:tc>
                  <a:txBody>
                    <a:bodyPr/>
                    <a:lstStyle/>
                    <a:p>
                      <a:pPr algn="ctr">
                        <a:lnSpc>
                          <a:spcPct val="150000"/>
                        </a:lnSpc>
                      </a:pPr>
                      <a:r>
                        <a:rPr lang="en-US" altLang="zh-CN" sz="2000" dirty="0">
                          <a:latin typeface="微软雅黑" panose="020B0503020204020204" pitchFamily="34" charset="-122"/>
                          <a:ea typeface="微软雅黑" panose="020B0503020204020204" pitchFamily="34" charset="-122"/>
                        </a:rPr>
                        <a:t>2003</a:t>
                      </a:r>
                      <a:r>
                        <a:rPr lang="zh-CN" altLang="en-US" sz="2000" dirty="0">
                          <a:latin typeface="微软雅黑" panose="020B0503020204020204" pitchFamily="34" charset="-122"/>
                          <a:ea typeface="微软雅黑" panose="020B0503020204020204" pitchFamily="34" charset="-122"/>
                        </a:rPr>
                        <a:t>年</a:t>
                      </a:r>
                      <a:endParaRPr lang="en-US" altLang="zh-CN" sz="2000" dirty="0">
                        <a:latin typeface="微软雅黑" panose="020B0503020204020204" pitchFamily="34" charset="-122"/>
                        <a:ea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rPr>
                        <a:t>（第二代）</a:t>
                      </a:r>
                    </a:p>
                  </a:txBody>
                  <a:tcPr anchor="ctr"/>
                </a:tc>
                <a:tc>
                  <a:txBody>
                    <a:bodyPr/>
                    <a:lstStyle/>
                    <a:p>
                      <a:pPr algn="ctr">
                        <a:lnSpc>
                          <a:spcPct val="150000"/>
                        </a:lnSpc>
                      </a:pP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Wi-Fi</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安全接入</a:t>
                      </a:r>
                      <a:endParaRPr lang="en-US" altLang="zh-CN" sz="2000" b="0" dirty="0">
                        <a:latin typeface="微软雅黑" panose="020B0503020204020204" pitchFamily="34" charset="-122"/>
                        <a:ea typeface="微软雅黑" panose="020B0503020204020204" pitchFamily="34" charset="-122"/>
                      </a:endParaRPr>
                    </a:p>
                    <a:p>
                      <a:pPr algn="ctr">
                        <a:lnSpc>
                          <a:spcPct val="150000"/>
                        </a:lnSpc>
                      </a:pPr>
                      <a:r>
                        <a:rPr lang="en-US" altLang="zh-CN" sz="2000" b="0" dirty="0">
                          <a:latin typeface="微软雅黑" panose="020B0503020204020204" pitchFamily="34" charset="-122"/>
                          <a:ea typeface="微软雅黑" panose="020B0503020204020204" pitchFamily="34" charset="-122"/>
                        </a:rPr>
                        <a:t>WPA</a:t>
                      </a:r>
                      <a:endParaRPr lang="zh-CN" altLang="en-US" sz="2000" b="0" dirty="0">
                        <a:latin typeface="微软雅黑" panose="020B0503020204020204" pitchFamily="34" charset="-122"/>
                        <a:ea typeface="微软雅黑" panose="020B0503020204020204" pitchFamily="34" charset="-122"/>
                      </a:endParaRPr>
                    </a:p>
                  </a:txBody>
                  <a:tcPr anchor="ctr"/>
                </a:tc>
                <a:tc>
                  <a:txBody>
                    <a:bodyPr/>
                    <a:lstStyle/>
                    <a:p>
                      <a:pPr algn="ctr">
                        <a:lnSpc>
                          <a:spcPct val="150000"/>
                        </a:lnSpc>
                      </a:pP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IEEE802.11i</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标准的</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WLAN</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安全性增强解决方案，采用预共享密钥模式</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PSK</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，可动态改变密钥</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TKIP</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，于</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2008</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年被攻破</a:t>
                      </a:r>
                      <a:endParaRPr lang="zh-CN" altLang="en-US" sz="2000" b="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98281162"/>
                  </a:ext>
                </a:extLst>
              </a:tr>
              <a:tr h="531628">
                <a:tc>
                  <a:txBody>
                    <a:bodyPr/>
                    <a:lstStyle/>
                    <a:p>
                      <a:pPr algn="ctr">
                        <a:lnSpc>
                          <a:spcPct val="150000"/>
                        </a:lnSpc>
                      </a:pPr>
                      <a:r>
                        <a:rPr lang="en-US" altLang="zh-CN" sz="2000" dirty="0">
                          <a:latin typeface="微软雅黑" panose="020B0503020204020204" pitchFamily="34" charset="-122"/>
                          <a:ea typeface="微软雅黑" panose="020B0503020204020204" pitchFamily="34" charset="-122"/>
                        </a:rPr>
                        <a:t>2004</a:t>
                      </a:r>
                      <a:r>
                        <a:rPr lang="zh-CN" altLang="en-US" sz="2000" dirty="0">
                          <a:latin typeface="微软雅黑" panose="020B0503020204020204" pitchFamily="34" charset="-122"/>
                          <a:ea typeface="微软雅黑" panose="020B0503020204020204" pitchFamily="34" charset="-122"/>
                        </a:rPr>
                        <a:t>年</a:t>
                      </a:r>
                      <a:endParaRPr lang="en-US" altLang="zh-CN" sz="2000" dirty="0">
                        <a:latin typeface="微软雅黑" panose="020B0503020204020204" pitchFamily="34" charset="-122"/>
                        <a:ea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rPr>
                        <a:t>（第三代）</a:t>
                      </a:r>
                    </a:p>
                  </a:txBody>
                  <a:tcPr anchor="ctr"/>
                </a:tc>
                <a:tc>
                  <a:txBody>
                    <a:bodyPr/>
                    <a:lstStyle/>
                    <a:p>
                      <a:pPr algn="ctr">
                        <a:lnSpc>
                          <a:spcPct val="150000"/>
                        </a:lnSpc>
                      </a:pP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Wi-Fi</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安全接入</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V2</a:t>
                      </a:r>
                      <a:endParaRPr lang="en-US" altLang="zh-CN" sz="2000" b="0" dirty="0">
                        <a:latin typeface="微软雅黑" panose="020B0503020204020204" pitchFamily="34" charset="-122"/>
                        <a:ea typeface="微软雅黑" panose="020B0503020204020204" pitchFamily="34" charset="-122"/>
                      </a:endParaRPr>
                    </a:p>
                    <a:p>
                      <a:pPr algn="ctr">
                        <a:lnSpc>
                          <a:spcPct val="150000"/>
                        </a:lnSpc>
                      </a:pPr>
                      <a:r>
                        <a:rPr lang="en-US" altLang="zh-CN" sz="2000" b="0" dirty="0">
                          <a:latin typeface="微软雅黑" panose="020B0503020204020204" pitchFamily="34" charset="-122"/>
                          <a:ea typeface="微软雅黑" panose="020B0503020204020204" pitchFamily="34" charset="-122"/>
                        </a:rPr>
                        <a:t>WPA2</a:t>
                      </a:r>
                      <a:endParaRPr lang="zh-CN" altLang="en-US" sz="2000" b="0" dirty="0">
                        <a:latin typeface="微软雅黑" panose="020B0503020204020204" pitchFamily="34" charset="-122"/>
                        <a:ea typeface="微软雅黑" panose="020B0503020204020204" pitchFamily="34" charset="-122"/>
                      </a:endParaRPr>
                    </a:p>
                  </a:txBody>
                  <a:tcPr anchor="ctr"/>
                </a:tc>
                <a:tc>
                  <a:txBody>
                    <a:bodyPr/>
                    <a:lstStyle/>
                    <a:p>
                      <a:pPr algn="ctr">
                        <a:lnSpc>
                          <a:spcPct val="150000"/>
                        </a:lnSpc>
                      </a:pPr>
                      <a:r>
                        <a:rPr lang="zh-CN" altLang="en-US" sz="2000" b="0" i="0" kern="1200" dirty="0">
                          <a:solidFill>
                            <a:srgbClr val="C00000"/>
                          </a:solidFill>
                          <a:effectLst/>
                          <a:latin typeface="微软雅黑" panose="020B0503020204020204" pitchFamily="34" charset="-122"/>
                          <a:ea typeface="微软雅黑" panose="020B0503020204020204" pitchFamily="34" charset="-122"/>
                          <a:cs typeface="+mn-cs"/>
                        </a:rPr>
                        <a:t>目前最主流的一种</a:t>
                      </a:r>
                      <a:r>
                        <a:rPr lang="en-US" altLang="zh-CN" sz="2000" b="0" i="0" kern="1200" dirty="0">
                          <a:solidFill>
                            <a:srgbClr val="C00000"/>
                          </a:solidFill>
                          <a:effectLst/>
                          <a:latin typeface="微软雅黑" panose="020B0503020204020204" pitchFamily="34" charset="-122"/>
                          <a:ea typeface="微软雅黑" panose="020B0503020204020204" pitchFamily="34" charset="-122"/>
                          <a:cs typeface="+mn-cs"/>
                        </a:rPr>
                        <a:t>Wi-Fi</a:t>
                      </a:r>
                      <a:r>
                        <a:rPr lang="zh-CN" altLang="en-US" sz="2000" b="0" i="0" kern="1200" dirty="0">
                          <a:solidFill>
                            <a:srgbClr val="C00000"/>
                          </a:solidFill>
                          <a:effectLst/>
                          <a:latin typeface="微软雅黑" panose="020B0503020204020204" pitchFamily="34" charset="-122"/>
                          <a:ea typeface="微软雅黑" panose="020B0503020204020204" pitchFamily="34" charset="-122"/>
                          <a:cs typeface="+mn-cs"/>
                        </a:rPr>
                        <a:t>加密方式</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，但针对</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KRACK</a:t>
                      </a:r>
                      <a:r>
                        <a:rPr lang="zh-CN" altLang="en-US" sz="1800" b="1" i="0" kern="1200" dirty="0">
                          <a:solidFill>
                            <a:schemeClr val="dk1"/>
                          </a:solidFill>
                          <a:effectLst/>
                          <a:latin typeface="+mn-lt"/>
                          <a:ea typeface="+mn-ea"/>
                          <a:cs typeface="+mn-cs"/>
                        </a:rPr>
                        <a:t>（密钥重装攻击）</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漏洞可有效实施密钥重放攻击，无法满足当今万物互联的</a:t>
                      </a:r>
                      <a:r>
                        <a:rPr lang="zh-CN" altLang="en-US" sz="2000" b="0" i="0" u="none" strike="noStrike" kern="1200" dirty="0">
                          <a:solidFill>
                            <a:schemeClr val="dk1"/>
                          </a:solidFill>
                          <a:effectLst/>
                          <a:latin typeface="微软雅黑" panose="020B0503020204020204" pitchFamily="34" charset="-122"/>
                          <a:ea typeface="微软雅黑" panose="020B0503020204020204" pitchFamily="34" charset="-122"/>
                          <a:cs typeface="+mn-cs"/>
                        </a:rPr>
                        <a:t>无线</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加密需求</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84254619"/>
                  </a:ext>
                </a:extLst>
              </a:tr>
              <a:tr h="429060">
                <a:tc>
                  <a:txBody>
                    <a:bodyPr/>
                    <a:lstStyle/>
                    <a:p>
                      <a:pPr algn="ctr">
                        <a:lnSpc>
                          <a:spcPct val="150000"/>
                        </a:lnSpc>
                      </a:pPr>
                      <a:r>
                        <a:rPr lang="en-US" altLang="zh-CN" sz="2000" dirty="0">
                          <a:latin typeface="微软雅黑" panose="020B0503020204020204" pitchFamily="34" charset="-122"/>
                          <a:ea typeface="微软雅黑" panose="020B0503020204020204" pitchFamily="34" charset="-122"/>
                        </a:rPr>
                        <a:t>2018</a:t>
                      </a:r>
                      <a:r>
                        <a:rPr lang="zh-CN" altLang="en-US" sz="2000" dirty="0">
                          <a:latin typeface="微软雅黑" panose="020B0503020204020204" pitchFamily="34" charset="-122"/>
                          <a:ea typeface="微软雅黑" panose="020B0503020204020204" pitchFamily="34" charset="-122"/>
                        </a:rPr>
                        <a:t>年</a:t>
                      </a:r>
                      <a:endParaRPr lang="en-US" altLang="zh-CN" sz="2000" dirty="0">
                        <a:latin typeface="微软雅黑" panose="020B0503020204020204" pitchFamily="34" charset="-122"/>
                        <a:ea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rPr>
                        <a:t>（第四代）</a:t>
                      </a:r>
                    </a:p>
                  </a:txBody>
                  <a:tcPr anchor="ctr"/>
                </a:tc>
                <a:tc>
                  <a:txBody>
                    <a:bodyPr/>
                    <a:lstStyle/>
                    <a:p>
                      <a:pPr algn="ctr">
                        <a:lnSpc>
                          <a:spcPct val="150000"/>
                        </a:lnSpc>
                      </a:pP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Wi-Fi</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安全接入</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V3</a:t>
                      </a:r>
                      <a:endParaRPr lang="en-US" altLang="zh-CN" sz="2000" b="0" dirty="0">
                        <a:latin typeface="微软雅黑" panose="020B0503020204020204" pitchFamily="34" charset="-122"/>
                        <a:ea typeface="微软雅黑" panose="020B0503020204020204" pitchFamily="34" charset="-122"/>
                      </a:endParaRPr>
                    </a:p>
                    <a:p>
                      <a:pPr algn="ctr">
                        <a:lnSpc>
                          <a:spcPct val="150000"/>
                        </a:lnSpc>
                      </a:pPr>
                      <a:r>
                        <a:rPr lang="en-US" altLang="zh-CN" sz="2000" b="0" dirty="0">
                          <a:latin typeface="微软雅黑" panose="020B0503020204020204" pitchFamily="34" charset="-122"/>
                          <a:ea typeface="微软雅黑" panose="020B0503020204020204" pitchFamily="34" charset="-122"/>
                        </a:rPr>
                        <a:t>WPA3</a:t>
                      </a:r>
                      <a:endParaRPr lang="zh-CN" altLang="en-US" sz="2000" b="0" dirty="0">
                        <a:latin typeface="微软雅黑" panose="020B0503020204020204" pitchFamily="34" charset="-122"/>
                        <a:ea typeface="微软雅黑" panose="020B0503020204020204" pitchFamily="34" charset="-122"/>
                      </a:endParaRPr>
                    </a:p>
                  </a:txBody>
                  <a:tcPr anchor="ctr"/>
                </a:tc>
                <a:tc>
                  <a:txBody>
                    <a:bodyPr/>
                    <a:lstStyle/>
                    <a:p>
                      <a:pPr algn="ctr">
                        <a:lnSpc>
                          <a:spcPct val="150000"/>
                        </a:lnSpc>
                      </a:pP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引入蜻蜓密钥交换机制，可避免离线字典攻击即可防暴力破解，可防止流量监听泄露，且简化安全配置，企业版支持</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mn-cs"/>
                        </a:rPr>
                        <a:t>192</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位的强大加密能力，且缓解由弱密码造成的安全问题</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506754374"/>
                  </a:ext>
                </a:extLst>
              </a:tr>
            </a:tbl>
          </a:graphicData>
        </a:graphic>
      </p:graphicFrame>
      <p:sp>
        <p:nvSpPr>
          <p:cNvPr id="6" name="矩形 5">
            <a:extLst>
              <a:ext uri="{FF2B5EF4-FFF2-40B4-BE49-F238E27FC236}">
                <a16:creationId xmlns:a16="http://schemas.microsoft.com/office/drawing/2014/main" id="{41DD4682-8B72-41EF-BED2-B383A3655281}"/>
              </a:ext>
            </a:extLst>
          </p:cNvPr>
          <p:cNvSpPr/>
          <p:nvPr/>
        </p:nvSpPr>
        <p:spPr>
          <a:xfrm>
            <a:off x="285010" y="5061682"/>
            <a:ext cx="11649690" cy="1384773"/>
          </a:xfrm>
          <a:prstGeom prst="rect">
            <a:avLst/>
          </a:prstGeom>
          <a:noFill/>
          <a:ln w="28575">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8616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9.3.1 </a:t>
            </a:r>
            <a:r>
              <a:rPr kumimoji="1" lang="en-US" altLang="zh-CN" dirty="0">
                <a:solidFill>
                  <a:prstClr val="black"/>
                </a:solidFill>
              </a:rPr>
              <a:t>IEEE 802.11i </a:t>
            </a:r>
            <a:r>
              <a:rPr kumimoji="1" lang="zh-CN" altLang="zh-CN" dirty="0">
                <a:solidFill>
                  <a:prstClr val="black"/>
                </a:solidFill>
              </a:rPr>
              <a:t>服务</a:t>
            </a:r>
            <a:endParaRPr lang="zh-CN" altLang="en-US" dirty="0"/>
          </a:p>
        </p:txBody>
      </p:sp>
      <p:sp>
        <p:nvSpPr>
          <p:cNvPr id="3" name="内容占位符 2"/>
          <p:cNvSpPr>
            <a:spLocks noGrp="1"/>
          </p:cNvSpPr>
          <p:nvPr>
            <p:ph idx="1"/>
          </p:nvPr>
        </p:nvSpPr>
        <p:spPr>
          <a:xfrm>
            <a:off x="838200" y="1510758"/>
            <a:ext cx="10515600" cy="2324972"/>
          </a:xfrm>
        </p:spPr>
        <p:txBody>
          <a:bodyPr>
            <a:normAutofit/>
          </a:bodyPr>
          <a:lstStyle/>
          <a:p>
            <a:r>
              <a:rPr lang="zh-CN" altLang="en-US" sz="2400" dirty="0">
                <a:solidFill>
                  <a:srgbClr val="C00000"/>
                </a:solidFill>
              </a:rPr>
              <a:t>认证</a:t>
            </a:r>
            <a:r>
              <a:rPr lang="zh-CN" altLang="en-US" sz="2400" dirty="0"/>
              <a:t>：用户和认证服务器之间交换的协议，能相互认证，并产生临时密钥。</a:t>
            </a:r>
            <a:endParaRPr lang="en-US" altLang="zh-CN" sz="2400" dirty="0"/>
          </a:p>
          <a:p>
            <a:r>
              <a:rPr lang="zh-CN" altLang="en-US" sz="2400" dirty="0">
                <a:solidFill>
                  <a:srgbClr val="C00000"/>
                </a:solidFill>
              </a:rPr>
              <a:t>访问控制</a:t>
            </a:r>
            <a:r>
              <a:rPr lang="zh-CN" altLang="en-US" sz="2400" dirty="0"/>
              <a:t>：结合认证功能，合理安排信息，帮助密钥交换，能在一系列认证协议下工作。</a:t>
            </a:r>
            <a:endParaRPr lang="en-US" altLang="zh-CN" sz="2400" dirty="0"/>
          </a:p>
          <a:p>
            <a:r>
              <a:rPr lang="zh-CN" altLang="en-US" sz="2400" dirty="0">
                <a:solidFill>
                  <a:srgbClr val="C00000"/>
                </a:solidFill>
              </a:rPr>
              <a:t>信号完整性加密</a:t>
            </a:r>
            <a:r>
              <a:rPr lang="zh-CN" altLang="en-US" sz="2400" dirty="0"/>
              <a:t>：</a:t>
            </a:r>
            <a:r>
              <a:rPr lang="en-US" altLang="zh-CN" sz="2400" dirty="0"/>
              <a:t>MAC</a:t>
            </a:r>
            <a:r>
              <a:rPr lang="zh-CN" altLang="en-US" sz="2400" dirty="0"/>
              <a:t>层数据与信号完整性字段一起加密，以保证数据没有被篡改。</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27</a:t>
            </a:fld>
            <a:endParaRPr kumimoji="1" lang="zh-CN" altLang="en-US" dirty="0"/>
          </a:p>
        </p:txBody>
      </p:sp>
      <p:pic>
        <p:nvPicPr>
          <p:cNvPr id="5" name="图片 4"/>
          <p:cNvPicPr>
            <a:picLocks noChangeAspect="1"/>
          </p:cNvPicPr>
          <p:nvPr/>
        </p:nvPicPr>
        <p:blipFill>
          <a:blip r:embed="rId2"/>
          <a:stretch>
            <a:fillRect/>
          </a:stretch>
        </p:blipFill>
        <p:spPr>
          <a:xfrm>
            <a:off x="943716" y="3835730"/>
            <a:ext cx="4867275" cy="2581275"/>
          </a:xfrm>
          <a:prstGeom prst="rect">
            <a:avLst/>
          </a:prstGeom>
        </p:spPr>
      </p:pic>
      <p:pic>
        <p:nvPicPr>
          <p:cNvPr id="6" name="图片 5"/>
          <p:cNvPicPr>
            <a:picLocks noChangeAspect="1"/>
          </p:cNvPicPr>
          <p:nvPr/>
        </p:nvPicPr>
        <p:blipFill>
          <a:blip r:embed="rId3"/>
          <a:stretch>
            <a:fillRect/>
          </a:stretch>
        </p:blipFill>
        <p:spPr>
          <a:xfrm>
            <a:off x="6010645" y="3824815"/>
            <a:ext cx="5143500" cy="2381250"/>
          </a:xfrm>
          <a:prstGeom prst="rect">
            <a:avLst/>
          </a:prstGeom>
        </p:spPr>
      </p:pic>
    </p:spTree>
    <p:extLst>
      <p:ext uri="{BB962C8B-B14F-4D97-AF65-F5344CB8AC3E}">
        <p14:creationId xmlns:p14="http://schemas.microsoft.com/office/powerpoint/2010/main" val="3920589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9.3.2 </a:t>
            </a:r>
            <a:r>
              <a:rPr kumimoji="1" lang="en-US" altLang="zh-CN" dirty="0">
                <a:solidFill>
                  <a:prstClr val="black"/>
                </a:solidFill>
              </a:rPr>
              <a:t>IEEE 802.11i </a:t>
            </a:r>
            <a:r>
              <a:rPr kumimoji="1" lang="zh-CN" altLang="zh-CN" dirty="0">
                <a:solidFill>
                  <a:prstClr val="black"/>
                </a:solidFill>
              </a:rPr>
              <a:t>操作阶段</a:t>
            </a:r>
            <a:endParaRPr lang="zh-CN" altLang="en-US" dirty="0"/>
          </a:p>
        </p:txBody>
      </p:sp>
      <p:sp>
        <p:nvSpPr>
          <p:cNvPr id="3" name="内容占位符 2"/>
          <p:cNvSpPr>
            <a:spLocks noGrp="1"/>
          </p:cNvSpPr>
          <p:nvPr>
            <p:ph idx="1"/>
          </p:nvPr>
        </p:nvSpPr>
        <p:spPr/>
        <p:txBody>
          <a:bodyPr>
            <a:normAutofit/>
          </a:bodyPr>
          <a:lstStyle/>
          <a:p>
            <a:r>
              <a:rPr kumimoji="1" lang="en-US" altLang="zh-CN" dirty="0">
                <a:solidFill>
                  <a:prstClr val="black"/>
                </a:solidFill>
              </a:rPr>
              <a:t>IEEE 802.11i</a:t>
            </a:r>
            <a:r>
              <a:rPr kumimoji="1" lang="zh-CN" altLang="en-US" dirty="0">
                <a:solidFill>
                  <a:prstClr val="black"/>
                </a:solidFill>
              </a:rPr>
              <a:t>健壮安全网络（</a:t>
            </a:r>
            <a:r>
              <a:rPr kumimoji="1" lang="en-US" altLang="zh-CN" dirty="0">
                <a:solidFill>
                  <a:prstClr val="black"/>
                </a:solidFill>
              </a:rPr>
              <a:t>RSN</a:t>
            </a:r>
            <a:r>
              <a:rPr kumimoji="1" lang="zh-CN" altLang="en-US" dirty="0">
                <a:solidFill>
                  <a:prstClr val="black"/>
                </a:solidFill>
              </a:rPr>
              <a:t>）的操作分为</a:t>
            </a:r>
            <a:r>
              <a:rPr kumimoji="1" lang="en-US" altLang="zh-CN" dirty="0">
                <a:solidFill>
                  <a:prstClr val="black"/>
                </a:solidFill>
              </a:rPr>
              <a:t>5</a:t>
            </a:r>
            <a:r>
              <a:rPr kumimoji="1" lang="zh-CN" altLang="en-US" dirty="0">
                <a:solidFill>
                  <a:prstClr val="black"/>
                </a:solidFill>
              </a:rPr>
              <a:t>个阶段：</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28</a:t>
            </a:fld>
            <a:endParaRPr kumimoji="1" lang="zh-CN" altLang="en-US" dirty="0"/>
          </a:p>
        </p:txBody>
      </p:sp>
      <p:pic>
        <p:nvPicPr>
          <p:cNvPr id="5" name="图片 4"/>
          <p:cNvPicPr>
            <a:picLocks noChangeAspect="1"/>
          </p:cNvPicPr>
          <p:nvPr/>
        </p:nvPicPr>
        <p:blipFill>
          <a:blip r:embed="rId2"/>
          <a:stretch>
            <a:fillRect/>
          </a:stretch>
        </p:blipFill>
        <p:spPr>
          <a:xfrm>
            <a:off x="2457141" y="2134342"/>
            <a:ext cx="6342475" cy="4292060"/>
          </a:xfrm>
          <a:prstGeom prst="rect">
            <a:avLst/>
          </a:prstGeom>
        </p:spPr>
      </p:pic>
    </p:spTree>
    <p:extLst>
      <p:ext uri="{BB962C8B-B14F-4D97-AF65-F5344CB8AC3E}">
        <p14:creationId xmlns:p14="http://schemas.microsoft.com/office/powerpoint/2010/main" val="162875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9.3.3 </a:t>
            </a:r>
            <a:r>
              <a:rPr kumimoji="1" lang="zh-CN" altLang="zh-CN" dirty="0">
                <a:solidFill>
                  <a:prstClr val="black"/>
                </a:solidFill>
              </a:rPr>
              <a:t>发现阶段</a:t>
            </a:r>
            <a:endParaRPr lang="zh-CN" altLang="en-US" dirty="0"/>
          </a:p>
        </p:txBody>
      </p:sp>
      <p:sp>
        <p:nvSpPr>
          <p:cNvPr id="3" name="内容占位符 2"/>
          <p:cNvSpPr>
            <a:spLocks noGrp="1"/>
          </p:cNvSpPr>
          <p:nvPr>
            <p:ph idx="1"/>
          </p:nvPr>
        </p:nvSpPr>
        <p:spPr/>
        <p:txBody>
          <a:bodyPr>
            <a:normAutofit/>
          </a:bodyPr>
          <a:lstStyle/>
          <a:p>
            <a:r>
              <a:rPr lang="zh-CN" altLang="en-US" sz="2400" dirty="0"/>
              <a:t>接入点使用信标和探测响应发布其</a:t>
            </a:r>
            <a:r>
              <a:rPr lang="zh-CN" altLang="en-US" sz="2400" dirty="0">
                <a:solidFill>
                  <a:srgbClr val="C00000"/>
                </a:solidFill>
              </a:rPr>
              <a:t>安全策略</a:t>
            </a:r>
            <a:r>
              <a:rPr lang="zh-CN" altLang="en-US" sz="2400" dirty="0"/>
              <a:t>，站点通过这些来确认希望进行通信的接入点身份。站点连接接入点，选择加密套件和认证机制。</a:t>
            </a:r>
            <a:endParaRPr lang="en-US" altLang="zh-CN" sz="2400" dirty="0"/>
          </a:p>
          <a:p>
            <a:r>
              <a:rPr lang="zh-CN" altLang="en-US" sz="2400" dirty="0">
                <a:solidFill>
                  <a:srgbClr val="C00000"/>
                </a:solidFill>
              </a:rPr>
              <a:t>安全策略</a:t>
            </a:r>
            <a:r>
              <a:rPr lang="zh-CN" altLang="en-US" sz="2400" dirty="0"/>
              <a:t>：</a:t>
            </a:r>
            <a:endParaRPr lang="en-US" altLang="zh-CN" sz="2400" dirty="0"/>
          </a:p>
          <a:p>
            <a:pPr lvl="1"/>
            <a:r>
              <a:rPr lang="zh-CN" altLang="en-US" dirty="0"/>
              <a:t>保护单播通信的机密性和</a:t>
            </a:r>
            <a:r>
              <a:rPr lang="en-US" altLang="zh-CN" dirty="0"/>
              <a:t>MAC</a:t>
            </a:r>
            <a:r>
              <a:rPr lang="zh-CN" altLang="en-US" dirty="0"/>
              <a:t>协议数据单元完整性，密码套件：</a:t>
            </a:r>
            <a:endParaRPr lang="en-US" altLang="zh-CN" dirty="0"/>
          </a:p>
          <a:p>
            <a:pPr lvl="2"/>
            <a:r>
              <a:rPr lang="en-US" altLang="zh-CN" dirty="0"/>
              <a:t>WEP</a:t>
            </a:r>
            <a:r>
              <a:rPr lang="zh-CN" altLang="en-US" dirty="0"/>
              <a:t>，</a:t>
            </a:r>
            <a:r>
              <a:rPr lang="en-US" altLang="zh-CN" dirty="0"/>
              <a:t>40</a:t>
            </a:r>
            <a:r>
              <a:rPr lang="zh-CN" altLang="en-US" dirty="0"/>
              <a:t>或</a:t>
            </a:r>
            <a:r>
              <a:rPr lang="en-US" altLang="zh-CN" dirty="0"/>
              <a:t>104</a:t>
            </a:r>
            <a:r>
              <a:rPr lang="zh-CN" altLang="en-US" dirty="0"/>
              <a:t>位密钥，兼容旧版本</a:t>
            </a:r>
            <a:r>
              <a:rPr lang="en-US" altLang="zh-CN" dirty="0"/>
              <a:t>802.11</a:t>
            </a:r>
            <a:r>
              <a:rPr lang="zh-CN" altLang="en-US" dirty="0"/>
              <a:t>操作</a:t>
            </a:r>
            <a:endParaRPr lang="en-US" altLang="zh-CN" dirty="0"/>
          </a:p>
          <a:p>
            <a:pPr lvl="2"/>
            <a:r>
              <a:rPr lang="en-US" altLang="zh-CN" dirty="0"/>
              <a:t>TKIP</a:t>
            </a:r>
            <a:r>
              <a:rPr lang="zh-CN" altLang="en-US" dirty="0"/>
              <a:t>（</a:t>
            </a:r>
            <a:r>
              <a:rPr lang="en-US" altLang="zh-CN" dirty="0"/>
              <a:t>RC4</a:t>
            </a:r>
            <a:r>
              <a:rPr lang="zh-CN" altLang="en-US" dirty="0"/>
              <a:t>）：</a:t>
            </a:r>
            <a:r>
              <a:rPr lang="en-US" altLang="zh-CN" b="1" dirty="0"/>
              <a:t> </a:t>
            </a:r>
            <a:r>
              <a:rPr lang="zh-CN" altLang="en-US" dirty="0"/>
              <a:t> </a:t>
            </a:r>
            <a:r>
              <a:rPr lang="en-US" altLang="zh-CN" b="1" dirty="0"/>
              <a:t>Temporal Key Integrity Protocol</a:t>
            </a:r>
            <a:r>
              <a:rPr lang="en-US" altLang="zh-CN" dirty="0"/>
              <a:t> </a:t>
            </a:r>
            <a:r>
              <a:rPr lang="zh-CN" altLang="en-US" dirty="0"/>
              <a:t>，</a:t>
            </a:r>
            <a:r>
              <a:rPr lang="zh-CN" altLang="en-US" b="1" dirty="0"/>
              <a:t>临时密钥集成协议，</a:t>
            </a:r>
            <a:r>
              <a:rPr lang="zh-CN" altLang="en-US" dirty="0"/>
              <a:t>保留了 </a:t>
            </a:r>
            <a:r>
              <a:rPr lang="en-US" altLang="zh-CN" dirty="0"/>
              <a:t>WEP </a:t>
            </a:r>
            <a:r>
              <a:rPr lang="zh-CN" altLang="en-US" dirty="0"/>
              <a:t>的 </a:t>
            </a:r>
            <a:r>
              <a:rPr lang="en-US" altLang="zh-CN" dirty="0"/>
              <a:t>RC4 </a:t>
            </a:r>
            <a:r>
              <a:rPr lang="zh-CN" altLang="en-US" dirty="0"/>
              <a:t>加密算法，但通过三种关键机制大大增强了安全性</a:t>
            </a:r>
            <a:endParaRPr lang="en-US" altLang="zh-CN" dirty="0"/>
          </a:p>
          <a:p>
            <a:pPr lvl="2"/>
            <a:r>
              <a:rPr lang="en-US" altLang="zh-CN" dirty="0"/>
              <a:t>CCMP</a:t>
            </a:r>
            <a:r>
              <a:rPr lang="zh-CN" altLang="en-US" dirty="0"/>
              <a:t>：</a:t>
            </a:r>
            <a:r>
              <a:rPr lang="en-US" altLang="zh-CN" dirty="0"/>
              <a:t> CCMP = </a:t>
            </a:r>
            <a:r>
              <a:rPr lang="en-US" altLang="zh-CN" b="1" dirty="0"/>
              <a:t>AES-128</a:t>
            </a:r>
            <a:r>
              <a:rPr lang="zh-CN" altLang="en-US" dirty="0"/>
              <a:t>（算法） </a:t>
            </a:r>
            <a:r>
              <a:rPr lang="en-US" altLang="zh-CN" dirty="0"/>
              <a:t>+ </a:t>
            </a:r>
            <a:r>
              <a:rPr lang="en-US" altLang="zh-CN" b="1" dirty="0"/>
              <a:t>CTR</a:t>
            </a:r>
            <a:r>
              <a:rPr lang="zh-CN" altLang="en-US" b="1" dirty="0"/>
              <a:t>模式</a:t>
            </a:r>
            <a:r>
              <a:rPr lang="zh-CN" altLang="en-US" dirty="0"/>
              <a:t>（加密） </a:t>
            </a:r>
            <a:r>
              <a:rPr lang="en-US" altLang="zh-CN" dirty="0"/>
              <a:t>+ </a:t>
            </a:r>
            <a:r>
              <a:rPr lang="en-US" altLang="zh-CN" b="1" dirty="0"/>
              <a:t>CBC-MAC</a:t>
            </a:r>
            <a:r>
              <a:rPr lang="zh-CN" altLang="en-US" dirty="0"/>
              <a:t>（认证）</a:t>
            </a:r>
            <a:endParaRPr lang="en-US" altLang="zh-CN" dirty="0"/>
          </a:p>
          <a:p>
            <a:pPr lvl="2"/>
            <a:r>
              <a:rPr lang="zh-CN" altLang="en-US" dirty="0"/>
              <a:t>供应商特性方法</a:t>
            </a:r>
            <a:endParaRPr lang="en-US" altLang="zh-CN" dirty="0"/>
          </a:p>
          <a:p>
            <a:pPr lvl="1"/>
            <a:r>
              <a:rPr lang="zh-CN" altLang="en-US" dirty="0"/>
              <a:t>保护组播</a:t>
            </a:r>
            <a:r>
              <a:rPr lang="en-US" altLang="zh-CN" dirty="0"/>
              <a:t>/</a:t>
            </a:r>
            <a:r>
              <a:rPr lang="zh-CN" altLang="en-US" dirty="0"/>
              <a:t>广播通信的机密性和</a:t>
            </a:r>
            <a:r>
              <a:rPr lang="en-US" altLang="zh-CN" dirty="0"/>
              <a:t>MAC</a:t>
            </a:r>
            <a:r>
              <a:rPr lang="zh-CN" altLang="en-US" dirty="0"/>
              <a:t>协议数据单元完整性由接入点支配，组播中的站点必须使用相同的协议和明文</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29</a:t>
            </a:fld>
            <a:endParaRPr kumimoji="1" lang="zh-CN" altLang="en-US" dirty="0"/>
          </a:p>
        </p:txBody>
      </p:sp>
    </p:spTree>
    <p:extLst>
      <p:ext uri="{BB962C8B-B14F-4D97-AF65-F5344CB8AC3E}">
        <p14:creationId xmlns:p14="http://schemas.microsoft.com/office/powerpoint/2010/main" val="3382301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9.3.3 </a:t>
            </a:r>
            <a:r>
              <a:rPr kumimoji="1" lang="zh-CN" altLang="zh-CN" dirty="0">
                <a:solidFill>
                  <a:prstClr val="black"/>
                </a:solidFill>
              </a:rPr>
              <a:t>发现阶段</a:t>
            </a:r>
            <a:endParaRPr lang="zh-CN" altLang="en-US" dirty="0"/>
          </a:p>
        </p:txBody>
      </p:sp>
      <p:sp>
        <p:nvSpPr>
          <p:cNvPr id="3" name="内容占位符 2"/>
          <p:cNvSpPr>
            <a:spLocks noGrp="1"/>
          </p:cNvSpPr>
          <p:nvPr>
            <p:ph idx="1"/>
          </p:nvPr>
        </p:nvSpPr>
        <p:spPr>
          <a:xfrm>
            <a:off x="838200" y="1510757"/>
            <a:ext cx="10515600" cy="4771289"/>
          </a:xfrm>
        </p:spPr>
        <p:txBody>
          <a:bodyPr>
            <a:normAutofit lnSpcReduction="10000"/>
          </a:bodyPr>
          <a:lstStyle/>
          <a:p>
            <a:r>
              <a:rPr lang="zh-CN" altLang="en-US" dirty="0">
                <a:solidFill>
                  <a:srgbClr val="C00000"/>
                </a:solidFill>
              </a:rPr>
              <a:t>安全策略</a:t>
            </a:r>
            <a:r>
              <a:rPr lang="zh-CN" altLang="en-US" dirty="0"/>
              <a:t>：</a:t>
            </a:r>
            <a:endParaRPr lang="en-US" altLang="zh-CN" dirty="0"/>
          </a:p>
          <a:p>
            <a:pPr lvl="1">
              <a:lnSpc>
                <a:spcPct val="120000"/>
              </a:lnSpc>
            </a:pPr>
            <a:r>
              <a:rPr lang="zh-CN" altLang="en-US" dirty="0"/>
              <a:t>认证方法：</a:t>
            </a:r>
            <a:r>
              <a:rPr lang="zh-CN" altLang="en-US" b="1" dirty="0"/>
              <a:t>站点和认证服务器</a:t>
            </a:r>
            <a:r>
              <a:rPr lang="zh-CN" altLang="en-US" dirty="0"/>
              <a:t>相互证明各自身份，接入点阻止站点直到认证成功。</a:t>
            </a:r>
            <a:r>
              <a:rPr lang="zh-CN" altLang="en-US" b="1" dirty="0"/>
              <a:t>接入点不参与认证</a:t>
            </a:r>
            <a:r>
              <a:rPr lang="zh-CN" altLang="en-US" dirty="0"/>
              <a:t>。</a:t>
            </a:r>
            <a:endParaRPr lang="en-US" altLang="zh-CN" dirty="0"/>
          </a:p>
          <a:p>
            <a:pPr lvl="1">
              <a:lnSpc>
                <a:spcPct val="120000"/>
              </a:lnSpc>
            </a:pPr>
            <a:r>
              <a:rPr lang="zh-CN" altLang="en-US" dirty="0"/>
              <a:t>密钥管理方法：</a:t>
            </a:r>
            <a:r>
              <a:rPr lang="zh-CN" altLang="en-US" b="1" dirty="0"/>
              <a:t>认证服务器</a:t>
            </a:r>
            <a:r>
              <a:rPr lang="zh-CN" altLang="en-US" dirty="0"/>
              <a:t>产生加密密钥，并配送到接入点和站点，数据帧只在接入点和站点之间交换。</a:t>
            </a:r>
            <a:endParaRPr lang="en-US" altLang="zh-CN" dirty="0"/>
          </a:p>
          <a:p>
            <a:pPr lvl="1">
              <a:lnSpc>
                <a:spcPct val="120000"/>
              </a:lnSpc>
            </a:pPr>
            <a:r>
              <a:rPr lang="zh-CN" altLang="en-US" dirty="0"/>
              <a:t>可协商的认证和密钥管理套件（</a:t>
            </a:r>
            <a:r>
              <a:rPr lang="en-US" altLang="zh-CN" dirty="0"/>
              <a:t>AKM</a:t>
            </a:r>
            <a:r>
              <a:rPr lang="zh-CN" altLang="en-US" dirty="0"/>
              <a:t>）：定义了（</a:t>
            </a:r>
            <a:r>
              <a:rPr lang="en-US" altLang="zh-CN" dirty="0"/>
              <a:t>1</a:t>
            </a:r>
            <a:r>
              <a:rPr lang="zh-CN" altLang="en-US" dirty="0"/>
              <a:t>）接入点和站点相互认证的方法；（</a:t>
            </a:r>
            <a:r>
              <a:rPr lang="en-US" altLang="zh-CN" dirty="0"/>
              <a:t>2</a:t>
            </a:r>
            <a:r>
              <a:rPr lang="zh-CN" altLang="en-US" dirty="0"/>
              <a:t>）在可能有其他密钥产生时取得根密钥。可能的</a:t>
            </a:r>
            <a:r>
              <a:rPr lang="en-US" altLang="zh-CN" dirty="0"/>
              <a:t>AKM</a:t>
            </a:r>
            <a:r>
              <a:rPr lang="zh-CN" altLang="en-US" dirty="0"/>
              <a:t>套件有：</a:t>
            </a:r>
            <a:endParaRPr lang="en-US" altLang="zh-CN" dirty="0"/>
          </a:p>
          <a:p>
            <a:pPr lvl="2">
              <a:lnSpc>
                <a:spcPct val="120000"/>
              </a:lnSpc>
            </a:pPr>
            <a:r>
              <a:rPr lang="en-US" altLang="zh-CN" dirty="0"/>
              <a:t>IEEE802.1X</a:t>
            </a:r>
          </a:p>
          <a:p>
            <a:pPr lvl="2">
              <a:lnSpc>
                <a:spcPct val="120000"/>
              </a:lnSpc>
            </a:pPr>
            <a:r>
              <a:rPr lang="zh-CN" altLang="en-US" dirty="0"/>
              <a:t>预共享密钥（无明确认证发送，如果站点和接入点共享密钥，则相互认证是必然的）</a:t>
            </a:r>
            <a:endParaRPr lang="en-US" altLang="zh-CN" dirty="0"/>
          </a:p>
          <a:p>
            <a:pPr lvl="2">
              <a:lnSpc>
                <a:spcPct val="120000"/>
              </a:lnSpc>
            </a:pPr>
            <a:r>
              <a:rPr lang="zh-CN" altLang="en-US" dirty="0"/>
              <a:t>供应商特性方法</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30</a:t>
            </a:fld>
            <a:endParaRPr kumimoji="1" lang="zh-CN" altLang="en-US" dirty="0"/>
          </a:p>
        </p:txBody>
      </p:sp>
    </p:spTree>
    <p:extLst>
      <p:ext uri="{BB962C8B-B14F-4D97-AF65-F5344CB8AC3E}">
        <p14:creationId xmlns:p14="http://schemas.microsoft.com/office/powerpoint/2010/main" val="2142673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9.3.3 </a:t>
            </a:r>
            <a:r>
              <a:rPr kumimoji="1" lang="zh-CN" altLang="zh-CN" dirty="0">
                <a:solidFill>
                  <a:prstClr val="black"/>
                </a:solidFill>
              </a:rPr>
              <a:t>发现阶段</a:t>
            </a:r>
            <a:endParaRPr lang="zh-CN" altLang="en-US" dirty="0"/>
          </a:p>
        </p:txBody>
      </p:sp>
      <p:sp>
        <p:nvSpPr>
          <p:cNvPr id="3" name="内容占位符 2"/>
          <p:cNvSpPr>
            <a:spLocks noGrp="1"/>
          </p:cNvSpPr>
          <p:nvPr>
            <p:ph idx="1"/>
          </p:nvPr>
        </p:nvSpPr>
        <p:spPr>
          <a:xfrm>
            <a:off x="838200" y="1510757"/>
            <a:ext cx="10515600" cy="4771289"/>
          </a:xfrm>
        </p:spPr>
        <p:txBody>
          <a:bodyPr>
            <a:normAutofit/>
          </a:bodyPr>
          <a:lstStyle/>
          <a:p>
            <a:r>
              <a:rPr lang="en-US" altLang="zh-CN" dirty="0">
                <a:solidFill>
                  <a:srgbClr val="C00000"/>
                </a:solidFill>
              </a:rPr>
              <a:t>MPDU</a:t>
            </a:r>
            <a:r>
              <a:rPr lang="en-US" altLang="zh-CN" b="1" dirty="0"/>
              <a:t> </a:t>
            </a:r>
            <a:r>
              <a:rPr lang="en-US" altLang="zh-CN" dirty="0">
                <a:solidFill>
                  <a:srgbClr val="C00000"/>
                </a:solidFill>
              </a:rPr>
              <a:t>(MAC Protocol Data Unit)</a:t>
            </a:r>
            <a:r>
              <a:rPr lang="zh-CN" altLang="en-US" dirty="0">
                <a:solidFill>
                  <a:srgbClr val="C00000"/>
                </a:solidFill>
              </a:rPr>
              <a:t>交换</a:t>
            </a:r>
            <a:r>
              <a:rPr lang="zh-CN" altLang="en-US" dirty="0"/>
              <a:t>：</a:t>
            </a:r>
            <a:endParaRPr lang="en-US" altLang="zh-CN" dirty="0"/>
          </a:p>
          <a:p>
            <a:pPr lvl="1">
              <a:lnSpc>
                <a:spcPct val="120000"/>
              </a:lnSpc>
            </a:pPr>
            <a:r>
              <a:rPr lang="zh-CN" altLang="en-US" dirty="0">
                <a:solidFill>
                  <a:srgbClr val="C00000"/>
                </a:solidFill>
              </a:rPr>
              <a:t>网络和安全通道的发现</a:t>
            </a:r>
            <a:r>
              <a:rPr lang="zh-CN" altLang="en-US" dirty="0"/>
              <a:t>：站点发现通信网络的存在（接入点信标周期性广播安全策略或通过探测响应帧回应站点的探测请求）。</a:t>
            </a:r>
            <a:endParaRPr lang="en-US" altLang="zh-CN" dirty="0"/>
          </a:p>
          <a:p>
            <a:pPr lvl="1">
              <a:lnSpc>
                <a:spcPct val="120000"/>
              </a:lnSpc>
            </a:pPr>
            <a:r>
              <a:rPr lang="zh-CN" altLang="en-US" dirty="0">
                <a:solidFill>
                  <a:srgbClr val="C00000"/>
                </a:solidFill>
              </a:rPr>
              <a:t>开放系统认证</a:t>
            </a:r>
            <a:r>
              <a:rPr lang="zh-CN" altLang="en-US" dirty="0"/>
              <a:t>：该帧序列并不保证安全，目的是为了与</a:t>
            </a:r>
            <a:r>
              <a:rPr lang="en-US" altLang="zh-CN" dirty="0"/>
              <a:t>802.11</a:t>
            </a:r>
            <a:r>
              <a:rPr lang="zh-CN" altLang="en-US" dirty="0"/>
              <a:t>状态机保持一定兼容性。本质上，站点和接入点只是进行身份交换。</a:t>
            </a:r>
            <a:endParaRPr lang="en-US" altLang="zh-CN" dirty="0"/>
          </a:p>
          <a:p>
            <a:pPr lvl="1">
              <a:lnSpc>
                <a:spcPct val="120000"/>
              </a:lnSpc>
            </a:pPr>
            <a:r>
              <a:rPr lang="zh-CN" altLang="en-US" dirty="0">
                <a:solidFill>
                  <a:srgbClr val="C00000"/>
                </a:solidFill>
              </a:rPr>
              <a:t>连接</a:t>
            </a:r>
            <a:r>
              <a:rPr lang="zh-CN" altLang="en-US" dirty="0"/>
              <a:t>：该阶段目的是协商一系列安全措施。站点发送连接请求帧（从安全策略中选择相匹配的策略（认证和密钥管理套件、成对加密套件、群组密钥加密套件））。如果没有匹配的策略，则接入点拒绝连接请求。</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31</a:t>
            </a:fld>
            <a:endParaRPr kumimoji="1" lang="zh-CN" altLang="en-US" dirty="0"/>
          </a:p>
        </p:txBody>
      </p:sp>
    </p:spTree>
    <p:extLst>
      <p:ext uri="{BB962C8B-B14F-4D97-AF65-F5344CB8AC3E}">
        <p14:creationId xmlns:p14="http://schemas.microsoft.com/office/powerpoint/2010/main" val="3080902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9.3.3 </a:t>
            </a:r>
            <a:r>
              <a:rPr kumimoji="1" lang="zh-CN" altLang="zh-CN" dirty="0">
                <a:solidFill>
                  <a:prstClr val="black"/>
                </a:solidFill>
              </a:rPr>
              <a:t>发现阶段</a:t>
            </a:r>
            <a:endParaRPr lang="zh-CN" altLang="en-US" dirty="0"/>
          </a:p>
        </p:txBody>
      </p:sp>
      <p:sp>
        <p:nvSpPr>
          <p:cNvPr id="3" name="内容占位符 2"/>
          <p:cNvSpPr>
            <a:spLocks noGrp="1"/>
          </p:cNvSpPr>
          <p:nvPr>
            <p:ph idx="1"/>
          </p:nvPr>
        </p:nvSpPr>
        <p:spPr>
          <a:xfrm>
            <a:off x="838200" y="1510757"/>
            <a:ext cx="10515600" cy="4771289"/>
          </a:xfrm>
        </p:spPr>
        <p:txBody>
          <a:bodyPr>
            <a:normAutofit/>
          </a:bodyPr>
          <a:lstStyle/>
          <a:p>
            <a:r>
              <a:rPr lang="en-US" altLang="zh-CN" dirty="0">
                <a:solidFill>
                  <a:srgbClr val="C00000"/>
                </a:solidFill>
              </a:rPr>
              <a:t>MPDU</a:t>
            </a:r>
            <a:r>
              <a:rPr lang="zh-CN" altLang="en-US" dirty="0">
                <a:solidFill>
                  <a:srgbClr val="C00000"/>
                </a:solidFill>
              </a:rPr>
              <a:t>交换</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32</a:t>
            </a:fld>
            <a:endParaRPr kumimoji="1" lang="zh-CN" altLang="en-US" dirty="0"/>
          </a:p>
        </p:txBody>
      </p:sp>
      <p:pic>
        <p:nvPicPr>
          <p:cNvPr id="6" name="图片 5"/>
          <p:cNvPicPr>
            <a:picLocks noChangeAspect="1"/>
          </p:cNvPicPr>
          <p:nvPr/>
        </p:nvPicPr>
        <p:blipFill>
          <a:blip r:embed="rId2"/>
          <a:stretch>
            <a:fillRect/>
          </a:stretch>
        </p:blipFill>
        <p:spPr>
          <a:xfrm>
            <a:off x="3243262" y="1533525"/>
            <a:ext cx="6717701" cy="4463514"/>
          </a:xfrm>
          <a:prstGeom prst="rect">
            <a:avLst/>
          </a:prstGeom>
        </p:spPr>
      </p:pic>
    </p:spTree>
    <p:extLst>
      <p:ext uri="{BB962C8B-B14F-4D97-AF65-F5344CB8AC3E}">
        <p14:creationId xmlns:p14="http://schemas.microsoft.com/office/powerpoint/2010/main" val="3476728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9.3.4 </a:t>
            </a:r>
            <a:r>
              <a:rPr kumimoji="1" lang="zh-CN" altLang="zh-CN" dirty="0">
                <a:solidFill>
                  <a:prstClr val="black"/>
                </a:solidFill>
              </a:rPr>
              <a:t>认证阶段</a:t>
            </a:r>
            <a:endParaRPr lang="zh-CN" altLang="en-US" dirty="0"/>
          </a:p>
        </p:txBody>
      </p:sp>
      <p:sp>
        <p:nvSpPr>
          <p:cNvPr id="3" name="内容占位符 2"/>
          <p:cNvSpPr>
            <a:spLocks noGrp="1"/>
          </p:cNvSpPr>
          <p:nvPr>
            <p:ph idx="1"/>
          </p:nvPr>
        </p:nvSpPr>
        <p:spPr>
          <a:xfrm>
            <a:off x="838200" y="1510758"/>
            <a:ext cx="5621977" cy="5163174"/>
          </a:xfrm>
        </p:spPr>
        <p:txBody>
          <a:bodyPr>
            <a:normAutofit/>
          </a:bodyPr>
          <a:lstStyle/>
          <a:p>
            <a:r>
              <a:rPr lang="zh-CN" altLang="en-US" dirty="0"/>
              <a:t>站点和位于分布式系统中的认证服务器之间的相互认证。</a:t>
            </a:r>
            <a:endParaRPr lang="en-US" altLang="zh-CN" dirty="0"/>
          </a:p>
          <a:p>
            <a:pPr lvl="1"/>
            <a:r>
              <a:rPr lang="en-US" altLang="zh-CN" dirty="0"/>
              <a:t>IEEE802.1X</a:t>
            </a:r>
            <a:r>
              <a:rPr lang="zh-CN" altLang="en-US" dirty="0"/>
              <a:t>访问控制（参见</a:t>
            </a:r>
            <a:r>
              <a:rPr lang="en-US" altLang="zh-CN" dirty="0"/>
              <a:t>8.3</a:t>
            </a:r>
            <a:r>
              <a:rPr lang="zh-CN" altLang="en-US" dirty="0"/>
              <a:t>节）</a:t>
            </a:r>
            <a:endParaRPr lang="en-US" altLang="zh-CN" dirty="0"/>
          </a:p>
          <a:p>
            <a:pPr lvl="1"/>
            <a:r>
              <a:rPr lang="en-US" altLang="zh-CN" dirty="0"/>
              <a:t>MPDU</a:t>
            </a:r>
            <a:r>
              <a:rPr lang="zh-CN" altLang="en-US" dirty="0"/>
              <a:t>交换：</a:t>
            </a:r>
            <a:r>
              <a:rPr lang="en-US" altLang="zh-CN" dirty="0"/>
              <a:t>3</a:t>
            </a:r>
            <a:r>
              <a:rPr lang="zh-CN" altLang="en-US" dirty="0"/>
              <a:t>个小阶段</a:t>
            </a:r>
            <a:endParaRPr lang="en-US" altLang="zh-CN" dirty="0"/>
          </a:p>
          <a:p>
            <a:pPr lvl="2"/>
            <a:r>
              <a:rPr lang="zh-CN" altLang="en-US" dirty="0"/>
              <a:t>连接到认证服务器</a:t>
            </a:r>
            <a:endParaRPr lang="en-US" altLang="zh-CN" dirty="0"/>
          </a:p>
          <a:p>
            <a:pPr lvl="2"/>
            <a:r>
              <a:rPr lang="en-US" altLang="zh-CN" dirty="0"/>
              <a:t>EAP</a:t>
            </a:r>
            <a:r>
              <a:rPr lang="zh-CN" altLang="en-US" dirty="0"/>
              <a:t>交换</a:t>
            </a:r>
            <a:endParaRPr lang="en-US" altLang="zh-CN" dirty="0"/>
          </a:p>
          <a:p>
            <a:pPr lvl="2"/>
            <a:r>
              <a:rPr lang="zh-CN" altLang="en-US" dirty="0"/>
              <a:t>安全密钥传送：认证服务器产生主会话密钥（</a:t>
            </a:r>
            <a:r>
              <a:rPr lang="en-US" altLang="zh-CN" dirty="0"/>
              <a:t>MSK</a:t>
            </a:r>
            <a:r>
              <a:rPr lang="zh-CN" altLang="en-US" dirty="0"/>
              <a:t>），即认证、授权、记账（</a:t>
            </a:r>
            <a:r>
              <a:rPr lang="en-US" altLang="zh-CN" dirty="0"/>
              <a:t>AAA</a:t>
            </a:r>
            <a:r>
              <a:rPr lang="zh-CN" altLang="en-US" dirty="0"/>
              <a:t>）密钥，并将其发送给站点。站点所需要的所有密钥均可由主密钥产生。主密钥传送方法有</a:t>
            </a:r>
            <a:r>
              <a:rPr lang="en-US" altLang="zh-CN" dirty="0"/>
              <a:t>EAP</a:t>
            </a:r>
            <a:r>
              <a:rPr lang="zh-CN" altLang="en-US" dirty="0"/>
              <a:t>解决</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33</a:t>
            </a:fld>
            <a:endParaRPr kumimoji="1" lang="zh-CN" altLang="en-US" dirty="0"/>
          </a:p>
        </p:txBody>
      </p:sp>
      <p:grpSp>
        <p:nvGrpSpPr>
          <p:cNvPr id="8" name="组合 7"/>
          <p:cNvGrpSpPr/>
          <p:nvPr/>
        </p:nvGrpSpPr>
        <p:grpSpPr>
          <a:xfrm>
            <a:off x="6286500" y="2256560"/>
            <a:ext cx="5067300" cy="4038603"/>
            <a:chOff x="3550475" y="2256560"/>
            <a:chExt cx="5067300" cy="4038603"/>
          </a:xfrm>
        </p:grpSpPr>
        <p:pic>
          <p:nvPicPr>
            <p:cNvPr id="6" name="图片 5"/>
            <p:cNvPicPr>
              <a:picLocks noChangeAspect="1"/>
            </p:cNvPicPr>
            <p:nvPr/>
          </p:nvPicPr>
          <p:blipFill>
            <a:blip r:embed="rId3"/>
            <a:stretch>
              <a:fillRect/>
            </a:stretch>
          </p:blipFill>
          <p:spPr>
            <a:xfrm>
              <a:off x="3550475" y="2256560"/>
              <a:ext cx="5067300" cy="1181100"/>
            </a:xfrm>
            <a:prstGeom prst="rect">
              <a:avLst/>
            </a:prstGeom>
          </p:spPr>
        </p:pic>
        <p:pic>
          <p:nvPicPr>
            <p:cNvPr id="5" name="图片 4"/>
            <p:cNvPicPr>
              <a:picLocks noChangeAspect="1"/>
            </p:cNvPicPr>
            <p:nvPr/>
          </p:nvPicPr>
          <p:blipFill>
            <a:blip r:embed="rId4"/>
            <a:stretch>
              <a:fillRect/>
            </a:stretch>
          </p:blipFill>
          <p:spPr>
            <a:xfrm>
              <a:off x="3586162" y="3390038"/>
              <a:ext cx="5019675" cy="2905125"/>
            </a:xfrm>
            <a:prstGeom prst="rect">
              <a:avLst/>
            </a:prstGeom>
          </p:spPr>
        </p:pic>
      </p:grpSp>
    </p:spTree>
    <p:extLst>
      <p:ext uri="{BB962C8B-B14F-4D97-AF65-F5344CB8AC3E}">
        <p14:creationId xmlns:p14="http://schemas.microsoft.com/office/powerpoint/2010/main" val="1443244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9.3.5 </a:t>
            </a:r>
            <a:r>
              <a:rPr kumimoji="1" lang="zh-CN" altLang="zh-CN" dirty="0">
                <a:solidFill>
                  <a:prstClr val="black"/>
                </a:solidFill>
              </a:rPr>
              <a:t>密钥管理阶段</a:t>
            </a:r>
            <a:endParaRPr lang="zh-CN" altLang="en-US" dirty="0"/>
          </a:p>
        </p:txBody>
      </p:sp>
      <p:sp>
        <p:nvSpPr>
          <p:cNvPr id="3" name="内容占位符 2"/>
          <p:cNvSpPr>
            <a:spLocks noGrp="1"/>
          </p:cNvSpPr>
          <p:nvPr>
            <p:ph idx="1"/>
          </p:nvPr>
        </p:nvSpPr>
        <p:spPr/>
        <p:txBody>
          <a:bodyPr>
            <a:normAutofit/>
          </a:bodyPr>
          <a:lstStyle/>
          <a:p>
            <a:r>
              <a:rPr lang="zh-CN" altLang="en-US" sz="2400" dirty="0"/>
              <a:t>密钥管理阶段，会产生一系列的密钥并分配到站点中。</a:t>
            </a:r>
            <a:endParaRPr lang="en-US" altLang="zh-CN" sz="2400" dirty="0"/>
          </a:p>
          <a:p>
            <a:r>
              <a:rPr lang="zh-CN" altLang="en-US" sz="2400" dirty="0"/>
              <a:t>密钥分为两类：用于单播的</a:t>
            </a:r>
            <a:r>
              <a:rPr lang="zh-CN" altLang="en-US" sz="2400" dirty="0">
                <a:solidFill>
                  <a:srgbClr val="C00000"/>
                </a:solidFill>
              </a:rPr>
              <a:t>成对密钥</a:t>
            </a:r>
            <a:r>
              <a:rPr lang="zh-CN" altLang="en-US" sz="2400" dirty="0"/>
              <a:t>和用于组播的</a:t>
            </a:r>
            <a:r>
              <a:rPr lang="zh-CN" altLang="en-US" sz="2400" dirty="0">
                <a:solidFill>
                  <a:srgbClr val="C00000"/>
                </a:solidFill>
              </a:rPr>
              <a:t>群组密钥</a:t>
            </a:r>
            <a:endParaRPr lang="en-US" altLang="zh-CN" sz="2400"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34</a:t>
            </a:fld>
            <a:endParaRPr kumimoji="1" lang="zh-CN" altLang="en-US" dirty="0"/>
          </a:p>
        </p:txBody>
      </p:sp>
      <p:pic>
        <p:nvPicPr>
          <p:cNvPr id="5" name="图片 4"/>
          <p:cNvPicPr>
            <a:picLocks noChangeAspect="1"/>
          </p:cNvPicPr>
          <p:nvPr/>
        </p:nvPicPr>
        <p:blipFill>
          <a:blip r:embed="rId2"/>
          <a:stretch>
            <a:fillRect/>
          </a:stretch>
        </p:blipFill>
        <p:spPr>
          <a:xfrm>
            <a:off x="1666875" y="2422072"/>
            <a:ext cx="8498403" cy="3911138"/>
          </a:xfrm>
          <a:prstGeom prst="rect">
            <a:avLst/>
          </a:prstGeom>
        </p:spPr>
      </p:pic>
    </p:spTree>
    <p:extLst>
      <p:ext uri="{BB962C8B-B14F-4D97-AF65-F5344CB8AC3E}">
        <p14:creationId xmlns:p14="http://schemas.microsoft.com/office/powerpoint/2010/main" val="13065669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9.3.5 </a:t>
            </a:r>
            <a:r>
              <a:rPr kumimoji="1" lang="zh-CN" altLang="zh-CN" dirty="0">
                <a:solidFill>
                  <a:prstClr val="black"/>
                </a:solidFill>
              </a:rPr>
              <a:t>密钥管理阶段</a:t>
            </a:r>
            <a:endParaRPr lang="zh-CN" altLang="en-US" dirty="0"/>
          </a:p>
        </p:txBody>
      </p:sp>
      <p:sp>
        <p:nvSpPr>
          <p:cNvPr id="3" name="内容占位符 2"/>
          <p:cNvSpPr>
            <a:spLocks noGrp="1"/>
          </p:cNvSpPr>
          <p:nvPr>
            <p:ph idx="1"/>
          </p:nvPr>
        </p:nvSpPr>
        <p:spPr/>
        <p:txBody>
          <a:bodyPr>
            <a:normAutofit/>
          </a:bodyPr>
          <a:lstStyle/>
          <a:p>
            <a:r>
              <a:rPr lang="zh-CN" altLang="en-US" sz="2400" dirty="0"/>
              <a:t>密钥管理阶段，会产生一系列的密钥并分配到站点中。</a:t>
            </a:r>
            <a:endParaRPr lang="en-US" altLang="zh-CN" sz="2400" dirty="0"/>
          </a:p>
          <a:p>
            <a:r>
              <a:rPr lang="zh-CN" altLang="en-US" sz="2400" dirty="0"/>
              <a:t>密钥分为两类：用于单播的</a:t>
            </a:r>
            <a:r>
              <a:rPr lang="zh-CN" altLang="en-US" sz="2400" dirty="0">
                <a:solidFill>
                  <a:srgbClr val="C00000"/>
                </a:solidFill>
              </a:rPr>
              <a:t>成对密钥</a:t>
            </a:r>
            <a:r>
              <a:rPr lang="zh-CN" altLang="en-US" sz="2400" dirty="0"/>
              <a:t>和用于组播的</a:t>
            </a:r>
            <a:r>
              <a:rPr lang="zh-CN" altLang="en-US" sz="2400" dirty="0">
                <a:solidFill>
                  <a:srgbClr val="C00000"/>
                </a:solidFill>
              </a:rPr>
              <a:t>群组密钥</a:t>
            </a:r>
            <a:endParaRPr lang="en-US" altLang="zh-CN" sz="2400"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35</a:t>
            </a:fld>
            <a:endParaRPr kumimoji="1" lang="zh-CN" altLang="en-US" dirty="0"/>
          </a:p>
        </p:txBody>
      </p:sp>
      <p:pic>
        <p:nvPicPr>
          <p:cNvPr id="6" name="图片 5"/>
          <p:cNvPicPr>
            <a:picLocks noChangeAspect="1"/>
          </p:cNvPicPr>
          <p:nvPr/>
        </p:nvPicPr>
        <p:blipFill>
          <a:blip r:embed="rId2"/>
          <a:stretch>
            <a:fillRect/>
          </a:stretch>
        </p:blipFill>
        <p:spPr>
          <a:xfrm>
            <a:off x="1512664" y="2536433"/>
            <a:ext cx="9044966" cy="3827565"/>
          </a:xfrm>
          <a:prstGeom prst="rect">
            <a:avLst/>
          </a:prstGeom>
        </p:spPr>
      </p:pic>
    </p:spTree>
    <p:extLst>
      <p:ext uri="{BB962C8B-B14F-4D97-AF65-F5344CB8AC3E}">
        <p14:creationId xmlns:p14="http://schemas.microsoft.com/office/powerpoint/2010/main" val="3604091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9.3.5 </a:t>
            </a:r>
            <a:r>
              <a:rPr kumimoji="1" lang="zh-CN" altLang="zh-CN" dirty="0">
                <a:solidFill>
                  <a:prstClr val="black"/>
                </a:solidFill>
              </a:rPr>
              <a:t>密钥管理阶段</a:t>
            </a:r>
            <a:endParaRPr lang="zh-CN" altLang="en-US" dirty="0"/>
          </a:p>
        </p:txBody>
      </p:sp>
      <p:sp>
        <p:nvSpPr>
          <p:cNvPr id="3" name="内容占位符 2"/>
          <p:cNvSpPr>
            <a:spLocks noGrp="1"/>
          </p:cNvSpPr>
          <p:nvPr>
            <p:ph idx="1"/>
          </p:nvPr>
        </p:nvSpPr>
        <p:spPr/>
        <p:txBody>
          <a:bodyPr>
            <a:normAutofit/>
          </a:bodyPr>
          <a:lstStyle/>
          <a:p>
            <a:r>
              <a:rPr lang="zh-CN" altLang="en-US" sz="2400" dirty="0"/>
              <a:t>密钥的层次</a:t>
            </a:r>
            <a:endParaRPr lang="en-US" altLang="zh-CN" sz="2400"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36</a:t>
            </a:fld>
            <a:endParaRPr kumimoji="1" lang="zh-CN" altLang="en-US" dirty="0"/>
          </a:p>
        </p:txBody>
      </p:sp>
      <p:pic>
        <p:nvPicPr>
          <p:cNvPr id="5" name="图片 4"/>
          <p:cNvPicPr>
            <a:picLocks noChangeAspect="1"/>
          </p:cNvPicPr>
          <p:nvPr/>
        </p:nvPicPr>
        <p:blipFill>
          <a:blip r:embed="rId2"/>
          <a:stretch>
            <a:fillRect/>
          </a:stretch>
        </p:blipFill>
        <p:spPr>
          <a:xfrm>
            <a:off x="4703247" y="1639634"/>
            <a:ext cx="6827693" cy="4601487"/>
          </a:xfrm>
          <a:prstGeom prst="rect">
            <a:avLst/>
          </a:prstGeom>
        </p:spPr>
      </p:pic>
      <p:pic>
        <p:nvPicPr>
          <p:cNvPr id="7" name="图片 6"/>
          <p:cNvPicPr>
            <a:picLocks noChangeAspect="1"/>
          </p:cNvPicPr>
          <p:nvPr/>
        </p:nvPicPr>
        <p:blipFill>
          <a:blip r:embed="rId3"/>
          <a:stretch>
            <a:fillRect/>
          </a:stretch>
        </p:blipFill>
        <p:spPr>
          <a:xfrm>
            <a:off x="838200" y="2752172"/>
            <a:ext cx="3581817" cy="2627350"/>
          </a:xfrm>
          <a:prstGeom prst="rect">
            <a:avLst/>
          </a:prstGeom>
        </p:spPr>
      </p:pic>
    </p:spTree>
    <p:extLst>
      <p:ext uri="{BB962C8B-B14F-4D97-AF65-F5344CB8AC3E}">
        <p14:creationId xmlns:p14="http://schemas.microsoft.com/office/powerpoint/2010/main" val="1474248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9.3.5 </a:t>
            </a:r>
            <a:r>
              <a:rPr kumimoji="1" lang="zh-CN" altLang="zh-CN" dirty="0">
                <a:solidFill>
                  <a:prstClr val="black"/>
                </a:solidFill>
              </a:rPr>
              <a:t>密钥管理阶段</a:t>
            </a:r>
            <a:endParaRPr lang="zh-CN" altLang="en-US" dirty="0"/>
          </a:p>
        </p:txBody>
      </p:sp>
      <p:sp>
        <p:nvSpPr>
          <p:cNvPr id="3" name="内容占位符 2"/>
          <p:cNvSpPr>
            <a:spLocks noGrp="1"/>
          </p:cNvSpPr>
          <p:nvPr>
            <p:ph idx="1"/>
          </p:nvPr>
        </p:nvSpPr>
        <p:spPr>
          <a:xfrm>
            <a:off x="558140" y="1425039"/>
            <a:ext cx="5130141" cy="5284518"/>
          </a:xfrm>
        </p:spPr>
        <p:txBody>
          <a:bodyPr>
            <a:normAutofit/>
          </a:bodyPr>
          <a:lstStyle/>
          <a:p>
            <a:r>
              <a:rPr lang="zh-CN" altLang="en-US" sz="2400" dirty="0"/>
              <a:t>密钥的发布</a:t>
            </a:r>
            <a:endParaRPr lang="en-US" altLang="zh-CN" sz="2400" dirty="0"/>
          </a:p>
          <a:p>
            <a:pPr lvl="1"/>
            <a:r>
              <a:rPr lang="zh-CN" altLang="en-US" sz="2000" dirty="0">
                <a:solidFill>
                  <a:srgbClr val="C00000"/>
                </a:solidFill>
              </a:rPr>
              <a:t>成对密钥的发布</a:t>
            </a:r>
            <a:r>
              <a:rPr lang="zh-CN" altLang="en-US" sz="2000" dirty="0"/>
              <a:t>：</a:t>
            </a:r>
            <a:r>
              <a:rPr lang="en-US" altLang="zh-CN" sz="2000" dirty="0"/>
              <a:t>4</a:t>
            </a:r>
            <a:r>
              <a:rPr lang="zh-CN" altLang="en-US" sz="2000" dirty="0"/>
              <a:t>次握手</a:t>
            </a:r>
            <a:endParaRPr lang="en-US" altLang="zh-CN" sz="2000" dirty="0"/>
          </a:p>
          <a:p>
            <a:pPr lvl="2"/>
            <a:r>
              <a:rPr lang="zh-CN" altLang="en-US" sz="1600" dirty="0"/>
              <a:t>接入点→站点：</a:t>
            </a:r>
            <a:r>
              <a:rPr lang="en-US" altLang="zh-CN" sz="1600" dirty="0"/>
              <a:t>AP</a:t>
            </a:r>
            <a:r>
              <a:rPr lang="zh-CN" altLang="en-US" sz="1600" dirty="0"/>
              <a:t>的</a:t>
            </a:r>
            <a:r>
              <a:rPr lang="en-US" altLang="zh-CN" sz="1600" dirty="0"/>
              <a:t>MAC</a:t>
            </a:r>
            <a:r>
              <a:rPr lang="zh-CN" altLang="en-US" sz="1600" dirty="0"/>
              <a:t>地址和随机数</a:t>
            </a:r>
            <a:endParaRPr lang="en-US" altLang="zh-CN" sz="1600" dirty="0"/>
          </a:p>
          <a:p>
            <a:pPr lvl="2"/>
            <a:r>
              <a:rPr lang="zh-CN" altLang="en-US" sz="1600" dirty="0"/>
              <a:t>站点→接入点：产生随机数，利用两个随机数</a:t>
            </a:r>
            <a:r>
              <a:rPr lang="en-US" altLang="zh-CN" sz="1600" dirty="0"/>
              <a:t>+</a:t>
            </a:r>
            <a:r>
              <a:rPr lang="zh-CN" altLang="en-US" sz="1600" dirty="0"/>
              <a:t>两个</a:t>
            </a:r>
            <a:r>
              <a:rPr lang="en-US" altLang="zh-CN" sz="1600" dirty="0"/>
              <a:t>MAC</a:t>
            </a:r>
            <a:r>
              <a:rPr lang="zh-CN" altLang="en-US" sz="1600" dirty="0"/>
              <a:t>地址</a:t>
            </a:r>
            <a:r>
              <a:rPr lang="en-US" altLang="zh-CN" sz="1600" dirty="0"/>
              <a:t>+</a:t>
            </a:r>
            <a:r>
              <a:rPr lang="zh-CN" altLang="en-US" sz="1600" dirty="0"/>
              <a:t>成对主密钥生成临时密钥。发送</a:t>
            </a:r>
            <a:r>
              <a:rPr lang="en-US" altLang="zh-CN" sz="1600" dirty="0"/>
              <a:t>STA</a:t>
            </a:r>
            <a:r>
              <a:rPr lang="zh-CN" altLang="en-US" sz="1600" dirty="0"/>
              <a:t>的</a:t>
            </a:r>
            <a:r>
              <a:rPr lang="en-US" altLang="zh-CN" sz="1600" dirty="0"/>
              <a:t>MAC</a:t>
            </a:r>
            <a:r>
              <a:rPr lang="zh-CN" altLang="en-US" sz="1600" dirty="0"/>
              <a:t>地址和随机数到</a:t>
            </a:r>
            <a:r>
              <a:rPr lang="en-US" altLang="zh-CN" sz="1600" dirty="0"/>
              <a:t>AP</a:t>
            </a:r>
            <a:r>
              <a:rPr lang="zh-CN" altLang="en-US" sz="1600" dirty="0"/>
              <a:t>（该消息包含</a:t>
            </a:r>
            <a:r>
              <a:rPr lang="en-US" altLang="zh-CN" sz="1600" dirty="0"/>
              <a:t>MIC</a:t>
            </a:r>
            <a:r>
              <a:rPr lang="zh-CN" altLang="en-US" sz="1600" dirty="0"/>
              <a:t>，使用</a:t>
            </a:r>
            <a:r>
              <a:rPr lang="en-US" altLang="zh-CN" sz="1600" dirty="0"/>
              <a:t>KCK</a:t>
            </a:r>
            <a:r>
              <a:rPr lang="zh-CN" altLang="en-US" sz="1600" dirty="0"/>
              <a:t>），</a:t>
            </a:r>
            <a:r>
              <a:rPr lang="en-US" altLang="zh-CN" sz="1600" dirty="0"/>
              <a:t>AP</a:t>
            </a:r>
            <a:r>
              <a:rPr lang="zh-CN" altLang="en-US" sz="1600" dirty="0"/>
              <a:t>生成相同的临时密钥</a:t>
            </a:r>
            <a:endParaRPr lang="en-US" altLang="zh-CN" sz="1600" dirty="0"/>
          </a:p>
          <a:p>
            <a:pPr lvl="2"/>
            <a:r>
              <a:rPr lang="zh-CN" altLang="en-US" sz="1600" dirty="0"/>
              <a:t>接入点→站点：包含第一次信息的相同内容，并包含</a:t>
            </a:r>
            <a:r>
              <a:rPr lang="en-US" altLang="zh-CN" sz="1600" dirty="0"/>
              <a:t>MIC</a:t>
            </a:r>
          </a:p>
          <a:p>
            <a:pPr lvl="2"/>
            <a:r>
              <a:rPr lang="zh-CN" altLang="en-US" sz="1600" dirty="0"/>
              <a:t>站点→接入点：确认信息，包含</a:t>
            </a:r>
            <a:r>
              <a:rPr lang="en-US" altLang="zh-CN" sz="1600" dirty="0"/>
              <a:t>MIC</a:t>
            </a:r>
            <a:endParaRPr lang="en-US" altLang="zh-CN" sz="1600" dirty="0">
              <a:solidFill>
                <a:srgbClr val="C00000"/>
              </a:solidFill>
            </a:endParaRPr>
          </a:p>
          <a:p>
            <a:pPr lvl="1"/>
            <a:r>
              <a:rPr lang="zh-CN" altLang="en-US" sz="2000" dirty="0">
                <a:solidFill>
                  <a:srgbClr val="C00000"/>
                </a:solidFill>
              </a:rPr>
              <a:t>群组密钥的发布</a:t>
            </a:r>
            <a:r>
              <a:rPr lang="zh-CN" altLang="en-US" sz="2000" dirty="0"/>
              <a:t>：接入点产生临时密钥发布到组播群，两次信息交换</a:t>
            </a:r>
            <a:endParaRPr lang="en-US" altLang="zh-CN" sz="2000" dirty="0"/>
          </a:p>
          <a:p>
            <a:pPr lvl="2"/>
            <a:r>
              <a:rPr lang="zh-CN" altLang="en-US" sz="1600" dirty="0"/>
              <a:t>接入点→站点：包含</a:t>
            </a:r>
            <a:r>
              <a:rPr lang="en-US" altLang="zh-CN" sz="1600" dirty="0"/>
              <a:t>RC4</a:t>
            </a:r>
            <a:r>
              <a:rPr lang="zh-CN" altLang="en-US" sz="1600" dirty="0"/>
              <a:t>或</a:t>
            </a:r>
            <a:r>
              <a:rPr lang="en-US" altLang="zh-CN" sz="1600" dirty="0"/>
              <a:t>AES</a:t>
            </a:r>
            <a:r>
              <a:rPr lang="zh-CN" altLang="en-US" sz="1600" dirty="0"/>
              <a:t>的群组临时密钥，加密密钥为</a:t>
            </a:r>
            <a:r>
              <a:rPr lang="en-US" altLang="zh-CN" sz="1600" dirty="0"/>
              <a:t>KEK</a:t>
            </a:r>
          </a:p>
          <a:p>
            <a:pPr lvl="2"/>
            <a:r>
              <a:rPr lang="zh-CN" altLang="en-US" sz="1600" dirty="0"/>
              <a:t>站点→接入点：确认，包含</a:t>
            </a:r>
            <a:r>
              <a:rPr lang="en-US" altLang="zh-CN" sz="1600" dirty="0"/>
              <a:t>MIC</a:t>
            </a: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37</a:t>
            </a:fld>
            <a:endParaRPr kumimoji="1" lang="zh-CN" altLang="en-US" dirty="0"/>
          </a:p>
        </p:txBody>
      </p:sp>
      <p:pic>
        <p:nvPicPr>
          <p:cNvPr id="6" name="图片 5"/>
          <p:cNvPicPr>
            <a:picLocks noChangeAspect="1"/>
          </p:cNvPicPr>
          <p:nvPr/>
        </p:nvPicPr>
        <p:blipFill>
          <a:blip r:embed="rId2"/>
          <a:stretch>
            <a:fillRect/>
          </a:stretch>
        </p:blipFill>
        <p:spPr>
          <a:xfrm>
            <a:off x="5854535" y="1290738"/>
            <a:ext cx="5688281" cy="5569776"/>
          </a:xfrm>
          <a:prstGeom prst="rect">
            <a:avLst/>
          </a:prstGeom>
        </p:spPr>
      </p:pic>
    </p:spTree>
    <p:extLst>
      <p:ext uri="{BB962C8B-B14F-4D97-AF65-F5344CB8AC3E}">
        <p14:creationId xmlns:p14="http://schemas.microsoft.com/office/powerpoint/2010/main" val="10872240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9.3.6 </a:t>
            </a:r>
            <a:r>
              <a:rPr kumimoji="1" lang="zh-CN" altLang="zh-CN" dirty="0">
                <a:solidFill>
                  <a:prstClr val="black"/>
                </a:solidFill>
              </a:rPr>
              <a:t>保密数据传输阶段</a:t>
            </a:r>
            <a:endParaRPr lang="zh-CN" altLang="en-US" dirty="0"/>
          </a:p>
        </p:txBody>
      </p:sp>
      <p:sp>
        <p:nvSpPr>
          <p:cNvPr id="3" name="内容占位符 2"/>
          <p:cNvSpPr>
            <a:spLocks noGrp="1"/>
          </p:cNvSpPr>
          <p:nvPr>
            <p:ph idx="1"/>
          </p:nvPr>
        </p:nvSpPr>
        <p:spPr>
          <a:xfrm>
            <a:off x="838200" y="1330036"/>
            <a:ext cx="10515600" cy="5035138"/>
          </a:xfrm>
        </p:spPr>
        <p:txBody>
          <a:bodyPr>
            <a:normAutofit/>
          </a:bodyPr>
          <a:lstStyle/>
          <a:p>
            <a:r>
              <a:rPr lang="zh-CN" altLang="en-US" dirty="0"/>
              <a:t>两种机制保护数据的传输：</a:t>
            </a:r>
            <a:endParaRPr lang="en-US" altLang="zh-CN" dirty="0"/>
          </a:p>
          <a:p>
            <a:pPr lvl="1">
              <a:lnSpc>
                <a:spcPct val="120000"/>
              </a:lnSpc>
            </a:pPr>
            <a:r>
              <a:rPr lang="zh-CN" altLang="en-US" dirty="0">
                <a:solidFill>
                  <a:srgbClr val="C00000"/>
                </a:solidFill>
              </a:rPr>
              <a:t>临时密钥集成协议（</a:t>
            </a:r>
            <a:r>
              <a:rPr lang="en-US" altLang="zh-CN" dirty="0">
                <a:solidFill>
                  <a:srgbClr val="C00000"/>
                </a:solidFill>
              </a:rPr>
              <a:t>TKIP</a:t>
            </a:r>
            <a:r>
              <a:rPr lang="zh-CN" altLang="en-US" dirty="0">
                <a:solidFill>
                  <a:srgbClr val="C00000"/>
                </a:solidFill>
              </a:rPr>
              <a:t>）</a:t>
            </a:r>
            <a:r>
              <a:rPr lang="zh-CN" altLang="en-US" dirty="0"/>
              <a:t>：）。只需要对由旧版本无线局域网安全措施</a:t>
            </a:r>
            <a:r>
              <a:rPr lang="en-US" altLang="zh-CN" dirty="0"/>
              <a:t>WEP</a:t>
            </a:r>
            <a:r>
              <a:rPr lang="zh-CN" altLang="en-US" dirty="0"/>
              <a:t>支持的设备进行软件改变即可。提供两种服务：</a:t>
            </a:r>
            <a:endParaRPr lang="en-US" altLang="zh-CN" dirty="0"/>
          </a:p>
          <a:p>
            <a:pPr lvl="2">
              <a:lnSpc>
                <a:spcPct val="120000"/>
              </a:lnSpc>
            </a:pPr>
            <a:r>
              <a:rPr lang="zh-CN" altLang="en-US" sz="2400" b="1" dirty="0"/>
              <a:t>信息完整性</a:t>
            </a:r>
            <a:r>
              <a:rPr lang="zh-CN" altLang="en-US" sz="2400" dirty="0"/>
              <a:t>：</a:t>
            </a:r>
            <a:r>
              <a:rPr lang="en-US" altLang="zh-CN" sz="2400" dirty="0"/>
              <a:t>TKIP</a:t>
            </a:r>
            <a:r>
              <a:rPr lang="zh-CN" altLang="en-US" sz="2400" dirty="0"/>
              <a:t>在</a:t>
            </a:r>
            <a:r>
              <a:rPr lang="en-US" altLang="zh-CN" sz="2400" dirty="0"/>
              <a:t>802.11MAC</a:t>
            </a:r>
            <a:r>
              <a:rPr lang="zh-CN" altLang="en-US" sz="2400" dirty="0"/>
              <a:t>帧的数据域之后增加了信息完整性字段（由</a:t>
            </a:r>
            <a:r>
              <a:rPr lang="en-US" altLang="zh-CN" sz="2400" dirty="0"/>
              <a:t>Michael</a:t>
            </a:r>
            <a:r>
              <a:rPr lang="zh-CN" altLang="en-US" sz="2400" dirty="0"/>
              <a:t>算法产生，使用源和目的的</a:t>
            </a:r>
            <a:r>
              <a:rPr lang="en-US" altLang="zh-CN" sz="2400" dirty="0"/>
              <a:t>MAC</a:t>
            </a:r>
            <a:r>
              <a:rPr lang="zh-CN" altLang="en-US" sz="2400" dirty="0"/>
              <a:t>地址、数据域和密钥作为输入产生一个</a:t>
            </a:r>
            <a:r>
              <a:rPr lang="en-US" altLang="zh-CN" sz="2400" dirty="0"/>
              <a:t>64</a:t>
            </a:r>
            <a:r>
              <a:rPr lang="zh-CN" altLang="en-US" sz="2400" dirty="0"/>
              <a:t>比特的值）。</a:t>
            </a:r>
            <a:endParaRPr lang="en-US" altLang="zh-CN" sz="2400" dirty="0"/>
          </a:p>
          <a:p>
            <a:pPr lvl="2">
              <a:lnSpc>
                <a:spcPct val="120000"/>
              </a:lnSpc>
            </a:pPr>
            <a:r>
              <a:rPr lang="zh-CN" altLang="en-US" sz="2400" b="1" dirty="0"/>
              <a:t>数据机密性</a:t>
            </a:r>
            <a:r>
              <a:rPr lang="zh-CN" altLang="en-US" sz="2400" dirty="0"/>
              <a:t>：数据机密性通过</a:t>
            </a:r>
            <a:r>
              <a:rPr lang="en-US" altLang="zh-CN" sz="2400" dirty="0"/>
              <a:t>RC4</a:t>
            </a:r>
            <a:r>
              <a:rPr lang="zh-CN" altLang="en-US" sz="2400" dirty="0"/>
              <a:t>加密</a:t>
            </a:r>
            <a:r>
              <a:rPr lang="en-US" altLang="zh-CN" sz="2400" dirty="0"/>
              <a:t>MAC</a:t>
            </a:r>
            <a:r>
              <a:rPr lang="zh-CN" altLang="en-US" sz="2400" dirty="0"/>
              <a:t>协议数据单元和信息完整性字段来获得。</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38</a:t>
            </a:fld>
            <a:endParaRPr kumimoji="1" lang="zh-CN" altLang="en-US" dirty="0"/>
          </a:p>
        </p:txBody>
      </p:sp>
    </p:spTree>
    <p:extLst>
      <p:ext uri="{BB962C8B-B14F-4D97-AF65-F5344CB8AC3E}">
        <p14:creationId xmlns:p14="http://schemas.microsoft.com/office/powerpoint/2010/main" val="3990879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9.3.6 </a:t>
            </a:r>
            <a:r>
              <a:rPr kumimoji="1" lang="zh-CN" altLang="zh-CN" dirty="0">
                <a:solidFill>
                  <a:prstClr val="black"/>
                </a:solidFill>
              </a:rPr>
              <a:t>保密数据传输阶段</a:t>
            </a:r>
            <a:endParaRPr lang="zh-CN" altLang="en-US" dirty="0"/>
          </a:p>
        </p:txBody>
      </p:sp>
      <p:sp>
        <p:nvSpPr>
          <p:cNvPr id="3" name="内容占位符 2"/>
          <p:cNvSpPr>
            <a:spLocks noGrp="1"/>
          </p:cNvSpPr>
          <p:nvPr>
            <p:ph idx="1"/>
          </p:nvPr>
        </p:nvSpPr>
        <p:spPr>
          <a:xfrm>
            <a:off x="838200" y="1330036"/>
            <a:ext cx="10515600" cy="5035138"/>
          </a:xfrm>
        </p:spPr>
        <p:txBody>
          <a:bodyPr>
            <a:normAutofit fontScale="92500" lnSpcReduction="10000"/>
          </a:bodyPr>
          <a:lstStyle/>
          <a:p>
            <a:pPr>
              <a:lnSpc>
                <a:spcPct val="120000"/>
              </a:lnSpc>
            </a:pPr>
            <a:r>
              <a:rPr lang="zh-CN" altLang="en-US" dirty="0"/>
              <a:t>两种机制保护数据的传输：</a:t>
            </a:r>
            <a:endParaRPr lang="en-US" altLang="zh-CN" dirty="0"/>
          </a:p>
          <a:p>
            <a:pPr lvl="1">
              <a:lnSpc>
                <a:spcPct val="120000"/>
              </a:lnSpc>
            </a:pPr>
            <a:r>
              <a:rPr lang="en-US" altLang="zh-CN" dirty="0">
                <a:solidFill>
                  <a:srgbClr val="C00000"/>
                </a:solidFill>
              </a:rPr>
              <a:t>256</a:t>
            </a:r>
            <a:r>
              <a:rPr lang="zh-CN" altLang="en-US" dirty="0">
                <a:solidFill>
                  <a:srgbClr val="C00000"/>
                </a:solidFill>
              </a:rPr>
              <a:t>比特临时密钥</a:t>
            </a:r>
            <a:r>
              <a:rPr lang="zh-CN" altLang="en-US" dirty="0"/>
              <a:t>的使用如下：</a:t>
            </a:r>
            <a:endParaRPr lang="en-US" altLang="zh-CN" dirty="0"/>
          </a:p>
          <a:p>
            <a:pPr lvl="2">
              <a:lnSpc>
                <a:spcPct val="120000"/>
              </a:lnSpc>
            </a:pPr>
            <a:r>
              <a:rPr lang="zh-CN" altLang="en-US" sz="2400" dirty="0"/>
              <a:t>两个</a:t>
            </a:r>
            <a:r>
              <a:rPr lang="en-US" altLang="zh-CN" sz="2400" dirty="0"/>
              <a:t>64</a:t>
            </a:r>
            <a:r>
              <a:rPr lang="zh-CN" altLang="en-US" sz="2400" dirty="0"/>
              <a:t>比特的密钥通过</a:t>
            </a:r>
            <a:r>
              <a:rPr lang="en-US" altLang="zh-CN" sz="2400" dirty="0"/>
              <a:t>Michael</a:t>
            </a:r>
            <a:r>
              <a:rPr lang="zh-CN" altLang="en-US" sz="2400" dirty="0"/>
              <a:t>信息摘要算法产生信息完整性字段。一个密钥用来保护站点到接入点的信息，另一个密钥用来保护接入点到站点的信息。</a:t>
            </a:r>
            <a:endParaRPr lang="en-US" altLang="zh-CN" sz="2400" dirty="0"/>
          </a:p>
          <a:p>
            <a:pPr lvl="2">
              <a:lnSpc>
                <a:spcPct val="120000"/>
              </a:lnSpc>
            </a:pPr>
            <a:r>
              <a:rPr lang="zh-CN" altLang="en-US" sz="2400" dirty="0"/>
              <a:t>剩余的</a:t>
            </a:r>
            <a:r>
              <a:rPr lang="en-US" altLang="zh-CN" sz="2400" dirty="0"/>
              <a:t>128</a:t>
            </a:r>
            <a:r>
              <a:rPr lang="zh-CN" altLang="en-US" sz="2400" dirty="0"/>
              <a:t>比特被截断用来产生</a:t>
            </a:r>
            <a:r>
              <a:rPr lang="en-US" altLang="zh-CN" sz="2400" dirty="0"/>
              <a:t>RC4</a:t>
            </a:r>
            <a:r>
              <a:rPr lang="zh-CN" altLang="en-US" sz="2400" dirty="0"/>
              <a:t>的密钥，以便对传输数据进行加密。</a:t>
            </a:r>
            <a:endParaRPr lang="en-US" altLang="zh-CN" sz="2400" dirty="0"/>
          </a:p>
          <a:p>
            <a:pPr lvl="2">
              <a:lnSpc>
                <a:spcPct val="120000"/>
              </a:lnSpc>
            </a:pPr>
            <a:r>
              <a:rPr lang="zh-CN" altLang="en-US" sz="2400" dirty="0"/>
              <a:t>一个单调增加的暂时密钥集成协议顺序计数器（</a:t>
            </a:r>
            <a:r>
              <a:rPr lang="en-US" altLang="zh-CN" sz="2400" dirty="0"/>
              <a:t>TSC</a:t>
            </a:r>
            <a:r>
              <a:rPr lang="zh-CN" altLang="en-US" sz="2400" dirty="0"/>
              <a:t>）分配到每个帧。该计数器有两种目的：</a:t>
            </a:r>
            <a:endParaRPr lang="en-US" altLang="zh-CN" sz="2400" dirty="0"/>
          </a:p>
          <a:p>
            <a:pPr lvl="3">
              <a:lnSpc>
                <a:spcPct val="120000"/>
              </a:lnSpc>
            </a:pPr>
            <a:r>
              <a:rPr lang="zh-CN" altLang="en-US" sz="2200" dirty="0"/>
              <a:t>一是计数器包含在每个</a:t>
            </a:r>
            <a:r>
              <a:rPr lang="en-US" altLang="zh-CN" sz="2200" dirty="0"/>
              <a:t>MAC</a:t>
            </a:r>
            <a:r>
              <a:rPr lang="zh-CN" altLang="en-US" sz="2200" dirty="0"/>
              <a:t>协议数据单元中并由信息完整性字段保护以防止重放攻击。</a:t>
            </a:r>
            <a:endParaRPr lang="en-US" altLang="zh-CN" sz="2200" dirty="0"/>
          </a:p>
          <a:p>
            <a:pPr lvl="3">
              <a:lnSpc>
                <a:spcPct val="120000"/>
              </a:lnSpc>
            </a:pPr>
            <a:r>
              <a:rPr lang="zh-CN" altLang="en-US" sz="2200" dirty="0"/>
              <a:t>二是计数器与临时会话密钥结合产生一个动态加密密钥，该动态密钥随每个协议数据单元而改变，使得密码分析更加困难。</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39</a:t>
            </a:fld>
            <a:endParaRPr kumimoji="1" lang="zh-CN" altLang="en-US" dirty="0"/>
          </a:p>
        </p:txBody>
      </p:sp>
    </p:spTree>
    <p:extLst>
      <p:ext uri="{BB962C8B-B14F-4D97-AF65-F5344CB8AC3E}">
        <p14:creationId xmlns:p14="http://schemas.microsoft.com/office/powerpoint/2010/main" val="1479979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9.3.6 </a:t>
            </a:r>
            <a:r>
              <a:rPr kumimoji="1" lang="zh-CN" altLang="zh-CN" dirty="0">
                <a:solidFill>
                  <a:prstClr val="black"/>
                </a:solidFill>
              </a:rPr>
              <a:t>保密数据传输阶段</a:t>
            </a:r>
            <a:endParaRPr lang="zh-CN" altLang="en-US" dirty="0"/>
          </a:p>
        </p:txBody>
      </p:sp>
      <p:sp>
        <p:nvSpPr>
          <p:cNvPr id="3" name="内容占位符 2"/>
          <p:cNvSpPr>
            <a:spLocks noGrp="1"/>
          </p:cNvSpPr>
          <p:nvPr>
            <p:ph idx="1"/>
          </p:nvPr>
        </p:nvSpPr>
        <p:spPr/>
        <p:txBody>
          <a:bodyPr>
            <a:normAutofit/>
          </a:bodyPr>
          <a:lstStyle/>
          <a:p>
            <a:r>
              <a:rPr lang="zh-CN" altLang="en-US" dirty="0"/>
              <a:t>两种机制保护数据的传输：</a:t>
            </a:r>
            <a:endParaRPr lang="en-US" altLang="zh-CN" dirty="0"/>
          </a:p>
          <a:p>
            <a:pPr lvl="1">
              <a:lnSpc>
                <a:spcPct val="120000"/>
              </a:lnSpc>
            </a:pPr>
            <a:r>
              <a:rPr lang="zh-CN" altLang="en-US" dirty="0">
                <a:solidFill>
                  <a:srgbClr val="C00000"/>
                </a:solidFill>
              </a:rPr>
              <a:t>计数器模式</a:t>
            </a:r>
            <a:r>
              <a:rPr lang="en-US" altLang="zh-CN" dirty="0">
                <a:solidFill>
                  <a:srgbClr val="C00000"/>
                </a:solidFill>
              </a:rPr>
              <a:t>+</a:t>
            </a:r>
            <a:r>
              <a:rPr lang="zh-CN" altLang="en-US" dirty="0">
                <a:solidFill>
                  <a:srgbClr val="C00000"/>
                </a:solidFill>
              </a:rPr>
              <a:t>分组链接消息认证码协议（</a:t>
            </a:r>
            <a:r>
              <a:rPr lang="en-US" altLang="zh-CN" dirty="0">
                <a:solidFill>
                  <a:srgbClr val="C00000"/>
                </a:solidFill>
              </a:rPr>
              <a:t>CCMP</a:t>
            </a:r>
            <a:r>
              <a:rPr lang="zh-CN" altLang="en-US" dirty="0">
                <a:solidFill>
                  <a:srgbClr val="C00000"/>
                </a:solidFill>
              </a:rPr>
              <a:t>）</a:t>
            </a:r>
            <a:r>
              <a:rPr lang="zh-CN" altLang="en-US" dirty="0"/>
              <a:t>：</a:t>
            </a:r>
            <a:r>
              <a:rPr lang="en-US" altLang="zh-CN" dirty="0"/>
              <a:t>CCMP</a:t>
            </a:r>
            <a:r>
              <a:rPr lang="zh-CN" altLang="en-US" dirty="0"/>
              <a:t>消息认证码协议为了让新版本的由硬件装备的</a:t>
            </a:r>
            <a:r>
              <a:rPr lang="en-US" altLang="zh-CN" dirty="0"/>
              <a:t>IEEE802.11</a:t>
            </a:r>
            <a:r>
              <a:rPr lang="zh-CN" altLang="en-US" dirty="0"/>
              <a:t>设备支持该机制而设置的。</a:t>
            </a:r>
            <a:endParaRPr lang="en-US" altLang="zh-CN" dirty="0"/>
          </a:p>
          <a:p>
            <a:pPr lvl="2">
              <a:lnSpc>
                <a:spcPct val="120000"/>
              </a:lnSpc>
            </a:pPr>
            <a:r>
              <a:rPr lang="zh-CN" altLang="en-US" dirty="0"/>
              <a:t>同</a:t>
            </a:r>
            <a:r>
              <a:rPr lang="en-US" altLang="zh-CN" dirty="0"/>
              <a:t>TKIP</a:t>
            </a:r>
            <a:r>
              <a:rPr lang="zh-CN" altLang="en-US" dirty="0"/>
              <a:t>协议一样，计数器模式密码块链消息认证码协议也提供了两种服务：</a:t>
            </a:r>
            <a:endParaRPr lang="en-US" altLang="zh-CN" dirty="0"/>
          </a:p>
          <a:p>
            <a:pPr lvl="3">
              <a:lnSpc>
                <a:spcPct val="120000"/>
              </a:lnSpc>
            </a:pPr>
            <a:r>
              <a:rPr lang="zh-CN" altLang="en-US" sz="2000" dirty="0"/>
              <a:t>信息完整性：计数器模式密码块链（</a:t>
            </a:r>
            <a:r>
              <a:rPr lang="en-US" altLang="zh-CN" sz="2000" dirty="0"/>
              <a:t>CRT</a:t>
            </a:r>
            <a:r>
              <a:rPr lang="zh-CN" altLang="en-US" sz="2000" dirty="0"/>
              <a:t>）消息认证码协议使用</a:t>
            </a:r>
            <a:r>
              <a:rPr lang="en-US" altLang="zh-CN" sz="2000" dirty="0"/>
              <a:t>4.5.4</a:t>
            </a:r>
            <a:r>
              <a:rPr lang="zh-CN" altLang="en-US" sz="2000" dirty="0"/>
              <a:t>节描述的计数器模式密码块链接消息身份验证代码来确保信息完整性。</a:t>
            </a:r>
            <a:endParaRPr lang="en-US" altLang="zh-CN" sz="2000" dirty="0"/>
          </a:p>
          <a:p>
            <a:pPr lvl="3">
              <a:lnSpc>
                <a:spcPct val="120000"/>
              </a:lnSpc>
            </a:pPr>
            <a:r>
              <a:rPr lang="zh-CN" altLang="en-US" sz="2000" dirty="0"/>
              <a:t>数据机密性：计数器模式密码块链消息认证码协议使用</a:t>
            </a:r>
            <a:r>
              <a:rPr lang="en-US" altLang="zh-CN" sz="2000" dirty="0"/>
              <a:t>AES</a:t>
            </a:r>
            <a:r>
              <a:rPr lang="zh-CN" altLang="en-US" sz="2000" dirty="0"/>
              <a:t>的</a:t>
            </a:r>
            <a:r>
              <a:rPr lang="en-US" altLang="zh-CN" sz="2000" dirty="0"/>
              <a:t>CTR</a:t>
            </a:r>
            <a:r>
              <a:rPr lang="zh-CN" altLang="en-US" sz="2000" dirty="0"/>
              <a:t>（参见</a:t>
            </a:r>
            <a:r>
              <a:rPr lang="en-US" altLang="zh-CN" sz="2000" dirty="0"/>
              <a:t>4.5.4</a:t>
            </a:r>
            <a:r>
              <a:rPr lang="zh-CN" altLang="en-US" sz="2000" dirty="0"/>
              <a:t>节）密码块模式进行加密。</a:t>
            </a:r>
            <a:endParaRPr lang="en-US" altLang="zh-CN" sz="2000" dirty="0"/>
          </a:p>
          <a:p>
            <a:pPr lvl="3">
              <a:lnSpc>
                <a:spcPct val="120000"/>
              </a:lnSpc>
            </a:pPr>
            <a:r>
              <a:rPr lang="zh-CN" altLang="en-US" sz="2000" dirty="0"/>
              <a:t>相同的</a:t>
            </a:r>
            <a:r>
              <a:rPr lang="en-US" altLang="zh-CN" sz="2000" dirty="0"/>
              <a:t>128</a:t>
            </a:r>
            <a:r>
              <a:rPr lang="zh-CN" altLang="en-US" sz="2000" dirty="0"/>
              <a:t>比特</a:t>
            </a:r>
            <a:r>
              <a:rPr lang="en-US" altLang="zh-CN" sz="2000" dirty="0"/>
              <a:t>AES</a:t>
            </a:r>
            <a:r>
              <a:rPr lang="zh-CN" altLang="en-US" sz="2000" dirty="0"/>
              <a:t>密钥用来保证完整性和机密性。该机制使用</a:t>
            </a:r>
            <a:r>
              <a:rPr lang="en-US" altLang="zh-CN" sz="2000" dirty="0"/>
              <a:t>48</a:t>
            </a:r>
            <a:r>
              <a:rPr lang="zh-CN" altLang="en-US" sz="2000" dirty="0"/>
              <a:t>比特的包数据来产生随机数来阻止重放攻击。</a:t>
            </a: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40</a:t>
            </a:fld>
            <a:endParaRPr kumimoji="1" lang="zh-CN" altLang="en-US" dirty="0"/>
          </a:p>
        </p:txBody>
      </p:sp>
    </p:spTree>
    <p:extLst>
      <p:ext uri="{BB962C8B-B14F-4D97-AF65-F5344CB8AC3E}">
        <p14:creationId xmlns:p14="http://schemas.microsoft.com/office/powerpoint/2010/main" val="4266256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9.3.7 </a:t>
            </a:r>
            <a:r>
              <a:rPr kumimoji="1" lang="en-US" altLang="zh-CN" dirty="0">
                <a:solidFill>
                  <a:prstClr val="black"/>
                </a:solidFill>
              </a:rPr>
              <a:t>IEEE 802.11i </a:t>
            </a:r>
            <a:r>
              <a:rPr kumimoji="1" lang="zh-CN" altLang="zh-CN" dirty="0">
                <a:solidFill>
                  <a:prstClr val="black"/>
                </a:solidFill>
              </a:rPr>
              <a:t>伪随机数函数</a:t>
            </a:r>
            <a:endParaRPr lang="zh-CN" altLang="en-US" dirty="0"/>
          </a:p>
        </p:txBody>
      </p:sp>
      <p:sp>
        <p:nvSpPr>
          <p:cNvPr id="3" name="内容占位符 2"/>
          <p:cNvSpPr>
            <a:spLocks noGrp="1"/>
          </p:cNvSpPr>
          <p:nvPr>
            <p:ph idx="1"/>
          </p:nvPr>
        </p:nvSpPr>
        <p:spPr>
          <a:xfrm>
            <a:off x="838200" y="1389413"/>
            <a:ext cx="10515600" cy="4708039"/>
          </a:xfrm>
        </p:spPr>
        <p:txBody>
          <a:bodyPr>
            <a:normAutofit fontScale="92500"/>
          </a:bodyPr>
          <a:lstStyle/>
          <a:p>
            <a:pPr>
              <a:lnSpc>
                <a:spcPct val="150000"/>
              </a:lnSpc>
            </a:pPr>
            <a:r>
              <a:rPr lang="zh-CN" altLang="en-US" dirty="0"/>
              <a:t>在</a:t>
            </a:r>
            <a:r>
              <a:rPr lang="en-US" altLang="zh-CN" dirty="0"/>
              <a:t>IEEE802.11i</a:t>
            </a:r>
            <a:r>
              <a:rPr lang="zh-CN" altLang="en-US" dirty="0"/>
              <a:t>机制的许多地方都有</a:t>
            </a:r>
            <a:r>
              <a:rPr lang="zh-CN" altLang="en-US" dirty="0">
                <a:solidFill>
                  <a:srgbClr val="C00000"/>
                </a:solidFill>
              </a:rPr>
              <a:t>伪随机数函数（</a:t>
            </a:r>
            <a:r>
              <a:rPr lang="en-US" altLang="zh-CN" dirty="0">
                <a:solidFill>
                  <a:srgbClr val="C00000"/>
                </a:solidFill>
              </a:rPr>
              <a:t>PRF</a:t>
            </a:r>
            <a:r>
              <a:rPr lang="zh-CN" altLang="en-US" dirty="0">
                <a:solidFill>
                  <a:srgbClr val="C00000"/>
                </a:solidFill>
              </a:rPr>
              <a:t>）</a:t>
            </a:r>
            <a:r>
              <a:rPr lang="zh-CN" altLang="en-US" dirty="0"/>
              <a:t>的使用。如，用来扩展成对密钥以及产生群组临时密钥。不同的目的需要使用不同的伪随机数据流。为了操作的高效性，</a:t>
            </a:r>
            <a:r>
              <a:rPr lang="zh-CN" altLang="en-US" dirty="0">
                <a:solidFill>
                  <a:srgbClr val="C00000"/>
                </a:solidFill>
              </a:rPr>
              <a:t>只用一个伪随机数发生器函数</a:t>
            </a:r>
            <a:r>
              <a:rPr lang="zh-CN" altLang="en-US" dirty="0"/>
              <a:t>。</a:t>
            </a:r>
            <a:endParaRPr lang="en-US" altLang="zh-CN" dirty="0"/>
          </a:p>
          <a:p>
            <a:pPr>
              <a:lnSpc>
                <a:spcPct val="150000"/>
              </a:lnSpc>
            </a:pPr>
            <a:r>
              <a:rPr lang="en-US" altLang="zh-CN" dirty="0"/>
              <a:t>PRF</a:t>
            </a:r>
            <a:r>
              <a:rPr lang="zh-CN" altLang="en-US" dirty="0"/>
              <a:t>通过使用</a:t>
            </a:r>
            <a:r>
              <a:rPr lang="en-US" altLang="zh-CN" dirty="0">
                <a:solidFill>
                  <a:srgbClr val="C00000"/>
                </a:solidFill>
              </a:rPr>
              <a:t>HMAC-SHA-1</a:t>
            </a:r>
            <a:r>
              <a:rPr lang="zh-CN" altLang="en-US" dirty="0">
                <a:solidFill>
                  <a:srgbClr val="C00000"/>
                </a:solidFill>
              </a:rPr>
              <a:t>来产生伪随机比特流</a:t>
            </a:r>
            <a:r>
              <a:rPr lang="zh-CN" altLang="en-US" dirty="0"/>
              <a:t>。</a:t>
            </a:r>
            <a:r>
              <a:rPr lang="en-US" altLang="zh-CN" dirty="0"/>
              <a:t>HMAC-SHA-1</a:t>
            </a:r>
            <a:r>
              <a:rPr lang="zh-CN" altLang="en-US" dirty="0"/>
              <a:t>通过一段明文和一个不少于</a:t>
            </a:r>
            <a:r>
              <a:rPr lang="en-US" altLang="zh-CN" dirty="0">
                <a:solidFill>
                  <a:srgbClr val="C00000"/>
                </a:solidFill>
              </a:rPr>
              <a:t>160</a:t>
            </a:r>
            <a:r>
              <a:rPr lang="zh-CN" altLang="en-US" dirty="0">
                <a:solidFill>
                  <a:srgbClr val="C00000"/>
                </a:solidFill>
              </a:rPr>
              <a:t>比特的密钥</a:t>
            </a:r>
            <a:r>
              <a:rPr lang="zh-CN" altLang="en-US" dirty="0"/>
              <a:t>产生一个</a:t>
            </a:r>
            <a:r>
              <a:rPr lang="en-US" altLang="zh-CN" dirty="0"/>
              <a:t>160</a:t>
            </a:r>
            <a:r>
              <a:rPr lang="zh-CN" altLang="en-US" dirty="0"/>
              <a:t>比特的散列值。</a:t>
            </a:r>
            <a:endParaRPr lang="en-US" altLang="zh-CN" dirty="0"/>
          </a:p>
          <a:p>
            <a:pPr>
              <a:lnSpc>
                <a:spcPct val="150000"/>
              </a:lnSpc>
            </a:pPr>
            <a:r>
              <a:rPr lang="en-US" altLang="zh-CN" dirty="0"/>
              <a:t>SHA-1</a:t>
            </a:r>
            <a:r>
              <a:rPr lang="zh-CN" altLang="en-US" dirty="0"/>
              <a:t>拥有这样一个特性：</a:t>
            </a:r>
            <a:r>
              <a:rPr lang="zh-CN" altLang="en-US" dirty="0">
                <a:solidFill>
                  <a:srgbClr val="C00000"/>
                </a:solidFill>
              </a:rPr>
              <a:t>改变输入的一个比特就会产生一个新的散列值，并与先前的散列值无明显关联</a:t>
            </a:r>
            <a:r>
              <a:rPr lang="zh-CN" altLang="en-US" dirty="0"/>
              <a:t>。该特性是伪随机数产生的基础。</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41</a:t>
            </a:fld>
            <a:endParaRPr kumimoji="1" lang="zh-CN" altLang="en-US" dirty="0"/>
          </a:p>
        </p:txBody>
      </p:sp>
    </p:spTree>
    <p:extLst>
      <p:ext uri="{BB962C8B-B14F-4D97-AF65-F5344CB8AC3E}">
        <p14:creationId xmlns:p14="http://schemas.microsoft.com/office/powerpoint/2010/main" val="3063207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9.3.7 </a:t>
            </a:r>
            <a:r>
              <a:rPr kumimoji="1" lang="en-US" altLang="zh-CN" dirty="0">
                <a:solidFill>
                  <a:prstClr val="black"/>
                </a:solidFill>
              </a:rPr>
              <a:t>IEEE 802.11i </a:t>
            </a:r>
            <a:r>
              <a:rPr kumimoji="1" lang="zh-CN" altLang="zh-CN" dirty="0">
                <a:solidFill>
                  <a:prstClr val="black"/>
                </a:solidFill>
              </a:rPr>
              <a:t>伪随机数函数</a:t>
            </a:r>
            <a:endParaRPr lang="zh-CN" altLang="en-US" dirty="0"/>
          </a:p>
        </p:txBody>
      </p:sp>
      <p:sp>
        <p:nvSpPr>
          <p:cNvPr id="3" name="内容占位符 2"/>
          <p:cNvSpPr>
            <a:spLocks noGrp="1"/>
          </p:cNvSpPr>
          <p:nvPr>
            <p:ph idx="1"/>
          </p:nvPr>
        </p:nvSpPr>
        <p:spPr>
          <a:xfrm>
            <a:off x="838200" y="1510757"/>
            <a:ext cx="10455234" cy="4866291"/>
          </a:xfrm>
        </p:spPr>
        <p:txBody>
          <a:bodyPr>
            <a:normAutofit fontScale="85000" lnSpcReduction="10000"/>
          </a:bodyPr>
          <a:lstStyle/>
          <a:p>
            <a:pPr>
              <a:lnSpc>
                <a:spcPct val="120000"/>
              </a:lnSpc>
            </a:pPr>
            <a:r>
              <a:rPr lang="en-US" altLang="zh-CN" dirty="0"/>
              <a:t>IEEE802.11iPRF</a:t>
            </a:r>
            <a:r>
              <a:rPr lang="zh-CN" altLang="en-US" dirty="0"/>
              <a:t>用</a:t>
            </a:r>
            <a:r>
              <a:rPr lang="en-US" altLang="zh-CN" dirty="0"/>
              <a:t>4</a:t>
            </a:r>
            <a:r>
              <a:rPr lang="zh-CN" altLang="en-US" dirty="0"/>
              <a:t>个参数作为输入，并产生期望的随机比特数。函数形式是</a:t>
            </a:r>
            <a:r>
              <a:rPr lang="en-US" altLang="zh-CN" dirty="0"/>
              <a:t>PRF</a:t>
            </a:r>
            <a:r>
              <a:rPr lang="zh-CN" altLang="en-US" dirty="0"/>
              <a:t>（</a:t>
            </a:r>
            <a:r>
              <a:rPr lang="en-US" altLang="zh-CN" dirty="0"/>
              <a:t>K</a:t>
            </a:r>
            <a:r>
              <a:rPr lang="zh-CN" altLang="en-US" dirty="0"/>
              <a:t>，</a:t>
            </a:r>
            <a:r>
              <a:rPr lang="en-US" altLang="zh-CN" dirty="0"/>
              <a:t>A</a:t>
            </a:r>
            <a:r>
              <a:rPr lang="zh-CN" altLang="en-US" dirty="0"/>
              <a:t>，</a:t>
            </a:r>
            <a:r>
              <a:rPr lang="en-US" altLang="zh-CN" dirty="0"/>
              <a:t>B</a:t>
            </a:r>
            <a:r>
              <a:rPr lang="zh-CN" altLang="en-US" dirty="0"/>
              <a:t>，</a:t>
            </a:r>
            <a:r>
              <a:rPr lang="en-US" altLang="zh-CN" dirty="0"/>
              <a:t>Len</a:t>
            </a:r>
            <a:r>
              <a:rPr lang="zh-CN" altLang="en-US" dirty="0"/>
              <a:t>），其中：</a:t>
            </a:r>
            <a:endParaRPr lang="en-US" altLang="zh-CN" dirty="0"/>
          </a:p>
          <a:p>
            <a:pPr lvl="1">
              <a:lnSpc>
                <a:spcPct val="120000"/>
              </a:lnSpc>
            </a:pPr>
            <a:r>
              <a:rPr lang="en-US" altLang="zh-CN" dirty="0"/>
              <a:t>K=</a:t>
            </a:r>
            <a:r>
              <a:rPr lang="zh-CN" altLang="en-US" dirty="0"/>
              <a:t>私有密钥；</a:t>
            </a:r>
            <a:endParaRPr lang="en-US" altLang="zh-CN" dirty="0"/>
          </a:p>
          <a:p>
            <a:pPr lvl="1">
              <a:lnSpc>
                <a:spcPct val="120000"/>
              </a:lnSpc>
            </a:pPr>
            <a:r>
              <a:rPr lang="en-US" altLang="zh-CN" dirty="0"/>
              <a:t>A=</a:t>
            </a:r>
            <a:r>
              <a:rPr lang="zh-CN" altLang="en-US" dirty="0"/>
              <a:t>对应用有特殊意义的一段字节（例如，随机数的生成或者成对密钥的扩展）；</a:t>
            </a:r>
            <a:endParaRPr lang="en-US" altLang="zh-CN" dirty="0"/>
          </a:p>
          <a:p>
            <a:pPr lvl="1">
              <a:lnSpc>
                <a:spcPct val="120000"/>
              </a:lnSpc>
            </a:pPr>
            <a:r>
              <a:rPr lang="en-US" altLang="zh-CN" dirty="0"/>
              <a:t>B=</a:t>
            </a:r>
            <a:r>
              <a:rPr lang="zh-CN" altLang="en-US" dirty="0"/>
              <a:t>对每种情况有意义的数据；</a:t>
            </a:r>
            <a:endParaRPr lang="en-US" altLang="zh-CN" dirty="0"/>
          </a:p>
          <a:p>
            <a:pPr lvl="1">
              <a:lnSpc>
                <a:spcPct val="120000"/>
              </a:lnSpc>
            </a:pPr>
            <a:r>
              <a:rPr lang="en-US" altLang="zh-CN" dirty="0"/>
              <a:t>Len=</a:t>
            </a:r>
            <a:r>
              <a:rPr lang="zh-CN" altLang="en-US" dirty="0"/>
              <a:t>期望的随机比特数。</a:t>
            </a:r>
            <a:endParaRPr lang="en-US" altLang="zh-CN" dirty="0"/>
          </a:p>
          <a:p>
            <a:pPr lvl="1">
              <a:lnSpc>
                <a:spcPct val="120000"/>
              </a:lnSpc>
            </a:pPr>
            <a:r>
              <a:rPr lang="zh-CN" altLang="en-US" dirty="0"/>
              <a:t>例如，对于</a:t>
            </a:r>
            <a:r>
              <a:rPr lang="en-US" altLang="zh-CN" dirty="0"/>
              <a:t>CCMP</a:t>
            </a:r>
            <a:r>
              <a:rPr lang="zh-CN" altLang="en-US" dirty="0"/>
              <a:t>的成对临时协议：</a:t>
            </a:r>
            <a:r>
              <a:rPr lang="en-US" altLang="zh-CN" dirty="0"/>
              <a:t>PTK=PRF(PMK,"</a:t>
            </a:r>
            <a:r>
              <a:rPr lang="en-US" altLang="zh-CN" dirty="0" err="1"/>
              <a:t>Pairwisekeyexpansion</a:t>
            </a:r>
            <a:r>
              <a:rPr lang="en-US" altLang="zh-CN" dirty="0"/>
              <a:t>",min(</a:t>
            </a:r>
            <a:r>
              <a:rPr lang="en-US" altLang="zh-CN" dirty="0" err="1"/>
              <a:t>Ap-Addr,STA-Addr</a:t>
            </a:r>
            <a:r>
              <a:rPr lang="en-US" altLang="zh-CN" dirty="0"/>
              <a:t>)||max((</a:t>
            </a:r>
            <a:r>
              <a:rPr lang="en-US" altLang="zh-CN" dirty="0" err="1"/>
              <a:t>Ap-Addr,STA-Addr</a:t>
            </a:r>
            <a:r>
              <a:rPr lang="en-US" altLang="zh-CN" dirty="0"/>
              <a:t>)||min(</a:t>
            </a:r>
            <a:r>
              <a:rPr lang="en-US" altLang="zh-CN" dirty="0" err="1"/>
              <a:t>Anonce,Snonce</a:t>
            </a:r>
            <a:r>
              <a:rPr lang="en-US" altLang="zh-CN" dirty="0"/>
              <a:t>)||max(</a:t>
            </a:r>
            <a:r>
              <a:rPr lang="en-US" altLang="zh-CN" dirty="0" err="1"/>
              <a:t>Anonce,Snonce</a:t>
            </a:r>
            <a:r>
              <a:rPr lang="en-US" altLang="zh-CN" dirty="0"/>
              <a:t>),384)</a:t>
            </a:r>
          </a:p>
          <a:p>
            <a:pPr marL="457200" lvl="1" indent="0">
              <a:lnSpc>
                <a:spcPct val="120000"/>
              </a:lnSpc>
              <a:buNone/>
            </a:pPr>
            <a:r>
              <a:rPr lang="zh-CN" altLang="en-US" dirty="0"/>
              <a:t>各参数分别为：</a:t>
            </a:r>
            <a:r>
              <a:rPr lang="en-US" altLang="zh-CN" dirty="0"/>
              <a:t>K=PMK</a:t>
            </a:r>
            <a:r>
              <a:rPr lang="zh-CN" altLang="en-US" dirty="0"/>
              <a:t>；</a:t>
            </a:r>
            <a:r>
              <a:rPr lang="en-US" altLang="zh-CN" dirty="0"/>
              <a:t>A=</a:t>
            </a:r>
            <a:r>
              <a:rPr lang="zh-CN" altLang="en-US" dirty="0"/>
              <a:t>一段字节“</a:t>
            </a:r>
            <a:r>
              <a:rPr lang="en-US" altLang="zh-CN" dirty="0" err="1"/>
              <a:t>Pairwisekeyexpansion</a:t>
            </a:r>
            <a:r>
              <a:rPr lang="en-US" altLang="zh-CN" dirty="0"/>
              <a:t>”</a:t>
            </a:r>
            <a:r>
              <a:rPr lang="zh-CN" altLang="en-US" dirty="0"/>
              <a:t>；</a:t>
            </a:r>
            <a:r>
              <a:rPr lang="en-US" altLang="zh-CN" dirty="0"/>
              <a:t>B=</a:t>
            </a:r>
            <a:r>
              <a:rPr lang="zh-CN" altLang="en-US" dirty="0"/>
              <a:t>由两个</a:t>
            </a:r>
            <a:r>
              <a:rPr lang="en-US" altLang="zh-CN" dirty="0"/>
              <a:t>MAC</a:t>
            </a:r>
            <a:r>
              <a:rPr lang="zh-CN" altLang="en-US" dirty="0"/>
              <a:t>地址和两个随机数组成的字段序列；</a:t>
            </a:r>
            <a:r>
              <a:rPr lang="en-US" altLang="zh-CN" dirty="0"/>
              <a:t>Len=384</a:t>
            </a:r>
            <a:r>
              <a:rPr lang="zh-CN" altLang="en-US" dirty="0"/>
              <a:t>比特。</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42</a:t>
            </a:fld>
            <a:endParaRPr kumimoji="1" lang="zh-CN" altLang="en-US" dirty="0"/>
          </a:p>
        </p:txBody>
      </p:sp>
    </p:spTree>
    <p:extLst>
      <p:ext uri="{BB962C8B-B14F-4D97-AF65-F5344CB8AC3E}">
        <p14:creationId xmlns:p14="http://schemas.microsoft.com/office/powerpoint/2010/main" val="4042129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9.3.7 </a:t>
            </a:r>
            <a:r>
              <a:rPr kumimoji="1" lang="en-US" altLang="zh-CN" dirty="0">
                <a:solidFill>
                  <a:prstClr val="black"/>
                </a:solidFill>
              </a:rPr>
              <a:t>IEEE 80211i </a:t>
            </a:r>
            <a:r>
              <a:rPr kumimoji="1" lang="zh-CN" altLang="zh-CN" dirty="0">
                <a:solidFill>
                  <a:prstClr val="black"/>
                </a:solidFill>
              </a:rPr>
              <a:t>伪随机数函数</a:t>
            </a:r>
            <a:endParaRPr lang="zh-CN" altLang="en-US" dirty="0"/>
          </a:p>
        </p:txBody>
      </p:sp>
      <p:sp>
        <p:nvSpPr>
          <p:cNvPr id="3" name="内容占位符 2"/>
          <p:cNvSpPr>
            <a:spLocks noGrp="1"/>
          </p:cNvSpPr>
          <p:nvPr>
            <p:ph idx="1"/>
          </p:nvPr>
        </p:nvSpPr>
        <p:spPr>
          <a:xfrm>
            <a:off x="838200" y="1510758"/>
            <a:ext cx="6191992" cy="2508392"/>
          </a:xfrm>
        </p:spPr>
        <p:txBody>
          <a:bodyPr>
            <a:normAutofit fontScale="70000" lnSpcReduction="20000"/>
          </a:bodyPr>
          <a:lstStyle/>
          <a:p>
            <a:pPr>
              <a:lnSpc>
                <a:spcPct val="140000"/>
              </a:lnSpc>
            </a:pPr>
            <a:r>
              <a:rPr lang="zh-CN" altLang="en-US" dirty="0"/>
              <a:t>函数</a:t>
            </a:r>
            <a:r>
              <a:rPr lang="en-US" altLang="zh-CN" dirty="0"/>
              <a:t>PRF</a:t>
            </a:r>
            <a:r>
              <a:rPr lang="zh-CN" altLang="en-US" dirty="0"/>
              <a:t>（</a:t>
            </a:r>
            <a:r>
              <a:rPr lang="en-US" altLang="zh-CN" dirty="0"/>
              <a:t>K</a:t>
            </a:r>
            <a:r>
              <a:rPr lang="zh-CN" altLang="en-US" dirty="0"/>
              <a:t>，</a:t>
            </a:r>
            <a:r>
              <a:rPr lang="en-US" altLang="zh-CN" dirty="0"/>
              <a:t>A</a:t>
            </a:r>
            <a:r>
              <a:rPr lang="zh-CN" altLang="en-US" dirty="0"/>
              <a:t>，</a:t>
            </a:r>
            <a:r>
              <a:rPr lang="en-US" altLang="zh-CN" dirty="0"/>
              <a:t>B</a:t>
            </a:r>
            <a:r>
              <a:rPr lang="zh-CN" altLang="en-US" dirty="0"/>
              <a:t>，</a:t>
            </a:r>
            <a:r>
              <a:rPr lang="en-US" altLang="zh-CN" dirty="0"/>
              <a:t>Len</a:t>
            </a:r>
            <a:r>
              <a:rPr lang="zh-CN" altLang="en-US" dirty="0"/>
              <a:t>）。参数</a:t>
            </a:r>
            <a:r>
              <a:rPr lang="en-US" altLang="zh-CN" dirty="0"/>
              <a:t>K</a:t>
            </a:r>
            <a:r>
              <a:rPr lang="zh-CN" altLang="en-US" dirty="0"/>
              <a:t>作为密钥输入到</a:t>
            </a:r>
            <a:r>
              <a:rPr lang="en-US" altLang="zh-CN" dirty="0"/>
              <a:t>HMAC</a:t>
            </a:r>
            <a:r>
              <a:rPr lang="zh-CN" altLang="en-US" dirty="0"/>
              <a:t>。输入信息由</a:t>
            </a:r>
            <a:r>
              <a:rPr lang="en-US" altLang="zh-CN" dirty="0"/>
              <a:t>4</a:t>
            </a:r>
            <a:r>
              <a:rPr lang="zh-CN" altLang="en-US" dirty="0"/>
              <a:t>部分构成：参数</a:t>
            </a:r>
            <a:r>
              <a:rPr lang="en-US" altLang="zh-CN" dirty="0"/>
              <a:t>A</a:t>
            </a:r>
            <a:r>
              <a:rPr lang="zh-CN" altLang="en-US" dirty="0"/>
              <a:t>，一个空字段，参数</a:t>
            </a:r>
            <a:r>
              <a:rPr lang="en-US" altLang="zh-CN" dirty="0"/>
              <a:t>B</a:t>
            </a:r>
            <a:r>
              <a:rPr lang="zh-CN" altLang="en-US" dirty="0"/>
              <a:t>和一个计数</a:t>
            </a:r>
            <a:r>
              <a:rPr lang="en-US" altLang="zh-CN" dirty="0" err="1"/>
              <a:t>i</a:t>
            </a:r>
            <a:r>
              <a:rPr lang="zh-CN" altLang="en-US" dirty="0"/>
              <a:t>。计数初始值为</a:t>
            </a:r>
            <a:r>
              <a:rPr lang="en-US" altLang="zh-CN" dirty="0"/>
              <a:t>0</a:t>
            </a:r>
            <a:r>
              <a:rPr lang="zh-CN" altLang="en-US" dirty="0"/>
              <a:t>。</a:t>
            </a:r>
            <a:r>
              <a:rPr lang="en-US" altLang="zh-CN" dirty="0"/>
              <a:t>HAMC</a:t>
            </a:r>
            <a:r>
              <a:rPr lang="zh-CN" altLang="en-US" dirty="0"/>
              <a:t>算法运行后会产生一个</a:t>
            </a:r>
            <a:r>
              <a:rPr lang="en-US" altLang="zh-CN" dirty="0"/>
              <a:t>160</a:t>
            </a:r>
            <a:r>
              <a:rPr lang="zh-CN" altLang="en-US" dirty="0"/>
              <a:t>比特的散列值。如果需要更多的比特，</a:t>
            </a:r>
            <a:r>
              <a:rPr lang="en-US" altLang="zh-CN" dirty="0"/>
              <a:t>HMAC</a:t>
            </a:r>
            <a:r>
              <a:rPr lang="zh-CN" altLang="en-US" dirty="0"/>
              <a:t>会以同样的输入运行，其中计数</a:t>
            </a:r>
            <a:r>
              <a:rPr lang="en-US" altLang="zh-CN" dirty="0" err="1"/>
              <a:t>i</a:t>
            </a:r>
            <a:r>
              <a:rPr lang="zh-CN" altLang="en-US" dirty="0"/>
              <a:t>每次都会增加直到产生足够的比特数。</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43</a:t>
            </a:fld>
            <a:endParaRPr kumimoji="1" lang="zh-CN" altLang="en-US" dirty="0"/>
          </a:p>
        </p:txBody>
      </p:sp>
      <p:pic>
        <p:nvPicPr>
          <p:cNvPr id="5" name="图片 4"/>
          <p:cNvPicPr>
            <a:picLocks noChangeAspect="1"/>
          </p:cNvPicPr>
          <p:nvPr/>
        </p:nvPicPr>
        <p:blipFill>
          <a:blip r:embed="rId2"/>
          <a:stretch>
            <a:fillRect/>
          </a:stretch>
        </p:blipFill>
        <p:spPr>
          <a:xfrm>
            <a:off x="7342351" y="1393439"/>
            <a:ext cx="4011449" cy="4821331"/>
          </a:xfrm>
          <a:prstGeom prst="rect">
            <a:avLst/>
          </a:prstGeom>
        </p:spPr>
      </p:pic>
      <p:pic>
        <p:nvPicPr>
          <p:cNvPr id="6" name="图片 5"/>
          <p:cNvPicPr>
            <a:picLocks noChangeAspect="1"/>
          </p:cNvPicPr>
          <p:nvPr/>
        </p:nvPicPr>
        <p:blipFill>
          <a:blip r:embed="rId3"/>
          <a:stretch>
            <a:fillRect/>
          </a:stretch>
        </p:blipFill>
        <p:spPr>
          <a:xfrm>
            <a:off x="1188755" y="4019150"/>
            <a:ext cx="5632770" cy="2096642"/>
          </a:xfrm>
          <a:prstGeom prst="rect">
            <a:avLst/>
          </a:prstGeom>
        </p:spPr>
      </p:pic>
    </p:spTree>
    <p:extLst>
      <p:ext uri="{BB962C8B-B14F-4D97-AF65-F5344CB8AC3E}">
        <p14:creationId xmlns:p14="http://schemas.microsoft.com/office/powerpoint/2010/main" val="3841439310"/>
      </p:ext>
    </p:extLst>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14016</TotalTime>
  <Words>5574</Words>
  <Application>Microsoft Office PowerPoint</Application>
  <PresentationFormat>宽屏</PresentationFormat>
  <Paragraphs>381</Paragraphs>
  <Slides>43</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43</vt:i4>
      </vt:variant>
    </vt:vector>
  </HeadingPairs>
  <TitlesOfParts>
    <vt:vector size="50" baseType="lpstr">
      <vt:lpstr>Helvetica Neue</vt:lpstr>
      <vt:lpstr>等线</vt:lpstr>
      <vt:lpstr>Microsoft YaHei</vt:lpstr>
      <vt:lpstr>Microsoft YaHei</vt:lpstr>
      <vt:lpstr>Arial</vt:lpstr>
      <vt:lpstr>Wingdings</vt:lpstr>
      <vt:lpstr>Office 主题​​</vt:lpstr>
      <vt:lpstr>第九章 无线网络安全</vt:lpstr>
      <vt:lpstr>本章内容</vt:lpstr>
      <vt:lpstr>9.1 无线安全</vt:lpstr>
      <vt:lpstr>9.1.1 无线网络安全威胁</vt:lpstr>
      <vt:lpstr>ARP欺骗</vt:lpstr>
      <vt:lpstr>9.1.1 无线网络安全威胁</vt:lpstr>
      <vt:lpstr>9.1.1 无线网络安全威胁</vt:lpstr>
      <vt:lpstr>9.1.1 无线网络安全威胁</vt:lpstr>
      <vt:lpstr>9.1.2 无线安全措施</vt:lpstr>
      <vt:lpstr>9.1.2 无线安全措施</vt:lpstr>
      <vt:lpstr>9.1.2 无线安全措施</vt:lpstr>
      <vt:lpstr>9.1.2 无线安全措施</vt:lpstr>
      <vt:lpstr>9.1.2 无线安全措施</vt:lpstr>
      <vt:lpstr>9.1.2 无线安全措施</vt:lpstr>
      <vt:lpstr>9.1.2 无线安全措施</vt:lpstr>
      <vt:lpstr>本章内容</vt:lpstr>
      <vt:lpstr>9.2 移动设备安全</vt:lpstr>
      <vt:lpstr>9.2.1 移动设备安全威胁</vt:lpstr>
      <vt:lpstr>9.2.1 移动设备安全威胁</vt:lpstr>
      <vt:lpstr>9.2.1 移动设备安全威胁</vt:lpstr>
      <vt:lpstr>9.2.2 移动设备安全策略</vt:lpstr>
      <vt:lpstr>9.2.2 移动设备安全策略</vt:lpstr>
      <vt:lpstr>9.2.2 移动设备安全策略</vt:lpstr>
      <vt:lpstr>9.2.2 移动设备安全策略</vt:lpstr>
      <vt:lpstr>本章内容</vt:lpstr>
      <vt:lpstr>9.3 IEEE 802.11i 无线局域网安全</vt:lpstr>
      <vt:lpstr>9.3.1 IEEE 802.11i 服务</vt:lpstr>
      <vt:lpstr>9.3.2 IEEE 802.11i 操作阶段</vt:lpstr>
      <vt:lpstr>9.3.3 发现阶段</vt:lpstr>
      <vt:lpstr>9.3.3 发现阶段</vt:lpstr>
      <vt:lpstr>9.3.3 发现阶段</vt:lpstr>
      <vt:lpstr>9.3.3 发现阶段</vt:lpstr>
      <vt:lpstr>9.3.4 认证阶段</vt:lpstr>
      <vt:lpstr>9.3.5 密钥管理阶段</vt:lpstr>
      <vt:lpstr>9.3.5 密钥管理阶段</vt:lpstr>
      <vt:lpstr>9.3.5 密钥管理阶段</vt:lpstr>
      <vt:lpstr>9.3.5 密钥管理阶段</vt:lpstr>
      <vt:lpstr>9.3.6 保密数据传输阶段</vt:lpstr>
      <vt:lpstr>9.3.6 保密数据传输阶段</vt:lpstr>
      <vt:lpstr>9.3.6 保密数据传输阶段</vt:lpstr>
      <vt:lpstr>9.3.7 IEEE 802.11i 伪随机数函数</vt:lpstr>
      <vt:lpstr>9.3.7 IEEE 802.11i 伪随机数函数</vt:lpstr>
      <vt:lpstr>9.3.7 IEEE 80211i 伪随机数函数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chunwu yu</cp:lastModifiedBy>
  <cp:revision>492</cp:revision>
  <dcterms:created xsi:type="dcterms:W3CDTF">2021-01-06T05:35:51Z</dcterms:created>
  <dcterms:modified xsi:type="dcterms:W3CDTF">2026-05-05T10:10:07Z</dcterms:modified>
</cp:coreProperties>
</file>