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notesSlides/notesSlide1.xml" ContentType="application/vnd.openxmlformats-officedocument.presentationml.notesSlide+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8"/>
  </p:notesMasterIdLst>
  <p:handoutMasterIdLst>
    <p:handoutMasterId r:id="rId139"/>
  </p:handoutMasterIdLst>
  <p:sldIdLst>
    <p:sldId id="451" r:id="rId2"/>
    <p:sldId id="376" r:id="rId3"/>
    <p:sldId id="377" r:id="rId4"/>
    <p:sldId id="378" r:id="rId5"/>
    <p:sldId id="379" r:id="rId6"/>
    <p:sldId id="374" r:id="rId7"/>
    <p:sldId id="314" r:id="rId8"/>
    <p:sldId id="315" r:id="rId9"/>
    <p:sldId id="316" r:id="rId10"/>
    <p:sldId id="317" r:id="rId11"/>
    <p:sldId id="318" r:id="rId12"/>
    <p:sldId id="319" r:id="rId13"/>
    <p:sldId id="320" r:id="rId14"/>
    <p:sldId id="321" r:id="rId15"/>
    <p:sldId id="450" r:id="rId16"/>
    <p:sldId id="375" r:id="rId17"/>
    <p:sldId id="447" r:id="rId18"/>
    <p:sldId id="448" r:id="rId19"/>
    <p:sldId id="449" r:id="rId20"/>
    <p:sldId id="256" r:id="rId21"/>
    <p:sldId id="257" r:id="rId22"/>
    <p:sldId id="258" r:id="rId23"/>
    <p:sldId id="259" r:id="rId24"/>
    <p:sldId id="260" r:id="rId25"/>
    <p:sldId id="313" r:id="rId26"/>
    <p:sldId id="261" r:id="rId27"/>
    <p:sldId id="262" r:id="rId28"/>
    <p:sldId id="263" r:id="rId29"/>
    <p:sldId id="264" r:id="rId30"/>
    <p:sldId id="265" r:id="rId31"/>
    <p:sldId id="266" r:id="rId32"/>
    <p:sldId id="267" r:id="rId33"/>
    <p:sldId id="268" r:id="rId34"/>
    <p:sldId id="269" r:id="rId35"/>
    <p:sldId id="270" r:id="rId36"/>
    <p:sldId id="271" r:id="rId37"/>
    <p:sldId id="272" r:id="rId38"/>
    <p:sldId id="273" r:id="rId39"/>
    <p:sldId id="274" r:id="rId40"/>
    <p:sldId id="275" r:id="rId41"/>
    <p:sldId id="276" r:id="rId42"/>
    <p:sldId id="277" r:id="rId43"/>
    <p:sldId id="278" r:id="rId44"/>
    <p:sldId id="279" r:id="rId45"/>
    <p:sldId id="280" r:id="rId46"/>
    <p:sldId id="528" r:id="rId47"/>
    <p:sldId id="529" r:id="rId48"/>
    <p:sldId id="281" r:id="rId49"/>
    <p:sldId id="622" r:id="rId50"/>
    <p:sldId id="623" r:id="rId51"/>
    <p:sldId id="624" r:id="rId52"/>
    <p:sldId id="625" r:id="rId53"/>
    <p:sldId id="626" r:id="rId54"/>
    <p:sldId id="627" r:id="rId55"/>
    <p:sldId id="628" r:id="rId56"/>
    <p:sldId id="629" r:id="rId57"/>
    <p:sldId id="630" r:id="rId58"/>
    <p:sldId id="631" r:id="rId59"/>
    <p:sldId id="632" r:id="rId60"/>
    <p:sldId id="282" r:id="rId61"/>
    <p:sldId id="633" r:id="rId62"/>
    <p:sldId id="634" r:id="rId63"/>
    <p:sldId id="635" r:id="rId64"/>
    <p:sldId id="636" r:id="rId65"/>
    <p:sldId id="637" r:id="rId66"/>
    <p:sldId id="285" r:id="rId67"/>
    <p:sldId id="527" r:id="rId68"/>
    <p:sldId id="286" r:id="rId69"/>
    <p:sldId id="287" r:id="rId70"/>
    <p:sldId id="288" r:id="rId71"/>
    <p:sldId id="289" r:id="rId72"/>
    <p:sldId id="290" r:id="rId73"/>
    <p:sldId id="291" r:id="rId74"/>
    <p:sldId id="292" r:id="rId75"/>
    <p:sldId id="293" r:id="rId76"/>
    <p:sldId id="294" r:id="rId77"/>
    <p:sldId id="299" r:id="rId78"/>
    <p:sldId id="295" r:id="rId79"/>
    <p:sldId id="570" r:id="rId80"/>
    <p:sldId id="571" r:id="rId81"/>
    <p:sldId id="573" r:id="rId82"/>
    <p:sldId id="575" r:id="rId83"/>
    <p:sldId id="620" r:id="rId84"/>
    <p:sldId id="576" r:id="rId85"/>
    <p:sldId id="284" r:id="rId86"/>
    <p:sldId id="283" r:id="rId87"/>
    <p:sldId id="296" r:id="rId88"/>
    <p:sldId id="297" r:id="rId89"/>
    <p:sldId id="298" r:id="rId90"/>
    <p:sldId id="300" r:id="rId91"/>
    <p:sldId id="301" r:id="rId92"/>
    <p:sldId id="302" r:id="rId93"/>
    <p:sldId id="303" r:id="rId94"/>
    <p:sldId id="597" r:id="rId95"/>
    <p:sldId id="598" r:id="rId96"/>
    <p:sldId id="609" r:id="rId97"/>
    <p:sldId id="610" r:id="rId98"/>
    <p:sldId id="611" r:id="rId99"/>
    <p:sldId id="612" r:id="rId100"/>
    <p:sldId id="613" r:id="rId101"/>
    <p:sldId id="614" r:id="rId102"/>
    <p:sldId id="615" r:id="rId103"/>
    <p:sldId id="616" r:id="rId104"/>
    <p:sldId id="304" r:id="rId105"/>
    <p:sldId id="305" r:id="rId106"/>
    <p:sldId id="306" r:id="rId107"/>
    <p:sldId id="310" r:id="rId108"/>
    <p:sldId id="596" r:id="rId109"/>
    <p:sldId id="309" r:id="rId110"/>
    <p:sldId id="308" r:id="rId111"/>
    <p:sldId id="311" r:id="rId112"/>
    <p:sldId id="617" r:id="rId113"/>
    <p:sldId id="312" r:id="rId114"/>
    <p:sldId id="619" r:id="rId115"/>
    <p:sldId id="594" r:id="rId116"/>
    <p:sldId id="689" r:id="rId117"/>
    <p:sldId id="690" r:id="rId118"/>
    <p:sldId id="691" r:id="rId119"/>
    <p:sldId id="692" r:id="rId120"/>
    <p:sldId id="693" r:id="rId121"/>
    <p:sldId id="694" r:id="rId122"/>
    <p:sldId id="695" r:id="rId123"/>
    <p:sldId id="696" r:id="rId124"/>
    <p:sldId id="697" r:id="rId125"/>
    <p:sldId id="698" r:id="rId126"/>
    <p:sldId id="699" r:id="rId127"/>
    <p:sldId id="700" r:id="rId128"/>
    <p:sldId id="701" r:id="rId129"/>
    <p:sldId id="702" r:id="rId130"/>
    <p:sldId id="703" r:id="rId131"/>
    <p:sldId id="704" r:id="rId132"/>
    <p:sldId id="705" r:id="rId133"/>
    <p:sldId id="706" r:id="rId134"/>
    <p:sldId id="708" r:id="rId135"/>
    <p:sldId id="709" r:id="rId136"/>
    <p:sldId id="707" r:id="rId13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7"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76">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620"/>
    <p:restoredTop sz="76000" autoAdjust="0"/>
  </p:normalViewPr>
  <p:slideViewPr>
    <p:cSldViewPr showGuides="1">
      <p:cViewPr varScale="1">
        <p:scale>
          <a:sx n="52" d="100"/>
          <a:sy n="52" d="100"/>
        </p:scale>
        <p:origin x="57" y="1125"/>
      </p:cViewPr>
      <p:guideLst>
        <p:guide orient="horz" pos="2157"/>
        <p:guide pos="3840"/>
      </p:guideLst>
    </p:cSldViewPr>
  </p:slideViewPr>
  <p:notesTextViewPr>
    <p:cViewPr>
      <p:scale>
        <a:sx n="1" d="1"/>
        <a:sy n="1" d="1"/>
      </p:scale>
      <p:origin x="0" y="0"/>
    </p:cViewPr>
  </p:notesTextViewPr>
  <p:notesViewPr>
    <p:cSldViewPr>
      <p:cViewPr varScale="1">
        <p:scale>
          <a:sx n="68" d="100"/>
          <a:sy n="68" d="100"/>
        </p:scale>
        <p:origin x="-2856" y="-90"/>
      </p:cViewPr>
      <p:guideLst>
        <p:guide orient="horz" pos="2876"/>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notesMaster" Target="notesMasters/notesMaster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handoutMaster" Target="handoutMasters/handout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DDFDF3B-AE29-413A-8565-36E99FCC1401}" type="datetimeFigureOut">
              <a:rPr lang="zh-CN" altLang="en-US" smtClean="0"/>
              <a:t>2024/7/4</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F33A1D4-0E82-40CF-9B16-2A1544F29654}"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765C957-B7F8-4F83-889D-E26865B99429}" type="datetimeFigureOut">
              <a:rPr lang="zh-CN" altLang="en-US" smtClean="0"/>
              <a:t>2024/7/4</a:t>
            </a:fld>
            <a:endParaRPr lang="zh-CN" altLang="en-US"/>
          </a:p>
        </p:txBody>
      </p:sp>
      <p:sp>
        <p:nvSpPr>
          <p:cNvPr id="4" name="幻灯片图像占位符 3"/>
          <p:cNvSpPr>
            <a:spLocks noGrp="1" noRot="1" noChangeAspect="1"/>
          </p:cNvSpPr>
          <p:nvPr>
            <p:ph type="sldImg" idx="2"/>
          </p:nvPr>
        </p:nvSpPr>
        <p:spPr>
          <a:xfrm>
            <a:off x="380700" y="685800"/>
            <a:ext cx="60966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5C93DD0-0F41-468A-9475-541F965AA0E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流程图不能表示并行</a:t>
            </a:r>
          </a:p>
        </p:txBody>
      </p:sp>
      <p:sp>
        <p:nvSpPr>
          <p:cNvPr id="4" name="灯片编号占位符 3"/>
          <p:cNvSpPr>
            <a:spLocks noGrp="1"/>
          </p:cNvSpPr>
          <p:nvPr>
            <p:ph type="sldNum" sz="quarter" idx="10"/>
          </p:nvPr>
        </p:nvSpPr>
        <p:spPr/>
        <p:txBody>
          <a:bodyPr/>
          <a:lstStyle/>
          <a:p>
            <a:fld id="{05C93DD0-0F41-468A-9475-541F965AA0EF}" type="slidenum">
              <a:rPr lang="zh-CN" altLang="en-US" smtClean="0"/>
              <a:t>13</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90" y="1340485"/>
            <a:ext cx="10364220" cy="1470025"/>
          </a:xfrm>
        </p:spPr>
        <p:txBody>
          <a:bodyPr/>
          <a:lstStyle/>
          <a:p>
            <a:r>
              <a:rPr lang="zh-CN" altLang="en-US"/>
              <a:t>单击此处编辑母版标题样式</a:t>
            </a:r>
          </a:p>
        </p:txBody>
      </p:sp>
      <p:sp>
        <p:nvSpPr>
          <p:cNvPr id="3" name="副标题 2"/>
          <p:cNvSpPr>
            <a:spLocks noGrp="1"/>
          </p:cNvSpPr>
          <p:nvPr>
            <p:ph type="subTitle" idx="1"/>
          </p:nvPr>
        </p:nvSpPr>
        <p:spPr>
          <a:xfrm>
            <a:off x="1828980" y="3886200"/>
            <a:ext cx="853524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60" y="6356350"/>
            <a:ext cx="2845080" cy="365125"/>
          </a:xfrm>
          <a:prstGeom prst="rect">
            <a:avLst/>
          </a:prstGeom>
        </p:spPr>
        <p:txBody>
          <a:bodyPr/>
          <a:lstStyle/>
          <a:p>
            <a:fld id="{53DD1E0F-2F3A-4A6D-BE0C-71E4EC4C6141}" type="datetimeFigureOut">
              <a:rPr lang="zh-CN" altLang="en-US" smtClean="0"/>
              <a:t>2024/7/4</a:t>
            </a:fld>
            <a:endParaRPr lang="zh-CN" altLang="en-US"/>
          </a:p>
        </p:txBody>
      </p:sp>
      <p:sp>
        <p:nvSpPr>
          <p:cNvPr id="5" name="页脚占位符 4"/>
          <p:cNvSpPr>
            <a:spLocks noGrp="1"/>
          </p:cNvSpPr>
          <p:nvPr>
            <p:ph type="ftr" sz="quarter" idx="11"/>
          </p:nvPr>
        </p:nvSpPr>
        <p:spPr/>
        <p:txBody>
          <a:bodyPr/>
          <a:lstStyle/>
          <a:p>
            <a:endParaRPr lang="zh-CN" altLang="en-US" dirty="0"/>
          </a:p>
        </p:txBody>
      </p:sp>
      <p:sp>
        <p:nvSpPr>
          <p:cNvPr id="6" name="灯片编号占位符 5"/>
          <p:cNvSpPr>
            <a:spLocks noGrp="1"/>
          </p:cNvSpPr>
          <p:nvPr>
            <p:ph type="sldNum" sz="quarter" idx="12"/>
          </p:nvPr>
        </p:nvSpPr>
        <p:spPr>
          <a:xfrm>
            <a:off x="8738460" y="6356350"/>
            <a:ext cx="2845080" cy="365125"/>
          </a:xfrm>
          <a:prstGeom prst="rect">
            <a:avLst/>
          </a:prstGeom>
        </p:spPr>
        <p:txBody>
          <a:bodyPr/>
          <a:lstStyle/>
          <a:p>
            <a:fld id="{3AFA532F-92A4-422A-A6FB-AFE39D79264D}" type="slidenum">
              <a:rPr lang="zh-CN" altLang="en-US" smtClean="0"/>
              <a:t>‹#›</a:t>
            </a:fld>
            <a:endParaRPr lang="zh-CN" altLang="en-US"/>
          </a:p>
        </p:txBody>
      </p:sp>
      <p:cxnSp>
        <p:nvCxnSpPr>
          <p:cNvPr id="7" name="直接连接符 6"/>
          <p:cNvCxnSpPr/>
          <p:nvPr/>
        </p:nvCxnSpPr>
        <p:spPr>
          <a:xfrm>
            <a:off x="12065" y="3285490"/>
            <a:ext cx="12132945" cy="27940"/>
          </a:xfrm>
          <a:prstGeom prst="line">
            <a:avLst/>
          </a:prstGeom>
          <a:ln w="66675" cap="flat" cmpd="sng">
            <a:solidFill>
              <a:srgbClr val="0000FF"/>
            </a:solidFill>
            <a:prstDash val="solid"/>
            <a:headEnd type="none"/>
            <a:tailEnd type="none"/>
          </a:ln>
        </p:spPr>
        <p:style>
          <a:lnRef idx="2">
            <a:schemeClr val="accent1"/>
          </a:lnRef>
          <a:fillRef idx="0">
            <a:srgbClr val="FFFFFF"/>
          </a:fillRef>
          <a:effectRef idx="0">
            <a:srgbClr val="FFFFFF"/>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lvl1pPr eaLnBrk="1" fontAlgn="auto" latinLnBrk="0" hangingPunct="1">
              <a:lnSpc>
                <a:spcPct val="150000"/>
              </a:lnSpc>
              <a:spcBef>
                <a:spcPts val="0"/>
              </a:spcBef>
              <a:defRPr sz="2400">
                <a:latin typeface="微软雅黑" charset="0"/>
                <a:ea typeface="微软雅黑" charset="0"/>
              </a:defRPr>
            </a:lvl1pPr>
            <a:lvl2pPr eaLnBrk="1" fontAlgn="auto" latinLnBrk="0" hangingPunct="1">
              <a:lnSpc>
                <a:spcPct val="150000"/>
              </a:lnSpc>
              <a:spcBef>
                <a:spcPts val="0"/>
              </a:spcBef>
              <a:defRPr sz="2400">
                <a:latin typeface="微软雅黑" charset="0"/>
                <a:ea typeface="微软雅黑" charset="0"/>
              </a:defRPr>
            </a:lvl2pPr>
            <a:lvl3pPr eaLnBrk="1" fontAlgn="auto" latinLnBrk="0" hangingPunct="1">
              <a:lnSpc>
                <a:spcPct val="150000"/>
              </a:lnSpc>
              <a:spcBef>
                <a:spcPts val="0"/>
              </a:spcBef>
              <a:defRPr sz="2400">
                <a:latin typeface="微软雅黑" charset="0"/>
                <a:ea typeface="微软雅黑" charset="0"/>
              </a:defRPr>
            </a:lvl3pPr>
            <a:lvl4pPr eaLnBrk="1" fontAlgn="auto" latinLnBrk="0" hangingPunct="1">
              <a:lnSpc>
                <a:spcPct val="150000"/>
              </a:lnSpc>
              <a:spcBef>
                <a:spcPts val="0"/>
              </a:spcBef>
              <a:defRPr sz="2400">
                <a:latin typeface="微软雅黑" charset="0"/>
                <a:ea typeface="微软雅黑" charset="0"/>
              </a:defRPr>
            </a:lvl4pPr>
            <a:lvl5pPr eaLnBrk="1" fontAlgn="auto" latinLnBrk="0" hangingPunct="1">
              <a:lnSpc>
                <a:spcPct val="150000"/>
              </a:lnSpc>
              <a:spcBef>
                <a:spcPts val="0"/>
              </a:spcBef>
              <a:defRPr sz="2400">
                <a:latin typeface="微软雅黑" charset="0"/>
                <a:ea typeface="微软雅黑" charset="0"/>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5448300" y="6525260"/>
            <a:ext cx="1527810" cy="269240"/>
          </a:xfrm>
          <a:prstGeom prst="rect">
            <a:avLst/>
          </a:prstGeom>
        </p:spPr>
        <p:txBody>
          <a:bodyPr/>
          <a:lstStyle/>
          <a:p>
            <a:fld id="{53DD1E0F-2F3A-4A6D-BE0C-71E4EC4C6141}" type="datetimeFigureOut">
              <a:rPr lang="zh-CN" altLang="en-US" smtClean="0"/>
              <a:t>2024/7/4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8738460" y="6356350"/>
            <a:ext cx="2845080" cy="365125"/>
          </a:xfrm>
          <a:prstGeom prst="rect">
            <a:avLst/>
          </a:prstGeom>
        </p:spPr>
        <p:txBody>
          <a:bodyPr/>
          <a:lstStyle/>
          <a:p>
            <a:fld id="{3AFA532F-92A4-422A-A6FB-AFE39D79264D}"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179" y="4406900"/>
            <a:ext cx="1036422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179" y="2906713"/>
            <a:ext cx="1036422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609660" y="6356350"/>
            <a:ext cx="2845080" cy="365125"/>
          </a:xfrm>
          <a:prstGeom prst="rect">
            <a:avLst/>
          </a:prstGeom>
        </p:spPr>
        <p:txBody>
          <a:bodyPr/>
          <a:lstStyle/>
          <a:p>
            <a:fld id="{53DD1E0F-2F3A-4A6D-BE0C-71E4EC4C6141}" type="datetimeFigureOut">
              <a:rPr lang="zh-CN" altLang="en-US" smtClean="0"/>
              <a:t>2024/7/4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8738460" y="6356350"/>
            <a:ext cx="2845080" cy="365125"/>
          </a:xfrm>
          <a:prstGeom prst="rect">
            <a:avLst/>
          </a:prstGeom>
        </p:spPr>
        <p:txBody>
          <a:bodyPr/>
          <a:lstStyle/>
          <a:p>
            <a:fld id="{3AFA532F-92A4-422A-A6FB-AFE39D79264D}"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60" y="1600200"/>
            <a:ext cx="538533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8210" y="1600200"/>
            <a:ext cx="538533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60" y="6356350"/>
            <a:ext cx="2845080" cy="365125"/>
          </a:xfrm>
          <a:prstGeom prst="rect">
            <a:avLst/>
          </a:prstGeom>
        </p:spPr>
        <p:txBody>
          <a:bodyPr/>
          <a:lstStyle/>
          <a:p>
            <a:fld id="{53DD1E0F-2F3A-4A6D-BE0C-71E4EC4C6141}" type="datetimeFigureOut">
              <a:rPr lang="zh-CN" altLang="en-US" smtClean="0"/>
              <a:t>2024/7/4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a:xfrm>
            <a:off x="8738460" y="6356350"/>
            <a:ext cx="2845080" cy="365125"/>
          </a:xfrm>
          <a:prstGeom prst="rect">
            <a:avLst/>
          </a:prstGeom>
        </p:spPr>
        <p:txBody>
          <a:bodyPr/>
          <a:lstStyle/>
          <a:p>
            <a:fld id="{3AFA532F-92A4-422A-A6FB-AFE39D79264D}"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60" y="1535113"/>
            <a:ext cx="538744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60" y="2174875"/>
            <a:ext cx="538744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977" y="1535113"/>
            <a:ext cx="5389564"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977" y="2174875"/>
            <a:ext cx="5389564"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609660" y="6356350"/>
            <a:ext cx="2845080" cy="365125"/>
          </a:xfrm>
          <a:prstGeom prst="rect">
            <a:avLst/>
          </a:prstGeom>
        </p:spPr>
        <p:txBody>
          <a:bodyPr/>
          <a:lstStyle/>
          <a:p>
            <a:fld id="{53DD1E0F-2F3A-4A6D-BE0C-71E4EC4C6141}" type="datetimeFigureOut">
              <a:rPr lang="zh-CN" altLang="en-US" smtClean="0"/>
              <a:t>2024/7/4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a:xfrm>
            <a:off x="8738460" y="6356350"/>
            <a:ext cx="2845080" cy="365125"/>
          </a:xfrm>
          <a:prstGeom prst="rect">
            <a:avLst/>
          </a:prstGeom>
        </p:spPr>
        <p:txBody>
          <a:bodyPr/>
          <a:lstStyle/>
          <a:p>
            <a:fld id="{3AFA532F-92A4-422A-A6FB-AFE39D79264D}"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a:xfrm>
            <a:off x="609660" y="6356350"/>
            <a:ext cx="2845080" cy="365125"/>
          </a:xfrm>
          <a:prstGeom prst="rect">
            <a:avLst/>
          </a:prstGeom>
        </p:spPr>
        <p:txBody>
          <a:bodyPr/>
          <a:lstStyle/>
          <a:p>
            <a:fld id="{53DD1E0F-2F3A-4A6D-BE0C-71E4EC4C6141}" type="datetimeFigureOut">
              <a:rPr lang="zh-CN" altLang="en-US" smtClean="0"/>
              <a:t>2024/7/4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a:xfrm>
            <a:off x="8738460" y="6356350"/>
            <a:ext cx="2845080" cy="365125"/>
          </a:xfrm>
          <a:prstGeom prst="rect">
            <a:avLst/>
          </a:prstGeom>
        </p:spPr>
        <p:txBody>
          <a:bodyPr/>
          <a:lstStyle/>
          <a:p>
            <a:fld id="{3AFA532F-92A4-422A-A6FB-AFE39D79264D}"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60" y="6356350"/>
            <a:ext cx="2845080" cy="365125"/>
          </a:xfrm>
          <a:prstGeom prst="rect">
            <a:avLst/>
          </a:prstGeom>
        </p:spPr>
        <p:txBody>
          <a:bodyPr/>
          <a:lstStyle/>
          <a:p>
            <a:fld id="{53DD1E0F-2F3A-4A6D-BE0C-71E4EC4C6141}" type="datetimeFigureOut">
              <a:rPr lang="zh-CN" altLang="en-US" smtClean="0"/>
              <a:t>2024/7/4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a:xfrm>
            <a:off x="8738460" y="6356350"/>
            <a:ext cx="2845080" cy="365125"/>
          </a:xfrm>
          <a:prstGeom prst="rect">
            <a:avLst/>
          </a:prstGeom>
        </p:spPr>
        <p:txBody>
          <a:bodyPr/>
          <a:lstStyle/>
          <a:p>
            <a:fld id="{3AFA532F-92A4-422A-A6FB-AFE39D79264D}"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60" y="273050"/>
            <a:ext cx="4011479"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203" y="273050"/>
            <a:ext cx="681633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60" y="1435100"/>
            <a:ext cx="4011479"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609660" y="6356350"/>
            <a:ext cx="2845080" cy="365125"/>
          </a:xfrm>
          <a:prstGeom prst="rect">
            <a:avLst/>
          </a:prstGeom>
        </p:spPr>
        <p:txBody>
          <a:bodyPr/>
          <a:lstStyle/>
          <a:p>
            <a:fld id="{53DD1E0F-2F3A-4A6D-BE0C-71E4EC4C6141}" type="datetimeFigureOut">
              <a:rPr lang="zh-CN" altLang="en-US" smtClean="0"/>
              <a:t>2024/7/4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a:xfrm>
            <a:off x="8738460" y="6356350"/>
            <a:ext cx="2845080" cy="365125"/>
          </a:xfrm>
          <a:prstGeom prst="rect">
            <a:avLst/>
          </a:prstGeom>
        </p:spPr>
        <p:txBody>
          <a:bodyPr/>
          <a:lstStyle/>
          <a:p>
            <a:fld id="{3AFA532F-92A4-422A-A6FB-AFE39D79264D}"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953" y="4800600"/>
            <a:ext cx="731592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953" y="612775"/>
            <a:ext cx="731592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953" y="5367338"/>
            <a:ext cx="731592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609660" y="6356350"/>
            <a:ext cx="2845080" cy="365125"/>
          </a:xfrm>
          <a:prstGeom prst="rect">
            <a:avLst/>
          </a:prstGeom>
        </p:spPr>
        <p:txBody>
          <a:bodyPr/>
          <a:lstStyle/>
          <a:p>
            <a:fld id="{53DD1E0F-2F3A-4A6D-BE0C-71E4EC4C6141}" type="datetimeFigureOut">
              <a:rPr lang="zh-CN" altLang="en-US" smtClean="0"/>
              <a:t>2024/7/4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a:xfrm>
            <a:off x="8738460" y="6356350"/>
            <a:ext cx="2845080" cy="365125"/>
          </a:xfrm>
          <a:prstGeom prst="rect">
            <a:avLst/>
          </a:prstGeom>
        </p:spPr>
        <p:txBody>
          <a:bodyPr/>
          <a:lstStyle/>
          <a:p>
            <a:fld id="{3AFA532F-92A4-422A-A6FB-AFE39D79264D}"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224080" y="6356350"/>
            <a:ext cx="2845080" cy="365125"/>
          </a:xfrm>
          <a:prstGeom prst="rect">
            <a:avLst/>
          </a:prstGeom>
        </p:spPr>
        <p:txBody>
          <a:bodyPr/>
          <a:lstStyle/>
          <a:p>
            <a:fld id="{53DD1E0F-2F3A-4A6D-BE0C-71E4EC4C6141}" type="datetimeFigureOut">
              <a:rPr lang="zh-CN" altLang="en-US" smtClean="0"/>
              <a:t>2024/7/4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8738460" y="6356350"/>
            <a:ext cx="2845080" cy="365125"/>
          </a:xfrm>
          <a:prstGeom prst="rect">
            <a:avLst/>
          </a:prstGeom>
        </p:spPr>
        <p:txBody>
          <a:bodyPr/>
          <a:lstStyle/>
          <a:p>
            <a:fld id="{3AFA532F-92A4-422A-A6FB-AFE39D79264D}"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070" y="274638"/>
            <a:ext cx="274347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60" y="274638"/>
            <a:ext cx="802719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60" y="6356350"/>
            <a:ext cx="2845080" cy="365125"/>
          </a:xfrm>
          <a:prstGeom prst="rect">
            <a:avLst/>
          </a:prstGeom>
        </p:spPr>
        <p:txBody>
          <a:bodyPr/>
          <a:lstStyle/>
          <a:p>
            <a:fld id="{53DD1E0F-2F3A-4A6D-BE0C-71E4EC4C6141}" type="datetimeFigureOut">
              <a:rPr lang="zh-CN" altLang="en-US" smtClean="0"/>
              <a:t>2024/7/4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8738460" y="6356350"/>
            <a:ext cx="2845080" cy="365125"/>
          </a:xfrm>
          <a:prstGeom prst="rect">
            <a:avLst/>
          </a:prstGeom>
        </p:spPr>
        <p:txBody>
          <a:bodyPr/>
          <a:lstStyle/>
          <a:p>
            <a:fld id="{3AFA532F-92A4-422A-A6FB-AFE39D79264D}"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60" y="197768"/>
            <a:ext cx="10973880" cy="11430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09660" y="1600200"/>
            <a:ext cx="10973880" cy="4525963"/>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页脚占位符 4"/>
          <p:cNvSpPr>
            <a:spLocks noGrp="1"/>
          </p:cNvSpPr>
          <p:nvPr>
            <p:ph type="ftr" sz="quarter" idx="3"/>
          </p:nvPr>
        </p:nvSpPr>
        <p:spPr>
          <a:xfrm>
            <a:off x="10129447" y="6381328"/>
            <a:ext cx="205788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dirty="0"/>
              <a:t>课程组</a:t>
            </a:r>
          </a:p>
        </p:txBody>
      </p:sp>
      <p:cxnSp>
        <p:nvCxnSpPr>
          <p:cNvPr id="8" name="直接连接符 7"/>
          <p:cNvCxnSpPr/>
          <p:nvPr userDrawn="1"/>
        </p:nvCxnSpPr>
        <p:spPr>
          <a:xfrm>
            <a:off x="0" y="1412776"/>
            <a:ext cx="12193201"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pic>
        <p:nvPicPr>
          <p:cNvPr id="7" name="图片 6"/>
          <p:cNvPicPr>
            <a:picLocks noChangeAspect="1"/>
          </p:cNvPicPr>
          <p:nvPr userDrawn="1">
            <p:custDataLst>
              <p:tags r:id="rId13"/>
            </p:custDataLst>
          </p:nvPr>
        </p:nvPicPr>
        <p:blipFill>
          <a:blip r:embed="rId14" cstate="print">
            <a:extLst>
              <a:ext uri="{28A0092B-C50C-407E-A947-70E740481C1C}">
                <a14:useLocalDpi xmlns:a14="http://schemas.microsoft.com/office/drawing/2010/main" val="0"/>
              </a:ext>
            </a:extLst>
          </a:blip>
          <a:stretch>
            <a:fillRect/>
          </a:stretch>
        </p:blipFill>
        <p:spPr>
          <a:xfrm>
            <a:off x="-238" y="6165156"/>
            <a:ext cx="2318951" cy="73047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6" Type="http://schemas.openxmlformats.org/officeDocument/2006/relationships/tags" Target="../tags/tag27.xml"/><Relationship Id="rId21" Type="http://schemas.openxmlformats.org/officeDocument/2006/relationships/tags" Target="../tags/tag22.xml"/><Relationship Id="rId42" Type="http://schemas.openxmlformats.org/officeDocument/2006/relationships/tags" Target="../tags/tag43.xml"/><Relationship Id="rId47" Type="http://schemas.openxmlformats.org/officeDocument/2006/relationships/tags" Target="../tags/tag48.xml"/><Relationship Id="rId63" Type="http://schemas.openxmlformats.org/officeDocument/2006/relationships/tags" Target="../tags/tag64.xml"/><Relationship Id="rId68" Type="http://schemas.openxmlformats.org/officeDocument/2006/relationships/tags" Target="../tags/tag69.xml"/><Relationship Id="rId84" Type="http://schemas.openxmlformats.org/officeDocument/2006/relationships/tags" Target="../tags/tag85.xml"/><Relationship Id="rId89" Type="http://schemas.openxmlformats.org/officeDocument/2006/relationships/tags" Target="../tags/tag90.xml"/><Relationship Id="rId16" Type="http://schemas.openxmlformats.org/officeDocument/2006/relationships/tags" Target="../tags/tag17.xml"/><Relationship Id="rId11" Type="http://schemas.openxmlformats.org/officeDocument/2006/relationships/tags" Target="../tags/tag12.xml"/><Relationship Id="rId32" Type="http://schemas.openxmlformats.org/officeDocument/2006/relationships/tags" Target="../tags/tag33.xml"/><Relationship Id="rId37" Type="http://schemas.openxmlformats.org/officeDocument/2006/relationships/tags" Target="../tags/tag38.xml"/><Relationship Id="rId53" Type="http://schemas.openxmlformats.org/officeDocument/2006/relationships/tags" Target="../tags/tag54.xml"/><Relationship Id="rId58" Type="http://schemas.openxmlformats.org/officeDocument/2006/relationships/tags" Target="../tags/tag59.xml"/><Relationship Id="rId74" Type="http://schemas.openxmlformats.org/officeDocument/2006/relationships/tags" Target="../tags/tag75.xml"/><Relationship Id="rId79" Type="http://schemas.openxmlformats.org/officeDocument/2006/relationships/tags" Target="../tags/tag80.xml"/><Relationship Id="rId5" Type="http://schemas.openxmlformats.org/officeDocument/2006/relationships/tags" Target="../tags/tag6.xml"/><Relationship Id="rId90" Type="http://schemas.openxmlformats.org/officeDocument/2006/relationships/tags" Target="../tags/tag91.xml"/><Relationship Id="rId14" Type="http://schemas.openxmlformats.org/officeDocument/2006/relationships/tags" Target="../tags/tag15.xml"/><Relationship Id="rId22" Type="http://schemas.openxmlformats.org/officeDocument/2006/relationships/tags" Target="../tags/tag23.xml"/><Relationship Id="rId27" Type="http://schemas.openxmlformats.org/officeDocument/2006/relationships/tags" Target="../tags/tag28.xml"/><Relationship Id="rId30" Type="http://schemas.openxmlformats.org/officeDocument/2006/relationships/tags" Target="../tags/tag31.xml"/><Relationship Id="rId35" Type="http://schemas.openxmlformats.org/officeDocument/2006/relationships/tags" Target="../tags/tag36.xml"/><Relationship Id="rId43" Type="http://schemas.openxmlformats.org/officeDocument/2006/relationships/tags" Target="../tags/tag44.xml"/><Relationship Id="rId48" Type="http://schemas.openxmlformats.org/officeDocument/2006/relationships/tags" Target="../tags/tag49.xml"/><Relationship Id="rId56" Type="http://schemas.openxmlformats.org/officeDocument/2006/relationships/tags" Target="../tags/tag57.xml"/><Relationship Id="rId64" Type="http://schemas.openxmlformats.org/officeDocument/2006/relationships/tags" Target="../tags/tag65.xml"/><Relationship Id="rId69" Type="http://schemas.openxmlformats.org/officeDocument/2006/relationships/tags" Target="../tags/tag70.xml"/><Relationship Id="rId77" Type="http://schemas.openxmlformats.org/officeDocument/2006/relationships/tags" Target="../tags/tag78.xml"/><Relationship Id="rId8" Type="http://schemas.openxmlformats.org/officeDocument/2006/relationships/tags" Target="../tags/tag9.xml"/><Relationship Id="rId51" Type="http://schemas.openxmlformats.org/officeDocument/2006/relationships/tags" Target="../tags/tag52.xml"/><Relationship Id="rId72" Type="http://schemas.openxmlformats.org/officeDocument/2006/relationships/tags" Target="../tags/tag73.xml"/><Relationship Id="rId80" Type="http://schemas.openxmlformats.org/officeDocument/2006/relationships/tags" Target="../tags/tag81.xml"/><Relationship Id="rId85" Type="http://schemas.openxmlformats.org/officeDocument/2006/relationships/tags" Target="../tags/tag86.xml"/><Relationship Id="rId3" Type="http://schemas.openxmlformats.org/officeDocument/2006/relationships/tags" Target="../tags/tag4.xml"/><Relationship Id="rId12" Type="http://schemas.openxmlformats.org/officeDocument/2006/relationships/tags" Target="../tags/tag13.xml"/><Relationship Id="rId17" Type="http://schemas.openxmlformats.org/officeDocument/2006/relationships/tags" Target="../tags/tag18.xml"/><Relationship Id="rId25" Type="http://schemas.openxmlformats.org/officeDocument/2006/relationships/tags" Target="../tags/tag26.xml"/><Relationship Id="rId33" Type="http://schemas.openxmlformats.org/officeDocument/2006/relationships/tags" Target="../tags/tag34.xml"/><Relationship Id="rId38" Type="http://schemas.openxmlformats.org/officeDocument/2006/relationships/tags" Target="../tags/tag39.xml"/><Relationship Id="rId46" Type="http://schemas.openxmlformats.org/officeDocument/2006/relationships/tags" Target="../tags/tag47.xml"/><Relationship Id="rId59" Type="http://schemas.openxmlformats.org/officeDocument/2006/relationships/tags" Target="../tags/tag60.xml"/><Relationship Id="rId67" Type="http://schemas.openxmlformats.org/officeDocument/2006/relationships/tags" Target="../tags/tag68.xml"/><Relationship Id="rId20" Type="http://schemas.openxmlformats.org/officeDocument/2006/relationships/tags" Target="../tags/tag21.xml"/><Relationship Id="rId41" Type="http://schemas.openxmlformats.org/officeDocument/2006/relationships/tags" Target="../tags/tag42.xml"/><Relationship Id="rId54" Type="http://schemas.openxmlformats.org/officeDocument/2006/relationships/tags" Target="../tags/tag55.xml"/><Relationship Id="rId62" Type="http://schemas.openxmlformats.org/officeDocument/2006/relationships/tags" Target="../tags/tag63.xml"/><Relationship Id="rId70" Type="http://schemas.openxmlformats.org/officeDocument/2006/relationships/tags" Target="../tags/tag71.xml"/><Relationship Id="rId75" Type="http://schemas.openxmlformats.org/officeDocument/2006/relationships/tags" Target="../tags/tag76.xml"/><Relationship Id="rId83" Type="http://schemas.openxmlformats.org/officeDocument/2006/relationships/tags" Target="../tags/tag84.xml"/><Relationship Id="rId88" Type="http://schemas.openxmlformats.org/officeDocument/2006/relationships/tags" Target="../tags/tag89.xml"/><Relationship Id="rId91" Type="http://schemas.openxmlformats.org/officeDocument/2006/relationships/tags" Target="../tags/tag92.xml"/><Relationship Id="rId1" Type="http://schemas.openxmlformats.org/officeDocument/2006/relationships/tags" Target="../tags/tag2.xml"/><Relationship Id="rId6" Type="http://schemas.openxmlformats.org/officeDocument/2006/relationships/tags" Target="../tags/tag7.xml"/><Relationship Id="rId15" Type="http://schemas.openxmlformats.org/officeDocument/2006/relationships/tags" Target="../tags/tag16.xml"/><Relationship Id="rId23" Type="http://schemas.openxmlformats.org/officeDocument/2006/relationships/tags" Target="../tags/tag24.xml"/><Relationship Id="rId28" Type="http://schemas.openxmlformats.org/officeDocument/2006/relationships/tags" Target="../tags/tag29.xml"/><Relationship Id="rId36" Type="http://schemas.openxmlformats.org/officeDocument/2006/relationships/tags" Target="../tags/tag37.xml"/><Relationship Id="rId49" Type="http://schemas.openxmlformats.org/officeDocument/2006/relationships/tags" Target="../tags/tag50.xml"/><Relationship Id="rId57" Type="http://schemas.openxmlformats.org/officeDocument/2006/relationships/tags" Target="../tags/tag58.xml"/><Relationship Id="rId10" Type="http://schemas.openxmlformats.org/officeDocument/2006/relationships/tags" Target="../tags/tag11.xml"/><Relationship Id="rId31" Type="http://schemas.openxmlformats.org/officeDocument/2006/relationships/tags" Target="../tags/tag32.xml"/><Relationship Id="rId44" Type="http://schemas.openxmlformats.org/officeDocument/2006/relationships/tags" Target="../tags/tag45.xml"/><Relationship Id="rId52" Type="http://schemas.openxmlformats.org/officeDocument/2006/relationships/tags" Target="../tags/tag53.xml"/><Relationship Id="rId60" Type="http://schemas.openxmlformats.org/officeDocument/2006/relationships/tags" Target="../tags/tag61.xml"/><Relationship Id="rId65" Type="http://schemas.openxmlformats.org/officeDocument/2006/relationships/tags" Target="../tags/tag66.xml"/><Relationship Id="rId73" Type="http://schemas.openxmlformats.org/officeDocument/2006/relationships/tags" Target="../tags/tag74.xml"/><Relationship Id="rId78" Type="http://schemas.openxmlformats.org/officeDocument/2006/relationships/tags" Target="../tags/tag79.xml"/><Relationship Id="rId81" Type="http://schemas.openxmlformats.org/officeDocument/2006/relationships/tags" Target="../tags/tag82.xml"/><Relationship Id="rId86" Type="http://schemas.openxmlformats.org/officeDocument/2006/relationships/tags" Target="../tags/tag87.xml"/><Relationship Id="rId4" Type="http://schemas.openxmlformats.org/officeDocument/2006/relationships/tags" Target="../tags/tag5.xml"/><Relationship Id="rId9" Type="http://schemas.openxmlformats.org/officeDocument/2006/relationships/tags" Target="../tags/tag10.xml"/><Relationship Id="rId13" Type="http://schemas.openxmlformats.org/officeDocument/2006/relationships/tags" Target="../tags/tag14.xml"/><Relationship Id="rId18" Type="http://schemas.openxmlformats.org/officeDocument/2006/relationships/tags" Target="../tags/tag19.xml"/><Relationship Id="rId39" Type="http://schemas.openxmlformats.org/officeDocument/2006/relationships/tags" Target="../tags/tag40.xml"/><Relationship Id="rId34" Type="http://schemas.openxmlformats.org/officeDocument/2006/relationships/tags" Target="../tags/tag35.xml"/><Relationship Id="rId50" Type="http://schemas.openxmlformats.org/officeDocument/2006/relationships/tags" Target="../tags/tag51.xml"/><Relationship Id="rId55" Type="http://schemas.openxmlformats.org/officeDocument/2006/relationships/tags" Target="../tags/tag56.xml"/><Relationship Id="rId76" Type="http://schemas.openxmlformats.org/officeDocument/2006/relationships/tags" Target="../tags/tag77.xml"/><Relationship Id="rId7" Type="http://schemas.openxmlformats.org/officeDocument/2006/relationships/tags" Target="../tags/tag8.xml"/><Relationship Id="rId71" Type="http://schemas.openxmlformats.org/officeDocument/2006/relationships/tags" Target="../tags/tag72.xml"/><Relationship Id="rId92" Type="http://schemas.openxmlformats.org/officeDocument/2006/relationships/slideLayout" Target="../slideLayouts/slideLayout7.xml"/><Relationship Id="rId2" Type="http://schemas.openxmlformats.org/officeDocument/2006/relationships/tags" Target="../tags/tag3.xml"/><Relationship Id="rId29" Type="http://schemas.openxmlformats.org/officeDocument/2006/relationships/tags" Target="../tags/tag30.xml"/><Relationship Id="rId24" Type="http://schemas.openxmlformats.org/officeDocument/2006/relationships/tags" Target="../tags/tag25.xml"/><Relationship Id="rId40" Type="http://schemas.openxmlformats.org/officeDocument/2006/relationships/tags" Target="../tags/tag41.xml"/><Relationship Id="rId45" Type="http://schemas.openxmlformats.org/officeDocument/2006/relationships/tags" Target="../tags/tag46.xml"/><Relationship Id="rId66" Type="http://schemas.openxmlformats.org/officeDocument/2006/relationships/tags" Target="../tags/tag67.xml"/><Relationship Id="rId87" Type="http://schemas.openxmlformats.org/officeDocument/2006/relationships/tags" Target="../tags/tag88.xml"/><Relationship Id="rId61" Type="http://schemas.openxmlformats.org/officeDocument/2006/relationships/tags" Target="../tags/tag62.xml"/><Relationship Id="rId82" Type="http://schemas.openxmlformats.org/officeDocument/2006/relationships/tags" Target="../tags/tag83.xml"/><Relationship Id="rId19" Type="http://schemas.openxmlformats.org/officeDocument/2006/relationships/tags" Target="../tags/tag2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tags" Target="../tags/tag100.xml"/><Relationship Id="rId13" Type="http://schemas.openxmlformats.org/officeDocument/2006/relationships/tags" Target="../tags/tag105.xml"/><Relationship Id="rId18" Type="http://schemas.openxmlformats.org/officeDocument/2006/relationships/tags" Target="../tags/tag110.xml"/><Relationship Id="rId3" Type="http://schemas.openxmlformats.org/officeDocument/2006/relationships/tags" Target="../tags/tag95.xml"/><Relationship Id="rId21" Type="http://schemas.openxmlformats.org/officeDocument/2006/relationships/tags" Target="../tags/tag113.xml"/><Relationship Id="rId7" Type="http://schemas.openxmlformats.org/officeDocument/2006/relationships/tags" Target="../tags/tag99.xml"/><Relationship Id="rId12" Type="http://schemas.openxmlformats.org/officeDocument/2006/relationships/tags" Target="../tags/tag104.xml"/><Relationship Id="rId17" Type="http://schemas.openxmlformats.org/officeDocument/2006/relationships/tags" Target="../tags/tag109.xml"/><Relationship Id="rId2" Type="http://schemas.openxmlformats.org/officeDocument/2006/relationships/tags" Target="../tags/tag94.xml"/><Relationship Id="rId16" Type="http://schemas.openxmlformats.org/officeDocument/2006/relationships/tags" Target="../tags/tag108.xml"/><Relationship Id="rId20" Type="http://schemas.openxmlformats.org/officeDocument/2006/relationships/tags" Target="../tags/tag112.xml"/><Relationship Id="rId1" Type="http://schemas.openxmlformats.org/officeDocument/2006/relationships/tags" Target="../tags/tag93.xml"/><Relationship Id="rId6" Type="http://schemas.openxmlformats.org/officeDocument/2006/relationships/tags" Target="../tags/tag98.xml"/><Relationship Id="rId11" Type="http://schemas.openxmlformats.org/officeDocument/2006/relationships/tags" Target="../tags/tag103.xml"/><Relationship Id="rId24" Type="http://schemas.openxmlformats.org/officeDocument/2006/relationships/slideLayout" Target="../slideLayouts/slideLayout7.xml"/><Relationship Id="rId5" Type="http://schemas.openxmlformats.org/officeDocument/2006/relationships/tags" Target="../tags/tag97.xml"/><Relationship Id="rId15" Type="http://schemas.openxmlformats.org/officeDocument/2006/relationships/tags" Target="../tags/tag107.xml"/><Relationship Id="rId23" Type="http://schemas.openxmlformats.org/officeDocument/2006/relationships/tags" Target="../tags/tag115.xml"/><Relationship Id="rId10" Type="http://schemas.openxmlformats.org/officeDocument/2006/relationships/tags" Target="../tags/tag102.xml"/><Relationship Id="rId19" Type="http://schemas.openxmlformats.org/officeDocument/2006/relationships/tags" Target="../tags/tag111.xml"/><Relationship Id="rId4" Type="http://schemas.openxmlformats.org/officeDocument/2006/relationships/tags" Target="../tags/tag96.xml"/><Relationship Id="rId9" Type="http://schemas.openxmlformats.org/officeDocument/2006/relationships/tags" Target="../tags/tag101.xml"/><Relationship Id="rId14" Type="http://schemas.openxmlformats.org/officeDocument/2006/relationships/tags" Target="../tags/tag106.xml"/><Relationship Id="rId22" Type="http://schemas.openxmlformats.org/officeDocument/2006/relationships/tags" Target="../tags/tag11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7.png"/><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oleObject" Target="../embeddings/oleObject2.bin"/><Relationship Id="rId5" Type="http://schemas.openxmlformats.org/officeDocument/2006/relationships/image" Target="../media/image16.png"/><Relationship Id="rId4" Type="http://schemas.openxmlformats.org/officeDocument/2006/relationships/oleObject" Target="../embeddings/oleObject1.bin"/></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tags" Target="../tags/tag118.xml"/><Relationship Id="rId4" Type="http://schemas.openxmlformats.org/officeDocument/2006/relationships/image" Target="../media/image18.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slideLayout" Target="../slideLayouts/slideLayout2.xml"/><Relationship Id="rId1" Type="http://schemas.openxmlformats.org/officeDocument/2006/relationships/tags" Target="../tags/tag119.xml"/></Relationships>
</file>

<file path=ppt/slides/_rels/slide9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21.xml"/><Relationship Id="rId1" Type="http://schemas.openxmlformats.org/officeDocument/2006/relationships/tags" Target="../tags/tag120.xml"/><Relationship Id="rId4" Type="http://schemas.openxmlformats.org/officeDocument/2006/relationships/image" Target="../media/image35.wmf"/></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2.xml"/></Relationships>
</file>

<file path=ppt/slides/_rels/slide98.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slideLayout" Target="../slideLayouts/slideLayout7.xml"/><Relationship Id="rId1" Type="http://schemas.openxmlformats.org/officeDocument/2006/relationships/tags" Target="../tags/tag123.xml"/></Relationships>
</file>

<file path=ppt/slides/_rels/slide9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25.xml"/><Relationship Id="rId1" Type="http://schemas.openxmlformats.org/officeDocument/2006/relationships/tags" Target="../tags/tag124.xml"/></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26.xml"/></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27.xml"/></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28.xml"/></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29.xml"/></Relationships>
</file>

<file path=ppt/slides/_rels/slide104.xml.rels><?xml version="1.0" encoding="UTF-8" standalone="yes"?>
<Relationships xmlns="http://schemas.openxmlformats.org/package/2006/relationships"><Relationship Id="rId13" Type="http://schemas.openxmlformats.org/officeDocument/2006/relationships/tags" Target="../tags/tag142.xml"/><Relationship Id="rId18" Type="http://schemas.openxmlformats.org/officeDocument/2006/relationships/tags" Target="../tags/tag147.xml"/><Relationship Id="rId26" Type="http://schemas.openxmlformats.org/officeDocument/2006/relationships/tags" Target="../tags/tag155.xml"/><Relationship Id="rId39" Type="http://schemas.openxmlformats.org/officeDocument/2006/relationships/tags" Target="../tags/tag168.xml"/><Relationship Id="rId21" Type="http://schemas.openxmlformats.org/officeDocument/2006/relationships/tags" Target="../tags/tag150.xml"/><Relationship Id="rId34" Type="http://schemas.openxmlformats.org/officeDocument/2006/relationships/tags" Target="../tags/tag163.xml"/><Relationship Id="rId42" Type="http://schemas.openxmlformats.org/officeDocument/2006/relationships/tags" Target="../tags/tag171.xml"/><Relationship Id="rId47" Type="http://schemas.openxmlformats.org/officeDocument/2006/relationships/tags" Target="../tags/tag176.xml"/><Relationship Id="rId50" Type="http://schemas.openxmlformats.org/officeDocument/2006/relationships/slideLayout" Target="../slideLayouts/slideLayout2.xml"/><Relationship Id="rId7" Type="http://schemas.openxmlformats.org/officeDocument/2006/relationships/tags" Target="../tags/tag136.xml"/><Relationship Id="rId2" Type="http://schemas.openxmlformats.org/officeDocument/2006/relationships/tags" Target="../tags/tag131.xml"/><Relationship Id="rId16" Type="http://schemas.openxmlformats.org/officeDocument/2006/relationships/tags" Target="../tags/tag145.xml"/><Relationship Id="rId29" Type="http://schemas.openxmlformats.org/officeDocument/2006/relationships/tags" Target="../tags/tag158.xml"/><Relationship Id="rId11" Type="http://schemas.openxmlformats.org/officeDocument/2006/relationships/tags" Target="../tags/tag140.xml"/><Relationship Id="rId24" Type="http://schemas.openxmlformats.org/officeDocument/2006/relationships/tags" Target="../tags/tag153.xml"/><Relationship Id="rId32" Type="http://schemas.openxmlformats.org/officeDocument/2006/relationships/tags" Target="../tags/tag161.xml"/><Relationship Id="rId37" Type="http://schemas.openxmlformats.org/officeDocument/2006/relationships/tags" Target="../tags/tag166.xml"/><Relationship Id="rId40" Type="http://schemas.openxmlformats.org/officeDocument/2006/relationships/tags" Target="../tags/tag169.xml"/><Relationship Id="rId45" Type="http://schemas.openxmlformats.org/officeDocument/2006/relationships/tags" Target="../tags/tag174.xml"/><Relationship Id="rId53" Type="http://schemas.openxmlformats.org/officeDocument/2006/relationships/image" Target="../media/image38.wmf"/><Relationship Id="rId5" Type="http://schemas.openxmlformats.org/officeDocument/2006/relationships/tags" Target="../tags/tag134.xml"/><Relationship Id="rId10" Type="http://schemas.openxmlformats.org/officeDocument/2006/relationships/tags" Target="../tags/tag139.xml"/><Relationship Id="rId19" Type="http://schemas.openxmlformats.org/officeDocument/2006/relationships/tags" Target="../tags/tag148.xml"/><Relationship Id="rId31" Type="http://schemas.openxmlformats.org/officeDocument/2006/relationships/tags" Target="../tags/tag160.xml"/><Relationship Id="rId44" Type="http://schemas.openxmlformats.org/officeDocument/2006/relationships/tags" Target="../tags/tag173.xml"/><Relationship Id="rId52" Type="http://schemas.openxmlformats.org/officeDocument/2006/relationships/image" Target="../media/image37.emf"/><Relationship Id="rId4" Type="http://schemas.openxmlformats.org/officeDocument/2006/relationships/tags" Target="../tags/tag133.xml"/><Relationship Id="rId9" Type="http://schemas.openxmlformats.org/officeDocument/2006/relationships/tags" Target="../tags/tag138.xml"/><Relationship Id="rId14" Type="http://schemas.openxmlformats.org/officeDocument/2006/relationships/tags" Target="../tags/tag143.xml"/><Relationship Id="rId22" Type="http://schemas.openxmlformats.org/officeDocument/2006/relationships/tags" Target="../tags/tag151.xml"/><Relationship Id="rId27" Type="http://schemas.openxmlformats.org/officeDocument/2006/relationships/tags" Target="../tags/tag156.xml"/><Relationship Id="rId30" Type="http://schemas.openxmlformats.org/officeDocument/2006/relationships/tags" Target="../tags/tag159.xml"/><Relationship Id="rId35" Type="http://schemas.openxmlformats.org/officeDocument/2006/relationships/tags" Target="../tags/tag164.xml"/><Relationship Id="rId43" Type="http://schemas.openxmlformats.org/officeDocument/2006/relationships/tags" Target="../tags/tag172.xml"/><Relationship Id="rId48" Type="http://schemas.openxmlformats.org/officeDocument/2006/relationships/tags" Target="../tags/tag177.xml"/><Relationship Id="rId8" Type="http://schemas.openxmlformats.org/officeDocument/2006/relationships/tags" Target="../tags/tag137.xml"/><Relationship Id="rId51" Type="http://schemas.openxmlformats.org/officeDocument/2006/relationships/oleObject" Target="../embeddings/oleObject4.bin"/><Relationship Id="rId3" Type="http://schemas.openxmlformats.org/officeDocument/2006/relationships/tags" Target="../tags/tag132.xml"/><Relationship Id="rId12" Type="http://schemas.openxmlformats.org/officeDocument/2006/relationships/tags" Target="../tags/tag141.xml"/><Relationship Id="rId17" Type="http://schemas.openxmlformats.org/officeDocument/2006/relationships/tags" Target="../tags/tag146.xml"/><Relationship Id="rId25" Type="http://schemas.openxmlformats.org/officeDocument/2006/relationships/tags" Target="../tags/tag154.xml"/><Relationship Id="rId33" Type="http://schemas.openxmlformats.org/officeDocument/2006/relationships/tags" Target="../tags/tag162.xml"/><Relationship Id="rId38" Type="http://schemas.openxmlformats.org/officeDocument/2006/relationships/tags" Target="../tags/tag167.xml"/><Relationship Id="rId46" Type="http://schemas.openxmlformats.org/officeDocument/2006/relationships/tags" Target="../tags/tag175.xml"/><Relationship Id="rId20" Type="http://schemas.openxmlformats.org/officeDocument/2006/relationships/tags" Target="../tags/tag149.xml"/><Relationship Id="rId41" Type="http://schemas.openxmlformats.org/officeDocument/2006/relationships/tags" Target="../tags/tag170.xml"/><Relationship Id="rId1" Type="http://schemas.openxmlformats.org/officeDocument/2006/relationships/tags" Target="../tags/tag130.xml"/><Relationship Id="rId6" Type="http://schemas.openxmlformats.org/officeDocument/2006/relationships/tags" Target="../tags/tag135.xml"/><Relationship Id="rId15" Type="http://schemas.openxmlformats.org/officeDocument/2006/relationships/tags" Target="../tags/tag144.xml"/><Relationship Id="rId23" Type="http://schemas.openxmlformats.org/officeDocument/2006/relationships/tags" Target="../tags/tag152.xml"/><Relationship Id="rId28" Type="http://schemas.openxmlformats.org/officeDocument/2006/relationships/tags" Target="../tags/tag157.xml"/><Relationship Id="rId36" Type="http://schemas.openxmlformats.org/officeDocument/2006/relationships/tags" Target="../tags/tag165.xml"/><Relationship Id="rId49" Type="http://schemas.openxmlformats.org/officeDocument/2006/relationships/tags" Target="../tags/tag178.xml"/></Relationships>
</file>

<file path=ppt/slides/_rels/slide105.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39.emf"/><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slideLayout" Target="../slideLayouts/slideLayout2.xml"/><Relationship Id="rId1" Type="http://schemas.openxmlformats.org/officeDocument/2006/relationships/tags" Target="../tags/tag179.xml"/></Relationships>
</file>

<file path=ppt/slides/_rels/slide113.xml.rels><?xml version="1.0" encoding="UTF-8" standalone="yes"?>
<Relationships xmlns="http://schemas.openxmlformats.org/package/2006/relationships"><Relationship Id="rId8" Type="http://schemas.openxmlformats.org/officeDocument/2006/relationships/tags" Target="../tags/tag187.xml"/><Relationship Id="rId13" Type="http://schemas.openxmlformats.org/officeDocument/2006/relationships/tags" Target="../tags/tag192.xml"/><Relationship Id="rId3" Type="http://schemas.openxmlformats.org/officeDocument/2006/relationships/tags" Target="../tags/tag182.xml"/><Relationship Id="rId7" Type="http://schemas.openxmlformats.org/officeDocument/2006/relationships/tags" Target="../tags/tag186.xml"/><Relationship Id="rId12" Type="http://schemas.openxmlformats.org/officeDocument/2006/relationships/tags" Target="../tags/tag191.xml"/><Relationship Id="rId17" Type="http://schemas.openxmlformats.org/officeDocument/2006/relationships/slideLayout" Target="../slideLayouts/slideLayout2.xml"/><Relationship Id="rId2" Type="http://schemas.openxmlformats.org/officeDocument/2006/relationships/tags" Target="../tags/tag181.xml"/><Relationship Id="rId16" Type="http://schemas.openxmlformats.org/officeDocument/2006/relationships/tags" Target="../tags/tag195.xml"/><Relationship Id="rId1" Type="http://schemas.openxmlformats.org/officeDocument/2006/relationships/tags" Target="../tags/tag180.xml"/><Relationship Id="rId6" Type="http://schemas.openxmlformats.org/officeDocument/2006/relationships/tags" Target="../tags/tag185.xml"/><Relationship Id="rId11" Type="http://schemas.openxmlformats.org/officeDocument/2006/relationships/tags" Target="../tags/tag190.xml"/><Relationship Id="rId5" Type="http://schemas.openxmlformats.org/officeDocument/2006/relationships/tags" Target="../tags/tag184.xml"/><Relationship Id="rId15" Type="http://schemas.openxmlformats.org/officeDocument/2006/relationships/tags" Target="../tags/tag194.xml"/><Relationship Id="rId10" Type="http://schemas.openxmlformats.org/officeDocument/2006/relationships/tags" Target="../tags/tag189.xml"/><Relationship Id="rId4" Type="http://schemas.openxmlformats.org/officeDocument/2006/relationships/tags" Target="../tags/tag183.xml"/><Relationship Id="rId9" Type="http://schemas.openxmlformats.org/officeDocument/2006/relationships/tags" Target="../tags/tag188.xml"/><Relationship Id="rId14" Type="http://schemas.openxmlformats.org/officeDocument/2006/relationships/tags" Target="../tags/tag19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983615" y="1772920"/>
            <a:ext cx="10364470" cy="1120140"/>
          </a:xfrm>
        </p:spPr>
        <p:txBody>
          <a:bodyPr/>
          <a:lstStyle/>
          <a:p>
            <a:r>
              <a:rPr lang="en-US" altLang="zh-CN" dirty="0">
                <a:sym typeface="+mn-ea"/>
              </a:rPr>
              <a:t>1</a:t>
            </a:r>
            <a:r>
              <a:rPr lang="zh-CN" altLang="en-US" dirty="0">
                <a:sym typeface="+mn-ea"/>
              </a:rPr>
              <a:t>：面向对象的软件开发过程</a:t>
            </a:r>
            <a:endParaRPr lang="zh-CN" altLang="en-US" dirty="0"/>
          </a:p>
        </p:txBody>
      </p:sp>
      <p:sp>
        <p:nvSpPr>
          <p:cNvPr id="3" name="副标题 2"/>
          <p:cNvSpPr>
            <a:spLocks noGrp="1"/>
          </p:cNvSpPr>
          <p:nvPr>
            <p:ph type="subTitle" idx="1"/>
          </p:nvPr>
        </p:nvSpPr>
        <p:spPr>
          <a:xfrm>
            <a:off x="1848030" y="4004945"/>
            <a:ext cx="8535240" cy="1752600"/>
          </a:xfrm>
        </p:spPr>
        <p:txBody>
          <a:bodyPr/>
          <a:lstStyle/>
          <a:p>
            <a:r>
              <a:rPr lang="zh-CN" altLang="en-US"/>
              <a:t>软件实践课程组</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950F01"/>
                </a:solidFill>
                <a:latin typeface="宋体" pitchFamily="2" charset="-122"/>
                <a:ea typeface="微软繁魏碑" pitchFamily="2" charset="-122"/>
                <a:sym typeface="+mn-ea"/>
              </a:rPr>
              <a:t>什么是面向对象</a:t>
            </a:r>
            <a:endParaRPr lang="zh-CN" altLang="en-US"/>
          </a:p>
        </p:txBody>
      </p:sp>
      <p:sp>
        <p:nvSpPr>
          <p:cNvPr id="3" name="内容占位符 2"/>
          <p:cNvSpPr>
            <a:spLocks noGrp="1"/>
          </p:cNvSpPr>
          <p:nvPr>
            <p:ph idx="1"/>
          </p:nvPr>
        </p:nvSpPr>
        <p:spPr/>
        <p:txBody>
          <a:bodyPr>
            <a:normAutofit fontScale="90000" lnSpcReduction="20000"/>
          </a:bodyPr>
          <a:lstStyle/>
          <a:p>
            <a:pPr fontAlgn="auto">
              <a:lnSpc>
                <a:spcPct val="150000"/>
              </a:lnSpc>
              <a:spcBef>
                <a:spcPts val="0"/>
              </a:spcBef>
            </a:pPr>
            <a:r>
              <a:rPr lang="zh-CN" altLang="en-US" sz="2665" dirty="0">
                <a:latin typeface="微软雅黑" charset="0"/>
                <a:ea typeface="微软雅黑" charset="0"/>
                <a:cs typeface="微软雅黑" charset="0"/>
                <a:sym typeface="+mn-ea"/>
              </a:rPr>
              <a:t>从程序设计方法的角度看，面向对象是一种新的程序设计范型</a:t>
            </a:r>
            <a:r>
              <a:rPr lang="en-US" altLang="zh-CN" sz="2665" dirty="0">
                <a:latin typeface="微软雅黑" charset="0"/>
                <a:ea typeface="微软雅黑" charset="0"/>
                <a:cs typeface="微软雅黑" charset="0"/>
                <a:sym typeface="+mn-ea"/>
              </a:rPr>
              <a:t>(paradigm)</a:t>
            </a:r>
            <a:r>
              <a:rPr lang="zh-CN" altLang="en-US" sz="2665" dirty="0">
                <a:latin typeface="微软雅黑" charset="0"/>
                <a:ea typeface="微软雅黑" charset="0"/>
                <a:cs typeface="微软雅黑" charset="0"/>
                <a:sym typeface="+mn-ea"/>
              </a:rPr>
              <a:t>，其基本思想是使用对象、类、继承、封装、聚合、关联、消息、多态性等基本概念来进行程序设计。</a:t>
            </a:r>
            <a:endParaRPr lang="zh-CN" altLang="en-US" sz="2665" dirty="0">
              <a:latin typeface="微软雅黑" charset="0"/>
              <a:ea typeface="微软雅黑" charset="0"/>
              <a:cs typeface="微软雅黑" charset="0"/>
            </a:endParaRPr>
          </a:p>
          <a:p>
            <a:pPr fontAlgn="auto">
              <a:lnSpc>
                <a:spcPct val="150000"/>
              </a:lnSpc>
              <a:spcBef>
                <a:spcPts val="0"/>
              </a:spcBef>
            </a:pPr>
            <a:r>
              <a:rPr lang="zh-CN" altLang="en-US" sz="2665" dirty="0">
                <a:latin typeface="微软雅黑" charset="0"/>
                <a:ea typeface="微软雅黑" charset="0"/>
                <a:cs typeface="微软雅黑" charset="0"/>
                <a:sym typeface="+mn-ea"/>
              </a:rPr>
              <a:t>自八十年代以来，面向对象方法已深入到计算机软件领域的几乎所有分支。它不仅是一些具体的软件开发技术与策略，而且是一整套关于如何看待软件系统与现实世界的关系，用什么观点来研究问题并进行问题求解，以及如何进行系统构造的软件</a:t>
            </a:r>
            <a:r>
              <a:rPr lang="zh-CN" altLang="en-US" sz="2665" dirty="0">
                <a:solidFill>
                  <a:srgbClr val="CC0000"/>
                </a:solidFill>
                <a:latin typeface="微软雅黑" charset="0"/>
                <a:ea typeface="微软雅黑" charset="0"/>
                <a:cs typeface="微软雅黑" charset="0"/>
                <a:sym typeface="+mn-ea"/>
              </a:rPr>
              <a:t>方法学</a:t>
            </a:r>
            <a:r>
              <a:rPr lang="zh-CN" altLang="en-US" sz="2665" dirty="0">
                <a:latin typeface="微软雅黑" charset="0"/>
                <a:ea typeface="微软雅黑" charset="0"/>
                <a:cs typeface="微软雅黑" charset="0"/>
                <a:sym typeface="+mn-ea"/>
              </a:rPr>
              <a:t>。从这个意义上讲：</a:t>
            </a:r>
            <a:endParaRPr lang="en-US" altLang="zh-CN" sz="2665" dirty="0">
              <a:latin typeface="微软雅黑" charset="0"/>
              <a:ea typeface="微软雅黑" charset="0"/>
              <a:cs typeface="微软雅黑" charset="0"/>
            </a:endParaRPr>
          </a:p>
          <a:p>
            <a:pPr marL="0" indent="0" fontAlgn="auto">
              <a:lnSpc>
                <a:spcPct val="150000"/>
              </a:lnSpc>
              <a:spcBef>
                <a:spcPts val="0"/>
              </a:spcBef>
              <a:buNone/>
            </a:pPr>
            <a:r>
              <a:rPr lang="en-US" altLang="zh-CN" sz="2665" dirty="0">
                <a:solidFill>
                  <a:srgbClr val="0000FF"/>
                </a:solidFill>
                <a:latin typeface="微软雅黑" charset="0"/>
                <a:ea typeface="微软雅黑" charset="0"/>
                <a:cs typeface="微软雅黑" charset="0"/>
                <a:sym typeface="+mn-ea"/>
              </a:rPr>
              <a:t>   </a:t>
            </a:r>
            <a:r>
              <a:rPr lang="zh-CN" altLang="en-US" sz="2665" b="1" dirty="0">
                <a:solidFill>
                  <a:srgbClr val="0000FF"/>
                </a:solidFill>
                <a:latin typeface="微软雅黑" charset="0"/>
                <a:ea typeface="微软雅黑" charset="0"/>
                <a:cs typeface="微软雅黑" charset="0"/>
                <a:sym typeface="+mn-ea"/>
              </a:rPr>
              <a:t>面向对象方法是一种运用对象、类、继承、封装、聚合、关联、消息、多态性等概念来构造系统的软件开发方法。</a:t>
            </a:r>
            <a:endParaRPr lang="zh-CN" altLang="en-US" sz="2665" b="1" dirty="0">
              <a:solidFill>
                <a:srgbClr val="0000FF"/>
              </a:solidFill>
              <a:latin typeface="微软雅黑" charset="0"/>
              <a:ea typeface="微软雅黑" charset="0"/>
              <a:cs typeface="微软雅黑" charset="0"/>
            </a:endParaRPr>
          </a:p>
          <a:p>
            <a:endParaRPr lang="zh-CN" altLang="en-US" sz="2665" dirty="0">
              <a:latin typeface="微软雅黑" charset="0"/>
              <a:ea typeface="微软雅黑" charset="0"/>
              <a:cs typeface="微软雅黑"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A50021"/>
                </a:solidFill>
                <a:ea typeface="微软简魏碑" pitchFamily="2" charset="-122"/>
                <a:sym typeface="+mn-ea"/>
              </a:rPr>
              <a:t>面向对象的基本思想</a:t>
            </a:r>
            <a:endParaRPr lang="zh-CN" altLang="en-US"/>
          </a:p>
        </p:txBody>
      </p:sp>
      <p:sp>
        <p:nvSpPr>
          <p:cNvPr id="3" name="内容占位符 2"/>
          <p:cNvSpPr>
            <a:spLocks noGrp="1"/>
          </p:cNvSpPr>
          <p:nvPr>
            <p:ph idx="1"/>
          </p:nvPr>
        </p:nvSpPr>
        <p:spPr>
          <a:xfrm>
            <a:off x="767715" y="1600200"/>
            <a:ext cx="11230610" cy="4526280"/>
          </a:xfrm>
        </p:spPr>
        <p:txBody>
          <a:bodyPr>
            <a:normAutofit/>
          </a:bodyPr>
          <a:lstStyle/>
          <a:p>
            <a:pPr eaLnBrk="0" fontAlgn="base" hangingPunct="0">
              <a:lnSpc>
                <a:spcPct val="150000"/>
              </a:lnSpc>
            </a:pPr>
            <a:r>
              <a:rPr lang="zh-CN" altLang="en-US" dirty="0">
                <a:latin typeface="宋体" pitchFamily="2" charset="-122"/>
                <a:sym typeface="+mn-ea"/>
              </a:rPr>
              <a:t>从现实世界中客观存在的事物出发来建立软件系统，强调直接以问题域（现实世界）中的事物为中心来思考问题、认识问题，并根据这些事物的本质特征，把它们抽象地表示为系统中的对象，作为系统的基本构成单位。这可以使系统直接映射问题域，保持问题域中事物及其相互关系的本来面貌</a:t>
            </a:r>
            <a:r>
              <a:rPr lang="en-US" altLang="zh-CN" dirty="0">
                <a:solidFill>
                  <a:srgbClr val="CC0000"/>
                </a:solidFill>
                <a:latin typeface="宋体" pitchFamily="2" charset="-122"/>
                <a:sym typeface="+mn-ea"/>
              </a:rPr>
              <a:t>(</a:t>
            </a:r>
            <a:r>
              <a:rPr lang="zh-CN" altLang="en-US" dirty="0">
                <a:solidFill>
                  <a:srgbClr val="CC0000"/>
                </a:solidFill>
                <a:latin typeface="宋体" pitchFamily="2" charset="-122"/>
                <a:sym typeface="+mn-ea"/>
              </a:rPr>
              <a:t>对象</a:t>
            </a:r>
            <a:r>
              <a:rPr lang="en-US" altLang="zh-CN" dirty="0">
                <a:solidFill>
                  <a:srgbClr val="CC0000"/>
                </a:solidFill>
                <a:latin typeface="宋体" pitchFamily="2" charset="-122"/>
                <a:sym typeface="+mn-ea"/>
              </a:rPr>
              <a:t>)</a:t>
            </a:r>
            <a:endParaRPr lang="en-US" altLang="zh-CN" dirty="0">
              <a:solidFill>
                <a:srgbClr val="CC0000"/>
              </a:solidFill>
              <a:latin typeface="宋体" pitchFamily="2" charset="-122"/>
            </a:endParaRPr>
          </a:p>
          <a:p>
            <a:pPr eaLnBrk="0" fontAlgn="base" hangingPunct="0">
              <a:lnSpc>
                <a:spcPct val="150000"/>
              </a:lnSpc>
            </a:pPr>
            <a:r>
              <a:rPr lang="zh-CN" altLang="en-US" dirty="0">
                <a:ea typeface="微软简魏碑" pitchFamily="2" charset="-122"/>
                <a:sym typeface="+mn-ea"/>
              </a:rPr>
              <a:t>用对象的属性表示事物的性质；用对象的操作表示事物的行为。（</a:t>
            </a:r>
            <a:r>
              <a:rPr lang="zh-CN" altLang="en-US" dirty="0">
                <a:solidFill>
                  <a:schemeClr val="hlink"/>
                </a:solidFill>
                <a:ea typeface="微软简魏碑" pitchFamily="2" charset="-122"/>
                <a:sym typeface="+mn-ea"/>
              </a:rPr>
              <a:t>属性</a:t>
            </a:r>
            <a:r>
              <a:rPr lang="zh-CN" altLang="en-US" dirty="0">
                <a:ea typeface="微软简魏碑" pitchFamily="2" charset="-122"/>
                <a:sym typeface="+mn-ea"/>
              </a:rPr>
              <a:t>与</a:t>
            </a:r>
            <a:r>
              <a:rPr lang="zh-CN" altLang="en-US" dirty="0">
                <a:solidFill>
                  <a:schemeClr val="hlink"/>
                </a:solidFill>
                <a:ea typeface="微软简魏碑" pitchFamily="2" charset="-122"/>
                <a:sym typeface="+mn-ea"/>
              </a:rPr>
              <a:t>操作</a:t>
            </a:r>
            <a:r>
              <a:rPr lang="zh-CN" altLang="en-US" dirty="0">
                <a:ea typeface="微软简魏碑" pitchFamily="2" charset="-122"/>
                <a:sym typeface="+mn-ea"/>
              </a:rPr>
              <a:t>）</a:t>
            </a:r>
            <a:endParaRPr lang="zh-CN" altLang="en-US" dirty="0">
              <a:solidFill>
                <a:srgbClr val="CC0000"/>
              </a:solidFill>
              <a:latin typeface="宋体" pitchFamily="2" charset="-122"/>
            </a:endParaRPr>
          </a:p>
          <a:p>
            <a:pPr eaLnBrk="0" fontAlgn="base" hangingPunct="0">
              <a:lnSpc>
                <a:spcPct val="150000"/>
              </a:lnSpc>
            </a:pPr>
            <a:r>
              <a:rPr lang="zh-CN" altLang="en-US" dirty="0">
                <a:ea typeface="微软简魏碑" pitchFamily="2" charset="-122"/>
                <a:sym typeface="+mn-ea"/>
              </a:rPr>
              <a:t>对象的属性与操作结合为一体，成为一个独立的、不可分的实体，对外屏蔽其内部细节。（</a:t>
            </a:r>
            <a:r>
              <a:rPr lang="zh-CN" altLang="en-US" dirty="0">
                <a:solidFill>
                  <a:srgbClr val="CC0000"/>
                </a:solidFill>
                <a:ea typeface="微软简魏碑" pitchFamily="2" charset="-122"/>
                <a:sym typeface="+mn-ea"/>
              </a:rPr>
              <a:t>对象的</a:t>
            </a:r>
            <a:r>
              <a:rPr lang="zh-CN" altLang="en-US" dirty="0">
                <a:solidFill>
                  <a:schemeClr val="hlink"/>
                </a:solidFill>
                <a:ea typeface="微软简魏碑" pitchFamily="2" charset="-122"/>
                <a:sym typeface="+mn-ea"/>
              </a:rPr>
              <a:t>封装</a:t>
            </a:r>
            <a:r>
              <a:rPr lang="zh-CN" altLang="en-US" dirty="0">
                <a:ea typeface="微软简魏碑" pitchFamily="2" charset="-122"/>
                <a:sym typeface="+mn-ea"/>
              </a:rPr>
              <a:t>）</a:t>
            </a: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A50021"/>
                </a:solidFill>
                <a:ea typeface="微软简魏碑" pitchFamily="2" charset="-122"/>
                <a:sym typeface="+mn-ea"/>
              </a:rPr>
              <a:t>面向对象的基本思想</a:t>
            </a:r>
            <a:endParaRPr lang="zh-CN" altLang="en-US"/>
          </a:p>
        </p:txBody>
      </p:sp>
      <p:sp>
        <p:nvSpPr>
          <p:cNvPr id="3" name="内容占位符 2"/>
          <p:cNvSpPr>
            <a:spLocks noGrp="1"/>
          </p:cNvSpPr>
          <p:nvPr>
            <p:ph idx="1"/>
          </p:nvPr>
        </p:nvSpPr>
        <p:spPr/>
        <p:txBody>
          <a:bodyPr>
            <a:normAutofit fontScale="90000" lnSpcReduction="20000"/>
          </a:bodyPr>
          <a:lstStyle/>
          <a:p>
            <a:pPr eaLnBrk="0" fontAlgn="base" hangingPunct="0"/>
            <a:r>
              <a:rPr lang="zh-CN" altLang="en-US" dirty="0">
                <a:ea typeface="微软简魏碑" pitchFamily="2" charset="-122"/>
                <a:sym typeface="+mn-ea"/>
              </a:rPr>
              <a:t>对事物进行分类。把具有相同属性和相同操作的对象归为一类，类是这些对象的抽象描述，每个对象是它的类的一个实例。（</a:t>
            </a:r>
            <a:r>
              <a:rPr lang="zh-CN" altLang="en-US" dirty="0">
                <a:solidFill>
                  <a:schemeClr val="hlink"/>
                </a:solidFill>
                <a:ea typeface="微软简魏碑" pitchFamily="2" charset="-122"/>
                <a:sym typeface="+mn-ea"/>
              </a:rPr>
              <a:t>分类</a:t>
            </a:r>
            <a:r>
              <a:rPr lang="zh-CN" altLang="en-US" dirty="0">
                <a:ea typeface="微软简魏碑" pitchFamily="2" charset="-122"/>
                <a:sym typeface="+mn-ea"/>
              </a:rPr>
              <a:t>）</a:t>
            </a:r>
            <a:endParaRPr lang="zh-CN" altLang="en-US" dirty="0">
              <a:ea typeface="微软简魏碑" pitchFamily="2" charset="-122"/>
            </a:endParaRPr>
          </a:p>
          <a:p>
            <a:pPr eaLnBrk="0" fontAlgn="base" hangingPunct="0"/>
            <a:r>
              <a:rPr lang="zh-CN" altLang="en-US" dirty="0">
                <a:ea typeface="微软简魏碑" pitchFamily="2" charset="-122"/>
                <a:sym typeface="+mn-ea"/>
              </a:rPr>
              <a:t>复杂的对象可以用简单的对象作为其构成部分。（</a:t>
            </a:r>
            <a:r>
              <a:rPr lang="zh-CN" altLang="en-US" dirty="0">
                <a:solidFill>
                  <a:schemeClr val="hlink"/>
                </a:solidFill>
                <a:ea typeface="微软简魏碑" pitchFamily="2" charset="-122"/>
                <a:sym typeface="+mn-ea"/>
              </a:rPr>
              <a:t>聚合</a:t>
            </a:r>
            <a:r>
              <a:rPr lang="zh-CN" altLang="en-US" dirty="0">
                <a:ea typeface="微软简魏碑" pitchFamily="2" charset="-122"/>
                <a:sym typeface="+mn-ea"/>
              </a:rPr>
              <a:t>）</a:t>
            </a:r>
            <a:endParaRPr lang="zh-CN" altLang="en-US" dirty="0">
              <a:solidFill>
                <a:srgbClr val="CC0000"/>
              </a:solidFill>
              <a:latin typeface="宋体" pitchFamily="2" charset="-122"/>
            </a:endParaRPr>
          </a:p>
          <a:p>
            <a:pPr eaLnBrk="0" fontAlgn="base" hangingPunct="0">
              <a:spcBef>
                <a:spcPct val="50000"/>
              </a:spcBef>
            </a:pPr>
            <a:r>
              <a:rPr lang="zh-CN" altLang="en-US" dirty="0">
                <a:ea typeface="微软简魏碑" pitchFamily="2" charset="-122"/>
                <a:sym typeface="+mn-ea"/>
              </a:rPr>
              <a:t>通过在不同程度上运用抽象的原则</a:t>
            </a:r>
            <a:r>
              <a:rPr lang="en-US" altLang="zh-CN" dirty="0">
                <a:ea typeface="微软简魏碑" pitchFamily="2" charset="-122"/>
                <a:sym typeface="+mn-ea"/>
              </a:rPr>
              <a:t>,</a:t>
            </a:r>
            <a:r>
              <a:rPr lang="zh-CN" altLang="en-US" dirty="0">
                <a:ea typeface="微软简魏碑" pitchFamily="2" charset="-122"/>
                <a:sym typeface="+mn-ea"/>
              </a:rPr>
              <a:t>可以得到较一般的类和较特殊的类。特殊类继承一般类的属性与操作，从而简化系统的构造过程及其文档。（</a:t>
            </a:r>
            <a:r>
              <a:rPr lang="zh-CN" altLang="en-US" dirty="0">
                <a:solidFill>
                  <a:schemeClr val="hlink"/>
                </a:solidFill>
                <a:ea typeface="微软简魏碑" pitchFamily="2" charset="-122"/>
                <a:sym typeface="+mn-ea"/>
              </a:rPr>
              <a:t>继承</a:t>
            </a:r>
            <a:r>
              <a:rPr lang="zh-CN" altLang="en-US" dirty="0">
                <a:ea typeface="微软简魏碑" pitchFamily="2" charset="-122"/>
                <a:sym typeface="+mn-ea"/>
              </a:rPr>
              <a:t>）</a:t>
            </a:r>
            <a:endParaRPr lang="zh-CN" altLang="en-US" dirty="0">
              <a:solidFill>
                <a:srgbClr val="CC0000"/>
              </a:solidFill>
              <a:latin typeface="宋体" pitchFamily="2" charset="-122"/>
            </a:endParaRPr>
          </a:p>
          <a:p>
            <a:pPr eaLnBrk="0" fontAlgn="base" hangingPunct="0">
              <a:spcBef>
                <a:spcPct val="50000"/>
              </a:spcBef>
            </a:pPr>
            <a:r>
              <a:rPr lang="zh-CN" altLang="en-US" dirty="0">
                <a:latin typeface="宋体" pitchFamily="2" charset="-122"/>
                <a:sym typeface="+mn-ea"/>
              </a:rPr>
              <a:t>类具有封闭性，把内部的属性和操作隐藏起来，只有公共的操作对外是可见的。 </a:t>
            </a:r>
            <a:r>
              <a:rPr lang="en-US" altLang="zh-CN" dirty="0">
                <a:solidFill>
                  <a:srgbClr val="CC0000"/>
                </a:solidFill>
                <a:sym typeface="+mn-ea"/>
              </a:rPr>
              <a:t>(</a:t>
            </a:r>
            <a:r>
              <a:rPr lang="zh-CN" altLang="en-US" dirty="0">
                <a:solidFill>
                  <a:srgbClr val="CC0000"/>
                </a:solidFill>
                <a:sym typeface="+mn-ea"/>
              </a:rPr>
              <a:t>类的</a:t>
            </a:r>
            <a:r>
              <a:rPr lang="zh-CN" altLang="en-US" dirty="0">
                <a:solidFill>
                  <a:srgbClr val="CC0000"/>
                </a:solidFill>
                <a:latin typeface="宋体" pitchFamily="2" charset="-122"/>
                <a:sym typeface="+mn-ea"/>
              </a:rPr>
              <a:t>封闭性</a:t>
            </a:r>
            <a:r>
              <a:rPr lang="en-US" altLang="zh-CN" dirty="0">
                <a:solidFill>
                  <a:srgbClr val="CC0000"/>
                </a:solidFill>
                <a:sym typeface="+mn-ea"/>
              </a:rPr>
              <a:t>)</a:t>
            </a:r>
            <a:endParaRPr lang="en-US" altLang="zh-CN" dirty="0">
              <a:solidFill>
                <a:srgbClr val="CC0000"/>
              </a:solidFill>
            </a:endParaRPr>
          </a:p>
          <a:p>
            <a:pPr eaLnBrk="0" fontAlgn="base" hangingPunct="0"/>
            <a:r>
              <a:rPr lang="zh-CN" altLang="en-US" dirty="0">
                <a:ea typeface="微软简魏碑" pitchFamily="2" charset="-122"/>
                <a:sym typeface="+mn-ea"/>
              </a:rPr>
              <a:t>对象之间通过消息进行通讯，以实现对象之间的动态联系。（</a:t>
            </a:r>
            <a:r>
              <a:rPr lang="zh-CN" altLang="en-US" dirty="0">
                <a:solidFill>
                  <a:schemeClr val="hlink"/>
                </a:solidFill>
                <a:ea typeface="微软简魏碑" pitchFamily="2" charset="-122"/>
                <a:sym typeface="+mn-ea"/>
              </a:rPr>
              <a:t>消息</a:t>
            </a:r>
            <a:r>
              <a:rPr lang="zh-CN" altLang="en-US" dirty="0">
                <a:ea typeface="微软简魏碑" pitchFamily="2" charset="-122"/>
                <a:sym typeface="+mn-ea"/>
              </a:rPr>
              <a:t>）</a:t>
            </a:r>
            <a:endParaRPr lang="zh-CN" altLang="en-US" dirty="0">
              <a:ea typeface="微软简魏碑" pitchFamily="2" charset="-122"/>
            </a:endParaRPr>
          </a:p>
          <a:p>
            <a:pPr eaLnBrk="0" fontAlgn="base" hangingPunct="0"/>
            <a:r>
              <a:rPr lang="zh-CN" altLang="en-US" dirty="0">
                <a:ea typeface="微软简魏碑" pitchFamily="2" charset="-122"/>
                <a:sym typeface="+mn-ea"/>
              </a:rPr>
              <a:t>通过关联表达类</a:t>
            </a:r>
            <a:r>
              <a:rPr lang="en-US" altLang="zh-CN" dirty="0">
                <a:ea typeface="微软简魏碑" pitchFamily="2" charset="-122"/>
                <a:sym typeface="+mn-ea"/>
              </a:rPr>
              <a:t>(</a:t>
            </a:r>
            <a:r>
              <a:rPr lang="zh-CN" altLang="en-US" dirty="0">
                <a:ea typeface="微软简魏碑" pitchFamily="2" charset="-122"/>
                <a:sym typeface="+mn-ea"/>
              </a:rPr>
              <a:t>一组对象</a:t>
            </a:r>
            <a:r>
              <a:rPr lang="en-US" altLang="zh-CN" dirty="0">
                <a:ea typeface="微软简魏碑" pitchFamily="2" charset="-122"/>
                <a:sym typeface="+mn-ea"/>
              </a:rPr>
              <a:t>)</a:t>
            </a:r>
            <a:r>
              <a:rPr lang="zh-CN" altLang="en-US" dirty="0">
                <a:ea typeface="微软简魏碑" pitchFamily="2" charset="-122"/>
                <a:sym typeface="+mn-ea"/>
              </a:rPr>
              <a:t>之间的静态关系。（</a:t>
            </a:r>
            <a:r>
              <a:rPr lang="zh-CN" altLang="en-US" dirty="0">
                <a:solidFill>
                  <a:schemeClr val="hlink"/>
                </a:solidFill>
                <a:ea typeface="微软简魏碑" pitchFamily="2" charset="-122"/>
                <a:sym typeface="+mn-ea"/>
              </a:rPr>
              <a:t>关联</a:t>
            </a:r>
            <a:r>
              <a:rPr lang="zh-CN" altLang="en-US" dirty="0">
                <a:ea typeface="微软简魏碑" pitchFamily="2" charset="-122"/>
                <a:sym typeface="+mn-ea"/>
              </a:rPr>
              <a:t>）</a:t>
            </a:r>
            <a:endParaRPr lang="zh-CN" altLang="en-US" dirty="0">
              <a:solidFill>
                <a:srgbClr val="CC0000"/>
              </a:solidFill>
              <a:latin typeface="宋体" pitchFamily="2" charset="-122"/>
            </a:endParaRPr>
          </a:p>
          <a:p>
            <a:endParaRPr lang="zh-CN" altLang="en-US" dirty="0"/>
          </a:p>
          <a:p>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AutoShape 1026"/>
          <p:cNvSpPr>
            <a:spLocks noChangeArrowheads="1"/>
          </p:cNvSpPr>
          <p:nvPr>
            <p:custDataLst>
              <p:tags r:id="rId1"/>
            </p:custDataLst>
          </p:nvPr>
        </p:nvSpPr>
        <p:spPr bwMode="auto">
          <a:xfrm>
            <a:off x="2971800" y="5867400"/>
            <a:ext cx="5105400" cy="762000"/>
          </a:xfrm>
          <a:prstGeom prst="cloudCallout">
            <a:avLst>
              <a:gd name="adj1" fmla="val -34204"/>
              <a:gd name="adj2" fmla="val 40833"/>
            </a:avLst>
          </a:prstGeom>
          <a:solidFill>
            <a:schemeClr val="accent1"/>
          </a:solidFill>
          <a:ln w="9525">
            <a:solidFill>
              <a:schemeClr val="tx1"/>
            </a:solidFill>
            <a:round/>
          </a:ln>
          <a:effectLst>
            <a:outerShdw dist="107763" dir="2700000" algn="ctr" rotWithShape="0">
              <a:schemeClr val="bg2"/>
            </a:outerShdw>
          </a:effectLst>
        </p:spPr>
        <p:txBody>
          <a:bodyPr/>
          <a:lstStyle/>
          <a:p>
            <a:pPr algn="ctr" fontAlgn="base"/>
            <a:r>
              <a:rPr lang="zh-CN" altLang="en-US" sz="2400" b="0"/>
              <a:t>客观世界</a:t>
            </a:r>
          </a:p>
        </p:txBody>
      </p:sp>
      <p:sp>
        <p:nvSpPr>
          <p:cNvPr id="5" name="AutoShape 1027"/>
          <p:cNvSpPr>
            <a:spLocks noChangeArrowheads="1"/>
          </p:cNvSpPr>
          <p:nvPr>
            <p:custDataLst>
              <p:tags r:id="rId2"/>
            </p:custDataLst>
          </p:nvPr>
        </p:nvSpPr>
        <p:spPr bwMode="auto">
          <a:xfrm>
            <a:off x="2438400" y="4953000"/>
            <a:ext cx="6781800" cy="762000"/>
          </a:xfrm>
          <a:prstGeom prst="cube">
            <a:avLst>
              <a:gd name="adj" fmla="val 25000"/>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Oval 1028"/>
          <p:cNvSpPr>
            <a:spLocks noChangeArrowheads="1"/>
          </p:cNvSpPr>
          <p:nvPr>
            <p:custDataLst>
              <p:tags r:id="rId3"/>
            </p:custDataLst>
          </p:nvPr>
        </p:nvSpPr>
        <p:spPr bwMode="auto">
          <a:xfrm>
            <a:off x="2590800" y="5181600"/>
            <a:ext cx="533400" cy="457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r>
              <a:rPr lang="zh-CN" altLang="en-US" sz="1600" b="0"/>
              <a:t>对象</a:t>
            </a:r>
          </a:p>
        </p:txBody>
      </p:sp>
      <p:sp>
        <p:nvSpPr>
          <p:cNvPr id="7" name="Oval 1029"/>
          <p:cNvSpPr>
            <a:spLocks noChangeArrowheads="1"/>
          </p:cNvSpPr>
          <p:nvPr>
            <p:custDataLst>
              <p:tags r:id="rId4"/>
            </p:custDataLst>
          </p:nvPr>
        </p:nvSpPr>
        <p:spPr bwMode="auto">
          <a:xfrm>
            <a:off x="4495800" y="5257800"/>
            <a:ext cx="533400" cy="457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r>
              <a:rPr lang="zh-CN" altLang="en-US" sz="1600" b="0"/>
              <a:t>对象</a:t>
            </a:r>
          </a:p>
        </p:txBody>
      </p:sp>
      <p:sp>
        <p:nvSpPr>
          <p:cNvPr id="8" name="Oval 1030"/>
          <p:cNvSpPr>
            <a:spLocks noChangeArrowheads="1"/>
          </p:cNvSpPr>
          <p:nvPr>
            <p:custDataLst>
              <p:tags r:id="rId5"/>
            </p:custDataLst>
          </p:nvPr>
        </p:nvSpPr>
        <p:spPr bwMode="auto">
          <a:xfrm>
            <a:off x="5257800" y="5105400"/>
            <a:ext cx="533400" cy="5334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r>
              <a:rPr lang="zh-CN" altLang="en-US" sz="1600" b="0"/>
              <a:t>对象</a:t>
            </a:r>
          </a:p>
        </p:txBody>
      </p:sp>
      <p:sp>
        <p:nvSpPr>
          <p:cNvPr id="9" name="Oval 1031"/>
          <p:cNvSpPr>
            <a:spLocks noChangeArrowheads="1"/>
          </p:cNvSpPr>
          <p:nvPr>
            <p:custDataLst>
              <p:tags r:id="rId6"/>
            </p:custDataLst>
          </p:nvPr>
        </p:nvSpPr>
        <p:spPr bwMode="auto">
          <a:xfrm>
            <a:off x="5867400" y="5257800"/>
            <a:ext cx="533400" cy="457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r>
              <a:rPr lang="zh-CN" altLang="en-US" sz="1600" b="0"/>
              <a:t>对象</a:t>
            </a:r>
          </a:p>
        </p:txBody>
      </p:sp>
      <p:sp>
        <p:nvSpPr>
          <p:cNvPr id="10" name="Oval 1032"/>
          <p:cNvSpPr>
            <a:spLocks noChangeArrowheads="1"/>
          </p:cNvSpPr>
          <p:nvPr>
            <p:custDataLst>
              <p:tags r:id="rId7"/>
            </p:custDataLst>
          </p:nvPr>
        </p:nvSpPr>
        <p:spPr bwMode="auto">
          <a:xfrm>
            <a:off x="6477000" y="4953000"/>
            <a:ext cx="762000" cy="6858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r>
              <a:rPr lang="zh-CN" altLang="en-US" sz="1400" b="0"/>
              <a:t>对象</a:t>
            </a:r>
          </a:p>
        </p:txBody>
      </p:sp>
      <p:sp>
        <p:nvSpPr>
          <p:cNvPr id="11" name="Oval 1033"/>
          <p:cNvSpPr>
            <a:spLocks noChangeArrowheads="1"/>
          </p:cNvSpPr>
          <p:nvPr>
            <p:custDataLst>
              <p:tags r:id="rId8"/>
            </p:custDataLst>
          </p:nvPr>
        </p:nvSpPr>
        <p:spPr bwMode="auto">
          <a:xfrm>
            <a:off x="7315200" y="5105400"/>
            <a:ext cx="533400" cy="457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r>
              <a:rPr lang="zh-CN" altLang="en-US" sz="1600" b="0"/>
              <a:t>对象</a:t>
            </a:r>
          </a:p>
        </p:txBody>
      </p:sp>
      <p:sp>
        <p:nvSpPr>
          <p:cNvPr id="12" name="Oval 1034"/>
          <p:cNvSpPr>
            <a:spLocks noChangeArrowheads="1"/>
          </p:cNvSpPr>
          <p:nvPr>
            <p:custDataLst>
              <p:tags r:id="rId9"/>
            </p:custDataLst>
          </p:nvPr>
        </p:nvSpPr>
        <p:spPr bwMode="auto">
          <a:xfrm>
            <a:off x="7924800" y="5105400"/>
            <a:ext cx="533400" cy="457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r>
              <a:rPr lang="zh-CN" altLang="en-US" sz="1600" b="0"/>
              <a:t>对象</a:t>
            </a:r>
          </a:p>
        </p:txBody>
      </p:sp>
      <p:sp>
        <p:nvSpPr>
          <p:cNvPr id="13" name="Oval 1035"/>
          <p:cNvSpPr>
            <a:spLocks noChangeArrowheads="1"/>
          </p:cNvSpPr>
          <p:nvPr>
            <p:custDataLst>
              <p:tags r:id="rId10"/>
            </p:custDataLst>
          </p:nvPr>
        </p:nvSpPr>
        <p:spPr bwMode="auto">
          <a:xfrm>
            <a:off x="8534400" y="5105400"/>
            <a:ext cx="533400" cy="457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r>
              <a:rPr lang="zh-CN" altLang="en-US" sz="1600" b="0"/>
              <a:t>对象</a:t>
            </a:r>
          </a:p>
        </p:txBody>
      </p:sp>
      <p:sp>
        <p:nvSpPr>
          <p:cNvPr id="14" name="Oval 1036"/>
          <p:cNvSpPr>
            <a:spLocks noChangeArrowheads="1"/>
          </p:cNvSpPr>
          <p:nvPr>
            <p:custDataLst>
              <p:tags r:id="rId11"/>
            </p:custDataLst>
          </p:nvPr>
        </p:nvSpPr>
        <p:spPr bwMode="auto">
          <a:xfrm>
            <a:off x="3124200" y="5181600"/>
            <a:ext cx="533400" cy="457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r>
              <a:rPr lang="zh-CN" altLang="en-US" sz="1600" b="0"/>
              <a:t>对象</a:t>
            </a:r>
          </a:p>
        </p:txBody>
      </p:sp>
      <p:sp>
        <p:nvSpPr>
          <p:cNvPr id="15" name="Oval 1037"/>
          <p:cNvSpPr>
            <a:spLocks noChangeArrowheads="1"/>
          </p:cNvSpPr>
          <p:nvPr>
            <p:custDataLst>
              <p:tags r:id="rId12"/>
            </p:custDataLst>
          </p:nvPr>
        </p:nvSpPr>
        <p:spPr bwMode="auto">
          <a:xfrm>
            <a:off x="3810000" y="5257800"/>
            <a:ext cx="533400" cy="457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r>
              <a:rPr lang="zh-CN" altLang="en-US" sz="1600" b="0"/>
              <a:t>对象</a:t>
            </a:r>
          </a:p>
        </p:txBody>
      </p:sp>
      <p:sp>
        <p:nvSpPr>
          <p:cNvPr id="16" name="Line 1038"/>
          <p:cNvSpPr>
            <a:spLocks noChangeShapeType="1"/>
          </p:cNvSpPr>
          <p:nvPr>
            <p:custDataLst>
              <p:tags r:id="rId13"/>
            </p:custDataLst>
          </p:nvPr>
        </p:nvSpPr>
        <p:spPr bwMode="auto">
          <a:xfrm>
            <a:off x="3048000" y="5562600"/>
            <a:ext cx="533400" cy="609600"/>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Line 1039"/>
          <p:cNvSpPr>
            <a:spLocks noChangeShapeType="1"/>
          </p:cNvSpPr>
          <p:nvPr>
            <p:custDataLst>
              <p:tags r:id="rId14"/>
            </p:custDataLst>
          </p:nvPr>
        </p:nvSpPr>
        <p:spPr bwMode="auto">
          <a:xfrm>
            <a:off x="3505200" y="5486400"/>
            <a:ext cx="228600" cy="685800"/>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Line 1040"/>
          <p:cNvSpPr>
            <a:spLocks noChangeShapeType="1"/>
          </p:cNvSpPr>
          <p:nvPr>
            <p:custDataLst>
              <p:tags r:id="rId15"/>
            </p:custDataLst>
          </p:nvPr>
        </p:nvSpPr>
        <p:spPr bwMode="auto">
          <a:xfrm flipH="1">
            <a:off x="4038600" y="5562600"/>
            <a:ext cx="76200" cy="609600"/>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Line 1041"/>
          <p:cNvSpPr>
            <a:spLocks noChangeShapeType="1"/>
          </p:cNvSpPr>
          <p:nvPr>
            <p:custDataLst>
              <p:tags r:id="rId16"/>
            </p:custDataLst>
          </p:nvPr>
        </p:nvSpPr>
        <p:spPr bwMode="auto">
          <a:xfrm flipH="1">
            <a:off x="4419600" y="5562600"/>
            <a:ext cx="381000" cy="685800"/>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Line 1042"/>
          <p:cNvSpPr>
            <a:spLocks noChangeShapeType="1"/>
          </p:cNvSpPr>
          <p:nvPr>
            <p:custDataLst>
              <p:tags r:id="rId17"/>
            </p:custDataLst>
          </p:nvPr>
        </p:nvSpPr>
        <p:spPr bwMode="auto">
          <a:xfrm flipH="1">
            <a:off x="5486400" y="5410200"/>
            <a:ext cx="76200" cy="838200"/>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Line 1043"/>
          <p:cNvSpPr>
            <a:spLocks noChangeShapeType="1"/>
          </p:cNvSpPr>
          <p:nvPr>
            <p:custDataLst>
              <p:tags r:id="rId18"/>
            </p:custDataLst>
          </p:nvPr>
        </p:nvSpPr>
        <p:spPr bwMode="auto">
          <a:xfrm flipH="1">
            <a:off x="6172200" y="5486400"/>
            <a:ext cx="228600" cy="685800"/>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Line 1044"/>
          <p:cNvSpPr>
            <a:spLocks noChangeShapeType="1"/>
          </p:cNvSpPr>
          <p:nvPr>
            <p:custDataLst>
              <p:tags r:id="rId19"/>
            </p:custDataLst>
          </p:nvPr>
        </p:nvSpPr>
        <p:spPr bwMode="auto">
          <a:xfrm flipH="1">
            <a:off x="6629400" y="5638800"/>
            <a:ext cx="152400" cy="533400"/>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Line 1045"/>
          <p:cNvSpPr>
            <a:spLocks noChangeShapeType="1"/>
          </p:cNvSpPr>
          <p:nvPr>
            <p:custDataLst>
              <p:tags r:id="rId20"/>
            </p:custDataLst>
          </p:nvPr>
        </p:nvSpPr>
        <p:spPr bwMode="auto">
          <a:xfrm flipH="1">
            <a:off x="7010400" y="5410200"/>
            <a:ext cx="609600" cy="685800"/>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Line 1046"/>
          <p:cNvSpPr>
            <a:spLocks noChangeShapeType="1"/>
          </p:cNvSpPr>
          <p:nvPr>
            <p:custDataLst>
              <p:tags r:id="rId21"/>
            </p:custDataLst>
          </p:nvPr>
        </p:nvSpPr>
        <p:spPr bwMode="auto">
          <a:xfrm flipH="1">
            <a:off x="7543800" y="5410200"/>
            <a:ext cx="762000" cy="762000"/>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Line 1047"/>
          <p:cNvSpPr>
            <a:spLocks noChangeShapeType="1"/>
          </p:cNvSpPr>
          <p:nvPr>
            <p:custDataLst>
              <p:tags r:id="rId22"/>
            </p:custDataLst>
          </p:nvPr>
        </p:nvSpPr>
        <p:spPr bwMode="auto">
          <a:xfrm flipH="1">
            <a:off x="7848600" y="5486400"/>
            <a:ext cx="1066800" cy="685800"/>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 name="Text Box 1048"/>
          <p:cNvSpPr txBox="1">
            <a:spLocks noChangeArrowheads="1"/>
          </p:cNvSpPr>
          <p:nvPr>
            <p:custDataLst>
              <p:tags r:id="rId23"/>
            </p:custDataLst>
          </p:nvPr>
        </p:nvSpPr>
        <p:spPr bwMode="auto">
          <a:xfrm>
            <a:off x="9339263" y="3810000"/>
            <a:ext cx="939800" cy="1247775"/>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pPr>
            <a:r>
              <a:rPr lang="zh-CN" altLang="en-US" sz="1400" b="0"/>
              <a:t>对象名</a:t>
            </a:r>
          </a:p>
          <a:p>
            <a:pPr fontAlgn="base">
              <a:lnSpc>
                <a:spcPct val="60000"/>
              </a:lnSpc>
              <a:spcBef>
                <a:spcPct val="50000"/>
              </a:spcBef>
            </a:pPr>
            <a:r>
              <a:rPr lang="zh-CN" altLang="en-US" sz="1400" b="0"/>
              <a:t>属性</a:t>
            </a:r>
          </a:p>
          <a:p>
            <a:pPr fontAlgn="base">
              <a:lnSpc>
                <a:spcPct val="60000"/>
              </a:lnSpc>
              <a:spcBef>
                <a:spcPct val="50000"/>
              </a:spcBef>
            </a:pPr>
            <a:r>
              <a:rPr lang="en-US" altLang="zh-CN" sz="1400" b="0"/>
              <a:t>…</a:t>
            </a:r>
          </a:p>
          <a:p>
            <a:pPr fontAlgn="base">
              <a:lnSpc>
                <a:spcPct val="60000"/>
              </a:lnSpc>
              <a:spcBef>
                <a:spcPct val="50000"/>
              </a:spcBef>
            </a:pPr>
            <a:r>
              <a:rPr lang="zh-CN" altLang="en-US" sz="1400" b="0"/>
              <a:t>操作</a:t>
            </a:r>
          </a:p>
          <a:p>
            <a:pPr fontAlgn="base">
              <a:lnSpc>
                <a:spcPct val="60000"/>
              </a:lnSpc>
              <a:spcBef>
                <a:spcPct val="50000"/>
              </a:spcBef>
            </a:pPr>
            <a:r>
              <a:rPr lang="en-US" altLang="zh-CN" sz="1400" b="0"/>
              <a:t>…</a:t>
            </a:r>
          </a:p>
        </p:txBody>
      </p:sp>
      <p:sp>
        <p:nvSpPr>
          <p:cNvPr id="27" name="Line 1049"/>
          <p:cNvSpPr>
            <a:spLocks noChangeShapeType="1"/>
          </p:cNvSpPr>
          <p:nvPr>
            <p:custDataLst>
              <p:tags r:id="rId24"/>
            </p:custDataLst>
          </p:nvPr>
        </p:nvSpPr>
        <p:spPr bwMode="auto">
          <a:xfrm flipV="1">
            <a:off x="9339263" y="4100513"/>
            <a:ext cx="925512" cy="142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 name="Line 1050"/>
          <p:cNvSpPr>
            <a:spLocks noChangeShapeType="1"/>
          </p:cNvSpPr>
          <p:nvPr>
            <p:custDataLst>
              <p:tags r:id="rId25"/>
            </p:custDataLst>
          </p:nvPr>
        </p:nvSpPr>
        <p:spPr bwMode="auto">
          <a:xfrm>
            <a:off x="9339263" y="4567238"/>
            <a:ext cx="9398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 name="Text Box 1051"/>
          <p:cNvSpPr txBox="1">
            <a:spLocks noChangeArrowheads="1"/>
          </p:cNvSpPr>
          <p:nvPr>
            <p:custDataLst>
              <p:tags r:id="rId26"/>
            </p:custDataLst>
          </p:nvPr>
        </p:nvSpPr>
        <p:spPr bwMode="auto">
          <a:xfrm>
            <a:off x="3048000" y="4038600"/>
            <a:ext cx="381000" cy="346075"/>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pPr>
            <a:r>
              <a:rPr lang="zh-CN" altLang="en-US" sz="1600" b="0"/>
              <a:t>类</a:t>
            </a:r>
          </a:p>
        </p:txBody>
      </p:sp>
      <p:sp>
        <p:nvSpPr>
          <p:cNvPr id="30" name="Text Box 1052"/>
          <p:cNvSpPr txBox="1">
            <a:spLocks noChangeArrowheads="1"/>
          </p:cNvSpPr>
          <p:nvPr>
            <p:custDataLst>
              <p:tags r:id="rId27"/>
            </p:custDataLst>
          </p:nvPr>
        </p:nvSpPr>
        <p:spPr bwMode="auto">
          <a:xfrm>
            <a:off x="4343400" y="4038600"/>
            <a:ext cx="381000" cy="346075"/>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pPr>
            <a:r>
              <a:rPr lang="zh-CN" altLang="en-US" sz="1600" b="0"/>
              <a:t>类</a:t>
            </a:r>
          </a:p>
        </p:txBody>
      </p:sp>
      <p:sp>
        <p:nvSpPr>
          <p:cNvPr id="31" name="Text Box 1053"/>
          <p:cNvSpPr txBox="1">
            <a:spLocks noChangeArrowheads="1"/>
          </p:cNvSpPr>
          <p:nvPr>
            <p:custDataLst>
              <p:tags r:id="rId28"/>
            </p:custDataLst>
          </p:nvPr>
        </p:nvSpPr>
        <p:spPr bwMode="auto">
          <a:xfrm>
            <a:off x="5943600" y="4114800"/>
            <a:ext cx="381000" cy="346075"/>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pPr>
            <a:r>
              <a:rPr lang="zh-CN" altLang="en-US" sz="1600" b="0"/>
              <a:t>类</a:t>
            </a:r>
          </a:p>
        </p:txBody>
      </p:sp>
      <p:sp>
        <p:nvSpPr>
          <p:cNvPr id="32" name="Text Box 1054"/>
          <p:cNvSpPr txBox="1">
            <a:spLocks noChangeArrowheads="1"/>
          </p:cNvSpPr>
          <p:nvPr>
            <p:custDataLst>
              <p:tags r:id="rId29"/>
            </p:custDataLst>
          </p:nvPr>
        </p:nvSpPr>
        <p:spPr bwMode="auto">
          <a:xfrm>
            <a:off x="8153400" y="4038600"/>
            <a:ext cx="381000" cy="346075"/>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pPr>
            <a:r>
              <a:rPr lang="zh-CN" altLang="en-US" sz="1600" b="0"/>
              <a:t>类</a:t>
            </a:r>
          </a:p>
        </p:txBody>
      </p:sp>
      <p:sp>
        <p:nvSpPr>
          <p:cNvPr id="33" name="Line 1055"/>
          <p:cNvSpPr>
            <a:spLocks noChangeShapeType="1"/>
          </p:cNvSpPr>
          <p:nvPr>
            <p:custDataLst>
              <p:tags r:id="rId30"/>
            </p:custDataLst>
          </p:nvPr>
        </p:nvSpPr>
        <p:spPr bwMode="auto">
          <a:xfrm flipV="1">
            <a:off x="2895600" y="4419600"/>
            <a:ext cx="228600" cy="7620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Line 1056"/>
          <p:cNvSpPr>
            <a:spLocks noChangeShapeType="1"/>
          </p:cNvSpPr>
          <p:nvPr>
            <p:custDataLst>
              <p:tags r:id="rId31"/>
            </p:custDataLst>
          </p:nvPr>
        </p:nvSpPr>
        <p:spPr bwMode="auto">
          <a:xfrm flipH="1" flipV="1">
            <a:off x="3276600" y="4419600"/>
            <a:ext cx="152400" cy="7620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 name="Line 1057"/>
          <p:cNvSpPr>
            <a:spLocks noChangeShapeType="1"/>
          </p:cNvSpPr>
          <p:nvPr>
            <p:custDataLst>
              <p:tags r:id="rId32"/>
            </p:custDataLst>
          </p:nvPr>
        </p:nvSpPr>
        <p:spPr bwMode="auto">
          <a:xfrm flipH="1" flipV="1">
            <a:off x="3429000" y="4495800"/>
            <a:ext cx="609600" cy="7620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 name="Line 1058"/>
          <p:cNvSpPr>
            <a:spLocks noChangeShapeType="1"/>
          </p:cNvSpPr>
          <p:nvPr>
            <p:custDataLst>
              <p:tags r:id="rId33"/>
            </p:custDataLst>
          </p:nvPr>
        </p:nvSpPr>
        <p:spPr bwMode="auto">
          <a:xfrm flipH="1" flipV="1">
            <a:off x="4648200" y="4419600"/>
            <a:ext cx="76200" cy="8382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 name="Line 1059"/>
          <p:cNvSpPr>
            <a:spLocks noChangeShapeType="1"/>
          </p:cNvSpPr>
          <p:nvPr>
            <p:custDataLst>
              <p:tags r:id="rId34"/>
            </p:custDataLst>
          </p:nvPr>
        </p:nvSpPr>
        <p:spPr bwMode="auto">
          <a:xfrm flipH="1" flipV="1">
            <a:off x="4724400" y="4419600"/>
            <a:ext cx="762000" cy="6858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 name="Line 1060"/>
          <p:cNvSpPr>
            <a:spLocks noChangeShapeType="1"/>
          </p:cNvSpPr>
          <p:nvPr>
            <p:custDataLst>
              <p:tags r:id="rId35"/>
            </p:custDataLst>
          </p:nvPr>
        </p:nvSpPr>
        <p:spPr bwMode="auto">
          <a:xfrm flipV="1">
            <a:off x="6019800" y="4419600"/>
            <a:ext cx="152400" cy="8382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 name="Line 1061"/>
          <p:cNvSpPr>
            <a:spLocks noChangeShapeType="1"/>
          </p:cNvSpPr>
          <p:nvPr>
            <p:custDataLst>
              <p:tags r:id="rId36"/>
            </p:custDataLst>
          </p:nvPr>
        </p:nvSpPr>
        <p:spPr bwMode="auto">
          <a:xfrm flipV="1">
            <a:off x="6934200" y="3733800"/>
            <a:ext cx="533400" cy="12192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 name="Line 1062"/>
          <p:cNvSpPr>
            <a:spLocks noChangeShapeType="1"/>
          </p:cNvSpPr>
          <p:nvPr>
            <p:custDataLst>
              <p:tags r:id="rId37"/>
            </p:custDataLst>
          </p:nvPr>
        </p:nvSpPr>
        <p:spPr bwMode="auto">
          <a:xfrm flipV="1">
            <a:off x="7620000" y="4419600"/>
            <a:ext cx="533400" cy="6858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 name="Line 1063"/>
          <p:cNvSpPr>
            <a:spLocks noChangeShapeType="1"/>
          </p:cNvSpPr>
          <p:nvPr>
            <p:custDataLst>
              <p:tags r:id="rId38"/>
            </p:custDataLst>
          </p:nvPr>
        </p:nvSpPr>
        <p:spPr bwMode="auto">
          <a:xfrm flipV="1">
            <a:off x="8305800" y="4419600"/>
            <a:ext cx="0" cy="6858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Line 1064"/>
          <p:cNvSpPr>
            <a:spLocks noChangeShapeType="1"/>
          </p:cNvSpPr>
          <p:nvPr>
            <p:custDataLst>
              <p:tags r:id="rId39"/>
            </p:custDataLst>
          </p:nvPr>
        </p:nvSpPr>
        <p:spPr bwMode="auto">
          <a:xfrm flipH="1" flipV="1">
            <a:off x="8458200" y="4419600"/>
            <a:ext cx="381000" cy="6858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 name="Text Box 1065"/>
          <p:cNvSpPr txBox="1">
            <a:spLocks noChangeArrowheads="1"/>
          </p:cNvSpPr>
          <p:nvPr>
            <p:custDataLst>
              <p:tags r:id="rId40"/>
            </p:custDataLst>
          </p:nvPr>
        </p:nvSpPr>
        <p:spPr bwMode="auto">
          <a:xfrm>
            <a:off x="1600200" y="4495800"/>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pPr>
            <a:r>
              <a:rPr lang="zh-CN" altLang="en-US">
                <a:solidFill>
                  <a:srgbClr val="FF0000"/>
                </a:solidFill>
                <a:effectLst>
                  <a:outerShdw blurRad="38100" dist="38100" dir="2700000" algn="tl">
                    <a:srgbClr val="C0C0C0"/>
                  </a:outerShdw>
                </a:effectLst>
              </a:rPr>
              <a:t>分类</a:t>
            </a:r>
          </a:p>
        </p:txBody>
      </p:sp>
      <p:sp>
        <p:nvSpPr>
          <p:cNvPr id="44" name="Text Box 1066"/>
          <p:cNvSpPr txBox="1">
            <a:spLocks noChangeArrowheads="1"/>
          </p:cNvSpPr>
          <p:nvPr>
            <p:custDataLst>
              <p:tags r:id="rId41"/>
            </p:custDataLst>
          </p:nvPr>
        </p:nvSpPr>
        <p:spPr bwMode="auto">
          <a:xfrm>
            <a:off x="3657600" y="3048000"/>
            <a:ext cx="381000" cy="346075"/>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pPr>
            <a:r>
              <a:rPr lang="zh-CN" altLang="en-US" sz="1600" b="0"/>
              <a:t>类</a:t>
            </a:r>
          </a:p>
        </p:txBody>
      </p:sp>
      <p:sp>
        <p:nvSpPr>
          <p:cNvPr id="45" name="AutoShape 1067"/>
          <p:cNvSpPr>
            <a:spLocks noChangeArrowheads="1"/>
          </p:cNvSpPr>
          <p:nvPr>
            <p:custDataLst>
              <p:tags r:id="rId42"/>
            </p:custDataLst>
          </p:nvPr>
        </p:nvSpPr>
        <p:spPr bwMode="auto">
          <a:xfrm>
            <a:off x="3657600" y="3429000"/>
            <a:ext cx="304800" cy="152400"/>
          </a:xfrm>
          <a:prstGeom prst="triangle">
            <a:avLst>
              <a:gd name="adj" fmla="val 5000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Text Box 1068"/>
          <p:cNvSpPr txBox="1">
            <a:spLocks noChangeArrowheads="1"/>
          </p:cNvSpPr>
          <p:nvPr>
            <p:custDataLst>
              <p:tags r:id="rId43"/>
            </p:custDataLst>
          </p:nvPr>
        </p:nvSpPr>
        <p:spPr bwMode="auto">
          <a:xfrm>
            <a:off x="1600200" y="3352800"/>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pPr>
            <a:r>
              <a:rPr lang="zh-CN" altLang="en-US">
                <a:solidFill>
                  <a:srgbClr val="FF0000"/>
                </a:solidFill>
                <a:effectLst>
                  <a:outerShdw blurRad="38100" dist="38100" dir="2700000" algn="tl">
                    <a:srgbClr val="C0C0C0"/>
                  </a:outerShdw>
                </a:effectLst>
              </a:rPr>
              <a:t>继承</a:t>
            </a:r>
          </a:p>
        </p:txBody>
      </p:sp>
      <p:sp>
        <p:nvSpPr>
          <p:cNvPr id="47" name="Text Box 1069"/>
          <p:cNvSpPr txBox="1">
            <a:spLocks noChangeArrowheads="1"/>
          </p:cNvSpPr>
          <p:nvPr>
            <p:custDataLst>
              <p:tags r:id="rId44"/>
            </p:custDataLst>
          </p:nvPr>
        </p:nvSpPr>
        <p:spPr bwMode="auto">
          <a:xfrm>
            <a:off x="7086600" y="3021013"/>
            <a:ext cx="838200" cy="712787"/>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pPr>
            <a:r>
              <a:rPr lang="zh-CN" altLang="en-US" sz="1600" b="0"/>
              <a:t>类</a:t>
            </a:r>
          </a:p>
          <a:p>
            <a:pPr fontAlgn="base">
              <a:spcBef>
                <a:spcPct val="50000"/>
              </a:spcBef>
            </a:pPr>
            <a:endParaRPr lang="en-US" altLang="zh-CN" sz="1600" b="0"/>
          </a:p>
        </p:txBody>
      </p:sp>
      <p:sp>
        <p:nvSpPr>
          <p:cNvPr id="48" name="Text Box 1070"/>
          <p:cNvSpPr txBox="1">
            <a:spLocks noChangeArrowheads="1"/>
          </p:cNvSpPr>
          <p:nvPr>
            <p:custDataLst>
              <p:tags r:id="rId45"/>
            </p:custDataLst>
          </p:nvPr>
        </p:nvSpPr>
        <p:spPr bwMode="auto">
          <a:xfrm>
            <a:off x="7467600" y="3276600"/>
            <a:ext cx="381000" cy="346075"/>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pPr>
            <a:r>
              <a:rPr lang="zh-CN" altLang="en-US" sz="1600" b="0"/>
              <a:t>类</a:t>
            </a:r>
          </a:p>
        </p:txBody>
      </p:sp>
      <p:sp>
        <p:nvSpPr>
          <p:cNvPr id="49" name="Oval 1071"/>
          <p:cNvSpPr>
            <a:spLocks noChangeArrowheads="1"/>
          </p:cNvSpPr>
          <p:nvPr>
            <p:custDataLst>
              <p:tags r:id="rId46"/>
            </p:custDataLst>
          </p:nvPr>
        </p:nvSpPr>
        <p:spPr bwMode="auto">
          <a:xfrm>
            <a:off x="6781800" y="5334000"/>
            <a:ext cx="381000" cy="3048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r>
              <a:rPr lang="zh-CN" altLang="en-US" sz="1200" b="0"/>
              <a:t>对象</a:t>
            </a:r>
          </a:p>
        </p:txBody>
      </p:sp>
      <p:sp>
        <p:nvSpPr>
          <p:cNvPr id="50" name="Line 1072"/>
          <p:cNvSpPr>
            <a:spLocks noChangeShapeType="1"/>
          </p:cNvSpPr>
          <p:nvPr>
            <p:custDataLst>
              <p:tags r:id="rId47"/>
            </p:custDataLst>
          </p:nvPr>
        </p:nvSpPr>
        <p:spPr bwMode="auto">
          <a:xfrm flipH="1">
            <a:off x="6858000" y="5638800"/>
            <a:ext cx="152400" cy="381000"/>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 name="Text Box 1073"/>
          <p:cNvSpPr txBox="1">
            <a:spLocks noChangeArrowheads="1"/>
          </p:cNvSpPr>
          <p:nvPr>
            <p:custDataLst>
              <p:tags r:id="rId48"/>
            </p:custDataLst>
          </p:nvPr>
        </p:nvSpPr>
        <p:spPr bwMode="auto">
          <a:xfrm>
            <a:off x="8153400" y="3429000"/>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pPr>
            <a:r>
              <a:rPr lang="zh-CN" altLang="en-US">
                <a:solidFill>
                  <a:srgbClr val="FF0000"/>
                </a:solidFill>
                <a:effectLst>
                  <a:outerShdw blurRad="38100" dist="38100" dir="2700000" algn="tl">
                    <a:srgbClr val="C0C0C0"/>
                  </a:outerShdw>
                </a:effectLst>
              </a:rPr>
              <a:t>聚合</a:t>
            </a:r>
          </a:p>
        </p:txBody>
      </p:sp>
      <p:sp>
        <p:nvSpPr>
          <p:cNvPr id="52" name="Line 1074"/>
          <p:cNvSpPr>
            <a:spLocks noChangeShapeType="1"/>
          </p:cNvSpPr>
          <p:nvPr>
            <p:custDataLst>
              <p:tags r:id="rId49"/>
            </p:custDataLst>
          </p:nvPr>
        </p:nvSpPr>
        <p:spPr bwMode="auto">
          <a:xfrm>
            <a:off x="4343400" y="5486400"/>
            <a:ext cx="152400" cy="0"/>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 name="Freeform 1075"/>
          <p:cNvSpPr/>
          <p:nvPr>
            <p:custDataLst>
              <p:tags r:id="rId50"/>
            </p:custDataLst>
          </p:nvPr>
        </p:nvSpPr>
        <p:spPr bwMode="auto">
          <a:xfrm>
            <a:off x="4922838" y="4719638"/>
            <a:ext cx="1096962" cy="604837"/>
          </a:xfrm>
          <a:custGeom>
            <a:avLst/>
            <a:gdLst>
              <a:gd name="T0" fmla="*/ 0 w 691"/>
              <a:gd name="T1" fmla="*/ 381 h 381"/>
              <a:gd name="T2" fmla="*/ 298 w 691"/>
              <a:gd name="T3" fmla="*/ 93 h 381"/>
              <a:gd name="T4" fmla="*/ 353 w 691"/>
              <a:gd name="T5" fmla="*/ 0 h 381"/>
              <a:gd name="T6" fmla="*/ 547 w 691"/>
              <a:gd name="T7" fmla="*/ 3 h 381"/>
              <a:gd name="T8" fmla="*/ 691 w 691"/>
              <a:gd name="T9" fmla="*/ 339 h 381"/>
            </a:gdLst>
            <a:ahLst/>
            <a:cxnLst>
              <a:cxn ang="0">
                <a:pos x="T0" y="T1"/>
              </a:cxn>
              <a:cxn ang="0">
                <a:pos x="T2" y="T3"/>
              </a:cxn>
              <a:cxn ang="0">
                <a:pos x="T4" y="T5"/>
              </a:cxn>
              <a:cxn ang="0">
                <a:pos x="T6" y="T7"/>
              </a:cxn>
              <a:cxn ang="0">
                <a:pos x="T8" y="T9"/>
              </a:cxn>
            </a:cxnLst>
            <a:rect l="0" t="0" r="r" b="b"/>
            <a:pathLst>
              <a:path w="691" h="381">
                <a:moveTo>
                  <a:pt x="0" y="381"/>
                </a:moveTo>
                <a:cubicBezTo>
                  <a:pt x="119" y="322"/>
                  <a:pt x="218" y="198"/>
                  <a:pt x="298" y="93"/>
                </a:cubicBezTo>
                <a:cubicBezTo>
                  <a:pt x="309" y="58"/>
                  <a:pt x="327" y="26"/>
                  <a:pt x="353" y="0"/>
                </a:cubicBezTo>
                <a:lnTo>
                  <a:pt x="547" y="3"/>
                </a:lnTo>
                <a:lnTo>
                  <a:pt x="691" y="339"/>
                </a:lnTo>
              </a:path>
            </a:pathLst>
          </a:custGeom>
          <a:noFill/>
          <a:ln w="952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 name="Line 1076"/>
          <p:cNvSpPr>
            <a:spLocks noChangeShapeType="1"/>
          </p:cNvSpPr>
          <p:nvPr>
            <p:custDataLst>
              <p:tags r:id="rId51"/>
            </p:custDataLst>
          </p:nvPr>
        </p:nvSpPr>
        <p:spPr bwMode="auto">
          <a:xfrm>
            <a:off x="3429000" y="4191000"/>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Line 1077"/>
          <p:cNvSpPr>
            <a:spLocks noChangeShapeType="1"/>
          </p:cNvSpPr>
          <p:nvPr>
            <p:custDataLst>
              <p:tags r:id="rId52"/>
            </p:custDataLst>
          </p:nvPr>
        </p:nvSpPr>
        <p:spPr bwMode="auto">
          <a:xfrm>
            <a:off x="4724400" y="4267200"/>
            <a:ext cx="1219200" cy="76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 name="Text Box 1078"/>
          <p:cNvSpPr txBox="1">
            <a:spLocks noChangeArrowheads="1"/>
          </p:cNvSpPr>
          <p:nvPr>
            <p:custDataLst>
              <p:tags r:id="rId53"/>
            </p:custDataLst>
          </p:nvPr>
        </p:nvSpPr>
        <p:spPr bwMode="auto">
          <a:xfrm>
            <a:off x="1543050" y="5676900"/>
            <a:ext cx="1619250" cy="1054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pPr>
            <a:r>
              <a:rPr lang="zh-CN" altLang="en-US">
                <a:solidFill>
                  <a:srgbClr val="FF0000"/>
                </a:solidFill>
                <a:effectLst>
                  <a:outerShdw blurRad="38100" dist="38100" dir="2700000" algn="tl">
                    <a:srgbClr val="C0C0C0"/>
                  </a:outerShdw>
                </a:effectLst>
              </a:rPr>
              <a:t>抽象</a:t>
            </a:r>
          </a:p>
          <a:p>
            <a:pPr fontAlgn="base">
              <a:spcBef>
                <a:spcPct val="50000"/>
              </a:spcBef>
            </a:pPr>
            <a:r>
              <a:rPr lang="zh-CN" altLang="en-US">
                <a:solidFill>
                  <a:srgbClr val="FF0000"/>
                </a:solidFill>
                <a:effectLst>
                  <a:outerShdw blurRad="38100" dist="38100" dir="2700000" algn="tl">
                    <a:srgbClr val="C0C0C0"/>
                  </a:outerShdw>
                </a:effectLst>
              </a:rPr>
              <a:t>客观事物及其间的联系</a:t>
            </a:r>
          </a:p>
        </p:txBody>
      </p:sp>
      <p:sp>
        <p:nvSpPr>
          <p:cNvPr id="57" name="Text Box 1079"/>
          <p:cNvSpPr txBox="1">
            <a:spLocks noChangeArrowheads="1"/>
          </p:cNvSpPr>
          <p:nvPr>
            <p:custDataLst>
              <p:tags r:id="rId54"/>
            </p:custDataLst>
          </p:nvPr>
        </p:nvSpPr>
        <p:spPr bwMode="auto">
          <a:xfrm>
            <a:off x="4876800" y="3810000"/>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pPr>
            <a:r>
              <a:rPr lang="zh-CN" altLang="en-US">
                <a:solidFill>
                  <a:srgbClr val="FF0000"/>
                </a:solidFill>
                <a:effectLst>
                  <a:outerShdw blurRad="38100" dist="38100" dir="2700000" algn="tl">
                    <a:srgbClr val="C0C0C0"/>
                  </a:outerShdw>
                </a:effectLst>
              </a:rPr>
              <a:t>关联</a:t>
            </a:r>
          </a:p>
        </p:txBody>
      </p:sp>
      <p:sp>
        <p:nvSpPr>
          <p:cNvPr id="58" name="Rectangle 1080"/>
          <p:cNvSpPr>
            <a:spLocks noChangeArrowheads="1"/>
          </p:cNvSpPr>
          <p:nvPr>
            <p:custDataLst>
              <p:tags r:id="rId55"/>
            </p:custDataLst>
          </p:nvPr>
        </p:nvSpPr>
        <p:spPr bwMode="auto">
          <a:xfrm>
            <a:off x="2133600" y="1447800"/>
            <a:ext cx="7620000" cy="1219200"/>
          </a:xfrm>
          <a:prstGeom prst="rect">
            <a:avLst/>
          </a:prstGeom>
          <a:solidFill>
            <a:srgbClr val="DDDDDD"/>
          </a:solidFill>
          <a:ln w="9525">
            <a:solidFill>
              <a:schemeClr val="bg2"/>
            </a:solidFill>
            <a:miter lim="800000"/>
          </a:ln>
          <a:effectLst>
            <a:outerShdw dist="107763" dir="2700000" algn="ctr" rotWithShape="0">
              <a:schemeClr val="bg2"/>
            </a:outerShdw>
          </a:effectLst>
        </p:spPr>
        <p:txBody>
          <a:bodyPr wrap="none" anchor="ctr"/>
          <a:lstStyle/>
          <a:p>
            <a:endParaRPr lang="zh-CN" altLang="en-US"/>
          </a:p>
        </p:txBody>
      </p:sp>
      <p:sp>
        <p:nvSpPr>
          <p:cNvPr id="59" name="AutoShape 1081"/>
          <p:cNvSpPr>
            <a:spLocks noChangeArrowheads="1"/>
          </p:cNvSpPr>
          <p:nvPr>
            <p:custDataLst>
              <p:tags r:id="rId56"/>
            </p:custDataLst>
          </p:nvPr>
        </p:nvSpPr>
        <p:spPr bwMode="auto">
          <a:xfrm>
            <a:off x="7954963" y="1876425"/>
            <a:ext cx="762000" cy="604838"/>
          </a:xfrm>
          <a:prstGeom prst="flowChartMultidocument">
            <a:avLst/>
          </a:prstGeom>
          <a:gradFill rotWithShape="0">
            <a:gsLst>
              <a:gs pos="0">
                <a:srgbClr val="00FFFF">
                  <a:gamma/>
                  <a:shade val="46275"/>
                  <a:invGamma/>
                </a:srgbClr>
              </a:gs>
              <a:gs pos="50000">
                <a:srgbClr val="00FFFF"/>
              </a:gs>
              <a:gs pos="100000">
                <a:srgbClr val="00FFFF">
                  <a:gamma/>
                  <a:shade val="46275"/>
                  <a:invGamma/>
                </a:srgbClr>
              </a:gs>
            </a:gsLst>
            <a:lin ang="5400000" scaled="1"/>
          </a:gra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t"/>
            <a:r>
              <a:rPr lang="zh-CN" altLang="en-US" sz="1200" dirty="0"/>
              <a:t>用例图</a:t>
            </a:r>
          </a:p>
        </p:txBody>
      </p:sp>
      <p:sp>
        <p:nvSpPr>
          <p:cNvPr id="60" name="AutoShape 1082"/>
          <p:cNvSpPr>
            <a:spLocks noChangeArrowheads="1"/>
          </p:cNvSpPr>
          <p:nvPr>
            <p:custDataLst>
              <p:tags r:id="rId57"/>
            </p:custDataLst>
          </p:nvPr>
        </p:nvSpPr>
        <p:spPr bwMode="auto">
          <a:xfrm>
            <a:off x="2376488" y="1905000"/>
            <a:ext cx="762000" cy="604838"/>
          </a:xfrm>
          <a:prstGeom prst="flowChartMultidocument">
            <a:avLst/>
          </a:prstGeom>
          <a:gradFill rotWithShape="0">
            <a:gsLst>
              <a:gs pos="0">
                <a:srgbClr val="00FFFF">
                  <a:gamma/>
                  <a:shade val="46275"/>
                  <a:invGamma/>
                </a:srgbClr>
              </a:gs>
              <a:gs pos="50000">
                <a:srgbClr val="00FFFF"/>
              </a:gs>
              <a:gs pos="100000">
                <a:srgbClr val="00FFFF">
                  <a:gamma/>
                  <a:shade val="46275"/>
                  <a:invGamma/>
                </a:srgbClr>
              </a:gs>
            </a:gsLst>
            <a:lin ang="5400000" scaled="1"/>
          </a:gra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t"/>
            <a:r>
              <a:rPr lang="zh-CN" altLang="en-US" sz="1200"/>
              <a:t>类图</a:t>
            </a:r>
          </a:p>
        </p:txBody>
      </p:sp>
      <p:sp>
        <p:nvSpPr>
          <p:cNvPr id="61" name="AutoShape 1083"/>
          <p:cNvSpPr>
            <a:spLocks noChangeArrowheads="1"/>
          </p:cNvSpPr>
          <p:nvPr>
            <p:custDataLst>
              <p:tags r:id="rId58"/>
            </p:custDataLst>
          </p:nvPr>
        </p:nvSpPr>
        <p:spPr bwMode="auto">
          <a:xfrm>
            <a:off x="3448050" y="1890713"/>
            <a:ext cx="762000" cy="604837"/>
          </a:xfrm>
          <a:prstGeom prst="flowChartMultidocument">
            <a:avLst/>
          </a:prstGeom>
          <a:gradFill rotWithShape="0">
            <a:gsLst>
              <a:gs pos="0">
                <a:srgbClr val="00FFFF">
                  <a:gamma/>
                  <a:shade val="46275"/>
                  <a:invGamma/>
                </a:srgbClr>
              </a:gs>
              <a:gs pos="50000">
                <a:srgbClr val="00FFFF"/>
              </a:gs>
              <a:gs pos="100000">
                <a:srgbClr val="00FFFF">
                  <a:gamma/>
                  <a:shade val="46275"/>
                  <a:invGamma/>
                </a:srgbClr>
              </a:gs>
            </a:gsLst>
            <a:lin ang="5400000" scaled="1"/>
          </a:gra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t"/>
            <a:r>
              <a:rPr lang="zh-CN" altLang="en-US" sz="1200"/>
              <a:t>顺序图</a:t>
            </a:r>
          </a:p>
        </p:txBody>
      </p:sp>
      <p:sp>
        <p:nvSpPr>
          <p:cNvPr id="62" name="AutoShape 1085"/>
          <p:cNvSpPr>
            <a:spLocks noChangeArrowheads="1"/>
          </p:cNvSpPr>
          <p:nvPr>
            <p:custDataLst>
              <p:tags r:id="rId59"/>
            </p:custDataLst>
          </p:nvPr>
        </p:nvSpPr>
        <p:spPr bwMode="auto">
          <a:xfrm>
            <a:off x="4541838" y="1890713"/>
            <a:ext cx="762000" cy="604837"/>
          </a:xfrm>
          <a:prstGeom prst="flowChartMultidocument">
            <a:avLst/>
          </a:prstGeom>
          <a:gradFill rotWithShape="0">
            <a:gsLst>
              <a:gs pos="0">
                <a:srgbClr val="00FFFF">
                  <a:gamma/>
                  <a:shade val="46275"/>
                  <a:invGamma/>
                </a:srgbClr>
              </a:gs>
              <a:gs pos="50000">
                <a:srgbClr val="00FFFF"/>
              </a:gs>
              <a:gs pos="100000">
                <a:srgbClr val="00FFFF">
                  <a:gamma/>
                  <a:shade val="46275"/>
                  <a:invGamma/>
                </a:srgbClr>
              </a:gs>
            </a:gsLst>
            <a:lin ang="5400000" scaled="1"/>
          </a:gra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t"/>
            <a:r>
              <a:rPr lang="zh-CN" altLang="en-US" sz="1200"/>
              <a:t>状态图</a:t>
            </a:r>
          </a:p>
        </p:txBody>
      </p:sp>
      <p:sp>
        <p:nvSpPr>
          <p:cNvPr id="63" name="AutoShape 1086"/>
          <p:cNvSpPr>
            <a:spLocks noChangeArrowheads="1"/>
          </p:cNvSpPr>
          <p:nvPr>
            <p:custDataLst>
              <p:tags r:id="rId60"/>
            </p:custDataLst>
          </p:nvPr>
        </p:nvSpPr>
        <p:spPr bwMode="auto">
          <a:xfrm>
            <a:off x="5718175" y="1890713"/>
            <a:ext cx="762000" cy="604837"/>
          </a:xfrm>
          <a:prstGeom prst="flowChartMultidocument">
            <a:avLst/>
          </a:prstGeom>
          <a:gradFill rotWithShape="0">
            <a:gsLst>
              <a:gs pos="0">
                <a:srgbClr val="00FFFF">
                  <a:gamma/>
                  <a:shade val="46275"/>
                  <a:invGamma/>
                </a:srgbClr>
              </a:gs>
              <a:gs pos="50000">
                <a:srgbClr val="00FFFF"/>
              </a:gs>
              <a:gs pos="100000">
                <a:srgbClr val="00FFFF">
                  <a:gamma/>
                  <a:shade val="46275"/>
                  <a:invGamma/>
                </a:srgbClr>
              </a:gs>
            </a:gsLst>
            <a:lin ang="5400000" scaled="1"/>
          </a:gra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t"/>
            <a:r>
              <a:rPr lang="zh-CN" altLang="en-US" sz="1200"/>
              <a:t>活动图</a:t>
            </a:r>
          </a:p>
        </p:txBody>
      </p:sp>
      <p:sp>
        <p:nvSpPr>
          <p:cNvPr id="64" name="AutoShape 1087"/>
          <p:cNvSpPr>
            <a:spLocks noChangeArrowheads="1"/>
          </p:cNvSpPr>
          <p:nvPr>
            <p:custDataLst>
              <p:tags r:id="rId61"/>
            </p:custDataLst>
          </p:nvPr>
        </p:nvSpPr>
        <p:spPr bwMode="auto">
          <a:xfrm>
            <a:off x="6835775" y="1890713"/>
            <a:ext cx="762000" cy="604837"/>
          </a:xfrm>
          <a:prstGeom prst="flowChartMultidocument">
            <a:avLst/>
          </a:prstGeom>
          <a:gradFill rotWithShape="0">
            <a:gsLst>
              <a:gs pos="0">
                <a:srgbClr val="00FFFF">
                  <a:gamma/>
                  <a:shade val="46275"/>
                  <a:invGamma/>
                </a:srgbClr>
              </a:gs>
              <a:gs pos="50000">
                <a:srgbClr val="00FFFF"/>
              </a:gs>
              <a:gs pos="100000">
                <a:srgbClr val="00FFFF">
                  <a:gamma/>
                  <a:shade val="46275"/>
                  <a:invGamma/>
                </a:srgbClr>
              </a:gs>
            </a:gsLst>
            <a:lin ang="5400000" scaled="1"/>
          </a:gra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t"/>
            <a:r>
              <a:rPr lang="zh-CN" altLang="en-US" sz="1200"/>
              <a:t>构件图</a:t>
            </a:r>
          </a:p>
        </p:txBody>
      </p:sp>
      <p:sp>
        <p:nvSpPr>
          <p:cNvPr id="65" name="Text Box 1089"/>
          <p:cNvSpPr txBox="1">
            <a:spLocks noChangeArrowheads="1"/>
          </p:cNvSpPr>
          <p:nvPr>
            <p:custDataLst>
              <p:tags r:id="rId62"/>
            </p:custDataLst>
          </p:nvPr>
        </p:nvSpPr>
        <p:spPr bwMode="auto">
          <a:xfrm>
            <a:off x="2209800" y="1524000"/>
            <a:ext cx="1295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pPr>
            <a:r>
              <a:rPr lang="en-US" altLang="zh-CN" b="0">
                <a:solidFill>
                  <a:srgbClr val="FF0000"/>
                </a:solidFill>
              </a:rPr>
              <a:t>OO</a:t>
            </a:r>
            <a:r>
              <a:rPr lang="zh-CN" altLang="en-US" b="0">
                <a:solidFill>
                  <a:srgbClr val="FF0000"/>
                </a:solidFill>
              </a:rPr>
              <a:t>模型</a:t>
            </a:r>
          </a:p>
        </p:txBody>
      </p:sp>
      <p:sp>
        <p:nvSpPr>
          <p:cNvPr id="66" name="Rectangle 1090"/>
          <p:cNvSpPr>
            <a:spLocks noChangeArrowheads="1"/>
          </p:cNvSpPr>
          <p:nvPr>
            <p:custDataLst>
              <p:tags r:id="rId63"/>
            </p:custDataLst>
          </p:nvPr>
        </p:nvSpPr>
        <p:spPr bwMode="auto">
          <a:xfrm>
            <a:off x="2057400" y="228600"/>
            <a:ext cx="7696200" cy="914400"/>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Oval 1091"/>
          <p:cNvSpPr>
            <a:spLocks noChangeArrowheads="1"/>
          </p:cNvSpPr>
          <p:nvPr>
            <p:custDataLst>
              <p:tags r:id="rId64"/>
            </p:custDataLst>
          </p:nvPr>
        </p:nvSpPr>
        <p:spPr bwMode="auto">
          <a:xfrm>
            <a:off x="3505200" y="457200"/>
            <a:ext cx="533400" cy="457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r>
              <a:rPr lang="zh-CN" altLang="en-US" sz="1600" b="0"/>
              <a:t>对象</a:t>
            </a:r>
          </a:p>
        </p:txBody>
      </p:sp>
      <p:sp>
        <p:nvSpPr>
          <p:cNvPr id="68" name="Oval 1092"/>
          <p:cNvSpPr>
            <a:spLocks noChangeArrowheads="1"/>
          </p:cNvSpPr>
          <p:nvPr>
            <p:custDataLst>
              <p:tags r:id="rId65"/>
            </p:custDataLst>
          </p:nvPr>
        </p:nvSpPr>
        <p:spPr bwMode="auto">
          <a:xfrm>
            <a:off x="5410200" y="533400"/>
            <a:ext cx="533400" cy="457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r>
              <a:rPr lang="zh-CN" altLang="en-US" sz="1600" b="0"/>
              <a:t>对象</a:t>
            </a:r>
          </a:p>
        </p:txBody>
      </p:sp>
      <p:sp>
        <p:nvSpPr>
          <p:cNvPr id="69" name="Oval 1093"/>
          <p:cNvSpPr>
            <a:spLocks noChangeArrowheads="1"/>
          </p:cNvSpPr>
          <p:nvPr>
            <p:custDataLst>
              <p:tags r:id="rId66"/>
            </p:custDataLst>
          </p:nvPr>
        </p:nvSpPr>
        <p:spPr bwMode="auto">
          <a:xfrm>
            <a:off x="6172200" y="381000"/>
            <a:ext cx="533400" cy="5334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r>
              <a:rPr lang="zh-CN" altLang="en-US" sz="1600" b="0"/>
              <a:t>对象</a:t>
            </a:r>
          </a:p>
        </p:txBody>
      </p:sp>
      <p:sp>
        <p:nvSpPr>
          <p:cNvPr id="70" name="Oval 1094"/>
          <p:cNvSpPr>
            <a:spLocks noChangeArrowheads="1"/>
          </p:cNvSpPr>
          <p:nvPr>
            <p:custDataLst>
              <p:tags r:id="rId67"/>
            </p:custDataLst>
          </p:nvPr>
        </p:nvSpPr>
        <p:spPr bwMode="auto">
          <a:xfrm>
            <a:off x="6781800" y="533400"/>
            <a:ext cx="533400" cy="457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r>
              <a:rPr lang="zh-CN" altLang="en-US" sz="1600" b="0"/>
              <a:t>对象</a:t>
            </a:r>
          </a:p>
        </p:txBody>
      </p:sp>
      <p:sp>
        <p:nvSpPr>
          <p:cNvPr id="71" name="Oval 1095"/>
          <p:cNvSpPr>
            <a:spLocks noChangeArrowheads="1"/>
          </p:cNvSpPr>
          <p:nvPr>
            <p:custDataLst>
              <p:tags r:id="rId68"/>
            </p:custDataLst>
          </p:nvPr>
        </p:nvSpPr>
        <p:spPr bwMode="auto">
          <a:xfrm>
            <a:off x="8153400" y="609600"/>
            <a:ext cx="533400" cy="457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r>
              <a:rPr lang="zh-CN" altLang="en-US" sz="1600" b="0"/>
              <a:t>对象</a:t>
            </a:r>
          </a:p>
        </p:txBody>
      </p:sp>
      <p:sp>
        <p:nvSpPr>
          <p:cNvPr id="72" name="Oval 1096"/>
          <p:cNvSpPr>
            <a:spLocks noChangeArrowheads="1"/>
          </p:cNvSpPr>
          <p:nvPr>
            <p:custDataLst>
              <p:tags r:id="rId69"/>
            </p:custDataLst>
          </p:nvPr>
        </p:nvSpPr>
        <p:spPr bwMode="auto">
          <a:xfrm>
            <a:off x="8839200" y="381000"/>
            <a:ext cx="533400" cy="457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r>
              <a:rPr lang="zh-CN" altLang="en-US" sz="1600" b="0"/>
              <a:t>对象</a:t>
            </a:r>
          </a:p>
        </p:txBody>
      </p:sp>
      <p:sp>
        <p:nvSpPr>
          <p:cNvPr id="73" name="Oval 1097"/>
          <p:cNvSpPr>
            <a:spLocks noChangeArrowheads="1"/>
          </p:cNvSpPr>
          <p:nvPr>
            <p:custDataLst>
              <p:tags r:id="rId70"/>
            </p:custDataLst>
          </p:nvPr>
        </p:nvSpPr>
        <p:spPr bwMode="auto">
          <a:xfrm>
            <a:off x="4343400" y="304800"/>
            <a:ext cx="533400" cy="457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r>
              <a:rPr lang="zh-CN" altLang="en-US" sz="1600" b="0"/>
              <a:t>对象</a:t>
            </a:r>
          </a:p>
        </p:txBody>
      </p:sp>
      <p:sp>
        <p:nvSpPr>
          <p:cNvPr id="74" name="Oval 1098"/>
          <p:cNvSpPr>
            <a:spLocks noChangeArrowheads="1"/>
          </p:cNvSpPr>
          <p:nvPr>
            <p:custDataLst>
              <p:tags r:id="rId71"/>
            </p:custDataLst>
          </p:nvPr>
        </p:nvSpPr>
        <p:spPr bwMode="auto">
          <a:xfrm>
            <a:off x="4800600" y="685800"/>
            <a:ext cx="533400" cy="457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r>
              <a:rPr lang="zh-CN" altLang="en-US" sz="1600" b="0"/>
              <a:t>对象</a:t>
            </a:r>
          </a:p>
        </p:txBody>
      </p:sp>
      <p:sp>
        <p:nvSpPr>
          <p:cNvPr id="75" name="Text Box 1099"/>
          <p:cNvSpPr txBox="1">
            <a:spLocks noChangeArrowheads="1"/>
          </p:cNvSpPr>
          <p:nvPr>
            <p:custDataLst>
              <p:tags r:id="rId72"/>
            </p:custDataLst>
          </p:nvPr>
        </p:nvSpPr>
        <p:spPr bwMode="auto">
          <a:xfrm>
            <a:off x="2057400" y="228600"/>
            <a:ext cx="1295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pPr>
            <a:r>
              <a:rPr lang="zh-CN" altLang="en-US" b="0">
                <a:solidFill>
                  <a:srgbClr val="FF0000"/>
                </a:solidFill>
              </a:rPr>
              <a:t>计算机内的对象</a:t>
            </a:r>
          </a:p>
        </p:txBody>
      </p:sp>
      <p:sp>
        <p:nvSpPr>
          <p:cNvPr id="76" name="Line 1100"/>
          <p:cNvSpPr>
            <a:spLocks noChangeShapeType="1"/>
          </p:cNvSpPr>
          <p:nvPr>
            <p:custDataLst>
              <p:tags r:id="rId73"/>
            </p:custDataLst>
          </p:nvPr>
        </p:nvSpPr>
        <p:spPr bwMode="auto">
          <a:xfrm flipV="1">
            <a:off x="3962400" y="533400"/>
            <a:ext cx="381000" cy="76200"/>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 name="Line 1101"/>
          <p:cNvSpPr>
            <a:spLocks noChangeShapeType="1"/>
          </p:cNvSpPr>
          <p:nvPr>
            <p:custDataLst>
              <p:tags r:id="rId74"/>
            </p:custDataLst>
          </p:nvPr>
        </p:nvSpPr>
        <p:spPr bwMode="auto">
          <a:xfrm flipV="1">
            <a:off x="5943600" y="609600"/>
            <a:ext cx="304800" cy="76200"/>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 name="Line 1102"/>
          <p:cNvSpPr>
            <a:spLocks noChangeShapeType="1"/>
          </p:cNvSpPr>
          <p:nvPr>
            <p:custDataLst>
              <p:tags r:id="rId75"/>
            </p:custDataLst>
          </p:nvPr>
        </p:nvSpPr>
        <p:spPr bwMode="auto">
          <a:xfrm>
            <a:off x="6629400" y="533400"/>
            <a:ext cx="381000" cy="0"/>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 name="Line 1103"/>
          <p:cNvSpPr>
            <a:spLocks noChangeShapeType="1"/>
          </p:cNvSpPr>
          <p:nvPr>
            <p:custDataLst>
              <p:tags r:id="rId76"/>
            </p:custDataLst>
          </p:nvPr>
        </p:nvSpPr>
        <p:spPr bwMode="auto">
          <a:xfrm flipH="1" flipV="1">
            <a:off x="7315200" y="762000"/>
            <a:ext cx="914400" cy="152400"/>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 name="AutoShape 1104"/>
          <p:cNvSpPr>
            <a:spLocks noChangeArrowheads="1"/>
          </p:cNvSpPr>
          <p:nvPr>
            <p:custDataLst>
              <p:tags r:id="rId77"/>
            </p:custDataLst>
          </p:nvPr>
        </p:nvSpPr>
        <p:spPr bwMode="auto">
          <a:xfrm>
            <a:off x="5562600" y="1143000"/>
            <a:ext cx="457200" cy="304800"/>
          </a:xfrm>
          <a:prstGeom prst="upArrow">
            <a:avLst>
              <a:gd name="adj1" fmla="val 50000"/>
              <a:gd name="adj2" fmla="val 2500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81" name="Text Box 1105"/>
          <p:cNvSpPr txBox="1">
            <a:spLocks noChangeArrowheads="1"/>
          </p:cNvSpPr>
          <p:nvPr>
            <p:custDataLst>
              <p:tags r:id="rId78"/>
            </p:custDataLst>
          </p:nvPr>
        </p:nvSpPr>
        <p:spPr bwMode="auto">
          <a:xfrm>
            <a:off x="4876800" y="1143000"/>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pPr>
            <a:r>
              <a:rPr lang="zh-CN" altLang="en-US">
                <a:solidFill>
                  <a:srgbClr val="FF0000"/>
                </a:solidFill>
                <a:effectLst>
                  <a:outerShdw blurRad="38100" dist="38100" dir="2700000" algn="tl">
                    <a:srgbClr val="C0C0C0"/>
                  </a:outerShdw>
                </a:effectLst>
              </a:rPr>
              <a:t>编程</a:t>
            </a:r>
          </a:p>
        </p:txBody>
      </p:sp>
      <p:sp>
        <p:nvSpPr>
          <p:cNvPr id="82" name="AutoShape 1106"/>
          <p:cNvSpPr>
            <a:spLocks noChangeArrowheads="1"/>
          </p:cNvSpPr>
          <p:nvPr>
            <p:custDataLst>
              <p:tags r:id="rId79"/>
            </p:custDataLst>
          </p:nvPr>
        </p:nvSpPr>
        <p:spPr bwMode="auto">
          <a:xfrm>
            <a:off x="5562600" y="2667000"/>
            <a:ext cx="457200" cy="304800"/>
          </a:xfrm>
          <a:prstGeom prst="upArrow">
            <a:avLst>
              <a:gd name="adj1" fmla="val 50000"/>
              <a:gd name="adj2" fmla="val 2500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83" name="Rectangle 1107"/>
          <p:cNvSpPr>
            <a:spLocks noChangeArrowheads="1"/>
          </p:cNvSpPr>
          <p:nvPr>
            <p:custDataLst>
              <p:tags r:id="rId80"/>
            </p:custDataLst>
          </p:nvPr>
        </p:nvSpPr>
        <p:spPr bwMode="auto">
          <a:xfrm>
            <a:off x="2133600" y="2895600"/>
            <a:ext cx="7620000" cy="7620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 name="Text Box 1108"/>
          <p:cNvSpPr txBox="1">
            <a:spLocks noChangeArrowheads="1"/>
          </p:cNvSpPr>
          <p:nvPr>
            <p:custDataLst>
              <p:tags r:id="rId81"/>
            </p:custDataLst>
          </p:nvPr>
        </p:nvSpPr>
        <p:spPr bwMode="auto">
          <a:xfrm>
            <a:off x="4876800" y="2590800"/>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pPr>
            <a:r>
              <a:rPr lang="zh-CN" altLang="en-US">
                <a:solidFill>
                  <a:srgbClr val="FF0000"/>
                </a:solidFill>
                <a:effectLst>
                  <a:outerShdw blurRad="38100" dist="38100" dir="2700000" algn="tl">
                    <a:srgbClr val="C0C0C0"/>
                  </a:outerShdw>
                </a:effectLst>
              </a:rPr>
              <a:t>构成</a:t>
            </a:r>
          </a:p>
        </p:txBody>
      </p:sp>
      <p:sp>
        <p:nvSpPr>
          <p:cNvPr id="85" name="Text Box 1109"/>
          <p:cNvSpPr txBox="1">
            <a:spLocks noChangeArrowheads="1"/>
          </p:cNvSpPr>
          <p:nvPr>
            <p:custDataLst>
              <p:tags r:id="rId82"/>
            </p:custDataLst>
          </p:nvPr>
        </p:nvSpPr>
        <p:spPr bwMode="auto">
          <a:xfrm>
            <a:off x="9601200" y="5105400"/>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pPr>
            <a:r>
              <a:rPr lang="zh-CN" altLang="en-US">
                <a:solidFill>
                  <a:srgbClr val="FF0000"/>
                </a:solidFill>
                <a:effectLst>
                  <a:outerShdw blurRad="38100" dist="38100" dir="2700000" algn="tl">
                    <a:srgbClr val="C0C0C0"/>
                  </a:outerShdw>
                </a:effectLst>
              </a:rPr>
              <a:t>封装</a:t>
            </a:r>
          </a:p>
        </p:txBody>
      </p:sp>
      <p:sp>
        <p:nvSpPr>
          <p:cNvPr id="86" name="Freeform 1110"/>
          <p:cNvSpPr/>
          <p:nvPr>
            <p:custDataLst>
              <p:tags r:id="rId83"/>
            </p:custDataLst>
          </p:nvPr>
        </p:nvSpPr>
        <p:spPr bwMode="auto">
          <a:xfrm>
            <a:off x="3276600" y="3733800"/>
            <a:ext cx="1295400" cy="304800"/>
          </a:xfrm>
          <a:custGeom>
            <a:avLst/>
            <a:gdLst>
              <a:gd name="T0" fmla="*/ 0 w 816"/>
              <a:gd name="T1" fmla="*/ 192 h 192"/>
              <a:gd name="T2" fmla="*/ 0 w 816"/>
              <a:gd name="T3" fmla="*/ 0 h 192"/>
              <a:gd name="T4" fmla="*/ 816 w 816"/>
              <a:gd name="T5" fmla="*/ 0 h 192"/>
              <a:gd name="T6" fmla="*/ 816 w 816"/>
              <a:gd name="T7" fmla="*/ 192 h 192"/>
            </a:gdLst>
            <a:ahLst/>
            <a:cxnLst>
              <a:cxn ang="0">
                <a:pos x="T0" y="T1"/>
              </a:cxn>
              <a:cxn ang="0">
                <a:pos x="T2" y="T3"/>
              </a:cxn>
              <a:cxn ang="0">
                <a:pos x="T4" y="T5"/>
              </a:cxn>
              <a:cxn ang="0">
                <a:pos x="T6" y="T7"/>
              </a:cxn>
            </a:cxnLst>
            <a:rect l="0" t="0" r="r" b="b"/>
            <a:pathLst>
              <a:path w="816" h="192">
                <a:moveTo>
                  <a:pt x="0" y="192"/>
                </a:moveTo>
                <a:lnTo>
                  <a:pt x="0" y="0"/>
                </a:lnTo>
                <a:lnTo>
                  <a:pt x="816" y="0"/>
                </a:lnTo>
                <a:lnTo>
                  <a:pt x="816" y="192"/>
                </a:ln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 name="Line 1111"/>
          <p:cNvSpPr>
            <a:spLocks noChangeShapeType="1"/>
          </p:cNvSpPr>
          <p:nvPr>
            <p:custDataLst>
              <p:tags r:id="rId84"/>
            </p:custDataLst>
          </p:nvPr>
        </p:nvSpPr>
        <p:spPr bwMode="auto">
          <a:xfrm>
            <a:off x="3810000" y="3581400"/>
            <a:ext cx="0" cy="152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 name="Text Box 1112"/>
          <p:cNvSpPr txBox="1">
            <a:spLocks noChangeArrowheads="1"/>
          </p:cNvSpPr>
          <p:nvPr>
            <p:custDataLst>
              <p:tags r:id="rId85"/>
            </p:custDataLst>
          </p:nvPr>
        </p:nvSpPr>
        <p:spPr bwMode="auto">
          <a:xfrm>
            <a:off x="6019800" y="1143000"/>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pPr>
            <a:r>
              <a:rPr lang="zh-CN" altLang="en-US">
                <a:solidFill>
                  <a:srgbClr val="FF0000"/>
                </a:solidFill>
                <a:effectLst>
                  <a:outerShdw blurRad="38100" dist="38100" dir="2700000" algn="tl">
                    <a:srgbClr val="C0C0C0"/>
                  </a:outerShdw>
                </a:effectLst>
              </a:rPr>
              <a:t>运行</a:t>
            </a:r>
          </a:p>
        </p:txBody>
      </p:sp>
      <p:sp>
        <p:nvSpPr>
          <p:cNvPr id="89" name="Line 1113"/>
          <p:cNvSpPr>
            <a:spLocks noChangeShapeType="1"/>
          </p:cNvSpPr>
          <p:nvPr>
            <p:custDataLst>
              <p:tags r:id="rId86"/>
            </p:custDataLst>
          </p:nvPr>
        </p:nvSpPr>
        <p:spPr bwMode="auto">
          <a:xfrm>
            <a:off x="1295400" y="2286000"/>
            <a:ext cx="9144000" cy="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 name="Text Box 1114"/>
          <p:cNvSpPr txBox="1">
            <a:spLocks noChangeArrowheads="1"/>
          </p:cNvSpPr>
          <p:nvPr>
            <p:custDataLst>
              <p:tags r:id="rId87"/>
            </p:custDataLst>
          </p:nvPr>
        </p:nvSpPr>
        <p:spPr bwMode="auto">
          <a:xfrm>
            <a:off x="1295400" y="2362200"/>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pPr>
            <a:r>
              <a:rPr lang="zh-CN" altLang="en-US">
                <a:solidFill>
                  <a:srgbClr val="FF0000"/>
                </a:solidFill>
                <a:effectLst>
                  <a:outerShdw blurRad="38100" dist="38100" dir="2700000" algn="tl">
                    <a:srgbClr val="C0C0C0"/>
                  </a:outerShdw>
                </a:effectLst>
              </a:rPr>
              <a:t>分析</a:t>
            </a:r>
          </a:p>
        </p:txBody>
      </p:sp>
      <p:sp>
        <p:nvSpPr>
          <p:cNvPr id="91" name="Text Box 1115"/>
          <p:cNvSpPr txBox="1">
            <a:spLocks noChangeArrowheads="1"/>
          </p:cNvSpPr>
          <p:nvPr>
            <p:custDataLst>
              <p:tags r:id="rId88"/>
            </p:custDataLst>
          </p:nvPr>
        </p:nvSpPr>
        <p:spPr bwMode="auto">
          <a:xfrm>
            <a:off x="1295400" y="1905000"/>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pPr>
            <a:r>
              <a:rPr lang="zh-CN" altLang="en-US">
                <a:solidFill>
                  <a:srgbClr val="FF0000"/>
                </a:solidFill>
                <a:effectLst>
                  <a:outerShdw blurRad="38100" dist="38100" dir="2700000" algn="tl">
                    <a:srgbClr val="C0C0C0"/>
                  </a:outerShdw>
                </a:effectLst>
              </a:rPr>
              <a:t>设计</a:t>
            </a:r>
          </a:p>
        </p:txBody>
      </p:sp>
      <p:sp>
        <p:nvSpPr>
          <p:cNvPr id="92" name="Text Box 1116"/>
          <p:cNvSpPr txBox="1">
            <a:spLocks noChangeArrowheads="1"/>
          </p:cNvSpPr>
          <p:nvPr>
            <p:custDataLst>
              <p:tags r:id="rId89"/>
            </p:custDataLst>
          </p:nvPr>
        </p:nvSpPr>
        <p:spPr bwMode="auto">
          <a:xfrm>
            <a:off x="8763000" y="6000750"/>
            <a:ext cx="1676400" cy="274638"/>
          </a:xfrm>
          <a:prstGeom prst="rect">
            <a:avLst/>
          </a:prstGeom>
          <a:noFill/>
          <a:ln>
            <a:noFill/>
          </a:ln>
          <a:effectLst/>
          <a:extLst>
            <a:ext uri="{909E8E84-426E-40DD-AFC4-6F175D3DCCD1}">
              <a14:hiddenFill xmlns:a14="http://schemas.microsoft.com/office/drawing/2010/main">
                <a:solidFill>
                  <a:srgbClr val="CC99FF"/>
                </a:solidFill>
              </a14:hiddenFill>
            </a:ext>
            <a:ext uri="{91240B29-F687-4F45-9708-019B960494DF}">
              <a14:hiddenLine xmlns:a14="http://schemas.microsoft.com/office/drawing/2010/main" w="19050">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eaLnBrk="0" fontAlgn="base" hangingPunct="0">
              <a:spcBef>
                <a:spcPct val="50000"/>
              </a:spcBef>
            </a:pPr>
            <a:r>
              <a:rPr lang="en-US" altLang="zh-CN"/>
              <a:t>……</a:t>
            </a:r>
          </a:p>
        </p:txBody>
      </p:sp>
      <p:sp>
        <p:nvSpPr>
          <p:cNvPr id="93" name="Text Box 1117"/>
          <p:cNvSpPr txBox="1">
            <a:spLocks noChangeArrowheads="1"/>
          </p:cNvSpPr>
          <p:nvPr>
            <p:custDataLst>
              <p:tags r:id="rId90"/>
            </p:custDataLst>
          </p:nvPr>
        </p:nvSpPr>
        <p:spPr bwMode="auto">
          <a:xfrm>
            <a:off x="8839200" y="3035300"/>
            <a:ext cx="1676400" cy="274638"/>
          </a:xfrm>
          <a:prstGeom prst="rect">
            <a:avLst/>
          </a:prstGeom>
          <a:noFill/>
          <a:ln>
            <a:noFill/>
          </a:ln>
          <a:effectLst/>
          <a:extLst>
            <a:ext uri="{909E8E84-426E-40DD-AFC4-6F175D3DCCD1}">
              <a14:hiddenFill xmlns:a14="http://schemas.microsoft.com/office/drawing/2010/main">
                <a:solidFill>
                  <a:srgbClr val="CC99FF"/>
                </a:solidFill>
              </a14:hiddenFill>
            </a:ext>
            <a:ext uri="{91240B29-F687-4F45-9708-019B960494DF}">
              <a14:hiddenLine xmlns:a14="http://schemas.microsoft.com/office/drawing/2010/main" w="19050">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eaLnBrk="0" fontAlgn="base" hangingPunct="0">
              <a:spcBef>
                <a:spcPct val="50000"/>
              </a:spcBef>
            </a:pPr>
            <a:r>
              <a:rPr lang="en-US" altLang="zh-CN"/>
              <a:t>……</a:t>
            </a:r>
          </a:p>
        </p:txBody>
      </p:sp>
      <p:sp>
        <p:nvSpPr>
          <p:cNvPr id="94" name="Text Box 1118"/>
          <p:cNvSpPr txBox="1">
            <a:spLocks noChangeArrowheads="1"/>
          </p:cNvSpPr>
          <p:nvPr>
            <p:custDataLst>
              <p:tags r:id="rId91"/>
            </p:custDataLst>
          </p:nvPr>
        </p:nvSpPr>
        <p:spPr bwMode="auto">
          <a:xfrm>
            <a:off x="8837613" y="1973263"/>
            <a:ext cx="1676400" cy="274637"/>
          </a:xfrm>
          <a:prstGeom prst="rect">
            <a:avLst/>
          </a:prstGeom>
          <a:noFill/>
          <a:ln>
            <a:noFill/>
          </a:ln>
          <a:effectLst/>
          <a:extLst>
            <a:ext uri="{909E8E84-426E-40DD-AFC4-6F175D3DCCD1}">
              <a14:hiddenFill xmlns:a14="http://schemas.microsoft.com/office/drawing/2010/main">
                <a:solidFill>
                  <a:srgbClr val="CC99FF"/>
                </a:solidFill>
              </a14:hiddenFill>
            </a:ext>
            <a:ext uri="{91240B29-F687-4F45-9708-019B960494DF}">
              <a14:hiddenLine xmlns:a14="http://schemas.microsoft.com/office/drawing/2010/main" w="19050">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eaLnBrk="0" fontAlgn="base" hangingPunct="0">
              <a:spcBef>
                <a:spcPct val="50000"/>
              </a:spcBef>
            </a:pPr>
            <a:r>
              <a:rPr lang="en-US" altLang="zh-CN"/>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a:sym typeface="+mn-ea"/>
              </a:rPr>
              <a:t>面向对象的软件开发过程</a:t>
            </a:r>
            <a:endParaRPr lang="zh-CN" altLang="en-US"/>
          </a:p>
        </p:txBody>
      </p:sp>
      <p:sp>
        <p:nvSpPr>
          <p:cNvPr id="3" name="内容占位符 2"/>
          <p:cNvSpPr>
            <a:spLocks noGrp="1"/>
          </p:cNvSpPr>
          <p:nvPr>
            <p:ph idx="1"/>
          </p:nvPr>
        </p:nvSpPr>
        <p:spPr/>
        <p:txBody>
          <a:bodyPr/>
          <a:lstStyle/>
          <a:p>
            <a:r>
              <a:rPr lang="zh-CN" altLang="en-US" dirty="0"/>
              <a:t>面向对象需求获取</a:t>
            </a:r>
          </a:p>
          <a:p>
            <a:r>
              <a:rPr lang="zh-CN" altLang="en-US" dirty="0"/>
              <a:t>面向对象分析</a:t>
            </a:r>
          </a:p>
          <a:p>
            <a:r>
              <a:rPr lang="zh-CN" altLang="en-US" dirty="0"/>
              <a:t>面向对象的设计</a:t>
            </a:r>
          </a:p>
          <a:p>
            <a:r>
              <a:rPr lang="zh-CN" altLang="en-US" dirty="0"/>
              <a:t>面向对象的实现</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t>2</a:t>
            </a:r>
            <a:r>
              <a:rPr lang="zh-CN" altLang="en-US" dirty="0"/>
              <a:t>：</a:t>
            </a:r>
            <a:r>
              <a:rPr lang="en-US" altLang="zh-CN" dirty="0"/>
              <a:t>UML</a:t>
            </a:r>
            <a:r>
              <a:rPr lang="zh-CN" altLang="en-US" dirty="0"/>
              <a:t>建模</a:t>
            </a:r>
          </a:p>
        </p:txBody>
      </p:sp>
      <p:sp>
        <p:nvSpPr>
          <p:cNvPr id="3" name="副标题 2"/>
          <p:cNvSpPr>
            <a:spLocks noGrp="1"/>
          </p:cNvSpPr>
          <p:nvPr>
            <p:ph type="subTitle" idx="1"/>
          </p:nvPr>
        </p:nvSpPr>
        <p:spPr/>
        <p:txBody>
          <a:bodyPr/>
          <a:lstStyle/>
          <a:p>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重要的模型元素</a:t>
            </a:r>
          </a:p>
        </p:txBody>
      </p:sp>
      <p:sp>
        <p:nvSpPr>
          <p:cNvPr id="3" name="内容占位符 2"/>
          <p:cNvSpPr>
            <a:spLocks noGrp="1"/>
          </p:cNvSpPr>
          <p:nvPr>
            <p:ph idx="1"/>
          </p:nvPr>
        </p:nvSpPr>
        <p:spPr/>
        <p:txBody>
          <a:bodyPr/>
          <a:lstStyle/>
          <a:p>
            <a:r>
              <a:rPr lang="zh-CN" altLang="en-US" dirty="0"/>
              <a:t>功能模型</a:t>
            </a:r>
            <a:r>
              <a:rPr lang="en-US" altLang="zh-CN" dirty="0"/>
              <a:t>——</a:t>
            </a:r>
            <a:r>
              <a:rPr lang="zh-CN" altLang="en-US" dirty="0"/>
              <a:t>用例图</a:t>
            </a:r>
            <a:endParaRPr lang="en-US" altLang="zh-CN" dirty="0"/>
          </a:p>
          <a:p>
            <a:r>
              <a:rPr lang="zh-CN" altLang="en-US" dirty="0"/>
              <a:t>对象模型：类图。适用对象、属性和关联操作来描述系统的结构</a:t>
            </a:r>
            <a:endParaRPr lang="en-US" altLang="zh-CN" dirty="0"/>
          </a:p>
          <a:p>
            <a:pPr lvl="1"/>
            <a:r>
              <a:rPr lang="zh-CN" altLang="en-US" dirty="0"/>
              <a:t>分析：分析对象模型</a:t>
            </a:r>
            <a:endParaRPr lang="en-US" altLang="zh-CN" dirty="0"/>
          </a:p>
          <a:p>
            <a:pPr lvl="1"/>
            <a:r>
              <a:rPr lang="zh-CN" altLang="en-US" dirty="0"/>
              <a:t>系统设计：系统设计对象模型，包括子系统接口描述</a:t>
            </a:r>
            <a:endParaRPr lang="en-US" altLang="zh-CN" dirty="0"/>
          </a:p>
          <a:p>
            <a:pPr lvl="1"/>
            <a:r>
              <a:rPr lang="zh-CN" altLang="en-US" dirty="0"/>
              <a:t>对象设计：对象的详细描述</a:t>
            </a:r>
            <a:endParaRPr lang="en-US" altLang="zh-CN" dirty="0"/>
          </a:p>
          <a:p>
            <a:r>
              <a:rPr lang="zh-CN" altLang="en-US" dirty="0"/>
              <a:t>动态模型</a:t>
            </a:r>
            <a:r>
              <a:rPr lang="en-US" altLang="zh-CN" dirty="0"/>
              <a:t>——</a:t>
            </a:r>
            <a:r>
              <a:rPr lang="zh-CN" altLang="en-US" dirty="0"/>
              <a:t>交互图、状态图、活动图</a:t>
            </a:r>
            <a:endParaRPr lang="en-US" altLang="zh-CN" dirty="0"/>
          </a:p>
          <a:p>
            <a:pPr lvl="1"/>
            <a:endParaRPr lang="en-US" altLang="zh-C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用例图</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8288" y="1556792"/>
            <a:ext cx="5832648" cy="4854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类图</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2184" y="1858168"/>
            <a:ext cx="7595840" cy="3010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交互图</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3804" y="909365"/>
            <a:ext cx="7910337" cy="6669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状态图</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2224" y="1538658"/>
            <a:ext cx="6863732" cy="5296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活动图（一）</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4272" y="1196752"/>
            <a:ext cx="6984776" cy="5473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活动图（二）</a:t>
            </a: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0472" y="1484729"/>
            <a:ext cx="8725267" cy="4248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t>3</a:t>
            </a:r>
            <a:r>
              <a:rPr lang="zh-CN" altLang="en-US" dirty="0"/>
              <a:t>：面向对象需求获取</a:t>
            </a:r>
          </a:p>
        </p:txBody>
      </p:sp>
      <p:sp>
        <p:nvSpPr>
          <p:cNvPr id="3" name="副标题 2"/>
          <p:cNvSpPr>
            <a:spLocks noGrp="1"/>
          </p:cNvSpPr>
          <p:nvPr>
            <p:ph type="subTitle" idx="1"/>
          </p:nvPr>
        </p:nvSpPr>
        <p:spPr/>
        <p:txBody>
          <a:bodyPr/>
          <a:lstStyle/>
          <a:p>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a:sym typeface="+mn-ea"/>
              </a:rPr>
              <a:t>面向对象需求获取</a:t>
            </a:r>
            <a:endParaRPr lang="zh-CN" altLang="en-US"/>
          </a:p>
        </p:txBody>
      </p:sp>
      <p:sp>
        <p:nvSpPr>
          <p:cNvPr id="3" name="内容占位符 2"/>
          <p:cNvSpPr>
            <a:spLocks noGrp="1"/>
          </p:cNvSpPr>
          <p:nvPr>
            <p:ph idx="1"/>
          </p:nvPr>
        </p:nvSpPr>
        <p:spPr/>
        <p:txBody>
          <a:bodyPr/>
          <a:lstStyle/>
          <a:p>
            <a:r>
              <a:rPr lang="zh-CN" altLang="en-US" dirty="0"/>
              <a:t>标识参与者</a:t>
            </a:r>
          </a:p>
          <a:p>
            <a:pPr lvl="1"/>
            <a:r>
              <a:rPr lang="zh-CN" altLang="en-US" dirty="0">
                <a:sym typeface="+mn-ea"/>
              </a:rPr>
              <a:t>哪些人</a:t>
            </a:r>
            <a:endParaRPr lang="zh-CN" altLang="en-US" dirty="0"/>
          </a:p>
          <a:p>
            <a:pPr lvl="1"/>
            <a:r>
              <a:rPr lang="zh-CN" altLang="en-US" dirty="0">
                <a:sym typeface="+mn-ea"/>
              </a:rPr>
              <a:t>哪些系统</a:t>
            </a:r>
          </a:p>
          <a:p>
            <a:pPr lvl="0"/>
            <a:r>
              <a:rPr lang="zh-CN" altLang="en-US" dirty="0">
                <a:sym typeface="+mn-ea"/>
              </a:rPr>
              <a:t>标识用例</a:t>
            </a:r>
          </a:p>
          <a:p>
            <a:pPr lvl="1"/>
            <a:r>
              <a:rPr lang="zh-CN" altLang="en-US" dirty="0">
                <a:sym typeface="+mn-ea"/>
              </a:rPr>
              <a:t>扩展</a:t>
            </a:r>
          </a:p>
          <a:p>
            <a:pPr lvl="1"/>
            <a:r>
              <a:rPr lang="zh-CN" altLang="en-US" dirty="0">
                <a:sym typeface="+mn-ea"/>
              </a:rPr>
              <a:t>使用</a:t>
            </a:r>
            <a:endParaRPr lang="zh-CN" altLang="en-US" dirty="0"/>
          </a:p>
          <a:p>
            <a:pPr lvl="1"/>
            <a:endParaRPr lang="zh-CN" altLang="en-US" dirty="0"/>
          </a:p>
          <a:p>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发现参与者</a:t>
            </a:r>
          </a:p>
        </p:txBody>
      </p:sp>
      <p:sp>
        <p:nvSpPr>
          <p:cNvPr id="3" name="内容占位符 2"/>
          <p:cNvSpPr>
            <a:spLocks noGrp="1"/>
          </p:cNvSpPr>
          <p:nvPr>
            <p:ph idx="1"/>
          </p:nvPr>
        </p:nvSpPr>
        <p:spPr/>
        <p:txBody>
          <a:bodyPr>
            <a:normAutofit fontScale="90000" lnSpcReduction="20000"/>
          </a:bodyPr>
          <a:lstStyle/>
          <a:p>
            <a:pPr marL="443230" indent="-443230" algn="just">
              <a:spcBef>
                <a:spcPct val="50000"/>
              </a:spcBef>
            </a:pPr>
            <a:r>
              <a:rPr lang="zh-CN" altLang="en-US" b="1" dirty="0">
                <a:latin typeface="Times New Roman" panose="02020503050405090304" pitchFamily="18" charset="0"/>
                <a:sym typeface="+mn-ea"/>
              </a:rPr>
              <a:t>从</a:t>
            </a:r>
            <a:r>
              <a:rPr lang="zh-CN" altLang="en-US" b="1" dirty="0">
                <a:solidFill>
                  <a:srgbClr val="FF0000"/>
                </a:solidFill>
                <a:latin typeface="Times New Roman" panose="02020503050405090304" pitchFamily="18" charset="0"/>
                <a:sym typeface="+mn-ea"/>
              </a:rPr>
              <a:t>直接</a:t>
            </a:r>
            <a:r>
              <a:rPr lang="zh-CN" altLang="en-US" b="1" dirty="0">
                <a:latin typeface="Times New Roman" panose="02020503050405090304" pitchFamily="18" charset="0"/>
                <a:sym typeface="+mn-ea"/>
              </a:rPr>
              <a:t>使用系统的人员中发现参与者。这里强调的是直接使用，而不是间接的。</a:t>
            </a:r>
            <a:r>
              <a:rPr lang="zh-CN" altLang="en-US" b="1" dirty="0">
                <a:latin typeface="Times New Roman" panose="02020503050405090304" pitchFamily="18" charset="0"/>
              </a:rPr>
              <a:t>客户从柜台取钱，使用系统的是银行柜员</a:t>
            </a:r>
          </a:p>
          <a:p>
            <a:pPr marL="443230" indent="-443230" algn="just">
              <a:spcBef>
                <a:spcPct val="50000"/>
              </a:spcBef>
            </a:pPr>
            <a:r>
              <a:rPr lang="zh-CN" altLang="en-US" b="1" dirty="0">
                <a:latin typeface="Times New Roman" panose="02020503050405090304" pitchFamily="18" charset="0"/>
                <a:sym typeface="+mn-ea"/>
              </a:rPr>
              <a:t>特定的人，在系统中可扮演不同的角色。</a:t>
            </a:r>
            <a:endParaRPr lang="zh-CN" altLang="en-US" b="1" dirty="0">
              <a:latin typeface="Times New Roman" panose="02020503050405090304" pitchFamily="18" charset="0"/>
            </a:endParaRPr>
          </a:p>
          <a:p>
            <a:pPr marL="900430" lvl="1" indent="-443230" algn="just">
              <a:spcBef>
                <a:spcPct val="50000"/>
              </a:spcBef>
            </a:pPr>
            <a:r>
              <a:rPr lang="zh-CN" altLang="en-US" b="1" dirty="0">
                <a:latin typeface="Times New Roman" panose="02020503050405090304" pitchFamily="18" charset="0"/>
                <a:sym typeface="+mn-ea"/>
              </a:rPr>
              <a:t>例如，添加数据、统计某项数据及产生汇总表的那个人就扮演了三种不同的角色，反映为三种不同的参与者。</a:t>
            </a:r>
            <a:endParaRPr lang="zh-CN" altLang="en-US" b="1" dirty="0">
              <a:latin typeface="Times New Roman" panose="02020503050405090304" pitchFamily="18" charset="0"/>
            </a:endParaRPr>
          </a:p>
          <a:p>
            <a:pPr marL="900430" lvl="1" indent="-443230" algn="just">
              <a:spcBef>
                <a:spcPct val="50000"/>
              </a:spcBef>
            </a:pPr>
            <a:r>
              <a:rPr lang="zh-CN" altLang="en-US" b="1" dirty="0">
                <a:latin typeface="Times New Roman" panose="02020503050405090304" pitchFamily="18" charset="0"/>
                <a:sym typeface="+mn-ea"/>
              </a:rPr>
              <a:t>例如，用户角色的类别可为：目标终端用户、管理员、经理或顾客。</a:t>
            </a:r>
          </a:p>
          <a:p>
            <a:pPr marL="443230" lvl="0" indent="-443230" algn="just">
              <a:spcBef>
                <a:spcPct val="50000"/>
              </a:spcBef>
            </a:pPr>
            <a:r>
              <a:rPr lang="zh-CN" altLang="en-US" b="1" dirty="0">
                <a:solidFill>
                  <a:srgbClr val="FF0000"/>
                </a:solidFill>
                <a:latin typeface="Times New Roman" panose="02020503050405090304" pitchFamily="18" charset="0"/>
                <a:sym typeface="+mn-ea"/>
              </a:rPr>
              <a:t>外部系统</a:t>
            </a:r>
          </a:p>
          <a:p>
            <a:pPr marL="443230" lvl="0" indent="-443230" algn="just">
              <a:spcBef>
                <a:spcPct val="50000"/>
              </a:spcBef>
            </a:pPr>
            <a:r>
              <a:rPr lang="zh-CN" altLang="en-US" b="1" dirty="0">
                <a:solidFill>
                  <a:srgbClr val="FF0000"/>
                </a:solidFill>
                <a:latin typeface="Times New Roman" panose="02020503050405090304" pitchFamily="18" charset="0"/>
                <a:sym typeface="+mn-ea"/>
              </a:rPr>
              <a:t>设备</a:t>
            </a:r>
            <a:endParaRPr lang="zh-CN" altLang="en-US" b="1" dirty="0">
              <a:solidFill>
                <a:srgbClr val="FF0000"/>
              </a:solidFill>
              <a:latin typeface="Times New Roman" panose="0202050305040509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发现用例（一）</a:t>
            </a:r>
          </a:p>
        </p:txBody>
      </p:sp>
      <p:sp>
        <p:nvSpPr>
          <p:cNvPr id="3" name="内容占位符 2"/>
          <p:cNvSpPr>
            <a:spLocks noGrp="1"/>
          </p:cNvSpPr>
          <p:nvPr>
            <p:ph idx="1"/>
          </p:nvPr>
        </p:nvSpPr>
        <p:spPr/>
        <p:txBody>
          <a:bodyPr/>
          <a:lstStyle/>
          <a:p>
            <a:r>
              <a:rPr lang="zh-CN" altLang="en-US" b="1" dirty="0">
                <a:latin typeface="Times New Roman" panose="02020503050405090304" pitchFamily="18" charset="0"/>
                <a:sym typeface="+mn-ea"/>
              </a:rPr>
              <a:t>对所有的参与者（把自己作为参与者），提问下列问题：</a:t>
            </a:r>
          </a:p>
          <a:p>
            <a:pPr lvl="1"/>
            <a:r>
              <a:rPr lang="zh-CN" altLang="en-US" b="1" dirty="0">
                <a:latin typeface="Times New Roman" panose="02020503050405090304" pitchFamily="18" charset="0"/>
                <a:sym typeface="+mn-ea"/>
              </a:rPr>
              <a:t>每个参与者的主要任务是什么？</a:t>
            </a:r>
            <a:r>
              <a:rPr lang="en-US" altLang="zh-CN" b="1" dirty="0">
                <a:solidFill>
                  <a:srgbClr val="FF0000"/>
                </a:solidFill>
                <a:latin typeface="Times New Roman" panose="02020503050405090304" pitchFamily="18" charset="0"/>
                <a:sym typeface="+mn-ea"/>
              </a:rPr>
              <a:t>——</a:t>
            </a:r>
            <a:r>
              <a:rPr lang="zh-CN" altLang="en-US" b="1" dirty="0">
                <a:solidFill>
                  <a:srgbClr val="FF0000"/>
                </a:solidFill>
                <a:latin typeface="Times New Roman" panose="02020503050405090304" pitchFamily="18" charset="0"/>
                <a:sym typeface="+mn-ea"/>
              </a:rPr>
              <a:t>粗粒度</a:t>
            </a:r>
            <a:endParaRPr lang="zh-CN" altLang="en-US" b="1" dirty="0">
              <a:solidFill>
                <a:srgbClr val="FF0000"/>
              </a:solidFill>
              <a:latin typeface="Times New Roman" panose="02020503050405090304" pitchFamily="18" charset="0"/>
            </a:endParaRPr>
          </a:p>
          <a:p>
            <a:pPr lvl="1"/>
            <a:r>
              <a:rPr lang="zh-CN" altLang="en-US" b="1" dirty="0">
                <a:latin typeface="Times New Roman" panose="02020503050405090304" pitchFamily="18" charset="0"/>
                <a:sym typeface="+mn-ea"/>
              </a:rPr>
              <a:t>它们参加了什么在本质上是不同的过程？</a:t>
            </a: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发现用例（二）</a:t>
            </a:r>
          </a:p>
        </p:txBody>
      </p:sp>
      <p:sp>
        <p:nvSpPr>
          <p:cNvPr id="3" name="内容占位符 2"/>
          <p:cNvSpPr>
            <a:spLocks noGrp="1"/>
          </p:cNvSpPr>
          <p:nvPr>
            <p:ph idx="1"/>
          </p:nvPr>
        </p:nvSpPr>
        <p:spPr>
          <a:xfrm>
            <a:off x="317500" y="1600200"/>
            <a:ext cx="11266170" cy="4526280"/>
          </a:xfrm>
        </p:spPr>
        <p:txBody>
          <a:bodyPr>
            <a:normAutofit fontScale="87500" lnSpcReduction="20000"/>
          </a:bodyPr>
          <a:lstStyle/>
          <a:p>
            <a:r>
              <a:rPr kumimoji="1" lang="zh-CN" altLang="en-US" b="1" noProof="0" dirty="0">
                <a:solidFill>
                  <a:srgbClr val="FF0000"/>
                </a:solidFill>
                <a:effectLst>
                  <a:outerShdw blurRad="38100" dist="38100" dir="2700000" algn="tl">
                    <a:srgbClr val="C0C0C0"/>
                  </a:outerShdw>
                </a:effectLst>
                <a:latin typeface="Times New Roman" panose="02020503050405090304" pitchFamily="18" charset="0"/>
                <a:ea typeface="宋体" pitchFamily="2" charset="-122"/>
                <a:sym typeface="+mn-ea"/>
              </a:rPr>
              <a:t>从系统功能角度捕获用例</a:t>
            </a:r>
          </a:p>
          <a:p>
            <a:pPr lvl="1"/>
            <a:r>
              <a:rPr kumimoji="1" lang="zh-CN" altLang="en-US" b="1" noProof="0" dirty="0">
                <a:latin typeface="Times New Roman" panose="02020503050405090304" pitchFamily="18" charset="0"/>
                <a:ea typeface="宋体" pitchFamily="2" charset="-122"/>
                <a:sym typeface="+mn-ea"/>
              </a:rPr>
              <a:t>以</a:t>
            </a:r>
            <a:r>
              <a:rPr kumimoji="1" lang="zh-CN" altLang="en-US" b="1" noProof="0" dirty="0">
                <a:solidFill>
                  <a:srgbClr val="FF0000"/>
                </a:solidFill>
                <a:latin typeface="Times New Roman" panose="02020503050405090304" pitchFamily="18" charset="0"/>
                <a:ea typeface="宋体" pitchFamily="2" charset="-122"/>
                <a:sym typeface="+mn-ea"/>
              </a:rPr>
              <a:t>穷举的方式</a:t>
            </a:r>
            <a:r>
              <a:rPr kumimoji="1" lang="zh-CN" altLang="en-US" b="1" noProof="0" dirty="0">
                <a:latin typeface="Times New Roman" panose="02020503050405090304" pitchFamily="18" charset="0"/>
                <a:ea typeface="宋体" pitchFamily="2" charset="-122"/>
                <a:sym typeface="+mn-ea"/>
              </a:rPr>
              <a:t>检查用户对系统的功能需求是否能在各个用例中体现出</a:t>
            </a:r>
          </a:p>
          <a:p>
            <a:pPr lvl="1"/>
            <a:r>
              <a:rPr kumimoji="1" lang="zh-CN" altLang="en-US" b="1" noProof="0" dirty="0">
                <a:latin typeface="Times New Roman" panose="02020503050405090304" pitchFamily="18" charset="0"/>
                <a:ea typeface="宋体" pitchFamily="2" charset="-122"/>
                <a:sym typeface="+mn-ea"/>
              </a:rPr>
              <a:t>以</a:t>
            </a:r>
            <a:r>
              <a:rPr kumimoji="1" lang="zh-CN" altLang="en-US" b="1" noProof="0" dirty="0">
                <a:solidFill>
                  <a:srgbClr val="FF0000"/>
                </a:solidFill>
                <a:latin typeface="Times New Roman" panose="02020503050405090304" pitchFamily="18" charset="0"/>
                <a:ea typeface="宋体" pitchFamily="2" charset="-122"/>
                <a:sym typeface="+mn-ea"/>
              </a:rPr>
              <a:t>穷举的方式</a:t>
            </a:r>
            <a:r>
              <a:rPr kumimoji="1" lang="zh-CN" altLang="en-US" b="1" noProof="0" dirty="0">
                <a:latin typeface="Times New Roman" panose="02020503050405090304" pitchFamily="18" charset="0"/>
                <a:ea typeface="宋体" pitchFamily="2" charset="-122"/>
                <a:sym typeface="+mn-ea"/>
              </a:rPr>
              <a:t>考虑每一个参与者与系统的交互情况，看看每个参与者要求系统提供什么功能，以及参与者的每一项输入信息将要求系统作出什么反映，进行什么处理。</a:t>
            </a:r>
          </a:p>
          <a:p>
            <a:pPr lvl="1"/>
            <a:r>
              <a:rPr kumimoji="1" lang="zh-CN" altLang="en-US" b="1" noProof="0" dirty="0">
                <a:latin typeface="Times New Roman" panose="02020503050405090304" pitchFamily="18" charset="0"/>
                <a:ea typeface="宋体" pitchFamily="2" charset="-122"/>
                <a:sym typeface="+mn-ea"/>
              </a:rPr>
              <a:t>考虑对例外情况的处理。针对用例描述的基本流，要详尽地考虑各种其他的情况</a:t>
            </a:r>
            <a:r>
              <a:rPr kumimoji="1" lang="zh-CN" altLang="en-US" noProof="0" dirty="0">
                <a:latin typeface="Times New Roman" panose="02020503050405090304" pitchFamily="18" charset="0"/>
                <a:ea typeface="宋体" pitchFamily="2" charset="-122"/>
                <a:sym typeface="+mn-ea"/>
              </a:rPr>
              <a:t> </a:t>
            </a:r>
          </a:p>
          <a:p>
            <a:pPr lvl="1"/>
            <a:r>
              <a:rPr kumimoji="1" lang="zh-CN" altLang="en-US" b="1" noProof="0" dirty="0">
                <a:latin typeface="Times New Roman" panose="02020503050405090304" pitchFamily="18" charset="0"/>
                <a:ea typeface="宋体" pitchFamily="2" charset="-122"/>
                <a:sym typeface="+mn-ea"/>
              </a:rPr>
              <a:t>一个用例描述一项功能，这项功能不能过大。例如，把一个企业信息管理系统粗略地分为生产管理、供销管理、财务管理和人事管理等几大方面的功能，就显得粒度太大了，应该再进行细化。</a:t>
            </a:r>
          </a:p>
          <a:p>
            <a:pPr lvl="1"/>
            <a:r>
              <a:rPr kumimoji="1" lang="zh-CN" altLang="en-US" b="1" noProof="0" dirty="0">
                <a:latin typeface="宋体" pitchFamily="2" charset="-122"/>
                <a:ea typeface="宋体" pitchFamily="2" charset="-122"/>
                <a:cs typeface="Times New Roman" panose="02020503050405090304" pitchFamily="18" charset="0"/>
                <a:sym typeface="+mn-ea"/>
              </a:rPr>
              <a:t>一个用例应该是一个完整的任务，通常应该在一个相对短的时间段内完成。如果一个用例的各部分被分配在不同的时间段，尤其被不同的参与者执行，最好还是将各部分作为单独的用例对待。</a:t>
            </a:r>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案例——餐馆系统业务建模</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3.1 </a:t>
            </a:r>
            <a:r>
              <a:rPr lang="zh-CN" altLang="en-US" dirty="0"/>
              <a:t>非正式需求（一）</a:t>
            </a:r>
          </a:p>
        </p:txBody>
      </p:sp>
      <p:sp>
        <p:nvSpPr>
          <p:cNvPr id="3" name="内容占位符 2"/>
          <p:cNvSpPr>
            <a:spLocks noGrp="1"/>
          </p:cNvSpPr>
          <p:nvPr>
            <p:ph idx="1"/>
          </p:nvPr>
        </p:nvSpPr>
        <p:spPr/>
        <p:txBody>
          <a:bodyPr/>
          <a:lstStyle/>
          <a:p>
            <a:r>
              <a:rPr lang="zh-CN" altLang="en-US" dirty="0"/>
              <a:t>目的：改进为顾客分配餐桌，支持餐馆的日常经营活动</a:t>
            </a:r>
            <a:endParaRPr lang="en-US" altLang="zh-CN" dirty="0"/>
          </a:p>
          <a:p>
            <a:r>
              <a:rPr lang="zh-CN" altLang="en-US" dirty="0"/>
              <a:t>餐馆的业务</a:t>
            </a:r>
            <a:endParaRPr lang="en-US" altLang="zh-CN" dirty="0"/>
          </a:p>
          <a:p>
            <a:pPr lvl="1"/>
            <a:r>
              <a:rPr lang="zh-CN" altLang="en-US" dirty="0"/>
              <a:t>预约餐桌（登记哪些信息）</a:t>
            </a:r>
            <a:endParaRPr lang="en-US" altLang="zh-CN" dirty="0"/>
          </a:p>
          <a:p>
            <a:pPr lvl="1"/>
            <a:r>
              <a:rPr lang="zh-CN" altLang="en-US" dirty="0"/>
              <a:t>取消预约</a:t>
            </a:r>
            <a:endParaRPr lang="en-US" altLang="zh-CN" dirty="0"/>
          </a:p>
          <a:p>
            <a:pPr lvl="1"/>
            <a:r>
              <a:rPr lang="zh-CN" altLang="en-US" dirty="0"/>
              <a:t>临时分配餐桌</a:t>
            </a:r>
            <a:endParaRPr lang="en-US" altLang="zh-C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3.1 </a:t>
            </a:r>
            <a:r>
              <a:rPr lang="zh-CN" altLang="en-US" dirty="0"/>
              <a:t>非正式需求（二）</a:t>
            </a:r>
          </a:p>
        </p:txBody>
      </p:sp>
      <p:sp>
        <p:nvSpPr>
          <p:cNvPr id="3" name="内容占位符 2"/>
          <p:cNvSpPr>
            <a:spLocks noGrp="1"/>
          </p:cNvSpPr>
          <p:nvPr>
            <p:ph idx="1"/>
          </p:nvPr>
        </p:nvSpPr>
        <p:spPr/>
        <p:txBody>
          <a:bodyPr/>
          <a:lstStyle/>
          <a:p>
            <a:r>
              <a:rPr lang="zh-CN" altLang="en-US" dirty="0"/>
              <a:t>手工预约的缺点</a:t>
            </a:r>
            <a:endParaRPr lang="en-US" altLang="zh-CN" dirty="0"/>
          </a:p>
          <a:p>
            <a:pPr lvl="1"/>
            <a:r>
              <a:rPr lang="zh-CN" altLang="en-US" dirty="0"/>
              <a:t>慢</a:t>
            </a:r>
            <a:endParaRPr lang="en-US" altLang="zh-CN" dirty="0"/>
          </a:p>
          <a:p>
            <a:pPr lvl="1"/>
            <a:r>
              <a:rPr lang="zh-CN" altLang="en-US" dirty="0"/>
              <a:t>涂涂改改，难以理解</a:t>
            </a:r>
            <a:endParaRPr lang="en-US" altLang="zh-CN" dirty="0"/>
          </a:p>
          <a:p>
            <a:pPr lvl="1"/>
            <a:r>
              <a:rPr lang="zh-CN" altLang="en-US" dirty="0"/>
              <a:t>理解不好，影响业务</a:t>
            </a:r>
            <a:endParaRPr lang="en-US" altLang="zh-CN" dirty="0"/>
          </a:p>
          <a:p>
            <a:pPr lvl="1"/>
            <a:r>
              <a:rPr lang="zh-CN" altLang="en-US" dirty="0"/>
              <a:t>没有备份</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3.2 </a:t>
            </a:r>
            <a:r>
              <a:rPr lang="zh-CN" altLang="en-US" dirty="0"/>
              <a:t>用例建模</a:t>
            </a:r>
          </a:p>
        </p:txBody>
      </p:sp>
      <p:sp>
        <p:nvSpPr>
          <p:cNvPr id="3" name="内容占位符 2"/>
          <p:cNvSpPr>
            <a:spLocks noGrp="1"/>
          </p:cNvSpPr>
          <p:nvPr>
            <p:ph idx="1"/>
          </p:nvPr>
        </p:nvSpPr>
        <p:spPr/>
        <p:txBody>
          <a:bodyPr/>
          <a:lstStyle/>
          <a:p>
            <a:r>
              <a:rPr lang="zh-CN" altLang="en-US" dirty="0"/>
              <a:t>用例视图：</a:t>
            </a:r>
            <a:r>
              <a:rPr lang="en-US" altLang="zh-CN" dirty="0"/>
              <a:t>UML</a:t>
            </a:r>
            <a:r>
              <a:rPr lang="zh-CN" altLang="en-US" dirty="0"/>
              <a:t>中起支配作用的视图，展示系统功能的结构化视图</a:t>
            </a:r>
            <a:endParaRPr lang="en-US" altLang="zh-CN" dirty="0"/>
          </a:p>
          <a:p>
            <a:r>
              <a:rPr lang="zh-CN" altLang="en-US" dirty="0"/>
              <a:t>角色</a:t>
            </a:r>
            <a:r>
              <a:rPr lang="en-US" altLang="zh-CN" dirty="0"/>
              <a:t>(Actor)</a:t>
            </a:r>
          </a:p>
          <a:p>
            <a:r>
              <a:rPr lang="zh-CN" altLang="en-US" dirty="0"/>
              <a:t>用例</a:t>
            </a:r>
            <a:r>
              <a:rPr lang="en-US" altLang="zh-CN" dirty="0"/>
              <a:t>(Use Case)</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3.2.1 </a:t>
            </a:r>
            <a:r>
              <a:rPr lang="zh-CN" altLang="en-US" dirty="0"/>
              <a:t>用例（一）</a:t>
            </a:r>
          </a:p>
        </p:txBody>
      </p:sp>
      <p:sp>
        <p:nvSpPr>
          <p:cNvPr id="3" name="内容占位符 2"/>
          <p:cNvSpPr>
            <a:spLocks noGrp="1"/>
          </p:cNvSpPr>
          <p:nvPr>
            <p:ph idx="1"/>
          </p:nvPr>
        </p:nvSpPr>
        <p:spPr/>
        <p:txBody>
          <a:bodyPr/>
          <a:lstStyle/>
          <a:p>
            <a:r>
              <a:rPr lang="zh-CN" altLang="en-US" dirty="0"/>
              <a:t>记录一个新的预约信息（记录预约）</a:t>
            </a:r>
            <a:endParaRPr lang="en-US" altLang="zh-CN" dirty="0"/>
          </a:p>
          <a:p>
            <a:r>
              <a:rPr lang="zh-CN" altLang="en-US" dirty="0"/>
              <a:t>取消一个预约（取消预约）</a:t>
            </a:r>
            <a:endParaRPr lang="en-US" altLang="zh-CN" dirty="0"/>
          </a:p>
          <a:p>
            <a:r>
              <a:rPr lang="zh-CN" altLang="en-US" dirty="0"/>
              <a:t>记录一位顾客的到来</a:t>
            </a:r>
            <a:endParaRPr lang="en-US" altLang="zh-CN" dirty="0"/>
          </a:p>
          <a:p>
            <a:r>
              <a:rPr lang="zh-CN" altLang="en-US" dirty="0"/>
              <a:t>将一位顾客从一张餐桌移到另外一张餐桌</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3.2.1 </a:t>
            </a:r>
            <a:r>
              <a:rPr lang="zh-CN" altLang="en-US" dirty="0"/>
              <a:t>用例（二）</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32304" y="1414347"/>
            <a:ext cx="5112568" cy="5194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3.2.2 </a:t>
            </a:r>
            <a:r>
              <a:rPr lang="zh-CN" altLang="en-US" dirty="0"/>
              <a:t>角色</a:t>
            </a:r>
          </a:p>
        </p:txBody>
      </p:sp>
      <p:sp>
        <p:nvSpPr>
          <p:cNvPr id="3" name="内容占位符 2"/>
          <p:cNvSpPr>
            <a:spLocks noGrp="1"/>
          </p:cNvSpPr>
          <p:nvPr>
            <p:ph idx="1"/>
          </p:nvPr>
        </p:nvSpPr>
        <p:spPr/>
        <p:txBody>
          <a:bodyPr/>
          <a:lstStyle/>
          <a:p>
            <a:r>
              <a:rPr lang="zh-CN" altLang="en-US" dirty="0"/>
              <a:t>用例分为两组：</a:t>
            </a:r>
            <a:endParaRPr lang="en-US" altLang="zh-CN" dirty="0"/>
          </a:p>
          <a:p>
            <a:pPr lvl="1"/>
            <a:r>
              <a:rPr lang="zh-CN" altLang="en-US" dirty="0"/>
              <a:t>与维护提前预约信息相关的用例</a:t>
            </a:r>
            <a:endParaRPr lang="en-US" altLang="zh-CN" dirty="0"/>
          </a:p>
          <a:p>
            <a:pPr lvl="1"/>
            <a:r>
              <a:rPr lang="zh-CN" altLang="en-US" dirty="0"/>
              <a:t>在餐馆营业时执行，临时分配餐桌，调换餐桌</a:t>
            </a:r>
            <a:endParaRPr lang="en-US" altLang="zh-CN" dirty="0"/>
          </a:p>
          <a:p>
            <a:r>
              <a:rPr lang="zh-CN" altLang="en-US" dirty="0"/>
              <a:t>角色分为两组</a:t>
            </a:r>
            <a:endParaRPr lang="en-US" altLang="zh-CN" dirty="0"/>
          </a:p>
          <a:p>
            <a:pPr lvl="1"/>
            <a:r>
              <a:rPr lang="zh-CN" altLang="en-US" dirty="0"/>
              <a:t>接待员</a:t>
            </a:r>
            <a:endParaRPr lang="en-US" altLang="zh-CN" dirty="0"/>
          </a:p>
          <a:p>
            <a:pPr lvl="1"/>
            <a:r>
              <a:rPr lang="zh-CN" altLang="en-US" dirty="0"/>
              <a:t>领班</a:t>
            </a:r>
            <a:endParaRPr lang="en-US" altLang="zh-CN" dirty="0"/>
          </a:p>
          <a:p>
            <a:r>
              <a:rPr lang="zh-CN" altLang="en-US" dirty="0"/>
              <a:t>一个人可以担任多个角色</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 </a:t>
            </a:r>
            <a:r>
              <a:rPr lang="zh-CN" altLang="en-US" dirty="0"/>
              <a:t>描述用例</a:t>
            </a:r>
          </a:p>
        </p:txBody>
      </p:sp>
      <p:sp>
        <p:nvSpPr>
          <p:cNvPr id="3" name="内容占位符 2"/>
          <p:cNvSpPr>
            <a:spLocks noGrp="1"/>
          </p:cNvSpPr>
          <p:nvPr>
            <p:ph idx="1"/>
          </p:nvPr>
        </p:nvSpPr>
        <p:spPr/>
        <p:txBody>
          <a:bodyPr/>
          <a:lstStyle/>
          <a:p>
            <a:r>
              <a:rPr lang="zh-CN" altLang="en-US" dirty="0"/>
              <a:t>用例描述了系统和它用户之间在一定层次上的完整的交互，并得到一个期望目标；</a:t>
            </a:r>
            <a:endParaRPr lang="en-US" altLang="zh-CN" dirty="0"/>
          </a:p>
          <a:p>
            <a:r>
              <a:rPr lang="zh-CN" altLang="en-US" dirty="0"/>
              <a:t>用例的不同的实例会有许多不相同的细节；</a:t>
            </a:r>
            <a:endParaRPr lang="en-US" altLang="zh-CN" dirty="0"/>
          </a:p>
          <a:p>
            <a:r>
              <a:rPr lang="zh-CN" altLang="en-US" dirty="0"/>
              <a:t>用例的实例会发生差错；</a:t>
            </a:r>
            <a:endParaRPr lang="en-US" altLang="zh-CN" dirty="0"/>
          </a:p>
          <a:p>
            <a:r>
              <a:rPr lang="zh-CN" altLang="en-US" dirty="0"/>
              <a:t>事件路径：基本路径事件、可选和例外；</a:t>
            </a:r>
            <a:endParaRPr lang="en-US" altLang="zh-CN" dirty="0"/>
          </a:p>
          <a:p>
            <a:r>
              <a:rPr lang="zh-CN" altLang="en-US" dirty="0"/>
              <a:t>用户界面原型。</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3.3.1 </a:t>
            </a:r>
            <a:r>
              <a:rPr lang="zh-CN" altLang="en-US" dirty="0"/>
              <a:t>用例：记录预约（一）</a:t>
            </a:r>
          </a:p>
        </p:txBody>
      </p:sp>
      <p:sp>
        <p:nvSpPr>
          <p:cNvPr id="3" name="内容占位符 2"/>
          <p:cNvSpPr>
            <a:spLocks noGrp="1"/>
          </p:cNvSpPr>
          <p:nvPr>
            <p:ph idx="1"/>
          </p:nvPr>
        </p:nvSpPr>
        <p:spPr/>
        <p:txBody>
          <a:bodyPr/>
          <a:lstStyle/>
          <a:p>
            <a:r>
              <a:rPr lang="zh-CN" altLang="en-US" dirty="0"/>
              <a:t>基本事件路径</a:t>
            </a:r>
            <a:endParaRPr lang="en-US" altLang="zh-CN" dirty="0"/>
          </a:p>
          <a:p>
            <a:pPr lvl="1"/>
            <a:r>
              <a:rPr lang="zh-CN" altLang="en-US" dirty="0"/>
              <a:t>接待员输入要预约的日期；</a:t>
            </a:r>
            <a:endParaRPr lang="en-US" altLang="zh-CN" dirty="0"/>
          </a:p>
          <a:p>
            <a:pPr lvl="1"/>
            <a:r>
              <a:rPr lang="zh-CN" altLang="en-US" dirty="0"/>
              <a:t>系统显示该日的预约；</a:t>
            </a:r>
            <a:endParaRPr lang="en-US" altLang="zh-CN" dirty="0"/>
          </a:p>
          <a:p>
            <a:pPr lvl="1"/>
            <a:r>
              <a:rPr lang="zh-CN" altLang="en-US" dirty="0"/>
              <a:t>有一张合适的餐桌可以使用，接待员输入顾客的姓名和电话号码、预约的时间、用餐人数和餐桌号</a:t>
            </a:r>
            <a:endParaRPr lang="en-US" altLang="zh-CN" dirty="0"/>
          </a:p>
          <a:p>
            <a:pPr lvl="1"/>
            <a:r>
              <a:rPr lang="zh-CN" altLang="en-US" dirty="0"/>
              <a:t>系统记录并显示预约。</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3.3.1</a:t>
            </a:r>
            <a:r>
              <a:rPr lang="zh-CN" altLang="en-US" dirty="0"/>
              <a:t>用例：记录预约（二）</a:t>
            </a:r>
          </a:p>
        </p:txBody>
      </p:sp>
      <p:sp>
        <p:nvSpPr>
          <p:cNvPr id="3" name="内容占位符 2"/>
          <p:cNvSpPr>
            <a:spLocks noGrp="1"/>
          </p:cNvSpPr>
          <p:nvPr>
            <p:ph idx="1"/>
          </p:nvPr>
        </p:nvSpPr>
        <p:spPr/>
        <p:txBody>
          <a:bodyPr/>
          <a:lstStyle/>
          <a:p>
            <a:r>
              <a:rPr lang="zh-CN" altLang="en-US" dirty="0"/>
              <a:t>记录预约</a:t>
            </a:r>
            <a:r>
              <a:rPr lang="en-US" altLang="zh-CN" dirty="0"/>
              <a:t>—</a:t>
            </a:r>
            <a:r>
              <a:rPr lang="zh-CN" altLang="en-US" dirty="0"/>
              <a:t>没有可用的餐桌（可选）</a:t>
            </a:r>
            <a:endParaRPr lang="en-US" altLang="zh-CN" dirty="0"/>
          </a:p>
          <a:p>
            <a:pPr lvl="1"/>
            <a:r>
              <a:rPr lang="zh-CN" altLang="en-US" dirty="0"/>
              <a:t>接待员输入要求预约的日期</a:t>
            </a:r>
            <a:endParaRPr lang="en-US" altLang="zh-CN" dirty="0"/>
          </a:p>
          <a:p>
            <a:pPr lvl="1"/>
            <a:r>
              <a:rPr lang="zh-CN" altLang="en-US" dirty="0"/>
              <a:t>系统显示该日的预约</a:t>
            </a:r>
            <a:endParaRPr lang="en-US" altLang="zh-CN" dirty="0"/>
          </a:p>
          <a:p>
            <a:pPr lvl="1"/>
            <a:r>
              <a:rPr lang="zh-CN" altLang="en-US" dirty="0"/>
              <a:t>没有合适的餐桌可以使用，用例终止</a:t>
            </a:r>
            <a:endParaRPr lang="en-US" altLang="zh-CN" dirty="0"/>
          </a:p>
          <a:p>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3.3.1</a:t>
            </a:r>
            <a:r>
              <a:rPr lang="zh-CN" altLang="en-US" dirty="0"/>
              <a:t>用例：记录预约（三）</a:t>
            </a:r>
          </a:p>
        </p:txBody>
      </p:sp>
      <p:sp>
        <p:nvSpPr>
          <p:cNvPr id="3" name="内容占位符 2"/>
          <p:cNvSpPr>
            <a:spLocks noGrp="1"/>
          </p:cNvSpPr>
          <p:nvPr>
            <p:ph idx="1"/>
          </p:nvPr>
        </p:nvSpPr>
        <p:spPr/>
        <p:txBody>
          <a:bodyPr/>
          <a:lstStyle/>
          <a:p>
            <a:r>
              <a:rPr lang="zh-CN" altLang="en-US" dirty="0"/>
              <a:t>记录预约</a:t>
            </a:r>
            <a:r>
              <a:rPr lang="en-US" altLang="zh-CN" dirty="0"/>
              <a:t>—</a:t>
            </a:r>
            <a:r>
              <a:rPr lang="zh-CN" altLang="en-US" dirty="0"/>
              <a:t>餐桌过小（例外）</a:t>
            </a:r>
            <a:endParaRPr lang="en-US" altLang="zh-CN" dirty="0"/>
          </a:p>
          <a:p>
            <a:pPr lvl="1"/>
            <a:r>
              <a:rPr lang="zh-CN" altLang="en-US" dirty="0"/>
              <a:t>接待员输入要求预约的日期</a:t>
            </a:r>
            <a:endParaRPr lang="en-US" altLang="zh-CN" dirty="0"/>
          </a:p>
          <a:p>
            <a:pPr lvl="1"/>
            <a:r>
              <a:rPr lang="zh-CN" altLang="en-US" dirty="0"/>
              <a:t>系统显示该日的预约</a:t>
            </a:r>
            <a:endParaRPr lang="en-US" altLang="zh-CN" dirty="0"/>
          </a:p>
          <a:p>
            <a:pPr lvl="1"/>
            <a:r>
              <a:rPr lang="zh-CN" altLang="en-US" dirty="0"/>
              <a:t>接待员输入顾客的姓名和电话，预约的时间，用餐人数和餐桌号</a:t>
            </a:r>
            <a:endParaRPr lang="en-US" altLang="zh-CN" dirty="0"/>
          </a:p>
          <a:p>
            <a:pPr lvl="1"/>
            <a:r>
              <a:rPr lang="zh-CN" altLang="en-US" dirty="0"/>
              <a:t>预约用餐人数大于餐桌能容纳的人数，系统发出警告信息询问用户是否预约</a:t>
            </a:r>
            <a:endParaRPr lang="en-US" altLang="zh-CN" dirty="0"/>
          </a:p>
          <a:p>
            <a:pPr lvl="1"/>
            <a:r>
              <a:rPr lang="zh-CN" altLang="en-US" dirty="0"/>
              <a:t>如果回答否，终止预约</a:t>
            </a:r>
            <a:endParaRPr lang="en-US" altLang="zh-CN" dirty="0"/>
          </a:p>
          <a:p>
            <a:pPr lvl="1"/>
            <a:r>
              <a:rPr lang="zh-CN" altLang="en-US" dirty="0"/>
              <a:t>如果回答是，确定预约，并附有警告标志。</a:t>
            </a:r>
            <a:endParaRPr lang="en-US" altLang="zh-CN" dirty="0"/>
          </a:p>
          <a:p>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3.3.2 </a:t>
            </a:r>
            <a:r>
              <a:rPr lang="zh-CN" altLang="en-US" dirty="0"/>
              <a:t>用户界面原型</a:t>
            </a:r>
          </a:p>
        </p:txBody>
      </p:sp>
      <p:sp>
        <p:nvSpPr>
          <p:cNvPr id="3" name="内容占位符 2"/>
          <p:cNvSpPr>
            <a:spLocks noGrp="1"/>
          </p:cNvSpPr>
          <p:nvPr>
            <p:ph idx="1"/>
          </p:nvPr>
        </p:nvSpPr>
        <p:spPr/>
        <p:txBody>
          <a:bodyPr/>
          <a:lstStyle/>
          <a:p>
            <a:r>
              <a:rPr lang="zh-CN" altLang="en-US" dirty="0"/>
              <a:t>用例重点定义系统和用户之间交互的总体结构，包含过多的用户界面细节会使之不清晰。</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 </a:t>
            </a:r>
            <a:r>
              <a:rPr lang="zh-CN" altLang="en-US" dirty="0"/>
              <a:t>组织用例模型</a:t>
            </a:r>
          </a:p>
        </p:txBody>
      </p:sp>
      <p:sp>
        <p:nvSpPr>
          <p:cNvPr id="3" name="内容占位符 2"/>
          <p:cNvSpPr>
            <a:spLocks noGrp="1"/>
          </p:cNvSpPr>
          <p:nvPr>
            <p:ph idx="1"/>
          </p:nvPr>
        </p:nvSpPr>
        <p:spPr/>
        <p:txBody>
          <a:bodyPr>
            <a:normAutofit fontScale="92500" lnSpcReduction="20000"/>
          </a:bodyPr>
          <a:lstStyle/>
          <a:p>
            <a:r>
              <a:rPr lang="zh-CN" altLang="en-US" dirty="0"/>
              <a:t>餐馆就餐：基本路径</a:t>
            </a:r>
            <a:endParaRPr lang="en-US" altLang="zh-CN" dirty="0"/>
          </a:p>
          <a:p>
            <a:pPr lvl="1"/>
            <a:r>
              <a:rPr lang="zh-CN" altLang="en-US" dirty="0"/>
              <a:t>领班输入当前日期</a:t>
            </a:r>
            <a:endParaRPr lang="en-US" altLang="zh-CN" dirty="0"/>
          </a:p>
          <a:p>
            <a:pPr lvl="1"/>
            <a:r>
              <a:rPr lang="zh-CN" altLang="en-US" dirty="0"/>
              <a:t>系统显示当天的预约</a:t>
            </a:r>
            <a:endParaRPr lang="en-US" altLang="zh-CN" dirty="0"/>
          </a:p>
          <a:p>
            <a:pPr lvl="1"/>
            <a:r>
              <a:rPr lang="zh-CN" altLang="en-US" dirty="0"/>
              <a:t>领班确认一个预约已经到达</a:t>
            </a:r>
            <a:endParaRPr lang="en-US" altLang="zh-CN" dirty="0"/>
          </a:p>
          <a:p>
            <a:pPr lvl="1"/>
            <a:r>
              <a:rPr lang="zh-CN" altLang="en-US" dirty="0"/>
              <a:t>系统对此记录并更新餐桌状态</a:t>
            </a:r>
            <a:endParaRPr lang="en-US" altLang="zh-CN" dirty="0"/>
          </a:p>
          <a:p>
            <a:r>
              <a:rPr lang="zh-CN" altLang="en-US" dirty="0"/>
              <a:t>餐馆就餐：可选路径</a:t>
            </a:r>
            <a:endParaRPr lang="en-US" altLang="zh-CN" dirty="0"/>
          </a:p>
          <a:p>
            <a:pPr lvl="1"/>
            <a:r>
              <a:rPr lang="zh-CN" altLang="en-US" dirty="0"/>
              <a:t>领班输入当前日期</a:t>
            </a:r>
            <a:endParaRPr lang="en-US" altLang="zh-CN" dirty="0"/>
          </a:p>
          <a:p>
            <a:pPr lvl="1"/>
            <a:r>
              <a:rPr lang="zh-CN" altLang="en-US" dirty="0"/>
              <a:t>系统显示当天的预约</a:t>
            </a:r>
            <a:endParaRPr lang="en-US" altLang="zh-CN" dirty="0"/>
          </a:p>
          <a:p>
            <a:pPr lvl="1"/>
            <a:r>
              <a:rPr lang="zh-CN" altLang="en-US" dirty="0"/>
              <a:t>领班输入到达时间，用餐人数和餐桌号，创建一个零时就餐</a:t>
            </a:r>
            <a:endParaRPr lang="en-US" altLang="zh-CN" dirty="0"/>
          </a:p>
          <a:p>
            <a:pPr lvl="1"/>
            <a:r>
              <a:rPr lang="zh-CN" altLang="en-US" dirty="0"/>
              <a:t>系统记录并更新餐桌状态</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3.4.1 </a:t>
            </a:r>
            <a:r>
              <a:rPr lang="zh-CN" altLang="en-US" dirty="0"/>
              <a:t>用例：包含（一）</a:t>
            </a:r>
          </a:p>
        </p:txBody>
      </p:sp>
      <p:sp>
        <p:nvSpPr>
          <p:cNvPr id="3" name="内容占位符 2"/>
          <p:cNvSpPr>
            <a:spLocks noGrp="1"/>
          </p:cNvSpPr>
          <p:nvPr>
            <p:ph idx="1"/>
          </p:nvPr>
        </p:nvSpPr>
        <p:spPr/>
        <p:txBody>
          <a:bodyPr/>
          <a:lstStyle/>
          <a:p>
            <a:r>
              <a:rPr lang="zh-CN" altLang="en-US" dirty="0"/>
              <a:t>已描述的用例事件中，冗余</a:t>
            </a:r>
            <a:endParaRPr lang="en-US" altLang="zh-CN" dirty="0"/>
          </a:p>
          <a:p>
            <a:r>
              <a:rPr lang="zh-CN" altLang="en-US" dirty="0"/>
              <a:t>餐馆经理试图计算某天的服务员是否足够，看那天的预约</a:t>
            </a:r>
            <a:endParaRPr lang="en-US" altLang="zh-CN" dirty="0"/>
          </a:p>
          <a:p>
            <a:r>
              <a:rPr lang="zh-CN" altLang="en-US" dirty="0"/>
              <a:t>当前的模型并不能满足这一点。</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3.4.1</a:t>
            </a:r>
            <a:r>
              <a:rPr lang="zh-CN" altLang="en-US" dirty="0"/>
              <a:t>用例：包含（二）</a:t>
            </a:r>
          </a:p>
        </p:txBody>
      </p:sp>
      <p:sp>
        <p:nvSpPr>
          <p:cNvPr id="3" name="内容占位符 2"/>
          <p:cNvSpPr>
            <a:spLocks noGrp="1"/>
          </p:cNvSpPr>
          <p:nvPr>
            <p:ph idx="1"/>
          </p:nvPr>
        </p:nvSpPr>
        <p:spPr/>
        <p:txBody>
          <a:bodyPr/>
          <a:lstStyle/>
          <a:p>
            <a:r>
              <a:rPr lang="zh-CN" altLang="en-US" dirty="0"/>
              <a:t>显示预约：基本事件</a:t>
            </a:r>
            <a:endParaRPr lang="en-US" altLang="zh-CN" dirty="0"/>
          </a:p>
          <a:p>
            <a:pPr lvl="1"/>
            <a:r>
              <a:rPr lang="zh-CN" altLang="en-US" dirty="0"/>
              <a:t>用户输入一个日期</a:t>
            </a:r>
            <a:endParaRPr lang="en-US" altLang="zh-CN" dirty="0"/>
          </a:p>
          <a:p>
            <a:pPr lvl="1"/>
            <a:r>
              <a:rPr lang="zh-CN" altLang="en-US" dirty="0"/>
              <a:t>系统显示当前的预约</a:t>
            </a:r>
            <a:endParaRPr lang="en-US" altLang="zh-CN" dirty="0"/>
          </a:p>
          <a:p>
            <a:r>
              <a:rPr lang="zh-CN" altLang="en-US" dirty="0"/>
              <a:t>记录预约</a:t>
            </a:r>
            <a:endParaRPr lang="en-US" altLang="zh-CN" dirty="0"/>
          </a:p>
          <a:p>
            <a:pPr lvl="1"/>
            <a:r>
              <a:rPr lang="zh-CN" altLang="en-US" dirty="0"/>
              <a:t>接待员执行“显示预约”用例</a:t>
            </a:r>
            <a:endParaRPr lang="en-US" altLang="zh-CN" dirty="0"/>
          </a:p>
          <a:p>
            <a:pPr lvl="1"/>
            <a:r>
              <a:rPr lang="zh-CN" altLang="en-US" dirty="0"/>
              <a:t>接待员输入顾客姓名和电话号码、预订的时间、用餐人数以及预留的餐桌</a:t>
            </a:r>
            <a:endParaRPr lang="en-US" altLang="zh-CN" dirty="0"/>
          </a:p>
          <a:p>
            <a:pPr lvl="1"/>
            <a:r>
              <a:rPr lang="zh-CN" altLang="en-US" dirty="0"/>
              <a:t>系统记录和显示新预约</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8608" y="1268738"/>
            <a:ext cx="4499992" cy="3146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3.4.2 </a:t>
            </a:r>
            <a:r>
              <a:rPr lang="zh-CN" altLang="en-US" dirty="0"/>
              <a:t>参与者泛化</a:t>
            </a:r>
          </a:p>
        </p:txBody>
      </p:sp>
      <p:sp>
        <p:nvSpPr>
          <p:cNvPr id="3" name="内容占位符 2"/>
          <p:cNvSpPr>
            <a:spLocks noGrp="1"/>
          </p:cNvSpPr>
          <p:nvPr>
            <p:ph idx="1"/>
          </p:nvPr>
        </p:nvSpPr>
        <p:spPr>
          <a:xfrm>
            <a:off x="1981800" y="1600201"/>
            <a:ext cx="8229600" cy="964704"/>
          </a:xfrm>
        </p:spPr>
        <p:txBody>
          <a:bodyPr/>
          <a:lstStyle/>
          <a:p>
            <a:r>
              <a:rPr lang="zh-CN" altLang="en-US" dirty="0"/>
              <a:t>任何人可以查询已有的预约</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08368" y="2060848"/>
            <a:ext cx="4792216" cy="454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3.4.3 </a:t>
            </a:r>
            <a:r>
              <a:rPr lang="zh-CN" altLang="en-US" dirty="0"/>
              <a:t>用例扩展</a:t>
            </a:r>
          </a:p>
        </p:txBody>
      </p:sp>
      <p:sp>
        <p:nvSpPr>
          <p:cNvPr id="3" name="内容占位符 2"/>
          <p:cNvSpPr>
            <a:spLocks noGrp="1"/>
          </p:cNvSpPr>
          <p:nvPr>
            <p:ph idx="1"/>
          </p:nvPr>
        </p:nvSpPr>
        <p:spPr/>
        <p:txBody>
          <a:bodyPr/>
          <a:lstStyle/>
          <a:p>
            <a:r>
              <a:rPr lang="zh-CN" altLang="en-US" dirty="0"/>
              <a:t>记录到达包含记录已预约的和临时顾客</a:t>
            </a:r>
            <a:endParaRPr lang="en-US" altLang="zh-CN" dirty="0"/>
          </a:p>
          <a:p>
            <a:r>
              <a:rPr lang="zh-CN" altLang="en-US" dirty="0"/>
              <a:t>记录临时分配：基本事件</a:t>
            </a:r>
            <a:endParaRPr lang="en-US" altLang="zh-CN" dirty="0"/>
          </a:p>
          <a:p>
            <a:pPr lvl="1"/>
            <a:r>
              <a:rPr lang="zh-CN" altLang="en-US" dirty="0"/>
              <a:t>领班执行“显示预约”用例</a:t>
            </a:r>
            <a:endParaRPr lang="en-US" altLang="zh-CN" dirty="0"/>
          </a:p>
          <a:p>
            <a:pPr lvl="1"/>
            <a:r>
              <a:rPr lang="zh-CN" altLang="en-US" dirty="0"/>
              <a:t>领班输入时间、用餐人数和分配给顾客的餐桌</a:t>
            </a:r>
            <a:endParaRPr lang="en-US" altLang="zh-CN" dirty="0"/>
          </a:p>
          <a:p>
            <a:pPr lvl="1"/>
            <a:r>
              <a:rPr lang="zh-CN" altLang="en-US" dirty="0"/>
              <a:t>系统记录并显示预约</a:t>
            </a:r>
            <a:endParaRPr lang="en-US" altLang="zh-CN" dirty="0"/>
          </a:p>
          <a:p>
            <a:r>
              <a:rPr lang="zh-CN" altLang="en-US" dirty="0"/>
              <a:t>记录临时分配和预约有很大的重合，包含关系不合适。</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57539" y="1600200"/>
            <a:ext cx="5785782" cy="5141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3.5 </a:t>
            </a:r>
            <a:r>
              <a:rPr lang="zh-CN" altLang="en-US" dirty="0"/>
              <a:t>完成用例模型</a:t>
            </a:r>
          </a:p>
        </p:txBody>
      </p:sp>
      <p:sp>
        <p:nvSpPr>
          <p:cNvPr id="3" name="内容占位符 2"/>
          <p:cNvSpPr>
            <a:spLocks noGrp="1"/>
          </p:cNvSpPr>
          <p:nvPr>
            <p:ph idx="1"/>
          </p:nvPr>
        </p:nvSpPr>
        <p:spPr>
          <a:xfrm>
            <a:off x="609600" y="1456690"/>
            <a:ext cx="10974070" cy="4786630"/>
          </a:xfrm>
        </p:spPr>
        <p:txBody>
          <a:bodyPr>
            <a:normAutofit lnSpcReduction="10000"/>
          </a:bodyPr>
          <a:lstStyle/>
          <a:p>
            <a:r>
              <a:rPr lang="zh-CN" altLang="en-US" dirty="0"/>
              <a:t>取消预约</a:t>
            </a:r>
            <a:endParaRPr lang="en-US" altLang="zh-CN" dirty="0"/>
          </a:p>
          <a:p>
            <a:pPr lvl="1"/>
            <a:r>
              <a:rPr lang="zh-CN" altLang="en-US" dirty="0"/>
              <a:t>接待员选择要求的预约</a:t>
            </a:r>
            <a:endParaRPr lang="en-US" altLang="zh-CN" dirty="0"/>
          </a:p>
          <a:p>
            <a:pPr lvl="1"/>
            <a:r>
              <a:rPr lang="zh-CN" altLang="en-US" dirty="0"/>
              <a:t>接待员取消预约</a:t>
            </a:r>
            <a:endParaRPr lang="en-US" altLang="zh-CN" dirty="0"/>
          </a:p>
          <a:p>
            <a:pPr lvl="1"/>
            <a:r>
              <a:rPr lang="zh-CN" altLang="en-US" dirty="0"/>
              <a:t>系统询问接待员确认取消</a:t>
            </a:r>
            <a:endParaRPr lang="en-US" altLang="zh-CN" dirty="0"/>
          </a:p>
          <a:p>
            <a:pPr lvl="1"/>
            <a:r>
              <a:rPr lang="zh-CN" altLang="en-US" dirty="0"/>
              <a:t>接待员回答是，系统记录取消并更新显示</a:t>
            </a:r>
            <a:endParaRPr lang="en-US" altLang="zh-CN" dirty="0"/>
          </a:p>
          <a:p>
            <a:r>
              <a:rPr lang="zh-CN" altLang="en-US" dirty="0"/>
              <a:t>调换餐桌</a:t>
            </a:r>
            <a:endParaRPr lang="en-US" altLang="zh-CN" dirty="0"/>
          </a:p>
          <a:p>
            <a:pPr lvl="1"/>
            <a:r>
              <a:rPr lang="zh-CN" altLang="en-US" dirty="0"/>
              <a:t>领班选择需要的预约</a:t>
            </a:r>
            <a:endParaRPr lang="en-US" altLang="zh-CN" dirty="0"/>
          </a:p>
          <a:p>
            <a:pPr lvl="1"/>
            <a:r>
              <a:rPr lang="zh-CN" altLang="en-US" dirty="0"/>
              <a:t>领班改变该预约的餐桌分配</a:t>
            </a:r>
            <a:endParaRPr lang="en-US" altLang="zh-CN" dirty="0"/>
          </a:p>
          <a:p>
            <a:pPr lvl="1"/>
            <a:r>
              <a:rPr lang="zh-CN" altLang="en-US" dirty="0"/>
              <a:t>系统记录并更新显示</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完整的用例模型</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0215" y="1268760"/>
            <a:ext cx="7438247"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3.6 </a:t>
            </a:r>
            <a:r>
              <a:rPr lang="zh-CN" altLang="en-US" dirty="0"/>
              <a:t>领域建模</a:t>
            </a:r>
          </a:p>
        </p:txBody>
      </p:sp>
      <p:sp>
        <p:nvSpPr>
          <p:cNvPr id="3" name="内容占位符 2"/>
          <p:cNvSpPr>
            <a:spLocks noGrp="1"/>
          </p:cNvSpPr>
          <p:nvPr>
            <p:ph idx="1"/>
          </p:nvPr>
        </p:nvSpPr>
        <p:spPr/>
        <p:txBody>
          <a:bodyPr/>
          <a:lstStyle/>
          <a:p>
            <a:r>
              <a:rPr lang="zh-CN" altLang="en-US" dirty="0"/>
              <a:t>用例使系统开发人员和用户都容易理解，因此要用来自业务领域术语进行描述；</a:t>
            </a:r>
            <a:endParaRPr lang="en-US" altLang="zh-CN" dirty="0"/>
          </a:p>
          <a:p>
            <a:r>
              <a:rPr lang="zh-CN" altLang="en-US" dirty="0"/>
              <a:t>系统的文档化在用例描述中的业务概念；</a:t>
            </a:r>
            <a:endParaRPr lang="en-US" altLang="zh-CN" dirty="0"/>
          </a:p>
          <a:p>
            <a:r>
              <a:rPr lang="zh-CN" altLang="en-US" dirty="0"/>
              <a:t>方法：产生类图，描述最重要的业务概念和他们之间的关系</a:t>
            </a:r>
            <a:endParaRPr lang="en-US" altLang="zh-CN" dirty="0"/>
          </a:p>
          <a:p>
            <a:r>
              <a:rPr lang="zh-CN" altLang="en-US" dirty="0"/>
              <a:t>餐馆系统关键的业务需求：用户预约。</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3.6 </a:t>
            </a:r>
            <a:r>
              <a:rPr lang="zh-CN" altLang="en-US" dirty="0"/>
              <a:t>领域建模</a:t>
            </a:r>
          </a:p>
        </p:txBody>
      </p:sp>
      <p:sp>
        <p:nvSpPr>
          <p:cNvPr id="3" name="内容占位符 2"/>
          <p:cNvSpPr>
            <a:spLocks noGrp="1"/>
          </p:cNvSpPr>
          <p:nvPr>
            <p:ph idx="1"/>
          </p:nvPr>
        </p:nvSpPr>
        <p:spPr>
          <a:xfrm>
            <a:off x="4656440" y="1510562"/>
            <a:ext cx="4042792" cy="4525963"/>
          </a:xfrm>
        </p:spPr>
        <p:txBody>
          <a:bodyPr>
            <a:normAutofit fontScale="92500" lnSpcReduction="20000"/>
          </a:bodyPr>
          <a:lstStyle/>
          <a:p>
            <a:r>
              <a:rPr lang="en-US" altLang="zh-CN" dirty="0"/>
              <a:t>Customer</a:t>
            </a:r>
            <a:r>
              <a:rPr lang="zh-CN" altLang="en-US" dirty="0"/>
              <a:t>的属性</a:t>
            </a:r>
            <a:endParaRPr lang="en-US" altLang="zh-CN" dirty="0"/>
          </a:p>
          <a:p>
            <a:pPr lvl="1"/>
            <a:r>
              <a:rPr lang="zh-CN" altLang="en-US" dirty="0"/>
              <a:t>姓名</a:t>
            </a:r>
            <a:endParaRPr lang="en-US" altLang="zh-CN" dirty="0"/>
          </a:p>
          <a:p>
            <a:pPr lvl="1"/>
            <a:r>
              <a:rPr lang="zh-CN" altLang="en-US" dirty="0"/>
              <a:t>电话</a:t>
            </a:r>
            <a:endParaRPr lang="en-US" altLang="zh-CN" dirty="0"/>
          </a:p>
          <a:p>
            <a:pPr lvl="1"/>
            <a:r>
              <a:rPr lang="zh-CN" altLang="en-US" dirty="0"/>
              <a:t>人数</a:t>
            </a:r>
            <a:endParaRPr lang="en-US" altLang="zh-CN" dirty="0"/>
          </a:p>
          <a:p>
            <a:pPr lvl="1"/>
            <a:r>
              <a:rPr lang="zh-CN" altLang="en-US" dirty="0"/>
              <a:t>需要列出每个人的具体姓名吗？</a:t>
            </a:r>
            <a:endParaRPr lang="en-US" altLang="zh-CN" dirty="0"/>
          </a:p>
          <a:p>
            <a:r>
              <a:rPr lang="en-US" altLang="zh-CN" dirty="0"/>
              <a:t>Reservation </a:t>
            </a:r>
            <a:r>
              <a:rPr lang="zh-CN" altLang="en-US" dirty="0"/>
              <a:t>属性</a:t>
            </a:r>
            <a:endParaRPr lang="en-US" altLang="zh-CN" dirty="0"/>
          </a:p>
          <a:p>
            <a:pPr lvl="1"/>
            <a:r>
              <a:rPr lang="zh-CN" altLang="en-US" dirty="0"/>
              <a:t>桌号</a:t>
            </a:r>
            <a:endParaRPr lang="en-US" altLang="zh-CN" dirty="0"/>
          </a:p>
          <a:p>
            <a:pPr lvl="1"/>
            <a:r>
              <a:rPr lang="zh-CN" altLang="en-US" dirty="0"/>
              <a:t>日期</a:t>
            </a:r>
            <a:endParaRPr lang="en-US" altLang="zh-CN" dirty="0"/>
          </a:p>
          <a:p>
            <a:pPr lvl="1"/>
            <a:r>
              <a:rPr lang="zh-CN" altLang="en-US" dirty="0"/>
              <a:t>时间</a:t>
            </a:r>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0176" y="1556792"/>
            <a:ext cx="1944216" cy="33960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3.6 </a:t>
            </a:r>
            <a:r>
              <a:rPr lang="zh-CN" altLang="en-US" dirty="0"/>
              <a:t>领域建模</a:t>
            </a:r>
          </a:p>
        </p:txBody>
      </p:sp>
      <p:sp>
        <p:nvSpPr>
          <p:cNvPr id="3" name="内容占位符 2"/>
          <p:cNvSpPr>
            <a:spLocks noGrp="1"/>
          </p:cNvSpPr>
          <p:nvPr>
            <p:ph idx="1"/>
          </p:nvPr>
        </p:nvSpPr>
        <p:spPr>
          <a:xfrm>
            <a:off x="5232504" y="1600200"/>
            <a:ext cx="4978896" cy="4525963"/>
          </a:xfrm>
        </p:spPr>
        <p:txBody>
          <a:bodyPr/>
          <a:lstStyle/>
          <a:p>
            <a:r>
              <a:rPr lang="zh-CN" altLang="en-US" dirty="0"/>
              <a:t>是否需要增加一个</a:t>
            </a:r>
            <a:r>
              <a:rPr lang="en-US" altLang="zh-CN" dirty="0"/>
              <a:t>Table</a:t>
            </a:r>
            <a:r>
              <a:rPr lang="zh-CN" altLang="en-US" dirty="0"/>
              <a:t>类</a:t>
            </a:r>
            <a:endParaRPr lang="en-US" altLang="zh-CN" dirty="0"/>
          </a:p>
          <a:p>
            <a:r>
              <a:rPr lang="zh-CN" altLang="en-US" dirty="0"/>
              <a:t>约束描述</a:t>
            </a:r>
            <a:endParaRPr lang="en-US" altLang="zh-CN" dirty="0"/>
          </a:p>
          <a:p>
            <a:r>
              <a:rPr lang="zh-CN" altLang="en-US" dirty="0"/>
              <a:t>没有反映临时就餐的信息</a:t>
            </a:r>
            <a:endParaRPr lang="en-US" altLang="zh-CN" dirty="0"/>
          </a:p>
        </p:txBody>
      </p:sp>
      <p:pic>
        <p:nvPicPr>
          <p:cNvPr id="307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2104" y="1988840"/>
            <a:ext cx="3250201" cy="3068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3.6 </a:t>
            </a:r>
            <a:r>
              <a:rPr lang="zh-CN" altLang="en-US" dirty="0"/>
              <a:t>领域建模</a:t>
            </a:r>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23810" y="1628805"/>
            <a:ext cx="7314511" cy="3960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3792344" y="5732539"/>
            <a:ext cx="4450080" cy="521970"/>
          </a:xfrm>
          <a:prstGeom prst="rect">
            <a:avLst/>
          </a:prstGeom>
          <a:noFill/>
        </p:spPr>
        <p:txBody>
          <a:bodyPr wrap="none" rtlCol="0">
            <a:spAutoFit/>
          </a:bodyPr>
          <a:lstStyle/>
          <a:p>
            <a:r>
              <a:rPr lang="zh-CN" altLang="en-US" sz="2800" dirty="0"/>
              <a:t>还有什么可以增加的属性</a:t>
            </a:r>
            <a:r>
              <a:rPr lang="en-US" altLang="zh-CN" sz="2800" dirty="0"/>
              <a:t>…</a:t>
            </a:r>
            <a:endParaRPr lang="zh-CN" altLang="en-US" sz="2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3.7 </a:t>
            </a:r>
            <a:r>
              <a:rPr lang="zh-CN" altLang="en-US" dirty="0"/>
              <a:t>术语表</a:t>
            </a:r>
          </a:p>
        </p:txBody>
      </p:sp>
      <p:sp>
        <p:nvSpPr>
          <p:cNvPr id="3" name="内容占位符 2"/>
          <p:cNvSpPr>
            <a:spLocks noGrp="1"/>
          </p:cNvSpPr>
          <p:nvPr>
            <p:ph idx="1"/>
          </p:nvPr>
        </p:nvSpPr>
        <p:spPr/>
        <p:txBody>
          <a:bodyPr/>
          <a:lstStyle/>
          <a:p>
            <a:r>
              <a:rPr lang="zh-CN" altLang="en-US" dirty="0"/>
              <a:t>预约</a:t>
            </a:r>
            <a:endParaRPr lang="en-US" altLang="zh-CN" dirty="0"/>
          </a:p>
          <a:p>
            <a:r>
              <a:rPr lang="zh-CN" altLang="en-US" dirty="0"/>
              <a:t>用餐人数</a:t>
            </a:r>
            <a:endParaRPr lang="en-US" altLang="zh-CN" dirty="0"/>
          </a:p>
          <a:p>
            <a:r>
              <a:rPr lang="zh-CN" altLang="en-US" dirty="0"/>
              <a:t>顾客</a:t>
            </a:r>
            <a:endParaRPr lang="en-US" altLang="zh-CN" dirty="0"/>
          </a:p>
          <a:p>
            <a:r>
              <a:rPr lang="zh-CN" altLang="en-US" dirty="0"/>
              <a:t>用餐者</a:t>
            </a:r>
            <a:endParaRPr lang="en-US" altLang="zh-CN" dirty="0"/>
          </a:p>
          <a:p>
            <a:r>
              <a:rPr lang="zh-CN" altLang="en-US" dirty="0"/>
              <a:t>位子</a:t>
            </a:r>
            <a:endParaRPr lang="en-US" altLang="zh-CN" dirty="0"/>
          </a:p>
          <a:p>
            <a:r>
              <a:rPr lang="zh-CN" altLang="en-US" dirty="0"/>
              <a:t>预定</a:t>
            </a:r>
            <a:endParaRPr lang="en-US" altLang="zh-CN" dirty="0"/>
          </a:p>
          <a:p>
            <a:r>
              <a:rPr lang="zh-CN" altLang="en-US" dirty="0"/>
              <a:t>未预约</a:t>
            </a:r>
            <a:endParaRPr lang="en-US" altLang="zh-CN"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t>4</a:t>
            </a:r>
            <a:r>
              <a:rPr lang="zh-CN" altLang="en-US" dirty="0"/>
              <a:t>：面向对象分析</a:t>
            </a:r>
          </a:p>
        </p:txBody>
      </p:sp>
      <p:sp>
        <p:nvSpPr>
          <p:cNvPr id="3" name="副标题 2"/>
          <p:cNvSpPr>
            <a:spLocks noGrp="1"/>
          </p:cNvSpPr>
          <p:nvPr>
            <p:ph type="subTitle" idx="1"/>
          </p:nvPr>
        </p:nvSpPr>
        <p:spPr/>
        <p:txBody>
          <a:bodyPr/>
          <a:lstStyle/>
          <a:p>
            <a:endParaRPr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solidFill>
                  <a:srgbClr val="A50021"/>
                </a:solidFill>
                <a:latin typeface="Times New Roman" panose="02020503050405090304" pitchFamily="18" charset="0"/>
                <a:ea typeface="微软简魏碑" pitchFamily="2" charset="-122"/>
                <a:sym typeface="+mn-ea"/>
              </a:rPr>
              <a:t>4.1 </a:t>
            </a:r>
            <a:r>
              <a:rPr lang="zh-CN" altLang="en-US" b="1" dirty="0">
                <a:solidFill>
                  <a:srgbClr val="A50021"/>
                </a:solidFill>
                <a:latin typeface="Times New Roman" panose="02020503050405090304" pitchFamily="18" charset="0"/>
                <a:ea typeface="微软简魏碑" pitchFamily="2" charset="-122"/>
                <a:sym typeface="+mn-ea"/>
              </a:rPr>
              <a:t>面向对象的分析目标</a:t>
            </a:r>
          </a:p>
        </p:txBody>
      </p:sp>
      <p:sp>
        <p:nvSpPr>
          <p:cNvPr id="3" name="内容占位符 2"/>
          <p:cNvSpPr>
            <a:spLocks noGrp="1"/>
          </p:cNvSpPr>
          <p:nvPr>
            <p:ph idx="1"/>
          </p:nvPr>
        </p:nvSpPr>
        <p:spPr>
          <a:xfrm>
            <a:off x="609600" y="1600200"/>
            <a:ext cx="10974070" cy="2761615"/>
          </a:xfrm>
        </p:spPr>
        <p:txBody>
          <a:bodyPr/>
          <a:lstStyle/>
          <a:p>
            <a:pPr marR="0" algn="l" defTabSz="914400" eaLnBrk="0" hangingPunct="0">
              <a:buClrTx/>
              <a:buSzTx/>
              <a:buFont typeface="Wingdings" panose="05000000000000000000" charset="0"/>
              <a:buChar char=""/>
              <a:defRPr/>
            </a:pPr>
            <a:r>
              <a:rPr kumimoji="1" lang="zh-CN" altLang="en-US" b="1" noProof="0" dirty="0">
                <a:latin typeface="微软简魏碑" pitchFamily="2" charset="-122"/>
                <a:ea typeface="微软简魏碑" pitchFamily="2" charset="-122"/>
                <a:sym typeface="+mn-ea"/>
              </a:rPr>
              <a:t>运用面向对象方法，对问题域和系统责任进行分析和理解，找出描述问题域及系统责任所需的</a:t>
            </a:r>
            <a:r>
              <a:rPr kumimoji="1" lang="zh-CN" altLang="en-US" b="1" noProof="0" dirty="0">
                <a:solidFill>
                  <a:srgbClr val="FF0000"/>
                </a:solidFill>
                <a:latin typeface="微软简魏碑" pitchFamily="2" charset="-122"/>
                <a:ea typeface="微软简魏碑" pitchFamily="2" charset="-122"/>
                <a:sym typeface="+mn-ea"/>
              </a:rPr>
              <a:t>对象</a:t>
            </a:r>
            <a:r>
              <a:rPr kumimoji="1" lang="zh-CN" altLang="en-US" b="1" noProof="0" dirty="0">
                <a:latin typeface="微软简魏碑" pitchFamily="2" charset="-122"/>
                <a:ea typeface="微软简魏碑" pitchFamily="2" charset="-122"/>
                <a:sym typeface="+mn-ea"/>
              </a:rPr>
              <a:t>，定义对象的</a:t>
            </a:r>
            <a:r>
              <a:rPr kumimoji="1" lang="zh-CN" altLang="en-US" b="1" noProof="0" dirty="0">
                <a:solidFill>
                  <a:srgbClr val="FF0000"/>
                </a:solidFill>
                <a:latin typeface="微软简魏碑" pitchFamily="2" charset="-122"/>
                <a:ea typeface="微软简魏碑" pitchFamily="2" charset="-122"/>
                <a:sym typeface="+mn-ea"/>
              </a:rPr>
              <a:t>属性、操作</a:t>
            </a:r>
            <a:r>
              <a:rPr kumimoji="1" lang="zh-CN" altLang="en-US" b="1" noProof="0" dirty="0">
                <a:latin typeface="微软简魏碑" pitchFamily="2" charset="-122"/>
                <a:ea typeface="微软简魏碑" pitchFamily="2" charset="-122"/>
                <a:sym typeface="+mn-ea"/>
              </a:rPr>
              <a:t>以及它们之间的</a:t>
            </a:r>
            <a:r>
              <a:rPr kumimoji="1" lang="zh-CN" altLang="en-US" b="1" noProof="0" dirty="0">
                <a:solidFill>
                  <a:srgbClr val="FF0000"/>
                </a:solidFill>
                <a:latin typeface="微软简魏碑" pitchFamily="2" charset="-122"/>
                <a:ea typeface="微软简魏碑" pitchFamily="2" charset="-122"/>
                <a:sym typeface="+mn-ea"/>
              </a:rPr>
              <a:t>关系</a:t>
            </a:r>
            <a:r>
              <a:rPr kumimoji="1" lang="zh-CN" altLang="en-US" b="1" noProof="0" dirty="0">
                <a:latin typeface="微软简魏碑" pitchFamily="2" charset="-122"/>
                <a:ea typeface="微软简魏碑" pitchFamily="2" charset="-122"/>
                <a:sym typeface="+mn-ea"/>
              </a:rPr>
              <a:t>。</a:t>
            </a:r>
            <a:endParaRPr kumimoji="1" lang="zh-CN" altLang="en-US" b="1" kern="1200" cap="none" spc="0" normalizeH="0" baseline="0" noProof="0" dirty="0">
              <a:solidFill>
                <a:srgbClr val="FF0000"/>
              </a:solidFill>
              <a:latin typeface="微软简魏碑" pitchFamily="2" charset="-122"/>
              <a:ea typeface="微软简魏碑" pitchFamily="2" charset="-122"/>
              <a:cs typeface="+mn-cs"/>
            </a:endParaRPr>
          </a:p>
          <a:p>
            <a:pPr marR="0" algn="l" defTabSz="914400" eaLnBrk="0" hangingPunct="0">
              <a:buClrTx/>
              <a:buSzTx/>
              <a:buFont typeface="Wingdings" panose="05000000000000000000" charset="0"/>
              <a:buChar char=""/>
              <a:defRPr/>
            </a:pPr>
            <a:r>
              <a:rPr kumimoji="1" lang="zh-CN" altLang="en-US" b="1" noProof="0" dirty="0">
                <a:solidFill>
                  <a:schemeClr val="accent2"/>
                </a:solidFill>
                <a:effectLst>
                  <a:outerShdw blurRad="38100" dist="38100" dir="2700000" algn="tl">
                    <a:srgbClr val="000000"/>
                  </a:outerShdw>
                </a:effectLst>
                <a:latin typeface="微软简魏碑" pitchFamily="2" charset="-122"/>
                <a:ea typeface="微软简魏碑" pitchFamily="2" charset="-122"/>
                <a:sym typeface="+mn-ea"/>
              </a:rPr>
              <a:t>目标</a:t>
            </a:r>
            <a:r>
              <a:rPr kumimoji="1" lang="zh-CN" altLang="en-US" b="1" noProof="0" dirty="0">
                <a:solidFill>
                  <a:srgbClr val="FF0000"/>
                </a:solidFill>
                <a:latin typeface="微软简魏碑" pitchFamily="2" charset="-122"/>
                <a:ea typeface="微软简魏碑" pitchFamily="2" charset="-122"/>
                <a:sym typeface="+mn-ea"/>
              </a:rPr>
              <a:t>：</a:t>
            </a:r>
            <a:r>
              <a:rPr kumimoji="1" lang="zh-CN" altLang="en-US" b="1" noProof="0" dirty="0">
                <a:latin typeface="微软简魏碑" pitchFamily="2" charset="-122"/>
                <a:ea typeface="微软简魏碑" pitchFamily="2" charset="-122"/>
                <a:sym typeface="+mn-ea"/>
              </a:rPr>
              <a:t>建立一个符合问题域、满足</a:t>
            </a:r>
            <a:r>
              <a:rPr kumimoji="1" lang="zh-CN" altLang="en-US" b="1" noProof="0" dirty="0">
                <a:solidFill>
                  <a:schemeClr val="accent2"/>
                </a:solidFill>
                <a:latin typeface="微软简魏碑" pitchFamily="2" charset="-122"/>
                <a:ea typeface="微软简魏碑" pitchFamily="2" charset="-122"/>
                <a:sym typeface="+mn-ea"/>
              </a:rPr>
              <a:t>用户需求</a:t>
            </a:r>
            <a:r>
              <a:rPr kumimoji="1" lang="zh-CN" altLang="en-US" b="1" noProof="0" dirty="0">
                <a:latin typeface="微软简魏碑" pitchFamily="2" charset="-122"/>
                <a:ea typeface="微软简魏碑" pitchFamily="2" charset="-122"/>
                <a:sym typeface="+mn-ea"/>
              </a:rPr>
              <a:t>的</a:t>
            </a:r>
            <a:r>
              <a:rPr kumimoji="1" lang="en-US" altLang="zh-CN" b="1" noProof="0" dirty="0">
                <a:latin typeface="微软简魏碑" pitchFamily="2" charset="-122"/>
                <a:ea typeface="微软简魏碑" pitchFamily="2" charset="-122"/>
                <a:sym typeface="+mn-ea"/>
              </a:rPr>
              <a:t>OOA</a:t>
            </a:r>
            <a:r>
              <a:rPr kumimoji="1" lang="zh-CN" altLang="en-US" b="1" noProof="0" dirty="0">
                <a:latin typeface="微软简魏碑" pitchFamily="2" charset="-122"/>
                <a:ea typeface="微软简魏碑" pitchFamily="2" charset="-122"/>
                <a:sym typeface="+mn-ea"/>
              </a:rPr>
              <a:t>模型。</a:t>
            </a:r>
            <a:endParaRPr lang="zh-CN"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38"/>
          <p:cNvGrpSpPr/>
          <p:nvPr/>
        </p:nvGrpSpPr>
        <p:grpSpPr>
          <a:xfrm>
            <a:off x="7177405" y="5402580"/>
            <a:ext cx="2863850" cy="1219200"/>
            <a:chOff x="3658" y="3284"/>
            <a:chExt cx="1804" cy="768"/>
          </a:xfrm>
        </p:grpSpPr>
        <p:sp>
          <p:nvSpPr>
            <p:cNvPr id="3" name="Text Box 20"/>
            <p:cNvSpPr txBox="1"/>
            <p:nvPr>
              <p:custDataLst>
                <p:tags r:id="rId22"/>
              </p:custDataLst>
            </p:nvPr>
          </p:nvSpPr>
          <p:spPr>
            <a:xfrm>
              <a:off x="4790" y="3284"/>
              <a:ext cx="672" cy="768"/>
            </a:xfrm>
            <a:prstGeom prst="rect">
              <a:avLst/>
            </a:prstGeom>
            <a:solidFill>
              <a:srgbClr val="DA8CA6"/>
            </a:solidFill>
            <a:ln w="9525">
              <a:noFill/>
            </a:ln>
          </p:spPr>
          <p:txBody>
            <a:bodyPr lIns="0" tIns="0" rIns="0" bIns="0">
              <a:spAutoFit/>
            </a:bodyPr>
            <a:lstStyle/>
            <a:p>
              <a:pPr algn="l" eaLnBrk="0" hangingPunct="0"/>
              <a:r>
                <a:rPr lang="zh-CN" altLang="en-US" sz="2000" b="1" dirty="0">
                  <a:latin typeface="楷体_GB2312" pitchFamily="49" charset="-122"/>
                  <a:ea typeface="楷体_GB2312" pitchFamily="49" charset="-122"/>
                </a:rPr>
                <a:t>对模型中的所有元素进行详细说明。</a:t>
              </a:r>
            </a:p>
          </p:txBody>
        </p:sp>
        <p:sp>
          <p:nvSpPr>
            <p:cNvPr id="4" name="Line 21"/>
            <p:cNvSpPr/>
            <p:nvPr>
              <p:custDataLst>
                <p:tags r:id="rId23"/>
              </p:custDataLst>
            </p:nvPr>
          </p:nvSpPr>
          <p:spPr>
            <a:xfrm flipH="1" flipV="1">
              <a:off x="3658" y="3629"/>
              <a:ext cx="1113" cy="288"/>
            </a:xfrm>
            <a:prstGeom prst="line">
              <a:avLst/>
            </a:prstGeom>
            <a:ln w="9525" cap="flat" cmpd="sng">
              <a:solidFill>
                <a:srgbClr val="0000CC"/>
              </a:solidFill>
              <a:prstDash val="solid"/>
              <a:headEnd type="none" w="med" len="med"/>
              <a:tailEnd type="triangle" w="med" len="med"/>
            </a:ln>
          </p:spPr>
        </p:sp>
      </p:grpSp>
      <p:grpSp>
        <p:nvGrpSpPr>
          <p:cNvPr id="5" name="Group 32"/>
          <p:cNvGrpSpPr/>
          <p:nvPr/>
        </p:nvGrpSpPr>
        <p:grpSpPr>
          <a:xfrm>
            <a:off x="1511618" y="376555"/>
            <a:ext cx="7372350" cy="5557838"/>
            <a:chOff x="89" y="118"/>
            <a:chExt cx="4644" cy="3501"/>
          </a:xfrm>
        </p:grpSpPr>
        <p:sp>
          <p:nvSpPr>
            <p:cNvPr id="6" name="Rectangle 2"/>
            <p:cNvSpPr/>
            <p:nvPr>
              <p:custDataLst>
                <p:tags r:id="rId13"/>
              </p:custDataLst>
            </p:nvPr>
          </p:nvSpPr>
          <p:spPr>
            <a:xfrm>
              <a:off x="2025" y="1208"/>
              <a:ext cx="1933" cy="1912"/>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503050405090304" pitchFamily="18" charset="0"/>
              </a:endParaRPr>
            </a:p>
          </p:txBody>
        </p:sp>
        <p:sp>
          <p:nvSpPr>
            <p:cNvPr id="7" name="AutoShape 3"/>
            <p:cNvSpPr/>
            <p:nvPr>
              <p:custDataLst>
                <p:tags r:id="rId14"/>
              </p:custDataLst>
            </p:nvPr>
          </p:nvSpPr>
          <p:spPr>
            <a:xfrm>
              <a:off x="2150" y="2581"/>
              <a:ext cx="1620" cy="325"/>
            </a:xfrm>
            <a:prstGeom prst="parallelogram">
              <a:avLst>
                <a:gd name="adj" fmla="val 124590"/>
              </a:avLst>
            </a:prstGeom>
            <a:gradFill rotWithShape="0">
              <a:gsLst>
                <a:gs pos="0">
                  <a:srgbClr val="007676"/>
                </a:gs>
                <a:gs pos="50000">
                  <a:srgbClr val="00FFFF"/>
                </a:gs>
                <a:gs pos="100000">
                  <a:srgbClr val="007676"/>
                </a:gs>
              </a:gsLst>
              <a:lin ang="2700000" scaled="1"/>
              <a:tileRect/>
            </a:gradFill>
            <a:ln w="12700"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lIns="90488" tIns="44450" rIns="90488" bIns="44450" anchor="ctr" anchorCtr="0"/>
            <a:lstStyle/>
            <a:p>
              <a:pPr eaLnBrk="0" hangingPunct="0"/>
              <a:r>
                <a:rPr lang="zh-CN" altLang="en-US" sz="2000" b="1" dirty="0">
                  <a:latin typeface="宋体" pitchFamily="2" charset="-122"/>
                </a:rPr>
                <a:t>关系层</a:t>
              </a:r>
            </a:p>
          </p:txBody>
        </p:sp>
        <p:sp>
          <p:nvSpPr>
            <p:cNvPr id="8" name="AutoShape 4"/>
            <p:cNvSpPr/>
            <p:nvPr>
              <p:custDataLst>
                <p:tags r:id="rId15"/>
              </p:custDataLst>
            </p:nvPr>
          </p:nvSpPr>
          <p:spPr>
            <a:xfrm>
              <a:off x="2150" y="2108"/>
              <a:ext cx="1620" cy="326"/>
            </a:xfrm>
            <a:prstGeom prst="parallelogram">
              <a:avLst>
                <a:gd name="adj" fmla="val 124208"/>
              </a:avLst>
            </a:prstGeom>
            <a:gradFill rotWithShape="0">
              <a:gsLst>
                <a:gs pos="0">
                  <a:srgbClr val="007676"/>
                </a:gs>
                <a:gs pos="50000">
                  <a:srgbClr val="00FFFF"/>
                </a:gs>
                <a:gs pos="100000">
                  <a:srgbClr val="007676"/>
                </a:gs>
              </a:gsLst>
              <a:lin ang="2700000" scaled="1"/>
              <a:tileRect/>
            </a:gradFill>
            <a:ln w="12700"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lIns="90488" tIns="44450" rIns="90488" bIns="44450" anchor="ctr" anchorCtr="0"/>
            <a:lstStyle/>
            <a:p>
              <a:pPr eaLnBrk="0" hangingPunct="0"/>
              <a:r>
                <a:rPr lang="zh-CN" altLang="en-US" sz="2000" b="1" dirty="0">
                  <a:latin typeface="宋体" pitchFamily="2" charset="-122"/>
                </a:rPr>
                <a:t>特征层</a:t>
              </a:r>
            </a:p>
          </p:txBody>
        </p:sp>
        <p:sp>
          <p:nvSpPr>
            <p:cNvPr id="9" name="AutoShape 5"/>
            <p:cNvSpPr/>
            <p:nvPr>
              <p:custDataLst>
                <p:tags r:id="rId16"/>
              </p:custDataLst>
            </p:nvPr>
          </p:nvSpPr>
          <p:spPr>
            <a:xfrm>
              <a:off x="2150" y="1636"/>
              <a:ext cx="1620" cy="325"/>
            </a:xfrm>
            <a:prstGeom prst="parallelogram">
              <a:avLst>
                <a:gd name="adj" fmla="val 124590"/>
              </a:avLst>
            </a:prstGeom>
            <a:gradFill rotWithShape="0">
              <a:gsLst>
                <a:gs pos="0">
                  <a:srgbClr val="007676"/>
                </a:gs>
                <a:gs pos="50000">
                  <a:srgbClr val="00FFFF"/>
                </a:gs>
                <a:gs pos="100000">
                  <a:srgbClr val="007676"/>
                </a:gs>
              </a:gsLst>
              <a:lin ang="2700000" scaled="1"/>
              <a:tileRect/>
            </a:gradFill>
            <a:ln w="12700"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lIns="90488" tIns="44450" rIns="90488" bIns="44450" anchor="ctr" anchorCtr="0"/>
            <a:lstStyle/>
            <a:p>
              <a:pPr eaLnBrk="0" hangingPunct="0"/>
              <a:r>
                <a:rPr lang="zh-CN" altLang="en-US" sz="2000" b="1" dirty="0">
                  <a:latin typeface="宋体" pitchFamily="2" charset="-122"/>
                </a:rPr>
                <a:t>对象层</a:t>
              </a:r>
            </a:p>
          </p:txBody>
        </p:sp>
        <p:sp>
          <p:nvSpPr>
            <p:cNvPr id="10" name="Rectangle 6"/>
            <p:cNvSpPr/>
            <p:nvPr>
              <p:custDataLst>
                <p:tags r:id="rId17"/>
              </p:custDataLst>
            </p:nvPr>
          </p:nvSpPr>
          <p:spPr>
            <a:xfrm>
              <a:off x="2331" y="1253"/>
              <a:ext cx="1242" cy="248"/>
            </a:xfrm>
            <a:prstGeom prst="rect">
              <a:avLst/>
            </a:prstGeom>
            <a:noFill/>
            <a:ln w="12700">
              <a:noFill/>
            </a:ln>
          </p:spPr>
          <p:txBody>
            <a:bodyPr wrap="none" lIns="90488" tIns="44450" rIns="90488" bIns="44450">
              <a:spAutoFit/>
            </a:bodyPr>
            <a:lstStyle/>
            <a:p>
              <a:pPr algn="l" eaLnBrk="0" hangingPunct="0"/>
              <a:r>
                <a:rPr lang="zh-CN" altLang="en-US" sz="2000" b="1" dirty="0">
                  <a:solidFill>
                    <a:srgbClr val="FF0000"/>
                  </a:solidFill>
                  <a:latin typeface="宋体" pitchFamily="2" charset="-122"/>
                </a:rPr>
                <a:t>基本模型</a:t>
              </a:r>
              <a:r>
                <a:rPr lang="en-US" altLang="zh-CN" sz="2000" b="1" dirty="0">
                  <a:solidFill>
                    <a:srgbClr val="FF0000"/>
                  </a:solidFill>
                  <a:latin typeface="宋体" pitchFamily="2" charset="-122"/>
                </a:rPr>
                <a:t>(</a:t>
              </a:r>
              <a:r>
                <a:rPr lang="zh-CN" altLang="en-US" sz="2000" b="1" dirty="0">
                  <a:solidFill>
                    <a:srgbClr val="FF0000"/>
                  </a:solidFill>
                  <a:latin typeface="宋体" pitchFamily="2" charset="-122"/>
                </a:rPr>
                <a:t>类图</a:t>
              </a:r>
              <a:r>
                <a:rPr lang="en-US" altLang="zh-CN" sz="2000" b="1" dirty="0">
                  <a:solidFill>
                    <a:srgbClr val="FF0000"/>
                  </a:solidFill>
                  <a:latin typeface="宋体" pitchFamily="2" charset="-122"/>
                </a:rPr>
                <a:t>)</a:t>
              </a:r>
            </a:p>
          </p:txBody>
        </p:sp>
        <p:sp>
          <p:nvSpPr>
            <p:cNvPr id="11" name="Rectangle 7"/>
            <p:cNvSpPr/>
            <p:nvPr>
              <p:custDataLst>
                <p:tags r:id="rId18"/>
              </p:custDataLst>
            </p:nvPr>
          </p:nvSpPr>
          <p:spPr>
            <a:xfrm>
              <a:off x="1238" y="1208"/>
              <a:ext cx="651" cy="1912"/>
            </a:xfrm>
            <a:prstGeom prst="rect">
              <a:avLst/>
            </a:prstGeom>
            <a:solidFill>
              <a:schemeClr val="bg1"/>
            </a:solidFill>
            <a:ln w="12700" cap="flat" cmpd="sng">
              <a:solidFill>
                <a:schemeClr val="tx1"/>
              </a:solidFill>
              <a:prstDash val="solid"/>
              <a:miter/>
              <a:headEnd type="none" w="med" len="med"/>
              <a:tailEnd type="none" w="med" len="med"/>
            </a:ln>
          </p:spPr>
          <p:txBody>
            <a:bodyPr wrap="none" lIns="90488" tIns="44450" rIns="90488" bIns="44450" anchor="ctr" anchorCtr="0"/>
            <a:lstStyle/>
            <a:p>
              <a:pPr eaLnBrk="0" hangingPunct="0"/>
              <a:r>
                <a:rPr lang="zh-CN" altLang="en-US" sz="2000" b="1" dirty="0">
                  <a:solidFill>
                    <a:srgbClr val="FF0000"/>
                  </a:solidFill>
                  <a:latin typeface="Times New Roman" panose="02020503050405090304" pitchFamily="18" charset="0"/>
                </a:rPr>
                <a:t>需求模型</a:t>
              </a:r>
            </a:p>
            <a:p>
              <a:pPr eaLnBrk="0" hangingPunct="0"/>
              <a:endParaRPr lang="zh-CN" altLang="en-US" sz="2000" b="1" dirty="0">
                <a:latin typeface="Times New Roman" panose="02020503050405090304" pitchFamily="18" charset="0"/>
              </a:endParaRPr>
            </a:p>
            <a:p>
              <a:pPr eaLnBrk="0" hangingPunct="0"/>
              <a:endParaRPr lang="zh-CN" altLang="en-US" sz="2000" b="1" dirty="0">
                <a:latin typeface="Times New Roman" panose="02020503050405090304" pitchFamily="18" charset="0"/>
              </a:endParaRPr>
            </a:p>
            <a:p>
              <a:pPr eaLnBrk="0" hangingPunct="0"/>
              <a:endParaRPr lang="zh-CN" altLang="en-US" sz="2000" b="1" dirty="0">
                <a:latin typeface="Times New Roman" panose="02020503050405090304" pitchFamily="18" charset="0"/>
              </a:endParaRPr>
            </a:p>
            <a:p>
              <a:pPr eaLnBrk="0" hangingPunct="0"/>
              <a:endParaRPr lang="zh-CN" altLang="en-US" sz="2000" b="1" dirty="0">
                <a:latin typeface="Times New Roman" panose="02020503050405090304" pitchFamily="18" charset="0"/>
              </a:endParaRPr>
            </a:p>
            <a:p>
              <a:pPr eaLnBrk="0" hangingPunct="0"/>
              <a:endParaRPr lang="zh-CN" altLang="en-US" sz="2000" b="1" dirty="0">
                <a:latin typeface="Times New Roman" panose="02020503050405090304" pitchFamily="18" charset="0"/>
              </a:endParaRPr>
            </a:p>
            <a:p>
              <a:pPr eaLnBrk="0" hangingPunct="0"/>
              <a:r>
                <a:rPr lang="zh-CN" altLang="en-US" sz="2000" b="1" dirty="0">
                  <a:latin typeface="Times New Roman" panose="02020503050405090304" pitchFamily="18" charset="0"/>
                </a:rPr>
                <a:t>用况图</a:t>
              </a:r>
            </a:p>
          </p:txBody>
        </p:sp>
        <p:sp>
          <p:nvSpPr>
            <p:cNvPr id="12" name="Rectangle 8"/>
            <p:cNvSpPr/>
            <p:nvPr>
              <p:custDataLst>
                <p:tags r:id="rId19"/>
              </p:custDataLst>
            </p:nvPr>
          </p:nvSpPr>
          <p:spPr>
            <a:xfrm>
              <a:off x="4094" y="1208"/>
              <a:ext cx="639" cy="1912"/>
            </a:xfrm>
            <a:prstGeom prst="rect">
              <a:avLst/>
            </a:prstGeom>
            <a:solidFill>
              <a:schemeClr val="bg1"/>
            </a:solidFill>
            <a:ln w="12700" cap="flat" cmpd="sng">
              <a:solidFill>
                <a:schemeClr val="tx1"/>
              </a:solidFill>
              <a:prstDash val="solid"/>
              <a:miter/>
              <a:headEnd type="none" w="med" len="med"/>
              <a:tailEnd type="none" w="med" len="med"/>
            </a:ln>
          </p:spPr>
          <p:txBody>
            <a:bodyPr wrap="none" lIns="90488" tIns="44450" rIns="90488" bIns="44450" anchor="ctr" anchorCtr="0"/>
            <a:lstStyle/>
            <a:p>
              <a:r>
                <a:rPr lang="zh-CN" altLang="en-US" sz="2000" b="1" dirty="0">
                  <a:solidFill>
                    <a:srgbClr val="FF0000"/>
                  </a:solidFill>
                  <a:latin typeface="Times New Roman" panose="02020503050405090304" pitchFamily="18" charset="0"/>
                </a:rPr>
                <a:t>辅助模型</a:t>
              </a:r>
            </a:p>
            <a:p>
              <a:endParaRPr lang="zh-CN" altLang="en-US" sz="2000" b="1" dirty="0">
                <a:solidFill>
                  <a:srgbClr val="FF0000"/>
                </a:solidFill>
                <a:latin typeface="Times New Roman" panose="02020503050405090304" pitchFamily="18" charset="0"/>
              </a:endParaRPr>
            </a:p>
            <a:p>
              <a:r>
                <a:rPr lang="zh-CN" altLang="en-US" sz="2000" b="1" dirty="0">
                  <a:latin typeface="Times New Roman" panose="02020503050405090304" pitchFamily="18" charset="0"/>
                </a:rPr>
                <a:t>交互图</a:t>
              </a:r>
            </a:p>
            <a:p>
              <a:r>
                <a:rPr lang="zh-CN" altLang="en-US" sz="2000" b="1" dirty="0">
                  <a:latin typeface="Times New Roman" panose="02020503050405090304" pitchFamily="18" charset="0"/>
                </a:rPr>
                <a:t>活动图</a:t>
              </a:r>
            </a:p>
            <a:p>
              <a:r>
                <a:rPr lang="zh-CN" altLang="en-US" sz="2000" b="1" dirty="0">
                  <a:latin typeface="Times New Roman" panose="02020503050405090304" pitchFamily="18" charset="0"/>
                </a:rPr>
                <a:t>状态图</a:t>
              </a:r>
              <a:endParaRPr lang="zh-CN" altLang="en-US" sz="2000" b="1" dirty="0">
                <a:latin typeface="宋体" pitchFamily="2" charset="-122"/>
              </a:endParaRPr>
            </a:p>
            <a:p>
              <a:pPr eaLnBrk="0" hangingPunct="0"/>
              <a:r>
                <a:rPr lang="zh-CN" altLang="en-US" sz="2000" b="1" dirty="0">
                  <a:latin typeface="宋体" pitchFamily="2" charset="-122"/>
                </a:rPr>
                <a:t>包图</a:t>
              </a:r>
            </a:p>
            <a:p>
              <a:pPr eaLnBrk="0" hangingPunct="0"/>
              <a:r>
                <a:rPr lang="en-US" altLang="zh-CN" sz="2000" b="1" dirty="0">
                  <a:latin typeface="Times New Roman" panose="02020503050405090304" pitchFamily="18" charset="0"/>
                </a:rPr>
                <a:t>……</a:t>
              </a:r>
              <a:endParaRPr lang="en-US" altLang="zh-CN" sz="2000" b="1" dirty="0">
                <a:latin typeface="宋体" pitchFamily="2" charset="-122"/>
              </a:endParaRPr>
            </a:p>
          </p:txBody>
        </p:sp>
        <p:sp>
          <p:nvSpPr>
            <p:cNvPr id="13" name="Rectangle 9"/>
            <p:cNvSpPr/>
            <p:nvPr>
              <p:custDataLst>
                <p:tags r:id="rId20"/>
              </p:custDataLst>
            </p:nvPr>
          </p:nvSpPr>
          <p:spPr>
            <a:xfrm>
              <a:off x="1586" y="3275"/>
              <a:ext cx="2811" cy="344"/>
            </a:xfrm>
            <a:prstGeom prst="rect">
              <a:avLst/>
            </a:prstGeom>
            <a:solidFill>
              <a:schemeClr val="bg1"/>
            </a:solidFill>
            <a:ln w="12700" cap="flat" cmpd="sng">
              <a:solidFill>
                <a:schemeClr val="tx1"/>
              </a:solidFill>
              <a:prstDash val="solid"/>
              <a:miter/>
              <a:headEnd type="none" w="med" len="med"/>
              <a:tailEnd type="none" w="med" len="med"/>
            </a:ln>
          </p:spPr>
          <p:txBody>
            <a:bodyPr wrap="none" lIns="90488" tIns="44450" rIns="90488" bIns="44450" anchor="ctr" anchorCtr="0"/>
            <a:lstStyle/>
            <a:p>
              <a:pPr eaLnBrk="0" hangingPunct="0"/>
              <a:r>
                <a:rPr lang="zh-CN" altLang="en-US" sz="2000" b="1" dirty="0">
                  <a:solidFill>
                    <a:srgbClr val="FF0000"/>
                  </a:solidFill>
                  <a:latin typeface="宋体" pitchFamily="2" charset="-122"/>
                </a:rPr>
                <a:t>模型规约</a:t>
              </a:r>
            </a:p>
          </p:txBody>
        </p:sp>
        <p:sp>
          <p:nvSpPr>
            <p:cNvPr id="14" name="Text Box 28"/>
            <p:cNvSpPr txBox="1"/>
            <p:nvPr>
              <p:custDataLst>
                <p:tags r:id="rId21"/>
              </p:custDataLst>
            </p:nvPr>
          </p:nvSpPr>
          <p:spPr>
            <a:xfrm>
              <a:off x="89" y="118"/>
              <a:ext cx="959" cy="271"/>
            </a:xfrm>
            <a:prstGeom prst="rect">
              <a:avLst/>
            </a:prstGeom>
            <a:noFill/>
            <a:ln w="9525">
              <a:noFill/>
            </a:ln>
          </p:spPr>
          <p:txBody>
            <a:bodyPr wrap="none" lIns="0" tIns="0" rIns="0" bIns="0" anchor="ctr" anchorCtr="0">
              <a:spAutoFit/>
            </a:bodyPr>
            <a:lstStyle/>
            <a:p>
              <a:pPr eaLnBrk="0" hangingPunct="0"/>
              <a:r>
                <a:rPr lang="en-US" altLang="zh-CN" sz="2800" b="1" dirty="0">
                  <a:latin typeface="Times New Roman" panose="02020503050405090304" pitchFamily="18" charset="0"/>
                  <a:ea typeface="微软简魏碑" pitchFamily="2" charset="-122"/>
                </a:rPr>
                <a:t>OOA</a:t>
              </a:r>
              <a:r>
                <a:rPr lang="zh-CN" altLang="en-US" sz="2800" b="1" dirty="0">
                  <a:latin typeface="Times New Roman" panose="02020503050405090304" pitchFamily="18" charset="0"/>
                  <a:ea typeface="微软简魏碑" pitchFamily="2" charset="-122"/>
                </a:rPr>
                <a:t>模型</a:t>
              </a:r>
              <a:endParaRPr lang="zh-CN" altLang="en-US" dirty="0">
                <a:latin typeface="Times New Roman" panose="02020503050405090304" pitchFamily="18" charset="0"/>
                <a:ea typeface="微软简魏碑" pitchFamily="2" charset="-122"/>
              </a:endParaRPr>
            </a:p>
          </p:txBody>
        </p:sp>
      </p:grpSp>
      <p:grpSp>
        <p:nvGrpSpPr>
          <p:cNvPr id="15" name="Group 33"/>
          <p:cNvGrpSpPr/>
          <p:nvPr/>
        </p:nvGrpSpPr>
        <p:grpSpPr>
          <a:xfrm>
            <a:off x="3565843" y="954405"/>
            <a:ext cx="1655762" cy="1150938"/>
            <a:chOff x="1383" y="482"/>
            <a:chExt cx="1043" cy="725"/>
          </a:xfrm>
        </p:grpSpPr>
        <p:sp>
          <p:nvSpPr>
            <p:cNvPr id="16" name="Text Box 30"/>
            <p:cNvSpPr txBox="1">
              <a:spLocks noChangeArrowheads="1"/>
            </p:cNvSpPr>
            <p:nvPr>
              <p:custDataLst>
                <p:tags r:id="rId11"/>
              </p:custDataLst>
            </p:nvPr>
          </p:nvSpPr>
          <p:spPr bwMode="auto">
            <a:xfrm>
              <a:off x="1383" y="482"/>
              <a:ext cx="1043"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spcBef>
                  <a:spcPct val="50000"/>
                </a:spcBef>
                <a:buClrTx/>
                <a:buSzTx/>
                <a:buFontTx/>
                <a:buNone/>
                <a:defRPr/>
              </a:pPr>
              <a:r>
                <a:rPr kumimoji="1" lang="zh-CN" altLang="en-US" sz="1800" b="1" kern="1200" cap="none" spc="0" normalizeH="0" baseline="0" noProof="0">
                  <a:effectLst>
                    <a:outerShdw blurRad="38100" dist="38100" dir="2700000" algn="tl">
                      <a:srgbClr val="FFFFFF"/>
                    </a:outerShdw>
                  </a:effectLst>
                  <a:latin typeface="Times New Roman" panose="02020503050405090304" pitchFamily="18" charset="0"/>
                  <a:ea typeface="宋体" pitchFamily="2" charset="-122"/>
                  <a:cs typeface="+mn-cs"/>
                </a:rPr>
                <a:t>捕获与描述用户的要求 </a:t>
              </a:r>
            </a:p>
          </p:txBody>
        </p:sp>
        <p:sp>
          <p:nvSpPr>
            <p:cNvPr id="17" name="Line 31"/>
            <p:cNvSpPr/>
            <p:nvPr>
              <p:custDataLst>
                <p:tags r:id="rId12"/>
              </p:custDataLst>
            </p:nvPr>
          </p:nvSpPr>
          <p:spPr>
            <a:xfrm flipH="1">
              <a:off x="1746" y="754"/>
              <a:ext cx="181" cy="453"/>
            </a:xfrm>
            <a:prstGeom prst="line">
              <a:avLst/>
            </a:prstGeom>
            <a:ln w="9525" cap="flat" cmpd="sng">
              <a:solidFill>
                <a:schemeClr val="accent2"/>
              </a:solidFill>
              <a:prstDash val="solid"/>
              <a:headEnd type="none" w="med" len="med"/>
              <a:tailEnd type="triangle" w="med" len="med"/>
            </a:ln>
          </p:spPr>
        </p:sp>
      </p:grpSp>
      <p:grpSp>
        <p:nvGrpSpPr>
          <p:cNvPr id="18" name="Group 34"/>
          <p:cNvGrpSpPr/>
          <p:nvPr/>
        </p:nvGrpSpPr>
        <p:grpSpPr>
          <a:xfrm>
            <a:off x="1370330" y="1046480"/>
            <a:ext cx="3538538" cy="1901825"/>
            <a:chOff x="0" y="540"/>
            <a:chExt cx="2229" cy="1198"/>
          </a:xfrm>
        </p:grpSpPr>
        <p:sp>
          <p:nvSpPr>
            <p:cNvPr id="19" name="Text Box 11"/>
            <p:cNvSpPr txBox="1"/>
            <p:nvPr>
              <p:custDataLst>
                <p:tags r:id="rId9"/>
              </p:custDataLst>
            </p:nvPr>
          </p:nvSpPr>
          <p:spPr>
            <a:xfrm>
              <a:off x="0" y="540"/>
              <a:ext cx="1186" cy="768"/>
            </a:xfrm>
            <a:prstGeom prst="rect">
              <a:avLst/>
            </a:prstGeom>
            <a:solidFill>
              <a:srgbClr val="DA8CA6"/>
            </a:solidFill>
            <a:ln w="9525">
              <a:noFill/>
            </a:ln>
          </p:spPr>
          <p:txBody>
            <a:bodyPr lIns="0" tIns="0" rIns="0" bIns="0">
              <a:spAutoFit/>
            </a:bodyPr>
            <a:lstStyle/>
            <a:p>
              <a:pPr algn="l" eaLnBrk="0" hangingPunct="0"/>
              <a:r>
                <a:rPr lang="zh-CN" altLang="en-US" sz="2000" b="1" dirty="0">
                  <a:latin typeface="楷体_GB2312" pitchFamily="49" charset="-122"/>
                  <a:ea typeface="楷体_GB2312" pitchFamily="49" charset="-122"/>
                </a:rPr>
                <a:t>给出所有与问题域和系统责任有关的对象，用对象类表示</a:t>
              </a:r>
            </a:p>
          </p:txBody>
        </p:sp>
        <p:sp>
          <p:nvSpPr>
            <p:cNvPr id="20" name="Line 12"/>
            <p:cNvSpPr/>
            <p:nvPr>
              <p:custDataLst>
                <p:tags r:id="rId10"/>
              </p:custDataLst>
            </p:nvPr>
          </p:nvSpPr>
          <p:spPr>
            <a:xfrm>
              <a:off x="1109" y="1171"/>
              <a:ext cx="1120" cy="567"/>
            </a:xfrm>
            <a:prstGeom prst="line">
              <a:avLst/>
            </a:prstGeom>
            <a:ln w="9525" cap="flat" cmpd="sng">
              <a:solidFill>
                <a:srgbClr val="0000CC"/>
              </a:solidFill>
              <a:prstDash val="solid"/>
              <a:headEnd type="none" w="med" len="med"/>
              <a:tailEnd type="triangle" w="med" len="med"/>
            </a:ln>
          </p:spPr>
        </p:sp>
      </p:grpSp>
      <p:grpSp>
        <p:nvGrpSpPr>
          <p:cNvPr id="21" name="Group 35"/>
          <p:cNvGrpSpPr/>
          <p:nvPr/>
        </p:nvGrpSpPr>
        <p:grpSpPr>
          <a:xfrm>
            <a:off x="1370330" y="3330893"/>
            <a:ext cx="3390900" cy="2760662"/>
            <a:chOff x="0" y="1979"/>
            <a:chExt cx="2136" cy="1739"/>
          </a:xfrm>
        </p:grpSpPr>
        <p:sp>
          <p:nvSpPr>
            <p:cNvPr id="22" name="Text Box 14"/>
            <p:cNvSpPr txBox="1"/>
            <p:nvPr>
              <p:custDataLst>
                <p:tags r:id="rId5"/>
              </p:custDataLst>
            </p:nvPr>
          </p:nvSpPr>
          <p:spPr>
            <a:xfrm>
              <a:off x="0" y="1979"/>
              <a:ext cx="863" cy="576"/>
            </a:xfrm>
            <a:prstGeom prst="rect">
              <a:avLst/>
            </a:prstGeom>
            <a:solidFill>
              <a:srgbClr val="DA8CA6"/>
            </a:solidFill>
            <a:ln w="9525">
              <a:noFill/>
            </a:ln>
          </p:spPr>
          <p:txBody>
            <a:bodyPr lIns="0" tIns="0" rIns="0" bIns="0">
              <a:spAutoFit/>
            </a:bodyPr>
            <a:lstStyle/>
            <a:p>
              <a:pPr algn="l" eaLnBrk="0" hangingPunct="0"/>
              <a:r>
                <a:rPr lang="zh-CN" altLang="en-US" sz="2000" b="1" dirty="0">
                  <a:latin typeface="楷体_GB2312" pitchFamily="49" charset="-122"/>
                  <a:ea typeface="楷体_GB2312" pitchFamily="49" charset="-122"/>
                </a:rPr>
                <a:t>定义每个对象类的属性与服务</a:t>
              </a:r>
            </a:p>
          </p:txBody>
        </p:sp>
        <p:sp>
          <p:nvSpPr>
            <p:cNvPr id="23" name="Text Box 17"/>
            <p:cNvSpPr txBox="1"/>
            <p:nvPr>
              <p:custDataLst>
                <p:tags r:id="rId6"/>
              </p:custDataLst>
            </p:nvPr>
          </p:nvSpPr>
          <p:spPr>
            <a:xfrm>
              <a:off x="54" y="3142"/>
              <a:ext cx="1012" cy="576"/>
            </a:xfrm>
            <a:prstGeom prst="rect">
              <a:avLst/>
            </a:prstGeom>
            <a:solidFill>
              <a:srgbClr val="DA8CA6"/>
            </a:solidFill>
            <a:ln w="9525">
              <a:noFill/>
            </a:ln>
          </p:spPr>
          <p:txBody>
            <a:bodyPr lIns="0" tIns="0" rIns="0" bIns="0">
              <a:spAutoFit/>
            </a:bodyPr>
            <a:lstStyle/>
            <a:p>
              <a:pPr algn="l" eaLnBrk="0" hangingPunct="0"/>
              <a:r>
                <a:rPr lang="zh-CN" altLang="en-US" sz="2000" b="1" dirty="0">
                  <a:latin typeface="楷体_GB2312" pitchFamily="49" charset="-122"/>
                  <a:ea typeface="楷体_GB2312" pitchFamily="49" charset="-122"/>
                </a:rPr>
                <a:t>通过已定义的关系描述对象类之间的关系</a:t>
              </a:r>
            </a:p>
          </p:txBody>
        </p:sp>
        <p:sp>
          <p:nvSpPr>
            <p:cNvPr id="24" name="Line 15"/>
            <p:cNvSpPr/>
            <p:nvPr>
              <p:custDataLst>
                <p:tags r:id="rId7"/>
              </p:custDataLst>
            </p:nvPr>
          </p:nvSpPr>
          <p:spPr>
            <a:xfrm>
              <a:off x="830" y="2259"/>
              <a:ext cx="1306" cy="36"/>
            </a:xfrm>
            <a:prstGeom prst="line">
              <a:avLst/>
            </a:prstGeom>
            <a:ln w="9525" cap="flat" cmpd="sng">
              <a:solidFill>
                <a:srgbClr val="0000CC"/>
              </a:solidFill>
              <a:prstDash val="solid"/>
              <a:headEnd type="none" w="med" len="med"/>
              <a:tailEnd type="triangle" w="med" len="med"/>
            </a:ln>
          </p:spPr>
        </p:sp>
        <p:sp>
          <p:nvSpPr>
            <p:cNvPr id="25" name="Line 18"/>
            <p:cNvSpPr/>
            <p:nvPr>
              <p:custDataLst>
                <p:tags r:id="rId8"/>
              </p:custDataLst>
            </p:nvPr>
          </p:nvSpPr>
          <p:spPr>
            <a:xfrm flipV="1">
              <a:off x="1114" y="2930"/>
              <a:ext cx="941" cy="461"/>
            </a:xfrm>
            <a:prstGeom prst="line">
              <a:avLst/>
            </a:prstGeom>
            <a:ln w="9525" cap="flat" cmpd="sng">
              <a:solidFill>
                <a:srgbClr val="0000CC"/>
              </a:solidFill>
              <a:prstDash val="solid"/>
              <a:headEnd type="none" w="med" len="med"/>
              <a:tailEnd type="triangle" w="med" len="med"/>
            </a:ln>
          </p:spPr>
        </p:sp>
      </p:grpSp>
      <p:grpSp>
        <p:nvGrpSpPr>
          <p:cNvPr id="26" name="Group 37"/>
          <p:cNvGrpSpPr/>
          <p:nvPr/>
        </p:nvGrpSpPr>
        <p:grpSpPr>
          <a:xfrm>
            <a:off x="8606155" y="2610168"/>
            <a:ext cx="1639888" cy="2133600"/>
            <a:chOff x="4558" y="1525"/>
            <a:chExt cx="1033" cy="1344"/>
          </a:xfrm>
        </p:grpSpPr>
        <p:sp>
          <p:nvSpPr>
            <p:cNvPr id="27" name="Text Box 23"/>
            <p:cNvSpPr txBox="1"/>
            <p:nvPr>
              <p:custDataLst>
                <p:tags r:id="rId3"/>
              </p:custDataLst>
            </p:nvPr>
          </p:nvSpPr>
          <p:spPr>
            <a:xfrm>
              <a:off x="4985" y="1525"/>
              <a:ext cx="606" cy="1344"/>
            </a:xfrm>
            <a:prstGeom prst="rect">
              <a:avLst/>
            </a:prstGeom>
            <a:solidFill>
              <a:srgbClr val="FFFF99"/>
            </a:solidFill>
            <a:ln w="9525">
              <a:noFill/>
            </a:ln>
          </p:spPr>
          <p:txBody>
            <a:bodyPr lIns="0" tIns="0" rIns="0" bIns="0">
              <a:spAutoFit/>
            </a:bodyPr>
            <a:lstStyle/>
            <a:p>
              <a:pPr algn="l" eaLnBrk="0" hangingPunct="0"/>
              <a:r>
                <a:rPr lang="zh-CN" altLang="en-US" sz="2000" b="1" dirty="0">
                  <a:latin typeface="楷体_GB2312" pitchFamily="49" charset="-122"/>
                  <a:ea typeface="楷体_GB2312" pitchFamily="49" charset="-122"/>
                </a:rPr>
                <a:t>对关系密切的元素打包，帮助理解系统模型。</a:t>
              </a:r>
            </a:p>
          </p:txBody>
        </p:sp>
        <p:sp>
          <p:nvSpPr>
            <p:cNvPr id="28" name="Line 24"/>
            <p:cNvSpPr/>
            <p:nvPr>
              <p:custDataLst>
                <p:tags r:id="rId4"/>
              </p:custDataLst>
            </p:nvPr>
          </p:nvSpPr>
          <p:spPr>
            <a:xfrm flipH="1" flipV="1">
              <a:off x="4558" y="2577"/>
              <a:ext cx="454" cy="37"/>
            </a:xfrm>
            <a:prstGeom prst="line">
              <a:avLst/>
            </a:prstGeom>
            <a:ln w="9525" cap="flat" cmpd="sng">
              <a:solidFill>
                <a:srgbClr val="0000CC"/>
              </a:solidFill>
              <a:prstDash val="solid"/>
              <a:headEnd type="none" w="med" len="med"/>
              <a:tailEnd type="triangle" w="med" len="med"/>
            </a:ln>
          </p:spPr>
        </p:sp>
      </p:grpSp>
      <p:grpSp>
        <p:nvGrpSpPr>
          <p:cNvPr id="26660" name="Group 36"/>
          <p:cNvGrpSpPr/>
          <p:nvPr/>
        </p:nvGrpSpPr>
        <p:grpSpPr>
          <a:xfrm>
            <a:off x="5485130" y="189230"/>
            <a:ext cx="4724400" cy="2938463"/>
            <a:chOff x="2592" y="0"/>
            <a:chExt cx="2976" cy="1851"/>
          </a:xfrm>
        </p:grpSpPr>
        <p:sp>
          <p:nvSpPr>
            <p:cNvPr id="9244" name="Text Box 26"/>
            <p:cNvSpPr txBox="1"/>
            <p:nvPr>
              <p:custDataLst>
                <p:tags r:id="rId1"/>
              </p:custDataLst>
            </p:nvPr>
          </p:nvSpPr>
          <p:spPr>
            <a:xfrm>
              <a:off x="2592" y="0"/>
              <a:ext cx="2976" cy="768"/>
            </a:xfrm>
            <a:prstGeom prst="rect">
              <a:avLst/>
            </a:prstGeom>
            <a:solidFill>
              <a:srgbClr val="FFFF99"/>
            </a:solidFill>
            <a:ln w="9525">
              <a:noFill/>
            </a:ln>
          </p:spPr>
          <p:txBody>
            <a:bodyPr lIns="0" tIns="0" rIns="0" bIns="0">
              <a:spAutoFit/>
            </a:bodyPr>
            <a:lstStyle/>
            <a:p>
              <a:pPr algn="l" eaLnBrk="0" hangingPunct="0"/>
              <a:r>
                <a:rPr lang="zh-CN" altLang="en-US" sz="2000" b="1" dirty="0">
                  <a:latin typeface="楷体_GB2312" pitchFamily="49" charset="-122"/>
                  <a:ea typeface="楷体_GB2312" pitchFamily="49" charset="-122"/>
                </a:rPr>
                <a:t>一幅交互图表现完成某一项特定功能的一组对象之间的详细交互；一辐状态图描述了一个对象的状态变迁；活动图描述了一个服务的流程或业务流程。</a:t>
              </a:r>
            </a:p>
          </p:txBody>
        </p:sp>
        <p:sp>
          <p:nvSpPr>
            <p:cNvPr id="9245" name="Line 27"/>
            <p:cNvSpPr/>
            <p:nvPr>
              <p:custDataLst>
                <p:tags r:id="rId2"/>
              </p:custDataLst>
            </p:nvPr>
          </p:nvSpPr>
          <p:spPr>
            <a:xfrm>
              <a:off x="3651" y="709"/>
              <a:ext cx="606" cy="1142"/>
            </a:xfrm>
            <a:prstGeom prst="line">
              <a:avLst/>
            </a:prstGeom>
            <a:ln w="9525" cap="flat" cmpd="sng">
              <a:solidFill>
                <a:srgbClr val="0000CC"/>
              </a:solidFill>
              <a:prstDash val="solid"/>
              <a:headEnd type="none" w="med" len="med"/>
              <a:tailEnd type="triangl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checkerboard(across)">
                                      <p:cBhvr>
                                        <p:cTn id="13" dur="500"/>
                                        <p:tgtEl>
                                          <p:spTgt spid="18"/>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21"/>
                                        </p:tgtEl>
                                        <p:attrNameLst>
                                          <p:attrName>style.visibility</p:attrName>
                                        </p:attrNameLst>
                                      </p:cBhvr>
                                      <p:to>
                                        <p:strVal val="visible"/>
                                      </p:to>
                                    </p:set>
                                    <p:anim calcmode="lin" valueType="num">
                                      <p:cBhvr additive="base">
                                        <p:cTn id="18" dur="500" fill="hold"/>
                                        <p:tgtEl>
                                          <p:spTgt spid="21"/>
                                        </p:tgtEl>
                                        <p:attrNameLst>
                                          <p:attrName>ppt_x</p:attrName>
                                        </p:attrNameLst>
                                      </p:cBhvr>
                                      <p:tavLst>
                                        <p:tav tm="0">
                                          <p:val>
                                            <p:strVal val="#ppt_x"/>
                                          </p:val>
                                        </p:tav>
                                        <p:tav tm="100000">
                                          <p:val>
                                            <p:strVal val="#ppt_x"/>
                                          </p:val>
                                        </p:tav>
                                      </p:tavLst>
                                    </p:anim>
                                    <p:anim calcmode="lin" valueType="num">
                                      <p:cBhvr additive="base">
                                        <p:cTn id="19"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nodeType="clickEffect">
                                  <p:stCondLst>
                                    <p:cond delay="0"/>
                                  </p:stCondLst>
                                  <p:childTnLst>
                                    <p:set>
                                      <p:cBhvr>
                                        <p:cTn id="23" dur="1" fill="hold">
                                          <p:stCondLst>
                                            <p:cond delay="0"/>
                                          </p:stCondLst>
                                        </p:cTn>
                                        <p:tgtEl>
                                          <p:spTgt spid="26660"/>
                                        </p:tgtEl>
                                        <p:attrNameLst>
                                          <p:attrName>style.visibility</p:attrName>
                                        </p:attrNameLst>
                                      </p:cBhvr>
                                      <p:to>
                                        <p:strVal val="visible"/>
                                      </p:to>
                                    </p:set>
                                    <p:animEffect transition="in" filter="box(in)">
                                      <p:cBhvr>
                                        <p:cTn id="24" dur="500"/>
                                        <p:tgtEl>
                                          <p:spTgt spid="26660"/>
                                        </p:tgtEl>
                                      </p:cBhvr>
                                    </p:animEffect>
                                  </p:childTnLst>
                                </p:cTn>
                              </p:par>
                            </p:childTnLst>
                          </p:cTn>
                        </p:par>
                      </p:childTnLst>
                    </p:cTn>
                  </p:par>
                  <p:par>
                    <p:cTn id="25" fill="hold">
                      <p:stCondLst>
                        <p:cond delay="indefinite"/>
                      </p:stCondLst>
                      <p:childTnLst>
                        <p:par>
                          <p:cTn id="26" fill="hold">
                            <p:stCondLst>
                              <p:cond delay="0"/>
                            </p:stCondLst>
                            <p:childTnLst>
                              <p:par>
                                <p:cTn id="27" presetID="5" presetClass="entr" presetSubtype="1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checkerboard(across)">
                                      <p:cBhvr>
                                        <p:cTn id="29" dur="500"/>
                                        <p:tgtEl>
                                          <p:spTgt spid="26"/>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2"/>
                                        </p:tgtEl>
                                        <p:attrNameLst>
                                          <p:attrName>style.visibility</p:attrName>
                                        </p:attrNameLst>
                                      </p:cBhvr>
                                      <p:to>
                                        <p:strVal val="visible"/>
                                      </p:to>
                                    </p:set>
                                    <p:anim calcmode="lin" valueType="num">
                                      <p:cBhvr additive="base">
                                        <p:cTn id="34" dur="500" fill="hold"/>
                                        <p:tgtEl>
                                          <p:spTgt spid="2"/>
                                        </p:tgtEl>
                                        <p:attrNameLst>
                                          <p:attrName>ppt_x</p:attrName>
                                        </p:attrNameLst>
                                      </p:cBhvr>
                                      <p:tavLst>
                                        <p:tav tm="0">
                                          <p:val>
                                            <p:strVal val="#ppt_x"/>
                                          </p:val>
                                        </p:tav>
                                        <p:tav tm="100000">
                                          <p:val>
                                            <p:strVal val="#ppt_x"/>
                                          </p:val>
                                        </p:tav>
                                      </p:tavLst>
                                    </p:anim>
                                    <p:anim calcmode="lin" valueType="num">
                                      <p:cBhvr additive="base">
                                        <p:cTn id="35"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分析的目的</a:t>
            </a:r>
          </a:p>
        </p:txBody>
      </p:sp>
      <p:sp>
        <p:nvSpPr>
          <p:cNvPr id="3" name="内容占位符 2"/>
          <p:cNvSpPr>
            <a:spLocks noGrp="1"/>
          </p:cNvSpPr>
          <p:nvPr>
            <p:ph idx="1"/>
          </p:nvPr>
        </p:nvSpPr>
        <p:spPr/>
        <p:txBody>
          <a:bodyPr>
            <a:normAutofit/>
          </a:bodyPr>
          <a:lstStyle/>
          <a:p>
            <a:r>
              <a:rPr lang="zh-CN" altLang="en-US" dirty="0"/>
              <a:t>分析的任务是构造一个模型，来说明这些交互的对象如何交互，从而完成用例中规定的行为（或者是实现用例的功能）</a:t>
            </a:r>
            <a:endParaRPr lang="en-US" altLang="zh-CN" dirty="0"/>
          </a:p>
          <a:p>
            <a:pPr lvl="1"/>
            <a:r>
              <a:rPr lang="zh-CN" altLang="en-US" dirty="0"/>
              <a:t>用例描述用户和系统的交互</a:t>
            </a:r>
            <a:endParaRPr lang="en-US" altLang="zh-CN" dirty="0"/>
          </a:p>
          <a:p>
            <a:pPr lvl="1"/>
            <a:r>
              <a:rPr lang="zh-CN" altLang="en-US" dirty="0"/>
              <a:t>领域模型描述重要的类</a:t>
            </a:r>
            <a:endParaRPr lang="en-US" altLang="zh-CN" dirty="0"/>
          </a:p>
          <a:p>
            <a:pPr lvl="1"/>
            <a:r>
              <a:rPr lang="zh-CN" altLang="en-US" dirty="0"/>
              <a:t>系统内部究竟如何交互，</a:t>
            </a:r>
            <a:endParaRPr lang="en-US" altLang="zh-CN" dirty="0"/>
          </a:p>
          <a:p>
            <a:r>
              <a:rPr lang="en-US" altLang="zh-CN" dirty="0"/>
              <a:t>UML</a:t>
            </a:r>
            <a:r>
              <a:rPr lang="zh-CN" altLang="en-US" dirty="0"/>
              <a:t>交互图</a:t>
            </a:r>
            <a:endParaRPr lang="en-US" altLang="zh-CN" dirty="0"/>
          </a:p>
          <a:p>
            <a:pPr lvl="1"/>
            <a:r>
              <a:rPr lang="zh-CN" altLang="en-US" dirty="0"/>
              <a:t>协作图</a:t>
            </a:r>
            <a:endParaRPr lang="en-US" altLang="zh-CN" dirty="0"/>
          </a:p>
          <a:p>
            <a:pPr lvl="1"/>
            <a:r>
              <a:rPr lang="zh-CN" altLang="en-US" dirty="0"/>
              <a:t>顺序图</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4.3 </a:t>
            </a:r>
            <a:r>
              <a:rPr lang="zh-CN" altLang="en-US" dirty="0">
                <a:sym typeface="+mn-ea"/>
              </a:rPr>
              <a:t>对象获取</a:t>
            </a:r>
            <a:endParaRPr lang="zh-CN" altLang="en-US"/>
          </a:p>
        </p:txBody>
      </p:sp>
      <p:sp>
        <p:nvSpPr>
          <p:cNvPr id="3" name="内容占位符 2"/>
          <p:cNvSpPr>
            <a:spLocks noGrp="1"/>
          </p:cNvSpPr>
          <p:nvPr>
            <p:ph idx="1"/>
          </p:nvPr>
        </p:nvSpPr>
        <p:spPr/>
        <p:txBody>
          <a:bodyPr/>
          <a:lstStyle/>
          <a:p>
            <a:pPr marL="179705" lvl="1" indent="277495" eaLnBrk="0" hangingPunct="0"/>
            <a:r>
              <a:rPr lang="zh-CN" altLang="en-US" b="1" dirty="0">
                <a:latin typeface="Times New Roman" panose="02020503050405090304" pitchFamily="18" charset="0"/>
                <a:ea typeface="微软简魏碑" pitchFamily="2" charset="-122"/>
                <a:sym typeface="+mn-ea"/>
              </a:rPr>
              <a:t> 考虑问题域，侧重于客观存在的事物与系统中对象的映射。</a:t>
            </a:r>
            <a:endParaRPr lang="zh-CN" altLang="en-US" b="1" dirty="0">
              <a:latin typeface="Times New Roman" panose="02020503050405090304" pitchFamily="18" charset="0"/>
              <a:ea typeface="微软简魏碑" pitchFamily="2" charset="-122"/>
            </a:endParaRPr>
          </a:p>
          <a:p>
            <a:pPr marL="179705" lvl="1" indent="277495" eaLnBrk="0" hangingPunct="0"/>
            <a:r>
              <a:rPr lang="zh-CN" altLang="en-US" b="1" dirty="0">
                <a:latin typeface="Times New Roman" panose="02020503050405090304" pitchFamily="18" charset="0"/>
                <a:ea typeface="微软简魏碑" pitchFamily="2" charset="-122"/>
                <a:sym typeface="+mn-ea"/>
              </a:rPr>
              <a:t>   可以启发分析员发现对象的因素包括：人员、组织机构、物品、设备、事件（如索赔、上访、交易）、表格、日志、报告和结构等。</a:t>
            </a:r>
            <a:endParaRPr lang="zh-CN" altLang="en-US" b="1" dirty="0">
              <a:latin typeface="Times New Roman" panose="02020503050405090304" pitchFamily="18" charset="0"/>
              <a:ea typeface="微软简魏碑" pitchFamily="2" charset="-122"/>
            </a:endParaRPr>
          </a:p>
          <a:p>
            <a:pPr marL="179705" lvl="1" indent="277495" eaLnBrk="0" hangingPunct="0"/>
            <a:r>
              <a:rPr lang="zh-CN" altLang="en-US" b="1" dirty="0">
                <a:latin typeface="Times New Roman" panose="02020503050405090304" pitchFamily="18" charset="0"/>
                <a:ea typeface="微软简魏碑" pitchFamily="2" charset="-122"/>
                <a:sym typeface="+mn-ea"/>
              </a:rPr>
              <a:t>   其中的结构可能是多种多样的，例如，在概念类别上，汽车之上有车辆，之下可细分为客车和轿车，左右有摩托车和拖拉机，之内有发动机。它还可作成车队的一个成分。</a:t>
            </a:r>
          </a:p>
          <a:p>
            <a:pPr marL="179705" lvl="1" indent="277495" eaLnBrk="0" hangingPunct="0"/>
            <a:endParaRPr lang="zh-CN" altLang="en-US" b="1" dirty="0">
              <a:solidFill>
                <a:srgbClr val="FF0000"/>
              </a:solidFill>
              <a:latin typeface="Times New Roman" panose="02020503050405090304" pitchFamily="18" charset="0"/>
              <a:ea typeface="微软简魏碑" pitchFamily="2"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4.3 </a:t>
            </a:r>
            <a:r>
              <a:rPr lang="zh-CN" altLang="en-US" dirty="0">
                <a:sym typeface="+mn-ea"/>
              </a:rPr>
              <a:t>对象获取</a:t>
            </a:r>
            <a:endParaRPr lang="zh-CN" altLang="en-US"/>
          </a:p>
        </p:txBody>
      </p:sp>
      <p:sp>
        <p:nvSpPr>
          <p:cNvPr id="3" name="内容占位符 2"/>
          <p:cNvSpPr>
            <a:spLocks noGrp="1"/>
          </p:cNvSpPr>
          <p:nvPr>
            <p:ph idx="1"/>
          </p:nvPr>
        </p:nvSpPr>
        <p:spPr/>
        <p:txBody>
          <a:bodyPr/>
          <a:lstStyle/>
          <a:p>
            <a:r>
              <a:rPr lang="zh-CN" altLang="en-US" b="1" dirty="0">
                <a:solidFill>
                  <a:schemeClr val="hlink"/>
                </a:solidFill>
                <a:latin typeface="Times New Roman" panose="02020503050405090304" pitchFamily="18" charset="0"/>
                <a:ea typeface="宋体" pitchFamily="2" charset="-122"/>
                <a:sym typeface="+mn-ea"/>
              </a:rPr>
              <a:t>系统边界</a:t>
            </a:r>
          </a:p>
          <a:p>
            <a:pPr lvl="1"/>
            <a:r>
              <a:rPr lang="zh-CN" altLang="en-US" b="1" dirty="0">
                <a:latin typeface="Times New Roman" panose="02020503050405090304" pitchFamily="18" charset="0"/>
                <a:ea typeface="宋体" pitchFamily="2" charset="-122"/>
                <a:sym typeface="+mn-ea"/>
              </a:rPr>
              <a:t>把一些人员和设备看作问题域范畴以内的事物，系统中的对象是对它们的抽象描述。侧重于以系统中的对象模拟现实中的人和设备。</a:t>
            </a:r>
          </a:p>
          <a:p>
            <a:pPr lvl="1"/>
            <a:r>
              <a:rPr lang="zh-CN" altLang="en-US" b="1" dirty="0">
                <a:latin typeface="Times New Roman" panose="02020503050405090304" pitchFamily="18" charset="0"/>
                <a:ea typeface="宋体" pitchFamily="2" charset="-122"/>
                <a:sym typeface="+mn-ea"/>
              </a:rPr>
              <a:t>对系统边界之外与系统进行交互的参与者，系统中需要设立相应的对象处理系统与这些实际的人和设备的交互，侧重于以系统中的对象处理现实中的人和设备与系统的交互。</a:t>
            </a:r>
          </a:p>
          <a:p>
            <a:pPr lvl="1"/>
            <a:r>
              <a:rPr lang="zh-CN" altLang="en-US" b="1" dirty="0">
                <a:latin typeface="Times New Roman" panose="02020503050405090304" pitchFamily="18" charset="0"/>
                <a:ea typeface="宋体" pitchFamily="2" charset="-122"/>
                <a:sym typeface="+mn-ea"/>
              </a:rPr>
              <a:t>在系统中设立一个对象，处理与外系统的接口。</a:t>
            </a:r>
            <a:endParaRPr lang="zh-CN" altLang="en-US" b="1" dirty="0">
              <a:latin typeface="Times New Roman" panose="02020503050405090304" pitchFamily="18" charset="0"/>
              <a:ea typeface="宋体" pitchFamily="2" charset="-122"/>
            </a:endParaRPr>
          </a:p>
          <a:p>
            <a:endParaRPr lang="en-US" altLang="zh-CN"/>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0" indent="0" algn="just">
              <a:spcBef>
                <a:spcPct val="50000"/>
              </a:spcBef>
              <a:buNone/>
            </a:pPr>
            <a:r>
              <a:rPr lang="en-US" altLang="zh-CN" b="1" dirty="0">
                <a:effectLst>
                  <a:outerShdw blurRad="38100" dist="38100" dir="2700000">
                    <a:srgbClr val="C0C0C0"/>
                  </a:outerShdw>
                </a:effectLst>
                <a:latin typeface="宋体" pitchFamily="2" charset="-122"/>
                <a:ea typeface="宋体" pitchFamily="2" charset="-122"/>
                <a:sym typeface="+mn-ea"/>
              </a:rPr>
              <a:t>·</a:t>
            </a:r>
            <a:r>
              <a:rPr lang="zh-CN" altLang="en-US" b="1" dirty="0">
                <a:effectLst>
                  <a:outerShdw blurRad="38100" dist="38100" dir="2700000">
                    <a:srgbClr val="C0C0C0"/>
                  </a:outerShdw>
                </a:effectLst>
                <a:latin typeface="宋体" pitchFamily="2" charset="-122"/>
                <a:ea typeface="宋体" pitchFamily="2" charset="-122"/>
                <a:sym typeface="+mn-ea"/>
              </a:rPr>
              <a:t>对照系统责任所要求的每一项功能，查看是否可以由现有的对象完成这些功能。如果发现某些功能在现有的任何对象中都不能提供，则可启发我们发现问题域中某些遗漏的对象。</a:t>
            </a:r>
            <a:r>
              <a:rPr lang="zh-CN" altLang="en-US" b="1" dirty="0">
                <a:effectLst>
                  <a:outerShdw blurRad="38100" dist="38100" dir="2700000">
                    <a:srgbClr val="C0C0C0"/>
                  </a:outerShdw>
                </a:effectLst>
                <a:latin typeface="Times New Roman" panose="02020503050405090304" pitchFamily="18" charset="0"/>
                <a:ea typeface="宋体" pitchFamily="2" charset="-122"/>
                <a:sym typeface="+mn-ea"/>
              </a:rPr>
              <a:t> </a:t>
            </a:r>
            <a:endParaRPr lang="zh-CN" altLang="en-US" b="1" dirty="0">
              <a:effectLst>
                <a:outerShdw blurRad="38100" dist="38100" dir="2700000">
                  <a:srgbClr val="C0C0C0"/>
                </a:outerShdw>
              </a:effectLst>
              <a:latin typeface="Times New Roman" panose="02020503050405090304" pitchFamily="18" charset="0"/>
              <a:ea typeface="宋体" pitchFamily="2" charset="-122"/>
            </a:endParaRPr>
          </a:p>
          <a:p>
            <a:r>
              <a:rPr lang="zh-CN" altLang="en-US" b="1" dirty="0">
                <a:latin typeface="Times New Roman" panose="02020503050405090304" pitchFamily="18" charset="0"/>
                <a:ea typeface="微软简魏碑" pitchFamily="2" charset="-122"/>
                <a:sym typeface="+mn-ea"/>
              </a:rPr>
              <a:t>如果已经建立了用况模型，考虑执行下列的附加步骤：</a:t>
            </a:r>
            <a:endParaRPr lang="zh-CN" altLang="en-US" b="1" dirty="0">
              <a:latin typeface="Times New Roman" panose="02020503050405090304" pitchFamily="18" charset="0"/>
              <a:ea typeface="微软简魏碑" pitchFamily="2" charset="-122"/>
            </a:endParaRPr>
          </a:p>
          <a:p>
            <a:pPr lvl="1"/>
            <a:r>
              <a:rPr lang="en-US" altLang="zh-CN" b="1" dirty="0">
                <a:solidFill>
                  <a:srgbClr val="0000FF"/>
                </a:solidFill>
                <a:latin typeface="Times New Roman" panose="02020503050405090304" pitchFamily="18" charset="0"/>
                <a:ea typeface="微软简魏碑" pitchFamily="2" charset="-122"/>
                <a:sym typeface="+mn-ea"/>
              </a:rPr>
              <a:t> </a:t>
            </a:r>
            <a:r>
              <a:rPr lang="zh-CN" altLang="en-US" b="1" dirty="0">
                <a:solidFill>
                  <a:srgbClr val="0000FF"/>
                </a:solidFill>
                <a:latin typeface="Times New Roman" panose="02020503050405090304" pitchFamily="18" charset="0"/>
                <a:ea typeface="微软简魏碑" pitchFamily="2" charset="-122"/>
                <a:sym typeface="+mn-ea"/>
              </a:rPr>
              <a:t>使用用况产生场景。</a:t>
            </a:r>
            <a:endParaRPr lang="zh-CN" altLang="en-US" b="1" dirty="0">
              <a:solidFill>
                <a:srgbClr val="0000FF"/>
              </a:solidFill>
              <a:latin typeface="Times New Roman" panose="02020503050405090304" pitchFamily="18" charset="0"/>
              <a:ea typeface="微软简魏碑" pitchFamily="2" charset="-122"/>
            </a:endParaRPr>
          </a:p>
          <a:p>
            <a:pPr lvl="1"/>
            <a:r>
              <a:rPr lang="zh-CN" altLang="en-US" b="1" dirty="0">
                <a:solidFill>
                  <a:srgbClr val="0000FF"/>
                </a:solidFill>
                <a:latin typeface="Times New Roman" panose="02020503050405090304" pitchFamily="18" charset="0"/>
                <a:ea typeface="微软简魏碑" pitchFamily="2" charset="-122"/>
                <a:sym typeface="+mn-ea"/>
              </a:rPr>
              <a:t>使用场景寻找已错过的类。</a:t>
            </a:r>
            <a:endParaRPr lang="zh-CN" altLang="en-US" b="1" dirty="0">
              <a:effectLst>
                <a:outerShdw blurRad="38100" dist="38100" dir="2700000">
                  <a:srgbClr val="C0C0C0"/>
                </a:outerShdw>
              </a:effectLst>
              <a:latin typeface="Times New Roman" panose="02020503050405090304" pitchFamily="18" charset="0"/>
              <a:ea typeface="宋体" pitchFamily="2" charset="-122"/>
            </a:endParaRPr>
          </a:p>
          <a:p>
            <a:endParaRPr lang="zh-CN"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pPr marL="0" lvl="1" algn="just">
              <a:spcBef>
                <a:spcPct val="50000"/>
              </a:spcBef>
            </a:pPr>
            <a:r>
              <a:rPr lang="en-US" altLang="zh-CN" b="1" dirty="0">
                <a:solidFill>
                  <a:srgbClr val="FF0000"/>
                </a:solidFill>
                <a:latin typeface="Times New Roman" panose="02020503050405090304" pitchFamily="18" charset="0"/>
                <a:ea typeface="微软简魏碑" pitchFamily="2" charset="-122"/>
                <a:sym typeface="+mn-ea"/>
              </a:rPr>
              <a:t>Abott</a:t>
            </a:r>
            <a:r>
              <a:rPr lang="zh-CN" altLang="en-US" b="1" dirty="0">
                <a:solidFill>
                  <a:srgbClr val="FF0000"/>
                </a:solidFill>
                <a:latin typeface="Times New Roman" panose="02020503050405090304" pitchFamily="18" charset="0"/>
                <a:ea typeface="微软简魏碑" pitchFamily="2" charset="-122"/>
                <a:sym typeface="+mn-ea"/>
              </a:rPr>
              <a:t>自然语言启发式规则</a:t>
            </a:r>
            <a:endParaRPr lang="zh-CN" altLang="en-US" b="1" dirty="0">
              <a:latin typeface="Times New Roman" panose="02020503050405090304" pitchFamily="18" charset="0"/>
              <a:ea typeface="宋体" pitchFamily="2" charset="-122"/>
              <a:sym typeface="+mn-ea"/>
            </a:endParaRPr>
          </a:p>
          <a:p>
            <a:pPr lvl="1" algn="just">
              <a:spcBef>
                <a:spcPct val="50000"/>
              </a:spcBef>
            </a:pPr>
            <a:r>
              <a:rPr lang="zh-CN" altLang="en-US" b="1" dirty="0">
                <a:latin typeface="Times New Roman" panose="02020503050405090304" pitchFamily="18" charset="0"/>
                <a:ea typeface="宋体" pitchFamily="2" charset="-122"/>
                <a:sym typeface="+mn-ea"/>
              </a:rPr>
              <a:t>需求描述中的名词与模型中的对象或类间</a:t>
            </a:r>
            <a:r>
              <a:rPr lang="zh-CN" altLang="en-US" b="1" i="1" dirty="0">
                <a:solidFill>
                  <a:schemeClr val="accent1"/>
                </a:solidFill>
                <a:latin typeface="Times New Roman" panose="02020503050405090304" pitchFamily="18" charset="0"/>
                <a:ea typeface="宋体" pitchFamily="2" charset="-122"/>
                <a:sym typeface="+mn-ea"/>
              </a:rPr>
              <a:t>通常</a:t>
            </a:r>
            <a:r>
              <a:rPr lang="zh-CN" altLang="en-US" b="1" dirty="0">
                <a:latin typeface="Times New Roman" panose="02020503050405090304" pitchFamily="18" charset="0"/>
                <a:ea typeface="宋体" pitchFamily="2" charset="-122"/>
                <a:sym typeface="+mn-ea"/>
              </a:rPr>
              <a:t>有映射关系。运用名词、代词和名词短语识别对象和类</a:t>
            </a:r>
            <a:r>
              <a:rPr lang="en-US" altLang="zh-CN" b="1" dirty="0">
                <a:latin typeface="Times New Roman" panose="02020503050405090304" pitchFamily="18" charset="0"/>
                <a:ea typeface="宋体" pitchFamily="2" charset="-122"/>
                <a:sym typeface="+mn-ea"/>
              </a:rPr>
              <a:t>*</a:t>
            </a:r>
            <a:r>
              <a:rPr lang="zh-CN" altLang="en-US" b="1" dirty="0">
                <a:latin typeface="Times New Roman" panose="02020503050405090304" pitchFamily="18" charset="0"/>
                <a:ea typeface="宋体" pitchFamily="2" charset="-122"/>
                <a:sym typeface="+mn-ea"/>
              </a:rPr>
              <a:t>。</a:t>
            </a:r>
            <a:endParaRPr lang="zh-CN" altLang="en-US" b="1" dirty="0">
              <a:latin typeface="Times New Roman" panose="02020503050405090304" pitchFamily="18" charset="0"/>
              <a:ea typeface="宋体" pitchFamily="2" charset="-122"/>
            </a:endParaRPr>
          </a:p>
          <a:p>
            <a:pPr lvl="1" algn="just">
              <a:spcBef>
                <a:spcPct val="50000"/>
              </a:spcBef>
            </a:pPr>
            <a:r>
              <a:rPr lang="zh-CN" altLang="en-US" b="1" dirty="0">
                <a:solidFill>
                  <a:srgbClr val="000099"/>
                </a:solidFill>
                <a:latin typeface="Times New Roman" panose="02020503050405090304" pitchFamily="18" charset="0"/>
                <a:ea typeface="宋体" pitchFamily="2" charset="-122"/>
                <a:sym typeface="+mn-ea"/>
              </a:rPr>
              <a:t>用单个的专有名词或代词（</a:t>
            </a:r>
            <a:r>
              <a:rPr lang="en-US" altLang="zh-CN" b="1">
                <a:solidFill>
                  <a:srgbClr val="000099"/>
                </a:solidFill>
                <a:latin typeface="Times New Roman" panose="02020503050405090304" pitchFamily="18" charset="0"/>
                <a:ea typeface="宋体" pitchFamily="2" charset="-122"/>
                <a:sym typeface="+mn-ea"/>
              </a:rPr>
              <a:t>Jim</a:t>
            </a:r>
            <a:r>
              <a:rPr lang="zh-CN" altLang="en-US" b="1">
                <a:solidFill>
                  <a:srgbClr val="000099"/>
                </a:solidFill>
                <a:latin typeface="Times New Roman" panose="02020503050405090304" pitchFamily="18" charset="0"/>
                <a:ea typeface="宋体" pitchFamily="2" charset="-122"/>
                <a:sym typeface="+mn-ea"/>
              </a:rPr>
              <a:t>、</a:t>
            </a:r>
            <a:r>
              <a:rPr lang="zh-CN" altLang="en-US" b="1" dirty="0">
                <a:solidFill>
                  <a:srgbClr val="000099"/>
                </a:solidFill>
                <a:latin typeface="Times New Roman" panose="02020503050405090304" pitchFamily="18" charset="0"/>
                <a:ea typeface="宋体" pitchFamily="2" charset="-122"/>
                <a:sym typeface="+mn-ea"/>
              </a:rPr>
              <a:t>他、她、雇员号</a:t>
            </a:r>
            <a:r>
              <a:rPr lang="en-US" altLang="zh-CN" b="1">
                <a:solidFill>
                  <a:srgbClr val="000099"/>
                </a:solidFill>
                <a:latin typeface="Times New Roman" panose="02020503050405090304" pitchFamily="18" charset="0"/>
                <a:ea typeface="宋体" pitchFamily="2" charset="-122"/>
                <a:sym typeface="+mn-ea"/>
              </a:rPr>
              <a:t>5</a:t>
            </a:r>
            <a:r>
              <a:rPr lang="zh-CN" altLang="en-US" b="1" dirty="0">
                <a:solidFill>
                  <a:srgbClr val="000099"/>
                </a:solidFill>
                <a:latin typeface="Times New Roman" panose="02020503050405090304" pitchFamily="18" charset="0"/>
                <a:ea typeface="宋体" pitchFamily="2" charset="-122"/>
                <a:sym typeface="+mn-ea"/>
              </a:rPr>
              <a:t>、我的工作站、我的家）以及直接引用的名词（第六个参赛者、第一百万次购买）识别对象。用复数名词（人们、顾客们、开发商们、用户们）以及普通名词（人、顾客、雇员、工作站）来识别类。</a:t>
            </a:r>
            <a:endParaRPr lang="zh-CN" altLang="en-US" b="1" dirty="0">
              <a:solidFill>
                <a:srgbClr val="000099"/>
              </a:solidFill>
              <a:latin typeface="Times New Roman" panose="02020503050405090304" pitchFamily="18" charset="0"/>
              <a:ea typeface="宋体" pitchFamily="2" charset="-122"/>
            </a:endParaRPr>
          </a:p>
          <a:p>
            <a:endParaRPr lang="zh-CN"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solidFill>
                  <a:schemeClr val="hlink"/>
                </a:solidFill>
                <a:effectLst>
                  <a:outerShdw blurRad="38100" dist="38100" dir="2700000">
                    <a:srgbClr val="C0C0C0"/>
                  </a:outerShdw>
                </a:effectLst>
                <a:latin typeface="Times New Roman" panose="02020503050405090304" pitchFamily="18" charset="0"/>
                <a:ea typeface="宋体" pitchFamily="2" charset="-122"/>
                <a:sym typeface="+mn-ea"/>
              </a:rPr>
              <a:t>对类进行调整</a:t>
            </a:r>
            <a:endParaRPr lang="zh-CN" altLang="en-US" dirty="0"/>
          </a:p>
        </p:txBody>
      </p:sp>
      <p:sp>
        <p:nvSpPr>
          <p:cNvPr id="3" name="内容占位符 2"/>
          <p:cNvSpPr>
            <a:spLocks noGrp="1"/>
          </p:cNvSpPr>
          <p:nvPr>
            <p:ph idx="1"/>
          </p:nvPr>
        </p:nvSpPr>
        <p:spPr/>
        <p:txBody>
          <a:bodyPr>
            <a:normAutofit fontScale="67500" lnSpcReduction="10000"/>
          </a:bodyPr>
          <a:lstStyle/>
          <a:p>
            <a:pPr marL="0" lvl="2" algn="l">
              <a:buClrTx/>
              <a:buSzTx/>
            </a:pPr>
            <a:r>
              <a:rPr lang="zh-CN" altLang="en-US" sz="2665" b="1" dirty="0">
                <a:solidFill>
                  <a:srgbClr val="0000FF"/>
                </a:solidFill>
                <a:latin typeface="Times New Roman" panose="02020503050405090304" pitchFamily="18" charset="0"/>
                <a:ea typeface="微软简魏碑" pitchFamily="2" charset="-122"/>
                <a:sym typeface="+mn-ea"/>
              </a:rPr>
              <a:t>简化——合并到关联类</a:t>
            </a:r>
            <a:endParaRPr lang="zh-CN" altLang="en-US" sz="2665" b="1" dirty="0">
              <a:solidFill>
                <a:srgbClr val="0000FF"/>
              </a:solidFill>
              <a:latin typeface="Times New Roman" panose="02020503050405090304" pitchFamily="18" charset="0"/>
              <a:ea typeface="微软简魏碑" pitchFamily="2" charset="-122"/>
            </a:endParaRPr>
          </a:p>
          <a:p>
            <a:pPr lvl="1"/>
            <a:r>
              <a:rPr lang="zh-CN" altLang="en-US" sz="2665" b="1" dirty="0">
                <a:latin typeface="Times New Roman" panose="02020503050405090304" pitchFamily="18" charset="0"/>
                <a:ea typeface="微软简魏碑" pitchFamily="2" charset="-122"/>
                <a:sym typeface="+mn-ea"/>
              </a:rPr>
              <a:t>对只有一个属性的类</a:t>
            </a:r>
            <a:endParaRPr lang="zh-CN" altLang="en-US" sz="2665" b="1" dirty="0">
              <a:latin typeface="Times New Roman" panose="02020503050405090304" pitchFamily="18" charset="0"/>
              <a:ea typeface="微软简魏碑" pitchFamily="2" charset="-122"/>
            </a:endParaRPr>
          </a:p>
          <a:p>
            <a:pPr lvl="1"/>
            <a:r>
              <a:rPr lang="zh-CN" altLang="en-US" sz="2665" b="1" dirty="0">
                <a:latin typeface="Times New Roman" panose="02020503050405090304" pitchFamily="18" charset="0"/>
                <a:ea typeface="微软简魏碑" pitchFamily="2" charset="-122"/>
                <a:sym typeface="+mn-ea"/>
              </a:rPr>
              <a:t>只有一个</a:t>
            </a:r>
            <a:r>
              <a:rPr lang="zh-CN" altLang="en-US" sz="2665" b="1" dirty="0">
                <a:latin typeface="宋体" pitchFamily="2" charset="-122"/>
                <a:ea typeface="宋体" pitchFamily="2" charset="-122"/>
                <a:sym typeface="+mn-ea"/>
              </a:rPr>
              <a:t>操作</a:t>
            </a:r>
            <a:r>
              <a:rPr lang="zh-CN" altLang="en-US" sz="2665" b="1" dirty="0">
                <a:latin typeface="Times New Roman" panose="02020503050405090304" pitchFamily="18" charset="0"/>
                <a:ea typeface="微软简魏碑" pitchFamily="2" charset="-122"/>
                <a:sym typeface="+mn-ea"/>
              </a:rPr>
              <a:t>的类</a:t>
            </a:r>
          </a:p>
          <a:p>
            <a:pPr marL="0" lvl="2"/>
            <a:r>
              <a:rPr lang="zh-CN" altLang="en-US" sz="2665" b="1" dirty="0">
                <a:solidFill>
                  <a:srgbClr val="0000FF"/>
                </a:solidFill>
                <a:latin typeface="Times New Roman" panose="02020503050405090304" pitchFamily="18" charset="0"/>
                <a:ea typeface="微软简魏碑" pitchFamily="2" charset="-122"/>
                <a:sym typeface="+mn-ea"/>
              </a:rPr>
              <a:t>类的属性或操作不适合该类的全部对象</a:t>
            </a:r>
            <a:r>
              <a:rPr lang="zh-CN" altLang="en-US" sz="2665" dirty="0">
                <a:solidFill>
                  <a:srgbClr val="0000FF"/>
                </a:solidFill>
                <a:latin typeface="Times New Roman" panose="02020503050405090304" pitchFamily="18" charset="0"/>
                <a:ea typeface="微软简魏碑" pitchFamily="2" charset="-122"/>
                <a:sym typeface="+mn-ea"/>
              </a:rPr>
              <a:t> ——</a:t>
            </a:r>
            <a:r>
              <a:rPr lang="zh-CN" altLang="en-US" sz="2665" b="1" dirty="0">
                <a:latin typeface="Times New Roman" panose="02020503050405090304" pitchFamily="18" charset="0"/>
                <a:ea typeface="微软简魏碑" pitchFamily="2" charset="-122"/>
                <a:sym typeface="+mn-ea"/>
              </a:rPr>
              <a:t>进一步划分特殊类</a:t>
            </a:r>
          </a:p>
          <a:p>
            <a:pPr marL="457200" lvl="3"/>
            <a:r>
              <a:rPr lang="zh-CN" altLang="en-US" sz="2665" b="1" dirty="0">
                <a:solidFill>
                  <a:srgbClr val="0000FF"/>
                </a:solidFill>
                <a:latin typeface="Times New Roman" panose="02020503050405090304" pitchFamily="18" charset="0"/>
                <a:ea typeface="宋体" pitchFamily="2" charset="-122"/>
                <a:sym typeface="+mn-ea"/>
              </a:rPr>
              <a:t> </a:t>
            </a:r>
            <a:r>
              <a:rPr lang="zh-CN" altLang="en-US" sz="2665" b="1" dirty="0">
                <a:latin typeface="Times New Roman" panose="02020503050405090304" pitchFamily="18" charset="0"/>
                <a:ea typeface="微软简魏碑" pitchFamily="2" charset="-122"/>
                <a:sym typeface="+mn-ea"/>
              </a:rPr>
              <a:t>例：“汽车”类的“乘客限量”属性，不适合于吊车、铲车——问题：分类不够详细</a:t>
            </a:r>
          </a:p>
          <a:p>
            <a:pPr marL="0" lvl="2"/>
            <a:r>
              <a:rPr lang="zh-CN" altLang="en-US" sz="2665" b="1" dirty="0">
                <a:solidFill>
                  <a:srgbClr val="0000FF"/>
                </a:solidFill>
                <a:latin typeface="Times New Roman" panose="02020503050405090304" pitchFamily="18" charset="0"/>
                <a:ea typeface="微软简魏碑" pitchFamily="2" charset="-122"/>
                <a:sym typeface="+mn-ea"/>
              </a:rPr>
              <a:t>属性及操作相同的类</a:t>
            </a:r>
            <a:r>
              <a:rPr lang="en-US" altLang="zh-CN" sz="2665" b="1" baseline="30000" dirty="0">
                <a:solidFill>
                  <a:srgbClr val="0000FF"/>
                </a:solidFill>
                <a:latin typeface="Times New Roman" panose="02020503050405090304" pitchFamily="18" charset="0"/>
                <a:ea typeface="微软简魏碑" pitchFamily="2" charset="-122"/>
                <a:sym typeface="+mn-ea"/>
              </a:rPr>
              <a:t>*</a:t>
            </a:r>
            <a:endParaRPr lang="en-US" altLang="zh-CN" sz="2665" b="1" dirty="0">
              <a:solidFill>
                <a:srgbClr val="0000FF"/>
              </a:solidFill>
              <a:latin typeface="Times New Roman" panose="02020503050405090304" pitchFamily="18" charset="0"/>
              <a:ea typeface="微软简魏碑" pitchFamily="2" charset="-122"/>
            </a:endParaRPr>
          </a:p>
          <a:p>
            <a:pPr lvl="1" indent="-198120" eaLnBrk="0" hangingPunct="0"/>
            <a:r>
              <a:rPr lang="zh-CN" altLang="en-US" sz="2665" b="1" dirty="0">
                <a:latin typeface="Times New Roman" panose="02020503050405090304" pitchFamily="18" charset="0"/>
                <a:ea typeface="微软简魏碑" pitchFamily="2" charset="-122"/>
                <a:sym typeface="+mn-ea"/>
              </a:rPr>
              <a:t>经过抽象，差别很大的事物可能只保留相同的特征</a:t>
            </a:r>
            <a:endParaRPr lang="zh-CN" altLang="en-US" sz="2665" b="1" dirty="0">
              <a:latin typeface="Times New Roman" panose="02020503050405090304" pitchFamily="18" charset="0"/>
              <a:ea typeface="微软简魏碑" pitchFamily="2" charset="-122"/>
            </a:endParaRPr>
          </a:p>
          <a:p>
            <a:pPr lvl="1" indent="-198120" eaLnBrk="0" hangingPunct="0"/>
            <a:r>
              <a:rPr lang="zh-CN" altLang="en-US" sz="2665" b="1" dirty="0">
                <a:latin typeface="Times New Roman" panose="02020503050405090304" pitchFamily="18" charset="0"/>
                <a:ea typeface="微软简魏碑" pitchFamily="2" charset="-122"/>
                <a:sym typeface="+mn-ea"/>
              </a:rPr>
              <a:t>考虑能否合并为一个类，如计算机与吸尘器</a:t>
            </a:r>
            <a:endParaRPr lang="zh-CN" altLang="en-US" sz="2665" b="1" dirty="0">
              <a:latin typeface="Times New Roman" panose="02020503050405090304" pitchFamily="18" charset="0"/>
              <a:ea typeface="微软简魏碑" pitchFamily="2" charset="-122"/>
            </a:endParaRPr>
          </a:p>
          <a:p>
            <a:pPr lvl="0"/>
            <a:r>
              <a:rPr lang="zh-CN" altLang="en-US" sz="2665" b="1" dirty="0">
                <a:solidFill>
                  <a:srgbClr val="0000FF"/>
                </a:solidFill>
                <a:latin typeface="Times New Roman" panose="02020503050405090304" pitchFamily="18" charset="0"/>
                <a:ea typeface="微软简魏碑" pitchFamily="2" charset="-122"/>
                <a:sym typeface="+mn-ea"/>
              </a:rPr>
              <a:t>属性及操作相似的类</a:t>
            </a:r>
            <a:r>
              <a:rPr lang="en-US" altLang="zh-CN" sz="2665" b="1" baseline="30000" dirty="0">
                <a:solidFill>
                  <a:srgbClr val="0000FF"/>
                </a:solidFill>
                <a:latin typeface="Times New Roman" panose="02020503050405090304" pitchFamily="18" charset="0"/>
                <a:ea typeface="微软简魏碑" pitchFamily="2" charset="-122"/>
                <a:sym typeface="+mn-ea"/>
              </a:rPr>
              <a:t>*</a:t>
            </a:r>
          </a:p>
          <a:p>
            <a:pPr lvl="1"/>
            <a:r>
              <a:rPr lang="zh-CN" altLang="en-US" sz="2665" b="1" dirty="0">
                <a:latin typeface="Times New Roman" panose="02020503050405090304" pitchFamily="18" charset="0"/>
                <a:ea typeface="微软简魏碑" pitchFamily="2" charset="-122"/>
                <a:sym typeface="+mn-ea"/>
              </a:rPr>
              <a:t>考虑能否提升出一个一般类</a:t>
            </a:r>
            <a:r>
              <a:rPr lang="en-US" altLang="zh-CN" sz="2665" b="1" dirty="0">
                <a:latin typeface="Times New Roman" panose="02020503050405090304" pitchFamily="18" charset="0"/>
                <a:ea typeface="微软简魏碑" pitchFamily="2" charset="-122"/>
                <a:sym typeface="+mn-ea"/>
              </a:rPr>
              <a:t>*</a:t>
            </a:r>
            <a:r>
              <a:rPr lang="zh-CN" altLang="en-US" sz="2665" b="1" dirty="0">
                <a:latin typeface="Times New Roman" panose="02020503050405090304" pitchFamily="18" charset="0"/>
                <a:ea typeface="微软简魏碑" pitchFamily="2" charset="-122"/>
                <a:sym typeface="+mn-ea"/>
              </a:rPr>
              <a:t>，或形成整体部分结构。</a:t>
            </a:r>
          </a:p>
          <a:p>
            <a:pPr lvl="1"/>
            <a:r>
              <a:rPr lang="zh-CN" altLang="en-US" sz="2665" b="1" dirty="0">
                <a:latin typeface="Times New Roman" panose="02020503050405090304" pitchFamily="18" charset="0"/>
                <a:ea typeface="微软简魏碑" pitchFamily="2" charset="-122"/>
                <a:sym typeface="+mn-ea"/>
              </a:rPr>
              <a:t>例</a:t>
            </a:r>
            <a:r>
              <a:rPr lang="en-US" altLang="zh-CN" sz="2665" b="1" dirty="0">
                <a:latin typeface="Times New Roman" panose="02020503050405090304" pitchFamily="18" charset="0"/>
                <a:ea typeface="微软简魏碑" pitchFamily="2" charset="-122"/>
                <a:sym typeface="+mn-ea"/>
              </a:rPr>
              <a:t>:</a:t>
            </a:r>
            <a:r>
              <a:rPr lang="zh-CN" altLang="en-US" sz="2665" b="1" dirty="0">
                <a:latin typeface="Times New Roman" panose="02020503050405090304" pitchFamily="18" charset="0"/>
                <a:ea typeface="微软简魏碑" pitchFamily="2" charset="-122"/>
                <a:sym typeface="+mn-ea"/>
              </a:rPr>
              <a:t>轿车、货车，抽象出汽车；机床与鼓风机用电机做成分</a:t>
            </a:r>
            <a:r>
              <a:rPr lang="en-US" altLang="zh-CN" sz="2665" b="1" dirty="0">
                <a:latin typeface="Times New Roman" panose="02020503050405090304" pitchFamily="18" charset="0"/>
                <a:ea typeface="微软简魏碑" pitchFamily="2" charset="-122"/>
                <a:sym typeface="+mn-ea"/>
              </a:rPr>
              <a:t>.</a:t>
            </a:r>
            <a:endParaRPr lang="en-US" altLang="zh-CN" sz="2665" b="1" dirty="0">
              <a:latin typeface="Times New Roman" panose="02020503050405090304" pitchFamily="18" charset="0"/>
              <a:ea typeface="微软简魏碑" pitchFamily="2" charset="-122"/>
            </a:endParaRPr>
          </a:p>
          <a:p>
            <a:pPr lvl="0"/>
            <a:r>
              <a:rPr lang="zh-CN" altLang="en-US" sz="2665" b="1" dirty="0">
                <a:solidFill>
                  <a:srgbClr val="0000FF"/>
                </a:solidFill>
                <a:latin typeface="Times New Roman" panose="02020503050405090304" pitchFamily="18" charset="0"/>
                <a:ea typeface="微软简魏碑" pitchFamily="2" charset="-122"/>
                <a:sym typeface="+mn-ea"/>
              </a:rPr>
              <a:t>对职责过多的类进行分解</a:t>
            </a:r>
            <a:endParaRPr lang="zh-CN" altLang="en-US" sz="2665" b="1" dirty="0">
              <a:solidFill>
                <a:srgbClr val="0000FF"/>
              </a:solidFill>
              <a:latin typeface="Times New Roman" panose="02020503050405090304" pitchFamily="18" charset="0"/>
              <a:ea typeface="微软简魏碑" pitchFamily="2" charset="-122"/>
            </a:endParaRPr>
          </a:p>
          <a:p>
            <a:pPr lvl="2" indent="-198120" eaLnBrk="0" hangingPunct="0"/>
            <a:endParaRPr lang="zh-CN" altLang="en-US" b="1" dirty="0">
              <a:solidFill>
                <a:srgbClr val="0000FF"/>
              </a:solidFill>
              <a:latin typeface="Times New Roman" panose="02020503050405090304" pitchFamily="18" charset="0"/>
              <a:ea typeface="微软简魏碑" pitchFamily="2" charset="-122"/>
            </a:endParaRPr>
          </a:p>
          <a:p>
            <a:pPr lvl="0"/>
            <a:endParaRPr lang="zh-CN"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属性</a:t>
            </a:r>
          </a:p>
        </p:txBody>
      </p:sp>
      <p:sp>
        <p:nvSpPr>
          <p:cNvPr id="3" name="内容占位符 2"/>
          <p:cNvSpPr>
            <a:spLocks noGrp="1"/>
          </p:cNvSpPr>
          <p:nvPr>
            <p:ph idx="1"/>
          </p:nvPr>
        </p:nvSpPr>
        <p:spPr/>
        <p:txBody>
          <a:bodyPr>
            <a:normAutofit fontScale="87500" lnSpcReduction="20000"/>
          </a:bodyPr>
          <a:lstStyle/>
          <a:p>
            <a:r>
              <a:rPr lang="zh-CN" altLang="en-US" b="1" dirty="0">
                <a:solidFill>
                  <a:schemeClr val="hlink"/>
                </a:solidFill>
                <a:latin typeface="Times New Roman" panose="02020503050405090304" pitchFamily="18" charset="0"/>
                <a:ea typeface="宋体" pitchFamily="2" charset="-122"/>
                <a:sym typeface="+mn-ea"/>
              </a:rPr>
              <a:t>属性</a:t>
            </a:r>
            <a:r>
              <a:rPr lang="zh-CN" altLang="en-US" b="1" dirty="0">
                <a:latin typeface="Times New Roman" panose="02020503050405090304" pitchFamily="18" charset="0"/>
                <a:ea typeface="微软简魏碑" pitchFamily="2" charset="-122"/>
                <a:sym typeface="+mn-ea"/>
              </a:rPr>
              <a:t>是用来描述对象静态特征的一个数据项</a:t>
            </a:r>
            <a:r>
              <a:rPr lang="zh-CN" altLang="en-US" dirty="0">
                <a:latin typeface="Times New Roman" panose="02020503050405090304" pitchFamily="18" charset="0"/>
                <a:ea typeface="微软简魏碑" pitchFamily="2" charset="-122"/>
                <a:sym typeface="+mn-ea"/>
              </a:rPr>
              <a:t> </a:t>
            </a:r>
            <a:endParaRPr lang="zh-CN" altLang="en-US" b="1" dirty="0">
              <a:solidFill>
                <a:srgbClr val="0000FF"/>
              </a:solidFill>
              <a:latin typeface="宋体" pitchFamily="2" charset="-122"/>
              <a:ea typeface="宋体" pitchFamily="2" charset="-122"/>
            </a:endParaRPr>
          </a:p>
          <a:p>
            <a:r>
              <a:rPr lang="en-US" altLang="zh-CN" b="1">
                <a:solidFill>
                  <a:schemeClr val="accent1"/>
                </a:solidFill>
                <a:latin typeface="Times New Roman" panose="02020503050405090304" pitchFamily="18" charset="0"/>
                <a:ea typeface="微软简魏碑" pitchFamily="2" charset="-122"/>
                <a:sym typeface="+mn-ea"/>
              </a:rPr>
              <a:t>——</a:t>
            </a:r>
            <a:r>
              <a:rPr lang="zh-CN" altLang="en-US" b="1" dirty="0">
                <a:solidFill>
                  <a:schemeClr val="accent1"/>
                </a:solidFill>
                <a:latin typeface="Times New Roman" panose="02020503050405090304" pitchFamily="18" charset="0"/>
                <a:ea typeface="微软简魏碑" pitchFamily="2" charset="-122"/>
                <a:sym typeface="+mn-ea"/>
              </a:rPr>
              <a:t>属性是与问题高度相关的</a:t>
            </a:r>
            <a:r>
              <a:rPr lang="en-US" altLang="zh-CN" b="1" dirty="0">
                <a:solidFill>
                  <a:schemeClr val="accent1"/>
                </a:solidFill>
                <a:latin typeface="Times New Roman" panose="02020503050405090304" pitchFamily="18" charset="0"/>
                <a:ea typeface="微软简魏碑" pitchFamily="2" charset="-122"/>
                <a:sym typeface="+mn-ea"/>
              </a:rPr>
              <a:t>*</a:t>
            </a:r>
            <a:r>
              <a:rPr lang="zh-CN" altLang="en-US" b="1" dirty="0">
                <a:solidFill>
                  <a:schemeClr val="accent1"/>
                </a:solidFill>
                <a:latin typeface="Times New Roman" panose="02020503050405090304" pitchFamily="18" charset="0"/>
                <a:ea typeface="微软简魏碑" pitchFamily="2" charset="-122"/>
                <a:sym typeface="+mn-ea"/>
              </a:rPr>
              <a:t>。</a:t>
            </a:r>
            <a:endParaRPr lang="zh-CN" altLang="en-US" b="1" dirty="0">
              <a:latin typeface="宋体" pitchFamily="2" charset="-122"/>
              <a:ea typeface="宋体" pitchFamily="2" charset="-122"/>
            </a:endParaRPr>
          </a:p>
          <a:p>
            <a:pPr lvl="1"/>
            <a:r>
              <a:rPr lang="zh-CN" altLang="en-US" b="1" dirty="0">
                <a:latin typeface="宋体" pitchFamily="2" charset="-122"/>
                <a:ea typeface="宋体" pitchFamily="2" charset="-122"/>
                <a:sym typeface="+mn-ea"/>
              </a:rPr>
              <a:t>从技术观点上，属性是变量，包含它的每一个对象都具有自己的值（</a:t>
            </a:r>
            <a:r>
              <a:rPr lang="zh-CN" altLang="en-US" b="1" dirty="0">
                <a:solidFill>
                  <a:srgbClr val="0000FF"/>
                </a:solidFill>
                <a:latin typeface="宋体" pitchFamily="2" charset="-122"/>
                <a:ea typeface="宋体" pitchFamily="2" charset="-122"/>
                <a:sym typeface="+mn-ea"/>
              </a:rPr>
              <a:t>属性值</a:t>
            </a:r>
            <a:r>
              <a:rPr lang="zh-CN" altLang="en-US" b="1" dirty="0">
                <a:latin typeface="宋体" pitchFamily="2" charset="-122"/>
                <a:ea typeface="宋体" pitchFamily="2" charset="-122"/>
                <a:sym typeface="+mn-ea"/>
              </a:rPr>
              <a:t>）。 </a:t>
            </a:r>
            <a:r>
              <a:rPr lang="zh-CN" altLang="en-US" b="1" dirty="0">
                <a:latin typeface="Times New Roman" panose="02020503050405090304" pitchFamily="18" charset="0"/>
                <a:ea typeface="微软简魏碑" pitchFamily="2" charset="-122"/>
                <a:sym typeface="+mn-ea"/>
              </a:rPr>
              <a:t>  </a:t>
            </a:r>
            <a:endParaRPr lang="zh-CN" altLang="en-US" b="1" dirty="0">
              <a:latin typeface="宋体" pitchFamily="2" charset="-122"/>
              <a:ea typeface="宋体" pitchFamily="2" charset="-122"/>
            </a:endParaRPr>
          </a:p>
          <a:p>
            <a:pPr lvl="1"/>
            <a:r>
              <a:rPr lang="zh-CN" altLang="en-US" b="1" dirty="0">
                <a:latin typeface="宋体" pitchFamily="2" charset="-122"/>
                <a:ea typeface="宋体" pitchFamily="2" charset="-122"/>
                <a:sym typeface="+mn-ea"/>
              </a:rPr>
              <a:t>按照面向对象方法的封装原则，一个对象的属性和操作是紧密结合的，对象的属性只能由这个对象的操作存取。</a:t>
            </a:r>
            <a:endParaRPr lang="zh-CN" altLang="en-US" b="1" dirty="0">
              <a:latin typeface="Times New Roman" panose="02020503050405090304" pitchFamily="18" charset="0"/>
              <a:ea typeface="微软简魏碑" pitchFamily="2" charset="-122"/>
            </a:endParaRPr>
          </a:p>
          <a:p>
            <a:r>
              <a:rPr lang="zh-CN" altLang="en-US" dirty="0">
                <a:solidFill>
                  <a:schemeClr val="hlink"/>
                </a:solidFill>
                <a:latin typeface="Times New Roman" panose="02020503050405090304" pitchFamily="18" charset="0"/>
                <a:ea typeface="微软简魏碑" pitchFamily="2" charset="-122"/>
                <a:sym typeface="+mn-ea"/>
              </a:rPr>
              <a:t> </a:t>
            </a:r>
            <a:r>
              <a:rPr lang="en-US" altLang="zh-CN" b="1">
                <a:solidFill>
                  <a:schemeClr val="hlink"/>
                </a:solidFill>
                <a:effectLst>
                  <a:outerShdw blurRad="38100" dist="38100" dir="2700000">
                    <a:srgbClr val="C0C0C0"/>
                  </a:outerShdw>
                </a:effectLst>
                <a:latin typeface="Times New Roman" panose="02020503050405090304" pitchFamily="18" charset="0"/>
                <a:ea typeface="微软简魏碑" pitchFamily="2" charset="-122"/>
                <a:sym typeface="+mn-ea"/>
              </a:rPr>
              <a:t>[</a:t>
            </a:r>
            <a:r>
              <a:rPr lang="zh-CN" altLang="en-US" b="1" dirty="0">
                <a:solidFill>
                  <a:schemeClr val="hlink"/>
                </a:solidFill>
                <a:effectLst>
                  <a:outerShdw blurRad="38100" dist="38100" dir="2700000">
                    <a:srgbClr val="C0C0C0"/>
                  </a:outerShdw>
                </a:effectLst>
                <a:latin typeface="Times New Roman" panose="02020503050405090304" pitchFamily="18" charset="0"/>
                <a:ea typeface="微软简魏碑" pitchFamily="2" charset="-122"/>
                <a:sym typeface="+mn-ea"/>
              </a:rPr>
              <a:t>可见性</a:t>
            </a:r>
            <a:r>
              <a:rPr lang="en-US" altLang="zh-CN" b="1">
                <a:solidFill>
                  <a:schemeClr val="hlink"/>
                </a:solidFill>
                <a:effectLst>
                  <a:outerShdw blurRad="38100" dist="38100" dir="2700000">
                    <a:srgbClr val="C0C0C0"/>
                  </a:outerShdw>
                </a:effectLst>
                <a:latin typeface="Times New Roman" panose="02020503050405090304" pitchFamily="18" charset="0"/>
                <a:ea typeface="微软简魏碑" pitchFamily="2" charset="-122"/>
                <a:sym typeface="+mn-ea"/>
              </a:rPr>
              <a:t>] </a:t>
            </a:r>
            <a:r>
              <a:rPr lang="zh-CN" altLang="en-US" b="1" dirty="0">
                <a:solidFill>
                  <a:schemeClr val="hlink"/>
                </a:solidFill>
                <a:effectLst>
                  <a:outerShdw blurRad="38100" dist="38100" dir="2700000">
                    <a:srgbClr val="C0C0C0"/>
                  </a:outerShdw>
                </a:effectLst>
                <a:latin typeface="Times New Roman" panose="02020503050405090304" pitchFamily="18" charset="0"/>
                <a:ea typeface="微软简魏碑" pitchFamily="2" charset="-122"/>
                <a:sym typeface="+mn-ea"/>
              </a:rPr>
              <a:t>属性名</a:t>
            </a:r>
            <a:r>
              <a:rPr lang="en-US" altLang="zh-CN" b="1">
                <a:solidFill>
                  <a:schemeClr val="hlink"/>
                </a:solidFill>
                <a:effectLst>
                  <a:outerShdw blurRad="38100" dist="38100" dir="2700000">
                    <a:srgbClr val="C0C0C0"/>
                  </a:outerShdw>
                </a:effectLst>
                <a:latin typeface="Times New Roman" panose="02020503050405090304" pitchFamily="18" charset="0"/>
                <a:ea typeface="微软简魏碑" pitchFamily="2" charset="-122"/>
                <a:sym typeface="+mn-ea"/>
              </a:rPr>
              <a:t>[‘:’</a:t>
            </a:r>
            <a:r>
              <a:rPr lang="zh-CN" altLang="en-US" b="1" dirty="0">
                <a:solidFill>
                  <a:schemeClr val="hlink"/>
                </a:solidFill>
                <a:effectLst>
                  <a:outerShdw blurRad="38100" dist="38100" dir="2700000">
                    <a:srgbClr val="C0C0C0"/>
                  </a:outerShdw>
                </a:effectLst>
                <a:latin typeface="Times New Roman" panose="02020503050405090304" pitchFamily="18" charset="0"/>
                <a:ea typeface="微软简魏碑" pitchFamily="2" charset="-122"/>
                <a:sym typeface="+mn-ea"/>
              </a:rPr>
              <a:t>类型</a:t>
            </a:r>
            <a:r>
              <a:rPr lang="en-US" altLang="zh-CN" b="1">
                <a:solidFill>
                  <a:schemeClr val="hlink"/>
                </a:solidFill>
                <a:effectLst>
                  <a:outerShdw blurRad="38100" dist="38100" dir="2700000">
                    <a:srgbClr val="C0C0C0"/>
                  </a:outerShdw>
                </a:effectLst>
                <a:latin typeface="Times New Roman" panose="02020503050405090304" pitchFamily="18" charset="0"/>
                <a:ea typeface="微软简魏碑" pitchFamily="2" charset="-122"/>
                <a:sym typeface="+mn-ea"/>
              </a:rPr>
              <a:t>][‘ =’</a:t>
            </a:r>
            <a:r>
              <a:rPr lang="zh-CN" altLang="en-US" b="1" dirty="0">
                <a:solidFill>
                  <a:schemeClr val="hlink"/>
                </a:solidFill>
                <a:effectLst>
                  <a:outerShdw blurRad="38100" dist="38100" dir="2700000">
                    <a:srgbClr val="C0C0C0"/>
                  </a:outerShdw>
                </a:effectLst>
                <a:latin typeface="Times New Roman" panose="02020503050405090304" pitchFamily="18" charset="0"/>
                <a:ea typeface="微软简魏碑" pitchFamily="2" charset="-122"/>
                <a:sym typeface="+mn-ea"/>
              </a:rPr>
              <a:t>初始值</a:t>
            </a:r>
            <a:r>
              <a:rPr lang="en-US" altLang="zh-CN" b="1">
                <a:solidFill>
                  <a:schemeClr val="hlink"/>
                </a:solidFill>
                <a:effectLst>
                  <a:outerShdw blurRad="38100" dist="38100" dir="2700000">
                    <a:srgbClr val="C0C0C0"/>
                  </a:outerShdw>
                </a:effectLst>
                <a:latin typeface="Times New Roman" panose="02020503050405090304" pitchFamily="18" charset="0"/>
                <a:ea typeface="微软简魏碑" pitchFamily="2" charset="-122"/>
                <a:sym typeface="+mn-ea"/>
              </a:rPr>
              <a:t>]</a:t>
            </a:r>
            <a:r>
              <a:rPr lang="en-US" altLang="zh-CN">
                <a:solidFill>
                  <a:schemeClr val="hlink"/>
                </a:solidFill>
                <a:latin typeface="Times New Roman" panose="02020503050405090304" pitchFamily="18" charset="0"/>
                <a:ea typeface="微软简魏碑" pitchFamily="2" charset="-122"/>
                <a:sym typeface="+mn-ea"/>
              </a:rPr>
              <a:t> </a:t>
            </a:r>
            <a:endParaRPr lang="en-US" altLang="zh-CN" b="1">
              <a:solidFill>
                <a:schemeClr val="hlink"/>
              </a:solidFill>
              <a:latin typeface="Times New Roman" panose="02020503050405090304" pitchFamily="18" charset="0"/>
              <a:ea typeface="微软简魏碑" pitchFamily="2" charset="-122"/>
            </a:endParaRPr>
          </a:p>
          <a:p>
            <a:pPr lvl="1"/>
            <a:r>
              <a:rPr lang="zh-CN" altLang="en-US" b="1" dirty="0">
                <a:latin typeface="Times New Roman" panose="02020503050405090304" pitchFamily="18" charset="0"/>
                <a:ea typeface="微软简魏碑" pitchFamily="2" charset="-122"/>
                <a:sym typeface="+mn-ea"/>
              </a:rPr>
              <a:t>可见性分为</a:t>
            </a:r>
            <a:r>
              <a:rPr lang="en-US" altLang="zh-CN" b="1">
                <a:effectLst>
                  <a:outerShdw blurRad="38100" dist="38100" dir="2700000">
                    <a:srgbClr val="C0C0C0"/>
                  </a:outerShdw>
                </a:effectLst>
                <a:latin typeface="Times New Roman" panose="02020503050405090304" pitchFamily="18" charset="0"/>
                <a:ea typeface="微软简魏碑" pitchFamily="2" charset="-122"/>
                <a:sym typeface="+mn-ea"/>
              </a:rPr>
              <a:t>+</a:t>
            </a:r>
            <a:r>
              <a:rPr lang="zh-CN" altLang="en-US" b="1" dirty="0">
                <a:effectLst>
                  <a:outerShdw blurRad="38100" dist="38100" dir="2700000">
                    <a:srgbClr val="C0C0C0"/>
                  </a:outerShdw>
                </a:effectLst>
                <a:latin typeface="Times New Roman" panose="02020503050405090304" pitchFamily="18" charset="0"/>
                <a:ea typeface="微软简魏碑" pitchFamily="2" charset="-122"/>
                <a:sym typeface="+mn-ea"/>
              </a:rPr>
              <a:t>（公有的）、</a:t>
            </a:r>
            <a:r>
              <a:rPr lang="en-US" altLang="zh-CN" b="1">
                <a:effectLst>
                  <a:outerShdw blurRad="38100" dist="38100" dir="2700000">
                    <a:srgbClr val="C0C0C0"/>
                  </a:outerShdw>
                </a:effectLst>
                <a:latin typeface="Times New Roman" panose="02020503050405090304" pitchFamily="18" charset="0"/>
                <a:ea typeface="微软简魏碑" pitchFamily="2" charset="-122"/>
                <a:sym typeface="+mn-ea"/>
              </a:rPr>
              <a:t>#</a:t>
            </a:r>
            <a:r>
              <a:rPr lang="zh-CN" altLang="en-US" b="1" dirty="0">
                <a:effectLst>
                  <a:outerShdw blurRad="38100" dist="38100" dir="2700000">
                    <a:srgbClr val="C0C0C0"/>
                  </a:outerShdw>
                </a:effectLst>
                <a:latin typeface="Times New Roman" panose="02020503050405090304" pitchFamily="18" charset="0"/>
                <a:ea typeface="微软简魏碑" pitchFamily="2" charset="-122"/>
                <a:sym typeface="+mn-ea"/>
              </a:rPr>
              <a:t>（受保护的） </a:t>
            </a:r>
            <a:r>
              <a:rPr lang="zh-CN" altLang="en-US" b="1" dirty="0">
                <a:latin typeface="Times New Roman" panose="02020503050405090304" pitchFamily="18" charset="0"/>
                <a:ea typeface="微软简魏碑" pitchFamily="2" charset="-122"/>
                <a:sym typeface="+mn-ea"/>
              </a:rPr>
              <a:t>、</a:t>
            </a:r>
            <a:r>
              <a:rPr lang="zh-CN" altLang="en-US" b="1" dirty="0">
                <a:effectLst>
                  <a:outerShdw blurRad="38100" dist="38100" dir="2700000">
                    <a:srgbClr val="C0C0C0"/>
                  </a:outerShdw>
                </a:effectLst>
                <a:latin typeface="Times New Roman" panose="02020503050405090304" pitchFamily="18" charset="0"/>
                <a:ea typeface="微软简魏碑" pitchFamily="2" charset="-122"/>
                <a:sym typeface="+mn-ea"/>
              </a:rPr>
              <a:t>－（私有的）或 </a:t>
            </a:r>
            <a:r>
              <a:rPr lang="en-US" altLang="zh-CN" b="1">
                <a:latin typeface="Times New Roman" panose="02020503050405090304" pitchFamily="18" charset="0"/>
                <a:ea typeface="微软简魏碑" pitchFamily="2" charset="-122"/>
                <a:sym typeface="+mn-ea"/>
              </a:rPr>
              <a:t>~</a:t>
            </a:r>
            <a:r>
              <a:rPr lang="zh-CN" altLang="en-US" b="1" dirty="0">
                <a:latin typeface="Times New Roman" panose="02020503050405090304" pitchFamily="18" charset="0"/>
                <a:ea typeface="微软简魏碑" pitchFamily="2" charset="-122"/>
                <a:sym typeface="+mn-ea"/>
              </a:rPr>
              <a:t>（包，只有在同一包中声明的类能够使用这一属性）。</a:t>
            </a:r>
            <a:r>
              <a:rPr lang="zh-CN" altLang="en-US" dirty="0">
                <a:latin typeface="Times New Roman" panose="02020503050405090304" pitchFamily="18" charset="0"/>
                <a:ea typeface="微软简魏碑" pitchFamily="2" charset="-122"/>
                <a:sym typeface="+mn-ea"/>
              </a:rPr>
              <a:t> </a:t>
            </a:r>
            <a:endParaRPr lang="zh-CN" altLang="en-US" b="1" dirty="0">
              <a:latin typeface="Times New Roman" panose="02020503050405090304" pitchFamily="18" charset="0"/>
              <a:ea typeface="微软简魏碑" pitchFamily="2" charset="-122"/>
            </a:endParaRPr>
          </a:p>
          <a:p>
            <a:r>
              <a:rPr lang="zh-CN" altLang="en-US" b="1" dirty="0">
                <a:latin typeface="Times New Roman" panose="02020503050405090304" pitchFamily="18" charset="0"/>
                <a:ea typeface="微软简魏碑" pitchFamily="2" charset="-122"/>
                <a:sym typeface="+mn-ea"/>
              </a:rPr>
              <a:t> 在一个对象</a:t>
            </a:r>
            <a:r>
              <a:rPr lang="en-US" altLang="zh-CN" b="1">
                <a:latin typeface="Times New Roman" panose="02020503050405090304" pitchFamily="18" charset="0"/>
                <a:ea typeface="微软简魏碑" pitchFamily="2" charset="-122"/>
                <a:sym typeface="+mn-ea"/>
              </a:rPr>
              <a:t>/</a:t>
            </a:r>
            <a:r>
              <a:rPr lang="zh-CN" altLang="en-US" b="1" dirty="0">
                <a:latin typeface="Times New Roman" panose="02020503050405090304" pitchFamily="18" charset="0"/>
                <a:ea typeface="微软简魏碑" pitchFamily="2" charset="-122"/>
                <a:sym typeface="+mn-ea"/>
              </a:rPr>
              <a:t>类中，必须给每一个属性一个唯一的名字。</a:t>
            </a:r>
            <a:endParaRPr lang="zh-CN" altLang="en-US" b="1" dirty="0">
              <a:latin typeface="Times New Roman" panose="02020503050405090304" pitchFamily="18" charset="0"/>
              <a:ea typeface="微软简魏碑" pitchFamily="2" charset="-122"/>
            </a:endParaRPr>
          </a:p>
          <a:p>
            <a:r>
              <a:rPr lang="zh-CN" altLang="en-US" b="1" dirty="0">
                <a:latin typeface="Times New Roman" panose="02020503050405090304" pitchFamily="18" charset="0"/>
                <a:ea typeface="微软简魏碑" pitchFamily="2" charset="-122"/>
                <a:sym typeface="+mn-ea"/>
              </a:rPr>
              <a:t>属性的类型可以是常见的基本数据类型，也可以是自己定义的类型。</a:t>
            </a:r>
            <a:r>
              <a:rPr lang="zh-CN" altLang="en-US" dirty="0">
                <a:latin typeface="Times New Roman" panose="02020503050405090304" pitchFamily="18" charset="0"/>
                <a:ea typeface="微软简魏碑" pitchFamily="2" charset="-122"/>
                <a:sym typeface="+mn-ea"/>
              </a:rPr>
              <a:t>  </a:t>
            </a:r>
            <a:endParaRPr lang="zh-CN" altLang="en-US" b="1">
              <a:latin typeface="Times New Roman" panose="02020503050405090304" pitchFamily="18" charset="0"/>
              <a:ea typeface="宋体" pitchFamily="2" charset="-122"/>
            </a:endParaRPr>
          </a:p>
          <a:p>
            <a:endParaRPr lang="zh-CN"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类属性</a:t>
            </a:r>
            <a:endParaRPr lang="zh-CN" altLang="en-US"/>
          </a:p>
        </p:txBody>
      </p:sp>
      <p:sp>
        <p:nvSpPr>
          <p:cNvPr id="3" name="内容占位符 2"/>
          <p:cNvSpPr>
            <a:spLocks noGrp="1"/>
          </p:cNvSpPr>
          <p:nvPr>
            <p:ph idx="1"/>
          </p:nvPr>
        </p:nvSpPr>
        <p:spPr/>
        <p:txBody>
          <a:bodyPr/>
          <a:lstStyle/>
          <a:p>
            <a:r>
              <a:rPr lang="en-US" altLang="zh-CN" b="1" dirty="0">
                <a:latin typeface="Times New Roman" panose="02020503050405090304" pitchFamily="18" charset="0"/>
                <a:ea typeface="微软简魏碑" pitchFamily="2" charset="-122"/>
                <a:sym typeface="+mn-ea"/>
              </a:rPr>
              <a:t> OO</a:t>
            </a:r>
            <a:r>
              <a:rPr lang="zh-CN" altLang="en-US" b="1" dirty="0">
                <a:latin typeface="Times New Roman" panose="02020503050405090304" pitchFamily="18" charset="0"/>
                <a:ea typeface="微软简魏碑" pitchFamily="2" charset="-122"/>
                <a:sym typeface="+mn-ea"/>
              </a:rPr>
              <a:t>方法中有“实例属性”和“类属性”的概念之分。上面谈到的只是实例属性。</a:t>
            </a:r>
            <a:endParaRPr lang="zh-CN" altLang="en-US" b="1" dirty="0">
              <a:latin typeface="Times New Roman" panose="02020503050405090304" pitchFamily="18" charset="0"/>
              <a:ea typeface="微软简魏碑" pitchFamily="2" charset="-122"/>
            </a:endParaRPr>
          </a:p>
          <a:p>
            <a:r>
              <a:rPr lang="zh-CN" altLang="en-US" b="1" dirty="0">
                <a:solidFill>
                  <a:schemeClr val="hlink"/>
                </a:solidFill>
                <a:effectLst>
                  <a:outerShdw blurRad="38100" dist="38100" dir="2700000">
                    <a:srgbClr val="C0C0C0"/>
                  </a:outerShdw>
                </a:effectLst>
                <a:latin typeface="Times New Roman" panose="02020503050405090304" pitchFamily="18" charset="0"/>
                <a:ea typeface="微软简魏碑" pitchFamily="2" charset="-122"/>
                <a:sym typeface="+mn-ea"/>
              </a:rPr>
              <a:t>类属性</a:t>
            </a:r>
            <a:r>
              <a:rPr lang="zh-CN" altLang="en-US" b="1" dirty="0">
                <a:solidFill>
                  <a:srgbClr val="0000FF"/>
                </a:solidFill>
                <a:effectLst>
                  <a:outerShdw blurRad="38100" dist="38100" dir="2700000">
                    <a:srgbClr val="C0C0C0"/>
                  </a:outerShdw>
                </a:effectLst>
                <a:latin typeface="Times New Roman" panose="02020503050405090304" pitchFamily="18" charset="0"/>
                <a:ea typeface="微软简魏碑" pitchFamily="2" charset="-122"/>
                <a:sym typeface="+mn-ea"/>
              </a:rPr>
              <a:t>是描述类的所有对象共同特征的一个数据项，对于任何对象实例，它的属性值都是相同的。 </a:t>
            </a:r>
            <a:endParaRPr lang="zh-CN" altLang="en-US" b="1" dirty="0">
              <a:solidFill>
                <a:srgbClr val="0000FF"/>
              </a:solidFill>
              <a:effectLst>
                <a:outerShdw blurRad="38100" dist="38100" dir="2700000">
                  <a:srgbClr val="C0C0C0"/>
                </a:outerShdw>
              </a:effectLst>
              <a:latin typeface="Times New Roman" panose="02020503050405090304" pitchFamily="18" charset="0"/>
              <a:ea typeface="微软简魏碑" pitchFamily="2" charset="-122"/>
            </a:endParaRPr>
          </a:p>
          <a:p>
            <a:r>
              <a:rPr lang="zh-CN" altLang="en-US" b="1" dirty="0">
                <a:latin typeface="Times New Roman" panose="02020503050405090304" pitchFamily="18" charset="0"/>
                <a:ea typeface="微软简魏碑" pitchFamily="2" charset="-122"/>
                <a:sym typeface="+mn-ea"/>
              </a:rPr>
              <a:t> </a:t>
            </a:r>
            <a:r>
              <a:rPr lang="en-US" altLang="zh-CN" b="1" dirty="0">
                <a:latin typeface="Times New Roman" panose="02020503050405090304" pitchFamily="18" charset="0"/>
                <a:ea typeface="微软简魏碑" pitchFamily="2" charset="-122"/>
                <a:sym typeface="+mn-ea"/>
              </a:rPr>
              <a:t>C++</a:t>
            </a:r>
            <a:r>
              <a:rPr lang="zh-CN" altLang="en-US" b="1" dirty="0">
                <a:latin typeface="Times New Roman" panose="02020503050405090304" pitchFamily="18" charset="0"/>
                <a:ea typeface="微软简魏碑" pitchFamily="2" charset="-122"/>
                <a:sym typeface="+mn-ea"/>
              </a:rPr>
              <a:t>中冠以</a:t>
            </a:r>
            <a:r>
              <a:rPr lang="en-US" altLang="zh-CN" b="1" dirty="0">
                <a:latin typeface="Times New Roman" panose="02020503050405090304" pitchFamily="18" charset="0"/>
                <a:ea typeface="微软简魏碑" pitchFamily="2" charset="-122"/>
                <a:sym typeface="+mn-ea"/>
              </a:rPr>
              <a:t>static</a:t>
            </a:r>
            <a:r>
              <a:rPr lang="zh-CN" altLang="en-US" b="1" dirty="0">
                <a:latin typeface="Times New Roman" panose="02020503050405090304" pitchFamily="18" charset="0"/>
                <a:ea typeface="微软简魏碑" pitchFamily="2" charset="-122"/>
                <a:sym typeface="+mn-ea"/>
              </a:rPr>
              <a:t>的成员变量是类属性，这样的属性对一个类的全部对象实例只是一份共同的数据空间，所以对任何对象而言，该属性的值总是相同的。</a:t>
            </a:r>
            <a:endParaRPr lang="zh-CN" altLang="en-US" b="1" dirty="0">
              <a:latin typeface="Times New Roman" panose="02020503050405090304" pitchFamily="18" charset="0"/>
              <a:ea typeface="微软简魏碑" pitchFamily="2" charset="-122"/>
            </a:endParaRPr>
          </a:p>
          <a:p>
            <a:r>
              <a:rPr lang="zh-CN" altLang="en-US" b="1" dirty="0">
                <a:latin typeface="Times New Roman" panose="02020503050405090304" pitchFamily="18" charset="0"/>
                <a:ea typeface="微软简魏碑" pitchFamily="2" charset="-122"/>
                <a:sym typeface="+mn-ea"/>
              </a:rPr>
              <a:t>实例属性和类属性各有不同的用途</a:t>
            </a:r>
            <a:r>
              <a:rPr lang="en-US" altLang="zh-CN" b="1" dirty="0">
                <a:latin typeface="Times New Roman" panose="02020503050405090304" pitchFamily="18" charset="0"/>
                <a:ea typeface="微软简魏碑" pitchFamily="2" charset="-122"/>
                <a:sym typeface="+mn-ea"/>
              </a:rPr>
              <a:t>*</a:t>
            </a:r>
            <a:r>
              <a:rPr lang="zh-CN" altLang="en-US" b="1" dirty="0">
                <a:latin typeface="Times New Roman" panose="02020503050405090304" pitchFamily="18" charset="0"/>
                <a:ea typeface="微软简魏碑" pitchFamily="2" charset="-122"/>
                <a:sym typeface="+mn-ea"/>
              </a:rPr>
              <a:t>。</a:t>
            </a:r>
            <a:endParaRPr lang="zh-CN"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发现属性的启发式方法</a:t>
            </a:r>
          </a:p>
        </p:txBody>
      </p:sp>
      <p:sp>
        <p:nvSpPr>
          <p:cNvPr id="3" name="内容占位符 2"/>
          <p:cNvSpPr>
            <a:spLocks noGrp="1"/>
          </p:cNvSpPr>
          <p:nvPr>
            <p:ph idx="1"/>
          </p:nvPr>
        </p:nvSpPr>
        <p:spPr/>
        <p:txBody>
          <a:bodyPr>
            <a:normAutofit fontScale="97500"/>
          </a:bodyPr>
          <a:lstStyle/>
          <a:p>
            <a:pPr lvl="0" algn="l" eaLnBrk="0" hangingPunct="0">
              <a:lnSpc>
                <a:spcPct val="120000"/>
              </a:lnSpc>
              <a:buClr>
                <a:srgbClr val="0070C0"/>
              </a:buClr>
              <a:buSzTx/>
              <a:buFont typeface="Wingdings" panose="05000000000000000000" charset="0"/>
              <a:buChar char=""/>
            </a:pPr>
            <a:r>
              <a:rPr lang="zh-CN" altLang="en-US" b="1" dirty="0">
                <a:latin typeface="微软简魏碑" pitchFamily="2" charset="-122"/>
                <a:ea typeface="微软简魏碑" pitchFamily="2" charset="-122"/>
                <a:sym typeface="+mn-ea"/>
              </a:rPr>
              <a:t>按常识这个对象应该有哪些属性？</a:t>
            </a:r>
            <a:endParaRPr lang="zh-CN" altLang="en-US" b="1" dirty="0">
              <a:latin typeface="微软简魏碑" pitchFamily="2" charset="-122"/>
              <a:ea typeface="微软简魏碑" pitchFamily="2" charset="-122"/>
            </a:endParaRPr>
          </a:p>
          <a:p>
            <a:pPr lvl="0" eaLnBrk="0" hangingPunct="0">
              <a:lnSpc>
                <a:spcPct val="120000"/>
              </a:lnSpc>
              <a:buClr>
                <a:srgbClr val="0070C0"/>
              </a:buClr>
              <a:buFont typeface="Wingdings" panose="05000000000000000000" charset="0"/>
              <a:buChar char=""/>
            </a:pPr>
            <a:r>
              <a:rPr lang="zh-CN" altLang="en-US" b="1" dirty="0">
                <a:latin typeface="微软简魏碑" pitchFamily="2" charset="-122"/>
                <a:ea typeface="微软简魏碑" pitchFamily="2" charset="-122"/>
                <a:sym typeface="+mn-ea"/>
              </a:rPr>
              <a:t>在当前的问题域中，对象应该有哪些属性？</a:t>
            </a:r>
            <a:endParaRPr lang="zh-CN" altLang="en-US" b="1" dirty="0">
              <a:latin typeface="微软简魏碑" pitchFamily="2" charset="-122"/>
              <a:ea typeface="微软简魏碑" pitchFamily="2" charset="-122"/>
            </a:endParaRPr>
          </a:p>
          <a:p>
            <a:pPr lvl="0" eaLnBrk="0" hangingPunct="0">
              <a:lnSpc>
                <a:spcPct val="120000"/>
              </a:lnSpc>
              <a:buClr>
                <a:srgbClr val="0070C0"/>
              </a:buClr>
              <a:buFont typeface="Wingdings" panose="05000000000000000000" charset="0"/>
              <a:buChar char=""/>
            </a:pPr>
            <a:r>
              <a:rPr lang="zh-CN" altLang="en-US" b="1" dirty="0">
                <a:latin typeface="微软简魏碑" pitchFamily="2" charset="-122"/>
                <a:ea typeface="微软简魏碑" pitchFamily="2" charset="-122"/>
                <a:sym typeface="+mn-ea"/>
              </a:rPr>
              <a:t>根据系统责任，这个对象应具有哪些属性</a:t>
            </a:r>
            <a:r>
              <a:rPr lang="en-US" altLang="zh-CN" b="1" baseline="30000" dirty="0">
                <a:latin typeface="微软简魏碑" pitchFamily="2" charset="-122"/>
                <a:ea typeface="微软简魏碑" pitchFamily="2" charset="-122"/>
                <a:sym typeface="+mn-ea"/>
              </a:rPr>
              <a:t>*</a:t>
            </a:r>
            <a:r>
              <a:rPr lang="zh-CN" altLang="en-US" b="1" dirty="0">
                <a:latin typeface="微软简魏碑" pitchFamily="2" charset="-122"/>
                <a:ea typeface="微软简魏碑" pitchFamily="2" charset="-122"/>
                <a:sym typeface="+mn-ea"/>
              </a:rPr>
              <a:t>？</a:t>
            </a:r>
            <a:endParaRPr lang="zh-CN" altLang="en-US" b="1" dirty="0">
              <a:latin typeface="微软简魏碑" pitchFamily="2" charset="-122"/>
              <a:ea typeface="微软简魏碑" pitchFamily="2" charset="-122"/>
            </a:endParaRPr>
          </a:p>
          <a:p>
            <a:pPr lvl="0" eaLnBrk="0" hangingPunct="0">
              <a:lnSpc>
                <a:spcPct val="120000"/>
              </a:lnSpc>
              <a:buClr>
                <a:srgbClr val="0070C0"/>
              </a:buClr>
              <a:buFont typeface="Wingdings" panose="05000000000000000000" charset="0"/>
              <a:buChar char=""/>
            </a:pPr>
            <a:r>
              <a:rPr lang="zh-CN" altLang="en-US" b="1" dirty="0">
                <a:latin typeface="微软简魏碑" pitchFamily="2" charset="-122"/>
                <a:ea typeface="微软简魏碑" pitchFamily="2" charset="-122"/>
                <a:sym typeface="+mn-ea"/>
              </a:rPr>
              <a:t>建立这个对象是为了保存和管理哪些信息？</a:t>
            </a:r>
            <a:endParaRPr lang="zh-CN" altLang="en-US" b="1" dirty="0">
              <a:latin typeface="微软简魏碑" pitchFamily="2" charset="-122"/>
              <a:ea typeface="微软简魏碑" pitchFamily="2" charset="-122"/>
            </a:endParaRPr>
          </a:p>
          <a:p>
            <a:pPr lvl="0" eaLnBrk="0" hangingPunct="0">
              <a:lnSpc>
                <a:spcPct val="120000"/>
              </a:lnSpc>
              <a:buClr>
                <a:srgbClr val="0070C0"/>
              </a:buClr>
              <a:buFont typeface="Wingdings" panose="05000000000000000000" charset="0"/>
              <a:buChar char=""/>
            </a:pPr>
            <a:r>
              <a:rPr lang="zh-CN" altLang="en-US" b="1" dirty="0">
                <a:latin typeface="微软简魏碑" pitchFamily="2" charset="-122"/>
                <a:ea typeface="微软简魏碑" pitchFamily="2" charset="-122"/>
                <a:sym typeface="+mn-ea"/>
              </a:rPr>
              <a:t>对象为了完成其功能，需要增设哪些属性？</a:t>
            </a:r>
            <a:endParaRPr lang="zh-CN" altLang="en-US" b="1" dirty="0">
              <a:latin typeface="微软简魏碑" pitchFamily="2" charset="-122"/>
              <a:ea typeface="微软简魏碑" pitchFamily="2" charset="-122"/>
            </a:endParaRPr>
          </a:p>
          <a:p>
            <a:pPr lvl="0" eaLnBrk="0" hangingPunct="0">
              <a:lnSpc>
                <a:spcPct val="120000"/>
              </a:lnSpc>
              <a:buClr>
                <a:srgbClr val="0070C0"/>
              </a:buClr>
              <a:buFont typeface="Wingdings" panose="05000000000000000000" charset="0"/>
              <a:buChar char=""/>
            </a:pPr>
            <a:r>
              <a:rPr lang="zh-CN" altLang="en-US" b="1" dirty="0">
                <a:latin typeface="微软简魏碑" pitchFamily="2" charset="-122"/>
                <a:ea typeface="微软简魏碑" pitchFamily="2" charset="-122"/>
                <a:sym typeface="+mn-ea"/>
              </a:rPr>
              <a:t>对象是否需要通过专设的属性区别其状态</a:t>
            </a:r>
            <a:r>
              <a:rPr lang="en-US" altLang="zh-CN" b="1" baseline="30000" dirty="0">
                <a:latin typeface="微软简魏碑" pitchFamily="2" charset="-122"/>
                <a:ea typeface="微软简魏碑" pitchFamily="2" charset="-122"/>
                <a:sym typeface="+mn-ea"/>
              </a:rPr>
              <a:t>*</a:t>
            </a:r>
            <a:r>
              <a:rPr lang="zh-CN" altLang="en-US" b="1" dirty="0">
                <a:latin typeface="微软简魏碑" pitchFamily="2" charset="-122"/>
                <a:ea typeface="微软简魏碑" pitchFamily="2" charset="-122"/>
                <a:sym typeface="+mn-ea"/>
              </a:rPr>
              <a:t>？</a:t>
            </a:r>
            <a:endParaRPr lang="zh-CN" altLang="en-US" b="1" dirty="0">
              <a:latin typeface="微软简魏碑" pitchFamily="2" charset="-122"/>
              <a:ea typeface="微软简魏碑" pitchFamily="2" charset="-122"/>
            </a:endParaRPr>
          </a:p>
          <a:p>
            <a:pPr lvl="0" eaLnBrk="0" hangingPunct="0">
              <a:lnSpc>
                <a:spcPct val="120000"/>
              </a:lnSpc>
              <a:buClr>
                <a:srgbClr val="0070C0"/>
              </a:buClr>
              <a:buFont typeface="Wingdings" panose="05000000000000000000" charset="0"/>
              <a:buChar char=""/>
            </a:pPr>
            <a:r>
              <a:rPr lang="zh-CN" altLang="en-US" b="1" dirty="0">
                <a:latin typeface="微软简魏碑" pitchFamily="2" charset="-122"/>
                <a:ea typeface="微软简魏碑" pitchFamily="2" charset="-122"/>
                <a:sym typeface="+mn-ea"/>
              </a:rPr>
              <a:t>用什么属性表示聚合和关联？</a:t>
            </a:r>
            <a:r>
              <a:rPr lang="en-US" altLang="zh-CN" b="1">
                <a:latin typeface="微软简魏碑" pitchFamily="2" charset="-122"/>
                <a:ea typeface="微软简魏碑" pitchFamily="2" charset="-122"/>
                <a:sym typeface="+mn-ea"/>
              </a:rPr>
              <a:t>--</a:t>
            </a:r>
            <a:r>
              <a:rPr lang="zh-CN" altLang="en-US" b="1" dirty="0">
                <a:latin typeface="微软简魏碑" pitchFamily="2" charset="-122"/>
                <a:ea typeface="微软简魏碑" pitchFamily="2" charset="-122"/>
                <a:sym typeface="+mn-ea"/>
              </a:rPr>
              <a:t>不建议</a:t>
            </a:r>
            <a:endParaRPr lang="zh-CN" altLang="en-US" b="1" dirty="0">
              <a:latin typeface="微软简魏碑" pitchFamily="2" charset="-122"/>
              <a:ea typeface="微软简魏碑" pitchFamily="2" charset="-122"/>
            </a:endParaRPr>
          </a:p>
          <a:p>
            <a:pPr lvl="0" eaLnBrk="0" hangingPunct="0">
              <a:lnSpc>
                <a:spcPct val="120000"/>
              </a:lnSpc>
              <a:buClr>
                <a:srgbClr val="0070C0"/>
              </a:buClr>
              <a:buFont typeface="Wingdings" panose="05000000000000000000" charset="0"/>
              <a:buChar char=""/>
            </a:pPr>
            <a:r>
              <a:rPr lang="zh-CN" altLang="en-US" b="1" dirty="0">
                <a:latin typeface="宋体" pitchFamily="2" charset="-122"/>
                <a:ea typeface="宋体" pitchFamily="2" charset="-122"/>
                <a:sym typeface="+mn-ea"/>
              </a:rPr>
              <a:t>可利用需求文档中的形容词或所有格短语</a:t>
            </a:r>
            <a:r>
              <a:rPr lang="en-US" altLang="zh-CN" b="1" baseline="30000" dirty="0">
                <a:latin typeface="微软简魏碑" pitchFamily="2" charset="-122"/>
                <a:ea typeface="微软简魏碑" pitchFamily="2" charset="-122"/>
                <a:sym typeface="+mn-ea"/>
              </a:rPr>
              <a:t>*</a:t>
            </a:r>
            <a:r>
              <a:rPr lang="zh-CN" altLang="en-US" b="1" dirty="0">
                <a:latin typeface="宋体" pitchFamily="2" charset="-122"/>
                <a:ea typeface="宋体" pitchFamily="2" charset="-122"/>
                <a:sym typeface="+mn-ea"/>
              </a:rPr>
              <a:t>。</a:t>
            </a:r>
            <a:r>
              <a:rPr lang="zh-CN" altLang="en-US" b="1" dirty="0">
                <a:latin typeface="微软简魏碑" pitchFamily="2" charset="-122"/>
                <a:ea typeface="微软简魏碑" pitchFamily="2" charset="-122"/>
                <a:sym typeface="+mn-ea"/>
              </a:rPr>
              <a:t> </a:t>
            </a:r>
            <a:endParaRPr lang="zh-CN" altLang="en-US" b="1" dirty="0">
              <a:latin typeface="微软简魏碑" pitchFamily="2" charset="-122"/>
              <a:ea typeface="微软简魏碑" pitchFamily="2" charset="-122"/>
            </a:endParaRPr>
          </a:p>
          <a:p>
            <a:pPr marL="0" indent="0">
              <a:buClr>
                <a:schemeClr val="hlink"/>
              </a:buClr>
              <a:buFont typeface="Wingdings" panose="05000000000000000000" pitchFamily="2" charset="2"/>
              <a:buNone/>
            </a:pPr>
            <a:r>
              <a:rPr lang="zh-CN" altLang="en-US" dirty="0">
                <a:latin typeface="Times New Roman" panose="02020503050405090304" pitchFamily="18" charset="0"/>
                <a:ea typeface="微软简魏碑" pitchFamily="2" charset="-122"/>
                <a:sym typeface="+mn-ea"/>
              </a:rPr>
              <a:t> </a:t>
            </a:r>
            <a:r>
              <a:rPr lang="zh-CN" altLang="en-US" b="1" dirty="0">
                <a:latin typeface="Times New Roman" panose="02020503050405090304" pitchFamily="18" charset="0"/>
                <a:ea typeface="微软简魏碑" pitchFamily="2" charset="-122"/>
                <a:sym typeface="+mn-ea"/>
              </a:rPr>
              <a:t>若一个属性的结构较为复杂（即不仅仅是一些简单的数字或文本），可考虑把其作为对象。</a:t>
            </a:r>
            <a:endParaRPr lang="zh-CN" altLang="en-US" b="1" dirty="0">
              <a:latin typeface="Times New Roman" panose="02020503050405090304" pitchFamily="18" charset="0"/>
              <a:ea typeface="微软简魏碑" pitchFamily="2" charset="-122"/>
            </a:endParaRPr>
          </a:p>
          <a:p>
            <a:endParaRPr lang="zh-CN"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例子</a:t>
            </a:r>
          </a:p>
        </p:txBody>
      </p:sp>
      <p:sp>
        <p:nvSpPr>
          <p:cNvPr id="3" name="内容占位符 2"/>
          <p:cNvSpPr>
            <a:spLocks noGrp="1"/>
          </p:cNvSpPr>
          <p:nvPr>
            <p:ph idx="1"/>
          </p:nvPr>
        </p:nvSpPr>
        <p:spPr/>
        <p:txBody>
          <a:bodyPr>
            <a:normAutofit fontScale="77500" lnSpcReduction="10000"/>
          </a:bodyPr>
          <a:lstStyle/>
          <a:p>
            <a:pPr>
              <a:buClr>
                <a:srgbClr val="0070C0"/>
              </a:buClr>
              <a:buSzPct val="95000"/>
              <a:buFont typeface="Wingdings" panose="05000000000000000000" charset="0"/>
              <a:buChar char=""/>
            </a:pPr>
            <a:r>
              <a:rPr lang="zh-CN" altLang="en-US" b="1" dirty="0">
                <a:latin typeface="Times New Roman" panose="02020503050405090304" pitchFamily="18" charset="0"/>
                <a:ea typeface="微软简魏碑" pitchFamily="2" charset="-122"/>
                <a:sym typeface="+mn-ea"/>
              </a:rPr>
              <a:t>是否体现了以系统责任为目标的抽象；例：书的重量</a:t>
            </a:r>
            <a:r>
              <a:rPr lang="en-US" altLang="zh-CN" b="1" dirty="0">
                <a:latin typeface="Times New Roman" panose="02020503050405090304" pitchFamily="18" charset="0"/>
                <a:ea typeface="微软简魏碑" pitchFamily="2" charset="-122"/>
                <a:sym typeface="+mn-ea"/>
              </a:rPr>
              <a:t>* </a:t>
            </a:r>
            <a:r>
              <a:rPr lang="zh-CN" altLang="en-US" b="1" dirty="0">
                <a:latin typeface="Times New Roman" panose="02020503050405090304" pitchFamily="18" charset="0"/>
                <a:ea typeface="微软简魏碑" pitchFamily="2" charset="-122"/>
                <a:sym typeface="+mn-ea"/>
              </a:rPr>
              <a:t>？</a:t>
            </a:r>
            <a:endParaRPr lang="zh-CN" altLang="en-US" b="1" dirty="0">
              <a:latin typeface="Times New Roman" panose="02020503050405090304" pitchFamily="18" charset="0"/>
              <a:ea typeface="微软简魏碑" pitchFamily="2" charset="-122"/>
            </a:endParaRPr>
          </a:p>
          <a:p>
            <a:pPr>
              <a:buClr>
                <a:srgbClr val="0070C0"/>
              </a:buClr>
              <a:buSzPct val="95000"/>
              <a:buFont typeface="Wingdings" panose="05000000000000000000" charset="0"/>
              <a:buChar char=""/>
            </a:pPr>
            <a:r>
              <a:rPr lang="zh-CN" altLang="en-US" b="1" dirty="0">
                <a:latin typeface="Times New Roman" panose="02020503050405090304" pitchFamily="18" charset="0"/>
                <a:ea typeface="微软简魏碑" pitchFamily="2" charset="-122"/>
                <a:sym typeface="+mn-ea"/>
              </a:rPr>
              <a:t>是否描述对象本身的特征；例：课程</a:t>
            </a:r>
            <a:r>
              <a:rPr lang="en-US" altLang="zh-CN" b="1" dirty="0">
                <a:latin typeface="Times New Roman" panose="02020503050405090304" pitchFamily="18" charset="0"/>
                <a:ea typeface="微软简魏碑" pitchFamily="2" charset="-122"/>
                <a:sym typeface="+mn-ea"/>
              </a:rPr>
              <a:t>—</a:t>
            </a:r>
            <a:r>
              <a:rPr lang="zh-CN" altLang="en-US" b="1" dirty="0">
                <a:latin typeface="Times New Roman" panose="02020503050405090304" pitchFamily="18" charset="0"/>
                <a:ea typeface="微软简魏碑" pitchFamily="2" charset="-122"/>
                <a:sym typeface="+mn-ea"/>
              </a:rPr>
              <a:t>电话号码</a:t>
            </a:r>
            <a:r>
              <a:rPr lang="en-US" altLang="zh-CN" b="1" dirty="0">
                <a:latin typeface="Times New Roman" panose="02020503050405090304" pitchFamily="18" charset="0"/>
                <a:ea typeface="微软简魏碑" pitchFamily="2" charset="-122"/>
                <a:sym typeface="+mn-ea"/>
              </a:rPr>
              <a:t>* </a:t>
            </a:r>
            <a:r>
              <a:rPr lang="zh-CN" altLang="en-US" b="1" dirty="0">
                <a:latin typeface="Times New Roman" panose="02020503050405090304" pitchFamily="18" charset="0"/>
                <a:ea typeface="微软简魏碑" pitchFamily="2" charset="-122"/>
                <a:sym typeface="+mn-ea"/>
              </a:rPr>
              <a:t>？</a:t>
            </a:r>
            <a:endParaRPr lang="zh-CN" altLang="en-US" b="1" dirty="0">
              <a:latin typeface="Times New Roman" panose="02020503050405090304" pitchFamily="18" charset="0"/>
              <a:ea typeface="微软简魏碑" pitchFamily="2" charset="-122"/>
            </a:endParaRPr>
          </a:p>
          <a:p>
            <a:pPr>
              <a:buClr>
                <a:srgbClr val="0070C0"/>
              </a:buClr>
              <a:buSzPct val="95000"/>
              <a:buFont typeface="Wingdings" panose="05000000000000000000" charset="0"/>
              <a:buChar char=""/>
            </a:pPr>
            <a:r>
              <a:rPr lang="zh-CN" altLang="en-US" b="1" dirty="0">
                <a:latin typeface="Times New Roman" panose="02020503050405090304" pitchFamily="18" charset="0"/>
                <a:ea typeface="微软简魏碑" pitchFamily="2" charset="-122"/>
                <a:sym typeface="+mn-ea"/>
              </a:rPr>
              <a:t>一个属性所对应的一个事物性质的粒度要适当。</a:t>
            </a:r>
            <a:endParaRPr lang="zh-CN" altLang="en-US" b="1" dirty="0">
              <a:latin typeface="Times New Roman" panose="02020503050405090304" pitchFamily="18" charset="0"/>
              <a:ea typeface="微软简魏碑" pitchFamily="2" charset="-122"/>
            </a:endParaRPr>
          </a:p>
          <a:p>
            <a:pPr lvl="1">
              <a:buClr>
                <a:srgbClr val="0070C0"/>
              </a:buClr>
              <a:buSzPct val="95000"/>
              <a:buFont typeface="Wingdings" panose="05000000000000000000" charset="0"/>
              <a:buChar char=""/>
            </a:pPr>
            <a:r>
              <a:rPr lang="zh-CN" altLang="en-US" b="1" dirty="0">
                <a:latin typeface="Times New Roman" panose="02020503050405090304" pitchFamily="18" charset="0"/>
                <a:ea typeface="微软简魏碑" pitchFamily="2" charset="-122"/>
                <a:sym typeface="+mn-ea"/>
              </a:rPr>
              <a:t> 例如人的通信地址，包括国家、省、城市、街道、门牌号码等内容，但这些内容在通信地址这个概念上是不可分的。在定义“人员”对象的属性时，应该使用一个属性“通信地址”，而不应把有关通信地址的各项内容拆散开用多个属性来描述。</a:t>
            </a:r>
            <a:r>
              <a:rPr lang="zh-CN" altLang="en-US" dirty="0">
                <a:latin typeface="Times New Roman" panose="02020503050405090304" pitchFamily="18" charset="0"/>
                <a:ea typeface="微软简魏碑" pitchFamily="2" charset="-122"/>
                <a:sym typeface="+mn-ea"/>
              </a:rPr>
              <a:t> </a:t>
            </a:r>
            <a:endParaRPr lang="zh-CN" altLang="en-US" b="1" dirty="0">
              <a:latin typeface="Times New Roman" panose="02020503050405090304" pitchFamily="18" charset="0"/>
              <a:ea typeface="微软简魏碑" pitchFamily="2" charset="-122"/>
            </a:endParaRPr>
          </a:p>
          <a:p>
            <a:pPr>
              <a:buClr>
                <a:srgbClr val="0070C0"/>
              </a:buClr>
              <a:buSzPct val="95000"/>
              <a:buFont typeface="Wingdings" panose="05000000000000000000" charset="0"/>
              <a:buChar char=""/>
            </a:pPr>
            <a:r>
              <a:rPr lang="zh-CN" altLang="en-US" b="1" dirty="0">
                <a:latin typeface="宋体" pitchFamily="2" charset="-122"/>
                <a:ea typeface="宋体" pitchFamily="2" charset="-122"/>
                <a:sym typeface="+mn-ea"/>
              </a:rPr>
              <a:t>若一个对象与另一个对象有关系，其属性必须捕获该对象的性质，而不是关系或关系中的其他对象的性质；</a:t>
            </a:r>
            <a:r>
              <a:rPr lang="zh-CN" altLang="en-US" b="1" dirty="0">
                <a:latin typeface="Times New Roman" panose="02020503050405090304" pitchFamily="18" charset="0"/>
                <a:ea typeface="微软简魏碑" pitchFamily="2" charset="-122"/>
                <a:sym typeface="+mn-ea"/>
              </a:rPr>
              <a:t> </a:t>
            </a:r>
            <a:endParaRPr lang="zh-CN" altLang="en-US" b="1" dirty="0">
              <a:latin typeface="Times New Roman" panose="02020503050405090304" pitchFamily="18" charset="0"/>
              <a:ea typeface="微软简魏碑" pitchFamily="2" charset="-122"/>
            </a:endParaRPr>
          </a:p>
          <a:p>
            <a:pPr lvl="1">
              <a:buClr>
                <a:srgbClr val="0070C0"/>
              </a:buClr>
              <a:buSzPct val="95000"/>
              <a:buFont typeface="Wingdings" panose="05000000000000000000" charset="0"/>
              <a:buChar char=""/>
            </a:pPr>
            <a:r>
              <a:rPr lang="zh-CN" altLang="en-US" b="1" dirty="0">
                <a:latin typeface="Times New Roman" panose="02020503050405090304" pitchFamily="18" charset="0"/>
                <a:ea typeface="微软简魏碑" pitchFamily="2" charset="-122"/>
                <a:sym typeface="+mn-ea"/>
              </a:rPr>
              <a:t> 如属性必须是整个实体的特征，而不是其成分的特征</a:t>
            </a:r>
            <a:r>
              <a:rPr lang="en-US" altLang="zh-CN" b="1" dirty="0">
                <a:latin typeface="Times New Roman" panose="02020503050405090304" pitchFamily="18" charset="0"/>
                <a:ea typeface="微软简魏碑" pitchFamily="2" charset="-122"/>
                <a:sym typeface="+mn-ea"/>
              </a:rPr>
              <a:t>*</a:t>
            </a:r>
            <a:endParaRPr lang="en-US" altLang="zh-CN" b="1" dirty="0">
              <a:latin typeface="Times New Roman" panose="02020503050405090304" pitchFamily="18" charset="0"/>
              <a:ea typeface="微软简魏碑" pitchFamily="2" charset="-122"/>
            </a:endParaRPr>
          </a:p>
          <a:p>
            <a:pPr>
              <a:buClr>
                <a:srgbClr val="0070C0"/>
              </a:buClr>
              <a:buSzPct val="95000"/>
              <a:buFont typeface="Wingdings" panose="05000000000000000000" charset="0"/>
              <a:buChar char=""/>
            </a:pPr>
            <a:r>
              <a:rPr lang="zh-CN" altLang="en-US" b="1" dirty="0">
                <a:latin typeface="Times New Roman" panose="02020503050405090304" pitchFamily="18" charset="0"/>
                <a:ea typeface="微软简魏碑" pitchFamily="2" charset="-122"/>
                <a:sym typeface="+mn-ea"/>
              </a:rPr>
              <a:t>是否可通过继承得到？</a:t>
            </a:r>
            <a:endParaRPr lang="zh-CN" altLang="en-US" b="1" dirty="0">
              <a:latin typeface="Times New Roman" panose="02020503050405090304" pitchFamily="18" charset="0"/>
              <a:ea typeface="微软简魏碑" pitchFamily="2" charset="-122"/>
            </a:endParaRPr>
          </a:p>
          <a:p>
            <a:pPr>
              <a:buClr>
                <a:srgbClr val="0070C0"/>
              </a:buClr>
              <a:buSzPct val="95000"/>
              <a:buFont typeface="Wingdings" panose="05000000000000000000" charset="0"/>
              <a:buChar char=""/>
            </a:pPr>
            <a:r>
              <a:rPr lang="zh-CN" altLang="en-US" b="1" dirty="0">
                <a:latin typeface="宋体" pitchFamily="2" charset="-122"/>
                <a:ea typeface="宋体" pitchFamily="2" charset="-122"/>
                <a:sym typeface="+mn-ea"/>
              </a:rPr>
              <a:t>可以从其它属性直接导出的属性</a:t>
            </a:r>
            <a:r>
              <a:rPr lang="en-US" altLang="zh-CN" b="1" dirty="0">
                <a:latin typeface="Times New Roman" panose="02020503050405090304" pitchFamily="18" charset="0"/>
                <a:ea typeface="微软简魏碑" pitchFamily="2" charset="-122"/>
                <a:sym typeface="+mn-ea"/>
              </a:rPr>
              <a:t>*</a:t>
            </a:r>
            <a:r>
              <a:rPr lang="zh-CN" altLang="en-US" b="1" dirty="0">
                <a:latin typeface="Times New Roman" panose="02020503050405090304" pitchFamily="18" charset="0"/>
                <a:ea typeface="微软简魏碑" pitchFamily="2" charset="-122"/>
                <a:sym typeface="+mn-ea"/>
              </a:rPr>
              <a:t>； </a:t>
            </a:r>
            <a:endParaRPr lang="zh-CN" altLang="en-US" b="1" dirty="0">
              <a:latin typeface="Times New Roman" panose="02020503050405090304" pitchFamily="18" charset="0"/>
              <a:ea typeface="微软简魏碑" pitchFamily="2" charset="-122"/>
            </a:endParaRPr>
          </a:p>
          <a:p>
            <a:pPr>
              <a:buClr>
                <a:srgbClr val="0070C0"/>
              </a:buClr>
              <a:buSzPct val="95000"/>
              <a:buFont typeface="Wingdings" panose="05000000000000000000" charset="0"/>
              <a:buChar char=""/>
            </a:pPr>
            <a:r>
              <a:rPr lang="zh-CN" altLang="en-US" b="1" dirty="0">
                <a:latin typeface="Times New Roman" panose="02020503050405090304" pitchFamily="18" charset="0"/>
                <a:ea typeface="微软简魏碑" pitchFamily="2" charset="-122"/>
                <a:sym typeface="+mn-ea"/>
              </a:rPr>
              <a:t>与实现有关的因素，推迟到</a:t>
            </a:r>
            <a:r>
              <a:rPr lang="en-US" altLang="zh-CN" b="1" dirty="0">
                <a:latin typeface="Times New Roman" panose="02020503050405090304" pitchFamily="18" charset="0"/>
                <a:ea typeface="微软简魏碑" pitchFamily="2" charset="-122"/>
                <a:sym typeface="+mn-ea"/>
              </a:rPr>
              <a:t>OOD</a:t>
            </a:r>
            <a:r>
              <a:rPr lang="zh-CN" altLang="en-US" b="1" dirty="0">
                <a:latin typeface="Times New Roman" panose="02020503050405090304" pitchFamily="18" charset="0"/>
                <a:ea typeface="微软简魏碑" pitchFamily="2" charset="-122"/>
                <a:sym typeface="+mn-ea"/>
              </a:rPr>
              <a:t>考虑（规范化、对象标识、性能问题）</a:t>
            </a:r>
            <a:endParaRPr lang="zh-CN" altLang="en-US" b="1" dirty="0">
              <a:latin typeface="Times New Roman" panose="02020503050405090304" pitchFamily="18" charset="0"/>
              <a:ea typeface="微软简魏碑" pitchFamily="2" charset="-122"/>
            </a:endParaRPr>
          </a:p>
          <a:p>
            <a:endParaRPr lang="zh-CN"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solidFill>
                  <a:schemeClr val="hlink"/>
                </a:solidFill>
                <a:effectLst>
                  <a:outerShdw blurRad="38100" dist="38100" dir="2700000">
                    <a:srgbClr val="C0C0C0"/>
                  </a:outerShdw>
                </a:effectLst>
                <a:latin typeface="Times New Roman" panose="02020503050405090304" pitchFamily="18" charset="0"/>
                <a:ea typeface="宋体" pitchFamily="2" charset="-122"/>
                <a:sym typeface="+mn-ea"/>
              </a:rPr>
              <a:t>操作</a:t>
            </a:r>
            <a:endParaRPr lang="zh-CN" altLang="en-US"/>
          </a:p>
        </p:txBody>
      </p:sp>
      <p:sp>
        <p:nvSpPr>
          <p:cNvPr id="3" name="内容占位符 2"/>
          <p:cNvSpPr>
            <a:spLocks noGrp="1"/>
          </p:cNvSpPr>
          <p:nvPr>
            <p:ph idx="1"/>
          </p:nvPr>
        </p:nvSpPr>
        <p:spPr/>
        <p:txBody>
          <a:bodyPr/>
          <a:lstStyle/>
          <a:p>
            <a:r>
              <a:rPr lang="zh-CN" altLang="en-US" b="1" dirty="0">
                <a:solidFill>
                  <a:srgbClr val="0000FF"/>
                </a:solidFill>
                <a:latin typeface="Times New Roman" panose="02020503050405090304" pitchFamily="18" charset="0"/>
                <a:ea typeface="宋体" pitchFamily="2" charset="-122"/>
                <a:sym typeface="+mn-ea"/>
              </a:rPr>
              <a:t>操作</a:t>
            </a:r>
            <a:r>
              <a:rPr lang="zh-CN" altLang="en-US" b="1" dirty="0">
                <a:latin typeface="Times New Roman" panose="02020503050405090304" pitchFamily="18" charset="0"/>
                <a:ea typeface="宋体" pitchFamily="2" charset="-122"/>
                <a:sym typeface="+mn-ea"/>
              </a:rPr>
              <a:t>是类的对象被要求执行的服务。</a:t>
            </a:r>
            <a:endParaRPr lang="zh-CN" altLang="en-US" b="1" dirty="0">
              <a:latin typeface="Times New Roman" panose="02020503050405090304" pitchFamily="18" charset="0"/>
              <a:ea typeface="宋体" pitchFamily="2" charset="-122"/>
            </a:endParaRPr>
          </a:p>
          <a:p>
            <a:pPr>
              <a:spcBef>
                <a:spcPct val="50000"/>
              </a:spcBef>
            </a:pPr>
            <a:r>
              <a:rPr lang="zh-CN" altLang="en-US" b="1" dirty="0">
                <a:solidFill>
                  <a:srgbClr val="0000FF"/>
                </a:solidFill>
                <a:latin typeface="Times New Roman" panose="02020503050405090304" pitchFamily="18" charset="0"/>
                <a:ea typeface="宋体" pitchFamily="2" charset="-122"/>
                <a:sym typeface="+mn-ea"/>
              </a:rPr>
              <a:t>类操作</a:t>
            </a:r>
            <a:r>
              <a:rPr lang="zh-CN" altLang="en-US" b="1" dirty="0">
                <a:latin typeface="TTE48o00" charset="-122"/>
                <a:ea typeface="TTE48o00" charset="-122"/>
                <a:sym typeface="+mn-ea"/>
              </a:rPr>
              <a:t>是用</a:t>
            </a:r>
            <a:r>
              <a:rPr lang="zh-CN" altLang="en-US" b="1" dirty="0">
                <a:latin typeface="TTE48o01" charset="-122"/>
                <a:ea typeface="TTE48o01" charset="-122"/>
                <a:sym typeface="+mn-ea"/>
              </a:rPr>
              <a:t>来</a:t>
            </a:r>
            <a:r>
              <a:rPr lang="zh-CN" altLang="en-US" b="1" dirty="0">
                <a:latin typeface="TTE48o00" charset="-122"/>
                <a:ea typeface="TTE48o00" charset="-122"/>
                <a:sym typeface="+mn-ea"/>
              </a:rPr>
              <a:t>操</a:t>
            </a:r>
            <a:r>
              <a:rPr lang="zh-CN" altLang="en-US" b="1" dirty="0">
                <a:latin typeface="TTE48o01" charset="-122"/>
                <a:ea typeface="TTE48o01" charset="-122"/>
                <a:sym typeface="+mn-ea"/>
              </a:rPr>
              <a:t>纵类</a:t>
            </a:r>
            <a:r>
              <a:rPr lang="zh-CN" altLang="en-US" b="1" dirty="0">
                <a:latin typeface="TTE48o00" charset="-122"/>
                <a:ea typeface="TTE48o00" charset="-122"/>
                <a:sym typeface="+mn-ea"/>
              </a:rPr>
              <a:t>属性的操作。</a:t>
            </a:r>
            <a:endParaRPr lang="zh-CN" altLang="en-US" b="1" dirty="0">
              <a:latin typeface="TTE48o00" charset="-122"/>
              <a:ea typeface="TTE48o00" charset="-122"/>
            </a:endParaRPr>
          </a:p>
          <a:p>
            <a:r>
              <a:rPr lang="zh-CN" altLang="en-US" b="1" dirty="0">
                <a:latin typeface="Times New Roman" panose="02020503050405090304" pitchFamily="18" charset="0"/>
                <a:ea typeface="微软简魏碑" pitchFamily="2" charset="-122"/>
                <a:sym typeface="+mn-ea"/>
              </a:rPr>
              <a:t>例如</a:t>
            </a:r>
            <a:r>
              <a:rPr lang="en-US" altLang="zh-CN" b="1" dirty="0">
                <a:latin typeface="Times New Roman" panose="02020503050405090304" pitchFamily="18" charset="0"/>
                <a:ea typeface="微软简魏碑" pitchFamily="2" charset="-122"/>
                <a:sym typeface="+mn-ea"/>
              </a:rPr>
              <a:t>C++</a:t>
            </a:r>
            <a:r>
              <a:rPr lang="zh-CN" altLang="en-US" b="1" dirty="0">
                <a:latin typeface="Times New Roman" panose="02020503050405090304" pitchFamily="18" charset="0"/>
                <a:ea typeface="微软简魏碑" pitchFamily="2" charset="-122"/>
                <a:sym typeface="+mn-ea"/>
              </a:rPr>
              <a:t>中的前面冠以</a:t>
            </a:r>
            <a:r>
              <a:rPr lang="en-US" altLang="zh-CN" b="1" dirty="0">
                <a:latin typeface="Times New Roman" panose="02020503050405090304" pitchFamily="18" charset="0"/>
                <a:ea typeface="微软简魏碑" pitchFamily="2" charset="-122"/>
                <a:sym typeface="+mn-ea"/>
              </a:rPr>
              <a:t>static</a:t>
            </a:r>
            <a:r>
              <a:rPr lang="zh-CN" altLang="en-US" b="1" dirty="0">
                <a:latin typeface="Times New Roman" panose="02020503050405090304" pitchFamily="18" charset="0"/>
                <a:ea typeface="微软简魏碑" pitchFamily="2" charset="-122"/>
                <a:sym typeface="+mn-ea"/>
              </a:rPr>
              <a:t>的成员函数，就是类范围操作</a:t>
            </a:r>
            <a:r>
              <a:rPr lang="zh-CN" altLang="en-US" dirty="0">
                <a:latin typeface="Times New Roman" panose="02020503050405090304" pitchFamily="18" charset="0"/>
                <a:ea typeface="微软简魏碑" pitchFamily="2" charset="-122"/>
                <a:sym typeface="+mn-ea"/>
              </a:rPr>
              <a:t> </a:t>
            </a:r>
          </a:p>
          <a:p>
            <a:r>
              <a:rPr lang="en-US" altLang="zh-CN" b="1" dirty="0">
                <a:latin typeface="Times New Roman" panose="02020503050405090304" pitchFamily="18" charset="0"/>
                <a:ea typeface="宋体" pitchFamily="2" charset="-122"/>
                <a:sym typeface="+mn-ea"/>
              </a:rPr>
              <a:t>+(</a:t>
            </a:r>
            <a:r>
              <a:rPr lang="zh-CN" altLang="en-US" b="1" dirty="0">
                <a:latin typeface="Times New Roman" panose="02020503050405090304" pitchFamily="18" charset="0"/>
                <a:ea typeface="宋体" pitchFamily="2" charset="-122"/>
                <a:sym typeface="+mn-ea"/>
              </a:rPr>
              <a:t>公有的</a:t>
            </a:r>
            <a:r>
              <a:rPr lang="en-US" altLang="zh-CN" b="1" dirty="0">
                <a:latin typeface="Times New Roman" panose="02020503050405090304" pitchFamily="18" charset="0"/>
                <a:ea typeface="宋体" pitchFamily="2" charset="-122"/>
                <a:sym typeface="+mn-ea"/>
              </a:rPr>
              <a:t>)</a:t>
            </a:r>
            <a:r>
              <a:rPr lang="zh-CN" altLang="en-US" b="1" dirty="0">
                <a:latin typeface="Times New Roman" panose="02020503050405090304" pitchFamily="18" charset="0"/>
                <a:ea typeface="宋体" pitchFamily="2" charset="-122"/>
                <a:sym typeface="+mn-ea"/>
              </a:rPr>
              <a:t>、</a:t>
            </a:r>
            <a:r>
              <a:rPr lang="en-US" altLang="zh-CN" b="1" dirty="0">
                <a:latin typeface="Times New Roman" panose="02020503050405090304" pitchFamily="18" charset="0"/>
                <a:ea typeface="宋体" pitchFamily="2" charset="-122"/>
                <a:sym typeface="+mn-ea"/>
              </a:rPr>
              <a:t>#(</a:t>
            </a:r>
            <a:r>
              <a:rPr lang="zh-CN" altLang="en-US" b="1" dirty="0">
                <a:latin typeface="Times New Roman" panose="02020503050405090304" pitchFamily="18" charset="0"/>
                <a:ea typeface="宋体" pitchFamily="2" charset="-122"/>
                <a:sym typeface="+mn-ea"/>
              </a:rPr>
              <a:t>受保护的</a:t>
            </a:r>
            <a:r>
              <a:rPr lang="en-US" altLang="zh-CN" b="1" dirty="0">
                <a:latin typeface="Times New Roman" panose="02020503050405090304" pitchFamily="18" charset="0"/>
                <a:ea typeface="宋体" pitchFamily="2" charset="-122"/>
                <a:sym typeface="+mn-ea"/>
              </a:rPr>
              <a:t>) </a:t>
            </a:r>
            <a:r>
              <a:rPr lang="zh-CN" altLang="en-US" b="1" dirty="0">
                <a:latin typeface="Times New Roman" panose="02020503050405090304" pitchFamily="18" charset="0"/>
                <a:ea typeface="宋体" pitchFamily="2" charset="-122"/>
                <a:sym typeface="+mn-ea"/>
              </a:rPr>
              <a:t>、</a:t>
            </a:r>
            <a:r>
              <a:rPr lang="en-US" altLang="zh-CN" b="1" dirty="0">
                <a:latin typeface="Times New Roman" panose="02020503050405090304" pitchFamily="18" charset="0"/>
                <a:ea typeface="宋体" pitchFamily="2" charset="-122"/>
                <a:sym typeface="+mn-ea"/>
              </a:rPr>
              <a:t>-(</a:t>
            </a:r>
            <a:r>
              <a:rPr lang="zh-CN" altLang="en-US" b="1" dirty="0">
                <a:latin typeface="Times New Roman" panose="02020503050405090304" pitchFamily="18" charset="0"/>
                <a:ea typeface="宋体" pitchFamily="2" charset="-122"/>
                <a:sym typeface="+mn-ea"/>
              </a:rPr>
              <a:t>私有的</a:t>
            </a:r>
            <a:r>
              <a:rPr lang="en-US" altLang="zh-CN" b="1" dirty="0">
                <a:latin typeface="Times New Roman" panose="02020503050405090304" pitchFamily="18" charset="0"/>
                <a:ea typeface="宋体" pitchFamily="2" charset="-122"/>
                <a:sym typeface="+mn-ea"/>
              </a:rPr>
              <a:t>)</a:t>
            </a:r>
            <a:r>
              <a:rPr lang="zh-CN" altLang="en-US" b="1" dirty="0">
                <a:latin typeface="Times New Roman" panose="02020503050405090304" pitchFamily="18" charset="0"/>
                <a:ea typeface="宋体" pitchFamily="2" charset="-122"/>
                <a:sym typeface="+mn-ea"/>
              </a:rPr>
              <a:t>或</a:t>
            </a:r>
            <a:r>
              <a:rPr lang="en-US" altLang="zh-CN" b="1" dirty="0">
                <a:latin typeface="Times New Roman" panose="02020503050405090304" pitchFamily="18" charset="0"/>
                <a:ea typeface="微软简魏碑" pitchFamily="2" charset="-122"/>
                <a:sym typeface="+mn-ea"/>
              </a:rPr>
              <a:t>~</a:t>
            </a:r>
            <a:r>
              <a:rPr lang="zh-CN" altLang="en-US" b="1" dirty="0">
                <a:latin typeface="TTE48o00" charset="-122"/>
                <a:ea typeface="微软简魏碑" pitchFamily="2" charset="-122"/>
                <a:sym typeface="+mn-ea"/>
              </a:rPr>
              <a:t>（包）</a:t>
            </a:r>
            <a:endParaRPr lang="zh-CN" altLang="en-US" b="1" dirty="0">
              <a:latin typeface="Times New Roman" panose="02020503050405090304" pitchFamily="18" charset="0"/>
              <a:ea typeface="微软简魏碑" pitchFamily="2" charset="-122"/>
            </a:endParaRPr>
          </a:p>
          <a:p>
            <a:endParaRPr lang="zh-CN"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solidFill>
                  <a:schemeClr val="hlink"/>
                </a:solidFill>
                <a:effectLst>
                  <a:outerShdw blurRad="38100" dist="38100" dir="2700000">
                    <a:srgbClr val="C0C0C0"/>
                  </a:outerShdw>
                </a:effectLst>
                <a:latin typeface="宋体" pitchFamily="2" charset="-122"/>
                <a:ea typeface="宋体" pitchFamily="2" charset="-122"/>
                <a:sym typeface="+mn-ea"/>
              </a:rPr>
              <a:t>识别操作</a:t>
            </a:r>
            <a:endParaRPr lang="zh-CN" altLang="en-US"/>
          </a:p>
        </p:txBody>
      </p:sp>
      <p:sp>
        <p:nvSpPr>
          <p:cNvPr id="3" name="内容占位符 2"/>
          <p:cNvSpPr>
            <a:spLocks noGrp="1"/>
          </p:cNvSpPr>
          <p:nvPr>
            <p:ph idx="1"/>
          </p:nvPr>
        </p:nvSpPr>
        <p:spPr/>
        <p:txBody>
          <a:bodyPr>
            <a:normAutofit/>
          </a:bodyPr>
          <a:lstStyle/>
          <a:p>
            <a:r>
              <a:rPr lang="zh-CN" altLang="en-US" b="1" dirty="0">
                <a:solidFill>
                  <a:srgbClr val="0000FF"/>
                </a:solidFill>
                <a:latin typeface="Times New Roman" panose="02020503050405090304" pitchFamily="18" charset="0"/>
                <a:ea typeface="微软简魏碑" pitchFamily="2" charset="-122"/>
                <a:sym typeface="+mn-ea"/>
              </a:rPr>
              <a:t>考虑系统责任——</a:t>
            </a:r>
            <a:r>
              <a:rPr lang="zh-CN" altLang="en-US" dirty="0">
                <a:latin typeface="Times New Roman" panose="02020503050405090304" pitchFamily="18" charset="0"/>
                <a:ea typeface="微软简魏碑" pitchFamily="2" charset="-122"/>
                <a:sym typeface="+mn-ea"/>
              </a:rPr>
              <a:t>有哪些功能要求在本对象提供</a:t>
            </a:r>
            <a:r>
              <a:rPr lang="en-US" altLang="zh-CN" baseline="30000" dirty="0">
                <a:latin typeface="Times New Roman" panose="02020503050405090304" pitchFamily="18" charset="0"/>
                <a:ea typeface="微软简魏碑" pitchFamily="2" charset="-122"/>
                <a:sym typeface="+mn-ea"/>
              </a:rPr>
              <a:t>*</a:t>
            </a:r>
            <a:r>
              <a:rPr lang="zh-CN" altLang="en-US" dirty="0">
                <a:latin typeface="Times New Roman" panose="02020503050405090304" pitchFamily="18" charset="0"/>
                <a:ea typeface="微软简魏碑" pitchFamily="2" charset="-122"/>
                <a:sym typeface="+mn-ea"/>
              </a:rPr>
              <a:t>？</a:t>
            </a:r>
            <a:endParaRPr lang="zh-CN" altLang="en-US" dirty="0">
              <a:latin typeface="Times New Roman" panose="02020503050405090304" pitchFamily="18" charset="0"/>
              <a:ea typeface="微软简魏碑" pitchFamily="2" charset="-122"/>
            </a:endParaRPr>
          </a:p>
          <a:p>
            <a:r>
              <a:rPr lang="zh-CN" altLang="en-US" b="1" dirty="0">
                <a:solidFill>
                  <a:srgbClr val="0000FF"/>
                </a:solidFill>
                <a:latin typeface="Times New Roman" panose="02020503050405090304" pitchFamily="18" charset="0"/>
                <a:ea typeface="微软简魏碑" pitchFamily="2" charset="-122"/>
                <a:sym typeface="+mn-ea"/>
              </a:rPr>
              <a:t>考虑问题域——</a:t>
            </a:r>
            <a:r>
              <a:rPr lang="zh-CN" altLang="en-US" dirty="0">
                <a:latin typeface="Times New Roman" panose="02020503050405090304" pitchFamily="18" charset="0"/>
                <a:ea typeface="微软简魏碑" pitchFamily="2" charset="-122"/>
                <a:sym typeface="+mn-ea"/>
              </a:rPr>
              <a:t>对象在问题域对应的事物有哪些行为</a:t>
            </a:r>
            <a:r>
              <a:rPr lang="en-US" altLang="zh-CN" baseline="30000" dirty="0">
                <a:latin typeface="Times New Roman" panose="02020503050405090304" pitchFamily="18" charset="0"/>
                <a:ea typeface="微软简魏碑" pitchFamily="2" charset="-122"/>
                <a:sym typeface="+mn-ea"/>
              </a:rPr>
              <a:t>*</a:t>
            </a:r>
            <a:r>
              <a:rPr lang="en-US" altLang="zh-CN" dirty="0">
                <a:latin typeface="Times New Roman" panose="02020503050405090304" pitchFamily="18" charset="0"/>
                <a:ea typeface="微软简魏碑" pitchFamily="2" charset="-122"/>
                <a:sym typeface="+mn-ea"/>
              </a:rPr>
              <a:t> </a:t>
            </a:r>
            <a:r>
              <a:rPr lang="zh-CN" altLang="en-US" dirty="0">
                <a:latin typeface="Times New Roman" panose="02020503050405090304" pitchFamily="18" charset="0"/>
                <a:ea typeface="微软简魏碑" pitchFamily="2" charset="-122"/>
                <a:sym typeface="+mn-ea"/>
              </a:rPr>
              <a:t>？</a:t>
            </a:r>
            <a:endParaRPr lang="zh-CN" altLang="en-US" dirty="0">
              <a:latin typeface="Times New Roman" panose="02020503050405090304" pitchFamily="18" charset="0"/>
              <a:ea typeface="微软简魏碑" pitchFamily="2" charset="-122"/>
            </a:endParaRPr>
          </a:p>
          <a:p>
            <a:r>
              <a:rPr lang="zh-CN" altLang="en-US" b="1" dirty="0">
                <a:solidFill>
                  <a:srgbClr val="0000FF"/>
                </a:solidFill>
                <a:latin typeface="Times New Roman" panose="02020503050405090304" pitchFamily="18" charset="0"/>
                <a:ea typeface="微软简魏碑" pitchFamily="2" charset="-122"/>
                <a:sym typeface="+mn-ea"/>
              </a:rPr>
              <a:t>分析对象状态——</a:t>
            </a:r>
            <a:r>
              <a:rPr lang="zh-CN" altLang="en-US" dirty="0">
                <a:latin typeface="Times New Roman" panose="02020503050405090304" pitchFamily="18" charset="0"/>
                <a:ea typeface="微软简魏碑" pitchFamily="2" charset="-122"/>
                <a:sym typeface="+mn-ea"/>
              </a:rPr>
              <a:t>在每种状态下对象可能发生什么行为？对象状态的转换，是由哪些操作引起的？</a:t>
            </a:r>
            <a:r>
              <a:rPr lang="en-US" altLang="zh-CN">
                <a:latin typeface="Times New Roman" panose="02020503050405090304" pitchFamily="18" charset="0"/>
                <a:ea typeface="微软简魏碑" pitchFamily="2" charset="-122"/>
                <a:sym typeface="+mn-ea"/>
              </a:rPr>
              <a:t>--</a:t>
            </a:r>
            <a:r>
              <a:rPr lang="zh-CN" altLang="en-US" dirty="0">
                <a:latin typeface="Times New Roman" panose="02020503050405090304" pitchFamily="18" charset="0"/>
                <a:ea typeface="微软简魏碑" pitchFamily="2" charset="-122"/>
                <a:sym typeface="+mn-ea"/>
              </a:rPr>
              <a:t>状态图讲述</a:t>
            </a:r>
            <a:endParaRPr lang="zh-CN" altLang="en-US" dirty="0">
              <a:latin typeface="Times New Roman" panose="02020503050405090304" pitchFamily="18" charset="0"/>
              <a:ea typeface="微软简魏碑" pitchFamily="2" charset="-122"/>
            </a:endParaRPr>
          </a:p>
          <a:p>
            <a:r>
              <a:rPr lang="zh-CN" altLang="en-US" b="1" dirty="0">
                <a:solidFill>
                  <a:srgbClr val="0000FF"/>
                </a:solidFill>
                <a:latin typeface="Times New Roman" panose="02020503050405090304" pitchFamily="18" charset="0"/>
                <a:ea typeface="微软简魏碑" pitchFamily="2" charset="-122"/>
                <a:sym typeface="+mn-ea"/>
              </a:rPr>
              <a:t>追踪操作的执行路线——</a:t>
            </a:r>
            <a:r>
              <a:rPr lang="zh-CN" altLang="en-US" dirty="0">
                <a:latin typeface="Times New Roman" panose="02020503050405090304" pitchFamily="18" charset="0"/>
                <a:ea typeface="微软简魏碑" pitchFamily="2" charset="-122"/>
                <a:sym typeface="+mn-ea"/>
              </a:rPr>
              <a:t>模拟操作的执行，并在整个系统中跟踪</a:t>
            </a:r>
            <a:r>
              <a:rPr lang="en-US" altLang="zh-CN" baseline="30000" dirty="0">
                <a:latin typeface="Times New Roman" panose="02020503050405090304" pitchFamily="18" charset="0"/>
                <a:ea typeface="微软简魏碑" pitchFamily="2" charset="-122"/>
                <a:sym typeface="+mn-ea"/>
              </a:rPr>
              <a:t>*</a:t>
            </a:r>
            <a:r>
              <a:rPr lang="en-US" altLang="zh-CN" dirty="0">
                <a:latin typeface="Times New Roman" panose="02020503050405090304" pitchFamily="18" charset="0"/>
                <a:ea typeface="微软简魏碑" pitchFamily="2" charset="-122"/>
                <a:sym typeface="+mn-ea"/>
              </a:rPr>
              <a:t> </a:t>
            </a:r>
            <a:r>
              <a:rPr lang="zh-CN" altLang="en-US" dirty="0">
                <a:latin typeface="Times New Roman" panose="02020503050405090304" pitchFamily="18" charset="0"/>
                <a:ea typeface="微软简魏碑" pitchFamily="2" charset="-122"/>
                <a:sym typeface="+mn-ea"/>
              </a:rPr>
              <a:t>。</a:t>
            </a:r>
            <a:endParaRPr lang="zh-CN" altLang="en-US" dirty="0">
              <a:latin typeface="Times New Roman" panose="02020503050405090304" pitchFamily="18" charset="0"/>
              <a:ea typeface="微软简魏碑" pitchFamily="2" charset="-122"/>
            </a:endParaRPr>
          </a:p>
          <a:p>
            <a:r>
              <a:rPr lang="zh-CN" altLang="en-US" b="1" dirty="0">
                <a:solidFill>
                  <a:srgbClr val="0000FF"/>
                </a:solidFill>
                <a:latin typeface="宋体" pitchFamily="2" charset="-122"/>
                <a:ea typeface="宋体" pitchFamily="2" charset="-122"/>
                <a:sym typeface="+mn-ea"/>
              </a:rPr>
              <a:t>用动词识别操作</a:t>
            </a:r>
            <a:endParaRPr lang="zh-CN" altLang="en-US" b="1" dirty="0">
              <a:solidFill>
                <a:srgbClr val="0000FF"/>
              </a:solidFill>
              <a:latin typeface="宋体" pitchFamily="2" charset="-122"/>
              <a:ea typeface="宋体" pitchFamily="2" charset="-122"/>
            </a:endParaRPr>
          </a:p>
          <a:p>
            <a:r>
              <a:rPr lang="zh-CN" altLang="en-US" b="1" dirty="0">
                <a:solidFill>
                  <a:srgbClr val="0000FF"/>
                </a:solidFill>
                <a:latin typeface="Times New Roman" panose="02020503050405090304" pitchFamily="18" charset="0"/>
                <a:ea typeface="微软简魏碑" pitchFamily="2" charset="-122"/>
                <a:sym typeface="+mn-ea"/>
              </a:rPr>
              <a:t>查看每一个属性，因为要用对象的操作来对其进行操纵</a:t>
            </a:r>
            <a:r>
              <a:rPr lang="zh-CN" altLang="en-US" b="1" dirty="0">
                <a:solidFill>
                  <a:srgbClr val="0000FF"/>
                </a:solidFill>
                <a:latin typeface="宋体" pitchFamily="2" charset="-122"/>
                <a:ea typeface="宋体" pitchFamily="2" charset="-122"/>
                <a:sym typeface="+mn-ea"/>
              </a:rPr>
              <a:t> </a:t>
            </a:r>
            <a:r>
              <a:rPr lang="zh-CN" altLang="en-US" b="1" dirty="0">
                <a:solidFill>
                  <a:srgbClr val="0000FF"/>
                </a:solidFill>
                <a:latin typeface="Times New Roman" panose="02020503050405090304" pitchFamily="18" charset="0"/>
                <a:ea typeface="微软简魏碑" pitchFamily="2" charset="-122"/>
                <a:sym typeface="+mn-ea"/>
              </a:rPr>
              <a:t> </a:t>
            </a:r>
            <a:endParaRPr lang="zh-CN"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4.3 </a:t>
            </a:r>
            <a:r>
              <a:rPr lang="zh-CN" altLang="en-US" dirty="0"/>
              <a:t>对象设计</a:t>
            </a:r>
          </a:p>
        </p:txBody>
      </p:sp>
      <p:sp>
        <p:nvSpPr>
          <p:cNvPr id="3" name="内容占位符 2"/>
          <p:cNvSpPr>
            <a:spLocks noGrp="1"/>
          </p:cNvSpPr>
          <p:nvPr>
            <p:ph idx="1"/>
          </p:nvPr>
        </p:nvSpPr>
        <p:spPr/>
        <p:txBody>
          <a:bodyPr/>
          <a:lstStyle/>
          <a:p>
            <a:r>
              <a:rPr lang="zh-CN" altLang="en-US" dirty="0"/>
              <a:t>为了生成交互图，必须在对象间分配所需要的数据和处理（方法）</a:t>
            </a:r>
            <a:endParaRPr lang="en-US" altLang="zh-CN" dirty="0"/>
          </a:p>
          <a:p>
            <a:r>
              <a:rPr lang="zh-CN" altLang="en-US" dirty="0"/>
              <a:t>对象</a:t>
            </a:r>
            <a:endParaRPr lang="en-US" altLang="zh-CN" dirty="0"/>
          </a:p>
          <a:p>
            <a:pPr lvl="1"/>
            <a:r>
              <a:rPr lang="zh-CN" altLang="en-US" dirty="0"/>
              <a:t>数据</a:t>
            </a:r>
            <a:endParaRPr lang="en-US" altLang="zh-CN" dirty="0"/>
          </a:p>
          <a:p>
            <a:pPr lvl="1"/>
            <a:r>
              <a:rPr lang="zh-CN" altLang="en-US" dirty="0"/>
              <a:t>处理</a:t>
            </a:r>
            <a:endParaRPr lang="en-US" altLang="zh-CN" dirty="0"/>
          </a:p>
          <a:p>
            <a:r>
              <a:rPr lang="zh-CN" altLang="en-US" dirty="0"/>
              <a:t>内聚：组成一个合理的整体</a:t>
            </a:r>
            <a:endParaRPr lang="en-US" altLang="zh-CN" dirty="0"/>
          </a:p>
          <a:p>
            <a:pPr lvl="1"/>
            <a:r>
              <a:rPr lang="zh-CN" altLang="en-US" dirty="0"/>
              <a:t>维护餐桌大小和顾客电话号码（</a:t>
            </a:r>
            <a:r>
              <a:rPr lang="en-US" altLang="zh-CN" dirty="0"/>
              <a:t>×</a:t>
            </a:r>
            <a:r>
              <a:rPr lang="zh-CN" altLang="en-US" dirty="0"/>
              <a:t>）</a:t>
            </a:r>
            <a:endParaRPr lang="en-US" altLang="zh-CN" dirty="0"/>
          </a:p>
          <a:p>
            <a:pPr lvl="1"/>
            <a:r>
              <a:rPr lang="zh-CN" altLang="en-US" dirty="0"/>
              <a:t>维护所有关于顾客的信息（√）</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solidFill>
                  <a:schemeClr val="hlink"/>
                </a:solidFill>
                <a:latin typeface="Times New Roman" panose="02020503050405090304" pitchFamily="18" charset="0"/>
                <a:ea typeface="微软简魏碑" pitchFamily="2" charset="-122"/>
                <a:sym typeface="+mn-ea"/>
              </a:rPr>
              <a:t>定义关系</a:t>
            </a:r>
            <a:endParaRPr lang="zh-CN" altLang="en-US"/>
          </a:p>
        </p:txBody>
      </p:sp>
      <p:sp>
        <p:nvSpPr>
          <p:cNvPr id="3" name="内容占位符 2"/>
          <p:cNvSpPr>
            <a:spLocks noGrp="1"/>
          </p:cNvSpPr>
          <p:nvPr>
            <p:ph idx="1"/>
          </p:nvPr>
        </p:nvSpPr>
        <p:spPr/>
        <p:txBody>
          <a:bodyPr>
            <a:normAutofit/>
          </a:bodyPr>
          <a:lstStyle/>
          <a:p>
            <a:r>
              <a:rPr lang="zh-CN" altLang="en-US" dirty="0">
                <a:latin typeface="Times New Roman" panose="02020503050405090304" pitchFamily="18" charset="0"/>
                <a:ea typeface="微软简魏碑" pitchFamily="2" charset="-122"/>
                <a:sym typeface="+mn-ea"/>
              </a:rPr>
              <a:t>分类关系、继承</a:t>
            </a:r>
            <a:r>
              <a:rPr lang="en-US" altLang="zh-CN">
                <a:latin typeface="Times New Roman" panose="02020503050405090304" pitchFamily="18" charset="0"/>
                <a:ea typeface="微软简魏碑" pitchFamily="2" charset="-122"/>
                <a:sym typeface="+mn-ea"/>
              </a:rPr>
              <a:t>——</a:t>
            </a:r>
            <a:r>
              <a:rPr lang="zh-CN" altLang="en-US" b="1" dirty="0">
                <a:solidFill>
                  <a:schemeClr val="hlink"/>
                </a:solidFill>
                <a:effectLst>
                  <a:outerShdw blurRad="38100" dist="38100" dir="2700000">
                    <a:srgbClr val="C0C0C0"/>
                  </a:outerShdw>
                </a:effectLst>
                <a:latin typeface="Times New Roman" panose="02020503050405090304" pitchFamily="18" charset="0"/>
                <a:ea typeface="微软简魏碑" pitchFamily="2" charset="-122"/>
                <a:sym typeface="+mn-ea"/>
              </a:rPr>
              <a:t>泛化</a:t>
            </a:r>
            <a:r>
              <a:rPr lang="zh-CN" altLang="en-US" dirty="0">
                <a:latin typeface="Times New Roman" panose="02020503050405090304" pitchFamily="18" charset="0"/>
                <a:ea typeface="微软简魏碑" pitchFamily="2" charset="-122"/>
                <a:sym typeface="+mn-ea"/>
              </a:rPr>
              <a:t>（一般</a:t>
            </a:r>
            <a:r>
              <a:rPr lang="en-US" altLang="zh-CN">
                <a:latin typeface="Times New Roman" panose="02020503050405090304" pitchFamily="18" charset="0"/>
                <a:ea typeface="微软简魏碑" pitchFamily="2" charset="-122"/>
                <a:sym typeface="+mn-ea"/>
              </a:rPr>
              <a:t>-</a:t>
            </a:r>
            <a:r>
              <a:rPr lang="zh-CN" altLang="en-US" dirty="0">
                <a:latin typeface="Times New Roman" panose="02020503050405090304" pitchFamily="18" charset="0"/>
                <a:ea typeface="微软简魏碑" pitchFamily="2" charset="-122"/>
                <a:sym typeface="+mn-ea"/>
              </a:rPr>
              <a:t>特殊）</a:t>
            </a:r>
            <a:endParaRPr lang="zh-CN" altLang="en-US" dirty="0">
              <a:latin typeface="Times New Roman" panose="02020503050405090304" pitchFamily="18" charset="0"/>
              <a:ea typeface="微软简魏碑" pitchFamily="2" charset="-122"/>
            </a:endParaRPr>
          </a:p>
          <a:p>
            <a:pPr lvl="1" eaLnBrk="0" hangingPunct="0"/>
            <a:r>
              <a:rPr lang="en-US" altLang="zh-CN">
                <a:latin typeface="宋体" pitchFamily="2" charset="-122"/>
                <a:ea typeface="宋体" pitchFamily="2" charset="-122"/>
                <a:sym typeface="+mn-ea"/>
              </a:rPr>
              <a:t>generalization</a:t>
            </a:r>
            <a:r>
              <a:rPr lang="en-US" altLang="zh-CN">
                <a:latin typeface="Times New Roman" panose="02020503050405090304" pitchFamily="18" charset="0"/>
                <a:ea typeface="微软简魏碑" pitchFamily="2" charset="-122"/>
                <a:sym typeface="+mn-ea"/>
              </a:rPr>
              <a:t>(</a:t>
            </a:r>
            <a:r>
              <a:rPr lang="en-US" altLang="zh-CN">
                <a:latin typeface="宋体" pitchFamily="2" charset="-122"/>
                <a:ea typeface="宋体" pitchFamily="2" charset="-122"/>
                <a:sym typeface="+mn-ea"/>
              </a:rPr>
              <a:t>generalization-specialization)</a:t>
            </a:r>
            <a:endParaRPr lang="en-US" altLang="zh-CN">
              <a:latin typeface="Times New Roman" panose="02020503050405090304" pitchFamily="18" charset="0"/>
              <a:ea typeface="微软简魏碑" pitchFamily="2" charset="-122"/>
            </a:endParaRPr>
          </a:p>
          <a:p>
            <a:r>
              <a:rPr lang="zh-CN" altLang="en-US" dirty="0">
                <a:latin typeface="Times New Roman" panose="02020503050405090304" pitchFamily="18" charset="0"/>
                <a:ea typeface="微软简魏碑" pitchFamily="2" charset="-122"/>
                <a:sym typeface="+mn-ea"/>
              </a:rPr>
              <a:t>构成关系</a:t>
            </a:r>
            <a:r>
              <a:rPr lang="en-US" altLang="zh-CN">
                <a:latin typeface="Times New Roman" panose="02020503050405090304" pitchFamily="18" charset="0"/>
                <a:ea typeface="微软简魏碑" pitchFamily="2" charset="-122"/>
                <a:sym typeface="+mn-ea"/>
              </a:rPr>
              <a:t>——</a:t>
            </a:r>
            <a:r>
              <a:rPr lang="zh-CN" altLang="en-US" b="1" dirty="0">
                <a:solidFill>
                  <a:schemeClr val="hlink"/>
                </a:solidFill>
                <a:effectLst>
                  <a:outerShdw blurRad="38100" dist="38100" dir="2700000">
                    <a:srgbClr val="C0C0C0"/>
                  </a:outerShdw>
                </a:effectLst>
                <a:latin typeface="Times New Roman" panose="02020503050405090304" pitchFamily="18" charset="0"/>
                <a:ea typeface="微软简魏碑" pitchFamily="2" charset="-122"/>
                <a:sym typeface="+mn-ea"/>
              </a:rPr>
              <a:t>聚合</a:t>
            </a:r>
            <a:r>
              <a:rPr lang="zh-CN" altLang="en-US" dirty="0">
                <a:latin typeface="Times New Roman" panose="02020503050405090304" pitchFamily="18" charset="0"/>
                <a:ea typeface="微软简魏碑" pitchFamily="2" charset="-122"/>
                <a:sym typeface="+mn-ea"/>
              </a:rPr>
              <a:t>（整体</a:t>
            </a:r>
            <a:r>
              <a:rPr lang="en-US" altLang="zh-CN">
                <a:latin typeface="Times New Roman" panose="02020503050405090304" pitchFamily="18" charset="0"/>
                <a:ea typeface="微软简魏碑" pitchFamily="2" charset="-122"/>
                <a:sym typeface="+mn-ea"/>
              </a:rPr>
              <a:t>-</a:t>
            </a:r>
            <a:r>
              <a:rPr lang="zh-CN" altLang="en-US" dirty="0">
                <a:latin typeface="Times New Roman" panose="02020503050405090304" pitchFamily="18" charset="0"/>
                <a:ea typeface="微软简魏碑" pitchFamily="2" charset="-122"/>
                <a:sym typeface="+mn-ea"/>
              </a:rPr>
              <a:t>部分）</a:t>
            </a:r>
            <a:endParaRPr lang="zh-CN" altLang="en-US" dirty="0">
              <a:latin typeface="Times New Roman" panose="02020503050405090304" pitchFamily="18" charset="0"/>
              <a:ea typeface="微软简魏碑" pitchFamily="2" charset="-122"/>
            </a:endParaRPr>
          </a:p>
          <a:p>
            <a:pPr lvl="1" eaLnBrk="0" hangingPunct="0"/>
            <a:r>
              <a:rPr lang="en-US" altLang="zh-CN">
                <a:latin typeface="Times New Roman" panose="02020503050405090304" pitchFamily="18" charset="0"/>
                <a:ea typeface="微软简魏碑" pitchFamily="2" charset="-122"/>
                <a:sym typeface="+mn-ea"/>
              </a:rPr>
              <a:t>aggregation(</a:t>
            </a:r>
            <a:r>
              <a:rPr lang="en-US" altLang="zh-CN">
                <a:latin typeface="宋体" pitchFamily="2" charset="-122"/>
                <a:ea typeface="宋体" pitchFamily="2" charset="-122"/>
                <a:sym typeface="+mn-ea"/>
              </a:rPr>
              <a:t>whole-part)</a:t>
            </a:r>
            <a:endParaRPr lang="en-US" altLang="zh-CN">
              <a:latin typeface="Times New Roman" panose="02020503050405090304" pitchFamily="18" charset="0"/>
              <a:ea typeface="宋体" pitchFamily="2" charset="-122"/>
            </a:endParaRPr>
          </a:p>
          <a:p>
            <a:r>
              <a:rPr lang="zh-CN" altLang="en-US" dirty="0">
                <a:latin typeface="Times New Roman" panose="02020503050405090304" pitchFamily="18" charset="0"/>
                <a:ea typeface="微软简魏碑" pitchFamily="2" charset="-122"/>
                <a:sym typeface="+mn-ea"/>
              </a:rPr>
              <a:t>静态联系</a:t>
            </a:r>
            <a:r>
              <a:rPr lang="en-US" altLang="zh-CN">
                <a:latin typeface="Times New Roman" panose="02020503050405090304" pitchFamily="18" charset="0"/>
                <a:ea typeface="微软简魏碑" pitchFamily="2" charset="-122"/>
                <a:sym typeface="+mn-ea"/>
              </a:rPr>
              <a:t>——</a:t>
            </a:r>
            <a:r>
              <a:rPr lang="zh-CN" altLang="en-US" b="1" dirty="0">
                <a:solidFill>
                  <a:schemeClr val="hlink"/>
                </a:solidFill>
                <a:effectLst>
                  <a:outerShdw blurRad="38100" dist="38100" dir="2700000">
                    <a:srgbClr val="C0C0C0"/>
                  </a:outerShdw>
                </a:effectLst>
                <a:latin typeface="Times New Roman" panose="02020503050405090304" pitchFamily="18" charset="0"/>
                <a:ea typeface="微软简魏碑" pitchFamily="2" charset="-122"/>
                <a:sym typeface="+mn-ea"/>
              </a:rPr>
              <a:t>关联</a:t>
            </a:r>
            <a:endParaRPr lang="zh-CN" altLang="en-US" b="1">
              <a:effectLst>
                <a:outerShdw blurRad="38100" dist="38100" dir="2700000">
                  <a:srgbClr val="C0C0C0"/>
                </a:outerShdw>
              </a:effectLst>
              <a:latin typeface="Times New Roman" panose="02020503050405090304" pitchFamily="18" charset="0"/>
              <a:ea typeface="微软简魏碑" pitchFamily="2" charset="-122"/>
            </a:endParaRPr>
          </a:p>
          <a:p>
            <a:pPr lvl="1" eaLnBrk="0" hangingPunct="0"/>
            <a:r>
              <a:rPr lang="en-US" altLang="zh-CN">
                <a:latin typeface="Times New Roman" panose="02020503050405090304" pitchFamily="18" charset="0"/>
                <a:ea typeface="微软简魏碑" pitchFamily="2" charset="-122"/>
                <a:sym typeface="+mn-ea"/>
              </a:rPr>
              <a:t>association</a:t>
            </a:r>
            <a:endParaRPr lang="en-US" altLang="zh-CN">
              <a:latin typeface="Times New Roman" panose="02020503050405090304" pitchFamily="18" charset="0"/>
              <a:ea typeface="宋体" pitchFamily="2" charset="-122"/>
            </a:endParaRPr>
          </a:p>
          <a:p>
            <a:r>
              <a:rPr lang="zh-CN" altLang="en-US" dirty="0">
                <a:latin typeface="Times New Roman" panose="02020503050405090304" pitchFamily="18" charset="0"/>
                <a:ea typeface="微软简魏碑" pitchFamily="2" charset="-122"/>
                <a:sym typeface="+mn-ea"/>
              </a:rPr>
              <a:t>使用关系</a:t>
            </a:r>
            <a:r>
              <a:rPr lang="en-US" altLang="zh-CN">
                <a:latin typeface="Times New Roman" panose="02020503050405090304" pitchFamily="18" charset="0"/>
                <a:ea typeface="微软简魏碑" pitchFamily="2" charset="-122"/>
                <a:sym typeface="+mn-ea"/>
              </a:rPr>
              <a:t>——</a:t>
            </a:r>
            <a:r>
              <a:rPr lang="zh-CN" altLang="en-US" b="1" dirty="0">
                <a:solidFill>
                  <a:schemeClr val="hlink"/>
                </a:solidFill>
                <a:effectLst>
                  <a:outerShdw blurRad="38100" dist="38100" dir="2700000">
                    <a:srgbClr val="C0C0C0"/>
                  </a:outerShdw>
                </a:effectLst>
                <a:latin typeface="Times New Roman" panose="02020503050405090304" pitchFamily="18" charset="0"/>
                <a:ea typeface="微软简魏碑" pitchFamily="2" charset="-122"/>
                <a:sym typeface="+mn-ea"/>
              </a:rPr>
              <a:t>依赖</a:t>
            </a:r>
            <a:endParaRPr lang="zh-CN" altLang="en-US" b="1" dirty="0">
              <a:solidFill>
                <a:schemeClr val="hlink"/>
              </a:solidFill>
              <a:effectLst>
                <a:outerShdw blurRad="38100" dist="38100" dir="2700000">
                  <a:srgbClr val="C0C0C0"/>
                </a:outerShdw>
              </a:effectLst>
              <a:latin typeface="Times New Roman" panose="02020503050405090304" pitchFamily="18" charset="0"/>
              <a:ea typeface="微软简魏碑" pitchFamily="2" charset="-122"/>
            </a:endParaRPr>
          </a:p>
          <a:p>
            <a:pPr lvl="1" eaLnBrk="0" hangingPunct="0"/>
            <a:r>
              <a:rPr lang="en-US" altLang="zh-CN">
                <a:latin typeface="Times New Roman" panose="02020503050405090304" pitchFamily="18" charset="0"/>
                <a:ea typeface="微软简魏碑" pitchFamily="2" charset="-122"/>
                <a:sym typeface="+mn-ea"/>
              </a:rPr>
              <a:t>Dependency</a:t>
            </a:r>
            <a:endParaRPr lang="en-US" altLang="zh-CN">
              <a:latin typeface="Times New Roman" panose="02020503050405090304" pitchFamily="18" charset="0"/>
              <a:ea typeface="微软简魏碑" pitchFamily="2" charset="-122"/>
            </a:endParaRPr>
          </a:p>
          <a:p>
            <a:endParaRPr lang="zh-CN"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solidFill>
                  <a:schemeClr val="hlink"/>
                </a:solidFill>
                <a:effectLst>
                  <a:outerShdw blurRad="38100" dist="38100" dir="2700000">
                    <a:srgbClr val="C0C0C0"/>
                  </a:outerShdw>
                </a:effectLst>
                <a:latin typeface="Times New Roman" panose="02020503050405090304" pitchFamily="18" charset="0"/>
                <a:ea typeface="宋体" pitchFamily="2" charset="-122"/>
                <a:sym typeface="+mn-ea"/>
              </a:rPr>
              <a:t>接口</a:t>
            </a:r>
            <a:endParaRPr lang="zh-CN" altLang="en-US"/>
          </a:p>
        </p:txBody>
      </p:sp>
      <p:sp>
        <p:nvSpPr>
          <p:cNvPr id="3" name="内容占位符 2"/>
          <p:cNvSpPr>
            <a:spLocks noGrp="1"/>
          </p:cNvSpPr>
          <p:nvPr>
            <p:ph idx="1"/>
          </p:nvPr>
        </p:nvSpPr>
        <p:spPr/>
        <p:txBody>
          <a:bodyPr/>
          <a:lstStyle/>
          <a:p>
            <a:pPr algn="just">
              <a:spcBef>
                <a:spcPct val="50000"/>
              </a:spcBef>
            </a:pPr>
            <a:r>
              <a:rPr lang="zh-CN" altLang="en-US" b="1" dirty="0">
                <a:solidFill>
                  <a:srgbClr val="000000"/>
                </a:solidFill>
                <a:latin typeface="宋体" pitchFamily="2" charset="-122"/>
                <a:ea typeface="宋体" pitchFamily="2" charset="-122"/>
                <a:sym typeface="+mn-ea"/>
              </a:rPr>
              <a:t>平时在定义类时，可见性为公共的操作就构成了一组外部可访问的操作，为其它的类提供服务。把这组操作组织起来，作为该类的一个或几个接口，说该类提供了对其接口的实现。</a:t>
            </a:r>
            <a:endParaRPr lang="zh-CN" altLang="en-US" b="1" dirty="0">
              <a:solidFill>
                <a:srgbClr val="000000"/>
              </a:solidFill>
              <a:latin typeface="宋体" pitchFamily="2" charset="-122"/>
              <a:ea typeface="宋体" pitchFamily="2" charset="-122"/>
            </a:endParaRPr>
          </a:p>
          <a:p>
            <a:pPr algn="just">
              <a:spcBef>
                <a:spcPct val="50000"/>
              </a:spcBef>
            </a:pPr>
            <a:r>
              <a:rPr lang="zh-CN" altLang="en-US" b="1" dirty="0">
                <a:solidFill>
                  <a:srgbClr val="000000"/>
                </a:solidFill>
                <a:latin typeface="宋体" pitchFamily="2" charset="-122"/>
                <a:ea typeface="宋体" pitchFamily="2" charset="-122"/>
                <a:sym typeface="+mn-ea"/>
              </a:rPr>
              <a:t>还有一种接口是纯粹的，如</a:t>
            </a:r>
            <a:r>
              <a:rPr lang="en-US" altLang="zh-CN" b="1" dirty="0">
                <a:solidFill>
                  <a:srgbClr val="000000"/>
                </a:solidFill>
                <a:latin typeface="Times New Roman" panose="02020503050405090304" pitchFamily="18" charset="0"/>
                <a:ea typeface="宋体" pitchFamily="2" charset="-122"/>
                <a:sym typeface="+mn-ea"/>
              </a:rPr>
              <a:t>Java</a:t>
            </a:r>
            <a:r>
              <a:rPr lang="zh-CN" altLang="en-US" b="1" dirty="0">
                <a:solidFill>
                  <a:srgbClr val="000000"/>
                </a:solidFill>
                <a:latin typeface="宋体" pitchFamily="2" charset="-122"/>
                <a:ea typeface="宋体" pitchFamily="2" charset="-122"/>
                <a:sym typeface="+mn-ea"/>
              </a:rPr>
              <a:t>中的接口。这种接口仅具有操作说明，没有实现，它作为实现它和使用它的类的桥梁。</a:t>
            </a:r>
            <a:endParaRPr lang="zh-CN" altLang="en-US" b="1" dirty="0">
              <a:solidFill>
                <a:srgbClr val="000000"/>
              </a:solidFill>
              <a:latin typeface="宋体" pitchFamily="2" charset="-122"/>
              <a:ea typeface="宋体" pitchFamily="2" charset="-122"/>
            </a:endParaRPr>
          </a:p>
          <a:p>
            <a:pPr algn="just">
              <a:spcBef>
                <a:spcPct val="50000"/>
              </a:spcBef>
            </a:pPr>
            <a:r>
              <a:rPr lang="zh-CN" altLang="en-US" b="1" dirty="0">
                <a:solidFill>
                  <a:srgbClr val="000000"/>
                </a:solidFill>
                <a:latin typeface="Times New Roman" panose="02020503050405090304" pitchFamily="18" charset="0"/>
                <a:ea typeface="宋体" pitchFamily="2" charset="-122"/>
                <a:sym typeface="+mn-ea"/>
              </a:rPr>
              <a:t>在</a:t>
            </a:r>
            <a:r>
              <a:rPr lang="en-US" altLang="zh-CN" b="1" dirty="0">
                <a:solidFill>
                  <a:srgbClr val="000000"/>
                </a:solidFill>
                <a:latin typeface="Times New Roman" panose="02020503050405090304" pitchFamily="18" charset="0"/>
                <a:ea typeface="宋体" pitchFamily="2" charset="-122"/>
                <a:sym typeface="+mn-ea"/>
              </a:rPr>
              <a:t>UML</a:t>
            </a:r>
            <a:r>
              <a:rPr lang="zh-CN" altLang="en-US" b="1" dirty="0">
                <a:solidFill>
                  <a:srgbClr val="000000"/>
                </a:solidFill>
                <a:latin typeface="Times New Roman" panose="02020503050405090304" pitchFamily="18" charset="0"/>
                <a:ea typeface="宋体" pitchFamily="2" charset="-122"/>
                <a:sym typeface="+mn-ea"/>
              </a:rPr>
              <a:t>中，把一个</a:t>
            </a:r>
            <a:r>
              <a:rPr lang="zh-CN" altLang="en-US" b="1" dirty="0">
                <a:solidFill>
                  <a:srgbClr val="0000FF"/>
                </a:solidFill>
                <a:latin typeface="Times New Roman" panose="02020503050405090304" pitchFamily="18" charset="0"/>
                <a:ea typeface="宋体" pitchFamily="2" charset="-122"/>
                <a:sym typeface="+mn-ea"/>
              </a:rPr>
              <a:t>接口</a:t>
            </a:r>
            <a:r>
              <a:rPr lang="zh-CN" altLang="en-US" b="1" dirty="0">
                <a:solidFill>
                  <a:srgbClr val="000000"/>
                </a:solidFill>
                <a:latin typeface="Times New Roman" panose="02020503050405090304" pitchFamily="18" charset="0"/>
                <a:ea typeface="宋体" pitchFamily="2" charset="-122"/>
                <a:sym typeface="+mn-ea"/>
              </a:rPr>
              <a:t>定义为一个类、构件或子系统的对外可见的一组操作的描述符。它定义了类、构件或子系统对外提供的服务。</a:t>
            </a:r>
            <a:endParaRPr lang="zh-CN" alt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9481" name="对象 489480"/>
          <p:cNvGraphicFramePr/>
          <p:nvPr>
            <p:custDataLst>
              <p:tags r:id="rId1"/>
            </p:custDataLst>
          </p:nvPr>
        </p:nvGraphicFramePr>
        <p:xfrm>
          <a:off x="2999740" y="5572443"/>
          <a:ext cx="7545388" cy="1357312"/>
        </p:xfrm>
        <a:graphic>
          <a:graphicData uri="http://schemas.openxmlformats.org/presentationml/2006/ole">
            <mc:AlternateContent xmlns:mc="http://schemas.openxmlformats.org/markup-compatibility/2006">
              <mc:Choice xmlns:v="urn:schemas-microsoft-com:vml" Requires="v">
                <p:oleObj r:id="rId4" imgW="4747260" imgH="853440" progId="Paint.Picture">
                  <p:embed/>
                </p:oleObj>
              </mc:Choice>
              <mc:Fallback>
                <p:oleObj r:id="rId4" imgW="4747260" imgH="853440" progId="Paint.Picture">
                  <p:embed/>
                  <p:pic>
                    <p:nvPicPr>
                      <p:cNvPr id="0" name="图片 3076"/>
                      <p:cNvPicPr/>
                      <p:nvPr/>
                    </p:nvPicPr>
                    <p:blipFill>
                      <a:blip r:embed="rId5"/>
                      <a:stretch>
                        <a:fillRect/>
                      </a:stretch>
                    </p:blipFill>
                    <p:spPr>
                      <a:xfrm>
                        <a:off x="2999740" y="5572443"/>
                        <a:ext cx="7545388" cy="1357312"/>
                      </a:xfrm>
                      <a:prstGeom prst="rect">
                        <a:avLst/>
                      </a:prstGeom>
                      <a:noFill/>
                      <a:ln w="38100">
                        <a:noFill/>
                        <a:miter/>
                      </a:ln>
                    </p:spPr>
                  </p:pic>
                </p:oleObj>
              </mc:Fallback>
            </mc:AlternateContent>
          </a:graphicData>
        </a:graphic>
      </p:graphicFrame>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b="1" dirty="0">
                <a:solidFill>
                  <a:srgbClr val="0000FF"/>
                </a:solidFill>
                <a:latin typeface="Times New Roman" panose="02020503050405090304" pitchFamily="18" charset="0"/>
                <a:ea typeface="微软简魏碑" pitchFamily="2" charset="-122"/>
                <a:sym typeface="+mn-ea"/>
              </a:rPr>
              <a:t>接口定义了一个契约，在接口两端的遵循该接口的任何类、构件或子系统可以独立变更，但必须忠实地履行这个契约。</a:t>
            </a:r>
            <a:endParaRPr lang="zh-CN" altLang="en-US" dirty="0"/>
          </a:p>
        </p:txBody>
      </p:sp>
      <p:graphicFrame>
        <p:nvGraphicFramePr>
          <p:cNvPr id="489480" name="对象 489479"/>
          <p:cNvGraphicFramePr/>
          <p:nvPr>
            <p:custDataLst>
              <p:tags r:id="rId2"/>
            </p:custDataLst>
          </p:nvPr>
        </p:nvGraphicFramePr>
        <p:xfrm>
          <a:off x="2311400" y="2852103"/>
          <a:ext cx="7570788" cy="2759075"/>
        </p:xfrm>
        <a:graphic>
          <a:graphicData uri="http://schemas.openxmlformats.org/presentationml/2006/ole">
            <mc:AlternateContent xmlns:mc="http://schemas.openxmlformats.org/markup-compatibility/2006">
              <mc:Choice xmlns:v="urn:schemas-microsoft-com:vml" Requires="v">
                <p:oleObj r:id="rId6" imgW="4785360" imgH="1744980" progId="Paint.Picture">
                  <p:embed/>
                </p:oleObj>
              </mc:Choice>
              <mc:Fallback>
                <p:oleObj r:id="rId6" imgW="4785360" imgH="1744980" progId="Paint.Picture">
                  <p:embed/>
                  <p:pic>
                    <p:nvPicPr>
                      <p:cNvPr id="0" name="图片 3077"/>
                      <p:cNvPicPr/>
                      <p:nvPr/>
                    </p:nvPicPr>
                    <p:blipFill>
                      <a:blip r:embed="rId7"/>
                      <a:stretch>
                        <a:fillRect/>
                      </a:stretch>
                    </p:blipFill>
                    <p:spPr>
                      <a:xfrm>
                        <a:off x="2311400" y="2852103"/>
                        <a:ext cx="7570788" cy="2759075"/>
                      </a:xfrm>
                      <a:prstGeom prst="rect">
                        <a:avLst/>
                      </a:prstGeom>
                      <a:noFill/>
                      <a:ln w="38100">
                        <a:noFill/>
                        <a:miter/>
                      </a:ln>
                    </p:spPr>
                  </p:pic>
                </p:oleObj>
              </mc:Fallback>
            </mc:AlternateContent>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b="1" dirty="0">
                <a:solidFill>
                  <a:srgbClr val="0000FF"/>
                </a:solidFill>
                <a:latin typeface="宋体" pitchFamily="2" charset="-122"/>
                <a:ea typeface="宋体" pitchFamily="2" charset="-122"/>
                <a:sym typeface="+mn-ea"/>
              </a:rPr>
              <a:t>也可以把继承中的抽象类作为一个公共接口，由其特殊类对公共接口中的抽象操作进行实现。</a:t>
            </a:r>
            <a:r>
              <a:rPr lang="zh-CN" altLang="en-US" b="1" dirty="0">
                <a:solidFill>
                  <a:srgbClr val="0000FF"/>
                </a:solidFill>
                <a:latin typeface="Times New Roman" panose="02020503050405090304" pitchFamily="18" charset="0"/>
                <a:ea typeface="微软简魏碑" pitchFamily="2" charset="-122"/>
                <a:sym typeface="+mn-ea"/>
              </a:rPr>
              <a:t> </a:t>
            </a:r>
            <a:endParaRPr lang="zh-CN" altLang="en-US" b="1" dirty="0">
              <a:solidFill>
                <a:srgbClr val="0000FF"/>
              </a:solidFill>
              <a:latin typeface="Times New Roman" panose="02020503050405090304" pitchFamily="18" charset="0"/>
              <a:ea typeface="微软简魏碑" pitchFamily="2" charset="-122"/>
            </a:endParaRPr>
          </a:p>
          <a:p>
            <a:pPr>
              <a:spcBef>
                <a:spcPct val="50000"/>
              </a:spcBef>
            </a:pPr>
            <a:r>
              <a:rPr lang="zh-CN" altLang="en-US" dirty="0">
                <a:latin typeface="宋体" pitchFamily="2" charset="-122"/>
                <a:ea typeface="宋体" pitchFamily="2" charset="-122"/>
                <a:sym typeface="+mn-ea"/>
              </a:rPr>
              <a:t>抽象类可以作为接口，但严格地讲，二者是有区别的，是不相同的建模元素。</a:t>
            </a:r>
            <a:r>
              <a:rPr lang="zh-CN" altLang="en-US" b="1" dirty="0">
                <a:solidFill>
                  <a:srgbClr val="0000FF"/>
                </a:solidFill>
                <a:effectLst>
                  <a:outerShdw blurRad="38100" dist="38100" dir="2700000">
                    <a:srgbClr val="C0C0C0"/>
                  </a:outerShdw>
                </a:effectLst>
                <a:latin typeface="宋体" pitchFamily="2" charset="-122"/>
                <a:ea typeface="宋体" pitchFamily="2" charset="-122"/>
                <a:sym typeface="+mn-ea"/>
              </a:rPr>
              <a:t>抽象类可以含有属性和一些具体操作，而接口没有属性，且不能在其中定义任何具体操作的方法</a:t>
            </a:r>
            <a:r>
              <a:rPr lang="zh-CN" altLang="en-US" b="1" dirty="0">
                <a:solidFill>
                  <a:srgbClr val="0000FF"/>
                </a:solidFill>
                <a:effectLst>
                  <a:outerShdw blurRad="38100" dist="38100" dir="2700000">
                    <a:srgbClr val="C0C0C0"/>
                  </a:outerShdw>
                </a:effectLst>
                <a:latin typeface="Times New Roman" panose="02020503050405090304" pitchFamily="18" charset="0"/>
                <a:ea typeface="微软简魏碑" pitchFamily="2" charset="-122"/>
                <a:sym typeface="+mn-ea"/>
              </a:rPr>
              <a:t> 。</a:t>
            </a:r>
            <a:endParaRPr lang="zh-CN" altLang="en-US" b="1" dirty="0">
              <a:solidFill>
                <a:srgbClr val="0000FF"/>
              </a:solidFill>
              <a:effectLst>
                <a:outerShdw blurRad="38100" dist="38100" dir="2700000">
                  <a:srgbClr val="C0C0C0"/>
                </a:outerShdw>
              </a:effectLst>
              <a:latin typeface="Times New Roman" panose="02020503050405090304" pitchFamily="18" charset="0"/>
              <a:ea typeface="微软简魏碑" pitchFamily="2" charset="-122"/>
            </a:endParaRPr>
          </a:p>
          <a:p>
            <a:pPr>
              <a:spcBef>
                <a:spcPct val="50000"/>
              </a:spcBef>
            </a:pPr>
            <a:r>
              <a:rPr lang="zh-CN" altLang="en-US" dirty="0">
                <a:latin typeface="TT13BDo00" charset="-122"/>
                <a:ea typeface="微软简魏碑" pitchFamily="2" charset="-122"/>
                <a:sym typeface="+mn-ea"/>
              </a:rPr>
              <a:t>接口更像一个其所有的操作都是抽象的抽象类。</a:t>
            </a:r>
            <a:endParaRPr lang="zh-CN" altLang="en-US" dirty="0">
              <a:latin typeface="Times New Roman" panose="02020503050405090304" pitchFamily="18" charset="0"/>
              <a:ea typeface="微软简魏碑" pitchFamily="2" charset="-122"/>
            </a:endParaRPr>
          </a:p>
          <a:p>
            <a:endParaRPr lang="zh-CN" alt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91522" name="对象 491521"/>
          <p:cNvGraphicFramePr/>
          <p:nvPr>
            <p:custDataLst>
              <p:tags r:id="rId1"/>
            </p:custDataLst>
            <p:extLst>
              <p:ext uri="{D42A27DB-BD31-4B8C-83A1-F6EECF244321}">
                <p14:modId xmlns:p14="http://schemas.microsoft.com/office/powerpoint/2010/main" val="2848120581"/>
              </p:ext>
            </p:extLst>
          </p:nvPr>
        </p:nvGraphicFramePr>
        <p:xfrm>
          <a:off x="2783632" y="1556792"/>
          <a:ext cx="6216650" cy="4013200"/>
        </p:xfrm>
        <a:graphic>
          <a:graphicData uri="http://schemas.openxmlformats.org/presentationml/2006/ole">
            <mc:AlternateContent xmlns:mc="http://schemas.openxmlformats.org/markup-compatibility/2006">
              <mc:Choice xmlns:v="urn:schemas-microsoft-com:vml" Requires="v">
                <p:oleObj r:id="rId3" imgW="3528060" imgH="2278380" progId="Paint.Picture">
                  <p:embed/>
                </p:oleObj>
              </mc:Choice>
              <mc:Fallback>
                <p:oleObj r:id="rId3" imgW="3528060" imgH="2278380" progId="Paint.Picture">
                  <p:embed/>
                  <p:pic>
                    <p:nvPicPr>
                      <p:cNvPr id="0" name="图片 3075"/>
                      <p:cNvPicPr/>
                      <p:nvPr/>
                    </p:nvPicPr>
                    <p:blipFill>
                      <a:blip r:embed="rId4"/>
                      <a:stretch>
                        <a:fillRect/>
                      </a:stretch>
                    </p:blipFill>
                    <p:spPr>
                      <a:xfrm>
                        <a:off x="2783632" y="1556792"/>
                        <a:ext cx="6216650" cy="4013200"/>
                      </a:xfrm>
                      <a:prstGeom prst="rect">
                        <a:avLst/>
                      </a:prstGeom>
                      <a:noFill/>
                      <a:ln w="38100">
                        <a:noFill/>
                        <a:miter/>
                      </a:ln>
                    </p:spPr>
                  </p:pic>
                </p:oleObj>
              </mc:Fallback>
            </mc:AlternateContent>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4.4 </a:t>
            </a:r>
            <a:r>
              <a:rPr lang="zh-CN" altLang="en-US" dirty="0"/>
              <a:t>用例顺序图</a:t>
            </a:r>
          </a:p>
        </p:txBody>
      </p:sp>
      <p:sp>
        <p:nvSpPr>
          <p:cNvPr id="3" name="内容占位符 2"/>
          <p:cNvSpPr>
            <a:spLocks noGrp="1"/>
          </p:cNvSpPr>
          <p:nvPr>
            <p:ph idx="1"/>
          </p:nvPr>
        </p:nvSpPr>
        <p:spPr/>
        <p:txBody>
          <a:bodyPr>
            <a:normAutofit/>
          </a:bodyPr>
          <a:lstStyle/>
          <a:p>
            <a:r>
              <a:rPr lang="zh-CN" altLang="en-US" dirty="0"/>
              <a:t>系统消息：面向对象中，用户与系统打交道是通过发送消息，</a:t>
            </a:r>
            <a:endParaRPr lang="en-US" altLang="zh-CN" dirty="0"/>
          </a:p>
          <a:p>
            <a:r>
              <a:rPr lang="zh-CN" altLang="en-US" dirty="0"/>
              <a:t>谁接收消息</a:t>
            </a:r>
            <a:endParaRPr lang="en-US" altLang="zh-CN" dirty="0"/>
          </a:p>
          <a:p>
            <a:pPr lvl="1"/>
            <a:r>
              <a:rPr lang="zh-CN" altLang="en-US" dirty="0"/>
              <a:t>领域模型中的类</a:t>
            </a:r>
            <a:endParaRPr lang="en-US" altLang="zh-CN" dirty="0"/>
          </a:p>
          <a:p>
            <a:pPr lvl="1"/>
            <a:r>
              <a:rPr lang="zh-CN" altLang="en-US" dirty="0"/>
              <a:t>边界对象（边界对象在系统架构中属于表示层，需要根据消息分析应用层中对象的行为，不合适）</a:t>
            </a:r>
            <a:endParaRPr lang="en-US" altLang="zh-CN" dirty="0"/>
          </a:p>
          <a:p>
            <a:pPr lvl="1"/>
            <a:r>
              <a:rPr lang="zh-CN" altLang="en-US" dirty="0"/>
              <a:t>一个用例中可能有许多消息，检查消息的正确性，协调系统产生的响应</a:t>
            </a:r>
            <a:r>
              <a:rPr lang="en-US" altLang="zh-CN" dirty="0"/>
              <a:t>——</a:t>
            </a:r>
            <a:r>
              <a:rPr lang="zh-CN" altLang="en-US" dirty="0"/>
              <a:t>控制对象。</a:t>
            </a:r>
            <a:endParaRPr lang="en-US" altLang="zh-CN" dirty="0"/>
          </a:p>
          <a:p>
            <a:pPr lvl="1"/>
            <a:r>
              <a:rPr lang="en-US" altLang="zh-CN" b="1" dirty="0" err="1">
                <a:solidFill>
                  <a:srgbClr val="0000FF"/>
                </a:solidFill>
              </a:rPr>
              <a:t>BookingSystem</a:t>
            </a:r>
            <a:r>
              <a:rPr lang="zh-CN" altLang="en-US" b="1" dirty="0">
                <a:solidFill>
                  <a:srgbClr val="0000FF"/>
                </a:solidFill>
              </a:rPr>
              <a:t>控制类负责接收系统消息</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案例—— 餐馆系统分析</a:t>
            </a:r>
          </a:p>
        </p:txBody>
      </p:sp>
      <p:sp>
        <p:nvSpPr>
          <p:cNvPr id="3" name="副标题 2"/>
          <p:cNvSpPr>
            <a:spLocks noGrp="1"/>
          </p:cNvSpPr>
          <p:nvPr>
            <p:ph type="subTitle" idx="1"/>
          </p:nvPr>
        </p:nvSpPr>
        <p:spPr/>
        <p:txBody>
          <a:bodyPr/>
          <a:lstStyle/>
          <a:p>
            <a:endParaRPr lang="zh-CN" alt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40216" y="1772816"/>
            <a:ext cx="4320480" cy="3522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7176720" y="3320117"/>
            <a:ext cx="2304256" cy="645160"/>
          </a:xfrm>
          <a:prstGeom prst="rect">
            <a:avLst/>
          </a:prstGeom>
          <a:noFill/>
        </p:spPr>
        <p:txBody>
          <a:bodyPr wrap="square" rtlCol="0">
            <a:spAutoFit/>
          </a:bodyPr>
          <a:lstStyle/>
          <a:p>
            <a:r>
              <a:rPr lang="zh-CN" altLang="en-US" sz="3600" dirty="0"/>
              <a:t>如何检索</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4.4.1  </a:t>
            </a:r>
            <a:r>
              <a:rPr lang="zh-CN" altLang="en-US" dirty="0"/>
              <a:t>显示预约</a:t>
            </a:r>
          </a:p>
        </p:txBody>
      </p:sp>
      <p:sp>
        <p:nvSpPr>
          <p:cNvPr id="3" name="内容占位符 2"/>
          <p:cNvSpPr>
            <a:spLocks noGrp="1"/>
          </p:cNvSpPr>
          <p:nvPr>
            <p:ph idx="1"/>
          </p:nvPr>
        </p:nvSpPr>
        <p:spPr/>
        <p:txBody>
          <a:bodyPr/>
          <a:lstStyle/>
          <a:p>
            <a:r>
              <a:rPr lang="zh-CN" altLang="en-US" dirty="0"/>
              <a:t>预约信息存储在</a:t>
            </a:r>
            <a:r>
              <a:rPr lang="en-US" altLang="zh-CN" dirty="0"/>
              <a:t>Booking</a:t>
            </a:r>
            <a:r>
              <a:rPr lang="zh-CN" altLang="en-US" dirty="0"/>
              <a:t>对象中，它仅存储单个的预约信息，全部的预约信息如何维护</a:t>
            </a:r>
            <a:endParaRPr lang="en-US" altLang="zh-CN" dirty="0"/>
          </a:p>
          <a:p>
            <a:r>
              <a:rPr lang="zh-CN" altLang="en-US" dirty="0"/>
              <a:t>维护单个实体和实体集合的责任最好分给不同的对象</a:t>
            </a:r>
            <a:endParaRPr lang="en-US" altLang="zh-CN" dirty="0"/>
          </a:p>
          <a:p>
            <a:r>
              <a:rPr lang="zh-CN" altLang="en-US" dirty="0"/>
              <a:t>分给预约控制系统（</a:t>
            </a:r>
            <a:r>
              <a:rPr lang="zh-CN" altLang="en-US" b="1" dirty="0">
                <a:solidFill>
                  <a:srgbClr val="FF0000"/>
                </a:solidFill>
              </a:rPr>
              <a:t>内聚？</a:t>
            </a:r>
            <a:r>
              <a:rPr lang="zh-CN" altLang="en-US" dirty="0"/>
              <a:t>）</a:t>
            </a:r>
            <a:endParaRPr lang="en-US" altLang="zh-CN" dirty="0"/>
          </a:p>
          <a:p>
            <a:r>
              <a:rPr lang="zh-CN" altLang="en-US" dirty="0"/>
              <a:t>建立一个新的类来维护预约集合：</a:t>
            </a:r>
            <a:r>
              <a:rPr lang="en-US" altLang="zh-CN" dirty="0"/>
              <a:t>Restaurant</a:t>
            </a:r>
            <a:endParaRPr lang="zh-CN" alt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6200" y="1484784"/>
            <a:ext cx="6336704" cy="4535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3936360" y="5521559"/>
            <a:ext cx="5453380" cy="460375"/>
          </a:xfrm>
          <a:prstGeom prst="rect">
            <a:avLst/>
          </a:prstGeom>
          <a:noFill/>
        </p:spPr>
        <p:txBody>
          <a:bodyPr wrap="none" rtlCol="0">
            <a:spAutoFit/>
          </a:bodyPr>
          <a:lstStyle/>
          <a:p>
            <a:r>
              <a:rPr lang="en-US" altLang="zh-CN" sz="2400" b="1" dirty="0">
                <a:solidFill>
                  <a:srgbClr val="FF0000"/>
                </a:solidFill>
              </a:rPr>
              <a:t>Restaurant</a:t>
            </a:r>
            <a:r>
              <a:rPr lang="zh-CN" altLang="en-US" sz="2400" b="1" dirty="0">
                <a:solidFill>
                  <a:srgbClr val="FF0000"/>
                </a:solidFill>
              </a:rPr>
              <a:t>对象如何识别返回的预约？</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4.4.2 </a:t>
            </a:r>
            <a:r>
              <a:rPr lang="zh-CN" altLang="en-US" dirty="0"/>
              <a:t>显示预约（细节）</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2143" y="1556792"/>
            <a:ext cx="8109209" cy="4392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4.4.3 </a:t>
            </a:r>
            <a:r>
              <a:rPr lang="zh-CN" altLang="en-US" dirty="0"/>
              <a:t>细化领域模型</a:t>
            </a:r>
          </a:p>
        </p:txBody>
      </p:sp>
      <p:sp>
        <p:nvSpPr>
          <p:cNvPr id="3" name="内容占位符 2"/>
          <p:cNvSpPr>
            <a:spLocks noGrp="1"/>
          </p:cNvSpPr>
          <p:nvPr>
            <p:ph idx="1"/>
          </p:nvPr>
        </p:nvSpPr>
        <p:spPr>
          <a:xfrm>
            <a:off x="1981800" y="1600201"/>
            <a:ext cx="8229600" cy="1252736"/>
          </a:xfrm>
        </p:spPr>
        <p:txBody>
          <a:bodyPr/>
          <a:lstStyle/>
          <a:p>
            <a:r>
              <a:rPr lang="zh-CN" altLang="en-US" dirty="0"/>
              <a:t>保存当前日期的预约信息（或当前屏幕上的预约信息）</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9596" y="2492896"/>
            <a:ext cx="7272808" cy="40923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4.5 </a:t>
            </a:r>
            <a:r>
              <a:rPr lang="zh-CN" altLang="en-US" dirty="0"/>
              <a:t>记录新预约</a:t>
            </a:r>
          </a:p>
        </p:txBody>
      </p:sp>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2184" y="1484784"/>
            <a:ext cx="7447073" cy="460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0013" y="1412776"/>
            <a:ext cx="8891587" cy="540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椭圆 2"/>
          <p:cNvSpPr/>
          <p:nvPr/>
        </p:nvSpPr>
        <p:spPr>
          <a:xfrm>
            <a:off x="5376520" y="4293096"/>
            <a:ext cx="2808312" cy="144016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创建新对象</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4.6 </a:t>
            </a:r>
            <a:r>
              <a:rPr lang="zh-CN" altLang="en-US" dirty="0"/>
              <a:t>取消预约</a:t>
            </a:r>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2144" y="1412776"/>
            <a:ext cx="7920880" cy="5646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4.7 </a:t>
            </a:r>
            <a:r>
              <a:rPr lang="zh-CN" altLang="en-US" dirty="0"/>
              <a:t>记录到达</a:t>
            </a: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2104" y="1484784"/>
            <a:ext cx="8850275" cy="4896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4.8 </a:t>
            </a:r>
            <a:r>
              <a:rPr lang="zh-CN" altLang="en-US" dirty="0"/>
              <a:t>调换餐桌</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0136" y="1120276"/>
            <a:ext cx="7920880" cy="622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4.9 </a:t>
            </a:r>
            <a:r>
              <a:rPr lang="zh-CN" altLang="en-US" dirty="0"/>
              <a:t>完成分析模型</a:t>
            </a:r>
          </a:p>
        </p:txBody>
      </p:sp>
      <p:sp>
        <p:nvSpPr>
          <p:cNvPr id="3" name="内容占位符 2"/>
          <p:cNvSpPr>
            <a:spLocks noGrp="1"/>
          </p:cNvSpPr>
          <p:nvPr>
            <p:ph idx="1"/>
          </p:nvPr>
        </p:nvSpPr>
        <p:spPr/>
        <p:txBody>
          <a:bodyPr/>
          <a:lstStyle/>
          <a:p>
            <a:r>
              <a:rPr lang="zh-CN" altLang="en-US" dirty="0"/>
              <a:t>主要分析每个用例的基本事件路径</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5560" y="2185013"/>
            <a:ext cx="8258926" cy="465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t>5</a:t>
            </a:r>
            <a:r>
              <a:rPr lang="zh-CN" altLang="en-US" dirty="0"/>
              <a:t>：面向对象的设计</a:t>
            </a:r>
          </a:p>
        </p:txBody>
      </p:sp>
      <p:sp>
        <p:nvSpPr>
          <p:cNvPr id="3" name="副标题 2"/>
          <p:cNvSpPr>
            <a:spLocks noGrp="1"/>
          </p:cNvSpPr>
          <p:nvPr>
            <p:ph type="subTitle" idx="1"/>
          </p:nvPr>
        </p:nvSpPr>
        <p:spPr/>
        <p:txBody>
          <a:bodyPr/>
          <a:lstStyle/>
          <a:p>
            <a:endParaRPr lang="zh-CN" alt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设计包含的内容</a:t>
            </a:r>
          </a:p>
        </p:txBody>
      </p:sp>
      <p:sp>
        <p:nvSpPr>
          <p:cNvPr id="3" name="内容占位符 2"/>
          <p:cNvSpPr>
            <a:spLocks noGrp="1"/>
          </p:cNvSpPr>
          <p:nvPr>
            <p:ph idx="1"/>
          </p:nvPr>
        </p:nvSpPr>
        <p:spPr/>
        <p:txBody>
          <a:bodyPr>
            <a:normAutofit/>
          </a:bodyPr>
          <a:lstStyle/>
          <a:p>
            <a:pPr lvl="0" eaLnBrk="0" hangingPunct="0">
              <a:buClr>
                <a:srgbClr val="00B0F0"/>
              </a:buClr>
              <a:buFont typeface="Wingdings" panose="05000000000000000000" charset="0"/>
              <a:buChar char=""/>
            </a:pPr>
            <a:r>
              <a:rPr lang="zh-CN" altLang="en-US" dirty="0">
                <a:latin typeface="+mn-ea"/>
                <a:ea typeface="+mn-ea"/>
                <a:sym typeface="+mn-ea"/>
              </a:rPr>
              <a:t>问题域部分的设计</a:t>
            </a:r>
          </a:p>
          <a:p>
            <a:pPr lvl="0" eaLnBrk="0" hangingPunct="0">
              <a:buClr>
                <a:srgbClr val="00B0F0"/>
              </a:buClr>
              <a:buFont typeface="Wingdings" panose="05000000000000000000" charset="0"/>
              <a:buChar char=""/>
            </a:pPr>
            <a:r>
              <a:rPr lang="zh-CN" altLang="en-US" dirty="0">
                <a:latin typeface="+mn-ea"/>
                <a:ea typeface="+mn-ea"/>
                <a:sym typeface="+mn-ea"/>
              </a:rPr>
              <a:t>人机交互部分的设计</a:t>
            </a:r>
            <a:endParaRPr lang="zh-CN" altLang="en-US" dirty="0">
              <a:latin typeface="+mn-ea"/>
              <a:ea typeface="+mn-ea"/>
            </a:endParaRPr>
          </a:p>
          <a:p>
            <a:pPr lvl="0" eaLnBrk="0" hangingPunct="0">
              <a:buClr>
                <a:srgbClr val="00B0F0"/>
              </a:buClr>
              <a:buFont typeface="Wingdings" panose="05000000000000000000" charset="0"/>
              <a:buChar char=""/>
            </a:pPr>
            <a:r>
              <a:rPr lang="zh-CN" altLang="en-US" dirty="0">
                <a:solidFill>
                  <a:srgbClr val="FF0000"/>
                </a:solidFill>
                <a:latin typeface="+mn-ea"/>
                <a:ea typeface="+mn-ea"/>
                <a:sym typeface="+mn-ea"/>
              </a:rPr>
              <a:t>控制流管理部分的设计</a:t>
            </a:r>
            <a:endParaRPr lang="zh-CN" altLang="en-US" dirty="0">
              <a:latin typeface="+mn-ea"/>
              <a:ea typeface="+mn-ea"/>
            </a:endParaRPr>
          </a:p>
          <a:p>
            <a:pPr lvl="0" eaLnBrk="0" hangingPunct="0">
              <a:buClr>
                <a:srgbClr val="00B0F0"/>
              </a:buClr>
              <a:buFont typeface="Wingdings" panose="05000000000000000000" charset="0"/>
              <a:buChar char=""/>
            </a:pPr>
            <a:r>
              <a:rPr lang="zh-CN" altLang="en-US" dirty="0">
                <a:latin typeface="+mn-ea"/>
                <a:ea typeface="+mn-ea"/>
                <a:sym typeface="+mn-ea"/>
              </a:rPr>
              <a:t>数据管理部分的设计</a:t>
            </a:r>
            <a:endParaRPr lang="zh-CN" altLang="en-US" dirty="0">
              <a:latin typeface="+mn-ea"/>
              <a:ea typeface="+mn-ea"/>
            </a:endParaRPr>
          </a:p>
          <a:p>
            <a:pPr lvl="0" eaLnBrk="0" hangingPunct="0">
              <a:buClr>
                <a:srgbClr val="00B0F0"/>
              </a:buClr>
              <a:buFont typeface="Wingdings" panose="05000000000000000000" charset="0"/>
              <a:buChar char=""/>
            </a:pPr>
            <a:r>
              <a:rPr lang="zh-CN" altLang="en-US" dirty="0">
                <a:latin typeface="+mn-ea"/>
                <a:ea typeface="+mn-ea"/>
                <a:sym typeface="+mn-ea"/>
              </a:rPr>
              <a:t>构件部署部分的设计</a:t>
            </a:r>
            <a:endParaRPr lang="zh-CN" altLang="en-US" dirty="0">
              <a:latin typeface="+mn-ea"/>
              <a:ea typeface="+mn-ea"/>
            </a:endParaRPr>
          </a:p>
          <a:p>
            <a:endParaRPr lang="zh-CN" altLang="en-US">
              <a:latin typeface="+mn-ea"/>
              <a:ea typeface="+mn-ea"/>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ea"/>
                <a:ea typeface="+mn-ea"/>
                <a:sym typeface="+mn-ea"/>
              </a:rPr>
              <a:t>5.2 </a:t>
            </a:r>
            <a:r>
              <a:rPr lang="zh-CN" altLang="en-US" dirty="0">
                <a:latin typeface="+mn-ea"/>
                <a:ea typeface="+mn-ea"/>
                <a:sym typeface="+mn-ea"/>
              </a:rPr>
              <a:t>问题域部分的设计</a:t>
            </a:r>
            <a:endParaRPr lang="zh-CN" altLang="en-US"/>
          </a:p>
        </p:txBody>
      </p:sp>
      <p:sp>
        <p:nvSpPr>
          <p:cNvPr id="3" name="内容占位符 2"/>
          <p:cNvSpPr>
            <a:spLocks noGrp="1"/>
          </p:cNvSpPr>
          <p:nvPr>
            <p:ph idx="1"/>
          </p:nvPr>
        </p:nvSpPr>
        <p:spPr/>
        <p:txBody>
          <a:bodyPr>
            <a:normAutofit/>
          </a:bodyPr>
          <a:lstStyle/>
          <a:p>
            <a:pPr marL="0" indent="0" algn="l">
              <a:buNone/>
            </a:pPr>
            <a:r>
              <a:rPr lang="zh-CN" altLang="en-US" b="1">
                <a:latin typeface="Times New Roman" panose="02020503050405090304" pitchFamily="18" charset="0"/>
                <a:ea typeface="微软简魏碑" pitchFamily="2" charset="-122"/>
                <a:sym typeface="+mn-ea"/>
              </a:rPr>
              <a:t>将</a:t>
            </a:r>
            <a:r>
              <a:rPr lang="en-US" altLang="zh-CN" b="1">
                <a:latin typeface="Times New Roman" panose="02020503050405090304" pitchFamily="18" charset="0"/>
                <a:ea typeface="微软简魏碑" pitchFamily="2" charset="-122"/>
                <a:sym typeface="+mn-ea"/>
              </a:rPr>
              <a:t>OOA</a:t>
            </a:r>
            <a:r>
              <a:rPr lang="zh-CN" altLang="en-US" b="1" dirty="0">
                <a:latin typeface="Times New Roman" panose="02020503050405090304" pitchFamily="18" charset="0"/>
                <a:ea typeface="微软简魏碑" pitchFamily="2" charset="-122"/>
                <a:sym typeface="+mn-ea"/>
              </a:rPr>
              <a:t>模型搬到</a:t>
            </a:r>
            <a:r>
              <a:rPr lang="en-US" altLang="zh-CN" b="1">
                <a:latin typeface="Times New Roman" panose="02020503050405090304" pitchFamily="18" charset="0"/>
                <a:ea typeface="微软简魏碑" pitchFamily="2" charset="-122"/>
                <a:sym typeface="+mn-ea"/>
              </a:rPr>
              <a:t>OOD</a:t>
            </a:r>
            <a:r>
              <a:rPr lang="zh-CN" altLang="en-US" b="1">
                <a:latin typeface="Times New Roman" panose="02020503050405090304" pitchFamily="18" charset="0"/>
                <a:ea typeface="微软简魏碑" pitchFamily="2" charset="-122"/>
                <a:sym typeface="+mn-ea"/>
              </a:rPr>
              <a:t>，</a:t>
            </a:r>
            <a:r>
              <a:rPr lang="zh-CN" altLang="en-US" b="1" dirty="0">
                <a:latin typeface="Times New Roman" panose="02020503050405090304" pitchFamily="18" charset="0"/>
                <a:ea typeface="微软简魏碑" pitchFamily="2" charset="-122"/>
                <a:sym typeface="+mn-ea"/>
              </a:rPr>
              <a:t>作为</a:t>
            </a:r>
            <a:r>
              <a:rPr lang="en-US" altLang="zh-CN" b="1">
                <a:latin typeface="Times New Roman" panose="02020503050405090304" pitchFamily="18" charset="0"/>
                <a:ea typeface="微软简魏碑" pitchFamily="2" charset="-122"/>
                <a:sym typeface="+mn-ea"/>
              </a:rPr>
              <a:t>OOD</a:t>
            </a:r>
            <a:r>
              <a:rPr lang="zh-CN" altLang="en-US" b="1" dirty="0">
                <a:latin typeface="Times New Roman" panose="02020503050405090304" pitchFamily="18" charset="0"/>
                <a:ea typeface="微软简魏碑" pitchFamily="2" charset="-122"/>
                <a:sym typeface="+mn-ea"/>
              </a:rPr>
              <a:t>的基础</a:t>
            </a:r>
          </a:p>
          <a:p>
            <a:pPr algn="l">
              <a:lnSpc>
                <a:spcPct val="120000"/>
              </a:lnSpc>
              <a:buClrTx/>
              <a:buSzTx/>
            </a:pPr>
            <a:r>
              <a:rPr lang="zh-CN" altLang="en-US" b="1" dirty="0">
                <a:solidFill>
                  <a:srgbClr val="951601"/>
                </a:solidFill>
                <a:latin typeface="Times New Roman" panose="02020503050405090304" pitchFamily="18" charset="0"/>
                <a:ea typeface="微软简魏碑" pitchFamily="2" charset="-122"/>
                <a:sym typeface="+mn-ea"/>
              </a:rPr>
              <a:t>尽量复用现有的类</a:t>
            </a:r>
          </a:p>
          <a:p>
            <a:pPr>
              <a:lnSpc>
                <a:spcPct val="120000"/>
              </a:lnSpc>
            </a:pPr>
            <a:r>
              <a:rPr lang="zh-CN" altLang="en-US" b="1" dirty="0">
                <a:solidFill>
                  <a:srgbClr val="951601"/>
                </a:solidFill>
                <a:latin typeface="Times New Roman" panose="02020503050405090304" pitchFamily="18" charset="0"/>
                <a:ea typeface="微软简魏碑" pitchFamily="2" charset="-122"/>
                <a:sym typeface="+mn-ea"/>
              </a:rPr>
              <a:t>提高性能</a:t>
            </a:r>
          </a:p>
          <a:p>
            <a:pPr lvl="1">
              <a:buClr>
                <a:srgbClr val="0000CC"/>
              </a:buClr>
              <a:buFont typeface="Wingdings" panose="05000000000000000000" pitchFamily="2" charset="2"/>
              <a:buChar char="Ø"/>
            </a:pPr>
            <a:r>
              <a:rPr lang="zh-CN" altLang="en-US" b="1" dirty="0">
                <a:latin typeface="Times New Roman" panose="02020503050405090304" pitchFamily="18" charset="0"/>
                <a:ea typeface="微软简魏碑" pitchFamily="2" charset="-122"/>
                <a:sym typeface="+mn-ea"/>
              </a:rPr>
              <a:t>增加属性或类，以</a:t>
            </a:r>
            <a:r>
              <a:rPr lang="zh-CN" altLang="en-US" b="1" dirty="0">
                <a:solidFill>
                  <a:srgbClr val="000000"/>
                </a:solidFill>
                <a:latin typeface="Times New Roman" panose="02020503050405090304" pitchFamily="18" charset="0"/>
                <a:ea typeface="微软简魏碑" pitchFamily="2" charset="-122"/>
                <a:sym typeface="+mn-ea"/>
              </a:rPr>
              <a:t>保存中间结果</a:t>
            </a:r>
            <a:endParaRPr lang="zh-CN" altLang="en-US" b="1" dirty="0">
              <a:solidFill>
                <a:srgbClr val="000000"/>
              </a:solidFill>
              <a:latin typeface="Times New Roman" panose="02020503050405090304" pitchFamily="18" charset="0"/>
              <a:ea typeface="微软简魏碑" pitchFamily="2" charset="-122"/>
            </a:endParaRPr>
          </a:p>
          <a:p>
            <a:pPr lvl="1">
              <a:buClr>
                <a:srgbClr val="0000CC"/>
              </a:buClr>
              <a:buFont typeface="Wingdings" panose="05000000000000000000" pitchFamily="2" charset="2"/>
              <a:buChar char="Ø"/>
            </a:pPr>
            <a:r>
              <a:rPr lang="zh-CN" altLang="en-US" b="1" dirty="0">
                <a:solidFill>
                  <a:srgbClr val="000000"/>
                </a:solidFill>
                <a:latin typeface="宋体" pitchFamily="2" charset="-122"/>
                <a:ea typeface="宋体" pitchFamily="2" charset="-122"/>
                <a:sym typeface="+mn-ea"/>
              </a:rPr>
              <a:t>提高或降低系统的并发度，可能要人为地增加或减少主动对象。</a:t>
            </a:r>
            <a:endParaRPr lang="zh-CN" altLang="en-US" b="1" dirty="0">
              <a:solidFill>
                <a:srgbClr val="000000"/>
              </a:solidFill>
              <a:latin typeface="Arial" panose="020B0604020202090204" pitchFamily="34" charset="0"/>
              <a:ea typeface="宋体" pitchFamily="2" charset="-122"/>
              <a:cs typeface="Arial" panose="020B0604020202090204" pitchFamily="34" charset="0"/>
            </a:endParaRPr>
          </a:p>
          <a:p>
            <a:pPr lvl="1">
              <a:buClr>
                <a:srgbClr val="0000CC"/>
              </a:buClr>
              <a:buFont typeface="Wingdings" panose="05000000000000000000" pitchFamily="2" charset="2"/>
              <a:buChar char="Ø"/>
            </a:pPr>
            <a:r>
              <a:rPr lang="zh-CN" altLang="en-US" b="1" dirty="0">
                <a:latin typeface="Times New Roman" panose="02020503050405090304" pitchFamily="18" charset="0"/>
                <a:ea typeface="微软简魏碑" pitchFamily="2" charset="-122"/>
                <a:sym typeface="+mn-ea"/>
              </a:rPr>
              <a:t>合并通讯频繁的类</a:t>
            </a:r>
            <a:endParaRPr lang="zh-CN" altLang="en-US" b="1" dirty="0">
              <a:latin typeface="Times New Roman" panose="02020503050405090304" pitchFamily="18" charset="0"/>
              <a:ea typeface="微软简魏碑" pitchFamily="2" charset="-122"/>
            </a:endParaRPr>
          </a:p>
          <a:p>
            <a:pPr>
              <a:lnSpc>
                <a:spcPct val="120000"/>
              </a:lnSpc>
            </a:pPr>
            <a:r>
              <a:rPr lang="zh-CN" altLang="en-US" b="1" dirty="0">
                <a:solidFill>
                  <a:srgbClr val="951601"/>
                </a:solidFill>
                <a:latin typeface="Times New Roman" panose="02020503050405090304" pitchFamily="18" charset="0"/>
                <a:ea typeface="微软简魏碑" pitchFamily="2" charset="-122"/>
                <a:sym typeface="+mn-ea"/>
              </a:rPr>
              <a:t>按编程语言调整继承</a:t>
            </a:r>
            <a:endParaRPr lang="zh-CN" altLang="en-US" b="1" dirty="0">
              <a:solidFill>
                <a:srgbClr val="951601"/>
              </a:solidFill>
              <a:latin typeface="Times New Roman" panose="02020503050405090304" pitchFamily="18" charset="0"/>
              <a:ea typeface="微软简魏碑" pitchFamily="2" charset="-122"/>
            </a:endParaRPr>
          </a:p>
          <a:p>
            <a:pPr>
              <a:lnSpc>
                <a:spcPct val="120000"/>
              </a:lnSpc>
            </a:pPr>
            <a:endParaRPr lang="zh-CN" altLang="en-US" b="1" dirty="0">
              <a:solidFill>
                <a:srgbClr val="951601"/>
              </a:solidFill>
              <a:latin typeface="Times New Roman" panose="02020503050405090304" pitchFamily="18" charset="0"/>
              <a:ea typeface="微软简魏碑" pitchFamily="2" charset="-122"/>
              <a:sym typeface="+mn-ea"/>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ea"/>
                <a:ea typeface="+mn-ea"/>
                <a:sym typeface="+mn-ea"/>
              </a:rPr>
              <a:t>人机交互部分的设计</a:t>
            </a:r>
            <a:endParaRPr lang="zh-CN" altLang="en-US"/>
          </a:p>
        </p:txBody>
      </p:sp>
      <p:sp>
        <p:nvSpPr>
          <p:cNvPr id="3" name="内容占位符 2"/>
          <p:cNvSpPr>
            <a:spLocks noGrp="1"/>
          </p:cNvSpPr>
          <p:nvPr>
            <p:ph idx="1"/>
          </p:nvPr>
        </p:nvSpPr>
        <p:spPr/>
        <p:txBody>
          <a:bodyPr>
            <a:normAutofit fontScale="90000" lnSpcReduction="20000"/>
          </a:bodyPr>
          <a:lstStyle/>
          <a:p>
            <a:pPr lvl="0" algn="l" eaLnBrk="0" hangingPunct="0">
              <a:buChar char="•"/>
            </a:pPr>
            <a:r>
              <a:rPr lang="zh-CN" altLang="en-US" b="1" dirty="0">
                <a:latin typeface="Times New Roman" panose="02020503050405090304" pitchFamily="18" charset="0"/>
                <a:ea typeface="微软简魏碑" pitchFamily="2" charset="-122"/>
                <a:sym typeface="+mn-ea"/>
              </a:rPr>
              <a:t>易学、易用、操作方便 </a:t>
            </a:r>
            <a:endParaRPr lang="zh-CN" altLang="en-US" b="1" dirty="0">
              <a:latin typeface="Times New Roman" panose="02020503050405090304" pitchFamily="18" charset="0"/>
              <a:ea typeface="宋体" pitchFamily="2" charset="-122"/>
            </a:endParaRPr>
          </a:p>
          <a:p>
            <a:pPr lvl="0" algn="l" eaLnBrk="0" hangingPunct="0">
              <a:buChar char="•"/>
            </a:pPr>
            <a:r>
              <a:rPr lang="zh-CN" altLang="en-US" b="1" dirty="0">
                <a:latin typeface="Times New Roman" panose="02020503050405090304" pitchFamily="18" charset="0"/>
                <a:ea typeface="微软简魏碑" pitchFamily="2" charset="-122"/>
                <a:sym typeface="+mn-ea"/>
              </a:rPr>
              <a:t>尽量保持一致性 </a:t>
            </a:r>
            <a:endParaRPr lang="zh-CN" altLang="en-US" b="1" dirty="0">
              <a:latin typeface="Times New Roman" panose="02020503050405090304" pitchFamily="18" charset="0"/>
              <a:ea typeface="宋体" pitchFamily="2" charset="-122"/>
            </a:endParaRPr>
          </a:p>
          <a:p>
            <a:pPr lvl="0" algn="l" eaLnBrk="0" hangingPunct="0">
              <a:buChar char="•"/>
            </a:pPr>
            <a:r>
              <a:rPr lang="zh-CN" altLang="en-US" b="1" dirty="0">
                <a:latin typeface="Times New Roman" panose="02020503050405090304" pitchFamily="18" charset="0"/>
                <a:ea typeface="微软简魏碑" pitchFamily="2" charset="-122"/>
                <a:sym typeface="+mn-ea"/>
              </a:rPr>
              <a:t>及时提供有意义的反馈 </a:t>
            </a:r>
            <a:endParaRPr lang="zh-CN" altLang="en-US" b="1" dirty="0">
              <a:latin typeface="Times New Roman" panose="02020503050405090304" pitchFamily="18" charset="0"/>
              <a:ea typeface="微软简魏碑" pitchFamily="2" charset="-122"/>
            </a:endParaRPr>
          </a:p>
          <a:p>
            <a:pPr lvl="0" algn="l" eaLnBrk="0" hangingPunct="0">
              <a:buChar char="•"/>
            </a:pPr>
            <a:r>
              <a:rPr lang="zh-CN" altLang="en-US" b="1" dirty="0">
                <a:latin typeface="Times New Roman" panose="02020503050405090304" pitchFamily="18" charset="0"/>
                <a:ea typeface="微软简魏碑" pitchFamily="2" charset="-122"/>
                <a:sym typeface="+mn-ea"/>
              </a:rPr>
              <a:t>使用户的注意力集中在当前的任务上而不是界面上</a:t>
            </a:r>
            <a:r>
              <a:rPr lang="en-US" altLang="zh-CN" b="1" dirty="0">
                <a:latin typeface="Times New Roman" panose="02020503050405090304" pitchFamily="18" charset="0"/>
                <a:ea typeface="微软简魏碑" pitchFamily="2" charset="-122"/>
                <a:sym typeface="+mn-ea"/>
              </a:rPr>
              <a:t>* </a:t>
            </a:r>
            <a:endParaRPr lang="en-US" altLang="zh-CN" b="1" dirty="0">
              <a:latin typeface="Times New Roman" panose="02020503050405090304" pitchFamily="18" charset="0"/>
              <a:ea typeface="微软简魏碑" pitchFamily="2" charset="-122"/>
            </a:endParaRPr>
          </a:p>
          <a:p>
            <a:pPr lvl="0" algn="l" eaLnBrk="0" hangingPunct="0">
              <a:buChar char="•"/>
            </a:pPr>
            <a:r>
              <a:rPr lang="zh-CN" altLang="en-US" b="1" dirty="0">
                <a:latin typeface="Times New Roman" panose="02020503050405090304" pitchFamily="18" charset="0"/>
                <a:ea typeface="微软简魏碑" pitchFamily="2" charset="-122"/>
                <a:sym typeface="+mn-ea"/>
              </a:rPr>
              <a:t>尽量减少用户的记忆 </a:t>
            </a:r>
            <a:endParaRPr lang="zh-CN" altLang="en-US" b="1" dirty="0">
              <a:latin typeface="Times New Roman" panose="02020503050405090304" pitchFamily="18" charset="0"/>
              <a:ea typeface="微软简魏碑" pitchFamily="2" charset="-122"/>
            </a:endParaRPr>
          </a:p>
          <a:p>
            <a:pPr lvl="0" algn="l" eaLnBrk="0" hangingPunct="0">
              <a:buChar char="•"/>
            </a:pPr>
            <a:r>
              <a:rPr lang="zh-CN" altLang="en-US" b="1" dirty="0">
                <a:latin typeface="Times New Roman" panose="02020503050405090304" pitchFamily="18" charset="0"/>
                <a:ea typeface="微软简魏碑" pitchFamily="2" charset="-122"/>
                <a:sym typeface="+mn-ea"/>
              </a:rPr>
              <a:t>具有语境敏感的帮助功能 </a:t>
            </a:r>
            <a:endParaRPr lang="zh-CN" altLang="en-US" b="1" dirty="0">
              <a:latin typeface="Times New Roman" panose="02020503050405090304" pitchFamily="18" charset="0"/>
              <a:ea typeface="微软简魏碑" pitchFamily="2" charset="-122"/>
            </a:endParaRPr>
          </a:p>
          <a:p>
            <a:pPr lvl="0" algn="l" eaLnBrk="0" hangingPunct="0">
              <a:buChar char="•"/>
            </a:pPr>
            <a:r>
              <a:rPr lang="zh-CN" altLang="en-US" b="1" dirty="0">
                <a:latin typeface="Times New Roman" panose="02020503050405090304" pitchFamily="18" charset="0"/>
                <a:ea typeface="微软简魏碑" pitchFamily="2" charset="-122"/>
                <a:sym typeface="+mn-ea"/>
              </a:rPr>
              <a:t>减少重复的输入和操作 </a:t>
            </a:r>
            <a:r>
              <a:rPr lang="en-US" altLang="zh-CN" b="1" dirty="0">
                <a:latin typeface="Times New Roman" panose="02020503050405090304" pitchFamily="18" charset="0"/>
                <a:ea typeface="微软简魏碑" pitchFamily="2" charset="-122"/>
                <a:sym typeface="+mn-ea"/>
              </a:rPr>
              <a:t>*</a:t>
            </a:r>
            <a:endParaRPr lang="en-US" altLang="zh-CN" b="1" dirty="0">
              <a:latin typeface="Times New Roman" panose="02020503050405090304" pitchFamily="18" charset="0"/>
              <a:ea typeface="微软简魏碑" pitchFamily="2" charset="-122"/>
            </a:endParaRPr>
          </a:p>
          <a:p>
            <a:pPr lvl="0" algn="l" eaLnBrk="0" hangingPunct="0">
              <a:buChar char="•"/>
            </a:pPr>
            <a:r>
              <a:rPr lang="zh-CN" altLang="en-US" b="1" dirty="0">
                <a:latin typeface="Times New Roman" panose="02020503050405090304" pitchFamily="18" charset="0"/>
                <a:ea typeface="微软简魏碑" pitchFamily="2" charset="-122"/>
                <a:sym typeface="+mn-ea"/>
              </a:rPr>
              <a:t>对用户的操作具有容错性 </a:t>
            </a:r>
            <a:r>
              <a:rPr lang="en-US" altLang="zh-CN" b="1" dirty="0">
                <a:latin typeface="Times New Roman" panose="02020503050405090304" pitchFamily="18" charset="0"/>
                <a:ea typeface="微软简魏碑" pitchFamily="2" charset="-122"/>
                <a:sym typeface="+mn-ea"/>
              </a:rPr>
              <a:t>,</a:t>
            </a:r>
            <a:r>
              <a:rPr lang="zh-CN" altLang="en-US" b="1" dirty="0">
                <a:latin typeface="Times New Roman" panose="02020503050405090304" pitchFamily="18" charset="0"/>
                <a:ea typeface="微软简魏碑" pitchFamily="2" charset="-122"/>
                <a:sym typeface="+mn-ea"/>
              </a:rPr>
              <a:t>如</a:t>
            </a:r>
            <a:r>
              <a:rPr lang="en-US" altLang="zh-CN" b="1" dirty="0">
                <a:latin typeface="Times New Roman" panose="02020503050405090304" pitchFamily="18" charset="0"/>
                <a:ea typeface="微软简魏碑" pitchFamily="2" charset="-122"/>
                <a:sym typeface="+mn-ea"/>
              </a:rPr>
              <a:t>UNDO</a:t>
            </a:r>
            <a:endParaRPr lang="en-US" altLang="zh-CN" b="1" dirty="0">
              <a:latin typeface="Times New Roman" panose="02020503050405090304" pitchFamily="18" charset="0"/>
              <a:ea typeface="微软简魏碑" pitchFamily="2" charset="-122"/>
            </a:endParaRPr>
          </a:p>
          <a:p>
            <a:pPr lvl="0" algn="l" eaLnBrk="0" hangingPunct="0">
              <a:buChar char="•"/>
            </a:pPr>
            <a:r>
              <a:rPr lang="zh-CN" altLang="en-US" b="1" dirty="0">
                <a:latin typeface="Times New Roman" panose="02020503050405090304" pitchFamily="18" charset="0"/>
                <a:ea typeface="微软简魏碑" pitchFamily="2" charset="-122"/>
                <a:sym typeface="+mn-ea"/>
              </a:rPr>
              <a:t>防止灾难性的错误 </a:t>
            </a:r>
            <a:r>
              <a:rPr lang="en-US" altLang="zh-CN" b="1" dirty="0">
                <a:latin typeface="Times New Roman" panose="02020503050405090304" pitchFamily="18" charset="0"/>
                <a:ea typeface="微软简魏碑" pitchFamily="2" charset="-122"/>
                <a:sym typeface="+mn-ea"/>
              </a:rPr>
              <a:t>*</a:t>
            </a:r>
            <a:endParaRPr lang="en-US" altLang="zh-CN" b="1" dirty="0">
              <a:latin typeface="Times New Roman" panose="02020503050405090304" pitchFamily="18" charset="0"/>
              <a:ea typeface="宋体" pitchFamily="2" charset="-122"/>
            </a:endParaRPr>
          </a:p>
          <a:p>
            <a:pPr lvl="0" algn="l" eaLnBrk="0" hangingPunct="0">
              <a:buChar char="•"/>
            </a:pPr>
            <a:r>
              <a:rPr lang="zh-CN" altLang="en-US" b="1" dirty="0">
                <a:latin typeface="Times New Roman" panose="02020503050405090304" pitchFamily="18" charset="0"/>
                <a:ea typeface="宋体" pitchFamily="2" charset="-122"/>
                <a:sym typeface="+mn-ea"/>
              </a:rPr>
              <a:t>其它：如艺术性、趣味性、风格、视感等</a:t>
            </a:r>
            <a:endParaRPr lang="zh-CN" alt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ea"/>
                <a:ea typeface="+mn-ea"/>
                <a:sym typeface="+mn-ea"/>
              </a:rPr>
              <a:t>人机交互部分的设计——菜单</a:t>
            </a:r>
          </a:p>
        </p:txBody>
      </p:sp>
      <p:sp>
        <p:nvSpPr>
          <p:cNvPr id="3" name="内容占位符 2"/>
          <p:cNvSpPr>
            <a:spLocks noGrp="1"/>
          </p:cNvSpPr>
          <p:nvPr>
            <p:ph idx="1"/>
          </p:nvPr>
        </p:nvSpPr>
        <p:spPr/>
        <p:txBody>
          <a:bodyPr/>
          <a:lstStyle/>
          <a:p>
            <a:pPr marL="457200" indent="-457200">
              <a:buFont typeface="Wingdings" panose="05000000000000000000" pitchFamily="2" charset="2"/>
              <a:buChar char="n"/>
            </a:pPr>
            <a:r>
              <a:rPr lang="zh-CN" altLang="en-US" b="1" dirty="0">
                <a:latin typeface="Times New Roman" panose="02020503050405090304" pitchFamily="18" charset="0"/>
                <a:ea typeface="微软简魏碑" pitchFamily="2" charset="-122"/>
                <a:sym typeface="+mn-ea"/>
              </a:rPr>
              <a:t>把使用最频繁的命令放在前面，按照用户的工作步骤进行排列。</a:t>
            </a:r>
            <a:endParaRPr lang="zh-CN" altLang="en-US" b="1" dirty="0">
              <a:latin typeface="Times New Roman" panose="02020503050405090304" pitchFamily="18" charset="0"/>
              <a:ea typeface="微软简魏碑" pitchFamily="2" charset="-122"/>
            </a:endParaRPr>
          </a:p>
          <a:p>
            <a:pPr marL="457200" indent="-457200">
              <a:buFont typeface="Wingdings" panose="05000000000000000000" pitchFamily="2" charset="2"/>
              <a:buChar char="n"/>
            </a:pPr>
            <a:r>
              <a:rPr lang="zh-CN" altLang="en-US" b="1" dirty="0">
                <a:latin typeface="Times New Roman" panose="02020503050405090304" pitchFamily="18" charset="0"/>
                <a:ea typeface="微软简魏碑" pitchFamily="2" charset="-122"/>
                <a:sym typeface="+mn-ea"/>
              </a:rPr>
              <a:t>在命令中发现整体</a:t>
            </a:r>
            <a:r>
              <a:rPr lang="en-US" altLang="zh-CN" b="1">
                <a:latin typeface="Times New Roman" panose="02020503050405090304" pitchFamily="18" charset="0"/>
                <a:ea typeface="微软简魏碑" pitchFamily="2" charset="-122"/>
                <a:sym typeface="+mn-ea"/>
              </a:rPr>
              <a:t>-</a:t>
            </a:r>
            <a:r>
              <a:rPr lang="zh-CN" altLang="en-US" b="1" dirty="0">
                <a:latin typeface="Times New Roman" panose="02020503050405090304" pitchFamily="18" charset="0"/>
                <a:ea typeface="微软简魏碑" pitchFamily="2" charset="-122"/>
                <a:sym typeface="+mn-ea"/>
              </a:rPr>
              <a:t>部分模式，以帮助对命令的组织与分块。</a:t>
            </a:r>
            <a:endParaRPr lang="zh-CN" altLang="en-US" b="1" dirty="0">
              <a:latin typeface="Times New Roman" panose="02020503050405090304" pitchFamily="18" charset="0"/>
              <a:ea typeface="微软简魏碑" pitchFamily="2" charset="-122"/>
            </a:endParaRPr>
          </a:p>
          <a:p>
            <a:pPr marL="457200" indent="-457200">
              <a:buFont typeface="Wingdings" panose="05000000000000000000" pitchFamily="2" charset="2"/>
              <a:buChar char="n"/>
            </a:pPr>
            <a:r>
              <a:rPr lang="zh-CN" altLang="en-US" b="1" dirty="0">
                <a:latin typeface="Times New Roman" panose="02020503050405090304" pitchFamily="18" charset="0"/>
                <a:ea typeface="微软简魏碑" pitchFamily="2" charset="-122"/>
                <a:sym typeface="+mn-ea"/>
              </a:rPr>
              <a:t>每层命令的个数应遵循</a:t>
            </a:r>
            <a:r>
              <a:rPr lang="en-US" altLang="zh-CN" b="1">
                <a:latin typeface="Times New Roman" panose="02020503050405090304" pitchFamily="18" charset="0"/>
                <a:ea typeface="微软简魏碑" pitchFamily="2" charset="-122"/>
                <a:sym typeface="+mn-ea"/>
              </a:rPr>
              <a:t>7</a:t>
            </a:r>
            <a:r>
              <a:rPr lang="en-US" altLang="zh-CN" b="1" u="sng">
                <a:latin typeface="Times New Roman" panose="02020503050405090304" pitchFamily="18" charset="0"/>
                <a:ea typeface="微软简魏碑" pitchFamily="2" charset="-122"/>
                <a:sym typeface="+mn-ea"/>
              </a:rPr>
              <a:t>+</a:t>
            </a:r>
            <a:r>
              <a:rPr lang="en-US" altLang="zh-CN" b="1">
                <a:latin typeface="Times New Roman" panose="02020503050405090304" pitchFamily="18" charset="0"/>
                <a:ea typeface="微软简魏碑" pitchFamily="2" charset="-122"/>
                <a:sym typeface="+mn-ea"/>
              </a:rPr>
              <a:t>2</a:t>
            </a:r>
            <a:r>
              <a:rPr lang="zh-CN" altLang="en-US" b="1" dirty="0">
                <a:latin typeface="Times New Roman" panose="02020503050405090304" pitchFamily="18" charset="0"/>
                <a:ea typeface="微软简魏碑" pitchFamily="2" charset="-122"/>
                <a:sym typeface="+mn-ea"/>
              </a:rPr>
              <a:t>原则，命令的层次深度尽量要控制在三层以内。</a:t>
            </a:r>
            <a:endParaRPr lang="zh-CN" altLang="en-US" b="1" dirty="0">
              <a:latin typeface="Times New Roman" panose="02020503050405090304" pitchFamily="18" charset="0"/>
              <a:ea typeface="微软简魏碑" pitchFamily="2" charset="-122"/>
            </a:endParaRPr>
          </a:p>
          <a:p>
            <a:endParaRPr lang="zh-CN" alt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FF0000"/>
                </a:solidFill>
                <a:latin typeface="+mn-ea"/>
                <a:ea typeface="+mn-ea"/>
                <a:sym typeface="+mn-ea"/>
              </a:rPr>
              <a:t>控制流管理部分的设计</a:t>
            </a:r>
            <a:endParaRPr lang="zh-CN" altLang="en-US"/>
          </a:p>
        </p:txBody>
      </p:sp>
      <p:sp>
        <p:nvSpPr>
          <p:cNvPr id="3" name="内容占位符 2"/>
          <p:cNvSpPr>
            <a:spLocks noGrp="1"/>
          </p:cNvSpPr>
          <p:nvPr>
            <p:ph idx="1"/>
          </p:nvPr>
        </p:nvSpPr>
        <p:spPr/>
        <p:txBody>
          <a:bodyPr>
            <a:normAutofit fontScale="92500"/>
          </a:bodyPr>
          <a:lstStyle/>
          <a:p>
            <a:pPr eaLnBrk="0" hangingPunct="0"/>
            <a:r>
              <a:rPr lang="zh-CN" altLang="en-US" b="1" dirty="0">
                <a:solidFill>
                  <a:srgbClr val="990033"/>
                </a:solidFill>
                <a:latin typeface="微软简魏碑" pitchFamily="2" charset="-122"/>
                <a:ea typeface="微软简魏碑" pitchFamily="2" charset="-122"/>
                <a:sym typeface="+mn-ea"/>
              </a:rPr>
              <a:t>控制流</a:t>
            </a:r>
            <a:r>
              <a:rPr lang="en-US" altLang="zh-CN" b="1" dirty="0">
                <a:latin typeface="Times New Roman" panose="02020503050405090304" pitchFamily="18" charset="0"/>
                <a:ea typeface="微软简魏碑" pitchFamily="2" charset="-122"/>
                <a:sym typeface="+mn-ea"/>
              </a:rPr>
              <a:t>——</a:t>
            </a:r>
            <a:r>
              <a:rPr lang="zh-CN" altLang="en-US" b="1" dirty="0">
                <a:latin typeface="Times New Roman" panose="02020503050405090304" pitchFamily="18" charset="0"/>
                <a:ea typeface="微软简魏碑" pitchFamily="2" charset="-122"/>
                <a:sym typeface="+mn-ea"/>
              </a:rPr>
              <a:t>进程（</a:t>
            </a:r>
            <a:r>
              <a:rPr lang="en-US" altLang="zh-CN" b="1" dirty="0">
                <a:latin typeface="Times New Roman" panose="02020503050405090304" pitchFamily="18" charset="0"/>
                <a:ea typeface="微软简魏碑" pitchFamily="2" charset="-122"/>
                <a:sym typeface="+mn-ea"/>
              </a:rPr>
              <a:t>process</a:t>
            </a:r>
            <a:r>
              <a:rPr lang="zh-CN" altLang="en-US" b="1" dirty="0">
                <a:latin typeface="Times New Roman" panose="02020503050405090304" pitchFamily="18" charset="0"/>
                <a:ea typeface="微软简魏碑" pitchFamily="2" charset="-122"/>
                <a:sym typeface="+mn-ea"/>
              </a:rPr>
              <a:t>）或线程</a:t>
            </a:r>
            <a:r>
              <a:rPr lang="en-US" altLang="zh-CN" b="1" dirty="0">
                <a:latin typeface="Times New Roman" panose="02020503050405090304" pitchFamily="18" charset="0"/>
                <a:ea typeface="微软简魏碑" pitchFamily="2" charset="-122"/>
                <a:sym typeface="+mn-ea"/>
              </a:rPr>
              <a:t>(thread)</a:t>
            </a:r>
            <a:r>
              <a:rPr lang="zh-CN" altLang="en-US" b="1" dirty="0">
                <a:latin typeface="Times New Roman" panose="02020503050405090304" pitchFamily="18" charset="0"/>
                <a:ea typeface="微软简魏碑" pitchFamily="2" charset="-122"/>
                <a:sym typeface="+mn-ea"/>
              </a:rPr>
              <a:t>的别称</a:t>
            </a:r>
            <a:endParaRPr lang="zh-CN" altLang="en-US" b="1" dirty="0">
              <a:latin typeface="Times New Roman" panose="02020503050405090304" pitchFamily="18" charset="0"/>
              <a:ea typeface="微软简魏碑" pitchFamily="2" charset="-122"/>
            </a:endParaRPr>
          </a:p>
          <a:p>
            <a:pPr eaLnBrk="0" hangingPunct="0"/>
            <a:r>
              <a:rPr lang="zh-CN" altLang="en-US" b="1" dirty="0">
                <a:latin typeface="Times New Roman" panose="02020503050405090304" pitchFamily="18" charset="0"/>
                <a:ea typeface="微软简魏碑" pitchFamily="2" charset="-122"/>
                <a:sym typeface="+mn-ea"/>
              </a:rPr>
              <a:t>有多个</a:t>
            </a:r>
            <a:r>
              <a:rPr lang="zh-CN" altLang="en-US" b="1" dirty="0">
                <a:solidFill>
                  <a:srgbClr val="990033"/>
                </a:solidFill>
                <a:latin typeface="微软简魏碑" pitchFamily="2" charset="-122"/>
                <a:ea typeface="微软简魏碑" pitchFamily="2" charset="-122"/>
                <a:sym typeface="+mn-ea"/>
              </a:rPr>
              <a:t>控制流</a:t>
            </a:r>
            <a:r>
              <a:rPr lang="zh-CN" altLang="en-US" b="1" dirty="0">
                <a:latin typeface="Times New Roman" panose="02020503050405090304" pitchFamily="18" charset="0"/>
                <a:ea typeface="微软简魏碑" pitchFamily="2" charset="-122"/>
                <a:sym typeface="+mn-ea"/>
              </a:rPr>
              <a:t>（任务）并发执行的系统，称作</a:t>
            </a:r>
            <a:r>
              <a:rPr lang="zh-CN" altLang="en-US" b="1" dirty="0">
                <a:solidFill>
                  <a:srgbClr val="000099"/>
                </a:solidFill>
                <a:latin typeface="Times New Roman" panose="02020503050405090304" pitchFamily="18" charset="0"/>
                <a:ea typeface="微软简魏碑" pitchFamily="2" charset="-122"/>
                <a:sym typeface="+mn-ea"/>
              </a:rPr>
              <a:t>多任务系统</a:t>
            </a:r>
            <a:r>
              <a:rPr lang="zh-CN" altLang="en-US" b="1" dirty="0">
                <a:latin typeface="Times New Roman" panose="02020503050405090304" pitchFamily="18" charset="0"/>
                <a:ea typeface="微软简魏碑" pitchFamily="2" charset="-122"/>
                <a:sym typeface="+mn-ea"/>
              </a:rPr>
              <a:t>或</a:t>
            </a:r>
            <a:r>
              <a:rPr lang="zh-CN" altLang="en-US" b="1" dirty="0">
                <a:solidFill>
                  <a:srgbClr val="000099"/>
                </a:solidFill>
                <a:latin typeface="Times New Roman" panose="02020503050405090304" pitchFamily="18" charset="0"/>
                <a:ea typeface="微软简魏碑" pitchFamily="2" charset="-122"/>
                <a:sym typeface="+mn-ea"/>
              </a:rPr>
              <a:t>并发系统。</a:t>
            </a:r>
            <a:endParaRPr lang="zh-CN" altLang="en-US" b="1" dirty="0">
              <a:latin typeface="Times New Roman" panose="02020503050405090304" pitchFamily="18" charset="0"/>
              <a:ea typeface="微软简魏碑" pitchFamily="2" charset="-122"/>
            </a:endParaRPr>
          </a:p>
          <a:p>
            <a:pPr lvl="1" eaLnBrk="0" hangingPunct="0"/>
            <a:r>
              <a:rPr lang="en-US" altLang="zh-CN" b="1" dirty="0">
                <a:latin typeface="Times New Roman" panose="02020503050405090304" pitchFamily="18" charset="0"/>
                <a:ea typeface="微软简魏碑" pitchFamily="2" charset="-122"/>
                <a:sym typeface="+mn-ea"/>
              </a:rPr>
              <a:t>OOA</a:t>
            </a:r>
            <a:r>
              <a:rPr lang="zh-CN" altLang="en-US" b="1" dirty="0">
                <a:latin typeface="Times New Roman" panose="02020503050405090304" pitchFamily="18" charset="0"/>
                <a:ea typeface="微软简魏碑" pitchFamily="2" charset="-122"/>
                <a:sym typeface="+mn-ea"/>
              </a:rPr>
              <a:t>定义的主动对象，这是由业务逻辑所决定的</a:t>
            </a:r>
            <a:endParaRPr lang="zh-CN" altLang="en-US" b="1" dirty="0">
              <a:latin typeface="Times New Roman" panose="02020503050405090304" pitchFamily="18" charset="0"/>
              <a:ea typeface="微软简魏碑" pitchFamily="2" charset="-122"/>
            </a:endParaRPr>
          </a:p>
          <a:p>
            <a:pPr lvl="1" eaLnBrk="0" hangingPunct="0"/>
            <a:r>
              <a:rPr lang="zh-CN" altLang="en-US" b="1" dirty="0">
                <a:latin typeface="Times New Roman" panose="02020503050405090304" pitchFamily="18" charset="0"/>
                <a:ea typeface="微软简魏碑" pitchFamily="2" charset="-122"/>
                <a:sym typeface="+mn-ea"/>
              </a:rPr>
              <a:t>系统的并发需求所要求的多控制流，若要求多项工作同时进行，则每一项工作就是一个控制流。例如，销售与统计。</a:t>
            </a:r>
            <a:endParaRPr lang="zh-CN" altLang="en-US" b="1" dirty="0">
              <a:latin typeface="Times New Roman" panose="02020503050405090304" pitchFamily="18" charset="0"/>
              <a:ea typeface="微软简魏碑" pitchFamily="2" charset="-122"/>
            </a:endParaRPr>
          </a:p>
          <a:p>
            <a:pPr lvl="1" eaLnBrk="0" hangingPunct="0"/>
            <a:r>
              <a:rPr lang="zh-CN" altLang="en-US" b="1" dirty="0">
                <a:latin typeface="Times New Roman" panose="02020503050405090304" pitchFamily="18" charset="0"/>
                <a:ea typeface="微软简魏碑" pitchFamily="2" charset="-122"/>
                <a:sym typeface="+mn-ea"/>
              </a:rPr>
              <a:t>系统分布方案所要求的多控制流，每一个分布站点至少有一个控制流</a:t>
            </a:r>
            <a:endParaRPr lang="zh-CN" altLang="en-US" b="1" dirty="0">
              <a:latin typeface="Times New Roman" panose="02020503050405090304" pitchFamily="18" charset="0"/>
              <a:ea typeface="微软简魏碑" pitchFamily="2" charset="-122"/>
            </a:endParaRPr>
          </a:p>
          <a:p>
            <a:pPr algn="l" eaLnBrk="0" hangingPunct="0">
              <a:buClrTx/>
              <a:buSzTx/>
            </a:pPr>
            <a:r>
              <a:rPr lang="zh-CN" altLang="en-US" b="1" dirty="0">
                <a:solidFill>
                  <a:srgbClr val="990033"/>
                </a:solidFill>
                <a:latin typeface="微软简魏碑" pitchFamily="2" charset="-122"/>
                <a:ea typeface="微软简魏碑" pitchFamily="2" charset="-122"/>
                <a:sym typeface="+mn-ea"/>
              </a:rPr>
              <a:t>调用者必须明确：对含有Concurrent标记的操作同时进行调用时，要保证所有的调用应按正确的语义并发执行。 如多个控制流存取不相交的数据集合，或者只读取数据。</a:t>
            </a:r>
            <a:endParaRPr lang="zh-CN" altLang="en-US" b="1" dirty="0">
              <a:solidFill>
                <a:srgbClr val="990033"/>
              </a:solidFill>
              <a:latin typeface="微软简魏碑" pitchFamily="2" charset="-122"/>
              <a:ea typeface="微软简魏碑" pitchFamily="2" charset="-122"/>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  </a:t>
            </a:r>
            <a:r>
              <a:rPr lang="zh-CN" altLang="en-US" dirty="0"/>
              <a:t>软件架构</a:t>
            </a:r>
          </a:p>
        </p:txBody>
      </p:sp>
      <p:sp>
        <p:nvSpPr>
          <p:cNvPr id="3" name="内容占位符 2"/>
          <p:cNvSpPr>
            <a:spLocks noGrp="1"/>
          </p:cNvSpPr>
          <p:nvPr>
            <p:ph idx="1"/>
          </p:nvPr>
        </p:nvSpPr>
        <p:spPr/>
        <p:txBody>
          <a:bodyPr/>
          <a:lstStyle/>
          <a:p>
            <a:r>
              <a:rPr lang="zh-CN" altLang="en-US" dirty="0"/>
              <a:t>类的类型</a:t>
            </a:r>
            <a:endParaRPr lang="en-US" altLang="zh-CN" dirty="0"/>
          </a:p>
          <a:p>
            <a:pPr lvl="1"/>
            <a:r>
              <a:rPr lang="zh-CN" altLang="en-US" dirty="0"/>
              <a:t>边界类</a:t>
            </a:r>
            <a:endParaRPr lang="en-US" altLang="zh-CN" dirty="0"/>
          </a:p>
          <a:p>
            <a:pPr lvl="1"/>
            <a:r>
              <a:rPr lang="zh-CN" altLang="en-US" dirty="0"/>
              <a:t>实体类</a:t>
            </a:r>
            <a:endParaRPr lang="en-US" altLang="zh-CN" dirty="0"/>
          </a:p>
          <a:p>
            <a:pPr lvl="1"/>
            <a:r>
              <a:rPr lang="zh-CN" altLang="en-US" dirty="0"/>
              <a:t>控制类</a:t>
            </a:r>
            <a:endParaRPr lang="en-US" altLang="zh-CN" dirty="0"/>
          </a:p>
          <a:p>
            <a:r>
              <a:rPr lang="zh-CN" altLang="en-US" dirty="0"/>
              <a:t>软件架构</a:t>
            </a:r>
            <a:endParaRPr lang="en-US" altLang="zh-CN" dirty="0"/>
          </a:p>
          <a:p>
            <a:pPr lvl="1"/>
            <a:r>
              <a:rPr lang="zh-CN" altLang="en-US" dirty="0"/>
              <a:t>显示层</a:t>
            </a:r>
            <a:endParaRPr lang="en-US" altLang="zh-CN" dirty="0"/>
          </a:p>
          <a:p>
            <a:pPr lvl="1"/>
            <a:r>
              <a:rPr lang="zh-CN" altLang="en-US" dirty="0"/>
              <a:t>应用层</a:t>
            </a:r>
            <a:endParaRPr lang="en-US" altLang="zh-CN" dirty="0"/>
          </a:p>
          <a:p>
            <a:pPr lvl="1"/>
            <a:r>
              <a:rPr lang="zh-CN" altLang="en-US" dirty="0"/>
              <a:t>存储层</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  </a:t>
            </a:r>
            <a:r>
              <a:rPr lang="zh-CN" altLang="en-US" dirty="0"/>
              <a:t>设计模式</a:t>
            </a:r>
          </a:p>
        </p:txBody>
      </p:sp>
      <p:sp>
        <p:nvSpPr>
          <p:cNvPr id="3" name="内容占位符 2"/>
          <p:cNvSpPr>
            <a:spLocks noGrp="1"/>
          </p:cNvSpPr>
          <p:nvPr>
            <p:ph idx="1"/>
          </p:nvPr>
        </p:nvSpPr>
        <p:spPr/>
        <p:txBody>
          <a:bodyPr/>
          <a:lstStyle/>
          <a:p>
            <a:r>
              <a:rPr lang="zh-CN" altLang="en-US" dirty="0"/>
              <a:t>对象设计具有一些通用性的原则：模式</a:t>
            </a:r>
            <a:endParaRPr lang="en-US" altLang="zh-CN" dirty="0"/>
          </a:p>
          <a:p>
            <a:r>
              <a:rPr lang="en-US" altLang="zh-CN" dirty="0"/>
              <a:t>MVC</a:t>
            </a:r>
            <a:r>
              <a:rPr lang="zh-CN" altLang="en-US" dirty="0"/>
              <a:t>模式</a:t>
            </a:r>
            <a:endParaRPr lang="en-US" altLang="zh-CN" dirty="0"/>
          </a:p>
          <a:p>
            <a:pPr lvl="1"/>
            <a:r>
              <a:rPr lang="en-US" altLang="zh-CN" dirty="0"/>
              <a:t>Model</a:t>
            </a:r>
          </a:p>
          <a:p>
            <a:pPr lvl="1"/>
            <a:r>
              <a:rPr lang="en-US" altLang="zh-CN" dirty="0"/>
              <a:t>View</a:t>
            </a:r>
          </a:p>
          <a:p>
            <a:pPr lvl="1"/>
            <a:r>
              <a:rPr lang="en-US" altLang="zh-CN" dirty="0"/>
              <a:t>Control</a:t>
            </a:r>
          </a:p>
          <a:p>
            <a:pPr lvl="0"/>
            <a:r>
              <a:rPr lang="zh-CN" altLang="en-US" dirty="0"/>
              <a:t>观察者模式</a:t>
            </a:r>
          </a:p>
          <a:p>
            <a:pPr lvl="0"/>
            <a:endParaRPr lang="zh-CN" alt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案例——餐馆系统设计</a:t>
            </a:r>
          </a:p>
        </p:txBody>
      </p:sp>
      <p:sp>
        <p:nvSpPr>
          <p:cNvPr id="3" name="副标题 2"/>
          <p:cNvSpPr>
            <a:spLocks noGrp="1"/>
          </p:cNvSpPr>
          <p:nvPr>
            <p:ph type="subTitle" idx="1"/>
          </p:nvPr>
        </p:nvSpPr>
        <p:spPr/>
        <p:txBody>
          <a:bodyPr/>
          <a:lstStyle/>
          <a:p>
            <a:endParaRPr lang="zh-CN" alt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5.1 </a:t>
            </a:r>
            <a:r>
              <a:rPr lang="zh-CN" altLang="en-US" dirty="0"/>
              <a:t>接受用户输入</a:t>
            </a:r>
          </a:p>
        </p:txBody>
      </p:sp>
      <p:sp>
        <p:nvSpPr>
          <p:cNvPr id="3" name="内容占位符 2"/>
          <p:cNvSpPr>
            <a:spLocks noGrp="1"/>
          </p:cNvSpPr>
          <p:nvPr>
            <p:ph idx="1"/>
          </p:nvPr>
        </p:nvSpPr>
        <p:spPr>
          <a:xfrm>
            <a:off x="1981800" y="1600200"/>
            <a:ext cx="8229600" cy="2404864"/>
          </a:xfrm>
        </p:spPr>
        <p:txBody>
          <a:bodyPr>
            <a:normAutofit fontScale="77500" lnSpcReduction="20000"/>
          </a:bodyPr>
          <a:lstStyle/>
          <a:p>
            <a:r>
              <a:rPr lang="zh-CN" altLang="en-US" dirty="0"/>
              <a:t>表示层对象输入并转发给控制对象</a:t>
            </a:r>
            <a:endParaRPr lang="en-US" altLang="zh-CN" dirty="0"/>
          </a:p>
          <a:p>
            <a:r>
              <a:rPr lang="zh-CN" altLang="en-US" dirty="0"/>
              <a:t>显示预约</a:t>
            </a:r>
            <a:endParaRPr lang="en-US" altLang="zh-CN" dirty="0"/>
          </a:p>
          <a:p>
            <a:pPr lvl="1"/>
            <a:r>
              <a:rPr lang="zh-CN" altLang="en-US" dirty="0"/>
              <a:t>选择菜单</a:t>
            </a:r>
            <a:endParaRPr lang="en-US" altLang="zh-CN" dirty="0"/>
          </a:p>
          <a:p>
            <a:pPr lvl="1"/>
            <a:r>
              <a:rPr lang="zh-CN" altLang="en-US" dirty="0"/>
              <a:t>弹出对话框</a:t>
            </a:r>
            <a:endParaRPr lang="en-US" altLang="zh-CN" dirty="0"/>
          </a:p>
          <a:p>
            <a:pPr lvl="1"/>
            <a:r>
              <a:rPr lang="zh-CN" altLang="en-US" dirty="0"/>
              <a:t>选择时间</a:t>
            </a:r>
            <a:endParaRPr lang="en-US" altLang="zh-CN" dirty="0"/>
          </a:p>
          <a:p>
            <a:pPr lvl="1"/>
            <a:r>
              <a:rPr lang="zh-CN" altLang="en-US" dirty="0"/>
              <a:t>用户选择</a:t>
            </a:r>
            <a:r>
              <a:rPr lang="en-US" altLang="zh-CN" dirty="0"/>
              <a:t>OK</a:t>
            </a:r>
          </a:p>
          <a:p>
            <a:pPr lvl="1"/>
            <a:endParaRPr lang="en-US" altLang="zh-CN" dirty="0"/>
          </a:p>
        </p:txBody>
      </p:sp>
      <p:grpSp>
        <p:nvGrpSpPr>
          <p:cNvPr id="2055" name="组合 2054"/>
          <p:cNvGrpSpPr/>
          <p:nvPr/>
        </p:nvGrpSpPr>
        <p:grpSpPr>
          <a:xfrm>
            <a:off x="1218840" y="4330027"/>
            <a:ext cx="9382486" cy="1871204"/>
            <a:chOff x="-396552" y="3897477"/>
            <a:chExt cx="9382486" cy="1871204"/>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552" y="4112497"/>
              <a:ext cx="1630380" cy="1656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054" name="组合 2053"/>
            <p:cNvGrpSpPr/>
            <p:nvPr/>
          </p:nvGrpSpPr>
          <p:grpSpPr>
            <a:xfrm>
              <a:off x="633005" y="3897477"/>
              <a:ext cx="8352929" cy="1395382"/>
              <a:chOff x="683567" y="2799432"/>
              <a:chExt cx="8352929" cy="1395382"/>
            </a:xfrm>
          </p:grpSpPr>
          <p:grpSp>
            <p:nvGrpSpPr>
              <p:cNvPr id="7" name="组合 6"/>
              <p:cNvGrpSpPr/>
              <p:nvPr/>
            </p:nvGrpSpPr>
            <p:grpSpPr>
              <a:xfrm>
                <a:off x="2294983" y="2826662"/>
                <a:ext cx="2448272" cy="1368152"/>
                <a:chOff x="2267744" y="2924944"/>
                <a:chExt cx="2448272" cy="1368152"/>
              </a:xfrm>
            </p:grpSpPr>
            <p:sp>
              <p:nvSpPr>
                <p:cNvPr id="4" name="矩形 3"/>
                <p:cNvSpPr/>
                <p:nvPr/>
              </p:nvSpPr>
              <p:spPr>
                <a:xfrm>
                  <a:off x="2267744" y="3284984"/>
                  <a:ext cx="2448272" cy="10081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2267744" y="2924944"/>
                  <a:ext cx="1511935" cy="36004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chemeClr val="tx1"/>
                      </a:solidFill>
                    </a:rPr>
                    <a:t>Presentation</a:t>
                  </a:r>
                  <a:endParaRPr lang="zh-CN" altLang="en-US" sz="1600" b="1" dirty="0">
                    <a:solidFill>
                      <a:schemeClr val="tx1"/>
                    </a:solidFill>
                  </a:endParaRPr>
                </a:p>
              </p:txBody>
            </p:sp>
            <p:sp>
              <p:nvSpPr>
                <p:cNvPr id="5" name="矩形 4"/>
                <p:cNvSpPr/>
                <p:nvPr/>
              </p:nvSpPr>
              <p:spPr>
                <a:xfrm>
                  <a:off x="2699792" y="3429000"/>
                  <a:ext cx="1512168" cy="5760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solidFill>
                        <a:schemeClr val="tx1"/>
                      </a:solidFill>
                    </a:rPr>
                    <a:t>StaffUI</a:t>
                  </a:r>
                  <a:endParaRPr lang="zh-CN" altLang="en-US" b="1" dirty="0">
                    <a:solidFill>
                      <a:schemeClr val="tx1"/>
                    </a:solidFill>
                  </a:endParaRPr>
                </a:p>
              </p:txBody>
            </p:sp>
          </p:grpSp>
          <p:grpSp>
            <p:nvGrpSpPr>
              <p:cNvPr id="9" name="组合 8"/>
              <p:cNvGrpSpPr/>
              <p:nvPr/>
            </p:nvGrpSpPr>
            <p:grpSpPr>
              <a:xfrm>
                <a:off x="6588224" y="2799432"/>
                <a:ext cx="2448272" cy="1368152"/>
                <a:chOff x="2267744" y="2924944"/>
                <a:chExt cx="2448272" cy="1368152"/>
              </a:xfrm>
            </p:grpSpPr>
            <p:sp>
              <p:nvSpPr>
                <p:cNvPr id="10" name="矩形 9"/>
                <p:cNvSpPr/>
                <p:nvPr/>
              </p:nvSpPr>
              <p:spPr>
                <a:xfrm>
                  <a:off x="2267744" y="3284984"/>
                  <a:ext cx="2448272" cy="10081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2267744" y="2924944"/>
                  <a:ext cx="1440160" cy="3600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Application</a:t>
                  </a:r>
                  <a:endParaRPr lang="zh-CN" altLang="en-US" b="1" dirty="0">
                    <a:solidFill>
                      <a:schemeClr val="tx1"/>
                    </a:solidFill>
                  </a:endParaRPr>
                </a:p>
              </p:txBody>
            </p:sp>
            <p:sp>
              <p:nvSpPr>
                <p:cNvPr id="12" name="矩形 11"/>
                <p:cNvSpPr/>
                <p:nvPr/>
              </p:nvSpPr>
              <p:spPr>
                <a:xfrm>
                  <a:off x="2699544" y="3429134"/>
                  <a:ext cx="1779905" cy="57594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err="1">
                      <a:solidFill>
                        <a:schemeClr val="tx1"/>
                      </a:solidFill>
                    </a:rPr>
                    <a:t>BookingSystem</a:t>
                  </a:r>
                  <a:endParaRPr lang="zh-CN" altLang="en-US" sz="1600" b="1" dirty="0">
                    <a:solidFill>
                      <a:schemeClr val="tx1"/>
                    </a:solidFill>
                  </a:endParaRPr>
                </a:p>
              </p:txBody>
            </p:sp>
          </p:grpSp>
          <p:cxnSp>
            <p:nvCxnSpPr>
              <p:cNvPr id="13" name="直接箭头连接符 12"/>
              <p:cNvCxnSpPr/>
              <p:nvPr/>
            </p:nvCxnSpPr>
            <p:spPr>
              <a:xfrm>
                <a:off x="683567" y="3573016"/>
                <a:ext cx="2043464"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a:off x="4239199" y="3573016"/>
                <a:ext cx="2781073"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049" name="直接箭头连接符 2048"/>
              <p:cNvCxnSpPr/>
              <p:nvPr/>
            </p:nvCxnSpPr>
            <p:spPr>
              <a:xfrm>
                <a:off x="1208548" y="3330718"/>
                <a:ext cx="792088"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52" name="直接箭头连接符 2051"/>
              <p:cNvCxnSpPr/>
              <p:nvPr/>
            </p:nvCxnSpPr>
            <p:spPr>
              <a:xfrm>
                <a:off x="5076056" y="3303488"/>
                <a:ext cx="108012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53" name="矩形 2052"/>
              <p:cNvSpPr/>
              <p:nvPr/>
            </p:nvSpPr>
            <p:spPr>
              <a:xfrm>
                <a:off x="694034" y="2942697"/>
                <a:ext cx="1496589" cy="3425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submit(date)</a:t>
                </a:r>
                <a:endParaRPr lang="zh-CN" altLang="en-US" b="1" dirty="0">
                  <a:solidFill>
                    <a:schemeClr val="tx1"/>
                  </a:solidFill>
                </a:endParaRPr>
              </a:p>
            </p:txBody>
          </p:sp>
          <p:sp>
            <p:nvSpPr>
              <p:cNvPr id="39" name="矩形 38"/>
              <p:cNvSpPr/>
              <p:nvPr/>
            </p:nvSpPr>
            <p:spPr>
              <a:xfrm>
                <a:off x="4749472" y="2870552"/>
                <a:ext cx="1614805" cy="3422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display(date)</a:t>
                </a:r>
                <a:endParaRPr lang="zh-CN" altLang="en-US" b="1" dirty="0">
                  <a:solidFill>
                    <a:schemeClr val="tx1"/>
                  </a:solidFill>
                </a:endParaRPr>
              </a:p>
            </p:txBody>
          </p:sp>
        </p:grpSp>
      </p:grpSp>
      <p:sp>
        <p:nvSpPr>
          <p:cNvPr id="2056" name="右大括号 2055"/>
          <p:cNvSpPr/>
          <p:nvPr/>
        </p:nvSpPr>
        <p:spPr>
          <a:xfrm>
            <a:off x="5047945" y="2420888"/>
            <a:ext cx="252028" cy="1296144"/>
          </a:xfrm>
          <a:prstGeom prst="rightBrace">
            <a:avLst/>
          </a:prstGeom>
          <a:ln w="2540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57" name="圆角矩形标注 2056"/>
          <p:cNvSpPr/>
          <p:nvPr/>
        </p:nvSpPr>
        <p:spPr>
          <a:xfrm>
            <a:off x="6432650" y="2276872"/>
            <a:ext cx="1968205" cy="756664"/>
          </a:xfrm>
          <a:prstGeom prst="wedgeRoundRectCallout">
            <a:avLst>
              <a:gd name="adj1" fmla="val -108922"/>
              <a:gd name="adj2" fmla="val 51355"/>
              <a:gd name="adj3" fmla="val 16667"/>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rPr>
              <a:t>省略细节</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5.2 </a:t>
            </a:r>
            <a:r>
              <a:rPr lang="zh-CN" altLang="en-US" dirty="0"/>
              <a:t>产生输出</a:t>
            </a:r>
          </a:p>
        </p:txBody>
      </p:sp>
      <p:sp>
        <p:nvSpPr>
          <p:cNvPr id="3" name="内容占位符 2"/>
          <p:cNvSpPr>
            <a:spLocks noGrp="1"/>
          </p:cNvSpPr>
          <p:nvPr>
            <p:ph idx="1"/>
          </p:nvPr>
        </p:nvSpPr>
        <p:spPr>
          <a:xfrm>
            <a:off x="1981800" y="1600200"/>
            <a:ext cx="8229600" cy="4781128"/>
          </a:xfrm>
        </p:spPr>
        <p:txBody>
          <a:bodyPr>
            <a:normAutofit fontScale="92500"/>
          </a:bodyPr>
          <a:lstStyle/>
          <a:p>
            <a:r>
              <a:rPr lang="en-US" altLang="zh-CN" dirty="0" err="1"/>
              <a:t>StaffUI</a:t>
            </a:r>
            <a:endParaRPr lang="en-US" altLang="zh-CN" dirty="0"/>
          </a:p>
          <a:p>
            <a:pPr lvl="1"/>
            <a:r>
              <a:rPr lang="zh-CN" altLang="en-US" dirty="0"/>
              <a:t>边界类，接受来自用户的消息，并将消息转发给控制器类</a:t>
            </a:r>
            <a:endParaRPr lang="en-US" altLang="zh-CN" dirty="0"/>
          </a:p>
          <a:p>
            <a:pPr lvl="1"/>
            <a:r>
              <a:rPr lang="zh-CN" altLang="en-US" dirty="0"/>
              <a:t>视图类数据，将应用数据或模型呈现给用户</a:t>
            </a:r>
            <a:endParaRPr lang="en-US" altLang="zh-CN" dirty="0"/>
          </a:p>
          <a:p>
            <a:pPr lvl="1"/>
            <a:r>
              <a:rPr lang="zh-CN" altLang="en-US" dirty="0"/>
              <a:t>数据发生改变，视图改变</a:t>
            </a:r>
            <a:endParaRPr lang="en-US" altLang="zh-CN" dirty="0"/>
          </a:p>
          <a:p>
            <a:pPr lvl="1"/>
            <a:r>
              <a:rPr lang="zh-CN" altLang="en-US" dirty="0"/>
              <a:t>轮询（缺点）</a:t>
            </a:r>
            <a:endParaRPr lang="en-US" altLang="zh-CN" dirty="0"/>
          </a:p>
          <a:p>
            <a:r>
              <a:rPr lang="zh-CN" altLang="en-US" dirty="0"/>
              <a:t>观察者模式</a:t>
            </a:r>
            <a:endParaRPr lang="en-US" altLang="zh-CN" dirty="0"/>
          </a:p>
          <a:p>
            <a:pPr lvl="1"/>
            <a:r>
              <a:rPr lang="zh-CN" altLang="en-US" dirty="0"/>
              <a:t>一个对象的变化需要改变其它对象，并且你不知道有多少对象需要改变</a:t>
            </a:r>
            <a:endParaRPr lang="en-US" altLang="zh-CN" dirty="0"/>
          </a:p>
          <a:p>
            <a:pPr lvl="1"/>
            <a:r>
              <a:rPr lang="zh-CN" altLang="en-US" dirty="0"/>
              <a:t>一个对象应该能够通知其它对象，而无需设想那些对象是谁</a:t>
            </a:r>
            <a:endParaRPr lang="en-US" altLang="zh-CN"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应用软件架构</a:t>
            </a:r>
          </a:p>
        </p:txBody>
      </p:sp>
      <p:grpSp>
        <p:nvGrpSpPr>
          <p:cNvPr id="4125" name="组合 4124"/>
          <p:cNvGrpSpPr/>
          <p:nvPr/>
        </p:nvGrpSpPr>
        <p:grpSpPr>
          <a:xfrm>
            <a:off x="2855976" y="1628800"/>
            <a:ext cx="6192952" cy="4500141"/>
            <a:chOff x="1331376" y="1628800"/>
            <a:chExt cx="6192952" cy="4500141"/>
          </a:xfrm>
        </p:grpSpPr>
        <p:pic>
          <p:nvPicPr>
            <p:cNvPr id="4123"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8164" y="4581128"/>
              <a:ext cx="1438275" cy="154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 name="矩形 17"/>
            <p:cNvSpPr/>
            <p:nvPr/>
          </p:nvSpPr>
          <p:spPr>
            <a:xfrm>
              <a:off x="1331376" y="1988840"/>
              <a:ext cx="6192952"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1331376" y="1628800"/>
              <a:ext cx="3642913" cy="3600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Presentation</a:t>
              </a:r>
              <a:endParaRPr lang="zh-CN" altLang="en-US" b="1" dirty="0">
                <a:solidFill>
                  <a:schemeClr val="tx1"/>
                </a:solidFill>
              </a:endParaRPr>
            </a:p>
          </p:txBody>
        </p:sp>
        <p:sp>
          <p:nvSpPr>
            <p:cNvPr id="15" name="矩形 14"/>
            <p:cNvSpPr/>
            <p:nvPr/>
          </p:nvSpPr>
          <p:spPr>
            <a:xfrm>
              <a:off x="1357142" y="4581128"/>
              <a:ext cx="6167186" cy="15375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1357142" y="4221088"/>
              <a:ext cx="1440160" cy="3600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Application</a:t>
              </a:r>
              <a:endParaRPr lang="zh-CN" altLang="en-US" b="1" dirty="0">
                <a:solidFill>
                  <a:schemeClr val="tx1"/>
                </a:solidFill>
              </a:endParaRPr>
            </a:p>
          </p:txBody>
        </p:sp>
        <p:cxnSp>
          <p:nvCxnSpPr>
            <p:cNvPr id="4108" name="直接连接符 4107"/>
            <p:cNvCxnSpPr/>
            <p:nvPr/>
          </p:nvCxnSpPr>
          <p:spPr>
            <a:xfrm flipH="1">
              <a:off x="2900253" y="2636912"/>
              <a:ext cx="2592288" cy="0"/>
            </a:xfrm>
            <a:prstGeom prst="line">
              <a:avLst/>
            </a:prstGeom>
            <a:ln w="31750">
              <a:tailEnd type="none"/>
            </a:ln>
          </p:spPr>
          <p:style>
            <a:lnRef idx="1">
              <a:schemeClr val="accent1"/>
            </a:lnRef>
            <a:fillRef idx="0">
              <a:schemeClr val="accent1"/>
            </a:fillRef>
            <a:effectRef idx="0">
              <a:schemeClr val="accent1"/>
            </a:effectRef>
            <a:fontRef idx="minor">
              <a:schemeClr val="tx1"/>
            </a:fontRef>
          </p:style>
        </p:cxnSp>
        <p:cxnSp>
          <p:nvCxnSpPr>
            <p:cNvPr id="4110" name="直接箭头连接符 4109"/>
            <p:cNvCxnSpPr/>
            <p:nvPr/>
          </p:nvCxnSpPr>
          <p:spPr>
            <a:xfrm flipH="1">
              <a:off x="2900253" y="2636912"/>
              <a:ext cx="15563" cy="2016224"/>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cxnSp>
          <p:nvCxnSpPr>
            <p:cNvPr id="4114" name="直接箭头连接符 4113"/>
            <p:cNvCxnSpPr/>
            <p:nvPr/>
          </p:nvCxnSpPr>
          <p:spPr>
            <a:xfrm>
              <a:off x="3445374" y="5373216"/>
              <a:ext cx="1774698" cy="0"/>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grpSp>
      <p:pic>
        <p:nvPicPr>
          <p:cNvPr id="4126"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0656" y="1844824"/>
            <a:ext cx="2232248" cy="4425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5.3 </a:t>
            </a:r>
            <a:r>
              <a:rPr lang="zh-CN" altLang="en-US" dirty="0"/>
              <a:t>持久数据库设计</a:t>
            </a:r>
          </a:p>
        </p:txBody>
      </p:sp>
      <p:sp>
        <p:nvSpPr>
          <p:cNvPr id="3" name="内容占位符 2"/>
          <p:cNvSpPr>
            <a:spLocks noGrp="1"/>
          </p:cNvSpPr>
          <p:nvPr>
            <p:ph idx="1"/>
          </p:nvPr>
        </p:nvSpPr>
        <p:spPr/>
        <p:txBody>
          <a:bodyPr/>
          <a:lstStyle/>
          <a:p>
            <a:r>
              <a:rPr lang="zh-CN" altLang="en-US" dirty="0"/>
              <a:t>某些数据需要长久保存</a:t>
            </a:r>
            <a:endParaRPr lang="en-US" altLang="zh-CN" dirty="0"/>
          </a:p>
          <a:p>
            <a:r>
              <a:rPr lang="zh-CN" altLang="en-US" dirty="0"/>
              <a:t>方式</a:t>
            </a:r>
            <a:r>
              <a:rPr lang="en-US" altLang="zh-CN" dirty="0"/>
              <a:t>	</a:t>
            </a:r>
          </a:p>
          <a:p>
            <a:pPr lvl="1"/>
            <a:r>
              <a:rPr lang="zh-CN" altLang="en-US" dirty="0"/>
              <a:t>磁盘文件</a:t>
            </a:r>
            <a:endParaRPr lang="en-US" altLang="zh-CN" dirty="0"/>
          </a:p>
          <a:p>
            <a:pPr lvl="1"/>
            <a:r>
              <a:rPr lang="zh-CN" altLang="en-US" dirty="0"/>
              <a:t>数据库</a:t>
            </a:r>
            <a:endParaRPr lang="en-US" altLang="zh-CN" dirty="0"/>
          </a:p>
          <a:p>
            <a:r>
              <a:rPr lang="zh-CN" altLang="en-US" dirty="0"/>
              <a:t>对类标记</a:t>
            </a:r>
            <a:r>
              <a:rPr lang="en-US" altLang="zh-CN" dirty="0"/>
              <a:t>persistent</a:t>
            </a:r>
          </a:p>
          <a:p>
            <a:r>
              <a:rPr lang="zh-CN" altLang="en-US" dirty="0"/>
              <a:t>持久类和关联如何保存</a:t>
            </a:r>
            <a:endParaRPr lang="en-US" altLang="zh-CN" dirty="0"/>
          </a:p>
          <a:p>
            <a:pPr lvl="1"/>
            <a:r>
              <a:rPr lang="zh-CN" altLang="en-US" dirty="0"/>
              <a:t>持久类对应于数据库中的表</a:t>
            </a:r>
            <a:endParaRPr lang="en-US" altLang="zh-CN" dirty="0"/>
          </a:p>
          <a:p>
            <a:pPr lvl="1"/>
            <a:r>
              <a:rPr lang="zh-CN" altLang="en-US" dirty="0"/>
              <a:t>关联对应于外键</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5.3 </a:t>
            </a:r>
            <a:r>
              <a:rPr lang="zh-CN" altLang="en-US" dirty="0"/>
              <a:t>持久数据库设计</a:t>
            </a:r>
          </a:p>
        </p:txBody>
      </p:sp>
      <p:sp>
        <p:nvSpPr>
          <p:cNvPr id="3" name="内容占位符 2"/>
          <p:cNvSpPr>
            <a:spLocks noGrp="1"/>
          </p:cNvSpPr>
          <p:nvPr>
            <p:ph idx="1"/>
          </p:nvPr>
        </p:nvSpPr>
        <p:spPr>
          <a:xfrm>
            <a:off x="1981800" y="1600201"/>
            <a:ext cx="8229600" cy="2404864"/>
          </a:xfrm>
        </p:spPr>
        <p:txBody>
          <a:bodyPr>
            <a:normAutofit fontScale="92500" lnSpcReduction="10000"/>
          </a:bodyPr>
          <a:lstStyle/>
          <a:p>
            <a:r>
              <a:rPr lang="zh-CN" altLang="en-US" dirty="0"/>
              <a:t>表设计</a:t>
            </a:r>
            <a:endParaRPr lang="en-US" altLang="zh-CN" dirty="0"/>
          </a:p>
          <a:p>
            <a:pPr lvl="1"/>
            <a:r>
              <a:rPr lang="en-US" altLang="zh-CN" sz="2400" dirty="0"/>
              <a:t>Table(</a:t>
            </a:r>
            <a:r>
              <a:rPr lang="en-US" altLang="zh-CN" sz="2400" dirty="0" err="1"/>
              <a:t>oid,number,places</a:t>
            </a:r>
            <a:r>
              <a:rPr lang="en-US" altLang="zh-CN" sz="2400" dirty="0"/>
              <a:t>)</a:t>
            </a:r>
          </a:p>
          <a:p>
            <a:pPr lvl="1"/>
            <a:r>
              <a:rPr lang="en-US" altLang="zh-CN" sz="2400" dirty="0"/>
              <a:t>Customer(</a:t>
            </a:r>
            <a:r>
              <a:rPr lang="en-US" altLang="zh-CN" sz="2400" dirty="0" err="1"/>
              <a:t>oid,name,phoneNumber</a:t>
            </a:r>
            <a:r>
              <a:rPr lang="en-US" altLang="zh-CN" sz="2400" dirty="0"/>
              <a:t>)</a:t>
            </a:r>
          </a:p>
          <a:p>
            <a:pPr lvl="1"/>
            <a:r>
              <a:rPr lang="en-US" altLang="zh-CN" sz="2400" dirty="0" err="1"/>
              <a:t>Walkin</a:t>
            </a:r>
            <a:r>
              <a:rPr lang="en-US" altLang="zh-CN" sz="2400" dirty="0"/>
              <a:t>(</a:t>
            </a:r>
            <a:r>
              <a:rPr lang="en-US" altLang="zh-CN" sz="2400" dirty="0" err="1"/>
              <a:t>oid,covers,date,time,table_id</a:t>
            </a:r>
            <a:r>
              <a:rPr lang="en-US" altLang="zh-CN" sz="2400" dirty="0"/>
              <a:t>)</a:t>
            </a:r>
          </a:p>
          <a:p>
            <a:pPr lvl="1"/>
            <a:r>
              <a:rPr lang="en-US" altLang="zh-CN" sz="2400" dirty="0"/>
              <a:t>Reservation(</a:t>
            </a:r>
            <a:r>
              <a:rPr lang="en-US" altLang="zh-CN" sz="2400" dirty="0" err="1"/>
              <a:t>oid,covers,date,time,table_id,customer_id</a:t>
            </a:r>
            <a:r>
              <a:rPr lang="en-US" altLang="zh-CN" sz="2400" dirty="0"/>
              <a:t>)</a:t>
            </a:r>
            <a:endParaRPr lang="zh-CN" altLang="en-US" sz="2400" dirty="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4152" y="4005064"/>
            <a:ext cx="8305800" cy="219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lstStyle/>
          <a:p>
            <a:r>
              <a:rPr lang="zh-CN" altLang="en-US" dirty="0"/>
              <a:t>保存和装载持久对象</a:t>
            </a:r>
            <a:endParaRPr lang="en-US" altLang="zh-CN" dirty="0"/>
          </a:p>
          <a:p>
            <a:pPr lvl="1"/>
            <a:r>
              <a:rPr lang="zh-CN" altLang="en-US" dirty="0"/>
              <a:t>数据库和内存之间移动持久数据</a:t>
            </a:r>
            <a:endParaRPr lang="en-US" altLang="zh-CN" dirty="0"/>
          </a:p>
          <a:p>
            <a:pPr lvl="1"/>
            <a:r>
              <a:rPr lang="zh-CN" altLang="en-US" dirty="0"/>
              <a:t>对每个持久类，定义相关联的映射器</a:t>
            </a:r>
            <a:r>
              <a:rPr lang="en-US" altLang="zh-CN" dirty="0"/>
              <a:t>(mapper)</a:t>
            </a:r>
          </a:p>
          <a:p>
            <a:endParaRPr lang="zh-CN" altLang="en-US" dirty="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0336" y="3284984"/>
            <a:ext cx="5170488"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5.4 </a:t>
            </a:r>
            <a:r>
              <a:rPr lang="zh-CN" altLang="en-US"/>
              <a:t>设计模式</a:t>
            </a:r>
          </a:p>
        </p:txBody>
      </p:sp>
      <p:sp>
        <p:nvSpPr>
          <p:cNvPr id="3" name="内容占位符 2"/>
          <p:cNvSpPr>
            <a:spLocks noGrp="1"/>
          </p:cNvSpPr>
          <p:nvPr>
            <p:ph idx="1"/>
          </p:nvPr>
        </p:nvSpPr>
        <p:spPr/>
        <p:txBody>
          <a:bodyPr>
            <a:normAutofit fontScale="87500" lnSpcReduction="10000"/>
          </a:bodyPr>
          <a:lstStyle/>
          <a:p>
            <a:pPr>
              <a:spcBef>
                <a:spcPct val="50000"/>
              </a:spcBef>
            </a:pPr>
            <a:r>
              <a:rPr lang="zh-CN" altLang="en-US" b="1" dirty="0">
                <a:solidFill>
                  <a:srgbClr val="0000CC"/>
                </a:solidFill>
                <a:effectLst>
                  <a:outerShdw blurRad="38100" dist="38100" dir="2700000">
                    <a:srgbClr val="C0C0C0"/>
                  </a:outerShdw>
                </a:effectLst>
                <a:latin typeface="Times New Roman" panose="02020503050405090304" pitchFamily="18" charset="0"/>
                <a:ea typeface="微软简魏碑" pitchFamily="2" charset="-122"/>
                <a:sym typeface="+mn-ea"/>
              </a:rPr>
              <a:t>建立界面类与问题域类之间的联系。有些界面对象要与问题域中的对象进行通讯，故要对二者之间的通讯进行设计。</a:t>
            </a:r>
            <a:r>
              <a:rPr lang="zh-CN" altLang="en-US" b="1" dirty="0">
                <a:latin typeface="Times New Roman" panose="02020503050405090304" pitchFamily="18" charset="0"/>
                <a:ea typeface="微软简魏碑" pitchFamily="2" charset="-122"/>
                <a:sym typeface="+mn-ea"/>
              </a:rPr>
              <a:t> </a:t>
            </a:r>
            <a:endParaRPr lang="zh-CN" altLang="en-US" b="1" dirty="0">
              <a:latin typeface="Times New Roman" panose="02020503050405090304" pitchFamily="18" charset="0"/>
              <a:ea typeface="微软简魏碑" pitchFamily="2" charset="-122"/>
            </a:endParaRPr>
          </a:p>
          <a:p>
            <a:pPr lvl="1"/>
            <a:r>
              <a:rPr lang="zh-CN" altLang="en-US" b="1" dirty="0">
                <a:latin typeface="Times New Roman" panose="02020503050405090304" pitchFamily="18" charset="0"/>
                <a:ea typeface="微软简魏碑" pitchFamily="2" charset="-122"/>
                <a:sym typeface="+mn-ea"/>
              </a:rPr>
              <a:t>人机界面只负责输入与输出和窗口更新这样的工作，并把所有面向问题域部分的请求转发给问题域部分，即在界面对象中不应该对业务逻辑进行处理。</a:t>
            </a:r>
            <a:endParaRPr lang="zh-CN" altLang="en-US" b="1" dirty="0">
              <a:latin typeface="Times New Roman" panose="02020503050405090304" pitchFamily="18" charset="0"/>
              <a:ea typeface="微软简魏碑" pitchFamily="2" charset="-122"/>
            </a:endParaRPr>
          </a:p>
          <a:p>
            <a:pPr lvl="1"/>
            <a:r>
              <a:rPr lang="zh-CN" altLang="en-US" b="1" dirty="0">
                <a:latin typeface="Times New Roman" panose="02020503050405090304" pitchFamily="18" charset="0"/>
                <a:ea typeface="微软简魏碑" pitchFamily="2" charset="-122"/>
                <a:sym typeface="+mn-ea"/>
              </a:rPr>
              <a:t>一种常见的作法是，问题域部分的对象不应该主动发起与界面部分对象之间的通讯，而只能对界面部分对象进行响应，也就是说，只有界面部分的对象才能访问问题域部分的对象。通常把界面对象向问题域部分对象传输的信息或发布命令看作是“请求”，而把从问题域部分对象向界面部分对象传输的信息看作是“回应”或“通知”。</a:t>
            </a:r>
            <a:endParaRPr lang="zh-CN" altLang="en-US" b="1" dirty="0">
              <a:latin typeface="Times New Roman" panose="02020503050405090304" pitchFamily="18" charset="0"/>
              <a:ea typeface="微软简魏碑" pitchFamily="2" charset="-122"/>
            </a:endParaRPr>
          </a:p>
          <a:p>
            <a:pPr lvl="1"/>
            <a:r>
              <a:rPr lang="zh-CN" altLang="en-US" b="1" dirty="0">
                <a:latin typeface="Times New Roman" panose="02020503050405090304" pitchFamily="18" charset="0"/>
                <a:ea typeface="微软简魏碑" pitchFamily="2" charset="-122"/>
                <a:sym typeface="+mn-ea"/>
              </a:rPr>
              <a:t>尽量减少界面部分与问题域部分的耦合。由于界面是易变的，从易于维护和易于复用的角度出发，问题域部分和界面部分应该是低耦合的。 </a:t>
            </a:r>
            <a:endParaRPr lang="zh-CN" alt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5.4.1 </a:t>
            </a:r>
            <a:r>
              <a:rPr lang="zh-CN" altLang="en-US"/>
              <a:t>观察者模式</a:t>
            </a:r>
          </a:p>
        </p:txBody>
      </p:sp>
      <p:pic>
        <p:nvPicPr>
          <p:cNvPr id="241669" name="图片 241668"/>
          <p:cNvPicPr>
            <a:picLocks noChangeAspect="1"/>
          </p:cNvPicPr>
          <p:nvPr>
            <p:custDataLst>
              <p:tags r:id="rId1"/>
            </p:custDataLst>
          </p:nvPr>
        </p:nvPicPr>
        <p:blipFill>
          <a:blip r:embed="rId3"/>
          <a:stretch>
            <a:fillRect/>
          </a:stretch>
        </p:blipFill>
        <p:spPr>
          <a:xfrm>
            <a:off x="1559878" y="1484948"/>
            <a:ext cx="8785225" cy="4713287"/>
          </a:xfrm>
          <a:prstGeom prst="rect">
            <a:avLst/>
          </a:prstGeom>
          <a:noFill/>
          <a:ln w="9525">
            <a:noFill/>
          </a:ln>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25" name="图片 235524"/>
          <p:cNvPicPr>
            <a:picLocks noChangeAspect="1"/>
          </p:cNvPicPr>
          <p:nvPr>
            <p:custDataLst>
              <p:tags r:id="rId1"/>
            </p:custDataLst>
          </p:nvPr>
        </p:nvPicPr>
        <p:blipFill>
          <a:blip r:embed="rId4"/>
          <a:stretch>
            <a:fillRect/>
          </a:stretch>
        </p:blipFill>
        <p:spPr>
          <a:xfrm>
            <a:off x="2136140" y="1262063"/>
            <a:ext cx="8893175" cy="5595937"/>
          </a:xfrm>
          <a:prstGeom prst="rect">
            <a:avLst/>
          </a:prstGeom>
          <a:noFill/>
          <a:ln w="9525">
            <a:noFill/>
          </a:ln>
        </p:spPr>
      </p:pic>
      <p:sp>
        <p:nvSpPr>
          <p:cNvPr id="2" name="标题 1"/>
          <p:cNvSpPr>
            <a:spLocks noGrp="1"/>
          </p:cNvSpPr>
          <p:nvPr>
            <p:custDataLst>
              <p:tags r:id="rId2"/>
            </p:custDataLst>
          </p:nvPr>
        </p:nvSpPr>
        <p:spPr>
          <a:xfrm>
            <a:off x="609660" y="197768"/>
            <a:ext cx="1097388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a:t>观察者模式</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Autofit/>
          </a:bodyPr>
          <a:lstStyle/>
          <a:p>
            <a:pPr>
              <a:lnSpc>
                <a:spcPct val="150000"/>
              </a:lnSpc>
            </a:pPr>
            <a:r>
              <a:rPr lang="en-US" altLang="zh-CN" sz="1700">
                <a:sym typeface="+mn-ea"/>
              </a:rPr>
              <a:t>Subject</a:t>
            </a:r>
            <a:r>
              <a:rPr lang="zh-CN" altLang="en-US" sz="1700" dirty="0">
                <a:sym typeface="+mn-ea"/>
              </a:rPr>
              <a:t>（目标）</a:t>
            </a:r>
            <a:endParaRPr lang="zh-CN" altLang="en-US" sz="1700" dirty="0"/>
          </a:p>
          <a:p>
            <a:pPr lvl="1">
              <a:lnSpc>
                <a:spcPct val="150000"/>
              </a:lnSpc>
            </a:pPr>
            <a:r>
              <a:rPr lang="zh-CN" altLang="en-US" sz="1700" dirty="0">
                <a:sym typeface="+mn-ea"/>
              </a:rPr>
              <a:t>目标知道它的观察者。可以有任意多个观察者观察同一个目标。</a:t>
            </a:r>
            <a:endParaRPr lang="zh-CN" altLang="en-US" sz="1700" dirty="0"/>
          </a:p>
          <a:p>
            <a:pPr lvl="1">
              <a:lnSpc>
                <a:spcPct val="150000"/>
              </a:lnSpc>
            </a:pPr>
            <a:r>
              <a:rPr lang="zh-CN" altLang="en-US" sz="1700" dirty="0">
                <a:sym typeface="+mn-ea"/>
              </a:rPr>
              <a:t>提供注册和删除观察者对象的接口。</a:t>
            </a:r>
            <a:endParaRPr lang="zh-CN" altLang="en-US" sz="1700" dirty="0"/>
          </a:p>
          <a:p>
            <a:pPr>
              <a:lnSpc>
                <a:spcPct val="150000"/>
              </a:lnSpc>
            </a:pPr>
            <a:r>
              <a:rPr lang="en-US" altLang="zh-CN" sz="1700">
                <a:sym typeface="+mn-ea"/>
              </a:rPr>
              <a:t>Observer</a:t>
            </a:r>
            <a:r>
              <a:rPr lang="zh-CN" altLang="en-US" sz="1700" dirty="0">
                <a:sym typeface="+mn-ea"/>
              </a:rPr>
              <a:t>（观察者）</a:t>
            </a:r>
            <a:endParaRPr lang="zh-CN" altLang="en-US" sz="1700" dirty="0"/>
          </a:p>
          <a:p>
            <a:pPr lvl="1">
              <a:lnSpc>
                <a:spcPct val="150000"/>
              </a:lnSpc>
            </a:pPr>
            <a:r>
              <a:rPr lang="zh-CN" altLang="en-US" sz="1700" dirty="0">
                <a:sym typeface="+mn-ea"/>
              </a:rPr>
              <a:t>为那些在目标发生改变时需获得通知的对象定义一个更新接口。</a:t>
            </a:r>
            <a:endParaRPr lang="zh-CN" altLang="en-US" sz="1700" dirty="0"/>
          </a:p>
          <a:p>
            <a:pPr>
              <a:lnSpc>
                <a:spcPct val="150000"/>
              </a:lnSpc>
            </a:pPr>
            <a:r>
              <a:rPr lang="en-US" altLang="zh-CN" sz="1700" err="1">
                <a:sym typeface="+mn-ea"/>
              </a:rPr>
              <a:t>ConcreteSubject</a:t>
            </a:r>
            <a:r>
              <a:rPr lang="en-US" altLang="zh-CN" sz="1700">
                <a:sym typeface="+mn-ea"/>
              </a:rPr>
              <a:t> </a:t>
            </a:r>
            <a:r>
              <a:rPr lang="zh-CN" altLang="en-US" sz="1700" dirty="0">
                <a:sym typeface="+mn-ea"/>
              </a:rPr>
              <a:t>（具体目标）</a:t>
            </a:r>
            <a:endParaRPr lang="zh-CN" altLang="en-US" sz="1700" dirty="0"/>
          </a:p>
          <a:p>
            <a:pPr lvl="1">
              <a:lnSpc>
                <a:spcPct val="150000"/>
              </a:lnSpc>
            </a:pPr>
            <a:r>
              <a:rPr lang="zh-CN" altLang="en-US" sz="1700" dirty="0">
                <a:sym typeface="+mn-ea"/>
              </a:rPr>
              <a:t>将有关状态存入各</a:t>
            </a:r>
            <a:r>
              <a:rPr lang="en-US" altLang="zh-CN" sz="1700">
                <a:sym typeface="+mn-ea"/>
              </a:rPr>
              <a:t>Concrete Observer</a:t>
            </a:r>
            <a:r>
              <a:rPr lang="zh-CN" altLang="en-US" sz="1700" dirty="0">
                <a:sym typeface="+mn-ea"/>
              </a:rPr>
              <a:t>对象。</a:t>
            </a:r>
            <a:endParaRPr lang="zh-CN" altLang="en-US" sz="1700" dirty="0"/>
          </a:p>
          <a:p>
            <a:pPr lvl="1">
              <a:lnSpc>
                <a:spcPct val="150000"/>
              </a:lnSpc>
            </a:pPr>
            <a:r>
              <a:rPr lang="zh-CN" altLang="en-US" sz="1700" dirty="0">
                <a:sym typeface="+mn-ea"/>
              </a:rPr>
              <a:t>当它的状态发生改变时</a:t>
            </a:r>
            <a:r>
              <a:rPr lang="en-US" altLang="zh-CN" sz="1700">
                <a:sym typeface="+mn-ea"/>
              </a:rPr>
              <a:t>, </a:t>
            </a:r>
            <a:r>
              <a:rPr lang="zh-CN" altLang="en-US" sz="1700" dirty="0">
                <a:sym typeface="+mn-ea"/>
              </a:rPr>
              <a:t>向它的各个观察者发出通知。</a:t>
            </a:r>
            <a:endParaRPr lang="zh-CN" altLang="en-US" sz="1700" dirty="0"/>
          </a:p>
          <a:p>
            <a:pPr>
              <a:lnSpc>
                <a:spcPct val="150000"/>
              </a:lnSpc>
            </a:pPr>
            <a:r>
              <a:rPr lang="en-US" altLang="zh-CN" sz="1700">
                <a:sym typeface="+mn-ea"/>
              </a:rPr>
              <a:t>Observer </a:t>
            </a:r>
            <a:r>
              <a:rPr lang="zh-CN" altLang="en-US" sz="1700" dirty="0">
                <a:sym typeface="+mn-ea"/>
              </a:rPr>
              <a:t>（具体观察者）</a:t>
            </a:r>
            <a:endParaRPr lang="zh-CN" altLang="en-US" sz="1700" dirty="0"/>
          </a:p>
          <a:p>
            <a:pPr lvl="1">
              <a:lnSpc>
                <a:spcPct val="150000"/>
              </a:lnSpc>
            </a:pPr>
            <a:r>
              <a:rPr lang="zh-CN" altLang="en-US" sz="1700" dirty="0">
                <a:sym typeface="+mn-ea"/>
              </a:rPr>
              <a:t>维护一个指向</a:t>
            </a:r>
            <a:r>
              <a:rPr lang="en-US" altLang="zh-CN" sz="1700" err="1">
                <a:sym typeface="+mn-ea"/>
              </a:rPr>
              <a:t>ConcreteSubject</a:t>
            </a:r>
            <a:r>
              <a:rPr lang="zh-CN" altLang="en-US" sz="1700" dirty="0">
                <a:sym typeface="+mn-ea"/>
              </a:rPr>
              <a:t>对象的引用。</a:t>
            </a:r>
            <a:endParaRPr lang="zh-CN" altLang="en-US" sz="1700" dirty="0"/>
          </a:p>
          <a:p>
            <a:pPr lvl="1">
              <a:lnSpc>
                <a:spcPct val="150000"/>
              </a:lnSpc>
            </a:pPr>
            <a:r>
              <a:rPr lang="zh-CN" altLang="en-US" sz="1700" dirty="0">
                <a:sym typeface="+mn-ea"/>
              </a:rPr>
              <a:t>存储有关状态，这些状态应与目标的状态保持一致。</a:t>
            </a:r>
            <a:endParaRPr lang="zh-CN" altLang="en-US" sz="1700" dirty="0"/>
          </a:p>
          <a:p>
            <a:pPr lvl="1">
              <a:lnSpc>
                <a:spcPct val="150000"/>
              </a:lnSpc>
            </a:pPr>
            <a:r>
              <a:rPr lang="zh-CN" altLang="en-US" sz="1700" dirty="0">
                <a:sym typeface="+mn-ea"/>
              </a:rPr>
              <a:t>实现</a:t>
            </a:r>
            <a:r>
              <a:rPr lang="en-US" altLang="zh-CN" sz="1700">
                <a:sym typeface="+mn-ea"/>
              </a:rPr>
              <a:t>Observer</a:t>
            </a:r>
            <a:r>
              <a:rPr lang="zh-CN" altLang="en-US" sz="1700" dirty="0">
                <a:sym typeface="+mn-ea"/>
              </a:rPr>
              <a:t>的更新接口以使自身状态与目标的状态保持一致。</a:t>
            </a:r>
          </a:p>
        </p:txBody>
      </p:sp>
      <p:sp>
        <p:nvSpPr>
          <p:cNvPr id="5" name="标题 4"/>
          <p:cNvSpPr>
            <a:spLocks noGrp="1"/>
          </p:cNvSpPr>
          <p:nvPr>
            <p:ph type="title"/>
            <p:custDataLst>
              <p:tags r:id="rId1"/>
            </p:custDataLst>
          </p:nvPr>
        </p:nvSpPr>
        <p:spPr/>
        <p:txBody>
          <a:bodyPr/>
          <a:lstStyle/>
          <a:p>
            <a:r>
              <a:rPr lang="zh-CN" altLang="en-US"/>
              <a:t>观察者模式</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4741" name="图片 244740"/>
          <p:cNvPicPr>
            <a:picLocks noChangeAspect="1"/>
          </p:cNvPicPr>
          <p:nvPr>
            <p:custDataLst>
              <p:tags r:id="rId1"/>
            </p:custDataLst>
          </p:nvPr>
        </p:nvPicPr>
        <p:blipFill>
          <a:blip r:embed="rId3"/>
          <a:stretch>
            <a:fillRect/>
          </a:stretch>
        </p:blipFill>
        <p:spPr>
          <a:xfrm>
            <a:off x="1343660" y="1772920"/>
            <a:ext cx="8837613" cy="3925888"/>
          </a:xfrm>
          <a:prstGeom prst="rect">
            <a:avLst/>
          </a:prstGeom>
          <a:noFill/>
          <a:ln w="9525">
            <a:noFill/>
          </a:ln>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9" name="矩形 246788"/>
          <p:cNvSpPr/>
          <p:nvPr>
            <p:custDataLst>
              <p:tags r:id="rId1"/>
            </p:custDataLst>
          </p:nvPr>
        </p:nvSpPr>
        <p:spPr>
          <a:xfrm>
            <a:off x="551498" y="2925445"/>
            <a:ext cx="6192837" cy="2601913"/>
          </a:xfrm>
          <a:prstGeom prst="rect">
            <a:avLst/>
          </a:prstGeom>
          <a:noFill/>
          <a:ln w="38100" cap="flat" cmpd="sng">
            <a:solidFill>
              <a:schemeClr val="folHlink"/>
            </a:solidFill>
            <a:prstDash val="solid"/>
            <a:miter/>
            <a:headEnd type="none" w="med" len="med"/>
            <a:tailEnd type="none" w="med" len="med"/>
          </a:ln>
        </p:spPr>
        <p:txBody>
          <a:bodyPr>
            <a:spAutoFit/>
          </a:bodyPr>
          <a:lstStyle/>
          <a:p>
            <a:r>
              <a:rPr lang="en-US" altLang="zh-CN">
                <a:latin typeface="Tahoma" panose="020B0604030504040204" pitchFamily="34" charset="0"/>
              </a:rPr>
              <a:t>class Subject;</a:t>
            </a:r>
          </a:p>
          <a:p>
            <a:endParaRPr lang="en-US" altLang="zh-CN">
              <a:latin typeface="Tahoma" panose="020B0604030504040204" pitchFamily="34" charset="0"/>
            </a:endParaRPr>
          </a:p>
          <a:p>
            <a:r>
              <a:rPr lang="en-US" altLang="zh-CN">
                <a:latin typeface="Tahoma" panose="020B0604030504040204" pitchFamily="34" charset="0"/>
              </a:rPr>
              <a:t>class Observer {</a:t>
            </a:r>
          </a:p>
          <a:p>
            <a:r>
              <a:rPr lang="en-US" altLang="zh-CN">
                <a:latin typeface="Tahoma" panose="020B0604030504040204" pitchFamily="34" charset="0"/>
              </a:rPr>
              <a:t>public:</a:t>
            </a:r>
          </a:p>
          <a:p>
            <a:r>
              <a:rPr lang="en-US" altLang="zh-CN">
                <a:latin typeface="Tahoma" panose="020B0604030504040204" pitchFamily="34" charset="0"/>
              </a:rPr>
              <a:t>    virtual ~ Observer();</a:t>
            </a:r>
          </a:p>
          <a:p>
            <a:r>
              <a:rPr lang="en-US" altLang="zh-CN">
                <a:latin typeface="Tahoma" panose="020B0604030504040204" pitchFamily="34" charset="0"/>
              </a:rPr>
              <a:t>    virtual void </a:t>
            </a:r>
            <a:r>
              <a:rPr lang="en-US" altLang="zh-CN" err="1">
                <a:latin typeface="Tahoma" panose="020B0604030504040204" pitchFamily="34" charset="0"/>
              </a:rPr>
              <a:t>Update(Subject</a:t>
            </a:r>
            <a:r>
              <a:rPr lang="en-US" altLang="zh-CN">
                <a:latin typeface="Tahoma" panose="020B0604030504040204" pitchFamily="34" charset="0"/>
              </a:rPr>
              <a:t>* </a:t>
            </a:r>
            <a:r>
              <a:rPr lang="en-US" altLang="zh-CN" err="1">
                <a:latin typeface="Tahoma" panose="020B0604030504040204" pitchFamily="34" charset="0"/>
              </a:rPr>
              <a:t>theChangedSubject</a:t>
            </a:r>
            <a:r>
              <a:rPr lang="en-US" altLang="zh-CN">
                <a:latin typeface="Tahoma" panose="020B0604030504040204" pitchFamily="34" charset="0"/>
              </a:rPr>
              <a:t>) = 0;</a:t>
            </a:r>
          </a:p>
          <a:p>
            <a:r>
              <a:rPr lang="en-US" altLang="zh-CN">
                <a:latin typeface="Tahoma" panose="020B0604030504040204" pitchFamily="34" charset="0"/>
              </a:rPr>
              <a:t>protected:</a:t>
            </a:r>
          </a:p>
          <a:p>
            <a:r>
              <a:rPr lang="en-US" altLang="zh-CN">
                <a:latin typeface="Tahoma" panose="020B0604030504040204" pitchFamily="34" charset="0"/>
              </a:rPr>
              <a:t>    Observer();</a:t>
            </a:r>
          </a:p>
          <a:p>
            <a:r>
              <a:rPr lang="en-US" altLang="zh-CN">
                <a:latin typeface="Tahoma" panose="020B0604030504040204" pitchFamily="34" charset="0"/>
              </a:rPr>
              <a:t>};</a:t>
            </a:r>
          </a:p>
        </p:txBody>
      </p:sp>
      <p:sp>
        <p:nvSpPr>
          <p:cNvPr id="246791" name="矩形 246790"/>
          <p:cNvSpPr/>
          <p:nvPr>
            <p:custDataLst>
              <p:tags r:id="rId2"/>
            </p:custDataLst>
          </p:nvPr>
        </p:nvSpPr>
        <p:spPr>
          <a:xfrm>
            <a:off x="7464425" y="2708910"/>
            <a:ext cx="3960813" cy="3425825"/>
          </a:xfrm>
          <a:prstGeom prst="rect">
            <a:avLst/>
          </a:prstGeom>
          <a:noFill/>
          <a:ln w="38100" cap="flat" cmpd="sng">
            <a:solidFill>
              <a:schemeClr val="folHlink"/>
            </a:solidFill>
            <a:prstDash val="solid"/>
            <a:miter/>
            <a:headEnd type="none" w="med" len="med"/>
            <a:tailEnd type="none" w="med" len="med"/>
          </a:ln>
        </p:spPr>
        <p:txBody>
          <a:bodyPr>
            <a:spAutoFit/>
          </a:bodyPr>
          <a:lstStyle/>
          <a:p>
            <a:r>
              <a:rPr lang="en-US" altLang="zh-CN">
                <a:latin typeface="Tahoma" panose="020B0604030504040204" pitchFamily="34" charset="0"/>
              </a:rPr>
              <a:t>class Subject {</a:t>
            </a:r>
          </a:p>
          <a:p>
            <a:r>
              <a:rPr lang="en-US" altLang="zh-CN">
                <a:latin typeface="Tahoma" panose="020B0604030504040204" pitchFamily="34" charset="0"/>
              </a:rPr>
              <a:t>public:</a:t>
            </a:r>
          </a:p>
          <a:p>
            <a:r>
              <a:rPr lang="en-US" altLang="zh-CN">
                <a:latin typeface="Tahoma" panose="020B0604030504040204" pitchFamily="34" charset="0"/>
              </a:rPr>
              <a:t>    virtual ~Subject();</a:t>
            </a:r>
          </a:p>
          <a:p>
            <a:endParaRPr lang="en-US" altLang="zh-CN">
              <a:latin typeface="Tahoma" panose="020B0604030504040204" pitchFamily="34" charset="0"/>
            </a:endParaRPr>
          </a:p>
          <a:p>
            <a:r>
              <a:rPr lang="en-US" altLang="zh-CN">
                <a:latin typeface="Tahoma" panose="020B0604030504040204" pitchFamily="34" charset="0"/>
              </a:rPr>
              <a:t>    virtual void </a:t>
            </a:r>
            <a:r>
              <a:rPr lang="en-US" altLang="zh-CN" err="1">
                <a:latin typeface="Tahoma" panose="020B0604030504040204" pitchFamily="34" charset="0"/>
              </a:rPr>
              <a:t>Attach(Observer</a:t>
            </a:r>
            <a:r>
              <a:rPr lang="en-US" altLang="zh-CN">
                <a:latin typeface="Tahoma" panose="020B0604030504040204" pitchFamily="34" charset="0"/>
              </a:rPr>
              <a:t>*);</a:t>
            </a:r>
          </a:p>
          <a:p>
            <a:r>
              <a:rPr lang="en-US" altLang="zh-CN">
                <a:latin typeface="Tahoma" panose="020B0604030504040204" pitchFamily="34" charset="0"/>
              </a:rPr>
              <a:t>    virtual void </a:t>
            </a:r>
            <a:r>
              <a:rPr lang="en-US" altLang="zh-CN" err="1">
                <a:latin typeface="Tahoma" panose="020B0604030504040204" pitchFamily="34" charset="0"/>
              </a:rPr>
              <a:t>Detach(Observer</a:t>
            </a:r>
            <a:r>
              <a:rPr lang="en-US" altLang="zh-CN">
                <a:latin typeface="Tahoma" panose="020B0604030504040204" pitchFamily="34" charset="0"/>
              </a:rPr>
              <a:t>*);</a:t>
            </a:r>
          </a:p>
          <a:p>
            <a:r>
              <a:rPr lang="en-US" altLang="zh-CN">
                <a:latin typeface="Tahoma" panose="020B0604030504040204" pitchFamily="34" charset="0"/>
              </a:rPr>
              <a:t>    virtual void Notify();</a:t>
            </a:r>
          </a:p>
          <a:p>
            <a:r>
              <a:rPr lang="en-US" altLang="zh-CN">
                <a:latin typeface="Tahoma" panose="020B0604030504040204" pitchFamily="34" charset="0"/>
              </a:rPr>
              <a:t>protected:</a:t>
            </a:r>
          </a:p>
          <a:p>
            <a:r>
              <a:rPr lang="en-US" altLang="zh-CN">
                <a:latin typeface="Tahoma" panose="020B0604030504040204" pitchFamily="34" charset="0"/>
              </a:rPr>
              <a:t>    Subject();</a:t>
            </a:r>
          </a:p>
          <a:p>
            <a:r>
              <a:rPr lang="en-US" altLang="zh-CN">
                <a:latin typeface="Tahoma" panose="020B0604030504040204" pitchFamily="34" charset="0"/>
              </a:rPr>
              <a:t>private:</a:t>
            </a:r>
          </a:p>
          <a:p>
            <a:r>
              <a:rPr lang="en-US" altLang="zh-CN">
                <a:latin typeface="Tahoma" panose="020B0604030504040204" pitchFamily="34" charset="0"/>
              </a:rPr>
              <a:t>    List&lt;Observer*&gt; *_observers;</a:t>
            </a:r>
          </a:p>
          <a:p>
            <a:r>
              <a:rPr lang="en-US" altLang="zh-CN">
                <a:latin typeface="Tahoma" panose="020B0604030504040204" pitchFamily="34" charset="0"/>
              </a:rPr>
              <a:t>};</a:t>
            </a:r>
            <a:endParaRPr lang="en-US" altLang="zh-CN" dirty="0">
              <a:latin typeface="Tahoma" panose="020B0604030504040204" pitchFamily="34"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92" name="矩形 246791"/>
          <p:cNvSpPr/>
          <p:nvPr>
            <p:custDataLst>
              <p:tags r:id="rId1"/>
            </p:custDataLst>
          </p:nvPr>
        </p:nvSpPr>
        <p:spPr>
          <a:xfrm>
            <a:off x="1991995" y="2061210"/>
            <a:ext cx="4608513" cy="3700463"/>
          </a:xfrm>
          <a:prstGeom prst="rect">
            <a:avLst/>
          </a:prstGeom>
          <a:noFill/>
          <a:ln w="38100" cap="flat" cmpd="sng">
            <a:solidFill>
              <a:schemeClr val="folHlink"/>
            </a:solidFill>
            <a:prstDash val="solid"/>
            <a:miter/>
            <a:headEnd type="none" w="med" len="med"/>
            <a:tailEnd type="none" w="med" len="med"/>
          </a:ln>
        </p:spPr>
        <p:txBody>
          <a:bodyPr>
            <a:spAutoFit/>
          </a:bodyPr>
          <a:lstStyle/>
          <a:p>
            <a:r>
              <a:rPr lang="en-US" altLang="zh-CN">
                <a:latin typeface="Tahoma" panose="020B0604030504040204" pitchFamily="34" charset="0"/>
              </a:rPr>
              <a:t>void </a:t>
            </a:r>
            <a:r>
              <a:rPr lang="en-US" altLang="zh-CN" err="1">
                <a:latin typeface="Tahoma" panose="020B0604030504040204" pitchFamily="34" charset="0"/>
              </a:rPr>
              <a:t>Subject::Attach</a:t>
            </a:r>
            <a:r>
              <a:rPr lang="en-US" altLang="zh-CN">
                <a:latin typeface="Tahoma" panose="020B0604030504040204" pitchFamily="34" charset="0"/>
              </a:rPr>
              <a:t> (Observer* o) {</a:t>
            </a:r>
          </a:p>
          <a:p>
            <a:r>
              <a:rPr lang="en-US" altLang="zh-CN">
                <a:latin typeface="Tahoma" panose="020B0604030504040204" pitchFamily="34" charset="0"/>
              </a:rPr>
              <a:t>    _observers-&gt;</a:t>
            </a:r>
            <a:r>
              <a:rPr lang="en-US" altLang="zh-CN" err="1">
                <a:latin typeface="Tahoma" panose="020B0604030504040204" pitchFamily="34" charset="0"/>
              </a:rPr>
              <a:t>Append(o</a:t>
            </a:r>
            <a:r>
              <a:rPr lang="en-US" altLang="zh-CN">
                <a:latin typeface="Tahoma" panose="020B0604030504040204" pitchFamily="34" charset="0"/>
              </a:rPr>
              <a:t>);</a:t>
            </a:r>
          </a:p>
          <a:p>
            <a:r>
              <a:rPr lang="en-US" altLang="zh-CN">
                <a:latin typeface="Tahoma" panose="020B0604030504040204" pitchFamily="34" charset="0"/>
              </a:rPr>
              <a:t>}</a:t>
            </a:r>
          </a:p>
          <a:p>
            <a:r>
              <a:rPr lang="en-US" altLang="zh-CN">
                <a:latin typeface="Tahoma" panose="020B0604030504040204" pitchFamily="34" charset="0"/>
              </a:rPr>
              <a:t>void </a:t>
            </a:r>
            <a:r>
              <a:rPr lang="en-US" altLang="zh-CN" err="1">
                <a:latin typeface="Tahoma" panose="020B0604030504040204" pitchFamily="34" charset="0"/>
              </a:rPr>
              <a:t>Subject::Detach</a:t>
            </a:r>
            <a:r>
              <a:rPr lang="en-US" altLang="zh-CN">
                <a:latin typeface="Tahoma" panose="020B0604030504040204" pitchFamily="34" charset="0"/>
              </a:rPr>
              <a:t> (Observer* o) {</a:t>
            </a:r>
          </a:p>
          <a:p>
            <a:r>
              <a:rPr lang="en-US" altLang="zh-CN">
                <a:latin typeface="Tahoma" panose="020B0604030504040204" pitchFamily="34" charset="0"/>
              </a:rPr>
              <a:t>    _observers-&gt;</a:t>
            </a:r>
            <a:r>
              <a:rPr lang="en-US" altLang="zh-CN" err="1">
                <a:latin typeface="Tahoma" panose="020B0604030504040204" pitchFamily="34" charset="0"/>
              </a:rPr>
              <a:t>Remove(o</a:t>
            </a:r>
            <a:r>
              <a:rPr lang="en-US" altLang="zh-CN">
                <a:latin typeface="Tahoma" panose="020B0604030504040204" pitchFamily="34" charset="0"/>
              </a:rPr>
              <a:t>);</a:t>
            </a:r>
          </a:p>
          <a:p>
            <a:r>
              <a:rPr lang="en-US" altLang="zh-CN">
                <a:latin typeface="Tahoma" panose="020B0604030504040204" pitchFamily="34" charset="0"/>
              </a:rPr>
              <a:t>}</a:t>
            </a:r>
          </a:p>
          <a:p>
            <a:r>
              <a:rPr lang="en-US" altLang="zh-CN">
                <a:latin typeface="Tahoma" panose="020B0604030504040204" pitchFamily="34" charset="0"/>
              </a:rPr>
              <a:t>void </a:t>
            </a:r>
            <a:r>
              <a:rPr lang="en-US" altLang="zh-CN" err="1">
                <a:latin typeface="Tahoma" panose="020B0604030504040204" pitchFamily="34" charset="0"/>
              </a:rPr>
              <a:t>Subject::Notify</a:t>
            </a:r>
            <a:r>
              <a:rPr lang="en-US" altLang="zh-CN">
                <a:latin typeface="Tahoma" panose="020B0604030504040204" pitchFamily="34" charset="0"/>
              </a:rPr>
              <a:t> () {</a:t>
            </a:r>
          </a:p>
          <a:p>
            <a:r>
              <a:rPr lang="en-US" altLang="zh-CN">
                <a:latin typeface="Tahoma" panose="020B0604030504040204" pitchFamily="34" charset="0"/>
              </a:rPr>
              <a:t>    </a:t>
            </a:r>
            <a:r>
              <a:rPr lang="en-US" altLang="zh-CN" err="1">
                <a:latin typeface="Tahoma" panose="020B0604030504040204" pitchFamily="34" charset="0"/>
              </a:rPr>
              <a:t>ListIterator</a:t>
            </a:r>
            <a:r>
              <a:rPr lang="en-US" altLang="zh-CN">
                <a:latin typeface="Tahoma" panose="020B0604030504040204" pitchFamily="34" charset="0"/>
              </a:rPr>
              <a:t>&lt;Observer*&gt; </a:t>
            </a:r>
            <a:r>
              <a:rPr lang="en-US" altLang="zh-CN" err="1">
                <a:latin typeface="Tahoma" panose="020B0604030504040204" pitchFamily="34" charset="0"/>
              </a:rPr>
              <a:t>i(_observers</a:t>
            </a:r>
            <a:r>
              <a:rPr lang="en-US" altLang="zh-CN">
                <a:latin typeface="Tahoma" panose="020B0604030504040204" pitchFamily="34" charset="0"/>
              </a:rPr>
              <a:t>);</a:t>
            </a:r>
          </a:p>
          <a:p>
            <a:endParaRPr lang="en-US" altLang="zh-CN">
              <a:latin typeface="Tahoma" panose="020B0604030504040204" pitchFamily="34" charset="0"/>
            </a:endParaRPr>
          </a:p>
          <a:p>
            <a:r>
              <a:rPr lang="en-US" altLang="zh-CN">
                <a:latin typeface="Tahoma" panose="020B0604030504040204" pitchFamily="34" charset="0"/>
              </a:rPr>
              <a:t>    for (</a:t>
            </a:r>
            <a:r>
              <a:rPr lang="en-US" altLang="zh-CN" err="1">
                <a:latin typeface="Tahoma" panose="020B0604030504040204" pitchFamily="34" charset="0"/>
              </a:rPr>
              <a:t>i.First</a:t>
            </a:r>
            <a:r>
              <a:rPr lang="en-US" altLang="zh-CN">
                <a:latin typeface="Tahoma" panose="020B0604030504040204" pitchFamily="34" charset="0"/>
              </a:rPr>
              <a:t>(); !</a:t>
            </a:r>
            <a:r>
              <a:rPr lang="en-US" altLang="zh-CN" err="1">
                <a:latin typeface="Tahoma" panose="020B0604030504040204" pitchFamily="34" charset="0"/>
              </a:rPr>
              <a:t>i.IsDone</a:t>
            </a:r>
            <a:r>
              <a:rPr lang="en-US" altLang="zh-CN">
                <a:latin typeface="Tahoma" panose="020B0604030504040204" pitchFamily="34" charset="0"/>
              </a:rPr>
              <a:t>(); </a:t>
            </a:r>
            <a:r>
              <a:rPr lang="en-US" altLang="zh-CN" err="1">
                <a:latin typeface="Tahoma" panose="020B0604030504040204" pitchFamily="34" charset="0"/>
              </a:rPr>
              <a:t>i.Next</a:t>
            </a:r>
            <a:r>
              <a:rPr lang="en-US" altLang="zh-CN">
                <a:latin typeface="Tahoma" panose="020B0604030504040204" pitchFamily="34" charset="0"/>
              </a:rPr>
              <a:t>()) {</a:t>
            </a:r>
          </a:p>
          <a:p>
            <a:r>
              <a:rPr lang="en-US" altLang="zh-CN">
                <a:latin typeface="Tahoma" panose="020B0604030504040204" pitchFamily="34" charset="0"/>
              </a:rPr>
              <a:t>        </a:t>
            </a:r>
            <a:r>
              <a:rPr lang="en-US" altLang="zh-CN" err="1">
                <a:latin typeface="Tahoma" panose="020B0604030504040204" pitchFamily="34" charset="0"/>
              </a:rPr>
              <a:t>i.CurrentItem</a:t>
            </a:r>
            <a:r>
              <a:rPr lang="en-US" altLang="zh-CN">
                <a:latin typeface="Tahoma" panose="020B0604030504040204" pitchFamily="34" charset="0"/>
              </a:rPr>
              <a:t>()-&gt;</a:t>
            </a:r>
            <a:r>
              <a:rPr lang="en-US" altLang="zh-CN" err="1">
                <a:latin typeface="Tahoma" panose="020B0604030504040204" pitchFamily="34" charset="0"/>
              </a:rPr>
              <a:t>Update(this</a:t>
            </a:r>
            <a:r>
              <a:rPr lang="en-US" altLang="zh-CN">
                <a:latin typeface="Tahoma" panose="020B0604030504040204" pitchFamily="34" charset="0"/>
              </a:rPr>
              <a:t>);</a:t>
            </a:r>
          </a:p>
          <a:p>
            <a:r>
              <a:rPr lang="en-US" altLang="zh-CN">
                <a:latin typeface="Tahoma" panose="020B0604030504040204" pitchFamily="34" charset="0"/>
              </a:rPr>
              <a:t>    }</a:t>
            </a:r>
          </a:p>
          <a:p>
            <a:r>
              <a:rPr lang="en-US" altLang="zh-CN">
                <a:latin typeface="Tahoma" panose="020B0604030504040204" pitchFamily="34" charset="0"/>
              </a:rPr>
              <a:t>}</a:t>
            </a:r>
            <a:endParaRPr lang="en-US" altLang="zh-CN" dirty="0">
              <a:latin typeface="Tahoma" panose="020B0604030504040204" pitchFamily="34" charset="0"/>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8837" name="矩形 248836"/>
          <p:cNvSpPr/>
          <p:nvPr>
            <p:custDataLst>
              <p:tags r:id="rId1"/>
            </p:custDataLst>
          </p:nvPr>
        </p:nvSpPr>
        <p:spPr>
          <a:xfrm>
            <a:off x="767398" y="621030"/>
            <a:ext cx="4321175" cy="5859463"/>
          </a:xfrm>
          <a:prstGeom prst="rect">
            <a:avLst/>
          </a:prstGeom>
          <a:noFill/>
          <a:ln w="25400">
            <a:solidFill>
              <a:srgbClr val="FF0000"/>
            </a:solidFill>
          </a:ln>
        </p:spPr>
        <p:txBody>
          <a:bodyPr>
            <a:spAutoFit/>
          </a:bodyPr>
          <a:lstStyle/>
          <a:p>
            <a:r>
              <a:rPr lang="en-US" altLang="zh-CN">
                <a:latin typeface="Tahoma" panose="020B0604030504040204" pitchFamily="34" charset="0"/>
              </a:rPr>
              <a:t>class </a:t>
            </a:r>
            <a:r>
              <a:rPr lang="en-US" altLang="zh-CN" err="1">
                <a:latin typeface="Tahoma" panose="020B0604030504040204" pitchFamily="34" charset="0"/>
              </a:rPr>
              <a:t>ClockTimer</a:t>
            </a:r>
            <a:r>
              <a:rPr lang="en-US" altLang="zh-CN">
                <a:latin typeface="Tahoma" panose="020B0604030504040204" pitchFamily="34" charset="0"/>
              </a:rPr>
              <a:t> : public Subject {</a:t>
            </a:r>
          </a:p>
          <a:p>
            <a:r>
              <a:rPr lang="en-US" altLang="zh-CN">
                <a:latin typeface="Tahoma" panose="020B0604030504040204" pitchFamily="34" charset="0"/>
              </a:rPr>
              <a:t>public:</a:t>
            </a:r>
          </a:p>
          <a:p>
            <a:r>
              <a:rPr lang="en-US" altLang="zh-CN">
                <a:latin typeface="Tahoma" panose="020B0604030504040204" pitchFamily="34" charset="0"/>
              </a:rPr>
              <a:t>    </a:t>
            </a:r>
            <a:r>
              <a:rPr lang="en-US" altLang="zh-CN" err="1">
                <a:latin typeface="Tahoma" panose="020B0604030504040204" pitchFamily="34" charset="0"/>
              </a:rPr>
              <a:t>ClockTimer</a:t>
            </a:r>
            <a:r>
              <a:rPr lang="en-US" altLang="zh-CN">
                <a:latin typeface="Tahoma" panose="020B0604030504040204" pitchFamily="34" charset="0"/>
              </a:rPr>
              <a:t>();</a:t>
            </a:r>
          </a:p>
          <a:p>
            <a:endParaRPr lang="en-US" altLang="zh-CN">
              <a:latin typeface="Tahoma" panose="020B0604030504040204" pitchFamily="34" charset="0"/>
            </a:endParaRPr>
          </a:p>
          <a:p>
            <a:r>
              <a:rPr lang="en-US" altLang="zh-CN">
                <a:latin typeface="Tahoma" panose="020B0604030504040204" pitchFamily="34" charset="0"/>
              </a:rPr>
              <a:t>    virtual </a:t>
            </a:r>
            <a:r>
              <a:rPr lang="en-US" altLang="zh-CN" err="1">
                <a:latin typeface="Tahoma" panose="020B0604030504040204" pitchFamily="34" charset="0"/>
              </a:rPr>
              <a:t>int</a:t>
            </a:r>
            <a:r>
              <a:rPr lang="en-US" altLang="zh-CN">
                <a:latin typeface="Tahoma" panose="020B0604030504040204" pitchFamily="34" charset="0"/>
              </a:rPr>
              <a:t> </a:t>
            </a:r>
            <a:r>
              <a:rPr lang="en-US" altLang="zh-CN" err="1">
                <a:latin typeface="Tahoma" panose="020B0604030504040204" pitchFamily="34" charset="0"/>
              </a:rPr>
              <a:t>GetHour</a:t>
            </a:r>
            <a:r>
              <a:rPr lang="en-US" altLang="zh-CN">
                <a:latin typeface="Tahoma" panose="020B0604030504040204" pitchFamily="34" charset="0"/>
              </a:rPr>
              <a:t>();</a:t>
            </a:r>
          </a:p>
          <a:p>
            <a:r>
              <a:rPr lang="en-US" altLang="zh-CN">
                <a:latin typeface="Tahoma" panose="020B0604030504040204" pitchFamily="34" charset="0"/>
              </a:rPr>
              <a:t>    virtual </a:t>
            </a:r>
            <a:r>
              <a:rPr lang="en-US" altLang="zh-CN" err="1">
                <a:latin typeface="Tahoma" panose="020B0604030504040204" pitchFamily="34" charset="0"/>
              </a:rPr>
              <a:t>int</a:t>
            </a:r>
            <a:r>
              <a:rPr lang="en-US" altLang="zh-CN">
                <a:latin typeface="Tahoma" panose="020B0604030504040204" pitchFamily="34" charset="0"/>
              </a:rPr>
              <a:t> </a:t>
            </a:r>
            <a:r>
              <a:rPr lang="en-US" altLang="zh-CN" err="1">
                <a:latin typeface="Tahoma" panose="020B0604030504040204" pitchFamily="34" charset="0"/>
              </a:rPr>
              <a:t>GetMinute</a:t>
            </a:r>
            <a:r>
              <a:rPr lang="en-US" altLang="zh-CN">
                <a:latin typeface="Tahoma" panose="020B0604030504040204" pitchFamily="34" charset="0"/>
              </a:rPr>
              <a:t>();</a:t>
            </a:r>
          </a:p>
          <a:p>
            <a:r>
              <a:rPr lang="en-US" altLang="zh-CN">
                <a:latin typeface="Tahoma" panose="020B0604030504040204" pitchFamily="34" charset="0"/>
              </a:rPr>
              <a:t>    virtual </a:t>
            </a:r>
            <a:r>
              <a:rPr lang="en-US" altLang="zh-CN" err="1">
                <a:latin typeface="Tahoma" panose="020B0604030504040204" pitchFamily="34" charset="0"/>
              </a:rPr>
              <a:t>int</a:t>
            </a:r>
            <a:r>
              <a:rPr lang="en-US" altLang="zh-CN">
                <a:latin typeface="Tahoma" panose="020B0604030504040204" pitchFamily="34" charset="0"/>
              </a:rPr>
              <a:t> </a:t>
            </a:r>
            <a:r>
              <a:rPr lang="en-US" altLang="zh-CN" err="1">
                <a:latin typeface="Tahoma" panose="020B0604030504040204" pitchFamily="34" charset="0"/>
              </a:rPr>
              <a:t>GetSecond</a:t>
            </a:r>
            <a:r>
              <a:rPr lang="en-US" altLang="zh-CN">
                <a:latin typeface="Tahoma" panose="020B0604030504040204" pitchFamily="34" charset="0"/>
              </a:rPr>
              <a:t>();</a:t>
            </a:r>
          </a:p>
          <a:p>
            <a:endParaRPr lang="en-US" altLang="zh-CN">
              <a:latin typeface="Tahoma" panose="020B0604030504040204" pitchFamily="34" charset="0"/>
            </a:endParaRPr>
          </a:p>
          <a:p>
            <a:r>
              <a:rPr lang="en-US" altLang="zh-CN">
                <a:latin typeface="Tahoma" panose="020B0604030504040204" pitchFamily="34" charset="0"/>
              </a:rPr>
              <a:t>    void Tick();</a:t>
            </a:r>
          </a:p>
          <a:p>
            <a:r>
              <a:rPr lang="en-US" altLang="zh-CN">
                <a:latin typeface="Tahoma" panose="020B0604030504040204" pitchFamily="34" charset="0"/>
              </a:rPr>
              <a:t>};</a:t>
            </a:r>
          </a:p>
          <a:p>
            <a:endParaRPr lang="en-US" altLang="zh-CN">
              <a:latin typeface="Tahoma" panose="020B0604030504040204" pitchFamily="34" charset="0"/>
            </a:endParaRPr>
          </a:p>
          <a:p>
            <a:r>
              <a:rPr lang="en-US" altLang="zh-CN">
                <a:latin typeface="Tahoma" panose="020B0604030504040204" pitchFamily="34" charset="0"/>
              </a:rPr>
              <a:t>void </a:t>
            </a:r>
            <a:r>
              <a:rPr lang="en-US" altLang="zh-CN" err="1">
                <a:latin typeface="Tahoma" panose="020B0604030504040204" pitchFamily="34" charset="0"/>
              </a:rPr>
              <a:t>ClockTimer::Tick</a:t>
            </a:r>
            <a:r>
              <a:rPr lang="en-US" altLang="zh-CN">
                <a:latin typeface="Tahoma" panose="020B0604030504040204" pitchFamily="34" charset="0"/>
              </a:rPr>
              <a:t> () {</a:t>
            </a:r>
          </a:p>
          <a:p>
            <a:r>
              <a:rPr lang="en-US" altLang="zh-CN">
                <a:latin typeface="Tahoma" panose="020B0604030504040204" pitchFamily="34" charset="0"/>
              </a:rPr>
              <a:t>    // update internal time-keeping state</a:t>
            </a:r>
          </a:p>
          <a:p>
            <a:r>
              <a:rPr lang="en-US" altLang="zh-CN">
                <a:latin typeface="Tahoma" panose="020B0604030504040204" pitchFamily="34" charset="0"/>
              </a:rPr>
              <a:t>    // ...</a:t>
            </a:r>
          </a:p>
          <a:p>
            <a:r>
              <a:rPr lang="en-US" altLang="zh-CN">
                <a:latin typeface="Tahoma" panose="020B0604030504040204" pitchFamily="34" charset="0"/>
              </a:rPr>
              <a:t>    Notify();</a:t>
            </a:r>
          </a:p>
          <a:p>
            <a:r>
              <a:rPr lang="en-US" altLang="zh-CN">
                <a:latin typeface="Tahoma" panose="020B0604030504040204" pitchFamily="34" charset="0"/>
              </a:rPr>
              <a:t>}</a:t>
            </a:r>
          </a:p>
          <a:p>
            <a:endParaRPr lang="en-US" altLang="zh-CN">
              <a:latin typeface="Tahoma" panose="020B0604030504040204" pitchFamily="34" charset="0"/>
            </a:endParaRPr>
          </a:p>
          <a:p>
            <a:r>
              <a:rPr lang="en-US" altLang="zh-CN">
                <a:latin typeface="Tahoma" panose="020B0604030504040204" pitchFamily="34" charset="0"/>
              </a:rPr>
              <a:t>class Widget {</a:t>
            </a:r>
          </a:p>
          <a:p>
            <a:r>
              <a:rPr lang="en-US" altLang="zh-CN">
                <a:latin typeface="Tahoma" panose="020B0604030504040204" pitchFamily="34" charset="0"/>
              </a:rPr>
              <a:t>public:</a:t>
            </a:r>
          </a:p>
          <a:p>
            <a:r>
              <a:rPr lang="en-US" altLang="zh-CN">
                <a:latin typeface="Tahoma" panose="020B0604030504040204" pitchFamily="34" charset="0"/>
              </a:rPr>
              <a:t>    virtual void Draw();</a:t>
            </a:r>
          </a:p>
          <a:p>
            <a:r>
              <a:rPr lang="en-US" altLang="zh-CN">
                <a:latin typeface="Tahoma" panose="020B0604030504040204" pitchFamily="34" charset="0"/>
              </a:rPr>
              <a:t>};</a:t>
            </a:r>
            <a:endParaRPr lang="en-US" altLang="zh-CN" dirty="0">
              <a:latin typeface="Tahoma" panose="020B0604030504040204" pitchFamily="34"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9860" name="矩形 249859"/>
          <p:cNvSpPr/>
          <p:nvPr>
            <p:custDataLst>
              <p:tags r:id="rId1"/>
            </p:custDataLst>
          </p:nvPr>
        </p:nvSpPr>
        <p:spPr>
          <a:xfrm>
            <a:off x="179388" y="88900"/>
            <a:ext cx="8388350" cy="6683375"/>
          </a:xfrm>
          <a:prstGeom prst="rect">
            <a:avLst/>
          </a:prstGeom>
          <a:noFill/>
          <a:ln w="25400">
            <a:solidFill>
              <a:srgbClr val="FF0000"/>
            </a:solidFill>
          </a:ln>
        </p:spPr>
        <p:txBody>
          <a:bodyPr>
            <a:spAutoFit/>
          </a:bodyPr>
          <a:lstStyle/>
          <a:p>
            <a:r>
              <a:rPr lang="en-US" altLang="zh-CN">
                <a:latin typeface="Tahoma" panose="020B0604030504040204" pitchFamily="34" charset="0"/>
              </a:rPr>
              <a:t>class </a:t>
            </a:r>
            <a:r>
              <a:rPr lang="en-US" altLang="zh-CN" err="1">
                <a:latin typeface="Tahoma" panose="020B0604030504040204" pitchFamily="34" charset="0"/>
              </a:rPr>
              <a:t>DigitalClock</a:t>
            </a:r>
            <a:r>
              <a:rPr lang="en-US" altLang="zh-CN">
                <a:latin typeface="Tahoma" panose="020B0604030504040204" pitchFamily="34" charset="0"/>
              </a:rPr>
              <a:t>: public Widget, public Observer {</a:t>
            </a:r>
          </a:p>
          <a:p>
            <a:r>
              <a:rPr lang="en-US" altLang="zh-CN">
                <a:latin typeface="Tahoma" panose="020B0604030504040204" pitchFamily="34" charset="0"/>
              </a:rPr>
              <a:t>public:</a:t>
            </a:r>
          </a:p>
          <a:p>
            <a:r>
              <a:rPr lang="en-US" altLang="zh-CN">
                <a:latin typeface="Tahoma" panose="020B0604030504040204" pitchFamily="34" charset="0"/>
              </a:rPr>
              <a:t>    </a:t>
            </a:r>
            <a:r>
              <a:rPr lang="en-US" altLang="zh-CN" err="1">
                <a:latin typeface="Tahoma" panose="020B0604030504040204" pitchFamily="34" charset="0"/>
              </a:rPr>
              <a:t>DigitalClock(ClockTimer</a:t>
            </a:r>
            <a:r>
              <a:rPr lang="en-US" altLang="zh-CN">
                <a:latin typeface="Tahoma" panose="020B0604030504040204" pitchFamily="34" charset="0"/>
              </a:rPr>
              <a:t>*);</a:t>
            </a:r>
          </a:p>
          <a:p>
            <a:r>
              <a:rPr lang="en-US" altLang="zh-CN">
                <a:latin typeface="Tahoma" panose="020B0604030504040204" pitchFamily="34" charset="0"/>
              </a:rPr>
              <a:t>    virtual ~</a:t>
            </a:r>
            <a:r>
              <a:rPr lang="en-US" altLang="zh-CN" err="1">
                <a:latin typeface="Tahoma" panose="020B0604030504040204" pitchFamily="34" charset="0"/>
              </a:rPr>
              <a:t>DigitalClock</a:t>
            </a:r>
            <a:r>
              <a:rPr lang="en-US" altLang="zh-CN">
                <a:latin typeface="Tahoma" panose="020B0604030504040204" pitchFamily="34" charset="0"/>
              </a:rPr>
              <a:t>();</a:t>
            </a:r>
          </a:p>
          <a:p>
            <a:r>
              <a:rPr lang="en-US" altLang="zh-CN">
                <a:latin typeface="Tahoma" panose="020B0604030504040204" pitchFamily="34" charset="0"/>
              </a:rPr>
              <a:t>    virtual void </a:t>
            </a:r>
            <a:r>
              <a:rPr lang="en-US" altLang="zh-CN" err="1">
                <a:latin typeface="Tahoma" panose="020B0604030504040204" pitchFamily="34" charset="0"/>
              </a:rPr>
              <a:t>Update(Subject</a:t>
            </a:r>
            <a:r>
              <a:rPr lang="en-US" altLang="zh-CN">
                <a:latin typeface="Tahoma" panose="020B0604030504040204" pitchFamily="34" charset="0"/>
              </a:rPr>
              <a:t>*);</a:t>
            </a:r>
          </a:p>
          <a:p>
            <a:r>
              <a:rPr lang="en-US" altLang="zh-CN">
                <a:latin typeface="Tahoma" panose="020B0604030504040204" pitchFamily="34" charset="0"/>
              </a:rPr>
              <a:t>        // overrides Observer operation</a:t>
            </a:r>
          </a:p>
          <a:p>
            <a:r>
              <a:rPr lang="en-US" altLang="zh-CN">
                <a:latin typeface="Tahoma" panose="020B0604030504040204" pitchFamily="34" charset="0"/>
              </a:rPr>
              <a:t>    virtual void Draw();</a:t>
            </a:r>
          </a:p>
          <a:p>
            <a:r>
              <a:rPr lang="en-US" altLang="zh-CN">
                <a:latin typeface="Tahoma" panose="020B0604030504040204" pitchFamily="34" charset="0"/>
              </a:rPr>
              <a:t>        // overrides Widget operation;</a:t>
            </a:r>
          </a:p>
          <a:p>
            <a:r>
              <a:rPr lang="en-US" altLang="zh-CN">
                <a:latin typeface="Tahoma" panose="020B0604030504040204" pitchFamily="34" charset="0"/>
              </a:rPr>
              <a:t>        // defines how to draw the digital clock</a:t>
            </a:r>
          </a:p>
          <a:p>
            <a:r>
              <a:rPr lang="en-US" altLang="zh-CN">
                <a:latin typeface="Tahoma" panose="020B0604030504040204" pitchFamily="34" charset="0"/>
              </a:rPr>
              <a:t>private:</a:t>
            </a:r>
          </a:p>
          <a:p>
            <a:r>
              <a:rPr lang="en-US" altLang="zh-CN">
                <a:latin typeface="Tahoma" panose="020B0604030504040204" pitchFamily="34" charset="0"/>
              </a:rPr>
              <a:t>    </a:t>
            </a:r>
            <a:r>
              <a:rPr lang="en-US" altLang="zh-CN" err="1">
                <a:latin typeface="Tahoma" panose="020B0604030504040204" pitchFamily="34" charset="0"/>
              </a:rPr>
              <a:t>ClockTimer</a:t>
            </a:r>
            <a:r>
              <a:rPr lang="en-US" altLang="zh-CN">
                <a:latin typeface="Tahoma" panose="020B0604030504040204" pitchFamily="34" charset="0"/>
              </a:rPr>
              <a:t>* _subject;</a:t>
            </a:r>
          </a:p>
          <a:p>
            <a:r>
              <a:rPr lang="en-US" altLang="zh-CN">
                <a:latin typeface="Tahoma" panose="020B0604030504040204" pitchFamily="34" charset="0"/>
              </a:rPr>
              <a:t>};</a:t>
            </a:r>
          </a:p>
          <a:p>
            <a:r>
              <a:rPr lang="en-US" altLang="zh-CN" err="1">
                <a:latin typeface="Tahoma" panose="020B0604030504040204" pitchFamily="34" charset="0"/>
              </a:rPr>
              <a:t>DigitalClock::DigitalClock</a:t>
            </a:r>
            <a:r>
              <a:rPr lang="en-US" altLang="zh-CN">
                <a:latin typeface="Tahoma" panose="020B0604030504040204" pitchFamily="34" charset="0"/>
              </a:rPr>
              <a:t> (</a:t>
            </a:r>
            <a:r>
              <a:rPr lang="en-US" altLang="zh-CN" err="1">
                <a:latin typeface="Tahoma" panose="020B0604030504040204" pitchFamily="34" charset="0"/>
              </a:rPr>
              <a:t>ClockTimer</a:t>
            </a:r>
            <a:r>
              <a:rPr lang="en-US" altLang="zh-CN">
                <a:latin typeface="Tahoma" panose="020B0604030504040204" pitchFamily="34" charset="0"/>
              </a:rPr>
              <a:t>* s) {</a:t>
            </a:r>
          </a:p>
          <a:p>
            <a:r>
              <a:rPr lang="en-US" altLang="zh-CN">
                <a:latin typeface="Tahoma" panose="020B0604030504040204" pitchFamily="34" charset="0"/>
              </a:rPr>
              <a:t>    _subject = s;</a:t>
            </a:r>
          </a:p>
          <a:p>
            <a:r>
              <a:rPr lang="en-US" altLang="zh-CN">
                <a:latin typeface="Tahoma" panose="020B0604030504040204" pitchFamily="34" charset="0"/>
              </a:rPr>
              <a:t>    _subject-&gt;</a:t>
            </a:r>
            <a:r>
              <a:rPr lang="en-US" altLang="zh-CN" err="1">
                <a:latin typeface="Tahoma" panose="020B0604030504040204" pitchFamily="34" charset="0"/>
              </a:rPr>
              <a:t>Attach(this</a:t>
            </a:r>
            <a:r>
              <a:rPr lang="en-US" altLang="zh-CN">
                <a:latin typeface="Tahoma" panose="020B0604030504040204" pitchFamily="34" charset="0"/>
              </a:rPr>
              <a:t>);</a:t>
            </a:r>
          </a:p>
          <a:p>
            <a:r>
              <a:rPr lang="en-US" altLang="zh-CN">
                <a:latin typeface="Tahoma" panose="020B0604030504040204" pitchFamily="34" charset="0"/>
              </a:rPr>
              <a:t>}</a:t>
            </a:r>
          </a:p>
          <a:p>
            <a:r>
              <a:rPr lang="en-US" altLang="zh-CN" err="1">
                <a:latin typeface="Tahoma" panose="020B0604030504040204" pitchFamily="34" charset="0"/>
              </a:rPr>
              <a:t>DigitalClock::~DigitalClock</a:t>
            </a:r>
            <a:r>
              <a:rPr lang="en-US" altLang="zh-CN">
                <a:latin typeface="Tahoma" panose="020B0604030504040204" pitchFamily="34" charset="0"/>
              </a:rPr>
              <a:t> () {</a:t>
            </a:r>
          </a:p>
          <a:p>
            <a:r>
              <a:rPr lang="en-US" altLang="zh-CN">
                <a:latin typeface="Tahoma" panose="020B0604030504040204" pitchFamily="34" charset="0"/>
              </a:rPr>
              <a:t>    _subject-&gt;</a:t>
            </a:r>
            <a:r>
              <a:rPr lang="en-US" altLang="zh-CN" err="1">
                <a:latin typeface="Tahoma" panose="020B0604030504040204" pitchFamily="34" charset="0"/>
              </a:rPr>
              <a:t>Detach(this</a:t>
            </a:r>
            <a:r>
              <a:rPr lang="en-US" altLang="zh-CN">
                <a:latin typeface="Tahoma" panose="020B0604030504040204" pitchFamily="34" charset="0"/>
              </a:rPr>
              <a:t>);</a:t>
            </a:r>
          </a:p>
          <a:p>
            <a:r>
              <a:rPr lang="en-US" altLang="zh-CN">
                <a:latin typeface="Tahoma" panose="020B0604030504040204" pitchFamily="34" charset="0"/>
              </a:rPr>
              <a:t>}</a:t>
            </a:r>
          </a:p>
          <a:p>
            <a:r>
              <a:rPr lang="en-US" altLang="zh-CN">
                <a:latin typeface="Tahoma" panose="020B0604030504040204" pitchFamily="34" charset="0"/>
              </a:rPr>
              <a:t>void </a:t>
            </a:r>
            <a:r>
              <a:rPr lang="en-US" altLang="zh-CN" err="1">
                <a:latin typeface="Tahoma" panose="020B0604030504040204" pitchFamily="34" charset="0"/>
              </a:rPr>
              <a:t>DigitalClock::Update</a:t>
            </a:r>
            <a:r>
              <a:rPr lang="en-US" altLang="zh-CN">
                <a:latin typeface="Tahoma" panose="020B0604030504040204" pitchFamily="34" charset="0"/>
              </a:rPr>
              <a:t> (Subject* </a:t>
            </a:r>
            <a:r>
              <a:rPr lang="en-US" altLang="zh-CN" err="1">
                <a:latin typeface="Tahoma" panose="020B0604030504040204" pitchFamily="34" charset="0"/>
              </a:rPr>
              <a:t>theChangedSubject</a:t>
            </a:r>
            <a:r>
              <a:rPr lang="en-US" altLang="zh-CN">
                <a:latin typeface="Tahoma" panose="020B0604030504040204" pitchFamily="34" charset="0"/>
              </a:rPr>
              <a:t>) {</a:t>
            </a:r>
          </a:p>
          <a:p>
            <a:r>
              <a:rPr lang="en-US" altLang="zh-CN">
                <a:latin typeface="Tahoma" panose="020B0604030504040204" pitchFamily="34" charset="0"/>
              </a:rPr>
              <a:t>    if (</a:t>
            </a:r>
            <a:r>
              <a:rPr lang="en-US" altLang="zh-CN" err="1">
                <a:latin typeface="Tahoma" panose="020B0604030504040204" pitchFamily="34" charset="0"/>
              </a:rPr>
              <a:t>theChangedSubject</a:t>
            </a:r>
            <a:r>
              <a:rPr lang="en-US" altLang="zh-CN">
                <a:latin typeface="Tahoma" panose="020B0604030504040204" pitchFamily="34" charset="0"/>
              </a:rPr>
              <a:t> == _subject) {</a:t>
            </a:r>
          </a:p>
          <a:p>
            <a:r>
              <a:rPr lang="en-US" altLang="zh-CN">
                <a:latin typeface="Tahoma" panose="020B0604030504040204" pitchFamily="34" charset="0"/>
              </a:rPr>
              <a:t>        Draw();</a:t>
            </a:r>
          </a:p>
          <a:p>
            <a:r>
              <a:rPr lang="en-US" altLang="zh-CN">
                <a:latin typeface="Tahoma" panose="020B0604030504040204" pitchFamily="34" charset="0"/>
              </a:rPr>
              <a:t>    }</a:t>
            </a:r>
          </a:p>
          <a:p>
            <a:r>
              <a:rPr lang="en-US" altLang="zh-CN">
                <a:latin typeface="Tahoma" panose="020B0604030504040204" pitchFamily="34" charset="0"/>
              </a:rPr>
              <a:t>}</a:t>
            </a:r>
            <a:endParaRPr lang="en-US" altLang="zh-CN" dirty="0">
              <a:latin typeface="Tahoma" panose="020B0604030504040204" pitchFamily="34"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0884" name="矩形 250883"/>
          <p:cNvSpPr/>
          <p:nvPr>
            <p:custDataLst>
              <p:tags r:id="rId1"/>
            </p:custDataLst>
          </p:nvPr>
        </p:nvSpPr>
        <p:spPr>
          <a:xfrm>
            <a:off x="323850" y="188913"/>
            <a:ext cx="8243888" cy="6272212"/>
          </a:xfrm>
          <a:prstGeom prst="rect">
            <a:avLst/>
          </a:prstGeom>
          <a:noFill/>
          <a:ln w="28575">
            <a:solidFill>
              <a:srgbClr val="FF0000"/>
            </a:solidFill>
          </a:ln>
        </p:spPr>
        <p:txBody>
          <a:bodyPr>
            <a:spAutoFit/>
          </a:bodyPr>
          <a:lstStyle/>
          <a:p>
            <a:r>
              <a:rPr lang="en-US" altLang="zh-CN">
                <a:latin typeface="Tahoma" panose="020B0604030504040204" pitchFamily="34" charset="0"/>
              </a:rPr>
              <a:t>void </a:t>
            </a:r>
            <a:r>
              <a:rPr lang="en-US" altLang="zh-CN" err="1">
                <a:latin typeface="Tahoma" panose="020B0604030504040204" pitchFamily="34" charset="0"/>
              </a:rPr>
              <a:t>DigitalClock::Draw</a:t>
            </a:r>
            <a:r>
              <a:rPr lang="en-US" altLang="zh-CN">
                <a:latin typeface="Tahoma" panose="020B0604030504040204" pitchFamily="34" charset="0"/>
              </a:rPr>
              <a:t> () {</a:t>
            </a:r>
          </a:p>
          <a:p>
            <a:r>
              <a:rPr lang="en-US" altLang="zh-CN">
                <a:latin typeface="Tahoma" panose="020B0604030504040204" pitchFamily="34" charset="0"/>
              </a:rPr>
              <a:t>    // get the new values from the subject</a:t>
            </a:r>
          </a:p>
          <a:p>
            <a:endParaRPr lang="en-US" altLang="zh-CN">
              <a:latin typeface="Tahoma" panose="020B0604030504040204" pitchFamily="34" charset="0"/>
            </a:endParaRPr>
          </a:p>
          <a:p>
            <a:r>
              <a:rPr lang="en-US" altLang="zh-CN">
                <a:latin typeface="Tahoma" panose="020B0604030504040204" pitchFamily="34" charset="0"/>
              </a:rPr>
              <a:t>    </a:t>
            </a:r>
            <a:r>
              <a:rPr lang="en-US" altLang="zh-CN" err="1">
                <a:latin typeface="Tahoma" panose="020B0604030504040204" pitchFamily="34" charset="0"/>
              </a:rPr>
              <a:t>int</a:t>
            </a:r>
            <a:r>
              <a:rPr lang="en-US" altLang="zh-CN">
                <a:latin typeface="Tahoma" panose="020B0604030504040204" pitchFamily="34" charset="0"/>
              </a:rPr>
              <a:t> hour = _subject-&gt;</a:t>
            </a:r>
            <a:r>
              <a:rPr lang="en-US" altLang="zh-CN" err="1">
                <a:latin typeface="Tahoma" panose="020B0604030504040204" pitchFamily="34" charset="0"/>
              </a:rPr>
              <a:t>GetHour</a:t>
            </a:r>
            <a:r>
              <a:rPr lang="en-US" altLang="zh-CN">
                <a:latin typeface="Tahoma" panose="020B0604030504040204" pitchFamily="34" charset="0"/>
              </a:rPr>
              <a:t>();</a:t>
            </a:r>
          </a:p>
          <a:p>
            <a:r>
              <a:rPr lang="en-US" altLang="zh-CN">
                <a:latin typeface="Tahoma" panose="020B0604030504040204" pitchFamily="34" charset="0"/>
              </a:rPr>
              <a:t>    </a:t>
            </a:r>
            <a:r>
              <a:rPr lang="en-US" altLang="zh-CN" err="1">
                <a:latin typeface="Tahoma" panose="020B0604030504040204" pitchFamily="34" charset="0"/>
              </a:rPr>
              <a:t>int</a:t>
            </a:r>
            <a:r>
              <a:rPr lang="en-US" altLang="zh-CN">
                <a:latin typeface="Tahoma" panose="020B0604030504040204" pitchFamily="34" charset="0"/>
              </a:rPr>
              <a:t> minute = _subject-&gt;</a:t>
            </a:r>
            <a:r>
              <a:rPr lang="en-US" altLang="zh-CN" err="1">
                <a:latin typeface="Tahoma" panose="020B0604030504040204" pitchFamily="34" charset="0"/>
              </a:rPr>
              <a:t>GetMinute</a:t>
            </a:r>
            <a:r>
              <a:rPr lang="en-US" altLang="zh-CN">
                <a:latin typeface="Tahoma" panose="020B0604030504040204" pitchFamily="34" charset="0"/>
              </a:rPr>
              <a:t>();</a:t>
            </a:r>
          </a:p>
          <a:p>
            <a:r>
              <a:rPr lang="en-US" altLang="zh-CN">
                <a:latin typeface="Tahoma" panose="020B0604030504040204" pitchFamily="34" charset="0"/>
              </a:rPr>
              <a:t>    // etc.</a:t>
            </a:r>
          </a:p>
          <a:p>
            <a:endParaRPr lang="en-US" altLang="zh-CN">
              <a:latin typeface="Tahoma" panose="020B0604030504040204" pitchFamily="34" charset="0"/>
            </a:endParaRPr>
          </a:p>
          <a:p>
            <a:r>
              <a:rPr lang="en-US" altLang="zh-CN">
                <a:latin typeface="Tahoma" panose="020B0604030504040204" pitchFamily="34" charset="0"/>
              </a:rPr>
              <a:t>    // draw the digital clock</a:t>
            </a:r>
          </a:p>
          <a:p>
            <a:r>
              <a:rPr lang="en-US" altLang="zh-CN">
                <a:latin typeface="Tahoma" panose="020B0604030504040204" pitchFamily="34" charset="0"/>
              </a:rPr>
              <a:t>}</a:t>
            </a:r>
          </a:p>
          <a:p>
            <a:endParaRPr lang="en-US" altLang="zh-CN">
              <a:latin typeface="Tahoma" panose="020B0604030504040204" pitchFamily="34" charset="0"/>
            </a:endParaRPr>
          </a:p>
          <a:p>
            <a:r>
              <a:rPr lang="en-US" altLang="zh-CN">
                <a:latin typeface="Tahoma" panose="020B0604030504040204" pitchFamily="34" charset="0"/>
              </a:rPr>
              <a:t>class </a:t>
            </a:r>
            <a:r>
              <a:rPr lang="en-US" altLang="zh-CN" err="1">
                <a:latin typeface="Tahoma" panose="020B0604030504040204" pitchFamily="34" charset="0"/>
              </a:rPr>
              <a:t>AnalogClock</a:t>
            </a:r>
            <a:r>
              <a:rPr lang="en-US" altLang="zh-CN">
                <a:latin typeface="Tahoma" panose="020B0604030504040204" pitchFamily="34" charset="0"/>
              </a:rPr>
              <a:t> : public Widget, public Observer {</a:t>
            </a:r>
          </a:p>
          <a:p>
            <a:r>
              <a:rPr lang="en-US" altLang="zh-CN">
                <a:latin typeface="Tahoma" panose="020B0604030504040204" pitchFamily="34" charset="0"/>
              </a:rPr>
              <a:t>public:</a:t>
            </a:r>
          </a:p>
          <a:p>
            <a:r>
              <a:rPr lang="en-US" altLang="zh-CN">
                <a:latin typeface="Tahoma" panose="020B0604030504040204" pitchFamily="34" charset="0"/>
              </a:rPr>
              <a:t>    </a:t>
            </a:r>
            <a:r>
              <a:rPr lang="en-US" altLang="zh-CN" err="1">
                <a:latin typeface="Tahoma" panose="020B0604030504040204" pitchFamily="34" charset="0"/>
              </a:rPr>
              <a:t>AnalogClock(ClockTimer</a:t>
            </a:r>
            <a:r>
              <a:rPr lang="en-US" altLang="zh-CN">
                <a:latin typeface="Tahoma" panose="020B0604030504040204" pitchFamily="34" charset="0"/>
              </a:rPr>
              <a:t>*);</a:t>
            </a:r>
          </a:p>
          <a:p>
            <a:r>
              <a:rPr lang="en-US" altLang="zh-CN">
                <a:latin typeface="Tahoma" panose="020B0604030504040204" pitchFamily="34" charset="0"/>
              </a:rPr>
              <a:t>    virtual void </a:t>
            </a:r>
            <a:r>
              <a:rPr lang="en-US" altLang="zh-CN" err="1">
                <a:latin typeface="Tahoma" panose="020B0604030504040204" pitchFamily="34" charset="0"/>
              </a:rPr>
              <a:t>Update(Subject</a:t>
            </a:r>
            <a:r>
              <a:rPr lang="en-US" altLang="zh-CN">
                <a:latin typeface="Tahoma" panose="020B0604030504040204" pitchFamily="34" charset="0"/>
              </a:rPr>
              <a:t>*);</a:t>
            </a:r>
          </a:p>
          <a:p>
            <a:r>
              <a:rPr lang="en-US" altLang="zh-CN">
                <a:latin typeface="Tahoma" panose="020B0604030504040204" pitchFamily="34" charset="0"/>
              </a:rPr>
              <a:t>    virtual void Draw();</a:t>
            </a:r>
          </a:p>
          <a:p>
            <a:r>
              <a:rPr lang="en-US" altLang="zh-CN">
                <a:latin typeface="Tahoma" panose="020B0604030504040204" pitchFamily="34" charset="0"/>
              </a:rPr>
              <a:t>    // ...</a:t>
            </a:r>
          </a:p>
          <a:p>
            <a:r>
              <a:rPr lang="en-US" altLang="zh-CN">
                <a:latin typeface="Tahoma" panose="020B0604030504040204" pitchFamily="34" charset="0"/>
              </a:rPr>
              <a:t>};</a:t>
            </a:r>
          </a:p>
          <a:p>
            <a:endParaRPr lang="en-US" altLang="zh-CN">
              <a:latin typeface="Tahoma" panose="020B0604030504040204" pitchFamily="34" charset="0"/>
            </a:endParaRPr>
          </a:p>
          <a:p>
            <a:r>
              <a:rPr lang="en-US" altLang="zh-CN" err="1">
                <a:latin typeface="Tahoma" panose="020B0604030504040204" pitchFamily="34" charset="0"/>
              </a:rPr>
              <a:t>ClockTimer</a:t>
            </a:r>
            <a:r>
              <a:rPr lang="en-US" altLang="zh-CN">
                <a:latin typeface="Tahoma" panose="020B0604030504040204" pitchFamily="34" charset="0"/>
              </a:rPr>
              <a:t>* timer = new </a:t>
            </a:r>
            <a:r>
              <a:rPr lang="en-US" altLang="zh-CN" err="1">
                <a:latin typeface="Tahoma" panose="020B0604030504040204" pitchFamily="34" charset="0"/>
              </a:rPr>
              <a:t>ClockTimer</a:t>
            </a:r>
            <a:r>
              <a:rPr lang="en-US" altLang="zh-CN">
                <a:latin typeface="Tahoma" panose="020B0604030504040204" pitchFamily="34" charset="0"/>
              </a:rPr>
              <a:t>;</a:t>
            </a:r>
          </a:p>
          <a:p>
            <a:r>
              <a:rPr lang="en-US" altLang="zh-CN" err="1">
                <a:latin typeface="Tahoma" panose="020B0604030504040204" pitchFamily="34" charset="0"/>
              </a:rPr>
              <a:t>AnalogClock</a:t>
            </a:r>
            <a:r>
              <a:rPr lang="en-US" altLang="zh-CN">
                <a:latin typeface="Tahoma" panose="020B0604030504040204" pitchFamily="34" charset="0"/>
              </a:rPr>
              <a:t>* </a:t>
            </a:r>
            <a:r>
              <a:rPr lang="en-US" altLang="zh-CN" err="1">
                <a:latin typeface="Tahoma" panose="020B0604030504040204" pitchFamily="34" charset="0"/>
              </a:rPr>
              <a:t>analogClock</a:t>
            </a:r>
            <a:r>
              <a:rPr lang="en-US" altLang="zh-CN">
                <a:latin typeface="Tahoma" panose="020B0604030504040204" pitchFamily="34" charset="0"/>
              </a:rPr>
              <a:t> = new </a:t>
            </a:r>
            <a:r>
              <a:rPr lang="en-US" altLang="zh-CN" err="1">
                <a:latin typeface="Tahoma" panose="020B0604030504040204" pitchFamily="34" charset="0"/>
              </a:rPr>
              <a:t>AnalogClock(timer</a:t>
            </a:r>
            <a:r>
              <a:rPr lang="en-US" altLang="zh-CN">
                <a:latin typeface="Tahoma" panose="020B0604030504040204" pitchFamily="34" charset="0"/>
              </a:rPr>
              <a:t>);</a:t>
            </a:r>
          </a:p>
          <a:p>
            <a:r>
              <a:rPr lang="en-US" altLang="zh-CN" err="1">
                <a:latin typeface="Tahoma" panose="020B0604030504040204" pitchFamily="34" charset="0"/>
              </a:rPr>
              <a:t>DigitalClock</a:t>
            </a:r>
            <a:r>
              <a:rPr lang="en-US" altLang="zh-CN">
                <a:latin typeface="Tahoma" panose="020B0604030504040204" pitchFamily="34" charset="0"/>
              </a:rPr>
              <a:t>* </a:t>
            </a:r>
            <a:r>
              <a:rPr lang="en-US" altLang="zh-CN" err="1">
                <a:latin typeface="Tahoma" panose="020B0604030504040204" pitchFamily="34" charset="0"/>
              </a:rPr>
              <a:t>digitalClock</a:t>
            </a:r>
            <a:r>
              <a:rPr lang="en-US" altLang="zh-CN">
                <a:latin typeface="Tahoma" panose="020B0604030504040204" pitchFamily="34" charset="0"/>
              </a:rPr>
              <a:t> = new </a:t>
            </a:r>
            <a:r>
              <a:rPr lang="en-US" altLang="zh-CN" err="1">
                <a:latin typeface="Tahoma" panose="020B0604030504040204" pitchFamily="34" charset="0"/>
              </a:rPr>
              <a:t>DigitalClock(timer</a:t>
            </a:r>
            <a:r>
              <a:rPr lang="en-US" altLang="zh-CN">
                <a:latin typeface="Tahoma" panose="020B0604030504040204" pitchFamily="34" charset="0"/>
              </a:rPr>
              <a:t>);</a:t>
            </a:r>
          </a:p>
          <a:p>
            <a:pPr>
              <a:spcBef>
                <a:spcPct val="50000"/>
              </a:spcBef>
            </a:pPr>
            <a:endParaRPr lang="en-US" altLang="zh-CN">
              <a:latin typeface="Tahoma" panose="020B0604030504040204" pitchFamily="34"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5.4.2  MVC</a:t>
            </a:r>
            <a:r>
              <a:rPr lang="zh-CN" altLang="en-US" dirty="0"/>
              <a:t>设计模式</a:t>
            </a:r>
          </a:p>
        </p:txBody>
      </p:sp>
      <p:grpSp>
        <p:nvGrpSpPr>
          <p:cNvPr id="3" name="组合 2"/>
          <p:cNvGrpSpPr/>
          <p:nvPr/>
        </p:nvGrpSpPr>
        <p:grpSpPr>
          <a:xfrm>
            <a:off x="4008120" y="4436745"/>
            <a:ext cx="6400800" cy="2368550"/>
            <a:chOff x="3111" y="7070"/>
            <a:chExt cx="10080" cy="3730"/>
          </a:xfrm>
        </p:grpSpPr>
        <p:sp>
          <p:nvSpPr>
            <p:cNvPr id="689155" name="文本框 689154"/>
            <p:cNvSpPr txBox="1"/>
            <p:nvPr>
              <p:custDataLst>
                <p:tags r:id="rId35"/>
              </p:custDataLst>
            </p:nvPr>
          </p:nvSpPr>
          <p:spPr>
            <a:xfrm>
              <a:off x="3519" y="7162"/>
              <a:ext cx="1715" cy="581"/>
            </a:xfrm>
            <a:prstGeom prst="rect">
              <a:avLst/>
            </a:prstGeom>
            <a:noFill/>
            <a:ln w="9525" cap="flat" cmpd="sng">
              <a:solidFill>
                <a:schemeClr val="tx1"/>
              </a:solidFill>
              <a:prstDash val="solid"/>
              <a:miter/>
              <a:headEnd type="none" w="med" len="med"/>
              <a:tailEnd type="none" w="med" len="med"/>
            </a:ln>
          </p:spPr>
          <p:txBody>
            <a:bodyPr lIns="0" tIns="0" rIns="0" bIns="0">
              <a:spAutoFit/>
            </a:bodyPr>
            <a:lstStyle/>
            <a:p>
              <a:pPr>
                <a:spcBef>
                  <a:spcPct val="50000"/>
                </a:spcBef>
              </a:pPr>
              <a:r>
                <a:rPr lang="en-US" altLang="zh-CN" sz="2400" b="1" dirty="0">
                  <a:latin typeface="Times New Roman" panose="02020503050405090304" pitchFamily="18" charset="0"/>
                  <a:ea typeface="微软简魏碑" pitchFamily="2" charset="-122"/>
                </a:rPr>
                <a:t>Model</a:t>
              </a:r>
            </a:p>
          </p:txBody>
        </p:sp>
        <p:sp>
          <p:nvSpPr>
            <p:cNvPr id="689156" name="文本框 689155"/>
            <p:cNvSpPr txBox="1"/>
            <p:nvPr>
              <p:custDataLst>
                <p:tags r:id="rId36"/>
              </p:custDataLst>
            </p:nvPr>
          </p:nvSpPr>
          <p:spPr>
            <a:xfrm>
              <a:off x="11026" y="7172"/>
              <a:ext cx="1715" cy="581"/>
            </a:xfrm>
            <a:prstGeom prst="rect">
              <a:avLst/>
            </a:prstGeom>
            <a:noFill/>
            <a:ln w="9525" cap="flat" cmpd="sng">
              <a:solidFill>
                <a:schemeClr val="tx1"/>
              </a:solidFill>
              <a:prstDash val="solid"/>
              <a:miter/>
              <a:headEnd type="none" w="med" len="med"/>
              <a:tailEnd type="none" w="med" len="med"/>
            </a:ln>
          </p:spPr>
          <p:txBody>
            <a:bodyPr lIns="0" tIns="0" rIns="0" bIns="0">
              <a:spAutoFit/>
            </a:bodyPr>
            <a:lstStyle/>
            <a:p>
              <a:pPr>
                <a:spcBef>
                  <a:spcPct val="50000"/>
                </a:spcBef>
              </a:pPr>
              <a:r>
                <a:rPr lang="en-US" altLang="zh-CN" sz="2400" b="1" dirty="0">
                  <a:latin typeface="Times New Roman" panose="02020503050405090304" pitchFamily="18" charset="0"/>
                  <a:ea typeface="微软简魏碑" pitchFamily="2" charset="-122"/>
                </a:rPr>
                <a:t>View</a:t>
              </a:r>
            </a:p>
          </p:txBody>
        </p:sp>
        <p:sp>
          <p:nvSpPr>
            <p:cNvPr id="689157" name="文本框 689156"/>
            <p:cNvSpPr txBox="1"/>
            <p:nvPr>
              <p:custDataLst>
                <p:tags r:id="rId37"/>
              </p:custDataLst>
            </p:nvPr>
          </p:nvSpPr>
          <p:spPr>
            <a:xfrm>
              <a:off x="6994" y="7185"/>
              <a:ext cx="1715" cy="581"/>
            </a:xfrm>
            <a:prstGeom prst="rect">
              <a:avLst/>
            </a:prstGeom>
            <a:noFill/>
            <a:ln w="9525" cap="flat" cmpd="sng">
              <a:solidFill>
                <a:schemeClr val="tx1"/>
              </a:solidFill>
              <a:prstDash val="solid"/>
              <a:miter/>
              <a:headEnd type="none" w="med" len="med"/>
              <a:tailEnd type="none" w="med" len="med"/>
            </a:ln>
          </p:spPr>
          <p:txBody>
            <a:bodyPr lIns="0" tIns="0" rIns="0" bIns="0">
              <a:spAutoFit/>
            </a:bodyPr>
            <a:lstStyle/>
            <a:p>
              <a:pPr>
                <a:spcBef>
                  <a:spcPct val="50000"/>
                </a:spcBef>
              </a:pPr>
              <a:r>
                <a:rPr lang="en-US" altLang="zh-CN" sz="2400" b="1" dirty="0">
                  <a:latin typeface="Times New Roman" panose="02020503050405090304" pitchFamily="18" charset="0"/>
                  <a:ea typeface="微软简魏碑" pitchFamily="2" charset="-122"/>
                </a:rPr>
                <a:t>Control</a:t>
              </a:r>
            </a:p>
          </p:txBody>
        </p:sp>
        <p:sp>
          <p:nvSpPr>
            <p:cNvPr id="689158" name="直接连接符 689157"/>
            <p:cNvSpPr/>
            <p:nvPr>
              <p:custDataLst>
                <p:tags r:id="rId38"/>
              </p:custDataLst>
            </p:nvPr>
          </p:nvSpPr>
          <p:spPr>
            <a:xfrm>
              <a:off x="5256" y="7482"/>
              <a:ext cx="1783" cy="0"/>
            </a:xfrm>
            <a:prstGeom prst="line">
              <a:avLst/>
            </a:prstGeom>
            <a:ln w="9525" cap="flat" cmpd="sng">
              <a:solidFill>
                <a:schemeClr val="tx1"/>
              </a:solidFill>
              <a:prstDash val="solid"/>
              <a:headEnd type="none" w="med" len="med"/>
              <a:tailEnd type="none" w="med" len="med"/>
            </a:ln>
          </p:spPr>
        </p:sp>
        <p:sp>
          <p:nvSpPr>
            <p:cNvPr id="689159" name="直接连接符 689158"/>
            <p:cNvSpPr/>
            <p:nvPr>
              <p:custDataLst>
                <p:tags r:id="rId39"/>
              </p:custDataLst>
            </p:nvPr>
          </p:nvSpPr>
          <p:spPr>
            <a:xfrm>
              <a:off x="8764" y="7472"/>
              <a:ext cx="2263" cy="2"/>
            </a:xfrm>
            <a:prstGeom prst="line">
              <a:avLst/>
            </a:prstGeom>
            <a:ln w="9525" cap="flat" cmpd="sng">
              <a:solidFill>
                <a:schemeClr val="tx1"/>
              </a:solidFill>
              <a:prstDash val="solid"/>
              <a:headEnd type="none" w="med" len="med"/>
              <a:tailEnd type="none" w="med" len="med"/>
            </a:ln>
          </p:spPr>
        </p:sp>
        <p:sp>
          <p:nvSpPr>
            <p:cNvPr id="689161" name="文本框 689160"/>
            <p:cNvSpPr txBox="1"/>
            <p:nvPr>
              <p:custDataLst>
                <p:tags r:id="rId40"/>
              </p:custDataLst>
            </p:nvPr>
          </p:nvSpPr>
          <p:spPr>
            <a:xfrm>
              <a:off x="5371" y="7070"/>
              <a:ext cx="458" cy="432"/>
            </a:xfrm>
            <a:prstGeom prst="rect">
              <a:avLst/>
            </a:prstGeom>
            <a:noFill/>
            <a:ln w="9525">
              <a:noFill/>
            </a:ln>
          </p:spPr>
          <p:txBody>
            <a:bodyPr lIns="0" tIns="0" rIns="0" bIns="0">
              <a:spAutoFit/>
            </a:bodyPr>
            <a:lstStyle/>
            <a:p>
              <a:pPr>
                <a:spcBef>
                  <a:spcPct val="50000"/>
                </a:spcBef>
              </a:pPr>
              <a:r>
                <a:rPr lang="en-US" altLang="zh-CN" sz="1800">
                  <a:latin typeface="Times New Roman" panose="02020503050405090304" pitchFamily="18" charset="0"/>
                  <a:ea typeface="微软简魏碑" pitchFamily="2" charset="-122"/>
                </a:rPr>
                <a:t>1</a:t>
              </a:r>
            </a:p>
          </p:txBody>
        </p:sp>
        <p:sp>
          <p:nvSpPr>
            <p:cNvPr id="689162" name="文本框 689161"/>
            <p:cNvSpPr txBox="1"/>
            <p:nvPr>
              <p:custDataLst>
                <p:tags r:id="rId41"/>
              </p:custDataLst>
            </p:nvPr>
          </p:nvSpPr>
          <p:spPr>
            <a:xfrm>
              <a:off x="6434" y="7105"/>
              <a:ext cx="458" cy="432"/>
            </a:xfrm>
            <a:prstGeom prst="rect">
              <a:avLst/>
            </a:prstGeom>
            <a:noFill/>
            <a:ln w="9525">
              <a:noFill/>
            </a:ln>
          </p:spPr>
          <p:txBody>
            <a:bodyPr lIns="0" tIns="0" rIns="0" bIns="0">
              <a:spAutoFit/>
            </a:bodyPr>
            <a:lstStyle/>
            <a:p>
              <a:pPr>
                <a:spcBef>
                  <a:spcPct val="50000"/>
                </a:spcBef>
              </a:pPr>
              <a:r>
                <a:rPr lang="en-US" altLang="zh-CN" sz="1800">
                  <a:latin typeface="Times New Roman" panose="02020503050405090304" pitchFamily="18" charset="0"/>
                  <a:ea typeface="微软简魏碑" pitchFamily="2" charset="-122"/>
                </a:rPr>
                <a:t>1</a:t>
              </a:r>
            </a:p>
          </p:txBody>
        </p:sp>
        <p:sp>
          <p:nvSpPr>
            <p:cNvPr id="689163" name="文本框 689162"/>
            <p:cNvSpPr txBox="1"/>
            <p:nvPr>
              <p:custDataLst>
                <p:tags r:id="rId42"/>
              </p:custDataLst>
            </p:nvPr>
          </p:nvSpPr>
          <p:spPr>
            <a:xfrm>
              <a:off x="8811" y="7105"/>
              <a:ext cx="458" cy="432"/>
            </a:xfrm>
            <a:prstGeom prst="rect">
              <a:avLst/>
            </a:prstGeom>
            <a:noFill/>
            <a:ln w="9525">
              <a:noFill/>
            </a:ln>
          </p:spPr>
          <p:txBody>
            <a:bodyPr lIns="0" tIns="0" rIns="0" bIns="0">
              <a:spAutoFit/>
            </a:bodyPr>
            <a:lstStyle/>
            <a:p>
              <a:pPr>
                <a:spcBef>
                  <a:spcPct val="50000"/>
                </a:spcBef>
              </a:pPr>
              <a:r>
                <a:rPr lang="en-US" altLang="zh-CN" sz="1800">
                  <a:latin typeface="Times New Roman" panose="02020503050405090304" pitchFamily="18" charset="0"/>
                  <a:ea typeface="微软简魏碑" pitchFamily="2" charset="-122"/>
                </a:rPr>
                <a:t>1</a:t>
              </a:r>
            </a:p>
          </p:txBody>
        </p:sp>
        <p:sp>
          <p:nvSpPr>
            <p:cNvPr id="689164" name="文本框 689163"/>
            <p:cNvSpPr txBox="1"/>
            <p:nvPr>
              <p:custDataLst>
                <p:tags r:id="rId43"/>
              </p:custDataLst>
            </p:nvPr>
          </p:nvSpPr>
          <p:spPr>
            <a:xfrm>
              <a:off x="10139" y="7080"/>
              <a:ext cx="845" cy="432"/>
            </a:xfrm>
            <a:prstGeom prst="rect">
              <a:avLst/>
            </a:prstGeom>
            <a:noFill/>
            <a:ln w="9525">
              <a:noFill/>
            </a:ln>
          </p:spPr>
          <p:txBody>
            <a:bodyPr lIns="0" tIns="0" rIns="0" bIns="0">
              <a:spAutoFit/>
            </a:bodyPr>
            <a:lstStyle/>
            <a:p>
              <a:pPr>
                <a:spcBef>
                  <a:spcPct val="50000"/>
                </a:spcBef>
              </a:pPr>
              <a:r>
                <a:rPr lang="en-US" altLang="zh-CN" sz="1800">
                  <a:latin typeface="Times New Roman" panose="02020503050405090304" pitchFamily="18" charset="0"/>
                  <a:ea typeface="微软简魏碑" pitchFamily="2" charset="-122"/>
                </a:rPr>
                <a:t>1..*</a:t>
              </a:r>
            </a:p>
          </p:txBody>
        </p:sp>
        <p:sp>
          <p:nvSpPr>
            <p:cNvPr id="689165" name="折角形 689164"/>
            <p:cNvSpPr/>
            <p:nvPr>
              <p:custDataLst>
                <p:tags r:id="rId44"/>
              </p:custDataLst>
            </p:nvPr>
          </p:nvSpPr>
          <p:spPr>
            <a:xfrm flipV="1">
              <a:off x="3111" y="8908"/>
              <a:ext cx="2280" cy="872"/>
            </a:xfrm>
            <a:prstGeom prst="foldedCorner">
              <a:avLst>
                <a:gd name="adj" fmla="val 12500"/>
              </a:avLst>
            </a:prstGeom>
            <a:noFill/>
            <a:ln w="9525" cap="flat" cmpd="sng">
              <a:solidFill>
                <a:schemeClr val="tx1"/>
              </a:solidFill>
              <a:prstDash val="solid"/>
              <a:headEnd type="none" w="med" len="med"/>
              <a:tailEnd type="none" w="med" len="med"/>
            </a:ln>
          </p:spPr>
          <p:txBody>
            <a:bodyPr rot="10800000" lIns="0" tIns="0" rIns="0" bIns="0" anchor="ctr" anchorCtr="0">
              <a:spAutoFit/>
            </a:bodyPr>
            <a:lstStyle/>
            <a:p>
              <a:pPr algn="ctr"/>
              <a:r>
                <a:rPr lang="zh-CN" altLang="en-US" sz="1600" dirty="0">
                  <a:latin typeface="Times New Roman" panose="02020503050405090304" pitchFamily="18" charset="0"/>
                  <a:ea typeface="微软简魏碑" pitchFamily="2" charset="-122"/>
                </a:rPr>
                <a:t>有变化时，向管理者发布事件。</a:t>
              </a:r>
              <a:endParaRPr lang="zh-CN" altLang="en-US" sz="1600">
                <a:latin typeface="Times New Roman" panose="02020503050405090304" pitchFamily="18" charset="0"/>
                <a:ea typeface="微软简魏碑" pitchFamily="2" charset="-122"/>
              </a:endParaRPr>
            </a:p>
          </p:txBody>
        </p:sp>
        <p:sp>
          <p:nvSpPr>
            <p:cNvPr id="689166" name="折角形 689165"/>
            <p:cNvSpPr/>
            <p:nvPr>
              <p:custDataLst>
                <p:tags r:id="rId45"/>
              </p:custDataLst>
            </p:nvPr>
          </p:nvSpPr>
          <p:spPr>
            <a:xfrm flipV="1">
              <a:off x="6714" y="8640"/>
              <a:ext cx="2280" cy="2160"/>
            </a:xfrm>
            <a:prstGeom prst="foldedCorner">
              <a:avLst>
                <a:gd name="adj" fmla="val 12500"/>
              </a:avLst>
            </a:prstGeom>
            <a:noFill/>
            <a:ln w="9525" cap="flat" cmpd="sng">
              <a:solidFill>
                <a:schemeClr val="tx1"/>
              </a:solidFill>
              <a:prstDash val="solid"/>
              <a:headEnd type="none" w="med" len="med"/>
              <a:tailEnd type="none" w="med" len="med"/>
            </a:ln>
          </p:spPr>
          <p:txBody>
            <a:bodyPr rot="10800000" lIns="0" tIns="0" rIns="0" bIns="0" anchor="ctr" anchorCtr="0">
              <a:spAutoFit/>
            </a:bodyPr>
            <a:lstStyle/>
            <a:p>
              <a:pPr algn="ctr"/>
              <a:r>
                <a:rPr lang="zh-CN" altLang="en-US" sz="1600" dirty="0">
                  <a:latin typeface="Times New Roman" panose="02020503050405090304" pitchFamily="18" charset="0"/>
                  <a:ea typeface="微软简魏碑" pitchFamily="2" charset="-122"/>
                </a:rPr>
                <a:t>维护出版者和订阅者间的映射，把出版者发布信息，利用参数通知给订阅者。</a:t>
              </a:r>
              <a:endParaRPr lang="zh-CN" altLang="en-US" sz="1600">
                <a:latin typeface="Times New Roman" panose="02020503050405090304" pitchFamily="18" charset="0"/>
                <a:ea typeface="微软简魏碑" pitchFamily="2" charset="-122"/>
              </a:endParaRPr>
            </a:p>
          </p:txBody>
        </p:sp>
        <p:sp>
          <p:nvSpPr>
            <p:cNvPr id="689167" name="折角形 689166"/>
            <p:cNvSpPr/>
            <p:nvPr>
              <p:custDataLst>
                <p:tags r:id="rId46"/>
              </p:custDataLst>
            </p:nvPr>
          </p:nvSpPr>
          <p:spPr>
            <a:xfrm flipV="1">
              <a:off x="10911" y="8835"/>
              <a:ext cx="2280" cy="872"/>
            </a:xfrm>
            <a:prstGeom prst="foldedCorner">
              <a:avLst>
                <a:gd name="adj" fmla="val 12500"/>
              </a:avLst>
            </a:prstGeom>
            <a:noFill/>
            <a:ln w="9525" cap="flat" cmpd="sng">
              <a:solidFill>
                <a:schemeClr val="tx1"/>
              </a:solidFill>
              <a:prstDash val="solid"/>
              <a:headEnd type="none" w="med" len="med"/>
              <a:tailEnd type="none" w="med" len="med"/>
            </a:ln>
          </p:spPr>
          <p:txBody>
            <a:bodyPr rot="10800000" lIns="0" tIns="0" rIns="0" bIns="0" anchor="ctr" anchorCtr="0">
              <a:spAutoFit/>
            </a:bodyPr>
            <a:lstStyle/>
            <a:p>
              <a:r>
                <a:rPr lang="zh-CN" altLang="en-US" sz="1600" dirty="0">
                  <a:latin typeface="Times New Roman" panose="02020503050405090304" pitchFamily="18" charset="0"/>
                  <a:ea typeface="微软简魏碑" pitchFamily="2" charset="-122"/>
                </a:rPr>
                <a:t>向管理者订阅事件。</a:t>
              </a:r>
              <a:endParaRPr lang="zh-CN" altLang="en-US" sz="1600">
                <a:latin typeface="Times New Roman" panose="02020503050405090304" pitchFamily="18" charset="0"/>
                <a:ea typeface="微软简魏碑" pitchFamily="2" charset="-122"/>
              </a:endParaRPr>
            </a:p>
          </p:txBody>
        </p:sp>
        <p:sp>
          <p:nvSpPr>
            <p:cNvPr id="689168" name="直接连接符 689167"/>
            <p:cNvSpPr/>
            <p:nvPr>
              <p:custDataLst>
                <p:tags r:id="rId47"/>
              </p:custDataLst>
            </p:nvPr>
          </p:nvSpPr>
          <p:spPr>
            <a:xfrm flipV="1">
              <a:off x="4191" y="7770"/>
              <a:ext cx="458" cy="1143"/>
            </a:xfrm>
            <a:prstGeom prst="line">
              <a:avLst/>
            </a:prstGeom>
            <a:ln w="9525" cap="flat" cmpd="sng">
              <a:solidFill>
                <a:schemeClr val="tx1"/>
              </a:solidFill>
              <a:prstDash val="dash"/>
              <a:headEnd type="none" w="med" len="med"/>
              <a:tailEnd type="none" w="med" len="med"/>
            </a:ln>
          </p:spPr>
        </p:sp>
        <p:sp>
          <p:nvSpPr>
            <p:cNvPr id="689169" name="直接连接符 689168"/>
            <p:cNvSpPr/>
            <p:nvPr>
              <p:custDataLst>
                <p:tags r:id="rId48"/>
              </p:custDataLst>
            </p:nvPr>
          </p:nvSpPr>
          <p:spPr>
            <a:xfrm flipV="1">
              <a:off x="7841" y="7771"/>
              <a:ext cx="1" cy="999"/>
            </a:xfrm>
            <a:prstGeom prst="line">
              <a:avLst/>
            </a:prstGeom>
            <a:ln w="9525" cap="flat" cmpd="sng">
              <a:solidFill>
                <a:schemeClr val="tx1"/>
              </a:solidFill>
              <a:prstDash val="dash"/>
              <a:headEnd type="none" w="med" len="med"/>
              <a:tailEnd type="none" w="med" len="med"/>
            </a:ln>
          </p:spPr>
        </p:sp>
        <p:sp>
          <p:nvSpPr>
            <p:cNvPr id="689170" name="直接连接符 689169"/>
            <p:cNvSpPr/>
            <p:nvPr>
              <p:custDataLst>
                <p:tags r:id="rId49"/>
              </p:custDataLst>
            </p:nvPr>
          </p:nvSpPr>
          <p:spPr>
            <a:xfrm flipH="1" flipV="1">
              <a:off x="11767" y="7741"/>
              <a:ext cx="537" cy="1101"/>
            </a:xfrm>
            <a:prstGeom prst="line">
              <a:avLst/>
            </a:prstGeom>
            <a:ln w="9525" cap="flat" cmpd="sng">
              <a:solidFill>
                <a:schemeClr val="tx1"/>
              </a:solidFill>
              <a:prstDash val="dash"/>
              <a:headEnd type="none" w="med" len="med"/>
              <a:tailEnd type="none" w="med" len="med"/>
            </a:ln>
          </p:spPr>
        </p:sp>
      </p:grpSp>
      <p:grpSp>
        <p:nvGrpSpPr>
          <p:cNvPr id="5" name="组合 4"/>
          <p:cNvGrpSpPr/>
          <p:nvPr/>
        </p:nvGrpSpPr>
        <p:grpSpPr>
          <a:xfrm>
            <a:off x="5808345" y="1916430"/>
            <a:ext cx="5657850" cy="2284095"/>
            <a:chOff x="6568" y="2861"/>
            <a:chExt cx="8910" cy="3597"/>
          </a:xfrm>
        </p:grpSpPr>
        <p:graphicFrame>
          <p:nvGraphicFramePr>
            <p:cNvPr id="689171" name="对象 689170"/>
            <p:cNvGraphicFramePr/>
            <p:nvPr>
              <p:custDataLst>
                <p:tags r:id="rId8"/>
              </p:custDataLst>
            </p:nvPr>
          </p:nvGraphicFramePr>
          <p:xfrm>
            <a:off x="8353" y="2888"/>
            <a:ext cx="2165" cy="1101"/>
          </p:xfrm>
          <a:graphic>
            <a:graphicData uri="http://schemas.openxmlformats.org/presentationml/2006/ole">
              <mc:AlternateContent xmlns:mc="http://schemas.openxmlformats.org/markup-compatibility/2006">
                <mc:Choice xmlns:v="urn:schemas-microsoft-com:vml" Requires="v">
                  <p:oleObj r:id="rId51" imgW="7225030" imgH="4820285" progId="MSGraph.Chart.8">
                    <p:embed/>
                  </p:oleObj>
                </mc:Choice>
                <mc:Fallback>
                  <p:oleObj r:id="rId51" imgW="7225030" imgH="4820285" progId="MSGraph.Chart.8">
                    <p:embed/>
                    <p:pic>
                      <p:nvPicPr>
                        <p:cNvPr id="0" name="图片 3075"/>
                        <p:cNvPicPr/>
                        <p:nvPr/>
                      </p:nvPicPr>
                      <p:blipFill>
                        <a:blip r:embed="rId52"/>
                        <a:stretch>
                          <a:fillRect/>
                        </a:stretch>
                      </p:blipFill>
                      <p:spPr>
                        <a:xfrm>
                          <a:off x="8353" y="2888"/>
                          <a:ext cx="2165" cy="1101"/>
                        </a:xfrm>
                        <a:prstGeom prst="rect">
                          <a:avLst/>
                        </a:prstGeom>
                        <a:noFill/>
                        <a:ln w="38100">
                          <a:noFill/>
                          <a:miter/>
                        </a:ln>
                      </p:spPr>
                    </p:pic>
                  </p:oleObj>
                </mc:Fallback>
              </mc:AlternateContent>
            </a:graphicData>
          </a:graphic>
        </p:graphicFrame>
        <p:sp>
          <p:nvSpPr>
            <p:cNvPr id="689173" name="矩形 689172"/>
            <p:cNvSpPr/>
            <p:nvPr>
              <p:custDataLst>
                <p:tags r:id="rId9"/>
              </p:custDataLst>
            </p:nvPr>
          </p:nvSpPr>
          <p:spPr>
            <a:xfrm>
              <a:off x="12833" y="3423"/>
              <a:ext cx="40" cy="512"/>
            </a:xfrm>
            <a:prstGeom prst="rect">
              <a:avLst/>
            </a:prstGeom>
            <a:noFill/>
            <a:ln w="9525">
              <a:noFill/>
            </a:ln>
          </p:spPr>
          <p:txBody>
            <a:bodyPr lIns="0" tIns="0" rIns="0" bIns="0"/>
            <a:lstStyle>
              <a:lvl1pPr marL="342900" lvl="0" indent="-342900" algn="l" defTabSz="914400" rtl="0" eaLnBrk="0" fontAlgn="base" latinLnBrk="0" hangingPunct="0">
                <a:lnSpc>
                  <a:spcPct val="100000"/>
                </a:lnSpc>
                <a:spcBef>
                  <a:spcPct val="20000"/>
                </a:spcBef>
                <a:spcAft>
                  <a:spcPct val="0"/>
                </a:spcAft>
                <a:buClrTx/>
                <a:buSzPct val="100000"/>
                <a:buFontTx/>
                <a:buChar char="•"/>
                <a:defRPr sz="2800" u="none" kern="1200" baseline="0">
                  <a:solidFill>
                    <a:schemeClr val="tx1"/>
                  </a:solidFill>
                  <a:latin typeface="Times New Roman" panose="02020503050405090304" pitchFamily="18" charset="0"/>
                  <a:ea typeface="宋体" pitchFamily="2" charset="-122"/>
                </a:defRPr>
              </a:lvl1pPr>
              <a:lvl2pPr marL="742950" lvl="1" indent="-285750" algn="l" defTabSz="914400" rtl="0" eaLnBrk="0" fontAlgn="base" latinLnBrk="0" hangingPunct="0">
                <a:lnSpc>
                  <a:spcPct val="100000"/>
                </a:lnSpc>
                <a:spcBef>
                  <a:spcPct val="20000"/>
                </a:spcBef>
                <a:spcAft>
                  <a:spcPct val="0"/>
                </a:spcAft>
                <a:buClrTx/>
                <a:buSzPct val="100000"/>
                <a:buFontTx/>
                <a:buChar char="–"/>
                <a:defRPr sz="2400" b="0" i="0" u="none" kern="1200" baseline="0">
                  <a:solidFill>
                    <a:schemeClr val="tx1"/>
                  </a:solidFill>
                  <a:latin typeface="Times New Roman" panose="02020503050405090304" pitchFamily="18" charset="0"/>
                  <a:ea typeface="宋体" pitchFamily="2" charset="-122"/>
                </a:defRPr>
              </a:lvl2pPr>
              <a:lvl3pPr marL="1143000" lvl="2" indent="-228600" algn="l" defTabSz="914400" rtl="0" eaLnBrk="0" fontAlgn="base" latinLnBrk="0" hangingPunct="0">
                <a:lnSpc>
                  <a:spcPct val="100000"/>
                </a:lnSpc>
                <a:spcBef>
                  <a:spcPct val="20000"/>
                </a:spcBef>
                <a:spcAft>
                  <a:spcPct val="0"/>
                </a:spcAft>
                <a:buClrTx/>
                <a:buSzPct val="100000"/>
                <a:buFontTx/>
                <a:buChar char="•"/>
                <a:defRPr sz="2000" b="0" i="0" u="none" kern="1200" baseline="0">
                  <a:solidFill>
                    <a:schemeClr val="tx1"/>
                  </a:solidFill>
                  <a:latin typeface="Times New Roman" panose="02020503050405090304" pitchFamily="18" charset="0"/>
                  <a:ea typeface="宋体" pitchFamily="2" charset="-122"/>
                </a:defRPr>
              </a:lvl3pPr>
              <a:lvl4pPr marL="1600200" lvl="3" indent="-228600" algn="l" defTabSz="914400" rtl="0" eaLnBrk="0" fontAlgn="base" latinLnBrk="0" hangingPunct="0">
                <a:lnSpc>
                  <a:spcPct val="100000"/>
                </a:lnSpc>
                <a:spcBef>
                  <a:spcPct val="20000"/>
                </a:spcBef>
                <a:spcAft>
                  <a:spcPct val="0"/>
                </a:spcAft>
                <a:buClrTx/>
                <a:buSzPct val="100000"/>
                <a:buFontTx/>
                <a:buChar char="–"/>
                <a:defRPr sz="1800" b="0" i="0" u="none" kern="1200" baseline="0">
                  <a:solidFill>
                    <a:schemeClr val="tx1"/>
                  </a:solidFill>
                  <a:latin typeface="Times New Roman" panose="02020503050405090304" pitchFamily="18" charset="0"/>
                  <a:ea typeface="宋体" pitchFamily="2" charset="-122"/>
                </a:defRPr>
              </a:lvl4pPr>
              <a:lvl5pPr marL="2057400" lvl="4" indent="-228600" algn="l" defTabSz="914400" rtl="0" eaLnBrk="0" fontAlgn="base" latinLnBrk="0" hangingPunct="0">
                <a:lnSpc>
                  <a:spcPct val="100000"/>
                </a:lnSpc>
                <a:spcBef>
                  <a:spcPct val="20000"/>
                </a:spcBef>
                <a:spcAft>
                  <a:spcPct val="0"/>
                </a:spcAft>
                <a:buClrTx/>
                <a:buSzPct val="100000"/>
                <a:buFontTx/>
                <a:buChar char="•"/>
                <a:defRPr sz="1800" b="0" i="0" u="none" kern="1200" baseline="0">
                  <a:solidFill>
                    <a:schemeClr val="tx1"/>
                  </a:solidFill>
                  <a:latin typeface="Times New Roman" panose="02020503050405090304" pitchFamily="18" charset="0"/>
                  <a:ea typeface="宋体" pitchFamily="2" charset="-122"/>
                </a:defRPr>
              </a:lvl5pPr>
            </a:lstStyle>
            <a:p>
              <a:pPr marL="0" lvl="0" indent="0">
                <a:buNone/>
              </a:pPr>
              <a:endParaRPr dirty="0"/>
            </a:p>
          </p:txBody>
        </p:sp>
        <p:sp>
          <p:nvSpPr>
            <p:cNvPr id="689174" name="矩形 689173"/>
            <p:cNvSpPr/>
            <p:nvPr>
              <p:custDataLst>
                <p:tags r:id="rId10"/>
              </p:custDataLst>
            </p:nvPr>
          </p:nvSpPr>
          <p:spPr>
            <a:xfrm>
              <a:off x="12086" y="3423"/>
              <a:ext cx="748" cy="512"/>
            </a:xfrm>
            <a:prstGeom prst="rect">
              <a:avLst/>
            </a:prstGeom>
            <a:noFill/>
            <a:ln w="9525">
              <a:noFill/>
            </a:ln>
          </p:spPr>
          <p:txBody>
            <a:bodyPr lIns="0" tIns="0" rIns="0" bIns="0"/>
            <a:lstStyle>
              <a:lvl1pPr marL="342900" lvl="0" indent="-342900" algn="l" defTabSz="914400" rtl="0" eaLnBrk="0" fontAlgn="base" latinLnBrk="0" hangingPunct="0">
                <a:lnSpc>
                  <a:spcPct val="100000"/>
                </a:lnSpc>
                <a:spcBef>
                  <a:spcPct val="20000"/>
                </a:spcBef>
                <a:spcAft>
                  <a:spcPct val="0"/>
                </a:spcAft>
                <a:buClrTx/>
                <a:buSzPct val="100000"/>
                <a:buFontTx/>
                <a:buChar char="•"/>
                <a:defRPr sz="2800" u="none" kern="1200" baseline="0">
                  <a:solidFill>
                    <a:schemeClr val="tx1"/>
                  </a:solidFill>
                  <a:latin typeface="Times New Roman" panose="02020503050405090304" pitchFamily="18" charset="0"/>
                  <a:ea typeface="宋体" pitchFamily="2" charset="-122"/>
                </a:defRPr>
              </a:lvl1pPr>
              <a:lvl2pPr marL="742950" lvl="1" indent="-285750" algn="l" defTabSz="914400" rtl="0" eaLnBrk="0" fontAlgn="base" latinLnBrk="0" hangingPunct="0">
                <a:lnSpc>
                  <a:spcPct val="100000"/>
                </a:lnSpc>
                <a:spcBef>
                  <a:spcPct val="20000"/>
                </a:spcBef>
                <a:spcAft>
                  <a:spcPct val="0"/>
                </a:spcAft>
                <a:buClrTx/>
                <a:buSzPct val="100000"/>
                <a:buFontTx/>
                <a:buChar char="–"/>
                <a:defRPr sz="2400" b="0" i="0" u="none" kern="1200" baseline="0">
                  <a:solidFill>
                    <a:schemeClr val="tx1"/>
                  </a:solidFill>
                  <a:latin typeface="Times New Roman" panose="02020503050405090304" pitchFamily="18" charset="0"/>
                  <a:ea typeface="宋体" pitchFamily="2" charset="-122"/>
                </a:defRPr>
              </a:lvl2pPr>
              <a:lvl3pPr marL="1143000" lvl="2" indent="-228600" algn="l" defTabSz="914400" rtl="0" eaLnBrk="0" fontAlgn="base" latinLnBrk="0" hangingPunct="0">
                <a:lnSpc>
                  <a:spcPct val="100000"/>
                </a:lnSpc>
                <a:spcBef>
                  <a:spcPct val="20000"/>
                </a:spcBef>
                <a:spcAft>
                  <a:spcPct val="0"/>
                </a:spcAft>
                <a:buClrTx/>
                <a:buSzPct val="100000"/>
                <a:buFontTx/>
                <a:buChar char="•"/>
                <a:defRPr sz="2000" b="0" i="0" u="none" kern="1200" baseline="0">
                  <a:solidFill>
                    <a:schemeClr val="tx1"/>
                  </a:solidFill>
                  <a:latin typeface="Times New Roman" panose="02020503050405090304" pitchFamily="18" charset="0"/>
                  <a:ea typeface="宋体" pitchFamily="2" charset="-122"/>
                </a:defRPr>
              </a:lvl3pPr>
              <a:lvl4pPr marL="1600200" lvl="3" indent="-228600" algn="l" defTabSz="914400" rtl="0" eaLnBrk="0" fontAlgn="base" latinLnBrk="0" hangingPunct="0">
                <a:lnSpc>
                  <a:spcPct val="100000"/>
                </a:lnSpc>
                <a:spcBef>
                  <a:spcPct val="20000"/>
                </a:spcBef>
                <a:spcAft>
                  <a:spcPct val="0"/>
                </a:spcAft>
                <a:buClrTx/>
                <a:buSzPct val="100000"/>
                <a:buFontTx/>
                <a:buChar char="–"/>
                <a:defRPr sz="1800" b="0" i="0" u="none" kern="1200" baseline="0">
                  <a:solidFill>
                    <a:schemeClr val="tx1"/>
                  </a:solidFill>
                  <a:latin typeface="Times New Roman" panose="02020503050405090304" pitchFamily="18" charset="0"/>
                  <a:ea typeface="宋体" pitchFamily="2" charset="-122"/>
                </a:defRPr>
              </a:lvl4pPr>
              <a:lvl5pPr marL="2057400" lvl="4" indent="-228600" algn="l" defTabSz="914400" rtl="0" eaLnBrk="0" fontAlgn="base" latinLnBrk="0" hangingPunct="0">
                <a:lnSpc>
                  <a:spcPct val="100000"/>
                </a:lnSpc>
                <a:spcBef>
                  <a:spcPct val="20000"/>
                </a:spcBef>
                <a:spcAft>
                  <a:spcPct val="0"/>
                </a:spcAft>
                <a:buClrTx/>
                <a:buSzPct val="100000"/>
                <a:buFontTx/>
                <a:buChar char="•"/>
                <a:defRPr sz="1800" b="0" i="0" u="none" kern="1200" baseline="0">
                  <a:solidFill>
                    <a:schemeClr val="tx1"/>
                  </a:solidFill>
                  <a:latin typeface="Times New Roman" panose="02020503050405090304" pitchFamily="18" charset="0"/>
                  <a:ea typeface="宋体" pitchFamily="2" charset="-122"/>
                </a:defRPr>
              </a:lvl5pPr>
            </a:lstStyle>
            <a:p>
              <a:pPr marL="0" lvl="0" indent="0">
                <a:buNone/>
              </a:pPr>
              <a:endParaRPr dirty="0"/>
            </a:p>
          </p:txBody>
        </p:sp>
        <p:sp>
          <p:nvSpPr>
            <p:cNvPr id="689175" name="矩形 689174"/>
            <p:cNvSpPr/>
            <p:nvPr>
              <p:custDataLst>
                <p:tags r:id="rId11"/>
              </p:custDataLst>
            </p:nvPr>
          </p:nvSpPr>
          <p:spPr>
            <a:xfrm>
              <a:off x="11693" y="3423"/>
              <a:ext cx="393" cy="512"/>
            </a:xfrm>
            <a:prstGeom prst="rect">
              <a:avLst/>
            </a:prstGeom>
            <a:noFill/>
            <a:ln w="9525">
              <a:noFill/>
            </a:ln>
          </p:spPr>
          <p:txBody>
            <a:bodyPr lIns="0" tIns="0" rIns="0" bIns="0"/>
            <a:lstStyle>
              <a:lvl1pPr marL="342900" lvl="0" indent="-342900" algn="l" defTabSz="914400" rtl="0" eaLnBrk="0" fontAlgn="base" latinLnBrk="0" hangingPunct="0">
                <a:lnSpc>
                  <a:spcPct val="100000"/>
                </a:lnSpc>
                <a:spcBef>
                  <a:spcPct val="20000"/>
                </a:spcBef>
                <a:spcAft>
                  <a:spcPct val="0"/>
                </a:spcAft>
                <a:buClrTx/>
                <a:buSzPct val="100000"/>
                <a:buFontTx/>
                <a:buChar char="•"/>
                <a:defRPr sz="2800" u="none" kern="1200" baseline="0">
                  <a:solidFill>
                    <a:schemeClr val="tx1"/>
                  </a:solidFill>
                  <a:latin typeface="Times New Roman" panose="02020503050405090304" pitchFamily="18" charset="0"/>
                  <a:ea typeface="宋体" pitchFamily="2" charset="-122"/>
                </a:defRPr>
              </a:lvl1pPr>
              <a:lvl2pPr marL="742950" lvl="1" indent="-285750" algn="l" defTabSz="914400" rtl="0" eaLnBrk="0" fontAlgn="base" latinLnBrk="0" hangingPunct="0">
                <a:lnSpc>
                  <a:spcPct val="100000"/>
                </a:lnSpc>
                <a:spcBef>
                  <a:spcPct val="20000"/>
                </a:spcBef>
                <a:spcAft>
                  <a:spcPct val="0"/>
                </a:spcAft>
                <a:buClrTx/>
                <a:buSzPct val="100000"/>
                <a:buFontTx/>
                <a:buChar char="–"/>
                <a:defRPr sz="2400" b="0" i="0" u="none" kern="1200" baseline="0">
                  <a:solidFill>
                    <a:schemeClr val="tx1"/>
                  </a:solidFill>
                  <a:latin typeface="Times New Roman" panose="02020503050405090304" pitchFamily="18" charset="0"/>
                  <a:ea typeface="宋体" pitchFamily="2" charset="-122"/>
                </a:defRPr>
              </a:lvl2pPr>
              <a:lvl3pPr marL="1143000" lvl="2" indent="-228600" algn="l" defTabSz="914400" rtl="0" eaLnBrk="0" fontAlgn="base" latinLnBrk="0" hangingPunct="0">
                <a:lnSpc>
                  <a:spcPct val="100000"/>
                </a:lnSpc>
                <a:spcBef>
                  <a:spcPct val="20000"/>
                </a:spcBef>
                <a:spcAft>
                  <a:spcPct val="0"/>
                </a:spcAft>
                <a:buClrTx/>
                <a:buSzPct val="100000"/>
                <a:buFontTx/>
                <a:buChar char="•"/>
                <a:defRPr sz="2000" b="0" i="0" u="none" kern="1200" baseline="0">
                  <a:solidFill>
                    <a:schemeClr val="tx1"/>
                  </a:solidFill>
                  <a:latin typeface="Times New Roman" panose="02020503050405090304" pitchFamily="18" charset="0"/>
                  <a:ea typeface="宋体" pitchFamily="2" charset="-122"/>
                </a:defRPr>
              </a:lvl3pPr>
              <a:lvl4pPr marL="1600200" lvl="3" indent="-228600" algn="l" defTabSz="914400" rtl="0" eaLnBrk="0" fontAlgn="base" latinLnBrk="0" hangingPunct="0">
                <a:lnSpc>
                  <a:spcPct val="100000"/>
                </a:lnSpc>
                <a:spcBef>
                  <a:spcPct val="20000"/>
                </a:spcBef>
                <a:spcAft>
                  <a:spcPct val="0"/>
                </a:spcAft>
                <a:buClrTx/>
                <a:buSzPct val="100000"/>
                <a:buFontTx/>
                <a:buChar char="–"/>
                <a:defRPr sz="1800" b="0" i="0" u="none" kern="1200" baseline="0">
                  <a:solidFill>
                    <a:schemeClr val="tx1"/>
                  </a:solidFill>
                  <a:latin typeface="Times New Roman" panose="02020503050405090304" pitchFamily="18" charset="0"/>
                  <a:ea typeface="宋体" pitchFamily="2" charset="-122"/>
                </a:defRPr>
              </a:lvl4pPr>
              <a:lvl5pPr marL="2057400" lvl="4" indent="-228600" algn="l" defTabSz="914400" rtl="0" eaLnBrk="0" fontAlgn="base" latinLnBrk="0" hangingPunct="0">
                <a:lnSpc>
                  <a:spcPct val="100000"/>
                </a:lnSpc>
                <a:spcBef>
                  <a:spcPct val="20000"/>
                </a:spcBef>
                <a:spcAft>
                  <a:spcPct val="0"/>
                </a:spcAft>
                <a:buClrTx/>
                <a:buSzPct val="100000"/>
                <a:buFontTx/>
                <a:buChar char="•"/>
                <a:defRPr sz="1800" b="0" i="0" u="none" kern="1200" baseline="0">
                  <a:solidFill>
                    <a:schemeClr val="tx1"/>
                  </a:solidFill>
                  <a:latin typeface="Times New Roman" panose="02020503050405090304" pitchFamily="18" charset="0"/>
                  <a:ea typeface="宋体" pitchFamily="2" charset="-122"/>
                </a:defRPr>
              </a:lvl5pPr>
            </a:lstStyle>
            <a:p>
              <a:pPr marL="0" lvl="0" indent="0">
                <a:buNone/>
              </a:pPr>
              <a:endParaRPr dirty="0"/>
            </a:p>
          </p:txBody>
        </p:sp>
        <p:sp>
          <p:nvSpPr>
            <p:cNvPr id="689176" name="矩形 689175"/>
            <p:cNvSpPr/>
            <p:nvPr>
              <p:custDataLst>
                <p:tags r:id="rId12"/>
              </p:custDataLst>
            </p:nvPr>
          </p:nvSpPr>
          <p:spPr>
            <a:xfrm>
              <a:off x="11298" y="3423"/>
              <a:ext cx="395" cy="512"/>
            </a:xfrm>
            <a:prstGeom prst="rect">
              <a:avLst/>
            </a:prstGeom>
            <a:noFill/>
            <a:ln w="9525">
              <a:noFill/>
            </a:ln>
          </p:spPr>
          <p:txBody>
            <a:bodyPr lIns="0" tIns="0" rIns="0" bIns="0"/>
            <a:lstStyle>
              <a:lvl1pPr marL="342900" lvl="0" indent="-342900" algn="l" defTabSz="914400" rtl="0" eaLnBrk="0" fontAlgn="base" latinLnBrk="0" hangingPunct="0">
                <a:lnSpc>
                  <a:spcPct val="100000"/>
                </a:lnSpc>
                <a:spcBef>
                  <a:spcPct val="20000"/>
                </a:spcBef>
                <a:spcAft>
                  <a:spcPct val="0"/>
                </a:spcAft>
                <a:buClrTx/>
                <a:buSzPct val="100000"/>
                <a:buFontTx/>
                <a:buChar char="•"/>
                <a:defRPr sz="2800" u="none" kern="1200" baseline="0">
                  <a:solidFill>
                    <a:schemeClr val="tx1"/>
                  </a:solidFill>
                  <a:latin typeface="Times New Roman" panose="02020503050405090304" pitchFamily="18" charset="0"/>
                  <a:ea typeface="宋体" pitchFamily="2" charset="-122"/>
                </a:defRPr>
              </a:lvl1pPr>
              <a:lvl2pPr marL="742950" lvl="1" indent="-285750" algn="l" defTabSz="914400" rtl="0" eaLnBrk="0" fontAlgn="base" latinLnBrk="0" hangingPunct="0">
                <a:lnSpc>
                  <a:spcPct val="100000"/>
                </a:lnSpc>
                <a:spcBef>
                  <a:spcPct val="20000"/>
                </a:spcBef>
                <a:spcAft>
                  <a:spcPct val="0"/>
                </a:spcAft>
                <a:buClrTx/>
                <a:buSzPct val="100000"/>
                <a:buFontTx/>
                <a:buChar char="–"/>
                <a:defRPr sz="2400" b="0" i="0" u="none" kern="1200" baseline="0">
                  <a:solidFill>
                    <a:schemeClr val="tx1"/>
                  </a:solidFill>
                  <a:latin typeface="Times New Roman" panose="02020503050405090304" pitchFamily="18" charset="0"/>
                  <a:ea typeface="宋体" pitchFamily="2" charset="-122"/>
                </a:defRPr>
              </a:lvl2pPr>
              <a:lvl3pPr marL="1143000" lvl="2" indent="-228600" algn="l" defTabSz="914400" rtl="0" eaLnBrk="0" fontAlgn="base" latinLnBrk="0" hangingPunct="0">
                <a:lnSpc>
                  <a:spcPct val="100000"/>
                </a:lnSpc>
                <a:spcBef>
                  <a:spcPct val="20000"/>
                </a:spcBef>
                <a:spcAft>
                  <a:spcPct val="0"/>
                </a:spcAft>
                <a:buClrTx/>
                <a:buSzPct val="100000"/>
                <a:buFontTx/>
                <a:buChar char="•"/>
                <a:defRPr sz="2000" b="0" i="0" u="none" kern="1200" baseline="0">
                  <a:solidFill>
                    <a:schemeClr val="tx1"/>
                  </a:solidFill>
                  <a:latin typeface="Times New Roman" panose="02020503050405090304" pitchFamily="18" charset="0"/>
                  <a:ea typeface="宋体" pitchFamily="2" charset="-122"/>
                </a:defRPr>
              </a:lvl3pPr>
              <a:lvl4pPr marL="1600200" lvl="3" indent="-228600" algn="l" defTabSz="914400" rtl="0" eaLnBrk="0" fontAlgn="base" latinLnBrk="0" hangingPunct="0">
                <a:lnSpc>
                  <a:spcPct val="100000"/>
                </a:lnSpc>
                <a:spcBef>
                  <a:spcPct val="20000"/>
                </a:spcBef>
                <a:spcAft>
                  <a:spcPct val="0"/>
                </a:spcAft>
                <a:buClrTx/>
                <a:buSzPct val="100000"/>
                <a:buFontTx/>
                <a:buChar char="–"/>
                <a:defRPr sz="1800" b="0" i="0" u="none" kern="1200" baseline="0">
                  <a:solidFill>
                    <a:schemeClr val="tx1"/>
                  </a:solidFill>
                  <a:latin typeface="Times New Roman" panose="02020503050405090304" pitchFamily="18" charset="0"/>
                  <a:ea typeface="宋体" pitchFamily="2" charset="-122"/>
                </a:defRPr>
              </a:lvl4pPr>
              <a:lvl5pPr marL="2057400" lvl="4" indent="-228600" algn="l" defTabSz="914400" rtl="0" eaLnBrk="0" fontAlgn="base" latinLnBrk="0" hangingPunct="0">
                <a:lnSpc>
                  <a:spcPct val="100000"/>
                </a:lnSpc>
                <a:spcBef>
                  <a:spcPct val="20000"/>
                </a:spcBef>
                <a:spcAft>
                  <a:spcPct val="0"/>
                </a:spcAft>
                <a:buClrTx/>
                <a:buSzPct val="100000"/>
                <a:buFontTx/>
                <a:buChar char="•"/>
                <a:defRPr sz="1800" b="0" i="0" u="none" kern="1200" baseline="0">
                  <a:solidFill>
                    <a:schemeClr val="tx1"/>
                  </a:solidFill>
                  <a:latin typeface="Times New Roman" panose="02020503050405090304" pitchFamily="18" charset="0"/>
                  <a:ea typeface="宋体" pitchFamily="2" charset="-122"/>
                </a:defRPr>
              </a:lvl5pPr>
            </a:lstStyle>
            <a:p>
              <a:pPr marL="0" lvl="0" indent="0">
                <a:buNone/>
              </a:pPr>
              <a:endParaRPr dirty="0"/>
            </a:p>
          </p:txBody>
        </p:sp>
        <p:sp>
          <p:nvSpPr>
            <p:cNvPr id="689177" name="矩形 689176"/>
            <p:cNvSpPr/>
            <p:nvPr>
              <p:custDataLst>
                <p:tags r:id="rId13"/>
              </p:custDataLst>
            </p:nvPr>
          </p:nvSpPr>
          <p:spPr>
            <a:xfrm>
              <a:off x="12833" y="2911"/>
              <a:ext cx="40" cy="512"/>
            </a:xfrm>
            <a:prstGeom prst="rect">
              <a:avLst/>
            </a:prstGeom>
            <a:noFill/>
            <a:ln w="9525">
              <a:noFill/>
            </a:ln>
          </p:spPr>
          <p:txBody>
            <a:bodyPr lIns="0" tIns="0" rIns="0" bIns="0"/>
            <a:lstStyle>
              <a:lvl1pPr marL="342900" lvl="0" indent="-342900" algn="l" defTabSz="914400" rtl="0" eaLnBrk="0" fontAlgn="base" latinLnBrk="0" hangingPunct="0">
                <a:lnSpc>
                  <a:spcPct val="100000"/>
                </a:lnSpc>
                <a:spcBef>
                  <a:spcPct val="20000"/>
                </a:spcBef>
                <a:spcAft>
                  <a:spcPct val="0"/>
                </a:spcAft>
                <a:buClrTx/>
                <a:buSzPct val="100000"/>
                <a:buFontTx/>
                <a:buChar char="•"/>
                <a:defRPr sz="2800" u="none" kern="1200" baseline="0">
                  <a:solidFill>
                    <a:schemeClr val="tx1"/>
                  </a:solidFill>
                  <a:latin typeface="Times New Roman" panose="02020503050405090304" pitchFamily="18" charset="0"/>
                  <a:ea typeface="宋体" pitchFamily="2" charset="-122"/>
                </a:defRPr>
              </a:lvl1pPr>
              <a:lvl2pPr marL="742950" lvl="1" indent="-285750" algn="l" defTabSz="914400" rtl="0" eaLnBrk="0" fontAlgn="base" latinLnBrk="0" hangingPunct="0">
                <a:lnSpc>
                  <a:spcPct val="100000"/>
                </a:lnSpc>
                <a:spcBef>
                  <a:spcPct val="20000"/>
                </a:spcBef>
                <a:spcAft>
                  <a:spcPct val="0"/>
                </a:spcAft>
                <a:buClrTx/>
                <a:buSzPct val="100000"/>
                <a:buFontTx/>
                <a:buChar char="–"/>
                <a:defRPr sz="2400" b="0" i="0" u="none" kern="1200" baseline="0">
                  <a:solidFill>
                    <a:schemeClr val="tx1"/>
                  </a:solidFill>
                  <a:latin typeface="Times New Roman" panose="02020503050405090304" pitchFamily="18" charset="0"/>
                  <a:ea typeface="宋体" pitchFamily="2" charset="-122"/>
                </a:defRPr>
              </a:lvl2pPr>
              <a:lvl3pPr marL="1143000" lvl="2" indent="-228600" algn="l" defTabSz="914400" rtl="0" eaLnBrk="0" fontAlgn="base" latinLnBrk="0" hangingPunct="0">
                <a:lnSpc>
                  <a:spcPct val="100000"/>
                </a:lnSpc>
                <a:spcBef>
                  <a:spcPct val="20000"/>
                </a:spcBef>
                <a:spcAft>
                  <a:spcPct val="0"/>
                </a:spcAft>
                <a:buClrTx/>
                <a:buSzPct val="100000"/>
                <a:buFontTx/>
                <a:buChar char="•"/>
                <a:defRPr sz="2000" b="0" i="0" u="none" kern="1200" baseline="0">
                  <a:solidFill>
                    <a:schemeClr val="tx1"/>
                  </a:solidFill>
                  <a:latin typeface="Times New Roman" panose="02020503050405090304" pitchFamily="18" charset="0"/>
                  <a:ea typeface="宋体" pitchFamily="2" charset="-122"/>
                </a:defRPr>
              </a:lvl3pPr>
              <a:lvl4pPr marL="1600200" lvl="3" indent="-228600" algn="l" defTabSz="914400" rtl="0" eaLnBrk="0" fontAlgn="base" latinLnBrk="0" hangingPunct="0">
                <a:lnSpc>
                  <a:spcPct val="100000"/>
                </a:lnSpc>
                <a:spcBef>
                  <a:spcPct val="20000"/>
                </a:spcBef>
                <a:spcAft>
                  <a:spcPct val="0"/>
                </a:spcAft>
                <a:buClrTx/>
                <a:buSzPct val="100000"/>
                <a:buFontTx/>
                <a:buChar char="–"/>
                <a:defRPr sz="1800" b="0" i="0" u="none" kern="1200" baseline="0">
                  <a:solidFill>
                    <a:schemeClr val="tx1"/>
                  </a:solidFill>
                  <a:latin typeface="Times New Roman" panose="02020503050405090304" pitchFamily="18" charset="0"/>
                  <a:ea typeface="宋体" pitchFamily="2" charset="-122"/>
                </a:defRPr>
              </a:lvl4pPr>
              <a:lvl5pPr marL="2057400" lvl="4" indent="-228600" algn="l" defTabSz="914400" rtl="0" eaLnBrk="0" fontAlgn="base" latinLnBrk="0" hangingPunct="0">
                <a:lnSpc>
                  <a:spcPct val="100000"/>
                </a:lnSpc>
                <a:spcBef>
                  <a:spcPct val="20000"/>
                </a:spcBef>
                <a:spcAft>
                  <a:spcPct val="0"/>
                </a:spcAft>
                <a:buClrTx/>
                <a:buSzPct val="100000"/>
                <a:buFontTx/>
                <a:buChar char="•"/>
                <a:defRPr sz="1800" b="0" i="0" u="none" kern="1200" baseline="0">
                  <a:solidFill>
                    <a:schemeClr val="tx1"/>
                  </a:solidFill>
                  <a:latin typeface="Times New Roman" panose="02020503050405090304" pitchFamily="18" charset="0"/>
                  <a:ea typeface="宋体" pitchFamily="2" charset="-122"/>
                </a:defRPr>
              </a:lvl5pPr>
            </a:lstStyle>
            <a:p>
              <a:pPr marL="0" lvl="0" indent="0">
                <a:buNone/>
              </a:pPr>
              <a:endParaRPr dirty="0"/>
            </a:p>
          </p:txBody>
        </p:sp>
        <p:sp>
          <p:nvSpPr>
            <p:cNvPr id="689178" name="矩形 689177"/>
            <p:cNvSpPr/>
            <p:nvPr>
              <p:custDataLst>
                <p:tags r:id="rId14"/>
              </p:custDataLst>
            </p:nvPr>
          </p:nvSpPr>
          <p:spPr>
            <a:xfrm>
              <a:off x="12086" y="2911"/>
              <a:ext cx="748" cy="512"/>
            </a:xfrm>
            <a:prstGeom prst="rect">
              <a:avLst/>
            </a:prstGeom>
            <a:noFill/>
            <a:ln w="9525">
              <a:noFill/>
            </a:ln>
          </p:spPr>
          <p:txBody>
            <a:bodyPr lIns="0" tIns="0" rIns="0" bIns="0"/>
            <a:lstStyle>
              <a:lvl1pPr marL="342900" lvl="0" indent="-342900" algn="l" defTabSz="914400" rtl="0" eaLnBrk="0" fontAlgn="base" latinLnBrk="0" hangingPunct="0">
                <a:lnSpc>
                  <a:spcPct val="100000"/>
                </a:lnSpc>
                <a:spcBef>
                  <a:spcPct val="20000"/>
                </a:spcBef>
                <a:spcAft>
                  <a:spcPct val="0"/>
                </a:spcAft>
                <a:buClrTx/>
                <a:buSzPct val="100000"/>
                <a:buFontTx/>
                <a:buChar char="•"/>
                <a:defRPr sz="2800" u="none" kern="1200" baseline="0">
                  <a:solidFill>
                    <a:schemeClr val="tx1"/>
                  </a:solidFill>
                  <a:latin typeface="Times New Roman" panose="02020503050405090304" pitchFamily="18" charset="0"/>
                  <a:ea typeface="宋体" pitchFamily="2" charset="-122"/>
                </a:defRPr>
              </a:lvl1pPr>
              <a:lvl2pPr marL="742950" lvl="1" indent="-285750" algn="l" defTabSz="914400" rtl="0" eaLnBrk="0" fontAlgn="base" latinLnBrk="0" hangingPunct="0">
                <a:lnSpc>
                  <a:spcPct val="100000"/>
                </a:lnSpc>
                <a:spcBef>
                  <a:spcPct val="20000"/>
                </a:spcBef>
                <a:spcAft>
                  <a:spcPct val="0"/>
                </a:spcAft>
                <a:buClrTx/>
                <a:buSzPct val="100000"/>
                <a:buFontTx/>
                <a:buChar char="–"/>
                <a:defRPr sz="2400" b="0" i="0" u="none" kern="1200" baseline="0">
                  <a:solidFill>
                    <a:schemeClr val="tx1"/>
                  </a:solidFill>
                  <a:latin typeface="Times New Roman" panose="02020503050405090304" pitchFamily="18" charset="0"/>
                  <a:ea typeface="宋体" pitchFamily="2" charset="-122"/>
                </a:defRPr>
              </a:lvl2pPr>
              <a:lvl3pPr marL="1143000" lvl="2" indent="-228600" algn="l" defTabSz="914400" rtl="0" eaLnBrk="0" fontAlgn="base" latinLnBrk="0" hangingPunct="0">
                <a:lnSpc>
                  <a:spcPct val="100000"/>
                </a:lnSpc>
                <a:spcBef>
                  <a:spcPct val="20000"/>
                </a:spcBef>
                <a:spcAft>
                  <a:spcPct val="0"/>
                </a:spcAft>
                <a:buClrTx/>
                <a:buSzPct val="100000"/>
                <a:buFontTx/>
                <a:buChar char="•"/>
                <a:defRPr sz="2000" b="0" i="0" u="none" kern="1200" baseline="0">
                  <a:solidFill>
                    <a:schemeClr val="tx1"/>
                  </a:solidFill>
                  <a:latin typeface="Times New Roman" panose="02020503050405090304" pitchFamily="18" charset="0"/>
                  <a:ea typeface="宋体" pitchFamily="2" charset="-122"/>
                </a:defRPr>
              </a:lvl3pPr>
              <a:lvl4pPr marL="1600200" lvl="3" indent="-228600" algn="l" defTabSz="914400" rtl="0" eaLnBrk="0" fontAlgn="base" latinLnBrk="0" hangingPunct="0">
                <a:lnSpc>
                  <a:spcPct val="100000"/>
                </a:lnSpc>
                <a:spcBef>
                  <a:spcPct val="20000"/>
                </a:spcBef>
                <a:spcAft>
                  <a:spcPct val="0"/>
                </a:spcAft>
                <a:buClrTx/>
                <a:buSzPct val="100000"/>
                <a:buFontTx/>
                <a:buChar char="–"/>
                <a:defRPr sz="1800" b="0" i="0" u="none" kern="1200" baseline="0">
                  <a:solidFill>
                    <a:schemeClr val="tx1"/>
                  </a:solidFill>
                  <a:latin typeface="Times New Roman" panose="02020503050405090304" pitchFamily="18" charset="0"/>
                  <a:ea typeface="宋体" pitchFamily="2" charset="-122"/>
                </a:defRPr>
              </a:lvl4pPr>
              <a:lvl5pPr marL="2057400" lvl="4" indent="-228600" algn="l" defTabSz="914400" rtl="0" eaLnBrk="0" fontAlgn="base" latinLnBrk="0" hangingPunct="0">
                <a:lnSpc>
                  <a:spcPct val="100000"/>
                </a:lnSpc>
                <a:spcBef>
                  <a:spcPct val="20000"/>
                </a:spcBef>
                <a:spcAft>
                  <a:spcPct val="0"/>
                </a:spcAft>
                <a:buClrTx/>
                <a:buSzPct val="100000"/>
                <a:buFontTx/>
                <a:buChar char="•"/>
                <a:defRPr sz="1800" b="0" i="0" u="none" kern="1200" baseline="0">
                  <a:solidFill>
                    <a:schemeClr val="tx1"/>
                  </a:solidFill>
                  <a:latin typeface="Times New Roman" panose="02020503050405090304" pitchFamily="18" charset="0"/>
                  <a:ea typeface="宋体" pitchFamily="2" charset="-122"/>
                </a:defRPr>
              </a:lvl5pPr>
            </a:lstStyle>
            <a:p>
              <a:pPr marL="0" lvl="0" indent="0">
                <a:buNone/>
              </a:pPr>
              <a:endParaRPr dirty="0"/>
            </a:p>
          </p:txBody>
        </p:sp>
        <p:sp>
          <p:nvSpPr>
            <p:cNvPr id="689179" name="矩形 689178"/>
            <p:cNvSpPr/>
            <p:nvPr>
              <p:custDataLst>
                <p:tags r:id="rId15"/>
              </p:custDataLst>
            </p:nvPr>
          </p:nvSpPr>
          <p:spPr>
            <a:xfrm>
              <a:off x="11693" y="2911"/>
              <a:ext cx="393" cy="512"/>
            </a:xfrm>
            <a:prstGeom prst="rect">
              <a:avLst/>
            </a:prstGeom>
            <a:noFill/>
            <a:ln w="9525">
              <a:noFill/>
            </a:ln>
          </p:spPr>
          <p:txBody>
            <a:bodyPr lIns="0" tIns="0" rIns="0" bIns="0"/>
            <a:lstStyle>
              <a:lvl1pPr marL="342900" lvl="0" indent="-342900" algn="l" defTabSz="914400" rtl="0" eaLnBrk="0" fontAlgn="base" latinLnBrk="0" hangingPunct="0">
                <a:lnSpc>
                  <a:spcPct val="100000"/>
                </a:lnSpc>
                <a:spcBef>
                  <a:spcPct val="20000"/>
                </a:spcBef>
                <a:spcAft>
                  <a:spcPct val="0"/>
                </a:spcAft>
                <a:buClrTx/>
                <a:buSzPct val="100000"/>
                <a:buFontTx/>
                <a:buChar char="•"/>
                <a:defRPr sz="2800" u="none" kern="1200" baseline="0">
                  <a:solidFill>
                    <a:schemeClr val="tx1"/>
                  </a:solidFill>
                  <a:latin typeface="Times New Roman" panose="02020503050405090304" pitchFamily="18" charset="0"/>
                  <a:ea typeface="宋体" pitchFamily="2" charset="-122"/>
                </a:defRPr>
              </a:lvl1pPr>
              <a:lvl2pPr marL="742950" lvl="1" indent="-285750" algn="l" defTabSz="914400" rtl="0" eaLnBrk="0" fontAlgn="base" latinLnBrk="0" hangingPunct="0">
                <a:lnSpc>
                  <a:spcPct val="100000"/>
                </a:lnSpc>
                <a:spcBef>
                  <a:spcPct val="20000"/>
                </a:spcBef>
                <a:spcAft>
                  <a:spcPct val="0"/>
                </a:spcAft>
                <a:buClrTx/>
                <a:buSzPct val="100000"/>
                <a:buFontTx/>
                <a:buChar char="–"/>
                <a:defRPr sz="2400" b="0" i="0" u="none" kern="1200" baseline="0">
                  <a:solidFill>
                    <a:schemeClr val="tx1"/>
                  </a:solidFill>
                  <a:latin typeface="Times New Roman" panose="02020503050405090304" pitchFamily="18" charset="0"/>
                  <a:ea typeface="宋体" pitchFamily="2" charset="-122"/>
                </a:defRPr>
              </a:lvl2pPr>
              <a:lvl3pPr marL="1143000" lvl="2" indent="-228600" algn="l" defTabSz="914400" rtl="0" eaLnBrk="0" fontAlgn="base" latinLnBrk="0" hangingPunct="0">
                <a:lnSpc>
                  <a:spcPct val="100000"/>
                </a:lnSpc>
                <a:spcBef>
                  <a:spcPct val="20000"/>
                </a:spcBef>
                <a:spcAft>
                  <a:spcPct val="0"/>
                </a:spcAft>
                <a:buClrTx/>
                <a:buSzPct val="100000"/>
                <a:buFontTx/>
                <a:buChar char="•"/>
                <a:defRPr sz="2000" b="0" i="0" u="none" kern="1200" baseline="0">
                  <a:solidFill>
                    <a:schemeClr val="tx1"/>
                  </a:solidFill>
                  <a:latin typeface="Times New Roman" panose="02020503050405090304" pitchFamily="18" charset="0"/>
                  <a:ea typeface="宋体" pitchFamily="2" charset="-122"/>
                </a:defRPr>
              </a:lvl3pPr>
              <a:lvl4pPr marL="1600200" lvl="3" indent="-228600" algn="l" defTabSz="914400" rtl="0" eaLnBrk="0" fontAlgn="base" latinLnBrk="0" hangingPunct="0">
                <a:lnSpc>
                  <a:spcPct val="100000"/>
                </a:lnSpc>
                <a:spcBef>
                  <a:spcPct val="20000"/>
                </a:spcBef>
                <a:spcAft>
                  <a:spcPct val="0"/>
                </a:spcAft>
                <a:buClrTx/>
                <a:buSzPct val="100000"/>
                <a:buFontTx/>
                <a:buChar char="–"/>
                <a:defRPr sz="1800" b="0" i="0" u="none" kern="1200" baseline="0">
                  <a:solidFill>
                    <a:schemeClr val="tx1"/>
                  </a:solidFill>
                  <a:latin typeface="Times New Roman" panose="02020503050405090304" pitchFamily="18" charset="0"/>
                  <a:ea typeface="宋体" pitchFamily="2" charset="-122"/>
                </a:defRPr>
              </a:lvl4pPr>
              <a:lvl5pPr marL="2057400" lvl="4" indent="-228600" algn="l" defTabSz="914400" rtl="0" eaLnBrk="0" fontAlgn="base" latinLnBrk="0" hangingPunct="0">
                <a:lnSpc>
                  <a:spcPct val="100000"/>
                </a:lnSpc>
                <a:spcBef>
                  <a:spcPct val="20000"/>
                </a:spcBef>
                <a:spcAft>
                  <a:spcPct val="0"/>
                </a:spcAft>
                <a:buClrTx/>
                <a:buSzPct val="100000"/>
                <a:buFontTx/>
                <a:buChar char="•"/>
                <a:defRPr sz="1800" b="0" i="0" u="none" kern="1200" baseline="0">
                  <a:solidFill>
                    <a:schemeClr val="tx1"/>
                  </a:solidFill>
                  <a:latin typeface="Times New Roman" panose="02020503050405090304" pitchFamily="18" charset="0"/>
                  <a:ea typeface="宋体" pitchFamily="2" charset="-122"/>
                </a:defRPr>
              </a:lvl5pPr>
            </a:lstStyle>
            <a:p>
              <a:pPr marL="0" lvl="0" indent="0">
                <a:buNone/>
              </a:pPr>
              <a:endParaRPr dirty="0"/>
            </a:p>
          </p:txBody>
        </p:sp>
        <p:sp>
          <p:nvSpPr>
            <p:cNvPr id="689180" name="矩形 689179"/>
            <p:cNvSpPr/>
            <p:nvPr>
              <p:custDataLst>
                <p:tags r:id="rId16"/>
              </p:custDataLst>
            </p:nvPr>
          </p:nvSpPr>
          <p:spPr>
            <a:xfrm>
              <a:off x="11298" y="2911"/>
              <a:ext cx="395" cy="512"/>
            </a:xfrm>
            <a:prstGeom prst="rect">
              <a:avLst/>
            </a:prstGeom>
            <a:noFill/>
            <a:ln w="9525">
              <a:noFill/>
            </a:ln>
          </p:spPr>
          <p:txBody>
            <a:bodyPr lIns="0" tIns="0" rIns="0" bIns="0"/>
            <a:lstStyle>
              <a:lvl1pPr marL="342900" lvl="0" indent="-342900" algn="l" defTabSz="914400" rtl="0" eaLnBrk="0" fontAlgn="base" latinLnBrk="0" hangingPunct="0">
                <a:lnSpc>
                  <a:spcPct val="100000"/>
                </a:lnSpc>
                <a:spcBef>
                  <a:spcPct val="20000"/>
                </a:spcBef>
                <a:spcAft>
                  <a:spcPct val="0"/>
                </a:spcAft>
                <a:buClrTx/>
                <a:buSzPct val="100000"/>
                <a:buFontTx/>
                <a:buChar char="•"/>
                <a:defRPr sz="2800" u="none" kern="1200" baseline="0">
                  <a:solidFill>
                    <a:schemeClr val="tx1"/>
                  </a:solidFill>
                  <a:latin typeface="Times New Roman" panose="02020503050405090304" pitchFamily="18" charset="0"/>
                  <a:ea typeface="宋体" pitchFamily="2" charset="-122"/>
                </a:defRPr>
              </a:lvl1pPr>
              <a:lvl2pPr marL="742950" lvl="1" indent="-285750" algn="l" defTabSz="914400" rtl="0" eaLnBrk="0" fontAlgn="base" latinLnBrk="0" hangingPunct="0">
                <a:lnSpc>
                  <a:spcPct val="100000"/>
                </a:lnSpc>
                <a:spcBef>
                  <a:spcPct val="20000"/>
                </a:spcBef>
                <a:spcAft>
                  <a:spcPct val="0"/>
                </a:spcAft>
                <a:buClrTx/>
                <a:buSzPct val="100000"/>
                <a:buFontTx/>
                <a:buChar char="–"/>
                <a:defRPr sz="2400" b="0" i="0" u="none" kern="1200" baseline="0">
                  <a:solidFill>
                    <a:schemeClr val="tx1"/>
                  </a:solidFill>
                  <a:latin typeface="Times New Roman" panose="02020503050405090304" pitchFamily="18" charset="0"/>
                  <a:ea typeface="宋体" pitchFamily="2" charset="-122"/>
                </a:defRPr>
              </a:lvl2pPr>
              <a:lvl3pPr marL="1143000" lvl="2" indent="-228600" algn="l" defTabSz="914400" rtl="0" eaLnBrk="0" fontAlgn="base" latinLnBrk="0" hangingPunct="0">
                <a:lnSpc>
                  <a:spcPct val="100000"/>
                </a:lnSpc>
                <a:spcBef>
                  <a:spcPct val="20000"/>
                </a:spcBef>
                <a:spcAft>
                  <a:spcPct val="0"/>
                </a:spcAft>
                <a:buClrTx/>
                <a:buSzPct val="100000"/>
                <a:buFontTx/>
                <a:buChar char="•"/>
                <a:defRPr sz="2000" b="0" i="0" u="none" kern="1200" baseline="0">
                  <a:solidFill>
                    <a:schemeClr val="tx1"/>
                  </a:solidFill>
                  <a:latin typeface="Times New Roman" panose="02020503050405090304" pitchFamily="18" charset="0"/>
                  <a:ea typeface="宋体" pitchFamily="2" charset="-122"/>
                </a:defRPr>
              </a:lvl3pPr>
              <a:lvl4pPr marL="1600200" lvl="3" indent="-228600" algn="l" defTabSz="914400" rtl="0" eaLnBrk="0" fontAlgn="base" latinLnBrk="0" hangingPunct="0">
                <a:lnSpc>
                  <a:spcPct val="100000"/>
                </a:lnSpc>
                <a:spcBef>
                  <a:spcPct val="20000"/>
                </a:spcBef>
                <a:spcAft>
                  <a:spcPct val="0"/>
                </a:spcAft>
                <a:buClrTx/>
                <a:buSzPct val="100000"/>
                <a:buFontTx/>
                <a:buChar char="–"/>
                <a:defRPr sz="1800" b="0" i="0" u="none" kern="1200" baseline="0">
                  <a:solidFill>
                    <a:schemeClr val="tx1"/>
                  </a:solidFill>
                  <a:latin typeface="Times New Roman" panose="02020503050405090304" pitchFamily="18" charset="0"/>
                  <a:ea typeface="宋体" pitchFamily="2" charset="-122"/>
                </a:defRPr>
              </a:lvl4pPr>
              <a:lvl5pPr marL="2057400" lvl="4" indent="-228600" algn="l" defTabSz="914400" rtl="0" eaLnBrk="0" fontAlgn="base" latinLnBrk="0" hangingPunct="0">
                <a:lnSpc>
                  <a:spcPct val="100000"/>
                </a:lnSpc>
                <a:spcBef>
                  <a:spcPct val="20000"/>
                </a:spcBef>
                <a:spcAft>
                  <a:spcPct val="0"/>
                </a:spcAft>
                <a:buClrTx/>
                <a:buSzPct val="100000"/>
                <a:buFontTx/>
                <a:buChar char="•"/>
                <a:defRPr sz="1800" b="0" i="0" u="none" kern="1200" baseline="0">
                  <a:solidFill>
                    <a:schemeClr val="tx1"/>
                  </a:solidFill>
                  <a:latin typeface="Times New Roman" panose="02020503050405090304" pitchFamily="18" charset="0"/>
                  <a:ea typeface="宋体" pitchFamily="2" charset="-122"/>
                </a:defRPr>
              </a:lvl5pPr>
            </a:lstStyle>
            <a:p>
              <a:pPr marL="0" lvl="0" indent="0">
                <a:buNone/>
              </a:pPr>
              <a:endParaRPr dirty="0"/>
            </a:p>
          </p:txBody>
        </p:sp>
        <p:sp>
          <p:nvSpPr>
            <p:cNvPr id="689181" name="直接连接符 689180"/>
            <p:cNvSpPr/>
            <p:nvPr>
              <p:custDataLst>
                <p:tags r:id="rId17"/>
              </p:custDataLst>
            </p:nvPr>
          </p:nvSpPr>
          <p:spPr>
            <a:xfrm>
              <a:off x="11298" y="2911"/>
              <a:ext cx="1575" cy="0"/>
            </a:xfrm>
            <a:prstGeom prst="line">
              <a:avLst/>
            </a:prstGeom>
            <a:ln w="28575" cap="sq" cmpd="sng">
              <a:solidFill>
                <a:schemeClr val="tx1"/>
              </a:solidFill>
              <a:prstDash val="solid"/>
              <a:headEnd type="none" w="med" len="med"/>
              <a:tailEnd type="none" w="med" len="med"/>
            </a:ln>
          </p:spPr>
        </p:sp>
        <p:sp>
          <p:nvSpPr>
            <p:cNvPr id="689182" name="直接连接符 689181"/>
            <p:cNvSpPr/>
            <p:nvPr>
              <p:custDataLst>
                <p:tags r:id="rId18"/>
              </p:custDataLst>
            </p:nvPr>
          </p:nvSpPr>
          <p:spPr>
            <a:xfrm>
              <a:off x="11298" y="3423"/>
              <a:ext cx="1575" cy="0"/>
            </a:xfrm>
            <a:prstGeom prst="line">
              <a:avLst/>
            </a:prstGeom>
            <a:ln w="12700" cap="flat" cmpd="sng">
              <a:solidFill>
                <a:schemeClr val="tx1"/>
              </a:solidFill>
              <a:prstDash val="solid"/>
              <a:headEnd type="none" w="med" len="med"/>
              <a:tailEnd type="none" w="med" len="med"/>
            </a:ln>
          </p:spPr>
        </p:sp>
        <p:sp>
          <p:nvSpPr>
            <p:cNvPr id="689183" name="直接连接符 689182"/>
            <p:cNvSpPr/>
            <p:nvPr>
              <p:custDataLst>
                <p:tags r:id="rId19"/>
              </p:custDataLst>
            </p:nvPr>
          </p:nvSpPr>
          <p:spPr>
            <a:xfrm>
              <a:off x="11298" y="3935"/>
              <a:ext cx="1575" cy="0"/>
            </a:xfrm>
            <a:prstGeom prst="line">
              <a:avLst/>
            </a:prstGeom>
            <a:ln w="28575" cap="sq" cmpd="sng">
              <a:solidFill>
                <a:schemeClr val="tx1"/>
              </a:solidFill>
              <a:prstDash val="solid"/>
              <a:headEnd type="none" w="med" len="med"/>
              <a:tailEnd type="none" w="med" len="med"/>
            </a:ln>
          </p:spPr>
        </p:sp>
        <p:sp>
          <p:nvSpPr>
            <p:cNvPr id="689184" name="直接连接符 689183"/>
            <p:cNvSpPr/>
            <p:nvPr>
              <p:custDataLst>
                <p:tags r:id="rId20"/>
              </p:custDataLst>
            </p:nvPr>
          </p:nvSpPr>
          <p:spPr>
            <a:xfrm>
              <a:off x="11298" y="2911"/>
              <a:ext cx="0" cy="1025"/>
            </a:xfrm>
            <a:prstGeom prst="line">
              <a:avLst/>
            </a:prstGeom>
            <a:ln w="28575" cap="sq" cmpd="sng">
              <a:solidFill>
                <a:schemeClr val="tx1"/>
              </a:solidFill>
              <a:prstDash val="solid"/>
              <a:headEnd type="none" w="med" len="med"/>
              <a:tailEnd type="none" w="med" len="med"/>
            </a:ln>
          </p:spPr>
        </p:sp>
        <p:sp>
          <p:nvSpPr>
            <p:cNvPr id="689185" name="直接连接符 689184"/>
            <p:cNvSpPr/>
            <p:nvPr>
              <p:custDataLst>
                <p:tags r:id="rId21"/>
              </p:custDataLst>
            </p:nvPr>
          </p:nvSpPr>
          <p:spPr>
            <a:xfrm>
              <a:off x="11693" y="2911"/>
              <a:ext cx="0" cy="1025"/>
            </a:xfrm>
            <a:prstGeom prst="line">
              <a:avLst/>
            </a:prstGeom>
            <a:ln w="12700" cap="flat" cmpd="sng">
              <a:solidFill>
                <a:schemeClr val="tx1"/>
              </a:solidFill>
              <a:prstDash val="solid"/>
              <a:headEnd type="none" w="med" len="med"/>
              <a:tailEnd type="none" w="med" len="med"/>
            </a:ln>
          </p:spPr>
        </p:sp>
        <p:sp>
          <p:nvSpPr>
            <p:cNvPr id="689186" name="直接连接符 689185"/>
            <p:cNvSpPr/>
            <p:nvPr>
              <p:custDataLst>
                <p:tags r:id="rId22"/>
              </p:custDataLst>
            </p:nvPr>
          </p:nvSpPr>
          <p:spPr>
            <a:xfrm>
              <a:off x="12086" y="2911"/>
              <a:ext cx="0" cy="1025"/>
            </a:xfrm>
            <a:prstGeom prst="line">
              <a:avLst/>
            </a:prstGeom>
            <a:ln w="12700" cap="flat" cmpd="sng">
              <a:solidFill>
                <a:schemeClr val="tx1"/>
              </a:solidFill>
              <a:prstDash val="solid"/>
              <a:headEnd type="none" w="med" len="med"/>
              <a:tailEnd type="none" w="med" len="med"/>
            </a:ln>
          </p:spPr>
        </p:sp>
        <p:sp>
          <p:nvSpPr>
            <p:cNvPr id="689187" name="直接连接符 689186"/>
            <p:cNvSpPr/>
            <p:nvPr>
              <p:custDataLst>
                <p:tags r:id="rId23"/>
              </p:custDataLst>
            </p:nvPr>
          </p:nvSpPr>
          <p:spPr>
            <a:xfrm>
              <a:off x="12833" y="2911"/>
              <a:ext cx="0" cy="1025"/>
            </a:xfrm>
            <a:prstGeom prst="line">
              <a:avLst/>
            </a:prstGeom>
            <a:ln w="12700" cap="flat" cmpd="sng">
              <a:solidFill>
                <a:schemeClr val="tx1"/>
              </a:solidFill>
              <a:prstDash val="solid"/>
              <a:headEnd type="none" w="med" len="med"/>
              <a:tailEnd type="none" w="med" len="med"/>
            </a:ln>
          </p:spPr>
        </p:sp>
        <p:sp>
          <p:nvSpPr>
            <p:cNvPr id="689188" name="直接连接符 689187"/>
            <p:cNvSpPr/>
            <p:nvPr>
              <p:custDataLst>
                <p:tags r:id="rId24"/>
              </p:custDataLst>
            </p:nvPr>
          </p:nvSpPr>
          <p:spPr>
            <a:xfrm>
              <a:off x="12873" y="2911"/>
              <a:ext cx="0" cy="1025"/>
            </a:xfrm>
            <a:prstGeom prst="line">
              <a:avLst/>
            </a:prstGeom>
            <a:ln w="28575" cap="sq" cmpd="sng">
              <a:solidFill>
                <a:schemeClr val="tx1"/>
              </a:solidFill>
              <a:prstDash val="solid"/>
              <a:headEnd type="none" w="med" len="med"/>
              <a:tailEnd type="none" w="med" len="med"/>
            </a:ln>
          </p:spPr>
        </p:sp>
        <p:pic>
          <p:nvPicPr>
            <p:cNvPr id="689189" name="图片 689188" descr="BD04972_"/>
            <p:cNvPicPr>
              <a:picLocks noChangeAspect="1"/>
            </p:cNvPicPr>
            <p:nvPr>
              <p:custDataLst>
                <p:tags r:id="rId25"/>
              </p:custDataLst>
            </p:nvPr>
          </p:nvPicPr>
          <p:blipFill>
            <a:blip r:embed="rId53"/>
            <a:stretch>
              <a:fillRect/>
            </a:stretch>
          </p:blipFill>
          <p:spPr>
            <a:xfrm>
              <a:off x="13798" y="2861"/>
              <a:ext cx="1680" cy="960"/>
            </a:xfrm>
            <a:prstGeom prst="rect">
              <a:avLst/>
            </a:prstGeom>
            <a:noFill/>
            <a:ln w="9525">
              <a:noFill/>
            </a:ln>
          </p:spPr>
        </p:pic>
        <p:sp>
          <p:nvSpPr>
            <p:cNvPr id="689190" name="椭圆 689189"/>
            <p:cNvSpPr/>
            <p:nvPr>
              <p:custDataLst>
                <p:tags r:id="rId26"/>
              </p:custDataLst>
            </p:nvPr>
          </p:nvSpPr>
          <p:spPr>
            <a:xfrm>
              <a:off x="10848" y="4946"/>
              <a:ext cx="2749" cy="1513"/>
            </a:xfrm>
            <a:prstGeom prst="ellipse">
              <a:avLst/>
            </a:prstGeom>
            <a:noFill/>
            <a:ln w="9525" cap="flat" cmpd="sng">
              <a:solidFill>
                <a:schemeClr val="tx1"/>
              </a:solidFill>
              <a:prstDash val="solid"/>
              <a:headEnd type="none" w="med" len="med"/>
              <a:tailEnd type="none" w="med" len="med"/>
            </a:ln>
          </p:spPr>
          <p:txBody>
            <a:bodyPr lIns="0" tIns="0" rIns="0" bIns="0"/>
            <a:lstStyle/>
            <a:p>
              <a:pPr indent="0" algn="ctr" fontAlgn="auto">
                <a:lnSpc>
                  <a:spcPct val="100000"/>
                </a:lnSpc>
                <a:spcBef>
                  <a:spcPct val="50000"/>
                </a:spcBef>
              </a:pPr>
              <a:r>
                <a:rPr lang="en-US" altLang="zh-CN" sz="1400" b="1">
                  <a:latin typeface="Times New Roman" panose="02020503050405090304" pitchFamily="18" charset="0"/>
                  <a:ea typeface="微软简魏碑" pitchFamily="2" charset="-122"/>
                  <a:sym typeface="+mn-ea"/>
                </a:rPr>
                <a:t>a=50%  </a:t>
              </a:r>
            </a:p>
            <a:p>
              <a:pPr indent="0" algn="ctr" fontAlgn="auto">
                <a:lnSpc>
                  <a:spcPct val="100000"/>
                </a:lnSpc>
                <a:spcBef>
                  <a:spcPct val="50000"/>
                </a:spcBef>
              </a:pPr>
              <a:r>
                <a:rPr lang="en-US" altLang="zh-CN" sz="1400" b="1">
                  <a:latin typeface="Times New Roman" panose="02020503050405090304" pitchFamily="18" charset="0"/>
                  <a:ea typeface="微软简魏碑" pitchFamily="2" charset="-122"/>
                  <a:sym typeface="+mn-ea"/>
                </a:rPr>
                <a:t>b=30%</a:t>
              </a:r>
              <a:endParaRPr lang="en-US" altLang="zh-CN" sz="1400" b="1">
                <a:latin typeface="Times New Roman" panose="02020503050405090304" pitchFamily="18" charset="0"/>
                <a:ea typeface="微软简魏碑" pitchFamily="2" charset="-122"/>
              </a:endParaRPr>
            </a:p>
            <a:p>
              <a:pPr indent="0" algn="ctr" fontAlgn="auto">
                <a:lnSpc>
                  <a:spcPct val="100000"/>
                </a:lnSpc>
                <a:spcBef>
                  <a:spcPct val="50000"/>
                </a:spcBef>
              </a:pPr>
              <a:r>
                <a:rPr lang="en-US" altLang="zh-CN" sz="1400" b="1">
                  <a:latin typeface="Times New Roman" panose="02020503050405090304" pitchFamily="18" charset="0"/>
                  <a:ea typeface="微软简魏碑" pitchFamily="2" charset="-122"/>
                  <a:sym typeface="+mn-ea"/>
                </a:rPr>
                <a:t>c=20%</a:t>
              </a:r>
              <a:endParaRPr lang="en-US" altLang="zh-CN" sz="1400" b="1">
                <a:latin typeface="Times New Roman" panose="02020503050405090304" pitchFamily="18" charset="0"/>
                <a:ea typeface="微软简魏碑" pitchFamily="2" charset="-122"/>
              </a:endParaRPr>
            </a:p>
            <a:p>
              <a:pPr indent="0" algn="ctr" fontAlgn="auto">
                <a:lnSpc>
                  <a:spcPct val="100000"/>
                </a:lnSpc>
              </a:pPr>
              <a:endParaRPr lang="zh-CN" altLang="en-US" sz="1400"/>
            </a:p>
          </p:txBody>
        </p:sp>
        <p:sp>
          <p:nvSpPr>
            <p:cNvPr id="689192" name="直接连接符 689191"/>
            <p:cNvSpPr/>
            <p:nvPr>
              <p:custDataLst>
                <p:tags r:id="rId27"/>
              </p:custDataLst>
            </p:nvPr>
          </p:nvSpPr>
          <p:spPr>
            <a:xfrm>
              <a:off x="9518" y="4017"/>
              <a:ext cx="1530" cy="1307"/>
            </a:xfrm>
            <a:prstGeom prst="line">
              <a:avLst/>
            </a:prstGeom>
            <a:ln w="9525" cap="flat" cmpd="sng">
              <a:solidFill>
                <a:schemeClr val="tx1"/>
              </a:solidFill>
              <a:prstDash val="solid"/>
              <a:headEnd type="arrow" w="med" len="med"/>
              <a:tailEnd type="none" w="med" len="med"/>
            </a:ln>
          </p:spPr>
        </p:sp>
        <p:sp>
          <p:nvSpPr>
            <p:cNvPr id="689193" name="直接连接符 689192"/>
            <p:cNvSpPr/>
            <p:nvPr>
              <p:custDataLst>
                <p:tags r:id="rId28"/>
              </p:custDataLst>
            </p:nvPr>
          </p:nvSpPr>
          <p:spPr>
            <a:xfrm>
              <a:off x="9838" y="3913"/>
              <a:ext cx="1348" cy="1236"/>
            </a:xfrm>
            <a:prstGeom prst="line">
              <a:avLst/>
            </a:prstGeom>
            <a:ln w="9525" cap="rnd" cmpd="sng">
              <a:solidFill>
                <a:schemeClr val="tx1"/>
              </a:solidFill>
              <a:prstDash val="sysDot"/>
              <a:headEnd type="none" w="med" len="med"/>
              <a:tailEnd type="triangle" w="med" len="med"/>
            </a:ln>
          </p:spPr>
        </p:sp>
        <p:sp>
          <p:nvSpPr>
            <p:cNvPr id="689194" name="直接连接符 689193"/>
            <p:cNvSpPr/>
            <p:nvPr>
              <p:custDataLst>
                <p:tags r:id="rId29"/>
              </p:custDataLst>
            </p:nvPr>
          </p:nvSpPr>
          <p:spPr>
            <a:xfrm flipV="1">
              <a:off x="11688" y="3895"/>
              <a:ext cx="0" cy="1097"/>
            </a:xfrm>
            <a:prstGeom prst="line">
              <a:avLst/>
            </a:prstGeom>
            <a:ln w="9525" cap="flat" cmpd="sng">
              <a:solidFill>
                <a:schemeClr val="tx1"/>
              </a:solidFill>
              <a:prstDash val="solid"/>
              <a:headEnd type="none" w="med" len="med"/>
              <a:tailEnd type="triangle" w="med" len="med"/>
            </a:ln>
          </p:spPr>
        </p:sp>
        <p:sp>
          <p:nvSpPr>
            <p:cNvPr id="689195" name="直接连接符 689194"/>
            <p:cNvSpPr/>
            <p:nvPr>
              <p:custDataLst>
                <p:tags r:id="rId30"/>
              </p:custDataLst>
            </p:nvPr>
          </p:nvSpPr>
          <p:spPr>
            <a:xfrm>
              <a:off x="12007" y="3947"/>
              <a:ext cx="2" cy="999"/>
            </a:xfrm>
            <a:prstGeom prst="line">
              <a:avLst/>
            </a:prstGeom>
            <a:ln w="9525" cap="flat" cmpd="sng">
              <a:solidFill>
                <a:schemeClr val="tx1"/>
              </a:solidFill>
              <a:prstDash val="sysDot"/>
              <a:headEnd type="none" w="med" len="med"/>
              <a:tailEnd type="triangle" w="med" len="med"/>
            </a:ln>
          </p:spPr>
        </p:sp>
        <p:sp>
          <p:nvSpPr>
            <p:cNvPr id="689196" name="直接连接符 689195"/>
            <p:cNvSpPr/>
            <p:nvPr>
              <p:custDataLst>
                <p:tags r:id="rId31"/>
              </p:custDataLst>
            </p:nvPr>
          </p:nvSpPr>
          <p:spPr>
            <a:xfrm flipV="1">
              <a:off x="12741" y="3861"/>
              <a:ext cx="1233" cy="1132"/>
            </a:xfrm>
            <a:prstGeom prst="line">
              <a:avLst/>
            </a:prstGeom>
            <a:ln w="9525" cap="flat" cmpd="sng">
              <a:solidFill>
                <a:schemeClr val="tx1"/>
              </a:solidFill>
              <a:prstDash val="solid"/>
              <a:headEnd type="none" w="med" len="med"/>
              <a:tailEnd type="triangle" w="med" len="med"/>
            </a:ln>
          </p:spPr>
        </p:sp>
        <p:sp>
          <p:nvSpPr>
            <p:cNvPr id="689197" name="直接连接符 689196"/>
            <p:cNvSpPr/>
            <p:nvPr>
              <p:custDataLst>
                <p:tags r:id="rId32"/>
              </p:custDataLst>
            </p:nvPr>
          </p:nvSpPr>
          <p:spPr>
            <a:xfrm flipH="1">
              <a:off x="13229" y="3812"/>
              <a:ext cx="1648" cy="1273"/>
            </a:xfrm>
            <a:prstGeom prst="line">
              <a:avLst/>
            </a:prstGeom>
            <a:ln w="9525" cap="flat" cmpd="sng">
              <a:solidFill>
                <a:srgbClr val="0000CC"/>
              </a:solidFill>
              <a:prstDash val="sysDot"/>
              <a:headEnd type="none" w="med" len="med"/>
              <a:tailEnd type="triangle" w="med" len="med"/>
            </a:ln>
          </p:spPr>
        </p:sp>
        <p:sp>
          <p:nvSpPr>
            <p:cNvPr id="689201" name="文本框 689200"/>
            <p:cNvSpPr txBox="1"/>
            <p:nvPr>
              <p:custDataLst>
                <p:tags r:id="rId33"/>
              </p:custDataLst>
            </p:nvPr>
          </p:nvSpPr>
          <p:spPr>
            <a:xfrm>
              <a:off x="6568" y="3132"/>
              <a:ext cx="1490" cy="581"/>
            </a:xfrm>
            <a:prstGeom prst="rect">
              <a:avLst/>
            </a:prstGeom>
            <a:noFill/>
            <a:ln w="9525">
              <a:noFill/>
            </a:ln>
          </p:spPr>
          <p:txBody>
            <a:bodyPr wrap="square" lIns="0" tIns="0" rIns="0" bIns="0">
              <a:spAutoFit/>
            </a:bodyPr>
            <a:lstStyle/>
            <a:p>
              <a:pPr>
                <a:spcBef>
                  <a:spcPct val="50000"/>
                </a:spcBef>
              </a:pPr>
              <a:r>
                <a:rPr lang="zh-CN" altLang="en-US" sz="2400" b="1" dirty="0">
                  <a:solidFill>
                    <a:srgbClr val="0000CC"/>
                  </a:solidFill>
                  <a:latin typeface="Times New Roman" panose="02020503050405090304" pitchFamily="18" charset="0"/>
                  <a:ea typeface="隶书" pitchFamily="49" charset="-122"/>
                </a:rPr>
                <a:t>展示</a:t>
              </a:r>
            </a:p>
          </p:txBody>
        </p:sp>
        <p:sp>
          <p:nvSpPr>
            <p:cNvPr id="689202" name="文本框 689201"/>
            <p:cNvSpPr txBox="1"/>
            <p:nvPr>
              <p:custDataLst>
                <p:tags r:id="rId34"/>
              </p:custDataLst>
            </p:nvPr>
          </p:nvSpPr>
          <p:spPr>
            <a:xfrm>
              <a:off x="6695" y="5513"/>
              <a:ext cx="1945" cy="575"/>
            </a:xfrm>
            <a:prstGeom prst="rect">
              <a:avLst/>
            </a:prstGeom>
            <a:noFill/>
            <a:ln w="9525">
              <a:noFill/>
            </a:ln>
          </p:spPr>
          <p:txBody>
            <a:bodyPr lIns="0" tIns="0" rIns="0" bIns="0">
              <a:spAutoFit/>
            </a:bodyPr>
            <a:lstStyle/>
            <a:p>
              <a:pPr>
                <a:spcBef>
                  <a:spcPct val="50000"/>
                </a:spcBef>
              </a:pPr>
              <a:r>
                <a:rPr lang="zh-CN" altLang="en-US" sz="2400" b="1" dirty="0">
                  <a:solidFill>
                    <a:srgbClr val="0000CC"/>
                  </a:solidFill>
                  <a:latin typeface="Times New Roman" panose="02020503050405090304" pitchFamily="18" charset="0"/>
                  <a:ea typeface="隶书" pitchFamily="49" charset="-122"/>
                </a:rPr>
                <a:t>计算</a:t>
              </a:r>
            </a:p>
          </p:txBody>
        </p:sp>
      </p:grpSp>
      <p:grpSp>
        <p:nvGrpSpPr>
          <p:cNvPr id="678918" name="组合 678917"/>
          <p:cNvGrpSpPr/>
          <p:nvPr/>
        </p:nvGrpSpPr>
        <p:grpSpPr>
          <a:xfrm>
            <a:off x="551815" y="2632393"/>
            <a:ext cx="4057650" cy="771525"/>
            <a:chOff x="2520" y="8148"/>
            <a:chExt cx="6120" cy="1144"/>
          </a:xfrm>
        </p:grpSpPr>
        <p:sp>
          <p:nvSpPr>
            <p:cNvPr id="678919" name="矩形 678918"/>
            <p:cNvSpPr/>
            <p:nvPr>
              <p:custDataLst>
                <p:tags r:id="rId1"/>
              </p:custDataLst>
            </p:nvPr>
          </p:nvSpPr>
          <p:spPr>
            <a:xfrm>
              <a:off x="7020" y="8148"/>
              <a:ext cx="720" cy="156"/>
            </a:xfrm>
            <a:prstGeom prst="rect">
              <a:avLst/>
            </a:prstGeom>
            <a:solidFill>
              <a:srgbClr val="FFFFFF"/>
            </a:solidFill>
            <a:ln w="9525" cap="flat" cmpd="sng">
              <a:solidFill>
                <a:srgbClr val="000000"/>
              </a:solidFill>
              <a:prstDash val="solid"/>
              <a:miter/>
              <a:headEnd type="none" w="med" len="med"/>
              <a:tailEnd type="none" w="med" len="med"/>
            </a:ln>
          </p:spPr>
          <p:txBody>
            <a:bodyPr/>
            <a:lstStyle/>
            <a:p>
              <a:endParaRPr lang="zh-CN" altLang="en-US"/>
            </a:p>
          </p:txBody>
        </p:sp>
        <p:sp>
          <p:nvSpPr>
            <p:cNvPr id="678920" name="文本框 678919"/>
            <p:cNvSpPr txBox="1"/>
            <p:nvPr>
              <p:custDataLst>
                <p:tags r:id="rId2"/>
              </p:custDataLst>
            </p:nvPr>
          </p:nvSpPr>
          <p:spPr>
            <a:xfrm>
              <a:off x="2520" y="8304"/>
              <a:ext cx="1440" cy="936"/>
            </a:xfrm>
            <a:prstGeom prst="rect">
              <a:avLst/>
            </a:prstGeom>
            <a:solidFill>
              <a:srgbClr val="FFFFFF"/>
            </a:solidFill>
            <a:ln w="9525" cap="flat" cmpd="sng">
              <a:solidFill>
                <a:srgbClr val="000000"/>
              </a:solidFill>
              <a:prstDash val="solid"/>
              <a:miter/>
              <a:headEnd type="none" w="med" len="med"/>
              <a:tailEnd type="none" w="med" len="med"/>
            </a:ln>
          </p:spPr>
          <p:txBody>
            <a:bodyPr/>
            <a:lstStyle/>
            <a:p>
              <a:pPr algn="just"/>
              <a:r>
                <a:rPr lang="zh-CN" altLang="en-US" sz="1600" dirty="0">
                  <a:latin typeface="Times New Roman" panose="02020503050405090304" pitchFamily="18" charset="0"/>
                  <a:ea typeface="宋体" pitchFamily="2" charset="-122"/>
                </a:rPr>
                <a:t>问题域部分</a:t>
              </a:r>
              <a:endParaRPr lang="zh-CN" altLang="en-US" sz="1600" b="1" dirty="0">
                <a:latin typeface="Times New Roman" panose="02020503050405090304" pitchFamily="18" charset="0"/>
                <a:ea typeface="微软简魏碑" pitchFamily="2" charset="-122"/>
              </a:endParaRPr>
            </a:p>
          </p:txBody>
        </p:sp>
        <p:sp>
          <p:nvSpPr>
            <p:cNvPr id="678921" name="文本框 678920"/>
            <p:cNvSpPr txBox="1"/>
            <p:nvPr>
              <p:custDataLst>
                <p:tags r:id="rId3"/>
              </p:custDataLst>
            </p:nvPr>
          </p:nvSpPr>
          <p:spPr>
            <a:xfrm>
              <a:off x="7020" y="8304"/>
              <a:ext cx="1620" cy="988"/>
            </a:xfrm>
            <a:prstGeom prst="rect">
              <a:avLst/>
            </a:prstGeom>
            <a:solidFill>
              <a:srgbClr val="FFFFFF"/>
            </a:solidFill>
            <a:ln w="9525" cap="flat" cmpd="sng">
              <a:solidFill>
                <a:srgbClr val="000000"/>
              </a:solidFill>
              <a:prstDash val="solid"/>
              <a:miter/>
              <a:headEnd type="none" w="med" len="med"/>
              <a:tailEnd type="none" w="med" len="med"/>
            </a:ln>
          </p:spPr>
          <p:txBody>
            <a:bodyPr/>
            <a:lstStyle/>
            <a:p>
              <a:pPr algn="just"/>
              <a:r>
                <a:rPr lang="zh-CN" altLang="en-US" sz="1600" dirty="0">
                  <a:latin typeface="Times New Roman" panose="02020503050405090304" pitchFamily="18" charset="0"/>
                  <a:ea typeface="宋体" pitchFamily="2" charset="-122"/>
                </a:rPr>
                <a:t>人机交互部分</a:t>
              </a:r>
              <a:endParaRPr lang="zh-CN" altLang="en-US" sz="1600" b="1" dirty="0">
                <a:latin typeface="Times New Roman" panose="02020503050405090304" pitchFamily="18" charset="0"/>
                <a:ea typeface="微软简魏碑" pitchFamily="2" charset="-122"/>
              </a:endParaRPr>
            </a:p>
          </p:txBody>
        </p:sp>
        <p:sp>
          <p:nvSpPr>
            <p:cNvPr id="678922" name="椭圆 678921"/>
            <p:cNvSpPr/>
            <p:nvPr>
              <p:custDataLst>
                <p:tags r:id="rId4"/>
              </p:custDataLst>
            </p:nvPr>
          </p:nvSpPr>
          <p:spPr>
            <a:xfrm>
              <a:off x="4500" y="8564"/>
              <a:ext cx="360" cy="312"/>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a:p>
          </p:txBody>
        </p:sp>
        <p:sp>
          <p:nvSpPr>
            <p:cNvPr id="678923" name="直接连接符 678922"/>
            <p:cNvSpPr/>
            <p:nvPr>
              <p:custDataLst>
                <p:tags r:id="rId5"/>
              </p:custDataLst>
            </p:nvPr>
          </p:nvSpPr>
          <p:spPr>
            <a:xfrm>
              <a:off x="3960" y="8720"/>
              <a:ext cx="540" cy="0"/>
            </a:xfrm>
            <a:prstGeom prst="line">
              <a:avLst/>
            </a:prstGeom>
            <a:ln w="9525" cap="flat" cmpd="sng">
              <a:solidFill>
                <a:srgbClr val="000000"/>
              </a:solidFill>
              <a:prstDash val="solid"/>
              <a:headEnd type="none" w="med" len="med"/>
              <a:tailEnd type="none" w="med" len="med"/>
            </a:ln>
          </p:spPr>
        </p:sp>
        <p:sp>
          <p:nvSpPr>
            <p:cNvPr id="678924" name="直接连接符 678923"/>
            <p:cNvSpPr/>
            <p:nvPr>
              <p:custDataLst>
                <p:tags r:id="rId6"/>
              </p:custDataLst>
            </p:nvPr>
          </p:nvSpPr>
          <p:spPr>
            <a:xfrm flipH="1">
              <a:off x="4860" y="8720"/>
              <a:ext cx="2160" cy="0"/>
            </a:xfrm>
            <a:prstGeom prst="line">
              <a:avLst/>
            </a:prstGeom>
            <a:ln w="9525" cap="flat" cmpd="sng">
              <a:solidFill>
                <a:srgbClr val="000000"/>
              </a:solidFill>
              <a:prstDash val="dash"/>
              <a:headEnd type="none" w="med" len="med"/>
              <a:tailEnd type="arrow" w="med" len="med"/>
            </a:ln>
          </p:spPr>
        </p:sp>
        <p:sp>
          <p:nvSpPr>
            <p:cNvPr id="678925" name="矩形 678924"/>
            <p:cNvSpPr/>
            <p:nvPr>
              <p:custDataLst>
                <p:tags r:id="rId7"/>
              </p:custDataLst>
            </p:nvPr>
          </p:nvSpPr>
          <p:spPr>
            <a:xfrm>
              <a:off x="2520" y="8148"/>
              <a:ext cx="720" cy="156"/>
            </a:xfrm>
            <a:prstGeom prst="rect">
              <a:avLst/>
            </a:prstGeom>
            <a:solidFill>
              <a:srgbClr val="FFFFFF"/>
            </a:solidFill>
            <a:ln w="9525" cap="flat" cmpd="sng">
              <a:solidFill>
                <a:srgbClr val="000000"/>
              </a:solidFill>
              <a:prstDash val="solid"/>
              <a:miter/>
              <a:headEnd type="none" w="med" len="med"/>
              <a:tailEnd type="none" w="med" len="med"/>
            </a:ln>
          </p:spPr>
          <p:txBody>
            <a:bodyPr/>
            <a:lstStyle/>
            <a:p>
              <a:endParaRPr lang="zh-CN" altLang="en-US"/>
            </a:p>
          </p:txBody>
        </p:sp>
      </p:gr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5.5 </a:t>
            </a:r>
            <a:r>
              <a:rPr lang="zh-CN" altLang="en-US" dirty="0"/>
              <a:t>详细的类设计</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6944" y="1556791"/>
            <a:ext cx="2664296" cy="4838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311240" y="2708920"/>
            <a:ext cx="3153512" cy="1198880"/>
          </a:xfrm>
          <a:prstGeom prst="rect">
            <a:avLst/>
          </a:prstGeom>
          <a:noFill/>
        </p:spPr>
        <p:txBody>
          <a:bodyPr wrap="square" rtlCol="0">
            <a:spAutoFit/>
          </a:bodyPr>
          <a:lstStyle/>
          <a:p>
            <a:r>
              <a:rPr lang="en-US" altLang="zh-CN" sz="2400" b="1" dirty="0"/>
              <a:t>(1)</a:t>
            </a:r>
            <a:r>
              <a:rPr lang="zh-CN" altLang="en-US" sz="2400" b="1" dirty="0"/>
              <a:t>显示这个操作</a:t>
            </a:r>
            <a:endParaRPr lang="en-US" altLang="zh-CN" sz="2400" b="1" dirty="0"/>
          </a:p>
          <a:p>
            <a:r>
              <a:rPr lang="zh-CN" altLang="en-US" sz="2400" b="1" dirty="0"/>
              <a:t>应该在表示层，</a:t>
            </a:r>
            <a:endParaRPr lang="en-US" altLang="zh-CN" sz="2400" b="1" dirty="0"/>
          </a:p>
          <a:p>
            <a:r>
              <a:rPr lang="zh-CN" altLang="en-US" sz="2400" b="1" dirty="0"/>
              <a:t>所以改为</a:t>
            </a:r>
            <a:r>
              <a:rPr lang="en-US" altLang="zh-CN" sz="2400" b="1" dirty="0" err="1"/>
              <a:t>setDate</a:t>
            </a:r>
            <a:r>
              <a:rPr lang="en-US" altLang="zh-CN" sz="2400" b="1" dirty="0"/>
              <a:t>;</a:t>
            </a:r>
          </a:p>
        </p:txBody>
      </p:sp>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4752" y="1443970"/>
            <a:ext cx="3024336" cy="51279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5.6 </a:t>
            </a:r>
            <a:r>
              <a:rPr lang="zh-CN" altLang="en-US" dirty="0"/>
              <a:t>动态行为建模</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2183" y="1700808"/>
            <a:ext cx="7695125" cy="3888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t>6</a:t>
            </a:r>
            <a:r>
              <a:rPr lang="zh-CN" altLang="en-US" dirty="0"/>
              <a:t>：面向对象的实现</a:t>
            </a:r>
          </a:p>
        </p:txBody>
      </p:sp>
      <p:sp>
        <p:nvSpPr>
          <p:cNvPr id="3" name="副标题 2"/>
          <p:cNvSpPr>
            <a:spLocks noGrp="1"/>
          </p:cNvSpPr>
          <p:nvPr>
            <p:ph type="subTitle" idx="1"/>
          </p:nvPr>
        </p:nvSpPr>
        <p:spPr/>
        <p:txBody>
          <a:bodyPr/>
          <a:lstStyle/>
          <a:p>
            <a:endParaRPr lang="zh-CN" altLang="en-US"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eaLnBrk="1" fontAlgn="base" hangingPunct="1">
              <a:spcBef>
                <a:spcPct val="50000"/>
              </a:spcBef>
              <a:buChar char="•"/>
            </a:pPr>
            <a:r>
              <a:rPr lang="zh-CN" altLang="en-US" dirty="0">
                <a:latin typeface="黑体" pitchFamily="2" charset="-122"/>
                <a:ea typeface="黑体" pitchFamily="2" charset="-122"/>
                <a:sym typeface="+mn-ea"/>
              </a:rPr>
              <a:t>面向对象的程序设计</a:t>
            </a:r>
            <a:endParaRPr lang="zh-CN" altLang="en-US" dirty="0">
              <a:latin typeface="黑体" pitchFamily="2" charset="-122"/>
              <a:ea typeface="黑体" pitchFamily="2" charset="-122"/>
            </a:endParaRPr>
          </a:p>
          <a:p>
            <a:pPr eaLnBrk="1" fontAlgn="base" hangingPunct="1">
              <a:spcBef>
                <a:spcPct val="50000"/>
              </a:spcBef>
              <a:buChar char="•"/>
            </a:pPr>
            <a:r>
              <a:rPr lang="en-US" altLang="zh-CN">
                <a:latin typeface="黑体" pitchFamily="2" charset="-122"/>
                <a:ea typeface="黑体" pitchFamily="2" charset="-122"/>
                <a:sym typeface="+mn-ea"/>
              </a:rPr>
              <a:t>OO</a:t>
            </a:r>
            <a:r>
              <a:rPr lang="zh-CN" altLang="en-US" dirty="0">
                <a:latin typeface="黑体" pitchFamily="2" charset="-122"/>
                <a:ea typeface="黑体" pitchFamily="2" charset="-122"/>
                <a:sym typeface="+mn-ea"/>
              </a:rPr>
              <a:t>中概念在</a:t>
            </a:r>
            <a:r>
              <a:rPr lang="en-US" altLang="zh-CN">
                <a:latin typeface="黑体" pitchFamily="2" charset="-122"/>
                <a:ea typeface="黑体" pitchFamily="2" charset="-122"/>
                <a:sym typeface="+mn-ea"/>
              </a:rPr>
              <a:t>C++</a:t>
            </a:r>
            <a:r>
              <a:rPr lang="zh-CN" altLang="en-US" dirty="0">
                <a:latin typeface="黑体" pitchFamily="2" charset="-122"/>
                <a:ea typeface="黑体" pitchFamily="2" charset="-122"/>
                <a:sym typeface="+mn-ea"/>
              </a:rPr>
              <a:t>或</a:t>
            </a:r>
            <a:r>
              <a:rPr lang="en-US" altLang="zh-CN">
                <a:latin typeface="黑体" pitchFamily="2" charset="-122"/>
                <a:ea typeface="黑体" pitchFamily="2" charset="-122"/>
                <a:sym typeface="+mn-ea"/>
              </a:rPr>
              <a:t>Java</a:t>
            </a:r>
            <a:r>
              <a:rPr lang="zh-CN" altLang="en-US" dirty="0">
                <a:latin typeface="黑体" pitchFamily="2" charset="-122"/>
                <a:ea typeface="黑体" pitchFamily="2" charset="-122"/>
                <a:sym typeface="+mn-ea"/>
              </a:rPr>
              <a:t>中的实现</a:t>
            </a:r>
            <a:endParaRPr lang="zh-CN" altLang="en-US" dirty="0">
              <a:latin typeface="黑体" pitchFamily="2" charset="-122"/>
              <a:ea typeface="黑体" pitchFamily="2" charset="-122"/>
            </a:endParaRPr>
          </a:p>
          <a:p>
            <a:pPr eaLnBrk="1" fontAlgn="base" hangingPunct="1">
              <a:spcBef>
                <a:spcPct val="50000"/>
              </a:spcBef>
              <a:buChar char="•"/>
            </a:pPr>
            <a:r>
              <a:rPr lang="zh-CN" altLang="en-US" dirty="0">
                <a:latin typeface="黑体" pitchFamily="2" charset="-122"/>
                <a:ea typeface="黑体" pitchFamily="2" charset="-122"/>
                <a:sym typeface="+mn-ea"/>
              </a:rPr>
              <a:t>数据接口部分的实现</a:t>
            </a:r>
          </a:p>
          <a:p>
            <a:pPr lvl="1" eaLnBrk="1" fontAlgn="base" hangingPunct="1">
              <a:spcBef>
                <a:spcPct val="50000"/>
              </a:spcBef>
              <a:buChar char="•"/>
            </a:pPr>
            <a:r>
              <a:rPr lang="zh-CN" altLang="en-US" dirty="0">
                <a:latin typeface="黑体" pitchFamily="2" charset="-122"/>
                <a:ea typeface="黑体" pitchFamily="2" charset="-122"/>
                <a:sym typeface="+mn-ea"/>
              </a:rPr>
              <a:t>数据库、文件系统</a:t>
            </a:r>
            <a:endParaRPr lang="zh-CN" altLang="en-US" dirty="0">
              <a:latin typeface="黑体" pitchFamily="2" charset="-122"/>
              <a:ea typeface="黑体" pitchFamily="2" charset="-122"/>
            </a:endParaRPr>
          </a:p>
          <a:p>
            <a:pPr eaLnBrk="1" fontAlgn="base" hangingPunct="1">
              <a:spcBef>
                <a:spcPct val="50000"/>
              </a:spcBef>
              <a:buChar char="•"/>
            </a:pPr>
            <a:r>
              <a:rPr lang="zh-CN" altLang="en-US" dirty="0">
                <a:latin typeface="黑体" pitchFamily="2" charset="-122"/>
                <a:ea typeface="黑体" pitchFamily="2" charset="-122"/>
                <a:sym typeface="+mn-ea"/>
              </a:rPr>
              <a:t>实现状态图</a:t>
            </a:r>
            <a:endParaRPr lang="zh-CN" altLang="en-US" dirty="0">
              <a:latin typeface="黑体" pitchFamily="2" charset="-122"/>
              <a:ea typeface="黑体" pitchFamily="2" charset="-122"/>
            </a:endParaRPr>
          </a:p>
          <a:p>
            <a:pPr marL="0" indent="0" eaLnBrk="1" fontAlgn="base" hangingPunct="1">
              <a:spcBef>
                <a:spcPct val="50000"/>
              </a:spcBef>
              <a:buNone/>
            </a:pPr>
            <a:endParaRPr lang="zh-CN" alt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6.1 </a:t>
            </a:r>
            <a:r>
              <a:rPr lang="zh-CN" altLang="en-US" dirty="0"/>
              <a:t>构件</a:t>
            </a:r>
          </a:p>
        </p:txBody>
      </p:sp>
      <p:sp>
        <p:nvSpPr>
          <p:cNvPr id="3" name="内容占位符 2"/>
          <p:cNvSpPr>
            <a:spLocks noGrp="1"/>
          </p:cNvSpPr>
          <p:nvPr>
            <p:ph idx="1"/>
          </p:nvPr>
        </p:nvSpPr>
        <p:spPr/>
        <p:txBody>
          <a:bodyPr/>
          <a:lstStyle/>
          <a:p>
            <a:r>
              <a:rPr lang="zh-CN" altLang="en-US" dirty="0"/>
              <a:t>构件表示系统部件的物理实体，存在很多不同类型的构件，包括源代码文件、可执行文件、库以及数据库表</a:t>
            </a:r>
            <a:endParaRPr lang="en-US" altLang="zh-CN" dirty="0"/>
          </a:p>
          <a:p>
            <a:r>
              <a:rPr lang="zh-CN" altLang="en-US" dirty="0"/>
              <a:t>构件图</a:t>
            </a:r>
          </a:p>
          <a:p>
            <a:endParaRPr lang="zh-CN" altLang="en-US"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构件图</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2184" y="1412775"/>
            <a:ext cx="7410582" cy="4968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直接连接符 5"/>
          <p:cNvCxnSpPr/>
          <p:nvPr/>
        </p:nvCxnSpPr>
        <p:spPr>
          <a:xfrm>
            <a:off x="2136160" y="2564904"/>
            <a:ext cx="806489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 </a:t>
            </a:r>
            <a:r>
              <a:rPr lang="zh-CN" altLang="en-US" dirty="0"/>
              <a:t>类的实现</a:t>
            </a:r>
          </a:p>
        </p:txBody>
      </p:sp>
      <p:sp>
        <p:nvSpPr>
          <p:cNvPr id="3" name="内容占位符 2"/>
          <p:cNvSpPr>
            <a:spLocks noGrp="1"/>
          </p:cNvSpPr>
          <p:nvPr>
            <p:ph idx="1"/>
          </p:nvPr>
        </p:nvSpPr>
        <p:spPr>
          <a:xfrm>
            <a:off x="1981800" y="1600201"/>
            <a:ext cx="8229600" cy="1684784"/>
          </a:xfrm>
        </p:spPr>
        <p:txBody>
          <a:bodyPr>
            <a:normAutofit/>
          </a:bodyPr>
          <a:lstStyle/>
          <a:p>
            <a:r>
              <a:rPr lang="zh-CN" altLang="en-US" dirty="0"/>
              <a:t>类：代码，根据不同的语言编写</a:t>
            </a:r>
            <a:endParaRPr lang="en-US" altLang="zh-CN" dirty="0"/>
          </a:p>
          <a:p>
            <a:r>
              <a:rPr lang="zh-CN" altLang="en-US" dirty="0"/>
              <a:t>泛化：继承</a:t>
            </a:r>
            <a:endParaRPr lang="en-US" altLang="zh-CN" dirty="0"/>
          </a:p>
          <a:p>
            <a:r>
              <a:rPr lang="zh-CN" altLang="en-US" dirty="0"/>
              <a:t>类的重数</a:t>
            </a:r>
          </a:p>
        </p:txBody>
      </p:sp>
      <p:sp>
        <p:nvSpPr>
          <p:cNvPr id="4" name="TextBox 3"/>
          <p:cNvSpPr txBox="1"/>
          <p:nvPr/>
        </p:nvSpPr>
        <p:spPr>
          <a:xfrm>
            <a:off x="5448528" y="2924944"/>
            <a:ext cx="5052695" cy="3415030"/>
          </a:xfrm>
          <a:prstGeom prst="rect">
            <a:avLst/>
          </a:prstGeom>
          <a:noFill/>
        </p:spPr>
        <p:txBody>
          <a:bodyPr wrap="none" rtlCol="0">
            <a:spAutoFit/>
          </a:bodyPr>
          <a:lstStyle/>
          <a:p>
            <a:r>
              <a:rPr lang="en-US" altLang="zh-CN" dirty="0"/>
              <a:t>public class </a:t>
            </a:r>
            <a:r>
              <a:rPr lang="en-US" altLang="zh-CN" dirty="0" err="1"/>
              <a:t>BookingSystem</a:t>
            </a:r>
            <a:endParaRPr lang="en-US" altLang="zh-CN" dirty="0"/>
          </a:p>
          <a:p>
            <a:r>
              <a:rPr lang="en-US" altLang="zh-CN" dirty="0"/>
              <a:t>{</a:t>
            </a:r>
          </a:p>
          <a:p>
            <a:r>
              <a:rPr lang="en-US" altLang="zh-CN" dirty="0"/>
              <a:t>   private static </a:t>
            </a:r>
            <a:r>
              <a:rPr lang="en-US" altLang="zh-CN" dirty="0" err="1"/>
              <a:t>BookingSyetem</a:t>
            </a:r>
            <a:r>
              <a:rPr lang="en-US" altLang="zh-CN" dirty="0"/>
              <a:t> </a:t>
            </a:r>
            <a:r>
              <a:rPr lang="en-US" altLang="zh-CN" dirty="0" err="1"/>
              <a:t>uniqueInstance</a:t>
            </a:r>
            <a:r>
              <a:rPr lang="en-US" altLang="zh-CN" dirty="0"/>
              <a:t>;</a:t>
            </a:r>
          </a:p>
          <a:p>
            <a:r>
              <a:rPr lang="en-US" altLang="zh-CN" dirty="0"/>
              <a:t>   public static </a:t>
            </a:r>
            <a:r>
              <a:rPr lang="en-US" altLang="zh-CN" dirty="0" err="1"/>
              <a:t>BookingSystem</a:t>
            </a:r>
            <a:r>
              <a:rPr lang="en-US" altLang="zh-CN" dirty="0"/>
              <a:t> </a:t>
            </a:r>
            <a:r>
              <a:rPr lang="en-US" altLang="zh-CN" dirty="0" err="1"/>
              <a:t>getInstance</a:t>
            </a:r>
            <a:r>
              <a:rPr lang="en-US" altLang="zh-CN" dirty="0"/>
              <a:t>()</a:t>
            </a:r>
          </a:p>
          <a:p>
            <a:r>
              <a:rPr lang="en-US" altLang="zh-CN" dirty="0"/>
              <a:t>   {</a:t>
            </a:r>
          </a:p>
          <a:p>
            <a:r>
              <a:rPr lang="en-US" altLang="zh-CN" dirty="0"/>
              <a:t>       if(</a:t>
            </a:r>
            <a:r>
              <a:rPr lang="en-US" altLang="zh-CN" dirty="0" err="1"/>
              <a:t>uniqueInstance</a:t>
            </a:r>
            <a:r>
              <a:rPr lang="en-US" altLang="zh-CN" dirty="0"/>
              <a:t>==null)</a:t>
            </a:r>
          </a:p>
          <a:p>
            <a:r>
              <a:rPr lang="en-US" altLang="zh-CN" dirty="0"/>
              <a:t>          </a:t>
            </a:r>
            <a:r>
              <a:rPr lang="en-US" altLang="zh-CN" dirty="0" err="1"/>
              <a:t>uniqueInstance</a:t>
            </a:r>
            <a:r>
              <a:rPr lang="en-US" altLang="zh-CN" dirty="0"/>
              <a:t>=new </a:t>
            </a:r>
            <a:r>
              <a:rPr lang="en-US" altLang="zh-CN" dirty="0" err="1"/>
              <a:t>BookingSystem</a:t>
            </a:r>
            <a:r>
              <a:rPr lang="en-US" altLang="zh-CN" dirty="0"/>
              <a:t>();</a:t>
            </a:r>
          </a:p>
          <a:p>
            <a:endParaRPr lang="en-US" altLang="zh-CN" dirty="0"/>
          </a:p>
          <a:p>
            <a:r>
              <a:rPr lang="en-US" altLang="zh-CN" dirty="0"/>
              <a:t>       return </a:t>
            </a:r>
            <a:r>
              <a:rPr lang="en-US" altLang="zh-CN" dirty="0" err="1"/>
              <a:t>uniqueInstance</a:t>
            </a:r>
            <a:r>
              <a:rPr lang="en-US" altLang="zh-CN" dirty="0"/>
              <a:t>;</a:t>
            </a:r>
          </a:p>
          <a:p>
            <a:r>
              <a:rPr lang="en-US" altLang="zh-CN" dirty="0"/>
              <a:t>   }</a:t>
            </a:r>
          </a:p>
          <a:p>
            <a:r>
              <a:rPr lang="en-US" altLang="zh-CN" dirty="0"/>
              <a:t>   …</a:t>
            </a:r>
          </a:p>
          <a:p>
            <a:r>
              <a:rPr lang="en-US" altLang="zh-CN" dirty="0"/>
              <a:t>}</a:t>
            </a:r>
            <a:endParaRPr lang="zh-CN" altLang="en-US" dirty="0"/>
          </a:p>
        </p:txBody>
      </p:sp>
      <p:sp>
        <p:nvSpPr>
          <p:cNvPr id="5" name="TextBox 4"/>
          <p:cNvSpPr txBox="1"/>
          <p:nvPr/>
        </p:nvSpPr>
        <p:spPr>
          <a:xfrm>
            <a:off x="1804892" y="3851756"/>
            <a:ext cx="2676525" cy="953135"/>
          </a:xfrm>
          <a:prstGeom prst="rect">
            <a:avLst/>
          </a:prstGeom>
          <a:noFill/>
        </p:spPr>
        <p:txBody>
          <a:bodyPr wrap="none" rtlCol="0">
            <a:spAutoFit/>
          </a:bodyPr>
          <a:lstStyle/>
          <a:p>
            <a:pPr algn="ctr"/>
            <a:r>
              <a:rPr lang="zh-CN" altLang="en-US" sz="2800" b="1" dirty="0">
                <a:solidFill>
                  <a:srgbClr val="FF0000"/>
                </a:solidFill>
              </a:rPr>
              <a:t>系统只能有一个</a:t>
            </a:r>
            <a:endParaRPr lang="en-US" altLang="zh-CN" sz="2800" b="1" dirty="0">
              <a:solidFill>
                <a:srgbClr val="FF0000"/>
              </a:solidFill>
            </a:endParaRPr>
          </a:p>
          <a:p>
            <a:pPr algn="ctr"/>
            <a:r>
              <a:rPr lang="zh-CN" altLang="en-US" sz="2800" b="1" dirty="0">
                <a:solidFill>
                  <a:srgbClr val="FF0000"/>
                </a:solidFill>
              </a:rPr>
              <a:t>预约控制类</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a:sym typeface="+mn-ea"/>
              </a:rPr>
              <a:t>Singleton</a:t>
            </a:r>
            <a:r>
              <a:rPr lang="zh-CN" altLang="en-US" b="1">
                <a:sym typeface="+mn-ea"/>
              </a:rPr>
              <a:t>模式</a:t>
            </a:r>
          </a:p>
        </p:txBody>
      </p:sp>
      <p:pic>
        <p:nvPicPr>
          <p:cNvPr id="137222" name="图片 137221"/>
          <p:cNvPicPr>
            <a:picLocks noChangeAspect="1"/>
          </p:cNvPicPr>
          <p:nvPr>
            <p:custDataLst>
              <p:tags r:id="rId1"/>
            </p:custDataLst>
          </p:nvPr>
        </p:nvPicPr>
        <p:blipFill>
          <a:blip r:embed="rId3"/>
          <a:stretch>
            <a:fillRect/>
          </a:stretch>
        </p:blipFill>
        <p:spPr>
          <a:xfrm>
            <a:off x="1127760" y="2636203"/>
            <a:ext cx="9144000" cy="2112962"/>
          </a:xfrm>
          <a:prstGeom prst="rect">
            <a:avLst/>
          </a:prstGeom>
          <a:noFill/>
          <a:ln w="9525">
            <a:noFill/>
          </a:ln>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9600" y="1600200"/>
            <a:ext cx="4192905" cy="4526280"/>
          </a:xfrm>
        </p:spPr>
        <p:txBody>
          <a:bodyPr/>
          <a:lstStyle/>
          <a:p>
            <a:r>
              <a:rPr lang="zh-CN" altLang="en-US" dirty="0"/>
              <a:t>关联的实现</a:t>
            </a:r>
            <a:endParaRPr lang="en-US" altLang="zh-CN" dirty="0"/>
          </a:p>
          <a:p>
            <a:pPr lvl="1"/>
            <a:r>
              <a:rPr lang="zh-CN" altLang="en-US" dirty="0"/>
              <a:t>单向关联（指针）</a:t>
            </a:r>
            <a:endParaRPr lang="en-US" altLang="zh-CN" dirty="0"/>
          </a:p>
          <a:p>
            <a:pPr lvl="1"/>
            <a:r>
              <a:rPr lang="zh-CN" altLang="en-US" dirty="0"/>
              <a:t>双向关联</a:t>
            </a:r>
            <a:endParaRPr lang="en-US" altLang="zh-CN" dirty="0"/>
          </a:p>
          <a:p>
            <a:pPr lvl="1"/>
            <a:r>
              <a:rPr lang="zh-CN" altLang="en-US" dirty="0"/>
              <a:t>聚集</a:t>
            </a:r>
            <a:endParaRPr lang="en-US" altLang="zh-CN" dirty="0"/>
          </a:p>
          <a:p>
            <a:pPr lvl="1"/>
            <a:r>
              <a:rPr lang="zh-CN" altLang="en-US" dirty="0"/>
              <a:t>关联的重数约束：链表</a:t>
            </a:r>
            <a:endParaRPr lang="en-US" altLang="zh-CN" dirty="0"/>
          </a:p>
        </p:txBody>
      </p:sp>
      <p:grpSp>
        <p:nvGrpSpPr>
          <p:cNvPr id="705558" name="组合 705557"/>
          <p:cNvGrpSpPr/>
          <p:nvPr/>
        </p:nvGrpSpPr>
        <p:grpSpPr>
          <a:xfrm>
            <a:off x="5690870" y="1868805"/>
            <a:ext cx="1454150" cy="1427163"/>
            <a:chOff x="504" y="3026"/>
            <a:chExt cx="1588" cy="899"/>
          </a:xfrm>
        </p:grpSpPr>
        <p:sp>
          <p:nvSpPr>
            <p:cNvPr id="705542" name="矩形 705541"/>
            <p:cNvSpPr/>
            <p:nvPr>
              <p:custDataLst>
                <p:tags r:id="rId13"/>
              </p:custDataLst>
            </p:nvPr>
          </p:nvSpPr>
          <p:spPr>
            <a:xfrm>
              <a:off x="505" y="3026"/>
              <a:ext cx="1587" cy="899"/>
            </a:xfrm>
            <a:prstGeom prst="rect">
              <a:avLst/>
            </a:prstGeom>
            <a:solidFill>
              <a:schemeClr val="bg1"/>
            </a:solidFill>
            <a:ln w="12700" cap="flat" cmpd="sng">
              <a:solidFill>
                <a:schemeClr val="tx1"/>
              </a:solidFill>
              <a:prstDash val="solid"/>
              <a:miter/>
              <a:headEnd type="none" w="med" len="med"/>
              <a:tailEnd type="none" w="med" len="med"/>
            </a:ln>
          </p:spPr>
          <p:txBody>
            <a:bodyPr/>
            <a:lstStyle/>
            <a:p>
              <a:endParaRPr lang="zh-CN" altLang="en-US"/>
            </a:p>
          </p:txBody>
        </p:sp>
        <p:sp>
          <p:nvSpPr>
            <p:cNvPr id="705543" name="直接连接符 705542"/>
            <p:cNvSpPr/>
            <p:nvPr>
              <p:custDataLst>
                <p:tags r:id="rId14"/>
              </p:custDataLst>
            </p:nvPr>
          </p:nvSpPr>
          <p:spPr>
            <a:xfrm>
              <a:off x="504" y="3278"/>
              <a:ext cx="1588" cy="1"/>
            </a:xfrm>
            <a:prstGeom prst="line">
              <a:avLst/>
            </a:prstGeom>
            <a:ln w="12700" cap="flat" cmpd="sng">
              <a:solidFill>
                <a:schemeClr val="tx1"/>
              </a:solidFill>
              <a:prstDash val="solid"/>
              <a:headEnd type="none" w="med" len="med"/>
              <a:tailEnd type="none" w="med" len="med"/>
            </a:ln>
          </p:spPr>
        </p:sp>
        <p:sp>
          <p:nvSpPr>
            <p:cNvPr id="705544" name="直接连接符 705543"/>
            <p:cNvSpPr/>
            <p:nvPr>
              <p:custDataLst>
                <p:tags r:id="rId15"/>
              </p:custDataLst>
            </p:nvPr>
          </p:nvSpPr>
          <p:spPr>
            <a:xfrm>
              <a:off x="514" y="3711"/>
              <a:ext cx="1578" cy="1"/>
            </a:xfrm>
            <a:prstGeom prst="line">
              <a:avLst/>
            </a:prstGeom>
            <a:ln w="12700" cap="flat" cmpd="sng">
              <a:solidFill>
                <a:schemeClr val="tx1"/>
              </a:solidFill>
              <a:prstDash val="solid"/>
              <a:headEnd type="none" w="med" len="med"/>
              <a:tailEnd type="none" w="med" len="med"/>
            </a:ln>
          </p:spPr>
        </p:sp>
        <p:sp>
          <p:nvSpPr>
            <p:cNvPr id="705550" name="矩形 705549"/>
            <p:cNvSpPr/>
            <p:nvPr>
              <p:custDataLst>
                <p:tags r:id="rId16"/>
              </p:custDataLst>
            </p:nvPr>
          </p:nvSpPr>
          <p:spPr>
            <a:xfrm>
              <a:off x="676" y="3066"/>
              <a:ext cx="1017" cy="210"/>
            </a:xfrm>
            <a:prstGeom prst="rect">
              <a:avLst/>
            </a:prstGeom>
            <a:noFill/>
            <a:ln w="12700">
              <a:noFill/>
            </a:ln>
          </p:spPr>
          <p:txBody>
            <a:bodyPr lIns="90488" tIns="44450" rIns="90488" bIns="44450">
              <a:spAutoFit/>
            </a:bodyPr>
            <a:lstStyle/>
            <a:p>
              <a:pPr algn="ctr"/>
              <a:r>
                <a:rPr lang="en-US" altLang="zh-CN" sz="1600">
                  <a:latin typeface="Times New Roman" panose="02020503050405090304" pitchFamily="18" charset="0"/>
                  <a:ea typeface="微软简魏碑" pitchFamily="2" charset="-122"/>
                </a:rPr>
                <a:t>Provider</a:t>
              </a:r>
            </a:p>
          </p:txBody>
        </p:sp>
      </p:grpSp>
      <p:sp>
        <p:nvSpPr>
          <p:cNvPr id="705551" name="直接连接符 705550"/>
          <p:cNvSpPr/>
          <p:nvPr>
            <p:custDataLst>
              <p:tags r:id="rId1"/>
            </p:custDataLst>
          </p:nvPr>
        </p:nvSpPr>
        <p:spPr>
          <a:xfrm flipV="1">
            <a:off x="7164070" y="3092768"/>
            <a:ext cx="1960563" cy="1587"/>
          </a:xfrm>
          <a:prstGeom prst="line">
            <a:avLst/>
          </a:prstGeom>
          <a:ln w="12700" cap="flat" cmpd="sng">
            <a:solidFill>
              <a:schemeClr val="tx1"/>
            </a:solidFill>
            <a:prstDash val="solid"/>
            <a:headEnd type="none" w="med" len="med"/>
            <a:tailEnd type="none" w="med" len="med"/>
          </a:ln>
        </p:spPr>
      </p:sp>
      <p:sp>
        <p:nvSpPr>
          <p:cNvPr id="705552" name="矩形 705551"/>
          <p:cNvSpPr/>
          <p:nvPr>
            <p:custDataLst>
              <p:tags r:id="rId2"/>
            </p:custDataLst>
          </p:nvPr>
        </p:nvSpPr>
        <p:spPr>
          <a:xfrm>
            <a:off x="8448358" y="2837180"/>
            <a:ext cx="714375" cy="514350"/>
          </a:xfrm>
          <a:prstGeom prst="rect">
            <a:avLst/>
          </a:prstGeom>
          <a:noFill/>
          <a:ln w="12700">
            <a:noFill/>
          </a:ln>
        </p:spPr>
        <p:txBody>
          <a:bodyPr wrap="none" lIns="90488" tIns="44450" rIns="90488" bIns="44450">
            <a:spAutoFit/>
          </a:bodyPr>
          <a:lstStyle/>
          <a:p>
            <a:r>
              <a:rPr lang="en-US" altLang="zh-CN" sz="1400">
                <a:latin typeface="宋体" pitchFamily="2" charset="-122"/>
                <a:ea typeface="宋体" pitchFamily="2" charset="-122"/>
              </a:rPr>
              <a:t>     1</a:t>
            </a:r>
          </a:p>
          <a:p>
            <a:r>
              <a:rPr lang="en-US" altLang="zh-CN" sz="1400">
                <a:latin typeface="宋体" pitchFamily="2" charset="-122"/>
                <a:ea typeface="宋体" pitchFamily="2" charset="-122"/>
              </a:rPr>
              <a:t>oldest</a:t>
            </a:r>
          </a:p>
        </p:txBody>
      </p:sp>
      <p:sp>
        <p:nvSpPr>
          <p:cNvPr id="705553" name="矩形 705552"/>
          <p:cNvSpPr/>
          <p:nvPr>
            <p:custDataLst>
              <p:tags r:id="rId3"/>
            </p:custDataLst>
          </p:nvPr>
        </p:nvSpPr>
        <p:spPr>
          <a:xfrm>
            <a:off x="7272020" y="2713355"/>
            <a:ext cx="536575" cy="301625"/>
          </a:xfrm>
          <a:prstGeom prst="rect">
            <a:avLst/>
          </a:prstGeom>
          <a:noFill/>
          <a:ln w="12700">
            <a:noFill/>
          </a:ln>
        </p:spPr>
        <p:txBody>
          <a:bodyPr wrap="none" lIns="90488" tIns="44450" rIns="90488" bIns="44450">
            <a:spAutoFit/>
          </a:bodyPr>
          <a:lstStyle/>
          <a:p>
            <a:r>
              <a:rPr lang="en-US" altLang="zh-CN" sz="1400">
                <a:latin typeface="宋体" pitchFamily="2" charset="-122"/>
                <a:ea typeface="宋体" pitchFamily="2" charset="-122"/>
              </a:rPr>
              <a:t>1..*</a:t>
            </a:r>
          </a:p>
        </p:txBody>
      </p:sp>
      <p:sp>
        <p:nvSpPr>
          <p:cNvPr id="705554" name="直接连接符 705553"/>
          <p:cNvSpPr/>
          <p:nvPr>
            <p:custDataLst>
              <p:tags r:id="rId4"/>
            </p:custDataLst>
          </p:nvPr>
        </p:nvSpPr>
        <p:spPr>
          <a:xfrm>
            <a:off x="7116445" y="2368868"/>
            <a:ext cx="1995488" cy="0"/>
          </a:xfrm>
          <a:prstGeom prst="line">
            <a:avLst/>
          </a:prstGeom>
          <a:ln w="9525" cap="flat" cmpd="sng">
            <a:solidFill>
              <a:schemeClr val="tx1"/>
            </a:solidFill>
            <a:prstDash val="solid"/>
            <a:headEnd type="arrow" w="med" len="med"/>
            <a:tailEnd type="none" w="med" len="med"/>
          </a:ln>
        </p:spPr>
      </p:sp>
      <p:sp>
        <p:nvSpPr>
          <p:cNvPr id="705556" name="矩形 705555"/>
          <p:cNvSpPr/>
          <p:nvPr>
            <p:custDataLst>
              <p:tags r:id="rId5"/>
            </p:custDataLst>
          </p:nvPr>
        </p:nvSpPr>
        <p:spPr>
          <a:xfrm>
            <a:off x="7191058" y="2014855"/>
            <a:ext cx="536575" cy="301625"/>
          </a:xfrm>
          <a:prstGeom prst="rect">
            <a:avLst/>
          </a:prstGeom>
          <a:noFill/>
          <a:ln w="12700">
            <a:noFill/>
          </a:ln>
        </p:spPr>
        <p:txBody>
          <a:bodyPr wrap="none" lIns="90488" tIns="44450" rIns="90488" bIns="44450">
            <a:spAutoFit/>
          </a:bodyPr>
          <a:lstStyle/>
          <a:p>
            <a:r>
              <a:rPr lang="en-US" altLang="zh-CN" sz="1400">
                <a:latin typeface="宋体" pitchFamily="2" charset="-122"/>
                <a:ea typeface="宋体" pitchFamily="2" charset="-122"/>
              </a:rPr>
              <a:t>0..1</a:t>
            </a:r>
          </a:p>
        </p:txBody>
      </p:sp>
      <p:grpSp>
        <p:nvGrpSpPr>
          <p:cNvPr id="705557" name="组合 705556"/>
          <p:cNvGrpSpPr/>
          <p:nvPr/>
        </p:nvGrpSpPr>
        <p:grpSpPr>
          <a:xfrm>
            <a:off x="9138920" y="1916430"/>
            <a:ext cx="2363788" cy="1487488"/>
            <a:chOff x="3659" y="3056"/>
            <a:chExt cx="894" cy="937"/>
          </a:xfrm>
        </p:grpSpPr>
        <p:sp>
          <p:nvSpPr>
            <p:cNvPr id="705547" name="矩形 705546"/>
            <p:cNvSpPr/>
            <p:nvPr>
              <p:custDataLst>
                <p:tags r:id="rId9"/>
              </p:custDataLst>
            </p:nvPr>
          </p:nvSpPr>
          <p:spPr>
            <a:xfrm>
              <a:off x="3659" y="3056"/>
              <a:ext cx="887" cy="937"/>
            </a:xfrm>
            <a:prstGeom prst="rect">
              <a:avLst/>
            </a:prstGeom>
            <a:solidFill>
              <a:schemeClr val="bg1"/>
            </a:solidFill>
            <a:ln w="12700" cap="flat" cmpd="sng">
              <a:solidFill>
                <a:schemeClr val="tx1"/>
              </a:solidFill>
              <a:prstDash val="solid"/>
              <a:miter/>
              <a:headEnd type="none" w="med" len="med"/>
              <a:tailEnd type="none" w="med" len="med"/>
            </a:ln>
          </p:spPr>
          <p:txBody>
            <a:bodyPr/>
            <a:lstStyle/>
            <a:p>
              <a:endParaRPr lang="zh-CN" altLang="en-US"/>
            </a:p>
          </p:txBody>
        </p:sp>
        <p:sp>
          <p:nvSpPr>
            <p:cNvPr id="705548" name="直接连接符 705547"/>
            <p:cNvSpPr/>
            <p:nvPr>
              <p:custDataLst>
                <p:tags r:id="rId10"/>
              </p:custDataLst>
            </p:nvPr>
          </p:nvSpPr>
          <p:spPr>
            <a:xfrm>
              <a:off x="3659" y="3308"/>
              <a:ext cx="887" cy="1"/>
            </a:xfrm>
            <a:prstGeom prst="line">
              <a:avLst/>
            </a:prstGeom>
            <a:ln w="12700" cap="flat" cmpd="sng">
              <a:solidFill>
                <a:schemeClr val="tx1"/>
              </a:solidFill>
              <a:prstDash val="solid"/>
              <a:headEnd type="none" w="med" len="med"/>
              <a:tailEnd type="none" w="med" len="med"/>
            </a:ln>
          </p:spPr>
        </p:sp>
        <p:sp>
          <p:nvSpPr>
            <p:cNvPr id="705549" name="直接连接符 705548"/>
            <p:cNvSpPr/>
            <p:nvPr>
              <p:custDataLst>
                <p:tags r:id="rId11"/>
              </p:custDataLst>
            </p:nvPr>
          </p:nvSpPr>
          <p:spPr>
            <a:xfrm>
              <a:off x="3659" y="3741"/>
              <a:ext cx="887" cy="1"/>
            </a:xfrm>
            <a:prstGeom prst="line">
              <a:avLst/>
            </a:prstGeom>
            <a:ln w="12700" cap="flat" cmpd="sng">
              <a:solidFill>
                <a:schemeClr val="tx1"/>
              </a:solidFill>
              <a:prstDash val="solid"/>
              <a:headEnd type="none" w="med" len="med"/>
              <a:tailEnd type="none" w="med" len="med"/>
            </a:ln>
          </p:spPr>
        </p:sp>
        <p:sp>
          <p:nvSpPr>
            <p:cNvPr id="705545" name="矩形 705544"/>
            <p:cNvSpPr/>
            <p:nvPr>
              <p:custDataLst>
                <p:tags r:id="rId12"/>
              </p:custDataLst>
            </p:nvPr>
          </p:nvSpPr>
          <p:spPr>
            <a:xfrm>
              <a:off x="3670" y="3083"/>
              <a:ext cx="883" cy="210"/>
            </a:xfrm>
            <a:prstGeom prst="rect">
              <a:avLst/>
            </a:prstGeom>
            <a:noFill/>
            <a:ln w="12700">
              <a:noFill/>
            </a:ln>
          </p:spPr>
          <p:txBody>
            <a:bodyPr lIns="90488" tIns="44450" rIns="90488" bIns="44450">
              <a:spAutoFit/>
            </a:bodyPr>
            <a:lstStyle/>
            <a:p>
              <a:pPr algn="ctr"/>
              <a:r>
                <a:rPr lang="en-US" altLang="zh-CN" sz="1600">
                  <a:latin typeface="Times New Roman" panose="02020503050405090304" pitchFamily="18" charset="0"/>
                  <a:ea typeface="微软简魏碑" pitchFamily="2" charset="-122"/>
                </a:rPr>
                <a:t>Consumer</a:t>
              </a:r>
            </a:p>
          </p:txBody>
        </p:sp>
      </p:grpSp>
      <p:sp>
        <p:nvSpPr>
          <p:cNvPr id="705555" name="矩形 705554"/>
          <p:cNvSpPr/>
          <p:nvPr>
            <p:custDataLst>
              <p:tags r:id="rId6"/>
            </p:custDataLst>
          </p:nvPr>
        </p:nvSpPr>
        <p:spPr>
          <a:xfrm>
            <a:off x="9170670" y="2348230"/>
            <a:ext cx="2300288" cy="546100"/>
          </a:xfrm>
          <a:prstGeom prst="rect">
            <a:avLst/>
          </a:prstGeom>
          <a:noFill/>
          <a:ln w="12700">
            <a:noFill/>
          </a:ln>
        </p:spPr>
        <p:txBody>
          <a:bodyPr lIns="90488" tIns="44450" rIns="90488" bIns="44450">
            <a:spAutoFit/>
          </a:bodyPr>
          <a:lstStyle/>
          <a:p>
            <a:r>
              <a:rPr lang="en-US" altLang="zh-CN" sz="1600">
                <a:latin typeface="Times New Roman" panose="02020503050405090304" pitchFamily="18" charset="0"/>
                <a:ea typeface="微软简魏碑" pitchFamily="2" charset="-122"/>
              </a:rPr>
              <a:t>Provider *</a:t>
            </a:r>
            <a:r>
              <a:rPr lang="en-US" altLang="zh-CN" sz="1600" err="1">
                <a:latin typeface="Times New Roman" panose="02020503050405090304" pitchFamily="18" charset="0"/>
                <a:ea typeface="微软简魏碑" pitchFamily="2" charset="-122"/>
              </a:rPr>
              <a:t>to</a:t>
            </a:r>
            <a:r>
              <a:rPr lang="en-US" altLang="zh-CN" sz="1400" err="1">
                <a:latin typeface="Times New Roman" panose="02020503050405090304" pitchFamily="18" charset="0"/>
                <a:ea typeface="微软简魏碑" pitchFamily="2" charset="-122"/>
              </a:rPr>
              <a:t>Provider</a:t>
            </a:r>
            <a:endParaRPr lang="en-US" altLang="zh-CN" sz="1400">
              <a:latin typeface="Times New Roman" panose="02020503050405090304" pitchFamily="18" charset="0"/>
              <a:ea typeface="微软简魏碑" pitchFamily="2" charset="-122"/>
            </a:endParaRPr>
          </a:p>
          <a:p>
            <a:r>
              <a:rPr lang="en-US" altLang="zh-CN" sz="1400" err="1">
                <a:latin typeface="Times New Roman" panose="02020503050405090304" pitchFamily="18" charset="0"/>
                <a:ea typeface="微软简魏碑" pitchFamily="2" charset="-122"/>
              </a:rPr>
              <a:t>providerSet</a:t>
            </a:r>
            <a:r>
              <a:rPr lang="en-US" altLang="zh-CN" sz="1400">
                <a:latin typeface="Times New Roman" panose="02020503050405090304" pitchFamily="18" charset="0"/>
                <a:ea typeface="微软简魏碑" pitchFamily="2" charset="-122"/>
              </a:rPr>
              <a:t>  *head</a:t>
            </a:r>
          </a:p>
        </p:txBody>
      </p:sp>
      <p:sp>
        <p:nvSpPr>
          <p:cNvPr id="705560" name="文本框 705559"/>
          <p:cNvSpPr txBox="1"/>
          <p:nvPr>
            <p:custDataLst>
              <p:tags r:id="rId7"/>
            </p:custDataLst>
          </p:nvPr>
        </p:nvSpPr>
        <p:spPr>
          <a:xfrm>
            <a:off x="5727383" y="2413318"/>
            <a:ext cx="1554162" cy="512762"/>
          </a:xfrm>
          <a:prstGeom prst="rect">
            <a:avLst/>
          </a:prstGeom>
          <a:noFill/>
          <a:ln w="9525">
            <a:noFill/>
          </a:ln>
        </p:spPr>
        <p:txBody>
          <a:bodyPr lIns="0" tIns="0" rIns="0" bIns="0">
            <a:spAutoFit/>
          </a:bodyPr>
          <a:lstStyle/>
          <a:p>
            <a:pPr>
              <a:lnSpc>
                <a:spcPct val="80000"/>
              </a:lnSpc>
              <a:spcBef>
                <a:spcPct val="50000"/>
              </a:spcBef>
            </a:pPr>
            <a:r>
              <a:rPr lang="en-US" altLang="zh-CN" sz="1600">
                <a:latin typeface="Times New Roman" panose="02020503050405090304" pitchFamily="18" charset="0"/>
                <a:ea typeface="微软简魏碑" pitchFamily="2" charset="-122"/>
              </a:rPr>
              <a:t>Consumer oldest</a:t>
            </a:r>
          </a:p>
          <a:p>
            <a:pPr>
              <a:lnSpc>
                <a:spcPct val="80000"/>
              </a:lnSpc>
              <a:spcBef>
                <a:spcPct val="50000"/>
              </a:spcBef>
            </a:pPr>
            <a:r>
              <a:rPr lang="en-US" altLang="zh-CN" sz="1600">
                <a:latin typeface="Times New Roman" panose="02020503050405090304" pitchFamily="18" charset="0"/>
                <a:ea typeface="微软简魏碑" pitchFamily="2" charset="-122"/>
              </a:rPr>
              <a:t>……</a:t>
            </a:r>
          </a:p>
        </p:txBody>
      </p:sp>
      <p:sp>
        <p:nvSpPr>
          <p:cNvPr id="705559" name="文本框 705558"/>
          <p:cNvSpPr txBox="1"/>
          <p:nvPr>
            <p:custDataLst>
              <p:tags r:id="rId8"/>
            </p:custDataLst>
          </p:nvPr>
        </p:nvSpPr>
        <p:spPr>
          <a:xfrm>
            <a:off x="5880100" y="4076700"/>
            <a:ext cx="4104640" cy="1865630"/>
          </a:xfrm>
          <a:prstGeom prst="rect">
            <a:avLst/>
          </a:prstGeom>
          <a:noFill/>
          <a:ln w="9525">
            <a:noFill/>
          </a:ln>
        </p:spPr>
        <p:txBody>
          <a:bodyPr lIns="0" tIns="0" rIns="0" bIns="0">
            <a:noAutofit/>
          </a:bodyPr>
          <a:lstStyle/>
          <a:p>
            <a:pPr indent="0" fontAlgn="auto">
              <a:lnSpc>
                <a:spcPct val="150000"/>
              </a:lnSpc>
              <a:spcBef>
                <a:spcPts val="0"/>
              </a:spcBef>
            </a:pPr>
            <a:r>
              <a:rPr lang="en-US" altLang="zh-CN" err="1">
                <a:latin typeface="Times New Roman" panose="02020503050405090304" pitchFamily="18" charset="0"/>
                <a:ea typeface="微软简魏碑" pitchFamily="2" charset="-122"/>
              </a:rPr>
              <a:t>struct</a:t>
            </a:r>
            <a:r>
              <a:rPr lang="en-US" altLang="zh-CN">
                <a:latin typeface="Times New Roman" panose="02020503050405090304" pitchFamily="18" charset="0"/>
                <a:ea typeface="微软简魏碑" pitchFamily="2" charset="-122"/>
              </a:rPr>
              <a:t> </a:t>
            </a:r>
            <a:r>
              <a:rPr lang="en-US" altLang="zh-CN" err="1">
                <a:latin typeface="Times New Roman" panose="02020503050405090304" pitchFamily="18" charset="0"/>
                <a:ea typeface="微软简魏碑" pitchFamily="2" charset="-122"/>
              </a:rPr>
              <a:t>providerSet</a:t>
            </a:r>
            <a:r>
              <a:rPr lang="en-US" altLang="zh-CN">
                <a:latin typeface="Times New Roman" panose="02020503050405090304" pitchFamily="18" charset="0"/>
                <a:ea typeface="微软简魏碑" pitchFamily="2" charset="-122"/>
              </a:rPr>
              <a:t> {</a:t>
            </a:r>
          </a:p>
          <a:p>
            <a:pPr indent="0" fontAlgn="auto">
              <a:lnSpc>
                <a:spcPct val="150000"/>
              </a:lnSpc>
              <a:spcBef>
                <a:spcPts val="0"/>
              </a:spcBef>
            </a:pPr>
            <a:r>
              <a:rPr lang="en-US" altLang="zh-CN">
                <a:latin typeface="Times New Roman" panose="02020503050405090304" pitchFamily="18" charset="0"/>
                <a:ea typeface="微软简魏碑" pitchFamily="2" charset="-122"/>
              </a:rPr>
              <a:t>     Provider p;</a:t>
            </a:r>
          </a:p>
          <a:p>
            <a:pPr indent="0" fontAlgn="auto">
              <a:lnSpc>
                <a:spcPct val="150000"/>
              </a:lnSpc>
              <a:spcBef>
                <a:spcPts val="0"/>
              </a:spcBef>
            </a:pPr>
            <a:r>
              <a:rPr lang="en-US" altLang="zh-CN">
                <a:latin typeface="Times New Roman" panose="02020503050405090304" pitchFamily="18" charset="0"/>
                <a:ea typeface="微软简魏碑" pitchFamily="2" charset="-122"/>
              </a:rPr>
              <a:t>     </a:t>
            </a:r>
            <a:r>
              <a:rPr lang="en-US" altLang="zh-CN" err="1">
                <a:latin typeface="Times New Roman" panose="02020503050405090304" pitchFamily="18" charset="0"/>
                <a:ea typeface="微软简魏碑" pitchFamily="2" charset="-122"/>
              </a:rPr>
              <a:t>struct</a:t>
            </a:r>
            <a:r>
              <a:rPr lang="en-US" altLang="zh-CN">
                <a:latin typeface="Times New Roman" panose="02020503050405090304" pitchFamily="18" charset="0"/>
                <a:ea typeface="微软简魏碑" pitchFamily="2" charset="-122"/>
              </a:rPr>
              <a:t> </a:t>
            </a:r>
            <a:r>
              <a:rPr lang="en-US" altLang="zh-CN" err="1">
                <a:latin typeface="Times New Roman" panose="02020503050405090304" pitchFamily="18" charset="0"/>
                <a:ea typeface="微软简魏碑" pitchFamily="2" charset="-122"/>
              </a:rPr>
              <a:t>providerSet</a:t>
            </a:r>
            <a:r>
              <a:rPr lang="en-US" altLang="zh-CN">
                <a:latin typeface="Times New Roman" panose="02020503050405090304" pitchFamily="18" charset="0"/>
                <a:ea typeface="微软简魏碑" pitchFamily="2" charset="-122"/>
              </a:rPr>
              <a:t> * next;</a:t>
            </a:r>
          </a:p>
          <a:p>
            <a:pPr indent="0" fontAlgn="auto">
              <a:lnSpc>
                <a:spcPct val="150000"/>
              </a:lnSpc>
              <a:spcBef>
                <a:spcPts val="0"/>
              </a:spcBef>
            </a:pPr>
            <a:r>
              <a:rPr lang="en-US" altLang="zh-CN">
                <a:latin typeface="Times New Roman" panose="02020503050405090304" pitchFamily="18" charset="0"/>
                <a:ea typeface="微软简魏碑" pitchFamily="2" charset="-122"/>
              </a:rPr>
              <a:t>}</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67500" lnSpcReduction="10000"/>
          </a:bodyPr>
          <a:lstStyle/>
          <a:p>
            <a:r>
              <a:rPr lang="zh-CN" altLang="en-US" sz="3500" b="1" dirty="0">
                <a:solidFill>
                  <a:srgbClr val="0000CC"/>
                </a:solidFill>
                <a:latin typeface="Times New Roman" panose="02020503050405090304" pitchFamily="18" charset="0"/>
                <a:ea typeface="微软简魏碑" pitchFamily="2" charset="-122"/>
                <a:sym typeface="+mn-ea"/>
              </a:rPr>
              <a:t>通过在对象中设立指针或对象标识以指向或记录另一端的对象的方法，来实现关联。</a:t>
            </a:r>
            <a:endParaRPr lang="zh-CN" altLang="en-US" sz="3500" b="1" dirty="0">
              <a:solidFill>
                <a:srgbClr val="0000CC"/>
              </a:solidFill>
              <a:latin typeface="Times New Roman" panose="02020503050405090304" pitchFamily="18" charset="0"/>
              <a:ea typeface="微软简魏碑" pitchFamily="2" charset="-122"/>
            </a:endParaRPr>
          </a:p>
          <a:p>
            <a:pPr lvl="1"/>
            <a:r>
              <a:rPr lang="zh-CN" altLang="en-US" sz="3500" b="1" dirty="0">
                <a:solidFill>
                  <a:srgbClr val="000000"/>
                </a:solidFill>
                <a:latin typeface="Times New Roman" panose="02020503050405090304" pitchFamily="18" charset="0"/>
                <a:ea typeface="微软简魏碑" pitchFamily="2" charset="-122"/>
                <a:sym typeface="+mn-ea"/>
              </a:rPr>
              <a:t>如果是单向关联，就在源端的类中设立属性，用来标记另一端的类将来创建的对象</a:t>
            </a:r>
            <a:endParaRPr lang="zh-CN" altLang="en-US" sz="3500" b="1" dirty="0">
              <a:solidFill>
                <a:srgbClr val="000000"/>
              </a:solidFill>
              <a:latin typeface="Times New Roman" panose="02020503050405090304" pitchFamily="18" charset="0"/>
              <a:ea typeface="微软简魏碑" pitchFamily="2" charset="-122"/>
            </a:endParaRPr>
          </a:p>
          <a:p>
            <a:pPr lvl="1"/>
            <a:r>
              <a:rPr lang="zh-CN" altLang="en-US" sz="3500" b="1" dirty="0">
                <a:solidFill>
                  <a:srgbClr val="000000"/>
                </a:solidFill>
                <a:latin typeface="Times New Roman" panose="02020503050405090304" pitchFamily="18" charset="0"/>
                <a:ea typeface="微软简魏碑" pitchFamily="2" charset="-122"/>
                <a:sym typeface="+mn-ea"/>
              </a:rPr>
              <a:t>如果是双向关联，就在两端类中各设立属性，用来标记对方将来创建的对象。</a:t>
            </a:r>
            <a:endParaRPr lang="zh-CN" altLang="en-US" sz="3500" b="1" dirty="0">
              <a:solidFill>
                <a:srgbClr val="000000"/>
              </a:solidFill>
              <a:latin typeface="Times New Roman" panose="02020503050405090304" pitchFamily="18" charset="0"/>
              <a:ea typeface="微软简魏碑" pitchFamily="2" charset="-122"/>
            </a:endParaRPr>
          </a:p>
          <a:p>
            <a:pPr lvl="1"/>
            <a:r>
              <a:rPr lang="zh-CN" altLang="en-US" sz="3500" b="1" dirty="0">
                <a:solidFill>
                  <a:srgbClr val="000000"/>
                </a:solidFill>
                <a:latin typeface="Times New Roman" panose="02020503050405090304" pitchFamily="18" charset="0"/>
                <a:ea typeface="微软简魏碑" pitchFamily="2" charset="-122"/>
                <a:sym typeface="+mn-ea"/>
              </a:rPr>
              <a:t>如果关联中对方类的多重性是</a:t>
            </a:r>
            <a:r>
              <a:rPr lang="en-US" altLang="zh-CN" sz="3500" b="1">
                <a:solidFill>
                  <a:srgbClr val="000000"/>
                </a:solidFill>
                <a:latin typeface="Times New Roman" panose="02020503050405090304" pitchFamily="18" charset="0"/>
                <a:ea typeface="微软简魏碑" pitchFamily="2" charset="-122"/>
                <a:sym typeface="+mn-ea"/>
              </a:rPr>
              <a:t>1</a:t>
            </a:r>
            <a:r>
              <a:rPr lang="zh-CN" altLang="en-US" sz="3500" b="1" dirty="0">
                <a:solidFill>
                  <a:srgbClr val="000000"/>
                </a:solidFill>
                <a:latin typeface="Times New Roman" panose="02020503050405090304" pitchFamily="18" charset="0"/>
                <a:ea typeface="微软简魏碑" pitchFamily="2" charset="-122"/>
                <a:sym typeface="+mn-ea"/>
              </a:rPr>
              <a:t>，那么可在本方设立一个指向对方对象的指针，或设立一个记录对方对象引用的属性</a:t>
            </a:r>
          </a:p>
          <a:p>
            <a:pPr lvl="1"/>
            <a:r>
              <a:rPr lang="zh-CN" altLang="en-US" sz="3500" b="1" dirty="0">
                <a:latin typeface="Times New Roman" panose="02020503050405090304" pitchFamily="18" charset="0"/>
                <a:ea typeface="微软简魏碑" pitchFamily="2" charset="-122"/>
                <a:sym typeface="+mn-ea"/>
              </a:rPr>
              <a:t>如果对方类的多重性大于</a:t>
            </a:r>
            <a:r>
              <a:rPr lang="en-US" altLang="zh-CN" sz="3500" b="1">
                <a:latin typeface="Times New Roman" panose="02020503050405090304" pitchFamily="18" charset="0"/>
                <a:ea typeface="微软简魏碑" pitchFamily="2" charset="-122"/>
                <a:sym typeface="+mn-ea"/>
              </a:rPr>
              <a:t>1</a:t>
            </a:r>
            <a:r>
              <a:rPr lang="zh-CN" altLang="en-US" sz="3500" b="1" dirty="0">
                <a:latin typeface="Times New Roman" panose="02020503050405090304" pitchFamily="18" charset="0"/>
                <a:ea typeface="微软简魏碑" pitchFamily="2" charset="-122"/>
                <a:sym typeface="+mn-ea"/>
              </a:rPr>
              <a:t>，那么可在本方设立一个指向对方对象的指针集合或引用集合。</a:t>
            </a:r>
            <a:endParaRPr lang="zh-CN" altLang="en-US" sz="3500" b="1" dirty="0">
              <a:latin typeface="Times New Roman" panose="02020503050405090304" pitchFamily="18" charset="0"/>
              <a:ea typeface="微软简魏碑" pitchFamily="2" charset="-122"/>
            </a:endParaRPr>
          </a:p>
          <a:p>
            <a:pPr lvl="1"/>
            <a:r>
              <a:rPr lang="zh-CN" altLang="en-US" sz="3500" b="1" dirty="0">
                <a:solidFill>
                  <a:srgbClr val="000000"/>
                </a:solidFill>
                <a:latin typeface="Times New Roman" panose="02020503050405090304" pitchFamily="18" charset="0"/>
                <a:ea typeface="微软简魏碑" pitchFamily="2" charset="-122"/>
                <a:sym typeface="+mn-ea"/>
              </a:rPr>
              <a:t>若关联的某端有角色名，最好把其作为另一端类的属性名，以访问与角色名相邻的类。</a:t>
            </a:r>
            <a:r>
              <a:rPr lang="zh-CN" altLang="en-US" sz="3500" b="1" dirty="0">
                <a:latin typeface="Times New Roman" panose="02020503050405090304" pitchFamily="18" charset="0"/>
                <a:ea typeface="微软简魏碑" pitchFamily="2" charset="-122"/>
                <a:sym typeface="+mn-ea"/>
              </a:rPr>
              <a:t> </a:t>
            </a:r>
            <a:endParaRPr lang="zh-CN" altLang="en-US" sz="3500" b="1" dirty="0">
              <a:latin typeface="Times New Roman" panose="02020503050405090304" pitchFamily="18" charset="0"/>
              <a:ea typeface="微软简魏碑" pitchFamily="2" charset="-122"/>
            </a:endParaRPr>
          </a:p>
          <a:p>
            <a:pPr>
              <a:spcBef>
                <a:spcPct val="50000"/>
              </a:spcBef>
            </a:pPr>
            <a:endParaRPr lang="zh-CN" altLang="en-US" dirty="0">
              <a:latin typeface="Times New Roman" panose="02020503050405090304" pitchFamily="18" charset="0"/>
              <a:ea typeface="微软简魏碑" pitchFamily="2" charset="-122"/>
            </a:endParaRPr>
          </a:p>
          <a:p>
            <a:endParaRPr lang="zh-CN" alt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案例——餐馆系统的实现</a:t>
            </a:r>
          </a:p>
        </p:txBody>
      </p:sp>
      <p:sp>
        <p:nvSpPr>
          <p:cNvPr id="3" name="副标题 2"/>
          <p:cNvSpPr>
            <a:spLocks noGrp="1"/>
          </p:cNvSpPr>
          <p:nvPr>
            <p:ph type="subTitle" idx="1"/>
          </p:nvPr>
        </p:nvSpPr>
        <p:spPr/>
        <p:txBody>
          <a:bodyPr/>
          <a:lstStyle/>
          <a:p>
            <a:endParaRPr lang="zh-CN" altLang="en-US"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a:t>编码的风格</a:t>
            </a:r>
          </a:p>
        </p:txBody>
      </p:sp>
      <p:sp>
        <p:nvSpPr>
          <p:cNvPr id="3" name="副标题 2"/>
          <p:cNvSpPr>
            <a:spLocks noGrp="1"/>
          </p:cNvSpPr>
          <p:nvPr>
            <p:ph type="subTitle" idx="1"/>
          </p:nvPr>
        </p:nvSpPr>
        <p:spPr/>
        <p:txBody>
          <a:bodyPr/>
          <a:lstStyle/>
          <a:p>
            <a:endParaRPr lang="zh-CN" alt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驼峰风格</a:t>
            </a:r>
            <a:r>
              <a:rPr lang="zh-CN" altLang="en-US"/>
              <a:t>命名</a:t>
            </a:r>
          </a:p>
        </p:txBody>
      </p:sp>
      <p:sp>
        <p:nvSpPr>
          <p:cNvPr id="3" name="内容占位符 2"/>
          <p:cNvSpPr>
            <a:spLocks noGrp="1"/>
          </p:cNvSpPr>
          <p:nvPr>
            <p:ph idx="1"/>
          </p:nvPr>
        </p:nvSpPr>
        <p:spPr/>
        <p:txBody>
          <a:bodyPr/>
          <a:lstStyle/>
          <a:p>
            <a:r>
              <a:rPr lang="zh-CN" altLang="en-US"/>
              <a:t>驼峰风格(CamelCase) 大小写字母混用，单词连在一起，不同单词间通过单词首字母大写来分开。 按连接后的首字母是否大写，又分: 大驼峰(UperCamelCase)和小驼峰(lowerCamelCase)</a:t>
            </a:r>
          </a:p>
          <a:p>
            <a:endParaRPr lang="zh-CN" altLang="en-US"/>
          </a:p>
        </p:txBody>
      </p:sp>
      <p:graphicFrame>
        <p:nvGraphicFramePr>
          <p:cNvPr id="4" name="表格 3"/>
          <p:cNvGraphicFramePr/>
          <p:nvPr/>
        </p:nvGraphicFramePr>
        <p:xfrm>
          <a:off x="695960" y="3500755"/>
          <a:ext cx="10701020" cy="2423160"/>
        </p:xfrm>
        <a:graphic>
          <a:graphicData uri="http://schemas.openxmlformats.org/drawingml/2006/table">
            <a:tbl>
              <a:tblPr firstRow="1" bandRow="1">
                <a:tableStyleId>{5C22544A-7EE6-4342-B048-85BDC9FD1C3A}</a:tableStyleId>
              </a:tblPr>
              <a:tblGrid>
                <a:gridCol w="8850630">
                  <a:extLst>
                    <a:ext uri="{9D8B030D-6E8A-4147-A177-3AD203B41FA5}">
                      <a16:colId xmlns:a16="http://schemas.microsoft.com/office/drawing/2014/main" val="20000"/>
                    </a:ext>
                  </a:extLst>
                </a:gridCol>
                <a:gridCol w="1850390">
                  <a:extLst>
                    <a:ext uri="{9D8B030D-6E8A-4147-A177-3AD203B41FA5}">
                      <a16:colId xmlns:a16="http://schemas.microsoft.com/office/drawing/2014/main" val="20001"/>
                    </a:ext>
                  </a:extLst>
                </a:gridCol>
              </a:tblGrid>
              <a:tr h="381000">
                <a:tc>
                  <a:txBody>
                    <a:bodyPr/>
                    <a:lstStyle/>
                    <a:p>
                      <a:pPr algn="ctr">
                        <a:buNone/>
                      </a:pPr>
                      <a:r>
                        <a:rPr lang="zh-CN" altLang="en-US"/>
                        <a:t>内容</a:t>
                      </a:r>
                    </a:p>
                  </a:txBody>
                  <a:tcPr anchor="ctr"/>
                </a:tc>
                <a:tc>
                  <a:txBody>
                    <a:bodyPr/>
                    <a:lstStyle/>
                    <a:p>
                      <a:pPr algn="ctr">
                        <a:buNone/>
                      </a:pPr>
                      <a:r>
                        <a:rPr lang="zh-CN" altLang="en-US"/>
                        <a:t>规则</a:t>
                      </a:r>
                    </a:p>
                  </a:txBody>
                  <a:tcPr anchor="ctr"/>
                </a:tc>
                <a:extLst>
                  <a:ext uri="{0D108BD9-81ED-4DB2-BD59-A6C34878D82A}">
                    <a16:rowId xmlns:a16="http://schemas.microsoft.com/office/drawing/2014/main" val="10000"/>
                  </a:ext>
                </a:extLst>
              </a:tr>
              <a:tr h="381000">
                <a:tc>
                  <a:txBody>
                    <a:bodyPr/>
                    <a:lstStyle/>
                    <a:p>
                      <a:pPr algn="ctr">
                        <a:buNone/>
                      </a:pPr>
                      <a:r>
                        <a:rPr lang="zh-CN" altLang="en-US"/>
                        <a:t>类类型，结构体类型，枚举类型，联合体类型等类型定义， 作用域名称</a:t>
                      </a:r>
                    </a:p>
                  </a:txBody>
                  <a:tcPr anchor="ctr"/>
                </a:tc>
                <a:tc>
                  <a:txBody>
                    <a:bodyPr/>
                    <a:lstStyle/>
                    <a:p>
                      <a:pPr algn="ctr">
                        <a:buNone/>
                      </a:pPr>
                      <a:r>
                        <a:rPr lang="zh-CN" altLang="en-US"/>
                        <a:t>大驼峰</a:t>
                      </a:r>
                    </a:p>
                  </a:txBody>
                  <a:tcPr anchor="ctr"/>
                </a:tc>
                <a:extLst>
                  <a:ext uri="{0D108BD9-81ED-4DB2-BD59-A6C34878D82A}">
                    <a16:rowId xmlns:a16="http://schemas.microsoft.com/office/drawing/2014/main" val="10001"/>
                  </a:ext>
                </a:extLst>
              </a:tr>
              <a:tr h="381000">
                <a:tc>
                  <a:txBody>
                    <a:bodyPr/>
                    <a:lstStyle/>
                    <a:p>
                      <a:pPr algn="ctr">
                        <a:buNone/>
                      </a:pPr>
                      <a:r>
                        <a:rPr lang="zh-CN" altLang="en-US"/>
                        <a:t>函数(包括全局函数，作用域函数，成员函数)</a:t>
                      </a:r>
                    </a:p>
                  </a:txBody>
                  <a:tcPr anchor="ctr"/>
                </a:tc>
                <a:tc>
                  <a:txBody>
                    <a:bodyPr/>
                    <a:lstStyle/>
                    <a:p>
                      <a:pPr algn="ctr">
                        <a:buNone/>
                      </a:pPr>
                      <a:r>
                        <a:rPr lang="zh-CN" altLang="en-US"/>
                        <a:t>大驼峰</a:t>
                      </a:r>
                    </a:p>
                  </a:txBody>
                  <a:tcPr anchor="ctr"/>
                </a:tc>
                <a:extLst>
                  <a:ext uri="{0D108BD9-81ED-4DB2-BD59-A6C34878D82A}">
                    <a16:rowId xmlns:a16="http://schemas.microsoft.com/office/drawing/2014/main" val="10002"/>
                  </a:ext>
                </a:extLst>
              </a:tr>
              <a:tr h="381000">
                <a:tc>
                  <a:txBody>
                    <a:bodyPr/>
                    <a:lstStyle/>
                    <a:p>
                      <a:pPr algn="ctr">
                        <a:buNone/>
                      </a:pPr>
                      <a:r>
                        <a:rPr lang="zh-CN" altLang="en-US"/>
                        <a:t>全局变量(包括全局和命名空间域下的变量，类静态变量)，</a:t>
                      </a:r>
                    </a:p>
                    <a:p>
                      <a:pPr algn="ctr">
                        <a:buNone/>
                      </a:pPr>
                      <a:r>
                        <a:rPr lang="zh-CN" altLang="en-US"/>
                        <a:t>局部变量，函数参数，类、结构体和联合体中的成员变量</a:t>
                      </a:r>
                    </a:p>
                  </a:txBody>
                  <a:tcPr anchor="ctr"/>
                </a:tc>
                <a:tc>
                  <a:txBody>
                    <a:bodyPr/>
                    <a:lstStyle/>
                    <a:p>
                      <a:pPr algn="ctr">
                        <a:buNone/>
                      </a:pPr>
                      <a:r>
                        <a:rPr lang="zh-CN" altLang="en-US"/>
                        <a:t>小驼峰</a:t>
                      </a:r>
                    </a:p>
                  </a:txBody>
                  <a:tcPr anchor="ctr"/>
                </a:tc>
                <a:extLst>
                  <a:ext uri="{0D108BD9-81ED-4DB2-BD59-A6C34878D82A}">
                    <a16:rowId xmlns:a16="http://schemas.microsoft.com/office/drawing/2014/main" val="10003"/>
                  </a:ext>
                </a:extLst>
              </a:tr>
              <a:tr h="381000">
                <a:tc>
                  <a:txBody>
                    <a:bodyPr/>
                    <a:lstStyle/>
                    <a:p>
                      <a:pPr algn="ctr">
                        <a:buNone/>
                      </a:pPr>
                      <a:r>
                        <a:rPr lang="zh-CN" altLang="en-US"/>
                        <a:t>宏，常量(const)，枚举值，goto 标签</a:t>
                      </a:r>
                    </a:p>
                  </a:txBody>
                  <a:tcPr anchor="ctr"/>
                </a:tc>
                <a:tc>
                  <a:txBody>
                    <a:bodyPr/>
                    <a:lstStyle/>
                    <a:p>
                      <a:pPr algn="ctr">
                        <a:buNone/>
                      </a:pPr>
                      <a:r>
                        <a:rPr lang="zh-CN" altLang="en-US"/>
                        <a:t>全大写，</a:t>
                      </a:r>
                    </a:p>
                    <a:p>
                      <a:pPr algn="ctr">
                        <a:buNone/>
                      </a:pPr>
                      <a:r>
                        <a:rPr lang="zh-CN" altLang="en-US"/>
                        <a:t>下划线分割</a:t>
                      </a:r>
                    </a:p>
                  </a:txBody>
                  <a:tcPr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文件、静态变量</a:t>
            </a:r>
          </a:p>
        </p:txBody>
      </p:sp>
      <p:sp>
        <p:nvSpPr>
          <p:cNvPr id="3" name="内容占位符 2"/>
          <p:cNvSpPr>
            <a:spLocks noGrp="1"/>
          </p:cNvSpPr>
          <p:nvPr>
            <p:ph idx="1"/>
          </p:nvPr>
        </p:nvSpPr>
        <p:spPr/>
        <p:txBody>
          <a:bodyPr/>
          <a:lstStyle/>
          <a:p>
            <a:r>
              <a:rPr lang="zh-CN" altLang="en-US">
                <a:solidFill>
                  <a:srgbClr val="0000FF"/>
                </a:solidFill>
              </a:rPr>
              <a:t>C++的头文件和cpp文件名和类名保持一致，使用下划线小写风格。如果有一个类叫DatabaseConnection，那么对应的文件名：</a:t>
            </a:r>
          </a:p>
          <a:p>
            <a:pPr lvl="1"/>
            <a:r>
              <a:rPr lang="zh-CN" altLang="en-US"/>
              <a:t>database_connection.h</a:t>
            </a:r>
          </a:p>
          <a:p>
            <a:pPr lvl="1"/>
            <a:r>
              <a:rPr lang="zh-CN" altLang="en-US"/>
              <a:t>database_connection.cpp</a:t>
            </a:r>
          </a:p>
          <a:p>
            <a:pPr lvl="0"/>
            <a:r>
              <a:rPr lang="zh-CN" altLang="en-US">
                <a:solidFill>
                  <a:srgbClr val="0000FF"/>
                </a:solidFill>
              </a:rPr>
              <a:t>全局变量应增加 ‘g_’ 前缀，静态变量命名不需要加特殊前缀</a:t>
            </a:r>
          </a:p>
          <a:p>
            <a:pPr lvl="1"/>
            <a:r>
              <a:rPr lang="zh-CN" altLang="en-US">
                <a:solidFill>
                  <a:schemeClr val="tx1"/>
                </a:solidFill>
              </a:rPr>
              <a:t>全局静态变量命名与全局变量相同。</a:t>
            </a:r>
          </a:p>
          <a:p>
            <a:pPr lvl="1"/>
            <a:r>
              <a:rPr lang="zh-CN" altLang="en-US">
                <a:solidFill>
                  <a:schemeClr val="tx1"/>
                </a:solidFill>
              </a:rPr>
              <a:t>函数内的静态变量命名与普通局部变量相同。</a:t>
            </a:r>
          </a:p>
          <a:p>
            <a:pPr lvl="1"/>
            <a:r>
              <a:rPr lang="zh-CN" altLang="en-US">
                <a:solidFill>
                  <a:schemeClr val="tx1"/>
                </a:solidFill>
              </a:rPr>
              <a:t>类的静态成员变量和普通成员变量相同。</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例子</a:t>
            </a:r>
          </a:p>
        </p:txBody>
      </p:sp>
      <p:sp>
        <p:nvSpPr>
          <p:cNvPr id="3" name="内容占位符 2"/>
          <p:cNvSpPr>
            <a:spLocks noGrp="1"/>
          </p:cNvSpPr>
          <p:nvPr>
            <p:ph idx="1"/>
          </p:nvPr>
        </p:nvSpPr>
        <p:spPr/>
        <p:txBody>
          <a:bodyPr/>
          <a:lstStyle/>
          <a:p>
            <a:r>
              <a:rPr lang="zh-CN" altLang="en-US"/>
              <a:t>std::string tableName; // Good: 推荐此风格</a:t>
            </a:r>
          </a:p>
          <a:p>
            <a:r>
              <a:rPr lang="zh-CN" altLang="en-US">
                <a:solidFill>
                  <a:srgbClr val="FF0000"/>
                </a:solidFill>
              </a:rPr>
              <a:t>std::string tablename; // Bad: 禁止此风格</a:t>
            </a:r>
          </a:p>
          <a:p>
            <a:r>
              <a:rPr lang="zh-CN" altLang="en-US"/>
              <a:t>std::string path; // Good: 只有一个单词时，小驼峰为全小写</a:t>
            </a:r>
          </a:p>
          <a:p>
            <a:r>
              <a:rPr lang="zh-CN" altLang="en-US"/>
              <a:t>int g_activeConnectCount;</a:t>
            </a:r>
          </a:p>
          <a:p>
            <a:r>
              <a:rPr lang="zh-CN" altLang="en-US"/>
              <a:t>void Func(){ </a:t>
            </a:r>
          </a:p>
          <a:p>
            <a:pPr marL="0" indent="0">
              <a:buNone/>
            </a:pPr>
            <a:r>
              <a:rPr lang="en-US" altLang="zh-CN"/>
              <a:t>       </a:t>
            </a:r>
            <a:r>
              <a:rPr lang="zh-CN" altLang="en-US"/>
              <a:t>static int packetCount = 0; …</a:t>
            </a:r>
          </a:p>
          <a:p>
            <a:pPr marL="0" indent="0">
              <a:buNone/>
            </a:pPr>
            <a:r>
              <a:rPr lang="zh-CN" altLang="en-US"/>
              <a:t> </a:t>
            </a:r>
            <a:r>
              <a:rPr lang="en-US" altLang="zh-CN"/>
              <a:t>   </a:t>
            </a:r>
            <a:r>
              <a:rPr lang="zh-CN" altLang="en-US"/>
              <a:t>}</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类成员</a:t>
            </a:r>
          </a:p>
        </p:txBody>
      </p:sp>
      <p:sp>
        <p:nvSpPr>
          <p:cNvPr id="3" name="内容占位符 2"/>
          <p:cNvSpPr>
            <a:spLocks noGrp="1"/>
          </p:cNvSpPr>
          <p:nvPr>
            <p:ph idx="1"/>
          </p:nvPr>
        </p:nvSpPr>
        <p:spPr/>
        <p:txBody>
          <a:bodyPr/>
          <a:lstStyle/>
          <a:p>
            <a:r>
              <a:rPr lang="zh-CN" altLang="en-US"/>
              <a:t>类的成员变量命名以小驼峰加后下划线组成</a:t>
            </a:r>
          </a:p>
          <a:p>
            <a:pPr marL="0" indent="0">
              <a:buNone/>
            </a:pPr>
            <a:r>
              <a:rPr lang="en-US" altLang="zh-CN"/>
              <a:t>  </a:t>
            </a:r>
            <a:r>
              <a:rPr lang="zh-CN" altLang="en-US"/>
              <a:t>class Foo {</a:t>
            </a:r>
          </a:p>
          <a:p>
            <a:pPr marL="0" indent="0">
              <a:buNone/>
            </a:pPr>
            <a:r>
              <a:rPr lang="zh-CN" altLang="en-US"/>
              <a:t> </a:t>
            </a:r>
            <a:r>
              <a:rPr lang="en-US" altLang="zh-CN"/>
              <a:t>    </a:t>
            </a:r>
            <a:r>
              <a:rPr lang="zh-CN" altLang="en-US"/>
              <a:t>private: std::string fileName_; // 添加_后缀</a:t>
            </a:r>
          </a:p>
          <a:p>
            <a:pPr marL="0" indent="0">
              <a:buNone/>
            </a:pPr>
            <a:endParaRPr lang="zh-CN" altLang="en-US"/>
          </a:p>
          <a:p>
            <a:pPr marL="0" indent="0">
              <a:buNone/>
            </a:pPr>
            <a:r>
              <a:rPr lang="zh-CN" altLang="en-US"/>
              <a:t>};</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宏、常量、枚举命名</a:t>
            </a:r>
          </a:p>
        </p:txBody>
      </p:sp>
      <p:sp>
        <p:nvSpPr>
          <p:cNvPr id="3" name="内容占位符 2"/>
          <p:cNvSpPr>
            <a:spLocks noGrp="1"/>
          </p:cNvSpPr>
          <p:nvPr>
            <p:ph idx="1"/>
          </p:nvPr>
        </p:nvSpPr>
        <p:spPr/>
        <p:txBody>
          <a:bodyPr/>
          <a:lstStyle/>
          <a:p>
            <a:r>
              <a:rPr lang="zh-CN" altLang="en-US"/>
              <a:t>宏、枚举值采用全大写，下划线连接的格式；类的静态成员常量，全大写，下划线连接；函数局部 const 常量和类的普通const成员变量，使用小驼峰命名风格。</a:t>
            </a:r>
          </a:p>
          <a:p>
            <a:r>
              <a:rPr lang="zh-CN" altLang="en-US"/>
              <a:t>enum TintColor { </a:t>
            </a:r>
            <a:r>
              <a:rPr lang="zh-CN" altLang="en-US">
                <a:sym typeface="+mn-ea"/>
              </a:rPr>
              <a:t>RED, DARK_RED, GREEN, LIGHT_GREEN}</a:t>
            </a:r>
            <a:endParaRPr lang="zh-CN" altLang="en-US"/>
          </a:p>
          <a:p>
            <a:pPr marL="0" indent="0">
              <a:buNone/>
            </a:pPr>
            <a:r>
              <a:rPr lang="en-US" altLang="zh-CN"/>
              <a:t>   </a:t>
            </a:r>
            <a:r>
              <a:rPr lang="zh-CN" altLang="en-US"/>
              <a:t>// 注意，枚举类型名用大驼峰，其下面的取值是全大写，下划线相连 </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例子</a:t>
            </a:r>
          </a:p>
        </p:txBody>
      </p:sp>
      <p:sp>
        <p:nvSpPr>
          <p:cNvPr id="3" name="内容占位符 2"/>
          <p:cNvSpPr>
            <a:spLocks noGrp="1"/>
          </p:cNvSpPr>
          <p:nvPr>
            <p:ph idx="1"/>
          </p:nvPr>
        </p:nvSpPr>
        <p:spPr/>
        <p:txBody>
          <a:bodyPr>
            <a:normAutofit/>
          </a:bodyPr>
          <a:lstStyle/>
          <a:p>
            <a:pPr marL="0" indent="0">
              <a:buNone/>
            </a:pPr>
            <a:r>
              <a:rPr lang="zh-CN" altLang="en-US"/>
              <a:t>int Func(…){ </a:t>
            </a:r>
          </a:p>
          <a:p>
            <a:pPr marL="0" indent="0">
              <a:buNone/>
            </a:pPr>
            <a:r>
              <a:rPr lang="en-US" altLang="zh-CN"/>
              <a:t>    </a:t>
            </a:r>
            <a:r>
              <a:rPr lang="zh-CN" altLang="en-US"/>
              <a:t>const unsigned int bufferSize = 100; // 函数局部常量 </a:t>
            </a:r>
          </a:p>
          <a:p>
            <a:pPr marL="0" indent="0">
              <a:buNone/>
            </a:pPr>
            <a:r>
              <a:rPr lang="zh-CN" altLang="en-US"/>
              <a:t> </a:t>
            </a:r>
            <a:r>
              <a:rPr lang="en-US" altLang="zh-CN"/>
              <a:t>  </a:t>
            </a:r>
            <a:r>
              <a:rPr lang="zh-CN" altLang="en-US"/>
              <a:t>char *p = new char[bufferSize]; …</a:t>
            </a:r>
          </a:p>
          <a:p>
            <a:pPr marL="0" indent="0">
              <a:buNone/>
            </a:pPr>
            <a:r>
              <a:rPr lang="zh-CN" altLang="en-US"/>
              <a:t> }</a:t>
            </a:r>
          </a:p>
          <a:p>
            <a:pPr marL="0" indent="0">
              <a:buNone/>
            </a:pPr>
            <a:r>
              <a:rPr lang="zh-CN" altLang="en-US"/>
              <a:t>namespace Utils { </a:t>
            </a:r>
          </a:p>
          <a:p>
            <a:pPr marL="0" indent="0">
              <a:buNone/>
            </a:pPr>
            <a:r>
              <a:rPr lang="zh-CN" altLang="en-US"/>
              <a:t> </a:t>
            </a:r>
            <a:r>
              <a:rPr lang="en-US" altLang="zh-CN"/>
              <a:t>    </a:t>
            </a:r>
            <a:r>
              <a:rPr lang="zh-CN" altLang="en-US"/>
              <a:t>const unsigned int DEFAULT_FILE_SIZE_KB = 200; // 全局常量</a:t>
            </a:r>
          </a:p>
          <a:p>
            <a:pPr marL="0" indent="0">
              <a:buNone/>
            </a:pPr>
            <a:r>
              <a:rPr lang="zh-CN" altLang="en-US"/>
              <a:t>}</a:t>
            </a:r>
          </a:p>
          <a:p>
            <a:endParaRPr lang="zh-CN" alt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if语句</a:t>
            </a:r>
          </a:p>
        </p:txBody>
      </p:sp>
      <p:sp>
        <p:nvSpPr>
          <p:cNvPr id="3" name="内容占位符 2"/>
          <p:cNvSpPr>
            <a:spLocks noGrp="1"/>
          </p:cNvSpPr>
          <p:nvPr>
            <p:ph idx="1"/>
          </p:nvPr>
        </p:nvSpPr>
        <p:spPr/>
        <p:txBody>
          <a:bodyPr/>
          <a:lstStyle/>
          <a:p>
            <a:r>
              <a:rPr lang="zh-CN" altLang="en-US">
                <a:sym typeface="+mn-ea"/>
              </a:rPr>
              <a:t>必须要使用大括号</a:t>
            </a:r>
          </a:p>
          <a:p>
            <a:r>
              <a:rPr lang="zh-CN" altLang="en-US">
                <a:sym typeface="+mn-ea"/>
              </a:rPr>
              <a:t>禁止 if/else/else if 写在同一行</a:t>
            </a:r>
          </a:p>
          <a:p>
            <a:pPr marL="0" indent="0">
              <a:buNone/>
            </a:pPr>
            <a:r>
              <a:rPr lang="en-US" altLang="zh-CN"/>
              <a:t>  </a:t>
            </a:r>
            <a:r>
              <a:rPr lang="zh-CN" altLang="en-US"/>
              <a:t>if (objectIsNotExist) { </a:t>
            </a:r>
          </a:p>
          <a:p>
            <a:pPr marL="0" indent="0">
              <a:buNone/>
            </a:pPr>
            <a:r>
              <a:rPr lang="zh-CN" altLang="en-US"/>
              <a:t> </a:t>
            </a:r>
            <a:r>
              <a:rPr lang="en-US" altLang="zh-CN"/>
              <a:t>    </a:t>
            </a:r>
            <a:r>
              <a:rPr lang="zh-CN" altLang="en-US"/>
              <a:t>// Good：单行条件语句也加大括号</a:t>
            </a:r>
          </a:p>
          <a:p>
            <a:pPr marL="0" indent="0">
              <a:buNone/>
            </a:pPr>
            <a:r>
              <a:rPr lang="zh-CN" altLang="en-US"/>
              <a:t> </a:t>
            </a:r>
            <a:r>
              <a:rPr lang="en-US" altLang="zh-CN"/>
              <a:t>   </a:t>
            </a:r>
            <a:r>
              <a:rPr lang="zh-CN" altLang="en-US"/>
              <a:t> return </a:t>
            </a:r>
            <a:r>
              <a:rPr lang="en-US" altLang="zh-CN"/>
              <a:t>  </a:t>
            </a:r>
            <a:r>
              <a:rPr lang="zh-CN" altLang="en-US"/>
              <a:t>CreateNewObject();</a:t>
            </a:r>
          </a:p>
          <a:p>
            <a:pPr marL="0" indent="0">
              <a:buNone/>
            </a:pPr>
            <a:r>
              <a:rPr lang="zh-CN" altLang="en-US"/>
              <a:t>}</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循环语句</a:t>
            </a:r>
          </a:p>
        </p:txBody>
      </p:sp>
      <p:sp>
        <p:nvSpPr>
          <p:cNvPr id="3" name="内容占位符 2"/>
          <p:cNvSpPr>
            <a:spLocks noGrp="1"/>
          </p:cNvSpPr>
          <p:nvPr>
            <p:ph idx="1"/>
          </p:nvPr>
        </p:nvSpPr>
        <p:spPr>
          <a:xfrm>
            <a:off x="609600" y="1600200"/>
            <a:ext cx="10974070" cy="815975"/>
          </a:xfrm>
        </p:spPr>
        <p:txBody>
          <a:bodyPr/>
          <a:lstStyle/>
          <a:p>
            <a:r>
              <a:rPr lang="zh-CN" altLang="en-US"/>
              <a:t>循环语句必须使用大括号</a:t>
            </a:r>
          </a:p>
          <a:p>
            <a:pPr marL="0" indent="0">
              <a:buNone/>
            </a:pPr>
            <a:endParaRPr lang="zh-CN" altLang="en-US"/>
          </a:p>
        </p:txBody>
      </p:sp>
      <p:sp>
        <p:nvSpPr>
          <p:cNvPr id="4" name="文本框 3"/>
          <p:cNvSpPr txBox="1"/>
          <p:nvPr/>
        </p:nvSpPr>
        <p:spPr>
          <a:xfrm>
            <a:off x="480060" y="2348865"/>
            <a:ext cx="4498975" cy="1938020"/>
          </a:xfrm>
          <a:prstGeom prst="rect">
            <a:avLst/>
          </a:prstGeom>
          <a:noFill/>
          <a:ln>
            <a:solidFill>
              <a:schemeClr val="accent1"/>
            </a:solidFill>
          </a:ln>
        </p:spPr>
        <p:txBody>
          <a:bodyPr wrap="square" rtlCol="0" anchor="t">
            <a:spAutoFit/>
          </a:bodyPr>
          <a:lstStyle/>
          <a:p>
            <a:pPr indent="0" fontAlgn="auto">
              <a:lnSpc>
                <a:spcPct val="150000"/>
              </a:lnSpc>
              <a:buNone/>
            </a:pPr>
            <a:r>
              <a:rPr lang="zh-CN" altLang="en-US" sz="2000">
                <a:latin typeface="Times New Roman Regular" panose="02020503050405090304" charset="0"/>
                <a:cs typeface="Times New Roman Regular" panose="02020503050405090304" charset="0"/>
                <a:sym typeface="+mn-ea"/>
              </a:rPr>
              <a:t>for (int i = 0; i &lt; someRange; i++) { </a:t>
            </a:r>
          </a:p>
          <a:p>
            <a:pPr indent="0" fontAlgn="auto">
              <a:lnSpc>
                <a:spcPct val="150000"/>
              </a:lnSpc>
              <a:buNone/>
            </a:pPr>
            <a:r>
              <a:rPr lang="zh-CN" altLang="en-US" sz="2000">
                <a:latin typeface="Times New Roman Regular" panose="02020503050405090304" charset="0"/>
                <a:cs typeface="Times New Roman Regular" panose="02020503050405090304" charset="0"/>
                <a:sym typeface="+mn-ea"/>
              </a:rPr>
              <a:t> </a:t>
            </a:r>
            <a:r>
              <a:rPr lang="en-US" altLang="zh-CN" sz="2000">
                <a:latin typeface="Times New Roman Regular" panose="02020503050405090304" charset="0"/>
                <a:cs typeface="Times New Roman Regular" panose="02020503050405090304" charset="0"/>
                <a:sym typeface="+mn-ea"/>
              </a:rPr>
              <a:t>   </a:t>
            </a:r>
            <a:r>
              <a:rPr lang="zh-CN" altLang="en-US" sz="2000">
                <a:latin typeface="Times New Roman Regular" panose="02020503050405090304" charset="0"/>
                <a:cs typeface="Times New Roman Regular" panose="02020503050405090304" charset="0"/>
                <a:sym typeface="+mn-ea"/>
              </a:rPr>
              <a:t>// Good: 使用了大括号 </a:t>
            </a:r>
          </a:p>
          <a:p>
            <a:pPr indent="0" fontAlgn="auto">
              <a:lnSpc>
                <a:spcPct val="150000"/>
              </a:lnSpc>
              <a:buNone/>
            </a:pPr>
            <a:r>
              <a:rPr lang="zh-CN" altLang="en-US" sz="2000">
                <a:latin typeface="Times New Roman Regular" panose="02020503050405090304" charset="0"/>
                <a:cs typeface="Times New Roman Regular" panose="02020503050405090304" charset="0"/>
                <a:sym typeface="+mn-ea"/>
              </a:rPr>
              <a:t> </a:t>
            </a:r>
            <a:r>
              <a:rPr lang="en-US" altLang="zh-CN" sz="2000">
                <a:latin typeface="Times New Roman Regular" panose="02020503050405090304" charset="0"/>
                <a:cs typeface="Times New Roman Regular" panose="02020503050405090304" charset="0"/>
                <a:sym typeface="+mn-ea"/>
              </a:rPr>
              <a:t>   </a:t>
            </a:r>
            <a:r>
              <a:rPr lang="zh-CN" altLang="en-US" sz="2000">
                <a:latin typeface="Times New Roman Regular" panose="02020503050405090304" charset="0"/>
                <a:cs typeface="Times New Roman Regular" panose="02020503050405090304" charset="0"/>
                <a:sym typeface="+mn-ea"/>
              </a:rPr>
              <a:t>DoSomething();</a:t>
            </a:r>
          </a:p>
          <a:p>
            <a:pPr indent="0" fontAlgn="auto">
              <a:lnSpc>
                <a:spcPct val="150000"/>
              </a:lnSpc>
              <a:buNone/>
            </a:pPr>
            <a:r>
              <a:rPr lang="zh-CN" altLang="en-US" sz="2000">
                <a:latin typeface="Times New Roman Regular" panose="02020503050405090304" charset="0"/>
                <a:cs typeface="Times New Roman Regular" panose="02020503050405090304" charset="0"/>
                <a:sym typeface="+mn-ea"/>
              </a:rPr>
              <a:t>}</a:t>
            </a:r>
          </a:p>
        </p:txBody>
      </p:sp>
      <p:sp>
        <p:nvSpPr>
          <p:cNvPr id="5" name="文本框 4"/>
          <p:cNvSpPr txBox="1"/>
          <p:nvPr/>
        </p:nvSpPr>
        <p:spPr>
          <a:xfrm>
            <a:off x="5520055" y="2348865"/>
            <a:ext cx="3903980" cy="1753235"/>
          </a:xfrm>
          <a:prstGeom prst="rect">
            <a:avLst/>
          </a:prstGeom>
          <a:noFill/>
          <a:ln>
            <a:solidFill>
              <a:schemeClr val="accent1"/>
            </a:solidFill>
          </a:ln>
        </p:spPr>
        <p:txBody>
          <a:bodyPr wrap="square" rtlCol="0" anchor="t">
            <a:spAutoFit/>
          </a:bodyPr>
          <a:lstStyle/>
          <a:p>
            <a:pPr indent="0" fontAlgn="auto">
              <a:lnSpc>
                <a:spcPct val="150000"/>
              </a:lnSpc>
            </a:pPr>
            <a:r>
              <a:rPr lang="zh-CN" altLang="en-US"/>
              <a:t>while (condition) {</a:t>
            </a:r>
          </a:p>
          <a:p>
            <a:pPr indent="0" fontAlgn="auto">
              <a:lnSpc>
                <a:spcPct val="150000"/>
              </a:lnSpc>
            </a:pPr>
            <a:r>
              <a:rPr lang="en-US" altLang="zh-CN">
                <a:sym typeface="+mn-ea"/>
              </a:rPr>
              <a:t>   </a:t>
            </a:r>
            <a:r>
              <a:rPr lang="zh-CN" altLang="en-US">
                <a:sym typeface="+mn-ea"/>
              </a:rPr>
              <a:t>// Good：循环体是空，使用大括号</a:t>
            </a:r>
            <a:endParaRPr lang="zh-CN" altLang="en-US"/>
          </a:p>
          <a:p>
            <a:pPr indent="0" fontAlgn="auto">
              <a:lnSpc>
                <a:spcPct val="150000"/>
              </a:lnSpc>
            </a:pPr>
            <a:endParaRPr lang="zh-CN" altLang="en-US"/>
          </a:p>
          <a:p>
            <a:pPr indent="0" fontAlgn="auto">
              <a:lnSpc>
                <a:spcPct val="150000"/>
              </a:lnSpc>
            </a:pPr>
            <a:r>
              <a:rPr lang="zh-CN" altLang="en-US"/>
              <a:t> } </a:t>
            </a:r>
          </a:p>
        </p:txBody>
      </p:sp>
      <p:sp>
        <p:nvSpPr>
          <p:cNvPr id="7" name="文本框 6"/>
          <p:cNvSpPr txBox="1"/>
          <p:nvPr/>
        </p:nvSpPr>
        <p:spPr>
          <a:xfrm>
            <a:off x="3166110" y="4677410"/>
            <a:ext cx="3903980" cy="1753235"/>
          </a:xfrm>
          <a:prstGeom prst="rect">
            <a:avLst/>
          </a:prstGeom>
          <a:noFill/>
          <a:ln>
            <a:solidFill>
              <a:schemeClr val="accent1"/>
            </a:solidFill>
          </a:ln>
        </p:spPr>
        <p:txBody>
          <a:bodyPr wrap="square" rtlCol="0" anchor="t">
            <a:spAutoFit/>
          </a:bodyPr>
          <a:lstStyle/>
          <a:p>
            <a:pPr indent="0" fontAlgn="auto">
              <a:lnSpc>
                <a:spcPct val="150000"/>
              </a:lnSpc>
            </a:pPr>
            <a:r>
              <a:rPr lang="zh-CN" altLang="en-US"/>
              <a:t>while (condition) {</a:t>
            </a:r>
          </a:p>
          <a:p>
            <a:pPr indent="0" fontAlgn="auto">
              <a:lnSpc>
                <a:spcPct val="150000"/>
              </a:lnSpc>
            </a:pPr>
            <a:r>
              <a:rPr lang="en-US" altLang="zh-CN">
                <a:sym typeface="+mn-ea"/>
              </a:rPr>
              <a:t>  </a:t>
            </a:r>
            <a:r>
              <a:rPr lang="zh-CN" altLang="en-US">
                <a:sym typeface="+mn-ea"/>
              </a:rPr>
              <a:t>// Good：循环体是空，使用大括号</a:t>
            </a:r>
            <a:endParaRPr lang="zh-CN" altLang="en-US"/>
          </a:p>
          <a:p>
            <a:pPr indent="0" fontAlgn="auto">
              <a:lnSpc>
                <a:spcPct val="150000"/>
              </a:lnSpc>
            </a:pPr>
            <a:r>
              <a:rPr lang="en-US" altLang="zh-CN"/>
              <a:t>   continue;</a:t>
            </a:r>
            <a:endParaRPr lang="zh-CN" altLang="en-US"/>
          </a:p>
          <a:p>
            <a:pPr indent="0" fontAlgn="auto">
              <a:lnSpc>
                <a:spcPct val="150000"/>
              </a:lnSpc>
            </a:pPr>
            <a:r>
              <a:rPr lang="zh-CN" altLang="en-US"/>
              <a:t> } </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表达式换行</a:t>
            </a:r>
          </a:p>
        </p:txBody>
      </p:sp>
      <p:sp>
        <p:nvSpPr>
          <p:cNvPr id="3" name="内容占位符 2"/>
          <p:cNvSpPr>
            <a:spLocks noGrp="1"/>
          </p:cNvSpPr>
          <p:nvPr>
            <p:ph idx="1"/>
          </p:nvPr>
        </p:nvSpPr>
        <p:spPr/>
        <p:txBody>
          <a:bodyPr>
            <a:normAutofit/>
          </a:bodyPr>
          <a:lstStyle/>
          <a:p>
            <a:r>
              <a:rPr lang="zh-CN" altLang="en-US">
                <a:sym typeface="+mn-ea"/>
              </a:rPr>
              <a:t>保持换行的一致性，运算符放行末</a:t>
            </a:r>
          </a:p>
          <a:p>
            <a:pPr marL="0" indent="0">
              <a:buNone/>
            </a:pPr>
            <a:r>
              <a:rPr lang="zh-CN" altLang="en-US"/>
              <a:t>int sum = longVaribleName1 + longVaribleName2 + longVaribleName3 + longVaribleName4 + longVaribleName5 + longVaribleName6; </a:t>
            </a:r>
          </a:p>
          <a:p>
            <a:pPr marL="0" indent="0">
              <a:buNone/>
            </a:pPr>
            <a:r>
              <a:rPr lang="zh-CN" altLang="en-US"/>
              <a:t>// Good: 保持对齐</a:t>
            </a:r>
          </a:p>
          <a:p>
            <a:endParaRPr lang="zh-CN" alt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609600" y="1600200"/>
            <a:ext cx="10974070" cy="1955800"/>
          </a:xfrm>
        </p:spPr>
        <p:txBody>
          <a:bodyPr/>
          <a:lstStyle/>
          <a:p>
            <a:r>
              <a:rPr lang="zh-CN" altLang="en-US"/>
              <a:t>多个变量定义和赋值语句不允许写在一行</a:t>
            </a:r>
          </a:p>
          <a:p>
            <a:r>
              <a:rPr lang="zh-CN" altLang="en-US"/>
              <a:t>指针类型”*“跟随变量名或者类型，不要两边都留有或者都没有空格</a:t>
            </a:r>
          </a:p>
          <a:p>
            <a:pPr algn="l">
              <a:buClrTx/>
              <a:buSzTx/>
            </a:pPr>
            <a:r>
              <a:rPr lang="zh-CN" altLang="en-US"/>
              <a:t>引用类型”&amp;“跟随变量名或者类型，不要两边都留有或者都没有空格</a:t>
            </a:r>
          </a:p>
          <a:p>
            <a:pPr marL="0" indent="0" algn="l">
              <a:buClrTx/>
              <a:buSzTx/>
              <a:buNone/>
            </a:pPr>
            <a:endParaRPr lang="zh-CN" altLang="en-US"/>
          </a:p>
        </p:txBody>
      </p:sp>
      <p:sp>
        <p:nvSpPr>
          <p:cNvPr id="4" name="文本框 3"/>
          <p:cNvSpPr txBox="1"/>
          <p:nvPr/>
        </p:nvSpPr>
        <p:spPr>
          <a:xfrm>
            <a:off x="263525" y="3572510"/>
            <a:ext cx="3475355" cy="1753235"/>
          </a:xfrm>
          <a:prstGeom prst="rect">
            <a:avLst/>
          </a:prstGeom>
          <a:noFill/>
        </p:spPr>
        <p:txBody>
          <a:bodyPr wrap="square" rtlCol="0" anchor="t">
            <a:spAutoFit/>
          </a:bodyPr>
          <a:lstStyle/>
          <a:p>
            <a:pPr indent="0" fontAlgn="auto">
              <a:lnSpc>
                <a:spcPct val="150000"/>
              </a:lnSpc>
              <a:buNone/>
            </a:pPr>
            <a:r>
              <a:rPr lang="zh-CN" altLang="en-US" sz="2400">
                <a:latin typeface="Times New Roman Regular" panose="02020503050405090304" charset="0"/>
                <a:cs typeface="Times New Roman Regular" panose="02020503050405090304" charset="0"/>
                <a:sym typeface="+mn-ea"/>
              </a:rPr>
              <a:t>int* p = NULL; // Good</a:t>
            </a:r>
            <a:endParaRPr lang="zh-CN" altLang="en-US" sz="2400">
              <a:latin typeface="Times New Roman Regular" panose="02020503050405090304" charset="0"/>
              <a:cs typeface="Times New Roman Regular" panose="02020503050405090304" charset="0"/>
            </a:endParaRPr>
          </a:p>
          <a:p>
            <a:pPr indent="0" fontAlgn="auto">
              <a:lnSpc>
                <a:spcPct val="150000"/>
              </a:lnSpc>
              <a:buNone/>
            </a:pPr>
            <a:r>
              <a:rPr lang="zh-CN" altLang="en-US" sz="2400">
                <a:latin typeface="Times New Roman Regular" panose="02020503050405090304" charset="0"/>
                <a:cs typeface="Times New Roman Regular" panose="02020503050405090304" charset="0"/>
                <a:sym typeface="+mn-ea"/>
              </a:rPr>
              <a:t>int </a:t>
            </a:r>
            <a:r>
              <a:rPr lang="en-US" altLang="zh-CN" sz="2400">
                <a:latin typeface="Times New Roman Regular" panose="02020503050405090304" charset="0"/>
                <a:cs typeface="Times New Roman Regular" panose="02020503050405090304" charset="0"/>
                <a:sym typeface="+mn-ea"/>
              </a:rPr>
              <a:t>*</a:t>
            </a:r>
            <a:r>
              <a:rPr lang="zh-CN" altLang="en-US" sz="2400">
                <a:latin typeface="Times New Roman Regular" panose="02020503050405090304" charset="0"/>
                <a:cs typeface="Times New Roman Regular" panose="02020503050405090304" charset="0"/>
                <a:sym typeface="+mn-ea"/>
              </a:rPr>
              <a:t>p = NULL; // Good</a:t>
            </a:r>
            <a:endParaRPr lang="zh-CN" altLang="en-US" sz="2400">
              <a:latin typeface="Times New Roman Regular" panose="02020503050405090304" charset="0"/>
              <a:cs typeface="Times New Roman Regular" panose="02020503050405090304" charset="0"/>
            </a:endParaRPr>
          </a:p>
          <a:p>
            <a:pPr indent="0" fontAlgn="auto">
              <a:lnSpc>
                <a:spcPct val="150000"/>
              </a:lnSpc>
              <a:buNone/>
            </a:pPr>
            <a:r>
              <a:rPr lang="zh-CN" altLang="en-US" sz="2400">
                <a:latin typeface="Times New Roman Regular" panose="02020503050405090304" charset="0"/>
                <a:cs typeface="Times New Roman Regular" panose="02020503050405090304" charset="0"/>
                <a:sym typeface="+mn-ea"/>
              </a:rPr>
              <a:t>int * p = NULL; // Bad</a:t>
            </a:r>
          </a:p>
        </p:txBody>
      </p:sp>
      <p:sp>
        <p:nvSpPr>
          <p:cNvPr id="5" name="文本框 4"/>
          <p:cNvSpPr txBox="1"/>
          <p:nvPr/>
        </p:nvSpPr>
        <p:spPr>
          <a:xfrm>
            <a:off x="4883150" y="3356610"/>
            <a:ext cx="6096000" cy="3035935"/>
          </a:xfrm>
          <a:prstGeom prst="rect">
            <a:avLst/>
          </a:prstGeom>
          <a:noFill/>
        </p:spPr>
        <p:txBody>
          <a:bodyPr wrap="square" rtlCol="0" anchor="t">
            <a:noAutofit/>
          </a:bodyPr>
          <a:lstStyle/>
          <a:p>
            <a:pPr indent="0" fontAlgn="auto">
              <a:lnSpc>
                <a:spcPct val="150000"/>
              </a:lnSpc>
            </a:pPr>
            <a:r>
              <a:rPr lang="zh-CN" altLang="en-US"/>
              <a:t>int i = 8;</a:t>
            </a:r>
          </a:p>
          <a:p>
            <a:pPr indent="0" fontAlgn="auto">
              <a:lnSpc>
                <a:spcPct val="150000"/>
              </a:lnSpc>
            </a:pPr>
            <a:r>
              <a:rPr lang="zh-CN" altLang="en-US"/>
              <a:t>int&amp; p = i; // Good</a:t>
            </a:r>
          </a:p>
          <a:p>
            <a:pPr indent="0" fontAlgn="auto">
              <a:lnSpc>
                <a:spcPct val="150000"/>
              </a:lnSpc>
            </a:pPr>
            <a:r>
              <a:rPr lang="zh-CN" altLang="en-US"/>
              <a:t>int &amp;p = i; // Good</a:t>
            </a:r>
          </a:p>
          <a:p>
            <a:pPr indent="0" fontAlgn="auto">
              <a:lnSpc>
                <a:spcPct val="150000"/>
              </a:lnSpc>
            </a:pPr>
            <a:r>
              <a:rPr lang="zh-CN" altLang="en-US"/>
              <a:t>int*&amp; rp = pi; // Good，指针的引用，&amp; 一起跟随类型</a:t>
            </a:r>
          </a:p>
          <a:p>
            <a:pPr indent="0" fontAlgn="auto">
              <a:lnSpc>
                <a:spcPct val="150000"/>
              </a:lnSpc>
            </a:pPr>
            <a:r>
              <a:rPr lang="zh-CN" altLang="en-US"/>
              <a:t>int</a:t>
            </a:r>
            <a:r>
              <a:rPr lang="en-US" altLang="zh-CN"/>
              <a:t>*</a:t>
            </a:r>
            <a:r>
              <a:rPr lang="zh-CN" altLang="en-US"/>
              <a:t> &amp;rp = pi; // Good，指针的引用，&amp; 一起跟随变量名</a:t>
            </a:r>
          </a:p>
          <a:p>
            <a:pPr indent="0" fontAlgn="auto">
              <a:lnSpc>
                <a:spcPct val="150000"/>
              </a:lnSpc>
            </a:pPr>
            <a:r>
              <a:rPr lang="zh-CN" altLang="en-US"/>
              <a:t>int &amp; p = i; // Bad</a:t>
            </a:r>
          </a:p>
          <a:p>
            <a:pPr indent="0" fontAlgn="auto">
              <a:lnSpc>
                <a:spcPct val="150000"/>
              </a:lnSpc>
            </a:pPr>
            <a:r>
              <a:rPr lang="zh-CN" altLang="en-US"/>
              <a:t>int&amp;p = i; // Bad</a:t>
            </a:r>
          </a:p>
          <a:p>
            <a:endParaRPr lang="zh-CN" altLang="en-US"/>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注释</a:t>
            </a:r>
          </a:p>
        </p:txBody>
      </p:sp>
      <p:sp>
        <p:nvSpPr>
          <p:cNvPr id="3" name="内容占位符 2"/>
          <p:cNvSpPr>
            <a:spLocks noGrp="1"/>
          </p:cNvSpPr>
          <p:nvPr>
            <p:ph idx="1"/>
          </p:nvPr>
        </p:nvSpPr>
        <p:spPr/>
        <p:txBody>
          <a:bodyPr>
            <a:normAutofit/>
          </a:bodyPr>
          <a:lstStyle/>
          <a:p>
            <a:r>
              <a:rPr lang="zh-CN" altLang="en-US"/>
              <a:t>文件头注释必须包含版权许可</a:t>
            </a:r>
          </a:p>
          <a:p>
            <a:r>
              <a:rPr lang="zh-CN" altLang="en-US"/>
              <a:t>函数头注释统一放在函数声明或定义上方</a:t>
            </a:r>
            <a:r>
              <a:rPr lang="en-US" altLang="zh-CN"/>
              <a:t>,函数尽量通过函数名自注释，按需写函数头注释。 不要写无用、信息冗余的函数头；不要写空有格式的函数头</a:t>
            </a:r>
            <a:r>
              <a:rPr lang="zh-CN" altLang="en-US"/>
              <a:t>。</a:t>
            </a:r>
            <a:r>
              <a:rPr lang="en-US" altLang="zh-CN"/>
              <a:t>函数头注释内容可选，但不限于：功能说明、返回值，性能约束、用法、内存约定、算法实现、可重入的要求等等。 模块对外头文件中的函数接口声明，其函数头注释，应当将重要、有用的信息表达清楚。</a:t>
            </a:r>
          </a:p>
          <a:p>
            <a:endParaRPr lang="en-US" altLang="zh-CN"/>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51815" y="260985"/>
            <a:ext cx="10974070" cy="1817370"/>
          </a:xfrm>
          <a:ln>
            <a:solidFill>
              <a:schemeClr val="accent1"/>
            </a:solidFill>
          </a:ln>
        </p:spPr>
        <p:txBody>
          <a:bodyPr/>
          <a:lstStyle/>
          <a:p>
            <a:pPr marL="0" indent="0">
              <a:buNone/>
            </a:pPr>
            <a:r>
              <a:rPr lang="zh-CN" altLang="en-US">
                <a:solidFill>
                  <a:srgbClr val="0000FF"/>
                </a:solidFill>
              </a:rPr>
              <a:t>/* * 返回实际写入的字节数，-1表示写入失败 * 注意，内存 buf 由调用者负责释放 */</a:t>
            </a:r>
          </a:p>
          <a:p>
            <a:pPr marL="0" indent="0">
              <a:buNone/>
            </a:pPr>
            <a:r>
              <a:rPr lang="zh-CN" altLang="en-US">
                <a:solidFill>
                  <a:srgbClr val="0000FF"/>
                </a:solidFill>
              </a:rPr>
              <a:t>int WriteString(const char *buf, int len);</a:t>
            </a:r>
          </a:p>
        </p:txBody>
      </p:sp>
      <p:sp>
        <p:nvSpPr>
          <p:cNvPr id="4" name="文本框 3"/>
          <p:cNvSpPr txBox="1"/>
          <p:nvPr/>
        </p:nvSpPr>
        <p:spPr>
          <a:xfrm>
            <a:off x="551815" y="2564765"/>
            <a:ext cx="10892790" cy="2861310"/>
          </a:xfrm>
          <a:prstGeom prst="rect">
            <a:avLst/>
          </a:prstGeom>
          <a:noFill/>
          <a:ln>
            <a:solidFill>
              <a:schemeClr val="accent1"/>
            </a:solidFill>
          </a:ln>
        </p:spPr>
        <p:txBody>
          <a:bodyPr wrap="square" rtlCol="0" anchor="t">
            <a:spAutoFit/>
          </a:bodyPr>
          <a:lstStyle/>
          <a:p>
            <a:r>
              <a:rPr lang="zh-CN" altLang="en-US" sz="2400">
                <a:solidFill>
                  <a:srgbClr val="FF0000"/>
                </a:solidFill>
              </a:rPr>
              <a:t>/* * 函数名：WriteString * 功能：写入字符串 * 参数： * 返回值： */</a:t>
            </a:r>
          </a:p>
          <a:p>
            <a:r>
              <a:rPr lang="zh-CN" altLang="en-US" sz="2400">
                <a:solidFill>
                  <a:srgbClr val="FF0000"/>
                </a:solidFill>
              </a:rPr>
              <a:t>int WriteString(const char *buf, int len);</a:t>
            </a:r>
          </a:p>
          <a:p>
            <a:endParaRPr lang="zh-CN" altLang="en-US" sz="2400">
              <a:solidFill>
                <a:srgbClr val="FF0000"/>
              </a:solidFill>
            </a:endParaRPr>
          </a:p>
          <a:p>
            <a:pPr indent="0" fontAlgn="auto">
              <a:lnSpc>
                <a:spcPct val="150000"/>
              </a:lnSpc>
            </a:pPr>
            <a:r>
              <a:rPr lang="zh-CN" altLang="en-US" sz="2400">
                <a:solidFill>
                  <a:srgbClr val="FF0000"/>
                </a:solidFill>
              </a:rPr>
              <a:t>上面例子中的问题：</a:t>
            </a:r>
          </a:p>
          <a:p>
            <a:r>
              <a:rPr lang="zh-CN" altLang="en-US" sz="2400">
                <a:solidFill>
                  <a:srgbClr val="FF0000"/>
                </a:solidFill>
              </a:rPr>
              <a:t>参数、返回值，空有格式没内容</a:t>
            </a:r>
          </a:p>
          <a:p>
            <a:r>
              <a:rPr lang="zh-CN" altLang="en-US" sz="2400">
                <a:solidFill>
                  <a:srgbClr val="FF0000"/>
                </a:solidFill>
              </a:rPr>
              <a:t>函数名信息冗余</a:t>
            </a:r>
          </a:p>
          <a:p>
            <a:r>
              <a:rPr lang="zh-CN" altLang="en-US" sz="2400">
                <a:solidFill>
                  <a:srgbClr val="FF0000"/>
                </a:solidFill>
              </a:rPr>
              <a:t>关键的 buf 由谁释放没有说清楚</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类</a:t>
            </a:r>
          </a:p>
        </p:txBody>
      </p:sp>
      <p:sp>
        <p:nvSpPr>
          <p:cNvPr id="3" name="内容占位符 2"/>
          <p:cNvSpPr>
            <a:spLocks noGrp="1"/>
          </p:cNvSpPr>
          <p:nvPr>
            <p:ph idx="1"/>
          </p:nvPr>
        </p:nvSpPr>
        <p:spPr>
          <a:xfrm>
            <a:off x="609600" y="1600200"/>
            <a:ext cx="11211560" cy="4526280"/>
          </a:xfrm>
        </p:spPr>
        <p:txBody>
          <a:bodyPr>
            <a:normAutofit/>
          </a:bodyPr>
          <a:lstStyle/>
          <a:p>
            <a:pPr marL="0" indent="0">
              <a:buNone/>
            </a:pPr>
            <a:r>
              <a:rPr lang="zh-CN" altLang="en-US"/>
              <a:t>构造，拷贝，移动和析构函数提供了对象的生命周期管理方法：</a:t>
            </a:r>
          </a:p>
          <a:p>
            <a:r>
              <a:rPr lang="zh-CN" altLang="en-US"/>
              <a:t>构造函数（constructor）： X()</a:t>
            </a:r>
          </a:p>
          <a:p>
            <a:r>
              <a:rPr lang="zh-CN" altLang="en-US"/>
              <a:t>拷贝构造函数（copy constructor）：X(const X&amp;)</a:t>
            </a:r>
          </a:p>
          <a:p>
            <a:r>
              <a:rPr lang="zh-CN" altLang="en-US"/>
              <a:t>拷贝赋值操作符（copy assignment）：operator=(const X&amp;)</a:t>
            </a:r>
          </a:p>
          <a:p>
            <a:r>
              <a:rPr lang="zh-CN" altLang="en-US"/>
              <a:t>移动构造函数（move constructor）：X(X&amp;&amp;) </a:t>
            </a:r>
            <a:r>
              <a:rPr lang="en-US" altLang="zh-CN"/>
              <a:t>//</a:t>
            </a:r>
            <a:r>
              <a:rPr lang="zh-CN" altLang="en-US"/>
              <a:t>C++11以后提供</a:t>
            </a:r>
          </a:p>
          <a:p>
            <a:r>
              <a:rPr lang="zh-CN" altLang="en-US"/>
              <a:t>移动赋值操作符（move assignment）：operator=(X&amp;&amp;) </a:t>
            </a:r>
            <a:r>
              <a:rPr lang="en-US" altLang="zh-CN"/>
              <a:t>//</a:t>
            </a:r>
            <a:r>
              <a:rPr lang="zh-CN" altLang="en-US"/>
              <a:t>C++11以后提供</a:t>
            </a:r>
          </a:p>
          <a:p>
            <a:r>
              <a:rPr lang="zh-CN" altLang="en-US"/>
              <a:t>析构函数（destructor）：~X()</a:t>
            </a:r>
          </a:p>
          <a:p>
            <a:endParaRPr lang="zh-CN" altLang="en-US"/>
          </a:p>
          <a:p>
            <a:endParaRPr lang="zh-CN" altLang="en-US"/>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类</a:t>
            </a:r>
          </a:p>
        </p:txBody>
      </p:sp>
      <p:sp>
        <p:nvSpPr>
          <p:cNvPr id="3" name="内容占位符 2"/>
          <p:cNvSpPr>
            <a:spLocks noGrp="1"/>
          </p:cNvSpPr>
          <p:nvPr>
            <p:ph idx="1"/>
          </p:nvPr>
        </p:nvSpPr>
        <p:spPr>
          <a:xfrm>
            <a:off x="609600" y="1600200"/>
            <a:ext cx="10974070" cy="1824355"/>
          </a:xfrm>
        </p:spPr>
        <p:txBody>
          <a:bodyPr/>
          <a:lstStyle/>
          <a:p>
            <a:r>
              <a:rPr lang="zh-CN" altLang="en-US"/>
              <a:t>类的成员变量必须显式初始化</a:t>
            </a:r>
          </a:p>
          <a:p>
            <a:r>
              <a:rPr lang="zh-CN" altLang="en-US"/>
              <a:t>成员变量优先使用声明时初始化（C++11）和构造函数初始化列表初始化</a:t>
            </a:r>
          </a:p>
          <a:p>
            <a:r>
              <a:rPr lang="zh-CN" altLang="en-US"/>
              <a:t>为避免隐式转换，将单参数构造函数声明为explicit</a:t>
            </a:r>
          </a:p>
        </p:txBody>
      </p:sp>
      <p:sp>
        <p:nvSpPr>
          <p:cNvPr id="4" name="文本框 3"/>
          <p:cNvSpPr txBox="1"/>
          <p:nvPr/>
        </p:nvSpPr>
        <p:spPr>
          <a:xfrm>
            <a:off x="2856230" y="3356610"/>
            <a:ext cx="7687310" cy="2999105"/>
          </a:xfrm>
          <a:prstGeom prst="rect">
            <a:avLst/>
          </a:prstGeom>
          <a:noFill/>
          <a:ln>
            <a:solidFill>
              <a:schemeClr val="accent1"/>
            </a:solidFill>
          </a:ln>
        </p:spPr>
        <p:txBody>
          <a:bodyPr wrap="square" rtlCol="0" anchor="t">
            <a:noAutofit/>
          </a:bodyPr>
          <a:lstStyle/>
          <a:p>
            <a:r>
              <a:rPr lang="zh-CN" altLang="en-US"/>
              <a:t>class Foo {</a:t>
            </a:r>
          </a:p>
          <a:p>
            <a:r>
              <a:rPr lang="zh-CN" altLang="en-US"/>
              <a:t> </a:t>
            </a:r>
            <a:r>
              <a:rPr lang="en-US" altLang="zh-CN"/>
              <a:t> </a:t>
            </a:r>
            <a:r>
              <a:rPr lang="zh-CN" altLang="en-US"/>
              <a:t>public: explicit Foo(const string&amp; name): name_(name){ }</a:t>
            </a:r>
          </a:p>
          <a:p>
            <a:r>
              <a:rPr lang="zh-CN" altLang="en-US"/>
              <a:t> </a:t>
            </a:r>
            <a:r>
              <a:rPr lang="en-US" altLang="zh-CN"/>
              <a:t> </a:t>
            </a:r>
            <a:r>
              <a:rPr lang="zh-CN" altLang="en-US"/>
              <a:t>private: string name_;</a:t>
            </a:r>
          </a:p>
          <a:p>
            <a:r>
              <a:rPr lang="zh-CN" altLang="en-US"/>
              <a:t>};</a:t>
            </a:r>
          </a:p>
          <a:p>
            <a:r>
              <a:rPr lang="zh-CN" altLang="en-US"/>
              <a:t>void ProcessFoo(const Foo&amp; foo){</a:t>
            </a:r>
            <a:r>
              <a:rPr lang="en-US" altLang="zh-CN"/>
              <a:t> </a:t>
            </a:r>
            <a:r>
              <a:rPr lang="zh-CN" altLang="en-US"/>
              <a:t>}</a:t>
            </a:r>
          </a:p>
          <a:p>
            <a:r>
              <a:rPr lang="zh-CN" altLang="en-US"/>
              <a:t>int main(void){ </a:t>
            </a:r>
          </a:p>
          <a:p>
            <a:r>
              <a:rPr lang="zh-CN" altLang="en-US"/>
              <a:t> </a:t>
            </a:r>
            <a:r>
              <a:rPr lang="en-US" altLang="zh-CN"/>
              <a:t> </a:t>
            </a:r>
            <a:r>
              <a:rPr lang="zh-CN" altLang="en-US"/>
              <a:t>std::string test = “test”; </a:t>
            </a:r>
          </a:p>
          <a:p>
            <a:r>
              <a:rPr lang="zh-CN" altLang="en-US"/>
              <a:t> </a:t>
            </a:r>
            <a:r>
              <a:rPr lang="en-US" altLang="zh-CN"/>
              <a:t> </a:t>
            </a:r>
            <a:r>
              <a:rPr lang="zh-CN" altLang="en-US"/>
              <a:t>ProcessFoo(test); </a:t>
            </a:r>
          </a:p>
          <a:p>
            <a:r>
              <a:rPr lang="en-US" altLang="zh-CN"/>
              <a:t>  </a:t>
            </a:r>
            <a:r>
              <a:rPr lang="zh-CN" altLang="en-US"/>
              <a:t>// 编译不通过 </a:t>
            </a:r>
          </a:p>
          <a:p>
            <a:r>
              <a:rPr lang="zh-CN" altLang="en-US"/>
              <a:t> return 0;}</a:t>
            </a:r>
          </a:p>
          <a:p>
            <a:endParaRPr lang="zh-CN" altLang="en-US"/>
          </a:p>
        </p:txBody>
      </p:sp>
      <p:sp>
        <p:nvSpPr>
          <p:cNvPr id="5" name="文本框 4"/>
          <p:cNvSpPr txBox="1"/>
          <p:nvPr/>
        </p:nvSpPr>
        <p:spPr>
          <a:xfrm>
            <a:off x="191770" y="3789045"/>
            <a:ext cx="2450465" cy="922020"/>
          </a:xfrm>
          <a:prstGeom prst="rect">
            <a:avLst/>
          </a:prstGeom>
          <a:noFill/>
        </p:spPr>
        <p:txBody>
          <a:bodyPr wrap="square" rtlCol="0" anchor="t">
            <a:spAutoFit/>
          </a:bodyPr>
          <a:lstStyle/>
          <a:p>
            <a:r>
              <a:rPr lang="zh-CN" altLang="en-US"/>
              <a:t>因为ProcessFoo需要的参数是Foo类型，传入的string类型不匹配。</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a:t>拷贝构造和拷贝赋值操作符应该是成对出现或者禁止</a:t>
            </a:r>
          </a:p>
          <a:p>
            <a:r>
              <a:rPr lang="zh-CN" altLang="en-US"/>
              <a:t>移动构造和移动赋值操作符应该是成对出现或者禁止</a:t>
            </a:r>
          </a:p>
          <a:p>
            <a:r>
              <a:rPr lang="zh-CN" altLang="en-US"/>
              <a:t>禁止在构造函数和析构函数中调用虚函数</a:t>
            </a:r>
          </a:p>
          <a:p>
            <a:r>
              <a:rPr lang="zh-CN" altLang="en-US"/>
              <a:t>基类的析构函数应该声明为virtual</a:t>
            </a:r>
          </a:p>
          <a:p>
            <a:r>
              <a:rPr lang="zh-CN" altLang="en-US"/>
              <a:t>禁止虚函数使用缺省参数值</a:t>
            </a:r>
          </a:p>
          <a:p>
            <a:r>
              <a:rPr lang="zh-CN" altLang="en-US"/>
              <a:t>禁止重新定义继承而来的非虚函数</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92500"/>
          </a:bodyPr>
          <a:lstStyle/>
          <a:p>
            <a:pPr marL="0" indent="0">
              <a:buNone/>
            </a:pPr>
            <a:r>
              <a:rPr lang="zh-CN" altLang="en-US"/>
              <a:t>class Base {</a:t>
            </a:r>
          </a:p>
          <a:p>
            <a:pPr marL="0" indent="0">
              <a:buNone/>
            </a:pPr>
            <a:r>
              <a:rPr lang="zh-CN" altLang="en-US"/>
              <a:t> </a:t>
            </a:r>
            <a:r>
              <a:rPr lang="en-US" altLang="zh-CN"/>
              <a:t>  </a:t>
            </a:r>
            <a:r>
              <a:rPr lang="zh-CN" altLang="en-US"/>
              <a:t>public: void Fun();</a:t>
            </a:r>
          </a:p>
          <a:p>
            <a:pPr marL="0" indent="0">
              <a:buNone/>
            </a:pPr>
            <a:r>
              <a:rPr lang="zh-CN" altLang="en-US"/>
              <a:t>};</a:t>
            </a:r>
          </a:p>
          <a:p>
            <a:pPr marL="0" indent="0">
              <a:buNone/>
            </a:pPr>
            <a:r>
              <a:rPr lang="zh-CN" altLang="en-US"/>
              <a:t>class Sub : public Base { </a:t>
            </a:r>
          </a:p>
          <a:p>
            <a:pPr marL="0" indent="0">
              <a:buNone/>
            </a:pPr>
            <a:r>
              <a:rPr lang="zh-CN" altLang="en-US"/>
              <a:t> </a:t>
            </a:r>
            <a:r>
              <a:rPr lang="en-US" altLang="zh-CN"/>
              <a:t>  </a:t>
            </a:r>
            <a:r>
              <a:rPr lang="zh-CN" altLang="en-US"/>
              <a:t>public: void Fun();</a:t>
            </a:r>
          </a:p>
          <a:p>
            <a:pPr marL="0" indent="0">
              <a:buNone/>
            </a:pPr>
            <a:r>
              <a:rPr lang="zh-CN" altLang="en-US"/>
              <a:t>};</a:t>
            </a:r>
          </a:p>
          <a:p>
            <a:pPr marL="0" indent="0">
              <a:buNone/>
            </a:pPr>
            <a:r>
              <a:rPr lang="zh-CN" altLang="en-US"/>
              <a:t>Sub* sub = new Sub(); </a:t>
            </a:r>
          </a:p>
          <a:p>
            <a:pPr marL="0" indent="0">
              <a:buNone/>
            </a:pPr>
            <a:r>
              <a:rPr lang="zh-CN" altLang="en-US"/>
              <a:t>Base* base = sub;</a:t>
            </a:r>
          </a:p>
          <a:p>
            <a:pPr marL="0" indent="0">
              <a:buNone/>
            </a:pPr>
            <a:r>
              <a:rPr lang="zh-CN" altLang="en-US"/>
              <a:t>sub-&gt;Fun(); // 调用子类的Fun base-&gt;Fun(); // 调用父类的Fun//…</a:t>
            </a:r>
          </a:p>
          <a:p>
            <a:endParaRPr lang="zh-CN" altLang="en-US"/>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 函数</a:t>
            </a:r>
          </a:p>
        </p:txBody>
      </p:sp>
      <p:sp>
        <p:nvSpPr>
          <p:cNvPr id="3" name="内容占位符 2"/>
          <p:cNvSpPr>
            <a:spLocks noGrp="1"/>
          </p:cNvSpPr>
          <p:nvPr>
            <p:ph idx="1"/>
          </p:nvPr>
        </p:nvSpPr>
        <p:spPr/>
        <p:txBody>
          <a:bodyPr/>
          <a:lstStyle/>
          <a:p>
            <a:r>
              <a:rPr lang="zh-CN" altLang="en-US"/>
              <a:t>避免函数过长，函数不超过50行（非空非注释）</a:t>
            </a:r>
          </a:p>
          <a:p>
            <a:r>
              <a:rPr lang="zh-CN" altLang="en-US"/>
              <a:t>内联函数不超过10行（非空非注释），虚函数、递归函数不能被用来做内联函数。</a:t>
            </a:r>
          </a:p>
          <a:p>
            <a:r>
              <a:rPr lang="zh-CN" altLang="en-US"/>
              <a:t>函数参数使用引用取代指针</a:t>
            </a:r>
          </a:p>
          <a:p>
            <a:r>
              <a:rPr lang="zh-CN" altLang="en-US"/>
              <a:t>函数的参数个数不超过5个</a:t>
            </a:r>
          </a:p>
          <a:p>
            <a:r>
              <a:rPr lang="zh-CN" altLang="en-US"/>
              <a:t>使用强类型参数，避免使用void*</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类型转换</a:t>
            </a:r>
          </a:p>
        </p:txBody>
      </p:sp>
      <p:sp>
        <p:nvSpPr>
          <p:cNvPr id="3" name="内容占位符 2"/>
          <p:cNvSpPr>
            <a:spLocks noGrp="1"/>
          </p:cNvSpPr>
          <p:nvPr>
            <p:ph idx="1"/>
          </p:nvPr>
        </p:nvSpPr>
        <p:spPr/>
        <p:txBody>
          <a:bodyPr>
            <a:normAutofit fontScale="87500" lnSpcReduction="10000"/>
          </a:bodyPr>
          <a:lstStyle/>
          <a:p>
            <a:r>
              <a:rPr lang="zh-CN" altLang="en-US"/>
              <a:t>dynamic_cast：主要用于继承体系下行转换，dynamic_cast具有类型检查的功能，请做好基类和派生类的设计，避免使用dynamic_cast来进行转换。</a:t>
            </a:r>
          </a:p>
          <a:p>
            <a:r>
              <a:rPr lang="zh-CN" altLang="en-US"/>
              <a:t>static_cast：和C风格转换相似可做值的强制转换，或上行转换(把派生类的指针或引用转换成基类的指针或引用)。该转换经常用于消除多重继承带来的类型歧义，是相对安全的。如果是纯粹的算数转换，那么请使用后面的大括号转换方式。</a:t>
            </a:r>
          </a:p>
          <a:p>
            <a:r>
              <a:rPr lang="zh-CN" altLang="en-US"/>
              <a:t>reinterpret_cast：用于转换不相关的类型。reinterpret_cast强制编译器将某个类型对象的内存重新解释成另一种类型，这是一种不安全的转换，建议尽可能少用reinterpret_cast。</a:t>
            </a:r>
          </a:p>
          <a:p>
            <a:r>
              <a:rPr lang="zh-CN" altLang="en-US"/>
              <a:t>const_cast：用于移除对象的const属性，使对象变得可修改，这样会破坏数据的不变性，建议尽可能少用。</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文本框 1"/>
          <p:cNvSpPr txBox="1"/>
          <p:nvPr/>
        </p:nvSpPr>
        <p:spPr>
          <a:xfrm>
            <a:off x="407670" y="836930"/>
            <a:ext cx="2595245" cy="4892675"/>
          </a:xfrm>
          <a:prstGeom prst="rect">
            <a:avLst/>
          </a:prstGeom>
          <a:noFill/>
          <a:ln>
            <a:solidFill>
              <a:schemeClr val="accent1"/>
            </a:solidFill>
          </a:ln>
        </p:spPr>
        <p:txBody>
          <a:bodyPr wrap="square" rtlCol="0" anchor="t">
            <a:spAutoFit/>
          </a:bodyPr>
          <a:lstStyle/>
          <a:p>
            <a:pPr indent="0" fontAlgn="auto">
              <a:lnSpc>
                <a:spcPct val="150000"/>
              </a:lnSpc>
            </a:pPr>
            <a:r>
              <a:rPr lang="zh-CN" altLang="en-US" sz="2400">
                <a:latin typeface="Times New Roman Regular" panose="02020503050405090304" charset="0"/>
                <a:cs typeface="Times New Roman Regular" panose="02020503050405090304" charset="0"/>
              </a:rPr>
              <a:t>struct FooNode { </a:t>
            </a:r>
          </a:p>
          <a:p>
            <a:pPr indent="0" fontAlgn="auto">
              <a:lnSpc>
                <a:spcPct val="150000"/>
              </a:lnSpc>
            </a:pPr>
            <a:r>
              <a:rPr lang="zh-CN" altLang="en-US" sz="2400">
                <a:latin typeface="Times New Roman Regular" panose="02020503050405090304" charset="0"/>
                <a:cs typeface="Times New Roman Regular" panose="02020503050405090304" charset="0"/>
              </a:rPr>
              <a:t> </a:t>
            </a:r>
            <a:r>
              <a:rPr lang="en-US" altLang="zh-CN" sz="2400">
                <a:latin typeface="Times New Roman Regular" panose="02020503050405090304" charset="0"/>
                <a:cs typeface="Times New Roman Regular" panose="02020503050405090304" charset="0"/>
              </a:rPr>
              <a:t>  </a:t>
            </a:r>
            <a:r>
              <a:rPr lang="zh-CN" altLang="en-US" sz="2400">
                <a:latin typeface="Times New Roman Regular" panose="02020503050405090304" charset="0"/>
                <a:cs typeface="Times New Roman Regular" panose="02020503050405090304" charset="0"/>
              </a:rPr>
              <a:t>struct List link; </a:t>
            </a:r>
          </a:p>
          <a:p>
            <a:pPr indent="0" fontAlgn="auto">
              <a:lnSpc>
                <a:spcPct val="150000"/>
              </a:lnSpc>
            </a:pPr>
            <a:r>
              <a:rPr lang="zh-CN" altLang="en-US" sz="2400">
                <a:latin typeface="Times New Roman Regular" panose="02020503050405090304" charset="0"/>
                <a:cs typeface="Times New Roman Regular" panose="02020503050405090304" charset="0"/>
              </a:rPr>
              <a:t> </a:t>
            </a:r>
            <a:r>
              <a:rPr lang="en-US" altLang="zh-CN" sz="2400">
                <a:latin typeface="Times New Roman Regular" panose="02020503050405090304" charset="0"/>
                <a:cs typeface="Times New Roman Regular" panose="02020503050405090304" charset="0"/>
              </a:rPr>
              <a:t>   </a:t>
            </a:r>
            <a:r>
              <a:rPr lang="zh-CN" altLang="en-US" sz="2400">
                <a:latin typeface="Times New Roman Regular" panose="02020503050405090304" charset="0"/>
                <a:cs typeface="Times New Roman Regular" panose="02020503050405090304" charset="0"/>
              </a:rPr>
              <a:t>int foo;</a:t>
            </a:r>
          </a:p>
          <a:p>
            <a:pPr indent="0" fontAlgn="auto">
              <a:lnSpc>
                <a:spcPct val="150000"/>
              </a:lnSpc>
            </a:pPr>
            <a:r>
              <a:rPr lang="zh-CN" altLang="en-US" sz="2400">
                <a:latin typeface="Times New Roman Regular" panose="02020503050405090304" charset="0"/>
                <a:cs typeface="Times New Roman Regular" panose="02020503050405090304" charset="0"/>
              </a:rPr>
              <a:t>};</a:t>
            </a:r>
          </a:p>
          <a:p>
            <a:pPr indent="0" fontAlgn="auto">
              <a:lnSpc>
                <a:spcPct val="150000"/>
              </a:lnSpc>
            </a:pPr>
            <a:r>
              <a:rPr lang="zh-CN" altLang="en-US" sz="2400">
                <a:latin typeface="Times New Roman Regular" panose="02020503050405090304" charset="0"/>
                <a:cs typeface="Times New Roman Regular" panose="02020503050405090304" charset="0"/>
              </a:rPr>
              <a:t>struct BarNode { </a:t>
            </a:r>
          </a:p>
          <a:p>
            <a:pPr indent="0" fontAlgn="auto">
              <a:lnSpc>
                <a:spcPct val="150000"/>
              </a:lnSpc>
            </a:pPr>
            <a:r>
              <a:rPr lang="zh-CN" altLang="en-US" sz="2400">
                <a:latin typeface="Times New Roman Regular" panose="02020503050405090304" charset="0"/>
                <a:cs typeface="Times New Roman Regular" panose="02020503050405090304" charset="0"/>
              </a:rPr>
              <a:t> </a:t>
            </a:r>
            <a:r>
              <a:rPr lang="en-US" altLang="zh-CN" sz="2400">
                <a:latin typeface="Times New Roman Regular" panose="02020503050405090304" charset="0"/>
                <a:cs typeface="Times New Roman Regular" panose="02020503050405090304" charset="0"/>
              </a:rPr>
              <a:t>  </a:t>
            </a:r>
            <a:r>
              <a:rPr lang="zh-CN" altLang="en-US" sz="2400">
                <a:latin typeface="Times New Roman Regular" panose="02020503050405090304" charset="0"/>
                <a:cs typeface="Times New Roman Regular" panose="02020503050405090304" charset="0"/>
              </a:rPr>
              <a:t>struct List link; </a:t>
            </a:r>
          </a:p>
          <a:p>
            <a:pPr indent="0" fontAlgn="auto">
              <a:lnSpc>
                <a:spcPct val="150000"/>
              </a:lnSpc>
            </a:pPr>
            <a:r>
              <a:rPr lang="zh-CN" altLang="en-US" sz="2400">
                <a:latin typeface="Times New Roman Regular" panose="02020503050405090304" charset="0"/>
                <a:cs typeface="Times New Roman Regular" panose="02020503050405090304" charset="0"/>
              </a:rPr>
              <a:t> </a:t>
            </a:r>
            <a:r>
              <a:rPr lang="en-US" altLang="zh-CN" sz="2400">
                <a:latin typeface="Times New Roman Regular" panose="02020503050405090304" charset="0"/>
                <a:cs typeface="Times New Roman Regular" panose="02020503050405090304" charset="0"/>
              </a:rPr>
              <a:t>  </a:t>
            </a:r>
            <a:r>
              <a:rPr lang="zh-CN" altLang="en-US" sz="2400">
                <a:latin typeface="Times New Roman Regular" panose="02020503050405090304" charset="0"/>
                <a:cs typeface="Times New Roman Regular" panose="02020503050405090304" charset="0"/>
              </a:rPr>
              <a:t>int bar;</a:t>
            </a:r>
          </a:p>
          <a:p>
            <a:pPr indent="0" fontAlgn="auto">
              <a:lnSpc>
                <a:spcPct val="150000"/>
              </a:lnSpc>
            </a:pPr>
            <a:r>
              <a:rPr lang="zh-CN" altLang="en-US" sz="2400">
                <a:latin typeface="Times New Roman Regular" panose="02020503050405090304" charset="0"/>
                <a:cs typeface="Times New Roman Regular" panose="02020503050405090304" charset="0"/>
              </a:rPr>
              <a:t>}</a:t>
            </a:r>
            <a:r>
              <a:rPr lang="en-US" altLang="zh-CN" sz="2400">
                <a:latin typeface="Times New Roman Regular" panose="02020503050405090304" charset="0"/>
                <a:cs typeface="Times New Roman Regular" panose="02020503050405090304" charset="0"/>
              </a:rPr>
              <a:t>;</a:t>
            </a:r>
            <a:endParaRPr lang="zh-CN" altLang="en-US" sz="2400">
              <a:latin typeface="Times New Roman Regular" panose="02020503050405090304" charset="0"/>
              <a:cs typeface="Times New Roman Regular" panose="02020503050405090304" charset="0"/>
            </a:endParaRPr>
          </a:p>
          <a:p>
            <a:endParaRPr lang="zh-CN" altLang="en-US" sz="2400">
              <a:latin typeface="Times New Roman Regular" panose="02020503050405090304" charset="0"/>
              <a:cs typeface="Times New Roman Regular" panose="02020503050405090304" charset="0"/>
            </a:endParaRPr>
          </a:p>
        </p:txBody>
      </p:sp>
      <p:sp>
        <p:nvSpPr>
          <p:cNvPr id="3" name="文本框 2"/>
          <p:cNvSpPr txBox="1"/>
          <p:nvPr/>
        </p:nvSpPr>
        <p:spPr>
          <a:xfrm>
            <a:off x="3719830" y="764540"/>
            <a:ext cx="7853045" cy="5631180"/>
          </a:xfrm>
          <a:prstGeom prst="rect">
            <a:avLst/>
          </a:prstGeom>
          <a:noFill/>
          <a:ln>
            <a:solidFill>
              <a:schemeClr val="accent1"/>
            </a:solidFill>
          </a:ln>
        </p:spPr>
        <p:txBody>
          <a:bodyPr wrap="square" rtlCol="0" anchor="t">
            <a:spAutoFit/>
          </a:bodyPr>
          <a:lstStyle/>
          <a:p>
            <a:pPr indent="0" fontAlgn="auto">
              <a:lnSpc>
                <a:spcPct val="150000"/>
              </a:lnSpc>
            </a:pPr>
            <a:r>
              <a:rPr lang="zh-CN" altLang="en-US" sz="2000">
                <a:latin typeface="Times New Roman Regular" panose="02020503050405090304" charset="0"/>
                <a:cs typeface="Times New Roman Regular" panose="02020503050405090304" charset="0"/>
                <a:sym typeface="+mn-ea"/>
              </a:rPr>
              <a:t>// Bad: 这里用 void * 类型传递参数void FooListAddNode(void *node) </a:t>
            </a:r>
          </a:p>
          <a:p>
            <a:pPr indent="0" fontAlgn="auto">
              <a:lnSpc>
                <a:spcPct val="150000"/>
              </a:lnSpc>
            </a:pPr>
            <a:r>
              <a:rPr lang="zh-CN" altLang="en-US" sz="2000">
                <a:latin typeface="Times New Roman Regular" panose="02020503050405090304" charset="0"/>
                <a:cs typeface="Times New Roman Regular" panose="02020503050405090304" charset="0"/>
                <a:sym typeface="+mn-ea"/>
              </a:rPr>
              <a:t>{ </a:t>
            </a:r>
          </a:p>
          <a:p>
            <a:pPr indent="0" fontAlgn="auto">
              <a:lnSpc>
                <a:spcPct val="150000"/>
              </a:lnSpc>
            </a:pPr>
            <a:r>
              <a:rPr lang="en-US" altLang="zh-CN" sz="2000">
                <a:latin typeface="Times New Roman Regular" panose="02020503050405090304" charset="0"/>
                <a:cs typeface="Times New Roman Regular" panose="02020503050405090304" charset="0"/>
                <a:sym typeface="+mn-ea"/>
              </a:rPr>
              <a:t>    </a:t>
            </a:r>
            <a:r>
              <a:rPr lang="zh-CN" altLang="en-US" sz="2000">
                <a:latin typeface="Times New Roman Regular" panose="02020503050405090304" charset="0"/>
                <a:cs typeface="Times New Roman Regular" panose="02020503050405090304" charset="0"/>
                <a:sym typeface="+mn-ea"/>
              </a:rPr>
              <a:t>FooNode *foo = (FooNode *)node; </a:t>
            </a:r>
            <a:endParaRPr lang="en-US" altLang="zh-CN" sz="2000">
              <a:latin typeface="Times New Roman Regular" panose="02020503050405090304" charset="0"/>
              <a:cs typeface="Times New Roman Regular" panose="02020503050405090304" charset="0"/>
              <a:sym typeface="+mn-ea"/>
            </a:endParaRPr>
          </a:p>
          <a:p>
            <a:pPr indent="0" fontAlgn="auto">
              <a:lnSpc>
                <a:spcPct val="150000"/>
              </a:lnSpc>
            </a:pPr>
            <a:r>
              <a:rPr lang="en-US" altLang="zh-CN" sz="2000">
                <a:latin typeface="Times New Roman Regular" panose="02020503050405090304" charset="0"/>
                <a:cs typeface="Times New Roman Regular" panose="02020503050405090304" charset="0"/>
                <a:sym typeface="+mn-ea"/>
              </a:rPr>
              <a:t>     </a:t>
            </a:r>
            <a:r>
              <a:rPr lang="zh-CN" altLang="en-US" sz="2000">
                <a:latin typeface="Times New Roman Regular" panose="02020503050405090304" charset="0"/>
                <a:cs typeface="Times New Roman Regular" panose="02020503050405090304" charset="0"/>
                <a:sym typeface="+mn-ea"/>
              </a:rPr>
              <a:t>ListAppend(&amp;g_FooList, &amp;foo-&gt;link);</a:t>
            </a:r>
          </a:p>
          <a:p>
            <a:pPr indent="0" fontAlgn="auto">
              <a:lnSpc>
                <a:spcPct val="150000"/>
              </a:lnSpc>
            </a:pPr>
            <a:r>
              <a:rPr lang="zh-CN" altLang="en-US" sz="2000">
                <a:latin typeface="Times New Roman Regular" panose="02020503050405090304" charset="0"/>
                <a:cs typeface="Times New Roman Regular" panose="02020503050405090304" charset="0"/>
                <a:sym typeface="+mn-ea"/>
              </a:rPr>
              <a:t>}</a:t>
            </a:r>
          </a:p>
          <a:p>
            <a:pPr indent="0" fontAlgn="auto">
              <a:lnSpc>
                <a:spcPct val="150000"/>
              </a:lnSpc>
            </a:pPr>
            <a:r>
              <a:rPr lang="zh-CN" altLang="en-US" sz="2000">
                <a:latin typeface="Times New Roman Regular" panose="02020503050405090304" charset="0"/>
                <a:cs typeface="Times New Roman Regular" panose="02020503050405090304" charset="0"/>
                <a:sym typeface="+mn-ea"/>
              </a:rPr>
              <a:t>void MakeTheList(){ </a:t>
            </a:r>
          </a:p>
          <a:p>
            <a:pPr indent="0" fontAlgn="auto">
              <a:lnSpc>
                <a:spcPct val="150000"/>
              </a:lnSpc>
            </a:pPr>
            <a:r>
              <a:rPr lang="zh-CN" altLang="en-US" sz="2000">
                <a:latin typeface="Times New Roman Regular" panose="02020503050405090304" charset="0"/>
                <a:cs typeface="Times New Roman Regular" panose="02020503050405090304" charset="0"/>
                <a:sym typeface="+mn-ea"/>
              </a:rPr>
              <a:t> </a:t>
            </a:r>
            <a:r>
              <a:rPr lang="en-US" altLang="zh-CN" sz="2000">
                <a:latin typeface="Times New Roman Regular" panose="02020503050405090304" charset="0"/>
                <a:cs typeface="Times New Roman Regular" panose="02020503050405090304" charset="0"/>
                <a:sym typeface="+mn-ea"/>
              </a:rPr>
              <a:t>    </a:t>
            </a:r>
            <a:r>
              <a:rPr lang="zh-CN" altLang="en-US" sz="2000">
                <a:latin typeface="Times New Roman Regular" panose="02020503050405090304" charset="0"/>
                <a:cs typeface="Times New Roman Regular" panose="02020503050405090304" charset="0"/>
                <a:sym typeface="+mn-ea"/>
              </a:rPr>
              <a:t>FooNode *foo = NULL; </a:t>
            </a:r>
          </a:p>
          <a:p>
            <a:pPr indent="0" fontAlgn="auto">
              <a:lnSpc>
                <a:spcPct val="150000"/>
              </a:lnSpc>
            </a:pPr>
            <a:r>
              <a:rPr lang="zh-CN" altLang="en-US" sz="2000">
                <a:latin typeface="Times New Roman Regular" panose="02020503050405090304" charset="0"/>
                <a:cs typeface="Times New Roman Regular" panose="02020503050405090304" charset="0"/>
                <a:sym typeface="+mn-ea"/>
              </a:rPr>
              <a:t> </a:t>
            </a:r>
            <a:r>
              <a:rPr lang="en-US" altLang="zh-CN" sz="2000">
                <a:latin typeface="Times New Roman Regular" panose="02020503050405090304" charset="0"/>
                <a:cs typeface="Times New Roman Regular" panose="02020503050405090304" charset="0"/>
                <a:sym typeface="+mn-ea"/>
              </a:rPr>
              <a:t>    </a:t>
            </a:r>
            <a:r>
              <a:rPr lang="zh-CN" altLang="en-US" sz="2000">
                <a:latin typeface="Times New Roman Regular" panose="02020503050405090304" charset="0"/>
                <a:cs typeface="Times New Roman Regular" panose="02020503050405090304" charset="0"/>
                <a:sym typeface="+mn-ea"/>
              </a:rPr>
              <a:t>BarNode *bar = NULL; … </a:t>
            </a:r>
          </a:p>
          <a:p>
            <a:pPr indent="0" fontAlgn="auto">
              <a:lnSpc>
                <a:spcPct val="150000"/>
              </a:lnSpc>
            </a:pPr>
            <a:r>
              <a:rPr lang="zh-CN" altLang="en-US" sz="2000">
                <a:latin typeface="Times New Roman Regular" panose="02020503050405090304" charset="0"/>
                <a:cs typeface="Times New Roman Regular" panose="02020503050405090304" charset="0"/>
                <a:sym typeface="+mn-ea"/>
              </a:rPr>
              <a:t> </a:t>
            </a:r>
            <a:r>
              <a:rPr lang="en-US" altLang="zh-CN" sz="2000">
                <a:latin typeface="Times New Roman Regular" panose="02020503050405090304" charset="0"/>
                <a:cs typeface="Times New Roman Regular" panose="02020503050405090304" charset="0"/>
                <a:sym typeface="+mn-ea"/>
              </a:rPr>
              <a:t>    </a:t>
            </a:r>
            <a:r>
              <a:rPr lang="zh-CN" altLang="en-US" sz="2000">
                <a:latin typeface="Times New Roman Regular" panose="02020503050405090304" charset="0"/>
                <a:cs typeface="Times New Roman Regular" panose="02020503050405090304" charset="0"/>
                <a:sym typeface="+mn-ea"/>
              </a:rPr>
              <a:t>FooListAddNode(bar); </a:t>
            </a:r>
          </a:p>
          <a:p>
            <a:pPr indent="0" fontAlgn="auto">
              <a:lnSpc>
                <a:spcPct val="150000"/>
              </a:lnSpc>
            </a:pPr>
            <a:r>
              <a:rPr lang="zh-CN" altLang="en-US" sz="2000">
                <a:latin typeface="Times New Roman Regular" panose="02020503050405090304" charset="0"/>
                <a:cs typeface="Times New Roman Regular" panose="02020503050405090304" charset="0"/>
                <a:sym typeface="+mn-ea"/>
              </a:rPr>
              <a:t> </a:t>
            </a:r>
            <a:r>
              <a:rPr lang="en-US" altLang="zh-CN" sz="2000">
                <a:latin typeface="Times New Roman Regular" panose="02020503050405090304" charset="0"/>
                <a:cs typeface="Times New Roman Regular" panose="02020503050405090304" charset="0"/>
                <a:sym typeface="+mn-ea"/>
              </a:rPr>
              <a:t>   </a:t>
            </a:r>
            <a:r>
              <a:rPr lang="zh-CN" altLang="en-US" sz="2000">
                <a:latin typeface="Times New Roman Regular" panose="02020503050405090304" charset="0"/>
                <a:cs typeface="Times New Roman Regular" panose="02020503050405090304" charset="0"/>
                <a:sym typeface="+mn-ea"/>
              </a:rPr>
              <a:t>// Wrong: 这里本意是想传递参数 foo，</a:t>
            </a:r>
          </a:p>
          <a:p>
            <a:pPr indent="0" fontAlgn="auto">
              <a:lnSpc>
                <a:spcPct val="150000"/>
              </a:lnSpc>
            </a:pPr>
            <a:r>
              <a:rPr lang="zh-CN" altLang="en-US" sz="2000">
                <a:latin typeface="Times New Roman Regular" panose="02020503050405090304" charset="0"/>
                <a:cs typeface="Times New Roman Regular" panose="02020503050405090304" charset="0"/>
                <a:sym typeface="+mn-ea"/>
              </a:rPr>
              <a:t> </a:t>
            </a:r>
            <a:r>
              <a:rPr lang="en-US" altLang="zh-CN" sz="2000">
                <a:latin typeface="Times New Roman Regular" panose="02020503050405090304" charset="0"/>
                <a:cs typeface="Times New Roman Regular" panose="02020503050405090304" charset="0"/>
                <a:sym typeface="+mn-ea"/>
              </a:rPr>
              <a:t>  //</a:t>
            </a:r>
            <a:r>
              <a:rPr lang="zh-CN" altLang="en-US" sz="2000">
                <a:latin typeface="Times New Roman Regular" panose="02020503050405090304" charset="0"/>
                <a:cs typeface="Times New Roman Regular" panose="02020503050405090304" charset="0"/>
                <a:sym typeface="+mn-ea"/>
              </a:rPr>
              <a:t>但错传了 bar，却没有报错</a:t>
            </a:r>
          </a:p>
          <a:p>
            <a:pPr indent="0" fontAlgn="auto">
              <a:lnSpc>
                <a:spcPct val="150000"/>
              </a:lnSpc>
            </a:pPr>
            <a:r>
              <a:rPr lang="zh-CN" altLang="en-US" sz="2000">
                <a:latin typeface="Times New Roman Regular" panose="02020503050405090304" charset="0"/>
                <a:cs typeface="Times New Roman Regular" panose="02020503050405090304" charset="0"/>
                <a:sym typeface="+mn-ea"/>
              </a:rPr>
              <a:t>}</a:t>
            </a:r>
            <a:endParaRPr lang="zh-CN" altLang="en-US" sz="2000">
              <a:latin typeface="Times New Roman Regular" panose="02020503050405090304" charset="0"/>
              <a:cs typeface="Times New Roman Regular" panose="02020503050405090304" charset="0"/>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TotalTime>
  <Words>7453</Words>
  <Application>Microsoft Office PowerPoint</Application>
  <PresentationFormat>宽屏</PresentationFormat>
  <Paragraphs>877</Paragraphs>
  <Slides>136</Slides>
  <Notes>1</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2</vt:i4>
      </vt:variant>
      <vt:variant>
        <vt:lpstr>幻灯片标题</vt:lpstr>
      </vt:variant>
      <vt:variant>
        <vt:i4>136</vt:i4>
      </vt:variant>
    </vt:vector>
  </HeadingPairs>
  <TitlesOfParts>
    <vt:vector size="153" baseType="lpstr">
      <vt:lpstr>Times New Roman Regular</vt:lpstr>
      <vt:lpstr>TT13BDo00</vt:lpstr>
      <vt:lpstr>TTE48o00</vt:lpstr>
      <vt:lpstr>TTE48o01</vt:lpstr>
      <vt:lpstr>黑体</vt:lpstr>
      <vt:lpstr>楷体_GB2312</vt:lpstr>
      <vt:lpstr>宋体</vt:lpstr>
      <vt:lpstr>微软简魏碑</vt:lpstr>
      <vt:lpstr>微软雅黑</vt:lpstr>
      <vt:lpstr>Arial</vt:lpstr>
      <vt:lpstr>Calibri</vt:lpstr>
      <vt:lpstr>Tahoma</vt:lpstr>
      <vt:lpstr>Times New Roman</vt:lpstr>
      <vt:lpstr>Wingdings</vt:lpstr>
      <vt:lpstr>Office 主题​​</vt:lpstr>
      <vt:lpstr>Paintbrush Picture</vt:lpstr>
      <vt:lpstr>Microsoft Graph Chart</vt:lpstr>
      <vt:lpstr>1：面向对象的软件开发过程</vt:lpstr>
      <vt:lpstr>什么是面向对象</vt:lpstr>
      <vt:lpstr>面向对象的基本思想</vt:lpstr>
      <vt:lpstr>面向对象的基本思想</vt:lpstr>
      <vt:lpstr>PowerPoint 演示文稿</vt:lpstr>
      <vt:lpstr>面向对象的软件开发过程</vt:lpstr>
      <vt:lpstr>2：UML建模</vt:lpstr>
      <vt:lpstr>重要的模型元素</vt:lpstr>
      <vt:lpstr>用例图</vt:lpstr>
      <vt:lpstr>类图</vt:lpstr>
      <vt:lpstr>交互图</vt:lpstr>
      <vt:lpstr>状态图</vt:lpstr>
      <vt:lpstr>活动图（一）</vt:lpstr>
      <vt:lpstr>活动图（二）</vt:lpstr>
      <vt:lpstr>3：面向对象需求获取</vt:lpstr>
      <vt:lpstr>面向对象需求获取</vt:lpstr>
      <vt:lpstr>发现参与者</vt:lpstr>
      <vt:lpstr>发现用例（一）</vt:lpstr>
      <vt:lpstr>发现用例（二）</vt:lpstr>
      <vt:lpstr>案例——餐馆系统业务建模</vt:lpstr>
      <vt:lpstr>3.1 非正式需求（一）</vt:lpstr>
      <vt:lpstr>3.1 非正式需求（二）</vt:lpstr>
      <vt:lpstr>3.2 用例建模</vt:lpstr>
      <vt:lpstr>3.2.1 用例（一）</vt:lpstr>
      <vt:lpstr>3.2.1 用例（二）</vt:lpstr>
      <vt:lpstr>3.2.2 角色</vt:lpstr>
      <vt:lpstr>3.3 描述用例</vt:lpstr>
      <vt:lpstr>3.3.1 用例：记录预约（一）</vt:lpstr>
      <vt:lpstr>3.3.1用例：记录预约（二）</vt:lpstr>
      <vt:lpstr>3.3.1用例：记录预约（三）</vt:lpstr>
      <vt:lpstr>3.3.2 用户界面原型</vt:lpstr>
      <vt:lpstr>3.4 组织用例模型</vt:lpstr>
      <vt:lpstr>3.4.1 用例：包含（一）</vt:lpstr>
      <vt:lpstr>3.4.1用例：包含（二）</vt:lpstr>
      <vt:lpstr>3.4.2 参与者泛化</vt:lpstr>
      <vt:lpstr>3.4.3 用例扩展</vt:lpstr>
      <vt:lpstr>PowerPoint 演示文稿</vt:lpstr>
      <vt:lpstr>3.5 完成用例模型</vt:lpstr>
      <vt:lpstr>完整的用例模型</vt:lpstr>
      <vt:lpstr>3.6 领域建模</vt:lpstr>
      <vt:lpstr>3.6 领域建模</vt:lpstr>
      <vt:lpstr>3.6 领域建模</vt:lpstr>
      <vt:lpstr>3.6 领域建模</vt:lpstr>
      <vt:lpstr>3.7 术语表</vt:lpstr>
      <vt:lpstr>4：面向对象分析</vt:lpstr>
      <vt:lpstr>4.1 面向对象的分析目标</vt:lpstr>
      <vt:lpstr>PowerPoint 演示文稿</vt:lpstr>
      <vt:lpstr>4.2 分析的目的</vt:lpstr>
      <vt:lpstr>4.3 对象获取</vt:lpstr>
      <vt:lpstr>4.3 对象获取</vt:lpstr>
      <vt:lpstr>PowerPoint 演示文稿</vt:lpstr>
      <vt:lpstr>PowerPoint 演示文稿</vt:lpstr>
      <vt:lpstr>对类进行调整</vt:lpstr>
      <vt:lpstr>属性</vt:lpstr>
      <vt:lpstr>类属性</vt:lpstr>
      <vt:lpstr>发现属性的启发式方法</vt:lpstr>
      <vt:lpstr>例子</vt:lpstr>
      <vt:lpstr>操作</vt:lpstr>
      <vt:lpstr>识别操作</vt:lpstr>
      <vt:lpstr>4.3 对象设计</vt:lpstr>
      <vt:lpstr>定义关系</vt:lpstr>
      <vt:lpstr>接口</vt:lpstr>
      <vt:lpstr>PowerPoint 演示文稿</vt:lpstr>
      <vt:lpstr>PowerPoint 演示文稿</vt:lpstr>
      <vt:lpstr>PowerPoint 演示文稿</vt:lpstr>
      <vt:lpstr>4.4 用例顺序图</vt:lpstr>
      <vt:lpstr>案例—— 餐馆系统分析</vt:lpstr>
      <vt:lpstr>PowerPoint 演示文稿</vt:lpstr>
      <vt:lpstr>4.4.1  显示预约</vt:lpstr>
      <vt:lpstr>PowerPoint 演示文稿</vt:lpstr>
      <vt:lpstr>4.4.2 显示预约（细节）</vt:lpstr>
      <vt:lpstr>4.4.3 细化领域模型</vt:lpstr>
      <vt:lpstr>4.5 记录新预约</vt:lpstr>
      <vt:lpstr>创建新对象</vt:lpstr>
      <vt:lpstr>4.6 取消预约</vt:lpstr>
      <vt:lpstr>4.7 记录到达</vt:lpstr>
      <vt:lpstr>4.8 调换餐桌</vt:lpstr>
      <vt:lpstr>4.9 完成分析模型</vt:lpstr>
      <vt:lpstr>5：面向对象的设计</vt:lpstr>
      <vt:lpstr>设计包含的内容</vt:lpstr>
      <vt:lpstr>5.2 问题域部分的设计</vt:lpstr>
      <vt:lpstr>人机交互部分的设计</vt:lpstr>
      <vt:lpstr>人机交互部分的设计——菜单</vt:lpstr>
      <vt:lpstr>控制流管理部分的设计</vt:lpstr>
      <vt:lpstr>  软件架构</vt:lpstr>
      <vt:lpstr>  设计模式</vt:lpstr>
      <vt:lpstr>案例——餐馆系统设计</vt:lpstr>
      <vt:lpstr>5.1 接受用户输入</vt:lpstr>
      <vt:lpstr>5.2 产生输出</vt:lpstr>
      <vt:lpstr>应用软件架构</vt:lpstr>
      <vt:lpstr>5.3 持久数据库设计</vt:lpstr>
      <vt:lpstr>5.3 持久数据库设计</vt:lpstr>
      <vt:lpstr>PowerPoint 演示文稿</vt:lpstr>
      <vt:lpstr>5.4 设计模式</vt:lpstr>
      <vt:lpstr>5.4.1 观察者模式</vt:lpstr>
      <vt:lpstr>PowerPoint 演示文稿</vt:lpstr>
      <vt:lpstr>观察者模式</vt:lpstr>
      <vt:lpstr>PowerPoint 演示文稿</vt:lpstr>
      <vt:lpstr>PowerPoint 演示文稿</vt:lpstr>
      <vt:lpstr>PowerPoint 演示文稿</vt:lpstr>
      <vt:lpstr>PowerPoint 演示文稿</vt:lpstr>
      <vt:lpstr>PowerPoint 演示文稿</vt:lpstr>
      <vt:lpstr>PowerPoint 演示文稿</vt:lpstr>
      <vt:lpstr>5.4.2  MVC设计模式</vt:lpstr>
      <vt:lpstr>5.5 详细的类设计</vt:lpstr>
      <vt:lpstr>5.6 动态行为建模</vt:lpstr>
      <vt:lpstr>6：面向对象的实现</vt:lpstr>
      <vt:lpstr>PowerPoint 演示文稿</vt:lpstr>
      <vt:lpstr>6.1 构件</vt:lpstr>
      <vt:lpstr>构件图</vt:lpstr>
      <vt:lpstr>6.2 类的实现</vt:lpstr>
      <vt:lpstr>Singleton模式</vt:lpstr>
      <vt:lpstr>PowerPoint 演示文稿</vt:lpstr>
      <vt:lpstr>PowerPoint 演示文稿</vt:lpstr>
      <vt:lpstr>案例——餐馆系统的实现</vt:lpstr>
      <vt:lpstr>编码的风格</vt:lpstr>
      <vt:lpstr>驼峰风格命名</vt:lpstr>
      <vt:lpstr>文件、静态变量</vt:lpstr>
      <vt:lpstr>例子</vt:lpstr>
      <vt:lpstr>类成员</vt:lpstr>
      <vt:lpstr>宏、常量、枚举命名</vt:lpstr>
      <vt:lpstr>例子</vt:lpstr>
      <vt:lpstr>if语句</vt:lpstr>
      <vt:lpstr>循环语句</vt:lpstr>
      <vt:lpstr>表达式换行</vt:lpstr>
      <vt:lpstr>PowerPoint 演示文稿</vt:lpstr>
      <vt:lpstr>注释</vt:lpstr>
      <vt:lpstr>PowerPoint 演示文稿</vt:lpstr>
      <vt:lpstr>类</vt:lpstr>
      <vt:lpstr>类</vt:lpstr>
      <vt:lpstr>PowerPoint 演示文稿</vt:lpstr>
      <vt:lpstr>PowerPoint 演示文稿</vt:lpstr>
      <vt:lpstr> 函数</vt:lpstr>
      <vt:lpstr>类型转换</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餐馆系统业务建模</dc:title>
  <dc:creator>BinL</dc:creator>
  <cp:lastModifiedBy>dk liu</cp:lastModifiedBy>
  <cp:revision>220</cp:revision>
  <dcterms:created xsi:type="dcterms:W3CDTF">2024-06-29T09:48:18Z</dcterms:created>
  <dcterms:modified xsi:type="dcterms:W3CDTF">2024-07-04T09:36:32Z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C7D8489CAA1ECEAC7A817366A59AC6B9_42</vt:lpwstr>
  </property>
  <property fmtid="{D5CDD505-2E9C-101B-9397-08002B2CF9AE}" pid="3" name="KSOProductBuildVer">
    <vt:lpwstr>2052-6.7.1.8828</vt:lpwstr>
  </property>
</Properties>
</file>